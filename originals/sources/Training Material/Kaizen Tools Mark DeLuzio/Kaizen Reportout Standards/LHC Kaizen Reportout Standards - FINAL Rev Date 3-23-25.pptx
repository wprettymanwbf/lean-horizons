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df" ContentType="application/pdf"/>
  <Default Extension="png" ContentType="image/png"/>
  <Default Extension="rels" ContentType="application/vnd.openxmlformats-package.relationships+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0"/>
  </p:notesMasterIdLst>
  <p:sldIdLst>
    <p:sldId id="257" r:id="rId2"/>
    <p:sldId id="298" r:id="rId3"/>
    <p:sldId id="294" r:id="rId4"/>
    <p:sldId id="300" r:id="rId5"/>
    <p:sldId id="301" r:id="rId6"/>
    <p:sldId id="302" r:id="rId7"/>
    <p:sldId id="303" r:id="rId8"/>
    <p:sldId id="304" r:id="rId9"/>
    <p:sldId id="305" r:id="rId10"/>
    <p:sldId id="306" r:id="rId11"/>
    <p:sldId id="307" r:id="rId12"/>
    <p:sldId id="308" r:id="rId13"/>
    <p:sldId id="309" r:id="rId14"/>
    <p:sldId id="311" r:id="rId15"/>
    <p:sldId id="312" r:id="rId16"/>
    <p:sldId id="310" r:id="rId17"/>
    <p:sldId id="313" r:id="rId18"/>
    <p:sldId id="314" r:id="rId19"/>
  </p:sldIdLst>
  <p:sldSz cx="12192000" cy="6858000"/>
  <p:notesSz cx="6858000" cy="9144000"/>
  <p:embeddedFontLst>
    <p:embeddedFont>
      <p:font typeface="Gill Sans" panose="020B0502020104020203" pitchFamily="34" charset="-79"/>
      <p:regular r:id="rId21"/>
      <p:bold r:id="rId22"/>
    </p:embeddedFont>
    <p:embeddedFont>
      <p:font typeface="Open Sans" panose="020B0606030504020204" pitchFamily="34" charset="0"/>
      <p:regular r:id="rId23"/>
      <p:bold r:id="rId24"/>
      <p:italic r:id="rId25"/>
      <p:boldItalic r:id="rId26"/>
    </p:embeddedFont>
    <p:embeddedFont>
      <p:font typeface="Open Sans Light" panose="020B0306030504020204" pitchFamily="3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AD18"/>
    <a:srgbClr val="9F04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73"/>
    <p:restoredTop sz="94694"/>
  </p:normalViewPr>
  <p:slideViewPr>
    <p:cSldViewPr snapToGrid="0" snapToObjects="1">
      <p:cViewPr varScale="1">
        <p:scale>
          <a:sx n="107" d="100"/>
          <a:sy n="107" d="100"/>
        </p:scale>
        <p:origin x="168" y="376"/>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4" name="Google Shape;11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1180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0" name="Google Shape;182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0" name="Google Shape;182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34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0" name="Google Shape;182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27679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20" name="Google Shape;182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1673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20" name="Google Shape;182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91131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20" name="Google Shape;182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110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20" name="Google Shape;182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44000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20" name="Google Shape;182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20525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20" name="Google Shape;182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9966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20" name="Google Shape;182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63596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20" name="Google Shape;182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11865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20" name="Google Shape;182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49375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20" name="Google Shape;182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19947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20" name="Google Shape;182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29301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20" name="Google Shape;182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98222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a:extLst>
            <a:ext uri="{FF2B5EF4-FFF2-40B4-BE49-F238E27FC236}">
              <a16:creationId xmlns:a16="http://schemas.microsoft.com/office/drawing/2014/main" id="{79E69AA4-6462-BC3D-7A7A-9FC124BA9C12}"/>
            </a:ext>
          </a:extLst>
        </p:cNvPr>
        <p:cNvGrpSpPr/>
        <p:nvPr/>
      </p:nvGrpSpPr>
      <p:grpSpPr>
        <a:xfrm>
          <a:off x="0" y="0"/>
          <a:ext cx="0" cy="0"/>
          <a:chOff x="0" y="0"/>
          <a:chExt cx="0" cy="0"/>
        </a:xfrm>
      </p:grpSpPr>
      <p:sp>
        <p:nvSpPr>
          <p:cNvPr id="1819" name="Google Shape;1819;p39:notes">
            <a:extLst>
              <a:ext uri="{FF2B5EF4-FFF2-40B4-BE49-F238E27FC236}">
                <a16:creationId xmlns:a16="http://schemas.microsoft.com/office/drawing/2014/main" id="{7718BE04-F107-FF3B-B35D-849627B3E7C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20" name="Google Shape;1820;p39:notes">
            <a:extLst>
              <a:ext uri="{FF2B5EF4-FFF2-40B4-BE49-F238E27FC236}">
                <a16:creationId xmlns:a16="http://schemas.microsoft.com/office/drawing/2014/main" id="{113B86A3-A7B6-D3B5-8E80-64A0606898D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63025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7"/>
        <p:cNvGrpSpPr/>
        <p:nvPr/>
      </p:nvGrpSpPr>
      <p:grpSpPr>
        <a:xfrm>
          <a:off x="0" y="0"/>
          <a:ext cx="0" cy="0"/>
          <a:chOff x="0" y="0"/>
          <a:chExt cx="0" cy="0"/>
        </a:xfrm>
      </p:grpSpPr>
      <p:sp>
        <p:nvSpPr>
          <p:cNvPr id="18" name="Google Shape;18;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2"/>
        <p:cNvGrpSpPr/>
        <p:nvPr/>
      </p:nvGrpSpPr>
      <p:grpSpPr>
        <a:xfrm>
          <a:off x="0" y="0"/>
          <a:ext cx="0" cy="0"/>
          <a:chOff x="0" y="0"/>
          <a:chExt cx="0" cy="0"/>
        </a:xfrm>
      </p:grpSpPr>
      <p:sp>
        <p:nvSpPr>
          <p:cNvPr id="33" name="Google Shape;33;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6000"/>
              <a:buFont typeface="Open Sans"/>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5" name="Google Shape;35;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6000"/>
              <a:buFont typeface="Open Sans"/>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7" name="Google Shape;4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0"/>
        <p:cNvGrpSpPr/>
        <p:nvPr/>
      </p:nvGrpSpPr>
      <p:grpSpPr>
        <a:xfrm>
          <a:off x="0" y="0"/>
          <a:ext cx="0" cy="0"/>
          <a:chOff x="0" y="0"/>
          <a:chExt cx="0" cy="0"/>
        </a:xfrm>
      </p:grpSpPr>
      <p:sp>
        <p:nvSpPr>
          <p:cNvPr id="51" name="Google Shape;51;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1"/>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1"/>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2" name="Google Shape;62;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0"/>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3200"/>
              <a:buFont typeface="Open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lt1"/>
              </a:buClr>
              <a:buSzPts val="3200"/>
              <a:buChar char="•"/>
              <a:defRPr sz="3200"/>
            </a:lvl1pPr>
            <a:lvl2pPr marL="914400" lvl="1" indent="-406400" algn="l">
              <a:lnSpc>
                <a:spcPct val="90000"/>
              </a:lnSpc>
              <a:spcBef>
                <a:spcPts val="500"/>
              </a:spcBef>
              <a:spcAft>
                <a:spcPts val="0"/>
              </a:spcAft>
              <a:buClr>
                <a:schemeClr val="lt1"/>
              </a:buClr>
              <a:buSzPts val="2800"/>
              <a:buChar char="•"/>
              <a:defRPr sz="2800"/>
            </a:lvl2pPr>
            <a:lvl3pPr marL="1371600" lvl="2" indent="-381000" algn="l">
              <a:lnSpc>
                <a:spcPct val="90000"/>
              </a:lnSpc>
              <a:spcBef>
                <a:spcPts val="500"/>
              </a:spcBef>
              <a:spcAft>
                <a:spcPts val="0"/>
              </a:spcAft>
              <a:buClr>
                <a:schemeClr val="lt1"/>
              </a:buClr>
              <a:buSzPts val="2400"/>
              <a:buChar char="•"/>
              <a:defRPr sz="2400"/>
            </a:lvl3pPr>
            <a:lvl4pPr marL="1828800" lvl="3" indent="-355600" algn="l">
              <a:lnSpc>
                <a:spcPct val="90000"/>
              </a:lnSpc>
              <a:spcBef>
                <a:spcPts val="500"/>
              </a:spcBef>
              <a:spcAft>
                <a:spcPts val="0"/>
              </a:spcAft>
              <a:buClr>
                <a:schemeClr val="lt1"/>
              </a:buClr>
              <a:buSzPts val="2000"/>
              <a:buChar char="•"/>
              <a:defRPr sz="2000"/>
            </a:lvl4pPr>
            <a:lvl5pPr marL="2286000" lvl="4" indent="-355600" algn="l">
              <a:lnSpc>
                <a:spcPct val="90000"/>
              </a:lnSpc>
              <a:spcBef>
                <a:spcPts val="500"/>
              </a:spcBef>
              <a:spcAft>
                <a:spcPts val="0"/>
              </a:spcAft>
              <a:buClr>
                <a:schemeClr val="lt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3" name="Google Shape;73;p1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3200"/>
              <a:buFont typeface="Open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12"/>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alibri"/>
                <a:ea typeface="Calibri"/>
                <a:cs typeface="Calibri"/>
                <a:sym typeface="Calibri"/>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alibri"/>
                <a:ea typeface="Calibri"/>
                <a:cs typeface="Calibri"/>
                <a:sym typeface="Calibri"/>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alibri"/>
                <a:ea typeface="Calibri"/>
                <a:cs typeface="Calibri"/>
                <a:sym typeface="Calibri"/>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alibri"/>
                <a:ea typeface="Calibri"/>
                <a:cs typeface="Calibri"/>
                <a:sym typeface="Calibri"/>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80" name="Google Shape;80;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1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3"/>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1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4"/>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A3838"/>
        </a:solidFill>
        <a:effectLst/>
      </p:bgPr>
    </p:bg>
    <p:spTree>
      <p:nvGrpSpPr>
        <p:cNvPr id="1" name="Shape 9"/>
        <p:cNvGrpSpPr/>
        <p:nvPr/>
      </p:nvGrpSpPr>
      <p:grpSpPr>
        <a:xfrm>
          <a:off x="0" y="0"/>
          <a:ext cx="0" cy="0"/>
          <a:chOff x="0" y="0"/>
          <a:chExt cx="0" cy="0"/>
        </a:xfrm>
      </p:grpSpPr>
      <p:sp>
        <p:nvSpPr>
          <p:cNvPr id="10" name="Google Shape;10;p1"/>
          <p:cNvSpPr/>
          <p:nvPr/>
        </p:nvSpPr>
        <p:spPr>
          <a:xfrm>
            <a:off x="11353800" y="6356195"/>
            <a:ext cx="508842" cy="50180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3F3F3F"/>
              </a:solidFill>
              <a:latin typeface="Calibri"/>
              <a:ea typeface="Calibri"/>
              <a:cs typeface="Calibri"/>
              <a:sym typeface="Calibri"/>
            </a:endParaRPr>
          </a:p>
        </p:txBody>
      </p:sp>
      <p:sp>
        <p:nvSpPr>
          <p:cNvPr id="12" name="Google Shape;12;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lt1"/>
              </a:buClr>
              <a:buSzPts val="2800"/>
              <a:buFont typeface="Open Sans"/>
              <a:buNone/>
              <a:defRPr sz="2800" b="1" i="0" u="none" strike="noStrike" cap="none">
                <a:solidFill>
                  <a:schemeClr val="lt1"/>
                </a:solidFill>
                <a:latin typeface="Open Sans"/>
                <a:ea typeface="Open Sans"/>
                <a:cs typeface="Open Sans"/>
                <a:sym typeface="Open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
        <p:nvSpPr>
          <p:cNvPr id="14" name="Google Shape;14;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1"/>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000" b="0" i="0" u="none" strike="noStrike" cap="none">
                <a:solidFill>
                  <a:schemeClr val="lt1"/>
                </a:solidFill>
                <a:latin typeface="Calibri"/>
                <a:ea typeface="Calibri"/>
                <a:cs typeface="Calibri"/>
                <a:sym typeface="Calibri"/>
              </a:defRPr>
            </a:lvl1pPr>
            <a:lvl2pPr marL="0" marR="0" lvl="1" indent="0" algn="ctr" rtl="0">
              <a:spcBef>
                <a:spcPts val="0"/>
              </a:spcBef>
              <a:buNone/>
              <a:defRPr sz="1000" b="0" i="0" u="none" strike="noStrike" cap="none">
                <a:solidFill>
                  <a:schemeClr val="lt1"/>
                </a:solidFill>
                <a:latin typeface="Calibri"/>
                <a:ea typeface="Calibri"/>
                <a:cs typeface="Calibri"/>
                <a:sym typeface="Calibri"/>
              </a:defRPr>
            </a:lvl2pPr>
            <a:lvl3pPr marL="0" marR="0" lvl="2" indent="0" algn="ctr" rtl="0">
              <a:spcBef>
                <a:spcPts val="0"/>
              </a:spcBef>
              <a:buNone/>
              <a:defRPr sz="1000" b="0" i="0" u="none" strike="noStrike" cap="none">
                <a:solidFill>
                  <a:schemeClr val="lt1"/>
                </a:solidFill>
                <a:latin typeface="Calibri"/>
                <a:ea typeface="Calibri"/>
                <a:cs typeface="Calibri"/>
                <a:sym typeface="Calibri"/>
              </a:defRPr>
            </a:lvl3pPr>
            <a:lvl4pPr marL="0" marR="0" lvl="3" indent="0" algn="ctr" rtl="0">
              <a:spcBef>
                <a:spcPts val="0"/>
              </a:spcBef>
              <a:buNone/>
              <a:defRPr sz="1000" b="0" i="0" u="none" strike="noStrike" cap="none">
                <a:solidFill>
                  <a:schemeClr val="lt1"/>
                </a:solidFill>
                <a:latin typeface="Calibri"/>
                <a:ea typeface="Calibri"/>
                <a:cs typeface="Calibri"/>
                <a:sym typeface="Calibri"/>
              </a:defRPr>
            </a:lvl4pPr>
            <a:lvl5pPr marL="0" marR="0" lvl="4" indent="0" algn="ctr" rtl="0">
              <a:spcBef>
                <a:spcPts val="0"/>
              </a:spcBef>
              <a:buNone/>
              <a:defRPr sz="1000" b="0" i="0" u="none" strike="noStrike" cap="none">
                <a:solidFill>
                  <a:schemeClr val="lt1"/>
                </a:solidFill>
                <a:latin typeface="Calibri"/>
                <a:ea typeface="Calibri"/>
                <a:cs typeface="Calibri"/>
                <a:sym typeface="Calibri"/>
              </a:defRPr>
            </a:lvl5pPr>
            <a:lvl6pPr marL="0" marR="0" lvl="5" indent="0" algn="ctr" rtl="0">
              <a:spcBef>
                <a:spcPts val="0"/>
              </a:spcBef>
              <a:buNone/>
              <a:defRPr sz="1000" b="0" i="0" u="none" strike="noStrike" cap="none">
                <a:solidFill>
                  <a:schemeClr val="lt1"/>
                </a:solidFill>
                <a:latin typeface="Calibri"/>
                <a:ea typeface="Calibri"/>
                <a:cs typeface="Calibri"/>
                <a:sym typeface="Calibri"/>
              </a:defRPr>
            </a:lvl6pPr>
            <a:lvl7pPr marL="0" marR="0" lvl="6" indent="0" algn="ctr" rtl="0">
              <a:spcBef>
                <a:spcPts val="0"/>
              </a:spcBef>
              <a:buNone/>
              <a:defRPr sz="1000" b="0" i="0" u="none" strike="noStrike" cap="none">
                <a:solidFill>
                  <a:schemeClr val="lt1"/>
                </a:solidFill>
                <a:latin typeface="Calibri"/>
                <a:ea typeface="Calibri"/>
                <a:cs typeface="Calibri"/>
                <a:sym typeface="Calibri"/>
              </a:defRPr>
            </a:lvl7pPr>
            <a:lvl8pPr marL="0" marR="0" lvl="7" indent="0" algn="ctr" rtl="0">
              <a:spcBef>
                <a:spcPts val="0"/>
              </a:spcBef>
              <a:buNone/>
              <a:defRPr sz="1000" b="0" i="0" u="none" strike="noStrike" cap="none">
                <a:solidFill>
                  <a:schemeClr val="lt1"/>
                </a:solidFill>
                <a:latin typeface="Calibri"/>
                <a:ea typeface="Calibri"/>
                <a:cs typeface="Calibri"/>
                <a:sym typeface="Calibri"/>
              </a:defRPr>
            </a:lvl8pPr>
            <a:lvl9pPr marL="0" marR="0" lvl="8" indent="0" algn="ctr" rtl="0">
              <a:spcBef>
                <a:spcPts val="0"/>
              </a:spcBef>
              <a:buNone/>
              <a:defRPr sz="1000" b="0" i="0" u="none" strike="noStrike" cap="none">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tiff"/></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image" Target="../media/image15.emf"/><Relationship Id="rId7" Type="http://schemas.openxmlformats.org/officeDocument/2006/relationships/image" Target="../media/image19.emf"/><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9.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oleObject" Target="../embeddings/oleObject1.bin"/><Relationship Id="rId7" Type="http://schemas.openxmlformats.org/officeDocument/2006/relationships/image" Target="../media/image22.emf"/><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1.emf"/><Relationship Id="rId5" Type="http://schemas.openxmlformats.org/officeDocument/2006/relationships/oleObject" Target="../embeddings/oleObject2.bin"/><Relationship Id="rId4" Type="http://schemas.openxmlformats.org/officeDocument/2006/relationships/image" Target="../media/image20.pdf"/><Relationship Id="rId9" Type="http://schemas.openxmlformats.org/officeDocument/2006/relationships/image" Target="../media/image24.emf"/></Relationships>
</file>

<file path=ppt/slides/_rels/slide10.xml.rels><?xml version="1.0" encoding="UTF-8" standalone="yes"?>
<Relationships xmlns="http://schemas.openxmlformats.org/package/2006/relationships"><Relationship Id="rId3" Type="http://schemas.openxmlformats.org/officeDocument/2006/relationships/image" Target="../media/image25.emf"/><Relationship Id="rId7" Type="http://schemas.openxmlformats.org/officeDocument/2006/relationships/image" Target="../media/image29.emf"/><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8.emf"/><Relationship Id="rId5" Type="http://schemas.openxmlformats.org/officeDocument/2006/relationships/image" Target="../media/image27.emf"/><Relationship Id="rId4" Type="http://schemas.openxmlformats.org/officeDocument/2006/relationships/image" Target="../media/image26.emf"/></Relationships>
</file>

<file path=ppt/slides/_rels/slide1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emf"/><Relationship Id="rId7" Type="http://schemas.openxmlformats.org/officeDocument/2006/relationships/image" Target="../media/image34.emf"/><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3.emf"/><Relationship Id="rId5" Type="http://schemas.openxmlformats.org/officeDocument/2006/relationships/image" Target="../media/image32.png"/><Relationship Id="rId4" Type="http://schemas.openxmlformats.org/officeDocument/2006/relationships/image" Target="../media/image31.emf"/></Relationships>
</file>

<file path=ppt/slides/_rels/slide12.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8.emf"/><Relationship Id="rId4" Type="http://schemas.openxmlformats.org/officeDocument/2006/relationships/image" Target="../media/image37.emf"/></Relationships>
</file>

<file path=ppt/slides/_rels/slide13.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2.emf"/><Relationship Id="rId5" Type="http://schemas.openxmlformats.org/officeDocument/2006/relationships/image" Target="../media/image41.emf"/><Relationship Id="rId4" Type="http://schemas.openxmlformats.org/officeDocument/2006/relationships/image" Target="../media/image40.emf"/></Relationships>
</file>

<file path=ppt/slides/_rels/slide14.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6.emf"/><Relationship Id="rId5" Type="http://schemas.openxmlformats.org/officeDocument/2006/relationships/image" Target="../media/image45.emf"/><Relationship Id="rId4" Type="http://schemas.openxmlformats.org/officeDocument/2006/relationships/image" Target="../media/image44.emf"/></Relationships>
</file>

<file path=ppt/slides/_rels/slide15.xml.rels><?xml version="1.0" encoding="UTF-8" standalone="yes"?>
<Relationships xmlns="http://schemas.openxmlformats.org/package/2006/relationships"><Relationship Id="rId3" Type="http://schemas.openxmlformats.org/officeDocument/2006/relationships/image" Target="../media/image47.emf"/><Relationship Id="rId7" Type="http://schemas.openxmlformats.org/officeDocument/2006/relationships/image" Target="../media/image51.emf"/><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0.emf"/><Relationship Id="rId5" Type="http://schemas.openxmlformats.org/officeDocument/2006/relationships/image" Target="../media/image49.emf"/><Relationship Id="rId4" Type="http://schemas.openxmlformats.org/officeDocument/2006/relationships/image" Target="../media/image48.emf"/></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2.emf"/></Relationships>
</file>

<file path=ppt/slides/_rels/slide17.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53" name="Google Shape;153;p16"/>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a:t>
            </a:fld>
            <a:endParaRPr/>
          </a:p>
        </p:txBody>
      </p:sp>
      <p:pic>
        <p:nvPicPr>
          <p:cNvPr id="40" name="Picture 39">
            <a:extLst>
              <a:ext uri="{FF2B5EF4-FFF2-40B4-BE49-F238E27FC236}">
                <a16:creationId xmlns:a16="http://schemas.microsoft.com/office/drawing/2014/main" id="{E38044DF-22AF-C24C-889B-318A3422DE8C}"/>
              </a:ext>
            </a:extLst>
          </p:cNvPr>
          <p:cNvPicPr>
            <a:picLocks noChangeAspect="1"/>
          </p:cNvPicPr>
          <p:nvPr/>
        </p:nvPicPr>
        <p:blipFill>
          <a:blip r:embed="rId3"/>
          <a:stretch>
            <a:fillRect/>
          </a:stretch>
        </p:blipFill>
        <p:spPr>
          <a:xfrm>
            <a:off x="329358" y="3853281"/>
            <a:ext cx="4919536" cy="2773430"/>
          </a:xfrm>
          <a:prstGeom prst="rect">
            <a:avLst/>
          </a:prstGeom>
          <a:effectLst>
            <a:softEdge rad="482600"/>
          </a:effectLst>
        </p:spPr>
      </p:pic>
      <p:sp>
        <p:nvSpPr>
          <p:cNvPr id="41" name="Google Shape;102;p15">
            <a:extLst>
              <a:ext uri="{FF2B5EF4-FFF2-40B4-BE49-F238E27FC236}">
                <a16:creationId xmlns:a16="http://schemas.microsoft.com/office/drawing/2014/main" id="{613A4109-6471-7C41-BE54-C79B65405790}"/>
              </a:ext>
            </a:extLst>
          </p:cNvPr>
          <p:cNvSpPr txBox="1"/>
          <p:nvPr/>
        </p:nvSpPr>
        <p:spPr>
          <a:xfrm>
            <a:off x="5223793" y="1914862"/>
            <a:ext cx="5673919" cy="1156152"/>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2800"/>
              <a:buFont typeface="Open Sans Light"/>
              <a:buNone/>
            </a:pPr>
            <a:r>
              <a:rPr lang="en-US" sz="2800" b="1" i="0" u="none" strike="noStrike" cap="none" dirty="0">
                <a:solidFill>
                  <a:schemeClr val="lt1"/>
                </a:solidFill>
                <a:latin typeface="Open Sans Light"/>
                <a:ea typeface="Open Sans Light"/>
                <a:cs typeface="Open Sans Light"/>
                <a:sym typeface="Open Sans Light"/>
              </a:rPr>
              <a:t>KAIZEN Report-Out Standards</a:t>
            </a:r>
            <a:endParaRPr sz="2800" b="1" i="0" u="none" strike="noStrike" cap="none" dirty="0">
              <a:solidFill>
                <a:schemeClr val="lt1"/>
              </a:solidFill>
              <a:latin typeface="Open Sans Light"/>
              <a:ea typeface="Open Sans Light"/>
              <a:cs typeface="Open Sans Light"/>
              <a:sym typeface="Open Sans Light"/>
            </a:endParaRPr>
          </a:p>
        </p:txBody>
      </p:sp>
      <p:cxnSp>
        <p:nvCxnSpPr>
          <p:cNvPr id="42" name="Google Shape;107;p15">
            <a:extLst>
              <a:ext uri="{FF2B5EF4-FFF2-40B4-BE49-F238E27FC236}">
                <a16:creationId xmlns:a16="http://schemas.microsoft.com/office/drawing/2014/main" id="{6AD66FB5-BED7-794C-AD00-31E769ACB67D}"/>
              </a:ext>
            </a:extLst>
          </p:cNvPr>
          <p:cNvCxnSpPr/>
          <p:nvPr/>
        </p:nvCxnSpPr>
        <p:spPr>
          <a:xfrm>
            <a:off x="4059993" y="2795909"/>
            <a:ext cx="3078581" cy="0"/>
          </a:xfrm>
          <a:prstGeom prst="straightConnector1">
            <a:avLst/>
          </a:prstGeom>
          <a:noFill/>
          <a:ln w="9525" cap="flat" cmpd="sng">
            <a:solidFill>
              <a:schemeClr val="lt1"/>
            </a:solidFill>
            <a:prstDash val="solid"/>
            <a:miter lim="800000"/>
            <a:headEnd type="none" w="sm" len="sm"/>
            <a:tailEnd type="none" w="sm" len="sm"/>
          </a:ln>
        </p:spPr>
      </p:cxnSp>
      <p:sp>
        <p:nvSpPr>
          <p:cNvPr id="43" name="Google Shape;108;p15">
            <a:extLst>
              <a:ext uri="{FF2B5EF4-FFF2-40B4-BE49-F238E27FC236}">
                <a16:creationId xmlns:a16="http://schemas.microsoft.com/office/drawing/2014/main" id="{BD504E72-9273-FB4E-B750-CEBB37A235C7}"/>
              </a:ext>
            </a:extLst>
          </p:cNvPr>
          <p:cNvSpPr/>
          <p:nvPr/>
        </p:nvSpPr>
        <p:spPr>
          <a:xfrm>
            <a:off x="3970129" y="2893696"/>
            <a:ext cx="3115733" cy="480131"/>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US" sz="1400" b="1" dirty="0">
                <a:solidFill>
                  <a:schemeClr val="lt1"/>
                </a:solidFill>
                <a:latin typeface="Open Sans Light"/>
                <a:ea typeface="Open Sans Light"/>
                <a:cs typeface="Open Sans Light"/>
                <a:sym typeface="Open Sans Light"/>
              </a:rPr>
              <a:t>Rev - March 23</a:t>
            </a:r>
            <a:r>
              <a:rPr lang="en-US" b="1" baseline="30000" dirty="0">
                <a:solidFill>
                  <a:schemeClr val="lt1"/>
                </a:solidFill>
                <a:latin typeface="Open Sans Light"/>
                <a:ea typeface="Open Sans Light"/>
                <a:cs typeface="Open Sans Light"/>
                <a:sym typeface="Open Sans Light"/>
              </a:rPr>
              <a:t>rd</a:t>
            </a:r>
            <a:r>
              <a:rPr lang="en-US" sz="1400" b="1" dirty="0">
                <a:solidFill>
                  <a:schemeClr val="lt1"/>
                </a:solidFill>
                <a:latin typeface="Open Sans Light"/>
                <a:ea typeface="Open Sans Light"/>
                <a:cs typeface="Open Sans Light"/>
                <a:sym typeface="Open Sans Light"/>
              </a:rPr>
              <a:t>, 2025</a:t>
            </a:r>
            <a:endParaRPr b="1" dirty="0"/>
          </a:p>
        </p:txBody>
      </p:sp>
      <p:pic>
        <p:nvPicPr>
          <p:cNvPr id="44" name="Picture 43">
            <a:extLst>
              <a:ext uri="{FF2B5EF4-FFF2-40B4-BE49-F238E27FC236}">
                <a16:creationId xmlns:a16="http://schemas.microsoft.com/office/drawing/2014/main" id="{27B6DAEC-71D1-9548-8A76-38FE4C515EBF}"/>
              </a:ext>
            </a:extLst>
          </p:cNvPr>
          <p:cNvPicPr>
            <a:picLocks noChangeAspect="1"/>
          </p:cNvPicPr>
          <p:nvPr/>
        </p:nvPicPr>
        <p:blipFill>
          <a:blip r:embed="rId4"/>
          <a:stretch>
            <a:fillRect/>
          </a:stretch>
        </p:blipFill>
        <p:spPr>
          <a:xfrm>
            <a:off x="4084177" y="1882588"/>
            <a:ext cx="1053877" cy="75276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6"/>
          <p:cNvSpPr/>
          <p:nvPr/>
        </p:nvSpPr>
        <p:spPr>
          <a:xfrm>
            <a:off x="6436933" y="2179481"/>
            <a:ext cx="914400" cy="914400"/>
          </a:xfrm>
          <a:prstGeom prst="roundRect">
            <a:avLst>
              <a:gd name="adj" fmla="val 11033"/>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 name="Google Shape;117;p16"/>
          <p:cNvSpPr/>
          <p:nvPr/>
        </p:nvSpPr>
        <p:spPr>
          <a:xfrm>
            <a:off x="6436933" y="4947301"/>
            <a:ext cx="914400" cy="914400"/>
          </a:xfrm>
          <a:prstGeom prst="roundRect">
            <a:avLst>
              <a:gd name="adj" fmla="val 11033"/>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 name="Google Shape;118;p16"/>
          <p:cNvSpPr/>
          <p:nvPr/>
        </p:nvSpPr>
        <p:spPr>
          <a:xfrm>
            <a:off x="1178559" y="4947301"/>
            <a:ext cx="914400" cy="914400"/>
          </a:xfrm>
          <a:prstGeom prst="roundRect">
            <a:avLst>
              <a:gd name="adj" fmla="val 11033"/>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 name="Google Shape;119;p16"/>
          <p:cNvSpPr/>
          <p:nvPr/>
        </p:nvSpPr>
        <p:spPr>
          <a:xfrm>
            <a:off x="1178559" y="3570399"/>
            <a:ext cx="914400" cy="914400"/>
          </a:xfrm>
          <a:prstGeom prst="roundRect">
            <a:avLst>
              <a:gd name="adj" fmla="val 11033"/>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 name="Google Shape;120;p16"/>
          <p:cNvSpPr/>
          <p:nvPr/>
        </p:nvSpPr>
        <p:spPr>
          <a:xfrm>
            <a:off x="6436933" y="3570399"/>
            <a:ext cx="914400" cy="914400"/>
          </a:xfrm>
          <a:prstGeom prst="roundRect">
            <a:avLst>
              <a:gd name="adj" fmla="val 11033"/>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 name="Google Shape;121;p16"/>
          <p:cNvSpPr/>
          <p:nvPr/>
        </p:nvSpPr>
        <p:spPr>
          <a:xfrm>
            <a:off x="1178559" y="2179122"/>
            <a:ext cx="914400" cy="914400"/>
          </a:xfrm>
          <a:prstGeom prst="roundRect">
            <a:avLst>
              <a:gd name="adj" fmla="val 11033"/>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3" name="Google Shape;123;p16"/>
          <p:cNvSpPr/>
          <p:nvPr/>
        </p:nvSpPr>
        <p:spPr>
          <a:xfrm>
            <a:off x="1255644" y="3635486"/>
            <a:ext cx="744352" cy="784225"/>
          </a:xfrm>
          <a:prstGeom prst="roundRect">
            <a:avLst>
              <a:gd name="adj" fmla="val 16667"/>
            </a:avLst>
          </a:prstGeom>
          <a:gradFill>
            <a:gsLst>
              <a:gs pos="0">
                <a:srgbClr val="FFFFFF">
                  <a:alpha val="0"/>
                </a:srgbClr>
              </a:gs>
              <a:gs pos="100000">
                <a:srgbClr val="FFFFFF">
                  <a:alpha val="38823"/>
                </a:srgbClr>
              </a:gs>
            </a:gsLst>
            <a:lin ang="8100000" scaled="0"/>
          </a:gradFill>
          <a:ln>
            <a:noFill/>
          </a:ln>
        </p:spPr>
        <p:txBody>
          <a:bodyPr spcFirstLastPara="1" wrap="square" lIns="91425" tIns="45700" rIns="91425" bIns="45700" anchor="t" anchorCtr="0">
            <a:noAutofit/>
          </a:bodyPr>
          <a:lstStyle/>
          <a:p>
            <a:pPr marL="88900" marR="0" lvl="0" indent="-12700" algn="l"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p:txBody>
      </p:sp>
      <p:sp>
        <p:nvSpPr>
          <p:cNvPr id="125" name="Google Shape;125;p16"/>
          <p:cNvSpPr/>
          <p:nvPr/>
        </p:nvSpPr>
        <p:spPr>
          <a:xfrm>
            <a:off x="6525688" y="2244725"/>
            <a:ext cx="744352" cy="784225"/>
          </a:xfrm>
          <a:prstGeom prst="roundRect">
            <a:avLst>
              <a:gd name="adj" fmla="val 16667"/>
            </a:avLst>
          </a:prstGeom>
          <a:gradFill>
            <a:gsLst>
              <a:gs pos="0">
                <a:srgbClr val="FFFFFF">
                  <a:alpha val="0"/>
                </a:srgbClr>
              </a:gs>
              <a:gs pos="100000">
                <a:srgbClr val="FFFFFF">
                  <a:alpha val="38823"/>
                </a:srgbClr>
              </a:gs>
            </a:gsLst>
            <a:lin ang="8100000" scaled="0"/>
          </a:gradFill>
          <a:ln>
            <a:noFill/>
          </a:ln>
        </p:spPr>
        <p:txBody>
          <a:bodyPr spcFirstLastPara="1" wrap="square" lIns="91425" tIns="45700" rIns="91425" bIns="45700" anchor="t" anchorCtr="0">
            <a:noAutofit/>
          </a:bodyPr>
          <a:lstStyle/>
          <a:p>
            <a:pPr marL="88900" marR="0" lvl="0" indent="-12700" algn="l"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p:txBody>
      </p:sp>
      <p:sp>
        <p:nvSpPr>
          <p:cNvPr id="126" name="Google Shape;126;p16"/>
          <p:cNvSpPr/>
          <p:nvPr/>
        </p:nvSpPr>
        <p:spPr>
          <a:xfrm>
            <a:off x="6520925" y="3625960"/>
            <a:ext cx="744352" cy="784225"/>
          </a:xfrm>
          <a:prstGeom prst="roundRect">
            <a:avLst>
              <a:gd name="adj" fmla="val 16667"/>
            </a:avLst>
          </a:prstGeom>
          <a:gradFill>
            <a:gsLst>
              <a:gs pos="0">
                <a:srgbClr val="FFFFFF">
                  <a:alpha val="0"/>
                </a:srgbClr>
              </a:gs>
              <a:gs pos="100000">
                <a:srgbClr val="FFFFFF">
                  <a:alpha val="38823"/>
                </a:srgbClr>
              </a:gs>
            </a:gsLst>
            <a:lin ang="8100000" scaled="0"/>
          </a:gradFill>
          <a:ln>
            <a:noFill/>
          </a:ln>
        </p:spPr>
        <p:txBody>
          <a:bodyPr spcFirstLastPara="1" wrap="square" lIns="91425" tIns="45700" rIns="91425" bIns="45700" anchor="t" anchorCtr="0">
            <a:noAutofit/>
          </a:bodyPr>
          <a:lstStyle/>
          <a:p>
            <a:pPr marL="88900" marR="0" lvl="0" indent="-12700" algn="l"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p:txBody>
      </p:sp>
      <p:sp>
        <p:nvSpPr>
          <p:cNvPr id="127" name="Google Shape;127;p16"/>
          <p:cNvSpPr/>
          <p:nvPr/>
        </p:nvSpPr>
        <p:spPr>
          <a:xfrm>
            <a:off x="6436933" y="4989049"/>
            <a:ext cx="914400" cy="914400"/>
          </a:xfrm>
          <a:prstGeom prst="roundRect">
            <a:avLst>
              <a:gd name="adj" fmla="val 16667"/>
            </a:avLst>
          </a:prstGeom>
          <a:solidFill>
            <a:schemeClr val="accent2">
              <a:lumMod val="75000"/>
            </a:schemeClr>
          </a:solidFill>
          <a:ln>
            <a:noFill/>
          </a:ln>
        </p:spPr>
        <p:txBody>
          <a:bodyPr spcFirstLastPara="1" wrap="square" lIns="91425" tIns="45700" rIns="91425" bIns="45700" anchor="t" anchorCtr="0">
            <a:noAutofit/>
          </a:bodyPr>
          <a:lstStyle/>
          <a:p>
            <a:pPr marL="88900" marR="0" lvl="0" indent="-12700" algn="l" rtl="0">
              <a:spcBef>
                <a:spcPts val="0"/>
              </a:spcBef>
              <a:spcAft>
                <a:spcPts val="0"/>
              </a:spcAft>
              <a:buClr>
                <a:schemeClr val="dk1"/>
              </a:buClr>
              <a:buSzPts val="1200"/>
              <a:buFont typeface="Arial"/>
              <a:buNone/>
            </a:pPr>
            <a:endParaRPr sz="1200">
              <a:solidFill>
                <a:schemeClr val="lt1"/>
              </a:solidFill>
              <a:latin typeface="Arial"/>
              <a:ea typeface="Arial"/>
              <a:cs typeface="Arial"/>
              <a:sym typeface="Arial"/>
            </a:endParaRPr>
          </a:p>
        </p:txBody>
      </p:sp>
      <p:sp>
        <p:nvSpPr>
          <p:cNvPr id="128" name="Google Shape;128;p16"/>
          <p:cNvSpPr txBox="1"/>
          <p:nvPr/>
        </p:nvSpPr>
        <p:spPr>
          <a:xfrm>
            <a:off x="1747403" y="646555"/>
            <a:ext cx="8697279"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sz="2800" b="1" dirty="0">
                <a:solidFill>
                  <a:schemeClr val="lt1"/>
                </a:solidFill>
                <a:latin typeface="Open Sans"/>
                <a:ea typeface="Open Sans"/>
                <a:cs typeface="Open Sans"/>
                <a:sym typeface="Open Sans"/>
              </a:rPr>
              <a:t>Kaizen Report-Out Guidelines</a:t>
            </a:r>
            <a:endParaRPr dirty="0"/>
          </a:p>
        </p:txBody>
      </p:sp>
      <p:sp>
        <p:nvSpPr>
          <p:cNvPr id="130" name="Google Shape;130;p16"/>
          <p:cNvSpPr txBox="1"/>
          <p:nvPr/>
        </p:nvSpPr>
        <p:spPr>
          <a:xfrm>
            <a:off x="2316730" y="1909925"/>
            <a:ext cx="3438337"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1" dirty="0">
                <a:solidFill>
                  <a:schemeClr val="lt1"/>
                </a:solidFill>
                <a:latin typeface="Open Sans"/>
                <a:ea typeface="Open Sans"/>
                <a:cs typeface="Open Sans"/>
                <a:sym typeface="Open Sans"/>
              </a:rPr>
              <a:t>All Kaizen team members must  present &amp; be on stage</a:t>
            </a:r>
            <a:endParaRPr sz="1600" b="1" dirty="0">
              <a:solidFill>
                <a:schemeClr val="lt1"/>
              </a:solidFill>
              <a:latin typeface="Open Sans"/>
              <a:ea typeface="Open Sans"/>
              <a:cs typeface="Open Sans"/>
              <a:sym typeface="Open Sans"/>
            </a:endParaRPr>
          </a:p>
        </p:txBody>
      </p:sp>
      <p:sp>
        <p:nvSpPr>
          <p:cNvPr id="131" name="Google Shape;131;p16"/>
          <p:cNvSpPr txBox="1"/>
          <p:nvPr/>
        </p:nvSpPr>
        <p:spPr>
          <a:xfrm>
            <a:off x="2313502" y="3643061"/>
            <a:ext cx="2183194"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1" dirty="0">
                <a:solidFill>
                  <a:schemeClr val="lt1"/>
                </a:solidFill>
                <a:latin typeface="Open Sans"/>
                <a:ea typeface="Open Sans"/>
                <a:cs typeface="Open Sans"/>
                <a:sym typeface="Open Sans"/>
              </a:rPr>
              <a:t>Report-out Timing</a:t>
            </a:r>
            <a:endParaRPr sz="1600" b="1" dirty="0">
              <a:solidFill>
                <a:schemeClr val="lt1"/>
              </a:solidFill>
              <a:latin typeface="Open Sans"/>
              <a:ea typeface="Open Sans"/>
              <a:cs typeface="Open Sans"/>
              <a:sym typeface="Open Sans"/>
            </a:endParaRPr>
          </a:p>
        </p:txBody>
      </p:sp>
      <p:sp>
        <p:nvSpPr>
          <p:cNvPr id="132" name="Google Shape;132;p16"/>
          <p:cNvSpPr txBox="1"/>
          <p:nvPr/>
        </p:nvSpPr>
        <p:spPr>
          <a:xfrm>
            <a:off x="2313503" y="5001767"/>
            <a:ext cx="2811466"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1" dirty="0">
                <a:solidFill>
                  <a:schemeClr val="lt1"/>
                </a:solidFill>
                <a:latin typeface="Open Sans"/>
                <a:ea typeface="Open Sans"/>
                <a:cs typeface="Open Sans"/>
                <a:sym typeface="Open Sans"/>
              </a:rPr>
              <a:t>Report-Out Preparation</a:t>
            </a:r>
            <a:endParaRPr sz="1600" b="1" dirty="0">
              <a:solidFill>
                <a:schemeClr val="lt1"/>
              </a:solidFill>
              <a:latin typeface="Open Sans"/>
              <a:ea typeface="Open Sans"/>
              <a:cs typeface="Open Sans"/>
              <a:sym typeface="Open Sans"/>
            </a:endParaRPr>
          </a:p>
        </p:txBody>
      </p:sp>
      <p:sp>
        <p:nvSpPr>
          <p:cNvPr id="133" name="Google Shape;133;p16"/>
          <p:cNvSpPr txBox="1"/>
          <p:nvPr/>
        </p:nvSpPr>
        <p:spPr>
          <a:xfrm>
            <a:off x="7560671" y="2155646"/>
            <a:ext cx="3877444"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1" dirty="0">
                <a:solidFill>
                  <a:schemeClr val="lt1"/>
                </a:solidFill>
                <a:latin typeface="Open Sans"/>
                <a:ea typeface="Open Sans"/>
                <a:cs typeface="Open Sans"/>
                <a:sym typeface="Open Sans"/>
              </a:rPr>
              <a:t>Senior Leadership Involvement</a:t>
            </a:r>
            <a:endParaRPr sz="1600" b="1" dirty="0">
              <a:solidFill>
                <a:schemeClr val="lt1"/>
              </a:solidFill>
              <a:latin typeface="Open Sans"/>
              <a:ea typeface="Open Sans"/>
              <a:cs typeface="Open Sans"/>
              <a:sym typeface="Open Sans"/>
            </a:endParaRPr>
          </a:p>
        </p:txBody>
      </p:sp>
      <p:sp>
        <p:nvSpPr>
          <p:cNvPr id="134" name="Google Shape;134;p16"/>
          <p:cNvSpPr txBox="1"/>
          <p:nvPr/>
        </p:nvSpPr>
        <p:spPr>
          <a:xfrm>
            <a:off x="7560671" y="3485134"/>
            <a:ext cx="2909255"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1" dirty="0">
                <a:solidFill>
                  <a:schemeClr val="lt1"/>
                </a:solidFill>
                <a:latin typeface="Open Sans"/>
                <a:ea typeface="Open Sans"/>
                <a:cs typeface="Open Sans"/>
                <a:sym typeface="Open Sans"/>
              </a:rPr>
              <a:t>Presentation Specifics</a:t>
            </a:r>
            <a:endParaRPr sz="1600" b="1" dirty="0">
              <a:solidFill>
                <a:schemeClr val="lt1"/>
              </a:solidFill>
              <a:latin typeface="Open Sans"/>
              <a:ea typeface="Open Sans"/>
              <a:cs typeface="Open Sans"/>
              <a:sym typeface="Open Sans"/>
            </a:endParaRPr>
          </a:p>
        </p:txBody>
      </p:sp>
      <p:sp>
        <p:nvSpPr>
          <p:cNvPr id="135" name="Google Shape;135;p16"/>
          <p:cNvSpPr txBox="1"/>
          <p:nvPr/>
        </p:nvSpPr>
        <p:spPr>
          <a:xfrm>
            <a:off x="7560671" y="4967600"/>
            <a:ext cx="1608550"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1" dirty="0">
                <a:solidFill>
                  <a:schemeClr val="lt1"/>
                </a:solidFill>
                <a:latin typeface="Open Sans"/>
                <a:ea typeface="Open Sans"/>
                <a:cs typeface="Open Sans"/>
                <a:sym typeface="Open Sans"/>
              </a:rPr>
              <a:t>Celebrate</a:t>
            </a:r>
            <a:endParaRPr sz="1600" b="1" dirty="0">
              <a:solidFill>
                <a:schemeClr val="lt1"/>
              </a:solidFill>
              <a:latin typeface="Open Sans"/>
              <a:ea typeface="Open Sans"/>
              <a:cs typeface="Open Sans"/>
              <a:sym typeface="Open Sans"/>
            </a:endParaRPr>
          </a:p>
        </p:txBody>
      </p:sp>
      <p:sp>
        <p:nvSpPr>
          <p:cNvPr id="137" name="Google Shape;137;p16"/>
          <p:cNvSpPr/>
          <p:nvPr/>
        </p:nvSpPr>
        <p:spPr>
          <a:xfrm>
            <a:off x="6638974" y="5171044"/>
            <a:ext cx="464344" cy="464344"/>
          </a:xfrm>
          <a:custGeom>
            <a:avLst/>
            <a:gdLst/>
            <a:ahLst/>
            <a:cxnLst/>
            <a:rect l="l" t="t" r="r" b="b"/>
            <a:pathLst>
              <a:path w="21600" h="21600" extrusionOk="0">
                <a:moveTo>
                  <a:pt x="20235" y="9811"/>
                </a:moveTo>
                <a:cubicBezTo>
                  <a:pt x="20220" y="10144"/>
                  <a:pt x="20081" y="10800"/>
                  <a:pt x="18899" y="10800"/>
                </a:cubicBezTo>
                <a:lnTo>
                  <a:pt x="17549" y="10800"/>
                </a:lnTo>
                <a:cubicBezTo>
                  <a:pt x="17363" y="10800"/>
                  <a:pt x="17212" y="10950"/>
                  <a:pt x="17212" y="11137"/>
                </a:cubicBezTo>
                <a:cubicBezTo>
                  <a:pt x="17212" y="11324"/>
                  <a:pt x="17363" y="11475"/>
                  <a:pt x="17549" y="11475"/>
                </a:cubicBezTo>
                <a:lnTo>
                  <a:pt x="18858" y="11475"/>
                </a:lnTo>
                <a:cubicBezTo>
                  <a:pt x="19870" y="11475"/>
                  <a:pt x="20003" y="12314"/>
                  <a:pt x="19938" y="12719"/>
                </a:cubicBezTo>
                <a:cubicBezTo>
                  <a:pt x="19855" y="13223"/>
                  <a:pt x="19618" y="14175"/>
                  <a:pt x="18478" y="14175"/>
                </a:cubicBezTo>
                <a:lnTo>
                  <a:pt x="16874" y="14175"/>
                </a:lnTo>
                <a:cubicBezTo>
                  <a:pt x="16688" y="14175"/>
                  <a:pt x="16537" y="14325"/>
                  <a:pt x="16537" y="14512"/>
                </a:cubicBezTo>
                <a:cubicBezTo>
                  <a:pt x="16537" y="14699"/>
                  <a:pt x="16688" y="14850"/>
                  <a:pt x="16874" y="14850"/>
                </a:cubicBezTo>
                <a:lnTo>
                  <a:pt x="18203" y="14850"/>
                </a:lnTo>
                <a:cubicBezTo>
                  <a:pt x="19343" y="14850"/>
                  <a:pt x="19243" y="15718"/>
                  <a:pt x="19079" y="16237"/>
                </a:cubicBezTo>
                <a:cubicBezTo>
                  <a:pt x="18864" y="16918"/>
                  <a:pt x="18732" y="17549"/>
                  <a:pt x="17297" y="17549"/>
                </a:cubicBezTo>
                <a:lnTo>
                  <a:pt x="16196" y="17549"/>
                </a:lnTo>
                <a:cubicBezTo>
                  <a:pt x="16009" y="17549"/>
                  <a:pt x="15859" y="17700"/>
                  <a:pt x="15859" y="17887"/>
                </a:cubicBezTo>
                <a:cubicBezTo>
                  <a:pt x="15859" y="18073"/>
                  <a:pt x="16009" y="18225"/>
                  <a:pt x="16196" y="18225"/>
                </a:cubicBezTo>
                <a:lnTo>
                  <a:pt x="17255" y="18225"/>
                </a:lnTo>
                <a:cubicBezTo>
                  <a:pt x="17993" y="18225"/>
                  <a:pt x="18027" y="18923"/>
                  <a:pt x="17950" y="19174"/>
                </a:cubicBezTo>
                <a:cubicBezTo>
                  <a:pt x="17866" y="19448"/>
                  <a:pt x="17767" y="19651"/>
                  <a:pt x="17762" y="19660"/>
                </a:cubicBezTo>
                <a:cubicBezTo>
                  <a:pt x="17558" y="20028"/>
                  <a:pt x="17229" y="20249"/>
                  <a:pt x="16534" y="20249"/>
                </a:cubicBezTo>
                <a:lnTo>
                  <a:pt x="12844" y="20249"/>
                </a:lnTo>
                <a:cubicBezTo>
                  <a:pt x="10990" y="20249"/>
                  <a:pt x="9151" y="19829"/>
                  <a:pt x="9104" y="19818"/>
                </a:cubicBezTo>
                <a:cubicBezTo>
                  <a:pt x="6299" y="19172"/>
                  <a:pt x="6152" y="19122"/>
                  <a:pt x="5976" y="19072"/>
                </a:cubicBezTo>
                <a:cubicBezTo>
                  <a:pt x="5976" y="19072"/>
                  <a:pt x="5405" y="18976"/>
                  <a:pt x="5405" y="18478"/>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5"/>
                </a:moveTo>
                <a:cubicBezTo>
                  <a:pt x="4724" y="19948"/>
                  <a:pt x="4423" y="20249"/>
                  <a:pt x="4049" y="20249"/>
                </a:cubicBezTo>
                <a:lnTo>
                  <a:pt x="2024" y="20249"/>
                </a:lnTo>
                <a:cubicBezTo>
                  <a:pt x="1652" y="20249"/>
                  <a:pt x="1349" y="19948"/>
                  <a:pt x="1349" y="19575"/>
                </a:cubicBezTo>
                <a:lnTo>
                  <a:pt x="1349" y="8774"/>
                </a:lnTo>
                <a:cubicBezTo>
                  <a:pt x="1349" y="8401"/>
                  <a:pt x="1652" y="8100"/>
                  <a:pt x="2024" y="8100"/>
                </a:cubicBezTo>
                <a:lnTo>
                  <a:pt x="4049" y="8100"/>
                </a:lnTo>
                <a:cubicBezTo>
                  <a:pt x="4423" y="8100"/>
                  <a:pt x="4724" y="8401"/>
                  <a:pt x="4724" y="8774"/>
                </a:cubicBezTo>
                <a:cubicBezTo>
                  <a:pt x="4724" y="8774"/>
                  <a:pt x="4724" y="19575"/>
                  <a:pt x="4724" y="19575"/>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5"/>
                </a:lnTo>
                <a:cubicBezTo>
                  <a:pt x="0" y="20691"/>
                  <a:pt x="908" y="21599"/>
                  <a:pt x="2024" y="21599"/>
                </a:cubicBezTo>
                <a:lnTo>
                  <a:pt x="4049" y="21599"/>
                </a:lnTo>
                <a:cubicBezTo>
                  <a:pt x="4853" y="21599"/>
                  <a:pt x="5525" y="21114"/>
                  <a:pt x="5850" y="20434"/>
                </a:cubicBezTo>
                <a:cubicBezTo>
                  <a:pt x="5859" y="20437"/>
                  <a:pt x="5873" y="20441"/>
                  <a:pt x="5882" y="20442"/>
                </a:cubicBezTo>
                <a:cubicBezTo>
                  <a:pt x="5927" y="20454"/>
                  <a:pt x="5979" y="20467"/>
                  <a:pt x="6044" y="20485"/>
                </a:cubicBezTo>
                <a:cubicBezTo>
                  <a:pt x="6056" y="20487"/>
                  <a:pt x="6062" y="20488"/>
                  <a:pt x="6074" y="20492"/>
                </a:cubicBezTo>
                <a:cubicBezTo>
                  <a:pt x="6464" y="20588"/>
                  <a:pt x="7212" y="20768"/>
                  <a:pt x="8812" y="21135"/>
                </a:cubicBezTo>
                <a:cubicBezTo>
                  <a:pt x="9155" y="21213"/>
                  <a:pt x="10966" y="21599"/>
                  <a:pt x="12844" y="21599"/>
                </a:cubicBezTo>
                <a:lnTo>
                  <a:pt x="16534" y="21599"/>
                </a:lnTo>
                <a:cubicBezTo>
                  <a:pt x="17659" y="21599"/>
                  <a:pt x="18469" y="21167"/>
                  <a:pt x="18952" y="20298"/>
                </a:cubicBezTo>
                <a:cubicBezTo>
                  <a:pt x="18958" y="20285"/>
                  <a:pt x="19114" y="19982"/>
                  <a:pt x="19240" y="19572"/>
                </a:cubicBezTo>
                <a:cubicBezTo>
                  <a:pt x="19336" y="19263"/>
                  <a:pt x="19371" y="18827"/>
                  <a:pt x="19256" y="18384"/>
                </a:cubicBezTo>
                <a:cubicBezTo>
                  <a:pt x="19981" y="17886"/>
                  <a:pt x="20214" y="17133"/>
                  <a:pt x="20366" y="16643"/>
                </a:cubicBezTo>
                <a:cubicBezTo>
                  <a:pt x="20620" y="15838"/>
                  <a:pt x="20544" y="15235"/>
                  <a:pt x="20367" y="14803"/>
                </a:cubicBezTo>
                <a:cubicBezTo>
                  <a:pt x="20775" y="14418"/>
                  <a:pt x="21122" y="13831"/>
                  <a:pt x="21269" y="12935"/>
                </a:cubicBezTo>
                <a:cubicBezTo>
                  <a:pt x="21361" y="12380"/>
                  <a:pt x="21263" y="11809"/>
                  <a:pt x="21007" y="11334"/>
                </a:cubicBezTo>
                <a:cubicBezTo>
                  <a:pt x="21389" y="10905"/>
                  <a:pt x="21564" y="10365"/>
                  <a:pt x="21583" y="9865"/>
                </a:cubicBezTo>
                <a:lnTo>
                  <a:pt x="21591" y="9724"/>
                </a:lnTo>
                <a:cubicBezTo>
                  <a:pt x="21596" y="9635"/>
                  <a:pt x="21600" y="9581"/>
                  <a:pt x="21600" y="9386"/>
                </a:cubicBezTo>
                <a:cubicBezTo>
                  <a:pt x="21600" y="8533"/>
                  <a:pt x="21010" y="7446"/>
                  <a:pt x="19686" y="7069"/>
                </a:cubicBezTo>
              </a:path>
            </a:pathLst>
          </a:custGeom>
          <a:solidFill>
            <a:schemeClr val="lt1"/>
          </a:solidFill>
          <a:ln>
            <a:noFill/>
          </a:ln>
        </p:spPr>
        <p:txBody>
          <a:bodyPr spcFirstLastPara="1" wrap="square" lIns="19050" tIns="19050" rIns="19050" bIns="19050" anchor="ctr" anchorCtr="0">
            <a:noAutofit/>
          </a:bodyPr>
          <a:lstStyle/>
          <a:p>
            <a:pPr marL="0" marR="0" lvl="0" indent="0" algn="ctr" rtl="0">
              <a:spcBef>
                <a:spcPts val="0"/>
              </a:spcBef>
              <a:spcAft>
                <a:spcPts val="0"/>
              </a:spcAft>
              <a:buNone/>
            </a:pPr>
            <a:endParaRPr sz="1500">
              <a:solidFill>
                <a:schemeClr val="lt1"/>
              </a:solidFill>
              <a:latin typeface="Gill Sans"/>
              <a:ea typeface="Gill Sans"/>
              <a:cs typeface="Gill Sans"/>
              <a:sym typeface="Gill Sans"/>
            </a:endParaRPr>
          </a:p>
        </p:txBody>
      </p:sp>
      <p:sp>
        <p:nvSpPr>
          <p:cNvPr id="138" name="Google Shape;138;p16"/>
          <p:cNvSpPr/>
          <p:nvPr/>
        </p:nvSpPr>
        <p:spPr>
          <a:xfrm>
            <a:off x="6661961" y="3799823"/>
            <a:ext cx="464344" cy="464344"/>
          </a:xfrm>
          <a:custGeom>
            <a:avLst/>
            <a:gdLst/>
            <a:ahLst/>
            <a:cxnLst/>
            <a:rect l="l" t="t" r="r" b="b"/>
            <a:pathLst>
              <a:path w="21600" h="21600" extrusionOk="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solidFill>
            <a:schemeClr val="lt1"/>
          </a:solidFill>
          <a:ln>
            <a:noFill/>
          </a:ln>
        </p:spPr>
        <p:txBody>
          <a:bodyPr spcFirstLastPara="1" wrap="square" lIns="19050" tIns="19050" rIns="19050" bIns="19050" anchor="ctr" anchorCtr="0">
            <a:noAutofit/>
          </a:bodyPr>
          <a:lstStyle/>
          <a:p>
            <a:pPr marL="0" marR="0" lvl="0" indent="0" algn="ctr" rtl="0">
              <a:spcBef>
                <a:spcPts val="0"/>
              </a:spcBef>
              <a:spcAft>
                <a:spcPts val="0"/>
              </a:spcAft>
              <a:buNone/>
            </a:pPr>
            <a:endParaRPr sz="1500">
              <a:solidFill>
                <a:schemeClr val="lt1"/>
              </a:solidFill>
              <a:latin typeface="Gill Sans"/>
              <a:ea typeface="Gill Sans"/>
              <a:cs typeface="Gill Sans"/>
              <a:sym typeface="Gill Sans"/>
            </a:endParaRPr>
          </a:p>
        </p:txBody>
      </p:sp>
      <p:sp>
        <p:nvSpPr>
          <p:cNvPr id="139" name="Google Shape;139;p16"/>
          <p:cNvSpPr/>
          <p:nvPr/>
        </p:nvSpPr>
        <p:spPr>
          <a:xfrm>
            <a:off x="6792930" y="3929998"/>
            <a:ext cx="203200" cy="203200"/>
          </a:xfrm>
          <a:custGeom>
            <a:avLst/>
            <a:gdLst/>
            <a:ahLst/>
            <a:cxnLst/>
            <a:rect l="l" t="t" r="r" b="b"/>
            <a:pathLst>
              <a:path w="21600" h="21600" extrusionOk="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solidFill>
            <a:schemeClr val="lt1"/>
          </a:solidFill>
          <a:ln>
            <a:noFill/>
          </a:ln>
        </p:spPr>
        <p:txBody>
          <a:bodyPr spcFirstLastPara="1" wrap="square" lIns="19050" tIns="19050" rIns="19050" bIns="19050" anchor="ctr" anchorCtr="0">
            <a:noAutofit/>
          </a:bodyPr>
          <a:lstStyle/>
          <a:p>
            <a:pPr marL="0" marR="0" lvl="0" indent="0" algn="ctr" rtl="0">
              <a:spcBef>
                <a:spcPts val="0"/>
              </a:spcBef>
              <a:spcAft>
                <a:spcPts val="0"/>
              </a:spcAft>
              <a:buNone/>
            </a:pPr>
            <a:endParaRPr sz="1500">
              <a:solidFill>
                <a:schemeClr val="lt1"/>
              </a:solidFill>
              <a:latin typeface="Gill Sans"/>
              <a:ea typeface="Gill Sans"/>
              <a:cs typeface="Gill Sans"/>
              <a:sym typeface="Gill Sans"/>
            </a:endParaRPr>
          </a:p>
        </p:txBody>
      </p:sp>
      <p:sp>
        <p:nvSpPr>
          <p:cNvPr id="140" name="Google Shape;140;p16"/>
          <p:cNvSpPr/>
          <p:nvPr/>
        </p:nvSpPr>
        <p:spPr>
          <a:xfrm>
            <a:off x="6835792" y="3973654"/>
            <a:ext cx="116682" cy="116682"/>
          </a:xfrm>
          <a:custGeom>
            <a:avLst/>
            <a:gdLst/>
            <a:ahLst/>
            <a:cxnLst/>
            <a:rect l="l" t="t" r="r" b="b"/>
            <a:pathLst>
              <a:path w="21600" h="21600" extrusionOk="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solidFill>
            <a:schemeClr val="lt1"/>
          </a:solidFill>
          <a:ln>
            <a:noFill/>
          </a:ln>
        </p:spPr>
        <p:txBody>
          <a:bodyPr spcFirstLastPara="1" wrap="square" lIns="19050" tIns="19050" rIns="19050" bIns="19050" anchor="ctr" anchorCtr="0">
            <a:noAutofit/>
          </a:bodyPr>
          <a:lstStyle/>
          <a:p>
            <a:pPr marL="0" marR="0" lvl="0" indent="0" algn="ctr" rtl="0">
              <a:spcBef>
                <a:spcPts val="0"/>
              </a:spcBef>
              <a:spcAft>
                <a:spcPts val="0"/>
              </a:spcAft>
              <a:buNone/>
            </a:pPr>
            <a:endParaRPr sz="1500">
              <a:solidFill>
                <a:schemeClr val="lt1"/>
              </a:solidFill>
              <a:latin typeface="Gill Sans"/>
              <a:ea typeface="Gill Sans"/>
              <a:cs typeface="Gill Sans"/>
              <a:sym typeface="Gill Sans"/>
            </a:endParaRPr>
          </a:p>
        </p:txBody>
      </p:sp>
      <p:grpSp>
        <p:nvGrpSpPr>
          <p:cNvPr id="141" name="Google Shape;141;p16"/>
          <p:cNvGrpSpPr/>
          <p:nvPr/>
        </p:nvGrpSpPr>
        <p:grpSpPr>
          <a:xfrm>
            <a:off x="1395252" y="2432041"/>
            <a:ext cx="469329" cy="3168119"/>
            <a:chOff x="1395252" y="2432041"/>
            <a:chExt cx="469329" cy="3168119"/>
          </a:xfrm>
        </p:grpSpPr>
        <p:grpSp>
          <p:nvGrpSpPr>
            <p:cNvPr id="142" name="Google Shape;142;p16"/>
            <p:cNvGrpSpPr/>
            <p:nvPr/>
          </p:nvGrpSpPr>
          <p:grpSpPr>
            <a:xfrm>
              <a:off x="1395252" y="5208841"/>
              <a:ext cx="465138" cy="391319"/>
              <a:chOff x="1415479" y="5240120"/>
              <a:chExt cx="465138" cy="391319"/>
            </a:xfrm>
          </p:grpSpPr>
          <p:sp>
            <p:nvSpPr>
              <p:cNvPr id="143" name="Google Shape;143;p16"/>
              <p:cNvSpPr/>
              <p:nvPr/>
            </p:nvSpPr>
            <p:spPr>
              <a:xfrm>
                <a:off x="1532160" y="5345792"/>
                <a:ext cx="231775" cy="231775"/>
              </a:xfrm>
              <a:custGeom>
                <a:avLst/>
                <a:gdLst/>
                <a:ahLst/>
                <a:cxnLst/>
                <a:rect l="l" t="t" r="r" b="b"/>
                <a:pathLst>
                  <a:path w="21600" h="21600" extrusionOk="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solidFill>
                <a:schemeClr val="lt1"/>
              </a:solidFill>
              <a:ln>
                <a:noFill/>
              </a:ln>
            </p:spPr>
            <p:txBody>
              <a:bodyPr spcFirstLastPara="1" wrap="square" lIns="19050" tIns="19050" rIns="19050" bIns="19050" anchor="ctr" anchorCtr="0">
                <a:noAutofit/>
              </a:bodyPr>
              <a:lstStyle/>
              <a:p>
                <a:pPr marL="0" marR="0" lvl="0" indent="0" algn="ctr" rtl="0">
                  <a:spcBef>
                    <a:spcPts val="0"/>
                  </a:spcBef>
                  <a:spcAft>
                    <a:spcPts val="0"/>
                  </a:spcAft>
                  <a:buNone/>
                </a:pPr>
                <a:endParaRPr sz="1500">
                  <a:solidFill>
                    <a:schemeClr val="lt1"/>
                  </a:solidFill>
                  <a:latin typeface="Gill Sans"/>
                  <a:ea typeface="Gill Sans"/>
                  <a:cs typeface="Gill Sans"/>
                  <a:sym typeface="Gill Sans"/>
                </a:endParaRPr>
              </a:p>
            </p:txBody>
          </p:sp>
          <p:sp>
            <p:nvSpPr>
              <p:cNvPr id="144" name="Google Shape;144;p16"/>
              <p:cNvSpPr/>
              <p:nvPr/>
            </p:nvSpPr>
            <p:spPr>
              <a:xfrm>
                <a:off x="1415479" y="5240120"/>
                <a:ext cx="465138" cy="391319"/>
              </a:xfrm>
              <a:custGeom>
                <a:avLst/>
                <a:gdLst/>
                <a:ahLst/>
                <a:cxnLst/>
                <a:rect l="l" t="t" r="r" b="b"/>
                <a:pathLst>
                  <a:path w="21600" h="21600" extrusionOk="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solidFill>
                <a:schemeClr val="lt1"/>
              </a:solidFill>
              <a:ln>
                <a:noFill/>
              </a:ln>
            </p:spPr>
            <p:txBody>
              <a:bodyPr spcFirstLastPara="1" wrap="square" lIns="19050" tIns="19050" rIns="19050" bIns="19050" anchor="ctr" anchorCtr="0">
                <a:noAutofit/>
              </a:bodyPr>
              <a:lstStyle/>
              <a:p>
                <a:pPr marL="0" marR="0" lvl="0" indent="0" algn="ctr" rtl="0">
                  <a:spcBef>
                    <a:spcPts val="0"/>
                  </a:spcBef>
                  <a:spcAft>
                    <a:spcPts val="0"/>
                  </a:spcAft>
                  <a:buNone/>
                </a:pPr>
                <a:endParaRPr sz="1500">
                  <a:solidFill>
                    <a:schemeClr val="lt1"/>
                  </a:solidFill>
                  <a:latin typeface="Gill Sans"/>
                  <a:ea typeface="Gill Sans"/>
                  <a:cs typeface="Gill Sans"/>
                  <a:sym typeface="Gill Sans"/>
                </a:endParaRPr>
              </a:p>
            </p:txBody>
          </p:sp>
        </p:grpSp>
        <p:sp>
          <p:nvSpPr>
            <p:cNvPr id="145" name="Google Shape;145;p16"/>
            <p:cNvSpPr/>
            <p:nvPr/>
          </p:nvSpPr>
          <p:spPr>
            <a:xfrm>
              <a:off x="1399443" y="3800299"/>
              <a:ext cx="464344" cy="464344"/>
            </a:xfrm>
            <a:custGeom>
              <a:avLst/>
              <a:gdLst/>
              <a:ahLst/>
              <a:cxnLst/>
              <a:rect l="l" t="t" r="r" b="b"/>
              <a:pathLst>
                <a:path w="21600" h="21600" extrusionOk="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solidFill>
              <a:schemeClr val="lt1"/>
            </a:solidFill>
            <a:ln>
              <a:noFill/>
            </a:ln>
          </p:spPr>
          <p:txBody>
            <a:bodyPr spcFirstLastPara="1" wrap="square" lIns="19050" tIns="19050" rIns="19050" bIns="19050" anchor="ctr" anchorCtr="0">
              <a:noAutofit/>
            </a:bodyPr>
            <a:lstStyle/>
            <a:p>
              <a:pPr marL="0" marR="0" lvl="0" indent="0" algn="ctr" rtl="0">
                <a:spcBef>
                  <a:spcPts val="0"/>
                </a:spcBef>
                <a:spcAft>
                  <a:spcPts val="0"/>
                </a:spcAft>
                <a:buNone/>
              </a:pPr>
              <a:endParaRPr sz="1500">
                <a:solidFill>
                  <a:schemeClr val="lt1"/>
                </a:solidFill>
                <a:latin typeface="Gill Sans"/>
                <a:ea typeface="Gill Sans"/>
                <a:cs typeface="Gill Sans"/>
                <a:sym typeface="Gill Sans"/>
              </a:endParaRPr>
            </a:p>
          </p:txBody>
        </p:sp>
        <p:sp>
          <p:nvSpPr>
            <p:cNvPr id="146" name="Google Shape;146;p16"/>
            <p:cNvSpPr/>
            <p:nvPr/>
          </p:nvSpPr>
          <p:spPr>
            <a:xfrm>
              <a:off x="1399443" y="2432041"/>
              <a:ext cx="465138" cy="464344"/>
            </a:xfrm>
            <a:custGeom>
              <a:avLst/>
              <a:gdLst/>
              <a:ahLst/>
              <a:cxnLst/>
              <a:rect l="l" t="t" r="r" b="b"/>
              <a:pathLst>
                <a:path w="21600" h="21600" extrusionOk="0">
                  <a:moveTo>
                    <a:pt x="14850" y="12150"/>
                  </a:moveTo>
                  <a:cubicBezTo>
                    <a:pt x="13851" y="12150"/>
                    <a:pt x="12926" y="11859"/>
                    <a:pt x="12124" y="11386"/>
                  </a:cubicBezTo>
                  <a:lnTo>
                    <a:pt x="11892" y="11618"/>
                  </a:lnTo>
                  <a:lnTo>
                    <a:pt x="11132" y="12377"/>
                  </a:lnTo>
                  <a:lnTo>
                    <a:pt x="9846" y="13663"/>
                  </a:lnTo>
                  <a:cubicBezTo>
                    <a:pt x="9593" y="13916"/>
                    <a:pt x="9451" y="14260"/>
                    <a:pt x="9451" y="14617"/>
                  </a:cubicBezTo>
                  <a:lnTo>
                    <a:pt x="9451" y="16200"/>
                  </a:lnTo>
                  <a:lnTo>
                    <a:pt x="8101" y="16200"/>
                  </a:lnTo>
                  <a:cubicBezTo>
                    <a:pt x="7356" y="16200"/>
                    <a:pt x="6751" y="16804"/>
                    <a:pt x="6751" y="17549"/>
                  </a:cubicBezTo>
                  <a:lnTo>
                    <a:pt x="6751" y="18900"/>
                  </a:lnTo>
                  <a:lnTo>
                    <a:pt x="5170" y="18900"/>
                  </a:lnTo>
                  <a:cubicBezTo>
                    <a:pt x="4812" y="18900"/>
                    <a:pt x="4469" y="19042"/>
                    <a:pt x="4216" y="19295"/>
                  </a:cubicBezTo>
                  <a:lnTo>
                    <a:pt x="3259" y="20252"/>
                  </a:lnTo>
                  <a:lnTo>
                    <a:pt x="1352" y="20249"/>
                  </a:lnTo>
                  <a:lnTo>
                    <a:pt x="1350" y="18326"/>
                  </a:lnTo>
                  <a:lnTo>
                    <a:pt x="9223" y="10467"/>
                  </a:lnTo>
                  <a:cubicBezTo>
                    <a:pt x="9223" y="10467"/>
                    <a:pt x="9223" y="10467"/>
                    <a:pt x="9224" y="10468"/>
                  </a:cubicBezTo>
                  <a:lnTo>
                    <a:pt x="10215" y="9477"/>
                  </a:lnTo>
                  <a:cubicBezTo>
                    <a:pt x="9741" y="8674"/>
                    <a:pt x="9451" y="7748"/>
                    <a:pt x="9451" y="6750"/>
                  </a:cubicBezTo>
                  <a:cubicBezTo>
                    <a:pt x="9451" y="3767"/>
                    <a:pt x="11869" y="1350"/>
                    <a:pt x="14850" y="1350"/>
                  </a:cubicBezTo>
                  <a:cubicBezTo>
                    <a:pt x="17832" y="1350"/>
                    <a:pt x="20250" y="3767"/>
                    <a:pt x="20250" y="6750"/>
                  </a:cubicBezTo>
                  <a:cubicBezTo>
                    <a:pt x="20250" y="9732"/>
                    <a:pt x="17832" y="12150"/>
                    <a:pt x="14850" y="12150"/>
                  </a:cubicBezTo>
                  <a:moveTo>
                    <a:pt x="14850" y="0"/>
                  </a:moveTo>
                  <a:cubicBezTo>
                    <a:pt x="11123" y="0"/>
                    <a:pt x="8101" y="3022"/>
                    <a:pt x="8101" y="6750"/>
                  </a:cubicBezTo>
                  <a:cubicBezTo>
                    <a:pt x="8101" y="7617"/>
                    <a:pt x="8283" y="8438"/>
                    <a:pt x="8582" y="9199"/>
                  </a:cubicBezTo>
                  <a:lnTo>
                    <a:pt x="383" y="17400"/>
                  </a:lnTo>
                  <a:cubicBezTo>
                    <a:pt x="146" y="17637"/>
                    <a:pt x="0" y="17863"/>
                    <a:pt x="0" y="18225"/>
                  </a:cubicBezTo>
                  <a:lnTo>
                    <a:pt x="0" y="20249"/>
                  </a:lnTo>
                  <a:cubicBezTo>
                    <a:pt x="0" y="20972"/>
                    <a:pt x="626" y="21599"/>
                    <a:pt x="1349" y="21599"/>
                  </a:cubicBezTo>
                  <a:lnTo>
                    <a:pt x="3374" y="21599"/>
                  </a:lnTo>
                  <a:cubicBezTo>
                    <a:pt x="3736" y="21599"/>
                    <a:pt x="3965" y="21455"/>
                    <a:pt x="4202" y="21219"/>
                  </a:cubicBezTo>
                  <a:lnTo>
                    <a:pt x="5170" y="20249"/>
                  </a:lnTo>
                  <a:lnTo>
                    <a:pt x="6751" y="20249"/>
                  </a:lnTo>
                  <a:cubicBezTo>
                    <a:pt x="7496" y="20249"/>
                    <a:pt x="8101" y="19645"/>
                    <a:pt x="8101" y="18900"/>
                  </a:cubicBezTo>
                  <a:lnTo>
                    <a:pt x="8101" y="17549"/>
                  </a:lnTo>
                  <a:lnTo>
                    <a:pt x="9451" y="17549"/>
                  </a:lnTo>
                  <a:cubicBezTo>
                    <a:pt x="10196" y="17549"/>
                    <a:pt x="10801" y="16945"/>
                    <a:pt x="10801" y="16200"/>
                  </a:cubicBezTo>
                  <a:lnTo>
                    <a:pt x="10801" y="14617"/>
                  </a:lnTo>
                  <a:lnTo>
                    <a:pt x="12400" y="13018"/>
                  </a:lnTo>
                  <a:cubicBezTo>
                    <a:pt x="13162" y="13317"/>
                    <a:pt x="13982" y="13500"/>
                    <a:pt x="14850" y="13500"/>
                  </a:cubicBezTo>
                  <a:cubicBezTo>
                    <a:pt x="18577" y="13500"/>
                    <a:pt x="21599" y="10477"/>
                    <a:pt x="21599" y="6750"/>
                  </a:cubicBezTo>
                  <a:cubicBezTo>
                    <a:pt x="21599" y="3022"/>
                    <a:pt x="18577" y="0"/>
                    <a:pt x="14850" y="0"/>
                  </a:cubicBezTo>
                </a:path>
              </a:pathLst>
            </a:custGeom>
            <a:solidFill>
              <a:schemeClr val="lt1"/>
            </a:solidFill>
            <a:ln>
              <a:noFill/>
            </a:ln>
          </p:spPr>
          <p:txBody>
            <a:bodyPr spcFirstLastPara="1" wrap="square" lIns="19050" tIns="19050" rIns="19050" bIns="19050" anchor="ctr" anchorCtr="0">
              <a:noAutofit/>
            </a:bodyPr>
            <a:lstStyle/>
            <a:p>
              <a:pPr marL="0" marR="0" lvl="0" indent="0" algn="ctr" rtl="0">
                <a:spcBef>
                  <a:spcPts val="0"/>
                </a:spcBef>
                <a:spcAft>
                  <a:spcPts val="0"/>
                </a:spcAft>
                <a:buNone/>
              </a:pPr>
              <a:endParaRPr sz="1500">
                <a:solidFill>
                  <a:schemeClr val="lt1"/>
                </a:solidFill>
                <a:latin typeface="Gill Sans"/>
                <a:ea typeface="Gill Sans"/>
                <a:cs typeface="Gill Sans"/>
                <a:sym typeface="Gill Sans"/>
              </a:endParaRPr>
            </a:p>
          </p:txBody>
        </p:sp>
      </p:grpSp>
      <p:sp>
        <p:nvSpPr>
          <p:cNvPr id="147" name="Google Shape;147;p16"/>
          <p:cNvSpPr txBox="1"/>
          <p:nvPr/>
        </p:nvSpPr>
        <p:spPr>
          <a:xfrm>
            <a:off x="2416749" y="2521466"/>
            <a:ext cx="3721693" cy="46166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dirty="0">
                <a:solidFill>
                  <a:schemeClr val="lt1"/>
                </a:solidFill>
                <a:latin typeface="Calibri"/>
                <a:ea typeface="Calibri"/>
                <a:cs typeface="Calibri"/>
                <a:sym typeface="Calibri"/>
              </a:rPr>
              <a:t>Some members may resist public speaking, so they should just introduce themselves at the beginning of the presentation. Do not let one member dominate the presentation! </a:t>
            </a:r>
          </a:p>
          <a:p>
            <a:pPr marL="0" marR="0" lvl="0" indent="0" algn="l" rtl="0">
              <a:spcBef>
                <a:spcPts val="0"/>
              </a:spcBef>
              <a:spcAft>
                <a:spcPts val="0"/>
              </a:spcAft>
              <a:buNone/>
            </a:pPr>
            <a:r>
              <a:rPr lang="en-US" sz="1000" dirty="0" err="1">
                <a:solidFill>
                  <a:schemeClr val="lt1"/>
                </a:solidFill>
                <a:latin typeface="Calibri"/>
                <a:ea typeface="Calibri"/>
                <a:cs typeface="Calibri"/>
                <a:sym typeface="Calibri"/>
              </a:rPr>
              <a:t>LHC</a:t>
            </a:r>
            <a:r>
              <a:rPr lang="en-US" sz="1000" dirty="0">
                <a:solidFill>
                  <a:schemeClr val="lt1"/>
                </a:solidFill>
                <a:latin typeface="Calibri"/>
                <a:ea typeface="Calibri"/>
                <a:cs typeface="Calibri"/>
                <a:sym typeface="Calibri"/>
              </a:rPr>
              <a:t> CONSULTANT DOES NOT PRESENT! (except for closing remarks)</a:t>
            </a:r>
            <a:endParaRPr dirty="0"/>
          </a:p>
        </p:txBody>
      </p:sp>
      <p:sp>
        <p:nvSpPr>
          <p:cNvPr id="148" name="Google Shape;148;p16"/>
          <p:cNvSpPr txBox="1"/>
          <p:nvPr/>
        </p:nvSpPr>
        <p:spPr>
          <a:xfrm>
            <a:off x="7649823" y="2521466"/>
            <a:ext cx="3142733" cy="46166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dirty="0">
                <a:solidFill>
                  <a:schemeClr val="lt1"/>
                </a:solidFill>
                <a:latin typeface="Calibri"/>
                <a:ea typeface="Calibri"/>
                <a:cs typeface="Calibri"/>
                <a:sym typeface="Calibri"/>
              </a:rPr>
              <a:t>Senior leadership should be invited to attend the Kaizen Report-Out presentation well in advance of the event.</a:t>
            </a:r>
            <a:endParaRPr dirty="0"/>
          </a:p>
        </p:txBody>
      </p:sp>
      <p:sp>
        <p:nvSpPr>
          <p:cNvPr id="149" name="Google Shape;149;p16"/>
          <p:cNvSpPr txBox="1"/>
          <p:nvPr/>
        </p:nvSpPr>
        <p:spPr>
          <a:xfrm>
            <a:off x="2416750" y="3993944"/>
            <a:ext cx="2262856" cy="46166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dirty="0">
                <a:solidFill>
                  <a:schemeClr val="lt1"/>
                </a:solidFill>
                <a:latin typeface="Calibri"/>
                <a:ea typeface="Calibri"/>
                <a:cs typeface="Calibri"/>
                <a:sym typeface="Calibri"/>
              </a:rPr>
              <a:t>Must be done at the conclusion of the Kaizen event, not later.</a:t>
            </a:r>
            <a:endParaRPr dirty="0"/>
          </a:p>
        </p:txBody>
      </p:sp>
      <p:sp>
        <p:nvSpPr>
          <p:cNvPr id="150" name="Google Shape;150;p16"/>
          <p:cNvSpPr txBox="1"/>
          <p:nvPr/>
        </p:nvSpPr>
        <p:spPr>
          <a:xfrm>
            <a:off x="7649824" y="3843555"/>
            <a:ext cx="2794858" cy="46166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dirty="0">
                <a:solidFill>
                  <a:schemeClr val="lt1"/>
                </a:solidFill>
                <a:latin typeface="Calibri"/>
                <a:ea typeface="Calibri"/>
                <a:cs typeface="Calibri"/>
                <a:sym typeface="Calibri"/>
              </a:rPr>
              <a:t>Total presentation per team: 30 Minutes as follows:</a:t>
            </a:r>
          </a:p>
          <a:p>
            <a:pPr marL="0" marR="0" lvl="0" indent="0" algn="l" rtl="0">
              <a:spcBef>
                <a:spcPts val="0"/>
              </a:spcBef>
              <a:spcAft>
                <a:spcPts val="0"/>
              </a:spcAft>
              <a:buNone/>
            </a:pPr>
            <a:r>
              <a:rPr lang="en-US" sz="1000" dirty="0">
                <a:solidFill>
                  <a:schemeClr val="lt1"/>
                </a:solidFill>
                <a:latin typeface="Calibri"/>
                <a:cs typeface="Calibri"/>
                <a:sym typeface="Calibri"/>
              </a:rPr>
              <a:t>20 Minutes - Team Presentation</a:t>
            </a:r>
          </a:p>
          <a:p>
            <a:pPr marL="0" marR="0" lvl="0" indent="0" algn="l" rtl="0">
              <a:spcBef>
                <a:spcPts val="0"/>
              </a:spcBef>
              <a:spcAft>
                <a:spcPts val="0"/>
              </a:spcAft>
              <a:buNone/>
            </a:pPr>
            <a:r>
              <a:rPr lang="en-US" sz="1000" dirty="0">
                <a:solidFill>
                  <a:schemeClr val="lt1"/>
                </a:solidFill>
                <a:latin typeface="Calibri"/>
                <a:cs typeface="Calibri"/>
                <a:sym typeface="Calibri"/>
              </a:rPr>
              <a:t>10 Minutes - Q&amp;A/Discussion - Questions should be held to this portion of the agenda.</a:t>
            </a:r>
          </a:p>
          <a:p>
            <a:pPr marL="0" marR="0" lvl="0" indent="0" algn="l" rtl="0">
              <a:spcBef>
                <a:spcPts val="0"/>
              </a:spcBef>
              <a:spcAft>
                <a:spcPts val="0"/>
              </a:spcAft>
              <a:buNone/>
            </a:pPr>
            <a:r>
              <a:rPr lang="en-US" sz="1000" dirty="0">
                <a:solidFill>
                  <a:schemeClr val="lt1"/>
                </a:solidFill>
                <a:latin typeface="Calibri"/>
                <a:cs typeface="Calibri"/>
                <a:sym typeface="Calibri"/>
              </a:rPr>
              <a:t>Use visuals as much as possible.</a:t>
            </a:r>
            <a:endParaRPr dirty="0"/>
          </a:p>
        </p:txBody>
      </p:sp>
      <p:sp>
        <p:nvSpPr>
          <p:cNvPr id="151" name="Google Shape;151;p16"/>
          <p:cNvSpPr txBox="1"/>
          <p:nvPr/>
        </p:nvSpPr>
        <p:spPr>
          <a:xfrm>
            <a:off x="2416749" y="5369327"/>
            <a:ext cx="2708219" cy="46166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dirty="0">
                <a:solidFill>
                  <a:schemeClr val="lt1"/>
                </a:solidFill>
                <a:latin typeface="Calibri"/>
                <a:ea typeface="Calibri"/>
                <a:cs typeface="Calibri"/>
                <a:sym typeface="Calibri"/>
              </a:rPr>
              <a:t>Team members should prepare the Kaizen Report-Out presentation. Presentation should be in electronic format so that it could be shared with others subsequent to the Kaizen event.</a:t>
            </a:r>
            <a:endParaRPr dirty="0"/>
          </a:p>
        </p:txBody>
      </p:sp>
      <p:sp>
        <p:nvSpPr>
          <p:cNvPr id="152" name="Google Shape;152;p16"/>
          <p:cNvSpPr txBox="1"/>
          <p:nvPr/>
        </p:nvSpPr>
        <p:spPr>
          <a:xfrm>
            <a:off x="7649824" y="5369327"/>
            <a:ext cx="2262856" cy="46166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dirty="0">
                <a:solidFill>
                  <a:schemeClr val="lt1"/>
                </a:solidFill>
                <a:latin typeface="Calibri"/>
                <a:ea typeface="Calibri"/>
                <a:cs typeface="Calibri"/>
                <a:sym typeface="Calibri"/>
              </a:rPr>
              <a:t>Be sure to congratulate the team at the conclusion of the presentation. Celebrate with a pizza party, ice cream, etc.</a:t>
            </a:r>
            <a:endParaRPr dirty="0"/>
          </a:p>
        </p:txBody>
      </p:sp>
      <p:sp>
        <p:nvSpPr>
          <p:cNvPr id="153" name="Google Shape;153;p16"/>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a:t>
            </a:fld>
            <a:endParaRPr/>
          </a:p>
        </p:txBody>
      </p:sp>
      <p:pic>
        <p:nvPicPr>
          <p:cNvPr id="2" name="Picture 1">
            <a:extLst>
              <a:ext uri="{FF2B5EF4-FFF2-40B4-BE49-F238E27FC236}">
                <a16:creationId xmlns:a16="http://schemas.microsoft.com/office/drawing/2014/main" id="{EBA89D1D-7038-3E42-8CA5-66DAF5C3F08F}"/>
              </a:ext>
            </a:extLst>
          </p:cNvPr>
          <p:cNvPicPr>
            <a:picLocks noChangeAspect="1"/>
          </p:cNvPicPr>
          <p:nvPr/>
        </p:nvPicPr>
        <p:blipFill>
          <a:blip r:embed="rId3"/>
          <a:stretch>
            <a:fillRect/>
          </a:stretch>
        </p:blipFill>
        <p:spPr>
          <a:xfrm>
            <a:off x="1232675" y="2329100"/>
            <a:ext cx="806168" cy="622684"/>
          </a:xfrm>
          <a:prstGeom prst="rect">
            <a:avLst/>
          </a:prstGeom>
        </p:spPr>
      </p:pic>
      <p:pic>
        <p:nvPicPr>
          <p:cNvPr id="6" name="Picture 5">
            <a:extLst>
              <a:ext uri="{FF2B5EF4-FFF2-40B4-BE49-F238E27FC236}">
                <a16:creationId xmlns:a16="http://schemas.microsoft.com/office/drawing/2014/main" id="{EC2F11E6-4283-1A45-BDD9-9B6A87DF3682}"/>
              </a:ext>
            </a:extLst>
          </p:cNvPr>
          <p:cNvPicPr>
            <a:picLocks noChangeAspect="1"/>
          </p:cNvPicPr>
          <p:nvPr/>
        </p:nvPicPr>
        <p:blipFill>
          <a:blip r:embed="rId4"/>
          <a:stretch>
            <a:fillRect/>
          </a:stretch>
        </p:blipFill>
        <p:spPr>
          <a:xfrm>
            <a:off x="1267224" y="5136877"/>
            <a:ext cx="741528" cy="615694"/>
          </a:xfrm>
          <a:prstGeom prst="rect">
            <a:avLst/>
          </a:prstGeom>
        </p:spPr>
      </p:pic>
      <p:pic>
        <p:nvPicPr>
          <p:cNvPr id="7" name="Picture 6">
            <a:extLst>
              <a:ext uri="{FF2B5EF4-FFF2-40B4-BE49-F238E27FC236}">
                <a16:creationId xmlns:a16="http://schemas.microsoft.com/office/drawing/2014/main" id="{2FC688CB-4177-0941-822F-EC9B41A1D1F6}"/>
              </a:ext>
            </a:extLst>
          </p:cNvPr>
          <p:cNvPicPr>
            <a:picLocks noChangeAspect="1"/>
          </p:cNvPicPr>
          <p:nvPr/>
        </p:nvPicPr>
        <p:blipFill>
          <a:blip r:embed="rId5"/>
          <a:stretch>
            <a:fillRect/>
          </a:stretch>
        </p:blipFill>
        <p:spPr>
          <a:xfrm>
            <a:off x="6520925" y="2334737"/>
            <a:ext cx="730188" cy="621648"/>
          </a:xfrm>
          <a:prstGeom prst="rect">
            <a:avLst/>
          </a:prstGeom>
        </p:spPr>
      </p:pic>
      <p:pic>
        <p:nvPicPr>
          <p:cNvPr id="8" name="Picture 7">
            <a:extLst>
              <a:ext uri="{FF2B5EF4-FFF2-40B4-BE49-F238E27FC236}">
                <a16:creationId xmlns:a16="http://schemas.microsoft.com/office/drawing/2014/main" id="{411E210A-5176-6F4B-B708-5AA212488E82}"/>
              </a:ext>
            </a:extLst>
          </p:cNvPr>
          <p:cNvPicPr>
            <a:picLocks noChangeAspect="1"/>
          </p:cNvPicPr>
          <p:nvPr/>
        </p:nvPicPr>
        <p:blipFill>
          <a:blip r:embed="rId6"/>
          <a:stretch>
            <a:fillRect/>
          </a:stretch>
        </p:blipFill>
        <p:spPr>
          <a:xfrm>
            <a:off x="1245905" y="3708006"/>
            <a:ext cx="776397" cy="669944"/>
          </a:xfrm>
          <a:prstGeom prst="rect">
            <a:avLst/>
          </a:prstGeom>
        </p:spPr>
      </p:pic>
      <p:pic>
        <p:nvPicPr>
          <p:cNvPr id="10" name="Picture 9">
            <a:extLst>
              <a:ext uri="{FF2B5EF4-FFF2-40B4-BE49-F238E27FC236}">
                <a16:creationId xmlns:a16="http://schemas.microsoft.com/office/drawing/2014/main" id="{88A40235-1461-1240-807C-F642A9333BC2}"/>
              </a:ext>
            </a:extLst>
          </p:cNvPr>
          <p:cNvPicPr>
            <a:picLocks noChangeAspect="1"/>
          </p:cNvPicPr>
          <p:nvPr/>
        </p:nvPicPr>
        <p:blipFill>
          <a:blip r:embed="rId7"/>
          <a:stretch>
            <a:fillRect/>
          </a:stretch>
        </p:blipFill>
        <p:spPr>
          <a:xfrm>
            <a:off x="6490709" y="5125002"/>
            <a:ext cx="811640" cy="666365"/>
          </a:xfrm>
          <a:prstGeom prst="rect">
            <a:avLst/>
          </a:prstGeom>
        </p:spPr>
      </p:pic>
      <p:pic>
        <p:nvPicPr>
          <p:cNvPr id="11" name="Picture 10">
            <a:extLst>
              <a:ext uri="{FF2B5EF4-FFF2-40B4-BE49-F238E27FC236}">
                <a16:creationId xmlns:a16="http://schemas.microsoft.com/office/drawing/2014/main" id="{D955B3B9-ADE3-3F48-99DD-40553B529851}"/>
              </a:ext>
            </a:extLst>
          </p:cNvPr>
          <p:cNvPicPr>
            <a:picLocks noChangeAspect="1"/>
          </p:cNvPicPr>
          <p:nvPr/>
        </p:nvPicPr>
        <p:blipFill>
          <a:blip r:embed="rId8"/>
          <a:stretch>
            <a:fillRect/>
          </a:stretch>
        </p:blipFill>
        <p:spPr>
          <a:xfrm>
            <a:off x="6598933" y="3741872"/>
            <a:ext cx="588336" cy="538051"/>
          </a:xfrm>
          <a:prstGeom prst="rect">
            <a:avLst/>
          </a:prstGeom>
        </p:spPr>
      </p:pic>
    </p:spTree>
    <p:extLst>
      <p:ext uri="{BB962C8B-B14F-4D97-AF65-F5344CB8AC3E}">
        <p14:creationId xmlns:p14="http://schemas.microsoft.com/office/powerpoint/2010/main" val="2156430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sp>
        <p:nvSpPr>
          <p:cNvPr id="1822" name="Google Shape;1822;p53"/>
          <p:cNvSpPr txBox="1"/>
          <p:nvPr/>
        </p:nvSpPr>
        <p:spPr>
          <a:xfrm>
            <a:off x="1747403" y="646555"/>
            <a:ext cx="8697279"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sz="2800" b="1" dirty="0">
                <a:solidFill>
                  <a:schemeClr val="lt1"/>
                </a:solidFill>
                <a:latin typeface="Open Sans"/>
                <a:ea typeface="Open Sans"/>
                <a:cs typeface="Open Sans"/>
                <a:sym typeface="Open Sans"/>
              </a:rPr>
              <a:t>Anatomy of a Kaizen Report-Out</a:t>
            </a:r>
            <a:endParaRPr sz="2800" b="1" dirty="0">
              <a:solidFill>
                <a:schemeClr val="lt1"/>
              </a:solidFill>
              <a:latin typeface="Open Sans"/>
              <a:ea typeface="Open Sans"/>
              <a:cs typeface="Open Sans"/>
              <a:sym typeface="Open Sans"/>
            </a:endParaRPr>
          </a:p>
        </p:txBody>
      </p:sp>
      <p:sp>
        <p:nvSpPr>
          <p:cNvPr id="1823" name="Google Shape;1823;p53"/>
          <p:cNvSpPr txBox="1"/>
          <p:nvPr/>
        </p:nvSpPr>
        <p:spPr>
          <a:xfrm>
            <a:off x="1747403" y="1078996"/>
            <a:ext cx="8697279" cy="41044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1600" dirty="0">
                <a:solidFill>
                  <a:schemeClr val="lt1"/>
                </a:solidFill>
                <a:latin typeface="Calibri"/>
                <a:ea typeface="Calibri"/>
                <a:cs typeface="Calibri"/>
                <a:sym typeface="Calibri"/>
              </a:rPr>
              <a:t>All Kaizen Report-Outs Must Contain These Elements</a:t>
            </a:r>
          </a:p>
        </p:txBody>
      </p:sp>
      <p:grpSp>
        <p:nvGrpSpPr>
          <p:cNvPr id="1824" name="Google Shape;1824;p53"/>
          <p:cNvGrpSpPr/>
          <p:nvPr/>
        </p:nvGrpSpPr>
        <p:grpSpPr>
          <a:xfrm>
            <a:off x="9576123" y="1985690"/>
            <a:ext cx="1524135" cy="1486847"/>
            <a:chOff x="1455738" y="2371725"/>
            <a:chExt cx="2198688" cy="2200275"/>
          </a:xfrm>
        </p:grpSpPr>
        <p:sp>
          <p:nvSpPr>
            <p:cNvPr id="1825" name="Google Shape;1825;p53"/>
            <p:cNvSpPr/>
            <p:nvPr/>
          </p:nvSpPr>
          <p:spPr>
            <a:xfrm>
              <a:off x="2035175" y="2967038"/>
              <a:ext cx="1071563" cy="1009650"/>
            </a:xfrm>
            <a:custGeom>
              <a:avLst/>
              <a:gdLst/>
              <a:ahLst/>
              <a:cxnLst/>
              <a:rect l="l" t="t" r="r" b="b"/>
              <a:pathLst>
                <a:path w="570" h="536" extrusionOk="0">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gradFill>
              <a:gsLst>
                <a:gs pos="0">
                  <a:srgbClr val="95845C"/>
                </a:gs>
                <a:gs pos="50000">
                  <a:schemeClr val="accent1"/>
                </a:gs>
                <a:gs pos="100000">
                  <a:schemeClr val="accent1"/>
                </a:gs>
              </a:gsLst>
              <a:lin ang="8100000" scaled="0"/>
            </a:grad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dirty="0">
                  <a:solidFill>
                    <a:schemeClr val="lt1"/>
                  </a:solidFill>
                  <a:latin typeface="Arial"/>
                  <a:ea typeface="Arial"/>
                  <a:cs typeface="Arial"/>
                  <a:sym typeface="Arial"/>
                </a:rPr>
                <a:t>6</a:t>
              </a:r>
              <a:endParaRPr sz="3600" dirty="0">
                <a:solidFill>
                  <a:schemeClr val="lt1"/>
                </a:solidFill>
                <a:latin typeface="Arial"/>
                <a:ea typeface="Arial"/>
                <a:cs typeface="Arial"/>
                <a:sym typeface="Arial"/>
              </a:endParaRPr>
            </a:p>
          </p:txBody>
        </p:sp>
        <p:sp>
          <p:nvSpPr>
            <p:cNvPr id="1826" name="Google Shape;1826;p53"/>
            <p:cNvSpPr/>
            <p:nvPr/>
          </p:nvSpPr>
          <p:spPr>
            <a:xfrm>
              <a:off x="1455738" y="2371725"/>
              <a:ext cx="2198688" cy="2200275"/>
            </a:xfrm>
            <a:custGeom>
              <a:avLst/>
              <a:gdLst/>
              <a:ahLst/>
              <a:cxnLst/>
              <a:rect l="l" t="t" r="r" b="b"/>
              <a:pathLst>
                <a:path w="1169" h="1170" extrusionOk="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gradFill>
              <a:gsLst>
                <a:gs pos="0">
                  <a:srgbClr val="95845C"/>
                </a:gs>
                <a:gs pos="50000">
                  <a:schemeClr val="accent1"/>
                </a:gs>
                <a:gs pos="100000">
                  <a:schemeClr val="accent1"/>
                </a:gs>
              </a:gsLst>
              <a:lin ang="8100000" scaled="0"/>
            </a:grad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Arial"/>
                <a:ea typeface="Arial"/>
                <a:cs typeface="Arial"/>
                <a:sym typeface="Arial"/>
              </a:endParaRPr>
            </a:p>
          </p:txBody>
        </p:sp>
      </p:grpSp>
      <p:grpSp>
        <p:nvGrpSpPr>
          <p:cNvPr id="1830" name="Google Shape;1830;p53"/>
          <p:cNvGrpSpPr/>
          <p:nvPr/>
        </p:nvGrpSpPr>
        <p:grpSpPr>
          <a:xfrm>
            <a:off x="4254815" y="1985690"/>
            <a:ext cx="1524135" cy="1486847"/>
            <a:chOff x="1455738" y="2371725"/>
            <a:chExt cx="2198688" cy="2200275"/>
          </a:xfrm>
        </p:grpSpPr>
        <p:sp>
          <p:nvSpPr>
            <p:cNvPr id="1831" name="Google Shape;1831;p53"/>
            <p:cNvSpPr/>
            <p:nvPr/>
          </p:nvSpPr>
          <p:spPr>
            <a:xfrm>
              <a:off x="2035175" y="2967038"/>
              <a:ext cx="1071563" cy="1009650"/>
            </a:xfrm>
            <a:custGeom>
              <a:avLst/>
              <a:gdLst/>
              <a:ahLst/>
              <a:cxnLst/>
              <a:rect l="l" t="t" r="r" b="b"/>
              <a:pathLst>
                <a:path w="570" h="536" extrusionOk="0">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gradFill>
              <a:gsLst>
                <a:gs pos="0">
                  <a:srgbClr val="456872"/>
                </a:gs>
                <a:gs pos="100000">
                  <a:schemeClr val="accent3"/>
                </a:gs>
              </a:gsLst>
              <a:lin ang="8100000" scaled="0"/>
            </a:grad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dirty="0">
                  <a:solidFill>
                    <a:schemeClr val="lt1"/>
                  </a:solidFill>
                  <a:latin typeface="Arial"/>
                  <a:ea typeface="Arial"/>
                  <a:cs typeface="Arial"/>
                  <a:sym typeface="Arial"/>
                </a:rPr>
                <a:t>3</a:t>
              </a:r>
              <a:endParaRPr sz="3600" dirty="0">
                <a:solidFill>
                  <a:schemeClr val="lt1"/>
                </a:solidFill>
                <a:latin typeface="Arial"/>
                <a:ea typeface="Arial"/>
                <a:cs typeface="Arial"/>
                <a:sym typeface="Arial"/>
              </a:endParaRPr>
            </a:p>
          </p:txBody>
        </p:sp>
        <p:sp>
          <p:nvSpPr>
            <p:cNvPr id="1832" name="Google Shape;1832;p53"/>
            <p:cNvSpPr/>
            <p:nvPr/>
          </p:nvSpPr>
          <p:spPr>
            <a:xfrm>
              <a:off x="1455738" y="2371725"/>
              <a:ext cx="2198688" cy="2200275"/>
            </a:xfrm>
            <a:custGeom>
              <a:avLst/>
              <a:gdLst/>
              <a:ahLst/>
              <a:cxnLst/>
              <a:rect l="l" t="t" r="r" b="b"/>
              <a:pathLst>
                <a:path w="1169" h="1170" extrusionOk="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gradFill>
              <a:gsLst>
                <a:gs pos="0">
                  <a:srgbClr val="456872"/>
                </a:gs>
                <a:gs pos="100000">
                  <a:schemeClr val="accent3"/>
                </a:gs>
              </a:gsLst>
              <a:lin ang="8100000" scaled="0"/>
            </a:grad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Arial"/>
                <a:ea typeface="Arial"/>
                <a:cs typeface="Arial"/>
                <a:sym typeface="Arial"/>
              </a:endParaRPr>
            </a:p>
          </p:txBody>
        </p:sp>
      </p:grpSp>
      <p:grpSp>
        <p:nvGrpSpPr>
          <p:cNvPr id="1836" name="Google Shape;1836;p53"/>
          <p:cNvGrpSpPr/>
          <p:nvPr/>
        </p:nvGrpSpPr>
        <p:grpSpPr>
          <a:xfrm>
            <a:off x="707277" y="1985690"/>
            <a:ext cx="1524135" cy="1486847"/>
            <a:chOff x="1455738" y="2371725"/>
            <a:chExt cx="2198688" cy="2200275"/>
          </a:xfrm>
          <a:solidFill>
            <a:srgbClr val="0070C0"/>
          </a:solidFill>
        </p:grpSpPr>
        <p:sp>
          <p:nvSpPr>
            <p:cNvPr id="1837" name="Google Shape;1837;p53"/>
            <p:cNvSpPr/>
            <p:nvPr/>
          </p:nvSpPr>
          <p:spPr>
            <a:xfrm>
              <a:off x="2035175" y="2967038"/>
              <a:ext cx="1071563" cy="1009650"/>
            </a:xfrm>
            <a:custGeom>
              <a:avLst/>
              <a:gdLst/>
              <a:ahLst/>
              <a:cxnLst/>
              <a:rect l="l" t="t" r="r" b="b"/>
              <a:pathLst>
                <a:path w="570" h="536" extrusionOk="0">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dirty="0">
                  <a:solidFill>
                    <a:schemeClr val="lt1"/>
                  </a:solidFill>
                  <a:latin typeface="Arial"/>
                  <a:ea typeface="Arial"/>
                  <a:cs typeface="Arial"/>
                  <a:sym typeface="Arial"/>
                </a:rPr>
                <a:t>1</a:t>
              </a:r>
              <a:endParaRPr sz="3600" dirty="0">
                <a:solidFill>
                  <a:schemeClr val="lt1"/>
                </a:solidFill>
                <a:latin typeface="Arial"/>
                <a:ea typeface="Arial"/>
                <a:cs typeface="Arial"/>
                <a:sym typeface="Arial"/>
              </a:endParaRPr>
            </a:p>
          </p:txBody>
        </p:sp>
        <p:sp>
          <p:nvSpPr>
            <p:cNvPr id="1838" name="Google Shape;1838;p53"/>
            <p:cNvSpPr/>
            <p:nvPr/>
          </p:nvSpPr>
          <p:spPr>
            <a:xfrm>
              <a:off x="1455738" y="2371725"/>
              <a:ext cx="2198688" cy="2200275"/>
            </a:xfrm>
            <a:custGeom>
              <a:avLst/>
              <a:gdLst/>
              <a:ahLst/>
              <a:cxnLst/>
              <a:rect l="l" t="t" r="r" b="b"/>
              <a:pathLst>
                <a:path w="1169" h="1170" extrusionOk="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Arial"/>
                <a:ea typeface="Arial"/>
                <a:cs typeface="Arial"/>
                <a:sym typeface="Arial"/>
              </a:endParaRPr>
            </a:p>
          </p:txBody>
        </p:sp>
      </p:grpSp>
      <p:grpSp>
        <p:nvGrpSpPr>
          <p:cNvPr id="2" name="Group 1">
            <a:extLst>
              <a:ext uri="{FF2B5EF4-FFF2-40B4-BE49-F238E27FC236}">
                <a16:creationId xmlns:a16="http://schemas.microsoft.com/office/drawing/2014/main" id="{668ADE81-CB39-6A4A-B5BF-D8BC9986797E}"/>
              </a:ext>
            </a:extLst>
          </p:cNvPr>
          <p:cNvGrpSpPr/>
          <p:nvPr/>
        </p:nvGrpSpPr>
        <p:grpSpPr>
          <a:xfrm>
            <a:off x="748193" y="3832269"/>
            <a:ext cx="1805326" cy="1310633"/>
            <a:chOff x="81618" y="3800904"/>
            <a:chExt cx="1805326" cy="1310633"/>
          </a:xfrm>
        </p:grpSpPr>
        <p:sp>
          <p:nvSpPr>
            <p:cNvPr id="1844" name="Google Shape;1844;p53"/>
            <p:cNvSpPr txBox="1"/>
            <p:nvPr/>
          </p:nvSpPr>
          <p:spPr>
            <a:xfrm>
              <a:off x="170530" y="4342096"/>
              <a:ext cx="1716414" cy="769441"/>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dirty="0">
                  <a:solidFill>
                    <a:schemeClr val="lt1"/>
                  </a:solidFill>
                  <a:latin typeface="Calibri"/>
                  <a:ea typeface="Calibri"/>
                  <a:cs typeface="Calibri"/>
                  <a:sym typeface="Calibri"/>
                </a:rPr>
                <a:t>Must contain the Team name, team members’ names &amp; titles, photo of the team</a:t>
              </a:r>
              <a:endParaRPr sz="1000" dirty="0">
                <a:solidFill>
                  <a:schemeClr val="lt1"/>
                </a:solidFill>
                <a:latin typeface="Calibri"/>
                <a:ea typeface="Calibri"/>
                <a:cs typeface="Calibri"/>
                <a:sym typeface="Calibri"/>
              </a:endParaRPr>
            </a:p>
          </p:txBody>
        </p:sp>
        <p:sp>
          <p:nvSpPr>
            <p:cNvPr id="1849" name="Google Shape;1849;p53"/>
            <p:cNvSpPr txBox="1"/>
            <p:nvPr/>
          </p:nvSpPr>
          <p:spPr>
            <a:xfrm>
              <a:off x="81618" y="3800904"/>
              <a:ext cx="1782958" cy="410443"/>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chemeClr val="lt1"/>
                </a:buClr>
                <a:buSzPts val="1400"/>
                <a:buFont typeface="Open Sans"/>
                <a:buNone/>
              </a:pPr>
              <a:r>
                <a:rPr lang="en-US" sz="1400" b="1" dirty="0">
                  <a:solidFill>
                    <a:schemeClr val="lt1"/>
                  </a:solidFill>
                  <a:latin typeface="Open Sans"/>
                  <a:ea typeface="Open Sans"/>
                  <a:cs typeface="Open Sans"/>
                  <a:sym typeface="Open Sans"/>
                </a:rPr>
                <a:t>Team Introduction</a:t>
              </a:r>
              <a:endParaRPr sz="1400" b="1" dirty="0">
                <a:solidFill>
                  <a:schemeClr val="lt1"/>
                </a:solidFill>
                <a:latin typeface="Open Sans"/>
                <a:ea typeface="Open Sans"/>
                <a:cs typeface="Open Sans"/>
                <a:sym typeface="Open Sans"/>
              </a:endParaRPr>
            </a:p>
          </p:txBody>
        </p:sp>
      </p:grpSp>
      <p:grpSp>
        <p:nvGrpSpPr>
          <p:cNvPr id="3" name="Group 2">
            <a:extLst>
              <a:ext uri="{FF2B5EF4-FFF2-40B4-BE49-F238E27FC236}">
                <a16:creationId xmlns:a16="http://schemas.microsoft.com/office/drawing/2014/main" id="{136DB40F-A08C-4944-BA0C-9DD3F7D84B59}"/>
              </a:ext>
            </a:extLst>
          </p:cNvPr>
          <p:cNvGrpSpPr/>
          <p:nvPr/>
        </p:nvGrpSpPr>
        <p:grpSpPr>
          <a:xfrm>
            <a:off x="2506110" y="3832269"/>
            <a:ext cx="1782958" cy="1370857"/>
            <a:chOff x="1820808" y="3637686"/>
            <a:chExt cx="1782958" cy="1370857"/>
          </a:xfrm>
        </p:grpSpPr>
        <p:sp>
          <p:nvSpPr>
            <p:cNvPr id="1845" name="Google Shape;1845;p53"/>
            <p:cNvSpPr txBox="1"/>
            <p:nvPr/>
          </p:nvSpPr>
          <p:spPr>
            <a:xfrm>
              <a:off x="1868217" y="4178878"/>
              <a:ext cx="1716414" cy="829665"/>
            </a:xfrm>
            <a:prstGeom prst="rect">
              <a:avLst/>
            </a:prstGeom>
            <a:noFill/>
            <a:ln>
              <a:noFill/>
            </a:ln>
          </p:spPr>
          <p:txBody>
            <a:bodyPr spcFirstLastPara="1" wrap="square" lIns="0" tIns="0" rIns="0" bIns="0" anchor="t" anchorCtr="0">
              <a:noAutofit/>
            </a:bodyPr>
            <a:lstStyle/>
            <a:p>
              <a:pPr lvl="0"/>
              <a:r>
                <a:rPr lang="en-US" sz="1000" dirty="0">
                  <a:solidFill>
                    <a:schemeClr val="lt1"/>
                  </a:solidFill>
                  <a:latin typeface="Calibri"/>
                  <a:ea typeface="Calibri"/>
                  <a:cs typeface="Calibri"/>
                  <a:sym typeface="Calibri"/>
                </a:rPr>
                <a:t>The Charter and Agenda is a key element to Kaizen preparation and needs to be complete well before the Kaizen event. Sr. Consultants must obtain approval from their Managing Director. See separate guidelines on how to properly prepare a Kaizen Charter and Agenda. </a:t>
              </a:r>
            </a:p>
          </p:txBody>
        </p:sp>
        <p:sp>
          <p:nvSpPr>
            <p:cNvPr id="1850" name="Google Shape;1850;p53"/>
            <p:cNvSpPr txBox="1"/>
            <p:nvPr/>
          </p:nvSpPr>
          <p:spPr>
            <a:xfrm>
              <a:off x="1820808" y="3637686"/>
              <a:ext cx="1782958" cy="410443"/>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400"/>
                <a:buFont typeface="Open Sans"/>
                <a:buNone/>
              </a:pPr>
              <a:r>
                <a:rPr lang="en-US" sz="1400" b="1" dirty="0">
                  <a:solidFill>
                    <a:schemeClr val="lt1"/>
                  </a:solidFill>
                  <a:latin typeface="Open Sans"/>
                  <a:ea typeface="Open Sans"/>
                  <a:cs typeface="Open Sans"/>
                  <a:sym typeface="Open Sans"/>
                </a:rPr>
                <a:t>Kaizen Charter </a:t>
              </a:r>
            </a:p>
            <a:p>
              <a:pPr marL="0" marR="0" lvl="0" indent="0" algn="l" rtl="0">
                <a:lnSpc>
                  <a:spcPct val="90000"/>
                </a:lnSpc>
                <a:spcBef>
                  <a:spcPts val="0"/>
                </a:spcBef>
                <a:spcAft>
                  <a:spcPts val="0"/>
                </a:spcAft>
                <a:buClr>
                  <a:schemeClr val="lt1"/>
                </a:buClr>
                <a:buSzPts val="1400"/>
                <a:buFont typeface="Open Sans"/>
                <a:buNone/>
              </a:pPr>
              <a:r>
                <a:rPr lang="en-US" sz="1400" b="1" dirty="0">
                  <a:solidFill>
                    <a:schemeClr val="lt1"/>
                  </a:solidFill>
                  <a:latin typeface="Open Sans"/>
                  <a:ea typeface="Open Sans"/>
                  <a:cs typeface="Open Sans"/>
                  <a:sym typeface="Open Sans"/>
                </a:rPr>
                <a:t>&amp; Agenda</a:t>
              </a:r>
              <a:endParaRPr sz="1400" b="1" dirty="0">
                <a:solidFill>
                  <a:schemeClr val="lt1"/>
                </a:solidFill>
                <a:latin typeface="Open Sans"/>
                <a:ea typeface="Open Sans"/>
                <a:cs typeface="Open Sans"/>
                <a:sym typeface="Open Sans"/>
              </a:endParaRPr>
            </a:p>
          </p:txBody>
        </p:sp>
      </p:grpSp>
      <p:grpSp>
        <p:nvGrpSpPr>
          <p:cNvPr id="8" name="Group 7">
            <a:extLst>
              <a:ext uri="{FF2B5EF4-FFF2-40B4-BE49-F238E27FC236}">
                <a16:creationId xmlns:a16="http://schemas.microsoft.com/office/drawing/2014/main" id="{488D202D-6BA3-544C-93F3-FF3272B56AED}"/>
              </a:ext>
            </a:extLst>
          </p:cNvPr>
          <p:cNvGrpSpPr/>
          <p:nvPr/>
        </p:nvGrpSpPr>
        <p:grpSpPr>
          <a:xfrm>
            <a:off x="4273326" y="3832269"/>
            <a:ext cx="1782958" cy="1300605"/>
            <a:chOff x="3531116" y="3850136"/>
            <a:chExt cx="1782958" cy="1300605"/>
          </a:xfrm>
        </p:grpSpPr>
        <p:sp>
          <p:nvSpPr>
            <p:cNvPr id="1846" name="Google Shape;1846;p53"/>
            <p:cNvSpPr txBox="1"/>
            <p:nvPr/>
          </p:nvSpPr>
          <p:spPr>
            <a:xfrm>
              <a:off x="3597305" y="4381300"/>
              <a:ext cx="1716414" cy="769441"/>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dirty="0">
                  <a:solidFill>
                    <a:schemeClr val="lt1"/>
                  </a:solidFill>
                  <a:latin typeface="Calibri"/>
                  <a:ea typeface="Calibri"/>
                  <a:cs typeface="Calibri"/>
                  <a:sym typeface="Calibri"/>
                </a:rPr>
                <a:t>Must provide BEFORE/AFTER photos, diagrams, etc.</a:t>
              </a:r>
              <a:endParaRPr sz="1000" dirty="0">
                <a:solidFill>
                  <a:schemeClr val="lt1"/>
                </a:solidFill>
                <a:latin typeface="Calibri"/>
                <a:ea typeface="Calibri"/>
                <a:cs typeface="Calibri"/>
                <a:sym typeface="Calibri"/>
              </a:endParaRPr>
            </a:p>
          </p:txBody>
        </p:sp>
        <p:sp>
          <p:nvSpPr>
            <p:cNvPr id="1851" name="Google Shape;1851;p53"/>
            <p:cNvSpPr txBox="1"/>
            <p:nvPr/>
          </p:nvSpPr>
          <p:spPr>
            <a:xfrm>
              <a:off x="3531116" y="3850136"/>
              <a:ext cx="1782958" cy="410443"/>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400"/>
                <a:buFont typeface="Open Sans"/>
                <a:buNone/>
              </a:pPr>
              <a:r>
                <a:rPr lang="en-US" sz="1400" b="1" dirty="0">
                  <a:solidFill>
                    <a:schemeClr val="lt1"/>
                  </a:solidFill>
                  <a:latin typeface="Open Sans"/>
                  <a:ea typeface="Open Sans"/>
                  <a:cs typeface="Open Sans"/>
                  <a:sym typeface="Open Sans"/>
                </a:rPr>
                <a:t>Kaizen Improvements</a:t>
              </a:r>
              <a:endParaRPr sz="1400" b="1" dirty="0">
                <a:solidFill>
                  <a:schemeClr val="lt1"/>
                </a:solidFill>
                <a:latin typeface="Open Sans"/>
                <a:ea typeface="Open Sans"/>
                <a:cs typeface="Open Sans"/>
                <a:sym typeface="Open Sans"/>
              </a:endParaRPr>
            </a:p>
          </p:txBody>
        </p:sp>
      </p:grpSp>
      <p:grpSp>
        <p:nvGrpSpPr>
          <p:cNvPr id="4" name="Group 3">
            <a:extLst>
              <a:ext uri="{FF2B5EF4-FFF2-40B4-BE49-F238E27FC236}">
                <a16:creationId xmlns:a16="http://schemas.microsoft.com/office/drawing/2014/main" id="{EDD1D443-0070-424B-A6DD-A3C49888EFE0}"/>
              </a:ext>
            </a:extLst>
          </p:cNvPr>
          <p:cNvGrpSpPr/>
          <p:nvPr/>
        </p:nvGrpSpPr>
        <p:grpSpPr>
          <a:xfrm>
            <a:off x="6140947" y="3832269"/>
            <a:ext cx="1782958" cy="1302664"/>
            <a:chOff x="5232150" y="3570264"/>
            <a:chExt cx="1782958" cy="1302664"/>
          </a:xfrm>
        </p:grpSpPr>
        <p:sp>
          <p:nvSpPr>
            <p:cNvPr id="1847" name="Google Shape;1847;p53"/>
            <p:cNvSpPr txBox="1"/>
            <p:nvPr/>
          </p:nvSpPr>
          <p:spPr>
            <a:xfrm>
              <a:off x="5294732" y="4103487"/>
              <a:ext cx="1716414" cy="769441"/>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dirty="0">
                  <a:solidFill>
                    <a:schemeClr val="lt1"/>
                  </a:solidFill>
                  <a:latin typeface="Calibri"/>
                  <a:ea typeface="Calibri"/>
                  <a:cs typeface="Calibri"/>
                  <a:sym typeface="Calibri"/>
                </a:rPr>
                <a:t>Documentation to be applicable to the type of Kaizen event.</a:t>
              </a:r>
              <a:endParaRPr sz="1000" dirty="0">
                <a:solidFill>
                  <a:schemeClr val="lt1"/>
                </a:solidFill>
                <a:latin typeface="Calibri"/>
                <a:ea typeface="Calibri"/>
                <a:cs typeface="Calibri"/>
                <a:sym typeface="Calibri"/>
              </a:endParaRPr>
            </a:p>
          </p:txBody>
        </p:sp>
        <p:sp>
          <p:nvSpPr>
            <p:cNvPr id="1852" name="Google Shape;1852;p53"/>
            <p:cNvSpPr txBox="1"/>
            <p:nvPr/>
          </p:nvSpPr>
          <p:spPr>
            <a:xfrm>
              <a:off x="5232150" y="3570264"/>
              <a:ext cx="1782958" cy="410443"/>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400"/>
                <a:buFont typeface="Open Sans"/>
                <a:buNone/>
              </a:pPr>
              <a:r>
                <a:rPr lang="en-US" sz="1400" b="1" dirty="0">
                  <a:solidFill>
                    <a:schemeClr val="lt1"/>
                  </a:solidFill>
                  <a:latin typeface="Open Sans"/>
                  <a:ea typeface="Open Sans"/>
                  <a:cs typeface="Open Sans"/>
                  <a:sym typeface="Open Sans"/>
                </a:rPr>
                <a:t>Kaizen</a:t>
              </a:r>
            </a:p>
            <a:p>
              <a:pPr marL="0" marR="0" lvl="0" indent="0" algn="l" rtl="0">
                <a:lnSpc>
                  <a:spcPct val="90000"/>
                </a:lnSpc>
                <a:spcBef>
                  <a:spcPts val="0"/>
                </a:spcBef>
                <a:spcAft>
                  <a:spcPts val="0"/>
                </a:spcAft>
                <a:buClr>
                  <a:schemeClr val="lt1"/>
                </a:buClr>
                <a:buSzPts val="1400"/>
                <a:buFont typeface="Open Sans"/>
                <a:buNone/>
              </a:pPr>
              <a:r>
                <a:rPr lang="en-US" sz="1400" b="1" dirty="0">
                  <a:solidFill>
                    <a:schemeClr val="lt1"/>
                  </a:solidFill>
                  <a:latin typeface="Open Sans"/>
                  <a:ea typeface="Open Sans"/>
                  <a:cs typeface="Open Sans"/>
                  <a:sym typeface="Open Sans"/>
                </a:rPr>
                <a:t>Documentation </a:t>
              </a:r>
            </a:p>
            <a:p>
              <a:pPr marL="0" marR="0" lvl="0" indent="0" algn="l" rtl="0">
                <a:lnSpc>
                  <a:spcPct val="90000"/>
                </a:lnSpc>
                <a:spcBef>
                  <a:spcPts val="0"/>
                </a:spcBef>
                <a:spcAft>
                  <a:spcPts val="0"/>
                </a:spcAft>
                <a:buClr>
                  <a:schemeClr val="lt1"/>
                </a:buClr>
                <a:buSzPts val="1400"/>
                <a:buFont typeface="Open Sans"/>
                <a:buNone/>
              </a:pPr>
              <a:r>
                <a:rPr lang="en-US" sz="1400" b="1" dirty="0">
                  <a:solidFill>
                    <a:schemeClr val="lt1"/>
                  </a:solidFill>
                  <a:latin typeface="Open Sans"/>
                  <a:ea typeface="Open Sans"/>
                  <a:cs typeface="Open Sans"/>
                  <a:sym typeface="Open Sans"/>
                </a:rPr>
                <a:t>&amp; Results</a:t>
              </a:r>
              <a:endParaRPr sz="1400" b="1" dirty="0">
                <a:solidFill>
                  <a:schemeClr val="lt1"/>
                </a:solidFill>
                <a:latin typeface="Open Sans"/>
                <a:ea typeface="Open Sans"/>
                <a:cs typeface="Open Sans"/>
                <a:sym typeface="Open Sans"/>
              </a:endParaRPr>
            </a:p>
          </p:txBody>
        </p:sp>
      </p:grpSp>
      <p:sp>
        <p:nvSpPr>
          <p:cNvPr id="1848" name="Google Shape;1848;p53"/>
          <p:cNvSpPr txBox="1"/>
          <p:nvPr/>
        </p:nvSpPr>
        <p:spPr>
          <a:xfrm>
            <a:off x="6180391" y="4758181"/>
            <a:ext cx="1716414" cy="769441"/>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dirty="0">
                <a:solidFill>
                  <a:schemeClr val="lt1"/>
                </a:solidFill>
                <a:latin typeface="Calibri"/>
                <a:ea typeface="Calibri"/>
                <a:cs typeface="Calibri"/>
                <a:sym typeface="Calibri"/>
              </a:rPr>
              <a:t>Details the current KPI, achieved KPI, and Kaizen target  for each KPI in respect to the targets outlined in the Kaizen Charter (Step #2)</a:t>
            </a:r>
            <a:endParaRPr sz="1000" dirty="0">
              <a:solidFill>
                <a:schemeClr val="lt1"/>
              </a:solidFill>
              <a:latin typeface="Calibri"/>
              <a:ea typeface="Calibri"/>
              <a:cs typeface="Calibri"/>
              <a:sym typeface="Calibri"/>
            </a:endParaRPr>
          </a:p>
        </p:txBody>
      </p:sp>
      <p:sp>
        <p:nvSpPr>
          <p:cNvPr id="1854" name="Google Shape;1854;p53"/>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a:t>
            </a:fld>
            <a:endParaRPr/>
          </a:p>
        </p:txBody>
      </p:sp>
      <p:grpSp>
        <p:nvGrpSpPr>
          <p:cNvPr id="35" name="Google Shape;1836;p53">
            <a:extLst>
              <a:ext uri="{FF2B5EF4-FFF2-40B4-BE49-F238E27FC236}">
                <a16:creationId xmlns:a16="http://schemas.microsoft.com/office/drawing/2014/main" id="{1D62D002-2066-0C43-AA60-AB63F8B4E9A7}"/>
              </a:ext>
            </a:extLst>
          </p:cNvPr>
          <p:cNvGrpSpPr/>
          <p:nvPr/>
        </p:nvGrpSpPr>
        <p:grpSpPr>
          <a:xfrm>
            <a:off x="7802353" y="1985690"/>
            <a:ext cx="1524135" cy="1486847"/>
            <a:chOff x="1455738" y="2371725"/>
            <a:chExt cx="2198688" cy="2200275"/>
          </a:xfrm>
          <a:solidFill>
            <a:srgbClr val="E6AD18"/>
          </a:solidFill>
        </p:grpSpPr>
        <p:sp>
          <p:nvSpPr>
            <p:cNvPr id="36" name="Google Shape;1837;p53">
              <a:extLst>
                <a:ext uri="{FF2B5EF4-FFF2-40B4-BE49-F238E27FC236}">
                  <a16:creationId xmlns:a16="http://schemas.microsoft.com/office/drawing/2014/main" id="{42A62863-C983-2842-A3A6-3E684EB8F121}"/>
                </a:ext>
              </a:extLst>
            </p:cNvPr>
            <p:cNvSpPr/>
            <p:nvPr/>
          </p:nvSpPr>
          <p:spPr>
            <a:xfrm>
              <a:off x="2035175" y="2967038"/>
              <a:ext cx="1071563" cy="1009650"/>
            </a:xfrm>
            <a:custGeom>
              <a:avLst/>
              <a:gdLst/>
              <a:ahLst/>
              <a:cxnLst/>
              <a:rect l="l" t="t" r="r" b="b"/>
              <a:pathLst>
                <a:path w="570" h="536" extrusionOk="0">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dirty="0">
                  <a:solidFill>
                    <a:schemeClr val="lt1"/>
                  </a:solidFill>
                  <a:latin typeface="Arial"/>
                  <a:ea typeface="Arial"/>
                  <a:cs typeface="Arial"/>
                  <a:sym typeface="Arial"/>
                </a:rPr>
                <a:t>5</a:t>
              </a:r>
              <a:endParaRPr sz="3600" dirty="0">
                <a:solidFill>
                  <a:schemeClr val="lt1"/>
                </a:solidFill>
                <a:latin typeface="Arial"/>
                <a:ea typeface="Arial"/>
                <a:cs typeface="Arial"/>
                <a:sym typeface="Arial"/>
              </a:endParaRPr>
            </a:p>
          </p:txBody>
        </p:sp>
        <p:sp>
          <p:nvSpPr>
            <p:cNvPr id="37" name="Google Shape;1838;p53">
              <a:extLst>
                <a:ext uri="{FF2B5EF4-FFF2-40B4-BE49-F238E27FC236}">
                  <a16:creationId xmlns:a16="http://schemas.microsoft.com/office/drawing/2014/main" id="{C5889BE9-80F5-9C48-BF1B-5FFA6A6E7EE2}"/>
                </a:ext>
              </a:extLst>
            </p:cNvPr>
            <p:cNvSpPr/>
            <p:nvPr/>
          </p:nvSpPr>
          <p:spPr>
            <a:xfrm>
              <a:off x="1455738" y="2371725"/>
              <a:ext cx="2198688" cy="2200275"/>
            </a:xfrm>
            <a:custGeom>
              <a:avLst/>
              <a:gdLst/>
              <a:ahLst/>
              <a:cxnLst/>
              <a:rect l="l" t="t" r="r" b="b"/>
              <a:pathLst>
                <a:path w="1169" h="1170" extrusionOk="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Arial"/>
                <a:ea typeface="Arial"/>
                <a:cs typeface="Arial"/>
                <a:sym typeface="Arial"/>
              </a:endParaRPr>
            </a:p>
          </p:txBody>
        </p:sp>
      </p:grpSp>
      <p:grpSp>
        <p:nvGrpSpPr>
          <p:cNvPr id="38" name="Google Shape;1836;p53">
            <a:extLst>
              <a:ext uri="{FF2B5EF4-FFF2-40B4-BE49-F238E27FC236}">
                <a16:creationId xmlns:a16="http://schemas.microsoft.com/office/drawing/2014/main" id="{49575A0A-D966-C142-8383-7C34091B6E73}"/>
              </a:ext>
            </a:extLst>
          </p:cNvPr>
          <p:cNvGrpSpPr/>
          <p:nvPr/>
        </p:nvGrpSpPr>
        <p:grpSpPr>
          <a:xfrm>
            <a:off x="2481046" y="1985690"/>
            <a:ext cx="1524135" cy="1486847"/>
            <a:chOff x="1455738" y="2371725"/>
            <a:chExt cx="2198688" cy="2200275"/>
          </a:xfrm>
          <a:solidFill>
            <a:schemeClr val="accent2">
              <a:lumMod val="75000"/>
            </a:schemeClr>
          </a:solidFill>
        </p:grpSpPr>
        <p:sp>
          <p:nvSpPr>
            <p:cNvPr id="39" name="Google Shape;1837;p53">
              <a:extLst>
                <a:ext uri="{FF2B5EF4-FFF2-40B4-BE49-F238E27FC236}">
                  <a16:creationId xmlns:a16="http://schemas.microsoft.com/office/drawing/2014/main" id="{ECE0AC79-324E-B34D-B7C6-ED36246AE870}"/>
                </a:ext>
              </a:extLst>
            </p:cNvPr>
            <p:cNvSpPr/>
            <p:nvPr/>
          </p:nvSpPr>
          <p:spPr>
            <a:xfrm>
              <a:off x="2035175" y="2967038"/>
              <a:ext cx="1071563" cy="1009650"/>
            </a:xfrm>
            <a:custGeom>
              <a:avLst/>
              <a:gdLst/>
              <a:ahLst/>
              <a:cxnLst/>
              <a:rect l="l" t="t" r="r" b="b"/>
              <a:pathLst>
                <a:path w="570" h="536" extrusionOk="0">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dirty="0">
                  <a:solidFill>
                    <a:schemeClr val="lt1"/>
                  </a:solidFill>
                  <a:latin typeface="Arial"/>
                  <a:ea typeface="Arial"/>
                  <a:cs typeface="Arial"/>
                  <a:sym typeface="Arial"/>
                </a:rPr>
                <a:t>2</a:t>
              </a:r>
              <a:endParaRPr sz="3600" dirty="0">
                <a:solidFill>
                  <a:schemeClr val="lt1"/>
                </a:solidFill>
                <a:latin typeface="Arial"/>
                <a:ea typeface="Arial"/>
                <a:cs typeface="Arial"/>
                <a:sym typeface="Arial"/>
              </a:endParaRPr>
            </a:p>
          </p:txBody>
        </p:sp>
        <p:sp>
          <p:nvSpPr>
            <p:cNvPr id="40" name="Google Shape;1838;p53">
              <a:extLst>
                <a:ext uri="{FF2B5EF4-FFF2-40B4-BE49-F238E27FC236}">
                  <a16:creationId xmlns:a16="http://schemas.microsoft.com/office/drawing/2014/main" id="{6BB31329-2E7D-574C-BF88-0D5C4A1E7AA7}"/>
                </a:ext>
              </a:extLst>
            </p:cNvPr>
            <p:cNvSpPr/>
            <p:nvPr/>
          </p:nvSpPr>
          <p:spPr>
            <a:xfrm>
              <a:off x="1455738" y="2371725"/>
              <a:ext cx="2198688" cy="2200275"/>
            </a:xfrm>
            <a:custGeom>
              <a:avLst/>
              <a:gdLst/>
              <a:ahLst/>
              <a:cxnLst/>
              <a:rect l="l" t="t" r="r" b="b"/>
              <a:pathLst>
                <a:path w="1169" h="1170" extrusionOk="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Arial"/>
                <a:ea typeface="Arial"/>
                <a:cs typeface="Arial"/>
                <a:sym typeface="Arial"/>
              </a:endParaRPr>
            </a:p>
          </p:txBody>
        </p:sp>
      </p:grpSp>
      <p:grpSp>
        <p:nvGrpSpPr>
          <p:cNvPr id="44" name="Google Shape;1836;p53">
            <a:extLst>
              <a:ext uri="{FF2B5EF4-FFF2-40B4-BE49-F238E27FC236}">
                <a16:creationId xmlns:a16="http://schemas.microsoft.com/office/drawing/2014/main" id="{B5DE9F88-A10E-FC4E-948F-2FFE40430C27}"/>
              </a:ext>
            </a:extLst>
          </p:cNvPr>
          <p:cNvGrpSpPr/>
          <p:nvPr/>
        </p:nvGrpSpPr>
        <p:grpSpPr>
          <a:xfrm>
            <a:off x="6028584" y="1985690"/>
            <a:ext cx="1524135" cy="1486847"/>
            <a:chOff x="1455738" y="2371725"/>
            <a:chExt cx="2198688" cy="2200275"/>
          </a:xfrm>
          <a:solidFill>
            <a:srgbClr val="9F0405"/>
          </a:solidFill>
        </p:grpSpPr>
        <p:sp>
          <p:nvSpPr>
            <p:cNvPr id="45" name="Google Shape;1837;p53">
              <a:extLst>
                <a:ext uri="{FF2B5EF4-FFF2-40B4-BE49-F238E27FC236}">
                  <a16:creationId xmlns:a16="http://schemas.microsoft.com/office/drawing/2014/main" id="{11CE72B8-3357-624C-A164-D191CE5209A7}"/>
                </a:ext>
              </a:extLst>
            </p:cNvPr>
            <p:cNvSpPr/>
            <p:nvPr/>
          </p:nvSpPr>
          <p:spPr>
            <a:xfrm>
              <a:off x="2035175" y="2967038"/>
              <a:ext cx="1071563" cy="1009650"/>
            </a:xfrm>
            <a:custGeom>
              <a:avLst/>
              <a:gdLst/>
              <a:ahLst/>
              <a:cxnLst/>
              <a:rect l="l" t="t" r="r" b="b"/>
              <a:pathLst>
                <a:path w="570" h="536" extrusionOk="0">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dirty="0">
                  <a:solidFill>
                    <a:schemeClr val="lt1"/>
                  </a:solidFill>
                  <a:latin typeface="Arial"/>
                  <a:ea typeface="Arial"/>
                  <a:cs typeface="Arial"/>
                  <a:sym typeface="Arial"/>
                </a:rPr>
                <a:t>4</a:t>
              </a:r>
              <a:endParaRPr sz="3600" dirty="0">
                <a:solidFill>
                  <a:schemeClr val="lt1"/>
                </a:solidFill>
                <a:latin typeface="Arial"/>
                <a:ea typeface="Arial"/>
                <a:cs typeface="Arial"/>
                <a:sym typeface="Arial"/>
              </a:endParaRPr>
            </a:p>
          </p:txBody>
        </p:sp>
        <p:sp>
          <p:nvSpPr>
            <p:cNvPr id="46" name="Google Shape;1838;p53">
              <a:extLst>
                <a:ext uri="{FF2B5EF4-FFF2-40B4-BE49-F238E27FC236}">
                  <a16:creationId xmlns:a16="http://schemas.microsoft.com/office/drawing/2014/main" id="{405B73E3-45C1-5640-A9FB-72105D242D42}"/>
                </a:ext>
              </a:extLst>
            </p:cNvPr>
            <p:cNvSpPr/>
            <p:nvPr/>
          </p:nvSpPr>
          <p:spPr>
            <a:xfrm>
              <a:off x="1455738" y="2371725"/>
              <a:ext cx="2198688" cy="2200275"/>
            </a:xfrm>
            <a:custGeom>
              <a:avLst/>
              <a:gdLst/>
              <a:ahLst/>
              <a:cxnLst/>
              <a:rect l="l" t="t" r="r" b="b"/>
              <a:pathLst>
                <a:path w="1169" h="1170" extrusionOk="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Arial"/>
                <a:ea typeface="Arial"/>
                <a:cs typeface="Arial"/>
                <a:sym typeface="Arial"/>
              </a:endParaRPr>
            </a:p>
          </p:txBody>
        </p:sp>
      </p:grpSp>
      <p:grpSp>
        <p:nvGrpSpPr>
          <p:cNvPr id="6" name="Group 5">
            <a:extLst>
              <a:ext uri="{FF2B5EF4-FFF2-40B4-BE49-F238E27FC236}">
                <a16:creationId xmlns:a16="http://schemas.microsoft.com/office/drawing/2014/main" id="{16C951AD-FA76-7F4E-B80C-56F4CF94EF6E}"/>
              </a:ext>
            </a:extLst>
          </p:cNvPr>
          <p:cNvGrpSpPr/>
          <p:nvPr/>
        </p:nvGrpSpPr>
        <p:grpSpPr>
          <a:xfrm>
            <a:off x="7966370" y="3763566"/>
            <a:ext cx="1872187" cy="1369309"/>
            <a:chOff x="8872078" y="3710197"/>
            <a:chExt cx="1872187" cy="1369309"/>
          </a:xfrm>
        </p:grpSpPr>
        <p:sp>
          <p:nvSpPr>
            <p:cNvPr id="47" name="Google Shape;1848;p53">
              <a:extLst>
                <a:ext uri="{FF2B5EF4-FFF2-40B4-BE49-F238E27FC236}">
                  <a16:creationId xmlns:a16="http://schemas.microsoft.com/office/drawing/2014/main" id="{0481B3D4-D96D-3749-8938-E716C73A3A63}"/>
                </a:ext>
              </a:extLst>
            </p:cNvPr>
            <p:cNvSpPr txBox="1"/>
            <p:nvPr/>
          </p:nvSpPr>
          <p:spPr>
            <a:xfrm>
              <a:off x="9027851" y="4310065"/>
              <a:ext cx="1716414" cy="769441"/>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dirty="0">
                  <a:solidFill>
                    <a:schemeClr val="lt1"/>
                  </a:solidFill>
                  <a:latin typeface="Calibri"/>
                  <a:ea typeface="Calibri"/>
                  <a:cs typeface="Calibri"/>
                  <a:sym typeface="Calibri"/>
                </a:rPr>
                <a:t>Details follow-up items and activity with timelines and responsibilities</a:t>
              </a:r>
              <a:endParaRPr sz="1000" dirty="0">
                <a:solidFill>
                  <a:schemeClr val="lt1"/>
                </a:solidFill>
                <a:latin typeface="Calibri"/>
                <a:ea typeface="Calibri"/>
                <a:cs typeface="Calibri"/>
                <a:sym typeface="Calibri"/>
              </a:endParaRPr>
            </a:p>
          </p:txBody>
        </p:sp>
        <p:sp>
          <p:nvSpPr>
            <p:cNvPr id="48" name="Google Shape;1853;p53">
              <a:extLst>
                <a:ext uri="{FF2B5EF4-FFF2-40B4-BE49-F238E27FC236}">
                  <a16:creationId xmlns:a16="http://schemas.microsoft.com/office/drawing/2014/main" id="{18D2D2D1-000C-884B-B101-221732CB9F17}"/>
                </a:ext>
              </a:extLst>
            </p:cNvPr>
            <p:cNvSpPr txBox="1"/>
            <p:nvPr/>
          </p:nvSpPr>
          <p:spPr>
            <a:xfrm>
              <a:off x="8872078" y="3710197"/>
              <a:ext cx="1782958" cy="410443"/>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400"/>
                <a:buFont typeface="Open Sans"/>
                <a:buNone/>
              </a:pPr>
              <a:r>
                <a:rPr lang="en-US" sz="1400" b="1" dirty="0">
                  <a:solidFill>
                    <a:schemeClr val="lt1"/>
                  </a:solidFill>
                  <a:latin typeface="Open Sans"/>
                  <a:ea typeface="Open Sans"/>
                  <a:cs typeface="Open Sans"/>
                  <a:sym typeface="Open Sans"/>
                </a:rPr>
                <a:t>Kaizen Newspaper</a:t>
              </a:r>
              <a:endParaRPr sz="1400" b="1" dirty="0">
                <a:solidFill>
                  <a:schemeClr val="lt1"/>
                </a:solidFill>
                <a:latin typeface="Open Sans"/>
                <a:ea typeface="Open Sans"/>
                <a:cs typeface="Open Sans"/>
                <a:sym typeface="Open Sans"/>
              </a:endParaRPr>
            </a:p>
          </p:txBody>
        </p:sp>
      </p:grpSp>
      <p:grpSp>
        <p:nvGrpSpPr>
          <p:cNvPr id="7" name="Group 6">
            <a:extLst>
              <a:ext uri="{FF2B5EF4-FFF2-40B4-BE49-F238E27FC236}">
                <a16:creationId xmlns:a16="http://schemas.microsoft.com/office/drawing/2014/main" id="{FF17101A-89FA-AA41-9767-BA56DC5C940B}"/>
              </a:ext>
            </a:extLst>
          </p:cNvPr>
          <p:cNvGrpSpPr/>
          <p:nvPr/>
        </p:nvGrpSpPr>
        <p:grpSpPr>
          <a:xfrm>
            <a:off x="9705646" y="3832269"/>
            <a:ext cx="1716414" cy="1300703"/>
            <a:chOff x="10527559" y="3645552"/>
            <a:chExt cx="1716414" cy="1300703"/>
          </a:xfrm>
        </p:grpSpPr>
        <p:sp>
          <p:nvSpPr>
            <p:cNvPr id="49" name="Google Shape;1848;p53">
              <a:extLst>
                <a:ext uri="{FF2B5EF4-FFF2-40B4-BE49-F238E27FC236}">
                  <a16:creationId xmlns:a16="http://schemas.microsoft.com/office/drawing/2014/main" id="{63739130-5134-E848-9CD9-BBD154AE0534}"/>
                </a:ext>
              </a:extLst>
            </p:cNvPr>
            <p:cNvSpPr txBox="1"/>
            <p:nvPr/>
          </p:nvSpPr>
          <p:spPr>
            <a:xfrm>
              <a:off x="10629177" y="4176814"/>
              <a:ext cx="1558753" cy="769441"/>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dirty="0">
                  <a:solidFill>
                    <a:schemeClr val="lt1"/>
                  </a:solidFill>
                  <a:latin typeface="Calibri"/>
                  <a:ea typeface="Calibri"/>
                  <a:cs typeface="Calibri"/>
                  <a:sym typeface="Calibri"/>
                </a:rPr>
                <a:t>Opportunity for team members to showcase their learnings</a:t>
              </a:r>
            </a:p>
            <a:p>
              <a:pPr marL="0" marR="0" lvl="0" indent="0" algn="l" rtl="0">
                <a:spcBef>
                  <a:spcPts val="0"/>
                </a:spcBef>
                <a:spcAft>
                  <a:spcPts val="0"/>
                </a:spcAft>
                <a:buNone/>
              </a:pPr>
              <a:endParaRPr lang="en-US" sz="1000" dirty="0">
                <a:solidFill>
                  <a:schemeClr val="lt1"/>
                </a:solidFill>
                <a:latin typeface="Calibri"/>
                <a:ea typeface="Calibri"/>
                <a:cs typeface="Calibri"/>
                <a:sym typeface="Calibri"/>
              </a:endParaRPr>
            </a:p>
            <a:p>
              <a:pPr marL="0" marR="0" lvl="0" indent="0" algn="l" rtl="0">
                <a:spcBef>
                  <a:spcPts val="0"/>
                </a:spcBef>
                <a:spcAft>
                  <a:spcPts val="0"/>
                </a:spcAft>
                <a:buNone/>
              </a:pPr>
              <a:r>
                <a:rPr lang="en-US" sz="1000" dirty="0">
                  <a:solidFill>
                    <a:schemeClr val="lt1"/>
                  </a:solidFill>
                  <a:latin typeface="Calibri"/>
                  <a:ea typeface="Calibri"/>
                  <a:cs typeface="Calibri"/>
                  <a:sym typeface="Calibri"/>
                </a:rPr>
                <a:t>Future  actions outside the scope of the Kaizen Newspaper</a:t>
              </a:r>
              <a:endParaRPr sz="1000" dirty="0">
                <a:solidFill>
                  <a:schemeClr val="lt1"/>
                </a:solidFill>
                <a:latin typeface="Calibri"/>
                <a:ea typeface="Calibri"/>
                <a:cs typeface="Calibri"/>
                <a:sym typeface="Calibri"/>
              </a:endParaRPr>
            </a:p>
          </p:txBody>
        </p:sp>
        <p:sp>
          <p:nvSpPr>
            <p:cNvPr id="50" name="Google Shape;1853;p53">
              <a:extLst>
                <a:ext uri="{FF2B5EF4-FFF2-40B4-BE49-F238E27FC236}">
                  <a16:creationId xmlns:a16="http://schemas.microsoft.com/office/drawing/2014/main" id="{B43FE7C0-E27A-6F4E-AA01-E09BCA74CB4A}"/>
                </a:ext>
              </a:extLst>
            </p:cNvPr>
            <p:cNvSpPr txBox="1"/>
            <p:nvPr/>
          </p:nvSpPr>
          <p:spPr>
            <a:xfrm>
              <a:off x="10527559" y="3645552"/>
              <a:ext cx="1716414" cy="410443"/>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400"/>
                <a:buFont typeface="Open Sans"/>
                <a:buNone/>
              </a:pPr>
              <a:r>
                <a:rPr lang="en-US" sz="1400" b="1" dirty="0">
                  <a:solidFill>
                    <a:schemeClr val="lt1"/>
                  </a:solidFill>
                  <a:latin typeface="Open Sans"/>
                  <a:ea typeface="Open Sans"/>
                  <a:cs typeface="Open Sans"/>
                  <a:sym typeface="Open Sans"/>
                </a:rPr>
                <a:t>Lessons Learned &amp; Parking Lot</a:t>
              </a:r>
              <a:endParaRPr sz="1400" b="1" dirty="0">
                <a:solidFill>
                  <a:schemeClr val="lt1"/>
                </a:solidFill>
                <a:latin typeface="Open Sans"/>
                <a:ea typeface="Open Sans"/>
                <a:cs typeface="Open Sans"/>
                <a:sym typeface="Open Sans"/>
              </a:endParaRPr>
            </a:p>
          </p:txBody>
        </p:sp>
      </p:grpSp>
      <p:sp>
        <p:nvSpPr>
          <p:cNvPr id="60" name="Google Shape;1823;p53">
            <a:extLst>
              <a:ext uri="{FF2B5EF4-FFF2-40B4-BE49-F238E27FC236}">
                <a16:creationId xmlns:a16="http://schemas.microsoft.com/office/drawing/2014/main" id="{EADE7A6F-EF55-DE47-9A9B-C58A38B4596B}"/>
              </a:ext>
            </a:extLst>
          </p:cNvPr>
          <p:cNvSpPr txBox="1"/>
          <p:nvPr/>
        </p:nvSpPr>
        <p:spPr>
          <a:xfrm>
            <a:off x="1640431" y="6054920"/>
            <a:ext cx="8697279" cy="41044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2000" dirty="0">
                <a:solidFill>
                  <a:srgbClr val="E6AD18"/>
                </a:solidFill>
                <a:latin typeface="Calibri"/>
                <a:ea typeface="Calibri"/>
                <a:cs typeface="Calibri"/>
                <a:sym typeface="Calibri"/>
              </a:rPr>
              <a:t>See the following sections for detailed descriptions and examples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sp>
        <p:nvSpPr>
          <p:cNvPr id="1822" name="Google Shape;1822;p53"/>
          <p:cNvSpPr txBox="1"/>
          <p:nvPr/>
        </p:nvSpPr>
        <p:spPr>
          <a:xfrm>
            <a:off x="1747403" y="646555"/>
            <a:ext cx="8697279"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sz="2800" b="1" dirty="0">
                <a:solidFill>
                  <a:schemeClr val="lt1"/>
                </a:solidFill>
                <a:latin typeface="Open Sans"/>
                <a:ea typeface="Open Sans"/>
                <a:cs typeface="Open Sans"/>
                <a:sym typeface="Open Sans"/>
              </a:rPr>
              <a:t>Team Introduction</a:t>
            </a:r>
            <a:endParaRPr sz="2800" b="1" dirty="0">
              <a:solidFill>
                <a:schemeClr val="lt1"/>
              </a:solidFill>
              <a:latin typeface="Open Sans"/>
              <a:ea typeface="Open Sans"/>
              <a:cs typeface="Open Sans"/>
              <a:sym typeface="Open Sans"/>
            </a:endParaRPr>
          </a:p>
        </p:txBody>
      </p:sp>
      <p:sp>
        <p:nvSpPr>
          <p:cNvPr id="1823" name="Google Shape;1823;p53"/>
          <p:cNvSpPr txBox="1"/>
          <p:nvPr/>
        </p:nvSpPr>
        <p:spPr>
          <a:xfrm>
            <a:off x="1747403" y="1078996"/>
            <a:ext cx="8697279" cy="41044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200"/>
              <a:buFont typeface="Calibri"/>
              <a:buNone/>
            </a:pPr>
            <a:endParaRPr lang="en-US" sz="1600" dirty="0">
              <a:solidFill>
                <a:schemeClr val="lt1"/>
              </a:solidFill>
              <a:latin typeface="Calibri"/>
              <a:ea typeface="Calibri"/>
              <a:cs typeface="Calibri"/>
              <a:sym typeface="Calibri"/>
            </a:endParaRPr>
          </a:p>
        </p:txBody>
      </p:sp>
      <p:grpSp>
        <p:nvGrpSpPr>
          <p:cNvPr id="1836" name="Google Shape;1836;p53"/>
          <p:cNvGrpSpPr/>
          <p:nvPr/>
        </p:nvGrpSpPr>
        <p:grpSpPr>
          <a:xfrm>
            <a:off x="10591732" y="162209"/>
            <a:ext cx="1524135" cy="1486847"/>
            <a:chOff x="1455738" y="2371725"/>
            <a:chExt cx="2198688" cy="2200275"/>
          </a:xfrm>
          <a:solidFill>
            <a:srgbClr val="0070C0"/>
          </a:solidFill>
        </p:grpSpPr>
        <p:sp>
          <p:nvSpPr>
            <p:cNvPr id="1837" name="Google Shape;1837;p53"/>
            <p:cNvSpPr/>
            <p:nvPr/>
          </p:nvSpPr>
          <p:spPr>
            <a:xfrm>
              <a:off x="2035175" y="2967038"/>
              <a:ext cx="1071563" cy="1009650"/>
            </a:xfrm>
            <a:custGeom>
              <a:avLst/>
              <a:gdLst/>
              <a:ahLst/>
              <a:cxnLst/>
              <a:rect l="l" t="t" r="r" b="b"/>
              <a:pathLst>
                <a:path w="570" h="536" extrusionOk="0">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dirty="0">
                  <a:solidFill>
                    <a:schemeClr val="lt1"/>
                  </a:solidFill>
                  <a:latin typeface="Arial"/>
                  <a:ea typeface="Arial"/>
                  <a:cs typeface="Arial"/>
                  <a:sym typeface="Arial"/>
                </a:rPr>
                <a:t>1</a:t>
              </a:r>
              <a:endParaRPr sz="3600" dirty="0">
                <a:solidFill>
                  <a:schemeClr val="lt1"/>
                </a:solidFill>
                <a:latin typeface="Arial"/>
                <a:ea typeface="Arial"/>
                <a:cs typeface="Arial"/>
                <a:sym typeface="Arial"/>
              </a:endParaRPr>
            </a:p>
          </p:txBody>
        </p:sp>
        <p:sp>
          <p:nvSpPr>
            <p:cNvPr id="1838" name="Google Shape;1838;p53"/>
            <p:cNvSpPr/>
            <p:nvPr/>
          </p:nvSpPr>
          <p:spPr>
            <a:xfrm>
              <a:off x="1455738" y="2371725"/>
              <a:ext cx="2198688" cy="2200275"/>
            </a:xfrm>
            <a:custGeom>
              <a:avLst/>
              <a:gdLst/>
              <a:ahLst/>
              <a:cxnLst/>
              <a:rect l="l" t="t" r="r" b="b"/>
              <a:pathLst>
                <a:path w="1169" h="1170" extrusionOk="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Arial"/>
                <a:ea typeface="Arial"/>
                <a:cs typeface="Arial"/>
                <a:sym typeface="Arial"/>
              </a:endParaRPr>
            </a:p>
          </p:txBody>
        </p:sp>
      </p:grpSp>
      <p:sp>
        <p:nvSpPr>
          <p:cNvPr id="1849" name="Google Shape;1849;p53"/>
          <p:cNvSpPr txBox="1"/>
          <p:nvPr/>
        </p:nvSpPr>
        <p:spPr>
          <a:xfrm>
            <a:off x="170471" y="5573782"/>
            <a:ext cx="6425517" cy="410443"/>
          </a:xfrm>
          <a:prstGeom prst="rect">
            <a:avLst/>
          </a:prstGeom>
          <a:noFill/>
          <a:ln>
            <a:noFill/>
          </a:ln>
        </p:spPr>
        <p:txBody>
          <a:bodyPr spcFirstLastPara="1" wrap="square" lIns="91425" tIns="45700" rIns="91425" bIns="45700" anchor="ctr" anchorCtr="0">
            <a:noAutofit/>
          </a:bodyPr>
          <a:lstStyle/>
          <a:p>
            <a:pPr marL="0" marR="0" lvl="0" indent="0" rtl="0">
              <a:lnSpc>
                <a:spcPct val="90000"/>
              </a:lnSpc>
              <a:spcBef>
                <a:spcPts val="0"/>
              </a:spcBef>
              <a:spcAft>
                <a:spcPts val="0"/>
              </a:spcAft>
              <a:buClr>
                <a:schemeClr val="lt1"/>
              </a:buClr>
              <a:buSzPts val="1400"/>
              <a:buFont typeface="Open Sans"/>
              <a:buNone/>
            </a:pPr>
            <a:r>
              <a:rPr lang="en-US" sz="1800" b="1" u="sng" dirty="0">
                <a:solidFill>
                  <a:schemeClr val="lt1"/>
                </a:solidFill>
                <a:latin typeface="Open Sans"/>
                <a:ea typeface="Open Sans"/>
                <a:cs typeface="Open Sans"/>
                <a:sym typeface="Open Sans"/>
              </a:rPr>
              <a:t>Pictured L to R:</a:t>
            </a:r>
          </a:p>
          <a:p>
            <a:pPr marL="0" marR="0" lvl="0" indent="0" rtl="0">
              <a:lnSpc>
                <a:spcPct val="90000"/>
              </a:lnSpc>
              <a:spcBef>
                <a:spcPts val="0"/>
              </a:spcBef>
              <a:spcAft>
                <a:spcPts val="0"/>
              </a:spcAft>
              <a:buClr>
                <a:schemeClr val="lt1"/>
              </a:buClr>
              <a:buSzPts val="1400"/>
              <a:buFont typeface="Open Sans"/>
              <a:buNone/>
            </a:pPr>
            <a:endParaRPr lang="en-US" sz="1800" b="1" u="sng" dirty="0">
              <a:solidFill>
                <a:schemeClr val="lt1"/>
              </a:solidFill>
              <a:latin typeface="Open Sans"/>
              <a:ea typeface="Open Sans"/>
              <a:cs typeface="Open Sans"/>
              <a:sym typeface="Open Sans"/>
            </a:endParaRPr>
          </a:p>
          <a:p>
            <a:pPr marL="0" marR="0" lvl="0" indent="0" rtl="0">
              <a:lnSpc>
                <a:spcPct val="90000"/>
              </a:lnSpc>
              <a:spcBef>
                <a:spcPts val="0"/>
              </a:spcBef>
              <a:spcAft>
                <a:spcPts val="0"/>
              </a:spcAft>
              <a:buClr>
                <a:schemeClr val="lt1"/>
              </a:buClr>
              <a:buSzPts val="1400"/>
              <a:buFont typeface="Open Sans"/>
              <a:buNone/>
            </a:pPr>
            <a:r>
              <a:rPr lang="en-US" b="1" dirty="0">
                <a:solidFill>
                  <a:schemeClr val="lt1"/>
                </a:solidFill>
                <a:latin typeface="Open Sans"/>
                <a:ea typeface="Open Sans"/>
                <a:cs typeface="Open Sans"/>
                <a:sym typeface="Open Sans"/>
              </a:rPr>
              <a:t>Bill Wilson - </a:t>
            </a:r>
            <a:r>
              <a:rPr lang="en-US" b="1">
                <a:solidFill>
                  <a:schemeClr val="lt1"/>
                </a:solidFill>
                <a:latin typeface="Open Sans"/>
                <a:ea typeface="Open Sans"/>
                <a:cs typeface="Open Sans"/>
                <a:sym typeface="Open Sans"/>
              </a:rPr>
              <a:t>VP Operations</a:t>
            </a:r>
            <a:endParaRPr lang="en-US" sz="1400" b="1" dirty="0">
              <a:solidFill>
                <a:schemeClr val="lt1"/>
              </a:solidFill>
              <a:latin typeface="Open Sans"/>
              <a:ea typeface="Open Sans"/>
              <a:cs typeface="Open Sans"/>
              <a:sym typeface="Open Sans"/>
            </a:endParaRPr>
          </a:p>
          <a:p>
            <a:pPr marL="0" marR="0" lvl="0" indent="0" rtl="0">
              <a:lnSpc>
                <a:spcPct val="90000"/>
              </a:lnSpc>
              <a:spcBef>
                <a:spcPts val="0"/>
              </a:spcBef>
              <a:spcAft>
                <a:spcPts val="0"/>
              </a:spcAft>
              <a:buClr>
                <a:schemeClr val="lt1"/>
              </a:buClr>
              <a:buSzPts val="1400"/>
              <a:buFont typeface="Open Sans"/>
              <a:buNone/>
            </a:pPr>
            <a:r>
              <a:rPr lang="en-US" b="1" dirty="0">
                <a:solidFill>
                  <a:schemeClr val="lt1"/>
                </a:solidFill>
                <a:latin typeface="Open Sans"/>
                <a:ea typeface="Open Sans"/>
                <a:cs typeface="Open Sans"/>
                <a:sym typeface="Open Sans"/>
              </a:rPr>
              <a:t>Mary Smith - Production Operator</a:t>
            </a:r>
          </a:p>
          <a:p>
            <a:pPr marL="0" marR="0" lvl="0" indent="0" rtl="0">
              <a:lnSpc>
                <a:spcPct val="90000"/>
              </a:lnSpc>
              <a:spcBef>
                <a:spcPts val="0"/>
              </a:spcBef>
              <a:spcAft>
                <a:spcPts val="0"/>
              </a:spcAft>
              <a:buClr>
                <a:schemeClr val="lt1"/>
              </a:buClr>
              <a:buSzPts val="1400"/>
              <a:buFont typeface="Open Sans"/>
              <a:buNone/>
            </a:pPr>
            <a:r>
              <a:rPr lang="en-US" sz="1400" b="1" dirty="0">
                <a:solidFill>
                  <a:schemeClr val="lt1"/>
                </a:solidFill>
                <a:latin typeface="Open Sans"/>
                <a:ea typeface="Open Sans"/>
                <a:cs typeface="Open Sans"/>
                <a:sym typeface="Open Sans"/>
              </a:rPr>
              <a:t>Bill Chen - Production Control Coordinator</a:t>
            </a:r>
          </a:p>
          <a:p>
            <a:pPr marL="0" marR="0" lvl="0" indent="0" rtl="0">
              <a:lnSpc>
                <a:spcPct val="90000"/>
              </a:lnSpc>
              <a:spcBef>
                <a:spcPts val="0"/>
              </a:spcBef>
              <a:spcAft>
                <a:spcPts val="0"/>
              </a:spcAft>
              <a:buClr>
                <a:schemeClr val="lt1"/>
              </a:buClr>
              <a:buSzPts val="1400"/>
              <a:buFont typeface="Open Sans"/>
              <a:buNone/>
            </a:pPr>
            <a:r>
              <a:rPr lang="en-US" b="1" dirty="0">
                <a:solidFill>
                  <a:schemeClr val="lt1"/>
                </a:solidFill>
                <a:latin typeface="Open Sans"/>
                <a:ea typeface="Open Sans"/>
                <a:cs typeface="Open Sans"/>
                <a:sym typeface="Open Sans"/>
              </a:rPr>
              <a:t>Samantha Rayburn - Manufacturing Engineer</a:t>
            </a:r>
          </a:p>
          <a:p>
            <a:pPr marL="0" marR="0" lvl="0" indent="0" rtl="0">
              <a:lnSpc>
                <a:spcPct val="90000"/>
              </a:lnSpc>
              <a:spcBef>
                <a:spcPts val="0"/>
              </a:spcBef>
              <a:spcAft>
                <a:spcPts val="0"/>
              </a:spcAft>
              <a:buClr>
                <a:schemeClr val="lt1"/>
              </a:buClr>
              <a:buSzPts val="1400"/>
              <a:buFont typeface="Open Sans"/>
              <a:buNone/>
            </a:pPr>
            <a:r>
              <a:rPr lang="en-US" sz="1400" b="1" dirty="0">
                <a:solidFill>
                  <a:schemeClr val="lt1"/>
                </a:solidFill>
                <a:latin typeface="Open Sans"/>
                <a:ea typeface="Open Sans"/>
                <a:cs typeface="Open Sans"/>
                <a:sym typeface="Open Sans"/>
              </a:rPr>
              <a:t>Jim Sanders - Staff Accountant</a:t>
            </a:r>
            <a:endParaRPr sz="1400" b="1" dirty="0">
              <a:solidFill>
                <a:schemeClr val="lt1"/>
              </a:solidFill>
              <a:latin typeface="Open Sans"/>
              <a:ea typeface="Open Sans"/>
              <a:cs typeface="Open Sans"/>
              <a:sym typeface="Open Sans"/>
            </a:endParaRPr>
          </a:p>
        </p:txBody>
      </p:sp>
      <p:sp>
        <p:nvSpPr>
          <p:cNvPr id="1854" name="Google Shape;1854;p53"/>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a:t>
            </a:fld>
            <a:endParaRPr/>
          </a:p>
        </p:txBody>
      </p:sp>
      <p:pic>
        <p:nvPicPr>
          <p:cNvPr id="10" name="Picture 9">
            <a:extLst>
              <a:ext uri="{FF2B5EF4-FFF2-40B4-BE49-F238E27FC236}">
                <a16:creationId xmlns:a16="http://schemas.microsoft.com/office/drawing/2014/main" id="{F8E4CC7E-BFC8-044D-B310-8663CA4DF87B}"/>
              </a:ext>
            </a:extLst>
          </p:cNvPr>
          <p:cNvPicPr>
            <a:picLocks noChangeAspect="1"/>
          </p:cNvPicPr>
          <p:nvPr/>
        </p:nvPicPr>
        <p:blipFill>
          <a:blip r:embed="rId3"/>
          <a:stretch>
            <a:fillRect/>
          </a:stretch>
        </p:blipFill>
        <p:spPr>
          <a:xfrm>
            <a:off x="3383230" y="1716023"/>
            <a:ext cx="5425540" cy="3002132"/>
          </a:xfrm>
          <a:prstGeom prst="rect">
            <a:avLst/>
          </a:prstGeom>
        </p:spPr>
      </p:pic>
      <p:sp>
        <p:nvSpPr>
          <p:cNvPr id="51" name="Google Shape;1822;p53">
            <a:extLst>
              <a:ext uri="{FF2B5EF4-FFF2-40B4-BE49-F238E27FC236}">
                <a16:creationId xmlns:a16="http://schemas.microsoft.com/office/drawing/2014/main" id="{79815932-8CCF-964C-9D1F-A83EB5FECEE7}"/>
              </a:ext>
            </a:extLst>
          </p:cNvPr>
          <p:cNvSpPr txBox="1"/>
          <p:nvPr/>
        </p:nvSpPr>
        <p:spPr>
          <a:xfrm>
            <a:off x="1793868" y="4718155"/>
            <a:ext cx="8697279"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sz="2800" b="1" dirty="0">
                <a:solidFill>
                  <a:srgbClr val="E6AD18"/>
                </a:solidFill>
                <a:latin typeface="Open Sans"/>
                <a:ea typeface="Open Sans"/>
                <a:cs typeface="Open Sans"/>
                <a:sym typeface="Open Sans"/>
              </a:rPr>
              <a:t>Team Laser Focus</a:t>
            </a:r>
            <a:endParaRPr sz="2800" b="1" dirty="0">
              <a:solidFill>
                <a:srgbClr val="E6AD18"/>
              </a:solidFill>
              <a:latin typeface="Open Sans"/>
              <a:ea typeface="Open Sans"/>
              <a:cs typeface="Open Sans"/>
              <a:sym typeface="Open Sans"/>
            </a:endParaRPr>
          </a:p>
        </p:txBody>
      </p:sp>
    </p:spTree>
    <p:extLst>
      <p:ext uri="{BB962C8B-B14F-4D97-AF65-F5344CB8AC3E}">
        <p14:creationId xmlns:p14="http://schemas.microsoft.com/office/powerpoint/2010/main" val="2697232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sp>
        <p:nvSpPr>
          <p:cNvPr id="1822" name="Google Shape;1822;p53"/>
          <p:cNvSpPr txBox="1"/>
          <p:nvPr/>
        </p:nvSpPr>
        <p:spPr>
          <a:xfrm>
            <a:off x="1747403" y="646555"/>
            <a:ext cx="8697279"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sz="2800" b="1" dirty="0">
                <a:solidFill>
                  <a:schemeClr val="lt1"/>
                </a:solidFill>
                <a:latin typeface="Open Sans"/>
                <a:ea typeface="Open Sans"/>
                <a:cs typeface="Open Sans"/>
                <a:sym typeface="Open Sans"/>
              </a:rPr>
              <a:t>Kaizen Charter</a:t>
            </a:r>
            <a:endParaRPr sz="2800" b="1" dirty="0">
              <a:solidFill>
                <a:schemeClr val="lt1"/>
              </a:solidFill>
              <a:latin typeface="Open Sans"/>
              <a:ea typeface="Open Sans"/>
              <a:cs typeface="Open Sans"/>
              <a:sym typeface="Open Sans"/>
            </a:endParaRPr>
          </a:p>
        </p:txBody>
      </p:sp>
      <p:sp>
        <p:nvSpPr>
          <p:cNvPr id="1823" name="Google Shape;1823;p53"/>
          <p:cNvSpPr txBox="1"/>
          <p:nvPr/>
        </p:nvSpPr>
        <p:spPr>
          <a:xfrm>
            <a:off x="1747403" y="1078996"/>
            <a:ext cx="8697279" cy="41044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200"/>
              <a:buFont typeface="Calibri"/>
              <a:buNone/>
            </a:pPr>
            <a:endParaRPr lang="en-US" sz="1600" dirty="0">
              <a:solidFill>
                <a:schemeClr val="lt1"/>
              </a:solidFill>
              <a:latin typeface="Calibri"/>
              <a:ea typeface="Calibri"/>
              <a:cs typeface="Calibri"/>
              <a:sym typeface="Calibri"/>
            </a:endParaRPr>
          </a:p>
        </p:txBody>
      </p:sp>
      <p:sp>
        <p:nvSpPr>
          <p:cNvPr id="1854" name="Google Shape;1854;p53"/>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a:t>
            </a:fld>
            <a:endParaRPr/>
          </a:p>
        </p:txBody>
      </p:sp>
      <p:grpSp>
        <p:nvGrpSpPr>
          <p:cNvPr id="11" name="Google Shape;1836;p53">
            <a:extLst>
              <a:ext uri="{FF2B5EF4-FFF2-40B4-BE49-F238E27FC236}">
                <a16:creationId xmlns:a16="http://schemas.microsoft.com/office/drawing/2014/main" id="{BEDF648F-894D-F247-9A3E-8EFA1000E7F4}"/>
              </a:ext>
            </a:extLst>
          </p:cNvPr>
          <p:cNvGrpSpPr/>
          <p:nvPr/>
        </p:nvGrpSpPr>
        <p:grpSpPr>
          <a:xfrm>
            <a:off x="10491147" y="134841"/>
            <a:ext cx="1524135" cy="1486847"/>
            <a:chOff x="1455738" y="2371725"/>
            <a:chExt cx="2198688" cy="2200275"/>
          </a:xfrm>
          <a:solidFill>
            <a:schemeClr val="accent2">
              <a:lumMod val="75000"/>
            </a:schemeClr>
          </a:solidFill>
        </p:grpSpPr>
        <p:sp>
          <p:nvSpPr>
            <p:cNvPr id="12" name="Google Shape;1837;p53">
              <a:extLst>
                <a:ext uri="{FF2B5EF4-FFF2-40B4-BE49-F238E27FC236}">
                  <a16:creationId xmlns:a16="http://schemas.microsoft.com/office/drawing/2014/main" id="{FD9D8C57-E666-7F4D-995A-F489387698DD}"/>
                </a:ext>
              </a:extLst>
            </p:cNvPr>
            <p:cNvSpPr/>
            <p:nvPr/>
          </p:nvSpPr>
          <p:spPr>
            <a:xfrm>
              <a:off x="2035175" y="2967038"/>
              <a:ext cx="1071563" cy="1009650"/>
            </a:xfrm>
            <a:custGeom>
              <a:avLst/>
              <a:gdLst/>
              <a:ahLst/>
              <a:cxnLst/>
              <a:rect l="l" t="t" r="r" b="b"/>
              <a:pathLst>
                <a:path w="570" h="536" extrusionOk="0">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dirty="0">
                  <a:solidFill>
                    <a:schemeClr val="lt1"/>
                  </a:solidFill>
                  <a:latin typeface="Arial"/>
                  <a:ea typeface="Arial"/>
                  <a:cs typeface="Arial"/>
                  <a:sym typeface="Arial"/>
                </a:rPr>
                <a:t>2</a:t>
              </a:r>
              <a:endParaRPr sz="3600" dirty="0">
                <a:solidFill>
                  <a:schemeClr val="lt1"/>
                </a:solidFill>
                <a:latin typeface="Arial"/>
                <a:ea typeface="Arial"/>
                <a:cs typeface="Arial"/>
                <a:sym typeface="Arial"/>
              </a:endParaRPr>
            </a:p>
          </p:txBody>
        </p:sp>
        <p:sp>
          <p:nvSpPr>
            <p:cNvPr id="13" name="Google Shape;1838;p53">
              <a:extLst>
                <a:ext uri="{FF2B5EF4-FFF2-40B4-BE49-F238E27FC236}">
                  <a16:creationId xmlns:a16="http://schemas.microsoft.com/office/drawing/2014/main" id="{91DE5E58-DEAD-1F4A-8D78-DC14B9106016}"/>
                </a:ext>
              </a:extLst>
            </p:cNvPr>
            <p:cNvSpPr/>
            <p:nvPr/>
          </p:nvSpPr>
          <p:spPr>
            <a:xfrm>
              <a:off x="1455738" y="2371725"/>
              <a:ext cx="2198688" cy="2200275"/>
            </a:xfrm>
            <a:custGeom>
              <a:avLst/>
              <a:gdLst/>
              <a:ahLst/>
              <a:cxnLst/>
              <a:rect l="l" t="t" r="r" b="b"/>
              <a:pathLst>
                <a:path w="1169" h="1170" extrusionOk="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Arial"/>
                <a:ea typeface="Arial"/>
                <a:cs typeface="Arial"/>
                <a:sym typeface="Arial"/>
              </a:endParaRPr>
            </a:p>
          </p:txBody>
        </p:sp>
      </p:grpSp>
      <p:pic>
        <p:nvPicPr>
          <p:cNvPr id="2" name="Picture 1">
            <a:extLst>
              <a:ext uri="{FF2B5EF4-FFF2-40B4-BE49-F238E27FC236}">
                <a16:creationId xmlns:a16="http://schemas.microsoft.com/office/drawing/2014/main" id="{47A074BD-61D8-94A6-6BA5-040CB9E53611}"/>
              </a:ext>
            </a:extLst>
          </p:cNvPr>
          <p:cNvPicPr>
            <a:picLocks noChangeAspect="1"/>
          </p:cNvPicPr>
          <p:nvPr/>
        </p:nvPicPr>
        <p:blipFill>
          <a:blip r:embed="rId3"/>
          <a:stretch>
            <a:fillRect/>
          </a:stretch>
        </p:blipFill>
        <p:spPr>
          <a:xfrm>
            <a:off x="575460" y="1740707"/>
            <a:ext cx="5150696" cy="4775538"/>
          </a:xfrm>
          <a:prstGeom prst="rect">
            <a:avLst/>
          </a:prstGeom>
        </p:spPr>
      </p:pic>
      <p:pic>
        <p:nvPicPr>
          <p:cNvPr id="3" name="Picture 2">
            <a:extLst>
              <a:ext uri="{FF2B5EF4-FFF2-40B4-BE49-F238E27FC236}">
                <a16:creationId xmlns:a16="http://schemas.microsoft.com/office/drawing/2014/main" id="{17485660-12B4-6AD0-E46B-FFFDF54605A3}"/>
              </a:ext>
            </a:extLst>
          </p:cNvPr>
          <p:cNvPicPr>
            <a:picLocks noChangeAspect="1"/>
          </p:cNvPicPr>
          <p:nvPr/>
        </p:nvPicPr>
        <p:blipFill>
          <a:blip r:embed="rId4"/>
          <a:stretch>
            <a:fillRect/>
          </a:stretch>
        </p:blipFill>
        <p:spPr>
          <a:xfrm>
            <a:off x="6096000" y="1768049"/>
            <a:ext cx="4976030" cy="4748196"/>
          </a:xfrm>
          <a:prstGeom prst="rect">
            <a:avLst/>
          </a:prstGeom>
        </p:spPr>
      </p:pic>
    </p:spTree>
    <p:extLst>
      <p:ext uri="{BB962C8B-B14F-4D97-AF65-F5344CB8AC3E}">
        <p14:creationId xmlns:p14="http://schemas.microsoft.com/office/powerpoint/2010/main" val="2719009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sp>
        <p:nvSpPr>
          <p:cNvPr id="1822" name="Google Shape;1822;p53"/>
          <p:cNvSpPr txBox="1"/>
          <p:nvPr/>
        </p:nvSpPr>
        <p:spPr>
          <a:xfrm>
            <a:off x="1747403" y="646555"/>
            <a:ext cx="8697279"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sz="2800" b="1" dirty="0">
                <a:solidFill>
                  <a:schemeClr val="lt1"/>
                </a:solidFill>
                <a:latin typeface="Open Sans"/>
                <a:ea typeface="Open Sans"/>
                <a:cs typeface="Open Sans"/>
                <a:sym typeface="Open Sans"/>
              </a:rPr>
              <a:t>Kaizen Sample Agenda</a:t>
            </a:r>
            <a:endParaRPr sz="2800" b="1" dirty="0">
              <a:solidFill>
                <a:schemeClr val="lt1"/>
              </a:solidFill>
              <a:latin typeface="Open Sans"/>
              <a:ea typeface="Open Sans"/>
              <a:cs typeface="Open Sans"/>
              <a:sym typeface="Open Sans"/>
            </a:endParaRPr>
          </a:p>
        </p:txBody>
      </p:sp>
      <p:sp>
        <p:nvSpPr>
          <p:cNvPr id="1823" name="Google Shape;1823;p53"/>
          <p:cNvSpPr txBox="1"/>
          <p:nvPr/>
        </p:nvSpPr>
        <p:spPr>
          <a:xfrm>
            <a:off x="1747403" y="1078996"/>
            <a:ext cx="8697279" cy="41044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200"/>
              <a:buFont typeface="Calibri"/>
              <a:buNone/>
            </a:pPr>
            <a:endParaRPr lang="en-US" sz="1600" dirty="0">
              <a:solidFill>
                <a:schemeClr val="lt1"/>
              </a:solidFill>
              <a:latin typeface="Calibri"/>
              <a:ea typeface="Calibri"/>
              <a:cs typeface="Calibri"/>
              <a:sym typeface="Calibri"/>
            </a:endParaRPr>
          </a:p>
        </p:txBody>
      </p:sp>
      <p:sp>
        <p:nvSpPr>
          <p:cNvPr id="1854" name="Google Shape;1854;p53"/>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6</a:t>
            </a:fld>
            <a:endParaRPr/>
          </a:p>
        </p:txBody>
      </p:sp>
      <p:grpSp>
        <p:nvGrpSpPr>
          <p:cNvPr id="11" name="Google Shape;1836;p53">
            <a:extLst>
              <a:ext uri="{FF2B5EF4-FFF2-40B4-BE49-F238E27FC236}">
                <a16:creationId xmlns:a16="http://schemas.microsoft.com/office/drawing/2014/main" id="{BEDF648F-894D-F247-9A3E-8EFA1000E7F4}"/>
              </a:ext>
            </a:extLst>
          </p:cNvPr>
          <p:cNvGrpSpPr/>
          <p:nvPr/>
        </p:nvGrpSpPr>
        <p:grpSpPr>
          <a:xfrm>
            <a:off x="10491147" y="134841"/>
            <a:ext cx="1524135" cy="1486847"/>
            <a:chOff x="1455738" y="2371725"/>
            <a:chExt cx="2198688" cy="2200275"/>
          </a:xfrm>
          <a:solidFill>
            <a:schemeClr val="accent2">
              <a:lumMod val="75000"/>
            </a:schemeClr>
          </a:solidFill>
        </p:grpSpPr>
        <p:sp>
          <p:nvSpPr>
            <p:cNvPr id="12" name="Google Shape;1837;p53">
              <a:extLst>
                <a:ext uri="{FF2B5EF4-FFF2-40B4-BE49-F238E27FC236}">
                  <a16:creationId xmlns:a16="http://schemas.microsoft.com/office/drawing/2014/main" id="{FD9D8C57-E666-7F4D-995A-F489387698DD}"/>
                </a:ext>
              </a:extLst>
            </p:cNvPr>
            <p:cNvSpPr/>
            <p:nvPr/>
          </p:nvSpPr>
          <p:spPr>
            <a:xfrm>
              <a:off x="2035175" y="2967038"/>
              <a:ext cx="1071563" cy="1009650"/>
            </a:xfrm>
            <a:custGeom>
              <a:avLst/>
              <a:gdLst/>
              <a:ahLst/>
              <a:cxnLst/>
              <a:rect l="l" t="t" r="r" b="b"/>
              <a:pathLst>
                <a:path w="570" h="536" extrusionOk="0">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dirty="0">
                  <a:solidFill>
                    <a:schemeClr val="lt1"/>
                  </a:solidFill>
                  <a:latin typeface="Arial"/>
                  <a:ea typeface="Arial"/>
                  <a:cs typeface="Arial"/>
                  <a:sym typeface="Arial"/>
                </a:rPr>
                <a:t>2</a:t>
              </a:r>
              <a:endParaRPr sz="3600" dirty="0">
                <a:solidFill>
                  <a:schemeClr val="lt1"/>
                </a:solidFill>
                <a:latin typeface="Arial"/>
                <a:ea typeface="Arial"/>
                <a:cs typeface="Arial"/>
                <a:sym typeface="Arial"/>
              </a:endParaRPr>
            </a:p>
          </p:txBody>
        </p:sp>
        <p:sp>
          <p:nvSpPr>
            <p:cNvPr id="13" name="Google Shape;1838;p53">
              <a:extLst>
                <a:ext uri="{FF2B5EF4-FFF2-40B4-BE49-F238E27FC236}">
                  <a16:creationId xmlns:a16="http://schemas.microsoft.com/office/drawing/2014/main" id="{91DE5E58-DEAD-1F4A-8D78-DC14B9106016}"/>
                </a:ext>
              </a:extLst>
            </p:cNvPr>
            <p:cNvSpPr/>
            <p:nvPr/>
          </p:nvSpPr>
          <p:spPr>
            <a:xfrm>
              <a:off x="1455738" y="2371725"/>
              <a:ext cx="2198688" cy="2200275"/>
            </a:xfrm>
            <a:custGeom>
              <a:avLst/>
              <a:gdLst/>
              <a:ahLst/>
              <a:cxnLst/>
              <a:rect l="l" t="t" r="r" b="b"/>
              <a:pathLst>
                <a:path w="1169" h="1170" extrusionOk="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Arial"/>
                <a:ea typeface="Arial"/>
                <a:cs typeface="Arial"/>
                <a:sym typeface="Arial"/>
              </a:endParaRPr>
            </a:p>
          </p:txBody>
        </p:sp>
      </p:grpSp>
      <p:pic>
        <p:nvPicPr>
          <p:cNvPr id="3" name="Picture 2">
            <a:extLst>
              <a:ext uri="{FF2B5EF4-FFF2-40B4-BE49-F238E27FC236}">
                <a16:creationId xmlns:a16="http://schemas.microsoft.com/office/drawing/2014/main" id="{7578DD2B-D6E1-B241-9ADC-12CBD62E9A00}"/>
              </a:ext>
            </a:extLst>
          </p:cNvPr>
          <p:cNvPicPr>
            <a:picLocks noChangeAspect="1"/>
          </p:cNvPicPr>
          <p:nvPr/>
        </p:nvPicPr>
        <p:blipFill>
          <a:blip r:embed="rId3"/>
          <a:stretch>
            <a:fillRect/>
          </a:stretch>
        </p:blipFill>
        <p:spPr>
          <a:xfrm>
            <a:off x="1699141" y="1510114"/>
            <a:ext cx="9193673" cy="5074795"/>
          </a:xfrm>
          <a:prstGeom prst="rect">
            <a:avLst/>
          </a:prstGeom>
        </p:spPr>
      </p:pic>
    </p:spTree>
    <p:extLst>
      <p:ext uri="{BB962C8B-B14F-4D97-AF65-F5344CB8AC3E}">
        <p14:creationId xmlns:p14="http://schemas.microsoft.com/office/powerpoint/2010/main" val="4105553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sp>
        <p:nvSpPr>
          <p:cNvPr id="1822" name="Google Shape;1822;p53"/>
          <p:cNvSpPr txBox="1"/>
          <p:nvPr/>
        </p:nvSpPr>
        <p:spPr>
          <a:xfrm>
            <a:off x="1747403" y="646555"/>
            <a:ext cx="8697279"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sz="2800" b="1" dirty="0">
                <a:solidFill>
                  <a:schemeClr val="lt1"/>
                </a:solidFill>
                <a:latin typeface="Open Sans"/>
                <a:ea typeface="Open Sans"/>
                <a:cs typeface="Open Sans"/>
                <a:sym typeface="Open Sans"/>
              </a:rPr>
              <a:t>Kaizen Improvements - Sample</a:t>
            </a:r>
            <a:endParaRPr sz="2800" b="1" dirty="0">
              <a:solidFill>
                <a:schemeClr val="lt1"/>
              </a:solidFill>
              <a:latin typeface="Open Sans"/>
              <a:ea typeface="Open Sans"/>
              <a:cs typeface="Open Sans"/>
              <a:sym typeface="Open Sans"/>
            </a:endParaRPr>
          </a:p>
        </p:txBody>
      </p:sp>
      <p:sp>
        <p:nvSpPr>
          <p:cNvPr id="1823" name="Google Shape;1823;p53"/>
          <p:cNvSpPr txBox="1"/>
          <p:nvPr/>
        </p:nvSpPr>
        <p:spPr>
          <a:xfrm>
            <a:off x="1747403" y="1078996"/>
            <a:ext cx="8697279" cy="41044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200"/>
              <a:buFont typeface="Calibri"/>
              <a:buNone/>
            </a:pPr>
            <a:endParaRPr lang="en-US" sz="1600" dirty="0">
              <a:solidFill>
                <a:schemeClr val="lt1"/>
              </a:solidFill>
              <a:latin typeface="Calibri"/>
              <a:ea typeface="Calibri"/>
              <a:cs typeface="Calibri"/>
              <a:sym typeface="Calibri"/>
            </a:endParaRPr>
          </a:p>
        </p:txBody>
      </p:sp>
      <p:sp>
        <p:nvSpPr>
          <p:cNvPr id="1854" name="Google Shape;1854;p53"/>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7</a:t>
            </a:fld>
            <a:endParaRPr/>
          </a:p>
        </p:txBody>
      </p:sp>
      <p:grpSp>
        <p:nvGrpSpPr>
          <p:cNvPr id="9" name="Google Shape;1830;p53">
            <a:extLst>
              <a:ext uri="{FF2B5EF4-FFF2-40B4-BE49-F238E27FC236}">
                <a16:creationId xmlns:a16="http://schemas.microsoft.com/office/drawing/2014/main" id="{7275D733-406C-7041-9FFD-0937DD3B39E5}"/>
              </a:ext>
            </a:extLst>
          </p:cNvPr>
          <p:cNvGrpSpPr/>
          <p:nvPr/>
        </p:nvGrpSpPr>
        <p:grpSpPr>
          <a:xfrm>
            <a:off x="10444597" y="162209"/>
            <a:ext cx="1524135" cy="1486847"/>
            <a:chOff x="1455738" y="2371725"/>
            <a:chExt cx="2198688" cy="2200275"/>
          </a:xfrm>
        </p:grpSpPr>
        <p:sp>
          <p:nvSpPr>
            <p:cNvPr id="10" name="Google Shape;1831;p53">
              <a:extLst>
                <a:ext uri="{FF2B5EF4-FFF2-40B4-BE49-F238E27FC236}">
                  <a16:creationId xmlns:a16="http://schemas.microsoft.com/office/drawing/2014/main" id="{CD38EF88-C7B0-AE4E-A7E2-4D0F09D86465}"/>
                </a:ext>
              </a:extLst>
            </p:cNvPr>
            <p:cNvSpPr/>
            <p:nvPr/>
          </p:nvSpPr>
          <p:spPr>
            <a:xfrm>
              <a:off x="2035175" y="2967038"/>
              <a:ext cx="1071563" cy="1009650"/>
            </a:xfrm>
            <a:custGeom>
              <a:avLst/>
              <a:gdLst/>
              <a:ahLst/>
              <a:cxnLst/>
              <a:rect l="l" t="t" r="r" b="b"/>
              <a:pathLst>
                <a:path w="570" h="536" extrusionOk="0">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gradFill>
              <a:gsLst>
                <a:gs pos="0">
                  <a:srgbClr val="456872"/>
                </a:gs>
                <a:gs pos="100000">
                  <a:schemeClr val="accent3"/>
                </a:gs>
              </a:gsLst>
              <a:lin ang="8100000" scaled="0"/>
            </a:grad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dirty="0">
                  <a:solidFill>
                    <a:schemeClr val="lt1"/>
                  </a:solidFill>
                  <a:latin typeface="Arial"/>
                  <a:ea typeface="Arial"/>
                  <a:cs typeface="Arial"/>
                  <a:sym typeface="Arial"/>
                </a:rPr>
                <a:t>3</a:t>
              </a:r>
              <a:endParaRPr sz="3600" dirty="0">
                <a:solidFill>
                  <a:schemeClr val="lt1"/>
                </a:solidFill>
                <a:latin typeface="Arial"/>
                <a:ea typeface="Arial"/>
                <a:cs typeface="Arial"/>
                <a:sym typeface="Arial"/>
              </a:endParaRPr>
            </a:p>
          </p:txBody>
        </p:sp>
        <p:sp>
          <p:nvSpPr>
            <p:cNvPr id="14" name="Google Shape;1832;p53">
              <a:extLst>
                <a:ext uri="{FF2B5EF4-FFF2-40B4-BE49-F238E27FC236}">
                  <a16:creationId xmlns:a16="http://schemas.microsoft.com/office/drawing/2014/main" id="{DE254FEA-1551-044B-AEEE-947C9AA56F99}"/>
                </a:ext>
              </a:extLst>
            </p:cNvPr>
            <p:cNvSpPr/>
            <p:nvPr/>
          </p:nvSpPr>
          <p:spPr>
            <a:xfrm>
              <a:off x="1455738" y="2371725"/>
              <a:ext cx="2198688" cy="2200275"/>
            </a:xfrm>
            <a:custGeom>
              <a:avLst/>
              <a:gdLst/>
              <a:ahLst/>
              <a:cxnLst/>
              <a:rect l="l" t="t" r="r" b="b"/>
              <a:pathLst>
                <a:path w="1169" h="1170" extrusionOk="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gradFill>
              <a:gsLst>
                <a:gs pos="0">
                  <a:srgbClr val="456872"/>
                </a:gs>
                <a:gs pos="100000">
                  <a:schemeClr val="accent3"/>
                </a:gs>
              </a:gsLst>
              <a:lin ang="8100000" scaled="0"/>
            </a:grad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Arial"/>
                <a:ea typeface="Arial"/>
                <a:cs typeface="Arial"/>
                <a:sym typeface="Arial"/>
              </a:endParaRPr>
            </a:p>
          </p:txBody>
        </p:sp>
      </p:grpSp>
      <p:graphicFrame>
        <p:nvGraphicFramePr>
          <p:cNvPr id="4" name="Table 4">
            <a:extLst>
              <a:ext uri="{FF2B5EF4-FFF2-40B4-BE49-F238E27FC236}">
                <a16:creationId xmlns:a16="http://schemas.microsoft.com/office/drawing/2014/main" id="{8A0B6C89-DF0A-6A48-AD68-C5FE3F8254C4}"/>
              </a:ext>
            </a:extLst>
          </p:cNvPr>
          <p:cNvGraphicFramePr>
            <a:graphicFrameLocks noGrp="1"/>
          </p:cNvGraphicFramePr>
          <p:nvPr>
            <p:extLst>
              <p:ext uri="{D42A27DB-BD31-4B8C-83A1-F6EECF244321}">
                <p14:modId xmlns:p14="http://schemas.microsoft.com/office/powerpoint/2010/main" val="2940175246"/>
              </p:ext>
            </p:extLst>
          </p:nvPr>
        </p:nvGraphicFramePr>
        <p:xfrm>
          <a:off x="1247887" y="1838459"/>
          <a:ext cx="9714156" cy="4483491"/>
        </p:xfrm>
        <a:graphic>
          <a:graphicData uri="http://schemas.openxmlformats.org/drawingml/2006/table">
            <a:tbl>
              <a:tblPr firstRow="1" bandRow="1">
                <a:tableStyleId>{5C22544A-7EE6-4342-B048-85BDC9FD1C3A}</a:tableStyleId>
              </a:tblPr>
              <a:tblGrid>
                <a:gridCol w="2428539">
                  <a:extLst>
                    <a:ext uri="{9D8B030D-6E8A-4147-A177-3AD203B41FA5}">
                      <a16:colId xmlns:a16="http://schemas.microsoft.com/office/drawing/2014/main" val="1579514976"/>
                    </a:ext>
                  </a:extLst>
                </a:gridCol>
                <a:gridCol w="2428539">
                  <a:extLst>
                    <a:ext uri="{9D8B030D-6E8A-4147-A177-3AD203B41FA5}">
                      <a16:colId xmlns:a16="http://schemas.microsoft.com/office/drawing/2014/main" val="2262959268"/>
                    </a:ext>
                  </a:extLst>
                </a:gridCol>
                <a:gridCol w="2428539">
                  <a:extLst>
                    <a:ext uri="{9D8B030D-6E8A-4147-A177-3AD203B41FA5}">
                      <a16:colId xmlns:a16="http://schemas.microsoft.com/office/drawing/2014/main" val="555990984"/>
                    </a:ext>
                  </a:extLst>
                </a:gridCol>
                <a:gridCol w="2428539">
                  <a:extLst>
                    <a:ext uri="{9D8B030D-6E8A-4147-A177-3AD203B41FA5}">
                      <a16:colId xmlns:a16="http://schemas.microsoft.com/office/drawing/2014/main" val="3407565291"/>
                    </a:ext>
                  </a:extLst>
                </a:gridCol>
              </a:tblGrid>
              <a:tr h="831040">
                <a:tc>
                  <a:txBody>
                    <a:bodyPr/>
                    <a:lstStyle/>
                    <a:p>
                      <a:r>
                        <a:rPr lang="en-US" dirty="0"/>
                        <a:t>Process:</a:t>
                      </a:r>
                    </a:p>
                    <a:p>
                      <a:endParaRPr lang="en-US" dirty="0"/>
                    </a:p>
                    <a:p>
                      <a:r>
                        <a:rPr lang="en-US" dirty="0"/>
                        <a:t>Assembly Cell</a:t>
                      </a:r>
                    </a:p>
                  </a:txBody>
                  <a:tcPr>
                    <a:solidFill>
                      <a:schemeClr val="tx1"/>
                    </a:solidFill>
                  </a:tcPr>
                </a:tc>
                <a:tc>
                  <a:txBody>
                    <a:bodyPr/>
                    <a:lstStyle/>
                    <a:p>
                      <a:r>
                        <a:rPr lang="en-US" dirty="0"/>
                        <a:t>Problem:</a:t>
                      </a:r>
                    </a:p>
                    <a:p>
                      <a:endParaRPr lang="en-US" dirty="0"/>
                    </a:p>
                    <a:p>
                      <a:r>
                        <a:rPr lang="en-US" dirty="0"/>
                        <a:t>Batch Operations</a:t>
                      </a:r>
                    </a:p>
                  </a:txBody>
                  <a:tcPr>
                    <a:solidFill>
                      <a:schemeClr val="tx1"/>
                    </a:solidFill>
                  </a:tcPr>
                </a:tc>
                <a:tc>
                  <a:txBody>
                    <a:bodyPr/>
                    <a:lstStyle/>
                    <a:p>
                      <a:r>
                        <a:rPr lang="en-US" dirty="0"/>
                        <a:t>Solution:</a:t>
                      </a:r>
                    </a:p>
                    <a:p>
                      <a:endParaRPr lang="en-US" dirty="0"/>
                    </a:p>
                    <a:p>
                      <a:r>
                        <a:rPr lang="en-US" dirty="0"/>
                        <a:t>Lean Cell Design</a:t>
                      </a:r>
                    </a:p>
                  </a:txBody>
                  <a:tcPr>
                    <a:solidFill>
                      <a:schemeClr val="tx1"/>
                    </a:solidFill>
                  </a:tcPr>
                </a:tc>
                <a:tc>
                  <a:txBody>
                    <a:bodyPr/>
                    <a:lstStyle/>
                    <a:p>
                      <a:r>
                        <a:rPr lang="en-US" dirty="0"/>
                        <a:t>Results:</a:t>
                      </a:r>
                    </a:p>
                    <a:p>
                      <a:endParaRPr lang="en-US" dirty="0"/>
                    </a:p>
                    <a:p>
                      <a:r>
                        <a:rPr lang="en-US" dirty="0"/>
                        <a:t>Space: -40%, WIP: -60%</a:t>
                      </a:r>
                    </a:p>
                  </a:txBody>
                  <a:tcPr>
                    <a:solidFill>
                      <a:schemeClr val="tx1"/>
                    </a:solidFill>
                  </a:tcPr>
                </a:tc>
                <a:extLst>
                  <a:ext uri="{0D108BD9-81ED-4DB2-BD59-A6C34878D82A}">
                    <a16:rowId xmlns:a16="http://schemas.microsoft.com/office/drawing/2014/main" val="881819665"/>
                  </a:ext>
                </a:extLst>
              </a:tr>
              <a:tr h="382459">
                <a:tc gridSpan="2">
                  <a:txBody>
                    <a:bodyPr/>
                    <a:lstStyle/>
                    <a:p>
                      <a:pPr algn="ctr"/>
                      <a:r>
                        <a:rPr lang="en-US" sz="2400" b="1" dirty="0"/>
                        <a:t>Before</a:t>
                      </a:r>
                    </a:p>
                  </a:txBody>
                  <a:tcPr anchor="ctr">
                    <a:solidFill>
                      <a:srgbClr val="E6AD18"/>
                    </a:solidFill>
                  </a:tcPr>
                </a:tc>
                <a:tc hMerge="1">
                  <a:txBody>
                    <a:bodyPr/>
                    <a:lstStyle/>
                    <a:p>
                      <a:endParaRPr lang="en-US"/>
                    </a:p>
                  </a:txBody>
                  <a:tcPr/>
                </a:tc>
                <a:tc gridSpan="2">
                  <a:txBody>
                    <a:bodyPr/>
                    <a:lstStyle/>
                    <a:p>
                      <a:pPr algn="ctr"/>
                      <a:r>
                        <a:rPr lang="en-US" sz="2400" b="1" dirty="0"/>
                        <a:t>After</a:t>
                      </a:r>
                    </a:p>
                  </a:txBody>
                  <a:tcPr anchor="ctr">
                    <a:solidFill>
                      <a:srgbClr val="E6AD18"/>
                    </a:solidFill>
                  </a:tcPr>
                </a:tc>
                <a:tc hMerge="1">
                  <a:txBody>
                    <a:bodyPr/>
                    <a:lstStyle/>
                    <a:p>
                      <a:endParaRPr lang="en-US"/>
                    </a:p>
                  </a:txBody>
                  <a:tcPr/>
                </a:tc>
                <a:extLst>
                  <a:ext uri="{0D108BD9-81ED-4DB2-BD59-A6C34878D82A}">
                    <a16:rowId xmlns:a16="http://schemas.microsoft.com/office/drawing/2014/main" val="2539421891"/>
                  </a:ext>
                </a:extLst>
              </a:tr>
              <a:tr h="3195251">
                <a:tc gridSpan="2">
                  <a:txBody>
                    <a:bodyPr/>
                    <a:lstStyle/>
                    <a:p>
                      <a:endParaRPr lang="en-US" dirty="0"/>
                    </a:p>
                  </a:txBody>
                  <a:tcPr/>
                </a:tc>
                <a:tc hMerge="1">
                  <a:txBody>
                    <a:bodyPr/>
                    <a:lstStyle/>
                    <a:p>
                      <a:endParaRPr lang="en-US"/>
                    </a:p>
                  </a:txBody>
                  <a:tcPr/>
                </a:tc>
                <a:tc gridSpan="2">
                  <a:txBody>
                    <a:bodyPr/>
                    <a:lstStyle/>
                    <a:p>
                      <a:endParaRPr lang="en-US" dirty="0"/>
                    </a:p>
                  </a:txBody>
                  <a:tcPr/>
                </a:tc>
                <a:tc hMerge="1">
                  <a:txBody>
                    <a:bodyPr/>
                    <a:lstStyle/>
                    <a:p>
                      <a:endParaRPr lang="en-US"/>
                    </a:p>
                  </a:txBody>
                  <a:tcPr/>
                </a:tc>
                <a:extLst>
                  <a:ext uri="{0D108BD9-81ED-4DB2-BD59-A6C34878D82A}">
                    <a16:rowId xmlns:a16="http://schemas.microsoft.com/office/drawing/2014/main" val="3584766102"/>
                  </a:ext>
                </a:extLst>
              </a:tr>
            </a:tbl>
          </a:graphicData>
        </a:graphic>
      </p:graphicFrame>
      <p:pic>
        <p:nvPicPr>
          <p:cNvPr id="17" name="Picture 4">
            <a:extLst>
              <a:ext uri="{FF2B5EF4-FFF2-40B4-BE49-F238E27FC236}">
                <a16:creationId xmlns:a16="http://schemas.microsoft.com/office/drawing/2014/main" id="{F812AABA-8548-364A-8AB6-EC300C2DD3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9429" y="3313961"/>
            <a:ext cx="3704084" cy="277806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
            <a:extLst>
              <a:ext uri="{FF2B5EF4-FFF2-40B4-BE49-F238E27FC236}">
                <a16:creationId xmlns:a16="http://schemas.microsoft.com/office/drawing/2014/main" id="{4D6F9A70-A4B2-8E40-84A8-31743326A3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8489" y="3313960"/>
            <a:ext cx="3704084" cy="2778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2812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sp>
        <p:nvSpPr>
          <p:cNvPr id="1822" name="Google Shape;1822;p53"/>
          <p:cNvSpPr txBox="1"/>
          <p:nvPr/>
        </p:nvSpPr>
        <p:spPr>
          <a:xfrm>
            <a:off x="457612" y="695873"/>
            <a:ext cx="8984017"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sz="2800" b="1" dirty="0">
                <a:solidFill>
                  <a:schemeClr val="lt1"/>
                </a:solidFill>
                <a:latin typeface="Open Sans"/>
                <a:ea typeface="Open Sans"/>
                <a:cs typeface="Open Sans"/>
                <a:sym typeface="Open Sans"/>
              </a:rPr>
              <a:t>Required Kaizen Documentation - Standard Work</a:t>
            </a:r>
            <a:endParaRPr sz="2800" b="1" dirty="0">
              <a:solidFill>
                <a:schemeClr val="lt1"/>
              </a:solidFill>
              <a:latin typeface="Open Sans"/>
              <a:ea typeface="Open Sans"/>
              <a:cs typeface="Open Sans"/>
              <a:sym typeface="Open Sans"/>
            </a:endParaRPr>
          </a:p>
        </p:txBody>
      </p:sp>
      <p:sp>
        <p:nvSpPr>
          <p:cNvPr id="1823" name="Google Shape;1823;p53"/>
          <p:cNvSpPr txBox="1"/>
          <p:nvPr/>
        </p:nvSpPr>
        <p:spPr>
          <a:xfrm>
            <a:off x="1747403" y="1078996"/>
            <a:ext cx="8697279" cy="41044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200"/>
              <a:buFont typeface="Calibri"/>
              <a:buNone/>
            </a:pPr>
            <a:endParaRPr lang="en-US" sz="1600" dirty="0">
              <a:solidFill>
                <a:schemeClr val="lt1"/>
              </a:solidFill>
              <a:latin typeface="Calibri"/>
              <a:ea typeface="Calibri"/>
              <a:cs typeface="Calibri"/>
              <a:sym typeface="Calibri"/>
            </a:endParaRPr>
          </a:p>
        </p:txBody>
      </p:sp>
      <p:sp>
        <p:nvSpPr>
          <p:cNvPr id="1854" name="Google Shape;1854;p53"/>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8</a:t>
            </a:fld>
            <a:endParaRPr/>
          </a:p>
        </p:txBody>
      </p:sp>
      <p:pic>
        <p:nvPicPr>
          <p:cNvPr id="3" name="Picture 2">
            <a:extLst>
              <a:ext uri="{FF2B5EF4-FFF2-40B4-BE49-F238E27FC236}">
                <a16:creationId xmlns:a16="http://schemas.microsoft.com/office/drawing/2014/main" id="{AF0B2E3E-9CC4-7440-9BDE-B992C94B20B1}"/>
              </a:ext>
            </a:extLst>
          </p:cNvPr>
          <p:cNvPicPr>
            <a:picLocks noChangeAspect="1"/>
          </p:cNvPicPr>
          <p:nvPr/>
        </p:nvPicPr>
        <p:blipFill>
          <a:blip r:embed="rId3"/>
          <a:stretch>
            <a:fillRect/>
          </a:stretch>
        </p:blipFill>
        <p:spPr>
          <a:xfrm>
            <a:off x="572778" y="1663949"/>
            <a:ext cx="3209647" cy="1894137"/>
          </a:xfrm>
          <a:prstGeom prst="rect">
            <a:avLst/>
          </a:prstGeom>
        </p:spPr>
      </p:pic>
      <p:pic>
        <p:nvPicPr>
          <p:cNvPr id="7" name="Picture 6">
            <a:extLst>
              <a:ext uri="{FF2B5EF4-FFF2-40B4-BE49-F238E27FC236}">
                <a16:creationId xmlns:a16="http://schemas.microsoft.com/office/drawing/2014/main" id="{74DEF426-BBD0-E049-B4C3-E171B362FB7A}"/>
              </a:ext>
            </a:extLst>
          </p:cNvPr>
          <p:cNvPicPr>
            <a:picLocks noChangeAspect="1"/>
          </p:cNvPicPr>
          <p:nvPr/>
        </p:nvPicPr>
        <p:blipFill>
          <a:blip r:embed="rId4"/>
          <a:stretch>
            <a:fillRect/>
          </a:stretch>
        </p:blipFill>
        <p:spPr>
          <a:xfrm>
            <a:off x="4332172" y="1634165"/>
            <a:ext cx="3209647" cy="2084771"/>
          </a:xfrm>
          <a:prstGeom prst="rect">
            <a:avLst/>
          </a:prstGeom>
        </p:spPr>
      </p:pic>
      <p:pic>
        <p:nvPicPr>
          <p:cNvPr id="8" name="Picture 7">
            <a:extLst>
              <a:ext uri="{FF2B5EF4-FFF2-40B4-BE49-F238E27FC236}">
                <a16:creationId xmlns:a16="http://schemas.microsoft.com/office/drawing/2014/main" id="{70E325C1-C62B-2B43-B944-0A6BBC0BD96F}"/>
              </a:ext>
            </a:extLst>
          </p:cNvPr>
          <p:cNvPicPr>
            <a:picLocks noChangeAspect="1"/>
          </p:cNvPicPr>
          <p:nvPr/>
        </p:nvPicPr>
        <p:blipFill>
          <a:blip r:embed="rId5"/>
          <a:stretch>
            <a:fillRect/>
          </a:stretch>
        </p:blipFill>
        <p:spPr>
          <a:xfrm>
            <a:off x="626177" y="4193263"/>
            <a:ext cx="3156895" cy="1894137"/>
          </a:xfrm>
          <a:prstGeom prst="rect">
            <a:avLst/>
          </a:prstGeom>
        </p:spPr>
      </p:pic>
      <p:pic>
        <p:nvPicPr>
          <p:cNvPr id="15" name="Picture 14">
            <a:extLst>
              <a:ext uri="{FF2B5EF4-FFF2-40B4-BE49-F238E27FC236}">
                <a16:creationId xmlns:a16="http://schemas.microsoft.com/office/drawing/2014/main" id="{8533C732-BB41-894A-BB77-4C3D9280C445}"/>
              </a:ext>
            </a:extLst>
          </p:cNvPr>
          <p:cNvPicPr>
            <a:picLocks noChangeAspect="1"/>
          </p:cNvPicPr>
          <p:nvPr/>
        </p:nvPicPr>
        <p:blipFill>
          <a:blip r:embed="rId6"/>
          <a:stretch>
            <a:fillRect/>
          </a:stretch>
        </p:blipFill>
        <p:spPr>
          <a:xfrm>
            <a:off x="4349311" y="4213383"/>
            <a:ext cx="3192508" cy="1894136"/>
          </a:xfrm>
          <a:prstGeom prst="rect">
            <a:avLst/>
          </a:prstGeom>
        </p:spPr>
      </p:pic>
      <p:pic>
        <p:nvPicPr>
          <p:cNvPr id="16" name="Picture 15">
            <a:extLst>
              <a:ext uri="{FF2B5EF4-FFF2-40B4-BE49-F238E27FC236}">
                <a16:creationId xmlns:a16="http://schemas.microsoft.com/office/drawing/2014/main" id="{CE94EDEF-AAFD-DE41-A052-A32D27574C38}"/>
              </a:ext>
            </a:extLst>
          </p:cNvPr>
          <p:cNvPicPr>
            <a:picLocks noChangeAspect="1"/>
          </p:cNvPicPr>
          <p:nvPr/>
        </p:nvPicPr>
        <p:blipFill>
          <a:blip r:embed="rId7"/>
          <a:stretch>
            <a:fillRect/>
          </a:stretch>
        </p:blipFill>
        <p:spPr>
          <a:xfrm>
            <a:off x="7768719" y="4226644"/>
            <a:ext cx="3192508" cy="1867614"/>
          </a:xfrm>
          <a:prstGeom prst="rect">
            <a:avLst/>
          </a:prstGeom>
        </p:spPr>
      </p:pic>
      <p:sp>
        <p:nvSpPr>
          <p:cNvPr id="22" name="Google Shape;1822;p53">
            <a:extLst>
              <a:ext uri="{FF2B5EF4-FFF2-40B4-BE49-F238E27FC236}">
                <a16:creationId xmlns:a16="http://schemas.microsoft.com/office/drawing/2014/main" id="{8B8206DC-6CB0-374F-84FA-CFC8E7E992EB}"/>
              </a:ext>
            </a:extLst>
          </p:cNvPr>
          <p:cNvSpPr txBox="1"/>
          <p:nvPr/>
        </p:nvSpPr>
        <p:spPr>
          <a:xfrm>
            <a:off x="457612" y="3382715"/>
            <a:ext cx="3324813"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Standard Work Combination Forms</a:t>
            </a:r>
            <a:endParaRPr b="1" dirty="0">
              <a:solidFill>
                <a:schemeClr val="lt1"/>
              </a:solidFill>
              <a:latin typeface="Open Sans"/>
              <a:ea typeface="Open Sans"/>
              <a:cs typeface="Open Sans"/>
              <a:sym typeface="Open Sans"/>
            </a:endParaRPr>
          </a:p>
        </p:txBody>
      </p:sp>
      <p:sp>
        <p:nvSpPr>
          <p:cNvPr id="23" name="Google Shape;1822;p53">
            <a:extLst>
              <a:ext uri="{FF2B5EF4-FFF2-40B4-BE49-F238E27FC236}">
                <a16:creationId xmlns:a16="http://schemas.microsoft.com/office/drawing/2014/main" id="{7CB73DB4-3E4C-CD4C-AD12-DC1D0FB7DB6C}"/>
              </a:ext>
            </a:extLst>
          </p:cNvPr>
          <p:cNvSpPr txBox="1"/>
          <p:nvPr/>
        </p:nvSpPr>
        <p:spPr>
          <a:xfrm>
            <a:off x="515194" y="5952366"/>
            <a:ext cx="3324813"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Process Capacity Form</a:t>
            </a:r>
            <a:endParaRPr b="1" dirty="0">
              <a:solidFill>
                <a:schemeClr val="lt1"/>
              </a:solidFill>
              <a:latin typeface="Open Sans"/>
              <a:ea typeface="Open Sans"/>
              <a:cs typeface="Open Sans"/>
              <a:sym typeface="Open Sans"/>
            </a:endParaRPr>
          </a:p>
        </p:txBody>
      </p:sp>
      <p:sp>
        <p:nvSpPr>
          <p:cNvPr id="24" name="Google Shape;1822;p53">
            <a:extLst>
              <a:ext uri="{FF2B5EF4-FFF2-40B4-BE49-F238E27FC236}">
                <a16:creationId xmlns:a16="http://schemas.microsoft.com/office/drawing/2014/main" id="{5C28B371-99BD-8B48-8FFD-D8C46C3E0E99}"/>
              </a:ext>
            </a:extLst>
          </p:cNvPr>
          <p:cNvSpPr txBox="1"/>
          <p:nvPr/>
        </p:nvSpPr>
        <p:spPr>
          <a:xfrm>
            <a:off x="4349311" y="3522461"/>
            <a:ext cx="3324813"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Standard Work Sheet</a:t>
            </a:r>
            <a:endParaRPr b="1" dirty="0">
              <a:solidFill>
                <a:schemeClr val="lt1"/>
              </a:solidFill>
              <a:latin typeface="Open Sans"/>
              <a:ea typeface="Open Sans"/>
              <a:cs typeface="Open Sans"/>
              <a:sym typeface="Open Sans"/>
            </a:endParaRPr>
          </a:p>
        </p:txBody>
      </p:sp>
      <p:sp>
        <p:nvSpPr>
          <p:cNvPr id="25" name="Google Shape;1822;p53">
            <a:extLst>
              <a:ext uri="{FF2B5EF4-FFF2-40B4-BE49-F238E27FC236}">
                <a16:creationId xmlns:a16="http://schemas.microsoft.com/office/drawing/2014/main" id="{4DA3A600-DAC0-8D46-B496-621911FE4A94}"/>
              </a:ext>
            </a:extLst>
          </p:cNvPr>
          <p:cNvSpPr txBox="1"/>
          <p:nvPr/>
        </p:nvSpPr>
        <p:spPr>
          <a:xfrm>
            <a:off x="5439849" y="5906376"/>
            <a:ext cx="4314109"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Operator Loading Charts - Before &amp; After</a:t>
            </a:r>
            <a:endParaRPr b="1" dirty="0">
              <a:solidFill>
                <a:schemeClr val="lt1"/>
              </a:solidFill>
              <a:latin typeface="Open Sans"/>
              <a:ea typeface="Open Sans"/>
              <a:cs typeface="Open Sans"/>
              <a:sym typeface="Open Sans"/>
            </a:endParaRPr>
          </a:p>
        </p:txBody>
      </p:sp>
      <p:sp>
        <p:nvSpPr>
          <p:cNvPr id="26" name="Google Shape;1822;p53">
            <a:extLst>
              <a:ext uri="{FF2B5EF4-FFF2-40B4-BE49-F238E27FC236}">
                <a16:creationId xmlns:a16="http://schemas.microsoft.com/office/drawing/2014/main" id="{1C868475-6FF9-8F4B-9777-70006C7FB930}"/>
              </a:ext>
            </a:extLst>
          </p:cNvPr>
          <p:cNvSpPr txBox="1"/>
          <p:nvPr/>
        </p:nvSpPr>
        <p:spPr>
          <a:xfrm>
            <a:off x="7894343" y="2518147"/>
            <a:ext cx="3324813" cy="518157"/>
          </a:xfrm>
          <a:prstGeom prst="rect">
            <a:avLst/>
          </a:prstGeom>
          <a:noFill/>
          <a:ln>
            <a:noFill/>
          </a:ln>
        </p:spPr>
        <p:txBody>
          <a:bodyPr spcFirstLastPara="1" wrap="square" lIns="91425" tIns="45700" rIns="91425" bIns="45700" anchor="b" anchorCtr="0">
            <a:noAutofit/>
          </a:bodyPr>
          <a:lstStyle/>
          <a:p>
            <a:pPr marL="0" marR="0" lvl="0" indent="0" algn="just"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Note: Show sample of SW Combo Sheets. Time Observation Sheets (not shown) do not need to be included in the presentation)</a:t>
            </a:r>
            <a:endParaRPr b="1" dirty="0">
              <a:solidFill>
                <a:schemeClr val="lt1"/>
              </a:solidFill>
              <a:latin typeface="Open Sans"/>
              <a:ea typeface="Open Sans"/>
              <a:cs typeface="Open Sans"/>
              <a:sym typeface="Open Sans"/>
            </a:endParaRPr>
          </a:p>
        </p:txBody>
      </p:sp>
      <p:grpSp>
        <p:nvGrpSpPr>
          <p:cNvPr id="18" name="Google Shape;1836;p53">
            <a:extLst>
              <a:ext uri="{FF2B5EF4-FFF2-40B4-BE49-F238E27FC236}">
                <a16:creationId xmlns:a16="http://schemas.microsoft.com/office/drawing/2014/main" id="{28C8E589-C51D-3D42-B86B-DE1BF787151F}"/>
              </a:ext>
            </a:extLst>
          </p:cNvPr>
          <p:cNvGrpSpPr/>
          <p:nvPr/>
        </p:nvGrpSpPr>
        <p:grpSpPr>
          <a:xfrm>
            <a:off x="10338507" y="211527"/>
            <a:ext cx="1524135" cy="1486847"/>
            <a:chOff x="1455738" y="2371725"/>
            <a:chExt cx="2198688" cy="2200275"/>
          </a:xfrm>
          <a:solidFill>
            <a:srgbClr val="9F0405"/>
          </a:solidFill>
        </p:grpSpPr>
        <p:sp>
          <p:nvSpPr>
            <p:cNvPr id="19" name="Google Shape;1837;p53">
              <a:extLst>
                <a:ext uri="{FF2B5EF4-FFF2-40B4-BE49-F238E27FC236}">
                  <a16:creationId xmlns:a16="http://schemas.microsoft.com/office/drawing/2014/main" id="{7495074B-0405-1D4B-8EEC-71EE7ED55A8C}"/>
                </a:ext>
              </a:extLst>
            </p:cNvPr>
            <p:cNvSpPr/>
            <p:nvPr/>
          </p:nvSpPr>
          <p:spPr>
            <a:xfrm>
              <a:off x="2035175" y="2967038"/>
              <a:ext cx="1071563" cy="1009650"/>
            </a:xfrm>
            <a:custGeom>
              <a:avLst/>
              <a:gdLst/>
              <a:ahLst/>
              <a:cxnLst/>
              <a:rect l="l" t="t" r="r" b="b"/>
              <a:pathLst>
                <a:path w="570" h="536" extrusionOk="0">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dirty="0">
                  <a:solidFill>
                    <a:schemeClr val="lt1"/>
                  </a:solidFill>
                  <a:latin typeface="Arial"/>
                  <a:ea typeface="Arial"/>
                  <a:cs typeface="Arial"/>
                  <a:sym typeface="Arial"/>
                </a:rPr>
                <a:t>4</a:t>
              </a:r>
              <a:endParaRPr sz="3600" dirty="0">
                <a:solidFill>
                  <a:schemeClr val="lt1"/>
                </a:solidFill>
                <a:latin typeface="Arial"/>
                <a:ea typeface="Arial"/>
                <a:cs typeface="Arial"/>
                <a:sym typeface="Arial"/>
              </a:endParaRPr>
            </a:p>
          </p:txBody>
        </p:sp>
        <p:sp>
          <p:nvSpPr>
            <p:cNvPr id="20" name="Google Shape;1838;p53">
              <a:extLst>
                <a:ext uri="{FF2B5EF4-FFF2-40B4-BE49-F238E27FC236}">
                  <a16:creationId xmlns:a16="http://schemas.microsoft.com/office/drawing/2014/main" id="{C43ED2EC-6B69-2C44-8462-8B07D6CD7805}"/>
                </a:ext>
              </a:extLst>
            </p:cNvPr>
            <p:cNvSpPr/>
            <p:nvPr/>
          </p:nvSpPr>
          <p:spPr>
            <a:xfrm>
              <a:off x="1455738" y="2371725"/>
              <a:ext cx="2198688" cy="2200275"/>
            </a:xfrm>
            <a:custGeom>
              <a:avLst/>
              <a:gdLst/>
              <a:ahLst/>
              <a:cxnLst/>
              <a:rect l="l" t="t" r="r" b="b"/>
              <a:pathLst>
                <a:path w="1169" h="1170" extrusionOk="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3667304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sp>
        <p:nvSpPr>
          <p:cNvPr id="1822" name="Google Shape;1822;p53"/>
          <p:cNvSpPr txBox="1"/>
          <p:nvPr/>
        </p:nvSpPr>
        <p:spPr>
          <a:xfrm>
            <a:off x="-443589" y="766060"/>
            <a:ext cx="8697279"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sz="2800" b="1" dirty="0">
                <a:solidFill>
                  <a:schemeClr val="lt1"/>
                </a:solidFill>
                <a:latin typeface="Open Sans"/>
                <a:ea typeface="Open Sans"/>
                <a:cs typeface="Open Sans"/>
                <a:sym typeface="Open Sans"/>
              </a:rPr>
              <a:t>Required Kaizen Documentation - SMED</a:t>
            </a:r>
            <a:endParaRPr sz="2800" b="1" dirty="0">
              <a:solidFill>
                <a:schemeClr val="lt1"/>
              </a:solidFill>
              <a:latin typeface="Open Sans"/>
              <a:ea typeface="Open Sans"/>
              <a:cs typeface="Open Sans"/>
              <a:sym typeface="Open Sans"/>
            </a:endParaRPr>
          </a:p>
        </p:txBody>
      </p:sp>
      <p:sp>
        <p:nvSpPr>
          <p:cNvPr id="1823" name="Google Shape;1823;p53"/>
          <p:cNvSpPr txBox="1"/>
          <p:nvPr/>
        </p:nvSpPr>
        <p:spPr>
          <a:xfrm>
            <a:off x="1747403" y="1078996"/>
            <a:ext cx="8697279" cy="41044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200"/>
              <a:buFont typeface="Calibri"/>
              <a:buNone/>
            </a:pPr>
            <a:endParaRPr lang="en-US" sz="1600" dirty="0">
              <a:solidFill>
                <a:schemeClr val="lt1"/>
              </a:solidFill>
              <a:latin typeface="Calibri"/>
              <a:ea typeface="Calibri"/>
              <a:cs typeface="Calibri"/>
              <a:sym typeface="Calibri"/>
            </a:endParaRPr>
          </a:p>
        </p:txBody>
      </p:sp>
      <p:sp>
        <p:nvSpPr>
          <p:cNvPr id="1854" name="Google Shape;1854;p53"/>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9</a:t>
            </a:fld>
            <a:endParaRPr/>
          </a:p>
        </p:txBody>
      </p:sp>
      <p:sp>
        <p:nvSpPr>
          <p:cNvPr id="22" name="Google Shape;1822;p53">
            <a:extLst>
              <a:ext uri="{FF2B5EF4-FFF2-40B4-BE49-F238E27FC236}">
                <a16:creationId xmlns:a16="http://schemas.microsoft.com/office/drawing/2014/main" id="{8B8206DC-6CB0-374F-84FA-CFC8E7E992EB}"/>
              </a:ext>
            </a:extLst>
          </p:cNvPr>
          <p:cNvSpPr txBox="1"/>
          <p:nvPr/>
        </p:nvSpPr>
        <p:spPr>
          <a:xfrm>
            <a:off x="494705" y="3416305"/>
            <a:ext cx="3324813"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Set-up Pareto - BEFORE</a:t>
            </a:r>
            <a:endParaRPr b="1" dirty="0">
              <a:solidFill>
                <a:schemeClr val="lt1"/>
              </a:solidFill>
              <a:latin typeface="Open Sans"/>
              <a:ea typeface="Open Sans"/>
              <a:cs typeface="Open Sans"/>
              <a:sym typeface="Open Sans"/>
            </a:endParaRPr>
          </a:p>
        </p:txBody>
      </p:sp>
      <p:graphicFrame>
        <p:nvGraphicFramePr>
          <p:cNvPr id="6" name="Object 5">
            <a:extLst>
              <a:ext uri="{FF2B5EF4-FFF2-40B4-BE49-F238E27FC236}">
                <a16:creationId xmlns:a16="http://schemas.microsoft.com/office/drawing/2014/main" id="{40D1CA6B-FCC4-7040-9C6A-254BC6B03A93}"/>
              </a:ext>
            </a:extLst>
          </p:cNvPr>
          <p:cNvGraphicFramePr>
            <a:graphicFrameLocks noChangeAspect="1"/>
          </p:cNvGraphicFramePr>
          <p:nvPr>
            <p:extLst>
              <p:ext uri="{D42A27DB-BD31-4B8C-83A1-F6EECF244321}">
                <p14:modId xmlns:p14="http://schemas.microsoft.com/office/powerpoint/2010/main" val="3626171643"/>
              </p:ext>
            </p:extLst>
          </p:nvPr>
        </p:nvGraphicFramePr>
        <p:xfrm>
          <a:off x="375914" y="1755773"/>
          <a:ext cx="3562396" cy="1766137"/>
        </p:xfrm>
        <a:graphic>
          <a:graphicData uri="http://schemas.openxmlformats.org/presentationml/2006/ole">
            <mc:AlternateContent xmlns:mc="http://schemas.openxmlformats.org/markup-compatibility/2006">
              <mc:Choice xmlns:v="urn:schemas-microsoft-com:vml" Requires="v">
                <p:oleObj r:id="rId3" imgW="4483100" imgH="2362200" progId="">
                  <p:embed/>
                </p:oleObj>
              </mc:Choice>
              <mc:Fallback>
                <p:oleObj r:id="rId3" imgW="4483100" imgH="2362200" progId="">
                  <p:embed/>
                  <p:pic>
                    <p:nvPicPr>
                      <p:cNvPr id="0" name=""/>
                      <p:cNvPicPr/>
                      <p:nvPr/>
                    </p:nvPicPr>
                    <p:blipFill>
                      <a:blip r:embed="rId4"/>
                      <a:stretch>
                        <a:fillRect/>
                      </a:stretch>
                    </p:blipFill>
                    <p:spPr>
                      <a:xfrm>
                        <a:off x="375914" y="1755773"/>
                        <a:ext cx="3562396" cy="1766137"/>
                      </a:xfrm>
                      <a:prstGeom prst="rect">
                        <a:avLst/>
                      </a:prstGeom>
                      <a:solidFill>
                        <a:schemeClr val="bg1"/>
                      </a:solidFill>
                    </p:spPr>
                  </p:pic>
                </p:oleObj>
              </mc:Fallback>
            </mc:AlternateContent>
          </a:graphicData>
        </a:graphic>
      </p:graphicFrame>
      <p:graphicFrame>
        <p:nvGraphicFramePr>
          <p:cNvPr id="29" name="Object 28">
            <a:extLst>
              <a:ext uri="{FF2B5EF4-FFF2-40B4-BE49-F238E27FC236}">
                <a16:creationId xmlns:a16="http://schemas.microsoft.com/office/drawing/2014/main" id="{C09C512A-3D2C-B843-822E-EE24F0AC19A5}"/>
              </a:ext>
            </a:extLst>
          </p:cNvPr>
          <p:cNvGraphicFramePr>
            <a:graphicFrameLocks noChangeAspect="1"/>
          </p:cNvGraphicFramePr>
          <p:nvPr>
            <p:extLst>
              <p:ext uri="{D42A27DB-BD31-4B8C-83A1-F6EECF244321}">
                <p14:modId xmlns:p14="http://schemas.microsoft.com/office/powerpoint/2010/main" val="618462652"/>
              </p:ext>
            </p:extLst>
          </p:nvPr>
        </p:nvGraphicFramePr>
        <p:xfrm>
          <a:off x="311009" y="4128280"/>
          <a:ext cx="3538600" cy="1766136"/>
        </p:xfrm>
        <a:graphic>
          <a:graphicData uri="http://schemas.openxmlformats.org/presentationml/2006/ole">
            <mc:AlternateContent xmlns:mc="http://schemas.openxmlformats.org/markup-compatibility/2006">
              <mc:Choice xmlns:v="urn:schemas-microsoft-com:vml" Requires="v">
                <p:oleObj r:id="rId5" imgW="5702300" imgH="2552700" progId="MSGraph.Chart.8">
                  <p:embed/>
                </p:oleObj>
              </mc:Choice>
              <mc:Fallback>
                <p:oleObj r:id="rId5" imgW="5702300" imgH="2552700" progId="MSGraph.Chart.8">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1009" y="4128280"/>
                        <a:ext cx="3538600" cy="1766136"/>
                      </a:xfrm>
                      <a:prstGeom prst="rect">
                        <a:avLst/>
                      </a:prstGeom>
                      <a:solidFill>
                        <a:schemeClr val="bg1"/>
                      </a:solidFill>
                    </p:spPr>
                  </p:pic>
                </p:oleObj>
              </mc:Fallback>
            </mc:AlternateContent>
          </a:graphicData>
        </a:graphic>
      </p:graphicFrame>
      <p:sp>
        <p:nvSpPr>
          <p:cNvPr id="30" name="Rectangle 4">
            <a:extLst>
              <a:ext uri="{FF2B5EF4-FFF2-40B4-BE49-F238E27FC236}">
                <a16:creationId xmlns:a16="http://schemas.microsoft.com/office/drawing/2014/main" id="{4610E5B6-568A-AD4F-96FE-67ACBBDFEBC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31" name="Picture 30">
            <a:extLst>
              <a:ext uri="{FF2B5EF4-FFF2-40B4-BE49-F238E27FC236}">
                <a16:creationId xmlns:a16="http://schemas.microsoft.com/office/drawing/2014/main" id="{12C99EA9-E010-7B48-9F66-9F5141D09849}"/>
              </a:ext>
            </a:extLst>
          </p:cNvPr>
          <p:cNvPicPr>
            <a:picLocks noChangeAspect="1"/>
          </p:cNvPicPr>
          <p:nvPr/>
        </p:nvPicPr>
        <p:blipFill>
          <a:blip r:embed="rId7"/>
          <a:stretch>
            <a:fillRect/>
          </a:stretch>
        </p:blipFill>
        <p:spPr>
          <a:xfrm>
            <a:off x="8134899" y="2808486"/>
            <a:ext cx="3562396" cy="1882293"/>
          </a:xfrm>
          <a:prstGeom prst="rect">
            <a:avLst/>
          </a:prstGeom>
        </p:spPr>
      </p:pic>
      <p:pic>
        <p:nvPicPr>
          <p:cNvPr id="33" name="Picture 32">
            <a:extLst>
              <a:ext uri="{FF2B5EF4-FFF2-40B4-BE49-F238E27FC236}">
                <a16:creationId xmlns:a16="http://schemas.microsoft.com/office/drawing/2014/main" id="{BE49C43A-FDBF-2749-BED5-6F2077B81D06}"/>
              </a:ext>
            </a:extLst>
          </p:cNvPr>
          <p:cNvPicPr>
            <a:picLocks noChangeAspect="1"/>
          </p:cNvPicPr>
          <p:nvPr/>
        </p:nvPicPr>
        <p:blipFill>
          <a:blip r:embed="rId8"/>
          <a:stretch>
            <a:fillRect/>
          </a:stretch>
        </p:blipFill>
        <p:spPr>
          <a:xfrm>
            <a:off x="4227646" y="4088375"/>
            <a:ext cx="3609526" cy="1806041"/>
          </a:xfrm>
          <a:prstGeom prst="rect">
            <a:avLst/>
          </a:prstGeom>
        </p:spPr>
      </p:pic>
      <p:pic>
        <p:nvPicPr>
          <p:cNvPr id="34" name="Picture 33">
            <a:extLst>
              <a:ext uri="{FF2B5EF4-FFF2-40B4-BE49-F238E27FC236}">
                <a16:creationId xmlns:a16="http://schemas.microsoft.com/office/drawing/2014/main" id="{010D2077-881D-D943-BD7D-8CDD5993B625}"/>
              </a:ext>
            </a:extLst>
          </p:cNvPr>
          <p:cNvPicPr>
            <a:picLocks noChangeAspect="1"/>
          </p:cNvPicPr>
          <p:nvPr/>
        </p:nvPicPr>
        <p:blipFill>
          <a:blip r:embed="rId9"/>
          <a:stretch>
            <a:fillRect/>
          </a:stretch>
        </p:blipFill>
        <p:spPr>
          <a:xfrm>
            <a:off x="4227646" y="1776197"/>
            <a:ext cx="3609526" cy="1745714"/>
          </a:xfrm>
          <a:prstGeom prst="rect">
            <a:avLst/>
          </a:prstGeom>
        </p:spPr>
      </p:pic>
      <p:sp>
        <p:nvSpPr>
          <p:cNvPr id="38" name="Google Shape;1822;p53">
            <a:extLst>
              <a:ext uri="{FF2B5EF4-FFF2-40B4-BE49-F238E27FC236}">
                <a16:creationId xmlns:a16="http://schemas.microsoft.com/office/drawing/2014/main" id="{D48DB6FB-CA04-304C-946C-A1D10ECD8793}"/>
              </a:ext>
            </a:extLst>
          </p:cNvPr>
          <p:cNvSpPr txBox="1"/>
          <p:nvPr/>
        </p:nvSpPr>
        <p:spPr>
          <a:xfrm>
            <a:off x="417902" y="5719329"/>
            <a:ext cx="3324813"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Set-up Pareto - AFTER</a:t>
            </a:r>
            <a:endParaRPr b="1" dirty="0">
              <a:solidFill>
                <a:schemeClr val="lt1"/>
              </a:solidFill>
              <a:latin typeface="Open Sans"/>
              <a:ea typeface="Open Sans"/>
              <a:cs typeface="Open Sans"/>
              <a:sym typeface="Open Sans"/>
            </a:endParaRPr>
          </a:p>
        </p:txBody>
      </p:sp>
      <p:sp>
        <p:nvSpPr>
          <p:cNvPr id="39" name="Google Shape;1822;p53">
            <a:extLst>
              <a:ext uri="{FF2B5EF4-FFF2-40B4-BE49-F238E27FC236}">
                <a16:creationId xmlns:a16="http://schemas.microsoft.com/office/drawing/2014/main" id="{BCB78ACE-7FC9-5E47-8017-4605FD2AC7AD}"/>
              </a:ext>
            </a:extLst>
          </p:cNvPr>
          <p:cNvSpPr txBox="1"/>
          <p:nvPr/>
        </p:nvSpPr>
        <p:spPr>
          <a:xfrm>
            <a:off x="4441254" y="3381650"/>
            <a:ext cx="3324813"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Set-up Analysis Form - BEFORE</a:t>
            </a:r>
            <a:endParaRPr b="1" dirty="0">
              <a:solidFill>
                <a:schemeClr val="lt1"/>
              </a:solidFill>
              <a:latin typeface="Open Sans"/>
              <a:ea typeface="Open Sans"/>
              <a:cs typeface="Open Sans"/>
              <a:sym typeface="Open Sans"/>
            </a:endParaRPr>
          </a:p>
        </p:txBody>
      </p:sp>
      <p:sp>
        <p:nvSpPr>
          <p:cNvPr id="40" name="Google Shape;1822;p53">
            <a:extLst>
              <a:ext uri="{FF2B5EF4-FFF2-40B4-BE49-F238E27FC236}">
                <a16:creationId xmlns:a16="http://schemas.microsoft.com/office/drawing/2014/main" id="{A45278D8-A6C6-CC4E-914E-134A741ADB04}"/>
              </a:ext>
            </a:extLst>
          </p:cNvPr>
          <p:cNvSpPr txBox="1"/>
          <p:nvPr/>
        </p:nvSpPr>
        <p:spPr>
          <a:xfrm>
            <a:off x="4370002" y="5719329"/>
            <a:ext cx="3324813"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Set-up Analysis Form - AFTER</a:t>
            </a:r>
            <a:endParaRPr b="1" dirty="0">
              <a:solidFill>
                <a:schemeClr val="lt1"/>
              </a:solidFill>
              <a:latin typeface="Open Sans"/>
              <a:ea typeface="Open Sans"/>
              <a:cs typeface="Open Sans"/>
              <a:sym typeface="Open Sans"/>
            </a:endParaRPr>
          </a:p>
        </p:txBody>
      </p:sp>
      <p:sp>
        <p:nvSpPr>
          <p:cNvPr id="41" name="Google Shape;1822;p53">
            <a:extLst>
              <a:ext uri="{FF2B5EF4-FFF2-40B4-BE49-F238E27FC236}">
                <a16:creationId xmlns:a16="http://schemas.microsoft.com/office/drawing/2014/main" id="{31ADE166-2B21-644D-B16B-B8F49BBA0EAD}"/>
              </a:ext>
            </a:extLst>
          </p:cNvPr>
          <p:cNvSpPr txBox="1"/>
          <p:nvPr/>
        </p:nvSpPr>
        <p:spPr>
          <a:xfrm>
            <a:off x="8253690" y="4563061"/>
            <a:ext cx="3324813"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SMED Kaizen Results Summary</a:t>
            </a:r>
            <a:endParaRPr b="1" dirty="0">
              <a:solidFill>
                <a:schemeClr val="lt1"/>
              </a:solidFill>
              <a:latin typeface="Open Sans"/>
              <a:ea typeface="Open Sans"/>
              <a:cs typeface="Open Sans"/>
              <a:sym typeface="Open Sans"/>
            </a:endParaRPr>
          </a:p>
        </p:txBody>
      </p:sp>
      <p:grpSp>
        <p:nvGrpSpPr>
          <p:cNvPr id="42" name="Google Shape;1836;p53">
            <a:extLst>
              <a:ext uri="{FF2B5EF4-FFF2-40B4-BE49-F238E27FC236}">
                <a16:creationId xmlns:a16="http://schemas.microsoft.com/office/drawing/2014/main" id="{40AC49E3-439E-364A-BF55-1224859B6CA6}"/>
              </a:ext>
            </a:extLst>
          </p:cNvPr>
          <p:cNvGrpSpPr/>
          <p:nvPr/>
        </p:nvGrpSpPr>
        <p:grpSpPr>
          <a:xfrm>
            <a:off x="10338507" y="211527"/>
            <a:ext cx="1524135" cy="1486847"/>
            <a:chOff x="1455738" y="2371725"/>
            <a:chExt cx="2198688" cy="2200275"/>
          </a:xfrm>
          <a:solidFill>
            <a:srgbClr val="9F0405"/>
          </a:solidFill>
        </p:grpSpPr>
        <p:sp>
          <p:nvSpPr>
            <p:cNvPr id="43" name="Google Shape;1837;p53">
              <a:extLst>
                <a:ext uri="{FF2B5EF4-FFF2-40B4-BE49-F238E27FC236}">
                  <a16:creationId xmlns:a16="http://schemas.microsoft.com/office/drawing/2014/main" id="{339C65A8-9A37-1D42-BC73-CEBE2F6A33FE}"/>
                </a:ext>
              </a:extLst>
            </p:cNvPr>
            <p:cNvSpPr/>
            <p:nvPr/>
          </p:nvSpPr>
          <p:spPr>
            <a:xfrm>
              <a:off x="2035175" y="2967038"/>
              <a:ext cx="1071563" cy="1009650"/>
            </a:xfrm>
            <a:custGeom>
              <a:avLst/>
              <a:gdLst/>
              <a:ahLst/>
              <a:cxnLst/>
              <a:rect l="l" t="t" r="r" b="b"/>
              <a:pathLst>
                <a:path w="570" h="536" extrusionOk="0">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dirty="0">
                  <a:solidFill>
                    <a:schemeClr val="lt1"/>
                  </a:solidFill>
                  <a:latin typeface="Arial"/>
                  <a:ea typeface="Arial"/>
                  <a:cs typeface="Arial"/>
                  <a:sym typeface="Arial"/>
                </a:rPr>
                <a:t>4</a:t>
              </a:r>
              <a:endParaRPr sz="3600" dirty="0">
                <a:solidFill>
                  <a:schemeClr val="lt1"/>
                </a:solidFill>
                <a:latin typeface="Arial"/>
                <a:ea typeface="Arial"/>
                <a:cs typeface="Arial"/>
                <a:sym typeface="Arial"/>
              </a:endParaRPr>
            </a:p>
          </p:txBody>
        </p:sp>
        <p:sp>
          <p:nvSpPr>
            <p:cNvPr id="44" name="Google Shape;1838;p53">
              <a:extLst>
                <a:ext uri="{FF2B5EF4-FFF2-40B4-BE49-F238E27FC236}">
                  <a16:creationId xmlns:a16="http://schemas.microsoft.com/office/drawing/2014/main" id="{B899C34E-30C4-A945-BB5B-4D2A12DF4A70}"/>
                </a:ext>
              </a:extLst>
            </p:cNvPr>
            <p:cNvSpPr/>
            <p:nvPr/>
          </p:nvSpPr>
          <p:spPr>
            <a:xfrm>
              <a:off x="1455738" y="2371725"/>
              <a:ext cx="2198688" cy="2200275"/>
            </a:xfrm>
            <a:custGeom>
              <a:avLst/>
              <a:gdLst/>
              <a:ahLst/>
              <a:cxnLst/>
              <a:rect l="l" t="t" r="r" b="b"/>
              <a:pathLst>
                <a:path w="1169" h="1170" extrusionOk="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407113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sp>
        <p:nvSpPr>
          <p:cNvPr id="1822" name="Google Shape;1822;p53"/>
          <p:cNvSpPr txBox="1"/>
          <p:nvPr/>
        </p:nvSpPr>
        <p:spPr>
          <a:xfrm>
            <a:off x="329358" y="843526"/>
            <a:ext cx="10539685" cy="518157"/>
          </a:xfrm>
          <a:prstGeom prst="rect">
            <a:avLst/>
          </a:prstGeom>
          <a:noFill/>
          <a:ln>
            <a:noFill/>
          </a:ln>
        </p:spPr>
        <p:txBody>
          <a:bodyPr spcFirstLastPara="1" wrap="square" lIns="91425" tIns="45700" rIns="91425" bIns="45700" anchor="b" anchorCtr="0">
            <a:noAutofit/>
          </a:bodyPr>
          <a:lstStyle/>
          <a:p>
            <a:pPr marL="0" marR="0" lvl="0" indent="0" rtl="0">
              <a:lnSpc>
                <a:spcPct val="90000"/>
              </a:lnSpc>
              <a:spcBef>
                <a:spcPts val="0"/>
              </a:spcBef>
              <a:spcAft>
                <a:spcPts val="0"/>
              </a:spcAft>
              <a:buClr>
                <a:schemeClr val="lt1"/>
              </a:buClr>
              <a:buSzPts val="2800"/>
              <a:buFont typeface="Open Sans"/>
              <a:buNone/>
            </a:pPr>
            <a:r>
              <a:rPr lang="en-US" sz="2800" b="1" dirty="0">
                <a:solidFill>
                  <a:schemeClr val="lt1"/>
                </a:solidFill>
                <a:latin typeface="Open Sans"/>
                <a:ea typeface="Open Sans"/>
                <a:cs typeface="Open Sans"/>
                <a:sym typeface="Open Sans"/>
              </a:rPr>
              <a:t>Required Kaizen Documentation </a:t>
            </a:r>
          </a:p>
          <a:p>
            <a:pPr marL="0" marR="0" lvl="0" indent="0" rtl="0">
              <a:lnSpc>
                <a:spcPct val="90000"/>
              </a:lnSpc>
              <a:spcBef>
                <a:spcPts val="0"/>
              </a:spcBef>
              <a:spcAft>
                <a:spcPts val="0"/>
              </a:spcAft>
              <a:buClr>
                <a:schemeClr val="lt1"/>
              </a:buClr>
              <a:buSzPts val="2800"/>
              <a:buFont typeface="Open Sans"/>
              <a:buNone/>
            </a:pPr>
            <a:r>
              <a:rPr lang="en-US" sz="2800" b="1" dirty="0">
                <a:solidFill>
                  <a:schemeClr val="lt1"/>
                </a:solidFill>
                <a:latin typeface="Open Sans"/>
                <a:ea typeface="Open Sans"/>
                <a:cs typeface="Open Sans"/>
                <a:sym typeface="Open Sans"/>
              </a:rPr>
              <a:t>- Value Stream Mapping</a:t>
            </a:r>
            <a:endParaRPr sz="2800" b="1" dirty="0">
              <a:solidFill>
                <a:schemeClr val="lt1"/>
              </a:solidFill>
              <a:latin typeface="Open Sans"/>
              <a:ea typeface="Open Sans"/>
              <a:cs typeface="Open Sans"/>
              <a:sym typeface="Open Sans"/>
            </a:endParaRPr>
          </a:p>
        </p:txBody>
      </p:sp>
      <p:sp>
        <p:nvSpPr>
          <p:cNvPr id="1823" name="Google Shape;1823;p53"/>
          <p:cNvSpPr txBox="1"/>
          <p:nvPr/>
        </p:nvSpPr>
        <p:spPr>
          <a:xfrm>
            <a:off x="1747403" y="1078996"/>
            <a:ext cx="8697279" cy="41044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200"/>
              <a:buFont typeface="Calibri"/>
              <a:buNone/>
            </a:pPr>
            <a:endParaRPr lang="en-US" sz="1600" dirty="0">
              <a:solidFill>
                <a:schemeClr val="lt1"/>
              </a:solidFill>
              <a:latin typeface="Calibri"/>
              <a:ea typeface="Calibri"/>
              <a:cs typeface="Calibri"/>
              <a:sym typeface="Calibri"/>
            </a:endParaRPr>
          </a:p>
        </p:txBody>
      </p:sp>
      <p:sp>
        <p:nvSpPr>
          <p:cNvPr id="1854" name="Google Shape;1854;p53"/>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10</a:t>
            </a:fld>
            <a:endParaRPr/>
          </a:p>
        </p:txBody>
      </p:sp>
      <p:sp>
        <p:nvSpPr>
          <p:cNvPr id="30" name="Rectangle 4">
            <a:extLst>
              <a:ext uri="{FF2B5EF4-FFF2-40B4-BE49-F238E27FC236}">
                <a16:creationId xmlns:a16="http://schemas.microsoft.com/office/drawing/2014/main" id="{4610E5B6-568A-AD4F-96FE-67ACBBDFEBC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72479452-DD1B-6447-B01F-25E314C2D6CE}"/>
              </a:ext>
            </a:extLst>
          </p:cNvPr>
          <p:cNvPicPr>
            <a:picLocks noChangeAspect="1"/>
          </p:cNvPicPr>
          <p:nvPr/>
        </p:nvPicPr>
        <p:blipFill>
          <a:blip r:embed="rId3"/>
          <a:stretch>
            <a:fillRect/>
          </a:stretch>
        </p:blipFill>
        <p:spPr>
          <a:xfrm>
            <a:off x="2599513" y="4419812"/>
            <a:ext cx="3305678" cy="1616109"/>
          </a:xfrm>
          <a:prstGeom prst="rect">
            <a:avLst/>
          </a:prstGeom>
        </p:spPr>
      </p:pic>
      <p:pic>
        <p:nvPicPr>
          <p:cNvPr id="3" name="Picture 2">
            <a:extLst>
              <a:ext uri="{FF2B5EF4-FFF2-40B4-BE49-F238E27FC236}">
                <a16:creationId xmlns:a16="http://schemas.microsoft.com/office/drawing/2014/main" id="{D4CD7F1F-8B87-8A4E-AF68-F00036603B41}"/>
              </a:ext>
            </a:extLst>
          </p:cNvPr>
          <p:cNvPicPr>
            <a:picLocks noChangeAspect="1"/>
          </p:cNvPicPr>
          <p:nvPr/>
        </p:nvPicPr>
        <p:blipFill>
          <a:blip r:embed="rId4"/>
          <a:stretch>
            <a:fillRect/>
          </a:stretch>
        </p:blipFill>
        <p:spPr>
          <a:xfrm>
            <a:off x="6460479" y="4440741"/>
            <a:ext cx="3305678" cy="1616109"/>
          </a:xfrm>
          <a:prstGeom prst="rect">
            <a:avLst/>
          </a:prstGeom>
        </p:spPr>
      </p:pic>
      <p:pic>
        <p:nvPicPr>
          <p:cNvPr id="5" name="Picture 4">
            <a:extLst>
              <a:ext uri="{FF2B5EF4-FFF2-40B4-BE49-F238E27FC236}">
                <a16:creationId xmlns:a16="http://schemas.microsoft.com/office/drawing/2014/main" id="{9B0DCE4F-242F-C949-B0D6-3CA106F551CD}"/>
              </a:ext>
            </a:extLst>
          </p:cNvPr>
          <p:cNvPicPr>
            <a:picLocks noChangeAspect="1"/>
          </p:cNvPicPr>
          <p:nvPr/>
        </p:nvPicPr>
        <p:blipFill>
          <a:blip r:embed="rId5"/>
          <a:stretch>
            <a:fillRect/>
          </a:stretch>
        </p:blipFill>
        <p:spPr>
          <a:xfrm>
            <a:off x="519360" y="1899038"/>
            <a:ext cx="3305678" cy="1864483"/>
          </a:xfrm>
          <a:prstGeom prst="rect">
            <a:avLst/>
          </a:prstGeom>
        </p:spPr>
      </p:pic>
      <p:pic>
        <p:nvPicPr>
          <p:cNvPr id="7" name="Picture 6">
            <a:extLst>
              <a:ext uri="{FF2B5EF4-FFF2-40B4-BE49-F238E27FC236}">
                <a16:creationId xmlns:a16="http://schemas.microsoft.com/office/drawing/2014/main" id="{2A785669-8D59-EA40-9D32-31791BA3393F}"/>
              </a:ext>
            </a:extLst>
          </p:cNvPr>
          <p:cNvPicPr>
            <a:picLocks noChangeAspect="1"/>
          </p:cNvPicPr>
          <p:nvPr/>
        </p:nvPicPr>
        <p:blipFill>
          <a:blip r:embed="rId6"/>
          <a:stretch>
            <a:fillRect/>
          </a:stretch>
        </p:blipFill>
        <p:spPr>
          <a:xfrm>
            <a:off x="4316339" y="1919968"/>
            <a:ext cx="3305678" cy="1864483"/>
          </a:xfrm>
          <a:prstGeom prst="rect">
            <a:avLst/>
          </a:prstGeom>
        </p:spPr>
      </p:pic>
      <p:pic>
        <p:nvPicPr>
          <p:cNvPr id="8" name="Picture 7">
            <a:extLst>
              <a:ext uri="{FF2B5EF4-FFF2-40B4-BE49-F238E27FC236}">
                <a16:creationId xmlns:a16="http://schemas.microsoft.com/office/drawing/2014/main" id="{8113502D-74DF-874F-BFE2-D95F46245A9D}"/>
              </a:ext>
            </a:extLst>
          </p:cNvPr>
          <p:cNvPicPr>
            <a:picLocks noChangeAspect="1"/>
          </p:cNvPicPr>
          <p:nvPr/>
        </p:nvPicPr>
        <p:blipFill>
          <a:blip r:embed="rId7"/>
          <a:stretch>
            <a:fillRect/>
          </a:stretch>
        </p:blipFill>
        <p:spPr>
          <a:xfrm>
            <a:off x="8177305" y="1868188"/>
            <a:ext cx="3305679" cy="1864484"/>
          </a:xfrm>
          <a:prstGeom prst="rect">
            <a:avLst/>
          </a:prstGeom>
        </p:spPr>
      </p:pic>
      <p:sp>
        <p:nvSpPr>
          <p:cNvPr id="25" name="Google Shape;1822;p53">
            <a:extLst>
              <a:ext uri="{FF2B5EF4-FFF2-40B4-BE49-F238E27FC236}">
                <a16:creationId xmlns:a16="http://schemas.microsoft.com/office/drawing/2014/main" id="{84F0F847-3579-1441-BD6B-791BF9EB0C23}"/>
              </a:ext>
            </a:extLst>
          </p:cNvPr>
          <p:cNvSpPr txBox="1"/>
          <p:nvPr/>
        </p:nvSpPr>
        <p:spPr>
          <a:xfrm>
            <a:off x="436238" y="3654963"/>
            <a:ext cx="3324813"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Current State VSM</a:t>
            </a:r>
            <a:endParaRPr b="1" dirty="0">
              <a:solidFill>
                <a:schemeClr val="lt1"/>
              </a:solidFill>
              <a:latin typeface="Open Sans"/>
              <a:ea typeface="Open Sans"/>
              <a:cs typeface="Open Sans"/>
              <a:sym typeface="Open Sans"/>
            </a:endParaRPr>
          </a:p>
        </p:txBody>
      </p:sp>
      <p:sp>
        <p:nvSpPr>
          <p:cNvPr id="26" name="Google Shape;1822;p53">
            <a:extLst>
              <a:ext uri="{FF2B5EF4-FFF2-40B4-BE49-F238E27FC236}">
                <a16:creationId xmlns:a16="http://schemas.microsoft.com/office/drawing/2014/main" id="{CE1FAFE3-A6B0-004E-B506-B5CDC01B0F33}"/>
              </a:ext>
            </a:extLst>
          </p:cNvPr>
          <p:cNvSpPr txBox="1"/>
          <p:nvPr/>
        </p:nvSpPr>
        <p:spPr>
          <a:xfrm>
            <a:off x="4252352" y="3654963"/>
            <a:ext cx="3324813"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Interrogated Current State VSM</a:t>
            </a:r>
            <a:endParaRPr b="1" dirty="0">
              <a:solidFill>
                <a:schemeClr val="lt1"/>
              </a:solidFill>
              <a:latin typeface="Open Sans"/>
              <a:ea typeface="Open Sans"/>
              <a:cs typeface="Open Sans"/>
              <a:sym typeface="Open Sans"/>
            </a:endParaRPr>
          </a:p>
        </p:txBody>
      </p:sp>
      <p:sp>
        <p:nvSpPr>
          <p:cNvPr id="27" name="Google Shape;1822;p53">
            <a:extLst>
              <a:ext uri="{FF2B5EF4-FFF2-40B4-BE49-F238E27FC236}">
                <a16:creationId xmlns:a16="http://schemas.microsoft.com/office/drawing/2014/main" id="{074428C2-E6A5-8C42-938C-D5030F620669}"/>
              </a:ext>
            </a:extLst>
          </p:cNvPr>
          <p:cNvSpPr txBox="1"/>
          <p:nvPr/>
        </p:nvSpPr>
        <p:spPr>
          <a:xfrm>
            <a:off x="8113318" y="3654962"/>
            <a:ext cx="3324813"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Future State VSM</a:t>
            </a:r>
            <a:endParaRPr b="1" dirty="0">
              <a:solidFill>
                <a:schemeClr val="lt1"/>
              </a:solidFill>
              <a:latin typeface="Open Sans"/>
              <a:ea typeface="Open Sans"/>
              <a:cs typeface="Open Sans"/>
              <a:sym typeface="Open Sans"/>
            </a:endParaRPr>
          </a:p>
        </p:txBody>
      </p:sp>
      <p:sp>
        <p:nvSpPr>
          <p:cNvPr id="28" name="Google Shape;1822;p53">
            <a:extLst>
              <a:ext uri="{FF2B5EF4-FFF2-40B4-BE49-F238E27FC236}">
                <a16:creationId xmlns:a16="http://schemas.microsoft.com/office/drawing/2014/main" id="{7BCD7738-CACB-744C-88B8-B2F6218E1EF4}"/>
              </a:ext>
            </a:extLst>
          </p:cNvPr>
          <p:cNvSpPr txBox="1"/>
          <p:nvPr/>
        </p:nvSpPr>
        <p:spPr>
          <a:xfrm>
            <a:off x="2580378" y="5908115"/>
            <a:ext cx="3324813"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Value Stream Plan</a:t>
            </a:r>
            <a:endParaRPr b="1" dirty="0">
              <a:solidFill>
                <a:schemeClr val="lt1"/>
              </a:solidFill>
              <a:latin typeface="Open Sans"/>
              <a:ea typeface="Open Sans"/>
              <a:cs typeface="Open Sans"/>
              <a:sym typeface="Open Sans"/>
            </a:endParaRPr>
          </a:p>
        </p:txBody>
      </p:sp>
      <p:sp>
        <p:nvSpPr>
          <p:cNvPr id="32" name="Google Shape;1822;p53">
            <a:extLst>
              <a:ext uri="{FF2B5EF4-FFF2-40B4-BE49-F238E27FC236}">
                <a16:creationId xmlns:a16="http://schemas.microsoft.com/office/drawing/2014/main" id="{CC5E4660-F5E6-E946-BAFA-53A06A237E1B}"/>
              </a:ext>
            </a:extLst>
          </p:cNvPr>
          <p:cNvSpPr txBox="1"/>
          <p:nvPr/>
        </p:nvSpPr>
        <p:spPr>
          <a:xfrm>
            <a:off x="6514898" y="5908114"/>
            <a:ext cx="3324813"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Site Plan</a:t>
            </a:r>
            <a:endParaRPr b="1" dirty="0">
              <a:solidFill>
                <a:schemeClr val="lt1"/>
              </a:solidFill>
              <a:latin typeface="Open Sans"/>
              <a:ea typeface="Open Sans"/>
              <a:cs typeface="Open Sans"/>
              <a:sym typeface="Open Sans"/>
            </a:endParaRPr>
          </a:p>
        </p:txBody>
      </p:sp>
      <p:grpSp>
        <p:nvGrpSpPr>
          <p:cNvPr id="35" name="Google Shape;1836;p53">
            <a:extLst>
              <a:ext uri="{FF2B5EF4-FFF2-40B4-BE49-F238E27FC236}">
                <a16:creationId xmlns:a16="http://schemas.microsoft.com/office/drawing/2014/main" id="{A518725B-CA15-4144-B2FF-32E40526E90B}"/>
              </a:ext>
            </a:extLst>
          </p:cNvPr>
          <p:cNvGrpSpPr/>
          <p:nvPr/>
        </p:nvGrpSpPr>
        <p:grpSpPr>
          <a:xfrm>
            <a:off x="10338507" y="211527"/>
            <a:ext cx="1524135" cy="1486847"/>
            <a:chOff x="1455738" y="2371725"/>
            <a:chExt cx="2198688" cy="2200275"/>
          </a:xfrm>
          <a:solidFill>
            <a:srgbClr val="9F0405"/>
          </a:solidFill>
        </p:grpSpPr>
        <p:sp>
          <p:nvSpPr>
            <p:cNvPr id="36" name="Google Shape;1837;p53">
              <a:extLst>
                <a:ext uri="{FF2B5EF4-FFF2-40B4-BE49-F238E27FC236}">
                  <a16:creationId xmlns:a16="http://schemas.microsoft.com/office/drawing/2014/main" id="{69FE6CEB-2DB6-C943-BD69-4E940A1C0746}"/>
                </a:ext>
              </a:extLst>
            </p:cNvPr>
            <p:cNvSpPr/>
            <p:nvPr/>
          </p:nvSpPr>
          <p:spPr>
            <a:xfrm>
              <a:off x="2035175" y="2967038"/>
              <a:ext cx="1071563" cy="1009650"/>
            </a:xfrm>
            <a:custGeom>
              <a:avLst/>
              <a:gdLst/>
              <a:ahLst/>
              <a:cxnLst/>
              <a:rect l="l" t="t" r="r" b="b"/>
              <a:pathLst>
                <a:path w="570" h="536" extrusionOk="0">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dirty="0">
                  <a:solidFill>
                    <a:schemeClr val="lt1"/>
                  </a:solidFill>
                  <a:latin typeface="Arial"/>
                  <a:ea typeface="Arial"/>
                  <a:cs typeface="Arial"/>
                  <a:sym typeface="Arial"/>
                </a:rPr>
                <a:t>4</a:t>
              </a:r>
              <a:endParaRPr sz="3600" dirty="0">
                <a:solidFill>
                  <a:schemeClr val="lt1"/>
                </a:solidFill>
                <a:latin typeface="Arial"/>
                <a:ea typeface="Arial"/>
                <a:cs typeface="Arial"/>
                <a:sym typeface="Arial"/>
              </a:endParaRPr>
            </a:p>
          </p:txBody>
        </p:sp>
        <p:sp>
          <p:nvSpPr>
            <p:cNvPr id="37" name="Google Shape;1838;p53">
              <a:extLst>
                <a:ext uri="{FF2B5EF4-FFF2-40B4-BE49-F238E27FC236}">
                  <a16:creationId xmlns:a16="http://schemas.microsoft.com/office/drawing/2014/main" id="{0D61A210-D835-7F40-B5D9-6A0544E64902}"/>
                </a:ext>
              </a:extLst>
            </p:cNvPr>
            <p:cNvSpPr/>
            <p:nvPr/>
          </p:nvSpPr>
          <p:spPr>
            <a:xfrm>
              <a:off x="1455738" y="2371725"/>
              <a:ext cx="2198688" cy="2200275"/>
            </a:xfrm>
            <a:custGeom>
              <a:avLst/>
              <a:gdLst/>
              <a:ahLst/>
              <a:cxnLst/>
              <a:rect l="l" t="t" r="r" b="b"/>
              <a:pathLst>
                <a:path w="1169" h="1170" extrusionOk="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955366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sp>
        <p:nvSpPr>
          <p:cNvPr id="22" name="Rounded Rectangle 21">
            <a:extLst>
              <a:ext uri="{FF2B5EF4-FFF2-40B4-BE49-F238E27FC236}">
                <a16:creationId xmlns:a16="http://schemas.microsoft.com/office/drawing/2014/main" id="{CFFB6791-C867-654C-8E7B-90D6BC1CB2FA}"/>
              </a:ext>
            </a:extLst>
          </p:cNvPr>
          <p:cNvSpPr/>
          <p:nvPr/>
        </p:nvSpPr>
        <p:spPr>
          <a:xfrm>
            <a:off x="6602156" y="1318161"/>
            <a:ext cx="5426136" cy="5320145"/>
          </a:xfrm>
          <a:prstGeom prst="roundRect">
            <a:avLst/>
          </a:prstGeom>
          <a:gradFill>
            <a:gsLst>
              <a:gs pos="56000">
                <a:srgbClr val="95845C"/>
              </a:gs>
              <a:gs pos="62000">
                <a:schemeClr val="accent1"/>
              </a:gs>
              <a:gs pos="34000">
                <a:schemeClr val="accent1"/>
              </a:gs>
            </a:gsLst>
            <a:lin ang="81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2" name="Google Shape;1822;p53"/>
          <p:cNvSpPr txBox="1"/>
          <p:nvPr/>
        </p:nvSpPr>
        <p:spPr>
          <a:xfrm>
            <a:off x="-95088" y="626099"/>
            <a:ext cx="10539685"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sz="2800" b="1" dirty="0">
                <a:solidFill>
                  <a:schemeClr val="lt1"/>
                </a:solidFill>
                <a:latin typeface="Open Sans"/>
                <a:ea typeface="Open Sans"/>
                <a:cs typeface="Open Sans"/>
                <a:sym typeface="Open Sans"/>
              </a:rPr>
              <a:t>Required Kaizen Documentation - Problem Solving</a:t>
            </a:r>
            <a:endParaRPr sz="2800" b="1" dirty="0">
              <a:solidFill>
                <a:schemeClr val="lt1"/>
              </a:solidFill>
              <a:latin typeface="Open Sans"/>
              <a:ea typeface="Open Sans"/>
              <a:cs typeface="Open Sans"/>
              <a:sym typeface="Open Sans"/>
            </a:endParaRPr>
          </a:p>
        </p:txBody>
      </p:sp>
      <p:sp>
        <p:nvSpPr>
          <p:cNvPr id="1823" name="Google Shape;1823;p53"/>
          <p:cNvSpPr txBox="1"/>
          <p:nvPr/>
        </p:nvSpPr>
        <p:spPr>
          <a:xfrm>
            <a:off x="1747403" y="1078996"/>
            <a:ext cx="8697279" cy="41044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200"/>
              <a:buFont typeface="Calibri"/>
              <a:buNone/>
            </a:pPr>
            <a:endParaRPr lang="en-US" sz="1600" dirty="0">
              <a:solidFill>
                <a:schemeClr val="lt1"/>
              </a:solidFill>
              <a:latin typeface="Calibri"/>
              <a:ea typeface="Calibri"/>
              <a:cs typeface="Calibri"/>
              <a:sym typeface="Calibri"/>
            </a:endParaRPr>
          </a:p>
        </p:txBody>
      </p:sp>
      <p:sp>
        <p:nvSpPr>
          <p:cNvPr id="1854" name="Google Shape;1854;p53"/>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11</a:t>
            </a:fld>
            <a:endParaRPr/>
          </a:p>
        </p:txBody>
      </p:sp>
      <p:sp>
        <p:nvSpPr>
          <p:cNvPr id="30" name="Rectangle 4">
            <a:extLst>
              <a:ext uri="{FF2B5EF4-FFF2-40B4-BE49-F238E27FC236}">
                <a16:creationId xmlns:a16="http://schemas.microsoft.com/office/drawing/2014/main" id="{4610E5B6-568A-AD4F-96FE-67ACBBDFEBC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Google Shape;1822;p53">
            <a:extLst>
              <a:ext uri="{FF2B5EF4-FFF2-40B4-BE49-F238E27FC236}">
                <a16:creationId xmlns:a16="http://schemas.microsoft.com/office/drawing/2014/main" id="{84F0F847-3579-1441-BD6B-791BF9EB0C23}"/>
              </a:ext>
            </a:extLst>
          </p:cNvPr>
          <p:cNvSpPr txBox="1"/>
          <p:nvPr/>
        </p:nvSpPr>
        <p:spPr>
          <a:xfrm>
            <a:off x="9801181" y="2877809"/>
            <a:ext cx="1405952"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The 5 Whys?</a:t>
            </a:r>
            <a:endParaRPr b="1" dirty="0">
              <a:solidFill>
                <a:schemeClr val="lt1"/>
              </a:solidFill>
              <a:latin typeface="Open Sans"/>
              <a:ea typeface="Open Sans"/>
              <a:cs typeface="Open Sans"/>
              <a:sym typeface="Open Sans"/>
            </a:endParaRPr>
          </a:p>
        </p:txBody>
      </p:sp>
      <p:sp>
        <p:nvSpPr>
          <p:cNvPr id="26" name="Google Shape;1822;p53">
            <a:extLst>
              <a:ext uri="{FF2B5EF4-FFF2-40B4-BE49-F238E27FC236}">
                <a16:creationId xmlns:a16="http://schemas.microsoft.com/office/drawing/2014/main" id="{CE1FAFE3-A6B0-004E-B506-B5CDC01B0F33}"/>
              </a:ext>
            </a:extLst>
          </p:cNvPr>
          <p:cNvSpPr txBox="1"/>
          <p:nvPr/>
        </p:nvSpPr>
        <p:spPr>
          <a:xfrm>
            <a:off x="8335948" y="5996865"/>
            <a:ext cx="2108649"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Run Chart</a:t>
            </a:r>
            <a:endParaRPr b="1" dirty="0">
              <a:solidFill>
                <a:schemeClr val="lt1"/>
              </a:solidFill>
              <a:latin typeface="Open Sans"/>
              <a:ea typeface="Open Sans"/>
              <a:cs typeface="Open Sans"/>
              <a:sym typeface="Open Sans"/>
            </a:endParaRPr>
          </a:p>
        </p:txBody>
      </p:sp>
      <p:sp>
        <p:nvSpPr>
          <p:cNvPr id="27" name="Google Shape;1822;p53">
            <a:extLst>
              <a:ext uri="{FF2B5EF4-FFF2-40B4-BE49-F238E27FC236}">
                <a16:creationId xmlns:a16="http://schemas.microsoft.com/office/drawing/2014/main" id="{074428C2-E6A5-8C42-938C-D5030F620669}"/>
              </a:ext>
            </a:extLst>
          </p:cNvPr>
          <p:cNvSpPr txBox="1"/>
          <p:nvPr/>
        </p:nvSpPr>
        <p:spPr>
          <a:xfrm>
            <a:off x="9327459" y="4554915"/>
            <a:ext cx="2332029"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Check Sheet</a:t>
            </a:r>
            <a:endParaRPr b="1" dirty="0">
              <a:solidFill>
                <a:schemeClr val="lt1"/>
              </a:solidFill>
              <a:latin typeface="Open Sans"/>
              <a:ea typeface="Open Sans"/>
              <a:cs typeface="Open Sans"/>
              <a:sym typeface="Open Sans"/>
            </a:endParaRPr>
          </a:p>
        </p:txBody>
      </p:sp>
      <p:sp>
        <p:nvSpPr>
          <p:cNvPr id="28" name="Google Shape;1822;p53">
            <a:extLst>
              <a:ext uri="{FF2B5EF4-FFF2-40B4-BE49-F238E27FC236}">
                <a16:creationId xmlns:a16="http://schemas.microsoft.com/office/drawing/2014/main" id="{7BCD7738-CACB-744C-88B8-B2F6218E1EF4}"/>
              </a:ext>
            </a:extLst>
          </p:cNvPr>
          <p:cNvSpPr txBox="1"/>
          <p:nvPr/>
        </p:nvSpPr>
        <p:spPr>
          <a:xfrm>
            <a:off x="1180583" y="5383827"/>
            <a:ext cx="4109785"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A3 Countermeasure Form - MANDATORY</a:t>
            </a:r>
            <a:endParaRPr b="1" dirty="0">
              <a:solidFill>
                <a:schemeClr val="lt1"/>
              </a:solidFill>
              <a:latin typeface="Open Sans"/>
              <a:ea typeface="Open Sans"/>
              <a:cs typeface="Open Sans"/>
              <a:sym typeface="Open Sans"/>
            </a:endParaRPr>
          </a:p>
        </p:txBody>
      </p:sp>
      <p:sp>
        <p:nvSpPr>
          <p:cNvPr id="32" name="Google Shape;1822;p53">
            <a:extLst>
              <a:ext uri="{FF2B5EF4-FFF2-40B4-BE49-F238E27FC236}">
                <a16:creationId xmlns:a16="http://schemas.microsoft.com/office/drawing/2014/main" id="{CC5E4660-F5E6-E946-BAFA-53A06A237E1B}"/>
              </a:ext>
            </a:extLst>
          </p:cNvPr>
          <p:cNvSpPr txBox="1"/>
          <p:nvPr/>
        </p:nvSpPr>
        <p:spPr>
          <a:xfrm>
            <a:off x="6602156" y="2885849"/>
            <a:ext cx="3324813"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Pareto Analysis</a:t>
            </a:r>
            <a:endParaRPr b="1" dirty="0">
              <a:solidFill>
                <a:schemeClr val="lt1"/>
              </a:solidFill>
              <a:latin typeface="Open Sans"/>
              <a:ea typeface="Open Sans"/>
              <a:cs typeface="Open Sans"/>
              <a:sym typeface="Open Sans"/>
            </a:endParaRPr>
          </a:p>
        </p:txBody>
      </p:sp>
      <p:pic>
        <p:nvPicPr>
          <p:cNvPr id="9" name="Picture 8">
            <a:extLst>
              <a:ext uri="{FF2B5EF4-FFF2-40B4-BE49-F238E27FC236}">
                <a16:creationId xmlns:a16="http://schemas.microsoft.com/office/drawing/2014/main" id="{412718AE-94BC-954E-9C43-4EF46BDEE220}"/>
              </a:ext>
            </a:extLst>
          </p:cNvPr>
          <p:cNvPicPr>
            <a:picLocks noChangeAspect="1"/>
          </p:cNvPicPr>
          <p:nvPr/>
        </p:nvPicPr>
        <p:blipFill>
          <a:blip r:embed="rId3">
            <a:duotone>
              <a:schemeClr val="bg2">
                <a:shade val="45000"/>
                <a:satMod val="135000"/>
              </a:schemeClr>
              <a:prstClr val="white"/>
            </a:duotone>
          </a:blip>
          <a:stretch>
            <a:fillRect/>
          </a:stretch>
        </p:blipFill>
        <p:spPr>
          <a:xfrm>
            <a:off x="498867" y="2466778"/>
            <a:ext cx="5473219" cy="3022909"/>
          </a:xfrm>
          <a:prstGeom prst="rect">
            <a:avLst/>
          </a:prstGeom>
          <a:noFill/>
        </p:spPr>
      </p:pic>
      <p:pic>
        <p:nvPicPr>
          <p:cNvPr id="10" name="Picture 9">
            <a:extLst>
              <a:ext uri="{FF2B5EF4-FFF2-40B4-BE49-F238E27FC236}">
                <a16:creationId xmlns:a16="http://schemas.microsoft.com/office/drawing/2014/main" id="{22BF989F-3F82-4D49-AABB-43FCA870720E}"/>
              </a:ext>
            </a:extLst>
          </p:cNvPr>
          <p:cNvPicPr>
            <a:picLocks noChangeAspect="1"/>
          </p:cNvPicPr>
          <p:nvPr/>
        </p:nvPicPr>
        <p:blipFill>
          <a:blip r:embed="rId4"/>
          <a:stretch>
            <a:fillRect/>
          </a:stretch>
        </p:blipFill>
        <p:spPr>
          <a:xfrm>
            <a:off x="9426774" y="1976167"/>
            <a:ext cx="2035645" cy="1113052"/>
          </a:xfrm>
          <a:prstGeom prst="rect">
            <a:avLst/>
          </a:prstGeom>
        </p:spPr>
      </p:pic>
      <p:pic>
        <p:nvPicPr>
          <p:cNvPr id="14" name="Picture 13">
            <a:extLst>
              <a:ext uri="{FF2B5EF4-FFF2-40B4-BE49-F238E27FC236}">
                <a16:creationId xmlns:a16="http://schemas.microsoft.com/office/drawing/2014/main" id="{9F736932-25B1-A941-BFF3-9ABFEDF40958}"/>
              </a:ext>
            </a:extLst>
          </p:cNvPr>
          <p:cNvPicPr>
            <a:picLocks noChangeAspect="1"/>
          </p:cNvPicPr>
          <p:nvPr/>
        </p:nvPicPr>
        <p:blipFill>
          <a:blip r:embed="rId5"/>
          <a:stretch>
            <a:fillRect/>
          </a:stretch>
        </p:blipFill>
        <p:spPr>
          <a:xfrm>
            <a:off x="7137173" y="3576257"/>
            <a:ext cx="2033938" cy="1087682"/>
          </a:xfrm>
          <a:prstGeom prst="rect">
            <a:avLst/>
          </a:prstGeom>
        </p:spPr>
      </p:pic>
      <p:pic>
        <p:nvPicPr>
          <p:cNvPr id="16" name="Picture 15">
            <a:extLst>
              <a:ext uri="{FF2B5EF4-FFF2-40B4-BE49-F238E27FC236}">
                <a16:creationId xmlns:a16="http://schemas.microsoft.com/office/drawing/2014/main" id="{87F64A80-DF3D-EA49-B9DB-FB4725788A53}"/>
              </a:ext>
            </a:extLst>
          </p:cNvPr>
          <p:cNvPicPr>
            <a:picLocks noChangeAspect="1"/>
          </p:cNvPicPr>
          <p:nvPr/>
        </p:nvPicPr>
        <p:blipFill>
          <a:blip r:embed="rId6"/>
          <a:stretch>
            <a:fillRect/>
          </a:stretch>
        </p:blipFill>
        <p:spPr>
          <a:xfrm>
            <a:off x="9487586" y="3575947"/>
            <a:ext cx="2033939" cy="1123811"/>
          </a:xfrm>
          <a:prstGeom prst="rect">
            <a:avLst/>
          </a:prstGeom>
        </p:spPr>
      </p:pic>
      <p:pic>
        <p:nvPicPr>
          <p:cNvPr id="18" name="Picture 17">
            <a:extLst>
              <a:ext uri="{FF2B5EF4-FFF2-40B4-BE49-F238E27FC236}">
                <a16:creationId xmlns:a16="http://schemas.microsoft.com/office/drawing/2014/main" id="{ED25D838-99DB-6140-8172-AB9F23874D32}"/>
              </a:ext>
            </a:extLst>
          </p:cNvPr>
          <p:cNvPicPr>
            <a:picLocks noChangeAspect="1"/>
          </p:cNvPicPr>
          <p:nvPr/>
        </p:nvPicPr>
        <p:blipFill>
          <a:blip r:embed="rId7"/>
          <a:stretch>
            <a:fillRect/>
          </a:stretch>
        </p:blipFill>
        <p:spPr>
          <a:xfrm>
            <a:off x="8373304" y="5097115"/>
            <a:ext cx="2033939" cy="1091583"/>
          </a:xfrm>
          <a:prstGeom prst="rect">
            <a:avLst/>
          </a:prstGeom>
        </p:spPr>
      </p:pic>
      <p:pic>
        <p:nvPicPr>
          <p:cNvPr id="19" name="Picture 18">
            <a:extLst>
              <a:ext uri="{FF2B5EF4-FFF2-40B4-BE49-F238E27FC236}">
                <a16:creationId xmlns:a16="http://schemas.microsoft.com/office/drawing/2014/main" id="{A73CB217-C237-BA45-9237-76454F6CC48E}"/>
              </a:ext>
            </a:extLst>
          </p:cNvPr>
          <p:cNvPicPr>
            <a:picLocks noChangeAspect="1"/>
          </p:cNvPicPr>
          <p:nvPr/>
        </p:nvPicPr>
        <p:blipFill>
          <a:blip r:embed="rId8"/>
          <a:stretch>
            <a:fillRect/>
          </a:stretch>
        </p:blipFill>
        <p:spPr>
          <a:xfrm>
            <a:off x="7129425" y="1976322"/>
            <a:ext cx="2041686" cy="1113052"/>
          </a:xfrm>
          <a:prstGeom prst="rect">
            <a:avLst/>
          </a:prstGeom>
        </p:spPr>
      </p:pic>
      <p:sp>
        <p:nvSpPr>
          <p:cNvPr id="31" name="Google Shape;1822;p53">
            <a:extLst>
              <a:ext uri="{FF2B5EF4-FFF2-40B4-BE49-F238E27FC236}">
                <a16:creationId xmlns:a16="http://schemas.microsoft.com/office/drawing/2014/main" id="{5C4978D8-E5CE-E340-BC7F-D57D4F6CFCC4}"/>
              </a:ext>
            </a:extLst>
          </p:cNvPr>
          <p:cNvSpPr txBox="1"/>
          <p:nvPr/>
        </p:nvSpPr>
        <p:spPr>
          <a:xfrm>
            <a:off x="6984253" y="4508434"/>
            <a:ext cx="2332029"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Fishbone Analysis</a:t>
            </a:r>
            <a:endParaRPr b="1" dirty="0">
              <a:solidFill>
                <a:schemeClr val="lt1"/>
              </a:solidFill>
              <a:latin typeface="Open Sans"/>
              <a:ea typeface="Open Sans"/>
              <a:cs typeface="Open Sans"/>
              <a:sym typeface="Open Sans"/>
            </a:endParaRPr>
          </a:p>
        </p:txBody>
      </p:sp>
      <p:sp>
        <p:nvSpPr>
          <p:cNvPr id="33" name="Google Shape;1822;p53">
            <a:extLst>
              <a:ext uri="{FF2B5EF4-FFF2-40B4-BE49-F238E27FC236}">
                <a16:creationId xmlns:a16="http://schemas.microsoft.com/office/drawing/2014/main" id="{F019CD7B-E417-5B4B-BECD-DCF010DAEAFA}"/>
              </a:ext>
            </a:extLst>
          </p:cNvPr>
          <p:cNvSpPr txBox="1"/>
          <p:nvPr/>
        </p:nvSpPr>
        <p:spPr>
          <a:xfrm>
            <a:off x="7260331" y="1333527"/>
            <a:ext cx="4109785"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Problem-Specific Tools as Required</a:t>
            </a:r>
            <a:endParaRPr b="1" dirty="0">
              <a:solidFill>
                <a:schemeClr val="lt1"/>
              </a:solidFill>
              <a:latin typeface="Open Sans"/>
              <a:ea typeface="Open Sans"/>
              <a:cs typeface="Open Sans"/>
              <a:sym typeface="Open Sans"/>
            </a:endParaRPr>
          </a:p>
        </p:txBody>
      </p:sp>
      <p:grpSp>
        <p:nvGrpSpPr>
          <p:cNvPr id="34" name="Google Shape;1836;p53">
            <a:extLst>
              <a:ext uri="{FF2B5EF4-FFF2-40B4-BE49-F238E27FC236}">
                <a16:creationId xmlns:a16="http://schemas.microsoft.com/office/drawing/2014/main" id="{70C59D36-D5D7-1C4C-823B-C14ED9CB24EE}"/>
              </a:ext>
            </a:extLst>
          </p:cNvPr>
          <p:cNvGrpSpPr/>
          <p:nvPr/>
        </p:nvGrpSpPr>
        <p:grpSpPr>
          <a:xfrm>
            <a:off x="10493473" y="124484"/>
            <a:ext cx="1524135" cy="1486847"/>
            <a:chOff x="1455738" y="2371725"/>
            <a:chExt cx="2198688" cy="2200275"/>
          </a:xfrm>
          <a:solidFill>
            <a:srgbClr val="9F0405"/>
          </a:solidFill>
        </p:grpSpPr>
        <p:sp>
          <p:nvSpPr>
            <p:cNvPr id="35" name="Google Shape;1837;p53">
              <a:extLst>
                <a:ext uri="{FF2B5EF4-FFF2-40B4-BE49-F238E27FC236}">
                  <a16:creationId xmlns:a16="http://schemas.microsoft.com/office/drawing/2014/main" id="{5D0A46EF-63B8-304F-BE24-F52FCD5843F5}"/>
                </a:ext>
              </a:extLst>
            </p:cNvPr>
            <p:cNvSpPr/>
            <p:nvPr/>
          </p:nvSpPr>
          <p:spPr>
            <a:xfrm>
              <a:off x="2035175" y="2967038"/>
              <a:ext cx="1071563" cy="1009650"/>
            </a:xfrm>
            <a:custGeom>
              <a:avLst/>
              <a:gdLst/>
              <a:ahLst/>
              <a:cxnLst/>
              <a:rect l="l" t="t" r="r" b="b"/>
              <a:pathLst>
                <a:path w="570" h="536" extrusionOk="0">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dirty="0">
                  <a:solidFill>
                    <a:schemeClr val="lt1"/>
                  </a:solidFill>
                  <a:latin typeface="Arial"/>
                  <a:ea typeface="Arial"/>
                  <a:cs typeface="Arial"/>
                  <a:sym typeface="Arial"/>
                </a:rPr>
                <a:t>4</a:t>
              </a:r>
              <a:endParaRPr sz="3600" dirty="0">
                <a:solidFill>
                  <a:schemeClr val="lt1"/>
                </a:solidFill>
                <a:latin typeface="Arial"/>
                <a:ea typeface="Arial"/>
                <a:cs typeface="Arial"/>
                <a:sym typeface="Arial"/>
              </a:endParaRPr>
            </a:p>
          </p:txBody>
        </p:sp>
        <p:sp>
          <p:nvSpPr>
            <p:cNvPr id="36" name="Google Shape;1838;p53">
              <a:extLst>
                <a:ext uri="{FF2B5EF4-FFF2-40B4-BE49-F238E27FC236}">
                  <a16:creationId xmlns:a16="http://schemas.microsoft.com/office/drawing/2014/main" id="{61AC1DA9-9DFC-A34B-BFEB-EE5472765493}"/>
                </a:ext>
              </a:extLst>
            </p:cNvPr>
            <p:cNvSpPr/>
            <p:nvPr/>
          </p:nvSpPr>
          <p:spPr>
            <a:xfrm>
              <a:off x="1455738" y="2371725"/>
              <a:ext cx="2198688" cy="2200275"/>
            </a:xfrm>
            <a:custGeom>
              <a:avLst/>
              <a:gdLst/>
              <a:ahLst/>
              <a:cxnLst/>
              <a:rect l="l" t="t" r="r" b="b"/>
              <a:pathLst>
                <a:path w="1169" h="1170" extrusionOk="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1062864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sp>
        <p:nvSpPr>
          <p:cNvPr id="1822" name="Google Shape;1822;p53"/>
          <p:cNvSpPr txBox="1"/>
          <p:nvPr/>
        </p:nvSpPr>
        <p:spPr>
          <a:xfrm>
            <a:off x="-783857" y="603256"/>
            <a:ext cx="10539685"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sz="2800" b="1" dirty="0">
                <a:solidFill>
                  <a:schemeClr val="lt1"/>
                </a:solidFill>
                <a:latin typeface="Open Sans"/>
                <a:ea typeface="Open Sans"/>
                <a:cs typeface="Open Sans"/>
                <a:sym typeface="Open Sans"/>
              </a:rPr>
              <a:t>Required Kaizen Documentation - 5S</a:t>
            </a:r>
            <a:endParaRPr sz="2800" b="1" dirty="0">
              <a:solidFill>
                <a:schemeClr val="lt1"/>
              </a:solidFill>
              <a:latin typeface="Open Sans"/>
              <a:ea typeface="Open Sans"/>
              <a:cs typeface="Open Sans"/>
              <a:sym typeface="Open Sans"/>
            </a:endParaRPr>
          </a:p>
        </p:txBody>
      </p:sp>
      <p:sp>
        <p:nvSpPr>
          <p:cNvPr id="1823" name="Google Shape;1823;p53"/>
          <p:cNvSpPr txBox="1"/>
          <p:nvPr/>
        </p:nvSpPr>
        <p:spPr>
          <a:xfrm>
            <a:off x="1747403" y="1078996"/>
            <a:ext cx="8697279" cy="41044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200"/>
              <a:buFont typeface="Calibri"/>
              <a:buNone/>
            </a:pPr>
            <a:endParaRPr lang="en-US" sz="1600" dirty="0">
              <a:solidFill>
                <a:schemeClr val="lt1"/>
              </a:solidFill>
              <a:latin typeface="Calibri"/>
              <a:ea typeface="Calibri"/>
              <a:cs typeface="Calibri"/>
              <a:sym typeface="Calibri"/>
            </a:endParaRPr>
          </a:p>
        </p:txBody>
      </p:sp>
      <p:sp>
        <p:nvSpPr>
          <p:cNvPr id="1854" name="Google Shape;1854;p53"/>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12</a:t>
            </a:fld>
            <a:endParaRPr/>
          </a:p>
        </p:txBody>
      </p:sp>
      <p:sp>
        <p:nvSpPr>
          <p:cNvPr id="30" name="Rectangle 4">
            <a:extLst>
              <a:ext uri="{FF2B5EF4-FFF2-40B4-BE49-F238E27FC236}">
                <a16:creationId xmlns:a16="http://schemas.microsoft.com/office/drawing/2014/main" id="{4610E5B6-568A-AD4F-96FE-67ACBBDFEBC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 name="Google Shape;1822;p53">
            <a:extLst>
              <a:ext uri="{FF2B5EF4-FFF2-40B4-BE49-F238E27FC236}">
                <a16:creationId xmlns:a16="http://schemas.microsoft.com/office/drawing/2014/main" id="{CE1FAFE3-A6B0-004E-B506-B5CDC01B0F33}"/>
              </a:ext>
            </a:extLst>
          </p:cNvPr>
          <p:cNvSpPr txBox="1"/>
          <p:nvPr/>
        </p:nvSpPr>
        <p:spPr>
          <a:xfrm>
            <a:off x="8237565" y="5608520"/>
            <a:ext cx="2108649"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5S Patrol Report (Citation)</a:t>
            </a:r>
            <a:endParaRPr b="1" dirty="0">
              <a:solidFill>
                <a:schemeClr val="lt1"/>
              </a:solidFill>
              <a:latin typeface="Open Sans"/>
              <a:ea typeface="Open Sans"/>
              <a:cs typeface="Open Sans"/>
              <a:sym typeface="Open Sans"/>
            </a:endParaRPr>
          </a:p>
        </p:txBody>
      </p:sp>
      <p:sp>
        <p:nvSpPr>
          <p:cNvPr id="27" name="Google Shape;1822;p53">
            <a:extLst>
              <a:ext uri="{FF2B5EF4-FFF2-40B4-BE49-F238E27FC236}">
                <a16:creationId xmlns:a16="http://schemas.microsoft.com/office/drawing/2014/main" id="{074428C2-E6A5-8C42-938C-D5030F620669}"/>
              </a:ext>
            </a:extLst>
          </p:cNvPr>
          <p:cNvSpPr txBox="1"/>
          <p:nvPr/>
        </p:nvSpPr>
        <p:spPr>
          <a:xfrm>
            <a:off x="4823450" y="5474078"/>
            <a:ext cx="2332029"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Red Tag Form</a:t>
            </a:r>
            <a:endParaRPr b="1" dirty="0">
              <a:solidFill>
                <a:schemeClr val="lt1"/>
              </a:solidFill>
              <a:latin typeface="Open Sans"/>
              <a:ea typeface="Open Sans"/>
              <a:cs typeface="Open Sans"/>
              <a:sym typeface="Open Sans"/>
            </a:endParaRPr>
          </a:p>
        </p:txBody>
      </p:sp>
      <p:sp>
        <p:nvSpPr>
          <p:cNvPr id="28" name="Google Shape;1822;p53">
            <a:extLst>
              <a:ext uri="{FF2B5EF4-FFF2-40B4-BE49-F238E27FC236}">
                <a16:creationId xmlns:a16="http://schemas.microsoft.com/office/drawing/2014/main" id="{7BCD7738-CACB-744C-88B8-B2F6218E1EF4}"/>
              </a:ext>
            </a:extLst>
          </p:cNvPr>
          <p:cNvSpPr txBox="1"/>
          <p:nvPr/>
        </p:nvSpPr>
        <p:spPr>
          <a:xfrm>
            <a:off x="1590584" y="5474079"/>
            <a:ext cx="2251386"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5S Patrol Check list</a:t>
            </a:r>
            <a:endParaRPr b="1" dirty="0">
              <a:solidFill>
                <a:schemeClr val="lt1"/>
              </a:solidFill>
              <a:latin typeface="Open Sans"/>
              <a:ea typeface="Open Sans"/>
              <a:cs typeface="Open Sans"/>
              <a:sym typeface="Open Sans"/>
            </a:endParaRPr>
          </a:p>
        </p:txBody>
      </p:sp>
      <p:pic>
        <p:nvPicPr>
          <p:cNvPr id="2" name="Picture 1">
            <a:extLst>
              <a:ext uri="{FF2B5EF4-FFF2-40B4-BE49-F238E27FC236}">
                <a16:creationId xmlns:a16="http://schemas.microsoft.com/office/drawing/2014/main" id="{9C194B79-C726-0A4A-AFF9-CF297D36DA71}"/>
              </a:ext>
            </a:extLst>
          </p:cNvPr>
          <p:cNvPicPr>
            <a:picLocks noChangeAspect="1"/>
          </p:cNvPicPr>
          <p:nvPr/>
        </p:nvPicPr>
        <p:blipFill>
          <a:blip r:embed="rId3"/>
          <a:stretch>
            <a:fillRect/>
          </a:stretch>
        </p:blipFill>
        <p:spPr>
          <a:xfrm>
            <a:off x="1309822" y="1766108"/>
            <a:ext cx="2812910" cy="3800272"/>
          </a:xfrm>
          <a:prstGeom prst="rect">
            <a:avLst/>
          </a:prstGeom>
          <a:solidFill>
            <a:schemeClr val="bg1"/>
          </a:solidFill>
        </p:spPr>
      </p:pic>
      <p:pic>
        <p:nvPicPr>
          <p:cNvPr id="3" name="Picture 2">
            <a:extLst>
              <a:ext uri="{FF2B5EF4-FFF2-40B4-BE49-F238E27FC236}">
                <a16:creationId xmlns:a16="http://schemas.microsoft.com/office/drawing/2014/main" id="{99A3F008-6AD8-7545-AACA-C7C4D747FE5D}"/>
              </a:ext>
            </a:extLst>
          </p:cNvPr>
          <p:cNvPicPr>
            <a:picLocks noChangeAspect="1"/>
          </p:cNvPicPr>
          <p:nvPr/>
        </p:nvPicPr>
        <p:blipFill>
          <a:blip r:embed="rId4"/>
          <a:stretch>
            <a:fillRect/>
          </a:stretch>
        </p:blipFill>
        <p:spPr>
          <a:xfrm>
            <a:off x="4570276" y="1766108"/>
            <a:ext cx="2838378" cy="3800272"/>
          </a:xfrm>
          <a:prstGeom prst="rect">
            <a:avLst/>
          </a:prstGeom>
          <a:solidFill>
            <a:srgbClr val="FF0000"/>
          </a:solidFill>
        </p:spPr>
      </p:pic>
      <p:pic>
        <p:nvPicPr>
          <p:cNvPr id="4" name="Picture 3">
            <a:extLst>
              <a:ext uri="{FF2B5EF4-FFF2-40B4-BE49-F238E27FC236}">
                <a16:creationId xmlns:a16="http://schemas.microsoft.com/office/drawing/2014/main" id="{68915D6F-62F5-8D4F-BD51-267C9452DDB1}"/>
              </a:ext>
            </a:extLst>
          </p:cNvPr>
          <p:cNvPicPr>
            <a:picLocks noChangeAspect="1"/>
          </p:cNvPicPr>
          <p:nvPr/>
        </p:nvPicPr>
        <p:blipFill>
          <a:blip r:embed="rId5"/>
          <a:stretch>
            <a:fillRect/>
          </a:stretch>
        </p:blipFill>
        <p:spPr>
          <a:xfrm>
            <a:off x="7856198" y="1766108"/>
            <a:ext cx="2871384" cy="3800272"/>
          </a:xfrm>
          <a:prstGeom prst="rect">
            <a:avLst/>
          </a:prstGeom>
        </p:spPr>
      </p:pic>
      <p:grpSp>
        <p:nvGrpSpPr>
          <p:cNvPr id="29" name="Google Shape;1836;p53">
            <a:extLst>
              <a:ext uri="{FF2B5EF4-FFF2-40B4-BE49-F238E27FC236}">
                <a16:creationId xmlns:a16="http://schemas.microsoft.com/office/drawing/2014/main" id="{86323E67-7757-E34A-A131-0DE08C05AE4B}"/>
              </a:ext>
            </a:extLst>
          </p:cNvPr>
          <p:cNvGrpSpPr/>
          <p:nvPr/>
        </p:nvGrpSpPr>
        <p:grpSpPr>
          <a:xfrm>
            <a:off x="10338507" y="211527"/>
            <a:ext cx="1524135" cy="1486847"/>
            <a:chOff x="1455738" y="2371725"/>
            <a:chExt cx="2198688" cy="2200275"/>
          </a:xfrm>
          <a:solidFill>
            <a:srgbClr val="9F0405"/>
          </a:solidFill>
        </p:grpSpPr>
        <p:sp>
          <p:nvSpPr>
            <p:cNvPr id="34" name="Google Shape;1837;p53">
              <a:extLst>
                <a:ext uri="{FF2B5EF4-FFF2-40B4-BE49-F238E27FC236}">
                  <a16:creationId xmlns:a16="http://schemas.microsoft.com/office/drawing/2014/main" id="{54E81B8A-5950-6F4F-ACF8-5D21F4964CC9}"/>
                </a:ext>
              </a:extLst>
            </p:cNvPr>
            <p:cNvSpPr/>
            <p:nvPr/>
          </p:nvSpPr>
          <p:spPr>
            <a:xfrm>
              <a:off x="2035175" y="2967038"/>
              <a:ext cx="1071563" cy="1009650"/>
            </a:xfrm>
            <a:custGeom>
              <a:avLst/>
              <a:gdLst/>
              <a:ahLst/>
              <a:cxnLst/>
              <a:rect l="l" t="t" r="r" b="b"/>
              <a:pathLst>
                <a:path w="570" h="536" extrusionOk="0">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dirty="0">
                  <a:solidFill>
                    <a:schemeClr val="lt1"/>
                  </a:solidFill>
                  <a:latin typeface="Arial"/>
                  <a:ea typeface="Arial"/>
                  <a:cs typeface="Arial"/>
                  <a:sym typeface="Arial"/>
                </a:rPr>
                <a:t>4</a:t>
              </a:r>
              <a:endParaRPr sz="3600" dirty="0">
                <a:solidFill>
                  <a:schemeClr val="lt1"/>
                </a:solidFill>
                <a:latin typeface="Arial"/>
                <a:ea typeface="Arial"/>
                <a:cs typeface="Arial"/>
                <a:sym typeface="Arial"/>
              </a:endParaRPr>
            </a:p>
          </p:txBody>
        </p:sp>
        <p:sp>
          <p:nvSpPr>
            <p:cNvPr id="35" name="Google Shape;1838;p53">
              <a:extLst>
                <a:ext uri="{FF2B5EF4-FFF2-40B4-BE49-F238E27FC236}">
                  <a16:creationId xmlns:a16="http://schemas.microsoft.com/office/drawing/2014/main" id="{D3534F39-FDED-CF4B-AD27-D8DDA4860652}"/>
                </a:ext>
              </a:extLst>
            </p:cNvPr>
            <p:cNvSpPr/>
            <p:nvPr/>
          </p:nvSpPr>
          <p:spPr>
            <a:xfrm>
              <a:off x="1455738" y="2371725"/>
              <a:ext cx="2198688" cy="2200275"/>
            </a:xfrm>
            <a:custGeom>
              <a:avLst/>
              <a:gdLst/>
              <a:ahLst/>
              <a:cxnLst/>
              <a:rect l="l" t="t" r="r" b="b"/>
              <a:pathLst>
                <a:path w="1169" h="1170" extrusionOk="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287071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sp>
        <p:nvSpPr>
          <p:cNvPr id="1822" name="Google Shape;1822;p53"/>
          <p:cNvSpPr txBox="1"/>
          <p:nvPr/>
        </p:nvSpPr>
        <p:spPr>
          <a:xfrm>
            <a:off x="-1518964" y="580426"/>
            <a:ext cx="10539685"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sz="2800" b="1" dirty="0">
                <a:solidFill>
                  <a:schemeClr val="lt1"/>
                </a:solidFill>
                <a:latin typeface="Open Sans"/>
                <a:ea typeface="Open Sans"/>
                <a:cs typeface="Open Sans"/>
                <a:sym typeface="Open Sans"/>
              </a:rPr>
              <a:t>Required Kaizen Documentation - TPI</a:t>
            </a:r>
            <a:endParaRPr sz="2800" b="1" dirty="0">
              <a:solidFill>
                <a:schemeClr val="lt1"/>
              </a:solidFill>
              <a:latin typeface="Open Sans"/>
              <a:ea typeface="Open Sans"/>
              <a:cs typeface="Open Sans"/>
              <a:sym typeface="Open Sans"/>
            </a:endParaRPr>
          </a:p>
        </p:txBody>
      </p:sp>
      <p:sp>
        <p:nvSpPr>
          <p:cNvPr id="1823" name="Google Shape;1823;p53"/>
          <p:cNvSpPr txBox="1"/>
          <p:nvPr/>
        </p:nvSpPr>
        <p:spPr>
          <a:xfrm>
            <a:off x="1648935" y="1086398"/>
            <a:ext cx="8697279" cy="41044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200"/>
              <a:buFont typeface="Calibri"/>
              <a:buNone/>
            </a:pPr>
            <a:endParaRPr lang="en-US" sz="1600" dirty="0">
              <a:solidFill>
                <a:schemeClr val="lt1"/>
              </a:solidFill>
              <a:latin typeface="Calibri"/>
              <a:ea typeface="Calibri"/>
              <a:cs typeface="Calibri"/>
              <a:sym typeface="Calibri"/>
            </a:endParaRPr>
          </a:p>
        </p:txBody>
      </p:sp>
      <p:sp>
        <p:nvSpPr>
          <p:cNvPr id="1854" name="Google Shape;1854;p53"/>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13</a:t>
            </a:fld>
            <a:endParaRPr/>
          </a:p>
        </p:txBody>
      </p:sp>
      <p:sp>
        <p:nvSpPr>
          <p:cNvPr id="30" name="Rectangle 4">
            <a:extLst>
              <a:ext uri="{FF2B5EF4-FFF2-40B4-BE49-F238E27FC236}">
                <a16:creationId xmlns:a16="http://schemas.microsoft.com/office/drawing/2014/main" id="{4610E5B6-568A-AD4F-96FE-67ACBBDFEBC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 name="Google Shape;1822;p53">
            <a:extLst>
              <a:ext uri="{FF2B5EF4-FFF2-40B4-BE49-F238E27FC236}">
                <a16:creationId xmlns:a16="http://schemas.microsoft.com/office/drawing/2014/main" id="{CE1FAFE3-A6B0-004E-B506-B5CDC01B0F33}"/>
              </a:ext>
            </a:extLst>
          </p:cNvPr>
          <p:cNvSpPr txBox="1"/>
          <p:nvPr/>
        </p:nvSpPr>
        <p:spPr>
          <a:xfrm>
            <a:off x="6863754" y="5454330"/>
            <a:ext cx="2108649"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Process Walk Form</a:t>
            </a:r>
            <a:endParaRPr b="1" dirty="0">
              <a:solidFill>
                <a:schemeClr val="lt1"/>
              </a:solidFill>
              <a:latin typeface="Open Sans"/>
              <a:ea typeface="Open Sans"/>
              <a:cs typeface="Open Sans"/>
              <a:sym typeface="Open Sans"/>
            </a:endParaRPr>
          </a:p>
        </p:txBody>
      </p:sp>
      <p:sp>
        <p:nvSpPr>
          <p:cNvPr id="27" name="Google Shape;1822;p53">
            <a:extLst>
              <a:ext uri="{FF2B5EF4-FFF2-40B4-BE49-F238E27FC236}">
                <a16:creationId xmlns:a16="http://schemas.microsoft.com/office/drawing/2014/main" id="{074428C2-E6A5-8C42-938C-D5030F620669}"/>
              </a:ext>
            </a:extLst>
          </p:cNvPr>
          <p:cNvSpPr txBox="1"/>
          <p:nvPr/>
        </p:nvSpPr>
        <p:spPr>
          <a:xfrm>
            <a:off x="6752063" y="3113498"/>
            <a:ext cx="2332029"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Process Map</a:t>
            </a:r>
            <a:endParaRPr b="1" dirty="0">
              <a:solidFill>
                <a:schemeClr val="lt1"/>
              </a:solidFill>
              <a:latin typeface="Open Sans"/>
              <a:ea typeface="Open Sans"/>
              <a:cs typeface="Open Sans"/>
              <a:sym typeface="Open Sans"/>
            </a:endParaRPr>
          </a:p>
        </p:txBody>
      </p:sp>
      <p:sp>
        <p:nvSpPr>
          <p:cNvPr id="28" name="Google Shape;1822;p53">
            <a:extLst>
              <a:ext uri="{FF2B5EF4-FFF2-40B4-BE49-F238E27FC236}">
                <a16:creationId xmlns:a16="http://schemas.microsoft.com/office/drawing/2014/main" id="{7BCD7738-CACB-744C-88B8-B2F6218E1EF4}"/>
              </a:ext>
            </a:extLst>
          </p:cNvPr>
          <p:cNvSpPr txBox="1"/>
          <p:nvPr/>
        </p:nvSpPr>
        <p:spPr>
          <a:xfrm>
            <a:off x="2247262" y="3241381"/>
            <a:ext cx="3373301" cy="377624"/>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Process Data Summary - BEFORE</a:t>
            </a:r>
            <a:endParaRPr b="1" dirty="0">
              <a:solidFill>
                <a:schemeClr val="lt1"/>
              </a:solidFill>
              <a:latin typeface="Open Sans"/>
              <a:ea typeface="Open Sans"/>
              <a:cs typeface="Open Sans"/>
              <a:sym typeface="Open Sans"/>
            </a:endParaRPr>
          </a:p>
        </p:txBody>
      </p:sp>
      <p:pic>
        <p:nvPicPr>
          <p:cNvPr id="7" name="Picture 6">
            <a:extLst>
              <a:ext uri="{FF2B5EF4-FFF2-40B4-BE49-F238E27FC236}">
                <a16:creationId xmlns:a16="http://schemas.microsoft.com/office/drawing/2014/main" id="{CA3940D7-DCA4-2C4B-8DCA-1F0318730A96}"/>
              </a:ext>
            </a:extLst>
          </p:cNvPr>
          <p:cNvPicPr>
            <a:picLocks noChangeAspect="1"/>
          </p:cNvPicPr>
          <p:nvPr/>
        </p:nvPicPr>
        <p:blipFill>
          <a:blip r:embed="rId3"/>
          <a:stretch>
            <a:fillRect/>
          </a:stretch>
        </p:blipFill>
        <p:spPr>
          <a:xfrm>
            <a:off x="1968404" y="1383257"/>
            <a:ext cx="3931019" cy="1867777"/>
          </a:xfrm>
          <a:prstGeom prst="rect">
            <a:avLst/>
          </a:prstGeom>
        </p:spPr>
      </p:pic>
      <p:pic>
        <p:nvPicPr>
          <p:cNvPr id="9" name="Picture 8">
            <a:extLst>
              <a:ext uri="{FF2B5EF4-FFF2-40B4-BE49-F238E27FC236}">
                <a16:creationId xmlns:a16="http://schemas.microsoft.com/office/drawing/2014/main" id="{38F075BB-3024-A841-8DBC-2E14A2AFCDC7}"/>
              </a:ext>
            </a:extLst>
          </p:cNvPr>
          <p:cNvPicPr>
            <a:picLocks noChangeAspect="1"/>
          </p:cNvPicPr>
          <p:nvPr/>
        </p:nvPicPr>
        <p:blipFill>
          <a:blip r:embed="rId4"/>
          <a:stretch>
            <a:fillRect/>
          </a:stretch>
        </p:blipFill>
        <p:spPr>
          <a:xfrm>
            <a:off x="1968404" y="3796306"/>
            <a:ext cx="3931019" cy="1867777"/>
          </a:xfrm>
          <a:prstGeom prst="rect">
            <a:avLst/>
          </a:prstGeom>
        </p:spPr>
      </p:pic>
      <p:pic>
        <p:nvPicPr>
          <p:cNvPr id="10" name="Picture 9">
            <a:extLst>
              <a:ext uri="{FF2B5EF4-FFF2-40B4-BE49-F238E27FC236}">
                <a16:creationId xmlns:a16="http://schemas.microsoft.com/office/drawing/2014/main" id="{B8886544-DCAC-764A-9C36-E77D45FECFC4}"/>
              </a:ext>
            </a:extLst>
          </p:cNvPr>
          <p:cNvPicPr>
            <a:picLocks noChangeAspect="1"/>
          </p:cNvPicPr>
          <p:nvPr/>
        </p:nvPicPr>
        <p:blipFill>
          <a:blip r:embed="rId5"/>
          <a:stretch>
            <a:fillRect/>
          </a:stretch>
        </p:blipFill>
        <p:spPr>
          <a:xfrm>
            <a:off x="6178281" y="3764559"/>
            <a:ext cx="3931019" cy="1867777"/>
          </a:xfrm>
          <a:prstGeom prst="rect">
            <a:avLst/>
          </a:prstGeom>
        </p:spPr>
      </p:pic>
      <p:pic>
        <p:nvPicPr>
          <p:cNvPr id="14" name="Picture 13">
            <a:extLst>
              <a:ext uri="{FF2B5EF4-FFF2-40B4-BE49-F238E27FC236}">
                <a16:creationId xmlns:a16="http://schemas.microsoft.com/office/drawing/2014/main" id="{D0E58F89-CD69-9A41-935D-5F6C936F9741}"/>
              </a:ext>
            </a:extLst>
          </p:cNvPr>
          <p:cNvPicPr>
            <a:picLocks noChangeAspect="1"/>
          </p:cNvPicPr>
          <p:nvPr/>
        </p:nvPicPr>
        <p:blipFill>
          <a:blip r:embed="rId6"/>
          <a:stretch>
            <a:fillRect/>
          </a:stretch>
        </p:blipFill>
        <p:spPr>
          <a:xfrm>
            <a:off x="6178281" y="1416669"/>
            <a:ext cx="3931019" cy="1867777"/>
          </a:xfrm>
          <a:prstGeom prst="rect">
            <a:avLst/>
          </a:prstGeom>
        </p:spPr>
      </p:pic>
      <p:sp>
        <p:nvSpPr>
          <p:cNvPr id="22" name="Google Shape;1822;p53">
            <a:extLst>
              <a:ext uri="{FF2B5EF4-FFF2-40B4-BE49-F238E27FC236}">
                <a16:creationId xmlns:a16="http://schemas.microsoft.com/office/drawing/2014/main" id="{7CC1699C-ECD8-DF48-9FD0-E3C870672767}"/>
              </a:ext>
            </a:extLst>
          </p:cNvPr>
          <p:cNvSpPr txBox="1"/>
          <p:nvPr/>
        </p:nvSpPr>
        <p:spPr>
          <a:xfrm>
            <a:off x="2247261" y="5594863"/>
            <a:ext cx="3373301" cy="377624"/>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Process Data Summary - AFTER</a:t>
            </a:r>
            <a:endParaRPr b="1" dirty="0">
              <a:solidFill>
                <a:schemeClr val="lt1"/>
              </a:solidFill>
              <a:latin typeface="Open Sans"/>
              <a:ea typeface="Open Sans"/>
              <a:cs typeface="Open Sans"/>
              <a:sym typeface="Open Sans"/>
            </a:endParaRPr>
          </a:p>
        </p:txBody>
      </p:sp>
      <p:sp>
        <p:nvSpPr>
          <p:cNvPr id="23" name="Google Shape;1822;p53">
            <a:extLst>
              <a:ext uri="{FF2B5EF4-FFF2-40B4-BE49-F238E27FC236}">
                <a16:creationId xmlns:a16="http://schemas.microsoft.com/office/drawing/2014/main" id="{BDFC2D60-8977-7D47-B74C-38B1258708DD}"/>
              </a:ext>
            </a:extLst>
          </p:cNvPr>
          <p:cNvSpPr txBox="1"/>
          <p:nvPr/>
        </p:nvSpPr>
        <p:spPr>
          <a:xfrm>
            <a:off x="664210" y="6138597"/>
            <a:ext cx="10863579"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sz="1800" b="1" dirty="0">
                <a:solidFill>
                  <a:srgbClr val="E6AD18"/>
                </a:solidFill>
                <a:latin typeface="Open Sans"/>
                <a:ea typeface="Open Sans"/>
                <a:cs typeface="Open Sans"/>
                <a:sym typeface="Open Sans"/>
              </a:rPr>
              <a:t>Select TPI Forms required based on the nature of the TPI event </a:t>
            </a:r>
          </a:p>
          <a:p>
            <a:pPr marL="0" marR="0" lvl="0" indent="0" algn="ctr" rtl="0">
              <a:lnSpc>
                <a:spcPct val="90000"/>
              </a:lnSpc>
              <a:spcBef>
                <a:spcPts val="0"/>
              </a:spcBef>
              <a:spcAft>
                <a:spcPts val="0"/>
              </a:spcAft>
              <a:buClr>
                <a:schemeClr val="lt1"/>
              </a:buClr>
              <a:buSzPts val="2800"/>
              <a:buFont typeface="Open Sans"/>
              <a:buNone/>
            </a:pPr>
            <a:r>
              <a:rPr lang="en-US" sz="1800" b="1" dirty="0">
                <a:solidFill>
                  <a:srgbClr val="E6AD18"/>
                </a:solidFill>
                <a:latin typeface="Open Sans"/>
                <a:ea typeface="Open Sans"/>
                <a:cs typeface="Open Sans"/>
                <a:sym typeface="Open Sans"/>
              </a:rPr>
              <a:t>(See Problem Solving Forms for Problem Solving/CEDAC Events)</a:t>
            </a:r>
            <a:endParaRPr sz="1800" b="1" dirty="0">
              <a:solidFill>
                <a:srgbClr val="E6AD18"/>
              </a:solidFill>
              <a:latin typeface="Open Sans"/>
              <a:ea typeface="Open Sans"/>
              <a:cs typeface="Open Sans"/>
              <a:sym typeface="Open Sans"/>
            </a:endParaRPr>
          </a:p>
        </p:txBody>
      </p:sp>
      <p:grpSp>
        <p:nvGrpSpPr>
          <p:cNvPr id="24" name="Google Shape;1836;p53">
            <a:extLst>
              <a:ext uri="{FF2B5EF4-FFF2-40B4-BE49-F238E27FC236}">
                <a16:creationId xmlns:a16="http://schemas.microsoft.com/office/drawing/2014/main" id="{1E0B90A2-9ADD-B042-BC7A-1ACB6C6DCB66}"/>
              </a:ext>
            </a:extLst>
          </p:cNvPr>
          <p:cNvGrpSpPr/>
          <p:nvPr/>
        </p:nvGrpSpPr>
        <p:grpSpPr>
          <a:xfrm>
            <a:off x="10338507" y="211527"/>
            <a:ext cx="1524135" cy="1486847"/>
            <a:chOff x="1455738" y="2371725"/>
            <a:chExt cx="2198688" cy="2200275"/>
          </a:xfrm>
          <a:solidFill>
            <a:srgbClr val="9F0405"/>
          </a:solidFill>
        </p:grpSpPr>
        <p:sp>
          <p:nvSpPr>
            <p:cNvPr id="25" name="Google Shape;1837;p53">
              <a:extLst>
                <a:ext uri="{FF2B5EF4-FFF2-40B4-BE49-F238E27FC236}">
                  <a16:creationId xmlns:a16="http://schemas.microsoft.com/office/drawing/2014/main" id="{523AB05C-D9CE-F84D-834B-EC523E5887AF}"/>
                </a:ext>
              </a:extLst>
            </p:cNvPr>
            <p:cNvSpPr/>
            <p:nvPr/>
          </p:nvSpPr>
          <p:spPr>
            <a:xfrm>
              <a:off x="2035175" y="2967038"/>
              <a:ext cx="1071563" cy="1009650"/>
            </a:xfrm>
            <a:custGeom>
              <a:avLst/>
              <a:gdLst/>
              <a:ahLst/>
              <a:cxnLst/>
              <a:rect l="l" t="t" r="r" b="b"/>
              <a:pathLst>
                <a:path w="570" h="536" extrusionOk="0">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dirty="0">
                  <a:solidFill>
                    <a:schemeClr val="lt1"/>
                  </a:solidFill>
                  <a:latin typeface="Arial"/>
                  <a:ea typeface="Arial"/>
                  <a:cs typeface="Arial"/>
                  <a:sym typeface="Arial"/>
                </a:rPr>
                <a:t>4</a:t>
              </a:r>
              <a:endParaRPr sz="3600" dirty="0">
                <a:solidFill>
                  <a:schemeClr val="lt1"/>
                </a:solidFill>
                <a:latin typeface="Arial"/>
                <a:ea typeface="Arial"/>
                <a:cs typeface="Arial"/>
                <a:sym typeface="Arial"/>
              </a:endParaRPr>
            </a:p>
          </p:txBody>
        </p:sp>
        <p:sp>
          <p:nvSpPr>
            <p:cNvPr id="29" name="Google Shape;1838;p53">
              <a:extLst>
                <a:ext uri="{FF2B5EF4-FFF2-40B4-BE49-F238E27FC236}">
                  <a16:creationId xmlns:a16="http://schemas.microsoft.com/office/drawing/2014/main" id="{685B7808-0C6E-9C48-A719-742A85A8F47A}"/>
                </a:ext>
              </a:extLst>
            </p:cNvPr>
            <p:cNvSpPr/>
            <p:nvPr/>
          </p:nvSpPr>
          <p:spPr>
            <a:xfrm>
              <a:off x="1455738" y="2371725"/>
              <a:ext cx="2198688" cy="2200275"/>
            </a:xfrm>
            <a:custGeom>
              <a:avLst/>
              <a:gdLst/>
              <a:ahLst/>
              <a:cxnLst/>
              <a:rect l="l" t="t" r="r" b="b"/>
              <a:pathLst>
                <a:path w="1169" h="1170" extrusionOk="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3052916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sp>
        <p:nvSpPr>
          <p:cNvPr id="1822" name="Google Shape;1822;p53"/>
          <p:cNvSpPr txBox="1"/>
          <p:nvPr/>
        </p:nvSpPr>
        <p:spPr>
          <a:xfrm>
            <a:off x="-1518964" y="580426"/>
            <a:ext cx="10539685"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sz="2800" b="1" dirty="0">
                <a:solidFill>
                  <a:schemeClr val="lt1"/>
                </a:solidFill>
                <a:latin typeface="Open Sans"/>
                <a:ea typeface="Open Sans"/>
                <a:cs typeface="Open Sans"/>
                <a:sym typeface="Open Sans"/>
              </a:rPr>
              <a:t>Required Kaizen Documentation - </a:t>
            </a:r>
            <a:r>
              <a:rPr lang="en-US" sz="2800" b="1" dirty="0" err="1">
                <a:solidFill>
                  <a:schemeClr val="lt1"/>
                </a:solidFill>
                <a:latin typeface="Open Sans"/>
                <a:ea typeface="Open Sans"/>
                <a:cs typeface="Open Sans"/>
                <a:sym typeface="Open Sans"/>
              </a:rPr>
              <a:t>TPM</a:t>
            </a:r>
            <a:endParaRPr sz="2800" b="1" dirty="0">
              <a:solidFill>
                <a:schemeClr val="lt1"/>
              </a:solidFill>
              <a:latin typeface="Open Sans"/>
              <a:ea typeface="Open Sans"/>
              <a:cs typeface="Open Sans"/>
              <a:sym typeface="Open Sans"/>
            </a:endParaRPr>
          </a:p>
        </p:txBody>
      </p:sp>
      <p:sp>
        <p:nvSpPr>
          <p:cNvPr id="1823" name="Google Shape;1823;p53"/>
          <p:cNvSpPr txBox="1"/>
          <p:nvPr/>
        </p:nvSpPr>
        <p:spPr>
          <a:xfrm>
            <a:off x="1648935" y="1086398"/>
            <a:ext cx="8697279" cy="41044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200"/>
              <a:buFont typeface="Calibri"/>
              <a:buNone/>
            </a:pPr>
            <a:endParaRPr lang="en-US" sz="1600" dirty="0">
              <a:solidFill>
                <a:schemeClr val="lt1"/>
              </a:solidFill>
              <a:latin typeface="Calibri"/>
              <a:ea typeface="Calibri"/>
              <a:cs typeface="Calibri"/>
              <a:sym typeface="Calibri"/>
            </a:endParaRPr>
          </a:p>
        </p:txBody>
      </p:sp>
      <p:sp>
        <p:nvSpPr>
          <p:cNvPr id="1854" name="Google Shape;1854;p53"/>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14</a:t>
            </a:fld>
            <a:endParaRPr/>
          </a:p>
        </p:txBody>
      </p:sp>
      <p:sp>
        <p:nvSpPr>
          <p:cNvPr id="30" name="Rectangle 4">
            <a:extLst>
              <a:ext uri="{FF2B5EF4-FFF2-40B4-BE49-F238E27FC236}">
                <a16:creationId xmlns:a16="http://schemas.microsoft.com/office/drawing/2014/main" id="{4610E5B6-568A-AD4F-96FE-67ACBBDFEBC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 name="Google Shape;1822;p53">
            <a:extLst>
              <a:ext uri="{FF2B5EF4-FFF2-40B4-BE49-F238E27FC236}">
                <a16:creationId xmlns:a16="http://schemas.microsoft.com/office/drawing/2014/main" id="{CE1FAFE3-A6B0-004E-B506-B5CDC01B0F33}"/>
              </a:ext>
            </a:extLst>
          </p:cNvPr>
          <p:cNvSpPr txBox="1"/>
          <p:nvPr/>
        </p:nvSpPr>
        <p:spPr>
          <a:xfrm>
            <a:off x="7310689" y="6165454"/>
            <a:ext cx="2108649"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OEE Calculation</a:t>
            </a:r>
            <a:endParaRPr b="1" dirty="0">
              <a:solidFill>
                <a:schemeClr val="lt1"/>
              </a:solidFill>
              <a:latin typeface="Open Sans"/>
              <a:ea typeface="Open Sans"/>
              <a:cs typeface="Open Sans"/>
              <a:sym typeface="Open Sans"/>
            </a:endParaRPr>
          </a:p>
        </p:txBody>
      </p:sp>
      <p:sp>
        <p:nvSpPr>
          <p:cNvPr id="22" name="Google Shape;1822;p53">
            <a:extLst>
              <a:ext uri="{FF2B5EF4-FFF2-40B4-BE49-F238E27FC236}">
                <a16:creationId xmlns:a16="http://schemas.microsoft.com/office/drawing/2014/main" id="{7CC1699C-ECD8-DF48-9FD0-E3C870672767}"/>
              </a:ext>
            </a:extLst>
          </p:cNvPr>
          <p:cNvSpPr txBox="1"/>
          <p:nvPr/>
        </p:nvSpPr>
        <p:spPr>
          <a:xfrm>
            <a:off x="1263027" y="6300252"/>
            <a:ext cx="3373301" cy="377624"/>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Loss Data Analysis Chart</a:t>
            </a:r>
            <a:endParaRPr b="1" dirty="0">
              <a:solidFill>
                <a:schemeClr val="lt1"/>
              </a:solidFill>
              <a:latin typeface="Open Sans"/>
              <a:ea typeface="Open Sans"/>
              <a:cs typeface="Open Sans"/>
              <a:sym typeface="Open Sans"/>
            </a:endParaRPr>
          </a:p>
        </p:txBody>
      </p:sp>
      <p:pic>
        <p:nvPicPr>
          <p:cNvPr id="2" name="Picture 1">
            <a:extLst>
              <a:ext uri="{FF2B5EF4-FFF2-40B4-BE49-F238E27FC236}">
                <a16:creationId xmlns:a16="http://schemas.microsoft.com/office/drawing/2014/main" id="{966DDC97-7251-5C40-A513-511C4916C899}"/>
              </a:ext>
            </a:extLst>
          </p:cNvPr>
          <p:cNvPicPr>
            <a:picLocks noChangeAspect="1"/>
          </p:cNvPicPr>
          <p:nvPr/>
        </p:nvPicPr>
        <p:blipFill>
          <a:blip r:embed="rId3"/>
          <a:stretch>
            <a:fillRect/>
          </a:stretch>
        </p:blipFill>
        <p:spPr>
          <a:xfrm>
            <a:off x="6383814" y="4215247"/>
            <a:ext cx="3962400" cy="2011650"/>
          </a:xfrm>
          <a:prstGeom prst="rect">
            <a:avLst/>
          </a:prstGeom>
          <a:solidFill>
            <a:schemeClr val="bg1"/>
          </a:solidFill>
        </p:spPr>
      </p:pic>
      <p:pic>
        <p:nvPicPr>
          <p:cNvPr id="3" name="Picture 2">
            <a:extLst>
              <a:ext uri="{FF2B5EF4-FFF2-40B4-BE49-F238E27FC236}">
                <a16:creationId xmlns:a16="http://schemas.microsoft.com/office/drawing/2014/main" id="{EA8C7130-FC4D-AA42-9200-8AD83ECBFB98}"/>
              </a:ext>
            </a:extLst>
          </p:cNvPr>
          <p:cNvPicPr>
            <a:picLocks noChangeAspect="1"/>
          </p:cNvPicPr>
          <p:nvPr/>
        </p:nvPicPr>
        <p:blipFill>
          <a:blip r:embed="rId4"/>
          <a:stretch>
            <a:fillRect/>
          </a:stretch>
        </p:blipFill>
        <p:spPr>
          <a:xfrm>
            <a:off x="6388090" y="1657365"/>
            <a:ext cx="3958124" cy="2011650"/>
          </a:xfrm>
          <a:prstGeom prst="rect">
            <a:avLst/>
          </a:prstGeom>
          <a:solidFill>
            <a:schemeClr val="bg1"/>
          </a:solidFill>
        </p:spPr>
      </p:pic>
      <p:pic>
        <p:nvPicPr>
          <p:cNvPr id="4" name="Picture 3">
            <a:extLst>
              <a:ext uri="{FF2B5EF4-FFF2-40B4-BE49-F238E27FC236}">
                <a16:creationId xmlns:a16="http://schemas.microsoft.com/office/drawing/2014/main" id="{BE98C4CF-5BBA-1145-9BE1-01B5546684B0}"/>
              </a:ext>
            </a:extLst>
          </p:cNvPr>
          <p:cNvPicPr>
            <a:picLocks noChangeAspect="1"/>
          </p:cNvPicPr>
          <p:nvPr/>
        </p:nvPicPr>
        <p:blipFill>
          <a:blip r:embed="rId5"/>
          <a:stretch>
            <a:fillRect/>
          </a:stretch>
        </p:blipFill>
        <p:spPr>
          <a:xfrm>
            <a:off x="956301" y="4239292"/>
            <a:ext cx="3986755" cy="1987605"/>
          </a:xfrm>
          <a:prstGeom prst="rect">
            <a:avLst/>
          </a:prstGeom>
          <a:solidFill>
            <a:schemeClr val="bg1"/>
          </a:solidFill>
        </p:spPr>
      </p:pic>
      <p:pic>
        <p:nvPicPr>
          <p:cNvPr id="5" name="Picture 4">
            <a:extLst>
              <a:ext uri="{FF2B5EF4-FFF2-40B4-BE49-F238E27FC236}">
                <a16:creationId xmlns:a16="http://schemas.microsoft.com/office/drawing/2014/main" id="{0B42673D-B19B-9147-8A0E-B17AE648C982}"/>
              </a:ext>
            </a:extLst>
          </p:cNvPr>
          <p:cNvPicPr>
            <a:picLocks noChangeAspect="1"/>
          </p:cNvPicPr>
          <p:nvPr/>
        </p:nvPicPr>
        <p:blipFill>
          <a:blip r:embed="rId6"/>
          <a:stretch>
            <a:fillRect/>
          </a:stretch>
        </p:blipFill>
        <p:spPr>
          <a:xfrm>
            <a:off x="956301" y="1679008"/>
            <a:ext cx="3986756" cy="2011650"/>
          </a:xfrm>
          <a:prstGeom prst="rect">
            <a:avLst/>
          </a:prstGeom>
          <a:solidFill>
            <a:schemeClr val="bg1"/>
          </a:solidFill>
        </p:spPr>
      </p:pic>
      <p:sp>
        <p:nvSpPr>
          <p:cNvPr id="24" name="Google Shape;1822;p53">
            <a:extLst>
              <a:ext uri="{FF2B5EF4-FFF2-40B4-BE49-F238E27FC236}">
                <a16:creationId xmlns:a16="http://schemas.microsoft.com/office/drawing/2014/main" id="{AB00E0FC-A3DC-5741-A897-72B910FC84AF}"/>
              </a:ext>
            </a:extLst>
          </p:cNvPr>
          <p:cNvSpPr txBox="1"/>
          <p:nvPr/>
        </p:nvSpPr>
        <p:spPr>
          <a:xfrm>
            <a:off x="7041996" y="3496615"/>
            <a:ext cx="2646033"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Downtime Pareto Chart</a:t>
            </a:r>
            <a:endParaRPr b="1" dirty="0">
              <a:solidFill>
                <a:schemeClr val="lt1"/>
              </a:solidFill>
              <a:latin typeface="Open Sans"/>
              <a:ea typeface="Open Sans"/>
              <a:cs typeface="Open Sans"/>
              <a:sym typeface="Open Sans"/>
            </a:endParaRPr>
          </a:p>
        </p:txBody>
      </p:sp>
      <p:sp>
        <p:nvSpPr>
          <p:cNvPr id="25" name="Google Shape;1822;p53">
            <a:extLst>
              <a:ext uri="{FF2B5EF4-FFF2-40B4-BE49-F238E27FC236}">
                <a16:creationId xmlns:a16="http://schemas.microsoft.com/office/drawing/2014/main" id="{B17E1E72-F5C6-E14D-935B-93D18E8B6380}"/>
              </a:ext>
            </a:extLst>
          </p:cNvPr>
          <p:cNvSpPr txBox="1"/>
          <p:nvPr/>
        </p:nvSpPr>
        <p:spPr>
          <a:xfrm>
            <a:off x="1131890" y="3476108"/>
            <a:ext cx="3635574"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Maintenance Procedure Observation</a:t>
            </a:r>
            <a:endParaRPr b="1" dirty="0">
              <a:solidFill>
                <a:schemeClr val="lt1"/>
              </a:solidFill>
              <a:latin typeface="Open Sans"/>
              <a:ea typeface="Open Sans"/>
              <a:cs typeface="Open Sans"/>
              <a:sym typeface="Open Sans"/>
            </a:endParaRPr>
          </a:p>
        </p:txBody>
      </p:sp>
      <p:grpSp>
        <p:nvGrpSpPr>
          <p:cNvPr id="29" name="Google Shape;1836;p53">
            <a:extLst>
              <a:ext uri="{FF2B5EF4-FFF2-40B4-BE49-F238E27FC236}">
                <a16:creationId xmlns:a16="http://schemas.microsoft.com/office/drawing/2014/main" id="{5DDFD45D-D8ED-C344-B59B-C0CC1C7092CC}"/>
              </a:ext>
            </a:extLst>
          </p:cNvPr>
          <p:cNvGrpSpPr/>
          <p:nvPr/>
        </p:nvGrpSpPr>
        <p:grpSpPr>
          <a:xfrm>
            <a:off x="10338507" y="211527"/>
            <a:ext cx="1524135" cy="1486847"/>
            <a:chOff x="1455738" y="2371725"/>
            <a:chExt cx="2198688" cy="2200275"/>
          </a:xfrm>
          <a:solidFill>
            <a:srgbClr val="9F0405"/>
          </a:solidFill>
        </p:grpSpPr>
        <p:sp>
          <p:nvSpPr>
            <p:cNvPr id="31" name="Google Shape;1837;p53">
              <a:extLst>
                <a:ext uri="{FF2B5EF4-FFF2-40B4-BE49-F238E27FC236}">
                  <a16:creationId xmlns:a16="http://schemas.microsoft.com/office/drawing/2014/main" id="{3A27BAD6-1507-5E46-B7BF-8B2F87BDD683}"/>
                </a:ext>
              </a:extLst>
            </p:cNvPr>
            <p:cNvSpPr/>
            <p:nvPr/>
          </p:nvSpPr>
          <p:spPr>
            <a:xfrm>
              <a:off x="2035175" y="2967038"/>
              <a:ext cx="1071563" cy="1009650"/>
            </a:xfrm>
            <a:custGeom>
              <a:avLst/>
              <a:gdLst/>
              <a:ahLst/>
              <a:cxnLst/>
              <a:rect l="l" t="t" r="r" b="b"/>
              <a:pathLst>
                <a:path w="570" h="536" extrusionOk="0">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dirty="0">
                  <a:solidFill>
                    <a:schemeClr val="lt1"/>
                  </a:solidFill>
                  <a:latin typeface="Arial"/>
                  <a:ea typeface="Arial"/>
                  <a:cs typeface="Arial"/>
                  <a:sym typeface="Arial"/>
                </a:rPr>
                <a:t>4</a:t>
              </a:r>
              <a:endParaRPr sz="3600" dirty="0">
                <a:solidFill>
                  <a:schemeClr val="lt1"/>
                </a:solidFill>
                <a:latin typeface="Arial"/>
                <a:ea typeface="Arial"/>
                <a:cs typeface="Arial"/>
                <a:sym typeface="Arial"/>
              </a:endParaRPr>
            </a:p>
          </p:txBody>
        </p:sp>
        <p:sp>
          <p:nvSpPr>
            <p:cNvPr id="32" name="Google Shape;1838;p53">
              <a:extLst>
                <a:ext uri="{FF2B5EF4-FFF2-40B4-BE49-F238E27FC236}">
                  <a16:creationId xmlns:a16="http://schemas.microsoft.com/office/drawing/2014/main" id="{FD4917D8-9CB3-6F4D-A75F-419D579C7BE2}"/>
                </a:ext>
              </a:extLst>
            </p:cNvPr>
            <p:cNvSpPr/>
            <p:nvPr/>
          </p:nvSpPr>
          <p:spPr>
            <a:xfrm>
              <a:off x="1455738" y="2371725"/>
              <a:ext cx="2198688" cy="2200275"/>
            </a:xfrm>
            <a:custGeom>
              <a:avLst/>
              <a:gdLst/>
              <a:ahLst/>
              <a:cxnLst/>
              <a:rect l="l" t="t" r="r" b="b"/>
              <a:pathLst>
                <a:path w="1169" h="1170" extrusionOk="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25663124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sp>
        <p:nvSpPr>
          <p:cNvPr id="1822" name="Google Shape;1822;p53"/>
          <p:cNvSpPr txBox="1"/>
          <p:nvPr/>
        </p:nvSpPr>
        <p:spPr>
          <a:xfrm>
            <a:off x="-633515" y="617349"/>
            <a:ext cx="10539685"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sz="2800" b="1" dirty="0">
                <a:solidFill>
                  <a:schemeClr val="lt1"/>
                </a:solidFill>
                <a:latin typeface="Open Sans"/>
                <a:ea typeface="Open Sans"/>
                <a:cs typeface="Open Sans"/>
                <a:sym typeface="Open Sans"/>
              </a:rPr>
              <a:t>Required Kaizen Documentation - Kanban</a:t>
            </a:r>
            <a:endParaRPr sz="2800" b="1" dirty="0">
              <a:solidFill>
                <a:schemeClr val="lt1"/>
              </a:solidFill>
              <a:latin typeface="Open Sans"/>
              <a:ea typeface="Open Sans"/>
              <a:cs typeface="Open Sans"/>
              <a:sym typeface="Open Sans"/>
            </a:endParaRPr>
          </a:p>
        </p:txBody>
      </p:sp>
      <p:sp>
        <p:nvSpPr>
          <p:cNvPr id="1823" name="Google Shape;1823;p53"/>
          <p:cNvSpPr txBox="1"/>
          <p:nvPr/>
        </p:nvSpPr>
        <p:spPr>
          <a:xfrm>
            <a:off x="1648935" y="1086398"/>
            <a:ext cx="8697279" cy="41044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200"/>
              <a:buFont typeface="Calibri"/>
              <a:buNone/>
            </a:pPr>
            <a:endParaRPr lang="en-US" sz="1600" dirty="0">
              <a:solidFill>
                <a:schemeClr val="lt1"/>
              </a:solidFill>
              <a:latin typeface="Calibri"/>
              <a:ea typeface="Calibri"/>
              <a:cs typeface="Calibri"/>
              <a:sym typeface="Calibri"/>
            </a:endParaRPr>
          </a:p>
        </p:txBody>
      </p:sp>
      <p:sp>
        <p:nvSpPr>
          <p:cNvPr id="1854" name="Google Shape;1854;p53"/>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15</a:t>
            </a:fld>
            <a:endParaRPr/>
          </a:p>
        </p:txBody>
      </p:sp>
      <p:sp>
        <p:nvSpPr>
          <p:cNvPr id="30" name="Rectangle 4">
            <a:extLst>
              <a:ext uri="{FF2B5EF4-FFF2-40B4-BE49-F238E27FC236}">
                <a16:creationId xmlns:a16="http://schemas.microsoft.com/office/drawing/2014/main" id="{4610E5B6-568A-AD4F-96FE-67ACBBDFEBC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 name="Google Shape;1822;p53">
            <a:extLst>
              <a:ext uri="{FF2B5EF4-FFF2-40B4-BE49-F238E27FC236}">
                <a16:creationId xmlns:a16="http://schemas.microsoft.com/office/drawing/2014/main" id="{CE1FAFE3-A6B0-004E-B506-B5CDC01B0F33}"/>
              </a:ext>
            </a:extLst>
          </p:cNvPr>
          <p:cNvSpPr txBox="1"/>
          <p:nvPr/>
        </p:nvSpPr>
        <p:spPr>
          <a:xfrm>
            <a:off x="4943249" y="3374647"/>
            <a:ext cx="2108649"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Kanban Calculation</a:t>
            </a:r>
            <a:endParaRPr b="1" dirty="0">
              <a:solidFill>
                <a:schemeClr val="lt1"/>
              </a:solidFill>
              <a:latin typeface="Open Sans"/>
              <a:ea typeface="Open Sans"/>
              <a:cs typeface="Open Sans"/>
              <a:sym typeface="Open Sans"/>
            </a:endParaRPr>
          </a:p>
        </p:txBody>
      </p:sp>
      <p:sp>
        <p:nvSpPr>
          <p:cNvPr id="22" name="Google Shape;1822;p53">
            <a:extLst>
              <a:ext uri="{FF2B5EF4-FFF2-40B4-BE49-F238E27FC236}">
                <a16:creationId xmlns:a16="http://schemas.microsoft.com/office/drawing/2014/main" id="{7CC1699C-ECD8-DF48-9FD0-E3C870672767}"/>
              </a:ext>
            </a:extLst>
          </p:cNvPr>
          <p:cNvSpPr txBox="1"/>
          <p:nvPr/>
        </p:nvSpPr>
        <p:spPr>
          <a:xfrm>
            <a:off x="4415726" y="6240651"/>
            <a:ext cx="3373301" cy="377624"/>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Sample Kanban Card</a:t>
            </a:r>
            <a:endParaRPr b="1" dirty="0">
              <a:solidFill>
                <a:schemeClr val="lt1"/>
              </a:solidFill>
              <a:latin typeface="Open Sans"/>
              <a:ea typeface="Open Sans"/>
              <a:cs typeface="Open Sans"/>
              <a:sym typeface="Open Sans"/>
            </a:endParaRPr>
          </a:p>
        </p:txBody>
      </p:sp>
      <p:sp>
        <p:nvSpPr>
          <p:cNvPr id="24" name="Google Shape;1822;p53">
            <a:extLst>
              <a:ext uri="{FF2B5EF4-FFF2-40B4-BE49-F238E27FC236}">
                <a16:creationId xmlns:a16="http://schemas.microsoft.com/office/drawing/2014/main" id="{AB00E0FC-A3DC-5741-A897-72B910FC84AF}"/>
              </a:ext>
            </a:extLst>
          </p:cNvPr>
          <p:cNvSpPr txBox="1"/>
          <p:nvPr/>
        </p:nvSpPr>
        <p:spPr>
          <a:xfrm>
            <a:off x="8656999" y="3418569"/>
            <a:ext cx="3205643"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Capacity Analysis Worksheet</a:t>
            </a:r>
            <a:endParaRPr b="1" dirty="0">
              <a:solidFill>
                <a:schemeClr val="lt1"/>
              </a:solidFill>
              <a:latin typeface="Open Sans"/>
              <a:ea typeface="Open Sans"/>
              <a:cs typeface="Open Sans"/>
              <a:sym typeface="Open Sans"/>
            </a:endParaRPr>
          </a:p>
        </p:txBody>
      </p:sp>
      <p:sp>
        <p:nvSpPr>
          <p:cNvPr id="25" name="Google Shape;1822;p53">
            <a:extLst>
              <a:ext uri="{FF2B5EF4-FFF2-40B4-BE49-F238E27FC236}">
                <a16:creationId xmlns:a16="http://schemas.microsoft.com/office/drawing/2014/main" id="{B17E1E72-F5C6-E14D-935B-93D18E8B6380}"/>
              </a:ext>
            </a:extLst>
          </p:cNvPr>
          <p:cNvSpPr txBox="1"/>
          <p:nvPr/>
        </p:nvSpPr>
        <p:spPr>
          <a:xfrm>
            <a:off x="-168852" y="5296694"/>
            <a:ext cx="3635574"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Lean Time Calculation</a:t>
            </a:r>
            <a:endParaRPr b="1" dirty="0">
              <a:solidFill>
                <a:schemeClr val="lt1"/>
              </a:solidFill>
              <a:latin typeface="Open Sans"/>
              <a:ea typeface="Open Sans"/>
              <a:cs typeface="Open Sans"/>
              <a:sym typeface="Open Sans"/>
            </a:endParaRPr>
          </a:p>
        </p:txBody>
      </p:sp>
      <p:pic>
        <p:nvPicPr>
          <p:cNvPr id="8" name="Picture 7">
            <a:extLst>
              <a:ext uri="{FF2B5EF4-FFF2-40B4-BE49-F238E27FC236}">
                <a16:creationId xmlns:a16="http://schemas.microsoft.com/office/drawing/2014/main" id="{F4C7C8F8-0928-CF40-ADE9-3F5D374EB0DE}"/>
              </a:ext>
            </a:extLst>
          </p:cNvPr>
          <p:cNvPicPr>
            <a:picLocks noChangeAspect="1"/>
          </p:cNvPicPr>
          <p:nvPr/>
        </p:nvPicPr>
        <p:blipFill>
          <a:blip r:embed="rId3"/>
          <a:stretch>
            <a:fillRect/>
          </a:stretch>
        </p:blipFill>
        <p:spPr>
          <a:xfrm>
            <a:off x="218331" y="1542372"/>
            <a:ext cx="3099003" cy="3853543"/>
          </a:xfrm>
          <a:prstGeom prst="rect">
            <a:avLst/>
          </a:prstGeom>
          <a:solidFill>
            <a:schemeClr val="bg1"/>
          </a:solidFill>
        </p:spPr>
      </p:pic>
      <p:pic>
        <p:nvPicPr>
          <p:cNvPr id="9" name="Picture 8">
            <a:extLst>
              <a:ext uri="{FF2B5EF4-FFF2-40B4-BE49-F238E27FC236}">
                <a16:creationId xmlns:a16="http://schemas.microsoft.com/office/drawing/2014/main" id="{E2DC0C4E-5649-5749-A16C-2B5EACD3CBF7}"/>
              </a:ext>
            </a:extLst>
          </p:cNvPr>
          <p:cNvPicPr>
            <a:picLocks noChangeAspect="1"/>
          </p:cNvPicPr>
          <p:nvPr/>
        </p:nvPicPr>
        <p:blipFill>
          <a:blip r:embed="rId4"/>
          <a:stretch>
            <a:fillRect/>
          </a:stretch>
        </p:blipFill>
        <p:spPr>
          <a:xfrm>
            <a:off x="3726913" y="1505579"/>
            <a:ext cx="4750928" cy="2069005"/>
          </a:xfrm>
          <a:prstGeom prst="rect">
            <a:avLst/>
          </a:prstGeom>
          <a:solidFill>
            <a:schemeClr val="bg1"/>
          </a:solidFill>
        </p:spPr>
      </p:pic>
      <p:pic>
        <p:nvPicPr>
          <p:cNvPr id="10" name="Picture 9">
            <a:extLst>
              <a:ext uri="{FF2B5EF4-FFF2-40B4-BE49-F238E27FC236}">
                <a16:creationId xmlns:a16="http://schemas.microsoft.com/office/drawing/2014/main" id="{A180C526-8112-8B4B-A20F-4B4ECA92BBB5}"/>
              </a:ext>
            </a:extLst>
          </p:cNvPr>
          <p:cNvPicPr>
            <a:picLocks noChangeAspect="1"/>
          </p:cNvPicPr>
          <p:nvPr/>
        </p:nvPicPr>
        <p:blipFill>
          <a:blip r:embed="rId5"/>
          <a:stretch>
            <a:fillRect/>
          </a:stretch>
        </p:blipFill>
        <p:spPr>
          <a:xfrm>
            <a:off x="4381438" y="3978708"/>
            <a:ext cx="3441878" cy="2294585"/>
          </a:xfrm>
          <a:prstGeom prst="rect">
            <a:avLst/>
          </a:prstGeom>
        </p:spPr>
      </p:pic>
      <p:pic>
        <p:nvPicPr>
          <p:cNvPr id="14" name="Picture 13">
            <a:extLst>
              <a:ext uri="{FF2B5EF4-FFF2-40B4-BE49-F238E27FC236}">
                <a16:creationId xmlns:a16="http://schemas.microsoft.com/office/drawing/2014/main" id="{F89A2CC2-F8EF-E942-9717-4B4DB0E2E08E}"/>
              </a:ext>
            </a:extLst>
          </p:cNvPr>
          <p:cNvPicPr>
            <a:picLocks noChangeAspect="1"/>
          </p:cNvPicPr>
          <p:nvPr/>
        </p:nvPicPr>
        <p:blipFill>
          <a:blip r:embed="rId6"/>
          <a:stretch>
            <a:fillRect/>
          </a:stretch>
        </p:blipFill>
        <p:spPr>
          <a:xfrm>
            <a:off x="8661710" y="4162762"/>
            <a:ext cx="3095958" cy="1818638"/>
          </a:xfrm>
          <a:prstGeom prst="rect">
            <a:avLst/>
          </a:prstGeom>
          <a:solidFill>
            <a:schemeClr val="bg1"/>
          </a:solidFill>
        </p:spPr>
      </p:pic>
      <p:pic>
        <p:nvPicPr>
          <p:cNvPr id="15" name="Picture 14">
            <a:extLst>
              <a:ext uri="{FF2B5EF4-FFF2-40B4-BE49-F238E27FC236}">
                <a16:creationId xmlns:a16="http://schemas.microsoft.com/office/drawing/2014/main" id="{536FB0DF-AC25-F745-93C1-9D3944609AE4}"/>
              </a:ext>
            </a:extLst>
          </p:cNvPr>
          <p:cNvPicPr>
            <a:picLocks noChangeAspect="1"/>
          </p:cNvPicPr>
          <p:nvPr/>
        </p:nvPicPr>
        <p:blipFill>
          <a:blip r:embed="rId7"/>
          <a:stretch>
            <a:fillRect/>
          </a:stretch>
        </p:blipFill>
        <p:spPr>
          <a:xfrm>
            <a:off x="9047543" y="1448545"/>
            <a:ext cx="2367495" cy="2126034"/>
          </a:xfrm>
          <a:prstGeom prst="rect">
            <a:avLst/>
          </a:prstGeom>
          <a:solidFill>
            <a:schemeClr val="bg1"/>
          </a:solidFill>
        </p:spPr>
      </p:pic>
      <p:sp>
        <p:nvSpPr>
          <p:cNvPr id="52" name="Google Shape;1822;p53">
            <a:extLst>
              <a:ext uri="{FF2B5EF4-FFF2-40B4-BE49-F238E27FC236}">
                <a16:creationId xmlns:a16="http://schemas.microsoft.com/office/drawing/2014/main" id="{FF23B7B9-7102-A243-B8F3-941A9F489CEA}"/>
              </a:ext>
            </a:extLst>
          </p:cNvPr>
          <p:cNvSpPr txBox="1"/>
          <p:nvPr/>
        </p:nvSpPr>
        <p:spPr>
          <a:xfrm>
            <a:off x="8333399" y="6014154"/>
            <a:ext cx="3795782" cy="377624"/>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b="1" dirty="0">
                <a:solidFill>
                  <a:schemeClr val="lt1"/>
                </a:solidFill>
                <a:latin typeface="Open Sans"/>
                <a:ea typeface="Open Sans"/>
                <a:cs typeface="Open Sans"/>
                <a:sym typeface="Open Sans"/>
              </a:rPr>
              <a:t>Inventory Improvement Results Form</a:t>
            </a:r>
            <a:endParaRPr b="1" dirty="0">
              <a:solidFill>
                <a:schemeClr val="lt1"/>
              </a:solidFill>
              <a:latin typeface="Open Sans"/>
              <a:ea typeface="Open Sans"/>
              <a:cs typeface="Open Sans"/>
              <a:sym typeface="Open Sans"/>
            </a:endParaRPr>
          </a:p>
        </p:txBody>
      </p:sp>
      <p:grpSp>
        <p:nvGrpSpPr>
          <p:cNvPr id="53" name="Google Shape;1836;p53">
            <a:extLst>
              <a:ext uri="{FF2B5EF4-FFF2-40B4-BE49-F238E27FC236}">
                <a16:creationId xmlns:a16="http://schemas.microsoft.com/office/drawing/2014/main" id="{EA07FCE4-4D61-5D4A-9E53-5D45422AB393}"/>
              </a:ext>
            </a:extLst>
          </p:cNvPr>
          <p:cNvGrpSpPr/>
          <p:nvPr/>
        </p:nvGrpSpPr>
        <p:grpSpPr>
          <a:xfrm>
            <a:off x="10475872" y="133003"/>
            <a:ext cx="1524135" cy="1486847"/>
            <a:chOff x="1455738" y="2371725"/>
            <a:chExt cx="2198688" cy="2200275"/>
          </a:xfrm>
          <a:solidFill>
            <a:srgbClr val="9F0405"/>
          </a:solidFill>
        </p:grpSpPr>
        <p:sp>
          <p:nvSpPr>
            <p:cNvPr id="54" name="Google Shape;1837;p53">
              <a:extLst>
                <a:ext uri="{FF2B5EF4-FFF2-40B4-BE49-F238E27FC236}">
                  <a16:creationId xmlns:a16="http://schemas.microsoft.com/office/drawing/2014/main" id="{2FB21C3C-76EA-4A4E-8347-C323389BD704}"/>
                </a:ext>
              </a:extLst>
            </p:cNvPr>
            <p:cNvSpPr/>
            <p:nvPr/>
          </p:nvSpPr>
          <p:spPr>
            <a:xfrm>
              <a:off x="2035175" y="2967038"/>
              <a:ext cx="1071563" cy="1009650"/>
            </a:xfrm>
            <a:custGeom>
              <a:avLst/>
              <a:gdLst/>
              <a:ahLst/>
              <a:cxnLst/>
              <a:rect l="l" t="t" r="r" b="b"/>
              <a:pathLst>
                <a:path w="570" h="536" extrusionOk="0">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dirty="0">
                  <a:solidFill>
                    <a:schemeClr val="lt1"/>
                  </a:solidFill>
                  <a:latin typeface="Arial"/>
                  <a:ea typeface="Arial"/>
                  <a:cs typeface="Arial"/>
                  <a:sym typeface="Arial"/>
                </a:rPr>
                <a:t>4</a:t>
              </a:r>
              <a:endParaRPr sz="3600" dirty="0">
                <a:solidFill>
                  <a:schemeClr val="lt1"/>
                </a:solidFill>
                <a:latin typeface="Arial"/>
                <a:ea typeface="Arial"/>
                <a:cs typeface="Arial"/>
                <a:sym typeface="Arial"/>
              </a:endParaRPr>
            </a:p>
          </p:txBody>
        </p:sp>
        <p:sp>
          <p:nvSpPr>
            <p:cNvPr id="55" name="Google Shape;1838;p53">
              <a:extLst>
                <a:ext uri="{FF2B5EF4-FFF2-40B4-BE49-F238E27FC236}">
                  <a16:creationId xmlns:a16="http://schemas.microsoft.com/office/drawing/2014/main" id="{5F2B3D24-9DEE-F24E-A551-4B5A91E43598}"/>
                </a:ext>
              </a:extLst>
            </p:cNvPr>
            <p:cNvSpPr/>
            <p:nvPr/>
          </p:nvSpPr>
          <p:spPr>
            <a:xfrm>
              <a:off x="1455738" y="2371725"/>
              <a:ext cx="2198688" cy="2200275"/>
            </a:xfrm>
            <a:custGeom>
              <a:avLst/>
              <a:gdLst/>
              <a:ahLst/>
              <a:cxnLst/>
              <a:rect l="l" t="t" r="r" b="b"/>
              <a:pathLst>
                <a:path w="1169" h="1170" extrusionOk="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3399216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sp>
        <p:nvSpPr>
          <p:cNvPr id="2" name="Rectangle 1">
            <a:extLst>
              <a:ext uri="{FF2B5EF4-FFF2-40B4-BE49-F238E27FC236}">
                <a16:creationId xmlns:a16="http://schemas.microsoft.com/office/drawing/2014/main" id="{8B401271-11FA-A93B-D621-AC768B0F3FF3}"/>
              </a:ext>
            </a:extLst>
          </p:cNvPr>
          <p:cNvSpPr/>
          <p:nvPr/>
        </p:nvSpPr>
        <p:spPr>
          <a:xfrm>
            <a:off x="493118" y="1881101"/>
            <a:ext cx="10836698" cy="44193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2" name="Google Shape;1822;p53"/>
          <p:cNvSpPr txBox="1"/>
          <p:nvPr/>
        </p:nvSpPr>
        <p:spPr>
          <a:xfrm>
            <a:off x="-193471" y="405515"/>
            <a:ext cx="10539685"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sz="2800" b="1" dirty="0">
                <a:solidFill>
                  <a:schemeClr val="lt1"/>
                </a:solidFill>
                <a:latin typeface="Open Sans"/>
                <a:ea typeface="Open Sans"/>
                <a:cs typeface="Open Sans"/>
                <a:sym typeface="Open Sans"/>
              </a:rPr>
              <a:t>Required Kaizen Documentation - Kaizen Newspaper</a:t>
            </a:r>
            <a:endParaRPr sz="2800" b="1" dirty="0">
              <a:solidFill>
                <a:schemeClr val="lt1"/>
              </a:solidFill>
              <a:latin typeface="Open Sans"/>
              <a:ea typeface="Open Sans"/>
              <a:cs typeface="Open Sans"/>
              <a:sym typeface="Open Sans"/>
            </a:endParaRPr>
          </a:p>
        </p:txBody>
      </p:sp>
      <p:sp>
        <p:nvSpPr>
          <p:cNvPr id="1854" name="Google Shape;1854;p53"/>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16</a:t>
            </a:fld>
            <a:endParaRPr/>
          </a:p>
        </p:txBody>
      </p:sp>
      <p:sp>
        <p:nvSpPr>
          <p:cNvPr id="30" name="Rectangle 4">
            <a:extLst>
              <a:ext uri="{FF2B5EF4-FFF2-40B4-BE49-F238E27FC236}">
                <a16:creationId xmlns:a16="http://schemas.microsoft.com/office/drawing/2014/main" id="{4610E5B6-568A-AD4F-96FE-67ACBBDFEBC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 name="Google Shape;1822;p53">
            <a:extLst>
              <a:ext uri="{FF2B5EF4-FFF2-40B4-BE49-F238E27FC236}">
                <a16:creationId xmlns:a16="http://schemas.microsoft.com/office/drawing/2014/main" id="{7BCD7738-CACB-744C-88B8-B2F6218E1EF4}"/>
              </a:ext>
            </a:extLst>
          </p:cNvPr>
          <p:cNvSpPr txBox="1"/>
          <p:nvPr/>
        </p:nvSpPr>
        <p:spPr>
          <a:xfrm>
            <a:off x="2374815" y="6278383"/>
            <a:ext cx="7442369" cy="518157"/>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Clr>
                <a:schemeClr val="lt1"/>
              </a:buClr>
              <a:buSzPts val="2800"/>
              <a:buFont typeface="Open Sans"/>
              <a:buNone/>
            </a:pPr>
            <a:r>
              <a:rPr lang="en-US" sz="2400" b="1" dirty="0">
                <a:solidFill>
                  <a:srgbClr val="E6AD18"/>
                </a:solidFill>
                <a:latin typeface="Open Sans"/>
                <a:ea typeface="Open Sans"/>
                <a:cs typeface="Open Sans"/>
                <a:sym typeface="Open Sans"/>
              </a:rPr>
              <a:t>To be Utilized for ALL Kaizen Events</a:t>
            </a:r>
            <a:endParaRPr sz="2400" b="1" dirty="0">
              <a:solidFill>
                <a:srgbClr val="E6AD18"/>
              </a:solidFill>
              <a:latin typeface="Open Sans"/>
              <a:ea typeface="Open Sans"/>
              <a:cs typeface="Open Sans"/>
              <a:sym typeface="Open Sans"/>
            </a:endParaRPr>
          </a:p>
        </p:txBody>
      </p:sp>
      <p:grpSp>
        <p:nvGrpSpPr>
          <p:cNvPr id="16" name="Google Shape;1836;p53">
            <a:extLst>
              <a:ext uri="{FF2B5EF4-FFF2-40B4-BE49-F238E27FC236}">
                <a16:creationId xmlns:a16="http://schemas.microsoft.com/office/drawing/2014/main" id="{AC13D5C6-EEF1-9B4F-BC38-7B7E2F15B961}"/>
              </a:ext>
            </a:extLst>
          </p:cNvPr>
          <p:cNvGrpSpPr/>
          <p:nvPr/>
        </p:nvGrpSpPr>
        <p:grpSpPr>
          <a:xfrm>
            <a:off x="10346214" y="181479"/>
            <a:ext cx="1524135" cy="1486847"/>
            <a:chOff x="1455738" y="2371725"/>
            <a:chExt cx="2198688" cy="2200275"/>
          </a:xfrm>
          <a:solidFill>
            <a:srgbClr val="E6AD18"/>
          </a:solidFill>
        </p:grpSpPr>
        <p:sp>
          <p:nvSpPr>
            <p:cNvPr id="17" name="Google Shape;1837;p53">
              <a:extLst>
                <a:ext uri="{FF2B5EF4-FFF2-40B4-BE49-F238E27FC236}">
                  <a16:creationId xmlns:a16="http://schemas.microsoft.com/office/drawing/2014/main" id="{56052CDE-2AD7-4949-88B6-27C9AA9EBC05}"/>
                </a:ext>
              </a:extLst>
            </p:cNvPr>
            <p:cNvSpPr/>
            <p:nvPr/>
          </p:nvSpPr>
          <p:spPr>
            <a:xfrm>
              <a:off x="2035175" y="2967038"/>
              <a:ext cx="1071563" cy="1009650"/>
            </a:xfrm>
            <a:custGeom>
              <a:avLst/>
              <a:gdLst/>
              <a:ahLst/>
              <a:cxnLst/>
              <a:rect l="l" t="t" r="r" b="b"/>
              <a:pathLst>
                <a:path w="570" h="536" extrusionOk="0">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dirty="0">
                  <a:solidFill>
                    <a:schemeClr val="lt1"/>
                  </a:solidFill>
                </a:rPr>
                <a:t>5</a:t>
              </a:r>
              <a:endParaRPr sz="3600" dirty="0">
                <a:solidFill>
                  <a:schemeClr val="lt1"/>
                </a:solidFill>
                <a:latin typeface="Arial"/>
                <a:ea typeface="Arial"/>
                <a:cs typeface="Arial"/>
                <a:sym typeface="Arial"/>
              </a:endParaRPr>
            </a:p>
          </p:txBody>
        </p:sp>
        <p:sp>
          <p:nvSpPr>
            <p:cNvPr id="18" name="Google Shape;1838;p53">
              <a:extLst>
                <a:ext uri="{FF2B5EF4-FFF2-40B4-BE49-F238E27FC236}">
                  <a16:creationId xmlns:a16="http://schemas.microsoft.com/office/drawing/2014/main" id="{6A91F236-6F45-634D-9EDB-02022E12219E}"/>
                </a:ext>
              </a:extLst>
            </p:cNvPr>
            <p:cNvSpPr/>
            <p:nvPr/>
          </p:nvSpPr>
          <p:spPr>
            <a:xfrm>
              <a:off x="1455738" y="2371725"/>
              <a:ext cx="2198688" cy="2200275"/>
            </a:xfrm>
            <a:custGeom>
              <a:avLst/>
              <a:gdLst/>
              <a:ahLst/>
              <a:cxnLst/>
              <a:rect l="l" t="t" r="r" b="b"/>
              <a:pathLst>
                <a:path w="1169" h="1170" extrusionOk="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grp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Arial"/>
                <a:ea typeface="Arial"/>
                <a:cs typeface="Arial"/>
                <a:sym typeface="Arial"/>
              </a:endParaRPr>
            </a:p>
          </p:txBody>
        </p:sp>
      </p:grpSp>
      <p:graphicFrame>
        <p:nvGraphicFramePr>
          <p:cNvPr id="3" name="Object 2">
            <a:extLst>
              <a:ext uri="{FF2B5EF4-FFF2-40B4-BE49-F238E27FC236}">
                <a16:creationId xmlns:a16="http://schemas.microsoft.com/office/drawing/2014/main" id="{C5738421-F013-78F7-F6B9-7B9E9D2DE7CC}"/>
              </a:ext>
            </a:extLst>
          </p:cNvPr>
          <p:cNvGraphicFramePr>
            <a:graphicFrameLocks noChangeAspect="1"/>
          </p:cNvGraphicFramePr>
          <p:nvPr>
            <p:extLst>
              <p:ext uri="{D42A27DB-BD31-4B8C-83A1-F6EECF244321}">
                <p14:modId xmlns:p14="http://schemas.microsoft.com/office/powerpoint/2010/main" val="658216228"/>
              </p:ext>
            </p:extLst>
          </p:nvPr>
        </p:nvGraphicFramePr>
        <p:xfrm>
          <a:off x="582274" y="1830017"/>
          <a:ext cx="10997573" cy="4419370"/>
        </p:xfrm>
        <a:graphic>
          <a:graphicData uri="http://schemas.openxmlformats.org/presentationml/2006/ole">
            <mc:AlternateContent xmlns:mc="http://schemas.openxmlformats.org/markup-compatibility/2006">
              <mc:Choice xmlns:v="urn:schemas-microsoft-com:vml" Requires="v">
                <p:oleObj name="Worksheet" r:id="rId3" imgW="31051500" imgH="11823700" progId="Excel.Sheet.12">
                  <p:embed/>
                </p:oleObj>
              </mc:Choice>
              <mc:Fallback>
                <p:oleObj name="Worksheet" r:id="rId3" imgW="31051500" imgH="11823700" progId="Excel.Sheet.12">
                  <p:embed/>
                  <p:pic>
                    <p:nvPicPr>
                      <p:cNvPr id="0" name=""/>
                      <p:cNvPicPr/>
                      <p:nvPr/>
                    </p:nvPicPr>
                    <p:blipFill>
                      <a:blip r:embed="rId4"/>
                      <a:stretch>
                        <a:fillRect/>
                      </a:stretch>
                    </p:blipFill>
                    <p:spPr>
                      <a:xfrm>
                        <a:off x="582274" y="1830017"/>
                        <a:ext cx="10997573" cy="4419370"/>
                      </a:xfrm>
                      <a:prstGeom prst="rect">
                        <a:avLst/>
                      </a:prstGeom>
                    </p:spPr>
                  </p:pic>
                </p:oleObj>
              </mc:Fallback>
            </mc:AlternateContent>
          </a:graphicData>
        </a:graphic>
      </p:graphicFrame>
    </p:spTree>
    <p:extLst>
      <p:ext uri="{BB962C8B-B14F-4D97-AF65-F5344CB8AC3E}">
        <p14:creationId xmlns:p14="http://schemas.microsoft.com/office/powerpoint/2010/main" val="3162101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A3838"/>
        </a:solidFill>
        <a:effectLst/>
      </p:bgPr>
    </p:bg>
    <p:spTree>
      <p:nvGrpSpPr>
        <p:cNvPr id="1" name="Shape 1821"/>
        <p:cNvGrpSpPr/>
        <p:nvPr/>
      </p:nvGrpSpPr>
      <p:grpSpPr>
        <a:xfrm>
          <a:off x="0" y="0"/>
          <a:ext cx="0" cy="0"/>
          <a:chOff x="0" y="0"/>
          <a:chExt cx="0" cy="0"/>
        </a:xfrm>
      </p:grpSpPr>
      <p:sp>
        <p:nvSpPr>
          <p:cNvPr id="1822" name="Google Shape;1822;p53"/>
          <p:cNvSpPr txBox="1"/>
          <p:nvPr/>
        </p:nvSpPr>
        <p:spPr>
          <a:xfrm>
            <a:off x="449511" y="464157"/>
            <a:ext cx="10539685" cy="518157"/>
          </a:xfrm>
          <a:prstGeom prst="rect">
            <a:avLst/>
          </a:prstGeom>
          <a:noFill/>
          <a:ln>
            <a:noFill/>
          </a:ln>
        </p:spPr>
        <p:txBody>
          <a:bodyPr spcFirstLastPara="1" wrap="square" lIns="91425" tIns="45700" rIns="91425" bIns="45700" anchor="b" anchorCtr="0">
            <a:noAutofit/>
          </a:bodyPr>
          <a:lstStyle/>
          <a:p>
            <a:pPr marL="0" marR="0" lvl="0" indent="0" rtl="0">
              <a:lnSpc>
                <a:spcPct val="90000"/>
              </a:lnSpc>
              <a:spcBef>
                <a:spcPts val="0"/>
              </a:spcBef>
              <a:spcAft>
                <a:spcPts val="0"/>
              </a:spcAft>
              <a:buClr>
                <a:schemeClr val="lt1"/>
              </a:buClr>
              <a:buSzPts val="2800"/>
              <a:buFont typeface="Open Sans"/>
              <a:buNone/>
            </a:pPr>
            <a:r>
              <a:rPr lang="en-US" sz="2800" b="1" dirty="0">
                <a:solidFill>
                  <a:schemeClr val="lt1"/>
                </a:solidFill>
                <a:latin typeface="Open Sans"/>
                <a:ea typeface="Open Sans"/>
                <a:cs typeface="Open Sans"/>
                <a:sym typeface="Open Sans"/>
              </a:rPr>
              <a:t>Lessons Learned</a:t>
            </a:r>
            <a:endParaRPr sz="2800" b="1" dirty="0">
              <a:solidFill>
                <a:schemeClr val="lt1"/>
              </a:solidFill>
              <a:latin typeface="Open Sans"/>
              <a:ea typeface="Open Sans"/>
              <a:cs typeface="Open Sans"/>
              <a:sym typeface="Open Sans"/>
            </a:endParaRPr>
          </a:p>
        </p:txBody>
      </p:sp>
      <p:sp>
        <p:nvSpPr>
          <p:cNvPr id="1823" name="Google Shape;1823;p53"/>
          <p:cNvSpPr txBox="1"/>
          <p:nvPr/>
        </p:nvSpPr>
        <p:spPr>
          <a:xfrm>
            <a:off x="1648935" y="1086398"/>
            <a:ext cx="8697279" cy="41044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200"/>
              <a:buFont typeface="Calibri"/>
              <a:buNone/>
            </a:pPr>
            <a:endParaRPr lang="en-US" sz="1600" dirty="0">
              <a:solidFill>
                <a:schemeClr val="lt1"/>
              </a:solidFill>
              <a:latin typeface="Calibri"/>
              <a:ea typeface="Calibri"/>
              <a:cs typeface="Calibri"/>
              <a:sym typeface="Calibri"/>
            </a:endParaRPr>
          </a:p>
        </p:txBody>
      </p:sp>
      <p:sp>
        <p:nvSpPr>
          <p:cNvPr id="1854" name="Google Shape;1854;p53"/>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17</a:t>
            </a:fld>
            <a:endParaRPr/>
          </a:p>
        </p:txBody>
      </p:sp>
      <p:sp>
        <p:nvSpPr>
          <p:cNvPr id="30" name="Rectangle 4">
            <a:extLst>
              <a:ext uri="{FF2B5EF4-FFF2-40B4-BE49-F238E27FC236}">
                <a16:creationId xmlns:a16="http://schemas.microsoft.com/office/drawing/2014/main" id="{4610E5B6-568A-AD4F-96FE-67ACBBDFEBC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 name="Google Shape;1822;p53">
            <a:extLst>
              <a:ext uri="{FF2B5EF4-FFF2-40B4-BE49-F238E27FC236}">
                <a16:creationId xmlns:a16="http://schemas.microsoft.com/office/drawing/2014/main" id="{7BCD7738-CACB-744C-88B8-B2F6218E1EF4}"/>
              </a:ext>
            </a:extLst>
          </p:cNvPr>
          <p:cNvSpPr txBox="1"/>
          <p:nvPr/>
        </p:nvSpPr>
        <p:spPr>
          <a:xfrm>
            <a:off x="2938652" y="2563631"/>
            <a:ext cx="8697278" cy="1935770"/>
          </a:xfrm>
          <a:prstGeom prst="rect">
            <a:avLst/>
          </a:prstGeom>
          <a:noFill/>
          <a:ln>
            <a:noFill/>
          </a:ln>
          <a:effectLst>
            <a:glow rad="127000">
              <a:schemeClr val="accent1"/>
            </a:glow>
          </a:effectLst>
        </p:spPr>
        <p:txBody>
          <a:bodyPr spcFirstLastPara="1" wrap="square" lIns="91425" tIns="45700" rIns="91425" bIns="45700" anchor="b" anchorCtr="0">
            <a:noAutofit/>
          </a:bodyPr>
          <a:lstStyle/>
          <a:p>
            <a:pPr marL="342900" marR="0" lvl="0" indent="-342900" rtl="0">
              <a:lnSpc>
                <a:spcPct val="150000"/>
              </a:lnSpc>
              <a:spcBef>
                <a:spcPts val="0"/>
              </a:spcBef>
              <a:spcAft>
                <a:spcPts val="0"/>
              </a:spcAft>
              <a:buClr>
                <a:schemeClr val="lt1"/>
              </a:buClr>
              <a:buSzPts val="2800"/>
              <a:buFont typeface="Wingdings" pitchFamily="2" charset="2"/>
              <a:buChar char="Ø"/>
            </a:pPr>
            <a:r>
              <a:rPr lang="en-US" sz="2400" b="1" dirty="0">
                <a:solidFill>
                  <a:srgbClr val="E6AD18"/>
                </a:solidFill>
                <a:latin typeface="Open Sans"/>
                <a:ea typeface="Open Sans"/>
                <a:cs typeface="Open Sans"/>
                <a:sym typeface="Open Sans"/>
              </a:rPr>
              <a:t>Solicit feedback from team members as to the lessons learned or the “ah-ha” moments</a:t>
            </a:r>
          </a:p>
          <a:p>
            <a:pPr marL="342900" marR="0" lvl="0" indent="-342900" rtl="0">
              <a:lnSpc>
                <a:spcPct val="150000"/>
              </a:lnSpc>
              <a:spcBef>
                <a:spcPts val="0"/>
              </a:spcBef>
              <a:spcAft>
                <a:spcPts val="0"/>
              </a:spcAft>
              <a:buClr>
                <a:schemeClr val="lt1"/>
              </a:buClr>
              <a:buSzPts val="2800"/>
              <a:buFont typeface="Wingdings" pitchFamily="2" charset="2"/>
              <a:buChar char="Ø"/>
            </a:pPr>
            <a:r>
              <a:rPr lang="en-US" sz="2400" b="1" dirty="0">
                <a:solidFill>
                  <a:srgbClr val="E6AD18"/>
                </a:solidFill>
                <a:latin typeface="Open Sans"/>
                <a:ea typeface="Open Sans"/>
                <a:cs typeface="Open Sans"/>
                <a:sym typeface="Open Sans"/>
              </a:rPr>
              <a:t>Include praise, concerns, criticisms, etc.</a:t>
            </a:r>
          </a:p>
          <a:p>
            <a:pPr marL="342900" marR="0" lvl="0" indent="-342900" rtl="0">
              <a:lnSpc>
                <a:spcPct val="150000"/>
              </a:lnSpc>
              <a:spcBef>
                <a:spcPts val="0"/>
              </a:spcBef>
              <a:spcAft>
                <a:spcPts val="0"/>
              </a:spcAft>
              <a:buClr>
                <a:schemeClr val="lt1"/>
              </a:buClr>
              <a:buSzPts val="2800"/>
              <a:buFont typeface="Wingdings" pitchFamily="2" charset="2"/>
              <a:buChar char="Ø"/>
            </a:pPr>
            <a:r>
              <a:rPr lang="en-US" sz="2400" b="1" dirty="0">
                <a:solidFill>
                  <a:srgbClr val="E6AD18"/>
                </a:solidFill>
                <a:latin typeface="Open Sans"/>
                <a:ea typeface="Open Sans"/>
                <a:cs typeface="Open Sans"/>
                <a:sym typeface="Open Sans"/>
              </a:rPr>
              <a:t>No need to identify the author of the comment</a:t>
            </a:r>
          </a:p>
          <a:p>
            <a:pPr marL="342900" marR="0" lvl="0" indent="-342900" rtl="0">
              <a:lnSpc>
                <a:spcPct val="150000"/>
              </a:lnSpc>
              <a:spcBef>
                <a:spcPts val="0"/>
              </a:spcBef>
              <a:spcAft>
                <a:spcPts val="0"/>
              </a:spcAft>
              <a:buClr>
                <a:schemeClr val="lt1"/>
              </a:buClr>
              <a:buSzPts val="2800"/>
              <a:buFont typeface="Wingdings" pitchFamily="2" charset="2"/>
              <a:buChar char="Ø"/>
            </a:pPr>
            <a:r>
              <a:rPr lang="en-US" sz="2400" b="1" dirty="0">
                <a:solidFill>
                  <a:srgbClr val="E6AD18"/>
                </a:solidFill>
                <a:latin typeface="Open Sans"/>
                <a:ea typeface="Open Sans"/>
                <a:cs typeface="Open Sans"/>
                <a:sym typeface="Open Sans"/>
              </a:rPr>
              <a:t>Team Leader should present this section</a:t>
            </a:r>
            <a:endParaRPr sz="2400" b="1" dirty="0">
              <a:solidFill>
                <a:srgbClr val="E6AD18"/>
              </a:solidFill>
              <a:latin typeface="Open Sans"/>
              <a:ea typeface="Open Sans"/>
              <a:cs typeface="Open Sans"/>
              <a:sym typeface="Open Sans"/>
            </a:endParaRPr>
          </a:p>
        </p:txBody>
      </p:sp>
      <p:grpSp>
        <p:nvGrpSpPr>
          <p:cNvPr id="11" name="Google Shape;1824;p53">
            <a:extLst>
              <a:ext uri="{FF2B5EF4-FFF2-40B4-BE49-F238E27FC236}">
                <a16:creationId xmlns:a16="http://schemas.microsoft.com/office/drawing/2014/main" id="{ED6F859F-C6BF-944E-941E-2C7CC48FE3C1}"/>
              </a:ext>
            </a:extLst>
          </p:cNvPr>
          <p:cNvGrpSpPr/>
          <p:nvPr/>
        </p:nvGrpSpPr>
        <p:grpSpPr>
          <a:xfrm>
            <a:off x="10338507" y="191935"/>
            <a:ext cx="1524135" cy="1486847"/>
            <a:chOff x="1455738" y="2371725"/>
            <a:chExt cx="2198688" cy="2200275"/>
          </a:xfrm>
        </p:grpSpPr>
        <p:sp>
          <p:nvSpPr>
            <p:cNvPr id="12" name="Google Shape;1825;p53">
              <a:extLst>
                <a:ext uri="{FF2B5EF4-FFF2-40B4-BE49-F238E27FC236}">
                  <a16:creationId xmlns:a16="http://schemas.microsoft.com/office/drawing/2014/main" id="{5BD9E55A-59FC-7742-BDC4-FBABB392FF24}"/>
                </a:ext>
              </a:extLst>
            </p:cNvPr>
            <p:cNvSpPr/>
            <p:nvPr/>
          </p:nvSpPr>
          <p:spPr>
            <a:xfrm>
              <a:off x="2035175" y="2967038"/>
              <a:ext cx="1071563" cy="1009650"/>
            </a:xfrm>
            <a:custGeom>
              <a:avLst/>
              <a:gdLst/>
              <a:ahLst/>
              <a:cxnLst/>
              <a:rect l="l" t="t" r="r" b="b"/>
              <a:pathLst>
                <a:path w="570" h="536" extrusionOk="0">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gradFill>
              <a:gsLst>
                <a:gs pos="0">
                  <a:srgbClr val="95845C"/>
                </a:gs>
                <a:gs pos="50000">
                  <a:schemeClr val="accent1"/>
                </a:gs>
                <a:gs pos="100000">
                  <a:schemeClr val="accent1"/>
                </a:gs>
              </a:gsLst>
              <a:lin ang="8100000" scaled="0"/>
            </a:grad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dirty="0">
                  <a:solidFill>
                    <a:schemeClr val="lt1"/>
                  </a:solidFill>
                  <a:latin typeface="Arial"/>
                  <a:ea typeface="Arial"/>
                  <a:cs typeface="Arial"/>
                  <a:sym typeface="Arial"/>
                </a:rPr>
                <a:t>6</a:t>
              </a:r>
              <a:endParaRPr sz="3600" dirty="0">
                <a:solidFill>
                  <a:schemeClr val="lt1"/>
                </a:solidFill>
                <a:latin typeface="Arial"/>
                <a:ea typeface="Arial"/>
                <a:cs typeface="Arial"/>
                <a:sym typeface="Arial"/>
              </a:endParaRPr>
            </a:p>
          </p:txBody>
        </p:sp>
        <p:sp>
          <p:nvSpPr>
            <p:cNvPr id="13" name="Google Shape;1826;p53">
              <a:extLst>
                <a:ext uri="{FF2B5EF4-FFF2-40B4-BE49-F238E27FC236}">
                  <a16:creationId xmlns:a16="http://schemas.microsoft.com/office/drawing/2014/main" id="{E98D6B2A-A002-D44D-A0D4-CCAFAA99925D}"/>
                </a:ext>
              </a:extLst>
            </p:cNvPr>
            <p:cNvSpPr/>
            <p:nvPr/>
          </p:nvSpPr>
          <p:spPr>
            <a:xfrm>
              <a:off x="1455738" y="2371725"/>
              <a:ext cx="2198688" cy="2200275"/>
            </a:xfrm>
            <a:custGeom>
              <a:avLst/>
              <a:gdLst/>
              <a:ahLst/>
              <a:cxnLst/>
              <a:rect l="l" t="t" r="r" b="b"/>
              <a:pathLst>
                <a:path w="1169" h="1170" extrusionOk="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gradFill>
              <a:gsLst>
                <a:gs pos="0">
                  <a:srgbClr val="95845C"/>
                </a:gs>
                <a:gs pos="50000">
                  <a:schemeClr val="accent1"/>
                </a:gs>
                <a:gs pos="100000">
                  <a:schemeClr val="accent1"/>
                </a:gs>
              </a:gsLst>
              <a:lin ang="8100000" scaled="0"/>
            </a:grad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Arial"/>
                <a:ea typeface="Arial"/>
                <a:cs typeface="Arial"/>
                <a:sym typeface="Arial"/>
              </a:endParaRPr>
            </a:p>
          </p:txBody>
        </p:sp>
      </p:grpSp>
      <p:pic>
        <p:nvPicPr>
          <p:cNvPr id="3" name="Picture 2">
            <a:extLst>
              <a:ext uri="{FF2B5EF4-FFF2-40B4-BE49-F238E27FC236}">
                <a16:creationId xmlns:a16="http://schemas.microsoft.com/office/drawing/2014/main" id="{75C04D54-4F18-9146-AFC0-6517B0A19797}"/>
              </a:ext>
            </a:extLst>
          </p:cNvPr>
          <p:cNvPicPr>
            <a:picLocks noChangeAspect="1"/>
          </p:cNvPicPr>
          <p:nvPr/>
        </p:nvPicPr>
        <p:blipFill>
          <a:blip r:embed="rId3"/>
          <a:stretch>
            <a:fillRect/>
          </a:stretch>
        </p:blipFill>
        <p:spPr>
          <a:xfrm>
            <a:off x="449512" y="4655127"/>
            <a:ext cx="2927952" cy="1951968"/>
          </a:xfrm>
          <a:prstGeom prst="rect">
            <a:avLst/>
          </a:prstGeom>
          <a:effectLst>
            <a:glow rad="1905000">
              <a:srgbClr val="FFC000">
                <a:alpha val="48000"/>
              </a:srgbClr>
            </a:glow>
            <a:softEdge rad="215900"/>
          </a:effectLst>
        </p:spPr>
      </p:pic>
    </p:spTree>
    <p:extLst>
      <p:ext uri="{BB962C8B-B14F-4D97-AF65-F5344CB8AC3E}">
        <p14:creationId xmlns:p14="http://schemas.microsoft.com/office/powerpoint/2010/main" val="2353908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A3838"/>
        </a:solidFill>
        <a:effectLst/>
      </p:bgPr>
    </p:bg>
    <p:spTree>
      <p:nvGrpSpPr>
        <p:cNvPr id="1" name="Shape 1821">
          <a:extLst>
            <a:ext uri="{FF2B5EF4-FFF2-40B4-BE49-F238E27FC236}">
              <a16:creationId xmlns:a16="http://schemas.microsoft.com/office/drawing/2014/main" id="{B208DED5-B175-66D4-5543-DB04D444FDA8}"/>
            </a:ext>
          </a:extLst>
        </p:cNvPr>
        <p:cNvGrpSpPr/>
        <p:nvPr/>
      </p:nvGrpSpPr>
      <p:grpSpPr>
        <a:xfrm>
          <a:off x="0" y="0"/>
          <a:ext cx="0" cy="0"/>
          <a:chOff x="0" y="0"/>
          <a:chExt cx="0" cy="0"/>
        </a:xfrm>
      </p:grpSpPr>
      <p:sp>
        <p:nvSpPr>
          <p:cNvPr id="1822" name="Google Shape;1822;p53">
            <a:extLst>
              <a:ext uri="{FF2B5EF4-FFF2-40B4-BE49-F238E27FC236}">
                <a16:creationId xmlns:a16="http://schemas.microsoft.com/office/drawing/2014/main" id="{F0EC36A4-A8CC-1D66-A7A2-E1F85A989BA2}"/>
              </a:ext>
            </a:extLst>
          </p:cNvPr>
          <p:cNvSpPr txBox="1"/>
          <p:nvPr/>
        </p:nvSpPr>
        <p:spPr>
          <a:xfrm>
            <a:off x="449511" y="464157"/>
            <a:ext cx="10539685" cy="518157"/>
          </a:xfrm>
          <a:prstGeom prst="rect">
            <a:avLst/>
          </a:prstGeom>
          <a:noFill/>
          <a:ln>
            <a:noFill/>
          </a:ln>
        </p:spPr>
        <p:txBody>
          <a:bodyPr spcFirstLastPara="1" wrap="square" lIns="91425" tIns="45700" rIns="91425" bIns="45700" anchor="b" anchorCtr="0">
            <a:noAutofit/>
          </a:bodyPr>
          <a:lstStyle/>
          <a:p>
            <a:pPr marL="0" marR="0" lvl="0" indent="0" rtl="0">
              <a:lnSpc>
                <a:spcPct val="90000"/>
              </a:lnSpc>
              <a:spcBef>
                <a:spcPts val="0"/>
              </a:spcBef>
              <a:spcAft>
                <a:spcPts val="0"/>
              </a:spcAft>
              <a:buClr>
                <a:schemeClr val="lt1"/>
              </a:buClr>
              <a:buSzPts val="2800"/>
              <a:buFont typeface="Open Sans"/>
              <a:buNone/>
            </a:pPr>
            <a:r>
              <a:rPr lang="en-US" sz="2800" b="1" dirty="0">
                <a:solidFill>
                  <a:schemeClr val="lt1"/>
                </a:solidFill>
                <a:latin typeface="Open Sans"/>
                <a:ea typeface="Open Sans"/>
                <a:cs typeface="Open Sans"/>
                <a:sym typeface="Open Sans"/>
              </a:rPr>
              <a:t>Parking Lot</a:t>
            </a:r>
            <a:endParaRPr sz="2800" b="1" dirty="0">
              <a:solidFill>
                <a:schemeClr val="lt1"/>
              </a:solidFill>
              <a:latin typeface="Open Sans"/>
              <a:ea typeface="Open Sans"/>
              <a:cs typeface="Open Sans"/>
              <a:sym typeface="Open Sans"/>
            </a:endParaRPr>
          </a:p>
        </p:txBody>
      </p:sp>
      <p:sp>
        <p:nvSpPr>
          <p:cNvPr id="1823" name="Google Shape;1823;p53">
            <a:extLst>
              <a:ext uri="{FF2B5EF4-FFF2-40B4-BE49-F238E27FC236}">
                <a16:creationId xmlns:a16="http://schemas.microsoft.com/office/drawing/2014/main" id="{5E345A36-7BD9-E868-0400-5F67664F00FB}"/>
              </a:ext>
            </a:extLst>
          </p:cNvPr>
          <p:cNvSpPr txBox="1"/>
          <p:nvPr/>
        </p:nvSpPr>
        <p:spPr>
          <a:xfrm>
            <a:off x="1648935" y="1086398"/>
            <a:ext cx="8697279" cy="41044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lt1"/>
              </a:buClr>
              <a:buSzPts val="1200"/>
              <a:buFont typeface="Calibri"/>
              <a:buNone/>
            </a:pPr>
            <a:endParaRPr lang="en-US" sz="1600" dirty="0">
              <a:solidFill>
                <a:schemeClr val="lt1"/>
              </a:solidFill>
              <a:latin typeface="Calibri"/>
              <a:ea typeface="Calibri"/>
              <a:cs typeface="Calibri"/>
              <a:sym typeface="Calibri"/>
            </a:endParaRPr>
          </a:p>
        </p:txBody>
      </p:sp>
      <p:sp>
        <p:nvSpPr>
          <p:cNvPr id="1854" name="Google Shape;1854;p53">
            <a:extLst>
              <a:ext uri="{FF2B5EF4-FFF2-40B4-BE49-F238E27FC236}">
                <a16:creationId xmlns:a16="http://schemas.microsoft.com/office/drawing/2014/main" id="{26B4635A-BC66-12E9-83C8-203F37539A13}"/>
              </a:ext>
            </a:extLst>
          </p:cNvPr>
          <p:cNvSpPr txBox="1">
            <a:spLocks noGrp="1"/>
          </p:cNvSpPr>
          <p:nvPr>
            <p:ph type="sldNum" idx="12"/>
          </p:nvPr>
        </p:nvSpPr>
        <p:spPr>
          <a:xfrm>
            <a:off x="11353800" y="6424533"/>
            <a:ext cx="50884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18</a:t>
            </a:fld>
            <a:endParaRPr/>
          </a:p>
        </p:txBody>
      </p:sp>
      <p:sp>
        <p:nvSpPr>
          <p:cNvPr id="30" name="Rectangle 4">
            <a:extLst>
              <a:ext uri="{FF2B5EF4-FFF2-40B4-BE49-F238E27FC236}">
                <a16:creationId xmlns:a16="http://schemas.microsoft.com/office/drawing/2014/main" id="{9D219008-B3E0-6C6E-89B7-EF72687342E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 name="Google Shape;1822;p53">
            <a:extLst>
              <a:ext uri="{FF2B5EF4-FFF2-40B4-BE49-F238E27FC236}">
                <a16:creationId xmlns:a16="http://schemas.microsoft.com/office/drawing/2014/main" id="{686C2939-8F3A-4E31-AA62-A205369554BF}"/>
              </a:ext>
            </a:extLst>
          </p:cNvPr>
          <p:cNvSpPr txBox="1"/>
          <p:nvPr/>
        </p:nvSpPr>
        <p:spPr>
          <a:xfrm>
            <a:off x="1370714" y="2461115"/>
            <a:ext cx="8697278" cy="1935770"/>
          </a:xfrm>
          <a:prstGeom prst="rect">
            <a:avLst/>
          </a:prstGeom>
          <a:noFill/>
          <a:ln>
            <a:noFill/>
          </a:ln>
          <a:effectLst>
            <a:glow rad="127000">
              <a:schemeClr val="accent1"/>
            </a:glow>
          </a:effectLst>
        </p:spPr>
        <p:txBody>
          <a:bodyPr spcFirstLastPara="1" wrap="square" lIns="91425" tIns="45700" rIns="91425" bIns="45700" anchor="b" anchorCtr="0">
            <a:noAutofit/>
          </a:bodyPr>
          <a:lstStyle/>
          <a:p>
            <a:pPr marL="342900" marR="0" lvl="0" indent="-342900" rtl="0">
              <a:lnSpc>
                <a:spcPct val="150000"/>
              </a:lnSpc>
              <a:spcBef>
                <a:spcPts val="0"/>
              </a:spcBef>
              <a:spcAft>
                <a:spcPts val="0"/>
              </a:spcAft>
              <a:buClr>
                <a:schemeClr val="lt1"/>
              </a:buClr>
              <a:buSzPts val="2800"/>
              <a:buFont typeface="Wingdings" pitchFamily="2" charset="2"/>
              <a:buChar char="Ø"/>
            </a:pPr>
            <a:r>
              <a:rPr lang="en-US" sz="2400" b="1" dirty="0">
                <a:solidFill>
                  <a:srgbClr val="E6AD18"/>
                </a:solidFill>
                <a:latin typeface="Open Sans"/>
                <a:ea typeface="Open Sans"/>
                <a:cs typeface="Open Sans"/>
                <a:sym typeface="Open Sans"/>
              </a:rPr>
              <a:t>A list of future actions, Kaizen events, and focus areas that the Kaizen team recommends for future consideration that were outside the scope of the current Kaizen event. </a:t>
            </a:r>
            <a:endParaRPr sz="2400" b="1" dirty="0">
              <a:solidFill>
                <a:srgbClr val="E6AD18"/>
              </a:solidFill>
              <a:latin typeface="Open Sans"/>
              <a:ea typeface="Open Sans"/>
              <a:cs typeface="Open Sans"/>
              <a:sym typeface="Open Sans"/>
            </a:endParaRPr>
          </a:p>
        </p:txBody>
      </p:sp>
      <p:grpSp>
        <p:nvGrpSpPr>
          <p:cNvPr id="11" name="Google Shape;1824;p53">
            <a:extLst>
              <a:ext uri="{FF2B5EF4-FFF2-40B4-BE49-F238E27FC236}">
                <a16:creationId xmlns:a16="http://schemas.microsoft.com/office/drawing/2014/main" id="{2FFDE268-0928-2869-0BC2-7B142899ADF0}"/>
              </a:ext>
            </a:extLst>
          </p:cNvPr>
          <p:cNvGrpSpPr/>
          <p:nvPr/>
        </p:nvGrpSpPr>
        <p:grpSpPr>
          <a:xfrm>
            <a:off x="10338507" y="191935"/>
            <a:ext cx="1524135" cy="1486847"/>
            <a:chOff x="1455738" y="2371725"/>
            <a:chExt cx="2198688" cy="2200275"/>
          </a:xfrm>
        </p:grpSpPr>
        <p:sp>
          <p:nvSpPr>
            <p:cNvPr id="12" name="Google Shape;1825;p53">
              <a:extLst>
                <a:ext uri="{FF2B5EF4-FFF2-40B4-BE49-F238E27FC236}">
                  <a16:creationId xmlns:a16="http://schemas.microsoft.com/office/drawing/2014/main" id="{8F420228-7640-2777-2BCF-A05ECB8C7556}"/>
                </a:ext>
              </a:extLst>
            </p:cNvPr>
            <p:cNvSpPr/>
            <p:nvPr/>
          </p:nvSpPr>
          <p:spPr>
            <a:xfrm>
              <a:off x="2035175" y="2967038"/>
              <a:ext cx="1071563" cy="1009650"/>
            </a:xfrm>
            <a:custGeom>
              <a:avLst/>
              <a:gdLst/>
              <a:ahLst/>
              <a:cxnLst/>
              <a:rect l="l" t="t" r="r" b="b"/>
              <a:pathLst>
                <a:path w="570" h="536" extrusionOk="0">
                  <a:moveTo>
                    <a:pt x="277" y="0"/>
                  </a:moveTo>
                  <a:cubicBezTo>
                    <a:pt x="257" y="0"/>
                    <a:pt x="237" y="3"/>
                    <a:pt x="217" y="7"/>
                  </a:cubicBezTo>
                  <a:cubicBezTo>
                    <a:pt x="147" y="23"/>
                    <a:pt x="88" y="65"/>
                    <a:pt x="50" y="126"/>
                  </a:cubicBezTo>
                  <a:cubicBezTo>
                    <a:pt x="12" y="186"/>
                    <a:pt x="0" y="258"/>
                    <a:pt x="16" y="328"/>
                  </a:cubicBezTo>
                  <a:cubicBezTo>
                    <a:pt x="44" y="450"/>
                    <a:pt x="151" y="536"/>
                    <a:pt x="276" y="536"/>
                  </a:cubicBezTo>
                  <a:cubicBezTo>
                    <a:pt x="296" y="536"/>
                    <a:pt x="316" y="533"/>
                    <a:pt x="336" y="529"/>
                  </a:cubicBezTo>
                  <a:cubicBezTo>
                    <a:pt x="480" y="496"/>
                    <a:pt x="570" y="352"/>
                    <a:pt x="538" y="208"/>
                  </a:cubicBezTo>
                  <a:cubicBezTo>
                    <a:pt x="510" y="86"/>
                    <a:pt x="402" y="0"/>
                    <a:pt x="277" y="0"/>
                  </a:cubicBezTo>
                  <a:close/>
                </a:path>
              </a:pathLst>
            </a:custGeom>
            <a:gradFill>
              <a:gsLst>
                <a:gs pos="0">
                  <a:srgbClr val="95845C"/>
                </a:gs>
                <a:gs pos="50000">
                  <a:schemeClr val="accent1"/>
                </a:gs>
                <a:gs pos="100000">
                  <a:schemeClr val="accent1"/>
                </a:gs>
              </a:gsLst>
              <a:lin ang="8100000" scaled="0"/>
            </a:grad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dirty="0">
                  <a:solidFill>
                    <a:schemeClr val="lt1"/>
                  </a:solidFill>
                  <a:latin typeface="Arial"/>
                  <a:ea typeface="Arial"/>
                  <a:cs typeface="Arial"/>
                  <a:sym typeface="Arial"/>
                </a:rPr>
                <a:t>6</a:t>
              </a:r>
              <a:endParaRPr sz="3600" dirty="0">
                <a:solidFill>
                  <a:schemeClr val="lt1"/>
                </a:solidFill>
                <a:latin typeface="Arial"/>
                <a:ea typeface="Arial"/>
                <a:cs typeface="Arial"/>
                <a:sym typeface="Arial"/>
              </a:endParaRPr>
            </a:p>
          </p:txBody>
        </p:sp>
        <p:sp>
          <p:nvSpPr>
            <p:cNvPr id="13" name="Google Shape;1826;p53">
              <a:extLst>
                <a:ext uri="{FF2B5EF4-FFF2-40B4-BE49-F238E27FC236}">
                  <a16:creationId xmlns:a16="http://schemas.microsoft.com/office/drawing/2014/main" id="{3993603F-2A72-62DC-3E9C-5F9A0E8E7279}"/>
                </a:ext>
              </a:extLst>
            </p:cNvPr>
            <p:cNvSpPr/>
            <p:nvPr/>
          </p:nvSpPr>
          <p:spPr>
            <a:xfrm>
              <a:off x="1455738" y="2371725"/>
              <a:ext cx="2198688" cy="2200275"/>
            </a:xfrm>
            <a:custGeom>
              <a:avLst/>
              <a:gdLst/>
              <a:ahLst/>
              <a:cxnLst/>
              <a:rect l="l" t="t" r="r" b="b"/>
              <a:pathLst>
                <a:path w="1169" h="1170" extrusionOk="0">
                  <a:moveTo>
                    <a:pt x="1055" y="596"/>
                  </a:moveTo>
                  <a:cubicBezTo>
                    <a:pt x="1101" y="580"/>
                    <a:pt x="1140" y="564"/>
                    <a:pt x="1169" y="551"/>
                  </a:cubicBezTo>
                  <a:cubicBezTo>
                    <a:pt x="1167" y="519"/>
                    <a:pt x="1163" y="487"/>
                    <a:pt x="1156" y="455"/>
                  </a:cubicBezTo>
                  <a:cubicBezTo>
                    <a:pt x="1155" y="452"/>
                    <a:pt x="1154" y="449"/>
                    <a:pt x="1153" y="446"/>
                  </a:cubicBezTo>
                  <a:cubicBezTo>
                    <a:pt x="1121" y="442"/>
                    <a:pt x="1080" y="438"/>
                    <a:pt x="1031" y="436"/>
                  </a:cubicBezTo>
                  <a:cubicBezTo>
                    <a:pt x="1022" y="409"/>
                    <a:pt x="1011" y="384"/>
                    <a:pt x="998" y="359"/>
                  </a:cubicBezTo>
                  <a:cubicBezTo>
                    <a:pt x="1030" y="322"/>
                    <a:pt x="1055" y="290"/>
                    <a:pt x="1074" y="263"/>
                  </a:cubicBezTo>
                  <a:cubicBezTo>
                    <a:pt x="1054" y="233"/>
                    <a:pt x="1032" y="206"/>
                    <a:pt x="1008" y="180"/>
                  </a:cubicBezTo>
                  <a:cubicBezTo>
                    <a:pt x="977" y="193"/>
                    <a:pt x="940" y="210"/>
                    <a:pt x="897" y="233"/>
                  </a:cubicBezTo>
                  <a:cubicBezTo>
                    <a:pt x="876" y="214"/>
                    <a:pt x="853" y="198"/>
                    <a:pt x="829" y="183"/>
                  </a:cubicBezTo>
                  <a:cubicBezTo>
                    <a:pt x="838" y="135"/>
                    <a:pt x="844" y="94"/>
                    <a:pt x="847" y="62"/>
                  </a:cubicBezTo>
                  <a:cubicBezTo>
                    <a:pt x="816" y="46"/>
                    <a:pt x="783" y="33"/>
                    <a:pt x="749" y="23"/>
                  </a:cubicBezTo>
                  <a:cubicBezTo>
                    <a:pt x="729" y="49"/>
                    <a:pt x="705" y="82"/>
                    <a:pt x="679" y="124"/>
                  </a:cubicBezTo>
                  <a:cubicBezTo>
                    <a:pt x="652" y="118"/>
                    <a:pt x="624" y="115"/>
                    <a:pt x="596" y="114"/>
                  </a:cubicBezTo>
                  <a:cubicBezTo>
                    <a:pt x="579" y="68"/>
                    <a:pt x="564" y="30"/>
                    <a:pt x="550" y="0"/>
                  </a:cubicBezTo>
                  <a:cubicBezTo>
                    <a:pt x="518" y="2"/>
                    <a:pt x="486" y="7"/>
                    <a:pt x="454" y="14"/>
                  </a:cubicBezTo>
                  <a:cubicBezTo>
                    <a:pt x="451" y="15"/>
                    <a:pt x="449" y="15"/>
                    <a:pt x="446" y="16"/>
                  </a:cubicBezTo>
                  <a:cubicBezTo>
                    <a:pt x="441" y="49"/>
                    <a:pt x="438" y="89"/>
                    <a:pt x="436" y="139"/>
                  </a:cubicBezTo>
                  <a:cubicBezTo>
                    <a:pt x="409" y="147"/>
                    <a:pt x="383" y="159"/>
                    <a:pt x="359" y="172"/>
                  </a:cubicBezTo>
                  <a:cubicBezTo>
                    <a:pt x="321" y="140"/>
                    <a:pt x="289" y="115"/>
                    <a:pt x="262" y="96"/>
                  </a:cubicBezTo>
                  <a:cubicBezTo>
                    <a:pt x="233" y="115"/>
                    <a:pt x="205" y="137"/>
                    <a:pt x="180" y="162"/>
                  </a:cubicBezTo>
                  <a:cubicBezTo>
                    <a:pt x="192" y="192"/>
                    <a:pt x="210" y="229"/>
                    <a:pt x="232" y="273"/>
                  </a:cubicBezTo>
                  <a:cubicBezTo>
                    <a:pt x="214" y="294"/>
                    <a:pt x="197" y="316"/>
                    <a:pt x="183" y="340"/>
                  </a:cubicBezTo>
                  <a:cubicBezTo>
                    <a:pt x="134" y="331"/>
                    <a:pt x="94" y="325"/>
                    <a:pt x="61" y="323"/>
                  </a:cubicBezTo>
                  <a:cubicBezTo>
                    <a:pt x="45" y="354"/>
                    <a:pt x="32" y="387"/>
                    <a:pt x="22" y="421"/>
                  </a:cubicBezTo>
                  <a:cubicBezTo>
                    <a:pt x="48" y="441"/>
                    <a:pt x="82" y="464"/>
                    <a:pt x="123" y="491"/>
                  </a:cubicBezTo>
                  <a:cubicBezTo>
                    <a:pt x="118" y="518"/>
                    <a:pt x="115" y="546"/>
                    <a:pt x="114" y="574"/>
                  </a:cubicBezTo>
                  <a:cubicBezTo>
                    <a:pt x="68" y="590"/>
                    <a:pt x="30" y="606"/>
                    <a:pt x="0" y="619"/>
                  </a:cubicBezTo>
                  <a:cubicBezTo>
                    <a:pt x="2" y="651"/>
                    <a:pt x="6" y="683"/>
                    <a:pt x="14" y="716"/>
                  </a:cubicBezTo>
                  <a:cubicBezTo>
                    <a:pt x="14" y="718"/>
                    <a:pt x="15" y="721"/>
                    <a:pt x="16" y="724"/>
                  </a:cubicBezTo>
                  <a:cubicBezTo>
                    <a:pt x="48" y="729"/>
                    <a:pt x="89" y="732"/>
                    <a:pt x="138" y="734"/>
                  </a:cubicBezTo>
                  <a:cubicBezTo>
                    <a:pt x="147" y="761"/>
                    <a:pt x="158" y="787"/>
                    <a:pt x="171" y="811"/>
                  </a:cubicBezTo>
                  <a:cubicBezTo>
                    <a:pt x="140" y="848"/>
                    <a:pt x="114" y="880"/>
                    <a:pt x="95" y="907"/>
                  </a:cubicBezTo>
                  <a:cubicBezTo>
                    <a:pt x="115" y="937"/>
                    <a:pt x="137" y="965"/>
                    <a:pt x="161" y="990"/>
                  </a:cubicBezTo>
                  <a:cubicBezTo>
                    <a:pt x="192" y="977"/>
                    <a:pt x="229" y="960"/>
                    <a:pt x="272" y="937"/>
                  </a:cubicBezTo>
                  <a:cubicBezTo>
                    <a:pt x="293" y="956"/>
                    <a:pt x="316" y="972"/>
                    <a:pt x="340" y="987"/>
                  </a:cubicBezTo>
                  <a:cubicBezTo>
                    <a:pt x="331" y="1035"/>
                    <a:pt x="325" y="1076"/>
                    <a:pt x="322" y="1109"/>
                  </a:cubicBezTo>
                  <a:cubicBezTo>
                    <a:pt x="354" y="1124"/>
                    <a:pt x="386" y="1137"/>
                    <a:pt x="420" y="1147"/>
                  </a:cubicBezTo>
                  <a:cubicBezTo>
                    <a:pt x="441" y="1121"/>
                    <a:pt x="464" y="1088"/>
                    <a:pt x="490" y="1046"/>
                  </a:cubicBezTo>
                  <a:cubicBezTo>
                    <a:pt x="517" y="1052"/>
                    <a:pt x="545" y="1055"/>
                    <a:pt x="574" y="1056"/>
                  </a:cubicBezTo>
                  <a:cubicBezTo>
                    <a:pt x="590" y="1102"/>
                    <a:pt x="605" y="1140"/>
                    <a:pt x="619" y="1170"/>
                  </a:cubicBezTo>
                  <a:cubicBezTo>
                    <a:pt x="651" y="1168"/>
                    <a:pt x="683" y="1163"/>
                    <a:pt x="715" y="1156"/>
                  </a:cubicBezTo>
                  <a:cubicBezTo>
                    <a:pt x="718" y="1155"/>
                    <a:pt x="721" y="1155"/>
                    <a:pt x="723" y="1154"/>
                  </a:cubicBezTo>
                  <a:cubicBezTo>
                    <a:pt x="728" y="1121"/>
                    <a:pt x="731" y="1081"/>
                    <a:pt x="733" y="1032"/>
                  </a:cubicBezTo>
                  <a:cubicBezTo>
                    <a:pt x="760" y="1023"/>
                    <a:pt x="786" y="1011"/>
                    <a:pt x="810" y="998"/>
                  </a:cubicBezTo>
                  <a:cubicBezTo>
                    <a:pt x="848" y="1030"/>
                    <a:pt x="880" y="1055"/>
                    <a:pt x="907" y="1074"/>
                  </a:cubicBezTo>
                  <a:cubicBezTo>
                    <a:pt x="936" y="1055"/>
                    <a:pt x="964" y="1033"/>
                    <a:pt x="989" y="1008"/>
                  </a:cubicBezTo>
                  <a:cubicBezTo>
                    <a:pt x="977" y="978"/>
                    <a:pt x="960" y="941"/>
                    <a:pt x="937" y="897"/>
                  </a:cubicBezTo>
                  <a:cubicBezTo>
                    <a:pt x="955" y="876"/>
                    <a:pt x="972" y="854"/>
                    <a:pt x="987" y="830"/>
                  </a:cubicBezTo>
                  <a:cubicBezTo>
                    <a:pt x="1035" y="839"/>
                    <a:pt x="1075" y="845"/>
                    <a:pt x="1108" y="848"/>
                  </a:cubicBezTo>
                  <a:cubicBezTo>
                    <a:pt x="1124" y="816"/>
                    <a:pt x="1137" y="783"/>
                    <a:pt x="1147" y="749"/>
                  </a:cubicBezTo>
                  <a:cubicBezTo>
                    <a:pt x="1121" y="729"/>
                    <a:pt x="1087" y="706"/>
                    <a:pt x="1046" y="679"/>
                  </a:cubicBezTo>
                  <a:cubicBezTo>
                    <a:pt x="1051" y="652"/>
                    <a:pt x="1055" y="624"/>
                    <a:pt x="1055" y="596"/>
                  </a:cubicBezTo>
                  <a:close/>
                  <a:moveTo>
                    <a:pt x="657" y="901"/>
                  </a:moveTo>
                  <a:cubicBezTo>
                    <a:pt x="633" y="906"/>
                    <a:pt x="609" y="909"/>
                    <a:pt x="584" y="909"/>
                  </a:cubicBezTo>
                  <a:cubicBezTo>
                    <a:pt x="512" y="909"/>
                    <a:pt x="441" y="884"/>
                    <a:pt x="384" y="839"/>
                  </a:cubicBezTo>
                  <a:cubicBezTo>
                    <a:pt x="326" y="794"/>
                    <a:pt x="285" y="729"/>
                    <a:pt x="269" y="657"/>
                  </a:cubicBezTo>
                  <a:cubicBezTo>
                    <a:pt x="250" y="573"/>
                    <a:pt x="264" y="486"/>
                    <a:pt x="310" y="413"/>
                  </a:cubicBezTo>
                  <a:cubicBezTo>
                    <a:pt x="356" y="340"/>
                    <a:pt x="428" y="289"/>
                    <a:pt x="512" y="270"/>
                  </a:cubicBezTo>
                  <a:cubicBezTo>
                    <a:pt x="536" y="264"/>
                    <a:pt x="561" y="261"/>
                    <a:pt x="585" y="261"/>
                  </a:cubicBezTo>
                  <a:cubicBezTo>
                    <a:pt x="657" y="261"/>
                    <a:pt x="728" y="286"/>
                    <a:pt x="785" y="331"/>
                  </a:cubicBezTo>
                  <a:cubicBezTo>
                    <a:pt x="843" y="376"/>
                    <a:pt x="884" y="441"/>
                    <a:pt x="900" y="513"/>
                  </a:cubicBezTo>
                  <a:cubicBezTo>
                    <a:pt x="940" y="687"/>
                    <a:pt x="831" y="861"/>
                    <a:pt x="657" y="901"/>
                  </a:cubicBezTo>
                  <a:close/>
                </a:path>
              </a:pathLst>
            </a:custGeom>
            <a:gradFill>
              <a:gsLst>
                <a:gs pos="0">
                  <a:srgbClr val="95845C"/>
                </a:gs>
                <a:gs pos="50000">
                  <a:schemeClr val="accent1"/>
                </a:gs>
                <a:gs pos="100000">
                  <a:schemeClr val="accent1"/>
                </a:gs>
              </a:gsLst>
              <a:lin ang="8100000" scaled="0"/>
            </a:gradFill>
            <a:ln>
              <a:noFill/>
            </a:ln>
            <a:effectLst>
              <a:outerShdw blurRad="317500" dist="304800" algn="tl" rotWithShape="0">
                <a:srgbClr val="000000">
                  <a:alpha val="2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a:solidFill>
                  <a:schemeClr val="lt1"/>
                </a:solidFill>
                <a:latin typeface="Arial"/>
                <a:ea typeface="Arial"/>
                <a:cs typeface="Arial"/>
                <a:sym typeface="Arial"/>
              </a:endParaRPr>
            </a:p>
          </p:txBody>
        </p:sp>
      </p:grpSp>
      <p:pic>
        <p:nvPicPr>
          <p:cNvPr id="3" name="Picture 2">
            <a:extLst>
              <a:ext uri="{FF2B5EF4-FFF2-40B4-BE49-F238E27FC236}">
                <a16:creationId xmlns:a16="http://schemas.microsoft.com/office/drawing/2014/main" id="{0008A0F0-99B2-B9CE-621E-C94A689460A8}"/>
              </a:ext>
            </a:extLst>
          </p:cNvPr>
          <p:cNvPicPr>
            <a:picLocks noChangeAspect="1"/>
          </p:cNvPicPr>
          <p:nvPr/>
        </p:nvPicPr>
        <p:blipFill>
          <a:blip r:embed="rId3"/>
          <a:stretch>
            <a:fillRect/>
          </a:stretch>
        </p:blipFill>
        <p:spPr>
          <a:xfrm>
            <a:off x="7415163" y="4174162"/>
            <a:ext cx="3574033" cy="2373993"/>
          </a:xfrm>
          <a:prstGeom prst="rect">
            <a:avLst/>
          </a:prstGeom>
          <a:effectLst>
            <a:softEdge rad="274623"/>
          </a:effectLst>
        </p:spPr>
      </p:pic>
    </p:spTree>
    <p:extLst>
      <p:ext uri="{BB962C8B-B14F-4D97-AF65-F5344CB8AC3E}">
        <p14:creationId xmlns:p14="http://schemas.microsoft.com/office/powerpoint/2010/main" val="2393415673"/>
      </p:ext>
    </p:extLst>
  </p:cSld>
  <p:clrMapOvr>
    <a:masterClrMapping/>
  </p:clrMapOvr>
</p:sld>
</file>

<file path=ppt/theme/theme1.xml><?xml version="1.0" encoding="utf-8"?>
<a:theme xmlns:a="http://schemas.openxmlformats.org/drawingml/2006/main" name="Office Theme">
  <a:themeElements>
    <a:clrScheme name="Custom 281">
      <a:dk1>
        <a:srgbClr val="000000"/>
      </a:dk1>
      <a:lt1>
        <a:srgbClr val="FFFFFF"/>
      </a:lt1>
      <a:dk2>
        <a:srgbClr val="44546A"/>
      </a:dk2>
      <a:lt2>
        <a:srgbClr val="E7E6E6"/>
      </a:lt2>
      <a:accent1>
        <a:srgbClr val="B7AA8B"/>
      </a:accent1>
      <a:accent2>
        <a:srgbClr val="60966D"/>
      </a:accent2>
      <a:accent3>
        <a:srgbClr val="5D8B99"/>
      </a:accent3>
      <a:accent4>
        <a:srgbClr val="5A6E8C"/>
      </a:accent4>
      <a:accent5>
        <a:srgbClr val="7B7B7B"/>
      </a:accent5>
      <a:accent6>
        <a:srgbClr val="3A383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1903</TotalTime>
  <Words>814</Words>
  <Application>Microsoft Macintosh PowerPoint</Application>
  <PresentationFormat>Widescreen</PresentationFormat>
  <Paragraphs>173</Paragraphs>
  <Slides>18</Slides>
  <Notes>18</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18</vt:i4>
      </vt:variant>
    </vt:vector>
  </HeadingPairs>
  <TitlesOfParts>
    <vt:vector size="27" baseType="lpstr">
      <vt:lpstr>Open Sans Light</vt:lpstr>
      <vt:lpstr>Arial</vt:lpstr>
      <vt:lpstr>Gill Sans</vt:lpstr>
      <vt:lpstr>Calibri</vt:lpstr>
      <vt:lpstr>Open Sans</vt:lpstr>
      <vt:lpstr>Wingdings</vt:lpstr>
      <vt:lpstr>Office Theme</vt:lpstr>
      <vt:lpstr>Microsoft Excel Worksheet</vt:lpstr>
      <vt:lpstr>MSGraph.Chart.8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Mark DeLuzio</cp:lastModifiedBy>
  <cp:revision>113</cp:revision>
  <dcterms:modified xsi:type="dcterms:W3CDTF">2025-03-24T04:54:28Z</dcterms:modified>
</cp:coreProperties>
</file>