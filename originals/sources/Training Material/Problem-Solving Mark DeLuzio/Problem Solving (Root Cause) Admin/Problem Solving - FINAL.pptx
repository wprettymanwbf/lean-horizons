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Ex2.xml" ContentType="application/vnd.ms-office.chartex+xml"/>
  <Override PartName="/ppt/charts/style2.xml" ContentType="application/vnd.ms-office.chartstyle+xml"/>
  <Override PartName="/ppt/charts/colors2.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rts/chart1.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charts/chartEx3.xml" ContentType="application/vnd.ms-office.chartex+xml"/>
  <Override PartName="/ppt/charts/style4.xml" ContentType="application/vnd.ms-office.chartstyle+xml"/>
  <Override PartName="/ppt/charts/colors4.xml" ContentType="application/vnd.ms-office.chartcolorstyl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3" r:id="rId2"/>
  </p:sldMasterIdLst>
  <p:notesMasterIdLst>
    <p:notesMasterId r:id="rId147"/>
  </p:notesMasterIdLst>
  <p:sldIdLst>
    <p:sldId id="258" r:id="rId3"/>
    <p:sldId id="283" r:id="rId4"/>
    <p:sldId id="284" r:id="rId5"/>
    <p:sldId id="285" r:id="rId6"/>
    <p:sldId id="352" r:id="rId7"/>
    <p:sldId id="353" r:id="rId8"/>
    <p:sldId id="574" r:id="rId9"/>
    <p:sldId id="619" r:id="rId10"/>
    <p:sldId id="620" r:id="rId11"/>
    <p:sldId id="612" r:id="rId12"/>
    <p:sldId id="362" r:id="rId13"/>
    <p:sldId id="613" r:id="rId14"/>
    <p:sldId id="614" r:id="rId15"/>
    <p:sldId id="615" r:id="rId16"/>
    <p:sldId id="616" r:id="rId17"/>
    <p:sldId id="621" r:id="rId18"/>
    <p:sldId id="622" r:id="rId19"/>
    <p:sldId id="560" r:id="rId20"/>
    <p:sldId id="521" r:id="rId21"/>
    <p:sldId id="355" r:id="rId22"/>
    <p:sldId id="623" r:id="rId23"/>
    <p:sldId id="522" r:id="rId24"/>
    <p:sldId id="575" r:id="rId25"/>
    <p:sldId id="624" r:id="rId26"/>
    <p:sldId id="1631" r:id="rId27"/>
    <p:sldId id="656" r:id="rId28"/>
    <p:sldId id="533" r:id="rId29"/>
    <p:sldId id="639" r:id="rId30"/>
    <p:sldId id="577" r:id="rId31"/>
    <p:sldId id="581" r:id="rId32"/>
    <p:sldId id="649" r:id="rId33"/>
    <p:sldId id="650" r:id="rId34"/>
    <p:sldId id="651" r:id="rId35"/>
    <p:sldId id="652" r:id="rId36"/>
    <p:sldId id="653" r:id="rId37"/>
    <p:sldId id="654" r:id="rId38"/>
    <p:sldId id="655" r:id="rId39"/>
    <p:sldId id="591" r:id="rId40"/>
    <p:sldId id="499" r:id="rId41"/>
    <p:sldId id="625" r:id="rId42"/>
    <p:sldId id="535" r:id="rId43"/>
    <p:sldId id="580" r:id="rId44"/>
    <p:sldId id="584" r:id="rId45"/>
    <p:sldId id="579" r:id="rId46"/>
    <p:sldId id="583" r:id="rId47"/>
    <p:sldId id="578" r:id="rId48"/>
    <p:sldId id="582" r:id="rId49"/>
    <p:sldId id="576" r:id="rId50"/>
    <p:sldId id="609" r:id="rId51"/>
    <p:sldId id="589" r:id="rId52"/>
    <p:sldId id="590" r:id="rId53"/>
    <p:sldId id="626" r:id="rId54"/>
    <p:sldId id="537" r:id="rId55"/>
    <p:sldId id="425" r:id="rId56"/>
    <p:sldId id="496" r:id="rId57"/>
    <p:sldId id="498" r:id="rId58"/>
    <p:sldId id="426" r:id="rId59"/>
    <p:sldId id="627" r:id="rId60"/>
    <p:sldId id="539" r:id="rId61"/>
    <p:sldId id="566" r:id="rId62"/>
    <p:sldId id="567" r:id="rId63"/>
    <p:sldId id="568" r:id="rId64"/>
    <p:sldId id="628" r:id="rId65"/>
    <p:sldId id="541" r:id="rId66"/>
    <p:sldId id="610" r:id="rId67"/>
    <p:sldId id="629" r:id="rId68"/>
    <p:sldId id="543" r:id="rId69"/>
    <p:sldId id="569" r:id="rId70"/>
    <p:sldId id="570" r:id="rId71"/>
    <p:sldId id="571" r:id="rId72"/>
    <p:sldId id="630" r:id="rId73"/>
    <p:sldId id="545" r:id="rId74"/>
    <p:sldId id="449" r:id="rId75"/>
    <p:sldId id="450" r:id="rId76"/>
    <p:sldId id="451" r:id="rId77"/>
    <p:sldId id="452" r:id="rId78"/>
    <p:sldId id="453" r:id="rId79"/>
    <p:sldId id="454" r:id="rId80"/>
    <p:sldId id="455" r:id="rId81"/>
    <p:sldId id="456" r:id="rId82"/>
    <p:sldId id="572" r:id="rId83"/>
    <p:sldId id="607" r:id="rId84"/>
    <p:sldId id="608" r:id="rId85"/>
    <p:sldId id="631" r:id="rId86"/>
    <p:sldId id="547" r:id="rId87"/>
    <p:sldId id="564" r:id="rId88"/>
    <p:sldId id="465" r:id="rId89"/>
    <p:sldId id="466" r:id="rId90"/>
    <p:sldId id="467" r:id="rId91"/>
    <p:sldId id="468" r:id="rId92"/>
    <p:sldId id="469" r:id="rId93"/>
    <p:sldId id="470" r:id="rId94"/>
    <p:sldId id="471" r:id="rId95"/>
    <p:sldId id="472" r:id="rId96"/>
    <p:sldId id="611" r:id="rId97"/>
    <p:sldId id="633" r:id="rId98"/>
    <p:sldId id="632" r:id="rId99"/>
    <p:sldId id="634" r:id="rId100"/>
    <p:sldId id="549" r:id="rId101"/>
    <p:sldId id="562" r:id="rId102"/>
    <p:sldId id="561" r:id="rId103"/>
    <p:sldId id="563" r:id="rId104"/>
    <p:sldId id="519" r:id="rId105"/>
    <p:sldId id="635" r:id="rId106"/>
    <p:sldId id="551" r:id="rId107"/>
    <p:sldId id="481" r:id="rId108"/>
    <p:sldId id="482" r:id="rId109"/>
    <p:sldId id="483" r:id="rId110"/>
    <p:sldId id="484" r:id="rId111"/>
    <p:sldId id="485" r:id="rId112"/>
    <p:sldId id="636" r:id="rId113"/>
    <p:sldId id="555" r:id="rId114"/>
    <p:sldId id="637" r:id="rId115"/>
    <p:sldId id="520" r:id="rId116"/>
    <p:sldId id="617" r:id="rId117"/>
    <p:sldId id="618" r:id="rId118"/>
    <p:sldId id="523" r:id="rId119"/>
    <p:sldId id="524" r:id="rId120"/>
    <p:sldId id="647" r:id="rId121"/>
    <p:sldId id="648" r:id="rId122"/>
    <p:sldId id="388" r:id="rId123"/>
    <p:sldId id="389" r:id="rId124"/>
    <p:sldId id="390" r:id="rId125"/>
    <p:sldId id="391" r:id="rId126"/>
    <p:sldId id="638" r:id="rId127"/>
    <p:sldId id="392" r:id="rId128"/>
    <p:sldId id="393" r:id="rId129"/>
    <p:sldId id="394" r:id="rId130"/>
    <p:sldId id="366" r:id="rId131"/>
    <p:sldId id="367" r:id="rId132"/>
    <p:sldId id="368" r:id="rId133"/>
    <p:sldId id="369" r:id="rId134"/>
    <p:sldId id="370" r:id="rId135"/>
    <p:sldId id="371" r:id="rId136"/>
    <p:sldId id="372" r:id="rId137"/>
    <p:sldId id="373" r:id="rId138"/>
    <p:sldId id="374" r:id="rId139"/>
    <p:sldId id="640" r:id="rId140"/>
    <p:sldId id="641" r:id="rId141"/>
    <p:sldId id="642" r:id="rId142"/>
    <p:sldId id="643" r:id="rId143"/>
    <p:sldId id="644" r:id="rId144"/>
    <p:sldId id="645" r:id="rId145"/>
    <p:sldId id="646"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0901F5B-A679-4277-BF0B-880BAE244D61}">
          <p14:sldIdLst>
            <p14:sldId id="258"/>
            <p14:sldId id="283"/>
            <p14:sldId id="284"/>
            <p14:sldId id="285"/>
            <p14:sldId id="352"/>
          </p14:sldIdLst>
        </p14:section>
        <p14:section name="Introduction to Problem Solving" id="{05ECC821-B4E8-4A38-8784-EC04551FF9D4}">
          <p14:sldIdLst>
            <p14:sldId id="353"/>
            <p14:sldId id="574"/>
            <p14:sldId id="619"/>
            <p14:sldId id="620"/>
          </p14:sldIdLst>
        </p14:section>
        <p14:section name="Problem-Solving Tools" id="{293D9602-9530-407D-B066-37CC7F5001B1}">
          <p14:sldIdLst>
            <p14:sldId id="612"/>
            <p14:sldId id="362"/>
            <p14:sldId id="613"/>
            <p14:sldId id="614"/>
            <p14:sldId id="615"/>
          </p14:sldIdLst>
        </p14:section>
        <p14:section name="Problem Solving Process" id="{E6B76427-B610-43F0-BE4C-CD86FA3A92C0}">
          <p14:sldIdLst>
            <p14:sldId id="616"/>
            <p14:sldId id="621"/>
          </p14:sldIdLst>
        </p14:section>
        <p14:section name="1. Determine Type 0-1-2" id="{9E896AAE-02EB-4C72-BB9C-62E0F421717F}">
          <p14:sldIdLst>
            <p14:sldId id="622"/>
            <p14:sldId id="560"/>
            <p14:sldId id="521"/>
            <p14:sldId id="355"/>
          </p14:sldIdLst>
        </p14:section>
        <p14:section name="2. Select Cross Functional Team" id="{49B212C3-289B-4C00-9F64-6C4441B0EE16}">
          <p14:sldIdLst>
            <p14:sldId id="623"/>
            <p14:sldId id="522"/>
            <p14:sldId id="575"/>
          </p14:sldIdLst>
        </p14:section>
        <p14:section name="3. Collect Data" id="{F390D46D-9471-4911-99CC-66CE53E351CF}">
          <p14:sldIdLst>
            <p14:sldId id="624"/>
            <p14:sldId id="1631"/>
            <p14:sldId id="656"/>
            <p14:sldId id="533"/>
            <p14:sldId id="639"/>
            <p14:sldId id="577"/>
            <p14:sldId id="581"/>
            <p14:sldId id="649"/>
            <p14:sldId id="650"/>
            <p14:sldId id="651"/>
            <p14:sldId id="652"/>
            <p14:sldId id="653"/>
            <p14:sldId id="654"/>
            <p14:sldId id="655"/>
            <p14:sldId id="591"/>
            <p14:sldId id="499"/>
          </p14:sldIdLst>
        </p14:section>
        <p14:section name="4. Analyze Data" id="{801F2804-623A-4567-AABB-39C68D570C1D}">
          <p14:sldIdLst>
            <p14:sldId id="625"/>
            <p14:sldId id="535"/>
            <p14:sldId id="580"/>
            <p14:sldId id="584"/>
            <p14:sldId id="579"/>
            <p14:sldId id="583"/>
            <p14:sldId id="578"/>
            <p14:sldId id="582"/>
            <p14:sldId id="576"/>
            <p14:sldId id="609"/>
            <p14:sldId id="589"/>
            <p14:sldId id="590"/>
          </p14:sldIdLst>
        </p14:section>
        <p14:section name="5. Develop Problem Statement(s)" id="{F4A8860A-76E7-4BAB-8B79-F51FDA8F0C35}">
          <p14:sldIdLst>
            <p14:sldId id="626"/>
            <p14:sldId id="537"/>
            <p14:sldId id="425"/>
            <p14:sldId id="496"/>
            <p14:sldId id="498"/>
            <p14:sldId id="426"/>
          </p14:sldIdLst>
        </p14:section>
        <p14:section name="6. Develop Objectives and Timeframes" id="{04B2D52A-E21F-4B97-BABF-1400389D8AD6}">
          <p14:sldIdLst>
            <p14:sldId id="627"/>
            <p14:sldId id="539"/>
            <p14:sldId id="566"/>
            <p14:sldId id="567"/>
            <p14:sldId id="568"/>
          </p14:sldIdLst>
        </p14:section>
        <p14:section name="7. Identify Customer - Supplier Relationships" id="{F034988D-4F7A-465E-AC5F-CF8992ADE972}">
          <p14:sldIdLst>
            <p14:sldId id="628"/>
            <p14:sldId id="541"/>
            <p14:sldId id="610"/>
          </p14:sldIdLst>
        </p14:section>
        <p14:section name="8. Temporary Countermeasures (If Needed)" id="{93C5D4FC-B726-449E-9D1E-340FF0CFE0A7}">
          <p14:sldIdLst>
            <p14:sldId id="629"/>
            <p14:sldId id="543"/>
            <p14:sldId id="569"/>
            <p14:sldId id="570"/>
            <p14:sldId id="571"/>
          </p14:sldIdLst>
        </p14:section>
        <p14:section name="9. Determine Root Causes" id="{F97BAC0E-C35F-4F55-AE3F-53DBF1E6CB7C}">
          <p14:sldIdLst>
            <p14:sldId id="630"/>
            <p14:sldId id="545"/>
            <p14:sldId id="449"/>
            <p14:sldId id="450"/>
            <p14:sldId id="451"/>
            <p14:sldId id="452"/>
            <p14:sldId id="453"/>
            <p14:sldId id="454"/>
            <p14:sldId id="455"/>
            <p14:sldId id="456"/>
            <p14:sldId id="572"/>
            <p14:sldId id="607"/>
            <p14:sldId id="608"/>
          </p14:sldIdLst>
        </p14:section>
        <p14:section name="10. Develop Countermeasures" id="{48EB3B54-0F4A-4286-8A88-D559F86CC530}">
          <p14:sldIdLst>
            <p14:sldId id="631"/>
            <p14:sldId id="547"/>
            <p14:sldId id="564"/>
            <p14:sldId id="465"/>
            <p14:sldId id="466"/>
            <p14:sldId id="467"/>
            <p14:sldId id="468"/>
            <p14:sldId id="469"/>
            <p14:sldId id="470"/>
            <p14:sldId id="471"/>
            <p14:sldId id="472"/>
            <p14:sldId id="611"/>
          </p14:sldIdLst>
        </p14:section>
        <p14:section name="11. Develop Action Plan" id="{84AF989C-5D46-4246-B193-BE4FB3FA2AA1}">
          <p14:sldIdLst>
            <p14:sldId id="633"/>
            <p14:sldId id="632"/>
          </p14:sldIdLst>
        </p14:section>
        <p14:section name="12. Execute Action Plan &amp; Document New Process" id="{734016DB-905D-448D-A8A5-0B8B92CFB694}">
          <p14:sldIdLst>
            <p14:sldId id="634"/>
            <p14:sldId id="549"/>
            <p14:sldId id="562"/>
            <p14:sldId id="561"/>
            <p14:sldId id="563"/>
            <p14:sldId id="519"/>
          </p14:sldIdLst>
        </p14:section>
        <p14:section name="13. Monitor Countermeasure Effectiveness via KPIs" id="{26FE6C36-339D-4BE8-8F2B-34742BAD99B4}">
          <p14:sldIdLst>
            <p14:sldId id="635"/>
            <p14:sldId id="551"/>
            <p14:sldId id="481"/>
            <p14:sldId id="482"/>
            <p14:sldId id="483"/>
            <p14:sldId id="484"/>
            <p14:sldId id="485"/>
          </p14:sldIdLst>
        </p14:section>
        <p14:section name="14. Freeze Standard Incorporate Into Daily Management" id="{324DD70E-7FE1-4ACE-902B-5D574CDFACBF}">
          <p14:sldIdLst>
            <p14:sldId id="636"/>
            <p14:sldId id="555"/>
          </p14:sldIdLst>
        </p14:section>
        <p14:section name="Summary" id="{729F7C51-419C-45AD-98B4-BBDA9A391CCB}">
          <p14:sldIdLst>
            <p14:sldId id="637"/>
            <p14:sldId id="520"/>
            <p14:sldId id="617"/>
            <p14:sldId id="618"/>
            <p14:sldId id="523"/>
            <p14:sldId id="524"/>
          </p14:sldIdLst>
        </p14:section>
        <p14:section name="Appendix - Pareto" id="{E5858EFC-DA82-4858-AD05-F2A38B870D48}">
          <p14:sldIdLst>
            <p14:sldId id="647"/>
            <p14:sldId id="648"/>
            <p14:sldId id="388"/>
            <p14:sldId id="389"/>
            <p14:sldId id="390"/>
            <p14:sldId id="391"/>
            <p14:sldId id="638"/>
            <p14:sldId id="392"/>
            <p14:sldId id="393"/>
            <p14:sldId id="394"/>
          </p14:sldIdLst>
        </p14:section>
        <p14:section name="Appendix - Fishbone Diagram" id="{E5E5A2F0-0E6D-4457-AB97-B420D967BB02}">
          <p14:sldIdLst>
            <p14:sldId id="366"/>
            <p14:sldId id="367"/>
            <p14:sldId id="368"/>
            <p14:sldId id="369"/>
            <p14:sldId id="370"/>
            <p14:sldId id="371"/>
            <p14:sldId id="372"/>
            <p14:sldId id="373"/>
            <p14:sldId id="374"/>
          </p14:sldIdLst>
        </p14:section>
        <p14:section name="Appendix - 5 Whys" id="{45CB397B-381F-48C4-AC5A-63A133B36511}">
          <p14:sldIdLst>
            <p14:sldId id="640"/>
            <p14:sldId id="641"/>
            <p14:sldId id="642"/>
            <p14:sldId id="643"/>
            <p14:sldId id="644"/>
            <p14:sldId id="645"/>
            <p14:sldId id="646"/>
          </p14:sldIdLst>
        </p14:section>
        <p14:section name="Template Slides" id="{C1F7E685-3F45-4F6C-AD62-323FC351B513}">
          <p14:sldIdLst/>
        </p14:section>
        <p14:section name="Archive" id="{A5448C66-471F-4B91-B85D-B7DA5DCD883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627"/>
    <a:srgbClr val="81100A"/>
    <a:srgbClr val="222222"/>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9926" autoAdjust="0"/>
    <p:restoredTop sz="82946" autoAdjust="0"/>
  </p:normalViewPr>
  <p:slideViewPr>
    <p:cSldViewPr snapToGrid="0">
      <p:cViewPr varScale="1">
        <p:scale>
          <a:sx n="118" d="100"/>
          <a:sy n="118" d="100"/>
        </p:scale>
        <p:origin x="2360" y="192"/>
      </p:cViewPr>
      <p:guideLst/>
    </p:cSldViewPr>
  </p:slideViewPr>
  <p:notesTextViewPr>
    <p:cViewPr>
      <p:scale>
        <a:sx n="3" d="2"/>
        <a:sy n="3" d="2"/>
      </p:scale>
      <p:origin x="0" y="0"/>
    </p:cViewPr>
  </p:notesTextViewPr>
  <p:sorterViewPr>
    <p:cViewPr>
      <p:scale>
        <a:sx n="125" d="100"/>
        <a:sy n="125" d="100"/>
      </p:scale>
      <p:origin x="0" y="-1501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viewProps" Target="viewProps.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theme" Target="theme/theme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microsoft.com/office/2018/10/relationships/authors" Target="author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cott\AppData\Roaming\Microsoft\Excel\LHC%20Problem%20Solving%20Form%20-%20Draft%20(version%202).xlsb"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scott\Dropbox\Lean%20Horizons\IP\Under%20Development\Problem%20Solving\Source%20Materials\Countermeasure%20Forms\LHC%20Problem%20Solving%20Form%20-%20Draft.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scott\Dropbox\Lean%20Horizons\IP\Under%20Development\Problem%20Solving\Source%20Materials\Countermeasure%20Forms\LHC%20Problem%20Solving%20Form%20-%20Draft.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scott\Dropbox\Lean%20Horizons\IP\Under%20Development\Problem%20Solving\Source%20Materials\Countermeasure%20Forms\LHC%20Problem%20Solving%20Form%20-%20Draf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'Run Chart - Type 1 Example'!$C$2</c:f>
              <c:strCache>
                <c:ptCount val="1"/>
                <c:pt idx="0">
                  <c:v>Number of Defective Cakes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'Run Chart - Type 1 Example'!$B$3:$B$32</c:f>
              <c:strCache>
                <c:ptCount val="30"/>
                <c:pt idx="0">
                  <c:v>1 (Monday)</c:v>
                </c:pt>
                <c:pt idx="1">
                  <c:v>2 (Tuesday)</c:v>
                </c:pt>
                <c:pt idx="2">
                  <c:v>3 (Wednesday)</c:v>
                </c:pt>
                <c:pt idx="3">
                  <c:v>4 (Thursday)</c:v>
                </c:pt>
                <c:pt idx="4">
                  <c:v>5 (Friday)</c:v>
                </c:pt>
                <c:pt idx="5">
                  <c:v>6 (Saturday)</c:v>
                </c:pt>
                <c:pt idx="6">
                  <c:v>7 (Sunday)</c:v>
                </c:pt>
                <c:pt idx="7">
                  <c:v>8 (Monday)</c:v>
                </c:pt>
                <c:pt idx="8">
                  <c:v>9 (Tuesday)</c:v>
                </c:pt>
                <c:pt idx="9">
                  <c:v>10 (Wednesday)</c:v>
                </c:pt>
                <c:pt idx="10">
                  <c:v>11 (Thursday)</c:v>
                </c:pt>
                <c:pt idx="11">
                  <c:v>12 (Friday)</c:v>
                </c:pt>
                <c:pt idx="12">
                  <c:v>13 (Saturday)</c:v>
                </c:pt>
                <c:pt idx="13">
                  <c:v>14 (Sunday)</c:v>
                </c:pt>
                <c:pt idx="14">
                  <c:v>15 (Monday)</c:v>
                </c:pt>
                <c:pt idx="15">
                  <c:v>16 (Tuesday)</c:v>
                </c:pt>
                <c:pt idx="16">
                  <c:v>17 (Wednesday)</c:v>
                </c:pt>
                <c:pt idx="17">
                  <c:v>18 (Thursday)</c:v>
                </c:pt>
                <c:pt idx="18">
                  <c:v>19 (Friday)</c:v>
                </c:pt>
                <c:pt idx="19">
                  <c:v>20 (Saturday)</c:v>
                </c:pt>
                <c:pt idx="20">
                  <c:v>21 (Sunday)</c:v>
                </c:pt>
                <c:pt idx="21">
                  <c:v>22 (Monday)</c:v>
                </c:pt>
                <c:pt idx="22">
                  <c:v>23 (Tuesday)</c:v>
                </c:pt>
                <c:pt idx="23">
                  <c:v>24 (Wednesday)</c:v>
                </c:pt>
                <c:pt idx="24">
                  <c:v>25 (Thursday)</c:v>
                </c:pt>
                <c:pt idx="25">
                  <c:v>26 (Friday)</c:v>
                </c:pt>
                <c:pt idx="26">
                  <c:v>27 (Saturday)</c:v>
                </c:pt>
                <c:pt idx="27">
                  <c:v>28 (Sunday)</c:v>
                </c:pt>
                <c:pt idx="28">
                  <c:v>29 (Monday)</c:v>
                </c:pt>
                <c:pt idx="29">
                  <c:v>30 (Tuesday)</c:v>
                </c:pt>
              </c:strCache>
            </c:strRef>
          </c:cat>
          <c:val>
            <c:numRef>
              <c:f>'Run Chart - Type 1 Example'!$C$3:$C$32</c:f>
              <c:numCache>
                <c:formatCode>General</c:formatCode>
                <c:ptCount val="30"/>
                <c:pt idx="0">
                  <c:v>0</c:v>
                </c:pt>
                <c:pt idx="1">
                  <c:v>1</c:v>
                </c:pt>
                <c:pt idx="2">
                  <c:v>0</c:v>
                </c:pt>
                <c:pt idx="3">
                  <c:v>0</c:v>
                </c:pt>
                <c:pt idx="4">
                  <c:v>0</c:v>
                </c:pt>
                <c:pt idx="5">
                  <c:v>3</c:v>
                </c:pt>
                <c:pt idx="6">
                  <c:v>4</c:v>
                </c:pt>
                <c:pt idx="7">
                  <c:v>0</c:v>
                </c:pt>
                <c:pt idx="8">
                  <c:v>0</c:v>
                </c:pt>
                <c:pt idx="9">
                  <c:v>0</c:v>
                </c:pt>
                <c:pt idx="10">
                  <c:v>0</c:v>
                </c:pt>
                <c:pt idx="11">
                  <c:v>1</c:v>
                </c:pt>
                <c:pt idx="12">
                  <c:v>4</c:v>
                </c:pt>
                <c:pt idx="13">
                  <c:v>3</c:v>
                </c:pt>
                <c:pt idx="14">
                  <c:v>0</c:v>
                </c:pt>
                <c:pt idx="15">
                  <c:v>0</c:v>
                </c:pt>
                <c:pt idx="16">
                  <c:v>0</c:v>
                </c:pt>
                <c:pt idx="17">
                  <c:v>0</c:v>
                </c:pt>
                <c:pt idx="18">
                  <c:v>0</c:v>
                </c:pt>
                <c:pt idx="19">
                  <c:v>3</c:v>
                </c:pt>
                <c:pt idx="20">
                  <c:v>2</c:v>
                </c:pt>
                <c:pt idx="21">
                  <c:v>0</c:v>
                </c:pt>
                <c:pt idx="22">
                  <c:v>0</c:v>
                </c:pt>
                <c:pt idx="23">
                  <c:v>0</c:v>
                </c:pt>
                <c:pt idx="24">
                  <c:v>0</c:v>
                </c:pt>
                <c:pt idx="25">
                  <c:v>0</c:v>
                </c:pt>
                <c:pt idx="26">
                  <c:v>2</c:v>
                </c:pt>
                <c:pt idx="27">
                  <c:v>2</c:v>
                </c:pt>
                <c:pt idx="28">
                  <c:v>0</c:v>
                </c:pt>
                <c:pt idx="29">
                  <c:v>0</c:v>
                </c:pt>
              </c:numCache>
            </c:numRef>
          </c:val>
          <c:smooth val="0"/>
          <c:extLst>
            <c:ext xmlns:c16="http://schemas.microsoft.com/office/drawing/2014/chart" uri="{C3380CC4-5D6E-409C-BE32-E72D297353CC}">
              <c16:uniqueId val="{00000000-3153-467E-A7BD-611D0D7050D0}"/>
            </c:ext>
          </c:extLst>
        </c:ser>
        <c:dLbls>
          <c:showLegendKey val="0"/>
          <c:showVal val="0"/>
          <c:showCatName val="0"/>
          <c:showSerName val="0"/>
          <c:showPercent val="0"/>
          <c:showBubbleSize val="0"/>
        </c:dLbls>
        <c:marker val="1"/>
        <c:smooth val="0"/>
        <c:axId val="1364350128"/>
        <c:axId val="1364346768"/>
      </c:lineChart>
      <c:catAx>
        <c:axId val="13643501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Day of the</a:t>
                </a:r>
                <a:r>
                  <a:rPr lang="en-US" baseline="0"/>
                  <a:t> Month (Day of the Week)</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4346768"/>
        <c:crosses val="autoZero"/>
        <c:auto val="1"/>
        <c:lblAlgn val="ctr"/>
        <c:lblOffset val="100"/>
        <c:noMultiLvlLbl val="0"/>
      </c:catAx>
      <c:valAx>
        <c:axId val="1364346768"/>
        <c:scaling>
          <c:orientation val="minMax"/>
          <c:max val="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Number of Defects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4350128"/>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'Pareto - Type 1 Example'!$W$4:$W$10</cx:f>
        <cx:lvl ptCount="7">
          <cx:pt idx="0">Monday</cx:pt>
          <cx:pt idx="1">Tuesday</cx:pt>
          <cx:pt idx="2">Wednesday</cx:pt>
          <cx:pt idx="3">Thursday</cx:pt>
          <cx:pt idx="4">Friday</cx:pt>
          <cx:pt idx="5">Saturday</cx:pt>
          <cx:pt idx="6">Sunday</cx:pt>
        </cx:lvl>
      </cx:strDim>
      <cx:numDim type="val">
        <cx:f>'Pareto - Type 1 Example'!$X$4:$X$10</cx:f>
        <cx:lvl ptCount="7" formatCode="General">
          <cx:pt idx="0">0</cx:pt>
          <cx:pt idx="1">1</cx:pt>
          <cx:pt idx="2">0</cx:pt>
          <cx:pt idx="3">0</cx:pt>
          <cx:pt idx="4">1</cx:pt>
          <cx:pt idx="5">12</cx:pt>
          <cx:pt idx="6">11</cx:pt>
        </cx:lvl>
      </cx:numDim>
    </cx:data>
  </cx:chartData>
  <cx:chart>
    <cx:title pos="t" align="ctr" overlay="0">
      <cx:tx>
        <cx:txData>
          <cx:v>Defects by Day of the Week</cx:v>
        </cx:txData>
      </cx:tx>
      <cx:txPr>
        <a:bodyPr spcFirstLastPara="1" vertOverflow="ellipsis" horzOverflow="overflow" wrap="square" lIns="0" tIns="0" rIns="0" bIns="0" anchor="ctr" anchorCtr="1"/>
        <a:lstStyle/>
        <a:p>
          <a:pPr algn="ctr" rtl="0">
            <a:defRPr/>
          </a:pPr>
          <a:r>
            <a:rPr lang="en-US" sz="1400" b="0" i="0" u="none" strike="noStrike" baseline="0">
              <a:solidFill>
                <a:srgbClr val="000000">
                  <a:lumMod val="65000"/>
                  <a:lumOff val="35000"/>
                </a:srgbClr>
              </a:solidFill>
              <a:latin typeface="Roboto"/>
            </a:rPr>
            <a:t>Defects by Day of the Week</a:t>
          </a:r>
        </a:p>
      </cx:txPr>
    </cx:title>
    <cx:plotArea>
      <cx:plotAreaRegion>
        <cx:series layoutId="clusteredColumn" uniqueId="{596D0673-4B43-4294-BE10-E71B94F9A638}">
          <cx:tx>
            <cx:txData>
              <cx:f>'Pareto - Type 1 Example'!$X$3</cx:f>
              <cx:v># of Defects</cx:v>
            </cx:txData>
          </cx:tx>
          <cx:dataLabels>
            <cx:visibility seriesName="0" categoryName="0" value="1"/>
          </cx:dataLabels>
          <cx:dataId val="0"/>
          <cx:layoutPr>
            <cx:aggregation/>
          </cx:layoutPr>
          <cx:axisId val="1"/>
        </cx:series>
        <cx:series layoutId="paretoLine" ownerIdx="0" uniqueId="{61B60C80-D85E-4946-93B8-607FAA556440}">
          <cx:axisId val="2"/>
        </cx:series>
      </cx:plotAreaRegion>
      <cx:axis id="0">
        <cx:catScaling gapWidth="0"/>
        <cx:title>
          <cx:tx>
            <cx:txData>
              <cx:v>Day of the Week</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Day of the Week</a:t>
              </a:r>
            </a:p>
          </cx:txPr>
        </cx:title>
        <cx:tickLabels/>
      </cx:axis>
      <cx:axis id="1">
        <cx:valScaling/>
        <cx:title>
          <cx:tx>
            <cx:txData>
              <cx:v>Number of Defects</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Number of Defects</a:t>
              </a:r>
            </a:p>
          </cx:txPr>
        </cx:title>
        <cx:majorGridlines/>
        <cx:tickLabels/>
      </cx:axis>
      <cx:axis id="2">
        <cx:valScaling max="1" min="0"/>
        <cx:title>
          <cx:tx>
            <cx:txData>
              <cx:v>Percent of Total Defects</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Percent of Total Defects</a:t>
              </a:r>
            </a:p>
          </cx:txPr>
        </cx:title>
        <cx:units unit="percentage"/>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'Histogram - Type 1 Example'!$E$3:$E$6</cx:f>
        <cx:lvl ptCount="4">
          <cx:pt idx="0">6 AM - 8 AM</cx:pt>
          <cx:pt idx="1">9 AM - 11 AM</cx:pt>
          <cx:pt idx="2">12 PM - 2 PM</cx:pt>
          <cx:pt idx="3">3 PM - 5 PM</cx:pt>
        </cx:lvl>
      </cx:strDim>
      <cx:numDim type="val">
        <cx:f>'Histogram - Type 1 Example'!$F$3:$F$6</cx:f>
        <cx:lvl ptCount="4" formatCode="General">
          <cx:pt idx="0">9</cx:pt>
          <cx:pt idx="1">5</cx:pt>
          <cx:pt idx="2">7</cx:pt>
          <cx:pt idx="3">4</cx:pt>
        </cx:lvl>
      </cx:numDim>
    </cx:data>
  </cx:chartData>
  <cx:chart>
    <cx:title pos="t" align="ctr" overlay="0">
      <cx:tx>
        <cx:txData>
          <cx:v>Cake Defects by Time of Day</cx:v>
        </cx:txData>
      </cx:tx>
      <cx:txPr>
        <a:bodyPr spcFirstLastPara="1" vertOverflow="ellipsis" horzOverflow="overflow" wrap="square" lIns="0" tIns="0" rIns="0" bIns="0" anchor="ctr" anchorCtr="1"/>
        <a:lstStyle/>
        <a:p>
          <a:pPr algn="ctr" rtl="0">
            <a:defRPr/>
          </a:pPr>
          <a:r>
            <a:rPr lang="en-US" sz="1400" b="0" i="0" u="none" strike="noStrike" baseline="0">
              <a:solidFill>
                <a:srgbClr val="000000">
                  <a:lumMod val="65000"/>
                  <a:lumOff val="35000"/>
                </a:srgbClr>
              </a:solidFill>
              <a:latin typeface="Roboto"/>
            </a:rPr>
            <a:t>Cake Defects by Time of Day</a:t>
          </a:r>
        </a:p>
      </cx:txPr>
    </cx:title>
    <cx:plotArea>
      <cx:plotAreaRegion>
        <cx:series layoutId="clusteredColumn" uniqueId="{C481845E-A2AC-454E-8BF2-A0C43C5E2814}">
          <cx:tx>
            <cx:txData>
              <cx:f>'Histogram - Type 1 Example'!$F$2</cx:f>
              <cx:v>Defects</cx:v>
            </cx:txData>
          </cx:tx>
          <cx:dataId val="0"/>
          <cx:layoutPr>
            <cx:aggregation/>
          </cx:layoutPr>
        </cx:series>
      </cx:plotAreaRegion>
      <cx:axis id="0">
        <cx:catScaling gapWidth="0"/>
        <cx:title>
          <cx:tx>
            <cx:txData>
              <cx:v>Time of Day</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Time of Day</a:t>
              </a:r>
            </a:p>
          </cx:txPr>
        </cx:title>
        <cx:tickLabels/>
      </cx:axis>
      <cx:axis id="1">
        <cx:valScaling/>
        <cx:title>
          <cx:tx>
            <cx:txData>
              <cx:v>Defects</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Defects</a:t>
              </a:r>
            </a:p>
          </cx:txPr>
        </cx:title>
        <cx:majorGridlines/>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'Pareto - Type 1 Example'!$W$4:$W$10</cx:f>
        <cx:lvl ptCount="7">
          <cx:pt idx="0">Monday</cx:pt>
          <cx:pt idx="1">Tuesday</cx:pt>
          <cx:pt idx="2">Wednesday</cx:pt>
          <cx:pt idx="3">Thursday</cx:pt>
          <cx:pt idx="4">Friday</cx:pt>
          <cx:pt idx="5">Saturday</cx:pt>
          <cx:pt idx="6">Sunday</cx:pt>
        </cx:lvl>
      </cx:strDim>
      <cx:numDim type="val">
        <cx:f>'Pareto - Type 1 Example'!$X$4:$X$10</cx:f>
        <cx:lvl ptCount="7" formatCode="General">
          <cx:pt idx="0">0</cx:pt>
          <cx:pt idx="1">1</cx:pt>
          <cx:pt idx="2">0</cx:pt>
          <cx:pt idx="3">0</cx:pt>
          <cx:pt idx="4">1</cx:pt>
          <cx:pt idx="5">12</cx:pt>
          <cx:pt idx="6">11</cx:pt>
        </cx:lvl>
      </cx:numDim>
    </cx:data>
  </cx:chartData>
  <cx:chart>
    <cx:title pos="t" align="ctr" overlay="0">
      <cx:tx>
        <cx:txData>
          <cx:v>Defects by Day of the Week</cx:v>
        </cx:txData>
      </cx:tx>
      <cx:txPr>
        <a:bodyPr spcFirstLastPara="1" vertOverflow="ellipsis" horzOverflow="overflow" wrap="square" lIns="0" tIns="0" rIns="0" bIns="0" anchor="ctr" anchorCtr="1"/>
        <a:lstStyle/>
        <a:p>
          <a:pPr algn="ctr" rtl="0">
            <a:defRPr/>
          </a:pPr>
          <a:r>
            <a:rPr lang="en-US" sz="1400" b="0" i="0" u="none" strike="noStrike" baseline="0">
              <a:solidFill>
                <a:srgbClr val="000000">
                  <a:lumMod val="65000"/>
                  <a:lumOff val="35000"/>
                </a:srgbClr>
              </a:solidFill>
              <a:latin typeface="Roboto"/>
            </a:rPr>
            <a:t>Defects by Day of the Week</a:t>
          </a:r>
        </a:p>
      </cx:txPr>
    </cx:title>
    <cx:plotArea>
      <cx:plotAreaRegion>
        <cx:series layoutId="clusteredColumn" uniqueId="{596D0673-4B43-4294-BE10-E71B94F9A638}">
          <cx:tx>
            <cx:txData>
              <cx:f>'Pareto - Type 1 Example'!$X$3</cx:f>
              <cx:v># of Defects</cx:v>
            </cx:txData>
          </cx:tx>
          <cx:dataLabels>
            <cx:visibility seriesName="0" categoryName="0" value="1"/>
          </cx:dataLabels>
          <cx:dataId val="0"/>
          <cx:layoutPr>
            <cx:aggregation/>
          </cx:layoutPr>
          <cx:axisId val="1"/>
        </cx:series>
        <cx:series layoutId="paretoLine" ownerIdx="0" uniqueId="{61B60C80-D85E-4946-93B8-607FAA556440}">
          <cx:axisId val="2"/>
        </cx:series>
      </cx:plotAreaRegion>
      <cx:axis id="0">
        <cx:catScaling gapWidth="0"/>
        <cx:title>
          <cx:tx>
            <cx:txData>
              <cx:v>Day of the Week</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Day of the Week</a:t>
              </a:r>
            </a:p>
          </cx:txPr>
        </cx:title>
        <cx:tickLabels/>
      </cx:axis>
      <cx:axis id="1">
        <cx:valScaling/>
        <cx:title>
          <cx:tx>
            <cx:txData>
              <cx:v>Number of Defects</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Number of Defects</a:t>
              </a:r>
            </a:p>
          </cx:txPr>
        </cx:title>
        <cx:majorGridlines/>
        <cx:tickLabels/>
      </cx:axis>
      <cx:axis id="2">
        <cx:valScaling max="1" min="0"/>
        <cx:title>
          <cx:tx>
            <cx:txData>
              <cx:v>Percent of Total Defects</cx:v>
            </cx:txData>
          </cx:tx>
          <cx:txPr>
            <a:bodyPr spcFirstLastPara="1" vertOverflow="ellipsis" horzOverflow="overflow" wrap="square" lIns="0" tIns="0" rIns="0" bIns="0" anchor="ctr" anchorCtr="1"/>
            <a:lstStyle/>
            <a:p>
              <a:pPr algn="ctr" rtl="0">
                <a:defRPr/>
              </a:pPr>
              <a:r>
                <a:rPr lang="en-US" sz="900" b="0" i="0" u="none" strike="noStrike" baseline="0">
                  <a:solidFill>
                    <a:srgbClr val="000000">
                      <a:lumMod val="65000"/>
                      <a:lumOff val="35000"/>
                    </a:srgbClr>
                  </a:solidFill>
                  <a:latin typeface="Roboto"/>
                </a:rPr>
                <a:t>Percent of Total Defects</a:t>
              </a:r>
            </a:p>
          </cx:txPr>
        </cx:title>
        <cx:units unit="percentage"/>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3A23B1-02B2-4B4E-92E3-C8A85700F0C7}"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163623D8-1403-4F8B-AD76-51559ED2754D}">
      <dgm:prSet phldrT="[Text]" custT="1"/>
      <dgm:spPr/>
      <dgm:t>
        <a:bodyPr/>
        <a:lstStyle/>
        <a:p>
          <a:r>
            <a:rPr lang="en-US" sz="1100" dirty="0"/>
            <a:t>The car won’t start.</a:t>
          </a:r>
        </a:p>
      </dgm:t>
    </dgm:pt>
    <dgm:pt modelId="{3875D2D0-3F77-4B18-9CAA-31F033397F39}" type="parTrans" cxnId="{9F60AE69-E2D4-475E-A5F0-4333782442A8}">
      <dgm:prSet/>
      <dgm:spPr/>
      <dgm:t>
        <a:bodyPr/>
        <a:lstStyle/>
        <a:p>
          <a:endParaRPr lang="en-US"/>
        </a:p>
      </dgm:t>
    </dgm:pt>
    <dgm:pt modelId="{C0AFFB2E-CB44-40F1-AE69-CDD1904E01A6}" type="sibTrans" cxnId="{9F60AE69-E2D4-475E-A5F0-4333782442A8}">
      <dgm:prSet/>
      <dgm:spPr/>
      <dgm:t>
        <a:bodyPr/>
        <a:lstStyle/>
        <a:p>
          <a:endParaRPr lang="en-US"/>
        </a:p>
      </dgm:t>
    </dgm:pt>
    <dgm:pt modelId="{0172A130-D7B9-4DE6-8191-E8D990AA3424}">
      <dgm:prSet phldrT="[Text]" custT="1"/>
      <dgm:spPr/>
      <dgm:t>
        <a:bodyPr/>
        <a:lstStyle/>
        <a:p>
          <a:r>
            <a:rPr lang="en-US" sz="1100" dirty="0"/>
            <a:t>The battery is dead.</a:t>
          </a:r>
        </a:p>
      </dgm:t>
    </dgm:pt>
    <dgm:pt modelId="{8AA95504-763A-49CB-B86D-49D8B084A9F8}" type="parTrans" cxnId="{E3C45E81-F092-455B-A51C-6285D5CB39CC}">
      <dgm:prSet/>
      <dgm:spPr/>
      <dgm:t>
        <a:bodyPr/>
        <a:lstStyle/>
        <a:p>
          <a:endParaRPr lang="en-US"/>
        </a:p>
      </dgm:t>
    </dgm:pt>
    <dgm:pt modelId="{1408B3A7-9668-49C0-840F-5BD5E59E0DD7}" type="sibTrans" cxnId="{E3C45E81-F092-455B-A51C-6285D5CB39CC}">
      <dgm:prSet/>
      <dgm:spPr/>
      <dgm:t>
        <a:bodyPr/>
        <a:lstStyle/>
        <a:p>
          <a:endParaRPr lang="en-US"/>
        </a:p>
      </dgm:t>
    </dgm:pt>
    <dgm:pt modelId="{31EBBC10-3BC0-48EB-9A3C-AF3C9CE5AE24}">
      <dgm:prSet phldrT="[Text]" custT="1"/>
      <dgm:spPr/>
      <dgm: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battery dead?</a:t>
          </a:r>
        </a:p>
      </dgm:t>
    </dgm:pt>
    <dgm:pt modelId="{853C70BC-6D3B-403E-9B7C-320CDF79F75D}" type="parTrans" cxnId="{C966549E-5017-453E-8594-E830476C5DFE}">
      <dgm:prSet/>
      <dgm:spPr/>
      <dgm:t>
        <a:bodyPr/>
        <a:lstStyle/>
        <a:p>
          <a:endParaRPr lang="en-US"/>
        </a:p>
      </dgm:t>
    </dgm:pt>
    <dgm:pt modelId="{B39B3963-06F6-4C8D-9A3E-4E4F61692740}" type="sibTrans" cxnId="{C966549E-5017-453E-8594-E830476C5DFE}">
      <dgm:prSet/>
      <dgm:spPr/>
      <dgm:t>
        <a:bodyPr/>
        <a:lstStyle/>
        <a:p>
          <a:endParaRPr lang="en-US"/>
        </a:p>
      </dgm:t>
    </dgm:pt>
    <dgm:pt modelId="{B2CEA80C-4AB2-4820-833E-4247D7ADF1C2}">
      <dgm:prSet phldrT="[Text]" custT="1"/>
      <dgm:spPr/>
      <dgm:t>
        <a:bodyPr/>
        <a:lstStyle/>
        <a:p>
          <a:r>
            <a:rPr lang="en-US" sz="1100" dirty="0"/>
            <a:t>The alternator is not charging the battery.</a:t>
          </a:r>
        </a:p>
      </dgm:t>
    </dgm:pt>
    <dgm:pt modelId="{5E0F62C4-DDC0-41CE-8E8B-0F473F2ABF8B}" type="parTrans" cxnId="{AD2B201D-6A33-489A-BB57-18FC639AB0B0}">
      <dgm:prSet/>
      <dgm:spPr/>
      <dgm:t>
        <a:bodyPr/>
        <a:lstStyle/>
        <a:p>
          <a:endParaRPr lang="en-US"/>
        </a:p>
      </dgm:t>
    </dgm:pt>
    <dgm:pt modelId="{4EE43EE5-35DD-4542-B9C5-9983FF5389D6}" type="sibTrans" cxnId="{AD2B201D-6A33-489A-BB57-18FC639AB0B0}">
      <dgm:prSet/>
      <dgm:spPr/>
      <dgm:t>
        <a:bodyPr/>
        <a:lstStyle/>
        <a:p>
          <a:endParaRPr lang="en-US"/>
        </a:p>
      </dgm:t>
    </dgm:pt>
    <dgm:pt modelId="{99E73B3C-45FC-40D2-B291-3A14BF371F41}">
      <dgm:prSet phldrT="[Text]" custT="1"/>
      <dgm:spPr/>
      <dgm: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alternator not charging the battery?</a:t>
          </a:r>
        </a:p>
      </dgm:t>
    </dgm:pt>
    <dgm:pt modelId="{0545A42F-23D0-45C0-8406-4B3C88BEEB73}" type="parTrans" cxnId="{ADECC738-D926-49C7-97FF-FDDA1401013A}">
      <dgm:prSet/>
      <dgm:spPr/>
      <dgm:t>
        <a:bodyPr/>
        <a:lstStyle/>
        <a:p>
          <a:endParaRPr lang="en-US"/>
        </a:p>
      </dgm:t>
    </dgm:pt>
    <dgm:pt modelId="{F25E7922-D2E0-439F-941D-5CD554E20CAF}" type="sibTrans" cxnId="{ADECC738-D926-49C7-97FF-FDDA1401013A}">
      <dgm:prSet/>
      <dgm:spPr/>
      <dgm:t>
        <a:bodyPr/>
        <a:lstStyle/>
        <a:p>
          <a:endParaRPr lang="en-US"/>
        </a:p>
      </dgm:t>
    </dgm:pt>
    <dgm:pt modelId="{F2D0E7EC-4AB9-42FA-8F16-BAA1323DF0AD}">
      <dgm:prSet phldrT="[Text]" custT="1"/>
      <dgm:spPr/>
      <dgm:t>
        <a:bodyPr/>
        <a:lstStyle/>
        <a:p>
          <a:r>
            <a:rPr lang="en-US" sz="1100" dirty="0"/>
            <a:t>The alternator belt is broken.</a:t>
          </a:r>
        </a:p>
      </dgm:t>
    </dgm:pt>
    <dgm:pt modelId="{03AAF730-D69B-4479-B083-116F19F23F14}" type="parTrans" cxnId="{403E9FD3-92EE-4D66-B75D-8EB83BA2EFA9}">
      <dgm:prSet/>
      <dgm:spPr/>
      <dgm:t>
        <a:bodyPr/>
        <a:lstStyle/>
        <a:p>
          <a:endParaRPr lang="en-US"/>
        </a:p>
      </dgm:t>
    </dgm:pt>
    <dgm:pt modelId="{62FAD624-A795-4680-AA41-30C5F2B814AF}" type="sibTrans" cxnId="{403E9FD3-92EE-4D66-B75D-8EB83BA2EFA9}">
      <dgm:prSet/>
      <dgm:spPr/>
      <dgm:t>
        <a:bodyPr/>
        <a:lstStyle/>
        <a:p>
          <a:endParaRPr lang="en-US"/>
        </a:p>
      </dgm:t>
    </dgm:pt>
    <dgm:pt modelId="{CB358F7D-D72C-43AA-89F5-6A879347A512}">
      <dgm:prSet phldrT="[Text]" custT="1"/>
      <dgm:spPr/>
      <dgm: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alternator belt broken?</a:t>
          </a:r>
        </a:p>
      </dgm:t>
    </dgm:pt>
    <dgm:pt modelId="{77673AD8-87E4-49B6-A5C1-2B2750E2C293}" type="parTrans" cxnId="{C711F482-AE5B-4718-B3C1-B3033475EF41}">
      <dgm:prSet/>
      <dgm:spPr/>
      <dgm:t>
        <a:bodyPr/>
        <a:lstStyle/>
        <a:p>
          <a:endParaRPr lang="en-US"/>
        </a:p>
      </dgm:t>
    </dgm:pt>
    <dgm:pt modelId="{5FF3939C-7BC3-4ABC-9211-239C6CD77F5E}" type="sibTrans" cxnId="{C711F482-AE5B-4718-B3C1-B3033475EF41}">
      <dgm:prSet/>
      <dgm:spPr/>
      <dgm:t>
        <a:bodyPr/>
        <a:lstStyle/>
        <a:p>
          <a:endParaRPr lang="en-US"/>
        </a:p>
      </dgm:t>
    </dgm:pt>
    <dgm:pt modelId="{D8B0992C-79F8-413A-88A3-CE48312024D1}">
      <dgm:prSet phldrT="[Text]" custT="1"/>
      <dgm:spPr/>
      <dgm:t>
        <a:bodyPr/>
        <a:lstStyle/>
        <a:p>
          <a:r>
            <a:rPr lang="en-US" sz="1100" dirty="0"/>
            <a:t>The belt is beyond its useful service life and hasn’t been replaced.</a:t>
          </a:r>
        </a:p>
      </dgm:t>
    </dgm:pt>
    <dgm:pt modelId="{5D70678E-B81C-4EDA-A3E6-FB0293565788}" type="parTrans" cxnId="{032EC03D-E1F9-450C-A9EE-EFD3DD6C2FD2}">
      <dgm:prSet/>
      <dgm:spPr/>
      <dgm:t>
        <a:bodyPr/>
        <a:lstStyle/>
        <a:p>
          <a:endParaRPr lang="en-US"/>
        </a:p>
      </dgm:t>
    </dgm:pt>
    <dgm:pt modelId="{8FEE7368-E6CE-445E-B921-20EE96E72A34}" type="sibTrans" cxnId="{032EC03D-E1F9-450C-A9EE-EFD3DD6C2FD2}">
      <dgm:prSet/>
      <dgm:spPr/>
      <dgm:t>
        <a:bodyPr/>
        <a:lstStyle/>
        <a:p>
          <a:endParaRPr lang="en-US"/>
        </a:p>
      </dgm:t>
    </dgm:pt>
    <dgm:pt modelId="{AAFEAE5B-DF29-4F2D-BA82-646BF94892C2}">
      <dgm:prSet phldrT="[Text]" custT="1"/>
      <dgm:spPr/>
      <dgm: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was the alternator belt not replaced?</a:t>
          </a:r>
        </a:p>
      </dgm:t>
    </dgm:pt>
    <dgm:pt modelId="{A969E6B7-A907-490B-B410-CD1C97BC86D0}" type="parTrans" cxnId="{F3893C82-78DC-4C68-AD6A-BD5EDAEB58CF}">
      <dgm:prSet/>
      <dgm:spPr/>
      <dgm:t>
        <a:bodyPr/>
        <a:lstStyle/>
        <a:p>
          <a:endParaRPr lang="en-US"/>
        </a:p>
      </dgm:t>
    </dgm:pt>
    <dgm:pt modelId="{F1F81986-7CF1-4E42-A87A-C8A0584485FD}" type="sibTrans" cxnId="{F3893C82-78DC-4C68-AD6A-BD5EDAEB58CF}">
      <dgm:prSet/>
      <dgm:spPr/>
      <dgm:t>
        <a:bodyPr/>
        <a:lstStyle/>
        <a:p>
          <a:endParaRPr lang="en-US"/>
        </a:p>
      </dgm:t>
    </dgm:pt>
    <dgm:pt modelId="{607A09E0-052D-4B29-9EFA-8AA75EA1B582}">
      <dgm:prSet phldrT="[Text]" custT="1"/>
      <dgm:spPr/>
      <dgm:t>
        <a:bodyPr/>
        <a:lstStyle/>
        <a:p>
          <a:r>
            <a:rPr lang="en-US" sz="1100" dirty="0"/>
            <a:t>The car was not maintained according to the service schedule.</a:t>
          </a:r>
        </a:p>
      </dgm:t>
    </dgm:pt>
    <dgm:pt modelId="{ACEA14C5-98E0-4EF4-AD4F-CA86FB8CBD7E}" type="parTrans" cxnId="{1E04FEC5-560B-4329-A57A-0840D61A10F6}">
      <dgm:prSet/>
      <dgm:spPr/>
      <dgm:t>
        <a:bodyPr/>
        <a:lstStyle/>
        <a:p>
          <a:endParaRPr lang="en-US"/>
        </a:p>
      </dgm:t>
    </dgm:pt>
    <dgm:pt modelId="{81FA7CB9-AE2B-470E-8ED9-C13DD6CD45AF}" type="sibTrans" cxnId="{1E04FEC5-560B-4329-A57A-0840D61A10F6}">
      <dgm:prSet/>
      <dgm:spPr/>
      <dgm:t>
        <a:bodyPr/>
        <a:lstStyle/>
        <a:p>
          <a:endParaRPr lang="en-US"/>
        </a:p>
      </dgm:t>
    </dgm:pt>
    <dgm:pt modelId="{5B5824F1-934D-4B88-99E2-19CFB89E2629}">
      <dgm:prSet phldrT="[Text]" custT="1"/>
      <dgm:spPr/>
      <dgm: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Root cause: the car was not maintained according to the service schedule.</a:t>
          </a:r>
        </a:p>
      </dgm:t>
    </dgm:pt>
    <dgm:pt modelId="{D447B8F2-7646-4283-934A-F5853943F6E3}" type="parTrans" cxnId="{8FA6B0DC-0E63-44E8-A29F-8B021B220058}">
      <dgm:prSet/>
      <dgm:spPr/>
      <dgm:t>
        <a:bodyPr/>
        <a:lstStyle/>
        <a:p>
          <a:endParaRPr lang="en-US"/>
        </a:p>
      </dgm:t>
    </dgm:pt>
    <dgm:pt modelId="{284B8471-5478-4120-8241-AA32543557E5}" type="sibTrans" cxnId="{8FA6B0DC-0E63-44E8-A29F-8B021B220058}">
      <dgm:prSet/>
      <dgm:spPr/>
      <dgm:t>
        <a:bodyPr/>
        <a:lstStyle/>
        <a:p>
          <a:endParaRPr lang="en-US"/>
        </a:p>
      </dgm:t>
    </dgm:pt>
    <dgm:pt modelId="{2CD07ACD-63A9-4058-A343-BA93C2BBA8A7}">
      <dgm:prSet phldrT="[Text]" custT="1"/>
      <dgm:spPr/>
      <dgm:t>
        <a:bodyPr/>
        <a:lstStyle/>
        <a:p>
          <a:pPr marL="0" algn="ctr">
            <a:buNone/>
          </a:pPr>
          <a:r>
            <a:rPr lang="en-US" sz="1100" dirty="0"/>
            <a:t>Why won’t the car start?</a:t>
          </a:r>
        </a:p>
      </dgm:t>
    </dgm:pt>
    <dgm:pt modelId="{7A914869-3BCC-479C-AF5C-62F39675C33C}" type="sibTrans" cxnId="{0D38C362-8F71-4752-B863-3E08D4735E63}">
      <dgm:prSet/>
      <dgm:spPr/>
      <dgm:t>
        <a:bodyPr/>
        <a:lstStyle/>
        <a:p>
          <a:endParaRPr lang="en-US"/>
        </a:p>
      </dgm:t>
    </dgm:pt>
    <dgm:pt modelId="{9E6DDA38-FD2D-400B-AB91-198738298B87}" type="parTrans" cxnId="{0D38C362-8F71-4752-B863-3E08D4735E63}">
      <dgm:prSet/>
      <dgm:spPr/>
      <dgm:t>
        <a:bodyPr/>
        <a:lstStyle/>
        <a:p>
          <a:endParaRPr lang="en-US"/>
        </a:p>
      </dgm:t>
    </dgm:pt>
    <dgm:pt modelId="{05A647AF-EE9B-4D2F-87F4-FA1BBF5A1320}" type="pres">
      <dgm:prSet presAssocID="{9A3A23B1-02B2-4B4E-92E3-C8A85700F0C7}" presName="Name0" presStyleCnt="0">
        <dgm:presLayoutVars>
          <dgm:chMax val="11"/>
          <dgm:chPref val="11"/>
          <dgm:dir/>
          <dgm:resizeHandles/>
        </dgm:presLayoutVars>
      </dgm:prSet>
      <dgm:spPr/>
    </dgm:pt>
    <dgm:pt modelId="{ED4C1BE7-AAF6-4406-A3D7-BD9193BF5083}" type="pres">
      <dgm:prSet presAssocID="{607A09E0-052D-4B29-9EFA-8AA75EA1B582}" presName="Accent6" presStyleCnt="0"/>
      <dgm:spPr/>
    </dgm:pt>
    <dgm:pt modelId="{7C0BA251-560F-42D9-9CC3-0CAFD67D5F36}" type="pres">
      <dgm:prSet presAssocID="{607A09E0-052D-4B29-9EFA-8AA75EA1B582}" presName="Accent" presStyleLbl="node1" presStyleIdx="0" presStyleCnt="6"/>
      <dgm:spPr/>
    </dgm:pt>
    <dgm:pt modelId="{B4E27CB6-7ADD-4FAD-8041-CFEA298FDFD7}" type="pres">
      <dgm:prSet presAssocID="{607A09E0-052D-4B29-9EFA-8AA75EA1B582}" presName="ParentBackground6" presStyleCnt="0"/>
      <dgm:spPr/>
    </dgm:pt>
    <dgm:pt modelId="{93FCFB2C-23B5-47CC-8598-0722D68133BA}" type="pres">
      <dgm:prSet presAssocID="{607A09E0-052D-4B29-9EFA-8AA75EA1B582}" presName="ParentBackground" presStyleLbl="fgAcc1" presStyleIdx="0" presStyleCnt="6"/>
      <dgm:spPr/>
    </dgm:pt>
    <dgm:pt modelId="{9FFF055F-FCB9-4495-89D5-22CF8D4B5612}" type="pres">
      <dgm:prSet presAssocID="{607A09E0-052D-4B29-9EFA-8AA75EA1B582}" presName="Child6" presStyleLbl="revTx" presStyleIdx="0" presStyleCnt="6">
        <dgm:presLayoutVars>
          <dgm:chMax val="0"/>
          <dgm:chPref val="0"/>
          <dgm:bulletEnabled val="1"/>
        </dgm:presLayoutVars>
      </dgm:prSet>
      <dgm:spPr/>
    </dgm:pt>
    <dgm:pt modelId="{73C481EA-326E-4122-9173-7D99BA900C0E}" type="pres">
      <dgm:prSet presAssocID="{607A09E0-052D-4B29-9EFA-8AA75EA1B582}" presName="Parent6" presStyleLbl="revTx" presStyleIdx="0" presStyleCnt="6">
        <dgm:presLayoutVars>
          <dgm:chMax val="1"/>
          <dgm:chPref val="1"/>
          <dgm:bulletEnabled val="1"/>
        </dgm:presLayoutVars>
      </dgm:prSet>
      <dgm:spPr/>
    </dgm:pt>
    <dgm:pt modelId="{121D5AF5-CB2C-49D9-B185-0963E110EB08}" type="pres">
      <dgm:prSet presAssocID="{D8B0992C-79F8-413A-88A3-CE48312024D1}" presName="Accent5" presStyleCnt="0"/>
      <dgm:spPr/>
    </dgm:pt>
    <dgm:pt modelId="{11138C85-9305-4C8A-B6F1-8BB079D0242D}" type="pres">
      <dgm:prSet presAssocID="{D8B0992C-79F8-413A-88A3-CE48312024D1}" presName="Accent" presStyleLbl="node1" presStyleIdx="1" presStyleCnt="6"/>
      <dgm:spPr/>
    </dgm:pt>
    <dgm:pt modelId="{DEDF9594-084F-4F45-A947-768D6FC5790B}" type="pres">
      <dgm:prSet presAssocID="{D8B0992C-79F8-413A-88A3-CE48312024D1}" presName="ParentBackground5" presStyleCnt="0"/>
      <dgm:spPr/>
    </dgm:pt>
    <dgm:pt modelId="{41089E10-81D3-4A12-9FA4-7537895DAB4A}" type="pres">
      <dgm:prSet presAssocID="{D8B0992C-79F8-413A-88A3-CE48312024D1}" presName="ParentBackground" presStyleLbl="fgAcc1" presStyleIdx="1" presStyleCnt="6"/>
      <dgm:spPr/>
    </dgm:pt>
    <dgm:pt modelId="{99A4F538-781F-4938-BD39-D413893C416A}" type="pres">
      <dgm:prSet presAssocID="{D8B0992C-79F8-413A-88A3-CE48312024D1}" presName="Child5" presStyleLbl="revTx" presStyleIdx="1" presStyleCnt="6">
        <dgm:presLayoutVars>
          <dgm:chMax val="0"/>
          <dgm:chPref val="0"/>
          <dgm:bulletEnabled val="1"/>
        </dgm:presLayoutVars>
      </dgm:prSet>
      <dgm:spPr/>
    </dgm:pt>
    <dgm:pt modelId="{F76F4322-BE4B-4249-8179-1020678A09A2}" type="pres">
      <dgm:prSet presAssocID="{D8B0992C-79F8-413A-88A3-CE48312024D1}" presName="Parent5" presStyleLbl="revTx" presStyleIdx="1" presStyleCnt="6">
        <dgm:presLayoutVars>
          <dgm:chMax val="1"/>
          <dgm:chPref val="1"/>
          <dgm:bulletEnabled val="1"/>
        </dgm:presLayoutVars>
      </dgm:prSet>
      <dgm:spPr/>
    </dgm:pt>
    <dgm:pt modelId="{0DDFF18B-629F-4E78-B112-BCC5DD7E9FA2}" type="pres">
      <dgm:prSet presAssocID="{F2D0E7EC-4AB9-42FA-8F16-BAA1323DF0AD}" presName="Accent4" presStyleCnt="0"/>
      <dgm:spPr/>
    </dgm:pt>
    <dgm:pt modelId="{96176896-2095-47D0-A3B4-9144AA090EF3}" type="pres">
      <dgm:prSet presAssocID="{F2D0E7EC-4AB9-42FA-8F16-BAA1323DF0AD}" presName="Accent" presStyleLbl="node1" presStyleIdx="2" presStyleCnt="6"/>
      <dgm:spPr/>
    </dgm:pt>
    <dgm:pt modelId="{CE833BFF-2C2E-4815-B49A-201EE0219D07}" type="pres">
      <dgm:prSet presAssocID="{F2D0E7EC-4AB9-42FA-8F16-BAA1323DF0AD}" presName="ParentBackground4" presStyleCnt="0"/>
      <dgm:spPr/>
    </dgm:pt>
    <dgm:pt modelId="{B17FEC15-0562-4ED7-BB45-ADD8DEB26675}" type="pres">
      <dgm:prSet presAssocID="{F2D0E7EC-4AB9-42FA-8F16-BAA1323DF0AD}" presName="ParentBackground" presStyleLbl="fgAcc1" presStyleIdx="2" presStyleCnt="6"/>
      <dgm:spPr/>
    </dgm:pt>
    <dgm:pt modelId="{348AA445-B7AE-4FB8-B327-6E3643591FD9}" type="pres">
      <dgm:prSet presAssocID="{F2D0E7EC-4AB9-42FA-8F16-BAA1323DF0AD}" presName="Child4" presStyleLbl="revTx" presStyleIdx="2" presStyleCnt="6">
        <dgm:presLayoutVars>
          <dgm:chMax val="0"/>
          <dgm:chPref val="0"/>
          <dgm:bulletEnabled val="1"/>
        </dgm:presLayoutVars>
      </dgm:prSet>
      <dgm:spPr/>
    </dgm:pt>
    <dgm:pt modelId="{BD918A10-155C-4E47-942A-52DEA519BBBD}" type="pres">
      <dgm:prSet presAssocID="{F2D0E7EC-4AB9-42FA-8F16-BAA1323DF0AD}" presName="Parent4" presStyleLbl="revTx" presStyleIdx="2" presStyleCnt="6">
        <dgm:presLayoutVars>
          <dgm:chMax val="1"/>
          <dgm:chPref val="1"/>
          <dgm:bulletEnabled val="1"/>
        </dgm:presLayoutVars>
      </dgm:prSet>
      <dgm:spPr/>
    </dgm:pt>
    <dgm:pt modelId="{57EB8726-E60B-4EC1-85E6-337570CA724A}" type="pres">
      <dgm:prSet presAssocID="{B2CEA80C-4AB2-4820-833E-4247D7ADF1C2}" presName="Accent3" presStyleCnt="0"/>
      <dgm:spPr/>
    </dgm:pt>
    <dgm:pt modelId="{A79D1EA1-B234-4C81-B7D3-381FE2BC4000}" type="pres">
      <dgm:prSet presAssocID="{B2CEA80C-4AB2-4820-833E-4247D7ADF1C2}" presName="Accent" presStyleLbl="node1" presStyleIdx="3" presStyleCnt="6"/>
      <dgm:spPr/>
    </dgm:pt>
    <dgm:pt modelId="{B1B09FDE-DBB3-4AD6-8C8F-6EEE05CBC9D0}" type="pres">
      <dgm:prSet presAssocID="{B2CEA80C-4AB2-4820-833E-4247D7ADF1C2}" presName="ParentBackground3" presStyleCnt="0"/>
      <dgm:spPr/>
    </dgm:pt>
    <dgm:pt modelId="{A4D66016-AFE7-4B59-BFCF-CAEA5A1216C7}" type="pres">
      <dgm:prSet presAssocID="{B2CEA80C-4AB2-4820-833E-4247D7ADF1C2}" presName="ParentBackground" presStyleLbl="fgAcc1" presStyleIdx="3" presStyleCnt="6"/>
      <dgm:spPr/>
    </dgm:pt>
    <dgm:pt modelId="{9EF67866-93E6-45BC-B134-E452594E5417}" type="pres">
      <dgm:prSet presAssocID="{B2CEA80C-4AB2-4820-833E-4247D7ADF1C2}" presName="Child3" presStyleLbl="revTx" presStyleIdx="3" presStyleCnt="6">
        <dgm:presLayoutVars>
          <dgm:chMax val="0"/>
          <dgm:chPref val="0"/>
          <dgm:bulletEnabled val="1"/>
        </dgm:presLayoutVars>
      </dgm:prSet>
      <dgm:spPr/>
    </dgm:pt>
    <dgm:pt modelId="{8FAC0FF4-5019-417C-A239-3A51109729E1}" type="pres">
      <dgm:prSet presAssocID="{B2CEA80C-4AB2-4820-833E-4247D7ADF1C2}" presName="Parent3" presStyleLbl="revTx" presStyleIdx="3" presStyleCnt="6">
        <dgm:presLayoutVars>
          <dgm:chMax val="1"/>
          <dgm:chPref val="1"/>
          <dgm:bulletEnabled val="1"/>
        </dgm:presLayoutVars>
      </dgm:prSet>
      <dgm:spPr/>
    </dgm:pt>
    <dgm:pt modelId="{25D50C93-E0B0-41E6-B16D-1C6CB902BD89}" type="pres">
      <dgm:prSet presAssocID="{0172A130-D7B9-4DE6-8191-E8D990AA3424}" presName="Accent2" presStyleCnt="0"/>
      <dgm:spPr/>
    </dgm:pt>
    <dgm:pt modelId="{2D7FBB78-FB5E-4719-9B1B-B9976BBA5278}" type="pres">
      <dgm:prSet presAssocID="{0172A130-D7B9-4DE6-8191-E8D990AA3424}" presName="Accent" presStyleLbl="node1" presStyleIdx="4" presStyleCnt="6"/>
      <dgm:spPr/>
    </dgm:pt>
    <dgm:pt modelId="{05630429-BC66-4C48-B4A9-E3EDCA7F1A61}" type="pres">
      <dgm:prSet presAssocID="{0172A130-D7B9-4DE6-8191-E8D990AA3424}" presName="ParentBackground2" presStyleCnt="0"/>
      <dgm:spPr/>
    </dgm:pt>
    <dgm:pt modelId="{9B295808-E3E7-4848-B6BE-0AE0919EC0A3}" type="pres">
      <dgm:prSet presAssocID="{0172A130-D7B9-4DE6-8191-E8D990AA3424}" presName="ParentBackground" presStyleLbl="fgAcc1" presStyleIdx="4" presStyleCnt="6"/>
      <dgm:spPr/>
    </dgm:pt>
    <dgm:pt modelId="{35A9815B-605E-457C-85C0-BD69EC46F097}" type="pres">
      <dgm:prSet presAssocID="{0172A130-D7B9-4DE6-8191-E8D990AA3424}" presName="Child2" presStyleLbl="revTx" presStyleIdx="4" presStyleCnt="6">
        <dgm:presLayoutVars>
          <dgm:chMax val="0"/>
          <dgm:chPref val="0"/>
          <dgm:bulletEnabled val="1"/>
        </dgm:presLayoutVars>
      </dgm:prSet>
      <dgm:spPr/>
    </dgm:pt>
    <dgm:pt modelId="{DDE04E9E-CBF5-42B8-A6ED-38090BD02B1D}" type="pres">
      <dgm:prSet presAssocID="{0172A130-D7B9-4DE6-8191-E8D990AA3424}" presName="Parent2" presStyleLbl="revTx" presStyleIdx="4" presStyleCnt="6">
        <dgm:presLayoutVars>
          <dgm:chMax val="1"/>
          <dgm:chPref val="1"/>
          <dgm:bulletEnabled val="1"/>
        </dgm:presLayoutVars>
      </dgm:prSet>
      <dgm:spPr/>
    </dgm:pt>
    <dgm:pt modelId="{5BEA2B0B-44AC-4876-A2DC-804C587D253E}" type="pres">
      <dgm:prSet presAssocID="{163623D8-1403-4F8B-AD76-51559ED2754D}" presName="Accent1" presStyleCnt="0"/>
      <dgm:spPr/>
    </dgm:pt>
    <dgm:pt modelId="{68808DB9-F645-4BBF-8186-4626BE842488}" type="pres">
      <dgm:prSet presAssocID="{163623D8-1403-4F8B-AD76-51559ED2754D}" presName="Accent" presStyleLbl="node1" presStyleIdx="5" presStyleCnt="6"/>
      <dgm:spPr/>
    </dgm:pt>
    <dgm:pt modelId="{A0E53097-22DA-4BC7-A7EE-1648C217F9F8}" type="pres">
      <dgm:prSet presAssocID="{163623D8-1403-4F8B-AD76-51559ED2754D}" presName="ParentBackground1" presStyleCnt="0"/>
      <dgm:spPr/>
    </dgm:pt>
    <dgm:pt modelId="{40F500F5-8651-4546-AAF8-DF905D9356FE}" type="pres">
      <dgm:prSet presAssocID="{163623D8-1403-4F8B-AD76-51559ED2754D}" presName="ParentBackground" presStyleLbl="fgAcc1" presStyleIdx="5" presStyleCnt="6"/>
      <dgm:spPr/>
    </dgm:pt>
    <dgm:pt modelId="{1BEB32BA-18F6-4719-9E89-55111C2AE455}" type="pres">
      <dgm:prSet presAssocID="{163623D8-1403-4F8B-AD76-51559ED2754D}" presName="Child1" presStyleLbl="revTx" presStyleIdx="5" presStyleCnt="6">
        <dgm:presLayoutVars>
          <dgm:chMax val="0"/>
          <dgm:chPref val="0"/>
          <dgm:bulletEnabled val="1"/>
        </dgm:presLayoutVars>
      </dgm:prSet>
      <dgm:spPr/>
    </dgm:pt>
    <dgm:pt modelId="{5819B96E-1757-4E59-9CCA-F6F0690300DA}" type="pres">
      <dgm:prSet presAssocID="{163623D8-1403-4F8B-AD76-51559ED2754D}" presName="Parent1" presStyleLbl="revTx" presStyleIdx="5" presStyleCnt="6">
        <dgm:presLayoutVars>
          <dgm:chMax val="1"/>
          <dgm:chPref val="1"/>
          <dgm:bulletEnabled val="1"/>
        </dgm:presLayoutVars>
      </dgm:prSet>
      <dgm:spPr/>
    </dgm:pt>
  </dgm:ptLst>
  <dgm:cxnLst>
    <dgm:cxn modelId="{B4159404-0F02-4E80-AA8D-8B26946A7E92}" type="presOf" srcId="{D8B0992C-79F8-413A-88A3-CE48312024D1}" destId="{41089E10-81D3-4A12-9FA4-7537895DAB4A}" srcOrd="0" destOrd="0" presId="urn:microsoft.com/office/officeart/2011/layout/CircleProcess"/>
    <dgm:cxn modelId="{EFC26F0C-3C1B-48A9-B85F-4B77E9FA179A}" type="presOf" srcId="{0172A130-D7B9-4DE6-8191-E8D990AA3424}" destId="{DDE04E9E-CBF5-42B8-A6ED-38090BD02B1D}" srcOrd="1" destOrd="0" presId="urn:microsoft.com/office/officeart/2011/layout/CircleProcess"/>
    <dgm:cxn modelId="{AD2B201D-6A33-489A-BB57-18FC639AB0B0}" srcId="{9A3A23B1-02B2-4B4E-92E3-C8A85700F0C7}" destId="{B2CEA80C-4AB2-4820-833E-4247D7ADF1C2}" srcOrd="2" destOrd="0" parTransId="{5E0F62C4-DDC0-41CE-8E8B-0F473F2ABF8B}" sibTransId="{4EE43EE5-35DD-4542-B9C5-9983FF5389D6}"/>
    <dgm:cxn modelId="{2F096827-D284-4BFE-8E84-F4BF6499DB94}" type="presOf" srcId="{99E73B3C-45FC-40D2-B291-3A14BF371F41}" destId="{9EF67866-93E6-45BC-B134-E452594E5417}" srcOrd="0" destOrd="0" presId="urn:microsoft.com/office/officeart/2011/layout/CircleProcess"/>
    <dgm:cxn modelId="{C5BB1138-7A5C-4832-A10B-CCBC72AC9F26}" type="presOf" srcId="{0172A130-D7B9-4DE6-8191-E8D990AA3424}" destId="{9B295808-E3E7-4848-B6BE-0AE0919EC0A3}" srcOrd="0" destOrd="0" presId="urn:microsoft.com/office/officeart/2011/layout/CircleProcess"/>
    <dgm:cxn modelId="{ADECC738-D926-49C7-97FF-FDDA1401013A}" srcId="{B2CEA80C-4AB2-4820-833E-4247D7ADF1C2}" destId="{99E73B3C-45FC-40D2-B291-3A14BF371F41}" srcOrd="0" destOrd="0" parTransId="{0545A42F-23D0-45C0-8406-4B3C88BEEB73}" sibTransId="{F25E7922-D2E0-439F-941D-5CD554E20CAF}"/>
    <dgm:cxn modelId="{E65EE63C-A3BF-46D6-9AB2-7341E20FE569}" type="presOf" srcId="{CB358F7D-D72C-43AA-89F5-6A879347A512}" destId="{348AA445-B7AE-4FB8-B327-6E3643591FD9}" srcOrd="0" destOrd="0" presId="urn:microsoft.com/office/officeart/2011/layout/CircleProcess"/>
    <dgm:cxn modelId="{032EC03D-E1F9-450C-A9EE-EFD3DD6C2FD2}" srcId="{9A3A23B1-02B2-4B4E-92E3-C8A85700F0C7}" destId="{D8B0992C-79F8-413A-88A3-CE48312024D1}" srcOrd="4" destOrd="0" parTransId="{5D70678E-B81C-4EDA-A3E6-FB0293565788}" sibTransId="{8FEE7368-E6CE-445E-B921-20EE96E72A34}"/>
    <dgm:cxn modelId="{DFAD763F-F209-4CB7-9DC3-A71F4E14EFCF}" type="presOf" srcId="{2CD07ACD-63A9-4058-A343-BA93C2BBA8A7}" destId="{1BEB32BA-18F6-4719-9E89-55111C2AE455}" srcOrd="0" destOrd="0" presId="urn:microsoft.com/office/officeart/2011/layout/CircleProcess"/>
    <dgm:cxn modelId="{380CD952-943D-4CE4-B5FB-42022C320B33}" type="presOf" srcId="{F2D0E7EC-4AB9-42FA-8F16-BAA1323DF0AD}" destId="{BD918A10-155C-4E47-942A-52DEA519BBBD}" srcOrd="1" destOrd="0" presId="urn:microsoft.com/office/officeart/2011/layout/CircleProcess"/>
    <dgm:cxn modelId="{3967A957-CE0D-4D10-AAC9-6593B93584F1}" type="presOf" srcId="{31EBBC10-3BC0-48EB-9A3C-AF3C9CE5AE24}" destId="{35A9815B-605E-457C-85C0-BD69EC46F097}" srcOrd="0" destOrd="0" presId="urn:microsoft.com/office/officeart/2011/layout/CircleProcess"/>
    <dgm:cxn modelId="{0C1BDE59-7F39-4143-8761-D976ABBBED29}" type="presOf" srcId="{B2CEA80C-4AB2-4820-833E-4247D7ADF1C2}" destId="{A4D66016-AFE7-4B59-BFCF-CAEA5A1216C7}" srcOrd="0" destOrd="0" presId="urn:microsoft.com/office/officeart/2011/layout/CircleProcess"/>
    <dgm:cxn modelId="{0D38C362-8F71-4752-B863-3E08D4735E63}" srcId="{163623D8-1403-4F8B-AD76-51559ED2754D}" destId="{2CD07ACD-63A9-4058-A343-BA93C2BBA8A7}" srcOrd="0" destOrd="0" parTransId="{9E6DDA38-FD2D-400B-AB91-198738298B87}" sibTransId="{7A914869-3BCC-479C-AF5C-62F39675C33C}"/>
    <dgm:cxn modelId="{45C78566-0F9B-4092-80BC-E975B74A6938}" type="presOf" srcId="{9A3A23B1-02B2-4B4E-92E3-C8A85700F0C7}" destId="{05A647AF-EE9B-4D2F-87F4-FA1BBF5A1320}" srcOrd="0" destOrd="0" presId="urn:microsoft.com/office/officeart/2011/layout/CircleProcess"/>
    <dgm:cxn modelId="{9F60AE69-E2D4-475E-A5F0-4333782442A8}" srcId="{9A3A23B1-02B2-4B4E-92E3-C8A85700F0C7}" destId="{163623D8-1403-4F8B-AD76-51559ED2754D}" srcOrd="0" destOrd="0" parTransId="{3875D2D0-3F77-4B18-9CAA-31F033397F39}" sibTransId="{C0AFFB2E-CB44-40F1-AE69-CDD1904E01A6}"/>
    <dgm:cxn modelId="{8F49F26B-8A19-4BD7-B7A2-7C3AFDE5B9F2}" type="presOf" srcId="{607A09E0-052D-4B29-9EFA-8AA75EA1B582}" destId="{73C481EA-326E-4122-9173-7D99BA900C0E}" srcOrd="1" destOrd="0" presId="urn:microsoft.com/office/officeart/2011/layout/CircleProcess"/>
    <dgm:cxn modelId="{870C7A72-9336-435C-99BB-869618A31B39}" type="presOf" srcId="{607A09E0-052D-4B29-9EFA-8AA75EA1B582}" destId="{93FCFB2C-23B5-47CC-8598-0722D68133BA}" srcOrd="0" destOrd="0" presId="urn:microsoft.com/office/officeart/2011/layout/CircleProcess"/>
    <dgm:cxn modelId="{E3C45E81-F092-455B-A51C-6285D5CB39CC}" srcId="{9A3A23B1-02B2-4B4E-92E3-C8A85700F0C7}" destId="{0172A130-D7B9-4DE6-8191-E8D990AA3424}" srcOrd="1" destOrd="0" parTransId="{8AA95504-763A-49CB-B86D-49D8B084A9F8}" sibTransId="{1408B3A7-9668-49C0-840F-5BD5E59E0DD7}"/>
    <dgm:cxn modelId="{F3893C82-78DC-4C68-AD6A-BD5EDAEB58CF}" srcId="{D8B0992C-79F8-413A-88A3-CE48312024D1}" destId="{AAFEAE5B-DF29-4F2D-BA82-646BF94892C2}" srcOrd="0" destOrd="0" parTransId="{A969E6B7-A907-490B-B410-CD1C97BC86D0}" sibTransId="{F1F81986-7CF1-4E42-A87A-C8A0584485FD}"/>
    <dgm:cxn modelId="{C711F482-AE5B-4718-B3C1-B3033475EF41}" srcId="{F2D0E7EC-4AB9-42FA-8F16-BAA1323DF0AD}" destId="{CB358F7D-D72C-43AA-89F5-6A879347A512}" srcOrd="0" destOrd="0" parTransId="{77673AD8-87E4-49B6-A5C1-2B2750E2C293}" sibTransId="{5FF3939C-7BC3-4ABC-9211-239C6CD77F5E}"/>
    <dgm:cxn modelId="{98C8AA90-62F3-4424-8398-85E9E7A22DF0}" type="presOf" srcId="{F2D0E7EC-4AB9-42FA-8F16-BAA1323DF0AD}" destId="{B17FEC15-0562-4ED7-BB45-ADD8DEB26675}" srcOrd="0" destOrd="0" presId="urn:microsoft.com/office/officeart/2011/layout/CircleProcess"/>
    <dgm:cxn modelId="{C966549E-5017-453E-8594-E830476C5DFE}" srcId="{0172A130-D7B9-4DE6-8191-E8D990AA3424}" destId="{31EBBC10-3BC0-48EB-9A3C-AF3C9CE5AE24}" srcOrd="0" destOrd="0" parTransId="{853C70BC-6D3B-403E-9B7C-320CDF79F75D}" sibTransId="{B39B3963-06F6-4C8D-9A3E-4E4F61692740}"/>
    <dgm:cxn modelId="{B2995EA5-570E-4E7C-9B88-DC2749EBB47C}" type="presOf" srcId="{163623D8-1403-4F8B-AD76-51559ED2754D}" destId="{5819B96E-1757-4E59-9CCA-F6F0690300DA}" srcOrd="1" destOrd="0" presId="urn:microsoft.com/office/officeart/2011/layout/CircleProcess"/>
    <dgm:cxn modelId="{00120EA7-5C9A-4958-9440-9CE88468C911}" type="presOf" srcId="{5B5824F1-934D-4B88-99E2-19CFB89E2629}" destId="{9FFF055F-FCB9-4495-89D5-22CF8D4B5612}" srcOrd="0" destOrd="0" presId="urn:microsoft.com/office/officeart/2011/layout/CircleProcess"/>
    <dgm:cxn modelId="{4646BAB0-5DFE-4FFB-9FF0-BF5C4BBB2369}" type="presOf" srcId="{AAFEAE5B-DF29-4F2D-BA82-646BF94892C2}" destId="{99A4F538-781F-4938-BD39-D413893C416A}" srcOrd="0" destOrd="0" presId="urn:microsoft.com/office/officeart/2011/layout/CircleProcess"/>
    <dgm:cxn modelId="{099F61BD-25F1-4B86-BD96-93836027F974}" type="presOf" srcId="{B2CEA80C-4AB2-4820-833E-4247D7ADF1C2}" destId="{8FAC0FF4-5019-417C-A239-3A51109729E1}" srcOrd="1" destOrd="0" presId="urn:microsoft.com/office/officeart/2011/layout/CircleProcess"/>
    <dgm:cxn modelId="{50F537C3-23C4-4AF2-A17A-B38F1D0133AC}" type="presOf" srcId="{163623D8-1403-4F8B-AD76-51559ED2754D}" destId="{40F500F5-8651-4546-AAF8-DF905D9356FE}" srcOrd="0" destOrd="0" presId="urn:microsoft.com/office/officeart/2011/layout/CircleProcess"/>
    <dgm:cxn modelId="{1E04FEC5-560B-4329-A57A-0840D61A10F6}" srcId="{9A3A23B1-02B2-4B4E-92E3-C8A85700F0C7}" destId="{607A09E0-052D-4B29-9EFA-8AA75EA1B582}" srcOrd="5" destOrd="0" parTransId="{ACEA14C5-98E0-4EF4-AD4F-CA86FB8CBD7E}" sibTransId="{81FA7CB9-AE2B-470E-8ED9-C13DD6CD45AF}"/>
    <dgm:cxn modelId="{574B70CD-C5C3-4DA9-87F0-44A7B5D7656D}" type="presOf" srcId="{D8B0992C-79F8-413A-88A3-CE48312024D1}" destId="{F76F4322-BE4B-4249-8179-1020678A09A2}" srcOrd="1" destOrd="0" presId="urn:microsoft.com/office/officeart/2011/layout/CircleProcess"/>
    <dgm:cxn modelId="{403E9FD3-92EE-4D66-B75D-8EB83BA2EFA9}" srcId="{9A3A23B1-02B2-4B4E-92E3-C8A85700F0C7}" destId="{F2D0E7EC-4AB9-42FA-8F16-BAA1323DF0AD}" srcOrd="3" destOrd="0" parTransId="{03AAF730-D69B-4479-B083-116F19F23F14}" sibTransId="{62FAD624-A795-4680-AA41-30C5F2B814AF}"/>
    <dgm:cxn modelId="{8FA6B0DC-0E63-44E8-A29F-8B021B220058}" srcId="{607A09E0-052D-4B29-9EFA-8AA75EA1B582}" destId="{5B5824F1-934D-4B88-99E2-19CFB89E2629}" srcOrd="0" destOrd="0" parTransId="{D447B8F2-7646-4283-934A-F5853943F6E3}" sibTransId="{284B8471-5478-4120-8241-AA32543557E5}"/>
    <dgm:cxn modelId="{927C6D49-ED7A-49BB-B826-26810E7667EE}" type="presParOf" srcId="{05A647AF-EE9B-4D2F-87F4-FA1BBF5A1320}" destId="{ED4C1BE7-AAF6-4406-A3D7-BD9193BF5083}" srcOrd="0" destOrd="0" presId="urn:microsoft.com/office/officeart/2011/layout/CircleProcess"/>
    <dgm:cxn modelId="{8FE9A2DF-0AB4-4C85-85FB-27366D3C163F}" type="presParOf" srcId="{ED4C1BE7-AAF6-4406-A3D7-BD9193BF5083}" destId="{7C0BA251-560F-42D9-9CC3-0CAFD67D5F36}" srcOrd="0" destOrd="0" presId="urn:microsoft.com/office/officeart/2011/layout/CircleProcess"/>
    <dgm:cxn modelId="{60191035-4889-44A3-A3FE-70CF0CB416E1}" type="presParOf" srcId="{05A647AF-EE9B-4D2F-87F4-FA1BBF5A1320}" destId="{B4E27CB6-7ADD-4FAD-8041-CFEA298FDFD7}" srcOrd="1" destOrd="0" presId="urn:microsoft.com/office/officeart/2011/layout/CircleProcess"/>
    <dgm:cxn modelId="{2DBE255A-E486-4B47-80A9-E976746B803B}" type="presParOf" srcId="{B4E27CB6-7ADD-4FAD-8041-CFEA298FDFD7}" destId="{93FCFB2C-23B5-47CC-8598-0722D68133BA}" srcOrd="0" destOrd="0" presId="urn:microsoft.com/office/officeart/2011/layout/CircleProcess"/>
    <dgm:cxn modelId="{FAB05991-7621-43D7-9DEB-0DA008782450}" type="presParOf" srcId="{05A647AF-EE9B-4D2F-87F4-FA1BBF5A1320}" destId="{9FFF055F-FCB9-4495-89D5-22CF8D4B5612}" srcOrd="2" destOrd="0" presId="urn:microsoft.com/office/officeart/2011/layout/CircleProcess"/>
    <dgm:cxn modelId="{DCCBDC35-C605-4883-AA04-A0E3766BBF29}" type="presParOf" srcId="{05A647AF-EE9B-4D2F-87F4-FA1BBF5A1320}" destId="{73C481EA-326E-4122-9173-7D99BA900C0E}" srcOrd="3" destOrd="0" presId="urn:microsoft.com/office/officeart/2011/layout/CircleProcess"/>
    <dgm:cxn modelId="{406E3033-1CD5-46C3-8F24-00B99A4E668C}" type="presParOf" srcId="{05A647AF-EE9B-4D2F-87F4-FA1BBF5A1320}" destId="{121D5AF5-CB2C-49D9-B185-0963E110EB08}" srcOrd="4" destOrd="0" presId="urn:microsoft.com/office/officeart/2011/layout/CircleProcess"/>
    <dgm:cxn modelId="{BB349273-5804-4825-8723-10FF055B82BC}" type="presParOf" srcId="{121D5AF5-CB2C-49D9-B185-0963E110EB08}" destId="{11138C85-9305-4C8A-B6F1-8BB079D0242D}" srcOrd="0" destOrd="0" presId="urn:microsoft.com/office/officeart/2011/layout/CircleProcess"/>
    <dgm:cxn modelId="{A9B67D3A-D695-4F95-B602-8E8310522683}" type="presParOf" srcId="{05A647AF-EE9B-4D2F-87F4-FA1BBF5A1320}" destId="{DEDF9594-084F-4F45-A947-768D6FC5790B}" srcOrd="5" destOrd="0" presId="urn:microsoft.com/office/officeart/2011/layout/CircleProcess"/>
    <dgm:cxn modelId="{BD187C6B-380D-46BE-9C4D-0941559154F2}" type="presParOf" srcId="{DEDF9594-084F-4F45-A947-768D6FC5790B}" destId="{41089E10-81D3-4A12-9FA4-7537895DAB4A}" srcOrd="0" destOrd="0" presId="urn:microsoft.com/office/officeart/2011/layout/CircleProcess"/>
    <dgm:cxn modelId="{FF50464A-BE26-4E21-9F62-8D84256FEF6F}" type="presParOf" srcId="{05A647AF-EE9B-4D2F-87F4-FA1BBF5A1320}" destId="{99A4F538-781F-4938-BD39-D413893C416A}" srcOrd="6" destOrd="0" presId="urn:microsoft.com/office/officeart/2011/layout/CircleProcess"/>
    <dgm:cxn modelId="{5282514A-1044-4242-961D-96876B8FB555}" type="presParOf" srcId="{05A647AF-EE9B-4D2F-87F4-FA1BBF5A1320}" destId="{F76F4322-BE4B-4249-8179-1020678A09A2}" srcOrd="7" destOrd="0" presId="urn:microsoft.com/office/officeart/2011/layout/CircleProcess"/>
    <dgm:cxn modelId="{2E7B0638-6A39-481A-844A-B3B73912D402}" type="presParOf" srcId="{05A647AF-EE9B-4D2F-87F4-FA1BBF5A1320}" destId="{0DDFF18B-629F-4E78-B112-BCC5DD7E9FA2}" srcOrd="8" destOrd="0" presId="urn:microsoft.com/office/officeart/2011/layout/CircleProcess"/>
    <dgm:cxn modelId="{D09F9A2D-1743-44A5-B1B6-B20B4897407C}" type="presParOf" srcId="{0DDFF18B-629F-4E78-B112-BCC5DD7E9FA2}" destId="{96176896-2095-47D0-A3B4-9144AA090EF3}" srcOrd="0" destOrd="0" presId="urn:microsoft.com/office/officeart/2011/layout/CircleProcess"/>
    <dgm:cxn modelId="{2D9BFA41-9E66-4207-9C87-AE2C37AA8422}" type="presParOf" srcId="{05A647AF-EE9B-4D2F-87F4-FA1BBF5A1320}" destId="{CE833BFF-2C2E-4815-B49A-201EE0219D07}" srcOrd="9" destOrd="0" presId="urn:microsoft.com/office/officeart/2011/layout/CircleProcess"/>
    <dgm:cxn modelId="{0019B29F-FB8B-4887-9CFF-A5DB017FAF02}" type="presParOf" srcId="{CE833BFF-2C2E-4815-B49A-201EE0219D07}" destId="{B17FEC15-0562-4ED7-BB45-ADD8DEB26675}" srcOrd="0" destOrd="0" presId="urn:microsoft.com/office/officeart/2011/layout/CircleProcess"/>
    <dgm:cxn modelId="{3ABCCEC1-0372-4228-BCCE-EC08BA0D8C69}" type="presParOf" srcId="{05A647AF-EE9B-4D2F-87F4-FA1BBF5A1320}" destId="{348AA445-B7AE-4FB8-B327-6E3643591FD9}" srcOrd="10" destOrd="0" presId="urn:microsoft.com/office/officeart/2011/layout/CircleProcess"/>
    <dgm:cxn modelId="{931621DC-00EC-4ECE-B404-3E108AA7FCB0}" type="presParOf" srcId="{05A647AF-EE9B-4D2F-87F4-FA1BBF5A1320}" destId="{BD918A10-155C-4E47-942A-52DEA519BBBD}" srcOrd="11" destOrd="0" presId="urn:microsoft.com/office/officeart/2011/layout/CircleProcess"/>
    <dgm:cxn modelId="{C441A00A-33EF-4F3B-BEFA-AE1F2D062C3B}" type="presParOf" srcId="{05A647AF-EE9B-4D2F-87F4-FA1BBF5A1320}" destId="{57EB8726-E60B-4EC1-85E6-337570CA724A}" srcOrd="12" destOrd="0" presId="urn:microsoft.com/office/officeart/2011/layout/CircleProcess"/>
    <dgm:cxn modelId="{2D82451C-A48A-4A7D-8D5B-8F1740CDC0F6}" type="presParOf" srcId="{57EB8726-E60B-4EC1-85E6-337570CA724A}" destId="{A79D1EA1-B234-4C81-B7D3-381FE2BC4000}" srcOrd="0" destOrd="0" presId="urn:microsoft.com/office/officeart/2011/layout/CircleProcess"/>
    <dgm:cxn modelId="{DDCA7A8E-B229-42E1-8622-35A1938605C4}" type="presParOf" srcId="{05A647AF-EE9B-4D2F-87F4-FA1BBF5A1320}" destId="{B1B09FDE-DBB3-4AD6-8C8F-6EEE05CBC9D0}" srcOrd="13" destOrd="0" presId="urn:microsoft.com/office/officeart/2011/layout/CircleProcess"/>
    <dgm:cxn modelId="{DB2D3644-3E57-4F84-BC4E-DECB7A0854C3}" type="presParOf" srcId="{B1B09FDE-DBB3-4AD6-8C8F-6EEE05CBC9D0}" destId="{A4D66016-AFE7-4B59-BFCF-CAEA5A1216C7}" srcOrd="0" destOrd="0" presId="urn:microsoft.com/office/officeart/2011/layout/CircleProcess"/>
    <dgm:cxn modelId="{6EF3CCC2-D737-44F8-BAB0-EFDEDFAB3647}" type="presParOf" srcId="{05A647AF-EE9B-4D2F-87F4-FA1BBF5A1320}" destId="{9EF67866-93E6-45BC-B134-E452594E5417}" srcOrd="14" destOrd="0" presId="urn:microsoft.com/office/officeart/2011/layout/CircleProcess"/>
    <dgm:cxn modelId="{07151741-48C5-4857-A0A9-0E63422BFBA7}" type="presParOf" srcId="{05A647AF-EE9B-4D2F-87F4-FA1BBF5A1320}" destId="{8FAC0FF4-5019-417C-A239-3A51109729E1}" srcOrd="15" destOrd="0" presId="urn:microsoft.com/office/officeart/2011/layout/CircleProcess"/>
    <dgm:cxn modelId="{20F546EF-4714-48D0-BD8C-255FE1FBF681}" type="presParOf" srcId="{05A647AF-EE9B-4D2F-87F4-FA1BBF5A1320}" destId="{25D50C93-E0B0-41E6-B16D-1C6CB902BD89}" srcOrd="16" destOrd="0" presId="urn:microsoft.com/office/officeart/2011/layout/CircleProcess"/>
    <dgm:cxn modelId="{194441E0-FA61-414C-8466-56E5416F10E2}" type="presParOf" srcId="{25D50C93-E0B0-41E6-B16D-1C6CB902BD89}" destId="{2D7FBB78-FB5E-4719-9B1B-B9976BBA5278}" srcOrd="0" destOrd="0" presId="urn:microsoft.com/office/officeart/2011/layout/CircleProcess"/>
    <dgm:cxn modelId="{CECA99D4-AFDB-4879-A63A-411C65F6CF18}" type="presParOf" srcId="{05A647AF-EE9B-4D2F-87F4-FA1BBF5A1320}" destId="{05630429-BC66-4C48-B4A9-E3EDCA7F1A61}" srcOrd="17" destOrd="0" presId="urn:microsoft.com/office/officeart/2011/layout/CircleProcess"/>
    <dgm:cxn modelId="{A9689C02-FBEB-4939-8C7B-FFDDCFC64071}" type="presParOf" srcId="{05630429-BC66-4C48-B4A9-E3EDCA7F1A61}" destId="{9B295808-E3E7-4848-B6BE-0AE0919EC0A3}" srcOrd="0" destOrd="0" presId="urn:microsoft.com/office/officeart/2011/layout/CircleProcess"/>
    <dgm:cxn modelId="{E09638CB-4F9D-47DE-9F4F-CEB3699E2BCF}" type="presParOf" srcId="{05A647AF-EE9B-4D2F-87F4-FA1BBF5A1320}" destId="{35A9815B-605E-457C-85C0-BD69EC46F097}" srcOrd="18" destOrd="0" presId="urn:microsoft.com/office/officeart/2011/layout/CircleProcess"/>
    <dgm:cxn modelId="{92342981-93D5-41A9-9AC8-E3BB5FFB21C3}" type="presParOf" srcId="{05A647AF-EE9B-4D2F-87F4-FA1BBF5A1320}" destId="{DDE04E9E-CBF5-42B8-A6ED-38090BD02B1D}" srcOrd="19" destOrd="0" presId="urn:microsoft.com/office/officeart/2011/layout/CircleProcess"/>
    <dgm:cxn modelId="{6753282C-A842-4C63-9226-31B2A26F84D6}" type="presParOf" srcId="{05A647AF-EE9B-4D2F-87F4-FA1BBF5A1320}" destId="{5BEA2B0B-44AC-4876-A2DC-804C587D253E}" srcOrd="20" destOrd="0" presId="urn:microsoft.com/office/officeart/2011/layout/CircleProcess"/>
    <dgm:cxn modelId="{67D73F91-97FC-4A5E-AAAB-2FE9DD95A5E8}" type="presParOf" srcId="{5BEA2B0B-44AC-4876-A2DC-804C587D253E}" destId="{68808DB9-F645-4BBF-8186-4626BE842488}" srcOrd="0" destOrd="0" presId="urn:microsoft.com/office/officeart/2011/layout/CircleProcess"/>
    <dgm:cxn modelId="{683A71AB-35E6-4345-A569-AF57256A2B15}" type="presParOf" srcId="{05A647AF-EE9B-4D2F-87F4-FA1BBF5A1320}" destId="{A0E53097-22DA-4BC7-A7EE-1648C217F9F8}" srcOrd="21" destOrd="0" presId="urn:microsoft.com/office/officeart/2011/layout/CircleProcess"/>
    <dgm:cxn modelId="{127FBF45-9584-4C13-82C0-EEF3211E0C16}" type="presParOf" srcId="{A0E53097-22DA-4BC7-A7EE-1648C217F9F8}" destId="{40F500F5-8651-4546-AAF8-DF905D9356FE}" srcOrd="0" destOrd="0" presId="urn:microsoft.com/office/officeart/2011/layout/CircleProcess"/>
    <dgm:cxn modelId="{C90B82A8-649D-469D-AC19-8FA06E65BC61}" type="presParOf" srcId="{05A647AF-EE9B-4D2F-87F4-FA1BBF5A1320}" destId="{1BEB32BA-18F6-4719-9E89-55111C2AE455}" srcOrd="22" destOrd="0" presId="urn:microsoft.com/office/officeart/2011/layout/CircleProcess"/>
    <dgm:cxn modelId="{365770CF-1E1A-4C1C-8E73-1304B5FF06F9}" type="presParOf" srcId="{05A647AF-EE9B-4D2F-87F4-FA1BBF5A1320}" destId="{5819B96E-1757-4E59-9CCA-F6F0690300DA}" srcOrd="23"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CC5DDF-FA05-42B2-842F-F8EF22F27BAA}"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89762ADE-DAA8-4FAB-A2FC-0C395907F4E6}">
      <dgm:prSet phldrT="[Text]" custT="1"/>
      <dgm:spPr>
        <a:solidFill>
          <a:schemeClr val="tx2"/>
        </a:solidFill>
      </dgm:spPr>
      <dgm:t>
        <a:bodyPr/>
        <a:lstStyle/>
        <a:p>
          <a:r>
            <a:rPr lang="en-US" sz="1200" dirty="0"/>
            <a:t>Generate Improvement Ideas</a:t>
          </a:r>
        </a:p>
      </dgm:t>
    </dgm:pt>
    <dgm:pt modelId="{FC7F1C8E-04AE-4B5E-ADDA-283C740B96A0}" type="parTrans" cxnId="{04D0C077-9B47-49A0-BB0A-C5B96D365E8D}">
      <dgm:prSet/>
      <dgm:spPr/>
      <dgm:t>
        <a:bodyPr/>
        <a:lstStyle/>
        <a:p>
          <a:endParaRPr lang="en-US"/>
        </a:p>
      </dgm:t>
    </dgm:pt>
    <dgm:pt modelId="{8EB6D988-1284-4524-8558-707A79687C34}" type="sibTrans" cxnId="{04D0C077-9B47-49A0-BB0A-C5B96D365E8D}">
      <dgm:prSet/>
      <dgm:spPr/>
      <dgm:t>
        <a:bodyPr/>
        <a:lstStyle/>
        <a:p>
          <a:endParaRPr lang="en-US"/>
        </a:p>
      </dgm:t>
    </dgm:pt>
    <dgm:pt modelId="{002B13E8-E950-4413-9981-08E52534064E}">
      <dgm:prSet phldrT="[Text]" custT="1"/>
      <dgm:spPr/>
      <dgm:t>
        <a:bodyPr/>
        <a:lstStyle/>
        <a:p>
          <a:r>
            <a:rPr lang="en-US" sz="1200" dirty="0"/>
            <a:t>Best Practices</a:t>
          </a:r>
        </a:p>
      </dgm:t>
    </dgm:pt>
    <dgm:pt modelId="{3BA8E65A-A2B1-4AB9-9ABA-EECC588F36C8}" type="parTrans" cxnId="{2191A88A-FD8F-475D-8473-08E340A9695C}">
      <dgm:prSet/>
      <dgm:spPr/>
      <dgm:t>
        <a:bodyPr/>
        <a:lstStyle/>
        <a:p>
          <a:endParaRPr lang="en-US"/>
        </a:p>
      </dgm:t>
    </dgm:pt>
    <dgm:pt modelId="{34CEAD75-7898-4638-B75A-75756D9D8CDF}" type="sibTrans" cxnId="{2191A88A-FD8F-475D-8473-08E340A9695C}">
      <dgm:prSet/>
      <dgm:spPr/>
      <dgm:t>
        <a:bodyPr/>
        <a:lstStyle/>
        <a:p>
          <a:endParaRPr lang="en-US"/>
        </a:p>
      </dgm:t>
    </dgm:pt>
    <dgm:pt modelId="{53A4A33E-BBD9-4782-8098-0DE8FFC5DD27}">
      <dgm:prSet phldrT="[Text]" custT="1"/>
      <dgm:spPr/>
      <dgm:t>
        <a:bodyPr/>
        <a:lstStyle/>
        <a:p>
          <a:r>
            <a:rPr lang="en-US" sz="1200" dirty="0"/>
            <a:t>Ideas from Other Projects</a:t>
          </a:r>
        </a:p>
      </dgm:t>
    </dgm:pt>
    <dgm:pt modelId="{59183C15-C7FA-40B1-80E6-69AABDD701F9}" type="parTrans" cxnId="{756783AC-A69B-4F51-A487-AB982F3727D7}">
      <dgm:prSet/>
      <dgm:spPr/>
      <dgm:t>
        <a:bodyPr/>
        <a:lstStyle/>
        <a:p>
          <a:endParaRPr lang="en-US"/>
        </a:p>
      </dgm:t>
    </dgm:pt>
    <dgm:pt modelId="{73A7EB1E-826A-4757-942B-F5B72D7AE801}" type="sibTrans" cxnId="{756783AC-A69B-4F51-A487-AB982F3727D7}">
      <dgm:prSet/>
      <dgm:spPr/>
      <dgm:t>
        <a:bodyPr/>
        <a:lstStyle/>
        <a:p>
          <a:endParaRPr lang="en-US"/>
        </a:p>
      </dgm:t>
    </dgm:pt>
    <dgm:pt modelId="{F7CCA073-9D9E-4DD4-8F1A-CE1DC12A20E7}">
      <dgm:prSet phldrT="[Text]" custT="1"/>
      <dgm:spPr/>
      <dgm:t>
        <a:bodyPr/>
        <a:lstStyle/>
        <a:p>
          <a:r>
            <a:rPr lang="en-US" sz="800" dirty="0"/>
            <a:t>Brainstorming</a:t>
          </a:r>
        </a:p>
      </dgm:t>
    </dgm:pt>
    <dgm:pt modelId="{58A701C0-5D17-443F-A955-F29C85D29685}" type="parTrans" cxnId="{977979D7-DC30-41B5-97A8-43C69CCC99A7}">
      <dgm:prSet/>
      <dgm:spPr/>
      <dgm:t>
        <a:bodyPr/>
        <a:lstStyle/>
        <a:p>
          <a:endParaRPr lang="en-US"/>
        </a:p>
      </dgm:t>
    </dgm:pt>
    <dgm:pt modelId="{9909D42C-74F4-43C1-A9DC-A4D330CCB25F}" type="sibTrans" cxnId="{977979D7-DC30-41B5-97A8-43C69CCC99A7}">
      <dgm:prSet/>
      <dgm:spPr/>
      <dgm:t>
        <a:bodyPr/>
        <a:lstStyle/>
        <a:p>
          <a:endParaRPr lang="en-US"/>
        </a:p>
      </dgm:t>
    </dgm:pt>
    <dgm:pt modelId="{CC29A992-EB85-428D-9B0D-F096CF257AE5}">
      <dgm:prSet phldrT="[Text]" custT="1"/>
      <dgm:spPr/>
      <dgm:t>
        <a:bodyPr/>
        <a:lstStyle/>
        <a:p>
          <a:r>
            <a:rPr lang="en-US" sz="800" dirty="0"/>
            <a:t>Performance Targets</a:t>
          </a:r>
        </a:p>
      </dgm:t>
    </dgm:pt>
    <dgm:pt modelId="{076ABAC1-9DFD-4B80-9FA0-AEE7E586D35A}" type="parTrans" cxnId="{36B9810D-3E42-411A-8D7D-4BB799A1C582}">
      <dgm:prSet/>
      <dgm:spPr/>
      <dgm:t>
        <a:bodyPr/>
        <a:lstStyle/>
        <a:p>
          <a:endParaRPr lang="en-US"/>
        </a:p>
      </dgm:t>
    </dgm:pt>
    <dgm:pt modelId="{096D063F-8359-46FC-8620-C49E843A0B35}" type="sibTrans" cxnId="{36B9810D-3E42-411A-8D7D-4BB799A1C582}">
      <dgm:prSet/>
      <dgm:spPr/>
      <dgm:t>
        <a:bodyPr/>
        <a:lstStyle/>
        <a:p>
          <a:endParaRPr lang="en-US"/>
        </a:p>
      </dgm:t>
    </dgm:pt>
    <dgm:pt modelId="{AB8089EB-0877-46AC-80DE-D250C93F0735}">
      <dgm:prSet phldrT="[Text]" custT="1"/>
      <dgm:spPr/>
      <dgm:t>
        <a:bodyPr/>
        <a:lstStyle/>
        <a:p>
          <a:r>
            <a:rPr lang="en-US" sz="1000" dirty="0"/>
            <a:t>Benchmark Ideas</a:t>
          </a:r>
        </a:p>
      </dgm:t>
    </dgm:pt>
    <dgm:pt modelId="{ED1F1ABE-7473-46CA-805C-157B91869841}" type="parTrans" cxnId="{EA62C3B0-4D91-4AAF-ABFF-F601EEBF1339}">
      <dgm:prSet/>
      <dgm:spPr/>
      <dgm:t>
        <a:bodyPr/>
        <a:lstStyle/>
        <a:p>
          <a:endParaRPr lang="en-US"/>
        </a:p>
      </dgm:t>
    </dgm:pt>
    <dgm:pt modelId="{E94D70BB-062A-45F0-955A-36E37A33A6A2}" type="sibTrans" cxnId="{EA62C3B0-4D91-4AAF-ABFF-F601EEBF1339}">
      <dgm:prSet/>
      <dgm:spPr/>
      <dgm:t>
        <a:bodyPr/>
        <a:lstStyle/>
        <a:p>
          <a:endParaRPr lang="en-US"/>
        </a:p>
      </dgm:t>
    </dgm:pt>
    <dgm:pt modelId="{A29CC2D8-87A9-45E1-9E9B-073DC08F891D}">
      <dgm:prSet phldrT="[Text]" custT="1"/>
      <dgm:spPr/>
      <dgm:t>
        <a:bodyPr/>
        <a:lstStyle/>
        <a:p>
          <a:r>
            <a:rPr lang="en-US" sz="800" dirty="0"/>
            <a:t>“Discoveries” During Analysis</a:t>
          </a:r>
        </a:p>
      </dgm:t>
    </dgm:pt>
    <dgm:pt modelId="{3AD875AC-4CC7-4788-946A-5278967BD822}" type="parTrans" cxnId="{AC0C2CD3-1EBD-4CA2-B10B-5A318BDB4CEC}">
      <dgm:prSet/>
      <dgm:spPr/>
      <dgm:t>
        <a:bodyPr/>
        <a:lstStyle/>
        <a:p>
          <a:endParaRPr lang="en-US"/>
        </a:p>
      </dgm:t>
    </dgm:pt>
    <dgm:pt modelId="{766DC926-7273-4CAC-9CCA-84F3FF9C6C23}" type="sibTrans" cxnId="{AC0C2CD3-1EBD-4CA2-B10B-5A318BDB4CEC}">
      <dgm:prSet/>
      <dgm:spPr/>
      <dgm:t>
        <a:bodyPr/>
        <a:lstStyle/>
        <a:p>
          <a:endParaRPr lang="en-US"/>
        </a:p>
      </dgm:t>
    </dgm:pt>
    <dgm:pt modelId="{9A09ECB1-CBD5-4777-B95D-4E1C84367225}">
      <dgm:prSet phldrT="[Text]" custT="1"/>
      <dgm:spPr/>
      <dgm:t>
        <a:bodyPr/>
        <a:lstStyle/>
        <a:p>
          <a:r>
            <a:rPr lang="en-US" sz="1200" dirty="0"/>
            <a:t>Project Goals</a:t>
          </a:r>
        </a:p>
      </dgm:t>
    </dgm:pt>
    <dgm:pt modelId="{98F6BD0D-8EFC-4092-AE03-5A41026DD22B}" type="parTrans" cxnId="{4B0F831D-D82C-4E45-B0C5-18319B109D4A}">
      <dgm:prSet/>
      <dgm:spPr/>
      <dgm:t>
        <a:bodyPr/>
        <a:lstStyle/>
        <a:p>
          <a:endParaRPr lang="en-US"/>
        </a:p>
      </dgm:t>
    </dgm:pt>
    <dgm:pt modelId="{A1BCA855-A447-4ED6-B83D-3738608E7D4E}" type="sibTrans" cxnId="{4B0F831D-D82C-4E45-B0C5-18319B109D4A}">
      <dgm:prSet/>
      <dgm:spPr/>
      <dgm:t>
        <a:bodyPr/>
        <a:lstStyle/>
        <a:p>
          <a:endParaRPr lang="en-US"/>
        </a:p>
      </dgm:t>
    </dgm:pt>
    <dgm:pt modelId="{57413102-8022-4790-B7A2-EB0B45AE9100}">
      <dgm:prSet phldrT="[Text]" custT="1"/>
      <dgm:spPr/>
      <dgm:t>
        <a:bodyPr/>
        <a:lstStyle/>
        <a:p>
          <a:r>
            <a:rPr lang="en-US" sz="1200" dirty="0"/>
            <a:t>Root Causes</a:t>
          </a:r>
        </a:p>
      </dgm:t>
    </dgm:pt>
    <dgm:pt modelId="{50BAE63F-C06F-4AA6-BF5F-7DF0A4708CEE}" type="parTrans" cxnId="{089A4268-5136-478C-947C-252ACB9D421A}">
      <dgm:prSet/>
      <dgm:spPr/>
      <dgm:t>
        <a:bodyPr/>
        <a:lstStyle/>
        <a:p>
          <a:endParaRPr lang="en-US"/>
        </a:p>
      </dgm:t>
    </dgm:pt>
    <dgm:pt modelId="{4C14822F-93E2-47A9-BFEF-5DA82683FDF1}" type="sibTrans" cxnId="{089A4268-5136-478C-947C-252ACB9D421A}">
      <dgm:prSet/>
      <dgm:spPr/>
      <dgm:t>
        <a:bodyPr/>
        <a:lstStyle/>
        <a:p>
          <a:endParaRPr lang="en-US"/>
        </a:p>
      </dgm:t>
    </dgm:pt>
    <dgm:pt modelId="{F8456702-92A9-40F2-A0BF-712D83DF714D}" type="pres">
      <dgm:prSet presAssocID="{99CC5DDF-FA05-42B2-842F-F8EF22F27BAA}" presName="cycle" presStyleCnt="0">
        <dgm:presLayoutVars>
          <dgm:chMax val="1"/>
          <dgm:dir/>
          <dgm:animLvl val="ctr"/>
          <dgm:resizeHandles val="exact"/>
        </dgm:presLayoutVars>
      </dgm:prSet>
      <dgm:spPr/>
    </dgm:pt>
    <dgm:pt modelId="{AD929A65-8C11-4B05-B31D-6248C1517F3C}" type="pres">
      <dgm:prSet presAssocID="{89762ADE-DAA8-4FAB-A2FC-0C395907F4E6}" presName="centerShape" presStyleLbl="node0" presStyleIdx="0" presStyleCnt="1" custScaleX="153531"/>
      <dgm:spPr/>
    </dgm:pt>
    <dgm:pt modelId="{24E3F922-BAE8-4793-8C0B-9FB3F7789FB4}" type="pres">
      <dgm:prSet presAssocID="{3BA8E65A-A2B1-4AB9-9ABA-EECC588F36C8}" presName="Name9" presStyleLbl="parChTrans1D2" presStyleIdx="0" presStyleCnt="8"/>
      <dgm:spPr/>
    </dgm:pt>
    <dgm:pt modelId="{7A848180-7E7E-497B-AB06-5DC07010B3AD}" type="pres">
      <dgm:prSet presAssocID="{3BA8E65A-A2B1-4AB9-9ABA-EECC588F36C8}" presName="connTx" presStyleLbl="parChTrans1D2" presStyleIdx="0" presStyleCnt="8"/>
      <dgm:spPr/>
    </dgm:pt>
    <dgm:pt modelId="{7128DC0A-B18F-4E8B-AA8D-89C5ADE9831D}" type="pres">
      <dgm:prSet presAssocID="{002B13E8-E950-4413-9981-08E52534064E}" presName="node" presStyleLbl="node1" presStyleIdx="0" presStyleCnt="8">
        <dgm:presLayoutVars>
          <dgm:bulletEnabled val="1"/>
        </dgm:presLayoutVars>
      </dgm:prSet>
      <dgm:spPr/>
    </dgm:pt>
    <dgm:pt modelId="{E357E2BA-AFC7-45A0-B272-4C704B4FCD13}" type="pres">
      <dgm:prSet presAssocID="{59183C15-C7FA-40B1-80E6-69AABDD701F9}" presName="Name9" presStyleLbl="parChTrans1D2" presStyleIdx="1" presStyleCnt="8"/>
      <dgm:spPr/>
    </dgm:pt>
    <dgm:pt modelId="{BBDE5AB1-7862-447D-9E6C-E0BBC51DC46E}" type="pres">
      <dgm:prSet presAssocID="{59183C15-C7FA-40B1-80E6-69AABDD701F9}" presName="connTx" presStyleLbl="parChTrans1D2" presStyleIdx="1" presStyleCnt="8"/>
      <dgm:spPr/>
    </dgm:pt>
    <dgm:pt modelId="{93E948B6-5B22-4A00-A1C7-DC65A6A51F25}" type="pres">
      <dgm:prSet presAssocID="{53A4A33E-BBD9-4782-8098-0DE8FFC5DD27}" presName="node" presStyleLbl="node1" presStyleIdx="1" presStyleCnt="8">
        <dgm:presLayoutVars>
          <dgm:bulletEnabled val="1"/>
        </dgm:presLayoutVars>
      </dgm:prSet>
      <dgm:spPr/>
    </dgm:pt>
    <dgm:pt modelId="{D47AFF70-34EC-4606-8B5E-58730AB50943}" type="pres">
      <dgm:prSet presAssocID="{58A701C0-5D17-443F-A955-F29C85D29685}" presName="Name9" presStyleLbl="parChTrans1D2" presStyleIdx="2" presStyleCnt="8"/>
      <dgm:spPr/>
    </dgm:pt>
    <dgm:pt modelId="{A26CF2A7-630F-4373-9833-558B8F566179}" type="pres">
      <dgm:prSet presAssocID="{58A701C0-5D17-443F-A955-F29C85D29685}" presName="connTx" presStyleLbl="parChTrans1D2" presStyleIdx="2" presStyleCnt="8"/>
      <dgm:spPr/>
    </dgm:pt>
    <dgm:pt modelId="{2D822B71-930E-4282-819B-E999EAFB7F99}" type="pres">
      <dgm:prSet presAssocID="{F7CCA073-9D9E-4DD4-8F1A-CE1DC12A20E7}" presName="node" presStyleLbl="node1" presStyleIdx="2" presStyleCnt="8">
        <dgm:presLayoutVars>
          <dgm:bulletEnabled val="1"/>
        </dgm:presLayoutVars>
      </dgm:prSet>
      <dgm:spPr/>
    </dgm:pt>
    <dgm:pt modelId="{2EC92032-492E-4DB4-8DC1-0F1AD1BD35F5}" type="pres">
      <dgm:prSet presAssocID="{076ABAC1-9DFD-4B80-9FA0-AEE7E586D35A}" presName="Name9" presStyleLbl="parChTrans1D2" presStyleIdx="3" presStyleCnt="8"/>
      <dgm:spPr/>
    </dgm:pt>
    <dgm:pt modelId="{0641913B-7E08-49CA-82E2-8F06B6E1F147}" type="pres">
      <dgm:prSet presAssocID="{076ABAC1-9DFD-4B80-9FA0-AEE7E586D35A}" presName="connTx" presStyleLbl="parChTrans1D2" presStyleIdx="3" presStyleCnt="8"/>
      <dgm:spPr/>
    </dgm:pt>
    <dgm:pt modelId="{04D99F40-F361-40F5-82DA-1024A4600C41}" type="pres">
      <dgm:prSet presAssocID="{CC29A992-EB85-428D-9B0D-F096CF257AE5}" presName="node" presStyleLbl="node1" presStyleIdx="3" presStyleCnt="8">
        <dgm:presLayoutVars>
          <dgm:bulletEnabled val="1"/>
        </dgm:presLayoutVars>
      </dgm:prSet>
      <dgm:spPr/>
    </dgm:pt>
    <dgm:pt modelId="{E0A31064-C277-4E45-A7D5-F51E8D8EE453}" type="pres">
      <dgm:prSet presAssocID="{ED1F1ABE-7473-46CA-805C-157B91869841}" presName="Name9" presStyleLbl="parChTrans1D2" presStyleIdx="4" presStyleCnt="8"/>
      <dgm:spPr/>
    </dgm:pt>
    <dgm:pt modelId="{C01969B6-8869-49D1-84B5-F986DE9B6CC1}" type="pres">
      <dgm:prSet presAssocID="{ED1F1ABE-7473-46CA-805C-157B91869841}" presName="connTx" presStyleLbl="parChTrans1D2" presStyleIdx="4" presStyleCnt="8"/>
      <dgm:spPr/>
    </dgm:pt>
    <dgm:pt modelId="{2807C2A6-0320-474C-B28E-9E113B9BDDE7}" type="pres">
      <dgm:prSet presAssocID="{AB8089EB-0877-46AC-80DE-D250C93F0735}" presName="node" presStyleLbl="node1" presStyleIdx="4" presStyleCnt="8">
        <dgm:presLayoutVars>
          <dgm:bulletEnabled val="1"/>
        </dgm:presLayoutVars>
      </dgm:prSet>
      <dgm:spPr/>
    </dgm:pt>
    <dgm:pt modelId="{C059C5E6-69AE-4455-8232-094027C37A51}" type="pres">
      <dgm:prSet presAssocID="{3AD875AC-4CC7-4788-946A-5278967BD822}" presName="Name9" presStyleLbl="parChTrans1D2" presStyleIdx="5" presStyleCnt="8"/>
      <dgm:spPr/>
    </dgm:pt>
    <dgm:pt modelId="{6CF2422A-E86B-4243-A880-1A05CE2A7944}" type="pres">
      <dgm:prSet presAssocID="{3AD875AC-4CC7-4788-946A-5278967BD822}" presName="connTx" presStyleLbl="parChTrans1D2" presStyleIdx="5" presStyleCnt="8"/>
      <dgm:spPr/>
    </dgm:pt>
    <dgm:pt modelId="{AE33C4A3-4E41-49AC-8C01-7E0ADD19E139}" type="pres">
      <dgm:prSet presAssocID="{A29CC2D8-87A9-45E1-9E9B-073DC08F891D}" presName="node" presStyleLbl="node1" presStyleIdx="5" presStyleCnt="8">
        <dgm:presLayoutVars>
          <dgm:bulletEnabled val="1"/>
        </dgm:presLayoutVars>
      </dgm:prSet>
      <dgm:spPr/>
    </dgm:pt>
    <dgm:pt modelId="{671D75A8-06CE-4AE2-B091-7E83CB310E4C}" type="pres">
      <dgm:prSet presAssocID="{98F6BD0D-8EFC-4092-AE03-5A41026DD22B}" presName="Name9" presStyleLbl="parChTrans1D2" presStyleIdx="6" presStyleCnt="8"/>
      <dgm:spPr/>
    </dgm:pt>
    <dgm:pt modelId="{A1BB311A-B990-4380-82F5-16D337207BE4}" type="pres">
      <dgm:prSet presAssocID="{98F6BD0D-8EFC-4092-AE03-5A41026DD22B}" presName="connTx" presStyleLbl="parChTrans1D2" presStyleIdx="6" presStyleCnt="8"/>
      <dgm:spPr/>
    </dgm:pt>
    <dgm:pt modelId="{494CA633-FB56-4C15-B1D0-1AED590B141F}" type="pres">
      <dgm:prSet presAssocID="{9A09ECB1-CBD5-4777-B95D-4E1C84367225}" presName="node" presStyleLbl="node1" presStyleIdx="6" presStyleCnt="8">
        <dgm:presLayoutVars>
          <dgm:bulletEnabled val="1"/>
        </dgm:presLayoutVars>
      </dgm:prSet>
      <dgm:spPr/>
    </dgm:pt>
    <dgm:pt modelId="{3AC3416C-511D-40D5-B994-D2C24B706E32}" type="pres">
      <dgm:prSet presAssocID="{50BAE63F-C06F-4AA6-BF5F-7DF0A4708CEE}" presName="Name9" presStyleLbl="parChTrans1D2" presStyleIdx="7" presStyleCnt="8"/>
      <dgm:spPr/>
    </dgm:pt>
    <dgm:pt modelId="{B3B89F1A-F382-49E0-9387-789B50B66726}" type="pres">
      <dgm:prSet presAssocID="{50BAE63F-C06F-4AA6-BF5F-7DF0A4708CEE}" presName="connTx" presStyleLbl="parChTrans1D2" presStyleIdx="7" presStyleCnt="8"/>
      <dgm:spPr/>
    </dgm:pt>
    <dgm:pt modelId="{DB844F3A-CE5E-40D9-BA90-B7510C611BBA}" type="pres">
      <dgm:prSet presAssocID="{57413102-8022-4790-B7A2-EB0B45AE9100}" presName="node" presStyleLbl="node1" presStyleIdx="7" presStyleCnt="8">
        <dgm:presLayoutVars>
          <dgm:bulletEnabled val="1"/>
        </dgm:presLayoutVars>
      </dgm:prSet>
      <dgm:spPr/>
    </dgm:pt>
  </dgm:ptLst>
  <dgm:cxnLst>
    <dgm:cxn modelId="{36B9810D-3E42-411A-8D7D-4BB799A1C582}" srcId="{89762ADE-DAA8-4FAB-A2FC-0C395907F4E6}" destId="{CC29A992-EB85-428D-9B0D-F096CF257AE5}" srcOrd="3" destOrd="0" parTransId="{076ABAC1-9DFD-4B80-9FA0-AEE7E586D35A}" sibTransId="{096D063F-8359-46FC-8620-C49E843A0B35}"/>
    <dgm:cxn modelId="{1FBCAB17-FFA2-42D6-A90C-08D8F1479AB6}" type="presOf" srcId="{59183C15-C7FA-40B1-80E6-69AABDD701F9}" destId="{BBDE5AB1-7862-447D-9E6C-E0BBC51DC46E}" srcOrd="1" destOrd="0" presId="urn:microsoft.com/office/officeart/2005/8/layout/radial1"/>
    <dgm:cxn modelId="{C524C217-A493-4868-B8D9-52CEF81C30D3}" type="presOf" srcId="{F7CCA073-9D9E-4DD4-8F1A-CE1DC12A20E7}" destId="{2D822B71-930E-4282-819B-E999EAFB7F99}" srcOrd="0" destOrd="0" presId="urn:microsoft.com/office/officeart/2005/8/layout/radial1"/>
    <dgm:cxn modelId="{4B0F831D-D82C-4E45-B0C5-18319B109D4A}" srcId="{89762ADE-DAA8-4FAB-A2FC-0C395907F4E6}" destId="{9A09ECB1-CBD5-4777-B95D-4E1C84367225}" srcOrd="6" destOrd="0" parTransId="{98F6BD0D-8EFC-4092-AE03-5A41026DD22B}" sibTransId="{A1BCA855-A447-4ED6-B83D-3738608E7D4E}"/>
    <dgm:cxn modelId="{6BB3681E-B2C3-453C-8382-B327EE6F82B3}" type="presOf" srcId="{50BAE63F-C06F-4AA6-BF5F-7DF0A4708CEE}" destId="{B3B89F1A-F382-49E0-9387-789B50B66726}" srcOrd="1" destOrd="0" presId="urn:microsoft.com/office/officeart/2005/8/layout/radial1"/>
    <dgm:cxn modelId="{C9247C23-B241-44A3-A67E-4CCCA9EEDEE3}" type="presOf" srcId="{3AD875AC-4CC7-4788-946A-5278967BD822}" destId="{6CF2422A-E86B-4243-A880-1A05CE2A7944}" srcOrd="1" destOrd="0" presId="urn:microsoft.com/office/officeart/2005/8/layout/radial1"/>
    <dgm:cxn modelId="{30638327-D659-465A-9F80-13768DC5F9F4}" type="presOf" srcId="{53A4A33E-BBD9-4782-8098-0DE8FFC5DD27}" destId="{93E948B6-5B22-4A00-A1C7-DC65A6A51F25}" srcOrd="0" destOrd="0" presId="urn:microsoft.com/office/officeart/2005/8/layout/radial1"/>
    <dgm:cxn modelId="{DEC41F3E-5C6F-4463-BD98-D477CCE2538C}" type="presOf" srcId="{98F6BD0D-8EFC-4092-AE03-5A41026DD22B}" destId="{671D75A8-06CE-4AE2-B091-7E83CB310E4C}" srcOrd="0" destOrd="0" presId="urn:microsoft.com/office/officeart/2005/8/layout/radial1"/>
    <dgm:cxn modelId="{FC93FC47-8F16-49CD-80EF-72EE9254D320}" type="presOf" srcId="{98F6BD0D-8EFC-4092-AE03-5A41026DD22B}" destId="{A1BB311A-B990-4380-82F5-16D337207BE4}" srcOrd="1" destOrd="0" presId="urn:microsoft.com/office/officeart/2005/8/layout/radial1"/>
    <dgm:cxn modelId="{AF255E4A-DA73-43EC-AB54-2849CE3466C5}" type="presOf" srcId="{076ABAC1-9DFD-4B80-9FA0-AEE7E586D35A}" destId="{2EC92032-492E-4DB4-8DC1-0F1AD1BD35F5}" srcOrd="0" destOrd="0" presId="urn:microsoft.com/office/officeart/2005/8/layout/radial1"/>
    <dgm:cxn modelId="{A419454C-6189-45CE-8ECC-48B7ADC22985}" type="presOf" srcId="{58A701C0-5D17-443F-A955-F29C85D29685}" destId="{A26CF2A7-630F-4373-9833-558B8F566179}" srcOrd="1" destOrd="0" presId="urn:microsoft.com/office/officeart/2005/8/layout/radial1"/>
    <dgm:cxn modelId="{1A94A155-4B63-419A-BBE9-D64B929D43E1}" type="presOf" srcId="{50BAE63F-C06F-4AA6-BF5F-7DF0A4708CEE}" destId="{3AC3416C-511D-40D5-B994-D2C24B706E32}" srcOrd="0" destOrd="0" presId="urn:microsoft.com/office/officeart/2005/8/layout/radial1"/>
    <dgm:cxn modelId="{D5C8C158-07DF-4E2E-9A54-417886483500}" type="presOf" srcId="{A29CC2D8-87A9-45E1-9E9B-073DC08F891D}" destId="{AE33C4A3-4E41-49AC-8C01-7E0ADD19E139}" srcOrd="0" destOrd="0" presId="urn:microsoft.com/office/officeart/2005/8/layout/radial1"/>
    <dgm:cxn modelId="{C8E75959-004F-4B19-ABE3-BCBB7538DD5E}" type="presOf" srcId="{3BA8E65A-A2B1-4AB9-9ABA-EECC588F36C8}" destId="{7A848180-7E7E-497B-AB06-5DC07010B3AD}" srcOrd="1" destOrd="0" presId="urn:microsoft.com/office/officeart/2005/8/layout/radial1"/>
    <dgm:cxn modelId="{089A4268-5136-478C-947C-252ACB9D421A}" srcId="{89762ADE-DAA8-4FAB-A2FC-0C395907F4E6}" destId="{57413102-8022-4790-B7A2-EB0B45AE9100}" srcOrd="7" destOrd="0" parTransId="{50BAE63F-C06F-4AA6-BF5F-7DF0A4708CEE}" sibTransId="{4C14822F-93E2-47A9-BFEF-5DA82683FDF1}"/>
    <dgm:cxn modelId="{C151936F-9847-485C-AC0D-8D15DCF4A5D2}" type="presOf" srcId="{002B13E8-E950-4413-9981-08E52534064E}" destId="{7128DC0A-B18F-4E8B-AA8D-89C5ADE9831D}" srcOrd="0" destOrd="0" presId="urn:microsoft.com/office/officeart/2005/8/layout/radial1"/>
    <dgm:cxn modelId="{04D0C077-9B47-49A0-BB0A-C5B96D365E8D}" srcId="{99CC5DDF-FA05-42B2-842F-F8EF22F27BAA}" destId="{89762ADE-DAA8-4FAB-A2FC-0C395907F4E6}" srcOrd="0" destOrd="0" parTransId="{FC7F1C8E-04AE-4B5E-ADDA-283C740B96A0}" sibTransId="{8EB6D988-1284-4524-8558-707A79687C34}"/>
    <dgm:cxn modelId="{2191A88A-FD8F-475D-8473-08E340A9695C}" srcId="{89762ADE-DAA8-4FAB-A2FC-0C395907F4E6}" destId="{002B13E8-E950-4413-9981-08E52534064E}" srcOrd="0" destOrd="0" parTransId="{3BA8E65A-A2B1-4AB9-9ABA-EECC588F36C8}" sibTransId="{34CEAD75-7898-4638-B75A-75756D9D8CDF}"/>
    <dgm:cxn modelId="{6E9D84A1-7140-42B1-A3DB-346055602DFE}" type="presOf" srcId="{AB8089EB-0877-46AC-80DE-D250C93F0735}" destId="{2807C2A6-0320-474C-B28E-9E113B9BDDE7}" srcOrd="0" destOrd="0" presId="urn:microsoft.com/office/officeart/2005/8/layout/radial1"/>
    <dgm:cxn modelId="{8AB1CBAA-7F4B-46FA-A110-F1D0C85DA86E}" type="presOf" srcId="{3BA8E65A-A2B1-4AB9-9ABA-EECC588F36C8}" destId="{24E3F922-BAE8-4793-8C0B-9FB3F7789FB4}" srcOrd="0" destOrd="0" presId="urn:microsoft.com/office/officeart/2005/8/layout/radial1"/>
    <dgm:cxn modelId="{756783AC-A69B-4F51-A487-AB982F3727D7}" srcId="{89762ADE-DAA8-4FAB-A2FC-0C395907F4E6}" destId="{53A4A33E-BBD9-4782-8098-0DE8FFC5DD27}" srcOrd="1" destOrd="0" parTransId="{59183C15-C7FA-40B1-80E6-69AABDD701F9}" sibTransId="{73A7EB1E-826A-4757-942B-F5B72D7AE801}"/>
    <dgm:cxn modelId="{107D4FAE-B15C-4E63-B0BF-ED570747AE72}" type="presOf" srcId="{ED1F1ABE-7473-46CA-805C-157B91869841}" destId="{C01969B6-8869-49D1-84B5-F986DE9B6CC1}" srcOrd="1" destOrd="0" presId="urn:microsoft.com/office/officeart/2005/8/layout/radial1"/>
    <dgm:cxn modelId="{EA62C3B0-4D91-4AAF-ABFF-F601EEBF1339}" srcId="{89762ADE-DAA8-4FAB-A2FC-0C395907F4E6}" destId="{AB8089EB-0877-46AC-80DE-D250C93F0735}" srcOrd="4" destOrd="0" parTransId="{ED1F1ABE-7473-46CA-805C-157B91869841}" sibTransId="{E94D70BB-062A-45F0-955A-36E37A33A6A2}"/>
    <dgm:cxn modelId="{324D2BB4-2406-44AF-930E-C2D9A232B3A5}" type="presOf" srcId="{ED1F1ABE-7473-46CA-805C-157B91869841}" destId="{E0A31064-C277-4E45-A7D5-F51E8D8EE453}" srcOrd="0" destOrd="0" presId="urn:microsoft.com/office/officeart/2005/8/layout/radial1"/>
    <dgm:cxn modelId="{DDDD28CA-3F4C-4D25-864E-331FE2F2A216}" type="presOf" srcId="{57413102-8022-4790-B7A2-EB0B45AE9100}" destId="{DB844F3A-CE5E-40D9-BA90-B7510C611BBA}" srcOrd="0" destOrd="0" presId="urn:microsoft.com/office/officeart/2005/8/layout/radial1"/>
    <dgm:cxn modelId="{8FF9F5CD-B4D8-4195-8CA5-2879266D4BE9}" type="presOf" srcId="{3AD875AC-4CC7-4788-946A-5278967BD822}" destId="{C059C5E6-69AE-4455-8232-094027C37A51}" srcOrd="0" destOrd="0" presId="urn:microsoft.com/office/officeart/2005/8/layout/radial1"/>
    <dgm:cxn modelId="{D7041ECE-BB3E-4AF9-9D71-617DE153175B}" type="presOf" srcId="{59183C15-C7FA-40B1-80E6-69AABDD701F9}" destId="{E357E2BA-AFC7-45A0-B272-4C704B4FCD13}" srcOrd="0" destOrd="0" presId="urn:microsoft.com/office/officeart/2005/8/layout/radial1"/>
    <dgm:cxn modelId="{EA65D7D0-3D7F-4633-AB14-A3146F52967A}" type="presOf" srcId="{CC29A992-EB85-428D-9B0D-F096CF257AE5}" destId="{04D99F40-F361-40F5-82DA-1024A4600C41}" srcOrd="0" destOrd="0" presId="urn:microsoft.com/office/officeart/2005/8/layout/radial1"/>
    <dgm:cxn modelId="{AC0C2CD3-1EBD-4CA2-B10B-5A318BDB4CEC}" srcId="{89762ADE-DAA8-4FAB-A2FC-0C395907F4E6}" destId="{A29CC2D8-87A9-45E1-9E9B-073DC08F891D}" srcOrd="5" destOrd="0" parTransId="{3AD875AC-4CC7-4788-946A-5278967BD822}" sibTransId="{766DC926-7273-4CAC-9CCA-84F3FF9C6C23}"/>
    <dgm:cxn modelId="{977979D7-DC30-41B5-97A8-43C69CCC99A7}" srcId="{89762ADE-DAA8-4FAB-A2FC-0C395907F4E6}" destId="{F7CCA073-9D9E-4DD4-8F1A-CE1DC12A20E7}" srcOrd="2" destOrd="0" parTransId="{58A701C0-5D17-443F-A955-F29C85D29685}" sibTransId="{9909D42C-74F4-43C1-A9DC-A4D330CCB25F}"/>
    <dgm:cxn modelId="{0BB83ADA-200E-4145-9C17-7B4C143C92F8}" type="presOf" srcId="{58A701C0-5D17-443F-A955-F29C85D29685}" destId="{D47AFF70-34EC-4606-8B5E-58730AB50943}" srcOrd="0" destOrd="0" presId="urn:microsoft.com/office/officeart/2005/8/layout/radial1"/>
    <dgm:cxn modelId="{775C47DA-9AD1-46DC-8AFA-810C489E280E}" type="presOf" srcId="{89762ADE-DAA8-4FAB-A2FC-0C395907F4E6}" destId="{AD929A65-8C11-4B05-B31D-6248C1517F3C}" srcOrd="0" destOrd="0" presId="urn:microsoft.com/office/officeart/2005/8/layout/radial1"/>
    <dgm:cxn modelId="{797CB0E5-320C-41A6-ADC1-39C6CC37626F}" type="presOf" srcId="{9A09ECB1-CBD5-4777-B95D-4E1C84367225}" destId="{494CA633-FB56-4C15-B1D0-1AED590B141F}" srcOrd="0" destOrd="0" presId="urn:microsoft.com/office/officeart/2005/8/layout/radial1"/>
    <dgm:cxn modelId="{D656B4E9-5EBC-406F-9368-7E4FB020F25E}" type="presOf" srcId="{99CC5DDF-FA05-42B2-842F-F8EF22F27BAA}" destId="{F8456702-92A9-40F2-A0BF-712D83DF714D}" srcOrd="0" destOrd="0" presId="urn:microsoft.com/office/officeart/2005/8/layout/radial1"/>
    <dgm:cxn modelId="{0FEAFCFB-5787-423D-A76B-EE90C820A362}" type="presOf" srcId="{076ABAC1-9DFD-4B80-9FA0-AEE7E586D35A}" destId="{0641913B-7E08-49CA-82E2-8F06B6E1F147}" srcOrd="1" destOrd="0" presId="urn:microsoft.com/office/officeart/2005/8/layout/radial1"/>
    <dgm:cxn modelId="{A9665FBE-B389-44D7-8947-4AFCD0C847C2}" type="presParOf" srcId="{F8456702-92A9-40F2-A0BF-712D83DF714D}" destId="{AD929A65-8C11-4B05-B31D-6248C1517F3C}" srcOrd="0" destOrd="0" presId="urn:microsoft.com/office/officeart/2005/8/layout/radial1"/>
    <dgm:cxn modelId="{ED17FE74-64FA-4110-AF9B-12D347003AAD}" type="presParOf" srcId="{F8456702-92A9-40F2-A0BF-712D83DF714D}" destId="{24E3F922-BAE8-4793-8C0B-9FB3F7789FB4}" srcOrd="1" destOrd="0" presId="urn:microsoft.com/office/officeart/2005/8/layout/radial1"/>
    <dgm:cxn modelId="{B6FA8F6B-90F1-4A82-91D8-49D409669238}" type="presParOf" srcId="{24E3F922-BAE8-4793-8C0B-9FB3F7789FB4}" destId="{7A848180-7E7E-497B-AB06-5DC07010B3AD}" srcOrd="0" destOrd="0" presId="urn:microsoft.com/office/officeart/2005/8/layout/radial1"/>
    <dgm:cxn modelId="{76646C20-A35F-4754-BE9B-F0F5D6A76742}" type="presParOf" srcId="{F8456702-92A9-40F2-A0BF-712D83DF714D}" destId="{7128DC0A-B18F-4E8B-AA8D-89C5ADE9831D}" srcOrd="2" destOrd="0" presId="urn:microsoft.com/office/officeart/2005/8/layout/radial1"/>
    <dgm:cxn modelId="{D8991FB5-2420-4717-8218-8F66DD52EFC9}" type="presParOf" srcId="{F8456702-92A9-40F2-A0BF-712D83DF714D}" destId="{E357E2BA-AFC7-45A0-B272-4C704B4FCD13}" srcOrd="3" destOrd="0" presId="urn:microsoft.com/office/officeart/2005/8/layout/radial1"/>
    <dgm:cxn modelId="{A888FA4B-74B7-4EA2-AD2E-E3A6A21D3F74}" type="presParOf" srcId="{E357E2BA-AFC7-45A0-B272-4C704B4FCD13}" destId="{BBDE5AB1-7862-447D-9E6C-E0BBC51DC46E}" srcOrd="0" destOrd="0" presId="urn:microsoft.com/office/officeart/2005/8/layout/radial1"/>
    <dgm:cxn modelId="{6E7EB81C-7247-4272-BE16-4094299BD63E}" type="presParOf" srcId="{F8456702-92A9-40F2-A0BF-712D83DF714D}" destId="{93E948B6-5B22-4A00-A1C7-DC65A6A51F25}" srcOrd="4" destOrd="0" presId="urn:microsoft.com/office/officeart/2005/8/layout/radial1"/>
    <dgm:cxn modelId="{77D917D0-AADB-43B4-A947-1AB14E172BB8}" type="presParOf" srcId="{F8456702-92A9-40F2-A0BF-712D83DF714D}" destId="{D47AFF70-34EC-4606-8B5E-58730AB50943}" srcOrd="5" destOrd="0" presId="urn:microsoft.com/office/officeart/2005/8/layout/radial1"/>
    <dgm:cxn modelId="{7BA66BAF-9897-4F49-9578-0D4869F6D2E0}" type="presParOf" srcId="{D47AFF70-34EC-4606-8B5E-58730AB50943}" destId="{A26CF2A7-630F-4373-9833-558B8F566179}" srcOrd="0" destOrd="0" presId="urn:microsoft.com/office/officeart/2005/8/layout/radial1"/>
    <dgm:cxn modelId="{EC482276-18F8-40A5-B960-6A3220DB36C1}" type="presParOf" srcId="{F8456702-92A9-40F2-A0BF-712D83DF714D}" destId="{2D822B71-930E-4282-819B-E999EAFB7F99}" srcOrd="6" destOrd="0" presId="urn:microsoft.com/office/officeart/2005/8/layout/radial1"/>
    <dgm:cxn modelId="{753A6FBF-D252-45CA-A972-F8557B4D51D4}" type="presParOf" srcId="{F8456702-92A9-40F2-A0BF-712D83DF714D}" destId="{2EC92032-492E-4DB4-8DC1-0F1AD1BD35F5}" srcOrd="7" destOrd="0" presId="urn:microsoft.com/office/officeart/2005/8/layout/radial1"/>
    <dgm:cxn modelId="{8DA5BA8C-646A-4087-88C9-4807F80D60C4}" type="presParOf" srcId="{2EC92032-492E-4DB4-8DC1-0F1AD1BD35F5}" destId="{0641913B-7E08-49CA-82E2-8F06B6E1F147}" srcOrd="0" destOrd="0" presId="urn:microsoft.com/office/officeart/2005/8/layout/radial1"/>
    <dgm:cxn modelId="{D489173C-C43B-42AA-BF3E-AED3FBE75D57}" type="presParOf" srcId="{F8456702-92A9-40F2-A0BF-712D83DF714D}" destId="{04D99F40-F361-40F5-82DA-1024A4600C41}" srcOrd="8" destOrd="0" presId="urn:microsoft.com/office/officeart/2005/8/layout/radial1"/>
    <dgm:cxn modelId="{85E057E6-18F3-40A7-8309-8107F7F7964B}" type="presParOf" srcId="{F8456702-92A9-40F2-A0BF-712D83DF714D}" destId="{E0A31064-C277-4E45-A7D5-F51E8D8EE453}" srcOrd="9" destOrd="0" presId="urn:microsoft.com/office/officeart/2005/8/layout/radial1"/>
    <dgm:cxn modelId="{0FEE5A30-70DE-4871-9C02-E2AAFE4DB5E1}" type="presParOf" srcId="{E0A31064-C277-4E45-A7D5-F51E8D8EE453}" destId="{C01969B6-8869-49D1-84B5-F986DE9B6CC1}" srcOrd="0" destOrd="0" presId="urn:microsoft.com/office/officeart/2005/8/layout/radial1"/>
    <dgm:cxn modelId="{8BEA544C-99F3-478B-9774-25FCB34F660E}" type="presParOf" srcId="{F8456702-92A9-40F2-A0BF-712D83DF714D}" destId="{2807C2A6-0320-474C-B28E-9E113B9BDDE7}" srcOrd="10" destOrd="0" presId="urn:microsoft.com/office/officeart/2005/8/layout/radial1"/>
    <dgm:cxn modelId="{CC704E05-ED2A-4C7E-A0F0-066DE2C7C2CF}" type="presParOf" srcId="{F8456702-92A9-40F2-A0BF-712D83DF714D}" destId="{C059C5E6-69AE-4455-8232-094027C37A51}" srcOrd="11" destOrd="0" presId="urn:microsoft.com/office/officeart/2005/8/layout/radial1"/>
    <dgm:cxn modelId="{9D78F30E-78F8-4EDF-A1D8-4B9401DEE3B4}" type="presParOf" srcId="{C059C5E6-69AE-4455-8232-094027C37A51}" destId="{6CF2422A-E86B-4243-A880-1A05CE2A7944}" srcOrd="0" destOrd="0" presId="urn:microsoft.com/office/officeart/2005/8/layout/radial1"/>
    <dgm:cxn modelId="{E2181F29-4339-42C7-B155-0FB9601F5351}" type="presParOf" srcId="{F8456702-92A9-40F2-A0BF-712D83DF714D}" destId="{AE33C4A3-4E41-49AC-8C01-7E0ADD19E139}" srcOrd="12" destOrd="0" presId="urn:microsoft.com/office/officeart/2005/8/layout/radial1"/>
    <dgm:cxn modelId="{556FD66C-A39A-4227-9FE0-5F4A76D60846}" type="presParOf" srcId="{F8456702-92A9-40F2-A0BF-712D83DF714D}" destId="{671D75A8-06CE-4AE2-B091-7E83CB310E4C}" srcOrd="13" destOrd="0" presId="urn:microsoft.com/office/officeart/2005/8/layout/radial1"/>
    <dgm:cxn modelId="{29DB6F38-4CD1-45C9-8B56-ED7E5E5D361C}" type="presParOf" srcId="{671D75A8-06CE-4AE2-B091-7E83CB310E4C}" destId="{A1BB311A-B990-4380-82F5-16D337207BE4}" srcOrd="0" destOrd="0" presId="urn:microsoft.com/office/officeart/2005/8/layout/radial1"/>
    <dgm:cxn modelId="{4215F72D-D487-4A5A-A1CA-5112CF900801}" type="presParOf" srcId="{F8456702-92A9-40F2-A0BF-712D83DF714D}" destId="{494CA633-FB56-4C15-B1D0-1AED590B141F}" srcOrd="14" destOrd="0" presId="urn:microsoft.com/office/officeart/2005/8/layout/radial1"/>
    <dgm:cxn modelId="{A874BCB0-3DA5-4FCA-94FD-2DD471374E02}" type="presParOf" srcId="{F8456702-92A9-40F2-A0BF-712D83DF714D}" destId="{3AC3416C-511D-40D5-B994-D2C24B706E32}" srcOrd="15" destOrd="0" presId="urn:microsoft.com/office/officeart/2005/8/layout/radial1"/>
    <dgm:cxn modelId="{93EF3BD3-EF72-491D-8DFF-C73FE1494A21}" type="presParOf" srcId="{3AC3416C-511D-40D5-B994-D2C24B706E32}" destId="{B3B89F1A-F382-49E0-9387-789B50B66726}" srcOrd="0" destOrd="0" presId="urn:microsoft.com/office/officeart/2005/8/layout/radial1"/>
    <dgm:cxn modelId="{B5BBD44A-4F7E-4611-BFF1-6B281AF07F20}" type="presParOf" srcId="{F8456702-92A9-40F2-A0BF-712D83DF714D}" destId="{DB844F3A-CE5E-40D9-BA90-B7510C611BBA}" srcOrd="1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BA251-560F-42D9-9CC3-0CAFD67D5F36}">
      <dsp:nvSpPr>
        <dsp:cNvPr id="0" name=""/>
        <dsp:cNvSpPr/>
      </dsp:nvSpPr>
      <dsp:spPr>
        <a:xfrm>
          <a:off x="7643079" y="887667"/>
          <a:ext cx="1404788" cy="140452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FCFB2C-23B5-47CC-8598-0722D68133BA}">
      <dsp:nvSpPr>
        <dsp:cNvPr id="0" name=""/>
        <dsp:cNvSpPr/>
      </dsp:nvSpPr>
      <dsp:spPr>
        <a:xfrm>
          <a:off x="7690381"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car was not maintained according to the service schedule.</a:t>
          </a:r>
        </a:p>
      </dsp:txBody>
      <dsp:txXfrm>
        <a:off x="7877805" y="1121795"/>
        <a:ext cx="936228" cy="936265"/>
      </dsp:txXfrm>
    </dsp:sp>
    <dsp:sp modelId="{9FFF055F-FCB9-4495-89D5-22CF8D4B5612}">
      <dsp:nvSpPr>
        <dsp:cNvPr id="0" name=""/>
        <dsp:cNvSpPr/>
      </dsp:nvSpPr>
      <dsp:spPr>
        <a:xfrm>
          <a:off x="7690381"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Root cause: the car was not maintained according to the service schedule.</a:t>
          </a:r>
        </a:p>
      </dsp:txBody>
      <dsp:txXfrm>
        <a:off x="7690381" y="2318066"/>
        <a:ext cx="1311076" cy="769911"/>
      </dsp:txXfrm>
    </dsp:sp>
    <dsp:sp modelId="{11138C85-9305-4C8A-B6F1-8BB079D0242D}">
      <dsp:nvSpPr>
        <dsp:cNvPr id="0" name=""/>
        <dsp:cNvSpPr/>
      </dsp:nvSpPr>
      <dsp:spPr>
        <a:xfrm rot="2700000">
          <a:off x="6191979" y="887510"/>
          <a:ext cx="1404590" cy="1404590"/>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089E10-81D3-4A12-9FA4-7537895DAB4A}">
      <dsp:nvSpPr>
        <dsp:cNvPr id="0" name=""/>
        <dsp:cNvSpPr/>
      </dsp:nvSpPr>
      <dsp:spPr>
        <a:xfrm>
          <a:off x="6239182"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belt is beyond its useful service life and hasn’t been replaced.</a:t>
          </a:r>
        </a:p>
      </dsp:txBody>
      <dsp:txXfrm>
        <a:off x="6426607" y="1121795"/>
        <a:ext cx="936228" cy="936265"/>
      </dsp:txXfrm>
    </dsp:sp>
    <dsp:sp modelId="{99A4F538-781F-4938-BD39-D413893C416A}">
      <dsp:nvSpPr>
        <dsp:cNvPr id="0" name=""/>
        <dsp:cNvSpPr/>
      </dsp:nvSpPr>
      <dsp:spPr>
        <a:xfrm>
          <a:off x="6239182"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was the alternator belt not replaced?</a:t>
          </a:r>
        </a:p>
      </dsp:txBody>
      <dsp:txXfrm>
        <a:off x="6239182" y="2318066"/>
        <a:ext cx="1311076" cy="769911"/>
      </dsp:txXfrm>
    </dsp:sp>
    <dsp:sp modelId="{96176896-2095-47D0-A3B4-9144AA090EF3}">
      <dsp:nvSpPr>
        <dsp:cNvPr id="0" name=""/>
        <dsp:cNvSpPr/>
      </dsp:nvSpPr>
      <dsp:spPr>
        <a:xfrm rot="2700000">
          <a:off x="4740781" y="887510"/>
          <a:ext cx="1404590" cy="1404590"/>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7FEC15-0562-4ED7-BB45-ADD8DEB26675}">
      <dsp:nvSpPr>
        <dsp:cNvPr id="0" name=""/>
        <dsp:cNvSpPr/>
      </dsp:nvSpPr>
      <dsp:spPr>
        <a:xfrm>
          <a:off x="4787984"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alternator belt is broken.</a:t>
          </a:r>
        </a:p>
      </dsp:txBody>
      <dsp:txXfrm>
        <a:off x="4975408" y="1121795"/>
        <a:ext cx="936228" cy="936265"/>
      </dsp:txXfrm>
    </dsp:sp>
    <dsp:sp modelId="{348AA445-B7AE-4FB8-B327-6E3643591FD9}">
      <dsp:nvSpPr>
        <dsp:cNvPr id="0" name=""/>
        <dsp:cNvSpPr/>
      </dsp:nvSpPr>
      <dsp:spPr>
        <a:xfrm>
          <a:off x="4787984"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alternator belt broken?</a:t>
          </a:r>
        </a:p>
      </dsp:txBody>
      <dsp:txXfrm>
        <a:off x="4787984" y="2318066"/>
        <a:ext cx="1311076" cy="769911"/>
      </dsp:txXfrm>
    </dsp:sp>
    <dsp:sp modelId="{A79D1EA1-B234-4C81-B7D3-381FE2BC4000}">
      <dsp:nvSpPr>
        <dsp:cNvPr id="0" name=""/>
        <dsp:cNvSpPr/>
      </dsp:nvSpPr>
      <dsp:spPr>
        <a:xfrm rot="2700000">
          <a:off x="3289582" y="887510"/>
          <a:ext cx="1404590" cy="1404590"/>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D66016-AFE7-4B59-BFCF-CAEA5A1216C7}">
      <dsp:nvSpPr>
        <dsp:cNvPr id="0" name=""/>
        <dsp:cNvSpPr/>
      </dsp:nvSpPr>
      <dsp:spPr>
        <a:xfrm>
          <a:off x="3336786"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alternator is not charging the battery.</a:t>
          </a:r>
        </a:p>
      </dsp:txBody>
      <dsp:txXfrm>
        <a:off x="3523317" y="1121795"/>
        <a:ext cx="936228" cy="936265"/>
      </dsp:txXfrm>
    </dsp:sp>
    <dsp:sp modelId="{9EF67866-93E6-45BC-B134-E452594E5417}">
      <dsp:nvSpPr>
        <dsp:cNvPr id="0" name=""/>
        <dsp:cNvSpPr/>
      </dsp:nvSpPr>
      <dsp:spPr>
        <a:xfrm>
          <a:off x="3336786"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alternator not charging the battery?</a:t>
          </a:r>
        </a:p>
      </dsp:txBody>
      <dsp:txXfrm>
        <a:off x="3336786" y="2318066"/>
        <a:ext cx="1311076" cy="769911"/>
      </dsp:txXfrm>
    </dsp:sp>
    <dsp:sp modelId="{2D7FBB78-FB5E-4719-9B1B-B9976BBA5278}">
      <dsp:nvSpPr>
        <dsp:cNvPr id="0" name=""/>
        <dsp:cNvSpPr/>
      </dsp:nvSpPr>
      <dsp:spPr>
        <a:xfrm rot="2700000">
          <a:off x="1838384" y="887510"/>
          <a:ext cx="1404590" cy="1404590"/>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95808-E3E7-4848-B6BE-0AE0919EC0A3}">
      <dsp:nvSpPr>
        <dsp:cNvPr id="0" name=""/>
        <dsp:cNvSpPr/>
      </dsp:nvSpPr>
      <dsp:spPr>
        <a:xfrm>
          <a:off x="1885587"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battery is dead.</a:t>
          </a:r>
        </a:p>
      </dsp:txBody>
      <dsp:txXfrm>
        <a:off x="2072119" y="1121795"/>
        <a:ext cx="936228" cy="936265"/>
      </dsp:txXfrm>
    </dsp:sp>
    <dsp:sp modelId="{35A9815B-605E-457C-85C0-BD69EC46F097}">
      <dsp:nvSpPr>
        <dsp:cNvPr id="0" name=""/>
        <dsp:cNvSpPr/>
      </dsp:nvSpPr>
      <dsp:spPr>
        <a:xfrm>
          <a:off x="1885587"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solidFill>
                <a:srgbClr val="000000">
                  <a:hueOff val="0"/>
                  <a:satOff val="0"/>
                  <a:lumOff val="0"/>
                  <a:alphaOff val="0"/>
                </a:srgbClr>
              </a:solidFill>
              <a:latin typeface="Roboto"/>
              <a:ea typeface="+mn-ea"/>
              <a:cs typeface="+mn-cs"/>
            </a:rPr>
            <a:t>Why is the battery dead?</a:t>
          </a:r>
        </a:p>
      </dsp:txBody>
      <dsp:txXfrm>
        <a:off x="1885587" y="2318066"/>
        <a:ext cx="1311076" cy="769911"/>
      </dsp:txXfrm>
    </dsp:sp>
    <dsp:sp modelId="{68808DB9-F645-4BBF-8186-4626BE842488}">
      <dsp:nvSpPr>
        <dsp:cNvPr id="0" name=""/>
        <dsp:cNvSpPr/>
      </dsp:nvSpPr>
      <dsp:spPr>
        <a:xfrm rot="2700000">
          <a:off x="387185" y="887510"/>
          <a:ext cx="1404590" cy="1404590"/>
        </a:xfrm>
        <a:prstGeom prst="teardrop">
          <a:avLst>
            <a:gd name="adj" fmla="val 1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F500F5-8651-4546-AAF8-DF905D9356FE}">
      <dsp:nvSpPr>
        <dsp:cNvPr id="0" name=""/>
        <dsp:cNvSpPr/>
      </dsp:nvSpPr>
      <dsp:spPr>
        <a:xfrm>
          <a:off x="433496" y="934493"/>
          <a:ext cx="1311076" cy="131087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The car won’t start.</a:t>
          </a:r>
        </a:p>
      </dsp:txBody>
      <dsp:txXfrm>
        <a:off x="620920" y="1121795"/>
        <a:ext cx="936228" cy="936265"/>
      </dsp:txXfrm>
    </dsp:sp>
    <dsp:sp modelId="{1BEB32BA-18F6-4719-9E89-55111C2AE455}">
      <dsp:nvSpPr>
        <dsp:cNvPr id="0" name=""/>
        <dsp:cNvSpPr/>
      </dsp:nvSpPr>
      <dsp:spPr>
        <a:xfrm>
          <a:off x="433496" y="2318066"/>
          <a:ext cx="1311076" cy="7699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1" indent="-57150" algn="ctr" defTabSz="488950">
            <a:lnSpc>
              <a:spcPct val="90000"/>
            </a:lnSpc>
            <a:spcBef>
              <a:spcPct val="0"/>
            </a:spcBef>
            <a:spcAft>
              <a:spcPct val="15000"/>
            </a:spcAft>
            <a:buNone/>
          </a:pPr>
          <a:r>
            <a:rPr lang="en-US" sz="1100" kern="1200" dirty="0"/>
            <a:t>Why won’t the car start?</a:t>
          </a:r>
        </a:p>
      </dsp:txBody>
      <dsp:txXfrm>
        <a:off x="433496" y="2318066"/>
        <a:ext cx="1311076" cy="7699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929A65-8C11-4B05-B31D-6248C1517F3C}">
      <dsp:nvSpPr>
        <dsp:cNvPr id="0" name=""/>
        <dsp:cNvSpPr/>
      </dsp:nvSpPr>
      <dsp:spPr>
        <a:xfrm>
          <a:off x="1941300" y="1617791"/>
          <a:ext cx="1444184" cy="940646"/>
        </a:xfrm>
        <a:prstGeom prst="ellipse">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Generate Improvement Ideas</a:t>
          </a:r>
        </a:p>
      </dsp:txBody>
      <dsp:txXfrm>
        <a:off x="2152796" y="1755545"/>
        <a:ext cx="1021192" cy="665138"/>
      </dsp:txXfrm>
    </dsp:sp>
    <dsp:sp modelId="{24E3F922-BAE8-4793-8C0B-9FB3F7789FB4}">
      <dsp:nvSpPr>
        <dsp:cNvPr id="0" name=""/>
        <dsp:cNvSpPr/>
      </dsp:nvSpPr>
      <dsp:spPr>
        <a:xfrm rot="16200000">
          <a:off x="2333409" y="1271914"/>
          <a:ext cx="659967" cy="31785"/>
        </a:xfrm>
        <a:custGeom>
          <a:avLst/>
          <a:gdLst/>
          <a:ahLst/>
          <a:cxnLst/>
          <a:rect l="0" t="0" r="0" b="0"/>
          <a:pathLst>
            <a:path>
              <a:moveTo>
                <a:pt x="0" y="15892"/>
              </a:moveTo>
              <a:lnTo>
                <a:pt x="659967"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6893" y="1271308"/>
        <a:ext cx="32998" cy="32998"/>
      </dsp:txXfrm>
    </dsp:sp>
    <dsp:sp modelId="{7128DC0A-B18F-4E8B-AA8D-89C5ADE9831D}">
      <dsp:nvSpPr>
        <dsp:cNvPr id="0" name=""/>
        <dsp:cNvSpPr/>
      </dsp:nvSpPr>
      <dsp:spPr>
        <a:xfrm>
          <a:off x="2193069" y="17176"/>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Best Practices</a:t>
          </a:r>
        </a:p>
      </dsp:txBody>
      <dsp:txXfrm>
        <a:off x="2330823" y="154930"/>
        <a:ext cx="665138" cy="665138"/>
      </dsp:txXfrm>
    </dsp:sp>
    <dsp:sp modelId="{E357E2BA-AFC7-45A0-B272-4C704B4FCD13}">
      <dsp:nvSpPr>
        <dsp:cNvPr id="0" name=""/>
        <dsp:cNvSpPr/>
      </dsp:nvSpPr>
      <dsp:spPr>
        <a:xfrm rot="18900000">
          <a:off x="2973585" y="1475553"/>
          <a:ext cx="572950" cy="31785"/>
        </a:xfrm>
        <a:custGeom>
          <a:avLst/>
          <a:gdLst/>
          <a:ahLst/>
          <a:cxnLst/>
          <a:rect l="0" t="0" r="0" b="0"/>
          <a:pathLst>
            <a:path>
              <a:moveTo>
                <a:pt x="0" y="15892"/>
              </a:moveTo>
              <a:lnTo>
                <a:pt x="572950"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45737" y="1477122"/>
        <a:ext cx="28647" cy="28647"/>
      </dsp:txXfrm>
    </dsp:sp>
    <dsp:sp modelId="{93E948B6-5B22-4A00-A1C7-DC65A6A51F25}">
      <dsp:nvSpPr>
        <dsp:cNvPr id="0" name=""/>
        <dsp:cNvSpPr/>
      </dsp:nvSpPr>
      <dsp:spPr>
        <a:xfrm>
          <a:off x="3324874" y="485985"/>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Ideas from Other Projects</a:t>
          </a:r>
        </a:p>
      </dsp:txBody>
      <dsp:txXfrm>
        <a:off x="3462628" y="623739"/>
        <a:ext cx="665138" cy="665138"/>
      </dsp:txXfrm>
    </dsp:sp>
    <dsp:sp modelId="{D47AFF70-34EC-4606-8B5E-58730AB50943}">
      <dsp:nvSpPr>
        <dsp:cNvPr id="0" name=""/>
        <dsp:cNvSpPr/>
      </dsp:nvSpPr>
      <dsp:spPr>
        <a:xfrm>
          <a:off x="3385485" y="2072221"/>
          <a:ext cx="408198" cy="31785"/>
        </a:xfrm>
        <a:custGeom>
          <a:avLst/>
          <a:gdLst/>
          <a:ahLst/>
          <a:cxnLst/>
          <a:rect l="0" t="0" r="0" b="0"/>
          <a:pathLst>
            <a:path>
              <a:moveTo>
                <a:pt x="0" y="15892"/>
              </a:moveTo>
              <a:lnTo>
                <a:pt x="408198"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79379" y="2077909"/>
        <a:ext cx="20409" cy="20409"/>
      </dsp:txXfrm>
    </dsp:sp>
    <dsp:sp modelId="{2D822B71-930E-4282-819B-E999EAFB7F99}">
      <dsp:nvSpPr>
        <dsp:cNvPr id="0" name=""/>
        <dsp:cNvSpPr/>
      </dsp:nvSpPr>
      <dsp:spPr>
        <a:xfrm>
          <a:off x="3793683" y="1617791"/>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Brainstorming</a:t>
          </a:r>
        </a:p>
      </dsp:txBody>
      <dsp:txXfrm>
        <a:off x="3931437" y="1755545"/>
        <a:ext cx="665138" cy="665138"/>
      </dsp:txXfrm>
    </dsp:sp>
    <dsp:sp modelId="{2EC92032-492E-4DB4-8DC1-0F1AD1BD35F5}">
      <dsp:nvSpPr>
        <dsp:cNvPr id="0" name=""/>
        <dsp:cNvSpPr/>
      </dsp:nvSpPr>
      <dsp:spPr>
        <a:xfrm rot="2700000">
          <a:off x="2973585" y="2668889"/>
          <a:ext cx="572950" cy="31785"/>
        </a:xfrm>
        <a:custGeom>
          <a:avLst/>
          <a:gdLst/>
          <a:ahLst/>
          <a:cxnLst/>
          <a:rect l="0" t="0" r="0" b="0"/>
          <a:pathLst>
            <a:path>
              <a:moveTo>
                <a:pt x="0" y="15892"/>
              </a:moveTo>
              <a:lnTo>
                <a:pt x="572950"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45737" y="2670458"/>
        <a:ext cx="28647" cy="28647"/>
      </dsp:txXfrm>
    </dsp:sp>
    <dsp:sp modelId="{04D99F40-F361-40F5-82DA-1024A4600C41}">
      <dsp:nvSpPr>
        <dsp:cNvPr id="0" name=""/>
        <dsp:cNvSpPr/>
      </dsp:nvSpPr>
      <dsp:spPr>
        <a:xfrm>
          <a:off x="3324874" y="2749596"/>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Performance Targets</a:t>
          </a:r>
        </a:p>
      </dsp:txBody>
      <dsp:txXfrm>
        <a:off x="3462628" y="2887350"/>
        <a:ext cx="665138" cy="665138"/>
      </dsp:txXfrm>
    </dsp:sp>
    <dsp:sp modelId="{E0A31064-C277-4E45-A7D5-F51E8D8EE453}">
      <dsp:nvSpPr>
        <dsp:cNvPr id="0" name=""/>
        <dsp:cNvSpPr/>
      </dsp:nvSpPr>
      <dsp:spPr>
        <a:xfrm rot="5400000">
          <a:off x="2333409" y="2872528"/>
          <a:ext cx="659967" cy="31785"/>
        </a:xfrm>
        <a:custGeom>
          <a:avLst/>
          <a:gdLst/>
          <a:ahLst/>
          <a:cxnLst/>
          <a:rect l="0" t="0" r="0" b="0"/>
          <a:pathLst>
            <a:path>
              <a:moveTo>
                <a:pt x="0" y="15892"/>
              </a:moveTo>
              <a:lnTo>
                <a:pt x="659967"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6893" y="2871922"/>
        <a:ext cx="32998" cy="32998"/>
      </dsp:txXfrm>
    </dsp:sp>
    <dsp:sp modelId="{2807C2A6-0320-474C-B28E-9E113B9BDDE7}">
      <dsp:nvSpPr>
        <dsp:cNvPr id="0" name=""/>
        <dsp:cNvSpPr/>
      </dsp:nvSpPr>
      <dsp:spPr>
        <a:xfrm>
          <a:off x="2193069" y="3218405"/>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Benchmark Ideas</a:t>
          </a:r>
        </a:p>
      </dsp:txBody>
      <dsp:txXfrm>
        <a:off x="2330823" y="3356159"/>
        <a:ext cx="665138" cy="665138"/>
      </dsp:txXfrm>
    </dsp:sp>
    <dsp:sp modelId="{C059C5E6-69AE-4455-8232-094027C37A51}">
      <dsp:nvSpPr>
        <dsp:cNvPr id="0" name=""/>
        <dsp:cNvSpPr/>
      </dsp:nvSpPr>
      <dsp:spPr>
        <a:xfrm rot="8100000">
          <a:off x="1780249" y="2668889"/>
          <a:ext cx="572950" cy="31785"/>
        </a:xfrm>
        <a:custGeom>
          <a:avLst/>
          <a:gdLst/>
          <a:ahLst/>
          <a:cxnLst/>
          <a:rect l="0" t="0" r="0" b="0"/>
          <a:pathLst>
            <a:path>
              <a:moveTo>
                <a:pt x="0" y="15892"/>
              </a:moveTo>
              <a:lnTo>
                <a:pt x="572950"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52401" y="2670458"/>
        <a:ext cx="28647" cy="28647"/>
      </dsp:txXfrm>
    </dsp:sp>
    <dsp:sp modelId="{AE33C4A3-4E41-49AC-8C01-7E0ADD19E139}">
      <dsp:nvSpPr>
        <dsp:cNvPr id="0" name=""/>
        <dsp:cNvSpPr/>
      </dsp:nvSpPr>
      <dsp:spPr>
        <a:xfrm>
          <a:off x="1061264" y="2749596"/>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t>“Discoveries” During Analysis</a:t>
          </a:r>
        </a:p>
      </dsp:txBody>
      <dsp:txXfrm>
        <a:off x="1199018" y="2887350"/>
        <a:ext cx="665138" cy="665138"/>
      </dsp:txXfrm>
    </dsp:sp>
    <dsp:sp modelId="{671D75A8-06CE-4AE2-B091-7E83CB310E4C}">
      <dsp:nvSpPr>
        <dsp:cNvPr id="0" name=""/>
        <dsp:cNvSpPr/>
      </dsp:nvSpPr>
      <dsp:spPr>
        <a:xfrm rot="10800000">
          <a:off x="1533102" y="2072221"/>
          <a:ext cx="408198" cy="31785"/>
        </a:xfrm>
        <a:custGeom>
          <a:avLst/>
          <a:gdLst/>
          <a:ahLst/>
          <a:cxnLst/>
          <a:rect l="0" t="0" r="0" b="0"/>
          <a:pathLst>
            <a:path>
              <a:moveTo>
                <a:pt x="0" y="15892"/>
              </a:moveTo>
              <a:lnTo>
                <a:pt x="408198"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726996" y="2077909"/>
        <a:ext cx="20409" cy="20409"/>
      </dsp:txXfrm>
    </dsp:sp>
    <dsp:sp modelId="{494CA633-FB56-4C15-B1D0-1AED590B141F}">
      <dsp:nvSpPr>
        <dsp:cNvPr id="0" name=""/>
        <dsp:cNvSpPr/>
      </dsp:nvSpPr>
      <dsp:spPr>
        <a:xfrm>
          <a:off x="592455" y="1617791"/>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Project Goals</a:t>
          </a:r>
        </a:p>
      </dsp:txBody>
      <dsp:txXfrm>
        <a:off x="730209" y="1755545"/>
        <a:ext cx="665138" cy="665138"/>
      </dsp:txXfrm>
    </dsp:sp>
    <dsp:sp modelId="{3AC3416C-511D-40D5-B994-D2C24B706E32}">
      <dsp:nvSpPr>
        <dsp:cNvPr id="0" name=""/>
        <dsp:cNvSpPr/>
      </dsp:nvSpPr>
      <dsp:spPr>
        <a:xfrm rot="13500000">
          <a:off x="1780249" y="1475553"/>
          <a:ext cx="572950" cy="31785"/>
        </a:xfrm>
        <a:custGeom>
          <a:avLst/>
          <a:gdLst/>
          <a:ahLst/>
          <a:cxnLst/>
          <a:rect l="0" t="0" r="0" b="0"/>
          <a:pathLst>
            <a:path>
              <a:moveTo>
                <a:pt x="0" y="15892"/>
              </a:moveTo>
              <a:lnTo>
                <a:pt x="572950" y="1589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052401" y="1477122"/>
        <a:ext cx="28647" cy="28647"/>
      </dsp:txXfrm>
    </dsp:sp>
    <dsp:sp modelId="{DB844F3A-CE5E-40D9-BA90-B7510C611BBA}">
      <dsp:nvSpPr>
        <dsp:cNvPr id="0" name=""/>
        <dsp:cNvSpPr/>
      </dsp:nvSpPr>
      <dsp:spPr>
        <a:xfrm>
          <a:off x="1061264" y="485985"/>
          <a:ext cx="940646" cy="94064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Root Causes</a:t>
          </a:r>
        </a:p>
      </dsp:txBody>
      <dsp:txXfrm>
        <a:off x="1199018" y="623739"/>
        <a:ext cx="665138" cy="665138"/>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5/15/25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 </a:t>
            </a:r>
            <a:r>
              <a:rPr lang="en-US" dirty="0"/>
              <a:t>The Problem-Solving training module is intended for use either at kaizen event training or for general training about the Problem-Solving process. The training material is designed for events of any length, but typically, Problem-Solving events will span a full five days.</a:t>
            </a:r>
          </a:p>
          <a:p>
            <a:endParaRPr lang="en-US" dirty="0"/>
          </a:p>
          <a:p>
            <a:r>
              <a:rPr lang="en-US" b="1" dirty="0"/>
              <a:t>NOTE:</a:t>
            </a:r>
            <a:r>
              <a:rPr lang="en-US" dirty="0"/>
              <a:t> There are several case studies/exercises that run through the body of this material. No separate handouts are required to complete these exercises, for all of the information is contained in the slides of this document. In order to facilitate the case study, answer slides have been inserted after each exercise slide. It is important to share with the class not to look beyond the exercise slide when completing the exercise. While many answers may be acceptable for the case study, the presentation will insert “textbook” answers for the purpose of carrying out the problem-solving process throughout the case study. Please affirm to the class that just because their answers may not match the presentation answers does not mean they are incorrect, however, for example purposes, we will reference the textbook answers throughout the presentation. </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978888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Introduce the notion of Problem-Solving and the goal of this event. </a:t>
            </a:r>
          </a:p>
          <a:p>
            <a:r>
              <a:rPr lang="en-US" b="1" dirty="0"/>
              <a:t>SAY</a:t>
            </a:r>
            <a:r>
              <a:rPr lang="en-US" dirty="0"/>
              <a:t>: “The major objectives of this module are that we want you to:</a:t>
            </a:r>
          </a:p>
          <a:p>
            <a:r>
              <a:rPr lang="en-US" dirty="0"/>
              <a:t>1 - Understand and utilize the customer-focused Problem-Solving Process</a:t>
            </a:r>
          </a:p>
          <a:p>
            <a:r>
              <a:rPr lang="en-US" dirty="0"/>
              <a:t>2 - Develop a working knowledge of how and when to use the basic tools to solve problems</a:t>
            </a:r>
          </a:p>
          <a:p>
            <a:r>
              <a:rPr lang="en-US" dirty="0"/>
              <a:t>3 - Improve the ability to creatively solve problems and initiate positive change”</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718295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Review the Problem-Solving Tools that will be introduced in this section.</a:t>
            </a:r>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3837543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170907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809403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Review the Problem-Solving Tools that will be introduced in this section.</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2521058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795519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4201590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733714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3811921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Review the Problem-Solving Process that will be introduced in this section.</a:t>
            </a: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4219222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3327433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4212570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737220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dirty="0"/>
              <a:t> Why would you have a standard that isn’t being followed?</a:t>
            </a:r>
          </a:p>
          <a:p>
            <a:endParaRPr lang="en-US" dirty="0"/>
          </a:p>
          <a:p>
            <a:r>
              <a:rPr lang="en-US" dirty="0"/>
              <a:t>Coffee example:</a:t>
            </a:r>
          </a:p>
          <a:p>
            <a:pPr marL="171450" indent="-171450">
              <a:buFont typeface="Arial" panose="020B0604020202020204" pitchFamily="34" charset="0"/>
              <a:buChar char="•"/>
            </a:pPr>
            <a:r>
              <a:rPr lang="en-US" dirty="0"/>
              <a:t>In trying to provide quick </a:t>
            </a:r>
            <a:r>
              <a:rPr lang="en-US" b="1" u="sng" dirty="0"/>
              <a:t>DELIVERY</a:t>
            </a:r>
            <a:r>
              <a:rPr lang="en-US" dirty="0"/>
              <a:t> and service, we’re compromising </a:t>
            </a:r>
            <a:r>
              <a:rPr lang="en-US" b="1" u="sng" dirty="0"/>
              <a:t>QUALITY</a:t>
            </a:r>
            <a:r>
              <a:rPr lang="en-US" dirty="0"/>
              <a:t> by creating a standard that does not provide us with a quality product. </a:t>
            </a:r>
          </a:p>
          <a:p>
            <a:pPr marL="171450" indent="-171450">
              <a:buFont typeface="Arial" panose="020B0604020202020204" pitchFamily="34" charset="0"/>
              <a:buChar char="•"/>
            </a:pPr>
            <a:r>
              <a:rPr lang="en-US" dirty="0"/>
              <a:t>SQDC: Prioritizing D over Q.</a:t>
            </a: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60851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performance is below the established standard.</a:t>
            </a:r>
          </a:p>
          <a:p>
            <a:r>
              <a:rPr lang="en-US" dirty="0"/>
              <a:t>Established standard isn’t good enough because customer desires/demands something more.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989316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304373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a:p>
            <a:r>
              <a:rPr lang="en-US" dirty="0"/>
              <a:t>Why is it important to have a cross-functional team?</a:t>
            </a:r>
          </a:p>
          <a:p>
            <a:r>
              <a:rPr lang="en-US" dirty="0"/>
              <a:t>Why is it important to have team members who are disassociated with the problem?</a:t>
            </a: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494216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4005133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3412078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8D1C9-D94D-F1EF-0DF9-ADA3947B1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94276-D577-4A8B-9FBC-488D88D2B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23AE2-68E3-12B8-6637-FA72AE0AE2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3E0181-1A24-63A5-1501-548139F1A006}"/>
              </a:ext>
            </a:extLst>
          </p:cNvPr>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2697904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1845294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1B6FB-07C3-60F3-B69D-C589C70F3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E1F48-64BE-FD9D-C7B8-43000E5AC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909CB-E1A5-EC37-1850-7E5750339A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1264A-9097-0DD4-F51F-A547F74B0592}"/>
              </a:ext>
            </a:extLst>
          </p:cNvPr>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132327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488063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Daily Counts of Defect Types Over a Week</a:t>
            </a:r>
          </a:p>
          <a:p>
            <a:r>
              <a:rPr lang="en-US" sz="1200" dirty="0"/>
              <a:t>The Check Sheet tracks the occurrence of specific types of cake defects each day. Rows represent different defect types (e.g., overcooked cakes, undercooked cakes, incorrect frosting, uneven layers), while columns represent days of the week. Tally marks are used to indicate the number of defects recorded each day. The total row sums the defects for each day, and the total column sums defects by type. This tool helps the end user identify patterns in defect occurrence over time.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715231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8869B-3AA6-8F4F-76AC-61532AE98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40F357-48FD-5EB0-69B8-B47D9681D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2ECF94-A060-5491-0565-C661B7180375}"/>
              </a:ext>
            </a:extLst>
          </p:cNvPr>
          <p:cNvSpPr>
            <a:spLocks noGrp="1"/>
          </p:cNvSpPr>
          <p:nvPr>
            <p:ph type="body" idx="1"/>
          </p:nvPr>
        </p:nvSpPr>
        <p:spPr/>
        <p:txBody>
          <a:bodyPr/>
          <a:lstStyle/>
          <a:p>
            <a:r>
              <a:rPr lang="en-US" b="1" dirty="0"/>
              <a:t>Ask: </a:t>
            </a:r>
          </a:p>
        </p:txBody>
      </p:sp>
      <p:sp>
        <p:nvSpPr>
          <p:cNvPr id="4" name="Slide Number Placeholder 3">
            <a:extLst>
              <a:ext uri="{FF2B5EF4-FFF2-40B4-BE49-F238E27FC236}">
                <a16:creationId xmlns:a16="http://schemas.microsoft.com/office/drawing/2014/main" id="{2A48DC5D-BC7F-A52C-3ED6-6487FFF9DC0B}"/>
              </a:ext>
            </a:extLst>
          </p:cNvPr>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798119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D7D0-C0D2-1967-A6C0-673CAFCEF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F4E58-A261-87F7-EBA5-E29290820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EA9C8-2C7D-DC00-4A9F-F913EBF597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44AD57-F618-41F1-FDD4-18713B6F4ED0}"/>
              </a:ext>
            </a:extLst>
          </p:cNvPr>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3645342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27FA0-97C0-9930-8344-0C62FB7B9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329B0-5835-33A1-BB21-243E13275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767EB-D81A-1389-5BE7-2A18D2A31B4E}"/>
              </a:ext>
            </a:extLst>
          </p:cNvPr>
          <p:cNvSpPr>
            <a:spLocks noGrp="1"/>
          </p:cNvSpPr>
          <p:nvPr>
            <p:ph type="body" idx="1"/>
          </p:nvPr>
        </p:nvSpPr>
        <p:spPr/>
        <p:txBody>
          <a:bodyPr/>
          <a:lstStyle/>
          <a:p>
            <a:r>
              <a:rPr lang="en-US" b="1" dirty="0"/>
              <a:t>Ask: </a:t>
            </a:r>
          </a:p>
        </p:txBody>
      </p:sp>
      <p:sp>
        <p:nvSpPr>
          <p:cNvPr id="4" name="Slide Number Placeholder 3">
            <a:extLst>
              <a:ext uri="{FF2B5EF4-FFF2-40B4-BE49-F238E27FC236}">
                <a16:creationId xmlns:a16="http://schemas.microsoft.com/office/drawing/2014/main" id="{02DF6873-A7CD-A2AC-B390-1F504E6B6C73}"/>
              </a:ext>
            </a:extLst>
          </p:cNvPr>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8143976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59F9-CDA8-633F-B840-039CAC783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4E71D-1DA3-4514-A1C3-F119E2148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702A0-F58B-519F-7288-8957CEDEED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030B66-76ED-EE75-13A2-EEA366735711}"/>
              </a:ext>
            </a:extLst>
          </p:cNvPr>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710204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47DB0-8C53-F592-C5B9-338D205C6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0AA86-248C-231A-321B-91BFD5916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A4CA8-9C21-4B65-50AE-A3D438F2690D}"/>
              </a:ext>
            </a:extLst>
          </p:cNvPr>
          <p:cNvSpPr>
            <a:spLocks noGrp="1"/>
          </p:cNvSpPr>
          <p:nvPr>
            <p:ph type="body" idx="1"/>
          </p:nvPr>
        </p:nvSpPr>
        <p:spPr/>
        <p:txBody>
          <a:bodyPr/>
          <a:lstStyle/>
          <a:p>
            <a:r>
              <a:rPr lang="en-US" b="1" dirty="0"/>
              <a:t>Ask: </a:t>
            </a:r>
          </a:p>
        </p:txBody>
      </p:sp>
      <p:sp>
        <p:nvSpPr>
          <p:cNvPr id="4" name="Slide Number Placeholder 3">
            <a:extLst>
              <a:ext uri="{FF2B5EF4-FFF2-40B4-BE49-F238E27FC236}">
                <a16:creationId xmlns:a16="http://schemas.microsoft.com/office/drawing/2014/main" id="{C9D7250D-65BC-B736-9725-6AED3D4A6C07}"/>
              </a:ext>
            </a:extLst>
          </p:cNvPr>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35691733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CCC57-3290-47E2-8723-E39F5D5ED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71280-0DA2-69FA-6667-DEC51D1C8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513B2-8355-B825-CFE2-E0EF6C523B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B49EB-1F9A-C39A-5401-8F35576FCC62}"/>
              </a:ext>
            </a:extLst>
          </p:cNvPr>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349700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36E4-ED5A-B16F-B3D7-2BAC01E53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79B0E-9089-EE2D-5254-466B6C1FF9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689DA-D844-59BC-35C0-86DD8626ABAA}"/>
              </a:ext>
            </a:extLst>
          </p:cNvPr>
          <p:cNvSpPr>
            <a:spLocks noGrp="1"/>
          </p:cNvSpPr>
          <p:nvPr>
            <p:ph type="body" idx="1"/>
          </p:nvPr>
        </p:nvSpPr>
        <p:spPr/>
        <p:txBody>
          <a:bodyPr/>
          <a:lstStyle/>
          <a:p>
            <a:r>
              <a:rPr lang="en-US" b="1" dirty="0"/>
              <a:t>Ask: </a:t>
            </a:r>
          </a:p>
        </p:txBody>
      </p:sp>
      <p:sp>
        <p:nvSpPr>
          <p:cNvPr id="4" name="Slide Number Placeholder 3">
            <a:extLst>
              <a:ext uri="{FF2B5EF4-FFF2-40B4-BE49-F238E27FC236}">
                <a16:creationId xmlns:a16="http://schemas.microsoft.com/office/drawing/2014/main" id="{3FD70BA7-7F02-4B31-E670-72F5FFF65393}"/>
              </a:ext>
            </a:extLst>
          </p:cNvPr>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9348936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What do you gain by gathering qualitative data as shown in the examples?</a:t>
            </a:r>
          </a:p>
          <a:p>
            <a:pPr marL="171450" indent="-171450">
              <a:buFont typeface="Arial" panose="020B0604020202020204" pitchFamily="34" charset="0"/>
              <a:buChar char="•"/>
            </a:pPr>
            <a:r>
              <a:rPr lang="en-US" b="0" dirty="0"/>
              <a:t>Ohno Circle: </a:t>
            </a:r>
          </a:p>
          <a:p>
            <a:pPr marL="628650" lvl="1" indent="-171450">
              <a:buFont typeface="Arial" panose="020B0604020202020204" pitchFamily="34" charset="0"/>
              <a:buChar char="•"/>
            </a:pPr>
            <a:r>
              <a:rPr lang="en-US" b="0" dirty="0"/>
              <a:t>Provides an understanding of the reality of the work floor, identify inefficiencies, and generate insights for process improvements.</a:t>
            </a:r>
          </a:p>
          <a:p>
            <a:pPr marL="171450" indent="-171450">
              <a:buFont typeface="Arial" panose="020B0604020202020204" pitchFamily="34" charset="0"/>
              <a:buChar char="•"/>
            </a:pPr>
            <a:r>
              <a:rPr lang="en-US" b="0" dirty="0"/>
              <a:t>Interviews: </a:t>
            </a:r>
          </a:p>
          <a:p>
            <a:pPr marL="628650" lvl="1" indent="-171450">
              <a:buFont typeface="Arial" panose="020B0604020202020204" pitchFamily="34" charset="0"/>
              <a:buChar char="•"/>
            </a:pPr>
            <a:r>
              <a:rPr lang="en-US" b="0" dirty="0"/>
              <a:t>Interviews are used to explore complex issues, gather personal stories or expert insights, and understand motivations, feelings, and decisions. In a business context, they can help uncover customer needs, employee satisfaction, or market trends. </a:t>
            </a:r>
          </a:p>
          <a:p>
            <a:pPr marL="171450" lvl="0" indent="-171450">
              <a:buFont typeface="Arial" panose="020B0604020202020204" pitchFamily="34" charset="0"/>
              <a:buChar char="•"/>
            </a:pPr>
            <a:r>
              <a:rPr lang="en-US" b="0" dirty="0"/>
              <a:t>Customer Feedback: </a:t>
            </a:r>
          </a:p>
          <a:p>
            <a:pPr marL="628650" lvl="1" indent="-171450">
              <a:buFont typeface="Arial" panose="020B0604020202020204" pitchFamily="34" charset="0"/>
              <a:buChar char="•"/>
            </a:pPr>
            <a:r>
              <a:rPr lang="en-US" b="0" dirty="0"/>
              <a:t>Helps the store management understand customer preferences and areas needing improvement to enhance the overall shopping experience.</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42845431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3972981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545049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6228183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6658911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Defects by day of the week</a:t>
            </a:r>
          </a:p>
          <a:p>
            <a:r>
              <a:rPr lang="en-US" sz="1200" dirty="0"/>
              <a:t>The Pareto Diagram illustrates the frequency of cake defects occurring on different days of the week. The X-axis represents each day of the week, ordered from highest to lowest number of defects. The Y-axis on the left shows the number of defects, while the Y-axis on the right shows the cumulative percentage of defects. Bars represent the count of defects for each day, with a line graph superimposed to show the cumulative percentage. This chart helps the end user identify which days are contributing most to the defects, highlighting the "vital few" days that need the most attention.</a:t>
            </a:r>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3782143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2538127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Distribution of defective cakes by time of day</a:t>
            </a:r>
          </a:p>
          <a:p>
            <a:r>
              <a:rPr lang="en-US" sz="1200" dirty="0"/>
              <a:t>The Histogram shows the frequency of cake defects occurring at different times of the day. The X-axis represents the time of day, divided into hourly intervals from 6:00 AM to 4:00 PM. The Y-axis shows the number of defects recorded during each time interval. Bars represent the count of defects for each hour, helping to identify peak times when defects are more likely to occur. This visualization helps the end user understand which times of the day are most problematic, providing insight into potential adjustments in processes or staffing.</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13096671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207357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Number of defective cakes per day over a month</a:t>
            </a:r>
          </a:p>
          <a:p>
            <a:r>
              <a:rPr lang="en-US" dirty="0"/>
              <a:t>The Run Chart plots the daily count of defective cakes over a month. The X-axis represents the days of the month, and the Y-axis represents the number of defective cakes. Each point on the chart corresponds to the number of defects on a specific day, and a line connects these points to show the trend over time. This visualization helps the end user identify trends, fluctuations, and periods with high or low defect rates and assess the impact of corrective actions.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8158119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b="0" dirty="0"/>
              <a:t> These examples are not all-inclusive. Use what’s appropriate for the situation.</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9789106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Potential causes of high defect rate in baking cakes</a:t>
            </a:r>
          </a:p>
          <a:p>
            <a:r>
              <a:rPr lang="en-US" sz="1200" dirty="0"/>
              <a:t>The Fishbone Diagram categorizes and displays various factors that might contribute to the problem of defective cakes. These factors are grouped into categories such as Man, Machines, Materials, Methods, Measurements, and Management. Each category branches out into specific causes, such as inadequate training for employees or oven temperature fluctuations. This visual tool helps the end user systematically explore all possible root causes of the defect issue.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2324265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p>
          <a:p>
            <a:r>
              <a:rPr lang="en-US" b="0" dirty="0"/>
              <a:t>5 Whys are used after potential causes are identified (using other tools such as Pareto or Fishbone Analysis) in order to drill to the root cause.</a:t>
            </a:r>
          </a:p>
          <a:p>
            <a:r>
              <a:rPr lang="en-US" b="0" dirty="0"/>
              <a:t>Symptoms are the part we see, the part on the surface; they are how we know we have a problem.</a:t>
            </a:r>
          </a:p>
          <a:p>
            <a:r>
              <a:rPr lang="en-US" b="0" dirty="0"/>
              <a:t>Problems are the cause of that symptom.</a:t>
            </a:r>
          </a:p>
          <a:p>
            <a:endParaRPr lang="en-US" b="0"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0701560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r>
              <a:rPr lang="en-US" dirty="0"/>
              <a:t>Do you think that this problem was solved by one person?</a:t>
            </a: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9197652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35397251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 </a:t>
            </a:r>
            <a:r>
              <a:rPr lang="en-US" b="0" dirty="0"/>
              <a:t>Why do you think we said “problem statements” instead of “problem statement”?</a:t>
            </a:r>
          </a:p>
          <a:p>
            <a:pPr marL="171450" indent="-171450">
              <a:buFontTx/>
              <a:buChar char="-"/>
            </a:pPr>
            <a:r>
              <a:rPr lang="en-US" b="0" dirty="0"/>
              <a:t>There can be more than one problem that needs to be solved.</a:t>
            </a:r>
            <a:endParaRPr lang="en-US" b="1" dirty="0"/>
          </a:p>
          <a:p>
            <a:pPr marL="171450" indent="-171450">
              <a:buFontTx/>
              <a:buChar char="-"/>
            </a:pPr>
            <a:r>
              <a:rPr lang="en-US" b="0" dirty="0"/>
              <a:t>Each problem requires its own problem statement.</a:t>
            </a: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365497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“Define the problem statement using historical references, and quantitative, actual data.”</a:t>
            </a:r>
          </a:p>
          <a:p>
            <a:r>
              <a:rPr lang="en-US" b="1" dirty="0"/>
              <a:t>SAY:</a:t>
            </a:r>
            <a:r>
              <a:rPr lang="en-US" dirty="0"/>
              <a:t> “We need to be conscious of the full range of conditions under which the problem occur (want to make sure we have a full representative sample in our data).</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40249650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28212410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26335598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“It is very easy to fall into one of these three pitfalls when writing problem statements. We want to avoid stating or identifying a solution in the problem statement, writing too large of a problem, and writing “vague” or “fuzzy” problem statements (we need to know what our baseline is).”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21604120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41867350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b="0" dirty="0"/>
              <a:t> An easy way to remember this format is the mnemonic device “Verify Numbers From Targeted Deadlines”</a:t>
            </a:r>
          </a:p>
          <a:p>
            <a:r>
              <a:rPr lang="en-US" b="0" dirty="0"/>
              <a:t>Verb – Verify</a:t>
            </a:r>
          </a:p>
          <a:p>
            <a:r>
              <a:rPr lang="en-US" b="0" dirty="0"/>
              <a:t>Noun – Numbers </a:t>
            </a:r>
          </a:p>
          <a:p>
            <a:r>
              <a:rPr lang="en-US" b="0" dirty="0"/>
              <a:t>From – From</a:t>
            </a:r>
          </a:p>
          <a:p>
            <a:r>
              <a:rPr lang="en-US" b="0" dirty="0"/>
              <a:t>To – Targeted</a:t>
            </a:r>
          </a:p>
          <a:p>
            <a:r>
              <a:rPr lang="en-US" b="0" dirty="0"/>
              <a:t>By When – Deadlines</a:t>
            </a:r>
          </a:p>
          <a:p>
            <a:endParaRPr lang="en-US" b="0"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40560096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856877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20075830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Why do we want to know these relationships?</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37920538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126859443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Who can give me an example of a temporary countermeasure they’ve implemented?</a:t>
            </a:r>
          </a:p>
          <a:p>
            <a:endParaRPr lang="en-US" b="0" dirty="0"/>
          </a:p>
          <a:p>
            <a:r>
              <a:rPr lang="en-US" b="0" dirty="0"/>
              <a:t>Example: </a:t>
            </a:r>
          </a:p>
          <a:p>
            <a:r>
              <a:rPr lang="en-US" b="0" dirty="0"/>
              <a:t>Airship product to the customer at your cost in order to hit the customer’s delivery requirements.</a:t>
            </a:r>
          </a:p>
          <a:p>
            <a:r>
              <a:rPr lang="en-US" b="0" dirty="0"/>
              <a:t>Sacrifice COST in order to satisfy DELIVERY (SQDC).</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41212445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6570536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15931927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31169702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8334332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5299598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31621146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0882127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3193166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38266045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a:t>
            </a:r>
            <a:r>
              <a:rPr lang="en-US" dirty="0"/>
              <a:t>“It is critical to involve Subject Matter Experts to assist with the listing and filtering of causes.”</a:t>
            </a: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35311156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13386343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23799779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42092228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42382327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t>SAY: </a:t>
            </a:r>
            <a:r>
              <a:rPr lang="en-US" dirty="0"/>
              <a:t>“For those that have applied data based decision-making and analysis, identification of root cause is only half the battle.”</a:t>
            </a:r>
          </a:p>
          <a:p>
            <a:pPr marL="228600" indent="-228600">
              <a:lnSpc>
                <a:spcPct val="115000"/>
              </a:lnSpc>
              <a:spcBef>
                <a:spcPct val="50000"/>
              </a:spcBef>
              <a:spcAft>
                <a:spcPct val="50000"/>
              </a:spcAft>
              <a:defRPr/>
            </a:pPr>
            <a:endParaRPr lang="en-US" dirty="0"/>
          </a:p>
          <a:p>
            <a:pPr marL="228600" indent="-228600">
              <a:lnSpc>
                <a:spcPct val="115000"/>
              </a:lnSpc>
              <a:spcBef>
                <a:spcPct val="50000"/>
              </a:spcBef>
              <a:spcAft>
                <a:spcPct val="50000"/>
              </a:spcAft>
              <a:defRPr/>
            </a:pPr>
            <a:r>
              <a:rPr lang="en-US" b="1" dirty="0"/>
              <a:t>SAY: “</a:t>
            </a:r>
            <a:r>
              <a:rPr lang="en-US" dirty="0"/>
              <a:t>An excellent way to determine the source of solutions is through the technique of brainstorming. </a:t>
            </a:r>
          </a:p>
          <a:p>
            <a:pPr marL="228600" indent="-228600">
              <a:lnSpc>
                <a:spcPct val="115000"/>
              </a:lnSpc>
              <a:spcBef>
                <a:spcPct val="50000"/>
              </a:spcBef>
              <a:spcAft>
                <a:spcPct val="50000"/>
              </a:spcAft>
              <a:buFontTx/>
              <a:buChar char="•"/>
              <a:defRPr/>
            </a:pPr>
            <a:r>
              <a:rPr lang="en-US" dirty="0"/>
              <a:t>The process of identifying, evaluating, selecting and developing solutions is rarely linear</a:t>
            </a:r>
          </a:p>
          <a:p>
            <a:pPr marL="228600" indent="-228600">
              <a:lnSpc>
                <a:spcPct val="115000"/>
              </a:lnSpc>
              <a:spcBef>
                <a:spcPct val="50000"/>
              </a:spcBef>
              <a:spcAft>
                <a:spcPct val="50000"/>
              </a:spcAft>
              <a:buFontTx/>
              <a:buChar char="•"/>
              <a:defRPr/>
            </a:pPr>
            <a:r>
              <a:rPr lang="en-US" dirty="0"/>
              <a:t>Individuals are often required to rethink ideas and reconsider options once the practicality of various solutions is further explored”</a:t>
            </a:r>
          </a:p>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3378132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“After verifying the root cause, we must begin to generate ideas that ultimately will be the solutions to drive improvement. The more ideas the better! It’s important, however, to become more disciplined (yet creative) with how we brainstorm, as well as how we plan and implement our solutions.”</a:t>
            </a:r>
          </a:p>
          <a:p>
            <a:endParaRPr lang="en-US" b="1"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383251562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a:t>
            </a:r>
            <a:r>
              <a:rPr lang="en-US" dirty="0"/>
              <a:t>“Brainstorming is a well known technique for using the subconscious—the most creative portion of the brain—to generate ideas. Its origins can be traced back at least as far as the 1930s, when it was used by Alex Osborn, an advertising executive. Osborn came up with this technique to circumvent his colleagues’ skepticism or resistance to change and thus encourage their ability to think creatively.”</a:t>
            </a:r>
          </a:p>
          <a:p>
            <a:endParaRPr lang="en-US" b="1"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376478612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34935330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321131278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SAY: </a:t>
            </a:r>
            <a:r>
              <a:rPr lang="en-US" dirty="0"/>
              <a:t>“Use all the sources of information you can find to determine what your evaluation criteria should be. Take another look at your customer interview notes. Review your charter. Talk to customers, managers, or other interested stakeholders.”</a:t>
            </a:r>
            <a:endParaRPr lang="en-US" b="1" dirty="0"/>
          </a:p>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6701283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a:t>
            </a:r>
            <a:r>
              <a:rPr lang="en-US" dirty="0"/>
              <a:t>“Multiple techniques and tools exist to help narrow and select the most appropriate solution.”</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30440468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 </a:t>
            </a:r>
            <a:r>
              <a:rPr lang="en-US" dirty="0"/>
              <a:t>“You and/or your team may have generated a long list of potential solutions for reducing or eliminating root causes. In order to responsibly evaluate these ideas, the team must establish and agree on a set of evaluation criteria that will be objectively and uniformly applied.”</a:t>
            </a:r>
          </a:p>
          <a:p>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178823724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pic>
        <p:nvPicPr>
          <p:cNvPr id="5" name="Picture 4">
            <a:extLst>
              <a:ext uri="{FF2B5EF4-FFF2-40B4-BE49-F238E27FC236}">
                <a16:creationId xmlns:a16="http://schemas.microsoft.com/office/drawing/2014/main" id="{6071AB21-1A72-C453-C3E3-BD340A74D5DA}"/>
              </a:ext>
            </a:extLst>
          </p:cNvPr>
          <p:cNvPicPr>
            <a:picLocks noChangeAspect="1" noChangeArrowheads="1"/>
          </p:cNvPicPr>
          <p:nvPr/>
        </p:nvPicPr>
        <p:blipFill>
          <a:blip r:embed="rId3"/>
          <a:srcRect b="57843"/>
          <a:stretch>
            <a:fillRect/>
          </a:stretch>
        </p:blipFill>
        <p:spPr bwMode="auto">
          <a:xfrm>
            <a:off x="685800" y="4653756"/>
            <a:ext cx="5670550" cy="3094037"/>
          </a:xfrm>
          <a:prstGeom prst="rect">
            <a:avLst/>
          </a:prstGeom>
          <a:noFill/>
          <a:ln w="12700" cap="sq" algn="ctr">
            <a:noFill/>
            <a:miter lim="800000"/>
            <a:headEnd/>
            <a:tailEnd/>
          </a:ln>
        </p:spPr>
      </p:pic>
    </p:spTree>
    <p:extLst>
      <p:ext uri="{BB962C8B-B14F-4D97-AF65-F5344CB8AC3E}">
        <p14:creationId xmlns:p14="http://schemas.microsoft.com/office/powerpoint/2010/main" val="265272193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22286442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184295122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41312847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32164407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t>
            </a:r>
          </a:p>
          <a:p>
            <a:pPr marL="228600" indent="-228600">
              <a:lnSpc>
                <a:spcPct val="110000"/>
              </a:lnSpc>
              <a:buFont typeface="+mj-lt"/>
              <a:buAutoNum type="arabicPeriod"/>
            </a:pPr>
            <a:r>
              <a:rPr lang="en-US" dirty="0"/>
              <a:t>If a process is not documented, it is not a process. The end result will be poor quality and customer service, variation, and high costs. </a:t>
            </a:r>
          </a:p>
          <a:p>
            <a:pPr marL="228600" indent="-228600">
              <a:lnSpc>
                <a:spcPct val="110000"/>
              </a:lnSpc>
              <a:buFont typeface="+mj-lt"/>
              <a:buAutoNum type="arabicPeriod"/>
            </a:pPr>
            <a:r>
              <a:rPr lang="en-US" dirty="0"/>
              <a:t>All processes, whether they be product, administrative, or informational, should have the framework to be displayed visually.</a:t>
            </a:r>
          </a:p>
          <a:p>
            <a:pPr marL="228600" indent="-228600">
              <a:lnSpc>
                <a:spcPct val="110000"/>
              </a:lnSpc>
              <a:buFont typeface="+mj-lt"/>
              <a:buAutoNum type="arabicPeriod"/>
            </a:pPr>
            <a:r>
              <a:rPr lang="en-US" dirty="0"/>
              <a:t>Each process step should have detailed job instructions, with assigned roles and responsibilities, developed in collaboration with front-line associates. When possible, visual documentation is preferred over written.</a:t>
            </a:r>
          </a:p>
          <a:p>
            <a:pPr marL="228600" indent="-228600">
              <a:lnSpc>
                <a:spcPct val="110000"/>
              </a:lnSpc>
              <a:buFont typeface="+mj-lt"/>
              <a:buAutoNum type="arabicPeriod"/>
            </a:pPr>
            <a:r>
              <a:rPr lang="en-US" dirty="0"/>
              <a:t>All associates need to be properly trained on the process, with periodic refresher training to assure compliance with SOPs.</a:t>
            </a:r>
          </a:p>
          <a:p>
            <a:pPr marL="228600" indent="-228600">
              <a:lnSpc>
                <a:spcPct val="110000"/>
              </a:lnSpc>
              <a:buFont typeface="+mj-lt"/>
              <a:buAutoNum type="arabicPeriod"/>
            </a:pPr>
            <a:r>
              <a:rPr lang="en-US" dirty="0"/>
              <a:t>Throughout the process, all movement of a product, document, or information should have a clear, direct path with no ambiguities.</a:t>
            </a:r>
          </a:p>
          <a:p>
            <a:pPr marL="228600" indent="-228600">
              <a:lnSpc>
                <a:spcPct val="110000"/>
              </a:lnSpc>
              <a:buFont typeface="+mj-lt"/>
              <a:buAutoNum type="arabicPeriod"/>
            </a:pPr>
            <a:r>
              <a:rPr lang="en-US" dirty="0"/>
              <a:t>Assure the quality of the product or service before passing it on to the next process/customer.</a:t>
            </a:r>
          </a:p>
          <a:p>
            <a:pPr marL="228600" indent="-228600">
              <a:lnSpc>
                <a:spcPct val="110000"/>
              </a:lnSpc>
              <a:buFont typeface="+mj-lt"/>
              <a:buAutoNum type="arabicPeriod"/>
            </a:pPr>
            <a:r>
              <a:rPr lang="en-US" dirty="0"/>
              <a:t>Waiting waste is perhaps the most detrimental waste in a process, and it can have many root causes, such as poor quality, batch and queue operations, improper loading of equipment/operators to </a:t>
            </a:r>
            <a:r>
              <a:rPr lang="en-US" dirty="0">
                <a:solidFill>
                  <a:srgbClr val="FF0000"/>
                </a:solidFill>
              </a:rPr>
              <a:t>TAKT</a:t>
            </a:r>
            <a:r>
              <a:rPr lang="en-US" dirty="0"/>
              <a:t> Time, etc.</a:t>
            </a:r>
          </a:p>
          <a:p>
            <a:pPr marL="228600" indent="-228600">
              <a:lnSpc>
                <a:spcPct val="110000"/>
              </a:lnSpc>
              <a:buFont typeface="+mj-lt"/>
              <a:buAutoNum type="arabicPeriod"/>
            </a:pPr>
            <a:r>
              <a:rPr lang="en-US" dirty="0"/>
              <a:t>Processes need to be evolved through rigorous application of Kaizen.</a:t>
            </a:r>
          </a:p>
          <a:p>
            <a:pPr marL="228600" indent="-228600">
              <a:lnSpc>
                <a:spcPct val="110000"/>
              </a:lnSpc>
              <a:buFont typeface="+mj-lt"/>
              <a:buAutoNum type="arabicPeriod"/>
            </a:pPr>
            <a:r>
              <a:rPr lang="en-US" dirty="0"/>
              <a:t>Key Performance Indicators (KPIs) should be developed to track the following:</a:t>
            </a:r>
          </a:p>
          <a:p>
            <a:pPr marL="685800" lvl="1" indent="-228600">
              <a:lnSpc>
                <a:spcPct val="110000"/>
              </a:lnSpc>
              <a:buFont typeface="+mj-lt"/>
              <a:buAutoNum type="arabicPeriod"/>
            </a:pPr>
            <a:r>
              <a:rPr lang="en-US" dirty="0"/>
              <a:t>Adherence to the process</a:t>
            </a:r>
          </a:p>
          <a:p>
            <a:pPr marL="685800" lvl="1" indent="-228600">
              <a:lnSpc>
                <a:spcPct val="110000"/>
              </a:lnSpc>
              <a:buFont typeface="+mj-lt"/>
              <a:buAutoNum type="arabicPeriod"/>
            </a:pPr>
            <a:r>
              <a:rPr lang="en-US" dirty="0"/>
              <a:t>Process outcomes</a:t>
            </a:r>
          </a:p>
          <a:p>
            <a:pPr marL="228600" indent="-228600">
              <a:lnSpc>
                <a:spcPct val="110000"/>
              </a:lnSpc>
              <a:buFont typeface="+mj-lt"/>
              <a:buAutoNum type="arabicPeriod"/>
            </a:pPr>
            <a:r>
              <a:rPr lang="en-US" dirty="0"/>
              <a:t>Apply the Deming Cycle (PDCA) to continually monitor and correct deviations from the process.</a:t>
            </a:r>
          </a:p>
          <a:p>
            <a:pPr marL="228600" indent="-228600">
              <a:lnSpc>
                <a:spcPct val="110000"/>
              </a:lnSpc>
              <a:buFont typeface="+mj-lt"/>
              <a:buAutoNum type="arabicPeriod"/>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9728125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b="0" dirty="0"/>
              <a:t> Both participants will have the exact same Lego bricks. The quantity, sizes, colors, etc. are all the same. Participant 1 will use visual instructions with no text at all. Participant 2 will have text-only instructions. Both participants are to follow the instructions on their sheets as they are provided and cannot look at each other while working.</a:t>
            </a:r>
          </a:p>
          <a:p>
            <a:endParaRPr lang="en-US" b="0" dirty="0"/>
          </a:p>
          <a:p>
            <a:pPr marL="171450" indent="-171450">
              <a:buFont typeface="Arial" panose="020B0604020202020204" pitchFamily="34" charset="0"/>
              <a:buChar char="•"/>
            </a:pPr>
            <a:r>
              <a:rPr lang="en-US" b="0" dirty="0"/>
              <a:t>Before beginning the exercise, have each participant empty the contents of their bag on the table in front of them and ensure that all of the pieces are separated and that they have the correct pieces according to the contents list in their instructions. </a:t>
            </a:r>
          </a:p>
          <a:p>
            <a:pPr marL="171450" indent="-171450">
              <a:buFont typeface="Arial" panose="020B0604020202020204" pitchFamily="34" charset="0"/>
              <a:buChar char="•"/>
            </a:pPr>
            <a:r>
              <a:rPr lang="en-US" b="0" dirty="0"/>
              <a:t>It is best to have the two participants sit back-to-back. If the room does not allow for that, put something (or someone) between them so they can’t see each other.</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15550637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360922969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3855684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123520831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250667545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234543655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109</a:t>
            </a:fld>
            <a:endParaRPr lang="en-US"/>
          </a:p>
        </p:txBody>
      </p:sp>
    </p:spTree>
    <p:extLst>
      <p:ext uri="{BB962C8B-B14F-4D97-AF65-F5344CB8AC3E}">
        <p14:creationId xmlns:p14="http://schemas.microsoft.com/office/powerpoint/2010/main" val="292347758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110</a:t>
            </a:fld>
            <a:endParaRPr lang="en-US"/>
          </a:p>
        </p:txBody>
      </p:sp>
      <p:pic>
        <p:nvPicPr>
          <p:cNvPr id="5" name="Picture 4">
            <a:extLst>
              <a:ext uri="{FF2B5EF4-FFF2-40B4-BE49-F238E27FC236}">
                <a16:creationId xmlns:a16="http://schemas.microsoft.com/office/drawing/2014/main" id="{26C231CB-86A8-D104-0D48-D7E412CBA108}"/>
              </a:ext>
            </a:extLst>
          </p:cNvPr>
          <p:cNvPicPr>
            <a:picLocks noChangeAspect="1" noChangeArrowheads="1"/>
          </p:cNvPicPr>
          <p:nvPr/>
        </p:nvPicPr>
        <p:blipFill>
          <a:blip r:embed="rId3"/>
          <a:srcRect b="57843"/>
          <a:stretch>
            <a:fillRect/>
          </a:stretch>
        </p:blipFill>
        <p:spPr bwMode="auto">
          <a:xfrm>
            <a:off x="593725" y="4572000"/>
            <a:ext cx="5670550" cy="3094037"/>
          </a:xfrm>
          <a:prstGeom prst="rect">
            <a:avLst/>
          </a:prstGeom>
          <a:noFill/>
          <a:ln w="12700" cap="sq" algn="ctr">
            <a:noFill/>
            <a:miter lim="800000"/>
            <a:headEnd/>
            <a:tailEnd/>
          </a:ln>
        </p:spPr>
      </p:pic>
    </p:spTree>
    <p:extLst>
      <p:ext uri="{BB962C8B-B14F-4D97-AF65-F5344CB8AC3E}">
        <p14:creationId xmlns:p14="http://schemas.microsoft.com/office/powerpoint/2010/main" val="12022580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111</a:t>
            </a:fld>
            <a:endParaRPr lang="en-US"/>
          </a:p>
        </p:txBody>
      </p:sp>
    </p:spTree>
    <p:extLst>
      <p:ext uri="{BB962C8B-B14F-4D97-AF65-F5344CB8AC3E}">
        <p14:creationId xmlns:p14="http://schemas.microsoft.com/office/powerpoint/2010/main" val="9878790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Ask:</a:t>
            </a:r>
            <a:r>
              <a:rPr lang="en-US" b="0" dirty="0"/>
              <a:t> </a:t>
            </a:r>
            <a:endParaRPr lang="en-US" b="1" dirty="0"/>
          </a:p>
        </p:txBody>
      </p:sp>
      <p:sp>
        <p:nvSpPr>
          <p:cNvPr id="4" name="Slide Number Placeholder 3"/>
          <p:cNvSpPr>
            <a:spLocks noGrp="1"/>
          </p:cNvSpPr>
          <p:nvPr>
            <p:ph type="sldNum" sz="quarter" idx="5"/>
          </p:nvPr>
        </p:nvSpPr>
        <p:spPr/>
        <p:txBody>
          <a:bodyPr/>
          <a:lstStyle/>
          <a:p>
            <a:fld id="{AECD8548-F1A2-4EDF-A416-5F2BB6B8F64C}" type="slidenum">
              <a:rPr lang="en-US" smtClean="0"/>
              <a:t>112</a:t>
            </a:fld>
            <a:endParaRPr lang="en-US"/>
          </a:p>
        </p:txBody>
      </p:sp>
    </p:spTree>
    <p:extLst>
      <p:ext uri="{BB962C8B-B14F-4D97-AF65-F5344CB8AC3E}">
        <p14:creationId xmlns:p14="http://schemas.microsoft.com/office/powerpoint/2010/main" val="360343552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Review the Summary that will be discussed in this section.</a:t>
            </a:r>
          </a:p>
        </p:txBody>
      </p:sp>
      <p:sp>
        <p:nvSpPr>
          <p:cNvPr id="4" name="Slide Number Placeholder 3"/>
          <p:cNvSpPr>
            <a:spLocks noGrp="1"/>
          </p:cNvSpPr>
          <p:nvPr>
            <p:ph type="sldNum" sz="quarter" idx="5"/>
          </p:nvPr>
        </p:nvSpPr>
        <p:spPr/>
        <p:txBody>
          <a:bodyPr/>
          <a:lstStyle/>
          <a:p>
            <a:fld id="{AECD8548-F1A2-4EDF-A416-5F2BB6B8F64C}" type="slidenum">
              <a:rPr lang="en-US" smtClean="0"/>
              <a:t>113</a:t>
            </a:fld>
            <a:endParaRPr lang="en-US"/>
          </a:p>
        </p:txBody>
      </p:sp>
    </p:spTree>
    <p:extLst>
      <p:ext uri="{BB962C8B-B14F-4D97-AF65-F5344CB8AC3E}">
        <p14:creationId xmlns:p14="http://schemas.microsoft.com/office/powerpoint/2010/main" val="275420503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114</a:t>
            </a:fld>
            <a:endParaRPr lang="en-US"/>
          </a:p>
        </p:txBody>
      </p:sp>
    </p:spTree>
    <p:extLst>
      <p:ext uri="{BB962C8B-B14F-4D97-AF65-F5344CB8AC3E}">
        <p14:creationId xmlns:p14="http://schemas.microsoft.com/office/powerpoint/2010/main" val="55415301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115</a:t>
            </a:fld>
            <a:endParaRPr lang="en-US"/>
          </a:p>
        </p:txBody>
      </p:sp>
    </p:spTree>
    <p:extLst>
      <p:ext uri="{BB962C8B-B14F-4D97-AF65-F5344CB8AC3E}">
        <p14:creationId xmlns:p14="http://schemas.microsoft.com/office/powerpoint/2010/main" val="371318714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116</a:t>
            </a:fld>
            <a:endParaRPr lang="en-US"/>
          </a:p>
        </p:txBody>
      </p:sp>
    </p:spTree>
    <p:extLst>
      <p:ext uri="{BB962C8B-B14F-4D97-AF65-F5344CB8AC3E}">
        <p14:creationId xmlns:p14="http://schemas.microsoft.com/office/powerpoint/2010/main" val="231010938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117</a:t>
            </a:fld>
            <a:endParaRPr lang="en-US"/>
          </a:p>
        </p:txBody>
      </p:sp>
    </p:spTree>
    <p:extLst>
      <p:ext uri="{BB962C8B-B14F-4D97-AF65-F5344CB8AC3E}">
        <p14:creationId xmlns:p14="http://schemas.microsoft.com/office/powerpoint/2010/main" val="269934350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118</a:t>
            </a:fld>
            <a:endParaRPr lang="en-US"/>
          </a:p>
        </p:txBody>
      </p:sp>
    </p:spTree>
    <p:extLst>
      <p:ext uri="{BB962C8B-B14F-4D97-AF65-F5344CB8AC3E}">
        <p14:creationId xmlns:p14="http://schemas.microsoft.com/office/powerpoint/2010/main" val="332834110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2B041-A675-3BD4-D920-94A75D2EB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EC61C-E3FD-EFBF-FDF8-B793BA51A5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47D98-5C8F-A236-6BD9-C6378BDA4012}"/>
              </a:ext>
            </a:extLst>
          </p:cNvPr>
          <p:cNvSpPr>
            <a:spLocks noGrp="1"/>
          </p:cNvSpPr>
          <p:nvPr>
            <p:ph type="body" idx="1"/>
          </p:nvPr>
        </p:nvSpPr>
        <p:spPr/>
        <p:txBody>
          <a:bodyPr/>
          <a:lstStyle/>
          <a:p>
            <a:r>
              <a:rPr lang="en-US" b="1" dirty="0"/>
              <a:t>Ask: </a:t>
            </a:r>
          </a:p>
        </p:txBody>
      </p:sp>
      <p:sp>
        <p:nvSpPr>
          <p:cNvPr id="4" name="Slide Number Placeholder 3">
            <a:extLst>
              <a:ext uri="{FF2B5EF4-FFF2-40B4-BE49-F238E27FC236}">
                <a16:creationId xmlns:a16="http://schemas.microsoft.com/office/drawing/2014/main" id="{D45669A1-751F-9C94-AB54-BF6539E9DD3F}"/>
              </a:ext>
            </a:extLst>
          </p:cNvPr>
          <p:cNvSpPr>
            <a:spLocks noGrp="1"/>
          </p:cNvSpPr>
          <p:nvPr>
            <p:ph type="sldNum" sz="quarter" idx="5"/>
          </p:nvPr>
        </p:nvSpPr>
        <p:spPr/>
        <p:txBody>
          <a:bodyPr/>
          <a:lstStyle/>
          <a:p>
            <a:fld id="{AECD8548-F1A2-4EDF-A416-5F2BB6B8F64C}" type="slidenum">
              <a:rPr lang="en-US" smtClean="0"/>
              <a:t>119</a:t>
            </a:fld>
            <a:endParaRPr lang="en-US"/>
          </a:p>
        </p:txBody>
      </p:sp>
    </p:spTree>
    <p:extLst>
      <p:ext uri="{BB962C8B-B14F-4D97-AF65-F5344CB8AC3E}">
        <p14:creationId xmlns:p14="http://schemas.microsoft.com/office/powerpoint/2010/main" val="304712941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8C932-7C67-B6F4-81B0-C65E2EBB4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284B5-EC07-E719-3F2F-219B97273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ECC34-118F-B518-B07C-0D683083DEFD}"/>
              </a:ext>
            </a:extLst>
          </p:cNvPr>
          <p:cNvSpPr>
            <a:spLocks noGrp="1"/>
          </p:cNvSpPr>
          <p:nvPr>
            <p:ph type="body" idx="1"/>
          </p:nvPr>
        </p:nvSpPr>
        <p:spPr/>
        <p:txBody>
          <a:bodyPr/>
          <a:lstStyle/>
          <a:p>
            <a:r>
              <a:rPr lang="en-US" b="1" dirty="0"/>
              <a:t>Defects by day of the week</a:t>
            </a:r>
          </a:p>
          <a:p>
            <a:r>
              <a:rPr lang="en-US" sz="1200" dirty="0"/>
              <a:t>The Pareto Diagram illustrates the frequency of cake defects occurring on different days of the week. The X-axis represents each day of the week, ordered from highest to lowest number of defects. The Y-axis on the left shows the number of defects, while the Y-axis on the right shows the cumulative percentage of defects. Bars represent the count of defects for each day, with a line graph superimposed to show the cumulative percentage. This chart helps the end user identify which days are contributing most to the defects, highlighting the "vital few" days that need the most attention.</a:t>
            </a:r>
            <a:endParaRPr lang="en-US" dirty="0"/>
          </a:p>
          <a:p>
            <a:endParaRPr lang="en-US" dirty="0"/>
          </a:p>
        </p:txBody>
      </p:sp>
      <p:sp>
        <p:nvSpPr>
          <p:cNvPr id="4" name="Slide Number Placeholder 3">
            <a:extLst>
              <a:ext uri="{FF2B5EF4-FFF2-40B4-BE49-F238E27FC236}">
                <a16:creationId xmlns:a16="http://schemas.microsoft.com/office/drawing/2014/main" id="{E7C928B8-F906-A39D-F5C3-86D261487A98}"/>
              </a:ext>
            </a:extLst>
          </p:cNvPr>
          <p:cNvSpPr>
            <a:spLocks noGrp="1"/>
          </p:cNvSpPr>
          <p:nvPr>
            <p:ph type="sldNum" sz="quarter" idx="5"/>
          </p:nvPr>
        </p:nvSpPr>
        <p:spPr/>
        <p:txBody>
          <a:bodyPr/>
          <a:lstStyle/>
          <a:p>
            <a:fld id="{AECD8548-F1A2-4EDF-A416-5F2BB6B8F64C}" type="slidenum">
              <a:rPr lang="en-US" smtClean="0"/>
              <a:t>120</a:t>
            </a:fld>
            <a:endParaRPr lang="en-US"/>
          </a:p>
        </p:txBody>
      </p:sp>
    </p:spTree>
    <p:extLst>
      <p:ext uri="{BB962C8B-B14F-4D97-AF65-F5344CB8AC3E}">
        <p14:creationId xmlns:p14="http://schemas.microsoft.com/office/powerpoint/2010/main" val="223430950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“A Pareto Chart is a graphic display of data shown in order from highest (frequency, cost, etc.) to lowest (frequency, cost, etc.). Pareto Charts help to determine which problem to attack first. You will still need more detail to describe the problem and find the cause.”</a:t>
            </a:r>
          </a:p>
          <a:p>
            <a:pPr algn="just">
              <a:buClr>
                <a:srgbClr val="FF0000"/>
              </a:buClr>
              <a:buSzPct val="50000"/>
              <a:buFont typeface="Monotype Sorts"/>
              <a:buNone/>
            </a:pPr>
            <a:r>
              <a:rPr lang="en-US" b="1" dirty="0"/>
              <a:t>SAY</a:t>
            </a:r>
            <a:r>
              <a:rPr lang="en-US" dirty="0"/>
              <a:t>: “CAUTION - A Pareto Chart is not a stand-alone tool for priority setting. For example, the highest frequency of errors or problems may not account for the highest cost. You need to determine the priority, keeping the customer in mind.</a:t>
            </a:r>
          </a:p>
          <a:p>
            <a:pPr algn="just">
              <a:buClr>
                <a:srgbClr val="FF0000"/>
              </a:buClr>
              <a:buSzPct val="50000"/>
              <a:buFont typeface="Monotype Sorts"/>
              <a:buNone/>
            </a:pPr>
            <a:r>
              <a:rPr lang="en-US" dirty="0"/>
              <a:t>For instance, in the ‘Plant Cleaning Example’ a Pareto Chart could show:</a:t>
            </a:r>
            <a:r>
              <a:rPr lang="en-US" u="sng" dirty="0"/>
              <a:t> </a:t>
            </a:r>
          </a:p>
          <a:p>
            <a:pPr lvl="1" algn="just">
              <a:buClr>
                <a:schemeClr val="tx1"/>
              </a:buClr>
              <a:buSzPct val="50000"/>
              <a:buFont typeface="Monotype Sorts"/>
              <a:buChar char="ê"/>
            </a:pPr>
            <a:r>
              <a:rPr lang="en-US" dirty="0"/>
              <a:t>What types of problems are most</a:t>
            </a:r>
            <a:r>
              <a:rPr lang="en-US" u="sng" dirty="0"/>
              <a:t> </a:t>
            </a:r>
            <a:r>
              <a:rPr lang="en-US" dirty="0"/>
              <a:t>prevalent, and/or most costly</a:t>
            </a:r>
          </a:p>
          <a:p>
            <a:pPr lvl="1" algn="just">
              <a:buClr>
                <a:schemeClr val="tx1"/>
              </a:buClr>
              <a:buSzPct val="50000"/>
              <a:buFont typeface="Monotype Sorts"/>
              <a:buChar char="ê"/>
            </a:pPr>
            <a:r>
              <a:rPr lang="en-US" dirty="0"/>
              <a:t>Where most of the problems are occurring</a:t>
            </a:r>
          </a:p>
          <a:p>
            <a:pPr algn="just">
              <a:buClr>
                <a:schemeClr val="tx1"/>
              </a:buClr>
              <a:buSzPct val="50000"/>
              <a:buFont typeface="Monotype Sorts"/>
              <a:buNone/>
            </a:pPr>
            <a:r>
              <a:rPr lang="en-US" dirty="0"/>
              <a:t>Now you have the basis for setting priorities on corrective action steps.”</a:t>
            </a:r>
            <a:endParaRPr lang="en-US" u="sng" dirty="0"/>
          </a:p>
          <a:p>
            <a:pPr algn="just">
              <a:buClr>
                <a:srgbClr val="FF0000"/>
              </a:buClr>
              <a:buSzPct val="50000"/>
              <a:buFont typeface="Monotype Sorts"/>
              <a:buNone/>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121</a:t>
            </a:fld>
            <a:endParaRPr lang="en-US"/>
          </a:p>
        </p:txBody>
      </p:sp>
    </p:spTree>
    <p:extLst>
      <p:ext uri="{BB962C8B-B14F-4D97-AF65-F5344CB8AC3E}">
        <p14:creationId xmlns:p14="http://schemas.microsoft.com/office/powerpoint/2010/main" val="292146810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122</a:t>
            </a:fld>
            <a:endParaRPr lang="en-US"/>
          </a:p>
        </p:txBody>
      </p:sp>
    </p:spTree>
    <p:extLst>
      <p:ext uri="{BB962C8B-B14F-4D97-AF65-F5344CB8AC3E}">
        <p14:creationId xmlns:p14="http://schemas.microsoft.com/office/powerpoint/2010/main" val="206244345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123</a:t>
            </a:fld>
            <a:endParaRPr lang="en-US"/>
          </a:p>
        </p:txBody>
      </p:sp>
    </p:spTree>
    <p:extLst>
      <p:ext uri="{BB962C8B-B14F-4D97-AF65-F5344CB8AC3E}">
        <p14:creationId xmlns:p14="http://schemas.microsoft.com/office/powerpoint/2010/main" val="230385516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SAY: </a:t>
            </a:r>
            <a:r>
              <a:rPr lang="en-US" dirty="0"/>
              <a:t>“A best practice is to plot a percent line, this will illustrate the 80/20 rule while helping to recognize you have reached root cause level”</a:t>
            </a:r>
            <a:endParaRPr lang="en-US" b="1"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124</a:t>
            </a:fld>
            <a:endParaRPr lang="en-US"/>
          </a:p>
        </p:txBody>
      </p:sp>
    </p:spTree>
    <p:extLst>
      <p:ext uri="{BB962C8B-B14F-4D97-AF65-F5344CB8AC3E}">
        <p14:creationId xmlns:p14="http://schemas.microsoft.com/office/powerpoint/2010/main" val="15119637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SAY: </a:t>
            </a:r>
            <a:r>
              <a:rPr lang="en-US" dirty="0"/>
              <a:t>“A best practice is to plot a percent line, this will illustrate the 80/20 rule while helping to recognize you have reached root cause level”</a:t>
            </a:r>
            <a:endParaRPr lang="en-US" b="1"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125</a:t>
            </a:fld>
            <a:endParaRPr lang="en-US"/>
          </a:p>
        </p:txBody>
      </p:sp>
    </p:spTree>
    <p:extLst>
      <p:ext uri="{BB962C8B-B14F-4D97-AF65-F5344CB8AC3E}">
        <p14:creationId xmlns:p14="http://schemas.microsoft.com/office/powerpoint/2010/main" val="409604795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a:t>
            </a:r>
            <a:r>
              <a:rPr lang="en-US" dirty="0"/>
              <a:t> Example of a pareto chart.</a:t>
            </a:r>
          </a:p>
        </p:txBody>
      </p:sp>
      <p:sp>
        <p:nvSpPr>
          <p:cNvPr id="4" name="Slide Number Placeholder 3"/>
          <p:cNvSpPr>
            <a:spLocks noGrp="1"/>
          </p:cNvSpPr>
          <p:nvPr>
            <p:ph type="sldNum" sz="quarter" idx="5"/>
          </p:nvPr>
        </p:nvSpPr>
        <p:spPr/>
        <p:txBody>
          <a:bodyPr/>
          <a:lstStyle/>
          <a:p>
            <a:fld id="{AECD8548-F1A2-4EDF-A416-5F2BB6B8F64C}" type="slidenum">
              <a:rPr lang="en-US" smtClean="0"/>
              <a:t>126</a:t>
            </a:fld>
            <a:endParaRPr lang="en-US"/>
          </a:p>
        </p:txBody>
      </p:sp>
    </p:spTree>
    <p:extLst>
      <p:ext uri="{BB962C8B-B14F-4D97-AF65-F5344CB8AC3E}">
        <p14:creationId xmlns:p14="http://schemas.microsoft.com/office/powerpoint/2010/main" val="119238870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a:t>
            </a:r>
            <a:r>
              <a:rPr lang="en-US" dirty="0"/>
              <a:t> Example of a pareto chart.</a:t>
            </a:r>
          </a:p>
        </p:txBody>
      </p:sp>
      <p:sp>
        <p:nvSpPr>
          <p:cNvPr id="4" name="Slide Number Placeholder 3"/>
          <p:cNvSpPr>
            <a:spLocks noGrp="1"/>
          </p:cNvSpPr>
          <p:nvPr>
            <p:ph type="sldNum" sz="quarter" idx="5"/>
          </p:nvPr>
        </p:nvSpPr>
        <p:spPr/>
        <p:txBody>
          <a:bodyPr/>
          <a:lstStyle/>
          <a:p>
            <a:fld id="{AECD8548-F1A2-4EDF-A416-5F2BB6B8F64C}" type="slidenum">
              <a:rPr lang="en-US" smtClean="0"/>
              <a:t>127</a:t>
            </a:fld>
            <a:endParaRPr lang="en-US"/>
          </a:p>
        </p:txBody>
      </p:sp>
    </p:spTree>
    <p:extLst>
      <p:ext uri="{BB962C8B-B14F-4D97-AF65-F5344CB8AC3E}">
        <p14:creationId xmlns:p14="http://schemas.microsoft.com/office/powerpoint/2010/main" val="200591336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128</a:t>
            </a:fld>
            <a:endParaRPr lang="en-US"/>
          </a:p>
        </p:txBody>
      </p:sp>
    </p:spTree>
    <p:extLst>
      <p:ext uri="{BB962C8B-B14F-4D97-AF65-F5344CB8AC3E}">
        <p14:creationId xmlns:p14="http://schemas.microsoft.com/office/powerpoint/2010/main" val="12802573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a:t>
            </a:r>
            <a:r>
              <a:rPr lang="en-US" dirty="0"/>
              <a:t>: Review section objectives.</a:t>
            </a:r>
          </a:p>
        </p:txBody>
      </p:sp>
      <p:sp>
        <p:nvSpPr>
          <p:cNvPr id="4" name="Slide Number Placeholder 3"/>
          <p:cNvSpPr>
            <a:spLocks noGrp="1"/>
          </p:cNvSpPr>
          <p:nvPr>
            <p:ph type="sldNum" sz="quarter" idx="5"/>
          </p:nvPr>
        </p:nvSpPr>
        <p:spPr/>
        <p:txBody>
          <a:bodyPr/>
          <a:lstStyle/>
          <a:p>
            <a:fld id="{AECD8548-F1A2-4EDF-A416-5F2BB6B8F64C}" type="slidenum">
              <a:rPr lang="en-US" smtClean="0"/>
              <a:t>129</a:t>
            </a:fld>
            <a:endParaRPr lang="en-US"/>
          </a:p>
        </p:txBody>
      </p:sp>
    </p:spTree>
    <p:extLst>
      <p:ext uri="{BB962C8B-B14F-4D97-AF65-F5344CB8AC3E}">
        <p14:creationId xmlns:p14="http://schemas.microsoft.com/office/powerpoint/2010/main" val="43619280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130</a:t>
            </a:fld>
            <a:endParaRPr lang="en-US"/>
          </a:p>
        </p:txBody>
      </p:sp>
    </p:spTree>
    <p:extLst>
      <p:ext uri="{BB962C8B-B14F-4D97-AF65-F5344CB8AC3E}">
        <p14:creationId xmlns:p14="http://schemas.microsoft.com/office/powerpoint/2010/main" val="313437784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131</a:t>
            </a:fld>
            <a:endParaRPr lang="en-US"/>
          </a:p>
        </p:txBody>
      </p:sp>
    </p:spTree>
    <p:extLst>
      <p:ext uri="{BB962C8B-B14F-4D97-AF65-F5344CB8AC3E}">
        <p14:creationId xmlns:p14="http://schemas.microsoft.com/office/powerpoint/2010/main" val="131806211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132</a:t>
            </a:fld>
            <a:endParaRPr lang="en-US"/>
          </a:p>
        </p:txBody>
      </p:sp>
    </p:spTree>
    <p:extLst>
      <p:ext uri="{BB962C8B-B14F-4D97-AF65-F5344CB8AC3E}">
        <p14:creationId xmlns:p14="http://schemas.microsoft.com/office/powerpoint/2010/main" val="156775865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SAY:</a:t>
            </a:r>
            <a:r>
              <a:rPr lang="en-US"/>
              <a:t> “Use the categories just mentioned on the previous slide as sources for brainstorming when you start to run out of ideas.”</a:t>
            </a:r>
          </a:p>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133</a:t>
            </a:fld>
            <a:endParaRPr lang="en-US"/>
          </a:p>
        </p:txBody>
      </p:sp>
    </p:spTree>
    <p:extLst>
      <p:ext uri="{BB962C8B-B14F-4D97-AF65-F5344CB8AC3E}">
        <p14:creationId xmlns:p14="http://schemas.microsoft.com/office/powerpoint/2010/main" val="145571766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“A Pareto Chart is a graphic display of data shown in order from highest (frequency, cost, etc.) to lowest (frequency, cost, etc.). Pareto Charts help to determine which problem to attack first. You will still need more detail to describe the problem and find the cause.”</a:t>
            </a:r>
          </a:p>
          <a:p>
            <a:pPr algn="just">
              <a:buClr>
                <a:srgbClr val="FF0000"/>
              </a:buClr>
              <a:buSzPct val="50000"/>
              <a:buFont typeface="Monotype Sorts"/>
              <a:buNone/>
            </a:pPr>
            <a:r>
              <a:rPr lang="en-US" b="1" dirty="0"/>
              <a:t>SAY</a:t>
            </a:r>
            <a:r>
              <a:rPr lang="en-US" dirty="0"/>
              <a:t>: “CAUTION - A Pareto Chart is not a stand-alone tool for priority setting. For example, the highest frequency of errors or problems may not account for the highest cost. You need to determine the priority, keeping the customer in mind.</a:t>
            </a:r>
          </a:p>
          <a:p>
            <a:pPr algn="just">
              <a:buClr>
                <a:srgbClr val="FF0000"/>
              </a:buClr>
              <a:buSzPct val="50000"/>
              <a:buFont typeface="Monotype Sorts"/>
              <a:buNone/>
            </a:pPr>
            <a:r>
              <a:rPr lang="en-US" dirty="0"/>
              <a:t>For instance, in the ‘Plant Cleaning Example’ a Pareto Chart could show:</a:t>
            </a:r>
            <a:r>
              <a:rPr lang="en-US" u="sng" dirty="0"/>
              <a:t> </a:t>
            </a:r>
          </a:p>
          <a:p>
            <a:pPr lvl="1" algn="just">
              <a:buClr>
                <a:schemeClr val="tx1"/>
              </a:buClr>
              <a:buSzPct val="50000"/>
              <a:buFont typeface="Monotype Sorts"/>
              <a:buChar char="ê"/>
            </a:pPr>
            <a:r>
              <a:rPr lang="en-US" dirty="0"/>
              <a:t>What types of problems are most</a:t>
            </a:r>
            <a:r>
              <a:rPr lang="en-US" u="sng" dirty="0"/>
              <a:t> </a:t>
            </a:r>
            <a:r>
              <a:rPr lang="en-US" dirty="0"/>
              <a:t>prevalent, and/or most costly</a:t>
            </a:r>
          </a:p>
          <a:p>
            <a:pPr lvl="1" algn="just">
              <a:buClr>
                <a:schemeClr val="tx1"/>
              </a:buClr>
              <a:buSzPct val="50000"/>
              <a:buFont typeface="Monotype Sorts"/>
              <a:buChar char="ê"/>
            </a:pPr>
            <a:r>
              <a:rPr lang="en-US" dirty="0"/>
              <a:t>Where most of the problems are occurring</a:t>
            </a:r>
          </a:p>
          <a:p>
            <a:pPr algn="just">
              <a:buClr>
                <a:schemeClr val="tx1"/>
              </a:buClr>
              <a:buSzPct val="50000"/>
              <a:buFont typeface="Monotype Sorts"/>
              <a:buNone/>
            </a:pPr>
            <a:r>
              <a:rPr lang="en-US" dirty="0"/>
              <a:t>Now you have the basis for setting priorities on corrective action steps.”</a:t>
            </a:r>
            <a:endParaRPr lang="en-US" u="sng" dirty="0"/>
          </a:p>
          <a:p>
            <a:pPr algn="just">
              <a:buClr>
                <a:srgbClr val="FF0000"/>
              </a:buClr>
              <a:buSzPct val="50000"/>
              <a:buFont typeface="Monotype Sorts"/>
              <a:buNone/>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134</a:t>
            </a:fld>
            <a:endParaRPr lang="en-US"/>
          </a:p>
        </p:txBody>
      </p:sp>
    </p:spTree>
    <p:extLst>
      <p:ext uri="{BB962C8B-B14F-4D97-AF65-F5344CB8AC3E}">
        <p14:creationId xmlns:p14="http://schemas.microsoft.com/office/powerpoint/2010/main" val="14383798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135</a:t>
            </a:fld>
            <a:endParaRPr lang="en-US"/>
          </a:p>
        </p:txBody>
      </p:sp>
    </p:spTree>
    <p:extLst>
      <p:ext uri="{BB962C8B-B14F-4D97-AF65-F5344CB8AC3E}">
        <p14:creationId xmlns:p14="http://schemas.microsoft.com/office/powerpoint/2010/main" val="139947430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136</a:t>
            </a:fld>
            <a:endParaRPr lang="en-US"/>
          </a:p>
        </p:txBody>
      </p:sp>
    </p:spTree>
    <p:extLst>
      <p:ext uri="{BB962C8B-B14F-4D97-AF65-F5344CB8AC3E}">
        <p14:creationId xmlns:p14="http://schemas.microsoft.com/office/powerpoint/2010/main" val="185940116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DO:</a:t>
            </a:r>
            <a:r>
              <a:rPr lang="en-US" sz="1200" dirty="0"/>
              <a:t> Pass out yellow and blue cards to complete the CEDAC exercise. Build the fishbone chart on </a:t>
            </a:r>
            <a:r>
              <a:rPr lang="en-US" sz="1200" dirty="0" err="1"/>
              <a:t>chartpaper</a:t>
            </a:r>
            <a:r>
              <a:rPr lang="en-US" sz="1200" dirty="0"/>
              <a:t> on the wall and complete with the class. </a:t>
            </a:r>
          </a:p>
          <a:p>
            <a:r>
              <a:rPr lang="en-US" sz="1200" dirty="0"/>
              <a:t>Brainstorm all facts on yellow cards or post-it notes of what is causing the problem or standing in the way of the target. </a:t>
            </a:r>
          </a:p>
          <a:p>
            <a:r>
              <a:rPr lang="en-US" sz="1200" dirty="0"/>
              <a:t>Brainstorm solutions on blue cards or post-it notes and place them next to their corresponding yellow fact card. </a:t>
            </a:r>
          </a:p>
          <a:p>
            <a:r>
              <a:rPr lang="en-US" sz="1200" b="1" dirty="0"/>
              <a:t>NOTE:</a:t>
            </a:r>
            <a:r>
              <a:rPr lang="en-US" sz="1200" dirty="0"/>
              <a:t> For purposes of the exercise (and time) you can stop the exercise at this point and explain from this point on we would prioritize the actions and then take action on the cards.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137</a:t>
            </a:fld>
            <a:endParaRPr lang="en-US"/>
          </a:p>
        </p:txBody>
      </p:sp>
      <p:pic>
        <p:nvPicPr>
          <p:cNvPr id="5" name="Picture 4">
            <a:extLst>
              <a:ext uri="{FF2B5EF4-FFF2-40B4-BE49-F238E27FC236}">
                <a16:creationId xmlns:a16="http://schemas.microsoft.com/office/drawing/2014/main" id="{AC834655-8D97-3163-F6C9-2C1F851766D9}"/>
              </a:ext>
            </a:extLst>
          </p:cNvPr>
          <p:cNvPicPr>
            <a:picLocks noChangeAspect="1" noChangeArrowheads="1"/>
          </p:cNvPicPr>
          <p:nvPr/>
        </p:nvPicPr>
        <p:blipFill>
          <a:blip r:embed="rId3"/>
          <a:srcRect b="57843"/>
          <a:stretch>
            <a:fillRect/>
          </a:stretch>
        </p:blipFill>
        <p:spPr bwMode="auto">
          <a:xfrm>
            <a:off x="685800" y="6200775"/>
            <a:ext cx="5292897" cy="2887977"/>
          </a:xfrm>
          <a:prstGeom prst="rect">
            <a:avLst/>
          </a:prstGeom>
          <a:noFill/>
          <a:ln w="12700" cap="sq" algn="ctr">
            <a:noFill/>
            <a:miter lim="800000"/>
            <a:headEnd/>
            <a:tailEnd/>
          </a:ln>
        </p:spPr>
      </p:pic>
    </p:spTree>
    <p:extLst>
      <p:ext uri="{BB962C8B-B14F-4D97-AF65-F5344CB8AC3E}">
        <p14:creationId xmlns:p14="http://schemas.microsoft.com/office/powerpoint/2010/main" val="49975551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7523-9E8F-0A40-357A-7A4C3365F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F335A-99AA-58BC-7CBE-D4E56C24D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D40F8-EACF-8D9A-1CD1-6DD6C5CA600B}"/>
              </a:ext>
            </a:extLst>
          </p:cNvPr>
          <p:cNvSpPr>
            <a:spLocks noGrp="1"/>
          </p:cNvSpPr>
          <p:nvPr>
            <p:ph type="body" idx="1"/>
          </p:nvPr>
        </p:nvSpPr>
        <p:spPr/>
        <p:txBody>
          <a:bodyPr/>
          <a:lstStyle/>
          <a:p>
            <a:r>
              <a:rPr lang="en-US" b="1" dirty="0"/>
              <a:t>Say:</a:t>
            </a:r>
          </a:p>
          <a:p>
            <a:r>
              <a:rPr lang="en-US" b="0" dirty="0"/>
              <a:t>5 Whys are used after potential causes are identified (using other tools such as Pareto or Fishbone Analysis) in order to drill to the root cause.</a:t>
            </a:r>
          </a:p>
          <a:p>
            <a:r>
              <a:rPr lang="en-US" b="0" dirty="0"/>
              <a:t>Symptoms are the part we see, the part on the surface; they are how we know we have a problem.</a:t>
            </a:r>
          </a:p>
          <a:p>
            <a:r>
              <a:rPr lang="en-US" b="0" dirty="0"/>
              <a:t>Problems are the cause of that symptom.</a:t>
            </a:r>
          </a:p>
          <a:p>
            <a:endParaRPr lang="en-US" b="0" dirty="0"/>
          </a:p>
        </p:txBody>
      </p:sp>
      <p:sp>
        <p:nvSpPr>
          <p:cNvPr id="4" name="Slide Number Placeholder 3">
            <a:extLst>
              <a:ext uri="{FF2B5EF4-FFF2-40B4-BE49-F238E27FC236}">
                <a16:creationId xmlns:a16="http://schemas.microsoft.com/office/drawing/2014/main" id="{C2E069F3-602E-5A56-254D-6258FBDF99B3}"/>
              </a:ext>
            </a:extLst>
          </p:cNvPr>
          <p:cNvSpPr>
            <a:spLocks noGrp="1"/>
          </p:cNvSpPr>
          <p:nvPr>
            <p:ph type="sldNum" sz="quarter" idx="5"/>
          </p:nvPr>
        </p:nvSpPr>
        <p:spPr/>
        <p:txBody>
          <a:bodyPr/>
          <a:lstStyle/>
          <a:p>
            <a:fld id="{AECD8548-F1A2-4EDF-A416-5F2BB6B8F64C}" type="slidenum">
              <a:rPr lang="en-US" smtClean="0"/>
              <a:t>138</a:t>
            </a:fld>
            <a:endParaRPr lang="en-US"/>
          </a:p>
        </p:txBody>
      </p:sp>
    </p:spTree>
    <p:extLst>
      <p:ext uri="{BB962C8B-B14F-4D97-AF65-F5344CB8AC3E}">
        <p14:creationId xmlns:p14="http://schemas.microsoft.com/office/powerpoint/2010/main" val="25864894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0441-EB26-C400-ED51-303FA93C6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5BBC0-8D9E-FB93-4BE3-481A6F26E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050F0-EF8D-5FE7-D975-0F4D39A4F555}"/>
              </a:ext>
            </a:extLst>
          </p:cNvPr>
          <p:cNvSpPr>
            <a:spLocks noGrp="1"/>
          </p:cNvSpPr>
          <p:nvPr>
            <p:ph type="body" idx="1"/>
          </p:nvPr>
        </p:nvSpPr>
        <p:spPr/>
        <p:txBody>
          <a:bodyPr/>
          <a:lstStyle/>
          <a:p>
            <a:r>
              <a:rPr lang="en-US" b="1" dirty="0"/>
              <a:t>Ask: </a:t>
            </a:r>
            <a:r>
              <a:rPr lang="en-US" dirty="0"/>
              <a:t>Do you think that this problem was solved by one person?</a:t>
            </a:r>
          </a:p>
        </p:txBody>
      </p:sp>
      <p:sp>
        <p:nvSpPr>
          <p:cNvPr id="4" name="Slide Number Placeholder 3">
            <a:extLst>
              <a:ext uri="{FF2B5EF4-FFF2-40B4-BE49-F238E27FC236}">
                <a16:creationId xmlns:a16="http://schemas.microsoft.com/office/drawing/2014/main" id="{B18A4378-1D7C-485F-6E73-555463DEF6F2}"/>
              </a:ext>
            </a:extLst>
          </p:cNvPr>
          <p:cNvSpPr>
            <a:spLocks noGrp="1"/>
          </p:cNvSpPr>
          <p:nvPr>
            <p:ph type="sldNum" sz="quarter" idx="5"/>
          </p:nvPr>
        </p:nvSpPr>
        <p:spPr/>
        <p:txBody>
          <a:bodyPr/>
          <a:lstStyle/>
          <a:p>
            <a:fld id="{AECD8548-F1A2-4EDF-A416-5F2BB6B8F64C}" type="slidenum">
              <a:rPr lang="en-US" smtClean="0"/>
              <a:t>139</a:t>
            </a:fld>
            <a:endParaRPr lang="en-US"/>
          </a:p>
        </p:txBody>
      </p:sp>
    </p:spTree>
    <p:extLst>
      <p:ext uri="{BB962C8B-B14F-4D97-AF65-F5344CB8AC3E}">
        <p14:creationId xmlns:p14="http://schemas.microsoft.com/office/powerpoint/2010/main" val="174341865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F46BE-0462-B485-358F-11ACD4A6C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D1CDE-2D1F-2C9F-670E-BDACA5897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7D6B7-F62C-ADE8-B797-E52EE56B62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65003B-EB5D-9238-1EE1-9D3BBAADFE2D}"/>
              </a:ext>
            </a:extLst>
          </p:cNvPr>
          <p:cNvSpPr>
            <a:spLocks noGrp="1"/>
          </p:cNvSpPr>
          <p:nvPr>
            <p:ph type="sldNum" sz="quarter" idx="5"/>
          </p:nvPr>
        </p:nvSpPr>
        <p:spPr/>
        <p:txBody>
          <a:bodyPr/>
          <a:lstStyle/>
          <a:p>
            <a:fld id="{AECD8548-F1A2-4EDF-A416-5F2BB6B8F64C}" type="slidenum">
              <a:rPr lang="en-US" smtClean="0"/>
              <a:t>140</a:t>
            </a:fld>
            <a:endParaRPr lang="en-US"/>
          </a:p>
        </p:txBody>
      </p:sp>
    </p:spTree>
    <p:extLst>
      <p:ext uri="{BB962C8B-B14F-4D97-AF65-F5344CB8AC3E}">
        <p14:creationId xmlns:p14="http://schemas.microsoft.com/office/powerpoint/2010/main" val="352287764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5F27-193E-8BF0-1B4A-64AD06D1D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35F8A-A42E-E7A7-6077-8668C1DD8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DE015-A759-8516-D1A1-2C89F99BBD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Say: </a:t>
            </a:r>
            <a:r>
              <a:rPr lang="en-US" dirty="0"/>
              <a:t>“Even though the discipline is called 5 Why Analysis, its not always necessary to reach 5 before the root cause of a problem is fully explained. It may take more or less than 5 to get to the bottom of a problem. Follow your thought process until you reach an actionable level.”</a:t>
            </a:r>
            <a:endParaRPr lang="en-US" b="1" dirty="0"/>
          </a:p>
          <a:p>
            <a:endParaRPr lang="en-US" dirty="0"/>
          </a:p>
        </p:txBody>
      </p:sp>
      <p:sp>
        <p:nvSpPr>
          <p:cNvPr id="4" name="Slide Number Placeholder 3">
            <a:extLst>
              <a:ext uri="{FF2B5EF4-FFF2-40B4-BE49-F238E27FC236}">
                <a16:creationId xmlns:a16="http://schemas.microsoft.com/office/drawing/2014/main" id="{294AE344-3D68-0CAC-B386-269A581476EC}"/>
              </a:ext>
            </a:extLst>
          </p:cNvPr>
          <p:cNvSpPr>
            <a:spLocks noGrp="1"/>
          </p:cNvSpPr>
          <p:nvPr>
            <p:ph type="sldNum" sz="quarter" idx="5"/>
          </p:nvPr>
        </p:nvSpPr>
        <p:spPr/>
        <p:txBody>
          <a:bodyPr/>
          <a:lstStyle/>
          <a:p>
            <a:fld id="{AECD8548-F1A2-4EDF-A416-5F2BB6B8F64C}" type="slidenum">
              <a:rPr lang="en-US" smtClean="0"/>
              <a:t>141</a:t>
            </a:fld>
            <a:endParaRPr lang="en-US"/>
          </a:p>
        </p:txBody>
      </p:sp>
    </p:spTree>
    <p:extLst>
      <p:ext uri="{BB962C8B-B14F-4D97-AF65-F5344CB8AC3E}">
        <p14:creationId xmlns:p14="http://schemas.microsoft.com/office/powerpoint/2010/main" val="128053852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1ACC-5653-528E-24BD-AAB659FE8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30034-704F-B708-BED4-FE1F772D3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BB5F0-7068-BA2B-8818-6511ED8DA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66ECB-0FAB-68FE-000B-9E8BED6257F5}"/>
              </a:ext>
            </a:extLst>
          </p:cNvPr>
          <p:cNvSpPr>
            <a:spLocks noGrp="1"/>
          </p:cNvSpPr>
          <p:nvPr>
            <p:ph type="sldNum" sz="quarter" idx="5"/>
          </p:nvPr>
        </p:nvSpPr>
        <p:spPr/>
        <p:txBody>
          <a:bodyPr/>
          <a:lstStyle/>
          <a:p>
            <a:fld id="{AECD8548-F1A2-4EDF-A416-5F2BB6B8F64C}" type="slidenum">
              <a:rPr lang="en-US" smtClean="0"/>
              <a:t>142</a:t>
            </a:fld>
            <a:endParaRPr lang="en-US"/>
          </a:p>
        </p:txBody>
      </p:sp>
    </p:spTree>
    <p:extLst>
      <p:ext uri="{BB962C8B-B14F-4D97-AF65-F5344CB8AC3E}">
        <p14:creationId xmlns:p14="http://schemas.microsoft.com/office/powerpoint/2010/main" val="363522381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88DF8-B53C-6733-BD71-9CEA9D460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80124-177C-0B78-1FF8-C2BFA2D0F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59F4E-BE45-CCB2-3DC4-E21D26B266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B2DB05-2A3D-B94B-7A42-531697B972E7}"/>
              </a:ext>
            </a:extLst>
          </p:cNvPr>
          <p:cNvSpPr>
            <a:spLocks noGrp="1"/>
          </p:cNvSpPr>
          <p:nvPr>
            <p:ph type="sldNum" sz="quarter" idx="5"/>
          </p:nvPr>
        </p:nvSpPr>
        <p:spPr/>
        <p:txBody>
          <a:bodyPr/>
          <a:lstStyle/>
          <a:p>
            <a:fld id="{AECD8548-F1A2-4EDF-A416-5F2BB6B8F64C}" type="slidenum">
              <a:rPr lang="en-US" smtClean="0"/>
              <a:t>143</a:t>
            </a:fld>
            <a:endParaRPr lang="en-US"/>
          </a:p>
        </p:txBody>
      </p:sp>
    </p:spTree>
    <p:extLst>
      <p:ext uri="{BB962C8B-B14F-4D97-AF65-F5344CB8AC3E}">
        <p14:creationId xmlns:p14="http://schemas.microsoft.com/office/powerpoint/2010/main" val="106679550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44699-8EAD-7FCD-DBF6-A2AC57AD9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18C81-91FC-EBD8-F25A-0C40BFCD2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4BAC2-352F-56E0-7749-0320E4817F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5B6527-E94A-6FF0-A2BA-DA4F50A2CC64}"/>
              </a:ext>
            </a:extLst>
          </p:cNvPr>
          <p:cNvSpPr>
            <a:spLocks noGrp="1"/>
          </p:cNvSpPr>
          <p:nvPr>
            <p:ph type="sldNum" sz="quarter" idx="5"/>
          </p:nvPr>
        </p:nvSpPr>
        <p:spPr/>
        <p:txBody>
          <a:bodyPr/>
          <a:lstStyle/>
          <a:p>
            <a:fld id="{AECD8548-F1A2-4EDF-A416-5F2BB6B8F64C}" type="slidenum">
              <a:rPr lang="en-US" smtClean="0"/>
              <a:t>144</a:t>
            </a:fld>
            <a:endParaRPr lang="en-US"/>
          </a:p>
        </p:txBody>
      </p:sp>
    </p:spTree>
    <p:extLst>
      <p:ext uri="{BB962C8B-B14F-4D97-AF65-F5344CB8AC3E}">
        <p14:creationId xmlns:p14="http://schemas.microsoft.com/office/powerpoint/2010/main" val="9009700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585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59CEB06-ECC7-0CD0-569F-E2DD9A2E1E69}"/>
              </a:ext>
            </a:extLst>
          </p:cNvPr>
          <p:cNvSpPr>
            <a:spLocks noGrp="1"/>
          </p:cNvSpPr>
          <p:nvPr>
            <p:ph type="pic" sz="quarter" idx="10"/>
          </p:nvPr>
        </p:nvSpPr>
        <p:spPr>
          <a:xfrm>
            <a:off x="6035040" y="973622"/>
            <a:ext cx="6156960" cy="2864730"/>
          </a:xfrm>
          <a:custGeom>
            <a:avLst/>
            <a:gdLst>
              <a:gd name="connsiteX0" fmla="*/ 0 w 6156960"/>
              <a:gd name="connsiteY0" fmla="*/ 0 h 2864730"/>
              <a:gd name="connsiteX1" fmla="*/ 6156960 w 6156960"/>
              <a:gd name="connsiteY1" fmla="*/ 0 h 2864730"/>
              <a:gd name="connsiteX2" fmla="*/ 6156960 w 6156960"/>
              <a:gd name="connsiteY2" fmla="*/ 2864730 h 2864730"/>
              <a:gd name="connsiteX3" fmla="*/ 0 w 6156960"/>
              <a:gd name="connsiteY3" fmla="*/ 2864730 h 2864730"/>
            </a:gdLst>
            <a:ahLst/>
            <a:cxnLst>
              <a:cxn ang="0">
                <a:pos x="connsiteX0" y="connsiteY0"/>
              </a:cxn>
              <a:cxn ang="0">
                <a:pos x="connsiteX1" y="connsiteY1"/>
              </a:cxn>
              <a:cxn ang="0">
                <a:pos x="connsiteX2" y="connsiteY2"/>
              </a:cxn>
              <a:cxn ang="0">
                <a:pos x="connsiteX3" y="connsiteY3"/>
              </a:cxn>
            </a:cxnLst>
            <a:rect l="l" t="t" r="r" b="b"/>
            <a:pathLst>
              <a:path w="6156960" h="2864730">
                <a:moveTo>
                  <a:pt x="0" y="0"/>
                </a:moveTo>
                <a:lnTo>
                  <a:pt x="6156960" y="0"/>
                </a:lnTo>
                <a:lnTo>
                  <a:pt x="6156960" y="2864730"/>
                </a:lnTo>
                <a:lnTo>
                  <a:pt x="0" y="2864730"/>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2489036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4C937D1-CE40-E07A-EC8A-08332A2C2C27}"/>
              </a:ext>
            </a:extLst>
          </p:cNvPr>
          <p:cNvSpPr>
            <a:spLocks noGrp="1"/>
          </p:cNvSpPr>
          <p:nvPr>
            <p:ph type="pic" sz="quarter" idx="10"/>
          </p:nvPr>
        </p:nvSpPr>
        <p:spPr>
          <a:xfrm>
            <a:off x="0" y="786055"/>
            <a:ext cx="6002215" cy="2327536"/>
          </a:xfrm>
          <a:custGeom>
            <a:avLst/>
            <a:gdLst>
              <a:gd name="connsiteX0" fmla="*/ 0 w 6002215"/>
              <a:gd name="connsiteY0" fmla="*/ 0 h 2327536"/>
              <a:gd name="connsiteX1" fmla="*/ 6002215 w 6002215"/>
              <a:gd name="connsiteY1" fmla="*/ 0 h 2327536"/>
              <a:gd name="connsiteX2" fmla="*/ 6002215 w 6002215"/>
              <a:gd name="connsiteY2" fmla="*/ 2327536 h 2327536"/>
              <a:gd name="connsiteX3" fmla="*/ 0 w 6002215"/>
              <a:gd name="connsiteY3" fmla="*/ 2327536 h 2327536"/>
            </a:gdLst>
            <a:ahLst/>
            <a:cxnLst>
              <a:cxn ang="0">
                <a:pos x="connsiteX0" y="connsiteY0"/>
              </a:cxn>
              <a:cxn ang="0">
                <a:pos x="connsiteX1" y="connsiteY1"/>
              </a:cxn>
              <a:cxn ang="0">
                <a:pos x="connsiteX2" y="connsiteY2"/>
              </a:cxn>
              <a:cxn ang="0">
                <a:pos x="connsiteX3" y="connsiteY3"/>
              </a:cxn>
            </a:cxnLst>
            <a:rect l="l" t="t" r="r" b="b"/>
            <a:pathLst>
              <a:path w="6002215" h="2327536">
                <a:moveTo>
                  <a:pt x="0" y="0"/>
                </a:moveTo>
                <a:lnTo>
                  <a:pt x="6002215" y="0"/>
                </a:lnTo>
                <a:lnTo>
                  <a:pt x="6002215" y="2327536"/>
                </a:lnTo>
                <a:lnTo>
                  <a:pt x="0" y="2327536"/>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
        <p:nvSpPr>
          <p:cNvPr id="7" name="Picture Placeholder 6">
            <a:extLst>
              <a:ext uri="{FF2B5EF4-FFF2-40B4-BE49-F238E27FC236}">
                <a16:creationId xmlns:a16="http://schemas.microsoft.com/office/drawing/2014/main" id="{678FD581-4E8F-9364-19E6-BE17C6F72D29}"/>
              </a:ext>
            </a:extLst>
          </p:cNvPr>
          <p:cNvSpPr>
            <a:spLocks noGrp="1"/>
          </p:cNvSpPr>
          <p:nvPr>
            <p:ph type="pic" sz="quarter" idx="11"/>
          </p:nvPr>
        </p:nvSpPr>
        <p:spPr>
          <a:xfrm>
            <a:off x="6189785" y="3679726"/>
            <a:ext cx="6002215" cy="2327536"/>
          </a:xfrm>
          <a:custGeom>
            <a:avLst/>
            <a:gdLst>
              <a:gd name="connsiteX0" fmla="*/ 0 w 6002215"/>
              <a:gd name="connsiteY0" fmla="*/ 0 h 2327536"/>
              <a:gd name="connsiteX1" fmla="*/ 6002215 w 6002215"/>
              <a:gd name="connsiteY1" fmla="*/ 0 h 2327536"/>
              <a:gd name="connsiteX2" fmla="*/ 6002215 w 6002215"/>
              <a:gd name="connsiteY2" fmla="*/ 2327536 h 2327536"/>
              <a:gd name="connsiteX3" fmla="*/ 0 w 6002215"/>
              <a:gd name="connsiteY3" fmla="*/ 2327536 h 2327536"/>
            </a:gdLst>
            <a:ahLst/>
            <a:cxnLst>
              <a:cxn ang="0">
                <a:pos x="connsiteX0" y="connsiteY0"/>
              </a:cxn>
              <a:cxn ang="0">
                <a:pos x="connsiteX1" y="connsiteY1"/>
              </a:cxn>
              <a:cxn ang="0">
                <a:pos x="connsiteX2" y="connsiteY2"/>
              </a:cxn>
              <a:cxn ang="0">
                <a:pos x="connsiteX3" y="connsiteY3"/>
              </a:cxn>
            </a:cxnLst>
            <a:rect l="l" t="t" r="r" b="b"/>
            <a:pathLst>
              <a:path w="6002215" h="2327536">
                <a:moveTo>
                  <a:pt x="0" y="0"/>
                </a:moveTo>
                <a:lnTo>
                  <a:pt x="6002215" y="0"/>
                </a:lnTo>
                <a:lnTo>
                  <a:pt x="6002215" y="2327536"/>
                </a:lnTo>
                <a:lnTo>
                  <a:pt x="0" y="2327536"/>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604726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6EB1878-2450-CAC4-989F-0118D7934E08}"/>
              </a:ext>
            </a:extLst>
          </p:cNvPr>
          <p:cNvSpPr>
            <a:spLocks noGrp="1"/>
          </p:cNvSpPr>
          <p:nvPr>
            <p:ph type="pic" sz="quarter" idx="10"/>
          </p:nvPr>
        </p:nvSpPr>
        <p:spPr>
          <a:xfrm>
            <a:off x="6736466" y="1305564"/>
            <a:ext cx="5455534" cy="4421529"/>
          </a:xfrm>
          <a:custGeom>
            <a:avLst/>
            <a:gdLst>
              <a:gd name="connsiteX0" fmla="*/ 0 w 5455534"/>
              <a:gd name="connsiteY0" fmla="*/ 0 h 4421529"/>
              <a:gd name="connsiteX1" fmla="*/ 5455534 w 5455534"/>
              <a:gd name="connsiteY1" fmla="*/ 0 h 4421529"/>
              <a:gd name="connsiteX2" fmla="*/ 5455534 w 5455534"/>
              <a:gd name="connsiteY2" fmla="*/ 4421529 h 4421529"/>
              <a:gd name="connsiteX3" fmla="*/ 0 w 5455534"/>
              <a:gd name="connsiteY3" fmla="*/ 4421529 h 4421529"/>
            </a:gdLst>
            <a:ahLst/>
            <a:cxnLst>
              <a:cxn ang="0">
                <a:pos x="connsiteX0" y="connsiteY0"/>
              </a:cxn>
              <a:cxn ang="0">
                <a:pos x="connsiteX1" y="connsiteY1"/>
              </a:cxn>
              <a:cxn ang="0">
                <a:pos x="connsiteX2" y="connsiteY2"/>
              </a:cxn>
              <a:cxn ang="0">
                <a:pos x="connsiteX3" y="connsiteY3"/>
              </a:cxn>
            </a:cxnLst>
            <a:rect l="l" t="t" r="r" b="b"/>
            <a:pathLst>
              <a:path w="5455534" h="4421529">
                <a:moveTo>
                  <a:pt x="0" y="0"/>
                </a:moveTo>
                <a:lnTo>
                  <a:pt x="5455534" y="0"/>
                </a:lnTo>
                <a:lnTo>
                  <a:pt x="5455534" y="4421529"/>
                </a:lnTo>
                <a:lnTo>
                  <a:pt x="0" y="4421529"/>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30518345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08DB6C6A-AF33-4046-0495-33EE0B9CD080}"/>
              </a:ext>
            </a:extLst>
          </p:cNvPr>
          <p:cNvSpPr>
            <a:spLocks noGrp="1"/>
          </p:cNvSpPr>
          <p:nvPr userDrawn="1">
            <p:ph type="pic" sz="quarter" idx="10"/>
          </p:nvPr>
        </p:nvSpPr>
        <p:spPr>
          <a:xfrm>
            <a:off x="4709160" y="936391"/>
            <a:ext cx="4389120" cy="1829957"/>
          </a:xfrm>
          <a:custGeom>
            <a:avLst/>
            <a:gdLst>
              <a:gd name="connsiteX0" fmla="*/ 0 w 4389120"/>
              <a:gd name="connsiteY0" fmla="*/ 0 h 1829957"/>
              <a:gd name="connsiteX1" fmla="*/ 4389120 w 4389120"/>
              <a:gd name="connsiteY1" fmla="*/ 0 h 1829957"/>
              <a:gd name="connsiteX2" fmla="*/ 4389120 w 4389120"/>
              <a:gd name="connsiteY2" fmla="*/ 1829957 h 1829957"/>
              <a:gd name="connsiteX3" fmla="*/ 0 w 4389120"/>
              <a:gd name="connsiteY3" fmla="*/ 1829957 h 1829957"/>
            </a:gdLst>
            <a:ahLst/>
            <a:cxnLst>
              <a:cxn ang="0">
                <a:pos x="connsiteX0" y="connsiteY0"/>
              </a:cxn>
              <a:cxn ang="0">
                <a:pos x="connsiteX1" y="connsiteY1"/>
              </a:cxn>
              <a:cxn ang="0">
                <a:pos x="connsiteX2" y="connsiteY2"/>
              </a:cxn>
              <a:cxn ang="0">
                <a:pos x="connsiteX3" y="connsiteY3"/>
              </a:cxn>
            </a:cxnLst>
            <a:rect l="l" t="t" r="r" b="b"/>
            <a:pathLst>
              <a:path w="4389120" h="1829957">
                <a:moveTo>
                  <a:pt x="0" y="0"/>
                </a:moveTo>
                <a:lnTo>
                  <a:pt x="4389120" y="0"/>
                </a:lnTo>
                <a:lnTo>
                  <a:pt x="4389120" y="1829957"/>
                </a:lnTo>
                <a:lnTo>
                  <a:pt x="0" y="1829957"/>
                </a:lnTo>
                <a:close/>
              </a:path>
            </a:pathLst>
          </a:custGeom>
          <a:solidFill>
            <a:schemeClr val="bg1">
              <a:lumMod val="85000"/>
              <a:alpha val="26000"/>
            </a:schemeClr>
          </a:solidFill>
        </p:spPr>
        <p:txBody>
          <a:bodyPr wrap="square">
            <a:noAutofit/>
          </a:bodyPr>
          <a:lstStyle>
            <a:lvl1pPr>
              <a:defRPr lang="id-ID" dirty="0"/>
            </a:lvl1pPr>
          </a:lstStyle>
          <a:p>
            <a:pPr lvl="0"/>
            <a:endParaRPr lang="id-ID" dirty="0"/>
          </a:p>
        </p:txBody>
      </p:sp>
      <p:sp>
        <p:nvSpPr>
          <p:cNvPr id="15" name="Picture Placeholder 14">
            <a:extLst>
              <a:ext uri="{FF2B5EF4-FFF2-40B4-BE49-F238E27FC236}">
                <a16:creationId xmlns:a16="http://schemas.microsoft.com/office/drawing/2014/main" id="{7964CA37-D733-A8A6-857C-4544CD3EC744}"/>
              </a:ext>
            </a:extLst>
          </p:cNvPr>
          <p:cNvSpPr>
            <a:spLocks noGrp="1"/>
          </p:cNvSpPr>
          <p:nvPr>
            <p:ph type="pic" sz="quarter" idx="11"/>
          </p:nvPr>
        </p:nvSpPr>
        <p:spPr>
          <a:xfrm>
            <a:off x="9250680" y="936391"/>
            <a:ext cx="2446020" cy="3459480"/>
          </a:xfrm>
          <a:custGeom>
            <a:avLst/>
            <a:gdLst>
              <a:gd name="connsiteX0" fmla="*/ 0 w 2446020"/>
              <a:gd name="connsiteY0" fmla="*/ 0 h 3459480"/>
              <a:gd name="connsiteX1" fmla="*/ 2446020 w 2446020"/>
              <a:gd name="connsiteY1" fmla="*/ 0 h 3459480"/>
              <a:gd name="connsiteX2" fmla="*/ 2446020 w 2446020"/>
              <a:gd name="connsiteY2" fmla="*/ 3459480 h 3459480"/>
              <a:gd name="connsiteX3" fmla="*/ 0 w 2446020"/>
              <a:gd name="connsiteY3" fmla="*/ 3459480 h 3459480"/>
            </a:gdLst>
            <a:ahLst/>
            <a:cxnLst>
              <a:cxn ang="0">
                <a:pos x="connsiteX0" y="connsiteY0"/>
              </a:cxn>
              <a:cxn ang="0">
                <a:pos x="connsiteX1" y="connsiteY1"/>
              </a:cxn>
              <a:cxn ang="0">
                <a:pos x="connsiteX2" y="connsiteY2"/>
              </a:cxn>
              <a:cxn ang="0">
                <a:pos x="connsiteX3" y="connsiteY3"/>
              </a:cxn>
            </a:cxnLst>
            <a:rect l="l" t="t" r="r" b="b"/>
            <a:pathLst>
              <a:path w="2446020" h="3459480">
                <a:moveTo>
                  <a:pt x="0" y="0"/>
                </a:moveTo>
                <a:lnTo>
                  <a:pt x="2446020" y="0"/>
                </a:lnTo>
                <a:lnTo>
                  <a:pt x="2446020" y="3459480"/>
                </a:lnTo>
                <a:lnTo>
                  <a:pt x="0" y="3459480"/>
                </a:lnTo>
                <a:close/>
              </a:path>
            </a:pathLst>
          </a:custGeom>
          <a:solidFill>
            <a:schemeClr val="bg1">
              <a:lumMod val="85000"/>
              <a:alpha val="26000"/>
            </a:schemeClr>
          </a:solidFill>
        </p:spPr>
        <p:txBody>
          <a:bodyPr wrap="square">
            <a:noAutofit/>
          </a:bodyPr>
          <a:lstStyle>
            <a:lvl1pPr>
              <a:defRPr lang="id-ID" dirty="0"/>
            </a:lvl1pPr>
          </a:lstStyle>
          <a:p>
            <a:pPr lvl="0"/>
            <a:endParaRPr lang="id-ID" dirty="0"/>
          </a:p>
        </p:txBody>
      </p:sp>
      <p:sp>
        <p:nvSpPr>
          <p:cNvPr id="16" name="Picture Placeholder 15">
            <a:extLst>
              <a:ext uri="{FF2B5EF4-FFF2-40B4-BE49-F238E27FC236}">
                <a16:creationId xmlns:a16="http://schemas.microsoft.com/office/drawing/2014/main" id="{3257DFC3-032F-AB63-DDA3-ADE929E7F9E1}"/>
              </a:ext>
            </a:extLst>
          </p:cNvPr>
          <p:cNvSpPr>
            <a:spLocks noGrp="1"/>
          </p:cNvSpPr>
          <p:nvPr>
            <p:ph type="pic" sz="quarter" idx="12"/>
          </p:nvPr>
        </p:nvSpPr>
        <p:spPr>
          <a:xfrm>
            <a:off x="9250680" y="4586371"/>
            <a:ext cx="2446020" cy="1592580"/>
          </a:xfrm>
          <a:custGeom>
            <a:avLst/>
            <a:gdLst>
              <a:gd name="connsiteX0" fmla="*/ 0 w 2446020"/>
              <a:gd name="connsiteY0" fmla="*/ 0 h 1592580"/>
              <a:gd name="connsiteX1" fmla="*/ 2446020 w 2446020"/>
              <a:gd name="connsiteY1" fmla="*/ 0 h 1592580"/>
              <a:gd name="connsiteX2" fmla="*/ 2446020 w 2446020"/>
              <a:gd name="connsiteY2" fmla="*/ 1592580 h 1592580"/>
              <a:gd name="connsiteX3" fmla="*/ 0 w 2446020"/>
              <a:gd name="connsiteY3" fmla="*/ 1592580 h 1592580"/>
            </a:gdLst>
            <a:ahLst/>
            <a:cxnLst>
              <a:cxn ang="0">
                <a:pos x="connsiteX0" y="connsiteY0"/>
              </a:cxn>
              <a:cxn ang="0">
                <a:pos x="connsiteX1" y="connsiteY1"/>
              </a:cxn>
              <a:cxn ang="0">
                <a:pos x="connsiteX2" y="connsiteY2"/>
              </a:cxn>
              <a:cxn ang="0">
                <a:pos x="connsiteX3" y="connsiteY3"/>
              </a:cxn>
            </a:cxnLst>
            <a:rect l="l" t="t" r="r" b="b"/>
            <a:pathLst>
              <a:path w="2446020" h="1592580">
                <a:moveTo>
                  <a:pt x="0" y="0"/>
                </a:moveTo>
                <a:lnTo>
                  <a:pt x="2446020" y="0"/>
                </a:lnTo>
                <a:lnTo>
                  <a:pt x="2446020" y="1592580"/>
                </a:lnTo>
                <a:lnTo>
                  <a:pt x="0" y="1592580"/>
                </a:lnTo>
                <a:close/>
              </a:path>
            </a:pathLst>
          </a:custGeom>
          <a:solidFill>
            <a:schemeClr val="bg1">
              <a:lumMod val="85000"/>
              <a:alpha val="26000"/>
            </a:schemeClr>
          </a:solidFill>
        </p:spPr>
        <p:txBody>
          <a:bodyPr wrap="square">
            <a:noAutofit/>
          </a:bodyPr>
          <a:lstStyle>
            <a:lvl1pPr>
              <a:defRPr lang="id-ID" dirty="0"/>
            </a:lvl1pPr>
          </a:lstStyle>
          <a:p>
            <a:pPr lvl="0"/>
            <a:endParaRPr lang="id-ID" dirty="0"/>
          </a:p>
        </p:txBody>
      </p:sp>
      <p:sp>
        <p:nvSpPr>
          <p:cNvPr id="9" name="Picture Placeholder 8">
            <a:extLst>
              <a:ext uri="{FF2B5EF4-FFF2-40B4-BE49-F238E27FC236}">
                <a16:creationId xmlns:a16="http://schemas.microsoft.com/office/drawing/2014/main" id="{74D914ED-8F9B-A7F1-62C2-D29D3A873C6B}"/>
              </a:ext>
            </a:extLst>
          </p:cNvPr>
          <p:cNvSpPr>
            <a:spLocks noGrp="1"/>
          </p:cNvSpPr>
          <p:nvPr>
            <p:ph type="pic" sz="quarter" idx="13"/>
          </p:nvPr>
        </p:nvSpPr>
        <p:spPr>
          <a:xfrm>
            <a:off x="4709160" y="2938811"/>
            <a:ext cx="4389120" cy="3242069"/>
          </a:xfrm>
          <a:custGeom>
            <a:avLst/>
            <a:gdLst>
              <a:gd name="connsiteX0" fmla="*/ 0 w 4389120"/>
              <a:gd name="connsiteY0" fmla="*/ 0 h 3242069"/>
              <a:gd name="connsiteX1" fmla="*/ 4389120 w 4389120"/>
              <a:gd name="connsiteY1" fmla="*/ 0 h 3242069"/>
              <a:gd name="connsiteX2" fmla="*/ 4389120 w 4389120"/>
              <a:gd name="connsiteY2" fmla="*/ 3242069 h 3242069"/>
              <a:gd name="connsiteX3" fmla="*/ 0 w 4389120"/>
              <a:gd name="connsiteY3" fmla="*/ 3242069 h 3242069"/>
            </a:gdLst>
            <a:ahLst/>
            <a:cxnLst>
              <a:cxn ang="0">
                <a:pos x="connsiteX0" y="connsiteY0"/>
              </a:cxn>
              <a:cxn ang="0">
                <a:pos x="connsiteX1" y="connsiteY1"/>
              </a:cxn>
              <a:cxn ang="0">
                <a:pos x="connsiteX2" y="connsiteY2"/>
              </a:cxn>
              <a:cxn ang="0">
                <a:pos x="connsiteX3" y="connsiteY3"/>
              </a:cxn>
            </a:cxnLst>
            <a:rect l="l" t="t" r="r" b="b"/>
            <a:pathLst>
              <a:path w="4389120" h="3242069">
                <a:moveTo>
                  <a:pt x="0" y="0"/>
                </a:moveTo>
                <a:lnTo>
                  <a:pt x="4389120" y="0"/>
                </a:lnTo>
                <a:lnTo>
                  <a:pt x="4389120" y="3242069"/>
                </a:lnTo>
                <a:lnTo>
                  <a:pt x="0" y="3242069"/>
                </a:lnTo>
                <a:close/>
              </a:path>
            </a:pathLst>
          </a:custGeom>
          <a:solidFill>
            <a:schemeClr val="bg1">
              <a:lumMod val="85000"/>
              <a:alpha val="26000"/>
            </a:schemeClr>
          </a:solidFill>
        </p:spPr>
        <p:txBody>
          <a:bodyPr wrap="square">
            <a:noAutofit/>
          </a:bodyPr>
          <a:lstStyle>
            <a:lvl1pPr>
              <a:defRPr lang="id-ID" dirty="0"/>
            </a:lvl1pPr>
          </a:lstStyle>
          <a:p>
            <a:pPr lvl="0"/>
            <a:endParaRPr lang="id-ID" dirty="0"/>
          </a:p>
        </p:txBody>
      </p:sp>
    </p:spTree>
    <p:extLst>
      <p:ext uri="{BB962C8B-B14F-4D97-AF65-F5344CB8AC3E}">
        <p14:creationId xmlns:p14="http://schemas.microsoft.com/office/powerpoint/2010/main" val="3477221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985FD36-8FF1-6077-BEA7-756B73503D0D}"/>
              </a:ext>
            </a:extLst>
          </p:cNvPr>
          <p:cNvSpPr>
            <a:spLocks noGrp="1"/>
          </p:cNvSpPr>
          <p:nvPr>
            <p:ph type="pic" sz="quarter" idx="10"/>
          </p:nvPr>
        </p:nvSpPr>
        <p:spPr>
          <a:xfrm>
            <a:off x="1002712" y="2417826"/>
            <a:ext cx="2987040" cy="2270760"/>
          </a:xfrm>
          <a:custGeom>
            <a:avLst/>
            <a:gdLst>
              <a:gd name="connsiteX0" fmla="*/ 0 w 2987040"/>
              <a:gd name="connsiteY0" fmla="*/ 0 h 2270760"/>
              <a:gd name="connsiteX1" fmla="*/ 2987040 w 2987040"/>
              <a:gd name="connsiteY1" fmla="*/ 0 h 2270760"/>
              <a:gd name="connsiteX2" fmla="*/ 2987040 w 2987040"/>
              <a:gd name="connsiteY2" fmla="*/ 2270760 h 2270760"/>
              <a:gd name="connsiteX3" fmla="*/ 0 w 2987040"/>
              <a:gd name="connsiteY3" fmla="*/ 2270760 h 2270760"/>
            </a:gdLst>
            <a:ahLst/>
            <a:cxnLst>
              <a:cxn ang="0">
                <a:pos x="connsiteX0" y="connsiteY0"/>
              </a:cxn>
              <a:cxn ang="0">
                <a:pos x="connsiteX1" y="connsiteY1"/>
              </a:cxn>
              <a:cxn ang="0">
                <a:pos x="connsiteX2" y="connsiteY2"/>
              </a:cxn>
              <a:cxn ang="0">
                <a:pos x="connsiteX3" y="connsiteY3"/>
              </a:cxn>
            </a:cxnLst>
            <a:rect l="l" t="t" r="r" b="b"/>
            <a:pathLst>
              <a:path w="2987040" h="2270760">
                <a:moveTo>
                  <a:pt x="0" y="0"/>
                </a:moveTo>
                <a:lnTo>
                  <a:pt x="2987040" y="0"/>
                </a:lnTo>
                <a:lnTo>
                  <a:pt x="2987040" y="2270760"/>
                </a:lnTo>
                <a:lnTo>
                  <a:pt x="0" y="2270760"/>
                </a:lnTo>
                <a:close/>
              </a:path>
            </a:pathLst>
          </a:custGeom>
          <a:solidFill>
            <a:schemeClr val="bg1">
              <a:lumMod val="85000"/>
              <a:alpha val="26000"/>
            </a:schemeClr>
          </a:solidFill>
        </p:spPr>
        <p:txBody>
          <a:bodyPr wrap="square">
            <a:noAutofit/>
          </a:bodyPr>
          <a:lstStyle>
            <a:lvl1pPr>
              <a:defRPr lang="id-ID" dirty="0"/>
            </a:lvl1pPr>
          </a:lstStyle>
          <a:p>
            <a:pPr lvl="0"/>
            <a:endParaRPr lang="id-ID" dirty="0"/>
          </a:p>
        </p:txBody>
      </p:sp>
      <p:sp>
        <p:nvSpPr>
          <p:cNvPr id="19" name="Picture Placeholder 18">
            <a:extLst>
              <a:ext uri="{FF2B5EF4-FFF2-40B4-BE49-F238E27FC236}">
                <a16:creationId xmlns:a16="http://schemas.microsoft.com/office/drawing/2014/main" id="{910026E4-8361-8C29-EB2A-9EC9C9425DAB}"/>
              </a:ext>
            </a:extLst>
          </p:cNvPr>
          <p:cNvSpPr>
            <a:spLocks noGrp="1"/>
          </p:cNvSpPr>
          <p:nvPr>
            <p:ph type="pic" sz="quarter" idx="11"/>
          </p:nvPr>
        </p:nvSpPr>
        <p:spPr>
          <a:xfrm>
            <a:off x="4599352" y="2417826"/>
            <a:ext cx="2987040" cy="2270760"/>
          </a:xfrm>
          <a:custGeom>
            <a:avLst/>
            <a:gdLst>
              <a:gd name="connsiteX0" fmla="*/ 0 w 2987040"/>
              <a:gd name="connsiteY0" fmla="*/ 0 h 2270760"/>
              <a:gd name="connsiteX1" fmla="*/ 2987040 w 2987040"/>
              <a:gd name="connsiteY1" fmla="*/ 0 h 2270760"/>
              <a:gd name="connsiteX2" fmla="*/ 2987040 w 2987040"/>
              <a:gd name="connsiteY2" fmla="*/ 2270760 h 2270760"/>
              <a:gd name="connsiteX3" fmla="*/ 0 w 2987040"/>
              <a:gd name="connsiteY3" fmla="*/ 2270760 h 2270760"/>
            </a:gdLst>
            <a:ahLst/>
            <a:cxnLst>
              <a:cxn ang="0">
                <a:pos x="connsiteX0" y="connsiteY0"/>
              </a:cxn>
              <a:cxn ang="0">
                <a:pos x="connsiteX1" y="connsiteY1"/>
              </a:cxn>
              <a:cxn ang="0">
                <a:pos x="connsiteX2" y="connsiteY2"/>
              </a:cxn>
              <a:cxn ang="0">
                <a:pos x="connsiteX3" y="connsiteY3"/>
              </a:cxn>
            </a:cxnLst>
            <a:rect l="l" t="t" r="r" b="b"/>
            <a:pathLst>
              <a:path w="2987040" h="2270760">
                <a:moveTo>
                  <a:pt x="0" y="0"/>
                </a:moveTo>
                <a:lnTo>
                  <a:pt x="2987040" y="0"/>
                </a:lnTo>
                <a:lnTo>
                  <a:pt x="2987040" y="2270760"/>
                </a:lnTo>
                <a:lnTo>
                  <a:pt x="0" y="2270760"/>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
        <p:nvSpPr>
          <p:cNvPr id="18" name="Picture Placeholder 17">
            <a:extLst>
              <a:ext uri="{FF2B5EF4-FFF2-40B4-BE49-F238E27FC236}">
                <a16:creationId xmlns:a16="http://schemas.microsoft.com/office/drawing/2014/main" id="{DBA4F644-CE12-BC4A-34C1-6A7926CA2444}"/>
              </a:ext>
            </a:extLst>
          </p:cNvPr>
          <p:cNvSpPr>
            <a:spLocks noGrp="1"/>
          </p:cNvSpPr>
          <p:nvPr>
            <p:ph type="pic" sz="quarter" idx="12"/>
          </p:nvPr>
        </p:nvSpPr>
        <p:spPr>
          <a:xfrm>
            <a:off x="8089312" y="2417826"/>
            <a:ext cx="2987040" cy="2270760"/>
          </a:xfrm>
          <a:custGeom>
            <a:avLst/>
            <a:gdLst>
              <a:gd name="connsiteX0" fmla="*/ 0 w 2987040"/>
              <a:gd name="connsiteY0" fmla="*/ 0 h 2270760"/>
              <a:gd name="connsiteX1" fmla="*/ 2987040 w 2987040"/>
              <a:gd name="connsiteY1" fmla="*/ 0 h 2270760"/>
              <a:gd name="connsiteX2" fmla="*/ 2987040 w 2987040"/>
              <a:gd name="connsiteY2" fmla="*/ 2270760 h 2270760"/>
              <a:gd name="connsiteX3" fmla="*/ 0 w 2987040"/>
              <a:gd name="connsiteY3" fmla="*/ 2270760 h 2270760"/>
            </a:gdLst>
            <a:ahLst/>
            <a:cxnLst>
              <a:cxn ang="0">
                <a:pos x="connsiteX0" y="connsiteY0"/>
              </a:cxn>
              <a:cxn ang="0">
                <a:pos x="connsiteX1" y="connsiteY1"/>
              </a:cxn>
              <a:cxn ang="0">
                <a:pos x="connsiteX2" y="connsiteY2"/>
              </a:cxn>
              <a:cxn ang="0">
                <a:pos x="connsiteX3" y="connsiteY3"/>
              </a:cxn>
            </a:cxnLst>
            <a:rect l="l" t="t" r="r" b="b"/>
            <a:pathLst>
              <a:path w="2987040" h="2270760">
                <a:moveTo>
                  <a:pt x="0" y="0"/>
                </a:moveTo>
                <a:lnTo>
                  <a:pt x="2987040" y="0"/>
                </a:lnTo>
                <a:lnTo>
                  <a:pt x="2987040" y="2270760"/>
                </a:lnTo>
                <a:lnTo>
                  <a:pt x="0" y="2270760"/>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32927074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0F85EAB-147C-3322-A835-629300D15F0D}"/>
              </a:ext>
            </a:extLst>
          </p:cNvPr>
          <p:cNvSpPr>
            <a:spLocks noGrp="1"/>
          </p:cNvSpPr>
          <p:nvPr>
            <p:ph type="pic" sz="quarter" idx="10"/>
          </p:nvPr>
        </p:nvSpPr>
        <p:spPr>
          <a:xfrm>
            <a:off x="0" y="-1"/>
            <a:ext cx="12192000" cy="3493477"/>
          </a:xfrm>
          <a:custGeom>
            <a:avLst/>
            <a:gdLst>
              <a:gd name="connsiteX0" fmla="*/ 0 w 12192000"/>
              <a:gd name="connsiteY0" fmla="*/ 0 h 3493477"/>
              <a:gd name="connsiteX1" fmla="*/ 12192000 w 12192000"/>
              <a:gd name="connsiteY1" fmla="*/ 0 h 3493477"/>
              <a:gd name="connsiteX2" fmla="*/ 12192000 w 12192000"/>
              <a:gd name="connsiteY2" fmla="*/ 3493477 h 3493477"/>
              <a:gd name="connsiteX3" fmla="*/ 0 w 12192000"/>
              <a:gd name="connsiteY3" fmla="*/ 3493477 h 3493477"/>
            </a:gdLst>
            <a:ahLst/>
            <a:cxnLst>
              <a:cxn ang="0">
                <a:pos x="connsiteX0" y="connsiteY0"/>
              </a:cxn>
              <a:cxn ang="0">
                <a:pos x="connsiteX1" y="connsiteY1"/>
              </a:cxn>
              <a:cxn ang="0">
                <a:pos x="connsiteX2" y="connsiteY2"/>
              </a:cxn>
              <a:cxn ang="0">
                <a:pos x="connsiteX3" y="connsiteY3"/>
              </a:cxn>
            </a:cxnLst>
            <a:rect l="l" t="t" r="r" b="b"/>
            <a:pathLst>
              <a:path w="12192000" h="3493477">
                <a:moveTo>
                  <a:pt x="0" y="0"/>
                </a:moveTo>
                <a:lnTo>
                  <a:pt x="12192000" y="0"/>
                </a:lnTo>
                <a:lnTo>
                  <a:pt x="12192000" y="3493477"/>
                </a:lnTo>
                <a:lnTo>
                  <a:pt x="0" y="3493477"/>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13803630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9D1F7138-0ABC-2B57-DBC6-5028D73B95A6}"/>
              </a:ext>
            </a:extLst>
          </p:cNvPr>
          <p:cNvSpPr>
            <a:spLocks noGrp="1"/>
          </p:cNvSpPr>
          <p:nvPr>
            <p:ph type="pic" sz="quarter" idx="10"/>
          </p:nvPr>
        </p:nvSpPr>
        <p:spPr>
          <a:xfrm>
            <a:off x="6470248" y="419100"/>
            <a:ext cx="4590866" cy="5739031"/>
          </a:xfrm>
          <a:custGeom>
            <a:avLst/>
            <a:gdLst>
              <a:gd name="connsiteX0" fmla="*/ 0 w 4064240"/>
              <a:gd name="connsiteY0" fmla="*/ 0 h 5739031"/>
              <a:gd name="connsiteX1" fmla="*/ 4064240 w 4064240"/>
              <a:gd name="connsiteY1" fmla="*/ 0 h 5739031"/>
              <a:gd name="connsiteX2" fmla="*/ 4064240 w 4064240"/>
              <a:gd name="connsiteY2" fmla="*/ 5739031 h 5739031"/>
              <a:gd name="connsiteX3" fmla="*/ 0 w 4064240"/>
              <a:gd name="connsiteY3" fmla="*/ 5739031 h 5739031"/>
            </a:gdLst>
            <a:ahLst/>
            <a:cxnLst>
              <a:cxn ang="0">
                <a:pos x="connsiteX0" y="connsiteY0"/>
              </a:cxn>
              <a:cxn ang="0">
                <a:pos x="connsiteX1" y="connsiteY1"/>
              </a:cxn>
              <a:cxn ang="0">
                <a:pos x="connsiteX2" y="connsiteY2"/>
              </a:cxn>
              <a:cxn ang="0">
                <a:pos x="connsiteX3" y="connsiteY3"/>
              </a:cxn>
            </a:cxnLst>
            <a:rect l="l" t="t" r="r" b="b"/>
            <a:pathLst>
              <a:path w="4064240" h="5739031">
                <a:moveTo>
                  <a:pt x="0" y="0"/>
                </a:moveTo>
                <a:lnTo>
                  <a:pt x="4064240" y="0"/>
                </a:lnTo>
                <a:lnTo>
                  <a:pt x="4064240" y="5739031"/>
                </a:lnTo>
                <a:lnTo>
                  <a:pt x="0" y="5739031"/>
                </a:lnTo>
                <a:close/>
              </a:path>
            </a:pathLst>
          </a:custGeom>
          <a:effectLst>
            <a:outerShdw blurRad="482600" dist="101600" dir="18900000" sx="96000" sy="96000" algn="bl" rotWithShape="0">
              <a:prstClr val="black">
                <a:alpha val="30000"/>
              </a:prstClr>
            </a:outerShdw>
          </a:effectLst>
        </p:spPr>
        <p:txBody>
          <a:bodyPr wrap="square">
            <a:noAutofit/>
          </a:bodyPr>
          <a:lstStyle/>
          <a:p>
            <a:endParaRPr lang="id-ID"/>
          </a:p>
        </p:txBody>
      </p:sp>
    </p:spTree>
    <p:extLst>
      <p:ext uri="{BB962C8B-B14F-4D97-AF65-F5344CB8AC3E}">
        <p14:creationId xmlns:p14="http://schemas.microsoft.com/office/powerpoint/2010/main" val="216377701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2EA9EDE-4244-FEAF-7525-D5FA498D4E58}"/>
              </a:ext>
            </a:extLst>
          </p:cNvPr>
          <p:cNvSpPr>
            <a:spLocks noGrp="1"/>
          </p:cNvSpPr>
          <p:nvPr>
            <p:ph type="pic" sz="quarter" idx="10"/>
          </p:nvPr>
        </p:nvSpPr>
        <p:spPr>
          <a:xfrm>
            <a:off x="0" y="0"/>
            <a:ext cx="12192000" cy="6858000"/>
          </a:xfrm>
          <a:prstGeom prst="rect">
            <a:avLst/>
          </a:pr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32817993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1BF9C58-1607-1B68-4465-0A202D2362D2}"/>
              </a:ext>
            </a:extLst>
          </p:cNvPr>
          <p:cNvSpPr>
            <a:spLocks noGrp="1"/>
          </p:cNvSpPr>
          <p:nvPr>
            <p:ph type="pic" sz="quarter" idx="10"/>
          </p:nvPr>
        </p:nvSpPr>
        <p:spPr>
          <a:xfrm>
            <a:off x="609600" y="-2"/>
            <a:ext cx="2785241" cy="4831082"/>
          </a:xfrm>
          <a:custGeom>
            <a:avLst/>
            <a:gdLst>
              <a:gd name="connsiteX0" fmla="*/ 0 w 2785241"/>
              <a:gd name="connsiteY0" fmla="*/ 0 h 4831082"/>
              <a:gd name="connsiteX1" fmla="*/ 2785241 w 2785241"/>
              <a:gd name="connsiteY1" fmla="*/ 0 h 4831082"/>
              <a:gd name="connsiteX2" fmla="*/ 2785241 w 2785241"/>
              <a:gd name="connsiteY2" fmla="*/ 4831082 h 4831082"/>
              <a:gd name="connsiteX3" fmla="*/ 0 w 2785241"/>
              <a:gd name="connsiteY3" fmla="*/ 4831082 h 4831082"/>
            </a:gdLst>
            <a:ahLst/>
            <a:cxnLst>
              <a:cxn ang="0">
                <a:pos x="connsiteX0" y="connsiteY0"/>
              </a:cxn>
              <a:cxn ang="0">
                <a:pos x="connsiteX1" y="connsiteY1"/>
              </a:cxn>
              <a:cxn ang="0">
                <a:pos x="connsiteX2" y="connsiteY2"/>
              </a:cxn>
              <a:cxn ang="0">
                <a:pos x="connsiteX3" y="connsiteY3"/>
              </a:cxn>
            </a:cxnLst>
            <a:rect l="l" t="t" r="r" b="b"/>
            <a:pathLst>
              <a:path w="2785241" h="4831082">
                <a:moveTo>
                  <a:pt x="0" y="0"/>
                </a:moveTo>
                <a:lnTo>
                  <a:pt x="2785241" y="0"/>
                </a:lnTo>
                <a:lnTo>
                  <a:pt x="2785241" y="4831082"/>
                </a:lnTo>
                <a:lnTo>
                  <a:pt x="0" y="4831082"/>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
        <p:nvSpPr>
          <p:cNvPr id="8" name="Picture Placeholder 7">
            <a:extLst>
              <a:ext uri="{FF2B5EF4-FFF2-40B4-BE49-F238E27FC236}">
                <a16:creationId xmlns:a16="http://schemas.microsoft.com/office/drawing/2014/main" id="{067EFAC7-C507-2182-2983-488AF4100835}"/>
              </a:ext>
            </a:extLst>
          </p:cNvPr>
          <p:cNvSpPr>
            <a:spLocks noGrp="1"/>
          </p:cNvSpPr>
          <p:nvPr>
            <p:ph type="pic" sz="quarter" idx="11"/>
          </p:nvPr>
        </p:nvSpPr>
        <p:spPr>
          <a:xfrm>
            <a:off x="3769535" y="1447799"/>
            <a:ext cx="2910840" cy="5410200"/>
          </a:xfrm>
          <a:custGeom>
            <a:avLst/>
            <a:gdLst>
              <a:gd name="connsiteX0" fmla="*/ 0 w 2910840"/>
              <a:gd name="connsiteY0" fmla="*/ 0 h 5410200"/>
              <a:gd name="connsiteX1" fmla="*/ 2910840 w 2910840"/>
              <a:gd name="connsiteY1" fmla="*/ 0 h 5410200"/>
              <a:gd name="connsiteX2" fmla="*/ 2910840 w 2910840"/>
              <a:gd name="connsiteY2" fmla="*/ 5410200 h 5410200"/>
              <a:gd name="connsiteX3" fmla="*/ 0 w 2910840"/>
              <a:gd name="connsiteY3" fmla="*/ 5410200 h 5410200"/>
            </a:gdLst>
            <a:ahLst/>
            <a:cxnLst>
              <a:cxn ang="0">
                <a:pos x="connsiteX0" y="connsiteY0"/>
              </a:cxn>
              <a:cxn ang="0">
                <a:pos x="connsiteX1" y="connsiteY1"/>
              </a:cxn>
              <a:cxn ang="0">
                <a:pos x="connsiteX2" y="connsiteY2"/>
              </a:cxn>
              <a:cxn ang="0">
                <a:pos x="connsiteX3" y="connsiteY3"/>
              </a:cxn>
            </a:cxnLst>
            <a:rect l="l" t="t" r="r" b="b"/>
            <a:pathLst>
              <a:path w="2910840" h="5410200">
                <a:moveTo>
                  <a:pt x="0" y="0"/>
                </a:moveTo>
                <a:lnTo>
                  <a:pt x="2910840" y="0"/>
                </a:lnTo>
                <a:lnTo>
                  <a:pt x="2910840" y="5410200"/>
                </a:lnTo>
                <a:lnTo>
                  <a:pt x="0" y="5410200"/>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14898869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AA71A0EB-DEAE-5D59-3214-BA4BAEE7138E}"/>
              </a:ext>
            </a:extLst>
          </p:cNvPr>
          <p:cNvSpPr>
            <a:spLocks noGrp="1"/>
          </p:cNvSpPr>
          <p:nvPr>
            <p:ph type="pic" sz="quarter" idx="10"/>
          </p:nvPr>
        </p:nvSpPr>
        <p:spPr>
          <a:xfrm>
            <a:off x="0" y="1689902"/>
            <a:ext cx="12192000" cy="3512017"/>
          </a:xfrm>
          <a:custGeom>
            <a:avLst/>
            <a:gdLst>
              <a:gd name="connsiteX0" fmla="*/ 0 w 12192000"/>
              <a:gd name="connsiteY0" fmla="*/ 0 h 3512017"/>
              <a:gd name="connsiteX1" fmla="*/ 12192000 w 12192000"/>
              <a:gd name="connsiteY1" fmla="*/ 0 h 3512017"/>
              <a:gd name="connsiteX2" fmla="*/ 12192000 w 12192000"/>
              <a:gd name="connsiteY2" fmla="*/ 3512017 h 3512017"/>
              <a:gd name="connsiteX3" fmla="*/ 0 w 12192000"/>
              <a:gd name="connsiteY3" fmla="*/ 3512017 h 3512017"/>
            </a:gdLst>
            <a:ahLst/>
            <a:cxnLst>
              <a:cxn ang="0">
                <a:pos x="connsiteX0" y="connsiteY0"/>
              </a:cxn>
              <a:cxn ang="0">
                <a:pos x="connsiteX1" y="connsiteY1"/>
              </a:cxn>
              <a:cxn ang="0">
                <a:pos x="connsiteX2" y="connsiteY2"/>
              </a:cxn>
              <a:cxn ang="0">
                <a:pos x="connsiteX3" y="connsiteY3"/>
              </a:cxn>
            </a:cxnLst>
            <a:rect l="l" t="t" r="r" b="b"/>
            <a:pathLst>
              <a:path w="12192000" h="3512017">
                <a:moveTo>
                  <a:pt x="0" y="0"/>
                </a:moveTo>
                <a:lnTo>
                  <a:pt x="12192000" y="0"/>
                </a:lnTo>
                <a:lnTo>
                  <a:pt x="12192000" y="3512017"/>
                </a:lnTo>
                <a:lnTo>
                  <a:pt x="0" y="3512017"/>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32439866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98B4B25-C5BF-5B8A-03DF-20F6085C7E93}"/>
              </a:ext>
            </a:extLst>
          </p:cNvPr>
          <p:cNvSpPr>
            <a:spLocks noGrp="1"/>
          </p:cNvSpPr>
          <p:nvPr>
            <p:ph type="pic" sz="quarter" idx="10"/>
          </p:nvPr>
        </p:nvSpPr>
        <p:spPr>
          <a:xfrm>
            <a:off x="7479322" y="984738"/>
            <a:ext cx="4712677" cy="5254015"/>
          </a:xfrm>
          <a:custGeom>
            <a:avLst/>
            <a:gdLst>
              <a:gd name="connsiteX0" fmla="*/ 0 w 4712677"/>
              <a:gd name="connsiteY0" fmla="*/ 0 h 5254015"/>
              <a:gd name="connsiteX1" fmla="*/ 4712677 w 4712677"/>
              <a:gd name="connsiteY1" fmla="*/ 0 h 5254015"/>
              <a:gd name="connsiteX2" fmla="*/ 4712677 w 4712677"/>
              <a:gd name="connsiteY2" fmla="*/ 5254015 h 5254015"/>
              <a:gd name="connsiteX3" fmla="*/ 0 w 4712677"/>
              <a:gd name="connsiteY3" fmla="*/ 5254015 h 5254015"/>
            </a:gdLst>
            <a:ahLst/>
            <a:cxnLst>
              <a:cxn ang="0">
                <a:pos x="connsiteX0" y="connsiteY0"/>
              </a:cxn>
              <a:cxn ang="0">
                <a:pos x="connsiteX1" y="connsiteY1"/>
              </a:cxn>
              <a:cxn ang="0">
                <a:pos x="connsiteX2" y="connsiteY2"/>
              </a:cxn>
              <a:cxn ang="0">
                <a:pos x="connsiteX3" y="connsiteY3"/>
              </a:cxn>
            </a:cxnLst>
            <a:rect l="l" t="t" r="r" b="b"/>
            <a:pathLst>
              <a:path w="4712677" h="5254015">
                <a:moveTo>
                  <a:pt x="0" y="0"/>
                </a:moveTo>
                <a:lnTo>
                  <a:pt x="4712677" y="0"/>
                </a:lnTo>
                <a:lnTo>
                  <a:pt x="4712677" y="5254015"/>
                </a:lnTo>
                <a:lnTo>
                  <a:pt x="0" y="5254015"/>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860014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66FE164-BC88-6755-0759-86CD359A5CCA}"/>
              </a:ext>
            </a:extLst>
          </p:cNvPr>
          <p:cNvSpPr>
            <a:spLocks noGrp="1"/>
          </p:cNvSpPr>
          <p:nvPr>
            <p:ph type="pic" sz="quarter" idx="10"/>
          </p:nvPr>
        </p:nvSpPr>
        <p:spPr>
          <a:xfrm>
            <a:off x="3931919" y="-1"/>
            <a:ext cx="3825240" cy="6004560"/>
          </a:xfrm>
          <a:custGeom>
            <a:avLst/>
            <a:gdLst>
              <a:gd name="connsiteX0" fmla="*/ 0 w 3825240"/>
              <a:gd name="connsiteY0" fmla="*/ 0 h 6004560"/>
              <a:gd name="connsiteX1" fmla="*/ 3825240 w 3825240"/>
              <a:gd name="connsiteY1" fmla="*/ 0 h 6004560"/>
              <a:gd name="connsiteX2" fmla="*/ 3825240 w 3825240"/>
              <a:gd name="connsiteY2" fmla="*/ 6004560 h 6004560"/>
              <a:gd name="connsiteX3" fmla="*/ 0 w 3825240"/>
              <a:gd name="connsiteY3" fmla="*/ 6004560 h 6004560"/>
            </a:gdLst>
            <a:ahLst/>
            <a:cxnLst>
              <a:cxn ang="0">
                <a:pos x="connsiteX0" y="connsiteY0"/>
              </a:cxn>
              <a:cxn ang="0">
                <a:pos x="connsiteX1" y="connsiteY1"/>
              </a:cxn>
              <a:cxn ang="0">
                <a:pos x="connsiteX2" y="connsiteY2"/>
              </a:cxn>
              <a:cxn ang="0">
                <a:pos x="connsiteX3" y="connsiteY3"/>
              </a:cxn>
            </a:cxnLst>
            <a:rect l="l" t="t" r="r" b="b"/>
            <a:pathLst>
              <a:path w="3825240" h="6004560">
                <a:moveTo>
                  <a:pt x="0" y="0"/>
                </a:moveTo>
                <a:lnTo>
                  <a:pt x="3825240" y="0"/>
                </a:lnTo>
                <a:lnTo>
                  <a:pt x="3825240" y="6004560"/>
                </a:lnTo>
                <a:lnTo>
                  <a:pt x="0" y="6004560"/>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877930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6_Custom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0204A1B-51F3-368D-5851-361AB2B47869}"/>
              </a:ext>
            </a:extLst>
          </p:cNvPr>
          <p:cNvSpPr>
            <a:spLocks noGrp="1"/>
          </p:cNvSpPr>
          <p:nvPr>
            <p:ph type="pic" sz="quarter" idx="10"/>
          </p:nvPr>
        </p:nvSpPr>
        <p:spPr>
          <a:xfrm>
            <a:off x="0" y="0"/>
            <a:ext cx="12192000" cy="4465674"/>
          </a:xfrm>
          <a:custGeom>
            <a:avLst/>
            <a:gdLst>
              <a:gd name="connsiteX0" fmla="*/ 0 w 12192000"/>
              <a:gd name="connsiteY0" fmla="*/ 0 h 4465674"/>
              <a:gd name="connsiteX1" fmla="*/ 12192000 w 12192000"/>
              <a:gd name="connsiteY1" fmla="*/ 0 h 4465674"/>
              <a:gd name="connsiteX2" fmla="*/ 12192000 w 12192000"/>
              <a:gd name="connsiteY2" fmla="*/ 4465674 h 4465674"/>
              <a:gd name="connsiteX3" fmla="*/ 0 w 12192000"/>
              <a:gd name="connsiteY3" fmla="*/ 4465674 h 4465674"/>
            </a:gdLst>
            <a:ahLst/>
            <a:cxnLst>
              <a:cxn ang="0">
                <a:pos x="connsiteX0" y="connsiteY0"/>
              </a:cxn>
              <a:cxn ang="0">
                <a:pos x="connsiteX1" y="connsiteY1"/>
              </a:cxn>
              <a:cxn ang="0">
                <a:pos x="connsiteX2" y="connsiteY2"/>
              </a:cxn>
              <a:cxn ang="0">
                <a:pos x="connsiteX3" y="connsiteY3"/>
              </a:cxn>
            </a:cxnLst>
            <a:rect l="l" t="t" r="r" b="b"/>
            <a:pathLst>
              <a:path w="12192000" h="4465674">
                <a:moveTo>
                  <a:pt x="0" y="0"/>
                </a:moveTo>
                <a:lnTo>
                  <a:pt x="12192000" y="0"/>
                </a:lnTo>
                <a:lnTo>
                  <a:pt x="12192000" y="4465674"/>
                </a:lnTo>
                <a:lnTo>
                  <a:pt x="0" y="4465674"/>
                </a:lnTo>
                <a:close/>
              </a:path>
            </a:pathLst>
          </a:custGeom>
          <a:solidFill>
            <a:schemeClr val="bg1">
              <a:lumMod val="85000"/>
              <a:alpha val="26000"/>
            </a:schemeClr>
          </a:solidFill>
        </p:spPr>
        <p:txBody>
          <a:bodyPr wrap="square">
            <a:noAutofit/>
          </a:bodyPr>
          <a:lstStyle>
            <a:lvl1pPr>
              <a:defRPr lang="id-ID"/>
            </a:lvl1pPr>
          </a:lstStyle>
          <a:p>
            <a:pPr lvl="0"/>
            <a:endParaRPr lang="id-ID"/>
          </a:p>
        </p:txBody>
      </p:sp>
    </p:spTree>
    <p:extLst>
      <p:ext uri="{BB962C8B-B14F-4D97-AF65-F5344CB8AC3E}">
        <p14:creationId xmlns:p14="http://schemas.microsoft.com/office/powerpoint/2010/main" val="1614769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05EFA989-0851-3850-E467-531CE6E9B3FC}"/>
              </a:ext>
            </a:extLst>
          </p:cNvPr>
          <p:cNvSpPr>
            <a:spLocks noGrp="1"/>
          </p:cNvSpPr>
          <p:nvPr>
            <p:ph type="pic" sz="quarter" idx="10"/>
          </p:nvPr>
        </p:nvSpPr>
        <p:spPr>
          <a:xfrm>
            <a:off x="769620" y="1539596"/>
            <a:ext cx="2682240" cy="4692669"/>
          </a:xfrm>
          <a:custGeom>
            <a:avLst/>
            <a:gdLst>
              <a:gd name="connsiteX0" fmla="*/ 0 w 2412754"/>
              <a:gd name="connsiteY0" fmla="*/ 0 h 4392038"/>
              <a:gd name="connsiteX1" fmla="*/ 2412754 w 2412754"/>
              <a:gd name="connsiteY1" fmla="*/ 0 h 4392038"/>
              <a:gd name="connsiteX2" fmla="*/ 2412754 w 2412754"/>
              <a:gd name="connsiteY2" fmla="*/ 4392038 h 4392038"/>
              <a:gd name="connsiteX3" fmla="*/ 0 w 2412754"/>
              <a:gd name="connsiteY3" fmla="*/ 4392038 h 4392038"/>
            </a:gdLst>
            <a:ahLst/>
            <a:cxnLst>
              <a:cxn ang="0">
                <a:pos x="connsiteX0" y="connsiteY0"/>
              </a:cxn>
              <a:cxn ang="0">
                <a:pos x="connsiteX1" y="connsiteY1"/>
              </a:cxn>
              <a:cxn ang="0">
                <a:pos x="connsiteX2" y="connsiteY2"/>
              </a:cxn>
              <a:cxn ang="0">
                <a:pos x="connsiteX3" y="connsiteY3"/>
              </a:cxn>
            </a:cxnLst>
            <a:rect l="l" t="t" r="r" b="b"/>
            <a:pathLst>
              <a:path w="2412754" h="4392038">
                <a:moveTo>
                  <a:pt x="0" y="0"/>
                </a:moveTo>
                <a:lnTo>
                  <a:pt x="2412754" y="0"/>
                </a:lnTo>
                <a:lnTo>
                  <a:pt x="2412754" y="4392038"/>
                </a:lnTo>
                <a:lnTo>
                  <a:pt x="0" y="4392038"/>
                </a:lnTo>
                <a:close/>
              </a:path>
            </a:pathLst>
          </a:custGeom>
        </p:spPr>
        <p:txBody>
          <a:bodyPr wrap="square">
            <a:noAutofit/>
          </a:bodyPr>
          <a:lstStyle/>
          <a:p>
            <a:endParaRPr lang="id-ID"/>
          </a:p>
        </p:txBody>
      </p:sp>
      <p:sp>
        <p:nvSpPr>
          <p:cNvPr id="5" name="Picture Placeholder 7">
            <a:extLst>
              <a:ext uri="{FF2B5EF4-FFF2-40B4-BE49-F238E27FC236}">
                <a16:creationId xmlns:a16="http://schemas.microsoft.com/office/drawing/2014/main" id="{F0959643-C8E2-A67F-C8FA-127336CC3B4E}"/>
              </a:ext>
            </a:extLst>
          </p:cNvPr>
          <p:cNvSpPr>
            <a:spLocks noGrp="1"/>
          </p:cNvSpPr>
          <p:nvPr>
            <p:ph type="pic" sz="quarter" idx="11"/>
          </p:nvPr>
        </p:nvSpPr>
        <p:spPr>
          <a:xfrm>
            <a:off x="8848817" y="1536222"/>
            <a:ext cx="2551726" cy="4692669"/>
          </a:xfrm>
          <a:custGeom>
            <a:avLst/>
            <a:gdLst>
              <a:gd name="connsiteX0" fmla="*/ 0 w 2383577"/>
              <a:gd name="connsiteY0" fmla="*/ 0 h 4392038"/>
              <a:gd name="connsiteX1" fmla="*/ 2383577 w 2383577"/>
              <a:gd name="connsiteY1" fmla="*/ 0 h 4392038"/>
              <a:gd name="connsiteX2" fmla="*/ 2383577 w 2383577"/>
              <a:gd name="connsiteY2" fmla="*/ 4392038 h 4392038"/>
              <a:gd name="connsiteX3" fmla="*/ 0 w 2383577"/>
              <a:gd name="connsiteY3" fmla="*/ 4392038 h 4392038"/>
            </a:gdLst>
            <a:ahLst/>
            <a:cxnLst>
              <a:cxn ang="0">
                <a:pos x="connsiteX0" y="connsiteY0"/>
              </a:cxn>
              <a:cxn ang="0">
                <a:pos x="connsiteX1" y="connsiteY1"/>
              </a:cxn>
              <a:cxn ang="0">
                <a:pos x="connsiteX2" y="connsiteY2"/>
              </a:cxn>
              <a:cxn ang="0">
                <a:pos x="connsiteX3" y="connsiteY3"/>
              </a:cxn>
            </a:cxnLst>
            <a:rect l="l" t="t" r="r" b="b"/>
            <a:pathLst>
              <a:path w="2383577" h="4392038">
                <a:moveTo>
                  <a:pt x="0" y="0"/>
                </a:moveTo>
                <a:lnTo>
                  <a:pt x="2383577" y="0"/>
                </a:lnTo>
                <a:lnTo>
                  <a:pt x="2383577" y="4392038"/>
                </a:lnTo>
                <a:lnTo>
                  <a:pt x="0" y="4392038"/>
                </a:lnTo>
                <a:close/>
              </a:path>
            </a:pathLst>
          </a:custGeom>
        </p:spPr>
        <p:txBody>
          <a:bodyPr wrap="square">
            <a:noAutofit/>
          </a:bodyPr>
          <a:lstStyle/>
          <a:p>
            <a:endParaRPr lang="id-ID"/>
          </a:p>
        </p:txBody>
      </p:sp>
    </p:spTree>
    <p:extLst>
      <p:ext uri="{BB962C8B-B14F-4D97-AF65-F5344CB8AC3E}">
        <p14:creationId xmlns:p14="http://schemas.microsoft.com/office/powerpoint/2010/main" val="4077158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DE9582B-AF88-F916-D913-BA4832DE8895}"/>
              </a:ext>
            </a:extLst>
          </p:cNvPr>
          <p:cNvSpPr>
            <a:spLocks noGrp="1"/>
          </p:cNvSpPr>
          <p:nvPr>
            <p:ph type="pic" sz="quarter" idx="10"/>
          </p:nvPr>
        </p:nvSpPr>
        <p:spPr>
          <a:xfrm rot="20955879">
            <a:off x="1933751" y="1210482"/>
            <a:ext cx="3128443" cy="6449145"/>
          </a:xfrm>
          <a:custGeom>
            <a:avLst/>
            <a:gdLst>
              <a:gd name="connsiteX0" fmla="*/ 2824955 w 3128443"/>
              <a:gd name="connsiteY0" fmla="*/ 0 h 6449145"/>
              <a:gd name="connsiteX1" fmla="*/ 3117290 w 3128443"/>
              <a:gd name="connsiteY1" fmla="*/ 277141 h 6449145"/>
              <a:gd name="connsiteX2" fmla="*/ 3128443 w 3128443"/>
              <a:gd name="connsiteY2" fmla="*/ 6166100 h 6449145"/>
              <a:gd name="connsiteX3" fmla="*/ 2837160 w 3128443"/>
              <a:gd name="connsiteY3" fmla="*/ 6444346 h 6449145"/>
              <a:gd name="connsiteX4" fmla="*/ 303489 w 3128443"/>
              <a:gd name="connsiteY4" fmla="*/ 6449145 h 6449145"/>
              <a:gd name="connsiteX5" fmla="*/ 11153 w 3128443"/>
              <a:gd name="connsiteY5" fmla="*/ 6172004 h 6449145"/>
              <a:gd name="connsiteX6" fmla="*/ 0 w 3128443"/>
              <a:gd name="connsiteY6" fmla="*/ 283045 h 6449145"/>
              <a:gd name="connsiteX7" fmla="*/ 291284 w 3128443"/>
              <a:gd name="connsiteY7" fmla="*/ 4798 h 6449145"/>
              <a:gd name="connsiteX8" fmla="*/ 690890 w 3128443"/>
              <a:gd name="connsiteY8" fmla="*/ 4042 h 6449145"/>
              <a:gd name="connsiteX9" fmla="*/ 691099 w 3128443"/>
              <a:gd name="connsiteY9" fmla="*/ 114584 h 6449145"/>
              <a:gd name="connsiteX10" fmla="*/ 824086 w 3128443"/>
              <a:gd name="connsiteY10" fmla="*/ 240660 h 6449145"/>
              <a:gd name="connsiteX11" fmla="*/ 2289099 w 3128443"/>
              <a:gd name="connsiteY11" fmla="*/ 237886 h 6449145"/>
              <a:gd name="connsiteX12" fmla="*/ 2421609 w 3128443"/>
              <a:gd name="connsiteY12" fmla="*/ 111307 h 6449145"/>
              <a:gd name="connsiteX13" fmla="*/ 2421399 w 3128443"/>
              <a:gd name="connsiteY13" fmla="*/ 764 h 644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8443" h="6449145">
                <a:moveTo>
                  <a:pt x="2824955" y="0"/>
                </a:moveTo>
                <a:cubicBezTo>
                  <a:pt x="2986116" y="-305"/>
                  <a:pt x="3117000" y="123776"/>
                  <a:pt x="3117290" y="277141"/>
                </a:cubicBezTo>
                <a:lnTo>
                  <a:pt x="3128443" y="6166100"/>
                </a:lnTo>
                <a:cubicBezTo>
                  <a:pt x="3128734" y="6319467"/>
                  <a:pt x="2998322" y="6444041"/>
                  <a:pt x="2837160" y="6444346"/>
                </a:cubicBezTo>
                <a:lnTo>
                  <a:pt x="303489" y="6449145"/>
                </a:lnTo>
                <a:cubicBezTo>
                  <a:pt x="142326" y="6449450"/>
                  <a:pt x="11444" y="6325371"/>
                  <a:pt x="11153" y="6172004"/>
                </a:cubicBezTo>
                <a:lnTo>
                  <a:pt x="0" y="283045"/>
                </a:lnTo>
                <a:cubicBezTo>
                  <a:pt x="-291" y="129680"/>
                  <a:pt x="130121" y="5104"/>
                  <a:pt x="291284" y="4798"/>
                </a:cubicBezTo>
                <a:lnTo>
                  <a:pt x="690890" y="4042"/>
                </a:lnTo>
                <a:lnTo>
                  <a:pt x="691099" y="114584"/>
                </a:lnTo>
                <a:cubicBezTo>
                  <a:pt x="691232" y="184352"/>
                  <a:pt x="750773" y="240799"/>
                  <a:pt x="824086" y="240660"/>
                </a:cubicBezTo>
                <a:lnTo>
                  <a:pt x="2289099" y="237886"/>
                </a:lnTo>
                <a:cubicBezTo>
                  <a:pt x="2362414" y="237747"/>
                  <a:pt x="2421741" y="181075"/>
                  <a:pt x="2421609" y="111307"/>
                </a:cubicBezTo>
                <a:lnTo>
                  <a:pt x="2421399" y="764"/>
                </a:lnTo>
                <a:close/>
              </a:path>
            </a:pathLst>
          </a:custGeom>
        </p:spPr>
        <p:txBody>
          <a:bodyPr wrap="square">
            <a:noAutofit/>
          </a:bodyPr>
          <a:lstStyle/>
          <a:p>
            <a:endParaRPr lang="id-ID"/>
          </a:p>
        </p:txBody>
      </p:sp>
    </p:spTree>
    <p:extLst>
      <p:ext uri="{BB962C8B-B14F-4D97-AF65-F5344CB8AC3E}">
        <p14:creationId xmlns:p14="http://schemas.microsoft.com/office/powerpoint/2010/main" val="2759753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4AFAE8-D2C6-7F10-0801-C034C977A65A}"/>
              </a:ext>
            </a:extLst>
          </p:cNvPr>
          <p:cNvSpPr>
            <a:spLocks noGrp="1"/>
          </p:cNvSpPr>
          <p:nvPr>
            <p:ph type="pic" sz="quarter" idx="10"/>
          </p:nvPr>
        </p:nvSpPr>
        <p:spPr>
          <a:xfrm>
            <a:off x="4495800" y="807720"/>
            <a:ext cx="3627120" cy="6050280"/>
          </a:xfrm>
          <a:custGeom>
            <a:avLst/>
            <a:gdLst>
              <a:gd name="connsiteX0" fmla="*/ 0 w 3627120"/>
              <a:gd name="connsiteY0" fmla="*/ 0 h 6050280"/>
              <a:gd name="connsiteX1" fmla="*/ 3627120 w 3627120"/>
              <a:gd name="connsiteY1" fmla="*/ 0 h 6050280"/>
              <a:gd name="connsiteX2" fmla="*/ 3627120 w 3627120"/>
              <a:gd name="connsiteY2" fmla="*/ 6050280 h 6050280"/>
              <a:gd name="connsiteX3" fmla="*/ 0 w 3627120"/>
              <a:gd name="connsiteY3" fmla="*/ 6050280 h 6050280"/>
            </a:gdLst>
            <a:ahLst/>
            <a:cxnLst>
              <a:cxn ang="0">
                <a:pos x="connsiteX0" y="connsiteY0"/>
              </a:cxn>
              <a:cxn ang="0">
                <a:pos x="connsiteX1" y="connsiteY1"/>
              </a:cxn>
              <a:cxn ang="0">
                <a:pos x="connsiteX2" y="connsiteY2"/>
              </a:cxn>
              <a:cxn ang="0">
                <a:pos x="connsiteX3" y="connsiteY3"/>
              </a:cxn>
            </a:cxnLst>
            <a:rect l="l" t="t" r="r" b="b"/>
            <a:pathLst>
              <a:path w="3627120" h="6050280">
                <a:moveTo>
                  <a:pt x="0" y="0"/>
                </a:moveTo>
                <a:lnTo>
                  <a:pt x="3627120" y="0"/>
                </a:lnTo>
                <a:lnTo>
                  <a:pt x="3627120" y="6050280"/>
                </a:lnTo>
                <a:lnTo>
                  <a:pt x="0" y="6050280"/>
                </a:lnTo>
                <a:close/>
              </a:path>
            </a:pathLst>
          </a:custGeom>
        </p:spPr>
        <p:txBody>
          <a:bodyPr wrap="square">
            <a:noAutofit/>
          </a:bodyPr>
          <a:lstStyle/>
          <a:p>
            <a:endParaRPr lang="id-ID"/>
          </a:p>
        </p:txBody>
      </p:sp>
    </p:spTree>
    <p:extLst>
      <p:ext uri="{BB962C8B-B14F-4D97-AF65-F5344CB8AC3E}">
        <p14:creationId xmlns:p14="http://schemas.microsoft.com/office/powerpoint/2010/main" val="32408590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86"/>
        <p:cNvGrpSpPr/>
        <p:nvPr/>
      </p:nvGrpSpPr>
      <p:grpSpPr>
        <a:xfrm>
          <a:off x="0" y="0"/>
          <a:ext cx="0" cy="0"/>
          <a:chOff x="0" y="0"/>
          <a:chExt cx="0" cy="0"/>
        </a:xfrm>
      </p:grpSpPr>
      <p:sp>
        <p:nvSpPr>
          <p:cNvPr id="87" name="Google Shape;87;p9"/>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dirty="0"/>
          </a:p>
        </p:txBody>
      </p:sp>
      <p:grpSp>
        <p:nvGrpSpPr>
          <p:cNvPr id="88" name="Google Shape;88;p9"/>
          <p:cNvGrpSpPr/>
          <p:nvPr/>
        </p:nvGrpSpPr>
        <p:grpSpPr>
          <a:xfrm>
            <a:off x="1107190" y="1588342"/>
            <a:ext cx="994351" cy="61101"/>
            <a:chOff x="4580561" y="2589004"/>
            <a:chExt cx="1064464" cy="25200"/>
          </a:xfrm>
        </p:grpSpPr>
        <p:sp>
          <p:nvSpPr>
            <p:cNvPr id="89" name="Google Shape;89;p9"/>
            <p:cNvSpPr/>
            <p:nvPr/>
          </p:nvSpPr>
          <p:spPr>
            <a:xfrm rot="-5400000">
              <a:off x="5366325" y="2335504"/>
              <a:ext cx="25200" cy="532200"/>
            </a:xfrm>
            <a:prstGeom prst="rect">
              <a:avLst/>
            </a:prstGeom>
            <a:solidFill>
              <a:srgbClr val="DC241F"/>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2400" dirty="0"/>
            </a:p>
          </p:txBody>
        </p:sp>
        <p:sp>
          <p:nvSpPr>
            <p:cNvPr id="90" name="Google Shape;90;p9"/>
            <p:cNvSpPr/>
            <p:nvPr/>
          </p:nvSpPr>
          <p:spPr>
            <a:xfrm rot="-5400000">
              <a:off x="4836311" y="2333254"/>
              <a:ext cx="25200" cy="536700"/>
            </a:xfrm>
            <a:prstGeom prst="rect">
              <a:avLst/>
            </a:prstGeom>
            <a:solidFill>
              <a:srgbClr val="0060AC"/>
            </a:solidFill>
            <a:ln>
              <a:noFill/>
            </a:ln>
          </p:spPr>
          <p:txBody>
            <a:bodyPr spcFirstLastPara="1" wrap="square" lIns="91425" tIns="91425" rIns="91425" bIns="91425" anchor="ctr" anchorCtr="0">
              <a:noAutofit/>
            </a:bodyPr>
            <a:lstStyle/>
            <a:p>
              <a:pPr marL="0" lvl="0" indent="0">
                <a:spcBef>
                  <a:spcPts val="0"/>
                </a:spcBef>
                <a:spcAft>
                  <a:spcPts val="0"/>
                </a:spcAft>
                <a:buNone/>
              </a:pPr>
              <a:endParaRPr sz="2400" dirty="0"/>
            </a:p>
          </p:txBody>
        </p:sp>
      </p:grpSp>
      <p:sp>
        <p:nvSpPr>
          <p:cNvPr id="91" name="Google Shape;91;p9"/>
          <p:cNvSpPr txBox="1">
            <a:spLocks noGrp="1"/>
          </p:cNvSpPr>
          <p:nvPr>
            <p:ph type="title"/>
          </p:nvPr>
        </p:nvSpPr>
        <p:spPr>
          <a:xfrm>
            <a:off x="972600" y="1758200"/>
            <a:ext cx="10251200" cy="713600"/>
          </a:xfrm>
          <a:prstGeom prst="rect">
            <a:avLst/>
          </a:prstGeom>
        </p:spPr>
        <p:txBody>
          <a:bodyPr spcFirstLastPara="1" wrap="square" lIns="91425" tIns="91425" rIns="91425" bIns="91425" anchor="t" anchorCtr="0"/>
          <a:lstStyle>
            <a:lvl1pPr lvl="0">
              <a:spcBef>
                <a:spcPts val="0"/>
              </a:spcBef>
              <a:spcAft>
                <a:spcPts val="0"/>
              </a:spcAft>
              <a:buClr>
                <a:schemeClr val="dk2"/>
              </a:buClr>
              <a:buSzPts val="2600"/>
              <a:buNone/>
              <a:defRPr sz="3467">
                <a:solidFill>
                  <a:schemeClr val="dk2"/>
                </a:solidFill>
              </a:defRPr>
            </a:lvl1pPr>
            <a:lvl2pPr lvl="1">
              <a:spcBef>
                <a:spcPts val="0"/>
              </a:spcBef>
              <a:spcAft>
                <a:spcPts val="0"/>
              </a:spcAft>
              <a:buClr>
                <a:schemeClr val="dk2"/>
              </a:buClr>
              <a:buSzPts val="2600"/>
              <a:buNone/>
              <a:defRPr sz="3467">
                <a:solidFill>
                  <a:schemeClr val="dk2"/>
                </a:solidFill>
              </a:defRPr>
            </a:lvl2pPr>
            <a:lvl3pPr lvl="2">
              <a:spcBef>
                <a:spcPts val="0"/>
              </a:spcBef>
              <a:spcAft>
                <a:spcPts val="0"/>
              </a:spcAft>
              <a:buClr>
                <a:schemeClr val="dk2"/>
              </a:buClr>
              <a:buSzPts val="2600"/>
              <a:buNone/>
              <a:defRPr sz="3467">
                <a:solidFill>
                  <a:schemeClr val="dk2"/>
                </a:solidFill>
              </a:defRPr>
            </a:lvl3pPr>
            <a:lvl4pPr lvl="3">
              <a:spcBef>
                <a:spcPts val="0"/>
              </a:spcBef>
              <a:spcAft>
                <a:spcPts val="0"/>
              </a:spcAft>
              <a:buClr>
                <a:schemeClr val="dk2"/>
              </a:buClr>
              <a:buSzPts val="2600"/>
              <a:buNone/>
              <a:defRPr sz="3467">
                <a:solidFill>
                  <a:schemeClr val="dk2"/>
                </a:solidFill>
              </a:defRPr>
            </a:lvl4pPr>
            <a:lvl5pPr lvl="4">
              <a:spcBef>
                <a:spcPts val="0"/>
              </a:spcBef>
              <a:spcAft>
                <a:spcPts val="0"/>
              </a:spcAft>
              <a:buClr>
                <a:schemeClr val="dk2"/>
              </a:buClr>
              <a:buSzPts val="2600"/>
              <a:buNone/>
              <a:defRPr sz="3467">
                <a:solidFill>
                  <a:schemeClr val="dk2"/>
                </a:solidFill>
              </a:defRPr>
            </a:lvl5pPr>
            <a:lvl6pPr lvl="5">
              <a:spcBef>
                <a:spcPts val="0"/>
              </a:spcBef>
              <a:spcAft>
                <a:spcPts val="0"/>
              </a:spcAft>
              <a:buClr>
                <a:schemeClr val="dk2"/>
              </a:buClr>
              <a:buSzPts val="2600"/>
              <a:buNone/>
              <a:defRPr sz="3467">
                <a:solidFill>
                  <a:schemeClr val="dk2"/>
                </a:solidFill>
              </a:defRPr>
            </a:lvl6pPr>
            <a:lvl7pPr lvl="6">
              <a:spcBef>
                <a:spcPts val="0"/>
              </a:spcBef>
              <a:spcAft>
                <a:spcPts val="0"/>
              </a:spcAft>
              <a:buClr>
                <a:schemeClr val="dk2"/>
              </a:buClr>
              <a:buSzPts val="2600"/>
              <a:buNone/>
              <a:defRPr sz="3467">
                <a:solidFill>
                  <a:schemeClr val="dk2"/>
                </a:solidFill>
              </a:defRPr>
            </a:lvl7pPr>
            <a:lvl8pPr lvl="7">
              <a:spcBef>
                <a:spcPts val="0"/>
              </a:spcBef>
              <a:spcAft>
                <a:spcPts val="0"/>
              </a:spcAft>
              <a:buClr>
                <a:schemeClr val="dk2"/>
              </a:buClr>
              <a:buSzPts val="2600"/>
              <a:buNone/>
              <a:defRPr sz="3467">
                <a:solidFill>
                  <a:schemeClr val="dk2"/>
                </a:solidFill>
              </a:defRPr>
            </a:lvl8pPr>
            <a:lvl9pPr lvl="8">
              <a:spcBef>
                <a:spcPts val="0"/>
              </a:spcBef>
              <a:spcAft>
                <a:spcPts val="0"/>
              </a:spcAft>
              <a:buClr>
                <a:schemeClr val="dk2"/>
              </a:buClr>
              <a:buSzPts val="2600"/>
              <a:buNone/>
              <a:defRPr sz="3467">
                <a:solidFill>
                  <a:schemeClr val="dk2"/>
                </a:solidFill>
              </a:defRPr>
            </a:lvl9pPr>
          </a:lstStyle>
          <a:p>
            <a:endParaRPr/>
          </a:p>
        </p:txBody>
      </p:sp>
      <p:sp>
        <p:nvSpPr>
          <p:cNvPr id="92" name="Google Shape;92;p9"/>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dirty="0"/>
          </a:p>
        </p:txBody>
      </p:sp>
      <p:sp>
        <p:nvSpPr>
          <p:cNvPr id="93" name="Google Shape;93;p9">
            <a:hlinkClick r:id="" action="ppaction://noaction"/>
          </p:cNvPr>
          <p:cNvSpPr/>
          <p:nvPr/>
        </p:nvSpPr>
        <p:spPr>
          <a:xfrm>
            <a:off x="11040600" y="0"/>
            <a:ext cx="1151200" cy="605600"/>
          </a:xfrm>
          <a:prstGeom prst="rect">
            <a:avLst/>
          </a:prstGeom>
          <a:solidFill>
            <a:schemeClr val="lt2"/>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dirty="0"/>
          </a:p>
        </p:txBody>
      </p:sp>
      <p:cxnSp>
        <p:nvCxnSpPr>
          <p:cNvPr id="94" name="Google Shape;94;p9">
            <a:hlinkClick r:id="" action="ppaction://noaction"/>
          </p:cNvPr>
          <p:cNvCxnSpPr/>
          <p:nvPr/>
        </p:nvCxnSpPr>
        <p:spPr>
          <a:xfrm>
            <a:off x="11465089" y="28846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95" name="Google Shape;95;p9">
            <a:hlinkClick r:id="" action="ppaction://noaction"/>
          </p:cNvPr>
          <p:cNvCxnSpPr/>
          <p:nvPr/>
        </p:nvCxnSpPr>
        <p:spPr>
          <a:xfrm>
            <a:off x="11465089" y="333517"/>
            <a:ext cx="288400" cy="0"/>
          </a:xfrm>
          <a:prstGeom prst="straightConnector1">
            <a:avLst/>
          </a:prstGeom>
          <a:noFill/>
          <a:ln w="9525" cap="flat" cmpd="sng">
            <a:solidFill>
              <a:srgbClr val="B7B7B7"/>
            </a:solidFill>
            <a:prstDash val="solid"/>
            <a:round/>
            <a:headEnd type="none" w="med" len="med"/>
            <a:tailEnd type="none" w="med" len="med"/>
          </a:ln>
        </p:spPr>
      </p:cxnSp>
      <p:cxnSp>
        <p:nvCxnSpPr>
          <p:cNvPr id="96" name="Google Shape;96;p9">
            <a:hlinkClick r:id="" action="ppaction://noaction"/>
          </p:cNvPr>
          <p:cNvCxnSpPr/>
          <p:nvPr/>
        </p:nvCxnSpPr>
        <p:spPr>
          <a:xfrm>
            <a:off x="11465089" y="378567"/>
            <a:ext cx="288400" cy="0"/>
          </a:xfrm>
          <a:prstGeom prst="straightConnector1">
            <a:avLst/>
          </a:prstGeom>
          <a:noFill/>
          <a:ln w="9525" cap="flat" cmpd="sng">
            <a:solidFill>
              <a:srgbClr val="B7B7B7"/>
            </a:solidFill>
            <a:prstDash val="solid"/>
            <a:round/>
            <a:headEnd type="none" w="med" len="med"/>
            <a:tailEnd type="none" w="med" len="med"/>
          </a:ln>
        </p:spPr>
      </p:cxnSp>
    </p:spTree>
    <p:extLst>
      <p:ext uri="{BB962C8B-B14F-4D97-AF65-F5344CB8AC3E}">
        <p14:creationId xmlns:p14="http://schemas.microsoft.com/office/powerpoint/2010/main" val="7889361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063209"/>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Problem-Solving</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2024.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5" name="Slide Number Placeholder 5">
            <a:extLst>
              <a:ext uri="{FF2B5EF4-FFF2-40B4-BE49-F238E27FC236}">
                <a16:creationId xmlns:a16="http://schemas.microsoft.com/office/drawing/2014/main" id="{1099632B-E122-EDE0-0BAF-755FD08A2404}"/>
              </a:ext>
            </a:extLst>
          </p:cNvPr>
          <p:cNvSpPr txBox="1">
            <a:spLocks/>
          </p:cNvSpPr>
          <p:nvPr userDrawn="1"/>
        </p:nvSpPr>
        <p:spPr>
          <a:xfrm>
            <a:off x="8595078" y="633314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tx1">
                <a:lumMod val="85000"/>
                <a:lumOff val="15000"/>
              </a:schemeClr>
            </a:gs>
            <a:gs pos="100000">
              <a:schemeClr val="tx1">
                <a:lumMod val="95000"/>
                <a:lumOff val="5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19A990-2B52-5BAB-8757-AD6B6B3EDBCD}"/>
              </a:ext>
            </a:extLst>
          </p:cNvPr>
          <p:cNvSpPr txBox="1"/>
          <p:nvPr userDrawn="1"/>
        </p:nvSpPr>
        <p:spPr>
          <a:xfrm>
            <a:off x="11048974" y="6440334"/>
            <a:ext cx="842745" cy="261610"/>
          </a:xfrm>
          <a:prstGeom prst="rect">
            <a:avLst/>
          </a:prstGeom>
          <a:noFill/>
        </p:spPr>
        <p:txBody>
          <a:bodyPr wrap="square" rtlCol="0" anchor="b">
            <a:spAutoFit/>
          </a:bodyPr>
          <a:lstStyle/>
          <a:p>
            <a:pPr algn="r"/>
            <a:fld id="{260E2A6B-A809-4840-BF14-8648BC0BDF87}" type="slidenum">
              <a:rPr lang="id-ID" sz="1050" i="0" smtClean="0">
                <a:solidFill>
                  <a:schemeClr val="accent1"/>
                </a:solidFill>
                <a:latin typeface="+mj-lt"/>
                <a:ea typeface="Open Sans" panose="020B0606030504020204" pitchFamily="34" charset="0"/>
                <a:cs typeface="Open Sans" panose="020B0606030504020204" pitchFamily="34" charset="0"/>
              </a:rPr>
              <a:pPr algn="r"/>
              <a:t>‹#›</a:t>
            </a:fld>
            <a:endParaRPr lang="id-ID" sz="1050" i="0" dirty="0">
              <a:solidFill>
                <a:schemeClr val="accent1"/>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4704465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12">
          <p15:clr>
            <a:srgbClr val="F26B43"/>
          </p15:clr>
        </p15:guide>
        <p15:guide id="3" pos="7368">
          <p15:clr>
            <a:srgbClr val="F26B43"/>
          </p15:clr>
        </p15:guide>
        <p15:guide id="4" orient="horz" pos="40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images.motortrend.com/features/consumer/112_0702_2007_power_list_01z+Fujio_Cho+Toyota_Motor_Corporation_chairman2.jpg" TargetMode="External"/><Relationship Id="rId1" Type="http://schemas.openxmlformats.org/officeDocument/2006/relationships/slideLayout" Target="../slideLayouts/slideLayout22.xml"/><Relationship Id="rId6" Type="http://schemas.openxmlformats.org/officeDocument/2006/relationships/image" Target="../media/image11.jpeg"/><Relationship Id="rId5" Type="http://schemas.microsoft.com/office/2007/relationships/hdphoto" Target="../media/hdphoto1.wdp"/><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1010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Excel_Worksheet.xlsx"/><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package" Target="../embeddings/Microsoft_Excel_Worksheet1.xlsx"/><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package" Target="../embeddings/Microsoft_Excel_Worksheet2.xlsx"/><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3.xlsx"/><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3.xlsx"/><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package" Target="../embeddings/Microsoft_Excel_Worksheet4.xlsx"/><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5.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3" Type="http://schemas.microsoft.com/office/2014/relationships/chartEx" Target="../charts/chartEx3.xml"/><Relationship Id="rId2" Type="http://schemas.openxmlformats.org/officeDocument/2006/relationships/notesSlide" Target="../notesSlides/notesSlide106.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7.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5.xml"/><Relationship Id="rId1" Type="http://schemas.openxmlformats.org/officeDocument/2006/relationships/slideLayout" Target="../slideLayouts/slideLayout1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Problem-Solving</a:t>
            </a:r>
          </a:p>
        </p:txBody>
      </p:sp>
      <p:sp>
        <p:nvSpPr>
          <p:cNvPr id="2" name="Subtitle 2">
            <a:extLst>
              <a:ext uri="{FF2B5EF4-FFF2-40B4-BE49-F238E27FC236}">
                <a16:creationId xmlns:a16="http://schemas.microsoft.com/office/drawing/2014/main" id="{EDDFCB8E-50DB-9E20-EE16-7DD24F1FD356}"/>
              </a:ext>
            </a:extLst>
          </p:cNvPr>
          <p:cNvSpPr txBox="1">
            <a:spLocks/>
          </p:cNvSpPr>
          <p:nvPr/>
        </p:nvSpPr>
        <p:spPr>
          <a:xfrm>
            <a:off x="1524000" y="4953466"/>
            <a:ext cx="9144000" cy="4021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Root Cause Analysis and Countermeasure Development</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Problem-Solving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To provide you with the opportunity to apply problem-solving tools and processes that determine root cause and that are necessary to support continually improving processes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a:t>
            </a:fld>
            <a:endParaRPr lang="en-US"/>
          </a:p>
        </p:txBody>
      </p:sp>
      <p:sp>
        <p:nvSpPr>
          <p:cNvPr id="12" name="AutoShape 9">
            <a:extLst>
              <a:ext uri="{FF2B5EF4-FFF2-40B4-BE49-F238E27FC236}">
                <a16:creationId xmlns:a16="http://schemas.microsoft.com/office/drawing/2014/main" id="{F6B3E657-DE38-DCE6-00F7-A0232FBE7268}"/>
              </a:ext>
            </a:extLst>
          </p:cNvPr>
          <p:cNvSpPr>
            <a:spLocks noChangeArrowheads="1"/>
          </p:cNvSpPr>
          <p:nvPr/>
        </p:nvSpPr>
        <p:spPr bwMode="auto">
          <a:xfrm>
            <a:off x="8538459" y="3969623"/>
            <a:ext cx="2962656" cy="126159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sp>
        <p:nvSpPr>
          <p:cNvPr id="15" name="AutoShape 9">
            <a:extLst>
              <a:ext uri="{FF2B5EF4-FFF2-40B4-BE49-F238E27FC236}">
                <a16:creationId xmlns:a16="http://schemas.microsoft.com/office/drawing/2014/main" id="{8DB01D45-EE2F-8DFA-08F7-27079135B743}"/>
              </a:ext>
            </a:extLst>
          </p:cNvPr>
          <p:cNvSpPr>
            <a:spLocks noChangeArrowheads="1"/>
          </p:cNvSpPr>
          <p:nvPr/>
        </p:nvSpPr>
        <p:spPr bwMode="auto">
          <a:xfrm>
            <a:off x="5972481" y="3969623"/>
            <a:ext cx="2962656" cy="126159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Problem </a:t>
            </a:r>
          </a:p>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Solving Process</a:t>
            </a:r>
          </a:p>
        </p:txBody>
      </p:sp>
      <p:sp>
        <p:nvSpPr>
          <p:cNvPr id="16" name="AutoShape 10">
            <a:extLst>
              <a:ext uri="{FF2B5EF4-FFF2-40B4-BE49-F238E27FC236}">
                <a16:creationId xmlns:a16="http://schemas.microsoft.com/office/drawing/2014/main" id="{9E9A3D49-7AB3-DD9F-1555-1C0F85108AC5}"/>
              </a:ext>
            </a:extLst>
          </p:cNvPr>
          <p:cNvSpPr>
            <a:spLocks noChangeArrowheads="1"/>
          </p:cNvSpPr>
          <p:nvPr/>
        </p:nvSpPr>
        <p:spPr bwMode="auto">
          <a:xfrm>
            <a:off x="3404178" y="3969625"/>
            <a:ext cx="2962656" cy="1261594"/>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Problem </a:t>
            </a:r>
          </a:p>
          <a:p>
            <a:pPr algn="ctr">
              <a:lnSpc>
                <a:spcPct val="80000"/>
              </a:lnSpc>
              <a:spcBef>
                <a:spcPct val="20000"/>
              </a:spcBef>
              <a:spcAft>
                <a:spcPct val="0"/>
              </a:spcAft>
              <a:buClrTx/>
              <a:buSzTx/>
              <a:buFont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Solving Tools</a:t>
            </a:r>
          </a:p>
        </p:txBody>
      </p:sp>
      <p:sp>
        <p:nvSpPr>
          <p:cNvPr id="17" name="AutoShape 11">
            <a:extLst>
              <a:ext uri="{FF2B5EF4-FFF2-40B4-BE49-F238E27FC236}">
                <a16:creationId xmlns:a16="http://schemas.microsoft.com/office/drawing/2014/main" id="{3FF7B6B0-E1C8-A052-ACC8-2F91AAF66750}"/>
              </a:ext>
            </a:extLst>
          </p:cNvPr>
          <p:cNvSpPr>
            <a:spLocks noChangeArrowheads="1"/>
          </p:cNvSpPr>
          <p:nvPr/>
        </p:nvSpPr>
        <p:spPr bwMode="auto">
          <a:xfrm>
            <a:off x="838201" y="3969623"/>
            <a:ext cx="2959894" cy="126159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a:t>
            </a:r>
          </a:p>
          <a:p>
            <a:pPr algn="ctr">
              <a:lnSpc>
                <a:spcPct val="80000"/>
              </a:lnSpc>
              <a:spcBef>
                <a:spcPct val="20000"/>
              </a:spcBef>
              <a:spcAft>
                <a:spcPct val="0"/>
              </a:spcAft>
              <a:buClrTx/>
              <a:buSzTx/>
              <a:buNone/>
            </a:pPr>
            <a:r>
              <a:rPr lang="en-US"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Problem-Solving</a:t>
            </a:r>
          </a:p>
        </p:txBody>
      </p:sp>
    </p:spTree>
    <p:extLst>
      <p:ext uri="{BB962C8B-B14F-4D97-AF65-F5344CB8AC3E}">
        <p14:creationId xmlns:p14="http://schemas.microsoft.com/office/powerpoint/2010/main" val="81272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Introduction to Problem-Solving</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Problem-Solving</a:t>
            </a:r>
          </a:p>
          <a:p>
            <a:r>
              <a:rPr lang="en-US" dirty="0"/>
              <a:t>Describe the Plan Do Check Act (PDCA) Model and Discuss the benefits of employing the full PDCA Cycle</a:t>
            </a:r>
          </a:p>
          <a:p>
            <a:r>
              <a:rPr lang="en-US" dirty="0"/>
              <a:t>List and define the steps of the Problem-Solving Process</a:t>
            </a:r>
          </a:p>
          <a:p>
            <a:r>
              <a:rPr lang="en-US" dirty="0"/>
              <a:t>List and define the common tools used in the Problem-Solving process</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5908575" cy="659879"/>
            <a:chOff x="699911" y="1069861"/>
            <a:chExt cx="5908575" cy="350130"/>
          </a:xfrm>
        </p:grpSpPr>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6367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84451" cy="350130"/>
              <a:chOff x="5627529" y="641179"/>
              <a:chExt cx="6651237"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7" y="641179"/>
                <a:ext cx="242762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427629"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29" y="641179"/>
                <a:ext cx="2426619"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Introduction to </a:t>
                </a:r>
              </a:p>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Problem-Solving</a:t>
                </a:r>
              </a:p>
            </p:txBody>
          </p:sp>
        </p:grpSp>
      </p:grpSp>
    </p:spTree>
    <p:extLst>
      <p:ext uri="{BB962C8B-B14F-4D97-AF65-F5344CB8AC3E}">
        <p14:creationId xmlns:p14="http://schemas.microsoft.com/office/powerpoint/2010/main" val="1486335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Problem-Solving</a:t>
            </a:r>
          </a:p>
        </p:txBody>
      </p:sp>
      <p:grpSp>
        <p:nvGrpSpPr>
          <p:cNvPr id="4" name="Group 3">
            <a:extLst>
              <a:ext uri="{FF2B5EF4-FFF2-40B4-BE49-F238E27FC236}">
                <a16:creationId xmlns:a16="http://schemas.microsoft.com/office/drawing/2014/main" id="{8C8A5D8E-0D1C-0D16-E8A8-B8D69DE30BEE}"/>
              </a:ext>
            </a:extLst>
          </p:cNvPr>
          <p:cNvGrpSpPr/>
          <p:nvPr/>
        </p:nvGrpSpPr>
        <p:grpSpPr>
          <a:xfrm>
            <a:off x="838200" y="297639"/>
            <a:ext cx="4561953" cy="307138"/>
            <a:chOff x="838200" y="297639"/>
            <a:chExt cx="4561953" cy="307138"/>
          </a:xfrm>
        </p:grpSpPr>
        <p:grpSp>
          <p:nvGrpSpPr>
            <p:cNvPr id="6" name="Group 5">
              <a:extLst>
                <a:ext uri="{FF2B5EF4-FFF2-40B4-BE49-F238E27FC236}">
                  <a16:creationId xmlns:a16="http://schemas.microsoft.com/office/drawing/2014/main" id="{691FCF7C-2501-5FDF-0DED-A7A09255904F}"/>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1CD95A73-EED2-13C9-54A6-93636538E90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B072234-C447-E419-4900-501DA68D5F8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E6F71367-70A3-E264-2C2F-336B15FC494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D12DB7DB-C0B4-49CC-FFA7-F537CAA84EF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A4EE8745-19EE-2EEE-6834-0684AF039BA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573B1E4C-63F9-9F80-6239-E73C6F065B92}"/>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Problem-Solving</a:t>
              </a:r>
            </a:p>
          </p:txBody>
        </p:sp>
      </p:gr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ability to </a:t>
            </a:r>
            <a:r>
              <a:rPr lang="en-US" b="1" i="1" u="sng" dirty="0"/>
              <a:t>permanently</a:t>
            </a:r>
            <a:r>
              <a:rPr lang="en-US" dirty="0"/>
              <a:t> eliminate problems at the root cause level using a systematic approach and specific Problem-Solving tools.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To address and rectify issues that prevent systems, processes, or individuals from achieving the standard that has been set for optimal performance and outcomes. </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807320" cy="3123932"/>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dirty="0"/>
              <a:t>Problem: You </a:t>
            </a:r>
            <a:r>
              <a:rPr lang="en-US" sz="1400"/>
              <a:t>sometimes don’t </a:t>
            </a:r>
            <a:r>
              <a:rPr lang="en-US" sz="1400" dirty="0"/>
              <a:t>pay bills on time, incurring late fees.</a:t>
            </a:r>
          </a:p>
          <a:p>
            <a:pPr marL="285750" indent="-285750">
              <a:spcBef>
                <a:spcPts val="600"/>
              </a:spcBef>
              <a:buFont typeface="Arial" panose="020B0604020202020204" pitchFamily="34" charset="0"/>
              <a:buChar char="•"/>
            </a:pPr>
            <a:r>
              <a:rPr lang="en-US" sz="1400" dirty="0"/>
              <a:t>Solution: Set up automated payments for your regular bills or use a digital calendar to set reminders a few days before each bill is due.</a:t>
            </a:r>
          </a:p>
          <a:p>
            <a:pPr marL="285750" indent="-285750">
              <a:spcBef>
                <a:spcPts val="600"/>
              </a:spcBef>
              <a:buFont typeface="Arial" panose="020B0604020202020204" pitchFamily="34" charset="0"/>
              <a:buChar char="•"/>
            </a:pPr>
            <a:r>
              <a:rPr lang="en-US" sz="1400" dirty="0"/>
              <a:t>Problem: You frequently misplace your keys and waste time looking for them.</a:t>
            </a:r>
          </a:p>
          <a:p>
            <a:pPr marL="285750" indent="-285750">
              <a:spcBef>
                <a:spcPts val="600"/>
              </a:spcBef>
              <a:buFont typeface="Arial" panose="020B0604020202020204" pitchFamily="34" charset="0"/>
              <a:buChar char="•"/>
            </a:pPr>
            <a:r>
              <a:rPr lang="en-US" sz="1400" dirty="0"/>
              <a:t>Solution: Install a key hook near the garage door. This way, you can hang your keys as soon as you enter the house, ensuring they are always in the same spot when you need them.</a:t>
            </a:r>
          </a:p>
        </p:txBody>
      </p:sp>
      <p:sp>
        <p:nvSpPr>
          <p:cNvPr id="3" name="Rectangle 2">
            <a:extLst>
              <a:ext uri="{FF2B5EF4-FFF2-40B4-BE49-F238E27FC236}">
                <a16:creationId xmlns:a16="http://schemas.microsoft.com/office/drawing/2014/main" id="{182A00B8-6638-B4E0-0C17-2CAB25E0CFEE}"/>
              </a:ext>
            </a:extLst>
          </p:cNvPr>
          <p:cNvSpPr/>
          <p:nvPr/>
        </p:nvSpPr>
        <p:spPr>
          <a:xfrm>
            <a:off x="838199" y="4675909"/>
            <a:ext cx="6969543" cy="13400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makes a world-class company is their ability to solve problems. Even the great Toyota has problems...but we 'solve' our problems only once." - Toyota Executive - 1990</a:t>
            </a:r>
          </a:p>
        </p:txBody>
      </p:sp>
    </p:spTree>
    <p:extLst>
      <p:ext uri="{BB962C8B-B14F-4D97-AF65-F5344CB8AC3E}">
        <p14:creationId xmlns:p14="http://schemas.microsoft.com/office/powerpoint/2010/main" val="1889293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114" name="Group 113">
            <a:extLst>
              <a:ext uri="{FF2B5EF4-FFF2-40B4-BE49-F238E27FC236}">
                <a16:creationId xmlns:a16="http://schemas.microsoft.com/office/drawing/2014/main" id="{E573F632-E328-042B-0EEB-CEED09F74ECE}"/>
              </a:ext>
            </a:extLst>
          </p:cNvPr>
          <p:cNvGrpSpPr/>
          <p:nvPr/>
        </p:nvGrpSpPr>
        <p:grpSpPr>
          <a:xfrm>
            <a:off x="612373" y="1413832"/>
            <a:ext cx="2057400" cy="777240"/>
            <a:chOff x="2095617" y="1179903"/>
            <a:chExt cx="1700011" cy="540912"/>
          </a:xfrm>
        </p:grpSpPr>
        <p:sp>
          <p:nvSpPr>
            <p:cNvPr id="11" name="Rectangle 10">
              <a:extLst>
                <a:ext uri="{FF2B5EF4-FFF2-40B4-BE49-F238E27FC236}">
                  <a16:creationId xmlns:a16="http://schemas.microsoft.com/office/drawing/2014/main" id="{ACBDA09F-99F2-3391-7017-7D5F00F8CA0F}"/>
                </a:ext>
              </a:extLst>
            </p:cNvPr>
            <p:cNvSpPr/>
            <p:nvPr/>
          </p:nvSpPr>
          <p:spPr>
            <a:xfrm>
              <a:off x="2095617" y="1179903"/>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2095617" y="117990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115" name="Group 114">
            <a:extLst>
              <a:ext uri="{FF2B5EF4-FFF2-40B4-BE49-F238E27FC236}">
                <a16:creationId xmlns:a16="http://schemas.microsoft.com/office/drawing/2014/main" id="{EEAAC779-6358-D1B5-356F-19AC3A563C75}"/>
              </a:ext>
            </a:extLst>
          </p:cNvPr>
          <p:cNvGrpSpPr/>
          <p:nvPr/>
        </p:nvGrpSpPr>
        <p:grpSpPr>
          <a:xfrm>
            <a:off x="611317" y="3730882"/>
            <a:ext cx="2057400" cy="777240"/>
            <a:chOff x="2095617" y="2319168"/>
            <a:chExt cx="1700011" cy="540912"/>
          </a:xfrm>
        </p:grpSpPr>
        <p:sp>
          <p:nvSpPr>
            <p:cNvPr id="13" name="Rectangle 12">
              <a:extLst>
                <a:ext uri="{FF2B5EF4-FFF2-40B4-BE49-F238E27FC236}">
                  <a16:creationId xmlns:a16="http://schemas.microsoft.com/office/drawing/2014/main" id="{B43577E6-2FC8-457A-79F3-9910AF416A80}"/>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116" name="Group 115">
            <a:extLst>
              <a:ext uri="{FF2B5EF4-FFF2-40B4-BE49-F238E27FC236}">
                <a16:creationId xmlns:a16="http://schemas.microsoft.com/office/drawing/2014/main" id="{5A7A30C6-E9A5-25C7-F70E-D43461151F1F}"/>
              </a:ext>
            </a:extLst>
          </p:cNvPr>
          <p:cNvGrpSpPr/>
          <p:nvPr/>
        </p:nvGrpSpPr>
        <p:grpSpPr>
          <a:xfrm>
            <a:off x="611317" y="4889408"/>
            <a:ext cx="2057400" cy="777240"/>
            <a:chOff x="2095617" y="3482984"/>
            <a:chExt cx="1700011" cy="540912"/>
          </a:xfrm>
        </p:grpSpPr>
        <p:sp>
          <p:nvSpPr>
            <p:cNvPr id="16" name="Rectangle 15">
              <a:extLst>
                <a:ext uri="{FF2B5EF4-FFF2-40B4-BE49-F238E27FC236}">
                  <a16:creationId xmlns:a16="http://schemas.microsoft.com/office/drawing/2014/main" id="{8E33BA21-1D76-6194-8879-D9A1BA778D1D}"/>
                </a:ext>
              </a:extLst>
            </p:cNvPr>
            <p:cNvSpPr/>
            <p:nvPr/>
          </p:nvSpPr>
          <p:spPr>
            <a:xfrm>
              <a:off x="2095617" y="3482984"/>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2095617" y="348298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 name="Group 1">
            <a:extLst>
              <a:ext uri="{FF2B5EF4-FFF2-40B4-BE49-F238E27FC236}">
                <a16:creationId xmlns:a16="http://schemas.microsoft.com/office/drawing/2014/main" id="{9D17ABB9-1037-DADD-4DE1-F97E3630334D}"/>
              </a:ext>
            </a:extLst>
          </p:cNvPr>
          <p:cNvGrpSpPr/>
          <p:nvPr/>
        </p:nvGrpSpPr>
        <p:grpSpPr>
          <a:xfrm>
            <a:off x="611845" y="2572357"/>
            <a:ext cx="2057400" cy="777240"/>
            <a:chOff x="2095617" y="2319168"/>
            <a:chExt cx="1700011" cy="540912"/>
          </a:xfrm>
        </p:grpSpPr>
        <p:sp>
          <p:nvSpPr>
            <p:cNvPr id="3" name="Rectangle 2">
              <a:extLst>
                <a:ext uri="{FF2B5EF4-FFF2-40B4-BE49-F238E27FC236}">
                  <a16:creationId xmlns:a16="http://schemas.microsoft.com/office/drawing/2014/main" id="{55C60F14-29DF-CF99-306E-D287E3F16C1E}"/>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035075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FDD35-1F8E-0715-0F0F-73166D143954}"/>
              </a:ext>
            </a:extLst>
          </p:cNvPr>
          <p:cNvSpPr>
            <a:spLocks noGrp="1"/>
          </p:cNvSpPr>
          <p:nvPr>
            <p:ph type="title"/>
          </p:nvPr>
        </p:nvSpPr>
        <p:spPr/>
        <p:txBody>
          <a:bodyPr/>
          <a:lstStyle/>
          <a:p>
            <a:r>
              <a:rPr lang="en-US" dirty="0"/>
              <a:t>Plan Do Check Act (PDCA)</a:t>
            </a:r>
          </a:p>
        </p:txBody>
      </p:sp>
      <p:grpSp>
        <p:nvGrpSpPr>
          <p:cNvPr id="7" name="Group 6">
            <a:extLst>
              <a:ext uri="{FF2B5EF4-FFF2-40B4-BE49-F238E27FC236}">
                <a16:creationId xmlns:a16="http://schemas.microsoft.com/office/drawing/2014/main" id="{E4F0941B-B643-1061-1DBA-D44440DE445D}"/>
              </a:ext>
            </a:extLst>
          </p:cNvPr>
          <p:cNvGrpSpPr/>
          <p:nvPr/>
        </p:nvGrpSpPr>
        <p:grpSpPr>
          <a:xfrm>
            <a:off x="1171132" y="2026227"/>
            <a:ext cx="9849735" cy="673488"/>
            <a:chOff x="2151765" y="4426873"/>
            <a:chExt cx="5089046" cy="454933"/>
          </a:xfrm>
        </p:grpSpPr>
        <p:sp>
          <p:nvSpPr>
            <p:cNvPr id="3" name="Rectangle 2">
              <a:extLst>
                <a:ext uri="{FF2B5EF4-FFF2-40B4-BE49-F238E27FC236}">
                  <a16:creationId xmlns:a16="http://schemas.microsoft.com/office/drawing/2014/main" id="{60BD386B-4571-4BE2-7949-A1020FE161BF}"/>
                </a:ext>
              </a:extLst>
            </p:cNvPr>
            <p:cNvSpPr/>
            <p:nvPr/>
          </p:nvSpPr>
          <p:spPr>
            <a:xfrm>
              <a:off x="2151765" y="4426983"/>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4" name="Rectangle 3">
              <a:extLst>
                <a:ext uri="{FF2B5EF4-FFF2-40B4-BE49-F238E27FC236}">
                  <a16:creationId xmlns:a16="http://schemas.microsoft.com/office/drawing/2014/main" id="{E0D433F0-A17E-C3B2-61F7-2E90CC7B091A}"/>
                </a:ext>
              </a:extLst>
            </p:cNvPr>
            <p:cNvSpPr/>
            <p:nvPr/>
          </p:nvSpPr>
          <p:spPr>
            <a:xfrm>
              <a:off x="4696288" y="4426873"/>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5" name="Rectangle 4">
              <a:extLst>
                <a:ext uri="{FF2B5EF4-FFF2-40B4-BE49-F238E27FC236}">
                  <a16:creationId xmlns:a16="http://schemas.microsoft.com/office/drawing/2014/main" id="{69151AB5-68CD-14EF-A34C-9A655E9A8DF2}"/>
                </a:ext>
              </a:extLst>
            </p:cNvPr>
            <p:cNvSpPr/>
            <p:nvPr/>
          </p:nvSpPr>
          <p:spPr>
            <a:xfrm>
              <a:off x="5968451" y="4427519"/>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 name="Rectangle 5">
              <a:extLst>
                <a:ext uri="{FF2B5EF4-FFF2-40B4-BE49-F238E27FC236}">
                  <a16:creationId xmlns:a16="http://schemas.microsoft.com/office/drawing/2014/main" id="{87A9BE8C-2F09-C4C4-08D8-CE55FB264D1B}"/>
                </a:ext>
              </a:extLst>
            </p:cNvPr>
            <p:cNvSpPr/>
            <p:nvPr/>
          </p:nvSpPr>
          <p:spPr>
            <a:xfrm>
              <a:off x="3423928" y="4427629"/>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grpSp>
      <p:sp>
        <p:nvSpPr>
          <p:cNvPr id="8" name="TextBox 7">
            <a:extLst>
              <a:ext uri="{FF2B5EF4-FFF2-40B4-BE49-F238E27FC236}">
                <a16:creationId xmlns:a16="http://schemas.microsoft.com/office/drawing/2014/main" id="{66CBB3B0-9928-8BCD-9987-6BC7BCD18EF9}"/>
              </a:ext>
            </a:extLst>
          </p:cNvPr>
          <p:cNvSpPr txBox="1"/>
          <p:nvPr/>
        </p:nvSpPr>
        <p:spPr>
          <a:xfrm>
            <a:off x="1170752" y="2836718"/>
            <a:ext cx="2462624" cy="2893100"/>
          </a:xfrm>
          <a:prstGeom prst="rect">
            <a:avLst/>
          </a:prstGeom>
          <a:noFill/>
        </p:spPr>
        <p:txBody>
          <a:bodyPr wrap="square" rtlCol="0">
            <a:spAutoFit/>
          </a:bodyPr>
          <a:lstStyle/>
          <a:p>
            <a:pPr marL="285750" indent="-285750">
              <a:buFont typeface="Arial" panose="020B0604020202020204" pitchFamily="34" charset="0"/>
              <a:buChar char="•"/>
            </a:pPr>
            <a:r>
              <a:rPr lang="en-US" sz="1400" b="1" dirty="0"/>
              <a:t>Involves identifying a problem or opportunity for improvement, setting objectives, and developing a detailed plan to achieve these objectives. This includes collecting data, analyzing the current situation, identifying root causes, and formulating potential solutions.</a:t>
            </a:r>
          </a:p>
        </p:txBody>
      </p:sp>
      <p:sp>
        <p:nvSpPr>
          <p:cNvPr id="9" name="TextBox 8">
            <a:extLst>
              <a:ext uri="{FF2B5EF4-FFF2-40B4-BE49-F238E27FC236}">
                <a16:creationId xmlns:a16="http://schemas.microsoft.com/office/drawing/2014/main" id="{13878F25-836B-473E-B23F-42D6E89F076A}"/>
              </a:ext>
            </a:extLst>
          </p:cNvPr>
          <p:cNvSpPr txBox="1"/>
          <p:nvPr/>
        </p:nvSpPr>
        <p:spPr>
          <a:xfrm>
            <a:off x="3633375" y="2836718"/>
            <a:ext cx="2462624" cy="2462213"/>
          </a:xfrm>
          <a:prstGeom prst="rect">
            <a:avLst/>
          </a:prstGeom>
          <a:noFill/>
        </p:spPr>
        <p:txBody>
          <a:bodyPr wrap="square" rtlCol="0">
            <a:spAutoFit/>
          </a:bodyPr>
          <a:lstStyle/>
          <a:p>
            <a:pPr marL="285750" indent="-285750">
              <a:buFont typeface="Arial" panose="020B0604020202020204" pitchFamily="34" charset="0"/>
              <a:buChar char="•"/>
            </a:pPr>
            <a:r>
              <a:rPr lang="en-US" sz="1400" b="1" dirty="0"/>
              <a:t>Where necessary adjustments based on the evaluation results from the "Check" phase are made. This may involve refining the plan, implementing successful changes on a larger scale, or starting the PDCA cycle again to address other issues.</a:t>
            </a:r>
          </a:p>
        </p:txBody>
      </p:sp>
      <p:sp>
        <p:nvSpPr>
          <p:cNvPr id="10" name="TextBox 9">
            <a:extLst>
              <a:ext uri="{FF2B5EF4-FFF2-40B4-BE49-F238E27FC236}">
                <a16:creationId xmlns:a16="http://schemas.microsoft.com/office/drawing/2014/main" id="{A2D66D99-6D8C-69A3-B1C2-1CA9CF34C027}"/>
              </a:ext>
            </a:extLst>
          </p:cNvPr>
          <p:cNvSpPr txBox="1"/>
          <p:nvPr/>
        </p:nvSpPr>
        <p:spPr>
          <a:xfrm>
            <a:off x="6095998" y="2836718"/>
            <a:ext cx="2462624" cy="2031325"/>
          </a:xfrm>
          <a:prstGeom prst="rect">
            <a:avLst/>
          </a:prstGeom>
          <a:noFill/>
        </p:spPr>
        <p:txBody>
          <a:bodyPr wrap="square" rtlCol="0">
            <a:spAutoFit/>
          </a:bodyPr>
          <a:lstStyle/>
          <a:p>
            <a:pPr marL="285750" indent="-285750">
              <a:buFont typeface="Arial" panose="020B0604020202020204" pitchFamily="34" charset="0"/>
              <a:buChar char="•"/>
            </a:pPr>
            <a:r>
              <a:rPr lang="en-US" sz="1400" b="1" dirty="0"/>
              <a:t>The implementation stage, where the planned actions are executed. This involves putting the plan into action on a small scale to test its effectiveness and gather data on its impact.</a:t>
            </a:r>
          </a:p>
        </p:txBody>
      </p:sp>
      <p:sp>
        <p:nvSpPr>
          <p:cNvPr id="11" name="TextBox 10">
            <a:extLst>
              <a:ext uri="{FF2B5EF4-FFF2-40B4-BE49-F238E27FC236}">
                <a16:creationId xmlns:a16="http://schemas.microsoft.com/office/drawing/2014/main" id="{D72B0B22-98DC-C433-13B3-4A950ACDFC74}"/>
              </a:ext>
            </a:extLst>
          </p:cNvPr>
          <p:cNvSpPr txBox="1"/>
          <p:nvPr/>
        </p:nvSpPr>
        <p:spPr>
          <a:xfrm>
            <a:off x="8558621" y="2836718"/>
            <a:ext cx="2462624"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Involves evaluating the results of the implemented actions against the objectives set in the "Plan" phase. This includes analyzing data, reviewing outcomes, and comparing them to the expected results to determine if the changes are effective.</a:t>
            </a:r>
          </a:p>
        </p:txBody>
      </p:sp>
    </p:spTree>
    <p:extLst>
      <p:ext uri="{BB962C8B-B14F-4D97-AF65-F5344CB8AC3E}">
        <p14:creationId xmlns:p14="http://schemas.microsoft.com/office/powerpoint/2010/main" val="4181905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Problem-Solving Tools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3826484"/>
          </a:xfrm>
        </p:spPr>
        <p:txBody>
          <a:bodyPr>
            <a:normAutofit fontScale="77500" lnSpcReduction="20000"/>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Overview:</a:t>
            </a:r>
          </a:p>
          <a:p>
            <a:pPr lvl="1"/>
            <a:r>
              <a:rPr lang="en-US" dirty="0"/>
              <a:t>Define Fishbone, 5 Why, and Pareto Chart Analysis.</a:t>
            </a:r>
          </a:p>
          <a:p>
            <a:r>
              <a:rPr lang="en-US" dirty="0"/>
              <a:t>Fishbone Analysis:</a:t>
            </a:r>
          </a:p>
          <a:p>
            <a:pPr lvl="1"/>
            <a:r>
              <a:rPr lang="en-US" dirty="0"/>
              <a:t>Explain when and how to use Fishbone Analysis.</a:t>
            </a:r>
          </a:p>
          <a:p>
            <a:pPr lvl="1"/>
            <a:r>
              <a:rPr lang="en-US" dirty="0"/>
              <a:t>List the 6-M’s and construct a Fishbone Diagram.</a:t>
            </a:r>
          </a:p>
          <a:p>
            <a:r>
              <a:rPr lang="en-US" dirty="0"/>
              <a:t>5 Why Analysis:</a:t>
            </a:r>
          </a:p>
          <a:p>
            <a:pPr lvl="1"/>
            <a:r>
              <a:rPr lang="en-US" dirty="0"/>
              <a:t>Explain the 5 Why Analysis process.</a:t>
            </a:r>
          </a:p>
          <a:p>
            <a:pPr lvl="1"/>
            <a:r>
              <a:rPr lang="en-US" dirty="0"/>
              <a:t>Highlight the importance of the problem statement.</a:t>
            </a:r>
          </a:p>
          <a:p>
            <a:r>
              <a:rPr lang="en-US" dirty="0"/>
              <a:t>Pareto Chart Analysis:</a:t>
            </a:r>
          </a:p>
          <a:p>
            <a:pPr lvl="1"/>
            <a:r>
              <a:rPr lang="en-US" dirty="0"/>
              <a:t>Use Pareto Analysis to prioritize problems.</a:t>
            </a:r>
          </a:p>
          <a:p>
            <a:pPr lvl="1"/>
            <a:r>
              <a:rPr lang="en-US" dirty="0"/>
              <a:t>Focus on key problem areas using Pareto Analysis.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5908575" cy="659879"/>
            <a:chOff x="699911" y="1069861"/>
            <a:chExt cx="5908575" cy="350130"/>
          </a:xfrm>
        </p:grpSpPr>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6367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84451" cy="350130"/>
              <a:chOff x="5627529" y="641179"/>
              <a:chExt cx="6651237"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7" y="641179"/>
                <a:ext cx="242762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427629"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Problem-Solving Tools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29" y="641179"/>
                <a:ext cx="242661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a:t>
                </a:r>
              </a:p>
            </p:txBody>
          </p:sp>
        </p:grpSp>
      </p:grpSp>
    </p:spTree>
    <p:extLst>
      <p:ext uri="{BB962C8B-B14F-4D97-AF65-F5344CB8AC3E}">
        <p14:creationId xmlns:p14="http://schemas.microsoft.com/office/powerpoint/2010/main" val="273916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Overview of Problem-Solving Tools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There are many Problem-Solving Tools designed to help you identify and drive to Root Cause. This module will focus on 3 of the most common and effective tools used daily to solve problems.</a:t>
            </a:r>
          </a:p>
          <a:p>
            <a:pPr lvl="1"/>
            <a:r>
              <a:rPr lang="en-US" dirty="0"/>
              <a:t>Fishbone Analysis</a:t>
            </a:r>
          </a:p>
          <a:p>
            <a:pPr lvl="1"/>
            <a:r>
              <a:rPr lang="en-US" dirty="0"/>
              <a:t>5 Why Analysis</a:t>
            </a:r>
          </a:p>
          <a:p>
            <a:pPr lvl="1"/>
            <a:r>
              <a:rPr lang="en-US" dirty="0"/>
              <a:t>Pareto Analysis</a:t>
            </a:r>
          </a:p>
          <a:p>
            <a:endParaRPr lang="en-US" dirty="0"/>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a:t>
            </a:fld>
            <a:endParaRPr lang="en-US"/>
          </a:p>
        </p:txBody>
      </p:sp>
      <p:pic>
        <p:nvPicPr>
          <p:cNvPr id="15" name="Picture 10" descr="magnifying glass">
            <a:extLst>
              <a:ext uri="{FF2B5EF4-FFF2-40B4-BE49-F238E27FC236}">
                <a16:creationId xmlns:a16="http://schemas.microsoft.com/office/drawing/2014/main" id="{F36D447A-F17E-F08E-602E-845827425295}"/>
              </a:ext>
            </a:extLst>
          </p:cNvPr>
          <p:cNvPicPr>
            <a:picLocks noGrp="1" noChangeAspect="1" noChangeArrowheads="1"/>
          </p:cNvPicPr>
          <p:nvPr>
            <p:ph sz="half" idx="1"/>
          </p:nvPr>
        </p:nvPicPr>
        <p:blipFill>
          <a:blip r:embed="rId3"/>
          <a:srcRect/>
          <a:stretch>
            <a:fillRect/>
          </a:stretch>
        </p:blipFill>
        <p:spPr>
          <a:xfrm>
            <a:off x="889000" y="2096294"/>
            <a:ext cx="5080000" cy="3810000"/>
          </a:xfrm>
          <a:noFill/>
        </p:spPr>
      </p:pic>
      <p:grpSp>
        <p:nvGrpSpPr>
          <p:cNvPr id="3" name="Group 2">
            <a:extLst>
              <a:ext uri="{FF2B5EF4-FFF2-40B4-BE49-F238E27FC236}">
                <a16:creationId xmlns:a16="http://schemas.microsoft.com/office/drawing/2014/main" id="{C8B29009-B2F3-1494-00A5-09E8A4DFF04C}"/>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530AE478-657F-EADE-056A-8C55D121996B}"/>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914CD642-8E15-AF4B-2B07-AFA07173F7A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D599929E-042D-774E-8798-DA666134FF39}"/>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652FBA21-9436-BFB2-B043-612FAF323D7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0CC4EA13-1D3E-A1E2-04B2-825C24EB29D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031A1E22-4958-2080-A58A-FF906BAC98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5AAB56CA-2318-13C1-4BB4-C4D21A1CA1FC}"/>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grpSp>
    </p:spTree>
    <p:extLst>
      <p:ext uri="{BB962C8B-B14F-4D97-AF65-F5344CB8AC3E}">
        <p14:creationId xmlns:p14="http://schemas.microsoft.com/office/powerpoint/2010/main" val="362706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a:bodyPr>
          <a:lstStyle/>
          <a:p>
            <a:r>
              <a:rPr lang="en-US" dirty="0"/>
              <a:t>Fishbone Analysis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Fishbone Analysis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Fishbone Diagram</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a:t>
            </a:fld>
            <a:endParaRPr lang="en-US"/>
          </a:p>
        </p:txBody>
      </p:sp>
      <p:sp>
        <p:nvSpPr>
          <p:cNvPr id="51" name="Content Placeholder 50">
            <a:extLst>
              <a:ext uri="{FF2B5EF4-FFF2-40B4-BE49-F238E27FC236}">
                <a16:creationId xmlns:a16="http://schemas.microsoft.com/office/drawing/2014/main" id="{193D7E62-88D9-E33D-C71B-BA337B07B613}"/>
              </a:ext>
            </a:extLst>
          </p:cNvPr>
          <p:cNvSpPr>
            <a:spLocks noGrp="1"/>
          </p:cNvSpPr>
          <p:nvPr>
            <p:ph sz="half" idx="2"/>
          </p:nvPr>
        </p:nvSpPr>
        <p:spPr/>
        <p:txBody>
          <a:bodyPr>
            <a:normAutofit fontScale="85000" lnSpcReduction="20000"/>
          </a:bodyPr>
          <a:lstStyle/>
          <a:p>
            <a:r>
              <a:rPr lang="en-US" dirty="0"/>
              <a:t>A visual tool used to systematically identify and analyze the root causes of a problem. It helps to organize potential causes into categories, making it easier to pinpoint the source of an issue.</a:t>
            </a:r>
          </a:p>
          <a:p>
            <a:pPr lvl="1"/>
            <a:r>
              <a:rPr lang="en-US" dirty="0"/>
              <a:t>“Head” of the fish: The problem.</a:t>
            </a:r>
          </a:p>
          <a:p>
            <a:pPr lvl="1"/>
            <a:r>
              <a:rPr lang="en-US" dirty="0"/>
              <a:t>“Bones” of the fish: Major categories of potential causes (6Ms: Methods, Materials, Man, Machines, Measurements, Management)</a:t>
            </a:r>
          </a:p>
          <a:p>
            <a:pPr lvl="1"/>
            <a:r>
              <a:rPr lang="en-US" dirty="0"/>
              <a:t>“Sub-Bones” of the fish: Specific causes within each category.</a:t>
            </a:r>
          </a:p>
        </p:txBody>
      </p:sp>
      <p:pic>
        <p:nvPicPr>
          <p:cNvPr id="52" name="Content Placeholder 51">
            <a:extLst>
              <a:ext uri="{FF2B5EF4-FFF2-40B4-BE49-F238E27FC236}">
                <a16:creationId xmlns:a16="http://schemas.microsoft.com/office/drawing/2014/main" id="{13100B95-AF1A-647C-1691-D00FB5048320}"/>
              </a:ext>
            </a:extLst>
          </p:cNvPr>
          <p:cNvPicPr>
            <a:picLocks noGrp="1" noChangeAspect="1"/>
          </p:cNvPicPr>
          <p:nvPr>
            <p:ph sz="quarter" idx="4"/>
          </p:nvPr>
        </p:nvPicPr>
        <p:blipFill>
          <a:blip r:embed="rId3"/>
          <a:stretch>
            <a:fillRect/>
          </a:stretch>
        </p:blipFill>
        <p:spPr>
          <a:xfrm>
            <a:off x="5848349" y="2819400"/>
            <a:ext cx="6424569" cy="2082122"/>
          </a:xfrm>
          <a:prstGeom prst="rect">
            <a:avLst/>
          </a:prstGeom>
        </p:spPr>
      </p:pic>
      <p:grpSp>
        <p:nvGrpSpPr>
          <p:cNvPr id="4" name="Group 3">
            <a:extLst>
              <a:ext uri="{FF2B5EF4-FFF2-40B4-BE49-F238E27FC236}">
                <a16:creationId xmlns:a16="http://schemas.microsoft.com/office/drawing/2014/main" id="{C2F5F875-039A-3B8D-1E57-082C4FE120B6}"/>
              </a:ext>
            </a:extLst>
          </p:cNvPr>
          <p:cNvGrpSpPr/>
          <p:nvPr/>
        </p:nvGrpSpPr>
        <p:grpSpPr>
          <a:xfrm>
            <a:off x="838200" y="297639"/>
            <a:ext cx="4561953" cy="307138"/>
            <a:chOff x="838200" y="297639"/>
            <a:chExt cx="4561953" cy="307138"/>
          </a:xfrm>
        </p:grpSpPr>
        <p:grpSp>
          <p:nvGrpSpPr>
            <p:cNvPr id="6" name="Group 5">
              <a:extLst>
                <a:ext uri="{FF2B5EF4-FFF2-40B4-BE49-F238E27FC236}">
                  <a16:creationId xmlns:a16="http://schemas.microsoft.com/office/drawing/2014/main" id="{C9D3F725-253C-D5D2-0BCD-DB37E906FB98}"/>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85204E2C-4919-276B-95EF-566B13E48CE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ACCE3AA7-D32E-737F-873B-85362991EE71}"/>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9A1E0F1B-8D8A-8F49-01E2-19D6AF739C8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8E5B8B55-E603-8830-579A-7C5CAC3CA5A1}"/>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0E2A27E1-565B-E470-F019-946D7E12621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6355F9CB-AFCF-F769-2DA3-89527F7F46D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grpSp>
    </p:spTree>
    <p:extLst>
      <p:ext uri="{BB962C8B-B14F-4D97-AF65-F5344CB8AC3E}">
        <p14:creationId xmlns:p14="http://schemas.microsoft.com/office/powerpoint/2010/main" val="3876495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a:bodyPr>
          <a:lstStyle/>
          <a:p>
            <a:r>
              <a:rPr lang="en-US" dirty="0"/>
              <a:t>5 Whys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36612" y="1358773"/>
            <a:ext cx="5157787" cy="823912"/>
          </a:xfrm>
        </p:spPr>
        <p:txBody>
          <a:bodyPr/>
          <a:lstStyle/>
          <a:p>
            <a:r>
              <a:rPr lang="en-US" dirty="0"/>
              <a:t>5 Whys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a:t>
            </a:fld>
            <a:endParaRPr lang="en-US"/>
          </a:p>
        </p:txBody>
      </p:sp>
      <p:sp>
        <p:nvSpPr>
          <p:cNvPr id="51" name="Content Placeholder 50">
            <a:extLst>
              <a:ext uri="{FF2B5EF4-FFF2-40B4-BE49-F238E27FC236}">
                <a16:creationId xmlns:a16="http://schemas.microsoft.com/office/drawing/2014/main" id="{193D7E62-88D9-E33D-C71B-BA337B07B613}"/>
              </a:ext>
            </a:extLst>
          </p:cNvPr>
          <p:cNvSpPr>
            <a:spLocks noGrp="1"/>
          </p:cNvSpPr>
          <p:nvPr>
            <p:ph sz="half" idx="2"/>
          </p:nvPr>
        </p:nvSpPr>
        <p:spPr>
          <a:xfrm>
            <a:off x="842964" y="2108393"/>
            <a:ext cx="10512424" cy="3684588"/>
          </a:xfrm>
        </p:spPr>
        <p:txBody>
          <a:bodyPr>
            <a:normAutofit/>
          </a:bodyPr>
          <a:lstStyle/>
          <a:p>
            <a:r>
              <a:rPr lang="en-US" dirty="0"/>
              <a:t>The 5 Whys Analysis is a problem-solving tool used to identify the root cause of a problem by repeatedly asking "Why?" until the underlying cause is discovered.</a:t>
            </a:r>
          </a:p>
        </p:txBody>
      </p:sp>
      <p:graphicFrame>
        <p:nvGraphicFramePr>
          <p:cNvPr id="17" name="Content Placeholder 16">
            <a:extLst>
              <a:ext uri="{FF2B5EF4-FFF2-40B4-BE49-F238E27FC236}">
                <a16:creationId xmlns:a16="http://schemas.microsoft.com/office/drawing/2014/main" id="{622714EB-4650-ADD1-D56E-553BCE96DA3B}"/>
              </a:ext>
            </a:extLst>
          </p:cNvPr>
          <p:cNvGraphicFramePr>
            <a:graphicFrameLocks noGrp="1"/>
          </p:cNvGraphicFramePr>
          <p:nvPr>
            <p:ph sz="quarter" idx="4"/>
            <p:extLst>
              <p:ext uri="{D42A27DB-BD31-4B8C-83A1-F6EECF244321}">
                <p14:modId xmlns:p14="http://schemas.microsoft.com/office/powerpoint/2010/main" val="54666234"/>
              </p:ext>
            </p:extLst>
          </p:nvPr>
        </p:nvGraphicFramePr>
        <p:xfrm>
          <a:off x="1465550" y="2875772"/>
          <a:ext cx="9144001" cy="36845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Rectangle 19">
            <a:extLst>
              <a:ext uri="{FF2B5EF4-FFF2-40B4-BE49-F238E27FC236}">
                <a16:creationId xmlns:a16="http://schemas.microsoft.com/office/drawing/2014/main" id="{630893F7-A14F-E645-3954-689EDCA60772}"/>
              </a:ext>
            </a:extLst>
          </p:cNvPr>
          <p:cNvSpPr/>
          <p:nvPr/>
        </p:nvSpPr>
        <p:spPr>
          <a:xfrm>
            <a:off x="1978176" y="3351229"/>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Problem</a:t>
            </a:r>
          </a:p>
        </p:txBody>
      </p:sp>
      <p:sp>
        <p:nvSpPr>
          <p:cNvPr id="28" name="Rectangle 27">
            <a:extLst>
              <a:ext uri="{FF2B5EF4-FFF2-40B4-BE49-F238E27FC236}">
                <a16:creationId xmlns:a16="http://schemas.microsoft.com/office/drawing/2014/main" id="{8AD4A6B8-B502-22E4-E732-473C341FB485}"/>
              </a:ext>
            </a:extLst>
          </p:cNvPr>
          <p:cNvSpPr/>
          <p:nvPr/>
        </p:nvSpPr>
        <p:spPr>
          <a:xfrm>
            <a:off x="1978175" y="5909710"/>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#1</a:t>
            </a:r>
          </a:p>
        </p:txBody>
      </p:sp>
      <p:sp>
        <p:nvSpPr>
          <p:cNvPr id="29" name="Rectangle 28">
            <a:extLst>
              <a:ext uri="{FF2B5EF4-FFF2-40B4-BE49-F238E27FC236}">
                <a16:creationId xmlns:a16="http://schemas.microsoft.com/office/drawing/2014/main" id="{183F96AA-DED1-6C4F-8793-009BB6E4AA90}"/>
              </a:ext>
            </a:extLst>
          </p:cNvPr>
          <p:cNvSpPr/>
          <p:nvPr/>
        </p:nvSpPr>
        <p:spPr>
          <a:xfrm>
            <a:off x="3424954" y="5909710"/>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#2</a:t>
            </a:r>
          </a:p>
        </p:txBody>
      </p:sp>
      <p:sp>
        <p:nvSpPr>
          <p:cNvPr id="30" name="Rectangle 29">
            <a:extLst>
              <a:ext uri="{FF2B5EF4-FFF2-40B4-BE49-F238E27FC236}">
                <a16:creationId xmlns:a16="http://schemas.microsoft.com/office/drawing/2014/main" id="{55CB0273-DF3E-D9D7-7E23-6B06E9BD50DA}"/>
              </a:ext>
            </a:extLst>
          </p:cNvPr>
          <p:cNvSpPr/>
          <p:nvPr/>
        </p:nvSpPr>
        <p:spPr>
          <a:xfrm>
            <a:off x="4871733" y="5909710"/>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#3</a:t>
            </a:r>
          </a:p>
        </p:txBody>
      </p:sp>
      <p:sp>
        <p:nvSpPr>
          <p:cNvPr id="31" name="Rectangle 30">
            <a:extLst>
              <a:ext uri="{FF2B5EF4-FFF2-40B4-BE49-F238E27FC236}">
                <a16:creationId xmlns:a16="http://schemas.microsoft.com/office/drawing/2014/main" id="{003217C0-BEA2-7B72-7026-2A0606597DC8}"/>
              </a:ext>
            </a:extLst>
          </p:cNvPr>
          <p:cNvSpPr/>
          <p:nvPr/>
        </p:nvSpPr>
        <p:spPr>
          <a:xfrm>
            <a:off x="6318512" y="5904395"/>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#4</a:t>
            </a:r>
          </a:p>
        </p:txBody>
      </p:sp>
      <p:sp>
        <p:nvSpPr>
          <p:cNvPr id="32" name="Rectangle 31">
            <a:extLst>
              <a:ext uri="{FF2B5EF4-FFF2-40B4-BE49-F238E27FC236}">
                <a16:creationId xmlns:a16="http://schemas.microsoft.com/office/drawing/2014/main" id="{4DEA2093-641C-6B7E-6A8C-8BFAE4E91BDF}"/>
              </a:ext>
            </a:extLst>
          </p:cNvPr>
          <p:cNvSpPr/>
          <p:nvPr/>
        </p:nvSpPr>
        <p:spPr>
          <a:xfrm>
            <a:off x="7765291" y="5904395"/>
            <a:ext cx="1089817"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#5</a:t>
            </a:r>
          </a:p>
        </p:txBody>
      </p:sp>
      <p:sp>
        <p:nvSpPr>
          <p:cNvPr id="33" name="Rectangle 32">
            <a:extLst>
              <a:ext uri="{FF2B5EF4-FFF2-40B4-BE49-F238E27FC236}">
                <a16:creationId xmlns:a16="http://schemas.microsoft.com/office/drawing/2014/main" id="{273D71FA-C211-0E1C-BD17-66D8A3FBB0DE}"/>
              </a:ext>
            </a:extLst>
          </p:cNvPr>
          <p:cNvSpPr/>
          <p:nvPr/>
        </p:nvSpPr>
        <p:spPr>
          <a:xfrm>
            <a:off x="9088933" y="3351229"/>
            <a:ext cx="138285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Root Cause</a:t>
            </a:r>
          </a:p>
        </p:txBody>
      </p:sp>
      <p:grpSp>
        <p:nvGrpSpPr>
          <p:cNvPr id="4" name="Group 3">
            <a:extLst>
              <a:ext uri="{FF2B5EF4-FFF2-40B4-BE49-F238E27FC236}">
                <a16:creationId xmlns:a16="http://schemas.microsoft.com/office/drawing/2014/main" id="{6BCE067E-24A3-F151-168A-503A5E9191B5}"/>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8980F0AA-8474-AE8F-C474-15A878155CC0}"/>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8529BC67-FDC4-87BC-7EAA-64489DDC710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49BE906E-A689-CBCD-F501-CFA0C59945CF}"/>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A9D796C-8E40-7D5A-658D-95567EC45F4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483B271B-B8B3-134C-D4EE-CA9F910E22C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05450ED9-1BF3-61A1-1B76-8E1EA096986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8ED115D-1533-0FD9-FAD5-C79C98E2E38C}"/>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grpSp>
    </p:spTree>
    <p:extLst>
      <p:ext uri="{BB962C8B-B14F-4D97-AF65-F5344CB8AC3E}">
        <p14:creationId xmlns:p14="http://schemas.microsoft.com/office/powerpoint/2010/main" val="40511140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a:bodyPr>
          <a:lstStyle/>
          <a:p>
            <a:r>
              <a:rPr lang="en-US" dirty="0"/>
              <a:t>Pareto Chart Analysis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Pareto Chart Analysis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Pareto Chart</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a:t>
            </a:fld>
            <a:endParaRPr lang="en-US"/>
          </a:p>
        </p:txBody>
      </p:sp>
      <p:sp>
        <p:nvSpPr>
          <p:cNvPr id="51" name="Content Placeholder 50">
            <a:extLst>
              <a:ext uri="{FF2B5EF4-FFF2-40B4-BE49-F238E27FC236}">
                <a16:creationId xmlns:a16="http://schemas.microsoft.com/office/drawing/2014/main" id="{193D7E62-88D9-E33D-C71B-BA337B07B613}"/>
              </a:ext>
            </a:extLst>
          </p:cNvPr>
          <p:cNvSpPr>
            <a:spLocks noGrp="1"/>
          </p:cNvSpPr>
          <p:nvPr>
            <p:ph sz="half" idx="2"/>
          </p:nvPr>
        </p:nvSpPr>
        <p:spPr/>
        <p:txBody>
          <a:bodyPr>
            <a:normAutofit fontScale="62500" lnSpcReduction="20000"/>
          </a:bodyPr>
          <a:lstStyle/>
          <a:p>
            <a:pPr>
              <a:lnSpc>
                <a:spcPct val="120000"/>
              </a:lnSpc>
            </a:pPr>
            <a:r>
              <a:rPr lang="en-US" dirty="0"/>
              <a:t>A graphical tool used to prioritize problems or causes by identifying the most significant factors. It is based on the Pareto Principle (80/20 rule), which suggests that roughly 80% of problems are caused by 20% of the causes. The chart helps focus efforts on the most impactful areas.</a:t>
            </a:r>
          </a:p>
          <a:p>
            <a:pPr>
              <a:lnSpc>
                <a:spcPct val="120000"/>
              </a:lnSpc>
            </a:pPr>
            <a:r>
              <a:rPr lang="en-US" dirty="0"/>
              <a:t>Pareto Chart Structure:</a:t>
            </a:r>
          </a:p>
          <a:p>
            <a:pPr lvl="1">
              <a:lnSpc>
                <a:spcPct val="120000"/>
              </a:lnSpc>
            </a:pPr>
            <a:r>
              <a:rPr lang="en-US" dirty="0"/>
              <a:t>Bars: Represent the frequency or impact of problems or causes.</a:t>
            </a:r>
          </a:p>
          <a:p>
            <a:pPr lvl="1">
              <a:lnSpc>
                <a:spcPct val="120000"/>
              </a:lnSpc>
            </a:pPr>
            <a:r>
              <a:rPr lang="en-US" dirty="0"/>
              <a:t>Line Graph: Shows the cumulative percentage of the total impact.</a:t>
            </a:r>
          </a:p>
        </p:txBody>
      </p:sp>
      <p:pic>
        <p:nvPicPr>
          <p:cNvPr id="18" name="Content Placeholder 17">
            <a:extLst>
              <a:ext uri="{FF2B5EF4-FFF2-40B4-BE49-F238E27FC236}">
                <a16:creationId xmlns:a16="http://schemas.microsoft.com/office/drawing/2014/main" id="{B87FD379-75D6-9545-3EA6-DFE33A6D1720}"/>
              </a:ext>
            </a:extLst>
          </p:cNvPr>
          <p:cNvPicPr>
            <a:picLocks noGrp="1" noChangeAspect="1"/>
          </p:cNvPicPr>
          <p:nvPr>
            <p:ph sz="quarter" idx="4"/>
          </p:nvPr>
        </p:nvPicPr>
        <p:blipFill>
          <a:blip r:embed="rId3"/>
          <a:stretch>
            <a:fillRect/>
          </a:stretch>
        </p:blipFill>
        <p:spPr>
          <a:xfrm>
            <a:off x="6172200" y="2896330"/>
            <a:ext cx="5183188" cy="2902078"/>
          </a:xfrm>
          <a:prstGeom prst="rect">
            <a:avLst/>
          </a:prstGeom>
        </p:spPr>
      </p:pic>
      <p:grpSp>
        <p:nvGrpSpPr>
          <p:cNvPr id="4" name="Group 3">
            <a:extLst>
              <a:ext uri="{FF2B5EF4-FFF2-40B4-BE49-F238E27FC236}">
                <a16:creationId xmlns:a16="http://schemas.microsoft.com/office/drawing/2014/main" id="{70303B26-841C-79A6-F6F0-37B40AD64086}"/>
              </a:ext>
            </a:extLst>
          </p:cNvPr>
          <p:cNvGrpSpPr/>
          <p:nvPr/>
        </p:nvGrpSpPr>
        <p:grpSpPr>
          <a:xfrm>
            <a:off x="838200" y="297639"/>
            <a:ext cx="4561953" cy="307138"/>
            <a:chOff x="838200" y="297639"/>
            <a:chExt cx="4561953" cy="307138"/>
          </a:xfrm>
        </p:grpSpPr>
        <p:grpSp>
          <p:nvGrpSpPr>
            <p:cNvPr id="6" name="Group 5">
              <a:extLst>
                <a:ext uri="{FF2B5EF4-FFF2-40B4-BE49-F238E27FC236}">
                  <a16:creationId xmlns:a16="http://schemas.microsoft.com/office/drawing/2014/main" id="{2883AE50-553B-0F54-5993-920319BFE489}"/>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BAED2E8D-C102-9BCA-B83C-4F6B11D7005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B59FD8B2-8C28-A05A-C8D8-4A6E617CBD5C}"/>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BAC55935-F9E7-B5F9-2189-41A21E302BA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7CDEABAF-3195-A06A-7F01-71537891B4F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7EE9B74A-06E8-02EC-1629-59032550D44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F9230DCB-D1D8-EF5C-B00A-53B5BAD5749F}"/>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grpSp>
    </p:spTree>
    <p:extLst>
      <p:ext uri="{BB962C8B-B14F-4D97-AF65-F5344CB8AC3E}">
        <p14:creationId xmlns:p14="http://schemas.microsoft.com/office/powerpoint/2010/main" val="319587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Problem-Solving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1"/>
            <a:ext cx="10515600" cy="3966873"/>
          </a:xfrm>
        </p:spPr>
        <p:txBody>
          <a:bodyPr>
            <a:normAutofit lnSpcReduction="10000"/>
          </a:bodyPr>
          <a:lstStyle/>
          <a:p>
            <a:pPr marL="0" indent="0">
              <a:buNone/>
            </a:pPr>
            <a:r>
              <a:rPr lang="en-US" sz="2300"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1800" b="1" dirty="0"/>
              <a:t>Identify and Categorize:</a:t>
            </a:r>
            <a:r>
              <a:rPr lang="en-US" sz="1800" dirty="0"/>
              <a:t> Understand and categorize the problem type (Type 0, 1, or 2)</a:t>
            </a:r>
          </a:p>
          <a:p>
            <a:r>
              <a:rPr lang="en-US" sz="1800" b="1" dirty="0"/>
              <a:t>Team Formation:</a:t>
            </a:r>
            <a:r>
              <a:rPr lang="en-US" sz="1800" dirty="0"/>
              <a:t> Form an effective cross-functional team</a:t>
            </a:r>
          </a:p>
          <a:p>
            <a:r>
              <a:rPr lang="en-US" sz="1800" b="1" dirty="0"/>
              <a:t>Data Handling:</a:t>
            </a:r>
            <a:r>
              <a:rPr lang="en-US" sz="1800" dirty="0"/>
              <a:t> Collect, analyze, and utilize data to gain insights and develop problem statements</a:t>
            </a:r>
          </a:p>
          <a:p>
            <a:r>
              <a:rPr lang="en-US" sz="1800" b="1" dirty="0"/>
              <a:t>Goal Setting:</a:t>
            </a:r>
            <a:r>
              <a:rPr lang="en-US" sz="1800" dirty="0"/>
              <a:t> Establish specific objectives and timeframes</a:t>
            </a:r>
          </a:p>
          <a:p>
            <a:r>
              <a:rPr lang="en-US" sz="1800" b="1" dirty="0"/>
              <a:t>Relationship Mapping:</a:t>
            </a:r>
            <a:r>
              <a:rPr lang="en-US" sz="1800" dirty="0"/>
              <a:t> Identify key customer-supplier relationships</a:t>
            </a:r>
          </a:p>
          <a:p>
            <a:r>
              <a:rPr lang="en-US" sz="1800" b="1" dirty="0"/>
              <a:t>Implement and Analyze:</a:t>
            </a:r>
            <a:r>
              <a:rPr lang="en-US" sz="1800" dirty="0"/>
              <a:t> Implement temporary countermeasures, determine root causes, and develop action plans</a:t>
            </a:r>
          </a:p>
          <a:p>
            <a:r>
              <a:rPr lang="en-US" sz="1800" b="1" dirty="0"/>
              <a:t>Execute and Monitor:</a:t>
            </a:r>
            <a:r>
              <a:rPr lang="en-US" sz="1800" dirty="0"/>
              <a:t> Execute action plans, document processes, train staff, and monitor effectiveness via KPIs</a:t>
            </a:r>
          </a:p>
          <a:p>
            <a:r>
              <a:rPr lang="en-US" sz="1800" b="1" dirty="0"/>
              <a:t>Standardize and Improve:</a:t>
            </a:r>
            <a:r>
              <a:rPr lang="en-US" sz="1800" dirty="0"/>
              <a:t> Freeze the new standard, integrate it into daily management, and promote continuous improvement (Kaizen)</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5908575" cy="659879"/>
            <a:chOff x="699911" y="1069861"/>
            <a:chExt cx="5908575" cy="350130"/>
          </a:xfrm>
        </p:grpSpPr>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6367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84451" cy="350130"/>
              <a:chOff x="5627529" y="641179"/>
              <a:chExt cx="6651237"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7" y="641179"/>
                <a:ext cx="2427629"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Problem-Solving Process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427629"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29" y="641179"/>
                <a:ext cx="242661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a:t>
                </a:r>
              </a:p>
            </p:txBody>
          </p:sp>
        </p:grpSp>
      </p:grpSp>
    </p:spTree>
    <p:extLst>
      <p:ext uri="{BB962C8B-B14F-4D97-AF65-F5344CB8AC3E}">
        <p14:creationId xmlns:p14="http://schemas.microsoft.com/office/powerpoint/2010/main" val="4049242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114" name="Group 113">
            <a:extLst>
              <a:ext uri="{FF2B5EF4-FFF2-40B4-BE49-F238E27FC236}">
                <a16:creationId xmlns:a16="http://schemas.microsoft.com/office/drawing/2014/main" id="{E573F632-E328-042B-0EEB-CEED09F74ECE}"/>
              </a:ext>
            </a:extLst>
          </p:cNvPr>
          <p:cNvGrpSpPr/>
          <p:nvPr/>
        </p:nvGrpSpPr>
        <p:grpSpPr>
          <a:xfrm>
            <a:off x="612373" y="1413832"/>
            <a:ext cx="2057400" cy="777240"/>
            <a:chOff x="2095617" y="1179903"/>
            <a:chExt cx="1700011" cy="540912"/>
          </a:xfrm>
        </p:grpSpPr>
        <p:sp>
          <p:nvSpPr>
            <p:cNvPr id="11" name="Rectangle 10">
              <a:extLst>
                <a:ext uri="{FF2B5EF4-FFF2-40B4-BE49-F238E27FC236}">
                  <a16:creationId xmlns:a16="http://schemas.microsoft.com/office/drawing/2014/main" id="{ACBDA09F-99F2-3391-7017-7D5F00F8CA0F}"/>
                </a:ext>
              </a:extLst>
            </p:cNvPr>
            <p:cNvSpPr/>
            <p:nvPr/>
          </p:nvSpPr>
          <p:spPr>
            <a:xfrm>
              <a:off x="2095617" y="1179903"/>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2095617" y="117990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115" name="Group 114">
            <a:extLst>
              <a:ext uri="{FF2B5EF4-FFF2-40B4-BE49-F238E27FC236}">
                <a16:creationId xmlns:a16="http://schemas.microsoft.com/office/drawing/2014/main" id="{EEAAC779-6358-D1B5-356F-19AC3A563C75}"/>
              </a:ext>
            </a:extLst>
          </p:cNvPr>
          <p:cNvGrpSpPr/>
          <p:nvPr/>
        </p:nvGrpSpPr>
        <p:grpSpPr>
          <a:xfrm>
            <a:off x="611317" y="3730882"/>
            <a:ext cx="2057400" cy="777240"/>
            <a:chOff x="2095617" y="2319168"/>
            <a:chExt cx="1700011" cy="540912"/>
          </a:xfrm>
        </p:grpSpPr>
        <p:sp>
          <p:nvSpPr>
            <p:cNvPr id="13" name="Rectangle 12">
              <a:extLst>
                <a:ext uri="{FF2B5EF4-FFF2-40B4-BE49-F238E27FC236}">
                  <a16:creationId xmlns:a16="http://schemas.microsoft.com/office/drawing/2014/main" id="{B43577E6-2FC8-457A-79F3-9910AF416A80}"/>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116" name="Group 115">
            <a:extLst>
              <a:ext uri="{FF2B5EF4-FFF2-40B4-BE49-F238E27FC236}">
                <a16:creationId xmlns:a16="http://schemas.microsoft.com/office/drawing/2014/main" id="{5A7A30C6-E9A5-25C7-F70E-D43461151F1F}"/>
              </a:ext>
            </a:extLst>
          </p:cNvPr>
          <p:cNvGrpSpPr/>
          <p:nvPr/>
        </p:nvGrpSpPr>
        <p:grpSpPr>
          <a:xfrm>
            <a:off x="611317" y="4889408"/>
            <a:ext cx="2057400" cy="777240"/>
            <a:chOff x="2095617" y="3482984"/>
            <a:chExt cx="1700011" cy="540912"/>
          </a:xfrm>
        </p:grpSpPr>
        <p:sp>
          <p:nvSpPr>
            <p:cNvPr id="16" name="Rectangle 15">
              <a:extLst>
                <a:ext uri="{FF2B5EF4-FFF2-40B4-BE49-F238E27FC236}">
                  <a16:creationId xmlns:a16="http://schemas.microsoft.com/office/drawing/2014/main" id="{8E33BA21-1D76-6194-8879-D9A1BA778D1D}"/>
                </a:ext>
              </a:extLst>
            </p:cNvPr>
            <p:cNvSpPr/>
            <p:nvPr/>
          </p:nvSpPr>
          <p:spPr>
            <a:xfrm>
              <a:off x="2095617" y="3482984"/>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2095617" y="348298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 name="Group 1">
            <a:extLst>
              <a:ext uri="{FF2B5EF4-FFF2-40B4-BE49-F238E27FC236}">
                <a16:creationId xmlns:a16="http://schemas.microsoft.com/office/drawing/2014/main" id="{9D17ABB9-1037-DADD-4DE1-F97E3630334D}"/>
              </a:ext>
            </a:extLst>
          </p:cNvPr>
          <p:cNvGrpSpPr/>
          <p:nvPr/>
        </p:nvGrpSpPr>
        <p:grpSpPr>
          <a:xfrm>
            <a:off x="611845" y="2572357"/>
            <a:ext cx="2057400" cy="777240"/>
            <a:chOff x="2095617" y="2319168"/>
            <a:chExt cx="1700011" cy="540912"/>
          </a:xfrm>
        </p:grpSpPr>
        <p:sp>
          <p:nvSpPr>
            <p:cNvPr id="3" name="Rectangle 2">
              <a:extLst>
                <a:ext uri="{FF2B5EF4-FFF2-40B4-BE49-F238E27FC236}">
                  <a16:creationId xmlns:a16="http://schemas.microsoft.com/office/drawing/2014/main" id="{55C60F14-29DF-CF99-306E-D287E3F16C1E}"/>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2118052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8" name="Group 7">
            <a:extLst>
              <a:ext uri="{FF2B5EF4-FFF2-40B4-BE49-F238E27FC236}">
                <a16:creationId xmlns:a16="http://schemas.microsoft.com/office/drawing/2014/main" id="{EC1C2339-1F04-DFAA-70C7-CE05B417EDDE}"/>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115" name="Group 114">
            <a:extLst>
              <a:ext uri="{FF2B5EF4-FFF2-40B4-BE49-F238E27FC236}">
                <a16:creationId xmlns:a16="http://schemas.microsoft.com/office/drawing/2014/main" id="{EEAAC779-6358-D1B5-356F-19AC3A563C75}"/>
              </a:ext>
            </a:extLst>
          </p:cNvPr>
          <p:cNvGrpSpPr/>
          <p:nvPr/>
        </p:nvGrpSpPr>
        <p:grpSpPr>
          <a:xfrm>
            <a:off x="611317" y="3730882"/>
            <a:ext cx="2057400" cy="777240"/>
            <a:chOff x="2095617" y="2319168"/>
            <a:chExt cx="1700011" cy="540912"/>
          </a:xfrm>
        </p:grpSpPr>
        <p:sp>
          <p:nvSpPr>
            <p:cNvPr id="13" name="Rectangle 12">
              <a:extLst>
                <a:ext uri="{FF2B5EF4-FFF2-40B4-BE49-F238E27FC236}">
                  <a16:creationId xmlns:a16="http://schemas.microsoft.com/office/drawing/2014/main" id="{B43577E6-2FC8-457A-79F3-9910AF416A80}"/>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116" name="Group 115">
            <a:extLst>
              <a:ext uri="{FF2B5EF4-FFF2-40B4-BE49-F238E27FC236}">
                <a16:creationId xmlns:a16="http://schemas.microsoft.com/office/drawing/2014/main" id="{5A7A30C6-E9A5-25C7-F70E-D43461151F1F}"/>
              </a:ext>
            </a:extLst>
          </p:cNvPr>
          <p:cNvGrpSpPr/>
          <p:nvPr/>
        </p:nvGrpSpPr>
        <p:grpSpPr>
          <a:xfrm>
            <a:off x="611317" y="4889408"/>
            <a:ext cx="2057400" cy="777240"/>
            <a:chOff x="2095617" y="3482984"/>
            <a:chExt cx="1700011" cy="540912"/>
          </a:xfrm>
        </p:grpSpPr>
        <p:sp>
          <p:nvSpPr>
            <p:cNvPr id="16" name="Rectangle 15">
              <a:extLst>
                <a:ext uri="{FF2B5EF4-FFF2-40B4-BE49-F238E27FC236}">
                  <a16:creationId xmlns:a16="http://schemas.microsoft.com/office/drawing/2014/main" id="{8E33BA21-1D76-6194-8879-D9A1BA778D1D}"/>
                </a:ext>
              </a:extLst>
            </p:cNvPr>
            <p:cNvSpPr/>
            <p:nvPr/>
          </p:nvSpPr>
          <p:spPr>
            <a:xfrm>
              <a:off x="2095617" y="3482984"/>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2095617" y="348298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 name="Group 1">
            <a:extLst>
              <a:ext uri="{FF2B5EF4-FFF2-40B4-BE49-F238E27FC236}">
                <a16:creationId xmlns:a16="http://schemas.microsoft.com/office/drawing/2014/main" id="{9D17ABB9-1037-DADD-4DE1-F97E3630334D}"/>
              </a:ext>
            </a:extLst>
          </p:cNvPr>
          <p:cNvGrpSpPr/>
          <p:nvPr/>
        </p:nvGrpSpPr>
        <p:grpSpPr>
          <a:xfrm>
            <a:off x="611845" y="2572357"/>
            <a:ext cx="2057400" cy="777240"/>
            <a:chOff x="2095617" y="2319168"/>
            <a:chExt cx="1700011" cy="540912"/>
          </a:xfrm>
        </p:grpSpPr>
        <p:sp>
          <p:nvSpPr>
            <p:cNvPr id="3" name="Rectangle 2">
              <a:extLst>
                <a:ext uri="{FF2B5EF4-FFF2-40B4-BE49-F238E27FC236}">
                  <a16:creationId xmlns:a16="http://schemas.microsoft.com/office/drawing/2014/main" id="{55C60F14-29DF-CF99-306E-D287E3F16C1E}"/>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453195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1. Determine Type 0-1-2 Problem</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 categorization of the problem based on the status of applicable standards.</a:t>
            </a:r>
          </a:p>
          <a:p>
            <a:pPr marL="285750" indent="-285750">
              <a:buFont typeface="Arial" panose="020B0604020202020204" pitchFamily="34" charset="0"/>
              <a:buChar char="•"/>
            </a:pPr>
            <a:r>
              <a:rPr lang="en-US" dirty="0"/>
              <a:t>Identifying the problem type helps tailor the problem-solving approach for maximum effectiveness.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To establish a starting point for problem resolution by identifying the current state of process standards.</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42348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Type 0: No training manual exists for a new machine – create one.</a:t>
            </a:r>
          </a:p>
          <a:p>
            <a:pPr marL="285750" indent="-285750">
              <a:buFont typeface="Arial" panose="020B0604020202020204" pitchFamily="34" charset="0"/>
              <a:buChar char="•"/>
            </a:pPr>
            <a:r>
              <a:rPr lang="en-US" dirty="0"/>
              <a:t>Type 1: Operators trained on the machine but still making errors – reinforce training or improve the standard.</a:t>
            </a:r>
          </a:p>
          <a:p>
            <a:pPr marL="285750" indent="-285750">
              <a:buFont typeface="Arial" panose="020B0604020202020204" pitchFamily="34" charset="0"/>
              <a:buChar char="•"/>
            </a:pPr>
            <a:r>
              <a:rPr lang="en-US" dirty="0"/>
              <a:t>Type 2: Operators are following the standard but not achieving the desired results.</a:t>
            </a:r>
          </a:p>
        </p:txBody>
      </p:sp>
      <p:grpSp>
        <p:nvGrpSpPr>
          <p:cNvPr id="3" name="Group 2">
            <a:extLst>
              <a:ext uri="{FF2B5EF4-FFF2-40B4-BE49-F238E27FC236}">
                <a16:creationId xmlns:a16="http://schemas.microsoft.com/office/drawing/2014/main" id="{8D2C70E6-AC8C-B002-52BE-52DCF6B38383}"/>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FC80D5A1-77D7-B678-25FD-3CABE6CE19B3}"/>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A2725BB6-0CC2-5C30-ACD4-806E4A3DD0C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E6CB0FA1-6466-32DF-1029-1941C2644B71}"/>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0FA5B206-AF85-ADEF-154C-D9A3DB106F2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0E2FE044-EDCE-39FB-2477-4CCBDC83730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B60B0E50-6961-5700-F289-83171E035BB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DA288BF0-A5EC-8DE5-5A89-3B95F0E9E952}"/>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09934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1. Determine Type 0-1-2 Problem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19</a:t>
            </a:fld>
            <a:endParaRPr lang="en-US"/>
          </a:p>
        </p:txBody>
      </p:sp>
      <p:grpSp>
        <p:nvGrpSpPr>
          <p:cNvPr id="17" name="Group 16">
            <a:extLst>
              <a:ext uri="{FF2B5EF4-FFF2-40B4-BE49-F238E27FC236}">
                <a16:creationId xmlns:a16="http://schemas.microsoft.com/office/drawing/2014/main" id="{A1342D72-B8BB-5BA2-C4A6-69E494E9A5FE}"/>
              </a:ext>
            </a:extLst>
          </p:cNvPr>
          <p:cNvGrpSpPr/>
          <p:nvPr/>
        </p:nvGrpSpPr>
        <p:grpSpPr>
          <a:xfrm>
            <a:off x="838200" y="1866763"/>
            <a:ext cx="10799137" cy="599825"/>
            <a:chOff x="1056549" y="1919926"/>
            <a:chExt cx="10799137" cy="599825"/>
          </a:xfrm>
          <a:solidFill>
            <a:schemeClr val="tx1"/>
          </a:solidFill>
        </p:grpSpPr>
        <p:sp>
          <p:nvSpPr>
            <p:cNvPr id="18" name="AutoShape 9">
              <a:extLst>
                <a:ext uri="{FF2B5EF4-FFF2-40B4-BE49-F238E27FC236}">
                  <a16:creationId xmlns:a16="http://schemas.microsoft.com/office/drawing/2014/main" id="{46847304-C482-2790-9BBD-4A3BD6C49ED4}"/>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2 – Standard Exists But Not Delivering Desired Results</a:t>
              </a:r>
            </a:p>
          </p:txBody>
        </p:sp>
        <p:sp>
          <p:nvSpPr>
            <p:cNvPr id="19" name="AutoShape 10">
              <a:extLst>
                <a:ext uri="{FF2B5EF4-FFF2-40B4-BE49-F238E27FC236}">
                  <a16:creationId xmlns:a16="http://schemas.microsoft.com/office/drawing/2014/main" id="{D05ADFE6-A688-BDC6-BB16-3C95F932FDDB}"/>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 1 – Standard Exists But Not Being Followed</a:t>
              </a:r>
            </a:p>
          </p:txBody>
        </p:sp>
        <p:sp>
          <p:nvSpPr>
            <p:cNvPr id="20" name="AutoShape 11">
              <a:extLst>
                <a:ext uri="{FF2B5EF4-FFF2-40B4-BE49-F238E27FC236}">
                  <a16:creationId xmlns:a16="http://schemas.microsoft.com/office/drawing/2014/main" id="{76657BF6-27B9-C254-0846-4D9BFEF26805}"/>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0 – No Standard Exists</a:t>
              </a:r>
            </a:p>
          </p:txBody>
        </p:sp>
      </p:grpSp>
      <p:sp>
        <p:nvSpPr>
          <p:cNvPr id="21" name="TextBox 20">
            <a:extLst>
              <a:ext uri="{FF2B5EF4-FFF2-40B4-BE49-F238E27FC236}">
                <a16:creationId xmlns:a16="http://schemas.microsoft.com/office/drawing/2014/main" id="{01D2D059-706B-FA58-F6C6-41BFDF01FC09}"/>
              </a:ext>
            </a:extLst>
          </p:cNvPr>
          <p:cNvSpPr txBox="1"/>
          <p:nvPr/>
        </p:nvSpPr>
        <p:spPr>
          <a:xfrm>
            <a:off x="1084521" y="2466750"/>
            <a:ext cx="3062177" cy="3416320"/>
          </a:xfrm>
          <a:prstGeom prst="rect">
            <a:avLst/>
          </a:prstGeom>
          <a:noFill/>
        </p:spPr>
        <p:txBody>
          <a:bodyPr wrap="square" rtlCol="0">
            <a:spAutoFit/>
          </a:bodyPr>
          <a:lstStyle/>
          <a:p>
            <a:pPr marL="285750" indent="-285750">
              <a:buFont typeface="Arial" panose="020B0604020202020204" pitchFamily="34" charset="0"/>
              <a:buChar char="•"/>
            </a:pPr>
            <a:r>
              <a:rPr lang="en-US" dirty="0"/>
              <a:t>No documentation exists for a process</a:t>
            </a:r>
          </a:p>
          <a:p>
            <a:pPr marL="285750" indent="-285750">
              <a:buFont typeface="Arial" panose="020B0604020202020204" pitchFamily="34" charset="0"/>
              <a:buChar char="•"/>
            </a:pPr>
            <a:r>
              <a:rPr lang="en-US" dirty="0"/>
              <a:t>Everyone has their own way of doing the process</a:t>
            </a:r>
          </a:p>
          <a:p>
            <a:pPr marL="285750" indent="-285750">
              <a:buFont typeface="Arial" panose="020B0604020202020204" pitchFamily="34" charset="0"/>
              <a:buChar char="•"/>
            </a:pPr>
            <a:r>
              <a:rPr lang="en-US" dirty="0"/>
              <a:t>Process relies on “Tribal Knowledge”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Example: At home, shoes are scattered by the front door because there is no designated shoe storage or rack.</a:t>
            </a:r>
          </a:p>
        </p:txBody>
      </p:sp>
      <p:sp>
        <p:nvSpPr>
          <p:cNvPr id="22" name="TextBox 21">
            <a:extLst>
              <a:ext uri="{FF2B5EF4-FFF2-40B4-BE49-F238E27FC236}">
                <a16:creationId xmlns:a16="http://schemas.microsoft.com/office/drawing/2014/main" id="{39DA5243-0127-12AD-C84A-623AB4C8CEDB}"/>
              </a:ext>
            </a:extLst>
          </p:cNvPr>
          <p:cNvSpPr txBox="1"/>
          <p:nvPr/>
        </p:nvSpPr>
        <p:spPr>
          <a:xfrm>
            <a:off x="4322370" y="2466750"/>
            <a:ext cx="3685954" cy="3693319"/>
          </a:xfrm>
          <a:prstGeom prst="rect">
            <a:avLst/>
          </a:prstGeom>
          <a:noFill/>
        </p:spPr>
        <p:txBody>
          <a:bodyPr wrap="square" rtlCol="0">
            <a:spAutoFit/>
          </a:bodyPr>
          <a:lstStyle/>
          <a:p>
            <a:pPr marL="285750" indent="-285750">
              <a:buFont typeface="Arial" panose="020B0604020202020204" pitchFamily="34" charset="0"/>
              <a:buChar char="•"/>
            </a:pPr>
            <a:r>
              <a:rPr lang="en-US" dirty="0"/>
              <a:t>People who created the standard weren’t the people who use it in practice</a:t>
            </a:r>
          </a:p>
          <a:p>
            <a:pPr marL="285750" indent="-285750">
              <a:buFont typeface="Arial" panose="020B0604020202020204" pitchFamily="34" charset="0"/>
              <a:buChar char="•"/>
            </a:pPr>
            <a:r>
              <a:rPr lang="en-US" dirty="0"/>
              <a:t>Poor discipline</a:t>
            </a:r>
          </a:p>
          <a:p>
            <a:pPr marL="285750" indent="-285750">
              <a:buFont typeface="Arial" panose="020B0604020202020204" pitchFamily="34" charset="0"/>
              <a:buChar char="•"/>
            </a:pPr>
            <a:r>
              <a:rPr lang="en-US" dirty="0"/>
              <a:t>Documentation exists but is inaccessible to operators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Example: The family car has a maintenance schedule sticker on the windshield, but oil changes and tire rotations are not performed on time, leading to performance issues.</a:t>
            </a:r>
          </a:p>
        </p:txBody>
      </p:sp>
      <p:sp>
        <p:nvSpPr>
          <p:cNvPr id="23" name="TextBox 22">
            <a:extLst>
              <a:ext uri="{FF2B5EF4-FFF2-40B4-BE49-F238E27FC236}">
                <a16:creationId xmlns:a16="http://schemas.microsoft.com/office/drawing/2014/main" id="{BFAF4C0E-61D0-9F47-48F6-1305425405F0}"/>
              </a:ext>
            </a:extLst>
          </p:cNvPr>
          <p:cNvSpPr txBox="1"/>
          <p:nvPr/>
        </p:nvSpPr>
        <p:spPr>
          <a:xfrm>
            <a:off x="8117714" y="2466588"/>
            <a:ext cx="3685954" cy="3970318"/>
          </a:xfrm>
          <a:prstGeom prst="rect">
            <a:avLst/>
          </a:prstGeom>
          <a:noFill/>
        </p:spPr>
        <p:txBody>
          <a:bodyPr wrap="square" rtlCol="0">
            <a:spAutoFit/>
          </a:bodyPr>
          <a:lstStyle/>
          <a:p>
            <a:pPr marL="285750" indent="-285750">
              <a:buFont typeface="Arial" panose="020B0604020202020204" pitchFamily="34" charset="0"/>
              <a:buChar char="•"/>
            </a:pPr>
            <a:r>
              <a:rPr lang="en-US" dirty="0"/>
              <a:t>Standard is followed</a:t>
            </a:r>
          </a:p>
          <a:p>
            <a:pPr marL="285750" indent="-285750">
              <a:buFont typeface="Arial" panose="020B0604020202020204" pitchFamily="34" charset="0"/>
              <a:buChar char="•"/>
            </a:pPr>
            <a:r>
              <a:rPr lang="en-US" dirty="0"/>
              <a:t>Doesn’t provide intended results</a:t>
            </a:r>
          </a:p>
          <a:p>
            <a:pPr marL="285750" indent="-285750">
              <a:buFont typeface="Arial" panose="020B0604020202020204" pitchFamily="34" charset="0"/>
              <a:buChar char="•"/>
            </a:pPr>
            <a:r>
              <a:rPr lang="en-US" dirty="0"/>
              <a:t>People who created the standard weren’t the people who use it in practice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Example: The local coffee shop has a standard for making lattes in under one minute to ensure quick service, but this often results in lukewarm beverages due to insufficient processing standard.</a:t>
            </a:r>
          </a:p>
        </p:txBody>
      </p:sp>
      <p:grpSp>
        <p:nvGrpSpPr>
          <p:cNvPr id="3" name="Group 2">
            <a:extLst>
              <a:ext uri="{FF2B5EF4-FFF2-40B4-BE49-F238E27FC236}">
                <a16:creationId xmlns:a16="http://schemas.microsoft.com/office/drawing/2014/main" id="{E35D48CE-F6D9-164F-35B0-7C053376AD74}"/>
              </a:ext>
            </a:extLst>
          </p:cNvPr>
          <p:cNvGrpSpPr/>
          <p:nvPr/>
        </p:nvGrpSpPr>
        <p:grpSpPr>
          <a:xfrm>
            <a:off x="838200" y="297639"/>
            <a:ext cx="4561953" cy="307138"/>
            <a:chOff x="838200" y="297639"/>
            <a:chExt cx="4561953" cy="307138"/>
          </a:xfrm>
        </p:grpSpPr>
        <p:grpSp>
          <p:nvGrpSpPr>
            <p:cNvPr id="14" name="Group 13">
              <a:extLst>
                <a:ext uri="{FF2B5EF4-FFF2-40B4-BE49-F238E27FC236}">
                  <a16:creationId xmlns:a16="http://schemas.microsoft.com/office/drawing/2014/main" id="{B8307A32-A819-F997-F3DB-B0A69D2D6002}"/>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5AF2D1EF-62A7-04E9-21E7-85DF9A43220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4" name="Group 23">
                <a:extLst>
                  <a:ext uri="{FF2B5EF4-FFF2-40B4-BE49-F238E27FC236}">
                    <a16:creationId xmlns:a16="http://schemas.microsoft.com/office/drawing/2014/main" id="{4923B61F-1740-7B2C-084C-FD64C2135834}"/>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0D12F5FA-F9E7-AFD4-7A69-958EE5824D5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1">
                  <a:extLst>
                    <a:ext uri="{FF2B5EF4-FFF2-40B4-BE49-F238E27FC236}">
                      <a16:creationId xmlns:a16="http://schemas.microsoft.com/office/drawing/2014/main" id="{DBE833AA-8509-90A3-A332-AEBEB391082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E29E0D42-BD92-D19E-791A-81DF3A883BF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59BE2C9B-7C80-9DC1-C719-D3D6BD7DA13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879706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Problem-Solving</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Use problem-solving when there is a deviation from the desired standard, and the cause is unknown.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20</a:t>
            </a:fld>
            <a:endParaRPr lang="en-US"/>
          </a:p>
        </p:txBody>
      </p:sp>
      <p:grpSp>
        <p:nvGrpSpPr>
          <p:cNvPr id="33" name="Group 32">
            <a:extLst>
              <a:ext uri="{FF2B5EF4-FFF2-40B4-BE49-F238E27FC236}">
                <a16:creationId xmlns:a16="http://schemas.microsoft.com/office/drawing/2014/main" id="{8D536850-9818-E99D-D99C-D38A4A595D6E}"/>
              </a:ext>
            </a:extLst>
          </p:cNvPr>
          <p:cNvGrpSpPr/>
          <p:nvPr/>
        </p:nvGrpSpPr>
        <p:grpSpPr>
          <a:xfrm>
            <a:off x="2195512" y="3120389"/>
            <a:ext cx="7827141" cy="3056573"/>
            <a:chOff x="610394" y="2192338"/>
            <a:chExt cx="7827141" cy="3962400"/>
          </a:xfrm>
        </p:grpSpPr>
        <p:sp>
          <p:nvSpPr>
            <p:cNvPr id="38" name="Line 15">
              <a:extLst>
                <a:ext uri="{FF2B5EF4-FFF2-40B4-BE49-F238E27FC236}">
                  <a16:creationId xmlns:a16="http://schemas.microsoft.com/office/drawing/2014/main" id="{88BE8DFE-F700-E13C-B7B3-E06E1DE85B0D}"/>
                </a:ext>
              </a:extLst>
            </p:cNvPr>
            <p:cNvSpPr>
              <a:spLocks noChangeShapeType="1"/>
            </p:cNvSpPr>
            <p:nvPr/>
          </p:nvSpPr>
          <p:spPr bwMode="auto">
            <a:xfrm>
              <a:off x="7519654" y="4192605"/>
              <a:ext cx="0" cy="1571627"/>
            </a:xfrm>
            <a:prstGeom prst="line">
              <a:avLst/>
            </a:prstGeom>
            <a:noFill/>
            <a:ln w="9525">
              <a:solidFill>
                <a:schemeClr val="tx1"/>
              </a:solidFill>
              <a:prstDash val="sysDot"/>
              <a:round/>
              <a:headEnd type="triangle"/>
              <a:tailEnd type="triangle" w="med" len="med"/>
            </a:ln>
          </p:spPr>
          <p:txBody>
            <a:bodyPr wrap="none" anchor="ctr"/>
            <a:lstStyle/>
            <a:p>
              <a:endParaRPr lang="en-US">
                <a:latin typeface="Roboto" panose="02000000000000000000" pitchFamily="2" charset="0"/>
                <a:ea typeface="Roboto" panose="02000000000000000000" pitchFamily="2" charset="0"/>
              </a:endParaRPr>
            </a:p>
          </p:txBody>
        </p:sp>
        <p:sp>
          <p:nvSpPr>
            <p:cNvPr id="39" name="Line 15">
              <a:extLst>
                <a:ext uri="{FF2B5EF4-FFF2-40B4-BE49-F238E27FC236}">
                  <a16:creationId xmlns:a16="http://schemas.microsoft.com/office/drawing/2014/main" id="{30400BC5-DA8D-C9C7-0203-E7039A919502}"/>
                </a:ext>
              </a:extLst>
            </p:cNvPr>
            <p:cNvSpPr>
              <a:spLocks noChangeShapeType="1"/>
            </p:cNvSpPr>
            <p:nvPr/>
          </p:nvSpPr>
          <p:spPr bwMode="auto">
            <a:xfrm>
              <a:off x="7519654" y="2592407"/>
              <a:ext cx="0" cy="1571627"/>
            </a:xfrm>
            <a:prstGeom prst="line">
              <a:avLst/>
            </a:prstGeom>
            <a:noFill/>
            <a:ln w="9525">
              <a:solidFill>
                <a:schemeClr val="tx1"/>
              </a:solidFill>
              <a:prstDash val="sysDot"/>
              <a:round/>
              <a:headEnd type="triangle"/>
              <a:tailEnd type="triangle" w="med" len="med"/>
            </a:ln>
          </p:spPr>
          <p:txBody>
            <a:bodyPr wrap="none" anchor="ctr"/>
            <a:lstStyle/>
            <a:p>
              <a:endParaRPr lang="en-US">
                <a:latin typeface="Roboto" panose="02000000000000000000" pitchFamily="2" charset="0"/>
                <a:ea typeface="Roboto" panose="02000000000000000000" pitchFamily="2" charset="0"/>
              </a:endParaRPr>
            </a:p>
          </p:txBody>
        </p:sp>
        <p:sp>
          <p:nvSpPr>
            <p:cNvPr id="37" name="Line 15">
              <a:extLst>
                <a:ext uri="{FF2B5EF4-FFF2-40B4-BE49-F238E27FC236}">
                  <a16:creationId xmlns:a16="http://schemas.microsoft.com/office/drawing/2014/main" id="{A385723D-6C9F-52F7-49F7-7DBF80443BC5}"/>
                </a:ext>
              </a:extLst>
            </p:cNvPr>
            <p:cNvSpPr>
              <a:spLocks noChangeShapeType="1"/>
            </p:cNvSpPr>
            <p:nvPr/>
          </p:nvSpPr>
          <p:spPr bwMode="auto">
            <a:xfrm>
              <a:off x="1873250" y="4166634"/>
              <a:ext cx="0" cy="1571627"/>
            </a:xfrm>
            <a:prstGeom prst="line">
              <a:avLst/>
            </a:prstGeom>
            <a:noFill/>
            <a:ln w="9525">
              <a:solidFill>
                <a:schemeClr val="tx1"/>
              </a:solidFill>
              <a:prstDash val="sysDot"/>
              <a:round/>
              <a:headEnd type="triangle"/>
              <a:tailEnd type="triangle" w="med" len="med"/>
            </a:ln>
          </p:spPr>
          <p:txBody>
            <a:bodyPr wrap="none" anchor="ctr"/>
            <a:lstStyle/>
            <a:p>
              <a:endParaRPr lang="en-US">
                <a:latin typeface="Roboto" panose="02000000000000000000" pitchFamily="2" charset="0"/>
                <a:ea typeface="Roboto" panose="02000000000000000000" pitchFamily="2" charset="0"/>
              </a:endParaRPr>
            </a:p>
          </p:txBody>
        </p:sp>
        <p:sp>
          <p:nvSpPr>
            <p:cNvPr id="25" name="Line 15">
              <a:extLst>
                <a:ext uri="{FF2B5EF4-FFF2-40B4-BE49-F238E27FC236}">
                  <a16:creationId xmlns:a16="http://schemas.microsoft.com/office/drawing/2014/main" id="{8177854E-B73D-74F2-0A97-833034238055}"/>
                </a:ext>
              </a:extLst>
            </p:cNvPr>
            <p:cNvSpPr>
              <a:spLocks noChangeShapeType="1"/>
            </p:cNvSpPr>
            <p:nvPr/>
          </p:nvSpPr>
          <p:spPr bwMode="auto">
            <a:xfrm>
              <a:off x="1873250" y="2563793"/>
              <a:ext cx="0" cy="1571627"/>
            </a:xfrm>
            <a:prstGeom prst="line">
              <a:avLst/>
            </a:prstGeom>
            <a:noFill/>
            <a:ln w="9525">
              <a:solidFill>
                <a:schemeClr val="tx1"/>
              </a:solidFill>
              <a:prstDash val="sysDot"/>
              <a:round/>
              <a:headEnd type="triangle"/>
              <a:tailEnd type="triangle" w="med" len="med"/>
            </a:ln>
          </p:spPr>
          <p:txBody>
            <a:bodyPr wrap="none" anchor="ctr"/>
            <a:lstStyle/>
            <a:p>
              <a:endParaRPr lang="en-US">
                <a:latin typeface="Roboto" panose="02000000000000000000" pitchFamily="2" charset="0"/>
                <a:ea typeface="Roboto" panose="02000000000000000000" pitchFamily="2" charset="0"/>
              </a:endParaRPr>
            </a:p>
          </p:txBody>
        </p:sp>
        <p:sp>
          <p:nvSpPr>
            <p:cNvPr id="36" name="Line 5">
              <a:extLst>
                <a:ext uri="{FF2B5EF4-FFF2-40B4-BE49-F238E27FC236}">
                  <a16:creationId xmlns:a16="http://schemas.microsoft.com/office/drawing/2014/main" id="{C133FDFA-3FF6-E8A9-341D-EE9620A2FB29}"/>
                </a:ext>
              </a:extLst>
            </p:cNvPr>
            <p:cNvSpPr>
              <a:spLocks noChangeShapeType="1"/>
            </p:cNvSpPr>
            <p:nvPr/>
          </p:nvSpPr>
          <p:spPr bwMode="auto">
            <a:xfrm>
              <a:off x="773573" y="5783263"/>
              <a:ext cx="7620000" cy="0"/>
            </a:xfrm>
            <a:prstGeom prst="line">
              <a:avLst/>
            </a:prstGeom>
            <a:noFill/>
            <a:ln w="9525">
              <a:solidFill>
                <a:schemeClr val="tx1"/>
              </a:solidFill>
              <a:round/>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14" name="Line 4">
              <a:extLst>
                <a:ext uri="{FF2B5EF4-FFF2-40B4-BE49-F238E27FC236}">
                  <a16:creationId xmlns:a16="http://schemas.microsoft.com/office/drawing/2014/main" id="{56F822D0-988D-3542-4FC4-238CAAB13D32}"/>
                </a:ext>
              </a:extLst>
            </p:cNvPr>
            <p:cNvSpPr>
              <a:spLocks noChangeShapeType="1"/>
            </p:cNvSpPr>
            <p:nvPr/>
          </p:nvSpPr>
          <p:spPr bwMode="auto">
            <a:xfrm>
              <a:off x="775097" y="4164012"/>
              <a:ext cx="7616952" cy="0"/>
            </a:xfrm>
            <a:prstGeom prst="line">
              <a:avLst/>
            </a:prstGeom>
            <a:noFill/>
            <a:ln w="9525">
              <a:solidFill>
                <a:schemeClr val="tx1"/>
              </a:solidFill>
              <a:round/>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15" name="Line 5">
              <a:extLst>
                <a:ext uri="{FF2B5EF4-FFF2-40B4-BE49-F238E27FC236}">
                  <a16:creationId xmlns:a16="http://schemas.microsoft.com/office/drawing/2014/main" id="{F1FC0CF7-CC57-0430-4418-21E25F1D21E1}"/>
                </a:ext>
              </a:extLst>
            </p:cNvPr>
            <p:cNvSpPr>
              <a:spLocks noChangeShapeType="1"/>
            </p:cNvSpPr>
            <p:nvPr/>
          </p:nvSpPr>
          <p:spPr bwMode="auto">
            <a:xfrm>
              <a:off x="773573" y="2563812"/>
              <a:ext cx="7620000" cy="0"/>
            </a:xfrm>
            <a:prstGeom prst="line">
              <a:avLst/>
            </a:prstGeom>
            <a:noFill/>
            <a:ln w="9525">
              <a:solidFill>
                <a:schemeClr val="tx1"/>
              </a:solidFill>
              <a:round/>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16" name="Oval 6">
              <a:extLst>
                <a:ext uri="{FF2B5EF4-FFF2-40B4-BE49-F238E27FC236}">
                  <a16:creationId xmlns:a16="http://schemas.microsoft.com/office/drawing/2014/main" id="{19F1C61D-601A-BF45-3DF2-264B0CAB7780}"/>
                </a:ext>
              </a:extLst>
            </p:cNvPr>
            <p:cNvSpPr>
              <a:spLocks noChangeArrowheads="1"/>
            </p:cNvSpPr>
            <p:nvPr/>
          </p:nvSpPr>
          <p:spPr bwMode="auto">
            <a:xfrm>
              <a:off x="3440113" y="2192338"/>
              <a:ext cx="2743200" cy="742949"/>
            </a:xfrm>
            <a:prstGeom prst="ellipse">
              <a:avLst/>
            </a:prstGeom>
            <a:solidFill>
              <a:schemeClr val="accent6"/>
            </a:solidFill>
            <a:ln w="9525">
              <a:solidFill>
                <a:schemeClr val="tx1"/>
              </a:solidFill>
              <a:round/>
              <a:headEnd/>
              <a:tailEnd/>
            </a:ln>
          </p:spPr>
          <p:txBody>
            <a:bodyPr wrap="none" anchor="ctr"/>
            <a:lstStyle/>
            <a:p>
              <a:pPr algn="ctr" eaLnBrk="0" hangingPunct="0"/>
              <a:r>
                <a:rPr lang="en-US" sz="1800" b="1" dirty="0">
                  <a:solidFill>
                    <a:schemeClr val="bg1"/>
                  </a:solidFill>
                  <a:latin typeface="Roboto" panose="02000000000000000000" pitchFamily="2" charset="0"/>
                  <a:ea typeface="Roboto" panose="02000000000000000000" pitchFamily="2" charset="0"/>
                </a:rPr>
                <a:t>Desired Standard</a:t>
              </a:r>
              <a:endParaRPr lang="en-US" sz="1800" dirty="0">
                <a:solidFill>
                  <a:schemeClr val="bg1"/>
                </a:solidFill>
                <a:latin typeface="Roboto" panose="02000000000000000000" pitchFamily="2" charset="0"/>
                <a:ea typeface="Roboto" panose="02000000000000000000" pitchFamily="2" charset="0"/>
              </a:endParaRPr>
            </a:p>
          </p:txBody>
        </p:sp>
        <p:sp>
          <p:nvSpPr>
            <p:cNvPr id="17" name="Text Box 7">
              <a:extLst>
                <a:ext uri="{FF2B5EF4-FFF2-40B4-BE49-F238E27FC236}">
                  <a16:creationId xmlns:a16="http://schemas.microsoft.com/office/drawing/2014/main" id="{447D73DA-7ADD-4F48-B570-D4ED2D57DABA}"/>
                </a:ext>
              </a:extLst>
            </p:cNvPr>
            <p:cNvSpPr txBox="1">
              <a:spLocks noChangeArrowheads="1"/>
            </p:cNvSpPr>
            <p:nvPr/>
          </p:nvSpPr>
          <p:spPr bwMode="auto">
            <a:xfrm>
              <a:off x="728546" y="3110214"/>
              <a:ext cx="2289409" cy="478785"/>
            </a:xfrm>
            <a:prstGeom prst="rect">
              <a:avLst/>
            </a:prstGeom>
            <a:solidFill>
              <a:schemeClr val="bg1"/>
            </a:solidFill>
            <a:ln w="9525">
              <a:noFill/>
              <a:miter lim="800000"/>
              <a:headEnd/>
              <a:tailEnd/>
            </a:ln>
          </p:spPr>
          <p:txBody>
            <a:bodyPr wrap="none">
              <a:spAutoFit/>
            </a:bodyPr>
            <a:lstStyle/>
            <a:p>
              <a:pPr algn="ctr" eaLnBrk="0" hangingPunct="0"/>
              <a:r>
                <a:rPr lang="en-US" sz="1800" b="1" dirty="0">
                  <a:latin typeface="Roboto" panose="02000000000000000000" pitchFamily="2" charset="0"/>
                  <a:ea typeface="Roboto" panose="02000000000000000000" pitchFamily="2" charset="0"/>
                </a:rPr>
                <a:t>Deviation = Problem</a:t>
              </a:r>
            </a:p>
          </p:txBody>
        </p:sp>
        <p:sp>
          <p:nvSpPr>
            <p:cNvPr id="18" name="Text Box 8">
              <a:extLst>
                <a:ext uri="{FF2B5EF4-FFF2-40B4-BE49-F238E27FC236}">
                  <a16:creationId xmlns:a16="http://schemas.microsoft.com/office/drawing/2014/main" id="{F725ABB2-BEA7-48C1-E333-9D40177F12F6}"/>
                </a:ext>
              </a:extLst>
            </p:cNvPr>
            <p:cNvSpPr txBox="1">
              <a:spLocks noChangeArrowheads="1"/>
            </p:cNvSpPr>
            <p:nvPr/>
          </p:nvSpPr>
          <p:spPr bwMode="auto">
            <a:xfrm>
              <a:off x="610394" y="4713055"/>
              <a:ext cx="2525712" cy="478785"/>
            </a:xfrm>
            <a:prstGeom prst="rect">
              <a:avLst/>
            </a:prstGeom>
            <a:solidFill>
              <a:schemeClr val="bg1"/>
            </a:solidFill>
            <a:ln w="9525">
              <a:noFill/>
              <a:miter lim="800000"/>
              <a:headEnd/>
              <a:tailEnd/>
            </a:ln>
          </p:spPr>
          <p:txBody>
            <a:bodyPr>
              <a:spAutoFit/>
            </a:bodyPr>
            <a:lstStyle/>
            <a:p>
              <a:pPr algn="ctr" eaLnBrk="0" hangingPunct="0"/>
              <a:r>
                <a:rPr lang="en-US" sz="1800" b="1" dirty="0">
                  <a:latin typeface="Roboto" panose="02000000000000000000" pitchFamily="2" charset="0"/>
                  <a:ea typeface="Roboto" panose="02000000000000000000" pitchFamily="2" charset="0"/>
                </a:rPr>
                <a:t>Deviation = Problem</a:t>
              </a:r>
            </a:p>
          </p:txBody>
        </p:sp>
        <p:sp>
          <p:nvSpPr>
            <p:cNvPr id="19" name="Text Box 9">
              <a:extLst>
                <a:ext uri="{FF2B5EF4-FFF2-40B4-BE49-F238E27FC236}">
                  <a16:creationId xmlns:a16="http://schemas.microsoft.com/office/drawing/2014/main" id="{5DE67EBD-F25D-9ED4-5F0A-970E1D334A9A}"/>
                </a:ext>
              </a:extLst>
            </p:cNvPr>
            <p:cNvSpPr txBox="1">
              <a:spLocks noChangeArrowheads="1"/>
            </p:cNvSpPr>
            <p:nvPr/>
          </p:nvSpPr>
          <p:spPr bwMode="auto">
            <a:xfrm>
              <a:off x="6601775" y="3138828"/>
              <a:ext cx="1835760" cy="478785"/>
            </a:xfrm>
            <a:prstGeom prst="rect">
              <a:avLst/>
            </a:prstGeom>
            <a:solidFill>
              <a:schemeClr val="bg1"/>
            </a:solidFill>
            <a:ln w="9525">
              <a:noFill/>
              <a:miter lim="800000"/>
              <a:headEnd/>
              <a:tailEnd/>
            </a:ln>
          </p:spPr>
          <p:txBody>
            <a:bodyPr wrap="none">
              <a:spAutoFit/>
            </a:bodyPr>
            <a:lstStyle/>
            <a:p>
              <a:pPr algn="ctr" eaLnBrk="0" hangingPunct="0"/>
              <a:r>
                <a:rPr lang="en-US" sz="1800" b="1" dirty="0">
                  <a:latin typeface="Roboto" panose="02000000000000000000" pitchFamily="2" charset="0"/>
                  <a:ea typeface="Roboto" panose="02000000000000000000" pitchFamily="2" charset="0"/>
                </a:rPr>
                <a:t>Solution/Kaizen</a:t>
              </a:r>
            </a:p>
          </p:txBody>
        </p:sp>
        <p:sp>
          <p:nvSpPr>
            <p:cNvPr id="20" name="Text Box 10">
              <a:extLst>
                <a:ext uri="{FF2B5EF4-FFF2-40B4-BE49-F238E27FC236}">
                  <a16:creationId xmlns:a16="http://schemas.microsoft.com/office/drawing/2014/main" id="{A5DAB9D4-A7ED-A073-6BC4-483CB4ECACE5}"/>
                </a:ext>
              </a:extLst>
            </p:cNvPr>
            <p:cNvSpPr txBox="1">
              <a:spLocks noChangeArrowheads="1"/>
            </p:cNvSpPr>
            <p:nvPr/>
          </p:nvSpPr>
          <p:spPr bwMode="auto">
            <a:xfrm>
              <a:off x="6601782" y="4768074"/>
              <a:ext cx="1835753" cy="478785"/>
            </a:xfrm>
            <a:prstGeom prst="rect">
              <a:avLst/>
            </a:prstGeom>
            <a:solidFill>
              <a:schemeClr val="bg1"/>
            </a:solidFill>
            <a:ln w="9525">
              <a:noFill/>
              <a:miter lim="800000"/>
              <a:headEnd/>
              <a:tailEnd/>
            </a:ln>
          </p:spPr>
          <p:txBody>
            <a:bodyPr wrap="square">
              <a:spAutoFit/>
            </a:bodyPr>
            <a:lstStyle/>
            <a:p>
              <a:pPr algn="ctr" eaLnBrk="0" hangingPunct="0"/>
              <a:r>
                <a:rPr lang="en-US" sz="1800" b="1" dirty="0">
                  <a:latin typeface="Roboto" panose="02000000000000000000" pitchFamily="2" charset="0"/>
                  <a:ea typeface="Roboto" panose="02000000000000000000" pitchFamily="2" charset="0"/>
                </a:rPr>
                <a:t>Solution</a:t>
              </a:r>
              <a:r>
                <a:rPr lang="en-US" b="1" dirty="0">
                  <a:latin typeface="Roboto" panose="02000000000000000000" pitchFamily="2" charset="0"/>
                  <a:ea typeface="Roboto" panose="02000000000000000000" pitchFamily="2" charset="0"/>
                </a:rPr>
                <a:t>/Kaizen</a:t>
              </a:r>
              <a:endParaRPr lang="en-US" sz="1800" b="1" dirty="0">
                <a:latin typeface="Roboto" panose="02000000000000000000" pitchFamily="2" charset="0"/>
                <a:ea typeface="Roboto" panose="02000000000000000000" pitchFamily="2" charset="0"/>
              </a:endParaRPr>
            </a:p>
          </p:txBody>
        </p:sp>
        <p:sp>
          <p:nvSpPr>
            <p:cNvPr id="23" name="Oval 13">
              <a:extLst>
                <a:ext uri="{FF2B5EF4-FFF2-40B4-BE49-F238E27FC236}">
                  <a16:creationId xmlns:a16="http://schemas.microsoft.com/office/drawing/2014/main" id="{43B808E6-D83B-A492-53A6-31DE349E443C}"/>
                </a:ext>
              </a:extLst>
            </p:cNvPr>
            <p:cNvSpPr>
              <a:spLocks noChangeArrowheads="1"/>
            </p:cNvSpPr>
            <p:nvPr/>
          </p:nvSpPr>
          <p:spPr bwMode="auto">
            <a:xfrm>
              <a:off x="3440113" y="3792538"/>
              <a:ext cx="2743200" cy="742949"/>
            </a:xfrm>
            <a:prstGeom prst="ellipse">
              <a:avLst/>
            </a:prstGeom>
            <a:solidFill>
              <a:schemeClr val="accent2"/>
            </a:solidFill>
            <a:ln w="9525">
              <a:solidFill>
                <a:schemeClr val="tx1"/>
              </a:solidFill>
              <a:round/>
              <a:headEnd/>
              <a:tailEnd/>
            </a:ln>
          </p:spPr>
          <p:txBody>
            <a:bodyPr wrap="none" anchor="ctr"/>
            <a:lstStyle/>
            <a:p>
              <a:pPr algn="ctr" eaLnBrk="0" hangingPunct="0"/>
              <a:r>
                <a:rPr lang="en-US" sz="1800" b="1" dirty="0">
                  <a:latin typeface="Roboto" panose="02000000000000000000" pitchFamily="2" charset="0"/>
                  <a:ea typeface="Roboto" panose="02000000000000000000" pitchFamily="2" charset="0"/>
                </a:rPr>
                <a:t>Established Standard</a:t>
              </a:r>
              <a:endParaRPr lang="en-US" sz="1800" dirty="0">
                <a:latin typeface="Roboto" panose="02000000000000000000" pitchFamily="2" charset="0"/>
                <a:ea typeface="Roboto" panose="02000000000000000000" pitchFamily="2" charset="0"/>
              </a:endParaRPr>
            </a:p>
          </p:txBody>
        </p:sp>
        <p:sp>
          <p:nvSpPr>
            <p:cNvPr id="32" name="Oval 22">
              <a:extLst>
                <a:ext uri="{FF2B5EF4-FFF2-40B4-BE49-F238E27FC236}">
                  <a16:creationId xmlns:a16="http://schemas.microsoft.com/office/drawing/2014/main" id="{27A78D8C-139C-AB5C-D1EC-B505972CB351}"/>
                </a:ext>
              </a:extLst>
            </p:cNvPr>
            <p:cNvSpPr>
              <a:spLocks noChangeArrowheads="1"/>
            </p:cNvSpPr>
            <p:nvPr/>
          </p:nvSpPr>
          <p:spPr bwMode="auto">
            <a:xfrm>
              <a:off x="3414713" y="5411789"/>
              <a:ext cx="2743200" cy="742949"/>
            </a:xfrm>
            <a:prstGeom prst="ellipse">
              <a:avLst/>
            </a:prstGeom>
            <a:solidFill>
              <a:schemeClr val="accent1"/>
            </a:solidFill>
            <a:ln w="9525">
              <a:solidFill>
                <a:schemeClr val="tx1"/>
              </a:solidFill>
              <a:round/>
              <a:headEnd/>
              <a:tailEnd/>
            </a:ln>
          </p:spPr>
          <p:txBody>
            <a:bodyPr wrap="none" anchor="ctr"/>
            <a:lstStyle/>
            <a:p>
              <a:pPr algn="ctr" eaLnBrk="0" hangingPunct="0"/>
              <a:r>
                <a:rPr lang="en-US" sz="1800" b="1" dirty="0">
                  <a:solidFill>
                    <a:schemeClr val="bg1"/>
                  </a:solidFill>
                  <a:latin typeface="Roboto" panose="02000000000000000000" pitchFamily="2" charset="0"/>
                  <a:ea typeface="Roboto" panose="02000000000000000000" pitchFamily="2" charset="0"/>
                </a:rPr>
                <a:t>Actual Performance</a:t>
              </a:r>
              <a:endParaRPr lang="en-US" sz="1800" dirty="0">
                <a:solidFill>
                  <a:schemeClr val="bg1"/>
                </a:solidFill>
                <a:latin typeface="Roboto" panose="02000000000000000000" pitchFamily="2" charset="0"/>
                <a:ea typeface="Roboto" panose="02000000000000000000" pitchFamily="2" charset="0"/>
              </a:endParaRPr>
            </a:p>
          </p:txBody>
        </p:sp>
      </p:grpSp>
      <p:grpSp>
        <p:nvGrpSpPr>
          <p:cNvPr id="21" name="Group 20">
            <a:extLst>
              <a:ext uri="{FF2B5EF4-FFF2-40B4-BE49-F238E27FC236}">
                <a16:creationId xmlns:a16="http://schemas.microsoft.com/office/drawing/2014/main" id="{A6E2C489-2477-0EC3-8D76-0B2FC51675D1}"/>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F47845D8-4DF0-68CF-929D-D87EE2EBB025}"/>
                </a:ext>
              </a:extLst>
            </p:cNvPr>
            <p:cNvGrpSpPr/>
            <p:nvPr/>
          </p:nvGrpSpPr>
          <p:grpSpPr>
            <a:xfrm>
              <a:off x="838200" y="297639"/>
              <a:ext cx="1373842" cy="290657"/>
              <a:chOff x="838200" y="297639"/>
              <a:chExt cx="1373842" cy="290657"/>
            </a:xfrm>
          </p:grpSpPr>
          <p:sp>
            <p:nvSpPr>
              <p:cNvPr id="26" name="AutoShape 9">
                <a:extLst>
                  <a:ext uri="{FF2B5EF4-FFF2-40B4-BE49-F238E27FC236}">
                    <a16:creationId xmlns:a16="http://schemas.microsoft.com/office/drawing/2014/main" id="{753299BD-FC45-0C42-CBF0-567A137C0E5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C67994D9-D2F8-14FE-D216-17A6B9137B5A}"/>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F5AB6855-DE76-C8C4-908D-66B1DC0A4D9E}"/>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1">
                  <a:extLst>
                    <a:ext uri="{FF2B5EF4-FFF2-40B4-BE49-F238E27FC236}">
                      <a16:creationId xmlns:a16="http://schemas.microsoft.com/office/drawing/2014/main" id="{72A2FCAC-B10E-EF7A-8072-6086B20C05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0">
                  <a:extLst>
                    <a:ext uri="{FF2B5EF4-FFF2-40B4-BE49-F238E27FC236}">
                      <a16:creationId xmlns:a16="http://schemas.microsoft.com/office/drawing/2014/main" id="{02F3BE2A-91B4-EA58-1EAA-C57C715B792F}"/>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24" name="TextBox 23">
              <a:extLst>
                <a:ext uri="{FF2B5EF4-FFF2-40B4-BE49-F238E27FC236}">
                  <a16:creationId xmlns:a16="http://schemas.microsoft.com/office/drawing/2014/main" id="{DB745FE3-4B71-05CE-EB3D-83B8BEFF1FBC}"/>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Problem-Solving</a:t>
              </a:r>
            </a:p>
          </p:txBody>
        </p:sp>
      </p:grpSp>
    </p:spTree>
    <p:extLst>
      <p:ext uri="{BB962C8B-B14F-4D97-AF65-F5344CB8AC3E}">
        <p14:creationId xmlns:p14="http://schemas.microsoft.com/office/powerpoint/2010/main" val="3097762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3" name="Group 22">
            <a:extLst>
              <a:ext uri="{FF2B5EF4-FFF2-40B4-BE49-F238E27FC236}">
                <a16:creationId xmlns:a16="http://schemas.microsoft.com/office/drawing/2014/main" id="{81C5F75A-037D-4BBE-F89D-7EA0C82DFF28}"/>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115" name="Group 114">
            <a:extLst>
              <a:ext uri="{FF2B5EF4-FFF2-40B4-BE49-F238E27FC236}">
                <a16:creationId xmlns:a16="http://schemas.microsoft.com/office/drawing/2014/main" id="{EEAAC779-6358-D1B5-356F-19AC3A563C75}"/>
              </a:ext>
            </a:extLst>
          </p:cNvPr>
          <p:cNvGrpSpPr/>
          <p:nvPr/>
        </p:nvGrpSpPr>
        <p:grpSpPr>
          <a:xfrm>
            <a:off x="611317" y="3730882"/>
            <a:ext cx="2057400" cy="777240"/>
            <a:chOff x="2095617" y="2319168"/>
            <a:chExt cx="1700011" cy="540912"/>
          </a:xfrm>
        </p:grpSpPr>
        <p:sp>
          <p:nvSpPr>
            <p:cNvPr id="13" name="Rectangle 12">
              <a:extLst>
                <a:ext uri="{FF2B5EF4-FFF2-40B4-BE49-F238E27FC236}">
                  <a16:creationId xmlns:a16="http://schemas.microsoft.com/office/drawing/2014/main" id="{B43577E6-2FC8-457A-79F3-9910AF416A80}"/>
                </a:ext>
              </a:extLst>
            </p:cNvPr>
            <p:cNvSpPr/>
            <p:nvPr/>
          </p:nvSpPr>
          <p:spPr>
            <a:xfrm>
              <a:off x="2095617" y="2319168"/>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2095617" y="2319168"/>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116" name="Group 115">
            <a:extLst>
              <a:ext uri="{FF2B5EF4-FFF2-40B4-BE49-F238E27FC236}">
                <a16:creationId xmlns:a16="http://schemas.microsoft.com/office/drawing/2014/main" id="{5A7A30C6-E9A5-25C7-F70E-D43461151F1F}"/>
              </a:ext>
            </a:extLst>
          </p:cNvPr>
          <p:cNvGrpSpPr/>
          <p:nvPr/>
        </p:nvGrpSpPr>
        <p:grpSpPr>
          <a:xfrm>
            <a:off x="611317" y="4889408"/>
            <a:ext cx="2057400" cy="777240"/>
            <a:chOff x="2095617" y="3482984"/>
            <a:chExt cx="1700011" cy="540912"/>
          </a:xfrm>
        </p:grpSpPr>
        <p:sp>
          <p:nvSpPr>
            <p:cNvPr id="16" name="Rectangle 15">
              <a:extLst>
                <a:ext uri="{FF2B5EF4-FFF2-40B4-BE49-F238E27FC236}">
                  <a16:creationId xmlns:a16="http://schemas.microsoft.com/office/drawing/2014/main" id="{8E33BA21-1D76-6194-8879-D9A1BA778D1D}"/>
                </a:ext>
              </a:extLst>
            </p:cNvPr>
            <p:cNvSpPr/>
            <p:nvPr/>
          </p:nvSpPr>
          <p:spPr>
            <a:xfrm>
              <a:off x="2095617" y="3482984"/>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2095617" y="348298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32" name="Group 31">
            <a:extLst>
              <a:ext uri="{FF2B5EF4-FFF2-40B4-BE49-F238E27FC236}">
                <a16:creationId xmlns:a16="http://schemas.microsoft.com/office/drawing/2014/main" id="{2D7F4A0C-3A9B-A705-94B6-0E88DCB0B0EE}"/>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2107676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2. Select Cross-Functional Team</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3416320"/>
          </a:xfrm>
          <a:prstGeom prst="rect">
            <a:avLst/>
          </a:prstGeom>
          <a:noFill/>
        </p:spPr>
        <p:txBody>
          <a:bodyPr wrap="square" rtlCol="0">
            <a:spAutoFit/>
          </a:bodyPr>
          <a:lstStyle/>
          <a:p>
            <a:pPr marL="285750" indent="-285750">
              <a:buFont typeface="Arial" panose="020B0604020202020204" pitchFamily="34" charset="0"/>
              <a:buChar char="•"/>
            </a:pPr>
            <a:r>
              <a:rPr lang="en-US" dirty="0"/>
              <a:t>A diverse group of individuals from different departments and skill sets relevant to the problem.</a:t>
            </a:r>
          </a:p>
          <a:p>
            <a:pPr marL="285750" indent="-285750">
              <a:buFont typeface="Arial" panose="020B0604020202020204" pitchFamily="34" charset="0"/>
              <a:buChar char="•"/>
            </a:pPr>
            <a:r>
              <a:rPr lang="en-US" dirty="0"/>
              <a:t>It is sometimes helpful to include team members who are totally disassociated with the problem.</a:t>
            </a:r>
          </a:p>
          <a:p>
            <a:pPr marL="285750" indent="-285750">
              <a:buFont typeface="Arial" panose="020B0604020202020204" pitchFamily="34" charset="0"/>
              <a:buChar char="•"/>
            </a:pPr>
            <a:r>
              <a:rPr lang="en-US" dirty="0"/>
              <a:t>It is sometimes helpful to include representatives from your customer and/or supplier base.</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To ensure diverse expertise and viewpoints are represented, which can lead to more innovative and comprehensive solutions.</a:t>
            </a:r>
          </a:p>
          <a:p>
            <a:pPr marL="285750" indent="-285750">
              <a:buFont typeface="Arial" panose="020B0604020202020204" pitchFamily="34" charset="0"/>
              <a:buChar char="•"/>
            </a:pPr>
            <a:r>
              <a:rPr lang="en-US" dirty="0"/>
              <a:t>It is essential to involve the people who are closest to the problem as team members.</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42348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A product defect might involve team members from manufacturing, quality assurance, sales, accounting, purchasing, and design engineering.</a:t>
            </a:r>
          </a:p>
          <a:p>
            <a:pPr marL="285750" indent="-285750">
              <a:buFont typeface="Arial" panose="020B0604020202020204" pitchFamily="34" charset="0"/>
              <a:buChar char="•"/>
            </a:pPr>
            <a:r>
              <a:rPr lang="en-US" dirty="0"/>
              <a:t>Implementing a new IT system may require IT specialists, end-users from finance, and shop-floor workers.</a:t>
            </a:r>
          </a:p>
        </p:txBody>
      </p:sp>
      <p:grpSp>
        <p:nvGrpSpPr>
          <p:cNvPr id="3" name="Group 2">
            <a:extLst>
              <a:ext uri="{FF2B5EF4-FFF2-40B4-BE49-F238E27FC236}">
                <a16:creationId xmlns:a16="http://schemas.microsoft.com/office/drawing/2014/main" id="{9F826E86-5961-8E88-EE89-820F12785DBD}"/>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FF4C5D37-CDC2-5F97-8FEA-F171FC13FE53}"/>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54FF1666-30E5-DEF9-54A3-5A1751C3DF2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22ED50ED-2DBF-361B-2138-04453E0D7A5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D24CDAA6-791C-F5DF-6895-C3F763D14A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A0D655A3-4392-598C-BCC1-3E86B268210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33D7FFE8-D509-D133-B026-550B2DB7FAB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E363C955-EEB7-FC15-F408-4B11702AB3F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887172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35685-53C4-FADF-2F73-7681FF24F0E4}"/>
              </a:ext>
            </a:extLst>
          </p:cNvPr>
          <p:cNvSpPr>
            <a:spLocks noGrp="1"/>
          </p:cNvSpPr>
          <p:nvPr>
            <p:ph type="title"/>
          </p:nvPr>
        </p:nvSpPr>
        <p:spPr/>
        <p:txBody>
          <a:bodyPr>
            <a:noAutofit/>
          </a:bodyPr>
          <a:lstStyle/>
          <a:p>
            <a:r>
              <a:rPr lang="en-US" sz="3600" dirty="0"/>
              <a:t>Case Study: Operator Insight Leads to Breakthrough at West Instruments</a:t>
            </a:r>
          </a:p>
        </p:txBody>
      </p:sp>
      <p:sp>
        <p:nvSpPr>
          <p:cNvPr id="7" name="Content Placeholder 6">
            <a:extLst>
              <a:ext uri="{FF2B5EF4-FFF2-40B4-BE49-F238E27FC236}">
                <a16:creationId xmlns:a16="http://schemas.microsoft.com/office/drawing/2014/main" id="{3DE6753F-0291-9011-1D7B-8E33B7C9CAAB}"/>
              </a:ext>
            </a:extLst>
          </p:cNvPr>
          <p:cNvSpPr>
            <a:spLocks noGrp="1"/>
          </p:cNvSpPr>
          <p:nvPr>
            <p:ph sz="half" idx="1"/>
          </p:nvPr>
        </p:nvSpPr>
        <p:spPr/>
        <p:txBody>
          <a:bodyPr>
            <a:normAutofit/>
          </a:bodyPr>
          <a:lstStyle/>
          <a:p>
            <a:r>
              <a:rPr lang="en-US" sz="2400" b="1" dirty="0"/>
              <a:t>Problem Overview:</a:t>
            </a:r>
          </a:p>
          <a:p>
            <a:pPr lvl="1"/>
            <a:r>
              <a:rPr lang="en-US" sz="2000" dirty="0"/>
              <a:t>West Instruments faced intermittent failures in temperature controller tests.</a:t>
            </a:r>
          </a:p>
          <a:p>
            <a:r>
              <a:rPr lang="en-US" sz="2400" b="1" dirty="0"/>
              <a:t>Initial Challenges:</a:t>
            </a:r>
          </a:p>
          <a:p>
            <a:pPr lvl="1"/>
            <a:r>
              <a:rPr lang="en-US" sz="2000" dirty="0"/>
              <a:t>Engineers and executives tried and failed to diagnose the cause due to the random nature of test failures.</a:t>
            </a:r>
          </a:p>
          <a:p>
            <a:endParaRPr lang="en-US" sz="2400" dirty="0"/>
          </a:p>
        </p:txBody>
      </p:sp>
      <p:sp>
        <p:nvSpPr>
          <p:cNvPr id="6" name="Text Placeholder 5">
            <a:extLst>
              <a:ext uri="{FF2B5EF4-FFF2-40B4-BE49-F238E27FC236}">
                <a16:creationId xmlns:a16="http://schemas.microsoft.com/office/drawing/2014/main" id="{5B8A45DC-D119-D2A6-8DBA-C80A66D57B49}"/>
              </a:ext>
            </a:extLst>
          </p:cNvPr>
          <p:cNvSpPr>
            <a:spLocks noGrp="1"/>
          </p:cNvSpPr>
          <p:nvPr>
            <p:ph sz="half" idx="2"/>
          </p:nvPr>
        </p:nvSpPr>
        <p:spPr/>
        <p:txBody>
          <a:bodyPr>
            <a:normAutofit/>
          </a:bodyPr>
          <a:lstStyle/>
          <a:p>
            <a:r>
              <a:rPr lang="en-US" sz="2400" b="1" dirty="0"/>
              <a:t>Operator Involvement:</a:t>
            </a:r>
          </a:p>
          <a:p>
            <a:pPr lvl="1"/>
            <a:r>
              <a:rPr lang="en-US" sz="2000" dirty="0"/>
              <a:t>Inclusion of operators in a Kaizen event revealed the issue never occurred on weekends.</a:t>
            </a:r>
          </a:p>
          <a:p>
            <a:r>
              <a:rPr lang="en-US" sz="2400" b="1" dirty="0"/>
              <a:t>Discovery and Solution:</a:t>
            </a:r>
          </a:p>
          <a:p>
            <a:pPr lvl="1"/>
            <a:r>
              <a:rPr lang="en-US" sz="2000" dirty="0"/>
              <a:t>Investigation led to the discovery of Electronic Magnetic Interference (EMI) from a neighboring factory affecting tests. </a:t>
            </a:r>
          </a:p>
          <a:p>
            <a:pPr lvl="1"/>
            <a:r>
              <a:rPr lang="en-US" sz="2000" dirty="0"/>
              <a:t>Solution: Installed a copper shield around testing equipment.</a:t>
            </a:r>
          </a:p>
        </p:txBody>
      </p:sp>
      <p:sp>
        <p:nvSpPr>
          <p:cNvPr id="8" name="Rectangle 7">
            <a:extLst>
              <a:ext uri="{FF2B5EF4-FFF2-40B4-BE49-F238E27FC236}">
                <a16:creationId xmlns:a16="http://schemas.microsoft.com/office/drawing/2014/main" id="{84B400CA-513D-FEBC-6938-4E7E9DB5D495}"/>
              </a:ext>
            </a:extLst>
          </p:cNvPr>
          <p:cNvSpPr/>
          <p:nvPr/>
        </p:nvSpPr>
        <p:spPr>
          <a:xfrm>
            <a:off x="3382241" y="5382491"/>
            <a:ext cx="5427518" cy="9294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t>Key Takeaway: </a:t>
            </a:r>
          </a:p>
          <a:p>
            <a:r>
              <a:rPr lang="en-US" dirty="0"/>
              <a:t>Involving those closest to the problem can uncover insights that are not apparent to others.</a:t>
            </a:r>
          </a:p>
        </p:txBody>
      </p:sp>
      <p:grpSp>
        <p:nvGrpSpPr>
          <p:cNvPr id="3" name="Group 2">
            <a:extLst>
              <a:ext uri="{FF2B5EF4-FFF2-40B4-BE49-F238E27FC236}">
                <a16:creationId xmlns:a16="http://schemas.microsoft.com/office/drawing/2014/main" id="{C777F960-369B-67B6-C389-BF54E474DF02}"/>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EBA719DB-62E3-1C9F-3FDE-7FE638885795}"/>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B62E1A86-2B3C-5377-6AB8-113A6C38BCA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BDD4EAB8-C48C-73BF-E8C7-62063CA67004}"/>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89D2FD1-EEF4-F20C-E7CE-98C145F7797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34518827-E3EE-DDD2-D312-6F3D46C2B47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337CD742-4F76-9411-EE51-B36C49CD2BA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B1EBAFF0-0E46-1A34-ACA5-C9E65389729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372677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35" name="Group 34">
            <a:extLst>
              <a:ext uri="{FF2B5EF4-FFF2-40B4-BE49-F238E27FC236}">
                <a16:creationId xmlns:a16="http://schemas.microsoft.com/office/drawing/2014/main" id="{F87121A1-8485-CD13-6386-78CE611B141A}"/>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116" name="Group 115">
            <a:extLst>
              <a:ext uri="{FF2B5EF4-FFF2-40B4-BE49-F238E27FC236}">
                <a16:creationId xmlns:a16="http://schemas.microsoft.com/office/drawing/2014/main" id="{5A7A30C6-E9A5-25C7-F70E-D43461151F1F}"/>
              </a:ext>
            </a:extLst>
          </p:cNvPr>
          <p:cNvGrpSpPr/>
          <p:nvPr/>
        </p:nvGrpSpPr>
        <p:grpSpPr>
          <a:xfrm>
            <a:off x="611317" y="4889408"/>
            <a:ext cx="2057400" cy="777240"/>
            <a:chOff x="2095617" y="3482984"/>
            <a:chExt cx="1700011" cy="540912"/>
          </a:xfrm>
        </p:grpSpPr>
        <p:sp>
          <p:nvSpPr>
            <p:cNvPr id="16" name="Rectangle 15">
              <a:extLst>
                <a:ext uri="{FF2B5EF4-FFF2-40B4-BE49-F238E27FC236}">
                  <a16:creationId xmlns:a16="http://schemas.microsoft.com/office/drawing/2014/main" id="{8E33BA21-1D76-6194-8879-D9A1BA778D1D}"/>
                </a:ext>
              </a:extLst>
            </p:cNvPr>
            <p:cNvSpPr/>
            <p:nvPr/>
          </p:nvSpPr>
          <p:spPr>
            <a:xfrm>
              <a:off x="2095617" y="3482984"/>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2095617" y="348298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8" name="Group 7">
            <a:extLst>
              <a:ext uri="{FF2B5EF4-FFF2-40B4-BE49-F238E27FC236}">
                <a16:creationId xmlns:a16="http://schemas.microsoft.com/office/drawing/2014/main" id="{EF1D52AA-93DE-628E-C4EF-C1B1CE03E350}"/>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1434265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9E313-F724-2076-FB5E-0362CD284228}"/>
            </a:ext>
          </a:extLst>
        </p:cNvPr>
        <p:cNvGrpSpPr/>
        <p:nvPr/>
      </p:nvGrpSpPr>
      <p:grpSpPr>
        <a:xfrm>
          <a:off x="0" y="0"/>
          <a:ext cx="0" cy="0"/>
          <a:chOff x="0" y="0"/>
          <a:chExt cx="0" cy="0"/>
        </a:xfrm>
      </p:grpSpPr>
      <p:sp>
        <p:nvSpPr>
          <p:cNvPr id="10" name="Rectangle: Rounded Corners 23">
            <a:extLst>
              <a:ext uri="{FF2B5EF4-FFF2-40B4-BE49-F238E27FC236}">
                <a16:creationId xmlns:a16="http://schemas.microsoft.com/office/drawing/2014/main" id="{F5216DFC-6180-8158-1F27-A90EC3771593}"/>
              </a:ext>
            </a:extLst>
          </p:cNvPr>
          <p:cNvSpPr/>
          <p:nvPr/>
        </p:nvSpPr>
        <p:spPr>
          <a:xfrm>
            <a:off x="9014870" y="1646530"/>
            <a:ext cx="2270069" cy="2923944"/>
          </a:xfrm>
          <a:prstGeom prst="roundRect">
            <a:avLst>
              <a:gd name="adj" fmla="val 2264"/>
            </a:avLst>
          </a:prstGeom>
          <a:gradFill>
            <a:gsLst>
              <a:gs pos="90000">
                <a:schemeClr val="accent1">
                  <a:lumMod val="50000"/>
                </a:schemeClr>
              </a:gs>
              <a:gs pos="6000">
                <a:schemeClr val="accent1"/>
              </a:gs>
            </a:gsLst>
            <a:lin ang="5400000" scaled="1"/>
          </a:gradFill>
          <a:ln w="9525">
            <a:noFill/>
          </a:ln>
          <a:effectLst>
            <a:outerShdw blurRad="571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Manrope"/>
              <a:ea typeface="+mn-ea"/>
              <a:cs typeface="+mn-cs"/>
            </a:endParaRPr>
          </a:p>
        </p:txBody>
      </p:sp>
      <p:sp>
        <p:nvSpPr>
          <p:cNvPr id="6" name="Rectangle: Rounded Corners 23">
            <a:extLst>
              <a:ext uri="{FF2B5EF4-FFF2-40B4-BE49-F238E27FC236}">
                <a16:creationId xmlns:a16="http://schemas.microsoft.com/office/drawing/2014/main" id="{F5975602-4F74-F4CC-2B69-C63A61ACE7E2}"/>
              </a:ext>
            </a:extLst>
          </p:cNvPr>
          <p:cNvSpPr/>
          <p:nvPr/>
        </p:nvSpPr>
        <p:spPr>
          <a:xfrm>
            <a:off x="5487306" y="1568771"/>
            <a:ext cx="2147608" cy="3001703"/>
          </a:xfrm>
          <a:prstGeom prst="roundRect">
            <a:avLst>
              <a:gd name="adj" fmla="val 2264"/>
            </a:avLst>
          </a:prstGeom>
          <a:gradFill>
            <a:gsLst>
              <a:gs pos="90000">
                <a:schemeClr val="accent1">
                  <a:lumMod val="50000"/>
                </a:schemeClr>
              </a:gs>
              <a:gs pos="6000">
                <a:schemeClr val="accent1"/>
              </a:gs>
            </a:gsLst>
            <a:lin ang="5400000" scaled="1"/>
          </a:gradFill>
          <a:ln w="9525">
            <a:noFill/>
          </a:ln>
          <a:effectLst>
            <a:outerShdw blurRad="571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Manrope"/>
              <a:ea typeface="+mn-ea"/>
              <a:cs typeface="+mn-cs"/>
            </a:endParaRPr>
          </a:p>
        </p:txBody>
      </p:sp>
      <p:sp>
        <p:nvSpPr>
          <p:cNvPr id="8" name="Text Placeholder 3">
            <a:extLst>
              <a:ext uri="{FF2B5EF4-FFF2-40B4-BE49-F238E27FC236}">
                <a16:creationId xmlns:a16="http://schemas.microsoft.com/office/drawing/2014/main" id="{9C3ABA4B-F89D-67AC-27E6-3E2B260AAB5C}"/>
              </a:ext>
            </a:extLst>
          </p:cNvPr>
          <p:cNvSpPr txBox="1">
            <a:spLocks/>
          </p:cNvSpPr>
          <p:nvPr/>
        </p:nvSpPr>
        <p:spPr>
          <a:xfrm>
            <a:off x="926764" y="4667651"/>
            <a:ext cx="3013956" cy="1837426"/>
          </a:xfrm>
          <a:prstGeom prst="rect">
            <a:avLst/>
          </a:prstGeom>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5400" kern="1200">
                <a:solidFill>
                  <a:schemeClr val="tx1">
                    <a:lumMod val="85000"/>
                    <a:lumOff val="15000"/>
                  </a:schemeClr>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0"/>
              </a:spcBef>
              <a:spcAft>
                <a:spcPts val="0"/>
              </a:spcAft>
              <a:buClrTx/>
              <a:buSzTx/>
              <a:tabLst/>
              <a:defRPr/>
            </a:pPr>
            <a:r>
              <a:rPr kumimoji="0" lang="en-US" sz="1800" b="0" i="0" u="none" strike="noStrike" kern="1200" cap="none" spc="0" normalizeH="0" baseline="0" noProof="0" dirty="0">
                <a:ln>
                  <a:noFill/>
                </a:ln>
                <a:solidFill>
                  <a:srgbClr val="FFFFFF"/>
                </a:solidFill>
                <a:effectLst/>
                <a:uLnTx/>
                <a:uFillTx/>
                <a:latin typeface="Manrope"/>
                <a:ea typeface="+mn-ea"/>
                <a:cs typeface="+mn-cs"/>
              </a:rPr>
              <a:t>Three Keys to Leadership:</a:t>
            </a:r>
          </a:p>
          <a:p>
            <a:pPr marL="571500" marR="0" lvl="0" indent="-5715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Manrope"/>
                <a:ea typeface="+mn-ea"/>
                <a:cs typeface="+mn-cs"/>
              </a:rPr>
              <a:t>Go See</a:t>
            </a:r>
          </a:p>
          <a:p>
            <a:pPr marL="571500" marR="0" lvl="0" indent="-5715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Manrope"/>
                <a:ea typeface="+mn-ea"/>
                <a:cs typeface="+mn-cs"/>
              </a:rPr>
              <a:t>Ask Why</a:t>
            </a:r>
          </a:p>
          <a:p>
            <a:pPr marL="571500" marR="0" lvl="0" indent="-5715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Manrope"/>
                <a:ea typeface="+mn-ea"/>
                <a:cs typeface="+mn-cs"/>
              </a:rPr>
              <a:t>Show Respect</a:t>
            </a:r>
          </a:p>
          <a:p>
            <a:pPr marR="0" lvl="0" algn="l" defTabSz="914400" rtl="0" eaLnBrk="1" fontAlgn="auto" latinLnBrk="0" hangingPunct="1">
              <a:lnSpc>
                <a:spcPct val="90000"/>
              </a:lnSpc>
              <a:spcBef>
                <a:spcPts val="0"/>
              </a:spcBef>
              <a:spcAft>
                <a:spcPts val="0"/>
              </a:spcAft>
              <a:buClrTx/>
              <a:buSzTx/>
              <a:tabLst/>
              <a:defRPr/>
            </a:pPr>
            <a:endParaRPr kumimoji="0" lang="en-US" sz="1800" b="0" i="0" u="none" strike="noStrike" kern="1200" cap="none" spc="0" normalizeH="0" baseline="0" noProof="0" dirty="0">
              <a:ln>
                <a:noFill/>
              </a:ln>
              <a:solidFill>
                <a:srgbClr val="FFFFFF"/>
              </a:solidFill>
              <a:effectLst/>
              <a:uLnTx/>
              <a:uFillTx/>
              <a:latin typeface="Manrope"/>
              <a:ea typeface="+mn-ea"/>
              <a:cs typeface="+mn-cs"/>
            </a:endParaRPr>
          </a:p>
          <a:p>
            <a:pPr marR="0" lvl="0" algn="r" defTabSz="914400" rtl="0" eaLnBrk="1" fontAlgn="auto" latinLnBrk="0" hangingPunct="1">
              <a:lnSpc>
                <a:spcPct val="90000"/>
              </a:lnSpc>
              <a:spcBef>
                <a:spcPts val="0"/>
              </a:spcBef>
              <a:spcAft>
                <a:spcPts val="0"/>
              </a:spcAft>
              <a:buClrTx/>
              <a:buSzTx/>
              <a:tabLst/>
              <a:defRPr/>
            </a:pPr>
            <a:r>
              <a:rPr lang="en-US" sz="1800" dirty="0">
                <a:solidFill>
                  <a:srgbClr val="FFB627"/>
                </a:solidFill>
                <a:latin typeface="Manrope"/>
              </a:rPr>
              <a:t>- Fujio Cho </a:t>
            </a:r>
          </a:p>
          <a:p>
            <a:pPr marR="0" lvl="0" algn="r" defTabSz="914400" rtl="0" eaLnBrk="1" fontAlgn="auto" latinLnBrk="0" hangingPunct="1">
              <a:lnSpc>
                <a:spcPct val="90000"/>
              </a:lnSpc>
              <a:spcBef>
                <a:spcPts val="0"/>
              </a:spcBef>
              <a:spcAft>
                <a:spcPts val="0"/>
              </a:spcAft>
              <a:buClrTx/>
              <a:buSzTx/>
              <a:tabLst/>
              <a:defRPr/>
            </a:pPr>
            <a:r>
              <a:rPr lang="en-US" sz="1800" dirty="0">
                <a:solidFill>
                  <a:srgbClr val="FFB627"/>
                </a:solidFill>
                <a:latin typeface="Manrope"/>
              </a:rPr>
              <a:t>Chairman (ret), Toyota</a:t>
            </a:r>
            <a:endParaRPr kumimoji="0" lang="en-US" sz="1800" b="0" i="0" u="none" strike="noStrike" kern="1200" cap="none" spc="0" normalizeH="0" baseline="0" noProof="0" dirty="0">
              <a:ln>
                <a:noFill/>
              </a:ln>
              <a:solidFill>
                <a:srgbClr val="FFB627"/>
              </a:solidFill>
              <a:effectLst/>
              <a:uLnTx/>
              <a:uFillTx/>
              <a:latin typeface="Manrope"/>
              <a:ea typeface="+mn-ea"/>
              <a:cs typeface="+mn-cs"/>
            </a:endParaRPr>
          </a:p>
        </p:txBody>
      </p:sp>
      <p:sp>
        <p:nvSpPr>
          <p:cNvPr id="9" name="Text Placeholder 3">
            <a:extLst>
              <a:ext uri="{FF2B5EF4-FFF2-40B4-BE49-F238E27FC236}">
                <a16:creationId xmlns:a16="http://schemas.microsoft.com/office/drawing/2014/main" id="{3879A2BF-B539-75D8-CBBC-00BC09030604}"/>
              </a:ext>
            </a:extLst>
          </p:cNvPr>
          <p:cNvSpPr txBox="1">
            <a:spLocks/>
          </p:cNvSpPr>
          <p:nvPr/>
        </p:nvSpPr>
        <p:spPr>
          <a:xfrm>
            <a:off x="8251281" y="4750751"/>
            <a:ext cx="3325252" cy="1761380"/>
          </a:xfrm>
          <a:prstGeom prst="rect">
            <a:avLst/>
          </a:prstGeom>
        </p:spPr>
        <p:txBody>
          <a:bodyPr wrap="square">
            <a:spAutoFit/>
          </a:bodyPr>
          <a:lstStyle>
            <a:lvl1pPr marL="0" indent="0" algn="l" defTabSz="914400" rtl="0" eaLnBrk="1" latinLnBrk="0" hangingPunct="1">
              <a:lnSpc>
                <a:spcPct val="130000"/>
              </a:lnSpc>
              <a:spcBef>
                <a:spcPts val="0"/>
              </a:spcBef>
              <a:spcAft>
                <a:spcPts val="800"/>
              </a:spcAft>
              <a:buFont typeface="Arial" panose="020B0604020202020204" pitchFamily="34" charset="0"/>
              <a:buNone/>
              <a:defRPr sz="1200" kern="1200">
                <a:solidFill>
                  <a:schemeClr val="tx1">
                    <a:lumMod val="85000"/>
                    <a:lumOff val="1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5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sz="1800" dirty="0">
                <a:solidFill>
                  <a:schemeClr val="bg1"/>
                </a:solidFill>
              </a:rPr>
              <a:t>“Toyota would not let one opine on a pro</a:t>
            </a:r>
            <a:r>
              <a:rPr kumimoji="0" lang="en-US" sz="1800" b="0" i="0" u="none" strike="noStrike" kern="1200" cap="none" spc="0" normalizeH="0" baseline="0" noProof="0" dirty="0">
                <a:ln>
                  <a:noFill/>
                </a:ln>
                <a:solidFill>
                  <a:schemeClr val="bg1"/>
                </a:solidFill>
                <a:effectLst/>
                <a:uLnTx/>
                <a:uFillTx/>
                <a:latin typeface="Manrope"/>
                <a:ea typeface="+mn-ea"/>
                <a:cs typeface="+mn-cs"/>
              </a:rPr>
              <a:t>blem they have not observed firsthand.” </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chemeClr val="bg1"/>
              </a:solidFill>
              <a:effectLst/>
              <a:uLnTx/>
              <a:uFillTx/>
              <a:latin typeface="Manrope"/>
              <a:ea typeface="+mn-ea"/>
              <a:cs typeface="+mn-cs"/>
            </a:endParaRPr>
          </a:p>
          <a:p>
            <a:pPr marL="285750" marR="0" lvl="0" indent="-285750" algn="r" defTabSz="914400" rtl="0" eaLnBrk="1" fontAlgn="auto" latinLnBrk="0" hangingPunct="1">
              <a:lnSpc>
                <a:spcPts val="1160"/>
              </a:lnSpc>
              <a:spcBef>
                <a:spcPts val="0"/>
              </a:spcBef>
              <a:spcAft>
                <a:spcPts val="600"/>
              </a:spcAft>
              <a:buClrTx/>
              <a:buSzTx/>
              <a:buFontTx/>
              <a:buChar char="-"/>
              <a:tabLst/>
              <a:defRPr/>
            </a:pPr>
            <a:r>
              <a:rPr kumimoji="0" lang="en-US" sz="1800" b="0" i="0" u="none" strike="noStrike" kern="1200" cap="none" spc="0" normalizeH="0" baseline="0" noProof="0" dirty="0">
                <a:ln>
                  <a:noFill/>
                </a:ln>
                <a:solidFill>
                  <a:srgbClr val="FFB852"/>
                </a:solidFill>
                <a:effectLst/>
                <a:uLnTx/>
                <a:uFillTx/>
                <a:latin typeface="Manrope"/>
                <a:ea typeface="+mn-ea"/>
                <a:cs typeface="+mn-cs"/>
              </a:rPr>
              <a:t>John Shook </a:t>
            </a:r>
          </a:p>
          <a:p>
            <a:pPr marR="0" lvl="0" algn="r" defTabSz="914400" rtl="0" eaLnBrk="1" fontAlgn="auto" latinLnBrk="0" hangingPunct="1">
              <a:lnSpc>
                <a:spcPts val="1160"/>
              </a:lnSpc>
              <a:spcBef>
                <a:spcPts val="0"/>
              </a:spcBef>
              <a:spcAft>
                <a:spcPts val="600"/>
              </a:spcAft>
              <a:buClrTx/>
              <a:buSzTx/>
              <a:tabLst/>
              <a:defRPr/>
            </a:pPr>
            <a:r>
              <a:rPr kumimoji="0" lang="en-US" sz="1800" b="0" i="0" u="none" strike="noStrike" kern="1200" cap="none" spc="0" normalizeH="0" baseline="0" noProof="0" dirty="0">
                <a:ln>
                  <a:noFill/>
                </a:ln>
                <a:solidFill>
                  <a:srgbClr val="FFB852"/>
                </a:solidFill>
                <a:effectLst/>
                <a:uLnTx/>
                <a:uFillTx/>
                <a:latin typeface="Manrope"/>
                <a:ea typeface="+mn-ea"/>
                <a:cs typeface="+mn-cs"/>
              </a:rPr>
              <a:t>NUMMI Initial Hire </a:t>
            </a:r>
          </a:p>
        </p:txBody>
      </p:sp>
      <p:sp>
        <p:nvSpPr>
          <p:cNvPr id="4" name="Rectangle: Rounded Corners 23">
            <a:extLst>
              <a:ext uri="{FF2B5EF4-FFF2-40B4-BE49-F238E27FC236}">
                <a16:creationId xmlns:a16="http://schemas.microsoft.com/office/drawing/2014/main" id="{102178F5-9EE8-14D1-079A-18E22B90AB1C}"/>
              </a:ext>
            </a:extLst>
          </p:cNvPr>
          <p:cNvSpPr/>
          <p:nvPr/>
        </p:nvSpPr>
        <p:spPr>
          <a:xfrm>
            <a:off x="1075727" y="1830776"/>
            <a:ext cx="3249517" cy="2290820"/>
          </a:xfrm>
          <a:prstGeom prst="roundRect">
            <a:avLst>
              <a:gd name="adj" fmla="val 0"/>
            </a:avLst>
          </a:prstGeom>
          <a:gradFill>
            <a:gsLst>
              <a:gs pos="90000">
                <a:schemeClr val="accent1">
                  <a:lumMod val="50000"/>
                </a:schemeClr>
              </a:gs>
              <a:gs pos="6000">
                <a:schemeClr val="accent1"/>
              </a:gs>
            </a:gsLst>
            <a:lin ang="5400000" scaled="1"/>
          </a:gradFill>
          <a:ln w="9525">
            <a:noFill/>
          </a:ln>
          <a:effectLst>
            <a:outerShdw blurRad="5715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dirty="0">
              <a:ln>
                <a:noFill/>
              </a:ln>
              <a:solidFill>
                <a:srgbClr val="FFFFFF"/>
              </a:solidFill>
              <a:effectLst/>
              <a:uLnTx/>
              <a:uFillTx/>
              <a:latin typeface="Manrope"/>
              <a:ea typeface="+mn-ea"/>
              <a:cs typeface="+mn-cs"/>
            </a:endParaRPr>
          </a:p>
        </p:txBody>
      </p:sp>
      <p:pic>
        <p:nvPicPr>
          <p:cNvPr id="2" name="Picture 13" descr="112_0702_2007_power_list_01z+Fujio_Cho+Toyota_Motor_Corporation_chairman2">
            <a:hlinkClick r:id="rId2"/>
            <a:extLst>
              <a:ext uri="{FF2B5EF4-FFF2-40B4-BE49-F238E27FC236}">
                <a16:creationId xmlns:a16="http://schemas.microsoft.com/office/drawing/2014/main" id="{5AD8DB3E-24E8-9626-02AD-D67FBDE4CD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18" y="1646530"/>
            <a:ext cx="3418183" cy="213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536BA07-1F3C-4892-071A-2D86AA786F8A}"/>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078292" y="1428664"/>
            <a:ext cx="2251277" cy="3001702"/>
          </a:xfrm>
          <a:prstGeom prst="rect">
            <a:avLst/>
          </a:prstGeom>
        </p:spPr>
      </p:pic>
      <p:sp>
        <p:nvSpPr>
          <p:cNvPr id="5" name="TextBox 4">
            <a:extLst>
              <a:ext uri="{FF2B5EF4-FFF2-40B4-BE49-F238E27FC236}">
                <a16:creationId xmlns:a16="http://schemas.microsoft.com/office/drawing/2014/main" id="{64400261-DCB3-6D12-3965-0A5AA574F865}"/>
              </a:ext>
            </a:extLst>
          </p:cNvPr>
          <p:cNvSpPr txBox="1"/>
          <p:nvPr/>
        </p:nvSpPr>
        <p:spPr>
          <a:xfrm>
            <a:off x="4542181" y="4750751"/>
            <a:ext cx="3323497" cy="2031325"/>
          </a:xfrm>
          <a:prstGeom prst="rect">
            <a:avLst/>
          </a:prstGeom>
          <a:noFill/>
          <a:ln>
            <a:noFill/>
          </a:ln>
        </p:spPr>
        <p:txBody>
          <a:bodyPr wrap="square" rtlCol="0">
            <a:spAutoFit/>
          </a:bodyPr>
          <a:lstStyle/>
          <a:p>
            <a:r>
              <a:rPr lang="en-US" dirty="0">
                <a:solidFill>
                  <a:schemeClr val="bg1"/>
                </a:solidFill>
              </a:rPr>
              <a:t>“DeLuzio-San, stop asking questions. They are only going to lie to you! Your eyes will not lie to you!”</a:t>
            </a:r>
          </a:p>
          <a:p>
            <a:endParaRPr lang="en-US" dirty="0">
              <a:solidFill>
                <a:schemeClr val="bg1"/>
              </a:solidFill>
            </a:endParaRPr>
          </a:p>
          <a:p>
            <a:pPr marL="285750" indent="-285750" algn="r">
              <a:buFontTx/>
              <a:buChar char="-"/>
            </a:pPr>
            <a:r>
              <a:rPr lang="en-US" dirty="0">
                <a:solidFill>
                  <a:srgbClr val="FFB627"/>
                </a:solidFill>
              </a:rPr>
              <a:t>Chihiro Nakao</a:t>
            </a:r>
          </a:p>
          <a:p>
            <a:pPr algn="r"/>
            <a:r>
              <a:rPr lang="en-US" dirty="0">
                <a:solidFill>
                  <a:srgbClr val="FFB627"/>
                </a:solidFill>
              </a:rPr>
              <a:t>Shingijutsu</a:t>
            </a:r>
          </a:p>
        </p:txBody>
      </p:sp>
      <p:pic>
        <p:nvPicPr>
          <p:cNvPr id="7" name="Picture 6">
            <a:extLst>
              <a:ext uri="{FF2B5EF4-FFF2-40B4-BE49-F238E27FC236}">
                <a16:creationId xmlns:a16="http://schemas.microsoft.com/office/drawing/2014/main" id="{2AC520F1-318A-1749-250E-7A74BD0C46FE}"/>
              </a:ext>
            </a:extLst>
          </p:cNvPr>
          <p:cNvPicPr>
            <a:picLocks noChangeAspect="1"/>
          </p:cNvPicPr>
          <p:nvPr/>
        </p:nvPicPr>
        <p:blipFill>
          <a:blip r:embed="rId6"/>
          <a:stretch>
            <a:fillRect/>
          </a:stretch>
        </p:blipFill>
        <p:spPr>
          <a:xfrm>
            <a:off x="8251283" y="1426555"/>
            <a:ext cx="2781728" cy="3001703"/>
          </a:xfrm>
          <a:prstGeom prst="rect">
            <a:avLst/>
          </a:prstGeom>
        </p:spPr>
      </p:pic>
      <p:sp>
        <p:nvSpPr>
          <p:cNvPr id="11" name="TextBox 10">
            <a:extLst>
              <a:ext uri="{FF2B5EF4-FFF2-40B4-BE49-F238E27FC236}">
                <a16:creationId xmlns:a16="http://schemas.microsoft.com/office/drawing/2014/main" id="{74899F32-B687-F90E-09C2-7B788606AE37}"/>
              </a:ext>
            </a:extLst>
          </p:cNvPr>
          <p:cNvSpPr txBox="1"/>
          <p:nvPr/>
        </p:nvSpPr>
        <p:spPr>
          <a:xfrm>
            <a:off x="1113217" y="480479"/>
            <a:ext cx="9901428" cy="523220"/>
          </a:xfrm>
          <a:prstGeom prst="rect">
            <a:avLst/>
          </a:prstGeom>
          <a:noFill/>
        </p:spPr>
        <p:txBody>
          <a:bodyPr wrap="none" rtlCol="0">
            <a:spAutoFit/>
          </a:bodyPr>
          <a:lstStyle/>
          <a:p>
            <a:r>
              <a:rPr lang="en-US" sz="2800" b="1" dirty="0">
                <a:solidFill>
                  <a:schemeClr val="bg1"/>
                </a:solidFill>
              </a:rPr>
              <a:t>Wisdom from Toyota’s Pioneers- Perspectives on Problem Solving</a:t>
            </a:r>
          </a:p>
        </p:txBody>
      </p:sp>
    </p:spTree>
    <p:extLst>
      <p:ext uri="{BB962C8B-B14F-4D97-AF65-F5344CB8AC3E}">
        <p14:creationId xmlns:p14="http://schemas.microsoft.com/office/powerpoint/2010/main" val="3246317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FD6F-75EA-E857-E101-C07A33ACA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3D33A-DC50-8533-6537-B68004EF7C00}"/>
              </a:ext>
            </a:extLst>
          </p:cNvPr>
          <p:cNvSpPr>
            <a:spLocks noGrp="1"/>
          </p:cNvSpPr>
          <p:nvPr>
            <p:ph type="title"/>
          </p:nvPr>
        </p:nvSpPr>
        <p:spPr/>
        <p:txBody>
          <a:bodyPr/>
          <a:lstStyle/>
          <a:p>
            <a:r>
              <a:rPr lang="en-US" dirty="0"/>
              <a:t>Records Example</a:t>
            </a:r>
          </a:p>
        </p:txBody>
      </p:sp>
      <p:grpSp>
        <p:nvGrpSpPr>
          <p:cNvPr id="3" name="Group 2">
            <a:extLst>
              <a:ext uri="{FF2B5EF4-FFF2-40B4-BE49-F238E27FC236}">
                <a16:creationId xmlns:a16="http://schemas.microsoft.com/office/drawing/2014/main" id="{4DCEA432-104F-EEE0-CA1C-72A5C723E5AF}"/>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8C2E286A-B313-9C1A-4F62-BE44E0989EB2}"/>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EAC6F661-CA8D-225B-3D87-A83212EEA30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767F0F15-71A9-75A6-00D6-A816303EF12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1B94F690-7558-9CEA-D221-D4040011838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5D4C8BBF-E013-518F-B63C-3C9483FDC26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E20132B4-715E-619E-2DCE-5141B54037C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2E5C4AB7-D6E5-D680-D434-6AE6C219494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F468AE2C-B2FE-5186-BFFE-6016D4901FF6}"/>
              </a:ext>
            </a:extLst>
          </p:cNvPr>
          <p:cNvSpPr/>
          <p:nvPr/>
        </p:nvSpPr>
        <p:spPr>
          <a:xfrm>
            <a:off x="3515515" y="5229689"/>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 you believe your own data?</a:t>
            </a:r>
          </a:p>
        </p:txBody>
      </p:sp>
      <p:pic>
        <p:nvPicPr>
          <p:cNvPr id="7" name="Picture 6">
            <a:extLst>
              <a:ext uri="{FF2B5EF4-FFF2-40B4-BE49-F238E27FC236}">
                <a16:creationId xmlns:a16="http://schemas.microsoft.com/office/drawing/2014/main" id="{2B8E9F54-AD17-86FB-418B-ADFE462B7AA9}"/>
              </a:ext>
            </a:extLst>
          </p:cNvPr>
          <p:cNvPicPr>
            <a:picLocks noChangeAspect="1"/>
          </p:cNvPicPr>
          <p:nvPr/>
        </p:nvPicPr>
        <p:blipFill>
          <a:blip r:embed="rId3"/>
          <a:stretch>
            <a:fillRect/>
          </a:stretch>
        </p:blipFill>
        <p:spPr>
          <a:xfrm>
            <a:off x="7759700" y="2037788"/>
            <a:ext cx="2844800" cy="2844800"/>
          </a:xfrm>
          <a:prstGeom prst="rect">
            <a:avLst/>
          </a:prstGeom>
        </p:spPr>
      </p:pic>
    </p:spTree>
    <p:extLst>
      <p:ext uri="{BB962C8B-B14F-4D97-AF65-F5344CB8AC3E}">
        <p14:creationId xmlns:p14="http://schemas.microsoft.com/office/powerpoint/2010/main" val="2406575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 Collect Data</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Relevant quantitative and qualitative information that provides insights into the problem.</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To gather evidence about the problem to understand its magnitude, impact, and characteristics.</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Collecting defect rates from the production line to identify trends.</a:t>
            </a:r>
          </a:p>
          <a:p>
            <a:pPr marL="285750" indent="-285750">
              <a:buFont typeface="Arial" panose="020B0604020202020204" pitchFamily="34" charset="0"/>
              <a:buChar char="•"/>
            </a:pPr>
            <a:r>
              <a:rPr lang="en-US" dirty="0"/>
              <a:t>Surveying employees for feedback on a new process.</a:t>
            </a:r>
          </a:p>
        </p:txBody>
      </p:sp>
      <p:grpSp>
        <p:nvGrpSpPr>
          <p:cNvPr id="3" name="Group 2">
            <a:extLst>
              <a:ext uri="{FF2B5EF4-FFF2-40B4-BE49-F238E27FC236}">
                <a16:creationId xmlns:a16="http://schemas.microsoft.com/office/drawing/2014/main" id="{72C25A90-8FDF-4A47-C799-C279EF4E7770}"/>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E24B03C4-CD8C-CB02-B67B-105A1C0100DB}"/>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D7B5441C-DE26-F061-4575-B128A6C3B48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7E0C3548-B5F0-BE0C-8C5E-8970855293E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EB0F94C7-F1D9-B379-9555-BACDD47BCE4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E8D0BD79-1535-BF20-54F7-44E3E026BC4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355E49AB-F8B0-2F44-04D1-35E474773CA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655E64E-9D72-21CC-9FE0-713FCFAF506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562210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BA9C3-CEDF-B903-BF9E-16CAA767C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6B0D3-D83A-09A0-5B69-695BD486DBE0}"/>
              </a:ext>
            </a:extLst>
          </p:cNvPr>
          <p:cNvSpPr>
            <a:spLocks noGrp="1"/>
          </p:cNvSpPr>
          <p:nvPr>
            <p:ph type="title"/>
          </p:nvPr>
        </p:nvSpPr>
        <p:spPr/>
        <p:txBody>
          <a:bodyPr/>
          <a:lstStyle/>
          <a:p>
            <a:r>
              <a:rPr lang="en-US" dirty="0"/>
              <a:t>Common Data Collection Tools</a:t>
            </a:r>
          </a:p>
        </p:txBody>
      </p:sp>
      <p:sp>
        <p:nvSpPr>
          <p:cNvPr id="4" name="Text Placeholder 3">
            <a:extLst>
              <a:ext uri="{FF2B5EF4-FFF2-40B4-BE49-F238E27FC236}">
                <a16:creationId xmlns:a16="http://schemas.microsoft.com/office/drawing/2014/main" id="{28781854-1F72-CAFC-607D-B339DFF52901}"/>
              </a:ext>
            </a:extLst>
          </p:cNvPr>
          <p:cNvSpPr>
            <a:spLocks noGrp="1"/>
          </p:cNvSpPr>
          <p:nvPr>
            <p:ph type="body" idx="1"/>
          </p:nvPr>
        </p:nvSpPr>
        <p:spPr/>
        <p:txBody>
          <a:bodyPr/>
          <a:lstStyle/>
          <a:p>
            <a:r>
              <a:rPr lang="en-US" dirty="0"/>
              <a:t>Data Collection Tools (Box 3)</a:t>
            </a:r>
          </a:p>
        </p:txBody>
      </p:sp>
      <p:sp>
        <p:nvSpPr>
          <p:cNvPr id="3" name="Content Placeholder 2">
            <a:extLst>
              <a:ext uri="{FF2B5EF4-FFF2-40B4-BE49-F238E27FC236}">
                <a16:creationId xmlns:a16="http://schemas.microsoft.com/office/drawing/2014/main" id="{5DF82BD8-5871-7210-BF5D-564FDE98D679}"/>
              </a:ext>
            </a:extLst>
          </p:cNvPr>
          <p:cNvSpPr>
            <a:spLocks noGrp="1"/>
          </p:cNvSpPr>
          <p:nvPr>
            <p:ph sz="half" idx="2"/>
          </p:nvPr>
        </p:nvSpPr>
        <p:spPr/>
        <p:txBody>
          <a:bodyPr/>
          <a:lstStyle/>
          <a:p>
            <a:r>
              <a:rPr lang="en-US" dirty="0"/>
              <a:t>Check Sheet (quantitative)</a:t>
            </a:r>
          </a:p>
          <a:p>
            <a:r>
              <a:rPr lang="en-US" dirty="0"/>
              <a:t>Surveys (quantitative/qualitative)</a:t>
            </a:r>
          </a:p>
          <a:p>
            <a:r>
              <a:rPr lang="en-US" dirty="0"/>
              <a:t>Direct Observations (qualitative)</a:t>
            </a:r>
          </a:p>
          <a:p>
            <a:r>
              <a:rPr lang="en-US" dirty="0"/>
              <a:t>Interviews (qualitative)</a:t>
            </a:r>
          </a:p>
          <a:p>
            <a:r>
              <a:rPr lang="en-US" dirty="0"/>
              <a:t>Records (qualitative)</a:t>
            </a:r>
          </a:p>
        </p:txBody>
      </p:sp>
      <p:sp>
        <p:nvSpPr>
          <p:cNvPr id="6" name="Text Placeholder 5">
            <a:extLst>
              <a:ext uri="{FF2B5EF4-FFF2-40B4-BE49-F238E27FC236}">
                <a16:creationId xmlns:a16="http://schemas.microsoft.com/office/drawing/2014/main" id="{3A3575D4-45BA-2F96-6B76-86B1E4C9ED24}"/>
              </a:ext>
            </a:extLst>
          </p:cNvPr>
          <p:cNvSpPr>
            <a:spLocks noGrp="1"/>
          </p:cNvSpPr>
          <p:nvPr>
            <p:ph type="body" sz="quarter" idx="3"/>
          </p:nvPr>
        </p:nvSpPr>
        <p:spPr/>
        <p:txBody>
          <a:bodyPr/>
          <a:lstStyle/>
          <a:p>
            <a:r>
              <a:rPr lang="en-US" dirty="0"/>
              <a:t>Analytical Tools (Box 4)</a:t>
            </a:r>
          </a:p>
        </p:txBody>
      </p:sp>
      <p:sp>
        <p:nvSpPr>
          <p:cNvPr id="7" name="Content Placeholder 6">
            <a:extLst>
              <a:ext uri="{FF2B5EF4-FFF2-40B4-BE49-F238E27FC236}">
                <a16:creationId xmlns:a16="http://schemas.microsoft.com/office/drawing/2014/main" id="{D1E4986C-4BF0-DC35-3272-8145FB8C661F}"/>
              </a:ext>
            </a:extLst>
          </p:cNvPr>
          <p:cNvSpPr>
            <a:spLocks noGrp="1"/>
          </p:cNvSpPr>
          <p:nvPr>
            <p:ph sz="quarter" idx="4"/>
          </p:nvPr>
        </p:nvSpPr>
        <p:spPr/>
        <p:txBody>
          <a:bodyPr/>
          <a:lstStyle/>
          <a:p>
            <a:r>
              <a:rPr lang="en-US" dirty="0"/>
              <a:t>Run Chart</a:t>
            </a:r>
          </a:p>
          <a:p>
            <a:r>
              <a:rPr lang="en-US" dirty="0"/>
              <a:t>Pareto Chart</a:t>
            </a:r>
          </a:p>
          <a:p>
            <a:r>
              <a:rPr lang="en-US" dirty="0"/>
              <a:t>Histogram</a:t>
            </a:r>
          </a:p>
          <a:p>
            <a:r>
              <a:rPr lang="en-US" dirty="0"/>
              <a:t>Fishbone Diagram</a:t>
            </a:r>
          </a:p>
        </p:txBody>
      </p:sp>
      <p:grpSp>
        <p:nvGrpSpPr>
          <p:cNvPr id="14" name="Group 13">
            <a:extLst>
              <a:ext uri="{FF2B5EF4-FFF2-40B4-BE49-F238E27FC236}">
                <a16:creationId xmlns:a16="http://schemas.microsoft.com/office/drawing/2014/main" id="{24F1D444-1D69-1881-E4F4-6D3C95ADD111}"/>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6CD5FA9C-8E88-9E6D-0927-A9CC4660108C}"/>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13C84771-F840-4E9D-4177-BDA65C4090E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02B9CBD8-42E9-FF8A-CE27-11F2C340D692}"/>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D00F9613-0A82-869E-0672-91EEC4F47E8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3BB8D679-7368-24F3-BD65-619DCC2743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B61A8CF2-2D93-119E-D849-B509600692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6381797-3762-51FE-5AD9-CC4FB84B2B4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206500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Check Sheet</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t>A structured, pre-formatted document used to collect data.</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To enable an organized collection of data, which will subsequently be fed into analytical tools (Step 4).</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807743" y="2892056"/>
            <a:ext cx="3944404"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t>Manufacturing Defects</a:t>
            </a:r>
            <a:r>
              <a:rPr lang="en-US" sz="1600" dirty="0"/>
              <a:t>: Used to track the occurrence of different types of defects.</a:t>
            </a:r>
          </a:p>
          <a:p>
            <a:pPr marL="285750" indent="-285750">
              <a:buFont typeface="Arial" panose="020B0604020202020204" pitchFamily="34" charset="0"/>
              <a:buChar char="•"/>
            </a:pPr>
            <a:r>
              <a:rPr lang="en-US" sz="1600" b="1" dirty="0"/>
              <a:t>Hospital Infections:</a:t>
            </a:r>
            <a:r>
              <a:rPr lang="en-US" sz="1600" dirty="0"/>
              <a:t> Used to record instances of infection in different wards.</a:t>
            </a:r>
          </a:p>
          <a:p>
            <a:pPr marL="285750" indent="-285750">
              <a:buFont typeface="Arial" panose="020B0604020202020204" pitchFamily="34" charset="0"/>
              <a:buChar char="•"/>
            </a:pPr>
            <a:r>
              <a:rPr lang="en-US" sz="1600" b="1" dirty="0"/>
              <a:t>Order Quotations:</a:t>
            </a:r>
            <a:r>
              <a:rPr lang="en-US" sz="1600" dirty="0"/>
              <a:t> Used to record reasons for losing RFQs.</a:t>
            </a:r>
          </a:p>
          <a:p>
            <a:pPr marL="285750" indent="-285750">
              <a:buFont typeface="Arial" panose="020B0604020202020204" pitchFamily="34" charset="0"/>
              <a:buChar char="•"/>
            </a:pPr>
            <a:r>
              <a:rPr lang="en-US" sz="1600" b="1" dirty="0"/>
              <a:t>Customer Service:</a:t>
            </a:r>
            <a:r>
              <a:rPr lang="en-US" sz="1600" dirty="0"/>
              <a:t> Used to record the type of customer complaints by date.</a:t>
            </a:r>
            <a:endParaRPr lang="en-US" sz="1600" b="1" dirty="0"/>
          </a:p>
        </p:txBody>
      </p:sp>
      <p:grpSp>
        <p:nvGrpSpPr>
          <p:cNvPr id="3" name="Group 2">
            <a:extLst>
              <a:ext uri="{FF2B5EF4-FFF2-40B4-BE49-F238E27FC236}">
                <a16:creationId xmlns:a16="http://schemas.microsoft.com/office/drawing/2014/main" id="{A818C0B5-1B6D-8267-A661-95B03F186C84}"/>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D237AA25-BBAD-84FE-8C21-31E3C2530B26}"/>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C19EA8D0-0B55-9EFB-35E5-923CCA9CF28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C8AB5087-D2C6-80A9-432B-B01262F1DD3E}"/>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B2B2515E-6270-269C-5094-DB01A27CD21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32D84372-15A0-55B6-DAC2-19880D8388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D6EA024-1CBF-A82C-E878-A229013EB00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6AA0CDFD-88AB-84D1-EFD1-3643F05E3C0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941130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0D36-6486-9442-7D81-94EEBC9017EC}"/>
              </a:ext>
            </a:extLst>
          </p:cNvPr>
          <p:cNvSpPr>
            <a:spLocks noGrp="1"/>
          </p:cNvSpPr>
          <p:nvPr>
            <p:ph type="title"/>
          </p:nvPr>
        </p:nvSpPr>
        <p:spPr/>
        <p:txBody>
          <a:bodyPr/>
          <a:lstStyle/>
          <a:p>
            <a:r>
              <a:rPr lang="en-US" dirty="0"/>
              <a:t>Check Sheet Example</a:t>
            </a:r>
          </a:p>
        </p:txBody>
      </p:sp>
      <p:graphicFrame>
        <p:nvGraphicFramePr>
          <p:cNvPr id="7" name="Table 6">
            <a:extLst>
              <a:ext uri="{FF2B5EF4-FFF2-40B4-BE49-F238E27FC236}">
                <a16:creationId xmlns:a16="http://schemas.microsoft.com/office/drawing/2014/main" id="{742AEBC4-5DD1-BC6C-5B16-5CD2D55526FC}"/>
              </a:ext>
            </a:extLst>
          </p:cNvPr>
          <p:cNvGraphicFramePr>
            <a:graphicFrameLocks noGrp="1"/>
          </p:cNvGraphicFramePr>
          <p:nvPr>
            <p:extLst>
              <p:ext uri="{D42A27DB-BD31-4B8C-83A1-F6EECF244321}">
                <p14:modId xmlns:p14="http://schemas.microsoft.com/office/powerpoint/2010/main" val="2729356533"/>
              </p:ext>
            </p:extLst>
          </p:nvPr>
        </p:nvGraphicFramePr>
        <p:xfrm>
          <a:off x="1321376" y="2072481"/>
          <a:ext cx="9549247" cy="2238380"/>
        </p:xfrm>
        <a:graphic>
          <a:graphicData uri="http://schemas.openxmlformats.org/drawingml/2006/table">
            <a:tbl>
              <a:tblPr/>
              <a:tblGrid>
                <a:gridCol w="1537471">
                  <a:extLst>
                    <a:ext uri="{9D8B030D-6E8A-4147-A177-3AD203B41FA5}">
                      <a16:colId xmlns:a16="http://schemas.microsoft.com/office/drawing/2014/main" val="101274380"/>
                    </a:ext>
                  </a:extLst>
                </a:gridCol>
                <a:gridCol w="1001472">
                  <a:extLst>
                    <a:ext uri="{9D8B030D-6E8A-4147-A177-3AD203B41FA5}">
                      <a16:colId xmlns:a16="http://schemas.microsoft.com/office/drawing/2014/main" val="1461464565"/>
                    </a:ext>
                  </a:extLst>
                </a:gridCol>
                <a:gridCol w="1001472">
                  <a:extLst>
                    <a:ext uri="{9D8B030D-6E8A-4147-A177-3AD203B41FA5}">
                      <a16:colId xmlns:a16="http://schemas.microsoft.com/office/drawing/2014/main" val="117663896"/>
                    </a:ext>
                  </a:extLst>
                </a:gridCol>
                <a:gridCol w="1001472">
                  <a:extLst>
                    <a:ext uri="{9D8B030D-6E8A-4147-A177-3AD203B41FA5}">
                      <a16:colId xmlns:a16="http://schemas.microsoft.com/office/drawing/2014/main" val="2678112122"/>
                    </a:ext>
                  </a:extLst>
                </a:gridCol>
                <a:gridCol w="1001472">
                  <a:extLst>
                    <a:ext uri="{9D8B030D-6E8A-4147-A177-3AD203B41FA5}">
                      <a16:colId xmlns:a16="http://schemas.microsoft.com/office/drawing/2014/main" val="4057573297"/>
                    </a:ext>
                  </a:extLst>
                </a:gridCol>
                <a:gridCol w="1001472">
                  <a:extLst>
                    <a:ext uri="{9D8B030D-6E8A-4147-A177-3AD203B41FA5}">
                      <a16:colId xmlns:a16="http://schemas.microsoft.com/office/drawing/2014/main" val="1098517724"/>
                    </a:ext>
                  </a:extLst>
                </a:gridCol>
                <a:gridCol w="1001472">
                  <a:extLst>
                    <a:ext uri="{9D8B030D-6E8A-4147-A177-3AD203B41FA5}">
                      <a16:colId xmlns:a16="http://schemas.microsoft.com/office/drawing/2014/main" val="1845172855"/>
                    </a:ext>
                  </a:extLst>
                </a:gridCol>
                <a:gridCol w="1001472">
                  <a:extLst>
                    <a:ext uri="{9D8B030D-6E8A-4147-A177-3AD203B41FA5}">
                      <a16:colId xmlns:a16="http://schemas.microsoft.com/office/drawing/2014/main" val="2669246902"/>
                    </a:ext>
                  </a:extLst>
                </a:gridCol>
                <a:gridCol w="1001472">
                  <a:extLst>
                    <a:ext uri="{9D8B030D-6E8A-4147-A177-3AD203B41FA5}">
                      <a16:colId xmlns:a16="http://schemas.microsoft.com/office/drawing/2014/main" val="2815813073"/>
                    </a:ext>
                  </a:extLst>
                </a:gridCol>
              </a:tblGrid>
              <a:tr h="327819">
                <a:tc>
                  <a:txBody>
                    <a:bodyPr/>
                    <a:lstStyle/>
                    <a:p>
                      <a:pPr algn="r" fontAlgn="b"/>
                      <a:r>
                        <a:rPr lang="en-US" sz="1100" b="1" i="0" u="none" strike="noStrike">
                          <a:solidFill>
                            <a:srgbClr val="000000"/>
                          </a:solidFill>
                          <a:effectLst/>
                          <a:latin typeface="Calibri" panose="020F0502020204030204" pitchFamily="34" charset="0"/>
                        </a:rPr>
                        <a:t>Days</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Defect Type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Monday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Tuesday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Wednesday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Thursday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Friday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Saturday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Sunday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1" i="0" u="none" strike="noStrike">
                          <a:solidFill>
                            <a:srgbClr val="000000"/>
                          </a:solidFill>
                          <a:effectLst/>
                          <a:latin typeface="Calibri" panose="020F0502020204030204" pitchFamily="34" charset="0"/>
                        </a:rPr>
                        <a:t>Total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8807036"/>
                  </a:ext>
                </a:extLst>
              </a:tr>
              <a:tr h="378715">
                <a:tc>
                  <a:txBody>
                    <a:bodyPr/>
                    <a:lstStyle/>
                    <a:p>
                      <a:pPr algn="l" fontAlgn="b"/>
                      <a:r>
                        <a:rPr lang="en-US" sz="1100" b="0" i="0" u="none" strike="noStrike">
                          <a:solidFill>
                            <a:srgbClr val="000000"/>
                          </a:solidFill>
                          <a:effectLst/>
                          <a:latin typeface="Calibri" panose="020F0502020204030204" pitchFamily="34" charset="0"/>
                        </a:rPr>
                        <a:t>Overcooked Cakes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3606551"/>
                  </a:ext>
                </a:extLst>
              </a:tr>
              <a:tr h="378715">
                <a:tc>
                  <a:txBody>
                    <a:bodyPr/>
                    <a:lstStyle/>
                    <a:p>
                      <a:pPr algn="l" fontAlgn="b"/>
                      <a:r>
                        <a:rPr lang="en-US" sz="1100" b="0" i="0" u="none" strike="noStrike">
                          <a:solidFill>
                            <a:srgbClr val="000000"/>
                          </a:solidFill>
                          <a:effectLst/>
                          <a:latin typeface="Calibri" panose="020F0502020204030204" pitchFamily="34" charset="0"/>
                        </a:rPr>
                        <a:t>Undercooked Cakes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sngStrike">
                          <a:solidFill>
                            <a:srgbClr val="FF0000"/>
                          </a:solidFill>
                          <a:effectLst/>
                          <a:latin typeface="Calibri" panose="020F0502020204030204" pitchFamily="34" charset="0"/>
                        </a:rPr>
                        <a:t>////</a:t>
                      </a:r>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5721520"/>
                  </a:ext>
                </a:extLst>
              </a:tr>
              <a:tr h="378715">
                <a:tc>
                  <a:txBody>
                    <a:bodyPr/>
                    <a:lstStyle/>
                    <a:p>
                      <a:pPr algn="l" fontAlgn="b"/>
                      <a:r>
                        <a:rPr lang="en-US" sz="1100" b="0" i="0" u="none" strike="noStrike">
                          <a:solidFill>
                            <a:srgbClr val="000000"/>
                          </a:solidFill>
                          <a:effectLst/>
                          <a:latin typeface="Calibri" panose="020F0502020204030204" pitchFamily="34" charset="0"/>
                        </a:rPr>
                        <a:t>Incorrect Frosting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7915211"/>
                  </a:ext>
                </a:extLst>
              </a:tr>
              <a:tr h="378715">
                <a:tc>
                  <a:txBody>
                    <a:bodyPr/>
                    <a:lstStyle/>
                    <a:p>
                      <a:pPr algn="l" fontAlgn="b"/>
                      <a:r>
                        <a:rPr lang="en-US" sz="1100" b="0" i="0" u="none" strike="noStrike">
                          <a:solidFill>
                            <a:srgbClr val="000000"/>
                          </a:solidFill>
                          <a:effectLst/>
                          <a:latin typeface="Calibri" panose="020F0502020204030204" pitchFamily="34" charset="0"/>
                        </a:rPr>
                        <a:t>Uneven Layers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FF0000"/>
                          </a:solidFill>
                          <a:effectLst/>
                          <a:latin typeface="Calibri" panose="020F0502020204030204" pitchFamily="34" charset="0"/>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964671"/>
                  </a:ext>
                </a:extLst>
              </a:tr>
              <a:tr h="378715">
                <a:tc>
                  <a:txBody>
                    <a:bodyPr/>
                    <a:lstStyle/>
                    <a:p>
                      <a:pPr algn="l" fontAlgn="b"/>
                      <a:r>
                        <a:rPr lang="en-US" sz="1100" b="1" i="0" u="none" strike="noStrike">
                          <a:solidFill>
                            <a:srgbClr val="000000"/>
                          </a:solidFill>
                          <a:effectLst/>
                          <a:latin typeface="Calibri" panose="020F0502020204030204" pitchFamily="34" charset="0"/>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Kristen ITC" panose="03050502040202030202" pitchFamily="66"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a:solidFill>
                            <a:srgbClr val="000000"/>
                          </a:solidFill>
                          <a:effectLst/>
                          <a:latin typeface="Kristen ITC" panose="03050502040202030202" pitchFamily="66"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1" i="0" u="none" strike="noStrike" dirty="0">
                          <a:solidFill>
                            <a:srgbClr val="000000"/>
                          </a:solidFill>
                          <a:effectLst/>
                          <a:latin typeface="Kristen ITC" panose="03050502040202030202" pitchFamily="66"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8241872"/>
                  </a:ext>
                </a:extLst>
              </a:tr>
            </a:tbl>
          </a:graphicData>
        </a:graphic>
      </p:graphicFrame>
      <p:grpSp>
        <p:nvGrpSpPr>
          <p:cNvPr id="3" name="Group 2">
            <a:extLst>
              <a:ext uri="{FF2B5EF4-FFF2-40B4-BE49-F238E27FC236}">
                <a16:creationId xmlns:a16="http://schemas.microsoft.com/office/drawing/2014/main" id="{46F52A34-1A19-E616-317D-7665BE2349A8}"/>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D5C98C6B-8D7A-AEC3-2D56-04C4F6195E37}"/>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50A76CB8-2F1B-914B-103F-2B852EF6131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9AE1AFCA-E021-43F3-E2AE-ACE4A590EC5B}"/>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DBAE5DA4-AF7E-90DE-A804-1624D2D44EA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E81A9B75-E5FD-C3D9-5770-F75A3BE1952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D95C7538-75B5-AB84-4C79-F722CDCCABA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6A75CBB2-311F-CCC0-506E-F45EC560140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C6A26A6A-BF67-324F-9E79-A37D3E3CAEAE}"/>
              </a:ext>
            </a:extLst>
          </p:cNvPr>
          <p:cNvSpPr/>
          <p:nvPr/>
        </p:nvSpPr>
        <p:spPr>
          <a:xfrm>
            <a:off x="3744115" y="5013789"/>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2416733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0DCF-2E3B-280D-D11E-E34717433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01B59-B436-075C-B799-E5C6D89F6F1F}"/>
              </a:ext>
            </a:extLst>
          </p:cNvPr>
          <p:cNvSpPr>
            <a:spLocks noGrp="1"/>
          </p:cNvSpPr>
          <p:nvPr>
            <p:ph type="title"/>
          </p:nvPr>
        </p:nvSpPr>
        <p:spPr/>
        <p:txBody>
          <a:bodyPr/>
          <a:lstStyle/>
          <a:p>
            <a:r>
              <a:rPr lang="en-US" dirty="0"/>
              <a:t>Surveys</a:t>
            </a:r>
          </a:p>
        </p:txBody>
      </p:sp>
      <p:grpSp>
        <p:nvGrpSpPr>
          <p:cNvPr id="14" name="Group 13">
            <a:extLst>
              <a:ext uri="{FF2B5EF4-FFF2-40B4-BE49-F238E27FC236}">
                <a16:creationId xmlns:a16="http://schemas.microsoft.com/office/drawing/2014/main" id="{025B1FA6-2830-F587-6AF8-56810FE65B23}"/>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FCD88023-27AC-EC12-000B-5F3928F1D871}"/>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B50F8D6-C9B5-1BA3-CEED-77680320390B}"/>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32B62579-D590-F1C2-378A-35FCB96E1AFF}"/>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4B240A6A-C3C3-39A5-CAF8-2222B93D574A}"/>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A structured, pre-formatted document used to collect data.</a:t>
            </a:r>
          </a:p>
        </p:txBody>
      </p:sp>
      <p:sp>
        <p:nvSpPr>
          <p:cNvPr id="22" name="TextBox 21">
            <a:extLst>
              <a:ext uri="{FF2B5EF4-FFF2-40B4-BE49-F238E27FC236}">
                <a16:creationId xmlns:a16="http://schemas.microsoft.com/office/drawing/2014/main" id="{B7FA7995-7E25-453D-88A6-A9266590880B}"/>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To enable an organized collection of data, which will subsequently be fed into analytical tools (Step 4).</a:t>
            </a:r>
          </a:p>
        </p:txBody>
      </p:sp>
      <p:sp>
        <p:nvSpPr>
          <p:cNvPr id="23" name="TextBox 22">
            <a:extLst>
              <a:ext uri="{FF2B5EF4-FFF2-40B4-BE49-F238E27FC236}">
                <a16:creationId xmlns:a16="http://schemas.microsoft.com/office/drawing/2014/main" id="{C5EE16CF-516C-77D9-1CDD-A218B1BEDFDF}"/>
              </a:ext>
            </a:extLst>
          </p:cNvPr>
          <p:cNvSpPr txBox="1"/>
          <p:nvPr/>
        </p:nvSpPr>
        <p:spPr>
          <a:xfrm>
            <a:off x="7807743" y="2892056"/>
            <a:ext cx="3944404"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rgbClr val="FF0000"/>
                </a:solidFill>
              </a:rPr>
              <a:t>Manufacturing Defects</a:t>
            </a:r>
            <a:r>
              <a:rPr lang="en-US" sz="1600" dirty="0">
                <a:solidFill>
                  <a:srgbClr val="FF0000"/>
                </a:solidFill>
              </a:rPr>
              <a:t>: Used to track the occurrence of different types of defects.</a:t>
            </a:r>
          </a:p>
          <a:p>
            <a:pPr marL="285750" indent="-285750">
              <a:buFont typeface="Arial" panose="020B0604020202020204" pitchFamily="34" charset="0"/>
              <a:buChar char="•"/>
            </a:pPr>
            <a:r>
              <a:rPr lang="en-US" sz="1600" b="1" dirty="0">
                <a:solidFill>
                  <a:srgbClr val="FF0000"/>
                </a:solidFill>
              </a:rPr>
              <a:t>Hospital Infections:</a:t>
            </a:r>
            <a:r>
              <a:rPr lang="en-US" sz="1600" dirty="0">
                <a:solidFill>
                  <a:srgbClr val="FF0000"/>
                </a:solidFill>
              </a:rPr>
              <a:t> Used to record instances of infection in different wards.</a:t>
            </a:r>
          </a:p>
          <a:p>
            <a:pPr marL="285750" indent="-285750">
              <a:buFont typeface="Arial" panose="020B0604020202020204" pitchFamily="34" charset="0"/>
              <a:buChar char="•"/>
            </a:pPr>
            <a:r>
              <a:rPr lang="en-US" sz="1600" b="1" dirty="0">
                <a:solidFill>
                  <a:srgbClr val="FF0000"/>
                </a:solidFill>
              </a:rPr>
              <a:t>Order Quotations:</a:t>
            </a:r>
            <a:r>
              <a:rPr lang="en-US" sz="1600" dirty="0">
                <a:solidFill>
                  <a:srgbClr val="FF0000"/>
                </a:solidFill>
              </a:rPr>
              <a:t> Used to record reasons for losing RFQs.</a:t>
            </a:r>
          </a:p>
          <a:p>
            <a:pPr marL="285750" indent="-285750">
              <a:buFont typeface="Arial" panose="020B0604020202020204" pitchFamily="34" charset="0"/>
              <a:buChar char="•"/>
            </a:pPr>
            <a:r>
              <a:rPr lang="en-US" sz="1600" b="1" dirty="0">
                <a:solidFill>
                  <a:srgbClr val="FF0000"/>
                </a:solidFill>
              </a:rPr>
              <a:t>Customer Service:</a:t>
            </a:r>
            <a:r>
              <a:rPr lang="en-US" sz="1600" dirty="0">
                <a:solidFill>
                  <a:srgbClr val="FF0000"/>
                </a:solidFill>
              </a:rPr>
              <a:t> Used to record the type of customer complaints by date.</a:t>
            </a:r>
            <a:endParaRPr lang="en-US" sz="1600" b="1" dirty="0">
              <a:solidFill>
                <a:srgbClr val="FF0000"/>
              </a:solidFill>
            </a:endParaRPr>
          </a:p>
        </p:txBody>
      </p:sp>
      <p:grpSp>
        <p:nvGrpSpPr>
          <p:cNvPr id="3" name="Group 2">
            <a:extLst>
              <a:ext uri="{FF2B5EF4-FFF2-40B4-BE49-F238E27FC236}">
                <a16:creationId xmlns:a16="http://schemas.microsoft.com/office/drawing/2014/main" id="{656FE413-4AE5-3C6C-5F73-2CECE32C1989}"/>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2D226929-5F3A-784C-62B2-E760EFF8D0D3}"/>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A7F59B7D-DB40-48BB-E16D-57833BC2E23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2FEA5765-123D-BDF9-C5F4-FDAC25590750}"/>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FECF86E-F2A2-7C88-9825-2F2FB57BC9E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168A0648-0AD8-8010-31EC-FE25A57BACA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39CE2B64-E983-B639-F2C4-C17E6526FC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3BD9C883-20EB-B42B-26F7-BFAF852EFE1D}"/>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8317502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05B9-0268-C136-52BC-C9534FA9F3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85274-D4ED-1989-5B4B-0507C66741E2}"/>
              </a:ext>
            </a:extLst>
          </p:cNvPr>
          <p:cNvSpPr>
            <a:spLocks noGrp="1"/>
          </p:cNvSpPr>
          <p:nvPr>
            <p:ph type="title"/>
          </p:nvPr>
        </p:nvSpPr>
        <p:spPr/>
        <p:txBody>
          <a:bodyPr/>
          <a:lstStyle/>
          <a:p>
            <a:r>
              <a:rPr lang="en-US" dirty="0"/>
              <a:t>Surveys Example</a:t>
            </a:r>
          </a:p>
        </p:txBody>
      </p:sp>
      <p:grpSp>
        <p:nvGrpSpPr>
          <p:cNvPr id="3" name="Group 2">
            <a:extLst>
              <a:ext uri="{FF2B5EF4-FFF2-40B4-BE49-F238E27FC236}">
                <a16:creationId xmlns:a16="http://schemas.microsoft.com/office/drawing/2014/main" id="{E5764195-B345-58C8-A8F1-297C915B4D40}"/>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D6AD0CD6-4FEF-1961-CD79-AA0C50290292}"/>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7DF6A1C7-A152-1A1E-F1E7-AA3CE088FE2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777992A-436F-E96B-90F6-6EF592AE1435}"/>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4AC75E71-B8D6-D352-B1D3-22DAF11EC7E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E8E6DDD6-1CAE-BA17-657B-05DD0C2A881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DC87C6CC-7E0D-F022-74EC-30DB24C45E2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205B0DAA-B430-A774-6C34-F0E5CD5DBCF6}"/>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3D7A883B-49E9-AEE1-E3D4-9C73B1AD47D3}"/>
              </a:ext>
            </a:extLst>
          </p:cNvPr>
          <p:cNvSpPr/>
          <p:nvPr/>
        </p:nvSpPr>
        <p:spPr>
          <a:xfrm>
            <a:off x="3744115" y="5013789"/>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pic>
        <p:nvPicPr>
          <p:cNvPr id="16" name="Picture 15">
            <a:extLst>
              <a:ext uri="{FF2B5EF4-FFF2-40B4-BE49-F238E27FC236}">
                <a16:creationId xmlns:a16="http://schemas.microsoft.com/office/drawing/2014/main" id="{D5D21934-8577-7100-082C-69F4139C5EA6}"/>
              </a:ext>
            </a:extLst>
          </p:cNvPr>
          <p:cNvPicPr>
            <a:picLocks noChangeAspect="1"/>
          </p:cNvPicPr>
          <p:nvPr/>
        </p:nvPicPr>
        <p:blipFill>
          <a:blip r:embed="rId3"/>
          <a:stretch>
            <a:fillRect/>
          </a:stretch>
        </p:blipFill>
        <p:spPr>
          <a:xfrm>
            <a:off x="7619999" y="2114560"/>
            <a:ext cx="4348843" cy="2899229"/>
          </a:xfrm>
          <a:prstGeom prst="rect">
            <a:avLst/>
          </a:prstGeom>
        </p:spPr>
      </p:pic>
    </p:spTree>
    <p:extLst>
      <p:ext uri="{BB962C8B-B14F-4D97-AF65-F5344CB8AC3E}">
        <p14:creationId xmlns:p14="http://schemas.microsoft.com/office/powerpoint/2010/main" val="1779928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05B3B-897A-6016-15ED-00F81CBC6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6DD8A-B523-17D6-F4A8-9F1F19AC0210}"/>
              </a:ext>
            </a:extLst>
          </p:cNvPr>
          <p:cNvSpPr>
            <a:spLocks noGrp="1"/>
          </p:cNvSpPr>
          <p:nvPr>
            <p:ph type="title"/>
          </p:nvPr>
        </p:nvSpPr>
        <p:spPr/>
        <p:txBody>
          <a:bodyPr/>
          <a:lstStyle/>
          <a:p>
            <a:r>
              <a:rPr lang="en-US" dirty="0"/>
              <a:t>Direct Observations</a:t>
            </a:r>
          </a:p>
        </p:txBody>
      </p:sp>
      <p:grpSp>
        <p:nvGrpSpPr>
          <p:cNvPr id="14" name="Group 13">
            <a:extLst>
              <a:ext uri="{FF2B5EF4-FFF2-40B4-BE49-F238E27FC236}">
                <a16:creationId xmlns:a16="http://schemas.microsoft.com/office/drawing/2014/main" id="{41DB1D6F-1AA9-F10C-5F5A-9B4848001344}"/>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A1BA869A-A2D3-3C04-ED06-8D57F3D3DDB5}"/>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38F284D8-16F1-8603-4E99-6B069B9FEA39}"/>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E5118CF4-41DA-EBB7-EAD5-7B9259100635}"/>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4D4C31E1-3E90-2AE5-963A-BEFD5F903493}"/>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A structured, pre-formatted document used to collect data.</a:t>
            </a:r>
          </a:p>
        </p:txBody>
      </p:sp>
      <p:sp>
        <p:nvSpPr>
          <p:cNvPr id="22" name="TextBox 21">
            <a:extLst>
              <a:ext uri="{FF2B5EF4-FFF2-40B4-BE49-F238E27FC236}">
                <a16:creationId xmlns:a16="http://schemas.microsoft.com/office/drawing/2014/main" id="{3DB2CFE2-3398-7128-5AFC-7669D8FFDAF5}"/>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To enable an organized collection of data, which will subsequently be fed into analytical tools (Step 4).</a:t>
            </a:r>
          </a:p>
        </p:txBody>
      </p:sp>
      <p:sp>
        <p:nvSpPr>
          <p:cNvPr id="23" name="TextBox 22">
            <a:extLst>
              <a:ext uri="{FF2B5EF4-FFF2-40B4-BE49-F238E27FC236}">
                <a16:creationId xmlns:a16="http://schemas.microsoft.com/office/drawing/2014/main" id="{B6070627-2FCE-9A6F-4223-F3E87FE55C80}"/>
              </a:ext>
            </a:extLst>
          </p:cNvPr>
          <p:cNvSpPr txBox="1"/>
          <p:nvPr/>
        </p:nvSpPr>
        <p:spPr>
          <a:xfrm>
            <a:off x="7807743" y="2892056"/>
            <a:ext cx="3944404"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rgbClr val="FF0000"/>
                </a:solidFill>
              </a:rPr>
              <a:t>Manufacturing Defects</a:t>
            </a:r>
            <a:r>
              <a:rPr lang="en-US" sz="1600" dirty="0">
                <a:solidFill>
                  <a:srgbClr val="FF0000"/>
                </a:solidFill>
              </a:rPr>
              <a:t>: Used to track the occurrence of different types of defects.</a:t>
            </a:r>
          </a:p>
          <a:p>
            <a:pPr marL="285750" indent="-285750">
              <a:buFont typeface="Arial" panose="020B0604020202020204" pitchFamily="34" charset="0"/>
              <a:buChar char="•"/>
            </a:pPr>
            <a:r>
              <a:rPr lang="en-US" sz="1600" b="1" dirty="0">
                <a:solidFill>
                  <a:srgbClr val="FF0000"/>
                </a:solidFill>
              </a:rPr>
              <a:t>Hospital Infections:</a:t>
            </a:r>
            <a:r>
              <a:rPr lang="en-US" sz="1600" dirty="0">
                <a:solidFill>
                  <a:srgbClr val="FF0000"/>
                </a:solidFill>
              </a:rPr>
              <a:t> Used to record instances of infection in different wards.</a:t>
            </a:r>
          </a:p>
          <a:p>
            <a:pPr marL="285750" indent="-285750">
              <a:buFont typeface="Arial" panose="020B0604020202020204" pitchFamily="34" charset="0"/>
              <a:buChar char="•"/>
            </a:pPr>
            <a:r>
              <a:rPr lang="en-US" sz="1600" b="1" dirty="0">
                <a:solidFill>
                  <a:srgbClr val="FF0000"/>
                </a:solidFill>
              </a:rPr>
              <a:t>Order Quotations:</a:t>
            </a:r>
            <a:r>
              <a:rPr lang="en-US" sz="1600" dirty="0">
                <a:solidFill>
                  <a:srgbClr val="FF0000"/>
                </a:solidFill>
              </a:rPr>
              <a:t> Used to record reasons for losing RFQs.</a:t>
            </a:r>
          </a:p>
          <a:p>
            <a:pPr marL="285750" indent="-285750">
              <a:buFont typeface="Arial" panose="020B0604020202020204" pitchFamily="34" charset="0"/>
              <a:buChar char="•"/>
            </a:pPr>
            <a:r>
              <a:rPr lang="en-US" sz="1600" b="1" dirty="0">
                <a:solidFill>
                  <a:srgbClr val="FF0000"/>
                </a:solidFill>
              </a:rPr>
              <a:t>Customer Service:</a:t>
            </a:r>
            <a:r>
              <a:rPr lang="en-US" sz="1600" dirty="0">
                <a:solidFill>
                  <a:srgbClr val="FF0000"/>
                </a:solidFill>
              </a:rPr>
              <a:t> Used to record the type of customer complaints by date.</a:t>
            </a:r>
            <a:endParaRPr lang="en-US" sz="1600" b="1" dirty="0">
              <a:solidFill>
                <a:srgbClr val="FF0000"/>
              </a:solidFill>
            </a:endParaRPr>
          </a:p>
        </p:txBody>
      </p:sp>
      <p:grpSp>
        <p:nvGrpSpPr>
          <p:cNvPr id="3" name="Group 2">
            <a:extLst>
              <a:ext uri="{FF2B5EF4-FFF2-40B4-BE49-F238E27FC236}">
                <a16:creationId xmlns:a16="http://schemas.microsoft.com/office/drawing/2014/main" id="{8FC8C126-C59F-6E76-8507-1DC5E9E80363}"/>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E50BE336-3566-132D-8438-19953AC674B7}"/>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03F635BF-FD79-1A31-E785-E4CC4830142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DE7F6751-B2E5-DBC6-9BA1-DDA4C12AA88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4CA22A28-4374-385B-044D-71EDD00118B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AFADBB9C-368A-C3D5-7046-4065C6A072B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B836220A-0F1D-0E93-08C4-5A7372498D7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6FE4FF99-6E01-3E0D-4F0B-EF3FB21671C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969653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2EDB-1A4A-A7CA-4A36-09B6A0E9D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13135-A1CA-4DA0-3E68-0771643713FD}"/>
              </a:ext>
            </a:extLst>
          </p:cNvPr>
          <p:cNvSpPr>
            <a:spLocks noGrp="1"/>
          </p:cNvSpPr>
          <p:nvPr>
            <p:ph type="title"/>
          </p:nvPr>
        </p:nvSpPr>
        <p:spPr/>
        <p:txBody>
          <a:bodyPr/>
          <a:lstStyle/>
          <a:p>
            <a:r>
              <a:rPr lang="en-US" dirty="0"/>
              <a:t>Direct Observations Example</a:t>
            </a:r>
          </a:p>
        </p:txBody>
      </p:sp>
      <p:grpSp>
        <p:nvGrpSpPr>
          <p:cNvPr id="3" name="Group 2">
            <a:extLst>
              <a:ext uri="{FF2B5EF4-FFF2-40B4-BE49-F238E27FC236}">
                <a16:creationId xmlns:a16="http://schemas.microsoft.com/office/drawing/2014/main" id="{902B3D44-20AE-A03B-CEFF-C1CDBB6FD30C}"/>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C5FC74F1-B673-8E9F-8CB6-AC79CDB73852}"/>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C7806897-2A4A-6E36-81CA-3069C9AA9AB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69E2CA57-CFED-5399-310C-AE7C63DD2791}"/>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363E9A36-CA3B-056A-2584-2D99B3F9E8F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C85F48D7-38BA-C24B-2C88-9572CB3A34C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321E446F-C577-6192-415A-36E452972F9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F22668B2-3417-4177-6800-A6F4948A0B8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87FF618C-ECD0-6D69-0D90-E926FDFCDE69}"/>
              </a:ext>
            </a:extLst>
          </p:cNvPr>
          <p:cNvSpPr/>
          <p:nvPr/>
        </p:nvSpPr>
        <p:spPr>
          <a:xfrm>
            <a:off x="3744115" y="5013789"/>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pic>
        <p:nvPicPr>
          <p:cNvPr id="18" name="Picture 17">
            <a:extLst>
              <a:ext uri="{FF2B5EF4-FFF2-40B4-BE49-F238E27FC236}">
                <a16:creationId xmlns:a16="http://schemas.microsoft.com/office/drawing/2014/main" id="{FC9F3AF6-4B27-A959-1216-FCE3668AF931}"/>
              </a:ext>
            </a:extLst>
          </p:cNvPr>
          <p:cNvPicPr>
            <a:picLocks noChangeAspect="1"/>
          </p:cNvPicPr>
          <p:nvPr/>
        </p:nvPicPr>
        <p:blipFill>
          <a:blip r:embed="rId3"/>
          <a:stretch>
            <a:fillRect/>
          </a:stretch>
        </p:blipFill>
        <p:spPr>
          <a:xfrm>
            <a:off x="512252" y="1856907"/>
            <a:ext cx="2772229" cy="4158343"/>
          </a:xfrm>
          <a:prstGeom prst="rect">
            <a:avLst/>
          </a:prstGeom>
        </p:spPr>
      </p:pic>
    </p:spTree>
    <p:extLst>
      <p:ext uri="{BB962C8B-B14F-4D97-AF65-F5344CB8AC3E}">
        <p14:creationId xmlns:p14="http://schemas.microsoft.com/office/powerpoint/2010/main" val="23260365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0010-6F1B-15B5-28CB-582FD2480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5D377-5181-DDFD-B7A7-04E3F2E8D6AB}"/>
              </a:ext>
            </a:extLst>
          </p:cNvPr>
          <p:cNvSpPr>
            <a:spLocks noGrp="1"/>
          </p:cNvSpPr>
          <p:nvPr>
            <p:ph type="title"/>
          </p:nvPr>
        </p:nvSpPr>
        <p:spPr/>
        <p:txBody>
          <a:bodyPr/>
          <a:lstStyle/>
          <a:p>
            <a:r>
              <a:rPr lang="en-US" dirty="0"/>
              <a:t>Interviews</a:t>
            </a:r>
          </a:p>
        </p:txBody>
      </p:sp>
      <p:grpSp>
        <p:nvGrpSpPr>
          <p:cNvPr id="14" name="Group 13">
            <a:extLst>
              <a:ext uri="{FF2B5EF4-FFF2-40B4-BE49-F238E27FC236}">
                <a16:creationId xmlns:a16="http://schemas.microsoft.com/office/drawing/2014/main" id="{77D7EC14-8A08-9C1A-0109-D39354F72369}"/>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5ACCBEB6-F5EF-1F2A-5E60-1547EBE946CB}"/>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1C6F8CC7-6396-BF75-D40F-8ACCBC623351}"/>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42B73151-AAB1-FCF9-52E3-302AE5707D7F}"/>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85447EA5-6908-3D7B-01F6-C56ECF589EBC}"/>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A structured, pre-formatted document used to collect data.</a:t>
            </a:r>
          </a:p>
        </p:txBody>
      </p:sp>
      <p:sp>
        <p:nvSpPr>
          <p:cNvPr id="22" name="TextBox 21">
            <a:extLst>
              <a:ext uri="{FF2B5EF4-FFF2-40B4-BE49-F238E27FC236}">
                <a16:creationId xmlns:a16="http://schemas.microsoft.com/office/drawing/2014/main" id="{C6D72D6C-7248-1779-69B8-AC60E02028B8}"/>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To enable an organized collection of data, which will subsequently be fed into analytical tools (Step 4).</a:t>
            </a:r>
          </a:p>
        </p:txBody>
      </p:sp>
      <p:sp>
        <p:nvSpPr>
          <p:cNvPr id="23" name="TextBox 22">
            <a:extLst>
              <a:ext uri="{FF2B5EF4-FFF2-40B4-BE49-F238E27FC236}">
                <a16:creationId xmlns:a16="http://schemas.microsoft.com/office/drawing/2014/main" id="{6C7563F0-18D5-E3EB-0EA4-50A772C05FE4}"/>
              </a:ext>
            </a:extLst>
          </p:cNvPr>
          <p:cNvSpPr txBox="1"/>
          <p:nvPr/>
        </p:nvSpPr>
        <p:spPr>
          <a:xfrm>
            <a:off x="7807743" y="2892056"/>
            <a:ext cx="3944404"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rgbClr val="FF0000"/>
                </a:solidFill>
              </a:rPr>
              <a:t>Manufacturing Defects</a:t>
            </a:r>
            <a:r>
              <a:rPr lang="en-US" sz="1600" dirty="0">
                <a:solidFill>
                  <a:srgbClr val="FF0000"/>
                </a:solidFill>
              </a:rPr>
              <a:t>: Used to track the occurrence of different types of defects.</a:t>
            </a:r>
          </a:p>
          <a:p>
            <a:pPr marL="285750" indent="-285750">
              <a:buFont typeface="Arial" panose="020B0604020202020204" pitchFamily="34" charset="0"/>
              <a:buChar char="•"/>
            </a:pPr>
            <a:r>
              <a:rPr lang="en-US" sz="1600" b="1" dirty="0">
                <a:solidFill>
                  <a:srgbClr val="FF0000"/>
                </a:solidFill>
              </a:rPr>
              <a:t>Hospital Infections:</a:t>
            </a:r>
            <a:r>
              <a:rPr lang="en-US" sz="1600" dirty="0">
                <a:solidFill>
                  <a:srgbClr val="FF0000"/>
                </a:solidFill>
              </a:rPr>
              <a:t> Used to record instances of infection in different wards.</a:t>
            </a:r>
          </a:p>
          <a:p>
            <a:pPr marL="285750" indent="-285750">
              <a:buFont typeface="Arial" panose="020B0604020202020204" pitchFamily="34" charset="0"/>
              <a:buChar char="•"/>
            </a:pPr>
            <a:r>
              <a:rPr lang="en-US" sz="1600" b="1" dirty="0">
                <a:solidFill>
                  <a:srgbClr val="FF0000"/>
                </a:solidFill>
              </a:rPr>
              <a:t>Order Quotations:</a:t>
            </a:r>
            <a:r>
              <a:rPr lang="en-US" sz="1600" dirty="0">
                <a:solidFill>
                  <a:srgbClr val="FF0000"/>
                </a:solidFill>
              </a:rPr>
              <a:t> Used to record reasons for losing RFQs.</a:t>
            </a:r>
          </a:p>
          <a:p>
            <a:pPr marL="285750" indent="-285750">
              <a:buFont typeface="Arial" panose="020B0604020202020204" pitchFamily="34" charset="0"/>
              <a:buChar char="•"/>
            </a:pPr>
            <a:r>
              <a:rPr lang="en-US" sz="1600" b="1" dirty="0">
                <a:solidFill>
                  <a:srgbClr val="FF0000"/>
                </a:solidFill>
              </a:rPr>
              <a:t>Customer Service:</a:t>
            </a:r>
            <a:r>
              <a:rPr lang="en-US" sz="1600" dirty="0">
                <a:solidFill>
                  <a:srgbClr val="FF0000"/>
                </a:solidFill>
              </a:rPr>
              <a:t> Used to record the type of customer complaints by date.</a:t>
            </a:r>
            <a:endParaRPr lang="en-US" sz="1600" b="1" dirty="0">
              <a:solidFill>
                <a:srgbClr val="FF0000"/>
              </a:solidFill>
            </a:endParaRPr>
          </a:p>
        </p:txBody>
      </p:sp>
      <p:grpSp>
        <p:nvGrpSpPr>
          <p:cNvPr id="3" name="Group 2">
            <a:extLst>
              <a:ext uri="{FF2B5EF4-FFF2-40B4-BE49-F238E27FC236}">
                <a16:creationId xmlns:a16="http://schemas.microsoft.com/office/drawing/2014/main" id="{7C2C3EF1-0552-307C-CD32-276C626264EC}"/>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21AAE81A-55BA-432B-56C3-E8A9F4A8D316}"/>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1CDE63AD-D84C-34C6-4298-CD0029EBD39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4090C6A6-AE33-74E7-DB6E-EBA3046A37D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C131EDF8-1D7E-C769-E137-5A4AF7A0D39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85789111-BC8A-A8D0-AABE-C1DBD4561E3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A4FA9AF3-DC85-4F94-3A66-7F1EBC4FF6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58BEA9C1-1921-3574-9A92-874F6637EFC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01894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1541-96EC-572E-5F0F-8C42D7B3A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1B30D-1415-17A6-8263-76669F4600C7}"/>
              </a:ext>
            </a:extLst>
          </p:cNvPr>
          <p:cNvSpPr>
            <a:spLocks noGrp="1"/>
          </p:cNvSpPr>
          <p:nvPr>
            <p:ph type="title"/>
          </p:nvPr>
        </p:nvSpPr>
        <p:spPr/>
        <p:txBody>
          <a:bodyPr/>
          <a:lstStyle/>
          <a:p>
            <a:r>
              <a:rPr lang="en-US" dirty="0"/>
              <a:t>Interviews Example</a:t>
            </a:r>
          </a:p>
        </p:txBody>
      </p:sp>
      <p:grpSp>
        <p:nvGrpSpPr>
          <p:cNvPr id="3" name="Group 2">
            <a:extLst>
              <a:ext uri="{FF2B5EF4-FFF2-40B4-BE49-F238E27FC236}">
                <a16:creationId xmlns:a16="http://schemas.microsoft.com/office/drawing/2014/main" id="{F08940A3-1090-22F7-A79E-A4D6186EB4BA}"/>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FDE1D35B-EF83-6ACC-7D87-06F26B53AB36}"/>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04A37BDF-E15C-FC3A-7C36-23679155AC5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0E48F5AA-1EDB-49E5-A425-880BA29F538A}"/>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4ACDE98B-7A62-D5AA-DBE1-4509C1CDD5E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2BBBA56F-B313-F23C-B95C-FB3E67FFDB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0C288CF6-DC2F-F248-06C5-78561F53CD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039A68F6-13E4-3C50-BF54-871F7E44497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235769AA-4F18-6D77-6428-D493ADD81A4F}"/>
              </a:ext>
            </a:extLst>
          </p:cNvPr>
          <p:cNvSpPr/>
          <p:nvPr/>
        </p:nvSpPr>
        <p:spPr>
          <a:xfrm>
            <a:off x="3744116" y="5468046"/>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pic>
        <p:nvPicPr>
          <p:cNvPr id="10" name="Picture 9">
            <a:extLst>
              <a:ext uri="{FF2B5EF4-FFF2-40B4-BE49-F238E27FC236}">
                <a16:creationId xmlns:a16="http://schemas.microsoft.com/office/drawing/2014/main" id="{3B105460-413C-6C78-C0B1-EADBD2F6CC45}"/>
              </a:ext>
            </a:extLst>
          </p:cNvPr>
          <p:cNvPicPr>
            <a:picLocks noChangeAspect="1"/>
          </p:cNvPicPr>
          <p:nvPr/>
        </p:nvPicPr>
        <p:blipFill>
          <a:blip r:embed="rId3"/>
          <a:stretch>
            <a:fillRect/>
          </a:stretch>
        </p:blipFill>
        <p:spPr>
          <a:xfrm>
            <a:off x="7041503" y="1766948"/>
            <a:ext cx="4976326" cy="3429000"/>
          </a:xfrm>
          <a:prstGeom prst="rect">
            <a:avLst/>
          </a:prstGeom>
        </p:spPr>
      </p:pic>
    </p:spTree>
    <p:extLst>
      <p:ext uri="{BB962C8B-B14F-4D97-AF65-F5344CB8AC3E}">
        <p14:creationId xmlns:p14="http://schemas.microsoft.com/office/powerpoint/2010/main" val="1027351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2B45-35AE-4201-12A8-C3CD01E59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335D6-717C-0FE6-06AF-B1522564B518}"/>
              </a:ext>
            </a:extLst>
          </p:cNvPr>
          <p:cNvSpPr>
            <a:spLocks noGrp="1"/>
          </p:cNvSpPr>
          <p:nvPr>
            <p:ph type="title"/>
          </p:nvPr>
        </p:nvSpPr>
        <p:spPr/>
        <p:txBody>
          <a:bodyPr/>
          <a:lstStyle/>
          <a:p>
            <a:r>
              <a:rPr lang="en-US" dirty="0"/>
              <a:t>Records</a:t>
            </a:r>
          </a:p>
        </p:txBody>
      </p:sp>
      <p:grpSp>
        <p:nvGrpSpPr>
          <p:cNvPr id="14" name="Group 13">
            <a:extLst>
              <a:ext uri="{FF2B5EF4-FFF2-40B4-BE49-F238E27FC236}">
                <a16:creationId xmlns:a16="http://schemas.microsoft.com/office/drawing/2014/main" id="{4E11E37D-E96F-FD48-89E7-2D61F30248B4}"/>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3CABF951-0ED0-8A81-1CB2-A0D519024D8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DB519F1-29B4-3894-A4B7-0CFDA12233B6}"/>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483544E2-59E8-AF2F-CEF3-60008E252041}"/>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CB8DA293-B7D4-523A-D2FB-237362347C77}"/>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A structured, pre-formatted document used to collect data.</a:t>
            </a:r>
          </a:p>
        </p:txBody>
      </p:sp>
      <p:sp>
        <p:nvSpPr>
          <p:cNvPr id="22" name="TextBox 21">
            <a:extLst>
              <a:ext uri="{FF2B5EF4-FFF2-40B4-BE49-F238E27FC236}">
                <a16:creationId xmlns:a16="http://schemas.microsoft.com/office/drawing/2014/main" id="{063A847A-D250-04B7-05EF-9B18924A09EF}"/>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0000"/>
                </a:solidFill>
              </a:rPr>
              <a:t>To enable an organized collection of data, which will subsequently be fed into analytical tools (Step 4).</a:t>
            </a:r>
          </a:p>
        </p:txBody>
      </p:sp>
      <p:sp>
        <p:nvSpPr>
          <p:cNvPr id="23" name="TextBox 22">
            <a:extLst>
              <a:ext uri="{FF2B5EF4-FFF2-40B4-BE49-F238E27FC236}">
                <a16:creationId xmlns:a16="http://schemas.microsoft.com/office/drawing/2014/main" id="{12AA72DC-EE91-ECE3-2806-D3E3221D1EE1}"/>
              </a:ext>
            </a:extLst>
          </p:cNvPr>
          <p:cNvSpPr txBox="1"/>
          <p:nvPr/>
        </p:nvSpPr>
        <p:spPr>
          <a:xfrm>
            <a:off x="7807743" y="2892056"/>
            <a:ext cx="3944404"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rgbClr val="FF0000"/>
                </a:solidFill>
              </a:rPr>
              <a:t>Manufacturing Defects</a:t>
            </a:r>
            <a:r>
              <a:rPr lang="en-US" sz="1600" dirty="0">
                <a:solidFill>
                  <a:srgbClr val="FF0000"/>
                </a:solidFill>
              </a:rPr>
              <a:t>: Used to track the occurrence of different types of defects.</a:t>
            </a:r>
          </a:p>
          <a:p>
            <a:pPr marL="285750" indent="-285750">
              <a:buFont typeface="Arial" panose="020B0604020202020204" pitchFamily="34" charset="0"/>
              <a:buChar char="•"/>
            </a:pPr>
            <a:r>
              <a:rPr lang="en-US" sz="1600" b="1" dirty="0">
                <a:solidFill>
                  <a:srgbClr val="FF0000"/>
                </a:solidFill>
              </a:rPr>
              <a:t>Hospital Infections:</a:t>
            </a:r>
            <a:r>
              <a:rPr lang="en-US" sz="1600" dirty="0">
                <a:solidFill>
                  <a:srgbClr val="FF0000"/>
                </a:solidFill>
              </a:rPr>
              <a:t> Used to record instances of infection in different wards.</a:t>
            </a:r>
          </a:p>
          <a:p>
            <a:pPr marL="285750" indent="-285750">
              <a:buFont typeface="Arial" panose="020B0604020202020204" pitchFamily="34" charset="0"/>
              <a:buChar char="•"/>
            </a:pPr>
            <a:r>
              <a:rPr lang="en-US" sz="1600" b="1" dirty="0">
                <a:solidFill>
                  <a:srgbClr val="FF0000"/>
                </a:solidFill>
              </a:rPr>
              <a:t>Order Quotations:</a:t>
            </a:r>
            <a:r>
              <a:rPr lang="en-US" sz="1600" dirty="0">
                <a:solidFill>
                  <a:srgbClr val="FF0000"/>
                </a:solidFill>
              </a:rPr>
              <a:t> Used to record reasons for losing RFQs.</a:t>
            </a:r>
          </a:p>
          <a:p>
            <a:pPr marL="285750" indent="-285750">
              <a:buFont typeface="Arial" panose="020B0604020202020204" pitchFamily="34" charset="0"/>
              <a:buChar char="•"/>
            </a:pPr>
            <a:r>
              <a:rPr lang="en-US" sz="1600" b="1" dirty="0">
                <a:solidFill>
                  <a:srgbClr val="FF0000"/>
                </a:solidFill>
              </a:rPr>
              <a:t>Customer Service:</a:t>
            </a:r>
            <a:r>
              <a:rPr lang="en-US" sz="1600" dirty="0">
                <a:solidFill>
                  <a:srgbClr val="FF0000"/>
                </a:solidFill>
              </a:rPr>
              <a:t> Used to record the type of customer complaints by date.</a:t>
            </a:r>
            <a:endParaRPr lang="en-US" sz="1600" b="1" dirty="0">
              <a:solidFill>
                <a:srgbClr val="FF0000"/>
              </a:solidFill>
            </a:endParaRPr>
          </a:p>
        </p:txBody>
      </p:sp>
      <p:grpSp>
        <p:nvGrpSpPr>
          <p:cNvPr id="3" name="Group 2">
            <a:extLst>
              <a:ext uri="{FF2B5EF4-FFF2-40B4-BE49-F238E27FC236}">
                <a16:creationId xmlns:a16="http://schemas.microsoft.com/office/drawing/2014/main" id="{61748B5B-1A3F-5F3D-34EC-27F8D85ED4CE}"/>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2C712CCE-87F7-A097-A429-D09B56116FF9}"/>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F214C5EE-3DBA-5E6B-CED9-1DB4975650A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039AC648-2C99-0A60-AAAE-6182F9BD52B9}"/>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A8293285-3FE3-534F-AB50-23F8568F94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95D19196-C196-5691-49B9-E493CE260CC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75FCAB87-8097-1823-C201-9AE1DA346B1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16053291-EFAD-B77B-AAD2-A70E415E7FE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514578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Qualitative Data</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554545"/>
          </a:xfrm>
          <a:prstGeom prst="rect">
            <a:avLst/>
          </a:prstGeom>
          <a:noFill/>
        </p:spPr>
        <p:txBody>
          <a:bodyPr wrap="square" rtlCol="0">
            <a:spAutoFit/>
          </a:bodyPr>
          <a:lstStyle/>
          <a:p>
            <a:pPr marL="285750" indent="-285750">
              <a:buFont typeface="Arial" panose="020B0604020202020204" pitchFamily="34" charset="0"/>
              <a:buChar char="•"/>
            </a:pPr>
            <a:r>
              <a:rPr lang="en-US" sz="1600" dirty="0"/>
              <a:t>Non-numerical information that captures descriptive attributes, qualities, or characteristics of subjects or phenomena. </a:t>
            </a:r>
          </a:p>
          <a:p>
            <a:pPr marL="285750" indent="-285750">
              <a:buFont typeface="Arial" panose="020B0604020202020204" pitchFamily="34" charset="0"/>
              <a:buChar char="•"/>
            </a:pPr>
            <a:r>
              <a:rPr lang="en-US" sz="1600" dirty="0"/>
              <a:t>This type of data is usually text-based and gathered through observations, interviews, or open-ended questions where the responses are complex and detailed.</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To provide depth and context to understand the "how" and "why" behind specific trends or behaviors. </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807743" y="2892056"/>
            <a:ext cx="4366462" cy="3323987"/>
          </a:xfrm>
          <a:prstGeom prst="rect">
            <a:avLst/>
          </a:prstGeom>
          <a:noFill/>
        </p:spPr>
        <p:txBody>
          <a:bodyPr wrap="square" rtlCol="0">
            <a:spAutoFit/>
          </a:bodyPr>
          <a:lstStyle/>
          <a:p>
            <a:pPr marL="285750" indent="-285750">
              <a:buFont typeface="Arial" panose="020B0604020202020204" pitchFamily="34" charset="0"/>
              <a:buChar char="•"/>
            </a:pPr>
            <a:r>
              <a:rPr lang="en-US" sz="1400" b="1" dirty="0"/>
              <a:t>Ohno Circle:</a:t>
            </a:r>
          </a:p>
          <a:p>
            <a:pPr marL="742950" lvl="1" indent="-285750">
              <a:buFont typeface="Arial" panose="020B0604020202020204" pitchFamily="34" charset="0"/>
              <a:buChar char="•"/>
            </a:pPr>
            <a:r>
              <a:rPr lang="en-US" sz="1400" dirty="0"/>
              <a:t>An individual stands in a predefined circle on the production floor without moving and observes and makes notes on a specific process or workflow for an extended period. </a:t>
            </a:r>
          </a:p>
          <a:p>
            <a:pPr marL="285750" indent="-285750">
              <a:buFont typeface="Arial" panose="020B0604020202020204" pitchFamily="34" charset="0"/>
              <a:buChar char="•"/>
            </a:pPr>
            <a:r>
              <a:rPr lang="en-US" sz="1400" b="1" dirty="0"/>
              <a:t>Interviews:</a:t>
            </a:r>
          </a:p>
          <a:p>
            <a:pPr marL="742950" lvl="1" indent="-285750">
              <a:buFont typeface="Arial" panose="020B0604020202020204" pitchFamily="34" charset="0"/>
              <a:buChar char="•"/>
            </a:pPr>
            <a:r>
              <a:rPr lang="en-US" sz="1400" dirty="0"/>
              <a:t>Involves asking open-ended questions to get comprehensive, in-depth responses from participants.</a:t>
            </a:r>
          </a:p>
          <a:p>
            <a:pPr marL="285750" indent="-285750">
              <a:buFont typeface="Arial" panose="020B0604020202020204" pitchFamily="34" charset="0"/>
              <a:buChar char="•"/>
            </a:pPr>
            <a:r>
              <a:rPr lang="en-US" sz="1400" b="1" dirty="0"/>
              <a:t>Customer Feedback:</a:t>
            </a:r>
          </a:p>
          <a:p>
            <a:pPr marL="742950" lvl="1" indent="-285750">
              <a:buFont typeface="Arial" panose="020B0604020202020204" pitchFamily="34" charset="0"/>
              <a:buChar char="•"/>
            </a:pPr>
            <a:r>
              <a:rPr lang="en-US" sz="1400" dirty="0"/>
              <a:t>Customers are asked open-ended questions about what they liked or disliked about the store layout, product variety, and customer service.</a:t>
            </a:r>
          </a:p>
        </p:txBody>
      </p:sp>
      <p:sp>
        <p:nvSpPr>
          <p:cNvPr id="3" name="TextBox 2">
            <a:extLst>
              <a:ext uri="{FF2B5EF4-FFF2-40B4-BE49-F238E27FC236}">
                <a16:creationId xmlns:a16="http://schemas.microsoft.com/office/drawing/2014/main" id="{FD8796D4-7C7E-6EDE-45D3-C8C9A1A4B40B}"/>
              </a:ext>
            </a:extLst>
          </p:cNvPr>
          <p:cNvSpPr txBox="1"/>
          <p:nvPr/>
        </p:nvSpPr>
        <p:spPr>
          <a:xfrm>
            <a:off x="838200" y="5877488"/>
            <a:ext cx="5808518" cy="369332"/>
          </a:xfrm>
          <a:prstGeom prst="rect">
            <a:avLst/>
          </a:prstGeom>
          <a:solidFill>
            <a:schemeClr val="accent1"/>
          </a:solidFill>
        </p:spPr>
        <p:txBody>
          <a:bodyPr wrap="square" rtlCol="0">
            <a:spAutoFit/>
          </a:bodyPr>
          <a:lstStyle/>
          <a:p>
            <a:r>
              <a:rPr lang="en-US" b="1" dirty="0">
                <a:solidFill>
                  <a:schemeClr val="bg1"/>
                </a:solidFill>
              </a:rPr>
              <a:t>“You can observe a lot just by watching” – Yogi Berra</a:t>
            </a:r>
          </a:p>
        </p:txBody>
      </p:sp>
      <p:grpSp>
        <p:nvGrpSpPr>
          <p:cNvPr id="5" name="Group 4">
            <a:extLst>
              <a:ext uri="{FF2B5EF4-FFF2-40B4-BE49-F238E27FC236}">
                <a16:creationId xmlns:a16="http://schemas.microsoft.com/office/drawing/2014/main" id="{870D29CF-2534-E635-DB34-3C91AB38B3E7}"/>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5DEF5626-D70B-12BE-F4BF-C765619D4241}"/>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697B5AB1-CB76-6837-81D3-FF1A47CBAA5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4" name="Group 23">
                <a:extLst>
                  <a:ext uri="{FF2B5EF4-FFF2-40B4-BE49-F238E27FC236}">
                    <a16:creationId xmlns:a16="http://schemas.microsoft.com/office/drawing/2014/main" id="{81C44379-F0D5-D832-340F-B5C6D2523096}"/>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BA8CCF94-761F-5E8A-C163-9E761AFEA40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1">
                  <a:extLst>
                    <a:ext uri="{FF2B5EF4-FFF2-40B4-BE49-F238E27FC236}">
                      <a16:creationId xmlns:a16="http://schemas.microsoft.com/office/drawing/2014/main" id="{9FA49DEF-9378-CB98-4F6F-6CE92AA8794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B845103D-64C4-8737-8B72-A94390BFCD4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AE065642-97A1-5230-9285-D5FED1F1E10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332840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Qualitative vs. Quantitative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39</a:t>
            </a:fld>
            <a:endParaRPr lang="en-US"/>
          </a:p>
        </p:txBody>
      </p:sp>
      <p:graphicFrame>
        <p:nvGraphicFramePr>
          <p:cNvPr id="13" name="Group 3">
            <a:extLst>
              <a:ext uri="{FF2B5EF4-FFF2-40B4-BE49-F238E27FC236}">
                <a16:creationId xmlns:a16="http://schemas.microsoft.com/office/drawing/2014/main" id="{9D6A85FA-5E3E-0AD8-2D8C-05C552224D2B}"/>
              </a:ext>
            </a:extLst>
          </p:cNvPr>
          <p:cNvGraphicFramePr>
            <a:graphicFrameLocks noGrp="1"/>
          </p:cNvGraphicFramePr>
          <p:nvPr>
            <p:extLst>
              <p:ext uri="{D42A27DB-BD31-4B8C-83A1-F6EECF244321}">
                <p14:modId xmlns:p14="http://schemas.microsoft.com/office/powerpoint/2010/main" val="4109037181"/>
              </p:ext>
            </p:extLst>
          </p:nvPr>
        </p:nvGraphicFramePr>
        <p:xfrm>
          <a:off x="838200" y="1975485"/>
          <a:ext cx="9883140" cy="3433763"/>
        </p:xfrm>
        <a:graphic>
          <a:graphicData uri="http://schemas.openxmlformats.org/drawingml/2006/table">
            <a:tbl>
              <a:tblPr/>
              <a:tblGrid>
                <a:gridCol w="4942521">
                  <a:extLst>
                    <a:ext uri="{9D8B030D-6E8A-4147-A177-3AD203B41FA5}">
                      <a16:colId xmlns:a16="http://schemas.microsoft.com/office/drawing/2014/main" val="20000"/>
                    </a:ext>
                  </a:extLst>
                </a:gridCol>
                <a:gridCol w="4940619">
                  <a:extLst>
                    <a:ext uri="{9D8B030D-6E8A-4147-A177-3AD203B41FA5}">
                      <a16:colId xmlns:a16="http://schemas.microsoft.com/office/drawing/2014/main" val="20001"/>
                    </a:ext>
                  </a:extLst>
                </a:gridCol>
              </a:tblGrid>
              <a:tr h="39370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mn-lt"/>
                        </a:rPr>
                        <a:t>Qualitative</a:t>
                      </a:r>
                    </a:p>
                  </a:txBody>
                  <a:tcPr anchor="b" horzOverflow="overflow">
                    <a:lnL cap="flat">
                      <a:noFill/>
                    </a:lnL>
                    <a:lnR>
                      <a:noFill/>
                    </a:lnR>
                    <a:lnT cap="flat">
                      <a:noFill/>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mn-lt"/>
                        </a:rPr>
                        <a:t>Quantitative</a:t>
                      </a:r>
                    </a:p>
                  </a:txBody>
                  <a:tcPr anchor="b" horzOverflow="overflow">
                    <a:lnL>
                      <a:noFill/>
                    </a:lnL>
                    <a:lnR cap="flat">
                      <a:noFill/>
                    </a:lnR>
                    <a:lnT cap="flat">
                      <a:noFill/>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7470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It is hot</a:t>
                      </a:r>
                    </a:p>
                  </a:txBody>
                  <a:tcPr anchor="ctr" horzOverflow="overflow">
                    <a:lnL cap="flat">
                      <a:noFill/>
                    </a:lnL>
                    <a:lnR>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It is 100°F</a:t>
                      </a:r>
                    </a:p>
                  </a:txBody>
                  <a:tcPr anchor="ctr" horzOverflow="overflow">
                    <a:lnL>
                      <a:noFill/>
                    </a:lnL>
                    <a:lnR cap="flat">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406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Quality is poor</a:t>
                      </a:r>
                    </a:p>
                  </a:txBody>
                  <a:tcPr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First-pass yield has decreased</a:t>
                      </a:r>
                    </a:p>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 from 90% to 60%</a:t>
                      </a: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565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Customers are not happy</a:t>
                      </a:r>
                    </a:p>
                  </a:txBody>
                  <a:tcPr anchor="ctr"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Customer complaints have increased </a:t>
                      </a:r>
                    </a:p>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by 127% during the last month</a:t>
                      </a:r>
                    </a:p>
                  </a:txBody>
                  <a:tcPr anchor="ctr"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565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Morale is low</a:t>
                      </a:r>
                    </a:p>
                  </a:txBody>
                  <a:tcPr anchor="ctr" horzOverflow="overflow">
                    <a:lnL cap="flat">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600" b="1" i="0" u="none" strike="noStrike" cap="none" normalizeH="0" baseline="0" dirty="0">
                          <a:ln>
                            <a:noFill/>
                          </a:ln>
                          <a:solidFill>
                            <a:schemeClr val="tx1"/>
                          </a:solidFill>
                          <a:effectLst/>
                          <a:latin typeface="+mn-lt"/>
                        </a:rPr>
                        <a:t>Employee turnover is 46%</a:t>
                      </a:r>
                    </a:p>
                  </a:txBody>
                  <a:tcPr anchor="ctr" horzOverflow="overflow">
                    <a:lnL>
                      <a:noFill/>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 name="AutoShape 29">
            <a:extLst>
              <a:ext uri="{FF2B5EF4-FFF2-40B4-BE49-F238E27FC236}">
                <a16:creationId xmlns:a16="http://schemas.microsoft.com/office/drawing/2014/main" id="{5DE6D523-E526-A7A5-7093-07FC16A9F871}"/>
              </a:ext>
            </a:extLst>
          </p:cNvPr>
          <p:cNvSpPr>
            <a:spLocks noChangeArrowheads="1"/>
          </p:cNvSpPr>
          <p:nvPr/>
        </p:nvSpPr>
        <p:spPr bwMode="auto">
          <a:xfrm>
            <a:off x="4906717" y="2673033"/>
            <a:ext cx="1547985" cy="160337"/>
          </a:xfrm>
          <a:prstGeom prst="leftRightArrow">
            <a:avLst>
              <a:gd name="adj1" fmla="val 50000"/>
              <a:gd name="adj2" fmla="val 161189"/>
            </a:avLst>
          </a:prstGeom>
          <a:solidFill>
            <a:schemeClr val="accent1"/>
          </a:solidFill>
          <a:ln w="12700" cap="sq" algn="ctr">
            <a:solidFill>
              <a:schemeClr val="tx1"/>
            </a:solidFill>
            <a:miter lim="800000"/>
            <a:headEnd/>
            <a:tailEnd/>
          </a:ln>
        </p:spPr>
        <p:txBody>
          <a:bodyPr wrap="none" anchor="ctr"/>
          <a:lstStyle/>
          <a:p>
            <a:endParaRPr lang="en-US"/>
          </a:p>
        </p:txBody>
      </p:sp>
      <p:sp>
        <p:nvSpPr>
          <p:cNvPr id="15" name="AutoShape 30">
            <a:extLst>
              <a:ext uri="{FF2B5EF4-FFF2-40B4-BE49-F238E27FC236}">
                <a16:creationId xmlns:a16="http://schemas.microsoft.com/office/drawing/2014/main" id="{B6D1B2FA-5675-6939-DF34-B8B09BA1DEC9}"/>
              </a:ext>
            </a:extLst>
          </p:cNvPr>
          <p:cNvSpPr>
            <a:spLocks noChangeArrowheads="1"/>
          </p:cNvSpPr>
          <p:nvPr/>
        </p:nvSpPr>
        <p:spPr bwMode="auto">
          <a:xfrm>
            <a:off x="4887667" y="3482658"/>
            <a:ext cx="1547985" cy="160337"/>
          </a:xfrm>
          <a:prstGeom prst="leftRightArrow">
            <a:avLst>
              <a:gd name="adj1" fmla="val 50000"/>
              <a:gd name="adj2" fmla="val 161189"/>
            </a:avLst>
          </a:prstGeom>
          <a:solidFill>
            <a:schemeClr val="accent1"/>
          </a:solidFill>
          <a:ln w="12700" cap="sq" algn="ctr">
            <a:solidFill>
              <a:schemeClr val="tx1"/>
            </a:solidFill>
            <a:miter lim="800000"/>
            <a:headEnd/>
            <a:tailEnd/>
          </a:ln>
        </p:spPr>
        <p:txBody>
          <a:bodyPr wrap="none" anchor="ctr"/>
          <a:lstStyle/>
          <a:p>
            <a:endParaRPr lang="en-US"/>
          </a:p>
        </p:txBody>
      </p:sp>
      <p:sp>
        <p:nvSpPr>
          <p:cNvPr id="16" name="AutoShape 31">
            <a:extLst>
              <a:ext uri="{FF2B5EF4-FFF2-40B4-BE49-F238E27FC236}">
                <a16:creationId xmlns:a16="http://schemas.microsoft.com/office/drawing/2014/main" id="{B647E31C-50A1-F390-8BE3-F9CC9AD2971F}"/>
              </a:ext>
            </a:extLst>
          </p:cNvPr>
          <p:cNvSpPr>
            <a:spLocks noChangeArrowheads="1"/>
          </p:cNvSpPr>
          <p:nvPr/>
        </p:nvSpPr>
        <p:spPr bwMode="auto">
          <a:xfrm>
            <a:off x="4906717" y="4236720"/>
            <a:ext cx="1547985" cy="160338"/>
          </a:xfrm>
          <a:prstGeom prst="leftRightArrow">
            <a:avLst>
              <a:gd name="adj1" fmla="val 50000"/>
              <a:gd name="adj2" fmla="val 161188"/>
            </a:avLst>
          </a:prstGeom>
          <a:solidFill>
            <a:schemeClr val="accent1"/>
          </a:solidFill>
          <a:ln w="12700" cap="sq" algn="ctr">
            <a:solidFill>
              <a:schemeClr val="tx1"/>
            </a:solidFill>
            <a:miter lim="800000"/>
            <a:headEnd/>
            <a:tailEnd/>
          </a:ln>
        </p:spPr>
        <p:txBody>
          <a:bodyPr wrap="none" anchor="ctr"/>
          <a:lstStyle/>
          <a:p>
            <a:endParaRPr lang="en-US"/>
          </a:p>
        </p:txBody>
      </p:sp>
      <p:sp>
        <p:nvSpPr>
          <p:cNvPr id="17" name="AutoShape 32">
            <a:extLst>
              <a:ext uri="{FF2B5EF4-FFF2-40B4-BE49-F238E27FC236}">
                <a16:creationId xmlns:a16="http://schemas.microsoft.com/office/drawing/2014/main" id="{A230103F-6A79-D127-56D7-7858E6133B2F}"/>
              </a:ext>
            </a:extLst>
          </p:cNvPr>
          <p:cNvSpPr>
            <a:spLocks noChangeArrowheads="1"/>
          </p:cNvSpPr>
          <p:nvPr/>
        </p:nvSpPr>
        <p:spPr bwMode="auto">
          <a:xfrm>
            <a:off x="4906717" y="4966970"/>
            <a:ext cx="1547985" cy="160338"/>
          </a:xfrm>
          <a:prstGeom prst="leftRightArrow">
            <a:avLst>
              <a:gd name="adj1" fmla="val 50000"/>
              <a:gd name="adj2" fmla="val 161188"/>
            </a:avLst>
          </a:prstGeom>
          <a:solidFill>
            <a:schemeClr val="accent1"/>
          </a:solidFill>
          <a:ln w="12700" cap="sq" algn="ctr">
            <a:solidFill>
              <a:schemeClr val="tx1"/>
            </a:solidFill>
            <a:miter lim="800000"/>
            <a:headEnd/>
            <a:tailEnd/>
          </a:ln>
        </p:spPr>
        <p:txBody>
          <a:bodyPr wrap="none" anchor="ctr"/>
          <a:lstStyle/>
          <a:p>
            <a:endParaRPr lang="en-US"/>
          </a:p>
        </p:txBody>
      </p:sp>
      <p:grpSp>
        <p:nvGrpSpPr>
          <p:cNvPr id="18" name="Group 17">
            <a:extLst>
              <a:ext uri="{FF2B5EF4-FFF2-40B4-BE49-F238E27FC236}">
                <a16:creationId xmlns:a16="http://schemas.microsoft.com/office/drawing/2014/main" id="{B910AFA1-8C6A-5AAE-4EAE-AA5E66E6768C}"/>
              </a:ext>
            </a:extLst>
          </p:cNvPr>
          <p:cNvGrpSpPr/>
          <p:nvPr/>
        </p:nvGrpSpPr>
        <p:grpSpPr>
          <a:xfrm>
            <a:off x="838200" y="297639"/>
            <a:ext cx="4561953" cy="307138"/>
            <a:chOff x="838200" y="297639"/>
            <a:chExt cx="4561953" cy="307138"/>
          </a:xfrm>
        </p:grpSpPr>
        <p:grpSp>
          <p:nvGrpSpPr>
            <p:cNvPr id="19" name="Group 18">
              <a:extLst>
                <a:ext uri="{FF2B5EF4-FFF2-40B4-BE49-F238E27FC236}">
                  <a16:creationId xmlns:a16="http://schemas.microsoft.com/office/drawing/2014/main" id="{B22CE4A9-C645-E1E3-651E-2CD2FD040B0F}"/>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05E9E2BE-3D5A-D3DF-27F4-06DA43AF7C7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1D742744-25EE-AF9C-2BEB-E74243B601A0}"/>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6AD945B8-A24A-A49E-F0A1-75922377AC8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95419A1E-17B0-A3E8-1112-47C8FDCCDCA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7C1D1620-CD2F-B720-DEE1-AAD6712CA34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4A508135-8910-FE02-94C9-6FDA64ACFCD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727821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32" name="Group 31">
            <a:extLst>
              <a:ext uri="{FF2B5EF4-FFF2-40B4-BE49-F238E27FC236}">
                <a16:creationId xmlns:a16="http://schemas.microsoft.com/office/drawing/2014/main" id="{513A033E-84FF-5BA6-2362-2A162B5F1CC9}"/>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55" name="Group 54">
            <a:extLst>
              <a:ext uri="{FF2B5EF4-FFF2-40B4-BE49-F238E27FC236}">
                <a16:creationId xmlns:a16="http://schemas.microsoft.com/office/drawing/2014/main" id="{9C5504F3-E433-EAB0-C232-3DCEEE13EA2B}"/>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117" name="Group 116">
            <a:extLst>
              <a:ext uri="{FF2B5EF4-FFF2-40B4-BE49-F238E27FC236}">
                <a16:creationId xmlns:a16="http://schemas.microsoft.com/office/drawing/2014/main" id="{38D4F5A5-C54A-7E4E-30BE-7FBE517A1AF4}"/>
              </a:ext>
            </a:extLst>
          </p:cNvPr>
          <p:cNvGrpSpPr/>
          <p:nvPr/>
        </p:nvGrpSpPr>
        <p:grpSpPr>
          <a:xfrm>
            <a:off x="3155446" y="1389830"/>
            <a:ext cx="2057400" cy="777240"/>
            <a:chOff x="2095617" y="4531440"/>
            <a:chExt cx="1700011" cy="540912"/>
          </a:xfrm>
        </p:grpSpPr>
        <p:sp>
          <p:nvSpPr>
            <p:cNvPr id="19" name="Rectangle 18">
              <a:extLst>
                <a:ext uri="{FF2B5EF4-FFF2-40B4-BE49-F238E27FC236}">
                  <a16:creationId xmlns:a16="http://schemas.microsoft.com/office/drawing/2014/main" id="{0C7FA0AC-2F7D-2D60-E2AA-1FC958177FEA}"/>
                </a:ext>
              </a:extLst>
            </p:cNvPr>
            <p:cNvSpPr/>
            <p:nvPr/>
          </p:nvSpPr>
          <p:spPr>
            <a:xfrm>
              <a:off x="2095617" y="4531440"/>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2095617" y="4531440"/>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120" name="Group 119">
            <a:extLst>
              <a:ext uri="{FF2B5EF4-FFF2-40B4-BE49-F238E27FC236}">
                <a16:creationId xmlns:a16="http://schemas.microsoft.com/office/drawing/2014/main" id="{45F6EE12-CBB1-4F85-F5BA-48AB3204A1D2}"/>
              </a:ext>
            </a:extLst>
          </p:cNvPr>
          <p:cNvGrpSpPr/>
          <p:nvPr/>
        </p:nvGrpSpPr>
        <p:grpSpPr>
          <a:xfrm>
            <a:off x="3155755" y="2556356"/>
            <a:ext cx="2052964" cy="777240"/>
            <a:chOff x="2091944" y="5671791"/>
            <a:chExt cx="1700011" cy="540912"/>
          </a:xfrm>
        </p:grpSpPr>
        <p:sp>
          <p:nvSpPr>
            <p:cNvPr id="25" name="Rectangle 24">
              <a:extLst>
                <a:ext uri="{FF2B5EF4-FFF2-40B4-BE49-F238E27FC236}">
                  <a16:creationId xmlns:a16="http://schemas.microsoft.com/office/drawing/2014/main" id="{E3548548-CE35-B355-0D79-7770CFCB6CFF}"/>
                </a:ext>
              </a:extLst>
            </p:cNvPr>
            <p:cNvSpPr/>
            <p:nvPr/>
          </p:nvSpPr>
          <p:spPr>
            <a:xfrm>
              <a:off x="2091944" y="5671791"/>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2091944" y="5671791"/>
              <a:ext cx="29530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184687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4. Analyze Data</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The process of examining data to extract meaningful patterns and trends.</a:t>
            </a:r>
          </a:p>
          <a:p>
            <a:pPr marL="285750" indent="-285750">
              <a:buFont typeface="Arial" panose="020B0604020202020204" pitchFamily="34" charset="0"/>
              <a:buChar char="•"/>
            </a:pPr>
            <a:r>
              <a:rPr lang="en-US" b="1" dirty="0"/>
              <a:t>Common Tools:</a:t>
            </a:r>
          </a:p>
          <a:p>
            <a:pPr marL="742950" lvl="1" indent="-285750">
              <a:buFont typeface="Arial" panose="020B0604020202020204" pitchFamily="34" charset="0"/>
              <a:buChar char="•"/>
            </a:pPr>
            <a:r>
              <a:rPr lang="en-US" dirty="0"/>
              <a:t>Pareto</a:t>
            </a:r>
          </a:p>
          <a:p>
            <a:pPr marL="742950" lvl="1" indent="-285750">
              <a:buFont typeface="Arial" panose="020B0604020202020204" pitchFamily="34" charset="0"/>
              <a:buChar char="•"/>
            </a:pPr>
            <a:r>
              <a:rPr lang="en-US" dirty="0"/>
              <a:t>Histogram</a:t>
            </a:r>
          </a:p>
          <a:p>
            <a:pPr marL="742950" lvl="1" indent="-285750">
              <a:buFont typeface="Arial" panose="020B0604020202020204" pitchFamily="34" charset="0"/>
              <a:buChar char="•"/>
            </a:pPr>
            <a:r>
              <a:rPr lang="en-US" dirty="0"/>
              <a:t>Run Chart</a:t>
            </a:r>
          </a:p>
          <a:p>
            <a:pPr marL="742950" lvl="1" indent="-285750">
              <a:buFont typeface="Arial" panose="020B0604020202020204" pitchFamily="34" charset="0"/>
              <a:buChar char="•"/>
            </a:pPr>
            <a:r>
              <a:rPr lang="en-US" dirty="0"/>
              <a:t>Fishbone</a:t>
            </a:r>
          </a:p>
          <a:p>
            <a:pPr marL="742950" lvl="1" indent="-285750">
              <a:buFont typeface="Arial" panose="020B0604020202020204" pitchFamily="34" charset="0"/>
              <a:buChar char="•"/>
            </a:pPr>
            <a:r>
              <a:rPr lang="en-US" dirty="0"/>
              <a:t>5 Whys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To interpret the collected data to identify patterns, trends, and anomalies that can lead to actionable insights.</a:t>
            </a:r>
          </a:p>
          <a:p>
            <a:pPr marL="285750" indent="-285750">
              <a:buFont typeface="Arial" panose="020B0604020202020204" pitchFamily="34" charset="0"/>
              <a:buChar char="•"/>
            </a:pPr>
            <a:r>
              <a:rPr lang="en-US" dirty="0"/>
              <a:t>Analyze data that is necessary to create an effective problem statement (Step 5).</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Using Pareto charts to identify the most common type of production defects.</a:t>
            </a:r>
          </a:p>
          <a:p>
            <a:pPr marL="285750" indent="-285750">
              <a:buFont typeface="Arial" panose="020B0604020202020204" pitchFamily="34" charset="0"/>
              <a:buChar char="•"/>
            </a:pPr>
            <a:r>
              <a:rPr lang="en-US" dirty="0"/>
              <a:t>Analyzing customer service call logs to pinpoint frequent customer issues.</a:t>
            </a:r>
          </a:p>
          <a:p>
            <a:pPr marL="285750" indent="-285750">
              <a:buFont typeface="Arial" panose="020B0604020202020204" pitchFamily="34" charset="0"/>
              <a:buChar char="•"/>
            </a:pPr>
            <a:r>
              <a:rPr lang="en-US" dirty="0"/>
              <a:t>Analyzing the frequency of downtime hours by machine.</a:t>
            </a:r>
          </a:p>
        </p:txBody>
      </p:sp>
      <p:grpSp>
        <p:nvGrpSpPr>
          <p:cNvPr id="3" name="Group 2">
            <a:extLst>
              <a:ext uri="{FF2B5EF4-FFF2-40B4-BE49-F238E27FC236}">
                <a16:creationId xmlns:a16="http://schemas.microsoft.com/office/drawing/2014/main" id="{938CEDFD-EBA7-2F92-CB3B-CF396F2CC8DD}"/>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DC8F2CF3-9095-F179-D48D-B2120D21FD6A}"/>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A63AD3F6-F158-6DDD-034C-A43E8305C83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63A8DAE6-2612-E1CD-8276-F75651CEC11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044C916-14B4-2E2B-55EE-5BE22CE24C1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138D81F0-0842-D5AF-87C0-849A123722C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BE1BA6F8-2030-6129-D542-413C42A685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AE68DD6-E8C9-6C55-EE20-DAE593CC7CA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471485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Pareto Diagram</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A type of bar chart that displays the frequency of occurrences by category, ordered from highest to lowest. </a:t>
            </a:r>
          </a:p>
          <a:p>
            <a:pPr marL="285750" indent="-285750">
              <a:buFont typeface="Arial" panose="020B0604020202020204" pitchFamily="34" charset="0"/>
              <a:buChar char="•"/>
            </a:pPr>
            <a:r>
              <a:rPr lang="en-US" sz="1600" dirty="0"/>
              <a:t>Based on the Pareto principle (also known as the 80/20 rule), which suggests that roughly 80% of the effects come from 20% of the causes. </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Helps focus efforts on the areas that will have the greatest impact on improving a system.</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4123142" cy="3293209"/>
          </a:xfrm>
          <a:prstGeom prst="rect">
            <a:avLst/>
          </a:prstGeom>
          <a:noFill/>
        </p:spPr>
        <p:txBody>
          <a:bodyPr wrap="square" rtlCol="0">
            <a:spAutoFit/>
          </a:bodyPr>
          <a:lstStyle/>
          <a:p>
            <a:pPr marL="285750" indent="-285750">
              <a:buFont typeface="Arial" panose="020B0604020202020204" pitchFamily="34" charset="0"/>
              <a:buChar char="•"/>
            </a:pPr>
            <a:r>
              <a:rPr lang="en-US" sz="1600" b="1" dirty="0"/>
              <a:t>Customer Complaints in a Call Center:</a:t>
            </a:r>
          </a:p>
          <a:p>
            <a:pPr marL="742950" lvl="1" indent="-285750">
              <a:buFont typeface="Arial" panose="020B0604020202020204" pitchFamily="34" charset="0"/>
              <a:buChar char="•"/>
            </a:pPr>
            <a:r>
              <a:rPr lang="en-US" sz="1600" dirty="0"/>
              <a:t>Analyzing types of customer complaints received.</a:t>
            </a:r>
          </a:p>
          <a:p>
            <a:pPr marL="285750" indent="-285750">
              <a:buFont typeface="Arial" panose="020B0604020202020204" pitchFamily="34" charset="0"/>
              <a:buChar char="•"/>
            </a:pPr>
            <a:r>
              <a:rPr lang="en-US" sz="1600" b="1" dirty="0"/>
              <a:t>Software Bug Tracking:</a:t>
            </a:r>
          </a:p>
          <a:p>
            <a:pPr marL="742950" lvl="1" indent="-285750">
              <a:buFont typeface="Arial" panose="020B0604020202020204" pitchFamily="34" charset="0"/>
              <a:buChar char="•"/>
            </a:pPr>
            <a:r>
              <a:rPr lang="en-US" sz="1600" dirty="0"/>
              <a:t>Categorizing types of bugs reported in a software development project.</a:t>
            </a:r>
          </a:p>
          <a:p>
            <a:pPr marL="285750" indent="-285750">
              <a:buFont typeface="Arial" panose="020B0604020202020204" pitchFamily="34" charset="0"/>
              <a:buChar char="•"/>
            </a:pPr>
            <a:r>
              <a:rPr lang="en-US" sz="1600" b="1" dirty="0"/>
              <a:t>Lost Sales Quotes:</a:t>
            </a:r>
            <a:endParaRPr lang="en-US" sz="1600" dirty="0"/>
          </a:p>
          <a:p>
            <a:pPr marL="742950" lvl="1" indent="-285750">
              <a:buFont typeface="Arial" panose="020B0604020202020204" pitchFamily="34" charset="0"/>
              <a:buChar char="•"/>
            </a:pPr>
            <a:r>
              <a:rPr lang="en-US" sz="1600" dirty="0"/>
              <a:t>Can be tracked by customer, salesman, product, region, etc.</a:t>
            </a:r>
          </a:p>
          <a:p>
            <a:pPr marL="285750" indent="-285750">
              <a:buFont typeface="Arial" panose="020B0604020202020204" pitchFamily="34" charset="0"/>
              <a:buChar char="•"/>
            </a:pPr>
            <a:r>
              <a:rPr lang="en-US" sz="1600" b="1" dirty="0"/>
              <a:t>Immigration Data:</a:t>
            </a:r>
          </a:p>
          <a:p>
            <a:pPr marL="742950" lvl="1" indent="-285750">
              <a:buFont typeface="Arial" panose="020B0604020202020204" pitchFamily="34" charset="0"/>
              <a:buChar char="•"/>
            </a:pPr>
            <a:r>
              <a:rPr lang="en-US" sz="1600" dirty="0"/>
              <a:t>Track by country, gender, religion, etc.</a:t>
            </a:r>
          </a:p>
        </p:txBody>
      </p:sp>
      <p:grpSp>
        <p:nvGrpSpPr>
          <p:cNvPr id="3" name="Group 2">
            <a:extLst>
              <a:ext uri="{FF2B5EF4-FFF2-40B4-BE49-F238E27FC236}">
                <a16:creationId xmlns:a16="http://schemas.microsoft.com/office/drawing/2014/main" id="{F742A903-A8D5-F63E-3C2D-866AA2FCF4FC}"/>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256D3000-E4E2-4597-F65D-5D1BFA4C4D33}"/>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CECFFDB9-69A4-943B-61DA-62D3C278F95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5809F062-08F3-26C8-ED78-F9266CCD9745}"/>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3FD38FDC-15AE-A4CE-B447-FCFBD67D242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43DB6F20-F962-768F-E789-0EB31AD2AAC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95E98CFF-E6B3-0856-F8D6-7B7543BF714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E91BF63F-F94C-8CE5-711C-E34DFD35EE6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1013180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412ADA6E-D7EA-84F1-D685-0845729BDDB1}"/>
                  </a:ext>
                </a:extLst>
              </p:cNvPr>
              <p:cNvGraphicFramePr/>
              <p:nvPr/>
            </p:nvGraphicFramePr>
            <p:xfrm>
              <a:off x="2636586" y="1783429"/>
              <a:ext cx="6918828" cy="365748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6" name="Chart 5">
                <a:extLst>
                  <a:ext uri="{FF2B5EF4-FFF2-40B4-BE49-F238E27FC236}">
                    <a16:creationId xmlns:a16="http://schemas.microsoft.com/office/drawing/2014/main" id="{412ADA6E-D7EA-84F1-D685-0845729BDDB1}"/>
                  </a:ext>
                </a:extLst>
              </p:cNvPr>
              <p:cNvPicPr>
                <a:picLocks noGrp="1" noRot="1" noChangeAspect="1" noMove="1" noResize="1" noEditPoints="1" noAdjustHandles="1" noChangeArrowheads="1" noChangeShapeType="1"/>
              </p:cNvPicPr>
              <p:nvPr/>
            </p:nvPicPr>
            <p:blipFill>
              <a:blip r:embed="rId4"/>
              <a:stretch>
                <a:fillRect/>
              </a:stretch>
            </p:blipFill>
            <p:spPr>
              <a:xfrm>
                <a:off x="2636586" y="1783429"/>
                <a:ext cx="6918828" cy="3657484"/>
              </a:xfrm>
              <a:prstGeom prst="rect">
                <a:avLst/>
              </a:prstGeom>
            </p:spPr>
          </p:pic>
        </mc:Fallback>
      </mc:AlternateContent>
      <p:sp>
        <p:nvSpPr>
          <p:cNvPr id="2" name="Title 1">
            <a:extLst>
              <a:ext uri="{FF2B5EF4-FFF2-40B4-BE49-F238E27FC236}">
                <a16:creationId xmlns:a16="http://schemas.microsoft.com/office/drawing/2014/main" id="{2F260D36-6486-9442-7D81-94EEBC9017EC}"/>
              </a:ext>
            </a:extLst>
          </p:cNvPr>
          <p:cNvSpPr>
            <a:spLocks noGrp="1"/>
          </p:cNvSpPr>
          <p:nvPr>
            <p:ph type="title"/>
          </p:nvPr>
        </p:nvSpPr>
        <p:spPr/>
        <p:txBody>
          <a:bodyPr/>
          <a:lstStyle/>
          <a:p>
            <a:r>
              <a:rPr lang="en-US" dirty="0"/>
              <a:t>Pareto Diagram Example</a:t>
            </a:r>
          </a:p>
        </p:txBody>
      </p:sp>
      <p:grpSp>
        <p:nvGrpSpPr>
          <p:cNvPr id="3" name="Group 2">
            <a:extLst>
              <a:ext uri="{FF2B5EF4-FFF2-40B4-BE49-F238E27FC236}">
                <a16:creationId xmlns:a16="http://schemas.microsoft.com/office/drawing/2014/main" id="{E4ABB5C6-AD0B-F41F-4F35-092D904605B9}"/>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841EC1F4-0E2F-2BBE-FD38-53D55E59B00B}"/>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9C161F05-E36E-9F02-3D22-89FD7887E8D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326871E-7F6B-75EF-B4E6-08A09FD564C2}"/>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C62599F2-1E94-2869-7A3B-042BDC08629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FC810780-3A64-E713-DF70-36D63AF3882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3B032835-0C98-64AB-AB88-5436C54B3FF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19D3A55-EF8B-45C1-6C22-1B6B4D542C4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BD3152A1-C45E-E4D0-427A-63545B2CB76B}"/>
              </a:ext>
            </a:extLst>
          </p:cNvPr>
          <p:cNvSpPr/>
          <p:nvPr/>
        </p:nvSpPr>
        <p:spPr>
          <a:xfrm>
            <a:off x="3744116" y="5533654"/>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35226221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Histogram</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A type of bar chart that shows how often something happens within different ranges or groups, known as bins. </a:t>
            </a:r>
          </a:p>
          <a:p>
            <a:pPr marL="285750" indent="-285750">
              <a:buFont typeface="Arial" panose="020B0604020202020204" pitchFamily="34" charset="0"/>
              <a:buChar char="•"/>
            </a:pPr>
            <a:r>
              <a:rPr lang="en-US" dirty="0"/>
              <a:t>Each bin represents a range of data, and the height of the bar shows how many times data within that range occurs.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To give a clear picture of how data is spread out. </a:t>
            </a:r>
          </a:p>
          <a:p>
            <a:pPr marL="285750" indent="-285750">
              <a:buFont typeface="Arial" panose="020B0604020202020204" pitchFamily="34" charset="0"/>
              <a:buChar char="•"/>
            </a:pPr>
            <a:r>
              <a:rPr lang="en-US" dirty="0"/>
              <a:t>It helps you see which groups are more common and whether the data clusters around certain values. </a:t>
            </a:r>
          </a:p>
          <a:p>
            <a:pPr marL="285750" indent="-285750">
              <a:buFont typeface="Arial" panose="020B0604020202020204" pitchFamily="34" charset="0"/>
              <a:buChar char="•"/>
            </a:pPr>
            <a:r>
              <a:rPr lang="en-US" dirty="0"/>
              <a:t>This makes it easier to get a quick understanding of the data’s overall pattern and variability.</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807320" cy="3046988"/>
          </a:xfrm>
          <a:prstGeom prst="rect">
            <a:avLst/>
          </a:prstGeom>
          <a:noFill/>
        </p:spPr>
        <p:txBody>
          <a:bodyPr wrap="square" rtlCol="0">
            <a:spAutoFit/>
          </a:bodyPr>
          <a:lstStyle/>
          <a:p>
            <a:pPr marL="285750" indent="-285750">
              <a:buFont typeface="Arial" panose="020B0604020202020204" pitchFamily="34" charset="0"/>
              <a:buChar char="•"/>
            </a:pPr>
            <a:r>
              <a:rPr lang="en-US" sz="1600" b="1" dirty="0"/>
              <a:t>Employee Performance Ratings:</a:t>
            </a:r>
          </a:p>
          <a:p>
            <a:pPr marL="742950" lvl="1" indent="-285750">
              <a:buFont typeface="Arial" panose="020B0604020202020204" pitchFamily="34" charset="0"/>
              <a:buChar char="•"/>
            </a:pPr>
            <a:r>
              <a:rPr lang="en-US" sz="1600" dirty="0"/>
              <a:t>Analyzing how many employees fall into different performance categories over the year.</a:t>
            </a:r>
          </a:p>
          <a:p>
            <a:pPr marL="285750" indent="-285750">
              <a:buFont typeface="Arial" panose="020B0604020202020204" pitchFamily="34" charset="0"/>
              <a:buChar char="•"/>
            </a:pPr>
            <a:r>
              <a:rPr lang="en-US" sz="1600" b="1" dirty="0"/>
              <a:t>Hourly Sales Per Day:</a:t>
            </a:r>
          </a:p>
          <a:p>
            <a:pPr marL="742950" lvl="1" indent="-285750">
              <a:buFont typeface="Arial" panose="020B0604020202020204" pitchFamily="34" charset="0"/>
              <a:buChar char="•"/>
            </a:pPr>
            <a:r>
              <a:rPr lang="en-US" sz="1600" dirty="0"/>
              <a:t>Examining the number of sales transactions that occur throughout the day.</a:t>
            </a:r>
          </a:p>
          <a:p>
            <a:pPr marL="285750" indent="-285750">
              <a:buFont typeface="Arial" panose="020B0604020202020204" pitchFamily="34" charset="0"/>
              <a:buChar char="•"/>
            </a:pPr>
            <a:r>
              <a:rPr lang="en-US" sz="1600" b="1" dirty="0"/>
              <a:t>Quality Inspection Defects:</a:t>
            </a:r>
          </a:p>
          <a:p>
            <a:pPr marL="742950" lvl="1" indent="-285750">
              <a:buFont typeface="Arial" panose="020B0604020202020204" pitchFamily="34" charset="0"/>
              <a:buChar char="•"/>
            </a:pPr>
            <a:r>
              <a:rPr lang="en-US" sz="1600" dirty="0"/>
              <a:t>Tracking when defects occur throughout the day.</a:t>
            </a:r>
          </a:p>
        </p:txBody>
      </p:sp>
      <p:grpSp>
        <p:nvGrpSpPr>
          <p:cNvPr id="3" name="Group 2">
            <a:extLst>
              <a:ext uri="{FF2B5EF4-FFF2-40B4-BE49-F238E27FC236}">
                <a16:creationId xmlns:a16="http://schemas.microsoft.com/office/drawing/2014/main" id="{2C1C22F2-7097-D8A6-4850-0C928752C10A}"/>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F7C313C1-47BC-266A-54F5-7977AEC9C519}"/>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3DB8FCF0-479E-5542-5405-81913EE730D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48922C91-AC1C-5736-5036-7D2F1B448576}"/>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528723CE-9C28-6D21-A39D-E94B09AE152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F0B9AD2B-F3D3-C0F9-ACB8-02C3C9E45E5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69AB97BF-9BD5-D64A-CBEA-6FC78A3AAC4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2D1A9043-8723-8BFA-AE65-DF397525252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8089861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0D36-6486-9442-7D81-94EEBC9017EC}"/>
              </a:ext>
            </a:extLst>
          </p:cNvPr>
          <p:cNvSpPr>
            <a:spLocks noGrp="1"/>
          </p:cNvSpPr>
          <p:nvPr>
            <p:ph type="title"/>
          </p:nvPr>
        </p:nvSpPr>
        <p:spPr/>
        <p:txBody>
          <a:bodyPr/>
          <a:lstStyle/>
          <a:p>
            <a:r>
              <a:rPr lang="en-US" dirty="0"/>
              <a:t>Histogram Example</a:t>
            </a:r>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A36FC10D-7CE3-FC96-9869-76A16F42D9B0}"/>
                  </a:ext>
                </a:extLst>
              </p:cNvPr>
              <p:cNvGraphicFramePr/>
              <p:nvPr/>
            </p:nvGraphicFramePr>
            <p:xfrm>
              <a:off x="3179910" y="1987596"/>
              <a:ext cx="5832180" cy="329332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hart 3">
                <a:extLst>
                  <a:ext uri="{FF2B5EF4-FFF2-40B4-BE49-F238E27FC236}">
                    <a16:creationId xmlns:a16="http://schemas.microsoft.com/office/drawing/2014/main" id="{A36FC10D-7CE3-FC96-9869-76A16F42D9B0}"/>
                  </a:ext>
                </a:extLst>
              </p:cNvPr>
              <p:cNvPicPr>
                <a:picLocks noGrp="1" noRot="1" noChangeAspect="1" noMove="1" noResize="1" noEditPoints="1" noAdjustHandles="1" noChangeArrowheads="1" noChangeShapeType="1"/>
              </p:cNvPicPr>
              <p:nvPr/>
            </p:nvPicPr>
            <p:blipFill>
              <a:blip r:embed="rId4"/>
              <a:stretch>
                <a:fillRect/>
              </a:stretch>
            </p:blipFill>
            <p:spPr>
              <a:xfrm>
                <a:off x="3179910" y="1987596"/>
                <a:ext cx="5832180" cy="3293322"/>
              </a:xfrm>
              <a:prstGeom prst="rect">
                <a:avLst/>
              </a:prstGeom>
            </p:spPr>
          </p:pic>
        </mc:Fallback>
      </mc:AlternateContent>
      <p:grpSp>
        <p:nvGrpSpPr>
          <p:cNvPr id="3" name="Group 2">
            <a:extLst>
              <a:ext uri="{FF2B5EF4-FFF2-40B4-BE49-F238E27FC236}">
                <a16:creationId xmlns:a16="http://schemas.microsoft.com/office/drawing/2014/main" id="{2CF177E0-79E6-1071-D777-13FF5B0D15B4}"/>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21AEC24D-F46C-4603-B40D-31E9F172A9A4}"/>
                </a:ext>
              </a:extLst>
            </p:cNvPr>
            <p:cNvGrpSpPr/>
            <p:nvPr/>
          </p:nvGrpSpPr>
          <p:grpSpPr>
            <a:xfrm>
              <a:off x="838200" y="297639"/>
              <a:ext cx="1373842" cy="290657"/>
              <a:chOff x="838200" y="297639"/>
              <a:chExt cx="1373842" cy="290657"/>
            </a:xfrm>
          </p:grpSpPr>
          <p:sp>
            <p:nvSpPr>
              <p:cNvPr id="7" name="AutoShape 9">
                <a:extLst>
                  <a:ext uri="{FF2B5EF4-FFF2-40B4-BE49-F238E27FC236}">
                    <a16:creationId xmlns:a16="http://schemas.microsoft.com/office/drawing/2014/main" id="{3FEC841F-1331-8097-2C62-EE0D8F7DA27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777F6DE-3FF0-3FE8-9145-A9369642BCD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AF7E18AC-B119-8D24-33F6-36FD1AC2528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9501E947-7627-CE9A-FBD8-3410E489A6A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746BA49B-A0FD-31C4-E0C1-C8E31ACA864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DEB1BCE3-3509-3778-CFD4-C99508E3437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CE7781F4-AA77-9882-9553-7DDC9AC5B486}"/>
              </a:ext>
            </a:extLst>
          </p:cNvPr>
          <p:cNvSpPr/>
          <p:nvPr/>
        </p:nvSpPr>
        <p:spPr>
          <a:xfrm>
            <a:off x="3744116" y="5405360"/>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988826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Run Chart</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t>A line graph that displays data points plotted over time. </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To provide a visual analysis of variations in a process over time, helping to understand the stability and predictability of the process.</a:t>
            </a:r>
          </a:p>
          <a:p>
            <a:pPr marL="285750" indent="-285750">
              <a:buFont typeface="Arial" panose="020B0604020202020204" pitchFamily="34" charset="0"/>
              <a:buChar char="•"/>
            </a:pPr>
            <a:r>
              <a:rPr lang="en-US" dirty="0"/>
              <a:t>Spots trends, cycles, patterns, and unusual observations for further investigation.</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2" y="2892056"/>
            <a:ext cx="3944404"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Temperature Monitoring:</a:t>
            </a:r>
          </a:p>
          <a:p>
            <a:pPr marL="742950" lvl="1" indent="-285750">
              <a:buFont typeface="Arial" panose="020B0604020202020204" pitchFamily="34" charset="0"/>
              <a:buChar char="•"/>
            </a:pPr>
            <a:r>
              <a:rPr lang="en-US" dirty="0"/>
              <a:t>Monitor the daily high temperature in a greenhouse over a month.</a:t>
            </a:r>
          </a:p>
          <a:p>
            <a:pPr marL="285750" indent="-285750">
              <a:buFont typeface="Arial" panose="020B0604020202020204" pitchFamily="34" charset="0"/>
              <a:buChar char="•"/>
            </a:pPr>
            <a:r>
              <a:rPr lang="en-US" b="1" dirty="0"/>
              <a:t>Customer Call Volume:</a:t>
            </a:r>
          </a:p>
          <a:p>
            <a:pPr marL="742950" lvl="1" indent="-285750">
              <a:buFont typeface="Arial" panose="020B0604020202020204" pitchFamily="34" charset="0"/>
              <a:buChar char="•"/>
            </a:pPr>
            <a:r>
              <a:rPr lang="en-US" dirty="0"/>
              <a:t>Tracking the number of customer service calls a help center receives daily.</a:t>
            </a:r>
          </a:p>
          <a:p>
            <a:pPr marL="285750" indent="-285750">
              <a:buFont typeface="Arial" panose="020B0604020202020204" pitchFamily="34" charset="0"/>
              <a:buChar char="•"/>
            </a:pPr>
            <a:r>
              <a:rPr lang="en-US" b="1" dirty="0"/>
              <a:t>Emergency Room Traffic:</a:t>
            </a:r>
          </a:p>
          <a:p>
            <a:pPr marL="742950" lvl="1" indent="-285750">
              <a:buFont typeface="Arial" panose="020B0604020202020204" pitchFamily="34" charset="0"/>
              <a:buChar char="•"/>
            </a:pPr>
            <a:r>
              <a:rPr lang="en-US" dirty="0"/>
              <a:t>Tracking the number of incoming patients by day and by hour.</a:t>
            </a:r>
          </a:p>
        </p:txBody>
      </p:sp>
      <p:grpSp>
        <p:nvGrpSpPr>
          <p:cNvPr id="3" name="Group 2">
            <a:extLst>
              <a:ext uri="{FF2B5EF4-FFF2-40B4-BE49-F238E27FC236}">
                <a16:creationId xmlns:a16="http://schemas.microsoft.com/office/drawing/2014/main" id="{B16F8DB6-3A87-3CC4-60ED-66AD87567169}"/>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1637C6E7-2D0F-FA99-56C5-D00AA73B886D}"/>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A2DC8D4E-E88A-6A79-AF90-333E46E5909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BD085973-3837-B605-7871-CDFB5A8923E0}"/>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DDB91F21-0663-43AC-848D-8E90B965F62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C15B7361-2833-F26D-B539-63EBBD8F037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8DE992A-1775-34F6-0826-CC3E2E54612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855856D4-175E-C782-0E31-099CCAADA19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489617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0D36-6486-9442-7D81-94EEBC9017EC}"/>
              </a:ext>
            </a:extLst>
          </p:cNvPr>
          <p:cNvSpPr>
            <a:spLocks noGrp="1"/>
          </p:cNvSpPr>
          <p:nvPr>
            <p:ph type="title"/>
          </p:nvPr>
        </p:nvSpPr>
        <p:spPr/>
        <p:txBody>
          <a:bodyPr/>
          <a:lstStyle/>
          <a:p>
            <a:r>
              <a:rPr lang="en-US" dirty="0"/>
              <a:t>Run Chart Example</a:t>
            </a:r>
          </a:p>
        </p:txBody>
      </p:sp>
      <p:graphicFrame>
        <p:nvGraphicFramePr>
          <p:cNvPr id="3" name="Chart 2">
            <a:extLst>
              <a:ext uri="{FF2B5EF4-FFF2-40B4-BE49-F238E27FC236}">
                <a16:creationId xmlns:a16="http://schemas.microsoft.com/office/drawing/2014/main" id="{EB2CBE8F-1D12-ADEC-7A0F-0BC749030DFB}"/>
              </a:ext>
            </a:extLst>
          </p:cNvPr>
          <p:cNvGraphicFramePr>
            <a:graphicFrameLocks/>
          </p:cNvGraphicFramePr>
          <p:nvPr/>
        </p:nvGraphicFramePr>
        <p:xfrm>
          <a:off x="2424365" y="1690688"/>
          <a:ext cx="7343270" cy="3990921"/>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Group 3">
            <a:extLst>
              <a:ext uri="{FF2B5EF4-FFF2-40B4-BE49-F238E27FC236}">
                <a16:creationId xmlns:a16="http://schemas.microsoft.com/office/drawing/2014/main" id="{25444A6C-D6CB-A4B5-D44F-4C935DECEBEB}"/>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6B8AD219-C80A-C982-9A00-48FCF8001B1A}"/>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6CECF031-7B44-7D69-E2A8-BCF9B9983B0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E92E99B-9DB7-D3FC-6B22-3CA996DD3E9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B3BDC59-EB12-6A3E-BAC1-B94B557A092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AFE81059-549E-4755-03BA-C3227EE8F6F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F73EA9A3-C4D8-7EF7-A23B-1DE4052F2D4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DBEF51C-F152-6BEE-7A7C-EFC277BAFEE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3" name="Rectangle 12">
            <a:extLst>
              <a:ext uri="{FF2B5EF4-FFF2-40B4-BE49-F238E27FC236}">
                <a16:creationId xmlns:a16="http://schemas.microsoft.com/office/drawing/2014/main" id="{85EEE0EB-5042-279C-65CA-DDA391B23E7B}"/>
              </a:ext>
            </a:extLst>
          </p:cNvPr>
          <p:cNvSpPr/>
          <p:nvPr/>
        </p:nvSpPr>
        <p:spPr>
          <a:xfrm>
            <a:off x="3744116" y="5599924"/>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1864008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Fishbone Diagram (Cause-And-Effect)</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 fishbone diagram proves a structured way of looking at the cause-and-effect nature of problems.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Provides a mechanism for teams to identify and explore all possible causes related to a problem.</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3" y="2892056"/>
            <a:ext cx="3423487" cy="3693319"/>
          </a:xfrm>
          <a:prstGeom prst="rect">
            <a:avLst/>
          </a:prstGeom>
          <a:noFill/>
        </p:spPr>
        <p:txBody>
          <a:bodyPr wrap="square" rtlCol="0">
            <a:spAutoFit/>
          </a:bodyPr>
          <a:lstStyle/>
          <a:p>
            <a:pPr marL="285750" indent="-285750">
              <a:buFont typeface="Arial" panose="020B0604020202020204" pitchFamily="34" charset="0"/>
              <a:buChar char="•"/>
            </a:pPr>
            <a:r>
              <a:rPr lang="en-US" b="1" dirty="0"/>
              <a:t>6 M’s</a:t>
            </a:r>
          </a:p>
          <a:p>
            <a:pPr marL="742950" lvl="1" indent="-285750">
              <a:buFont typeface="Arial" panose="020B0604020202020204" pitchFamily="34" charset="0"/>
              <a:buChar char="•"/>
            </a:pPr>
            <a:r>
              <a:rPr lang="en-US" dirty="0"/>
              <a:t>Machines</a:t>
            </a:r>
          </a:p>
          <a:p>
            <a:pPr marL="742950" lvl="1" indent="-285750">
              <a:buFont typeface="Arial" panose="020B0604020202020204" pitchFamily="34" charset="0"/>
              <a:buChar char="•"/>
            </a:pPr>
            <a:r>
              <a:rPr lang="en-US" dirty="0"/>
              <a:t>Materials</a:t>
            </a:r>
          </a:p>
          <a:p>
            <a:pPr marL="742950" lvl="1" indent="-285750">
              <a:buFont typeface="Arial" panose="020B0604020202020204" pitchFamily="34" charset="0"/>
              <a:buChar char="•"/>
            </a:pPr>
            <a:r>
              <a:rPr lang="en-US" dirty="0"/>
              <a:t>Methods</a:t>
            </a:r>
          </a:p>
          <a:p>
            <a:pPr marL="742950" lvl="1" indent="-285750">
              <a:buFont typeface="Arial" panose="020B0604020202020204" pitchFamily="34" charset="0"/>
              <a:buChar char="•"/>
            </a:pPr>
            <a:r>
              <a:rPr lang="en-US" dirty="0"/>
              <a:t>Manpower</a:t>
            </a:r>
          </a:p>
          <a:p>
            <a:pPr marL="742950" lvl="1" indent="-285750">
              <a:buFont typeface="Arial" panose="020B0604020202020204" pitchFamily="34" charset="0"/>
              <a:buChar char="•"/>
            </a:pPr>
            <a:r>
              <a:rPr lang="en-US" dirty="0"/>
              <a:t>Measurement</a:t>
            </a:r>
          </a:p>
          <a:p>
            <a:pPr marL="742950" lvl="1" indent="-285750">
              <a:buFont typeface="Arial" panose="020B0604020202020204" pitchFamily="34" charset="0"/>
              <a:buChar char="•"/>
            </a:pPr>
            <a:r>
              <a:rPr lang="en-US" dirty="0"/>
              <a:t>Mother Nature</a:t>
            </a:r>
          </a:p>
          <a:p>
            <a:pPr marL="285750" indent="-285750">
              <a:buFont typeface="Arial" panose="020B0604020202020204" pitchFamily="34" charset="0"/>
              <a:buChar char="•"/>
            </a:pPr>
            <a:r>
              <a:rPr lang="en-US" dirty="0">
                <a:solidFill>
                  <a:schemeClr val="accent1">
                    <a:lumMod val="75000"/>
                  </a:schemeClr>
                </a:solidFill>
              </a:rPr>
              <a:t>Other commonly used categories</a:t>
            </a:r>
          </a:p>
          <a:p>
            <a:pPr marL="742950" lvl="1" indent="-285750">
              <a:buFont typeface="Arial" panose="020B0604020202020204" pitchFamily="34" charset="0"/>
              <a:buChar char="•"/>
            </a:pPr>
            <a:r>
              <a:rPr lang="en-US" dirty="0">
                <a:solidFill>
                  <a:schemeClr val="accent1">
                    <a:lumMod val="75000"/>
                  </a:schemeClr>
                </a:solidFill>
              </a:rPr>
              <a:t>Policies, procedures, people and plant when dealing with administrative areas</a:t>
            </a:r>
          </a:p>
        </p:txBody>
      </p:sp>
      <p:grpSp>
        <p:nvGrpSpPr>
          <p:cNvPr id="3" name="Group 2">
            <a:extLst>
              <a:ext uri="{FF2B5EF4-FFF2-40B4-BE49-F238E27FC236}">
                <a16:creationId xmlns:a16="http://schemas.microsoft.com/office/drawing/2014/main" id="{9C4FEA0F-BF91-E718-6DAB-A79F60035049}"/>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976C26A1-D744-F775-EA9D-CAB4E2F95F4E}"/>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9B15B3AA-E7E0-826D-A321-5A71830A9E3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032FD4DB-AFAC-6362-081C-F1D3E7C3984C}"/>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2F1B22D4-88C9-9004-FC91-5225A75A053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807C2BDA-826D-D4C4-4F58-229F20946C9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7B16880C-C10B-1D20-34C4-BB5EA989FCE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B9FDFC22-4316-D537-997B-A2A736EE509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115494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60D36-6486-9442-7D81-94EEBC9017EC}"/>
              </a:ext>
            </a:extLst>
          </p:cNvPr>
          <p:cNvSpPr>
            <a:spLocks noGrp="1"/>
          </p:cNvSpPr>
          <p:nvPr>
            <p:ph type="title"/>
          </p:nvPr>
        </p:nvSpPr>
        <p:spPr/>
        <p:txBody>
          <a:bodyPr/>
          <a:lstStyle/>
          <a:p>
            <a:r>
              <a:rPr lang="en-US" dirty="0"/>
              <a:t>Fishbone Diagram Example</a:t>
            </a:r>
          </a:p>
        </p:txBody>
      </p:sp>
      <p:pic>
        <p:nvPicPr>
          <p:cNvPr id="13" name="Picture 12">
            <a:extLst>
              <a:ext uri="{FF2B5EF4-FFF2-40B4-BE49-F238E27FC236}">
                <a16:creationId xmlns:a16="http://schemas.microsoft.com/office/drawing/2014/main" id="{D753F282-6017-BB8C-32EE-45B2E5C7738B}"/>
              </a:ext>
            </a:extLst>
          </p:cNvPr>
          <p:cNvPicPr>
            <a:picLocks noChangeAspect="1"/>
          </p:cNvPicPr>
          <p:nvPr/>
        </p:nvPicPr>
        <p:blipFill>
          <a:blip r:embed="rId3"/>
          <a:stretch>
            <a:fillRect/>
          </a:stretch>
        </p:blipFill>
        <p:spPr>
          <a:xfrm>
            <a:off x="0" y="1554927"/>
            <a:ext cx="11782425" cy="3818538"/>
          </a:xfrm>
          <a:prstGeom prst="rect">
            <a:avLst/>
          </a:prstGeom>
        </p:spPr>
      </p:pic>
      <p:grpSp>
        <p:nvGrpSpPr>
          <p:cNvPr id="3" name="Group 2">
            <a:extLst>
              <a:ext uri="{FF2B5EF4-FFF2-40B4-BE49-F238E27FC236}">
                <a16:creationId xmlns:a16="http://schemas.microsoft.com/office/drawing/2014/main" id="{231E0972-4259-0175-F47D-5110BACACF45}"/>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495466C4-953D-0410-C359-17498D7A17E3}"/>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37B60D4C-0151-B400-8650-1D55CACB294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B2F14063-A6A0-43D7-AE1A-56FBF0E01FB8}"/>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408A2662-D30D-1E9C-5B0C-3B27B487BB4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08B40229-01DB-F62F-C21F-94979F0B85C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0">
                  <a:extLst>
                    <a:ext uri="{FF2B5EF4-FFF2-40B4-BE49-F238E27FC236}">
                      <a16:creationId xmlns:a16="http://schemas.microsoft.com/office/drawing/2014/main" id="{3308EB2C-224C-6581-EB80-AE776B8EC3A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0C338615-D127-1A7F-D596-EB6AB0388215}"/>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
        <p:nvSpPr>
          <p:cNvPr id="10" name="Rectangle 9">
            <a:extLst>
              <a:ext uri="{FF2B5EF4-FFF2-40B4-BE49-F238E27FC236}">
                <a16:creationId xmlns:a16="http://schemas.microsoft.com/office/drawing/2014/main" id="{5F300361-B181-572F-0E2A-748EEF65E5B6}"/>
              </a:ext>
            </a:extLst>
          </p:cNvPr>
          <p:cNvSpPr/>
          <p:nvPr/>
        </p:nvSpPr>
        <p:spPr>
          <a:xfrm>
            <a:off x="3744116" y="5599924"/>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13999363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5 Whys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564652" y="2892056"/>
            <a:ext cx="392213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A root cause analysis method that involves asking "Why?" five times, or as many times as necessary, to peel away the layers of symptoms and reach the underlying cause of a problem.</a:t>
            </a:r>
          </a:p>
          <a:p>
            <a:pPr marL="285750" indent="-285750">
              <a:buFont typeface="Arial" panose="020B0604020202020204" pitchFamily="34" charset="0"/>
              <a:buChar char="•"/>
            </a:pPr>
            <a:r>
              <a:rPr lang="en-US" dirty="0"/>
              <a:t>Must be used in conjunction with other Problem-Solving tools</a:t>
            </a:r>
          </a:p>
          <a:p>
            <a:pPr marL="285750" indent="-285750">
              <a:buFont typeface="Arial" panose="020B0604020202020204" pitchFamily="34" charset="0"/>
              <a:buChar char="•"/>
            </a:pPr>
            <a:r>
              <a:rPr lang="en-US" dirty="0"/>
              <a:t>Must have a well-defined problem statement in order to effectively focus the analysis and arrive at the correct root cause.</a:t>
            </a:r>
          </a:p>
          <a:p>
            <a:pPr marL="285750" indent="-285750">
              <a:buFont typeface="Arial" panose="020B0604020202020204" pitchFamily="34" charset="0"/>
              <a:buChar char="•"/>
            </a:pPr>
            <a:endParaRPr lang="en-US" dirty="0"/>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To systematically drill down into a problem's details and circumstances to ensure that any corrective actions address the fundamental reasons for the issue rather than merely treating its superficial symptoms.</a:t>
            </a:r>
          </a:p>
        </p:txBody>
      </p:sp>
      <p:sp>
        <p:nvSpPr>
          <p:cNvPr id="23" name="TextBox 22">
            <a:extLst>
              <a:ext uri="{FF2B5EF4-FFF2-40B4-BE49-F238E27FC236}">
                <a16:creationId xmlns:a16="http://schemas.microsoft.com/office/drawing/2014/main" id="{7151E396-9241-F03D-A81F-191A1402F370}"/>
              </a:ext>
            </a:extLst>
          </p:cNvPr>
          <p:cNvSpPr txBox="1"/>
          <p:nvPr/>
        </p:nvSpPr>
        <p:spPr>
          <a:xfrm>
            <a:off x="7930312" y="2892056"/>
            <a:ext cx="4164706" cy="2031325"/>
          </a:xfrm>
          <a:prstGeom prst="rect">
            <a:avLst/>
          </a:prstGeom>
          <a:noFill/>
        </p:spPr>
        <p:txBody>
          <a:bodyPr wrap="square" rtlCol="0">
            <a:spAutoFit/>
          </a:bodyPr>
          <a:lstStyle/>
          <a:p>
            <a:pPr marL="285750" indent="-285750">
              <a:buFont typeface="Arial" panose="020B0604020202020204" pitchFamily="34" charset="0"/>
              <a:buChar char="•"/>
            </a:pPr>
            <a:r>
              <a:rPr lang="en-US" dirty="0"/>
              <a:t>5 Whys help you discover:</a:t>
            </a:r>
          </a:p>
          <a:p>
            <a:pPr marL="742950" lvl="1" indent="-285750">
              <a:buFont typeface="Arial" panose="020B0604020202020204" pitchFamily="34" charset="0"/>
              <a:buChar char="•"/>
            </a:pPr>
            <a:r>
              <a:rPr lang="en-US" dirty="0"/>
              <a:t>Why the error was made.</a:t>
            </a:r>
          </a:p>
          <a:p>
            <a:pPr marL="742950" lvl="1" indent="-285750">
              <a:buFont typeface="Arial" panose="020B0604020202020204" pitchFamily="34" charset="0"/>
              <a:buChar char="•"/>
            </a:pPr>
            <a:r>
              <a:rPr lang="en-US" dirty="0"/>
              <a:t>Why the problem happened.</a:t>
            </a:r>
          </a:p>
          <a:p>
            <a:pPr marL="742950" lvl="1" indent="-285750">
              <a:buFont typeface="Arial" panose="020B0604020202020204" pitchFamily="34" charset="0"/>
              <a:buChar char="•"/>
            </a:pPr>
            <a:r>
              <a:rPr lang="en-US" dirty="0"/>
              <a:t>Why the system failed.</a:t>
            </a:r>
          </a:p>
          <a:p>
            <a:pPr marL="742950" lvl="1" indent="-285750">
              <a:buFont typeface="Arial" panose="020B0604020202020204" pitchFamily="34" charset="0"/>
              <a:buChar char="•"/>
            </a:pPr>
            <a:r>
              <a:rPr lang="en-US" dirty="0"/>
              <a:t>Why it takes so long.</a:t>
            </a:r>
          </a:p>
          <a:p>
            <a:pPr marL="742950" lvl="1" indent="-285750">
              <a:buFont typeface="Arial" panose="020B0604020202020204" pitchFamily="34" charset="0"/>
              <a:buChar char="•"/>
            </a:pPr>
            <a:r>
              <a:rPr lang="en-US" dirty="0"/>
              <a:t>Why the error keeps happening.</a:t>
            </a:r>
          </a:p>
          <a:p>
            <a:pPr marL="742950" lvl="1" indent="-285750">
              <a:buFont typeface="Arial" panose="020B0604020202020204" pitchFamily="34" charset="0"/>
              <a:buChar char="•"/>
            </a:pPr>
            <a:r>
              <a:rPr lang="en-US" dirty="0"/>
              <a:t>Why the error wasn’t detected.</a:t>
            </a:r>
            <a:endParaRPr lang="en-US" sz="1400" dirty="0"/>
          </a:p>
        </p:txBody>
      </p:sp>
      <p:grpSp>
        <p:nvGrpSpPr>
          <p:cNvPr id="3" name="Group 2">
            <a:extLst>
              <a:ext uri="{FF2B5EF4-FFF2-40B4-BE49-F238E27FC236}">
                <a16:creationId xmlns:a16="http://schemas.microsoft.com/office/drawing/2014/main" id="{96A996DC-114F-6B5B-5CE6-3E5E44DE5579}"/>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E925A0E8-4A8C-FB1D-793B-27DEFFEF7242}"/>
                </a:ext>
              </a:extLst>
            </p:cNvPr>
            <p:cNvGrpSpPr/>
            <p:nvPr/>
          </p:nvGrpSpPr>
          <p:grpSpPr>
            <a:xfrm>
              <a:off x="838200" y="297639"/>
              <a:ext cx="1373842" cy="290657"/>
              <a:chOff x="838200" y="297639"/>
              <a:chExt cx="1373842" cy="290657"/>
            </a:xfrm>
          </p:grpSpPr>
          <p:sp>
            <p:nvSpPr>
              <p:cNvPr id="19" name="AutoShape 9">
                <a:extLst>
                  <a:ext uri="{FF2B5EF4-FFF2-40B4-BE49-F238E27FC236}">
                    <a16:creationId xmlns:a16="http://schemas.microsoft.com/office/drawing/2014/main" id="{20672A9B-4E54-DEFE-18D1-297B1CC3513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D9EAC377-7948-F248-F595-E73AC0659A2F}"/>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072D302-FA49-DF43-9799-5A23114987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79B946FF-6F89-EB9D-4533-AF3945C1D8C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37DF5BF7-22F3-0F92-4BC4-9A0DB1897A4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F7F8C4D-EBAA-E015-3D3B-C1D7734998F6}"/>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0922758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1F9F-347A-7172-2C88-059AD635B9CE}"/>
              </a:ext>
            </a:extLst>
          </p:cNvPr>
          <p:cNvSpPr>
            <a:spLocks noGrp="1"/>
          </p:cNvSpPr>
          <p:nvPr>
            <p:ph type="title"/>
          </p:nvPr>
        </p:nvSpPr>
        <p:spPr/>
        <p:txBody>
          <a:bodyPr>
            <a:noAutofit/>
          </a:bodyPr>
          <a:lstStyle/>
          <a:p>
            <a:r>
              <a:rPr lang="en-US" sz="2000" dirty="0"/>
              <a:t>Problem: </a:t>
            </a:r>
            <a:br>
              <a:rPr lang="en-US" sz="2000" dirty="0"/>
            </a:br>
            <a:r>
              <a:rPr lang="en-US" sz="2000" dirty="0"/>
              <a:t>The Washington Monument is Disintegrating</a:t>
            </a:r>
          </a:p>
        </p:txBody>
      </p:sp>
      <p:pic>
        <p:nvPicPr>
          <p:cNvPr id="6" name="Content Placeholder 5">
            <a:extLst>
              <a:ext uri="{FF2B5EF4-FFF2-40B4-BE49-F238E27FC236}">
                <a16:creationId xmlns:a16="http://schemas.microsoft.com/office/drawing/2014/main" id="{D7991DBD-3FDF-4C4C-3B67-783102FF3228}"/>
              </a:ext>
            </a:extLst>
          </p:cNvPr>
          <p:cNvPicPr>
            <a:picLocks noGrp="1" noChangeAspect="1"/>
          </p:cNvPicPr>
          <p:nvPr>
            <p:ph idx="1"/>
          </p:nvPr>
        </p:nvPicPr>
        <p:blipFill>
          <a:blip r:embed="rId3"/>
          <a:stretch>
            <a:fillRect/>
          </a:stretch>
        </p:blipFill>
        <p:spPr>
          <a:xfrm>
            <a:off x="4924425" y="1371888"/>
            <a:ext cx="3249083" cy="4873625"/>
          </a:xfrm>
        </p:spPr>
      </p:pic>
      <p:sp>
        <p:nvSpPr>
          <p:cNvPr id="4" name="Text Placeholder 3">
            <a:extLst>
              <a:ext uri="{FF2B5EF4-FFF2-40B4-BE49-F238E27FC236}">
                <a16:creationId xmlns:a16="http://schemas.microsoft.com/office/drawing/2014/main" id="{1CFE029C-C79D-C251-1F64-0F00836011F4}"/>
              </a:ext>
            </a:extLst>
          </p:cNvPr>
          <p:cNvSpPr>
            <a:spLocks noGrp="1"/>
          </p:cNvSpPr>
          <p:nvPr>
            <p:ph type="body" sz="half" idx="2"/>
          </p:nvPr>
        </p:nvSpPr>
        <p:spPr>
          <a:xfrm>
            <a:off x="394855" y="1991565"/>
            <a:ext cx="4377171" cy="4409236"/>
          </a:xfrm>
        </p:spPr>
        <p:txBody>
          <a:bodyPr>
            <a:normAutofit fontScale="92500"/>
          </a:bodyPr>
          <a:lstStyle/>
          <a:p>
            <a:pPr marL="342900" indent="-342900">
              <a:buFont typeface="+mj-lt"/>
              <a:buAutoNum type="arabicPeriod"/>
            </a:pPr>
            <a:r>
              <a:rPr lang="en-US" b="1" u="sng" dirty="0"/>
              <a:t>Why</a:t>
            </a:r>
            <a:r>
              <a:rPr lang="en-US" b="1" dirty="0"/>
              <a:t> is the Washington Monument disintegrating?</a:t>
            </a:r>
            <a:r>
              <a:rPr lang="en-US" dirty="0"/>
              <a:t> </a:t>
            </a:r>
          </a:p>
          <a:p>
            <a:pPr marL="800100" lvl="1" indent="-342900">
              <a:buFont typeface="Arial" panose="020B0604020202020204" pitchFamily="34" charset="0"/>
              <a:buChar char="•"/>
            </a:pPr>
            <a:r>
              <a:rPr lang="en-US" dirty="0"/>
              <a:t>The monument is being cleaned with harsh chemicals.</a:t>
            </a:r>
          </a:p>
          <a:p>
            <a:pPr marL="342900" indent="-342900">
              <a:buFont typeface="+mj-lt"/>
              <a:buAutoNum type="arabicPeriod"/>
            </a:pPr>
            <a:r>
              <a:rPr lang="en-US" b="1" u="sng" dirty="0"/>
              <a:t>Why</a:t>
            </a:r>
            <a:r>
              <a:rPr lang="en-US" b="1" dirty="0"/>
              <a:t> is it frequently cleaned with harsh chemicals?</a:t>
            </a:r>
          </a:p>
          <a:p>
            <a:pPr marL="800100" lvl="1" indent="-342900">
              <a:buFont typeface="Arial" panose="020B0604020202020204" pitchFamily="34" charset="0"/>
              <a:buChar char="•"/>
            </a:pPr>
            <a:r>
              <a:rPr lang="en-US" dirty="0"/>
              <a:t>There is a lot of pigeon poop on the monument.</a:t>
            </a:r>
          </a:p>
          <a:p>
            <a:pPr marL="342900" indent="-342900">
              <a:buFont typeface="+mj-lt"/>
              <a:buAutoNum type="arabicPeriod"/>
            </a:pPr>
            <a:r>
              <a:rPr lang="en-US" b="1" u="sng" dirty="0"/>
              <a:t>Why</a:t>
            </a:r>
            <a:r>
              <a:rPr lang="en-US" b="1" dirty="0"/>
              <a:t> are there a lot of pigeons around the monument?</a:t>
            </a:r>
          </a:p>
          <a:p>
            <a:pPr marL="800100" lvl="1" indent="-342900">
              <a:buFont typeface="Arial" panose="020B0604020202020204" pitchFamily="34" charset="0"/>
              <a:buChar char="•"/>
            </a:pPr>
            <a:r>
              <a:rPr lang="en-US" dirty="0"/>
              <a:t>Pigeons eat spiders nesting in the monument.</a:t>
            </a:r>
          </a:p>
          <a:p>
            <a:pPr marL="342900" indent="-342900">
              <a:buFont typeface="+mj-lt"/>
              <a:buAutoNum type="arabicPeriod"/>
            </a:pPr>
            <a:r>
              <a:rPr lang="en-US" b="1" u="sng" dirty="0"/>
              <a:t>Why</a:t>
            </a:r>
            <a:r>
              <a:rPr lang="en-US" b="1" dirty="0"/>
              <a:t> are there spiders inside the monument?</a:t>
            </a:r>
          </a:p>
          <a:p>
            <a:pPr marL="800100" lvl="1" indent="-342900">
              <a:buFont typeface="Arial" panose="020B0604020202020204" pitchFamily="34" charset="0"/>
              <a:buChar char="•"/>
            </a:pPr>
            <a:r>
              <a:rPr lang="en-US" dirty="0"/>
              <a:t>The spiders are nesting inside the monument to catch gnats.</a:t>
            </a:r>
          </a:p>
          <a:p>
            <a:pPr marL="342900" indent="-342900">
              <a:buFont typeface="+mj-lt"/>
              <a:buAutoNum type="arabicPeriod"/>
            </a:pPr>
            <a:r>
              <a:rPr lang="en-US" b="1" u="sng" dirty="0"/>
              <a:t>Why</a:t>
            </a:r>
            <a:r>
              <a:rPr lang="en-US" b="1" dirty="0"/>
              <a:t> are there gnats around the monument?</a:t>
            </a:r>
          </a:p>
          <a:p>
            <a:pPr marL="800100" lvl="1" indent="-342900">
              <a:buFont typeface="Arial" panose="020B0604020202020204" pitchFamily="34" charset="0"/>
              <a:buChar char="•"/>
            </a:pPr>
            <a:r>
              <a:rPr lang="en-US" dirty="0"/>
              <a:t> The gnats are attracted to artificial light at dusk.</a:t>
            </a:r>
          </a:p>
        </p:txBody>
      </p:sp>
      <p:sp>
        <p:nvSpPr>
          <p:cNvPr id="3" name="Text Placeholder 3">
            <a:extLst>
              <a:ext uri="{FF2B5EF4-FFF2-40B4-BE49-F238E27FC236}">
                <a16:creationId xmlns:a16="http://schemas.microsoft.com/office/drawing/2014/main" id="{AF752B08-C178-9804-A0B4-753E5452A64F}"/>
              </a:ext>
            </a:extLst>
          </p:cNvPr>
          <p:cNvSpPr txBox="1">
            <a:spLocks/>
          </p:cNvSpPr>
          <p:nvPr/>
        </p:nvSpPr>
        <p:spPr>
          <a:xfrm>
            <a:off x="8325908" y="1991564"/>
            <a:ext cx="3706765" cy="425394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b="1" dirty="0"/>
              <a:t>Root Cause:</a:t>
            </a:r>
          </a:p>
          <a:p>
            <a:r>
              <a:rPr lang="en-US" dirty="0"/>
              <a:t>The artificial light at dusk attracts gnats, which in turn attracts spiders, which then attract pigeons. The pigeon poop causes frequent cleaning with harsh chemicals, leading to the disintegration of the monument.</a:t>
            </a:r>
          </a:p>
          <a:p>
            <a:endParaRPr lang="en-US" b="1" dirty="0"/>
          </a:p>
          <a:p>
            <a:r>
              <a:rPr lang="en-US" b="1" dirty="0"/>
              <a:t>Possible Solution:</a:t>
            </a:r>
          </a:p>
          <a:p>
            <a:r>
              <a:rPr lang="en-US" sz="18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Adjust or reduce the use of artificial lighting at dusk to reduce the attraction of gnats, thereby breaking the chain reaction that ultimately leads to the monument’s disintegration.</a:t>
            </a:r>
            <a:endParaRPr lang="en-US" dirty="0"/>
          </a:p>
        </p:txBody>
      </p:sp>
      <p:grpSp>
        <p:nvGrpSpPr>
          <p:cNvPr id="5" name="Group 4">
            <a:extLst>
              <a:ext uri="{FF2B5EF4-FFF2-40B4-BE49-F238E27FC236}">
                <a16:creationId xmlns:a16="http://schemas.microsoft.com/office/drawing/2014/main" id="{3CADA57E-0DE7-28F2-3F5C-C412A3F666C1}"/>
              </a:ext>
            </a:extLst>
          </p:cNvPr>
          <p:cNvGrpSpPr/>
          <p:nvPr/>
        </p:nvGrpSpPr>
        <p:grpSpPr>
          <a:xfrm>
            <a:off x="838200" y="297639"/>
            <a:ext cx="4561953" cy="307138"/>
            <a:chOff x="838200" y="297639"/>
            <a:chExt cx="4561953" cy="307138"/>
          </a:xfrm>
        </p:grpSpPr>
        <p:grpSp>
          <p:nvGrpSpPr>
            <p:cNvPr id="7" name="Group 6">
              <a:extLst>
                <a:ext uri="{FF2B5EF4-FFF2-40B4-BE49-F238E27FC236}">
                  <a16:creationId xmlns:a16="http://schemas.microsoft.com/office/drawing/2014/main" id="{79DF1AC6-6BDC-0BCB-0166-1865811C7A47}"/>
                </a:ext>
              </a:extLst>
            </p:cNvPr>
            <p:cNvGrpSpPr/>
            <p:nvPr/>
          </p:nvGrpSpPr>
          <p:grpSpPr>
            <a:xfrm>
              <a:off x="838200" y="297639"/>
              <a:ext cx="1373842" cy="290657"/>
              <a:chOff x="838200" y="297639"/>
              <a:chExt cx="1373842" cy="290657"/>
            </a:xfrm>
          </p:grpSpPr>
          <p:sp>
            <p:nvSpPr>
              <p:cNvPr id="9" name="AutoShape 9">
                <a:extLst>
                  <a:ext uri="{FF2B5EF4-FFF2-40B4-BE49-F238E27FC236}">
                    <a16:creationId xmlns:a16="http://schemas.microsoft.com/office/drawing/2014/main" id="{A98CBD61-4022-C131-AAA5-97135C80723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B5C71487-75BE-8DC3-48EC-032EADBF3E8F}"/>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AAF4DB97-1D8F-B51E-1774-6C5B347BD3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EDE8C046-69E1-B95C-3CE6-C99D5975DA3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C42B4335-F336-8BA5-4D22-EEFB06E694C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9EEBF27E-C042-2DAF-25E4-AE35312959A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798969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869036A5-4D45-96DE-6E15-62483C687F56}"/>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rgbClr val="81100A"/>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35" name="Group 34">
            <a:extLst>
              <a:ext uri="{FF2B5EF4-FFF2-40B4-BE49-F238E27FC236}">
                <a16:creationId xmlns:a16="http://schemas.microsoft.com/office/drawing/2014/main" id="{1CF73B1C-128E-D3B0-5539-FDEC299EA3AA}"/>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127" name="Group 126">
            <a:extLst>
              <a:ext uri="{FF2B5EF4-FFF2-40B4-BE49-F238E27FC236}">
                <a16:creationId xmlns:a16="http://schemas.microsoft.com/office/drawing/2014/main" id="{9AE8CADC-967B-076B-C534-43AC5573F5E0}"/>
              </a:ext>
            </a:extLst>
          </p:cNvPr>
          <p:cNvGrpSpPr/>
          <p:nvPr/>
        </p:nvGrpSpPr>
        <p:grpSpPr>
          <a:xfrm>
            <a:off x="3155753" y="3722882"/>
            <a:ext cx="2049007" cy="777240"/>
            <a:chOff x="5010969" y="3242724"/>
            <a:chExt cx="1700011" cy="540912"/>
          </a:xfrm>
        </p:grpSpPr>
        <p:sp>
          <p:nvSpPr>
            <p:cNvPr id="22" name="Rectangle 21">
              <a:extLst>
                <a:ext uri="{FF2B5EF4-FFF2-40B4-BE49-F238E27FC236}">
                  <a16:creationId xmlns:a16="http://schemas.microsoft.com/office/drawing/2014/main" id="{895DDCD0-444F-5D23-77EA-E555F5BCBBA9}"/>
                </a:ext>
              </a:extLst>
            </p:cNvPr>
            <p:cNvSpPr/>
            <p:nvPr/>
          </p:nvSpPr>
          <p:spPr>
            <a:xfrm>
              <a:off x="5010969" y="324272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5010969" y="3242724"/>
              <a:ext cx="295875"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4183110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5. Develop Problem Statement(s)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A clear, concise, and specific description of an issue, highlighting its impact on a process or the business. It is based on data, quantifiable, and avoids embedding solutions or perceived root causes.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684751" cy="3416320"/>
          </a:xfrm>
          <a:prstGeom prst="rect">
            <a:avLst/>
          </a:prstGeom>
          <a:noFill/>
        </p:spPr>
        <p:txBody>
          <a:bodyPr wrap="square" rtlCol="0">
            <a:spAutoFit/>
          </a:bodyPr>
          <a:lstStyle/>
          <a:p>
            <a:pPr marL="285750" indent="-285750">
              <a:buFont typeface="Arial" panose="020B0604020202020204" pitchFamily="34" charset="0"/>
              <a:buChar char="•"/>
            </a:pPr>
            <a:r>
              <a:rPr lang="en-US" dirty="0"/>
              <a:t>To clearly define the issue at hand, ensuring that efforts are focused on solving a single, well-defined problem. This helps prevent scope creep and ensures that solutions are targeted and effective. </a:t>
            </a:r>
          </a:p>
          <a:p>
            <a:pPr marL="285750" indent="-285750">
              <a:buFont typeface="Arial" panose="020B0604020202020204" pitchFamily="34" charset="0"/>
              <a:buChar char="•"/>
            </a:pPr>
            <a:r>
              <a:rPr lang="en-US" dirty="0"/>
              <a:t>By being data-driven and specific, problem statements provide a solid foundation for further analysis and problem-solving efforts.</a:t>
            </a:r>
          </a:p>
        </p:txBody>
      </p:sp>
      <p:sp>
        <p:nvSpPr>
          <p:cNvPr id="3" name="TextBox 2">
            <a:extLst>
              <a:ext uri="{FF2B5EF4-FFF2-40B4-BE49-F238E27FC236}">
                <a16:creationId xmlns:a16="http://schemas.microsoft.com/office/drawing/2014/main" id="{2D1BA541-B3B7-0BEA-B5AD-0ABE24C77505}"/>
              </a:ext>
            </a:extLst>
          </p:cNvPr>
          <p:cNvSpPr txBox="1"/>
          <p:nvPr/>
        </p:nvSpPr>
        <p:spPr>
          <a:xfrm>
            <a:off x="7813964" y="2828835"/>
            <a:ext cx="4249881" cy="3508653"/>
          </a:xfrm>
          <a:prstGeom prst="rect">
            <a:avLst/>
          </a:prstGeom>
          <a:noFill/>
        </p:spPr>
        <p:txBody>
          <a:bodyPr wrap="square" rtlCol="0">
            <a:spAutoFit/>
          </a:bodyPr>
          <a:lstStyle/>
          <a:p>
            <a:pPr marL="285750" indent="-285750">
              <a:buFont typeface="Arial" panose="020B0604020202020204" pitchFamily="34" charset="0"/>
              <a:buChar char="•"/>
            </a:pPr>
            <a:r>
              <a:rPr lang="en-US" sz="1400" dirty="0"/>
              <a:t>Manufacturing Defects:</a:t>
            </a:r>
          </a:p>
          <a:p>
            <a:pPr marL="742950" lvl="1" indent="-285750">
              <a:buFont typeface="Arial" panose="020B0604020202020204" pitchFamily="34" charset="0"/>
              <a:buChar char="•"/>
            </a:pPr>
            <a:r>
              <a:rPr lang="en-US" sz="1200" dirty="0"/>
              <a:t>The defect rate for the Model X component increased from 1% to 5% from January to March 2024, impacting overall product quality and leading to an estimated increase in rework costs of $10,000 per month.</a:t>
            </a:r>
            <a:endParaRPr lang="en-US" sz="1600" dirty="0"/>
          </a:p>
          <a:p>
            <a:pPr marL="285750" indent="-285750">
              <a:buFont typeface="Arial" panose="020B0604020202020204" pitchFamily="34" charset="0"/>
              <a:buChar char="•"/>
            </a:pPr>
            <a:r>
              <a:rPr lang="en-US" sz="1400" dirty="0"/>
              <a:t>Customer Service Issues:</a:t>
            </a:r>
          </a:p>
          <a:p>
            <a:pPr marL="742950" lvl="1" indent="-285750">
              <a:buFont typeface="Arial" panose="020B0604020202020204" pitchFamily="34" charset="0"/>
              <a:buChar char="•"/>
            </a:pPr>
            <a:r>
              <a:rPr lang="en-US" sz="1200" dirty="0"/>
              <a:t>Customer complaints about delivery delays have risen by 20% between September 2023 to January 2024, resulting in a 15% decrease in customer satisfaction scores and a potential loss of $50,000 in repeat business.</a:t>
            </a:r>
          </a:p>
          <a:p>
            <a:pPr marL="285750" indent="-285750">
              <a:buFont typeface="Arial" panose="020B0604020202020204" pitchFamily="34" charset="0"/>
              <a:buChar char="•"/>
            </a:pPr>
            <a:r>
              <a:rPr lang="en-US" sz="1400" dirty="0"/>
              <a:t>Operational Efficiency:</a:t>
            </a:r>
          </a:p>
          <a:p>
            <a:pPr marL="742950" lvl="1" indent="-285750">
              <a:buFont typeface="Arial" panose="020B0604020202020204" pitchFamily="34" charset="0"/>
              <a:buChar char="•"/>
            </a:pPr>
            <a:r>
              <a:rPr lang="en-US" sz="1200" dirty="0"/>
              <a:t>The average processing time for purchase orders has increased from 2 days to 5 days from May to November 2023, causing delays in project timelines and reducing operational efficiency by 30%.</a:t>
            </a:r>
          </a:p>
        </p:txBody>
      </p:sp>
      <p:grpSp>
        <p:nvGrpSpPr>
          <p:cNvPr id="5" name="Group 4">
            <a:extLst>
              <a:ext uri="{FF2B5EF4-FFF2-40B4-BE49-F238E27FC236}">
                <a16:creationId xmlns:a16="http://schemas.microsoft.com/office/drawing/2014/main" id="{99272300-6F55-8F9D-5CDD-9B5B1EF1D1B4}"/>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CA5F8AC0-AA31-B607-03B4-286E2FA05643}"/>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19221636-AA6C-804B-4C9B-67B4E3323C9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0D6B3E15-2BED-654C-8305-94049F2C01E9}"/>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8096430-C704-7DC4-879B-ECF4794D6D8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3800FC77-1BA0-68F9-DE4E-3F6B0AAB409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7939CBF0-53E4-13F1-BB6E-16B3FE63D20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0889B819-9138-C4DB-1695-F42FF24D25E8}"/>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7143950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Developing Problem Statement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Develop a very focused and specific statement that describes and quantifies the unsatisfactory situation.</a:t>
            </a:r>
          </a:p>
          <a:p>
            <a:r>
              <a:rPr lang="en-US" dirty="0"/>
              <a:t>Keep the statement simple.</a:t>
            </a:r>
          </a:p>
          <a:p>
            <a:r>
              <a:rPr lang="en-US" dirty="0"/>
              <a:t>Be sure the statement has impact.</a:t>
            </a:r>
          </a:p>
          <a:p>
            <a:r>
              <a:rPr lang="en-US" dirty="0"/>
              <a:t>Can anyone clearly understand the unacceptable condition?</a:t>
            </a:r>
          </a:p>
          <a:p>
            <a:r>
              <a:rPr lang="en-US" dirty="0"/>
              <a:t>Answer Who, What, Where, When</a:t>
            </a:r>
          </a:p>
          <a:p>
            <a:pPr lvl="1"/>
            <a:r>
              <a:rPr lang="en-US" i="1" dirty="0"/>
              <a:t>Who </a:t>
            </a:r>
            <a:r>
              <a:rPr lang="en-US" dirty="0"/>
              <a:t>is affected?</a:t>
            </a:r>
          </a:p>
          <a:p>
            <a:pPr lvl="1"/>
            <a:r>
              <a:rPr lang="en-US" i="1" dirty="0"/>
              <a:t>What </a:t>
            </a:r>
            <a:r>
              <a:rPr lang="en-US" dirty="0"/>
              <a:t>is (are) the negative outcome(s) being experienced?</a:t>
            </a:r>
          </a:p>
          <a:p>
            <a:pPr lvl="1"/>
            <a:r>
              <a:rPr lang="en-US" i="1" dirty="0"/>
              <a:t>Where </a:t>
            </a:r>
            <a:r>
              <a:rPr lang="en-US" dirty="0"/>
              <a:t>is it happening?</a:t>
            </a:r>
          </a:p>
          <a:p>
            <a:pPr lvl="1"/>
            <a:r>
              <a:rPr lang="en-US" i="1" dirty="0"/>
              <a:t>When </a:t>
            </a:r>
            <a:r>
              <a:rPr lang="en-US" dirty="0"/>
              <a:t>does it occur? </a:t>
            </a:r>
          </a:p>
          <a:p>
            <a:pPr lvl="1"/>
            <a:r>
              <a:rPr lang="en-US" dirty="0"/>
              <a:t>(Do not ask “Why is it happening?” at this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54</a:t>
            </a:fld>
            <a:endParaRPr lang="en-US"/>
          </a:p>
        </p:txBody>
      </p:sp>
      <p:grpSp>
        <p:nvGrpSpPr>
          <p:cNvPr id="14" name="Group 13">
            <a:extLst>
              <a:ext uri="{FF2B5EF4-FFF2-40B4-BE49-F238E27FC236}">
                <a16:creationId xmlns:a16="http://schemas.microsoft.com/office/drawing/2014/main" id="{DDA1D0E1-1392-2D1D-917C-7BC4AAC5D2AE}"/>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6D6062F2-56C2-D4AC-60A7-52D2CB150528}"/>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1F0D68AD-B06C-4DA2-1842-C93E9A61FE3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F0B4F06F-E2FD-415B-EFE0-0CE416B43361}"/>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749706AF-83B7-A0D8-026E-8BFAF46123A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A8B3A234-510F-F635-D5BF-31ED9684EE6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D09F02F8-91B9-BE9C-647B-43EB8671132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4643AA61-8E43-AD76-9643-1581907D48E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783992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Examples of Problem Definition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Be sure not to be too vague…</a:t>
            </a:r>
          </a:p>
          <a:p>
            <a:pPr lvl="1">
              <a:buClr>
                <a:schemeClr val="accent1"/>
              </a:buClr>
              <a:buFont typeface="Roboto" panose="02000000000000000000" pitchFamily="2" charset="0"/>
              <a:buChar char="Ⅹ"/>
            </a:pPr>
            <a:r>
              <a:rPr lang="en-US" dirty="0"/>
              <a:t>“Customer Satisfaction is at an unacceptable level”</a:t>
            </a:r>
          </a:p>
          <a:p>
            <a:r>
              <a:rPr lang="en-US" dirty="0"/>
              <a:t>Rather…</a:t>
            </a:r>
          </a:p>
          <a:p>
            <a:pPr lvl="1">
              <a:buClr>
                <a:schemeClr val="accent6"/>
              </a:buClr>
              <a:buFont typeface="Wingdings" panose="05000000000000000000" pitchFamily="2" charset="2"/>
              <a:buChar char="ü"/>
            </a:pPr>
            <a:r>
              <a:rPr lang="en-US" dirty="0"/>
              <a:t>“Customer Satisfaction scores have fallen below 95% at store 127 during March 2024”</a:t>
            </a:r>
          </a:p>
          <a:p>
            <a:r>
              <a:rPr lang="en-US" dirty="0"/>
              <a:t>Be sure you don’t address multiple problems…</a:t>
            </a:r>
          </a:p>
          <a:p>
            <a:pPr lvl="1">
              <a:buClr>
                <a:schemeClr val="accent1"/>
              </a:buClr>
              <a:buFont typeface="Roboto" panose="02000000000000000000" pitchFamily="2" charset="0"/>
              <a:buChar char="Ⅹ"/>
            </a:pPr>
            <a:r>
              <a:rPr lang="en-US" dirty="0"/>
              <a:t>“Employee turnover in the warehouse is up 28% over last year, causing inventory accuracy to slip below 73%”</a:t>
            </a:r>
          </a:p>
          <a:p>
            <a:r>
              <a:rPr lang="en-US" dirty="0"/>
              <a:t>Rather…</a:t>
            </a:r>
          </a:p>
          <a:p>
            <a:pPr lvl="1">
              <a:buClr>
                <a:schemeClr val="accent6"/>
              </a:buClr>
              <a:buFont typeface="Wingdings" panose="05000000000000000000" pitchFamily="2" charset="2"/>
              <a:buChar char="ü"/>
            </a:pPr>
            <a:r>
              <a:rPr lang="en-US" dirty="0"/>
              <a:t>Problem 1: “Employee turnover is up 28% vs. last year”</a:t>
            </a:r>
          </a:p>
          <a:p>
            <a:pPr lvl="1">
              <a:buClr>
                <a:schemeClr val="accent6"/>
              </a:buClr>
              <a:buFont typeface="Wingdings" panose="05000000000000000000" pitchFamily="2" charset="2"/>
              <a:buChar char="ü"/>
            </a:pPr>
            <a:r>
              <a:rPr lang="en-US" dirty="0"/>
              <a:t>Problem 2: “Inventory accuracy has fallen below 73% vs. last year”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55</a:t>
            </a:fld>
            <a:endParaRPr lang="en-US"/>
          </a:p>
        </p:txBody>
      </p:sp>
      <p:grpSp>
        <p:nvGrpSpPr>
          <p:cNvPr id="14" name="Group 13">
            <a:extLst>
              <a:ext uri="{FF2B5EF4-FFF2-40B4-BE49-F238E27FC236}">
                <a16:creationId xmlns:a16="http://schemas.microsoft.com/office/drawing/2014/main" id="{91F171C1-C61D-96BC-6DF1-12440BE7D245}"/>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8FAF203E-1A7F-AC6F-50A7-C31BA543CB01}"/>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7F602AC6-A72A-3F26-D4FD-0C90B55E3BF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859A9DA8-3CD2-E24A-600B-DF4B85A9C1FB}"/>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9B944086-A870-4F86-AF44-84B07608666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193D5458-4DFF-AF0E-1FDD-29E6FBF865B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38E7BE46-3FDB-16DE-F77C-E3B064D619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21047D47-781F-66A1-4150-05D738DBCB3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3333903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Metric Characteristics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Provide an objective measure of the “health” of a process and give clear direction for Problem-Solving.</a:t>
            </a:r>
          </a:p>
          <a:p>
            <a:pPr lvl="1"/>
            <a:r>
              <a:rPr lang="en-US" dirty="0"/>
              <a:t>Personal health measures: weight, blood pressure, cholesterol levels</a:t>
            </a:r>
          </a:p>
          <a:p>
            <a:pPr lvl="1"/>
            <a:r>
              <a:rPr lang="en-US" dirty="0"/>
              <a:t>Automobile measures: oil level, gas mileage, tire pressure, temperature</a:t>
            </a:r>
          </a:p>
          <a:p>
            <a:r>
              <a:rPr lang="en-US" dirty="0"/>
              <a:t>Without metrics, you may not solve the correct problem, or you may be “solving” something that isn’t a problem at all.</a:t>
            </a:r>
          </a:p>
          <a:p>
            <a:r>
              <a:rPr lang="en-US" dirty="0"/>
              <a:t>Provide feedback around the impact of the solutions you implement.</a:t>
            </a:r>
          </a:p>
          <a:p>
            <a:r>
              <a:rPr lang="en-US" dirty="0"/>
              <a:t>Enable sustainability and future improvement.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56</a:t>
            </a:fld>
            <a:endParaRPr lang="en-US"/>
          </a:p>
        </p:txBody>
      </p:sp>
      <p:grpSp>
        <p:nvGrpSpPr>
          <p:cNvPr id="14" name="Group 13">
            <a:extLst>
              <a:ext uri="{FF2B5EF4-FFF2-40B4-BE49-F238E27FC236}">
                <a16:creationId xmlns:a16="http://schemas.microsoft.com/office/drawing/2014/main" id="{8631599C-2C36-C809-E7A0-D5DE8A6E9C4A}"/>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3EA93280-1576-53FD-5462-920B99C6BC43}"/>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E80CA31D-788E-F61E-A855-13FFB1629AA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21ADCA57-C439-F7A6-F0FA-E97BA21F80A3}"/>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58302A3E-1233-B5FA-E407-1FDB940122C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48E8BC08-B0CC-6B31-2997-9B7926D762C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67D94A3C-F10A-425E-6740-A3BD61062A1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5FA424E5-CB73-9930-F730-8F9D3462773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8482570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3600" dirty="0"/>
              <a:t>Three Common Errors when Developing Problem Statements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57</a:t>
            </a:fld>
            <a:endParaRPr lang="en-US"/>
          </a:p>
        </p:txBody>
      </p:sp>
      <p:grpSp>
        <p:nvGrpSpPr>
          <p:cNvPr id="439" name="Group 438">
            <a:extLst>
              <a:ext uri="{FF2B5EF4-FFF2-40B4-BE49-F238E27FC236}">
                <a16:creationId xmlns:a16="http://schemas.microsoft.com/office/drawing/2014/main" id="{2B62A9B7-5540-36FC-D253-17C328CCD703}"/>
              </a:ext>
            </a:extLst>
          </p:cNvPr>
          <p:cNvGrpSpPr/>
          <p:nvPr/>
        </p:nvGrpSpPr>
        <p:grpSpPr>
          <a:xfrm>
            <a:off x="838200" y="1891030"/>
            <a:ext cx="10408921" cy="4285933"/>
            <a:chOff x="457200" y="1536700"/>
            <a:chExt cx="8264526" cy="3679825"/>
          </a:xfrm>
        </p:grpSpPr>
        <p:sp>
          <p:nvSpPr>
            <p:cNvPr id="13" name="Rectangle 5">
              <a:extLst>
                <a:ext uri="{FF2B5EF4-FFF2-40B4-BE49-F238E27FC236}">
                  <a16:creationId xmlns:a16="http://schemas.microsoft.com/office/drawing/2014/main" id="{39763AF2-D64F-7138-EA51-03AD78244D58}"/>
                </a:ext>
              </a:extLst>
            </p:cNvPr>
            <p:cNvSpPr>
              <a:spLocks noChangeArrowheads="1"/>
            </p:cNvSpPr>
            <p:nvPr/>
          </p:nvSpPr>
          <p:spPr bwMode="auto">
            <a:xfrm>
              <a:off x="1196975" y="1991008"/>
              <a:ext cx="1908175" cy="568325"/>
            </a:xfrm>
            <a:prstGeom prst="rect">
              <a:avLst/>
            </a:prstGeom>
            <a:solidFill>
              <a:schemeClr val="bg1"/>
            </a:solidFill>
            <a:ln w="12700" cap="sq" algn="ctr">
              <a:solidFill>
                <a:schemeClr val="tx1"/>
              </a:solidFill>
              <a:miter lim="800000"/>
              <a:headEnd/>
              <a:tailEnd/>
            </a:ln>
          </p:spPr>
          <p:txBody>
            <a:bodyPr wrap="none" anchor="ctr"/>
            <a:lstStyle/>
            <a:p>
              <a:r>
                <a:rPr lang="en-US" sz="1400" b="1" dirty="0"/>
                <a:t>Stating the solution</a:t>
              </a:r>
              <a:br>
                <a:rPr lang="en-US" sz="1400" b="1" dirty="0"/>
              </a:br>
              <a:r>
                <a:rPr lang="en-US" sz="1400" b="1" dirty="0"/>
                <a:t>in the problem</a:t>
              </a:r>
              <a:br>
                <a:rPr lang="en-US" sz="1400" b="1" dirty="0"/>
              </a:br>
              <a:r>
                <a:rPr lang="en-US" sz="1400" b="1" dirty="0"/>
                <a:t>statement</a:t>
              </a:r>
            </a:p>
          </p:txBody>
        </p:sp>
        <p:sp>
          <p:nvSpPr>
            <p:cNvPr id="14" name="Rectangle 6">
              <a:extLst>
                <a:ext uri="{FF2B5EF4-FFF2-40B4-BE49-F238E27FC236}">
                  <a16:creationId xmlns:a16="http://schemas.microsoft.com/office/drawing/2014/main" id="{C7E987BB-ACCB-2CE7-EEF3-793603CEBFAA}"/>
                </a:ext>
              </a:extLst>
            </p:cNvPr>
            <p:cNvSpPr>
              <a:spLocks noChangeArrowheads="1"/>
            </p:cNvSpPr>
            <p:nvPr/>
          </p:nvSpPr>
          <p:spPr bwMode="auto">
            <a:xfrm>
              <a:off x="1196975" y="3136900"/>
              <a:ext cx="1908175" cy="568325"/>
            </a:xfrm>
            <a:prstGeom prst="rect">
              <a:avLst/>
            </a:prstGeom>
            <a:solidFill>
              <a:schemeClr val="bg2"/>
            </a:solidFill>
            <a:ln w="12700" cap="sq" algn="ctr">
              <a:solidFill>
                <a:schemeClr val="tx1"/>
              </a:solidFill>
              <a:miter lim="800000"/>
              <a:headEnd/>
              <a:tailEnd/>
            </a:ln>
          </p:spPr>
          <p:txBody>
            <a:bodyPr wrap="none" anchor="ctr"/>
            <a:lstStyle/>
            <a:p>
              <a:r>
                <a:rPr lang="en-US" sz="1400" b="1"/>
                <a:t>Too large of a</a:t>
              </a:r>
              <a:br>
                <a:rPr lang="en-US" sz="1400" b="1"/>
              </a:br>
              <a:r>
                <a:rPr lang="en-US" sz="1400" b="1"/>
                <a:t>problem</a:t>
              </a:r>
            </a:p>
          </p:txBody>
        </p:sp>
        <p:sp>
          <p:nvSpPr>
            <p:cNvPr id="15" name="Rectangle 7">
              <a:extLst>
                <a:ext uri="{FF2B5EF4-FFF2-40B4-BE49-F238E27FC236}">
                  <a16:creationId xmlns:a16="http://schemas.microsoft.com/office/drawing/2014/main" id="{97DD7589-0243-993D-C596-1C2BB11A629E}"/>
                </a:ext>
              </a:extLst>
            </p:cNvPr>
            <p:cNvSpPr>
              <a:spLocks noChangeArrowheads="1"/>
            </p:cNvSpPr>
            <p:nvPr/>
          </p:nvSpPr>
          <p:spPr bwMode="auto">
            <a:xfrm>
              <a:off x="1196975" y="4186238"/>
              <a:ext cx="1908175" cy="568325"/>
            </a:xfrm>
            <a:prstGeom prst="rect">
              <a:avLst/>
            </a:prstGeom>
            <a:solidFill>
              <a:schemeClr val="accent3"/>
            </a:solidFill>
            <a:ln w="12700" cap="sq" algn="ctr">
              <a:solidFill>
                <a:schemeClr val="tx1"/>
              </a:solidFill>
              <a:miter lim="800000"/>
              <a:headEnd/>
              <a:tailEnd/>
            </a:ln>
          </p:spPr>
          <p:txBody>
            <a:bodyPr wrap="none" anchor="ctr"/>
            <a:lstStyle/>
            <a:p>
              <a:r>
                <a:rPr lang="en-US" sz="1400" b="1">
                  <a:solidFill>
                    <a:schemeClr val="bg1"/>
                  </a:solidFill>
                </a:rPr>
                <a:t>Vague Problem</a:t>
              </a:r>
              <a:br>
                <a:rPr lang="en-US" sz="1400" b="1">
                  <a:solidFill>
                    <a:schemeClr val="bg1"/>
                  </a:solidFill>
                </a:rPr>
              </a:br>
              <a:r>
                <a:rPr lang="en-US" sz="1400" b="1">
                  <a:solidFill>
                    <a:schemeClr val="bg1"/>
                  </a:solidFill>
                </a:rPr>
                <a:t>Statements</a:t>
              </a:r>
            </a:p>
          </p:txBody>
        </p:sp>
        <p:sp>
          <p:nvSpPr>
            <p:cNvPr id="16" name="Line 9">
              <a:extLst>
                <a:ext uri="{FF2B5EF4-FFF2-40B4-BE49-F238E27FC236}">
                  <a16:creationId xmlns:a16="http://schemas.microsoft.com/office/drawing/2014/main" id="{73AFE434-0349-F33E-F419-3E05426CDE31}"/>
                </a:ext>
              </a:extLst>
            </p:cNvPr>
            <p:cNvSpPr>
              <a:spLocks noChangeShapeType="1"/>
            </p:cNvSpPr>
            <p:nvPr/>
          </p:nvSpPr>
          <p:spPr bwMode="auto">
            <a:xfrm>
              <a:off x="471489" y="2857173"/>
              <a:ext cx="8250237" cy="0"/>
            </a:xfrm>
            <a:prstGeom prst="line">
              <a:avLst/>
            </a:prstGeom>
            <a:noFill/>
            <a:ln w="19050">
              <a:solidFill>
                <a:schemeClr val="tx2"/>
              </a:solidFill>
              <a:prstDash val="sysDot"/>
              <a:round/>
              <a:headEnd/>
              <a:tailEnd/>
            </a:ln>
          </p:spPr>
          <p:txBody>
            <a:bodyPr wrap="none" anchor="ctr"/>
            <a:lstStyle/>
            <a:p>
              <a:endParaRPr lang="en-US"/>
            </a:p>
          </p:txBody>
        </p:sp>
        <p:sp>
          <p:nvSpPr>
            <p:cNvPr id="24" name="Line 10">
              <a:extLst>
                <a:ext uri="{FF2B5EF4-FFF2-40B4-BE49-F238E27FC236}">
                  <a16:creationId xmlns:a16="http://schemas.microsoft.com/office/drawing/2014/main" id="{988F02DD-4453-50D6-FF6F-EAEA7B4320A6}"/>
                </a:ext>
              </a:extLst>
            </p:cNvPr>
            <p:cNvSpPr>
              <a:spLocks noChangeShapeType="1"/>
            </p:cNvSpPr>
            <p:nvPr/>
          </p:nvSpPr>
          <p:spPr bwMode="auto">
            <a:xfrm>
              <a:off x="471489" y="3963450"/>
              <a:ext cx="8205787" cy="0"/>
            </a:xfrm>
            <a:prstGeom prst="line">
              <a:avLst/>
            </a:prstGeom>
            <a:noFill/>
            <a:ln w="19050">
              <a:solidFill>
                <a:schemeClr val="tx2"/>
              </a:solidFill>
              <a:prstDash val="sysDot"/>
              <a:round/>
              <a:headEnd/>
              <a:tailEnd/>
            </a:ln>
          </p:spPr>
          <p:txBody>
            <a:bodyPr wrap="none" anchor="ctr"/>
            <a:lstStyle/>
            <a:p>
              <a:endParaRPr lang="en-US"/>
            </a:p>
          </p:txBody>
        </p:sp>
        <p:sp>
          <p:nvSpPr>
            <p:cNvPr id="25" name="Line 11">
              <a:extLst>
                <a:ext uri="{FF2B5EF4-FFF2-40B4-BE49-F238E27FC236}">
                  <a16:creationId xmlns:a16="http://schemas.microsoft.com/office/drawing/2014/main" id="{001D9359-85C8-BE8B-ED3A-12AC4A34DB59}"/>
                </a:ext>
              </a:extLst>
            </p:cNvPr>
            <p:cNvSpPr>
              <a:spLocks noChangeShapeType="1"/>
            </p:cNvSpPr>
            <p:nvPr/>
          </p:nvSpPr>
          <p:spPr bwMode="auto">
            <a:xfrm>
              <a:off x="457200" y="5216525"/>
              <a:ext cx="8235950" cy="0"/>
            </a:xfrm>
            <a:prstGeom prst="line">
              <a:avLst/>
            </a:prstGeom>
            <a:noFill/>
            <a:ln w="19050">
              <a:solidFill>
                <a:srgbClr val="000066"/>
              </a:solidFill>
              <a:prstDash val="sysDot"/>
              <a:round/>
              <a:headEnd/>
              <a:tailEnd/>
            </a:ln>
          </p:spPr>
          <p:txBody>
            <a:bodyPr wrap="none" anchor="ctr"/>
            <a:lstStyle/>
            <a:p>
              <a:endParaRPr lang="en-US"/>
            </a:p>
          </p:txBody>
        </p:sp>
        <p:sp>
          <p:nvSpPr>
            <p:cNvPr id="26" name="Rectangle 13">
              <a:extLst>
                <a:ext uri="{FF2B5EF4-FFF2-40B4-BE49-F238E27FC236}">
                  <a16:creationId xmlns:a16="http://schemas.microsoft.com/office/drawing/2014/main" id="{FCC084D2-6736-C7F7-E1F0-1FD20974D2EF}"/>
                </a:ext>
              </a:extLst>
            </p:cNvPr>
            <p:cNvSpPr>
              <a:spLocks noChangeArrowheads="1"/>
            </p:cNvSpPr>
            <p:nvPr/>
          </p:nvSpPr>
          <p:spPr bwMode="auto">
            <a:xfrm>
              <a:off x="3638550" y="1954213"/>
              <a:ext cx="4970463" cy="451321"/>
            </a:xfrm>
            <a:prstGeom prst="rect">
              <a:avLst/>
            </a:prstGeom>
            <a:noFill/>
            <a:ln w="9525">
              <a:noFill/>
              <a:prstDash val="sysDot"/>
              <a:miter lim="800000"/>
              <a:headEnd/>
              <a:tailEnd/>
            </a:ln>
          </p:spPr>
          <p:txBody>
            <a:bodyPr lIns="71438" tIns="36513" rIns="71438" bIns="36513">
              <a:spAutoFit/>
            </a:bodyPr>
            <a:lstStyle/>
            <a:p>
              <a:pPr marL="685800" lvl="1" indent="-228600">
                <a:lnSpc>
                  <a:spcPct val="90000"/>
                </a:lnSpc>
                <a:spcBef>
                  <a:spcPts val="500"/>
                </a:spcBef>
                <a:buClr>
                  <a:schemeClr val="accent1"/>
                </a:buClr>
                <a:buSzPct val="90000"/>
                <a:buFont typeface="Roboto" panose="02000000000000000000" pitchFamily="2" charset="0"/>
                <a:buChar char="Ⅹ"/>
              </a:pPr>
              <a:r>
                <a:rPr lang="en-US" sz="1400" b="1" dirty="0">
                  <a:latin typeface="Roboto" panose="02000000000000000000" pitchFamily="2" charset="0"/>
                  <a:ea typeface="Roboto" panose="02000000000000000000" pitchFamily="2" charset="0"/>
                  <a:cs typeface="Roboto" panose="02000000000000000000" pitchFamily="2" charset="0"/>
                </a:rPr>
                <a:t>NOT: We need a new Thermostat, or we don’t have a good oven.</a:t>
              </a:r>
            </a:p>
            <a:p>
              <a:pPr marL="685800" lvl="1" indent="-228600">
                <a:lnSpc>
                  <a:spcPct val="90000"/>
                </a:lnSpc>
                <a:spcBef>
                  <a:spcPts val="500"/>
                </a:spcBef>
                <a:buClr>
                  <a:schemeClr val="accent6"/>
                </a:buClr>
                <a:buSzPct val="90000"/>
                <a:buFont typeface="Wingdings" panose="05000000000000000000" pitchFamily="2" charset="2"/>
                <a:buChar char="ü"/>
              </a:pPr>
              <a:r>
                <a:rPr lang="en-US" sz="1400" b="1" dirty="0">
                  <a:latin typeface="Roboto" panose="02000000000000000000" pitchFamily="2" charset="0"/>
                  <a:ea typeface="Roboto" panose="02000000000000000000" pitchFamily="2" charset="0"/>
                  <a:cs typeface="Roboto" panose="02000000000000000000" pitchFamily="2" charset="0"/>
                </a:rPr>
                <a:t>USE: The oven temperature is 20 degrees below specification.</a:t>
              </a:r>
            </a:p>
          </p:txBody>
        </p:sp>
        <p:sp>
          <p:nvSpPr>
            <p:cNvPr id="27" name="Rectangle 14">
              <a:extLst>
                <a:ext uri="{FF2B5EF4-FFF2-40B4-BE49-F238E27FC236}">
                  <a16:creationId xmlns:a16="http://schemas.microsoft.com/office/drawing/2014/main" id="{394DFC60-B4FC-FCC3-4141-30097996BABB}"/>
                </a:ext>
              </a:extLst>
            </p:cNvPr>
            <p:cNvSpPr>
              <a:spLocks noChangeArrowheads="1"/>
            </p:cNvSpPr>
            <p:nvPr/>
          </p:nvSpPr>
          <p:spPr bwMode="auto">
            <a:xfrm>
              <a:off x="3641725" y="3141663"/>
              <a:ext cx="4981575" cy="617799"/>
            </a:xfrm>
            <a:prstGeom prst="rect">
              <a:avLst/>
            </a:prstGeom>
            <a:noFill/>
            <a:ln w="9525">
              <a:noFill/>
              <a:prstDash val="sysDot"/>
              <a:miter lim="800000"/>
              <a:headEnd/>
              <a:tailEnd/>
            </a:ln>
          </p:spPr>
          <p:txBody>
            <a:bodyPr lIns="71438" tIns="36513" rIns="71438" bIns="36513">
              <a:spAutoFit/>
            </a:bodyPr>
            <a:lstStyle/>
            <a:p>
              <a:pPr marL="685800" lvl="1" indent="-228600">
                <a:lnSpc>
                  <a:spcPct val="90000"/>
                </a:lnSpc>
                <a:spcBef>
                  <a:spcPts val="500"/>
                </a:spcBef>
                <a:buClr>
                  <a:schemeClr val="accent1"/>
                </a:buClr>
                <a:buSzPct val="90000"/>
                <a:buFont typeface="Roboto" panose="02000000000000000000" pitchFamily="2" charset="0"/>
                <a:buChar char="Ⅹ"/>
              </a:pPr>
              <a:r>
                <a:rPr lang="en-US" sz="1400" b="1" dirty="0">
                  <a:latin typeface="Roboto" panose="02000000000000000000" pitchFamily="2" charset="0"/>
                  <a:ea typeface="Roboto" panose="02000000000000000000" pitchFamily="2" charset="0"/>
                  <a:cs typeface="Roboto" panose="02000000000000000000" pitchFamily="2" charset="0"/>
                </a:rPr>
                <a:t>NOT: The “XYZ” Cell has a 25% reject rate.</a:t>
              </a:r>
            </a:p>
            <a:p>
              <a:pPr marL="685800" lvl="1" indent="-228600">
                <a:lnSpc>
                  <a:spcPct val="90000"/>
                </a:lnSpc>
                <a:spcBef>
                  <a:spcPts val="500"/>
                </a:spcBef>
                <a:buClr>
                  <a:schemeClr val="accent6"/>
                </a:buClr>
                <a:buSzPct val="90000"/>
                <a:buFont typeface="Wingdings" panose="05000000000000000000" pitchFamily="2" charset="2"/>
                <a:buChar char="ü"/>
              </a:pPr>
              <a:r>
                <a:rPr lang="en-US" sz="1400" b="1" dirty="0">
                  <a:latin typeface="Roboto" panose="02000000000000000000" pitchFamily="2" charset="0"/>
                  <a:ea typeface="Roboto" panose="02000000000000000000" pitchFamily="2" charset="0"/>
                  <a:cs typeface="Roboto" panose="02000000000000000000" pitchFamily="2" charset="0"/>
                </a:rPr>
                <a:t>USE: The “ABC” operation in the “XYZ” Cell is experiencing a 25% reject rate on the “123” product.</a:t>
              </a:r>
            </a:p>
          </p:txBody>
        </p:sp>
        <p:sp>
          <p:nvSpPr>
            <p:cNvPr id="433" name="Rectangle 15">
              <a:extLst>
                <a:ext uri="{FF2B5EF4-FFF2-40B4-BE49-F238E27FC236}">
                  <a16:creationId xmlns:a16="http://schemas.microsoft.com/office/drawing/2014/main" id="{80B2A12A-E887-E417-5E03-38E680BBF70C}"/>
                </a:ext>
              </a:extLst>
            </p:cNvPr>
            <p:cNvSpPr>
              <a:spLocks noChangeArrowheads="1"/>
            </p:cNvSpPr>
            <p:nvPr/>
          </p:nvSpPr>
          <p:spPr bwMode="auto">
            <a:xfrm>
              <a:off x="3641725" y="4191000"/>
              <a:ext cx="4970463" cy="636296"/>
            </a:xfrm>
            <a:prstGeom prst="rect">
              <a:avLst/>
            </a:prstGeom>
            <a:noFill/>
            <a:ln w="9525">
              <a:noFill/>
              <a:prstDash val="sysDot"/>
              <a:miter lim="800000"/>
              <a:headEnd/>
              <a:tailEnd/>
            </a:ln>
          </p:spPr>
          <p:txBody>
            <a:bodyPr lIns="71438" tIns="36513" rIns="71438" bIns="36513">
              <a:spAutoFit/>
            </a:bodyPr>
            <a:lstStyle/>
            <a:p>
              <a:pPr marL="685800" lvl="1" indent="-228600">
                <a:lnSpc>
                  <a:spcPct val="90000"/>
                </a:lnSpc>
                <a:spcBef>
                  <a:spcPts val="500"/>
                </a:spcBef>
                <a:buClr>
                  <a:schemeClr val="accent1"/>
                </a:buClr>
                <a:buSzPct val="90000"/>
                <a:buFont typeface="Roboto" panose="02000000000000000000" pitchFamily="2" charset="0"/>
                <a:buChar char="Ⅹ"/>
              </a:pPr>
              <a:r>
                <a:rPr lang="en-US" sz="1400" b="1" dirty="0">
                  <a:latin typeface="Roboto" panose="02000000000000000000" pitchFamily="2" charset="0"/>
                  <a:ea typeface="Roboto" panose="02000000000000000000" pitchFamily="2" charset="0"/>
                  <a:cs typeface="Roboto" panose="02000000000000000000" pitchFamily="2" charset="0"/>
                </a:rPr>
                <a:t>NOT: Customers complain about colors not being right.</a:t>
              </a:r>
            </a:p>
            <a:p>
              <a:pPr marL="685800" lvl="1" indent="-228600">
                <a:lnSpc>
                  <a:spcPct val="90000"/>
                </a:lnSpc>
                <a:spcBef>
                  <a:spcPts val="500"/>
                </a:spcBef>
                <a:buClr>
                  <a:schemeClr val="accent6"/>
                </a:buClr>
                <a:buSzPct val="90000"/>
                <a:buFont typeface="Wingdings" panose="05000000000000000000" pitchFamily="2" charset="2"/>
                <a:buChar char="ü"/>
              </a:pPr>
              <a:r>
                <a:rPr lang="en-US" sz="1400" b="1" dirty="0">
                  <a:latin typeface="Roboto" panose="02000000000000000000" pitchFamily="2" charset="0"/>
                  <a:ea typeface="Roboto" panose="02000000000000000000" pitchFamily="2" charset="0"/>
                  <a:cs typeface="Roboto" panose="02000000000000000000" pitchFamily="2" charset="0"/>
                </a:rPr>
                <a:t>USE: One of ten customers report discoloration on the right side of part #2003.</a:t>
              </a:r>
            </a:p>
          </p:txBody>
        </p:sp>
        <p:sp>
          <p:nvSpPr>
            <p:cNvPr id="434" name="Line 17">
              <a:extLst>
                <a:ext uri="{FF2B5EF4-FFF2-40B4-BE49-F238E27FC236}">
                  <a16:creationId xmlns:a16="http://schemas.microsoft.com/office/drawing/2014/main" id="{E95271D2-C334-7DBF-FD44-3E0057CB3362}"/>
                </a:ext>
              </a:extLst>
            </p:cNvPr>
            <p:cNvSpPr>
              <a:spLocks noChangeShapeType="1"/>
            </p:cNvSpPr>
            <p:nvPr/>
          </p:nvSpPr>
          <p:spPr bwMode="auto">
            <a:xfrm flipV="1">
              <a:off x="461963" y="1824038"/>
              <a:ext cx="8250237" cy="15875"/>
            </a:xfrm>
            <a:prstGeom prst="line">
              <a:avLst/>
            </a:prstGeom>
            <a:noFill/>
            <a:ln w="38100">
              <a:solidFill>
                <a:schemeClr val="tx2"/>
              </a:solidFill>
              <a:round/>
              <a:headEnd/>
              <a:tailEnd/>
            </a:ln>
          </p:spPr>
          <p:txBody>
            <a:bodyPr wrap="none" anchor="ctr"/>
            <a:lstStyle/>
            <a:p>
              <a:endParaRPr lang="en-US"/>
            </a:p>
          </p:txBody>
        </p:sp>
        <p:sp>
          <p:nvSpPr>
            <p:cNvPr id="435" name="Text Box 18">
              <a:extLst>
                <a:ext uri="{FF2B5EF4-FFF2-40B4-BE49-F238E27FC236}">
                  <a16:creationId xmlns:a16="http://schemas.microsoft.com/office/drawing/2014/main" id="{3ED06D9B-3A45-F625-8A74-BFD326218363}"/>
                </a:ext>
              </a:extLst>
            </p:cNvPr>
            <p:cNvSpPr txBox="1">
              <a:spLocks noChangeArrowheads="1"/>
            </p:cNvSpPr>
            <p:nvPr/>
          </p:nvSpPr>
          <p:spPr bwMode="auto">
            <a:xfrm>
              <a:off x="471489" y="1536700"/>
              <a:ext cx="1762261" cy="317102"/>
            </a:xfrm>
            <a:prstGeom prst="rect">
              <a:avLst/>
            </a:prstGeom>
            <a:noFill/>
            <a:ln w="12700" cap="sq" algn="ctr">
              <a:noFill/>
              <a:miter lim="800000"/>
              <a:headEnd/>
              <a:tailEnd/>
            </a:ln>
          </p:spPr>
          <p:txBody>
            <a:bodyPr wrap="square">
              <a:spAutoFit/>
            </a:bodyPr>
            <a:lstStyle/>
            <a:p>
              <a:r>
                <a:rPr lang="en-US" sz="1800" b="1" dirty="0">
                  <a:solidFill>
                    <a:schemeClr val="tx1"/>
                  </a:solidFill>
                </a:rPr>
                <a:t>Points</a:t>
              </a:r>
            </a:p>
          </p:txBody>
        </p:sp>
        <p:sp>
          <p:nvSpPr>
            <p:cNvPr id="436" name="Oval 19">
              <a:extLst>
                <a:ext uri="{FF2B5EF4-FFF2-40B4-BE49-F238E27FC236}">
                  <a16:creationId xmlns:a16="http://schemas.microsoft.com/office/drawing/2014/main" id="{6C24313B-0A24-44E5-AB2F-764867CAE6C3}"/>
                </a:ext>
              </a:extLst>
            </p:cNvPr>
            <p:cNvSpPr>
              <a:spLocks noChangeArrowheads="1"/>
            </p:cNvSpPr>
            <p:nvPr/>
          </p:nvSpPr>
          <p:spPr bwMode="auto">
            <a:xfrm>
              <a:off x="519113" y="2079625"/>
              <a:ext cx="400050" cy="366713"/>
            </a:xfrm>
            <a:prstGeom prst="ellipse">
              <a:avLst/>
            </a:prstGeom>
            <a:solidFill>
              <a:schemeClr val="accent1"/>
            </a:solidFill>
            <a:ln w="12700" cap="sq" algn="ctr">
              <a:solidFill>
                <a:srgbClr val="800000"/>
              </a:solidFill>
              <a:round/>
              <a:headEnd/>
              <a:tailEnd/>
            </a:ln>
          </p:spPr>
          <p:txBody>
            <a:bodyPr wrap="none" anchor="ctr"/>
            <a:lstStyle/>
            <a:p>
              <a:pPr algn="ctr"/>
              <a:r>
                <a:rPr lang="en-US" sz="1400" b="1" dirty="0">
                  <a:solidFill>
                    <a:schemeClr val="bg1"/>
                  </a:solidFill>
                </a:rPr>
                <a:t>1</a:t>
              </a:r>
            </a:p>
          </p:txBody>
        </p:sp>
        <p:sp>
          <p:nvSpPr>
            <p:cNvPr id="437" name="Oval 20">
              <a:extLst>
                <a:ext uri="{FF2B5EF4-FFF2-40B4-BE49-F238E27FC236}">
                  <a16:creationId xmlns:a16="http://schemas.microsoft.com/office/drawing/2014/main" id="{B7BD2840-82DE-75D9-94A3-D78DA6577B79}"/>
                </a:ext>
              </a:extLst>
            </p:cNvPr>
            <p:cNvSpPr>
              <a:spLocks noChangeArrowheads="1"/>
            </p:cNvSpPr>
            <p:nvPr/>
          </p:nvSpPr>
          <p:spPr bwMode="auto">
            <a:xfrm>
              <a:off x="519113" y="3240087"/>
              <a:ext cx="400050" cy="366713"/>
            </a:xfrm>
            <a:prstGeom prst="ellipse">
              <a:avLst/>
            </a:prstGeom>
            <a:solidFill>
              <a:schemeClr val="accent1"/>
            </a:solidFill>
            <a:ln w="12700" cap="sq" algn="ctr">
              <a:solidFill>
                <a:srgbClr val="800000"/>
              </a:solidFill>
              <a:round/>
              <a:headEnd/>
              <a:tailEnd/>
            </a:ln>
          </p:spPr>
          <p:txBody>
            <a:bodyPr wrap="none" anchor="ctr"/>
            <a:lstStyle/>
            <a:p>
              <a:pPr algn="ctr"/>
              <a:r>
                <a:rPr lang="en-US" sz="1400" b="1" dirty="0">
                  <a:solidFill>
                    <a:schemeClr val="bg1"/>
                  </a:solidFill>
                </a:rPr>
                <a:t>2</a:t>
              </a:r>
            </a:p>
          </p:txBody>
        </p:sp>
        <p:sp>
          <p:nvSpPr>
            <p:cNvPr id="438" name="Oval 21">
              <a:extLst>
                <a:ext uri="{FF2B5EF4-FFF2-40B4-BE49-F238E27FC236}">
                  <a16:creationId xmlns:a16="http://schemas.microsoft.com/office/drawing/2014/main" id="{3048855C-53D1-BE49-1428-A3F033F23BCC}"/>
                </a:ext>
              </a:extLst>
            </p:cNvPr>
            <p:cNvSpPr>
              <a:spLocks noChangeArrowheads="1"/>
            </p:cNvSpPr>
            <p:nvPr/>
          </p:nvSpPr>
          <p:spPr bwMode="auto">
            <a:xfrm>
              <a:off x="519113" y="4289425"/>
              <a:ext cx="400050" cy="366712"/>
            </a:xfrm>
            <a:prstGeom prst="ellipse">
              <a:avLst/>
            </a:prstGeom>
            <a:solidFill>
              <a:schemeClr val="accent1"/>
            </a:solidFill>
            <a:ln w="12700" cap="sq" algn="ctr">
              <a:solidFill>
                <a:srgbClr val="800000"/>
              </a:solidFill>
              <a:round/>
              <a:headEnd/>
              <a:tailEnd/>
            </a:ln>
          </p:spPr>
          <p:txBody>
            <a:bodyPr wrap="none" anchor="ctr"/>
            <a:lstStyle/>
            <a:p>
              <a:pPr algn="ctr"/>
              <a:r>
                <a:rPr lang="en-US" sz="1400" b="1">
                  <a:solidFill>
                    <a:schemeClr val="bg1"/>
                  </a:solidFill>
                </a:rPr>
                <a:t>3</a:t>
              </a:r>
            </a:p>
          </p:txBody>
        </p:sp>
        <p:sp>
          <p:nvSpPr>
            <p:cNvPr id="19" name="Text Box 18">
              <a:extLst>
                <a:ext uri="{FF2B5EF4-FFF2-40B4-BE49-F238E27FC236}">
                  <a16:creationId xmlns:a16="http://schemas.microsoft.com/office/drawing/2014/main" id="{38618388-925B-56C5-B5ED-BD7E38E0F62B}"/>
                </a:ext>
              </a:extLst>
            </p:cNvPr>
            <p:cNvSpPr txBox="1">
              <a:spLocks noChangeArrowheads="1"/>
            </p:cNvSpPr>
            <p:nvPr/>
          </p:nvSpPr>
          <p:spPr bwMode="auto">
            <a:xfrm>
              <a:off x="3644284" y="1536700"/>
              <a:ext cx="1762261" cy="317102"/>
            </a:xfrm>
            <a:prstGeom prst="rect">
              <a:avLst/>
            </a:prstGeom>
            <a:noFill/>
            <a:ln w="12700" cap="sq" algn="ctr">
              <a:noFill/>
              <a:miter lim="800000"/>
              <a:headEnd/>
              <a:tailEnd/>
            </a:ln>
          </p:spPr>
          <p:txBody>
            <a:bodyPr wrap="square">
              <a:spAutoFit/>
            </a:bodyPr>
            <a:lstStyle/>
            <a:p>
              <a:r>
                <a:rPr lang="en-US" sz="1800" b="1" kern="1200" dirty="0">
                  <a:solidFill>
                    <a:srgbClr val="000000"/>
                  </a:solidFill>
                  <a:effectLst/>
                  <a:latin typeface="Roboto" panose="02000000000000000000" pitchFamily="2" charset="0"/>
                  <a:ea typeface="+mn-ea"/>
                  <a:cs typeface="+mn-cs"/>
                </a:rPr>
                <a:t>Descriptions</a:t>
              </a:r>
              <a:endParaRPr lang="en-US" sz="1800" b="1" dirty="0">
                <a:solidFill>
                  <a:schemeClr val="tx1"/>
                </a:solidFill>
              </a:endParaRPr>
            </a:p>
          </p:txBody>
        </p:sp>
      </p:grpSp>
      <p:grpSp>
        <p:nvGrpSpPr>
          <p:cNvPr id="17" name="Group 16">
            <a:extLst>
              <a:ext uri="{FF2B5EF4-FFF2-40B4-BE49-F238E27FC236}">
                <a16:creationId xmlns:a16="http://schemas.microsoft.com/office/drawing/2014/main" id="{2C2C5AFA-9C0B-309A-E2E1-A00686D7CCF5}"/>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B736F4B0-7AAA-0263-B6B7-A4905AB55DE6}"/>
                </a:ext>
              </a:extLst>
            </p:cNvPr>
            <p:cNvGrpSpPr/>
            <p:nvPr/>
          </p:nvGrpSpPr>
          <p:grpSpPr>
            <a:xfrm>
              <a:off x="838200" y="297639"/>
              <a:ext cx="1373842" cy="290657"/>
              <a:chOff x="838200" y="297639"/>
              <a:chExt cx="1373842" cy="290657"/>
            </a:xfrm>
          </p:grpSpPr>
          <p:sp>
            <p:nvSpPr>
              <p:cNvPr id="21" name="AutoShape 9">
                <a:extLst>
                  <a:ext uri="{FF2B5EF4-FFF2-40B4-BE49-F238E27FC236}">
                    <a16:creationId xmlns:a16="http://schemas.microsoft.com/office/drawing/2014/main" id="{841AF4F6-B228-B41F-0970-AABF3147F3C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2" name="Group 21">
                <a:extLst>
                  <a:ext uri="{FF2B5EF4-FFF2-40B4-BE49-F238E27FC236}">
                    <a16:creationId xmlns:a16="http://schemas.microsoft.com/office/drawing/2014/main" id="{7CA619A7-65EC-A29F-2160-CC1C012B4709}"/>
                  </a:ext>
                </a:extLst>
              </p:cNvPr>
              <p:cNvGrpSpPr/>
              <p:nvPr/>
            </p:nvGrpSpPr>
            <p:grpSpPr>
              <a:xfrm>
                <a:off x="838200" y="297639"/>
                <a:ext cx="1060167" cy="290657"/>
                <a:chOff x="826426" y="4041857"/>
                <a:chExt cx="1060167" cy="290657"/>
              </a:xfrm>
            </p:grpSpPr>
            <p:sp>
              <p:nvSpPr>
                <p:cNvPr id="23" name="AutoShape 9">
                  <a:extLst>
                    <a:ext uri="{FF2B5EF4-FFF2-40B4-BE49-F238E27FC236}">
                      <a16:creationId xmlns:a16="http://schemas.microsoft.com/office/drawing/2014/main" id="{AC798C7D-95F0-7A63-A2A6-705D5EEA325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45425886-841A-B7AB-350C-3B6138D72E4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60800CE6-7E22-AD1C-A7D9-D8CB456C99F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CEB0F5BF-8788-7A32-B490-71CE25886C12}"/>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6636888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32" name="Group 31">
            <a:extLst>
              <a:ext uri="{FF2B5EF4-FFF2-40B4-BE49-F238E27FC236}">
                <a16:creationId xmlns:a16="http://schemas.microsoft.com/office/drawing/2014/main" id="{E9E6052A-C557-B15C-8565-4B57A045A89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0A79720D-9B74-EF52-B8FB-EFB5A588135F}"/>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rgbClr val="81100A"/>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5" name="Group 64">
            <a:extLst>
              <a:ext uri="{FF2B5EF4-FFF2-40B4-BE49-F238E27FC236}">
                <a16:creationId xmlns:a16="http://schemas.microsoft.com/office/drawing/2014/main" id="{7869703A-8659-811E-C334-8899D0F12648}"/>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7039255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6. </a:t>
            </a:r>
            <a:r>
              <a:rPr lang="en-US" sz="4400" dirty="0"/>
              <a:t>Develop Objectives and Timeframes</a:t>
            </a:r>
            <a:endParaRPr lang="en-US" dirty="0"/>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Clear, measurable objectives aimed at solving the problem.</a:t>
            </a:r>
          </a:p>
          <a:p>
            <a:pPr marL="285750" indent="-285750">
              <a:buFont typeface="Arial" panose="020B0604020202020204" pitchFamily="34" charset="0"/>
              <a:buChar char="•"/>
            </a:pPr>
            <a:r>
              <a:rPr lang="en-US" dirty="0"/>
              <a:t>Realistic timeframes that reflect the urgency and complexity of the issues addressed.</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To set clear, measurable goals and establish a timeline for solving the problem, providing direction and urgency to the team.</a:t>
            </a:r>
          </a:p>
          <a:p>
            <a:pPr marL="285750" indent="-285750">
              <a:buFont typeface="Arial" panose="020B0604020202020204" pitchFamily="34" charset="0"/>
              <a:buChar char="•"/>
            </a:pPr>
            <a:r>
              <a:rPr lang="en-US" dirty="0"/>
              <a:t>Clear objectives and deadlines ensure focused efforts and timely results.</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accent5"/>
                </a:solidFill>
              </a:rPr>
              <a:t>Reduce</a:t>
            </a:r>
            <a:r>
              <a:rPr lang="en-US" dirty="0"/>
              <a:t> </a:t>
            </a:r>
            <a:r>
              <a:rPr lang="en-US" dirty="0">
                <a:solidFill>
                  <a:schemeClr val="accent1"/>
                </a:solidFill>
              </a:rPr>
              <a:t>the material defect rate</a:t>
            </a:r>
            <a:r>
              <a:rPr lang="en-US" dirty="0"/>
              <a:t> </a:t>
            </a:r>
            <a:r>
              <a:rPr lang="en-US" dirty="0">
                <a:solidFill>
                  <a:schemeClr val="accent4"/>
                </a:solidFill>
              </a:rPr>
              <a:t>from 10% </a:t>
            </a:r>
            <a:r>
              <a:rPr lang="en-US" dirty="0">
                <a:solidFill>
                  <a:schemeClr val="accent2">
                    <a:lumMod val="50000"/>
                  </a:schemeClr>
                </a:solidFill>
              </a:rPr>
              <a:t>to 0%</a:t>
            </a:r>
            <a:r>
              <a:rPr lang="en-US" dirty="0"/>
              <a:t> </a:t>
            </a:r>
            <a:r>
              <a:rPr lang="en-US" dirty="0">
                <a:solidFill>
                  <a:schemeClr val="accent6"/>
                </a:solidFill>
              </a:rPr>
              <a:t>by November 30</a:t>
            </a:r>
            <a:r>
              <a:rPr lang="en-US" dirty="0"/>
              <a:t>.</a:t>
            </a:r>
          </a:p>
          <a:p>
            <a:pPr marL="285750" indent="-285750">
              <a:buFont typeface="Arial" panose="020B0604020202020204" pitchFamily="34" charset="0"/>
              <a:buChar char="•"/>
            </a:pPr>
            <a:r>
              <a:rPr lang="en-US" dirty="0">
                <a:solidFill>
                  <a:schemeClr val="accent5"/>
                </a:solidFill>
              </a:rPr>
              <a:t>Increase</a:t>
            </a:r>
            <a:r>
              <a:rPr lang="en-US" dirty="0"/>
              <a:t> </a:t>
            </a:r>
            <a:r>
              <a:rPr lang="en-US" dirty="0">
                <a:solidFill>
                  <a:schemeClr val="accent1"/>
                </a:solidFill>
              </a:rPr>
              <a:t>production output on line 3 </a:t>
            </a:r>
            <a:r>
              <a:rPr lang="en-US" dirty="0">
                <a:solidFill>
                  <a:schemeClr val="accent4"/>
                </a:solidFill>
              </a:rPr>
              <a:t>from 1,000 pieces per day</a:t>
            </a:r>
            <a:r>
              <a:rPr lang="en-US" dirty="0"/>
              <a:t> </a:t>
            </a:r>
            <a:r>
              <a:rPr lang="en-US" dirty="0">
                <a:solidFill>
                  <a:schemeClr val="accent2">
                    <a:lumMod val="50000"/>
                  </a:schemeClr>
                </a:solidFill>
              </a:rPr>
              <a:t>to 1,200 pieces per day</a:t>
            </a:r>
            <a:r>
              <a:rPr lang="en-US" dirty="0"/>
              <a:t> </a:t>
            </a:r>
            <a:r>
              <a:rPr lang="en-US" dirty="0">
                <a:solidFill>
                  <a:schemeClr val="accent6"/>
                </a:solidFill>
              </a:rPr>
              <a:t>by April 30</a:t>
            </a:r>
            <a:r>
              <a:rPr lang="en-US" dirty="0"/>
              <a:t>.</a:t>
            </a:r>
          </a:p>
        </p:txBody>
      </p:sp>
      <p:sp>
        <p:nvSpPr>
          <p:cNvPr id="5" name="Rectangle 4">
            <a:extLst>
              <a:ext uri="{FF2B5EF4-FFF2-40B4-BE49-F238E27FC236}">
                <a16:creationId xmlns:a16="http://schemas.microsoft.com/office/drawing/2014/main" id="{702AF481-116D-C4FC-543C-99F434842B84}"/>
              </a:ext>
            </a:extLst>
          </p:cNvPr>
          <p:cNvSpPr/>
          <p:nvPr/>
        </p:nvSpPr>
        <p:spPr>
          <a:xfrm>
            <a:off x="838201" y="5444836"/>
            <a:ext cx="10799136" cy="59982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Anatomy of a Target: </a:t>
            </a:r>
            <a:r>
              <a:rPr lang="en-US" dirty="0">
                <a:solidFill>
                  <a:schemeClr val="accent5"/>
                </a:solidFill>
              </a:rPr>
              <a:t>Verb</a:t>
            </a:r>
            <a:r>
              <a:rPr lang="en-US" dirty="0">
                <a:solidFill>
                  <a:sysClr val="windowText" lastClr="000000"/>
                </a:solidFill>
              </a:rPr>
              <a:t>, </a:t>
            </a:r>
            <a:r>
              <a:rPr lang="en-US" dirty="0">
                <a:solidFill>
                  <a:schemeClr val="accent1"/>
                </a:solidFill>
              </a:rPr>
              <a:t>Noun</a:t>
            </a:r>
            <a:r>
              <a:rPr lang="en-US" dirty="0">
                <a:solidFill>
                  <a:sysClr val="windowText" lastClr="000000"/>
                </a:solidFill>
              </a:rPr>
              <a:t>, </a:t>
            </a:r>
            <a:r>
              <a:rPr lang="en-US" dirty="0">
                <a:solidFill>
                  <a:schemeClr val="accent4"/>
                </a:solidFill>
              </a:rPr>
              <a:t>From</a:t>
            </a:r>
            <a:r>
              <a:rPr lang="en-US" dirty="0">
                <a:solidFill>
                  <a:sysClr val="windowText" lastClr="000000"/>
                </a:solidFill>
              </a:rPr>
              <a:t>, </a:t>
            </a:r>
            <a:r>
              <a:rPr lang="en-US" dirty="0">
                <a:solidFill>
                  <a:schemeClr val="accent2">
                    <a:lumMod val="50000"/>
                  </a:schemeClr>
                </a:solidFill>
              </a:rPr>
              <a:t>To</a:t>
            </a:r>
            <a:r>
              <a:rPr lang="en-US" dirty="0">
                <a:solidFill>
                  <a:sysClr val="windowText" lastClr="000000"/>
                </a:solidFill>
              </a:rPr>
              <a:t>, </a:t>
            </a:r>
            <a:r>
              <a:rPr lang="en-US" dirty="0">
                <a:solidFill>
                  <a:schemeClr val="accent6"/>
                </a:solidFill>
              </a:rPr>
              <a:t>By a Specific Date</a:t>
            </a:r>
          </a:p>
          <a:p>
            <a:pPr algn="ctr"/>
            <a:r>
              <a:rPr lang="en-US" i="1" dirty="0">
                <a:solidFill>
                  <a:schemeClr val="tx1"/>
                </a:solidFill>
              </a:rPr>
              <a:t>Remember: “Verify Numbers From Targeted Deadlines”</a:t>
            </a:r>
          </a:p>
        </p:txBody>
      </p:sp>
      <p:grpSp>
        <p:nvGrpSpPr>
          <p:cNvPr id="16" name="Group 15">
            <a:extLst>
              <a:ext uri="{FF2B5EF4-FFF2-40B4-BE49-F238E27FC236}">
                <a16:creationId xmlns:a16="http://schemas.microsoft.com/office/drawing/2014/main" id="{45C03D6A-E029-860A-BA05-F7628CDBA222}"/>
              </a:ext>
            </a:extLst>
          </p:cNvPr>
          <p:cNvGrpSpPr/>
          <p:nvPr/>
        </p:nvGrpSpPr>
        <p:grpSpPr>
          <a:xfrm>
            <a:off x="838200" y="297639"/>
            <a:ext cx="4561953" cy="307138"/>
            <a:chOff x="838200" y="297639"/>
            <a:chExt cx="4561953" cy="307138"/>
          </a:xfrm>
        </p:grpSpPr>
        <p:grpSp>
          <p:nvGrpSpPr>
            <p:cNvPr id="19" name="Group 18">
              <a:extLst>
                <a:ext uri="{FF2B5EF4-FFF2-40B4-BE49-F238E27FC236}">
                  <a16:creationId xmlns:a16="http://schemas.microsoft.com/office/drawing/2014/main" id="{9272F62F-D9B0-F6CA-E52F-2CF6E46C6040}"/>
                </a:ext>
              </a:extLst>
            </p:cNvPr>
            <p:cNvGrpSpPr/>
            <p:nvPr/>
          </p:nvGrpSpPr>
          <p:grpSpPr>
            <a:xfrm>
              <a:off x="838200" y="297639"/>
              <a:ext cx="1373842" cy="290657"/>
              <a:chOff x="838200" y="297639"/>
              <a:chExt cx="1373842" cy="290657"/>
            </a:xfrm>
          </p:grpSpPr>
          <p:sp>
            <p:nvSpPr>
              <p:cNvPr id="23" name="AutoShape 9">
                <a:extLst>
                  <a:ext uri="{FF2B5EF4-FFF2-40B4-BE49-F238E27FC236}">
                    <a16:creationId xmlns:a16="http://schemas.microsoft.com/office/drawing/2014/main" id="{114A2C0C-B361-42F2-E5CD-DA974294BCD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4" name="Group 23">
                <a:extLst>
                  <a:ext uri="{FF2B5EF4-FFF2-40B4-BE49-F238E27FC236}">
                    <a16:creationId xmlns:a16="http://schemas.microsoft.com/office/drawing/2014/main" id="{9B9201C9-ED2E-5849-C399-C886A35548B8}"/>
                  </a:ext>
                </a:extLst>
              </p:cNvPr>
              <p:cNvGrpSpPr/>
              <p:nvPr/>
            </p:nvGrpSpPr>
            <p:grpSpPr>
              <a:xfrm>
                <a:off x="838200" y="297639"/>
                <a:ext cx="1060167" cy="290657"/>
                <a:chOff x="826426" y="4041857"/>
                <a:chExt cx="1060167" cy="290657"/>
              </a:xfrm>
            </p:grpSpPr>
            <p:sp>
              <p:nvSpPr>
                <p:cNvPr id="25" name="AutoShape 9">
                  <a:extLst>
                    <a:ext uri="{FF2B5EF4-FFF2-40B4-BE49-F238E27FC236}">
                      <a16:creationId xmlns:a16="http://schemas.microsoft.com/office/drawing/2014/main" id="{F6BB1498-5F89-445E-8742-BD79B9ACE06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1">
                  <a:extLst>
                    <a:ext uri="{FF2B5EF4-FFF2-40B4-BE49-F238E27FC236}">
                      <a16:creationId xmlns:a16="http://schemas.microsoft.com/office/drawing/2014/main" id="{F0B8450C-D937-C2B2-0C0D-38308CA1D7A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0">
                  <a:extLst>
                    <a:ext uri="{FF2B5EF4-FFF2-40B4-BE49-F238E27FC236}">
                      <a16:creationId xmlns:a16="http://schemas.microsoft.com/office/drawing/2014/main" id="{9C4DB9E7-BD4D-0DED-17B6-DD3421DC55F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0" name="TextBox 19">
              <a:extLst>
                <a:ext uri="{FF2B5EF4-FFF2-40B4-BE49-F238E27FC236}">
                  <a16:creationId xmlns:a16="http://schemas.microsoft.com/office/drawing/2014/main" id="{4F9F5DAB-A433-2025-A236-94ACAD0E5D5F}"/>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9562110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Develop a Problem Statement</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information provided, develop a problem statement.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Utilize the information on the problem-solving countermeasure form to develop a problem statement, objective(s), and timeframe(s).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 problem statement, with objectives and timeframes.</a:t>
            </a:r>
          </a:p>
        </p:txBody>
      </p:sp>
      <p:grpSp>
        <p:nvGrpSpPr>
          <p:cNvPr id="3" name="Group 2">
            <a:extLst>
              <a:ext uri="{FF2B5EF4-FFF2-40B4-BE49-F238E27FC236}">
                <a16:creationId xmlns:a16="http://schemas.microsoft.com/office/drawing/2014/main" id="{083A565E-492B-49A0-9924-CD3132AFDC4D}"/>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63B9EE6C-DDCC-095B-B112-B4E2CA62D63D}"/>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8B43365B-251F-BF72-0929-40A89710A31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1F80DEFA-D9F5-8D83-6BAE-7F5917289F6C}"/>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26B9E1D6-DA6D-8B48-340A-52F00AE2069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9906ACE0-C04E-AD30-88B1-7B78367009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F51F3583-73A4-A2EE-D174-F21241B2A32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5BE8464B-B597-54EB-4F18-3875BAFDF96C}"/>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421791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F84AF937-96FA-5D12-2E85-D0B142D1FE87}"/>
              </a:ext>
            </a:extLst>
          </p:cNvPr>
          <p:cNvGraphicFramePr>
            <a:graphicFrameLocks noChangeAspect="1"/>
          </p:cNvGraphicFramePr>
          <p:nvPr>
            <p:extLst>
              <p:ext uri="{D42A27DB-BD31-4B8C-83A1-F6EECF244321}">
                <p14:modId xmlns:p14="http://schemas.microsoft.com/office/powerpoint/2010/main" val="278229673"/>
              </p:ext>
            </p:extLst>
          </p:nvPr>
        </p:nvGraphicFramePr>
        <p:xfrm>
          <a:off x="2287588" y="603250"/>
          <a:ext cx="7616825" cy="5780088"/>
        </p:xfrm>
        <a:graphic>
          <a:graphicData uri="http://schemas.openxmlformats.org/presentationml/2006/ole">
            <mc:AlternateContent xmlns:mc="http://schemas.openxmlformats.org/markup-compatibility/2006">
              <mc:Choice xmlns:v="urn:schemas-microsoft-com:vml" Requires="v">
                <p:oleObj name="Worksheet" r:id="rId2" imgW="8258089" imgH="6267416" progId="Excel.Sheet.12">
                  <p:embed/>
                </p:oleObj>
              </mc:Choice>
              <mc:Fallback>
                <p:oleObj name="Worksheet" r:id="rId2" imgW="8258089" imgH="6267416" progId="Excel.Sheet.12">
                  <p:embed/>
                  <p:pic>
                    <p:nvPicPr>
                      <p:cNvPr id="7" name="Object 6">
                        <a:extLst>
                          <a:ext uri="{FF2B5EF4-FFF2-40B4-BE49-F238E27FC236}">
                            <a16:creationId xmlns:a16="http://schemas.microsoft.com/office/drawing/2014/main" id="{F84AF937-96FA-5D12-2E85-D0B142D1FE87}"/>
                          </a:ext>
                        </a:extLst>
                      </p:cNvPr>
                      <p:cNvPicPr/>
                      <p:nvPr/>
                    </p:nvPicPr>
                    <p:blipFill>
                      <a:blip r:embed="rId3"/>
                      <a:stretch>
                        <a:fillRect/>
                      </a:stretch>
                    </p:blipFill>
                    <p:spPr>
                      <a:xfrm>
                        <a:off x="2287588" y="603250"/>
                        <a:ext cx="7616825" cy="5780088"/>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0EF6A7D5-3897-8EAC-0DA8-CD64BBE1116A}"/>
              </a:ext>
            </a:extLst>
          </p:cNvPr>
          <p:cNvGrpSpPr/>
          <p:nvPr/>
        </p:nvGrpSpPr>
        <p:grpSpPr>
          <a:xfrm>
            <a:off x="838200" y="297639"/>
            <a:ext cx="4561953" cy="307138"/>
            <a:chOff x="838200" y="297639"/>
            <a:chExt cx="4561953" cy="307138"/>
          </a:xfrm>
        </p:grpSpPr>
        <p:grpSp>
          <p:nvGrpSpPr>
            <p:cNvPr id="3" name="Group 2">
              <a:extLst>
                <a:ext uri="{FF2B5EF4-FFF2-40B4-BE49-F238E27FC236}">
                  <a16:creationId xmlns:a16="http://schemas.microsoft.com/office/drawing/2014/main" id="{4D9C7BD4-4870-FA40-E61B-57A74B543535}"/>
                </a:ext>
              </a:extLst>
            </p:cNvPr>
            <p:cNvGrpSpPr/>
            <p:nvPr/>
          </p:nvGrpSpPr>
          <p:grpSpPr>
            <a:xfrm>
              <a:off x="838200" y="297639"/>
              <a:ext cx="1373842" cy="290657"/>
              <a:chOff x="838200" y="297639"/>
              <a:chExt cx="1373842" cy="290657"/>
            </a:xfrm>
          </p:grpSpPr>
          <p:sp>
            <p:nvSpPr>
              <p:cNvPr id="5" name="AutoShape 9">
                <a:extLst>
                  <a:ext uri="{FF2B5EF4-FFF2-40B4-BE49-F238E27FC236}">
                    <a16:creationId xmlns:a16="http://schemas.microsoft.com/office/drawing/2014/main" id="{7D4824F8-A491-41AE-90CA-B74506323F4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7CD197CD-79C4-E8D4-3D89-9DD3E03D9C0C}"/>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A0FA6F63-1E56-EB51-8B99-BC8E5127AA2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D8323531-7CDE-1579-D979-42B434B43D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E0C83D92-6D94-69E2-EF47-CFE61BBF37B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D9C8E9D9-860C-FDF5-56FF-AC46AB3FC18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1696684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F84AF937-96FA-5D12-2E85-D0B142D1FE87}"/>
              </a:ext>
            </a:extLst>
          </p:cNvPr>
          <p:cNvGraphicFramePr>
            <a:graphicFrameLocks noChangeAspect="1"/>
          </p:cNvGraphicFramePr>
          <p:nvPr>
            <p:extLst>
              <p:ext uri="{D42A27DB-BD31-4B8C-83A1-F6EECF244321}">
                <p14:modId xmlns:p14="http://schemas.microsoft.com/office/powerpoint/2010/main" val="1216957229"/>
              </p:ext>
            </p:extLst>
          </p:nvPr>
        </p:nvGraphicFramePr>
        <p:xfrm>
          <a:off x="2052638" y="646113"/>
          <a:ext cx="7540625" cy="5578475"/>
        </p:xfrm>
        <a:graphic>
          <a:graphicData uri="http://schemas.openxmlformats.org/presentationml/2006/ole">
            <mc:AlternateContent xmlns:mc="http://schemas.openxmlformats.org/markup-compatibility/2006">
              <mc:Choice xmlns:v="urn:schemas-microsoft-com:vml" Requires="v">
                <p:oleObj name="Worksheet" r:id="rId2" imgW="8258089" imgH="6267416" progId="Excel.Sheet.12">
                  <p:embed/>
                </p:oleObj>
              </mc:Choice>
              <mc:Fallback>
                <p:oleObj name="Worksheet" r:id="rId2" imgW="8258089" imgH="6267416" progId="Excel.Sheet.12">
                  <p:embed/>
                  <p:pic>
                    <p:nvPicPr>
                      <p:cNvPr id="7" name="Object 6">
                        <a:extLst>
                          <a:ext uri="{FF2B5EF4-FFF2-40B4-BE49-F238E27FC236}">
                            <a16:creationId xmlns:a16="http://schemas.microsoft.com/office/drawing/2014/main" id="{F84AF937-96FA-5D12-2E85-D0B142D1FE87}"/>
                          </a:ext>
                        </a:extLst>
                      </p:cNvPr>
                      <p:cNvPicPr/>
                      <p:nvPr/>
                    </p:nvPicPr>
                    <p:blipFill>
                      <a:blip r:embed="rId3"/>
                      <a:stretch>
                        <a:fillRect/>
                      </a:stretch>
                    </p:blipFill>
                    <p:spPr>
                      <a:xfrm>
                        <a:off x="2052638" y="646113"/>
                        <a:ext cx="7540625" cy="5578475"/>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A14955DF-C34E-1648-A770-05D3B57F5338}"/>
              </a:ext>
            </a:extLst>
          </p:cNvPr>
          <p:cNvGrpSpPr/>
          <p:nvPr/>
        </p:nvGrpSpPr>
        <p:grpSpPr>
          <a:xfrm>
            <a:off x="838200" y="297639"/>
            <a:ext cx="4561953" cy="307138"/>
            <a:chOff x="838200" y="297639"/>
            <a:chExt cx="4561953" cy="307138"/>
          </a:xfrm>
        </p:grpSpPr>
        <p:grpSp>
          <p:nvGrpSpPr>
            <p:cNvPr id="3" name="Group 2">
              <a:extLst>
                <a:ext uri="{FF2B5EF4-FFF2-40B4-BE49-F238E27FC236}">
                  <a16:creationId xmlns:a16="http://schemas.microsoft.com/office/drawing/2014/main" id="{AC791874-2959-2A35-F5BF-46325C8FC81F}"/>
                </a:ext>
              </a:extLst>
            </p:cNvPr>
            <p:cNvGrpSpPr/>
            <p:nvPr/>
          </p:nvGrpSpPr>
          <p:grpSpPr>
            <a:xfrm>
              <a:off x="838200" y="297639"/>
              <a:ext cx="1373842" cy="290657"/>
              <a:chOff x="838200" y="297639"/>
              <a:chExt cx="1373842" cy="290657"/>
            </a:xfrm>
          </p:grpSpPr>
          <p:sp>
            <p:nvSpPr>
              <p:cNvPr id="5" name="AutoShape 9">
                <a:extLst>
                  <a:ext uri="{FF2B5EF4-FFF2-40B4-BE49-F238E27FC236}">
                    <a16:creationId xmlns:a16="http://schemas.microsoft.com/office/drawing/2014/main" id="{457355EB-AEAA-442E-6C96-5177C72E05F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6559EBFC-6054-35A0-F034-5B7643D3A1BD}"/>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748501E0-340D-ABEA-97BF-1953A055761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9A4962A0-3585-C8FE-B076-A34B69640EC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4A6CF27B-B94B-B3D6-FBD6-EC7340AD670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54F2364B-BDA4-4134-1DE1-46A0A8CA6DD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7654955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35" name="Group 34">
            <a:extLst>
              <a:ext uri="{FF2B5EF4-FFF2-40B4-BE49-F238E27FC236}">
                <a16:creationId xmlns:a16="http://schemas.microsoft.com/office/drawing/2014/main" id="{864B325F-87B0-856E-CCAD-3BAD53BCF41D}"/>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6" name="Group 65">
            <a:extLst>
              <a:ext uri="{FF2B5EF4-FFF2-40B4-BE49-F238E27FC236}">
                <a16:creationId xmlns:a16="http://schemas.microsoft.com/office/drawing/2014/main" id="{42BCD85E-BF0D-567D-0407-4F5E90FB5267}"/>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rgbClr val="81100A"/>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4079612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7. Identify Customer-Supplier Relationships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 outline of all parties involved upstream and downstream of the problem.</a:t>
            </a:r>
          </a:p>
          <a:p>
            <a:pPr marL="285750" indent="-285750">
              <a:buFont typeface="Arial" panose="020B0604020202020204" pitchFamily="34" charset="0"/>
              <a:buChar char="•"/>
            </a:pPr>
            <a:r>
              <a:rPr lang="en-US" dirty="0"/>
              <a:t>Customers: those affected by the problem.</a:t>
            </a:r>
          </a:p>
          <a:p>
            <a:pPr marL="285750" indent="-285750">
              <a:buFont typeface="Arial" panose="020B0604020202020204" pitchFamily="34" charset="0"/>
              <a:buChar char="•"/>
            </a:pPr>
            <a:r>
              <a:rPr lang="en-US" dirty="0"/>
              <a:t>Suppliers: those who provide inputs into the process.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understand how the flow of information, materials, and services contributes to the problem and to foster collaboration.</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Customers:</a:t>
            </a:r>
          </a:p>
          <a:p>
            <a:pPr marL="742950" lvl="1" indent="-285750">
              <a:buFont typeface="Arial" panose="020B0604020202020204" pitchFamily="34" charset="0"/>
              <a:buChar char="•"/>
            </a:pPr>
            <a:r>
              <a:rPr lang="en-US" dirty="0"/>
              <a:t>External customers: clients.</a:t>
            </a:r>
          </a:p>
          <a:p>
            <a:pPr marL="742950" lvl="1" indent="-285750">
              <a:buFont typeface="Arial" panose="020B0604020202020204" pitchFamily="34" charset="0"/>
              <a:buChar char="•"/>
            </a:pPr>
            <a:r>
              <a:rPr lang="en-US" dirty="0"/>
              <a:t>Internal customers: the next process.</a:t>
            </a:r>
          </a:p>
          <a:p>
            <a:pPr marL="285750" indent="-285750">
              <a:buFont typeface="Arial" panose="020B0604020202020204" pitchFamily="34" charset="0"/>
              <a:buChar char="•"/>
            </a:pPr>
            <a:r>
              <a:rPr lang="en-US" dirty="0"/>
              <a:t>Suppliers: </a:t>
            </a:r>
          </a:p>
          <a:p>
            <a:pPr marL="742950" lvl="1" indent="-285750">
              <a:buFont typeface="Arial" panose="020B0604020202020204" pitchFamily="34" charset="0"/>
              <a:buChar char="•"/>
            </a:pPr>
            <a:r>
              <a:rPr lang="en-US" dirty="0"/>
              <a:t>External suppliers: raw material suppliers.</a:t>
            </a:r>
          </a:p>
          <a:p>
            <a:pPr marL="742950" lvl="1" indent="-285750">
              <a:buFont typeface="Arial" panose="020B0604020202020204" pitchFamily="34" charset="0"/>
              <a:buChar char="•"/>
            </a:pPr>
            <a:r>
              <a:rPr lang="en-US" dirty="0"/>
              <a:t>Internal suppliers: IT team.</a:t>
            </a:r>
          </a:p>
        </p:txBody>
      </p:sp>
      <p:grpSp>
        <p:nvGrpSpPr>
          <p:cNvPr id="5" name="Group 4">
            <a:extLst>
              <a:ext uri="{FF2B5EF4-FFF2-40B4-BE49-F238E27FC236}">
                <a16:creationId xmlns:a16="http://schemas.microsoft.com/office/drawing/2014/main" id="{AD1883A4-43FF-151B-DEB2-773D36C592F7}"/>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F03F3481-08D7-D76A-3432-BB5B2D1A5833}"/>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05C7C46C-0897-70A0-0C8F-B8CB125EF3F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7BFD1561-5165-19A2-1AD4-99E0AB5BD053}"/>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6B587062-C76E-C74A-0E0F-7F3F6F496D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94EA1C31-3EC6-5677-C799-9AB8D8BA79B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5568CC14-1A40-7443-17D7-618B653BDA9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291A0C6D-1174-A5EF-6ED6-80AE5DD6491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512907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570F-0BB4-2F92-BC49-45050E627CB7}"/>
              </a:ext>
            </a:extLst>
          </p:cNvPr>
          <p:cNvSpPr>
            <a:spLocks noGrp="1"/>
          </p:cNvSpPr>
          <p:nvPr>
            <p:ph type="title"/>
          </p:nvPr>
        </p:nvSpPr>
        <p:spPr/>
        <p:txBody>
          <a:bodyPr/>
          <a:lstStyle/>
          <a:p>
            <a:r>
              <a:rPr lang="en-US" dirty="0"/>
              <a:t>Customer-Supplier Relationships</a:t>
            </a:r>
          </a:p>
        </p:txBody>
      </p:sp>
      <p:sp>
        <p:nvSpPr>
          <p:cNvPr id="3" name="Rectangle 2">
            <a:extLst>
              <a:ext uri="{FF2B5EF4-FFF2-40B4-BE49-F238E27FC236}">
                <a16:creationId xmlns:a16="http://schemas.microsoft.com/office/drawing/2014/main" id="{63D8B520-AC3D-4DAC-7B8F-8A956D419A51}"/>
              </a:ext>
            </a:extLst>
          </p:cNvPr>
          <p:cNvSpPr/>
          <p:nvPr/>
        </p:nvSpPr>
        <p:spPr>
          <a:xfrm>
            <a:off x="838200" y="2666133"/>
            <a:ext cx="2213264" cy="1750868"/>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dirty="0"/>
              <a:t>Supplier:</a:t>
            </a:r>
          </a:p>
          <a:p>
            <a:pPr algn="ctr"/>
            <a:endParaRPr lang="en-US" dirty="0"/>
          </a:p>
          <a:p>
            <a:pPr algn="ctr"/>
            <a:r>
              <a:rPr lang="en-US" dirty="0"/>
              <a:t>Rusted steel</a:t>
            </a:r>
          </a:p>
        </p:txBody>
      </p:sp>
      <p:cxnSp>
        <p:nvCxnSpPr>
          <p:cNvPr id="5" name="Straight Arrow Connector 4">
            <a:extLst>
              <a:ext uri="{FF2B5EF4-FFF2-40B4-BE49-F238E27FC236}">
                <a16:creationId xmlns:a16="http://schemas.microsoft.com/office/drawing/2014/main" id="{65AB46A3-4872-DE30-056A-B646DE41D749}"/>
              </a:ext>
            </a:extLst>
          </p:cNvPr>
          <p:cNvCxnSpPr>
            <a:cxnSpLocks/>
            <a:stCxn id="3" idx="3"/>
            <a:endCxn id="6" idx="1"/>
          </p:cNvCxnSpPr>
          <p:nvPr/>
        </p:nvCxnSpPr>
        <p:spPr>
          <a:xfrm>
            <a:off x="3051464" y="3541567"/>
            <a:ext cx="19379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2EEE51E-AC6E-63F7-2184-0D516D14A14D}"/>
              </a:ext>
            </a:extLst>
          </p:cNvPr>
          <p:cNvSpPr/>
          <p:nvPr/>
        </p:nvSpPr>
        <p:spPr>
          <a:xfrm>
            <a:off x="4989368" y="2666133"/>
            <a:ext cx="2213264" cy="1750868"/>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dirty="0"/>
              <a:t>Business:</a:t>
            </a:r>
          </a:p>
          <a:p>
            <a:pPr algn="ctr"/>
            <a:endParaRPr lang="en-US" dirty="0"/>
          </a:p>
          <a:p>
            <a:pPr algn="ctr"/>
            <a:r>
              <a:rPr lang="en-US" dirty="0"/>
              <a:t>Uses rusted steel in product</a:t>
            </a:r>
          </a:p>
        </p:txBody>
      </p:sp>
      <p:sp>
        <p:nvSpPr>
          <p:cNvPr id="8" name="Rectangle 7">
            <a:extLst>
              <a:ext uri="{FF2B5EF4-FFF2-40B4-BE49-F238E27FC236}">
                <a16:creationId xmlns:a16="http://schemas.microsoft.com/office/drawing/2014/main" id="{3064556F-E008-6A3A-0C5A-ADD2C42C0FFB}"/>
              </a:ext>
            </a:extLst>
          </p:cNvPr>
          <p:cNvSpPr/>
          <p:nvPr/>
        </p:nvSpPr>
        <p:spPr>
          <a:xfrm>
            <a:off x="9140536" y="2666133"/>
            <a:ext cx="2213264" cy="1750868"/>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a:t>Customer:</a:t>
            </a:r>
          </a:p>
          <a:p>
            <a:pPr algn="ctr"/>
            <a:endParaRPr lang="en-US" dirty="0"/>
          </a:p>
          <a:p>
            <a:pPr algn="ctr"/>
            <a:r>
              <a:rPr lang="en-US" dirty="0"/>
              <a:t>Complains about product quality</a:t>
            </a:r>
          </a:p>
        </p:txBody>
      </p:sp>
      <p:cxnSp>
        <p:nvCxnSpPr>
          <p:cNvPr id="9" name="Straight Arrow Connector 8">
            <a:extLst>
              <a:ext uri="{FF2B5EF4-FFF2-40B4-BE49-F238E27FC236}">
                <a16:creationId xmlns:a16="http://schemas.microsoft.com/office/drawing/2014/main" id="{F8D570B9-D49E-F0C6-D27C-B3D20D1DCA7D}"/>
              </a:ext>
            </a:extLst>
          </p:cNvPr>
          <p:cNvCxnSpPr>
            <a:cxnSpLocks/>
            <a:stCxn id="6" idx="3"/>
            <a:endCxn id="8" idx="1"/>
          </p:cNvCxnSpPr>
          <p:nvPr/>
        </p:nvCxnSpPr>
        <p:spPr>
          <a:xfrm>
            <a:off x="7202632" y="3541567"/>
            <a:ext cx="193790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BCD2CFC-7557-4A75-5C11-E989F7E18D58}"/>
              </a:ext>
            </a:extLst>
          </p:cNvPr>
          <p:cNvSpPr txBox="1"/>
          <p:nvPr/>
        </p:nvSpPr>
        <p:spPr>
          <a:xfrm>
            <a:off x="1032563" y="5392446"/>
            <a:ext cx="1824538" cy="369332"/>
          </a:xfrm>
          <a:prstGeom prst="rect">
            <a:avLst/>
          </a:prstGeom>
          <a:noFill/>
        </p:spPr>
        <p:txBody>
          <a:bodyPr wrap="none" rtlCol="0">
            <a:spAutoFit/>
          </a:bodyPr>
          <a:lstStyle/>
          <a:p>
            <a:r>
              <a:rPr lang="en-US" dirty="0"/>
              <a:t>Problem Source</a:t>
            </a:r>
          </a:p>
        </p:txBody>
      </p:sp>
      <p:sp>
        <p:nvSpPr>
          <p:cNvPr id="18" name="TextBox 17">
            <a:extLst>
              <a:ext uri="{FF2B5EF4-FFF2-40B4-BE49-F238E27FC236}">
                <a16:creationId xmlns:a16="http://schemas.microsoft.com/office/drawing/2014/main" id="{BD81B0E1-32A2-5DB9-1A0F-3462FC3B02A3}"/>
              </a:ext>
            </a:extLst>
          </p:cNvPr>
          <p:cNvSpPr txBox="1"/>
          <p:nvPr/>
        </p:nvSpPr>
        <p:spPr>
          <a:xfrm>
            <a:off x="9212269" y="5392446"/>
            <a:ext cx="2069797" cy="369332"/>
          </a:xfrm>
          <a:prstGeom prst="rect">
            <a:avLst/>
          </a:prstGeom>
          <a:noFill/>
        </p:spPr>
        <p:txBody>
          <a:bodyPr wrap="none" rtlCol="0">
            <a:spAutoFit/>
          </a:bodyPr>
          <a:lstStyle/>
          <a:p>
            <a:r>
              <a:rPr lang="en-US" dirty="0"/>
              <a:t>Problem Identified</a:t>
            </a:r>
          </a:p>
        </p:txBody>
      </p:sp>
      <p:cxnSp>
        <p:nvCxnSpPr>
          <p:cNvPr id="19" name="Straight Arrow Connector 18">
            <a:extLst>
              <a:ext uri="{FF2B5EF4-FFF2-40B4-BE49-F238E27FC236}">
                <a16:creationId xmlns:a16="http://schemas.microsoft.com/office/drawing/2014/main" id="{50FCC1D8-A316-90F3-A395-85BA031E73A7}"/>
              </a:ext>
            </a:extLst>
          </p:cNvPr>
          <p:cNvCxnSpPr>
            <a:cxnSpLocks/>
            <a:stCxn id="17" idx="0"/>
            <a:endCxn id="3" idx="2"/>
          </p:cNvCxnSpPr>
          <p:nvPr/>
        </p:nvCxnSpPr>
        <p:spPr>
          <a:xfrm flipV="1">
            <a:off x="1944832" y="4417001"/>
            <a:ext cx="0" cy="975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A15CA5A-11B0-A633-DB14-A766972BD99D}"/>
              </a:ext>
            </a:extLst>
          </p:cNvPr>
          <p:cNvCxnSpPr>
            <a:cxnSpLocks/>
            <a:stCxn id="18" idx="0"/>
            <a:endCxn id="8" idx="2"/>
          </p:cNvCxnSpPr>
          <p:nvPr/>
        </p:nvCxnSpPr>
        <p:spPr>
          <a:xfrm flipV="1">
            <a:off x="10247168" y="4417001"/>
            <a:ext cx="0" cy="97544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A7BA8E8-48A3-2E39-73FB-77DB07B9B4B1}"/>
              </a:ext>
            </a:extLst>
          </p:cNvPr>
          <p:cNvGrpSpPr/>
          <p:nvPr/>
        </p:nvGrpSpPr>
        <p:grpSpPr>
          <a:xfrm>
            <a:off x="838200" y="297639"/>
            <a:ext cx="4561953" cy="307138"/>
            <a:chOff x="838200" y="297639"/>
            <a:chExt cx="4561953" cy="307138"/>
          </a:xfrm>
        </p:grpSpPr>
        <p:grpSp>
          <p:nvGrpSpPr>
            <p:cNvPr id="7" name="Group 6">
              <a:extLst>
                <a:ext uri="{FF2B5EF4-FFF2-40B4-BE49-F238E27FC236}">
                  <a16:creationId xmlns:a16="http://schemas.microsoft.com/office/drawing/2014/main" id="{155E1A71-3459-687F-FBB7-C0CA8AD7EF10}"/>
                </a:ext>
              </a:extLst>
            </p:cNvPr>
            <p:cNvGrpSpPr/>
            <p:nvPr/>
          </p:nvGrpSpPr>
          <p:grpSpPr>
            <a:xfrm>
              <a:off x="838200" y="297639"/>
              <a:ext cx="1373842" cy="290657"/>
              <a:chOff x="838200" y="297639"/>
              <a:chExt cx="1373842" cy="290657"/>
            </a:xfrm>
          </p:grpSpPr>
          <p:sp>
            <p:nvSpPr>
              <p:cNvPr id="11" name="AutoShape 9">
                <a:extLst>
                  <a:ext uri="{FF2B5EF4-FFF2-40B4-BE49-F238E27FC236}">
                    <a16:creationId xmlns:a16="http://schemas.microsoft.com/office/drawing/2014/main" id="{DFF4FC25-8FBC-AFD8-5B1D-D9424103CF1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28268BA3-90D7-B90E-2A1E-451855CB9E9B}"/>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88F408BE-C668-1498-1E34-97F869F6BA4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1">
                  <a:extLst>
                    <a:ext uri="{FF2B5EF4-FFF2-40B4-BE49-F238E27FC236}">
                      <a16:creationId xmlns:a16="http://schemas.microsoft.com/office/drawing/2014/main" id="{0E7386F4-88C3-2FB5-6A44-FFE1E054A8E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0">
                  <a:extLst>
                    <a:ext uri="{FF2B5EF4-FFF2-40B4-BE49-F238E27FC236}">
                      <a16:creationId xmlns:a16="http://schemas.microsoft.com/office/drawing/2014/main" id="{14728B81-732B-4654-4A92-2BD607E0850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DD4AF71B-2AA2-09EB-CA60-47E2565397F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334109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65" name="Group 64">
            <a:extLst>
              <a:ext uri="{FF2B5EF4-FFF2-40B4-BE49-F238E27FC236}">
                <a16:creationId xmlns:a16="http://schemas.microsoft.com/office/drawing/2014/main" id="{DC6D13EB-070A-61A3-733D-A0DCAD54FFDC}"/>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7" name="Group 66">
            <a:extLst>
              <a:ext uri="{FF2B5EF4-FFF2-40B4-BE49-F238E27FC236}">
                <a16:creationId xmlns:a16="http://schemas.microsoft.com/office/drawing/2014/main" id="{1FEA1FE2-EB76-4B57-56F0-43886ED6333D}"/>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5" name="Group 54">
            <a:extLst>
              <a:ext uri="{FF2B5EF4-FFF2-40B4-BE49-F238E27FC236}">
                <a16:creationId xmlns:a16="http://schemas.microsoft.com/office/drawing/2014/main" id="{A57B99FF-BB75-D398-E6B5-B468EF82CE59}"/>
              </a:ext>
            </a:extLst>
          </p:cNvPr>
          <p:cNvGrpSpPr/>
          <p:nvPr/>
        </p:nvGrpSpPr>
        <p:grpSpPr>
          <a:xfrm>
            <a:off x="3147360" y="4889408"/>
            <a:ext cx="2057400" cy="777240"/>
            <a:chOff x="3147360" y="4889408"/>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47360" y="4889408"/>
              <a:ext cx="2057400" cy="777240"/>
            </a:xfrm>
            <a:prstGeom prst="rect">
              <a:avLst/>
            </a:prstGeom>
            <a:solidFill>
              <a:schemeClr val="accent6"/>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47360"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129" name="Group 128">
            <a:extLst>
              <a:ext uri="{FF2B5EF4-FFF2-40B4-BE49-F238E27FC236}">
                <a16:creationId xmlns:a16="http://schemas.microsoft.com/office/drawing/2014/main" id="{145EC3D0-58C9-646E-21A0-E9045C2B56F0}"/>
              </a:ext>
            </a:extLst>
          </p:cNvPr>
          <p:cNvGrpSpPr/>
          <p:nvPr/>
        </p:nvGrpSpPr>
        <p:grpSpPr>
          <a:xfrm>
            <a:off x="5762700" y="1389829"/>
            <a:ext cx="2057400" cy="777240"/>
            <a:chOff x="4979747" y="3543443"/>
            <a:chExt cx="1700011" cy="540912"/>
          </a:xfrm>
        </p:grpSpPr>
        <p:sp>
          <p:nvSpPr>
            <p:cNvPr id="31" name="Rectangle 30">
              <a:extLst>
                <a:ext uri="{FF2B5EF4-FFF2-40B4-BE49-F238E27FC236}">
                  <a16:creationId xmlns:a16="http://schemas.microsoft.com/office/drawing/2014/main" id="{EC285C04-1F81-D9B6-AA90-A217F0ED25D5}"/>
                </a:ext>
              </a:extLst>
            </p:cNvPr>
            <p:cNvSpPr/>
            <p:nvPr/>
          </p:nvSpPr>
          <p:spPr>
            <a:xfrm>
              <a:off x="4979747" y="3543443"/>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4979747" y="3543443"/>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32" name="Group 31">
            <a:extLst>
              <a:ext uri="{FF2B5EF4-FFF2-40B4-BE49-F238E27FC236}">
                <a16:creationId xmlns:a16="http://schemas.microsoft.com/office/drawing/2014/main" id="{D7F1359C-D8E5-78A0-56C3-5D4E7704D350}"/>
              </a:ext>
            </a:extLst>
          </p:cNvPr>
          <p:cNvGrpSpPr/>
          <p:nvPr/>
        </p:nvGrpSpPr>
        <p:grpSpPr>
          <a:xfrm>
            <a:off x="5762700" y="4889408"/>
            <a:ext cx="2057400" cy="775482"/>
            <a:chOff x="5762700" y="4889408"/>
            <a:chExt cx="2057400" cy="775482"/>
          </a:xfrm>
        </p:grpSpPr>
        <p:sp>
          <p:nvSpPr>
            <p:cNvPr id="38" name="Rectangle 37">
              <a:extLst>
                <a:ext uri="{FF2B5EF4-FFF2-40B4-BE49-F238E27FC236}">
                  <a16:creationId xmlns:a16="http://schemas.microsoft.com/office/drawing/2014/main" id="{3B1B3B23-6423-38D9-294A-797D3069E87F}"/>
                </a:ext>
              </a:extLst>
            </p:cNvPr>
            <p:cNvSpPr/>
            <p:nvPr/>
          </p:nvSpPr>
          <p:spPr>
            <a:xfrm>
              <a:off x="5762700" y="4889408"/>
              <a:ext cx="2057400" cy="77548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5762700" y="4889408"/>
              <a:ext cx="356617" cy="2285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15932221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8. Temporary Countermeasures (If Needed)</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Immediate actions that are taken to stabilize the situation temporarily while seeking a permanent solution.</a:t>
            </a:r>
          </a:p>
          <a:p>
            <a:pPr marL="285750" indent="-285750">
              <a:buFont typeface="Arial" panose="020B0604020202020204" pitchFamily="34" charset="0"/>
              <a:buChar char="•"/>
            </a:pPr>
            <a:r>
              <a:rPr lang="en-US" dirty="0"/>
              <a:t>“Stop the bleeding”</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provide an immediate response to prevent further impact of the problem while a permanent solution is being developed.</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Introducing additional quality checks to catch defects until the root cause is discovered and countermeasures are in place.</a:t>
            </a:r>
          </a:p>
          <a:p>
            <a:pPr marL="285750" indent="-285750">
              <a:buFont typeface="Arial" panose="020B0604020202020204" pitchFamily="34" charset="0"/>
              <a:buChar char="•"/>
            </a:pPr>
            <a:r>
              <a:rPr lang="en-US" dirty="0"/>
              <a:t>Employing manual record-keeping as a backup until the new IT system is fully operational.</a:t>
            </a:r>
          </a:p>
        </p:txBody>
      </p:sp>
      <p:grpSp>
        <p:nvGrpSpPr>
          <p:cNvPr id="5" name="Group 4">
            <a:extLst>
              <a:ext uri="{FF2B5EF4-FFF2-40B4-BE49-F238E27FC236}">
                <a16:creationId xmlns:a16="http://schemas.microsoft.com/office/drawing/2014/main" id="{0AD7FC4B-31E4-47E9-AAF3-CF4E5FDA335B}"/>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9F7EFE53-EB29-8707-2D65-3E24BA8B8E38}"/>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4B9B5AFF-4C03-BFFE-BB00-34234698301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0B74CF92-B9CF-9314-9AA5-1CA98F6C2425}"/>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93C2A5E6-E708-DE5C-65FC-5B57A82A035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23403BBD-DE55-73C7-BA41-EA6CB358478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935616F0-29B4-3B48-C833-F9EDE7C79E9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8BA3E4F-476F-E8C1-9F02-B06466E4731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1222801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fontScale="90000"/>
          </a:bodyPr>
          <a:lstStyle/>
          <a:p>
            <a:r>
              <a:rPr lang="en-US" sz="4000" dirty="0">
                <a:latin typeface="Roboto Medium"/>
                <a:ea typeface="Roboto Medium"/>
                <a:cs typeface="Roboto Medium"/>
              </a:rPr>
              <a:t>Exercise: Develop Temporary Countermeasure(s)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information provided, develop temporary countermeasure(s).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Utilize the information on the problem-solving countermeasure form to develop temporary countermeasure(s).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98034"/>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Temporary countermeasures.</a:t>
            </a:r>
          </a:p>
        </p:txBody>
      </p:sp>
      <p:grpSp>
        <p:nvGrpSpPr>
          <p:cNvPr id="3" name="Group 2">
            <a:extLst>
              <a:ext uri="{FF2B5EF4-FFF2-40B4-BE49-F238E27FC236}">
                <a16:creationId xmlns:a16="http://schemas.microsoft.com/office/drawing/2014/main" id="{C11EE17B-C3C3-1090-EE28-48738DBE8E65}"/>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1CD7EE44-FDD1-B2D1-B121-6A17F7348E62}"/>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56416B02-4421-3D3D-807B-B8B27EE1E8B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7E7C9997-DB63-0551-4FFB-8F22106E1C5D}"/>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2058A1F9-E732-044E-E6E7-56126A8D4E5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150B29FF-97E4-7B97-F411-3042EC2FCBF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EBC3ADF2-52EA-CE6A-F1A5-92EB94835FF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C753ACCC-95B3-9DC3-79A6-D3192241F1F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1108090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640C4017-6E8A-DE81-D47A-1E159BC7764D}"/>
              </a:ext>
            </a:extLst>
          </p:cNvPr>
          <p:cNvGraphicFramePr>
            <a:graphicFrameLocks noChangeAspect="1"/>
          </p:cNvGraphicFramePr>
          <p:nvPr>
            <p:extLst>
              <p:ext uri="{D42A27DB-BD31-4B8C-83A1-F6EECF244321}">
                <p14:modId xmlns:p14="http://schemas.microsoft.com/office/powerpoint/2010/main" val="3205619600"/>
              </p:ext>
            </p:extLst>
          </p:nvPr>
        </p:nvGraphicFramePr>
        <p:xfrm>
          <a:off x="2565270" y="646113"/>
          <a:ext cx="7061460" cy="5733905"/>
        </p:xfrm>
        <a:graphic>
          <a:graphicData uri="http://schemas.openxmlformats.org/presentationml/2006/ole">
            <mc:AlternateContent xmlns:mc="http://schemas.openxmlformats.org/markup-compatibility/2006">
              <mc:Choice xmlns:v="urn:schemas-microsoft-com:vml" Requires="v">
                <p:oleObj name="Worksheet" r:id="rId2" imgW="8258089" imgH="6705532" progId="Excel.Sheet.12">
                  <p:embed/>
                </p:oleObj>
              </mc:Choice>
              <mc:Fallback>
                <p:oleObj name="Worksheet" r:id="rId2" imgW="8258089" imgH="6705532" progId="Excel.Sheet.12">
                  <p:embed/>
                  <p:pic>
                    <p:nvPicPr>
                      <p:cNvPr id="2" name="Object 1">
                        <a:extLst>
                          <a:ext uri="{FF2B5EF4-FFF2-40B4-BE49-F238E27FC236}">
                            <a16:creationId xmlns:a16="http://schemas.microsoft.com/office/drawing/2014/main" id="{640C4017-6E8A-DE81-D47A-1E159BC7764D}"/>
                          </a:ext>
                        </a:extLst>
                      </p:cNvPr>
                      <p:cNvPicPr/>
                      <p:nvPr/>
                    </p:nvPicPr>
                    <p:blipFill>
                      <a:blip r:embed="rId3"/>
                      <a:stretch>
                        <a:fillRect/>
                      </a:stretch>
                    </p:blipFill>
                    <p:spPr>
                      <a:xfrm>
                        <a:off x="2565270" y="646113"/>
                        <a:ext cx="7061460" cy="5733905"/>
                      </a:xfrm>
                      <a:prstGeom prst="rect">
                        <a:avLst/>
                      </a:prstGeom>
                    </p:spPr>
                  </p:pic>
                </p:oleObj>
              </mc:Fallback>
            </mc:AlternateContent>
          </a:graphicData>
        </a:graphic>
      </p:graphicFrame>
      <p:grpSp>
        <p:nvGrpSpPr>
          <p:cNvPr id="3" name="Group 2">
            <a:extLst>
              <a:ext uri="{FF2B5EF4-FFF2-40B4-BE49-F238E27FC236}">
                <a16:creationId xmlns:a16="http://schemas.microsoft.com/office/drawing/2014/main" id="{4A2753C9-112B-F4E7-14E2-13784CCF0B2D}"/>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53F15B8D-69B9-6A99-880E-29C621D82BE9}"/>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A8E0954B-885D-CAD5-E3F2-526B2011841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D32A40D5-8887-E3A5-5A32-DAF8392107D0}"/>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EBAD2716-800B-E77A-2BA9-989509A116E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35184256-C4A0-A8F4-CCE4-3DBE3A87108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44F0CA92-0468-D1E2-DE4B-A1E419C7F5A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17CE6478-2BB6-533C-A255-C020C62B810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1058564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F84AF937-96FA-5D12-2E85-D0B142D1FE87}"/>
              </a:ext>
            </a:extLst>
          </p:cNvPr>
          <p:cNvGraphicFramePr>
            <a:graphicFrameLocks noChangeAspect="1"/>
          </p:cNvGraphicFramePr>
          <p:nvPr>
            <p:extLst>
              <p:ext uri="{D42A27DB-BD31-4B8C-83A1-F6EECF244321}">
                <p14:modId xmlns:p14="http://schemas.microsoft.com/office/powerpoint/2010/main" val="825504031"/>
              </p:ext>
            </p:extLst>
          </p:nvPr>
        </p:nvGraphicFramePr>
        <p:xfrm>
          <a:off x="2504209" y="583769"/>
          <a:ext cx="7362104" cy="5823036"/>
        </p:xfrm>
        <a:graphic>
          <a:graphicData uri="http://schemas.openxmlformats.org/presentationml/2006/ole">
            <mc:AlternateContent xmlns:mc="http://schemas.openxmlformats.org/markup-compatibility/2006">
              <mc:Choice xmlns:v="urn:schemas-microsoft-com:vml" Requires="v">
                <p:oleObj name="Worksheet" r:id="rId2" imgW="8258089" imgH="6534082" progId="Excel.Sheet.12">
                  <p:embed/>
                </p:oleObj>
              </mc:Choice>
              <mc:Fallback>
                <p:oleObj name="Worksheet" r:id="rId2" imgW="8258089" imgH="6534082" progId="Excel.Sheet.12">
                  <p:embed/>
                  <p:pic>
                    <p:nvPicPr>
                      <p:cNvPr id="7" name="Object 6">
                        <a:extLst>
                          <a:ext uri="{FF2B5EF4-FFF2-40B4-BE49-F238E27FC236}">
                            <a16:creationId xmlns:a16="http://schemas.microsoft.com/office/drawing/2014/main" id="{F84AF937-96FA-5D12-2E85-D0B142D1FE87}"/>
                          </a:ext>
                        </a:extLst>
                      </p:cNvPr>
                      <p:cNvPicPr/>
                      <p:nvPr/>
                    </p:nvPicPr>
                    <p:blipFill>
                      <a:blip r:embed="rId3"/>
                      <a:stretch>
                        <a:fillRect/>
                      </a:stretch>
                    </p:blipFill>
                    <p:spPr>
                      <a:xfrm>
                        <a:off x="2504209" y="583769"/>
                        <a:ext cx="7362104" cy="5823036"/>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4E903AA3-AD77-CF66-B953-E18D915D281C}"/>
              </a:ext>
            </a:extLst>
          </p:cNvPr>
          <p:cNvGrpSpPr/>
          <p:nvPr/>
        </p:nvGrpSpPr>
        <p:grpSpPr>
          <a:xfrm>
            <a:off x="838200" y="297639"/>
            <a:ext cx="4561953" cy="307138"/>
            <a:chOff x="838200" y="297639"/>
            <a:chExt cx="4561953" cy="307138"/>
          </a:xfrm>
        </p:grpSpPr>
        <p:grpSp>
          <p:nvGrpSpPr>
            <p:cNvPr id="3" name="Group 2">
              <a:extLst>
                <a:ext uri="{FF2B5EF4-FFF2-40B4-BE49-F238E27FC236}">
                  <a16:creationId xmlns:a16="http://schemas.microsoft.com/office/drawing/2014/main" id="{767375CF-B289-F89C-4DF0-171DA85C091D}"/>
                </a:ext>
              </a:extLst>
            </p:cNvPr>
            <p:cNvGrpSpPr/>
            <p:nvPr/>
          </p:nvGrpSpPr>
          <p:grpSpPr>
            <a:xfrm>
              <a:off x="838200" y="297639"/>
              <a:ext cx="1373842" cy="290657"/>
              <a:chOff x="838200" y="297639"/>
              <a:chExt cx="1373842" cy="290657"/>
            </a:xfrm>
          </p:grpSpPr>
          <p:sp>
            <p:nvSpPr>
              <p:cNvPr id="5" name="AutoShape 9">
                <a:extLst>
                  <a:ext uri="{FF2B5EF4-FFF2-40B4-BE49-F238E27FC236}">
                    <a16:creationId xmlns:a16="http://schemas.microsoft.com/office/drawing/2014/main" id="{34D001BA-C1E9-2057-F098-D7778BF2779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8EE1E7F1-9377-494E-382F-B4EFA7B138E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F7EDEDB6-46AD-E4C2-AF4A-7528C12C692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69A9DDC9-3A3C-5D79-1797-63EDBB086C5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803E94F4-A58E-899C-A44E-A5F173C478F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C884A1D3-7EAC-71EA-0313-411953FEE3B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2359199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32" name="Group 31">
            <a:extLst>
              <a:ext uri="{FF2B5EF4-FFF2-40B4-BE49-F238E27FC236}">
                <a16:creationId xmlns:a16="http://schemas.microsoft.com/office/drawing/2014/main" id="{088A217A-901D-6F02-3FD1-B51B2368FAC0}"/>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5" name="Group 64">
            <a:extLst>
              <a:ext uri="{FF2B5EF4-FFF2-40B4-BE49-F238E27FC236}">
                <a16:creationId xmlns:a16="http://schemas.microsoft.com/office/drawing/2014/main" id="{78A0C303-0D9A-FCF0-F8F2-39C5A14AB14A}"/>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rgbClr val="81100A"/>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130" name="Group 129">
            <a:extLst>
              <a:ext uri="{FF2B5EF4-FFF2-40B4-BE49-F238E27FC236}">
                <a16:creationId xmlns:a16="http://schemas.microsoft.com/office/drawing/2014/main" id="{D164B253-D1EA-637C-59C9-781A8C41CA76}"/>
              </a:ext>
            </a:extLst>
          </p:cNvPr>
          <p:cNvGrpSpPr/>
          <p:nvPr/>
        </p:nvGrpSpPr>
        <p:grpSpPr>
          <a:xfrm>
            <a:off x="5758860" y="2556216"/>
            <a:ext cx="2057400" cy="775484"/>
            <a:chOff x="8804439" y="3542942"/>
            <a:chExt cx="1700011" cy="540912"/>
          </a:xfrm>
        </p:grpSpPr>
        <p:sp>
          <p:nvSpPr>
            <p:cNvPr id="34" name="Rectangle 33">
              <a:extLst>
                <a:ext uri="{FF2B5EF4-FFF2-40B4-BE49-F238E27FC236}">
                  <a16:creationId xmlns:a16="http://schemas.microsoft.com/office/drawing/2014/main" id="{7923D2B3-161B-CC15-14D5-89CFE4525E03}"/>
                </a:ext>
              </a:extLst>
            </p:cNvPr>
            <p:cNvSpPr/>
            <p:nvPr/>
          </p:nvSpPr>
          <p:spPr>
            <a:xfrm>
              <a:off x="8804439" y="3542942"/>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7726599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9. Determine Root Causes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underlying factors that are contributing to the existence of the problem.</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dig deeper beyond symptoms to uncover the underlying reasons for the problem to prevent recurrence.</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1754326"/>
          </a:xfrm>
          <a:prstGeom prst="rect">
            <a:avLst/>
          </a:prstGeom>
          <a:noFill/>
        </p:spPr>
        <p:txBody>
          <a:bodyPr wrap="square" rtlCol="0">
            <a:spAutoFit/>
          </a:bodyPr>
          <a:lstStyle/>
          <a:p>
            <a:pPr marL="285750" indent="-285750">
              <a:buFont typeface="Arial" panose="020B0604020202020204" pitchFamily="34" charset="0"/>
              <a:buChar char="•"/>
            </a:pPr>
            <a:r>
              <a:rPr lang="en-US" dirty="0"/>
              <a:t>Applying the 5 Whys method to trace back the source of material defects to a vendor.</a:t>
            </a:r>
          </a:p>
          <a:p>
            <a:pPr marL="285750" indent="-285750">
              <a:buFont typeface="Arial" panose="020B0604020202020204" pitchFamily="34" charset="0"/>
              <a:buChar char="•"/>
            </a:pPr>
            <a:r>
              <a:rPr lang="en-US" dirty="0"/>
              <a:t>Root cause analysis reveals that inadequate training is leading to operator errors.</a:t>
            </a:r>
          </a:p>
        </p:txBody>
      </p:sp>
      <p:grpSp>
        <p:nvGrpSpPr>
          <p:cNvPr id="5" name="Group 4">
            <a:extLst>
              <a:ext uri="{FF2B5EF4-FFF2-40B4-BE49-F238E27FC236}">
                <a16:creationId xmlns:a16="http://schemas.microsoft.com/office/drawing/2014/main" id="{89B2DA35-C94B-6727-A981-36F8AE8CF624}"/>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4DD7AE56-F038-7EBC-2A69-38C8CB7DDFD4}"/>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26541DC3-484E-E4F5-9A4B-519FA4E5FD2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3905C781-FCAC-4639-E5AC-EE9A73D83842}"/>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D403F9E9-B8E0-DEE5-6AC2-4FAB2EAEAC8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EC861CA3-239D-CD20-7BB1-F776BCFFBBF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294E07E2-C8DD-0B77-AC94-48F9E1C49C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23FB1CF2-BEDE-9049-4D5E-CF382A27038D}"/>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667731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Importance of Root Cause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To solve a problem, you must first recognize and understand what is causing the problem.</a:t>
            </a:r>
          </a:p>
          <a:p>
            <a:r>
              <a:rPr lang="en-US" dirty="0"/>
              <a:t>A root cause is the most basic reason for an undesirable condition or problem.</a:t>
            </a:r>
          </a:p>
          <a:p>
            <a:pPr lvl="1"/>
            <a:r>
              <a:rPr lang="en-US" dirty="0"/>
              <a:t>If the real cause of the problem is not identified, then you are merely addressing the symptom, and the problem will continue to exist.</a:t>
            </a:r>
          </a:p>
          <a:p>
            <a:r>
              <a:rPr lang="en-US" dirty="0"/>
              <a:t>Root cause analysis is the process of identifying cause factors using a structured approach with techniques designed to provide a focus for identifying and resolving problems.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73</a:t>
            </a:fld>
            <a:endParaRPr lang="en-US"/>
          </a:p>
        </p:txBody>
      </p:sp>
      <p:grpSp>
        <p:nvGrpSpPr>
          <p:cNvPr id="14" name="Group 13">
            <a:extLst>
              <a:ext uri="{FF2B5EF4-FFF2-40B4-BE49-F238E27FC236}">
                <a16:creationId xmlns:a16="http://schemas.microsoft.com/office/drawing/2014/main" id="{D1DA65F4-C7F3-E806-2875-B2FDE988548B}"/>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BD4F6F74-5807-8049-6BD9-8E8584615235}"/>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F5169058-2EE9-3399-E3C2-724904AED0A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2885BA5D-11A0-B15F-77D9-5B84DDE751A0}"/>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C4EDF200-90C5-40AC-292C-201DC411DE8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D392DE44-22EC-43B0-A0F6-26D186840A9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ADD055D0-AC16-2886-B1F9-90403336CC4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E22B6857-4D37-5CD8-1F20-D8F14E39418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6501070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Example of Identifying Root Cause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The following is an example of how identifying the root cause of a problem is critical to ensuring that it does not return. It is also an example of how root causes are often linked to changes:</a:t>
            </a:r>
          </a:p>
          <a:p>
            <a:pPr lvl="1"/>
            <a:r>
              <a:rPr lang="en-US" dirty="0"/>
              <a:t>A large refrigerator manufacturer noticed scratches on the outer pre-painted panels of its products. The scratches were as long as 2-3 inches and down to the bare metal.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74</a:t>
            </a:fld>
            <a:endParaRPr lang="en-US"/>
          </a:p>
        </p:txBody>
      </p:sp>
      <p:grpSp>
        <p:nvGrpSpPr>
          <p:cNvPr id="14" name="Group 13">
            <a:extLst>
              <a:ext uri="{FF2B5EF4-FFF2-40B4-BE49-F238E27FC236}">
                <a16:creationId xmlns:a16="http://schemas.microsoft.com/office/drawing/2014/main" id="{6D121471-D5A4-4DA9-B3AB-FB9EA5ACE3DE}"/>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1F818E22-36DF-9D5D-243D-0B7E5C3EF360}"/>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E6D0ADE4-0A35-72D0-FF46-989605B2480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B7A1C346-E277-28B5-CB44-6A4AB24EF291}"/>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7161CDA7-69DD-21C6-A270-B1492D54C12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03ED16D5-5370-DE6A-F54B-25BD12E4EAC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461CE5A7-49F8-08E2-FE25-9471DC0E245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46C1BED6-3FEA-9735-8B9E-FB9C8B1D4645}"/>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405242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Example of Identifying Root Cause Analysis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a:xfrm>
            <a:off x="839788" y="1649990"/>
            <a:ext cx="5157787" cy="823912"/>
          </a:xfrm>
        </p:spPr>
        <p:txBody>
          <a:bodyPr/>
          <a:lstStyle/>
          <a:p>
            <a:r>
              <a:rPr lang="en-US" dirty="0"/>
              <a:t>Incomplete Problem-Solving Approach</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2473902"/>
            <a:ext cx="5157787" cy="3684588"/>
          </a:xfrm>
        </p:spPr>
        <p:txBody>
          <a:bodyPr>
            <a:noAutofit/>
          </a:bodyPr>
          <a:lstStyle/>
          <a:p>
            <a:r>
              <a:rPr lang="en-US" sz="1600" dirty="0"/>
              <a:t>The process of building the product required that the panels be injected with foam for insulation on large machines with steel fixtures. Because these fixtures were the only non-human objects in contact with the panels, when the problem initially developed, the fixtures were immediately considered the cause. </a:t>
            </a:r>
          </a:p>
          <a:p>
            <a:r>
              <a:rPr lang="en-US" sz="1600" dirty="0"/>
              <a:t>The company’s initial conclusion was that the surfaces of the fixtures were too rough, which led to scratches. The fixtures were buffed and polished and the problem went away for a while, but eventually resurfaced.</a:t>
            </a:r>
          </a:p>
          <a:p>
            <a:r>
              <a:rPr lang="en-US" sz="1600" dirty="0"/>
              <a:t>When the problem resurfaced, the panels were taken in for a closer look at the scratches. Inspectors noticed that at the end of most of the scratches was a small round glass bead. </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6172200" y="1649990"/>
            <a:ext cx="5183188" cy="823912"/>
          </a:xfrm>
        </p:spPr>
        <p:txBody>
          <a:bodyPr/>
          <a:lstStyle/>
          <a:p>
            <a:r>
              <a:rPr lang="en-US" sz="2400" dirty="0"/>
              <a:t>Complete Problem-Solving Approach</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172200" y="2473902"/>
            <a:ext cx="5183188" cy="3684588"/>
          </a:xfrm>
        </p:spPr>
        <p:txBody>
          <a:bodyPr>
            <a:noAutofit/>
          </a:bodyPr>
          <a:lstStyle/>
          <a:p>
            <a:r>
              <a:rPr lang="en-US" sz="1600" dirty="0"/>
              <a:t>The only place glass of that sort was used in the product was the sound-deadening mat at the bottom of the unit. However, the mats were installed after the unit was near completion at the far end of the plant.  </a:t>
            </a:r>
          </a:p>
          <a:p>
            <a:r>
              <a:rPr lang="en-US" sz="1600" dirty="0"/>
              <a:t>This time, using a complete Problem-Solving approach, the manufacturer investigated the mats and what had changed. The manufacturer had changed an internal process, causing the formation of these loose beads in the mat. When in the plant and being handled, the loose beads would become suspended in the air, and eventually, some would attach to the foaming fixtures. Those beads on the fixture would lead to scratches on the panels. To resolve the problem, the glass mat supplier was forced to correct the process, and the root cause of the problem was eliminated.</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75</a:t>
            </a:fld>
            <a:endParaRPr lang="en-US"/>
          </a:p>
        </p:txBody>
      </p:sp>
      <p:grpSp>
        <p:nvGrpSpPr>
          <p:cNvPr id="17" name="Group 16">
            <a:extLst>
              <a:ext uri="{FF2B5EF4-FFF2-40B4-BE49-F238E27FC236}">
                <a16:creationId xmlns:a16="http://schemas.microsoft.com/office/drawing/2014/main" id="{B65E64E6-E20D-8A0D-9D89-9A1780ACD089}"/>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C90410DA-9754-88B8-A9B7-BF43FC4E3DB7}"/>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091DA962-F994-4274-05A7-3033D67431A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B2D5454B-DCBE-F86D-A261-A53E22F2B3AA}"/>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B7128BED-B80D-2219-93B6-793D13EAE9B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0D1A8532-E589-985E-E585-46D539B3338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0">
                  <a:extLst>
                    <a:ext uri="{FF2B5EF4-FFF2-40B4-BE49-F238E27FC236}">
                      <a16:creationId xmlns:a16="http://schemas.microsoft.com/office/drawing/2014/main" id="{AAE49780-1975-C828-1C95-B94160D52C0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2A4E38F7-DE4B-E293-BAD7-0D44FE1611F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9856141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Structured Approach</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Step 1: Review and Update Problem Statement</a:t>
            </a:r>
          </a:p>
          <a:p>
            <a:r>
              <a:rPr lang="en-US" dirty="0"/>
              <a:t>Step 2: Use Tools to List all Potential Causes</a:t>
            </a:r>
          </a:p>
          <a:p>
            <a:r>
              <a:rPr lang="en-US" dirty="0"/>
              <a:t>Step 3: Use Filter to Narrow your List of Potential Causes</a:t>
            </a:r>
          </a:p>
          <a:p>
            <a:r>
              <a:rPr lang="en-US" dirty="0"/>
              <a:t>Step 4: Verify the Probable Cause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76</a:t>
            </a:fld>
            <a:endParaRPr lang="en-US"/>
          </a:p>
        </p:txBody>
      </p:sp>
      <p:grpSp>
        <p:nvGrpSpPr>
          <p:cNvPr id="14" name="Group 13">
            <a:extLst>
              <a:ext uri="{FF2B5EF4-FFF2-40B4-BE49-F238E27FC236}">
                <a16:creationId xmlns:a16="http://schemas.microsoft.com/office/drawing/2014/main" id="{4A952AE7-DE0C-86EF-00CF-085AB0E2F8C1}"/>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D138977B-9D17-B297-2B5E-0AD89A07735F}"/>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889C6308-9237-6A2D-9DA6-B0D6460B4C5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74D08ABE-9362-5719-901E-01ED05EC6F99}"/>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D3343D46-3221-71F3-5497-06A53FA32DE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DB7E185D-9CA7-8889-27CD-0F27BAC1001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4FA06667-BA9E-B740-5CCB-C67D03657DF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6BB27D5E-5ADE-F172-52D2-A8ED526A2BE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2948408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3600" dirty="0"/>
              <a:t>Step 1: </a:t>
            </a:r>
            <a:br>
              <a:rPr lang="en-US" sz="3600" dirty="0"/>
            </a:br>
            <a:r>
              <a:rPr lang="en-US" sz="3600" dirty="0"/>
              <a:t>Review and Update Problem Statement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77</a:t>
            </a:fld>
            <a:endParaRPr lang="en-US"/>
          </a:p>
        </p:txBody>
      </p:sp>
      <p:grpSp>
        <p:nvGrpSpPr>
          <p:cNvPr id="38" name="Group 37">
            <a:extLst>
              <a:ext uri="{FF2B5EF4-FFF2-40B4-BE49-F238E27FC236}">
                <a16:creationId xmlns:a16="http://schemas.microsoft.com/office/drawing/2014/main" id="{234CA025-2085-5E8F-88A5-0F69A5BC4C3B}"/>
              </a:ext>
            </a:extLst>
          </p:cNvPr>
          <p:cNvGrpSpPr/>
          <p:nvPr/>
        </p:nvGrpSpPr>
        <p:grpSpPr>
          <a:xfrm>
            <a:off x="1291590" y="1904048"/>
            <a:ext cx="9608820" cy="4176712"/>
            <a:chOff x="490538" y="1538288"/>
            <a:chExt cx="8212137" cy="3714750"/>
          </a:xfrm>
        </p:grpSpPr>
        <p:sp>
          <p:nvSpPr>
            <p:cNvPr id="13" name="Rectangle 2">
              <a:extLst>
                <a:ext uri="{FF2B5EF4-FFF2-40B4-BE49-F238E27FC236}">
                  <a16:creationId xmlns:a16="http://schemas.microsoft.com/office/drawing/2014/main" id="{497A2F1D-D9F1-9382-B9C6-E464EB934039}"/>
                </a:ext>
              </a:extLst>
            </p:cNvPr>
            <p:cNvSpPr>
              <a:spLocks noChangeArrowheads="1"/>
            </p:cNvSpPr>
            <p:nvPr/>
          </p:nvSpPr>
          <p:spPr bwMode="auto">
            <a:xfrm>
              <a:off x="3844925" y="1912938"/>
              <a:ext cx="4857750" cy="1745405"/>
            </a:xfrm>
            <a:prstGeom prst="rect">
              <a:avLst/>
            </a:prstGeom>
            <a:noFill/>
            <a:ln w="9525">
              <a:noFill/>
              <a:prstDash val="sysDot"/>
              <a:miter lim="800000"/>
              <a:headEnd/>
              <a:tailEnd/>
            </a:ln>
          </p:spPr>
          <p:txBody>
            <a:bodyPr lIns="71438" tIns="36513" rIns="71438" bIns="36513">
              <a:spAutoFit/>
            </a:bodyPr>
            <a:lstStyle/>
            <a:p>
              <a:pPr marL="285750" indent="-285750" defTabSz="708025">
                <a:lnSpc>
                  <a:spcPct val="115000"/>
                </a:lnSpc>
                <a:spcBef>
                  <a:spcPct val="80000"/>
                </a:spcBef>
                <a:spcAft>
                  <a:spcPct val="20000"/>
                </a:spcAft>
                <a:buClr>
                  <a:schemeClr val="tx1"/>
                </a:buClr>
                <a:buSzPct val="90000"/>
                <a:buFont typeface="Arial" panose="020B0604020202020204" pitchFamily="34" charset="0"/>
                <a:buChar char="•"/>
              </a:pPr>
              <a:r>
                <a:rPr lang="en-US" sz="1600" b="1" dirty="0">
                  <a:solidFill>
                    <a:schemeClr val="tx1"/>
                  </a:solidFill>
                </a:rPr>
                <a:t>Review results of containment actions.</a:t>
              </a:r>
            </a:p>
            <a:p>
              <a:pPr marL="742950" lvl="1" indent="-285750" defTabSz="708025">
                <a:lnSpc>
                  <a:spcPct val="115000"/>
                </a:lnSpc>
                <a:spcBef>
                  <a:spcPct val="80000"/>
                </a:spcBef>
                <a:spcAft>
                  <a:spcPct val="20000"/>
                </a:spcAft>
                <a:buClr>
                  <a:schemeClr val="tx1"/>
                </a:buClr>
                <a:buSzPct val="90000"/>
                <a:buFont typeface="Arial" panose="020B0604020202020204" pitchFamily="34" charset="0"/>
                <a:buChar char="•"/>
              </a:pPr>
              <a:r>
                <a:rPr lang="en-US" sz="1600" b="1" dirty="0">
                  <a:solidFill>
                    <a:schemeClr val="tx1"/>
                  </a:solidFill>
                </a:rPr>
                <a:t>Did containment actions uncover a broader problem than originally thought?</a:t>
              </a:r>
            </a:p>
            <a:p>
              <a:pPr marL="285750" indent="-285750" defTabSz="708025">
                <a:lnSpc>
                  <a:spcPct val="115000"/>
                </a:lnSpc>
                <a:spcBef>
                  <a:spcPct val="80000"/>
                </a:spcBef>
                <a:spcAft>
                  <a:spcPct val="20000"/>
                </a:spcAft>
                <a:buClr>
                  <a:schemeClr val="tx1"/>
                </a:buClr>
                <a:buSzPct val="90000"/>
                <a:buFont typeface="Arial" panose="020B0604020202020204" pitchFamily="34" charset="0"/>
                <a:buChar char="•"/>
              </a:pPr>
              <a:r>
                <a:rPr lang="en-US" sz="1600" b="1" dirty="0">
                  <a:solidFill>
                    <a:schemeClr val="tx1"/>
                  </a:solidFill>
                </a:rPr>
                <a:t>If necessary, change the scope of the problem to what you now know.</a:t>
              </a:r>
            </a:p>
          </p:txBody>
        </p:sp>
        <p:sp>
          <p:nvSpPr>
            <p:cNvPr id="14" name="AutoShape 3">
              <a:extLst>
                <a:ext uri="{FF2B5EF4-FFF2-40B4-BE49-F238E27FC236}">
                  <a16:creationId xmlns:a16="http://schemas.microsoft.com/office/drawing/2014/main" id="{CAF8C174-4723-6B7C-F6B1-10781101E90B}"/>
                </a:ext>
              </a:extLst>
            </p:cNvPr>
            <p:cNvSpPr>
              <a:spLocks noChangeArrowheads="1"/>
            </p:cNvSpPr>
            <p:nvPr/>
          </p:nvSpPr>
          <p:spPr bwMode="auto">
            <a:xfrm>
              <a:off x="3346450" y="2159000"/>
              <a:ext cx="254000" cy="2333625"/>
            </a:xfrm>
            <a:prstGeom prst="rightArrow">
              <a:avLst>
                <a:gd name="adj1" fmla="val 74426"/>
                <a:gd name="adj2" fmla="val 71213"/>
              </a:avLst>
            </a:prstGeom>
            <a:solidFill>
              <a:schemeClr val="accent1"/>
            </a:solidFill>
            <a:ln w="19050" cap="sq" algn="ctr">
              <a:solidFill>
                <a:schemeClr val="tx1"/>
              </a:solidFill>
              <a:miter lim="800000"/>
              <a:headEnd/>
              <a:tailEnd/>
            </a:ln>
          </p:spPr>
          <p:txBody>
            <a:bodyPr wrap="none" anchor="ctr"/>
            <a:lstStyle/>
            <a:p>
              <a:endParaRPr lang="en-US"/>
            </a:p>
          </p:txBody>
        </p:sp>
        <p:sp>
          <p:nvSpPr>
            <p:cNvPr id="15" name="Rectangle 4">
              <a:extLst>
                <a:ext uri="{FF2B5EF4-FFF2-40B4-BE49-F238E27FC236}">
                  <a16:creationId xmlns:a16="http://schemas.microsoft.com/office/drawing/2014/main" id="{1ADB7D7B-1485-9EC0-D376-D04652C10984}"/>
                </a:ext>
              </a:extLst>
            </p:cNvPr>
            <p:cNvSpPr>
              <a:spLocks noChangeArrowheads="1"/>
            </p:cNvSpPr>
            <p:nvPr/>
          </p:nvSpPr>
          <p:spPr bwMode="auto">
            <a:xfrm>
              <a:off x="490538" y="1573213"/>
              <a:ext cx="2620962" cy="635000"/>
            </a:xfrm>
            <a:prstGeom prst="rect">
              <a:avLst/>
            </a:prstGeom>
            <a:solidFill>
              <a:schemeClr val="accent4"/>
            </a:solidFill>
            <a:ln w="12700" cap="sq" algn="ctr">
              <a:solidFill>
                <a:schemeClr val="tx1"/>
              </a:solidFill>
              <a:miter lim="800000"/>
              <a:headEnd/>
              <a:tailEnd/>
            </a:ln>
          </p:spPr>
          <p:txBody>
            <a:bodyPr anchor="ctr"/>
            <a:lstStyle/>
            <a:p>
              <a:pPr marL="6350" lvl="1"/>
              <a:r>
                <a:rPr lang="en-US" sz="1400" b="1" dirty="0">
                  <a:solidFill>
                    <a:schemeClr val="bg1"/>
                  </a:solidFill>
                </a:rPr>
                <a:t>Review and Update Problem Statement</a:t>
              </a:r>
            </a:p>
          </p:txBody>
        </p:sp>
        <p:sp>
          <p:nvSpPr>
            <p:cNvPr id="16" name="Rectangle 5">
              <a:extLst>
                <a:ext uri="{FF2B5EF4-FFF2-40B4-BE49-F238E27FC236}">
                  <a16:creationId xmlns:a16="http://schemas.microsoft.com/office/drawing/2014/main" id="{022CCE35-6546-815D-7686-F56A3A8A3D58}"/>
                </a:ext>
              </a:extLst>
            </p:cNvPr>
            <p:cNvSpPr>
              <a:spLocks noChangeArrowheads="1"/>
            </p:cNvSpPr>
            <p:nvPr/>
          </p:nvSpPr>
          <p:spPr bwMode="auto">
            <a:xfrm>
              <a:off x="490538" y="250348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Use Tools to List all Potential Causes</a:t>
              </a:r>
            </a:p>
          </p:txBody>
        </p:sp>
        <p:sp>
          <p:nvSpPr>
            <p:cNvPr id="24" name="Rectangle 6">
              <a:extLst>
                <a:ext uri="{FF2B5EF4-FFF2-40B4-BE49-F238E27FC236}">
                  <a16:creationId xmlns:a16="http://schemas.microsoft.com/office/drawing/2014/main" id="{CB32F5B4-3F1F-0B52-C231-D62DF1F67A3C}"/>
                </a:ext>
              </a:extLst>
            </p:cNvPr>
            <p:cNvSpPr>
              <a:spLocks noChangeArrowheads="1"/>
            </p:cNvSpPr>
            <p:nvPr/>
          </p:nvSpPr>
          <p:spPr bwMode="auto">
            <a:xfrm>
              <a:off x="490538" y="343693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Use Filter to Narrow your List of Potential Causes</a:t>
              </a:r>
            </a:p>
          </p:txBody>
        </p:sp>
        <p:sp>
          <p:nvSpPr>
            <p:cNvPr id="25" name="Rectangle 7">
              <a:extLst>
                <a:ext uri="{FF2B5EF4-FFF2-40B4-BE49-F238E27FC236}">
                  <a16:creationId xmlns:a16="http://schemas.microsoft.com/office/drawing/2014/main" id="{D59A2DC1-6D35-9F8D-9DA0-AFB0098F86C6}"/>
                </a:ext>
              </a:extLst>
            </p:cNvPr>
            <p:cNvSpPr>
              <a:spLocks noChangeArrowheads="1"/>
            </p:cNvSpPr>
            <p:nvPr/>
          </p:nvSpPr>
          <p:spPr bwMode="auto">
            <a:xfrm>
              <a:off x="490538" y="4410075"/>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Verify the Probable Cause</a:t>
              </a:r>
            </a:p>
          </p:txBody>
        </p:sp>
        <p:cxnSp>
          <p:nvCxnSpPr>
            <p:cNvPr id="26" name="AutoShape 8">
              <a:extLst>
                <a:ext uri="{FF2B5EF4-FFF2-40B4-BE49-F238E27FC236}">
                  <a16:creationId xmlns:a16="http://schemas.microsoft.com/office/drawing/2014/main" id="{25A14EBD-61CE-BAB6-0AAD-78D44A8C730C}"/>
                </a:ext>
              </a:extLst>
            </p:cNvPr>
            <p:cNvCxnSpPr>
              <a:cxnSpLocks noChangeShapeType="1"/>
              <a:stCxn id="15" idx="2"/>
              <a:endCxn id="16" idx="0"/>
            </p:cNvCxnSpPr>
            <p:nvPr/>
          </p:nvCxnSpPr>
          <p:spPr bwMode="auto">
            <a:xfrm>
              <a:off x="1801813" y="2208213"/>
              <a:ext cx="0" cy="295275"/>
            </a:xfrm>
            <a:prstGeom prst="straightConnector1">
              <a:avLst/>
            </a:prstGeom>
            <a:noFill/>
            <a:ln w="12700" cap="sq">
              <a:solidFill>
                <a:schemeClr val="tx1"/>
              </a:solidFill>
              <a:round/>
              <a:headEnd/>
              <a:tailEnd type="triangle" w="med" len="med"/>
            </a:ln>
          </p:spPr>
        </p:cxnSp>
        <p:cxnSp>
          <p:nvCxnSpPr>
            <p:cNvPr id="27" name="AutoShape 9">
              <a:extLst>
                <a:ext uri="{FF2B5EF4-FFF2-40B4-BE49-F238E27FC236}">
                  <a16:creationId xmlns:a16="http://schemas.microsoft.com/office/drawing/2014/main" id="{FB9F625F-FC5D-8445-B1DD-3E8256FCC21F}"/>
                </a:ext>
              </a:extLst>
            </p:cNvPr>
            <p:cNvCxnSpPr>
              <a:cxnSpLocks noChangeShapeType="1"/>
              <a:stCxn id="16" idx="2"/>
              <a:endCxn id="24" idx="0"/>
            </p:cNvCxnSpPr>
            <p:nvPr/>
          </p:nvCxnSpPr>
          <p:spPr bwMode="auto">
            <a:xfrm>
              <a:off x="1801813" y="3138488"/>
              <a:ext cx="0" cy="298450"/>
            </a:xfrm>
            <a:prstGeom prst="straightConnector1">
              <a:avLst/>
            </a:prstGeom>
            <a:noFill/>
            <a:ln w="12700" cap="sq">
              <a:solidFill>
                <a:schemeClr val="tx1"/>
              </a:solidFill>
              <a:round/>
              <a:headEnd/>
              <a:tailEnd type="triangle" w="med" len="med"/>
            </a:ln>
          </p:spPr>
        </p:cxnSp>
        <p:cxnSp>
          <p:nvCxnSpPr>
            <p:cNvPr id="35" name="AutoShape 10">
              <a:extLst>
                <a:ext uri="{FF2B5EF4-FFF2-40B4-BE49-F238E27FC236}">
                  <a16:creationId xmlns:a16="http://schemas.microsoft.com/office/drawing/2014/main" id="{84589B13-FE10-66C7-FBE2-DBDA58A3F67E}"/>
                </a:ext>
              </a:extLst>
            </p:cNvPr>
            <p:cNvCxnSpPr>
              <a:cxnSpLocks noChangeShapeType="1"/>
              <a:stCxn id="24" idx="2"/>
              <a:endCxn id="25" idx="0"/>
            </p:cNvCxnSpPr>
            <p:nvPr/>
          </p:nvCxnSpPr>
          <p:spPr bwMode="auto">
            <a:xfrm>
              <a:off x="1801813" y="4071938"/>
              <a:ext cx="0" cy="338137"/>
            </a:xfrm>
            <a:prstGeom prst="straightConnector1">
              <a:avLst/>
            </a:prstGeom>
            <a:noFill/>
            <a:ln w="12700" cap="sq">
              <a:solidFill>
                <a:schemeClr val="tx1"/>
              </a:solidFill>
              <a:round/>
              <a:headEnd/>
              <a:tailEnd type="triangle" w="med" len="med"/>
            </a:ln>
          </p:spPr>
        </p:cxnSp>
        <p:sp>
          <p:nvSpPr>
            <p:cNvPr id="36" name="Rectangle 13">
              <a:extLst>
                <a:ext uri="{FF2B5EF4-FFF2-40B4-BE49-F238E27FC236}">
                  <a16:creationId xmlns:a16="http://schemas.microsoft.com/office/drawing/2014/main" id="{3DDAE858-E746-400A-3A68-84993B04D1F1}"/>
                </a:ext>
              </a:extLst>
            </p:cNvPr>
            <p:cNvSpPr>
              <a:spLocks noChangeArrowheads="1"/>
            </p:cNvSpPr>
            <p:nvPr/>
          </p:nvSpPr>
          <p:spPr bwMode="auto">
            <a:xfrm>
              <a:off x="3803650" y="1701800"/>
              <a:ext cx="4897438" cy="3551238"/>
            </a:xfrm>
            <a:prstGeom prst="rect">
              <a:avLst/>
            </a:prstGeom>
            <a:noFill/>
            <a:ln w="19050" algn="ctr">
              <a:solidFill>
                <a:schemeClr val="tx1"/>
              </a:solidFill>
              <a:prstDash val="sysDot"/>
              <a:miter lim="800000"/>
              <a:headEnd/>
              <a:tailEnd/>
            </a:ln>
          </p:spPr>
          <p:txBody>
            <a:bodyPr wrap="none" anchor="ctr"/>
            <a:lstStyle/>
            <a:p>
              <a:endParaRPr lang="en-US"/>
            </a:p>
          </p:txBody>
        </p:sp>
        <p:sp>
          <p:nvSpPr>
            <p:cNvPr id="37" name="Text Box 14">
              <a:extLst>
                <a:ext uri="{FF2B5EF4-FFF2-40B4-BE49-F238E27FC236}">
                  <a16:creationId xmlns:a16="http://schemas.microsoft.com/office/drawing/2014/main" id="{4CDE730A-727B-D0FD-DE66-C45D5F89F3B0}"/>
                </a:ext>
              </a:extLst>
            </p:cNvPr>
            <p:cNvSpPr txBox="1">
              <a:spLocks noChangeArrowheads="1"/>
            </p:cNvSpPr>
            <p:nvPr/>
          </p:nvSpPr>
          <p:spPr bwMode="auto">
            <a:xfrm>
              <a:off x="3987800" y="1538288"/>
              <a:ext cx="877888" cy="369887"/>
            </a:xfrm>
            <a:prstGeom prst="rect">
              <a:avLst/>
            </a:prstGeom>
            <a:solidFill>
              <a:schemeClr val="bg1"/>
            </a:solidFill>
            <a:ln w="12700" cap="sq" algn="ctr">
              <a:noFill/>
              <a:miter lim="800000"/>
              <a:headEnd/>
              <a:tailEnd/>
            </a:ln>
          </p:spPr>
          <p:txBody>
            <a:bodyPr wrap="none">
              <a:spAutoFit/>
            </a:bodyPr>
            <a:lstStyle/>
            <a:p>
              <a:r>
                <a:rPr lang="en-US" sz="1800" b="1">
                  <a:solidFill>
                    <a:schemeClr val="tx1"/>
                  </a:solidFill>
                </a:rPr>
                <a:t>Step 1</a:t>
              </a:r>
            </a:p>
          </p:txBody>
        </p:sp>
      </p:grpSp>
      <p:grpSp>
        <p:nvGrpSpPr>
          <p:cNvPr id="17" name="Group 16">
            <a:extLst>
              <a:ext uri="{FF2B5EF4-FFF2-40B4-BE49-F238E27FC236}">
                <a16:creationId xmlns:a16="http://schemas.microsoft.com/office/drawing/2014/main" id="{689D22FE-448A-152A-9D0A-720D49D994DC}"/>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D0A44D5E-1242-87AF-CA7E-11EFF8768995}"/>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17A43C3C-8816-9BF6-EE1B-DEFB82CEE98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6BA2EA95-7D10-1EF9-62C1-B3E571EEFF1B}"/>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6BAF5002-861A-5766-9C93-E723A3A4D8B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272F87EF-7BB2-BF86-94D7-F27E1AB230B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FCBE9AEB-437E-9167-B0B1-66B9E828289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830A039D-469C-4C21-00BF-2B65D7D41358}"/>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058459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3600" dirty="0"/>
              <a:t>Step 2: </a:t>
            </a:r>
            <a:br>
              <a:rPr lang="en-US" sz="3600" dirty="0"/>
            </a:br>
            <a:r>
              <a:rPr lang="en-US" sz="3600" dirty="0"/>
              <a:t>Use Tools to List all Potential Causes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78</a:t>
            </a:fld>
            <a:endParaRPr lang="en-US"/>
          </a:p>
        </p:txBody>
      </p:sp>
      <p:grpSp>
        <p:nvGrpSpPr>
          <p:cNvPr id="38" name="Group 37">
            <a:extLst>
              <a:ext uri="{FF2B5EF4-FFF2-40B4-BE49-F238E27FC236}">
                <a16:creationId xmlns:a16="http://schemas.microsoft.com/office/drawing/2014/main" id="{234CA025-2085-5E8F-88A5-0F69A5BC4C3B}"/>
              </a:ext>
            </a:extLst>
          </p:cNvPr>
          <p:cNvGrpSpPr/>
          <p:nvPr/>
        </p:nvGrpSpPr>
        <p:grpSpPr>
          <a:xfrm>
            <a:off x="1291590" y="1904048"/>
            <a:ext cx="9608820" cy="4242673"/>
            <a:chOff x="490538" y="1538288"/>
            <a:chExt cx="8212137" cy="3773416"/>
          </a:xfrm>
        </p:grpSpPr>
        <p:sp>
          <p:nvSpPr>
            <p:cNvPr id="13" name="Rectangle 2">
              <a:extLst>
                <a:ext uri="{FF2B5EF4-FFF2-40B4-BE49-F238E27FC236}">
                  <a16:creationId xmlns:a16="http://schemas.microsoft.com/office/drawing/2014/main" id="{497A2F1D-D9F1-9382-B9C6-E464EB934039}"/>
                </a:ext>
              </a:extLst>
            </p:cNvPr>
            <p:cNvSpPr>
              <a:spLocks noChangeArrowheads="1"/>
            </p:cNvSpPr>
            <p:nvPr/>
          </p:nvSpPr>
          <p:spPr bwMode="auto">
            <a:xfrm>
              <a:off x="3844925" y="1912938"/>
              <a:ext cx="4857750" cy="3398766"/>
            </a:xfrm>
            <a:prstGeom prst="rect">
              <a:avLst/>
            </a:prstGeom>
            <a:noFill/>
            <a:ln w="9525">
              <a:noFill/>
              <a:prstDash val="sysDot"/>
              <a:miter lim="800000"/>
              <a:headEnd/>
              <a:tailEnd/>
            </a:ln>
          </p:spPr>
          <p:txBody>
            <a:bodyPr lIns="71438" tIns="36513" rIns="71438" bIns="36513">
              <a:spAutoFit/>
            </a:bodyPr>
            <a:lstStyle/>
            <a:p>
              <a:pPr marL="285750"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Problem-Solving Tools:</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Fishbone Analysis</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Pareto Analysis</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5 Why Analysis</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CEDAC</a:t>
              </a:r>
            </a:p>
            <a:p>
              <a:pPr marL="285750"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These tools provide the best compromise between ease of use and effectiveness.</a:t>
              </a:r>
            </a:p>
            <a:p>
              <a:pPr marL="285750"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Experts, your team and customers can be used for listing potential problem causes.</a:t>
              </a:r>
            </a:p>
          </p:txBody>
        </p:sp>
        <p:sp>
          <p:nvSpPr>
            <p:cNvPr id="14" name="AutoShape 3">
              <a:extLst>
                <a:ext uri="{FF2B5EF4-FFF2-40B4-BE49-F238E27FC236}">
                  <a16:creationId xmlns:a16="http://schemas.microsoft.com/office/drawing/2014/main" id="{CAF8C174-4723-6B7C-F6B1-10781101E90B}"/>
                </a:ext>
              </a:extLst>
            </p:cNvPr>
            <p:cNvSpPr>
              <a:spLocks noChangeArrowheads="1"/>
            </p:cNvSpPr>
            <p:nvPr/>
          </p:nvSpPr>
          <p:spPr bwMode="auto">
            <a:xfrm>
              <a:off x="3346450" y="2159000"/>
              <a:ext cx="254000" cy="2333625"/>
            </a:xfrm>
            <a:prstGeom prst="rightArrow">
              <a:avLst>
                <a:gd name="adj1" fmla="val 74426"/>
                <a:gd name="adj2" fmla="val 71213"/>
              </a:avLst>
            </a:prstGeom>
            <a:solidFill>
              <a:schemeClr val="accent1"/>
            </a:solidFill>
            <a:ln w="19050" cap="sq" algn="ctr">
              <a:solidFill>
                <a:schemeClr val="tx1"/>
              </a:solidFill>
              <a:miter lim="800000"/>
              <a:headEnd/>
              <a:tailEnd/>
            </a:ln>
          </p:spPr>
          <p:txBody>
            <a:bodyPr wrap="none" anchor="ctr"/>
            <a:lstStyle/>
            <a:p>
              <a:endParaRPr lang="en-US"/>
            </a:p>
          </p:txBody>
        </p:sp>
        <p:sp>
          <p:nvSpPr>
            <p:cNvPr id="15" name="Rectangle 4">
              <a:extLst>
                <a:ext uri="{FF2B5EF4-FFF2-40B4-BE49-F238E27FC236}">
                  <a16:creationId xmlns:a16="http://schemas.microsoft.com/office/drawing/2014/main" id="{1ADB7D7B-1485-9EC0-D376-D04652C10984}"/>
                </a:ext>
              </a:extLst>
            </p:cNvPr>
            <p:cNvSpPr>
              <a:spLocks noChangeArrowheads="1"/>
            </p:cNvSpPr>
            <p:nvPr/>
          </p:nvSpPr>
          <p:spPr bwMode="auto">
            <a:xfrm>
              <a:off x="490538" y="1573213"/>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Review and Update Problem Statement</a:t>
              </a:r>
            </a:p>
          </p:txBody>
        </p:sp>
        <p:sp>
          <p:nvSpPr>
            <p:cNvPr id="16" name="Rectangle 5">
              <a:extLst>
                <a:ext uri="{FF2B5EF4-FFF2-40B4-BE49-F238E27FC236}">
                  <a16:creationId xmlns:a16="http://schemas.microsoft.com/office/drawing/2014/main" id="{022CCE35-6546-815D-7686-F56A3A8A3D58}"/>
                </a:ext>
              </a:extLst>
            </p:cNvPr>
            <p:cNvSpPr>
              <a:spLocks noChangeArrowheads="1"/>
            </p:cNvSpPr>
            <p:nvPr/>
          </p:nvSpPr>
          <p:spPr bwMode="auto">
            <a:xfrm>
              <a:off x="490538" y="2503488"/>
              <a:ext cx="2620962" cy="635000"/>
            </a:xfrm>
            <a:prstGeom prst="rect">
              <a:avLst/>
            </a:prstGeom>
            <a:solidFill>
              <a:schemeClr val="accent4"/>
            </a:solidFill>
            <a:ln w="12700" cap="sq" algn="ctr">
              <a:solidFill>
                <a:schemeClr val="tx1"/>
              </a:solidFill>
              <a:miter lim="800000"/>
              <a:headEnd/>
              <a:tailEnd/>
            </a:ln>
          </p:spPr>
          <p:txBody>
            <a:bodyPr anchor="ctr"/>
            <a:lstStyle/>
            <a:p>
              <a:pPr marL="6350" lvl="1"/>
              <a:r>
                <a:rPr lang="en-US" sz="1400" b="1" dirty="0">
                  <a:solidFill>
                    <a:schemeClr val="bg1"/>
                  </a:solidFill>
                </a:rPr>
                <a:t>Use Tools to List all Potential Causes</a:t>
              </a:r>
            </a:p>
          </p:txBody>
        </p:sp>
        <p:sp>
          <p:nvSpPr>
            <p:cNvPr id="24" name="Rectangle 6">
              <a:extLst>
                <a:ext uri="{FF2B5EF4-FFF2-40B4-BE49-F238E27FC236}">
                  <a16:creationId xmlns:a16="http://schemas.microsoft.com/office/drawing/2014/main" id="{CB32F5B4-3F1F-0B52-C231-D62DF1F67A3C}"/>
                </a:ext>
              </a:extLst>
            </p:cNvPr>
            <p:cNvSpPr>
              <a:spLocks noChangeArrowheads="1"/>
            </p:cNvSpPr>
            <p:nvPr/>
          </p:nvSpPr>
          <p:spPr bwMode="auto">
            <a:xfrm>
              <a:off x="490538" y="343693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Use Filter to Narrow your List of Potential Causes</a:t>
              </a:r>
            </a:p>
          </p:txBody>
        </p:sp>
        <p:sp>
          <p:nvSpPr>
            <p:cNvPr id="25" name="Rectangle 7">
              <a:extLst>
                <a:ext uri="{FF2B5EF4-FFF2-40B4-BE49-F238E27FC236}">
                  <a16:creationId xmlns:a16="http://schemas.microsoft.com/office/drawing/2014/main" id="{D59A2DC1-6D35-9F8D-9DA0-AFB0098F86C6}"/>
                </a:ext>
              </a:extLst>
            </p:cNvPr>
            <p:cNvSpPr>
              <a:spLocks noChangeArrowheads="1"/>
            </p:cNvSpPr>
            <p:nvPr/>
          </p:nvSpPr>
          <p:spPr bwMode="auto">
            <a:xfrm>
              <a:off x="490538" y="4410075"/>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Verify the Probable Cause</a:t>
              </a:r>
            </a:p>
          </p:txBody>
        </p:sp>
        <p:cxnSp>
          <p:nvCxnSpPr>
            <p:cNvPr id="26" name="AutoShape 8">
              <a:extLst>
                <a:ext uri="{FF2B5EF4-FFF2-40B4-BE49-F238E27FC236}">
                  <a16:creationId xmlns:a16="http://schemas.microsoft.com/office/drawing/2014/main" id="{25A14EBD-61CE-BAB6-0AAD-78D44A8C730C}"/>
                </a:ext>
              </a:extLst>
            </p:cNvPr>
            <p:cNvCxnSpPr>
              <a:cxnSpLocks noChangeShapeType="1"/>
              <a:stCxn id="15" idx="2"/>
              <a:endCxn id="16" idx="0"/>
            </p:cNvCxnSpPr>
            <p:nvPr/>
          </p:nvCxnSpPr>
          <p:spPr bwMode="auto">
            <a:xfrm>
              <a:off x="1801813" y="2208213"/>
              <a:ext cx="0" cy="295275"/>
            </a:xfrm>
            <a:prstGeom prst="straightConnector1">
              <a:avLst/>
            </a:prstGeom>
            <a:noFill/>
            <a:ln w="12700" cap="sq">
              <a:solidFill>
                <a:schemeClr val="tx1"/>
              </a:solidFill>
              <a:round/>
              <a:headEnd/>
              <a:tailEnd type="triangle" w="med" len="med"/>
            </a:ln>
          </p:spPr>
        </p:cxnSp>
        <p:cxnSp>
          <p:nvCxnSpPr>
            <p:cNvPr id="27" name="AutoShape 9">
              <a:extLst>
                <a:ext uri="{FF2B5EF4-FFF2-40B4-BE49-F238E27FC236}">
                  <a16:creationId xmlns:a16="http://schemas.microsoft.com/office/drawing/2014/main" id="{FB9F625F-FC5D-8445-B1DD-3E8256FCC21F}"/>
                </a:ext>
              </a:extLst>
            </p:cNvPr>
            <p:cNvCxnSpPr>
              <a:cxnSpLocks noChangeShapeType="1"/>
              <a:stCxn id="16" idx="2"/>
              <a:endCxn id="24" idx="0"/>
            </p:cNvCxnSpPr>
            <p:nvPr/>
          </p:nvCxnSpPr>
          <p:spPr bwMode="auto">
            <a:xfrm>
              <a:off x="1801813" y="3138488"/>
              <a:ext cx="0" cy="298450"/>
            </a:xfrm>
            <a:prstGeom prst="straightConnector1">
              <a:avLst/>
            </a:prstGeom>
            <a:noFill/>
            <a:ln w="12700" cap="sq">
              <a:solidFill>
                <a:schemeClr val="tx1"/>
              </a:solidFill>
              <a:round/>
              <a:headEnd/>
              <a:tailEnd type="triangle" w="med" len="med"/>
            </a:ln>
          </p:spPr>
        </p:cxnSp>
        <p:cxnSp>
          <p:nvCxnSpPr>
            <p:cNvPr id="35" name="AutoShape 10">
              <a:extLst>
                <a:ext uri="{FF2B5EF4-FFF2-40B4-BE49-F238E27FC236}">
                  <a16:creationId xmlns:a16="http://schemas.microsoft.com/office/drawing/2014/main" id="{84589B13-FE10-66C7-FBE2-DBDA58A3F67E}"/>
                </a:ext>
              </a:extLst>
            </p:cNvPr>
            <p:cNvCxnSpPr>
              <a:cxnSpLocks noChangeShapeType="1"/>
              <a:stCxn id="24" idx="2"/>
              <a:endCxn id="25" idx="0"/>
            </p:cNvCxnSpPr>
            <p:nvPr/>
          </p:nvCxnSpPr>
          <p:spPr bwMode="auto">
            <a:xfrm>
              <a:off x="1801813" y="4071938"/>
              <a:ext cx="0" cy="338137"/>
            </a:xfrm>
            <a:prstGeom prst="straightConnector1">
              <a:avLst/>
            </a:prstGeom>
            <a:noFill/>
            <a:ln w="12700" cap="sq">
              <a:solidFill>
                <a:schemeClr val="tx1"/>
              </a:solidFill>
              <a:round/>
              <a:headEnd/>
              <a:tailEnd type="triangle" w="med" len="med"/>
            </a:ln>
          </p:spPr>
        </p:cxnSp>
        <p:sp>
          <p:nvSpPr>
            <p:cNvPr id="36" name="Rectangle 13">
              <a:extLst>
                <a:ext uri="{FF2B5EF4-FFF2-40B4-BE49-F238E27FC236}">
                  <a16:creationId xmlns:a16="http://schemas.microsoft.com/office/drawing/2014/main" id="{3DDAE858-E746-400A-3A68-84993B04D1F1}"/>
                </a:ext>
              </a:extLst>
            </p:cNvPr>
            <p:cNvSpPr>
              <a:spLocks noChangeArrowheads="1"/>
            </p:cNvSpPr>
            <p:nvPr/>
          </p:nvSpPr>
          <p:spPr bwMode="auto">
            <a:xfrm>
              <a:off x="3803650" y="1701800"/>
              <a:ext cx="4897438" cy="3551238"/>
            </a:xfrm>
            <a:prstGeom prst="rect">
              <a:avLst/>
            </a:prstGeom>
            <a:noFill/>
            <a:ln w="19050" algn="ctr">
              <a:solidFill>
                <a:schemeClr val="tx1"/>
              </a:solidFill>
              <a:prstDash val="sysDot"/>
              <a:miter lim="800000"/>
              <a:headEnd/>
              <a:tailEnd/>
            </a:ln>
          </p:spPr>
          <p:txBody>
            <a:bodyPr wrap="none" anchor="ctr"/>
            <a:lstStyle/>
            <a:p>
              <a:endParaRPr lang="en-US"/>
            </a:p>
          </p:txBody>
        </p:sp>
        <p:sp>
          <p:nvSpPr>
            <p:cNvPr id="37" name="Text Box 14">
              <a:extLst>
                <a:ext uri="{FF2B5EF4-FFF2-40B4-BE49-F238E27FC236}">
                  <a16:creationId xmlns:a16="http://schemas.microsoft.com/office/drawing/2014/main" id="{4CDE730A-727B-D0FD-DE66-C45D5F89F3B0}"/>
                </a:ext>
              </a:extLst>
            </p:cNvPr>
            <p:cNvSpPr txBox="1">
              <a:spLocks noChangeArrowheads="1"/>
            </p:cNvSpPr>
            <p:nvPr/>
          </p:nvSpPr>
          <p:spPr bwMode="auto">
            <a:xfrm>
              <a:off x="3987800" y="1538288"/>
              <a:ext cx="727744" cy="328482"/>
            </a:xfrm>
            <a:prstGeom prst="rect">
              <a:avLst/>
            </a:prstGeom>
            <a:solidFill>
              <a:schemeClr val="bg1"/>
            </a:solidFill>
            <a:ln w="12700" cap="sq" algn="ctr">
              <a:noFill/>
              <a:miter lim="800000"/>
              <a:headEnd/>
              <a:tailEnd/>
            </a:ln>
          </p:spPr>
          <p:txBody>
            <a:bodyPr wrap="none">
              <a:spAutoFit/>
            </a:bodyPr>
            <a:lstStyle/>
            <a:p>
              <a:r>
                <a:rPr lang="en-US" sz="1800" b="1" dirty="0">
                  <a:solidFill>
                    <a:schemeClr val="tx1"/>
                  </a:solidFill>
                </a:rPr>
                <a:t>Step 2</a:t>
              </a:r>
            </a:p>
          </p:txBody>
        </p:sp>
      </p:grpSp>
      <p:grpSp>
        <p:nvGrpSpPr>
          <p:cNvPr id="17" name="Group 16">
            <a:extLst>
              <a:ext uri="{FF2B5EF4-FFF2-40B4-BE49-F238E27FC236}">
                <a16:creationId xmlns:a16="http://schemas.microsoft.com/office/drawing/2014/main" id="{2741DA4B-335F-B261-E9D9-5F3A7E2E6B79}"/>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E27305E9-9FD9-E282-8545-51F04D3BE268}"/>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03D3511F-67B2-3915-367F-7F20DC182A5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61905F99-D0CD-1CF3-D6D6-541DFB4321E1}"/>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07BFBF42-E04D-332A-402D-CD138776680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31ACEBAC-CFE6-54C5-5AB8-68F03CA6931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5D92CEA6-0FE9-0D70-0005-AB6750FE7C8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A8E4426-AD0C-E4BA-BDCC-825FBF5D296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8575509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3600" dirty="0"/>
              <a:t>Step 3: </a:t>
            </a:r>
            <a:br>
              <a:rPr lang="en-US" sz="3600" dirty="0"/>
            </a:br>
            <a:r>
              <a:rPr lang="en-US" sz="3600" dirty="0"/>
              <a:t>Use Filters to Narrow your List of Potential Causes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79</a:t>
            </a:fld>
            <a:endParaRPr lang="en-US"/>
          </a:p>
        </p:txBody>
      </p:sp>
      <p:grpSp>
        <p:nvGrpSpPr>
          <p:cNvPr id="38" name="Group 37">
            <a:extLst>
              <a:ext uri="{FF2B5EF4-FFF2-40B4-BE49-F238E27FC236}">
                <a16:creationId xmlns:a16="http://schemas.microsoft.com/office/drawing/2014/main" id="{234CA025-2085-5E8F-88A5-0F69A5BC4C3B}"/>
              </a:ext>
            </a:extLst>
          </p:cNvPr>
          <p:cNvGrpSpPr/>
          <p:nvPr/>
        </p:nvGrpSpPr>
        <p:grpSpPr>
          <a:xfrm>
            <a:off x="1291590" y="1904048"/>
            <a:ext cx="9608820" cy="4280504"/>
            <a:chOff x="490538" y="1538288"/>
            <a:chExt cx="8212137" cy="3807063"/>
          </a:xfrm>
        </p:grpSpPr>
        <p:sp>
          <p:nvSpPr>
            <p:cNvPr id="13" name="Rectangle 2">
              <a:extLst>
                <a:ext uri="{FF2B5EF4-FFF2-40B4-BE49-F238E27FC236}">
                  <a16:creationId xmlns:a16="http://schemas.microsoft.com/office/drawing/2014/main" id="{497A2F1D-D9F1-9382-B9C6-E464EB934039}"/>
                </a:ext>
              </a:extLst>
            </p:cNvPr>
            <p:cNvSpPr>
              <a:spLocks noChangeArrowheads="1"/>
            </p:cNvSpPr>
            <p:nvPr/>
          </p:nvSpPr>
          <p:spPr bwMode="auto">
            <a:xfrm>
              <a:off x="3844925" y="1912938"/>
              <a:ext cx="4857750" cy="3432413"/>
            </a:xfrm>
            <a:prstGeom prst="rect">
              <a:avLst/>
            </a:prstGeom>
            <a:noFill/>
            <a:ln w="9525">
              <a:noFill/>
              <a:prstDash val="sysDot"/>
              <a:miter lim="800000"/>
              <a:headEnd/>
              <a:tailEnd/>
            </a:ln>
          </p:spPr>
          <p:txBody>
            <a:bodyPr lIns="71438" tIns="36513" rIns="71438" bIns="36513">
              <a:spAutoFit/>
            </a:bodyPr>
            <a:lstStyle/>
            <a:p>
              <a:pPr marL="285750" indent="-285750" defTabSz="708025">
                <a:lnSpc>
                  <a:spcPct val="115000"/>
                </a:lnSpc>
                <a:spcAft>
                  <a:spcPct val="20000"/>
                </a:spcAft>
                <a:buClr>
                  <a:schemeClr val="tx1"/>
                </a:buClr>
                <a:buSzPct val="90000"/>
                <a:buFont typeface="Arial" panose="020B0604020202020204" pitchFamily="34" charset="0"/>
                <a:buChar char="•"/>
              </a:pPr>
              <a:r>
                <a:rPr lang="en-US" sz="1600" b="1" dirty="0">
                  <a:solidFill>
                    <a:schemeClr val="tx1"/>
                  </a:solidFill>
                </a:rPr>
                <a:t>Group causes together and narrow the list.</a:t>
              </a:r>
            </a:p>
            <a:p>
              <a:pPr marL="285750" indent="-285750" defTabSz="708025">
                <a:lnSpc>
                  <a:spcPct val="115000"/>
                </a:lnSpc>
                <a:spcAft>
                  <a:spcPct val="20000"/>
                </a:spcAft>
                <a:buClr>
                  <a:schemeClr val="tx1"/>
                </a:buClr>
                <a:buSzPct val="90000"/>
                <a:buFont typeface="Arial" panose="020B0604020202020204" pitchFamily="34" charset="0"/>
                <a:buChar char="•"/>
              </a:pPr>
              <a:r>
                <a:rPr lang="en-US" sz="1600" b="1" dirty="0">
                  <a:solidFill>
                    <a:schemeClr val="tx1"/>
                  </a:solidFill>
                </a:rPr>
                <a:t>In order to filter causes – have the group answer the following questions for each cause:</a:t>
              </a:r>
            </a:p>
            <a:p>
              <a:pPr marL="742950"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rPr>
                <a:t>Could this potential cause (or combination of causes) possibly have led to this problem?  </a:t>
              </a:r>
            </a:p>
            <a:p>
              <a:pPr marL="742950"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rPr>
                <a:t>Eliminate “causes” that do not satisfy this question</a:t>
              </a:r>
            </a:p>
            <a:p>
              <a:pPr marL="742950"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rPr>
                <a:t>Is/Is Not form - compares the listed “probable cause” to the information known on the Is/Is-not form. The best “probable cause” will explain almost all of the Is/Is-not information. Because there may be multiple factors causing a problem, a ‘probable cause’ may not explain everything on the Is/Is-not.</a:t>
              </a:r>
            </a:p>
            <a:p>
              <a:pPr marL="742950"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rPr>
                <a:t>The tool uses +, - , and ?, which are added to determine the best probable cause</a:t>
              </a:r>
            </a:p>
          </p:txBody>
        </p:sp>
        <p:sp>
          <p:nvSpPr>
            <p:cNvPr id="14" name="AutoShape 3">
              <a:extLst>
                <a:ext uri="{FF2B5EF4-FFF2-40B4-BE49-F238E27FC236}">
                  <a16:creationId xmlns:a16="http://schemas.microsoft.com/office/drawing/2014/main" id="{CAF8C174-4723-6B7C-F6B1-10781101E90B}"/>
                </a:ext>
              </a:extLst>
            </p:cNvPr>
            <p:cNvSpPr>
              <a:spLocks noChangeArrowheads="1"/>
            </p:cNvSpPr>
            <p:nvPr/>
          </p:nvSpPr>
          <p:spPr bwMode="auto">
            <a:xfrm>
              <a:off x="3346450" y="2159000"/>
              <a:ext cx="254000" cy="2333625"/>
            </a:xfrm>
            <a:prstGeom prst="rightArrow">
              <a:avLst>
                <a:gd name="adj1" fmla="val 74426"/>
                <a:gd name="adj2" fmla="val 71213"/>
              </a:avLst>
            </a:prstGeom>
            <a:solidFill>
              <a:schemeClr val="accent1"/>
            </a:solidFill>
            <a:ln w="19050" cap="sq" algn="ctr">
              <a:solidFill>
                <a:schemeClr val="tx1"/>
              </a:solidFill>
              <a:miter lim="800000"/>
              <a:headEnd/>
              <a:tailEnd/>
            </a:ln>
          </p:spPr>
          <p:txBody>
            <a:bodyPr wrap="none" anchor="ctr"/>
            <a:lstStyle/>
            <a:p>
              <a:endParaRPr lang="en-US"/>
            </a:p>
          </p:txBody>
        </p:sp>
        <p:sp>
          <p:nvSpPr>
            <p:cNvPr id="15" name="Rectangle 4">
              <a:extLst>
                <a:ext uri="{FF2B5EF4-FFF2-40B4-BE49-F238E27FC236}">
                  <a16:creationId xmlns:a16="http://schemas.microsoft.com/office/drawing/2014/main" id="{1ADB7D7B-1485-9EC0-D376-D04652C10984}"/>
                </a:ext>
              </a:extLst>
            </p:cNvPr>
            <p:cNvSpPr>
              <a:spLocks noChangeArrowheads="1"/>
            </p:cNvSpPr>
            <p:nvPr/>
          </p:nvSpPr>
          <p:spPr bwMode="auto">
            <a:xfrm>
              <a:off x="490538" y="1573213"/>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Review and Update Problem Statement</a:t>
              </a:r>
            </a:p>
          </p:txBody>
        </p:sp>
        <p:sp>
          <p:nvSpPr>
            <p:cNvPr id="16" name="Rectangle 5">
              <a:extLst>
                <a:ext uri="{FF2B5EF4-FFF2-40B4-BE49-F238E27FC236}">
                  <a16:creationId xmlns:a16="http://schemas.microsoft.com/office/drawing/2014/main" id="{022CCE35-6546-815D-7686-F56A3A8A3D58}"/>
                </a:ext>
              </a:extLst>
            </p:cNvPr>
            <p:cNvSpPr>
              <a:spLocks noChangeArrowheads="1"/>
            </p:cNvSpPr>
            <p:nvPr/>
          </p:nvSpPr>
          <p:spPr bwMode="auto">
            <a:xfrm>
              <a:off x="490538" y="250348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Use Tools to List all Potential Causes</a:t>
              </a:r>
            </a:p>
          </p:txBody>
        </p:sp>
        <p:sp>
          <p:nvSpPr>
            <p:cNvPr id="24" name="Rectangle 6">
              <a:extLst>
                <a:ext uri="{FF2B5EF4-FFF2-40B4-BE49-F238E27FC236}">
                  <a16:creationId xmlns:a16="http://schemas.microsoft.com/office/drawing/2014/main" id="{CB32F5B4-3F1F-0B52-C231-D62DF1F67A3C}"/>
                </a:ext>
              </a:extLst>
            </p:cNvPr>
            <p:cNvSpPr>
              <a:spLocks noChangeArrowheads="1"/>
            </p:cNvSpPr>
            <p:nvPr/>
          </p:nvSpPr>
          <p:spPr bwMode="auto">
            <a:xfrm>
              <a:off x="490538" y="3436938"/>
              <a:ext cx="2620962" cy="635000"/>
            </a:xfrm>
            <a:prstGeom prst="rect">
              <a:avLst/>
            </a:prstGeom>
            <a:solidFill>
              <a:schemeClr val="accent4"/>
            </a:solidFill>
            <a:ln w="12700" cap="sq" algn="ctr">
              <a:solidFill>
                <a:schemeClr val="tx1"/>
              </a:solidFill>
              <a:miter lim="800000"/>
              <a:headEnd/>
              <a:tailEnd/>
            </a:ln>
          </p:spPr>
          <p:txBody>
            <a:bodyPr anchor="ctr"/>
            <a:lstStyle/>
            <a:p>
              <a:pPr marL="6350" lvl="1"/>
              <a:r>
                <a:rPr lang="en-US" sz="1400" b="1">
                  <a:solidFill>
                    <a:schemeClr val="bg1"/>
                  </a:solidFill>
                </a:rPr>
                <a:t>Use Filter to Narrow your List of Potential Causes</a:t>
              </a:r>
            </a:p>
          </p:txBody>
        </p:sp>
        <p:sp>
          <p:nvSpPr>
            <p:cNvPr id="25" name="Rectangle 7">
              <a:extLst>
                <a:ext uri="{FF2B5EF4-FFF2-40B4-BE49-F238E27FC236}">
                  <a16:creationId xmlns:a16="http://schemas.microsoft.com/office/drawing/2014/main" id="{D59A2DC1-6D35-9F8D-9DA0-AFB0098F86C6}"/>
                </a:ext>
              </a:extLst>
            </p:cNvPr>
            <p:cNvSpPr>
              <a:spLocks noChangeArrowheads="1"/>
            </p:cNvSpPr>
            <p:nvPr/>
          </p:nvSpPr>
          <p:spPr bwMode="auto">
            <a:xfrm>
              <a:off x="490538" y="4410075"/>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Verify the Probable Cause</a:t>
              </a:r>
            </a:p>
          </p:txBody>
        </p:sp>
        <p:cxnSp>
          <p:nvCxnSpPr>
            <p:cNvPr id="26" name="AutoShape 8">
              <a:extLst>
                <a:ext uri="{FF2B5EF4-FFF2-40B4-BE49-F238E27FC236}">
                  <a16:creationId xmlns:a16="http://schemas.microsoft.com/office/drawing/2014/main" id="{25A14EBD-61CE-BAB6-0AAD-78D44A8C730C}"/>
                </a:ext>
              </a:extLst>
            </p:cNvPr>
            <p:cNvCxnSpPr>
              <a:cxnSpLocks noChangeShapeType="1"/>
              <a:stCxn id="15" idx="2"/>
              <a:endCxn id="16" idx="0"/>
            </p:cNvCxnSpPr>
            <p:nvPr/>
          </p:nvCxnSpPr>
          <p:spPr bwMode="auto">
            <a:xfrm>
              <a:off x="1801813" y="2208213"/>
              <a:ext cx="0" cy="295275"/>
            </a:xfrm>
            <a:prstGeom prst="straightConnector1">
              <a:avLst/>
            </a:prstGeom>
            <a:noFill/>
            <a:ln w="12700" cap="sq">
              <a:solidFill>
                <a:schemeClr val="tx1"/>
              </a:solidFill>
              <a:round/>
              <a:headEnd/>
              <a:tailEnd type="triangle" w="med" len="med"/>
            </a:ln>
          </p:spPr>
        </p:cxnSp>
        <p:cxnSp>
          <p:nvCxnSpPr>
            <p:cNvPr id="27" name="AutoShape 9">
              <a:extLst>
                <a:ext uri="{FF2B5EF4-FFF2-40B4-BE49-F238E27FC236}">
                  <a16:creationId xmlns:a16="http://schemas.microsoft.com/office/drawing/2014/main" id="{FB9F625F-FC5D-8445-B1DD-3E8256FCC21F}"/>
                </a:ext>
              </a:extLst>
            </p:cNvPr>
            <p:cNvCxnSpPr>
              <a:cxnSpLocks noChangeShapeType="1"/>
              <a:stCxn id="16" idx="2"/>
              <a:endCxn id="24" idx="0"/>
            </p:cNvCxnSpPr>
            <p:nvPr/>
          </p:nvCxnSpPr>
          <p:spPr bwMode="auto">
            <a:xfrm>
              <a:off x="1801813" y="3138488"/>
              <a:ext cx="0" cy="298450"/>
            </a:xfrm>
            <a:prstGeom prst="straightConnector1">
              <a:avLst/>
            </a:prstGeom>
            <a:noFill/>
            <a:ln w="12700" cap="sq">
              <a:solidFill>
                <a:schemeClr val="tx1"/>
              </a:solidFill>
              <a:round/>
              <a:headEnd/>
              <a:tailEnd type="triangle" w="med" len="med"/>
            </a:ln>
          </p:spPr>
        </p:cxnSp>
        <p:cxnSp>
          <p:nvCxnSpPr>
            <p:cNvPr id="35" name="AutoShape 10">
              <a:extLst>
                <a:ext uri="{FF2B5EF4-FFF2-40B4-BE49-F238E27FC236}">
                  <a16:creationId xmlns:a16="http://schemas.microsoft.com/office/drawing/2014/main" id="{84589B13-FE10-66C7-FBE2-DBDA58A3F67E}"/>
                </a:ext>
              </a:extLst>
            </p:cNvPr>
            <p:cNvCxnSpPr>
              <a:cxnSpLocks noChangeShapeType="1"/>
              <a:stCxn id="24" idx="2"/>
              <a:endCxn id="25" idx="0"/>
            </p:cNvCxnSpPr>
            <p:nvPr/>
          </p:nvCxnSpPr>
          <p:spPr bwMode="auto">
            <a:xfrm>
              <a:off x="1801813" y="4071938"/>
              <a:ext cx="0" cy="338137"/>
            </a:xfrm>
            <a:prstGeom prst="straightConnector1">
              <a:avLst/>
            </a:prstGeom>
            <a:noFill/>
            <a:ln w="12700" cap="sq">
              <a:solidFill>
                <a:schemeClr val="tx1"/>
              </a:solidFill>
              <a:round/>
              <a:headEnd/>
              <a:tailEnd type="triangle" w="med" len="med"/>
            </a:ln>
          </p:spPr>
        </p:cxnSp>
        <p:sp>
          <p:nvSpPr>
            <p:cNvPr id="36" name="Rectangle 13">
              <a:extLst>
                <a:ext uri="{FF2B5EF4-FFF2-40B4-BE49-F238E27FC236}">
                  <a16:creationId xmlns:a16="http://schemas.microsoft.com/office/drawing/2014/main" id="{3DDAE858-E746-400A-3A68-84993B04D1F1}"/>
                </a:ext>
              </a:extLst>
            </p:cNvPr>
            <p:cNvSpPr>
              <a:spLocks noChangeArrowheads="1"/>
            </p:cNvSpPr>
            <p:nvPr/>
          </p:nvSpPr>
          <p:spPr bwMode="auto">
            <a:xfrm>
              <a:off x="3803650" y="1701800"/>
              <a:ext cx="4897438" cy="3643551"/>
            </a:xfrm>
            <a:prstGeom prst="rect">
              <a:avLst/>
            </a:prstGeom>
            <a:noFill/>
            <a:ln w="19050" algn="ctr">
              <a:solidFill>
                <a:schemeClr val="tx1"/>
              </a:solidFill>
              <a:prstDash val="sysDot"/>
              <a:miter lim="800000"/>
              <a:headEnd/>
              <a:tailEnd/>
            </a:ln>
          </p:spPr>
          <p:txBody>
            <a:bodyPr wrap="none" anchor="ctr"/>
            <a:lstStyle/>
            <a:p>
              <a:endParaRPr lang="en-US"/>
            </a:p>
          </p:txBody>
        </p:sp>
        <p:sp>
          <p:nvSpPr>
            <p:cNvPr id="37" name="Text Box 14">
              <a:extLst>
                <a:ext uri="{FF2B5EF4-FFF2-40B4-BE49-F238E27FC236}">
                  <a16:creationId xmlns:a16="http://schemas.microsoft.com/office/drawing/2014/main" id="{4CDE730A-727B-D0FD-DE66-C45D5F89F3B0}"/>
                </a:ext>
              </a:extLst>
            </p:cNvPr>
            <p:cNvSpPr txBox="1">
              <a:spLocks noChangeArrowheads="1"/>
            </p:cNvSpPr>
            <p:nvPr/>
          </p:nvSpPr>
          <p:spPr bwMode="auto">
            <a:xfrm>
              <a:off x="3987800" y="1538288"/>
              <a:ext cx="727744" cy="328482"/>
            </a:xfrm>
            <a:prstGeom prst="rect">
              <a:avLst/>
            </a:prstGeom>
            <a:solidFill>
              <a:schemeClr val="bg1"/>
            </a:solidFill>
            <a:ln w="12700" cap="sq" algn="ctr">
              <a:noFill/>
              <a:miter lim="800000"/>
              <a:headEnd/>
              <a:tailEnd/>
            </a:ln>
          </p:spPr>
          <p:txBody>
            <a:bodyPr wrap="none">
              <a:spAutoFit/>
            </a:bodyPr>
            <a:lstStyle/>
            <a:p>
              <a:r>
                <a:rPr lang="en-US" sz="1800" b="1" dirty="0">
                  <a:solidFill>
                    <a:schemeClr val="tx1"/>
                  </a:solidFill>
                </a:rPr>
                <a:t>Step 3</a:t>
              </a:r>
            </a:p>
          </p:txBody>
        </p:sp>
      </p:grpSp>
      <p:grpSp>
        <p:nvGrpSpPr>
          <p:cNvPr id="17" name="Group 16">
            <a:extLst>
              <a:ext uri="{FF2B5EF4-FFF2-40B4-BE49-F238E27FC236}">
                <a16:creationId xmlns:a16="http://schemas.microsoft.com/office/drawing/2014/main" id="{BE4B163B-7FD4-09AE-35FE-37344955764D}"/>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35F1B2BC-E0A7-A36E-2770-F2BB27B40B05}"/>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46A1F489-6840-2209-1160-1ADACCF188E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600F5AEC-9A09-1BA5-AE86-41AA36C95C52}"/>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06863D85-34FA-957A-93A3-4B989AE8DF0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4F163F84-8E8B-67A1-33F8-C1691955C05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869A6CE3-C846-426A-EF17-64638387318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5C101840-F077-328D-ED89-DA28ED0CACA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401056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3600" dirty="0"/>
              <a:t>Step 4: </a:t>
            </a:r>
            <a:br>
              <a:rPr lang="en-US" sz="3600" dirty="0"/>
            </a:br>
            <a:r>
              <a:rPr lang="en-US" sz="3600" dirty="0"/>
              <a:t>Verify the Probable Cause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80</a:t>
            </a:fld>
            <a:endParaRPr lang="en-US"/>
          </a:p>
        </p:txBody>
      </p:sp>
      <p:grpSp>
        <p:nvGrpSpPr>
          <p:cNvPr id="38" name="Group 37">
            <a:extLst>
              <a:ext uri="{FF2B5EF4-FFF2-40B4-BE49-F238E27FC236}">
                <a16:creationId xmlns:a16="http://schemas.microsoft.com/office/drawing/2014/main" id="{234CA025-2085-5E8F-88A5-0F69A5BC4C3B}"/>
              </a:ext>
            </a:extLst>
          </p:cNvPr>
          <p:cNvGrpSpPr/>
          <p:nvPr/>
        </p:nvGrpSpPr>
        <p:grpSpPr>
          <a:xfrm>
            <a:off x="1291590" y="1904048"/>
            <a:ext cx="9608820" cy="4176711"/>
            <a:chOff x="490538" y="1538288"/>
            <a:chExt cx="8212137" cy="3714750"/>
          </a:xfrm>
        </p:grpSpPr>
        <p:sp>
          <p:nvSpPr>
            <p:cNvPr id="13" name="Rectangle 2">
              <a:extLst>
                <a:ext uri="{FF2B5EF4-FFF2-40B4-BE49-F238E27FC236}">
                  <a16:creationId xmlns:a16="http://schemas.microsoft.com/office/drawing/2014/main" id="{497A2F1D-D9F1-9382-B9C6-E464EB934039}"/>
                </a:ext>
              </a:extLst>
            </p:cNvPr>
            <p:cNvSpPr>
              <a:spLocks noChangeArrowheads="1"/>
            </p:cNvSpPr>
            <p:nvPr/>
          </p:nvSpPr>
          <p:spPr bwMode="auto">
            <a:xfrm>
              <a:off x="3844925" y="1912938"/>
              <a:ext cx="4857750" cy="2604934"/>
            </a:xfrm>
            <a:prstGeom prst="rect">
              <a:avLst/>
            </a:prstGeom>
            <a:noFill/>
            <a:ln w="9525">
              <a:noFill/>
              <a:prstDash val="sysDot"/>
              <a:miter lim="800000"/>
              <a:headEnd/>
              <a:tailEnd/>
            </a:ln>
          </p:spPr>
          <p:txBody>
            <a:bodyPr lIns="71438" tIns="36513" rIns="71438" bIns="36513">
              <a:spAutoFit/>
            </a:bodyPr>
            <a:lstStyle/>
            <a:p>
              <a:pPr marL="285750"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Must verify probable cause </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Observation of process</a:t>
              </a:r>
            </a:p>
            <a:p>
              <a:pPr marL="742950" lvl="1"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Testing</a:t>
              </a:r>
            </a:p>
            <a:p>
              <a:pPr marL="285750" indent="-285750" defTabSz="708025">
                <a:lnSpc>
                  <a:spcPct val="115000"/>
                </a:lnSpc>
                <a:spcBef>
                  <a:spcPts val="1200"/>
                </a:spcBef>
                <a:spcAft>
                  <a:spcPct val="20000"/>
                </a:spcAft>
                <a:buClr>
                  <a:schemeClr val="tx1"/>
                </a:buClr>
                <a:buSzPct val="90000"/>
                <a:buFont typeface="Arial" panose="020B0604020202020204" pitchFamily="34" charset="0"/>
                <a:buChar char="•"/>
              </a:pPr>
              <a:r>
                <a:rPr lang="en-US" sz="1600" b="1" dirty="0">
                  <a:solidFill>
                    <a:schemeClr val="tx1"/>
                  </a:solidFill>
                </a:rPr>
                <a:t>If during this process the team finds the problem to be more complex than was originally thought, experimental verification may be required. Tools such as Design of Experiments can be employed to maximize the effectiveness of the experimentation.</a:t>
              </a:r>
            </a:p>
          </p:txBody>
        </p:sp>
        <p:sp>
          <p:nvSpPr>
            <p:cNvPr id="14" name="AutoShape 3">
              <a:extLst>
                <a:ext uri="{FF2B5EF4-FFF2-40B4-BE49-F238E27FC236}">
                  <a16:creationId xmlns:a16="http://schemas.microsoft.com/office/drawing/2014/main" id="{CAF8C174-4723-6B7C-F6B1-10781101E90B}"/>
                </a:ext>
              </a:extLst>
            </p:cNvPr>
            <p:cNvSpPr>
              <a:spLocks noChangeArrowheads="1"/>
            </p:cNvSpPr>
            <p:nvPr/>
          </p:nvSpPr>
          <p:spPr bwMode="auto">
            <a:xfrm>
              <a:off x="3346450" y="2159000"/>
              <a:ext cx="254000" cy="2333625"/>
            </a:xfrm>
            <a:prstGeom prst="rightArrow">
              <a:avLst>
                <a:gd name="adj1" fmla="val 74426"/>
                <a:gd name="adj2" fmla="val 71213"/>
              </a:avLst>
            </a:prstGeom>
            <a:solidFill>
              <a:schemeClr val="accent1"/>
            </a:solidFill>
            <a:ln w="19050" cap="sq" algn="ctr">
              <a:solidFill>
                <a:schemeClr val="tx1"/>
              </a:solidFill>
              <a:miter lim="800000"/>
              <a:headEnd/>
              <a:tailEnd/>
            </a:ln>
          </p:spPr>
          <p:txBody>
            <a:bodyPr wrap="none" anchor="ctr"/>
            <a:lstStyle/>
            <a:p>
              <a:endParaRPr lang="en-US"/>
            </a:p>
          </p:txBody>
        </p:sp>
        <p:sp>
          <p:nvSpPr>
            <p:cNvPr id="15" name="Rectangle 4">
              <a:extLst>
                <a:ext uri="{FF2B5EF4-FFF2-40B4-BE49-F238E27FC236}">
                  <a16:creationId xmlns:a16="http://schemas.microsoft.com/office/drawing/2014/main" id="{1ADB7D7B-1485-9EC0-D376-D04652C10984}"/>
                </a:ext>
              </a:extLst>
            </p:cNvPr>
            <p:cNvSpPr>
              <a:spLocks noChangeArrowheads="1"/>
            </p:cNvSpPr>
            <p:nvPr/>
          </p:nvSpPr>
          <p:spPr bwMode="auto">
            <a:xfrm>
              <a:off x="490538" y="1573213"/>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Review and Update Problem Statement</a:t>
              </a:r>
            </a:p>
          </p:txBody>
        </p:sp>
        <p:sp>
          <p:nvSpPr>
            <p:cNvPr id="16" name="Rectangle 5">
              <a:extLst>
                <a:ext uri="{FF2B5EF4-FFF2-40B4-BE49-F238E27FC236}">
                  <a16:creationId xmlns:a16="http://schemas.microsoft.com/office/drawing/2014/main" id="{022CCE35-6546-815D-7686-F56A3A8A3D58}"/>
                </a:ext>
              </a:extLst>
            </p:cNvPr>
            <p:cNvSpPr>
              <a:spLocks noChangeArrowheads="1"/>
            </p:cNvSpPr>
            <p:nvPr/>
          </p:nvSpPr>
          <p:spPr bwMode="auto">
            <a:xfrm>
              <a:off x="490538" y="250348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dirty="0"/>
                <a:t>Use Tools to List all Potential Causes</a:t>
              </a:r>
            </a:p>
          </p:txBody>
        </p:sp>
        <p:sp>
          <p:nvSpPr>
            <p:cNvPr id="24" name="Rectangle 6">
              <a:extLst>
                <a:ext uri="{FF2B5EF4-FFF2-40B4-BE49-F238E27FC236}">
                  <a16:creationId xmlns:a16="http://schemas.microsoft.com/office/drawing/2014/main" id="{CB32F5B4-3F1F-0B52-C231-D62DF1F67A3C}"/>
                </a:ext>
              </a:extLst>
            </p:cNvPr>
            <p:cNvSpPr>
              <a:spLocks noChangeArrowheads="1"/>
            </p:cNvSpPr>
            <p:nvPr/>
          </p:nvSpPr>
          <p:spPr bwMode="auto">
            <a:xfrm>
              <a:off x="490538" y="3436938"/>
              <a:ext cx="2620962" cy="635000"/>
            </a:xfrm>
            <a:prstGeom prst="rect">
              <a:avLst/>
            </a:prstGeom>
            <a:solidFill>
              <a:schemeClr val="bg2"/>
            </a:solidFill>
            <a:ln w="12700" cap="sq" algn="ctr">
              <a:solidFill>
                <a:schemeClr val="tx1"/>
              </a:solidFill>
              <a:miter lim="800000"/>
              <a:headEnd/>
              <a:tailEnd/>
            </a:ln>
          </p:spPr>
          <p:txBody>
            <a:bodyPr anchor="ctr"/>
            <a:lstStyle/>
            <a:p>
              <a:pPr marL="6350" lvl="1"/>
              <a:r>
                <a:rPr lang="en-US" sz="1400" b="1"/>
                <a:t>Use Filter to Narrow your List of Potential Causes</a:t>
              </a:r>
            </a:p>
          </p:txBody>
        </p:sp>
        <p:sp>
          <p:nvSpPr>
            <p:cNvPr id="25" name="Rectangle 7">
              <a:extLst>
                <a:ext uri="{FF2B5EF4-FFF2-40B4-BE49-F238E27FC236}">
                  <a16:creationId xmlns:a16="http://schemas.microsoft.com/office/drawing/2014/main" id="{D59A2DC1-6D35-9F8D-9DA0-AFB0098F86C6}"/>
                </a:ext>
              </a:extLst>
            </p:cNvPr>
            <p:cNvSpPr>
              <a:spLocks noChangeArrowheads="1"/>
            </p:cNvSpPr>
            <p:nvPr/>
          </p:nvSpPr>
          <p:spPr bwMode="auto">
            <a:xfrm>
              <a:off x="490538" y="4410075"/>
              <a:ext cx="2620962" cy="635000"/>
            </a:xfrm>
            <a:prstGeom prst="rect">
              <a:avLst/>
            </a:prstGeom>
            <a:solidFill>
              <a:schemeClr val="accent4"/>
            </a:solidFill>
            <a:ln w="12700" cap="sq" algn="ctr">
              <a:solidFill>
                <a:schemeClr val="tx1"/>
              </a:solidFill>
              <a:miter lim="800000"/>
              <a:headEnd/>
              <a:tailEnd/>
            </a:ln>
          </p:spPr>
          <p:txBody>
            <a:bodyPr anchor="ctr"/>
            <a:lstStyle/>
            <a:p>
              <a:pPr marL="6350" lvl="1"/>
              <a:r>
                <a:rPr lang="en-US" sz="1400" b="1">
                  <a:solidFill>
                    <a:schemeClr val="bg1"/>
                  </a:solidFill>
                </a:rPr>
                <a:t>Verify the Probable Cause</a:t>
              </a:r>
            </a:p>
          </p:txBody>
        </p:sp>
        <p:cxnSp>
          <p:nvCxnSpPr>
            <p:cNvPr id="26" name="AutoShape 8">
              <a:extLst>
                <a:ext uri="{FF2B5EF4-FFF2-40B4-BE49-F238E27FC236}">
                  <a16:creationId xmlns:a16="http://schemas.microsoft.com/office/drawing/2014/main" id="{25A14EBD-61CE-BAB6-0AAD-78D44A8C730C}"/>
                </a:ext>
              </a:extLst>
            </p:cNvPr>
            <p:cNvCxnSpPr>
              <a:cxnSpLocks noChangeShapeType="1"/>
              <a:stCxn id="15" idx="2"/>
              <a:endCxn id="16" idx="0"/>
            </p:cNvCxnSpPr>
            <p:nvPr/>
          </p:nvCxnSpPr>
          <p:spPr bwMode="auto">
            <a:xfrm>
              <a:off x="1801813" y="2208213"/>
              <a:ext cx="0" cy="295275"/>
            </a:xfrm>
            <a:prstGeom prst="straightConnector1">
              <a:avLst/>
            </a:prstGeom>
            <a:noFill/>
            <a:ln w="12700" cap="sq">
              <a:solidFill>
                <a:schemeClr val="tx1"/>
              </a:solidFill>
              <a:round/>
              <a:headEnd/>
              <a:tailEnd type="triangle" w="med" len="med"/>
            </a:ln>
          </p:spPr>
        </p:cxnSp>
        <p:cxnSp>
          <p:nvCxnSpPr>
            <p:cNvPr id="27" name="AutoShape 9">
              <a:extLst>
                <a:ext uri="{FF2B5EF4-FFF2-40B4-BE49-F238E27FC236}">
                  <a16:creationId xmlns:a16="http://schemas.microsoft.com/office/drawing/2014/main" id="{FB9F625F-FC5D-8445-B1DD-3E8256FCC21F}"/>
                </a:ext>
              </a:extLst>
            </p:cNvPr>
            <p:cNvCxnSpPr>
              <a:cxnSpLocks noChangeShapeType="1"/>
              <a:stCxn id="16" idx="2"/>
              <a:endCxn id="24" idx="0"/>
            </p:cNvCxnSpPr>
            <p:nvPr/>
          </p:nvCxnSpPr>
          <p:spPr bwMode="auto">
            <a:xfrm>
              <a:off x="1801813" y="3138488"/>
              <a:ext cx="0" cy="298450"/>
            </a:xfrm>
            <a:prstGeom prst="straightConnector1">
              <a:avLst/>
            </a:prstGeom>
            <a:noFill/>
            <a:ln w="12700" cap="sq">
              <a:solidFill>
                <a:schemeClr val="tx1"/>
              </a:solidFill>
              <a:round/>
              <a:headEnd/>
              <a:tailEnd type="triangle" w="med" len="med"/>
            </a:ln>
          </p:spPr>
        </p:cxnSp>
        <p:cxnSp>
          <p:nvCxnSpPr>
            <p:cNvPr id="35" name="AutoShape 10">
              <a:extLst>
                <a:ext uri="{FF2B5EF4-FFF2-40B4-BE49-F238E27FC236}">
                  <a16:creationId xmlns:a16="http://schemas.microsoft.com/office/drawing/2014/main" id="{84589B13-FE10-66C7-FBE2-DBDA58A3F67E}"/>
                </a:ext>
              </a:extLst>
            </p:cNvPr>
            <p:cNvCxnSpPr>
              <a:cxnSpLocks noChangeShapeType="1"/>
              <a:stCxn id="24" idx="2"/>
              <a:endCxn id="25" idx="0"/>
            </p:cNvCxnSpPr>
            <p:nvPr/>
          </p:nvCxnSpPr>
          <p:spPr bwMode="auto">
            <a:xfrm>
              <a:off x="1801813" y="4071938"/>
              <a:ext cx="0" cy="338137"/>
            </a:xfrm>
            <a:prstGeom prst="straightConnector1">
              <a:avLst/>
            </a:prstGeom>
            <a:noFill/>
            <a:ln w="12700" cap="sq">
              <a:solidFill>
                <a:schemeClr val="tx1"/>
              </a:solidFill>
              <a:round/>
              <a:headEnd/>
              <a:tailEnd type="triangle" w="med" len="med"/>
            </a:ln>
          </p:spPr>
        </p:cxnSp>
        <p:sp>
          <p:nvSpPr>
            <p:cNvPr id="36" name="Rectangle 13">
              <a:extLst>
                <a:ext uri="{FF2B5EF4-FFF2-40B4-BE49-F238E27FC236}">
                  <a16:creationId xmlns:a16="http://schemas.microsoft.com/office/drawing/2014/main" id="{3DDAE858-E746-400A-3A68-84993B04D1F1}"/>
                </a:ext>
              </a:extLst>
            </p:cNvPr>
            <p:cNvSpPr>
              <a:spLocks noChangeArrowheads="1"/>
            </p:cNvSpPr>
            <p:nvPr/>
          </p:nvSpPr>
          <p:spPr bwMode="auto">
            <a:xfrm>
              <a:off x="3803650" y="1701800"/>
              <a:ext cx="4897438" cy="3551238"/>
            </a:xfrm>
            <a:prstGeom prst="rect">
              <a:avLst/>
            </a:prstGeom>
            <a:noFill/>
            <a:ln w="19050" algn="ctr">
              <a:solidFill>
                <a:schemeClr val="tx1"/>
              </a:solidFill>
              <a:prstDash val="sysDot"/>
              <a:miter lim="800000"/>
              <a:headEnd/>
              <a:tailEnd/>
            </a:ln>
          </p:spPr>
          <p:txBody>
            <a:bodyPr wrap="none" anchor="ctr"/>
            <a:lstStyle/>
            <a:p>
              <a:endParaRPr lang="en-US"/>
            </a:p>
          </p:txBody>
        </p:sp>
        <p:sp>
          <p:nvSpPr>
            <p:cNvPr id="37" name="Text Box 14">
              <a:extLst>
                <a:ext uri="{FF2B5EF4-FFF2-40B4-BE49-F238E27FC236}">
                  <a16:creationId xmlns:a16="http://schemas.microsoft.com/office/drawing/2014/main" id="{4CDE730A-727B-D0FD-DE66-C45D5F89F3B0}"/>
                </a:ext>
              </a:extLst>
            </p:cNvPr>
            <p:cNvSpPr txBox="1">
              <a:spLocks noChangeArrowheads="1"/>
            </p:cNvSpPr>
            <p:nvPr/>
          </p:nvSpPr>
          <p:spPr bwMode="auto">
            <a:xfrm>
              <a:off x="3987800" y="1538288"/>
              <a:ext cx="727744" cy="328482"/>
            </a:xfrm>
            <a:prstGeom prst="rect">
              <a:avLst/>
            </a:prstGeom>
            <a:solidFill>
              <a:schemeClr val="bg1"/>
            </a:solidFill>
            <a:ln w="12700" cap="sq" algn="ctr">
              <a:noFill/>
              <a:miter lim="800000"/>
              <a:headEnd/>
              <a:tailEnd/>
            </a:ln>
          </p:spPr>
          <p:txBody>
            <a:bodyPr wrap="none">
              <a:spAutoFit/>
            </a:bodyPr>
            <a:lstStyle/>
            <a:p>
              <a:r>
                <a:rPr lang="en-US" sz="1800" b="1" dirty="0">
                  <a:solidFill>
                    <a:schemeClr val="tx1"/>
                  </a:solidFill>
                </a:rPr>
                <a:t>Step 4</a:t>
              </a:r>
            </a:p>
          </p:txBody>
        </p:sp>
      </p:grpSp>
      <p:grpSp>
        <p:nvGrpSpPr>
          <p:cNvPr id="17" name="Group 16">
            <a:extLst>
              <a:ext uri="{FF2B5EF4-FFF2-40B4-BE49-F238E27FC236}">
                <a16:creationId xmlns:a16="http://schemas.microsoft.com/office/drawing/2014/main" id="{07A89EE0-C0A0-09D7-CDC2-26904A0F8483}"/>
              </a:ext>
            </a:extLst>
          </p:cNvPr>
          <p:cNvGrpSpPr/>
          <p:nvPr/>
        </p:nvGrpSpPr>
        <p:grpSpPr>
          <a:xfrm>
            <a:off x="838200" y="297639"/>
            <a:ext cx="4561953" cy="307138"/>
            <a:chOff x="838200" y="297639"/>
            <a:chExt cx="4561953" cy="307138"/>
          </a:xfrm>
        </p:grpSpPr>
        <p:grpSp>
          <p:nvGrpSpPr>
            <p:cNvPr id="18" name="Group 17">
              <a:extLst>
                <a:ext uri="{FF2B5EF4-FFF2-40B4-BE49-F238E27FC236}">
                  <a16:creationId xmlns:a16="http://schemas.microsoft.com/office/drawing/2014/main" id="{AF30613D-ECD0-4ED1-6494-74C736A2EB6E}"/>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78AFE928-ABDE-8234-F11C-CBF89E4EB6E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DA4585AE-8FAD-714B-0889-BF5145E52EDC}"/>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A1833CE4-46EE-69CD-66A1-18F854F683C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1">
                  <a:extLst>
                    <a:ext uri="{FF2B5EF4-FFF2-40B4-BE49-F238E27FC236}">
                      <a16:creationId xmlns:a16="http://schemas.microsoft.com/office/drawing/2014/main" id="{AAB8D328-09A8-1FCF-52A0-EAFB98142C8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BC929ABC-C290-A9EB-38FD-1FF8FA89FE4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8267AA5-A1B3-8864-5522-26D59A18203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0421289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Determine Root Cause(s)</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information provided, determine the root cause(s).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Utilize the information on the problem-solving countermeasure form and to determine the root cause(s).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The root cause(s) of the bakery problem.</a:t>
            </a:r>
          </a:p>
        </p:txBody>
      </p:sp>
      <p:grpSp>
        <p:nvGrpSpPr>
          <p:cNvPr id="3" name="Group 2">
            <a:extLst>
              <a:ext uri="{FF2B5EF4-FFF2-40B4-BE49-F238E27FC236}">
                <a16:creationId xmlns:a16="http://schemas.microsoft.com/office/drawing/2014/main" id="{9809F01C-9C9F-A78E-D0C2-BE94A47C04FB}"/>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9EB20674-DCC9-CABE-8A7B-AB93F2E06DC3}"/>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3B6454EC-A3FC-DA3B-BFFA-F5C488FDF69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BCE6DE0A-8AB6-40E6-10CE-48983E95E518}"/>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11E163F2-0D1B-CDFD-27C9-6EC87E39E6A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6C9766B9-995F-0E38-F80D-13F2BA18D33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3D8477E4-45D6-457F-E832-EAC9FD21134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F5063621-98DE-7BA5-C246-FBF4D73C7C7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4421414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F84AF937-96FA-5D12-2E85-D0B142D1FE87}"/>
              </a:ext>
            </a:extLst>
          </p:cNvPr>
          <p:cNvGraphicFramePr>
            <a:graphicFrameLocks noChangeAspect="1"/>
          </p:cNvGraphicFramePr>
          <p:nvPr/>
        </p:nvGraphicFramePr>
        <p:xfrm>
          <a:off x="2504209" y="583769"/>
          <a:ext cx="7362104" cy="5823036"/>
        </p:xfrm>
        <a:graphic>
          <a:graphicData uri="http://schemas.openxmlformats.org/presentationml/2006/ole">
            <mc:AlternateContent xmlns:mc="http://schemas.openxmlformats.org/markup-compatibility/2006">
              <mc:Choice xmlns:v="urn:schemas-microsoft-com:vml" Requires="v">
                <p:oleObj name="Worksheet" r:id="rId2" imgW="8258089" imgH="6534082" progId="Excel.Sheet.12">
                  <p:embed/>
                </p:oleObj>
              </mc:Choice>
              <mc:Fallback>
                <p:oleObj name="Worksheet" r:id="rId2" imgW="8258089" imgH="6534082" progId="Excel.Sheet.12">
                  <p:embed/>
                  <p:pic>
                    <p:nvPicPr>
                      <p:cNvPr id="7" name="Object 6">
                        <a:extLst>
                          <a:ext uri="{FF2B5EF4-FFF2-40B4-BE49-F238E27FC236}">
                            <a16:creationId xmlns:a16="http://schemas.microsoft.com/office/drawing/2014/main" id="{F84AF937-96FA-5D12-2E85-D0B142D1FE87}"/>
                          </a:ext>
                        </a:extLst>
                      </p:cNvPr>
                      <p:cNvPicPr/>
                      <p:nvPr/>
                    </p:nvPicPr>
                    <p:blipFill>
                      <a:blip r:embed="rId3"/>
                      <a:stretch>
                        <a:fillRect/>
                      </a:stretch>
                    </p:blipFill>
                    <p:spPr>
                      <a:xfrm>
                        <a:off x="2504209" y="583769"/>
                        <a:ext cx="7362104" cy="5823036"/>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1D12626A-8C75-0C58-179E-876961963688}"/>
              </a:ext>
            </a:extLst>
          </p:cNvPr>
          <p:cNvGrpSpPr/>
          <p:nvPr/>
        </p:nvGrpSpPr>
        <p:grpSpPr>
          <a:xfrm>
            <a:off x="838200" y="297639"/>
            <a:ext cx="4561953" cy="307138"/>
            <a:chOff x="838200" y="297639"/>
            <a:chExt cx="4561953" cy="307138"/>
          </a:xfrm>
        </p:grpSpPr>
        <p:grpSp>
          <p:nvGrpSpPr>
            <p:cNvPr id="3" name="Group 2">
              <a:extLst>
                <a:ext uri="{FF2B5EF4-FFF2-40B4-BE49-F238E27FC236}">
                  <a16:creationId xmlns:a16="http://schemas.microsoft.com/office/drawing/2014/main" id="{75FFAECE-8AB3-C464-23DE-8B0CF4B01C04}"/>
                </a:ext>
              </a:extLst>
            </p:cNvPr>
            <p:cNvGrpSpPr/>
            <p:nvPr/>
          </p:nvGrpSpPr>
          <p:grpSpPr>
            <a:xfrm>
              <a:off x="838200" y="297639"/>
              <a:ext cx="1373842" cy="290657"/>
              <a:chOff x="838200" y="297639"/>
              <a:chExt cx="1373842" cy="290657"/>
            </a:xfrm>
          </p:grpSpPr>
          <p:sp>
            <p:nvSpPr>
              <p:cNvPr id="5" name="AutoShape 9">
                <a:extLst>
                  <a:ext uri="{FF2B5EF4-FFF2-40B4-BE49-F238E27FC236}">
                    <a16:creationId xmlns:a16="http://schemas.microsoft.com/office/drawing/2014/main" id="{7FE24174-03DE-7C6F-6512-7A5338C0665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55C8FF20-92F9-B0D8-A05D-9869DABEC54D}"/>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A2FBE593-53AC-A975-06E1-51AED198B84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8F68C31F-AF62-135C-2FD0-FF167C71EF7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7110791A-A600-7BC9-312F-84EA031245F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905A5ED6-F94F-22D7-D17D-516FEE13543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2959242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F84AF937-96FA-5D12-2E85-D0B142D1FE87}"/>
              </a:ext>
            </a:extLst>
          </p:cNvPr>
          <p:cNvGraphicFramePr>
            <a:graphicFrameLocks noChangeAspect="1"/>
          </p:cNvGraphicFramePr>
          <p:nvPr>
            <p:extLst>
              <p:ext uri="{D42A27DB-BD31-4B8C-83A1-F6EECF244321}">
                <p14:modId xmlns:p14="http://schemas.microsoft.com/office/powerpoint/2010/main" val="3741302947"/>
              </p:ext>
            </p:extLst>
          </p:nvPr>
        </p:nvGraphicFramePr>
        <p:xfrm>
          <a:off x="2504209" y="583769"/>
          <a:ext cx="7362104" cy="5823036"/>
        </p:xfrm>
        <a:graphic>
          <a:graphicData uri="http://schemas.openxmlformats.org/presentationml/2006/ole">
            <mc:AlternateContent xmlns:mc="http://schemas.openxmlformats.org/markup-compatibility/2006">
              <mc:Choice xmlns:v="urn:schemas-microsoft-com:vml" Requires="v">
                <p:oleObj name="Worksheet" r:id="rId2" imgW="8258089" imgH="6534082" progId="Excel.Sheet.12">
                  <p:embed/>
                </p:oleObj>
              </mc:Choice>
              <mc:Fallback>
                <p:oleObj name="Worksheet" r:id="rId2" imgW="8258089" imgH="6534082" progId="Excel.Sheet.12">
                  <p:embed/>
                  <p:pic>
                    <p:nvPicPr>
                      <p:cNvPr id="7" name="Object 6">
                        <a:extLst>
                          <a:ext uri="{FF2B5EF4-FFF2-40B4-BE49-F238E27FC236}">
                            <a16:creationId xmlns:a16="http://schemas.microsoft.com/office/drawing/2014/main" id="{F84AF937-96FA-5D12-2E85-D0B142D1FE87}"/>
                          </a:ext>
                        </a:extLst>
                      </p:cNvPr>
                      <p:cNvPicPr/>
                      <p:nvPr/>
                    </p:nvPicPr>
                    <p:blipFill>
                      <a:blip r:embed="rId3"/>
                      <a:stretch>
                        <a:fillRect/>
                      </a:stretch>
                    </p:blipFill>
                    <p:spPr>
                      <a:xfrm>
                        <a:off x="2504209" y="583769"/>
                        <a:ext cx="7362104" cy="5823036"/>
                      </a:xfrm>
                      <a:prstGeom prst="rect">
                        <a:avLst/>
                      </a:prstGeom>
                    </p:spPr>
                  </p:pic>
                </p:oleObj>
              </mc:Fallback>
            </mc:AlternateContent>
          </a:graphicData>
        </a:graphic>
      </p:graphicFrame>
      <p:grpSp>
        <p:nvGrpSpPr>
          <p:cNvPr id="2" name="Group 1">
            <a:extLst>
              <a:ext uri="{FF2B5EF4-FFF2-40B4-BE49-F238E27FC236}">
                <a16:creationId xmlns:a16="http://schemas.microsoft.com/office/drawing/2014/main" id="{0190FE69-6679-AD37-4371-C48E3A2E5CAA}"/>
              </a:ext>
            </a:extLst>
          </p:cNvPr>
          <p:cNvGrpSpPr/>
          <p:nvPr/>
        </p:nvGrpSpPr>
        <p:grpSpPr>
          <a:xfrm>
            <a:off x="838200" y="297639"/>
            <a:ext cx="4561953" cy="307138"/>
            <a:chOff x="838200" y="297639"/>
            <a:chExt cx="4561953" cy="307138"/>
          </a:xfrm>
        </p:grpSpPr>
        <p:grpSp>
          <p:nvGrpSpPr>
            <p:cNvPr id="3" name="Group 2">
              <a:extLst>
                <a:ext uri="{FF2B5EF4-FFF2-40B4-BE49-F238E27FC236}">
                  <a16:creationId xmlns:a16="http://schemas.microsoft.com/office/drawing/2014/main" id="{DDBDDE38-4DAC-F3DB-A671-5749C054E951}"/>
                </a:ext>
              </a:extLst>
            </p:cNvPr>
            <p:cNvGrpSpPr/>
            <p:nvPr/>
          </p:nvGrpSpPr>
          <p:grpSpPr>
            <a:xfrm>
              <a:off x="838200" y="297639"/>
              <a:ext cx="1373842" cy="290657"/>
              <a:chOff x="838200" y="297639"/>
              <a:chExt cx="1373842" cy="290657"/>
            </a:xfrm>
          </p:grpSpPr>
          <p:sp>
            <p:nvSpPr>
              <p:cNvPr id="5" name="AutoShape 9">
                <a:extLst>
                  <a:ext uri="{FF2B5EF4-FFF2-40B4-BE49-F238E27FC236}">
                    <a16:creationId xmlns:a16="http://schemas.microsoft.com/office/drawing/2014/main" id="{23F14A6C-C19A-A8F9-4B9E-D69F487224B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6" name="Group 5">
                <a:extLst>
                  <a:ext uri="{FF2B5EF4-FFF2-40B4-BE49-F238E27FC236}">
                    <a16:creationId xmlns:a16="http://schemas.microsoft.com/office/drawing/2014/main" id="{056109FB-8638-858C-160F-45374F0BEED1}"/>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A9668D1A-AD32-0EB5-C2B7-5295D7EC6EF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F4514719-088E-008E-9120-A02293670D7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EB381381-7469-CAA6-EB9A-CDBD21DC45C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 name="TextBox 3">
              <a:extLst>
                <a:ext uri="{FF2B5EF4-FFF2-40B4-BE49-F238E27FC236}">
                  <a16:creationId xmlns:a16="http://schemas.microsoft.com/office/drawing/2014/main" id="{07979220-0F22-D47C-1BF6-EB0751507DB6}"/>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327780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35" name="Group 34">
            <a:extLst>
              <a:ext uri="{FF2B5EF4-FFF2-40B4-BE49-F238E27FC236}">
                <a16:creationId xmlns:a16="http://schemas.microsoft.com/office/drawing/2014/main" id="{30555164-7473-C9F2-64F3-0DFE801CC3FC}"/>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6" name="Group 65">
            <a:extLst>
              <a:ext uri="{FF2B5EF4-FFF2-40B4-BE49-F238E27FC236}">
                <a16:creationId xmlns:a16="http://schemas.microsoft.com/office/drawing/2014/main" id="{3DCCBD8E-50D5-EDA3-E407-85FEB4D797BF}"/>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67" name="Group 66">
            <a:extLst>
              <a:ext uri="{FF2B5EF4-FFF2-40B4-BE49-F238E27FC236}">
                <a16:creationId xmlns:a16="http://schemas.microsoft.com/office/drawing/2014/main" id="{8C89A7A2-C116-6159-DFC8-FEA9B3C24361}"/>
              </a:ext>
            </a:extLst>
          </p:cNvPr>
          <p:cNvGrpSpPr/>
          <p:nvPr/>
        </p:nvGrpSpPr>
        <p:grpSpPr>
          <a:xfrm>
            <a:off x="5758860" y="2556216"/>
            <a:ext cx="2057400" cy="775484"/>
            <a:chOff x="5758860" y="2556216"/>
            <a:chExt cx="2057400" cy="775484"/>
          </a:xfrm>
        </p:grpSpPr>
        <p:sp>
          <p:nvSpPr>
            <p:cNvPr id="34" name="Rectangle 33">
              <a:extLst>
                <a:ext uri="{FF2B5EF4-FFF2-40B4-BE49-F238E27FC236}">
                  <a16:creationId xmlns:a16="http://schemas.microsoft.com/office/drawing/2014/main" id="{7923D2B3-161B-CC15-14D5-89CFE4525E03}"/>
                </a:ext>
              </a:extLst>
            </p:cNvPr>
            <p:cNvSpPr/>
            <p:nvPr/>
          </p:nvSpPr>
          <p:spPr>
            <a:xfrm>
              <a:off x="5758860" y="2556216"/>
              <a:ext cx="2057400" cy="775484"/>
            </a:xfrm>
            <a:prstGeom prst="rect">
              <a:avLst/>
            </a:prstGeom>
            <a:solidFill>
              <a:srgbClr val="81100A"/>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5758860" y="2556216"/>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7D667F1A-0D7D-A829-2ACD-6A24267A4D09}"/>
              </a:ext>
            </a:extLst>
          </p:cNvPr>
          <p:cNvGrpSpPr/>
          <p:nvPr/>
        </p:nvGrpSpPr>
        <p:grpSpPr>
          <a:xfrm>
            <a:off x="5764472" y="3726182"/>
            <a:ext cx="2057400" cy="775484"/>
            <a:chOff x="8804439" y="3542942"/>
            <a:chExt cx="1700011" cy="540912"/>
          </a:xfrm>
        </p:grpSpPr>
        <p:sp>
          <p:nvSpPr>
            <p:cNvPr id="14" name="Rectangle 13">
              <a:extLst>
                <a:ext uri="{FF2B5EF4-FFF2-40B4-BE49-F238E27FC236}">
                  <a16:creationId xmlns:a16="http://schemas.microsoft.com/office/drawing/2014/main" id="{0C061E12-9A39-29FB-284B-D3E55DC222ED}"/>
                </a:ext>
              </a:extLst>
            </p:cNvPr>
            <p:cNvSpPr/>
            <p:nvPr/>
          </p:nvSpPr>
          <p:spPr>
            <a:xfrm>
              <a:off x="8804439" y="3542942"/>
              <a:ext cx="1700011" cy="540912"/>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8804439" y="3542942"/>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261951291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10. Develop Countermeasures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Countermeasures are specific actions or interventions designed to eliminate or mitigate the root causes of a problem, preventing recurrence and improving process performance.</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To directly address and eliminate the identified root causes of a problem. By implementing effective countermeasures, the goal is to reduce or eliminate the impact of the problem on the process or business.</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3139321"/>
          </a:xfrm>
          <a:prstGeom prst="rect">
            <a:avLst/>
          </a:prstGeom>
          <a:noFill/>
        </p:spPr>
        <p:txBody>
          <a:bodyPr wrap="square" rtlCol="0">
            <a:spAutoFit/>
          </a:bodyPr>
          <a:lstStyle/>
          <a:p>
            <a:pPr marL="285750" indent="-285750">
              <a:buFont typeface="Arial" panose="020B0604020202020204" pitchFamily="34" charset="0"/>
              <a:buChar char="•"/>
            </a:pPr>
            <a:r>
              <a:rPr lang="en-US" dirty="0"/>
              <a:t>Implement a new quality control check at each stage of the production process to catch defects early.</a:t>
            </a:r>
          </a:p>
          <a:p>
            <a:pPr marL="285750" indent="-285750">
              <a:buFont typeface="Arial" panose="020B0604020202020204" pitchFamily="34" charset="0"/>
              <a:buChar char="•"/>
            </a:pPr>
            <a:r>
              <a:rPr lang="en-US" dirty="0"/>
              <a:t>Introduce a new scheduling system to ensure adequate staffing during peak hours.</a:t>
            </a:r>
          </a:p>
          <a:p>
            <a:pPr marL="285750" indent="-285750">
              <a:buFont typeface="Arial" panose="020B0604020202020204" pitchFamily="34" charset="0"/>
              <a:buChar char="•"/>
            </a:pPr>
            <a:r>
              <a:rPr lang="en-US" dirty="0"/>
              <a:t>Implement an automated inventory monitoring system to trigger reorders when stock levels are low.</a:t>
            </a:r>
          </a:p>
        </p:txBody>
      </p:sp>
      <p:grpSp>
        <p:nvGrpSpPr>
          <p:cNvPr id="5" name="Group 4">
            <a:extLst>
              <a:ext uri="{FF2B5EF4-FFF2-40B4-BE49-F238E27FC236}">
                <a16:creationId xmlns:a16="http://schemas.microsoft.com/office/drawing/2014/main" id="{188ACE4E-11EE-2B8F-30BB-9D99D17606FC}"/>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0623CE8D-C3F3-5457-3C58-1C73B73F03CD}"/>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9F2FCC12-8751-ADB5-BEB9-8F102CC0DD8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578893E2-DA00-358C-D5E1-698E3B80DE96}"/>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B4869CA0-17AE-570E-95E0-AD7200A2AC0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E58E2DDD-3C61-3E06-42A5-F31E575B1EB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05CD01F5-FE9C-0BA3-C4BF-39E1F9C686F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8CE96EBB-CDFF-AD22-05A4-D84E468B4AB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246674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2485-8E9C-6023-1C3D-BCA24C53EF3A}"/>
              </a:ext>
            </a:extLst>
          </p:cNvPr>
          <p:cNvSpPr>
            <a:spLocks noGrp="1"/>
          </p:cNvSpPr>
          <p:nvPr>
            <p:ph type="title"/>
          </p:nvPr>
        </p:nvSpPr>
        <p:spPr/>
        <p:txBody>
          <a:bodyPr>
            <a:normAutofit/>
          </a:bodyPr>
          <a:lstStyle/>
          <a:p>
            <a:r>
              <a:rPr lang="en-US" sz="3000" dirty="0"/>
              <a:t>Problem-Solving Countermeasure Form</a:t>
            </a:r>
          </a:p>
        </p:txBody>
      </p:sp>
      <p:sp>
        <p:nvSpPr>
          <p:cNvPr id="4" name="Text Placeholder 3">
            <a:extLst>
              <a:ext uri="{FF2B5EF4-FFF2-40B4-BE49-F238E27FC236}">
                <a16:creationId xmlns:a16="http://schemas.microsoft.com/office/drawing/2014/main" id="{7C22479F-D12E-14EE-5E6E-4280C64E1028}"/>
              </a:ext>
            </a:extLst>
          </p:cNvPr>
          <p:cNvSpPr>
            <a:spLocks noGrp="1"/>
          </p:cNvSpPr>
          <p:nvPr>
            <p:ph type="body" sz="half" idx="2"/>
          </p:nvPr>
        </p:nvSpPr>
        <p:spPr/>
        <p:txBody>
          <a:bodyPr/>
          <a:lstStyle/>
          <a:p>
            <a:r>
              <a:rPr lang="en-US" dirty="0"/>
              <a:t>This form has been created as a tool that follows the Problem-Solving Process from the previous slide. </a:t>
            </a:r>
          </a:p>
          <a:p>
            <a:r>
              <a:rPr lang="en-US" dirty="0"/>
              <a:t>Each step in the process is broken out in detail on this form to help guide you to identify the root cause of the problem.</a:t>
            </a:r>
          </a:p>
        </p:txBody>
      </p:sp>
      <p:pic>
        <p:nvPicPr>
          <p:cNvPr id="6" name="Content Placeholder 5">
            <a:extLst>
              <a:ext uri="{FF2B5EF4-FFF2-40B4-BE49-F238E27FC236}">
                <a16:creationId xmlns:a16="http://schemas.microsoft.com/office/drawing/2014/main" id="{05CACA05-17A8-7A02-04C3-306506BC303E}"/>
              </a:ext>
            </a:extLst>
          </p:cNvPr>
          <p:cNvPicPr>
            <a:picLocks noGrp="1" noChangeAspect="1"/>
          </p:cNvPicPr>
          <p:nvPr>
            <p:ph idx="1"/>
          </p:nvPr>
        </p:nvPicPr>
        <p:blipFill>
          <a:blip r:embed="rId2"/>
          <a:stretch>
            <a:fillRect/>
          </a:stretch>
        </p:blipFill>
        <p:spPr>
          <a:xfrm>
            <a:off x="5808517" y="629223"/>
            <a:ext cx="4627530" cy="5688450"/>
          </a:xfrm>
          <a:prstGeom prst="rect">
            <a:avLst/>
          </a:prstGeom>
        </p:spPr>
      </p:pic>
      <p:grpSp>
        <p:nvGrpSpPr>
          <p:cNvPr id="3" name="Group 2">
            <a:extLst>
              <a:ext uri="{FF2B5EF4-FFF2-40B4-BE49-F238E27FC236}">
                <a16:creationId xmlns:a16="http://schemas.microsoft.com/office/drawing/2014/main" id="{E1856466-55C6-D616-2517-AF05B9018957}"/>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7A46A461-F6C9-9E49-A3C5-B199413D3E8F}"/>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DFF0E5A8-C05A-2424-C157-F042487A08D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64AA5C85-58B7-21C2-64A1-74772FF9E139}"/>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CD4EE534-98D1-C2DC-1BC5-EB78EE1AB4E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DE87A265-1941-E71D-7A67-0101D9BB8DE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1871D6F1-9BD3-0A25-CC1B-5DB28EAFF9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A39E9AED-B989-1184-5D27-EE08A7FE153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6050610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Select the Right Solution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87</a:t>
            </a:fld>
            <a:endParaRPr lang="en-US"/>
          </a:p>
        </p:txBody>
      </p:sp>
      <p:grpSp>
        <p:nvGrpSpPr>
          <p:cNvPr id="24" name="Group 23">
            <a:extLst>
              <a:ext uri="{FF2B5EF4-FFF2-40B4-BE49-F238E27FC236}">
                <a16:creationId xmlns:a16="http://schemas.microsoft.com/office/drawing/2014/main" id="{761478CB-3B56-8436-0487-D48197E48431}"/>
              </a:ext>
            </a:extLst>
          </p:cNvPr>
          <p:cNvGrpSpPr/>
          <p:nvPr/>
        </p:nvGrpSpPr>
        <p:grpSpPr>
          <a:xfrm>
            <a:off x="1870075" y="1766948"/>
            <a:ext cx="7398617" cy="4373577"/>
            <a:chOff x="488950" y="1377451"/>
            <a:chExt cx="7398617" cy="4553449"/>
          </a:xfrm>
        </p:grpSpPr>
        <p:sp>
          <p:nvSpPr>
            <p:cNvPr id="19" name="Content Placeholder 2">
              <a:extLst>
                <a:ext uri="{FF2B5EF4-FFF2-40B4-BE49-F238E27FC236}">
                  <a16:creationId xmlns:a16="http://schemas.microsoft.com/office/drawing/2014/main" id="{7F0B844B-E364-D5CC-87D7-A291C834A40F}"/>
                </a:ext>
              </a:extLst>
            </p:cNvPr>
            <p:cNvSpPr txBox="1">
              <a:spLocks/>
            </p:cNvSpPr>
            <p:nvPr/>
          </p:nvSpPr>
          <p:spPr>
            <a:xfrm>
              <a:off x="488950" y="1498600"/>
              <a:ext cx="4005263"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Objective:</a:t>
              </a:r>
            </a:p>
            <a:p>
              <a:pPr lvl="1"/>
              <a:r>
                <a:rPr lang="en-US" dirty="0"/>
                <a:t>Reduce or eliminate the root cause identified in previous steps.</a:t>
              </a:r>
            </a:p>
            <a:p>
              <a:pPr lvl="1"/>
              <a:endParaRPr lang="en-US" dirty="0"/>
            </a:p>
            <a:p>
              <a:r>
                <a:rPr lang="en-US" sz="2400" dirty="0"/>
                <a:t>3 Steps to Creating Solutions:</a:t>
              </a:r>
            </a:p>
            <a:p>
              <a:pPr lvl="1"/>
              <a:r>
                <a:rPr lang="en-US" dirty="0"/>
                <a:t>Generate </a:t>
              </a:r>
            </a:p>
            <a:p>
              <a:pPr lvl="1"/>
              <a:r>
                <a:rPr lang="en-US" dirty="0"/>
                <a:t>Clarify</a:t>
              </a:r>
            </a:p>
            <a:p>
              <a:pPr lvl="1"/>
              <a:r>
                <a:rPr lang="en-US" dirty="0"/>
                <a:t>Evaluate</a:t>
              </a:r>
            </a:p>
          </p:txBody>
        </p:sp>
        <p:sp>
          <p:nvSpPr>
            <p:cNvPr id="23" name="Rectangle 13">
              <a:extLst>
                <a:ext uri="{FF2B5EF4-FFF2-40B4-BE49-F238E27FC236}">
                  <a16:creationId xmlns:a16="http://schemas.microsoft.com/office/drawing/2014/main" id="{ACCE3D23-005B-59B7-7F28-8AF7F487AE99}"/>
                </a:ext>
              </a:extLst>
            </p:cNvPr>
            <p:cNvSpPr>
              <a:spLocks noChangeArrowheads="1"/>
            </p:cNvSpPr>
            <p:nvPr/>
          </p:nvSpPr>
          <p:spPr bwMode="auto">
            <a:xfrm>
              <a:off x="5524501" y="1377451"/>
              <a:ext cx="2363066" cy="384522"/>
            </a:xfrm>
            <a:prstGeom prst="rect">
              <a:avLst/>
            </a:prstGeom>
            <a:noFill/>
            <a:ln w="9525">
              <a:noFill/>
              <a:miter lim="800000"/>
              <a:headEnd/>
              <a:tailEnd/>
            </a:ln>
          </p:spPr>
          <p:txBody>
            <a:bodyPr wrap="square">
              <a:spAutoFit/>
            </a:bodyPr>
            <a:lstStyle/>
            <a:p>
              <a:pPr algn="ctr"/>
              <a:r>
                <a:rPr lang="en-US" sz="1800" b="1" dirty="0">
                  <a:solidFill>
                    <a:schemeClr val="tx1"/>
                  </a:solidFill>
                </a:rPr>
                <a:t>Sources of Solutions</a:t>
              </a:r>
            </a:p>
          </p:txBody>
        </p:sp>
      </p:grpSp>
      <p:graphicFrame>
        <p:nvGraphicFramePr>
          <p:cNvPr id="14" name="Diagram 13">
            <a:extLst>
              <a:ext uri="{FF2B5EF4-FFF2-40B4-BE49-F238E27FC236}">
                <a16:creationId xmlns:a16="http://schemas.microsoft.com/office/drawing/2014/main" id="{84934F77-73B2-FFFE-95B6-7D9418637460}"/>
              </a:ext>
            </a:extLst>
          </p:cNvPr>
          <p:cNvGraphicFramePr/>
          <p:nvPr>
            <p:extLst>
              <p:ext uri="{D42A27DB-BD31-4B8C-83A1-F6EECF244321}">
                <p14:modId xmlns:p14="http://schemas.microsoft.com/office/powerpoint/2010/main" val="191939583"/>
              </p:ext>
            </p:extLst>
          </p:nvPr>
        </p:nvGraphicFramePr>
        <p:xfrm>
          <a:off x="5417414" y="2156919"/>
          <a:ext cx="5326786" cy="4176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3" name="Group 12">
            <a:extLst>
              <a:ext uri="{FF2B5EF4-FFF2-40B4-BE49-F238E27FC236}">
                <a16:creationId xmlns:a16="http://schemas.microsoft.com/office/drawing/2014/main" id="{60310CEF-781B-6210-D39A-349BCA94CBCD}"/>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8EE61B34-E563-E915-03FA-6DB16601B0A5}"/>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53A5C1EA-2188-5878-95FD-B45550F9D87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F20B68FA-E01E-88FC-760B-CAAD01CED75A}"/>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C18B39CD-22A9-B414-AF1A-21EC79FDCB1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B9EB567E-A5F2-3620-DE99-C900E953E7D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6200F08-352E-A137-F3B1-63A20F48128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123A1C6D-1AA7-CF07-A92B-355E79F55F0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6144399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Step 1 – Generate: Brainstorm Ideas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Goal is to generate as many ideas as possible about how each root cause may be eliminated or reduced</a:t>
            </a:r>
          </a:p>
          <a:p>
            <a:r>
              <a:rPr lang="en-US" dirty="0"/>
              <a:t>Some ideas may affect more than one root cause</a:t>
            </a:r>
          </a:p>
          <a:p>
            <a:r>
              <a:rPr lang="en-US" dirty="0"/>
              <a:t>Focus on one root cause at a time</a:t>
            </a:r>
          </a:p>
          <a:p>
            <a:pPr lvl="1"/>
            <a:r>
              <a:rPr lang="en-US" dirty="0"/>
              <a:t>Start with root causes that have the biggest impact on problem statement</a:t>
            </a:r>
          </a:p>
          <a:p>
            <a:r>
              <a:rPr lang="en-US" dirty="0"/>
              <a:t>Brainstorm</a:t>
            </a:r>
          </a:p>
          <a:p>
            <a:pPr lvl="1"/>
            <a:r>
              <a:rPr lang="en-US" dirty="0"/>
              <a:t>Best way to generate ideas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88</a:t>
            </a:fld>
            <a:endParaRPr lang="en-US"/>
          </a:p>
        </p:txBody>
      </p:sp>
      <p:pic>
        <p:nvPicPr>
          <p:cNvPr id="15" name="Picture 7" descr="iStock_000007248761Small[1].jpg">
            <a:extLst>
              <a:ext uri="{FF2B5EF4-FFF2-40B4-BE49-F238E27FC236}">
                <a16:creationId xmlns:a16="http://schemas.microsoft.com/office/drawing/2014/main" id="{CE46FAC8-EF95-1DB1-AF8D-56617A435426}"/>
              </a:ext>
            </a:extLst>
          </p:cNvPr>
          <p:cNvPicPr>
            <a:picLocks noGrp="1" noChangeAspect="1"/>
          </p:cNvPicPr>
          <p:nvPr>
            <p:ph sz="half" idx="1"/>
          </p:nvPr>
        </p:nvPicPr>
        <p:blipFill>
          <a:blip r:embed="rId3"/>
          <a:srcRect/>
          <a:stretch>
            <a:fillRect/>
          </a:stretch>
        </p:blipFill>
        <p:spPr bwMode="auto">
          <a:xfrm>
            <a:off x="1253331" y="1825625"/>
            <a:ext cx="4351338" cy="4351338"/>
          </a:xfrm>
          <a:prstGeom prst="rect">
            <a:avLst/>
          </a:prstGeom>
          <a:noFill/>
          <a:ln w="9525">
            <a:noFill/>
            <a:miter lim="800000"/>
            <a:headEnd/>
            <a:tailEnd/>
          </a:ln>
        </p:spPr>
      </p:pic>
      <p:grpSp>
        <p:nvGrpSpPr>
          <p:cNvPr id="3" name="Group 2">
            <a:extLst>
              <a:ext uri="{FF2B5EF4-FFF2-40B4-BE49-F238E27FC236}">
                <a16:creationId xmlns:a16="http://schemas.microsoft.com/office/drawing/2014/main" id="{18841EBB-7A1C-BB9B-B11C-399D6656854B}"/>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4611A343-BF5C-E661-D0D0-3B55A069F059}"/>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F0658A57-1579-ADD5-3839-62DEF9471B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5A10E9A8-C1BA-3390-1D75-649DE674CD22}"/>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09D6EC7-ADA8-09BC-0308-21A679500B5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C7301EA4-527E-F402-51B6-9B4F2DBFD4E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0585F0E-5972-0676-AAF6-B2863EA1F56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29C63188-6E65-98D6-A22E-5219CE132ACF}"/>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7147136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Brainstorming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Brainstorming Method – 6 Steps</a:t>
            </a:r>
          </a:p>
          <a:p>
            <a:pPr lvl="1"/>
            <a:r>
              <a:rPr lang="en-US" dirty="0"/>
              <a:t>Getting Started</a:t>
            </a:r>
          </a:p>
          <a:p>
            <a:pPr lvl="1"/>
            <a:r>
              <a:rPr lang="en-US" dirty="0"/>
              <a:t>Picking the Right People</a:t>
            </a:r>
          </a:p>
          <a:p>
            <a:pPr lvl="1"/>
            <a:r>
              <a:rPr lang="en-US" dirty="0"/>
              <a:t>Establish Rules of Engagement</a:t>
            </a:r>
          </a:p>
          <a:p>
            <a:pPr lvl="1"/>
            <a:r>
              <a:rPr lang="en-US" dirty="0"/>
              <a:t>Capture Every Idea</a:t>
            </a:r>
          </a:p>
          <a:p>
            <a:pPr lvl="1"/>
            <a:r>
              <a:rPr lang="en-US" dirty="0"/>
              <a:t>Establish a Time Limit</a:t>
            </a:r>
          </a:p>
          <a:p>
            <a:pPr lvl="1"/>
            <a:r>
              <a:rPr lang="en-US" dirty="0"/>
              <a:t>Organize, Categorize and Evaluate</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89</a:t>
            </a:fld>
            <a:endParaRPr lang="en-US"/>
          </a:p>
        </p:txBody>
      </p:sp>
      <p:grpSp>
        <p:nvGrpSpPr>
          <p:cNvPr id="14" name="Group 13">
            <a:extLst>
              <a:ext uri="{FF2B5EF4-FFF2-40B4-BE49-F238E27FC236}">
                <a16:creationId xmlns:a16="http://schemas.microsoft.com/office/drawing/2014/main" id="{0D59A80E-8F2A-1176-1014-C8646A001CBA}"/>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BD3247AE-3C0B-9B3C-41CC-B4085C618447}"/>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CB50C109-35EE-DB29-A151-A48E683FECF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8E91C217-ED94-8B3E-68AB-DEE91430F5B0}"/>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62D3815F-5989-A9E9-5DA0-B800217469B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58A56621-8FC1-1B59-ECCB-7D4974A9677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2B41C58B-E84C-53DE-AE97-83BF366567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0E57E351-0373-A3F0-332D-778BDB3C4DA2}"/>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432641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Brainstorming Method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90</a:t>
            </a:fld>
            <a:endParaRPr lang="en-US"/>
          </a:p>
        </p:txBody>
      </p:sp>
      <p:grpSp>
        <p:nvGrpSpPr>
          <p:cNvPr id="26" name="Group 25">
            <a:extLst>
              <a:ext uri="{FF2B5EF4-FFF2-40B4-BE49-F238E27FC236}">
                <a16:creationId xmlns:a16="http://schemas.microsoft.com/office/drawing/2014/main" id="{4B40677C-F5FA-3158-6423-CF2C4489BDE6}"/>
              </a:ext>
            </a:extLst>
          </p:cNvPr>
          <p:cNvGrpSpPr/>
          <p:nvPr/>
        </p:nvGrpSpPr>
        <p:grpSpPr>
          <a:xfrm>
            <a:off x="1642269" y="1874520"/>
            <a:ext cx="8907462" cy="4280218"/>
            <a:chOff x="1436688" y="1606550"/>
            <a:chExt cx="6203950" cy="4548188"/>
          </a:xfrm>
        </p:grpSpPr>
        <p:grpSp>
          <p:nvGrpSpPr>
            <p:cNvPr id="13" name="Group 6">
              <a:extLst>
                <a:ext uri="{FF2B5EF4-FFF2-40B4-BE49-F238E27FC236}">
                  <a16:creationId xmlns:a16="http://schemas.microsoft.com/office/drawing/2014/main" id="{984F7FAB-7306-0FFB-6532-C5F28D1144A9}"/>
                </a:ext>
              </a:extLst>
            </p:cNvPr>
            <p:cNvGrpSpPr>
              <a:grpSpLocks/>
            </p:cNvGrpSpPr>
            <p:nvPr/>
          </p:nvGrpSpPr>
          <p:grpSpPr bwMode="auto">
            <a:xfrm>
              <a:off x="5219700" y="1606550"/>
              <a:ext cx="2420938" cy="3357563"/>
              <a:chOff x="2694" y="1012"/>
              <a:chExt cx="1525" cy="2115"/>
            </a:xfrm>
          </p:grpSpPr>
          <p:sp>
            <p:nvSpPr>
              <p:cNvPr id="14" name="Rectangle 7">
                <a:extLst>
                  <a:ext uri="{FF2B5EF4-FFF2-40B4-BE49-F238E27FC236}">
                    <a16:creationId xmlns:a16="http://schemas.microsoft.com/office/drawing/2014/main" id="{39A8F16F-6331-FBF7-2DF6-3F13A9E667CF}"/>
                  </a:ext>
                </a:extLst>
              </p:cNvPr>
              <p:cNvSpPr>
                <a:spLocks noChangeArrowheads="1"/>
              </p:cNvSpPr>
              <p:nvPr/>
            </p:nvSpPr>
            <p:spPr bwMode="auto">
              <a:xfrm>
                <a:off x="2919" y="1545"/>
                <a:ext cx="1111" cy="158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Do not criticize</a:t>
                </a:r>
              </a:p>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There should be no constraints</a:t>
                </a:r>
              </a:p>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Go for quantity</a:t>
                </a:r>
              </a:p>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Build on existing ideas</a:t>
                </a:r>
              </a:p>
            </p:txBody>
          </p:sp>
          <p:sp>
            <p:nvSpPr>
              <p:cNvPr id="15" name="AutoShape 8">
                <a:extLst>
                  <a:ext uri="{FF2B5EF4-FFF2-40B4-BE49-F238E27FC236}">
                    <a16:creationId xmlns:a16="http://schemas.microsoft.com/office/drawing/2014/main" id="{B2C0676F-7A9A-E3DB-C49F-3039BF9770C3}"/>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800" b="1">
                    <a:solidFill>
                      <a:schemeClr val="bg1"/>
                    </a:solidFill>
                  </a:rPr>
                  <a:t>       </a:t>
                </a:r>
                <a:r>
                  <a:rPr lang="en-US" sz="1600" b="1">
                    <a:solidFill>
                      <a:schemeClr val="bg1"/>
                    </a:solidFill>
                  </a:rPr>
                  <a:t>Rules of Engagement</a:t>
                </a:r>
              </a:p>
            </p:txBody>
          </p:sp>
        </p:grpSp>
        <p:grpSp>
          <p:nvGrpSpPr>
            <p:cNvPr id="16" name="Group 9">
              <a:extLst>
                <a:ext uri="{FF2B5EF4-FFF2-40B4-BE49-F238E27FC236}">
                  <a16:creationId xmlns:a16="http://schemas.microsoft.com/office/drawing/2014/main" id="{23ED54D9-E34B-73E2-F7B1-910FEC89BB3F}"/>
                </a:ext>
              </a:extLst>
            </p:cNvPr>
            <p:cNvGrpSpPr>
              <a:grpSpLocks/>
            </p:cNvGrpSpPr>
            <p:nvPr/>
          </p:nvGrpSpPr>
          <p:grpSpPr bwMode="auto">
            <a:xfrm>
              <a:off x="3402013" y="1606550"/>
              <a:ext cx="2336800" cy="4548188"/>
              <a:chOff x="1549" y="1012"/>
              <a:chExt cx="1472" cy="2865"/>
            </a:xfrm>
          </p:grpSpPr>
          <p:sp>
            <p:nvSpPr>
              <p:cNvPr id="17" name="Rectangle 10">
                <a:extLst>
                  <a:ext uri="{FF2B5EF4-FFF2-40B4-BE49-F238E27FC236}">
                    <a16:creationId xmlns:a16="http://schemas.microsoft.com/office/drawing/2014/main" id="{5C48D322-59B2-70C8-8052-417B1520D602}"/>
                  </a:ext>
                </a:extLst>
              </p:cNvPr>
              <p:cNvSpPr>
                <a:spLocks noChangeArrowheads="1"/>
              </p:cNvSpPr>
              <p:nvPr/>
            </p:nvSpPr>
            <p:spPr bwMode="auto">
              <a:xfrm>
                <a:off x="1657" y="1545"/>
                <a:ext cx="1197" cy="233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Invite people familiar with problem and verified root causes</a:t>
                </a:r>
              </a:p>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Select people who represent mixture of professional specialties, backgrounds, and attitudes</a:t>
                </a:r>
              </a:p>
              <a:p>
                <a:pPr marL="285750" indent="-285750" defTabSz="708025">
                  <a:spcBef>
                    <a:spcPct val="40000"/>
                  </a:spcBef>
                  <a:buClr>
                    <a:schemeClr val="tx1"/>
                  </a:buClr>
                  <a:buSzPct val="90000"/>
                  <a:buFont typeface="Arial" panose="020B0604020202020204" pitchFamily="34" charset="0"/>
                  <a:buChar char="•"/>
                </a:pPr>
                <a:r>
                  <a:rPr lang="en-US" sz="1600">
                    <a:solidFill>
                      <a:schemeClr val="tx1"/>
                    </a:solidFill>
                  </a:rPr>
                  <a:t>The more people selected the longer the brainstorming session will take. Balance should be maintained</a:t>
                </a:r>
                <a:endParaRPr lang="en-US" sz="2000">
                  <a:solidFill>
                    <a:schemeClr val="tx1"/>
                  </a:solidFill>
                </a:endParaRPr>
              </a:p>
            </p:txBody>
          </p:sp>
          <p:sp>
            <p:nvSpPr>
              <p:cNvPr id="18" name="AutoShape 11">
                <a:extLst>
                  <a:ext uri="{FF2B5EF4-FFF2-40B4-BE49-F238E27FC236}">
                    <a16:creationId xmlns:a16="http://schemas.microsoft.com/office/drawing/2014/main" id="{5371287D-37CC-F79B-86B4-C53CA15AE1C2}"/>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p>
                <a:pPr marL="171450" algn="ctr">
                  <a:lnSpc>
                    <a:spcPct val="95000"/>
                  </a:lnSpc>
                </a:pPr>
                <a:r>
                  <a:rPr lang="en-US" sz="1600" b="1">
                    <a:solidFill>
                      <a:schemeClr val="bg1"/>
                    </a:solidFill>
                  </a:rPr>
                  <a:t>Pick Right People</a:t>
                </a:r>
              </a:p>
            </p:txBody>
          </p:sp>
        </p:grpSp>
        <p:grpSp>
          <p:nvGrpSpPr>
            <p:cNvPr id="20" name="Group 12">
              <a:extLst>
                <a:ext uri="{FF2B5EF4-FFF2-40B4-BE49-F238E27FC236}">
                  <a16:creationId xmlns:a16="http://schemas.microsoft.com/office/drawing/2014/main" id="{754FFD89-42AA-7844-F71F-7BDA795EE2C5}"/>
                </a:ext>
              </a:extLst>
            </p:cNvPr>
            <p:cNvGrpSpPr>
              <a:grpSpLocks/>
            </p:cNvGrpSpPr>
            <p:nvPr/>
          </p:nvGrpSpPr>
          <p:grpSpPr bwMode="auto">
            <a:xfrm>
              <a:off x="1436688" y="1606550"/>
              <a:ext cx="2332037" cy="4011613"/>
              <a:chOff x="311" y="1012"/>
              <a:chExt cx="1469" cy="2527"/>
            </a:xfrm>
          </p:grpSpPr>
          <p:sp>
            <p:nvSpPr>
              <p:cNvPr id="21" name="Rectangle 13">
                <a:extLst>
                  <a:ext uri="{FF2B5EF4-FFF2-40B4-BE49-F238E27FC236}">
                    <a16:creationId xmlns:a16="http://schemas.microsoft.com/office/drawing/2014/main" id="{82E50DEF-5C9F-21F5-0597-09AD50836B05}"/>
                  </a:ext>
                </a:extLst>
              </p:cNvPr>
              <p:cNvSpPr>
                <a:spLocks noChangeArrowheads="1"/>
              </p:cNvSpPr>
              <p:nvPr/>
            </p:nvSpPr>
            <p:spPr bwMode="auto">
              <a:xfrm>
                <a:off x="350" y="1545"/>
                <a:ext cx="1318" cy="1994"/>
              </a:xfrm>
              <a:prstGeom prst="rect">
                <a:avLst/>
              </a:prstGeom>
              <a:noFill/>
              <a:ln w="9525">
                <a:noFill/>
                <a:miter lim="800000"/>
                <a:headEnd/>
                <a:tailEnd/>
              </a:ln>
            </p:spPr>
            <p:txBody>
              <a:bodyPr lIns="71438" tIns="36512" rIns="71438" bIns="36512">
                <a:spAutoFit/>
              </a:bodyPr>
              <a:lstStyle/>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Make sure everyone shares same understanding of problem statement and identified root causes</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Allow time to mull the problem over as well as be “fresh” for brainstorming session</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Early in day (morning) ideal time to hold brainstorming session </a:t>
                </a:r>
              </a:p>
            </p:txBody>
          </p:sp>
          <p:sp>
            <p:nvSpPr>
              <p:cNvPr id="25" name="AutoShape 14">
                <a:extLst>
                  <a:ext uri="{FF2B5EF4-FFF2-40B4-BE49-F238E27FC236}">
                    <a16:creationId xmlns:a16="http://schemas.microsoft.com/office/drawing/2014/main" id="{79D3BD72-F77F-19DE-4DCF-58C615551413}"/>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600" b="1" dirty="0">
                    <a:solidFill>
                      <a:schemeClr val="bg1"/>
                    </a:solidFill>
                  </a:rPr>
                  <a:t>Getting Started</a:t>
                </a:r>
              </a:p>
            </p:txBody>
          </p:sp>
        </p:grpSp>
      </p:grpSp>
      <p:grpSp>
        <p:nvGrpSpPr>
          <p:cNvPr id="19" name="Group 18">
            <a:extLst>
              <a:ext uri="{FF2B5EF4-FFF2-40B4-BE49-F238E27FC236}">
                <a16:creationId xmlns:a16="http://schemas.microsoft.com/office/drawing/2014/main" id="{572719C5-FBF1-9E5D-1E28-66B52EAB118C}"/>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56FB4208-5771-F1E1-438C-CCD8D473EFDD}"/>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7EE19272-5015-F002-B9A6-D11C653A84B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9B130F2A-9A3E-A909-3FCB-13CF16CAF2A6}"/>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9AA26DC3-F4DA-5D48-B3F2-1C306BD4D420}"/>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396930C1-83FD-D40E-27D8-917514784AA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42C16C4B-B27C-45B0-A582-CFF0717E61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7FC9BC53-3DDA-9830-D748-39AB76C49797}"/>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1675639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Brainstorming Method  (Cont.)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91</a:t>
            </a:fld>
            <a:endParaRPr lang="en-US"/>
          </a:p>
        </p:txBody>
      </p:sp>
      <p:grpSp>
        <p:nvGrpSpPr>
          <p:cNvPr id="26" name="Group 25">
            <a:extLst>
              <a:ext uri="{FF2B5EF4-FFF2-40B4-BE49-F238E27FC236}">
                <a16:creationId xmlns:a16="http://schemas.microsoft.com/office/drawing/2014/main" id="{4B40677C-F5FA-3158-6423-CF2C4489BDE6}"/>
              </a:ext>
            </a:extLst>
          </p:cNvPr>
          <p:cNvGrpSpPr/>
          <p:nvPr/>
        </p:nvGrpSpPr>
        <p:grpSpPr>
          <a:xfrm>
            <a:off x="1642269" y="1874520"/>
            <a:ext cx="9272148" cy="4280218"/>
            <a:chOff x="1436688" y="1606550"/>
            <a:chExt cx="6457950" cy="4548188"/>
          </a:xfrm>
        </p:grpSpPr>
        <p:grpSp>
          <p:nvGrpSpPr>
            <p:cNvPr id="13" name="Group 6">
              <a:extLst>
                <a:ext uri="{FF2B5EF4-FFF2-40B4-BE49-F238E27FC236}">
                  <a16:creationId xmlns:a16="http://schemas.microsoft.com/office/drawing/2014/main" id="{984F7FAB-7306-0FFB-6532-C5F28D1144A9}"/>
                </a:ext>
              </a:extLst>
            </p:cNvPr>
            <p:cNvGrpSpPr>
              <a:grpSpLocks/>
            </p:cNvGrpSpPr>
            <p:nvPr/>
          </p:nvGrpSpPr>
          <p:grpSpPr bwMode="auto">
            <a:xfrm>
              <a:off x="5473700" y="1606550"/>
              <a:ext cx="2420938" cy="3357563"/>
              <a:chOff x="2854" y="1012"/>
              <a:chExt cx="1525" cy="2115"/>
            </a:xfrm>
          </p:grpSpPr>
          <p:sp>
            <p:nvSpPr>
              <p:cNvPr id="14" name="Rectangle 7">
                <a:extLst>
                  <a:ext uri="{FF2B5EF4-FFF2-40B4-BE49-F238E27FC236}">
                    <a16:creationId xmlns:a16="http://schemas.microsoft.com/office/drawing/2014/main" id="{39A8F16F-6331-FBF7-2DF6-3F13A9E667CF}"/>
                  </a:ext>
                </a:extLst>
              </p:cNvPr>
              <p:cNvSpPr>
                <a:spLocks noChangeArrowheads="1"/>
              </p:cNvSpPr>
              <p:nvPr/>
            </p:nvSpPr>
            <p:spPr bwMode="auto">
              <a:xfrm>
                <a:off x="2919" y="1545"/>
                <a:ext cx="1111" cy="158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Organize all collected ideas when session is complete</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Group together repetitive ideas</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Place similar ideas into categories and label each</a:t>
                </a:r>
              </a:p>
            </p:txBody>
          </p:sp>
          <p:sp>
            <p:nvSpPr>
              <p:cNvPr id="15" name="AutoShape 8">
                <a:extLst>
                  <a:ext uri="{FF2B5EF4-FFF2-40B4-BE49-F238E27FC236}">
                    <a16:creationId xmlns:a16="http://schemas.microsoft.com/office/drawing/2014/main" id="{B2C0676F-7A9A-E3DB-C49F-3039BF9770C3}"/>
                  </a:ext>
                </a:extLst>
              </p:cNvPr>
              <p:cNvSpPr>
                <a:spLocks noChangeArrowheads="1"/>
              </p:cNvSpPr>
              <p:nvPr/>
            </p:nvSpPr>
            <p:spPr bwMode="auto">
              <a:xfrm>
                <a:off x="285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800" b="1" dirty="0">
                    <a:solidFill>
                      <a:schemeClr val="bg1"/>
                    </a:solidFill>
                  </a:rPr>
                  <a:t> Organize, Categorize and Evaluate</a:t>
                </a:r>
                <a:endParaRPr lang="en-US" sz="1600" b="1" dirty="0">
                  <a:solidFill>
                    <a:schemeClr val="bg1"/>
                  </a:solidFill>
                </a:endParaRPr>
              </a:p>
            </p:txBody>
          </p:sp>
        </p:grpSp>
        <p:grpSp>
          <p:nvGrpSpPr>
            <p:cNvPr id="16" name="Group 9">
              <a:extLst>
                <a:ext uri="{FF2B5EF4-FFF2-40B4-BE49-F238E27FC236}">
                  <a16:creationId xmlns:a16="http://schemas.microsoft.com/office/drawing/2014/main" id="{23ED54D9-E34B-73E2-F7B1-910FEC89BB3F}"/>
                </a:ext>
              </a:extLst>
            </p:cNvPr>
            <p:cNvGrpSpPr>
              <a:grpSpLocks/>
            </p:cNvGrpSpPr>
            <p:nvPr/>
          </p:nvGrpSpPr>
          <p:grpSpPr bwMode="auto">
            <a:xfrm>
              <a:off x="3402013" y="1606550"/>
              <a:ext cx="2336800" cy="4548188"/>
              <a:chOff x="1549" y="1012"/>
              <a:chExt cx="1472" cy="2865"/>
            </a:xfrm>
          </p:grpSpPr>
          <p:sp>
            <p:nvSpPr>
              <p:cNvPr id="17" name="Rectangle 10">
                <a:extLst>
                  <a:ext uri="{FF2B5EF4-FFF2-40B4-BE49-F238E27FC236}">
                    <a16:creationId xmlns:a16="http://schemas.microsoft.com/office/drawing/2014/main" id="{5C48D322-59B2-70C8-8052-417B1520D602}"/>
                  </a:ext>
                </a:extLst>
              </p:cNvPr>
              <p:cNvSpPr>
                <a:spLocks noChangeArrowheads="1"/>
              </p:cNvSpPr>
              <p:nvPr/>
            </p:nvSpPr>
            <p:spPr bwMode="auto">
              <a:xfrm>
                <a:off x="1657" y="1545"/>
                <a:ext cx="1197" cy="233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Best to let the group know in advance how long the brainstorming session will last</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Try to limit each session to 20 minutes</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Most creative ideas come when time is limited</a:t>
                </a:r>
              </a:p>
            </p:txBody>
          </p:sp>
          <p:sp>
            <p:nvSpPr>
              <p:cNvPr id="18" name="AutoShape 11">
                <a:extLst>
                  <a:ext uri="{FF2B5EF4-FFF2-40B4-BE49-F238E27FC236}">
                    <a16:creationId xmlns:a16="http://schemas.microsoft.com/office/drawing/2014/main" id="{5371287D-37CC-F79B-86B4-C53CA15AE1C2}"/>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p>
                <a:pPr marL="171450" algn="ctr">
                  <a:lnSpc>
                    <a:spcPct val="95000"/>
                  </a:lnSpc>
                </a:pPr>
                <a:r>
                  <a:rPr lang="en-US" sz="1600" b="1" dirty="0">
                    <a:solidFill>
                      <a:schemeClr val="bg1"/>
                    </a:solidFill>
                  </a:rPr>
                  <a:t>Establish Time </a:t>
                </a:r>
              </a:p>
              <a:p>
                <a:pPr marL="171450" algn="ctr">
                  <a:lnSpc>
                    <a:spcPct val="95000"/>
                  </a:lnSpc>
                </a:pPr>
                <a:r>
                  <a:rPr lang="en-US" sz="1600" b="1" dirty="0">
                    <a:solidFill>
                      <a:schemeClr val="bg1"/>
                    </a:solidFill>
                  </a:rPr>
                  <a:t>Limit</a:t>
                </a:r>
              </a:p>
            </p:txBody>
          </p:sp>
        </p:grpSp>
        <p:grpSp>
          <p:nvGrpSpPr>
            <p:cNvPr id="20" name="Group 12">
              <a:extLst>
                <a:ext uri="{FF2B5EF4-FFF2-40B4-BE49-F238E27FC236}">
                  <a16:creationId xmlns:a16="http://schemas.microsoft.com/office/drawing/2014/main" id="{754FFD89-42AA-7844-F71F-7BDA795EE2C5}"/>
                </a:ext>
              </a:extLst>
            </p:cNvPr>
            <p:cNvGrpSpPr>
              <a:grpSpLocks/>
            </p:cNvGrpSpPr>
            <p:nvPr/>
          </p:nvGrpSpPr>
          <p:grpSpPr bwMode="auto">
            <a:xfrm>
              <a:off x="1436688" y="1606550"/>
              <a:ext cx="2332037" cy="4116388"/>
              <a:chOff x="311" y="1012"/>
              <a:chExt cx="1469" cy="2593"/>
            </a:xfrm>
          </p:grpSpPr>
          <p:sp>
            <p:nvSpPr>
              <p:cNvPr id="21" name="Rectangle 13">
                <a:extLst>
                  <a:ext uri="{FF2B5EF4-FFF2-40B4-BE49-F238E27FC236}">
                    <a16:creationId xmlns:a16="http://schemas.microsoft.com/office/drawing/2014/main" id="{82E50DEF-5C9F-21F5-0597-09AD50836B05}"/>
                  </a:ext>
                </a:extLst>
              </p:cNvPr>
              <p:cNvSpPr>
                <a:spLocks noChangeArrowheads="1"/>
              </p:cNvSpPr>
              <p:nvPr/>
            </p:nvSpPr>
            <p:spPr bwMode="auto">
              <a:xfrm>
                <a:off x="350" y="1545"/>
                <a:ext cx="1318" cy="2060"/>
              </a:xfrm>
              <a:prstGeom prst="rect">
                <a:avLst/>
              </a:prstGeom>
              <a:noFill/>
              <a:ln w="9525">
                <a:noFill/>
                <a:miter lim="800000"/>
                <a:headEnd/>
                <a:tailEnd/>
              </a:ln>
            </p:spPr>
            <p:txBody>
              <a:bodyPr lIns="71438" tIns="36512" rIns="71438" bIns="36512">
                <a:spAutoFit/>
              </a:bodyPr>
              <a:lstStyle/>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Capture the essence of every idea</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Word for word is not necessary</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Ideas not recorded will probably be lost</a:t>
                </a:r>
              </a:p>
              <a:p>
                <a:pPr marL="285750" indent="-285750" defTabSz="708025">
                  <a:spcBef>
                    <a:spcPct val="40000"/>
                  </a:spcBef>
                  <a:buClr>
                    <a:schemeClr val="tx1"/>
                  </a:buClr>
                  <a:buSzPct val="90000"/>
                  <a:buFont typeface="Arial" panose="020B0604020202020204" pitchFamily="34" charset="0"/>
                  <a:buChar char="•"/>
                </a:pPr>
                <a:r>
                  <a:rPr lang="en-US" sz="1600" dirty="0">
                    <a:solidFill>
                      <a:schemeClr val="tx1"/>
                    </a:solidFill>
                  </a:rPr>
                  <a:t>Use one or more full-time recorders so you can capture every idea without interrupting flow of the session</a:t>
                </a:r>
              </a:p>
            </p:txBody>
          </p:sp>
          <p:sp>
            <p:nvSpPr>
              <p:cNvPr id="25" name="AutoShape 14">
                <a:extLst>
                  <a:ext uri="{FF2B5EF4-FFF2-40B4-BE49-F238E27FC236}">
                    <a16:creationId xmlns:a16="http://schemas.microsoft.com/office/drawing/2014/main" id="{79D3BD72-F77F-19DE-4DCF-58C615551413}"/>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600" b="1" dirty="0">
                    <a:solidFill>
                      <a:schemeClr val="bg1"/>
                    </a:solidFill>
                  </a:rPr>
                  <a:t>Capture Every Idea</a:t>
                </a:r>
              </a:p>
            </p:txBody>
          </p:sp>
        </p:grpSp>
      </p:grpSp>
      <p:grpSp>
        <p:nvGrpSpPr>
          <p:cNvPr id="19" name="Group 18">
            <a:extLst>
              <a:ext uri="{FF2B5EF4-FFF2-40B4-BE49-F238E27FC236}">
                <a16:creationId xmlns:a16="http://schemas.microsoft.com/office/drawing/2014/main" id="{DB8FDEB2-3C3C-118F-D9AE-357EAE4C56A6}"/>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6A0624AB-3FB8-DE0B-9D95-A4FE4B17449C}"/>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DFEF8770-98C1-B5DF-CDC7-871EC795770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D32E95F4-7BBA-5011-006C-174FB9AC4DBE}"/>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20C26912-15B8-C993-5E99-CF856E5EA4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67F75EAE-9068-2BEE-03A9-D69766F620A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31B3FDB4-738C-847D-2C54-A30E3CA71B2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D265E127-00C4-74E7-2A61-447ED97CF4D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1927550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Step 2 – Clarify: Determine Evaluation Criteria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92</a:t>
            </a:fld>
            <a:endParaRPr lang="en-US"/>
          </a:p>
        </p:txBody>
      </p:sp>
      <p:grpSp>
        <p:nvGrpSpPr>
          <p:cNvPr id="29" name="Group 28">
            <a:extLst>
              <a:ext uri="{FF2B5EF4-FFF2-40B4-BE49-F238E27FC236}">
                <a16:creationId xmlns:a16="http://schemas.microsoft.com/office/drawing/2014/main" id="{EBA18E9F-9096-F556-8599-F594C936C7F0}"/>
              </a:ext>
            </a:extLst>
          </p:cNvPr>
          <p:cNvGrpSpPr/>
          <p:nvPr/>
        </p:nvGrpSpPr>
        <p:grpSpPr>
          <a:xfrm>
            <a:off x="838200" y="1920240"/>
            <a:ext cx="10515600" cy="4204335"/>
            <a:chOff x="838200" y="1920240"/>
            <a:chExt cx="10515600" cy="4204335"/>
          </a:xfrm>
        </p:grpSpPr>
        <p:grpSp>
          <p:nvGrpSpPr>
            <p:cNvPr id="27" name="Group 26">
              <a:extLst>
                <a:ext uri="{FF2B5EF4-FFF2-40B4-BE49-F238E27FC236}">
                  <a16:creationId xmlns:a16="http://schemas.microsoft.com/office/drawing/2014/main" id="{36273540-4261-0C40-205C-775474EFAF29}"/>
                </a:ext>
              </a:extLst>
            </p:cNvPr>
            <p:cNvGrpSpPr/>
            <p:nvPr/>
          </p:nvGrpSpPr>
          <p:grpSpPr>
            <a:xfrm>
              <a:off x="838200" y="1920240"/>
              <a:ext cx="10515600" cy="4204335"/>
              <a:chOff x="488950" y="1498600"/>
              <a:chExt cx="8262938" cy="4625975"/>
            </a:xfrm>
          </p:grpSpPr>
          <p:sp>
            <p:nvSpPr>
              <p:cNvPr id="19" name="Content Placeholder 2">
                <a:extLst>
                  <a:ext uri="{FF2B5EF4-FFF2-40B4-BE49-F238E27FC236}">
                    <a16:creationId xmlns:a16="http://schemas.microsoft.com/office/drawing/2014/main" id="{79DC9A9D-03BD-AA79-45EC-7C9F22F46130}"/>
                  </a:ext>
                </a:extLst>
              </p:cNvPr>
              <p:cNvSpPr txBox="1">
                <a:spLocks/>
              </p:cNvSpPr>
              <p:nvPr/>
            </p:nvSpPr>
            <p:spPr>
              <a:xfrm>
                <a:off x="488950" y="1498600"/>
                <a:ext cx="4005263"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Determine evaluation criteria by asking yourself the following questions:</a:t>
                </a:r>
              </a:p>
            </p:txBody>
          </p:sp>
          <p:sp>
            <p:nvSpPr>
              <p:cNvPr id="22" name="Content Placeholder 16">
                <a:extLst>
                  <a:ext uri="{FF2B5EF4-FFF2-40B4-BE49-F238E27FC236}">
                    <a16:creationId xmlns:a16="http://schemas.microsoft.com/office/drawing/2014/main" id="{C355A792-89ED-57A0-3AD9-E20AAED377CA}"/>
                  </a:ext>
                </a:extLst>
              </p:cNvPr>
              <p:cNvSpPr txBox="1">
                <a:spLocks/>
              </p:cNvSpPr>
              <p:nvPr/>
            </p:nvSpPr>
            <p:spPr>
              <a:xfrm>
                <a:off x="4646613" y="1498600"/>
                <a:ext cx="4006850" cy="4625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What will the best solutions look like?</a:t>
                </a:r>
              </a:p>
              <a:p>
                <a:r>
                  <a:rPr lang="en-US" sz="2000" dirty="0"/>
                  <a:t>What are the barriers to implementation?</a:t>
                </a:r>
              </a:p>
              <a:p>
                <a:r>
                  <a:rPr lang="en-US" sz="2000" dirty="0"/>
                  <a:t>Which of the best solutions will be the most dramatic?  The most visible?</a:t>
                </a:r>
              </a:p>
              <a:p>
                <a:r>
                  <a:rPr lang="en-US" sz="2000" dirty="0"/>
                  <a:t>Which will show the fastest results and deliver the most “bang for the buck”?</a:t>
                </a:r>
              </a:p>
              <a:p>
                <a:r>
                  <a:rPr lang="en-US" sz="2000" dirty="0"/>
                  <a:t>What and how is your department and others affected?</a:t>
                </a:r>
              </a:p>
              <a:p>
                <a:r>
                  <a:rPr lang="en-US" sz="2000" dirty="0"/>
                  <a:t>Which will meet the least resistance and be the easiest to put in place?</a:t>
                </a:r>
              </a:p>
            </p:txBody>
          </p:sp>
          <p:sp>
            <p:nvSpPr>
              <p:cNvPr id="23" name="TextBox 24">
                <a:extLst>
                  <a:ext uri="{FF2B5EF4-FFF2-40B4-BE49-F238E27FC236}">
                    <a16:creationId xmlns:a16="http://schemas.microsoft.com/office/drawing/2014/main" id="{25376A66-ACEB-5707-E8DE-8BB9985D0947}"/>
                  </a:ext>
                </a:extLst>
              </p:cNvPr>
              <p:cNvSpPr txBox="1">
                <a:spLocks noChangeArrowheads="1"/>
              </p:cNvSpPr>
              <p:nvPr/>
            </p:nvSpPr>
            <p:spPr bwMode="auto">
              <a:xfrm>
                <a:off x="4673600" y="4179888"/>
                <a:ext cx="4078288" cy="277812"/>
              </a:xfrm>
              <a:prstGeom prst="rect">
                <a:avLst/>
              </a:prstGeom>
              <a:noFill/>
              <a:ln w="9525">
                <a:noFill/>
                <a:miter lim="800000"/>
                <a:headEnd/>
                <a:tailEnd/>
              </a:ln>
            </p:spPr>
            <p:txBody>
              <a:bodyPr>
                <a:spAutoFit/>
              </a:bodyPr>
              <a:lstStyle/>
              <a:p>
                <a:pPr lvl="1"/>
                <a:endParaRPr lang="en-US" i="1">
                  <a:solidFill>
                    <a:schemeClr val="tx1"/>
                  </a:solidFill>
                </a:endParaRPr>
              </a:p>
            </p:txBody>
          </p:sp>
        </p:grpSp>
        <p:pic>
          <p:nvPicPr>
            <p:cNvPr id="28" name="Picture 23" descr="j0422122.jpg">
              <a:extLst>
                <a:ext uri="{FF2B5EF4-FFF2-40B4-BE49-F238E27FC236}">
                  <a16:creationId xmlns:a16="http://schemas.microsoft.com/office/drawing/2014/main" id="{FCF83248-010C-9A82-23B6-CDEB511C7498}"/>
                </a:ext>
              </a:extLst>
            </p:cNvPr>
            <p:cNvPicPr>
              <a:picLocks noChangeAspect="1"/>
            </p:cNvPicPr>
            <p:nvPr/>
          </p:nvPicPr>
          <p:blipFill>
            <a:blip r:embed="rId3"/>
            <a:srcRect/>
            <a:stretch>
              <a:fillRect/>
            </a:stretch>
          </p:blipFill>
          <p:spPr bwMode="auto">
            <a:xfrm>
              <a:off x="1151874" y="3032369"/>
              <a:ext cx="4380245" cy="2918415"/>
            </a:xfrm>
            <a:prstGeom prst="rect">
              <a:avLst/>
            </a:prstGeom>
            <a:noFill/>
            <a:ln w="9525">
              <a:noFill/>
              <a:miter lim="800000"/>
              <a:headEnd/>
              <a:tailEnd/>
            </a:ln>
          </p:spPr>
        </p:pic>
      </p:grpSp>
      <p:grpSp>
        <p:nvGrpSpPr>
          <p:cNvPr id="13" name="Group 12">
            <a:extLst>
              <a:ext uri="{FF2B5EF4-FFF2-40B4-BE49-F238E27FC236}">
                <a16:creationId xmlns:a16="http://schemas.microsoft.com/office/drawing/2014/main" id="{6E165B3F-130A-378D-9DAA-29B9400874AA}"/>
              </a:ext>
            </a:extLst>
          </p:cNvPr>
          <p:cNvGrpSpPr/>
          <p:nvPr/>
        </p:nvGrpSpPr>
        <p:grpSpPr>
          <a:xfrm>
            <a:off x="838200" y="297639"/>
            <a:ext cx="4561953" cy="307138"/>
            <a:chOff x="838200" y="297639"/>
            <a:chExt cx="4561953" cy="307138"/>
          </a:xfrm>
        </p:grpSpPr>
        <p:grpSp>
          <p:nvGrpSpPr>
            <p:cNvPr id="14" name="Group 13">
              <a:extLst>
                <a:ext uri="{FF2B5EF4-FFF2-40B4-BE49-F238E27FC236}">
                  <a16:creationId xmlns:a16="http://schemas.microsoft.com/office/drawing/2014/main" id="{462646F3-72DA-A052-92F7-A149B1A95120}"/>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77DF0649-4DB7-FEAF-83F9-128CED74122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AF518F6C-37D1-9075-B5E4-22517AA5785C}"/>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093F9800-390B-B612-43F4-CE3F40ED74C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802594FD-A45A-CFAF-28F3-37DDF7BFB81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0C1287B2-C9FB-356B-06ED-1251854F15D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C0FD8B64-C1E5-44FF-DC26-3D44E60DC9B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8701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Step 3 – Evaluate: Apply the Evaluation Criteria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93</a:t>
            </a:fld>
            <a:endParaRPr lang="en-US"/>
          </a:p>
        </p:txBody>
      </p:sp>
      <p:grpSp>
        <p:nvGrpSpPr>
          <p:cNvPr id="14" name="Group 13">
            <a:extLst>
              <a:ext uri="{FF2B5EF4-FFF2-40B4-BE49-F238E27FC236}">
                <a16:creationId xmlns:a16="http://schemas.microsoft.com/office/drawing/2014/main" id="{DA271E67-87EA-E648-96B7-2F8B85F158EF}"/>
              </a:ext>
            </a:extLst>
          </p:cNvPr>
          <p:cNvGrpSpPr/>
          <p:nvPr/>
        </p:nvGrpSpPr>
        <p:grpSpPr>
          <a:xfrm>
            <a:off x="838200" y="1920240"/>
            <a:ext cx="10515600" cy="4204335"/>
            <a:chOff x="838200" y="1920240"/>
            <a:chExt cx="10515600" cy="4204335"/>
          </a:xfrm>
        </p:grpSpPr>
        <p:grpSp>
          <p:nvGrpSpPr>
            <p:cNvPr id="27" name="Group 26">
              <a:extLst>
                <a:ext uri="{FF2B5EF4-FFF2-40B4-BE49-F238E27FC236}">
                  <a16:creationId xmlns:a16="http://schemas.microsoft.com/office/drawing/2014/main" id="{36273540-4261-0C40-205C-775474EFAF29}"/>
                </a:ext>
              </a:extLst>
            </p:cNvPr>
            <p:cNvGrpSpPr/>
            <p:nvPr/>
          </p:nvGrpSpPr>
          <p:grpSpPr>
            <a:xfrm>
              <a:off x="838200" y="1920240"/>
              <a:ext cx="10515600" cy="4204335"/>
              <a:chOff x="488950" y="1498600"/>
              <a:chExt cx="8262938" cy="4625975"/>
            </a:xfrm>
          </p:grpSpPr>
          <p:sp>
            <p:nvSpPr>
              <p:cNvPr id="19" name="Content Placeholder 2">
                <a:extLst>
                  <a:ext uri="{FF2B5EF4-FFF2-40B4-BE49-F238E27FC236}">
                    <a16:creationId xmlns:a16="http://schemas.microsoft.com/office/drawing/2014/main" id="{79DC9A9D-03BD-AA79-45EC-7C9F22F46130}"/>
                  </a:ext>
                </a:extLst>
              </p:cNvPr>
              <p:cNvSpPr txBox="1">
                <a:spLocks/>
              </p:cNvSpPr>
              <p:nvPr/>
            </p:nvSpPr>
            <p:spPr>
              <a:xfrm>
                <a:off x="488950" y="1498600"/>
                <a:ext cx="4005263"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Solution evaluation process:</a:t>
                </a:r>
              </a:p>
            </p:txBody>
          </p:sp>
          <p:sp>
            <p:nvSpPr>
              <p:cNvPr id="22" name="Content Placeholder 16">
                <a:extLst>
                  <a:ext uri="{FF2B5EF4-FFF2-40B4-BE49-F238E27FC236}">
                    <a16:creationId xmlns:a16="http://schemas.microsoft.com/office/drawing/2014/main" id="{C355A792-89ED-57A0-3AD9-E20AAED377CA}"/>
                  </a:ext>
                </a:extLst>
              </p:cNvPr>
              <p:cNvSpPr txBox="1">
                <a:spLocks/>
              </p:cNvSpPr>
              <p:nvPr/>
            </p:nvSpPr>
            <p:spPr>
              <a:xfrm>
                <a:off x="4646613" y="1498600"/>
                <a:ext cx="4006850" cy="4625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Remove show stoppers</a:t>
                </a:r>
              </a:p>
              <a:p>
                <a:r>
                  <a:rPr lang="en-US" dirty="0"/>
                  <a:t>Consider organization fit</a:t>
                </a:r>
              </a:p>
              <a:p>
                <a:r>
                  <a:rPr lang="en-US" dirty="0"/>
                  <a:t>Develop Solution Selection Matrix</a:t>
                </a:r>
              </a:p>
              <a:p>
                <a:r>
                  <a:rPr lang="en-US" dirty="0"/>
                  <a:t>Weight the evaluation criteria</a:t>
                </a:r>
              </a:p>
              <a:p>
                <a:r>
                  <a:rPr lang="en-US" dirty="0"/>
                  <a:t>Narrow the list</a:t>
                </a:r>
              </a:p>
              <a:p>
                <a:r>
                  <a:rPr lang="en-US" dirty="0"/>
                  <a:t>Evaluate impact</a:t>
                </a:r>
              </a:p>
            </p:txBody>
          </p:sp>
          <p:sp>
            <p:nvSpPr>
              <p:cNvPr id="23" name="TextBox 24">
                <a:extLst>
                  <a:ext uri="{FF2B5EF4-FFF2-40B4-BE49-F238E27FC236}">
                    <a16:creationId xmlns:a16="http://schemas.microsoft.com/office/drawing/2014/main" id="{25376A66-ACEB-5707-E8DE-8BB9985D0947}"/>
                  </a:ext>
                </a:extLst>
              </p:cNvPr>
              <p:cNvSpPr txBox="1">
                <a:spLocks noChangeArrowheads="1"/>
              </p:cNvSpPr>
              <p:nvPr/>
            </p:nvSpPr>
            <p:spPr bwMode="auto">
              <a:xfrm>
                <a:off x="4673600" y="4179888"/>
                <a:ext cx="4078288" cy="277812"/>
              </a:xfrm>
              <a:prstGeom prst="rect">
                <a:avLst/>
              </a:prstGeom>
              <a:noFill/>
              <a:ln w="9525">
                <a:noFill/>
                <a:miter lim="800000"/>
                <a:headEnd/>
                <a:tailEnd/>
              </a:ln>
            </p:spPr>
            <p:txBody>
              <a:bodyPr>
                <a:spAutoFit/>
              </a:bodyPr>
              <a:lstStyle/>
              <a:p>
                <a:pPr lvl="1"/>
                <a:endParaRPr lang="en-US" i="1">
                  <a:solidFill>
                    <a:schemeClr val="tx1"/>
                  </a:solidFill>
                </a:endParaRPr>
              </a:p>
            </p:txBody>
          </p:sp>
        </p:grpSp>
        <p:pic>
          <p:nvPicPr>
            <p:cNvPr id="13" name="Picture 13" descr="bigstockphoto_Business_Meeting_1264156">
              <a:extLst>
                <a:ext uri="{FF2B5EF4-FFF2-40B4-BE49-F238E27FC236}">
                  <a16:creationId xmlns:a16="http://schemas.microsoft.com/office/drawing/2014/main" id="{33BD2970-CBD8-57F7-E4D5-00D6B0C7AC5E}"/>
                </a:ext>
              </a:extLst>
            </p:cNvPr>
            <p:cNvPicPr>
              <a:picLocks noChangeAspect="1" noChangeArrowheads="1"/>
            </p:cNvPicPr>
            <p:nvPr/>
          </p:nvPicPr>
          <p:blipFill>
            <a:blip r:embed="rId3"/>
            <a:srcRect/>
            <a:stretch>
              <a:fillRect/>
            </a:stretch>
          </p:blipFill>
          <p:spPr bwMode="auto">
            <a:xfrm>
              <a:off x="963457" y="2739706"/>
              <a:ext cx="4615005" cy="2986723"/>
            </a:xfrm>
            <a:prstGeom prst="rect">
              <a:avLst/>
            </a:prstGeom>
            <a:noFill/>
            <a:ln w="9525">
              <a:noFill/>
              <a:miter lim="800000"/>
              <a:headEnd/>
              <a:tailEnd/>
            </a:ln>
          </p:spPr>
        </p:pic>
      </p:grpSp>
      <p:grpSp>
        <p:nvGrpSpPr>
          <p:cNvPr id="15" name="Group 14">
            <a:extLst>
              <a:ext uri="{FF2B5EF4-FFF2-40B4-BE49-F238E27FC236}">
                <a16:creationId xmlns:a16="http://schemas.microsoft.com/office/drawing/2014/main" id="{7686BAD6-D7DE-CFBE-C5EC-3C1C31C20F4B}"/>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2CE789A7-830C-5481-82FB-E29FD5D859BD}"/>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A68478DD-87A3-0BD4-1D83-DDA573116F7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1B830582-1B1B-50A4-577C-D48BC1DA984C}"/>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D9E90EE-9F8B-3F81-E941-B9BD9401189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4" name="AutoShape 11">
                  <a:extLst>
                    <a:ext uri="{FF2B5EF4-FFF2-40B4-BE49-F238E27FC236}">
                      <a16:creationId xmlns:a16="http://schemas.microsoft.com/office/drawing/2014/main" id="{E9CA40A5-3B82-3BCA-FABF-6A207934570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0">
                  <a:extLst>
                    <a:ext uri="{FF2B5EF4-FFF2-40B4-BE49-F238E27FC236}">
                      <a16:creationId xmlns:a16="http://schemas.microsoft.com/office/drawing/2014/main" id="{B88A46DA-F508-845F-1EC4-E52557D307A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801C30B2-749C-17A0-BC04-6AFF343E1B5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806336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Step 3 – </a:t>
            </a:r>
            <a:br>
              <a:rPr lang="en-US" sz="3600" dirty="0"/>
            </a:br>
            <a:r>
              <a:rPr lang="en-US" sz="3600" dirty="0"/>
              <a:t>Evaluate: Apply the Evaluation Criteria (</a:t>
            </a:r>
            <a:r>
              <a:rPr lang="en-US" sz="3600" dirty="0" err="1"/>
              <a:t>Cont</a:t>
            </a:r>
            <a:r>
              <a:rPr lang="en-US" sz="3600" dirty="0"/>
              <a: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94</a:t>
            </a:fld>
            <a:endParaRPr lang="en-US"/>
          </a:p>
        </p:txBody>
      </p:sp>
      <p:sp>
        <p:nvSpPr>
          <p:cNvPr id="19" name="Content Placeholder 2">
            <a:extLst>
              <a:ext uri="{FF2B5EF4-FFF2-40B4-BE49-F238E27FC236}">
                <a16:creationId xmlns:a16="http://schemas.microsoft.com/office/drawing/2014/main" id="{79DC9A9D-03BD-AA79-45EC-7C9F22F46130}"/>
              </a:ext>
            </a:extLst>
          </p:cNvPr>
          <p:cNvSpPr txBox="1">
            <a:spLocks/>
          </p:cNvSpPr>
          <p:nvPr/>
        </p:nvSpPr>
        <p:spPr>
          <a:xfrm>
            <a:off x="838200" y="1920241"/>
            <a:ext cx="9483090" cy="90297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Determine the criteria that will help your team select the best solution for your situation</a:t>
            </a:r>
          </a:p>
        </p:txBody>
      </p:sp>
      <p:graphicFrame>
        <p:nvGraphicFramePr>
          <p:cNvPr id="15" name="Group 98">
            <a:extLst>
              <a:ext uri="{FF2B5EF4-FFF2-40B4-BE49-F238E27FC236}">
                <a16:creationId xmlns:a16="http://schemas.microsoft.com/office/drawing/2014/main" id="{4207BB41-FC5D-0A67-6770-A7BC3D7E3697}"/>
              </a:ext>
            </a:extLst>
          </p:cNvPr>
          <p:cNvGraphicFramePr>
            <a:graphicFrameLocks noGrp="1"/>
          </p:cNvGraphicFramePr>
          <p:nvPr>
            <p:extLst>
              <p:ext uri="{D42A27DB-BD31-4B8C-83A1-F6EECF244321}">
                <p14:modId xmlns:p14="http://schemas.microsoft.com/office/powerpoint/2010/main" val="1332397839"/>
              </p:ext>
            </p:extLst>
          </p:nvPr>
        </p:nvGraphicFramePr>
        <p:xfrm>
          <a:off x="1611607" y="2823211"/>
          <a:ext cx="8138206" cy="3267568"/>
        </p:xfrm>
        <a:graphic>
          <a:graphicData uri="http://schemas.openxmlformats.org/drawingml/2006/table">
            <a:tbl>
              <a:tblPr/>
              <a:tblGrid>
                <a:gridCol w="3873436">
                  <a:extLst>
                    <a:ext uri="{9D8B030D-6E8A-4147-A177-3AD203B41FA5}">
                      <a16:colId xmlns:a16="http://schemas.microsoft.com/office/drawing/2014/main" val="20000"/>
                    </a:ext>
                  </a:extLst>
                </a:gridCol>
                <a:gridCol w="747371">
                  <a:extLst>
                    <a:ext uri="{9D8B030D-6E8A-4147-A177-3AD203B41FA5}">
                      <a16:colId xmlns:a16="http://schemas.microsoft.com/office/drawing/2014/main" val="20001"/>
                    </a:ext>
                  </a:extLst>
                </a:gridCol>
                <a:gridCol w="1192416">
                  <a:extLst>
                    <a:ext uri="{9D8B030D-6E8A-4147-A177-3AD203B41FA5}">
                      <a16:colId xmlns:a16="http://schemas.microsoft.com/office/drawing/2014/main" val="20002"/>
                    </a:ext>
                  </a:extLst>
                </a:gridCol>
                <a:gridCol w="981415">
                  <a:extLst>
                    <a:ext uri="{9D8B030D-6E8A-4147-A177-3AD203B41FA5}">
                      <a16:colId xmlns:a16="http://schemas.microsoft.com/office/drawing/2014/main" val="20003"/>
                    </a:ext>
                  </a:extLst>
                </a:gridCol>
                <a:gridCol w="628425">
                  <a:extLst>
                    <a:ext uri="{9D8B030D-6E8A-4147-A177-3AD203B41FA5}">
                      <a16:colId xmlns:a16="http://schemas.microsoft.com/office/drawing/2014/main" val="20004"/>
                    </a:ext>
                  </a:extLst>
                </a:gridCol>
                <a:gridCol w="715143">
                  <a:extLst>
                    <a:ext uri="{9D8B030D-6E8A-4147-A177-3AD203B41FA5}">
                      <a16:colId xmlns:a16="http://schemas.microsoft.com/office/drawing/2014/main" val="20005"/>
                    </a:ext>
                  </a:extLst>
                </a:gridCol>
              </a:tblGrid>
              <a:tr h="619560">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Solution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Time Impact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Cost/ Benefit Impact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Level of Difficulty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Total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r>
                        <a:rPr kumimoji="0" lang="en-US" sz="1400" b="1" i="0" u="none" strike="noStrike" cap="none" normalizeH="0" baseline="0" dirty="0">
                          <a:ln>
                            <a:noFill/>
                          </a:ln>
                          <a:solidFill>
                            <a:schemeClr val="bg1"/>
                          </a:solidFill>
                          <a:effectLst/>
                          <a:latin typeface="+mn-lt"/>
                        </a:rPr>
                        <a:t>Rank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389243">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9839">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0436">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9243">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436">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6851">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pPr>
                      <a:endParaRPr kumimoji="0" lang="en-US" sz="12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 name="Rectangle 16">
            <a:extLst>
              <a:ext uri="{FF2B5EF4-FFF2-40B4-BE49-F238E27FC236}">
                <a16:creationId xmlns:a16="http://schemas.microsoft.com/office/drawing/2014/main" id="{3A313265-6BB7-1368-5B07-EC3E217A48DB}"/>
              </a:ext>
            </a:extLst>
          </p:cNvPr>
          <p:cNvSpPr/>
          <p:nvPr/>
        </p:nvSpPr>
        <p:spPr>
          <a:xfrm>
            <a:off x="4109085" y="3662610"/>
            <a:ext cx="3143250" cy="15887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Weigh the evaluation criteria if needed to have an unbiased view of each solution.</a:t>
            </a:r>
          </a:p>
        </p:txBody>
      </p:sp>
      <p:grpSp>
        <p:nvGrpSpPr>
          <p:cNvPr id="13" name="Group 12">
            <a:extLst>
              <a:ext uri="{FF2B5EF4-FFF2-40B4-BE49-F238E27FC236}">
                <a16:creationId xmlns:a16="http://schemas.microsoft.com/office/drawing/2014/main" id="{81DC2162-4612-4136-7122-BC6FC734639C}"/>
              </a:ext>
            </a:extLst>
          </p:cNvPr>
          <p:cNvGrpSpPr/>
          <p:nvPr/>
        </p:nvGrpSpPr>
        <p:grpSpPr>
          <a:xfrm>
            <a:off x="838200" y="297639"/>
            <a:ext cx="4561953" cy="307138"/>
            <a:chOff x="838200" y="297639"/>
            <a:chExt cx="4561953" cy="307138"/>
          </a:xfrm>
        </p:grpSpPr>
        <p:grpSp>
          <p:nvGrpSpPr>
            <p:cNvPr id="14" name="Group 13">
              <a:extLst>
                <a:ext uri="{FF2B5EF4-FFF2-40B4-BE49-F238E27FC236}">
                  <a16:creationId xmlns:a16="http://schemas.microsoft.com/office/drawing/2014/main" id="{D55755BA-37FE-0348-4978-B5D251E24817}"/>
                </a:ext>
              </a:extLst>
            </p:cNvPr>
            <p:cNvGrpSpPr/>
            <p:nvPr/>
          </p:nvGrpSpPr>
          <p:grpSpPr>
            <a:xfrm>
              <a:off x="838200" y="297639"/>
              <a:ext cx="1373842" cy="290657"/>
              <a:chOff x="838200" y="297639"/>
              <a:chExt cx="1373842" cy="290657"/>
            </a:xfrm>
          </p:grpSpPr>
          <p:sp>
            <p:nvSpPr>
              <p:cNvPr id="18" name="AutoShape 9">
                <a:extLst>
                  <a:ext uri="{FF2B5EF4-FFF2-40B4-BE49-F238E27FC236}">
                    <a16:creationId xmlns:a16="http://schemas.microsoft.com/office/drawing/2014/main" id="{5FED4B54-AF46-CE95-FB98-9103F1B9461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1FDC6BB0-8DF5-BFC1-D3F5-8D7B64CC9939}"/>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DA7B941-4A98-8376-0639-64AA722C9C1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1C223D5A-46CC-939F-2276-B82B7B575F3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E7690695-9568-5FF6-A32A-C47A3307F0C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A75DC6F2-255E-94E0-8334-C81C5472A6A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4347219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Evaluate Potential Solutions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95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Evaluation Matrix</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Divide into small groups (3 – 5).  </a:t>
            </a:r>
          </a:p>
          <a:p>
            <a:pPr marL="0" marR="0" indent="0" algn="l" defTabSz="584200" rtl="0" fontAlgn="auto" latinLnBrk="0" hangingPunct="0">
              <a:lnSpc>
                <a:spcPct val="100000"/>
              </a:lnSpc>
              <a:spcBef>
                <a:spcPts val="0"/>
              </a:spcBef>
              <a:spcAft>
                <a:spcPts val="0"/>
              </a:spcAft>
              <a:buClrTx/>
              <a:buSzTx/>
              <a:buFontTx/>
              <a:buNone/>
              <a:tabLst/>
            </a:pP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solutions generated from the cake-baking example, complete the evaluation matrix.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evaluation matrix.</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key takeaways to group.</a:t>
            </a:r>
          </a:p>
        </p:txBody>
      </p:sp>
      <p:grpSp>
        <p:nvGrpSpPr>
          <p:cNvPr id="21" name="Group 20">
            <a:extLst>
              <a:ext uri="{FF2B5EF4-FFF2-40B4-BE49-F238E27FC236}">
                <a16:creationId xmlns:a16="http://schemas.microsoft.com/office/drawing/2014/main" id="{1909FD93-C521-1600-9299-16950633D508}"/>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657CAB6D-E8C3-8A71-40B4-F14B0E881F0F}"/>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744F0F5B-0DAE-4A7E-56DB-B75C95F6A62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5" name="Group 24">
                <a:extLst>
                  <a:ext uri="{FF2B5EF4-FFF2-40B4-BE49-F238E27FC236}">
                    <a16:creationId xmlns:a16="http://schemas.microsoft.com/office/drawing/2014/main" id="{FE68BCA1-946D-89CA-9FCE-3D60370F8B3F}"/>
                  </a:ext>
                </a:extLst>
              </p:cNvPr>
              <p:cNvGrpSpPr/>
              <p:nvPr/>
            </p:nvGrpSpPr>
            <p:grpSpPr>
              <a:xfrm>
                <a:off x="838200" y="297639"/>
                <a:ext cx="1060167" cy="290657"/>
                <a:chOff x="826426" y="4041857"/>
                <a:chExt cx="1060167" cy="290657"/>
              </a:xfrm>
            </p:grpSpPr>
            <p:sp>
              <p:nvSpPr>
                <p:cNvPr id="26" name="AutoShape 9">
                  <a:extLst>
                    <a:ext uri="{FF2B5EF4-FFF2-40B4-BE49-F238E27FC236}">
                      <a16:creationId xmlns:a16="http://schemas.microsoft.com/office/drawing/2014/main" id="{1E3A6771-5E13-3CD3-27B3-6520067296C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C64A8DB2-0040-B275-4BD6-16CF174425A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A548B3DC-D75D-4A25-03F1-114C9844963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37813AFC-FADE-3285-11DD-D93CD02AE3A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46593097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4" name="Group 63">
            <a:extLst>
              <a:ext uri="{FF2B5EF4-FFF2-40B4-BE49-F238E27FC236}">
                <a16:creationId xmlns:a16="http://schemas.microsoft.com/office/drawing/2014/main" id="{803CB340-F531-AFC8-A9E9-5063DD5819BA}"/>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8" name="Group 67">
            <a:extLst>
              <a:ext uri="{FF2B5EF4-FFF2-40B4-BE49-F238E27FC236}">
                <a16:creationId xmlns:a16="http://schemas.microsoft.com/office/drawing/2014/main" id="{35C24F98-47AC-D5A1-BBB6-8637090BE8A8}"/>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6" name="Group 65">
            <a:extLst>
              <a:ext uri="{FF2B5EF4-FFF2-40B4-BE49-F238E27FC236}">
                <a16:creationId xmlns:a16="http://schemas.microsoft.com/office/drawing/2014/main" id="{3DCCBD8E-50D5-EDA3-E407-85FEB4D797BF}"/>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32" name="Group 31">
            <a:extLst>
              <a:ext uri="{FF2B5EF4-FFF2-40B4-BE49-F238E27FC236}">
                <a16:creationId xmlns:a16="http://schemas.microsoft.com/office/drawing/2014/main" id="{BEDBD4BD-ED20-CAB1-CA66-B060B58E6799}"/>
              </a:ext>
            </a:extLst>
          </p:cNvPr>
          <p:cNvGrpSpPr/>
          <p:nvPr/>
        </p:nvGrpSpPr>
        <p:grpSpPr>
          <a:xfrm>
            <a:off x="5758860" y="2556216"/>
            <a:ext cx="2057400" cy="775484"/>
            <a:chOff x="5758860" y="2556216"/>
            <a:chExt cx="2057400" cy="775484"/>
          </a:xfrm>
        </p:grpSpPr>
        <p:sp>
          <p:nvSpPr>
            <p:cNvPr id="34" name="Rectangle 33">
              <a:extLst>
                <a:ext uri="{FF2B5EF4-FFF2-40B4-BE49-F238E27FC236}">
                  <a16:creationId xmlns:a16="http://schemas.microsoft.com/office/drawing/2014/main" id="{7923D2B3-161B-CC15-14D5-89CFE4525E03}"/>
                </a:ext>
              </a:extLst>
            </p:cNvPr>
            <p:cNvSpPr/>
            <p:nvPr/>
          </p:nvSpPr>
          <p:spPr>
            <a:xfrm>
              <a:off x="5758860" y="2556216"/>
              <a:ext cx="2057400" cy="77548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5758860" y="2556216"/>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131" name="Group 130">
            <a:extLst>
              <a:ext uri="{FF2B5EF4-FFF2-40B4-BE49-F238E27FC236}">
                <a16:creationId xmlns:a16="http://schemas.microsoft.com/office/drawing/2014/main" id="{98258060-57F1-0589-6A9D-C91DA7A45E85}"/>
              </a:ext>
            </a:extLst>
          </p:cNvPr>
          <p:cNvGrpSpPr/>
          <p:nvPr/>
        </p:nvGrpSpPr>
        <p:grpSpPr>
          <a:xfrm>
            <a:off x="5762700" y="4889408"/>
            <a:ext cx="2057400" cy="775482"/>
            <a:chOff x="1335700" y="4539559"/>
            <a:chExt cx="1700011" cy="540912"/>
          </a:xfrm>
        </p:grpSpPr>
        <p:sp>
          <p:nvSpPr>
            <p:cNvPr id="38" name="Rectangle 37">
              <a:extLst>
                <a:ext uri="{FF2B5EF4-FFF2-40B4-BE49-F238E27FC236}">
                  <a16:creationId xmlns:a16="http://schemas.microsoft.com/office/drawing/2014/main" id="{3B1B3B23-6423-38D9-294A-797D3069E87F}"/>
                </a:ext>
              </a:extLst>
            </p:cNvPr>
            <p:cNvSpPr/>
            <p:nvPr/>
          </p:nvSpPr>
          <p:spPr>
            <a:xfrm>
              <a:off x="1335700" y="4539559"/>
              <a:ext cx="1700011" cy="54091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1800"/>
                </a:spcBef>
              </a:pP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1335700" y="4539559"/>
              <a:ext cx="294669" cy="15945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65" name="Group 64">
            <a:extLst>
              <a:ext uri="{FF2B5EF4-FFF2-40B4-BE49-F238E27FC236}">
                <a16:creationId xmlns:a16="http://schemas.microsoft.com/office/drawing/2014/main" id="{0F9E908E-98D5-08BF-18E2-4F564E0DDC4A}"/>
              </a:ext>
            </a:extLst>
          </p:cNvPr>
          <p:cNvGrpSpPr/>
          <p:nvPr/>
        </p:nvGrpSpPr>
        <p:grpSpPr>
          <a:xfrm>
            <a:off x="5764472" y="3726182"/>
            <a:ext cx="2057400" cy="775484"/>
            <a:chOff x="5764472" y="3726182"/>
            <a:chExt cx="2057400" cy="775484"/>
          </a:xfrm>
        </p:grpSpPr>
        <p:sp>
          <p:nvSpPr>
            <p:cNvPr id="14" name="Rectangle 13">
              <a:extLst>
                <a:ext uri="{FF2B5EF4-FFF2-40B4-BE49-F238E27FC236}">
                  <a16:creationId xmlns:a16="http://schemas.microsoft.com/office/drawing/2014/main" id="{0C061E12-9A39-29FB-284B-D3E55DC222ED}"/>
                </a:ext>
              </a:extLst>
            </p:cNvPr>
            <p:cNvSpPr/>
            <p:nvPr/>
          </p:nvSpPr>
          <p:spPr>
            <a:xfrm>
              <a:off x="5764472" y="3726182"/>
              <a:ext cx="2057400" cy="775484"/>
            </a:xfrm>
            <a:prstGeom prst="rect">
              <a:avLst/>
            </a:prstGeom>
            <a:solidFill>
              <a:schemeClr val="accent5"/>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5764472" y="37261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13817210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11. Develop Action Plan</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An action plan is a detailed outline of the steps required to implement the countermeasures, including specific tasks, responsible individuals, timelines, and resources needed.</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To ensure the systematic and effective implementation of countermeasures. It provides a clear roadmap for executing the necessary actions, assigning responsibilities, and setting deadlines to achieve the desired outcomes.</a:t>
            </a:r>
          </a:p>
        </p:txBody>
      </p:sp>
      <p:sp>
        <p:nvSpPr>
          <p:cNvPr id="3" name="TextBox 2">
            <a:extLst>
              <a:ext uri="{FF2B5EF4-FFF2-40B4-BE49-F238E27FC236}">
                <a16:creationId xmlns:a16="http://schemas.microsoft.com/office/drawing/2014/main" id="{3E667AD7-A438-25A8-276B-6109B9F1B9E4}"/>
              </a:ext>
            </a:extLst>
          </p:cNvPr>
          <p:cNvSpPr txBox="1"/>
          <p:nvPr/>
        </p:nvSpPr>
        <p:spPr>
          <a:xfrm>
            <a:off x="7692933" y="2892056"/>
            <a:ext cx="4499067" cy="3416320"/>
          </a:xfrm>
          <a:prstGeom prst="rect">
            <a:avLst/>
          </a:prstGeom>
          <a:noFill/>
        </p:spPr>
        <p:txBody>
          <a:bodyPr wrap="square" rtlCol="0">
            <a:spAutoFit/>
          </a:bodyPr>
          <a:lstStyle/>
          <a:p>
            <a:pPr marL="285750" indent="-285750">
              <a:buFont typeface="Arial" panose="020B0604020202020204" pitchFamily="34" charset="0"/>
              <a:buChar char="•"/>
            </a:pPr>
            <a:r>
              <a:rPr lang="en-US" dirty="0"/>
              <a:t>Countermeasure: Implement a new quality control check at each stage of production.</a:t>
            </a:r>
          </a:p>
          <a:p>
            <a:pPr marL="742950" lvl="1" indent="-285750">
              <a:buFont typeface="Arial" panose="020B0604020202020204" pitchFamily="34" charset="0"/>
              <a:buChar char="•"/>
            </a:pPr>
            <a:r>
              <a:rPr lang="en-US" dirty="0"/>
              <a:t>Action Plan:</a:t>
            </a:r>
          </a:p>
          <a:p>
            <a:pPr marL="1200150" lvl="2" indent="-285750">
              <a:buFont typeface="Arial" panose="020B0604020202020204" pitchFamily="34" charset="0"/>
              <a:buChar char="•"/>
            </a:pPr>
            <a:r>
              <a:rPr lang="en-US" dirty="0"/>
              <a:t>Task 1: Train quality control staff on the new procedures.</a:t>
            </a:r>
          </a:p>
          <a:p>
            <a:pPr marL="1200150" lvl="2" indent="-285750">
              <a:buFont typeface="Arial" panose="020B0604020202020204" pitchFamily="34" charset="0"/>
              <a:buChar char="•"/>
            </a:pPr>
            <a:r>
              <a:rPr lang="en-US" dirty="0"/>
              <a:t>Task 2: Update the production schedule to include quality control checks.</a:t>
            </a:r>
          </a:p>
          <a:p>
            <a:pPr marL="1200150" lvl="2" indent="-285750">
              <a:buFont typeface="Arial" panose="020B0604020202020204" pitchFamily="34" charset="0"/>
              <a:buChar char="•"/>
            </a:pPr>
            <a:r>
              <a:rPr lang="en-US" dirty="0"/>
              <a:t>Task 3: Monitor the implementation and gather data on defect rates.</a:t>
            </a:r>
          </a:p>
        </p:txBody>
      </p:sp>
      <p:grpSp>
        <p:nvGrpSpPr>
          <p:cNvPr id="5" name="Group 4">
            <a:extLst>
              <a:ext uri="{FF2B5EF4-FFF2-40B4-BE49-F238E27FC236}">
                <a16:creationId xmlns:a16="http://schemas.microsoft.com/office/drawing/2014/main" id="{188ACE4E-11EE-2B8F-30BB-9D99D17606FC}"/>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0623CE8D-C3F3-5457-3C58-1C73B73F03CD}"/>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9F2FCC12-8751-ADB5-BEB9-8F102CC0DD8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578893E2-DA00-358C-D5E1-698E3B80DE96}"/>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B4869CA0-17AE-570E-95E0-AD7200A2AC0E}"/>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E58E2DDD-3C61-3E06-42A5-F31E575B1EB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05CD01F5-FE9C-0BA3-C4BF-39E1F9C686F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8CE96EBB-CDFF-AD22-05A4-D84E468B4AB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5690602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7" name="Group 66">
            <a:extLst>
              <a:ext uri="{FF2B5EF4-FFF2-40B4-BE49-F238E27FC236}">
                <a16:creationId xmlns:a16="http://schemas.microsoft.com/office/drawing/2014/main" id="{FDD87209-9A92-8EF2-1FEA-3136937E6717}"/>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8" name="Group 67">
            <a:extLst>
              <a:ext uri="{FF2B5EF4-FFF2-40B4-BE49-F238E27FC236}">
                <a16:creationId xmlns:a16="http://schemas.microsoft.com/office/drawing/2014/main" id="{35C24F98-47AC-D5A1-BBB6-8637090BE8A8}"/>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50" name="Group 49">
            <a:extLst>
              <a:ext uri="{FF2B5EF4-FFF2-40B4-BE49-F238E27FC236}">
                <a16:creationId xmlns:a16="http://schemas.microsoft.com/office/drawing/2014/main" id="{4A6737D4-0CA1-D374-E964-CA6B3061F2DC}"/>
              </a:ext>
            </a:extLst>
          </p:cNvPr>
          <p:cNvGrpSpPr/>
          <p:nvPr/>
        </p:nvGrpSpPr>
        <p:grpSpPr>
          <a:xfrm>
            <a:off x="3147360" y="4889408"/>
            <a:ext cx="2057400" cy="777240"/>
            <a:chOff x="3161030" y="4293067"/>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61030" y="4293067"/>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61030" y="429306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6" name="Group 65">
            <a:extLst>
              <a:ext uri="{FF2B5EF4-FFF2-40B4-BE49-F238E27FC236}">
                <a16:creationId xmlns:a16="http://schemas.microsoft.com/office/drawing/2014/main" id="{3DCCBD8E-50D5-EDA3-E407-85FEB4D797BF}"/>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32" name="Group 31">
            <a:extLst>
              <a:ext uri="{FF2B5EF4-FFF2-40B4-BE49-F238E27FC236}">
                <a16:creationId xmlns:a16="http://schemas.microsoft.com/office/drawing/2014/main" id="{BEDBD4BD-ED20-CAB1-CA66-B060B58E6799}"/>
              </a:ext>
            </a:extLst>
          </p:cNvPr>
          <p:cNvGrpSpPr/>
          <p:nvPr/>
        </p:nvGrpSpPr>
        <p:grpSpPr>
          <a:xfrm>
            <a:off x="5758860" y="2556216"/>
            <a:ext cx="2057400" cy="775484"/>
            <a:chOff x="5758860" y="2556216"/>
            <a:chExt cx="2057400" cy="775484"/>
          </a:xfrm>
        </p:grpSpPr>
        <p:sp>
          <p:nvSpPr>
            <p:cNvPr id="34" name="Rectangle 33">
              <a:extLst>
                <a:ext uri="{FF2B5EF4-FFF2-40B4-BE49-F238E27FC236}">
                  <a16:creationId xmlns:a16="http://schemas.microsoft.com/office/drawing/2014/main" id="{7923D2B3-161B-CC15-14D5-89CFE4525E03}"/>
                </a:ext>
              </a:extLst>
            </p:cNvPr>
            <p:cNvSpPr/>
            <p:nvPr/>
          </p:nvSpPr>
          <p:spPr>
            <a:xfrm>
              <a:off x="5758860" y="2556216"/>
              <a:ext cx="2057400" cy="77548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5758860" y="2556216"/>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35" name="Group 34">
            <a:extLst>
              <a:ext uri="{FF2B5EF4-FFF2-40B4-BE49-F238E27FC236}">
                <a16:creationId xmlns:a16="http://schemas.microsoft.com/office/drawing/2014/main" id="{2DE44EE6-020D-3AB2-4AAC-3C70586F134E}"/>
              </a:ext>
            </a:extLst>
          </p:cNvPr>
          <p:cNvGrpSpPr/>
          <p:nvPr/>
        </p:nvGrpSpPr>
        <p:grpSpPr>
          <a:xfrm>
            <a:off x="5762700" y="4889408"/>
            <a:ext cx="2057400" cy="775482"/>
            <a:chOff x="5762700" y="4889408"/>
            <a:chExt cx="2057400" cy="775482"/>
          </a:xfrm>
        </p:grpSpPr>
        <p:sp>
          <p:nvSpPr>
            <p:cNvPr id="38" name="Rectangle 37">
              <a:extLst>
                <a:ext uri="{FF2B5EF4-FFF2-40B4-BE49-F238E27FC236}">
                  <a16:creationId xmlns:a16="http://schemas.microsoft.com/office/drawing/2014/main" id="{3B1B3B23-6423-38D9-294A-797D3069E87F}"/>
                </a:ext>
              </a:extLst>
            </p:cNvPr>
            <p:cNvSpPr/>
            <p:nvPr/>
          </p:nvSpPr>
          <p:spPr>
            <a:xfrm>
              <a:off x="5762700" y="4889408"/>
              <a:ext cx="2057400" cy="775482"/>
            </a:xfrm>
            <a:prstGeom prst="rect">
              <a:avLst/>
            </a:prstGeom>
            <a:solidFill>
              <a:schemeClr val="accent6"/>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5762700" y="4889408"/>
              <a:ext cx="356617" cy="2285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862B4F9-0D10-ED19-2EC2-3A3DDDD416E7}"/>
              </a:ext>
            </a:extLst>
          </p:cNvPr>
          <p:cNvGrpSpPr/>
          <p:nvPr/>
        </p:nvGrpSpPr>
        <p:grpSpPr>
          <a:xfrm>
            <a:off x="8233392" y="1717131"/>
            <a:ext cx="2988969" cy="1486059"/>
            <a:chOff x="1008977" y="3665738"/>
            <a:chExt cx="2143449" cy="1486059"/>
          </a:xfrm>
        </p:grpSpPr>
        <p:grpSp>
          <p:nvGrpSpPr>
            <p:cNvPr id="134" name="Group 133">
              <a:extLst>
                <a:ext uri="{FF2B5EF4-FFF2-40B4-BE49-F238E27FC236}">
                  <a16:creationId xmlns:a16="http://schemas.microsoft.com/office/drawing/2014/main" id="{0E7B230C-78A4-EA3E-3995-5D514C5B0C16}"/>
                </a:ext>
              </a:extLst>
            </p:cNvPr>
            <p:cNvGrpSpPr/>
            <p:nvPr/>
          </p:nvGrpSpPr>
          <p:grpSpPr>
            <a:xfrm>
              <a:off x="1008977" y="3937359"/>
              <a:ext cx="1943664" cy="953466"/>
              <a:chOff x="8507622" y="4239239"/>
              <a:chExt cx="1943664" cy="953466"/>
            </a:xfrm>
          </p:grpSpPr>
          <p:sp>
            <p:nvSpPr>
              <p:cNvPr id="44" name="Diamond 43">
                <a:extLst>
                  <a:ext uri="{FF2B5EF4-FFF2-40B4-BE49-F238E27FC236}">
                    <a16:creationId xmlns:a16="http://schemas.microsoft.com/office/drawing/2014/main" id="{1EC23450-097C-1729-E67C-6B51E545C0A6}"/>
                  </a:ext>
                </a:extLst>
              </p:cNvPr>
              <p:cNvSpPr/>
              <p:nvPr/>
            </p:nvSpPr>
            <p:spPr>
              <a:xfrm>
                <a:off x="8507622" y="4239239"/>
                <a:ext cx="1943664" cy="953466"/>
              </a:xfrm>
              <a:prstGeom prst="diamond">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endParaRPr lang="en-US" b="1" dirty="0">
                  <a:solidFill>
                    <a:schemeClr val="tx1"/>
                  </a:solidFill>
                </a:endParaRPr>
              </a:p>
            </p:txBody>
          </p:sp>
          <p:sp>
            <p:nvSpPr>
              <p:cNvPr id="46" name="Diamond 45">
                <a:extLst>
                  <a:ext uri="{FF2B5EF4-FFF2-40B4-BE49-F238E27FC236}">
                    <a16:creationId xmlns:a16="http://schemas.microsoft.com/office/drawing/2014/main" id="{36908CE4-FA32-F335-64DD-0F5C09BA23B8}"/>
                  </a:ext>
                </a:extLst>
              </p:cNvPr>
              <p:cNvSpPr/>
              <p:nvPr/>
            </p:nvSpPr>
            <p:spPr>
              <a:xfrm>
                <a:off x="8507622" y="4600760"/>
                <a:ext cx="48711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grpSp>
        <p:sp>
          <p:nvSpPr>
            <p:cNvPr id="188" name="TextBox 187">
              <a:extLst>
                <a:ext uri="{FF2B5EF4-FFF2-40B4-BE49-F238E27FC236}">
                  <a16:creationId xmlns:a16="http://schemas.microsoft.com/office/drawing/2014/main" id="{A7C2CD6E-B897-5DF0-042F-AF42CCF7CDB3}"/>
                </a:ext>
              </a:extLst>
            </p:cNvPr>
            <p:cNvSpPr txBox="1"/>
            <p:nvPr/>
          </p:nvSpPr>
          <p:spPr>
            <a:xfrm>
              <a:off x="1950346" y="4844020"/>
              <a:ext cx="932511"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1980809" y="3665738"/>
              <a:ext cx="1171617"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24E2BF33-B88F-926F-84EF-8B5D8846FEFB}"/>
              </a:ext>
            </a:extLst>
          </p:cNvPr>
          <p:cNvGrpSpPr/>
          <p:nvPr/>
        </p:nvGrpSpPr>
        <p:grpSpPr>
          <a:xfrm>
            <a:off x="5764472" y="3726182"/>
            <a:ext cx="2057400" cy="775484"/>
            <a:chOff x="5764472" y="3726182"/>
            <a:chExt cx="2057400" cy="775484"/>
          </a:xfrm>
        </p:grpSpPr>
        <p:sp>
          <p:nvSpPr>
            <p:cNvPr id="14" name="Rectangle 13">
              <a:extLst>
                <a:ext uri="{FF2B5EF4-FFF2-40B4-BE49-F238E27FC236}">
                  <a16:creationId xmlns:a16="http://schemas.microsoft.com/office/drawing/2014/main" id="{0C061E12-9A39-29FB-284B-D3E55DC222ED}"/>
                </a:ext>
              </a:extLst>
            </p:cNvPr>
            <p:cNvSpPr/>
            <p:nvPr/>
          </p:nvSpPr>
          <p:spPr>
            <a:xfrm>
              <a:off x="5764472" y="3726182"/>
              <a:ext cx="2057400" cy="77548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5764472" y="37261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1863317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12. Execute Action Plan &amp; Document New Process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 record of the new process and the educational materials used to train staff on these changes.</a:t>
            </a:r>
          </a:p>
          <a:p>
            <a:pPr marL="285750" indent="-285750">
              <a:buFont typeface="Arial" panose="020B0604020202020204" pitchFamily="34" charset="0"/>
              <a:buChar char="•"/>
            </a:pPr>
            <a:r>
              <a:rPr lang="en-US" dirty="0"/>
              <a:t>Process should be documented in a visual format whenever possible.</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formalize the changes in processes and ensure all relevant personnel are proficient in the new methods.</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Creating a new standard operating procedure for machine setup and conducting hands-on training for operators.</a:t>
            </a:r>
          </a:p>
          <a:p>
            <a:pPr marL="285750" indent="-285750">
              <a:buFont typeface="Arial" panose="020B0604020202020204" pitchFamily="34" charset="0"/>
              <a:buChar char="•"/>
            </a:pPr>
            <a:r>
              <a:rPr lang="en-US" dirty="0"/>
              <a:t>Updating the customer service script and providing workshops for representatives.</a:t>
            </a:r>
          </a:p>
        </p:txBody>
      </p:sp>
      <p:grpSp>
        <p:nvGrpSpPr>
          <p:cNvPr id="5" name="Group 4">
            <a:extLst>
              <a:ext uri="{FF2B5EF4-FFF2-40B4-BE49-F238E27FC236}">
                <a16:creationId xmlns:a16="http://schemas.microsoft.com/office/drawing/2014/main" id="{265234BB-F824-A6D6-5628-2D67FCC9247E}"/>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D1C8213C-0ED8-A72A-D066-6D06FB7D1538}"/>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39800D06-B555-E902-C9DF-61BFE74337E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6E33ED00-A71B-6906-2010-C7056FA0CC0A}"/>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7D65A9E5-6608-6001-1CE1-97B4B807B66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C9EA0C4D-25C1-E98D-1383-7838335BAFA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86FA66EA-2CFF-9FFC-E9C5-F87613B5151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CFE8577-9616-4564-C787-D4C62F243AB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4055029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769BE5-142E-65F9-14F1-3F179937DA94}"/>
              </a:ext>
            </a:extLst>
          </p:cNvPr>
          <p:cNvSpPr>
            <a:spLocks noGrp="1"/>
          </p:cNvSpPr>
          <p:nvPr>
            <p:ph type="title"/>
          </p:nvPr>
        </p:nvSpPr>
        <p:spPr/>
        <p:txBody>
          <a:bodyPr/>
          <a:lstStyle/>
          <a:p>
            <a:r>
              <a:rPr lang="en-US" dirty="0"/>
              <a:t>Process Defined</a:t>
            </a:r>
          </a:p>
        </p:txBody>
      </p:sp>
      <p:pic>
        <p:nvPicPr>
          <p:cNvPr id="7" name="Picture Placeholder 6">
            <a:extLst>
              <a:ext uri="{FF2B5EF4-FFF2-40B4-BE49-F238E27FC236}">
                <a16:creationId xmlns:a16="http://schemas.microsoft.com/office/drawing/2014/main" id="{7C6FB5CC-C4A2-9BA2-BF02-976DF5109B6D}"/>
              </a:ext>
            </a:extLst>
          </p:cNvPr>
          <p:cNvPicPr>
            <a:picLocks noGrp="1" noChangeAspect="1"/>
          </p:cNvPicPr>
          <p:nvPr>
            <p:ph type="pic" idx="1"/>
          </p:nvPr>
        </p:nvPicPr>
        <p:blipFill>
          <a:blip r:embed="rId2"/>
          <a:srcRect l="7785" r="7785"/>
          <a:stretch>
            <a:fillRect/>
          </a:stretch>
        </p:blipFill>
        <p:spPr/>
      </p:pic>
      <p:sp>
        <p:nvSpPr>
          <p:cNvPr id="4" name="Content Placeholder 3">
            <a:extLst>
              <a:ext uri="{FF2B5EF4-FFF2-40B4-BE49-F238E27FC236}">
                <a16:creationId xmlns:a16="http://schemas.microsoft.com/office/drawing/2014/main" id="{46A35F16-B02C-B9E0-D986-6A70D2ED2536}"/>
              </a:ext>
            </a:extLst>
          </p:cNvPr>
          <p:cNvSpPr>
            <a:spLocks noGrp="1"/>
          </p:cNvSpPr>
          <p:nvPr>
            <p:ph type="body" sz="half" idx="2"/>
          </p:nvPr>
        </p:nvSpPr>
        <p:spPr/>
        <p:txBody>
          <a:bodyPr>
            <a:normAutofit/>
          </a:bodyPr>
          <a:lstStyle/>
          <a:p>
            <a:r>
              <a:rPr lang="en-US" sz="2000" dirty="0"/>
              <a:t>A systematic series of activities directed toward achieving an end result in which one or more inputs are acted upon to create one or more outputs.</a:t>
            </a:r>
          </a:p>
          <a:p>
            <a:endParaRPr lang="en-US" sz="2000" dirty="0"/>
          </a:p>
          <a:p>
            <a:r>
              <a:rPr lang="en-US" sz="2000" dirty="0"/>
              <a:t>Applies to products, services, information, etc.</a:t>
            </a:r>
          </a:p>
        </p:txBody>
      </p:sp>
      <p:grpSp>
        <p:nvGrpSpPr>
          <p:cNvPr id="2" name="Group 1">
            <a:extLst>
              <a:ext uri="{FF2B5EF4-FFF2-40B4-BE49-F238E27FC236}">
                <a16:creationId xmlns:a16="http://schemas.microsoft.com/office/drawing/2014/main" id="{F63D27B6-948D-D555-995D-624AA8DD8FEF}"/>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AC70412A-564F-681C-74C5-5E20EDD77E25}"/>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A8F35C64-521F-7144-1C9E-20CD2910110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F24CF36-B4CA-69CA-DD60-0E9C40C2B755}"/>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71ED94D6-A13D-AAEB-1864-8547133692A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BBC336FC-9F8C-A7A4-71F3-A43CF8119AC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D3099C73-036A-35EA-D566-E754A83BCCD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A671843-1702-5680-78C9-F23A8455C83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0780840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89D44B-4AE8-07FA-C75C-082378821354}"/>
              </a:ext>
            </a:extLst>
          </p:cNvPr>
          <p:cNvSpPr>
            <a:spLocks noGrp="1"/>
          </p:cNvSpPr>
          <p:nvPr>
            <p:ph type="title"/>
          </p:nvPr>
        </p:nvSpPr>
        <p:spPr/>
        <p:txBody>
          <a:bodyPr/>
          <a:lstStyle/>
          <a:p>
            <a:r>
              <a:rPr lang="en-US" dirty="0"/>
              <a:t>10 Rules of a Process</a:t>
            </a:r>
          </a:p>
        </p:txBody>
      </p:sp>
      <p:sp>
        <p:nvSpPr>
          <p:cNvPr id="4" name="Content Placeholder 3">
            <a:extLst>
              <a:ext uri="{FF2B5EF4-FFF2-40B4-BE49-F238E27FC236}">
                <a16:creationId xmlns:a16="http://schemas.microsoft.com/office/drawing/2014/main" id="{ECCB20CF-9D55-517D-46A2-017D0BD60C63}"/>
              </a:ext>
            </a:extLst>
          </p:cNvPr>
          <p:cNvSpPr>
            <a:spLocks noGrp="1"/>
          </p:cNvSpPr>
          <p:nvPr>
            <p:ph sz="half" idx="1"/>
          </p:nvPr>
        </p:nvSpPr>
        <p:spPr/>
        <p:txBody>
          <a:bodyPr>
            <a:noAutofit/>
          </a:bodyPr>
          <a:lstStyle/>
          <a:p>
            <a:pPr marL="457200" indent="-457200">
              <a:lnSpc>
                <a:spcPct val="110000"/>
              </a:lnSpc>
              <a:buFont typeface="+mj-lt"/>
              <a:buAutoNum type="arabicPeriod"/>
            </a:pPr>
            <a:r>
              <a:rPr lang="en-US" sz="2400" dirty="0"/>
              <a:t>If a process is not documented, it is not a process. </a:t>
            </a:r>
          </a:p>
          <a:p>
            <a:pPr marL="457200" indent="-457200">
              <a:lnSpc>
                <a:spcPct val="110000"/>
              </a:lnSpc>
              <a:buFont typeface="+mj-lt"/>
              <a:buAutoNum type="arabicPeriod"/>
            </a:pPr>
            <a:r>
              <a:rPr lang="en-US" sz="2400" dirty="0"/>
              <a:t>Visibly display processes.</a:t>
            </a:r>
          </a:p>
          <a:p>
            <a:pPr marL="457200" indent="-457200">
              <a:lnSpc>
                <a:spcPct val="110000"/>
              </a:lnSpc>
              <a:buFont typeface="+mj-lt"/>
              <a:buAutoNum type="arabicPeriod"/>
            </a:pPr>
            <a:r>
              <a:rPr lang="en-US" sz="2400" dirty="0"/>
              <a:t>Processes should have job instructions, roles, and responsibilities.</a:t>
            </a:r>
          </a:p>
          <a:p>
            <a:pPr marL="457200" indent="-457200">
              <a:lnSpc>
                <a:spcPct val="110000"/>
              </a:lnSpc>
              <a:buFont typeface="+mj-lt"/>
              <a:buAutoNum type="arabicPeriod"/>
            </a:pPr>
            <a:r>
              <a:rPr lang="en-US" sz="2400" dirty="0"/>
              <a:t>Processes need to be trained with periodic refreshers.</a:t>
            </a:r>
          </a:p>
          <a:p>
            <a:pPr marL="457200" indent="-457200">
              <a:lnSpc>
                <a:spcPct val="110000"/>
              </a:lnSpc>
              <a:buFont typeface="+mj-lt"/>
              <a:buAutoNum type="arabicPeriod"/>
            </a:pPr>
            <a:r>
              <a:rPr lang="en-US" sz="2400" dirty="0"/>
              <a:t>Products or information should have a clear path.</a:t>
            </a:r>
          </a:p>
        </p:txBody>
      </p:sp>
      <p:sp>
        <p:nvSpPr>
          <p:cNvPr id="5" name="Content Placeholder 4">
            <a:extLst>
              <a:ext uri="{FF2B5EF4-FFF2-40B4-BE49-F238E27FC236}">
                <a16:creationId xmlns:a16="http://schemas.microsoft.com/office/drawing/2014/main" id="{2F737FAE-305F-9687-3AA8-5FE7F0B4DAA1}"/>
              </a:ext>
            </a:extLst>
          </p:cNvPr>
          <p:cNvSpPr>
            <a:spLocks noGrp="1"/>
          </p:cNvSpPr>
          <p:nvPr>
            <p:ph sz="half" idx="2"/>
          </p:nvPr>
        </p:nvSpPr>
        <p:spPr/>
        <p:txBody>
          <a:bodyPr>
            <a:normAutofit/>
          </a:bodyPr>
          <a:lstStyle/>
          <a:p>
            <a:pPr marL="457200" indent="-457200">
              <a:lnSpc>
                <a:spcPct val="110000"/>
              </a:lnSpc>
              <a:buFont typeface="+mj-lt"/>
              <a:buAutoNum type="arabicPeriod" startAt="6"/>
            </a:pPr>
            <a:r>
              <a:rPr lang="en-US" sz="2400" dirty="0"/>
              <a:t>Ensure quality before passing on to the next process or customer.</a:t>
            </a:r>
          </a:p>
          <a:p>
            <a:pPr marL="457200" indent="-457200">
              <a:lnSpc>
                <a:spcPct val="110000"/>
              </a:lnSpc>
              <a:buFont typeface="+mj-lt"/>
              <a:buAutoNum type="arabicPeriod" startAt="6"/>
            </a:pPr>
            <a:r>
              <a:rPr lang="en-US" sz="2400" dirty="0"/>
              <a:t>Eliminate waiting.</a:t>
            </a:r>
          </a:p>
          <a:p>
            <a:pPr marL="457200" indent="-457200">
              <a:lnSpc>
                <a:spcPct val="110000"/>
              </a:lnSpc>
              <a:buFont typeface="+mj-lt"/>
              <a:buAutoNum type="arabicPeriod" startAt="6"/>
            </a:pPr>
            <a:r>
              <a:rPr lang="en-US" sz="2400" dirty="0"/>
              <a:t>Apply kaizen to improve processes.</a:t>
            </a:r>
          </a:p>
          <a:p>
            <a:pPr marL="457200" indent="-457200">
              <a:lnSpc>
                <a:spcPct val="110000"/>
              </a:lnSpc>
              <a:buFont typeface="+mj-lt"/>
              <a:buAutoNum type="arabicPeriod" startAt="6"/>
            </a:pPr>
            <a:r>
              <a:rPr lang="en-US" sz="2400" dirty="0"/>
              <a:t>Monitor with KPIs.</a:t>
            </a:r>
          </a:p>
          <a:p>
            <a:pPr marL="457200" indent="-457200">
              <a:lnSpc>
                <a:spcPct val="110000"/>
              </a:lnSpc>
              <a:buFont typeface="+mj-lt"/>
              <a:buAutoNum type="arabicPeriod" startAt="6"/>
            </a:pPr>
            <a:r>
              <a:rPr lang="en-US" sz="2400" dirty="0"/>
              <a:t>Improve processes with Kaizen/PDCA.</a:t>
            </a:r>
          </a:p>
        </p:txBody>
      </p:sp>
      <p:grpSp>
        <p:nvGrpSpPr>
          <p:cNvPr id="2" name="Group 1">
            <a:extLst>
              <a:ext uri="{FF2B5EF4-FFF2-40B4-BE49-F238E27FC236}">
                <a16:creationId xmlns:a16="http://schemas.microsoft.com/office/drawing/2014/main" id="{3921F174-EB6C-E399-28E6-EFDE332DD366}"/>
              </a:ext>
            </a:extLst>
          </p:cNvPr>
          <p:cNvGrpSpPr/>
          <p:nvPr/>
        </p:nvGrpSpPr>
        <p:grpSpPr>
          <a:xfrm>
            <a:off x="838200" y="297639"/>
            <a:ext cx="4561953" cy="307138"/>
            <a:chOff x="838200" y="297639"/>
            <a:chExt cx="4561953" cy="307138"/>
          </a:xfrm>
        </p:grpSpPr>
        <p:grpSp>
          <p:nvGrpSpPr>
            <p:cNvPr id="6" name="Group 5">
              <a:extLst>
                <a:ext uri="{FF2B5EF4-FFF2-40B4-BE49-F238E27FC236}">
                  <a16:creationId xmlns:a16="http://schemas.microsoft.com/office/drawing/2014/main" id="{BDB69249-FD65-881D-2321-D700F0286011}"/>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EBC01BFF-C154-9392-74B8-1001CD9CF98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7B42880-DBB7-6746-D127-3A9B5883E387}"/>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7F3CCC3E-A34D-ECF6-DAFF-90DEBF468EF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D92E2868-15A8-311B-8613-DB20BFF9E37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9D93904E-6913-527E-80D3-CB2B83F6823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EF3DF00-D081-C2DA-6D37-94C1201A8EF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4815599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Lego Boat Exercise</a:t>
            </a:r>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Construct a Lego boat with the provided instructions.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0" y="3486027"/>
            <a:ext cx="4890743" cy="2787182"/>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four individuals from the group to participate in building a Lego boat.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Participant 1: Will build the Lego boat using traditional Lego-style </a:t>
            </a:r>
            <a:r>
              <a:rPr lang="en-US" sz="1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visual </a:t>
            </a: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instructions.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1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Participant 2: Will build the Lego boat using text-based instructions.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1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Participants 3 and 4: Start timer for participants 1 and 2, respectively.</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1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When a builder is complete, the instructor will check the quality of the product. If it is not correct, they must re-do it.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lang="en-US" sz="1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Participants 3 and 4: Record the final time for your builder and report back to the group.</a:t>
            </a:r>
            <a:endPar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 complete Lego boat as described by the instructions provided.</a:t>
            </a:r>
          </a:p>
        </p:txBody>
      </p:sp>
      <p:grpSp>
        <p:nvGrpSpPr>
          <p:cNvPr id="3" name="Group 2">
            <a:extLst>
              <a:ext uri="{FF2B5EF4-FFF2-40B4-BE49-F238E27FC236}">
                <a16:creationId xmlns:a16="http://schemas.microsoft.com/office/drawing/2014/main" id="{14BD5539-EF96-BC22-E08F-80B8E509E298}"/>
              </a:ext>
            </a:extLst>
          </p:cNvPr>
          <p:cNvGrpSpPr/>
          <p:nvPr/>
        </p:nvGrpSpPr>
        <p:grpSpPr>
          <a:xfrm>
            <a:off x="838200" y="297639"/>
            <a:ext cx="4561953" cy="307138"/>
            <a:chOff x="838200" y="297639"/>
            <a:chExt cx="4561953" cy="307138"/>
          </a:xfrm>
        </p:grpSpPr>
        <p:grpSp>
          <p:nvGrpSpPr>
            <p:cNvPr id="4" name="Group 3">
              <a:extLst>
                <a:ext uri="{FF2B5EF4-FFF2-40B4-BE49-F238E27FC236}">
                  <a16:creationId xmlns:a16="http://schemas.microsoft.com/office/drawing/2014/main" id="{725D8326-06EE-55BD-4118-52E2E6F9E3E7}"/>
                </a:ext>
              </a:extLst>
            </p:cNvPr>
            <p:cNvGrpSpPr/>
            <p:nvPr/>
          </p:nvGrpSpPr>
          <p:grpSpPr>
            <a:xfrm>
              <a:off x="838200" y="297639"/>
              <a:ext cx="1373842" cy="290657"/>
              <a:chOff x="838200" y="297639"/>
              <a:chExt cx="1373842" cy="290657"/>
            </a:xfrm>
          </p:grpSpPr>
          <p:sp>
            <p:nvSpPr>
              <p:cNvPr id="6" name="AutoShape 9">
                <a:extLst>
                  <a:ext uri="{FF2B5EF4-FFF2-40B4-BE49-F238E27FC236}">
                    <a16:creationId xmlns:a16="http://schemas.microsoft.com/office/drawing/2014/main" id="{134D69EA-0F1D-D4BA-CE82-BBF9CA867A9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DBA9C83A-1D53-1268-A42A-DA7E28500D2F}"/>
                  </a:ext>
                </a:extLst>
              </p:cNvPr>
              <p:cNvGrpSpPr/>
              <p:nvPr/>
            </p:nvGrpSpPr>
            <p:grpSpPr>
              <a:xfrm>
                <a:off x="838200" y="297639"/>
                <a:ext cx="1060167" cy="290657"/>
                <a:chOff x="826426" y="4041857"/>
                <a:chExt cx="1060167" cy="290657"/>
              </a:xfrm>
            </p:grpSpPr>
            <p:sp>
              <p:nvSpPr>
                <p:cNvPr id="8" name="AutoShape 9">
                  <a:extLst>
                    <a:ext uri="{FF2B5EF4-FFF2-40B4-BE49-F238E27FC236}">
                      <a16:creationId xmlns:a16="http://schemas.microsoft.com/office/drawing/2014/main" id="{9BEC9448-A832-24C3-5B3C-FA246D3523E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1">
                  <a:extLst>
                    <a:ext uri="{FF2B5EF4-FFF2-40B4-BE49-F238E27FC236}">
                      <a16:creationId xmlns:a16="http://schemas.microsoft.com/office/drawing/2014/main" id="{EBAE7D15-F0F1-0FF8-C997-600012A9363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D0DEF9BA-D565-22A9-9FE5-6055D32388E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E5770D3A-04B4-871B-7BB2-26812160FE7E}"/>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1778120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Food for Thought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type="body" sz="half" idx="2"/>
          </p:nvPr>
        </p:nvSpPr>
        <p:spPr/>
        <p:txBody>
          <a:bodyPr>
            <a:normAutofit/>
          </a:bodyPr>
          <a:lstStyle/>
          <a:p>
            <a:r>
              <a:rPr lang="en-US" sz="2800" dirty="0"/>
              <a:t>Toyota gets BRILLIANT results with ORDINARY people running BRILLIANT processes.</a:t>
            </a:r>
          </a:p>
        </p:txBody>
      </p:sp>
      <p:pic>
        <p:nvPicPr>
          <p:cNvPr id="6" name="Picture Placeholder 5">
            <a:extLst>
              <a:ext uri="{FF2B5EF4-FFF2-40B4-BE49-F238E27FC236}">
                <a16:creationId xmlns:a16="http://schemas.microsoft.com/office/drawing/2014/main" id="{72210A89-9113-CCD5-898E-556202E04083}"/>
              </a:ext>
            </a:extLst>
          </p:cNvPr>
          <p:cNvPicPr>
            <a:picLocks noGrp="1" noChangeAspect="1"/>
          </p:cNvPicPr>
          <p:nvPr>
            <p:ph type="pic" idx="1"/>
          </p:nvPr>
        </p:nvPicPr>
        <p:blipFill>
          <a:blip r:embed="rId2"/>
          <a:srcRect l="7785" r="7785"/>
          <a:stretch>
            <a:fillRect/>
          </a:stretch>
        </p:blipFill>
        <p:spPr/>
      </p:pic>
      <p:grpSp>
        <p:nvGrpSpPr>
          <p:cNvPr id="4" name="Group 3">
            <a:extLst>
              <a:ext uri="{FF2B5EF4-FFF2-40B4-BE49-F238E27FC236}">
                <a16:creationId xmlns:a16="http://schemas.microsoft.com/office/drawing/2014/main" id="{D21600CC-5650-65C4-DB61-142CE68B5609}"/>
              </a:ext>
            </a:extLst>
          </p:cNvPr>
          <p:cNvGrpSpPr/>
          <p:nvPr/>
        </p:nvGrpSpPr>
        <p:grpSpPr>
          <a:xfrm>
            <a:off x="838200" y="297639"/>
            <a:ext cx="4561953" cy="307138"/>
            <a:chOff x="838200" y="297639"/>
            <a:chExt cx="4561953" cy="307138"/>
          </a:xfrm>
        </p:grpSpPr>
        <p:grpSp>
          <p:nvGrpSpPr>
            <p:cNvPr id="5" name="Group 4">
              <a:extLst>
                <a:ext uri="{FF2B5EF4-FFF2-40B4-BE49-F238E27FC236}">
                  <a16:creationId xmlns:a16="http://schemas.microsoft.com/office/drawing/2014/main" id="{D9DD0644-CF9E-7988-E126-A2D53B47EAAF}"/>
                </a:ext>
              </a:extLst>
            </p:cNvPr>
            <p:cNvGrpSpPr/>
            <p:nvPr/>
          </p:nvGrpSpPr>
          <p:grpSpPr>
            <a:xfrm>
              <a:off x="838200" y="297639"/>
              <a:ext cx="1373842" cy="290657"/>
              <a:chOff x="838200" y="297639"/>
              <a:chExt cx="1373842" cy="290657"/>
            </a:xfrm>
          </p:grpSpPr>
          <p:sp>
            <p:nvSpPr>
              <p:cNvPr id="8" name="AutoShape 9">
                <a:extLst>
                  <a:ext uri="{FF2B5EF4-FFF2-40B4-BE49-F238E27FC236}">
                    <a16:creationId xmlns:a16="http://schemas.microsoft.com/office/drawing/2014/main" id="{4E2DFBB5-AB5D-F030-0899-1413E5B2C5F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7F0DFD7C-0466-8210-BDB6-FA72277180C6}"/>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EE313121-AA63-CF4E-BB23-B6352A3D82DF}"/>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F1B55674-0D09-EF2F-D6D0-6C31B660DCB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D79CB5C8-E80D-E5B7-82D1-6248AE974A8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B9700689-5C36-A85D-BCAE-ADE5C5A4180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1770878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7" name="Group 66">
            <a:extLst>
              <a:ext uri="{FF2B5EF4-FFF2-40B4-BE49-F238E27FC236}">
                <a16:creationId xmlns:a16="http://schemas.microsoft.com/office/drawing/2014/main" id="{FDD87209-9A92-8EF2-1FEA-3136937E6717}"/>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8" name="Group 67">
            <a:extLst>
              <a:ext uri="{FF2B5EF4-FFF2-40B4-BE49-F238E27FC236}">
                <a16:creationId xmlns:a16="http://schemas.microsoft.com/office/drawing/2014/main" id="{35C24F98-47AC-D5A1-BBB6-8637090BE8A8}"/>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69" name="Group 68">
            <a:extLst>
              <a:ext uri="{FF2B5EF4-FFF2-40B4-BE49-F238E27FC236}">
                <a16:creationId xmlns:a16="http://schemas.microsoft.com/office/drawing/2014/main" id="{8C3E4E16-B48F-4A86-EB32-2E6CAF911106}"/>
              </a:ext>
            </a:extLst>
          </p:cNvPr>
          <p:cNvGrpSpPr/>
          <p:nvPr/>
        </p:nvGrpSpPr>
        <p:grpSpPr>
          <a:xfrm>
            <a:off x="3147360" y="4889408"/>
            <a:ext cx="2057400" cy="777240"/>
            <a:chOff x="3147360" y="4889408"/>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47360" y="4889408"/>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47360"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6" name="Group 65">
            <a:extLst>
              <a:ext uri="{FF2B5EF4-FFF2-40B4-BE49-F238E27FC236}">
                <a16:creationId xmlns:a16="http://schemas.microsoft.com/office/drawing/2014/main" id="{3DCCBD8E-50D5-EDA3-E407-85FEB4D797BF}"/>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32" name="Group 31">
            <a:extLst>
              <a:ext uri="{FF2B5EF4-FFF2-40B4-BE49-F238E27FC236}">
                <a16:creationId xmlns:a16="http://schemas.microsoft.com/office/drawing/2014/main" id="{BEDBD4BD-ED20-CAB1-CA66-B060B58E6799}"/>
              </a:ext>
            </a:extLst>
          </p:cNvPr>
          <p:cNvGrpSpPr/>
          <p:nvPr/>
        </p:nvGrpSpPr>
        <p:grpSpPr>
          <a:xfrm>
            <a:off x="5758860" y="2556216"/>
            <a:ext cx="2057400" cy="775484"/>
            <a:chOff x="5758860" y="2556216"/>
            <a:chExt cx="2057400" cy="775484"/>
          </a:xfrm>
        </p:grpSpPr>
        <p:sp>
          <p:nvSpPr>
            <p:cNvPr id="34" name="Rectangle 33">
              <a:extLst>
                <a:ext uri="{FF2B5EF4-FFF2-40B4-BE49-F238E27FC236}">
                  <a16:creationId xmlns:a16="http://schemas.microsoft.com/office/drawing/2014/main" id="{7923D2B3-161B-CC15-14D5-89CFE4525E03}"/>
                </a:ext>
              </a:extLst>
            </p:cNvPr>
            <p:cNvSpPr/>
            <p:nvPr/>
          </p:nvSpPr>
          <p:spPr>
            <a:xfrm>
              <a:off x="5758860" y="2556216"/>
              <a:ext cx="2057400" cy="77548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5758860" y="2556216"/>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65" name="Group 64">
            <a:extLst>
              <a:ext uri="{FF2B5EF4-FFF2-40B4-BE49-F238E27FC236}">
                <a16:creationId xmlns:a16="http://schemas.microsoft.com/office/drawing/2014/main" id="{B82443CB-7226-9FDB-6AB1-FBC4359FF754}"/>
              </a:ext>
            </a:extLst>
          </p:cNvPr>
          <p:cNvGrpSpPr/>
          <p:nvPr/>
        </p:nvGrpSpPr>
        <p:grpSpPr>
          <a:xfrm>
            <a:off x="5762700" y="4889408"/>
            <a:ext cx="2057400" cy="775482"/>
            <a:chOff x="5762700" y="4889408"/>
            <a:chExt cx="2057400" cy="775482"/>
          </a:xfrm>
        </p:grpSpPr>
        <p:sp>
          <p:nvSpPr>
            <p:cNvPr id="38" name="Rectangle 37">
              <a:extLst>
                <a:ext uri="{FF2B5EF4-FFF2-40B4-BE49-F238E27FC236}">
                  <a16:creationId xmlns:a16="http://schemas.microsoft.com/office/drawing/2014/main" id="{3B1B3B23-6423-38D9-294A-797D3069E87F}"/>
                </a:ext>
              </a:extLst>
            </p:cNvPr>
            <p:cNvSpPr/>
            <p:nvPr/>
          </p:nvSpPr>
          <p:spPr>
            <a:xfrm>
              <a:off x="5762700" y="4889408"/>
              <a:ext cx="2057400" cy="77548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5762700" y="4889408"/>
              <a:ext cx="356617" cy="2285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133" name="Group 132">
            <a:extLst>
              <a:ext uri="{FF2B5EF4-FFF2-40B4-BE49-F238E27FC236}">
                <a16:creationId xmlns:a16="http://schemas.microsoft.com/office/drawing/2014/main" id="{82950CE5-6DAD-7933-9857-91D8AAC54DAE}"/>
              </a:ext>
            </a:extLst>
          </p:cNvPr>
          <p:cNvGrpSpPr/>
          <p:nvPr/>
        </p:nvGrpSpPr>
        <p:grpSpPr>
          <a:xfrm>
            <a:off x="8559879" y="3513162"/>
            <a:ext cx="2057400" cy="777240"/>
            <a:chOff x="841724" y="5545814"/>
            <a:chExt cx="1700011" cy="540912"/>
          </a:xfrm>
        </p:grpSpPr>
        <p:sp>
          <p:nvSpPr>
            <p:cNvPr id="77" name="Rectangle 76">
              <a:extLst>
                <a:ext uri="{FF2B5EF4-FFF2-40B4-BE49-F238E27FC236}">
                  <a16:creationId xmlns:a16="http://schemas.microsoft.com/office/drawing/2014/main" id="{F2C332D9-63FE-29DC-C11E-34902FB53307}"/>
                </a:ext>
              </a:extLst>
            </p:cNvPr>
            <p:cNvSpPr/>
            <p:nvPr/>
          </p:nvSpPr>
          <p:spPr>
            <a:xfrm>
              <a:off x="841724" y="5545814"/>
              <a:ext cx="1700011" cy="540912"/>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41724" y="5545814"/>
              <a:ext cx="294669" cy="15909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FFA1E535-2538-294C-9CB8-0B434014B352}"/>
              </a:ext>
            </a:extLst>
          </p:cNvPr>
          <p:cNvGrpSpPr/>
          <p:nvPr/>
        </p:nvGrpSpPr>
        <p:grpSpPr>
          <a:xfrm>
            <a:off x="8233392" y="1717131"/>
            <a:ext cx="2988969" cy="1486059"/>
            <a:chOff x="8233392" y="1717131"/>
            <a:chExt cx="2988969" cy="1486059"/>
          </a:xfrm>
        </p:grpSpPr>
        <p:sp>
          <p:nvSpPr>
            <p:cNvPr id="44" name="Diamond 43">
              <a:extLst>
                <a:ext uri="{FF2B5EF4-FFF2-40B4-BE49-F238E27FC236}">
                  <a16:creationId xmlns:a16="http://schemas.microsoft.com/office/drawing/2014/main" id="{1EC23450-097C-1729-E67C-6B51E545C0A6}"/>
                </a:ext>
              </a:extLst>
            </p:cNvPr>
            <p:cNvSpPr/>
            <p:nvPr/>
          </p:nvSpPr>
          <p:spPr>
            <a:xfrm>
              <a:off x="8233392" y="1988752"/>
              <a:ext cx="2710375" cy="953466"/>
            </a:xfrm>
            <a:prstGeom prst="diamond">
              <a:avLst/>
            </a:prstGeom>
            <a:solidFill>
              <a:schemeClr val="accent2"/>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p>
          </p:txBody>
        </p:sp>
        <p:sp>
          <p:nvSpPr>
            <p:cNvPr id="46" name="Diamond 45">
              <a:extLst>
                <a:ext uri="{FF2B5EF4-FFF2-40B4-BE49-F238E27FC236}">
                  <a16:creationId xmlns:a16="http://schemas.microsoft.com/office/drawing/2014/main" id="{36908CE4-FA32-F335-64DD-0F5C09BA23B8}"/>
                </a:ext>
              </a:extLst>
            </p:cNvPr>
            <p:cNvSpPr/>
            <p:nvPr/>
          </p:nvSpPr>
          <p:spPr>
            <a:xfrm>
              <a:off x="8233392" y="2350273"/>
              <a:ext cx="67926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sp>
          <p:nvSpPr>
            <p:cNvPr id="188" name="TextBox 187">
              <a:extLst>
                <a:ext uri="{FF2B5EF4-FFF2-40B4-BE49-F238E27FC236}">
                  <a16:creationId xmlns:a16="http://schemas.microsoft.com/office/drawing/2014/main" id="{A7C2CD6E-B897-5DF0-042F-AF42CCF7CDB3}"/>
                </a:ext>
              </a:extLst>
            </p:cNvPr>
            <p:cNvSpPr txBox="1"/>
            <p:nvPr/>
          </p:nvSpPr>
          <p:spPr>
            <a:xfrm>
              <a:off x="9546100" y="2895413"/>
              <a:ext cx="1300356"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9588580" y="1717131"/>
              <a:ext cx="1633781"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24E2BF33-B88F-926F-84EF-8B5D8846FEFB}"/>
              </a:ext>
            </a:extLst>
          </p:cNvPr>
          <p:cNvGrpSpPr/>
          <p:nvPr/>
        </p:nvGrpSpPr>
        <p:grpSpPr>
          <a:xfrm>
            <a:off x="5764472" y="3726182"/>
            <a:ext cx="2057400" cy="775484"/>
            <a:chOff x="5764472" y="3726182"/>
            <a:chExt cx="2057400" cy="775484"/>
          </a:xfrm>
        </p:grpSpPr>
        <p:sp>
          <p:nvSpPr>
            <p:cNvPr id="14" name="Rectangle 13">
              <a:extLst>
                <a:ext uri="{FF2B5EF4-FFF2-40B4-BE49-F238E27FC236}">
                  <a16:creationId xmlns:a16="http://schemas.microsoft.com/office/drawing/2014/main" id="{0C061E12-9A39-29FB-284B-D3E55DC222ED}"/>
                </a:ext>
              </a:extLst>
            </p:cNvPr>
            <p:cNvSpPr/>
            <p:nvPr/>
          </p:nvSpPr>
          <p:spPr>
            <a:xfrm>
              <a:off x="5764472" y="3726182"/>
              <a:ext cx="2057400" cy="77548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5764472" y="37261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29234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13. Monitor Countermeasure Effectiveness via KPIs</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892056"/>
            <a:ext cx="3423487" cy="923330"/>
          </a:xfrm>
          <a:prstGeom prst="rect">
            <a:avLst/>
          </a:prstGeom>
          <a:noFill/>
        </p:spPr>
        <p:txBody>
          <a:bodyPr wrap="square" rtlCol="0">
            <a:spAutoFit/>
          </a:bodyPr>
          <a:lstStyle/>
          <a:p>
            <a:pPr marL="285750" indent="-285750">
              <a:buFont typeface="Arial" panose="020B0604020202020204" pitchFamily="34" charset="0"/>
              <a:buChar char="•"/>
            </a:pPr>
            <a:r>
              <a:rPr lang="en-US" dirty="0"/>
              <a:t>Metrics and procedures used to assess the impact of implemented solutions.</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892056"/>
            <a:ext cx="342348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track the performance of the implemented solutions against objectives and adjust as needed for continuous improvement.</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Measuring the defect rate weekly post-implementation to ensure sustained improvement.</a:t>
            </a:r>
          </a:p>
          <a:p>
            <a:pPr marL="285750" indent="-285750">
              <a:buFont typeface="Arial" panose="020B0604020202020204" pitchFamily="34" charset="0"/>
              <a:buChar char="•"/>
            </a:pPr>
            <a:r>
              <a:rPr lang="en-US" dirty="0"/>
              <a:t>Monitoring customer satisfaction scores after a new service protocol is introduced.</a:t>
            </a:r>
          </a:p>
        </p:txBody>
      </p:sp>
      <p:grpSp>
        <p:nvGrpSpPr>
          <p:cNvPr id="5" name="Group 4">
            <a:extLst>
              <a:ext uri="{FF2B5EF4-FFF2-40B4-BE49-F238E27FC236}">
                <a16:creationId xmlns:a16="http://schemas.microsoft.com/office/drawing/2014/main" id="{A9F6C7C0-F5F8-EE4C-94C8-D62F69374F5D}"/>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CE1529A7-DA57-A259-C50B-022E83F71AFB}"/>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73141E5E-635C-EEBA-BF99-D21F1D777E4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F627665F-56DD-D616-F54B-5EBFB3115B63}"/>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71DAC7E4-1B0A-687F-7DB7-FC848FDE969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80B3C4E4-6567-95C7-0017-9A84B852230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B8DEE0CC-829A-3F75-CFB9-91E5F2F46C0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74DA4D18-F3A2-7215-DA35-18ADB59E44F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9327453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Sustain the Improvements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Perhaps the most important step of all Problem-Solving activities is that actions are put in place to ensure that:</a:t>
            </a:r>
          </a:p>
          <a:p>
            <a:pPr lvl="1"/>
            <a:r>
              <a:rPr lang="en-US" dirty="0"/>
              <a:t>The solutions are, in fact, preventing the problem from recurring.</a:t>
            </a:r>
          </a:p>
          <a:p>
            <a:pPr lvl="1"/>
            <a:r>
              <a:rPr lang="en-US" dirty="0"/>
              <a:t>The solutions themselves are being followed for the long term.</a:t>
            </a:r>
          </a:p>
          <a:p>
            <a:r>
              <a:rPr lang="en-US" dirty="0"/>
              <a:t>Step 5, Sustain the Improvements, will cover effective strategies that target both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106</a:t>
            </a:fld>
            <a:endParaRPr lang="en-US"/>
          </a:p>
        </p:txBody>
      </p:sp>
      <p:grpSp>
        <p:nvGrpSpPr>
          <p:cNvPr id="14" name="Group 13">
            <a:extLst>
              <a:ext uri="{FF2B5EF4-FFF2-40B4-BE49-F238E27FC236}">
                <a16:creationId xmlns:a16="http://schemas.microsoft.com/office/drawing/2014/main" id="{E659A5D4-1144-AC8D-90D3-5D3B4257C300}"/>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05B82278-1458-A5C9-5379-A523B94037E7}"/>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CFD8F3EE-B957-58BD-9546-902291E96A4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9F24B6F7-5258-FFEF-649F-B3B02CE4C371}"/>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F296385D-AAC5-5618-DAB2-CDFC49A044B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6946BDA1-961E-F41A-23AB-93855F6FFC9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D49A823B-18A8-AA4E-2638-ECF34FF285E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ABE97A59-2FCE-E4B0-022B-BF3955A9F2A2}"/>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214367769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Key Considerations for Sustaining Improvements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107</a:t>
            </a:fld>
            <a:endParaRPr lang="en-US"/>
          </a:p>
        </p:txBody>
      </p:sp>
      <p:grpSp>
        <p:nvGrpSpPr>
          <p:cNvPr id="26" name="Group 25">
            <a:extLst>
              <a:ext uri="{FF2B5EF4-FFF2-40B4-BE49-F238E27FC236}">
                <a16:creationId xmlns:a16="http://schemas.microsoft.com/office/drawing/2014/main" id="{4B40677C-F5FA-3158-6423-CF2C4489BDE6}"/>
              </a:ext>
            </a:extLst>
          </p:cNvPr>
          <p:cNvGrpSpPr/>
          <p:nvPr/>
        </p:nvGrpSpPr>
        <p:grpSpPr>
          <a:xfrm>
            <a:off x="838200" y="1874520"/>
            <a:ext cx="10500078" cy="4280218"/>
            <a:chOff x="1436688" y="1606550"/>
            <a:chExt cx="6457950" cy="4548188"/>
          </a:xfrm>
        </p:grpSpPr>
        <p:grpSp>
          <p:nvGrpSpPr>
            <p:cNvPr id="13" name="Group 6">
              <a:extLst>
                <a:ext uri="{FF2B5EF4-FFF2-40B4-BE49-F238E27FC236}">
                  <a16:creationId xmlns:a16="http://schemas.microsoft.com/office/drawing/2014/main" id="{984F7FAB-7306-0FFB-6532-C5F28D1144A9}"/>
                </a:ext>
              </a:extLst>
            </p:cNvPr>
            <p:cNvGrpSpPr>
              <a:grpSpLocks/>
            </p:cNvGrpSpPr>
            <p:nvPr/>
          </p:nvGrpSpPr>
          <p:grpSpPr bwMode="auto">
            <a:xfrm>
              <a:off x="5473700" y="1606550"/>
              <a:ext cx="2420938" cy="4124326"/>
              <a:chOff x="2854" y="1012"/>
              <a:chExt cx="1525" cy="2598"/>
            </a:xfrm>
          </p:grpSpPr>
          <p:sp>
            <p:nvSpPr>
              <p:cNvPr id="14" name="Rectangle 7">
                <a:extLst>
                  <a:ext uri="{FF2B5EF4-FFF2-40B4-BE49-F238E27FC236}">
                    <a16:creationId xmlns:a16="http://schemas.microsoft.com/office/drawing/2014/main" id="{39A8F16F-6331-FBF7-2DF6-3F13A9E667CF}"/>
                  </a:ext>
                </a:extLst>
              </p:cNvPr>
              <p:cNvSpPr>
                <a:spLocks noChangeArrowheads="1"/>
              </p:cNvSpPr>
              <p:nvPr/>
            </p:nvSpPr>
            <p:spPr bwMode="auto">
              <a:xfrm>
                <a:off x="2919" y="1545"/>
                <a:ext cx="1286" cy="2065"/>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That which does not get measured does not improve.</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Update daily/weekly to show progress.</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Tell us the health of our process and how we are doing against our goals.</a:t>
                </a:r>
              </a:p>
            </p:txBody>
          </p:sp>
          <p:sp>
            <p:nvSpPr>
              <p:cNvPr id="15" name="AutoShape 8">
                <a:extLst>
                  <a:ext uri="{FF2B5EF4-FFF2-40B4-BE49-F238E27FC236}">
                    <a16:creationId xmlns:a16="http://schemas.microsoft.com/office/drawing/2014/main" id="{B2C0676F-7A9A-E3DB-C49F-3039BF9770C3}"/>
                  </a:ext>
                </a:extLst>
              </p:cNvPr>
              <p:cNvSpPr>
                <a:spLocks noChangeArrowheads="1"/>
              </p:cNvSpPr>
              <p:nvPr/>
            </p:nvSpPr>
            <p:spPr bwMode="auto">
              <a:xfrm>
                <a:off x="285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800" b="1" dirty="0">
                    <a:solidFill>
                      <a:schemeClr val="bg1"/>
                    </a:solidFill>
                  </a:rPr>
                  <a:t> Update Metrics</a:t>
                </a:r>
                <a:endParaRPr lang="en-US" sz="1600" b="1" dirty="0">
                  <a:solidFill>
                    <a:schemeClr val="bg1"/>
                  </a:solidFill>
                </a:endParaRPr>
              </a:p>
            </p:txBody>
          </p:sp>
        </p:grpSp>
        <p:grpSp>
          <p:nvGrpSpPr>
            <p:cNvPr id="16" name="Group 9">
              <a:extLst>
                <a:ext uri="{FF2B5EF4-FFF2-40B4-BE49-F238E27FC236}">
                  <a16:creationId xmlns:a16="http://schemas.microsoft.com/office/drawing/2014/main" id="{23ED54D9-E34B-73E2-F7B1-910FEC89BB3F}"/>
                </a:ext>
              </a:extLst>
            </p:cNvPr>
            <p:cNvGrpSpPr>
              <a:grpSpLocks/>
            </p:cNvGrpSpPr>
            <p:nvPr/>
          </p:nvGrpSpPr>
          <p:grpSpPr bwMode="auto">
            <a:xfrm>
              <a:off x="3402013" y="1606550"/>
              <a:ext cx="2336800" cy="4548188"/>
              <a:chOff x="1549" y="1012"/>
              <a:chExt cx="1472" cy="2865"/>
            </a:xfrm>
          </p:grpSpPr>
          <p:sp>
            <p:nvSpPr>
              <p:cNvPr id="17" name="Rectangle 10">
                <a:extLst>
                  <a:ext uri="{FF2B5EF4-FFF2-40B4-BE49-F238E27FC236}">
                    <a16:creationId xmlns:a16="http://schemas.microsoft.com/office/drawing/2014/main" id="{5C48D322-59B2-70C8-8052-417B1520D602}"/>
                  </a:ext>
                </a:extLst>
              </p:cNvPr>
              <p:cNvSpPr>
                <a:spLocks noChangeArrowheads="1"/>
              </p:cNvSpPr>
              <p:nvPr/>
            </p:nvSpPr>
            <p:spPr bwMode="auto">
              <a:xfrm>
                <a:off x="1657" y="1545"/>
                <a:ext cx="1197" cy="233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Ensure that clear roles and responsibilities are defined and assigned.</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Not only for the Problem-Solving team but also for individuals who will use the new and improved process.</a:t>
                </a:r>
              </a:p>
            </p:txBody>
          </p:sp>
          <p:sp>
            <p:nvSpPr>
              <p:cNvPr id="18" name="AutoShape 11">
                <a:extLst>
                  <a:ext uri="{FF2B5EF4-FFF2-40B4-BE49-F238E27FC236}">
                    <a16:creationId xmlns:a16="http://schemas.microsoft.com/office/drawing/2014/main" id="{5371287D-37CC-F79B-86B4-C53CA15AE1C2}"/>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p>
                <a:pPr marL="171450" algn="ctr">
                  <a:lnSpc>
                    <a:spcPct val="95000"/>
                  </a:lnSpc>
                </a:pPr>
                <a:r>
                  <a:rPr lang="en-US" sz="1600" b="1" dirty="0">
                    <a:solidFill>
                      <a:schemeClr val="bg1"/>
                    </a:solidFill>
                  </a:rPr>
                  <a:t>Ensure Roles</a:t>
                </a:r>
              </a:p>
            </p:txBody>
          </p:sp>
        </p:grpSp>
        <p:grpSp>
          <p:nvGrpSpPr>
            <p:cNvPr id="20" name="Group 12">
              <a:extLst>
                <a:ext uri="{FF2B5EF4-FFF2-40B4-BE49-F238E27FC236}">
                  <a16:creationId xmlns:a16="http://schemas.microsoft.com/office/drawing/2014/main" id="{754FFD89-42AA-7844-F71F-7BDA795EE2C5}"/>
                </a:ext>
              </a:extLst>
            </p:cNvPr>
            <p:cNvGrpSpPr>
              <a:grpSpLocks/>
            </p:cNvGrpSpPr>
            <p:nvPr/>
          </p:nvGrpSpPr>
          <p:grpSpPr bwMode="auto">
            <a:xfrm>
              <a:off x="1436688" y="1606550"/>
              <a:ext cx="2332037" cy="3514726"/>
              <a:chOff x="311" y="1012"/>
              <a:chExt cx="1469" cy="2214"/>
            </a:xfrm>
          </p:grpSpPr>
          <p:sp>
            <p:nvSpPr>
              <p:cNvPr id="21" name="Rectangle 13">
                <a:extLst>
                  <a:ext uri="{FF2B5EF4-FFF2-40B4-BE49-F238E27FC236}">
                    <a16:creationId xmlns:a16="http://schemas.microsoft.com/office/drawing/2014/main" id="{82E50DEF-5C9F-21F5-0597-09AD50836B05}"/>
                  </a:ext>
                </a:extLst>
              </p:cNvPr>
              <p:cNvSpPr>
                <a:spLocks noChangeArrowheads="1"/>
              </p:cNvSpPr>
              <p:nvPr/>
            </p:nvSpPr>
            <p:spPr bwMode="auto">
              <a:xfrm>
                <a:off x="350" y="1545"/>
                <a:ext cx="1318" cy="1681"/>
              </a:xfrm>
              <a:prstGeom prst="rect">
                <a:avLst/>
              </a:prstGeom>
              <a:noFill/>
              <a:ln w="9525">
                <a:noFill/>
                <a:miter lim="800000"/>
                <a:headEnd/>
                <a:tailEnd/>
              </a:ln>
            </p:spPr>
            <p:txBody>
              <a:bodyPr lIns="71438" tIns="36512" rIns="71438" bIns="36512">
                <a:spAutoFit/>
              </a:bodyPr>
              <a:lstStyle/>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Establish a process for updating and reviewing improvement actions.</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Not uncommon for reviews to be held daily at first, then weekly as the improvements are implemented.</a:t>
                </a:r>
              </a:p>
              <a:p>
                <a:pPr marL="285750" indent="-285750" defTabSz="708025">
                  <a:spcBef>
                    <a:spcPct val="40000"/>
                  </a:spcBef>
                  <a:buClr>
                    <a:schemeClr val="tx1"/>
                  </a:buClr>
                  <a:buSzPct val="90000"/>
                  <a:buFont typeface="Arial" panose="020B0604020202020204" pitchFamily="34" charset="0"/>
                  <a:buChar char="•"/>
                </a:pPr>
                <a:endParaRPr lang="en-US" dirty="0">
                  <a:solidFill>
                    <a:schemeClr val="tx1"/>
                  </a:solidFill>
                </a:endParaRPr>
              </a:p>
            </p:txBody>
          </p:sp>
          <p:sp>
            <p:nvSpPr>
              <p:cNvPr id="25" name="AutoShape 14">
                <a:extLst>
                  <a:ext uri="{FF2B5EF4-FFF2-40B4-BE49-F238E27FC236}">
                    <a16:creationId xmlns:a16="http://schemas.microsoft.com/office/drawing/2014/main" id="{79D3BD72-F77F-19DE-4DCF-58C615551413}"/>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600" b="1" dirty="0">
                    <a:solidFill>
                      <a:schemeClr val="bg1"/>
                    </a:solidFill>
                  </a:rPr>
                  <a:t>Establish Process</a:t>
                </a:r>
              </a:p>
            </p:txBody>
          </p:sp>
        </p:grpSp>
      </p:grpSp>
      <p:grpSp>
        <p:nvGrpSpPr>
          <p:cNvPr id="19" name="Group 18">
            <a:extLst>
              <a:ext uri="{FF2B5EF4-FFF2-40B4-BE49-F238E27FC236}">
                <a16:creationId xmlns:a16="http://schemas.microsoft.com/office/drawing/2014/main" id="{80D25BDD-8790-41CC-24CA-BFE1318C36FD}"/>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764D3D35-A65E-D9E9-70B6-81330668CAA3}"/>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003DD273-C7A6-E87F-F9FB-A170F2F16C6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B6FCAA1F-53D7-F68B-5923-5112FF11FAFB}"/>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807CCA28-CE8E-E836-6E86-2C8F3EFCAA2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01A9CCE4-C9D1-3C08-66EF-8A56D403C39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950A0155-A874-72B1-4089-288F1498C68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F7C7DD76-1E1B-ED6A-9DA4-42A6C123021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370787354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Key Considerations for Sustaining Improvements </a:t>
            </a:r>
            <a:br>
              <a:rPr lang="en-US" sz="3200" dirty="0"/>
            </a:br>
            <a:r>
              <a:rPr lang="en-US" sz="3200" dirty="0"/>
              <a:t>(</a:t>
            </a:r>
            <a:r>
              <a:rPr lang="en-US" sz="3200" dirty="0" err="1"/>
              <a:t>Cont</a:t>
            </a:r>
            <a:r>
              <a:rPr lang="en-US" sz="3200" dirty="0"/>
              <a: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108</a:t>
            </a:fld>
            <a:endParaRPr lang="en-US"/>
          </a:p>
        </p:txBody>
      </p:sp>
      <p:grpSp>
        <p:nvGrpSpPr>
          <p:cNvPr id="26" name="Group 25">
            <a:extLst>
              <a:ext uri="{FF2B5EF4-FFF2-40B4-BE49-F238E27FC236}">
                <a16:creationId xmlns:a16="http://schemas.microsoft.com/office/drawing/2014/main" id="{4B40677C-F5FA-3158-6423-CF2C4489BDE6}"/>
              </a:ext>
            </a:extLst>
          </p:cNvPr>
          <p:cNvGrpSpPr/>
          <p:nvPr/>
        </p:nvGrpSpPr>
        <p:grpSpPr>
          <a:xfrm>
            <a:off x="838200" y="1874520"/>
            <a:ext cx="10515600" cy="4217473"/>
            <a:chOff x="1436688" y="1606550"/>
            <a:chExt cx="6457950" cy="4481513"/>
          </a:xfrm>
        </p:grpSpPr>
        <p:grpSp>
          <p:nvGrpSpPr>
            <p:cNvPr id="13" name="Group 6">
              <a:extLst>
                <a:ext uri="{FF2B5EF4-FFF2-40B4-BE49-F238E27FC236}">
                  <a16:creationId xmlns:a16="http://schemas.microsoft.com/office/drawing/2014/main" id="{984F7FAB-7306-0FFB-6532-C5F28D1144A9}"/>
                </a:ext>
              </a:extLst>
            </p:cNvPr>
            <p:cNvGrpSpPr>
              <a:grpSpLocks/>
            </p:cNvGrpSpPr>
            <p:nvPr/>
          </p:nvGrpSpPr>
          <p:grpSpPr bwMode="auto">
            <a:xfrm>
              <a:off x="5473700" y="1606550"/>
              <a:ext cx="2420938" cy="3290888"/>
              <a:chOff x="2854" y="1012"/>
              <a:chExt cx="1525" cy="2073"/>
            </a:xfrm>
          </p:grpSpPr>
          <p:sp>
            <p:nvSpPr>
              <p:cNvPr id="14" name="Rectangle 7">
                <a:extLst>
                  <a:ext uri="{FF2B5EF4-FFF2-40B4-BE49-F238E27FC236}">
                    <a16:creationId xmlns:a16="http://schemas.microsoft.com/office/drawing/2014/main" id="{39A8F16F-6331-FBF7-2DF6-3F13A9E667CF}"/>
                  </a:ext>
                </a:extLst>
              </p:cNvPr>
              <p:cNvSpPr>
                <a:spLocks noChangeArrowheads="1"/>
              </p:cNvSpPr>
              <p:nvPr/>
            </p:nvSpPr>
            <p:spPr bwMode="auto">
              <a:xfrm>
                <a:off x="2919" y="1503"/>
                <a:ext cx="1197" cy="1582"/>
              </a:xfrm>
              <a:prstGeom prst="rect">
                <a:avLst/>
              </a:prstGeom>
              <a:noFill/>
              <a:ln w="9525">
                <a:noFill/>
                <a:miter lim="800000"/>
                <a:headEnd/>
                <a:tailEnd/>
              </a:ln>
            </p:spPr>
            <p:txBody>
              <a:bodyPr lIns="71438" tIns="36512" rIns="71438" bIns="36512"/>
              <a:lstStyle/>
              <a:p>
                <a:pPr marL="285750" indent="-285750" defTabSz="708025">
                  <a:spcBef>
                    <a:spcPts val="600"/>
                  </a:spcBef>
                  <a:buClr>
                    <a:schemeClr val="tx1"/>
                  </a:buClr>
                  <a:buSzPct val="90000"/>
                  <a:buFont typeface="Arial" panose="020B0604020202020204" pitchFamily="34" charset="0"/>
                  <a:buChar char="•"/>
                </a:pPr>
                <a:r>
                  <a:rPr lang="en-US" dirty="0">
                    <a:solidFill>
                      <a:schemeClr val="tx1"/>
                    </a:solidFill>
                  </a:rPr>
                  <a:t>Ensure improvements are sustainable and well documented.</a:t>
                </a:r>
              </a:p>
              <a:p>
                <a:pPr marL="285750" indent="-285750" defTabSz="708025">
                  <a:spcBef>
                    <a:spcPts val="600"/>
                  </a:spcBef>
                  <a:buClr>
                    <a:schemeClr val="tx1"/>
                  </a:buClr>
                  <a:buSzPct val="90000"/>
                  <a:buFont typeface="Arial" panose="020B0604020202020204" pitchFamily="34" charset="0"/>
                  <a:buChar char="•"/>
                </a:pPr>
                <a:r>
                  <a:rPr lang="en-US" dirty="0">
                    <a:solidFill>
                      <a:schemeClr val="tx1"/>
                    </a:solidFill>
                  </a:rPr>
                  <a:t>Ensure there is a process owner who manages the ongoing metrics that indicate the health of the process.</a:t>
                </a:r>
              </a:p>
              <a:p>
                <a:pPr marL="285750" indent="-285750" defTabSz="708025">
                  <a:spcBef>
                    <a:spcPts val="600"/>
                  </a:spcBef>
                  <a:buClr>
                    <a:schemeClr val="tx1"/>
                  </a:buClr>
                  <a:buSzPct val="90000"/>
                  <a:buFont typeface="Arial" panose="020B0604020202020204" pitchFamily="34" charset="0"/>
                  <a:buChar char="•"/>
                </a:pPr>
                <a:r>
                  <a:rPr lang="en-US" dirty="0">
                    <a:solidFill>
                      <a:schemeClr val="tx1"/>
                    </a:solidFill>
                  </a:rPr>
                  <a:t>Continue the PDCA Cycle when targets are missed or as part of the continuous improvement of the process.</a:t>
                </a:r>
              </a:p>
            </p:txBody>
          </p:sp>
          <p:sp>
            <p:nvSpPr>
              <p:cNvPr id="15" name="AutoShape 8">
                <a:extLst>
                  <a:ext uri="{FF2B5EF4-FFF2-40B4-BE49-F238E27FC236}">
                    <a16:creationId xmlns:a16="http://schemas.microsoft.com/office/drawing/2014/main" id="{B2C0676F-7A9A-E3DB-C49F-3039BF9770C3}"/>
                  </a:ext>
                </a:extLst>
              </p:cNvPr>
              <p:cNvSpPr>
                <a:spLocks noChangeArrowheads="1"/>
              </p:cNvSpPr>
              <p:nvPr/>
            </p:nvSpPr>
            <p:spPr bwMode="auto">
              <a:xfrm>
                <a:off x="285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800" b="1" dirty="0">
                    <a:solidFill>
                      <a:schemeClr val="bg1"/>
                    </a:solidFill>
                  </a:rPr>
                  <a:t>Ensure Improvements</a:t>
                </a:r>
                <a:endParaRPr lang="en-US" sz="1600" b="1" dirty="0">
                  <a:solidFill>
                    <a:schemeClr val="bg1"/>
                  </a:solidFill>
                </a:endParaRPr>
              </a:p>
            </p:txBody>
          </p:sp>
        </p:grpSp>
        <p:grpSp>
          <p:nvGrpSpPr>
            <p:cNvPr id="16" name="Group 9">
              <a:extLst>
                <a:ext uri="{FF2B5EF4-FFF2-40B4-BE49-F238E27FC236}">
                  <a16:creationId xmlns:a16="http://schemas.microsoft.com/office/drawing/2014/main" id="{23ED54D9-E34B-73E2-F7B1-910FEC89BB3F}"/>
                </a:ext>
              </a:extLst>
            </p:cNvPr>
            <p:cNvGrpSpPr>
              <a:grpSpLocks/>
            </p:cNvGrpSpPr>
            <p:nvPr/>
          </p:nvGrpSpPr>
          <p:grpSpPr bwMode="auto">
            <a:xfrm>
              <a:off x="3402013" y="1606550"/>
              <a:ext cx="2336800" cy="4481513"/>
              <a:chOff x="1549" y="1012"/>
              <a:chExt cx="1472" cy="2823"/>
            </a:xfrm>
          </p:grpSpPr>
          <p:sp>
            <p:nvSpPr>
              <p:cNvPr id="17" name="Rectangle 10">
                <a:extLst>
                  <a:ext uri="{FF2B5EF4-FFF2-40B4-BE49-F238E27FC236}">
                    <a16:creationId xmlns:a16="http://schemas.microsoft.com/office/drawing/2014/main" id="{5C48D322-59B2-70C8-8052-417B1520D602}"/>
                  </a:ext>
                </a:extLst>
              </p:cNvPr>
              <p:cNvSpPr>
                <a:spLocks noChangeArrowheads="1"/>
              </p:cNvSpPr>
              <p:nvPr/>
            </p:nvSpPr>
            <p:spPr bwMode="auto">
              <a:xfrm>
                <a:off x="1657" y="1503"/>
                <a:ext cx="1197" cy="2332"/>
              </a:xfrm>
              <a:prstGeom prst="rect">
                <a:avLst/>
              </a:prstGeom>
              <a:noFill/>
              <a:ln w="9525">
                <a:noFill/>
                <a:miter lim="800000"/>
                <a:headEnd/>
                <a:tailEnd/>
              </a:ln>
            </p:spPr>
            <p:txBody>
              <a:bodyPr lIns="71438" tIns="36512" rIns="71438" bIns="36512"/>
              <a:lstStyle/>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Standardize improved processes for other similar business needs.</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Apply these improvements to other areas.</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Leverage improvements across the business to maximize results.</a:t>
                </a:r>
              </a:p>
            </p:txBody>
          </p:sp>
          <p:sp>
            <p:nvSpPr>
              <p:cNvPr id="18" name="AutoShape 11">
                <a:extLst>
                  <a:ext uri="{FF2B5EF4-FFF2-40B4-BE49-F238E27FC236}">
                    <a16:creationId xmlns:a16="http://schemas.microsoft.com/office/drawing/2014/main" id="{5371287D-37CC-F79B-86B4-C53CA15AE1C2}"/>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p>
                <a:pPr marL="171450" algn="ctr">
                  <a:lnSpc>
                    <a:spcPct val="95000"/>
                  </a:lnSpc>
                </a:pPr>
                <a:r>
                  <a:rPr lang="en-US" sz="1600" b="1" dirty="0">
                    <a:solidFill>
                      <a:schemeClr val="bg1"/>
                    </a:solidFill>
                  </a:rPr>
                  <a:t>Standardize Processes</a:t>
                </a:r>
              </a:p>
            </p:txBody>
          </p:sp>
        </p:grpSp>
        <p:grpSp>
          <p:nvGrpSpPr>
            <p:cNvPr id="20" name="Group 12">
              <a:extLst>
                <a:ext uri="{FF2B5EF4-FFF2-40B4-BE49-F238E27FC236}">
                  <a16:creationId xmlns:a16="http://schemas.microsoft.com/office/drawing/2014/main" id="{754FFD89-42AA-7844-F71F-7BDA795EE2C5}"/>
                </a:ext>
              </a:extLst>
            </p:cNvPr>
            <p:cNvGrpSpPr>
              <a:grpSpLocks/>
            </p:cNvGrpSpPr>
            <p:nvPr/>
          </p:nvGrpSpPr>
          <p:grpSpPr bwMode="auto">
            <a:xfrm>
              <a:off x="1436688" y="1606550"/>
              <a:ext cx="2332037" cy="2741613"/>
              <a:chOff x="311" y="1012"/>
              <a:chExt cx="1469" cy="1727"/>
            </a:xfrm>
          </p:grpSpPr>
          <p:sp>
            <p:nvSpPr>
              <p:cNvPr id="21" name="Rectangle 13">
                <a:extLst>
                  <a:ext uri="{FF2B5EF4-FFF2-40B4-BE49-F238E27FC236}">
                    <a16:creationId xmlns:a16="http://schemas.microsoft.com/office/drawing/2014/main" id="{82E50DEF-5C9F-21F5-0597-09AD50836B05}"/>
                  </a:ext>
                </a:extLst>
              </p:cNvPr>
              <p:cNvSpPr>
                <a:spLocks noChangeArrowheads="1"/>
              </p:cNvSpPr>
              <p:nvPr/>
            </p:nvSpPr>
            <p:spPr bwMode="auto">
              <a:xfrm>
                <a:off x="350" y="1503"/>
                <a:ext cx="1318" cy="1236"/>
              </a:xfrm>
              <a:prstGeom prst="rect">
                <a:avLst/>
              </a:prstGeom>
              <a:noFill/>
              <a:ln w="9525">
                <a:noFill/>
                <a:miter lim="800000"/>
                <a:headEnd/>
                <a:tailEnd/>
              </a:ln>
            </p:spPr>
            <p:txBody>
              <a:bodyPr lIns="71438" tIns="36512" rIns="71438" bIns="36512">
                <a:spAutoFit/>
              </a:bodyPr>
              <a:lstStyle/>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Include other associates as needed.</a:t>
                </a:r>
              </a:p>
              <a:p>
                <a:pPr marL="285750" indent="-285750" defTabSz="708025">
                  <a:spcBef>
                    <a:spcPct val="40000"/>
                  </a:spcBef>
                  <a:buClr>
                    <a:schemeClr val="tx1"/>
                  </a:buClr>
                  <a:buSzPct val="90000"/>
                  <a:buFont typeface="Arial" panose="020B0604020202020204" pitchFamily="34" charset="0"/>
                  <a:buChar char="•"/>
                </a:pPr>
                <a:r>
                  <a:rPr lang="en-US" dirty="0">
                    <a:solidFill>
                      <a:schemeClr val="tx1"/>
                    </a:solidFill>
                  </a:rPr>
                  <a:t>Train all who are involved on various shifts and implement a communication plan as needed.</a:t>
                </a:r>
              </a:p>
            </p:txBody>
          </p:sp>
          <p:sp>
            <p:nvSpPr>
              <p:cNvPr id="25" name="AutoShape 14">
                <a:extLst>
                  <a:ext uri="{FF2B5EF4-FFF2-40B4-BE49-F238E27FC236}">
                    <a16:creationId xmlns:a16="http://schemas.microsoft.com/office/drawing/2014/main" id="{79D3BD72-F77F-19DE-4DCF-58C615551413}"/>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p>
                <a:pPr algn="ctr">
                  <a:lnSpc>
                    <a:spcPct val="95000"/>
                  </a:lnSpc>
                </a:pPr>
                <a:r>
                  <a:rPr lang="en-US" sz="1600" b="1" dirty="0">
                    <a:solidFill>
                      <a:schemeClr val="bg1"/>
                    </a:solidFill>
                  </a:rPr>
                  <a:t>Include Others</a:t>
                </a:r>
              </a:p>
            </p:txBody>
          </p:sp>
        </p:grpSp>
      </p:grpSp>
      <p:grpSp>
        <p:nvGrpSpPr>
          <p:cNvPr id="19" name="Group 18">
            <a:extLst>
              <a:ext uri="{FF2B5EF4-FFF2-40B4-BE49-F238E27FC236}">
                <a16:creationId xmlns:a16="http://schemas.microsoft.com/office/drawing/2014/main" id="{943D0A8F-7599-B5B9-F71B-DDBBF01D37EE}"/>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A3DF012A-53B7-0537-9230-4AD56B7EE5B8}"/>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5F05B514-8315-0F82-D3DE-060A6CCB74A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7" name="Group 26">
                <a:extLst>
                  <a:ext uri="{FF2B5EF4-FFF2-40B4-BE49-F238E27FC236}">
                    <a16:creationId xmlns:a16="http://schemas.microsoft.com/office/drawing/2014/main" id="{AE9FC334-B053-4980-2A70-49BD52681581}"/>
                  </a:ext>
                </a:extLst>
              </p:cNvPr>
              <p:cNvGrpSpPr/>
              <p:nvPr/>
            </p:nvGrpSpPr>
            <p:grpSpPr>
              <a:xfrm>
                <a:off x="838200" y="297639"/>
                <a:ext cx="1060167" cy="290657"/>
                <a:chOff x="826426" y="4041857"/>
                <a:chExt cx="1060167" cy="290657"/>
              </a:xfrm>
            </p:grpSpPr>
            <p:sp>
              <p:nvSpPr>
                <p:cNvPr id="28" name="AutoShape 9">
                  <a:extLst>
                    <a:ext uri="{FF2B5EF4-FFF2-40B4-BE49-F238E27FC236}">
                      <a16:creationId xmlns:a16="http://schemas.microsoft.com/office/drawing/2014/main" id="{D0BEC66C-36CE-C615-E341-9A269DA330D2}"/>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1">
                  <a:extLst>
                    <a:ext uri="{FF2B5EF4-FFF2-40B4-BE49-F238E27FC236}">
                      <a16:creationId xmlns:a16="http://schemas.microsoft.com/office/drawing/2014/main" id="{D9EB89AA-5BDB-CD6D-1CD7-22BFFB5AE60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30" name="AutoShape 10">
                  <a:extLst>
                    <a:ext uri="{FF2B5EF4-FFF2-40B4-BE49-F238E27FC236}">
                      <a16:creationId xmlns:a16="http://schemas.microsoft.com/office/drawing/2014/main" id="{2354AD03-1BA1-CCBB-A5B5-0E3E5F02E8A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7FA0D932-8FAA-4939-7004-A4B75E818275}"/>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798956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C15519D7-6F2D-38CF-DE12-5A81EA60533C}"/>
              </a:ext>
            </a:extLst>
          </p:cNvPr>
          <p:cNvSpPr/>
          <p:nvPr/>
        </p:nvSpPr>
        <p:spPr>
          <a:xfrm>
            <a:off x="1779225" y="1988820"/>
            <a:ext cx="3684315" cy="418814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Plan Do Check Act Module – Continuous Cycle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109</a:t>
            </a:fld>
            <a:endParaRPr lang="en-US"/>
          </a:p>
        </p:txBody>
      </p:sp>
      <p:sp>
        <p:nvSpPr>
          <p:cNvPr id="19" name="Content Placeholder 5">
            <a:extLst>
              <a:ext uri="{FF2B5EF4-FFF2-40B4-BE49-F238E27FC236}">
                <a16:creationId xmlns:a16="http://schemas.microsoft.com/office/drawing/2014/main" id="{B9F50F89-B8C1-775A-E079-A1B6BB4E6593}"/>
              </a:ext>
            </a:extLst>
          </p:cNvPr>
          <p:cNvSpPr txBox="1">
            <a:spLocks/>
          </p:cNvSpPr>
          <p:nvPr/>
        </p:nvSpPr>
        <p:spPr>
          <a:xfrm>
            <a:off x="5582017" y="1900848"/>
            <a:ext cx="4006850"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In Sustaining Improvements, the PDCA Cycle is implemented every time we visit our metrics and need to create countermeasures.</a:t>
            </a:r>
          </a:p>
          <a:p>
            <a:r>
              <a:rPr lang="en-US" sz="2400" dirty="0"/>
              <a:t>Begin with grasping the situation, then follow with the PDCA sequence.</a:t>
            </a:r>
          </a:p>
          <a:p>
            <a:r>
              <a:rPr lang="en-US" sz="2400" dirty="0"/>
              <a:t>Continuous improvement never ends.</a:t>
            </a:r>
          </a:p>
        </p:txBody>
      </p:sp>
      <p:sp>
        <p:nvSpPr>
          <p:cNvPr id="23" name="AutoShape 3">
            <a:extLst>
              <a:ext uri="{FF2B5EF4-FFF2-40B4-BE49-F238E27FC236}">
                <a16:creationId xmlns:a16="http://schemas.microsoft.com/office/drawing/2014/main" id="{DB521CAB-2879-24B5-9AD6-695E1C70ACD7}"/>
              </a:ext>
            </a:extLst>
          </p:cNvPr>
          <p:cNvSpPr>
            <a:spLocks noChangeArrowheads="1"/>
          </p:cNvSpPr>
          <p:nvPr/>
        </p:nvSpPr>
        <p:spPr bwMode="auto">
          <a:xfrm flipV="1">
            <a:off x="2040304" y="2462823"/>
            <a:ext cx="3105150" cy="1200150"/>
          </a:xfrm>
          <a:prstGeom prst="triangle">
            <a:avLst>
              <a:gd name="adj" fmla="val 50000"/>
            </a:avLst>
          </a:prstGeom>
          <a:noFill/>
          <a:ln w="57150" cap="sq" algn="ctr">
            <a:solidFill>
              <a:schemeClr val="bg1"/>
            </a:solidFill>
            <a:miter lim="800000"/>
            <a:headEnd/>
            <a:tailEnd/>
          </a:ln>
        </p:spPr>
        <p:txBody>
          <a:bodyPr rot="10800000" wrap="none" anchor="ctr"/>
          <a:lstStyle/>
          <a:p>
            <a:pPr algn="ctr" eaLnBrk="0" hangingPunct="0">
              <a:lnSpc>
                <a:spcPct val="80000"/>
              </a:lnSpc>
              <a:spcBef>
                <a:spcPct val="20000"/>
              </a:spcBef>
            </a:pPr>
            <a:endParaRPr lang="en-US" sz="1400" b="1" i="1"/>
          </a:p>
        </p:txBody>
      </p:sp>
      <p:sp>
        <p:nvSpPr>
          <p:cNvPr id="24" name="Text Box 51">
            <a:extLst>
              <a:ext uri="{FF2B5EF4-FFF2-40B4-BE49-F238E27FC236}">
                <a16:creationId xmlns:a16="http://schemas.microsoft.com/office/drawing/2014/main" id="{0808C47D-25D4-C21A-E8A3-D6C7A27AF136}"/>
              </a:ext>
            </a:extLst>
          </p:cNvPr>
          <p:cNvSpPr txBox="1">
            <a:spLocks noChangeArrowheads="1"/>
          </p:cNvSpPr>
          <p:nvPr/>
        </p:nvSpPr>
        <p:spPr bwMode="auto">
          <a:xfrm>
            <a:off x="3014968" y="2589823"/>
            <a:ext cx="1128835" cy="584775"/>
          </a:xfrm>
          <a:prstGeom prst="rect">
            <a:avLst/>
          </a:prstGeom>
          <a:noFill/>
          <a:ln w="9525">
            <a:noFill/>
            <a:miter lim="800000"/>
            <a:headEnd/>
            <a:tailEnd/>
          </a:ln>
        </p:spPr>
        <p:txBody>
          <a:bodyPr wrap="none">
            <a:spAutoFit/>
          </a:bodyPr>
          <a:lstStyle/>
          <a:p>
            <a:pPr algn="ctr"/>
            <a:r>
              <a:rPr lang="en-US" sz="1600" b="1" dirty="0">
                <a:solidFill>
                  <a:schemeClr val="bg1"/>
                </a:solidFill>
              </a:rPr>
              <a:t>Grasp the </a:t>
            </a:r>
            <a:br>
              <a:rPr lang="en-US" sz="1600" b="1" dirty="0">
                <a:solidFill>
                  <a:schemeClr val="bg1"/>
                </a:solidFill>
              </a:rPr>
            </a:br>
            <a:r>
              <a:rPr lang="en-US" sz="1600" b="1" dirty="0">
                <a:solidFill>
                  <a:schemeClr val="bg1"/>
                </a:solidFill>
              </a:rPr>
              <a:t>situation</a:t>
            </a:r>
          </a:p>
        </p:txBody>
      </p:sp>
      <p:sp>
        <p:nvSpPr>
          <p:cNvPr id="36" name="Oval 35">
            <a:extLst>
              <a:ext uri="{FF2B5EF4-FFF2-40B4-BE49-F238E27FC236}">
                <a16:creationId xmlns:a16="http://schemas.microsoft.com/office/drawing/2014/main" id="{C1E4218B-B8BB-6EB7-AFFA-85986F0A56EA}"/>
              </a:ext>
            </a:extLst>
          </p:cNvPr>
          <p:cNvSpPr/>
          <p:nvPr/>
        </p:nvSpPr>
        <p:spPr>
          <a:xfrm>
            <a:off x="2160954" y="4000500"/>
            <a:ext cx="2863850" cy="1874520"/>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Box 29">
            <a:extLst>
              <a:ext uri="{FF2B5EF4-FFF2-40B4-BE49-F238E27FC236}">
                <a16:creationId xmlns:a16="http://schemas.microsoft.com/office/drawing/2014/main" id="{944FDE13-6EFF-215C-5989-9EFD24D88304}"/>
              </a:ext>
            </a:extLst>
          </p:cNvPr>
          <p:cNvSpPr txBox="1">
            <a:spLocks noChangeArrowheads="1"/>
          </p:cNvSpPr>
          <p:nvPr/>
        </p:nvSpPr>
        <p:spPr bwMode="auto">
          <a:xfrm>
            <a:off x="2656840" y="4378912"/>
            <a:ext cx="817562" cy="461962"/>
          </a:xfrm>
          <a:prstGeom prst="rect">
            <a:avLst/>
          </a:prstGeom>
          <a:noFill/>
          <a:ln w="9525">
            <a:noFill/>
            <a:miter lim="800000"/>
            <a:headEnd/>
            <a:tailEnd/>
          </a:ln>
        </p:spPr>
        <p:txBody>
          <a:bodyPr wrap="none">
            <a:spAutoFit/>
          </a:bodyPr>
          <a:lstStyle/>
          <a:p>
            <a:r>
              <a:rPr lang="en-US" sz="2400" b="1" dirty="0"/>
              <a:t>ACT</a:t>
            </a:r>
          </a:p>
        </p:txBody>
      </p:sp>
      <p:sp>
        <p:nvSpPr>
          <p:cNvPr id="32" name="Text Box 26">
            <a:extLst>
              <a:ext uri="{FF2B5EF4-FFF2-40B4-BE49-F238E27FC236}">
                <a16:creationId xmlns:a16="http://schemas.microsoft.com/office/drawing/2014/main" id="{99F0C1C5-5E1D-077F-183C-1D4EBEB6D95D}"/>
              </a:ext>
            </a:extLst>
          </p:cNvPr>
          <p:cNvSpPr txBox="1">
            <a:spLocks noChangeArrowheads="1"/>
          </p:cNvSpPr>
          <p:nvPr/>
        </p:nvSpPr>
        <p:spPr bwMode="auto">
          <a:xfrm>
            <a:off x="3632628" y="4369252"/>
            <a:ext cx="1022350" cy="461963"/>
          </a:xfrm>
          <a:prstGeom prst="rect">
            <a:avLst/>
          </a:prstGeom>
          <a:noFill/>
          <a:ln w="9525">
            <a:noFill/>
            <a:miter lim="800000"/>
            <a:headEnd/>
            <a:tailEnd/>
          </a:ln>
        </p:spPr>
        <p:txBody>
          <a:bodyPr wrap="none">
            <a:spAutoFit/>
          </a:bodyPr>
          <a:lstStyle/>
          <a:p>
            <a:r>
              <a:rPr lang="en-US" sz="2400" b="1" dirty="0"/>
              <a:t>PLAN</a:t>
            </a:r>
          </a:p>
        </p:txBody>
      </p:sp>
      <p:sp>
        <p:nvSpPr>
          <p:cNvPr id="33" name="Text Box 28">
            <a:extLst>
              <a:ext uri="{FF2B5EF4-FFF2-40B4-BE49-F238E27FC236}">
                <a16:creationId xmlns:a16="http://schemas.microsoft.com/office/drawing/2014/main" id="{FA2F8CF4-00CC-83C4-A385-1A5EE8E19245}"/>
              </a:ext>
            </a:extLst>
          </p:cNvPr>
          <p:cNvSpPr txBox="1">
            <a:spLocks noChangeArrowheads="1"/>
          </p:cNvSpPr>
          <p:nvPr/>
        </p:nvSpPr>
        <p:spPr bwMode="auto">
          <a:xfrm>
            <a:off x="2278129" y="5026209"/>
            <a:ext cx="1281113" cy="461962"/>
          </a:xfrm>
          <a:prstGeom prst="rect">
            <a:avLst/>
          </a:prstGeom>
          <a:noFill/>
          <a:ln w="9525">
            <a:noFill/>
            <a:miter lim="800000"/>
            <a:headEnd/>
            <a:tailEnd/>
          </a:ln>
        </p:spPr>
        <p:txBody>
          <a:bodyPr wrap="none">
            <a:spAutoFit/>
          </a:bodyPr>
          <a:lstStyle/>
          <a:p>
            <a:r>
              <a:rPr lang="en-US" sz="2400" b="1" dirty="0"/>
              <a:t>CHECK</a:t>
            </a:r>
          </a:p>
        </p:txBody>
      </p:sp>
      <p:sp>
        <p:nvSpPr>
          <p:cNvPr id="34" name="Text Box 27">
            <a:extLst>
              <a:ext uri="{FF2B5EF4-FFF2-40B4-BE49-F238E27FC236}">
                <a16:creationId xmlns:a16="http://schemas.microsoft.com/office/drawing/2014/main" id="{A3D8EA14-3FC1-B797-26C8-0F8259B6F316}"/>
              </a:ext>
            </a:extLst>
          </p:cNvPr>
          <p:cNvSpPr txBox="1">
            <a:spLocks noChangeArrowheads="1"/>
          </p:cNvSpPr>
          <p:nvPr/>
        </p:nvSpPr>
        <p:spPr bwMode="auto">
          <a:xfrm>
            <a:off x="3820746" y="5026208"/>
            <a:ext cx="646113" cy="461963"/>
          </a:xfrm>
          <a:prstGeom prst="rect">
            <a:avLst/>
          </a:prstGeom>
          <a:noFill/>
          <a:ln w="9525">
            <a:noFill/>
            <a:miter lim="800000"/>
            <a:headEnd/>
            <a:tailEnd/>
          </a:ln>
        </p:spPr>
        <p:txBody>
          <a:bodyPr wrap="none">
            <a:spAutoFit/>
          </a:bodyPr>
          <a:lstStyle/>
          <a:p>
            <a:r>
              <a:rPr lang="en-US" sz="2400" b="1" dirty="0"/>
              <a:t>DO</a:t>
            </a:r>
          </a:p>
        </p:txBody>
      </p:sp>
      <p:cxnSp>
        <p:nvCxnSpPr>
          <p:cNvPr id="38" name="Straight Connector 37">
            <a:extLst>
              <a:ext uri="{FF2B5EF4-FFF2-40B4-BE49-F238E27FC236}">
                <a16:creationId xmlns:a16="http://schemas.microsoft.com/office/drawing/2014/main" id="{7294615A-985D-FC98-F859-C3AF52235AAB}"/>
              </a:ext>
            </a:extLst>
          </p:cNvPr>
          <p:cNvCxnSpPr>
            <a:stCxn id="36" idx="0"/>
            <a:endCxn id="36" idx="4"/>
          </p:cNvCxnSpPr>
          <p:nvPr/>
        </p:nvCxnSpPr>
        <p:spPr>
          <a:xfrm>
            <a:off x="3592879" y="4000500"/>
            <a:ext cx="0" cy="187452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DF4A907-2F77-059A-B467-716525B03185}"/>
              </a:ext>
            </a:extLst>
          </p:cNvPr>
          <p:cNvCxnSpPr>
            <a:cxnSpLocks/>
            <a:stCxn id="36" idx="2"/>
            <a:endCxn id="36" idx="6"/>
          </p:cNvCxnSpPr>
          <p:nvPr/>
        </p:nvCxnSpPr>
        <p:spPr>
          <a:xfrm>
            <a:off x="2160954" y="4937760"/>
            <a:ext cx="286385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872300E-742C-BDDA-8623-73D9A0680A32}"/>
              </a:ext>
            </a:extLst>
          </p:cNvPr>
          <p:cNvGrpSpPr/>
          <p:nvPr/>
        </p:nvGrpSpPr>
        <p:grpSpPr>
          <a:xfrm>
            <a:off x="838200" y="297639"/>
            <a:ext cx="4561953" cy="307138"/>
            <a:chOff x="838200" y="297639"/>
            <a:chExt cx="4561953" cy="307138"/>
          </a:xfrm>
        </p:grpSpPr>
        <p:grpSp>
          <p:nvGrpSpPr>
            <p:cNvPr id="14" name="Group 13">
              <a:extLst>
                <a:ext uri="{FF2B5EF4-FFF2-40B4-BE49-F238E27FC236}">
                  <a16:creationId xmlns:a16="http://schemas.microsoft.com/office/drawing/2014/main" id="{B1ADD81C-2CBE-60E5-94FB-E1BC81EAA0C7}"/>
                </a:ext>
              </a:extLst>
            </p:cNvPr>
            <p:cNvGrpSpPr/>
            <p:nvPr/>
          </p:nvGrpSpPr>
          <p:grpSpPr>
            <a:xfrm>
              <a:off x="838200" y="297639"/>
              <a:ext cx="1373842" cy="290657"/>
              <a:chOff x="838200" y="297639"/>
              <a:chExt cx="1373842" cy="290657"/>
            </a:xfrm>
          </p:grpSpPr>
          <p:sp>
            <p:nvSpPr>
              <p:cNvPr id="16" name="AutoShape 9">
                <a:extLst>
                  <a:ext uri="{FF2B5EF4-FFF2-40B4-BE49-F238E27FC236}">
                    <a16:creationId xmlns:a16="http://schemas.microsoft.com/office/drawing/2014/main" id="{96D9D7A5-3459-A865-6B31-2490802E30D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AA4B468D-E17A-CD3A-2957-CC8FB34CE8AF}"/>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316E5C4F-D906-B7A2-0C99-02704F645D01}"/>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A7A039E8-76EC-9E83-17E7-AE46A5455F6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FEC91D47-E8A9-80E9-4A06-BECA14DE4D7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822377E2-B063-2E3A-9C6B-8083843B0A8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41904620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Sustain the Improvements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Methods to Sustain Improvements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Divide into small groups (3 – 5).  </a:t>
            </a:r>
          </a:p>
          <a:p>
            <a:pPr marL="0" marR="0" indent="0" algn="l" defTabSz="584200" rtl="0" fontAlgn="auto" latinLnBrk="0" hangingPunct="0">
              <a:lnSpc>
                <a:spcPct val="100000"/>
              </a:lnSpc>
              <a:spcBef>
                <a:spcPts val="0"/>
              </a:spcBef>
              <a:spcAft>
                <a:spcPts val="0"/>
              </a:spcAft>
              <a:buClrTx/>
              <a:buSzTx/>
              <a:buFontTx/>
              <a:buNone/>
              <a:tabLst/>
            </a:pP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evaluated solutions from the cake baking example, develop methods to sustain improvements.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list of methods for Sustaining improvements.</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key takeaways to group.</a:t>
            </a:r>
          </a:p>
        </p:txBody>
      </p:sp>
      <p:grpSp>
        <p:nvGrpSpPr>
          <p:cNvPr id="21" name="Group 20">
            <a:extLst>
              <a:ext uri="{FF2B5EF4-FFF2-40B4-BE49-F238E27FC236}">
                <a16:creationId xmlns:a16="http://schemas.microsoft.com/office/drawing/2014/main" id="{6BAC9C2F-E6CD-4AB0-9591-B353E4887077}"/>
              </a:ext>
            </a:extLst>
          </p:cNvPr>
          <p:cNvGrpSpPr/>
          <p:nvPr/>
        </p:nvGrpSpPr>
        <p:grpSpPr>
          <a:xfrm>
            <a:off x="838200" y="297639"/>
            <a:ext cx="4561953" cy="307138"/>
            <a:chOff x="838200" y="297639"/>
            <a:chExt cx="4561953" cy="307138"/>
          </a:xfrm>
        </p:grpSpPr>
        <p:grpSp>
          <p:nvGrpSpPr>
            <p:cNvPr id="22" name="Group 21">
              <a:extLst>
                <a:ext uri="{FF2B5EF4-FFF2-40B4-BE49-F238E27FC236}">
                  <a16:creationId xmlns:a16="http://schemas.microsoft.com/office/drawing/2014/main" id="{65561CA5-5EF0-DFE0-DD04-6B34C914A447}"/>
                </a:ext>
              </a:extLst>
            </p:cNvPr>
            <p:cNvGrpSpPr/>
            <p:nvPr/>
          </p:nvGrpSpPr>
          <p:grpSpPr>
            <a:xfrm>
              <a:off x="838200" y="297639"/>
              <a:ext cx="1373842" cy="290657"/>
              <a:chOff x="838200" y="297639"/>
              <a:chExt cx="1373842" cy="290657"/>
            </a:xfrm>
          </p:grpSpPr>
          <p:sp>
            <p:nvSpPr>
              <p:cNvPr id="24" name="AutoShape 9">
                <a:extLst>
                  <a:ext uri="{FF2B5EF4-FFF2-40B4-BE49-F238E27FC236}">
                    <a16:creationId xmlns:a16="http://schemas.microsoft.com/office/drawing/2014/main" id="{C2D14BA2-4ED8-C6D2-E37E-85CDF6FD73B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5" name="Group 24">
                <a:extLst>
                  <a:ext uri="{FF2B5EF4-FFF2-40B4-BE49-F238E27FC236}">
                    <a16:creationId xmlns:a16="http://schemas.microsoft.com/office/drawing/2014/main" id="{EB30F480-3922-8FC3-2A75-69045AE64BD7}"/>
                  </a:ext>
                </a:extLst>
              </p:cNvPr>
              <p:cNvGrpSpPr/>
              <p:nvPr/>
            </p:nvGrpSpPr>
            <p:grpSpPr>
              <a:xfrm>
                <a:off x="838200" y="297639"/>
                <a:ext cx="1060167" cy="290657"/>
                <a:chOff x="826426" y="4041857"/>
                <a:chExt cx="1060167" cy="290657"/>
              </a:xfrm>
            </p:grpSpPr>
            <p:sp>
              <p:nvSpPr>
                <p:cNvPr id="26" name="AutoShape 9">
                  <a:extLst>
                    <a:ext uri="{FF2B5EF4-FFF2-40B4-BE49-F238E27FC236}">
                      <a16:creationId xmlns:a16="http://schemas.microsoft.com/office/drawing/2014/main" id="{2DDA023F-66D9-19C9-9EFE-AC347700811D}"/>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7" name="AutoShape 11">
                  <a:extLst>
                    <a:ext uri="{FF2B5EF4-FFF2-40B4-BE49-F238E27FC236}">
                      <a16:creationId xmlns:a16="http://schemas.microsoft.com/office/drawing/2014/main" id="{45F789AA-37EB-DC21-4550-A639050C03D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0">
                  <a:extLst>
                    <a:ext uri="{FF2B5EF4-FFF2-40B4-BE49-F238E27FC236}">
                      <a16:creationId xmlns:a16="http://schemas.microsoft.com/office/drawing/2014/main" id="{B34F2532-648C-4D4A-F692-8CD567FBA57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6D8503EF-E354-B609-9159-1C782DE54FE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799755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565A34-006E-2D53-9769-3201DABEE468}"/>
              </a:ext>
            </a:extLst>
          </p:cNvPr>
          <p:cNvSpPr txBox="1"/>
          <p:nvPr/>
        </p:nvSpPr>
        <p:spPr>
          <a:xfrm>
            <a:off x="331027" y="622754"/>
            <a:ext cx="3674404" cy="400110"/>
          </a:xfrm>
          <a:prstGeom prst="rect">
            <a:avLst/>
          </a:prstGeom>
          <a:noFill/>
        </p:spPr>
        <p:txBody>
          <a:bodyPr wrap="none" rtlCol="0">
            <a:spAutoFit/>
          </a:bodyPr>
          <a:lstStyle/>
          <a:p>
            <a:r>
              <a:rPr lang="en-US" sz="2000" b="1" dirty="0"/>
              <a:t>LHC Problem-Solving Process</a:t>
            </a:r>
          </a:p>
        </p:txBody>
      </p:sp>
      <p:grpSp>
        <p:nvGrpSpPr>
          <p:cNvPr id="2" name="Group 1">
            <a:extLst>
              <a:ext uri="{FF2B5EF4-FFF2-40B4-BE49-F238E27FC236}">
                <a16:creationId xmlns:a16="http://schemas.microsoft.com/office/drawing/2014/main" id="{4C148DFA-8597-52DF-63B7-773D0A274BBD}"/>
              </a:ext>
            </a:extLst>
          </p:cNvPr>
          <p:cNvGrpSpPr/>
          <p:nvPr/>
        </p:nvGrpSpPr>
        <p:grpSpPr>
          <a:xfrm>
            <a:off x="612373" y="1413832"/>
            <a:ext cx="2057400" cy="777240"/>
            <a:chOff x="612373" y="1413832"/>
            <a:chExt cx="2057400" cy="777240"/>
          </a:xfrm>
        </p:grpSpPr>
        <p:sp>
          <p:nvSpPr>
            <p:cNvPr id="11" name="Rectangle 10">
              <a:extLst>
                <a:ext uri="{FF2B5EF4-FFF2-40B4-BE49-F238E27FC236}">
                  <a16:creationId xmlns:a16="http://schemas.microsoft.com/office/drawing/2014/main" id="{ACBDA09F-99F2-3391-7017-7D5F00F8CA0F}"/>
                </a:ext>
              </a:extLst>
            </p:cNvPr>
            <p:cNvSpPr/>
            <p:nvPr/>
          </p:nvSpPr>
          <p:spPr>
            <a:xfrm>
              <a:off x="612373" y="141383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Determine </a:t>
              </a:r>
            </a:p>
            <a:p>
              <a:pPr algn="ctr"/>
              <a:r>
                <a:rPr lang="en-US" sz="1400" b="1" dirty="0"/>
                <a:t>Type 0-1-2</a:t>
              </a:r>
            </a:p>
          </p:txBody>
        </p:sp>
        <p:sp>
          <p:nvSpPr>
            <p:cNvPr id="12" name="Rectangle 11">
              <a:extLst>
                <a:ext uri="{FF2B5EF4-FFF2-40B4-BE49-F238E27FC236}">
                  <a16:creationId xmlns:a16="http://schemas.microsoft.com/office/drawing/2014/main" id="{391BEA32-53BE-1D79-BD0B-7AC3F6D63247}"/>
                </a:ext>
              </a:extLst>
            </p:cNvPr>
            <p:cNvSpPr/>
            <p:nvPr/>
          </p:nvSpPr>
          <p:spPr>
            <a:xfrm>
              <a:off x="612373" y="141383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a:t>
              </a:r>
            </a:p>
          </p:txBody>
        </p:sp>
      </p:grpSp>
      <p:grpSp>
        <p:nvGrpSpPr>
          <p:cNvPr id="56" name="Group 55">
            <a:extLst>
              <a:ext uri="{FF2B5EF4-FFF2-40B4-BE49-F238E27FC236}">
                <a16:creationId xmlns:a16="http://schemas.microsoft.com/office/drawing/2014/main" id="{C4CB92FC-803D-EF80-3400-41F4E6511496}"/>
              </a:ext>
            </a:extLst>
          </p:cNvPr>
          <p:cNvGrpSpPr/>
          <p:nvPr/>
        </p:nvGrpSpPr>
        <p:grpSpPr>
          <a:xfrm>
            <a:off x="611317" y="3730882"/>
            <a:ext cx="2057400" cy="777240"/>
            <a:chOff x="611317" y="3730882"/>
            <a:chExt cx="2057400" cy="777240"/>
          </a:xfrm>
        </p:grpSpPr>
        <p:sp>
          <p:nvSpPr>
            <p:cNvPr id="13" name="Rectangle 12">
              <a:extLst>
                <a:ext uri="{FF2B5EF4-FFF2-40B4-BE49-F238E27FC236}">
                  <a16:creationId xmlns:a16="http://schemas.microsoft.com/office/drawing/2014/main" id="{B43577E6-2FC8-457A-79F3-9910AF416A80}"/>
                </a:ext>
              </a:extLst>
            </p:cNvPr>
            <p:cNvSpPr/>
            <p:nvPr/>
          </p:nvSpPr>
          <p:spPr>
            <a:xfrm>
              <a:off x="611317" y="3730882"/>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Collect Data</a:t>
              </a:r>
            </a:p>
          </p:txBody>
        </p:sp>
        <p:sp>
          <p:nvSpPr>
            <p:cNvPr id="15" name="Rectangle 14">
              <a:extLst>
                <a:ext uri="{FF2B5EF4-FFF2-40B4-BE49-F238E27FC236}">
                  <a16:creationId xmlns:a16="http://schemas.microsoft.com/office/drawing/2014/main" id="{75977B3E-A3A0-044F-EB53-CF7C68C93716}"/>
                </a:ext>
              </a:extLst>
            </p:cNvPr>
            <p:cNvSpPr/>
            <p:nvPr/>
          </p:nvSpPr>
          <p:spPr>
            <a:xfrm>
              <a:off x="611317" y="37308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3</a:t>
              </a:r>
            </a:p>
          </p:txBody>
        </p:sp>
      </p:grpSp>
      <p:grpSp>
        <p:nvGrpSpPr>
          <p:cNvPr id="67" name="Group 66">
            <a:extLst>
              <a:ext uri="{FF2B5EF4-FFF2-40B4-BE49-F238E27FC236}">
                <a16:creationId xmlns:a16="http://schemas.microsoft.com/office/drawing/2014/main" id="{FDD87209-9A92-8EF2-1FEA-3136937E6717}"/>
              </a:ext>
            </a:extLst>
          </p:cNvPr>
          <p:cNvGrpSpPr/>
          <p:nvPr/>
        </p:nvGrpSpPr>
        <p:grpSpPr>
          <a:xfrm>
            <a:off x="611317" y="4889408"/>
            <a:ext cx="2057400" cy="777240"/>
            <a:chOff x="611317" y="4889408"/>
            <a:chExt cx="2057400" cy="777240"/>
          </a:xfrm>
        </p:grpSpPr>
        <p:sp>
          <p:nvSpPr>
            <p:cNvPr id="16" name="Rectangle 15">
              <a:extLst>
                <a:ext uri="{FF2B5EF4-FFF2-40B4-BE49-F238E27FC236}">
                  <a16:creationId xmlns:a16="http://schemas.microsoft.com/office/drawing/2014/main" id="{8E33BA21-1D76-6194-8879-D9A1BA778D1D}"/>
                </a:ext>
              </a:extLst>
            </p:cNvPr>
            <p:cNvSpPr/>
            <p:nvPr/>
          </p:nvSpPr>
          <p:spPr>
            <a:xfrm>
              <a:off x="611317" y="4889408"/>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Analyze Data</a:t>
              </a:r>
            </a:p>
          </p:txBody>
        </p:sp>
        <p:sp>
          <p:nvSpPr>
            <p:cNvPr id="18" name="Rectangle 17">
              <a:extLst>
                <a:ext uri="{FF2B5EF4-FFF2-40B4-BE49-F238E27FC236}">
                  <a16:creationId xmlns:a16="http://schemas.microsoft.com/office/drawing/2014/main" id="{0D5F1AAD-CDD7-5510-F5E1-0F347DFB7CEE}"/>
                </a:ext>
              </a:extLst>
            </p:cNvPr>
            <p:cNvSpPr/>
            <p:nvPr/>
          </p:nvSpPr>
          <p:spPr>
            <a:xfrm>
              <a:off x="611317"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4</a:t>
              </a:r>
            </a:p>
          </p:txBody>
        </p:sp>
      </p:grpSp>
      <p:grpSp>
        <p:nvGrpSpPr>
          <p:cNvPr id="8" name="Group 7">
            <a:extLst>
              <a:ext uri="{FF2B5EF4-FFF2-40B4-BE49-F238E27FC236}">
                <a16:creationId xmlns:a16="http://schemas.microsoft.com/office/drawing/2014/main" id="{D7DC68A7-B97E-0B57-A24D-0B68CA6AA8F4}"/>
              </a:ext>
            </a:extLst>
          </p:cNvPr>
          <p:cNvGrpSpPr/>
          <p:nvPr/>
        </p:nvGrpSpPr>
        <p:grpSpPr>
          <a:xfrm>
            <a:off x="3155446" y="1389830"/>
            <a:ext cx="2057400" cy="777240"/>
            <a:chOff x="3155446" y="1389830"/>
            <a:chExt cx="2057400" cy="777240"/>
          </a:xfrm>
        </p:grpSpPr>
        <p:sp>
          <p:nvSpPr>
            <p:cNvPr id="19" name="Rectangle 18">
              <a:extLst>
                <a:ext uri="{FF2B5EF4-FFF2-40B4-BE49-F238E27FC236}">
                  <a16:creationId xmlns:a16="http://schemas.microsoft.com/office/drawing/2014/main" id="{0C7FA0AC-2F7D-2D60-E2AA-1FC958177FEA}"/>
                </a:ext>
              </a:extLst>
            </p:cNvPr>
            <p:cNvSpPr/>
            <p:nvPr/>
          </p:nvSpPr>
          <p:spPr>
            <a:xfrm>
              <a:off x="3155446" y="1389830"/>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Problem Statement(s)</a:t>
              </a:r>
            </a:p>
          </p:txBody>
        </p:sp>
        <p:sp>
          <p:nvSpPr>
            <p:cNvPr id="21" name="Rectangle 20">
              <a:extLst>
                <a:ext uri="{FF2B5EF4-FFF2-40B4-BE49-F238E27FC236}">
                  <a16:creationId xmlns:a16="http://schemas.microsoft.com/office/drawing/2014/main" id="{17BB6944-72E6-364A-97D1-662607B337E0}"/>
                </a:ext>
              </a:extLst>
            </p:cNvPr>
            <p:cNvSpPr/>
            <p:nvPr/>
          </p:nvSpPr>
          <p:spPr>
            <a:xfrm>
              <a:off x="3155446" y="1389830"/>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5</a:t>
              </a:r>
            </a:p>
          </p:txBody>
        </p:sp>
      </p:grpSp>
      <p:grpSp>
        <p:nvGrpSpPr>
          <p:cNvPr id="55" name="Group 54">
            <a:extLst>
              <a:ext uri="{FF2B5EF4-FFF2-40B4-BE49-F238E27FC236}">
                <a16:creationId xmlns:a16="http://schemas.microsoft.com/office/drawing/2014/main" id="{E5D93B7D-4263-606C-CE60-D7A948A1A930}"/>
              </a:ext>
            </a:extLst>
          </p:cNvPr>
          <p:cNvGrpSpPr/>
          <p:nvPr/>
        </p:nvGrpSpPr>
        <p:grpSpPr>
          <a:xfrm>
            <a:off x="3155755" y="2556356"/>
            <a:ext cx="2052964" cy="777240"/>
            <a:chOff x="3155755" y="2556356"/>
            <a:chExt cx="2052964" cy="777240"/>
          </a:xfrm>
        </p:grpSpPr>
        <p:sp>
          <p:nvSpPr>
            <p:cNvPr id="25" name="Rectangle 24">
              <a:extLst>
                <a:ext uri="{FF2B5EF4-FFF2-40B4-BE49-F238E27FC236}">
                  <a16:creationId xmlns:a16="http://schemas.microsoft.com/office/drawing/2014/main" id="{E3548548-CE35-B355-0D79-7770CFCB6CFF}"/>
                </a:ext>
              </a:extLst>
            </p:cNvPr>
            <p:cNvSpPr/>
            <p:nvPr/>
          </p:nvSpPr>
          <p:spPr>
            <a:xfrm>
              <a:off x="3155755" y="2556356"/>
              <a:ext cx="2052964"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t>
              </a:r>
            </a:p>
            <a:p>
              <a:pPr algn="ctr"/>
              <a:r>
                <a:rPr lang="en-US" sz="1400" b="1" dirty="0"/>
                <a:t>Objectives and Timeframes</a:t>
              </a:r>
            </a:p>
          </p:txBody>
        </p:sp>
        <p:sp>
          <p:nvSpPr>
            <p:cNvPr id="27" name="Rectangle 26">
              <a:extLst>
                <a:ext uri="{FF2B5EF4-FFF2-40B4-BE49-F238E27FC236}">
                  <a16:creationId xmlns:a16="http://schemas.microsoft.com/office/drawing/2014/main" id="{4807D46E-5AFB-0BAD-C265-CAAA5BBFD7EE}"/>
                </a:ext>
              </a:extLst>
            </p:cNvPr>
            <p:cNvSpPr/>
            <p:nvPr/>
          </p:nvSpPr>
          <p:spPr>
            <a:xfrm>
              <a:off x="3155755" y="2556356"/>
              <a:ext cx="356616"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6</a:t>
              </a:r>
            </a:p>
          </p:txBody>
        </p:sp>
      </p:grpSp>
      <p:grpSp>
        <p:nvGrpSpPr>
          <p:cNvPr id="68" name="Group 67">
            <a:extLst>
              <a:ext uri="{FF2B5EF4-FFF2-40B4-BE49-F238E27FC236}">
                <a16:creationId xmlns:a16="http://schemas.microsoft.com/office/drawing/2014/main" id="{35C24F98-47AC-D5A1-BBB6-8637090BE8A8}"/>
              </a:ext>
            </a:extLst>
          </p:cNvPr>
          <p:cNvGrpSpPr/>
          <p:nvPr/>
        </p:nvGrpSpPr>
        <p:grpSpPr>
          <a:xfrm>
            <a:off x="3155753" y="3722882"/>
            <a:ext cx="2049007" cy="777240"/>
            <a:chOff x="3155753" y="3722882"/>
            <a:chExt cx="2049007" cy="777240"/>
          </a:xfrm>
        </p:grpSpPr>
        <p:sp>
          <p:nvSpPr>
            <p:cNvPr id="22" name="Rectangle 21">
              <a:extLst>
                <a:ext uri="{FF2B5EF4-FFF2-40B4-BE49-F238E27FC236}">
                  <a16:creationId xmlns:a16="http://schemas.microsoft.com/office/drawing/2014/main" id="{895DDCD0-444F-5D23-77EA-E555F5BCBBA9}"/>
                </a:ext>
              </a:extLst>
            </p:cNvPr>
            <p:cNvSpPr/>
            <p:nvPr/>
          </p:nvSpPr>
          <p:spPr>
            <a:xfrm>
              <a:off x="3155753" y="3722882"/>
              <a:ext cx="2049007"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Identify</a:t>
              </a:r>
            </a:p>
            <a:p>
              <a:pPr algn="ctr"/>
              <a:r>
                <a:rPr lang="en-US" sz="1400" b="1" dirty="0"/>
                <a:t>Customer - Supplier Relationships</a:t>
              </a:r>
            </a:p>
          </p:txBody>
        </p:sp>
        <p:sp>
          <p:nvSpPr>
            <p:cNvPr id="24" name="Rectangle 23">
              <a:extLst>
                <a:ext uri="{FF2B5EF4-FFF2-40B4-BE49-F238E27FC236}">
                  <a16:creationId xmlns:a16="http://schemas.microsoft.com/office/drawing/2014/main" id="{DF3545AD-E487-7370-4F7D-A7FED3916817}"/>
                </a:ext>
              </a:extLst>
            </p:cNvPr>
            <p:cNvSpPr/>
            <p:nvPr/>
          </p:nvSpPr>
          <p:spPr>
            <a:xfrm>
              <a:off x="3155753" y="3722882"/>
              <a:ext cx="356615"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7</a:t>
              </a:r>
            </a:p>
          </p:txBody>
        </p:sp>
      </p:grpSp>
      <p:grpSp>
        <p:nvGrpSpPr>
          <p:cNvPr id="69" name="Group 68">
            <a:extLst>
              <a:ext uri="{FF2B5EF4-FFF2-40B4-BE49-F238E27FC236}">
                <a16:creationId xmlns:a16="http://schemas.microsoft.com/office/drawing/2014/main" id="{8C3E4E16-B48F-4A86-EB32-2E6CAF911106}"/>
              </a:ext>
            </a:extLst>
          </p:cNvPr>
          <p:cNvGrpSpPr/>
          <p:nvPr/>
        </p:nvGrpSpPr>
        <p:grpSpPr>
          <a:xfrm>
            <a:off x="3147360" y="4889408"/>
            <a:ext cx="2057400" cy="777240"/>
            <a:chOff x="3147360" y="4889408"/>
            <a:chExt cx="2057400" cy="777240"/>
          </a:xfrm>
        </p:grpSpPr>
        <p:sp>
          <p:nvSpPr>
            <p:cNvPr id="28" name="Rectangle 27">
              <a:extLst>
                <a:ext uri="{FF2B5EF4-FFF2-40B4-BE49-F238E27FC236}">
                  <a16:creationId xmlns:a16="http://schemas.microsoft.com/office/drawing/2014/main" id="{F01FC4B2-FC98-2C6E-E9D5-DA1A36136F3A}"/>
                </a:ext>
              </a:extLst>
            </p:cNvPr>
            <p:cNvSpPr/>
            <p:nvPr/>
          </p:nvSpPr>
          <p:spPr>
            <a:xfrm>
              <a:off x="3147360" y="4889408"/>
              <a:ext cx="2057400" cy="77724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Temporary Countermeasures </a:t>
              </a:r>
            </a:p>
            <a:p>
              <a:pPr algn="ctr"/>
              <a:r>
                <a:rPr lang="en-US" sz="1400" b="1" dirty="0"/>
                <a:t>(If Needed)</a:t>
              </a:r>
            </a:p>
          </p:txBody>
        </p:sp>
        <p:sp>
          <p:nvSpPr>
            <p:cNvPr id="30" name="Rectangle 29">
              <a:extLst>
                <a:ext uri="{FF2B5EF4-FFF2-40B4-BE49-F238E27FC236}">
                  <a16:creationId xmlns:a16="http://schemas.microsoft.com/office/drawing/2014/main" id="{C8CD23B3-AE77-FD60-B028-478D808EA1A7}"/>
                </a:ext>
              </a:extLst>
            </p:cNvPr>
            <p:cNvSpPr/>
            <p:nvPr/>
          </p:nvSpPr>
          <p:spPr>
            <a:xfrm>
              <a:off x="3147360" y="4889408"/>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8</a:t>
              </a:r>
            </a:p>
          </p:txBody>
        </p:sp>
      </p:grpSp>
      <p:grpSp>
        <p:nvGrpSpPr>
          <p:cNvPr id="66" name="Group 65">
            <a:extLst>
              <a:ext uri="{FF2B5EF4-FFF2-40B4-BE49-F238E27FC236}">
                <a16:creationId xmlns:a16="http://schemas.microsoft.com/office/drawing/2014/main" id="{3DCCBD8E-50D5-EDA3-E407-85FEB4D797BF}"/>
              </a:ext>
            </a:extLst>
          </p:cNvPr>
          <p:cNvGrpSpPr/>
          <p:nvPr/>
        </p:nvGrpSpPr>
        <p:grpSpPr>
          <a:xfrm>
            <a:off x="5762700" y="1389829"/>
            <a:ext cx="2057400" cy="777240"/>
            <a:chOff x="5762700" y="1389829"/>
            <a:chExt cx="2057400" cy="777240"/>
          </a:xfrm>
        </p:grpSpPr>
        <p:sp>
          <p:nvSpPr>
            <p:cNvPr id="31" name="Rectangle 30">
              <a:extLst>
                <a:ext uri="{FF2B5EF4-FFF2-40B4-BE49-F238E27FC236}">
                  <a16:creationId xmlns:a16="http://schemas.microsoft.com/office/drawing/2014/main" id="{EC285C04-1F81-D9B6-AA90-A217F0ED25D5}"/>
                </a:ext>
              </a:extLst>
            </p:cNvPr>
            <p:cNvSpPr/>
            <p:nvPr/>
          </p:nvSpPr>
          <p:spPr>
            <a:xfrm>
              <a:off x="5762700" y="1389829"/>
              <a:ext cx="2057400" cy="77724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 Determine Root Causes</a:t>
              </a:r>
            </a:p>
          </p:txBody>
        </p:sp>
        <p:sp>
          <p:nvSpPr>
            <p:cNvPr id="33" name="Rectangle 32">
              <a:extLst>
                <a:ext uri="{FF2B5EF4-FFF2-40B4-BE49-F238E27FC236}">
                  <a16:creationId xmlns:a16="http://schemas.microsoft.com/office/drawing/2014/main" id="{C368F34D-6137-66DF-97C4-05055A80D9C3}"/>
                </a:ext>
              </a:extLst>
            </p:cNvPr>
            <p:cNvSpPr/>
            <p:nvPr/>
          </p:nvSpPr>
          <p:spPr>
            <a:xfrm>
              <a:off x="5762700" y="1389829"/>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9</a:t>
              </a:r>
            </a:p>
          </p:txBody>
        </p:sp>
      </p:grpSp>
      <p:grpSp>
        <p:nvGrpSpPr>
          <p:cNvPr id="32" name="Group 31">
            <a:extLst>
              <a:ext uri="{FF2B5EF4-FFF2-40B4-BE49-F238E27FC236}">
                <a16:creationId xmlns:a16="http://schemas.microsoft.com/office/drawing/2014/main" id="{BEDBD4BD-ED20-CAB1-CA66-B060B58E6799}"/>
              </a:ext>
            </a:extLst>
          </p:cNvPr>
          <p:cNvGrpSpPr/>
          <p:nvPr/>
        </p:nvGrpSpPr>
        <p:grpSpPr>
          <a:xfrm>
            <a:off x="5758860" y="2556216"/>
            <a:ext cx="2057400" cy="775484"/>
            <a:chOff x="5758860" y="2556216"/>
            <a:chExt cx="2057400" cy="775484"/>
          </a:xfrm>
        </p:grpSpPr>
        <p:sp>
          <p:nvSpPr>
            <p:cNvPr id="34" name="Rectangle 33">
              <a:extLst>
                <a:ext uri="{FF2B5EF4-FFF2-40B4-BE49-F238E27FC236}">
                  <a16:creationId xmlns:a16="http://schemas.microsoft.com/office/drawing/2014/main" id="{7923D2B3-161B-CC15-14D5-89CFE4525E03}"/>
                </a:ext>
              </a:extLst>
            </p:cNvPr>
            <p:cNvSpPr/>
            <p:nvPr/>
          </p:nvSpPr>
          <p:spPr>
            <a:xfrm>
              <a:off x="5758860" y="2556216"/>
              <a:ext cx="2057400" cy="775484"/>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Countermeasures</a:t>
              </a:r>
            </a:p>
          </p:txBody>
        </p:sp>
        <p:sp>
          <p:nvSpPr>
            <p:cNvPr id="36" name="Rectangle 35">
              <a:extLst>
                <a:ext uri="{FF2B5EF4-FFF2-40B4-BE49-F238E27FC236}">
                  <a16:creationId xmlns:a16="http://schemas.microsoft.com/office/drawing/2014/main" id="{C1956AE2-1924-4569-2CBA-570CD688BF93}"/>
                </a:ext>
              </a:extLst>
            </p:cNvPr>
            <p:cNvSpPr/>
            <p:nvPr/>
          </p:nvSpPr>
          <p:spPr>
            <a:xfrm>
              <a:off x="5758860" y="2556216"/>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10</a:t>
              </a:r>
            </a:p>
          </p:txBody>
        </p:sp>
      </p:grpSp>
      <p:grpSp>
        <p:nvGrpSpPr>
          <p:cNvPr id="65" name="Group 64">
            <a:extLst>
              <a:ext uri="{FF2B5EF4-FFF2-40B4-BE49-F238E27FC236}">
                <a16:creationId xmlns:a16="http://schemas.microsoft.com/office/drawing/2014/main" id="{B82443CB-7226-9FDB-6AB1-FBC4359FF754}"/>
              </a:ext>
            </a:extLst>
          </p:cNvPr>
          <p:cNvGrpSpPr/>
          <p:nvPr/>
        </p:nvGrpSpPr>
        <p:grpSpPr>
          <a:xfrm>
            <a:off x="5762700" y="4889408"/>
            <a:ext cx="2057400" cy="775482"/>
            <a:chOff x="5762700" y="4889408"/>
            <a:chExt cx="2057400" cy="775482"/>
          </a:xfrm>
        </p:grpSpPr>
        <p:sp>
          <p:nvSpPr>
            <p:cNvPr id="38" name="Rectangle 37">
              <a:extLst>
                <a:ext uri="{FF2B5EF4-FFF2-40B4-BE49-F238E27FC236}">
                  <a16:creationId xmlns:a16="http://schemas.microsoft.com/office/drawing/2014/main" id="{3B1B3B23-6423-38D9-294A-797D3069E87F}"/>
                </a:ext>
              </a:extLst>
            </p:cNvPr>
            <p:cNvSpPr/>
            <p:nvPr/>
          </p:nvSpPr>
          <p:spPr>
            <a:xfrm>
              <a:off x="5762700" y="4889408"/>
              <a:ext cx="2057400" cy="775482"/>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Execute Action Plan </a:t>
              </a:r>
              <a:br>
                <a:rPr lang="en-US" sz="1200" b="1" dirty="0"/>
              </a:br>
              <a:r>
                <a:rPr lang="en-US" sz="1200" b="1" dirty="0"/>
                <a:t>&amp; Document New Process</a:t>
              </a:r>
            </a:p>
          </p:txBody>
        </p:sp>
        <p:sp>
          <p:nvSpPr>
            <p:cNvPr id="39" name="Rectangle 38">
              <a:extLst>
                <a:ext uri="{FF2B5EF4-FFF2-40B4-BE49-F238E27FC236}">
                  <a16:creationId xmlns:a16="http://schemas.microsoft.com/office/drawing/2014/main" id="{1394C3CA-7915-F793-6F7D-E25DB8CBB047}"/>
                </a:ext>
              </a:extLst>
            </p:cNvPr>
            <p:cNvSpPr/>
            <p:nvPr/>
          </p:nvSpPr>
          <p:spPr>
            <a:xfrm>
              <a:off x="5762700" y="4889408"/>
              <a:ext cx="356617" cy="2285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12</a:t>
              </a:r>
            </a:p>
          </p:txBody>
        </p:sp>
      </p:grpSp>
      <p:grpSp>
        <p:nvGrpSpPr>
          <p:cNvPr id="6" name="Group 5">
            <a:extLst>
              <a:ext uri="{FF2B5EF4-FFF2-40B4-BE49-F238E27FC236}">
                <a16:creationId xmlns:a16="http://schemas.microsoft.com/office/drawing/2014/main" id="{075B3121-186E-1817-6128-DC8EDF1DBBEE}"/>
              </a:ext>
            </a:extLst>
          </p:cNvPr>
          <p:cNvGrpSpPr/>
          <p:nvPr/>
        </p:nvGrpSpPr>
        <p:grpSpPr>
          <a:xfrm>
            <a:off x="8559879" y="3513162"/>
            <a:ext cx="2057400" cy="777240"/>
            <a:chOff x="8559879" y="3513162"/>
            <a:chExt cx="2057400" cy="777240"/>
          </a:xfrm>
        </p:grpSpPr>
        <p:sp>
          <p:nvSpPr>
            <p:cNvPr id="77" name="Rectangle 76">
              <a:extLst>
                <a:ext uri="{FF2B5EF4-FFF2-40B4-BE49-F238E27FC236}">
                  <a16:creationId xmlns:a16="http://schemas.microsoft.com/office/drawing/2014/main" id="{F2C332D9-63FE-29DC-C11E-34902FB53307}"/>
                </a:ext>
              </a:extLst>
            </p:cNvPr>
            <p:cNvSpPr/>
            <p:nvPr/>
          </p:nvSpPr>
          <p:spPr>
            <a:xfrm>
              <a:off x="8559879" y="3513162"/>
              <a:ext cx="2057400" cy="777240"/>
            </a:xfrm>
            <a:prstGeom prst="rect">
              <a:avLst/>
            </a:prstGeom>
            <a:solidFill>
              <a:schemeClr val="accent1">
                <a:lumMod val="50000"/>
              </a:schemeClr>
            </a:solidFill>
            <a:ln w="28575">
              <a:solidFill>
                <a:schemeClr val="accent1"/>
              </a:solidFill>
            </a:ln>
            <a:effectLst>
              <a:glow rad="228600">
                <a:schemeClr val="accent1">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Freeze Standard</a:t>
              </a:r>
            </a:p>
            <a:p>
              <a:pPr algn="ctr"/>
              <a:r>
                <a:rPr lang="en-US" sz="1400" b="1" dirty="0"/>
                <a:t>Incorporate Into</a:t>
              </a:r>
            </a:p>
            <a:p>
              <a:pPr algn="ctr"/>
              <a:r>
                <a:rPr lang="en-US" sz="1400" b="1" dirty="0"/>
                <a:t>Daily Management</a:t>
              </a:r>
            </a:p>
          </p:txBody>
        </p:sp>
        <p:sp>
          <p:nvSpPr>
            <p:cNvPr id="79" name="Rectangle 78">
              <a:extLst>
                <a:ext uri="{FF2B5EF4-FFF2-40B4-BE49-F238E27FC236}">
                  <a16:creationId xmlns:a16="http://schemas.microsoft.com/office/drawing/2014/main" id="{DBB1DEC7-998C-94CC-45F5-CCBB4895058B}"/>
                </a:ext>
              </a:extLst>
            </p:cNvPr>
            <p:cNvSpPr/>
            <p:nvPr/>
          </p:nvSpPr>
          <p:spPr>
            <a:xfrm>
              <a:off x="8559879" y="351316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14</a:t>
              </a:r>
            </a:p>
          </p:txBody>
        </p:sp>
      </p:grpSp>
      <p:sp>
        <p:nvSpPr>
          <p:cNvPr id="43" name="Rectangle 42">
            <a:extLst>
              <a:ext uri="{FF2B5EF4-FFF2-40B4-BE49-F238E27FC236}">
                <a16:creationId xmlns:a16="http://schemas.microsoft.com/office/drawing/2014/main" id="{7425960C-041A-1353-AAB0-541E2F1F3FE9}"/>
              </a:ext>
            </a:extLst>
          </p:cNvPr>
          <p:cNvSpPr/>
          <p:nvPr/>
        </p:nvSpPr>
        <p:spPr>
          <a:xfrm>
            <a:off x="8559879" y="4661620"/>
            <a:ext cx="2057400" cy="77724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Continue Kaizen</a:t>
            </a:r>
          </a:p>
        </p:txBody>
      </p:sp>
      <p:cxnSp>
        <p:nvCxnSpPr>
          <p:cNvPr id="142" name="Straight Arrow Connector 141">
            <a:extLst>
              <a:ext uri="{FF2B5EF4-FFF2-40B4-BE49-F238E27FC236}">
                <a16:creationId xmlns:a16="http://schemas.microsoft.com/office/drawing/2014/main" id="{1A115102-25F2-BD70-C9EA-CA6B384B5359}"/>
              </a:ext>
            </a:extLst>
          </p:cNvPr>
          <p:cNvCxnSpPr>
            <a:cxnSpLocks/>
            <a:stCxn id="11" idx="2"/>
            <a:endCxn id="3" idx="0"/>
          </p:cNvCxnSpPr>
          <p:nvPr/>
        </p:nvCxnSpPr>
        <p:spPr>
          <a:xfrm flipH="1">
            <a:off x="1640545" y="2191072"/>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5B1E7AFD-BFD4-3DF9-E5CE-87428EDAE863}"/>
              </a:ext>
            </a:extLst>
          </p:cNvPr>
          <p:cNvGrpSpPr/>
          <p:nvPr/>
        </p:nvGrpSpPr>
        <p:grpSpPr>
          <a:xfrm>
            <a:off x="8233392" y="1717131"/>
            <a:ext cx="2988969" cy="1486059"/>
            <a:chOff x="8233392" y="1717131"/>
            <a:chExt cx="2988969" cy="1486059"/>
          </a:xfrm>
        </p:grpSpPr>
        <p:sp>
          <p:nvSpPr>
            <p:cNvPr id="44" name="Diamond 43">
              <a:extLst>
                <a:ext uri="{FF2B5EF4-FFF2-40B4-BE49-F238E27FC236}">
                  <a16:creationId xmlns:a16="http://schemas.microsoft.com/office/drawing/2014/main" id="{1EC23450-097C-1729-E67C-6B51E545C0A6}"/>
                </a:ext>
              </a:extLst>
            </p:cNvPr>
            <p:cNvSpPr/>
            <p:nvPr/>
          </p:nvSpPr>
          <p:spPr>
            <a:xfrm>
              <a:off x="8233392" y="1988752"/>
              <a:ext cx="2710375" cy="953466"/>
            </a:xfrm>
            <a:prstGeom prst="diamond">
              <a:avLst/>
            </a:prstGeom>
            <a:solidFill>
              <a:schemeClr val="accent2"/>
            </a:solidFill>
            <a:ln w="127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Monitor Countermeasure Effectiveness via KPIs</a:t>
              </a:r>
            </a:p>
          </p:txBody>
        </p:sp>
        <p:sp>
          <p:nvSpPr>
            <p:cNvPr id="46" name="Diamond 45">
              <a:extLst>
                <a:ext uri="{FF2B5EF4-FFF2-40B4-BE49-F238E27FC236}">
                  <a16:creationId xmlns:a16="http://schemas.microsoft.com/office/drawing/2014/main" id="{36908CE4-FA32-F335-64DD-0F5C09BA23B8}"/>
                </a:ext>
              </a:extLst>
            </p:cNvPr>
            <p:cNvSpPr/>
            <p:nvPr/>
          </p:nvSpPr>
          <p:spPr>
            <a:xfrm>
              <a:off x="8233392" y="2350273"/>
              <a:ext cx="679264" cy="222084"/>
            </a:xfrm>
            <a:prstGeom prst="diamond">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13</a:t>
              </a:r>
            </a:p>
          </p:txBody>
        </p:sp>
        <p:sp>
          <p:nvSpPr>
            <p:cNvPr id="188" name="TextBox 187">
              <a:extLst>
                <a:ext uri="{FF2B5EF4-FFF2-40B4-BE49-F238E27FC236}">
                  <a16:creationId xmlns:a16="http://schemas.microsoft.com/office/drawing/2014/main" id="{A7C2CD6E-B897-5DF0-042F-AF42CCF7CDB3}"/>
                </a:ext>
              </a:extLst>
            </p:cNvPr>
            <p:cNvSpPr txBox="1"/>
            <p:nvPr/>
          </p:nvSpPr>
          <p:spPr>
            <a:xfrm>
              <a:off x="9546100" y="2895413"/>
              <a:ext cx="1300356" cy="307777"/>
            </a:xfrm>
            <a:prstGeom prst="rect">
              <a:avLst/>
            </a:prstGeom>
            <a:noFill/>
          </p:spPr>
          <p:txBody>
            <a:bodyPr wrap="none" rtlCol="0">
              <a:spAutoFit/>
            </a:bodyPr>
            <a:lstStyle/>
            <a:p>
              <a:r>
                <a:rPr lang="en-US" sz="1400" b="1" dirty="0"/>
                <a:t>Objective Met</a:t>
              </a:r>
            </a:p>
          </p:txBody>
        </p:sp>
        <p:sp>
          <p:nvSpPr>
            <p:cNvPr id="204" name="TextBox 203">
              <a:extLst>
                <a:ext uri="{FF2B5EF4-FFF2-40B4-BE49-F238E27FC236}">
                  <a16:creationId xmlns:a16="http://schemas.microsoft.com/office/drawing/2014/main" id="{35E98B3C-BF56-F18A-3F75-E596A0CFEE8F}"/>
                </a:ext>
              </a:extLst>
            </p:cNvPr>
            <p:cNvSpPr txBox="1"/>
            <p:nvPr/>
          </p:nvSpPr>
          <p:spPr>
            <a:xfrm>
              <a:off x="9588580" y="1717131"/>
              <a:ext cx="1633781" cy="307777"/>
            </a:xfrm>
            <a:prstGeom prst="rect">
              <a:avLst/>
            </a:prstGeom>
            <a:noFill/>
          </p:spPr>
          <p:txBody>
            <a:bodyPr wrap="none" rtlCol="0">
              <a:spAutoFit/>
            </a:bodyPr>
            <a:lstStyle/>
            <a:p>
              <a:r>
                <a:rPr lang="en-US" sz="1400" b="1" dirty="0"/>
                <a:t>Objective Not Met</a:t>
              </a:r>
            </a:p>
          </p:txBody>
        </p:sp>
      </p:grpSp>
      <p:grpSp>
        <p:nvGrpSpPr>
          <p:cNvPr id="23" name="Group 22">
            <a:extLst>
              <a:ext uri="{FF2B5EF4-FFF2-40B4-BE49-F238E27FC236}">
                <a16:creationId xmlns:a16="http://schemas.microsoft.com/office/drawing/2014/main" id="{870C9529-4FB6-F961-410B-3F8FF1CEF64B}"/>
              </a:ext>
            </a:extLst>
          </p:cNvPr>
          <p:cNvGrpSpPr/>
          <p:nvPr/>
        </p:nvGrpSpPr>
        <p:grpSpPr>
          <a:xfrm>
            <a:off x="611845" y="2572357"/>
            <a:ext cx="2057400" cy="777240"/>
            <a:chOff x="611845" y="2572357"/>
            <a:chExt cx="2057400" cy="777240"/>
          </a:xfrm>
        </p:grpSpPr>
        <p:sp>
          <p:nvSpPr>
            <p:cNvPr id="3" name="Rectangle 2">
              <a:extLst>
                <a:ext uri="{FF2B5EF4-FFF2-40B4-BE49-F238E27FC236}">
                  <a16:creationId xmlns:a16="http://schemas.microsoft.com/office/drawing/2014/main" id="{55C60F14-29DF-CF99-306E-D287E3F16C1E}"/>
                </a:ext>
              </a:extLst>
            </p:cNvPr>
            <p:cNvSpPr/>
            <p:nvPr/>
          </p:nvSpPr>
          <p:spPr>
            <a:xfrm>
              <a:off x="611845" y="2572357"/>
              <a:ext cx="2057400" cy="77724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Select Cross Functional Team</a:t>
              </a:r>
            </a:p>
          </p:txBody>
        </p:sp>
        <p:sp>
          <p:nvSpPr>
            <p:cNvPr id="4" name="Rectangle 3">
              <a:extLst>
                <a:ext uri="{FF2B5EF4-FFF2-40B4-BE49-F238E27FC236}">
                  <a16:creationId xmlns:a16="http://schemas.microsoft.com/office/drawing/2014/main" id="{2565886F-8C80-589F-1B62-9E9C1EEFE806}"/>
                </a:ext>
              </a:extLst>
            </p:cNvPr>
            <p:cNvSpPr/>
            <p:nvPr/>
          </p:nvSpPr>
          <p:spPr>
            <a:xfrm>
              <a:off x="611845" y="2572357"/>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2</a:t>
              </a:r>
            </a:p>
          </p:txBody>
        </p:sp>
      </p:grpSp>
      <p:cxnSp>
        <p:nvCxnSpPr>
          <p:cNvPr id="10" name="Straight Arrow Connector 9">
            <a:extLst>
              <a:ext uri="{FF2B5EF4-FFF2-40B4-BE49-F238E27FC236}">
                <a16:creationId xmlns:a16="http://schemas.microsoft.com/office/drawing/2014/main" id="{E332E1FF-D6D4-B99E-16AB-0212B4A52380}"/>
              </a:ext>
            </a:extLst>
          </p:cNvPr>
          <p:cNvCxnSpPr>
            <a:cxnSpLocks/>
            <a:stCxn id="22" idx="2"/>
            <a:endCxn id="28" idx="0"/>
          </p:cNvCxnSpPr>
          <p:nvPr/>
        </p:nvCxnSpPr>
        <p:spPr>
          <a:xfrm flipH="1">
            <a:off x="4176060" y="4500122"/>
            <a:ext cx="4197"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8228903-AAEE-D8AB-37D1-BAEFC4CCD3D3}"/>
              </a:ext>
            </a:extLst>
          </p:cNvPr>
          <p:cNvCxnSpPr>
            <a:cxnSpLocks/>
            <a:stCxn id="31" idx="2"/>
            <a:endCxn id="34" idx="0"/>
          </p:cNvCxnSpPr>
          <p:nvPr/>
        </p:nvCxnSpPr>
        <p:spPr>
          <a:xfrm flipH="1">
            <a:off x="6787560" y="2167069"/>
            <a:ext cx="3840" cy="389147"/>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9D53AD3-607D-DEFA-934E-8F9232201CCF}"/>
              </a:ext>
            </a:extLst>
          </p:cNvPr>
          <p:cNvCxnSpPr>
            <a:cxnSpLocks/>
            <a:stCxn id="25" idx="2"/>
            <a:endCxn id="22" idx="0"/>
          </p:cNvCxnSpPr>
          <p:nvPr/>
        </p:nvCxnSpPr>
        <p:spPr>
          <a:xfrm flipH="1">
            <a:off x="4180257" y="3333596"/>
            <a:ext cx="1980"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8DBA4C1-41F3-C1A1-EEC4-6DA5C8C174F6}"/>
              </a:ext>
            </a:extLst>
          </p:cNvPr>
          <p:cNvCxnSpPr>
            <a:cxnSpLocks/>
            <a:stCxn id="3" idx="2"/>
            <a:endCxn id="13" idx="0"/>
          </p:cNvCxnSpPr>
          <p:nvPr/>
        </p:nvCxnSpPr>
        <p:spPr>
          <a:xfrm flipH="1">
            <a:off x="1640017" y="3349597"/>
            <a:ext cx="528" cy="381285"/>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C67C7B9-63CC-9582-F632-91ADDBB3F8AA}"/>
              </a:ext>
            </a:extLst>
          </p:cNvPr>
          <p:cNvCxnSpPr>
            <a:cxnSpLocks/>
            <a:stCxn id="19" idx="2"/>
            <a:endCxn id="25" idx="0"/>
          </p:cNvCxnSpPr>
          <p:nvPr/>
        </p:nvCxnSpPr>
        <p:spPr>
          <a:xfrm flipH="1">
            <a:off x="4182237" y="2167070"/>
            <a:ext cx="1909" cy="389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0F6A3D7-4ABE-D11E-A688-074767E84A0C}"/>
              </a:ext>
            </a:extLst>
          </p:cNvPr>
          <p:cNvCxnSpPr>
            <a:cxnSpLocks/>
            <a:stCxn id="34" idx="2"/>
            <a:endCxn id="14" idx="0"/>
          </p:cNvCxnSpPr>
          <p:nvPr/>
        </p:nvCxnSpPr>
        <p:spPr>
          <a:xfrm>
            <a:off x="6787560" y="3331700"/>
            <a:ext cx="5612" cy="39448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C9E65B0-6C4E-DA63-17C2-174EBAC955AF}"/>
              </a:ext>
            </a:extLst>
          </p:cNvPr>
          <p:cNvCxnSpPr>
            <a:cxnSpLocks/>
            <a:stCxn id="13" idx="2"/>
            <a:endCxn id="16" idx="0"/>
          </p:cNvCxnSpPr>
          <p:nvPr/>
        </p:nvCxnSpPr>
        <p:spPr>
          <a:xfrm>
            <a:off x="1640017" y="4508122"/>
            <a:ext cx="0" cy="381286"/>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936CBD64-BBE4-15B6-CB56-D066BC668657}"/>
              </a:ext>
            </a:extLst>
          </p:cNvPr>
          <p:cNvCxnSpPr>
            <a:cxnSpLocks/>
            <a:stCxn id="16" idx="3"/>
            <a:endCxn id="19" idx="1"/>
          </p:cNvCxnSpPr>
          <p:nvPr/>
        </p:nvCxnSpPr>
        <p:spPr>
          <a:xfrm flipV="1">
            <a:off x="2668717" y="1778450"/>
            <a:ext cx="486729" cy="3499578"/>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A301B96A-CC82-1142-D01B-5C94F3012F46}"/>
              </a:ext>
            </a:extLst>
          </p:cNvPr>
          <p:cNvCxnSpPr>
            <a:cxnSpLocks/>
            <a:stCxn id="28" idx="3"/>
            <a:endCxn id="31" idx="1"/>
          </p:cNvCxnSpPr>
          <p:nvPr/>
        </p:nvCxnSpPr>
        <p:spPr>
          <a:xfrm flipV="1">
            <a:off x="5204760" y="1778449"/>
            <a:ext cx="557940" cy="3499579"/>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B7EF5E76-6E31-26EF-A839-6B4262E2DD14}"/>
              </a:ext>
            </a:extLst>
          </p:cNvPr>
          <p:cNvCxnSpPr>
            <a:cxnSpLocks/>
            <a:stCxn id="44" idx="0"/>
            <a:endCxn id="31" idx="0"/>
          </p:cNvCxnSpPr>
          <p:nvPr/>
        </p:nvCxnSpPr>
        <p:spPr>
          <a:xfrm rot="16200000" flipV="1">
            <a:off x="7890529" y="290701"/>
            <a:ext cx="598923" cy="2797180"/>
          </a:xfrm>
          <a:prstGeom prst="bentConnector3">
            <a:avLst>
              <a:gd name="adj1" fmla="val 138169"/>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87EE378B-268A-6511-0046-6CC7B93F0F63}"/>
              </a:ext>
            </a:extLst>
          </p:cNvPr>
          <p:cNvCxnSpPr>
            <a:cxnSpLocks/>
            <a:stCxn id="44" idx="2"/>
            <a:endCxn id="77" idx="0"/>
          </p:cNvCxnSpPr>
          <p:nvPr/>
        </p:nvCxnSpPr>
        <p:spPr>
          <a:xfrm flipH="1">
            <a:off x="9588579" y="2942218"/>
            <a:ext cx="1" cy="570944"/>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8AC4DE2B-F096-F41A-FE2D-15BD705ED716}"/>
              </a:ext>
            </a:extLst>
          </p:cNvPr>
          <p:cNvCxnSpPr>
            <a:cxnSpLocks/>
            <a:stCxn id="38" idx="3"/>
            <a:endCxn id="44" idx="1"/>
          </p:cNvCxnSpPr>
          <p:nvPr/>
        </p:nvCxnSpPr>
        <p:spPr>
          <a:xfrm flipV="1">
            <a:off x="7820100" y="2465485"/>
            <a:ext cx="413292" cy="2811664"/>
          </a:xfrm>
          <a:prstGeom prst="bentConnector3">
            <a:avLst>
              <a:gd name="adj1" fmla="val 50000"/>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B89CE7B-02B6-F12A-CC1B-CDDFDE6B9B0A}"/>
              </a:ext>
            </a:extLst>
          </p:cNvPr>
          <p:cNvCxnSpPr>
            <a:cxnSpLocks/>
            <a:stCxn id="77" idx="2"/>
            <a:endCxn id="43" idx="0"/>
          </p:cNvCxnSpPr>
          <p:nvPr/>
        </p:nvCxnSpPr>
        <p:spPr>
          <a:xfrm>
            <a:off x="9588579" y="4290402"/>
            <a:ext cx="0" cy="371218"/>
          </a:xfrm>
          <a:prstGeom prst="straightConnector1">
            <a:avLst/>
          </a:prstGeom>
          <a:ln w="28575">
            <a:prstDash val="sysDot"/>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8F7D25CE-187B-F267-0567-D1B91629CA88}"/>
              </a:ext>
            </a:extLst>
          </p:cNvPr>
          <p:cNvGrpSpPr/>
          <p:nvPr/>
        </p:nvGrpSpPr>
        <p:grpSpPr>
          <a:xfrm>
            <a:off x="838200" y="297639"/>
            <a:ext cx="4561953" cy="307138"/>
            <a:chOff x="838200" y="297639"/>
            <a:chExt cx="4561953" cy="307138"/>
          </a:xfrm>
        </p:grpSpPr>
        <p:grpSp>
          <p:nvGrpSpPr>
            <p:cNvPr id="40" name="Group 39">
              <a:extLst>
                <a:ext uri="{FF2B5EF4-FFF2-40B4-BE49-F238E27FC236}">
                  <a16:creationId xmlns:a16="http://schemas.microsoft.com/office/drawing/2014/main" id="{81270F58-5103-BB16-9AA2-17DC0B69C8FC}"/>
                </a:ext>
              </a:extLst>
            </p:cNvPr>
            <p:cNvGrpSpPr/>
            <p:nvPr/>
          </p:nvGrpSpPr>
          <p:grpSpPr>
            <a:xfrm>
              <a:off x="838200" y="297639"/>
              <a:ext cx="1373842" cy="290657"/>
              <a:chOff x="838200" y="297639"/>
              <a:chExt cx="1373842" cy="290657"/>
            </a:xfrm>
          </p:grpSpPr>
          <p:sp>
            <p:nvSpPr>
              <p:cNvPr id="45" name="AutoShape 9">
                <a:extLst>
                  <a:ext uri="{FF2B5EF4-FFF2-40B4-BE49-F238E27FC236}">
                    <a16:creationId xmlns:a16="http://schemas.microsoft.com/office/drawing/2014/main" id="{DAC1B188-D2C2-7F82-EB14-06FF874BD0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48" name="Group 47">
                <a:extLst>
                  <a:ext uri="{FF2B5EF4-FFF2-40B4-BE49-F238E27FC236}">
                    <a16:creationId xmlns:a16="http://schemas.microsoft.com/office/drawing/2014/main" id="{7C0064D2-CFF2-9152-9ACE-A0B2193A5564}"/>
                  </a:ext>
                </a:extLst>
              </p:cNvPr>
              <p:cNvGrpSpPr/>
              <p:nvPr/>
            </p:nvGrpSpPr>
            <p:grpSpPr>
              <a:xfrm>
                <a:off x="838200" y="297639"/>
                <a:ext cx="1060167" cy="290657"/>
                <a:chOff x="826426" y="4041857"/>
                <a:chExt cx="1060167" cy="290657"/>
              </a:xfrm>
            </p:grpSpPr>
            <p:sp>
              <p:nvSpPr>
                <p:cNvPr id="49" name="AutoShape 9">
                  <a:extLst>
                    <a:ext uri="{FF2B5EF4-FFF2-40B4-BE49-F238E27FC236}">
                      <a16:creationId xmlns:a16="http://schemas.microsoft.com/office/drawing/2014/main" id="{A1F3F1C0-8027-7087-EE67-CCF57519EB15}"/>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1" name="AutoShape 11">
                  <a:extLst>
                    <a:ext uri="{FF2B5EF4-FFF2-40B4-BE49-F238E27FC236}">
                      <a16:creationId xmlns:a16="http://schemas.microsoft.com/office/drawing/2014/main" id="{128D7A14-707D-7095-B19A-170DC3B310A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52" name="AutoShape 10">
                  <a:extLst>
                    <a:ext uri="{FF2B5EF4-FFF2-40B4-BE49-F238E27FC236}">
                      <a16:creationId xmlns:a16="http://schemas.microsoft.com/office/drawing/2014/main" id="{E85ACA74-F6F1-0E7E-92D2-1C83E5C139C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41" name="TextBox 40">
              <a:extLst>
                <a:ext uri="{FF2B5EF4-FFF2-40B4-BE49-F238E27FC236}">
                  <a16:creationId xmlns:a16="http://schemas.microsoft.com/office/drawing/2014/main" id="{D1115697-B2F2-83B0-8491-C1DD57774799}"/>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grpSp>
        <p:nvGrpSpPr>
          <p:cNvPr id="9" name="Group 8">
            <a:extLst>
              <a:ext uri="{FF2B5EF4-FFF2-40B4-BE49-F238E27FC236}">
                <a16:creationId xmlns:a16="http://schemas.microsoft.com/office/drawing/2014/main" id="{24E2BF33-B88F-926F-84EF-8B5D8846FEFB}"/>
              </a:ext>
            </a:extLst>
          </p:cNvPr>
          <p:cNvGrpSpPr/>
          <p:nvPr/>
        </p:nvGrpSpPr>
        <p:grpSpPr>
          <a:xfrm>
            <a:off x="5764472" y="3726182"/>
            <a:ext cx="2057400" cy="775484"/>
            <a:chOff x="5764472" y="3726182"/>
            <a:chExt cx="2057400" cy="775484"/>
          </a:xfrm>
        </p:grpSpPr>
        <p:sp>
          <p:nvSpPr>
            <p:cNvPr id="14" name="Rectangle 13">
              <a:extLst>
                <a:ext uri="{FF2B5EF4-FFF2-40B4-BE49-F238E27FC236}">
                  <a16:creationId xmlns:a16="http://schemas.microsoft.com/office/drawing/2014/main" id="{0C061E12-9A39-29FB-284B-D3E55DC222ED}"/>
                </a:ext>
              </a:extLst>
            </p:cNvPr>
            <p:cNvSpPr/>
            <p:nvPr/>
          </p:nvSpPr>
          <p:spPr>
            <a:xfrm>
              <a:off x="5764472" y="3726182"/>
              <a:ext cx="2057400" cy="77548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Develop Action Plan</a:t>
              </a:r>
            </a:p>
          </p:txBody>
        </p:sp>
        <p:sp>
          <p:nvSpPr>
            <p:cNvPr id="17" name="Rectangle 16">
              <a:extLst>
                <a:ext uri="{FF2B5EF4-FFF2-40B4-BE49-F238E27FC236}">
                  <a16:creationId xmlns:a16="http://schemas.microsoft.com/office/drawing/2014/main" id="{01867AE8-14D2-1C33-55E1-DCEF33DB77FE}"/>
                </a:ext>
              </a:extLst>
            </p:cNvPr>
            <p:cNvSpPr/>
            <p:nvPr/>
          </p:nvSpPr>
          <p:spPr>
            <a:xfrm>
              <a:off x="5764472" y="3726182"/>
              <a:ext cx="356617" cy="228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t>11</a:t>
              </a:r>
            </a:p>
          </p:txBody>
        </p:sp>
      </p:grpSp>
      <p:cxnSp>
        <p:nvCxnSpPr>
          <p:cNvPr id="26" name="Straight Arrow Connector 25">
            <a:extLst>
              <a:ext uri="{FF2B5EF4-FFF2-40B4-BE49-F238E27FC236}">
                <a16:creationId xmlns:a16="http://schemas.microsoft.com/office/drawing/2014/main" id="{08FD9E9D-B1E4-5DDA-A4C2-30994F65857A}"/>
              </a:ext>
            </a:extLst>
          </p:cNvPr>
          <p:cNvCxnSpPr>
            <a:cxnSpLocks/>
            <a:stCxn id="14" idx="2"/>
            <a:endCxn id="38" idx="0"/>
          </p:cNvCxnSpPr>
          <p:nvPr/>
        </p:nvCxnSpPr>
        <p:spPr>
          <a:xfrm flipH="1">
            <a:off x="6791400" y="4501666"/>
            <a:ext cx="1772" cy="387742"/>
          </a:xfrm>
          <a:prstGeom prst="straightConnector1">
            <a:avLst/>
          </a:prstGeom>
          <a:ln w="28575">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E47203-99B5-9BC5-F897-A6229CD441A4}"/>
              </a:ext>
            </a:extLst>
          </p:cNvPr>
          <p:cNvGrpSpPr/>
          <p:nvPr/>
        </p:nvGrpSpPr>
        <p:grpSpPr>
          <a:xfrm>
            <a:off x="3188859" y="5850537"/>
            <a:ext cx="5787431" cy="454823"/>
            <a:chOff x="3188859" y="5850537"/>
            <a:chExt cx="5787431" cy="454823"/>
          </a:xfrm>
        </p:grpSpPr>
        <p:sp>
          <p:nvSpPr>
            <p:cNvPr id="59" name="Rectangle 58">
              <a:extLst>
                <a:ext uri="{FF2B5EF4-FFF2-40B4-BE49-F238E27FC236}">
                  <a16:creationId xmlns:a16="http://schemas.microsoft.com/office/drawing/2014/main" id="{A020E4D9-2B82-75CF-D278-B3E2DB9B27D2}"/>
                </a:ext>
              </a:extLst>
            </p:cNvPr>
            <p:cNvSpPr/>
            <p:nvPr/>
          </p:nvSpPr>
          <p:spPr>
            <a:xfrm>
              <a:off x="3887047" y="5850537"/>
              <a:ext cx="1272360" cy="45417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61" name="Rectangle 60">
              <a:extLst>
                <a:ext uri="{FF2B5EF4-FFF2-40B4-BE49-F238E27FC236}">
                  <a16:creationId xmlns:a16="http://schemas.microsoft.com/office/drawing/2014/main" id="{FB9E88DA-2C9C-2358-D314-EB62393DEC5F}"/>
                </a:ext>
              </a:extLst>
            </p:cNvPr>
            <p:cNvSpPr/>
            <p:nvPr/>
          </p:nvSpPr>
          <p:spPr>
            <a:xfrm>
              <a:off x="5159407" y="5850537"/>
              <a:ext cx="1272360" cy="45417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a:t>
              </a:r>
            </a:p>
          </p:txBody>
        </p:sp>
        <p:sp>
          <p:nvSpPr>
            <p:cNvPr id="62" name="Rectangle 61">
              <a:extLst>
                <a:ext uri="{FF2B5EF4-FFF2-40B4-BE49-F238E27FC236}">
                  <a16:creationId xmlns:a16="http://schemas.microsoft.com/office/drawing/2014/main" id="{601B1733-8C2B-C9C5-8B13-BEE5C0B634CD}"/>
                </a:ext>
              </a:extLst>
            </p:cNvPr>
            <p:cNvSpPr/>
            <p:nvPr/>
          </p:nvSpPr>
          <p:spPr>
            <a:xfrm>
              <a:off x="6431570" y="5851183"/>
              <a:ext cx="1272360" cy="45417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Check</a:t>
              </a:r>
            </a:p>
          </p:txBody>
        </p:sp>
        <p:sp>
          <p:nvSpPr>
            <p:cNvPr id="63" name="Rectangle 62">
              <a:extLst>
                <a:ext uri="{FF2B5EF4-FFF2-40B4-BE49-F238E27FC236}">
                  <a16:creationId xmlns:a16="http://schemas.microsoft.com/office/drawing/2014/main" id="{A107FF62-9676-5D2D-F86A-D1C335F0CE04}"/>
                </a:ext>
              </a:extLst>
            </p:cNvPr>
            <p:cNvSpPr/>
            <p:nvPr/>
          </p:nvSpPr>
          <p:spPr>
            <a:xfrm>
              <a:off x="7703930" y="5850537"/>
              <a:ext cx="1272360" cy="454177"/>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Act</a:t>
              </a:r>
            </a:p>
          </p:txBody>
        </p:sp>
        <p:sp>
          <p:nvSpPr>
            <p:cNvPr id="42" name="TextBox 41">
              <a:extLst>
                <a:ext uri="{FF2B5EF4-FFF2-40B4-BE49-F238E27FC236}">
                  <a16:creationId xmlns:a16="http://schemas.microsoft.com/office/drawing/2014/main" id="{133F2B5E-655D-5A98-5A5E-385876E29948}"/>
                </a:ext>
              </a:extLst>
            </p:cNvPr>
            <p:cNvSpPr txBox="1"/>
            <p:nvPr/>
          </p:nvSpPr>
          <p:spPr>
            <a:xfrm>
              <a:off x="3188859" y="5895914"/>
              <a:ext cx="615874" cy="369332"/>
            </a:xfrm>
            <a:prstGeom prst="rect">
              <a:avLst/>
            </a:prstGeom>
            <a:noFill/>
          </p:spPr>
          <p:txBody>
            <a:bodyPr wrap="none" rtlCol="0">
              <a:spAutoFit/>
            </a:bodyPr>
            <a:lstStyle/>
            <a:p>
              <a:r>
                <a:rPr lang="en-US" dirty="0"/>
                <a:t>Key:</a:t>
              </a:r>
            </a:p>
          </p:txBody>
        </p:sp>
      </p:grpSp>
    </p:spTree>
    <p:extLst>
      <p:ext uri="{BB962C8B-B14F-4D97-AF65-F5344CB8AC3E}">
        <p14:creationId xmlns:p14="http://schemas.microsoft.com/office/powerpoint/2010/main" val="38308075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14. Freeze Standard Incorporate Into Daily Management</a:t>
            </a:r>
          </a:p>
        </p:txBody>
      </p:sp>
      <p:grpSp>
        <p:nvGrpSpPr>
          <p:cNvPr id="14" name="Group 13">
            <a:extLst>
              <a:ext uri="{FF2B5EF4-FFF2-40B4-BE49-F238E27FC236}">
                <a16:creationId xmlns:a16="http://schemas.microsoft.com/office/drawing/2014/main" id="{4EFC3E49-C5C1-C8D4-5DE9-69F019621780}"/>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14597299-4A81-C5D2-C446-6772CEA952F0}"/>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862BBAC4-F1D4-11E2-76E6-8C033C1E34DC}"/>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F3BDA9A-E20E-B02A-3C7C-26B35DC98D50}"/>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51631D3-C272-D061-D49A-EE9A32EFC413}"/>
              </a:ext>
            </a:extLst>
          </p:cNvPr>
          <p:cNvSpPr txBox="1"/>
          <p:nvPr/>
        </p:nvSpPr>
        <p:spPr>
          <a:xfrm>
            <a:off x="838200" y="2694627"/>
            <a:ext cx="342348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The new protocol is established as the norm and integrated into regular operations.</a:t>
            </a:r>
          </a:p>
          <a:p>
            <a:pPr marL="285750" indent="-285750">
              <a:buFont typeface="Arial" panose="020B0604020202020204" pitchFamily="34" charset="0"/>
              <a:buChar char="•"/>
            </a:pPr>
            <a:r>
              <a:rPr lang="en-US" dirty="0"/>
              <a:t>Embedding the standard into regular operations and monitoring adherence to ensure long-term sustainability.</a:t>
            </a:r>
          </a:p>
        </p:txBody>
      </p:sp>
      <p:sp>
        <p:nvSpPr>
          <p:cNvPr id="22" name="TextBox 21">
            <a:extLst>
              <a:ext uri="{FF2B5EF4-FFF2-40B4-BE49-F238E27FC236}">
                <a16:creationId xmlns:a16="http://schemas.microsoft.com/office/drawing/2014/main" id="{A95E6BB1-14E8-EDD3-1F7E-E4CDA4BC27B4}"/>
              </a:ext>
            </a:extLst>
          </p:cNvPr>
          <p:cNvSpPr txBox="1"/>
          <p:nvPr/>
        </p:nvSpPr>
        <p:spPr>
          <a:xfrm>
            <a:off x="4384256" y="2694627"/>
            <a:ext cx="3423487" cy="3416320"/>
          </a:xfrm>
          <a:prstGeom prst="rect">
            <a:avLst/>
          </a:prstGeom>
          <a:noFill/>
        </p:spPr>
        <p:txBody>
          <a:bodyPr wrap="square" rtlCol="0">
            <a:spAutoFit/>
          </a:bodyPr>
          <a:lstStyle/>
          <a:p>
            <a:pPr marL="285750" indent="-285750">
              <a:buFont typeface="Arial" panose="020B0604020202020204" pitchFamily="34" charset="0"/>
              <a:buChar char="•"/>
            </a:pPr>
            <a:r>
              <a:rPr lang="en-US" dirty="0"/>
              <a:t>To ensure that improvements are maintained over time, preventing regression to old habits or practices. By incorporating the standard into daily management, it becomes part of the organization's routine, ensuring continuous compliance and facilitating ongoing improvement.</a:t>
            </a:r>
          </a:p>
        </p:txBody>
      </p:sp>
      <p:sp>
        <p:nvSpPr>
          <p:cNvPr id="3" name="TextBox 2">
            <a:extLst>
              <a:ext uri="{FF2B5EF4-FFF2-40B4-BE49-F238E27FC236}">
                <a16:creationId xmlns:a16="http://schemas.microsoft.com/office/drawing/2014/main" id="{3E667AD7-A438-25A8-276B-6109B9F1B9E4}"/>
              </a:ext>
            </a:extLst>
          </p:cNvPr>
          <p:cNvSpPr txBox="1"/>
          <p:nvPr/>
        </p:nvSpPr>
        <p:spPr>
          <a:xfrm>
            <a:off x="7930312" y="2694627"/>
            <a:ext cx="3807320" cy="3447098"/>
          </a:xfrm>
          <a:prstGeom prst="rect">
            <a:avLst/>
          </a:prstGeom>
          <a:noFill/>
        </p:spPr>
        <p:txBody>
          <a:bodyPr wrap="square" rtlCol="0">
            <a:spAutoFit/>
          </a:bodyPr>
          <a:lstStyle/>
          <a:p>
            <a:pPr marL="285750" indent="-285750">
              <a:buFont typeface="Arial" panose="020B0604020202020204" pitchFamily="34" charset="0"/>
              <a:buChar char="•"/>
            </a:pPr>
            <a:r>
              <a:rPr lang="en-US" dirty="0"/>
              <a:t>Customer Service:</a:t>
            </a:r>
          </a:p>
          <a:p>
            <a:pPr marL="742950" lvl="1" indent="-285750">
              <a:buFont typeface="Arial" panose="020B0604020202020204" pitchFamily="34" charset="0"/>
              <a:buChar char="•"/>
            </a:pPr>
            <a:r>
              <a:rPr lang="en-US" sz="1400" dirty="0"/>
              <a:t>Standard: A new script for handling customer complaints.</a:t>
            </a:r>
          </a:p>
          <a:p>
            <a:pPr marL="742950" lvl="1" indent="-285750">
              <a:buFont typeface="Arial" panose="020B0604020202020204" pitchFamily="34" charset="0"/>
              <a:buChar char="•"/>
            </a:pPr>
            <a:r>
              <a:rPr lang="en-US" sz="1400" dirty="0"/>
              <a:t>Incorporation: Training all customer service representatives and incorporating the script into the performance evaluation criteria.</a:t>
            </a:r>
            <a:endParaRPr lang="en-US" dirty="0"/>
          </a:p>
          <a:p>
            <a:pPr marL="285750" indent="-285750">
              <a:buFont typeface="Arial" panose="020B0604020202020204" pitchFamily="34" charset="0"/>
              <a:buChar char="•"/>
            </a:pPr>
            <a:r>
              <a:rPr lang="en-US" dirty="0"/>
              <a:t>Administrative Procedures:</a:t>
            </a:r>
          </a:p>
          <a:p>
            <a:pPr marL="742950" lvl="1" indent="-285750">
              <a:buFont typeface="Arial" panose="020B0604020202020204" pitchFamily="34" charset="0"/>
              <a:buChar char="•"/>
            </a:pPr>
            <a:r>
              <a:rPr lang="en-US" sz="1400" dirty="0"/>
              <a:t>Standard: A new process for document approval within 24 hours.</a:t>
            </a:r>
          </a:p>
          <a:p>
            <a:pPr marL="742950" lvl="1" indent="-285750">
              <a:buFont typeface="Arial" panose="020B0604020202020204" pitchFamily="34" charset="0"/>
              <a:buChar char="•"/>
            </a:pPr>
            <a:r>
              <a:rPr lang="en-US" sz="1400" dirty="0"/>
              <a:t>Incorporation: Implementing the process in the workflow management software and monitoring compliance through regular audits.</a:t>
            </a:r>
          </a:p>
        </p:txBody>
      </p:sp>
      <p:grpSp>
        <p:nvGrpSpPr>
          <p:cNvPr id="5" name="Group 4">
            <a:extLst>
              <a:ext uri="{FF2B5EF4-FFF2-40B4-BE49-F238E27FC236}">
                <a16:creationId xmlns:a16="http://schemas.microsoft.com/office/drawing/2014/main" id="{1764C5FF-B86D-E49A-9208-D20FC23360C9}"/>
              </a:ext>
            </a:extLst>
          </p:cNvPr>
          <p:cNvGrpSpPr/>
          <p:nvPr/>
        </p:nvGrpSpPr>
        <p:grpSpPr>
          <a:xfrm>
            <a:off x="838200" y="297639"/>
            <a:ext cx="4561953" cy="307138"/>
            <a:chOff x="838200" y="297639"/>
            <a:chExt cx="4561953" cy="307138"/>
          </a:xfrm>
        </p:grpSpPr>
        <p:grpSp>
          <p:nvGrpSpPr>
            <p:cNvPr id="16" name="Group 15">
              <a:extLst>
                <a:ext uri="{FF2B5EF4-FFF2-40B4-BE49-F238E27FC236}">
                  <a16:creationId xmlns:a16="http://schemas.microsoft.com/office/drawing/2014/main" id="{948BE035-44FC-3565-76C1-3B644D844129}"/>
                </a:ext>
              </a:extLst>
            </p:cNvPr>
            <p:cNvGrpSpPr/>
            <p:nvPr/>
          </p:nvGrpSpPr>
          <p:grpSpPr>
            <a:xfrm>
              <a:off x="838200" y="297639"/>
              <a:ext cx="1373842" cy="290657"/>
              <a:chOff x="838200" y="297639"/>
              <a:chExt cx="1373842" cy="290657"/>
            </a:xfrm>
          </p:grpSpPr>
          <p:sp>
            <p:nvSpPr>
              <p:cNvPr id="20" name="AutoShape 9">
                <a:extLst>
                  <a:ext uri="{FF2B5EF4-FFF2-40B4-BE49-F238E27FC236}">
                    <a16:creationId xmlns:a16="http://schemas.microsoft.com/office/drawing/2014/main" id="{9A63BD74-580B-CF7A-52E8-A496A71AC8A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5F201FF2-538D-050C-8D93-1A89D8CEB078}"/>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EADB09A-03C1-556F-ABC4-D14300646D18}"/>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5" name="AutoShape 11">
                  <a:extLst>
                    <a:ext uri="{FF2B5EF4-FFF2-40B4-BE49-F238E27FC236}">
                      <a16:creationId xmlns:a16="http://schemas.microsoft.com/office/drawing/2014/main" id="{795FE087-0E5F-9A86-6C76-25A2801D05B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C0BA7E82-0BC1-C8F4-53A5-91251E09171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7068DAF4-71C8-A2ED-7548-AEC3775B06CB}"/>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grpSp>
    </p:spTree>
    <p:extLst>
      <p:ext uri="{BB962C8B-B14F-4D97-AF65-F5344CB8AC3E}">
        <p14:creationId xmlns:p14="http://schemas.microsoft.com/office/powerpoint/2010/main" val="193504136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Summary</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433925"/>
            <a:ext cx="10515600" cy="4351338"/>
          </a:xfrm>
        </p:spPr>
        <p:txBody>
          <a:bodyPr>
            <a:normAutofit fontScale="92500" lnSpcReduction="20000"/>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Effective Problem Description:</a:t>
            </a:r>
          </a:p>
          <a:p>
            <a:pPr lvl="1"/>
            <a:r>
              <a:rPr lang="en-US" sz="2100" dirty="0"/>
              <a:t>Collect data using graphical and quantitative tools.</a:t>
            </a:r>
          </a:p>
          <a:p>
            <a:pPr lvl="1"/>
            <a:r>
              <a:rPr lang="en-US" sz="2100" dirty="0"/>
              <a:t>Write clear, specific problem statements based on data.</a:t>
            </a:r>
          </a:p>
          <a:p>
            <a:r>
              <a:rPr lang="en-US" sz="2400" dirty="0"/>
              <a:t>Root Cause Analysis:</a:t>
            </a:r>
          </a:p>
          <a:p>
            <a:pPr lvl="1"/>
            <a:r>
              <a:rPr lang="en-US" sz="2100" dirty="0"/>
              <a:t>Use tools like Fishbone Analysis, Pareto Analysis, and 5 Why Analysis.</a:t>
            </a:r>
          </a:p>
          <a:p>
            <a:pPr lvl="1"/>
            <a:r>
              <a:rPr lang="en-US" sz="2100" dirty="0"/>
              <a:t>Involve Subject Matter Experts to verify root causes.</a:t>
            </a:r>
          </a:p>
          <a:p>
            <a:r>
              <a:rPr lang="en-US" sz="2400" dirty="0"/>
              <a:t>Implement and Monitor Countermeasures:</a:t>
            </a:r>
          </a:p>
          <a:p>
            <a:pPr lvl="1"/>
            <a:r>
              <a:rPr lang="en-US" sz="2100" dirty="0"/>
              <a:t>Develop and document short-term and long-term countermeasures.</a:t>
            </a:r>
          </a:p>
          <a:p>
            <a:pPr lvl="1"/>
            <a:r>
              <a:rPr lang="en-US" sz="2100" dirty="0"/>
              <a:t>Use the Countermeasure Form to track actions and results.</a:t>
            </a:r>
          </a:p>
          <a:p>
            <a:r>
              <a:rPr lang="en-US" sz="2400" dirty="0"/>
              <a:t>Sustain Improvements:</a:t>
            </a:r>
          </a:p>
          <a:p>
            <a:pPr lvl="1"/>
            <a:r>
              <a:rPr lang="en-US" sz="2100" dirty="0"/>
              <a:t>Establish processes for reviewing and updating improvements.</a:t>
            </a:r>
          </a:p>
          <a:p>
            <a:pPr lvl="1"/>
            <a:r>
              <a:rPr lang="en-US" sz="2100" dirty="0"/>
              <a:t>Standardize and document improved processes for sustainability.</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4FEFA1B2-0726-A88B-FBD6-0E74CECDBBA3}"/>
              </a:ext>
            </a:extLst>
          </p:cNvPr>
          <p:cNvGrpSpPr/>
          <p:nvPr/>
        </p:nvGrpSpPr>
        <p:grpSpPr>
          <a:xfrm>
            <a:off x="699911" y="837133"/>
            <a:ext cx="5908575" cy="659879"/>
            <a:chOff x="699911" y="1069861"/>
            <a:chExt cx="5908575" cy="350130"/>
          </a:xfrm>
        </p:grpSpPr>
        <p:sp>
          <p:nvSpPr>
            <p:cNvPr id="7" name="AutoShape 9">
              <a:extLst>
                <a:ext uri="{FF2B5EF4-FFF2-40B4-BE49-F238E27FC236}">
                  <a16:creationId xmlns:a16="http://schemas.microsoft.com/office/drawing/2014/main" id="{F9D2E0E3-2A5A-FA3F-523E-3D810312235F}"/>
                </a:ext>
              </a:extLst>
            </p:cNvPr>
            <p:cNvSpPr>
              <a:spLocks noChangeArrowheads="1"/>
            </p:cNvSpPr>
            <p:nvPr/>
          </p:nvSpPr>
          <p:spPr bwMode="auto">
            <a:xfrm>
              <a:off x="4971710" y="1069861"/>
              <a:ext cx="16367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cs typeface="Roboto" panose="02000000000000000000" pitchFamily="2" charset="0"/>
                </a:rPr>
                <a:t>Summary</a:t>
              </a:r>
            </a:p>
          </p:txBody>
        </p:sp>
        <p:grpSp>
          <p:nvGrpSpPr>
            <p:cNvPr id="8" name="Group 7">
              <a:extLst>
                <a:ext uri="{FF2B5EF4-FFF2-40B4-BE49-F238E27FC236}">
                  <a16:creationId xmlns:a16="http://schemas.microsoft.com/office/drawing/2014/main" id="{1157C199-7442-CD49-CE0F-E180C6F3CECC}"/>
                </a:ext>
              </a:extLst>
            </p:cNvPr>
            <p:cNvGrpSpPr/>
            <p:nvPr/>
          </p:nvGrpSpPr>
          <p:grpSpPr>
            <a:xfrm>
              <a:off x="699911" y="1069861"/>
              <a:ext cx="4484451" cy="350130"/>
              <a:chOff x="5627529" y="641179"/>
              <a:chExt cx="6651237"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7" y="641179"/>
                <a:ext cx="242762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Process</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427629"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 Tools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29" y="641179"/>
                <a:ext cx="2426619"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Introduction to </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Problem-Solving</a:t>
                </a:r>
              </a:p>
            </p:txBody>
          </p:sp>
        </p:grpSp>
      </p:grpSp>
    </p:spTree>
    <p:extLst>
      <p:ext uri="{BB962C8B-B14F-4D97-AF65-F5344CB8AC3E}">
        <p14:creationId xmlns:p14="http://schemas.microsoft.com/office/powerpoint/2010/main" val="41401965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dirty="0"/>
              <a:t>Depending on the complexity of the problem, a problem may be assigned to an individual or a team for resolution.</a:t>
            </a:r>
          </a:p>
          <a:p>
            <a:r>
              <a:rPr lang="en-US" dirty="0"/>
              <a:t>In order to effectively describe the problem, it is necessary to collect data using graphical, quantitative tools.</a:t>
            </a:r>
          </a:p>
          <a:p>
            <a:r>
              <a:rPr lang="en-US" dirty="0"/>
              <a:t>When writing the current condition, (1) avoid trying to identify potential solutions, (2) effectively scope the problem, and (3) avoid writing vague statements that are easily misunderstood.</a:t>
            </a:r>
          </a:p>
          <a:p>
            <a:r>
              <a:rPr lang="en-US" dirty="0"/>
              <a:t>A good problem statement describes in specific terms what the data reveals from the data collection effort. It should also describe the target to be achieved based on customer requirements.</a:t>
            </a:r>
          </a:p>
          <a:p>
            <a:r>
              <a:rPr lang="en-US" dirty="0"/>
              <a:t>The Countermeasure Form is a tool that captures the output of the problem-solving thinking process and is used to track and manage the results of the problem-solving actions.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114</a:t>
            </a:fld>
            <a:endParaRPr lang="en-US"/>
          </a:p>
        </p:txBody>
      </p:sp>
      <p:grpSp>
        <p:nvGrpSpPr>
          <p:cNvPr id="14" name="Group 13">
            <a:extLst>
              <a:ext uri="{FF2B5EF4-FFF2-40B4-BE49-F238E27FC236}">
                <a16:creationId xmlns:a16="http://schemas.microsoft.com/office/drawing/2014/main" id="{5A2E5C33-2EAC-A591-7557-6B6363F4BEFB}"/>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E8B38E57-2CFF-65D4-4915-0D483C1C0CA8}"/>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BEF250A8-10BE-AF03-9D60-649C6FE4482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8" name="Group 17">
                <a:extLst>
                  <a:ext uri="{FF2B5EF4-FFF2-40B4-BE49-F238E27FC236}">
                    <a16:creationId xmlns:a16="http://schemas.microsoft.com/office/drawing/2014/main" id="{9500ABDD-3F89-FB56-1DE7-EB493C2832E2}"/>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FA62B049-0540-82AC-F2D9-AEFD0A3EA90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4BD7EAD5-0CA3-1D60-2EF4-40FD355E0EF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FF897A95-FF61-3F69-DB1C-D08B3777B62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BC60CD9C-0847-D6B5-B9A4-2A10995266DA}"/>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spTree>
    <p:extLst>
      <p:ext uri="{BB962C8B-B14F-4D97-AF65-F5344CB8AC3E}">
        <p14:creationId xmlns:p14="http://schemas.microsoft.com/office/powerpoint/2010/main" val="228454587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Containment, or the development of short-term countermeasures, is a natural response to problems.</a:t>
            </a:r>
          </a:p>
          <a:p>
            <a:r>
              <a:rPr lang="en-US" dirty="0"/>
              <a:t>To be successful, containment must be organized and conducted correctly.</a:t>
            </a:r>
          </a:p>
          <a:p>
            <a:pPr lvl="1"/>
            <a:r>
              <a:rPr lang="en-US" dirty="0"/>
              <a:t>Isolate the problem.</a:t>
            </a:r>
          </a:p>
          <a:p>
            <a:pPr lvl="1"/>
            <a:r>
              <a:rPr lang="en-US" dirty="0"/>
              <a:t>Document all actions.</a:t>
            </a:r>
          </a:p>
          <a:p>
            <a:pPr lvl="1"/>
            <a:r>
              <a:rPr lang="en-US" dirty="0"/>
              <a:t>Review the scope of the containment actions.</a:t>
            </a:r>
          </a:p>
          <a:p>
            <a:pPr lvl="1"/>
            <a:r>
              <a:rPr lang="en-US" dirty="0"/>
              <a:t>Be prepared to treat the problem as a formal project.</a:t>
            </a:r>
          </a:p>
          <a:p>
            <a:pPr lvl="1"/>
            <a:r>
              <a:rPr lang="en-US" dirty="0"/>
              <a:t>Constantly monitor the effectiveness of the containment plan.</a:t>
            </a:r>
          </a:p>
          <a:p>
            <a:r>
              <a:rPr lang="en-US" dirty="0"/>
              <a:t>Use the Countermeasure Form to document and manage </a:t>
            </a:r>
            <a:br>
              <a:rPr lang="en-US" dirty="0"/>
            </a:br>
            <a:r>
              <a:rPr lang="en-US" dirty="0"/>
              <a:t>the containment actions.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115</a:t>
            </a:fld>
            <a:endParaRPr lang="en-US"/>
          </a:p>
        </p:txBody>
      </p:sp>
      <p:grpSp>
        <p:nvGrpSpPr>
          <p:cNvPr id="14" name="Group 13">
            <a:extLst>
              <a:ext uri="{FF2B5EF4-FFF2-40B4-BE49-F238E27FC236}">
                <a16:creationId xmlns:a16="http://schemas.microsoft.com/office/drawing/2014/main" id="{0E81A2ED-49FD-CFDE-0F4C-0C773189EB99}"/>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C515C73E-6C29-1168-3047-CA94435DBE95}"/>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DDBE74EB-502A-9687-542F-C274F264B403}"/>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8" name="Group 17">
                <a:extLst>
                  <a:ext uri="{FF2B5EF4-FFF2-40B4-BE49-F238E27FC236}">
                    <a16:creationId xmlns:a16="http://schemas.microsoft.com/office/drawing/2014/main" id="{D048FAED-BA2D-AEFF-C57A-204EC823A5D2}"/>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8F8E9C53-066A-14DE-2B32-D4AF84E29E4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1DDE11C3-C82B-BA13-D30A-B8229288BCE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5B48D351-5B68-BC85-7DC8-694EBC06FC5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8218BBB3-DE06-B050-CF5F-D67E6D4F84F4}"/>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spTree>
    <p:extLst>
      <p:ext uri="{BB962C8B-B14F-4D97-AF65-F5344CB8AC3E}">
        <p14:creationId xmlns:p14="http://schemas.microsoft.com/office/powerpoint/2010/main" val="41344007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dirty="0"/>
              <a:t>Finding the root cause is a structured technique that focuses on finding the causes of a problem so that the right solution can be put in place to eliminate the problem.</a:t>
            </a:r>
          </a:p>
          <a:p>
            <a:r>
              <a:rPr lang="en-US" dirty="0"/>
              <a:t>Use the following tools together in your root cause analysis: Fishbone Analysis, Pareto Analysis, 5 Why Analysis.</a:t>
            </a:r>
          </a:p>
          <a:p>
            <a:r>
              <a:rPr lang="en-US" dirty="0"/>
              <a:t>It is critical to involve Subject Matter Experts to assist with the listing and filtering of causes.</a:t>
            </a:r>
          </a:p>
          <a:p>
            <a:r>
              <a:rPr lang="en-US" dirty="0"/>
              <a:t>Verify the root cause or causes through observation and testing as needed. For more complex problems, tools such as Design of Experiments may be required.</a:t>
            </a:r>
          </a:p>
          <a:p>
            <a:r>
              <a:rPr lang="en-US" dirty="0"/>
              <a:t>The Countermeasure Form tracks and documents the flow of </a:t>
            </a:r>
            <a:br>
              <a:rPr lang="en-US" dirty="0"/>
            </a:br>
            <a:r>
              <a:rPr lang="en-US" dirty="0"/>
              <a:t>problem-solving thinking.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116</a:t>
            </a:fld>
            <a:endParaRPr lang="en-US"/>
          </a:p>
        </p:txBody>
      </p:sp>
      <p:grpSp>
        <p:nvGrpSpPr>
          <p:cNvPr id="14" name="Group 13">
            <a:extLst>
              <a:ext uri="{FF2B5EF4-FFF2-40B4-BE49-F238E27FC236}">
                <a16:creationId xmlns:a16="http://schemas.microsoft.com/office/drawing/2014/main" id="{AB171544-0C8D-3DC0-B45E-3E2C68740F93}"/>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312C33C9-ACA8-6E88-AA07-BAFBD4887373}"/>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DF216C78-E075-52A1-9974-5486591D333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8" name="Group 17">
                <a:extLst>
                  <a:ext uri="{FF2B5EF4-FFF2-40B4-BE49-F238E27FC236}">
                    <a16:creationId xmlns:a16="http://schemas.microsoft.com/office/drawing/2014/main" id="{3362CC9F-24D8-C208-DAE2-52DB7D18DA7F}"/>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FBC1D06A-9A38-6839-25B5-EFBA57A8B00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E3BC53B2-30FA-66BC-29D7-8D26DDD3E83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B6F40347-328F-7215-7713-B71D62442AB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BB99A621-89A4-DB5C-4BE3-C0105AE94FC1}"/>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spTree>
    <p:extLst>
      <p:ext uri="{BB962C8B-B14F-4D97-AF65-F5344CB8AC3E}">
        <p14:creationId xmlns:p14="http://schemas.microsoft.com/office/powerpoint/2010/main" val="26557742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Idea generation should be based on reducing or eliminating root causes found during analysis. The three steps to idea creation are Generate, Clarify, and Evaluate.</a:t>
            </a:r>
          </a:p>
          <a:p>
            <a:r>
              <a:rPr lang="en-US" dirty="0"/>
              <a:t>An excellent way to determine the source of solutions is through the technique of team brainstorming, which allows team members to build on one another’s ideas.</a:t>
            </a:r>
          </a:p>
          <a:p>
            <a:r>
              <a:rPr lang="en-US" dirty="0"/>
              <a:t>There should be no criticism and no constraints when brainstorming. Go for quantity while building on existing ideas.</a:t>
            </a:r>
          </a:p>
          <a:p>
            <a:r>
              <a:rPr lang="en-US" dirty="0"/>
              <a:t>Determine the criteria which will help your team to select the best solution for the situation. Multiple techniques and tools exist to help reduce and select the most appropriate solution.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117</a:t>
            </a:fld>
            <a:endParaRPr lang="en-US"/>
          </a:p>
        </p:txBody>
      </p:sp>
      <p:grpSp>
        <p:nvGrpSpPr>
          <p:cNvPr id="14" name="Group 13">
            <a:extLst>
              <a:ext uri="{FF2B5EF4-FFF2-40B4-BE49-F238E27FC236}">
                <a16:creationId xmlns:a16="http://schemas.microsoft.com/office/drawing/2014/main" id="{61762956-3647-39F3-BCC7-4B15859E8B7B}"/>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53A153E0-D3DB-D4C4-04E9-4175EDD7364C}"/>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8A0983AF-FBCB-F791-865E-8AC0DFA7903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8" name="Group 17">
                <a:extLst>
                  <a:ext uri="{FF2B5EF4-FFF2-40B4-BE49-F238E27FC236}">
                    <a16:creationId xmlns:a16="http://schemas.microsoft.com/office/drawing/2014/main" id="{53305DEB-64E3-B48E-7652-A92E76937EC5}"/>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A9D81F15-730E-3AF9-CD26-DB181A336C6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B9B70A91-EEFA-FC47-25AE-45BF1022BF3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0E28FD0E-3664-4D88-9A3B-0891E3E954C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3DC833CD-1DA1-14D9-07B4-6CA6E77D02B0}"/>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spTree>
    <p:extLst>
      <p:ext uri="{BB962C8B-B14F-4D97-AF65-F5344CB8AC3E}">
        <p14:creationId xmlns:p14="http://schemas.microsoft.com/office/powerpoint/2010/main" val="742318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Summary (Cont.)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In order to effectively sustain the improvements that were gained from the implemented solutions, the following are key considerations to follow:</a:t>
            </a:r>
          </a:p>
          <a:p>
            <a:pPr lvl="1"/>
            <a:r>
              <a:rPr lang="en-US" dirty="0"/>
              <a:t>Establish a process for updating and reviewing improvement actions.</a:t>
            </a:r>
          </a:p>
          <a:p>
            <a:pPr lvl="1"/>
            <a:r>
              <a:rPr lang="en-US" dirty="0"/>
              <a:t>Ensure that clear roles and responsibilities are defined and assigned.</a:t>
            </a:r>
          </a:p>
          <a:p>
            <a:pPr lvl="1"/>
            <a:r>
              <a:rPr lang="en-US" dirty="0"/>
              <a:t>Update metrics daily/weekly to show progress.</a:t>
            </a:r>
          </a:p>
          <a:p>
            <a:pPr lvl="1"/>
            <a:r>
              <a:rPr lang="en-US" dirty="0"/>
              <a:t>Include other associates as needed.</a:t>
            </a:r>
          </a:p>
          <a:p>
            <a:pPr lvl="1"/>
            <a:r>
              <a:rPr lang="en-US" dirty="0"/>
              <a:t>Standardize improved processes for similar business needs.</a:t>
            </a:r>
          </a:p>
          <a:p>
            <a:pPr lvl="1"/>
            <a:r>
              <a:rPr lang="en-US" dirty="0"/>
              <a:t>Ensure improvements are sustainable and well-documented.</a:t>
            </a:r>
          </a:p>
          <a:p>
            <a:r>
              <a:rPr lang="en-US" dirty="0"/>
              <a:t>The Plan Do Check Act (PDCA) Model is a cycle. The only way for problem resolution to be successful is through the rigorous employment of this cycle. Continuous improvement never ends.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118</a:t>
            </a:fld>
            <a:endParaRPr lang="en-US"/>
          </a:p>
        </p:txBody>
      </p:sp>
      <p:grpSp>
        <p:nvGrpSpPr>
          <p:cNvPr id="14" name="Group 13">
            <a:extLst>
              <a:ext uri="{FF2B5EF4-FFF2-40B4-BE49-F238E27FC236}">
                <a16:creationId xmlns:a16="http://schemas.microsoft.com/office/drawing/2014/main" id="{A77D3078-ACD0-A245-D926-471B5F6096D9}"/>
              </a:ext>
            </a:extLst>
          </p:cNvPr>
          <p:cNvGrpSpPr/>
          <p:nvPr/>
        </p:nvGrpSpPr>
        <p:grpSpPr>
          <a:xfrm>
            <a:off x="838200" y="297639"/>
            <a:ext cx="4561953" cy="307138"/>
            <a:chOff x="838200" y="297639"/>
            <a:chExt cx="4561953" cy="307138"/>
          </a:xfrm>
        </p:grpSpPr>
        <p:grpSp>
          <p:nvGrpSpPr>
            <p:cNvPr id="15" name="Group 14">
              <a:extLst>
                <a:ext uri="{FF2B5EF4-FFF2-40B4-BE49-F238E27FC236}">
                  <a16:creationId xmlns:a16="http://schemas.microsoft.com/office/drawing/2014/main" id="{4634AFAF-703B-BB64-81A3-5697D4BFF6AB}"/>
                </a:ext>
              </a:extLst>
            </p:cNvPr>
            <p:cNvGrpSpPr/>
            <p:nvPr/>
          </p:nvGrpSpPr>
          <p:grpSpPr>
            <a:xfrm>
              <a:off x="838200" y="297639"/>
              <a:ext cx="1373842" cy="290657"/>
              <a:chOff x="838200" y="297639"/>
              <a:chExt cx="1373842" cy="290657"/>
            </a:xfrm>
          </p:grpSpPr>
          <p:sp>
            <p:nvSpPr>
              <p:cNvPr id="17" name="AutoShape 9">
                <a:extLst>
                  <a:ext uri="{FF2B5EF4-FFF2-40B4-BE49-F238E27FC236}">
                    <a16:creationId xmlns:a16="http://schemas.microsoft.com/office/drawing/2014/main" id="{DDA0452B-2E67-BA1E-90FF-3AF3F281BFE9}"/>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8" name="Group 17">
                <a:extLst>
                  <a:ext uri="{FF2B5EF4-FFF2-40B4-BE49-F238E27FC236}">
                    <a16:creationId xmlns:a16="http://schemas.microsoft.com/office/drawing/2014/main" id="{057FEE38-CC27-9EEC-D5E7-6BE003E77056}"/>
                  </a:ext>
                </a:extLst>
              </p:cNvPr>
              <p:cNvGrpSpPr/>
              <p:nvPr/>
            </p:nvGrpSpPr>
            <p:grpSpPr>
              <a:xfrm>
                <a:off x="838200" y="297639"/>
                <a:ext cx="1060167" cy="290657"/>
                <a:chOff x="826426" y="4041857"/>
                <a:chExt cx="1060167" cy="290657"/>
              </a:xfrm>
            </p:grpSpPr>
            <p:sp>
              <p:nvSpPr>
                <p:cNvPr id="19" name="AutoShape 9">
                  <a:extLst>
                    <a:ext uri="{FF2B5EF4-FFF2-40B4-BE49-F238E27FC236}">
                      <a16:creationId xmlns:a16="http://schemas.microsoft.com/office/drawing/2014/main" id="{8F75C77F-1A24-71A8-8F39-33551ADD6F0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1">
                  <a:extLst>
                    <a:ext uri="{FF2B5EF4-FFF2-40B4-BE49-F238E27FC236}">
                      <a16:creationId xmlns:a16="http://schemas.microsoft.com/office/drawing/2014/main" id="{C49A0F21-572A-F884-8CBE-1BF60D03FFE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0">
                  <a:extLst>
                    <a:ext uri="{FF2B5EF4-FFF2-40B4-BE49-F238E27FC236}">
                      <a16:creationId xmlns:a16="http://schemas.microsoft.com/office/drawing/2014/main" id="{54B10B90-CCE1-AAF7-3D58-F020A56C385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6C604DE6-25E8-4F31-8973-B87942496933}"/>
                </a:ext>
              </a:extLst>
            </p:cNvPr>
            <p:cNvSpPr txBox="1"/>
            <p:nvPr/>
          </p:nvSpPr>
          <p:spPr>
            <a:xfrm>
              <a:off x="2245160" y="313415"/>
              <a:ext cx="315499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Summary</a:t>
              </a:r>
            </a:p>
          </p:txBody>
        </p:sp>
      </p:grpSp>
    </p:spTree>
    <p:extLst>
      <p:ext uri="{BB962C8B-B14F-4D97-AF65-F5344CB8AC3E}">
        <p14:creationId xmlns:p14="http://schemas.microsoft.com/office/powerpoint/2010/main" val="355874863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5713E-29EE-26A5-D2AE-59F0EDAC6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0510F-4115-9507-0D5E-DFB287A9F1FA}"/>
              </a:ext>
            </a:extLst>
          </p:cNvPr>
          <p:cNvSpPr>
            <a:spLocks noGrp="1"/>
          </p:cNvSpPr>
          <p:nvPr>
            <p:ph type="title"/>
          </p:nvPr>
        </p:nvSpPr>
        <p:spPr/>
        <p:txBody>
          <a:bodyPr/>
          <a:lstStyle/>
          <a:p>
            <a:r>
              <a:rPr lang="en-US" dirty="0"/>
              <a:t>Pareto Diagram</a:t>
            </a:r>
          </a:p>
        </p:txBody>
      </p:sp>
      <p:grpSp>
        <p:nvGrpSpPr>
          <p:cNvPr id="14" name="Group 13">
            <a:extLst>
              <a:ext uri="{FF2B5EF4-FFF2-40B4-BE49-F238E27FC236}">
                <a16:creationId xmlns:a16="http://schemas.microsoft.com/office/drawing/2014/main" id="{8F8AC576-B9B9-9E6B-D3D5-559297D617FE}"/>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4479CDB0-78D9-453B-2FE9-0BF30F39D9BD}"/>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EC50ED08-9EBF-FD6D-99E9-482100A7CEED}"/>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930653A2-220A-477D-C093-3B95BD0CD8C8}"/>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558EF4A9-D83F-157D-C045-E0CD6FC8FE5A}"/>
              </a:ext>
            </a:extLst>
          </p:cNvPr>
          <p:cNvSpPr txBox="1"/>
          <p:nvPr/>
        </p:nvSpPr>
        <p:spPr>
          <a:xfrm>
            <a:off x="838200"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A type of bar chart that displays the frequency of occurrences by category, ordered from highest to lowest. </a:t>
            </a:r>
          </a:p>
          <a:p>
            <a:pPr marL="285750" indent="-285750">
              <a:buFont typeface="Arial" panose="020B0604020202020204" pitchFamily="34" charset="0"/>
              <a:buChar char="•"/>
            </a:pPr>
            <a:r>
              <a:rPr lang="en-US" sz="1600" dirty="0"/>
              <a:t>Based on the Pareto principle (also known as the 80/20 rule), which suggests that roughly 80% of the effects come from 20% of the causes. </a:t>
            </a:r>
          </a:p>
        </p:txBody>
      </p:sp>
      <p:sp>
        <p:nvSpPr>
          <p:cNvPr id="22" name="TextBox 21">
            <a:extLst>
              <a:ext uri="{FF2B5EF4-FFF2-40B4-BE49-F238E27FC236}">
                <a16:creationId xmlns:a16="http://schemas.microsoft.com/office/drawing/2014/main" id="{876CFC7A-857D-D268-A5B0-7A16E730B9B3}"/>
              </a:ext>
            </a:extLst>
          </p:cNvPr>
          <p:cNvSpPr txBox="1"/>
          <p:nvPr/>
        </p:nvSpPr>
        <p:spPr>
          <a:xfrm>
            <a:off x="4384256" y="2892056"/>
            <a:ext cx="342348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Helps focus efforts on the areas that will have the greatest impact on improving a system.</a:t>
            </a:r>
          </a:p>
        </p:txBody>
      </p:sp>
      <p:sp>
        <p:nvSpPr>
          <p:cNvPr id="23" name="TextBox 22">
            <a:extLst>
              <a:ext uri="{FF2B5EF4-FFF2-40B4-BE49-F238E27FC236}">
                <a16:creationId xmlns:a16="http://schemas.microsoft.com/office/drawing/2014/main" id="{AEA11EB2-5765-E01C-D581-2804297F11BA}"/>
              </a:ext>
            </a:extLst>
          </p:cNvPr>
          <p:cNvSpPr txBox="1"/>
          <p:nvPr/>
        </p:nvSpPr>
        <p:spPr>
          <a:xfrm>
            <a:off x="7930313" y="2892056"/>
            <a:ext cx="4123142" cy="3293209"/>
          </a:xfrm>
          <a:prstGeom prst="rect">
            <a:avLst/>
          </a:prstGeom>
          <a:noFill/>
        </p:spPr>
        <p:txBody>
          <a:bodyPr wrap="square" rtlCol="0">
            <a:spAutoFit/>
          </a:bodyPr>
          <a:lstStyle/>
          <a:p>
            <a:pPr marL="285750" indent="-285750">
              <a:buFont typeface="Arial" panose="020B0604020202020204" pitchFamily="34" charset="0"/>
              <a:buChar char="•"/>
            </a:pPr>
            <a:r>
              <a:rPr lang="en-US" sz="1600" b="1" dirty="0"/>
              <a:t>Customer Complaints in a Call Center:</a:t>
            </a:r>
          </a:p>
          <a:p>
            <a:pPr marL="742950" lvl="1" indent="-285750">
              <a:buFont typeface="Arial" panose="020B0604020202020204" pitchFamily="34" charset="0"/>
              <a:buChar char="•"/>
            </a:pPr>
            <a:r>
              <a:rPr lang="en-US" sz="1600" dirty="0"/>
              <a:t>Analyzing types of customer complaints received.</a:t>
            </a:r>
          </a:p>
          <a:p>
            <a:pPr marL="285750" indent="-285750">
              <a:buFont typeface="Arial" panose="020B0604020202020204" pitchFamily="34" charset="0"/>
              <a:buChar char="•"/>
            </a:pPr>
            <a:r>
              <a:rPr lang="en-US" sz="1600" b="1" dirty="0"/>
              <a:t>Software Bug Tracking:</a:t>
            </a:r>
          </a:p>
          <a:p>
            <a:pPr marL="742950" lvl="1" indent="-285750">
              <a:buFont typeface="Arial" panose="020B0604020202020204" pitchFamily="34" charset="0"/>
              <a:buChar char="•"/>
            </a:pPr>
            <a:r>
              <a:rPr lang="en-US" sz="1600" dirty="0"/>
              <a:t>Categorizing types of bugs reported in a software development project.</a:t>
            </a:r>
          </a:p>
          <a:p>
            <a:pPr marL="285750" indent="-285750">
              <a:buFont typeface="Arial" panose="020B0604020202020204" pitchFamily="34" charset="0"/>
              <a:buChar char="•"/>
            </a:pPr>
            <a:r>
              <a:rPr lang="en-US" sz="1600" b="1" dirty="0"/>
              <a:t>Lost Sales Quotes:</a:t>
            </a:r>
            <a:endParaRPr lang="en-US" sz="1600" dirty="0"/>
          </a:p>
          <a:p>
            <a:pPr marL="742950" lvl="1" indent="-285750">
              <a:buFont typeface="Arial" panose="020B0604020202020204" pitchFamily="34" charset="0"/>
              <a:buChar char="•"/>
            </a:pPr>
            <a:r>
              <a:rPr lang="en-US" sz="1600" dirty="0"/>
              <a:t>Can be tracked by customer, salesman, product, region, etc.</a:t>
            </a:r>
          </a:p>
          <a:p>
            <a:pPr marL="285750" indent="-285750">
              <a:buFont typeface="Arial" panose="020B0604020202020204" pitchFamily="34" charset="0"/>
              <a:buChar char="•"/>
            </a:pPr>
            <a:r>
              <a:rPr lang="en-US" sz="1600" b="1" dirty="0"/>
              <a:t>Immigration Data:</a:t>
            </a:r>
          </a:p>
          <a:p>
            <a:pPr marL="742950" lvl="1" indent="-285750">
              <a:buFont typeface="Arial" panose="020B0604020202020204" pitchFamily="34" charset="0"/>
              <a:buChar char="•"/>
            </a:pPr>
            <a:r>
              <a:rPr lang="en-US" sz="1600" dirty="0"/>
              <a:t>Track by country, gender, religion, etc.</a:t>
            </a:r>
          </a:p>
        </p:txBody>
      </p:sp>
    </p:spTree>
    <p:extLst>
      <p:ext uri="{BB962C8B-B14F-4D97-AF65-F5344CB8AC3E}">
        <p14:creationId xmlns:p14="http://schemas.microsoft.com/office/powerpoint/2010/main" val="3652799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77DD8-9681-1926-E5C3-3178889BDB5F}"/>
            </a:ext>
          </a:extLst>
        </p:cNvPr>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708C62DD-C8EB-46D4-30D2-C3BD22CE3A46}"/>
                  </a:ext>
                </a:extLst>
              </p:cNvPr>
              <p:cNvGraphicFramePr/>
              <p:nvPr/>
            </p:nvGraphicFramePr>
            <p:xfrm>
              <a:off x="2636586" y="1783429"/>
              <a:ext cx="6918828" cy="365748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6" name="Chart 5">
                <a:extLst>
                  <a:ext uri="{FF2B5EF4-FFF2-40B4-BE49-F238E27FC236}">
                    <a16:creationId xmlns:a16="http://schemas.microsoft.com/office/drawing/2014/main" id="{412ADA6E-D7EA-84F1-D685-0845729BDDB1}"/>
                  </a:ext>
                </a:extLst>
              </p:cNvPr>
              <p:cNvPicPr>
                <a:picLocks noGrp="1" noRot="1" noChangeAspect="1" noMove="1" noResize="1" noEditPoints="1" noAdjustHandles="1" noChangeArrowheads="1" noChangeShapeType="1"/>
              </p:cNvPicPr>
              <p:nvPr/>
            </p:nvPicPr>
            <p:blipFill>
              <a:blip r:embed="rId4"/>
              <a:stretch>
                <a:fillRect/>
              </a:stretch>
            </p:blipFill>
            <p:spPr>
              <a:xfrm>
                <a:off x="2636586" y="1783429"/>
                <a:ext cx="6918828" cy="3657484"/>
              </a:xfrm>
              <a:prstGeom prst="rect">
                <a:avLst/>
              </a:prstGeom>
            </p:spPr>
          </p:pic>
        </mc:Fallback>
      </mc:AlternateContent>
      <p:sp>
        <p:nvSpPr>
          <p:cNvPr id="2" name="Title 1">
            <a:extLst>
              <a:ext uri="{FF2B5EF4-FFF2-40B4-BE49-F238E27FC236}">
                <a16:creationId xmlns:a16="http://schemas.microsoft.com/office/drawing/2014/main" id="{B4E2627A-94DD-07DB-5BBE-1D718D7EA8AE}"/>
              </a:ext>
            </a:extLst>
          </p:cNvPr>
          <p:cNvSpPr>
            <a:spLocks noGrp="1"/>
          </p:cNvSpPr>
          <p:nvPr>
            <p:ph type="title"/>
          </p:nvPr>
        </p:nvSpPr>
        <p:spPr/>
        <p:txBody>
          <a:bodyPr/>
          <a:lstStyle/>
          <a:p>
            <a:r>
              <a:rPr lang="en-US" dirty="0"/>
              <a:t>Pareto Diagram Example</a:t>
            </a:r>
          </a:p>
        </p:txBody>
      </p:sp>
      <p:sp>
        <p:nvSpPr>
          <p:cNvPr id="13" name="Rectangle 12">
            <a:extLst>
              <a:ext uri="{FF2B5EF4-FFF2-40B4-BE49-F238E27FC236}">
                <a16:creationId xmlns:a16="http://schemas.microsoft.com/office/drawing/2014/main" id="{3FE35352-5BFC-AB5B-58EC-953DFC14F3A9}"/>
              </a:ext>
            </a:extLst>
          </p:cNvPr>
          <p:cNvSpPr/>
          <p:nvPr/>
        </p:nvSpPr>
        <p:spPr>
          <a:xfrm>
            <a:off x="3744116" y="5533654"/>
            <a:ext cx="4703768" cy="7089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your takeaway from this example?</a:t>
            </a:r>
          </a:p>
        </p:txBody>
      </p:sp>
    </p:spTree>
    <p:extLst>
      <p:ext uri="{BB962C8B-B14F-4D97-AF65-F5344CB8AC3E}">
        <p14:creationId xmlns:p14="http://schemas.microsoft.com/office/powerpoint/2010/main" val="371052772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Pareto Charts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121</a:t>
            </a:fld>
            <a:endParaRPr lang="en-US"/>
          </a:p>
        </p:txBody>
      </p:sp>
      <p:sp>
        <p:nvSpPr>
          <p:cNvPr id="16" name="Text Box 8">
            <a:extLst>
              <a:ext uri="{FF2B5EF4-FFF2-40B4-BE49-F238E27FC236}">
                <a16:creationId xmlns:a16="http://schemas.microsoft.com/office/drawing/2014/main" id="{059A14E2-70A4-2D08-90E9-1A69A5B344C1}"/>
              </a:ext>
            </a:extLst>
          </p:cNvPr>
          <p:cNvSpPr txBox="1">
            <a:spLocks noChangeArrowheads="1"/>
          </p:cNvSpPr>
          <p:nvPr/>
        </p:nvSpPr>
        <p:spPr bwMode="auto">
          <a:xfrm>
            <a:off x="3044652" y="1766948"/>
            <a:ext cx="1808508" cy="369332"/>
          </a:xfrm>
          <a:prstGeom prst="rect">
            <a:avLst/>
          </a:prstGeom>
          <a:noFill/>
          <a:ln w="12700" cap="sq" algn="ctr">
            <a:noFill/>
            <a:miter lim="800000"/>
            <a:headEnd/>
            <a:tailEnd/>
          </a:ln>
        </p:spPr>
        <p:txBody>
          <a:bodyPr wrap="none">
            <a:spAutoFit/>
          </a:bodyPr>
          <a:lstStyle/>
          <a:p>
            <a:r>
              <a:rPr lang="en-US" sz="1800" b="1" dirty="0">
                <a:solidFill>
                  <a:schemeClr val="tx1"/>
                </a:solidFill>
                <a:latin typeface="Roboto" panose="02000000000000000000" pitchFamily="2" charset="0"/>
                <a:ea typeface="Roboto" panose="02000000000000000000" pitchFamily="2" charset="0"/>
              </a:rPr>
              <a:t>Pareto Diagram</a:t>
            </a:r>
          </a:p>
        </p:txBody>
      </p:sp>
      <p:sp>
        <p:nvSpPr>
          <p:cNvPr id="20" name="AutoShape 12">
            <a:extLst>
              <a:ext uri="{FF2B5EF4-FFF2-40B4-BE49-F238E27FC236}">
                <a16:creationId xmlns:a16="http://schemas.microsoft.com/office/drawing/2014/main" id="{2325ED1B-227D-0A93-B0D1-72286F292F57}"/>
              </a:ext>
            </a:extLst>
          </p:cNvPr>
          <p:cNvSpPr>
            <a:spLocks noChangeArrowheads="1"/>
          </p:cNvSpPr>
          <p:nvPr/>
        </p:nvSpPr>
        <p:spPr bwMode="auto">
          <a:xfrm>
            <a:off x="6156325" y="3011022"/>
            <a:ext cx="352425" cy="2396617"/>
          </a:xfrm>
          <a:prstGeom prst="rightArrow">
            <a:avLst>
              <a:gd name="adj1" fmla="val 67278"/>
              <a:gd name="adj2" fmla="val 72222"/>
            </a:avLst>
          </a:prstGeom>
          <a:solidFill>
            <a:schemeClr val="accent1"/>
          </a:solidFill>
          <a:ln w="19050" cap="sq" algn="ctr">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21" name="Rectangle 13">
            <a:extLst>
              <a:ext uri="{FF2B5EF4-FFF2-40B4-BE49-F238E27FC236}">
                <a16:creationId xmlns:a16="http://schemas.microsoft.com/office/drawing/2014/main" id="{C8505217-E529-C691-77A6-475D41417030}"/>
              </a:ext>
            </a:extLst>
          </p:cNvPr>
          <p:cNvSpPr>
            <a:spLocks noChangeArrowheads="1"/>
          </p:cNvSpPr>
          <p:nvPr/>
        </p:nvSpPr>
        <p:spPr bwMode="auto">
          <a:xfrm>
            <a:off x="6508750" y="2462826"/>
            <a:ext cx="3719513" cy="3493009"/>
          </a:xfrm>
          <a:prstGeom prst="rect">
            <a:avLst/>
          </a:prstGeom>
          <a:noFill/>
          <a:ln w="9525">
            <a:noFill/>
            <a:miter lim="800000"/>
            <a:headEnd/>
            <a:tailEnd/>
          </a:ln>
        </p:spPr>
        <p:txBody>
          <a:bodyPr lIns="71438" tIns="36513" rIns="71438" bIns="36513">
            <a:spAutoFit/>
          </a:bodyPr>
          <a:lstStyle/>
          <a:p>
            <a:pPr marL="285750"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Transform information from a Check Sheet into a Pareto Chart</a:t>
            </a:r>
          </a:p>
          <a:p>
            <a:pPr marL="285750"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Pareto may reveal:</a:t>
            </a:r>
          </a:p>
          <a:p>
            <a:pPr marL="631825"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What types of problems are most prevalent and/or most costly</a:t>
            </a:r>
          </a:p>
          <a:p>
            <a:pPr marL="631825" lvl="1"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Where most of the problems are occurring</a:t>
            </a:r>
          </a:p>
          <a:p>
            <a:pPr marL="285750"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Provides the basis for setting priorities or corrective action steps</a:t>
            </a:r>
          </a:p>
          <a:p>
            <a:pPr marL="285750" indent="-285750" defTabSz="708025">
              <a:lnSpc>
                <a:spcPct val="115000"/>
              </a:lnSpc>
              <a:spcAft>
                <a:spcPct val="20000"/>
              </a:spcAft>
              <a:buClr>
                <a:schemeClr val="tx1"/>
              </a:buClr>
              <a:buSzPct val="90000"/>
              <a:buFont typeface="Arial" panose="020B0604020202020204" pitchFamily="34" charset="0"/>
              <a:buChar char="•"/>
            </a:pPr>
            <a:r>
              <a:rPr lang="en-US" sz="1400" b="1" dirty="0">
                <a:solidFill>
                  <a:schemeClr val="tx1"/>
                </a:solidFill>
                <a:latin typeface="Roboto" panose="02000000000000000000" pitchFamily="2" charset="0"/>
                <a:ea typeface="Roboto" panose="02000000000000000000" pitchFamily="2" charset="0"/>
              </a:rPr>
              <a:t>A Pareto Chart is not a stand-alone tool for priority setting. You need to determine the priority keeping the customer in mind</a:t>
            </a:r>
            <a:endParaRPr lang="en-US" sz="1600" b="1" dirty="0">
              <a:solidFill>
                <a:schemeClr val="tx1"/>
              </a:solidFill>
              <a:latin typeface="Roboto" panose="02000000000000000000" pitchFamily="2" charset="0"/>
              <a:ea typeface="Roboto" panose="02000000000000000000" pitchFamily="2" charset="0"/>
            </a:endParaRPr>
          </a:p>
        </p:txBody>
      </p:sp>
      <p:grpSp>
        <p:nvGrpSpPr>
          <p:cNvPr id="27" name="Group 26">
            <a:extLst>
              <a:ext uri="{FF2B5EF4-FFF2-40B4-BE49-F238E27FC236}">
                <a16:creationId xmlns:a16="http://schemas.microsoft.com/office/drawing/2014/main" id="{40FE82EE-EB7C-F999-DDB8-071FC410B001}"/>
              </a:ext>
            </a:extLst>
          </p:cNvPr>
          <p:cNvGrpSpPr/>
          <p:nvPr/>
        </p:nvGrpSpPr>
        <p:grpSpPr>
          <a:xfrm>
            <a:off x="1960563" y="2233762"/>
            <a:ext cx="3986212" cy="3951138"/>
            <a:chOff x="1960563" y="2233762"/>
            <a:chExt cx="3986212" cy="3951138"/>
          </a:xfrm>
        </p:grpSpPr>
        <p:sp>
          <p:nvSpPr>
            <p:cNvPr id="13" name="Rectangle 5">
              <a:extLst>
                <a:ext uri="{FF2B5EF4-FFF2-40B4-BE49-F238E27FC236}">
                  <a16:creationId xmlns:a16="http://schemas.microsoft.com/office/drawing/2014/main" id="{0F3A6B85-77FD-0F03-AE13-D52D72E62CA5}"/>
                </a:ext>
              </a:extLst>
            </p:cNvPr>
            <p:cNvSpPr>
              <a:spLocks noChangeArrowheads="1"/>
            </p:cNvSpPr>
            <p:nvPr/>
          </p:nvSpPr>
          <p:spPr bwMode="auto">
            <a:xfrm>
              <a:off x="1965325" y="4395447"/>
              <a:ext cx="3981450" cy="1789453"/>
            </a:xfrm>
            <a:prstGeom prst="rect">
              <a:avLst/>
            </a:prstGeom>
            <a:solidFill>
              <a:schemeClr val="bg2"/>
            </a:solidFill>
            <a:ln w="19050" algn="ctr">
              <a:solidFill>
                <a:schemeClr val="tx1"/>
              </a:solidFill>
              <a:prstDash val="sysDot"/>
              <a:miter lim="800000"/>
              <a:headEnd/>
              <a:tailEnd/>
            </a:ln>
          </p:spPr>
          <p:txBody>
            <a:bodyPr wrap="square" anchor="ctr"/>
            <a:lstStyle/>
            <a:p>
              <a:pPr marL="285750" indent="-285750" defTabSz="708025">
                <a:buClr>
                  <a:schemeClr val="tx1"/>
                </a:buClr>
                <a:buSzPct val="90000"/>
                <a:buFont typeface="Arial" panose="020B0604020202020204" pitchFamily="34" charset="0"/>
                <a:buChar char="•"/>
              </a:pPr>
              <a:r>
                <a:rPr lang="en-US" sz="1400" b="1" dirty="0">
                  <a:latin typeface="Roboto" panose="02000000000000000000" pitchFamily="2" charset="0"/>
                  <a:ea typeface="Roboto" panose="02000000000000000000" pitchFamily="2" charset="0"/>
                </a:rPr>
                <a:t>Separates vital few from trivial many; organizes data from highest value to lowest</a:t>
              </a:r>
            </a:p>
            <a:p>
              <a:pPr marL="285750" indent="-285750" defTabSz="708025">
                <a:buClr>
                  <a:schemeClr val="tx1"/>
                </a:buClr>
                <a:buSzPct val="90000"/>
                <a:buFont typeface="Arial" panose="020B0604020202020204" pitchFamily="34" charset="0"/>
                <a:buChar char="•"/>
              </a:pPr>
              <a:r>
                <a:rPr lang="en-US" sz="1400" b="1" dirty="0">
                  <a:latin typeface="Roboto" panose="02000000000000000000" pitchFamily="2" charset="0"/>
                  <a:ea typeface="Roboto" panose="02000000000000000000" pitchFamily="2" charset="0"/>
                </a:rPr>
                <a:t>When you need to display the relative importance of all conditions in order to:</a:t>
              </a:r>
            </a:p>
            <a:p>
              <a:pPr marL="742950" lvl="1" indent="-285750" defTabSz="708025">
                <a:buClr>
                  <a:schemeClr val="tx1"/>
                </a:buClr>
                <a:buSzPct val="90000"/>
                <a:buFont typeface="Arial" panose="020B0604020202020204" pitchFamily="34" charset="0"/>
                <a:buChar char="•"/>
              </a:pPr>
              <a:r>
                <a:rPr lang="en-US" sz="1400" b="1" dirty="0">
                  <a:latin typeface="Roboto" panose="02000000000000000000" pitchFamily="2" charset="0"/>
                  <a:ea typeface="Roboto" panose="02000000000000000000" pitchFamily="2" charset="0"/>
                </a:rPr>
                <a:t>Choose the starting point for Problem-Solving</a:t>
              </a:r>
            </a:p>
            <a:p>
              <a:pPr marL="742950" lvl="1" indent="-285750" defTabSz="708025">
                <a:buClr>
                  <a:schemeClr val="tx1"/>
                </a:buClr>
                <a:buSzPct val="90000"/>
                <a:buFont typeface="Arial" panose="020B0604020202020204" pitchFamily="34" charset="0"/>
                <a:buChar char="•"/>
              </a:pPr>
              <a:r>
                <a:rPr lang="en-US" sz="1400" b="1" dirty="0">
                  <a:latin typeface="Roboto" panose="02000000000000000000" pitchFamily="2" charset="0"/>
                  <a:ea typeface="Roboto" panose="02000000000000000000" pitchFamily="2" charset="0"/>
                </a:rPr>
                <a:t>Monitor success</a:t>
              </a:r>
            </a:p>
            <a:p>
              <a:pPr marL="742950" lvl="1" indent="-285750" defTabSz="708025">
                <a:buClr>
                  <a:schemeClr val="tx1"/>
                </a:buClr>
                <a:buSzPct val="90000"/>
                <a:buFont typeface="Arial" panose="020B0604020202020204" pitchFamily="34" charset="0"/>
                <a:buChar char="•"/>
              </a:pPr>
              <a:r>
                <a:rPr lang="en-US" sz="1400" b="1" dirty="0">
                  <a:latin typeface="Roboto" panose="02000000000000000000" pitchFamily="2" charset="0"/>
                  <a:ea typeface="Roboto" panose="02000000000000000000" pitchFamily="2" charset="0"/>
                </a:rPr>
                <a:t>Identify the basic cause of a problem</a:t>
              </a:r>
            </a:p>
          </p:txBody>
        </p:sp>
        <p:grpSp>
          <p:nvGrpSpPr>
            <p:cNvPr id="25" name="Group 24">
              <a:extLst>
                <a:ext uri="{FF2B5EF4-FFF2-40B4-BE49-F238E27FC236}">
                  <a16:creationId xmlns:a16="http://schemas.microsoft.com/office/drawing/2014/main" id="{9F95BFD4-3B0A-962C-B22B-80584B99BF8E}"/>
                </a:ext>
              </a:extLst>
            </p:cNvPr>
            <p:cNvGrpSpPr/>
            <p:nvPr/>
          </p:nvGrpSpPr>
          <p:grpSpPr>
            <a:xfrm>
              <a:off x="1960563" y="2233762"/>
              <a:ext cx="3976687" cy="2035065"/>
              <a:chOff x="1960563" y="2233762"/>
              <a:chExt cx="3976687" cy="2035065"/>
            </a:xfrm>
          </p:grpSpPr>
          <p:sp>
            <p:nvSpPr>
              <p:cNvPr id="15" name="Rectangle 7">
                <a:extLst>
                  <a:ext uri="{FF2B5EF4-FFF2-40B4-BE49-F238E27FC236}">
                    <a16:creationId xmlns:a16="http://schemas.microsoft.com/office/drawing/2014/main" id="{957408E0-6DE9-67FE-6206-C74BFC9E02B3}"/>
                  </a:ext>
                </a:extLst>
              </p:cNvPr>
              <p:cNvSpPr>
                <a:spLocks noChangeArrowheads="1"/>
              </p:cNvSpPr>
              <p:nvPr/>
            </p:nvSpPr>
            <p:spPr bwMode="auto">
              <a:xfrm>
                <a:off x="1960563" y="2233762"/>
                <a:ext cx="3976687" cy="2035065"/>
              </a:xfrm>
              <a:prstGeom prst="rect">
                <a:avLst/>
              </a:prstGeom>
              <a:solidFill>
                <a:schemeClr val="bg1"/>
              </a:solidFill>
              <a:ln w="12700" cap="sq" algn="ctr">
                <a:solidFill>
                  <a:schemeClr val="tx1"/>
                </a:solidFill>
                <a:miter lim="800000"/>
                <a:headEnd/>
                <a:tailEnd/>
              </a:ln>
            </p:spPr>
            <p:txBody>
              <a:bodyPr wrap="none" anchor="ctr"/>
              <a:lstStyle/>
              <a:p>
                <a:endParaRPr lang="en-US" dirty="0">
                  <a:latin typeface="Roboto" panose="02000000000000000000" pitchFamily="2" charset="0"/>
                  <a:ea typeface="Roboto" panose="02000000000000000000" pitchFamily="2" charset="0"/>
                </a:endParaRPr>
              </a:p>
            </p:txBody>
          </p:sp>
          <p:pic>
            <p:nvPicPr>
              <p:cNvPr id="24" name="Picture 23">
                <a:extLst>
                  <a:ext uri="{FF2B5EF4-FFF2-40B4-BE49-F238E27FC236}">
                    <a16:creationId xmlns:a16="http://schemas.microsoft.com/office/drawing/2014/main" id="{A49A83D6-34E2-4ECE-F09D-D4DE8B19565A}"/>
                  </a:ext>
                </a:extLst>
              </p:cNvPr>
              <p:cNvPicPr>
                <a:picLocks noChangeAspect="1"/>
              </p:cNvPicPr>
              <p:nvPr/>
            </p:nvPicPr>
            <p:blipFill>
              <a:blip r:embed="rId3"/>
              <a:stretch>
                <a:fillRect/>
              </a:stretch>
            </p:blipFill>
            <p:spPr>
              <a:xfrm>
                <a:off x="2198327" y="2271141"/>
                <a:ext cx="3501158" cy="1960306"/>
              </a:xfrm>
              <a:prstGeom prst="rect">
                <a:avLst/>
              </a:prstGeom>
            </p:spPr>
          </p:pic>
        </p:grpSp>
      </p:grpSp>
    </p:spTree>
    <p:extLst>
      <p:ext uri="{BB962C8B-B14F-4D97-AF65-F5344CB8AC3E}">
        <p14:creationId xmlns:p14="http://schemas.microsoft.com/office/powerpoint/2010/main" val="11024434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Origin of Pareto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Pareto charts originated with the famous economist Vilfredo Pareto.</a:t>
            </a:r>
          </a:p>
          <a:p>
            <a:r>
              <a:rPr lang="en-US" dirty="0"/>
              <a:t>The Pareto Principle, also commonly referred to as the 80/20 rule:</a:t>
            </a:r>
          </a:p>
          <a:p>
            <a:pPr lvl="1"/>
            <a:r>
              <a:rPr lang="en-US" dirty="0"/>
              <a:t>Pareto first observed that 80% of the land in Italy was owned by 20% of the population. Vilfredo later discovered many other manifestations of the 80/20 rule. For example, he observed that 80% of his garden peas were produced by 20% of the peapods.</a:t>
            </a:r>
          </a:p>
          <a:p>
            <a:r>
              <a:rPr lang="en-US" dirty="0"/>
              <a:t>Other examples of 80/20 rule:</a:t>
            </a:r>
          </a:p>
          <a:p>
            <a:pPr lvl="1"/>
            <a:r>
              <a:rPr lang="en-US" dirty="0"/>
              <a:t>80% of process defects arise from 20% of the process issues.</a:t>
            </a:r>
          </a:p>
          <a:p>
            <a:pPr lvl="1"/>
            <a:r>
              <a:rPr lang="en-US" dirty="0"/>
              <a:t>80% of the process lead time is caused by 20% of the information flow inaccuracies.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122</a:t>
            </a:fld>
            <a:endParaRPr lang="en-US"/>
          </a:p>
        </p:txBody>
      </p:sp>
    </p:spTree>
    <p:extLst>
      <p:ext uri="{BB962C8B-B14F-4D97-AF65-F5344CB8AC3E}">
        <p14:creationId xmlns:p14="http://schemas.microsoft.com/office/powerpoint/2010/main" val="21982952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Pareto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Focuses on data and the examination of facts. </a:t>
            </a:r>
          </a:p>
          <a:p>
            <a:r>
              <a:rPr lang="en-US" dirty="0"/>
              <a:t>Highly useful in the initial data collection as well as validation of the true problem statement for Problem-Solving. </a:t>
            </a:r>
          </a:p>
          <a:p>
            <a:r>
              <a:rPr lang="en-US" dirty="0"/>
              <a:t>Best used in combination with other Problem-Solving tools to narrow down to the root cause of a problem. </a:t>
            </a:r>
          </a:p>
          <a:p>
            <a:r>
              <a:rPr lang="en-US" dirty="0"/>
              <a:t>Additionally Pareto charts are used quite effectively to monitor performance of sustained changes over time in order to drive future prioritization for Problem-Solving opportunities.  </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123</a:t>
            </a:fld>
            <a:endParaRPr lang="en-US"/>
          </a:p>
        </p:txBody>
      </p:sp>
    </p:spTree>
    <p:extLst>
      <p:ext uri="{BB962C8B-B14F-4D97-AF65-F5344CB8AC3E}">
        <p14:creationId xmlns:p14="http://schemas.microsoft.com/office/powerpoint/2010/main" val="12314997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Mechanics of Creating a Pareto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List problem sources and their frequencies.</a:t>
            </a:r>
          </a:p>
          <a:p>
            <a:r>
              <a:rPr lang="en-US" dirty="0"/>
              <a:t>Plot data in descending order of frequency.</a:t>
            </a:r>
          </a:p>
          <a:p>
            <a:r>
              <a:rPr lang="en-US" dirty="0"/>
              <a:t>Add cumulative percentage line to identify the most impactful problems.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124</a:t>
            </a:fld>
            <a:endParaRPr lang="en-US"/>
          </a:p>
        </p:txBody>
      </p:sp>
    </p:spTree>
    <p:extLst>
      <p:ext uri="{BB962C8B-B14F-4D97-AF65-F5344CB8AC3E}">
        <p14:creationId xmlns:p14="http://schemas.microsoft.com/office/powerpoint/2010/main" val="180325112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Mechanics of Creating a Pareto Chart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55000" lnSpcReduction="20000"/>
          </a:bodyPr>
          <a:lstStyle/>
          <a:p>
            <a:r>
              <a:rPr lang="en-US" dirty="0"/>
              <a:t>Identify Potential Problem Sources:</a:t>
            </a:r>
          </a:p>
          <a:p>
            <a:pPr lvl="1"/>
            <a:r>
              <a:rPr lang="en-US" dirty="0"/>
              <a:t>Create a list of all potential problem sources (e.g., defects, issues) you want to analyze.</a:t>
            </a:r>
          </a:p>
          <a:p>
            <a:r>
              <a:rPr lang="en-US" dirty="0"/>
              <a:t>Collect Data:</a:t>
            </a:r>
          </a:p>
          <a:p>
            <a:pPr lvl="1"/>
            <a:r>
              <a:rPr lang="en-US" dirty="0"/>
              <a:t>Record the frequency of each problem occurring within a fixed period of time.</a:t>
            </a:r>
          </a:p>
          <a:p>
            <a:pPr lvl="1"/>
            <a:r>
              <a:rPr lang="en-US" dirty="0"/>
              <a:t>Calculate the cost associated with a single occurrence of each problem.</a:t>
            </a:r>
          </a:p>
          <a:p>
            <a:pPr lvl="1"/>
            <a:r>
              <a:rPr lang="en-US" dirty="0"/>
              <a:t>Determine the total cost for the period by multiplying the frequency by the cost per occurrence.</a:t>
            </a:r>
          </a:p>
          <a:p>
            <a:r>
              <a:rPr lang="en-US" dirty="0"/>
              <a:t>Organize the Data:</a:t>
            </a:r>
          </a:p>
          <a:p>
            <a:pPr lvl="1"/>
            <a:r>
              <a:rPr lang="en-US" dirty="0"/>
              <a:t>Create a table that includes the problem sources, their frequencies, the cost per occurrence, and the total cost for the period.</a:t>
            </a:r>
          </a:p>
          <a:p>
            <a:pPr lvl="1"/>
            <a:r>
              <a:rPr lang="en-US" dirty="0"/>
              <a:t>Sort the table by frequency, from highest to lowest.</a:t>
            </a:r>
          </a:p>
          <a:p>
            <a:r>
              <a:rPr lang="en-US" dirty="0"/>
              <a:t>Prepare the Chart:</a:t>
            </a:r>
          </a:p>
          <a:p>
            <a:pPr lvl="1"/>
            <a:r>
              <a:rPr lang="en-US" dirty="0"/>
              <a:t>On the x-axis, list the problem sources from the sorted table.</a:t>
            </a:r>
          </a:p>
          <a:p>
            <a:pPr lvl="1"/>
            <a:r>
              <a:rPr lang="en-US" dirty="0"/>
              <a:t>On the left y-axis, indicate the frequency of occurrences.</a:t>
            </a:r>
          </a:p>
          <a:p>
            <a:pPr lvl="1"/>
            <a:r>
              <a:rPr lang="en-US" dirty="0"/>
              <a:t>On the right y-axis, indicate the cumulative percentage of total occurrences.</a:t>
            </a:r>
          </a:p>
          <a:p>
            <a:r>
              <a:rPr lang="en-US" dirty="0"/>
              <a:t>Plot the Data:</a:t>
            </a:r>
          </a:p>
          <a:p>
            <a:pPr lvl="1"/>
            <a:r>
              <a:rPr lang="en-US" dirty="0"/>
              <a:t>Create vertical bars to represent the frequency of each problem source, starting with the highest frequency on the left.</a:t>
            </a:r>
          </a:p>
          <a:p>
            <a:pPr lvl="1"/>
            <a:r>
              <a:rPr lang="en-US" dirty="0"/>
              <a:t>Add a cumulative line to show the cumulative percentage of total occurrences, moving from left to right.</a:t>
            </a:r>
          </a:p>
          <a:p>
            <a:r>
              <a:rPr lang="en-US" dirty="0"/>
              <a:t>Analyze the Chart:</a:t>
            </a:r>
          </a:p>
          <a:p>
            <a:pPr lvl="1"/>
            <a:r>
              <a:rPr lang="en-US" dirty="0"/>
              <a:t>Identify the "vital few" problem sources that constitute the majority of occurrences.</a:t>
            </a:r>
          </a:p>
          <a:p>
            <a:pPr lvl="1"/>
            <a:r>
              <a:rPr lang="en-US" dirty="0"/>
              <a:t>Focus improvement efforts on these key areas to achieve the most significant impact.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125</a:t>
            </a:fld>
            <a:endParaRPr lang="en-US"/>
          </a:p>
        </p:txBody>
      </p:sp>
    </p:spTree>
    <p:extLst>
      <p:ext uri="{BB962C8B-B14F-4D97-AF65-F5344CB8AC3E}">
        <p14:creationId xmlns:p14="http://schemas.microsoft.com/office/powerpoint/2010/main" val="16525935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Pareto Chart 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126</a:t>
            </a:fld>
            <a:endParaRPr lang="en-US"/>
          </a:p>
        </p:txBody>
      </p:sp>
      <p:pic>
        <p:nvPicPr>
          <p:cNvPr id="16" name="Content Placeholder 15">
            <a:extLst>
              <a:ext uri="{FF2B5EF4-FFF2-40B4-BE49-F238E27FC236}">
                <a16:creationId xmlns:a16="http://schemas.microsoft.com/office/drawing/2014/main" id="{D137EB54-37C2-D35A-FB62-EB2B6EA049E5}"/>
              </a:ext>
            </a:extLst>
          </p:cNvPr>
          <p:cNvPicPr>
            <a:picLocks noGrp="1" noChangeAspect="1"/>
          </p:cNvPicPr>
          <p:nvPr>
            <p:ph idx="1"/>
          </p:nvPr>
        </p:nvPicPr>
        <p:blipFill>
          <a:blip r:embed="rId3"/>
          <a:stretch>
            <a:fillRect/>
          </a:stretch>
        </p:blipFill>
        <p:spPr>
          <a:xfrm>
            <a:off x="2355780" y="1907136"/>
            <a:ext cx="7480440" cy="4188315"/>
          </a:xfrm>
          <a:prstGeom prst="rect">
            <a:avLst/>
          </a:prstGeom>
        </p:spPr>
      </p:pic>
    </p:spTree>
    <p:extLst>
      <p:ext uri="{BB962C8B-B14F-4D97-AF65-F5344CB8AC3E}">
        <p14:creationId xmlns:p14="http://schemas.microsoft.com/office/powerpoint/2010/main" val="314919014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Pareto Chart Review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127</a:t>
            </a:fld>
            <a:endParaRPr lang="en-US"/>
          </a:p>
        </p:txBody>
      </p:sp>
      <p:sp>
        <p:nvSpPr>
          <p:cNvPr id="15" name="Content Placeholder 14">
            <a:extLst>
              <a:ext uri="{FF2B5EF4-FFF2-40B4-BE49-F238E27FC236}">
                <a16:creationId xmlns:a16="http://schemas.microsoft.com/office/drawing/2014/main" id="{AA1B3582-20CE-BBAA-821E-317EF5E984AD}"/>
              </a:ext>
            </a:extLst>
          </p:cNvPr>
          <p:cNvSpPr>
            <a:spLocks noGrp="1"/>
          </p:cNvSpPr>
          <p:nvPr>
            <p:ph idx="1"/>
          </p:nvPr>
        </p:nvSpPr>
        <p:spPr/>
        <p:txBody>
          <a:bodyPr/>
          <a:lstStyle/>
          <a:p>
            <a:r>
              <a:rPr lang="en-US" dirty="0"/>
              <a:t>Frequency may not be indicative of magnitude, instead cost may be more meaningful.</a:t>
            </a:r>
          </a:p>
          <a:p>
            <a:r>
              <a:rPr lang="en-US" dirty="0"/>
              <a:t>It is important to identify in advance the customer’s priorities, in order to use the data to make decisions.</a:t>
            </a:r>
          </a:p>
          <a:p>
            <a:endParaRPr lang="en-US" dirty="0"/>
          </a:p>
        </p:txBody>
      </p:sp>
    </p:spTree>
    <p:extLst>
      <p:ext uri="{BB962C8B-B14F-4D97-AF65-F5344CB8AC3E}">
        <p14:creationId xmlns:p14="http://schemas.microsoft.com/office/powerpoint/2010/main" val="14223563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Benefits and Limitations of Pareto Analysis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Benefits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rmAutofit fontScale="77500" lnSpcReduction="20000"/>
          </a:bodyPr>
          <a:lstStyle/>
          <a:p>
            <a:pPr>
              <a:lnSpc>
                <a:spcPct val="120000"/>
              </a:lnSpc>
            </a:pPr>
            <a:r>
              <a:rPr lang="en-US" dirty="0"/>
              <a:t>Separates vital problems from trivial few problems to assist with choosing a starting point for Problem-Solving.</a:t>
            </a:r>
          </a:p>
          <a:p>
            <a:pPr>
              <a:lnSpc>
                <a:spcPct val="120000"/>
              </a:lnSpc>
            </a:pPr>
            <a:r>
              <a:rPr lang="en-US" dirty="0"/>
              <a:t>Helps to provide focus as to where the biggest impact will be generated.</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Limitations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77500" lnSpcReduction="20000"/>
          </a:bodyPr>
          <a:lstStyle/>
          <a:p>
            <a:pPr>
              <a:lnSpc>
                <a:spcPct val="120000"/>
              </a:lnSpc>
            </a:pPr>
            <a:r>
              <a:rPr lang="en-US" dirty="0"/>
              <a:t>The first level of Pareto Charts may only reveal a symptom of a problem or not enough information to be actionable and may require several charts to reach a root cause level.</a:t>
            </a:r>
          </a:p>
          <a:p>
            <a:pPr>
              <a:lnSpc>
                <a:spcPct val="120000"/>
              </a:lnSpc>
            </a:pPr>
            <a:r>
              <a:rPr lang="en-US" dirty="0"/>
              <a:t>Pareto Charts help to determine which problem to attack first. You will still need more detail to describe the problem and find the cause.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128</a:t>
            </a:fld>
            <a:endParaRPr lang="en-US"/>
          </a:p>
        </p:txBody>
      </p:sp>
    </p:spTree>
    <p:extLst>
      <p:ext uri="{BB962C8B-B14F-4D97-AF65-F5344CB8AC3E}">
        <p14:creationId xmlns:p14="http://schemas.microsoft.com/office/powerpoint/2010/main" val="99637959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129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Problem-Solving Tools: Fishbone Analysis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8" y="2506662"/>
            <a:ext cx="10769601" cy="4351338"/>
          </a:xfrm>
        </p:spPr>
        <p:txBody>
          <a:bodyPr>
            <a:normAutofit/>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200" dirty="0"/>
              <a:t>Define Fishbone Analysis</a:t>
            </a:r>
          </a:p>
          <a:p>
            <a:r>
              <a:rPr lang="en-US" sz="2200" dirty="0"/>
              <a:t>State the purpose  and understand the origin of Fishbone Analysis</a:t>
            </a:r>
          </a:p>
          <a:p>
            <a:r>
              <a:rPr lang="en-US" sz="2200" dirty="0"/>
              <a:t>Discuss the benefits and limitations of Fishbone Analysis</a:t>
            </a:r>
          </a:p>
          <a:p>
            <a:r>
              <a:rPr lang="en-US" sz="2200" dirty="0"/>
              <a:t>Explain when the Fishbone Analysis is used during the Problem-Solving process</a:t>
            </a:r>
          </a:p>
          <a:p>
            <a:r>
              <a:rPr lang="en-US" sz="2200" dirty="0"/>
              <a:t>List the 6-M’s and demonstrate how a Fishbone Diagram is constructed</a:t>
            </a:r>
          </a:p>
          <a:p>
            <a:r>
              <a:rPr lang="en-US" sz="2200" dirty="0"/>
              <a:t>Describe how the Fishbone Diagram is used to solve complex problems</a:t>
            </a:r>
          </a:p>
          <a:p>
            <a:r>
              <a:rPr lang="en-US" sz="2200" dirty="0"/>
              <a:t>Apply Fishbone Analysis to determine where to focus Problem-Solving efforts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20526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Definition of Fishbone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 fishbone diagram proves a structured way of looking at the cause and effect nature of problems.  </a:t>
            </a:r>
          </a:p>
          <a:p>
            <a:r>
              <a:rPr lang="en-US" dirty="0"/>
              <a:t>It is also referred to as a cause &amp; effect diagram.</a:t>
            </a:r>
          </a:p>
          <a:p>
            <a:r>
              <a:rPr lang="en-US" dirty="0"/>
              <a:t>The design of the diagram looks like the skeleton of a fish</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130</a:t>
            </a:fld>
            <a:endParaRPr lang="en-US"/>
          </a:p>
        </p:txBody>
      </p:sp>
    </p:spTree>
    <p:extLst>
      <p:ext uri="{BB962C8B-B14F-4D97-AF65-F5344CB8AC3E}">
        <p14:creationId xmlns:p14="http://schemas.microsoft.com/office/powerpoint/2010/main" val="13829209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Purpose and Origin of Fishbone Analysis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Provides mechanism for team to team to identify, explore, and graphically display, in increasing detail, all the possible causes related to a problem in order to identify root cause(s)</a:t>
            </a:r>
          </a:p>
          <a:p>
            <a:r>
              <a:rPr lang="en-US" dirty="0"/>
              <a:t>Invented by Dr. </a:t>
            </a:r>
            <a:r>
              <a:rPr lang="en-US" dirty="0" err="1"/>
              <a:t>Jaoru</a:t>
            </a:r>
            <a:r>
              <a:rPr lang="en-US" dirty="0"/>
              <a:t> Ishikawa while working in the Japanese ship yards as a quality control statistician</a:t>
            </a:r>
          </a:p>
          <a:p>
            <a:r>
              <a:rPr lang="en-US" dirty="0"/>
              <a:t>Also referred to as the Ishikawa Diagram</a:t>
            </a:r>
          </a:p>
          <a:p>
            <a:r>
              <a:rPr lang="en-US" dirty="0"/>
              <a:t>Illustrates the connection between problems and their impacts.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131</a:t>
            </a:fld>
            <a:endParaRPr lang="en-US"/>
          </a:p>
        </p:txBody>
      </p:sp>
    </p:spTree>
    <p:extLst>
      <p:ext uri="{BB962C8B-B14F-4D97-AF65-F5344CB8AC3E}">
        <p14:creationId xmlns:p14="http://schemas.microsoft.com/office/powerpoint/2010/main" val="686844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When to Use Fishbone Analysis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Within the Problem-Solving Process, the Fishbone Diagram allows you to explore problems and their origins through brainstorming in order to choose a starting point.</a:t>
            </a:r>
          </a:p>
          <a:p>
            <a:r>
              <a:rPr lang="en-US" dirty="0"/>
              <a:t>Fishbone Analysis enables larger Problem-Solving efforts by supporting data collection and root cause identification.</a:t>
            </a:r>
          </a:p>
          <a:p>
            <a:r>
              <a:rPr lang="en-US" dirty="0"/>
              <a:t>Benefits:</a:t>
            </a:r>
          </a:p>
          <a:p>
            <a:pPr lvl="1"/>
            <a:r>
              <a:rPr lang="en-US" dirty="0"/>
              <a:t>Allows team to identify all possible root causes of a problem</a:t>
            </a:r>
          </a:p>
          <a:p>
            <a:pPr lvl="1"/>
            <a:r>
              <a:rPr lang="en-US" dirty="0"/>
              <a:t>Allows teams to see the problem from the perspective of it’s impact through a graphical representation</a:t>
            </a:r>
          </a:p>
          <a:p>
            <a:r>
              <a:rPr lang="en-US" dirty="0"/>
              <a:t>Limitations:</a:t>
            </a:r>
          </a:p>
          <a:p>
            <a:pPr lvl="1"/>
            <a:r>
              <a:rPr lang="en-US" dirty="0"/>
              <a:t>Must be used in conjunction with other tools in order to solve complex problems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132</a:t>
            </a:fld>
            <a:endParaRPr lang="en-US"/>
          </a:p>
        </p:txBody>
      </p:sp>
    </p:spTree>
    <p:extLst>
      <p:ext uri="{BB962C8B-B14F-4D97-AF65-F5344CB8AC3E}">
        <p14:creationId xmlns:p14="http://schemas.microsoft.com/office/powerpoint/2010/main" val="126497053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Fishbone Analysis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Generate causes needed to build diagram</a:t>
            </a:r>
          </a:p>
          <a:p>
            <a:pPr lvl="1"/>
            <a:r>
              <a:rPr lang="en-US" dirty="0"/>
              <a:t>By brainstorming</a:t>
            </a:r>
          </a:p>
          <a:p>
            <a:pPr lvl="1"/>
            <a:r>
              <a:rPr lang="en-US" dirty="0"/>
              <a:t>Through a Check Sheet</a:t>
            </a:r>
          </a:p>
          <a:p>
            <a:r>
              <a:rPr lang="en-US" dirty="0"/>
              <a:t>Construct the actual diagram</a:t>
            </a:r>
          </a:p>
          <a:p>
            <a:r>
              <a:rPr lang="en-US" dirty="0"/>
              <a:t>Interpret to find the most basic causes of the problem</a:t>
            </a:r>
          </a:p>
          <a:p>
            <a:pPr lvl="1"/>
            <a:r>
              <a:rPr lang="en-US" dirty="0"/>
              <a:t>Look for causes that appear repeatedly</a:t>
            </a:r>
          </a:p>
          <a:p>
            <a:pPr lvl="1"/>
            <a:r>
              <a:rPr lang="en-US" dirty="0"/>
              <a:t>Reach team consensus</a:t>
            </a:r>
          </a:p>
          <a:p>
            <a:pPr lvl="1"/>
            <a:r>
              <a:rPr lang="en-US" dirty="0"/>
              <a:t>Gather data to determine the relative frequency of the different causes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133</a:t>
            </a:fld>
            <a:endParaRPr lang="en-US"/>
          </a:p>
        </p:txBody>
      </p:sp>
    </p:spTree>
    <p:extLst>
      <p:ext uri="{BB962C8B-B14F-4D97-AF65-F5344CB8AC3E}">
        <p14:creationId xmlns:p14="http://schemas.microsoft.com/office/powerpoint/2010/main" val="58350077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600" dirty="0"/>
              <a:t>Mechanics of Constructing Fishbone Diagram</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62500" lnSpcReduction="20000"/>
          </a:bodyPr>
          <a:lstStyle/>
          <a:p>
            <a:r>
              <a:rPr lang="en-US" dirty="0"/>
              <a:t>Start with straight line leading directly to problem</a:t>
            </a:r>
          </a:p>
          <a:p>
            <a:r>
              <a:rPr lang="en-US" dirty="0"/>
              <a:t>Draw lines at 45 degree angles off of the "backbone" of the fish. At the end of these lines you will put in different categories</a:t>
            </a:r>
          </a:p>
          <a:p>
            <a:r>
              <a:rPr lang="en-US" dirty="0"/>
              <a:t>The problem or issue should be the main purpose of creating the fishbone diagram. Insert the problem/issue in the "head of the fish."</a:t>
            </a:r>
          </a:p>
          <a:p>
            <a:r>
              <a:rPr lang="en-US" dirty="0"/>
              <a:t>Every "bone" should lead directly to the problem that is identified</a:t>
            </a:r>
          </a:p>
          <a:p>
            <a:r>
              <a:rPr lang="en-US" dirty="0"/>
              <a:t>Next, label categories above each of the bones of the fish. </a:t>
            </a:r>
          </a:p>
          <a:p>
            <a:r>
              <a:rPr lang="en-US" dirty="0"/>
              <a:t>Use brainstorming to identify the factors under each category affecting the problem/issue and/or effect being studied</a:t>
            </a:r>
          </a:p>
          <a:p>
            <a:r>
              <a:rPr lang="en-US" dirty="0"/>
              <a:t>Repeat this procedure for each category</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134</a:t>
            </a:fld>
            <a:endParaRPr lang="en-US"/>
          </a:p>
        </p:txBody>
      </p:sp>
      <p:sp>
        <p:nvSpPr>
          <p:cNvPr id="15" name="AutoShape 12">
            <a:extLst>
              <a:ext uri="{FF2B5EF4-FFF2-40B4-BE49-F238E27FC236}">
                <a16:creationId xmlns:a16="http://schemas.microsoft.com/office/drawing/2014/main" id="{96CFBAAF-1D3C-D03F-2615-5771D1DCC83D}"/>
              </a:ext>
            </a:extLst>
          </p:cNvPr>
          <p:cNvSpPr>
            <a:spLocks noChangeArrowheads="1"/>
          </p:cNvSpPr>
          <p:nvPr/>
        </p:nvSpPr>
        <p:spPr bwMode="auto">
          <a:xfrm>
            <a:off x="5804535" y="2597150"/>
            <a:ext cx="352425" cy="2493963"/>
          </a:xfrm>
          <a:prstGeom prst="rightArrow">
            <a:avLst>
              <a:gd name="adj1" fmla="val 67278"/>
              <a:gd name="adj2" fmla="val 72222"/>
            </a:avLst>
          </a:prstGeom>
          <a:solidFill>
            <a:schemeClr val="accent1"/>
          </a:solidFill>
          <a:ln w="19050" cap="sq" algn="ctr">
            <a:solidFill>
              <a:schemeClr val="tx1"/>
            </a:solidFill>
            <a:miter lim="800000"/>
            <a:headEnd/>
            <a:tailEnd/>
          </a:ln>
        </p:spPr>
        <p:txBody>
          <a:bodyPr wrap="none" anchor="ctr"/>
          <a:lstStyle/>
          <a:p>
            <a:endParaRPr lang="en-US"/>
          </a:p>
        </p:txBody>
      </p:sp>
      <p:grpSp>
        <p:nvGrpSpPr>
          <p:cNvPr id="34" name="Group 33">
            <a:extLst>
              <a:ext uri="{FF2B5EF4-FFF2-40B4-BE49-F238E27FC236}">
                <a16:creationId xmlns:a16="http://schemas.microsoft.com/office/drawing/2014/main" id="{096FBDF2-691C-8111-432A-C2D367D7FF93}"/>
              </a:ext>
            </a:extLst>
          </p:cNvPr>
          <p:cNvGrpSpPr/>
          <p:nvPr/>
        </p:nvGrpSpPr>
        <p:grpSpPr>
          <a:xfrm>
            <a:off x="1151875" y="2597150"/>
            <a:ext cx="4035425" cy="2382837"/>
            <a:chOff x="458788" y="2595563"/>
            <a:chExt cx="4035425" cy="2382837"/>
          </a:xfrm>
        </p:grpSpPr>
        <p:sp>
          <p:nvSpPr>
            <p:cNvPr id="16" name="Rectangle 7">
              <a:extLst>
                <a:ext uri="{FF2B5EF4-FFF2-40B4-BE49-F238E27FC236}">
                  <a16:creationId xmlns:a16="http://schemas.microsoft.com/office/drawing/2014/main" id="{B4286206-5A60-4FD2-8BE6-2653858E7DC1}"/>
                </a:ext>
              </a:extLst>
            </p:cNvPr>
            <p:cNvSpPr>
              <a:spLocks noChangeArrowheads="1"/>
            </p:cNvSpPr>
            <p:nvPr/>
          </p:nvSpPr>
          <p:spPr bwMode="auto">
            <a:xfrm>
              <a:off x="458788" y="2595563"/>
              <a:ext cx="3976687" cy="2382837"/>
            </a:xfrm>
            <a:prstGeom prst="rect">
              <a:avLst/>
            </a:prstGeom>
            <a:solidFill>
              <a:schemeClr val="bg1"/>
            </a:solidFill>
            <a:ln w="12700" cap="sq" algn="ctr">
              <a:solidFill>
                <a:schemeClr val="tx1"/>
              </a:solidFill>
              <a:miter lim="800000"/>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17" name="Rectangle 16">
              <a:extLst>
                <a:ext uri="{FF2B5EF4-FFF2-40B4-BE49-F238E27FC236}">
                  <a16:creationId xmlns:a16="http://schemas.microsoft.com/office/drawing/2014/main" id="{47E20C52-E65C-AE95-9730-6E49BD97A4F3}"/>
                </a:ext>
              </a:extLst>
            </p:cNvPr>
            <p:cNvSpPr>
              <a:spLocks noChangeArrowheads="1"/>
            </p:cNvSpPr>
            <p:nvPr/>
          </p:nvSpPr>
          <p:spPr bwMode="auto">
            <a:xfrm>
              <a:off x="3556000" y="3570288"/>
              <a:ext cx="595313" cy="304800"/>
            </a:xfrm>
            <a:prstGeom prst="rect">
              <a:avLst/>
            </a:prstGeom>
            <a:solidFill>
              <a:schemeClr val="bg1"/>
            </a:solidFill>
            <a:ln w="12700" cap="sq" algn="ctr">
              <a:solidFill>
                <a:schemeClr val="tx1"/>
              </a:solidFill>
              <a:round/>
              <a:headEnd/>
              <a:tailEnd/>
            </a:ln>
          </p:spPr>
          <p:txBody>
            <a:bodyPr wrap="none" anchor="ctr"/>
            <a:lstStyle/>
            <a:p>
              <a:pPr algn="ctr" eaLnBrk="0" hangingPunct="0">
                <a:lnSpc>
                  <a:spcPct val="80000"/>
                </a:lnSpc>
                <a:spcBef>
                  <a:spcPct val="20000"/>
                </a:spcBef>
              </a:pPr>
              <a:endParaRPr lang="en-US">
                <a:latin typeface="Roboto" panose="02000000000000000000" pitchFamily="2" charset="0"/>
                <a:ea typeface="Roboto" panose="02000000000000000000" pitchFamily="2" charset="0"/>
              </a:endParaRPr>
            </a:p>
          </p:txBody>
        </p:sp>
        <p:cxnSp>
          <p:nvCxnSpPr>
            <p:cNvPr id="18" name="Straight Connector 17">
              <a:extLst>
                <a:ext uri="{FF2B5EF4-FFF2-40B4-BE49-F238E27FC236}">
                  <a16:creationId xmlns:a16="http://schemas.microsoft.com/office/drawing/2014/main" id="{0524C61A-0A8B-00B2-9FC5-21BD9CDA13F1}"/>
                </a:ext>
              </a:extLst>
            </p:cNvPr>
            <p:cNvCxnSpPr>
              <a:cxnSpLocks noChangeShapeType="1"/>
              <a:stCxn id="17" idx="1"/>
            </p:cNvCxnSpPr>
            <p:nvPr/>
          </p:nvCxnSpPr>
          <p:spPr bwMode="auto">
            <a:xfrm rot="10800000">
              <a:off x="1379538" y="3716338"/>
              <a:ext cx="2176462" cy="6350"/>
            </a:xfrm>
            <a:prstGeom prst="line">
              <a:avLst/>
            </a:prstGeom>
            <a:noFill/>
            <a:ln w="12700" cap="sq" algn="ctr">
              <a:solidFill>
                <a:schemeClr val="tx1"/>
              </a:solidFill>
              <a:round/>
              <a:headEnd/>
              <a:tailEnd/>
            </a:ln>
          </p:spPr>
        </p:cxnSp>
        <p:cxnSp>
          <p:nvCxnSpPr>
            <p:cNvPr id="19" name="Straight Connector 18">
              <a:extLst>
                <a:ext uri="{FF2B5EF4-FFF2-40B4-BE49-F238E27FC236}">
                  <a16:creationId xmlns:a16="http://schemas.microsoft.com/office/drawing/2014/main" id="{628EF016-10E6-86D0-CC05-9AF9BB05DADA}"/>
                </a:ext>
              </a:extLst>
            </p:cNvPr>
            <p:cNvCxnSpPr>
              <a:cxnSpLocks noChangeShapeType="1"/>
            </p:cNvCxnSpPr>
            <p:nvPr/>
          </p:nvCxnSpPr>
          <p:spPr bwMode="auto">
            <a:xfrm rot="10800000">
              <a:off x="1958975" y="3106738"/>
              <a:ext cx="769938" cy="609600"/>
            </a:xfrm>
            <a:prstGeom prst="line">
              <a:avLst/>
            </a:prstGeom>
            <a:noFill/>
            <a:ln w="12700" cap="sq" algn="ctr">
              <a:solidFill>
                <a:schemeClr val="tx1"/>
              </a:solidFill>
              <a:round/>
              <a:headEnd/>
              <a:tailEnd/>
            </a:ln>
          </p:spPr>
        </p:cxnSp>
        <p:cxnSp>
          <p:nvCxnSpPr>
            <p:cNvPr id="20" name="Straight Connector 19">
              <a:extLst>
                <a:ext uri="{FF2B5EF4-FFF2-40B4-BE49-F238E27FC236}">
                  <a16:creationId xmlns:a16="http://schemas.microsoft.com/office/drawing/2014/main" id="{260EF6BE-6446-0279-85D1-3AD83F7E2F44}"/>
                </a:ext>
              </a:extLst>
            </p:cNvPr>
            <p:cNvCxnSpPr>
              <a:cxnSpLocks noChangeShapeType="1"/>
            </p:cNvCxnSpPr>
            <p:nvPr/>
          </p:nvCxnSpPr>
          <p:spPr bwMode="auto">
            <a:xfrm rot="10800000" flipV="1">
              <a:off x="1958975" y="3716338"/>
              <a:ext cx="798513" cy="666750"/>
            </a:xfrm>
            <a:prstGeom prst="line">
              <a:avLst/>
            </a:prstGeom>
            <a:noFill/>
            <a:ln w="12700" cap="sq" algn="ctr">
              <a:solidFill>
                <a:schemeClr val="tx1"/>
              </a:solidFill>
              <a:round/>
              <a:headEnd/>
              <a:tailEnd/>
            </a:ln>
          </p:spPr>
        </p:cxnSp>
        <p:cxnSp>
          <p:nvCxnSpPr>
            <p:cNvPr id="21" name="Straight Connector 20">
              <a:extLst>
                <a:ext uri="{FF2B5EF4-FFF2-40B4-BE49-F238E27FC236}">
                  <a16:creationId xmlns:a16="http://schemas.microsoft.com/office/drawing/2014/main" id="{C3BEEE41-4957-8B41-7D55-C1B47F3CAE83}"/>
                </a:ext>
              </a:extLst>
            </p:cNvPr>
            <p:cNvCxnSpPr>
              <a:cxnSpLocks noChangeShapeType="1"/>
            </p:cNvCxnSpPr>
            <p:nvPr/>
          </p:nvCxnSpPr>
          <p:spPr bwMode="auto">
            <a:xfrm rot="10800000">
              <a:off x="668338" y="3121025"/>
              <a:ext cx="725487" cy="595313"/>
            </a:xfrm>
            <a:prstGeom prst="line">
              <a:avLst/>
            </a:prstGeom>
            <a:noFill/>
            <a:ln w="12700" cap="sq" algn="ctr">
              <a:solidFill>
                <a:schemeClr val="tx1"/>
              </a:solidFill>
              <a:round/>
              <a:headEnd/>
              <a:tailEnd/>
            </a:ln>
          </p:spPr>
        </p:cxnSp>
        <p:cxnSp>
          <p:nvCxnSpPr>
            <p:cNvPr id="22" name="Straight Connector 21">
              <a:extLst>
                <a:ext uri="{FF2B5EF4-FFF2-40B4-BE49-F238E27FC236}">
                  <a16:creationId xmlns:a16="http://schemas.microsoft.com/office/drawing/2014/main" id="{60C7B4F4-E5CF-A51A-72E7-AB756B573D8E}"/>
                </a:ext>
              </a:extLst>
            </p:cNvPr>
            <p:cNvCxnSpPr>
              <a:cxnSpLocks noChangeShapeType="1"/>
            </p:cNvCxnSpPr>
            <p:nvPr/>
          </p:nvCxnSpPr>
          <p:spPr bwMode="auto">
            <a:xfrm rot="10800000" flipV="1">
              <a:off x="668338" y="3730625"/>
              <a:ext cx="725487" cy="565150"/>
            </a:xfrm>
            <a:prstGeom prst="line">
              <a:avLst/>
            </a:prstGeom>
            <a:noFill/>
            <a:ln w="12700" cap="sq" algn="ctr">
              <a:solidFill>
                <a:schemeClr val="tx1"/>
              </a:solidFill>
              <a:round/>
              <a:headEnd/>
              <a:tailEnd/>
            </a:ln>
          </p:spPr>
        </p:cxnSp>
        <p:sp>
          <p:nvSpPr>
            <p:cNvPr id="23" name="Rectangle 22">
              <a:extLst>
                <a:ext uri="{FF2B5EF4-FFF2-40B4-BE49-F238E27FC236}">
                  <a16:creationId xmlns:a16="http://schemas.microsoft.com/office/drawing/2014/main" id="{851D10B9-96AB-F579-280A-6A44694F9342}"/>
                </a:ext>
              </a:extLst>
            </p:cNvPr>
            <p:cNvSpPr>
              <a:spLocks noChangeArrowheads="1"/>
            </p:cNvSpPr>
            <p:nvPr/>
          </p:nvSpPr>
          <p:spPr bwMode="auto">
            <a:xfrm>
              <a:off x="1785938" y="2903538"/>
              <a:ext cx="434975" cy="217487"/>
            </a:xfrm>
            <a:prstGeom prst="rect">
              <a:avLst/>
            </a:prstGeom>
            <a:solidFill>
              <a:schemeClr val="bg1"/>
            </a:solidFill>
            <a:ln w="12700" cap="sq" algn="ctr">
              <a:solidFill>
                <a:schemeClr val="tx1"/>
              </a:solidFill>
              <a:round/>
              <a:headEnd/>
              <a:tailEnd/>
            </a:ln>
          </p:spPr>
          <p:txBody>
            <a:bodyPr wrap="none" anchor="ctr"/>
            <a:lstStyle/>
            <a:p>
              <a:pPr algn="ctr" eaLnBrk="0" hangingPunct="0">
                <a:lnSpc>
                  <a:spcPct val="80000"/>
                </a:lnSpc>
                <a:spcBef>
                  <a:spcPct val="20000"/>
                </a:spcBef>
              </a:pPr>
              <a:endParaRPr lang="en-US">
                <a:latin typeface="Roboto" panose="02000000000000000000" pitchFamily="2" charset="0"/>
                <a:ea typeface="Roboto" panose="02000000000000000000" pitchFamily="2" charset="0"/>
              </a:endParaRPr>
            </a:p>
          </p:txBody>
        </p:sp>
        <p:sp>
          <p:nvSpPr>
            <p:cNvPr id="24" name="Rectangle 23">
              <a:extLst>
                <a:ext uri="{FF2B5EF4-FFF2-40B4-BE49-F238E27FC236}">
                  <a16:creationId xmlns:a16="http://schemas.microsoft.com/office/drawing/2014/main" id="{6908F2A7-9F14-6284-AF75-3FD4E7562AE0}"/>
                </a:ext>
              </a:extLst>
            </p:cNvPr>
            <p:cNvSpPr>
              <a:spLocks noChangeArrowheads="1"/>
            </p:cNvSpPr>
            <p:nvPr/>
          </p:nvSpPr>
          <p:spPr bwMode="auto">
            <a:xfrm>
              <a:off x="1755775" y="4397375"/>
              <a:ext cx="406400" cy="203200"/>
            </a:xfrm>
            <a:prstGeom prst="rect">
              <a:avLst/>
            </a:prstGeom>
            <a:solidFill>
              <a:schemeClr val="bg1"/>
            </a:solidFill>
            <a:ln w="12700" cap="sq" algn="ctr">
              <a:solidFill>
                <a:schemeClr val="tx1"/>
              </a:solidFill>
              <a:round/>
              <a:headEnd/>
              <a:tailEnd/>
            </a:ln>
          </p:spPr>
          <p:txBody>
            <a:bodyPr wrap="none" anchor="ctr"/>
            <a:lstStyle/>
            <a:p>
              <a:pPr algn="ctr" eaLnBrk="0" hangingPunct="0">
                <a:lnSpc>
                  <a:spcPct val="80000"/>
                </a:lnSpc>
                <a:spcBef>
                  <a:spcPct val="20000"/>
                </a:spcBef>
              </a:pPr>
              <a:endParaRPr lang="en-US">
                <a:latin typeface="Roboto" panose="02000000000000000000" pitchFamily="2" charset="0"/>
                <a:ea typeface="Roboto" panose="02000000000000000000" pitchFamily="2" charset="0"/>
              </a:endParaRPr>
            </a:p>
          </p:txBody>
        </p:sp>
        <p:sp>
          <p:nvSpPr>
            <p:cNvPr id="25" name="Rectangle 24">
              <a:extLst>
                <a:ext uri="{FF2B5EF4-FFF2-40B4-BE49-F238E27FC236}">
                  <a16:creationId xmlns:a16="http://schemas.microsoft.com/office/drawing/2014/main" id="{365A1852-28D5-4204-BD27-15354424C0CC}"/>
                </a:ext>
              </a:extLst>
            </p:cNvPr>
            <p:cNvSpPr>
              <a:spLocks noChangeArrowheads="1"/>
            </p:cNvSpPr>
            <p:nvPr/>
          </p:nvSpPr>
          <p:spPr bwMode="auto">
            <a:xfrm>
              <a:off x="550863" y="2932113"/>
              <a:ext cx="450850" cy="217487"/>
            </a:xfrm>
            <a:prstGeom prst="rect">
              <a:avLst/>
            </a:prstGeom>
            <a:solidFill>
              <a:schemeClr val="bg1"/>
            </a:solidFill>
            <a:ln w="12700" cap="sq" algn="ctr">
              <a:solidFill>
                <a:schemeClr val="tx1"/>
              </a:solidFill>
              <a:round/>
              <a:headEnd/>
              <a:tailEnd/>
            </a:ln>
          </p:spPr>
          <p:txBody>
            <a:bodyPr wrap="none" anchor="ctr"/>
            <a:lstStyle/>
            <a:p>
              <a:pPr algn="ctr" eaLnBrk="0" hangingPunct="0">
                <a:lnSpc>
                  <a:spcPct val="80000"/>
                </a:lnSpc>
                <a:spcBef>
                  <a:spcPct val="20000"/>
                </a:spcBef>
              </a:pPr>
              <a:endParaRPr lang="en-US">
                <a:latin typeface="Roboto" panose="02000000000000000000" pitchFamily="2" charset="0"/>
                <a:ea typeface="Roboto" panose="02000000000000000000" pitchFamily="2" charset="0"/>
              </a:endParaRPr>
            </a:p>
          </p:txBody>
        </p:sp>
        <p:sp>
          <p:nvSpPr>
            <p:cNvPr id="26" name="Rectangle 25">
              <a:extLst>
                <a:ext uri="{FF2B5EF4-FFF2-40B4-BE49-F238E27FC236}">
                  <a16:creationId xmlns:a16="http://schemas.microsoft.com/office/drawing/2014/main" id="{C56303B1-6ABA-A3D7-965D-AD762D77AF5E}"/>
                </a:ext>
              </a:extLst>
            </p:cNvPr>
            <p:cNvSpPr>
              <a:spLocks noChangeArrowheads="1"/>
            </p:cNvSpPr>
            <p:nvPr/>
          </p:nvSpPr>
          <p:spPr bwMode="auto">
            <a:xfrm>
              <a:off x="536575" y="4310063"/>
              <a:ext cx="406400" cy="219075"/>
            </a:xfrm>
            <a:prstGeom prst="rect">
              <a:avLst/>
            </a:prstGeom>
            <a:solidFill>
              <a:schemeClr val="bg1"/>
            </a:solidFill>
            <a:ln w="12700" cap="sq" algn="ctr">
              <a:solidFill>
                <a:schemeClr val="tx1"/>
              </a:solidFill>
              <a:round/>
              <a:headEnd/>
              <a:tailEnd/>
            </a:ln>
          </p:spPr>
          <p:txBody>
            <a:bodyPr wrap="none" anchor="ctr"/>
            <a:lstStyle/>
            <a:p>
              <a:pPr algn="ctr" eaLnBrk="0" hangingPunct="0">
                <a:lnSpc>
                  <a:spcPct val="80000"/>
                </a:lnSpc>
                <a:spcBef>
                  <a:spcPct val="20000"/>
                </a:spcBef>
              </a:pPr>
              <a:endParaRPr lang="en-US">
                <a:latin typeface="Roboto" panose="02000000000000000000" pitchFamily="2" charset="0"/>
                <a:ea typeface="Roboto" panose="02000000000000000000" pitchFamily="2" charset="0"/>
              </a:endParaRPr>
            </a:p>
          </p:txBody>
        </p:sp>
        <p:cxnSp>
          <p:nvCxnSpPr>
            <p:cNvPr id="27" name="Straight Connector 26">
              <a:extLst>
                <a:ext uri="{FF2B5EF4-FFF2-40B4-BE49-F238E27FC236}">
                  <a16:creationId xmlns:a16="http://schemas.microsoft.com/office/drawing/2014/main" id="{3D82ECF6-DCD7-C8CD-B9ED-AE15EBBD0C20}"/>
                </a:ext>
              </a:extLst>
            </p:cNvPr>
            <p:cNvCxnSpPr>
              <a:cxnSpLocks noChangeShapeType="1"/>
            </p:cNvCxnSpPr>
            <p:nvPr/>
          </p:nvCxnSpPr>
          <p:spPr bwMode="auto">
            <a:xfrm rot="10800000">
              <a:off x="1785938" y="3381375"/>
              <a:ext cx="508000" cy="1588"/>
            </a:xfrm>
            <a:prstGeom prst="line">
              <a:avLst/>
            </a:prstGeom>
            <a:noFill/>
            <a:ln w="12700" cap="sq" algn="ctr">
              <a:solidFill>
                <a:schemeClr val="tx1"/>
              </a:solidFill>
              <a:round/>
              <a:headEnd/>
              <a:tailEnd/>
            </a:ln>
          </p:spPr>
        </p:cxnSp>
        <p:cxnSp>
          <p:nvCxnSpPr>
            <p:cNvPr id="28" name="Straight Connector 27">
              <a:extLst>
                <a:ext uri="{FF2B5EF4-FFF2-40B4-BE49-F238E27FC236}">
                  <a16:creationId xmlns:a16="http://schemas.microsoft.com/office/drawing/2014/main" id="{6D31327D-4525-55F1-EC60-9B632F7B62F0}"/>
                </a:ext>
              </a:extLst>
            </p:cNvPr>
            <p:cNvCxnSpPr>
              <a:cxnSpLocks noChangeShapeType="1"/>
            </p:cNvCxnSpPr>
            <p:nvPr/>
          </p:nvCxnSpPr>
          <p:spPr bwMode="auto">
            <a:xfrm rot="16200000" flipH="1">
              <a:off x="1778001" y="3389312"/>
              <a:ext cx="203200" cy="187325"/>
            </a:xfrm>
            <a:prstGeom prst="line">
              <a:avLst/>
            </a:prstGeom>
            <a:noFill/>
            <a:ln w="12700" cap="sq" algn="ctr">
              <a:solidFill>
                <a:schemeClr val="tx1"/>
              </a:solidFill>
              <a:round/>
              <a:headEnd/>
              <a:tailEnd/>
            </a:ln>
          </p:spPr>
        </p:cxnSp>
        <p:cxnSp>
          <p:nvCxnSpPr>
            <p:cNvPr id="29" name="Straight Connector 28">
              <a:extLst>
                <a:ext uri="{FF2B5EF4-FFF2-40B4-BE49-F238E27FC236}">
                  <a16:creationId xmlns:a16="http://schemas.microsoft.com/office/drawing/2014/main" id="{B5D70436-7530-6E77-49F8-90A3C0F462A0}"/>
                </a:ext>
              </a:extLst>
            </p:cNvPr>
            <p:cNvCxnSpPr>
              <a:cxnSpLocks noChangeShapeType="1"/>
            </p:cNvCxnSpPr>
            <p:nvPr/>
          </p:nvCxnSpPr>
          <p:spPr bwMode="auto">
            <a:xfrm rot="16200000" flipH="1">
              <a:off x="1988345" y="3396456"/>
              <a:ext cx="188912" cy="187325"/>
            </a:xfrm>
            <a:prstGeom prst="line">
              <a:avLst/>
            </a:prstGeom>
            <a:noFill/>
            <a:ln w="12700" cap="sq" algn="ctr">
              <a:solidFill>
                <a:schemeClr val="tx1"/>
              </a:solidFill>
              <a:round/>
              <a:headEnd/>
              <a:tailEnd/>
            </a:ln>
          </p:spPr>
        </p:cxnSp>
        <p:sp>
          <p:nvSpPr>
            <p:cNvPr id="30" name="TextBox 29">
              <a:extLst>
                <a:ext uri="{FF2B5EF4-FFF2-40B4-BE49-F238E27FC236}">
                  <a16:creationId xmlns:a16="http://schemas.microsoft.com/office/drawing/2014/main" id="{E82E0B01-5F7D-6C6D-AE43-47A73ABE0A29}"/>
                </a:ext>
              </a:extLst>
            </p:cNvPr>
            <p:cNvSpPr txBox="1">
              <a:spLocks noChangeArrowheads="1"/>
            </p:cNvSpPr>
            <p:nvPr/>
          </p:nvSpPr>
          <p:spPr bwMode="auto">
            <a:xfrm>
              <a:off x="3381375" y="4151313"/>
              <a:ext cx="1112838" cy="369332"/>
            </a:xfrm>
            <a:prstGeom prst="rect">
              <a:avLst/>
            </a:prstGeom>
            <a:noFill/>
            <a:ln w="9525">
              <a:noFill/>
              <a:miter lim="800000"/>
              <a:headEnd/>
              <a:tailEnd/>
            </a:ln>
          </p:spPr>
          <p:txBody>
            <a:bodyPr wrap="square">
              <a:spAutoFit/>
            </a:bodyPr>
            <a:lstStyle/>
            <a:p>
              <a:r>
                <a:rPr lang="en-US" b="1" dirty="0">
                  <a:solidFill>
                    <a:schemeClr val="tx1"/>
                  </a:solidFill>
                  <a:latin typeface="Roboto" panose="02000000000000000000" pitchFamily="2" charset="0"/>
                  <a:ea typeface="Roboto" panose="02000000000000000000" pitchFamily="2" charset="0"/>
                </a:rPr>
                <a:t>Problem</a:t>
              </a:r>
            </a:p>
          </p:txBody>
        </p:sp>
        <p:cxnSp>
          <p:nvCxnSpPr>
            <p:cNvPr id="31" name="Straight Arrow Connector 30">
              <a:extLst>
                <a:ext uri="{FF2B5EF4-FFF2-40B4-BE49-F238E27FC236}">
                  <a16:creationId xmlns:a16="http://schemas.microsoft.com/office/drawing/2014/main" id="{58F9305B-98D2-C7C8-9A03-0ACDB903FF63}"/>
                </a:ext>
              </a:extLst>
            </p:cNvPr>
            <p:cNvCxnSpPr>
              <a:cxnSpLocks noChangeShapeType="1"/>
              <a:stCxn id="30" idx="0"/>
              <a:endCxn id="17" idx="2"/>
            </p:cNvCxnSpPr>
            <p:nvPr/>
          </p:nvCxnSpPr>
          <p:spPr bwMode="auto">
            <a:xfrm flipH="1" flipV="1">
              <a:off x="3853657" y="3875088"/>
              <a:ext cx="84137" cy="276225"/>
            </a:xfrm>
            <a:prstGeom prst="straightConnector1">
              <a:avLst/>
            </a:prstGeom>
            <a:noFill/>
            <a:ln w="12700" cap="sq" algn="ctr">
              <a:solidFill>
                <a:schemeClr val="tx1"/>
              </a:solidFill>
              <a:round/>
              <a:headEnd/>
              <a:tailEnd type="arrow" w="med" len="med"/>
            </a:ln>
          </p:spPr>
        </p:cxnSp>
        <p:sp>
          <p:nvSpPr>
            <p:cNvPr id="32" name="TextBox 31">
              <a:extLst>
                <a:ext uri="{FF2B5EF4-FFF2-40B4-BE49-F238E27FC236}">
                  <a16:creationId xmlns:a16="http://schemas.microsoft.com/office/drawing/2014/main" id="{23D70B69-2008-25DD-EC41-EBD43FD34A0A}"/>
                </a:ext>
              </a:extLst>
            </p:cNvPr>
            <p:cNvSpPr txBox="1">
              <a:spLocks noChangeArrowheads="1"/>
            </p:cNvSpPr>
            <p:nvPr/>
          </p:nvSpPr>
          <p:spPr bwMode="auto">
            <a:xfrm>
              <a:off x="2511425" y="2700338"/>
              <a:ext cx="1342232" cy="369332"/>
            </a:xfrm>
            <a:prstGeom prst="rect">
              <a:avLst/>
            </a:prstGeom>
            <a:noFill/>
            <a:ln w="9525">
              <a:noFill/>
              <a:miter lim="800000"/>
              <a:headEnd/>
              <a:tailEnd/>
            </a:ln>
          </p:spPr>
          <p:txBody>
            <a:bodyPr wrap="square">
              <a:spAutoFit/>
            </a:bodyPr>
            <a:lstStyle/>
            <a:p>
              <a:r>
                <a:rPr lang="en-US" b="1" dirty="0">
                  <a:solidFill>
                    <a:schemeClr val="tx1"/>
                  </a:solidFill>
                  <a:latin typeface="Roboto" panose="02000000000000000000" pitchFamily="2" charset="0"/>
                  <a:ea typeface="Roboto" panose="02000000000000000000" pitchFamily="2" charset="0"/>
                </a:rPr>
                <a:t>Categories</a:t>
              </a:r>
            </a:p>
          </p:txBody>
        </p:sp>
        <p:cxnSp>
          <p:nvCxnSpPr>
            <p:cNvPr id="33" name="Straight Arrow Connector 32">
              <a:extLst>
                <a:ext uri="{FF2B5EF4-FFF2-40B4-BE49-F238E27FC236}">
                  <a16:creationId xmlns:a16="http://schemas.microsoft.com/office/drawing/2014/main" id="{5D2DBEA9-C71A-4234-5400-0DB7E91806F9}"/>
                </a:ext>
              </a:extLst>
            </p:cNvPr>
            <p:cNvCxnSpPr>
              <a:cxnSpLocks noChangeShapeType="1"/>
              <a:stCxn id="32" idx="1"/>
            </p:cNvCxnSpPr>
            <p:nvPr/>
          </p:nvCxnSpPr>
          <p:spPr bwMode="auto">
            <a:xfrm flipH="1">
              <a:off x="2263775" y="2885004"/>
              <a:ext cx="247650" cy="18534"/>
            </a:xfrm>
            <a:prstGeom prst="straightConnector1">
              <a:avLst/>
            </a:prstGeom>
            <a:noFill/>
            <a:ln w="12700" cap="sq" algn="ctr">
              <a:solidFill>
                <a:schemeClr val="tx1"/>
              </a:solidFill>
              <a:round/>
              <a:headEnd/>
              <a:tailEnd type="arrow" w="med" len="med"/>
            </a:ln>
          </p:spPr>
        </p:cxnSp>
      </p:grpSp>
    </p:spTree>
    <p:extLst>
      <p:ext uri="{BB962C8B-B14F-4D97-AF65-F5344CB8AC3E}">
        <p14:creationId xmlns:p14="http://schemas.microsoft.com/office/powerpoint/2010/main" val="9417615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Fishbone Diagram Categories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6 M’s (Machines, Materials, Methods, Manpower, Measurement, Mother Nature)</a:t>
            </a:r>
          </a:p>
          <a:p>
            <a:pPr lvl="1"/>
            <a:r>
              <a:rPr lang="en-US" dirty="0"/>
              <a:t>Most popular (when dealing with products)</a:t>
            </a:r>
          </a:p>
          <a:p>
            <a:r>
              <a:rPr lang="en-US" dirty="0"/>
              <a:t>Other commonly used categories</a:t>
            </a:r>
          </a:p>
          <a:p>
            <a:pPr lvl="1"/>
            <a:r>
              <a:rPr lang="en-US" dirty="0"/>
              <a:t>Policies, procedures, people and plant when dealing with administrative areas</a:t>
            </a:r>
          </a:p>
          <a:p>
            <a:endParaRPr lang="en-US" dirty="0"/>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135</a:t>
            </a:fld>
            <a:endParaRPr lang="en-US"/>
          </a:p>
        </p:txBody>
      </p:sp>
    </p:spTree>
    <p:extLst>
      <p:ext uri="{BB962C8B-B14F-4D97-AF65-F5344CB8AC3E}">
        <p14:creationId xmlns:p14="http://schemas.microsoft.com/office/powerpoint/2010/main" val="293914845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Developmental Hints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a:bodyPr>
          <a:lstStyle/>
          <a:p>
            <a:r>
              <a:rPr lang="en-US" dirty="0"/>
              <a:t>Try not to go beyond the area of the group in order to minimize frustration</a:t>
            </a:r>
          </a:p>
          <a:p>
            <a:r>
              <a:rPr lang="en-US" dirty="0"/>
              <a:t>If ideas are slow in coming, use the major cause categories as catalysts</a:t>
            </a:r>
          </a:p>
          <a:p>
            <a:r>
              <a:rPr lang="en-US" dirty="0"/>
              <a:t>Use as few words as possible</a:t>
            </a:r>
          </a:p>
          <a:p>
            <a:r>
              <a:rPr lang="en-US" dirty="0"/>
              <a:t>Make sure everyone agrees completely on the problem statement.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136</a:t>
            </a:fld>
            <a:endParaRPr lang="en-US"/>
          </a:p>
        </p:txBody>
      </p:sp>
      <p:sp>
        <p:nvSpPr>
          <p:cNvPr id="15" name="AutoShape 12">
            <a:extLst>
              <a:ext uri="{FF2B5EF4-FFF2-40B4-BE49-F238E27FC236}">
                <a16:creationId xmlns:a16="http://schemas.microsoft.com/office/drawing/2014/main" id="{96CFBAAF-1D3C-D03F-2615-5771D1DCC83D}"/>
              </a:ext>
            </a:extLst>
          </p:cNvPr>
          <p:cNvSpPr>
            <a:spLocks noChangeArrowheads="1"/>
          </p:cNvSpPr>
          <p:nvPr/>
        </p:nvSpPr>
        <p:spPr bwMode="auto">
          <a:xfrm>
            <a:off x="5804535" y="2597150"/>
            <a:ext cx="352425" cy="2493963"/>
          </a:xfrm>
          <a:prstGeom prst="rightArrow">
            <a:avLst>
              <a:gd name="adj1" fmla="val 67278"/>
              <a:gd name="adj2" fmla="val 72222"/>
            </a:avLst>
          </a:prstGeom>
          <a:solidFill>
            <a:schemeClr val="accent1"/>
          </a:solidFill>
          <a:ln w="19050" cap="sq" algn="ctr">
            <a:solidFill>
              <a:schemeClr val="tx1"/>
            </a:solidFill>
            <a:miter lim="800000"/>
            <a:headEnd/>
            <a:tailEnd/>
          </a:ln>
        </p:spPr>
        <p:txBody>
          <a:bodyPr wrap="none" anchor="ctr"/>
          <a:lstStyle/>
          <a:p>
            <a:endParaRPr lang="en-US"/>
          </a:p>
        </p:txBody>
      </p:sp>
      <p:pic>
        <p:nvPicPr>
          <p:cNvPr id="3" name="Picture 24" descr="C&amp;E Diagram">
            <a:extLst>
              <a:ext uri="{FF2B5EF4-FFF2-40B4-BE49-F238E27FC236}">
                <a16:creationId xmlns:a16="http://schemas.microsoft.com/office/drawing/2014/main" id="{EE559E71-8652-0FFC-3FAC-FC5C84812057}"/>
              </a:ext>
            </a:extLst>
          </p:cNvPr>
          <p:cNvPicPr>
            <a:picLocks noChangeAspect="1" noChangeArrowheads="1"/>
          </p:cNvPicPr>
          <p:nvPr/>
        </p:nvPicPr>
        <p:blipFill>
          <a:blip r:embed="rId3"/>
          <a:srcRect/>
          <a:stretch>
            <a:fillRect/>
          </a:stretch>
        </p:blipFill>
        <p:spPr bwMode="auto">
          <a:xfrm>
            <a:off x="520700" y="1989138"/>
            <a:ext cx="5211002" cy="3600132"/>
          </a:xfrm>
          <a:prstGeom prst="rect">
            <a:avLst/>
          </a:prstGeom>
          <a:noFill/>
          <a:ln w="9525">
            <a:noFill/>
            <a:miter lim="800000"/>
            <a:headEnd/>
            <a:tailEnd/>
          </a:ln>
        </p:spPr>
      </p:pic>
    </p:spTree>
    <p:extLst>
      <p:ext uri="{BB962C8B-B14F-4D97-AF65-F5344CB8AC3E}">
        <p14:creationId xmlns:p14="http://schemas.microsoft.com/office/powerpoint/2010/main" val="116559857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Fishbone Analysis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Fishbone Diagram for a Given Problem</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Divide into small groups (3 – 5).  Identify a problem and write a problem statement. </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6 M’s, develop a Fishbone Diagram to identify root causes for the problem.</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Based on the diagram, identify where to focus </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Problem-Solving efforts.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Fishbone Analysis.  Report key takeaways to group</a:t>
            </a:r>
          </a:p>
        </p:txBody>
      </p:sp>
    </p:spTree>
    <p:extLst>
      <p:ext uri="{BB962C8B-B14F-4D97-AF65-F5344CB8AC3E}">
        <p14:creationId xmlns:p14="http://schemas.microsoft.com/office/powerpoint/2010/main" val="11075175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56923-A247-4255-607A-12BD8D220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AD782-623D-451F-3CD0-F2AD90C54332}"/>
              </a:ext>
            </a:extLst>
          </p:cNvPr>
          <p:cNvSpPr>
            <a:spLocks noGrp="1"/>
          </p:cNvSpPr>
          <p:nvPr>
            <p:ph type="title"/>
          </p:nvPr>
        </p:nvSpPr>
        <p:spPr/>
        <p:txBody>
          <a:bodyPr/>
          <a:lstStyle/>
          <a:p>
            <a:r>
              <a:rPr lang="en-US" dirty="0"/>
              <a:t>5 Whys</a:t>
            </a:r>
          </a:p>
        </p:txBody>
      </p:sp>
      <p:grpSp>
        <p:nvGrpSpPr>
          <p:cNvPr id="14" name="Group 13">
            <a:extLst>
              <a:ext uri="{FF2B5EF4-FFF2-40B4-BE49-F238E27FC236}">
                <a16:creationId xmlns:a16="http://schemas.microsoft.com/office/drawing/2014/main" id="{B81B2C67-ED67-F707-5BD4-390299E811BD}"/>
              </a:ext>
            </a:extLst>
          </p:cNvPr>
          <p:cNvGrpSpPr/>
          <p:nvPr/>
        </p:nvGrpSpPr>
        <p:grpSpPr>
          <a:xfrm>
            <a:off x="838200" y="2009482"/>
            <a:ext cx="10799137" cy="599825"/>
            <a:chOff x="1056549" y="1919926"/>
            <a:chExt cx="10799137" cy="599825"/>
          </a:xfrm>
          <a:solidFill>
            <a:schemeClr val="tx1"/>
          </a:solidFill>
        </p:grpSpPr>
        <p:sp>
          <p:nvSpPr>
            <p:cNvPr id="15" name="AutoShape 9">
              <a:extLst>
                <a:ext uri="{FF2B5EF4-FFF2-40B4-BE49-F238E27FC236}">
                  <a16:creationId xmlns:a16="http://schemas.microsoft.com/office/drawing/2014/main" id="{3EC84947-1A16-9BD0-A0B3-3CD5FD5FEC59}"/>
                </a:ext>
              </a:extLst>
            </p:cNvPr>
            <p:cNvSpPr>
              <a:spLocks noChangeArrowheads="1"/>
            </p:cNvSpPr>
            <p:nvPr/>
          </p:nvSpPr>
          <p:spPr bwMode="auto">
            <a:xfrm>
              <a:off x="7911282" y="1919926"/>
              <a:ext cx="3944404" cy="599825"/>
            </a:xfrm>
            <a:prstGeom prst="homePlate">
              <a:avLst>
                <a:gd name="adj" fmla="val 5779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Examples</a:t>
              </a:r>
            </a:p>
          </p:txBody>
        </p:sp>
        <p:sp>
          <p:nvSpPr>
            <p:cNvPr id="17" name="AutoShape 10">
              <a:extLst>
                <a:ext uri="{FF2B5EF4-FFF2-40B4-BE49-F238E27FC236}">
                  <a16:creationId xmlns:a16="http://schemas.microsoft.com/office/drawing/2014/main" id="{62636785-5DC4-89E3-2089-5AF70FED8B52}"/>
                </a:ext>
              </a:extLst>
            </p:cNvPr>
            <p:cNvSpPr>
              <a:spLocks noChangeArrowheads="1"/>
            </p:cNvSpPr>
            <p:nvPr/>
          </p:nvSpPr>
          <p:spPr bwMode="auto">
            <a:xfrm>
              <a:off x="4480036" y="1919926"/>
              <a:ext cx="3807320" cy="599825"/>
            </a:xfrm>
            <a:prstGeom prst="homePlate">
              <a:avLst>
                <a:gd name="adj" fmla="val 48586"/>
              </a:avLst>
            </a:prstGeom>
            <a:grpFill/>
            <a:ln w="19050">
              <a:solidFill>
                <a:schemeClr val="bg1"/>
              </a:solidFill>
              <a:miter lim="800000"/>
              <a:headEnd/>
              <a:tailEnd/>
            </a:ln>
          </p:spPr>
          <p:txBody>
            <a:bodyPr lIns="45720" tIns="46038" rIns="45720" bIns="46038" anchor="ctr"/>
            <a:lstStyle/>
            <a:p>
              <a:pPr marL="171450" algn="ctr">
                <a:lnSpc>
                  <a:spcPct val="95000"/>
                </a:lnSpc>
              </a:pPr>
              <a:r>
                <a:rPr lang="en-US" b="1" dirty="0">
                  <a:solidFill>
                    <a:schemeClr val="bg1"/>
                  </a:solidFill>
                  <a:latin typeface="Roboto" panose="02000000000000000000" pitchFamily="2" charset="0"/>
                  <a:ea typeface="Roboto" panose="02000000000000000000" pitchFamily="2" charset="0"/>
                </a:rPr>
                <a:t>Purpose</a:t>
              </a:r>
            </a:p>
          </p:txBody>
        </p:sp>
        <p:sp>
          <p:nvSpPr>
            <p:cNvPr id="18" name="AutoShape 11">
              <a:extLst>
                <a:ext uri="{FF2B5EF4-FFF2-40B4-BE49-F238E27FC236}">
                  <a16:creationId xmlns:a16="http://schemas.microsoft.com/office/drawing/2014/main" id="{FC10B7FF-A829-D028-44FA-6519FB070D52}"/>
                </a:ext>
              </a:extLst>
            </p:cNvPr>
            <p:cNvSpPr>
              <a:spLocks noChangeArrowheads="1"/>
            </p:cNvSpPr>
            <p:nvPr/>
          </p:nvSpPr>
          <p:spPr bwMode="auto">
            <a:xfrm>
              <a:off x="1056549" y="1919926"/>
              <a:ext cx="3799561" cy="599825"/>
            </a:xfrm>
            <a:prstGeom prst="homePlate">
              <a:avLst>
                <a:gd name="adj" fmla="val 54200"/>
              </a:avLst>
            </a:prstGeom>
            <a:grpFill/>
            <a:ln w="19050">
              <a:solidFill>
                <a:schemeClr val="bg1"/>
              </a:solidFill>
              <a:miter lim="800000"/>
              <a:headEnd/>
              <a:tailEnd/>
            </a:ln>
          </p:spPr>
          <p:txBody>
            <a:bodyPr lIns="45720" tIns="46038" rIns="45720" bIns="46038" anchor="ctr"/>
            <a:lstStyle/>
            <a:p>
              <a:pPr algn="ctr">
                <a:lnSpc>
                  <a:spcPct val="95000"/>
                </a:lnSpc>
              </a:pPr>
              <a:r>
                <a:rPr lang="en-US" b="1" dirty="0">
                  <a:solidFill>
                    <a:schemeClr val="bg1"/>
                  </a:solidFill>
                  <a:latin typeface="Roboto" panose="02000000000000000000" pitchFamily="2" charset="0"/>
                  <a:ea typeface="Roboto" panose="02000000000000000000" pitchFamily="2" charset="0"/>
                </a:rPr>
                <a:t>Definition</a:t>
              </a:r>
            </a:p>
          </p:txBody>
        </p:sp>
      </p:grpSp>
      <p:sp>
        <p:nvSpPr>
          <p:cNvPr id="21" name="TextBox 20">
            <a:extLst>
              <a:ext uri="{FF2B5EF4-FFF2-40B4-BE49-F238E27FC236}">
                <a16:creationId xmlns:a16="http://schemas.microsoft.com/office/drawing/2014/main" id="{D4A9415D-99A6-663B-7271-789CABA1C588}"/>
              </a:ext>
            </a:extLst>
          </p:cNvPr>
          <p:cNvSpPr txBox="1"/>
          <p:nvPr/>
        </p:nvSpPr>
        <p:spPr>
          <a:xfrm>
            <a:off x="564652" y="2892056"/>
            <a:ext cx="392213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A root cause analysis method that involves asking "Why?" five times, or as many times as necessary, to peel away the layers of symptoms and reach the underlying cause of a problem.</a:t>
            </a:r>
          </a:p>
          <a:p>
            <a:pPr marL="285750" indent="-285750">
              <a:buFont typeface="Arial" panose="020B0604020202020204" pitchFamily="34" charset="0"/>
              <a:buChar char="•"/>
            </a:pPr>
            <a:r>
              <a:rPr lang="en-US" dirty="0"/>
              <a:t>Must be used in conjunction with other Problem-Solving tools</a:t>
            </a:r>
          </a:p>
          <a:p>
            <a:pPr marL="285750" indent="-285750">
              <a:buFont typeface="Arial" panose="020B0604020202020204" pitchFamily="34" charset="0"/>
              <a:buChar char="•"/>
            </a:pPr>
            <a:r>
              <a:rPr lang="en-US" dirty="0"/>
              <a:t>Must have a well-defined problem statement in order to effectively focus the analysis and arrive at the correct root cause.</a:t>
            </a:r>
          </a:p>
          <a:p>
            <a:pPr marL="285750" indent="-285750">
              <a:buFont typeface="Arial" panose="020B0604020202020204" pitchFamily="34" charset="0"/>
              <a:buChar char="•"/>
            </a:pPr>
            <a:endParaRPr lang="en-US" dirty="0"/>
          </a:p>
        </p:txBody>
      </p:sp>
      <p:sp>
        <p:nvSpPr>
          <p:cNvPr id="22" name="TextBox 21">
            <a:extLst>
              <a:ext uri="{FF2B5EF4-FFF2-40B4-BE49-F238E27FC236}">
                <a16:creationId xmlns:a16="http://schemas.microsoft.com/office/drawing/2014/main" id="{6B34AF78-D672-1C1E-B040-B2FEEE9578C7}"/>
              </a:ext>
            </a:extLst>
          </p:cNvPr>
          <p:cNvSpPr txBox="1"/>
          <p:nvPr/>
        </p:nvSpPr>
        <p:spPr>
          <a:xfrm>
            <a:off x="4384256" y="2892056"/>
            <a:ext cx="342348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To systematically drill down into a problem's details and circumstances to ensure that any corrective actions address the fundamental reasons for the issue rather than merely treating its superficial symptoms.</a:t>
            </a:r>
          </a:p>
        </p:txBody>
      </p:sp>
      <p:sp>
        <p:nvSpPr>
          <p:cNvPr id="23" name="TextBox 22">
            <a:extLst>
              <a:ext uri="{FF2B5EF4-FFF2-40B4-BE49-F238E27FC236}">
                <a16:creationId xmlns:a16="http://schemas.microsoft.com/office/drawing/2014/main" id="{60F545AD-26B7-2D36-620C-1462D11D2D0B}"/>
              </a:ext>
            </a:extLst>
          </p:cNvPr>
          <p:cNvSpPr txBox="1"/>
          <p:nvPr/>
        </p:nvSpPr>
        <p:spPr>
          <a:xfrm>
            <a:off x="7930312" y="2892056"/>
            <a:ext cx="4164706" cy="2031325"/>
          </a:xfrm>
          <a:prstGeom prst="rect">
            <a:avLst/>
          </a:prstGeom>
          <a:noFill/>
        </p:spPr>
        <p:txBody>
          <a:bodyPr wrap="square" rtlCol="0">
            <a:spAutoFit/>
          </a:bodyPr>
          <a:lstStyle/>
          <a:p>
            <a:pPr marL="285750" indent="-285750">
              <a:buFont typeface="Arial" panose="020B0604020202020204" pitchFamily="34" charset="0"/>
              <a:buChar char="•"/>
            </a:pPr>
            <a:r>
              <a:rPr lang="en-US" dirty="0"/>
              <a:t>5 Whys help you discover:</a:t>
            </a:r>
          </a:p>
          <a:p>
            <a:pPr marL="742950" lvl="1" indent="-285750">
              <a:buFont typeface="Arial" panose="020B0604020202020204" pitchFamily="34" charset="0"/>
              <a:buChar char="•"/>
            </a:pPr>
            <a:r>
              <a:rPr lang="en-US" dirty="0"/>
              <a:t>Why the error was made.</a:t>
            </a:r>
          </a:p>
          <a:p>
            <a:pPr marL="742950" lvl="1" indent="-285750">
              <a:buFont typeface="Arial" panose="020B0604020202020204" pitchFamily="34" charset="0"/>
              <a:buChar char="•"/>
            </a:pPr>
            <a:r>
              <a:rPr lang="en-US" dirty="0"/>
              <a:t>Why the problem happened.</a:t>
            </a:r>
          </a:p>
          <a:p>
            <a:pPr marL="742950" lvl="1" indent="-285750">
              <a:buFont typeface="Arial" panose="020B0604020202020204" pitchFamily="34" charset="0"/>
              <a:buChar char="•"/>
            </a:pPr>
            <a:r>
              <a:rPr lang="en-US" dirty="0"/>
              <a:t>Why the system failed.</a:t>
            </a:r>
          </a:p>
          <a:p>
            <a:pPr marL="742950" lvl="1" indent="-285750">
              <a:buFont typeface="Arial" panose="020B0604020202020204" pitchFamily="34" charset="0"/>
              <a:buChar char="•"/>
            </a:pPr>
            <a:r>
              <a:rPr lang="en-US" dirty="0"/>
              <a:t>Why it takes so long.</a:t>
            </a:r>
          </a:p>
          <a:p>
            <a:pPr marL="742950" lvl="1" indent="-285750">
              <a:buFont typeface="Arial" panose="020B0604020202020204" pitchFamily="34" charset="0"/>
              <a:buChar char="•"/>
            </a:pPr>
            <a:r>
              <a:rPr lang="en-US" dirty="0"/>
              <a:t>Why the error keeps happening.</a:t>
            </a:r>
          </a:p>
          <a:p>
            <a:pPr marL="742950" lvl="1" indent="-285750">
              <a:buFont typeface="Arial" panose="020B0604020202020204" pitchFamily="34" charset="0"/>
              <a:buChar char="•"/>
            </a:pPr>
            <a:r>
              <a:rPr lang="en-US" dirty="0"/>
              <a:t>Why the error wasn’t detected.</a:t>
            </a:r>
            <a:endParaRPr lang="en-US" sz="1400" dirty="0"/>
          </a:p>
        </p:txBody>
      </p:sp>
    </p:spTree>
    <p:extLst>
      <p:ext uri="{BB962C8B-B14F-4D97-AF65-F5344CB8AC3E}">
        <p14:creationId xmlns:p14="http://schemas.microsoft.com/office/powerpoint/2010/main" val="8712634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D585E-31E7-5B4F-0BB5-75ADBCCF23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6B512-7872-E7F0-E6ED-C15B2F3AF685}"/>
              </a:ext>
            </a:extLst>
          </p:cNvPr>
          <p:cNvSpPr>
            <a:spLocks noGrp="1"/>
          </p:cNvSpPr>
          <p:nvPr>
            <p:ph type="title"/>
          </p:nvPr>
        </p:nvSpPr>
        <p:spPr/>
        <p:txBody>
          <a:bodyPr>
            <a:noAutofit/>
          </a:bodyPr>
          <a:lstStyle/>
          <a:p>
            <a:r>
              <a:rPr lang="en-US" sz="2000" dirty="0"/>
              <a:t>Problem: </a:t>
            </a:r>
            <a:br>
              <a:rPr lang="en-US" sz="2000" dirty="0"/>
            </a:br>
            <a:r>
              <a:rPr lang="en-US" sz="2000" dirty="0"/>
              <a:t>The Washington Monument is Disintegrating</a:t>
            </a:r>
          </a:p>
        </p:txBody>
      </p:sp>
      <p:pic>
        <p:nvPicPr>
          <p:cNvPr id="6" name="Content Placeholder 5">
            <a:extLst>
              <a:ext uri="{FF2B5EF4-FFF2-40B4-BE49-F238E27FC236}">
                <a16:creationId xmlns:a16="http://schemas.microsoft.com/office/drawing/2014/main" id="{F9F45869-D052-540A-69A9-82BC46AB180E}"/>
              </a:ext>
            </a:extLst>
          </p:cNvPr>
          <p:cNvPicPr>
            <a:picLocks noGrp="1" noChangeAspect="1"/>
          </p:cNvPicPr>
          <p:nvPr>
            <p:ph idx="1"/>
          </p:nvPr>
        </p:nvPicPr>
        <p:blipFill>
          <a:blip r:embed="rId3"/>
          <a:stretch>
            <a:fillRect/>
          </a:stretch>
        </p:blipFill>
        <p:spPr>
          <a:xfrm>
            <a:off x="4924425" y="1371888"/>
            <a:ext cx="3249083" cy="4873625"/>
          </a:xfrm>
        </p:spPr>
      </p:pic>
      <p:sp>
        <p:nvSpPr>
          <p:cNvPr id="4" name="Text Placeholder 3">
            <a:extLst>
              <a:ext uri="{FF2B5EF4-FFF2-40B4-BE49-F238E27FC236}">
                <a16:creationId xmlns:a16="http://schemas.microsoft.com/office/drawing/2014/main" id="{B92340BE-6438-07C7-B561-62D233DA28B9}"/>
              </a:ext>
            </a:extLst>
          </p:cNvPr>
          <p:cNvSpPr>
            <a:spLocks noGrp="1"/>
          </p:cNvSpPr>
          <p:nvPr>
            <p:ph type="body" sz="half" idx="2"/>
          </p:nvPr>
        </p:nvSpPr>
        <p:spPr>
          <a:xfrm>
            <a:off x="394855" y="1991565"/>
            <a:ext cx="4377171" cy="4409236"/>
          </a:xfrm>
        </p:spPr>
        <p:txBody>
          <a:bodyPr>
            <a:normAutofit fontScale="92500"/>
          </a:bodyPr>
          <a:lstStyle/>
          <a:p>
            <a:pPr marL="342900" indent="-342900">
              <a:buFont typeface="+mj-lt"/>
              <a:buAutoNum type="arabicPeriod"/>
            </a:pPr>
            <a:r>
              <a:rPr lang="en-US" b="1" u="sng" dirty="0"/>
              <a:t>Why</a:t>
            </a:r>
            <a:r>
              <a:rPr lang="en-US" b="1" dirty="0"/>
              <a:t> is the Washington Monument disintegrating?</a:t>
            </a:r>
            <a:r>
              <a:rPr lang="en-US" dirty="0"/>
              <a:t> </a:t>
            </a:r>
          </a:p>
          <a:p>
            <a:pPr marL="800100" lvl="1" indent="-342900">
              <a:buFont typeface="Arial" panose="020B0604020202020204" pitchFamily="34" charset="0"/>
              <a:buChar char="•"/>
            </a:pPr>
            <a:r>
              <a:rPr lang="en-US" dirty="0"/>
              <a:t>The monument is being cleaned with harsh chemicals.</a:t>
            </a:r>
          </a:p>
          <a:p>
            <a:pPr marL="342900" indent="-342900">
              <a:buFont typeface="+mj-lt"/>
              <a:buAutoNum type="arabicPeriod"/>
            </a:pPr>
            <a:r>
              <a:rPr lang="en-US" b="1" u="sng" dirty="0"/>
              <a:t>Why</a:t>
            </a:r>
            <a:r>
              <a:rPr lang="en-US" b="1" dirty="0"/>
              <a:t> is it frequently cleaned with harsh chemicals?</a:t>
            </a:r>
          </a:p>
          <a:p>
            <a:pPr marL="800100" lvl="1" indent="-342900">
              <a:buFont typeface="Arial" panose="020B0604020202020204" pitchFamily="34" charset="0"/>
              <a:buChar char="•"/>
            </a:pPr>
            <a:r>
              <a:rPr lang="en-US" dirty="0"/>
              <a:t>There is a lot of pigeon poop on the monument.</a:t>
            </a:r>
          </a:p>
          <a:p>
            <a:pPr marL="342900" indent="-342900">
              <a:buFont typeface="+mj-lt"/>
              <a:buAutoNum type="arabicPeriod"/>
            </a:pPr>
            <a:r>
              <a:rPr lang="en-US" b="1" u="sng" dirty="0"/>
              <a:t>Why</a:t>
            </a:r>
            <a:r>
              <a:rPr lang="en-US" b="1" dirty="0"/>
              <a:t> are there a lot of pigeons around the monument?</a:t>
            </a:r>
          </a:p>
          <a:p>
            <a:pPr marL="800100" lvl="1" indent="-342900">
              <a:buFont typeface="Arial" panose="020B0604020202020204" pitchFamily="34" charset="0"/>
              <a:buChar char="•"/>
            </a:pPr>
            <a:r>
              <a:rPr lang="en-US" dirty="0"/>
              <a:t>Pigeons eat spiders nesting in the monument.</a:t>
            </a:r>
          </a:p>
          <a:p>
            <a:pPr marL="342900" indent="-342900">
              <a:buFont typeface="+mj-lt"/>
              <a:buAutoNum type="arabicPeriod"/>
            </a:pPr>
            <a:r>
              <a:rPr lang="en-US" b="1" u="sng" dirty="0"/>
              <a:t>Why</a:t>
            </a:r>
            <a:r>
              <a:rPr lang="en-US" b="1" dirty="0"/>
              <a:t> are there spiders inside the monument?</a:t>
            </a:r>
          </a:p>
          <a:p>
            <a:pPr marL="800100" lvl="1" indent="-342900">
              <a:buFont typeface="Arial" panose="020B0604020202020204" pitchFamily="34" charset="0"/>
              <a:buChar char="•"/>
            </a:pPr>
            <a:r>
              <a:rPr lang="en-US" dirty="0"/>
              <a:t>The spiders are nesting inside the monument to catch gnats.</a:t>
            </a:r>
          </a:p>
          <a:p>
            <a:pPr marL="342900" indent="-342900">
              <a:buFont typeface="+mj-lt"/>
              <a:buAutoNum type="arabicPeriod"/>
            </a:pPr>
            <a:r>
              <a:rPr lang="en-US" b="1" u="sng" dirty="0"/>
              <a:t>Why</a:t>
            </a:r>
            <a:r>
              <a:rPr lang="en-US" b="1" dirty="0"/>
              <a:t> are there gnats around the monument?</a:t>
            </a:r>
          </a:p>
          <a:p>
            <a:pPr marL="800100" lvl="1" indent="-342900">
              <a:buFont typeface="Arial" panose="020B0604020202020204" pitchFamily="34" charset="0"/>
              <a:buChar char="•"/>
            </a:pPr>
            <a:r>
              <a:rPr lang="en-US" dirty="0"/>
              <a:t> The gnats are attracted to artificial light at dusk.</a:t>
            </a:r>
          </a:p>
        </p:txBody>
      </p:sp>
      <p:sp>
        <p:nvSpPr>
          <p:cNvPr id="3" name="Text Placeholder 3">
            <a:extLst>
              <a:ext uri="{FF2B5EF4-FFF2-40B4-BE49-F238E27FC236}">
                <a16:creationId xmlns:a16="http://schemas.microsoft.com/office/drawing/2014/main" id="{A670B1B5-8086-E09D-6DFB-606DBE894D53}"/>
              </a:ext>
            </a:extLst>
          </p:cNvPr>
          <p:cNvSpPr txBox="1">
            <a:spLocks/>
          </p:cNvSpPr>
          <p:nvPr/>
        </p:nvSpPr>
        <p:spPr>
          <a:xfrm>
            <a:off x="8325908" y="1991564"/>
            <a:ext cx="3706765" cy="425394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b="1" dirty="0"/>
              <a:t>Root Cause:</a:t>
            </a:r>
          </a:p>
          <a:p>
            <a:r>
              <a:rPr lang="en-US" dirty="0"/>
              <a:t>The artificial light at dusk attracts gnats, which in turn attracts spiders, which then attract pigeons. The pigeon poop causes frequent cleaning with harsh chemicals, leading to the disintegration of the monument.</a:t>
            </a:r>
          </a:p>
          <a:p>
            <a:endParaRPr lang="en-US" b="1" dirty="0"/>
          </a:p>
          <a:p>
            <a:r>
              <a:rPr lang="en-US" b="1" dirty="0"/>
              <a:t>Possible Solution:</a:t>
            </a:r>
          </a:p>
          <a:p>
            <a:r>
              <a:rPr lang="en-US" sz="1800"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Adjust or reduce the use of artificial lighting at dusk to reduce the attraction of gnats, thereby breaking the chain reaction that ultimately leads to the monument’s disintegration.</a:t>
            </a:r>
            <a:endParaRPr lang="en-US" dirty="0"/>
          </a:p>
        </p:txBody>
      </p:sp>
    </p:spTree>
    <p:extLst>
      <p:ext uri="{BB962C8B-B14F-4D97-AF65-F5344CB8AC3E}">
        <p14:creationId xmlns:p14="http://schemas.microsoft.com/office/powerpoint/2010/main" val="118029643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B140B-1C86-486D-A831-051A7373F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E776F-F593-7A16-7B56-82DBE01400BB}"/>
              </a:ext>
            </a:extLst>
          </p:cNvPr>
          <p:cNvSpPr>
            <a:spLocks noGrp="1"/>
          </p:cNvSpPr>
          <p:nvPr>
            <p:ph type="title"/>
          </p:nvPr>
        </p:nvSpPr>
        <p:spPr/>
        <p:txBody>
          <a:bodyPr>
            <a:normAutofit/>
          </a:bodyPr>
          <a:lstStyle/>
          <a:p>
            <a:r>
              <a:rPr lang="en-US" sz="4000" dirty="0"/>
              <a:t>Benefits of 5 Why Analysis</a:t>
            </a:r>
          </a:p>
        </p:txBody>
      </p:sp>
      <p:sp>
        <p:nvSpPr>
          <p:cNvPr id="3" name="Content Placeholder 2">
            <a:extLst>
              <a:ext uri="{FF2B5EF4-FFF2-40B4-BE49-F238E27FC236}">
                <a16:creationId xmlns:a16="http://schemas.microsoft.com/office/drawing/2014/main" id="{38DCC6E0-7EB9-C15C-C76D-DF64FE6B0323}"/>
              </a:ext>
            </a:extLst>
          </p:cNvPr>
          <p:cNvSpPr>
            <a:spLocks noGrp="1"/>
          </p:cNvSpPr>
          <p:nvPr>
            <p:ph idx="1"/>
          </p:nvPr>
        </p:nvSpPr>
        <p:spPr/>
        <p:txBody>
          <a:bodyPr>
            <a:normAutofit/>
          </a:bodyPr>
          <a:lstStyle/>
          <a:p>
            <a:r>
              <a:rPr lang="en-US" dirty="0"/>
              <a:t>Simple Problem-Solving tool that is easy to use.</a:t>
            </a:r>
          </a:p>
          <a:p>
            <a:r>
              <a:rPr lang="en-US" dirty="0"/>
              <a:t>Helps to quickly separate symptoms from causes and identify the root cause of the problem.</a:t>
            </a:r>
          </a:p>
          <a:p>
            <a:r>
              <a:rPr lang="en-US" dirty="0"/>
              <a:t>Aids in determining the relationship between various problem causes.</a:t>
            </a:r>
          </a:p>
          <a:p>
            <a:r>
              <a:rPr lang="en-US" dirty="0"/>
              <a:t>Fosters and produces teamwork and teaming within the organization.</a:t>
            </a:r>
          </a:p>
          <a:p>
            <a:r>
              <a:rPr lang="en-US" dirty="0"/>
              <a:t>Guided, team-focused exercise. There are no additional costs.</a:t>
            </a:r>
          </a:p>
        </p:txBody>
      </p:sp>
      <p:sp>
        <p:nvSpPr>
          <p:cNvPr id="5" name="Slide Number Placeholder 4">
            <a:extLst>
              <a:ext uri="{FF2B5EF4-FFF2-40B4-BE49-F238E27FC236}">
                <a16:creationId xmlns:a16="http://schemas.microsoft.com/office/drawing/2014/main" id="{BA3EFD9B-E9A0-5449-97A6-2E274A3BBB36}"/>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140</a:t>
            </a:fld>
            <a:endParaRPr lang="en-US"/>
          </a:p>
        </p:txBody>
      </p:sp>
    </p:spTree>
    <p:extLst>
      <p:ext uri="{BB962C8B-B14F-4D97-AF65-F5344CB8AC3E}">
        <p14:creationId xmlns:p14="http://schemas.microsoft.com/office/powerpoint/2010/main" val="133743424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C4059-7D93-8476-ECF1-7AA350A5D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3AB27-64E7-F230-B9F7-211696EEFF75}"/>
              </a:ext>
            </a:extLst>
          </p:cNvPr>
          <p:cNvSpPr>
            <a:spLocks noGrp="1"/>
          </p:cNvSpPr>
          <p:nvPr>
            <p:ph type="title"/>
          </p:nvPr>
        </p:nvSpPr>
        <p:spPr/>
        <p:txBody>
          <a:bodyPr/>
          <a:lstStyle/>
          <a:p>
            <a:r>
              <a:rPr lang="en-US" dirty="0"/>
              <a:t>Mechanics of the 5 Why Analysis</a:t>
            </a:r>
          </a:p>
        </p:txBody>
      </p:sp>
      <p:sp>
        <p:nvSpPr>
          <p:cNvPr id="3" name="Text Placeholder 2">
            <a:extLst>
              <a:ext uri="{FF2B5EF4-FFF2-40B4-BE49-F238E27FC236}">
                <a16:creationId xmlns:a16="http://schemas.microsoft.com/office/drawing/2014/main" id="{DFFDA9B6-37D2-BE52-43A7-470CF46AD2B3}"/>
              </a:ext>
            </a:extLst>
          </p:cNvPr>
          <p:cNvSpPr>
            <a:spLocks noGrp="1"/>
          </p:cNvSpPr>
          <p:nvPr>
            <p:ph type="body" idx="1"/>
          </p:nvPr>
        </p:nvSpPr>
        <p:spPr/>
        <p:txBody>
          <a:bodyPr/>
          <a:lstStyle/>
          <a:p>
            <a:r>
              <a:rPr lang="en-US" dirty="0"/>
              <a:t>1st Why</a:t>
            </a:r>
          </a:p>
        </p:txBody>
      </p:sp>
      <p:sp>
        <p:nvSpPr>
          <p:cNvPr id="4" name="Content Placeholder 3">
            <a:extLst>
              <a:ext uri="{FF2B5EF4-FFF2-40B4-BE49-F238E27FC236}">
                <a16:creationId xmlns:a16="http://schemas.microsoft.com/office/drawing/2014/main" id="{7DC9934C-9E82-CD57-29E6-3C183209D5EF}"/>
              </a:ext>
            </a:extLst>
          </p:cNvPr>
          <p:cNvSpPr>
            <a:spLocks noGrp="1"/>
          </p:cNvSpPr>
          <p:nvPr>
            <p:ph sz="half" idx="2"/>
          </p:nvPr>
        </p:nvSpPr>
        <p:spPr/>
        <p:txBody>
          <a:bodyPr/>
          <a:lstStyle/>
          <a:p>
            <a:r>
              <a:rPr lang="en-US" dirty="0"/>
              <a:t>Short, concise sentence</a:t>
            </a:r>
          </a:p>
          <a:p>
            <a:r>
              <a:rPr lang="en-US" dirty="0"/>
              <a:t>Should explain the reason</a:t>
            </a:r>
          </a:p>
          <a:p>
            <a:r>
              <a:rPr lang="en-US" dirty="0"/>
              <a:t>Don’t try to justify</a:t>
            </a:r>
          </a:p>
          <a:p>
            <a:r>
              <a:rPr lang="en-US" dirty="0"/>
              <a:t>Write it down, even if obvious </a:t>
            </a:r>
          </a:p>
          <a:p>
            <a:endParaRPr lang="en-US" dirty="0"/>
          </a:p>
        </p:txBody>
      </p:sp>
      <p:sp>
        <p:nvSpPr>
          <p:cNvPr id="5" name="Text Placeholder 4">
            <a:extLst>
              <a:ext uri="{FF2B5EF4-FFF2-40B4-BE49-F238E27FC236}">
                <a16:creationId xmlns:a16="http://schemas.microsoft.com/office/drawing/2014/main" id="{4EC943F2-4FA5-B394-F874-C590F2780A48}"/>
              </a:ext>
            </a:extLst>
          </p:cNvPr>
          <p:cNvSpPr>
            <a:spLocks noGrp="1"/>
          </p:cNvSpPr>
          <p:nvPr>
            <p:ph type="body" sz="quarter" idx="3"/>
          </p:nvPr>
        </p:nvSpPr>
        <p:spPr/>
        <p:txBody>
          <a:bodyPr/>
          <a:lstStyle/>
          <a:p>
            <a:r>
              <a:rPr lang="en-US" dirty="0"/>
              <a:t>2nd Why</a:t>
            </a:r>
          </a:p>
        </p:txBody>
      </p:sp>
      <p:sp>
        <p:nvSpPr>
          <p:cNvPr id="6" name="Content Placeholder 5">
            <a:extLst>
              <a:ext uri="{FF2B5EF4-FFF2-40B4-BE49-F238E27FC236}">
                <a16:creationId xmlns:a16="http://schemas.microsoft.com/office/drawing/2014/main" id="{9E40220A-1895-B7EB-9E57-F47D8C2C9EF2}"/>
              </a:ext>
            </a:extLst>
          </p:cNvPr>
          <p:cNvSpPr>
            <a:spLocks noGrp="1"/>
          </p:cNvSpPr>
          <p:nvPr>
            <p:ph sz="quarter" idx="4"/>
          </p:nvPr>
        </p:nvSpPr>
        <p:spPr/>
        <p:txBody>
          <a:bodyPr/>
          <a:lstStyle/>
          <a:p>
            <a:r>
              <a:rPr lang="en-US" dirty="0"/>
              <a:t>More concise explanation to support the first question</a:t>
            </a:r>
          </a:p>
          <a:p>
            <a:r>
              <a:rPr lang="en-US" dirty="0"/>
              <a:t>Must ask a full question (ex. Why was the train late?)</a:t>
            </a:r>
          </a:p>
          <a:p>
            <a:r>
              <a:rPr lang="en-US" dirty="0"/>
              <a:t>Can branch out to several root causes</a:t>
            </a:r>
          </a:p>
          <a:p>
            <a:r>
              <a:rPr lang="en-US" dirty="0"/>
              <a:t>Okay to follow each with its own set of whys</a:t>
            </a:r>
          </a:p>
          <a:p>
            <a:endParaRPr lang="en-US" dirty="0"/>
          </a:p>
        </p:txBody>
      </p:sp>
      <p:sp>
        <p:nvSpPr>
          <p:cNvPr id="8" name="Slide Number Placeholder 7">
            <a:extLst>
              <a:ext uri="{FF2B5EF4-FFF2-40B4-BE49-F238E27FC236}">
                <a16:creationId xmlns:a16="http://schemas.microsoft.com/office/drawing/2014/main" id="{E5081734-C54A-0185-A993-675F96021C94}"/>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141</a:t>
            </a:fld>
            <a:endParaRPr lang="en-US"/>
          </a:p>
        </p:txBody>
      </p:sp>
    </p:spTree>
    <p:extLst>
      <p:ext uri="{BB962C8B-B14F-4D97-AF65-F5344CB8AC3E}">
        <p14:creationId xmlns:p14="http://schemas.microsoft.com/office/powerpoint/2010/main" val="191810428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B427-3937-D14F-D7EC-89E9CF326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821E0-2DC5-96B1-E50F-93252F1E2BA5}"/>
              </a:ext>
            </a:extLst>
          </p:cNvPr>
          <p:cNvSpPr>
            <a:spLocks noGrp="1"/>
          </p:cNvSpPr>
          <p:nvPr>
            <p:ph type="title"/>
          </p:nvPr>
        </p:nvSpPr>
        <p:spPr/>
        <p:txBody>
          <a:bodyPr/>
          <a:lstStyle/>
          <a:p>
            <a:r>
              <a:rPr lang="en-US" dirty="0"/>
              <a:t>Mechanics of the 5 Why Analysis (Cont.)</a:t>
            </a:r>
          </a:p>
        </p:txBody>
      </p:sp>
      <p:sp>
        <p:nvSpPr>
          <p:cNvPr id="3" name="Text Placeholder 2">
            <a:extLst>
              <a:ext uri="{FF2B5EF4-FFF2-40B4-BE49-F238E27FC236}">
                <a16:creationId xmlns:a16="http://schemas.microsoft.com/office/drawing/2014/main" id="{9910306F-757C-C5C3-DC64-656F2FFDC38A}"/>
              </a:ext>
            </a:extLst>
          </p:cNvPr>
          <p:cNvSpPr>
            <a:spLocks noGrp="1"/>
          </p:cNvSpPr>
          <p:nvPr>
            <p:ph type="body" idx="1"/>
          </p:nvPr>
        </p:nvSpPr>
        <p:spPr/>
        <p:txBody>
          <a:bodyPr/>
          <a:lstStyle/>
          <a:p>
            <a:r>
              <a:rPr lang="en-US" dirty="0"/>
              <a:t>3rd Why</a:t>
            </a:r>
          </a:p>
        </p:txBody>
      </p:sp>
      <p:sp>
        <p:nvSpPr>
          <p:cNvPr id="4" name="Content Placeholder 3">
            <a:extLst>
              <a:ext uri="{FF2B5EF4-FFF2-40B4-BE49-F238E27FC236}">
                <a16:creationId xmlns:a16="http://schemas.microsoft.com/office/drawing/2014/main" id="{A81EFDF8-A9B1-8D37-5902-B075015622DC}"/>
              </a:ext>
            </a:extLst>
          </p:cNvPr>
          <p:cNvSpPr>
            <a:spLocks noGrp="1"/>
          </p:cNvSpPr>
          <p:nvPr>
            <p:ph sz="half" idx="2"/>
          </p:nvPr>
        </p:nvSpPr>
        <p:spPr/>
        <p:txBody>
          <a:bodyPr>
            <a:normAutofit fontScale="92500"/>
          </a:bodyPr>
          <a:lstStyle/>
          <a:p>
            <a:r>
              <a:rPr lang="en-US" dirty="0"/>
              <a:t>Don’t jump to conclusions</a:t>
            </a:r>
          </a:p>
          <a:p>
            <a:r>
              <a:rPr lang="en-US" dirty="0"/>
              <a:t>Follow regular thought process</a:t>
            </a:r>
          </a:p>
          <a:p>
            <a:r>
              <a:rPr lang="en-US" dirty="0"/>
              <a:t>Critical for successful transition between the obvious and not-so-obvious</a:t>
            </a:r>
          </a:p>
        </p:txBody>
      </p:sp>
      <p:sp>
        <p:nvSpPr>
          <p:cNvPr id="5" name="Text Placeholder 4">
            <a:extLst>
              <a:ext uri="{FF2B5EF4-FFF2-40B4-BE49-F238E27FC236}">
                <a16:creationId xmlns:a16="http://schemas.microsoft.com/office/drawing/2014/main" id="{1BBB8ECA-FF42-5D58-721B-A1A43C71D009}"/>
              </a:ext>
            </a:extLst>
          </p:cNvPr>
          <p:cNvSpPr>
            <a:spLocks noGrp="1"/>
          </p:cNvSpPr>
          <p:nvPr>
            <p:ph type="body" sz="quarter" idx="3"/>
          </p:nvPr>
        </p:nvSpPr>
        <p:spPr/>
        <p:txBody>
          <a:bodyPr/>
          <a:lstStyle/>
          <a:p>
            <a:r>
              <a:rPr lang="en-US" dirty="0"/>
              <a:t>4th Why</a:t>
            </a:r>
          </a:p>
        </p:txBody>
      </p:sp>
      <p:sp>
        <p:nvSpPr>
          <p:cNvPr id="6" name="Content Placeholder 5">
            <a:extLst>
              <a:ext uri="{FF2B5EF4-FFF2-40B4-BE49-F238E27FC236}">
                <a16:creationId xmlns:a16="http://schemas.microsoft.com/office/drawing/2014/main" id="{008E406A-85BB-DA83-C537-5C225E3C8851}"/>
              </a:ext>
            </a:extLst>
          </p:cNvPr>
          <p:cNvSpPr>
            <a:spLocks noGrp="1"/>
          </p:cNvSpPr>
          <p:nvPr>
            <p:ph sz="quarter" idx="4"/>
          </p:nvPr>
        </p:nvSpPr>
        <p:spPr/>
        <p:txBody>
          <a:bodyPr>
            <a:normAutofit fontScale="92500"/>
          </a:bodyPr>
          <a:lstStyle/>
          <a:p>
            <a:r>
              <a:rPr lang="en-US" dirty="0"/>
              <a:t>Explore all avenues</a:t>
            </a:r>
          </a:p>
          <a:p>
            <a:r>
              <a:rPr lang="en-US" dirty="0"/>
              <a:t>Good time to include a Fishbone Analysis and look at the 6 Ms</a:t>
            </a:r>
          </a:p>
          <a:p>
            <a:pPr lvl="1"/>
            <a:r>
              <a:rPr lang="en-US" dirty="0"/>
              <a:t>Man </a:t>
            </a:r>
          </a:p>
          <a:p>
            <a:pPr lvl="1"/>
            <a:r>
              <a:rPr lang="en-US" dirty="0"/>
              <a:t>Machines</a:t>
            </a:r>
          </a:p>
          <a:p>
            <a:pPr lvl="1"/>
            <a:r>
              <a:rPr lang="en-US" dirty="0"/>
              <a:t>Materials</a:t>
            </a:r>
          </a:p>
          <a:p>
            <a:pPr lvl="1"/>
            <a:r>
              <a:rPr lang="en-US" dirty="0"/>
              <a:t>Methods</a:t>
            </a:r>
          </a:p>
          <a:p>
            <a:pPr lvl="1"/>
            <a:r>
              <a:rPr lang="en-US" dirty="0"/>
              <a:t>Management</a:t>
            </a:r>
          </a:p>
          <a:p>
            <a:pPr lvl="1"/>
            <a:r>
              <a:rPr lang="en-US" dirty="0"/>
              <a:t>Measurements</a:t>
            </a:r>
          </a:p>
        </p:txBody>
      </p:sp>
      <p:sp>
        <p:nvSpPr>
          <p:cNvPr id="8" name="Slide Number Placeholder 7">
            <a:extLst>
              <a:ext uri="{FF2B5EF4-FFF2-40B4-BE49-F238E27FC236}">
                <a16:creationId xmlns:a16="http://schemas.microsoft.com/office/drawing/2014/main" id="{83729EC9-512C-8C89-89A1-2DAF79380773}"/>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142</a:t>
            </a:fld>
            <a:endParaRPr lang="en-US"/>
          </a:p>
        </p:txBody>
      </p:sp>
    </p:spTree>
    <p:extLst>
      <p:ext uri="{BB962C8B-B14F-4D97-AF65-F5344CB8AC3E}">
        <p14:creationId xmlns:p14="http://schemas.microsoft.com/office/powerpoint/2010/main" val="195493483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2BE3-9607-907D-3F0B-0C3538090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B9C4F-B245-4CCE-554C-D90C6E636B6B}"/>
              </a:ext>
            </a:extLst>
          </p:cNvPr>
          <p:cNvSpPr>
            <a:spLocks noGrp="1"/>
          </p:cNvSpPr>
          <p:nvPr>
            <p:ph type="title"/>
          </p:nvPr>
        </p:nvSpPr>
        <p:spPr/>
        <p:txBody>
          <a:bodyPr>
            <a:normAutofit/>
          </a:bodyPr>
          <a:lstStyle/>
          <a:p>
            <a:r>
              <a:rPr lang="en-US" sz="4000" dirty="0"/>
              <a:t>Mechanics of the 5 Why Analysis (Cont.)</a:t>
            </a:r>
          </a:p>
        </p:txBody>
      </p:sp>
      <p:sp>
        <p:nvSpPr>
          <p:cNvPr id="3" name="Content Placeholder 2">
            <a:extLst>
              <a:ext uri="{FF2B5EF4-FFF2-40B4-BE49-F238E27FC236}">
                <a16:creationId xmlns:a16="http://schemas.microsoft.com/office/drawing/2014/main" id="{D2911CB9-DB10-4E80-5A2B-CED01AB36218}"/>
              </a:ext>
            </a:extLst>
          </p:cNvPr>
          <p:cNvSpPr>
            <a:spLocks noGrp="1"/>
          </p:cNvSpPr>
          <p:nvPr>
            <p:ph idx="1"/>
          </p:nvPr>
        </p:nvSpPr>
        <p:spPr/>
        <p:txBody>
          <a:bodyPr>
            <a:normAutofit/>
          </a:bodyPr>
          <a:lstStyle/>
          <a:p>
            <a:pPr marL="0" indent="0">
              <a:buNone/>
            </a:pPr>
            <a:r>
              <a:rPr lang="en-US" b="1" dirty="0"/>
              <a:t>5th Why</a:t>
            </a:r>
          </a:p>
          <a:p>
            <a:r>
              <a:rPr lang="en-US" dirty="0"/>
              <a:t>Will have systemic cause</a:t>
            </a:r>
          </a:p>
          <a:p>
            <a:r>
              <a:rPr lang="en-US" dirty="0"/>
              <a:t>Most problems in process can be traced here</a:t>
            </a:r>
          </a:p>
          <a:p>
            <a:r>
              <a:rPr lang="en-US" dirty="0"/>
              <a:t>When addressing a systemic cause, do it across the whole process</a:t>
            </a:r>
          </a:p>
          <a:p>
            <a:r>
              <a:rPr lang="en-US" dirty="0"/>
              <a:t>Detect areas under the same situation</a:t>
            </a:r>
          </a:p>
          <a:p>
            <a:r>
              <a:rPr lang="en-US" dirty="0"/>
              <a:t>If you are still dealing with process related causes after reaching 5th Why, you may still need one of two more Whys to reach a systemic cause</a:t>
            </a:r>
          </a:p>
        </p:txBody>
      </p:sp>
      <p:sp>
        <p:nvSpPr>
          <p:cNvPr id="5" name="Slide Number Placeholder 4">
            <a:extLst>
              <a:ext uri="{FF2B5EF4-FFF2-40B4-BE49-F238E27FC236}">
                <a16:creationId xmlns:a16="http://schemas.microsoft.com/office/drawing/2014/main" id="{A7DD3F37-B694-67F2-FA33-D216AA93236F}"/>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143</a:t>
            </a:fld>
            <a:endParaRPr lang="en-US"/>
          </a:p>
        </p:txBody>
      </p:sp>
    </p:spTree>
    <p:extLst>
      <p:ext uri="{BB962C8B-B14F-4D97-AF65-F5344CB8AC3E}">
        <p14:creationId xmlns:p14="http://schemas.microsoft.com/office/powerpoint/2010/main" val="149285384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9D3B1-9979-AEB3-B240-4DDA91181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CFFE1-22EE-A942-6AD3-B8A9BE00754D}"/>
              </a:ext>
            </a:extLst>
          </p:cNvPr>
          <p:cNvSpPr>
            <a:spLocks noGrp="1"/>
          </p:cNvSpPr>
          <p:nvPr>
            <p:ph type="title"/>
          </p:nvPr>
        </p:nvSpPr>
        <p:spPr/>
        <p:txBody>
          <a:bodyPr>
            <a:normAutofit/>
          </a:bodyPr>
          <a:lstStyle/>
          <a:p>
            <a:r>
              <a:rPr lang="en-US" sz="4000" dirty="0"/>
              <a:t>Verifying Validity of 5 Why Analysis</a:t>
            </a:r>
          </a:p>
        </p:txBody>
      </p:sp>
      <p:sp>
        <p:nvSpPr>
          <p:cNvPr id="3" name="Content Placeholder 2">
            <a:extLst>
              <a:ext uri="{FF2B5EF4-FFF2-40B4-BE49-F238E27FC236}">
                <a16:creationId xmlns:a16="http://schemas.microsoft.com/office/drawing/2014/main" id="{4AF6831D-2568-ED39-4637-A37F0EBA1A55}"/>
              </a:ext>
            </a:extLst>
          </p:cNvPr>
          <p:cNvSpPr>
            <a:spLocks noGrp="1"/>
          </p:cNvSpPr>
          <p:nvPr>
            <p:ph idx="1"/>
          </p:nvPr>
        </p:nvSpPr>
        <p:spPr/>
        <p:txBody>
          <a:bodyPr>
            <a:normAutofit lnSpcReduction="10000"/>
          </a:bodyPr>
          <a:lstStyle/>
          <a:p>
            <a:r>
              <a:rPr lang="en-US" dirty="0"/>
              <a:t>Organize data and check for consistency to ensure the root cause is correctly identified. </a:t>
            </a:r>
          </a:p>
          <a:p>
            <a:r>
              <a:rPr lang="en-US" dirty="0"/>
              <a:t>Must revisit the 5 Why and identify those gaps to fill in the problem.</a:t>
            </a:r>
          </a:p>
          <a:p>
            <a:r>
              <a:rPr lang="en-US" dirty="0"/>
              <a:t>Check the analysis:</a:t>
            </a:r>
          </a:p>
          <a:p>
            <a:pPr lvl="1"/>
            <a:r>
              <a:rPr lang="en-US" dirty="0"/>
              <a:t>Description occurred due to the “Fifth Why”. This was caused by the “Fourth Why” mainly because the “Third Why” was allowed by the “Second Why,” and this led to the “First Why.”</a:t>
            </a:r>
          </a:p>
          <a:p>
            <a:r>
              <a:rPr lang="en-US" dirty="0"/>
              <a:t>If coherent, it will show consistency in the thought process.</a:t>
            </a:r>
          </a:p>
          <a:p>
            <a:r>
              <a:rPr lang="en-US" dirty="0"/>
              <a:t>Sought outcome of 5 Why exercise is the root cause of a defined problem, not the resolution of the problem itself.</a:t>
            </a:r>
          </a:p>
        </p:txBody>
      </p:sp>
      <p:sp>
        <p:nvSpPr>
          <p:cNvPr id="5" name="Slide Number Placeholder 4">
            <a:extLst>
              <a:ext uri="{FF2B5EF4-FFF2-40B4-BE49-F238E27FC236}">
                <a16:creationId xmlns:a16="http://schemas.microsoft.com/office/drawing/2014/main" id="{18D7BE4E-EDC7-963B-3FE4-57B83717B782}"/>
              </a:ext>
            </a:extLst>
          </p:cNvPr>
          <p:cNvSpPr>
            <a:spLocks noGrp="1"/>
          </p:cNvSpPr>
          <p:nvPr>
            <p:ph type="sldNum" sz="quarter" idx="4294967295"/>
          </p:nvPr>
        </p:nvSpPr>
        <p:spPr>
          <a:xfrm>
            <a:off x="8595078" y="633314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144</a:t>
            </a:fld>
            <a:endParaRPr lang="en-US"/>
          </a:p>
        </p:txBody>
      </p:sp>
    </p:spTree>
    <p:extLst>
      <p:ext uri="{BB962C8B-B14F-4D97-AF65-F5344CB8AC3E}">
        <p14:creationId xmlns:p14="http://schemas.microsoft.com/office/powerpoint/2010/main" val="3463544005"/>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LHC FONT">
      <a:majorFont>
        <a:latin typeface="Roboto Medium"/>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ol">
      <a:dk1>
        <a:srgbClr val="000000"/>
      </a:dk1>
      <a:lt1>
        <a:srgbClr val="FFFFFF"/>
      </a:lt1>
      <a:dk2>
        <a:srgbClr val="2D3847"/>
      </a:dk2>
      <a:lt2>
        <a:srgbClr val="E7E6E6"/>
      </a:lt2>
      <a:accent1>
        <a:srgbClr val="F65447"/>
      </a:accent1>
      <a:accent2>
        <a:srgbClr val="FFB852"/>
      </a:accent2>
      <a:accent3>
        <a:srgbClr val="86A77A"/>
      </a:accent3>
      <a:accent4>
        <a:srgbClr val="272727"/>
      </a:accent4>
      <a:accent5>
        <a:srgbClr val="666666"/>
      </a:accent5>
      <a:accent6>
        <a:srgbClr val="9A9A9A"/>
      </a:accent6>
      <a:hlink>
        <a:srgbClr val="0563C1"/>
      </a:hlink>
      <a:folHlink>
        <a:srgbClr val="954F72"/>
      </a:folHlink>
    </a:clrScheme>
    <a:fontScheme name="Custom 252">
      <a:majorFont>
        <a:latin typeface="Manrope SemiBold"/>
        <a:ea typeface=""/>
        <a:cs typeface=""/>
      </a:majorFont>
      <a:minorFont>
        <a:latin typeface="Manro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40028</TotalTime>
  <Words>15264</Words>
  <Application>Microsoft Macintosh PowerPoint</Application>
  <PresentationFormat>Widescreen</PresentationFormat>
  <Paragraphs>2376</Paragraphs>
  <Slides>144</Slides>
  <Notes>130</Notes>
  <HiddenSlides>2</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144</vt:i4>
      </vt:variant>
    </vt:vector>
  </HeadingPairs>
  <TitlesOfParts>
    <vt:vector size="156" baseType="lpstr">
      <vt:lpstr>Arial</vt:lpstr>
      <vt:lpstr>Calibri</vt:lpstr>
      <vt:lpstr>Kristen ITC</vt:lpstr>
      <vt:lpstr>Manrope</vt:lpstr>
      <vt:lpstr>Manrope SemiBold</vt:lpstr>
      <vt:lpstr>Monotype Sorts</vt:lpstr>
      <vt:lpstr>Roboto</vt:lpstr>
      <vt:lpstr>Roboto Medium</vt:lpstr>
      <vt:lpstr>Wingdings</vt:lpstr>
      <vt:lpstr>Office Theme</vt:lpstr>
      <vt:lpstr>1_Office Theme</vt:lpstr>
      <vt:lpstr>Worksheet</vt:lpstr>
      <vt:lpstr>PowerPoint Presentation</vt:lpstr>
      <vt:lpstr>PowerPoint Presentation</vt:lpstr>
      <vt:lpstr>PowerPoint Presentation</vt:lpstr>
      <vt:lpstr>Ground Rules for Event</vt:lpstr>
      <vt:lpstr>Goal of Problem-Solving Module</vt:lpstr>
      <vt:lpstr>Introduction to Problem-Solving</vt:lpstr>
      <vt:lpstr>Problem-Solving</vt:lpstr>
      <vt:lpstr>PowerPoint Presentation</vt:lpstr>
      <vt:lpstr>Plan Do Check Act (PDCA)</vt:lpstr>
      <vt:lpstr>Problem-Solving Tools</vt:lpstr>
      <vt:lpstr>Overview of Problem-Solving Tools</vt:lpstr>
      <vt:lpstr>Fishbone Analysis</vt:lpstr>
      <vt:lpstr>5 Whys</vt:lpstr>
      <vt:lpstr>Pareto Chart Analysis</vt:lpstr>
      <vt:lpstr>Problem-Solving Process</vt:lpstr>
      <vt:lpstr>PowerPoint Presentation</vt:lpstr>
      <vt:lpstr>PowerPoint Presentation</vt:lpstr>
      <vt:lpstr>1. Determine Type 0-1-2 Problem</vt:lpstr>
      <vt:lpstr>1. Determine Type 0-1-2 Problem</vt:lpstr>
      <vt:lpstr>When to Use Problem-Solving</vt:lpstr>
      <vt:lpstr>PowerPoint Presentation</vt:lpstr>
      <vt:lpstr>2. Select Cross-Functional Team</vt:lpstr>
      <vt:lpstr>Case Study: Operator Insight Leads to Breakthrough at West Instruments</vt:lpstr>
      <vt:lpstr>PowerPoint Presentation</vt:lpstr>
      <vt:lpstr>PowerPoint Presentation</vt:lpstr>
      <vt:lpstr>Records Example</vt:lpstr>
      <vt:lpstr>3. Collect Data</vt:lpstr>
      <vt:lpstr>Common Data Collection Tools</vt:lpstr>
      <vt:lpstr>Check Sheet</vt:lpstr>
      <vt:lpstr>Check Sheet Example</vt:lpstr>
      <vt:lpstr>Surveys</vt:lpstr>
      <vt:lpstr>Surveys Example</vt:lpstr>
      <vt:lpstr>Direct Observations</vt:lpstr>
      <vt:lpstr>Direct Observations Example</vt:lpstr>
      <vt:lpstr>Interviews</vt:lpstr>
      <vt:lpstr>Interviews Example</vt:lpstr>
      <vt:lpstr>Records</vt:lpstr>
      <vt:lpstr>Qualitative Data</vt:lpstr>
      <vt:lpstr>Qualitative vs. Quantitative </vt:lpstr>
      <vt:lpstr>PowerPoint Presentation</vt:lpstr>
      <vt:lpstr>4. Analyze Data</vt:lpstr>
      <vt:lpstr>Pareto Diagram</vt:lpstr>
      <vt:lpstr>Pareto Diagram Example</vt:lpstr>
      <vt:lpstr>Histogram</vt:lpstr>
      <vt:lpstr>Histogram Example</vt:lpstr>
      <vt:lpstr>Run Chart</vt:lpstr>
      <vt:lpstr>Run Chart Example</vt:lpstr>
      <vt:lpstr>Fishbone Diagram (Cause-And-Effect)</vt:lpstr>
      <vt:lpstr>Fishbone Diagram Example</vt:lpstr>
      <vt:lpstr>5 Whys</vt:lpstr>
      <vt:lpstr>Problem:  The Washington Monument is Disintegrating</vt:lpstr>
      <vt:lpstr>PowerPoint Presentation</vt:lpstr>
      <vt:lpstr>5. Develop Problem Statement(s)</vt:lpstr>
      <vt:lpstr>Developing Problem Statement</vt:lpstr>
      <vt:lpstr>Examples of Problem Definition</vt:lpstr>
      <vt:lpstr>Metric Characteristics</vt:lpstr>
      <vt:lpstr>Three Common Errors when Developing Problem Statements</vt:lpstr>
      <vt:lpstr>PowerPoint Presentation</vt:lpstr>
      <vt:lpstr>6. Develop Objectives and Timeframes</vt:lpstr>
      <vt:lpstr>Exercise: Develop a Problem Statement</vt:lpstr>
      <vt:lpstr>PowerPoint Presentation</vt:lpstr>
      <vt:lpstr>PowerPoint Presentation</vt:lpstr>
      <vt:lpstr>PowerPoint Presentation</vt:lpstr>
      <vt:lpstr>7. Identify Customer-Supplier Relationships</vt:lpstr>
      <vt:lpstr>Customer-Supplier Relationships</vt:lpstr>
      <vt:lpstr>PowerPoint Presentation</vt:lpstr>
      <vt:lpstr>8. Temporary Countermeasures (If Needed)</vt:lpstr>
      <vt:lpstr>Exercise: Develop Temporary Countermeasure(s)</vt:lpstr>
      <vt:lpstr>PowerPoint Presentation</vt:lpstr>
      <vt:lpstr>PowerPoint Presentation</vt:lpstr>
      <vt:lpstr>PowerPoint Presentation</vt:lpstr>
      <vt:lpstr>9. Determine Root Causes</vt:lpstr>
      <vt:lpstr>Importance of Root Cause Analysis</vt:lpstr>
      <vt:lpstr>Example of Identifying Root Cause Analysis</vt:lpstr>
      <vt:lpstr>Example of Identifying Root Cause Analysis</vt:lpstr>
      <vt:lpstr>Structured Approach</vt:lpstr>
      <vt:lpstr>Step 1:  Review and Update Problem Statement</vt:lpstr>
      <vt:lpstr>Step 2:  Use Tools to List all Potential Causes</vt:lpstr>
      <vt:lpstr>Step 3:  Use Filters to Narrow your List of Potential Causes</vt:lpstr>
      <vt:lpstr>Step 4:  Verify the Probable Cause</vt:lpstr>
      <vt:lpstr>Exercise: Determine Root Cause(s)</vt:lpstr>
      <vt:lpstr>PowerPoint Presentation</vt:lpstr>
      <vt:lpstr>PowerPoint Presentation</vt:lpstr>
      <vt:lpstr>PowerPoint Presentation</vt:lpstr>
      <vt:lpstr>10. Develop Countermeasures</vt:lpstr>
      <vt:lpstr>Problem-Solving Countermeasure Form</vt:lpstr>
      <vt:lpstr>Select the Right Solution </vt:lpstr>
      <vt:lpstr>Step 1 – Generate: Brainstorm Ideas</vt:lpstr>
      <vt:lpstr>Brainstorming </vt:lpstr>
      <vt:lpstr>Brainstorming Method </vt:lpstr>
      <vt:lpstr>Brainstorming Method  (Cont.)</vt:lpstr>
      <vt:lpstr>Step 2 – Clarify: Determine Evaluation Criteria</vt:lpstr>
      <vt:lpstr>Step 3 – Evaluate: Apply the Evaluation Criteria</vt:lpstr>
      <vt:lpstr>Step 3 –  Evaluate: Apply the Evaluation Criteria (Cont)</vt:lpstr>
      <vt:lpstr>Exercise: Evaluate Potential Solutions</vt:lpstr>
      <vt:lpstr>PowerPoint Presentation</vt:lpstr>
      <vt:lpstr>11. Develop Action Plan</vt:lpstr>
      <vt:lpstr>PowerPoint Presentation</vt:lpstr>
      <vt:lpstr>12. Execute Action Plan &amp; Document New Process</vt:lpstr>
      <vt:lpstr>Process Defined</vt:lpstr>
      <vt:lpstr>10 Rules of a Process</vt:lpstr>
      <vt:lpstr>Lego Boat Exercise</vt:lpstr>
      <vt:lpstr>Food for Thought</vt:lpstr>
      <vt:lpstr>PowerPoint Presentation</vt:lpstr>
      <vt:lpstr>13. Monitor Countermeasure Effectiveness via KPIs</vt:lpstr>
      <vt:lpstr>Sustain the Improvements</vt:lpstr>
      <vt:lpstr>Key Considerations for Sustaining Improvements </vt:lpstr>
      <vt:lpstr>Key Considerations for Sustaining Improvements  (Cont)</vt:lpstr>
      <vt:lpstr>Plan Do Check Act Module – Continuous Cycle</vt:lpstr>
      <vt:lpstr>Exercise: Sustain the Improvements</vt:lpstr>
      <vt:lpstr>PowerPoint Presentation</vt:lpstr>
      <vt:lpstr>14. Freeze Standard Incorporate Into Daily Management</vt:lpstr>
      <vt:lpstr>Summary</vt:lpstr>
      <vt:lpstr>Summary</vt:lpstr>
      <vt:lpstr>Summary (Cont.)</vt:lpstr>
      <vt:lpstr>Summary (Cont.)</vt:lpstr>
      <vt:lpstr>Summary (Cont.)</vt:lpstr>
      <vt:lpstr>Summary (Cont.)</vt:lpstr>
      <vt:lpstr>Pareto Diagram</vt:lpstr>
      <vt:lpstr>Pareto Diagram Example</vt:lpstr>
      <vt:lpstr>Pareto Charts</vt:lpstr>
      <vt:lpstr>Origin of Pareto Analysis</vt:lpstr>
      <vt:lpstr>When to use Pareto Analysis</vt:lpstr>
      <vt:lpstr>Mechanics of Creating a Pareto Chart</vt:lpstr>
      <vt:lpstr>Mechanics of Creating a Pareto Chart</vt:lpstr>
      <vt:lpstr>Pareto Chart Example</vt:lpstr>
      <vt:lpstr>Pareto Chart Review</vt:lpstr>
      <vt:lpstr>Benefits and Limitations of Pareto Analysis</vt:lpstr>
      <vt:lpstr>Problem-Solving Tools: Fishbone Analysis</vt:lpstr>
      <vt:lpstr>Definition of Fishbone Analysis</vt:lpstr>
      <vt:lpstr>Purpose and Origin of Fishbone Analysis </vt:lpstr>
      <vt:lpstr>When to Use Fishbone Analysis</vt:lpstr>
      <vt:lpstr>Fishbone Analysis Process</vt:lpstr>
      <vt:lpstr>Mechanics of Constructing Fishbone Diagram</vt:lpstr>
      <vt:lpstr>Fishbone Diagram Categories</vt:lpstr>
      <vt:lpstr>Developmental Hints</vt:lpstr>
      <vt:lpstr>Exercise: Fishbone Analysis</vt:lpstr>
      <vt:lpstr>5 Whys</vt:lpstr>
      <vt:lpstr>Problem:  The Washington Monument is Disintegrating</vt:lpstr>
      <vt:lpstr>Benefits of 5 Why Analysis</vt:lpstr>
      <vt:lpstr>Mechanics of the 5 Why Analysis</vt:lpstr>
      <vt:lpstr>Mechanics of the 5 Why Analysis (Cont.)</vt:lpstr>
      <vt:lpstr>Mechanics of the 5 Why Analysis (Cont.)</vt:lpstr>
      <vt:lpstr>Verifying Validity of 5 Why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Mark DeLuzio</cp:lastModifiedBy>
  <cp:revision>562</cp:revision>
  <cp:lastPrinted>2024-06-12T00:25:12Z</cp:lastPrinted>
  <dcterms:created xsi:type="dcterms:W3CDTF">2023-02-08T22:10:20Z</dcterms:created>
  <dcterms:modified xsi:type="dcterms:W3CDTF">2025-05-16T01:08:09Z</dcterms:modified>
</cp:coreProperties>
</file>