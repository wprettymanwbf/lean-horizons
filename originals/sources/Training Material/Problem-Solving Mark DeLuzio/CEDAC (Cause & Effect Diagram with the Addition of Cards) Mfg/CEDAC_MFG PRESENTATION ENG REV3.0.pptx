
<file path=[Content_Types].xml><?xml version="1.0" encoding="utf-8"?>
<Types xmlns="http://schemas.openxmlformats.org/package/2006/content-types">
  <Default Extension="emf" ContentType="image/x-emf"/>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Lst>
  <p:notesMasterIdLst>
    <p:notesMasterId r:id="rId104"/>
  </p:notesMasterIdLst>
  <p:sldIdLst>
    <p:sldId id="258" r:id="rId2"/>
    <p:sldId id="283" r:id="rId3"/>
    <p:sldId id="284" r:id="rId4"/>
    <p:sldId id="285" r:id="rId5"/>
    <p:sldId id="313" r:id="rId6"/>
    <p:sldId id="334" r:id="rId7"/>
    <p:sldId id="335" r:id="rId8"/>
    <p:sldId id="316" r:id="rId9"/>
    <p:sldId id="336" r:id="rId10"/>
    <p:sldId id="337" r:id="rId11"/>
    <p:sldId id="338" r:id="rId12"/>
    <p:sldId id="339" r:id="rId13"/>
    <p:sldId id="340" r:id="rId14"/>
    <p:sldId id="341" r:id="rId15"/>
    <p:sldId id="342" r:id="rId16"/>
    <p:sldId id="343" r:id="rId17"/>
    <p:sldId id="344" r:id="rId18"/>
    <p:sldId id="345" r:id="rId19"/>
    <p:sldId id="346" r:id="rId20"/>
    <p:sldId id="347" r:id="rId21"/>
    <p:sldId id="348" r:id="rId22"/>
    <p:sldId id="349" r:id="rId23"/>
    <p:sldId id="350" r:id="rId24"/>
    <p:sldId id="351" r:id="rId25"/>
    <p:sldId id="352" r:id="rId26"/>
    <p:sldId id="353" r:id="rId27"/>
    <p:sldId id="354" r:id="rId28"/>
    <p:sldId id="355" r:id="rId29"/>
    <p:sldId id="356" r:id="rId30"/>
    <p:sldId id="357" r:id="rId31"/>
    <p:sldId id="358" r:id="rId32"/>
    <p:sldId id="359" r:id="rId33"/>
    <p:sldId id="360" r:id="rId34"/>
    <p:sldId id="361" r:id="rId35"/>
    <p:sldId id="362" r:id="rId36"/>
    <p:sldId id="363" r:id="rId37"/>
    <p:sldId id="364" r:id="rId38"/>
    <p:sldId id="365" r:id="rId39"/>
    <p:sldId id="366" r:id="rId40"/>
    <p:sldId id="367" r:id="rId41"/>
    <p:sldId id="368" r:id="rId42"/>
    <p:sldId id="369" r:id="rId43"/>
    <p:sldId id="370" r:id="rId44"/>
    <p:sldId id="371" r:id="rId45"/>
    <p:sldId id="372" r:id="rId46"/>
    <p:sldId id="373" r:id="rId47"/>
    <p:sldId id="374" r:id="rId48"/>
    <p:sldId id="375" r:id="rId49"/>
    <p:sldId id="376" r:id="rId50"/>
    <p:sldId id="377" r:id="rId51"/>
    <p:sldId id="378" r:id="rId52"/>
    <p:sldId id="379" r:id="rId53"/>
    <p:sldId id="380" r:id="rId54"/>
    <p:sldId id="381" r:id="rId55"/>
    <p:sldId id="382" r:id="rId56"/>
    <p:sldId id="384" r:id="rId57"/>
    <p:sldId id="385" r:id="rId58"/>
    <p:sldId id="386" r:id="rId59"/>
    <p:sldId id="387" r:id="rId60"/>
    <p:sldId id="388" r:id="rId61"/>
    <p:sldId id="389" r:id="rId62"/>
    <p:sldId id="390" r:id="rId63"/>
    <p:sldId id="392" r:id="rId64"/>
    <p:sldId id="393" r:id="rId65"/>
    <p:sldId id="394" r:id="rId66"/>
    <p:sldId id="395" r:id="rId67"/>
    <p:sldId id="396" r:id="rId68"/>
    <p:sldId id="397" r:id="rId69"/>
    <p:sldId id="398" r:id="rId70"/>
    <p:sldId id="399" r:id="rId71"/>
    <p:sldId id="400" r:id="rId72"/>
    <p:sldId id="401" r:id="rId73"/>
    <p:sldId id="402" r:id="rId74"/>
    <p:sldId id="403" r:id="rId75"/>
    <p:sldId id="404" r:id="rId76"/>
    <p:sldId id="405" r:id="rId77"/>
    <p:sldId id="406" r:id="rId78"/>
    <p:sldId id="407" r:id="rId79"/>
    <p:sldId id="408" r:id="rId80"/>
    <p:sldId id="409" r:id="rId81"/>
    <p:sldId id="410" r:id="rId82"/>
    <p:sldId id="411" r:id="rId83"/>
    <p:sldId id="412" r:id="rId84"/>
    <p:sldId id="413" r:id="rId85"/>
    <p:sldId id="414" r:id="rId86"/>
    <p:sldId id="415" r:id="rId87"/>
    <p:sldId id="416" r:id="rId88"/>
    <p:sldId id="417" r:id="rId89"/>
    <p:sldId id="418" r:id="rId90"/>
    <p:sldId id="419" r:id="rId91"/>
    <p:sldId id="420" r:id="rId92"/>
    <p:sldId id="421" r:id="rId93"/>
    <p:sldId id="422" r:id="rId94"/>
    <p:sldId id="423" r:id="rId95"/>
    <p:sldId id="424" r:id="rId96"/>
    <p:sldId id="425" r:id="rId97"/>
    <p:sldId id="426" r:id="rId98"/>
    <p:sldId id="427" r:id="rId99"/>
    <p:sldId id="428" r:id="rId100"/>
    <p:sldId id="286" r:id="rId101"/>
    <p:sldId id="429" r:id="rId102"/>
    <p:sldId id="430" r:id="rId10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B7B6AAEF-3415-5D22-AFDC-F31A005CEED7}" name="Joe Rutz" initials="JR" userId="S::joe.rutz@leancoachingllc.com::74172d3c-f68f-4a41-af3d-37d02d9c9662"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22222"/>
    <a:srgbClr val="FFB627"/>
    <a:srgbClr val="177E89"/>
    <a:srgbClr val="8EDCE6"/>
    <a:srgbClr val="F1BF98"/>
    <a:srgbClr val="2EC4B6"/>
    <a:srgbClr val="BDDBD0"/>
    <a:srgbClr val="2D7DD2"/>
    <a:srgbClr val="62929E"/>
    <a:srgbClr val="B3DEE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notesView">
  <p:normalViewPr>
    <p:restoredLeft sz="15204" autoAdjust="0"/>
    <p:restoredTop sz="81849" autoAdjust="0"/>
  </p:normalViewPr>
  <p:slideViewPr>
    <p:cSldViewPr snapToGrid="0">
      <p:cViewPr varScale="1">
        <p:scale>
          <a:sx n="67" d="100"/>
          <a:sy n="67" d="100"/>
        </p:scale>
        <p:origin x="1286" y="62"/>
      </p:cViewPr>
      <p:guideLst/>
    </p:cSldViewPr>
  </p:slideViewPr>
  <p:notesTextViewPr>
    <p:cViewPr>
      <p:scale>
        <a:sx n="3" d="2"/>
        <a:sy n="3" d="2"/>
      </p:scale>
      <p:origin x="0" y="0"/>
    </p:cViewPr>
  </p:notesTextViewPr>
  <p:sorterViewPr>
    <p:cViewPr>
      <p:scale>
        <a:sx n="100" d="100"/>
        <a:sy n="100" d="100"/>
      </p:scale>
      <p:origin x="0" y="-6883"/>
    </p:cViewPr>
  </p:sorterViewPr>
  <p:notesViewPr>
    <p:cSldViewPr snapToGrid="0">
      <p:cViewPr varScale="1">
        <p:scale>
          <a:sx n="62" d="100"/>
          <a:sy n="62" d="100"/>
        </p:scale>
        <p:origin x="3226" y="77"/>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07" Type="http://schemas.openxmlformats.org/officeDocument/2006/relationships/theme" Target="theme/theme1.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tableStyles" Target="tableStyles.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viewProps" Target="view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microsoft.com/office/2018/10/relationships/authors" Target="authors.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notesMaster" Target="notesMasters/notesMaster1.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F86C400-5EB2-4620-B71B-A7454A7EC846}" type="datetimeFigureOut">
              <a:rPr lang="en-US" smtClean="0"/>
              <a:t>9/29/2023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ECD8548-F1A2-4EDF-A416-5F2BB6B8F64C}" type="slidenum">
              <a:rPr lang="en-US" smtClean="0"/>
              <a:t>‹#›</a:t>
            </a:fld>
            <a:endParaRPr lang="en-US"/>
          </a:p>
        </p:txBody>
      </p:sp>
    </p:spTree>
    <p:extLst>
      <p:ext uri="{BB962C8B-B14F-4D97-AF65-F5344CB8AC3E}">
        <p14:creationId xmlns:p14="http://schemas.microsoft.com/office/powerpoint/2010/main" val="19732378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latin typeface="Arial" panose="020B0604020202020204" pitchFamily="34" charset="0"/>
              </a:rPr>
              <a:t>NOTE: </a:t>
            </a:r>
            <a:r>
              <a:rPr lang="en-US" altLang="en-US" dirty="0">
                <a:latin typeface="Arial" panose="020B0604020202020204" pitchFamily="34" charset="0"/>
              </a:rPr>
              <a:t>The CEDAC training module is intended for use at kaizen event training. The training is a </a:t>
            </a:r>
            <a:r>
              <a:rPr lang="ja-JP" altLang="en-US" dirty="0">
                <a:latin typeface="Arial" panose="020B0604020202020204" pitchFamily="34" charset="0"/>
              </a:rPr>
              <a:t>“</a:t>
            </a:r>
            <a:r>
              <a:rPr lang="en-US" altLang="ja-JP" dirty="0">
                <a:latin typeface="Arial" panose="020B0604020202020204" pitchFamily="34" charset="0"/>
              </a:rPr>
              <a:t>Learn-Do</a:t>
            </a:r>
            <a:r>
              <a:rPr lang="ja-JP" altLang="en-US" dirty="0">
                <a:latin typeface="Arial" panose="020B0604020202020204" pitchFamily="34" charset="0"/>
              </a:rPr>
              <a:t>”</a:t>
            </a:r>
            <a:r>
              <a:rPr lang="en-US" altLang="ja-JP" dirty="0">
                <a:latin typeface="Arial" panose="020B0604020202020204" pitchFamily="34" charset="0"/>
              </a:rPr>
              <a:t> approach in which there are designated points in the training course for the participants/kaizen teams to stop and apply their learning to their kaizen project/event. The training material is recommended for a 5 day event, but is scalable for events of any length.</a:t>
            </a:r>
          </a:p>
          <a:p>
            <a:endParaRPr lang="en-US" altLang="en-US" dirty="0">
              <a:latin typeface="Arial" panose="020B0604020202020204" pitchFamily="34" charset="0"/>
            </a:endParaRPr>
          </a:p>
          <a:p>
            <a:endParaRPr lang="en-US" altLang="en-US" dirty="0">
              <a:latin typeface="Arial" panose="020B0604020202020204" pitchFamily="34" charset="0"/>
            </a:endParaRPr>
          </a:p>
          <a:p>
            <a:endParaRPr lang="en-US" altLang="en-US" dirty="0">
              <a:latin typeface="Arial" panose="020B0604020202020204" pitchFamily="34" charset="0"/>
            </a:endParaRPr>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1</a:t>
            </a:fld>
            <a:endParaRPr lang="en-US"/>
          </a:p>
        </p:txBody>
      </p:sp>
    </p:spTree>
    <p:extLst>
      <p:ext uri="{BB962C8B-B14F-4D97-AF65-F5344CB8AC3E}">
        <p14:creationId xmlns:p14="http://schemas.microsoft.com/office/powerpoint/2010/main" val="158228437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ECD8548-F1A2-4EDF-A416-5F2BB6B8F64C}" type="slidenum">
              <a:rPr lang="en-US" smtClean="0"/>
              <a:t>2</a:t>
            </a:fld>
            <a:endParaRPr lang="en-US"/>
          </a:p>
        </p:txBody>
      </p:sp>
    </p:spTree>
    <p:extLst>
      <p:ext uri="{BB962C8B-B14F-4D97-AF65-F5344CB8AC3E}">
        <p14:creationId xmlns:p14="http://schemas.microsoft.com/office/powerpoint/2010/main" val="283996639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ECD8548-F1A2-4EDF-A416-5F2BB6B8F64C}" type="slidenum">
              <a:rPr lang="en-US" smtClean="0"/>
              <a:t>3</a:t>
            </a:fld>
            <a:endParaRPr lang="en-US"/>
          </a:p>
        </p:txBody>
      </p:sp>
    </p:spTree>
    <p:extLst>
      <p:ext uri="{BB962C8B-B14F-4D97-AF65-F5344CB8AC3E}">
        <p14:creationId xmlns:p14="http://schemas.microsoft.com/office/powerpoint/2010/main" val="416464843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latin typeface="Arial" panose="020B0604020202020204" pitchFamily="34" charset="0"/>
              </a:rPr>
              <a:t>DO: </a:t>
            </a:r>
            <a:r>
              <a:rPr lang="en-US" altLang="en-US" dirty="0">
                <a:latin typeface="Arial" panose="020B0604020202020204" pitchFamily="34" charset="0"/>
              </a:rPr>
              <a:t>Perform Group Introductions. Pick an ice-breaker or exercise to warm the team up to the event. (Icebreaker Example: Everyone uses their name tent and writes a </a:t>
            </a:r>
            <a:r>
              <a:rPr lang="ja-JP" altLang="en-US" dirty="0">
                <a:latin typeface="Arial" panose="020B0604020202020204" pitchFamily="34" charset="0"/>
              </a:rPr>
              <a:t>“</a:t>
            </a:r>
            <a:r>
              <a:rPr lang="en-US" altLang="ja-JP" dirty="0">
                <a:latin typeface="Arial" panose="020B0604020202020204" pitchFamily="34" charset="0"/>
              </a:rPr>
              <a:t>Personal License Plate</a:t>
            </a:r>
            <a:r>
              <a:rPr lang="ja-JP" altLang="en-US" dirty="0">
                <a:latin typeface="Arial" panose="020B0604020202020204" pitchFamily="34" charset="0"/>
              </a:rPr>
              <a:t>”</a:t>
            </a:r>
            <a:r>
              <a:rPr lang="en-US" altLang="ja-JP" dirty="0">
                <a:latin typeface="Arial" panose="020B0604020202020204" pitchFamily="34" charset="0"/>
              </a:rPr>
              <a:t> in which they have 2 minutes to creatively use a total of 7 letters or numbers to tell us something about themselves. Examples </a:t>
            </a:r>
            <a:r>
              <a:rPr lang="ja-JP" altLang="en-US" dirty="0">
                <a:latin typeface="Arial" panose="020B0604020202020204" pitchFamily="34" charset="0"/>
              </a:rPr>
              <a:t>“</a:t>
            </a:r>
            <a:r>
              <a:rPr lang="en-US" altLang="ja-JP" dirty="0">
                <a:latin typeface="Arial" panose="020B0604020202020204" pitchFamily="34" charset="0"/>
              </a:rPr>
              <a:t>LV2SAIL</a:t>
            </a:r>
            <a:r>
              <a:rPr lang="ja-JP" altLang="en-US" dirty="0">
                <a:latin typeface="Arial" panose="020B0604020202020204" pitchFamily="34" charset="0"/>
              </a:rPr>
              <a:t>”</a:t>
            </a:r>
            <a:r>
              <a:rPr lang="en-US" altLang="ja-JP" dirty="0">
                <a:latin typeface="Arial" panose="020B0604020202020204" pitchFamily="34" charset="0"/>
              </a:rPr>
              <a:t> OR </a:t>
            </a:r>
            <a:r>
              <a:rPr lang="ja-JP" altLang="en-US" dirty="0">
                <a:latin typeface="Arial" panose="020B0604020202020204" pitchFamily="34" charset="0"/>
              </a:rPr>
              <a:t>“</a:t>
            </a:r>
            <a:r>
              <a:rPr lang="en-US" altLang="ja-JP" dirty="0">
                <a:latin typeface="Arial" panose="020B0604020202020204" pitchFamily="34" charset="0"/>
              </a:rPr>
              <a:t>DADOV5</a:t>
            </a:r>
            <a:r>
              <a:rPr lang="ja-JP" altLang="en-US" dirty="0">
                <a:latin typeface="Arial" panose="020B0604020202020204" pitchFamily="34" charset="0"/>
              </a:rPr>
              <a:t>”</a:t>
            </a:r>
            <a:r>
              <a:rPr lang="en-US" altLang="ja-JP" dirty="0">
                <a:latin typeface="Arial" panose="020B0604020202020204" pitchFamily="34" charset="0"/>
              </a:rPr>
              <a:t> </a:t>
            </a:r>
          </a:p>
          <a:p>
            <a:r>
              <a:rPr lang="en-US" altLang="en-US" b="1" dirty="0">
                <a:latin typeface="Arial" panose="020B0604020202020204" pitchFamily="34" charset="0"/>
              </a:rPr>
              <a:t>DO</a:t>
            </a:r>
            <a:r>
              <a:rPr lang="en-US" altLang="en-US" dirty="0">
                <a:latin typeface="Arial" panose="020B0604020202020204" pitchFamily="34" charset="0"/>
              </a:rPr>
              <a:t>: Review Event Ground Rules. </a:t>
            </a:r>
          </a:p>
          <a:p>
            <a:r>
              <a:rPr lang="en-US" altLang="en-US" b="1" dirty="0">
                <a:latin typeface="Arial" panose="020B0604020202020204" pitchFamily="34" charset="0"/>
              </a:rPr>
              <a:t>ASK:</a:t>
            </a:r>
            <a:r>
              <a:rPr lang="en-US" altLang="en-US" dirty="0">
                <a:latin typeface="Arial" panose="020B0604020202020204" pitchFamily="34" charset="0"/>
              </a:rPr>
              <a:t> </a:t>
            </a:r>
            <a:r>
              <a:rPr lang="ja-JP" altLang="en-US" dirty="0">
                <a:latin typeface="Arial" panose="020B0604020202020204" pitchFamily="34" charset="0"/>
              </a:rPr>
              <a:t>“</a:t>
            </a:r>
            <a:r>
              <a:rPr lang="en-US" altLang="ja-JP" dirty="0">
                <a:latin typeface="Arial" panose="020B0604020202020204" pitchFamily="34" charset="0"/>
              </a:rPr>
              <a:t>Does anyone have any rules they would like to see added?</a:t>
            </a:r>
            <a:r>
              <a:rPr lang="ja-JP" altLang="en-US" dirty="0">
                <a:latin typeface="Arial" panose="020B0604020202020204" pitchFamily="34" charset="0"/>
              </a:rPr>
              <a:t>”</a:t>
            </a:r>
            <a:endParaRPr lang="en-US" altLang="ja-JP" dirty="0">
              <a:latin typeface="Arial" panose="020B0604020202020204" pitchFamily="34" charset="0"/>
            </a:endParaRPr>
          </a:p>
          <a:p>
            <a:r>
              <a:rPr lang="en-US" altLang="en-US" b="1" dirty="0">
                <a:latin typeface="Arial" panose="020B0604020202020204" pitchFamily="34" charset="0"/>
              </a:rPr>
              <a:t>ASK</a:t>
            </a:r>
            <a:r>
              <a:rPr lang="en-US" altLang="en-US" dirty="0">
                <a:latin typeface="Arial" panose="020B0604020202020204" pitchFamily="34" charset="0"/>
              </a:rPr>
              <a:t>: </a:t>
            </a:r>
            <a:r>
              <a:rPr lang="ja-JP" altLang="en-US" dirty="0">
                <a:latin typeface="Arial" panose="020B0604020202020204" pitchFamily="34" charset="0"/>
              </a:rPr>
              <a:t>“</a:t>
            </a:r>
            <a:r>
              <a:rPr lang="en-US" altLang="ja-JP" dirty="0">
                <a:latin typeface="Arial" panose="020B0604020202020204" pitchFamily="34" charset="0"/>
              </a:rPr>
              <a:t>Does everyone agree to these?</a:t>
            </a:r>
            <a:r>
              <a:rPr lang="ja-JP" altLang="en-US" dirty="0">
                <a:latin typeface="Arial" panose="020B0604020202020204" pitchFamily="34" charset="0"/>
              </a:rPr>
              <a:t>”</a:t>
            </a:r>
            <a:endParaRPr lang="en-US" altLang="en-US"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4</a:t>
            </a:fld>
            <a:endParaRPr lang="en-US"/>
          </a:p>
        </p:txBody>
      </p:sp>
    </p:spTree>
    <p:extLst>
      <p:ext uri="{BB962C8B-B14F-4D97-AF65-F5344CB8AC3E}">
        <p14:creationId xmlns:p14="http://schemas.microsoft.com/office/powerpoint/2010/main" val="130571672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latin typeface="Arial" panose="020B0604020202020204" pitchFamily="34" charset="0"/>
              </a:rPr>
              <a:t>DO:</a:t>
            </a:r>
            <a:r>
              <a:rPr lang="en-US" altLang="en-US" dirty="0">
                <a:latin typeface="Arial" panose="020B0604020202020204" pitchFamily="34" charset="0"/>
              </a:rPr>
              <a:t> Introduce the notion of CEDAC and the goal of this event. </a:t>
            </a:r>
          </a:p>
          <a:p>
            <a:r>
              <a:rPr lang="en-US" altLang="en-US" b="1" dirty="0">
                <a:latin typeface="Arial" panose="020B0604020202020204" pitchFamily="34" charset="0"/>
              </a:rPr>
              <a:t>SAY</a:t>
            </a:r>
            <a:r>
              <a:rPr lang="en-US" altLang="en-US" dirty="0">
                <a:latin typeface="Arial" panose="020B0604020202020204" pitchFamily="34" charset="0"/>
              </a:rPr>
              <a:t>: </a:t>
            </a:r>
            <a:r>
              <a:rPr lang="ja-JP" altLang="en-US" dirty="0">
                <a:latin typeface="Arial" panose="020B0604020202020204" pitchFamily="34" charset="0"/>
              </a:rPr>
              <a:t>“</a:t>
            </a:r>
            <a:r>
              <a:rPr lang="en-US" altLang="ja-JP" dirty="0">
                <a:latin typeface="Arial" panose="020B0604020202020204" pitchFamily="34" charset="0"/>
              </a:rPr>
              <a:t>The major objectives of this module are that we want you to:</a:t>
            </a:r>
          </a:p>
          <a:p>
            <a:r>
              <a:rPr lang="en-US" altLang="en-US" dirty="0">
                <a:latin typeface="Arial" panose="020B0604020202020204" pitchFamily="34" charset="0"/>
              </a:rPr>
              <a:t>1 - Understand and utilize the customer-focused Problem Solving Process</a:t>
            </a:r>
          </a:p>
          <a:p>
            <a:r>
              <a:rPr lang="en-US" altLang="en-US" dirty="0">
                <a:latin typeface="Arial" panose="020B0604020202020204" pitchFamily="34" charset="0"/>
              </a:rPr>
              <a:t>2 - Develop a working knowledge of how and when to use the basic tools to solve problems</a:t>
            </a:r>
          </a:p>
          <a:p>
            <a:r>
              <a:rPr lang="en-US" altLang="en-US" dirty="0">
                <a:latin typeface="Arial" panose="020B0604020202020204" pitchFamily="34" charset="0"/>
              </a:rPr>
              <a:t>3 - Learn the fundamentals of CEDAC (Cause and Effect Diagram with the Addition of Cards)</a:t>
            </a:r>
          </a:p>
          <a:p>
            <a:r>
              <a:rPr lang="en-US" altLang="en-US" dirty="0">
                <a:latin typeface="Arial" panose="020B0604020202020204" pitchFamily="34" charset="0"/>
              </a:rPr>
              <a:t>4 - Improve the ability to creatively solve problems and initiate positive change</a:t>
            </a:r>
            <a:r>
              <a:rPr lang="ja-JP" altLang="en-US" dirty="0">
                <a:latin typeface="Arial" panose="020B0604020202020204" pitchFamily="34" charset="0"/>
              </a:rPr>
              <a:t>”</a:t>
            </a:r>
            <a:endParaRPr lang="en-US" altLang="ja-JP" dirty="0">
              <a:latin typeface="Arial" panose="020B0604020202020204" pitchFamily="34" charset="0"/>
            </a:endParaRPr>
          </a:p>
          <a:p>
            <a:endParaRPr lang="en-US" altLang="en-US" dirty="0">
              <a:latin typeface="Arial" panose="020B0604020202020204" pitchFamily="34" charset="0"/>
            </a:endParaRPr>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5</a:t>
            </a:fld>
            <a:endParaRPr lang="en-US"/>
          </a:p>
        </p:txBody>
      </p:sp>
    </p:spTree>
    <p:extLst>
      <p:ext uri="{BB962C8B-B14F-4D97-AF65-F5344CB8AC3E}">
        <p14:creationId xmlns:p14="http://schemas.microsoft.com/office/powerpoint/2010/main" val="407918958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b="1" dirty="0">
                <a:latin typeface="Arial" panose="020B0604020202020204" pitchFamily="34" charset="0"/>
              </a:rPr>
              <a:t>SAY:</a:t>
            </a:r>
            <a:r>
              <a:rPr lang="en-US" altLang="en-US" dirty="0">
                <a:latin typeface="Arial" panose="020B0604020202020204" pitchFamily="34" charset="0"/>
              </a:rPr>
              <a:t> </a:t>
            </a:r>
            <a:r>
              <a:rPr lang="ja-JP" altLang="en-US" dirty="0">
                <a:latin typeface="Arial" panose="020B0604020202020204" pitchFamily="34" charset="0"/>
              </a:rPr>
              <a:t>“</a:t>
            </a:r>
            <a:r>
              <a:rPr lang="en-US" altLang="ja-JP" dirty="0">
                <a:latin typeface="Arial" panose="020B0604020202020204" pitchFamily="34" charset="0"/>
              </a:rPr>
              <a:t>While not all CEDAC events are 5 full days this represents the preferred method of improvement to ensure that the systematic approach is followed.</a:t>
            </a:r>
            <a:r>
              <a:rPr lang="ja-JP" altLang="en-US" dirty="0">
                <a:latin typeface="Arial" panose="020B0604020202020204" pitchFamily="34" charset="0"/>
              </a:rPr>
              <a:t>”</a:t>
            </a:r>
            <a:endParaRPr lang="en-US" altLang="en-US" dirty="0">
              <a:latin typeface="Arial" panose="020B0604020202020204" pitchFamily="34" charset="0"/>
            </a:endParaRPr>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6</a:t>
            </a:fld>
            <a:endParaRPr lang="en-US"/>
          </a:p>
        </p:txBody>
      </p:sp>
    </p:spTree>
    <p:extLst>
      <p:ext uri="{BB962C8B-B14F-4D97-AF65-F5344CB8AC3E}">
        <p14:creationId xmlns:p14="http://schemas.microsoft.com/office/powerpoint/2010/main" val="367666897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tLang="en-US" sz="800" dirty="0"/>
          </a:p>
        </p:txBody>
      </p:sp>
      <p:sp>
        <p:nvSpPr>
          <p:cNvPr id="4" name="Slide Number Placeholder 3"/>
          <p:cNvSpPr>
            <a:spLocks noGrp="1"/>
          </p:cNvSpPr>
          <p:nvPr>
            <p:ph type="sldNum" sz="quarter" idx="5"/>
          </p:nvPr>
        </p:nvSpPr>
        <p:spPr/>
        <p:txBody>
          <a:bodyPr/>
          <a:lstStyle/>
          <a:p>
            <a:fld id="{AECD8548-F1A2-4EDF-A416-5F2BB6B8F64C}" type="slidenum">
              <a:rPr lang="en-US" smtClean="0"/>
              <a:t>7</a:t>
            </a:fld>
            <a:endParaRPr lang="en-US"/>
          </a:p>
        </p:txBody>
      </p:sp>
    </p:spTree>
    <p:extLst>
      <p:ext uri="{BB962C8B-B14F-4D97-AF65-F5344CB8AC3E}">
        <p14:creationId xmlns:p14="http://schemas.microsoft.com/office/powerpoint/2010/main" val="125260636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b="1" dirty="0">
                <a:latin typeface="Arial" panose="020B0604020202020204" pitchFamily="34" charset="0"/>
                <a:ea typeface="ＭＳ Ｐゴシック" panose="020B0600070205080204" pitchFamily="34" charset="-128"/>
              </a:rPr>
              <a:t>DO:</a:t>
            </a:r>
            <a:r>
              <a:rPr lang="en-US" altLang="en-US" dirty="0">
                <a:latin typeface="Arial" panose="020B0604020202020204" pitchFamily="34" charset="0"/>
                <a:ea typeface="ＭＳ Ｐゴシック" panose="020B0600070205080204" pitchFamily="34" charset="-128"/>
              </a:rPr>
              <a:t> Review chapter objectives. </a:t>
            </a:r>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8</a:t>
            </a:fld>
            <a:endParaRPr lang="en-US"/>
          </a:p>
        </p:txBody>
      </p:sp>
    </p:spTree>
    <p:extLst>
      <p:ext uri="{BB962C8B-B14F-4D97-AF65-F5344CB8AC3E}">
        <p14:creationId xmlns:p14="http://schemas.microsoft.com/office/powerpoint/2010/main" val="287661191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b="1" dirty="0">
                <a:latin typeface="Arial" panose="020B0604020202020204" pitchFamily="34" charset="0"/>
              </a:rPr>
              <a:t>SAY:</a:t>
            </a:r>
            <a:r>
              <a:rPr lang="en-US" altLang="en-US" dirty="0">
                <a:latin typeface="Arial" panose="020B0604020202020204" pitchFamily="34" charset="0"/>
              </a:rPr>
              <a:t> </a:t>
            </a:r>
            <a:r>
              <a:rPr lang="ja-JP" altLang="en-US" dirty="0">
                <a:latin typeface="Arial" panose="020B0604020202020204" pitchFamily="34" charset="0"/>
              </a:rPr>
              <a:t>“</a:t>
            </a:r>
            <a:r>
              <a:rPr lang="en-US" altLang="ja-JP" dirty="0">
                <a:latin typeface="Arial" panose="020B0604020202020204" pitchFamily="34" charset="0"/>
              </a:rPr>
              <a:t>The Ishikawa diagram (also fishbone diagram or cause and effect diagram) is the brainchild of Kaoru Ishikawa, who pioneered quality management processes in the Kawasaki shipyards, and in the process became one of the founding fathers of modern management. It is simply a diagram that shows the causes of a certain event. It was first used in the 1960s, and is considered one of the seven basic tools of quality management, along with the histogram, Pareto chart, check sheet, control chart, flowchart, and scatter diagram.</a:t>
            </a:r>
            <a:r>
              <a:rPr lang="ja-JP" altLang="en-US" dirty="0">
                <a:latin typeface="Arial" panose="020B0604020202020204" pitchFamily="34" charset="0"/>
              </a:rPr>
              <a:t>”</a:t>
            </a:r>
            <a:endParaRPr lang="en-US" altLang="en-US" dirty="0">
              <a:latin typeface="Arial" panose="020B0604020202020204" pitchFamily="34" charset="0"/>
            </a:endParaRPr>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9</a:t>
            </a:fld>
            <a:endParaRPr lang="en-US"/>
          </a:p>
        </p:txBody>
      </p:sp>
    </p:spTree>
    <p:extLst>
      <p:ext uri="{BB962C8B-B14F-4D97-AF65-F5344CB8AC3E}">
        <p14:creationId xmlns:p14="http://schemas.microsoft.com/office/powerpoint/2010/main" val="102696407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latin typeface="Arial" panose="020B0604020202020204" pitchFamily="34" charset="0"/>
              </a:rPr>
              <a:t>SAY:</a:t>
            </a:r>
            <a:r>
              <a:rPr lang="en-US" altLang="en-US" dirty="0">
                <a:latin typeface="Arial" panose="020B0604020202020204" pitchFamily="34" charset="0"/>
              </a:rPr>
              <a:t> </a:t>
            </a:r>
            <a:r>
              <a:rPr lang="ja-JP" altLang="en-US" dirty="0">
                <a:latin typeface="Arial" panose="020B0604020202020204" pitchFamily="34" charset="0"/>
              </a:rPr>
              <a:t>“</a:t>
            </a:r>
            <a:r>
              <a:rPr lang="en-US" altLang="ja-JP" dirty="0">
                <a:latin typeface="Arial" panose="020B0604020202020204" pitchFamily="34" charset="0"/>
              </a:rPr>
              <a:t>CEDAC is also a great tool to get to root cause and involve not only those on the actual event team but also those on other shifts and from other areas.  Anyone can fill out cards as long as they follow the basic rules.</a:t>
            </a:r>
            <a:r>
              <a:rPr lang="ja-JP" altLang="en-US" dirty="0">
                <a:latin typeface="Arial" panose="020B0604020202020204" pitchFamily="34" charset="0"/>
              </a:rPr>
              <a:t>”</a:t>
            </a:r>
            <a:endParaRPr lang="en-US" altLang="en-US"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10</a:t>
            </a:fld>
            <a:endParaRPr lang="en-US"/>
          </a:p>
        </p:txBody>
      </p:sp>
    </p:spTree>
    <p:extLst>
      <p:ext uri="{BB962C8B-B14F-4D97-AF65-F5344CB8AC3E}">
        <p14:creationId xmlns:p14="http://schemas.microsoft.com/office/powerpoint/2010/main" val="311949059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latin typeface="Arial" panose="020B0604020202020204" pitchFamily="34" charset="0"/>
              </a:rPr>
              <a:t>SAY:</a:t>
            </a:r>
            <a:r>
              <a:rPr lang="en-US" altLang="en-US" dirty="0">
                <a:latin typeface="Arial" panose="020B0604020202020204" pitchFamily="34" charset="0"/>
              </a:rPr>
              <a:t> </a:t>
            </a:r>
            <a:r>
              <a:rPr lang="ja-JP" altLang="en-US" dirty="0">
                <a:latin typeface="Arial" panose="020B0604020202020204" pitchFamily="34" charset="0"/>
              </a:rPr>
              <a:t>“</a:t>
            </a:r>
            <a:r>
              <a:rPr lang="en-US" altLang="ja-JP" dirty="0">
                <a:latin typeface="Arial" panose="020B0604020202020204" pitchFamily="34" charset="0"/>
              </a:rPr>
              <a:t>Defining the problem in step 1 is what is thought to be the issue although it may turn out differently when inputs and fact finding occur.  Don</a:t>
            </a:r>
            <a:r>
              <a:rPr lang="ja-JP" altLang="en-US" dirty="0">
                <a:latin typeface="Arial" panose="020B0604020202020204" pitchFamily="34" charset="0"/>
              </a:rPr>
              <a:t>’</a:t>
            </a:r>
            <a:r>
              <a:rPr lang="en-US" altLang="ja-JP" dirty="0">
                <a:latin typeface="Arial" panose="020B0604020202020204" pitchFamily="34" charset="0"/>
              </a:rPr>
              <a:t>t let the problem define the correction action if it is not the true problem.</a:t>
            </a:r>
          </a:p>
          <a:p>
            <a:endParaRPr lang="en-US" altLang="en-US" dirty="0">
              <a:latin typeface="Arial" panose="020B0604020202020204" pitchFamily="34" charset="0"/>
            </a:endParaRPr>
          </a:p>
          <a:p>
            <a:r>
              <a:rPr lang="en-US" altLang="en-US" dirty="0">
                <a:latin typeface="Arial" panose="020B0604020202020204" pitchFamily="34" charset="0"/>
              </a:rPr>
              <a:t>Taichi Ohno (the father of TPS) says that 80% of our time should be spent defining and proving the true root cause problem, not fixing it.</a:t>
            </a:r>
          </a:p>
          <a:p>
            <a:endParaRPr lang="en-US" altLang="en-US" dirty="0">
              <a:latin typeface="Arial" panose="020B0604020202020204" pitchFamily="34" charset="0"/>
            </a:endParaRPr>
          </a:p>
          <a:p>
            <a:r>
              <a:rPr lang="en-US" altLang="en-US" dirty="0">
                <a:latin typeface="Arial" panose="020B0604020202020204" pitchFamily="34" charset="0"/>
              </a:rPr>
              <a:t>Traditionally, most </a:t>
            </a:r>
            <a:r>
              <a:rPr lang="ja-JP" altLang="en-US" dirty="0">
                <a:latin typeface="Arial" panose="020B0604020202020204" pitchFamily="34" charset="0"/>
              </a:rPr>
              <a:t>“</a:t>
            </a:r>
            <a:r>
              <a:rPr lang="en-US" altLang="ja-JP" dirty="0">
                <a:latin typeface="Arial" panose="020B0604020202020204" pitchFamily="34" charset="0"/>
              </a:rPr>
              <a:t>problem solvers</a:t>
            </a:r>
            <a:r>
              <a:rPr lang="ja-JP" altLang="en-US" dirty="0">
                <a:latin typeface="Arial" panose="020B0604020202020204" pitchFamily="34" charset="0"/>
              </a:rPr>
              <a:t>”</a:t>
            </a:r>
            <a:r>
              <a:rPr lang="en-US" altLang="ja-JP" dirty="0">
                <a:latin typeface="Arial" panose="020B0604020202020204" pitchFamily="34" charset="0"/>
              </a:rPr>
              <a:t> already know what the problem is and have a solution but most often there was no systematic approach to determine the true problem/s and they jump to the solution phase without allowing others to contribute.</a:t>
            </a:r>
          </a:p>
          <a:p>
            <a:endParaRPr lang="en-US" altLang="en-US" dirty="0">
              <a:latin typeface="Arial" panose="020B0604020202020204" pitchFamily="34" charset="0"/>
            </a:endParaRPr>
          </a:p>
          <a:p>
            <a:r>
              <a:rPr lang="en-US" altLang="en-US" dirty="0">
                <a:latin typeface="Arial" panose="020B0604020202020204" pitchFamily="34" charset="0"/>
              </a:rPr>
              <a:t>The PDCA cycle is inherently incorporated into CEDAC along with the 5-why</a:t>
            </a:r>
            <a:r>
              <a:rPr lang="ja-JP" altLang="en-US" dirty="0">
                <a:latin typeface="Arial" panose="020B0604020202020204" pitchFamily="34" charset="0"/>
              </a:rPr>
              <a:t>’</a:t>
            </a:r>
            <a:r>
              <a:rPr lang="en-US" altLang="ja-JP" dirty="0">
                <a:latin typeface="Arial" panose="020B0604020202020204" pitchFamily="34" charset="0"/>
              </a:rPr>
              <a:t>s.</a:t>
            </a:r>
            <a:r>
              <a:rPr lang="ja-JP" altLang="en-US" dirty="0">
                <a:latin typeface="Arial" panose="020B0604020202020204" pitchFamily="34" charset="0"/>
              </a:rPr>
              <a:t>”</a:t>
            </a:r>
            <a:endParaRPr lang="en-US" altLang="en-US"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11</a:t>
            </a:fld>
            <a:endParaRPr lang="en-US"/>
          </a:p>
        </p:txBody>
      </p:sp>
    </p:spTree>
    <p:extLst>
      <p:ext uri="{BB962C8B-B14F-4D97-AF65-F5344CB8AC3E}">
        <p14:creationId xmlns:p14="http://schemas.microsoft.com/office/powerpoint/2010/main" val="13851163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latin typeface="Arial" panose="020B0604020202020204" pitchFamily="34" charset="0"/>
              </a:rPr>
              <a:t>DO:</a:t>
            </a:r>
            <a:r>
              <a:rPr lang="en-US" altLang="en-US" dirty="0">
                <a:latin typeface="Arial" panose="020B0604020202020204" pitchFamily="34" charset="0"/>
              </a:rPr>
              <a:t> Discuss each step and the activities under each box one by one.  Following this process will allow the team to learn the stepped process to solve problems to the root level.</a:t>
            </a:r>
          </a:p>
        </p:txBody>
      </p:sp>
      <p:sp>
        <p:nvSpPr>
          <p:cNvPr id="4" name="Slide Number Placeholder 3"/>
          <p:cNvSpPr>
            <a:spLocks noGrp="1"/>
          </p:cNvSpPr>
          <p:nvPr>
            <p:ph type="sldNum" sz="quarter" idx="5"/>
          </p:nvPr>
        </p:nvSpPr>
        <p:spPr/>
        <p:txBody>
          <a:bodyPr/>
          <a:lstStyle/>
          <a:p>
            <a:fld id="{AECD8548-F1A2-4EDF-A416-5F2BB6B8F64C}" type="slidenum">
              <a:rPr lang="en-US" smtClean="0"/>
              <a:t>12</a:t>
            </a:fld>
            <a:endParaRPr lang="en-US"/>
          </a:p>
        </p:txBody>
      </p:sp>
    </p:spTree>
    <p:extLst>
      <p:ext uri="{BB962C8B-B14F-4D97-AF65-F5344CB8AC3E}">
        <p14:creationId xmlns:p14="http://schemas.microsoft.com/office/powerpoint/2010/main" val="176897924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latin typeface="Arial" panose="020B0604020202020204" pitchFamily="34" charset="0"/>
              </a:rPr>
              <a:t>NOTE:</a:t>
            </a:r>
            <a:r>
              <a:rPr lang="en-US" altLang="en-US" dirty="0">
                <a:latin typeface="Arial" panose="020B0604020202020204" pitchFamily="34" charset="0"/>
              </a:rPr>
              <a:t> This slide refers to the main phases of planning that must be carried out prior to the event week but should include critical members of the team and or management responsible for the process being reviewed.</a:t>
            </a:r>
          </a:p>
        </p:txBody>
      </p:sp>
      <p:sp>
        <p:nvSpPr>
          <p:cNvPr id="4" name="Slide Number Placeholder 3"/>
          <p:cNvSpPr>
            <a:spLocks noGrp="1"/>
          </p:cNvSpPr>
          <p:nvPr>
            <p:ph type="sldNum" sz="quarter" idx="5"/>
          </p:nvPr>
        </p:nvSpPr>
        <p:spPr/>
        <p:txBody>
          <a:bodyPr/>
          <a:lstStyle/>
          <a:p>
            <a:fld id="{AECD8548-F1A2-4EDF-A416-5F2BB6B8F64C}" type="slidenum">
              <a:rPr lang="en-US" smtClean="0"/>
              <a:t>13</a:t>
            </a:fld>
            <a:endParaRPr lang="en-US"/>
          </a:p>
        </p:txBody>
      </p:sp>
    </p:spTree>
    <p:extLst>
      <p:ext uri="{BB962C8B-B14F-4D97-AF65-F5344CB8AC3E}">
        <p14:creationId xmlns:p14="http://schemas.microsoft.com/office/powerpoint/2010/main" val="64989201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latin typeface="Arial" panose="020B0604020202020204" pitchFamily="34" charset="0"/>
              </a:rPr>
              <a:t>NOTE:</a:t>
            </a:r>
            <a:r>
              <a:rPr lang="en-US" altLang="en-US" dirty="0">
                <a:latin typeface="Arial" panose="020B0604020202020204" pitchFamily="34" charset="0"/>
              </a:rPr>
              <a:t> These steps reference the items that will be addressed during the event and throughout the CEDAC activity if the CEDAC is used outside of the team.</a:t>
            </a:r>
          </a:p>
          <a:p>
            <a:endParaRPr lang="en-US" altLang="en-US" dirty="0">
              <a:latin typeface="Arial" panose="020B0604020202020204" pitchFamily="34" charset="0"/>
            </a:endParaRPr>
          </a:p>
          <a:p>
            <a:r>
              <a:rPr lang="en-US" altLang="en-US" b="1" dirty="0">
                <a:latin typeface="Arial" panose="020B0604020202020204" pitchFamily="34" charset="0"/>
              </a:rPr>
              <a:t>SAY:</a:t>
            </a:r>
            <a:r>
              <a:rPr lang="en-US" altLang="en-US" dirty="0">
                <a:latin typeface="Arial" panose="020B0604020202020204" pitchFamily="34" charset="0"/>
              </a:rPr>
              <a:t> </a:t>
            </a:r>
            <a:r>
              <a:rPr lang="ja-JP" altLang="en-US" dirty="0">
                <a:latin typeface="Arial" panose="020B0604020202020204" pitchFamily="34" charset="0"/>
              </a:rPr>
              <a:t>“</a:t>
            </a:r>
            <a:r>
              <a:rPr lang="en-US" altLang="ja-JP" dirty="0">
                <a:latin typeface="Arial" panose="020B0604020202020204" pitchFamily="34" charset="0"/>
              </a:rPr>
              <a:t>CEDAC is a good tool used for multi-shift operations and in environments that need input from areas that are not included on the team.</a:t>
            </a:r>
            <a:r>
              <a:rPr lang="ja-JP" altLang="en-US" dirty="0">
                <a:latin typeface="Arial" panose="020B0604020202020204" pitchFamily="34" charset="0"/>
              </a:rPr>
              <a:t>”</a:t>
            </a:r>
            <a:endParaRPr lang="en-US" altLang="en-US" dirty="0">
              <a:latin typeface="Arial" panose="020B0604020202020204" pitchFamily="34" charset="0"/>
            </a:endParaRPr>
          </a:p>
          <a:p>
            <a:endParaRPr lang="en-US" altLang="en-US"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14</a:t>
            </a:fld>
            <a:endParaRPr lang="en-US"/>
          </a:p>
        </p:txBody>
      </p:sp>
    </p:spTree>
    <p:extLst>
      <p:ext uri="{BB962C8B-B14F-4D97-AF65-F5344CB8AC3E}">
        <p14:creationId xmlns:p14="http://schemas.microsoft.com/office/powerpoint/2010/main" val="12694822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dirty="0">
                <a:latin typeface="Arial" panose="020B0604020202020204" pitchFamily="34" charset="0"/>
              </a:rPr>
              <a:t>NOTE: </a:t>
            </a:r>
            <a:r>
              <a:rPr lang="en-US" altLang="en-US" b="1" dirty="0">
                <a:latin typeface="Arial" panose="020B0604020202020204" pitchFamily="34" charset="0"/>
              </a:rPr>
              <a:t>Specific company name and information have been removed from this example. </a:t>
            </a:r>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15</a:t>
            </a:fld>
            <a:endParaRPr lang="en-US"/>
          </a:p>
        </p:txBody>
      </p:sp>
    </p:spTree>
    <p:extLst>
      <p:ext uri="{BB962C8B-B14F-4D97-AF65-F5344CB8AC3E}">
        <p14:creationId xmlns:p14="http://schemas.microsoft.com/office/powerpoint/2010/main" val="132542938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ECD8548-F1A2-4EDF-A416-5F2BB6B8F64C}" type="slidenum">
              <a:rPr lang="en-US" smtClean="0"/>
              <a:t>16</a:t>
            </a:fld>
            <a:endParaRPr lang="en-US"/>
          </a:p>
        </p:txBody>
      </p:sp>
    </p:spTree>
    <p:extLst>
      <p:ext uri="{BB962C8B-B14F-4D97-AF65-F5344CB8AC3E}">
        <p14:creationId xmlns:p14="http://schemas.microsoft.com/office/powerpoint/2010/main" val="270223072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tLang="en-US"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17</a:t>
            </a:fld>
            <a:endParaRPr lang="en-US"/>
          </a:p>
        </p:txBody>
      </p:sp>
    </p:spTree>
    <p:extLst>
      <p:ext uri="{BB962C8B-B14F-4D97-AF65-F5344CB8AC3E}">
        <p14:creationId xmlns:p14="http://schemas.microsoft.com/office/powerpoint/2010/main" val="57203470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tLang="en-US"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18</a:t>
            </a:fld>
            <a:endParaRPr lang="en-US"/>
          </a:p>
        </p:txBody>
      </p:sp>
    </p:spTree>
    <p:extLst>
      <p:ext uri="{BB962C8B-B14F-4D97-AF65-F5344CB8AC3E}">
        <p14:creationId xmlns:p14="http://schemas.microsoft.com/office/powerpoint/2010/main" val="375829178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b="1" dirty="0">
                <a:latin typeface="Arial" panose="020B0604020202020204" pitchFamily="34" charset="0"/>
                <a:ea typeface="ＭＳ Ｐゴシック" panose="020B0600070205080204" pitchFamily="34" charset="-128"/>
              </a:rPr>
              <a:t>DO:</a:t>
            </a:r>
            <a:r>
              <a:rPr lang="en-US" altLang="en-US" dirty="0">
                <a:latin typeface="Arial" panose="020B0604020202020204" pitchFamily="34" charset="0"/>
                <a:ea typeface="ＭＳ Ｐゴシック" panose="020B0600070205080204" pitchFamily="34" charset="-128"/>
              </a:rPr>
              <a:t> Review chapter objectives. </a:t>
            </a:r>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19</a:t>
            </a:fld>
            <a:endParaRPr lang="en-US"/>
          </a:p>
        </p:txBody>
      </p:sp>
    </p:spTree>
    <p:extLst>
      <p:ext uri="{BB962C8B-B14F-4D97-AF65-F5344CB8AC3E}">
        <p14:creationId xmlns:p14="http://schemas.microsoft.com/office/powerpoint/2010/main" val="273349104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latin typeface="Arial" panose="020B0604020202020204" pitchFamily="34" charset="0"/>
              </a:rPr>
              <a:t>SAY:</a:t>
            </a:r>
            <a:r>
              <a:rPr lang="en-US" altLang="en-US" dirty="0">
                <a:latin typeface="Arial" panose="020B0604020202020204" pitchFamily="34" charset="0"/>
              </a:rPr>
              <a:t> </a:t>
            </a:r>
            <a:r>
              <a:rPr lang="ja-JP" altLang="en-US" dirty="0">
                <a:latin typeface="Arial" panose="020B0604020202020204" pitchFamily="34" charset="0"/>
              </a:rPr>
              <a:t>“</a:t>
            </a:r>
            <a:r>
              <a:rPr lang="en-US" altLang="ja-JP" dirty="0">
                <a:latin typeface="Arial" panose="020B0604020202020204" pitchFamily="34" charset="0"/>
              </a:rPr>
              <a:t>Defining the problem does not mean define the solution.  Simply state what the observed failure or defect is and let the process amplify the </a:t>
            </a:r>
            <a:r>
              <a:rPr lang="ja-JP" altLang="en-US" dirty="0">
                <a:latin typeface="Arial" panose="020B0604020202020204" pitchFamily="34" charset="0"/>
              </a:rPr>
              <a:t>“</a:t>
            </a:r>
            <a:r>
              <a:rPr lang="en-US" altLang="ja-JP" dirty="0">
                <a:latin typeface="Arial" panose="020B0604020202020204" pitchFamily="34" charset="0"/>
              </a:rPr>
              <a:t>who, what, where, when</a:t>
            </a:r>
            <a:r>
              <a:rPr lang="ja-JP" altLang="en-US" dirty="0">
                <a:latin typeface="Arial" panose="020B0604020202020204" pitchFamily="34" charset="0"/>
              </a:rPr>
              <a:t>”</a:t>
            </a:r>
            <a:r>
              <a:rPr lang="en-US" altLang="ja-JP" dirty="0">
                <a:latin typeface="Arial" panose="020B0604020202020204" pitchFamily="34" charset="0"/>
              </a:rPr>
              <a:t> that will lead to the </a:t>
            </a:r>
            <a:r>
              <a:rPr lang="ja-JP" altLang="en-US" dirty="0">
                <a:latin typeface="Arial" panose="020B0604020202020204" pitchFamily="34" charset="0"/>
              </a:rPr>
              <a:t>“</a:t>
            </a:r>
            <a:r>
              <a:rPr lang="en-US" altLang="ja-JP" dirty="0">
                <a:latin typeface="Arial" panose="020B0604020202020204" pitchFamily="34" charset="0"/>
              </a:rPr>
              <a:t>why.</a:t>
            </a:r>
            <a:r>
              <a:rPr lang="ja-JP" altLang="en-US" dirty="0">
                <a:latin typeface="Arial" panose="020B0604020202020204" pitchFamily="34" charset="0"/>
              </a:rPr>
              <a:t>””</a:t>
            </a:r>
            <a:endParaRPr lang="en-US" altLang="ja-JP" dirty="0">
              <a:latin typeface="Arial" panose="020B0604020202020204" pitchFamily="34" charset="0"/>
            </a:endParaRPr>
          </a:p>
          <a:p>
            <a:endParaRPr lang="en-US" altLang="en-US" dirty="0">
              <a:latin typeface="Arial" panose="020B0604020202020204" pitchFamily="34" charset="0"/>
            </a:endParaRPr>
          </a:p>
          <a:p>
            <a:r>
              <a:rPr lang="en-US" altLang="en-US" dirty="0">
                <a:latin typeface="Arial" panose="020B0604020202020204" pitchFamily="34" charset="0"/>
              </a:rPr>
              <a:t>Objective statement = goal or desired condition</a:t>
            </a:r>
          </a:p>
          <a:p>
            <a:endParaRPr lang="en-US" altLang="en-US" dirty="0">
              <a:latin typeface="Arial" panose="020B0604020202020204" pitchFamily="34" charset="0"/>
            </a:endParaRPr>
          </a:p>
          <a:p>
            <a:endParaRPr lang="en-US" altLang="en-US" dirty="0">
              <a:latin typeface="Arial" panose="020B0604020202020204" pitchFamily="34" charset="0"/>
            </a:endParaRPr>
          </a:p>
          <a:p>
            <a:endParaRPr lang="en-US" altLang="en-US" dirty="0">
              <a:latin typeface="Arial" panose="020B0604020202020204" pitchFamily="34" charset="0"/>
            </a:endParaRPr>
          </a:p>
          <a:p>
            <a:endParaRPr lang="en-US" altLang="en-US"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20</a:t>
            </a:fld>
            <a:endParaRPr lang="en-US"/>
          </a:p>
        </p:txBody>
      </p:sp>
    </p:spTree>
    <p:extLst>
      <p:ext uri="{BB962C8B-B14F-4D97-AF65-F5344CB8AC3E}">
        <p14:creationId xmlns:p14="http://schemas.microsoft.com/office/powerpoint/2010/main" val="425510651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tLang="en-US"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21</a:t>
            </a:fld>
            <a:endParaRPr lang="en-US"/>
          </a:p>
        </p:txBody>
      </p:sp>
    </p:spTree>
    <p:extLst>
      <p:ext uri="{BB962C8B-B14F-4D97-AF65-F5344CB8AC3E}">
        <p14:creationId xmlns:p14="http://schemas.microsoft.com/office/powerpoint/2010/main" val="75686858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tLang="en-US"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22</a:t>
            </a:fld>
            <a:endParaRPr lang="en-US"/>
          </a:p>
        </p:txBody>
      </p:sp>
    </p:spTree>
    <p:extLst>
      <p:ext uri="{BB962C8B-B14F-4D97-AF65-F5344CB8AC3E}">
        <p14:creationId xmlns:p14="http://schemas.microsoft.com/office/powerpoint/2010/main" val="17268174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tLang="en-US"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23</a:t>
            </a:fld>
            <a:endParaRPr lang="en-US"/>
          </a:p>
        </p:txBody>
      </p:sp>
    </p:spTree>
    <p:extLst>
      <p:ext uri="{BB962C8B-B14F-4D97-AF65-F5344CB8AC3E}">
        <p14:creationId xmlns:p14="http://schemas.microsoft.com/office/powerpoint/2010/main" val="49450458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tLang="en-US"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24</a:t>
            </a:fld>
            <a:endParaRPr lang="en-US"/>
          </a:p>
        </p:txBody>
      </p:sp>
    </p:spTree>
    <p:extLst>
      <p:ext uri="{BB962C8B-B14F-4D97-AF65-F5344CB8AC3E}">
        <p14:creationId xmlns:p14="http://schemas.microsoft.com/office/powerpoint/2010/main" val="288785962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tLang="en-US" sz="800" dirty="0"/>
          </a:p>
        </p:txBody>
      </p:sp>
      <p:sp>
        <p:nvSpPr>
          <p:cNvPr id="4" name="Slide Number Placeholder 3"/>
          <p:cNvSpPr>
            <a:spLocks noGrp="1"/>
          </p:cNvSpPr>
          <p:nvPr>
            <p:ph type="sldNum" sz="quarter" idx="5"/>
          </p:nvPr>
        </p:nvSpPr>
        <p:spPr/>
        <p:txBody>
          <a:bodyPr/>
          <a:lstStyle/>
          <a:p>
            <a:fld id="{AECD8548-F1A2-4EDF-A416-5F2BB6B8F64C}" type="slidenum">
              <a:rPr lang="en-US" smtClean="0"/>
              <a:t>25</a:t>
            </a:fld>
            <a:endParaRPr lang="en-US"/>
          </a:p>
        </p:txBody>
      </p:sp>
    </p:spTree>
    <p:extLst>
      <p:ext uri="{BB962C8B-B14F-4D97-AF65-F5344CB8AC3E}">
        <p14:creationId xmlns:p14="http://schemas.microsoft.com/office/powerpoint/2010/main" val="106434562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lnSpc>
                <a:spcPct val="90000"/>
              </a:lnSpc>
            </a:pPr>
            <a:r>
              <a:rPr lang="en-US" altLang="en-US" sz="1200" dirty="0">
                <a:latin typeface="Arial" panose="020B0604020202020204" pitchFamily="34" charset="0"/>
              </a:rPr>
              <a:t>Better versions of these Problem Statements:</a:t>
            </a:r>
          </a:p>
          <a:p>
            <a:pPr marL="228600" indent="-228600">
              <a:lnSpc>
                <a:spcPct val="90000"/>
              </a:lnSpc>
            </a:pPr>
            <a:endParaRPr lang="en-US" altLang="en-US" sz="1200" dirty="0">
              <a:latin typeface="Arial" panose="020B0604020202020204" pitchFamily="34" charset="0"/>
            </a:endParaRPr>
          </a:p>
          <a:p>
            <a:pPr marL="228600" indent="-228600">
              <a:lnSpc>
                <a:spcPct val="90000"/>
              </a:lnSpc>
              <a:buFontTx/>
              <a:buAutoNum type="arabicPeriod"/>
            </a:pPr>
            <a:r>
              <a:rPr lang="en-US" altLang="en-US" sz="1200" dirty="0">
                <a:latin typeface="Arial" panose="020B0604020202020204" pitchFamily="34" charset="0"/>
              </a:rPr>
              <a:t> The number of stock-outs in the warehouse has risen to 15% over the last three months, </a:t>
            </a:r>
          </a:p>
          <a:p>
            <a:pPr marL="228600" indent="-228600">
              <a:lnSpc>
                <a:spcPct val="90000"/>
              </a:lnSpc>
            </a:pPr>
            <a:r>
              <a:rPr lang="en-US" altLang="en-US" sz="1200" dirty="0">
                <a:latin typeface="Arial" panose="020B0604020202020204" pitchFamily="34" charset="0"/>
              </a:rPr>
              <a:t>    failing to meet our service level objective of 98% fill rate on all orders</a:t>
            </a:r>
          </a:p>
          <a:p>
            <a:pPr marL="228600" indent="-228600">
              <a:lnSpc>
                <a:spcPct val="90000"/>
              </a:lnSpc>
            </a:pPr>
            <a:endParaRPr lang="en-US" altLang="en-US" sz="1200" dirty="0">
              <a:latin typeface="Arial" panose="020B0604020202020204" pitchFamily="34" charset="0"/>
            </a:endParaRPr>
          </a:p>
          <a:p>
            <a:pPr marL="228600" indent="-228600">
              <a:lnSpc>
                <a:spcPct val="90000"/>
              </a:lnSpc>
            </a:pPr>
            <a:r>
              <a:rPr lang="en-US" altLang="en-US" sz="1200" dirty="0">
                <a:latin typeface="Arial" panose="020B0604020202020204" pitchFamily="34" charset="0"/>
              </a:rPr>
              <a:t>2. Over the last three months, 85 out of 630 customer orders shipped for the AC001 line of products resulted in</a:t>
            </a:r>
          </a:p>
          <a:p>
            <a:pPr marL="228600" indent="-228600">
              <a:lnSpc>
                <a:spcPct val="90000"/>
              </a:lnSpc>
            </a:pPr>
            <a:r>
              <a:rPr lang="en-US" altLang="en-US" sz="1200" dirty="0">
                <a:latin typeface="Arial" panose="020B0604020202020204" pitchFamily="34" charset="0"/>
              </a:rPr>
              <a:t>    claims of product damage by the customer as measured by incoming claims received in Customer Service</a:t>
            </a:r>
          </a:p>
          <a:p>
            <a:pPr marL="228600" indent="-228600">
              <a:lnSpc>
                <a:spcPct val="90000"/>
              </a:lnSpc>
            </a:pPr>
            <a:endParaRPr lang="en-US" altLang="en-US" sz="1200" dirty="0">
              <a:latin typeface="Arial" panose="020B0604020202020204" pitchFamily="34" charset="0"/>
            </a:endParaRPr>
          </a:p>
          <a:p>
            <a:pPr marL="228600" indent="-228600">
              <a:lnSpc>
                <a:spcPct val="90000"/>
              </a:lnSpc>
            </a:pPr>
            <a:r>
              <a:rPr lang="en-US" altLang="en-US" sz="1200" dirty="0">
                <a:latin typeface="Arial" panose="020B0604020202020204" pitchFamily="34" charset="0"/>
              </a:rPr>
              <a:t>Here are three different possible examples:</a:t>
            </a:r>
          </a:p>
          <a:p>
            <a:pPr marL="228600" indent="-228600">
              <a:lnSpc>
                <a:spcPct val="90000"/>
              </a:lnSpc>
            </a:pPr>
            <a:r>
              <a:rPr lang="en-US" altLang="en-US" sz="1200" dirty="0">
                <a:latin typeface="Arial" panose="020B0604020202020204" pitchFamily="34" charset="0"/>
              </a:rPr>
              <a:t>3.1.  Field repairs are taking longer to make in the past year on average than in previous history </a:t>
            </a:r>
          </a:p>
          <a:p>
            <a:pPr marL="228600" indent="-228600">
              <a:lnSpc>
                <a:spcPct val="90000"/>
              </a:lnSpc>
            </a:pPr>
            <a:r>
              <a:rPr lang="en-US" altLang="en-US" sz="1200" dirty="0">
                <a:latin typeface="Arial" panose="020B0604020202020204" pitchFamily="34" charset="0"/>
              </a:rPr>
              <a:t>        (5.2 average hours last year compared to 2.3 average hours over the prior three years)</a:t>
            </a:r>
          </a:p>
          <a:p>
            <a:pPr marL="228600" indent="-228600">
              <a:lnSpc>
                <a:spcPct val="90000"/>
              </a:lnSpc>
            </a:pPr>
            <a:r>
              <a:rPr lang="en-US" altLang="en-US" sz="1200" dirty="0">
                <a:latin typeface="Arial" panose="020B0604020202020204" pitchFamily="34" charset="0"/>
              </a:rPr>
              <a:t>3.2.  30% of all products that were repaired in the field last year had to be repaired a second time</a:t>
            </a:r>
          </a:p>
          <a:p>
            <a:pPr marL="228600" indent="-228600">
              <a:lnSpc>
                <a:spcPct val="90000"/>
              </a:lnSpc>
            </a:pPr>
            <a:r>
              <a:rPr lang="en-US" altLang="en-US" sz="1200" dirty="0">
                <a:latin typeface="Arial" panose="020B0604020202020204" pitchFamily="34" charset="0"/>
              </a:rPr>
              <a:t>3.3   30% of all failed products in the field could not be repaired in the field and had to be returned to the factory</a:t>
            </a:r>
          </a:p>
          <a:p>
            <a:pPr marL="228600" indent="-228600">
              <a:lnSpc>
                <a:spcPct val="90000"/>
              </a:lnSpc>
            </a:pPr>
            <a:endParaRPr lang="en-US" altLang="en-US" sz="1200" dirty="0">
              <a:latin typeface="Arial" panose="020B0604020202020204" pitchFamily="34" charset="0"/>
            </a:endParaRPr>
          </a:p>
          <a:p>
            <a:pPr marL="228600" indent="-228600">
              <a:lnSpc>
                <a:spcPct val="90000"/>
              </a:lnSpc>
            </a:pPr>
            <a:r>
              <a:rPr lang="en-US" altLang="en-US" sz="1200" dirty="0">
                <a:latin typeface="Arial" panose="020B0604020202020204" pitchFamily="34" charset="0"/>
              </a:rPr>
              <a:t>4. 15% of the Part# AB006-2</a:t>
            </a:r>
            <a:r>
              <a:rPr lang="ja-JP" altLang="en-US" sz="1200" dirty="0">
                <a:latin typeface="Arial" panose="020B0604020202020204" pitchFamily="34" charset="0"/>
              </a:rPr>
              <a:t>’</a:t>
            </a:r>
            <a:r>
              <a:rPr lang="en-US" altLang="ja-JP" sz="1200" dirty="0">
                <a:latin typeface="Arial" panose="020B0604020202020204" pitchFamily="34" charset="0"/>
              </a:rPr>
              <a:t>s produced in the large ring cell are rejected for out-of-spec inside diameter during CMM inspection</a:t>
            </a:r>
            <a:endParaRPr lang="en-US" altLang="en-US" sz="1200"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26</a:t>
            </a:fld>
            <a:endParaRPr lang="en-US"/>
          </a:p>
        </p:txBody>
      </p:sp>
    </p:spTree>
    <p:extLst>
      <p:ext uri="{BB962C8B-B14F-4D97-AF65-F5344CB8AC3E}">
        <p14:creationId xmlns:p14="http://schemas.microsoft.com/office/powerpoint/2010/main" val="413240189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sz="800" b="1" dirty="0">
                <a:latin typeface="Arial" panose="020B0604020202020204" pitchFamily="34" charset="0"/>
              </a:rPr>
              <a:t>NOTE:</a:t>
            </a:r>
            <a:r>
              <a:rPr lang="en-US" altLang="en-US" sz="800" dirty="0">
                <a:latin typeface="Arial" panose="020B0604020202020204" pitchFamily="34" charset="0"/>
              </a:rPr>
              <a:t>  At this point, probably the best problem statement would be:  </a:t>
            </a:r>
            <a:r>
              <a:rPr lang="ja-JP" altLang="en-US" sz="800" dirty="0">
                <a:latin typeface="Arial" panose="020B0604020202020204" pitchFamily="34" charset="0"/>
              </a:rPr>
              <a:t>“</a:t>
            </a:r>
            <a:r>
              <a:rPr lang="en-US" altLang="ja-JP" sz="800" dirty="0">
                <a:latin typeface="Arial" panose="020B0604020202020204" pitchFamily="34" charset="0"/>
              </a:rPr>
              <a:t>Customer complaints have increased significantly during this past summer.</a:t>
            </a:r>
            <a:r>
              <a:rPr lang="ja-JP" altLang="en-US" sz="800" dirty="0">
                <a:latin typeface="Arial" panose="020B0604020202020204" pitchFamily="34" charset="0"/>
              </a:rPr>
              <a:t>”</a:t>
            </a:r>
            <a:r>
              <a:rPr lang="en-US" altLang="ja-JP" sz="800" dirty="0">
                <a:latin typeface="Arial" panose="020B0604020202020204" pitchFamily="34" charset="0"/>
              </a:rPr>
              <a:t>  The learners may struggle given that there is no additional data, and that is GOOD!  There is really no wrong answer at this point, since the teams will have an opportunity to more data in steps 2 and 3.</a:t>
            </a:r>
          </a:p>
          <a:p>
            <a:r>
              <a:rPr lang="en-US" altLang="en-US" sz="800" b="1" dirty="0">
                <a:latin typeface="Arial" panose="020B0604020202020204" pitchFamily="34" charset="0"/>
              </a:rPr>
              <a:t>NOTE:</a:t>
            </a:r>
            <a:r>
              <a:rPr lang="en-US" altLang="en-US" sz="800" dirty="0">
                <a:latin typeface="Arial" panose="020B0604020202020204" pitchFamily="34" charset="0"/>
              </a:rPr>
              <a:t>  This restaurant is NOT REAL!  In case anyone should ask – only a hypothetical situation.</a:t>
            </a:r>
          </a:p>
        </p:txBody>
      </p:sp>
      <p:sp>
        <p:nvSpPr>
          <p:cNvPr id="4" name="Slide Number Placeholder 3"/>
          <p:cNvSpPr>
            <a:spLocks noGrp="1"/>
          </p:cNvSpPr>
          <p:nvPr>
            <p:ph type="sldNum" sz="quarter" idx="5"/>
          </p:nvPr>
        </p:nvSpPr>
        <p:spPr/>
        <p:txBody>
          <a:bodyPr/>
          <a:lstStyle/>
          <a:p>
            <a:fld id="{AECD8548-F1A2-4EDF-A416-5F2BB6B8F64C}" type="slidenum">
              <a:rPr lang="en-US" smtClean="0"/>
              <a:t>27</a:t>
            </a:fld>
            <a:endParaRPr lang="en-US"/>
          </a:p>
        </p:txBody>
      </p:sp>
    </p:spTree>
    <p:extLst>
      <p:ext uri="{BB962C8B-B14F-4D97-AF65-F5344CB8AC3E}">
        <p14:creationId xmlns:p14="http://schemas.microsoft.com/office/powerpoint/2010/main" val="10306382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ECD8548-F1A2-4EDF-A416-5F2BB6B8F64C}" type="slidenum">
              <a:rPr lang="en-US" smtClean="0"/>
              <a:t>28</a:t>
            </a:fld>
            <a:endParaRPr lang="en-US"/>
          </a:p>
        </p:txBody>
      </p:sp>
    </p:spTree>
    <p:extLst>
      <p:ext uri="{BB962C8B-B14F-4D97-AF65-F5344CB8AC3E}">
        <p14:creationId xmlns:p14="http://schemas.microsoft.com/office/powerpoint/2010/main" val="154211900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b="1" dirty="0">
                <a:latin typeface="Arial" panose="020B0604020202020204" pitchFamily="34" charset="0"/>
                <a:ea typeface="ＭＳ Ｐゴシック" panose="020B0600070205080204" pitchFamily="34" charset="-128"/>
              </a:rPr>
              <a:t>DO:</a:t>
            </a:r>
            <a:r>
              <a:rPr lang="en-US" altLang="en-US" dirty="0">
                <a:latin typeface="Arial" panose="020B0604020202020204" pitchFamily="34" charset="0"/>
                <a:ea typeface="ＭＳ Ｐゴシック" panose="020B0600070205080204" pitchFamily="34" charset="-128"/>
              </a:rPr>
              <a:t> Review chapter objectives. </a:t>
            </a:r>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29</a:t>
            </a:fld>
            <a:endParaRPr lang="en-US"/>
          </a:p>
        </p:txBody>
      </p:sp>
    </p:spTree>
    <p:extLst>
      <p:ext uri="{BB962C8B-B14F-4D97-AF65-F5344CB8AC3E}">
        <p14:creationId xmlns:p14="http://schemas.microsoft.com/office/powerpoint/2010/main" val="317515122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tLang="en-US"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30</a:t>
            </a:fld>
            <a:endParaRPr lang="en-US"/>
          </a:p>
        </p:txBody>
      </p:sp>
    </p:spTree>
    <p:extLst>
      <p:ext uri="{BB962C8B-B14F-4D97-AF65-F5344CB8AC3E}">
        <p14:creationId xmlns:p14="http://schemas.microsoft.com/office/powerpoint/2010/main" val="229684758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b="1" dirty="0">
                <a:latin typeface="Arial" panose="020B0604020202020204" pitchFamily="34" charset="0"/>
              </a:rPr>
              <a:t>SAY:</a:t>
            </a:r>
            <a:r>
              <a:rPr lang="en-US" altLang="en-US" dirty="0">
                <a:latin typeface="Arial" panose="020B0604020202020204" pitchFamily="34" charset="0"/>
              </a:rPr>
              <a:t> </a:t>
            </a:r>
            <a:r>
              <a:rPr lang="ja-JP" altLang="en-US" dirty="0">
                <a:latin typeface="Arial" panose="020B0604020202020204" pitchFamily="34" charset="0"/>
              </a:rPr>
              <a:t>“</a:t>
            </a:r>
            <a:r>
              <a:rPr lang="en-US" altLang="ja-JP" dirty="0">
                <a:latin typeface="Arial" panose="020B0604020202020204" pitchFamily="34" charset="0"/>
              </a:rPr>
              <a:t>You cannot improve what you don</a:t>
            </a:r>
            <a:r>
              <a:rPr lang="ja-JP" altLang="en-US" dirty="0">
                <a:latin typeface="Arial" panose="020B0604020202020204" pitchFamily="34" charset="0"/>
              </a:rPr>
              <a:t>’</a:t>
            </a:r>
            <a:r>
              <a:rPr lang="en-US" altLang="ja-JP" dirty="0">
                <a:latin typeface="Arial" panose="020B0604020202020204" pitchFamily="34" charset="0"/>
              </a:rPr>
              <a:t>t measure.</a:t>
            </a:r>
            <a:r>
              <a:rPr lang="ja-JP" altLang="en-US" dirty="0">
                <a:latin typeface="Arial" panose="020B0604020202020204" pitchFamily="34" charset="0"/>
              </a:rPr>
              <a:t>”</a:t>
            </a:r>
            <a:endParaRPr lang="en-US" altLang="en-US" dirty="0">
              <a:latin typeface="Arial" panose="020B0604020202020204" pitchFamily="34" charset="0"/>
            </a:endParaRPr>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31</a:t>
            </a:fld>
            <a:endParaRPr lang="en-US"/>
          </a:p>
        </p:txBody>
      </p:sp>
    </p:spTree>
    <p:extLst>
      <p:ext uri="{BB962C8B-B14F-4D97-AF65-F5344CB8AC3E}">
        <p14:creationId xmlns:p14="http://schemas.microsoft.com/office/powerpoint/2010/main" val="323949039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latin typeface="Arial" panose="020B0604020202020204" pitchFamily="34" charset="0"/>
              </a:rPr>
              <a:t>SAY:</a:t>
            </a:r>
            <a:r>
              <a:rPr lang="en-US" altLang="en-US" dirty="0">
                <a:latin typeface="Arial" panose="020B0604020202020204" pitchFamily="34" charset="0"/>
              </a:rPr>
              <a:t> </a:t>
            </a:r>
            <a:r>
              <a:rPr lang="ja-JP" altLang="en-US" dirty="0">
                <a:latin typeface="Arial" panose="020B0604020202020204" pitchFamily="34" charset="0"/>
              </a:rPr>
              <a:t>“</a:t>
            </a:r>
            <a:r>
              <a:rPr lang="en-US" altLang="ja-JP" dirty="0">
                <a:latin typeface="Arial" panose="020B0604020202020204" pitchFamily="34" charset="0"/>
              </a:rPr>
              <a:t>It is important to collect and use measures that are easy to get and hard to fool.  If the measures can be </a:t>
            </a:r>
            <a:r>
              <a:rPr lang="ja-JP" altLang="en-US" dirty="0">
                <a:latin typeface="Arial" panose="020B0604020202020204" pitchFamily="34" charset="0"/>
              </a:rPr>
              <a:t>“</a:t>
            </a:r>
            <a:r>
              <a:rPr lang="en-US" altLang="ja-JP" dirty="0">
                <a:latin typeface="Arial" panose="020B0604020202020204" pitchFamily="34" charset="0"/>
              </a:rPr>
              <a:t>gamed</a:t>
            </a:r>
            <a:r>
              <a:rPr lang="ja-JP" altLang="en-US" dirty="0">
                <a:latin typeface="Arial" panose="020B0604020202020204" pitchFamily="34" charset="0"/>
              </a:rPr>
              <a:t>”</a:t>
            </a:r>
            <a:r>
              <a:rPr lang="en-US" altLang="ja-JP" dirty="0">
                <a:latin typeface="Arial" panose="020B0604020202020204" pitchFamily="34" charset="0"/>
              </a:rPr>
              <a:t> then they probably will be…</a:t>
            </a:r>
            <a:r>
              <a:rPr lang="ja-JP" altLang="en-US" dirty="0">
                <a:latin typeface="Arial" panose="020B0604020202020204" pitchFamily="34" charset="0"/>
              </a:rPr>
              <a:t>”</a:t>
            </a:r>
            <a:endParaRPr lang="en-US" altLang="en-US" dirty="0">
              <a:latin typeface="Arial" panose="020B0604020202020204" pitchFamily="34" charset="0"/>
            </a:endParaRPr>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32</a:t>
            </a:fld>
            <a:endParaRPr lang="en-US"/>
          </a:p>
        </p:txBody>
      </p:sp>
    </p:spTree>
    <p:extLst>
      <p:ext uri="{BB962C8B-B14F-4D97-AF65-F5344CB8AC3E}">
        <p14:creationId xmlns:p14="http://schemas.microsoft.com/office/powerpoint/2010/main" val="61348202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latin typeface="Arial" panose="020B0604020202020204" pitchFamily="34" charset="0"/>
              </a:rPr>
              <a:t>DO:</a:t>
            </a:r>
            <a:r>
              <a:rPr lang="en-US" altLang="en-US" dirty="0">
                <a:latin typeface="Arial" panose="020B0604020202020204" pitchFamily="34" charset="0"/>
              </a:rPr>
              <a:t> Ask the team to identify some of their own metrics (personal or professional) based on what they interpret here.</a:t>
            </a:r>
          </a:p>
        </p:txBody>
      </p:sp>
      <p:sp>
        <p:nvSpPr>
          <p:cNvPr id="4" name="Slide Number Placeholder 3"/>
          <p:cNvSpPr>
            <a:spLocks noGrp="1"/>
          </p:cNvSpPr>
          <p:nvPr>
            <p:ph type="sldNum" sz="quarter" idx="5"/>
          </p:nvPr>
        </p:nvSpPr>
        <p:spPr/>
        <p:txBody>
          <a:bodyPr/>
          <a:lstStyle/>
          <a:p>
            <a:fld id="{AECD8548-F1A2-4EDF-A416-5F2BB6B8F64C}" type="slidenum">
              <a:rPr lang="en-US" smtClean="0"/>
              <a:t>33</a:t>
            </a:fld>
            <a:endParaRPr lang="en-US"/>
          </a:p>
        </p:txBody>
      </p:sp>
    </p:spTree>
    <p:extLst>
      <p:ext uri="{BB962C8B-B14F-4D97-AF65-F5344CB8AC3E}">
        <p14:creationId xmlns:p14="http://schemas.microsoft.com/office/powerpoint/2010/main" val="255382199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latin typeface="Arial" panose="020B0604020202020204" pitchFamily="34" charset="0"/>
              </a:rPr>
              <a:t>NOTE:</a:t>
            </a:r>
            <a:r>
              <a:rPr lang="en-US" altLang="en-US" dirty="0">
                <a:latin typeface="Arial" panose="020B0604020202020204" pitchFamily="34" charset="0"/>
              </a:rPr>
              <a:t> It is helpful to expand on each of the items listed and ask the class what they mean and how they relate to their experience.  Don</a:t>
            </a:r>
            <a:r>
              <a:rPr lang="ja-JP" altLang="en-US" dirty="0">
                <a:latin typeface="Arial" panose="020B0604020202020204" pitchFamily="34" charset="0"/>
              </a:rPr>
              <a:t>’</a:t>
            </a:r>
            <a:r>
              <a:rPr lang="en-US" altLang="ja-JP" dirty="0">
                <a:latin typeface="Arial" panose="020B0604020202020204" pitchFamily="34" charset="0"/>
              </a:rPr>
              <a:t>t let them off easy, make them tell you some instances for some of the items listed to be sure they relate to the pitfalls and find the truth in what is being taught.</a:t>
            </a:r>
            <a:endParaRPr lang="en-US" altLang="en-US"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34</a:t>
            </a:fld>
            <a:endParaRPr lang="en-US"/>
          </a:p>
        </p:txBody>
      </p:sp>
    </p:spTree>
    <p:extLst>
      <p:ext uri="{BB962C8B-B14F-4D97-AF65-F5344CB8AC3E}">
        <p14:creationId xmlns:p14="http://schemas.microsoft.com/office/powerpoint/2010/main" val="160427302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tLang="en-US" sz="800" dirty="0"/>
          </a:p>
        </p:txBody>
      </p:sp>
      <p:sp>
        <p:nvSpPr>
          <p:cNvPr id="4" name="Slide Number Placeholder 3"/>
          <p:cNvSpPr>
            <a:spLocks noGrp="1"/>
          </p:cNvSpPr>
          <p:nvPr>
            <p:ph type="sldNum" sz="quarter" idx="5"/>
          </p:nvPr>
        </p:nvSpPr>
        <p:spPr/>
        <p:txBody>
          <a:bodyPr/>
          <a:lstStyle/>
          <a:p>
            <a:fld id="{AECD8548-F1A2-4EDF-A416-5F2BB6B8F64C}" type="slidenum">
              <a:rPr lang="en-US" smtClean="0"/>
              <a:t>35</a:t>
            </a:fld>
            <a:endParaRPr lang="en-US"/>
          </a:p>
        </p:txBody>
      </p:sp>
    </p:spTree>
    <p:extLst>
      <p:ext uri="{BB962C8B-B14F-4D97-AF65-F5344CB8AC3E}">
        <p14:creationId xmlns:p14="http://schemas.microsoft.com/office/powerpoint/2010/main" val="769285808"/>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r>
              <a:rPr lang="en-US" altLang="en-US" b="1" dirty="0">
                <a:latin typeface="Arial" panose="020B0604020202020204" pitchFamily="34" charset="0"/>
              </a:rPr>
              <a:t>ANSWERS:</a:t>
            </a:r>
          </a:p>
          <a:p>
            <a:pPr marL="228600" indent="-228600">
              <a:buFontTx/>
              <a:buAutoNum type="arabicPeriod"/>
            </a:pPr>
            <a:r>
              <a:rPr lang="en-US" altLang="en-US" dirty="0">
                <a:latin typeface="Arial" panose="020B0604020202020204" pitchFamily="34" charset="0"/>
              </a:rPr>
              <a:t>Metric does not directly correlate to problem</a:t>
            </a:r>
          </a:p>
          <a:p>
            <a:pPr marL="228600" indent="-228600">
              <a:buFontTx/>
              <a:buAutoNum type="arabicPeriod"/>
            </a:pPr>
            <a:r>
              <a:rPr lang="en-US" altLang="en-US" dirty="0">
                <a:latin typeface="Arial" panose="020B0604020202020204" pitchFamily="34" charset="0"/>
              </a:rPr>
              <a:t>Adequate</a:t>
            </a:r>
          </a:p>
          <a:p>
            <a:pPr marL="228600" indent="-228600">
              <a:buFontTx/>
              <a:buAutoNum type="arabicPeriod"/>
            </a:pPr>
            <a:r>
              <a:rPr lang="en-US" altLang="en-US" dirty="0">
                <a:latin typeface="Arial" panose="020B0604020202020204" pitchFamily="34" charset="0"/>
              </a:rPr>
              <a:t>Customer satisfaction ratings may apply to this depending on what was measured – but the metric as it is written is not clear.</a:t>
            </a:r>
          </a:p>
          <a:p>
            <a:pPr marL="228600" indent="-228600">
              <a:buFontTx/>
              <a:buAutoNum type="arabicPeriod"/>
            </a:pPr>
            <a:r>
              <a:rPr lang="en-US" altLang="en-US" dirty="0">
                <a:latin typeface="Arial" panose="020B0604020202020204" pitchFamily="34" charset="0"/>
              </a:rPr>
              <a:t>Daily account receivables does not point directly to available budget for an accountant</a:t>
            </a:r>
          </a:p>
        </p:txBody>
      </p:sp>
      <p:sp>
        <p:nvSpPr>
          <p:cNvPr id="4" name="Slide Number Placeholder 3"/>
          <p:cNvSpPr>
            <a:spLocks noGrp="1"/>
          </p:cNvSpPr>
          <p:nvPr>
            <p:ph type="sldNum" sz="quarter" idx="5"/>
          </p:nvPr>
        </p:nvSpPr>
        <p:spPr/>
        <p:txBody>
          <a:bodyPr/>
          <a:lstStyle/>
          <a:p>
            <a:fld id="{AECD8548-F1A2-4EDF-A416-5F2BB6B8F64C}" type="slidenum">
              <a:rPr lang="en-US" smtClean="0"/>
              <a:t>36</a:t>
            </a:fld>
            <a:endParaRPr lang="en-US"/>
          </a:p>
        </p:txBody>
      </p:sp>
    </p:spTree>
    <p:extLst>
      <p:ext uri="{BB962C8B-B14F-4D97-AF65-F5344CB8AC3E}">
        <p14:creationId xmlns:p14="http://schemas.microsoft.com/office/powerpoint/2010/main" val="2774477817"/>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sz="800" b="1" dirty="0">
                <a:latin typeface="Arial" panose="020B0604020202020204" pitchFamily="34" charset="0"/>
              </a:rPr>
              <a:t>NOTE:</a:t>
            </a:r>
            <a:r>
              <a:rPr lang="en-US" altLang="en-US" sz="800" dirty="0">
                <a:latin typeface="Arial" panose="020B0604020202020204" pitchFamily="34" charset="0"/>
              </a:rPr>
              <a:t>  At this point, probably the best problem statement would be: </a:t>
            </a:r>
            <a:r>
              <a:rPr lang="ja-JP" altLang="en-US" sz="800" dirty="0">
                <a:latin typeface="Arial" panose="020B0604020202020204" pitchFamily="34" charset="0"/>
              </a:rPr>
              <a:t>“</a:t>
            </a:r>
            <a:r>
              <a:rPr lang="en-US" altLang="ja-JP" sz="800" dirty="0">
                <a:latin typeface="Arial" panose="020B0604020202020204" pitchFamily="34" charset="0"/>
              </a:rPr>
              <a:t>Customer complaints have increased significantly during this past summer, primarily on Fridays.</a:t>
            </a:r>
            <a:r>
              <a:rPr lang="ja-JP" altLang="en-US" sz="800" dirty="0">
                <a:latin typeface="Arial" panose="020B0604020202020204" pitchFamily="34" charset="0"/>
              </a:rPr>
              <a:t>”</a:t>
            </a:r>
            <a:r>
              <a:rPr lang="en-US" altLang="ja-JP" sz="800" dirty="0">
                <a:latin typeface="Arial" panose="020B0604020202020204" pitchFamily="34" charset="0"/>
              </a:rPr>
              <a:t>  Additional metrics would definitely include a Pareto analysis of the actual COMPLAINTS, especially on Friday.  You may want to point out that, at this point, your primary focus WILL be on FRIDAY complaints, given that it accounts for 80% of the problem.</a:t>
            </a:r>
            <a:endParaRPr lang="en-US" altLang="en-US" sz="800"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37</a:t>
            </a:fld>
            <a:endParaRPr lang="en-US"/>
          </a:p>
        </p:txBody>
      </p:sp>
    </p:spTree>
    <p:extLst>
      <p:ext uri="{BB962C8B-B14F-4D97-AF65-F5344CB8AC3E}">
        <p14:creationId xmlns:p14="http://schemas.microsoft.com/office/powerpoint/2010/main" val="1314438558"/>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90000"/>
              </a:lnSpc>
            </a:pPr>
            <a:r>
              <a:rPr lang="en-US" altLang="en-US" sz="1200" b="1" dirty="0">
                <a:latin typeface="Arial" panose="020B0604020202020204" pitchFamily="34" charset="0"/>
              </a:rPr>
              <a:t>SAY:</a:t>
            </a:r>
            <a:r>
              <a:rPr lang="en-US" altLang="en-US" sz="1200" dirty="0">
                <a:latin typeface="Arial" panose="020B0604020202020204" pitchFamily="34" charset="0"/>
              </a:rPr>
              <a:t> </a:t>
            </a:r>
            <a:r>
              <a:rPr lang="ja-JP" altLang="en-US" sz="1200" dirty="0">
                <a:latin typeface="Arial" panose="020B0604020202020204" pitchFamily="34" charset="0"/>
              </a:rPr>
              <a:t>“</a:t>
            </a:r>
            <a:r>
              <a:rPr lang="en-US" altLang="ja-JP" sz="1200" dirty="0">
                <a:latin typeface="Arial" panose="020B0604020202020204" pitchFamily="34" charset="0"/>
              </a:rPr>
              <a:t>Don</a:t>
            </a:r>
            <a:r>
              <a:rPr lang="ja-JP" altLang="en-US" sz="1200" dirty="0">
                <a:latin typeface="Arial" panose="020B0604020202020204" pitchFamily="34" charset="0"/>
              </a:rPr>
              <a:t>’</a:t>
            </a:r>
            <a:r>
              <a:rPr lang="en-US" altLang="ja-JP" sz="1200" dirty="0">
                <a:latin typeface="Arial" panose="020B0604020202020204" pitchFamily="34" charset="0"/>
              </a:rPr>
              <a:t>t forget Pareto</a:t>
            </a:r>
            <a:r>
              <a:rPr lang="ja-JP" altLang="en-US" sz="1200" dirty="0">
                <a:latin typeface="Arial" panose="020B0604020202020204" pitchFamily="34" charset="0"/>
              </a:rPr>
              <a:t>’</a:t>
            </a:r>
            <a:r>
              <a:rPr lang="en-US" altLang="ja-JP" sz="1200" dirty="0">
                <a:latin typeface="Arial" panose="020B0604020202020204" pitchFamily="34" charset="0"/>
              </a:rPr>
              <a:t>s Law and the 80/20 rule…</a:t>
            </a:r>
          </a:p>
          <a:p>
            <a:pPr>
              <a:lnSpc>
                <a:spcPct val="90000"/>
              </a:lnSpc>
            </a:pPr>
            <a:endParaRPr lang="en-US" altLang="en-US" sz="1200" dirty="0">
              <a:latin typeface="Arial" panose="020B0604020202020204" pitchFamily="34" charset="0"/>
            </a:endParaRPr>
          </a:p>
          <a:p>
            <a:pPr>
              <a:lnSpc>
                <a:spcPct val="90000"/>
              </a:lnSpc>
            </a:pPr>
            <a:r>
              <a:rPr lang="en-US" altLang="en-US" sz="1200" dirty="0">
                <a:latin typeface="Arial" panose="020B0604020202020204" pitchFamily="34" charset="0"/>
              </a:rPr>
              <a:t>The original observation was in connection with income and wealth. Pareto noticed that 80% of Italy's wealth was owned by 20% of the population. He then carried out surveys on a variety of other countries and found to his surprise that a similar distribution applied.</a:t>
            </a:r>
          </a:p>
          <a:p>
            <a:pPr>
              <a:lnSpc>
                <a:spcPct val="90000"/>
              </a:lnSpc>
            </a:pPr>
            <a:r>
              <a:rPr lang="en-US" altLang="en-US" sz="1200" dirty="0">
                <a:latin typeface="Arial" panose="020B0604020202020204" pitchFamily="34" charset="0"/>
              </a:rPr>
              <a:t>It also applies to a variety of more mundane matters: we wear our 20% most favored clothes about 80% of the time, we spend 80% of the time with 20% of our acquaintances etc.</a:t>
            </a:r>
          </a:p>
          <a:p>
            <a:pPr>
              <a:lnSpc>
                <a:spcPct val="90000"/>
              </a:lnSpc>
            </a:pPr>
            <a:r>
              <a:rPr lang="en-US" altLang="en-US" sz="1200" dirty="0">
                <a:latin typeface="Arial" panose="020B0604020202020204" pitchFamily="34" charset="0"/>
              </a:rPr>
              <a:t>The Pareto principle has many applications in quality control. It is the basis for the Pareto chart, one of the key tools used in total quality control and six sigma. The Pareto principle serves as a baseline for ABC-analysis and XYZ-analysis, widely used in logistics and procurement for the purpose of optimizing stock of goods, as well as costs of keeping and replenishing that stock.</a:t>
            </a:r>
          </a:p>
          <a:p>
            <a:pPr>
              <a:lnSpc>
                <a:spcPct val="90000"/>
              </a:lnSpc>
            </a:pPr>
            <a:r>
              <a:rPr lang="en-US" altLang="en-US" sz="1200" dirty="0">
                <a:latin typeface="Arial" panose="020B0604020202020204" pitchFamily="34" charset="0"/>
              </a:rPr>
              <a:t>In computer science the Pareto principle can be applied to resource optimization by observing that 80% of the resources are typically used by 20% of the operations. In software engineering, it is often a better approximation that 90% of the execution time of a computer program is spent executing 10% of the code (known as the 90/10 law in this context).</a:t>
            </a:r>
          </a:p>
          <a:p>
            <a:pPr>
              <a:lnSpc>
                <a:spcPct val="90000"/>
              </a:lnSpc>
            </a:pPr>
            <a:r>
              <a:rPr lang="en-US" altLang="en-US" sz="1200" dirty="0">
                <a:latin typeface="Arial" panose="020B0604020202020204" pitchFamily="34" charset="0"/>
              </a:rPr>
              <a:t>In business, dramatic improvements can often be achieved by identifying the 20% of customers, activities, products or processes that account for the 80% of contribution to profit and maximizing the attention applied to them. Similarly a vast majority of the business risk is contained in few risk scenarios. The greatest reduction in risk may therefore be focused in this area.</a:t>
            </a:r>
            <a:r>
              <a:rPr lang="ja-JP" altLang="en-US" sz="1200" dirty="0">
                <a:latin typeface="Arial" panose="020B0604020202020204" pitchFamily="34" charset="0"/>
              </a:rPr>
              <a:t>”</a:t>
            </a:r>
            <a:endParaRPr lang="en-US" altLang="en-US" sz="1200"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38</a:t>
            </a:fld>
            <a:endParaRPr lang="en-US"/>
          </a:p>
        </p:txBody>
      </p:sp>
    </p:spTree>
    <p:extLst>
      <p:ext uri="{BB962C8B-B14F-4D97-AF65-F5344CB8AC3E}">
        <p14:creationId xmlns:p14="http://schemas.microsoft.com/office/powerpoint/2010/main" val="3098723695"/>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b="1" dirty="0">
                <a:latin typeface="Arial" panose="020B0604020202020204" pitchFamily="34" charset="0"/>
                <a:ea typeface="ＭＳ Ｐゴシック" panose="020B0600070205080204" pitchFamily="34" charset="-128"/>
              </a:rPr>
              <a:t>DO:</a:t>
            </a:r>
            <a:r>
              <a:rPr lang="en-US" altLang="en-US" dirty="0">
                <a:latin typeface="Arial" panose="020B0604020202020204" pitchFamily="34" charset="0"/>
                <a:ea typeface="ＭＳ Ｐゴシック" panose="020B0600070205080204" pitchFamily="34" charset="-128"/>
              </a:rPr>
              <a:t> Review chapter objectives. </a:t>
            </a:r>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39</a:t>
            </a:fld>
            <a:endParaRPr lang="en-US"/>
          </a:p>
        </p:txBody>
      </p:sp>
    </p:spTree>
    <p:extLst>
      <p:ext uri="{BB962C8B-B14F-4D97-AF65-F5344CB8AC3E}">
        <p14:creationId xmlns:p14="http://schemas.microsoft.com/office/powerpoint/2010/main" val="2397720450"/>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b="1" dirty="0">
                <a:latin typeface="Arial" panose="020B0604020202020204" pitchFamily="34" charset="0"/>
              </a:rPr>
              <a:t>NOTE:</a:t>
            </a:r>
            <a:r>
              <a:rPr lang="en-US" altLang="en-US" dirty="0">
                <a:latin typeface="Arial" panose="020B0604020202020204" pitchFamily="34" charset="0"/>
              </a:rPr>
              <a:t> Objective = goal</a:t>
            </a:r>
          </a:p>
          <a:p>
            <a:endParaRPr lang="en-US" altLang="en-US"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40</a:t>
            </a:fld>
            <a:endParaRPr lang="en-US"/>
          </a:p>
        </p:txBody>
      </p:sp>
    </p:spTree>
    <p:extLst>
      <p:ext uri="{BB962C8B-B14F-4D97-AF65-F5344CB8AC3E}">
        <p14:creationId xmlns:p14="http://schemas.microsoft.com/office/powerpoint/2010/main" val="3642272994"/>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tLang="en-US"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41</a:t>
            </a:fld>
            <a:endParaRPr lang="en-US"/>
          </a:p>
        </p:txBody>
      </p:sp>
    </p:spTree>
    <p:extLst>
      <p:ext uri="{BB962C8B-B14F-4D97-AF65-F5344CB8AC3E}">
        <p14:creationId xmlns:p14="http://schemas.microsoft.com/office/powerpoint/2010/main" val="2978397392"/>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tLang="en-US"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42</a:t>
            </a:fld>
            <a:endParaRPr lang="en-US"/>
          </a:p>
        </p:txBody>
      </p:sp>
    </p:spTree>
    <p:extLst>
      <p:ext uri="{BB962C8B-B14F-4D97-AF65-F5344CB8AC3E}">
        <p14:creationId xmlns:p14="http://schemas.microsoft.com/office/powerpoint/2010/main" val="1224979565"/>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latin typeface="Arial" panose="020B0604020202020204" pitchFamily="34" charset="0"/>
              </a:rPr>
              <a:t>NOTE:</a:t>
            </a:r>
            <a:r>
              <a:rPr lang="en-US" altLang="en-US" dirty="0">
                <a:latin typeface="Arial" panose="020B0604020202020204" pitchFamily="34" charset="0"/>
              </a:rPr>
              <a:t> Be sure that this statement is clear and completely addresses the issue.  </a:t>
            </a:r>
          </a:p>
          <a:p>
            <a:endParaRPr lang="en-US" altLang="en-US" dirty="0">
              <a:latin typeface="Arial" panose="020B0604020202020204" pitchFamily="34" charset="0"/>
            </a:endParaRPr>
          </a:p>
          <a:p>
            <a:r>
              <a:rPr lang="en-US" altLang="en-US" b="1" dirty="0">
                <a:latin typeface="Arial" panose="020B0604020202020204" pitchFamily="34" charset="0"/>
              </a:rPr>
              <a:t>SAY:</a:t>
            </a:r>
            <a:r>
              <a:rPr lang="en-US" altLang="en-US" dirty="0">
                <a:latin typeface="Arial" panose="020B0604020202020204" pitchFamily="34" charset="0"/>
              </a:rPr>
              <a:t> </a:t>
            </a:r>
            <a:r>
              <a:rPr lang="ja-JP" altLang="en-US" dirty="0">
                <a:latin typeface="Arial" panose="020B0604020202020204" pitchFamily="34" charset="0"/>
              </a:rPr>
              <a:t>“</a:t>
            </a:r>
            <a:r>
              <a:rPr lang="en-US" altLang="ja-JP" dirty="0">
                <a:latin typeface="Arial" panose="020B0604020202020204" pitchFamily="34" charset="0"/>
              </a:rPr>
              <a:t>An improvement on any of the statements above would be to add </a:t>
            </a:r>
            <a:r>
              <a:rPr lang="ja-JP" altLang="en-US" dirty="0">
                <a:latin typeface="Arial" panose="020B0604020202020204" pitchFamily="34" charset="0"/>
              </a:rPr>
              <a:t>“</a:t>
            </a:r>
            <a:r>
              <a:rPr lang="en-US" altLang="ja-JP" dirty="0">
                <a:latin typeface="Arial" panose="020B0604020202020204" pitchFamily="34" charset="0"/>
              </a:rPr>
              <a:t>as measured by _____</a:t>
            </a:r>
            <a:r>
              <a:rPr lang="ja-JP" altLang="en-US" dirty="0">
                <a:latin typeface="Arial" panose="020B0604020202020204" pitchFamily="34" charset="0"/>
              </a:rPr>
              <a:t>”</a:t>
            </a:r>
            <a:r>
              <a:rPr lang="en-US" altLang="ja-JP" dirty="0">
                <a:latin typeface="Arial" panose="020B0604020202020204" pitchFamily="34" charset="0"/>
              </a:rPr>
              <a:t>.  Can the class add anything else?</a:t>
            </a:r>
            <a:r>
              <a:rPr lang="ja-JP" altLang="en-US" dirty="0">
                <a:latin typeface="Arial" panose="020B0604020202020204" pitchFamily="34" charset="0"/>
              </a:rPr>
              <a:t>”</a:t>
            </a:r>
            <a:endParaRPr lang="en-US" altLang="ja-JP" dirty="0">
              <a:latin typeface="Arial" panose="020B0604020202020204" pitchFamily="34" charset="0"/>
            </a:endParaRPr>
          </a:p>
          <a:p>
            <a:endParaRPr lang="en-US" altLang="en-US" dirty="0">
              <a:latin typeface="Arial" panose="020B0604020202020204" pitchFamily="34" charset="0"/>
            </a:endParaRPr>
          </a:p>
          <a:p>
            <a:endParaRPr lang="en-US" altLang="en-US"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43</a:t>
            </a:fld>
            <a:endParaRPr lang="en-US"/>
          </a:p>
        </p:txBody>
      </p:sp>
    </p:spTree>
    <p:extLst>
      <p:ext uri="{BB962C8B-B14F-4D97-AF65-F5344CB8AC3E}">
        <p14:creationId xmlns:p14="http://schemas.microsoft.com/office/powerpoint/2010/main" val="1146586106"/>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sz="800" b="1" dirty="0">
                <a:latin typeface="Arial" panose="020B0604020202020204" pitchFamily="34" charset="0"/>
              </a:rPr>
              <a:t>NOTE:</a:t>
            </a:r>
            <a:r>
              <a:rPr lang="en-US" altLang="en-US" sz="800" dirty="0">
                <a:latin typeface="Arial" panose="020B0604020202020204" pitchFamily="34" charset="0"/>
              </a:rPr>
              <a:t>  The best objective statement would be something like: </a:t>
            </a:r>
            <a:r>
              <a:rPr lang="ja-JP" altLang="en-US" sz="800" dirty="0">
                <a:latin typeface="Arial" panose="020B0604020202020204" pitchFamily="34" charset="0"/>
              </a:rPr>
              <a:t>“</a:t>
            </a:r>
            <a:r>
              <a:rPr lang="en-US" altLang="ja-JP" sz="800" dirty="0">
                <a:latin typeface="Arial" panose="020B0604020202020204" pitchFamily="34" charset="0"/>
              </a:rPr>
              <a:t>Reduce waiting time for order taking on Fridays from x to y by middle of September.</a:t>
            </a:r>
            <a:r>
              <a:rPr lang="ja-JP" altLang="en-US" sz="800" dirty="0">
                <a:latin typeface="Arial" panose="020B0604020202020204" pitchFamily="34" charset="0"/>
              </a:rPr>
              <a:t>”</a:t>
            </a:r>
            <a:r>
              <a:rPr lang="en-US" altLang="ja-JP" sz="800" dirty="0">
                <a:latin typeface="Arial" panose="020B0604020202020204" pitchFamily="34" charset="0"/>
              </a:rPr>
              <a:t> </a:t>
            </a:r>
          </a:p>
          <a:p>
            <a:endParaRPr lang="en-US" altLang="en-US" sz="800" dirty="0">
              <a:latin typeface="Arial" panose="020B0604020202020204" pitchFamily="34" charset="0"/>
            </a:endParaRPr>
          </a:p>
          <a:p>
            <a:r>
              <a:rPr lang="en-US" altLang="en-US" sz="800" dirty="0">
                <a:latin typeface="Arial" panose="020B0604020202020204" pitchFamily="34" charset="0"/>
              </a:rPr>
              <a:t>Don</a:t>
            </a:r>
            <a:r>
              <a:rPr lang="ja-JP" altLang="en-US" sz="800" dirty="0">
                <a:latin typeface="Arial" panose="020B0604020202020204" pitchFamily="34" charset="0"/>
              </a:rPr>
              <a:t>’</a:t>
            </a:r>
            <a:r>
              <a:rPr lang="en-US" altLang="ja-JP" sz="800" dirty="0">
                <a:latin typeface="Arial" panose="020B0604020202020204" pitchFamily="34" charset="0"/>
              </a:rPr>
              <a:t>t forget how it will or could be measured…</a:t>
            </a:r>
            <a:endParaRPr lang="en-US" altLang="en-US" sz="800"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44</a:t>
            </a:fld>
            <a:endParaRPr lang="en-US"/>
          </a:p>
        </p:txBody>
      </p:sp>
    </p:spTree>
    <p:extLst>
      <p:ext uri="{BB962C8B-B14F-4D97-AF65-F5344CB8AC3E}">
        <p14:creationId xmlns:p14="http://schemas.microsoft.com/office/powerpoint/2010/main" val="1276735192"/>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ECD8548-F1A2-4EDF-A416-5F2BB6B8F64C}" type="slidenum">
              <a:rPr lang="en-US" smtClean="0"/>
              <a:t>45</a:t>
            </a:fld>
            <a:endParaRPr lang="en-US"/>
          </a:p>
        </p:txBody>
      </p:sp>
    </p:spTree>
    <p:extLst>
      <p:ext uri="{BB962C8B-B14F-4D97-AF65-F5344CB8AC3E}">
        <p14:creationId xmlns:p14="http://schemas.microsoft.com/office/powerpoint/2010/main" val="2898439295"/>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sz="800" b="1" dirty="0">
                <a:latin typeface="Arial" panose="020B0604020202020204" pitchFamily="34" charset="0"/>
              </a:rPr>
              <a:t>SAY:</a:t>
            </a:r>
            <a:r>
              <a:rPr lang="en-US" altLang="en-US" sz="800" dirty="0">
                <a:latin typeface="Arial" panose="020B0604020202020204" pitchFamily="34" charset="0"/>
              </a:rPr>
              <a:t> </a:t>
            </a:r>
            <a:r>
              <a:rPr lang="ja-JP" altLang="en-US" sz="800" dirty="0">
                <a:latin typeface="Arial" panose="020B0604020202020204" pitchFamily="34" charset="0"/>
              </a:rPr>
              <a:t>“</a:t>
            </a:r>
            <a:r>
              <a:rPr lang="en-US" altLang="ja-JP" sz="800" dirty="0">
                <a:latin typeface="Arial" panose="020B0604020202020204" pitchFamily="34" charset="0"/>
              </a:rPr>
              <a:t>When beginning, first write the problem statement and agree to this as a team. Then, write the objective statement – which is what you want to accomplish. The objective statement should be a quantifiable statement with set measurement criteria and established target dates. Include any supporting data such as a visual measurement graph.</a:t>
            </a:r>
            <a:r>
              <a:rPr lang="ja-JP" altLang="en-US" sz="800" dirty="0">
                <a:latin typeface="Arial" panose="020B0604020202020204" pitchFamily="34" charset="0"/>
              </a:rPr>
              <a:t>”</a:t>
            </a:r>
            <a:endParaRPr lang="en-US" altLang="ja-JP" sz="800" dirty="0">
              <a:latin typeface="Arial" panose="020B0604020202020204" pitchFamily="34" charset="0"/>
            </a:endParaRPr>
          </a:p>
          <a:p>
            <a:endParaRPr lang="en-US" altLang="en-US" sz="800"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46</a:t>
            </a:fld>
            <a:endParaRPr lang="en-US"/>
          </a:p>
        </p:txBody>
      </p:sp>
    </p:spTree>
    <p:extLst>
      <p:ext uri="{BB962C8B-B14F-4D97-AF65-F5344CB8AC3E}">
        <p14:creationId xmlns:p14="http://schemas.microsoft.com/office/powerpoint/2010/main" val="1950014378"/>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b="1" dirty="0">
                <a:latin typeface="Arial" panose="020B0604020202020204" pitchFamily="34" charset="0"/>
                <a:ea typeface="ＭＳ Ｐゴシック" panose="020B0600070205080204" pitchFamily="34" charset="-128"/>
              </a:rPr>
              <a:t>DO:</a:t>
            </a:r>
            <a:r>
              <a:rPr lang="en-US" altLang="en-US" dirty="0">
                <a:latin typeface="Arial" panose="020B0604020202020204" pitchFamily="34" charset="0"/>
                <a:ea typeface="ＭＳ Ｐゴシック" panose="020B0600070205080204" pitchFamily="34" charset="-128"/>
              </a:rPr>
              <a:t> Review chapter objectives. </a:t>
            </a:r>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47</a:t>
            </a:fld>
            <a:endParaRPr lang="en-US"/>
          </a:p>
        </p:txBody>
      </p:sp>
    </p:spTree>
    <p:extLst>
      <p:ext uri="{BB962C8B-B14F-4D97-AF65-F5344CB8AC3E}">
        <p14:creationId xmlns:p14="http://schemas.microsoft.com/office/powerpoint/2010/main" val="3131877137"/>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latin typeface="Arial" panose="020B0604020202020204" pitchFamily="34" charset="0"/>
              </a:rPr>
              <a:t>DO:</a:t>
            </a:r>
            <a:r>
              <a:rPr lang="en-US" altLang="en-US" dirty="0">
                <a:latin typeface="Arial" panose="020B0604020202020204" pitchFamily="34" charset="0"/>
              </a:rPr>
              <a:t> Use a flipchart or dry-erase board to create a model diagram for the team to use.</a:t>
            </a:r>
          </a:p>
        </p:txBody>
      </p:sp>
      <p:sp>
        <p:nvSpPr>
          <p:cNvPr id="4" name="Slide Number Placeholder 3"/>
          <p:cNvSpPr>
            <a:spLocks noGrp="1"/>
          </p:cNvSpPr>
          <p:nvPr>
            <p:ph type="sldNum" sz="quarter" idx="5"/>
          </p:nvPr>
        </p:nvSpPr>
        <p:spPr/>
        <p:txBody>
          <a:bodyPr/>
          <a:lstStyle/>
          <a:p>
            <a:fld id="{AECD8548-F1A2-4EDF-A416-5F2BB6B8F64C}" type="slidenum">
              <a:rPr lang="en-US" smtClean="0"/>
              <a:t>48</a:t>
            </a:fld>
            <a:endParaRPr lang="en-US"/>
          </a:p>
        </p:txBody>
      </p:sp>
    </p:spTree>
    <p:extLst>
      <p:ext uri="{BB962C8B-B14F-4D97-AF65-F5344CB8AC3E}">
        <p14:creationId xmlns:p14="http://schemas.microsoft.com/office/powerpoint/2010/main" val="2999727437"/>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latin typeface="Arial" panose="020B0604020202020204" pitchFamily="34" charset="0"/>
              </a:rPr>
              <a:t>SAY:</a:t>
            </a:r>
            <a:r>
              <a:rPr lang="en-US" altLang="en-US" dirty="0">
                <a:latin typeface="Arial" panose="020B0604020202020204" pitchFamily="34" charset="0"/>
              </a:rPr>
              <a:t>  Format provides a framework for arranging fact and improvement Cards (explained later). Use whatever works best for your situation; There is no right or wrong format.  If in doubt, use the Cause and Effect Fishbone Diagram. </a:t>
            </a:r>
          </a:p>
          <a:p>
            <a:endParaRPr lang="en-US" altLang="en-US" dirty="0">
              <a:latin typeface="Arial" panose="020B0604020202020204" pitchFamily="34" charset="0"/>
            </a:endParaRPr>
          </a:p>
          <a:p>
            <a:r>
              <a:rPr lang="en-US" altLang="en-US" dirty="0">
                <a:latin typeface="Arial" panose="020B0604020202020204" pitchFamily="34" charset="0"/>
              </a:rPr>
              <a:t>The Ishikawa diagram (also fishbone diagram or cause and effect diagram) is the brainchild of Kaoru Ishikawa, who pioneered quality management processes in the Kawasaki shipyards, and in the process became one of the founding fathers of modern management. It is simply a diagram that shows the causes of a certain event. It was first used in the 1960s, and is considered one of the seven basic tools of quality management, along with the Histogram, Pareto chart, check sheet, control chart, flowchart and scatter diagram. </a:t>
            </a:r>
          </a:p>
          <a:p>
            <a:endParaRPr lang="en-US" altLang="en-US" dirty="0">
              <a:latin typeface="Arial" panose="020B0604020202020204" pitchFamily="34" charset="0"/>
            </a:endParaRPr>
          </a:p>
          <a:p>
            <a:r>
              <a:rPr lang="en-US" altLang="en-US" dirty="0">
                <a:latin typeface="Arial" panose="020B0604020202020204" pitchFamily="34" charset="0"/>
              </a:rPr>
              <a:t>It is known as a fishbone diagram because of its shape.</a:t>
            </a:r>
          </a:p>
          <a:p>
            <a:endParaRPr lang="en-US" altLang="en-US"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49</a:t>
            </a:fld>
            <a:endParaRPr lang="en-US"/>
          </a:p>
        </p:txBody>
      </p:sp>
    </p:spTree>
    <p:extLst>
      <p:ext uri="{BB962C8B-B14F-4D97-AF65-F5344CB8AC3E}">
        <p14:creationId xmlns:p14="http://schemas.microsoft.com/office/powerpoint/2010/main" val="3228942764"/>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latin typeface="Arial" panose="020B0604020202020204" pitchFamily="34" charset="0"/>
              </a:rPr>
              <a:t>SAY:</a:t>
            </a:r>
            <a:r>
              <a:rPr lang="en-US" altLang="en-US" dirty="0">
                <a:latin typeface="Arial" panose="020B0604020202020204" pitchFamily="34" charset="0"/>
              </a:rPr>
              <a:t>  Format provides a framework for arranging fact and improvement Cards (explained later). Use whatever works best for your situation; There is no right or wrong format.  If in doubt, use the Cause and Effect Fishbone Diagram. </a:t>
            </a:r>
          </a:p>
          <a:p>
            <a:endParaRPr lang="en-US" altLang="en-US" dirty="0">
              <a:latin typeface="Arial" panose="020B0604020202020204" pitchFamily="34" charset="0"/>
            </a:endParaRPr>
          </a:p>
          <a:p>
            <a:r>
              <a:rPr lang="en-US" altLang="en-US" dirty="0">
                <a:latin typeface="Arial" panose="020B0604020202020204" pitchFamily="34" charset="0"/>
              </a:rPr>
              <a:t>The Ishikawa diagram (also fishbone diagram or cause and effect diagram) is the brainchild of Kaoru Ishikawa, who pioneered quality management processes in the Kawasaki shipyards, and in the process became one of the founding fathers of modern management. It is simply a diagram that shows the causes of a certain event. It was first used in the 1960s, and is considered one of the seven basic tools of quality management, along with the Histogram, Pareto chart, check sheet, control chart, flowchart and scatter diagram. </a:t>
            </a:r>
          </a:p>
          <a:p>
            <a:endParaRPr lang="en-US" altLang="en-US" dirty="0">
              <a:latin typeface="Arial" panose="020B0604020202020204" pitchFamily="34" charset="0"/>
            </a:endParaRPr>
          </a:p>
          <a:p>
            <a:r>
              <a:rPr lang="en-US" altLang="en-US" dirty="0">
                <a:latin typeface="Arial" panose="020B0604020202020204" pitchFamily="34" charset="0"/>
              </a:rPr>
              <a:t>It is known as a fishbone diagram because of its shape.</a:t>
            </a:r>
          </a:p>
          <a:p>
            <a:endParaRPr lang="en-US" altLang="en-US" dirty="0">
              <a:latin typeface="Arial" panose="020B0604020202020204" pitchFamily="34" charset="0"/>
            </a:endParaRPr>
          </a:p>
          <a:p>
            <a:endParaRPr lang="en-US" altLang="en-US"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50</a:t>
            </a:fld>
            <a:endParaRPr lang="en-US"/>
          </a:p>
        </p:txBody>
      </p:sp>
    </p:spTree>
    <p:extLst>
      <p:ext uri="{BB962C8B-B14F-4D97-AF65-F5344CB8AC3E}">
        <p14:creationId xmlns:p14="http://schemas.microsoft.com/office/powerpoint/2010/main" val="3505874664"/>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latin typeface="Arial" panose="020B0604020202020204" pitchFamily="34" charset="0"/>
              </a:rPr>
              <a:t>SAY:</a:t>
            </a:r>
            <a:r>
              <a:rPr lang="en-US" altLang="en-US" dirty="0">
                <a:latin typeface="Arial" panose="020B0604020202020204" pitchFamily="34" charset="0"/>
              </a:rPr>
              <a:t>  When creating the FACT cards using the categories, don</a:t>
            </a:r>
            <a:r>
              <a:rPr lang="ja-JP" altLang="en-US" dirty="0">
                <a:latin typeface="Arial" panose="020B0604020202020204" pitchFamily="34" charset="0"/>
              </a:rPr>
              <a:t>’</a:t>
            </a:r>
            <a:r>
              <a:rPr lang="en-US" altLang="ja-JP" dirty="0">
                <a:latin typeface="Arial" panose="020B0604020202020204" pitchFamily="34" charset="0"/>
              </a:rPr>
              <a:t>t get caught up in debating in which </a:t>
            </a:r>
            <a:r>
              <a:rPr lang="ja-JP" altLang="en-US" dirty="0">
                <a:latin typeface="Arial" panose="020B0604020202020204" pitchFamily="34" charset="0"/>
              </a:rPr>
              <a:t>“</a:t>
            </a:r>
            <a:r>
              <a:rPr lang="en-US" altLang="ja-JP" dirty="0">
                <a:latin typeface="Arial" panose="020B0604020202020204" pitchFamily="34" charset="0"/>
              </a:rPr>
              <a:t>category</a:t>
            </a:r>
            <a:r>
              <a:rPr lang="ja-JP" altLang="en-US" dirty="0">
                <a:latin typeface="Arial" panose="020B0604020202020204" pitchFamily="34" charset="0"/>
              </a:rPr>
              <a:t>”</a:t>
            </a:r>
            <a:r>
              <a:rPr lang="en-US" altLang="ja-JP" dirty="0">
                <a:latin typeface="Arial" panose="020B0604020202020204" pitchFamily="34" charset="0"/>
              </a:rPr>
              <a:t> the card should be placed.  These categories are primarily used to stimulate ideas and systemic thinking.</a:t>
            </a:r>
          </a:p>
          <a:p>
            <a:endParaRPr lang="en-US" altLang="en-US" dirty="0">
              <a:latin typeface="Arial" panose="020B0604020202020204" pitchFamily="34" charset="0"/>
            </a:endParaRPr>
          </a:p>
          <a:p>
            <a:r>
              <a:rPr lang="en-US" altLang="en-US" b="1" dirty="0">
                <a:latin typeface="Arial" panose="020B0604020202020204" pitchFamily="34" charset="0"/>
              </a:rPr>
              <a:t>The 6 M's </a:t>
            </a:r>
          </a:p>
          <a:p>
            <a:r>
              <a:rPr lang="en-US" altLang="en-US" dirty="0">
                <a:latin typeface="Arial" panose="020B0604020202020204" pitchFamily="34" charset="0"/>
              </a:rPr>
              <a:t>Machine, Method, Materials, Measurement, Man and Mother Nature (Environment) (recommended for manufacturing industry). Note: a more modern selection of categories used in manufacturing are Equipment, Process, People, Materials, Environment, and Management </a:t>
            </a:r>
          </a:p>
          <a:p>
            <a:r>
              <a:rPr lang="en-US" altLang="en-US" b="1" dirty="0">
                <a:latin typeface="Arial" panose="020B0604020202020204" pitchFamily="34" charset="0"/>
              </a:rPr>
              <a:t>The 8 P's</a:t>
            </a:r>
            <a:r>
              <a:rPr lang="en-US" altLang="en-US" dirty="0">
                <a:latin typeface="Arial" panose="020B0604020202020204" pitchFamily="34" charset="0"/>
              </a:rPr>
              <a:t> </a:t>
            </a:r>
          </a:p>
          <a:p>
            <a:r>
              <a:rPr lang="en-US" altLang="en-US" dirty="0">
                <a:latin typeface="Arial" panose="020B0604020202020204" pitchFamily="34" charset="0"/>
              </a:rPr>
              <a:t>Price, Promotion, People, Processes, Place / Plant, Policies, Procedures &amp; Product (or Service) (recommended for administration and service industry). </a:t>
            </a:r>
          </a:p>
          <a:p>
            <a:r>
              <a:rPr lang="en-US" altLang="en-US" b="1" dirty="0">
                <a:latin typeface="Arial" panose="020B0604020202020204" pitchFamily="34" charset="0"/>
              </a:rPr>
              <a:t>Other: The 4 S's </a:t>
            </a:r>
          </a:p>
          <a:p>
            <a:r>
              <a:rPr lang="en-US" altLang="en-US" dirty="0">
                <a:latin typeface="Arial" panose="020B0604020202020204" pitchFamily="34" charset="0"/>
              </a:rPr>
              <a:t>Surroundings, Suppliers, Systems, Skills (recommended for service industry). </a:t>
            </a:r>
          </a:p>
          <a:p>
            <a:r>
              <a:rPr lang="en-US" altLang="en-US" dirty="0">
                <a:latin typeface="Arial" panose="020B0604020202020204" pitchFamily="34" charset="0"/>
              </a:rPr>
              <a:t>When labeling place any of the above at the end of the leg where you chose.  It is not important the location or proximity to other topics but there should be one leg of the fishbone for each topic.</a:t>
            </a:r>
          </a:p>
        </p:txBody>
      </p:sp>
      <p:sp>
        <p:nvSpPr>
          <p:cNvPr id="4" name="Slide Number Placeholder 3"/>
          <p:cNvSpPr>
            <a:spLocks noGrp="1"/>
          </p:cNvSpPr>
          <p:nvPr>
            <p:ph type="sldNum" sz="quarter" idx="5"/>
          </p:nvPr>
        </p:nvSpPr>
        <p:spPr/>
        <p:txBody>
          <a:bodyPr/>
          <a:lstStyle/>
          <a:p>
            <a:fld id="{AECD8548-F1A2-4EDF-A416-5F2BB6B8F64C}" type="slidenum">
              <a:rPr lang="en-US" smtClean="0"/>
              <a:t>51</a:t>
            </a:fld>
            <a:endParaRPr lang="en-US"/>
          </a:p>
        </p:txBody>
      </p:sp>
    </p:spTree>
    <p:extLst>
      <p:ext uri="{BB962C8B-B14F-4D97-AF65-F5344CB8AC3E}">
        <p14:creationId xmlns:p14="http://schemas.microsoft.com/office/powerpoint/2010/main" val="1847999326"/>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latin typeface="Arial" panose="020B0604020202020204" pitchFamily="34" charset="0"/>
              </a:rPr>
              <a:t>ASK:</a:t>
            </a:r>
            <a:r>
              <a:rPr lang="en-US" altLang="en-US" dirty="0">
                <a:latin typeface="Arial" panose="020B0604020202020204" pitchFamily="34" charset="0"/>
              </a:rPr>
              <a:t> </a:t>
            </a:r>
            <a:r>
              <a:rPr lang="ja-JP" altLang="en-US" dirty="0">
                <a:latin typeface="Arial" panose="020B0604020202020204" pitchFamily="34" charset="0"/>
              </a:rPr>
              <a:t>“</a:t>
            </a:r>
            <a:r>
              <a:rPr lang="en-US" altLang="ja-JP" dirty="0">
                <a:latin typeface="Arial" panose="020B0604020202020204" pitchFamily="34" charset="0"/>
              </a:rPr>
              <a:t>Why use a process map?</a:t>
            </a:r>
            <a:r>
              <a:rPr lang="ja-JP" altLang="en-US" dirty="0">
                <a:latin typeface="Arial" panose="020B0604020202020204" pitchFamily="34" charset="0"/>
              </a:rPr>
              <a:t>”</a:t>
            </a:r>
            <a:r>
              <a:rPr lang="en-US" altLang="ja-JP" dirty="0">
                <a:latin typeface="Arial" panose="020B0604020202020204" pitchFamily="34" charset="0"/>
              </a:rPr>
              <a:t> and have the class submit suggestions.</a:t>
            </a:r>
          </a:p>
          <a:p>
            <a:r>
              <a:rPr lang="en-US" altLang="en-US" b="1" dirty="0">
                <a:latin typeface="Arial" panose="020B0604020202020204" pitchFamily="34" charset="0"/>
              </a:rPr>
              <a:t>ASK:</a:t>
            </a:r>
            <a:r>
              <a:rPr lang="en-US" altLang="en-US" dirty="0">
                <a:latin typeface="Arial" panose="020B0604020202020204" pitchFamily="34" charset="0"/>
              </a:rPr>
              <a:t> </a:t>
            </a:r>
            <a:r>
              <a:rPr lang="ja-JP" altLang="en-US" dirty="0">
                <a:latin typeface="Arial" panose="020B0604020202020204" pitchFamily="34" charset="0"/>
              </a:rPr>
              <a:t>“</a:t>
            </a:r>
            <a:r>
              <a:rPr lang="en-US" altLang="ja-JP" dirty="0">
                <a:latin typeface="Arial" panose="020B0604020202020204" pitchFamily="34" charset="0"/>
              </a:rPr>
              <a:t>Is there often a difference from what we think happens to what truly happens</a:t>
            </a:r>
            <a:r>
              <a:rPr lang="ja-JP" altLang="en-US" dirty="0">
                <a:latin typeface="Arial" panose="020B0604020202020204" pitchFamily="34" charset="0"/>
              </a:rPr>
              <a:t>”</a:t>
            </a:r>
            <a:r>
              <a:rPr lang="en-US" altLang="ja-JP" dirty="0">
                <a:latin typeface="Arial" panose="020B0604020202020204" pitchFamily="34" charset="0"/>
              </a:rPr>
              <a:t>. </a:t>
            </a:r>
          </a:p>
          <a:p>
            <a:r>
              <a:rPr lang="ja-JP" altLang="en-US" dirty="0">
                <a:latin typeface="Arial" panose="020B0604020202020204" pitchFamily="34" charset="0"/>
              </a:rPr>
              <a:t>“</a:t>
            </a:r>
            <a:r>
              <a:rPr lang="en-US" altLang="ja-JP" dirty="0">
                <a:latin typeface="Arial" panose="020B0604020202020204" pitchFamily="34" charset="0"/>
              </a:rPr>
              <a:t>Do we all do or see things differently and could that cause variation?</a:t>
            </a:r>
            <a:r>
              <a:rPr lang="ja-JP" altLang="en-US" dirty="0">
                <a:latin typeface="Arial" panose="020B0604020202020204" pitchFamily="34" charset="0"/>
              </a:rPr>
              <a:t>”</a:t>
            </a:r>
            <a:endParaRPr lang="en-US" altLang="en-US"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52</a:t>
            </a:fld>
            <a:endParaRPr lang="en-US"/>
          </a:p>
        </p:txBody>
      </p:sp>
    </p:spTree>
    <p:extLst>
      <p:ext uri="{BB962C8B-B14F-4D97-AF65-F5344CB8AC3E}">
        <p14:creationId xmlns:p14="http://schemas.microsoft.com/office/powerpoint/2010/main" val="3800103606"/>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latin typeface="Arial" panose="020B0604020202020204" pitchFamily="34" charset="0"/>
              </a:rPr>
              <a:t>NOTE:</a:t>
            </a:r>
            <a:r>
              <a:rPr lang="en-US" altLang="en-US" dirty="0">
                <a:latin typeface="Arial" panose="020B0604020202020204" pitchFamily="34" charset="0"/>
              </a:rPr>
              <a:t> It may be beneficial (depending on audience) to construct a process flow chart for something simple like writing on a flip chart (beginning with get up from chair and end with sit back down).  This simple process will show several different opinions about how it should work and you will be able to demonstrate how what is thought to happen can differ from what does happen.  Have the class observe you doing the process and then have them map your actions out. </a:t>
            </a:r>
          </a:p>
          <a:p>
            <a:endParaRPr lang="en-US" altLang="en-US" dirty="0">
              <a:latin typeface="Arial" panose="020B0604020202020204" pitchFamily="34" charset="0"/>
            </a:endParaRPr>
          </a:p>
          <a:p>
            <a:r>
              <a:rPr lang="en-US" altLang="en-US" dirty="0">
                <a:latin typeface="Arial" panose="020B0604020202020204" pitchFamily="34" charset="0"/>
              </a:rPr>
              <a:t>Discuss the results and thoughts.</a:t>
            </a:r>
          </a:p>
        </p:txBody>
      </p:sp>
      <p:sp>
        <p:nvSpPr>
          <p:cNvPr id="4" name="Slide Number Placeholder 3"/>
          <p:cNvSpPr>
            <a:spLocks noGrp="1"/>
          </p:cNvSpPr>
          <p:nvPr>
            <p:ph type="sldNum" sz="quarter" idx="5"/>
          </p:nvPr>
        </p:nvSpPr>
        <p:spPr/>
        <p:txBody>
          <a:bodyPr/>
          <a:lstStyle/>
          <a:p>
            <a:fld id="{AECD8548-F1A2-4EDF-A416-5F2BB6B8F64C}" type="slidenum">
              <a:rPr lang="en-US" smtClean="0"/>
              <a:t>53</a:t>
            </a:fld>
            <a:endParaRPr lang="en-US"/>
          </a:p>
        </p:txBody>
      </p:sp>
    </p:spTree>
    <p:extLst>
      <p:ext uri="{BB962C8B-B14F-4D97-AF65-F5344CB8AC3E}">
        <p14:creationId xmlns:p14="http://schemas.microsoft.com/office/powerpoint/2010/main" val="3424688165"/>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tLang="en-US"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54</a:t>
            </a:fld>
            <a:endParaRPr lang="en-US"/>
          </a:p>
        </p:txBody>
      </p:sp>
    </p:spTree>
    <p:extLst>
      <p:ext uri="{BB962C8B-B14F-4D97-AF65-F5344CB8AC3E}">
        <p14:creationId xmlns:p14="http://schemas.microsoft.com/office/powerpoint/2010/main" val="415222484"/>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tLang="en-US"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55</a:t>
            </a:fld>
            <a:endParaRPr lang="en-US"/>
          </a:p>
        </p:txBody>
      </p:sp>
    </p:spTree>
    <p:extLst>
      <p:ext uri="{BB962C8B-B14F-4D97-AF65-F5344CB8AC3E}">
        <p14:creationId xmlns:p14="http://schemas.microsoft.com/office/powerpoint/2010/main" val="465270358"/>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sz="800" b="1" dirty="0">
                <a:latin typeface="Arial" panose="020B0604020202020204" pitchFamily="34" charset="0"/>
              </a:rPr>
              <a:t>SAY:</a:t>
            </a:r>
            <a:r>
              <a:rPr lang="en-US" altLang="en-US" sz="800" dirty="0">
                <a:latin typeface="Arial" panose="020B0604020202020204" pitchFamily="34" charset="0"/>
              </a:rPr>
              <a:t>  Be sure to include the objective statement and supporting metrics on the diagram.</a:t>
            </a:r>
          </a:p>
          <a:p>
            <a:r>
              <a:rPr lang="en-US" altLang="en-US" sz="800" b="1" dirty="0">
                <a:latin typeface="Arial" panose="020B0604020202020204" pitchFamily="34" charset="0"/>
              </a:rPr>
              <a:t>NOTE:</a:t>
            </a:r>
            <a:r>
              <a:rPr lang="en-US" altLang="en-US" sz="800" dirty="0">
                <a:latin typeface="Arial" panose="020B0604020202020204" pitchFamily="34" charset="0"/>
              </a:rPr>
              <a:t>  The best format would be the fishbone diagram, since the process is very simple and ALL the cards would be placed on the second process step where the </a:t>
            </a:r>
            <a:r>
              <a:rPr lang="ja-JP" altLang="en-US" sz="800" dirty="0">
                <a:latin typeface="Arial" panose="020B0604020202020204" pitchFamily="34" charset="0"/>
              </a:rPr>
              <a:t>“</a:t>
            </a:r>
            <a:r>
              <a:rPr lang="en-US" altLang="ja-JP" sz="800" dirty="0">
                <a:latin typeface="Arial" panose="020B0604020202020204" pitchFamily="34" charset="0"/>
              </a:rPr>
              <a:t>order is taken.</a:t>
            </a:r>
            <a:r>
              <a:rPr lang="ja-JP" altLang="en-US" sz="800" dirty="0">
                <a:latin typeface="Arial" panose="020B0604020202020204" pitchFamily="34" charset="0"/>
              </a:rPr>
              <a:t>”</a:t>
            </a:r>
            <a:endParaRPr lang="en-US" altLang="en-US" sz="800"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56</a:t>
            </a:fld>
            <a:endParaRPr lang="en-US"/>
          </a:p>
        </p:txBody>
      </p:sp>
    </p:spTree>
    <p:extLst>
      <p:ext uri="{BB962C8B-B14F-4D97-AF65-F5344CB8AC3E}">
        <p14:creationId xmlns:p14="http://schemas.microsoft.com/office/powerpoint/2010/main" val="3514557206"/>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tLang="en-US"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57</a:t>
            </a:fld>
            <a:endParaRPr lang="en-US"/>
          </a:p>
        </p:txBody>
      </p:sp>
    </p:spTree>
    <p:extLst>
      <p:ext uri="{BB962C8B-B14F-4D97-AF65-F5344CB8AC3E}">
        <p14:creationId xmlns:p14="http://schemas.microsoft.com/office/powerpoint/2010/main" val="1859297560"/>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tLang="en-US" sz="800"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58</a:t>
            </a:fld>
            <a:endParaRPr lang="en-US"/>
          </a:p>
        </p:txBody>
      </p:sp>
    </p:spTree>
    <p:extLst>
      <p:ext uri="{BB962C8B-B14F-4D97-AF65-F5344CB8AC3E}">
        <p14:creationId xmlns:p14="http://schemas.microsoft.com/office/powerpoint/2010/main" val="1095070125"/>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b="1" dirty="0">
                <a:latin typeface="Arial" panose="020B0604020202020204" pitchFamily="34" charset="0"/>
                <a:ea typeface="ＭＳ Ｐゴシック" panose="020B0600070205080204" pitchFamily="34" charset="-128"/>
              </a:rPr>
              <a:t>DO:</a:t>
            </a:r>
            <a:r>
              <a:rPr lang="en-US" altLang="en-US" dirty="0">
                <a:latin typeface="Arial" panose="020B0604020202020204" pitchFamily="34" charset="0"/>
                <a:ea typeface="ＭＳ Ｐゴシック" panose="020B0600070205080204" pitchFamily="34" charset="-128"/>
              </a:rPr>
              <a:t> Review chapter objectives. </a:t>
            </a:r>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59</a:t>
            </a:fld>
            <a:endParaRPr lang="en-US"/>
          </a:p>
        </p:txBody>
      </p:sp>
    </p:spTree>
    <p:extLst>
      <p:ext uri="{BB962C8B-B14F-4D97-AF65-F5344CB8AC3E}">
        <p14:creationId xmlns:p14="http://schemas.microsoft.com/office/powerpoint/2010/main" val="3627959387"/>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latin typeface="Arial" panose="020B0604020202020204" pitchFamily="34" charset="0"/>
              </a:rPr>
              <a:t>SAY:</a:t>
            </a:r>
            <a:r>
              <a:rPr lang="en-US" altLang="en-US" dirty="0">
                <a:latin typeface="Arial" panose="020B0604020202020204" pitchFamily="34" charset="0"/>
              </a:rPr>
              <a:t> There are no bad ideas when it comes to brainstorming.  Everyone should be encouraged to offer up ideas that could represent the problems or issues.</a:t>
            </a:r>
          </a:p>
        </p:txBody>
      </p:sp>
      <p:sp>
        <p:nvSpPr>
          <p:cNvPr id="4" name="Slide Number Placeholder 3"/>
          <p:cNvSpPr>
            <a:spLocks noGrp="1"/>
          </p:cNvSpPr>
          <p:nvPr>
            <p:ph type="sldNum" sz="quarter" idx="5"/>
          </p:nvPr>
        </p:nvSpPr>
        <p:spPr/>
        <p:txBody>
          <a:bodyPr/>
          <a:lstStyle/>
          <a:p>
            <a:fld id="{AECD8548-F1A2-4EDF-A416-5F2BB6B8F64C}" type="slidenum">
              <a:rPr lang="en-US" smtClean="0"/>
              <a:t>60</a:t>
            </a:fld>
            <a:endParaRPr lang="en-US"/>
          </a:p>
        </p:txBody>
      </p:sp>
    </p:spTree>
    <p:extLst>
      <p:ext uri="{BB962C8B-B14F-4D97-AF65-F5344CB8AC3E}">
        <p14:creationId xmlns:p14="http://schemas.microsoft.com/office/powerpoint/2010/main" val="3254963430"/>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latin typeface="Arial" panose="020B0604020202020204" pitchFamily="34" charset="0"/>
              </a:rPr>
              <a:t>SAY:</a:t>
            </a:r>
            <a:r>
              <a:rPr lang="en-US" altLang="en-US" dirty="0">
                <a:latin typeface="Arial" panose="020B0604020202020204" pitchFamily="34" charset="0"/>
              </a:rPr>
              <a:t> </a:t>
            </a:r>
            <a:r>
              <a:rPr lang="ja-JP" altLang="en-US" dirty="0">
                <a:latin typeface="Arial" panose="020B0604020202020204" pitchFamily="34" charset="0"/>
              </a:rPr>
              <a:t>“</a:t>
            </a:r>
            <a:r>
              <a:rPr lang="en-US" altLang="ja-JP" dirty="0">
                <a:latin typeface="Arial" panose="020B0604020202020204" pitchFamily="34" charset="0"/>
              </a:rPr>
              <a:t>Fact cards = notes or thoughts of problems or instances that could result in the failure of the process being reviewed.</a:t>
            </a:r>
            <a:r>
              <a:rPr lang="ja-JP" altLang="en-US" dirty="0">
                <a:latin typeface="Arial" panose="020B0604020202020204" pitchFamily="34" charset="0"/>
              </a:rPr>
              <a:t>”</a:t>
            </a:r>
            <a:endParaRPr lang="en-US" altLang="ja-JP" dirty="0">
              <a:latin typeface="Arial" panose="020B0604020202020204" pitchFamily="34" charset="0"/>
            </a:endParaRPr>
          </a:p>
          <a:p>
            <a:endParaRPr lang="en-US" altLang="en-US" dirty="0">
              <a:latin typeface="Arial" panose="020B0604020202020204" pitchFamily="34" charset="0"/>
            </a:endParaRPr>
          </a:p>
          <a:p>
            <a:endParaRPr lang="en-US" altLang="en-US"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61</a:t>
            </a:fld>
            <a:endParaRPr lang="en-US"/>
          </a:p>
        </p:txBody>
      </p:sp>
    </p:spTree>
    <p:extLst>
      <p:ext uri="{BB962C8B-B14F-4D97-AF65-F5344CB8AC3E}">
        <p14:creationId xmlns:p14="http://schemas.microsoft.com/office/powerpoint/2010/main" val="1473666937"/>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tLang="en-US" dirty="0">
              <a:latin typeface="Arial" panose="020B0604020202020204" pitchFamily="34" charset="0"/>
            </a:endParaRPr>
          </a:p>
          <a:p>
            <a:endParaRPr lang="en-US" altLang="en-US"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62</a:t>
            </a:fld>
            <a:endParaRPr lang="en-US"/>
          </a:p>
        </p:txBody>
      </p:sp>
    </p:spTree>
    <p:extLst>
      <p:ext uri="{BB962C8B-B14F-4D97-AF65-F5344CB8AC3E}">
        <p14:creationId xmlns:p14="http://schemas.microsoft.com/office/powerpoint/2010/main" val="3303092890"/>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dirty="0">
                <a:latin typeface="Arial" panose="020B0604020202020204" pitchFamily="34" charset="0"/>
              </a:rPr>
              <a:t>Ask: </a:t>
            </a:r>
            <a:r>
              <a:rPr lang="ja-JP" altLang="en-US" dirty="0">
                <a:latin typeface="Arial" panose="020B0604020202020204" pitchFamily="34" charset="0"/>
              </a:rPr>
              <a:t>“</a:t>
            </a:r>
            <a:r>
              <a:rPr lang="en-US" altLang="ja-JP" dirty="0">
                <a:latin typeface="Arial" panose="020B0604020202020204" pitchFamily="34" charset="0"/>
              </a:rPr>
              <a:t>why sign and date cards?</a:t>
            </a:r>
            <a:r>
              <a:rPr lang="ja-JP" altLang="en-US" dirty="0">
                <a:latin typeface="Arial" panose="020B0604020202020204" pitchFamily="34" charset="0"/>
              </a:rPr>
              <a:t>”</a:t>
            </a:r>
            <a:r>
              <a:rPr lang="en-US" altLang="ja-JP" dirty="0">
                <a:latin typeface="Arial" panose="020B0604020202020204" pitchFamily="34" charset="0"/>
              </a:rPr>
              <a:t> – Say: so that clarification can be had and recognition can be given</a:t>
            </a:r>
          </a:p>
          <a:p>
            <a:endParaRPr lang="en-US" altLang="en-US" dirty="0">
              <a:latin typeface="Arial" panose="020B0604020202020204" pitchFamily="34" charset="0"/>
            </a:endParaRPr>
          </a:p>
          <a:p>
            <a:r>
              <a:rPr lang="en-US" altLang="en-US" dirty="0">
                <a:latin typeface="Arial" panose="020B0604020202020204" pitchFamily="34" charset="0"/>
              </a:rPr>
              <a:t>Ask: </a:t>
            </a:r>
            <a:r>
              <a:rPr lang="ja-JP" altLang="en-US" dirty="0">
                <a:latin typeface="Arial" panose="020B0604020202020204" pitchFamily="34" charset="0"/>
              </a:rPr>
              <a:t>“</a:t>
            </a:r>
            <a:r>
              <a:rPr lang="en-US" altLang="ja-JP" dirty="0">
                <a:latin typeface="Arial" panose="020B0604020202020204" pitchFamily="34" charset="0"/>
              </a:rPr>
              <a:t>why</a:t>
            </a:r>
            <a:r>
              <a:rPr lang="ja-JP" altLang="en-US" dirty="0">
                <a:latin typeface="Arial" panose="020B0604020202020204" pitchFamily="34" charset="0"/>
              </a:rPr>
              <a:t>”</a:t>
            </a:r>
            <a:r>
              <a:rPr lang="en-US" altLang="ja-JP" dirty="0">
                <a:latin typeface="Arial" panose="020B0604020202020204" pitchFamily="34" charset="0"/>
              </a:rPr>
              <a:t> on several of the other guidelines to ensure that the team fully understands the process of card writing and agrees with it.</a:t>
            </a:r>
            <a:endParaRPr lang="en-US" altLang="en-US"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63</a:t>
            </a:fld>
            <a:endParaRPr lang="en-US"/>
          </a:p>
        </p:txBody>
      </p:sp>
    </p:spTree>
    <p:extLst>
      <p:ext uri="{BB962C8B-B14F-4D97-AF65-F5344CB8AC3E}">
        <p14:creationId xmlns:p14="http://schemas.microsoft.com/office/powerpoint/2010/main" val="2988323698"/>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tLang="en-US"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64</a:t>
            </a:fld>
            <a:endParaRPr lang="en-US"/>
          </a:p>
        </p:txBody>
      </p:sp>
    </p:spTree>
    <p:extLst>
      <p:ext uri="{BB962C8B-B14F-4D97-AF65-F5344CB8AC3E}">
        <p14:creationId xmlns:p14="http://schemas.microsoft.com/office/powerpoint/2010/main" val="3056069274"/>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tLang="en-US"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65</a:t>
            </a:fld>
            <a:endParaRPr lang="en-US"/>
          </a:p>
        </p:txBody>
      </p:sp>
    </p:spTree>
    <p:extLst>
      <p:ext uri="{BB962C8B-B14F-4D97-AF65-F5344CB8AC3E}">
        <p14:creationId xmlns:p14="http://schemas.microsoft.com/office/powerpoint/2010/main" val="2138012603"/>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sz="800" b="1" dirty="0">
                <a:latin typeface="Arial" panose="020B0604020202020204" pitchFamily="34" charset="0"/>
              </a:rPr>
              <a:t>NOTE:</a:t>
            </a:r>
            <a:r>
              <a:rPr lang="en-US" altLang="en-US" sz="800" dirty="0">
                <a:latin typeface="Arial" panose="020B0604020202020204" pitchFamily="34" charset="0"/>
              </a:rPr>
              <a:t>  Allow whatever assumptions the team wants to make… no right or wrong answers here.  The data and </a:t>
            </a:r>
            <a:r>
              <a:rPr lang="ja-JP" altLang="en-US" sz="800" dirty="0">
                <a:latin typeface="Arial" panose="020B0604020202020204" pitchFamily="34" charset="0"/>
              </a:rPr>
              <a:t>“</a:t>
            </a:r>
            <a:r>
              <a:rPr lang="en-US" altLang="ja-JP" sz="800" dirty="0">
                <a:latin typeface="Arial" panose="020B0604020202020204" pitchFamily="34" charset="0"/>
              </a:rPr>
              <a:t>situation</a:t>
            </a:r>
            <a:r>
              <a:rPr lang="ja-JP" altLang="en-US" sz="800" dirty="0">
                <a:latin typeface="Arial" panose="020B0604020202020204" pitchFamily="34" charset="0"/>
              </a:rPr>
              <a:t>”</a:t>
            </a:r>
            <a:r>
              <a:rPr lang="en-US" altLang="ja-JP" sz="800" dirty="0">
                <a:latin typeface="Arial" panose="020B0604020202020204" pitchFamily="34" charset="0"/>
              </a:rPr>
              <a:t> statement might lead you to believe that the wait staff is short-handed during the summer months due to the college students being away… so one assumption might be that the majority of the serving staff is comprised of part-time college students and staff is insufficient or not properly trained during the summer months.  OR Maybe the menu is too complicated since they serve three different styles of cuisine….and so forth.  Remember that the purpose of this particular exercise is for the learners to practice using FACT cards and using the process – the content is really not that important, so don</a:t>
            </a:r>
            <a:r>
              <a:rPr lang="ja-JP" altLang="en-US" sz="800" dirty="0">
                <a:latin typeface="Arial" panose="020B0604020202020204" pitchFamily="34" charset="0"/>
              </a:rPr>
              <a:t>’</a:t>
            </a:r>
            <a:r>
              <a:rPr lang="en-US" altLang="ja-JP" sz="800" dirty="0">
                <a:latin typeface="Arial" panose="020B0604020202020204" pitchFamily="34" charset="0"/>
              </a:rPr>
              <a:t>t let the teams debate with each other.</a:t>
            </a:r>
            <a:endParaRPr lang="en-US" altLang="en-US" sz="800"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66</a:t>
            </a:fld>
            <a:endParaRPr lang="en-US"/>
          </a:p>
        </p:txBody>
      </p:sp>
    </p:spTree>
    <p:extLst>
      <p:ext uri="{BB962C8B-B14F-4D97-AF65-F5344CB8AC3E}">
        <p14:creationId xmlns:p14="http://schemas.microsoft.com/office/powerpoint/2010/main" val="265404403"/>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tLang="en-US" sz="800"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67</a:t>
            </a:fld>
            <a:endParaRPr lang="en-US"/>
          </a:p>
        </p:txBody>
      </p:sp>
    </p:spTree>
    <p:extLst>
      <p:ext uri="{BB962C8B-B14F-4D97-AF65-F5344CB8AC3E}">
        <p14:creationId xmlns:p14="http://schemas.microsoft.com/office/powerpoint/2010/main" val="1085295486"/>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b="1" dirty="0">
                <a:latin typeface="Arial" panose="020B0604020202020204" pitchFamily="34" charset="0"/>
                <a:ea typeface="ＭＳ Ｐゴシック" panose="020B0600070205080204" pitchFamily="34" charset="-128"/>
              </a:rPr>
              <a:t>DO:</a:t>
            </a:r>
            <a:r>
              <a:rPr lang="en-US" altLang="en-US" dirty="0">
                <a:latin typeface="Arial" panose="020B0604020202020204" pitchFamily="34" charset="0"/>
                <a:ea typeface="ＭＳ Ｐゴシック" panose="020B0600070205080204" pitchFamily="34" charset="-128"/>
              </a:rPr>
              <a:t> Review chapter objectives. </a:t>
            </a:r>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68</a:t>
            </a:fld>
            <a:endParaRPr lang="en-US"/>
          </a:p>
        </p:txBody>
      </p:sp>
    </p:spTree>
    <p:extLst>
      <p:ext uri="{BB962C8B-B14F-4D97-AF65-F5344CB8AC3E}">
        <p14:creationId xmlns:p14="http://schemas.microsoft.com/office/powerpoint/2010/main" val="3417523743"/>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dirty="0">
                <a:latin typeface="Arial" panose="020B0604020202020204" pitchFamily="34" charset="0"/>
              </a:rPr>
              <a:t>Improvement Cards = ideas that will solve the Fact/problem cards</a:t>
            </a:r>
          </a:p>
        </p:txBody>
      </p:sp>
      <p:sp>
        <p:nvSpPr>
          <p:cNvPr id="4" name="Slide Number Placeholder 3"/>
          <p:cNvSpPr>
            <a:spLocks noGrp="1"/>
          </p:cNvSpPr>
          <p:nvPr>
            <p:ph type="sldNum" sz="quarter" idx="5"/>
          </p:nvPr>
        </p:nvSpPr>
        <p:spPr/>
        <p:txBody>
          <a:bodyPr/>
          <a:lstStyle/>
          <a:p>
            <a:fld id="{AECD8548-F1A2-4EDF-A416-5F2BB6B8F64C}" type="slidenum">
              <a:rPr lang="en-US" smtClean="0"/>
              <a:t>69</a:t>
            </a:fld>
            <a:endParaRPr lang="en-US"/>
          </a:p>
        </p:txBody>
      </p:sp>
    </p:spTree>
    <p:extLst>
      <p:ext uri="{BB962C8B-B14F-4D97-AF65-F5344CB8AC3E}">
        <p14:creationId xmlns:p14="http://schemas.microsoft.com/office/powerpoint/2010/main" val="3324908798"/>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latin typeface="Arial" panose="020B0604020202020204" pitchFamily="34" charset="0"/>
              </a:rPr>
              <a:t>SAY:</a:t>
            </a:r>
            <a:r>
              <a:rPr lang="en-US" altLang="en-US" dirty="0">
                <a:latin typeface="Arial" panose="020B0604020202020204" pitchFamily="34" charset="0"/>
              </a:rPr>
              <a:t> </a:t>
            </a:r>
            <a:r>
              <a:rPr lang="ja-JP" altLang="en-US" dirty="0">
                <a:latin typeface="Arial" panose="020B0604020202020204" pitchFamily="34" charset="0"/>
              </a:rPr>
              <a:t>“</a:t>
            </a:r>
            <a:r>
              <a:rPr lang="en-US" altLang="ja-JP" dirty="0">
                <a:latin typeface="Arial" panose="020B0604020202020204" pitchFamily="34" charset="0"/>
              </a:rPr>
              <a:t>Improvement cards must be related back to a Fact card to be valid.</a:t>
            </a:r>
            <a:r>
              <a:rPr lang="ja-JP" altLang="en-US" dirty="0">
                <a:latin typeface="Arial" panose="020B0604020202020204" pitchFamily="34" charset="0"/>
              </a:rPr>
              <a:t>”</a:t>
            </a:r>
            <a:endParaRPr lang="en-US" altLang="ja-JP" dirty="0">
              <a:latin typeface="Arial" panose="020B0604020202020204" pitchFamily="34" charset="0"/>
            </a:endParaRPr>
          </a:p>
          <a:p>
            <a:endParaRPr lang="en-US" altLang="en-US"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70</a:t>
            </a:fld>
            <a:endParaRPr lang="en-US"/>
          </a:p>
        </p:txBody>
      </p:sp>
    </p:spTree>
    <p:extLst>
      <p:ext uri="{BB962C8B-B14F-4D97-AF65-F5344CB8AC3E}">
        <p14:creationId xmlns:p14="http://schemas.microsoft.com/office/powerpoint/2010/main" val="2031523393"/>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tLang="en-US"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71</a:t>
            </a:fld>
            <a:endParaRPr lang="en-US"/>
          </a:p>
        </p:txBody>
      </p:sp>
    </p:spTree>
    <p:extLst>
      <p:ext uri="{BB962C8B-B14F-4D97-AF65-F5344CB8AC3E}">
        <p14:creationId xmlns:p14="http://schemas.microsoft.com/office/powerpoint/2010/main" val="41209614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tLang="en-US"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72</a:t>
            </a:fld>
            <a:endParaRPr lang="en-US"/>
          </a:p>
        </p:txBody>
      </p:sp>
    </p:spTree>
    <p:extLst>
      <p:ext uri="{BB962C8B-B14F-4D97-AF65-F5344CB8AC3E}">
        <p14:creationId xmlns:p14="http://schemas.microsoft.com/office/powerpoint/2010/main" val="772923800"/>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latin typeface="Arial" panose="020B0604020202020204" pitchFamily="34" charset="0"/>
              </a:rPr>
              <a:t>NOTE:</a:t>
            </a:r>
            <a:r>
              <a:rPr lang="en-US" altLang="en-US" dirty="0">
                <a:latin typeface="Arial" panose="020B0604020202020204" pitchFamily="34" charset="0"/>
              </a:rPr>
              <a:t> No improvement cards can be placed on the CEDAC without a FACT card.  This equates to the standard method of problem solving that </a:t>
            </a:r>
            <a:r>
              <a:rPr lang="ja-JP" altLang="en-US" dirty="0">
                <a:latin typeface="Arial" panose="020B0604020202020204" pitchFamily="34" charset="0"/>
              </a:rPr>
              <a:t>“</a:t>
            </a:r>
            <a:r>
              <a:rPr lang="en-US" altLang="ja-JP" dirty="0">
                <a:latin typeface="Arial" panose="020B0604020202020204" pitchFamily="34" charset="0"/>
              </a:rPr>
              <a:t>has always been used</a:t>
            </a:r>
            <a:r>
              <a:rPr lang="ja-JP" altLang="en-US" dirty="0">
                <a:latin typeface="Arial" panose="020B0604020202020204" pitchFamily="34" charset="0"/>
              </a:rPr>
              <a:t>”</a:t>
            </a:r>
            <a:r>
              <a:rPr lang="en-US" altLang="ja-JP" dirty="0">
                <a:latin typeface="Arial" panose="020B0604020202020204" pitchFamily="34" charset="0"/>
              </a:rPr>
              <a:t> in that someone always has a </a:t>
            </a:r>
            <a:r>
              <a:rPr lang="ja-JP" altLang="en-US" dirty="0">
                <a:latin typeface="Arial" panose="020B0604020202020204" pitchFamily="34" charset="0"/>
              </a:rPr>
              <a:t>“</a:t>
            </a:r>
            <a:r>
              <a:rPr lang="en-US" altLang="ja-JP" dirty="0">
                <a:latin typeface="Arial" panose="020B0604020202020204" pitchFamily="34" charset="0"/>
              </a:rPr>
              <a:t>solution</a:t>
            </a:r>
            <a:r>
              <a:rPr lang="ja-JP" altLang="en-US" dirty="0">
                <a:latin typeface="Arial" panose="020B0604020202020204" pitchFamily="34" charset="0"/>
              </a:rPr>
              <a:t>”</a:t>
            </a:r>
            <a:r>
              <a:rPr lang="en-US" altLang="ja-JP" dirty="0">
                <a:latin typeface="Arial" panose="020B0604020202020204" pitchFamily="34" charset="0"/>
              </a:rPr>
              <a:t> but has not determined what the problem is.</a:t>
            </a:r>
          </a:p>
          <a:p>
            <a:endParaRPr lang="en-US" altLang="en-US" dirty="0">
              <a:latin typeface="Arial" panose="020B0604020202020204" pitchFamily="34" charset="0"/>
            </a:endParaRPr>
          </a:p>
          <a:p>
            <a:r>
              <a:rPr lang="en-US" altLang="en-US" dirty="0">
                <a:latin typeface="Arial" panose="020B0604020202020204" pitchFamily="34" charset="0"/>
              </a:rPr>
              <a:t>Be sure that cards are signed and dated.  If not, they will not be able to be reviewed with the author should there be any questions or to provide an explanation as to why the idea is not feasible.</a:t>
            </a:r>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73</a:t>
            </a:fld>
            <a:endParaRPr lang="en-US"/>
          </a:p>
        </p:txBody>
      </p:sp>
    </p:spTree>
    <p:extLst>
      <p:ext uri="{BB962C8B-B14F-4D97-AF65-F5344CB8AC3E}">
        <p14:creationId xmlns:p14="http://schemas.microsoft.com/office/powerpoint/2010/main" val="1154053495"/>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latin typeface="Arial" panose="020B0604020202020204" pitchFamily="34" charset="0"/>
              </a:rPr>
              <a:t>SAY:</a:t>
            </a:r>
            <a:r>
              <a:rPr lang="en-US" altLang="en-US" dirty="0">
                <a:latin typeface="Arial" panose="020B0604020202020204" pitchFamily="34" charset="0"/>
              </a:rPr>
              <a:t> </a:t>
            </a:r>
            <a:r>
              <a:rPr lang="ja-JP" altLang="en-US" dirty="0">
                <a:latin typeface="Arial" panose="020B0604020202020204" pitchFamily="34" charset="0"/>
              </a:rPr>
              <a:t>“</a:t>
            </a:r>
            <a:r>
              <a:rPr lang="en-US" altLang="ja-JP" dirty="0">
                <a:latin typeface="Arial" panose="020B0604020202020204" pitchFamily="34" charset="0"/>
              </a:rPr>
              <a:t>This listing is a great resource to refer to when brainstorming… it will help generate more ideas.</a:t>
            </a:r>
            <a:r>
              <a:rPr lang="ja-JP" altLang="en-US" dirty="0">
                <a:latin typeface="Arial" panose="020B0604020202020204" pitchFamily="34" charset="0"/>
              </a:rPr>
              <a:t>”</a:t>
            </a:r>
            <a:endParaRPr lang="en-US" altLang="ja-JP" dirty="0">
              <a:latin typeface="Arial" panose="020B0604020202020204" pitchFamily="34" charset="0"/>
            </a:endParaRPr>
          </a:p>
          <a:p>
            <a:endParaRPr lang="en-US" altLang="en-US" dirty="0">
              <a:latin typeface="Arial" panose="020B0604020202020204" pitchFamily="34" charset="0"/>
            </a:endParaRPr>
          </a:p>
          <a:p>
            <a:endParaRPr lang="en-US" altLang="en-US"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74</a:t>
            </a:fld>
            <a:endParaRPr lang="en-US"/>
          </a:p>
        </p:txBody>
      </p:sp>
    </p:spTree>
    <p:extLst>
      <p:ext uri="{BB962C8B-B14F-4D97-AF65-F5344CB8AC3E}">
        <p14:creationId xmlns:p14="http://schemas.microsoft.com/office/powerpoint/2010/main" val="4202488443"/>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latin typeface="Arial" panose="020B0604020202020204" pitchFamily="34" charset="0"/>
              </a:rPr>
              <a:t>ASK:</a:t>
            </a:r>
            <a:r>
              <a:rPr lang="en-US" altLang="en-US" dirty="0">
                <a:latin typeface="Arial" panose="020B0604020202020204" pitchFamily="34" charset="0"/>
              </a:rPr>
              <a:t> </a:t>
            </a:r>
            <a:r>
              <a:rPr lang="ja-JP" altLang="en-US" dirty="0">
                <a:latin typeface="Arial" panose="020B0604020202020204" pitchFamily="34" charset="0"/>
              </a:rPr>
              <a:t>“</a:t>
            </a:r>
            <a:r>
              <a:rPr lang="en-US" altLang="ja-JP" dirty="0">
                <a:latin typeface="Arial" panose="020B0604020202020204" pitchFamily="34" charset="0"/>
              </a:rPr>
              <a:t>What else could be done if the team struggles with developing or obtaining improvement cards?</a:t>
            </a:r>
            <a:r>
              <a:rPr lang="ja-JP" altLang="en-US" dirty="0">
                <a:latin typeface="Arial" panose="020B0604020202020204" pitchFamily="34" charset="0"/>
              </a:rPr>
              <a:t>”</a:t>
            </a:r>
            <a:endParaRPr lang="en-US" altLang="en-US"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75</a:t>
            </a:fld>
            <a:endParaRPr lang="en-US"/>
          </a:p>
        </p:txBody>
      </p:sp>
    </p:spTree>
    <p:extLst>
      <p:ext uri="{BB962C8B-B14F-4D97-AF65-F5344CB8AC3E}">
        <p14:creationId xmlns:p14="http://schemas.microsoft.com/office/powerpoint/2010/main" val="4012889678"/>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tLang="en-US"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76</a:t>
            </a:fld>
            <a:endParaRPr lang="en-US"/>
          </a:p>
        </p:txBody>
      </p:sp>
    </p:spTree>
    <p:extLst>
      <p:ext uri="{BB962C8B-B14F-4D97-AF65-F5344CB8AC3E}">
        <p14:creationId xmlns:p14="http://schemas.microsoft.com/office/powerpoint/2010/main" val="2444551752"/>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sz="800" b="1" dirty="0">
                <a:latin typeface="Arial" panose="020B0604020202020204" pitchFamily="34" charset="0"/>
              </a:rPr>
              <a:t>NOTE:</a:t>
            </a:r>
            <a:r>
              <a:rPr lang="en-US" altLang="en-US" sz="800" dirty="0">
                <a:latin typeface="Arial" panose="020B0604020202020204" pitchFamily="34" charset="0"/>
              </a:rPr>
              <a:t>  Again, allow whatever assumptions the team wants to make… no right or wrong answers here.  Remember that the purpose of this particular exercise is for the learners to practice using the process – the content is really not that important, so don</a:t>
            </a:r>
            <a:r>
              <a:rPr lang="ja-JP" altLang="en-US" sz="800" dirty="0">
                <a:latin typeface="Arial" panose="020B0604020202020204" pitchFamily="34" charset="0"/>
              </a:rPr>
              <a:t>’</a:t>
            </a:r>
            <a:r>
              <a:rPr lang="en-US" altLang="ja-JP" sz="800" dirty="0">
                <a:latin typeface="Arial" panose="020B0604020202020204" pitchFamily="34" charset="0"/>
              </a:rPr>
              <a:t>t let the teams waste time debating.</a:t>
            </a:r>
            <a:endParaRPr lang="en-US" altLang="en-US" sz="800" dirty="0">
              <a:latin typeface="Arial" panose="020B0604020202020204" pitchFamily="34" charset="0"/>
            </a:endParaRPr>
          </a:p>
          <a:p>
            <a:endParaRPr lang="en-US" altLang="en-US" sz="800"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77</a:t>
            </a:fld>
            <a:endParaRPr lang="en-US"/>
          </a:p>
        </p:txBody>
      </p:sp>
    </p:spTree>
    <p:extLst>
      <p:ext uri="{BB962C8B-B14F-4D97-AF65-F5344CB8AC3E}">
        <p14:creationId xmlns:p14="http://schemas.microsoft.com/office/powerpoint/2010/main" val="2110235134"/>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tLang="en-US"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78</a:t>
            </a:fld>
            <a:endParaRPr lang="en-US"/>
          </a:p>
        </p:txBody>
      </p:sp>
    </p:spTree>
    <p:extLst>
      <p:ext uri="{BB962C8B-B14F-4D97-AF65-F5344CB8AC3E}">
        <p14:creationId xmlns:p14="http://schemas.microsoft.com/office/powerpoint/2010/main" val="737509710"/>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tLang="en-US" sz="800"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79</a:t>
            </a:fld>
            <a:endParaRPr lang="en-US"/>
          </a:p>
        </p:txBody>
      </p:sp>
    </p:spTree>
    <p:extLst>
      <p:ext uri="{BB962C8B-B14F-4D97-AF65-F5344CB8AC3E}">
        <p14:creationId xmlns:p14="http://schemas.microsoft.com/office/powerpoint/2010/main" val="1256856477"/>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tLang="en-US" sz="800"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80</a:t>
            </a:fld>
            <a:endParaRPr lang="en-US"/>
          </a:p>
        </p:txBody>
      </p:sp>
    </p:spTree>
    <p:extLst>
      <p:ext uri="{BB962C8B-B14F-4D97-AF65-F5344CB8AC3E}">
        <p14:creationId xmlns:p14="http://schemas.microsoft.com/office/powerpoint/2010/main" val="2117629899"/>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b="1" dirty="0">
                <a:latin typeface="Arial" panose="020B0604020202020204" pitchFamily="34" charset="0"/>
                <a:ea typeface="ＭＳ Ｐゴシック" panose="020B0600070205080204" pitchFamily="34" charset="-128"/>
              </a:rPr>
              <a:t>DO:</a:t>
            </a:r>
            <a:r>
              <a:rPr lang="en-US" altLang="en-US" dirty="0">
                <a:latin typeface="Arial" panose="020B0604020202020204" pitchFamily="34" charset="0"/>
                <a:ea typeface="ＭＳ Ｐゴシック" panose="020B0600070205080204" pitchFamily="34" charset="-128"/>
              </a:rPr>
              <a:t> Review chapter objectives. </a:t>
            </a:r>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81</a:t>
            </a:fld>
            <a:endParaRPr lang="en-US"/>
          </a:p>
        </p:txBody>
      </p:sp>
    </p:spTree>
    <p:extLst>
      <p:ext uri="{BB962C8B-B14F-4D97-AF65-F5344CB8AC3E}">
        <p14:creationId xmlns:p14="http://schemas.microsoft.com/office/powerpoint/2010/main" val="3108787452"/>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tLang="en-US"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82</a:t>
            </a:fld>
            <a:endParaRPr lang="en-US"/>
          </a:p>
        </p:txBody>
      </p:sp>
    </p:spTree>
    <p:extLst>
      <p:ext uri="{BB962C8B-B14F-4D97-AF65-F5344CB8AC3E}">
        <p14:creationId xmlns:p14="http://schemas.microsoft.com/office/powerpoint/2010/main" val="2770593106"/>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tLang="en-US"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83</a:t>
            </a:fld>
            <a:endParaRPr lang="en-US"/>
          </a:p>
        </p:txBody>
      </p:sp>
    </p:spTree>
    <p:extLst>
      <p:ext uri="{BB962C8B-B14F-4D97-AF65-F5344CB8AC3E}">
        <p14:creationId xmlns:p14="http://schemas.microsoft.com/office/powerpoint/2010/main" val="388238342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tLang="en-US"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84</a:t>
            </a:fld>
            <a:endParaRPr lang="en-US"/>
          </a:p>
        </p:txBody>
      </p:sp>
    </p:spTree>
    <p:extLst>
      <p:ext uri="{BB962C8B-B14F-4D97-AF65-F5344CB8AC3E}">
        <p14:creationId xmlns:p14="http://schemas.microsoft.com/office/powerpoint/2010/main" val="1645096244"/>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latin typeface="Arial" panose="020B0604020202020204" pitchFamily="34" charset="0"/>
              </a:rPr>
              <a:t>SAY:</a:t>
            </a:r>
            <a:r>
              <a:rPr lang="en-US" altLang="en-US" dirty="0">
                <a:latin typeface="Arial" panose="020B0604020202020204" pitchFamily="34" charset="0"/>
              </a:rPr>
              <a:t> </a:t>
            </a:r>
            <a:r>
              <a:rPr lang="ja-JP" altLang="en-US" dirty="0">
                <a:latin typeface="Arial" panose="020B0604020202020204" pitchFamily="34" charset="0"/>
              </a:rPr>
              <a:t>“</a:t>
            </a:r>
            <a:r>
              <a:rPr lang="en-US" altLang="ja-JP" dirty="0">
                <a:latin typeface="Arial" panose="020B0604020202020204" pitchFamily="34" charset="0"/>
              </a:rPr>
              <a:t>The diagram shown is an example PICK (Possible, Implement, Challenge, Kill) diagram used to help sort ideas.  Draw this up on flip chart and use the Post-its to place them in the category the team agrees with while sticking to the two basic questions.</a:t>
            </a:r>
            <a:r>
              <a:rPr lang="ja-JP" altLang="en-US" dirty="0">
                <a:latin typeface="Arial" panose="020B0604020202020204" pitchFamily="34" charset="0"/>
              </a:rPr>
              <a:t>”</a:t>
            </a:r>
            <a:endParaRPr lang="en-US" altLang="ja-JP" dirty="0">
              <a:latin typeface="Arial" panose="020B0604020202020204" pitchFamily="34" charset="0"/>
            </a:endParaRPr>
          </a:p>
          <a:p>
            <a:pPr>
              <a:buFontTx/>
              <a:buAutoNum type="arabicPeriod"/>
            </a:pPr>
            <a:r>
              <a:rPr lang="en-US" altLang="en-US" dirty="0">
                <a:latin typeface="Arial" panose="020B0604020202020204" pitchFamily="34" charset="0"/>
              </a:rPr>
              <a:t> How easy to implement?</a:t>
            </a:r>
          </a:p>
          <a:p>
            <a:pPr>
              <a:buFontTx/>
              <a:buAutoNum type="arabicPeriod"/>
            </a:pPr>
            <a:r>
              <a:rPr lang="en-US" altLang="en-US" dirty="0">
                <a:latin typeface="Arial" panose="020B0604020202020204" pitchFamily="34" charset="0"/>
              </a:rPr>
              <a:t> Is the impact of this going to be big or small?</a:t>
            </a:r>
          </a:p>
          <a:p>
            <a:endParaRPr lang="en-US" altLang="en-US"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85</a:t>
            </a:fld>
            <a:endParaRPr lang="en-US"/>
          </a:p>
        </p:txBody>
      </p:sp>
    </p:spTree>
    <p:extLst>
      <p:ext uri="{BB962C8B-B14F-4D97-AF65-F5344CB8AC3E}">
        <p14:creationId xmlns:p14="http://schemas.microsoft.com/office/powerpoint/2010/main" val="370771124"/>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latin typeface="Arial" panose="020B0604020202020204" pitchFamily="34" charset="0"/>
              </a:rPr>
              <a:t>SAY:</a:t>
            </a:r>
            <a:r>
              <a:rPr lang="en-US" altLang="en-US" dirty="0">
                <a:latin typeface="Arial" panose="020B0604020202020204" pitchFamily="34" charset="0"/>
              </a:rPr>
              <a:t> </a:t>
            </a:r>
            <a:r>
              <a:rPr lang="ja-JP" altLang="en-US" dirty="0">
                <a:latin typeface="Arial" panose="020B0604020202020204" pitchFamily="34" charset="0"/>
              </a:rPr>
              <a:t>“</a:t>
            </a:r>
            <a:r>
              <a:rPr lang="en-US" altLang="ja-JP" dirty="0">
                <a:latin typeface="Arial" panose="020B0604020202020204" pitchFamily="34" charset="0"/>
              </a:rPr>
              <a:t>Attack items that fall into the Big Impact/Short time to Implement category first. Beyond that, the team should prioritize the items in the Small Impact/Short Time to Implement and the Big Impact/Long Time to Implement quadrants.</a:t>
            </a:r>
            <a:r>
              <a:rPr lang="ja-JP" altLang="en-US" dirty="0">
                <a:latin typeface="Arial" panose="020B0604020202020204" pitchFamily="34" charset="0"/>
              </a:rPr>
              <a:t>”</a:t>
            </a:r>
            <a:endParaRPr lang="en-US" altLang="ja-JP" dirty="0">
              <a:latin typeface="Arial" panose="020B0604020202020204" pitchFamily="34" charset="0"/>
            </a:endParaRPr>
          </a:p>
          <a:p>
            <a:r>
              <a:rPr lang="en-US" altLang="en-US" b="1" dirty="0">
                <a:latin typeface="Arial" panose="020B0604020202020204" pitchFamily="34" charset="0"/>
              </a:rPr>
              <a:t>SAY:</a:t>
            </a:r>
            <a:r>
              <a:rPr lang="en-US" altLang="en-US" dirty="0">
                <a:latin typeface="Arial" panose="020B0604020202020204" pitchFamily="34" charset="0"/>
              </a:rPr>
              <a:t> </a:t>
            </a:r>
            <a:r>
              <a:rPr lang="ja-JP" altLang="en-US" dirty="0">
                <a:latin typeface="Arial" panose="020B0604020202020204" pitchFamily="34" charset="0"/>
              </a:rPr>
              <a:t>“</a:t>
            </a:r>
            <a:r>
              <a:rPr lang="en-US" altLang="ja-JP" dirty="0">
                <a:latin typeface="Arial" panose="020B0604020202020204" pitchFamily="34" charset="0"/>
              </a:rPr>
              <a:t>Often times items that fall under the Don</a:t>
            </a:r>
            <a:r>
              <a:rPr lang="ja-JP" altLang="en-US" dirty="0">
                <a:latin typeface="Arial" panose="020B0604020202020204" pitchFamily="34" charset="0"/>
              </a:rPr>
              <a:t>’</a:t>
            </a:r>
            <a:r>
              <a:rPr lang="en-US" altLang="ja-JP" dirty="0">
                <a:latin typeface="Arial" panose="020B0604020202020204" pitchFamily="34" charset="0"/>
              </a:rPr>
              <a:t>t Attack quadrant are addressed by actions taken from the other quadrants. If they are not, generally we don</a:t>
            </a:r>
            <a:r>
              <a:rPr lang="ja-JP" altLang="en-US" dirty="0">
                <a:latin typeface="Arial" panose="020B0604020202020204" pitchFamily="34" charset="0"/>
              </a:rPr>
              <a:t>’</a:t>
            </a:r>
            <a:r>
              <a:rPr lang="en-US" altLang="ja-JP" dirty="0">
                <a:latin typeface="Arial" panose="020B0604020202020204" pitchFamily="34" charset="0"/>
              </a:rPr>
              <a:t>t spend time here given their nature.</a:t>
            </a:r>
            <a:r>
              <a:rPr lang="ja-JP" altLang="en-US" dirty="0">
                <a:latin typeface="Arial" panose="020B0604020202020204" pitchFamily="34" charset="0"/>
              </a:rPr>
              <a:t>”</a:t>
            </a:r>
            <a:endParaRPr lang="en-US" altLang="en-US" dirty="0">
              <a:latin typeface="Arial" panose="020B0604020202020204" pitchFamily="34" charset="0"/>
            </a:endParaRPr>
          </a:p>
          <a:p>
            <a:endParaRPr lang="en-US" altLang="en-US"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86</a:t>
            </a:fld>
            <a:endParaRPr lang="en-US"/>
          </a:p>
        </p:txBody>
      </p:sp>
    </p:spTree>
    <p:extLst>
      <p:ext uri="{BB962C8B-B14F-4D97-AF65-F5344CB8AC3E}">
        <p14:creationId xmlns:p14="http://schemas.microsoft.com/office/powerpoint/2010/main" val="3461735003"/>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sz="800" b="1" dirty="0">
                <a:latin typeface="Arial" panose="020B0604020202020204" pitchFamily="34" charset="0"/>
              </a:rPr>
              <a:t>NOTE:</a:t>
            </a:r>
            <a:r>
              <a:rPr lang="en-US" altLang="en-US" sz="800" dirty="0">
                <a:latin typeface="Arial" panose="020B0604020202020204" pitchFamily="34" charset="0"/>
              </a:rPr>
              <a:t>  Again, allow whatever assumptions the team wants to make… no right or wrong answers here.  Remember that the purpose of this particular exercise is for the learners to practice using the process – the content is really not that important, so don</a:t>
            </a:r>
            <a:r>
              <a:rPr lang="ja-JP" altLang="en-US" sz="800" dirty="0">
                <a:latin typeface="Arial" panose="020B0604020202020204" pitchFamily="34" charset="0"/>
              </a:rPr>
              <a:t>’</a:t>
            </a:r>
            <a:r>
              <a:rPr lang="en-US" altLang="ja-JP" sz="800" dirty="0">
                <a:latin typeface="Arial" panose="020B0604020202020204" pitchFamily="34" charset="0"/>
              </a:rPr>
              <a:t>t let the teams waste time debating.</a:t>
            </a:r>
            <a:endParaRPr lang="en-US" altLang="en-US" sz="800" dirty="0">
              <a:latin typeface="Arial" panose="020B0604020202020204" pitchFamily="34" charset="0"/>
            </a:endParaRPr>
          </a:p>
          <a:p>
            <a:endParaRPr lang="en-US" altLang="en-US" sz="800"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87</a:t>
            </a:fld>
            <a:endParaRPr lang="en-US"/>
          </a:p>
        </p:txBody>
      </p:sp>
    </p:spTree>
    <p:extLst>
      <p:ext uri="{BB962C8B-B14F-4D97-AF65-F5344CB8AC3E}">
        <p14:creationId xmlns:p14="http://schemas.microsoft.com/office/powerpoint/2010/main" val="1834135782"/>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latin typeface="Arial" panose="020B0604020202020204" pitchFamily="34" charset="0"/>
              </a:rPr>
              <a:t>SAY</a:t>
            </a:r>
            <a:r>
              <a:rPr lang="en-US" altLang="en-US" dirty="0">
                <a:latin typeface="Arial" panose="020B0604020202020204" pitchFamily="34" charset="0"/>
              </a:rPr>
              <a:t>:  Use this spreadsheet for this event week and to keep track of open actions for follow-up going forward.  May also use this format to retain sustainability and impact data after implementation.  </a:t>
            </a:r>
          </a:p>
          <a:p>
            <a:r>
              <a:rPr lang="en-US" altLang="en-US" b="1" dirty="0">
                <a:latin typeface="Arial" panose="020B0604020202020204" pitchFamily="34" charset="0"/>
              </a:rPr>
              <a:t>NOTE:</a:t>
            </a:r>
            <a:r>
              <a:rPr lang="en-US" altLang="en-US" dirty="0">
                <a:latin typeface="Arial" panose="020B0604020202020204" pitchFamily="34" charset="0"/>
              </a:rPr>
              <a:t>  Establish one </a:t>
            </a:r>
            <a:r>
              <a:rPr lang="ja-JP" altLang="en-US" dirty="0">
                <a:latin typeface="Arial" panose="020B0604020202020204" pitchFamily="34" charset="0"/>
              </a:rPr>
              <a:t>“</a:t>
            </a:r>
            <a:r>
              <a:rPr lang="en-US" altLang="ja-JP" dirty="0">
                <a:latin typeface="Arial" panose="020B0604020202020204" pitchFamily="34" charset="0"/>
              </a:rPr>
              <a:t>owner</a:t>
            </a:r>
            <a:r>
              <a:rPr lang="ja-JP" altLang="en-US" dirty="0">
                <a:latin typeface="Arial" panose="020B0604020202020204" pitchFamily="34" charset="0"/>
              </a:rPr>
              <a:t>”</a:t>
            </a:r>
            <a:r>
              <a:rPr lang="en-US" altLang="ja-JP" dirty="0">
                <a:latin typeface="Arial" panose="020B0604020202020204" pitchFamily="34" charset="0"/>
              </a:rPr>
              <a:t> of this spreadsheet OR designate an update process and post on shared drive for regular update (however business prefers to handle).</a:t>
            </a:r>
          </a:p>
          <a:p>
            <a:r>
              <a:rPr lang="en-US" altLang="en-US" b="1" dirty="0">
                <a:latin typeface="Arial" panose="020B0604020202020204" pitchFamily="34" charset="0"/>
              </a:rPr>
              <a:t>SAY:</a:t>
            </a:r>
            <a:r>
              <a:rPr lang="en-US" altLang="en-US" dirty="0">
                <a:latin typeface="Arial" panose="020B0604020202020204" pitchFamily="34" charset="0"/>
              </a:rPr>
              <a:t>  Enter all IMPROVEMENT card data into spreadsheet with column headings as follows:</a:t>
            </a:r>
          </a:p>
          <a:p>
            <a:r>
              <a:rPr lang="en-US" altLang="en-US" dirty="0">
                <a:latin typeface="Arial" panose="020B0604020202020204" pitchFamily="34" charset="0"/>
              </a:rPr>
              <a:t>Card # = Improvement Card #</a:t>
            </a:r>
          </a:p>
          <a:p>
            <a:r>
              <a:rPr lang="en-US" altLang="en-US" dirty="0">
                <a:latin typeface="Arial" panose="020B0604020202020204" pitchFamily="34" charset="0"/>
              </a:rPr>
              <a:t>Description = Improvement Action Identified</a:t>
            </a:r>
          </a:p>
          <a:p>
            <a:r>
              <a:rPr lang="en-US" altLang="en-US" dirty="0">
                <a:latin typeface="Arial" panose="020B0604020202020204" pitchFamily="34" charset="0"/>
              </a:rPr>
              <a:t>Reference Fact Cards by Number = the FACT card(s) which this improvement action addresses</a:t>
            </a:r>
          </a:p>
          <a:p>
            <a:r>
              <a:rPr lang="en-US" altLang="en-US" dirty="0">
                <a:latin typeface="Arial" panose="020B0604020202020204" pitchFamily="34" charset="0"/>
              </a:rPr>
              <a:t>Date Written = Date Written</a:t>
            </a:r>
          </a:p>
          <a:p>
            <a:r>
              <a:rPr lang="en-US" altLang="en-US" dirty="0">
                <a:latin typeface="Arial" panose="020B0604020202020204" pitchFamily="34" charset="0"/>
              </a:rPr>
              <a:t>Author = Author</a:t>
            </a:r>
          </a:p>
          <a:p>
            <a:r>
              <a:rPr lang="en-US" altLang="en-US" dirty="0">
                <a:latin typeface="Arial" panose="020B0604020202020204" pitchFamily="34" charset="0"/>
              </a:rPr>
              <a:t>Action (Dots) =  refers to the CEDAC Dot System for </a:t>
            </a:r>
            <a:r>
              <a:rPr lang="en-US" altLang="en-US" dirty="0" err="1">
                <a:latin typeface="Arial" panose="020B0604020202020204" pitchFamily="34" charset="0"/>
              </a:rPr>
              <a:t>statusing</a:t>
            </a:r>
            <a:r>
              <a:rPr lang="en-US" altLang="en-US" dirty="0">
                <a:latin typeface="Arial" panose="020B0604020202020204" pitchFamily="34" charset="0"/>
              </a:rPr>
              <a:t> IMPROVEMENT Cards</a:t>
            </a:r>
          </a:p>
          <a:p>
            <a:r>
              <a:rPr lang="en-US" altLang="en-US" dirty="0">
                <a:latin typeface="Arial" panose="020B0604020202020204" pitchFamily="34" charset="0"/>
              </a:rPr>
              <a:t>Responsible Individual = an individual should be assigned wherever The "Action" is Under Preparation, Under Test or Successful Test  &amp; where further rollout of the new standard is required.</a:t>
            </a:r>
          </a:p>
          <a:p>
            <a:r>
              <a:rPr lang="en-US" altLang="en-US" dirty="0">
                <a:latin typeface="Arial" panose="020B0604020202020204" pitchFamily="34" charset="0"/>
              </a:rPr>
              <a:t>Status = reflects status of current assigned action by responsible person</a:t>
            </a:r>
          </a:p>
          <a:p>
            <a:r>
              <a:rPr lang="en-US" altLang="en-US" dirty="0">
                <a:latin typeface="Arial" panose="020B0604020202020204" pitchFamily="34" charset="0"/>
              </a:rPr>
              <a:t>Date = Date of last update</a:t>
            </a:r>
          </a:p>
          <a:p>
            <a:r>
              <a:rPr lang="en-US" altLang="en-US" dirty="0">
                <a:latin typeface="Arial" panose="020B0604020202020204" pitchFamily="34" charset="0"/>
              </a:rPr>
              <a:t>Comments = for additional pertinent information</a:t>
            </a:r>
          </a:p>
          <a:p>
            <a:endParaRPr lang="en-US" altLang="en-US"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88</a:t>
            </a:fld>
            <a:endParaRPr lang="en-US"/>
          </a:p>
        </p:txBody>
      </p:sp>
    </p:spTree>
    <p:extLst>
      <p:ext uri="{BB962C8B-B14F-4D97-AF65-F5344CB8AC3E}">
        <p14:creationId xmlns:p14="http://schemas.microsoft.com/office/powerpoint/2010/main" val="1296035873"/>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tLang="en-US" sz="800"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89</a:t>
            </a:fld>
            <a:endParaRPr lang="en-US"/>
          </a:p>
        </p:txBody>
      </p:sp>
    </p:spTree>
    <p:extLst>
      <p:ext uri="{BB962C8B-B14F-4D97-AF65-F5344CB8AC3E}">
        <p14:creationId xmlns:p14="http://schemas.microsoft.com/office/powerpoint/2010/main" val="3370622289"/>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b="1" dirty="0">
                <a:latin typeface="Arial" panose="020B0604020202020204" pitchFamily="34" charset="0"/>
                <a:ea typeface="ＭＳ Ｐゴシック" panose="020B0600070205080204" pitchFamily="34" charset="-128"/>
              </a:rPr>
              <a:t>DO:</a:t>
            </a:r>
            <a:r>
              <a:rPr lang="en-US" altLang="en-US" dirty="0">
                <a:latin typeface="Arial" panose="020B0604020202020204" pitchFamily="34" charset="0"/>
                <a:ea typeface="ＭＳ Ｐゴシック" panose="020B0600070205080204" pitchFamily="34" charset="-128"/>
              </a:rPr>
              <a:t> Review chapter objectives. </a:t>
            </a:r>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90</a:t>
            </a:fld>
            <a:endParaRPr lang="en-US"/>
          </a:p>
        </p:txBody>
      </p:sp>
    </p:spTree>
    <p:extLst>
      <p:ext uri="{BB962C8B-B14F-4D97-AF65-F5344CB8AC3E}">
        <p14:creationId xmlns:p14="http://schemas.microsoft.com/office/powerpoint/2010/main" val="264809719"/>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b="1" dirty="0">
                <a:latin typeface="Arial" panose="020B0604020202020204" pitchFamily="34" charset="0"/>
              </a:rPr>
              <a:t>SAY:</a:t>
            </a:r>
            <a:r>
              <a:rPr lang="en-US" altLang="en-US" dirty="0">
                <a:latin typeface="Arial" panose="020B0604020202020204" pitchFamily="34" charset="0"/>
              </a:rPr>
              <a:t> </a:t>
            </a:r>
            <a:r>
              <a:rPr lang="ja-JP" altLang="en-US" dirty="0">
                <a:latin typeface="Arial" panose="020B0604020202020204" pitchFamily="34" charset="0"/>
              </a:rPr>
              <a:t>“</a:t>
            </a:r>
            <a:r>
              <a:rPr lang="en-US" altLang="ja-JP" dirty="0">
                <a:latin typeface="Arial" panose="020B0604020202020204" pitchFamily="34" charset="0"/>
              </a:rPr>
              <a:t>No change can be proven without the data to support that it has in fact addressed the root cause and eliminated the variation causing the defect or undesired condition.</a:t>
            </a:r>
            <a:r>
              <a:rPr lang="ja-JP" altLang="en-US" dirty="0">
                <a:latin typeface="Arial" panose="020B0604020202020204" pitchFamily="34" charset="0"/>
              </a:rPr>
              <a:t>”</a:t>
            </a:r>
            <a:endParaRPr lang="en-US" altLang="en-US" dirty="0">
              <a:latin typeface="Arial" panose="020B0604020202020204" pitchFamily="34" charset="0"/>
            </a:endParaRPr>
          </a:p>
          <a:p>
            <a:endParaRPr lang="en-US" altLang="en-US"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91</a:t>
            </a:fld>
            <a:endParaRPr lang="en-US"/>
          </a:p>
        </p:txBody>
      </p:sp>
    </p:spTree>
    <p:extLst>
      <p:ext uri="{BB962C8B-B14F-4D97-AF65-F5344CB8AC3E}">
        <p14:creationId xmlns:p14="http://schemas.microsoft.com/office/powerpoint/2010/main" val="3486911484"/>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tLang="en-US"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92</a:t>
            </a:fld>
            <a:endParaRPr lang="en-US"/>
          </a:p>
        </p:txBody>
      </p:sp>
    </p:spTree>
    <p:extLst>
      <p:ext uri="{BB962C8B-B14F-4D97-AF65-F5344CB8AC3E}">
        <p14:creationId xmlns:p14="http://schemas.microsoft.com/office/powerpoint/2010/main" val="2047053783"/>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tLang="en-US"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93</a:t>
            </a:fld>
            <a:endParaRPr lang="en-US"/>
          </a:p>
        </p:txBody>
      </p:sp>
    </p:spTree>
    <p:extLst>
      <p:ext uri="{BB962C8B-B14F-4D97-AF65-F5344CB8AC3E}">
        <p14:creationId xmlns:p14="http://schemas.microsoft.com/office/powerpoint/2010/main" val="929527526"/>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tLang="en-US" sz="800"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94</a:t>
            </a:fld>
            <a:endParaRPr lang="en-US"/>
          </a:p>
        </p:txBody>
      </p:sp>
    </p:spTree>
    <p:extLst>
      <p:ext uri="{BB962C8B-B14F-4D97-AF65-F5344CB8AC3E}">
        <p14:creationId xmlns:p14="http://schemas.microsoft.com/office/powerpoint/2010/main" val="3049241017"/>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b="1" dirty="0">
                <a:latin typeface="Arial" panose="020B0604020202020204" pitchFamily="34" charset="0"/>
              </a:rPr>
              <a:t>DO:</a:t>
            </a:r>
            <a:r>
              <a:rPr lang="en-US" altLang="en-US" dirty="0">
                <a:latin typeface="Arial" panose="020B0604020202020204" pitchFamily="34" charset="0"/>
              </a:rPr>
              <a:t> Cover report-out guidelines.</a:t>
            </a:r>
          </a:p>
          <a:p>
            <a:endParaRPr lang="en-US" altLang="en-US"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95</a:t>
            </a:fld>
            <a:endParaRPr lang="en-US"/>
          </a:p>
        </p:txBody>
      </p:sp>
    </p:spTree>
    <p:extLst>
      <p:ext uri="{BB962C8B-B14F-4D97-AF65-F5344CB8AC3E}">
        <p14:creationId xmlns:p14="http://schemas.microsoft.com/office/powerpoint/2010/main" val="335649631"/>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b="1" dirty="0">
                <a:latin typeface="Arial" panose="020B0604020202020204" pitchFamily="34" charset="0"/>
                <a:ea typeface="ＭＳ Ｐゴシック" panose="020B0600070205080204" pitchFamily="34" charset="-128"/>
              </a:rPr>
              <a:t>DO:</a:t>
            </a:r>
            <a:r>
              <a:rPr lang="en-US" altLang="en-US" dirty="0">
                <a:latin typeface="Arial" panose="020B0604020202020204" pitchFamily="34" charset="0"/>
                <a:ea typeface="ＭＳ Ｐゴシック" panose="020B0600070205080204" pitchFamily="34" charset="-128"/>
              </a:rPr>
              <a:t> Review chapter objectives. </a:t>
            </a:r>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96</a:t>
            </a:fld>
            <a:endParaRPr lang="en-US"/>
          </a:p>
        </p:txBody>
      </p:sp>
    </p:spTree>
    <p:extLst>
      <p:ext uri="{BB962C8B-B14F-4D97-AF65-F5344CB8AC3E}">
        <p14:creationId xmlns:p14="http://schemas.microsoft.com/office/powerpoint/2010/main" val="2070800384"/>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latin typeface="Arial" panose="020B0604020202020204" pitchFamily="34" charset="0"/>
              </a:rPr>
              <a:t>SAY:</a:t>
            </a:r>
            <a:r>
              <a:rPr lang="en-US" altLang="en-US" dirty="0">
                <a:latin typeface="Arial" panose="020B0604020202020204" pitchFamily="34" charset="0"/>
              </a:rPr>
              <a:t> </a:t>
            </a:r>
            <a:r>
              <a:rPr lang="ja-JP" altLang="en-US" dirty="0">
                <a:latin typeface="Arial" panose="020B0604020202020204" pitchFamily="34" charset="0"/>
              </a:rPr>
              <a:t>“</a:t>
            </a:r>
            <a:r>
              <a:rPr lang="en-US" altLang="ja-JP" dirty="0">
                <a:latin typeface="Arial" panose="020B0604020202020204" pitchFamily="34" charset="0"/>
              </a:rPr>
              <a:t>CEDAC involves everyone in the continuous improvement process, even those not directly working on the problem.</a:t>
            </a:r>
            <a:r>
              <a:rPr lang="ja-JP" altLang="en-US" dirty="0">
                <a:latin typeface="Arial" panose="020B0604020202020204" pitchFamily="34" charset="0"/>
              </a:rPr>
              <a:t>”</a:t>
            </a:r>
            <a:endParaRPr lang="en-US" altLang="ja-JP" dirty="0">
              <a:latin typeface="Arial" panose="020B0604020202020204" pitchFamily="34" charset="0"/>
            </a:endParaRPr>
          </a:p>
          <a:p>
            <a:r>
              <a:rPr lang="en-US" altLang="en-US" b="1" dirty="0">
                <a:latin typeface="Arial" panose="020B0604020202020204" pitchFamily="34" charset="0"/>
              </a:rPr>
              <a:t>DO:</a:t>
            </a:r>
            <a:r>
              <a:rPr lang="en-US" altLang="en-US" dirty="0">
                <a:latin typeface="Arial" panose="020B0604020202020204" pitchFamily="34" charset="0"/>
              </a:rPr>
              <a:t> Review the benefits of the CEDAC process. </a:t>
            </a:r>
          </a:p>
          <a:p>
            <a:r>
              <a:rPr lang="en-US" altLang="en-US" b="1" dirty="0">
                <a:latin typeface="Arial" panose="020B0604020202020204" pitchFamily="34" charset="0"/>
              </a:rPr>
              <a:t>ASK:</a:t>
            </a:r>
            <a:r>
              <a:rPr lang="en-US" altLang="en-US" dirty="0">
                <a:latin typeface="Arial" panose="020B0604020202020204" pitchFamily="34" charset="0"/>
              </a:rPr>
              <a:t> </a:t>
            </a:r>
            <a:r>
              <a:rPr lang="ja-JP" altLang="en-US" dirty="0">
                <a:latin typeface="Arial" panose="020B0604020202020204" pitchFamily="34" charset="0"/>
              </a:rPr>
              <a:t>“</a:t>
            </a:r>
            <a:r>
              <a:rPr lang="en-US" altLang="ja-JP" dirty="0">
                <a:latin typeface="Arial" panose="020B0604020202020204" pitchFamily="34" charset="0"/>
              </a:rPr>
              <a:t>Are there any other benefits that you can think of?</a:t>
            </a:r>
            <a:r>
              <a:rPr lang="ja-JP" altLang="en-US" dirty="0">
                <a:latin typeface="Arial" panose="020B0604020202020204" pitchFamily="34" charset="0"/>
              </a:rPr>
              <a:t>”</a:t>
            </a:r>
            <a:endParaRPr lang="en-US" altLang="ja-JP" dirty="0">
              <a:latin typeface="Arial" panose="020B0604020202020204" pitchFamily="34" charset="0"/>
            </a:endParaRPr>
          </a:p>
          <a:p>
            <a:r>
              <a:rPr lang="en-US" altLang="en-US" b="1" dirty="0">
                <a:latin typeface="Arial" panose="020B0604020202020204" pitchFamily="34" charset="0"/>
              </a:rPr>
              <a:t>DO:</a:t>
            </a:r>
            <a:r>
              <a:rPr lang="en-US" altLang="en-US" dirty="0">
                <a:latin typeface="Arial" panose="020B0604020202020204" pitchFamily="34" charset="0"/>
              </a:rPr>
              <a:t> Record any other benefits on a </a:t>
            </a:r>
            <a:r>
              <a:rPr lang="en-US" altLang="en-US" dirty="0" err="1">
                <a:latin typeface="Arial" panose="020B0604020202020204" pitchFamily="34" charset="0"/>
              </a:rPr>
              <a:t>chartpaper</a:t>
            </a:r>
            <a:r>
              <a:rPr lang="en-US" altLang="en-US" dirty="0">
                <a:latin typeface="Arial" panose="020B0604020202020204" pitchFamily="34" charset="0"/>
              </a:rPr>
              <a:t>.</a:t>
            </a:r>
          </a:p>
          <a:p>
            <a:endParaRPr lang="en-US" altLang="en-US" dirty="0">
              <a:latin typeface="Arial" panose="020B0604020202020204" pitchFamily="34" charset="0"/>
            </a:endParaRPr>
          </a:p>
          <a:p>
            <a:endParaRPr lang="en-US" altLang="en-US"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97</a:t>
            </a:fld>
            <a:endParaRPr lang="en-US"/>
          </a:p>
        </p:txBody>
      </p:sp>
    </p:spTree>
    <p:extLst>
      <p:ext uri="{BB962C8B-B14F-4D97-AF65-F5344CB8AC3E}">
        <p14:creationId xmlns:p14="http://schemas.microsoft.com/office/powerpoint/2010/main" val="787754492"/>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latin typeface="Arial" panose="020B0604020202020204" pitchFamily="34" charset="0"/>
              </a:rPr>
              <a:t>SAY:</a:t>
            </a:r>
            <a:r>
              <a:rPr lang="en-US" altLang="en-US" dirty="0">
                <a:latin typeface="Arial" panose="020B0604020202020204" pitchFamily="34" charset="0"/>
              </a:rPr>
              <a:t> </a:t>
            </a:r>
            <a:r>
              <a:rPr lang="ja-JP" altLang="en-US" dirty="0">
                <a:latin typeface="Arial" panose="020B0604020202020204" pitchFamily="34" charset="0"/>
              </a:rPr>
              <a:t>“</a:t>
            </a:r>
            <a:r>
              <a:rPr lang="en-US" altLang="ja-JP" dirty="0">
                <a:latin typeface="Arial" panose="020B0604020202020204" pitchFamily="34" charset="0"/>
              </a:rPr>
              <a:t>The process of improvement never truly ends.  What is good enough today will no always be so in the future.  The process of CEDAC and Problem Solving can and will be repeated until the root issue is resolved.</a:t>
            </a:r>
            <a:r>
              <a:rPr lang="ja-JP" altLang="en-US" dirty="0">
                <a:latin typeface="Arial" panose="020B0604020202020204" pitchFamily="34" charset="0"/>
              </a:rPr>
              <a:t>”</a:t>
            </a:r>
            <a:endParaRPr lang="en-US" altLang="ja-JP" dirty="0">
              <a:latin typeface="Arial" panose="020B0604020202020204" pitchFamily="34" charset="0"/>
            </a:endParaRPr>
          </a:p>
          <a:p>
            <a:r>
              <a:rPr lang="en-US" altLang="en-US" b="1" dirty="0">
                <a:latin typeface="Arial" panose="020B0604020202020204" pitchFamily="34" charset="0"/>
              </a:rPr>
              <a:t>(SAY if Six Sigma is well understood by audience):</a:t>
            </a:r>
            <a:r>
              <a:rPr lang="en-US" altLang="en-US" dirty="0">
                <a:latin typeface="Arial" panose="020B0604020202020204" pitchFamily="34" charset="0"/>
              </a:rPr>
              <a:t> </a:t>
            </a:r>
            <a:r>
              <a:rPr lang="ja-JP" altLang="en-US" dirty="0">
                <a:latin typeface="Arial" panose="020B0604020202020204" pitchFamily="34" charset="0"/>
              </a:rPr>
              <a:t>“</a:t>
            </a:r>
            <a:r>
              <a:rPr lang="en-US" altLang="ja-JP" dirty="0">
                <a:latin typeface="Arial" panose="020B0604020202020204" pitchFamily="34" charset="0"/>
              </a:rPr>
              <a:t>Much like the process of DMAIC in Six Sigma this method of variance reduction holds true to the same principles.</a:t>
            </a:r>
            <a:r>
              <a:rPr lang="ja-JP" altLang="en-US" dirty="0">
                <a:latin typeface="Arial" panose="020B0604020202020204" pitchFamily="34" charset="0"/>
              </a:rPr>
              <a:t>”</a:t>
            </a:r>
            <a:endParaRPr lang="en-US" altLang="ja-JP" dirty="0">
              <a:latin typeface="Arial" panose="020B0604020202020204" pitchFamily="34" charset="0"/>
            </a:endParaRPr>
          </a:p>
          <a:p>
            <a:r>
              <a:rPr lang="en-US" altLang="en-US" u="sng" dirty="0">
                <a:latin typeface="Arial" panose="020B0604020202020204" pitchFamily="34" charset="0"/>
              </a:rPr>
              <a:t>D</a:t>
            </a:r>
            <a:r>
              <a:rPr lang="en-US" altLang="en-US" dirty="0">
                <a:latin typeface="Arial" panose="020B0604020202020204" pitchFamily="34" charset="0"/>
              </a:rPr>
              <a:t>efine</a:t>
            </a:r>
          </a:p>
          <a:p>
            <a:r>
              <a:rPr lang="en-US" altLang="en-US" u="sng" dirty="0">
                <a:latin typeface="Arial" panose="020B0604020202020204" pitchFamily="34" charset="0"/>
              </a:rPr>
              <a:t>M</a:t>
            </a:r>
            <a:r>
              <a:rPr lang="en-US" altLang="en-US" dirty="0">
                <a:latin typeface="Arial" panose="020B0604020202020204" pitchFamily="34" charset="0"/>
              </a:rPr>
              <a:t>easure</a:t>
            </a:r>
          </a:p>
          <a:p>
            <a:r>
              <a:rPr lang="en-US" altLang="en-US" u="sng" dirty="0">
                <a:latin typeface="Arial" panose="020B0604020202020204" pitchFamily="34" charset="0"/>
              </a:rPr>
              <a:t>A</a:t>
            </a:r>
            <a:r>
              <a:rPr lang="en-US" altLang="en-US" dirty="0">
                <a:latin typeface="Arial" panose="020B0604020202020204" pitchFamily="34" charset="0"/>
              </a:rPr>
              <a:t>nalyze</a:t>
            </a:r>
          </a:p>
          <a:p>
            <a:r>
              <a:rPr lang="en-US" altLang="en-US" u="sng" dirty="0">
                <a:latin typeface="Arial" panose="020B0604020202020204" pitchFamily="34" charset="0"/>
              </a:rPr>
              <a:t>I</a:t>
            </a:r>
            <a:r>
              <a:rPr lang="en-US" altLang="en-US" dirty="0">
                <a:latin typeface="Arial" panose="020B0604020202020204" pitchFamily="34" charset="0"/>
              </a:rPr>
              <a:t>mprove</a:t>
            </a:r>
          </a:p>
          <a:p>
            <a:r>
              <a:rPr lang="en-US" altLang="en-US" u="sng" dirty="0">
                <a:latin typeface="Arial" panose="020B0604020202020204" pitchFamily="34" charset="0"/>
              </a:rPr>
              <a:t>C</a:t>
            </a:r>
            <a:r>
              <a:rPr lang="en-US" altLang="en-US" dirty="0">
                <a:latin typeface="Arial" panose="020B0604020202020204" pitchFamily="34" charset="0"/>
              </a:rPr>
              <a:t>ontrol</a:t>
            </a:r>
          </a:p>
          <a:p>
            <a:endParaRPr lang="en-US" altLang="en-US"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98</a:t>
            </a:fld>
            <a:endParaRPr lang="en-US"/>
          </a:p>
        </p:txBody>
      </p:sp>
    </p:spTree>
    <p:extLst>
      <p:ext uri="{BB962C8B-B14F-4D97-AF65-F5344CB8AC3E}">
        <p14:creationId xmlns:p14="http://schemas.microsoft.com/office/powerpoint/2010/main" val="152723536"/>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tLang="en-US" sz="800"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99</a:t>
            </a:fld>
            <a:endParaRPr lang="en-US"/>
          </a:p>
        </p:txBody>
      </p:sp>
    </p:spTree>
    <p:extLst>
      <p:ext uri="{BB962C8B-B14F-4D97-AF65-F5344CB8AC3E}">
        <p14:creationId xmlns:p14="http://schemas.microsoft.com/office/powerpoint/2010/main" val="2623993413"/>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100</a:t>
            </a:fld>
            <a:endParaRPr lang="en-US"/>
          </a:p>
        </p:txBody>
      </p:sp>
    </p:spTree>
    <p:extLst>
      <p:ext uri="{BB962C8B-B14F-4D97-AF65-F5344CB8AC3E}">
        <p14:creationId xmlns:p14="http://schemas.microsoft.com/office/powerpoint/2010/main" val="3438979671"/>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tLang="en-US"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101</a:t>
            </a:fld>
            <a:endParaRPr lang="en-US"/>
          </a:p>
        </p:txBody>
      </p:sp>
    </p:spTree>
    <p:extLst>
      <p:ext uri="{BB962C8B-B14F-4D97-AF65-F5344CB8AC3E}">
        <p14:creationId xmlns:p14="http://schemas.microsoft.com/office/powerpoint/2010/main" val="1983445817"/>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ECD8548-F1A2-4EDF-A416-5F2BB6B8F64C}" type="slidenum">
              <a:rPr lang="en-US" smtClean="0"/>
              <a:t>102</a:t>
            </a:fld>
            <a:endParaRPr lang="en-US"/>
          </a:p>
        </p:txBody>
      </p:sp>
    </p:spTree>
    <p:extLst>
      <p:ext uri="{BB962C8B-B14F-4D97-AF65-F5344CB8AC3E}">
        <p14:creationId xmlns:p14="http://schemas.microsoft.com/office/powerpoint/2010/main" val="242500677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pic>
        <p:nvPicPr>
          <p:cNvPr id="6" name="Picture 5" descr="Logo&#10;&#10;Description automatically generated">
            <a:extLst>
              <a:ext uri="{FF2B5EF4-FFF2-40B4-BE49-F238E27FC236}">
                <a16:creationId xmlns:a16="http://schemas.microsoft.com/office/drawing/2014/main" id="{7B85E90D-7DD7-92B5-E387-8C0441E41AC3}"/>
              </a:ext>
            </a:extLst>
          </p:cNvPr>
          <p:cNvPicPr>
            <a:picLocks noChangeAspect="1"/>
          </p:cNvPicPr>
          <p:nvPr userDrawn="1"/>
        </p:nvPicPr>
        <p:blipFill>
          <a:blip r:embed="rId2"/>
          <a:stretch>
            <a:fillRect/>
          </a:stretch>
        </p:blipFill>
        <p:spPr>
          <a:xfrm>
            <a:off x="2385391" y="1950112"/>
            <a:ext cx="7772400" cy="2590800"/>
          </a:xfrm>
          <a:prstGeom prst="rect">
            <a:avLst/>
          </a:prstGeom>
        </p:spPr>
      </p:pic>
    </p:spTree>
    <p:extLst>
      <p:ext uri="{BB962C8B-B14F-4D97-AF65-F5344CB8AC3E}">
        <p14:creationId xmlns:p14="http://schemas.microsoft.com/office/powerpoint/2010/main" val="1856233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6853604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pic>
        <p:nvPicPr>
          <p:cNvPr id="2" name="Picture 1" descr="Logo&#10;&#10;Description automatically generated">
            <a:extLst>
              <a:ext uri="{FF2B5EF4-FFF2-40B4-BE49-F238E27FC236}">
                <a16:creationId xmlns:a16="http://schemas.microsoft.com/office/drawing/2014/main" id="{DFA04139-8C44-65B7-CCE0-3C7273396743}"/>
              </a:ext>
            </a:extLst>
          </p:cNvPr>
          <p:cNvPicPr>
            <a:picLocks noChangeAspect="1"/>
          </p:cNvPicPr>
          <p:nvPr userDrawn="1"/>
        </p:nvPicPr>
        <p:blipFill>
          <a:blip r:embed="rId2"/>
          <a:stretch>
            <a:fillRect/>
          </a:stretch>
        </p:blipFill>
        <p:spPr>
          <a:xfrm>
            <a:off x="10041954" y="6012921"/>
            <a:ext cx="1825625" cy="365125"/>
          </a:xfrm>
          <a:prstGeom prst="rect">
            <a:avLst/>
          </a:prstGeom>
        </p:spPr>
      </p:pic>
    </p:spTree>
    <p:extLst>
      <p:ext uri="{BB962C8B-B14F-4D97-AF65-F5344CB8AC3E}">
        <p14:creationId xmlns:p14="http://schemas.microsoft.com/office/powerpoint/2010/main" val="134054630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B640B0-16F5-BFBE-E22F-812ED893EE45}"/>
              </a:ext>
            </a:extLst>
          </p:cNvPr>
          <p:cNvSpPr>
            <a:spLocks noGrp="1"/>
          </p:cNvSpPr>
          <p:nvPr>
            <p:ph type="ctrTitle"/>
          </p:nvPr>
        </p:nvSpPr>
        <p:spPr>
          <a:xfrm>
            <a:off x="1524000" y="1122363"/>
            <a:ext cx="9144000" cy="2387600"/>
          </a:xfrm>
        </p:spPr>
        <p:txBody>
          <a:bodyPr anchor="b"/>
          <a:lstStyle>
            <a:lvl1pPr algn="ctr">
              <a:defRPr sz="6000"/>
            </a:lvl1pPr>
          </a:lstStyle>
          <a:p>
            <a:r>
              <a:rPr lang="en-US" dirty="0"/>
              <a:t>Click to edit Master title style</a:t>
            </a:r>
          </a:p>
        </p:txBody>
      </p:sp>
      <p:sp>
        <p:nvSpPr>
          <p:cNvPr id="3" name="Subtitle 2">
            <a:extLst>
              <a:ext uri="{FF2B5EF4-FFF2-40B4-BE49-F238E27FC236}">
                <a16:creationId xmlns:a16="http://schemas.microsoft.com/office/drawing/2014/main" id="{A30DE2FD-1979-A3D6-90A4-45D744A02739}"/>
              </a:ext>
            </a:extLst>
          </p:cNvPr>
          <p:cNvSpPr>
            <a:spLocks noGrp="1"/>
          </p:cNvSpPr>
          <p:nvPr>
            <p:ph type="subTitle" idx="1"/>
          </p:nvPr>
        </p:nvSpPr>
        <p:spPr>
          <a:xfrm>
            <a:off x="1524000" y="3800722"/>
            <a:ext cx="9144000" cy="1457077"/>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pic>
        <p:nvPicPr>
          <p:cNvPr id="7" name="Picture 6">
            <a:extLst>
              <a:ext uri="{FF2B5EF4-FFF2-40B4-BE49-F238E27FC236}">
                <a16:creationId xmlns:a16="http://schemas.microsoft.com/office/drawing/2014/main" id="{79394B0F-E5B4-CFAF-7473-46BB2646C463}"/>
              </a:ext>
            </a:extLst>
          </p:cNvPr>
          <p:cNvPicPr>
            <a:picLocks noChangeAspect="1"/>
          </p:cNvPicPr>
          <p:nvPr userDrawn="1"/>
        </p:nvPicPr>
        <p:blipFill>
          <a:blip r:embed="rId2"/>
          <a:stretch>
            <a:fillRect/>
          </a:stretch>
        </p:blipFill>
        <p:spPr>
          <a:xfrm>
            <a:off x="4126380" y="3556319"/>
            <a:ext cx="3939240" cy="45719"/>
          </a:xfrm>
          <a:prstGeom prst="rect">
            <a:avLst/>
          </a:prstGeom>
        </p:spPr>
      </p:pic>
    </p:spTree>
    <p:extLst>
      <p:ext uri="{BB962C8B-B14F-4D97-AF65-F5344CB8AC3E}">
        <p14:creationId xmlns:p14="http://schemas.microsoft.com/office/powerpoint/2010/main" val="262606570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E36242-F70A-0032-2B4B-BCCF0734FAFB}"/>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D039E81F-378B-8CF2-E1C3-1D9054EF712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8" name="Straight Connector 7">
            <a:extLst>
              <a:ext uri="{FF2B5EF4-FFF2-40B4-BE49-F238E27FC236}">
                <a16:creationId xmlns:a16="http://schemas.microsoft.com/office/drawing/2014/main" id="{EDBCBB7B-054A-FE83-5F7C-FE4A1CDFEEBA}"/>
              </a:ext>
            </a:extLst>
          </p:cNvPr>
          <p:cNvCxnSpPr>
            <a:cxnSpLocks/>
          </p:cNvCxnSpPr>
          <p:nvPr userDrawn="1"/>
        </p:nvCxnSpPr>
        <p:spPr>
          <a:xfrm>
            <a:off x="838200" y="1690688"/>
            <a:ext cx="6656109" cy="0"/>
          </a:xfrm>
          <a:prstGeom prst="line">
            <a:avLst/>
          </a:prstGeom>
          <a:ln w="38100">
            <a:solidFill>
              <a:srgbClr val="EE3228"/>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1161152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1EA9C9-FDCA-934D-785B-BFD907843AD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7695437-1877-C6A2-EE04-3EF98092E16F}"/>
              </a:ext>
            </a:extLst>
          </p:cNvPr>
          <p:cNvSpPr>
            <a:spLocks noGrp="1"/>
          </p:cNvSpPr>
          <p:nvPr>
            <p:ph type="body" idx="1"/>
          </p:nvPr>
        </p:nvSpPr>
        <p:spPr>
          <a:xfrm>
            <a:off x="831850" y="4715123"/>
            <a:ext cx="10515600" cy="137452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14287208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A8C054-8592-E116-8DB0-D7814A8CDB6B}"/>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B35C802A-EC64-E4D9-44D3-54E728E3E9B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1EA5B75-CA16-4AC3-A34C-C3C4FF82FD7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9" name="Straight Connector 8">
            <a:extLst>
              <a:ext uri="{FF2B5EF4-FFF2-40B4-BE49-F238E27FC236}">
                <a16:creationId xmlns:a16="http://schemas.microsoft.com/office/drawing/2014/main" id="{23186D81-5D29-FE58-C442-6A6A0689DB5B}"/>
              </a:ext>
            </a:extLst>
          </p:cNvPr>
          <p:cNvCxnSpPr>
            <a:cxnSpLocks/>
          </p:cNvCxnSpPr>
          <p:nvPr userDrawn="1"/>
        </p:nvCxnSpPr>
        <p:spPr>
          <a:xfrm>
            <a:off x="838200" y="1690688"/>
            <a:ext cx="6656109" cy="0"/>
          </a:xfrm>
          <a:prstGeom prst="line">
            <a:avLst/>
          </a:prstGeom>
          <a:ln w="38100">
            <a:solidFill>
              <a:srgbClr val="EE3228"/>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705941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362F87-A7AE-9269-55EC-7B1C8A4D2FA0}"/>
              </a:ext>
            </a:extLst>
          </p:cNvPr>
          <p:cNvSpPr>
            <a:spLocks noGrp="1"/>
          </p:cNvSpPr>
          <p:nvPr>
            <p:ph type="title"/>
          </p:nvPr>
        </p:nvSpPr>
        <p:spPr>
          <a:xfrm>
            <a:off x="839788" y="668337"/>
            <a:ext cx="10515600" cy="1022351"/>
          </a:xfrm>
        </p:spPr>
        <p:txBody>
          <a:bodyPr/>
          <a:lstStyle/>
          <a:p>
            <a:r>
              <a:rPr lang="en-US" dirty="0"/>
              <a:t>Click to edit Master title style</a:t>
            </a:r>
          </a:p>
        </p:txBody>
      </p:sp>
      <p:sp>
        <p:nvSpPr>
          <p:cNvPr id="3" name="Text Placeholder 2">
            <a:extLst>
              <a:ext uri="{FF2B5EF4-FFF2-40B4-BE49-F238E27FC236}">
                <a16:creationId xmlns:a16="http://schemas.microsoft.com/office/drawing/2014/main" id="{23727D69-EB01-A889-0CC3-A64B4F7DAB1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1F1EC85-625B-CEAA-F97D-EF024B15F27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3D5D1D7-7D1D-2F5D-8D5E-152CC8269A9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9D830EE-92A6-15ED-D99F-35788F37AD9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0" name="Straight Connector 9">
            <a:extLst>
              <a:ext uri="{FF2B5EF4-FFF2-40B4-BE49-F238E27FC236}">
                <a16:creationId xmlns:a16="http://schemas.microsoft.com/office/drawing/2014/main" id="{74CBFE9C-CE1B-ED6E-1745-391F9496BE1D}"/>
              </a:ext>
            </a:extLst>
          </p:cNvPr>
          <p:cNvCxnSpPr>
            <a:cxnSpLocks/>
          </p:cNvCxnSpPr>
          <p:nvPr userDrawn="1"/>
        </p:nvCxnSpPr>
        <p:spPr>
          <a:xfrm>
            <a:off x="838200" y="1690688"/>
            <a:ext cx="6656109" cy="0"/>
          </a:xfrm>
          <a:prstGeom prst="line">
            <a:avLst/>
          </a:prstGeom>
          <a:ln w="38100">
            <a:solidFill>
              <a:srgbClr val="EE3228"/>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035150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CD9D87-BBC7-C5DC-191E-E5E1CA2BC2BE}"/>
              </a:ext>
            </a:extLst>
          </p:cNvPr>
          <p:cNvSpPr>
            <a:spLocks noGrp="1"/>
          </p:cNvSpPr>
          <p:nvPr>
            <p:ph type="title"/>
          </p:nvPr>
        </p:nvSpPr>
        <p:spPr/>
        <p:txBody>
          <a:bodyPr/>
          <a:lstStyle/>
          <a:p>
            <a:r>
              <a:rPr lang="en-US" dirty="0"/>
              <a:t>Click to edit Master title style</a:t>
            </a:r>
          </a:p>
        </p:txBody>
      </p:sp>
      <p:cxnSp>
        <p:nvCxnSpPr>
          <p:cNvPr id="6" name="Straight Connector 5">
            <a:extLst>
              <a:ext uri="{FF2B5EF4-FFF2-40B4-BE49-F238E27FC236}">
                <a16:creationId xmlns:a16="http://schemas.microsoft.com/office/drawing/2014/main" id="{7E55C65A-BA96-51C7-B6FE-07AB4FB9C96C}"/>
              </a:ext>
            </a:extLst>
          </p:cNvPr>
          <p:cNvCxnSpPr>
            <a:cxnSpLocks/>
          </p:cNvCxnSpPr>
          <p:nvPr userDrawn="1"/>
        </p:nvCxnSpPr>
        <p:spPr>
          <a:xfrm>
            <a:off x="838200" y="1690688"/>
            <a:ext cx="6656109" cy="0"/>
          </a:xfrm>
          <a:prstGeom prst="line">
            <a:avLst/>
          </a:prstGeom>
          <a:ln w="38100">
            <a:solidFill>
              <a:srgbClr val="EE3228"/>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1530271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FC6C847F-0B94-F947-B172-F99DB133759E}"/>
              </a:ext>
            </a:extLst>
          </p:cNvPr>
          <p:cNvSpPr>
            <a:spLocks noGrp="1"/>
          </p:cNvSpPr>
          <p:nvPr>
            <p:ph type="sldNum" sz="quarter" idx="11"/>
          </p:nvPr>
        </p:nvSpPr>
        <p:spPr/>
        <p:txBody>
          <a:bodyPr/>
          <a:lstStyle/>
          <a:p>
            <a:fld id="{CC6D4273-7FC1-0947-B9FE-19CB3C0D1FB6}" type="slidenum">
              <a:rPr lang="en-US" smtClean="0"/>
              <a:pPr/>
              <a:t>‹#›</a:t>
            </a:fld>
            <a:endParaRPr lang="en-US" dirty="0"/>
          </a:p>
        </p:txBody>
      </p:sp>
      <p:sp>
        <p:nvSpPr>
          <p:cNvPr id="7" name="TextBox 6">
            <a:extLst>
              <a:ext uri="{FF2B5EF4-FFF2-40B4-BE49-F238E27FC236}">
                <a16:creationId xmlns:a16="http://schemas.microsoft.com/office/drawing/2014/main" id="{5C21B1ED-B2E3-19AE-DDFC-B157A0140513}"/>
              </a:ext>
            </a:extLst>
          </p:cNvPr>
          <p:cNvSpPr txBox="1"/>
          <p:nvPr userDrawn="1"/>
        </p:nvSpPr>
        <p:spPr>
          <a:xfrm>
            <a:off x="4205176" y="6384780"/>
            <a:ext cx="4171934" cy="40011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0" i="0" dirty="0">
                <a:latin typeface="Roboto" panose="02000000000000000000" pitchFamily="2" charset="0"/>
                <a:ea typeface="Roboto" panose="02000000000000000000" pitchFamily="2" charset="0"/>
                <a:cs typeface="Roboto" panose="02000000000000000000" pitchFamily="2" charset="0"/>
              </a:rPr>
              <a:t>© Lean Horizons Consulting, LLC 2023. All Rights Reserved</a:t>
            </a:r>
          </a:p>
          <a:p>
            <a:pPr algn="ctr"/>
            <a:endParaRPr lang="en-US" sz="1000" b="0" i="0" dirty="0">
              <a:latin typeface="Roboto" panose="02000000000000000000" pitchFamily="2" charset="0"/>
              <a:ea typeface="Roboto" panose="02000000000000000000" pitchFamily="2" charset="0"/>
              <a:cs typeface="Roboto" panose="02000000000000000000" pitchFamily="2" charset="0"/>
            </a:endParaRPr>
          </a:p>
        </p:txBody>
      </p:sp>
    </p:spTree>
    <p:extLst>
      <p:ext uri="{BB962C8B-B14F-4D97-AF65-F5344CB8AC3E}">
        <p14:creationId xmlns:p14="http://schemas.microsoft.com/office/powerpoint/2010/main" val="206779714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55009C-FECA-9E9B-9F45-5710762AEB4B}"/>
              </a:ext>
            </a:extLst>
          </p:cNvPr>
          <p:cNvSpPr>
            <a:spLocks noGrp="1"/>
          </p:cNvSpPr>
          <p:nvPr>
            <p:ph type="title"/>
          </p:nvPr>
        </p:nvSpPr>
        <p:spPr>
          <a:xfrm>
            <a:off x="839788" y="457200"/>
            <a:ext cx="3932237" cy="1465029"/>
          </a:xfrm>
        </p:spPr>
        <p:txBody>
          <a:bodyPr anchor="b"/>
          <a:lstStyle>
            <a:lvl1pPr>
              <a:defRPr sz="3200"/>
            </a:lvl1pPr>
          </a:lstStyle>
          <a:p>
            <a:r>
              <a:rPr lang="en-US" dirty="0"/>
              <a:t>Click to edit Master title style</a:t>
            </a:r>
          </a:p>
        </p:txBody>
      </p:sp>
      <p:sp>
        <p:nvSpPr>
          <p:cNvPr id="3" name="Content Placeholder 2">
            <a:extLst>
              <a:ext uri="{FF2B5EF4-FFF2-40B4-BE49-F238E27FC236}">
                <a16:creationId xmlns:a16="http://schemas.microsoft.com/office/drawing/2014/main" id="{925B4662-A656-519F-E5DC-FEF8051A04B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C555F82-CA62-EC30-181A-37223E01FDD3}"/>
              </a:ext>
            </a:extLst>
          </p:cNvPr>
          <p:cNvSpPr>
            <a:spLocks noGrp="1"/>
          </p:cNvSpPr>
          <p:nvPr>
            <p:ph type="body" sz="half" idx="2"/>
          </p:nvPr>
        </p:nvSpPr>
        <p:spPr>
          <a:xfrm>
            <a:off x="839788" y="2146852"/>
            <a:ext cx="3932237" cy="3722136"/>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cxnSp>
        <p:nvCxnSpPr>
          <p:cNvPr id="8" name="Straight Connector 7">
            <a:extLst>
              <a:ext uri="{FF2B5EF4-FFF2-40B4-BE49-F238E27FC236}">
                <a16:creationId xmlns:a16="http://schemas.microsoft.com/office/drawing/2014/main" id="{EB026B9A-5C7E-C150-5C07-A68A167F0F67}"/>
              </a:ext>
            </a:extLst>
          </p:cNvPr>
          <p:cNvCxnSpPr>
            <a:cxnSpLocks/>
          </p:cNvCxnSpPr>
          <p:nvPr userDrawn="1"/>
        </p:nvCxnSpPr>
        <p:spPr>
          <a:xfrm>
            <a:off x="838200" y="1922229"/>
            <a:ext cx="3933825" cy="0"/>
          </a:xfrm>
          <a:prstGeom prst="line">
            <a:avLst/>
          </a:prstGeom>
          <a:ln w="38100">
            <a:solidFill>
              <a:srgbClr val="EE3228"/>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7922591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C35D53-C186-1B2C-FD72-2AC470B82098}"/>
              </a:ext>
            </a:extLst>
          </p:cNvPr>
          <p:cNvSpPr>
            <a:spLocks noGrp="1"/>
          </p:cNvSpPr>
          <p:nvPr>
            <p:ph type="title"/>
          </p:nvPr>
        </p:nvSpPr>
        <p:spPr>
          <a:xfrm>
            <a:off x="839788" y="457200"/>
            <a:ext cx="3932237" cy="1463045"/>
          </a:xfrm>
        </p:spPr>
        <p:txBody>
          <a:bodyPr anchor="b"/>
          <a:lstStyle>
            <a:lvl1pPr>
              <a:defRPr sz="3200"/>
            </a:lvl1pPr>
          </a:lstStyle>
          <a:p>
            <a:r>
              <a:rPr lang="en-US" dirty="0"/>
              <a:t>Click to edit Master title style</a:t>
            </a:r>
          </a:p>
        </p:txBody>
      </p:sp>
      <p:sp>
        <p:nvSpPr>
          <p:cNvPr id="3" name="Picture Placeholder 2">
            <a:extLst>
              <a:ext uri="{FF2B5EF4-FFF2-40B4-BE49-F238E27FC236}">
                <a16:creationId xmlns:a16="http://schemas.microsoft.com/office/drawing/2014/main" id="{8C7372F6-C6B1-D2F4-8DED-EF3C3DBEAA4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566E1FE-9DAE-4781-C70A-CF8F68AAFDD6}"/>
              </a:ext>
            </a:extLst>
          </p:cNvPr>
          <p:cNvSpPr>
            <a:spLocks noGrp="1"/>
          </p:cNvSpPr>
          <p:nvPr>
            <p:ph type="body" sz="half" idx="2"/>
          </p:nvPr>
        </p:nvSpPr>
        <p:spPr>
          <a:xfrm>
            <a:off x="839788" y="2148836"/>
            <a:ext cx="3932237" cy="3720151"/>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cxnSp>
        <p:nvCxnSpPr>
          <p:cNvPr id="8" name="Straight Connector 7">
            <a:extLst>
              <a:ext uri="{FF2B5EF4-FFF2-40B4-BE49-F238E27FC236}">
                <a16:creationId xmlns:a16="http://schemas.microsoft.com/office/drawing/2014/main" id="{6BBD52B6-C25E-E933-F2B7-D40B2BFDF83D}"/>
              </a:ext>
            </a:extLst>
          </p:cNvPr>
          <p:cNvCxnSpPr>
            <a:cxnSpLocks/>
          </p:cNvCxnSpPr>
          <p:nvPr userDrawn="1"/>
        </p:nvCxnSpPr>
        <p:spPr>
          <a:xfrm>
            <a:off x="838200" y="1920245"/>
            <a:ext cx="3933825" cy="0"/>
          </a:xfrm>
          <a:prstGeom prst="line">
            <a:avLst/>
          </a:prstGeom>
          <a:ln w="38100">
            <a:solidFill>
              <a:srgbClr val="EE3228"/>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8019482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4F5CEA-F0B2-6EAB-4435-59D188AF388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32B515F-CCC6-5F3D-26FA-AF419F9D87C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7" name="Straight Connector 6">
            <a:extLst>
              <a:ext uri="{FF2B5EF4-FFF2-40B4-BE49-F238E27FC236}">
                <a16:creationId xmlns:a16="http://schemas.microsoft.com/office/drawing/2014/main" id="{E155FD7A-35A4-E3BB-30E7-93993A9F2FCF}"/>
              </a:ext>
            </a:extLst>
          </p:cNvPr>
          <p:cNvCxnSpPr>
            <a:cxnSpLocks/>
          </p:cNvCxnSpPr>
          <p:nvPr userDrawn="1"/>
        </p:nvCxnSpPr>
        <p:spPr>
          <a:xfrm>
            <a:off x="838200" y="1690688"/>
            <a:ext cx="6656109" cy="0"/>
          </a:xfrm>
          <a:prstGeom prst="line">
            <a:avLst/>
          </a:prstGeom>
          <a:ln w="38100">
            <a:solidFill>
              <a:srgbClr val="EE3228"/>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2286017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6EEA24E-3139-367F-63CD-6BE14639C42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2D504B8-9AC5-F3B2-2873-A2C23446016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9732899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2.png"/><Relationship Id="rId2" Type="http://schemas.openxmlformats.org/officeDocument/2006/relationships/slideLayout" Target="../slideLayouts/slideLayout2.xml"/><Relationship Id="rId16" Type="http://schemas.openxmlformats.org/officeDocument/2006/relationships/image" Target="../media/image1.jp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FC7573B6-84E2-B075-59F6-13B735C1EA0C}"/>
              </a:ext>
            </a:extLst>
          </p:cNvPr>
          <p:cNvPicPr>
            <a:picLocks noChangeAspect="1"/>
          </p:cNvPicPr>
          <p:nvPr userDrawn="1"/>
        </p:nvPicPr>
        <p:blipFill>
          <a:blip r:embed="rId16"/>
          <a:srcRect/>
          <a:stretch/>
        </p:blipFill>
        <p:spPr>
          <a:xfrm>
            <a:off x="0" y="0"/>
            <a:ext cx="12192000" cy="6858000"/>
          </a:xfrm>
          <a:prstGeom prst="rect">
            <a:avLst/>
          </a:prstGeom>
        </p:spPr>
      </p:pic>
      <p:sp>
        <p:nvSpPr>
          <p:cNvPr id="2" name="Title Placeholder 1">
            <a:extLst>
              <a:ext uri="{FF2B5EF4-FFF2-40B4-BE49-F238E27FC236}">
                <a16:creationId xmlns:a16="http://schemas.microsoft.com/office/drawing/2014/main" id="{AF899C9A-A2FC-CD4A-1E66-538BA9DCD182}"/>
              </a:ext>
            </a:extLst>
          </p:cNvPr>
          <p:cNvSpPr>
            <a:spLocks noGrp="1"/>
          </p:cNvSpPr>
          <p:nvPr>
            <p:ph type="title"/>
          </p:nvPr>
        </p:nvSpPr>
        <p:spPr>
          <a:xfrm>
            <a:off x="838200" y="681037"/>
            <a:ext cx="10515600" cy="1009651"/>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F5BEC040-D756-ECEA-9BEA-816A77F6A3E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a:extLst>
              <a:ext uri="{FF2B5EF4-FFF2-40B4-BE49-F238E27FC236}">
                <a16:creationId xmlns:a16="http://schemas.microsoft.com/office/drawing/2014/main" id="{0655B500-689F-3416-FFFA-6EFE369BF707}"/>
              </a:ext>
            </a:extLst>
          </p:cNvPr>
          <p:cNvSpPr>
            <a:spLocks noGrp="1"/>
          </p:cNvSpPr>
          <p:nvPr>
            <p:ph type="sldNum" sz="quarter" idx="4"/>
          </p:nvPr>
        </p:nvSpPr>
        <p:spPr>
          <a:xfrm>
            <a:off x="8595078" y="6333148"/>
            <a:ext cx="2743200" cy="365125"/>
          </a:xfrm>
          <a:prstGeom prst="rect">
            <a:avLst/>
          </a:prstGeom>
        </p:spPr>
        <p:txBody>
          <a:bodyPr vert="horz" lIns="91440" tIns="45720" rIns="91440" bIns="45720" rtlCol="0" anchor="ctr"/>
          <a:lstStyle>
            <a:lvl1pPr algn="r">
              <a:defRPr sz="1200">
                <a:solidFill>
                  <a:schemeClr val="tx1"/>
                </a:solidFill>
              </a:defRPr>
            </a:lvl1pPr>
          </a:lstStyle>
          <a:p>
            <a:fld id="{CC6D4273-7FC1-0947-B9FE-19CB3C0D1FB6}" type="slidenum">
              <a:rPr lang="en-US" smtClean="0"/>
              <a:pPr/>
              <a:t>‹#›</a:t>
            </a:fld>
            <a:endParaRPr lang="en-US" dirty="0"/>
          </a:p>
        </p:txBody>
      </p:sp>
      <p:pic>
        <p:nvPicPr>
          <p:cNvPr id="10" name="Picture 9" descr="Logo&#10;&#10;Description automatically generated">
            <a:extLst>
              <a:ext uri="{FF2B5EF4-FFF2-40B4-BE49-F238E27FC236}">
                <a16:creationId xmlns:a16="http://schemas.microsoft.com/office/drawing/2014/main" id="{83AB58F5-18C5-C368-94F4-CC4D543C8982}"/>
              </a:ext>
            </a:extLst>
          </p:cNvPr>
          <p:cNvPicPr>
            <a:picLocks noChangeAspect="1"/>
          </p:cNvPicPr>
          <p:nvPr userDrawn="1"/>
        </p:nvPicPr>
        <p:blipFill>
          <a:blip r:embed="rId17"/>
          <a:stretch>
            <a:fillRect/>
          </a:stretch>
        </p:blipFill>
        <p:spPr>
          <a:xfrm>
            <a:off x="10650147" y="311856"/>
            <a:ext cx="1376262" cy="275252"/>
          </a:xfrm>
          <a:prstGeom prst="rect">
            <a:avLst/>
          </a:prstGeom>
        </p:spPr>
      </p:pic>
      <p:cxnSp>
        <p:nvCxnSpPr>
          <p:cNvPr id="16" name="Straight Connector 15">
            <a:extLst>
              <a:ext uri="{FF2B5EF4-FFF2-40B4-BE49-F238E27FC236}">
                <a16:creationId xmlns:a16="http://schemas.microsoft.com/office/drawing/2014/main" id="{BFFEF531-ADF4-AB70-CB0F-227DD4FA1B4F}"/>
              </a:ext>
            </a:extLst>
          </p:cNvPr>
          <p:cNvCxnSpPr/>
          <p:nvPr userDrawn="1"/>
        </p:nvCxnSpPr>
        <p:spPr>
          <a:xfrm>
            <a:off x="838200" y="6382347"/>
            <a:ext cx="10515599" cy="0"/>
          </a:xfrm>
          <a:prstGeom prst="line">
            <a:avLst/>
          </a:prstGeom>
          <a:ln w="254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47AF5F83-88DF-460F-82C5-C2709D4DF5D2}"/>
              </a:ext>
            </a:extLst>
          </p:cNvPr>
          <p:cNvSpPr txBox="1"/>
          <p:nvPr userDrawn="1"/>
        </p:nvSpPr>
        <p:spPr>
          <a:xfrm>
            <a:off x="838200" y="6389310"/>
            <a:ext cx="4171934" cy="246221"/>
          </a:xfrm>
          <a:prstGeom prst="rect">
            <a:avLst/>
          </a:prstGeom>
          <a:noFill/>
        </p:spPr>
        <p:txBody>
          <a:bodyPr wrap="square" rtlCol="0">
            <a:spAutoFit/>
          </a:bodyPr>
          <a:lstStyle/>
          <a:p>
            <a:r>
              <a:rPr lang="en-US" sz="1000" dirty="0"/>
              <a:t>CEDAC_MFG PRESENTATION ENG REV3.0</a:t>
            </a:r>
          </a:p>
        </p:txBody>
      </p:sp>
      <p:sp>
        <p:nvSpPr>
          <p:cNvPr id="8" name="TextBox 7">
            <a:extLst>
              <a:ext uri="{FF2B5EF4-FFF2-40B4-BE49-F238E27FC236}">
                <a16:creationId xmlns:a16="http://schemas.microsoft.com/office/drawing/2014/main" id="{76B0F1ED-1C44-DFD6-E7DA-038409D9167D}"/>
              </a:ext>
            </a:extLst>
          </p:cNvPr>
          <p:cNvSpPr txBox="1"/>
          <p:nvPr userDrawn="1"/>
        </p:nvSpPr>
        <p:spPr>
          <a:xfrm>
            <a:off x="4205176" y="6384780"/>
            <a:ext cx="4171934" cy="40011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0" i="0" dirty="0">
                <a:latin typeface="Roboto" panose="02000000000000000000" pitchFamily="2" charset="0"/>
                <a:ea typeface="Roboto" panose="02000000000000000000" pitchFamily="2" charset="0"/>
                <a:cs typeface="Roboto" panose="02000000000000000000" pitchFamily="2" charset="0"/>
              </a:rPr>
              <a:t>© Lean Horizons Consulting, LLC 2023. All Rights Reserved</a:t>
            </a:r>
          </a:p>
          <a:p>
            <a:pPr algn="ctr"/>
            <a:endParaRPr lang="en-US" sz="1000" b="0" i="0" dirty="0">
              <a:latin typeface="Roboto" panose="02000000000000000000" pitchFamily="2" charset="0"/>
              <a:ea typeface="Roboto" panose="02000000000000000000" pitchFamily="2" charset="0"/>
              <a:cs typeface="Roboto" panose="02000000000000000000" pitchFamily="2" charset="0"/>
            </a:endParaRPr>
          </a:p>
        </p:txBody>
      </p:sp>
    </p:spTree>
    <p:extLst>
      <p:ext uri="{BB962C8B-B14F-4D97-AF65-F5344CB8AC3E}">
        <p14:creationId xmlns:p14="http://schemas.microsoft.com/office/powerpoint/2010/main" val="3092232385"/>
      </p:ext>
    </p:extLst>
  </p:cSld>
  <p:clrMap bg1="lt1" tx1="dk1" bg2="lt2" tx2="dk2" accent1="accent1" accent2="accent2" accent3="accent3" accent4="accent4" accent5="accent5" accent6="accent6" hlink="hlink" folHlink="folHlink"/>
  <p:sldLayoutIdLst>
    <p:sldLayoutId id="2147483660" r:id="rId1"/>
    <p:sldLayoutId id="2147483661" r:id="rId2"/>
    <p:sldLayoutId id="2147483662" r:id="rId3"/>
    <p:sldLayoutId id="2147483649" r:id="rId4"/>
    <p:sldLayoutId id="2147483650" r:id="rId5"/>
    <p:sldLayoutId id="2147483651" r:id="rId6"/>
    <p:sldLayoutId id="2147483652" r:id="rId7"/>
    <p:sldLayoutId id="2147483653" r:id="rId8"/>
    <p:sldLayoutId id="2147483654" r:id="rId9"/>
    <p:sldLayoutId id="2147483655" r:id="rId10"/>
    <p:sldLayoutId id="2147483656" r:id="rId11"/>
    <p:sldLayoutId id="2147483657" r:id="rId12"/>
    <p:sldLayoutId id="2147483658" r:id="rId13"/>
    <p:sldLayoutId id="2147483659" r:id="rId14"/>
  </p:sldLayoutIdLst>
  <p:hf hdr="0" ftr="0" dt="0"/>
  <p:txStyles>
    <p:titleStyle>
      <a:lvl1pPr algn="l" defTabSz="914400" rtl="0" eaLnBrk="1" latinLnBrk="0" hangingPunct="1">
        <a:lnSpc>
          <a:spcPct val="90000"/>
        </a:lnSpc>
        <a:spcBef>
          <a:spcPct val="0"/>
        </a:spcBef>
        <a:buNone/>
        <a:defRPr sz="4400" b="0" i="0" kern="1200">
          <a:solidFill>
            <a:schemeClr val="tx1"/>
          </a:solidFill>
          <a:latin typeface="Roboto Medium" panose="02000000000000000000" pitchFamily="2" charset="0"/>
          <a:ea typeface="Roboto Medium" panose="02000000000000000000" pitchFamily="2" charset="0"/>
          <a:cs typeface="Roboto Medium" panose="02000000000000000000" pitchFamily="2"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Roboto" panose="02000000000000000000" pitchFamily="2" charset="0"/>
          <a:ea typeface="Roboto" panose="02000000000000000000" pitchFamily="2" charset="0"/>
          <a:cs typeface="Roboto" panose="02000000000000000000"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Roboto" panose="02000000000000000000" pitchFamily="2" charset="0"/>
          <a:ea typeface="Roboto" panose="02000000000000000000" pitchFamily="2" charset="0"/>
          <a:cs typeface="Roboto" panose="02000000000000000000"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Roboto" panose="02000000000000000000" pitchFamily="2" charset="0"/>
          <a:ea typeface="Roboto" panose="02000000000000000000" pitchFamily="2" charset="0"/>
          <a:cs typeface="Roboto" panose="02000000000000000000"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Roboto" panose="02000000000000000000"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Roboto" panose="02000000000000000000"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notesSlide" Target="../notesSlides/notesSlide2.xml"/><Relationship Id="rId1" Type="http://schemas.openxmlformats.org/officeDocument/2006/relationships/slideLayout" Target="../slideLayouts/slideLayout10.xml"/><Relationship Id="rId4" Type="http://schemas.openxmlformats.org/officeDocument/2006/relationships/image" Target="../media/image5.gif"/></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0.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6.xml"/><Relationship Id="rId1" Type="http://schemas.openxmlformats.org/officeDocument/2006/relationships/slideLayout" Target="../slideLayouts/slideLayout9.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9.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9.xml"/></Relationships>
</file>

<file path=ppt/slides/_rels/slide28.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9.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5.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9.xml"/></Relationships>
</file>

<file path=ppt/slides/_rels/slide38.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notesSlide" Target="../notesSlides/notesSlide38.xml"/><Relationship Id="rId1" Type="http://schemas.openxmlformats.org/officeDocument/2006/relationships/slideLayout" Target="../slideLayouts/slideLayout7.xml"/><Relationship Id="rId4" Type="http://schemas.openxmlformats.org/officeDocument/2006/relationships/image" Target="../media/image9.emf"/></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5.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5.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5.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5.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9.xml"/></Relationships>
</file>

<file path=ppt/slides/_rels/slide45.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notesSlide" Target="../notesSlides/notesSlide45.xml"/><Relationship Id="rId1" Type="http://schemas.openxmlformats.org/officeDocument/2006/relationships/slideLayout" Target="../slideLayouts/slideLayout9.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9.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5.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5.xml"/></Relationships>
</file>

<file path=ppt/slides/_rels/slide50.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50.xml"/><Relationship Id="rId1" Type="http://schemas.openxmlformats.org/officeDocument/2006/relationships/slideLayout" Target="../slideLayouts/slideLayout5.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5.xml"/></Relationships>
</file>

<file path=ppt/slides/_rels/slide52.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52.xml"/><Relationship Id="rId1" Type="http://schemas.openxmlformats.org/officeDocument/2006/relationships/slideLayout" Target="../slideLayouts/slideLayout5.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5.xml"/></Relationships>
</file>

<file path=ppt/slides/_rels/slide54.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54.xml"/><Relationship Id="rId1" Type="http://schemas.openxmlformats.org/officeDocument/2006/relationships/slideLayout" Target="../slideLayouts/slideLayout5.xml"/></Relationships>
</file>

<file path=ppt/slides/_rels/slide55.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55.xml"/><Relationship Id="rId1" Type="http://schemas.openxmlformats.org/officeDocument/2006/relationships/slideLayout" Target="../slideLayouts/slideLayout5.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9.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5.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9.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5.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5.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5.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5.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5.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5.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9.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9.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5.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5.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5.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5.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5.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5.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5.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5.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9.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5.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9.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9.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5.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5.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5.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5.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5.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9.xml"/></Relationships>
</file>

<file path=ppt/slides/_rels/slide88.xml.rels><?xml version="1.0" encoding="UTF-8" standalone="yes"?>
<Relationships xmlns="http://schemas.openxmlformats.org/package/2006/relationships"><Relationship Id="rId3" Type="http://schemas.openxmlformats.org/officeDocument/2006/relationships/image" Target="../media/image15.emf"/><Relationship Id="rId2" Type="http://schemas.openxmlformats.org/officeDocument/2006/relationships/notesSlide" Target="../notesSlides/notesSlide88.xml"/><Relationship Id="rId1" Type="http://schemas.openxmlformats.org/officeDocument/2006/relationships/slideLayout" Target="../slideLayouts/slideLayout5.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89.xml"/><Relationship Id="rId1" Type="http://schemas.openxmlformats.org/officeDocument/2006/relationships/slideLayout" Target="../slideLayouts/slideLayout9.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90.xml"/><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91.xml"/><Relationship Id="rId1" Type="http://schemas.openxmlformats.org/officeDocument/2006/relationships/slideLayout" Target="../slideLayouts/slideLayout5.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92.xml"/><Relationship Id="rId1" Type="http://schemas.openxmlformats.org/officeDocument/2006/relationships/slideLayout" Target="../slideLayouts/slideLayout5.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93.xml"/><Relationship Id="rId1" Type="http://schemas.openxmlformats.org/officeDocument/2006/relationships/slideLayout" Target="../slideLayouts/slideLayout5.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94.xml"/><Relationship Id="rId1" Type="http://schemas.openxmlformats.org/officeDocument/2006/relationships/slideLayout" Target="../slideLayouts/slideLayout9.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95.xml"/><Relationship Id="rId1" Type="http://schemas.openxmlformats.org/officeDocument/2006/relationships/slideLayout" Target="../slideLayouts/slideLayout5.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96.xml"/><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97.xml"/><Relationship Id="rId1" Type="http://schemas.openxmlformats.org/officeDocument/2006/relationships/slideLayout" Target="../slideLayouts/slideLayout5.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98.xml"/><Relationship Id="rId1" Type="http://schemas.openxmlformats.org/officeDocument/2006/relationships/slideLayout" Target="../slideLayouts/slideLayout5.xml"/></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99.xml"/><Relationship Id="rId1" Type="http://schemas.openxmlformats.org/officeDocument/2006/relationships/slideLayout" Target="../slideLayouts/slideLayout9.xml"/></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100.xml"/><Relationship Id="rId1" Type="http://schemas.openxmlformats.org/officeDocument/2006/relationships/slideLayout" Target="../slideLayouts/slideLayout4.xml"/></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101.xml"/><Relationship Id="rId1" Type="http://schemas.openxmlformats.org/officeDocument/2006/relationships/slideLayout" Target="../slideLayouts/slideLayout5.xml"/></Relationships>
</file>

<file path=ppt/slides/_rels/slide102.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notesSlide" Target="../notesSlides/notesSlide102.xml"/><Relationship Id="rId1" Type="http://schemas.openxmlformats.org/officeDocument/2006/relationships/slideLayout" Target="../slideLayouts/slideLayout10.xml"/><Relationship Id="rId4" Type="http://schemas.openxmlformats.org/officeDocument/2006/relationships/image" Target="../media/image5.gi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9B60FA6-6E24-C6E2-C35D-A4139BCE2E8B}"/>
              </a:ext>
            </a:extLst>
          </p:cNvPr>
          <p:cNvPicPr>
            <a:picLocks noChangeAspect="1"/>
          </p:cNvPicPr>
          <p:nvPr/>
        </p:nvPicPr>
        <p:blipFill>
          <a:blip r:embed="rId3"/>
          <a:stretch>
            <a:fillRect/>
          </a:stretch>
        </p:blipFill>
        <p:spPr>
          <a:xfrm>
            <a:off x="4747929" y="4846192"/>
            <a:ext cx="2696138" cy="45719"/>
          </a:xfrm>
          <a:prstGeom prst="rect">
            <a:avLst/>
          </a:prstGeom>
        </p:spPr>
      </p:pic>
      <p:sp>
        <p:nvSpPr>
          <p:cNvPr id="5" name="TextBox 4">
            <a:extLst>
              <a:ext uri="{FF2B5EF4-FFF2-40B4-BE49-F238E27FC236}">
                <a16:creationId xmlns:a16="http://schemas.microsoft.com/office/drawing/2014/main" id="{0BF4BEED-3D12-D343-768A-9E83F9558AE0}"/>
              </a:ext>
            </a:extLst>
          </p:cNvPr>
          <p:cNvSpPr txBox="1"/>
          <p:nvPr/>
        </p:nvSpPr>
        <p:spPr>
          <a:xfrm>
            <a:off x="668594" y="4138306"/>
            <a:ext cx="10746658" cy="646331"/>
          </a:xfrm>
          <a:prstGeom prst="rect">
            <a:avLst/>
          </a:prstGeom>
          <a:noFill/>
        </p:spPr>
        <p:txBody>
          <a:bodyPr wrap="square" rtlCol="0">
            <a:spAutoFit/>
          </a:bodyPr>
          <a:lstStyle/>
          <a:p>
            <a:pPr algn="ctr"/>
            <a:r>
              <a:rPr lang="en-US" sz="3600" dirty="0">
                <a:latin typeface="Roboto" panose="02000000000000000000" pitchFamily="2" charset="0"/>
                <a:ea typeface="Roboto" panose="02000000000000000000" pitchFamily="2" charset="0"/>
                <a:cs typeface="Roboto" panose="02000000000000000000" pitchFamily="2" charset="0"/>
              </a:rPr>
              <a:t>CEDAC</a:t>
            </a:r>
          </a:p>
        </p:txBody>
      </p:sp>
      <p:sp>
        <p:nvSpPr>
          <p:cNvPr id="3" name="Slide Number Placeholder 2">
            <a:extLst>
              <a:ext uri="{FF2B5EF4-FFF2-40B4-BE49-F238E27FC236}">
                <a16:creationId xmlns:a16="http://schemas.microsoft.com/office/drawing/2014/main" id="{DCEF716D-CC64-6765-89C4-B03733484518}"/>
              </a:ext>
            </a:extLst>
          </p:cNvPr>
          <p:cNvSpPr>
            <a:spLocks noGrp="1"/>
          </p:cNvSpPr>
          <p:nvPr>
            <p:ph type="sldNum" sz="quarter" idx="4"/>
          </p:nvPr>
        </p:nvSpPr>
        <p:spPr>
          <a:xfrm>
            <a:off x="8595078" y="6386632"/>
            <a:ext cx="2743200" cy="331932"/>
          </a:xfrm>
          <a:prstGeom prst="rect">
            <a:avLst/>
          </a:prstGeom>
        </p:spPr>
        <p:txBody>
          <a:bodyPr vert="horz" lIns="91440" tIns="45720" rIns="91440" bIns="45720" rtlCol="0" anchor="ctr"/>
          <a:lstStyle>
            <a:defPPr>
              <a:defRPr lang="en-US"/>
            </a:defPPr>
            <a:lvl1pPr marL="0" algn="r" defTabSz="914400" rtl="0" eaLnBrk="1" latinLnBrk="0" hangingPunct="1">
              <a:defRPr sz="10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C6D4273-7FC1-0947-B9FE-19CB3C0D1FB6}" type="slidenum">
              <a:rPr lang="en-US" smtClean="0"/>
              <a:pPr/>
              <a:t>1</a:t>
            </a:fld>
            <a:endParaRPr lang="en-US"/>
          </a:p>
        </p:txBody>
      </p:sp>
      <p:sp>
        <p:nvSpPr>
          <p:cNvPr id="2" name="Subtitle 2">
            <a:extLst>
              <a:ext uri="{FF2B5EF4-FFF2-40B4-BE49-F238E27FC236}">
                <a16:creationId xmlns:a16="http://schemas.microsoft.com/office/drawing/2014/main" id="{A2970FE6-0D80-3C2D-192E-43B873BAE6AF}"/>
              </a:ext>
            </a:extLst>
          </p:cNvPr>
          <p:cNvSpPr txBox="1">
            <a:spLocks/>
          </p:cNvSpPr>
          <p:nvPr/>
        </p:nvSpPr>
        <p:spPr>
          <a:xfrm>
            <a:off x="1523998" y="4953466"/>
            <a:ext cx="9144000" cy="145707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Roboto" panose="02000000000000000000" pitchFamily="2" charset="0"/>
                <a:ea typeface="Roboto" panose="02000000000000000000" pitchFamily="2" charset="0"/>
                <a:cs typeface="Roboto" panose="02000000000000000000"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Roboto" panose="02000000000000000000" pitchFamily="2" charset="0"/>
                <a:ea typeface="Roboto" panose="02000000000000000000" pitchFamily="2" charset="0"/>
                <a:cs typeface="Roboto" panose="02000000000000000000"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Roboto" panose="02000000000000000000" pitchFamily="2" charset="0"/>
                <a:ea typeface="Roboto" panose="02000000000000000000" pitchFamily="2" charset="0"/>
                <a:cs typeface="Roboto" panose="02000000000000000000"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Roboto" panose="02000000000000000000"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Roboto" panose="02000000000000000000"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dirty="0"/>
              <a:t>Cause and Effect Diagram with the Addition of Cards</a:t>
            </a:r>
          </a:p>
        </p:txBody>
      </p:sp>
    </p:spTree>
    <p:extLst>
      <p:ext uri="{BB962C8B-B14F-4D97-AF65-F5344CB8AC3E}">
        <p14:creationId xmlns:p14="http://schemas.microsoft.com/office/powerpoint/2010/main" val="5527953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301234-A0AA-5598-26B5-033CE6FE23E5}"/>
              </a:ext>
            </a:extLst>
          </p:cNvPr>
          <p:cNvSpPr txBox="1">
            <a:spLocks/>
          </p:cNvSpPr>
          <p:nvPr/>
        </p:nvSpPr>
        <p:spPr>
          <a:xfrm>
            <a:off x="606705" y="793843"/>
            <a:ext cx="10515600" cy="1022351"/>
          </a:xfrm>
          <a:prstGeom prst="rect">
            <a:avLst/>
          </a:prstGeom>
        </p:spPr>
        <p:txBody>
          <a:bodyPr lIns="91440" tIns="45720" rIns="91440" bIns="45720" anchor="t"/>
          <a:lstStyle>
            <a:lvl1pPr algn="l" defTabSz="914400" rtl="0" eaLnBrk="1" latinLnBrk="0" hangingPunct="1">
              <a:lnSpc>
                <a:spcPct val="90000"/>
              </a:lnSpc>
              <a:spcBef>
                <a:spcPct val="0"/>
              </a:spcBef>
              <a:buNone/>
              <a:defRPr sz="4400" kern="1200">
                <a:solidFill>
                  <a:schemeClr val="bg1"/>
                </a:solidFill>
                <a:latin typeface="Baskerville" panose="02020502070401020303" pitchFamily="18" charset="0"/>
                <a:ea typeface="Baskerville" panose="02020502070401020303" pitchFamily="18" charset="0"/>
                <a:cs typeface="+mj-cs"/>
              </a:defRPr>
            </a:lvl1pPr>
          </a:lstStyle>
          <a:p>
            <a:r>
              <a:rPr lang="en-US" dirty="0">
                <a:solidFill>
                  <a:schemeClr val="tx1"/>
                </a:solidFill>
                <a:latin typeface="Roboto Medium"/>
                <a:cs typeface="Roboto"/>
              </a:rPr>
              <a:t>Other</a:t>
            </a:r>
            <a:r>
              <a:rPr lang="en-US" dirty="0">
                <a:solidFill>
                  <a:schemeClr val="tx1"/>
                </a:solidFill>
                <a:latin typeface="Roboto Medium"/>
                <a:cs typeface="Roboto Medium"/>
              </a:rPr>
              <a:t> Modules In This Series:</a:t>
            </a:r>
          </a:p>
        </p:txBody>
      </p:sp>
      <p:pic>
        <p:nvPicPr>
          <p:cNvPr id="3" name="Picture 2">
            <a:extLst>
              <a:ext uri="{FF2B5EF4-FFF2-40B4-BE49-F238E27FC236}">
                <a16:creationId xmlns:a16="http://schemas.microsoft.com/office/drawing/2014/main" id="{5DF3825E-B951-729D-1675-8A890DAAC766}"/>
              </a:ext>
            </a:extLst>
          </p:cNvPr>
          <p:cNvPicPr>
            <a:picLocks noChangeAspect="1"/>
          </p:cNvPicPr>
          <p:nvPr/>
        </p:nvPicPr>
        <p:blipFill>
          <a:blip r:embed="rId3"/>
          <a:stretch>
            <a:fillRect/>
          </a:stretch>
        </p:blipFill>
        <p:spPr>
          <a:xfrm>
            <a:off x="605117" y="1638489"/>
            <a:ext cx="3939240" cy="45719"/>
          </a:xfrm>
          <a:prstGeom prst="rect">
            <a:avLst/>
          </a:prstGeom>
        </p:spPr>
      </p:pic>
      <p:sp>
        <p:nvSpPr>
          <p:cNvPr id="4" name="Content Placeholder 3">
            <a:extLst>
              <a:ext uri="{FF2B5EF4-FFF2-40B4-BE49-F238E27FC236}">
                <a16:creationId xmlns:a16="http://schemas.microsoft.com/office/drawing/2014/main" id="{C9914E55-E875-9B78-1E43-35D121FD9751}"/>
              </a:ext>
            </a:extLst>
          </p:cNvPr>
          <p:cNvSpPr txBox="1">
            <a:spLocks/>
          </p:cNvSpPr>
          <p:nvPr/>
        </p:nvSpPr>
        <p:spPr>
          <a:xfrm>
            <a:off x="5839258" y="1166648"/>
            <a:ext cx="5157787" cy="368458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1"/>
                </a:solidFill>
                <a:latin typeface="Roboto" panose="02000000000000000000" pitchFamily="2" charset="0"/>
                <a:ea typeface="Roboto" panose="02000000000000000000" pitchFamily="2" charset="0"/>
                <a:cs typeface="Roboto" panose="02000000000000000000"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Roboto" panose="02000000000000000000" pitchFamily="2" charset="0"/>
                <a:ea typeface="Roboto" panose="02000000000000000000" pitchFamily="2" charset="0"/>
                <a:cs typeface="Roboto" panose="02000000000000000000"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Roboto" panose="02000000000000000000" pitchFamily="2" charset="0"/>
                <a:ea typeface="Roboto" panose="02000000000000000000" pitchFamily="2" charset="0"/>
                <a:cs typeface="Roboto" panose="02000000000000000000"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Roboto" panose="02000000000000000000" pitchFamily="2" charset="0"/>
                <a:ea typeface="Roboto" panose="02000000000000000000" pitchFamily="2" charset="0"/>
                <a:cs typeface="Roboto" panose="02000000000000000000"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Roboto" panose="02000000000000000000" pitchFamily="2" charset="0"/>
                <a:ea typeface="Roboto" panose="02000000000000000000" pitchFamily="2" charset="0"/>
                <a:cs typeface="Roboto" panose="02000000000000000000"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None/>
            </a:pPr>
            <a:r>
              <a:rPr lang="en-US" sz="1400" dirty="0">
                <a:solidFill>
                  <a:schemeClr val="tx1"/>
                </a:solidFill>
              </a:rPr>
              <a:t>5S</a:t>
            </a:r>
          </a:p>
          <a:p>
            <a:pPr marL="0" indent="0" algn="r">
              <a:buNone/>
            </a:pPr>
            <a:r>
              <a:rPr lang="en-US" sz="1400" dirty="0">
                <a:solidFill>
                  <a:schemeClr val="tx1"/>
                </a:solidFill>
              </a:rPr>
              <a:t>Standard Work</a:t>
            </a:r>
          </a:p>
          <a:p>
            <a:pPr marL="0" indent="0" algn="r">
              <a:buNone/>
            </a:pPr>
            <a:r>
              <a:rPr lang="en-US" sz="1400" dirty="0">
                <a:solidFill>
                  <a:schemeClr val="tx1"/>
                </a:solidFill>
              </a:rPr>
              <a:t>Total Productive Maintenance (TPM)</a:t>
            </a:r>
          </a:p>
          <a:p>
            <a:pPr marL="0" indent="0" algn="r">
              <a:buNone/>
            </a:pPr>
            <a:r>
              <a:rPr lang="en-US" sz="1400" dirty="0">
                <a:solidFill>
                  <a:schemeClr val="tx1"/>
                </a:solidFill>
              </a:rPr>
              <a:t>Administrative Lean</a:t>
            </a:r>
          </a:p>
          <a:p>
            <a:pPr marL="0" indent="0" algn="r">
              <a:buNone/>
            </a:pPr>
            <a:r>
              <a:rPr lang="en-US" sz="1400" dirty="0">
                <a:solidFill>
                  <a:schemeClr val="tx1"/>
                </a:solidFill>
              </a:rPr>
              <a:t>Cell Design/ Production Preparation Process (3P)</a:t>
            </a:r>
          </a:p>
          <a:p>
            <a:pPr marL="0" indent="0" algn="r">
              <a:buNone/>
            </a:pPr>
            <a:r>
              <a:rPr lang="en-US" sz="1400" dirty="0">
                <a:solidFill>
                  <a:schemeClr val="tx1"/>
                </a:solidFill>
              </a:rPr>
              <a:t>Kaizen</a:t>
            </a:r>
          </a:p>
          <a:p>
            <a:pPr marL="0" indent="0" algn="r">
              <a:buNone/>
            </a:pPr>
            <a:r>
              <a:rPr lang="en-US" sz="1400" dirty="0">
                <a:solidFill>
                  <a:schemeClr val="tx1"/>
                </a:solidFill>
              </a:rPr>
              <a:t>Kanban</a:t>
            </a:r>
          </a:p>
          <a:p>
            <a:pPr marL="0" indent="0" algn="r">
              <a:buNone/>
            </a:pPr>
            <a:r>
              <a:rPr lang="en-US" sz="1400" dirty="0">
                <a:solidFill>
                  <a:schemeClr val="tx1"/>
                </a:solidFill>
              </a:rPr>
              <a:t>Problem Solving</a:t>
            </a:r>
          </a:p>
          <a:p>
            <a:pPr marL="0" indent="0" algn="r">
              <a:buNone/>
            </a:pPr>
            <a:r>
              <a:rPr lang="en-US" sz="1400" dirty="0" err="1">
                <a:solidFill>
                  <a:schemeClr val="tx1"/>
                </a:solidFill>
              </a:rPr>
              <a:t>Poka</a:t>
            </a:r>
            <a:r>
              <a:rPr lang="en-US" sz="1400" dirty="0">
                <a:solidFill>
                  <a:schemeClr val="tx1"/>
                </a:solidFill>
              </a:rPr>
              <a:t> Yoke Quality Systems</a:t>
            </a:r>
          </a:p>
          <a:p>
            <a:pPr marL="0" indent="0" algn="r">
              <a:buNone/>
            </a:pPr>
            <a:r>
              <a:rPr lang="en-US" sz="1400" dirty="0">
                <a:solidFill>
                  <a:schemeClr val="tx1"/>
                </a:solidFill>
              </a:rPr>
              <a:t>Transaction Process Improvement (TPI)</a:t>
            </a:r>
          </a:p>
          <a:p>
            <a:pPr marL="0" indent="0" algn="r">
              <a:buNone/>
            </a:pPr>
            <a:r>
              <a:rPr lang="en-US" sz="1400" dirty="0">
                <a:solidFill>
                  <a:schemeClr val="tx1"/>
                </a:solidFill>
              </a:rPr>
              <a:t>Cause &amp; Effect Diagram with the Additions of Cards (CEDAC)</a:t>
            </a:r>
          </a:p>
          <a:p>
            <a:pPr marL="0" indent="0" algn="r">
              <a:buNone/>
            </a:pPr>
            <a:r>
              <a:rPr lang="en-US" sz="1400" dirty="0">
                <a:solidFill>
                  <a:schemeClr val="tx1"/>
                </a:solidFill>
              </a:rPr>
              <a:t>Single Minute Exchange of Dies (SMED)</a:t>
            </a:r>
          </a:p>
          <a:p>
            <a:pPr marL="0" indent="0" algn="r">
              <a:buNone/>
            </a:pPr>
            <a:r>
              <a:rPr lang="en-US" sz="1400" dirty="0">
                <a:solidFill>
                  <a:schemeClr val="tx1"/>
                </a:solidFill>
              </a:rPr>
              <a:t>Value Stream Mapping (</a:t>
            </a:r>
            <a:r>
              <a:rPr lang="en-US" sz="1400" dirty="0" err="1">
                <a:solidFill>
                  <a:schemeClr val="tx1"/>
                </a:solidFill>
              </a:rPr>
              <a:t>VSMi</a:t>
            </a:r>
            <a:r>
              <a:rPr lang="en-US" sz="1400" dirty="0">
                <a:solidFill>
                  <a:schemeClr val="tx1"/>
                </a:solidFill>
              </a:rPr>
              <a:t>®)</a:t>
            </a:r>
          </a:p>
          <a:p>
            <a:pPr marL="0" indent="0" algn="r">
              <a:buNone/>
            </a:pPr>
            <a:r>
              <a:rPr lang="en-US" sz="1400" dirty="0">
                <a:solidFill>
                  <a:schemeClr val="tx1"/>
                </a:solidFill>
              </a:rPr>
              <a:t>Visual Management</a:t>
            </a:r>
          </a:p>
          <a:p>
            <a:pPr marL="0" indent="0" algn="r">
              <a:buNone/>
            </a:pPr>
            <a:r>
              <a:rPr lang="en-US" sz="1400" dirty="0">
                <a:solidFill>
                  <a:schemeClr val="tx1"/>
                </a:solidFill>
              </a:rPr>
              <a:t>Managing Daily Process Excellence</a:t>
            </a:r>
          </a:p>
        </p:txBody>
      </p:sp>
      <p:pic>
        <p:nvPicPr>
          <p:cNvPr id="11" name="Picture 10">
            <a:extLst>
              <a:ext uri="{FF2B5EF4-FFF2-40B4-BE49-F238E27FC236}">
                <a16:creationId xmlns:a16="http://schemas.microsoft.com/office/drawing/2014/main" id="{11F73560-3A07-DDBC-A93D-9C2969C3C85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220142" y="2039270"/>
            <a:ext cx="2945426" cy="1754165"/>
          </a:xfrm>
          <a:prstGeom prst="rect">
            <a:avLst/>
          </a:prstGeom>
        </p:spPr>
      </p:pic>
      <p:sp>
        <p:nvSpPr>
          <p:cNvPr id="13" name="Steve Jones">
            <a:extLst>
              <a:ext uri="{FF2B5EF4-FFF2-40B4-BE49-F238E27FC236}">
                <a16:creationId xmlns:a16="http://schemas.microsoft.com/office/drawing/2014/main" id="{32D7D26D-2286-A78A-74DF-8555FD64C346}"/>
              </a:ext>
            </a:extLst>
          </p:cNvPr>
          <p:cNvSpPr/>
          <p:nvPr/>
        </p:nvSpPr>
        <p:spPr>
          <a:xfrm>
            <a:off x="1069695" y="4201690"/>
            <a:ext cx="3475310" cy="19902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nchor="ctr">
            <a:spAutoFit/>
          </a:bodyPr>
          <a:lstStyle>
            <a:lvl1pPr defTabSz="1155700">
              <a:lnSpc>
                <a:spcPct val="80000"/>
              </a:lnSpc>
              <a:defRPr sz="3000" b="1">
                <a:solidFill>
                  <a:srgbClr val="FFFFFF"/>
                </a:solidFill>
              </a:defRPr>
            </a:lvl1pPr>
          </a:lstStyle>
          <a:p>
            <a:r>
              <a:rPr lang="en-US" sz="1600" dirty="0">
                <a:solidFill>
                  <a:srgbClr val="EE3228"/>
                </a:solidFill>
                <a:latin typeface="Roboto" panose="02000000000000000000" pitchFamily="2" charset="0"/>
                <a:ea typeface="Roboto" panose="02000000000000000000" pitchFamily="2" charset="0"/>
                <a:cs typeface="Roboto" panose="02000000000000000000" pitchFamily="2" charset="0"/>
              </a:rPr>
              <a:t>For More Information Please Contact:</a:t>
            </a:r>
          </a:p>
        </p:txBody>
      </p:sp>
      <p:sp>
        <p:nvSpPr>
          <p:cNvPr id="14" name="Head of Management Dept.">
            <a:extLst>
              <a:ext uri="{FF2B5EF4-FFF2-40B4-BE49-F238E27FC236}">
                <a16:creationId xmlns:a16="http://schemas.microsoft.com/office/drawing/2014/main" id="{13AAF857-F867-C38A-47E8-4FCE37EF32C8}"/>
              </a:ext>
            </a:extLst>
          </p:cNvPr>
          <p:cNvSpPr/>
          <p:nvPr/>
        </p:nvSpPr>
        <p:spPr>
          <a:xfrm>
            <a:off x="1367375" y="4590893"/>
            <a:ext cx="2879948" cy="838178"/>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lvl1pPr defTabSz="1155700">
              <a:defRPr sz="3000">
                <a:solidFill>
                  <a:srgbClr val="5D616E"/>
                </a:solidFill>
              </a:defRPr>
            </a:lvl1pPr>
          </a:lstStyle>
          <a:p>
            <a:pPr algn="ctr">
              <a:lnSpc>
                <a:spcPct val="90000"/>
              </a:lnSpc>
              <a:spcBef>
                <a:spcPts val="1000"/>
              </a:spcBef>
            </a:pPr>
            <a:r>
              <a:rPr lang="en-US" sz="1400" dirty="0">
                <a:solidFill>
                  <a:schemeClr val="tx1"/>
                </a:solidFill>
                <a:latin typeface="Roboto" panose="02000000000000000000" pitchFamily="2" charset="0"/>
                <a:ea typeface="Roboto" panose="02000000000000000000" pitchFamily="2" charset="0"/>
                <a:cs typeface="Roboto" panose="02000000000000000000" pitchFamily="2" charset="0"/>
              </a:rPr>
              <a:t>Mark DeLuzio, President and CEO</a:t>
            </a:r>
          </a:p>
          <a:p>
            <a:pPr algn="ctr">
              <a:lnSpc>
                <a:spcPct val="90000"/>
              </a:lnSpc>
              <a:spcBef>
                <a:spcPts val="1000"/>
              </a:spcBef>
            </a:pPr>
            <a:r>
              <a:rPr lang="en-US" sz="1400" dirty="0">
                <a:solidFill>
                  <a:schemeClr val="tx1"/>
                </a:solidFill>
                <a:latin typeface="Roboto" panose="02000000000000000000" pitchFamily="2" charset="0"/>
                <a:ea typeface="Roboto" panose="02000000000000000000" pitchFamily="2" charset="0"/>
                <a:cs typeface="Roboto" panose="02000000000000000000" pitchFamily="2" charset="0"/>
              </a:rPr>
              <a:t>+1.860.234.0915</a:t>
            </a:r>
          </a:p>
          <a:p>
            <a:pPr algn="ctr">
              <a:lnSpc>
                <a:spcPct val="90000"/>
              </a:lnSpc>
              <a:spcBef>
                <a:spcPts val="1000"/>
              </a:spcBef>
            </a:pPr>
            <a:r>
              <a:rPr lang="en-US" sz="1400" dirty="0">
                <a:solidFill>
                  <a:schemeClr val="tx1"/>
                </a:solidFill>
                <a:latin typeface="Roboto" panose="02000000000000000000" pitchFamily="2" charset="0"/>
                <a:ea typeface="Roboto" panose="02000000000000000000" pitchFamily="2" charset="0"/>
                <a:cs typeface="Roboto" panose="02000000000000000000" pitchFamily="2" charset="0"/>
              </a:rPr>
              <a:t>mark.deluzio@leanhorizons.com</a:t>
            </a:r>
            <a:endParaRPr sz="1400" dirty="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15" name="TextBox 14">
            <a:extLst>
              <a:ext uri="{FF2B5EF4-FFF2-40B4-BE49-F238E27FC236}">
                <a16:creationId xmlns:a16="http://schemas.microsoft.com/office/drawing/2014/main" id="{1729F7AC-495A-4FB8-042F-1DBECD3DB7C9}"/>
              </a:ext>
            </a:extLst>
          </p:cNvPr>
          <p:cNvSpPr txBox="1"/>
          <p:nvPr/>
        </p:nvSpPr>
        <p:spPr>
          <a:xfrm>
            <a:off x="6291" y="5619244"/>
            <a:ext cx="5602115" cy="26648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gn="ctr">
              <a:lnSpc>
                <a:spcPct val="80000"/>
              </a:lnSpc>
              <a:spcAft>
                <a:spcPct val="0"/>
              </a:spcAft>
              <a:buClrTx/>
              <a:buSzTx/>
              <a:buFontTx/>
              <a:buNone/>
            </a:pPr>
            <a:r>
              <a:rPr lang="en-US" altLang="en-US" sz="1400" i="1" dirty="0">
                <a:latin typeface="Roboto" panose="02000000000000000000" pitchFamily="2" charset="0"/>
                <a:ea typeface="Roboto" panose="02000000000000000000" pitchFamily="2" charset="0"/>
                <a:cs typeface="Roboto" panose="02000000000000000000" pitchFamily="2" charset="0"/>
              </a:rPr>
              <a:t>Strategically Creating Value Through the Elimination of Waste</a:t>
            </a:r>
            <a:endParaRPr lang="en-US" altLang="en-US" sz="1400" dirty="0">
              <a:latin typeface="Roboto" panose="02000000000000000000" pitchFamily="2" charset="0"/>
              <a:ea typeface="Roboto" panose="02000000000000000000" pitchFamily="2" charset="0"/>
              <a:cs typeface="Roboto" panose="02000000000000000000" pitchFamily="2" charset="0"/>
            </a:endParaRPr>
          </a:p>
        </p:txBody>
      </p:sp>
      <p:sp>
        <p:nvSpPr>
          <p:cNvPr id="18" name="Slide Number Placeholder 17">
            <a:extLst>
              <a:ext uri="{FF2B5EF4-FFF2-40B4-BE49-F238E27FC236}">
                <a16:creationId xmlns:a16="http://schemas.microsoft.com/office/drawing/2014/main" id="{F71C8E8F-D781-AA13-E1D1-E5284A242753}"/>
              </a:ext>
            </a:extLst>
          </p:cNvPr>
          <p:cNvSpPr>
            <a:spLocks noGrp="1"/>
          </p:cNvSpPr>
          <p:nvPr>
            <p:ph type="sldNum" sz="quarter" idx="4294967295"/>
          </p:nvPr>
        </p:nvSpPr>
        <p:spPr>
          <a:xfrm>
            <a:off x="8595078" y="6333148"/>
            <a:ext cx="2743200" cy="365125"/>
          </a:xfrm>
          <a:prstGeom prst="rect">
            <a:avLst/>
          </a:prstGeom>
        </p:spPr>
        <p:txBody>
          <a:bodyPr/>
          <a:lstStyle/>
          <a:p>
            <a:fld id="{CC6D4273-7FC1-0947-B9FE-19CB3C0D1FB6}" type="slidenum">
              <a:rPr lang="en-US" smtClean="0"/>
              <a:t>2</a:t>
            </a:fld>
            <a:endParaRPr lang="en-US" dirty="0"/>
          </a:p>
        </p:txBody>
      </p:sp>
    </p:spTree>
    <p:extLst>
      <p:ext uri="{BB962C8B-B14F-4D97-AF65-F5344CB8AC3E}">
        <p14:creationId xmlns:p14="http://schemas.microsoft.com/office/powerpoint/2010/main" val="81102938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C9914E55-E875-9B78-1E43-35D121FD9751}"/>
              </a:ext>
            </a:extLst>
          </p:cNvPr>
          <p:cNvSpPr txBox="1">
            <a:spLocks/>
          </p:cNvSpPr>
          <p:nvPr/>
        </p:nvSpPr>
        <p:spPr>
          <a:xfrm>
            <a:off x="3517106" y="2278809"/>
            <a:ext cx="5157787" cy="2300381"/>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1"/>
                </a:solidFill>
                <a:latin typeface="Roboto" panose="02000000000000000000" pitchFamily="2" charset="0"/>
                <a:ea typeface="Roboto" panose="02000000000000000000" pitchFamily="2" charset="0"/>
                <a:cs typeface="Roboto" panose="02000000000000000000"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Roboto" panose="02000000000000000000" pitchFamily="2" charset="0"/>
                <a:ea typeface="Roboto" panose="02000000000000000000" pitchFamily="2" charset="0"/>
                <a:cs typeface="Roboto" panose="02000000000000000000"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Roboto" panose="02000000000000000000" pitchFamily="2" charset="0"/>
                <a:ea typeface="Roboto" panose="02000000000000000000" pitchFamily="2" charset="0"/>
                <a:cs typeface="Roboto" panose="02000000000000000000"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Roboto" panose="02000000000000000000" pitchFamily="2" charset="0"/>
                <a:ea typeface="Roboto" panose="02000000000000000000" pitchFamily="2" charset="0"/>
                <a:cs typeface="Roboto" panose="02000000000000000000"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Roboto" panose="02000000000000000000" pitchFamily="2" charset="0"/>
                <a:ea typeface="Roboto" panose="02000000000000000000" pitchFamily="2" charset="0"/>
                <a:cs typeface="Roboto" panose="02000000000000000000"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2000" dirty="0">
                <a:solidFill>
                  <a:schemeClr val="tx1"/>
                </a:solidFill>
              </a:rPr>
              <a:t>This document contains confidential</a:t>
            </a:r>
            <a:br>
              <a:rPr lang="en-US" sz="2000" dirty="0">
                <a:solidFill>
                  <a:schemeClr val="tx1"/>
                </a:solidFill>
              </a:rPr>
            </a:br>
            <a:r>
              <a:rPr lang="en-US" sz="2000" dirty="0">
                <a:solidFill>
                  <a:schemeClr val="tx1"/>
                </a:solidFill>
              </a:rPr>
              <a:t>and proprietary information owned</a:t>
            </a:r>
            <a:br>
              <a:rPr lang="en-US" sz="2000" dirty="0">
                <a:solidFill>
                  <a:schemeClr val="tx1"/>
                </a:solidFill>
              </a:rPr>
            </a:br>
            <a:r>
              <a:rPr lang="en-US" sz="2000" dirty="0">
                <a:solidFill>
                  <a:schemeClr val="tx1"/>
                </a:solidFill>
              </a:rPr>
              <a:t> by Lean Horizons Consulting, LLC.</a:t>
            </a:r>
            <a:br>
              <a:rPr lang="en-US" sz="2000" dirty="0">
                <a:solidFill>
                  <a:schemeClr val="tx1"/>
                </a:solidFill>
              </a:rPr>
            </a:br>
            <a:br>
              <a:rPr lang="en-US" sz="2000" dirty="0">
                <a:solidFill>
                  <a:schemeClr val="tx1"/>
                </a:solidFill>
              </a:rPr>
            </a:br>
            <a:r>
              <a:rPr lang="en-US" sz="2000" dirty="0">
                <a:solidFill>
                  <a:schemeClr val="tx1"/>
                </a:solidFill>
              </a:rPr>
              <a:t>Any disclosure, use, copying or</a:t>
            </a:r>
            <a:br>
              <a:rPr lang="en-US" sz="2000" dirty="0">
                <a:solidFill>
                  <a:schemeClr val="tx1"/>
                </a:solidFill>
              </a:rPr>
            </a:br>
            <a:r>
              <a:rPr lang="en-US" sz="2000" dirty="0">
                <a:solidFill>
                  <a:schemeClr val="tx1"/>
                </a:solidFill>
              </a:rPr>
              <a:t>distribution of this information without the express written consent of Lean Horizons Consulting is strictly prohibited.</a:t>
            </a:r>
          </a:p>
        </p:txBody>
      </p:sp>
      <p:sp>
        <p:nvSpPr>
          <p:cNvPr id="12" name="Slide Number Placeholder 11">
            <a:extLst>
              <a:ext uri="{FF2B5EF4-FFF2-40B4-BE49-F238E27FC236}">
                <a16:creationId xmlns:a16="http://schemas.microsoft.com/office/drawing/2014/main" id="{C8A6FCFA-DB7B-71C3-70EC-F677EBA239A7}"/>
              </a:ext>
            </a:extLst>
          </p:cNvPr>
          <p:cNvSpPr>
            <a:spLocks noGrp="1"/>
          </p:cNvSpPr>
          <p:nvPr>
            <p:ph type="sldNum" sz="quarter" idx="4294967295"/>
          </p:nvPr>
        </p:nvSpPr>
        <p:spPr>
          <a:xfrm>
            <a:off x="8595078" y="6333148"/>
            <a:ext cx="2743200" cy="365125"/>
          </a:xfrm>
          <a:prstGeom prst="rect">
            <a:avLst/>
          </a:prstGeom>
        </p:spPr>
        <p:txBody>
          <a:bodyPr/>
          <a:lstStyle/>
          <a:p>
            <a:fld id="{CC6D4273-7FC1-0947-B9FE-19CB3C0D1FB6}" type="slidenum">
              <a:rPr lang="en-US" smtClean="0"/>
              <a:t>3</a:t>
            </a:fld>
            <a:endParaRPr lang="en-US"/>
          </a:p>
        </p:txBody>
      </p:sp>
    </p:spTree>
    <p:extLst>
      <p:ext uri="{BB962C8B-B14F-4D97-AF65-F5344CB8AC3E}">
        <p14:creationId xmlns:p14="http://schemas.microsoft.com/office/powerpoint/2010/main" val="37852960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761B1F-82BB-20AA-556E-27FE22CCD7A0}"/>
              </a:ext>
            </a:extLst>
          </p:cNvPr>
          <p:cNvSpPr>
            <a:spLocks noGrp="1"/>
          </p:cNvSpPr>
          <p:nvPr>
            <p:ph type="title"/>
          </p:nvPr>
        </p:nvSpPr>
        <p:spPr/>
        <p:txBody>
          <a:bodyPr>
            <a:normAutofit/>
          </a:bodyPr>
          <a:lstStyle/>
          <a:p>
            <a:r>
              <a:rPr lang="en-US" sz="4000" dirty="0">
                <a:latin typeface="Roboto Medium"/>
                <a:ea typeface="Roboto Medium"/>
                <a:cs typeface="Roboto Medium"/>
              </a:rPr>
              <a:t>Ground Rules for Event</a:t>
            </a:r>
          </a:p>
        </p:txBody>
      </p:sp>
      <p:sp>
        <p:nvSpPr>
          <p:cNvPr id="3" name="Content Placeholder 2">
            <a:extLst>
              <a:ext uri="{FF2B5EF4-FFF2-40B4-BE49-F238E27FC236}">
                <a16:creationId xmlns:a16="http://schemas.microsoft.com/office/drawing/2014/main" id="{D1CAA202-895A-70BD-7319-C214C2BDD1B2}"/>
              </a:ext>
            </a:extLst>
          </p:cNvPr>
          <p:cNvSpPr>
            <a:spLocks noGrp="1"/>
          </p:cNvSpPr>
          <p:nvPr>
            <p:ph idx="1"/>
          </p:nvPr>
        </p:nvSpPr>
        <p:spPr/>
        <p:txBody>
          <a:bodyPr/>
          <a:lstStyle/>
          <a:p>
            <a:r>
              <a:rPr lang="en-US" dirty="0"/>
              <a:t>Safety first (use personal protective equipment)</a:t>
            </a:r>
          </a:p>
          <a:p>
            <a:r>
              <a:rPr lang="en-US" dirty="0"/>
              <a:t>Active participation by all</a:t>
            </a:r>
          </a:p>
          <a:p>
            <a:r>
              <a:rPr lang="en-US" dirty="0"/>
              <a:t>Start and end on time</a:t>
            </a:r>
          </a:p>
          <a:p>
            <a:r>
              <a:rPr lang="en-US" dirty="0"/>
              <a:t>All electronic gadgets (phones, pagers, </a:t>
            </a:r>
            <a:r>
              <a:rPr lang="en-US" dirty="0" err="1"/>
              <a:t>etc</a:t>
            </a:r>
            <a:r>
              <a:rPr lang="en-US" dirty="0"/>
              <a:t>) turned to “off” or “silent”</a:t>
            </a:r>
          </a:p>
          <a:p>
            <a:r>
              <a:rPr lang="en-US" dirty="0"/>
              <a:t>Computers to be used only when instructed</a:t>
            </a:r>
          </a:p>
          <a:p>
            <a:r>
              <a:rPr lang="en-US" dirty="0"/>
              <a:t>Keep an open mind to change</a:t>
            </a:r>
          </a:p>
          <a:p>
            <a:r>
              <a:rPr lang="en-US" dirty="0"/>
              <a:t>Don’t let “perfect” get in the way of “better”</a:t>
            </a:r>
          </a:p>
        </p:txBody>
      </p:sp>
      <p:sp>
        <p:nvSpPr>
          <p:cNvPr id="8" name="Slide Number Placeholder 7">
            <a:extLst>
              <a:ext uri="{FF2B5EF4-FFF2-40B4-BE49-F238E27FC236}">
                <a16:creationId xmlns:a16="http://schemas.microsoft.com/office/drawing/2014/main" id="{42705716-A551-625A-37E2-96047D07B497}"/>
              </a:ext>
            </a:extLst>
          </p:cNvPr>
          <p:cNvSpPr>
            <a:spLocks noGrp="1"/>
          </p:cNvSpPr>
          <p:nvPr>
            <p:ph type="sldNum" sz="quarter" idx="4294967295"/>
          </p:nvPr>
        </p:nvSpPr>
        <p:spPr>
          <a:xfrm>
            <a:off x="8595078" y="6333148"/>
            <a:ext cx="2743200" cy="365125"/>
          </a:xfrm>
          <a:prstGeom prst="rect">
            <a:avLst/>
          </a:prstGeom>
        </p:spPr>
        <p:txBody>
          <a:bodyPr/>
          <a:lstStyle/>
          <a:p>
            <a:fld id="{CC6D4273-7FC1-0947-B9FE-19CB3C0D1FB6}" type="slidenum">
              <a:rPr lang="en-US" smtClean="0"/>
              <a:t>4</a:t>
            </a:fld>
            <a:endParaRPr lang="en-US"/>
          </a:p>
        </p:txBody>
      </p:sp>
    </p:spTree>
    <p:extLst>
      <p:ext uri="{BB962C8B-B14F-4D97-AF65-F5344CB8AC3E}">
        <p14:creationId xmlns:p14="http://schemas.microsoft.com/office/powerpoint/2010/main" val="27261886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lstStyle/>
          <a:p>
            <a:r>
              <a:rPr lang="en-US" dirty="0"/>
              <a:t>Goal of CEDAC Module</a:t>
            </a:r>
          </a:p>
        </p:txBody>
      </p:sp>
      <p:sp>
        <p:nvSpPr>
          <p:cNvPr id="3" name="Content Placeholder 2">
            <a:extLst>
              <a:ext uri="{FF2B5EF4-FFF2-40B4-BE49-F238E27FC236}">
                <a16:creationId xmlns:a16="http://schemas.microsoft.com/office/drawing/2014/main" id="{2AA7A201-AD05-6520-E140-CCF11E59E700}"/>
              </a:ext>
            </a:extLst>
          </p:cNvPr>
          <p:cNvSpPr>
            <a:spLocks noGrp="1"/>
          </p:cNvSpPr>
          <p:nvPr>
            <p:ph idx="1"/>
          </p:nvPr>
        </p:nvSpPr>
        <p:spPr/>
        <p:txBody>
          <a:bodyPr/>
          <a:lstStyle/>
          <a:p>
            <a:pPr marL="0" indent="0">
              <a:buNone/>
            </a:pPr>
            <a:r>
              <a:rPr lang="en-US" dirty="0"/>
              <a:t>To solve complex business and technical problems through the </a:t>
            </a:r>
            <a:br>
              <a:rPr lang="en-US" dirty="0"/>
            </a:br>
            <a:r>
              <a:rPr lang="en-US" dirty="0"/>
              <a:t>effective use of the CEDAC tool and method.</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5</a:t>
            </a:fld>
            <a:endParaRPr lang="en-US"/>
          </a:p>
        </p:txBody>
      </p:sp>
      <p:grpSp>
        <p:nvGrpSpPr>
          <p:cNvPr id="10" name="Group 9">
            <a:extLst>
              <a:ext uri="{FF2B5EF4-FFF2-40B4-BE49-F238E27FC236}">
                <a16:creationId xmlns:a16="http://schemas.microsoft.com/office/drawing/2014/main" id="{C0F27BF9-3298-5866-23C3-B3EF97479A10}"/>
              </a:ext>
            </a:extLst>
          </p:cNvPr>
          <p:cNvGrpSpPr/>
          <p:nvPr/>
        </p:nvGrpSpPr>
        <p:grpSpPr>
          <a:xfrm>
            <a:off x="1486218" y="3819525"/>
            <a:ext cx="9219565" cy="2226945"/>
            <a:chOff x="930275" y="3819525"/>
            <a:chExt cx="7292975" cy="1350963"/>
          </a:xfrm>
        </p:grpSpPr>
        <p:sp>
          <p:nvSpPr>
            <p:cNvPr id="4" name="AutoShape 11">
              <a:extLst>
                <a:ext uri="{FF2B5EF4-FFF2-40B4-BE49-F238E27FC236}">
                  <a16:creationId xmlns:a16="http://schemas.microsoft.com/office/drawing/2014/main" id="{D1AC9AF0-FEE0-2C98-547B-99F591CCF09C}"/>
                </a:ext>
              </a:extLst>
            </p:cNvPr>
            <p:cNvSpPr>
              <a:spLocks noChangeArrowheads="1"/>
            </p:cNvSpPr>
            <p:nvPr/>
          </p:nvSpPr>
          <p:spPr bwMode="auto">
            <a:xfrm>
              <a:off x="6623050" y="3819525"/>
              <a:ext cx="1600200" cy="1346200"/>
            </a:xfrm>
            <a:prstGeom prst="homePlate">
              <a:avLst>
                <a:gd name="adj" fmla="val 11155"/>
              </a:avLst>
            </a:prstGeom>
            <a:solidFill>
              <a:schemeClr val="accent1"/>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2800">
                  <a:solidFill>
                    <a:schemeClr val="bg1"/>
                  </a:solidFill>
                  <a:latin typeface="Roboto" panose="02000000000000000000" pitchFamily="2" charset="0"/>
                  <a:ea typeface="Roboto" panose="02000000000000000000" pitchFamily="2" charset="0"/>
                </a:rPr>
                <a:t>Review</a:t>
              </a:r>
            </a:p>
          </p:txBody>
        </p:sp>
        <p:sp>
          <p:nvSpPr>
            <p:cNvPr id="6" name="AutoShape 14">
              <a:extLst>
                <a:ext uri="{FF2B5EF4-FFF2-40B4-BE49-F238E27FC236}">
                  <a16:creationId xmlns:a16="http://schemas.microsoft.com/office/drawing/2014/main" id="{E5E1DBE1-114F-C920-392F-8BCBDAC9715B}"/>
                </a:ext>
              </a:extLst>
            </p:cNvPr>
            <p:cNvSpPr>
              <a:spLocks noChangeArrowheads="1"/>
            </p:cNvSpPr>
            <p:nvPr/>
          </p:nvSpPr>
          <p:spPr bwMode="auto">
            <a:xfrm>
              <a:off x="5178425" y="3824288"/>
              <a:ext cx="1600200" cy="1346200"/>
            </a:xfrm>
            <a:prstGeom prst="homePlate">
              <a:avLst>
                <a:gd name="adj" fmla="val 11155"/>
              </a:avLst>
            </a:prstGeom>
            <a:solidFill>
              <a:schemeClr val="accent1"/>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2800">
                  <a:solidFill>
                    <a:schemeClr val="bg1"/>
                  </a:solidFill>
                  <a:latin typeface="Roboto" panose="02000000000000000000" pitchFamily="2" charset="0"/>
                  <a:ea typeface="Roboto" panose="02000000000000000000" pitchFamily="2" charset="0"/>
                </a:rPr>
                <a:t>  Problem</a:t>
              </a:r>
              <a:br>
                <a:rPr lang="en-US" altLang="en-US" sz="2800">
                  <a:solidFill>
                    <a:schemeClr val="bg1"/>
                  </a:solidFill>
                  <a:latin typeface="Roboto" panose="02000000000000000000" pitchFamily="2" charset="0"/>
                  <a:ea typeface="Roboto" panose="02000000000000000000" pitchFamily="2" charset="0"/>
                </a:rPr>
              </a:br>
              <a:r>
                <a:rPr lang="en-US" altLang="en-US" sz="2800">
                  <a:solidFill>
                    <a:schemeClr val="bg1"/>
                  </a:solidFill>
                  <a:latin typeface="Roboto" panose="02000000000000000000" pitchFamily="2" charset="0"/>
                  <a:ea typeface="Roboto" panose="02000000000000000000" pitchFamily="2" charset="0"/>
                </a:rPr>
                <a:t>Solution</a:t>
              </a:r>
            </a:p>
          </p:txBody>
        </p:sp>
        <p:sp>
          <p:nvSpPr>
            <p:cNvPr id="7" name="AutoShape 2">
              <a:extLst>
                <a:ext uri="{FF2B5EF4-FFF2-40B4-BE49-F238E27FC236}">
                  <a16:creationId xmlns:a16="http://schemas.microsoft.com/office/drawing/2014/main" id="{D742DFA4-B51D-A675-BDB6-630C649017F3}"/>
                </a:ext>
              </a:extLst>
            </p:cNvPr>
            <p:cNvSpPr>
              <a:spLocks noChangeArrowheads="1"/>
            </p:cNvSpPr>
            <p:nvPr/>
          </p:nvSpPr>
          <p:spPr bwMode="auto">
            <a:xfrm>
              <a:off x="3725863" y="3819525"/>
              <a:ext cx="1600200" cy="1346200"/>
            </a:xfrm>
            <a:prstGeom prst="homePlate">
              <a:avLst>
                <a:gd name="adj" fmla="val 11155"/>
              </a:avLst>
            </a:prstGeom>
            <a:solidFill>
              <a:schemeClr val="accent1"/>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2800">
                  <a:solidFill>
                    <a:schemeClr val="bg1"/>
                  </a:solidFill>
                  <a:latin typeface="Roboto" panose="02000000000000000000" pitchFamily="2" charset="0"/>
                  <a:ea typeface="Roboto" panose="02000000000000000000" pitchFamily="2" charset="0"/>
                </a:rPr>
                <a:t>  Problem</a:t>
              </a:r>
              <a:br>
                <a:rPr lang="en-US" altLang="en-US" sz="2800">
                  <a:solidFill>
                    <a:schemeClr val="bg1"/>
                  </a:solidFill>
                  <a:latin typeface="Roboto" panose="02000000000000000000" pitchFamily="2" charset="0"/>
                  <a:ea typeface="Roboto" panose="02000000000000000000" pitchFamily="2" charset="0"/>
                </a:rPr>
              </a:br>
              <a:r>
                <a:rPr lang="en-US" altLang="en-US" sz="2800">
                  <a:solidFill>
                    <a:schemeClr val="bg1"/>
                  </a:solidFill>
                  <a:latin typeface="Roboto" panose="02000000000000000000" pitchFamily="2" charset="0"/>
                  <a:ea typeface="Roboto" panose="02000000000000000000" pitchFamily="2" charset="0"/>
                </a:rPr>
                <a:t>Cause</a:t>
              </a:r>
            </a:p>
          </p:txBody>
        </p:sp>
        <p:sp>
          <p:nvSpPr>
            <p:cNvPr id="8" name="AutoShape 3">
              <a:extLst>
                <a:ext uri="{FF2B5EF4-FFF2-40B4-BE49-F238E27FC236}">
                  <a16:creationId xmlns:a16="http://schemas.microsoft.com/office/drawing/2014/main" id="{3989A12E-9472-B8E0-83C7-17EA6B27ED09}"/>
                </a:ext>
              </a:extLst>
            </p:cNvPr>
            <p:cNvSpPr>
              <a:spLocks noChangeArrowheads="1"/>
            </p:cNvSpPr>
            <p:nvPr/>
          </p:nvSpPr>
          <p:spPr bwMode="auto">
            <a:xfrm>
              <a:off x="2386013" y="3819525"/>
              <a:ext cx="1600200" cy="1346200"/>
            </a:xfrm>
            <a:prstGeom prst="homePlate">
              <a:avLst>
                <a:gd name="adj" fmla="val 11155"/>
              </a:avLst>
            </a:prstGeom>
            <a:solidFill>
              <a:schemeClr val="accent1"/>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2800">
                  <a:solidFill>
                    <a:schemeClr val="bg1"/>
                  </a:solidFill>
                  <a:latin typeface="Roboto" panose="02000000000000000000" pitchFamily="2" charset="0"/>
                  <a:ea typeface="Roboto" panose="02000000000000000000" pitchFamily="2" charset="0"/>
                </a:rPr>
                <a:t> Problem</a:t>
              </a:r>
              <a:br>
                <a:rPr lang="en-US" altLang="en-US" sz="2800">
                  <a:solidFill>
                    <a:schemeClr val="bg1"/>
                  </a:solidFill>
                  <a:latin typeface="Roboto" panose="02000000000000000000" pitchFamily="2" charset="0"/>
                  <a:ea typeface="Roboto" panose="02000000000000000000" pitchFamily="2" charset="0"/>
                </a:rPr>
              </a:br>
              <a:r>
                <a:rPr lang="en-US" altLang="en-US" sz="2800">
                  <a:solidFill>
                    <a:schemeClr val="bg1"/>
                  </a:solidFill>
                  <a:latin typeface="Roboto" panose="02000000000000000000" pitchFamily="2" charset="0"/>
                  <a:ea typeface="Roboto" panose="02000000000000000000" pitchFamily="2" charset="0"/>
                </a:rPr>
                <a:t>Effect</a:t>
              </a:r>
            </a:p>
          </p:txBody>
        </p:sp>
        <p:sp>
          <p:nvSpPr>
            <p:cNvPr id="9" name="AutoShape 5">
              <a:extLst>
                <a:ext uri="{FF2B5EF4-FFF2-40B4-BE49-F238E27FC236}">
                  <a16:creationId xmlns:a16="http://schemas.microsoft.com/office/drawing/2014/main" id="{A1793CA3-0AC1-F521-544B-CCD435DF9D76}"/>
                </a:ext>
              </a:extLst>
            </p:cNvPr>
            <p:cNvSpPr>
              <a:spLocks noChangeArrowheads="1"/>
            </p:cNvSpPr>
            <p:nvPr/>
          </p:nvSpPr>
          <p:spPr bwMode="auto">
            <a:xfrm>
              <a:off x="930275" y="3824288"/>
              <a:ext cx="1600200" cy="1346200"/>
            </a:xfrm>
            <a:prstGeom prst="homePlate">
              <a:avLst>
                <a:gd name="adj" fmla="val 11155"/>
              </a:avLst>
            </a:prstGeom>
            <a:solidFill>
              <a:schemeClr val="accent1"/>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2800">
                  <a:solidFill>
                    <a:schemeClr val="bg1"/>
                  </a:solidFill>
                  <a:latin typeface="Roboto" panose="02000000000000000000" pitchFamily="2" charset="0"/>
                  <a:ea typeface="Roboto" panose="02000000000000000000" pitchFamily="2" charset="0"/>
                </a:rPr>
                <a:t>Overview</a:t>
              </a:r>
            </a:p>
          </p:txBody>
        </p:sp>
      </p:grpSp>
    </p:spTree>
    <p:extLst>
      <p:ext uri="{BB962C8B-B14F-4D97-AF65-F5344CB8AC3E}">
        <p14:creationId xmlns:p14="http://schemas.microsoft.com/office/powerpoint/2010/main" val="216991765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lstStyle/>
          <a:p>
            <a:r>
              <a:rPr lang="en-US" dirty="0"/>
              <a:t>Typical CEDAC Event Agenda</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6</a:t>
            </a:fld>
            <a:endParaRPr lang="en-US"/>
          </a:p>
        </p:txBody>
      </p:sp>
      <p:graphicFrame>
        <p:nvGraphicFramePr>
          <p:cNvPr id="3" name="Group 34">
            <a:extLst>
              <a:ext uri="{FF2B5EF4-FFF2-40B4-BE49-F238E27FC236}">
                <a16:creationId xmlns:a16="http://schemas.microsoft.com/office/drawing/2014/main" id="{8903D1A0-9AF7-63D9-2123-FC35A2B7133A}"/>
              </a:ext>
            </a:extLst>
          </p:cNvPr>
          <p:cNvGraphicFramePr>
            <a:graphicFrameLocks noGrp="1"/>
          </p:cNvGraphicFramePr>
          <p:nvPr>
            <p:extLst>
              <p:ext uri="{D42A27DB-BD31-4B8C-83A1-F6EECF244321}">
                <p14:modId xmlns:p14="http://schemas.microsoft.com/office/powerpoint/2010/main" val="2200824135"/>
              </p:ext>
            </p:extLst>
          </p:nvPr>
        </p:nvGraphicFramePr>
        <p:xfrm>
          <a:off x="260985" y="1902863"/>
          <a:ext cx="11670030" cy="4459927"/>
        </p:xfrm>
        <a:graphic>
          <a:graphicData uri="http://schemas.openxmlformats.org/drawingml/2006/table">
            <a:tbl>
              <a:tblPr/>
              <a:tblGrid>
                <a:gridCol w="1251966">
                  <a:extLst>
                    <a:ext uri="{9D8B030D-6E8A-4147-A177-3AD203B41FA5}">
                      <a16:colId xmlns:a16="http://schemas.microsoft.com/office/drawing/2014/main" val="20000"/>
                    </a:ext>
                  </a:extLst>
                </a:gridCol>
                <a:gridCol w="4830295">
                  <a:extLst>
                    <a:ext uri="{9D8B030D-6E8A-4147-A177-3AD203B41FA5}">
                      <a16:colId xmlns:a16="http://schemas.microsoft.com/office/drawing/2014/main" val="20001"/>
                    </a:ext>
                  </a:extLst>
                </a:gridCol>
                <a:gridCol w="5587769">
                  <a:extLst>
                    <a:ext uri="{9D8B030D-6E8A-4147-A177-3AD203B41FA5}">
                      <a16:colId xmlns:a16="http://schemas.microsoft.com/office/drawing/2014/main" val="20002"/>
                    </a:ext>
                  </a:extLst>
                </a:gridCol>
              </a:tblGrid>
              <a:tr h="388178">
                <a:tc>
                  <a:txBody>
                    <a:bodyPr/>
                    <a:lstStyle/>
                    <a:p>
                      <a:pPr marL="0" marR="0" lvl="0" indent="0" algn="l" defTabSz="914400" rtl="0" eaLnBrk="0" fontAlgn="base" latinLnBrk="0" hangingPunct="0">
                        <a:lnSpc>
                          <a:spcPct val="115000"/>
                        </a:lnSpc>
                        <a:spcBef>
                          <a:spcPct val="50000"/>
                        </a:spcBef>
                        <a:spcAft>
                          <a:spcPct val="50000"/>
                        </a:spcAft>
                        <a:buClr>
                          <a:srgbClr val="006699"/>
                        </a:buClr>
                        <a:buSzPct val="90000"/>
                        <a:buFont typeface="Wingdings" pitchFamily="2" charset="2"/>
                        <a:buNone/>
                        <a:tabLst/>
                      </a:pPr>
                      <a:r>
                        <a:rPr kumimoji="0" lang="en-US" sz="2000" b="1" i="0" u="none" strike="noStrike" cap="none" normalizeH="0" baseline="0" dirty="0">
                          <a:ln>
                            <a:noFill/>
                          </a:ln>
                          <a:solidFill>
                            <a:schemeClr val="bg1"/>
                          </a:solidFill>
                          <a:effectLst/>
                          <a:latin typeface="Roboto" panose="02000000000000000000" pitchFamily="2" charset="0"/>
                          <a:ea typeface="Roboto" panose="02000000000000000000" pitchFamily="2" charset="0"/>
                        </a:rPr>
                        <a:t>Day</a:t>
                      </a:r>
                    </a:p>
                  </a:txBody>
                  <a:tcPr marT="45715" marB="45715" anchor="b"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l" defTabSz="914400" rtl="0" eaLnBrk="0" fontAlgn="base" latinLnBrk="0" hangingPunct="0">
                        <a:lnSpc>
                          <a:spcPct val="115000"/>
                        </a:lnSpc>
                        <a:spcBef>
                          <a:spcPct val="50000"/>
                        </a:spcBef>
                        <a:spcAft>
                          <a:spcPct val="50000"/>
                        </a:spcAft>
                        <a:buClr>
                          <a:srgbClr val="006699"/>
                        </a:buClr>
                        <a:buSzPct val="90000"/>
                        <a:buFont typeface="Wingdings" pitchFamily="2" charset="2"/>
                        <a:buNone/>
                        <a:tabLst/>
                      </a:pPr>
                      <a:r>
                        <a:rPr kumimoji="0" lang="en-US" sz="2000" b="1" i="0" u="none" strike="noStrike" cap="none" normalizeH="0" baseline="0" dirty="0">
                          <a:ln>
                            <a:noFill/>
                          </a:ln>
                          <a:solidFill>
                            <a:schemeClr val="bg1"/>
                          </a:solidFill>
                          <a:effectLst/>
                          <a:latin typeface="Roboto" panose="02000000000000000000" pitchFamily="2" charset="0"/>
                          <a:ea typeface="Roboto" panose="02000000000000000000" pitchFamily="2" charset="0"/>
                        </a:rPr>
                        <a:t>Key Learnings</a:t>
                      </a:r>
                    </a:p>
                  </a:txBody>
                  <a:tcPr marT="45715" marB="45715" anchor="b"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l" defTabSz="914400" rtl="0" eaLnBrk="0" fontAlgn="base" latinLnBrk="0" hangingPunct="0">
                        <a:lnSpc>
                          <a:spcPct val="115000"/>
                        </a:lnSpc>
                        <a:spcBef>
                          <a:spcPct val="50000"/>
                        </a:spcBef>
                        <a:spcAft>
                          <a:spcPct val="50000"/>
                        </a:spcAft>
                        <a:buClr>
                          <a:srgbClr val="006699"/>
                        </a:buClr>
                        <a:buSzPct val="90000"/>
                        <a:buFont typeface="Wingdings" pitchFamily="2" charset="2"/>
                        <a:buNone/>
                        <a:tabLst/>
                      </a:pPr>
                      <a:r>
                        <a:rPr kumimoji="0" lang="en-US" sz="2000" b="1" i="0" u="none" strike="noStrike" cap="none" normalizeH="0" baseline="0" dirty="0">
                          <a:ln>
                            <a:noFill/>
                          </a:ln>
                          <a:solidFill>
                            <a:schemeClr val="bg1"/>
                          </a:solidFill>
                          <a:effectLst/>
                          <a:latin typeface="Roboto" panose="02000000000000000000" pitchFamily="2" charset="0"/>
                          <a:ea typeface="Roboto" panose="02000000000000000000" pitchFamily="2" charset="0"/>
                        </a:rPr>
                        <a:t>Daily Deliverables</a:t>
                      </a:r>
                    </a:p>
                  </a:txBody>
                  <a:tcPr marT="45715" marB="45715" anchor="b"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628642">
                <a:tc>
                  <a:txBody>
                    <a:bodyPr/>
                    <a:lstStyle/>
                    <a:p>
                      <a:pPr marL="0" marR="0" lvl="0" indent="0" algn="l" defTabSz="914400" rtl="0" eaLnBrk="0" fontAlgn="base" latinLnBrk="0" hangingPunct="0">
                        <a:lnSpc>
                          <a:spcPct val="115000"/>
                        </a:lnSpc>
                        <a:spcBef>
                          <a:spcPct val="20000"/>
                        </a:spcBef>
                        <a:spcAft>
                          <a:spcPct val="20000"/>
                        </a:spcAft>
                        <a:buClr>
                          <a:srgbClr val="006699"/>
                        </a:buClr>
                        <a:buSzPct val="90000"/>
                        <a:buFont typeface="Wingdings" pitchFamily="2" charset="2"/>
                        <a:buNone/>
                        <a:tabLst/>
                      </a:pPr>
                      <a:r>
                        <a:rPr kumimoji="0" lang="en-US" sz="1400" b="1" i="0" u="none" strike="noStrike" cap="none" normalizeH="0" baseline="0" dirty="0">
                          <a:ln>
                            <a:noFill/>
                          </a:ln>
                          <a:solidFill>
                            <a:schemeClr val="tx1"/>
                          </a:solidFill>
                          <a:effectLst/>
                          <a:latin typeface="Roboto" panose="02000000000000000000" pitchFamily="2" charset="0"/>
                          <a:ea typeface="Roboto" panose="02000000000000000000" pitchFamily="2" charset="0"/>
                        </a:rPr>
                        <a:t>Day 1</a:t>
                      </a:r>
                    </a:p>
                  </a:txBody>
                  <a:tcPr marT="45715" marB="45715"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285750" marR="0" lvl="0" indent="-285750" algn="l" defTabSz="914400" rtl="0" eaLnBrk="0" fontAlgn="base" latinLnBrk="0" hangingPunct="0">
                        <a:lnSpc>
                          <a:spcPct val="100000"/>
                        </a:lnSpc>
                        <a:spcBef>
                          <a:spcPct val="20000"/>
                        </a:spcBef>
                        <a:spcAft>
                          <a:spcPct val="20000"/>
                        </a:spcAft>
                        <a:buClr>
                          <a:schemeClr val="tx1"/>
                        </a:buClr>
                        <a:buSzPct val="90000"/>
                        <a:buFont typeface="Arial" panose="020B0604020202020204" pitchFamily="34" charset="0"/>
                        <a:buChar char="•"/>
                        <a:tabLst/>
                      </a:pPr>
                      <a:r>
                        <a:rPr kumimoji="0" lang="en-US" sz="1400" b="1" i="0" u="none" strike="noStrike" kern="1200" cap="none" normalizeH="0" baseline="0" dirty="0">
                          <a:ln>
                            <a:noFill/>
                          </a:ln>
                          <a:solidFill>
                            <a:schemeClr val="tx1"/>
                          </a:solidFill>
                          <a:effectLst/>
                          <a:latin typeface="Roboto" panose="02000000000000000000" pitchFamily="2" charset="0"/>
                          <a:ea typeface="Roboto" panose="02000000000000000000" pitchFamily="2" charset="0"/>
                          <a:cs typeface="+mn-cs"/>
                        </a:rPr>
                        <a:t>CEDAC Overview</a:t>
                      </a:r>
                    </a:p>
                  </a:txBody>
                  <a:tcPr marT="45715" marB="45715"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285750" marR="0" lvl="0" indent="-285750" algn="l" defTabSz="914400" rtl="0" eaLnBrk="0" fontAlgn="base" latinLnBrk="0" hangingPunct="0">
                        <a:lnSpc>
                          <a:spcPct val="100000"/>
                        </a:lnSpc>
                        <a:spcBef>
                          <a:spcPct val="20000"/>
                        </a:spcBef>
                        <a:spcAft>
                          <a:spcPct val="20000"/>
                        </a:spcAft>
                        <a:buClr>
                          <a:schemeClr val="tx1"/>
                        </a:buClr>
                        <a:buSzPct val="90000"/>
                        <a:buFont typeface="Arial" panose="020B0604020202020204" pitchFamily="34" charset="0"/>
                        <a:buChar char="•"/>
                        <a:tabLst/>
                      </a:pPr>
                      <a:r>
                        <a:rPr kumimoji="0" lang="en-US" sz="1400" b="1" i="0" u="none" strike="noStrike" kern="1200" cap="none" normalizeH="0" baseline="0" dirty="0">
                          <a:ln>
                            <a:noFill/>
                          </a:ln>
                          <a:solidFill>
                            <a:schemeClr val="tx1"/>
                          </a:solidFill>
                          <a:effectLst/>
                          <a:latin typeface="Roboto" panose="02000000000000000000" pitchFamily="2" charset="0"/>
                          <a:ea typeface="Roboto" panose="02000000000000000000" pitchFamily="2" charset="0"/>
                          <a:cs typeface="+mn-cs"/>
                        </a:rPr>
                        <a:t>“CEDAC Chart (Process flowchart or fishbone) on wall</a:t>
                      </a:r>
                    </a:p>
                    <a:p>
                      <a:pPr marL="285750" marR="0" lvl="0" indent="-285750" algn="l" defTabSz="914400" rtl="0" eaLnBrk="0" fontAlgn="base" latinLnBrk="0" hangingPunct="0">
                        <a:lnSpc>
                          <a:spcPct val="100000"/>
                        </a:lnSpc>
                        <a:spcBef>
                          <a:spcPct val="20000"/>
                        </a:spcBef>
                        <a:spcAft>
                          <a:spcPct val="20000"/>
                        </a:spcAft>
                        <a:buClr>
                          <a:schemeClr val="tx1"/>
                        </a:buClr>
                        <a:buSzPct val="90000"/>
                        <a:buFont typeface="Arial" panose="020B0604020202020204" pitchFamily="34" charset="0"/>
                        <a:buChar char="•"/>
                        <a:tabLst/>
                      </a:pPr>
                      <a:r>
                        <a:rPr kumimoji="0" lang="en-US" sz="1400" b="1" i="0" u="none" strike="noStrike" kern="1200" cap="none" normalizeH="0" baseline="0" dirty="0">
                          <a:ln>
                            <a:noFill/>
                          </a:ln>
                          <a:solidFill>
                            <a:schemeClr val="tx1"/>
                          </a:solidFill>
                          <a:effectLst/>
                          <a:latin typeface="Roboto" panose="02000000000000000000" pitchFamily="2" charset="0"/>
                          <a:ea typeface="Roboto" panose="02000000000000000000" pitchFamily="2" charset="0"/>
                          <a:cs typeface="+mn-cs"/>
                        </a:rPr>
                        <a:t>“Effect” side posted on CEDAC Chart</a:t>
                      </a:r>
                    </a:p>
                  </a:txBody>
                  <a:tcPr marT="45715" marB="45715"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855183">
                <a:tc>
                  <a:txBody>
                    <a:bodyPr/>
                    <a:lstStyle/>
                    <a:p>
                      <a:pPr marL="0" marR="0" lvl="0" indent="0" algn="l" defTabSz="914400" rtl="0" eaLnBrk="0" fontAlgn="base" latinLnBrk="0" hangingPunct="0">
                        <a:lnSpc>
                          <a:spcPct val="115000"/>
                        </a:lnSpc>
                        <a:spcBef>
                          <a:spcPct val="20000"/>
                        </a:spcBef>
                        <a:spcAft>
                          <a:spcPct val="20000"/>
                        </a:spcAft>
                        <a:buClr>
                          <a:srgbClr val="006699"/>
                        </a:buClr>
                        <a:buSzPct val="90000"/>
                        <a:buFont typeface="Wingdings" pitchFamily="2" charset="2"/>
                        <a:buNone/>
                        <a:tabLst/>
                      </a:pPr>
                      <a:r>
                        <a:rPr kumimoji="0" lang="en-US" sz="1400" b="1" i="0" u="none" strike="noStrike" cap="none" normalizeH="0" baseline="0" dirty="0">
                          <a:ln>
                            <a:noFill/>
                          </a:ln>
                          <a:solidFill>
                            <a:schemeClr val="tx1"/>
                          </a:solidFill>
                          <a:effectLst/>
                          <a:latin typeface="Roboto" panose="02000000000000000000" pitchFamily="2" charset="0"/>
                          <a:ea typeface="Roboto" panose="02000000000000000000" pitchFamily="2" charset="0"/>
                        </a:rPr>
                        <a:t>Day 2</a:t>
                      </a:r>
                    </a:p>
                  </a:txBody>
                  <a:tcPr marT="45715" marB="45715"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285750" marR="0" lvl="0" indent="-285750" algn="l" defTabSz="914400" rtl="0" eaLnBrk="0" fontAlgn="base" latinLnBrk="0" hangingPunct="0">
                        <a:lnSpc>
                          <a:spcPct val="100000"/>
                        </a:lnSpc>
                        <a:spcBef>
                          <a:spcPct val="20000"/>
                        </a:spcBef>
                        <a:spcAft>
                          <a:spcPct val="20000"/>
                        </a:spcAft>
                        <a:buClr>
                          <a:schemeClr val="tx1"/>
                        </a:buClr>
                        <a:buSzPct val="90000"/>
                        <a:buFont typeface="Arial" panose="020B0604020202020204" pitchFamily="34" charset="0"/>
                        <a:buChar char="•"/>
                        <a:tabLst/>
                      </a:pPr>
                      <a:r>
                        <a:rPr kumimoji="0" lang="en-US" sz="1400" b="1" i="0" u="none" strike="noStrike" kern="1200" cap="none" normalizeH="0" baseline="0" dirty="0">
                          <a:ln>
                            <a:noFill/>
                          </a:ln>
                          <a:solidFill>
                            <a:schemeClr val="tx1"/>
                          </a:solidFill>
                          <a:effectLst/>
                          <a:latin typeface="Roboto" panose="02000000000000000000" pitchFamily="2" charset="0"/>
                          <a:ea typeface="Roboto" panose="02000000000000000000" pitchFamily="2" charset="0"/>
                          <a:cs typeface="+mn-cs"/>
                        </a:rPr>
                        <a:t>Using FACT Cards to identify root causes</a:t>
                      </a:r>
                    </a:p>
                  </a:txBody>
                  <a:tcPr marT="45715" marB="45715"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285750" marR="0" lvl="0" indent="-285750" algn="l" defTabSz="914400" rtl="0" eaLnBrk="0" fontAlgn="base" latinLnBrk="0" hangingPunct="0">
                        <a:lnSpc>
                          <a:spcPct val="100000"/>
                        </a:lnSpc>
                        <a:spcBef>
                          <a:spcPct val="20000"/>
                        </a:spcBef>
                        <a:spcAft>
                          <a:spcPct val="20000"/>
                        </a:spcAft>
                        <a:buClr>
                          <a:schemeClr val="tx1"/>
                        </a:buClr>
                        <a:buSzPct val="90000"/>
                        <a:buFont typeface="Arial" panose="020B0604020202020204" pitchFamily="34" charset="0"/>
                        <a:buChar char="•"/>
                        <a:tabLst/>
                      </a:pPr>
                      <a:r>
                        <a:rPr kumimoji="0" lang="en-US" sz="1400" b="1" i="0" u="none" strike="noStrike" kern="1200" cap="none" normalizeH="0" baseline="0" dirty="0">
                          <a:ln>
                            <a:noFill/>
                          </a:ln>
                          <a:solidFill>
                            <a:schemeClr val="tx1"/>
                          </a:solidFill>
                          <a:effectLst/>
                          <a:latin typeface="Roboto" panose="02000000000000000000" pitchFamily="2" charset="0"/>
                          <a:ea typeface="Roboto" panose="02000000000000000000" pitchFamily="2" charset="0"/>
                          <a:cs typeface="+mn-cs"/>
                        </a:rPr>
                        <a:t>Electronic capture of process flowchart or fishbone and “Effect” Side of chart</a:t>
                      </a:r>
                    </a:p>
                    <a:p>
                      <a:pPr marL="285750" marR="0" lvl="0" indent="-285750" algn="l" defTabSz="914400" rtl="0" eaLnBrk="0" fontAlgn="base" latinLnBrk="0" hangingPunct="0">
                        <a:lnSpc>
                          <a:spcPct val="100000"/>
                        </a:lnSpc>
                        <a:spcBef>
                          <a:spcPct val="20000"/>
                        </a:spcBef>
                        <a:spcAft>
                          <a:spcPct val="20000"/>
                        </a:spcAft>
                        <a:buClr>
                          <a:schemeClr val="tx1"/>
                        </a:buClr>
                        <a:buSzPct val="90000"/>
                        <a:buFont typeface="Arial" panose="020B0604020202020204" pitchFamily="34" charset="0"/>
                        <a:buChar char="•"/>
                        <a:tabLst/>
                      </a:pPr>
                      <a:r>
                        <a:rPr kumimoji="0" lang="en-US" sz="1400" b="1" i="0" u="none" strike="noStrike" kern="1200" cap="none" normalizeH="0" baseline="0" dirty="0">
                          <a:ln>
                            <a:noFill/>
                          </a:ln>
                          <a:solidFill>
                            <a:schemeClr val="tx1"/>
                          </a:solidFill>
                          <a:effectLst/>
                          <a:latin typeface="Roboto" panose="02000000000000000000" pitchFamily="2" charset="0"/>
                          <a:ea typeface="Roboto" panose="02000000000000000000" pitchFamily="2" charset="0"/>
                          <a:cs typeface="+mn-cs"/>
                        </a:rPr>
                        <a:t>FACT Cards posted on CEDAC chart</a:t>
                      </a:r>
                    </a:p>
                  </a:txBody>
                  <a:tcPr marT="45715" marB="45715"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855183">
                <a:tc>
                  <a:txBody>
                    <a:bodyPr/>
                    <a:lstStyle/>
                    <a:p>
                      <a:pPr marL="0" marR="0" lvl="0" indent="0" algn="l" defTabSz="914400" rtl="0" eaLnBrk="0" fontAlgn="base" latinLnBrk="0" hangingPunct="0">
                        <a:lnSpc>
                          <a:spcPct val="115000"/>
                        </a:lnSpc>
                        <a:spcBef>
                          <a:spcPct val="20000"/>
                        </a:spcBef>
                        <a:spcAft>
                          <a:spcPct val="20000"/>
                        </a:spcAft>
                        <a:buClr>
                          <a:srgbClr val="006699"/>
                        </a:buClr>
                        <a:buSzPct val="90000"/>
                        <a:buFont typeface="Wingdings" pitchFamily="2" charset="2"/>
                        <a:buNone/>
                        <a:tabLst/>
                        <a:defRPr/>
                      </a:pPr>
                      <a:r>
                        <a:rPr kumimoji="0" lang="en-US" sz="1400" b="1" i="0" u="none" strike="noStrike" cap="none" normalizeH="0" baseline="0" dirty="0">
                          <a:ln>
                            <a:noFill/>
                          </a:ln>
                          <a:solidFill>
                            <a:schemeClr val="tx1"/>
                          </a:solidFill>
                          <a:effectLst/>
                          <a:latin typeface="Roboto" panose="02000000000000000000" pitchFamily="2" charset="0"/>
                          <a:ea typeface="Roboto" panose="02000000000000000000" pitchFamily="2" charset="0"/>
                        </a:rPr>
                        <a:t>Day 3</a:t>
                      </a:r>
                    </a:p>
                  </a:txBody>
                  <a:tcPr marT="45715" marB="45715"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285750" marR="0" lvl="0" indent="-285750" algn="l" defTabSz="914400" rtl="0" eaLnBrk="0" fontAlgn="base" latinLnBrk="0" hangingPunct="0">
                        <a:lnSpc>
                          <a:spcPct val="100000"/>
                        </a:lnSpc>
                        <a:spcBef>
                          <a:spcPct val="20000"/>
                        </a:spcBef>
                        <a:spcAft>
                          <a:spcPct val="20000"/>
                        </a:spcAft>
                        <a:buClr>
                          <a:schemeClr val="tx1"/>
                        </a:buClr>
                        <a:buSzPct val="90000"/>
                        <a:buFont typeface="Arial" panose="020B0604020202020204" pitchFamily="34" charset="0"/>
                        <a:buChar char="•"/>
                        <a:tabLst/>
                      </a:pPr>
                      <a:r>
                        <a:rPr kumimoji="0" lang="en-US" sz="1400" b="1" i="0" u="none" strike="noStrike" kern="1200" cap="none" normalizeH="0" baseline="0" dirty="0">
                          <a:ln>
                            <a:noFill/>
                          </a:ln>
                          <a:solidFill>
                            <a:schemeClr val="tx1"/>
                          </a:solidFill>
                          <a:effectLst/>
                          <a:latin typeface="Roboto" panose="02000000000000000000" pitchFamily="2" charset="0"/>
                          <a:ea typeface="Roboto" panose="02000000000000000000" pitchFamily="2" charset="0"/>
                          <a:cs typeface="+mn-cs"/>
                        </a:rPr>
                        <a:t>Using IMPROVEMENT Cards to propose countermeasures</a:t>
                      </a:r>
                    </a:p>
                  </a:txBody>
                  <a:tcPr marT="45715" marB="45715"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285750" marR="0" lvl="0" indent="-285750" algn="l" defTabSz="914400" rtl="0" eaLnBrk="0" fontAlgn="base" latinLnBrk="0" hangingPunct="0">
                        <a:lnSpc>
                          <a:spcPct val="100000"/>
                        </a:lnSpc>
                        <a:spcBef>
                          <a:spcPct val="20000"/>
                        </a:spcBef>
                        <a:spcAft>
                          <a:spcPct val="20000"/>
                        </a:spcAft>
                        <a:buClr>
                          <a:schemeClr val="tx1"/>
                        </a:buClr>
                        <a:buSzPct val="90000"/>
                        <a:buFont typeface="Arial" panose="020B0604020202020204" pitchFamily="34" charset="0"/>
                        <a:buChar char="•"/>
                        <a:tabLst/>
                      </a:pPr>
                      <a:r>
                        <a:rPr kumimoji="0" lang="en-US" sz="1400" b="1" i="0" u="none" strike="noStrike" kern="1200" cap="none" normalizeH="0" baseline="0" dirty="0">
                          <a:ln>
                            <a:noFill/>
                          </a:ln>
                          <a:solidFill>
                            <a:schemeClr val="tx1"/>
                          </a:solidFill>
                          <a:effectLst/>
                          <a:latin typeface="Roboto" panose="02000000000000000000" pitchFamily="2" charset="0"/>
                          <a:ea typeface="Roboto" panose="02000000000000000000" pitchFamily="2" charset="0"/>
                          <a:cs typeface="+mn-cs"/>
                        </a:rPr>
                        <a:t>IMPROVEMENT Cards Posted on CEDAC chart</a:t>
                      </a:r>
                    </a:p>
                    <a:p>
                      <a:pPr marL="285750" marR="0" lvl="0" indent="-285750" algn="l" defTabSz="914400" rtl="0" eaLnBrk="0" fontAlgn="base" latinLnBrk="0" hangingPunct="0">
                        <a:lnSpc>
                          <a:spcPct val="100000"/>
                        </a:lnSpc>
                        <a:spcBef>
                          <a:spcPct val="20000"/>
                        </a:spcBef>
                        <a:spcAft>
                          <a:spcPct val="20000"/>
                        </a:spcAft>
                        <a:buClr>
                          <a:schemeClr val="tx1"/>
                        </a:buClr>
                        <a:buSzPct val="90000"/>
                        <a:buFont typeface="Arial" panose="020B0604020202020204" pitchFamily="34" charset="0"/>
                        <a:buChar char="•"/>
                        <a:tabLst/>
                      </a:pPr>
                      <a:r>
                        <a:rPr kumimoji="0" lang="en-US" sz="1400" b="1" i="0" u="none" strike="noStrike" kern="1200" cap="none" normalizeH="0" baseline="0" dirty="0">
                          <a:ln>
                            <a:noFill/>
                          </a:ln>
                          <a:solidFill>
                            <a:schemeClr val="tx1"/>
                          </a:solidFill>
                          <a:effectLst/>
                          <a:latin typeface="Roboto" panose="02000000000000000000" pitchFamily="2" charset="0"/>
                          <a:ea typeface="Roboto" panose="02000000000000000000" pitchFamily="2" charset="0"/>
                          <a:cs typeface="+mn-cs"/>
                        </a:rPr>
                        <a:t>Electronic capture of FACT Cards and IMPROVEMENT Cards</a:t>
                      </a:r>
                    </a:p>
                  </a:txBody>
                  <a:tcPr marT="45715" marB="45715"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475828321"/>
                  </a:ext>
                </a:extLst>
              </a:tr>
              <a:tr h="1172340">
                <a:tc>
                  <a:txBody>
                    <a:bodyPr/>
                    <a:lstStyle/>
                    <a:p>
                      <a:pPr marL="0" marR="0" lvl="0" indent="0" algn="l" defTabSz="914400" rtl="0" eaLnBrk="0" fontAlgn="base" latinLnBrk="0" hangingPunct="0">
                        <a:lnSpc>
                          <a:spcPct val="115000"/>
                        </a:lnSpc>
                        <a:spcBef>
                          <a:spcPct val="20000"/>
                        </a:spcBef>
                        <a:spcAft>
                          <a:spcPct val="20000"/>
                        </a:spcAft>
                        <a:buClr>
                          <a:srgbClr val="006699"/>
                        </a:buClr>
                        <a:buSzPct val="90000"/>
                        <a:buFont typeface="Wingdings" pitchFamily="2" charset="2"/>
                        <a:buNone/>
                        <a:tabLst/>
                      </a:pPr>
                      <a:r>
                        <a:rPr kumimoji="0" lang="en-US" sz="1400" b="1" i="0" u="none" strike="noStrike" cap="none" normalizeH="0" baseline="0" dirty="0">
                          <a:ln>
                            <a:noFill/>
                          </a:ln>
                          <a:solidFill>
                            <a:schemeClr val="tx1"/>
                          </a:solidFill>
                          <a:effectLst/>
                          <a:latin typeface="Roboto" panose="02000000000000000000" pitchFamily="2" charset="0"/>
                          <a:ea typeface="Roboto" panose="02000000000000000000" pitchFamily="2" charset="0"/>
                        </a:rPr>
                        <a:t>Day 4</a:t>
                      </a:r>
                    </a:p>
                  </a:txBody>
                  <a:tcPr marT="45715" marB="45715"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285750" marR="0" lvl="0" indent="-285750" algn="l" defTabSz="914400" rtl="0" eaLnBrk="0" fontAlgn="base" latinLnBrk="0" hangingPunct="0">
                        <a:lnSpc>
                          <a:spcPct val="100000"/>
                        </a:lnSpc>
                        <a:spcBef>
                          <a:spcPct val="20000"/>
                        </a:spcBef>
                        <a:spcAft>
                          <a:spcPct val="20000"/>
                        </a:spcAft>
                        <a:buClr>
                          <a:schemeClr val="tx1"/>
                        </a:buClr>
                        <a:buSzPct val="90000"/>
                        <a:buFont typeface="Arial" panose="020B0604020202020204" pitchFamily="34" charset="0"/>
                        <a:buChar char="•"/>
                        <a:tabLst/>
                      </a:pPr>
                      <a:r>
                        <a:rPr kumimoji="0" lang="en-US" sz="1400" b="1" i="0" u="none" strike="noStrike" kern="1200" cap="none" normalizeH="0" baseline="0" dirty="0">
                          <a:ln>
                            <a:noFill/>
                          </a:ln>
                          <a:solidFill>
                            <a:schemeClr val="tx1"/>
                          </a:solidFill>
                          <a:effectLst/>
                          <a:latin typeface="Roboto" panose="02000000000000000000" pitchFamily="2" charset="0"/>
                          <a:ea typeface="Roboto" panose="02000000000000000000" pitchFamily="2" charset="0"/>
                          <a:cs typeface="+mn-cs"/>
                        </a:rPr>
                        <a:t>Prioritizing and acting on IMPROVEMENT Cards</a:t>
                      </a:r>
                    </a:p>
                    <a:p>
                      <a:pPr marL="285750" marR="0" lvl="0" indent="-285750" algn="l" defTabSz="914400" rtl="0" eaLnBrk="0" fontAlgn="base" latinLnBrk="0" hangingPunct="0">
                        <a:lnSpc>
                          <a:spcPct val="100000"/>
                        </a:lnSpc>
                        <a:spcBef>
                          <a:spcPct val="20000"/>
                        </a:spcBef>
                        <a:spcAft>
                          <a:spcPct val="20000"/>
                        </a:spcAft>
                        <a:buClr>
                          <a:schemeClr val="tx1"/>
                        </a:buClr>
                        <a:buSzPct val="90000"/>
                        <a:buFont typeface="Arial" panose="020B0604020202020204" pitchFamily="34" charset="0"/>
                        <a:buChar char="•"/>
                        <a:tabLst/>
                      </a:pPr>
                      <a:r>
                        <a:rPr kumimoji="0" lang="en-US" sz="1400" b="1" i="0" u="none" strike="noStrike" kern="1200" cap="none" normalizeH="0" baseline="0" dirty="0">
                          <a:ln>
                            <a:noFill/>
                          </a:ln>
                          <a:solidFill>
                            <a:schemeClr val="tx1"/>
                          </a:solidFill>
                          <a:effectLst/>
                          <a:latin typeface="Roboto" panose="02000000000000000000" pitchFamily="2" charset="0"/>
                          <a:ea typeface="Roboto" panose="02000000000000000000" pitchFamily="2" charset="0"/>
                          <a:cs typeface="+mn-cs"/>
                        </a:rPr>
                        <a:t>Post-event Follow-up and tracking to problem resolution</a:t>
                      </a:r>
                    </a:p>
                  </a:txBody>
                  <a:tcPr marT="45715" marB="45715"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285750" marR="0" lvl="0" indent="-285750" algn="l" defTabSz="914400" rtl="0" eaLnBrk="0" fontAlgn="base" latinLnBrk="0" hangingPunct="0">
                        <a:lnSpc>
                          <a:spcPct val="100000"/>
                        </a:lnSpc>
                        <a:spcBef>
                          <a:spcPct val="20000"/>
                        </a:spcBef>
                        <a:spcAft>
                          <a:spcPct val="20000"/>
                        </a:spcAft>
                        <a:buClr>
                          <a:schemeClr val="tx1"/>
                        </a:buClr>
                        <a:buSzPct val="90000"/>
                        <a:buFont typeface="Arial" panose="020B0604020202020204" pitchFamily="34" charset="0"/>
                        <a:buChar char="•"/>
                        <a:tabLst/>
                      </a:pPr>
                      <a:r>
                        <a:rPr kumimoji="0" lang="en-US" sz="1400" b="1" i="0" u="none" strike="noStrike" kern="1200" cap="none" normalizeH="0" baseline="0" dirty="0">
                          <a:ln>
                            <a:noFill/>
                          </a:ln>
                          <a:solidFill>
                            <a:schemeClr val="tx1"/>
                          </a:solidFill>
                          <a:effectLst/>
                          <a:latin typeface="Roboto" panose="02000000000000000000" pitchFamily="2" charset="0"/>
                          <a:ea typeface="Roboto" panose="02000000000000000000" pitchFamily="2" charset="0"/>
                          <a:cs typeface="+mn-cs"/>
                        </a:rPr>
                        <a:t>Selected IMPROVEMENT Cards marked for action</a:t>
                      </a:r>
                    </a:p>
                    <a:p>
                      <a:pPr marL="285750" marR="0" lvl="0" indent="-285750" algn="l" defTabSz="914400" rtl="0" eaLnBrk="0" fontAlgn="base" latinLnBrk="0" hangingPunct="0">
                        <a:lnSpc>
                          <a:spcPct val="100000"/>
                        </a:lnSpc>
                        <a:spcBef>
                          <a:spcPct val="20000"/>
                        </a:spcBef>
                        <a:spcAft>
                          <a:spcPct val="20000"/>
                        </a:spcAft>
                        <a:buClr>
                          <a:schemeClr val="tx1"/>
                        </a:buClr>
                        <a:buSzPct val="90000"/>
                        <a:buFont typeface="Arial" panose="020B0604020202020204" pitchFamily="34" charset="0"/>
                        <a:buChar char="•"/>
                        <a:tabLst/>
                      </a:pPr>
                      <a:r>
                        <a:rPr kumimoji="0" lang="en-US" sz="1400" b="1" i="0" u="none" strike="noStrike" kern="1200" cap="none" normalizeH="0" baseline="0" dirty="0">
                          <a:ln>
                            <a:noFill/>
                          </a:ln>
                          <a:solidFill>
                            <a:schemeClr val="tx1"/>
                          </a:solidFill>
                          <a:effectLst/>
                          <a:latin typeface="Roboto" panose="02000000000000000000" pitchFamily="2" charset="0"/>
                          <a:ea typeface="Roboto" panose="02000000000000000000" pitchFamily="2" charset="0"/>
                          <a:cs typeface="+mn-cs"/>
                        </a:rPr>
                        <a:t>Electronic Capture of IMPROVEMENT Card action and status</a:t>
                      </a:r>
                    </a:p>
                    <a:p>
                      <a:pPr marL="285750" marR="0" lvl="0" indent="-285750" algn="l" defTabSz="914400" rtl="0" eaLnBrk="0" fontAlgn="base" latinLnBrk="0" hangingPunct="0">
                        <a:lnSpc>
                          <a:spcPct val="100000"/>
                        </a:lnSpc>
                        <a:spcBef>
                          <a:spcPct val="20000"/>
                        </a:spcBef>
                        <a:spcAft>
                          <a:spcPct val="20000"/>
                        </a:spcAft>
                        <a:buClr>
                          <a:schemeClr val="tx1"/>
                        </a:buClr>
                        <a:buSzPct val="90000"/>
                        <a:buFont typeface="Arial" panose="020B0604020202020204" pitchFamily="34" charset="0"/>
                        <a:buChar char="•"/>
                        <a:tabLst/>
                      </a:pPr>
                      <a:r>
                        <a:rPr kumimoji="0" lang="en-US" sz="1400" b="1" i="0" u="none" strike="noStrike" kern="1200" cap="none" normalizeH="0" baseline="0" dirty="0">
                          <a:ln>
                            <a:noFill/>
                          </a:ln>
                          <a:solidFill>
                            <a:schemeClr val="tx1"/>
                          </a:solidFill>
                          <a:effectLst/>
                          <a:latin typeface="Roboto" panose="02000000000000000000" pitchFamily="2" charset="0"/>
                          <a:ea typeface="Roboto" panose="02000000000000000000" pitchFamily="2" charset="0"/>
                          <a:cs typeface="+mn-cs"/>
                        </a:rPr>
                        <a:t>Follow-up Plan</a:t>
                      </a:r>
                    </a:p>
                  </a:txBody>
                  <a:tcPr marT="45715" marB="45715"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530759">
                <a:tc>
                  <a:txBody>
                    <a:bodyPr/>
                    <a:lstStyle/>
                    <a:p>
                      <a:pPr marL="0" marR="0" lvl="0" indent="0" algn="l" defTabSz="914400" rtl="0" eaLnBrk="0" fontAlgn="base" latinLnBrk="0" hangingPunct="0">
                        <a:lnSpc>
                          <a:spcPct val="115000"/>
                        </a:lnSpc>
                        <a:spcBef>
                          <a:spcPct val="20000"/>
                        </a:spcBef>
                        <a:spcAft>
                          <a:spcPct val="20000"/>
                        </a:spcAft>
                        <a:buClr>
                          <a:srgbClr val="006699"/>
                        </a:buClr>
                        <a:buSzPct val="90000"/>
                        <a:buFont typeface="Wingdings" pitchFamily="2" charset="2"/>
                        <a:buNone/>
                        <a:tabLst/>
                      </a:pPr>
                      <a:r>
                        <a:rPr kumimoji="0" lang="en-US" sz="1400" b="1" i="0" u="none" strike="noStrike" cap="none" normalizeH="0" baseline="0" dirty="0">
                          <a:ln>
                            <a:noFill/>
                          </a:ln>
                          <a:solidFill>
                            <a:schemeClr val="tx1"/>
                          </a:solidFill>
                          <a:effectLst/>
                          <a:latin typeface="Roboto" panose="02000000000000000000" pitchFamily="2" charset="0"/>
                          <a:ea typeface="Roboto" panose="02000000000000000000" pitchFamily="2" charset="0"/>
                        </a:rPr>
                        <a:t>Day 5</a:t>
                      </a:r>
                    </a:p>
                  </a:txBody>
                  <a:tcPr marT="45715" marB="45715"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285750" marR="0" lvl="0" indent="-285750" algn="l" defTabSz="914400" rtl="0" eaLnBrk="0" fontAlgn="base" latinLnBrk="0" hangingPunct="0">
                        <a:lnSpc>
                          <a:spcPct val="100000"/>
                        </a:lnSpc>
                        <a:spcBef>
                          <a:spcPct val="20000"/>
                        </a:spcBef>
                        <a:spcAft>
                          <a:spcPct val="20000"/>
                        </a:spcAft>
                        <a:buClr>
                          <a:schemeClr val="tx1"/>
                        </a:buClr>
                        <a:buSzPct val="90000"/>
                        <a:buFont typeface="Arial" panose="020B0604020202020204" pitchFamily="34" charset="0"/>
                        <a:buChar char="•"/>
                        <a:tabLst/>
                      </a:pPr>
                      <a:endParaRPr kumimoji="0" lang="en-US" sz="1400" b="1" i="0" u="none" strike="noStrike" kern="1200" cap="none" normalizeH="0" baseline="0" dirty="0">
                        <a:ln>
                          <a:noFill/>
                        </a:ln>
                        <a:solidFill>
                          <a:schemeClr val="tx1"/>
                        </a:solidFill>
                        <a:effectLst/>
                        <a:latin typeface="Roboto" panose="02000000000000000000" pitchFamily="2" charset="0"/>
                        <a:ea typeface="Roboto" panose="02000000000000000000" pitchFamily="2" charset="0"/>
                        <a:cs typeface="+mn-cs"/>
                      </a:endParaRPr>
                    </a:p>
                  </a:txBody>
                  <a:tcPr marT="45715" marB="45715"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285750" marR="0" lvl="0" indent="-285750" algn="l" defTabSz="914400" rtl="0" eaLnBrk="0" fontAlgn="base" latinLnBrk="0" hangingPunct="0">
                        <a:lnSpc>
                          <a:spcPct val="100000"/>
                        </a:lnSpc>
                        <a:spcBef>
                          <a:spcPct val="20000"/>
                        </a:spcBef>
                        <a:spcAft>
                          <a:spcPct val="20000"/>
                        </a:spcAft>
                        <a:buClr>
                          <a:schemeClr val="tx1"/>
                        </a:buClr>
                        <a:buSzPct val="90000"/>
                        <a:buFont typeface="Arial" panose="020B0604020202020204" pitchFamily="34" charset="0"/>
                        <a:buChar char="•"/>
                        <a:tabLst/>
                      </a:pPr>
                      <a:r>
                        <a:rPr kumimoji="0" lang="en-US" sz="1400" b="1" i="0" u="none" strike="noStrike" kern="1200" cap="none" normalizeH="0" baseline="0" dirty="0">
                          <a:ln>
                            <a:noFill/>
                          </a:ln>
                          <a:solidFill>
                            <a:schemeClr val="tx1"/>
                          </a:solidFill>
                          <a:effectLst/>
                          <a:latin typeface="Roboto" panose="02000000000000000000" pitchFamily="2" charset="0"/>
                          <a:ea typeface="Roboto" panose="02000000000000000000" pitchFamily="2" charset="0"/>
                          <a:cs typeface="+mn-cs"/>
                        </a:rPr>
                        <a:t>Report out</a:t>
                      </a:r>
                    </a:p>
                  </a:txBody>
                  <a:tcPr marT="45715" marB="45715"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402536967"/>
                  </a:ext>
                </a:extLst>
              </a:tr>
            </a:tbl>
          </a:graphicData>
        </a:graphic>
      </p:graphicFrame>
    </p:spTree>
    <p:extLst>
      <p:ext uri="{BB962C8B-B14F-4D97-AF65-F5344CB8AC3E}">
        <p14:creationId xmlns:p14="http://schemas.microsoft.com/office/powerpoint/2010/main" val="8381607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8D9ED7-5CF9-6F4B-B4A8-2DBF8D852A20}"/>
              </a:ext>
            </a:extLst>
          </p:cNvPr>
          <p:cNvSpPr>
            <a:spLocks noGrp="1"/>
          </p:cNvSpPr>
          <p:nvPr>
            <p:ph type="title"/>
          </p:nvPr>
        </p:nvSpPr>
        <p:spPr/>
        <p:txBody>
          <a:bodyPr>
            <a:normAutofit/>
          </a:bodyPr>
          <a:lstStyle/>
          <a:p>
            <a:r>
              <a:rPr lang="en-US" sz="4000" dirty="0">
                <a:latin typeface="Roboto Medium"/>
                <a:ea typeface="Roboto Medium"/>
                <a:cs typeface="Roboto Medium"/>
              </a:rPr>
              <a:t>Exercise: CEDAC Charter Review</a:t>
            </a:r>
          </a:p>
        </p:txBody>
      </p:sp>
      <p:sp>
        <p:nvSpPr>
          <p:cNvPr id="5" name="Slide Number Placeholder 4">
            <a:extLst>
              <a:ext uri="{FF2B5EF4-FFF2-40B4-BE49-F238E27FC236}">
                <a16:creationId xmlns:a16="http://schemas.microsoft.com/office/drawing/2014/main" id="{EFB3C390-D307-7FFC-DADE-918C5180FE01}"/>
              </a:ext>
            </a:extLst>
          </p:cNvPr>
          <p:cNvSpPr>
            <a:spLocks noGrp="1"/>
          </p:cNvSpPr>
          <p:nvPr>
            <p:ph type="sldNum" sz="quarter" idx="4294967295"/>
          </p:nvPr>
        </p:nvSpPr>
        <p:spPr>
          <a:xfrm>
            <a:off x="8595078" y="6333148"/>
            <a:ext cx="2743200" cy="365125"/>
          </a:xfrm>
          <a:prstGeom prst="rect">
            <a:avLst/>
          </a:prstGeom>
        </p:spPr>
        <p:txBody>
          <a:bodyPr/>
          <a:lstStyle/>
          <a:p>
            <a:fld id="{CC6D4273-7FC1-0947-B9FE-19CB3C0D1FB6}" type="slidenum">
              <a:rPr lang="en-US" smtClean="0"/>
              <a:t>7</a:t>
            </a:fld>
            <a:endParaRPr lang="en-US"/>
          </a:p>
        </p:txBody>
      </p:sp>
      <p:sp>
        <p:nvSpPr>
          <p:cNvPr id="11" name="Rectangle 10">
            <a:extLst>
              <a:ext uri="{FF2B5EF4-FFF2-40B4-BE49-F238E27FC236}">
                <a16:creationId xmlns:a16="http://schemas.microsoft.com/office/drawing/2014/main" id="{3A9506B7-1A57-1322-5AB5-DA8522EE7602}"/>
              </a:ext>
            </a:extLst>
          </p:cNvPr>
          <p:cNvSpPr/>
          <p:nvPr/>
        </p:nvSpPr>
        <p:spPr>
          <a:xfrm>
            <a:off x="838200" y="2328433"/>
            <a:ext cx="9722342" cy="471924"/>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4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Review the CEDAC Charter for the event. </a:t>
            </a:r>
          </a:p>
        </p:txBody>
      </p:sp>
      <p:sp>
        <p:nvSpPr>
          <p:cNvPr id="12" name="TextBox 11">
            <a:extLst>
              <a:ext uri="{FF2B5EF4-FFF2-40B4-BE49-F238E27FC236}">
                <a16:creationId xmlns:a16="http://schemas.microsoft.com/office/drawing/2014/main" id="{A4ECB5F6-F271-06CD-2A6A-E79F5245CD15}"/>
              </a:ext>
            </a:extLst>
          </p:cNvPr>
          <p:cNvSpPr txBox="1"/>
          <p:nvPr/>
        </p:nvSpPr>
        <p:spPr>
          <a:xfrm>
            <a:off x="838200" y="1767653"/>
            <a:ext cx="1603003"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Objective</a:t>
            </a:r>
            <a:endParaRPr kumimoji="0" lang="en-US" sz="56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endParaRPr>
          </a:p>
        </p:txBody>
      </p:sp>
      <p:sp>
        <p:nvSpPr>
          <p:cNvPr id="13" name="TextBox 12">
            <a:extLst>
              <a:ext uri="{FF2B5EF4-FFF2-40B4-BE49-F238E27FC236}">
                <a16:creationId xmlns:a16="http://schemas.microsoft.com/office/drawing/2014/main" id="{EA94F381-2B48-C111-2724-726B0390290F}"/>
              </a:ext>
            </a:extLst>
          </p:cNvPr>
          <p:cNvSpPr txBox="1"/>
          <p:nvPr/>
        </p:nvSpPr>
        <p:spPr>
          <a:xfrm>
            <a:off x="838200" y="2952549"/>
            <a:ext cx="2022990"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Instructions</a:t>
            </a:r>
            <a:endParaRPr kumimoji="0" lang="en-US" sz="56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endParaRPr>
          </a:p>
        </p:txBody>
      </p:sp>
      <p:sp>
        <p:nvSpPr>
          <p:cNvPr id="14" name="Rectangle 13">
            <a:extLst>
              <a:ext uri="{FF2B5EF4-FFF2-40B4-BE49-F238E27FC236}">
                <a16:creationId xmlns:a16="http://schemas.microsoft.com/office/drawing/2014/main" id="{82677B47-98C9-F770-8D4E-7D91CF39F5A7}"/>
              </a:ext>
            </a:extLst>
          </p:cNvPr>
          <p:cNvSpPr/>
          <p:nvPr/>
        </p:nvSpPr>
        <p:spPr>
          <a:xfrm>
            <a:off x="818941" y="3486027"/>
            <a:ext cx="4419809" cy="2318583"/>
          </a:xfrm>
          <a:prstGeom prst="rect">
            <a:avLst/>
          </a:prstGeom>
          <a:solidFill>
            <a:schemeClr val="bg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As a team review the event charter and answer the following questions:</a:t>
            </a:r>
            <a:br>
              <a:rPr kumimoji="0" lang="en-US"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br>
            <a:r>
              <a:rPr kumimoji="0" lang="en-US"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What is the business need for this event?</a:t>
            </a:r>
          </a:p>
          <a:p>
            <a:pPr marL="0" marR="0" indent="0" algn="l" defTabSz="584200" rtl="0" fontAlgn="auto" latinLnBrk="0" hangingPunct="0">
              <a:lnSpc>
                <a:spcPct val="100000"/>
              </a:lnSpc>
              <a:spcBef>
                <a:spcPts val="0"/>
              </a:spcBef>
              <a:spcAft>
                <a:spcPts val="0"/>
              </a:spcAft>
              <a:buClrTx/>
              <a:buSzTx/>
              <a:buFontTx/>
              <a:buNone/>
              <a:tabLst/>
            </a:pPr>
            <a:r>
              <a:rPr kumimoji="0" lang="en-US"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Who is the owner?</a:t>
            </a:r>
          </a:p>
          <a:p>
            <a:pPr marL="0" marR="0" indent="0" algn="l" defTabSz="584200" rtl="0" fontAlgn="auto" latinLnBrk="0" hangingPunct="0">
              <a:lnSpc>
                <a:spcPct val="100000"/>
              </a:lnSpc>
              <a:spcBef>
                <a:spcPts val="0"/>
              </a:spcBef>
              <a:spcAft>
                <a:spcPts val="0"/>
              </a:spcAft>
              <a:buClrTx/>
              <a:buSzTx/>
              <a:buFontTx/>
              <a:buNone/>
              <a:tabLst/>
            </a:pPr>
            <a:r>
              <a:rPr kumimoji="0" lang="en-US"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What are the clear boundaries? </a:t>
            </a:r>
          </a:p>
          <a:p>
            <a:pPr marL="0" marR="0" indent="0" algn="l" defTabSz="584200" rtl="0" fontAlgn="auto" latinLnBrk="0" hangingPunct="0">
              <a:lnSpc>
                <a:spcPct val="100000"/>
              </a:lnSpc>
              <a:spcBef>
                <a:spcPts val="0"/>
              </a:spcBef>
              <a:spcAft>
                <a:spcPts val="0"/>
              </a:spcAft>
              <a:buClrTx/>
              <a:buSzTx/>
              <a:buFontTx/>
              <a:buNone/>
              <a:tabLst/>
            </a:pPr>
            <a:r>
              <a:rPr kumimoji="0" lang="en-US"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What is the scope for this event?  </a:t>
            </a:r>
          </a:p>
          <a:p>
            <a:pPr marL="0" marR="0" indent="0" algn="l" defTabSz="584200" rtl="0" fontAlgn="auto" latinLnBrk="0" hangingPunct="0">
              <a:lnSpc>
                <a:spcPct val="100000"/>
              </a:lnSpc>
              <a:spcBef>
                <a:spcPts val="0"/>
              </a:spcBef>
              <a:spcAft>
                <a:spcPts val="0"/>
              </a:spcAft>
              <a:buClrTx/>
              <a:buSzTx/>
              <a:buFontTx/>
              <a:buNone/>
              <a:tabLst/>
            </a:pPr>
            <a:r>
              <a:rPr kumimoji="0" lang="en-US"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What are the goals for this event? </a:t>
            </a:r>
          </a:p>
        </p:txBody>
      </p:sp>
      <p:sp>
        <p:nvSpPr>
          <p:cNvPr id="15" name="TextBox 14">
            <a:extLst>
              <a:ext uri="{FF2B5EF4-FFF2-40B4-BE49-F238E27FC236}">
                <a16:creationId xmlns:a16="http://schemas.microsoft.com/office/drawing/2014/main" id="{90914B3B-0CE2-FDFF-2FB9-215236316256}"/>
              </a:ext>
            </a:extLst>
          </p:cNvPr>
          <p:cNvSpPr txBox="1"/>
          <p:nvPr/>
        </p:nvSpPr>
        <p:spPr>
          <a:xfrm>
            <a:off x="5879250" y="2952548"/>
            <a:ext cx="2968761"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Time to Complete</a:t>
            </a:r>
          </a:p>
        </p:txBody>
      </p:sp>
      <p:sp>
        <p:nvSpPr>
          <p:cNvPr id="16" name="TextBox 15">
            <a:extLst>
              <a:ext uri="{FF2B5EF4-FFF2-40B4-BE49-F238E27FC236}">
                <a16:creationId xmlns:a16="http://schemas.microsoft.com/office/drawing/2014/main" id="{6285230A-07BD-F376-25CA-177CC1D4233F}"/>
              </a:ext>
            </a:extLst>
          </p:cNvPr>
          <p:cNvSpPr txBox="1"/>
          <p:nvPr/>
        </p:nvSpPr>
        <p:spPr>
          <a:xfrm>
            <a:off x="5879250" y="4136472"/>
            <a:ext cx="1888337"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Deliverable</a:t>
            </a:r>
          </a:p>
        </p:txBody>
      </p:sp>
      <p:sp>
        <p:nvSpPr>
          <p:cNvPr id="17" name="Rectangle 16">
            <a:extLst>
              <a:ext uri="{FF2B5EF4-FFF2-40B4-BE49-F238E27FC236}">
                <a16:creationId xmlns:a16="http://schemas.microsoft.com/office/drawing/2014/main" id="{67530399-8FDB-50CD-E8FD-8E286DE1A2EA}"/>
              </a:ext>
            </a:extLst>
          </p:cNvPr>
          <p:cNvSpPr/>
          <p:nvPr/>
        </p:nvSpPr>
        <p:spPr>
          <a:xfrm>
            <a:off x="5879250" y="3496996"/>
            <a:ext cx="4681292" cy="471924"/>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584200" hangingPunct="0"/>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15 minutes</a:t>
            </a:r>
          </a:p>
        </p:txBody>
      </p:sp>
      <p:sp>
        <p:nvSpPr>
          <p:cNvPr id="18" name="Rectangle 17">
            <a:extLst>
              <a:ext uri="{FF2B5EF4-FFF2-40B4-BE49-F238E27FC236}">
                <a16:creationId xmlns:a16="http://schemas.microsoft.com/office/drawing/2014/main" id="{84DF6BD6-975A-3700-5E69-322EFF4F722E}"/>
              </a:ext>
            </a:extLst>
          </p:cNvPr>
          <p:cNvSpPr/>
          <p:nvPr/>
        </p:nvSpPr>
        <p:spPr>
          <a:xfrm>
            <a:off x="5879250" y="4665559"/>
            <a:ext cx="4681292" cy="841256"/>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584200" hangingPunct="0"/>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Make any modifications</a:t>
            </a:r>
            <a:b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br>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to charter as necessary. </a:t>
            </a:r>
          </a:p>
        </p:txBody>
      </p:sp>
    </p:spTree>
    <p:extLst>
      <p:ext uri="{BB962C8B-B14F-4D97-AF65-F5344CB8AC3E}">
        <p14:creationId xmlns:p14="http://schemas.microsoft.com/office/powerpoint/2010/main" val="184064854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2DF11FF7-095F-D1A9-6784-C53D538A36FF}"/>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8</a:t>
            </a:fld>
            <a:endParaRPr lang="en-US"/>
          </a:p>
        </p:txBody>
      </p:sp>
      <p:sp>
        <p:nvSpPr>
          <p:cNvPr id="2" name="Title 1">
            <a:extLst>
              <a:ext uri="{FF2B5EF4-FFF2-40B4-BE49-F238E27FC236}">
                <a16:creationId xmlns:a16="http://schemas.microsoft.com/office/drawing/2014/main" id="{0D77BA17-B180-9889-85DC-DBE8C080CFB7}"/>
              </a:ext>
            </a:extLst>
          </p:cNvPr>
          <p:cNvSpPr>
            <a:spLocks noGrp="1"/>
          </p:cNvSpPr>
          <p:nvPr>
            <p:ph type="title" idx="4294967295"/>
          </p:nvPr>
        </p:nvSpPr>
        <p:spPr>
          <a:xfrm>
            <a:off x="699911" y="1497012"/>
            <a:ext cx="9815689" cy="1009650"/>
          </a:xfrm>
          <a:prstGeom prst="rect">
            <a:avLst/>
          </a:prstGeom>
        </p:spPr>
        <p:txBody>
          <a:bodyPr>
            <a:normAutofit/>
          </a:bodyPr>
          <a:lstStyle/>
          <a:p>
            <a:r>
              <a:rPr lang="en-US" sz="4000" dirty="0">
                <a:latin typeface="Roboto Medium"/>
                <a:ea typeface="Roboto Medium"/>
                <a:cs typeface="Roboto Medium"/>
              </a:rPr>
              <a:t>CEDAC</a:t>
            </a:r>
          </a:p>
        </p:txBody>
      </p:sp>
      <p:sp>
        <p:nvSpPr>
          <p:cNvPr id="3" name="Content Placeholder 2">
            <a:extLst>
              <a:ext uri="{FF2B5EF4-FFF2-40B4-BE49-F238E27FC236}">
                <a16:creationId xmlns:a16="http://schemas.microsoft.com/office/drawing/2014/main" id="{30534846-F3D4-20E7-25C0-91FCF7736CB5}"/>
              </a:ext>
            </a:extLst>
          </p:cNvPr>
          <p:cNvSpPr>
            <a:spLocks noGrp="1"/>
          </p:cNvSpPr>
          <p:nvPr>
            <p:ph idx="4294967295"/>
          </p:nvPr>
        </p:nvSpPr>
        <p:spPr>
          <a:xfrm>
            <a:off x="722489" y="2506662"/>
            <a:ext cx="10515600" cy="4351338"/>
          </a:xfrm>
        </p:spPr>
        <p:txBody>
          <a:bodyPr/>
          <a:lstStyle/>
          <a:p>
            <a:pPr marL="0" indent="0">
              <a:buNone/>
            </a:pPr>
            <a:r>
              <a:rPr lang="en-US" dirty="0">
                <a:latin typeface="Roboto Medium" panose="02000000000000000000" pitchFamily="2" charset="0"/>
                <a:ea typeface="Roboto Medium" panose="02000000000000000000" pitchFamily="2" charset="0"/>
                <a:cs typeface="Roboto Medium" panose="02000000000000000000" pitchFamily="2" charset="0"/>
              </a:rPr>
              <a:t>Objectives:</a:t>
            </a:r>
          </a:p>
          <a:p>
            <a:r>
              <a:rPr lang="en-US" sz="2400" dirty="0"/>
              <a:t>Define CEDAC</a:t>
            </a:r>
          </a:p>
          <a:p>
            <a:r>
              <a:rPr lang="en-US" sz="2400" dirty="0"/>
              <a:t>When to use CEDAC</a:t>
            </a:r>
          </a:p>
          <a:p>
            <a:r>
              <a:rPr lang="en-US" sz="2400" dirty="0"/>
              <a:t>Identify steps of the CEDAC Roadmap and Process</a:t>
            </a:r>
          </a:p>
          <a:p>
            <a:r>
              <a:rPr lang="en-US" sz="2400" dirty="0"/>
              <a:t>Review examples of success with CEDAC</a:t>
            </a:r>
          </a:p>
        </p:txBody>
      </p:sp>
      <p:grpSp>
        <p:nvGrpSpPr>
          <p:cNvPr id="11" name="Group 10">
            <a:extLst>
              <a:ext uri="{FF2B5EF4-FFF2-40B4-BE49-F238E27FC236}">
                <a16:creationId xmlns:a16="http://schemas.microsoft.com/office/drawing/2014/main" id="{DCC7CB02-4F0E-2CE8-9EF1-D9AEB4FA2691}"/>
              </a:ext>
            </a:extLst>
          </p:cNvPr>
          <p:cNvGrpSpPr/>
          <p:nvPr/>
        </p:nvGrpSpPr>
        <p:grpSpPr>
          <a:xfrm>
            <a:off x="699911" y="837133"/>
            <a:ext cx="7273624" cy="659879"/>
            <a:chOff x="699911" y="1069861"/>
            <a:chExt cx="7273624" cy="350130"/>
          </a:xfrm>
        </p:grpSpPr>
        <p:sp>
          <p:nvSpPr>
            <p:cNvPr id="5" name="AutoShape 9">
              <a:extLst>
                <a:ext uri="{FF2B5EF4-FFF2-40B4-BE49-F238E27FC236}">
                  <a16:creationId xmlns:a16="http://schemas.microsoft.com/office/drawing/2014/main" id="{A10A2475-FBAF-2DA7-EE48-9E0556DB3824}"/>
                </a:ext>
              </a:extLst>
            </p:cNvPr>
            <p:cNvSpPr>
              <a:spLocks noChangeArrowheads="1"/>
            </p:cNvSpPr>
            <p:nvPr/>
          </p:nvSpPr>
          <p:spPr bwMode="auto">
            <a:xfrm>
              <a:off x="6395259" y="1069861"/>
              <a:ext cx="1578276" cy="350130"/>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200" dirty="0">
                  <a:solidFill>
                    <a:schemeClr val="bg1"/>
                  </a:solidFill>
                  <a:latin typeface="Roboto" panose="02000000000000000000" pitchFamily="2" charset="0"/>
                  <a:ea typeface="Roboto" panose="02000000000000000000" pitchFamily="2" charset="0"/>
                  <a:cs typeface="Roboto" panose="02000000000000000000" pitchFamily="2" charset="0"/>
                </a:rPr>
                <a:t>CEDAC Review</a:t>
              </a:r>
            </a:p>
          </p:txBody>
        </p:sp>
        <p:sp>
          <p:nvSpPr>
            <p:cNvPr id="4" name="AutoShape 9">
              <a:extLst>
                <a:ext uri="{FF2B5EF4-FFF2-40B4-BE49-F238E27FC236}">
                  <a16:creationId xmlns:a16="http://schemas.microsoft.com/office/drawing/2014/main" id="{663C2CC0-8818-6B25-BBA3-89708896610A}"/>
                </a:ext>
              </a:extLst>
            </p:cNvPr>
            <p:cNvSpPr>
              <a:spLocks noChangeArrowheads="1"/>
            </p:cNvSpPr>
            <p:nvPr/>
          </p:nvSpPr>
          <p:spPr bwMode="auto">
            <a:xfrm>
              <a:off x="4971710" y="1069861"/>
              <a:ext cx="1578276" cy="350130"/>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200" dirty="0">
                  <a:solidFill>
                    <a:schemeClr val="bg1"/>
                  </a:solidFill>
                  <a:latin typeface="Roboto" panose="02000000000000000000" pitchFamily="2" charset="0"/>
                  <a:ea typeface="Roboto" panose="02000000000000000000" pitchFamily="2" charset="0"/>
                  <a:cs typeface="Roboto" panose="02000000000000000000" pitchFamily="2" charset="0"/>
                </a:rPr>
                <a:t>CEDAC Solution</a:t>
              </a:r>
            </a:p>
          </p:txBody>
        </p:sp>
        <p:grpSp>
          <p:nvGrpSpPr>
            <p:cNvPr id="10" name="Group 9">
              <a:extLst>
                <a:ext uri="{FF2B5EF4-FFF2-40B4-BE49-F238E27FC236}">
                  <a16:creationId xmlns:a16="http://schemas.microsoft.com/office/drawing/2014/main" id="{DF07BA82-F1D2-01EE-36D7-0CE1E1021337}"/>
                </a:ext>
              </a:extLst>
            </p:cNvPr>
            <p:cNvGrpSpPr/>
            <p:nvPr/>
          </p:nvGrpSpPr>
          <p:grpSpPr>
            <a:xfrm>
              <a:off x="699911" y="1069861"/>
              <a:ext cx="4425950" cy="350130"/>
              <a:chOff x="5627530" y="641179"/>
              <a:chExt cx="6564470" cy="804977"/>
            </a:xfrm>
          </p:grpSpPr>
          <p:sp>
            <p:nvSpPr>
              <p:cNvPr id="7" name="AutoShape 9">
                <a:extLst>
                  <a:ext uri="{FF2B5EF4-FFF2-40B4-BE49-F238E27FC236}">
                    <a16:creationId xmlns:a16="http://schemas.microsoft.com/office/drawing/2014/main" id="{E658DE7F-EAE7-7BD9-8492-805CBFCFF7F5}"/>
                  </a:ext>
                </a:extLst>
              </p:cNvPr>
              <p:cNvSpPr>
                <a:spLocks noChangeArrowheads="1"/>
              </p:cNvSpPr>
              <p:nvPr/>
            </p:nvSpPr>
            <p:spPr bwMode="auto">
              <a:xfrm>
                <a:off x="9851136" y="641179"/>
                <a:ext cx="2340864" cy="804977"/>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200" dirty="0">
                    <a:solidFill>
                      <a:schemeClr val="bg1"/>
                    </a:solidFill>
                    <a:latin typeface="Roboto" panose="02000000000000000000" pitchFamily="2" charset="0"/>
                    <a:ea typeface="Roboto" panose="02000000000000000000" pitchFamily="2" charset="0"/>
                    <a:cs typeface="Roboto" panose="02000000000000000000" pitchFamily="2" charset="0"/>
                  </a:rPr>
                  <a:t>CEDAC Cause</a:t>
                </a:r>
              </a:p>
            </p:txBody>
          </p:sp>
          <p:sp>
            <p:nvSpPr>
              <p:cNvPr id="8" name="AutoShape 10">
                <a:extLst>
                  <a:ext uri="{FF2B5EF4-FFF2-40B4-BE49-F238E27FC236}">
                    <a16:creationId xmlns:a16="http://schemas.microsoft.com/office/drawing/2014/main" id="{3B341166-AC1F-8D30-9314-0FB3D948387F}"/>
                  </a:ext>
                </a:extLst>
              </p:cNvPr>
              <p:cNvSpPr>
                <a:spLocks noChangeArrowheads="1"/>
              </p:cNvSpPr>
              <p:nvPr/>
            </p:nvSpPr>
            <p:spPr bwMode="auto">
              <a:xfrm>
                <a:off x="7737856" y="641180"/>
                <a:ext cx="2342768" cy="80497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200" dirty="0">
                    <a:solidFill>
                      <a:schemeClr val="bg1"/>
                    </a:solidFill>
                    <a:latin typeface="Roboto" panose="02000000000000000000" pitchFamily="2" charset="0"/>
                    <a:ea typeface="Roboto" panose="02000000000000000000" pitchFamily="2" charset="0"/>
                    <a:cs typeface="Roboto" panose="02000000000000000000" pitchFamily="2" charset="0"/>
                  </a:rPr>
                  <a:t>CEDAC Effect</a:t>
                </a:r>
              </a:p>
            </p:txBody>
          </p:sp>
          <p:sp>
            <p:nvSpPr>
              <p:cNvPr id="9" name="AutoShape 11">
                <a:extLst>
                  <a:ext uri="{FF2B5EF4-FFF2-40B4-BE49-F238E27FC236}">
                    <a16:creationId xmlns:a16="http://schemas.microsoft.com/office/drawing/2014/main" id="{2AB16F46-B5FA-96F3-91C2-07B2F2F1CC6C}"/>
                  </a:ext>
                </a:extLst>
              </p:cNvPr>
              <p:cNvSpPr>
                <a:spLocks noChangeArrowheads="1"/>
              </p:cNvSpPr>
              <p:nvPr/>
            </p:nvSpPr>
            <p:spPr bwMode="auto">
              <a:xfrm>
                <a:off x="5627530" y="641179"/>
                <a:ext cx="2340864" cy="804977"/>
              </a:xfrm>
              <a:prstGeom prst="homePlate">
                <a:avLst>
                  <a:gd name="adj" fmla="val 29912"/>
                </a:avLst>
              </a:prstGeom>
              <a:solidFill>
                <a:srgbClr val="FFB627"/>
              </a:solidFill>
              <a:ln w="12700" cap="sq">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200" dirty="0">
                    <a:latin typeface="Roboto" panose="02000000000000000000" pitchFamily="2" charset="0"/>
                    <a:ea typeface="Roboto" panose="02000000000000000000" pitchFamily="2" charset="0"/>
                    <a:cs typeface="Roboto" panose="02000000000000000000" pitchFamily="2" charset="0"/>
                  </a:rPr>
                  <a:t>CEDAC Overview</a:t>
                </a:r>
              </a:p>
            </p:txBody>
          </p:sp>
        </p:grpSp>
      </p:grpSp>
      <p:cxnSp>
        <p:nvCxnSpPr>
          <p:cNvPr id="12" name="Straight Connector 11">
            <a:extLst>
              <a:ext uri="{FF2B5EF4-FFF2-40B4-BE49-F238E27FC236}">
                <a16:creationId xmlns:a16="http://schemas.microsoft.com/office/drawing/2014/main" id="{A4FB0DFD-2D15-952D-9825-996B08251FD4}"/>
              </a:ext>
            </a:extLst>
          </p:cNvPr>
          <p:cNvCxnSpPr/>
          <p:nvPr/>
        </p:nvCxnSpPr>
        <p:spPr>
          <a:xfrm>
            <a:off x="699911" y="2386919"/>
            <a:ext cx="3882975" cy="0"/>
          </a:xfrm>
          <a:prstGeom prst="line">
            <a:avLst/>
          </a:prstGeom>
          <a:ln w="254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583006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lstStyle/>
          <a:p>
            <a:r>
              <a:rPr lang="en-US" dirty="0"/>
              <a:t>CEDAC Defined</a:t>
            </a:r>
          </a:p>
        </p:txBody>
      </p:sp>
      <p:sp>
        <p:nvSpPr>
          <p:cNvPr id="3" name="Content Placeholder 2">
            <a:extLst>
              <a:ext uri="{FF2B5EF4-FFF2-40B4-BE49-F238E27FC236}">
                <a16:creationId xmlns:a16="http://schemas.microsoft.com/office/drawing/2014/main" id="{2AA7A201-AD05-6520-E140-CCF11E59E700}"/>
              </a:ext>
            </a:extLst>
          </p:cNvPr>
          <p:cNvSpPr>
            <a:spLocks noGrp="1"/>
          </p:cNvSpPr>
          <p:nvPr>
            <p:ph idx="1"/>
          </p:nvPr>
        </p:nvSpPr>
        <p:spPr/>
        <p:txBody>
          <a:bodyPr/>
          <a:lstStyle/>
          <a:p>
            <a:r>
              <a:rPr lang="en-US" u="sng" dirty="0"/>
              <a:t>C</a:t>
            </a:r>
            <a:r>
              <a:rPr lang="en-US" dirty="0"/>
              <a:t>ause and </a:t>
            </a:r>
            <a:r>
              <a:rPr lang="en-US" u="sng" dirty="0"/>
              <a:t>E</a:t>
            </a:r>
            <a:r>
              <a:rPr lang="en-US" dirty="0"/>
              <a:t>ffect </a:t>
            </a:r>
            <a:r>
              <a:rPr lang="en-US" u="sng" dirty="0"/>
              <a:t>D</a:t>
            </a:r>
            <a:r>
              <a:rPr lang="en-US" dirty="0"/>
              <a:t>iagram with the </a:t>
            </a:r>
            <a:r>
              <a:rPr lang="en-US" u="sng" dirty="0"/>
              <a:t>A</a:t>
            </a:r>
            <a:r>
              <a:rPr lang="en-US" dirty="0"/>
              <a:t>ddition of </a:t>
            </a:r>
            <a:r>
              <a:rPr lang="en-US" u="sng" dirty="0"/>
              <a:t>C</a:t>
            </a:r>
            <a:r>
              <a:rPr lang="en-US" dirty="0"/>
              <a:t>ards</a:t>
            </a:r>
          </a:p>
          <a:p>
            <a:r>
              <a:rPr lang="en-US" dirty="0"/>
              <a:t>An extension of traditional cause and effect diagram (aka: Fishbone diagram) </a:t>
            </a:r>
          </a:p>
          <a:p>
            <a:r>
              <a:rPr lang="en-US" dirty="0"/>
              <a:t>Used in a team-based environment to solve problems by categorizing root causes and testing countermeasures</a:t>
            </a:r>
          </a:p>
          <a:p>
            <a:endParaRPr lang="en-US" dirty="0"/>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9</a:t>
            </a:fld>
            <a:endParaRPr lang="en-US"/>
          </a:p>
        </p:txBody>
      </p:sp>
      <p:grpSp>
        <p:nvGrpSpPr>
          <p:cNvPr id="14" name="Group 13">
            <a:extLst>
              <a:ext uri="{FF2B5EF4-FFF2-40B4-BE49-F238E27FC236}">
                <a16:creationId xmlns:a16="http://schemas.microsoft.com/office/drawing/2014/main" id="{D41303C2-E018-19D2-0EB5-6DA73CD24807}"/>
              </a:ext>
            </a:extLst>
          </p:cNvPr>
          <p:cNvGrpSpPr/>
          <p:nvPr/>
        </p:nvGrpSpPr>
        <p:grpSpPr>
          <a:xfrm>
            <a:off x="838200" y="297639"/>
            <a:ext cx="3396162" cy="306433"/>
            <a:chOff x="838200" y="297639"/>
            <a:chExt cx="3396162" cy="306433"/>
          </a:xfrm>
        </p:grpSpPr>
        <p:grpSp>
          <p:nvGrpSpPr>
            <p:cNvPr id="15" name="Group 14">
              <a:extLst>
                <a:ext uri="{FF2B5EF4-FFF2-40B4-BE49-F238E27FC236}">
                  <a16:creationId xmlns:a16="http://schemas.microsoft.com/office/drawing/2014/main" id="{E5786EBA-3CE5-0613-28ED-FAC08B873002}"/>
                </a:ext>
              </a:extLst>
            </p:cNvPr>
            <p:cNvGrpSpPr/>
            <p:nvPr/>
          </p:nvGrpSpPr>
          <p:grpSpPr>
            <a:xfrm>
              <a:off x="838200" y="297639"/>
              <a:ext cx="1687517" cy="290657"/>
              <a:chOff x="838200" y="297639"/>
              <a:chExt cx="1687517" cy="290657"/>
            </a:xfrm>
          </p:grpSpPr>
          <p:sp>
            <p:nvSpPr>
              <p:cNvPr id="17" name="AutoShape 9">
                <a:extLst>
                  <a:ext uri="{FF2B5EF4-FFF2-40B4-BE49-F238E27FC236}">
                    <a16:creationId xmlns:a16="http://schemas.microsoft.com/office/drawing/2014/main" id="{B174F6F9-D206-07A7-A64A-B68DDBDC1860}"/>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8" name="AutoShape 9">
                <a:extLst>
                  <a:ext uri="{FF2B5EF4-FFF2-40B4-BE49-F238E27FC236}">
                    <a16:creationId xmlns:a16="http://schemas.microsoft.com/office/drawing/2014/main" id="{E8BB91E2-C1AC-FCCB-16DF-8C2FF5B3FF85}"/>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19" name="Group 18">
                <a:extLst>
                  <a:ext uri="{FF2B5EF4-FFF2-40B4-BE49-F238E27FC236}">
                    <a16:creationId xmlns:a16="http://schemas.microsoft.com/office/drawing/2014/main" id="{E2AC478D-7F21-38EF-5560-D40E7C498246}"/>
                  </a:ext>
                </a:extLst>
              </p:cNvPr>
              <p:cNvGrpSpPr/>
              <p:nvPr/>
            </p:nvGrpSpPr>
            <p:grpSpPr>
              <a:xfrm>
                <a:off x="838200" y="297639"/>
                <a:ext cx="1060167" cy="290657"/>
                <a:chOff x="826426" y="4041857"/>
                <a:chExt cx="1060167" cy="290657"/>
              </a:xfrm>
            </p:grpSpPr>
            <p:sp>
              <p:nvSpPr>
                <p:cNvPr id="20" name="AutoShape 9">
                  <a:extLst>
                    <a:ext uri="{FF2B5EF4-FFF2-40B4-BE49-F238E27FC236}">
                      <a16:creationId xmlns:a16="http://schemas.microsoft.com/office/drawing/2014/main" id="{12AB7CB1-4480-4FEE-CE6F-B4F2FA2C986A}"/>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21" name="AutoShape 11">
                  <a:extLst>
                    <a:ext uri="{FF2B5EF4-FFF2-40B4-BE49-F238E27FC236}">
                      <a16:creationId xmlns:a16="http://schemas.microsoft.com/office/drawing/2014/main" id="{AA5419CA-4052-22B2-630C-B0633134EA3A}"/>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22" name="AutoShape 10">
                  <a:extLst>
                    <a:ext uri="{FF2B5EF4-FFF2-40B4-BE49-F238E27FC236}">
                      <a16:creationId xmlns:a16="http://schemas.microsoft.com/office/drawing/2014/main" id="{CCE40F93-E620-B6AC-E23C-FC6C2C06EBAF}"/>
                    </a:ext>
                  </a:extLst>
                </p:cNvPr>
                <p:cNvSpPr>
                  <a:spLocks noChangeArrowheads="1"/>
                </p:cNvSpPr>
                <p:nvPr/>
              </p:nvSpPr>
              <p:spPr bwMode="auto">
                <a:xfrm>
                  <a:off x="82642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grpSp>
        <p:sp>
          <p:nvSpPr>
            <p:cNvPr id="16" name="TextBox 15">
              <a:extLst>
                <a:ext uri="{FF2B5EF4-FFF2-40B4-BE49-F238E27FC236}">
                  <a16:creationId xmlns:a16="http://schemas.microsoft.com/office/drawing/2014/main" id="{9A4733ED-8095-60E0-242E-EA2095CF4379}"/>
                </a:ext>
              </a:extLst>
            </p:cNvPr>
            <p:cNvSpPr txBox="1"/>
            <p:nvPr/>
          </p:nvSpPr>
          <p:spPr>
            <a:xfrm>
              <a:off x="2525717" y="313415"/>
              <a:ext cx="1708645"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Overview</a:t>
              </a:r>
            </a:p>
          </p:txBody>
        </p:sp>
      </p:grpSp>
    </p:spTree>
    <p:extLst>
      <p:ext uri="{BB962C8B-B14F-4D97-AF65-F5344CB8AC3E}">
        <p14:creationId xmlns:p14="http://schemas.microsoft.com/office/powerpoint/2010/main" val="183410980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lstStyle/>
          <a:p>
            <a:r>
              <a:rPr lang="en-US" dirty="0"/>
              <a:t>When to Use CEDAC</a:t>
            </a:r>
          </a:p>
        </p:txBody>
      </p:sp>
      <p:sp>
        <p:nvSpPr>
          <p:cNvPr id="3" name="Content Placeholder 2">
            <a:extLst>
              <a:ext uri="{FF2B5EF4-FFF2-40B4-BE49-F238E27FC236}">
                <a16:creationId xmlns:a16="http://schemas.microsoft.com/office/drawing/2014/main" id="{2AA7A201-AD05-6520-E140-CCF11E59E700}"/>
              </a:ext>
            </a:extLst>
          </p:cNvPr>
          <p:cNvSpPr>
            <a:spLocks noGrp="1"/>
          </p:cNvSpPr>
          <p:nvPr>
            <p:ph idx="1"/>
          </p:nvPr>
        </p:nvSpPr>
        <p:spPr/>
        <p:txBody>
          <a:bodyPr>
            <a:normAutofit fontScale="92500"/>
          </a:bodyPr>
          <a:lstStyle/>
          <a:p>
            <a:r>
              <a:rPr lang="en-US" dirty="0"/>
              <a:t>When addressing complex business or technical problems</a:t>
            </a:r>
          </a:p>
          <a:p>
            <a:r>
              <a:rPr lang="en-US" dirty="0"/>
              <a:t>When there are perceived to be multiple root causes of the problem and multiple countermeasures required to fully solve the problem</a:t>
            </a:r>
          </a:p>
          <a:p>
            <a:r>
              <a:rPr lang="en-US" dirty="0"/>
              <a:t>Where the </a:t>
            </a:r>
            <a:r>
              <a:rPr lang="en-US" u="sng" dirty="0"/>
              <a:t>resolution</a:t>
            </a:r>
            <a:r>
              <a:rPr lang="en-US" dirty="0"/>
              <a:t> of the problem is likely to exceed one week</a:t>
            </a:r>
          </a:p>
          <a:p>
            <a:r>
              <a:rPr lang="en-US" dirty="0"/>
              <a:t>Where cross-functional expertise is required in order to understand all aspects of the problem and its solution</a:t>
            </a:r>
          </a:p>
          <a:p>
            <a:r>
              <a:rPr lang="en-US" dirty="0"/>
              <a:t>Where prior attempts using other problem-solving tools and methods have failed to solve the problem</a:t>
            </a:r>
          </a:p>
          <a:p>
            <a:r>
              <a:rPr lang="en-US" dirty="0"/>
              <a:t>When a systematic, structured approach and process is required</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10</a:t>
            </a:fld>
            <a:endParaRPr lang="en-US"/>
          </a:p>
        </p:txBody>
      </p:sp>
      <p:grpSp>
        <p:nvGrpSpPr>
          <p:cNvPr id="14" name="Group 13">
            <a:extLst>
              <a:ext uri="{FF2B5EF4-FFF2-40B4-BE49-F238E27FC236}">
                <a16:creationId xmlns:a16="http://schemas.microsoft.com/office/drawing/2014/main" id="{D41303C2-E018-19D2-0EB5-6DA73CD24807}"/>
              </a:ext>
            </a:extLst>
          </p:cNvPr>
          <p:cNvGrpSpPr/>
          <p:nvPr/>
        </p:nvGrpSpPr>
        <p:grpSpPr>
          <a:xfrm>
            <a:off x="838200" y="297639"/>
            <a:ext cx="3396162" cy="306433"/>
            <a:chOff x="838200" y="297639"/>
            <a:chExt cx="3396162" cy="306433"/>
          </a:xfrm>
        </p:grpSpPr>
        <p:grpSp>
          <p:nvGrpSpPr>
            <p:cNvPr id="15" name="Group 14">
              <a:extLst>
                <a:ext uri="{FF2B5EF4-FFF2-40B4-BE49-F238E27FC236}">
                  <a16:creationId xmlns:a16="http://schemas.microsoft.com/office/drawing/2014/main" id="{E5786EBA-3CE5-0613-28ED-FAC08B873002}"/>
                </a:ext>
              </a:extLst>
            </p:cNvPr>
            <p:cNvGrpSpPr/>
            <p:nvPr/>
          </p:nvGrpSpPr>
          <p:grpSpPr>
            <a:xfrm>
              <a:off x="838200" y="297639"/>
              <a:ext cx="1687517" cy="290657"/>
              <a:chOff x="838200" y="297639"/>
              <a:chExt cx="1687517" cy="290657"/>
            </a:xfrm>
          </p:grpSpPr>
          <p:sp>
            <p:nvSpPr>
              <p:cNvPr id="17" name="AutoShape 9">
                <a:extLst>
                  <a:ext uri="{FF2B5EF4-FFF2-40B4-BE49-F238E27FC236}">
                    <a16:creationId xmlns:a16="http://schemas.microsoft.com/office/drawing/2014/main" id="{B174F6F9-D206-07A7-A64A-B68DDBDC1860}"/>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8" name="AutoShape 9">
                <a:extLst>
                  <a:ext uri="{FF2B5EF4-FFF2-40B4-BE49-F238E27FC236}">
                    <a16:creationId xmlns:a16="http://schemas.microsoft.com/office/drawing/2014/main" id="{E8BB91E2-C1AC-FCCB-16DF-8C2FF5B3FF85}"/>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19" name="Group 18">
                <a:extLst>
                  <a:ext uri="{FF2B5EF4-FFF2-40B4-BE49-F238E27FC236}">
                    <a16:creationId xmlns:a16="http://schemas.microsoft.com/office/drawing/2014/main" id="{E2AC478D-7F21-38EF-5560-D40E7C498246}"/>
                  </a:ext>
                </a:extLst>
              </p:cNvPr>
              <p:cNvGrpSpPr/>
              <p:nvPr/>
            </p:nvGrpSpPr>
            <p:grpSpPr>
              <a:xfrm>
                <a:off x="838200" y="297639"/>
                <a:ext cx="1060167" cy="290657"/>
                <a:chOff x="826426" y="4041857"/>
                <a:chExt cx="1060167" cy="290657"/>
              </a:xfrm>
            </p:grpSpPr>
            <p:sp>
              <p:nvSpPr>
                <p:cNvPr id="20" name="AutoShape 9">
                  <a:extLst>
                    <a:ext uri="{FF2B5EF4-FFF2-40B4-BE49-F238E27FC236}">
                      <a16:creationId xmlns:a16="http://schemas.microsoft.com/office/drawing/2014/main" id="{12AB7CB1-4480-4FEE-CE6F-B4F2FA2C986A}"/>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21" name="AutoShape 11">
                  <a:extLst>
                    <a:ext uri="{FF2B5EF4-FFF2-40B4-BE49-F238E27FC236}">
                      <a16:creationId xmlns:a16="http://schemas.microsoft.com/office/drawing/2014/main" id="{AA5419CA-4052-22B2-630C-B0633134EA3A}"/>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22" name="AutoShape 10">
                  <a:extLst>
                    <a:ext uri="{FF2B5EF4-FFF2-40B4-BE49-F238E27FC236}">
                      <a16:creationId xmlns:a16="http://schemas.microsoft.com/office/drawing/2014/main" id="{CCE40F93-E620-B6AC-E23C-FC6C2C06EBAF}"/>
                    </a:ext>
                  </a:extLst>
                </p:cNvPr>
                <p:cNvSpPr>
                  <a:spLocks noChangeArrowheads="1"/>
                </p:cNvSpPr>
                <p:nvPr/>
              </p:nvSpPr>
              <p:spPr bwMode="auto">
                <a:xfrm>
                  <a:off x="82642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grpSp>
        <p:sp>
          <p:nvSpPr>
            <p:cNvPr id="16" name="TextBox 15">
              <a:extLst>
                <a:ext uri="{FF2B5EF4-FFF2-40B4-BE49-F238E27FC236}">
                  <a16:creationId xmlns:a16="http://schemas.microsoft.com/office/drawing/2014/main" id="{9A4733ED-8095-60E0-242E-EA2095CF4379}"/>
                </a:ext>
              </a:extLst>
            </p:cNvPr>
            <p:cNvSpPr txBox="1"/>
            <p:nvPr/>
          </p:nvSpPr>
          <p:spPr>
            <a:xfrm>
              <a:off x="2525717" y="313415"/>
              <a:ext cx="1708645"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Overview</a:t>
              </a:r>
            </a:p>
          </p:txBody>
        </p:sp>
      </p:grpSp>
    </p:spTree>
    <p:extLst>
      <p:ext uri="{BB962C8B-B14F-4D97-AF65-F5344CB8AC3E}">
        <p14:creationId xmlns:p14="http://schemas.microsoft.com/office/powerpoint/2010/main" val="301628126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lstStyle/>
          <a:p>
            <a:r>
              <a:rPr lang="en-US" dirty="0"/>
              <a:t>Steps of the CEDAC Process</a:t>
            </a:r>
          </a:p>
        </p:txBody>
      </p:sp>
      <p:sp>
        <p:nvSpPr>
          <p:cNvPr id="3" name="Content Placeholder 2">
            <a:extLst>
              <a:ext uri="{FF2B5EF4-FFF2-40B4-BE49-F238E27FC236}">
                <a16:creationId xmlns:a16="http://schemas.microsoft.com/office/drawing/2014/main" id="{2AA7A201-AD05-6520-E140-CCF11E59E700}"/>
              </a:ext>
            </a:extLst>
          </p:cNvPr>
          <p:cNvSpPr>
            <a:spLocks noGrp="1"/>
          </p:cNvSpPr>
          <p:nvPr>
            <p:ph idx="1"/>
          </p:nvPr>
        </p:nvSpPr>
        <p:spPr>
          <a:xfrm>
            <a:off x="3200400" y="1825625"/>
            <a:ext cx="8153400" cy="4351338"/>
          </a:xfrm>
        </p:spPr>
        <p:txBody>
          <a:bodyPr>
            <a:normAutofit fontScale="92500" lnSpcReduction="20000"/>
          </a:bodyPr>
          <a:lstStyle/>
          <a:p>
            <a:pPr marL="514350" indent="-514350">
              <a:buFont typeface="+mj-lt"/>
              <a:buAutoNum type="arabicPeriod"/>
            </a:pPr>
            <a:r>
              <a:rPr lang="en-US" dirty="0"/>
              <a:t>Define problem</a:t>
            </a:r>
          </a:p>
          <a:p>
            <a:pPr marL="514350" indent="-514350">
              <a:buFont typeface="+mj-lt"/>
              <a:buAutoNum type="arabicPeriod"/>
            </a:pPr>
            <a:r>
              <a:rPr lang="en-US" dirty="0"/>
              <a:t>Establish and validate metrics</a:t>
            </a:r>
          </a:p>
          <a:p>
            <a:pPr marL="514350" indent="-514350">
              <a:buFont typeface="+mj-lt"/>
              <a:buAutoNum type="arabicPeriod"/>
            </a:pPr>
            <a:r>
              <a:rPr lang="en-US" dirty="0"/>
              <a:t>Determine Objective Statement </a:t>
            </a:r>
          </a:p>
          <a:p>
            <a:pPr marL="514350" indent="-514350">
              <a:buFont typeface="+mj-lt"/>
              <a:buAutoNum type="arabicPeriod"/>
            </a:pPr>
            <a:r>
              <a:rPr lang="en-US" dirty="0"/>
              <a:t>Create CEDAC diagram (Flowchart, Fishbone, etc.)</a:t>
            </a:r>
          </a:p>
          <a:p>
            <a:pPr marL="514350" indent="-514350">
              <a:buFont typeface="+mj-lt"/>
              <a:buAutoNum type="arabicPeriod"/>
            </a:pPr>
            <a:r>
              <a:rPr lang="en-US" dirty="0"/>
              <a:t>Brainstorm and create FACT Cards (in yellow) and post on diagram</a:t>
            </a:r>
          </a:p>
          <a:p>
            <a:pPr marL="514350" indent="-514350">
              <a:buFont typeface="+mj-lt"/>
              <a:buAutoNum type="arabicPeriod"/>
            </a:pPr>
            <a:r>
              <a:rPr lang="en-US" dirty="0"/>
              <a:t>Brainstorm and create IMPROVEMENT Cards (in blue) and post on diagram</a:t>
            </a:r>
          </a:p>
          <a:p>
            <a:pPr marL="514350" indent="-514350">
              <a:buFont typeface="+mj-lt"/>
              <a:buAutoNum type="arabicPeriod"/>
            </a:pPr>
            <a:r>
              <a:rPr lang="en-US" dirty="0"/>
              <a:t>Take action on the IMPROVEMENT cards</a:t>
            </a:r>
          </a:p>
          <a:p>
            <a:pPr marL="514350" indent="-514350">
              <a:buFont typeface="+mj-lt"/>
              <a:buAutoNum type="arabicPeriod"/>
            </a:pPr>
            <a:r>
              <a:rPr lang="en-US" dirty="0"/>
              <a:t>Institutionalize improvements (countermeasures) that have proven to solve the problem</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11</a:t>
            </a:fld>
            <a:endParaRPr lang="en-US"/>
          </a:p>
        </p:txBody>
      </p:sp>
      <p:grpSp>
        <p:nvGrpSpPr>
          <p:cNvPr id="14" name="Group 13">
            <a:extLst>
              <a:ext uri="{FF2B5EF4-FFF2-40B4-BE49-F238E27FC236}">
                <a16:creationId xmlns:a16="http://schemas.microsoft.com/office/drawing/2014/main" id="{D41303C2-E018-19D2-0EB5-6DA73CD24807}"/>
              </a:ext>
            </a:extLst>
          </p:cNvPr>
          <p:cNvGrpSpPr/>
          <p:nvPr/>
        </p:nvGrpSpPr>
        <p:grpSpPr>
          <a:xfrm>
            <a:off x="838200" y="297639"/>
            <a:ext cx="3396162" cy="306433"/>
            <a:chOff x="838200" y="297639"/>
            <a:chExt cx="3396162" cy="306433"/>
          </a:xfrm>
        </p:grpSpPr>
        <p:grpSp>
          <p:nvGrpSpPr>
            <p:cNvPr id="15" name="Group 14">
              <a:extLst>
                <a:ext uri="{FF2B5EF4-FFF2-40B4-BE49-F238E27FC236}">
                  <a16:creationId xmlns:a16="http://schemas.microsoft.com/office/drawing/2014/main" id="{E5786EBA-3CE5-0613-28ED-FAC08B873002}"/>
                </a:ext>
              </a:extLst>
            </p:cNvPr>
            <p:cNvGrpSpPr/>
            <p:nvPr/>
          </p:nvGrpSpPr>
          <p:grpSpPr>
            <a:xfrm>
              <a:off x="838200" y="297639"/>
              <a:ext cx="1687517" cy="290657"/>
              <a:chOff x="838200" y="297639"/>
              <a:chExt cx="1687517" cy="290657"/>
            </a:xfrm>
          </p:grpSpPr>
          <p:sp>
            <p:nvSpPr>
              <p:cNvPr id="17" name="AutoShape 9">
                <a:extLst>
                  <a:ext uri="{FF2B5EF4-FFF2-40B4-BE49-F238E27FC236}">
                    <a16:creationId xmlns:a16="http://schemas.microsoft.com/office/drawing/2014/main" id="{B174F6F9-D206-07A7-A64A-B68DDBDC1860}"/>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8" name="AutoShape 9">
                <a:extLst>
                  <a:ext uri="{FF2B5EF4-FFF2-40B4-BE49-F238E27FC236}">
                    <a16:creationId xmlns:a16="http://schemas.microsoft.com/office/drawing/2014/main" id="{E8BB91E2-C1AC-FCCB-16DF-8C2FF5B3FF85}"/>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19" name="Group 18">
                <a:extLst>
                  <a:ext uri="{FF2B5EF4-FFF2-40B4-BE49-F238E27FC236}">
                    <a16:creationId xmlns:a16="http://schemas.microsoft.com/office/drawing/2014/main" id="{E2AC478D-7F21-38EF-5560-D40E7C498246}"/>
                  </a:ext>
                </a:extLst>
              </p:cNvPr>
              <p:cNvGrpSpPr/>
              <p:nvPr/>
            </p:nvGrpSpPr>
            <p:grpSpPr>
              <a:xfrm>
                <a:off x="838200" y="297639"/>
                <a:ext cx="1060167" cy="290657"/>
                <a:chOff x="826426" y="4041857"/>
                <a:chExt cx="1060167" cy="290657"/>
              </a:xfrm>
            </p:grpSpPr>
            <p:sp>
              <p:nvSpPr>
                <p:cNvPr id="20" name="AutoShape 9">
                  <a:extLst>
                    <a:ext uri="{FF2B5EF4-FFF2-40B4-BE49-F238E27FC236}">
                      <a16:creationId xmlns:a16="http://schemas.microsoft.com/office/drawing/2014/main" id="{12AB7CB1-4480-4FEE-CE6F-B4F2FA2C986A}"/>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21" name="AutoShape 11">
                  <a:extLst>
                    <a:ext uri="{FF2B5EF4-FFF2-40B4-BE49-F238E27FC236}">
                      <a16:creationId xmlns:a16="http://schemas.microsoft.com/office/drawing/2014/main" id="{AA5419CA-4052-22B2-630C-B0633134EA3A}"/>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22" name="AutoShape 10">
                  <a:extLst>
                    <a:ext uri="{FF2B5EF4-FFF2-40B4-BE49-F238E27FC236}">
                      <a16:creationId xmlns:a16="http://schemas.microsoft.com/office/drawing/2014/main" id="{CCE40F93-E620-B6AC-E23C-FC6C2C06EBAF}"/>
                    </a:ext>
                  </a:extLst>
                </p:cNvPr>
                <p:cNvSpPr>
                  <a:spLocks noChangeArrowheads="1"/>
                </p:cNvSpPr>
                <p:nvPr/>
              </p:nvSpPr>
              <p:spPr bwMode="auto">
                <a:xfrm>
                  <a:off x="82642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grpSp>
        <p:sp>
          <p:nvSpPr>
            <p:cNvPr id="16" name="TextBox 15">
              <a:extLst>
                <a:ext uri="{FF2B5EF4-FFF2-40B4-BE49-F238E27FC236}">
                  <a16:creationId xmlns:a16="http://schemas.microsoft.com/office/drawing/2014/main" id="{9A4733ED-8095-60E0-242E-EA2095CF4379}"/>
                </a:ext>
              </a:extLst>
            </p:cNvPr>
            <p:cNvSpPr txBox="1"/>
            <p:nvPr/>
          </p:nvSpPr>
          <p:spPr>
            <a:xfrm>
              <a:off x="2525717" y="313415"/>
              <a:ext cx="1708645"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Overview</a:t>
              </a:r>
            </a:p>
          </p:txBody>
        </p:sp>
      </p:grpSp>
      <p:sp>
        <p:nvSpPr>
          <p:cNvPr id="4" name="AutoShape 4">
            <a:extLst>
              <a:ext uri="{FF2B5EF4-FFF2-40B4-BE49-F238E27FC236}">
                <a16:creationId xmlns:a16="http://schemas.microsoft.com/office/drawing/2014/main" id="{2C717994-A0D3-16DA-F97C-85BEFFB148BC}"/>
              </a:ext>
            </a:extLst>
          </p:cNvPr>
          <p:cNvSpPr>
            <a:spLocks/>
          </p:cNvSpPr>
          <p:nvPr/>
        </p:nvSpPr>
        <p:spPr bwMode="auto">
          <a:xfrm flipH="1">
            <a:off x="2898773" y="1823551"/>
            <a:ext cx="301626" cy="1111921"/>
          </a:xfrm>
          <a:prstGeom prst="rightBrace">
            <a:avLst>
              <a:gd name="adj1" fmla="val 34561"/>
              <a:gd name="adj2" fmla="val 50000"/>
            </a:avLst>
          </a:prstGeom>
          <a:noFill/>
          <a:ln w="28575" cap="sq">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5000"/>
              </a:lnSpc>
              <a:buFont typeface="Wingdings" panose="05000000000000000000" pitchFamily="2" charset="2"/>
              <a:buNone/>
            </a:pPr>
            <a:endParaRPr lang="en-US" altLang="en-US" sz="1600"/>
          </a:p>
        </p:txBody>
      </p:sp>
      <p:sp>
        <p:nvSpPr>
          <p:cNvPr id="6" name="Text Box 5">
            <a:extLst>
              <a:ext uri="{FF2B5EF4-FFF2-40B4-BE49-F238E27FC236}">
                <a16:creationId xmlns:a16="http://schemas.microsoft.com/office/drawing/2014/main" id="{BB3ABBE3-744D-E1E3-8C89-8C1459A43648}"/>
              </a:ext>
            </a:extLst>
          </p:cNvPr>
          <p:cNvSpPr txBox="1">
            <a:spLocks noChangeArrowheads="1"/>
          </p:cNvSpPr>
          <p:nvPr/>
        </p:nvSpPr>
        <p:spPr bwMode="auto">
          <a:xfrm>
            <a:off x="1015999" y="2082705"/>
            <a:ext cx="1517655" cy="3139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wrap="square">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80000"/>
              </a:lnSpc>
              <a:spcBef>
                <a:spcPct val="20000"/>
              </a:spcBef>
              <a:spcAft>
                <a:spcPct val="0"/>
              </a:spcAft>
              <a:buClrTx/>
              <a:buSzTx/>
              <a:buFontTx/>
              <a:buNone/>
            </a:pPr>
            <a:r>
              <a:rPr lang="en-US" altLang="en-US" sz="1800" dirty="0">
                <a:latin typeface="Roboto" panose="02000000000000000000" pitchFamily="2" charset="0"/>
                <a:ea typeface="Roboto" panose="02000000000000000000" pitchFamily="2" charset="0"/>
              </a:rPr>
              <a:t>The </a:t>
            </a:r>
            <a:r>
              <a:rPr lang="ja-JP" altLang="en-US" sz="1800" dirty="0">
                <a:latin typeface="Roboto" panose="02000000000000000000" pitchFamily="2" charset="0"/>
              </a:rPr>
              <a:t>“</a:t>
            </a:r>
            <a:r>
              <a:rPr lang="en-US" altLang="ja-JP" sz="1800" dirty="0">
                <a:latin typeface="Roboto" panose="02000000000000000000" pitchFamily="2" charset="0"/>
                <a:ea typeface="Roboto" panose="02000000000000000000" pitchFamily="2" charset="0"/>
              </a:rPr>
              <a:t>Effect</a:t>
            </a:r>
            <a:r>
              <a:rPr lang="ja-JP" altLang="en-US" sz="1800" dirty="0">
                <a:latin typeface="Roboto" panose="02000000000000000000" pitchFamily="2" charset="0"/>
              </a:rPr>
              <a:t>”</a:t>
            </a:r>
            <a:endParaRPr lang="en-US" altLang="en-US" sz="1800" dirty="0">
              <a:latin typeface="Roboto" panose="02000000000000000000" pitchFamily="2" charset="0"/>
              <a:ea typeface="Roboto" panose="02000000000000000000" pitchFamily="2" charset="0"/>
            </a:endParaRPr>
          </a:p>
        </p:txBody>
      </p:sp>
      <p:sp>
        <p:nvSpPr>
          <p:cNvPr id="7" name="Text Box 6">
            <a:extLst>
              <a:ext uri="{FF2B5EF4-FFF2-40B4-BE49-F238E27FC236}">
                <a16:creationId xmlns:a16="http://schemas.microsoft.com/office/drawing/2014/main" id="{A328E56B-D593-3A7D-5959-8ABD25C46B81}"/>
              </a:ext>
            </a:extLst>
          </p:cNvPr>
          <p:cNvSpPr txBox="1">
            <a:spLocks noChangeArrowheads="1"/>
          </p:cNvSpPr>
          <p:nvPr/>
        </p:nvSpPr>
        <p:spPr bwMode="auto">
          <a:xfrm>
            <a:off x="1054608" y="3161234"/>
            <a:ext cx="1568455" cy="3139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wrap="square">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80000"/>
              </a:lnSpc>
              <a:spcBef>
                <a:spcPct val="20000"/>
              </a:spcBef>
              <a:spcAft>
                <a:spcPct val="0"/>
              </a:spcAft>
              <a:buClrTx/>
              <a:buSzTx/>
              <a:buFontTx/>
              <a:buNone/>
            </a:pPr>
            <a:r>
              <a:rPr lang="en-US" altLang="en-US" sz="1800" dirty="0">
                <a:latin typeface="Roboto" panose="02000000000000000000" pitchFamily="2" charset="0"/>
                <a:ea typeface="Roboto" panose="02000000000000000000" pitchFamily="2" charset="0"/>
              </a:rPr>
              <a:t>The </a:t>
            </a:r>
            <a:r>
              <a:rPr lang="ja-JP" altLang="en-US" sz="1800" dirty="0">
                <a:latin typeface="Roboto" panose="02000000000000000000" pitchFamily="2" charset="0"/>
              </a:rPr>
              <a:t>“</a:t>
            </a:r>
            <a:r>
              <a:rPr lang="en-US" altLang="ja-JP" sz="1800" dirty="0">
                <a:latin typeface="Roboto" panose="02000000000000000000" pitchFamily="2" charset="0"/>
                <a:ea typeface="Roboto" panose="02000000000000000000" pitchFamily="2" charset="0"/>
              </a:rPr>
              <a:t>Cause</a:t>
            </a:r>
            <a:r>
              <a:rPr lang="ja-JP" altLang="en-US" sz="1800" dirty="0">
                <a:latin typeface="Roboto" panose="02000000000000000000" pitchFamily="2" charset="0"/>
              </a:rPr>
              <a:t>”</a:t>
            </a:r>
            <a:endParaRPr lang="en-US" altLang="en-US" sz="1800" dirty="0">
              <a:latin typeface="Roboto" panose="02000000000000000000" pitchFamily="2" charset="0"/>
              <a:ea typeface="Roboto" panose="02000000000000000000" pitchFamily="2" charset="0"/>
            </a:endParaRPr>
          </a:p>
        </p:txBody>
      </p:sp>
      <p:sp>
        <p:nvSpPr>
          <p:cNvPr id="8" name="Text Box 7">
            <a:extLst>
              <a:ext uri="{FF2B5EF4-FFF2-40B4-BE49-F238E27FC236}">
                <a16:creationId xmlns:a16="http://schemas.microsoft.com/office/drawing/2014/main" id="{C1C25B89-DA4A-74B2-B4EA-E52AE658D2EB}"/>
              </a:ext>
            </a:extLst>
          </p:cNvPr>
          <p:cNvSpPr txBox="1">
            <a:spLocks noChangeArrowheads="1"/>
          </p:cNvSpPr>
          <p:nvPr/>
        </p:nvSpPr>
        <p:spPr bwMode="auto">
          <a:xfrm>
            <a:off x="1015999" y="4655928"/>
            <a:ext cx="1820868" cy="5293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wrap="square">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80000"/>
              </a:lnSpc>
              <a:spcBef>
                <a:spcPct val="20000"/>
              </a:spcBef>
              <a:spcAft>
                <a:spcPct val="0"/>
              </a:spcAft>
              <a:buClrTx/>
              <a:buSzTx/>
              <a:buFontTx/>
              <a:buNone/>
            </a:pPr>
            <a:r>
              <a:rPr lang="en-US" altLang="en-US" sz="1800" dirty="0">
                <a:latin typeface="Roboto" panose="02000000000000000000" pitchFamily="2" charset="0"/>
                <a:ea typeface="Roboto" panose="02000000000000000000" pitchFamily="2" charset="0"/>
              </a:rPr>
              <a:t>The </a:t>
            </a:r>
            <a:r>
              <a:rPr lang="ja-JP" altLang="en-US" sz="1800" dirty="0">
                <a:latin typeface="Roboto" panose="02000000000000000000" pitchFamily="2" charset="0"/>
              </a:rPr>
              <a:t>“</a:t>
            </a:r>
            <a:r>
              <a:rPr lang="en-US" altLang="ja-JP" sz="1800" dirty="0">
                <a:latin typeface="Roboto" panose="02000000000000000000" pitchFamily="2" charset="0"/>
                <a:ea typeface="Roboto" panose="02000000000000000000" pitchFamily="2" charset="0"/>
              </a:rPr>
              <a:t>Solution</a:t>
            </a:r>
            <a:r>
              <a:rPr lang="ja-JP" altLang="en-US" sz="1800" dirty="0">
                <a:latin typeface="Roboto" panose="02000000000000000000" pitchFamily="2" charset="0"/>
              </a:rPr>
              <a:t>”</a:t>
            </a:r>
            <a:endParaRPr lang="en-US" altLang="ja-JP" sz="1800" dirty="0">
              <a:latin typeface="Roboto" panose="02000000000000000000" pitchFamily="2" charset="0"/>
              <a:ea typeface="Roboto" panose="02000000000000000000" pitchFamily="2" charset="0"/>
            </a:endParaRPr>
          </a:p>
          <a:p>
            <a:pPr>
              <a:lnSpc>
                <a:spcPct val="80000"/>
              </a:lnSpc>
              <a:spcBef>
                <a:spcPct val="20000"/>
              </a:spcBef>
              <a:spcAft>
                <a:spcPct val="0"/>
              </a:spcAft>
              <a:buClrTx/>
              <a:buSzTx/>
              <a:buFontTx/>
              <a:buNone/>
            </a:pPr>
            <a:r>
              <a:rPr lang="en-US" altLang="en-US" sz="1400" dirty="0">
                <a:latin typeface="Roboto" panose="02000000000000000000" pitchFamily="2" charset="0"/>
                <a:ea typeface="Roboto" panose="02000000000000000000" pitchFamily="2" charset="0"/>
              </a:rPr>
              <a:t>(countermeasures)</a:t>
            </a:r>
          </a:p>
        </p:txBody>
      </p:sp>
      <p:sp>
        <p:nvSpPr>
          <p:cNvPr id="9" name="AutoShape 8">
            <a:extLst>
              <a:ext uri="{FF2B5EF4-FFF2-40B4-BE49-F238E27FC236}">
                <a16:creationId xmlns:a16="http://schemas.microsoft.com/office/drawing/2014/main" id="{522701E4-0150-E859-6D9E-FED001303A36}"/>
              </a:ext>
            </a:extLst>
          </p:cNvPr>
          <p:cNvSpPr>
            <a:spLocks/>
          </p:cNvSpPr>
          <p:nvPr/>
        </p:nvSpPr>
        <p:spPr bwMode="auto">
          <a:xfrm flipH="1">
            <a:off x="2898773" y="3045104"/>
            <a:ext cx="301626" cy="685422"/>
          </a:xfrm>
          <a:prstGeom prst="rightBrace">
            <a:avLst>
              <a:gd name="adj1" fmla="val 19123"/>
              <a:gd name="adj2" fmla="val 50000"/>
            </a:avLst>
          </a:prstGeom>
          <a:noFill/>
          <a:ln w="28575" cap="sq">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5000"/>
              </a:lnSpc>
              <a:buFont typeface="Wingdings" panose="05000000000000000000" pitchFamily="2" charset="2"/>
              <a:buNone/>
            </a:pPr>
            <a:endParaRPr lang="en-US" altLang="en-US" sz="1600"/>
          </a:p>
        </p:txBody>
      </p:sp>
      <p:sp>
        <p:nvSpPr>
          <p:cNvPr id="10" name="AutoShape 9">
            <a:extLst>
              <a:ext uri="{FF2B5EF4-FFF2-40B4-BE49-F238E27FC236}">
                <a16:creationId xmlns:a16="http://schemas.microsoft.com/office/drawing/2014/main" id="{35E8A71A-28DB-67DD-4CED-54BA17786406}"/>
              </a:ext>
            </a:extLst>
          </p:cNvPr>
          <p:cNvSpPr>
            <a:spLocks/>
          </p:cNvSpPr>
          <p:nvPr/>
        </p:nvSpPr>
        <p:spPr bwMode="auto">
          <a:xfrm flipH="1">
            <a:off x="2898773" y="4160521"/>
            <a:ext cx="301626" cy="1520190"/>
          </a:xfrm>
          <a:prstGeom prst="rightBrace">
            <a:avLst>
              <a:gd name="adj1" fmla="val 42412"/>
              <a:gd name="adj2" fmla="val 50000"/>
            </a:avLst>
          </a:prstGeom>
          <a:noFill/>
          <a:ln w="28575" cap="sq">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5000"/>
              </a:lnSpc>
              <a:buFont typeface="Wingdings" panose="05000000000000000000" pitchFamily="2" charset="2"/>
              <a:buNone/>
            </a:pPr>
            <a:endParaRPr lang="en-US" altLang="en-US" sz="1600"/>
          </a:p>
        </p:txBody>
      </p:sp>
    </p:spTree>
    <p:extLst>
      <p:ext uri="{BB962C8B-B14F-4D97-AF65-F5344CB8AC3E}">
        <p14:creationId xmlns:p14="http://schemas.microsoft.com/office/powerpoint/2010/main" val="419421278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lstStyle/>
          <a:p>
            <a:r>
              <a:rPr lang="en-US" altLang="en-US" dirty="0"/>
              <a:t>CEDAC Roadmap</a:t>
            </a:r>
            <a:endParaRPr lang="en-US" dirty="0"/>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12</a:t>
            </a:fld>
            <a:endParaRPr lang="en-US"/>
          </a:p>
        </p:txBody>
      </p:sp>
      <p:grpSp>
        <p:nvGrpSpPr>
          <p:cNvPr id="14" name="Group 13">
            <a:extLst>
              <a:ext uri="{FF2B5EF4-FFF2-40B4-BE49-F238E27FC236}">
                <a16:creationId xmlns:a16="http://schemas.microsoft.com/office/drawing/2014/main" id="{D41303C2-E018-19D2-0EB5-6DA73CD24807}"/>
              </a:ext>
            </a:extLst>
          </p:cNvPr>
          <p:cNvGrpSpPr/>
          <p:nvPr/>
        </p:nvGrpSpPr>
        <p:grpSpPr>
          <a:xfrm>
            <a:off x="838200" y="297639"/>
            <a:ext cx="3396162" cy="306433"/>
            <a:chOff x="838200" y="297639"/>
            <a:chExt cx="3396162" cy="306433"/>
          </a:xfrm>
        </p:grpSpPr>
        <p:grpSp>
          <p:nvGrpSpPr>
            <p:cNvPr id="15" name="Group 14">
              <a:extLst>
                <a:ext uri="{FF2B5EF4-FFF2-40B4-BE49-F238E27FC236}">
                  <a16:creationId xmlns:a16="http://schemas.microsoft.com/office/drawing/2014/main" id="{E5786EBA-3CE5-0613-28ED-FAC08B873002}"/>
                </a:ext>
              </a:extLst>
            </p:cNvPr>
            <p:cNvGrpSpPr/>
            <p:nvPr/>
          </p:nvGrpSpPr>
          <p:grpSpPr>
            <a:xfrm>
              <a:off x="838200" y="297639"/>
              <a:ext cx="1687517" cy="290657"/>
              <a:chOff x="838200" y="297639"/>
              <a:chExt cx="1687517" cy="290657"/>
            </a:xfrm>
          </p:grpSpPr>
          <p:sp>
            <p:nvSpPr>
              <p:cNvPr id="17" name="AutoShape 9">
                <a:extLst>
                  <a:ext uri="{FF2B5EF4-FFF2-40B4-BE49-F238E27FC236}">
                    <a16:creationId xmlns:a16="http://schemas.microsoft.com/office/drawing/2014/main" id="{B174F6F9-D206-07A7-A64A-B68DDBDC1860}"/>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8" name="AutoShape 9">
                <a:extLst>
                  <a:ext uri="{FF2B5EF4-FFF2-40B4-BE49-F238E27FC236}">
                    <a16:creationId xmlns:a16="http://schemas.microsoft.com/office/drawing/2014/main" id="{E8BB91E2-C1AC-FCCB-16DF-8C2FF5B3FF85}"/>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19" name="Group 18">
                <a:extLst>
                  <a:ext uri="{FF2B5EF4-FFF2-40B4-BE49-F238E27FC236}">
                    <a16:creationId xmlns:a16="http://schemas.microsoft.com/office/drawing/2014/main" id="{E2AC478D-7F21-38EF-5560-D40E7C498246}"/>
                  </a:ext>
                </a:extLst>
              </p:cNvPr>
              <p:cNvGrpSpPr/>
              <p:nvPr/>
            </p:nvGrpSpPr>
            <p:grpSpPr>
              <a:xfrm>
                <a:off x="838200" y="297639"/>
                <a:ext cx="1060167" cy="290657"/>
                <a:chOff x="826426" y="4041857"/>
                <a:chExt cx="1060167" cy="290657"/>
              </a:xfrm>
            </p:grpSpPr>
            <p:sp>
              <p:nvSpPr>
                <p:cNvPr id="20" name="AutoShape 9">
                  <a:extLst>
                    <a:ext uri="{FF2B5EF4-FFF2-40B4-BE49-F238E27FC236}">
                      <a16:creationId xmlns:a16="http://schemas.microsoft.com/office/drawing/2014/main" id="{12AB7CB1-4480-4FEE-CE6F-B4F2FA2C986A}"/>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21" name="AutoShape 11">
                  <a:extLst>
                    <a:ext uri="{FF2B5EF4-FFF2-40B4-BE49-F238E27FC236}">
                      <a16:creationId xmlns:a16="http://schemas.microsoft.com/office/drawing/2014/main" id="{AA5419CA-4052-22B2-630C-B0633134EA3A}"/>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22" name="AutoShape 10">
                  <a:extLst>
                    <a:ext uri="{FF2B5EF4-FFF2-40B4-BE49-F238E27FC236}">
                      <a16:creationId xmlns:a16="http://schemas.microsoft.com/office/drawing/2014/main" id="{CCE40F93-E620-B6AC-E23C-FC6C2C06EBAF}"/>
                    </a:ext>
                  </a:extLst>
                </p:cNvPr>
                <p:cNvSpPr>
                  <a:spLocks noChangeArrowheads="1"/>
                </p:cNvSpPr>
                <p:nvPr/>
              </p:nvSpPr>
              <p:spPr bwMode="auto">
                <a:xfrm>
                  <a:off x="82642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grpSp>
        <p:sp>
          <p:nvSpPr>
            <p:cNvPr id="16" name="TextBox 15">
              <a:extLst>
                <a:ext uri="{FF2B5EF4-FFF2-40B4-BE49-F238E27FC236}">
                  <a16:creationId xmlns:a16="http://schemas.microsoft.com/office/drawing/2014/main" id="{9A4733ED-8095-60E0-242E-EA2095CF4379}"/>
                </a:ext>
              </a:extLst>
            </p:cNvPr>
            <p:cNvSpPr txBox="1"/>
            <p:nvPr/>
          </p:nvSpPr>
          <p:spPr>
            <a:xfrm>
              <a:off x="2525717" y="313415"/>
              <a:ext cx="1708645"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Overview</a:t>
              </a:r>
            </a:p>
          </p:txBody>
        </p:sp>
      </p:grpSp>
      <p:grpSp>
        <p:nvGrpSpPr>
          <p:cNvPr id="47" name="Group 46">
            <a:extLst>
              <a:ext uri="{FF2B5EF4-FFF2-40B4-BE49-F238E27FC236}">
                <a16:creationId xmlns:a16="http://schemas.microsoft.com/office/drawing/2014/main" id="{1030B0D3-94CC-B7BF-E916-F53B62AF20B0}"/>
              </a:ext>
            </a:extLst>
          </p:cNvPr>
          <p:cNvGrpSpPr/>
          <p:nvPr/>
        </p:nvGrpSpPr>
        <p:grpSpPr>
          <a:xfrm>
            <a:off x="838200" y="1783429"/>
            <a:ext cx="10515600" cy="4271614"/>
            <a:chOff x="238125" y="1431925"/>
            <a:chExt cx="8547100" cy="4497388"/>
          </a:xfrm>
        </p:grpSpPr>
        <p:grpSp>
          <p:nvGrpSpPr>
            <p:cNvPr id="24" name="Group 4">
              <a:extLst>
                <a:ext uri="{FF2B5EF4-FFF2-40B4-BE49-F238E27FC236}">
                  <a16:creationId xmlns:a16="http://schemas.microsoft.com/office/drawing/2014/main" id="{A90B559C-DC98-CDED-8CA3-0D50744C4800}"/>
                </a:ext>
              </a:extLst>
            </p:cNvPr>
            <p:cNvGrpSpPr>
              <a:grpSpLocks/>
            </p:cNvGrpSpPr>
            <p:nvPr/>
          </p:nvGrpSpPr>
          <p:grpSpPr bwMode="auto">
            <a:xfrm>
              <a:off x="4267200" y="1431925"/>
              <a:ext cx="4462463" cy="2395538"/>
              <a:chOff x="1389" y="1410"/>
              <a:chExt cx="4116" cy="1795"/>
            </a:xfrm>
          </p:grpSpPr>
          <p:sp>
            <p:nvSpPr>
              <p:cNvPr id="25" name="Rectangle 5">
                <a:extLst>
                  <a:ext uri="{FF2B5EF4-FFF2-40B4-BE49-F238E27FC236}">
                    <a16:creationId xmlns:a16="http://schemas.microsoft.com/office/drawing/2014/main" id="{48A1FA0B-DC74-F0D7-E5CA-DFECA95ABB82}"/>
                  </a:ext>
                </a:extLst>
              </p:cNvPr>
              <p:cNvSpPr>
                <a:spLocks noChangeArrowheads="1"/>
              </p:cNvSpPr>
              <p:nvPr/>
            </p:nvSpPr>
            <p:spPr bwMode="auto">
              <a:xfrm>
                <a:off x="1389" y="1410"/>
                <a:ext cx="4116" cy="1795"/>
              </a:xfrm>
              <a:prstGeom prst="rect">
                <a:avLst/>
              </a:prstGeom>
              <a:solidFill>
                <a:schemeClr val="bg2"/>
              </a:solidFill>
              <a:ln w="12700" cap="sq">
                <a:solidFill>
                  <a:srgbClr val="0033CC"/>
                </a:solidFill>
                <a:miter lim="800000"/>
                <a:headEnd type="none" w="sm" len="sm"/>
                <a:tailEnd type="none" w="sm" len="sm"/>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5000"/>
                  </a:lnSpc>
                  <a:buFont typeface="Wingdings" panose="05000000000000000000" pitchFamily="2" charset="2"/>
                  <a:buNone/>
                </a:pPr>
                <a:endParaRPr lang="en-US" altLang="en-US" sz="1600">
                  <a:latin typeface="Roboto" panose="02000000000000000000" pitchFamily="2" charset="0"/>
                  <a:ea typeface="Roboto" panose="02000000000000000000" pitchFamily="2" charset="0"/>
                </a:endParaRPr>
              </a:p>
            </p:txBody>
          </p:sp>
          <p:sp>
            <p:nvSpPr>
              <p:cNvPr id="26" name="Text Box 6">
                <a:extLst>
                  <a:ext uri="{FF2B5EF4-FFF2-40B4-BE49-F238E27FC236}">
                    <a16:creationId xmlns:a16="http://schemas.microsoft.com/office/drawing/2014/main" id="{EAF9EF83-3ED8-A8D0-1332-E27CEDFDB1BD}"/>
                  </a:ext>
                </a:extLst>
              </p:cNvPr>
              <p:cNvSpPr txBox="1">
                <a:spLocks noChangeArrowheads="1"/>
              </p:cNvSpPr>
              <p:nvPr/>
            </p:nvSpPr>
            <p:spPr bwMode="auto">
              <a:xfrm>
                <a:off x="2346" y="1508"/>
                <a:ext cx="2237" cy="267"/>
              </a:xfrm>
              <a:prstGeom prst="rect">
                <a:avLst/>
              </a:prstGeom>
              <a:solidFill>
                <a:srgbClr val="EAEAEA"/>
              </a:solidFill>
              <a:ln>
                <a:noFill/>
              </a:ln>
              <a:extLs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Bef>
                    <a:spcPct val="30000"/>
                  </a:spcBef>
                  <a:spcAft>
                    <a:spcPct val="0"/>
                  </a:spcAft>
                  <a:buClrTx/>
                  <a:buSzTx/>
                  <a:buFontTx/>
                  <a:buNone/>
                </a:pPr>
                <a:r>
                  <a:rPr lang="en-US" altLang="en-US" sz="1600" i="1" dirty="0">
                    <a:solidFill>
                      <a:schemeClr val="tx2"/>
                    </a:solidFill>
                    <a:latin typeface="Roboto" panose="02000000000000000000" pitchFamily="2" charset="0"/>
                    <a:ea typeface="Roboto" panose="02000000000000000000" pitchFamily="2" charset="0"/>
                  </a:rPr>
                  <a:t>Repeat until problem is solved </a:t>
                </a:r>
              </a:p>
            </p:txBody>
          </p:sp>
        </p:grpSp>
        <p:grpSp>
          <p:nvGrpSpPr>
            <p:cNvPr id="27" name="Group 25">
              <a:extLst>
                <a:ext uri="{FF2B5EF4-FFF2-40B4-BE49-F238E27FC236}">
                  <a16:creationId xmlns:a16="http://schemas.microsoft.com/office/drawing/2014/main" id="{44EB1519-39A5-5F3F-4A7A-0C9C3E6E39B7}"/>
                </a:ext>
              </a:extLst>
            </p:cNvPr>
            <p:cNvGrpSpPr>
              <a:grpSpLocks/>
            </p:cNvGrpSpPr>
            <p:nvPr/>
          </p:nvGrpSpPr>
          <p:grpSpPr bwMode="auto">
            <a:xfrm>
              <a:off x="238125" y="2227263"/>
              <a:ext cx="1835150" cy="1341437"/>
              <a:chOff x="317" y="1707"/>
              <a:chExt cx="959" cy="845"/>
            </a:xfrm>
          </p:grpSpPr>
          <p:sp>
            <p:nvSpPr>
              <p:cNvPr id="28" name="Rectangle 8">
                <a:extLst>
                  <a:ext uri="{FF2B5EF4-FFF2-40B4-BE49-F238E27FC236}">
                    <a16:creationId xmlns:a16="http://schemas.microsoft.com/office/drawing/2014/main" id="{E40B71A0-533A-5F0F-E0A1-EFBD394B273F}"/>
                  </a:ext>
                </a:extLst>
              </p:cNvPr>
              <p:cNvSpPr>
                <a:spLocks noChangeArrowheads="1"/>
              </p:cNvSpPr>
              <p:nvPr/>
            </p:nvSpPr>
            <p:spPr bwMode="auto">
              <a:xfrm>
                <a:off x="317" y="1872"/>
                <a:ext cx="958" cy="680"/>
              </a:xfrm>
              <a:prstGeom prst="rect">
                <a:avLst/>
              </a:prstGeom>
              <a:solidFill>
                <a:schemeClr val="bg1"/>
              </a:solidFill>
              <a:ln w="12700" cap="sq">
                <a:solidFill>
                  <a:schemeClr val="tx1"/>
                </a:solidFill>
                <a:miter lim="800000"/>
                <a:headEnd/>
                <a:tailEnd/>
              </a:ln>
            </p:spPr>
            <p:txBody>
              <a:bodyPr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br>
                  <a:rPr lang="en-US" altLang="en-US" sz="1400">
                    <a:latin typeface="Roboto" panose="02000000000000000000" pitchFamily="2" charset="0"/>
                    <a:ea typeface="Roboto" panose="02000000000000000000" pitchFamily="2" charset="0"/>
                  </a:rPr>
                </a:br>
                <a:r>
                  <a:rPr lang="en-US" altLang="en-US" sz="1400">
                    <a:latin typeface="Roboto" panose="02000000000000000000" pitchFamily="2" charset="0"/>
                    <a:ea typeface="Roboto" panose="02000000000000000000" pitchFamily="2" charset="0"/>
                  </a:rPr>
                  <a:t>Conduct CEDAC Planning Workshop</a:t>
                </a:r>
              </a:p>
            </p:txBody>
          </p:sp>
          <p:sp>
            <p:nvSpPr>
              <p:cNvPr id="29" name="Rectangle 9">
                <a:extLst>
                  <a:ext uri="{FF2B5EF4-FFF2-40B4-BE49-F238E27FC236}">
                    <a16:creationId xmlns:a16="http://schemas.microsoft.com/office/drawing/2014/main" id="{78F983B1-97FB-2380-635C-E34135C7A5D5}"/>
                  </a:ext>
                </a:extLst>
              </p:cNvPr>
              <p:cNvSpPr>
                <a:spLocks noChangeArrowheads="1"/>
              </p:cNvSpPr>
              <p:nvPr/>
            </p:nvSpPr>
            <p:spPr bwMode="auto">
              <a:xfrm>
                <a:off x="317" y="1707"/>
                <a:ext cx="959" cy="159"/>
              </a:xfrm>
              <a:prstGeom prst="rect">
                <a:avLst/>
              </a:prstGeom>
              <a:solidFill>
                <a:schemeClr val="accent1"/>
              </a:solidFill>
              <a:ln w="12700" cap="sq">
                <a:solidFill>
                  <a:schemeClr val="tx1"/>
                </a:solidFill>
                <a:miter lim="800000"/>
                <a:headEnd/>
                <a:tailEnd/>
              </a:ln>
            </p:spPr>
            <p:txBody>
              <a:bodyPr wrap="none" anchor="ctr" anchorCtr="1"/>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200">
                    <a:solidFill>
                      <a:schemeClr val="bg1"/>
                    </a:solidFill>
                    <a:latin typeface="Roboto" panose="02000000000000000000" pitchFamily="2" charset="0"/>
                    <a:ea typeface="Roboto" panose="02000000000000000000" pitchFamily="2" charset="0"/>
                  </a:rPr>
                  <a:t>PROCESS STEP 1</a:t>
                </a:r>
              </a:p>
            </p:txBody>
          </p:sp>
        </p:grpSp>
        <p:grpSp>
          <p:nvGrpSpPr>
            <p:cNvPr id="30" name="Group 26">
              <a:extLst>
                <a:ext uri="{FF2B5EF4-FFF2-40B4-BE49-F238E27FC236}">
                  <a16:creationId xmlns:a16="http://schemas.microsoft.com/office/drawing/2014/main" id="{AE108493-002D-762B-E25E-65EFC71AADC7}"/>
                </a:ext>
              </a:extLst>
            </p:cNvPr>
            <p:cNvGrpSpPr>
              <a:grpSpLocks/>
            </p:cNvGrpSpPr>
            <p:nvPr/>
          </p:nvGrpSpPr>
          <p:grpSpPr bwMode="auto">
            <a:xfrm>
              <a:off x="2295525" y="2227263"/>
              <a:ext cx="1835150" cy="1341437"/>
              <a:chOff x="1448" y="1704"/>
              <a:chExt cx="959" cy="845"/>
            </a:xfrm>
          </p:grpSpPr>
          <p:sp>
            <p:nvSpPr>
              <p:cNvPr id="31" name="Rectangle 10">
                <a:extLst>
                  <a:ext uri="{FF2B5EF4-FFF2-40B4-BE49-F238E27FC236}">
                    <a16:creationId xmlns:a16="http://schemas.microsoft.com/office/drawing/2014/main" id="{A943C807-3838-2E92-4335-9A8D5DDFDEB8}"/>
                  </a:ext>
                </a:extLst>
              </p:cNvPr>
              <p:cNvSpPr>
                <a:spLocks noChangeArrowheads="1"/>
              </p:cNvSpPr>
              <p:nvPr/>
            </p:nvSpPr>
            <p:spPr bwMode="auto">
              <a:xfrm>
                <a:off x="1448" y="1869"/>
                <a:ext cx="958" cy="680"/>
              </a:xfrm>
              <a:prstGeom prst="rect">
                <a:avLst/>
              </a:prstGeom>
              <a:solidFill>
                <a:schemeClr val="bg1"/>
              </a:solidFill>
              <a:ln w="12700" cap="sq">
                <a:solidFill>
                  <a:schemeClr val="tx1"/>
                </a:solidFill>
                <a:miter lim="800000"/>
                <a:headEnd/>
                <a:tailEnd/>
              </a:ln>
            </p:spPr>
            <p:txBody>
              <a:bodyPr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br>
                  <a:rPr lang="en-US" altLang="en-US" sz="1400">
                    <a:latin typeface="Roboto" panose="02000000000000000000" pitchFamily="2" charset="0"/>
                    <a:ea typeface="Roboto" panose="02000000000000000000" pitchFamily="2" charset="0"/>
                  </a:rPr>
                </a:br>
                <a:r>
                  <a:rPr lang="en-US" altLang="en-US" sz="1400">
                    <a:latin typeface="Roboto" panose="02000000000000000000" pitchFamily="2" charset="0"/>
                    <a:ea typeface="Roboto" panose="02000000000000000000" pitchFamily="2" charset="0"/>
                  </a:rPr>
                  <a:t>Conduct CEDAC</a:t>
                </a:r>
              </a:p>
              <a:p>
                <a:pPr algn="ctr">
                  <a:lnSpc>
                    <a:spcPct val="80000"/>
                  </a:lnSpc>
                  <a:spcBef>
                    <a:spcPct val="20000"/>
                  </a:spcBef>
                  <a:spcAft>
                    <a:spcPct val="0"/>
                  </a:spcAft>
                  <a:buClrTx/>
                  <a:buSzTx/>
                  <a:buFontTx/>
                  <a:buNone/>
                </a:pPr>
                <a:r>
                  <a:rPr lang="en-US" altLang="en-US" sz="1400">
                    <a:latin typeface="Roboto" panose="02000000000000000000" pitchFamily="2" charset="0"/>
                    <a:ea typeface="Roboto" panose="02000000000000000000" pitchFamily="2" charset="0"/>
                  </a:rPr>
                  <a:t>Event</a:t>
                </a:r>
              </a:p>
            </p:txBody>
          </p:sp>
          <p:sp>
            <p:nvSpPr>
              <p:cNvPr id="32" name="Rectangle 11">
                <a:extLst>
                  <a:ext uri="{FF2B5EF4-FFF2-40B4-BE49-F238E27FC236}">
                    <a16:creationId xmlns:a16="http://schemas.microsoft.com/office/drawing/2014/main" id="{BCD8D306-7006-583F-ABA8-8BEF80849EA0}"/>
                  </a:ext>
                </a:extLst>
              </p:cNvPr>
              <p:cNvSpPr>
                <a:spLocks noChangeArrowheads="1"/>
              </p:cNvSpPr>
              <p:nvPr/>
            </p:nvSpPr>
            <p:spPr bwMode="auto">
              <a:xfrm>
                <a:off x="1448" y="1704"/>
                <a:ext cx="959" cy="159"/>
              </a:xfrm>
              <a:prstGeom prst="rect">
                <a:avLst/>
              </a:prstGeom>
              <a:solidFill>
                <a:schemeClr val="accent1"/>
              </a:solidFill>
              <a:ln w="12700" cap="sq">
                <a:solidFill>
                  <a:schemeClr val="tx1"/>
                </a:solidFill>
                <a:miter lim="800000"/>
                <a:headEnd/>
                <a:tailEnd/>
              </a:ln>
            </p:spPr>
            <p:txBody>
              <a:bodyPr wrap="none" anchor="ctr" anchorCtr="1"/>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200">
                    <a:solidFill>
                      <a:schemeClr val="bg1"/>
                    </a:solidFill>
                    <a:latin typeface="Roboto" panose="02000000000000000000" pitchFamily="2" charset="0"/>
                    <a:ea typeface="Roboto" panose="02000000000000000000" pitchFamily="2" charset="0"/>
                  </a:rPr>
                  <a:t>PROCESS STEP 2</a:t>
                </a:r>
              </a:p>
            </p:txBody>
          </p:sp>
        </p:grpSp>
        <p:grpSp>
          <p:nvGrpSpPr>
            <p:cNvPr id="33" name="Group 27">
              <a:extLst>
                <a:ext uri="{FF2B5EF4-FFF2-40B4-BE49-F238E27FC236}">
                  <a16:creationId xmlns:a16="http://schemas.microsoft.com/office/drawing/2014/main" id="{A2A40F5C-ECA8-4480-F395-48589EAC5623}"/>
                </a:ext>
              </a:extLst>
            </p:cNvPr>
            <p:cNvGrpSpPr>
              <a:grpSpLocks/>
            </p:cNvGrpSpPr>
            <p:nvPr/>
          </p:nvGrpSpPr>
          <p:grpSpPr bwMode="auto">
            <a:xfrm>
              <a:off x="4500563" y="2227263"/>
              <a:ext cx="1835150" cy="1341437"/>
              <a:chOff x="2591" y="1704"/>
              <a:chExt cx="959" cy="845"/>
            </a:xfrm>
          </p:grpSpPr>
          <p:sp>
            <p:nvSpPr>
              <p:cNvPr id="34" name="Rectangle 12">
                <a:extLst>
                  <a:ext uri="{FF2B5EF4-FFF2-40B4-BE49-F238E27FC236}">
                    <a16:creationId xmlns:a16="http://schemas.microsoft.com/office/drawing/2014/main" id="{5ACA9FFB-7DB0-9B7B-CD6D-F28240F5659F}"/>
                  </a:ext>
                </a:extLst>
              </p:cNvPr>
              <p:cNvSpPr>
                <a:spLocks noChangeArrowheads="1"/>
              </p:cNvSpPr>
              <p:nvPr/>
            </p:nvSpPr>
            <p:spPr bwMode="auto">
              <a:xfrm>
                <a:off x="2591" y="1869"/>
                <a:ext cx="958" cy="680"/>
              </a:xfrm>
              <a:prstGeom prst="rect">
                <a:avLst/>
              </a:prstGeom>
              <a:solidFill>
                <a:schemeClr val="bg1"/>
              </a:solidFill>
              <a:ln w="12700" cap="sq">
                <a:solidFill>
                  <a:schemeClr val="tx1"/>
                </a:solidFill>
                <a:miter lim="800000"/>
                <a:headEnd/>
                <a:tailEnd/>
              </a:ln>
            </p:spPr>
            <p:txBody>
              <a:bodyPr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br>
                  <a:rPr lang="en-US" altLang="en-US" sz="1400">
                    <a:latin typeface="Roboto" panose="02000000000000000000" pitchFamily="2" charset="0"/>
                    <a:ea typeface="Roboto" panose="02000000000000000000" pitchFamily="2" charset="0"/>
                  </a:rPr>
                </a:br>
                <a:r>
                  <a:rPr lang="en-US" altLang="en-US" sz="1400">
                    <a:latin typeface="Roboto" panose="02000000000000000000" pitchFamily="2" charset="0"/>
                    <a:ea typeface="Roboto" panose="02000000000000000000" pitchFamily="2" charset="0"/>
                  </a:rPr>
                  <a:t>Implement and Test Countermeasures</a:t>
                </a:r>
              </a:p>
            </p:txBody>
          </p:sp>
          <p:sp>
            <p:nvSpPr>
              <p:cNvPr id="35" name="Rectangle 13">
                <a:extLst>
                  <a:ext uri="{FF2B5EF4-FFF2-40B4-BE49-F238E27FC236}">
                    <a16:creationId xmlns:a16="http://schemas.microsoft.com/office/drawing/2014/main" id="{A890A5C2-2F97-ED1A-7496-11D30F70F424}"/>
                  </a:ext>
                </a:extLst>
              </p:cNvPr>
              <p:cNvSpPr>
                <a:spLocks noChangeArrowheads="1"/>
              </p:cNvSpPr>
              <p:nvPr/>
            </p:nvSpPr>
            <p:spPr bwMode="auto">
              <a:xfrm>
                <a:off x="2591" y="1704"/>
                <a:ext cx="959" cy="159"/>
              </a:xfrm>
              <a:prstGeom prst="rect">
                <a:avLst/>
              </a:prstGeom>
              <a:solidFill>
                <a:schemeClr val="accent1"/>
              </a:solidFill>
              <a:ln w="12700" cap="sq">
                <a:solidFill>
                  <a:schemeClr val="tx1"/>
                </a:solidFill>
                <a:miter lim="800000"/>
                <a:headEnd/>
                <a:tailEnd/>
              </a:ln>
            </p:spPr>
            <p:txBody>
              <a:bodyPr wrap="none" anchor="ctr" anchorCtr="1"/>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200">
                    <a:solidFill>
                      <a:schemeClr val="bg1"/>
                    </a:solidFill>
                    <a:latin typeface="Roboto" panose="02000000000000000000" pitchFamily="2" charset="0"/>
                    <a:ea typeface="Roboto" panose="02000000000000000000" pitchFamily="2" charset="0"/>
                  </a:rPr>
                  <a:t>PROCESS STEP 3</a:t>
                </a:r>
              </a:p>
            </p:txBody>
          </p:sp>
        </p:grpSp>
        <p:grpSp>
          <p:nvGrpSpPr>
            <p:cNvPr id="36" name="Group 28">
              <a:extLst>
                <a:ext uri="{FF2B5EF4-FFF2-40B4-BE49-F238E27FC236}">
                  <a16:creationId xmlns:a16="http://schemas.microsoft.com/office/drawing/2014/main" id="{3D307BC7-A0E9-A034-225F-47F972E56E89}"/>
                </a:ext>
              </a:extLst>
            </p:cNvPr>
            <p:cNvGrpSpPr>
              <a:grpSpLocks/>
            </p:cNvGrpSpPr>
            <p:nvPr/>
          </p:nvGrpSpPr>
          <p:grpSpPr bwMode="auto">
            <a:xfrm>
              <a:off x="6538913" y="2227263"/>
              <a:ext cx="1835150" cy="1341437"/>
              <a:chOff x="3734" y="1704"/>
              <a:chExt cx="959" cy="845"/>
            </a:xfrm>
          </p:grpSpPr>
          <p:sp>
            <p:nvSpPr>
              <p:cNvPr id="37" name="Rectangle 14">
                <a:extLst>
                  <a:ext uri="{FF2B5EF4-FFF2-40B4-BE49-F238E27FC236}">
                    <a16:creationId xmlns:a16="http://schemas.microsoft.com/office/drawing/2014/main" id="{D39A15C3-F3D9-F6FB-BA43-64A0EDB861FC}"/>
                  </a:ext>
                </a:extLst>
              </p:cNvPr>
              <p:cNvSpPr>
                <a:spLocks noChangeArrowheads="1"/>
              </p:cNvSpPr>
              <p:nvPr/>
            </p:nvSpPr>
            <p:spPr bwMode="auto">
              <a:xfrm>
                <a:off x="3734" y="1869"/>
                <a:ext cx="958" cy="680"/>
              </a:xfrm>
              <a:prstGeom prst="rect">
                <a:avLst/>
              </a:prstGeom>
              <a:solidFill>
                <a:schemeClr val="bg1"/>
              </a:solidFill>
              <a:ln w="12700" cap="sq">
                <a:solidFill>
                  <a:schemeClr val="tx1"/>
                </a:solidFill>
                <a:miter lim="800000"/>
                <a:headEnd/>
                <a:tailEnd/>
              </a:ln>
            </p:spPr>
            <p:txBody>
              <a:bodyPr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br>
                  <a:rPr lang="en-US" altLang="en-US" sz="1400" dirty="0">
                    <a:latin typeface="Roboto" panose="02000000000000000000" pitchFamily="2" charset="0"/>
                    <a:ea typeface="Roboto" panose="02000000000000000000" pitchFamily="2" charset="0"/>
                  </a:rPr>
                </a:br>
                <a:r>
                  <a:rPr lang="en-US" altLang="en-US" sz="1400" dirty="0">
                    <a:latin typeface="Roboto" panose="02000000000000000000" pitchFamily="2" charset="0"/>
                    <a:ea typeface="Roboto" panose="02000000000000000000" pitchFamily="2" charset="0"/>
                  </a:rPr>
                  <a:t>Conduct CEDAC Follow-up Workshops</a:t>
                </a:r>
              </a:p>
            </p:txBody>
          </p:sp>
          <p:sp>
            <p:nvSpPr>
              <p:cNvPr id="38" name="Rectangle 15">
                <a:extLst>
                  <a:ext uri="{FF2B5EF4-FFF2-40B4-BE49-F238E27FC236}">
                    <a16:creationId xmlns:a16="http://schemas.microsoft.com/office/drawing/2014/main" id="{5DF13676-67E6-7839-3EB4-9DCC2E84ECBF}"/>
                  </a:ext>
                </a:extLst>
              </p:cNvPr>
              <p:cNvSpPr>
                <a:spLocks noChangeArrowheads="1"/>
              </p:cNvSpPr>
              <p:nvPr/>
            </p:nvSpPr>
            <p:spPr bwMode="auto">
              <a:xfrm>
                <a:off x="3734" y="1704"/>
                <a:ext cx="959" cy="159"/>
              </a:xfrm>
              <a:prstGeom prst="rect">
                <a:avLst/>
              </a:prstGeom>
              <a:solidFill>
                <a:schemeClr val="accent1"/>
              </a:solidFill>
              <a:ln w="12700" cap="sq">
                <a:solidFill>
                  <a:schemeClr val="tx1"/>
                </a:solidFill>
                <a:miter lim="800000"/>
                <a:headEnd/>
                <a:tailEnd/>
              </a:ln>
            </p:spPr>
            <p:txBody>
              <a:bodyPr wrap="none" anchor="ctr" anchorCtr="1"/>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200">
                    <a:solidFill>
                      <a:schemeClr val="bg1"/>
                    </a:solidFill>
                    <a:latin typeface="Roboto" panose="02000000000000000000" pitchFamily="2" charset="0"/>
                    <a:ea typeface="Roboto" panose="02000000000000000000" pitchFamily="2" charset="0"/>
                  </a:rPr>
                  <a:t>PROCESS STEP 4</a:t>
                </a:r>
              </a:p>
            </p:txBody>
          </p:sp>
        </p:grpSp>
        <p:cxnSp>
          <p:nvCxnSpPr>
            <p:cNvPr id="39" name="AutoShape 16">
              <a:extLst>
                <a:ext uri="{FF2B5EF4-FFF2-40B4-BE49-F238E27FC236}">
                  <a16:creationId xmlns:a16="http://schemas.microsoft.com/office/drawing/2014/main" id="{0AEA85B2-0D30-1A9F-6C00-2493B1F59F73}"/>
                </a:ext>
              </a:extLst>
            </p:cNvPr>
            <p:cNvCxnSpPr>
              <a:cxnSpLocks noChangeShapeType="1"/>
              <a:stCxn id="28" idx="3"/>
              <a:endCxn id="31" idx="1"/>
            </p:cNvCxnSpPr>
            <p:nvPr/>
          </p:nvCxnSpPr>
          <p:spPr bwMode="auto">
            <a:xfrm>
              <a:off x="2071688" y="3028950"/>
              <a:ext cx="223837" cy="0"/>
            </a:xfrm>
            <a:prstGeom prst="straightConnector1">
              <a:avLst/>
            </a:prstGeom>
            <a:noFill/>
            <a:ln w="38100" cap="sq">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40" name="AutoShape 17">
              <a:extLst>
                <a:ext uri="{FF2B5EF4-FFF2-40B4-BE49-F238E27FC236}">
                  <a16:creationId xmlns:a16="http://schemas.microsoft.com/office/drawing/2014/main" id="{06056B4E-E108-D9C4-AA53-D92F876CA113}"/>
                </a:ext>
              </a:extLst>
            </p:cNvPr>
            <p:cNvCxnSpPr>
              <a:cxnSpLocks noChangeShapeType="1"/>
              <a:stCxn id="31" idx="3"/>
              <a:endCxn id="34" idx="1"/>
            </p:cNvCxnSpPr>
            <p:nvPr/>
          </p:nvCxnSpPr>
          <p:spPr bwMode="auto">
            <a:xfrm>
              <a:off x="4129088" y="3028950"/>
              <a:ext cx="371475" cy="0"/>
            </a:xfrm>
            <a:prstGeom prst="straightConnector1">
              <a:avLst/>
            </a:prstGeom>
            <a:noFill/>
            <a:ln w="38100" cap="sq">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41" name="AutoShape 18">
              <a:extLst>
                <a:ext uri="{FF2B5EF4-FFF2-40B4-BE49-F238E27FC236}">
                  <a16:creationId xmlns:a16="http://schemas.microsoft.com/office/drawing/2014/main" id="{239A209E-9B0D-5C4F-85A6-2CE644AF97CB}"/>
                </a:ext>
              </a:extLst>
            </p:cNvPr>
            <p:cNvCxnSpPr>
              <a:cxnSpLocks noChangeShapeType="1"/>
              <a:stCxn id="34" idx="3"/>
              <a:endCxn id="37" idx="1"/>
            </p:cNvCxnSpPr>
            <p:nvPr/>
          </p:nvCxnSpPr>
          <p:spPr bwMode="auto">
            <a:xfrm>
              <a:off x="6334125" y="3028950"/>
              <a:ext cx="204788" cy="0"/>
            </a:xfrm>
            <a:prstGeom prst="straightConnector1">
              <a:avLst/>
            </a:prstGeom>
            <a:noFill/>
            <a:ln w="38100" cap="sq">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42" name="AutoShape 20">
              <a:extLst>
                <a:ext uri="{FF2B5EF4-FFF2-40B4-BE49-F238E27FC236}">
                  <a16:creationId xmlns:a16="http://schemas.microsoft.com/office/drawing/2014/main" id="{0F5379BA-72B8-9C13-F237-624E24322606}"/>
                </a:ext>
              </a:extLst>
            </p:cNvPr>
            <p:cNvCxnSpPr>
              <a:cxnSpLocks noChangeShapeType="1"/>
              <a:stCxn id="37" idx="3"/>
              <a:endCxn id="35" idx="0"/>
            </p:cNvCxnSpPr>
            <p:nvPr/>
          </p:nvCxnSpPr>
          <p:spPr bwMode="auto">
            <a:xfrm flipH="1" flipV="1">
              <a:off x="5418138" y="2227263"/>
              <a:ext cx="2954337" cy="801687"/>
            </a:xfrm>
            <a:prstGeom prst="bentConnector4">
              <a:avLst>
                <a:gd name="adj1" fmla="val -7685"/>
                <a:gd name="adj2" fmla="val 128514"/>
              </a:avLst>
            </a:prstGeom>
            <a:noFill/>
            <a:ln w="38100" cap="sq">
              <a:solidFill>
                <a:schemeClr val="tx1"/>
              </a:solidFill>
              <a:miter lim="800000"/>
              <a:headEnd/>
              <a:tailEnd type="triangle" w="med" len="med"/>
            </a:ln>
            <a:extLst>
              <a:ext uri="{909E8E84-426E-40DD-AFC4-6F175D3DCCD1}">
                <a14:hiddenFill xmlns:a14="http://schemas.microsoft.com/office/drawing/2010/main">
                  <a:noFill/>
                </a14:hiddenFill>
              </a:ext>
            </a:extLst>
          </p:spPr>
        </p:cxnSp>
        <p:sp>
          <p:nvSpPr>
            <p:cNvPr id="43" name="Rectangle 21">
              <a:extLst>
                <a:ext uri="{FF2B5EF4-FFF2-40B4-BE49-F238E27FC236}">
                  <a16:creationId xmlns:a16="http://schemas.microsoft.com/office/drawing/2014/main" id="{48890BC4-B94B-B79A-022C-180EC3B6DF3E}"/>
                </a:ext>
              </a:extLst>
            </p:cNvPr>
            <p:cNvSpPr>
              <a:spLocks noChangeArrowheads="1"/>
            </p:cNvSpPr>
            <p:nvPr/>
          </p:nvSpPr>
          <p:spPr bwMode="auto">
            <a:xfrm>
              <a:off x="238125" y="4019550"/>
              <a:ext cx="2008188" cy="1909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28600" indent="-228600">
                <a:lnSpc>
                  <a:spcPct val="115000"/>
                </a:lnSpc>
                <a:spcBef>
                  <a:spcPct val="50000"/>
                </a:spcBef>
                <a:spcAft>
                  <a:spcPct val="50000"/>
                </a:spcAft>
                <a:buClr>
                  <a:srgbClr val="006699"/>
                </a:buClr>
                <a:buSzPct val="90000"/>
                <a:buFont typeface="Wingdings" panose="05000000000000000000" pitchFamily="2" charset="2"/>
                <a:buChar char="§"/>
                <a:tabLst>
                  <a:tab pos="3086100" algn="l"/>
                </a:tabLst>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tabLst>
                  <a:tab pos="3086100" algn="l"/>
                </a:tabLst>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tabLst>
                  <a:tab pos="3086100" algn="l"/>
                </a:tabLst>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30000"/>
                </a:spcBef>
                <a:spcAft>
                  <a:spcPct val="0"/>
                </a:spcAft>
                <a:buClr>
                  <a:schemeClr val="tx1"/>
                </a:buClr>
                <a:buFont typeface="Arial" panose="020B0604020202020204" pitchFamily="34" charset="0"/>
                <a:buChar char="•"/>
              </a:pPr>
              <a:r>
                <a:rPr lang="en-US" altLang="en-US" sz="1400" dirty="0">
                  <a:latin typeface="Roboto" panose="02000000000000000000" pitchFamily="2" charset="0"/>
                  <a:ea typeface="Roboto" panose="02000000000000000000" pitchFamily="2" charset="0"/>
                </a:rPr>
                <a:t>Identify the Problem</a:t>
              </a:r>
            </a:p>
            <a:p>
              <a:pPr eaLnBrk="1" hangingPunct="1">
                <a:lnSpc>
                  <a:spcPct val="100000"/>
                </a:lnSpc>
                <a:spcBef>
                  <a:spcPct val="30000"/>
                </a:spcBef>
                <a:spcAft>
                  <a:spcPct val="0"/>
                </a:spcAft>
                <a:buClr>
                  <a:schemeClr val="tx1"/>
                </a:buClr>
                <a:buFont typeface="Arial" panose="020B0604020202020204" pitchFamily="34" charset="0"/>
                <a:buChar char="•"/>
              </a:pPr>
              <a:r>
                <a:rPr lang="en-US" altLang="en-US" sz="1400" dirty="0">
                  <a:latin typeface="Roboto" panose="02000000000000000000" pitchFamily="2" charset="0"/>
                  <a:ea typeface="Roboto" panose="02000000000000000000" pitchFamily="2" charset="0"/>
                </a:rPr>
                <a:t>Validate problem using metrics</a:t>
              </a:r>
            </a:p>
            <a:p>
              <a:pPr eaLnBrk="1" hangingPunct="1">
                <a:lnSpc>
                  <a:spcPct val="100000"/>
                </a:lnSpc>
                <a:spcBef>
                  <a:spcPct val="30000"/>
                </a:spcBef>
                <a:spcAft>
                  <a:spcPct val="0"/>
                </a:spcAft>
                <a:buClr>
                  <a:schemeClr val="tx1"/>
                </a:buClr>
                <a:buFont typeface="Arial" panose="020B0604020202020204" pitchFamily="34" charset="0"/>
                <a:buChar char="•"/>
              </a:pPr>
              <a:r>
                <a:rPr lang="en-US" altLang="en-US" sz="1400" dirty="0">
                  <a:latin typeface="Roboto" panose="02000000000000000000" pitchFamily="2" charset="0"/>
                  <a:ea typeface="Roboto" panose="02000000000000000000" pitchFamily="2" charset="0"/>
                </a:rPr>
                <a:t>Identify target </a:t>
              </a:r>
            </a:p>
            <a:p>
              <a:pPr eaLnBrk="1" hangingPunct="1">
                <a:lnSpc>
                  <a:spcPct val="100000"/>
                </a:lnSpc>
                <a:spcBef>
                  <a:spcPct val="0"/>
                </a:spcBef>
                <a:spcAft>
                  <a:spcPct val="0"/>
                </a:spcAft>
                <a:buClr>
                  <a:schemeClr val="tx1"/>
                </a:buClr>
                <a:buFont typeface="Arial" panose="020B0604020202020204" pitchFamily="34" charset="0"/>
                <a:buChar char="•"/>
              </a:pPr>
              <a:r>
                <a:rPr lang="en-US" altLang="en-US" sz="1400" dirty="0">
                  <a:latin typeface="Roboto" panose="02000000000000000000" pitchFamily="2" charset="0"/>
                  <a:ea typeface="Roboto" panose="02000000000000000000" pitchFamily="2" charset="0"/>
                </a:rPr>
                <a:t>	(When is the problem solved?)</a:t>
              </a:r>
            </a:p>
            <a:p>
              <a:pPr eaLnBrk="1" hangingPunct="1">
                <a:lnSpc>
                  <a:spcPct val="100000"/>
                </a:lnSpc>
                <a:spcBef>
                  <a:spcPct val="30000"/>
                </a:spcBef>
                <a:spcAft>
                  <a:spcPct val="0"/>
                </a:spcAft>
                <a:buClr>
                  <a:schemeClr val="tx1"/>
                </a:buClr>
                <a:buFont typeface="Arial" panose="020B0604020202020204" pitchFamily="34" charset="0"/>
                <a:buChar char="•"/>
              </a:pPr>
              <a:r>
                <a:rPr lang="en-US" altLang="en-US" sz="1400" dirty="0">
                  <a:latin typeface="Roboto" panose="02000000000000000000" pitchFamily="2" charset="0"/>
                  <a:ea typeface="Roboto" panose="02000000000000000000" pitchFamily="2" charset="0"/>
                </a:rPr>
                <a:t>Plan CEDAC Event</a:t>
              </a:r>
            </a:p>
          </p:txBody>
        </p:sp>
        <p:sp>
          <p:nvSpPr>
            <p:cNvPr id="44" name="Rectangle 22">
              <a:extLst>
                <a:ext uri="{FF2B5EF4-FFF2-40B4-BE49-F238E27FC236}">
                  <a16:creationId xmlns:a16="http://schemas.microsoft.com/office/drawing/2014/main" id="{376F1F3A-DCB1-F52E-7844-6BDD2C97BC2E}"/>
                </a:ext>
              </a:extLst>
            </p:cNvPr>
            <p:cNvSpPr>
              <a:spLocks noChangeArrowheads="1"/>
            </p:cNvSpPr>
            <p:nvPr/>
          </p:nvSpPr>
          <p:spPr bwMode="auto">
            <a:xfrm>
              <a:off x="2311400" y="4019550"/>
              <a:ext cx="2047875" cy="1839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28600" indent="-228600">
                <a:lnSpc>
                  <a:spcPct val="115000"/>
                </a:lnSpc>
                <a:spcBef>
                  <a:spcPct val="50000"/>
                </a:spcBef>
                <a:spcAft>
                  <a:spcPct val="50000"/>
                </a:spcAft>
                <a:buClr>
                  <a:srgbClr val="006699"/>
                </a:buClr>
                <a:buSzPct val="90000"/>
                <a:buFont typeface="Wingdings" panose="05000000000000000000" pitchFamily="2" charset="2"/>
                <a:buChar char="§"/>
                <a:tabLst>
                  <a:tab pos="3086100" algn="l"/>
                </a:tabLst>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tabLst>
                  <a:tab pos="3086100" algn="l"/>
                </a:tabLst>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tabLst>
                  <a:tab pos="3086100" algn="l"/>
                </a:tabLst>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30000"/>
                </a:spcBef>
                <a:spcAft>
                  <a:spcPct val="0"/>
                </a:spcAft>
                <a:buClr>
                  <a:schemeClr val="tx1"/>
                </a:buClr>
                <a:buFont typeface="Arial" panose="020B0604020202020204" pitchFamily="34" charset="0"/>
                <a:buChar char="•"/>
              </a:pPr>
              <a:r>
                <a:rPr lang="en-US" altLang="en-US" sz="1400" dirty="0">
                  <a:latin typeface="Roboto" panose="02000000000000000000" pitchFamily="2" charset="0"/>
                  <a:ea typeface="Roboto" panose="02000000000000000000" pitchFamily="2" charset="0"/>
                </a:rPr>
                <a:t>CEDAC Chart</a:t>
              </a:r>
            </a:p>
            <a:p>
              <a:pPr eaLnBrk="1" hangingPunct="1">
                <a:lnSpc>
                  <a:spcPct val="100000"/>
                </a:lnSpc>
                <a:spcBef>
                  <a:spcPct val="30000"/>
                </a:spcBef>
                <a:spcAft>
                  <a:spcPct val="0"/>
                </a:spcAft>
                <a:buClr>
                  <a:schemeClr val="tx1"/>
                </a:buClr>
                <a:buFont typeface="Arial" panose="020B0604020202020204" pitchFamily="34" charset="0"/>
                <a:buChar char="•"/>
              </a:pPr>
              <a:r>
                <a:rPr lang="en-US" altLang="en-US" sz="1400" dirty="0">
                  <a:latin typeface="Roboto" panose="02000000000000000000" pitchFamily="2" charset="0"/>
                  <a:ea typeface="Roboto" panose="02000000000000000000" pitchFamily="2" charset="0"/>
                </a:rPr>
                <a:t>FACT Cards posted</a:t>
              </a:r>
            </a:p>
            <a:p>
              <a:pPr eaLnBrk="1" hangingPunct="1">
                <a:lnSpc>
                  <a:spcPct val="100000"/>
                </a:lnSpc>
                <a:spcBef>
                  <a:spcPct val="30000"/>
                </a:spcBef>
                <a:spcAft>
                  <a:spcPct val="0"/>
                </a:spcAft>
                <a:buClr>
                  <a:schemeClr val="tx1"/>
                </a:buClr>
                <a:buFont typeface="Arial" panose="020B0604020202020204" pitchFamily="34" charset="0"/>
                <a:buChar char="•"/>
              </a:pPr>
              <a:r>
                <a:rPr lang="en-US" altLang="en-US" sz="1400" dirty="0">
                  <a:latin typeface="Roboto" panose="02000000000000000000" pitchFamily="2" charset="0"/>
                  <a:ea typeface="Roboto" panose="02000000000000000000" pitchFamily="2" charset="0"/>
                </a:rPr>
                <a:t>IMPROVEMENT Cards posted</a:t>
              </a:r>
            </a:p>
            <a:p>
              <a:pPr eaLnBrk="1" hangingPunct="1">
                <a:lnSpc>
                  <a:spcPct val="100000"/>
                </a:lnSpc>
                <a:spcBef>
                  <a:spcPct val="30000"/>
                </a:spcBef>
                <a:spcAft>
                  <a:spcPct val="0"/>
                </a:spcAft>
                <a:buClr>
                  <a:schemeClr val="tx1"/>
                </a:buClr>
                <a:buFont typeface="Arial" panose="020B0604020202020204" pitchFamily="34" charset="0"/>
                <a:buChar char="•"/>
              </a:pPr>
              <a:r>
                <a:rPr lang="en-US" altLang="en-US" sz="1400" dirty="0">
                  <a:latin typeface="Roboto" panose="02000000000000000000" pitchFamily="2" charset="0"/>
                  <a:ea typeface="Roboto" panose="02000000000000000000" pitchFamily="2" charset="0"/>
                </a:rPr>
                <a:t>IMPROVEMENT Cards marked for action</a:t>
              </a:r>
            </a:p>
            <a:p>
              <a:pPr eaLnBrk="1" hangingPunct="1">
                <a:lnSpc>
                  <a:spcPct val="100000"/>
                </a:lnSpc>
                <a:spcBef>
                  <a:spcPct val="30000"/>
                </a:spcBef>
                <a:spcAft>
                  <a:spcPct val="0"/>
                </a:spcAft>
                <a:buClr>
                  <a:schemeClr val="tx1"/>
                </a:buClr>
                <a:buFont typeface="Arial" panose="020B0604020202020204" pitchFamily="34" charset="0"/>
                <a:buChar char="•"/>
              </a:pPr>
              <a:r>
                <a:rPr lang="en-US" altLang="en-US" sz="1400" dirty="0">
                  <a:latin typeface="Roboto" panose="02000000000000000000" pitchFamily="2" charset="0"/>
                  <a:ea typeface="Roboto" panose="02000000000000000000" pitchFamily="2" charset="0"/>
                </a:rPr>
                <a:t>Follow-up Plan</a:t>
              </a:r>
            </a:p>
          </p:txBody>
        </p:sp>
        <p:sp>
          <p:nvSpPr>
            <p:cNvPr id="45" name="Rectangle 23">
              <a:extLst>
                <a:ext uri="{FF2B5EF4-FFF2-40B4-BE49-F238E27FC236}">
                  <a16:creationId xmlns:a16="http://schemas.microsoft.com/office/drawing/2014/main" id="{0353CBCA-7BA7-9FCE-B86A-6AF08B23C118}"/>
                </a:ext>
              </a:extLst>
            </p:cNvPr>
            <p:cNvSpPr>
              <a:spLocks noChangeArrowheads="1"/>
            </p:cNvSpPr>
            <p:nvPr/>
          </p:nvSpPr>
          <p:spPr bwMode="auto">
            <a:xfrm>
              <a:off x="4495800" y="4043363"/>
              <a:ext cx="2290763" cy="1839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28600" indent="-228600">
                <a:lnSpc>
                  <a:spcPct val="115000"/>
                </a:lnSpc>
                <a:spcBef>
                  <a:spcPct val="50000"/>
                </a:spcBef>
                <a:spcAft>
                  <a:spcPct val="50000"/>
                </a:spcAft>
                <a:buClr>
                  <a:srgbClr val="006699"/>
                </a:buClr>
                <a:buSzPct val="90000"/>
                <a:buFont typeface="Wingdings" panose="05000000000000000000" pitchFamily="2" charset="2"/>
                <a:buChar char="§"/>
                <a:tabLst>
                  <a:tab pos="3086100" algn="l"/>
                </a:tabLst>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tabLst>
                  <a:tab pos="3086100" algn="l"/>
                </a:tabLst>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tabLst>
                  <a:tab pos="3086100" algn="l"/>
                </a:tabLst>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30000"/>
                </a:spcBef>
                <a:spcAft>
                  <a:spcPct val="0"/>
                </a:spcAft>
                <a:buClr>
                  <a:schemeClr val="tx1"/>
                </a:buClr>
                <a:buFont typeface="Arial" panose="020B0604020202020204" pitchFamily="34" charset="0"/>
                <a:buChar char="•"/>
              </a:pPr>
              <a:r>
                <a:rPr lang="en-US" altLang="en-US" sz="1400">
                  <a:latin typeface="Roboto" panose="02000000000000000000" pitchFamily="2" charset="0"/>
                  <a:ea typeface="Roboto" panose="02000000000000000000" pitchFamily="2" charset="0"/>
                </a:rPr>
                <a:t>Countermeasure Test results</a:t>
              </a:r>
            </a:p>
            <a:p>
              <a:pPr eaLnBrk="1" hangingPunct="1">
                <a:lnSpc>
                  <a:spcPct val="100000"/>
                </a:lnSpc>
                <a:spcBef>
                  <a:spcPct val="30000"/>
                </a:spcBef>
                <a:spcAft>
                  <a:spcPct val="0"/>
                </a:spcAft>
                <a:buClr>
                  <a:schemeClr val="tx1"/>
                </a:buClr>
                <a:buFont typeface="Arial" panose="020B0604020202020204" pitchFamily="34" charset="0"/>
                <a:buChar char="•"/>
              </a:pPr>
              <a:r>
                <a:rPr lang="en-US" altLang="en-US" sz="1400">
                  <a:latin typeface="Roboto" panose="02000000000000000000" pitchFamily="2" charset="0"/>
                  <a:ea typeface="Roboto" panose="02000000000000000000" pitchFamily="2" charset="0"/>
                </a:rPr>
                <a:t>Problem / target metric tracking</a:t>
              </a:r>
            </a:p>
            <a:p>
              <a:pPr eaLnBrk="1" hangingPunct="1">
                <a:lnSpc>
                  <a:spcPct val="100000"/>
                </a:lnSpc>
                <a:spcBef>
                  <a:spcPct val="30000"/>
                </a:spcBef>
                <a:spcAft>
                  <a:spcPct val="0"/>
                </a:spcAft>
                <a:buClr>
                  <a:schemeClr val="tx1"/>
                </a:buClr>
                <a:buFont typeface="Arial" panose="020B0604020202020204" pitchFamily="34" charset="0"/>
                <a:buChar char="•"/>
              </a:pPr>
              <a:r>
                <a:rPr lang="en-US" altLang="en-US" sz="1400">
                  <a:latin typeface="Roboto" panose="02000000000000000000" pitchFamily="2" charset="0"/>
                  <a:ea typeface="Roboto" panose="02000000000000000000" pitchFamily="2" charset="0"/>
                </a:rPr>
                <a:t>IMPROVEMENT CARDS marked for action</a:t>
              </a:r>
            </a:p>
            <a:p>
              <a:pPr eaLnBrk="1" hangingPunct="1">
                <a:lnSpc>
                  <a:spcPct val="100000"/>
                </a:lnSpc>
                <a:spcBef>
                  <a:spcPct val="30000"/>
                </a:spcBef>
                <a:spcAft>
                  <a:spcPct val="0"/>
                </a:spcAft>
                <a:buClr>
                  <a:schemeClr val="tx1"/>
                </a:buClr>
                <a:buFont typeface="Arial" panose="020B0604020202020204" pitchFamily="34" charset="0"/>
                <a:buChar char="•"/>
              </a:pPr>
              <a:r>
                <a:rPr lang="en-US" altLang="en-US" sz="1400">
                  <a:latin typeface="Roboto" panose="02000000000000000000" pitchFamily="2" charset="0"/>
                  <a:ea typeface="Roboto" panose="02000000000000000000" pitchFamily="2" charset="0"/>
                </a:rPr>
                <a:t>Additional FACT Cards</a:t>
              </a:r>
            </a:p>
            <a:p>
              <a:pPr eaLnBrk="1" hangingPunct="1">
                <a:lnSpc>
                  <a:spcPct val="100000"/>
                </a:lnSpc>
                <a:spcBef>
                  <a:spcPct val="30000"/>
                </a:spcBef>
                <a:spcAft>
                  <a:spcPct val="0"/>
                </a:spcAft>
                <a:buClr>
                  <a:schemeClr val="tx1"/>
                </a:buClr>
                <a:buFont typeface="Arial" panose="020B0604020202020204" pitchFamily="34" charset="0"/>
                <a:buChar char="•"/>
              </a:pPr>
              <a:r>
                <a:rPr lang="en-US" altLang="en-US" sz="1400">
                  <a:latin typeface="Roboto" panose="02000000000000000000" pitchFamily="2" charset="0"/>
                  <a:ea typeface="Roboto" panose="02000000000000000000" pitchFamily="2" charset="0"/>
                </a:rPr>
                <a:t>Additional IMPROVEMENT Cards</a:t>
              </a:r>
            </a:p>
          </p:txBody>
        </p:sp>
        <p:sp>
          <p:nvSpPr>
            <p:cNvPr id="46" name="Rectangle 24">
              <a:extLst>
                <a:ext uri="{FF2B5EF4-FFF2-40B4-BE49-F238E27FC236}">
                  <a16:creationId xmlns:a16="http://schemas.microsoft.com/office/drawing/2014/main" id="{FF4B6604-545B-F685-4671-FA3D5FBF09EB}"/>
                </a:ext>
              </a:extLst>
            </p:cNvPr>
            <p:cNvSpPr>
              <a:spLocks noChangeArrowheads="1"/>
            </p:cNvSpPr>
            <p:nvPr/>
          </p:nvSpPr>
          <p:spPr bwMode="auto">
            <a:xfrm>
              <a:off x="6645275" y="4019550"/>
              <a:ext cx="2139950" cy="1216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28600" indent="-228600">
                <a:lnSpc>
                  <a:spcPct val="115000"/>
                </a:lnSpc>
                <a:spcBef>
                  <a:spcPct val="50000"/>
                </a:spcBef>
                <a:spcAft>
                  <a:spcPct val="50000"/>
                </a:spcAft>
                <a:buClr>
                  <a:srgbClr val="006699"/>
                </a:buClr>
                <a:buSzPct val="90000"/>
                <a:buFont typeface="Wingdings" panose="05000000000000000000" pitchFamily="2" charset="2"/>
                <a:buChar char="§"/>
                <a:tabLst>
                  <a:tab pos="3086100" algn="l"/>
                </a:tabLst>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tabLst>
                  <a:tab pos="3086100" algn="l"/>
                </a:tabLst>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tabLst>
                  <a:tab pos="3086100" algn="l"/>
                </a:tabLst>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30000"/>
                </a:spcBef>
                <a:spcAft>
                  <a:spcPct val="0"/>
                </a:spcAft>
                <a:buClr>
                  <a:schemeClr val="tx1"/>
                </a:buClr>
                <a:buFont typeface="Arial" panose="020B0604020202020204" pitchFamily="34" charset="0"/>
                <a:buChar char="•"/>
              </a:pPr>
              <a:r>
                <a:rPr lang="en-US" altLang="en-US" sz="1400">
                  <a:latin typeface="Roboto" panose="02000000000000000000" pitchFamily="2" charset="0"/>
                  <a:ea typeface="Roboto" panose="02000000000000000000" pitchFamily="2" charset="0"/>
                </a:rPr>
                <a:t>Changes and adjustments to countermeasure priorities and implementation plans</a:t>
              </a:r>
            </a:p>
            <a:p>
              <a:pPr eaLnBrk="1" hangingPunct="1">
                <a:lnSpc>
                  <a:spcPct val="100000"/>
                </a:lnSpc>
                <a:spcBef>
                  <a:spcPct val="30000"/>
                </a:spcBef>
                <a:spcAft>
                  <a:spcPct val="0"/>
                </a:spcAft>
                <a:buClr>
                  <a:schemeClr val="tx1"/>
                </a:buClr>
                <a:buFont typeface="Arial" panose="020B0604020202020204" pitchFamily="34" charset="0"/>
                <a:buChar char="•"/>
              </a:pPr>
              <a:endParaRPr lang="en-US" altLang="en-US" sz="1400">
                <a:latin typeface="Roboto" panose="02000000000000000000" pitchFamily="2" charset="0"/>
                <a:ea typeface="Roboto" panose="02000000000000000000" pitchFamily="2" charset="0"/>
              </a:endParaRPr>
            </a:p>
          </p:txBody>
        </p:sp>
      </p:grpSp>
    </p:spTree>
    <p:extLst>
      <p:ext uri="{BB962C8B-B14F-4D97-AF65-F5344CB8AC3E}">
        <p14:creationId xmlns:p14="http://schemas.microsoft.com/office/powerpoint/2010/main" val="238602198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lstStyle/>
          <a:p>
            <a:r>
              <a:rPr lang="en-US" altLang="en-US" dirty="0"/>
              <a:t>CEDAC Pre-Event Process</a:t>
            </a:r>
            <a:endParaRPr lang="en-US" dirty="0"/>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13</a:t>
            </a:fld>
            <a:endParaRPr lang="en-US"/>
          </a:p>
        </p:txBody>
      </p:sp>
      <p:grpSp>
        <p:nvGrpSpPr>
          <p:cNvPr id="14" name="Group 13">
            <a:extLst>
              <a:ext uri="{FF2B5EF4-FFF2-40B4-BE49-F238E27FC236}">
                <a16:creationId xmlns:a16="http://schemas.microsoft.com/office/drawing/2014/main" id="{D41303C2-E018-19D2-0EB5-6DA73CD24807}"/>
              </a:ext>
            </a:extLst>
          </p:cNvPr>
          <p:cNvGrpSpPr/>
          <p:nvPr/>
        </p:nvGrpSpPr>
        <p:grpSpPr>
          <a:xfrm>
            <a:off x="838200" y="297639"/>
            <a:ext cx="3396162" cy="306433"/>
            <a:chOff x="838200" y="297639"/>
            <a:chExt cx="3396162" cy="306433"/>
          </a:xfrm>
        </p:grpSpPr>
        <p:grpSp>
          <p:nvGrpSpPr>
            <p:cNvPr id="15" name="Group 14">
              <a:extLst>
                <a:ext uri="{FF2B5EF4-FFF2-40B4-BE49-F238E27FC236}">
                  <a16:creationId xmlns:a16="http://schemas.microsoft.com/office/drawing/2014/main" id="{E5786EBA-3CE5-0613-28ED-FAC08B873002}"/>
                </a:ext>
              </a:extLst>
            </p:cNvPr>
            <p:cNvGrpSpPr/>
            <p:nvPr/>
          </p:nvGrpSpPr>
          <p:grpSpPr>
            <a:xfrm>
              <a:off x="838200" y="297639"/>
              <a:ext cx="1687517" cy="290657"/>
              <a:chOff x="838200" y="297639"/>
              <a:chExt cx="1687517" cy="290657"/>
            </a:xfrm>
          </p:grpSpPr>
          <p:sp>
            <p:nvSpPr>
              <p:cNvPr id="17" name="AutoShape 9">
                <a:extLst>
                  <a:ext uri="{FF2B5EF4-FFF2-40B4-BE49-F238E27FC236}">
                    <a16:creationId xmlns:a16="http://schemas.microsoft.com/office/drawing/2014/main" id="{B174F6F9-D206-07A7-A64A-B68DDBDC1860}"/>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8" name="AutoShape 9">
                <a:extLst>
                  <a:ext uri="{FF2B5EF4-FFF2-40B4-BE49-F238E27FC236}">
                    <a16:creationId xmlns:a16="http://schemas.microsoft.com/office/drawing/2014/main" id="{E8BB91E2-C1AC-FCCB-16DF-8C2FF5B3FF85}"/>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19" name="Group 18">
                <a:extLst>
                  <a:ext uri="{FF2B5EF4-FFF2-40B4-BE49-F238E27FC236}">
                    <a16:creationId xmlns:a16="http://schemas.microsoft.com/office/drawing/2014/main" id="{E2AC478D-7F21-38EF-5560-D40E7C498246}"/>
                  </a:ext>
                </a:extLst>
              </p:cNvPr>
              <p:cNvGrpSpPr/>
              <p:nvPr/>
            </p:nvGrpSpPr>
            <p:grpSpPr>
              <a:xfrm>
                <a:off x="838200" y="297639"/>
                <a:ext cx="1060167" cy="290657"/>
                <a:chOff x="826426" y="4041857"/>
                <a:chExt cx="1060167" cy="290657"/>
              </a:xfrm>
            </p:grpSpPr>
            <p:sp>
              <p:nvSpPr>
                <p:cNvPr id="20" name="AutoShape 9">
                  <a:extLst>
                    <a:ext uri="{FF2B5EF4-FFF2-40B4-BE49-F238E27FC236}">
                      <a16:creationId xmlns:a16="http://schemas.microsoft.com/office/drawing/2014/main" id="{12AB7CB1-4480-4FEE-CE6F-B4F2FA2C986A}"/>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21" name="AutoShape 11">
                  <a:extLst>
                    <a:ext uri="{FF2B5EF4-FFF2-40B4-BE49-F238E27FC236}">
                      <a16:creationId xmlns:a16="http://schemas.microsoft.com/office/drawing/2014/main" id="{AA5419CA-4052-22B2-630C-B0633134EA3A}"/>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22" name="AutoShape 10">
                  <a:extLst>
                    <a:ext uri="{FF2B5EF4-FFF2-40B4-BE49-F238E27FC236}">
                      <a16:creationId xmlns:a16="http://schemas.microsoft.com/office/drawing/2014/main" id="{CCE40F93-E620-B6AC-E23C-FC6C2C06EBAF}"/>
                    </a:ext>
                  </a:extLst>
                </p:cNvPr>
                <p:cNvSpPr>
                  <a:spLocks noChangeArrowheads="1"/>
                </p:cNvSpPr>
                <p:nvPr/>
              </p:nvSpPr>
              <p:spPr bwMode="auto">
                <a:xfrm>
                  <a:off x="82642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grpSp>
        <p:sp>
          <p:nvSpPr>
            <p:cNvPr id="16" name="TextBox 15">
              <a:extLst>
                <a:ext uri="{FF2B5EF4-FFF2-40B4-BE49-F238E27FC236}">
                  <a16:creationId xmlns:a16="http://schemas.microsoft.com/office/drawing/2014/main" id="{9A4733ED-8095-60E0-242E-EA2095CF4379}"/>
                </a:ext>
              </a:extLst>
            </p:cNvPr>
            <p:cNvSpPr txBox="1"/>
            <p:nvPr/>
          </p:nvSpPr>
          <p:spPr>
            <a:xfrm>
              <a:off x="2525717" y="313415"/>
              <a:ext cx="1708645"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Overview</a:t>
              </a:r>
            </a:p>
          </p:txBody>
        </p:sp>
      </p:grpSp>
      <p:grpSp>
        <p:nvGrpSpPr>
          <p:cNvPr id="62" name="Group 61">
            <a:extLst>
              <a:ext uri="{FF2B5EF4-FFF2-40B4-BE49-F238E27FC236}">
                <a16:creationId xmlns:a16="http://schemas.microsoft.com/office/drawing/2014/main" id="{F4E9FE3A-CCB7-2274-A9A0-F4F0363AB060}"/>
              </a:ext>
            </a:extLst>
          </p:cNvPr>
          <p:cNvGrpSpPr/>
          <p:nvPr/>
        </p:nvGrpSpPr>
        <p:grpSpPr>
          <a:xfrm>
            <a:off x="768668" y="1783429"/>
            <a:ext cx="10654665" cy="4336384"/>
            <a:chOff x="238125" y="1431925"/>
            <a:chExt cx="8491538" cy="4687888"/>
          </a:xfrm>
        </p:grpSpPr>
        <p:grpSp>
          <p:nvGrpSpPr>
            <p:cNvPr id="3" name="Group 3">
              <a:extLst>
                <a:ext uri="{FF2B5EF4-FFF2-40B4-BE49-F238E27FC236}">
                  <a16:creationId xmlns:a16="http://schemas.microsoft.com/office/drawing/2014/main" id="{F1E6A946-2F0E-80AF-5109-F13BE43EEF58}"/>
                </a:ext>
              </a:extLst>
            </p:cNvPr>
            <p:cNvGrpSpPr>
              <a:grpSpLocks/>
            </p:cNvGrpSpPr>
            <p:nvPr/>
          </p:nvGrpSpPr>
          <p:grpSpPr bwMode="auto">
            <a:xfrm>
              <a:off x="4267200" y="1431925"/>
              <a:ext cx="4462463" cy="2395538"/>
              <a:chOff x="1389" y="1410"/>
              <a:chExt cx="4116" cy="1795"/>
            </a:xfrm>
          </p:grpSpPr>
          <p:sp>
            <p:nvSpPr>
              <p:cNvPr id="4" name="Rectangle 4">
                <a:extLst>
                  <a:ext uri="{FF2B5EF4-FFF2-40B4-BE49-F238E27FC236}">
                    <a16:creationId xmlns:a16="http://schemas.microsoft.com/office/drawing/2014/main" id="{E43F577D-DB66-FF85-07C1-17C203850F94}"/>
                  </a:ext>
                </a:extLst>
              </p:cNvPr>
              <p:cNvSpPr>
                <a:spLocks noChangeArrowheads="1"/>
              </p:cNvSpPr>
              <p:nvPr/>
            </p:nvSpPr>
            <p:spPr bwMode="auto">
              <a:xfrm>
                <a:off x="1389" y="1410"/>
                <a:ext cx="4116" cy="1795"/>
              </a:xfrm>
              <a:prstGeom prst="rect">
                <a:avLst/>
              </a:prstGeom>
              <a:solidFill>
                <a:schemeClr val="bg2"/>
              </a:solidFill>
              <a:ln w="12700" cap="sq">
                <a:solidFill>
                  <a:srgbClr val="0033CC"/>
                </a:solidFill>
                <a:miter lim="800000"/>
                <a:headEnd type="none" w="sm" len="sm"/>
                <a:tailEnd type="none" w="sm" len="sm"/>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5000"/>
                  </a:lnSpc>
                  <a:buFont typeface="Wingdings" panose="05000000000000000000" pitchFamily="2" charset="2"/>
                  <a:buNone/>
                </a:pPr>
                <a:endParaRPr lang="en-US" altLang="en-US" sz="1600">
                  <a:latin typeface="Roboto" panose="02000000000000000000" pitchFamily="2" charset="0"/>
                  <a:ea typeface="Roboto" panose="02000000000000000000" pitchFamily="2" charset="0"/>
                </a:endParaRPr>
              </a:p>
            </p:txBody>
          </p:sp>
          <p:sp>
            <p:nvSpPr>
              <p:cNvPr id="6" name="Text Box 5">
                <a:extLst>
                  <a:ext uri="{FF2B5EF4-FFF2-40B4-BE49-F238E27FC236}">
                    <a16:creationId xmlns:a16="http://schemas.microsoft.com/office/drawing/2014/main" id="{AA8BDCF9-4ABF-3B01-846F-5E15E1F0E045}"/>
                  </a:ext>
                </a:extLst>
              </p:cNvPr>
              <p:cNvSpPr txBox="1">
                <a:spLocks noChangeArrowheads="1"/>
              </p:cNvSpPr>
              <p:nvPr/>
            </p:nvSpPr>
            <p:spPr bwMode="auto">
              <a:xfrm>
                <a:off x="2089" y="1508"/>
                <a:ext cx="2752" cy="254"/>
              </a:xfrm>
              <a:prstGeom prst="rect">
                <a:avLst/>
              </a:prstGeom>
              <a:solidFill>
                <a:srgbClr val="EAEAEA"/>
              </a:solidFill>
              <a:ln>
                <a:noFill/>
              </a:ln>
              <a:extLs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Bef>
                    <a:spcPct val="30000"/>
                  </a:spcBef>
                  <a:spcAft>
                    <a:spcPct val="0"/>
                  </a:spcAft>
                  <a:buClrTx/>
                  <a:buSzTx/>
                  <a:buFontTx/>
                  <a:buNone/>
                </a:pPr>
                <a:r>
                  <a:rPr lang="en-US" altLang="en-US" sz="1600" i="1" dirty="0">
                    <a:solidFill>
                      <a:schemeClr val="tx2"/>
                    </a:solidFill>
                    <a:latin typeface="Roboto" panose="02000000000000000000" pitchFamily="2" charset="0"/>
                    <a:ea typeface="Roboto" panose="02000000000000000000" pitchFamily="2" charset="0"/>
                  </a:rPr>
                  <a:t>Repeat until problem is solved </a:t>
                </a:r>
              </a:p>
            </p:txBody>
          </p:sp>
        </p:grpSp>
        <p:grpSp>
          <p:nvGrpSpPr>
            <p:cNvPr id="7" name="Group 6">
              <a:extLst>
                <a:ext uri="{FF2B5EF4-FFF2-40B4-BE49-F238E27FC236}">
                  <a16:creationId xmlns:a16="http://schemas.microsoft.com/office/drawing/2014/main" id="{419AF901-4061-FBF8-EFD3-DA56329E7617}"/>
                </a:ext>
              </a:extLst>
            </p:cNvPr>
            <p:cNvGrpSpPr>
              <a:grpSpLocks/>
            </p:cNvGrpSpPr>
            <p:nvPr/>
          </p:nvGrpSpPr>
          <p:grpSpPr bwMode="auto">
            <a:xfrm>
              <a:off x="238125" y="2227263"/>
              <a:ext cx="1835150" cy="1341437"/>
              <a:chOff x="317" y="1707"/>
              <a:chExt cx="959" cy="845"/>
            </a:xfrm>
          </p:grpSpPr>
          <p:sp>
            <p:nvSpPr>
              <p:cNvPr id="8" name="Rectangle 7">
                <a:extLst>
                  <a:ext uri="{FF2B5EF4-FFF2-40B4-BE49-F238E27FC236}">
                    <a16:creationId xmlns:a16="http://schemas.microsoft.com/office/drawing/2014/main" id="{800518D2-2234-66D1-503B-56BA5C6EF0C8}"/>
                  </a:ext>
                </a:extLst>
              </p:cNvPr>
              <p:cNvSpPr>
                <a:spLocks noChangeArrowheads="1"/>
              </p:cNvSpPr>
              <p:nvPr/>
            </p:nvSpPr>
            <p:spPr bwMode="auto">
              <a:xfrm>
                <a:off x="317" y="1872"/>
                <a:ext cx="958" cy="680"/>
              </a:xfrm>
              <a:prstGeom prst="rect">
                <a:avLst/>
              </a:prstGeom>
              <a:solidFill>
                <a:schemeClr val="bg1"/>
              </a:solidFill>
              <a:ln w="12700" cap="sq">
                <a:solidFill>
                  <a:schemeClr val="tx1"/>
                </a:solidFill>
                <a:miter lim="800000"/>
                <a:headEnd/>
                <a:tailEnd/>
              </a:ln>
            </p:spPr>
            <p:txBody>
              <a:bodyPr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br>
                  <a:rPr lang="en-US" altLang="en-US" sz="1400">
                    <a:latin typeface="Roboto" panose="02000000000000000000" pitchFamily="2" charset="0"/>
                    <a:ea typeface="Roboto" panose="02000000000000000000" pitchFamily="2" charset="0"/>
                  </a:rPr>
                </a:br>
                <a:r>
                  <a:rPr lang="en-US" altLang="en-US" sz="1400">
                    <a:latin typeface="Roboto" panose="02000000000000000000" pitchFamily="2" charset="0"/>
                    <a:ea typeface="Roboto" panose="02000000000000000000" pitchFamily="2" charset="0"/>
                  </a:rPr>
                  <a:t>Conduct CEDAC Planning Workshop</a:t>
                </a:r>
              </a:p>
            </p:txBody>
          </p:sp>
          <p:sp>
            <p:nvSpPr>
              <p:cNvPr id="9" name="Rectangle 8">
                <a:extLst>
                  <a:ext uri="{FF2B5EF4-FFF2-40B4-BE49-F238E27FC236}">
                    <a16:creationId xmlns:a16="http://schemas.microsoft.com/office/drawing/2014/main" id="{ECE1326F-45B7-A63F-6F4C-79F6F36DB405}"/>
                  </a:ext>
                </a:extLst>
              </p:cNvPr>
              <p:cNvSpPr>
                <a:spLocks noChangeArrowheads="1"/>
              </p:cNvSpPr>
              <p:nvPr/>
            </p:nvSpPr>
            <p:spPr bwMode="auto">
              <a:xfrm>
                <a:off x="317" y="1707"/>
                <a:ext cx="959" cy="159"/>
              </a:xfrm>
              <a:prstGeom prst="rect">
                <a:avLst/>
              </a:prstGeom>
              <a:solidFill>
                <a:schemeClr val="accent1"/>
              </a:solidFill>
              <a:ln w="12700" cap="sq">
                <a:solidFill>
                  <a:schemeClr val="tx1"/>
                </a:solidFill>
                <a:miter lim="800000"/>
                <a:headEnd/>
                <a:tailEnd/>
              </a:ln>
            </p:spPr>
            <p:txBody>
              <a:bodyPr wrap="none" anchor="ctr" anchorCtr="1"/>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200">
                    <a:solidFill>
                      <a:schemeClr val="bg1"/>
                    </a:solidFill>
                    <a:latin typeface="Roboto" panose="02000000000000000000" pitchFamily="2" charset="0"/>
                    <a:ea typeface="Roboto" panose="02000000000000000000" pitchFamily="2" charset="0"/>
                  </a:rPr>
                  <a:t>PROCESS STEP 1</a:t>
                </a:r>
              </a:p>
            </p:txBody>
          </p:sp>
        </p:grpSp>
        <p:grpSp>
          <p:nvGrpSpPr>
            <p:cNvPr id="10" name="Group 9">
              <a:extLst>
                <a:ext uri="{FF2B5EF4-FFF2-40B4-BE49-F238E27FC236}">
                  <a16:creationId xmlns:a16="http://schemas.microsoft.com/office/drawing/2014/main" id="{8A366D31-D36A-0411-4B77-E6B2708534CF}"/>
                </a:ext>
              </a:extLst>
            </p:cNvPr>
            <p:cNvGrpSpPr>
              <a:grpSpLocks/>
            </p:cNvGrpSpPr>
            <p:nvPr/>
          </p:nvGrpSpPr>
          <p:grpSpPr bwMode="auto">
            <a:xfrm>
              <a:off x="2295525" y="2227263"/>
              <a:ext cx="1835150" cy="1341437"/>
              <a:chOff x="1448" y="1704"/>
              <a:chExt cx="959" cy="845"/>
            </a:xfrm>
          </p:grpSpPr>
          <p:sp>
            <p:nvSpPr>
              <p:cNvPr id="11" name="Rectangle 10">
                <a:extLst>
                  <a:ext uri="{FF2B5EF4-FFF2-40B4-BE49-F238E27FC236}">
                    <a16:creationId xmlns:a16="http://schemas.microsoft.com/office/drawing/2014/main" id="{7CF6FCF3-39F7-118B-B182-4486654D51CB}"/>
                  </a:ext>
                </a:extLst>
              </p:cNvPr>
              <p:cNvSpPr>
                <a:spLocks noChangeArrowheads="1"/>
              </p:cNvSpPr>
              <p:nvPr/>
            </p:nvSpPr>
            <p:spPr bwMode="auto">
              <a:xfrm>
                <a:off x="1448" y="1869"/>
                <a:ext cx="958" cy="680"/>
              </a:xfrm>
              <a:prstGeom prst="rect">
                <a:avLst/>
              </a:prstGeom>
              <a:solidFill>
                <a:schemeClr val="bg1"/>
              </a:solidFill>
              <a:ln w="12700" cap="sq">
                <a:solidFill>
                  <a:schemeClr val="tx1"/>
                </a:solidFill>
                <a:miter lim="800000"/>
                <a:headEnd/>
                <a:tailEnd/>
              </a:ln>
            </p:spPr>
            <p:txBody>
              <a:bodyPr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br>
                  <a:rPr lang="en-US" altLang="en-US" sz="1400">
                    <a:latin typeface="Roboto" panose="02000000000000000000" pitchFamily="2" charset="0"/>
                    <a:ea typeface="Roboto" panose="02000000000000000000" pitchFamily="2" charset="0"/>
                  </a:rPr>
                </a:br>
                <a:r>
                  <a:rPr lang="en-US" altLang="en-US" sz="1400">
                    <a:latin typeface="Roboto" panose="02000000000000000000" pitchFamily="2" charset="0"/>
                    <a:ea typeface="Roboto" panose="02000000000000000000" pitchFamily="2" charset="0"/>
                  </a:rPr>
                  <a:t>Conduct CEDAC</a:t>
                </a:r>
              </a:p>
              <a:p>
                <a:pPr algn="ctr">
                  <a:lnSpc>
                    <a:spcPct val="80000"/>
                  </a:lnSpc>
                  <a:spcBef>
                    <a:spcPct val="20000"/>
                  </a:spcBef>
                  <a:spcAft>
                    <a:spcPct val="0"/>
                  </a:spcAft>
                  <a:buClrTx/>
                  <a:buSzTx/>
                  <a:buFontTx/>
                  <a:buNone/>
                </a:pPr>
                <a:r>
                  <a:rPr lang="en-US" altLang="en-US" sz="1400">
                    <a:latin typeface="Roboto" panose="02000000000000000000" pitchFamily="2" charset="0"/>
                    <a:ea typeface="Roboto" panose="02000000000000000000" pitchFamily="2" charset="0"/>
                  </a:rPr>
                  <a:t>Event</a:t>
                </a:r>
              </a:p>
            </p:txBody>
          </p:sp>
          <p:sp>
            <p:nvSpPr>
              <p:cNvPr id="12" name="Rectangle 11">
                <a:extLst>
                  <a:ext uri="{FF2B5EF4-FFF2-40B4-BE49-F238E27FC236}">
                    <a16:creationId xmlns:a16="http://schemas.microsoft.com/office/drawing/2014/main" id="{DAD655C4-35B6-CDBE-6F60-CCCEBFDF51A9}"/>
                  </a:ext>
                </a:extLst>
              </p:cNvPr>
              <p:cNvSpPr>
                <a:spLocks noChangeArrowheads="1"/>
              </p:cNvSpPr>
              <p:nvPr/>
            </p:nvSpPr>
            <p:spPr bwMode="auto">
              <a:xfrm>
                <a:off x="1448" y="1704"/>
                <a:ext cx="959" cy="159"/>
              </a:xfrm>
              <a:prstGeom prst="rect">
                <a:avLst/>
              </a:prstGeom>
              <a:solidFill>
                <a:schemeClr val="accent1"/>
              </a:solidFill>
              <a:ln w="12700" cap="sq">
                <a:solidFill>
                  <a:schemeClr val="tx1"/>
                </a:solidFill>
                <a:miter lim="800000"/>
                <a:headEnd/>
                <a:tailEnd/>
              </a:ln>
            </p:spPr>
            <p:txBody>
              <a:bodyPr wrap="none" anchor="ctr" anchorCtr="1"/>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200">
                    <a:solidFill>
                      <a:schemeClr val="bg1"/>
                    </a:solidFill>
                    <a:latin typeface="Roboto" panose="02000000000000000000" pitchFamily="2" charset="0"/>
                    <a:ea typeface="Roboto" panose="02000000000000000000" pitchFamily="2" charset="0"/>
                  </a:rPr>
                  <a:t>PROCESS STEP 2</a:t>
                </a:r>
              </a:p>
            </p:txBody>
          </p:sp>
        </p:grpSp>
        <p:grpSp>
          <p:nvGrpSpPr>
            <p:cNvPr id="13" name="Group 12">
              <a:extLst>
                <a:ext uri="{FF2B5EF4-FFF2-40B4-BE49-F238E27FC236}">
                  <a16:creationId xmlns:a16="http://schemas.microsoft.com/office/drawing/2014/main" id="{B7FF1BDA-B759-7FF0-535A-B90B6CA6B27B}"/>
                </a:ext>
              </a:extLst>
            </p:cNvPr>
            <p:cNvGrpSpPr>
              <a:grpSpLocks/>
            </p:cNvGrpSpPr>
            <p:nvPr/>
          </p:nvGrpSpPr>
          <p:grpSpPr bwMode="auto">
            <a:xfrm>
              <a:off x="4500563" y="2227263"/>
              <a:ext cx="1835150" cy="1341437"/>
              <a:chOff x="2591" y="1704"/>
              <a:chExt cx="959" cy="845"/>
            </a:xfrm>
          </p:grpSpPr>
          <p:sp>
            <p:nvSpPr>
              <p:cNvPr id="23" name="Rectangle 13">
                <a:extLst>
                  <a:ext uri="{FF2B5EF4-FFF2-40B4-BE49-F238E27FC236}">
                    <a16:creationId xmlns:a16="http://schemas.microsoft.com/office/drawing/2014/main" id="{0921AB22-0A64-53F3-6AC8-ACEC2E33C0B9}"/>
                  </a:ext>
                </a:extLst>
              </p:cNvPr>
              <p:cNvSpPr>
                <a:spLocks noChangeArrowheads="1"/>
              </p:cNvSpPr>
              <p:nvPr/>
            </p:nvSpPr>
            <p:spPr bwMode="auto">
              <a:xfrm>
                <a:off x="2591" y="1869"/>
                <a:ext cx="958" cy="680"/>
              </a:xfrm>
              <a:prstGeom prst="rect">
                <a:avLst/>
              </a:prstGeom>
              <a:solidFill>
                <a:schemeClr val="bg1"/>
              </a:solidFill>
              <a:ln w="12700" cap="sq">
                <a:solidFill>
                  <a:schemeClr val="tx1"/>
                </a:solidFill>
                <a:miter lim="800000"/>
                <a:headEnd/>
                <a:tailEnd/>
              </a:ln>
            </p:spPr>
            <p:txBody>
              <a:bodyPr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br>
                  <a:rPr lang="en-US" altLang="en-US" sz="1400">
                    <a:latin typeface="Roboto" panose="02000000000000000000" pitchFamily="2" charset="0"/>
                    <a:ea typeface="Roboto" panose="02000000000000000000" pitchFamily="2" charset="0"/>
                  </a:rPr>
                </a:br>
                <a:r>
                  <a:rPr lang="en-US" altLang="en-US" sz="1400">
                    <a:latin typeface="Roboto" panose="02000000000000000000" pitchFamily="2" charset="0"/>
                    <a:ea typeface="Roboto" panose="02000000000000000000" pitchFamily="2" charset="0"/>
                  </a:rPr>
                  <a:t>Implement and Test Countermeasures</a:t>
                </a:r>
              </a:p>
            </p:txBody>
          </p:sp>
          <p:sp>
            <p:nvSpPr>
              <p:cNvPr id="48" name="Rectangle 14">
                <a:extLst>
                  <a:ext uri="{FF2B5EF4-FFF2-40B4-BE49-F238E27FC236}">
                    <a16:creationId xmlns:a16="http://schemas.microsoft.com/office/drawing/2014/main" id="{E51287E8-AC94-9861-2B31-1780C3BCC103}"/>
                  </a:ext>
                </a:extLst>
              </p:cNvPr>
              <p:cNvSpPr>
                <a:spLocks noChangeArrowheads="1"/>
              </p:cNvSpPr>
              <p:nvPr/>
            </p:nvSpPr>
            <p:spPr bwMode="auto">
              <a:xfrm>
                <a:off x="2591" y="1704"/>
                <a:ext cx="959" cy="159"/>
              </a:xfrm>
              <a:prstGeom prst="rect">
                <a:avLst/>
              </a:prstGeom>
              <a:solidFill>
                <a:schemeClr val="accent1"/>
              </a:solidFill>
              <a:ln w="12700" cap="sq">
                <a:solidFill>
                  <a:schemeClr val="tx1"/>
                </a:solidFill>
                <a:miter lim="800000"/>
                <a:headEnd/>
                <a:tailEnd/>
              </a:ln>
            </p:spPr>
            <p:txBody>
              <a:bodyPr wrap="none" anchor="ctr" anchorCtr="1"/>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200">
                    <a:solidFill>
                      <a:schemeClr val="bg1"/>
                    </a:solidFill>
                    <a:latin typeface="Roboto" panose="02000000000000000000" pitchFamily="2" charset="0"/>
                    <a:ea typeface="Roboto" panose="02000000000000000000" pitchFamily="2" charset="0"/>
                  </a:rPr>
                  <a:t>PROCESS STEP 3</a:t>
                </a:r>
              </a:p>
            </p:txBody>
          </p:sp>
        </p:grpSp>
        <p:grpSp>
          <p:nvGrpSpPr>
            <p:cNvPr id="49" name="Group 15">
              <a:extLst>
                <a:ext uri="{FF2B5EF4-FFF2-40B4-BE49-F238E27FC236}">
                  <a16:creationId xmlns:a16="http://schemas.microsoft.com/office/drawing/2014/main" id="{8F4D85F4-232E-F783-8D86-8381255839FD}"/>
                </a:ext>
              </a:extLst>
            </p:cNvPr>
            <p:cNvGrpSpPr>
              <a:grpSpLocks/>
            </p:cNvGrpSpPr>
            <p:nvPr/>
          </p:nvGrpSpPr>
          <p:grpSpPr bwMode="auto">
            <a:xfrm>
              <a:off x="6538913" y="2227263"/>
              <a:ext cx="1835150" cy="1341437"/>
              <a:chOff x="3734" y="1704"/>
              <a:chExt cx="959" cy="845"/>
            </a:xfrm>
          </p:grpSpPr>
          <p:sp>
            <p:nvSpPr>
              <p:cNvPr id="50" name="Rectangle 16">
                <a:extLst>
                  <a:ext uri="{FF2B5EF4-FFF2-40B4-BE49-F238E27FC236}">
                    <a16:creationId xmlns:a16="http://schemas.microsoft.com/office/drawing/2014/main" id="{8FE994A5-1FD3-7E54-4743-B7BDA0CD2C71}"/>
                  </a:ext>
                </a:extLst>
              </p:cNvPr>
              <p:cNvSpPr>
                <a:spLocks noChangeArrowheads="1"/>
              </p:cNvSpPr>
              <p:nvPr/>
            </p:nvSpPr>
            <p:spPr bwMode="auto">
              <a:xfrm>
                <a:off x="3734" y="1869"/>
                <a:ext cx="958" cy="680"/>
              </a:xfrm>
              <a:prstGeom prst="rect">
                <a:avLst/>
              </a:prstGeom>
              <a:solidFill>
                <a:schemeClr val="bg1"/>
              </a:solidFill>
              <a:ln w="12700" cap="sq">
                <a:solidFill>
                  <a:schemeClr val="tx1"/>
                </a:solidFill>
                <a:miter lim="800000"/>
                <a:headEnd/>
                <a:tailEnd/>
              </a:ln>
            </p:spPr>
            <p:txBody>
              <a:bodyPr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br>
                  <a:rPr lang="en-US" altLang="en-US" sz="1400">
                    <a:latin typeface="Roboto" panose="02000000000000000000" pitchFamily="2" charset="0"/>
                    <a:ea typeface="Roboto" panose="02000000000000000000" pitchFamily="2" charset="0"/>
                  </a:rPr>
                </a:br>
                <a:r>
                  <a:rPr lang="en-US" altLang="en-US" sz="1400">
                    <a:latin typeface="Roboto" panose="02000000000000000000" pitchFamily="2" charset="0"/>
                    <a:ea typeface="Roboto" panose="02000000000000000000" pitchFamily="2" charset="0"/>
                  </a:rPr>
                  <a:t>Conduct CEDAC Follow-up Workshops</a:t>
                </a:r>
              </a:p>
            </p:txBody>
          </p:sp>
          <p:sp>
            <p:nvSpPr>
              <p:cNvPr id="51" name="Rectangle 17">
                <a:extLst>
                  <a:ext uri="{FF2B5EF4-FFF2-40B4-BE49-F238E27FC236}">
                    <a16:creationId xmlns:a16="http://schemas.microsoft.com/office/drawing/2014/main" id="{7AE8A8FB-F15A-84D4-056B-8941E97B8D4B}"/>
                  </a:ext>
                </a:extLst>
              </p:cNvPr>
              <p:cNvSpPr>
                <a:spLocks noChangeArrowheads="1"/>
              </p:cNvSpPr>
              <p:nvPr/>
            </p:nvSpPr>
            <p:spPr bwMode="auto">
              <a:xfrm>
                <a:off x="3734" y="1704"/>
                <a:ext cx="959" cy="159"/>
              </a:xfrm>
              <a:prstGeom prst="rect">
                <a:avLst/>
              </a:prstGeom>
              <a:solidFill>
                <a:schemeClr val="accent1"/>
              </a:solidFill>
              <a:ln w="12700" cap="sq">
                <a:solidFill>
                  <a:schemeClr val="tx1"/>
                </a:solidFill>
                <a:miter lim="800000"/>
                <a:headEnd/>
                <a:tailEnd/>
              </a:ln>
            </p:spPr>
            <p:txBody>
              <a:bodyPr wrap="none" anchor="ctr" anchorCtr="1"/>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200">
                    <a:solidFill>
                      <a:schemeClr val="bg1"/>
                    </a:solidFill>
                    <a:latin typeface="Roboto" panose="02000000000000000000" pitchFamily="2" charset="0"/>
                    <a:ea typeface="Roboto" panose="02000000000000000000" pitchFamily="2" charset="0"/>
                  </a:rPr>
                  <a:t>PROCESS STEP 4</a:t>
                </a:r>
              </a:p>
            </p:txBody>
          </p:sp>
        </p:grpSp>
        <p:cxnSp>
          <p:nvCxnSpPr>
            <p:cNvPr id="52" name="AutoShape 18">
              <a:extLst>
                <a:ext uri="{FF2B5EF4-FFF2-40B4-BE49-F238E27FC236}">
                  <a16:creationId xmlns:a16="http://schemas.microsoft.com/office/drawing/2014/main" id="{CEF68A8C-A288-807F-58A8-D2AC3DB10957}"/>
                </a:ext>
              </a:extLst>
            </p:cNvPr>
            <p:cNvCxnSpPr>
              <a:cxnSpLocks noChangeShapeType="1"/>
              <a:stCxn id="8" idx="3"/>
              <a:endCxn id="11" idx="1"/>
            </p:cNvCxnSpPr>
            <p:nvPr/>
          </p:nvCxnSpPr>
          <p:spPr bwMode="auto">
            <a:xfrm>
              <a:off x="2071688" y="3028950"/>
              <a:ext cx="223837" cy="0"/>
            </a:xfrm>
            <a:prstGeom prst="straightConnector1">
              <a:avLst/>
            </a:prstGeom>
            <a:noFill/>
            <a:ln w="38100" cap="sq">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53" name="AutoShape 19">
              <a:extLst>
                <a:ext uri="{FF2B5EF4-FFF2-40B4-BE49-F238E27FC236}">
                  <a16:creationId xmlns:a16="http://schemas.microsoft.com/office/drawing/2014/main" id="{9AD7CED2-3AFF-561D-6528-EC061E96211F}"/>
                </a:ext>
              </a:extLst>
            </p:cNvPr>
            <p:cNvCxnSpPr>
              <a:cxnSpLocks noChangeShapeType="1"/>
              <a:stCxn id="11" idx="3"/>
              <a:endCxn id="23" idx="1"/>
            </p:cNvCxnSpPr>
            <p:nvPr/>
          </p:nvCxnSpPr>
          <p:spPr bwMode="auto">
            <a:xfrm>
              <a:off x="4129088" y="3028950"/>
              <a:ext cx="371475" cy="0"/>
            </a:xfrm>
            <a:prstGeom prst="straightConnector1">
              <a:avLst/>
            </a:prstGeom>
            <a:noFill/>
            <a:ln w="38100" cap="sq">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54" name="AutoShape 20">
              <a:extLst>
                <a:ext uri="{FF2B5EF4-FFF2-40B4-BE49-F238E27FC236}">
                  <a16:creationId xmlns:a16="http://schemas.microsoft.com/office/drawing/2014/main" id="{B59A6E9A-F4A2-FE52-168E-5BCB4D4061BF}"/>
                </a:ext>
              </a:extLst>
            </p:cNvPr>
            <p:cNvCxnSpPr>
              <a:cxnSpLocks noChangeShapeType="1"/>
              <a:stCxn id="23" idx="3"/>
              <a:endCxn id="50" idx="1"/>
            </p:cNvCxnSpPr>
            <p:nvPr/>
          </p:nvCxnSpPr>
          <p:spPr bwMode="auto">
            <a:xfrm>
              <a:off x="6334125" y="3028950"/>
              <a:ext cx="204788" cy="0"/>
            </a:xfrm>
            <a:prstGeom prst="straightConnector1">
              <a:avLst/>
            </a:prstGeom>
            <a:noFill/>
            <a:ln w="38100" cap="sq">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55" name="AutoShape 21">
              <a:extLst>
                <a:ext uri="{FF2B5EF4-FFF2-40B4-BE49-F238E27FC236}">
                  <a16:creationId xmlns:a16="http://schemas.microsoft.com/office/drawing/2014/main" id="{80A83827-DFBC-5211-8BEE-99F3BB634009}"/>
                </a:ext>
              </a:extLst>
            </p:cNvPr>
            <p:cNvCxnSpPr>
              <a:cxnSpLocks noChangeShapeType="1"/>
              <a:stCxn id="50" idx="3"/>
              <a:endCxn id="48" idx="0"/>
            </p:cNvCxnSpPr>
            <p:nvPr/>
          </p:nvCxnSpPr>
          <p:spPr bwMode="auto">
            <a:xfrm flipH="1" flipV="1">
              <a:off x="5418138" y="2227263"/>
              <a:ext cx="2954337" cy="801687"/>
            </a:xfrm>
            <a:prstGeom prst="bentConnector4">
              <a:avLst>
                <a:gd name="adj1" fmla="val -7685"/>
                <a:gd name="adj2" fmla="val 128514"/>
              </a:avLst>
            </a:prstGeom>
            <a:noFill/>
            <a:ln w="38100" cap="sq">
              <a:solidFill>
                <a:schemeClr val="tx1"/>
              </a:solidFill>
              <a:miter lim="800000"/>
              <a:headEnd/>
              <a:tailEnd type="triangle" w="med" len="med"/>
            </a:ln>
            <a:extLst>
              <a:ext uri="{909E8E84-426E-40DD-AFC4-6F175D3DCCD1}">
                <a14:hiddenFill xmlns:a14="http://schemas.microsoft.com/office/drawing/2010/main">
                  <a:noFill/>
                </a14:hiddenFill>
              </a:ext>
            </a:extLst>
          </p:spPr>
        </p:cxnSp>
        <p:sp>
          <p:nvSpPr>
            <p:cNvPr id="56" name="AutoShape 30">
              <a:extLst>
                <a:ext uri="{FF2B5EF4-FFF2-40B4-BE49-F238E27FC236}">
                  <a16:creationId xmlns:a16="http://schemas.microsoft.com/office/drawing/2014/main" id="{641EF899-1F67-8B5B-DD50-0CB238593AE0}"/>
                </a:ext>
              </a:extLst>
            </p:cNvPr>
            <p:cNvSpPr>
              <a:spLocks noChangeArrowheads="1"/>
            </p:cNvSpPr>
            <p:nvPr/>
          </p:nvSpPr>
          <p:spPr bwMode="auto">
            <a:xfrm>
              <a:off x="3743325" y="4713288"/>
              <a:ext cx="1811338" cy="1406525"/>
            </a:xfrm>
            <a:prstGeom prst="homePlate">
              <a:avLst>
                <a:gd name="adj" fmla="val 12085"/>
              </a:avLst>
            </a:prstGeom>
            <a:solidFill>
              <a:schemeClr val="accent1"/>
            </a:solidFill>
            <a:ln w="12700" cap="sq">
              <a:solidFill>
                <a:schemeClr val="tx1"/>
              </a:solidFill>
              <a:miter lim="800000"/>
              <a:headEnd/>
              <a:tailEnd/>
            </a:ln>
          </p:spPr>
          <p:txBody>
            <a:bodyPr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Bef>
                  <a:spcPct val="0"/>
                </a:spcBef>
                <a:spcAft>
                  <a:spcPct val="0"/>
                </a:spcAft>
                <a:buClrTx/>
                <a:buSzTx/>
                <a:buFontTx/>
                <a:buNone/>
              </a:pPr>
              <a:r>
                <a:rPr lang="en-US" altLang="en-US" sz="1400">
                  <a:solidFill>
                    <a:schemeClr val="bg1"/>
                  </a:solidFill>
                  <a:latin typeface="Roboto" panose="02000000000000000000" pitchFamily="2" charset="0"/>
                  <a:ea typeface="Roboto" panose="02000000000000000000" pitchFamily="2" charset="0"/>
                </a:rPr>
                <a:t>Determine Objective Statement</a:t>
              </a:r>
            </a:p>
          </p:txBody>
        </p:sp>
        <p:sp>
          <p:nvSpPr>
            <p:cNvPr id="57" name="AutoShape 31">
              <a:extLst>
                <a:ext uri="{FF2B5EF4-FFF2-40B4-BE49-F238E27FC236}">
                  <a16:creationId xmlns:a16="http://schemas.microsoft.com/office/drawing/2014/main" id="{565EC999-E159-CC7A-712C-7E55F9ABB226}"/>
                </a:ext>
              </a:extLst>
            </p:cNvPr>
            <p:cNvSpPr>
              <a:spLocks noChangeArrowheads="1"/>
            </p:cNvSpPr>
            <p:nvPr/>
          </p:nvSpPr>
          <p:spPr bwMode="auto">
            <a:xfrm>
              <a:off x="2130425" y="4713288"/>
              <a:ext cx="1811338" cy="1406525"/>
            </a:xfrm>
            <a:prstGeom prst="homePlate">
              <a:avLst>
                <a:gd name="adj" fmla="val 12085"/>
              </a:avLst>
            </a:prstGeom>
            <a:solidFill>
              <a:schemeClr val="accent1"/>
            </a:solidFill>
            <a:ln w="12700" cap="sq">
              <a:solidFill>
                <a:schemeClr val="tx1"/>
              </a:solidFill>
              <a:miter lim="800000"/>
              <a:headEnd/>
              <a:tailEnd/>
            </a:ln>
          </p:spPr>
          <p:txBody>
            <a:bodyPr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Bef>
                  <a:spcPct val="0"/>
                </a:spcBef>
                <a:spcAft>
                  <a:spcPct val="0"/>
                </a:spcAft>
                <a:buClrTx/>
                <a:buSzTx/>
                <a:buFontTx/>
                <a:buNone/>
              </a:pPr>
              <a:r>
                <a:rPr lang="en-US" altLang="en-US" sz="1400">
                  <a:solidFill>
                    <a:schemeClr val="bg1"/>
                  </a:solidFill>
                  <a:latin typeface="Roboto" panose="02000000000000000000" pitchFamily="2" charset="0"/>
                  <a:ea typeface="Roboto" panose="02000000000000000000" pitchFamily="2" charset="0"/>
                </a:rPr>
                <a:t>Establish and Validate</a:t>
              </a:r>
            </a:p>
            <a:p>
              <a:pPr algn="ctr">
                <a:lnSpc>
                  <a:spcPct val="100000"/>
                </a:lnSpc>
                <a:spcBef>
                  <a:spcPct val="0"/>
                </a:spcBef>
                <a:spcAft>
                  <a:spcPct val="0"/>
                </a:spcAft>
                <a:buClrTx/>
                <a:buSzTx/>
                <a:buFontTx/>
                <a:buNone/>
              </a:pPr>
              <a:r>
                <a:rPr lang="en-US" altLang="en-US" sz="1400">
                  <a:solidFill>
                    <a:schemeClr val="bg1"/>
                  </a:solidFill>
                  <a:latin typeface="Roboto" panose="02000000000000000000" pitchFamily="2" charset="0"/>
                  <a:ea typeface="Roboto" panose="02000000000000000000" pitchFamily="2" charset="0"/>
                </a:rPr>
                <a:t>Metrics</a:t>
              </a:r>
            </a:p>
          </p:txBody>
        </p:sp>
        <p:sp>
          <p:nvSpPr>
            <p:cNvPr id="58" name="AutoShape 32">
              <a:extLst>
                <a:ext uri="{FF2B5EF4-FFF2-40B4-BE49-F238E27FC236}">
                  <a16:creationId xmlns:a16="http://schemas.microsoft.com/office/drawing/2014/main" id="{4D3A7F43-2414-C5A6-AA1A-78D6488F202F}"/>
                </a:ext>
              </a:extLst>
            </p:cNvPr>
            <p:cNvSpPr>
              <a:spLocks noChangeArrowheads="1"/>
            </p:cNvSpPr>
            <p:nvPr/>
          </p:nvSpPr>
          <p:spPr bwMode="auto">
            <a:xfrm>
              <a:off x="488950" y="4713288"/>
              <a:ext cx="1811338" cy="1406525"/>
            </a:xfrm>
            <a:prstGeom prst="homePlate">
              <a:avLst>
                <a:gd name="adj" fmla="val 12085"/>
              </a:avLst>
            </a:prstGeom>
            <a:solidFill>
              <a:schemeClr val="accent1"/>
            </a:solidFill>
            <a:ln w="12700" cap="sq">
              <a:solidFill>
                <a:schemeClr val="tx1"/>
              </a:solidFill>
              <a:miter lim="800000"/>
              <a:headEnd/>
              <a:tailEnd/>
            </a:ln>
          </p:spPr>
          <p:txBody>
            <a:bodyPr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Bef>
                  <a:spcPct val="0"/>
                </a:spcBef>
                <a:spcAft>
                  <a:spcPct val="0"/>
                </a:spcAft>
                <a:buClrTx/>
                <a:buSzTx/>
                <a:buFontTx/>
                <a:buNone/>
              </a:pPr>
              <a:r>
                <a:rPr lang="en-US" altLang="en-US" sz="1400" dirty="0">
                  <a:solidFill>
                    <a:schemeClr val="bg1"/>
                  </a:solidFill>
                  <a:latin typeface="Roboto" panose="02000000000000000000" pitchFamily="2" charset="0"/>
                  <a:ea typeface="Roboto" panose="02000000000000000000" pitchFamily="2" charset="0"/>
                </a:rPr>
                <a:t>Define </a:t>
              </a:r>
            </a:p>
            <a:p>
              <a:pPr algn="ctr">
                <a:lnSpc>
                  <a:spcPct val="100000"/>
                </a:lnSpc>
                <a:spcBef>
                  <a:spcPct val="0"/>
                </a:spcBef>
                <a:spcAft>
                  <a:spcPct val="0"/>
                </a:spcAft>
                <a:buClrTx/>
                <a:buSzTx/>
                <a:buFontTx/>
                <a:buNone/>
              </a:pPr>
              <a:r>
                <a:rPr lang="en-US" altLang="en-US" sz="1400" dirty="0">
                  <a:solidFill>
                    <a:schemeClr val="bg1"/>
                  </a:solidFill>
                  <a:latin typeface="Roboto" panose="02000000000000000000" pitchFamily="2" charset="0"/>
                  <a:ea typeface="Roboto" panose="02000000000000000000" pitchFamily="2" charset="0"/>
                </a:rPr>
                <a:t>Problem</a:t>
              </a:r>
            </a:p>
          </p:txBody>
        </p:sp>
        <p:sp>
          <p:nvSpPr>
            <p:cNvPr id="59" name="Line 33">
              <a:extLst>
                <a:ext uri="{FF2B5EF4-FFF2-40B4-BE49-F238E27FC236}">
                  <a16:creationId xmlns:a16="http://schemas.microsoft.com/office/drawing/2014/main" id="{30CA4393-4E9C-64BF-8BC3-AD7A534570EA}"/>
                </a:ext>
              </a:extLst>
            </p:cNvPr>
            <p:cNvSpPr>
              <a:spLocks noChangeShapeType="1"/>
            </p:cNvSpPr>
            <p:nvPr/>
          </p:nvSpPr>
          <p:spPr bwMode="auto">
            <a:xfrm>
              <a:off x="246063" y="3546475"/>
              <a:ext cx="220662" cy="1155700"/>
            </a:xfrm>
            <a:prstGeom prst="line">
              <a:avLst/>
            </a:prstGeom>
            <a:noFill/>
            <a:ln w="38100" cap="sq">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endParaRPr>
            </a:p>
          </p:txBody>
        </p:sp>
        <p:sp>
          <p:nvSpPr>
            <p:cNvPr id="60" name="Line 34">
              <a:extLst>
                <a:ext uri="{FF2B5EF4-FFF2-40B4-BE49-F238E27FC236}">
                  <a16:creationId xmlns:a16="http://schemas.microsoft.com/office/drawing/2014/main" id="{BE313227-A3B3-B588-9B19-2B87CA7636D8}"/>
                </a:ext>
              </a:extLst>
            </p:cNvPr>
            <p:cNvSpPr>
              <a:spLocks noChangeShapeType="1"/>
            </p:cNvSpPr>
            <p:nvPr/>
          </p:nvSpPr>
          <p:spPr bwMode="auto">
            <a:xfrm>
              <a:off x="2032000" y="3560763"/>
              <a:ext cx="3327400" cy="1144587"/>
            </a:xfrm>
            <a:prstGeom prst="line">
              <a:avLst/>
            </a:prstGeom>
            <a:noFill/>
            <a:ln w="38100" cap="sq">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endParaRPr>
            </a:p>
          </p:txBody>
        </p:sp>
        <p:sp>
          <p:nvSpPr>
            <p:cNvPr id="61" name="Text Box 35">
              <a:extLst>
                <a:ext uri="{FF2B5EF4-FFF2-40B4-BE49-F238E27FC236}">
                  <a16:creationId xmlns:a16="http://schemas.microsoft.com/office/drawing/2014/main" id="{04462F01-DA9F-9D64-DBA8-17803D58D0FB}"/>
                </a:ext>
              </a:extLst>
            </p:cNvPr>
            <p:cNvSpPr txBox="1">
              <a:spLocks noChangeArrowheads="1"/>
            </p:cNvSpPr>
            <p:nvPr/>
          </p:nvSpPr>
          <p:spPr bwMode="auto">
            <a:xfrm>
              <a:off x="1440424" y="4418013"/>
              <a:ext cx="1984839" cy="2416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wrap="none">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200" dirty="0">
                  <a:latin typeface="Roboto" panose="02000000000000000000" pitchFamily="2" charset="0"/>
                  <a:ea typeface="Roboto" panose="02000000000000000000" pitchFamily="2" charset="0"/>
                </a:rPr>
                <a:t>CEDAC Process Steps 1-3</a:t>
              </a:r>
            </a:p>
          </p:txBody>
        </p:sp>
      </p:grpSp>
    </p:spTree>
    <p:extLst>
      <p:ext uri="{BB962C8B-B14F-4D97-AF65-F5344CB8AC3E}">
        <p14:creationId xmlns:p14="http://schemas.microsoft.com/office/powerpoint/2010/main" val="414062754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lstStyle/>
          <a:p>
            <a:r>
              <a:rPr lang="en-US" altLang="en-US" dirty="0"/>
              <a:t>CEDAC Event Process</a:t>
            </a:r>
            <a:endParaRPr lang="en-US" dirty="0"/>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14</a:t>
            </a:fld>
            <a:endParaRPr lang="en-US"/>
          </a:p>
        </p:txBody>
      </p:sp>
      <p:grpSp>
        <p:nvGrpSpPr>
          <p:cNvPr id="14" name="Group 13">
            <a:extLst>
              <a:ext uri="{FF2B5EF4-FFF2-40B4-BE49-F238E27FC236}">
                <a16:creationId xmlns:a16="http://schemas.microsoft.com/office/drawing/2014/main" id="{D41303C2-E018-19D2-0EB5-6DA73CD24807}"/>
              </a:ext>
            </a:extLst>
          </p:cNvPr>
          <p:cNvGrpSpPr/>
          <p:nvPr/>
        </p:nvGrpSpPr>
        <p:grpSpPr>
          <a:xfrm>
            <a:off x="838200" y="297639"/>
            <a:ext cx="3396162" cy="306433"/>
            <a:chOff x="838200" y="297639"/>
            <a:chExt cx="3396162" cy="306433"/>
          </a:xfrm>
        </p:grpSpPr>
        <p:grpSp>
          <p:nvGrpSpPr>
            <p:cNvPr id="15" name="Group 14">
              <a:extLst>
                <a:ext uri="{FF2B5EF4-FFF2-40B4-BE49-F238E27FC236}">
                  <a16:creationId xmlns:a16="http://schemas.microsoft.com/office/drawing/2014/main" id="{E5786EBA-3CE5-0613-28ED-FAC08B873002}"/>
                </a:ext>
              </a:extLst>
            </p:cNvPr>
            <p:cNvGrpSpPr/>
            <p:nvPr/>
          </p:nvGrpSpPr>
          <p:grpSpPr>
            <a:xfrm>
              <a:off x="838200" y="297639"/>
              <a:ext cx="1687517" cy="290657"/>
              <a:chOff x="838200" y="297639"/>
              <a:chExt cx="1687517" cy="290657"/>
            </a:xfrm>
          </p:grpSpPr>
          <p:sp>
            <p:nvSpPr>
              <p:cNvPr id="17" name="AutoShape 9">
                <a:extLst>
                  <a:ext uri="{FF2B5EF4-FFF2-40B4-BE49-F238E27FC236}">
                    <a16:creationId xmlns:a16="http://schemas.microsoft.com/office/drawing/2014/main" id="{B174F6F9-D206-07A7-A64A-B68DDBDC1860}"/>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8" name="AutoShape 9">
                <a:extLst>
                  <a:ext uri="{FF2B5EF4-FFF2-40B4-BE49-F238E27FC236}">
                    <a16:creationId xmlns:a16="http://schemas.microsoft.com/office/drawing/2014/main" id="{E8BB91E2-C1AC-FCCB-16DF-8C2FF5B3FF85}"/>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19" name="Group 18">
                <a:extLst>
                  <a:ext uri="{FF2B5EF4-FFF2-40B4-BE49-F238E27FC236}">
                    <a16:creationId xmlns:a16="http://schemas.microsoft.com/office/drawing/2014/main" id="{E2AC478D-7F21-38EF-5560-D40E7C498246}"/>
                  </a:ext>
                </a:extLst>
              </p:cNvPr>
              <p:cNvGrpSpPr/>
              <p:nvPr/>
            </p:nvGrpSpPr>
            <p:grpSpPr>
              <a:xfrm>
                <a:off x="838200" y="297639"/>
                <a:ext cx="1060167" cy="290657"/>
                <a:chOff x="826426" y="4041857"/>
                <a:chExt cx="1060167" cy="290657"/>
              </a:xfrm>
            </p:grpSpPr>
            <p:sp>
              <p:nvSpPr>
                <p:cNvPr id="20" name="AutoShape 9">
                  <a:extLst>
                    <a:ext uri="{FF2B5EF4-FFF2-40B4-BE49-F238E27FC236}">
                      <a16:creationId xmlns:a16="http://schemas.microsoft.com/office/drawing/2014/main" id="{12AB7CB1-4480-4FEE-CE6F-B4F2FA2C986A}"/>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21" name="AutoShape 11">
                  <a:extLst>
                    <a:ext uri="{FF2B5EF4-FFF2-40B4-BE49-F238E27FC236}">
                      <a16:creationId xmlns:a16="http://schemas.microsoft.com/office/drawing/2014/main" id="{AA5419CA-4052-22B2-630C-B0633134EA3A}"/>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22" name="AutoShape 10">
                  <a:extLst>
                    <a:ext uri="{FF2B5EF4-FFF2-40B4-BE49-F238E27FC236}">
                      <a16:creationId xmlns:a16="http://schemas.microsoft.com/office/drawing/2014/main" id="{CCE40F93-E620-B6AC-E23C-FC6C2C06EBAF}"/>
                    </a:ext>
                  </a:extLst>
                </p:cNvPr>
                <p:cNvSpPr>
                  <a:spLocks noChangeArrowheads="1"/>
                </p:cNvSpPr>
                <p:nvPr/>
              </p:nvSpPr>
              <p:spPr bwMode="auto">
                <a:xfrm>
                  <a:off x="82642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grpSp>
        <p:sp>
          <p:nvSpPr>
            <p:cNvPr id="16" name="TextBox 15">
              <a:extLst>
                <a:ext uri="{FF2B5EF4-FFF2-40B4-BE49-F238E27FC236}">
                  <a16:creationId xmlns:a16="http://schemas.microsoft.com/office/drawing/2014/main" id="{9A4733ED-8095-60E0-242E-EA2095CF4379}"/>
                </a:ext>
              </a:extLst>
            </p:cNvPr>
            <p:cNvSpPr txBox="1"/>
            <p:nvPr/>
          </p:nvSpPr>
          <p:spPr>
            <a:xfrm>
              <a:off x="2525717" y="313415"/>
              <a:ext cx="1708645"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Overview</a:t>
              </a:r>
            </a:p>
          </p:txBody>
        </p:sp>
      </p:grpSp>
      <p:grpSp>
        <p:nvGrpSpPr>
          <p:cNvPr id="67" name="Group 66">
            <a:extLst>
              <a:ext uri="{FF2B5EF4-FFF2-40B4-BE49-F238E27FC236}">
                <a16:creationId xmlns:a16="http://schemas.microsoft.com/office/drawing/2014/main" id="{BE28F6B7-98CA-1386-C7E8-F9F63DF5B8AB}"/>
              </a:ext>
            </a:extLst>
          </p:cNvPr>
          <p:cNvGrpSpPr/>
          <p:nvPr/>
        </p:nvGrpSpPr>
        <p:grpSpPr>
          <a:xfrm>
            <a:off x="785813" y="1897379"/>
            <a:ext cx="10620375" cy="4222433"/>
            <a:chOff x="238125" y="1431925"/>
            <a:chExt cx="8542338" cy="4687888"/>
          </a:xfrm>
        </p:grpSpPr>
        <p:grpSp>
          <p:nvGrpSpPr>
            <p:cNvPr id="24" name="Group 3">
              <a:extLst>
                <a:ext uri="{FF2B5EF4-FFF2-40B4-BE49-F238E27FC236}">
                  <a16:creationId xmlns:a16="http://schemas.microsoft.com/office/drawing/2014/main" id="{B46271EC-E5F6-5759-1CCF-686BF83A799E}"/>
                </a:ext>
              </a:extLst>
            </p:cNvPr>
            <p:cNvGrpSpPr>
              <a:grpSpLocks/>
            </p:cNvGrpSpPr>
            <p:nvPr/>
          </p:nvGrpSpPr>
          <p:grpSpPr bwMode="auto">
            <a:xfrm>
              <a:off x="4267200" y="1431925"/>
              <a:ext cx="4462463" cy="2395538"/>
              <a:chOff x="1389" y="1410"/>
              <a:chExt cx="4116" cy="1795"/>
            </a:xfrm>
          </p:grpSpPr>
          <p:sp>
            <p:nvSpPr>
              <p:cNvPr id="25" name="Rectangle 4">
                <a:extLst>
                  <a:ext uri="{FF2B5EF4-FFF2-40B4-BE49-F238E27FC236}">
                    <a16:creationId xmlns:a16="http://schemas.microsoft.com/office/drawing/2014/main" id="{7EFC6F45-EAA5-802E-0AA7-EFE1C24D999F}"/>
                  </a:ext>
                </a:extLst>
              </p:cNvPr>
              <p:cNvSpPr>
                <a:spLocks noChangeArrowheads="1"/>
              </p:cNvSpPr>
              <p:nvPr/>
            </p:nvSpPr>
            <p:spPr bwMode="auto">
              <a:xfrm>
                <a:off x="1389" y="1410"/>
                <a:ext cx="4116" cy="1795"/>
              </a:xfrm>
              <a:prstGeom prst="rect">
                <a:avLst/>
              </a:prstGeom>
              <a:solidFill>
                <a:schemeClr val="bg2"/>
              </a:solidFill>
              <a:ln w="12700" cap="sq">
                <a:solidFill>
                  <a:srgbClr val="0033CC"/>
                </a:solidFill>
                <a:miter lim="800000"/>
                <a:headEnd type="none" w="sm" len="sm"/>
                <a:tailEnd type="none" w="sm" len="sm"/>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5000"/>
                  </a:lnSpc>
                  <a:buFont typeface="Wingdings" panose="05000000000000000000" pitchFamily="2" charset="2"/>
                  <a:buNone/>
                </a:pPr>
                <a:endParaRPr lang="en-US" altLang="en-US" sz="1600">
                  <a:latin typeface="Roboto" panose="02000000000000000000" pitchFamily="2" charset="0"/>
                  <a:ea typeface="Roboto" panose="02000000000000000000" pitchFamily="2" charset="0"/>
                </a:endParaRPr>
              </a:p>
            </p:txBody>
          </p:sp>
          <p:sp>
            <p:nvSpPr>
              <p:cNvPr id="26" name="Text Box 5">
                <a:extLst>
                  <a:ext uri="{FF2B5EF4-FFF2-40B4-BE49-F238E27FC236}">
                    <a16:creationId xmlns:a16="http://schemas.microsoft.com/office/drawing/2014/main" id="{E372D48D-8315-1C6C-20A6-3B7AAC79338C}"/>
                  </a:ext>
                </a:extLst>
              </p:cNvPr>
              <p:cNvSpPr txBox="1">
                <a:spLocks noChangeArrowheads="1"/>
              </p:cNvSpPr>
              <p:nvPr/>
            </p:nvSpPr>
            <p:spPr bwMode="auto">
              <a:xfrm>
                <a:off x="2357" y="1508"/>
                <a:ext cx="2213" cy="282"/>
              </a:xfrm>
              <a:prstGeom prst="rect">
                <a:avLst/>
              </a:prstGeom>
              <a:solidFill>
                <a:srgbClr val="EAEAEA"/>
              </a:solidFill>
              <a:ln>
                <a:noFill/>
              </a:ln>
              <a:extLs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Bef>
                    <a:spcPct val="30000"/>
                  </a:spcBef>
                  <a:spcAft>
                    <a:spcPct val="0"/>
                  </a:spcAft>
                  <a:buClrTx/>
                  <a:buSzTx/>
                  <a:buFontTx/>
                  <a:buNone/>
                </a:pPr>
                <a:r>
                  <a:rPr lang="en-US" altLang="en-US" sz="1600" i="1" dirty="0">
                    <a:solidFill>
                      <a:schemeClr val="tx2"/>
                    </a:solidFill>
                    <a:latin typeface="Roboto" panose="02000000000000000000" pitchFamily="2" charset="0"/>
                    <a:ea typeface="Roboto" panose="02000000000000000000" pitchFamily="2" charset="0"/>
                  </a:rPr>
                  <a:t>Repeat until problem is solved </a:t>
                </a:r>
              </a:p>
            </p:txBody>
          </p:sp>
        </p:grpSp>
        <p:grpSp>
          <p:nvGrpSpPr>
            <p:cNvPr id="27" name="Group 6">
              <a:extLst>
                <a:ext uri="{FF2B5EF4-FFF2-40B4-BE49-F238E27FC236}">
                  <a16:creationId xmlns:a16="http://schemas.microsoft.com/office/drawing/2014/main" id="{14C4D7EE-5FAA-8AE9-882E-EA627DDCCD1A}"/>
                </a:ext>
              </a:extLst>
            </p:cNvPr>
            <p:cNvGrpSpPr>
              <a:grpSpLocks/>
            </p:cNvGrpSpPr>
            <p:nvPr/>
          </p:nvGrpSpPr>
          <p:grpSpPr bwMode="auto">
            <a:xfrm>
              <a:off x="238125" y="2227263"/>
              <a:ext cx="1835150" cy="1341437"/>
              <a:chOff x="317" y="1707"/>
              <a:chExt cx="959" cy="845"/>
            </a:xfrm>
          </p:grpSpPr>
          <p:sp>
            <p:nvSpPr>
              <p:cNvPr id="28" name="Rectangle 7">
                <a:extLst>
                  <a:ext uri="{FF2B5EF4-FFF2-40B4-BE49-F238E27FC236}">
                    <a16:creationId xmlns:a16="http://schemas.microsoft.com/office/drawing/2014/main" id="{DB038A6E-5660-9D23-015F-E7B7B1C03461}"/>
                  </a:ext>
                </a:extLst>
              </p:cNvPr>
              <p:cNvSpPr>
                <a:spLocks noChangeArrowheads="1"/>
              </p:cNvSpPr>
              <p:nvPr/>
            </p:nvSpPr>
            <p:spPr bwMode="auto">
              <a:xfrm>
                <a:off x="317" y="1872"/>
                <a:ext cx="958" cy="680"/>
              </a:xfrm>
              <a:prstGeom prst="rect">
                <a:avLst/>
              </a:prstGeom>
              <a:solidFill>
                <a:schemeClr val="bg1"/>
              </a:solidFill>
              <a:ln w="12700" cap="sq">
                <a:solidFill>
                  <a:schemeClr val="tx1"/>
                </a:solidFill>
                <a:miter lim="800000"/>
                <a:headEnd/>
                <a:tailEnd/>
              </a:ln>
            </p:spPr>
            <p:txBody>
              <a:bodyPr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br>
                  <a:rPr lang="en-US" altLang="en-US" sz="1400">
                    <a:latin typeface="Roboto" panose="02000000000000000000" pitchFamily="2" charset="0"/>
                    <a:ea typeface="Roboto" panose="02000000000000000000" pitchFamily="2" charset="0"/>
                  </a:rPr>
                </a:br>
                <a:r>
                  <a:rPr lang="en-US" altLang="en-US" sz="1400">
                    <a:latin typeface="Roboto" panose="02000000000000000000" pitchFamily="2" charset="0"/>
                    <a:ea typeface="Roboto" panose="02000000000000000000" pitchFamily="2" charset="0"/>
                  </a:rPr>
                  <a:t>Conduct CEDAC Planning Workshop</a:t>
                </a:r>
              </a:p>
            </p:txBody>
          </p:sp>
          <p:sp>
            <p:nvSpPr>
              <p:cNvPr id="29" name="Rectangle 8">
                <a:extLst>
                  <a:ext uri="{FF2B5EF4-FFF2-40B4-BE49-F238E27FC236}">
                    <a16:creationId xmlns:a16="http://schemas.microsoft.com/office/drawing/2014/main" id="{CD205EE1-D25C-B8F8-D27F-E63BC3CFDF70}"/>
                  </a:ext>
                </a:extLst>
              </p:cNvPr>
              <p:cNvSpPr>
                <a:spLocks noChangeArrowheads="1"/>
              </p:cNvSpPr>
              <p:nvPr/>
            </p:nvSpPr>
            <p:spPr bwMode="auto">
              <a:xfrm>
                <a:off x="317" y="1707"/>
                <a:ext cx="959" cy="159"/>
              </a:xfrm>
              <a:prstGeom prst="rect">
                <a:avLst/>
              </a:prstGeom>
              <a:solidFill>
                <a:schemeClr val="accent1"/>
              </a:solidFill>
              <a:ln w="12700" cap="sq">
                <a:solidFill>
                  <a:schemeClr val="tx1"/>
                </a:solidFill>
                <a:miter lim="800000"/>
                <a:headEnd/>
                <a:tailEnd/>
              </a:ln>
            </p:spPr>
            <p:txBody>
              <a:bodyPr wrap="none" anchor="ctr" anchorCtr="1"/>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200">
                    <a:solidFill>
                      <a:schemeClr val="bg1"/>
                    </a:solidFill>
                    <a:latin typeface="Roboto" panose="02000000000000000000" pitchFamily="2" charset="0"/>
                    <a:ea typeface="Roboto" panose="02000000000000000000" pitchFamily="2" charset="0"/>
                  </a:rPr>
                  <a:t>PROCESS STEP 1</a:t>
                </a:r>
              </a:p>
            </p:txBody>
          </p:sp>
        </p:grpSp>
        <p:grpSp>
          <p:nvGrpSpPr>
            <p:cNvPr id="30" name="Group 9">
              <a:extLst>
                <a:ext uri="{FF2B5EF4-FFF2-40B4-BE49-F238E27FC236}">
                  <a16:creationId xmlns:a16="http://schemas.microsoft.com/office/drawing/2014/main" id="{F98F5F9D-2AF2-D151-0E6F-30ACB6FA2B9B}"/>
                </a:ext>
              </a:extLst>
            </p:cNvPr>
            <p:cNvGrpSpPr>
              <a:grpSpLocks/>
            </p:cNvGrpSpPr>
            <p:nvPr/>
          </p:nvGrpSpPr>
          <p:grpSpPr bwMode="auto">
            <a:xfrm>
              <a:off x="2295525" y="2227263"/>
              <a:ext cx="1835150" cy="1341437"/>
              <a:chOff x="1448" y="1704"/>
              <a:chExt cx="959" cy="845"/>
            </a:xfrm>
          </p:grpSpPr>
          <p:sp>
            <p:nvSpPr>
              <p:cNvPr id="31" name="Rectangle 10">
                <a:extLst>
                  <a:ext uri="{FF2B5EF4-FFF2-40B4-BE49-F238E27FC236}">
                    <a16:creationId xmlns:a16="http://schemas.microsoft.com/office/drawing/2014/main" id="{1FA59AA5-D515-F765-513A-68F86EB0684F}"/>
                  </a:ext>
                </a:extLst>
              </p:cNvPr>
              <p:cNvSpPr>
                <a:spLocks noChangeArrowheads="1"/>
              </p:cNvSpPr>
              <p:nvPr/>
            </p:nvSpPr>
            <p:spPr bwMode="auto">
              <a:xfrm>
                <a:off x="1448" y="1869"/>
                <a:ext cx="958" cy="680"/>
              </a:xfrm>
              <a:prstGeom prst="rect">
                <a:avLst/>
              </a:prstGeom>
              <a:solidFill>
                <a:schemeClr val="bg1"/>
              </a:solidFill>
              <a:ln w="12700" cap="sq">
                <a:solidFill>
                  <a:schemeClr val="tx1"/>
                </a:solidFill>
                <a:miter lim="800000"/>
                <a:headEnd/>
                <a:tailEnd/>
              </a:ln>
            </p:spPr>
            <p:txBody>
              <a:bodyPr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br>
                  <a:rPr lang="en-US" altLang="en-US" sz="1400">
                    <a:latin typeface="Roboto" panose="02000000000000000000" pitchFamily="2" charset="0"/>
                    <a:ea typeface="Roboto" panose="02000000000000000000" pitchFamily="2" charset="0"/>
                  </a:rPr>
                </a:br>
                <a:r>
                  <a:rPr lang="en-US" altLang="en-US" sz="1400">
                    <a:latin typeface="Roboto" panose="02000000000000000000" pitchFamily="2" charset="0"/>
                    <a:ea typeface="Roboto" panose="02000000000000000000" pitchFamily="2" charset="0"/>
                  </a:rPr>
                  <a:t>Conduct CEDAC</a:t>
                </a:r>
              </a:p>
              <a:p>
                <a:pPr algn="ctr">
                  <a:lnSpc>
                    <a:spcPct val="80000"/>
                  </a:lnSpc>
                  <a:spcBef>
                    <a:spcPct val="20000"/>
                  </a:spcBef>
                  <a:spcAft>
                    <a:spcPct val="0"/>
                  </a:spcAft>
                  <a:buClrTx/>
                  <a:buSzTx/>
                  <a:buFontTx/>
                  <a:buNone/>
                </a:pPr>
                <a:r>
                  <a:rPr lang="en-US" altLang="en-US" sz="1400">
                    <a:latin typeface="Roboto" panose="02000000000000000000" pitchFamily="2" charset="0"/>
                    <a:ea typeface="Roboto" panose="02000000000000000000" pitchFamily="2" charset="0"/>
                  </a:rPr>
                  <a:t>Event</a:t>
                </a:r>
              </a:p>
            </p:txBody>
          </p:sp>
          <p:sp>
            <p:nvSpPr>
              <p:cNvPr id="32" name="Rectangle 11">
                <a:extLst>
                  <a:ext uri="{FF2B5EF4-FFF2-40B4-BE49-F238E27FC236}">
                    <a16:creationId xmlns:a16="http://schemas.microsoft.com/office/drawing/2014/main" id="{C8BCC492-14B6-DBBB-C796-9E816A827F8B}"/>
                  </a:ext>
                </a:extLst>
              </p:cNvPr>
              <p:cNvSpPr>
                <a:spLocks noChangeArrowheads="1"/>
              </p:cNvSpPr>
              <p:nvPr/>
            </p:nvSpPr>
            <p:spPr bwMode="auto">
              <a:xfrm>
                <a:off x="1448" y="1704"/>
                <a:ext cx="959" cy="159"/>
              </a:xfrm>
              <a:prstGeom prst="rect">
                <a:avLst/>
              </a:prstGeom>
              <a:solidFill>
                <a:schemeClr val="accent1"/>
              </a:solidFill>
              <a:ln w="12700" cap="sq">
                <a:solidFill>
                  <a:schemeClr val="tx1"/>
                </a:solidFill>
                <a:miter lim="800000"/>
                <a:headEnd/>
                <a:tailEnd/>
              </a:ln>
            </p:spPr>
            <p:txBody>
              <a:bodyPr wrap="none" anchor="ctr" anchorCtr="1"/>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200">
                    <a:solidFill>
                      <a:schemeClr val="bg1"/>
                    </a:solidFill>
                    <a:latin typeface="Roboto" panose="02000000000000000000" pitchFamily="2" charset="0"/>
                    <a:ea typeface="Roboto" panose="02000000000000000000" pitchFamily="2" charset="0"/>
                  </a:rPr>
                  <a:t>PROCESS STEP 2</a:t>
                </a:r>
              </a:p>
            </p:txBody>
          </p:sp>
        </p:grpSp>
        <p:grpSp>
          <p:nvGrpSpPr>
            <p:cNvPr id="33" name="Group 12">
              <a:extLst>
                <a:ext uri="{FF2B5EF4-FFF2-40B4-BE49-F238E27FC236}">
                  <a16:creationId xmlns:a16="http://schemas.microsoft.com/office/drawing/2014/main" id="{0744F701-E1DD-1013-E97B-27B3DD39019B}"/>
                </a:ext>
              </a:extLst>
            </p:cNvPr>
            <p:cNvGrpSpPr>
              <a:grpSpLocks/>
            </p:cNvGrpSpPr>
            <p:nvPr/>
          </p:nvGrpSpPr>
          <p:grpSpPr bwMode="auto">
            <a:xfrm>
              <a:off x="4500563" y="2227263"/>
              <a:ext cx="1835150" cy="1341437"/>
              <a:chOff x="2591" y="1704"/>
              <a:chExt cx="959" cy="845"/>
            </a:xfrm>
          </p:grpSpPr>
          <p:sp>
            <p:nvSpPr>
              <p:cNvPr id="34" name="Rectangle 13">
                <a:extLst>
                  <a:ext uri="{FF2B5EF4-FFF2-40B4-BE49-F238E27FC236}">
                    <a16:creationId xmlns:a16="http://schemas.microsoft.com/office/drawing/2014/main" id="{5AEF176E-8178-3897-FB52-3989279B5157}"/>
                  </a:ext>
                </a:extLst>
              </p:cNvPr>
              <p:cNvSpPr>
                <a:spLocks noChangeArrowheads="1"/>
              </p:cNvSpPr>
              <p:nvPr/>
            </p:nvSpPr>
            <p:spPr bwMode="auto">
              <a:xfrm>
                <a:off x="2591" y="1869"/>
                <a:ext cx="958" cy="680"/>
              </a:xfrm>
              <a:prstGeom prst="rect">
                <a:avLst/>
              </a:prstGeom>
              <a:solidFill>
                <a:schemeClr val="bg1"/>
              </a:solidFill>
              <a:ln w="12700" cap="sq">
                <a:solidFill>
                  <a:schemeClr val="tx1"/>
                </a:solidFill>
                <a:miter lim="800000"/>
                <a:headEnd/>
                <a:tailEnd/>
              </a:ln>
            </p:spPr>
            <p:txBody>
              <a:bodyPr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br>
                  <a:rPr lang="en-US" altLang="en-US" sz="1400">
                    <a:latin typeface="Roboto" panose="02000000000000000000" pitchFamily="2" charset="0"/>
                    <a:ea typeface="Roboto" panose="02000000000000000000" pitchFamily="2" charset="0"/>
                  </a:rPr>
                </a:br>
                <a:r>
                  <a:rPr lang="en-US" altLang="en-US" sz="1400">
                    <a:latin typeface="Roboto" panose="02000000000000000000" pitchFamily="2" charset="0"/>
                    <a:ea typeface="Roboto" panose="02000000000000000000" pitchFamily="2" charset="0"/>
                  </a:rPr>
                  <a:t>Implement and Test Countermeasures</a:t>
                </a:r>
              </a:p>
            </p:txBody>
          </p:sp>
          <p:sp>
            <p:nvSpPr>
              <p:cNvPr id="35" name="Rectangle 14">
                <a:extLst>
                  <a:ext uri="{FF2B5EF4-FFF2-40B4-BE49-F238E27FC236}">
                    <a16:creationId xmlns:a16="http://schemas.microsoft.com/office/drawing/2014/main" id="{7BD5D521-6CF0-065C-5E33-D49AB377D7BB}"/>
                  </a:ext>
                </a:extLst>
              </p:cNvPr>
              <p:cNvSpPr>
                <a:spLocks noChangeArrowheads="1"/>
              </p:cNvSpPr>
              <p:nvPr/>
            </p:nvSpPr>
            <p:spPr bwMode="auto">
              <a:xfrm>
                <a:off x="2591" y="1704"/>
                <a:ext cx="959" cy="159"/>
              </a:xfrm>
              <a:prstGeom prst="rect">
                <a:avLst/>
              </a:prstGeom>
              <a:solidFill>
                <a:schemeClr val="accent1"/>
              </a:solidFill>
              <a:ln w="12700" cap="sq">
                <a:solidFill>
                  <a:schemeClr val="tx1"/>
                </a:solidFill>
                <a:miter lim="800000"/>
                <a:headEnd/>
                <a:tailEnd/>
              </a:ln>
            </p:spPr>
            <p:txBody>
              <a:bodyPr wrap="none" anchor="ctr" anchorCtr="1"/>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200">
                    <a:solidFill>
                      <a:schemeClr val="bg1"/>
                    </a:solidFill>
                    <a:latin typeface="Roboto" panose="02000000000000000000" pitchFamily="2" charset="0"/>
                    <a:ea typeface="Roboto" panose="02000000000000000000" pitchFamily="2" charset="0"/>
                  </a:rPr>
                  <a:t>PROCESS STEP 3</a:t>
                </a:r>
              </a:p>
            </p:txBody>
          </p:sp>
        </p:grpSp>
        <p:grpSp>
          <p:nvGrpSpPr>
            <p:cNvPr id="36" name="Group 15">
              <a:extLst>
                <a:ext uri="{FF2B5EF4-FFF2-40B4-BE49-F238E27FC236}">
                  <a16:creationId xmlns:a16="http://schemas.microsoft.com/office/drawing/2014/main" id="{60A100D4-76E6-C3D7-EE10-94AB07FC2C62}"/>
                </a:ext>
              </a:extLst>
            </p:cNvPr>
            <p:cNvGrpSpPr>
              <a:grpSpLocks/>
            </p:cNvGrpSpPr>
            <p:nvPr/>
          </p:nvGrpSpPr>
          <p:grpSpPr bwMode="auto">
            <a:xfrm>
              <a:off x="6538913" y="2227263"/>
              <a:ext cx="1835150" cy="1341437"/>
              <a:chOff x="3734" y="1704"/>
              <a:chExt cx="959" cy="845"/>
            </a:xfrm>
          </p:grpSpPr>
          <p:sp>
            <p:nvSpPr>
              <p:cNvPr id="37" name="Rectangle 16">
                <a:extLst>
                  <a:ext uri="{FF2B5EF4-FFF2-40B4-BE49-F238E27FC236}">
                    <a16:creationId xmlns:a16="http://schemas.microsoft.com/office/drawing/2014/main" id="{19F3B10B-76E8-7A2C-1EF4-8FA3D36F4D9D}"/>
                  </a:ext>
                </a:extLst>
              </p:cNvPr>
              <p:cNvSpPr>
                <a:spLocks noChangeArrowheads="1"/>
              </p:cNvSpPr>
              <p:nvPr/>
            </p:nvSpPr>
            <p:spPr bwMode="auto">
              <a:xfrm>
                <a:off x="3734" y="1869"/>
                <a:ext cx="958" cy="680"/>
              </a:xfrm>
              <a:prstGeom prst="rect">
                <a:avLst/>
              </a:prstGeom>
              <a:solidFill>
                <a:schemeClr val="bg1"/>
              </a:solidFill>
              <a:ln w="12700" cap="sq">
                <a:solidFill>
                  <a:schemeClr val="tx1"/>
                </a:solidFill>
                <a:miter lim="800000"/>
                <a:headEnd/>
                <a:tailEnd/>
              </a:ln>
            </p:spPr>
            <p:txBody>
              <a:bodyPr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br>
                  <a:rPr lang="en-US" altLang="en-US" sz="1400">
                    <a:latin typeface="Roboto" panose="02000000000000000000" pitchFamily="2" charset="0"/>
                    <a:ea typeface="Roboto" panose="02000000000000000000" pitchFamily="2" charset="0"/>
                  </a:rPr>
                </a:br>
                <a:r>
                  <a:rPr lang="en-US" altLang="en-US" sz="1400">
                    <a:latin typeface="Roboto" panose="02000000000000000000" pitchFamily="2" charset="0"/>
                    <a:ea typeface="Roboto" panose="02000000000000000000" pitchFamily="2" charset="0"/>
                  </a:rPr>
                  <a:t>Conduct CEDAC Follow-up Workshops</a:t>
                </a:r>
              </a:p>
            </p:txBody>
          </p:sp>
          <p:sp>
            <p:nvSpPr>
              <p:cNvPr id="38" name="Rectangle 17">
                <a:extLst>
                  <a:ext uri="{FF2B5EF4-FFF2-40B4-BE49-F238E27FC236}">
                    <a16:creationId xmlns:a16="http://schemas.microsoft.com/office/drawing/2014/main" id="{32C302E7-DE3C-44D7-D9F4-74B7484F5C49}"/>
                  </a:ext>
                </a:extLst>
              </p:cNvPr>
              <p:cNvSpPr>
                <a:spLocks noChangeArrowheads="1"/>
              </p:cNvSpPr>
              <p:nvPr/>
            </p:nvSpPr>
            <p:spPr bwMode="auto">
              <a:xfrm>
                <a:off x="3734" y="1704"/>
                <a:ext cx="959" cy="159"/>
              </a:xfrm>
              <a:prstGeom prst="rect">
                <a:avLst/>
              </a:prstGeom>
              <a:solidFill>
                <a:schemeClr val="accent1"/>
              </a:solidFill>
              <a:ln w="12700" cap="sq">
                <a:solidFill>
                  <a:schemeClr val="tx1"/>
                </a:solidFill>
                <a:miter lim="800000"/>
                <a:headEnd/>
                <a:tailEnd/>
              </a:ln>
            </p:spPr>
            <p:txBody>
              <a:bodyPr wrap="none" anchor="ctr" anchorCtr="1"/>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200">
                    <a:solidFill>
                      <a:schemeClr val="bg1"/>
                    </a:solidFill>
                    <a:latin typeface="Roboto" panose="02000000000000000000" pitchFamily="2" charset="0"/>
                    <a:ea typeface="Roboto" panose="02000000000000000000" pitchFamily="2" charset="0"/>
                  </a:rPr>
                  <a:t>PROCESS STEP 4</a:t>
                </a:r>
              </a:p>
            </p:txBody>
          </p:sp>
        </p:grpSp>
        <p:cxnSp>
          <p:nvCxnSpPr>
            <p:cNvPr id="39" name="AutoShape 18">
              <a:extLst>
                <a:ext uri="{FF2B5EF4-FFF2-40B4-BE49-F238E27FC236}">
                  <a16:creationId xmlns:a16="http://schemas.microsoft.com/office/drawing/2014/main" id="{C8013AC7-2C9F-82CE-75C5-C3534B20ADE1}"/>
                </a:ext>
              </a:extLst>
            </p:cNvPr>
            <p:cNvCxnSpPr>
              <a:cxnSpLocks noChangeShapeType="1"/>
              <a:stCxn id="28" idx="3"/>
              <a:endCxn id="31" idx="1"/>
            </p:cNvCxnSpPr>
            <p:nvPr/>
          </p:nvCxnSpPr>
          <p:spPr bwMode="auto">
            <a:xfrm>
              <a:off x="2071688" y="3028950"/>
              <a:ext cx="223837" cy="0"/>
            </a:xfrm>
            <a:prstGeom prst="straightConnector1">
              <a:avLst/>
            </a:prstGeom>
            <a:noFill/>
            <a:ln w="38100" cap="sq">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40" name="AutoShape 19">
              <a:extLst>
                <a:ext uri="{FF2B5EF4-FFF2-40B4-BE49-F238E27FC236}">
                  <a16:creationId xmlns:a16="http://schemas.microsoft.com/office/drawing/2014/main" id="{E33F6E8D-CACE-E935-4C62-3263A9DE7EFE}"/>
                </a:ext>
              </a:extLst>
            </p:cNvPr>
            <p:cNvCxnSpPr>
              <a:cxnSpLocks noChangeShapeType="1"/>
              <a:stCxn id="31" idx="3"/>
              <a:endCxn id="34" idx="1"/>
            </p:cNvCxnSpPr>
            <p:nvPr/>
          </p:nvCxnSpPr>
          <p:spPr bwMode="auto">
            <a:xfrm>
              <a:off x="4129088" y="3028950"/>
              <a:ext cx="371475" cy="0"/>
            </a:xfrm>
            <a:prstGeom prst="straightConnector1">
              <a:avLst/>
            </a:prstGeom>
            <a:noFill/>
            <a:ln w="38100" cap="sq">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41" name="AutoShape 20">
              <a:extLst>
                <a:ext uri="{FF2B5EF4-FFF2-40B4-BE49-F238E27FC236}">
                  <a16:creationId xmlns:a16="http://schemas.microsoft.com/office/drawing/2014/main" id="{B182FA75-E887-D4AC-AADF-57C6D2F76C60}"/>
                </a:ext>
              </a:extLst>
            </p:cNvPr>
            <p:cNvCxnSpPr>
              <a:cxnSpLocks noChangeShapeType="1"/>
              <a:stCxn id="34" idx="3"/>
              <a:endCxn id="37" idx="1"/>
            </p:cNvCxnSpPr>
            <p:nvPr/>
          </p:nvCxnSpPr>
          <p:spPr bwMode="auto">
            <a:xfrm>
              <a:off x="6334125" y="3028950"/>
              <a:ext cx="204788" cy="0"/>
            </a:xfrm>
            <a:prstGeom prst="straightConnector1">
              <a:avLst/>
            </a:prstGeom>
            <a:noFill/>
            <a:ln w="38100" cap="sq">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42" name="AutoShape 21">
              <a:extLst>
                <a:ext uri="{FF2B5EF4-FFF2-40B4-BE49-F238E27FC236}">
                  <a16:creationId xmlns:a16="http://schemas.microsoft.com/office/drawing/2014/main" id="{52198D36-7DCB-EC8C-9244-FBF0EE717C1E}"/>
                </a:ext>
              </a:extLst>
            </p:cNvPr>
            <p:cNvCxnSpPr>
              <a:cxnSpLocks noChangeShapeType="1"/>
              <a:stCxn id="37" idx="3"/>
              <a:endCxn id="35" idx="0"/>
            </p:cNvCxnSpPr>
            <p:nvPr/>
          </p:nvCxnSpPr>
          <p:spPr bwMode="auto">
            <a:xfrm flipH="1" flipV="1">
              <a:off x="5418138" y="2227263"/>
              <a:ext cx="2954337" cy="801687"/>
            </a:xfrm>
            <a:prstGeom prst="bentConnector4">
              <a:avLst>
                <a:gd name="adj1" fmla="val -7685"/>
                <a:gd name="adj2" fmla="val 128514"/>
              </a:avLst>
            </a:prstGeom>
            <a:noFill/>
            <a:ln w="38100" cap="sq">
              <a:solidFill>
                <a:schemeClr val="tx1"/>
              </a:solidFill>
              <a:miter lim="800000"/>
              <a:headEnd/>
              <a:tailEnd type="triangle" w="med" len="med"/>
            </a:ln>
            <a:extLst>
              <a:ext uri="{909E8E84-426E-40DD-AFC4-6F175D3DCCD1}">
                <a14:hiddenFill xmlns:a14="http://schemas.microsoft.com/office/drawing/2010/main">
                  <a:noFill/>
                </a14:hiddenFill>
              </a:ext>
            </a:extLst>
          </p:spPr>
        </p:cxnSp>
        <p:grpSp>
          <p:nvGrpSpPr>
            <p:cNvPr id="43" name="Group 22">
              <a:extLst>
                <a:ext uri="{FF2B5EF4-FFF2-40B4-BE49-F238E27FC236}">
                  <a16:creationId xmlns:a16="http://schemas.microsoft.com/office/drawing/2014/main" id="{C4AD71C4-C510-8BDC-15BB-67F87860B161}"/>
                </a:ext>
              </a:extLst>
            </p:cNvPr>
            <p:cNvGrpSpPr>
              <a:grpSpLocks/>
            </p:cNvGrpSpPr>
            <p:nvPr/>
          </p:nvGrpSpPr>
          <p:grpSpPr bwMode="auto">
            <a:xfrm>
              <a:off x="488950" y="4713288"/>
              <a:ext cx="8291513" cy="1406525"/>
              <a:chOff x="1350" y="2060"/>
              <a:chExt cx="3035" cy="208"/>
            </a:xfrm>
          </p:grpSpPr>
          <p:sp>
            <p:nvSpPr>
              <p:cNvPr id="44" name="AutoShape 23">
                <a:extLst>
                  <a:ext uri="{FF2B5EF4-FFF2-40B4-BE49-F238E27FC236}">
                    <a16:creationId xmlns:a16="http://schemas.microsoft.com/office/drawing/2014/main" id="{E1B9B333-720B-87A0-192F-FD96567A4803}"/>
                  </a:ext>
                </a:extLst>
              </p:cNvPr>
              <p:cNvSpPr>
                <a:spLocks noChangeArrowheads="1"/>
              </p:cNvSpPr>
              <p:nvPr/>
            </p:nvSpPr>
            <p:spPr bwMode="auto">
              <a:xfrm>
                <a:off x="3722" y="2060"/>
                <a:ext cx="663" cy="208"/>
              </a:xfrm>
              <a:prstGeom prst="homePlate">
                <a:avLst>
                  <a:gd name="adj" fmla="val 29912"/>
                </a:avLst>
              </a:prstGeom>
              <a:solidFill>
                <a:schemeClr val="accent1"/>
              </a:solidFill>
              <a:ln w="12700" cap="sq">
                <a:solidFill>
                  <a:schemeClr val="tx1"/>
                </a:solidFill>
                <a:miter lim="800000"/>
                <a:headEnd/>
                <a:tailEnd/>
              </a:ln>
            </p:spPr>
            <p:txBody>
              <a:bodyPr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Bef>
                    <a:spcPct val="0"/>
                  </a:spcBef>
                  <a:spcAft>
                    <a:spcPct val="0"/>
                  </a:spcAft>
                  <a:buClrTx/>
                  <a:buSzTx/>
                  <a:buFontTx/>
                  <a:buNone/>
                </a:pPr>
                <a:r>
                  <a:rPr lang="en-US" altLang="en-US" sz="1400">
                    <a:solidFill>
                      <a:schemeClr val="bg1"/>
                    </a:solidFill>
                    <a:latin typeface="Roboto" panose="02000000000000000000" pitchFamily="2" charset="0"/>
                    <a:ea typeface="Roboto" panose="02000000000000000000" pitchFamily="2" charset="0"/>
                  </a:rPr>
                  <a:t>Develop </a:t>
                </a:r>
                <a:br>
                  <a:rPr lang="en-US" altLang="en-US" sz="1400">
                    <a:solidFill>
                      <a:schemeClr val="bg1"/>
                    </a:solidFill>
                    <a:latin typeface="Roboto" panose="02000000000000000000" pitchFamily="2" charset="0"/>
                    <a:ea typeface="Roboto" panose="02000000000000000000" pitchFamily="2" charset="0"/>
                  </a:rPr>
                </a:br>
                <a:r>
                  <a:rPr lang="en-US" altLang="en-US" sz="1400">
                    <a:solidFill>
                      <a:schemeClr val="bg1"/>
                    </a:solidFill>
                    <a:latin typeface="Roboto" panose="02000000000000000000" pitchFamily="2" charset="0"/>
                    <a:ea typeface="Roboto" panose="02000000000000000000" pitchFamily="2" charset="0"/>
                  </a:rPr>
                  <a:t>Follow-up</a:t>
                </a:r>
              </a:p>
              <a:p>
                <a:pPr algn="ctr">
                  <a:lnSpc>
                    <a:spcPct val="100000"/>
                  </a:lnSpc>
                  <a:spcBef>
                    <a:spcPct val="0"/>
                  </a:spcBef>
                  <a:spcAft>
                    <a:spcPct val="0"/>
                  </a:spcAft>
                  <a:buClrTx/>
                  <a:buSzTx/>
                  <a:buFontTx/>
                  <a:buNone/>
                </a:pPr>
                <a:r>
                  <a:rPr lang="en-US" altLang="en-US" sz="1400">
                    <a:solidFill>
                      <a:schemeClr val="bg1"/>
                    </a:solidFill>
                    <a:latin typeface="Roboto" panose="02000000000000000000" pitchFamily="2" charset="0"/>
                    <a:ea typeface="Roboto" panose="02000000000000000000" pitchFamily="2" charset="0"/>
                  </a:rPr>
                  <a:t>Plan</a:t>
                </a:r>
              </a:p>
            </p:txBody>
          </p:sp>
          <p:sp>
            <p:nvSpPr>
              <p:cNvPr id="45" name="AutoShape 24">
                <a:extLst>
                  <a:ext uri="{FF2B5EF4-FFF2-40B4-BE49-F238E27FC236}">
                    <a16:creationId xmlns:a16="http://schemas.microsoft.com/office/drawing/2014/main" id="{B1994422-BD57-3600-010B-BBBC5F2A04CC}"/>
                  </a:ext>
                </a:extLst>
              </p:cNvPr>
              <p:cNvSpPr>
                <a:spLocks noChangeArrowheads="1"/>
              </p:cNvSpPr>
              <p:nvPr/>
            </p:nvSpPr>
            <p:spPr bwMode="auto">
              <a:xfrm>
                <a:off x="3128" y="2060"/>
                <a:ext cx="663" cy="208"/>
              </a:xfrm>
              <a:prstGeom prst="homePlate">
                <a:avLst>
                  <a:gd name="adj" fmla="val 29912"/>
                </a:avLst>
              </a:prstGeom>
              <a:solidFill>
                <a:schemeClr val="accent1"/>
              </a:solidFill>
              <a:ln w="12700" cap="sq">
                <a:solidFill>
                  <a:schemeClr val="tx1"/>
                </a:solidFill>
                <a:miter lim="800000"/>
                <a:headEnd/>
                <a:tailEnd/>
              </a:ln>
            </p:spPr>
            <p:txBody>
              <a:bodyPr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Bef>
                    <a:spcPct val="0"/>
                  </a:spcBef>
                  <a:spcAft>
                    <a:spcPct val="0"/>
                  </a:spcAft>
                  <a:buClrTx/>
                  <a:buSzTx/>
                  <a:buFontTx/>
                  <a:buNone/>
                </a:pPr>
                <a:r>
                  <a:rPr lang="en-US" altLang="en-US" sz="1400">
                    <a:solidFill>
                      <a:schemeClr val="bg1"/>
                    </a:solidFill>
                    <a:latin typeface="Roboto" panose="02000000000000000000" pitchFamily="2" charset="0"/>
                    <a:ea typeface="Roboto" panose="02000000000000000000" pitchFamily="2" charset="0"/>
                  </a:rPr>
                  <a:t>Act on</a:t>
                </a:r>
              </a:p>
              <a:p>
                <a:pPr algn="ctr">
                  <a:lnSpc>
                    <a:spcPct val="100000"/>
                  </a:lnSpc>
                  <a:spcBef>
                    <a:spcPct val="0"/>
                  </a:spcBef>
                  <a:spcAft>
                    <a:spcPct val="0"/>
                  </a:spcAft>
                  <a:buClrTx/>
                  <a:buSzTx/>
                  <a:buFontTx/>
                  <a:buNone/>
                </a:pPr>
                <a:r>
                  <a:rPr lang="en-US" altLang="en-US" sz="1400">
                    <a:solidFill>
                      <a:schemeClr val="bg1"/>
                    </a:solidFill>
                    <a:latin typeface="Roboto" panose="02000000000000000000" pitchFamily="2" charset="0"/>
                    <a:ea typeface="Roboto" panose="02000000000000000000" pitchFamily="2" charset="0"/>
                  </a:rPr>
                  <a:t>    IMPROVEMENT Cards</a:t>
                </a:r>
              </a:p>
            </p:txBody>
          </p:sp>
          <p:sp>
            <p:nvSpPr>
              <p:cNvPr id="46" name="AutoShape 25">
                <a:extLst>
                  <a:ext uri="{FF2B5EF4-FFF2-40B4-BE49-F238E27FC236}">
                    <a16:creationId xmlns:a16="http://schemas.microsoft.com/office/drawing/2014/main" id="{04C76D58-B766-4F78-E894-AAC01AEE7595}"/>
                  </a:ext>
                </a:extLst>
              </p:cNvPr>
              <p:cNvSpPr>
                <a:spLocks noChangeArrowheads="1"/>
              </p:cNvSpPr>
              <p:nvPr/>
            </p:nvSpPr>
            <p:spPr bwMode="auto">
              <a:xfrm>
                <a:off x="2541" y="2060"/>
                <a:ext cx="663" cy="208"/>
              </a:xfrm>
              <a:prstGeom prst="homePlate">
                <a:avLst>
                  <a:gd name="adj" fmla="val 29912"/>
                </a:avLst>
              </a:prstGeom>
              <a:solidFill>
                <a:schemeClr val="accent1"/>
              </a:solidFill>
              <a:ln w="12700" cap="sq">
                <a:solidFill>
                  <a:schemeClr val="tx1"/>
                </a:solidFill>
                <a:miter lim="800000"/>
                <a:headEnd/>
                <a:tailEnd/>
              </a:ln>
            </p:spPr>
            <p:txBody>
              <a:bodyPr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Bef>
                    <a:spcPct val="0"/>
                  </a:spcBef>
                  <a:spcAft>
                    <a:spcPct val="0"/>
                  </a:spcAft>
                  <a:buClrTx/>
                  <a:buSzTx/>
                  <a:buFontTx/>
                  <a:buNone/>
                </a:pPr>
                <a:r>
                  <a:rPr lang="en-US" altLang="en-US" sz="1400">
                    <a:solidFill>
                      <a:schemeClr val="bg1"/>
                    </a:solidFill>
                    <a:latin typeface="Roboto" panose="02000000000000000000" pitchFamily="2" charset="0"/>
                    <a:ea typeface="Roboto" panose="02000000000000000000" pitchFamily="2" charset="0"/>
                  </a:rPr>
                  <a:t>Develop </a:t>
                </a:r>
              </a:p>
              <a:p>
                <a:pPr algn="ctr">
                  <a:lnSpc>
                    <a:spcPct val="100000"/>
                  </a:lnSpc>
                  <a:spcBef>
                    <a:spcPct val="0"/>
                  </a:spcBef>
                  <a:spcAft>
                    <a:spcPct val="0"/>
                  </a:spcAft>
                  <a:buClrTx/>
                  <a:buSzTx/>
                  <a:buFontTx/>
                  <a:buNone/>
                </a:pPr>
                <a:r>
                  <a:rPr lang="en-US" altLang="en-US" sz="1400">
                    <a:solidFill>
                      <a:schemeClr val="bg1"/>
                    </a:solidFill>
                    <a:latin typeface="Roboto" panose="02000000000000000000" pitchFamily="2" charset="0"/>
                    <a:ea typeface="Roboto" panose="02000000000000000000" pitchFamily="2" charset="0"/>
                  </a:rPr>
                  <a:t>    IMPROVEMENT Cards</a:t>
                </a:r>
              </a:p>
            </p:txBody>
          </p:sp>
          <p:sp>
            <p:nvSpPr>
              <p:cNvPr id="47" name="AutoShape 26">
                <a:extLst>
                  <a:ext uri="{FF2B5EF4-FFF2-40B4-BE49-F238E27FC236}">
                    <a16:creationId xmlns:a16="http://schemas.microsoft.com/office/drawing/2014/main" id="{06A0BC45-B631-21DC-24FF-AA1D2D4E0057}"/>
                  </a:ext>
                </a:extLst>
              </p:cNvPr>
              <p:cNvSpPr>
                <a:spLocks noChangeArrowheads="1"/>
              </p:cNvSpPr>
              <p:nvPr/>
            </p:nvSpPr>
            <p:spPr bwMode="auto">
              <a:xfrm>
                <a:off x="1951" y="2060"/>
                <a:ext cx="663" cy="208"/>
              </a:xfrm>
              <a:prstGeom prst="homePlate">
                <a:avLst>
                  <a:gd name="adj" fmla="val 29912"/>
                </a:avLst>
              </a:prstGeom>
              <a:solidFill>
                <a:schemeClr val="accent1"/>
              </a:solidFill>
              <a:ln w="12700" cap="sq">
                <a:solidFill>
                  <a:schemeClr val="tx1"/>
                </a:solidFill>
                <a:miter lim="800000"/>
                <a:headEnd/>
                <a:tailEnd/>
              </a:ln>
            </p:spPr>
            <p:txBody>
              <a:bodyPr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Bef>
                    <a:spcPct val="0"/>
                  </a:spcBef>
                  <a:spcAft>
                    <a:spcPct val="0"/>
                  </a:spcAft>
                  <a:buClrTx/>
                  <a:buSzTx/>
                  <a:buFontTx/>
                  <a:buNone/>
                </a:pPr>
                <a:r>
                  <a:rPr lang="en-US" altLang="en-US" sz="1400">
                    <a:solidFill>
                      <a:schemeClr val="bg1"/>
                    </a:solidFill>
                    <a:latin typeface="Roboto" panose="02000000000000000000" pitchFamily="2" charset="0"/>
                    <a:ea typeface="Roboto" panose="02000000000000000000" pitchFamily="2" charset="0"/>
                  </a:rPr>
                  <a:t>Develop </a:t>
                </a:r>
              </a:p>
              <a:p>
                <a:pPr algn="ctr">
                  <a:lnSpc>
                    <a:spcPct val="100000"/>
                  </a:lnSpc>
                  <a:spcBef>
                    <a:spcPct val="0"/>
                  </a:spcBef>
                  <a:spcAft>
                    <a:spcPct val="0"/>
                  </a:spcAft>
                  <a:buClrTx/>
                  <a:buSzTx/>
                  <a:buFontTx/>
                  <a:buNone/>
                </a:pPr>
                <a:r>
                  <a:rPr lang="en-US" altLang="en-US" sz="1400">
                    <a:solidFill>
                      <a:schemeClr val="bg1"/>
                    </a:solidFill>
                    <a:latin typeface="Roboto" panose="02000000000000000000" pitchFamily="2" charset="0"/>
                    <a:ea typeface="Roboto" panose="02000000000000000000" pitchFamily="2" charset="0"/>
                  </a:rPr>
                  <a:t>FACT </a:t>
                </a:r>
                <a:br>
                  <a:rPr lang="en-US" altLang="en-US" sz="1400">
                    <a:solidFill>
                      <a:schemeClr val="bg1"/>
                    </a:solidFill>
                    <a:latin typeface="Roboto" panose="02000000000000000000" pitchFamily="2" charset="0"/>
                    <a:ea typeface="Roboto" panose="02000000000000000000" pitchFamily="2" charset="0"/>
                  </a:rPr>
                </a:br>
                <a:r>
                  <a:rPr lang="en-US" altLang="en-US" sz="1400">
                    <a:solidFill>
                      <a:schemeClr val="bg1"/>
                    </a:solidFill>
                    <a:latin typeface="Roboto" panose="02000000000000000000" pitchFamily="2" charset="0"/>
                    <a:ea typeface="Roboto" panose="02000000000000000000" pitchFamily="2" charset="0"/>
                  </a:rPr>
                  <a:t>Cards </a:t>
                </a:r>
              </a:p>
            </p:txBody>
          </p:sp>
          <p:sp>
            <p:nvSpPr>
              <p:cNvPr id="63" name="AutoShape 27">
                <a:extLst>
                  <a:ext uri="{FF2B5EF4-FFF2-40B4-BE49-F238E27FC236}">
                    <a16:creationId xmlns:a16="http://schemas.microsoft.com/office/drawing/2014/main" id="{7B44AC3C-6412-1BA9-3998-C68B85E73D78}"/>
                  </a:ext>
                </a:extLst>
              </p:cNvPr>
              <p:cNvSpPr>
                <a:spLocks noChangeArrowheads="1"/>
              </p:cNvSpPr>
              <p:nvPr/>
            </p:nvSpPr>
            <p:spPr bwMode="auto">
              <a:xfrm>
                <a:off x="1350" y="2060"/>
                <a:ext cx="663" cy="208"/>
              </a:xfrm>
              <a:prstGeom prst="homePlate">
                <a:avLst>
                  <a:gd name="adj" fmla="val 29912"/>
                </a:avLst>
              </a:prstGeom>
              <a:solidFill>
                <a:schemeClr val="accent1"/>
              </a:solidFill>
              <a:ln w="12700" cap="sq">
                <a:solidFill>
                  <a:schemeClr val="tx1"/>
                </a:solidFill>
                <a:miter lim="800000"/>
                <a:headEnd/>
                <a:tailEnd/>
              </a:ln>
            </p:spPr>
            <p:txBody>
              <a:bodyPr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Bef>
                    <a:spcPct val="0"/>
                  </a:spcBef>
                  <a:spcAft>
                    <a:spcPct val="0"/>
                  </a:spcAft>
                  <a:buClrTx/>
                  <a:buSzTx/>
                  <a:buFontTx/>
                  <a:buNone/>
                </a:pPr>
                <a:r>
                  <a:rPr lang="en-US" altLang="en-US" sz="1400">
                    <a:solidFill>
                      <a:schemeClr val="bg1"/>
                    </a:solidFill>
                    <a:latin typeface="Roboto" panose="02000000000000000000" pitchFamily="2" charset="0"/>
                    <a:ea typeface="Roboto" panose="02000000000000000000" pitchFamily="2" charset="0"/>
                  </a:rPr>
                  <a:t>Create</a:t>
                </a:r>
              </a:p>
              <a:p>
                <a:pPr algn="ctr">
                  <a:lnSpc>
                    <a:spcPct val="100000"/>
                  </a:lnSpc>
                  <a:spcBef>
                    <a:spcPct val="0"/>
                  </a:spcBef>
                  <a:spcAft>
                    <a:spcPct val="0"/>
                  </a:spcAft>
                  <a:buClrTx/>
                  <a:buSzTx/>
                  <a:buFontTx/>
                  <a:buNone/>
                </a:pPr>
                <a:r>
                  <a:rPr lang="en-US" altLang="en-US" sz="1400">
                    <a:solidFill>
                      <a:schemeClr val="bg1"/>
                    </a:solidFill>
                    <a:latin typeface="Roboto" panose="02000000000000000000" pitchFamily="2" charset="0"/>
                    <a:ea typeface="Roboto" panose="02000000000000000000" pitchFamily="2" charset="0"/>
                  </a:rPr>
                  <a:t>CEDAC Diagram / Fishbone</a:t>
                </a:r>
              </a:p>
              <a:p>
                <a:pPr algn="ctr">
                  <a:lnSpc>
                    <a:spcPct val="100000"/>
                  </a:lnSpc>
                  <a:spcBef>
                    <a:spcPct val="0"/>
                  </a:spcBef>
                  <a:spcAft>
                    <a:spcPct val="0"/>
                  </a:spcAft>
                  <a:buClrTx/>
                  <a:buSzTx/>
                  <a:buFontTx/>
                  <a:buNone/>
                </a:pPr>
                <a:r>
                  <a:rPr lang="en-US" altLang="en-US" sz="1400">
                    <a:solidFill>
                      <a:schemeClr val="bg1"/>
                    </a:solidFill>
                    <a:latin typeface="Roboto" panose="02000000000000000000" pitchFamily="2" charset="0"/>
                    <a:ea typeface="Roboto" panose="02000000000000000000" pitchFamily="2" charset="0"/>
                  </a:rPr>
                  <a:t>Chart </a:t>
                </a:r>
              </a:p>
            </p:txBody>
          </p:sp>
        </p:grpSp>
        <p:sp>
          <p:nvSpPr>
            <p:cNvPr id="64" name="Line 28">
              <a:extLst>
                <a:ext uri="{FF2B5EF4-FFF2-40B4-BE49-F238E27FC236}">
                  <a16:creationId xmlns:a16="http://schemas.microsoft.com/office/drawing/2014/main" id="{33BCD813-3699-BE4C-38CE-E4F23FFD37E8}"/>
                </a:ext>
              </a:extLst>
            </p:cNvPr>
            <p:cNvSpPr>
              <a:spLocks noChangeShapeType="1"/>
            </p:cNvSpPr>
            <p:nvPr/>
          </p:nvSpPr>
          <p:spPr bwMode="auto">
            <a:xfrm flipH="1">
              <a:off x="466725" y="3581400"/>
              <a:ext cx="1816100" cy="1120775"/>
            </a:xfrm>
            <a:prstGeom prst="line">
              <a:avLst/>
            </a:prstGeom>
            <a:noFill/>
            <a:ln w="38100" cap="sq">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endParaRPr>
            </a:p>
          </p:txBody>
        </p:sp>
        <p:sp>
          <p:nvSpPr>
            <p:cNvPr id="65" name="Line 29">
              <a:extLst>
                <a:ext uri="{FF2B5EF4-FFF2-40B4-BE49-F238E27FC236}">
                  <a16:creationId xmlns:a16="http://schemas.microsoft.com/office/drawing/2014/main" id="{45A33DDA-5E6A-1875-B144-40FC31213BD2}"/>
                </a:ext>
              </a:extLst>
            </p:cNvPr>
            <p:cNvSpPr>
              <a:spLocks noChangeShapeType="1"/>
            </p:cNvSpPr>
            <p:nvPr/>
          </p:nvSpPr>
          <p:spPr bwMode="auto">
            <a:xfrm>
              <a:off x="4127500" y="3571875"/>
              <a:ext cx="4462463" cy="1144588"/>
            </a:xfrm>
            <a:prstGeom prst="line">
              <a:avLst/>
            </a:prstGeom>
            <a:noFill/>
            <a:ln w="38100" cap="sq">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endParaRPr>
            </a:p>
          </p:txBody>
        </p:sp>
        <p:sp>
          <p:nvSpPr>
            <p:cNvPr id="66" name="Text Box 30">
              <a:extLst>
                <a:ext uri="{FF2B5EF4-FFF2-40B4-BE49-F238E27FC236}">
                  <a16:creationId xmlns:a16="http://schemas.microsoft.com/office/drawing/2014/main" id="{68703CE0-7E19-11BF-7007-93B753C0D44C}"/>
                </a:ext>
              </a:extLst>
            </p:cNvPr>
            <p:cNvSpPr txBox="1">
              <a:spLocks noChangeArrowheads="1"/>
            </p:cNvSpPr>
            <p:nvPr/>
          </p:nvSpPr>
          <p:spPr bwMode="auto">
            <a:xfrm>
              <a:off x="3143812" y="4465638"/>
              <a:ext cx="1984839" cy="2416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wrap="none">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200">
                  <a:latin typeface="Roboto" panose="02000000000000000000" pitchFamily="2" charset="0"/>
                  <a:ea typeface="Roboto" panose="02000000000000000000" pitchFamily="2" charset="0"/>
                </a:rPr>
                <a:t>CEDAC Process Steps 4-8</a:t>
              </a:r>
            </a:p>
          </p:txBody>
        </p:sp>
      </p:grpSp>
    </p:spTree>
    <p:extLst>
      <p:ext uri="{BB962C8B-B14F-4D97-AF65-F5344CB8AC3E}">
        <p14:creationId xmlns:p14="http://schemas.microsoft.com/office/powerpoint/2010/main" val="60662586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9AF1BE-FC74-D20F-6189-931578F7FF58}"/>
              </a:ext>
            </a:extLst>
          </p:cNvPr>
          <p:cNvSpPr>
            <a:spLocks noGrp="1"/>
          </p:cNvSpPr>
          <p:nvPr>
            <p:ph type="title"/>
          </p:nvPr>
        </p:nvSpPr>
        <p:spPr/>
        <p:txBody>
          <a:bodyPr>
            <a:normAutofit fontScale="90000"/>
          </a:bodyPr>
          <a:lstStyle/>
          <a:p>
            <a:r>
              <a:rPr lang="en-US" dirty="0"/>
              <a:t>CEDAC Example: Cash Collection Process</a:t>
            </a:r>
          </a:p>
        </p:txBody>
      </p:sp>
      <p:sp>
        <p:nvSpPr>
          <p:cNvPr id="3" name="Text Placeholder 2">
            <a:extLst>
              <a:ext uri="{FF2B5EF4-FFF2-40B4-BE49-F238E27FC236}">
                <a16:creationId xmlns:a16="http://schemas.microsoft.com/office/drawing/2014/main" id="{BF2D1452-04BC-1846-9D2B-D064B736ED43}"/>
              </a:ext>
            </a:extLst>
          </p:cNvPr>
          <p:cNvSpPr>
            <a:spLocks noGrp="1"/>
          </p:cNvSpPr>
          <p:nvPr>
            <p:ph type="body" idx="1"/>
          </p:nvPr>
        </p:nvSpPr>
        <p:spPr/>
        <p:txBody>
          <a:bodyPr/>
          <a:lstStyle/>
          <a:p>
            <a:r>
              <a:rPr lang="en-US" dirty="0"/>
              <a:t>PROBLEM STATEMENT</a:t>
            </a:r>
          </a:p>
        </p:txBody>
      </p:sp>
      <p:sp>
        <p:nvSpPr>
          <p:cNvPr id="4" name="Content Placeholder 3">
            <a:extLst>
              <a:ext uri="{FF2B5EF4-FFF2-40B4-BE49-F238E27FC236}">
                <a16:creationId xmlns:a16="http://schemas.microsoft.com/office/drawing/2014/main" id="{2E3BC3A4-C860-76B2-2DD3-B03AB882C853}"/>
              </a:ext>
            </a:extLst>
          </p:cNvPr>
          <p:cNvSpPr>
            <a:spLocks noGrp="1"/>
          </p:cNvSpPr>
          <p:nvPr>
            <p:ph sz="half" idx="2"/>
          </p:nvPr>
        </p:nvSpPr>
        <p:spPr/>
        <p:txBody>
          <a:bodyPr>
            <a:normAutofit fontScale="70000" lnSpcReduction="20000"/>
          </a:bodyPr>
          <a:lstStyle/>
          <a:p>
            <a:r>
              <a:rPr lang="en-US" dirty="0"/>
              <a:t>Monthly performance is not consistent – bad results come after good and the key drivers for this inconsistency are not well understood</a:t>
            </a:r>
          </a:p>
          <a:p>
            <a:r>
              <a:rPr lang="en-US" dirty="0"/>
              <a:t>Collections performance often falls short of targets set / does not meet customer expectations</a:t>
            </a:r>
          </a:p>
        </p:txBody>
      </p:sp>
      <p:sp>
        <p:nvSpPr>
          <p:cNvPr id="5" name="Text Placeholder 4">
            <a:extLst>
              <a:ext uri="{FF2B5EF4-FFF2-40B4-BE49-F238E27FC236}">
                <a16:creationId xmlns:a16="http://schemas.microsoft.com/office/drawing/2014/main" id="{D97C3043-C5C3-113A-8520-6B843B812614}"/>
              </a:ext>
            </a:extLst>
          </p:cNvPr>
          <p:cNvSpPr>
            <a:spLocks noGrp="1"/>
          </p:cNvSpPr>
          <p:nvPr>
            <p:ph type="body" sz="quarter" idx="3"/>
          </p:nvPr>
        </p:nvSpPr>
        <p:spPr/>
        <p:txBody>
          <a:bodyPr/>
          <a:lstStyle/>
          <a:p>
            <a:r>
              <a:rPr lang="en-US" dirty="0"/>
              <a:t>TARGET</a:t>
            </a:r>
          </a:p>
        </p:txBody>
      </p:sp>
      <p:sp>
        <p:nvSpPr>
          <p:cNvPr id="6" name="Content Placeholder 5">
            <a:extLst>
              <a:ext uri="{FF2B5EF4-FFF2-40B4-BE49-F238E27FC236}">
                <a16:creationId xmlns:a16="http://schemas.microsoft.com/office/drawing/2014/main" id="{705B0951-5D5C-15E9-2447-60234BD31A60}"/>
              </a:ext>
            </a:extLst>
          </p:cNvPr>
          <p:cNvSpPr>
            <a:spLocks noGrp="1"/>
          </p:cNvSpPr>
          <p:nvPr>
            <p:ph sz="quarter" idx="4"/>
          </p:nvPr>
        </p:nvSpPr>
        <p:spPr/>
        <p:txBody>
          <a:bodyPr>
            <a:normAutofit fontScale="70000" lnSpcReduction="20000"/>
          </a:bodyPr>
          <a:lstStyle/>
          <a:p>
            <a:r>
              <a:rPr lang="en-US" dirty="0"/>
              <a:t>Improve customer satisfaction by creating a collections process capable of consistently hitting established targets. Want to consistently hit 90% or better for current debt %.</a:t>
            </a:r>
          </a:p>
          <a:p>
            <a:r>
              <a:rPr lang="en-US" dirty="0"/>
              <a:t>Reduce month to month variation in performance and improve consistency of results.</a:t>
            </a:r>
          </a:p>
          <a:p>
            <a:r>
              <a:rPr lang="en-US" dirty="0"/>
              <a:t>Put a simple, robust collections model in place to be replicated in other business streams.</a:t>
            </a:r>
          </a:p>
          <a:p>
            <a:r>
              <a:rPr lang="en-US" dirty="0"/>
              <a:t>Create an improvement model (the event and tools) that can be leveraged across other business streams.</a:t>
            </a:r>
          </a:p>
        </p:txBody>
      </p:sp>
      <p:sp>
        <p:nvSpPr>
          <p:cNvPr id="8" name="Slide Number Placeholder 7">
            <a:extLst>
              <a:ext uri="{FF2B5EF4-FFF2-40B4-BE49-F238E27FC236}">
                <a16:creationId xmlns:a16="http://schemas.microsoft.com/office/drawing/2014/main" id="{408954DA-A1B0-C7B8-680E-6D1AB2D2B67A}"/>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15</a:t>
            </a:fld>
            <a:endParaRPr lang="en-US"/>
          </a:p>
        </p:txBody>
      </p:sp>
      <p:grpSp>
        <p:nvGrpSpPr>
          <p:cNvPr id="7" name="Group 6">
            <a:extLst>
              <a:ext uri="{FF2B5EF4-FFF2-40B4-BE49-F238E27FC236}">
                <a16:creationId xmlns:a16="http://schemas.microsoft.com/office/drawing/2014/main" id="{50ED0378-32F9-E431-50CB-E70A4626C52E}"/>
              </a:ext>
            </a:extLst>
          </p:cNvPr>
          <p:cNvGrpSpPr/>
          <p:nvPr/>
        </p:nvGrpSpPr>
        <p:grpSpPr>
          <a:xfrm>
            <a:off x="838200" y="297639"/>
            <a:ext cx="3396162" cy="306433"/>
            <a:chOff x="838200" y="297639"/>
            <a:chExt cx="3396162" cy="306433"/>
          </a:xfrm>
        </p:grpSpPr>
        <p:grpSp>
          <p:nvGrpSpPr>
            <p:cNvPr id="9" name="Group 8">
              <a:extLst>
                <a:ext uri="{FF2B5EF4-FFF2-40B4-BE49-F238E27FC236}">
                  <a16:creationId xmlns:a16="http://schemas.microsoft.com/office/drawing/2014/main" id="{323E81ED-2435-C8F9-5124-B606E86EEE51}"/>
                </a:ext>
              </a:extLst>
            </p:cNvPr>
            <p:cNvGrpSpPr/>
            <p:nvPr/>
          </p:nvGrpSpPr>
          <p:grpSpPr>
            <a:xfrm>
              <a:off x="838200" y="297639"/>
              <a:ext cx="1687517" cy="290657"/>
              <a:chOff x="838200" y="297639"/>
              <a:chExt cx="1687517" cy="290657"/>
            </a:xfrm>
          </p:grpSpPr>
          <p:sp>
            <p:nvSpPr>
              <p:cNvPr id="11" name="AutoShape 9">
                <a:extLst>
                  <a:ext uri="{FF2B5EF4-FFF2-40B4-BE49-F238E27FC236}">
                    <a16:creationId xmlns:a16="http://schemas.microsoft.com/office/drawing/2014/main" id="{FDEAC907-8DE9-CF26-A8C8-44228462F349}"/>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2" name="AutoShape 9">
                <a:extLst>
                  <a:ext uri="{FF2B5EF4-FFF2-40B4-BE49-F238E27FC236}">
                    <a16:creationId xmlns:a16="http://schemas.microsoft.com/office/drawing/2014/main" id="{CBD3A2A0-0413-A3C4-167F-C5040FA23298}"/>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13" name="Group 12">
                <a:extLst>
                  <a:ext uri="{FF2B5EF4-FFF2-40B4-BE49-F238E27FC236}">
                    <a16:creationId xmlns:a16="http://schemas.microsoft.com/office/drawing/2014/main" id="{820DDC70-7E1E-AE34-11D4-01AA2F3FE9AC}"/>
                  </a:ext>
                </a:extLst>
              </p:cNvPr>
              <p:cNvGrpSpPr/>
              <p:nvPr/>
            </p:nvGrpSpPr>
            <p:grpSpPr>
              <a:xfrm>
                <a:off x="838200" y="297639"/>
                <a:ext cx="1060167" cy="290657"/>
                <a:chOff x="826426" y="4041857"/>
                <a:chExt cx="1060167" cy="290657"/>
              </a:xfrm>
            </p:grpSpPr>
            <p:sp>
              <p:nvSpPr>
                <p:cNvPr id="14" name="AutoShape 9">
                  <a:extLst>
                    <a:ext uri="{FF2B5EF4-FFF2-40B4-BE49-F238E27FC236}">
                      <a16:creationId xmlns:a16="http://schemas.microsoft.com/office/drawing/2014/main" id="{60FB9D3B-AAE1-2962-B66E-587C29D1FB3A}"/>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5" name="AutoShape 11">
                  <a:extLst>
                    <a:ext uri="{FF2B5EF4-FFF2-40B4-BE49-F238E27FC236}">
                      <a16:creationId xmlns:a16="http://schemas.microsoft.com/office/drawing/2014/main" id="{029C1468-6B97-53ED-6FC5-B07177858313}"/>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6" name="AutoShape 10">
                  <a:extLst>
                    <a:ext uri="{FF2B5EF4-FFF2-40B4-BE49-F238E27FC236}">
                      <a16:creationId xmlns:a16="http://schemas.microsoft.com/office/drawing/2014/main" id="{81692B60-5300-9D56-18A5-987DE08267B0}"/>
                    </a:ext>
                  </a:extLst>
                </p:cNvPr>
                <p:cNvSpPr>
                  <a:spLocks noChangeArrowheads="1"/>
                </p:cNvSpPr>
                <p:nvPr/>
              </p:nvSpPr>
              <p:spPr bwMode="auto">
                <a:xfrm>
                  <a:off x="82642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grpSp>
        <p:sp>
          <p:nvSpPr>
            <p:cNvPr id="10" name="TextBox 9">
              <a:extLst>
                <a:ext uri="{FF2B5EF4-FFF2-40B4-BE49-F238E27FC236}">
                  <a16:creationId xmlns:a16="http://schemas.microsoft.com/office/drawing/2014/main" id="{D47FCEEE-FB3C-E68D-46EB-F76F83953509}"/>
                </a:ext>
              </a:extLst>
            </p:cNvPr>
            <p:cNvSpPr txBox="1"/>
            <p:nvPr/>
          </p:nvSpPr>
          <p:spPr>
            <a:xfrm>
              <a:off x="2525717" y="313415"/>
              <a:ext cx="1708645"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Overview</a:t>
              </a:r>
            </a:p>
          </p:txBody>
        </p:sp>
      </p:grpSp>
    </p:spTree>
    <p:extLst>
      <p:ext uri="{BB962C8B-B14F-4D97-AF65-F5344CB8AC3E}">
        <p14:creationId xmlns:p14="http://schemas.microsoft.com/office/powerpoint/2010/main" val="402014753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077D53-AE4C-E910-8799-DEEA2CC0A5FC}"/>
              </a:ext>
            </a:extLst>
          </p:cNvPr>
          <p:cNvSpPr>
            <a:spLocks noGrp="1"/>
          </p:cNvSpPr>
          <p:nvPr>
            <p:ph type="title"/>
          </p:nvPr>
        </p:nvSpPr>
        <p:spPr/>
        <p:txBody>
          <a:bodyPr>
            <a:normAutofit fontScale="90000"/>
          </a:bodyPr>
          <a:lstStyle/>
          <a:p>
            <a:r>
              <a:rPr lang="en-US" dirty="0"/>
              <a:t>CEDAC Example: Cash Collection Process</a:t>
            </a:r>
          </a:p>
        </p:txBody>
      </p:sp>
      <p:sp>
        <p:nvSpPr>
          <p:cNvPr id="4" name="Slide Number Placeholder 3">
            <a:extLst>
              <a:ext uri="{FF2B5EF4-FFF2-40B4-BE49-F238E27FC236}">
                <a16:creationId xmlns:a16="http://schemas.microsoft.com/office/drawing/2014/main" id="{664678EF-C2ED-ABA5-0EEC-F0AB19692545}"/>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16</a:t>
            </a:fld>
            <a:endParaRPr lang="en-US"/>
          </a:p>
        </p:txBody>
      </p:sp>
      <p:grpSp>
        <p:nvGrpSpPr>
          <p:cNvPr id="3" name="Group 2">
            <a:extLst>
              <a:ext uri="{FF2B5EF4-FFF2-40B4-BE49-F238E27FC236}">
                <a16:creationId xmlns:a16="http://schemas.microsoft.com/office/drawing/2014/main" id="{F2573F34-490F-296C-9DAE-8A12729E272D}"/>
              </a:ext>
            </a:extLst>
          </p:cNvPr>
          <p:cNvGrpSpPr/>
          <p:nvPr/>
        </p:nvGrpSpPr>
        <p:grpSpPr>
          <a:xfrm>
            <a:off x="838200" y="297639"/>
            <a:ext cx="3396162" cy="306433"/>
            <a:chOff x="838200" y="297639"/>
            <a:chExt cx="3396162" cy="306433"/>
          </a:xfrm>
        </p:grpSpPr>
        <p:grpSp>
          <p:nvGrpSpPr>
            <p:cNvPr id="5" name="Group 4">
              <a:extLst>
                <a:ext uri="{FF2B5EF4-FFF2-40B4-BE49-F238E27FC236}">
                  <a16:creationId xmlns:a16="http://schemas.microsoft.com/office/drawing/2014/main" id="{50E764E2-9BAB-25C4-3DE7-64CE9B983644}"/>
                </a:ext>
              </a:extLst>
            </p:cNvPr>
            <p:cNvGrpSpPr/>
            <p:nvPr/>
          </p:nvGrpSpPr>
          <p:grpSpPr>
            <a:xfrm>
              <a:off x="838200" y="297639"/>
              <a:ext cx="1687517" cy="290657"/>
              <a:chOff x="838200" y="297639"/>
              <a:chExt cx="1687517" cy="290657"/>
            </a:xfrm>
          </p:grpSpPr>
          <p:sp>
            <p:nvSpPr>
              <p:cNvPr id="7" name="AutoShape 9">
                <a:extLst>
                  <a:ext uri="{FF2B5EF4-FFF2-40B4-BE49-F238E27FC236}">
                    <a16:creationId xmlns:a16="http://schemas.microsoft.com/office/drawing/2014/main" id="{BC475496-02C4-DF63-2A24-5615C6C74F67}"/>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8" name="AutoShape 9">
                <a:extLst>
                  <a:ext uri="{FF2B5EF4-FFF2-40B4-BE49-F238E27FC236}">
                    <a16:creationId xmlns:a16="http://schemas.microsoft.com/office/drawing/2014/main" id="{A951251A-82A3-4C16-9C88-9DADA71949D5}"/>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9" name="Group 8">
                <a:extLst>
                  <a:ext uri="{FF2B5EF4-FFF2-40B4-BE49-F238E27FC236}">
                    <a16:creationId xmlns:a16="http://schemas.microsoft.com/office/drawing/2014/main" id="{9B60F499-1C75-FACC-1068-D6DE1B7AAAEC}"/>
                  </a:ext>
                </a:extLst>
              </p:cNvPr>
              <p:cNvGrpSpPr/>
              <p:nvPr/>
            </p:nvGrpSpPr>
            <p:grpSpPr>
              <a:xfrm>
                <a:off x="838200" y="297639"/>
                <a:ext cx="1060167" cy="290657"/>
                <a:chOff x="826426" y="4041857"/>
                <a:chExt cx="1060167" cy="290657"/>
              </a:xfrm>
            </p:grpSpPr>
            <p:sp>
              <p:nvSpPr>
                <p:cNvPr id="10" name="AutoShape 9">
                  <a:extLst>
                    <a:ext uri="{FF2B5EF4-FFF2-40B4-BE49-F238E27FC236}">
                      <a16:creationId xmlns:a16="http://schemas.microsoft.com/office/drawing/2014/main" id="{8BCB63D2-0D47-4B53-7168-2ECF55B03F39}"/>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1" name="AutoShape 11">
                  <a:extLst>
                    <a:ext uri="{FF2B5EF4-FFF2-40B4-BE49-F238E27FC236}">
                      <a16:creationId xmlns:a16="http://schemas.microsoft.com/office/drawing/2014/main" id="{A896D4A1-D8DE-D26C-C3D7-40DFB6C990E1}"/>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2" name="AutoShape 10">
                  <a:extLst>
                    <a:ext uri="{FF2B5EF4-FFF2-40B4-BE49-F238E27FC236}">
                      <a16:creationId xmlns:a16="http://schemas.microsoft.com/office/drawing/2014/main" id="{F3DBF1DD-60F8-08EA-C388-33A9E64A8B5E}"/>
                    </a:ext>
                  </a:extLst>
                </p:cNvPr>
                <p:cNvSpPr>
                  <a:spLocks noChangeArrowheads="1"/>
                </p:cNvSpPr>
                <p:nvPr/>
              </p:nvSpPr>
              <p:spPr bwMode="auto">
                <a:xfrm>
                  <a:off x="82642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grpSp>
        <p:sp>
          <p:nvSpPr>
            <p:cNvPr id="6" name="TextBox 5">
              <a:extLst>
                <a:ext uri="{FF2B5EF4-FFF2-40B4-BE49-F238E27FC236}">
                  <a16:creationId xmlns:a16="http://schemas.microsoft.com/office/drawing/2014/main" id="{AF7DC0B9-DE33-0841-DFF6-68A867968161}"/>
                </a:ext>
              </a:extLst>
            </p:cNvPr>
            <p:cNvSpPr txBox="1"/>
            <p:nvPr/>
          </p:nvSpPr>
          <p:spPr>
            <a:xfrm>
              <a:off x="2525717" y="313415"/>
              <a:ext cx="1708645"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Overview</a:t>
              </a:r>
            </a:p>
          </p:txBody>
        </p:sp>
      </p:grpSp>
      <p:pic>
        <p:nvPicPr>
          <p:cNvPr id="13" name="Picture 3" descr="IMG00027">
            <a:extLst>
              <a:ext uri="{FF2B5EF4-FFF2-40B4-BE49-F238E27FC236}">
                <a16:creationId xmlns:a16="http://schemas.microsoft.com/office/drawing/2014/main" id="{F2D8B8A2-9586-AD1F-5CD5-F37B2EEA839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7382" t="14209" r="3249" b="21332"/>
          <a:stretch>
            <a:fillRect/>
          </a:stretch>
        </p:blipFill>
        <p:spPr bwMode="auto">
          <a:xfrm>
            <a:off x="1980565" y="1783428"/>
            <a:ext cx="8230870" cy="44530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14520714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normAutofit fontScale="90000"/>
          </a:bodyPr>
          <a:lstStyle/>
          <a:p>
            <a:r>
              <a:rPr lang="en-US" dirty="0"/>
              <a:t>CEDAC Example: Cash Collection Process</a:t>
            </a:r>
          </a:p>
        </p:txBody>
      </p:sp>
      <p:sp>
        <p:nvSpPr>
          <p:cNvPr id="3" name="Content Placeholder 2">
            <a:extLst>
              <a:ext uri="{FF2B5EF4-FFF2-40B4-BE49-F238E27FC236}">
                <a16:creationId xmlns:a16="http://schemas.microsoft.com/office/drawing/2014/main" id="{2AA7A201-AD05-6520-E140-CCF11E59E700}"/>
              </a:ext>
            </a:extLst>
          </p:cNvPr>
          <p:cNvSpPr>
            <a:spLocks noGrp="1"/>
          </p:cNvSpPr>
          <p:nvPr>
            <p:ph idx="1"/>
          </p:nvPr>
        </p:nvSpPr>
        <p:spPr/>
        <p:txBody>
          <a:bodyPr>
            <a:normAutofit fontScale="92500" lnSpcReduction="20000"/>
          </a:bodyPr>
          <a:lstStyle/>
          <a:p>
            <a:pPr marL="0" indent="0">
              <a:buNone/>
            </a:pPr>
            <a:r>
              <a:rPr lang="en-US" b="1" dirty="0"/>
              <a:t>Summary of Findings:</a:t>
            </a:r>
          </a:p>
          <a:p>
            <a:r>
              <a:rPr lang="en-US" dirty="0"/>
              <a:t>52 potential root causes identified (FACT Cards)</a:t>
            </a:r>
          </a:p>
          <a:p>
            <a:r>
              <a:rPr lang="en-US" dirty="0"/>
              <a:t>Collections process too long</a:t>
            </a:r>
          </a:p>
          <a:p>
            <a:r>
              <a:rPr lang="en-US" dirty="0"/>
              <a:t>Lack of clear information being secured prior to the billing process </a:t>
            </a:r>
          </a:p>
          <a:p>
            <a:r>
              <a:rPr lang="en-US" dirty="0"/>
              <a:t>Collectors’ techniques and skill levels vary (e.g. escalation process)</a:t>
            </a:r>
          </a:p>
          <a:p>
            <a:r>
              <a:rPr lang="en-US" dirty="0"/>
              <a:t>Inconsistent knowledge of products by the Collectors</a:t>
            </a:r>
          </a:p>
          <a:p>
            <a:r>
              <a:rPr lang="en-US" dirty="0"/>
              <a:t>Stability and response time issues with system</a:t>
            </a:r>
          </a:p>
          <a:p>
            <a:r>
              <a:rPr lang="en-US" dirty="0"/>
              <a:t>All collection tools functionality not being used (e.g. Reminders)</a:t>
            </a:r>
          </a:p>
          <a:p>
            <a:r>
              <a:rPr lang="en-US" dirty="0"/>
              <a:t>All steps in the collections process not being followed consistently</a:t>
            </a:r>
          </a:p>
          <a:p>
            <a:r>
              <a:rPr lang="en-US" dirty="0"/>
              <a:t>Every customer, regardless of dollar value, follows the same collection process – no formal method for prioritization </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17</a:t>
            </a:fld>
            <a:endParaRPr lang="en-US"/>
          </a:p>
        </p:txBody>
      </p:sp>
      <p:grpSp>
        <p:nvGrpSpPr>
          <p:cNvPr id="14" name="Group 13">
            <a:extLst>
              <a:ext uri="{FF2B5EF4-FFF2-40B4-BE49-F238E27FC236}">
                <a16:creationId xmlns:a16="http://schemas.microsoft.com/office/drawing/2014/main" id="{D41303C2-E018-19D2-0EB5-6DA73CD24807}"/>
              </a:ext>
            </a:extLst>
          </p:cNvPr>
          <p:cNvGrpSpPr/>
          <p:nvPr/>
        </p:nvGrpSpPr>
        <p:grpSpPr>
          <a:xfrm>
            <a:off x="838200" y="297639"/>
            <a:ext cx="3396162" cy="306433"/>
            <a:chOff x="838200" y="297639"/>
            <a:chExt cx="3396162" cy="306433"/>
          </a:xfrm>
        </p:grpSpPr>
        <p:grpSp>
          <p:nvGrpSpPr>
            <p:cNvPr id="15" name="Group 14">
              <a:extLst>
                <a:ext uri="{FF2B5EF4-FFF2-40B4-BE49-F238E27FC236}">
                  <a16:creationId xmlns:a16="http://schemas.microsoft.com/office/drawing/2014/main" id="{E5786EBA-3CE5-0613-28ED-FAC08B873002}"/>
                </a:ext>
              </a:extLst>
            </p:cNvPr>
            <p:cNvGrpSpPr/>
            <p:nvPr/>
          </p:nvGrpSpPr>
          <p:grpSpPr>
            <a:xfrm>
              <a:off x="838200" y="297639"/>
              <a:ext cx="1687517" cy="290657"/>
              <a:chOff x="838200" y="297639"/>
              <a:chExt cx="1687517" cy="290657"/>
            </a:xfrm>
          </p:grpSpPr>
          <p:sp>
            <p:nvSpPr>
              <p:cNvPr id="17" name="AutoShape 9">
                <a:extLst>
                  <a:ext uri="{FF2B5EF4-FFF2-40B4-BE49-F238E27FC236}">
                    <a16:creationId xmlns:a16="http://schemas.microsoft.com/office/drawing/2014/main" id="{B174F6F9-D206-07A7-A64A-B68DDBDC1860}"/>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8" name="AutoShape 9">
                <a:extLst>
                  <a:ext uri="{FF2B5EF4-FFF2-40B4-BE49-F238E27FC236}">
                    <a16:creationId xmlns:a16="http://schemas.microsoft.com/office/drawing/2014/main" id="{E8BB91E2-C1AC-FCCB-16DF-8C2FF5B3FF85}"/>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19" name="Group 18">
                <a:extLst>
                  <a:ext uri="{FF2B5EF4-FFF2-40B4-BE49-F238E27FC236}">
                    <a16:creationId xmlns:a16="http://schemas.microsoft.com/office/drawing/2014/main" id="{E2AC478D-7F21-38EF-5560-D40E7C498246}"/>
                  </a:ext>
                </a:extLst>
              </p:cNvPr>
              <p:cNvGrpSpPr/>
              <p:nvPr/>
            </p:nvGrpSpPr>
            <p:grpSpPr>
              <a:xfrm>
                <a:off x="838200" y="297639"/>
                <a:ext cx="1060167" cy="290657"/>
                <a:chOff x="826426" y="4041857"/>
                <a:chExt cx="1060167" cy="290657"/>
              </a:xfrm>
            </p:grpSpPr>
            <p:sp>
              <p:nvSpPr>
                <p:cNvPr id="20" name="AutoShape 9">
                  <a:extLst>
                    <a:ext uri="{FF2B5EF4-FFF2-40B4-BE49-F238E27FC236}">
                      <a16:creationId xmlns:a16="http://schemas.microsoft.com/office/drawing/2014/main" id="{12AB7CB1-4480-4FEE-CE6F-B4F2FA2C986A}"/>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21" name="AutoShape 11">
                  <a:extLst>
                    <a:ext uri="{FF2B5EF4-FFF2-40B4-BE49-F238E27FC236}">
                      <a16:creationId xmlns:a16="http://schemas.microsoft.com/office/drawing/2014/main" id="{AA5419CA-4052-22B2-630C-B0633134EA3A}"/>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22" name="AutoShape 10">
                  <a:extLst>
                    <a:ext uri="{FF2B5EF4-FFF2-40B4-BE49-F238E27FC236}">
                      <a16:creationId xmlns:a16="http://schemas.microsoft.com/office/drawing/2014/main" id="{CCE40F93-E620-B6AC-E23C-FC6C2C06EBAF}"/>
                    </a:ext>
                  </a:extLst>
                </p:cNvPr>
                <p:cNvSpPr>
                  <a:spLocks noChangeArrowheads="1"/>
                </p:cNvSpPr>
                <p:nvPr/>
              </p:nvSpPr>
              <p:spPr bwMode="auto">
                <a:xfrm>
                  <a:off x="82642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grpSp>
        <p:sp>
          <p:nvSpPr>
            <p:cNvPr id="16" name="TextBox 15">
              <a:extLst>
                <a:ext uri="{FF2B5EF4-FFF2-40B4-BE49-F238E27FC236}">
                  <a16:creationId xmlns:a16="http://schemas.microsoft.com/office/drawing/2014/main" id="{9A4733ED-8095-60E0-242E-EA2095CF4379}"/>
                </a:ext>
              </a:extLst>
            </p:cNvPr>
            <p:cNvSpPr txBox="1"/>
            <p:nvPr/>
          </p:nvSpPr>
          <p:spPr>
            <a:xfrm>
              <a:off x="2525717" y="313415"/>
              <a:ext cx="1708645"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Overview</a:t>
              </a:r>
            </a:p>
          </p:txBody>
        </p:sp>
      </p:grpSp>
    </p:spTree>
    <p:extLst>
      <p:ext uri="{BB962C8B-B14F-4D97-AF65-F5344CB8AC3E}">
        <p14:creationId xmlns:p14="http://schemas.microsoft.com/office/powerpoint/2010/main" val="166646506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normAutofit fontScale="90000"/>
          </a:bodyPr>
          <a:lstStyle/>
          <a:p>
            <a:r>
              <a:rPr lang="en-US" dirty="0"/>
              <a:t>CEDAC Example: Cash Collection Process</a:t>
            </a:r>
          </a:p>
        </p:txBody>
      </p:sp>
      <p:sp>
        <p:nvSpPr>
          <p:cNvPr id="3" name="Content Placeholder 2">
            <a:extLst>
              <a:ext uri="{FF2B5EF4-FFF2-40B4-BE49-F238E27FC236}">
                <a16:creationId xmlns:a16="http://schemas.microsoft.com/office/drawing/2014/main" id="{2AA7A201-AD05-6520-E140-CCF11E59E700}"/>
              </a:ext>
            </a:extLst>
          </p:cNvPr>
          <p:cNvSpPr>
            <a:spLocks noGrp="1"/>
          </p:cNvSpPr>
          <p:nvPr>
            <p:ph idx="1"/>
          </p:nvPr>
        </p:nvSpPr>
        <p:spPr/>
        <p:txBody>
          <a:bodyPr>
            <a:normAutofit fontScale="92500"/>
          </a:bodyPr>
          <a:lstStyle/>
          <a:p>
            <a:pPr marL="0" indent="0">
              <a:buNone/>
            </a:pPr>
            <a:r>
              <a:rPr lang="en-US" b="1" dirty="0"/>
              <a:t>Summary of Key Improvements:</a:t>
            </a:r>
          </a:p>
          <a:p>
            <a:r>
              <a:rPr lang="en-US" dirty="0"/>
              <a:t>23 Improvements identified (18 to be started immediately)</a:t>
            </a:r>
          </a:p>
          <a:p>
            <a:r>
              <a:rPr lang="en-US" dirty="0"/>
              <a:t>Collector training (techniques, tools, products)</a:t>
            </a:r>
          </a:p>
          <a:p>
            <a:r>
              <a:rPr lang="en-US" dirty="0"/>
              <a:t>Cleanse unneeded data from system (e.g. old reminders)</a:t>
            </a:r>
          </a:p>
          <a:p>
            <a:r>
              <a:rPr lang="en-US" dirty="0"/>
              <a:t>Bulk upload of latest activity information into system</a:t>
            </a:r>
          </a:p>
          <a:p>
            <a:r>
              <a:rPr lang="en-US" dirty="0"/>
              <a:t>Automation of dunning letters and statements</a:t>
            </a:r>
          </a:p>
          <a:p>
            <a:r>
              <a:rPr lang="en-US" dirty="0"/>
              <a:t>Work with subsidiaries to improve the quality of information</a:t>
            </a:r>
          </a:p>
          <a:p>
            <a:r>
              <a:rPr lang="en-US" dirty="0"/>
              <a:t>Implement tracking system for telephone calls</a:t>
            </a:r>
          </a:p>
          <a:p>
            <a:r>
              <a:rPr lang="en-US" dirty="0"/>
              <a:t>Capture customer payment history to better enable future collections</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18</a:t>
            </a:fld>
            <a:endParaRPr lang="en-US"/>
          </a:p>
        </p:txBody>
      </p:sp>
      <p:grpSp>
        <p:nvGrpSpPr>
          <p:cNvPr id="14" name="Group 13">
            <a:extLst>
              <a:ext uri="{FF2B5EF4-FFF2-40B4-BE49-F238E27FC236}">
                <a16:creationId xmlns:a16="http://schemas.microsoft.com/office/drawing/2014/main" id="{D41303C2-E018-19D2-0EB5-6DA73CD24807}"/>
              </a:ext>
            </a:extLst>
          </p:cNvPr>
          <p:cNvGrpSpPr/>
          <p:nvPr/>
        </p:nvGrpSpPr>
        <p:grpSpPr>
          <a:xfrm>
            <a:off x="838200" y="297639"/>
            <a:ext cx="3396162" cy="306433"/>
            <a:chOff x="838200" y="297639"/>
            <a:chExt cx="3396162" cy="306433"/>
          </a:xfrm>
        </p:grpSpPr>
        <p:grpSp>
          <p:nvGrpSpPr>
            <p:cNvPr id="15" name="Group 14">
              <a:extLst>
                <a:ext uri="{FF2B5EF4-FFF2-40B4-BE49-F238E27FC236}">
                  <a16:creationId xmlns:a16="http://schemas.microsoft.com/office/drawing/2014/main" id="{E5786EBA-3CE5-0613-28ED-FAC08B873002}"/>
                </a:ext>
              </a:extLst>
            </p:cNvPr>
            <p:cNvGrpSpPr/>
            <p:nvPr/>
          </p:nvGrpSpPr>
          <p:grpSpPr>
            <a:xfrm>
              <a:off x="838200" y="297639"/>
              <a:ext cx="1687517" cy="290657"/>
              <a:chOff x="838200" y="297639"/>
              <a:chExt cx="1687517" cy="290657"/>
            </a:xfrm>
          </p:grpSpPr>
          <p:sp>
            <p:nvSpPr>
              <p:cNvPr id="17" name="AutoShape 9">
                <a:extLst>
                  <a:ext uri="{FF2B5EF4-FFF2-40B4-BE49-F238E27FC236}">
                    <a16:creationId xmlns:a16="http://schemas.microsoft.com/office/drawing/2014/main" id="{B174F6F9-D206-07A7-A64A-B68DDBDC1860}"/>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8" name="AutoShape 9">
                <a:extLst>
                  <a:ext uri="{FF2B5EF4-FFF2-40B4-BE49-F238E27FC236}">
                    <a16:creationId xmlns:a16="http://schemas.microsoft.com/office/drawing/2014/main" id="{E8BB91E2-C1AC-FCCB-16DF-8C2FF5B3FF85}"/>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19" name="Group 18">
                <a:extLst>
                  <a:ext uri="{FF2B5EF4-FFF2-40B4-BE49-F238E27FC236}">
                    <a16:creationId xmlns:a16="http://schemas.microsoft.com/office/drawing/2014/main" id="{E2AC478D-7F21-38EF-5560-D40E7C498246}"/>
                  </a:ext>
                </a:extLst>
              </p:cNvPr>
              <p:cNvGrpSpPr/>
              <p:nvPr/>
            </p:nvGrpSpPr>
            <p:grpSpPr>
              <a:xfrm>
                <a:off x="838200" y="297639"/>
                <a:ext cx="1060167" cy="290657"/>
                <a:chOff x="826426" y="4041857"/>
                <a:chExt cx="1060167" cy="290657"/>
              </a:xfrm>
            </p:grpSpPr>
            <p:sp>
              <p:nvSpPr>
                <p:cNvPr id="20" name="AutoShape 9">
                  <a:extLst>
                    <a:ext uri="{FF2B5EF4-FFF2-40B4-BE49-F238E27FC236}">
                      <a16:creationId xmlns:a16="http://schemas.microsoft.com/office/drawing/2014/main" id="{12AB7CB1-4480-4FEE-CE6F-B4F2FA2C986A}"/>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21" name="AutoShape 11">
                  <a:extLst>
                    <a:ext uri="{FF2B5EF4-FFF2-40B4-BE49-F238E27FC236}">
                      <a16:creationId xmlns:a16="http://schemas.microsoft.com/office/drawing/2014/main" id="{AA5419CA-4052-22B2-630C-B0633134EA3A}"/>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22" name="AutoShape 10">
                  <a:extLst>
                    <a:ext uri="{FF2B5EF4-FFF2-40B4-BE49-F238E27FC236}">
                      <a16:creationId xmlns:a16="http://schemas.microsoft.com/office/drawing/2014/main" id="{CCE40F93-E620-B6AC-E23C-FC6C2C06EBAF}"/>
                    </a:ext>
                  </a:extLst>
                </p:cNvPr>
                <p:cNvSpPr>
                  <a:spLocks noChangeArrowheads="1"/>
                </p:cNvSpPr>
                <p:nvPr/>
              </p:nvSpPr>
              <p:spPr bwMode="auto">
                <a:xfrm>
                  <a:off x="82642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grpSp>
        <p:sp>
          <p:nvSpPr>
            <p:cNvPr id="16" name="TextBox 15">
              <a:extLst>
                <a:ext uri="{FF2B5EF4-FFF2-40B4-BE49-F238E27FC236}">
                  <a16:creationId xmlns:a16="http://schemas.microsoft.com/office/drawing/2014/main" id="{9A4733ED-8095-60E0-242E-EA2095CF4379}"/>
                </a:ext>
              </a:extLst>
            </p:cNvPr>
            <p:cNvSpPr txBox="1"/>
            <p:nvPr/>
          </p:nvSpPr>
          <p:spPr>
            <a:xfrm>
              <a:off x="2525717" y="313415"/>
              <a:ext cx="1708645"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Overview</a:t>
              </a:r>
            </a:p>
          </p:txBody>
        </p:sp>
      </p:grpSp>
    </p:spTree>
    <p:extLst>
      <p:ext uri="{BB962C8B-B14F-4D97-AF65-F5344CB8AC3E}">
        <p14:creationId xmlns:p14="http://schemas.microsoft.com/office/powerpoint/2010/main" val="352977265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2DF11FF7-095F-D1A9-6784-C53D538A36FF}"/>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19</a:t>
            </a:fld>
            <a:endParaRPr lang="en-US"/>
          </a:p>
        </p:txBody>
      </p:sp>
      <p:sp>
        <p:nvSpPr>
          <p:cNvPr id="2" name="Title 1">
            <a:extLst>
              <a:ext uri="{FF2B5EF4-FFF2-40B4-BE49-F238E27FC236}">
                <a16:creationId xmlns:a16="http://schemas.microsoft.com/office/drawing/2014/main" id="{0D77BA17-B180-9889-85DC-DBE8C080CFB7}"/>
              </a:ext>
            </a:extLst>
          </p:cNvPr>
          <p:cNvSpPr>
            <a:spLocks noGrp="1"/>
          </p:cNvSpPr>
          <p:nvPr>
            <p:ph type="title" idx="4294967295"/>
          </p:nvPr>
        </p:nvSpPr>
        <p:spPr>
          <a:xfrm>
            <a:off x="699911" y="1497012"/>
            <a:ext cx="9815689" cy="1009650"/>
          </a:xfrm>
          <a:prstGeom prst="rect">
            <a:avLst/>
          </a:prstGeom>
        </p:spPr>
        <p:txBody>
          <a:bodyPr>
            <a:normAutofit/>
          </a:bodyPr>
          <a:lstStyle/>
          <a:p>
            <a:r>
              <a:rPr lang="en-US" sz="4000" dirty="0">
                <a:latin typeface="Roboto Medium"/>
                <a:ea typeface="Roboto Medium"/>
                <a:cs typeface="Roboto Medium"/>
              </a:rPr>
              <a:t>CEDAC Step 1 - Define the Problem</a:t>
            </a:r>
          </a:p>
        </p:txBody>
      </p:sp>
      <p:sp>
        <p:nvSpPr>
          <p:cNvPr id="3" name="Content Placeholder 2">
            <a:extLst>
              <a:ext uri="{FF2B5EF4-FFF2-40B4-BE49-F238E27FC236}">
                <a16:creationId xmlns:a16="http://schemas.microsoft.com/office/drawing/2014/main" id="{30534846-F3D4-20E7-25C0-91FCF7736CB5}"/>
              </a:ext>
            </a:extLst>
          </p:cNvPr>
          <p:cNvSpPr>
            <a:spLocks noGrp="1"/>
          </p:cNvSpPr>
          <p:nvPr>
            <p:ph idx="4294967295"/>
          </p:nvPr>
        </p:nvSpPr>
        <p:spPr>
          <a:xfrm>
            <a:off x="722489" y="2506662"/>
            <a:ext cx="10515600" cy="4351338"/>
          </a:xfrm>
        </p:spPr>
        <p:txBody>
          <a:bodyPr/>
          <a:lstStyle/>
          <a:p>
            <a:pPr marL="0" indent="0">
              <a:buNone/>
            </a:pPr>
            <a:r>
              <a:rPr lang="en-US" dirty="0">
                <a:latin typeface="Roboto Medium" panose="02000000000000000000" pitchFamily="2" charset="0"/>
                <a:ea typeface="Roboto Medium" panose="02000000000000000000" pitchFamily="2" charset="0"/>
                <a:cs typeface="Roboto Medium" panose="02000000000000000000" pitchFamily="2" charset="0"/>
              </a:rPr>
              <a:t>Objectives:</a:t>
            </a:r>
          </a:p>
          <a:p>
            <a:r>
              <a:rPr lang="en-US" sz="2400" dirty="0"/>
              <a:t>Define elements of a problem statement</a:t>
            </a:r>
          </a:p>
          <a:p>
            <a:r>
              <a:rPr lang="en-US" sz="2400" dirty="0"/>
              <a:t>Define problem in terms of its effect</a:t>
            </a:r>
          </a:p>
          <a:p>
            <a:r>
              <a:rPr lang="en-US" sz="2400" dirty="0"/>
              <a:t>Identify common pitfalls</a:t>
            </a:r>
          </a:p>
          <a:p>
            <a:r>
              <a:rPr lang="en-US" sz="2400" dirty="0"/>
              <a:t>Critique sample problem statements</a:t>
            </a:r>
          </a:p>
        </p:txBody>
      </p:sp>
      <p:grpSp>
        <p:nvGrpSpPr>
          <p:cNvPr id="11" name="Group 10">
            <a:extLst>
              <a:ext uri="{FF2B5EF4-FFF2-40B4-BE49-F238E27FC236}">
                <a16:creationId xmlns:a16="http://schemas.microsoft.com/office/drawing/2014/main" id="{DCC7CB02-4F0E-2CE8-9EF1-D9AEB4FA2691}"/>
              </a:ext>
            </a:extLst>
          </p:cNvPr>
          <p:cNvGrpSpPr/>
          <p:nvPr/>
        </p:nvGrpSpPr>
        <p:grpSpPr>
          <a:xfrm>
            <a:off x="699911" y="837133"/>
            <a:ext cx="7273624" cy="659879"/>
            <a:chOff x="699911" y="1069861"/>
            <a:chExt cx="7273624" cy="350130"/>
          </a:xfrm>
        </p:grpSpPr>
        <p:sp>
          <p:nvSpPr>
            <p:cNvPr id="5" name="AutoShape 9">
              <a:extLst>
                <a:ext uri="{FF2B5EF4-FFF2-40B4-BE49-F238E27FC236}">
                  <a16:creationId xmlns:a16="http://schemas.microsoft.com/office/drawing/2014/main" id="{A10A2475-FBAF-2DA7-EE48-9E0556DB3824}"/>
                </a:ext>
              </a:extLst>
            </p:cNvPr>
            <p:cNvSpPr>
              <a:spLocks noChangeArrowheads="1"/>
            </p:cNvSpPr>
            <p:nvPr/>
          </p:nvSpPr>
          <p:spPr bwMode="auto">
            <a:xfrm>
              <a:off x="6395259" y="1069861"/>
              <a:ext cx="1578276" cy="350130"/>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200" dirty="0">
                  <a:solidFill>
                    <a:schemeClr val="bg1"/>
                  </a:solidFill>
                  <a:latin typeface="Roboto" panose="02000000000000000000" pitchFamily="2" charset="0"/>
                  <a:ea typeface="Roboto" panose="02000000000000000000" pitchFamily="2" charset="0"/>
                  <a:cs typeface="Roboto" panose="02000000000000000000" pitchFamily="2" charset="0"/>
                </a:rPr>
                <a:t>CEDAC Review</a:t>
              </a:r>
            </a:p>
          </p:txBody>
        </p:sp>
        <p:sp>
          <p:nvSpPr>
            <p:cNvPr id="4" name="AutoShape 9">
              <a:extLst>
                <a:ext uri="{FF2B5EF4-FFF2-40B4-BE49-F238E27FC236}">
                  <a16:creationId xmlns:a16="http://schemas.microsoft.com/office/drawing/2014/main" id="{663C2CC0-8818-6B25-BBA3-89708896610A}"/>
                </a:ext>
              </a:extLst>
            </p:cNvPr>
            <p:cNvSpPr>
              <a:spLocks noChangeArrowheads="1"/>
            </p:cNvSpPr>
            <p:nvPr/>
          </p:nvSpPr>
          <p:spPr bwMode="auto">
            <a:xfrm>
              <a:off x="4971710" y="1069861"/>
              <a:ext cx="1578276" cy="350130"/>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200" dirty="0">
                  <a:solidFill>
                    <a:schemeClr val="bg1"/>
                  </a:solidFill>
                  <a:latin typeface="Roboto" panose="02000000000000000000" pitchFamily="2" charset="0"/>
                  <a:ea typeface="Roboto" panose="02000000000000000000" pitchFamily="2" charset="0"/>
                  <a:cs typeface="Roboto" panose="02000000000000000000" pitchFamily="2" charset="0"/>
                </a:rPr>
                <a:t>CEDAC Solution</a:t>
              </a:r>
            </a:p>
          </p:txBody>
        </p:sp>
        <p:grpSp>
          <p:nvGrpSpPr>
            <p:cNvPr id="10" name="Group 9">
              <a:extLst>
                <a:ext uri="{FF2B5EF4-FFF2-40B4-BE49-F238E27FC236}">
                  <a16:creationId xmlns:a16="http://schemas.microsoft.com/office/drawing/2014/main" id="{DF07BA82-F1D2-01EE-36D7-0CE1E1021337}"/>
                </a:ext>
              </a:extLst>
            </p:cNvPr>
            <p:cNvGrpSpPr/>
            <p:nvPr/>
          </p:nvGrpSpPr>
          <p:grpSpPr>
            <a:xfrm>
              <a:off x="699911" y="1069861"/>
              <a:ext cx="4425950" cy="350130"/>
              <a:chOff x="5627530" y="641179"/>
              <a:chExt cx="6564470" cy="804977"/>
            </a:xfrm>
          </p:grpSpPr>
          <p:sp>
            <p:nvSpPr>
              <p:cNvPr id="7" name="AutoShape 9">
                <a:extLst>
                  <a:ext uri="{FF2B5EF4-FFF2-40B4-BE49-F238E27FC236}">
                    <a16:creationId xmlns:a16="http://schemas.microsoft.com/office/drawing/2014/main" id="{E658DE7F-EAE7-7BD9-8492-805CBFCFF7F5}"/>
                  </a:ext>
                </a:extLst>
              </p:cNvPr>
              <p:cNvSpPr>
                <a:spLocks noChangeArrowheads="1"/>
              </p:cNvSpPr>
              <p:nvPr/>
            </p:nvSpPr>
            <p:spPr bwMode="auto">
              <a:xfrm>
                <a:off x="9851136" y="641179"/>
                <a:ext cx="2340864" cy="804977"/>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200" dirty="0">
                    <a:solidFill>
                      <a:schemeClr val="bg1"/>
                    </a:solidFill>
                    <a:latin typeface="Roboto" panose="02000000000000000000" pitchFamily="2" charset="0"/>
                    <a:ea typeface="Roboto" panose="02000000000000000000" pitchFamily="2" charset="0"/>
                    <a:cs typeface="Roboto" panose="02000000000000000000" pitchFamily="2" charset="0"/>
                  </a:rPr>
                  <a:t>CEDAC Cause</a:t>
                </a:r>
              </a:p>
            </p:txBody>
          </p:sp>
          <p:sp>
            <p:nvSpPr>
              <p:cNvPr id="8" name="AutoShape 10">
                <a:extLst>
                  <a:ext uri="{FF2B5EF4-FFF2-40B4-BE49-F238E27FC236}">
                    <a16:creationId xmlns:a16="http://schemas.microsoft.com/office/drawing/2014/main" id="{3B341166-AC1F-8D30-9314-0FB3D948387F}"/>
                  </a:ext>
                </a:extLst>
              </p:cNvPr>
              <p:cNvSpPr>
                <a:spLocks noChangeArrowheads="1"/>
              </p:cNvSpPr>
              <p:nvPr/>
            </p:nvSpPr>
            <p:spPr bwMode="auto">
              <a:xfrm>
                <a:off x="7737856" y="641180"/>
                <a:ext cx="2342768" cy="804976"/>
              </a:xfrm>
              <a:prstGeom prst="homePlate">
                <a:avLst>
                  <a:gd name="adj" fmla="val 29912"/>
                </a:avLst>
              </a:prstGeom>
              <a:solidFill>
                <a:srgbClr val="FFB627"/>
              </a:solidFill>
              <a:ln w="12700" cap="sq">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r>
                  <a:rPr lang="en-US" altLang="en-US" sz="1200" dirty="0">
                    <a:latin typeface="Roboto" panose="02000000000000000000" pitchFamily="2" charset="0"/>
                    <a:ea typeface="Roboto" panose="02000000000000000000" pitchFamily="2" charset="0"/>
                  </a:rPr>
                  <a:t>CEDAC Effect</a:t>
                </a:r>
              </a:p>
            </p:txBody>
          </p:sp>
          <p:sp>
            <p:nvSpPr>
              <p:cNvPr id="9" name="AutoShape 11">
                <a:extLst>
                  <a:ext uri="{FF2B5EF4-FFF2-40B4-BE49-F238E27FC236}">
                    <a16:creationId xmlns:a16="http://schemas.microsoft.com/office/drawing/2014/main" id="{2AB16F46-B5FA-96F3-91C2-07B2F2F1CC6C}"/>
                  </a:ext>
                </a:extLst>
              </p:cNvPr>
              <p:cNvSpPr>
                <a:spLocks noChangeArrowheads="1"/>
              </p:cNvSpPr>
              <p:nvPr/>
            </p:nvSpPr>
            <p:spPr bwMode="auto">
              <a:xfrm>
                <a:off x="5627530" y="641179"/>
                <a:ext cx="2340864" cy="804977"/>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r>
                  <a:rPr lang="en-US" altLang="en-US" sz="1200" dirty="0">
                    <a:solidFill>
                      <a:schemeClr val="bg1"/>
                    </a:solidFill>
                    <a:latin typeface="Roboto" panose="02000000000000000000" pitchFamily="2" charset="0"/>
                    <a:ea typeface="Roboto" panose="02000000000000000000" pitchFamily="2" charset="0"/>
                  </a:rPr>
                  <a:t>CEDAC Overview</a:t>
                </a:r>
              </a:p>
            </p:txBody>
          </p:sp>
        </p:grpSp>
      </p:grpSp>
      <p:cxnSp>
        <p:nvCxnSpPr>
          <p:cNvPr id="12" name="Straight Connector 11">
            <a:extLst>
              <a:ext uri="{FF2B5EF4-FFF2-40B4-BE49-F238E27FC236}">
                <a16:creationId xmlns:a16="http://schemas.microsoft.com/office/drawing/2014/main" id="{A4FB0DFD-2D15-952D-9825-996B08251FD4}"/>
              </a:ext>
            </a:extLst>
          </p:cNvPr>
          <p:cNvCxnSpPr/>
          <p:nvPr/>
        </p:nvCxnSpPr>
        <p:spPr>
          <a:xfrm>
            <a:off x="699911" y="2386919"/>
            <a:ext cx="3882975" cy="0"/>
          </a:xfrm>
          <a:prstGeom prst="line">
            <a:avLst/>
          </a:prstGeom>
          <a:ln w="254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3623760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lstStyle/>
          <a:p>
            <a:r>
              <a:rPr lang="en-US" dirty="0"/>
              <a:t>Steps of the CEDAC Process</a:t>
            </a:r>
          </a:p>
        </p:txBody>
      </p:sp>
      <p:sp>
        <p:nvSpPr>
          <p:cNvPr id="3" name="Content Placeholder 2">
            <a:extLst>
              <a:ext uri="{FF2B5EF4-FFF2-40B4-BE49-F238E27FC236}">
                <a16:creationId xmlns:a16="http://schemas.microsoft.com/office/drawing/2014/main" id="{2AA7A201-AD05-6520-E140-CCF11E59E700}"/>
              </a:ext>
            </a:extLst>
          </p:cNvPr>
          <p:cNvSpPr>
            <a:spLocks noGrp="1"/>
          </p:cNvSpPr>
          <p:nvPr>
            <p:ph idx="1"/>
          </p:nvPr>
        </p:nvSpPr>
        <p:spPr>
          <a:xfrm>
            <a:off x="3200400" y="1825625"/>
            <a:ext cx="8153400" cy="4351338"/>
          </a:xfrm>
        </p:spPr>
        <p:txBody>
          <a:bodyPr>
            <a:normAutofit fontScale="92500" lnSpcReduction="20000"/>
          </a:bodyPr>
          <a:lstStyle/>
          <a:p>
            <a:pPr marL="514350" indent="-514350">
              <a:buFont typeface="+mj-lt"/>
              <a:buAutoNum type="arabicPeriod"/>
            </a:pPr>
            <a:r>
              <a:rPr lang="en-US" dirty="0"/>
              <a:t>Define problem</a:t>
            </a:r>
          </a:p>
          <a:p>
            <a:pPr marL="514350" indent="-514350">
              <a:buFont typeface="+mj-lt"/>
              <a:buAutoNum type="arabicPeriod"/>
            </a:pPr>
            <a:r>
              <a:rPr lang="en-US" dirty="0"/>
              <a:t>Establish and validate metrics</a:t>
            </a:r>
          </a:p>
          <a:p>
            <a:pPr marL="514350" indent="-514350">
              <a:buFont typeface="+mj-lt"/>
              <a:buAutoNum type="arabicPeriod"/>
            </a:pPr>
            <a:r>
              <a:rPr lang="en-US" dirty="0"/>
              <a:t>Determine Objective Statement </a:t>
            </a:r>
          </a:p>
          <a:p>
            <a:pPr marL="514350" indent="-514350">
              <a:buFont typeface="+mj-lt"/>
              <a:buAutoNum type="arabicPeriod"/>
            </a:pPr>
            <a:r>
              <a:rPr lang="en-US" dirty="0"/>
              <a:t>Create CEDAC diagram (Flowchart, Fishbone, etc.)</a:t>
            </a:r>
          </a:p>
          <a:p>
            <a:pPr marL="514350" indent="-514350">
              <a:buFont typeface="+mj-lt"/>
              <a:buAutoNum type="arabicPeriod"/>
            </a:pPr>
            <a:r>
              <a:rPr lang="en-US" dirty="0"/>
              <a:t>Brainstorm and create FACT Cards (in yellow) and post on diagram</a:t>
            </a:r>
          </a:p>
          <a:p>
            <a:pPr marL="514350" indent="-514350">
              <a:buFont typeface="+mj-lt"/>
              <a:buAutoNum type="arabicPeriod"/>
            </a:pPr>
            <a:r>
              <a:rPr lang="en-US" dirty="0"/>
              <a:t>Brainstorm and create IMPROVEMENT Cards (in blue) and post on diagram</a:t>
            </a:r>
          </a:p>
          <a:p>
            <a:pPr marL="514350" indent="-514350">
              <a:buFont typeface="+mj-lt"/>
              <a:buAutoNum type="arabicPeriod"/>
            </a:pPr>
            <a:r>
              <a:rPr lang="en-US" dirty="0"/>
              <a:t>Take action on the IMPROVEMENT cards</a:t>
            </a:r>
          </a:p>
          <a:p>
            <a:pPr marL="514350" indent="-514350">
              <a:buFont typeface="+mj-lt"/>
              <a:buAutoNum type="arabicPeriod"/>
            </a:pPr>
            <a:r>
              <a:rPr lang="en-US" dirty="0"/>
              <a:t>Institutionalize improvements (countermeasures) that have proven to solve the problem</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20</a:t>
            </a:fld>
            <a:endParaRPr lang="en-US"/>
          </a:p>
        </p:txBody>
      </p:sp>
      <p:grpSp>
        <p:nvGrpSpPr>
          <p:cNvPr id="14" name="Group 13">
            <a:extLst>
              <a:ext uri="{FF2B5EF4-FFF2-40B4-BE49-F238E27FC236}">
                <a16:creationId xmlns:a16="http://schemas.microsoft.com/office/drawing/2014/main" id="{D41303C2-E018-19D2-0EB5-6DA73CD24807}"/>
              </a:ext>
            </a:extLst>
          </p:cNvPr>
          <p:cNvGrpSpPr/>
          <p:nvPr/>
        </p:nvGrpSpPr>
        <p:grpSpPr>
          <a:xfrm>
            <a:off x="838200" y="297639"/>
            <a:ext cx="4110990" cy="307138"/>
            <a:chOff x="838200" y="297639"/>
            <a:chExt cx="4110990" cy="307138"/>
          </a:xfrm>
        </p:grpSpPr>
        <p:grpSp>
          <p:nvGrpSpPr>
            <p:cNvPr id="15" name="Group 14">
              <a:extLst>
                <a:ext uri="{FF2B5EF4-FFF2-40B4-BE49-F238E27FC236}">
                  <a16:creationId xmlns:a16="http://schemas.microsoft.com/office/drawing/2014/main" id="{E5786EBA-3CE5-0613-28ED-FAC08B873002}"/>
                </a:ext>
              </a:extLst>
            </p:cNvPr>
            <p:cNvGrpSpPr/>
            <p:nvPr/>
          </p:nvGrpSpPr>
          <p:grpSpPr>
            <a:xfrm>
              <a:off x="838200" y="297639"/>
              <a:ext cx="1687517" cy="290657"/>
              <a:chOff x="838200" y="297639"/>
              <a:chExt cx="1687517" cy="290657"/>
            </a:xfrm>
          </p:grpSpPr>
          <p:sp>
            <p:nvSpPr>
              <p:cNvPr id="17" name="AutoShape 9">
                <a:extLst>
                  <a:ext uri="{FF2B5EF4-FFF2-40B4-BE49-F238E27FC236}">
                    <a16:creationId xmlns:a16="http://schemas.microsoft.com/office/drawing/2014/main" id="{B174F6F9-D206-07A7-A64A-B68DDBDC1860}"/>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8" name="AutoShape 9">
                <a:extLst>
                  <a:ext uri="{FF2B5EF4-FFF2-40B4-BE49-F238E27FC236}">
                    <a16:creationId xmlns:a16="http://schemas.microsoft.com/office/drawing/2014/main" id="{E8BB91E2-C1AC-FCCB-16DF-8C2FF5B3FF85}"/>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19" name="Group 18">
                <a:extLst>
                  <a:ext uri="{FF2B5EF4-FFF2-40B4-BE49-F238E27FC236}">
                    <a16:creationId xmlns:a16="http://schemas.microsoft.com/office/drawing/2014/main" id="{E2AC478D-7F21-38EF-5560-D40E7C498246}"/>
                  </a:ext>
                </a:extLst>
              </p:cNvPr>
              <p:cNvGrpSpPr/>
              <p:nvPr/>
            </p:nvGrpSpPr>
            <p:grpSpPr>
              <a:xfrm>
                <a:off x="838200" y="297639"/>
                <a:ext cx="1060167" cy="290657"/>
                <a:chOff x="826426" y="4041857"/>
                <a:chExt cx="1060167" cy="290657"/>
              </a:xfrm>
            </p:grpSpPr>
            <p:sp>
              <p:nvSpPr>
                <p:cNvPr id="20" name="AutoShape 9">
                  <a:extLst>
                    <a:ext uri="{FF2B5EF4-FFF2-40B4-BE49-F238E27FC236}">
                      <a16:creationId xmlns:a16="http://schemas.microsoft.com/office/drawing/2014/main" id="{12AB7CB1-4480-4FEE-CE6F-B4F2FA2C986A}"/>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21" name="AutoShape 11">
                  <a:extLst>
                    <a:ext uri="{FF2B5EF4-FFF2-40B4-BE49-F238E27FC236}">
                      <a16:creationId xmlns:a16="http://schemas.microsoft.com/office/drawing/2014/main" id="{AA5419CA-4052-22B2-630C-B0633134EA3A}"/>
                    </a:ext>
                  </a:extLst>
                </p:cNvPr>
                <p:cNvSpPr>
                  <a:spLocks noChangeArrowheads="1"/>
                </p:cNvSpPr>
                <p:nvPr/>
              </p:nvSpPr>
              <p:spPr bwMode="auto">
                <a:xfrm>
                  <a:off x="1140101" y="4041858"/>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2" name="AutoShape 10">
                  <a:extLst>
                    <a:ext uri="{FF2B5EF4-FFF2-40B4-BE49-F238E27FC236}">
                      <a16:creationId xmlns:a16="http://schemas.microsoft.com/office/drawing/2014/main" id="{CCE40F93-E620-B6AC-E23C-FC6C2C06EBAF}"/>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16" name="TextBox 15">
              <a:extLst>
                <a:ext uri="{FF2B5EF4-FFF2-40B4-BE49-F238E27FC236}">
                  <a16:creationId xmlns:a16="http://schemas.microsoft.com/office/drawing/2014/main" id="{9A4733ED-8095-60E0-242E-EA2095CF4379}"/>
                </a:ext>
              </a:extLst>
            </p:cNvPr>
            <p:cNvSpPr txBox="1"/>
            <p:nvPr/>
          </p:nvSpPr>
          <p:spPr>
            <a:xfrm>
              <a:off x="2525717" y="313415"/>
              <a:ext cx="242347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CEDAC Problem Effect</a:t>
              </a:r>
            </a:p>
          </p:txBody>
        </p:sp>
      </p:grpSp>
      <p:sp>
        <p:nvSpPr>
          <p:cNvPr id="4" name="AutoShape 4">
            <a:extLst>
              <a:ext uri="{FF2B5EF4-FFF2-40B4-BE49-F238E27FC236}">
                <a16:creationId xmlns:a16="http://schemas.microsoft.com/office/drawing/2014/main" id="{2C717994-A0D3-16DA-F97C-85BEFFB148BC}"/>
              </a:ext>
            </a:extLst>
          </p:cNvPr>
          <p:cNvSpPr>
            <a:spLocks/>
          </p:cNvSpPr>
          <p:nvPr/>
        </p:nvSpPr>
        <p:spPr bwMode="auto">
          <a:xfrm flipH="1">
            <a:off x="2898773" y="1823551"/>
            <a:ext cx="301626" cy="1111921"/>
          </a:xfrm>
          <a:prstGeom prst="rightBrace">
            <a:avLst>
              <a:gd name="adj1" fmla="val 34561"/>
              <a:gd name="adj2" fmla="val 50000"/>
            </a:avLst>
          </a:prstGeom>
          <a:noFill/>
          <a:ln w="28575" cap="sq">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5000"/>
              </a:lnSpc>
              <a:buFont typeface="Wingdings" panose="05000000000000000000" pitchFamily="2" charset="2"/>
              <a:buNone/>
            </a:pPr>
            <a:endParaRPr lang="en-US" altLang="en-US" sz="1600"/>
          </a:p>
        </p:txBody>
      </p:sp>
      <p:sp>
        <p:nvSpPr>
          <p:cNvPr id="6" name="Text Box 5">
            <a:extLst>
              <a:ext uri="{FF2B5EF4-FFF2-40B4-BE49-F238E27FC236}">
                <a16:creationId xmlns:a16="http://schemas.microsoft.com/office/drawing/2014/main" id="{BB3ABBE3-744D-E1E3-8C89-8C1459A43648}"/>
              </a:ext>
            </a:extLst>
          </p:cNvPr>
          <p:cNvSpPr txBox="1">
            <a:spLocks noChangeArrowheads="1"/>
          </p:cNvSpPr>
          <p:nvPr/>
        </p:nvSpPr>
        <p:spPr bwMode="auto">
          <a:xfrm>
            <a:off x="1015999" y="2082705"/>
            <a:ext cx="1517655" cy="3139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wrap="square">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80000"/>
              </a:lnSpc>
              <a:spcBef>
                <a:spcPct val="20000"/>
              </a:spcBef>
              <a:spcAft>
                <a:spcPct val="0"/>
              </a:spcAft>
              <a:buClrTx/>
              <a:buSzTx/>
              <a:buFontTx/>
              <a:buNone/>
            </a:pPr>
            <a:r>
              <a:rPr lang="en-US" altLang="en-US" sz="1800" dirty="0">
                <a:latin typeface="Roboto" panose="02000000000000000000" pitchFamily="2" charset="0"/>
                <a:ea typeface="Roboto" panose="02000000000000000000" pitchFamily="2" charset="0"/>
              </a:rPr>
              <a:t>The </a:t>
            </a:r>
            <a:r>
              <a:rPr lang="ja-JP" altLang="en-US" sz="1800" dirty="0">
                <a:latin typeface="Roboto" panose="02000000000000000000" pitchFamily="2" charset="0"/>
              </a:rPr>
              <a:t>“</a:t>
            </a:r>
            <a:r>
              <a:rPr lang="en-US" altLang="ja-JP" sz="1800" dirty="0">
                <a:latin typeface="Roboto" panose="02000000000000000000" pitchFamily="2" charset="0"/>
                <a:ea typeface="Roboto" panose="02000000000000000000" pitchFamily="2" charset="0"/>
              </a:rPr>
              <a:t>Effect</a:t>
            </a:r>
            <a:r>
              <a:rPr lang="ja-JP" altLang="en-US" sz="1800" dirty="0">
                <a:latin typeface="Roboto" panose="02000000000000000000" pitchFamily="2" charset="0"/>
              </a:rPr>
              <a:t>”</a:t>
            </a:r>
            <a:endParaRPr lang="en-US" altLang="en-US" sz="1800" dirty="0">
              <a:latin typeface="Roboto" panose="02000000000000000000" pitchFamily="2" charset="0"/>
              <a:ea typeface="Roboto" panose="02000000000000000000" pitchFamily="2" charset="0"/>
            </a:endParaRPr>
          </a:p>
        </p:txBody>
      </p:sp>
      <p:sp>
        <p:nvSpPr>
          <p:cNvPr id="7" name="Text Box 6">
            <a:extLst>
              <a:ext uri="{FF2B5EF4-FFF2-40B4-BE49-F238E27FC236}">
                <a16:creationId xmlns:a16="http://schemas.microsoft.com/office/drawing/2014/main" id="{A328E56B-D593-3A7D-5959-8ABD25C46B81}"/>
              </a:ext>
            </a:extLst>
          </p:cNvPr>
          <p:cNvSpPr txBox="1">
            <a:spLocks noChangeArrowheads="1"/>
          </p:cNvSpPr>
          <p:nvPr/>
        </p:nvSpPr>
        <p:spPr bwMode="auto">
          <a:xfrm>
            <a:off x="1054608" y="3161234"/>
            <a:ext cx="1568455" cy="3139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wrap="square">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80000"/>
              </a:lnSpc>
              <a:spcBef>
                <a:spcPct val="20000"/>
              </a:spcBef>
              <a:spcAft>
                <a:spcPct val="0"/>
              </a:spcAft>
              <a:buClrTx/>
              <a:buSzTx/>
              <a:buFontTx/>
              <a:buNone/>
            </a:pPr>
            <a:r>
              <a:rPr lang="en-US" altLang="en-US" sz="1800" dirty="0">
                <a:latin typeface="Roboto" panose="02000000000000000000" pitchFamily="2" charset="0"/>
                <a:ea typeface="Roboto" panose="02000000000000000000" pitchFamily="2" charset="0"/>
              </a:rPr>
              <a:t>The </a:t>
            </a:r>
            <a:r>
              <a:rPr lang="ja-JP" altLang="en-US" sz="1800" dirty="0">
                <a:latin typeface="Roboto" panose="02000000000000000000" pitchFamily="2" charset="0"/>
              </a:rPr>
              <a:t>“</a:t>
            </a:r>
            <a:r>
              <a:rPr lang="en-US" altLang="ja-JP" sz="1800" dirty="0">
                <a:latin typeface="Roboto" panose="02000000000000000000" pitchFamily="2" charset="0"/>
                <a:ea typeface="Roboto" panose="02000000000000000000" pitchFamily="2" charset="0"/>
              </a:rPr>
              <a:t>Cause</a:t>
            </a:r>
            <a:r>
              <a:rPr lang="ja-JP" altLang="en-US" sz="1800" dirty="0">
                <a:latin typeface="Roboto" panose="02000000000000000000" pitchFamily="2" charset="0"/>
              </a:rPr>
              <a:t>”</a:t>
            </a:r>
            <a:endParaRPr lang="en-US" altLang="en-US" sz="1800" dirty="0">
              <a:latin typeface="Roboto" panose="02000000000000000000" pitchFamily="2" charset="0"/>
              <a:ea typeface="Roboto" panose="02000000000000000000" pitchFamily="2" charset="0"/>
            </a:endParaRPr>
          </a:p>
        </p:txBody>
      </p:sp>
      <p:sp>
        <p:nvSpPr>
          <p:cNvPr id="8" name="Text Box 7">
            <a:extLst>
              <a:ext uri="{FF2B5EF4-FFF2-40B4-BE49-F238E27FC236}">
                <a16:creationId xmlns:a16="http://schemas.microsoft.com/office/drawing/2014/main" id="{C1C25B89-DA4A-74B2-B4EA-E52AE658D2EB}"/>
              </a:ext>
            </a:extLst>
          </p:cNvPr>
          <p:cNvSpPr txBox="1">
            <a:spLocks noChangeArrowheads="1"/>
          </p:cNvSpPr>
          <p:nvPr/>
        </p:nvSpPr>
        <p:spPr bwMode="auto">
          <a:xfrm>
            <a:off x="1015999" y="4655928"/>
            <a:ext cx="1820868" cy="5293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wrap="square">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80000"/>
              </a:lnSpc>
              <a:spcBef>
                <a:spcPct val="20000"/>
              </a:spcBef>
              <a:spcAft>
                <a:spcPct val="0"/>
              </a:spcAft>
              <a:buClrTx/>
              <a:buSzTx/>
              <a:buFontTx/>
              <a:buNone/>
            </a:pPr>
            <a:r>
              <a:rPr lang="en-US" altLang="en-US" sz="1800" dirty="0">
                <a:latin typeface="Roboto" panose="02000000000000000000" pitchFamily="2" charset="0"/>
                <a:ea typeface="Roboto" panose="02000000000000000000" pitchFamily="2" charset="0"/>
              </a:rPr>
              <a:t>The </a:t>
            </a:r>
            <a:r>
              <a:rPr lang="ja-JP" altLang="en-US" sz="1800" dirty="0">
                <a:latin typeface="Roboto" panose="02000000000000000000" pitchFamily="2" charset="0"/>
              </a:rPr>
              <a:t>“</a:t>
            </a:r>
            <a:r>
              <a:rPr lang="en-US" altLang="ja-JP" sz="1800" dirty="0">
                <a:latin typeface="Roboto" panose="02000000000000000000" pitchFamily="2" charset="0"/>
                <a:ea typeface="Roboto" panose="02000000000000000000" pitchFamily="2" charset="0"/>
              </a:rPr>
              <a:t>Solution</a:t>
            </a:r>
            <a:r>
              <a:rPr lang="ja-JP" altLang="en-US" sz="1800" dirty="0">
                <a:latin typeface="Roboto" panose="02000000000000000000" pitchFamily="2" charset="0"/>
              </a:rPr>
              <a:t>”</a:t>
            </a:r>
            <a:endParaRPr lang="en-US" altLang="ja-JP" sz="1800" dirty="0">
              <a:latin typeface="Roboto" panose="02000000000000000000" pitchFamily="2" charset="0"/>
              <a:ea typeface="Roboto" panose="02000000000000000000" pitchFamily="2" charset="0"/>
            </a:endParaRPr>
          </a:p>
          <a:p>
            <a:pPr>
              <a:lnSpc>
                <a:spcPct val="80000"/>
              </a:lnSpc>
              <a:spcBef>
                <a:spcPct val="20000"/>
              </a:spcBef>
              <a:spcAft>
                <a:spcPct val="0"/>
              </a:spcAft>
              <a:buClrTx/>
              <a:buSzTx/>
              <a:buFontTx/>
              <a:buNone/>
            </a:pPr>
            <a:r>
              <a:rPr lang="en-US" altLang="en-US" sz="1400" dirty="0">
                <a:latin typeface="Roboto" panose="02000000000000000000" pitchFamily="2" charset="0"/>
                <a:ea typeface="Roboto" panose="02000000000000000000" pitchFamily="2" charset="0"/>
              </a:rPr>
              <a:t>(countermeasures)</a:t>
            </a:r>
          </a:p>
        </p:txBody>
      </p:sp>
      <p:sp>
        <p:nvSpPr>
          <p:cNvPr id="9" name="AutoShape 8">
            <a:extLst>
              <a:ext uri="{FF2B5EF4-FFF2-40B4-BE49-F238E27FC236}">
                <a16:creationId xmlns:a16="http://schemas.microsoft.com/office/drawing/2014/main" id="{522701E4-0150-E859-6D9E-FED001303A36}"/>
              </a:ext>
            </a:extLst>
          </p:cNvPr>
          <p:cNvSpPr>
            <a:spLocks/>
          </p:cNvSpPr>
          <p:nvPr/>
        </p:nvSpPr>
        <p:spPr bwMode="auto">
          <a:xfrm flipH="1">
            <a:off x="2898773" y="3045104"/>
            <a:ext cx="301626" cy="685422"/>
          </a:xfrm>
          <a:prstGeom prst="rightBrace">
            <a:avLst>
              <a:gd name="adj1" fmla="val 19123"/>
              <a:gd name="adj2" fmla="val 50000"/>
            </a:avLst>
          </a:prstGeom>
          <a:noFill/>
          <a:ln w="28575" cap="sq">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5000"/>
              </a:lnSpc>
              <a:buFont typeface="Wingdings" panose="05000000000000000000" pitchFamily="2" charset="2"/>
              <a:buNone/>
            </a:pPr>
            <a:endParaRPr lang="en-US" altLang="en-US" sz="1600"/>
          </a:p>
        </p:txBody>
      </p:sp>
      <p:sp>
        <p:nvSpPr>
          <p:cNvPr id="10" name="AutoShape 9">
            <a:extLst>
              <a:ext uri="{FF2B5EF4-FFF2-40B4-BE49-F238E27FC236}">
                <a16:creationId xmlns:a16="http://schemas.microsoft.com/office/drawing/2014/main" id="{35E8A71A-28DB-67DD-4CED-54BA17786406}"/>
              </a:ext>
            </a:extLst>
          </p:cNvPr>
          <p:cNvSpPr>
            <a:spLocks/>
          </p:cNvSpPr>
          <p:nvPr/>
        </p:nvSpPr>
        <p:spPr bwMode="auto">
          <a:xfrm flipH="1">
            <a:off x="2898773" y="4160521"/>
            <a:ext cx="301626" cy="1520190"/>
          </a:xfrm>
          <a:prstGeom prst="rightBrace">
            <a:avLst>
              <a:gd name="adj1" fmla="val 42412"/>
              <a:gd name="adj2" fmla="val 50000"/>
            </a:avLst>
          </a:prstGeom>
          <a:noFill/>
          <a:ln w="28575" cap="sq">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5000"/>
              </a:lnSpc>
              <a:buFont typeface="Wingdings" panose="05000000000000000000" pitchFamily="2" charset="2"/>
              <a:buNone/>
            </a:pPr>
            <a:endParaRPr lang="en-US" altLang="en-US" sz="1600"/>
          </a:p>
        </p:txBody>
      </p:sp>
      <p:sp>
        <p:nvSpPr>
          <p:cNvPr id="11" name="Rectangle 10">
            <a:extLst>
              <a:ext uri="{FF2B5EF4-FFF2-40B4-BE49-F238E27FC236}">
                <a16:creationId xmlns:a16="http://schemas.microsoft.com/office/drawing/2014/main" id="{B6A14166-925E-815D-420A-2FFA7F5E726F}"/>
              </a:ext>
            </a:extLst>
          </p:cNvPr>
          <p:cNvSpPr/>
          <p:nvPr/>
        </p:nvSpPr>
        <p:spPr>
          <a:xfrm>
            <a:off x="3200399" y="1767653"/>
            <a:ext cx="3120391" cy="438337"/>
          </a:xfrm>
          <a:prstGeom prst="rect">
            <a:avLst/>
          </a:prstGeom>
          <a:no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90734107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normAutofit fontScale="90000"/>
          </a:bodyPr>
          <a:lstStyle/>
          <a:p>
            <a:r>
              <a:rPr lang="en-US" dirty="0"/>
              <a:t>Elements of a CEDAC Problem Statement</a:t>
            </a:r>
          </a:p>
        </p:txBody>
      </p:sp>
      <p:sp>
        <p:nvSpPr>
          <p:cNvPr id="3" name="Content Placeholder 2">
            <a:extLst>
              <a:ext uri="{FF2B5EF4-FFF2-40B4-BE49-F238E27FC236}">
                <a16:creationId xmlns:a16="http://schemas.microsoft.com/office/drawing/2014/main" id="{2AA7A201-AD05-6520-E140-CCF11E59E700}"/>
              </a:ext>
            </a:extLst>
          </p:cNvPr>
          <p:cNvSpPr>
            <a:spLocks noGrp="1"/>
          </p:cNvSpPr>
          <p:nvPr>
            <p:ph idx="1"/>
          </p:nvPr>
        </p:nvSpPr>
        <p:spPr/>
        <p:txBody>
          <a:bodyPr>
            <a:normAutofit/>
          </a:bodyPr>
          <a:lstStyle/>
          <a:p>
            <a:r>
              <a:rPr lang="en-US" dirty="0"/>
              <a:t>A Problem Statement should describe the problem in terms of its specific </a:t>
            </a:r>
            <a:r>
              <a:rPr lang="en-US" u="sng" dirty="0"/>
              <a:t>effect</a:t>
            </a:r>
            <a:r>
              <a:rPr lang="en-US" dirty="0"/>
              <a:t> on the process or on the business</a:t>
            </a:r>
          </a:p>
          <a:p>
            <a:r>
              <a:rPr lang="en-US" dirty="0"/>
              <a:t>Should be clear and concise – one sentence ideal</a:t>
            </a:r>
          </a:p>
          <a:p>
            <a:r>
              <a:rPr lang="en-US" dirty="0"/>
              <a:t>Should be as specific as possible – to ensure that we are solving one problem and not many</a:t>
            </a:r>
          </a:p>
          <a:p>
            <a:r>
              <a:rPr lang="en-US" dirty="0"/>
              <a:t>Should be based on data and quantifiable</a:t>
            </a:r>
          </a:p>
          <a:p>
            <a:r>
              <a:rPr lang="en-US" dirty="0"/>
              <a:t>Should not contain embedded solutions or perceived root causes</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21</a:t>
            </a:fld>
            <a:endParaRPr lang="en-US"/>
          </a:p>
        </p:txBody>
      </p:sp>
      <p:grpSp>
        <p:nvGrpSpPr>
          <p:cNvPr id="4" name="Group 3">
            <a:extLst>
              <a:ext uri="{FF2B5EF4-FFF2-40B4-BE49-F238E27FC236}">
                <a16:creationId xmlns:a16="http://schemas.microsoft.com/office/drawing/2014/main" id="{0289B0DE-9474-301B-2074-77BD9BF52A76}"/>
              </a:ext>
            </a:extLst>
          </p:cNvPr>
          <p:cNvGrpSpPr/>
          <p:nvPr/>
        </p:nvGrpSpPr>
        <p:grpSpPr>
          <a:xfrm>
            <a:off x="838200" y="297639"/>
            <a:ext cx="4110990" cy="307138"/>
            <a:chOff x="838200" y="297639"/>
            <a:chExt cx="4110990" cy="307138"/>
          </a:xfrm>
        </p:grpSpPr>
        <p:grpSp>
          <p:nvGrpSpPr>
            <p:cNvPr id="6" name="Group 5">
              <a:extLst>
                <a:ext uri="{FF2B5EF4-FFF2-40B4-BE49-F238E27FC236}">
                  <a16:creationId xmlns:a16="http://schemas.microsoft.com/office/drawing/2014/main" id="{DC0546B3-074D-7E6C-296A-96FD3A1B82F1}"/>
                </a:ext>
              </a:extLst>
            </p:cNvPr>
            <p:cNvGrpSpPr/>
            <p:nvPr/>
          </p:nvGrpSpPr>
          <p:grpSpPr>
            <a:xfrm>
              <a:off x="838200" y="297639"/>
              <a:ext cx="1687517" cy="290657"/>
              <a:chOff x="838200" y="297639"/>
              <a:chExt cx="1687517" cy="290657"/>
            </a:xfrm>
          </p:grpSpPr>
          <p:sp>
            <p:nvSpPr>
              <p:cNvPr id="8" name="AutoShape 9">
                <a:extLst>
                  <a:ext uri="{FF2B5EF4-FFF2-40B4-BE49-F238E27FC236}">
                    <a16:creationId xmlns:a16="http://schemas.microsoft.com/office/drawing/2014/main" id="{0D741AA2-5D8B-488E-21B1-32374170227D}"/>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9" name="AutoShape 9">
                <a:extLst>
                  <a:ext uri="{FF2B5EF4-FFF2-40B4-BE49-F238E27FC236}">
                    <a16:creationId xmlns:a16="http://schemas.microsoft.com/office/drawing/2014/main" id="{8D64DE20-20F6-74B1-F444-04E5A0A4A090}"/>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10" name="Group 9">
                <a:extLst>
                  <a:ext uri="{FF2B5EF4-FFF2-40B4-BE49-F238E27FC236}">
                    <a16:creationId xmlns:a16="http://schemas.microsoft.com/office/drawing/2014/main" id="{DD8CF14A-3BBE-455D-6633-C1A8A19ECE4D}"/>
                  </a:ext>
                </a:extLst>
              </p:cNvPr>
              <p:cNvGrpSpPr/>
              <p:nvPr/>
            </p:nvGrpSpPr>
            <p:grpSpPr>
              <a:xfrm>
                <a:off x="838200" y="297639"/>
                <a:ext cx="1060167" cy="290657"/>
                <a:chOff x="826426" y="4041857"/>
                <a:chExt cx="1060167" cy="290657"/>
              </a:xfrm>
            </p:grpSpPr>
            <p:sp>
              <p:nvSpPr>
                <p:cNvPr id="11" name="AutoShape 9">
                  <a:extLst>
                    <a:ext uri="{FF2B5EF4-FFF2-40B4-BE49-F238E27FC236}">
                      <a16:creationId xmlns:a16="http://schemas.microsoft.com/office/drawing/2014/main" id="{41CB7AEE-DE58-A1DA-0C5B-0843320ABC55}"/>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2" name="AutoShape 11">
                  <a:extLst>
                    <a:ext uri="{FF2B5EF4-FFF2-40B4-BE49-F238E27FC236}">
                      <a16:creationId xmlns:a16="http://schemas.microsoft.com/office/drawing/2014/main" id="{80569925-DB97-C123-3607-806FFDFD2C26}"/>
                    </a:ext>
                  </a:extLst>
                </p:cNvPr>
                <p:cNvSpPr>
                  <a:spLocks noChangeArrowheads="1"/>
                </p:cNvSpPr>
                <p:nvPr/>
              </p:nvSpPr>
              <p:spPr bwMode="auto">
                <a:xfrm>
                  <a:off x="1140101" y="4041858"/>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3" name="AutoShape 10">
                  <a:extLst>
                    <a:ext uri="{FF2B5EF4-FFF2-40B4-BE49-F238E27FC236}">
                      <a16:creationId xmlns:a16="http://schemas.microsoft.com/office/drawing/2014/main" id="{A8399E4B-3899-FE51-3584-68ECFDA12936}"/>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7" name="TextBox 6">
              <a:extLst>
                <a:ext uri="{FF2B5EF4-FFF2-40B4-BE49-F238E27FC236}">
                  <a16:creationId xmlns:a16="http://schemas.microsoft.com/office/drawing/2014/main" id="{5276CF34-D824-1A90-0F4A-08F3695DE450}"/>
                </a:ext>
              </a:extLst>
            </p:cNvPr>
            <p:cNvSpPr txBox="1"/>
            <p:nvPr/>
          </p:nvSpPr>
          <p:spPr>
            <a:xfrm>
              <a:off x="2525717" y="313415"/>
              <a:ext cx="242347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CEDAC Problem Effect</a:t>
              </a:r>
            </a:p>
          </p:txBody>
        </p:sp>
      </p:grpSp>
    </p:spTree>
    <p:extLst>
      <p:ext uri="{BB962C8B-B14F-4D97-AF65-F5344CB8AC3E}">
        <p14:creationId xmlns:p14="http://schemas.microsoft.com/office/powerpoint/2010/main" val="145251795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noAutofit/>
          </a:bodyPr>
          <a:lstStyle/>
          <a:p>
            <a:r>
              <a:rPr lang="en-US" sz="3600" dirty="0"/>
              <a:t>Common Pitfalls in CEDAC Problem Statements</a:t>
            </a:r>
          </a:p>
        </p:txBody>
      </p:sp>
      <p:sp>
        <p:nvSpPr>
          <p:cNvPr id="3" name="Content Placeholder 2">
            <a:extLst>
              <a:ext uri="{FF2B5EF4-FFF2-40B4-BE49-F238E27FC236}">
                <a16:creationId xmlns:a16="http://schemas.microsoft.com/office/drawing/2014/main" id="{2AA7A201-AD05-6520-E140-CCF11E59E700}"/>
              </a:ext>
            </a:extLst>
          </p:cNvPr>
          <p:cNvSpPr>
            <a:spLocks noGrp="1"/>
          </p:cNvSpPr>
          <p:nvPr>
            <p:ph idx="1"/>
          </p:nvPr>
        </p:nvSpPr>
        <p:spPr/>
        <p:txBody>
          <a:bodyPr>
            <a:normAutofit fontScale="92500" lnSpcReduction="20000"/>
          </a:bodyPr>
          <a:lstStyle/>
          <a:p>
            <a:r>
              <a:rPr lang="en-US" dirty="0"/>
              <a:t>Too vague or too large</a:t>
            </a:r>
          </a:p>
          <a:p>
            <a:pPr lvl="1"/>
            <a:r>
              <a:rPr lang="en-US" b="1" u="sng" dirty="0"/>
              <a:t>Example</a:t>
            </a:r>
            <a:r>
              <a:rPr lang="en-US" dirty="0"/>
              <a:t>: </a:t>
            </a:r>
            <a:r>
              <a:rPr lang="en-US" i="1" dirty="0">
                <a:solidFill>
                  <a:schemeClr val="accent5"/>
                </a:solidFill>
              </a:rPr>
              <a:t>Customer satisfaction is an all-time low</a:t>
            </a:r>
          </a:p>
          <a:p>
            <a:pPr lvl="1"/>
            <a:r>
              <a:rPr lang="en-US" b="1" u="sng" dirty="0"/>
              <a:t>Remedy</a:t>
            </a:r>
            <a:r>
              <a:rPr lang="en-US" dirty="0"/>
              <a:t>: Redefine the problem so that it is clear and concise, can be easily validated by the stakeholders and will better focus the scope of the CEDAC project.</a:t>
            </a:r>
          </a:p>
          <a:p>
            <a:pPr lvl="1"/>
            <a:r>
              <a:rPr lang="en-US" b="1" u="sng" dirty="0"/>
              <a:t>Better Example</a:t>
            </a:r>
            <a:r>
              <a:rPr lang="en-US" dirty="0"/>
              <a:t>: </a:t>
            </a:r>
            <a:r>
              <a:rPr lang="en-US" i="1" dirty="0">
                <a:solidFill>
                  <a:schemeClr val="accent5"/>
                </a:solidFill>
              </a:rPr>
              <a:t>The percentage of customer applications processed and decisioned within the 30 minute committed response time has fallen to 73% in the past month as measured by the Daily Response Time Report</a:t>
            </a:r>
          </a:p>
          <a:p>
            <a:r>
              <a:rPr lang="en-US" dirty="0"/>
              <a:t>Not specific enough</a:t>
            </a:r>
          </a:p>
          <a:p>
            <a:pPr lvl="1"/>
            <a:r>
              <a:rPr lang="en-US" b="1" u="sng" dirty="0"/>
              <a:t>Example</a:t>
            </a:r>
            <a:r>
              <a:rPr lang="en-US" dirty="0"/>
              <a:t>: </a:t>
            </a:r>
            <a:r>
              <a:rPr lang="en-US" i="1" dirty="0">
                <a:solidFill>
                  <a:schemeClr val="accent5"/>
                </a:solidFill>
              </a:rPr>
              <a:t>The Small Housing Cell has a 25% reject rate</a:t>
            </a:r>
          </a:p>
          <a:p>
            <a:pPr lvl="1"/>
            <a:r>
              <a:rPr lang="en-US" b="1" u="sng" dirty="0"/>
              <a:t>Remedy</a:t>
            </a:r>
            <a:r>
              <a:rPr lang="en-US" dirty="0"/>
              <a:t>: Narrow the problem to where the effect has specifically been observed to avoid a CEDAC scope that is larger than necessary.</a:t>
            </a:r>
          </a:p>
          <a:p>
            <a:pPr lvl="1"/>
            <a:r>
              <a:rPr lang="en-US" b="1" u="sng" dirty="0"/>
              <a:t>Better Example</a:t>
            </a:r>
            <a:r>
              <a:rPr lang="en-US" dirty="0"/>
              <a:t>: </a:t>
            </a:r>
            <a:r>
              <a:rPr lang="en-US" i="1" dirty="0">
                <a:solidFill>
                  <a:schemeClr val="accent5"/>
                </a:solidFill>
              </a:rPr>
              <a:t>The first grinding operation in Small Housing Cell has been experiencing a 25% reject rate in O.D. dimension on the 122A-1 product</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22</a:t>
            </a:fld>
            <a:endParaRPr lang="en-US"/>
          </a:p>
        </p:txBody>
      </p:sp>
      <p:grpSp>
        <p:nvGrpSpPr>
          <p:cNvPr id="4" name="Group 3">
            <a:extLst>
              <a:ext uri="{FF2B5EF4-FFF2-40B4-BE49-F238E27FC236}">
                <a16:creationId xmlns:a16="http://schemas.microsoft.com/office/drawing/2014/main" id="{0289B0DE-9474-301B-2074-77BD9BF52A76}"/>
              </a:ext>
            </a:extLst>
          </p:cNvPr>
          <p:cNvGrpSpPr/>
          <p:nvPr/>
        </p:nvGrpSpPr>
        <p:grpSpPr>
          <a:xfrm>
            <a:off x="838200" y="297639"/>
            <a:ext cx="4110990" cy="307138"/>
            <a:chOff x="838200" y="297639"/>
            <a:chExt cx="4110990" cy="307138"/>
          </a:xfrm>
        </p:grpSpPr>
        <p:grpSp>
          <p:nvGrpSpPr>
            <p:cNvPr id="6" name="Group 5">
              <a:extLst>
                <a:ext uri="{FF2B5EF4-FFF2-40B4-BE49-F238E27FC236}">
                  <a16:creationId xmlns:a16="http://schemas.microsoft.com/office/drawing/2014/main" id="{DC0546B3-074D-7E6C-296A-96FD3A1B82F1}"/>
                </a:ext>
              </a:extLst>
            </p:cNvPr>
            <p:cNvGrpSpPr/>
            <p:nvPr/>
          </p:nvGrpSpPr>
          <p:grpSpPr>
            <a:xfrm>
              <a:off x="838200" y="297639"/>
              <a:ext cx="1687517" cy="290657"/>
              <a:chOff x="838200" y="297639"/>
              <a:chExt cx="1687517" cy="290657"/>
            </a:xfrm>
          </p:grpSpPr>
          <p:sp>
            <p:nvSpPr>
              <p:cNvPr id="8" name="AutoShape 9">
                <a:extLst>
                  <a:ext uri="{FF2B5EF4-FFF2-40B4-BE49-F238E27FC236}">
                    <a16:creationId xmlns:a16="http://schemas.microsoft.com/office/drawing/2014/main" id="{0D741AA2-5D8B-488E-21B1-32374170227D}"/>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9" name="AutoShape 9">
                <a:extLst>
                  <a:ext uri="{FF2B5EF4-FFF2-40B4-BE49-F238E27FC236}">
                    <a16:creationId xmlns:a16="http://schemas.microsoft.com/office/drawing/2014/main" id="{8D64DE20-20F6-74B1-F444-04E5A0A4A090}"/>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10" name="Group 9">
                <a:extLst>
                  <a:ext uri="{FF2B5EF4-FFF2-40B4-BE49-F238E27FC236}">
                    <a16:creationId xmlns:a16="http://schemas.microsoft.com/office/drawing/2014/main" id="{DD8CF14A-3BBE-455D-6633-C1A8A19ECE4D}"/>
                  </a:ext>
                </a:extLst>
              </p:cNvPr>
              <p:cNvGrpSpPr/>
              <p:nvPr/>
            </p:nvGrpSpPr>
            <p:grpSpPr>
              <a:xfrm>
                <a:off x="838200" y="297639"/>
                <a:ext cx="1060167" cy="290657"/>
                <a:chOff x="826426" y="4041857"/>
                <a:chExt cx="1060167" cy="290657"/>
              </a:xfrm>
            </p:grpSpPr>
            <p:sp>
              <p:nvSpPr>
                <p:cNvPr id="11" name="AutoShape 9">
                  <a:extLst>
                    <a:ext uri="{FF2B5EF4-FFF2-40B4-BE49-F238E27FC236}">
                      <a16:creationId xmlns:a16="http://schemas.microsoft.com/office/drawing/2014/main" id="{41CB7AEE-DE58-A1DA-0C5B-0843320ABC55}"/>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2" name="AutoShape 11">
                  <a:extLst>
                    <a:ext uri="{FF2B5EF4-FFF2-40B4-BE49-F238E27FC236}">
                      <a16:creationId xmlns:a16="http://schemas.microsoft.com/office/drawing/2014/main" id="{80569925-DB97-C123-3607-806FFDFD2C26}"/>
                    </a:ext>
                  </a:extLst>
                </p:cNvPr>
                <p:cNvSpPr>
                  <a:spLocks noChangeArrowheads="1"/>
                </p:cNvSpPr>
                <p:nvPr/>
              </p:nvSpPr>
              <p:spPr bwMode="auto">
                <a:xfrm>
                  <a:off x="1140101" y="4041858"/>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3" name="AutoShape 10">
                  <a:extLst>
                    <a:ext uri="{FF2B5EF4-FFF2-40B4-BE49-F238E27FC236}">
                      <a16:creationId xmlns:a16="http://schemas.microsoft.com/office/drawing/2014/main" id="{A8399E4B-3899-FE51-3584-68ECFDA12936}"/>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7" name="TextBox 6">
              <a:extLst>
                <a:ext uri="{FF2B5EF4-FFF2-40B4-BE49-F238E27FC236}">
                  <a16:creationId xmlns:a16="http://schemas.microsoft.com/office/drawing/2014/main" id="{5276CF34-D824-1A90-0F4A-08F3695DE450}"/>
                </a:ext>
              </a:extLst>
            </p:cNvPr>
            <p:cNvSpPr txBox="1"/>
            <p:nvPr/>
          </p:nvSpPr>
          <p:spPr>
            <a:xfrm>
              <a:off x="2525717" y="313415"/>
              <a:ext cx="242347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CEDAC Problem Effect</a:t>
              </a:r>
            </a:p>
          </p:txBody>
        </p:sp>
      </p:grpSp>
    </p:spTree>
    <p:extLst>
      <p:ext uri="{BB962C8B-B14F-4D97-AF65-F5344CB8AC3E}">
        <p14:creationId xmlns:p14="http://schemas.microsoft.com/office/powerpoint/2010/main" val="186882429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noAutofit/>
          </a:bodyPr>
          <a:lstStyle/>
          <a:p>
            <a:r>
              <a:rPr lang="en-US" sz="3600" dirty="0"/>
              <a:t>Common Pitfalls in CEDAC Problem Statements</a:t>
            </a:r>
          </a:p>
        </p:txBody>
      </p:sp>
      <p:sp>
        <p:nvSpPr>
          <p:cNvPr id="3" name="Content Placeholder 2">
            <a:extLst>
              <a:ext uri="{FF2B5EF4-FFF2-40B4-BE49-F238E27FC236}">
                <a16:creationId xmlns:a16="http://schemas.microsoft.com/office/drawing/2014/main" id="{2AA7A201-AD05-6520-E140-CCF11E59E700}"/>
              </a:ext>
            </a:extLst>
          </p:cNvPr>
          <p:cNvSpPr>
            <a:spLocks noGrp="1"/>
          </p:cNvSpPr>
          <p:nvPr>
            <p:ph idx="1"/>
          </p:nvPr>
        </p:nvSpPr>
        <p:spPr/>
        <p:txBody>
          <a:bodyPr>
            <a:normAutofit fontScale="85000" lnSpcReduction="20000"/>
          </a:bodyPr>
          <a:lstStyle/>
          <a:p>
            <a:r>
              <a:rPr lang="en-US" dirty="0"/>
              <a:t>Problem identified as the absence of the solution</a:t>
            </a:r>
          </a:p>
          <a:p>
            <a:pPr lvl="1"/>
            <a:r>
              <a:rPr lang="en-US" b="1" u="sng" dirty="0"/>
              <a:t>Example</a:t>
            </a:r>
            <a:r>
              <a:rPr lang="en-US" dirty="0"/>
              <a:t>: </a:t>
            </a:r>
            <a:r>
              <a:rPr lang="en-US" i="1" dirty="0">
                <a:solidFill>
                  <a:schemeClr val="accent5"/>
                </a:solidFill>
              </a:rPr>
              <a:t>We don’t have good Project Management Software to track and manage our engineering projects</a:t>
            </a:r>
          </a:p>
          <a:p>
            <a:pPr lvl="1"/>
            <a:r>
              <a:rPr lang="en-US" b="1" u="sng" dirty="0"/>
              <a:t>Remedy</a:t>
            </a:r>
            <a:r>
              <a:rPr lang="en-US" dirty="0"/>
              <a:t>: If the embedded solution (e.g. new project management software) is really all that is needed, then don’t do CEDAC – just implement the solution. Otherwise, get away from the solution and restate the problem in terms of its effect.</a:t>
            </a:r>
          </a:p>
          <a:p>
            <a:pPr lvl="1"/>
            <a:r>
              <a:rPr lang="en-US" b="1" u="sng" dirty="0"/>
              <a:t>Better Example</a:t>
            </a:r>
            <a:r>
              <a:rPr lang="en-US" dirty="0"/>
              <a:t>: </a:t>
            </a:r>
            <a:r>
              <a:rPr lang="en-US" i="1" dirty="0">
                <a:solidFill>
                  <a:schemeClr val="accent5"/>
                </a:solidFill>
              </a:rPr>
              <a:t>80% of our engineering projects have had cost overruns by more than 20% and 60% have missed their delivery dates by at least a month</a:t>
            </a:r>
          </a:p>
          <a:p>
            <a:r>
              <a:rPr lang="en-US" dirty="0"/>
              <a:t>Root causes embedded in the Problem Statement</a:t>
            </a:r>
          </a:p>
          <a:p>
            <a:pPr lvl="1"/>
            <a:r>
              <a:rPr lang="en-US" b="1" u="sng" dirty="0"/>
              <a:t>Example</a:t>
            </a:r>
            <a:r>
              <a:rPr lang="en-US" dirty="0"/>
              <a:t>: </a:t>
            </a:r>
            <a:r>
              <a:rPr lang="en-US" i="1" dirty="0">
                <a:solidFill>
                  <a:schemeClr val="accent5"/>
                </a:solidFill>
              </a:rPr>
              <a:t>Poor maintenance practices are causing milling machine #4 to produce defects</a:t>
            </a:r>
          </a:p>
          <a:p>
            <a:pPr lvl="1"/>
            <a:r>
              <a:rPr lang="en-US" b="1" u="sng" dirty="0"/>
              <a:t>Remedy</a:t>
            </a:r>
            <a:r>
              <a:rPr lang="en-US" dirty="0"/>
              <a:t>: This is a hypothesis at best that will divert the CEDAC team from discovering other possibilities which may be the true root cause. Remove the causal reference and re-state the problem in terms of its effect.</a:t>
            </a:r>
          </a:p>
          <a:p>
            <a:pPr lvl="1"/>
            <a:r>
              <a:rPr lang="en-US" b="1" u="sng" dirty="0"/>
              <a:t>Better Example</a:t>
            </a:r>
            <a:r>
              <a:rPr lang="en-US" dirty="0"/>
              <a:t>: </a:t>
            </a:r>
            <a:r>
              <a:rPr lang="en-US" i="1" dirty="0">
                <a:solidFill>
                  <a:schemeClr val="accent5"/>
                </a:solidFill>
              </a:rPr>
              <a:t>The milling operation performed by milling machine #4 is experiencing a defect rate of 22% on the AB225-1 product</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23</a:t>
            </a:fld>
            <a:endParaRPr lang="en-US"/>
          </a:p>
        </p:txBody>
      </p:sp>
      <p:grpSp>
        <p:nvGrpSpPr>
          <p:cNvPr id="4" name="Group 3">
            <a:extLst>
              <a:ext uri="{FF2B5EF4-FFF2-40B4-BE49-F238E27FC236}">
                <a16:creationId xmlns:a16="http://schemas.microsoft.com/office/drawing/2014/main" id="{0289B0DE-9474-301B-2074-77BD9BF52A76}"/>
              </a:ext>
            </a:extLst>
          </p:cNvPr>
          <p:cNvGrpSpPr/>
          <p:nvPr/>
        </p:nvGrpSpPr>
        <p:grpSpPr>
          <a:xfrm>
            <a:off x="838200" y="297639"/>
            <a:ext cx="4110990" cy="307138"/>
            <a:chOff x="838200" y="297639"/>
            <a:chExt cx="4110990" cy="307138"/>
          </a:xfrm>
        </p:grpSpPr>
        <p:grpSp>
          <p:nvGrpSpPr>
            <p:cNvPr id="6" name="Group 5">
              <a:extLst>
                <a:ext uri="{FF2B5EF4-FFF2-40B4-BE49-F238E27FC236}">
                  <a16:creationId xmlns:a16="http://schemas.microsoft.com/office/drawing/2014/main" id="{DC0546B3-074D-7E6C-296A-96FD3A1B82F1}"/>
                </a:ext>
              </a:extLst>
            </p:cNvPr>
            <p:cNvGrpSpPr/>
            <p:nvPr/>
          </p:nvGrpSpPr>
          <p:grpSpPr>
            <a:xfrm>
              <a:off x="838200" y="297639"/>
              <a:ext cx="1687517" cy="290657"/>
              <a:chOff x="838200" y="297639"/>
              <a:chExt cx="1687517" cy="290657"/>
            </a:xfrm>
          </p:grpSpPr>
          <p:sp>
            <p:nvSpPr>
              <p:cNvPr id="8" name="AutoShape 9">
                <a:extLst>
                  <a:ext uri="{FF2B5EF4-FFF2-40B4-BE49-F238E27FC236}">
                    <a16:creationId xmlns:a16="http://schemas.microsoft.com/office/drawing/2014/main" id="{0D741AA2-5D8B-488E-21B1-32374170227D}"/>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9" name="AutoShape 9">
                <a:extLst>
                  <a:ext uri="{FF2B5EF4-FFF2-40B4-BE49-F238E27FC236}">
                    <a16:creationId xmlns:a16="http://schemas.microsoft.com/office/drawing/2014/main" id="{8D64DE20-20F6-74B1-F444-04E5A0A4A090}"/>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10" name="Group 9">
                <a:extLst>
                  <a:ext uri="{FF2B5EF4-FFF2-40B4-BE49-F238E27FC236}">
                    <a16:creationId xmlns:a16="http://schemas.microsoft.com/office/drawing/2014/main" id="{DD8CF14A-3BBE-455D-6633-C1A8A19ECE4D}"/>
                  </a:ext>
                </a:extLst>
              </p:cNvPr>
              <p:cNvGrpSpPr/>
              <p:nvPr/>
            </p:nvGrpSpPr>
            <p:grpSpPr>
              <a:xfrm>
                <a:off x="838200" y="297639"/>
                <a:ext cx="1060167" cy="290657"/>
                <a:chOff x="826426" y="4041857"/>
                <a:chExt cx="1060167" cy="290657"/>
              </a:xfrm>
            </p:grpSpPr>
            <p:sp>
              <p:nvSpPr>
                <p:cNvPr id="11" name="AutoShape 9">
                  <a:extLst>
                    <a:ext uri="{FF2B5EF4-FFF2-40B4-BE49-F238E27FC236}">
                      <a16:creationId xmlns:a16="http://schemas.microsoft.com/office/drawing/2014/main" id="{41CB7AEE-DE58-A1DA-0C5B-0843320ABC55}"/>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2" name="AutoShape 11">
                  <a:extLst>
                    <a:ext uri="{FF2B5EF4-FFF2-40B4-BE49-F238E27FC236}">
                      <a16:creationId xmlns:a16="http://schemas.microsoft.com/office/drawing/2014/main" id="{80569925-DB97-C123-3607-806FFDFD2C26}"/>
                    </a:ext>
                  </a:extLst>
                </p:cNvPr>
                <p:cNvSpPr>
                  <a:spLocks noChangeArrowheads="1"/>
                </p:cNvSpPr>
                <p:nvPr/>
              </p:nvSpPr>
              <p:spPr bwMode="auto">
                <a:xfrm>
                  <a:off x="1140101" y="4041858"/>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3" name="AutoShape 10">
                  <a:extLst>
                    <a:ext uri="{FF2B5EF4-FFF2-40B4-BE49-F238E27FC236}">
                      <a16:creationId xmlns:a16="http://schemas.microsoft.com/office/drawing/2014/main" id="{A8399E4B-3899-FE51-3584-68ECFDA12936}"/>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7" name="TextBox 6">
              <a:extLst>
                <a:ext uri="{FF2B5EF4-FFF2-40B4-BE49-F238E27FC236}">
                  <a16:creationId xmlns:a16="http://schemas.microsoft.com/office/drawing/2014/main" id="{5276CF34-D824-1A90-0F4A-08F3695DE450}"/>
                </a:ext>
              </a:extLst>
            </p:cNvPr>
            <p:cNvSpPr txBox="1"/>
            <p:nvPr/>
          </p:nvSpPr>
          <p:spPr>
            <a:xfrm>
              <a:off x="2525717" y="313415"/>
              <a:ext cx="242347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CEDAC Problem Effect</a:t>
              </a:r>
            </a:p>
          </p:txBody>
        </p:sp>
      </p:grpSp>
    </p:spTree>
    <p:extLst>
      <p:ext uri="{BB962C8B-B14F-4D97-AF65-F5344CB8AC3E}">
        <p14:creationId xmlns:p14="http://schemas.microsoft.com/office/powerpoint/2010/main" val="308266143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noAutofit/>
          </a:bodyPr>
          <a:lstStyle/>
          <a:p>
            <a:r>
              <a:rPr lang="en-US" sz="3600" dirty="0"/>
              <a:t>Common Pitfalls in CEDAC Problem Statements</a:t>
            </a:r>
          </a:p>
        </p:txBody>
      </p:sp>
      <p:sp>
        <p:nvSpPr>
          <p:cNvPr id="3" name="Content Placeholder 2">
            <a:extLst>
              <a:ext uri="{FF2B5EF4-FFF2-40B4-BE49-F238E27FC236}">
                <a16:creationId xmlns:a16="http://schemas.microsoft.com/office/drawing/2014/main" id="{2AA7A201-AD05-6520-E140-CCF11E59E700}"/>
              </a:ext>
            </a:extLst>
          </p:cNvPr>
          <p:cNvSpPr>
            <a:spLocks noGrp="1"/>
          </p:cNvSpPr>
          <p:nvPr>
            <p:ph idx="1"/>
          </p:nvPr>
        </p:nvSpPr>
        <p:spPr/>
        <p:txBody>
          <a:bodyPr>
            <a:normAutofit/>
          </a:bodyPr>
          <a:lstStyle/>
          <a:p>
            <a:r>
              <a:rPr lang="en-US" dirty="0"/>
              <a:t>Multiple problems (effects)</a:t>
            </a:r>
          </a:p>
          <a:p>
            <a:pPr lvl="1"/>
            <a:r>
              <a:rPr lang="en-US" b="1" u="sng" dirty="0"/>
              <a:t>Example</a:t>
            </a:r>
            <a:r>
              <a:rPr lang="en-US" dirty="0"/>
              <a:t>: </a:t>
            </a:r>
            <a:r>
              <a:rPr lang="en-US" i="1" dirty="0">
                <a:solidFill>
                  <a:schemeClr val="accent5"/>
                </a:solidFill>
              </a:rPr>
              <a:t>Employee turnover in the warehouse has risen to 28% over the last year causing inventory accuracy to fall to 73%</a:t>
            </a:r>
          </a:p>
          <a:p>
            <a:pPr lvl="1"/>
            <a:r>
              <a:rPr lang="en-US" b="1" u="sng" dirty="0"/>
              <a:t>Remedy</a:t>
            </a:r>
            <a:r>
              <a:rPr lang="en-US" dirty="0"/>
              <a:t>: While these two problems may seem to be related, they are really separate problems with different solutions (countermeasures). Separate into two CEDAC projects with separate problem statements. This also removes the causal relationship that is implied.</a:t>
            </a:r>
          </a:p>
          <a:p>
            <a:pPr lvl="1"/>
            <a:r>
              <a:rPr lang="en-US" b="1" u="sng" dirty="0"/>
              <a:t>Better Example (CEDAC #1)</a:t>
            </a:r>
            <a:r>
              <a:rPr lang="en-US" dirty="0"/>
              <a:t>: </a:t>
            </a:r>
            <a:r>
              <a:rPr lang="en-US" i="1" dirty="0">
                <a:solidFill>
                  <a:schemeClr val="accent5"/>
                </a:solidFill>
              </a:rPr>
              <a:t>Employee turnover in the warehouse has risen to 28% over the last year</a:t>
            </a:r>
          </a:p>
          <a:p>
            <a:pPr lvl="1"/>
            <a:r>
              <a:rPr lang="en-US" b="1" u="sng" dirty="0"/>
              <a:t>Better Example (CEDAC #2)</a:t>
            </a:r>
            <a:r>
              <a:rPr lang="en-US" dirty="0"/>
              <a:t>: </a:t>
            </a:r>
            <a:r>
              <a:rPr lang="en-US" i="1" dirty="0">
                <a:solidFill>
                  <a:schemeClr val="accent5"/>
                </a:solidFill>
              </a:rPr>
              <a:t>Inventory accuracy in the warehouse has fallen to 73% as measured by daily cycle count reports</a:t>
            </a:r>
          </a:p>
          <a:p>
            <a:endParaRPr lang="en-US" dirty="0"/>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24</a:t>
            </a:fld>
            <a:endParaRPr lang="en-US"/>
          </a:p>
        </p:txBody>
      </p:sp>
      <p:grpSp>
        <p:nvGrpSpPr>
          <p:cNvPr id="4" name="Group 3">
            <a:extLst>
              <a:ext uri="{FF2B5EF4-FFF2-40B4-BE49-F238E27FC236}">
                <a16:creationId xmlns:a16="http://schemas.microsoft.com/office/drawing/2014/main" id="{0289B0DE-9474-301B-2074-77BD9BF52A76}"/>
              </a:ext>
            </a:extLst>
          </p:cNvPr>
          <p:cNvGrpSpPr/>
          <p:nvPr/>
        </p:nvGrpSpPr>
        <p:grpSpPr>
          <a:xfrm>
            <a:off x="838200" y="297639"/>
            <a:ext cx="4110990" cy="307138"/>
            <a:chOff x="838200" y="297639"/>
            <a:chExt cx="4110990" cy="307138"/>
          </a:xfrm>
        </p:grpSpPr>
        <p:grpSp>
          <p:nvGrpSpPr>
            <p:cNvPr id="6" name="Group 5">
              <a:extLst>
                <a:ext uri="{FF2B5EF4-FFF2-40B4-BE49-F238E27FC236}">
                  <a16:creationId xmlns:a16="http://schemas.microsoft.com/office/drawing/2014/main" id="{DC0546B3-074D-7E6C-296A-96FD3A1B82F1}"/>
                </a:ext>
              </a:extLst>
            </p:cNvPr>
            <p:cNvGrpSpPr/>
            <p:nvPr/>
          </p:nvGrpSpPr>
          <p:grpSpPr>
            <a:xfrm>
              <a:off x="838200" y="297639"/>
              <a:ext cx="1687517" cy="290657"/>
              <a:chOff x="838200" y="297639"/>
              <a:chExt cx="1687517" cy="290657"/>
            </a:xfrm>
          </p:grpSpPr>
          <p:sp>
            <p:nvSpPr>
              <p:cNvPr id="8" name="AutoShape 9">
                <a:extLst>
                  <a:ext uri="{FF2B5EF4-FFF2-40B4-BE49-F238E27FC236}">
                    <a16:creationId xmlns:a16="http://schemas.microsoft.com/office/drawing/2014/main" id="{0D741AA2-5D8B-488E-21B1-32374170227D}"/>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9" name="AutoShape 9">
                <a:extLst>
                  <a:ext uri="{FF2B5EF4-FFF2-40B4-BE49-F238E27FC236}">
                    <a16:creationId xmlns:a16="http://schemas.microsoft.com/office/drawing/2014/main" id="{8D64DE20-20F6-74B1-F444-04E5A0A4A090}"/>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10" name="Group 9">
                <a:extLst>
                  <a:ext uri="{FF2B5EF4-FFF2-40B4-BE49-F238E27FC236}">
                    <a16:creationId xmlns:a16="http://schemas.microsoft.com/office/drawing/2014/main" id="{DD8CF14A-3BBE-455D-6633-C1A8A19ECE4D}"/>
                  </a:ext>
                </a:extLst>
              </p:cNvPr>
              <p:cNvGrpSpPr/>
              <p:nvPr/>
            </p:nvGrpSpPr>
            <p:grpSpPr>
              <a:xfrm>
                <a:off x="838200" y="297639"/>
                <a:ext cx="1060167" cy="290657"/>
                <a:chOff x="826426" y="4041857"/>
                <a:chExt cx="1060167" cy="290657"/>
              </a:xfrm>
            </p:grpSpPr>
            <p:sp>
              <p:nvSpPr>
                <p:cNvPr id="11" name="AutoShape 9">
                  <a:extLst>
                    <a:ext uri="{FF2B5EF4-FFF2-40B4-BE49-F238E27FC236}">
                      <a16:creationId xmlns:a16="http://schemas.microsoft.com/office/drawing/2014/main" id="{41CB7AEE-DE58-A1DA-0C5B-0843320ABC55}"/>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2" name="AutoShape 11">
                  <a:extLst>
                    <a:ext uri="{FF2B5EF4-FFF2-40B4-BE49-F238E27FC236}">
                      <a16:creationId xmlns:a16="http://schemas.microsoft.com/office/drawing/2014/main" id="{80569925-DB97-C123-3607-806FFDFD2C26}"/>
                    </a:ext>
                  </a:extLst>
                </p:cNvPr>
                <p:cNvSpPr>
                  <a:spLocks noChangeArrowheads="1"/>
                </p:cNvSpPr>
                <p:nvPr/>
              </p:nvSpPr>
              <p:spPr bwMode="auto">
                <a:xfrm>
                  <a:off x="1140101" y="4041858"/>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3" name="AutoShape 10">
                  <a:extLst>
                    <a:ext uri="{FF2B5EF4-FFF2-40B4-BE49-F238E27FC236}">
                      <a16:creationId xmlns:a16="http://schemas.microsoft.com/office/drawing/2014/main" id="{A8399E4B-3899-FE51-3584-68ECFDA12936}"/>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7" name="TextBox 6">
              <a:extLst>
                <a:ext uri="{FF2B5EF4-FFF2-40B4-BE49-F238E27FC236}">
                  <a16:creationId xmlns:a16="http://schemas.microsoft.com/office/drawing/2014/main" id="{5276CF34-D824-1A90-0F4A-08F3695DE450}"/>
                </a:ext>
              </a:extLst>
            </p:cNvPr>
            <p:cNvSpPr txBox="1"/>
            <p:nvPr/>
          </p:nvSpPr>
          <p:spPr>
            <a:xfrm>
              <a:off x="2525717" y="313415"/>
              <a:ext cx="242347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CEDAC Problem Effect</a:t>
              </a:r>
            </a:p>
          </p:txBody>
        </p:sp>
      </p:grpSp>
    </p:spTree>
    <p:extLst>
      <p:ext uri="{BB962C8B-B14F-4D97-AF65-F5344CB8AC3E}">
        <p14:creationId xmlns:p14="http://schemas.microsoft.com/office/powerpoint/2010/main" val="389699910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8D9ED7-5CF9-6F4B-B4A8-2DBF8D852A20}"/>
              </a:ext>
            </a:extLst>
          </p:cNvPr>
          <p:cNvSpPr>
            <a:spLocks noGrp="1"/>
          </p:cNvSpPr>
          <p:nvPr>
            <p:ph type="title"/>
          </p:nvPr>
        </p:nvSpPr>
        <p:spPr/>
        <p:txBody>
          <a:bodyPr>
            <a:noAutofit/>
          </a:bodyPr>
          <a:lstStyle/>
          <a:p>
            <a:r>
              <a:rPr lang="fr-FR" sz="2800" dirty="0">
                <a:latin typeface="Roboto Medium"/>
                <a:ea typeface="Roboto Medium"/>
                <a:cs typeface="Roboto Medium"/>
              </a:rPr>
              <a:t>CEDAC </a:t>
            </a:r>
            <a:r>
              <a:rPr lang="fr-FR" sz="2800" dirty="0" err="1">
                <a:latin typeface="Roboto Medium"/>
                <a:ea typeface="Roboto Medium"/>
                <a:cs typeface="Roboto Medium"/>
              </a:rPr>
              <a:t>Step</a:t>
            </a:r>
            <a:r>
              <a:rPr lang="fr-FR" sz="2800" dirty="0">
                <a:latin typeface="Roboto Medium"/>
                <a:ea typeface="Roboto Medium"/>
                <a:cs typeface="Roboto Medium"/>
              </a:rPr>
              <a:t> 1 </a:t>
            </a:r>
            <a:r>
              <a:rPr lang="fr-FR" sz="2800" dirty="0" err="1">
                <a:latin typeface="Roboto Medium"/>
                <a:ea typeface="Roboto Medium"/>
                <a:cs typeface="Roboto Medium"/>
              </a:rPr>
              <a:t>Exercise</a:t>
            </a:r>
            <a:r>
              <a:rPr lang="fr-FR" sz="2800" dirty="0">
                <a:latin typeface="Roboto Medium"/>
                <a:ea typeface="Roboto Medium"/>
                <a:cs typeface="Roboto Medium"/>
              </a:rPr>
              <a:t>: Critique </a:t>
            </a:r>
            <a:r>
              <a:rPr lang="fr-FR" sz="2800" dirty="0" err="1">
                <a:latin typeface="Roboto Medium"/>
                <a:ea typeface="Roboto Medium"/>
                <a:cs typeface="Roboto Medium"/>
              </a:rPr>
              <a:t>sample</a:t>
            </a:r>
            <a:r>
              <a:rPr lang="fr-FR" sz="2800" dirty="0">
                <a:latin typeface="Roboto Medium"/>
                <a:ea typeface="Roboto Medium"/>
                <a:cs typeface="Roboto Medium"/>
              </a:rPr>
              <a:t> </a:t>
            </a:r>
            <a:r>
              <a:rPr lang="fr-FR" sz="2800" dirty="0" err="1">
                <a:latin typeface="Roboto Medium"/>
                <a:ea typeface="Roboto Medium"/>
                <a:cs typeface="Roboto Medium"/>
              </a:rPr>
              <a:t>problem</a:t>
            </a:r>
            <a:r>
              <a:rPr lang="fr-FR" sz="2800" dirty="0">
                <a:latin typeface="Roboto Medium"/>
                <a:ea typeface="Roboto Medium"/>
                <a:cs typeface="Roboto Medium"/>
              </a:rPr>
              <a:t> </a:t>
            </a:r>
            <a:r>
              <a:rPr lang="fr-FR" sz="2800" dirty="0" err="1">
                <a:latin typeface="Roboto Medium"/>
                <a:ea typeface="Roboto Medium"/>
                <a:cs typeface="Roboto Medium"/>
              </a:rPr>
              <a:t>statements</a:t>
            </a:r>
            <a:endParaRPr lang="en-US" sz="2800" dirty="0">
              <a:latin typeface="Roboto Medium"/>
              <a:ea typeface="Roboto Medium"/>
              <a:cs typeface="Roboto Medium"/>
            </a:endParaRPr>
          </a:p>
        </p:txBody>
      </p:sp>
      <p:sp>
        <p:nvSpPr>
          <p:cNvPr id="5" name="Slide Number Placeholder 4">
            <a:extLst>
              <a:ext uri="{FF2B5EF4-FFF2-40B4-BE49-F238E27FC236}">
                <a16:creationId xmlns:a16="http://schemas.microsoft.com/office/drawing/2014/main" id="{EFB3C390-D307-7FFC-DADE-918C5180FE01}"/>
              </a:ext>
            </a:extLst>
          </p:cNvPr>
          <p:cNvSpPr>
            <a:spLocks noGrp="1"/>
          </p:cNvSpPr>
          <p:nvPr>
            <p:ph type="sldNum" sz="quarter" idx="4294967295"/>
          </p:nvPr>
        </p:nvSpPr>
        <p:spPr>
          <a:xfrm>
            <a:off x="8595078" y="6333148"/>
            <a:ext cx="2743200" cy="365125"/>
          </a:xfrm>
          <a:prstGeom prst="rect">
            <a:avLst/>
          </a:prstGeom>
        </p:spPr>
        <p:txBody>
          <a:bodyPr/>
          <a:lstStyle/>
          <a:p>
            <a:fld id="{CC6D4273-7FC1-0947-B9FE-19CB3C0D1FB6}" type="slidenum">
              <a:rPr lang="en-US" smtClean="0"/>
              <a:t>25</a:t>
            </a:fld>
            <a:endParaRPr lang="en-US"/>
          </a:p>
        </p:txBody>
      </p:sp>
      <p:sp>
        <p:nvSpPr>
          <p:cNvPr id="11" name="Rectangle 10">
            <a:extLst>
              <a:ext uri="{FF2B5EF4-FFF2-40B4-BE49-F238E27FC236}">
                <a16:creationId xmlns:a16="http://schemas.microsoft.com/office/drawing/2014/main" id="{3A9506B7-1A57-1322-5AB5-DA8522EE7602}"/>
              </a:ext>
            </a:extLst>
          </p:cNvPr>
          <p:cNvSpPr/>
          <p:nvPr/>
        </p:nvSpPr>
        <p:spPr>
          <a:xfrm>
            <a:off x="838200" y="2374598"/>
            <a:ext cx="9722342" cy="379591"/>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Given sample problem statements, critique and rewrite if necessary each problem statement. </a:t>
            </a:r>
          </a:p>
        </p:txBody>
      </p:sp>
      <p:sp>
        <p:nvSpPr>
          <p:cNvPr id="12" name="TextBox 11">
            <a:extLst>
              <a:ext uri="{FF2B5EF4-FFF2-40B4-BE49-F238E27FC236}">
                <a16:creationId xmlns:a16="http://schemas.microsoft.com/office/drawing/2014/main" id="{A4ECB5F6-F271-06CD-2A6A-E79F5245CD15}"/>
              </a:ext>
            </a:extLst>
          </p:cNvPr>
          <p:cNvSpPr txBox="1"/>
          <p:nvPr/>
        </p:nvSpPr>
        <p:spPr>
          <a:xfrm>
            <a:off x="838200" y="1767653"/>
            <a:ext cx="1603003"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Objective</a:t>
            </a:r>
            <a:endParaRPr kumimoji="0" lang="en-US" sz="56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endParaRPr>
          </a:p>
        </p:txBody>
      </p:sp>
      <p:sp>
        <p:nvSpPr>
          <p:cNvPr id="13" name="TextBox 12">
            <a:extLst>
              <a:ext uri="{FF2B5EF4-FFF2-40B4-BE49-F238E27FC236}">
                <a16:creationId xmlns:a16="http://schemas.microsoft.com/office/drawing/2014/main" id="{EA94F381-2B48-C111-2724-726B0390290F}"/>
              </a:ext>
            </a:extLst>
          </p:cNvPr>
          <p:cNvSpPr txBox="1"/>
          <p:nvPr/>
        </p:nvSpPr>
        <p:spPr>
          <a:xfrm>
            <a:off x="838200" y="2952549"/>
            <a:ext cx="2022990"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Instructions</a:t>
            </a:r>
            <a:endParaRPr kumimoji="0" lang="en-US" sz="56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endParaRPr>
          </a:p>
        </p:txBody>
      </p:sp>
      <p:sp>
        <p:nvSpPr>
          <p:cNvPr id="14" name="Rectangle 13">
            <a:extLst>
              <a:ext uri="{FF2B5EF4-FFF2-40B4-BE49-F238E27FC236}">
                <a16:creationId xmlns:a16="http://schemas.microsoft.com/office/drawing/2014/main" id="{82677B47-98C9-F770-8D4E-7D91CF39F5A7}"/>
              </a:ext>
            </a:extLst>
          </p:cNvPr>
          <p:cNvSpPr/>
          <p:nvPr/>
        </p:nvSpPr>
        <p:spPr>
          <a:xfrm>
            <a:off x="818941" y="3486027"/>
            <a:ext cx="4419809" cy="2318583"/>
          </a:xfrm>
          <a:prstGeom prst="rect">
            <a:avLst/>
          </a:prstGeom>
          <a:solidFill>
            <a:schemeClr val="bg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In pairs, critique each of the problem statements on the following slide against the criteria outlined on the previous slides. </a:t>
            </a:r>
          </a:p>
          <a:p>
            <a:pPr marL="0" marR="0" indent="0" algn="l" defTabSz="584200" rtl="0" fontAlgn="auto" latinLnBrk="0" hangingPunct="0">
              <a:lnSpc>
                <a:spcPct val="100000"/>
              </a:lnSpc>
              <a:spcBef>
                <a:spcPts val="0"/>
              </a:spcBef>
              <a:spcAft>
                <a:spcPts val="0"/>
              </a:spcAft>
              <a:buClrTx/>
              <a:buSzTx/>
              <a:buFontTx/>
              <a:buNone/>
              <a:tabLst/>
            </a:pPr>
            <a:r>
              <a:rPr kumimoji="0" lang="en-US"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If necessary, re-write the problem statements to make more effective. </a:t>
            </a:r>
          </a:p>
        </p:txBody>
      </p:sp>
      <p:sp>
        <p:nvSpPr>
          <p:cNvPr id="15" name="TextBox 14">
            <a:extLst>
              <a:ext uri="{FF2B5EF4-FFF2-40B4-BE49-F238E27FC236}">
                <a16:creationId xmlns:a16="http://schemas.microsoft.com/office/drawing/2014/main" id="{90914B3B-0CE2-FDFF-2FB9-215236316256}"/>
              </a:ext>
            </a:extLst>
          </p:cNvPr>
          <p:cNvSpPr txBox="1"/>
          <p:nvPr/>
        </p:nvSpPr>
        <p:spPr>
          <a:xfrm>
            <a:off x="5879250" y="2952548"/>
            <a:ext cx="2968761"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Time to Complete</a:t>
            </a:r>
          </a:p>
        </p:txBody>
      </p:sp>
      <p:sp>
        <p:nvSpPr>
          <p:cNvPr id="16" name="TextBox 15">
            <a:extLst>
              <a:ext uri="{FF2B5EF4-FFF2-40B4-BE49-F238E27FC236}">
                <a16:creationId xmlns:a16="http://schemas.microsoft.com/office/drawing/2014/main" id="{6285230A-07BD-F376-25CA-177CC1D4233F}"/>
              </a:ext>
            </a:extLst>
          </p:cNvPr>
          <p:cNvSpPr txBox="1"/>
          <p:nvPr/>
        </p:nvSpPr>
        <p:spPr>
          <a:xfrm>
            <a:off x="5879250" y="4136472"/>
            <a:ext cx="1888337"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Deliverable</a:t>
            </a:r>
          </a:p>
        </p:txBody>
      </p:sp>
      <p:sp>
        <p:nvSpPr>
          <p:cNvPr id="17" name="Rectangle 16">
            <a:extLst>
              <a:ext uri="{FF2B5EF4-FFF2-40B4-BE49-F238E27FC236}">
                <a16:creationId xmlns:a16="http://schemas.microsoft.com/office/drawing/2014/main" id="{67530399-8FDB-50CD-E8FD-8E286DE1A2EA}"/>
              </a:ext>
            </a:extLst>
          </p:cNvPr>
          <p:cNvSpPr/>
          <p:nvPr/>
        </p:nvSpPr>
        <p:spPr>
          <a:xfrm>
            <a:off x="5879250" y="3496996"/>
            <a:ext cx="4681292" cy="471924"/>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584200" hangingPunct="0"/>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15 minutes</a:t>
            </a:r>
          </a:p>
        </p:txBody>
      </p:sp>
      <p:sp>
        <p:nvSpPr>
          <p:cNvPr id="18" name="Rectangle 17">
            <a:extLst>
              <a:ext uri="{FF2B5EF4-FFF2-40B4-BE49-F238E27FC236}">
                <a16:creationId xmlns:a16="http://schemas.microsoft.com/office/drawing/2014/main" id="{84DF6BD6-975A-3700-5E69-322EFF4F722E}"/>
              </a:ext>
            </a:extLst>
          </p:cNvPr>
          <p:cNvSpPr/>
          <p:nvPr/>
        </p:nvSpPr>
        <p:spPr>
          <a:xfrm>
            <a:off x="5879250" y="4665559"/>
            <a:ext cx="4681292" cy="841256"/>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584200" hangingPunct="0"/>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Report out on evaluation for each</a:t>
            </a:r>
            <a:b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br>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problem statement. </a:t>
            </a:r>
          </a:p>
        </p:txBody>
      </p:sp>
      <p:grpSp>
        <p:nvGrpSpPr>
          <p:cNvPr id="3" name="Group 2">
            <a:extLst>
              <a:ext uri="{FF2B5EF4-FFF2-40B4-BE49-F238E27FC236}">
                <a16:creationId xmlns:a16="http://schemas.microsoft.com/office/drawing/2014/main" id="{16865E1C-D685-A7AE-218A-FD1622AE7E83}"/>
              </a:ext>
            </a:extLst>
          </p:cNvPr>
          <p:cNvGrpSpPr/>
          <p:nvPr/>
        </p:nvGrpSpPr>
        <p:grpSpPr>
          <a:xfrm>
            <a:off x="838200" y="297639"/>
            <a:ext cx="4110990" cy="307138"/>
            <a:chOff x="838200" y="297639"/>
            <a:chExt cx="4110990" cy="307138"/>
          </a:xfrm>
        </p:grpSpPr>
        <p:grpSp>
          <p:nvGrpSpPr>
            <p:cNvPr id="4" name="Group 3">
              <a:extLst>
                <a:ext uri="{FF2B5EF4-FFF2-40B4-BE49-F238E27FC236}">
                  <a16:creationId xmlns:a16="http://schemas.microsoft.com/office/drawing/2014/main" id="{6BB102DA-FCF3-B138-1B68-6EA5538C23B1}"/>
                </a:ext>
              </a:extLst>
            </p:cNvPr>
            <p:cNvGrpSpPr/>
            <p:nvPr/>
          </p:nvGrpSpPr>
          <p:grpSpPr>
            <a:xfrm>
              <a:off x="838200" y="297639"/>
              <a:ext cx="1687517" cy="290657"/>
              <a:chOff x="838200" y="297639"/>
              <a:chExt cx="1687517" cy="290657"/>
            </a:xfrm>
          </p:grpSpPr>
          <p:sp>
            <p:nvSpPr>
              <p:cNvPr id="7" name="AutoShape 9">
                <a:extLst>
                  <a:ext uri="{FF2B5EF4-FFF2-40B4-BE49-F238E27FC236}">
                    <a16:creationId xmlns:a16="http://schemas.microsoft.com/office/drawing/2014/main" id="{9133B7B8-E188-A93F-2A69-935D3C833A1C}"/>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8" name="AutoShape 9">
                <a:extLst>
                  <a:ext uri="{FF2B5EF4-FFF2-40B4-BE49-F238E27FC236}">
                    <a16:creationId xmlns:a16="http://schemas.microsoft.com/office/drawing/2014/main" id="{708131C8-7F96-BA0D-3959-FCBFC1951580}"/>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9" name="Group 8">
                <a:extLst>
                  <a:ext uri="{FF2B5EF4-FFF2-40B4-BE49-F238E27FC236}">
                    <a16:creationId xmlns:a16="http://schemas.microsoft.com/office/drawing/2014/main" id="{D6B2AC4C-98CB-F0E1-57AA-ECDFBB42F4FA}"/>
                  </a:ext>
                </a:extLst>
              </p:cNvPr>
              <p:cNvGrpSpPr/>
              <p:nvPr/>
            </p:nvGrpSpPr>
            <p:grpSpPr>
              <a:xfrm>
                <a:off x="838200" y="297639"/>
                <a:ext cx="1060167" cy="290657"/>
                <a:chOff x="826426" y="4041857"/>
                <a:chExt cx="1060167" cy="290657"/>
              </a:xfrm>
            </p:grpSpPr>
            <p:sp>
              <p:nvSpPr>
                <p:cNvPr id="10" name="AutoShape 9">
                  <a:extLst>
                    <a:ext uri="{FF2B5EF4-FFF2-40B4-BE49-F238E27FC236}">
                      <a16:creationId xmlns:a16="http://schemas.microsoft.com/office/drawing/2014/main" id="{06369BCD-F6D1-9F46-89F5-52DCBD67DC98}"/>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9" name="AutoShape 11">
                  <a:extLst>
                    <a:ext uri="{FF2B5EF4-FFF2-40B4-BE49-F238E27FC236}">
                      <a16:creationId xmlns:a16="http://schemas.microsoft.com/office/drawing/2014/main" id="{E2194F7C-BED4-C919-83C3-72B34F4AFA3D}"/>
                    </a:ext>
                  </a:extLst>
                </p:cNvPr>
                <p:cNvSpPr>
                  <a:spLocks noChangeArrowheads="1"/>
                </p:cNvSpPr>
                <p:nvPr/>
              </p:nvSpPr>
              <p:spPr bwMode="auto">
                <a:xfrm>
                  <a:off x="1140101" y="4041858"/>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0" name="AutoShape 10">
                  <a:extLst>
                    <a:ext uri="{FF2B5EF4-FFF2-40B4-BE49-F238E27FC236}">
                      <a16:creationId xmlns:a16="http://schemas.microsoft.com/office/drawing/2014/main" id="{C926CCA7-ACA1-2AB5-3AB5-77D740254E56}"/>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6" name="TextBox 5">
              <a:extLst>
                <a:ext uri="{FF2B5EF4-FFF2-40B4-BE49-F238E27FC236}">
                  <a16:creationId xmlns:a16="http://schemas.microsoft.com/office/drawing/2014/main" id="{FDE6247A-5BF4-CA14-6371-138C6CAE2601}"/>
                </a:ext>
              </a:extLst>
            </p:cNvPr>
            <p:cNvSpPr txBox="1"/>
            <p:nvPr/>
          </p:nvSpPr>
          <p:spPr>
            <a:xfrm>
              <a:off x="2525717" y="313415"/>
              <a:ext cx="242347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CEDAC Problem Effect</a:t>
              </a:r>
            </a:p>
          </p:txBody>
        </p:sp>
      </p:grpSp>
    </p:spTree>
    <p:extLst>
      <p:ext uri="{BB962C8B-B14F-4D97-AF65-F5344CB8AC3E}">
        <p14:creationId xmlns:p14="http://schemas.microsoft.com/office/powerpoint/2010/main" val="200947495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lstStyle/>
          <a:p>
            <a:r>
              <a:rPr lang="en-US" dirty="0"/>
              <a:t>Sample Problem Statements</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26</a:t>
            </a:fld>
            <a:endParaRPr lang="en-US"/>
          </a:p>
        </p:txBody>
      </p:sp>
      <p:graphicFrame>
        <p:nvGraphicFramePr>
          <p:cNvPr id="3" name="Group 34">
            <a:extLst>
              <a:ext uri="{FF2B5EF4-FFF2-40B4-BE49-F238E27FC236}">
                <a16:creationId xmlns:a16="http://schemas.microsoft.com/office/drawing/2014/main" id="{8903D1A0-9AF7-63D9-2123-FC35A2B7133A}"/>
              </a:ext>
            </a:extLst>
          </p:cNvPr>
          <p:cNvGraphicFramePr>
            <a:graphicFrameLocks noGrp="1"/>
          </p:cNvGraphicFramePr>
          <p:nvPr>
            <p:extLst>
              <p:ext uri="{D42A27DB-BD31-4B8C-83A1-F6EECF244321}">
                <p14:modId xmlns:p14="http://schemas.microsoft.com/office/powerpoint/2010/main" val="3645566651"/>
              </p:ext>
            </p:extLst>
          </p:nvPr>
        </p:nvGraphicFramePr>
        <p:xfrm>
          <a:off x="1419853" y="1902863"/>
          <a:ext cx="9352295" cy="4166820"/>
        </p:xfrm>
        <a:graphic>
          <a:graphicData uri="http://schemas.openxmlformats.org/drawingml/2006/table">
            <a:tbl>
              <a:tblPr/>
              <a:tblGrid>
                <a:gridCol w="4874289">
                  <a:extLst>
                    <a:ext uri="{9D8B030D-6E8A-4147-A177-3AD203B41FA5}">
                      <a16:colId xmlns:a16="http://schemas.microsoft.com/office/drawing/2014/main" val="20000"/>
                    </a:ext>
                  </a:extLst>
                </a:gridCol>
                <a:gridCol w="4478006">
                  <a:extLst>
                    <a:ext uri="{9D8B030D-6E8A-4147-A177-3AD203B41FA5}">
                      <a16:colId xmlns:a16="http://schemas.microsoft.com/office/drawing/2014/main" val="20002"/>
                    </a:ext>
                  </a:extLst>
                </a:gridCol>
              </a:tblGrid>
              <a:tr h="0">
                <a:tc>
                  <a:txBody>
                    <a:bodyPr/>
                    <a:lstStyle/>
                    <a:p>
                      <a:pPr marL="0" marR="0" lvl="0" indent="0" algn="ctr" defTabSz="914400" rtl="0" eaLnBrk="0" fontAlgn="base" latinLnBrk="0" hangingPunct="0">
                        <a:lnSpc>
                          <a:spcPct val="115000"/>
                        </a:lnSpc>
                        <a:spcBef>
                          <a:spcPct val="50000"/>
                        </a:spcBef>
                        <a:spcAft>
                          <a:spcPct val="50000"/>
                        </a:spcAft>
                        <a:buClr>
                          <a:srgbClr val="006699"/>
                        </a:buClr>
                        <a:buSzPct val="90000"/>
                        <a:buFont typeface="Wingdings" pitchFamily="2" charset="2"/>
                        <a:buNone/>
                        <a:tabLst/>
                      </a:pPr>
                      <a:r>
                        <a:rPr kumimoji="0" lang="en-US" sz="2000" b="1" i="0" u="none" strike="noStrike" cap="none" normalizeH="0" baseline="0" dirty="0">
                          <a:ln>
                            <a:noFill/>
                          </a:ln>
                          <a:solidFill>
                            <a:schemeClr val="bg1"/>
                          </a:solidFill>
                          <a:effectLst/>
                          <a:latin typeface="Roboto" panose="02000000000000000000" pitchFamily="2" charset="0"/>
                          <a:ea typeface="Roboto" panose="02000000000000000000" pitchFamily="2" charset="0"/>
                        </a:rPr>
                        <a:t>Sample Problem Statements</a:t>
                      </a:r>
                    </a:p>
                  </a:txBody>
                  <a:tcPr marT="45715" marB="45715" anchor="b"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15000"/>
                        </a:lnSpc>
                        <a:spcBef>
                          <a:spcPct val="50000"/>
                        </a:spcBef>
                        <a:spcAft>
                          <a:spcPct val="50000"/>
                        </a:spcAft>
                        <a:buClr>
                          <a:srgbClr val="006699"/>
                        </a:buClr>
                        <a:buSzPct val="90000"/>
                        <a:buFont typeface="Wingdings" pitchFamily="2" charset="2"/>
                        <a:buNone/>
                        <a:tabLst/>
                      </a:pPr>
                      <a:r>
                        <a:rPr kumimoji="0" lang="en-US" sz="2000" b="1" i="0" u="none" strike="noStrike" cap="none" normalizeH="0" baseline="0" dirty="0">
                          <a:ln>
                            <a:noFill/>
                          </a:ln>
                          <a:solidFill>
                            <a:schemeClr val="bg1"/>
                          </a:solidFill>
                          <a:effectLst/>
                          <a:latin typeface="Roboto" panose="02000000000000000000" pitchFamily="2" charset="0"/>
                          <a:ea typeface="Roboto" panose="02000000000000000000" pitchFamily="2" charset="0"/>
                        </a:rPr>
                        <a:t>Critique</a:t>
                      </a:r>
                    </a:p>
                  </a:txBody>
                  <a:tcPr marT="45715" marB="45715" anchor="b"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0">
                <a:tc>
                  <a:txBody>
                    <a:bodyPr/>
                    <a:lstStyle/>
                    <a:p>
                      <a:pPr marL="0" marR="0" lvl="0" indent="0" algn="l" defTabSz="914400" rtl="0" eaLnBrk="0" fontAlgn="base" latinLnBrk="0" hangingPunct="0">
                        <a:lnSpc>
                          <a:spcPct val="115000"/>
                        </a:lnSpc>
                        <a:spcBef>
                          <a:spcPct val="20000"/>
                        </a:spcBef>
                        <a:spcAft>
                          <a:spcPct val="20000"/>
                        </a:spcAft>
                        <a:buClr>
                          <a:srgbClr val="006699"/>
                        </a:buClr>
                        <a:buSzPct val="90000"/>
                        <a:buFont typeface="Wingdings" pitchFamily="2" charset="2"/>
                        <a:buNone/>
                        <a:tabLst/>
                      </a:pPr>
                      <a:r>
                        <a:rPr kumimoji="0" lang="en-US" sz="1800" b="1" i="0" u="none" strike="noStrike" kern="1200" cap="none" normalizeH="0" baseline="0" dirty="0">
                          <a:ln>
                            <a:noFill/>
                          </a:ln>
                          <a:solidFill>
                            <a:schemeClr val="tx1"/>
                          </a:solidFill>
                          <a:effectLst/>
                          <a:latin typeface="Roboto" panose="02000000000000000000" pitchFamily="2" charset="0"/>
                          <a:ea typeface="Roboto" panose="02000000000000000000" pitchFamily="2" charset="0"/>
                          <a:cs typeface="+mn-cs"/>
                        </a:rPr>
                        <a:t>1.  Our monthly sales forecasts are only 60% accurate causing stock-outs in the warehouse </a:t>
                      </a:r>
                    </a:p>
                  </a:txBody>
                  <a:tcPr marT="45715" marB="45715"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285750" marR="0" lvl="0" indent="-285750" algn="l" defTabSz="914400" rtl="0" eaLnBrk="0" fontAlgn="base" latinLnBrk="0" hangingPunct="0">
                        <a:lnSpc>
                          <a:spcPct val="100000"/>
                        </a:lnSpc>
                        <a:spcBef>
                          <a:spcPct val="20000"/>
                        </a:spcBef>
                        <a:spcAft>
                          <a:spcPct val="20000"/>
                        </a:spcAft>
                        <a:buClr>
                          <a:schemeClr val="tx1"/>
                        </a:buClr>
                        <a:buSzPct val="90000"/>
                        <a:buFont typeface="Arial" panose="020B0604020202020204" pitchFamily="34" charset="0"/>
                        <a:buChar char="•"/>
                        <a:tabLst/>
                      </a:pPr>
                      <a:endParaRPr kumimoji="0" lang="en-US" sz="1400" b="1" i="0" u="none" strike="noStrike" kern="1200" cap="none" normalizeH="0" baseline="0" dirty="0">
                        <a:ln>
                          <a:noFill/>
                        </a:ln>
                        <a:solidFill>
                          <a:schemeClr val="tx1"/>
                        </a:solidFill>
                        <a:effectLst/>
                        <a:latin typeface="Roboto" panose="02000000000000000000" pitchFamily="2" charset="0"/>
                        <a:ea typeface="Roboto" panose="02000000000000000000" pitchFamily="2" charset="0"/>
                        <a:cs typeface="+mn-cs"/>
                      </a:endParaRPr>
                    </a:p>
                  </a:txBody>
                  <a:tcPr marT="45715" marB="45715"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0">
                <a:tc>
                  <a:txBody>
                    <a:bodyPr/>
                    <a:lstStyle/>
                    <a:p>
                      <a:pPr marL="0" marR="0" lvl="0" indent="0" algn="l" defTabSz="914400" rtl="0" eaLnBrk="0" fontAlgn="base" latinLnBrk="0" hangingPunct="0">
                        <a:lnSpc>
                          <a:spcPct val="115000"/>
                        </a:lnSpc>
                        <a:spcBef>
                          <a:spcPct val="20000"/>
                        </a:spcBef>
                        <a:spcAft>
                          <a:spcPct val="20000"/>
                        </a:spcAft>
                        <a:buClr>
                          <a:srgbClr val="006699"/>
                        </a:buClr>
                        <a:buSzPct val="90000"/>
                        <a:buFont typeface="Wingdings" pitchFamily="2" charset="2"/>
                        <a:buNone/>
                        <a:tabLst/>
                      </a:pPr>
                      <a:r>
                        <a:rPr kumimoji="0" lang="en-US" sz="1800" b="1" i="0" u="none" strike="noStrike" kern="1200" cap="none" normalizeH="0" baseline="0" dirty="0">
                          <a:ln>
                            <a:noFill/>
                          </a:ln>
                          <a:solidFill>
                            <a:schemeClr val="tx1"/>
                          </a:solidFill>
                          <a:effectLst/>
                          <a:latin typeface="Roboto" panose="02000000000000000000" pitchFamily="2" charset="0"/>
                          <a:ea typeface="Roboto" panose="02000000000000000000" pitchFamily="2" charset="0"/>
                          <a:cs typeface="+mn-cs"/>
                        </a:rPr>
                        <a:t>2.  Poor packaging is causing products to be delivered to the customer with damage</a:t>
                      </a:r>
                    </a:p>
                  </a:txBody>
                  <a:tcPr marT="45715" marB="45715"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285750" marR="0" lvl="0" indent="-285750" algn="l" defTabSz="914400" rtl="0" eaLnBrk="0" fontAlgn="base" latinLnBrk="0" hangingPunct="0">
                        <a:lnSpc>
                          <a:spcPct val="100000"/>
                        </a:lnSpc>
                        <a:spcBef>
                          <a:spcPct val="20000"/>
                        </a:spcBef>
                        <a:spcAft>
                          <a:spcPct val="20000"/>
                        </a:spcAft>
                        <a:buClr>
                          <a:schemeClr val="tx1"/>
                        </a:buClr>
                        <a:buSzPct val="90000"/>
                        <a:buFont typeface="Arial" panose="020B0604020202020204" pitchFamily="34" charset="0"/>
                        <a:buChar char="•"/>
                        <a:tabLst/>
                      </a:pPr>
                      <a:endParaRPr kumimoji="0" lang="en-US" sz="1400" b="1" i="0" u="none" strike="noStrike" kern="1200" cap="none" normalizeH="0" baseline="0" dirty="0">
                        <a:ln>
                          <a:noFill/>
                        </a:ln>
                        <a:solidFill>
                          <a:schemeClr val="tx1"/>
                        </a:solidFill>
                        <a:effectLst/>
                        <a:latin typeface="Roboto" panose="02000000000000000000" pitchFamily="2" charset="0"/>
                        <a:ea typeface="Roboto" panose="02000000000000000000" pitchFamily="2" charset="0"/>
                        <a:cs typeface="+mn-cs"/>
                      </a:endParaRPr>
                    </a:p>
                  </a:txBody>
                  <a:tcPr marT="45715" marB="45715"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0">
                <a:tc>
                  <a:txBody>
                    <a:bodyPr/>
                    <a:lstStyle/>
                    <a:p>
                      <a:pPr marL="0" marR="0" lvl="0" indent="0" algn="l" defTabSz="914400" rtl="0" eaLnBrk="0" fontAlgn="base" latinLnBrk="0" hangingPunct="0">
                        <a:lnSpc>
                          <a:spcPct val="115000"/>
                        </a:lnSpc>
                        <a:spcBef>
                          <a:spcPct val="20000"/>
                        </a:spcBef>
                        <a:spcAft>
                          <a:spcPct val="20000"/>
                        </a:spcAft>
                        <a:buClr>
                          <a:srgbClr val="006699"/>
                        </a:buClr>
                        <a:buSzPct val="90000"/>
                        <a:buFont typeface="Wingdings" pitchFamily="2" charset="2"/>
                        <a:buNone/>
                        <a:tabLst/>
                        <a:defRPr/>
                      </a:pPr>
                      <a:r>
                        <a:rPr kumimoji="0" lang="en-US" sz="1800" b="1" i="0" u="none" strike="noStrike" kern="1200" cap="none" normalizeH="0" baseline="0" dirty="0">
                          <a:ln>
                            <a:noFill/>
                          </a:ln>
                          <a:solidFill>
                            <a:schemeClr val="tx1"/>
                          </a:solidFill>
                          <a:effectLst/>
                          <a:latin typeface="Roboto" panose="02000000000000000000" pitchFamily="2" charset="0"/>
                          <a:ea typeface="Roboto" panose="02000000000000000000" pitchFamily="2" charset="0"/>
                          <a:cs typeface="+mn-cs"/>
                        </a:rPr>
                        <a:t>3.  We don’t have a good training course for our field technicians to diagnose and repair products</a:t>
                      </a:r>
                    </a:p>
                  </a:txBody>
                  <a:tcPr marT="45715" marB="45715"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285750" marR="0" lvl="0" indent="-285750" algn="l" defTabSz="914400" rtl="0" eaLnBrk="0" fontAlgn="base" latinLnBrk="0" hangingPunct="0">
                        <a:lnSpc>
                          <a:spcPct val="100000"/>
                        </a:lnSpc>
                        <a:spcBef>
                          <a:spcPct val="20000"/>
                        </a:spcBef>
                        <a:spcAft>
                          <a:spcPct val="20000"/>
                        </a:spcAft>
                        <a:buClr>
                          <a:schemeClr val="tx1"/>
                        </a:buClr>
                        <a:buSzPct val="90000"/>
                        <a:buFont typeface="Arial" panose="020B0604020202020204" pitchFamily="34" charset="0"/>
                        <a:buChar char="•"/>
                        <a:tabLst/>
                      </a:pPr>
                      <a:endParaRPr kumimoji="0" lang="en-US" sz="1400" b="1" i="0" u="none" strike="noStrike" kern="1200" cap="none" normalizeH="0" baseline="0" dirty="0">
                        <a:ln>
                          <a:noFill/>
                        </a:ln>
                        <a:solidFill>
                          <a:schemeClr val="tx1"/>
                        </a:solidFill>
                        <a:effectLst/>
                        <a:latin typeface="Roboto" panose="02000000000000000000" pitchFamily="2" charset="0"/>
                        <a:ea typeface="Roboto" panose="02000000000000000000" pitchFamily="2" charset="0"/>
                        <a:cs typeface="+mn-cs"/>
                      </a:endParaRPr>
                    </a:p>
                  </a:txBody>
                  <a:tcPr marT="45715" marB="45715"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475828321"/>
                  </a:ext>
                </a:extLst>
              </a:tr>
              <a:tr h="140433">
                <a:tc>
                  <a:txBody>
                    <a:bodyPr/>
                    <a:lstStyle/>
                    <a:p>
                      <a:pPr marL="0" marR="0" lvl="0" indent="0" algn="l" defTabSz="914400" rtl="0" eaLnBrk="0" fontAlgn="base" latinLnBrk="0" hangingPunct="0">
                        <a:lnSpc>
                          <a:spcPct val="115000"/>
                        </a:lnSpc>
                        <a:spcBef>
                          <a:spcPct val="20000"/>
                        </a:spcBef>
                        <a:spcAft>
                          <a:spcPct val="20000"/>
                        </a:spcAft>
                        <a:buClr>
                          <a:srgbClr val="006699"/>
                        </a:buClr>
                        <a:buSzPct val="90000"/>
                        <a:buFont typeface="Wingdings" pitchFamily="2" charset="2"/>
                        <a:buNone/>
                        <a:tabLst/>
                      </a:pPr>
                      <a:r>
                        <a:rPr kumimoji="0" lang="en-US" sz="1800" b="1" i="0" u="none" strike="noStrike" kern="1200" cap="none" normalizeH="0" baseline="0" dirty="0">
                          <a:ln>
                            <a:noFill/>
                          </a:ln>
                          <a:solidFill>
                            <a:schemeClr val="tx1"/>
                          </a:solidFill>
                          <a:effectLst/>
                          <a:latin typeface="Roboto" panose="02000000000000000000" pitchFamily="2" charset="0"/>
                          <a:ea typeface="Roboto" panose="02000000000000000000" pitchFamily="2" charset="0"/>
                          <a:cs typeface="+mn-cs"/>
                        </a:rPr>
                        <a:t>4.  We need a new a grinding machine capable of holding the inside diameter dimension tolerance on part # AB006-2</a:t>
                      </a:r>
                    </a:p>
                  </a:txBody>
                  <a:tcPr marT="45715" marB="45715"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285750" marR="0" lvl="0" indent="-285750" algn="l" defTabSz="914400" rtl="0" eaLnBrk="0" fontAlgn="base" latinLnBrk="0" hangingPunct="0">
                        <a:lnSpc>
                          <a:spcPct val="100000"/>
                        </a:lnSpc>
                        <a:spcBef>
                          <a:spcPct val="20000"/>
                        </a:spcBef>
                        <a:spcAft>
                          <a:spcPct val="20000"/>
                        </a:spcAft>
                        <a:buClr>
                          <a:schemeClr val="tx1"/>
                        </a:buClr>
                        <a:buSzPct val="90000"/>
                        <a:buFont typeface="Arial" panose="020B0604020202020204" pitchFamily="34" charset="0"/>
                        <a:buChar char="•"/>
                        <a:tabLst/>
                      </a:pPr>
                      <a:endParaRPr kumimoji="0" lang="en-US" sz="1400" b="1" i="0" u="none" strike="noStrike" kern="1200" cap="none" normalizeH="0" baseline="0" dirty="0">
                        <a:ln>
                          <a:noFill/>
                        </a:ln>
                        <a:solidFill>
                          <a:schemeClr val="tx1"/>
                        </a:solidFill>
                        <a:effectLst/>
                        <a:latin typeface="Roboto" panose="02000000000000000000" pitchFamily="2" charset="0"/>
                        <a:ea typeface="Roboto" panose="02000000000000000000" pitchFamily="2" charset="0"/>
                        <a:cs typeface="+mn-cs"/>
                      </a:endParaRPr>
                    </a:p>
                  </a:txBody>
                  <a:tcPr marT="45715" marB="45715"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grpSp>
        <p:nvGrpSpPr>
          <p:cNvPr id="4" name="Group 3">
            <a:extLst>
              <a:ext uri="{FF2B5EF4-FFF2-40B4-BE49-F238E27FC236}">
                <a16:creationId xmlns:a16="http://schemas.microsoft.com/office/drawing/2014/main" id="{94BA6204-2457-711B-1764-EC8F05298270}"/>
              </a:ext>
            </a:extLst>
          </p:cNvPr>
          <p:cNvGrpSpPr/>
          <p:nvPr/>
        </p:nvGrpSpPr>
        <p:grpSpPr>
          <a:xfrm>
            <a:off x="838200" y="297639"/>
            <a:ext cx="4110990" cy="307138"/>
            <a:chOff x="838200" y="297639"/>
            <a:chExt cx="4110990" cy="307138"/>
          </a:xfrm>
        </p:grpSpPr>
        <p:grpSp>
          <p:nvGrpSpPr>
            <p:cNvPr id="6" name="Group 5">
              <a:extLst>
                <a:ext uri="{FF2B5EF4-FFF2-40B4-BE49-F238E27FC236}">
                  <a16:creationId xmlns:a16="http://schemas.microsoft.com/office/drawing/2014/main" id="{0648C5F8-0A90-103E-C5BA-D860299EEB30}"/>
                </a:ext>
              </a:extLst>
            </p:cNvPr>
            <p:cNvGrpSpPr/>
            <p:nvPr/>
          </p:nvGrpSpPr>
          <p:grpSpPr>
            <a:xfrm>
              <a:off x="838200" y="297639"/>
              <a:ext cx="1687517" cy="290657"/>
              <a:chOff x="838200" y="297639"/>
              <a:chExt cx="1687517" cy="290657"/>
            </a:xfrm>
          </p:grpSpPr>
          <p:sp>
            <p:nvSpPr>
              <p:cNvPr id="8" name="AutoShape 9">
                <a:extLst>
                  <a:ext uri="{FF2B5EF4-FFF2-40B4-BE49-F238E27FC236}">
                    <a16:creationId xmlns:a16="http://schemas.microsoft.com/office/drawing/2014/main" id="{41836353-8444-6D61-D627-5EAB8B760690}"/>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9" name="AutoShape 9">
                <a:extLst>
                  <a:ext uri="{FF2B5EF4-FFF2-40B4-BE49-F238E27FC236}">
                    <a16:creationId xmlns:a16="http://schemas.microsoft.com/office/drawing/2014/main" id="{2384E061-C36B-9A09-FCF8-D8ABCFBF61C9}"/>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10" name="Group 9">
                <a:extLst>
                  <a:ext uri="{FF2B5EF4-FFF2-40B4-BE49-F238E27FC236}">
                    <a16:creationId xmlns:a16="http://schemas.microsoft.com/office/drawing/2014/main" id="{6DE295F0-2BC9-EF9A-56FC-0C4F6E98962E}"/>
                  </a:ext>
                </a:extLst>
              </p:cNvPr>
              <p:cNvGrpSpPr/>
              <p:nvPr/>
            </p:nvGrpSpPr>
            <p:grpSpPr>
              <a:xfrm>
                <a:off x="838200" y="297639"/>
                <a:ext cx="1060167" cy="290657"/>
                <a:chOff x="826426" y="4041857"/>
                <a:chExt cx="1060167" cy="290657"/>
              </a:xfrm>
            </p:grpSpPr>
            <p:sp>
              <p:nvSpPr>
                <p:cNvPr id="11" name="AutoShape 9">
                  <a:extLst>
                    <a:ext uri="{FF2B5EF4-FFF2-40B4-BE49-F238E27FC236}">
                      <a16:creationId xmlns:a16="http://schemas.microsoft.com/office/drawing/2014/main" id="{47B706EF-DF91-0984-9B1A-D07DE072C8CE}"/>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2" name="AutoShape 11">
                  <a:extLst>
                    <a:ext uri="{FF2B5EF4-FFF2-40B4-BE49-F238E27FC236}">
                      <a16:creationId xmlns:a16="http://schemas.microsoft.com/office/drawing/2014/main" id="{56DDFA4C-0F0D-A802-09BC-B2E330C92C17}"/>
                    </a:ext>
                  </a:extLst>
                </p:cNvPr>
                <p:cNvSpPr>
                  <a:spLocks noChangeArrowheads="1"/>
                </p:cNvSpPr>
                <p:nvPr/>
              </p:nvSpPr>
              <p:spPr bwMode="auto">
                <a:xfrm>
                  <a:off x="1140101" y="4041858"/>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3" name="AutoShape 10">
                  <a:extLst>
                    <a:ext uri="{FF2B5EF4-FFF2-40B4-BE49-F238E27FC236}">
                      <a16:creationId xmlns:a16="http://schemas.microsoft.com/office/drawing/2014/main" id="{4C30C012-6788-9EBC-F12A-BB36171F65D4}"/>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7" name="TextBox 6">
              <a:extLst>
                <a:ext uri="{FF2B5EF4-FFF2-40B4-BE49-F238E27FC236}">
                  <a16:creationId xmlns:a16="http://schemas.microsoft.com/office/drawing/2014/main" id="{8DBD165B-AB03-E25E-DAF1-2CF723C8C7F0}"/>
                </a:ext>
              </a:extLst>
            </p:cNvPr>
            <p:cNvSpPr txBox="1"/>
            <p:nvPr/>
          </p:nvSpPr>
          <p:spPr>
            <a:xfrm>
              <a:off x="2525717" y="313415"/>
              <a:ext cx="242347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CEDAC Problem Effect</a:t>
              </a:r>
            </a:p>
          </p:txBody>
        </p:sp>
      </p:grpSp>
    </p:spTree>
    <p:extLst>
      <p:ext uri="{BB962C8B-B14F-4D97-AF65-F5344CB8AC3E}">
        <p14:creationId xmlns:p14="http://schemas.microsoft.com/office/powerpoint/2010/main" val="134528486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8D9ED7-5CF9-6F4B-B4A8-2DBF8D852A20}"/>
              </a:ext>
            </a:extLst>
          </p:cNvPr>
          <p:cNvSpPr>
            <a:spLocks noGrp="1"/>
          </p:cNvSpPr>
          <p:nvPr>
            <p:ph type="title"/>
          </p:nvPr>
        </p:nvSpPr>
        <p:spPr/>
        <p:txBody>
          <a:bodyPr>
            <a:noAutofit/>
          </a:bodyPr>
          <a:lstStyle/>
          <a:p>
            <a:r>
              <a:rPr lang="en-US" sz="2800" dirty="0">
                <a:latin typeface="Roboto Medium"/>
                <a:ea typeface="Roboto Medium"/>
                <a:cs typeface="Roboto Medium"/>
              </a:rPr>
              <a:t>Case Study Exercise: CEDAC Step 1 – Define Problem</a:t>
            </a:r>
          </a:p>
        </p:txBody>
      </p:sp>
      <p:sp>
        <p:nvSpPr>
          <p:cNvPr id="5" name="Slide Number Placeholder 4">
            <a:extLst>
              <a:ext uri="{FF2B5EF4-FFF2-40B4-BE49-F238E27FC236}">
                <a16:creationId xmlns:a16="http://schemas.microsoft.com/office/drawing/2014/main" id="{EFB3C390-D307-7FFC-DADE-918C5180FE01}"/>
              </a:ext>
            </a:extLst>
          </p:cNvPr>
          <p:cNvSpPr>
            <a:spLocks noGrp="1"/>
          </p:cNvSpPr>
          <p:nvPr>
            <p:ph type="sldNum" sz="quarter" idx="4294967295"/>
          </p:nvPr>
        </p:nvSpPr>
        <p:spPr>
          <a:xfrm>
            <a:off x="8595078" y="6333148"/>
            <a:ext cx="2743200" cy="365125"/>
          </a:xfrm>
          <a:prstGeom prst="rect">
            <a:avLst/>
          </a:prstGeom>
        </p:spPr>
        <p:txBody>
          <a:bodyPr/>
          <a:lstStyle/>
          <a:p>
            <a:fld id="{CC6D4273-7FC1-0947-B9FE-19CB3C0D1FB6}" type="slidenum">
              <a:rPr lang="en-US" smtClean="0"/>
              <a:t>27</a:t>
            </a:fld>
            <a:endParaRPr lang="en-US"/>
          </a:p>
        </p:txBody>
      </p:sp>
      <p:sp>
        <p:nvSpPr>
          <p:cNvPr id="11" name="Rectangle 10">
            <a:extLst>
              <a:ext uri="{FF2B5EF4-FFF2-40B4-BE49-F238E27FC236}">
                <a16:creationId xmlns:a16="http://schemas.microsoft.com/office/drawing/2014/main" id="{3A9506B7-1A57-1322-5AB5-DA8522EE7602}"/>
              </a:ext>
            </a:extLst>
          </p:cNvPr>
          <p:cNvSpPr/>
          <p:nvPr/>
        </p:nvSpPr>
        <p:spPr>
          <a:xfrm>
            <a:off x="838200" y="2297655"/>
            <a:ext cx="9722342" cy="533479"/>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Analyze Case Study </a:t>
            </a:r>
          </a:p>
        </p:txBody>
      </p:sp>
      <p:sp>
        <p:nvSpPr>
          <p:cNvPr id="12" name="TextBox 11">
            <a:extLst>
              <a:ext uri="{FF2B5EF4-FFF2-40B4-BE49-F238E27FC236}">
                <a16:creationId xmlns:a16="http://schemas.microsoft.com/office/drawing/2014/main" id="{A4ECB5F6-F271-06CD-2A6A-E79F5245CD15}"/>
              </a:ext>
            </a:extLst>
          </p:cNvPr>
          <p:cNvSpPr txBox="1"/>
          <p:nvPr/>
        </p:nvSpPr>
        <p:spPr>
          <a:xfrm>
            <a:off x="838200" y="1767653"/>
            <a:ext cx="1603003"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Objective</a:t>
            </a:r>
            <a:endParaRPr kumimoji="0" lang="en-US" sz="56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endParaRPr>
          </a:p>
        </p:txBody>
      </p:sp>
      <p:sp>
        <p:nvSpPr>
          <p:cNvPr id="13" name="TextBox 12">
            <a:extLst>
              <a:ext uri="{FF2B5EF4-FFF2-40B4-BE49-F238E27FC236}">
                <a16:creationId xmlns:a16="http://schemas.microsoft.com/office/drawing/2014/main" id="{EA94F381-2B48-C111-2724-726B0390290F}"/>
              </a:ext>
            </a:extLst>
          </p:cNvPr>
          <p:cNvSpPr txBox="1"/>
          <p:nvPr/>
        </p:nvSpPr>
        <p:spPr>
          <a:xfrm>
            <a:off x="838200" y="2952549"/>
            <a:ext cx="2022990"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Instructions</a:t>
            </a:r>
            <a:endParaRPr kumimoji="0" lang="en-US" sz="56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endParaRPr>
          </a:p>
        </p:txBody>
      </p:sp>
      <p:sp>
        <p:nvSpPr>
          <p:cNvPr id="14" name="Rectangle 13">
            <a:extLst>
              <a:ext uri="{FF2B5EF4-FFF2-40B4-BE49-F238E27FC236}">
                <a16:creationId xmlns:a16="http://schemas.microsoft.com/office/drawing/2014/main" id="{82677B47-98C9-F770-8D4E-7D91CF39F5A7}"/>
              </a:ext>
            </a:extLst>
          </p:cNvPr>
          <p:cNvSpPr/>
          <p:nvPr/>
        </p:nvSpPr>
        <p:spPr>
          <a:xfrm>
            <a:off x="818941" y="3486027"/>
            <a:ext cx="4419809" cy="2318583"/>
          </a:xfrm>
          <a:prstGeom prst="rect">
            <a:avLst/>
          </a:prstGeom>
          <a:solidFill>
            <a:schemeClr val="bg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Divide into small groups of 3-4 persons/team</a:t>
            </a:r>
          </a:p>
          <a:p>
            <a:pPr marL="0" marR="0" indent="0" algn="l" defTabSz="584200" rtl="0" fontAlgn="auto" latinLnBrk="0" hangingPunct="0">
              <a:lnSpc>
                <a:spcPct val="100000"/>
              </a:lnSpc>
              <a:spcBef>
                <a:spcPts val="0"/>
              </a:spcBef>
              <a:spcAft>
                <a:spcPts val="0"/>
              </a:spcAft>
              <a:buClrTx/>
              <a:buSzTx/>
              <a:buFontTx/>
              <a:buNone/>
              <a:tabLst/>
            </a:pPr>
            <a:r>
              <a:rPr kumimoji="0" lang="en-US"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In each team, review the situation from the case study on the following slide</a:t>
            </a:r>
          </a:p>
          <a:p>
            <a:pPr marL="0" marR="0" indent="0" algn="l" defTabSz="584200" rtl="0" fontAlgn="auto" latinLnBrk="0" hangingPunct="0">
              <a:lnSpc>
                <a:spcPct val="100000"/>
              </a:lnSpc>
              <a:spcBef>
                <a:spcPts val="0"/>
              </a:spcBef>
              <a:spcAft>
                <a:spcPts val="0"/>
              </a:spcAft>
              <a:buClrTx/>
              <a:buSzTx/>
              <a:buFontTx/>
              <a:buNone/>
              <a:tabLst/>
            </a:pPr>
            <a:r>
              <a:rPr kumimoji="0" lang="en-US"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Given what you know thus far, create a problem statement</a:t>
            </a:r>
          </a:p>
          <a:p>
            <a:pPr marL="0" marR="0" indent="0" algn="l" defTabSz="584200" rtl="0" fontAlgn="auto" latinLnBrk="0" hangingPunct="0">
              <a:lnSpc>
                <a:spcPct val="100000"/>
              </a:lnSpc>
              <a:spcBef>
                <a:spcPts val="0"/>
              </a:spcBef>
              <a:spcAft>
                <a:spcPts val="0"/>
              </a:spcAft>
              <a:buClrTx/>
              <a:buSzTx/>
              <a:buFontTx/>
              <a:buNone/>
              <a:tabLst/>
            </a:pPr>
            <a:r>
              <a:rPr kumimoji="0" lang="en-US"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Record problem statement on chart paper for review with class</a:t>
            </a:r>
          </a:p>
        </p:txBody>
      </p:sp>
      <p:sp>
        <p:nvSpPr>
          <p:cNvPr id="15" name="TextBox 14">
            <a:extLst>
              <a:ext uri="{FF2B5EF4-FFF2-40B4-BE49-F238E27FC236}">
                <a16:creationId xmlns:a16="http://schemas.microsoft.com/office/drawing/2014/main" id="{90914B3B-0CE2-FDFF-2FB9-215236316256}"/>
              </a:ext>
            </a:extLst>
          </p:cNvPr>
          <p:cNvSpPr txBox="1"/>
          <p:nvPr/>
        </p:nvSpPr>
        <p:spPr>
          <a:xfrm>
            <a:off x="5879250" y="2952548"/>
            <a:ext cx="2968761"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Time to Complete</a:t>
            </a:r>
          </a:p>
        </p:txBody>
      </p:sp>
      <p:sp>
        <p:nvSpPr>
          <p:cNvPr id="16" name="TextBox 15">
            <a:extLst>
              <a:ext uri="{FF2B5EF4-FFF2-40B4-BE49-F238E27FC236}">
                <a16:creationId xmlns:a16="http://schemas.microsoft.com/office/drawing/2014/main" id="{6285230A-07BD-F376-25CA-177CC1D4233F}"/>
              </a:ext>
            </a:extLst>
          </p:cNvPr>
          <p:cNvSpPr txBox="1"/>
          <p:nvPr/>
        </p:nvSpPr>
        <p:spPr>
          <a:xfrm>
            <a:off x="5879250" y="4136472"/>
            <a:ext cx="1888337"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Deliverable</a:t>
            </a:r>
          </a:p>
        </p:txBody>
      </p:sp>
      <p:sp>
        <p:nvSpPr>
          <p:cNvPr id="17" name="Rectangle 16">
            <a:extLst>
              <a:ext uri="{FF2B5EF4-FFF2-40B4-BE49-F238E27FC236}">
                <a16:creationId xmlns:a16="http://schemas.microsoft.com/office/drawing/2014/main" id="{67530399-8FDB-50CD-E8FD-8E286DE1A2EA}"/>
              </a:ext>
            </a:extLst>
          </p:cNvPr>
          <p:cNvSpPr/>
          <p:nvPr/>
        </p:nvSpPr>
        <p:spPr>
          <a:xfrm>
            <a:off x="5879250" y="3496996"/>
            <a:ext cx="4681292" cy="471924"/>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584200" hangingPunct="0"/>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5 minutes</a:t>
            </a:r>
          </a:p>
        </p:txBody>
      </p:sp>
      <p:sp>
        <p:nvSpPr>
          <p:cNvPr id="18" name="Rectangle 17">
            <a:extLst>
              <a:ext uri="{FF2B5EF4-FFF2-40B4-BE49-F238E27FC236}">
                <a16:creationId xmlns:a16="http://schemas.microsoft.com/office/drawing/2014/main" id="{84DF6BD6-975A-3700-5E69-322EFF4F722E}"/>
              </a:ext>
            </a:extLst>
          </p:cNvPr>
          <p:cNvSpPr/>
          <p:nvPr/>
        </p:nvSpPr>
        <p:spPr>
          <a:xfrm>
            <a:off x="5879250" y="4665559"/>
            <a:ext cx="4681292" cy="841256"/>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584200" hangingPunct="0"/>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Problem Statement – one person to report out to rest of class</a:t>
            </a:r>
          </a:p>
        </p:txBody>
      </p:sp>
      <p:grpSp>
        <p:nvGrpSpPr>
          <p:cNvPr id="3" name="Group 2">
            <a:extLst>
              <a:ext uri="{FF2B5EF4-FFF2-40B4-BE49-F238E27FC236}">
                <a16:creationId xmlns:a16="http://schemas.microsoft.com/office/drawing/2014/main" id="{16865E1C-D685-A7AE-218A-FD1622AE7E83}"/>
              </a:ext>
            </a:extLst>
          </p:cNvPr>
          <p:cNvGrpSpPr/>
          <p:nvPr/>
        </p:nvGrpSpPr>
        <p:grpSpPr>
          <a:xfrm>
            <a:off x="838200" y="297639"/>
            <a:ext cx="4110990" cy="307138"/>
            <a:chOff x="838200" y="297639"/>
            <a:chExt cx="4110990" cy="307138"/>
          </a:xfrm>
        </p:grpSpPr>
        <p:grpSp>
          <p:nvGrpSpPr>
            <p:cNvPr id="4" name="Group 3">
              <a:extLst>
                <a:ext uri="{FF2B5EF4-FFF2-40B4-BE49-F238E27FC236}">
                  <a16:creationId xmlns:a16="http://schemas.microsoft.com/office/drawing/2014/main" id="{6BB102DA-FCF3-B138-1B68-6EA5538C23B1}"/>
                </a:ext>
              </a:extLst>
            </p:cNvPr>
            <p:cNvGrpSpPr/>
            <p:nvPr/>
          </p:nvGrpSpPr>
          <p:grpSpPr>
            <a:xfrm>
              <a:off x="838200" y="297639"/>
              <a:ext cx="1687517" cy="290657"/>
              <a:chOff x="838200" y="297639"/>
              <a:chExt cx="1687517" cy="290657"/>
            </a:xfrm>
          </p:grpSpPr>
          <p:sp>
            <p:nvSpPr>
              <p:cNvPr id="7" name="AutoShape 9">
                <a:extLst>
                  <a:ext uri="{FF2B5EF4-FFF2-40B4-BE49-F238E27FC236}">
                    <a16:creationId xmlns:a16="http://schemas.microsoft.com/office/drawing/2014/main" id="{9133B7B8-E188-A93F-2A69-935D3C833A1C}"/>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8" name="AutoShape 9">
                <a:extLst>
                  <a:ext uri="{FF2B5EF4-FFF2-40B4-BE49-F238E27FC236}">
                    <a16:creationId xmlns:a16="http://schemas.microsoft.com/office/drawing/2014/main" id="{708131C8-7F96-BA0D-3959-FCBFC1951580}"/>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9" name="Group 8">
                <a:extLst>
                  <a:ext uri="{FF2B5EF4-FFF2-40B4-BE49-F238E27FC236}">
                    <a16:creationId xmlns:a16="http://schemas.microsoft.com/office/drawing/2014/main" id="{D6B2AC4C-98CB-F0E1-57AA-ECDFBB42F4FA}"/>
                  </a:ext>
                </a:extLst>
              </p:cNvPr>
              <p:cNvGrpSpPr/>
              <p:nvPr/>
            </p:nvGrpSpPr>
            <p:grpSpPr>
              <a:xfrm>
                <a:off x="838200" y="297639"/>
                <a:ext cx="1060167" cy="290657"/>
                <a:chOff x="826426" y="4041857"/>
                <a:chExt cx="1060167" cy="290657"/>
              </a:xfrm>
            </p:grpSpPr>
            <p:sp>
              <p:nvSpPr>
                <p:cNvPr id="10" name="AutoShape 9">
                  <a:extLst>
                    <a:ext uri="{FF2B5EF4-FFF2-40B4-BE49-F238E27FC236}">
                      <a16:creationId xmlns:a16="http://schemas.microsoft.com/office/drawing/2014/main" id="{06369BCD-F6D1-9F46-89F5-52DCBD67DC98}"/>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9" name="AutoShape 11">
                  <a:extLst>
                    <a:ext uri="{FF2B5EF4-FFF2-40B4-BE49-F238E27FC236}">
                      <a16:creationId xmlns:a16="http://schemas.microsoft.com/office/drawing/2014/main" id="{E2194F7C-BED4-C919-83C3-72B34F4AFA3D}"/>
                    </a:ext>
                  </a:extLst>
                </p:cNvPr>
                <p:cNvSpPr>
                  <a:spLocks noChangeArrowheads="1"/>
                </p:cNvSpPr>
                <p:nvPr/>
              </p:nvSpPr>
              <p:spPr bwMode="auto">
                <a:xfrm>
                  <a:off x="1140101" y="4041858"/>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0" name="AutoShape 10">
                  <a:extLst>
                    <a:ext uri="{FF2B5EF4-FFF2-40B4-BE49-F238E27FC236}">
                      <a16:creationId xmlns:a16="http://schemas.microsoft.com/office/drawing/2014/main" id="{C926CCA7-ACA1-2AB5-3AB5-77D740254E56}"/>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6" name="TextBox 5">
              <a:extLst>
                <a:ext uri="{FF2B5EF4-FFF2-40B4-BE49-F238E27FC236}">
                  <a16:creationId xmlns:a16="http://schemas.microsoft.com/office/drawing/2014/main" id="{FDE6247A-5BF4-CA14-6371-138C6CAE2601}"/>
                </a:ext>
              </a:extLst>
            </p:cNvPr>
            <p:cNvSpPr txBox="1"/>
            <p:nvPr/>
          </p:nvSpPr>
          <p:spPr>
            <a:xfrm>
              <a:off x="2525717" y="313415"/>
              <a:ext cx="242347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CEDAC Problem Effect</a:t>
              </a:r>
            </a:p>
          </p:txBody>
        </p:sp>
      </p:grpSp>
    </p:spTree>
    <p:extLst>
      <p:ext uri="{BB962C8B-B14F-4D97-AF65-F5344CB8AC3E}">
        <p14:creationId xmlns:p14="http://schemas.microsoft.com/office/powerpoint/2010/main" val="223451686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1668A9-873A-57D2-016B-C3B5AEEC0C72}"/>
              </a:ext>
            </a:extLst>
          </p:cNvPr>
          <p:cNvSpPr>
            <a:spLocks noGrp="1"/>
          </p:cNvSpPr>
          <p:nvPr>
            <p:ph type="title"/>
          </p:nvPr>
        </p:nvSpPr>
        <p:spPr/>
        <p:txBody>
          <a:bodyPr>
            <a:normAutofit/>
          </a:bodyPr>
          <a:lstStyle/>
          <a:p>
            <a:r>
              <a:rPr lang="en-US" sz="3600" dirty="0"/>
              <a:t>Sample Case Study – “Spencer’s” Restaurant</a:t>
            </a:r>
          </a:p>
        </p:txBody>
      </p:sp>
      <p:sp>
        <p:nvSpPr>
          <p:cNvPr id="3" name="Content Placeholder 2">
            <a:extLst>
              <a:ext uri="{FF2B5EF4-FFF2-40B4-BE49-F238E27FC236}">
                <a16:creationId xmlns:a16="http://schemas.microsoft.com/office/drawing/2014/main" id="{23C83347-F741-264E-7C36-00DE92F01451}"/>
              </a:ext>
            </a:extLst>
          </p:cNvPr>
          <p:cNvSpPr>
            <a:spLocks noGrp="1"/>
          </p:cNvSpPr>
          <p:nvPr>
            <p:ph sz="half" idx="1"/>
          </p:nvPr>
        </p:nvSpPr>
        <p:spPr/>
        <p:txBody>
          <a:bodyPr>
            <a:normAutofit/>
          </a:bodyPr>
          <a:lstStyle/>
          <a:p>
            <a:pPr>
              <a:lnSpc>
                <a:spcPct val="95000"/>
              </a:lnSpc>
            </a:pPr>
            <a:r>
              <a:rPr lang="en-US" altLang="ja-JP" sz="1600" dirty="0"/>
              <a:t>“Spencer’s” is a popular restaurant in Blacksburg, Virginia, located right next to Virginia Tech.  </a:t>
            </a:r>
          </a:p>
          <a:p>
            <a:pPr>
              <a:lnSpc>
                <a:spcPct val="95000"/>
              </a:lnSpc>
            </a:pPr>
            <a:r>
              <a:rPr lang="en-US" altLang="ja-JP" sz="1600" dirty="0"/>
              <a:t>It has been open for nine years and has enjoyed increased annual business revenue every year.  </a:t>
            </a:r>
          </a:p>
          <a:p>
            <a:pPr>
              <a:lnSpc>
                <a:spcPct val="95000"/>
              </a:lnSpc>
            </a:pPr>
            <a:r>
              <a:rPr lang="en-US" altLang="ja-JP" sz="1600" dirty="0"/>
              <a:t>Spencer’s offers a nice variety of American, Italian and German food.  It is open for lunch and dinner.  </a:t>
            </a:r>
          </a:p>
          <a:p>
            <a:pPr>
              <a:lnSpc>
                <a:spcPct val="95000"/>
              </a:lnSpc>
            </a:pPr>
            <a:r>
              <a:rPr lang="en-US" altLang="ja-JP" sz="1600" dirty="0"/>
              <a:t>Spencer’s is looking forward to the return of the college students next month, since that always means more business.   </a:t>
            </a:r>
          </a:p>
          <a:p>
            <a:pPr>
              <a:lnSpc>
                <a:spcPct val="95000"/>
              </a:lnSpc>
            </a:pPr>
            <a:r>
              <a:rPr lang="en-US" altLang="ja-JP" sz="1600" dirty="0"/>
              <a:t>While the restaurant has had a profitable summer, it has seen a substantial increase in customer complaints. </a:t>
            </a:r>
          </a:p>
          <a:p>
            <a:pPr>
              <a:lnSpc>
                <a:spcPct val="95000"/>
              </a:lnSpc>
            </a:pPr>
            <a:r>
              <a:rPr lang="en-US" altLang="ja-JP" sz="1600" dirty="0"/>
              <a:t>Spencer’s has a good rapport with its customers and wants to eliminate these complaints before business ramps back up in the next month.</a:t>
            </a:r>
          </a:p>
        </p:txBody>
      </p:sp>
      <p:sp>
        <p:nvSpPr>
          <p:cNvPr id="6" name="Slide Number Placeholder 5">
            <a:extLst>
              <a:ext uri="{FF2B5EF4-FFF2-40B4-BE49-F238E27FC236}">
                <a16:creationId xmlns:a16="http://schemas.microsoft.com/office/drawing/2014/main" id="{513532D1-AE2A-ADCD-94E6-52E41022128B}"/>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28</a:t>
            </a:fld>
            <a:endParaRPr lang="en-US"/>
          </a:p>
        </p:txBody>
      </p:sp>
      <p:grpSp>
        <p:nvGrpSpPr>
          <p:cNvPr id="5" name="Group 4">
            <a:extLst>
              <a:ext uri="{FF2B5EF4-FFF2-40B4-BE49-F238E27FC236}">
                <a16:creationId xmlns:a16="http://schemas.microsoft.com/office/drawing/2014/main" id="{6D806AC5-5CC2-0E87-44F5-56514DA5D380}"/>
              </a:ext>
            </a:extLst>
          </p:cNvPr>
          <p:cNvGrpSpPr/>
          <p:nvPr/>
        </p:nvGrpSpPr>
        <p:grpSpPr>
          <a:xfrm>
            <a:off x="838200" y="297639"/>
            <a:ext cx="4110990" cy="307138"/>
            <a:chOff x="838200" y="297639"/>
            <a:chExt cx="4110990" cy="307138"/>
          </a:xfrm>
        </p:grpSpPr>
        <p:grpSp>
          <p:nvGrpSpPr>
            <p:cNvPr id="7" name="Group 6">
              <a:extLst>
                <a:ext uri="{FF2B5EF4-FFF2-40B4-BE49-F238E27FC236}">
                  <a16:creationId xmlns:a16="http://schemas.microsoft.com/office/drawing/2014/main" id="{6235E924-2902-706A-B34E-189AE9E144D8}"/>
                </a:ext>
              </a:extLst>
            </p:cNvPr>
            <p:cNvGrpSpPr/>
            <p:nvPr/>
          </p:nvGrpSpPr>
          <p:grpSpPr>
            <a:xfrm>
              <a:off x="838200" y="297639"/>
              <a:ext cx="1687517" cy="290657"/>
              <a:chOff x="838200" y="297639"/>
              <a:chExt cx="1687517" cy="290657"/>
            </a:xfrm>
          </p:grpSpPr>
          <p:sp>
            <p:nvSpPr>
              <p:cNvPr id="9" name="AutoShape 9">
                <a:extLst>
                  <a:ext uri="{FF2B5EF4-FFF2-40B4-BE49-F238E27FC236}">
                    <a16:creationId xmlns:a16="http://schemas.microsoft.com/office/drawing/2014/main" id="{2C0E33A7-8892-C23A-4A1B-BCA32D458720}"/>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0" name="AutoShape 9">
                <a:extLst>
                  <a:ext uri="{FF2B5EF4-FFF2-40B4-BE49-F238E27FC236}">
                    <a16:creationId xmlns:a16="http://schemas.microsoft.com/office/drawing/2014/main" id="{A9967505-2DDD-4D71-F61F-AA9241DA0FC5}"/>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11" name="Group 10">
                <a:extLst>
                  <a:ext uri="{FF2B5EF4-FFF2-40B4-BE49-F238E27FC236}">
                    <a16:creationId xmlns:a16="http://schemas.microsoft.com/office/drawing/2014/main" id="{4D42CFBA-CECC-B86E-4629-672BF39FDBC6}"/>
                  </a:ext>
                </a:extLst>
              </p:cNvPr>
              <p:cNvGrpSpPr/>
              <p:nvPr/>
            </p:nvGrpSpPr>
            <p:grpSpPr>
              <a:xfrm>
                <a:off x="838200" y="297639"/>
                <a:ext cx="1060167" cy="290657"/>
                <a:chOff x="826426" y="4041857"/>
                <a:chExt cx="1060167" cy="290657"/>
              </a:xfrm>
            </p:grpSpPr>
            <p:sp>
              <p:nvSpPr>
                <p:cNvPr id="12" name="AutoShape 9">
                  <a:extLst>
                    <a:ext uri="{FF2B5EF4-FFF2-40B4-BE49-F238E27FC236}">
                      <a16:creationId xmlns:a16="http://schemas.microsoft.com/office/drawing/2014/main" id="{A02657E9-C9EE-C457-502E-715481FF75ED}"/>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3" name="AutoShape 11">
                  <a:extLst>
                    <a:ext uri="{FF2B5EF4-FFF2-40B4-BE49-F238E27FC236}">
                      <a16:creationId xmlns:a16="http://schemas.microsoft.com/office/drawing/2014/main" id="{BDA35210-733F-2EDE-FD5B-34A9E395473D}"/>
                    </a:ext>
                  </a:extLst>
                </p:cNvPr>
                <p:cNvSpPr>
                  <a:spLocks noChangeArrowheads="1"/>
                </p:cNvSpPr>
                <p:nvPr/>
              </p:nvSpPr>
              <p:spPr bwMode="auto">
                <a:xfrm>
                  <a:off x="1140101" y="4041858"/>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4" name="AutoShape 10">
                  <a:extLst>
                    <a:ext uri="{FF2B5EF4-FFF2-40B4-BE49-F238E27FC236}">
                      <a16:creationId xmlns:a16="http://schemas.microsoft.com/office/drawing/2014/main" id="{5581DFA6-21B0-3EB3-2A4D-CAAB66E4B2AD}"/>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8" name="TextBox 7">
              <a:extLst>
                <a:ext uri="{FF2B5EF4-FFF2-40B4-BE49-F238E27FC236}">
                  <a16:creationId xmlns:a16="http://schemas.microsoft.com/office/drawing/2014/main" id="{420648D0-D054-7623-F4FE-0519C9D05253}"/>
                </a:ext>
              </a:extLst>
            </p:cNvPr>
            <p:cNvSpPr txBox="1"/>
            <p:nvPr/>
          </p:nvSpPr>
          <p:spPr>
            <a:xfrm>
              <a:off x="2525717" y="313415"/>
              <a:ext cx="242347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CEDAC Problem Effect</a:t>
              </a:r>
            </a:p>
          </p:txBody>
        </p:sp>
      </p:grpSp>
      <p:pic>
        <p:nvPicPr>
          <p:cNvPr id="15" name="Object 12">
            <a:extLst>
              <a:ext uri="{FF2B5EF4-FFF2-40B4-BE49-F238E27FC236}">
                <a16:creationId xmlns:a16="http://schemas.microsoft.com/office/drawing/2014/main" id="{D0477016-3475-47D8-2EDA-B0F10E291689}"/>
              </a:ext>
            </a:extLst>
          </p:cNvPr>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bwMode="auto">
          <a:xfrm>
            <a:off x="6229781" y="2180672"/>
            <a:ext cx="5876059" cy="33628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spTree>
    <p:extLst>
      <p:ext uri="{BB962C8B-B14F-4D97-AF65-F5344CB8AC3E}">
        <p14:creationId xmlns:p14="http://schemas.microsoft.com/office/powerpoint/2010/main" val="201704666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2DF11FF7-095F-D1A9-6784-C53D538A36FF}"/>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29</a:t>
            </a:fld>
            <a:endParaRPr lang="en-US"/>
          </a:p>
        </p:txBody>
      </p:sp>
      <p:sp>
        <p:nvSpPr>
          <p:cNvPr id="2" name="Title 1">
            <a:extLst>
              <a:ext uri="{FF2B5EF4-FFF2-40B4-BE49-F238E27FC236}">
                <a16:creationId xmlns:a16="http://schemas.microsoft.com/office/drawing/2014/main" id="{0D77BA17-B180-9889-85DC-DBE8C080CFB7}"/>
              </a:ext>
            </a:extLst>
          </p:cNvPr>
          <p:cNvSpPr>
            <a:spLocks noGrp="1"/>
          </p:cNvSpPr>
          <p:nvPr>
            <p:ph type="title" idx="4294967295"/>
          </p:nvPr>
        </p:nvSpPr>
        <p:spPr>
          <a:xfrm>
            <a:off x="699911" y="1497012"/>
            <a:ext cx="9815689" cy="1009650"/>
          </a:xfrm>
          <a:prstGeom prst="rect">
            <a:avLst/>
          </a:prstGeom>
        </p:spPr>
        <p:txBody>
          <a:bodyPr>
            <a:normAutofit fontScale="90000"/>
          </a:bodyPr>
          <a:lstStyle/>
          <a:p>
            <a:r>
              <a:rPr lang="en-US" sz="4000" dirty="0">
                <a:latin typeface="Roboto Medium"/>
                <a:ea typeface="Roboto Medium"/>
                <a:cs typeface="Roboto Medium"/>
              </a:rPr>
              <a:t>CEDAC Step 2 – Establish and Validate Metrics</a:t>
            </a:r>
          </a:p>
        </p:txBody>
      </p:sp>
      <p:sp>
        <p:nvSpPr>
          <p:cNvPr id="3" name="Content Placeholder 2">
            <a:extLst>
              <a:ext uri="{FF2B5EF4-FFF2-40B4-BE49-F238E27FC236}">
                <a16:creationId xmlns:a16="http://schemas.microsoft.com/office/drawing/2014/main" id="{30534846-F3D4-20E7-25C0-91FCF7736CB5}"/>
              </a:ext>
            </a:extLst>
          </p:cNvPr>
          <p:cNvSpPr>
            <a:spLocks noGrp="1"/>
          </p:cNvSpPr>
          <p:nvPr>
            <p:ph idx="4294967295"/>
          </p:nvPr>
        </p:nvSpPr>
        <p:spPr>
          <a:xfrm>
            <a:off x="722489" y="2506662"/>
            <a:ext cx="10515600" cy="4351338"/>
          </a:xfrm>
        </p:spPr>
        <p:txBody>
          <a:bodyPr/>
          <a:lstStyle/>
          <a:p>
            <a:pPr marL="0" indent="0">
              <a:buNone/>
            </a:pPr>
            <a:r>
              <a:rPr lang="en-US" dirty="0">
                <a:latin typeface="Roboto Medium" panose="02000000000000000000" pitchFamily="2" charset="0"/>
                <a:ea typeface="Roboto Medium" panose="02000000000000000000" pitchFamily="2" charset="0"/>
                <a:cs typeface="Roboto Medium" panose="02000000000000000000" pitchFamily="2" charset="0"/>
              </a:rPr>
              <a:t>Objectives:</a:t>
            </a:r>
          </a:p>
          <a:p>
            <a:r>
              <a:rPr lang="en-US" sz="2400" dirty="0"/>
              <a:t>Explain why metrics are essential to solving problems</a:t>
            </a:r>
          </a:p>
          <a:p>
            <a:r>
              <a:rPr lang="en-US" sz="2400" dirty="0"/>
              <a:t>Characterize an appropriate metric as it relates to a problem</a:t>
            </a:r>
          </a:p>
          <a:p>
            <a:r>
              <a:rPr lang="en-US" sz="2400" dirty="0"/>
              <a:t>Differentiate quantitative versus qualitative metrics</a:t>
            </a:r>
          </a:p>
          <a:p>
            <a:r>
              <a:rPr lang="en-US" sz="2400" dirty="0"/>
              <a:t>Identify common pitfalls</a:t>
            </a:r>
          </a:p>
          <a:p>
            <a:r>
              <a:rPr lang="en-US" sz="2400" dirty="0"/>
              <a:t>Evaluate sample metrics</a:t>
            </a:r>
          </a:p>
        </p:txBody>
      </p:sp>
      <p:grpSp>
        <p:nvGrpSpPr>
          <p:cNvPr id="11" name="Group 10">
            <a:extLst>
              <a:ext uri="{FF2B5EF4-FFF2-40B4-BE49-F238E27FC236}">
                <a16:creationId xmlns:a16="http://schemas.microsoft.com/office/drawing/2014/main" id="{DCC7CB02-4F0E-2CE8-9EF1-D9AEB4FA2691}"/>
              </a:ext>
            </a:extLst>
          </p:cNvPr>
          <p:cNvGrpSpPr/>
          <p:nvPr/>
        </p:nvGrpSpPr>
        <p:grpSpPr>
          <a:xfrm>
            <a:off x="699911" y="837133"/>
            <a:ext cx="7273624" cy="659879"/>
            <a:chOff x="699911" y="1069861"/>
            <a:chExt cx="7273624" cy="350130"/>
          </a:xfrm>
        </p:grpSpPr>
        <p:sp>
          <p:nvSpPr>
            <p:cNvPr id="5" name="AutoShape 9">
              <a:extLst>
                <a:ext uri="{FF2B5EF4-FFF2-40B4-BE49-F238E27FC236}">
                  <a16:creationId xmlns:a16="http://schemas.microsoft.com/office/drawing/2014/main" id="{A10A2475-FBAF-2DA7-EE48-9E0556DB3824}"/>
                </a:ext>
              </a:extLst>
            </p:cNvPr>
            <p:cNvSpPr>
              <a:spLocks noChangeArrowheads="1"/>
            </p:cNvSpPr>
            <p:nvPr/>
          </p:nvSpPr>
          <p:spPr bwMode="auto">
            <a:xfrm>
              <a:off x="6395259" y="1069861"/>
              <a:ext cx="1578276" cy="350130"/>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200" dirty="0">
                  <a:solidFill>
                    <a:schemeClr val="bg1"/>
                  </a:solidFill>
                  <a:latin typeface="Roboto" panose="02000000000000000000" pitchFamily="2" charset="0"/>
                  <a:ea typeface="Roboto" panose="02000000000000000000" pitchFamily="2" charset="0"/>
                  <a:cs typeface="Roboto" panose="02000000000000000000" pitchFamily="2" charset="0"/>
                </a:rPr>
                <a:t>CEDAC Review</a:t>
              </a:r>
            </a:p>
          </p:txBody>
        </p:sp>
        <p:sp>
          <p:nvSpPr>
            <p:cNvPr id="4" name="AutoShape 9">
              <a:extLst>
                <a:ext uri="{FF2B5EF4-FFF2-40B4-BE49-F238E27FC236}">
                  <a16:creationId xmlns:a16="http://schemas.microsoft.com/office/drawing/2014/main" id="{663C2CC0-8818-6B25-BBA3-89708896610A}"/>
                </a:ext>
              </a:extLst>
            </p:cNvPr>
            <p:cNvSpPr>
              <a:spLocks noChangeArrowheads="1"/>
            </p:cNvSpPr>
            <p:nvPr/>
          </p:nvSpPr>
          <p:spPr bwMode="auto">
            <a:xfrm>
              <a:off x="4971710" y="1069861"/>
              <a:ext cx="1578276" cy="350130"/>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200" dirty="0">
                  <a:solidFill>
                    <a:schemeClr val="bg1"/>
                  </a:solidFill>
                  <a:latin typeface="Roboto" panose="02000000000000000000" pitchFamily="2" charset="0"/>
                  <a:ea typeface="Roboto" panose="02000000000000000000" pitchFamily="2" charset="0"/>
                  <a:cs typeface="Roboto" panose="02000000000000000000" pitchFamily="2" charset="0"/>
                </a:rPr>
                <a:t>CEDAC Solution</a:t>
              </a:r>
            </a:p>
          </p:txBody>
        </p:sp>
        <p:grpSp>
          <p:nvGrpSpPr>
            <p:cNvPr id="10" name="Group 9">
              <a:extLst>
                <a:ext uri="{FF2B5EF4-FFF2-40B4-BE49-F238E27FC236}">
                  <a16:creationId xmlns:a16="http://schemas.microsoft.com/office/drawing/2014/main" id="{DF07BA82-F1D2-01EE-36D7-0CE1E1021337}"/>
                </a:ext>
              </a:extLst>
            </p:cNvPr>
            <p:cNvGrpSpPr/>
            <p:nvPr/>
          </p:nvGrpSpPr>
          <p:grpSpPr>
            <a:xfrm>
              <a:off x="699911" y="1069861"/>
              <a:ext cx="4425950" cy="350130"/>
              <a:chOff x="5627530" y="641179"/>
              <a:chExt cx="6564470" cy="804977"/>
            </a:xfrm>
          </p:grpSpPr>
          <p:sp>
            <p:nvSpPr>
              <p:cNvPr id="7" name="AutoShape 9">
                <a:extLst>
                  <a:ext uri="{FF2B5EF4-FFF2-40B4-BE49-F238E27FC236}">
                    <a16:creationId xmlns:a16="http://schemas.microsoft.com/office/drawing/2014/main" id="{E658DE7F-EAE7-7BD9-8492-805CBFCFF7F5}"/>
                  </a:ext>
                </a:extLst>
              </p:cNvPr>
              <p:cNvSpPr>
                <a:spLocks noChangeArrowheads="1"/>
              </p:cNvSpPr>
              <p:nvPr/>
            </p:nvSpPr>
            <p:spPr bwMode="auto">
              <a:xfrm>
                <a:off x="9851136" y="641179"/>
                <a:ext cx="2340864" cy="804977"/>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200" dirty="0">
                    <a:solidFill>
                      <a:schemeClr val="bg1"/>
                    </a:solidFill>
                    <a:latin typeface="Roboto" panose="02000000000000000000" pitchFamily="2" charset="0"/>
                    <a:ea typeface="Roboto" panose="02000000000000000000" pitchFamily="2" charset="0"/>
                    <a:cs typeface="Roboto" panose="02000000000000000000" pitchFamily="2" charset="0"/>
                  </a:rPr>
                  <a:t>CEDAC Cause</a:t>
                </a:r>
              </a:p>
            </p:txBody>
          </p:sp>
          <p:sp>
            <p:nvSpPr>
              <p:cNvPr id="8" name="AutoShape 10">
                <a:extLst>
                  <a:ext uri="{FF2B5EF4-FFF2-40B4-BE49-F238E27FC236}">
                    <a16:creationId xmlns:a16="http://schemas.microsoft.com/office/drawing/2014/main" id="{3B341166-AC1F-8D30-9314-0FB3D948387F}"/>
                  </a:ext>
                </a:extLst>
              </p:cNvPr>
              <p:cNvSpPr>
                <a:spLocks noChangeArrowheads="1"/>
              </p:cNvSpPr>
              <p:nvPr/>
            </p:nvSpPr>
            <p:spPr bwMode="auto">
              <a:xfrm>
                <a:off x="7737856" y="641180"/>
                <a:ext cx="2342768" cy="804976"/>
              </a:xfrm>
              <a:prstGeom prst="homePlate">
                <a:avLst>
                  <a:gd name="adj" fmla="val 29912"/>
                </a:avLst>
              </a:prstGeom>
              <a:solidFill>
                <a:srgbClr val="FFB627"/>
              </a:solidFill>
              <a:ln w="12700" cap="sq">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r>
                  <a:rPr lang="en-US" altLang="en-US" sz="1200" dirty="0">
                    <a:latin typeface="Roboto" panose="02000000000000000000" pitchFamily="2" charset="0"/>
                    <a:ea typeface="Roboto" panose="02000000000000000000" pitchFamily="2" charset="0"/>
                  </a:rPr>
                  <a:t>CEDAC Effect</a:t>
                </a:r>
              </a:p>
            </p:txBody>
          </p:sp>
          <p:sp>
            <p:nvSpPr>
              <p:cNvPr id="9" name="AutoShape 11">
                <a:extLst>
                  <a:ext uri="{FF2B5EF4-FFF2-40B4-BE49-F238E27FC236}">
                    <a16:creationId xmlns:a16="http://schemas.microsoft.com/office/drawing/2014/main" id="{2AB16F46-B5FA-96F3-91C2-07B2F2F1CC6C}"/>
                  </a:ext>
                </a:extLst>
              </p:cNvPr>
              <p:cNvSpPr>
                <a:spLocks noChangeArrowheads="1"/>
              </p:cNvSpPr>
              <p:nvPr/>
            </p:nvSpPr>
            <p:spPr bwMode="auto">
              <a:xfrm>
                <a:off x="5627530" y="641179"/>
                <a:ext cx="2340864" cy="804977"/>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r>
                  <a:rPr lang="en-US" altLang="en-US" sz="1200" dirty="0">
                    <a:solidFill>
                      <a:schemeClr val="bg1"/>
                    </a:solidFill>
                    <a:latin typeface="Roboto" panose="02000000000000000000" pitchFamily="2" charset="0"/>
                    <a:ea typeface="Roboto" panose="02000000000000000000" pitchFamily="2" charset="0"/>
                  </a:rPr>
                  <a:t>CEDAC Overview</a:t>
                </a:r>
              </a:p>
            </p:txBody>
          </p:sp>
        </p:grpSp>
      </p:grpSp>
      <p:cxnSp>
        <p:nvCxnSpPr>
          <p:cNvPr id="12" name="Straight Connector 11">
            <a:extLst>
              <a:ext uri="{FF2B5EF4-FFF2-40B4-BE49-F238E27FC236}">
                <a16:creationId xmlns:a16="http://schemas.microsoft.com/office/drawing/2014/main" id="{A4FB0DFD-2D15-952D-9825-996B08251FD4}"/>
              </a:ext>
            </a:extLst>
          </p:cNvPr>
          <p:cNvCxnSpPr/>
          <p:nvPr/>
        </p:nvCxnSpPr>
        <p:spPr>
          <a:xfrm>
            <a:off x="699911" y="2386919"/>
            <a:ext cx="3882975" cy="0"/>
          </a:xfrm>
          <a:prstGeom prst="line">
            <a:avLst/>
          </a:prstGeom>
          <a:ln w="254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8236298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lstStyle/>
          <a:p>
            <a:r>
              <a:rPr lang="en-US" dirty="0"/>
              <a:t>Steps of the CEDAC Process</a:t>
            </a:r>
          </a:p>
        </p:txBody>
      </p:sp>
      <p:sp>
        <p:nvSpPr>
          <p:cNvPr id="3" name="Content Placeholder 2">
            <a:extLst>
              <a:ext uri="{FF2B5EF4-FFF2-40B4-BE49-F238E27FC236}">
                <a16:creationId xmlns:a16="http://schemas.microsoft.com/office/drawing/2014/main" id="{2AA7A201-AD05-6520-E140-CCF11E59E700}"/>
              </a:ext>
            </a:extLst>
          </p:cNvPr>
          <p:cNvSpPr>
            <a:spLocks noGrp="1"/>
          </p:cNvSpPr>
          <p:nvPr>
            <p:ph idx="1"/>
          </p:nvPr>
        </p:nvSpPr>
        <p:spPr>
          <a:xfrm>
            <a:off x="3200400" y="1825625"/>
            <a:ext cx="8153400" cy="4351338"/>
          </a:xfrm>
        </p:spPr>
        <p:txBody>
          <a:bodyPr>
            <a:normAutofit fontScale="92500" lnSpcReduction="20000"/>
          </a:bodyPr>
          <a:lstStyle/>
          <a:p>
            <a:pPr marL="514350" indent="-514350">
              <a:buFont typeface="+mj-lt"/>
              <a:buAutoNum type="arabicPeriod"/>
            </a:pPr>
            <a:r>
              <a:rPr lang="en-US" dirty="0"/>
              <a:t>Define problem</a:t>
            </a:r>
          </a:p>
          <a:p>
            <a:pPr marL="514350" indent="-514350">
              <a:buFont typeface="+mj-lt"/>
              <a:buAutoNum type="arabicPeriod"/>
            </a:pPr>
            <a:r>
              <a:rPr lang="en-US" dirty="0"/>
              <a:t>Establish and validate metrics</a:t>
            </a:r>
          </a:p>
          <a:p>
            <a:pPr marL="514350" indent="-514350">
              <a:buFont typeface="+mj-lt"/>
              <a:buAutoNum type="arabicPeriod"/>
            </a:pPr>
            <a:r>
              <a:rPr lang="en-US" dirty="0"/>
              <a:t>Determine Objective Statement </a:t>
            </a:r>
          </a:p>
          <a:p>
            <a:pPr marL="514350" indent="-514350">
              <a:buFont typeface="+mj-lt"/>
              <a:buAutoNum type="arabicPeriod"/>
            </a:pPr>
            <a:r>
              <a:rPr lang="en-US" dirty="0"/>
              <a:t>Create CEDAC diagram (Flowchart, Fishbone, etc.)</a:t>
            </a:r>
          </a:p>
          <a:p>
            <a:pPr marL="514350" indent="-514350">
              <a:buFont typeface="+mj-lt"/>
              <a:buAutoNum type="arabicPeriod"/>
            </a:pPr>
            <a:r>
              <a:rPr lang="en-US" dirty="0"/>
              <a:t>Brainstorm and create FACT Cards (in yellow) and post on diagram</a:t>
            </a:r>
          </a:p>
          <a:p>
            <a:pPr marL="514350" indent="-514350">
              <a:buFont typeface="+mj-lt"/>
              <a:buAutoNum type="arabicPeriod"/>
            </a:pPr>
            <a:r>
              <a:rPr lang="en-US" dirty="0"/>
              <a:t>Brainstorm and create IMPROVEMENT Cards (in blue) and post on diagram</a:t>
            </a:r>
          </a:p>
          <a:p>
            <a:pPr marL="514350" indent="-514350">
              <a:buFont typeface="+mj-lt"/>
              <a:buAutoNum type="arabicPeriod"/>
            </a:pPr>
            <a:r>
              <a:rPr lang="en-US" dirty="0"/>
              <a:t>Take action on the IMPROVEMENT cards</a:t>
            </a:r>
          </a:p>
          <a:p>
            <a:pPr marL="514350" indent="-514350">
              <a:buFont typeface="+mj-lt"/>
              <a:buAutoNum type="arabicPeriod"/>
            </a:pPr>
            <a:r>
              <a:rPr lang="en-US" dirty="0"/>
              <a:t>Institutionalize improvements (countermeasures) that have proven to solve the problem</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30</a:t>
            </a:fld>
            <a:endParaRPr lang="en-US"/>
          </a:p>
        </p:txBody>
      </p:sp>
      <p:grpSp>
        <p:nvGrpSpPr>
          <p:cNvPr id="14" name="Group 13">
            <a:extLst>
              <a:ext uri="{FF2B5EF4-FFF2-40B4-BE49-F238E27FC236}">
                <a16:creationId xmlns:a16="http://schemas.microsoft.com/office/drawing/2014/main" id="{D41303C2-E018-19D2-0EB5-6DA73CD24807}"/>
              </a:ext>
            </a:extLst>
          </p:cNvPr>
          <p:cNvGrpSpPr/>
          <p:nvPr/>
        </p:nvGrpSpPr>
        <p:grpSpPr>
          <a:xfrm>
            <a:off x="838200" y="297639"/>
            <a:ext cx="4110990" cy="307138"/>
            <a:chOff x="838200" y="297639"/>
            <a:chExt cx="4110990" cy="307138"/>
          </a:xfrm>
        </p:grpSpPr>
        <p:grpSp>
          <p:nvGrpSpPr>
            <p:cNvPr id="15" name="Group 14">
              <a:extLst>
                <a:ext uri="{FF2B5EF4-FFF2-40B4-BE49-F238E27FC236}">
                  <a16:creationId xmlns:a16="http://schemas.microsoft.com/office/drawing/2014/main" id="{E5786EBA-3CE5-0613-28ED-FAC08B873002}"/>
                </a:ext>
              </a:extLst>
            </p:cNvPr>
            <p:cNvGrpSpPr/>
            <p:nvPr/>
          </p:nvGrpSpPr>
          <p:grpSpPr>
            <a:xfrm>
              <a:off x="838200" y="297639"/>
              <a:ext cx="1687517" cy="290657"/>
              <a:chOff x="838200" y="297639"/>
              <a:chExt cx="1687517" cy="290657"/>
            </a:xfrm>
          </p:grpSpPr>
          <p:sp>
            <p:nvSpPr>
              <p:cNvPr id="17" name="AutoShape 9">
                <a:extLst>
                  <a:ext uri="{FF2B5EF4-FFF2-40B4-BE49-F238E27FC236}">
                    <a16:creationId xmlns:a16="http://schemas.microsoft.com/office/drawing/2014/main" id="{B174F6F9-D206-07A7-A64A-B68DDBDC1860}"/>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8" name="AutoShape 9">
                <a:extLst>
                  <a:ext uri="{FF2B5EF4-FFF2-40B4-BE49-F238E27FC236}">
                    <a16:creationId xmlns:a16="http://schemas.microsoft.com/office/drawing/2014/main" id="{E8BB91E2-C1AC-FCCB-16DF-8C2FF5B3FF85}"/>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19" name="Group 18">
                <a:extLst>
                  <a:ext uri="{FF2B5EF4-FFF2-40B4-BE49-F238E27FC236}">
                    <a16:creationId xmlns:a16="http://schemas.microsoft.com/office/drawing/2014/main" id="{E2AC478D-7F21-38EF-5560-D40E7C498246}"/>
                  </a:ext>
                </a:extLst>
              </p:cNvPr>
              <p:cNvGrpSpPr/>
              <p:nvPr/>
            </p:nvGrpSpPr>
            <p:grpSpPr>
              <a:xfrm>
                <a:off x="838200" y="297639"/>
                <a:ext cx="1060167" cy="290657"/>
                <a:chOff x="826426" y="4041857"/>
                <a:chExt cx="1060167" cy="290657"/>
              </a:xfrm>
            </p:grpSpPr>
            <p:sp>
              <p:nvSpPr>
                <p:cNvPr id="20" name="AutoShape 9">
                  <a:extLst>
                    <a:ext uri="{FF2B5EF4-FFF2-40B4-BE49-F238E27FC236}">
                      <a16:creationId xmlns:a16="http://schemas.microsoft.com/office/drawing/2014/main" id="{12AB7CB1-4480-4FEE-CE6F-B4F2FA2C986A}"/>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21" name="AutoShape 11">
                  <a:extLst>
                    <a:ext uri="{FF2B5EF4-FFF2-40B4-BE49-F238E27FC236}">
                      <a16:creationId xmlns:a16="http://schemas.microsoft.com/office/drawing/2014/main" id="{AA5419CA-4052-22B2-630C-B0633134EA3A}"/>
                    </a:ext>
                  </a:extLst>
                </p:cNvPr>
                <p:cNvSpPr>
                  <a:spLocks noChangeArrowheads="1"/>
                </p:cNvSpPr>
                <p:nvPr/>
              </p:nvSpPr>
              <p:spPr bwMode="auto">
                <a:xfrm>
                  <a:off x="1140101" y="4041858"/>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2" name="AutoShape 10">
                  <a:extLst>
                    <a:ext uri="{FF2B5EF4-FFF2-40B4-BE49-F238E27FC236}">
                      <a16:creationId xmlns:a16="http://schemas.microsoft.com/office/drawing/2014/main" id="{CCE40F93-E620-B6AC-E23C-FC6C2C06EBAF}"/>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16" name="TextBox 15">
              <a:extLst>
                <a:ext uri="{FF2B5EF4-FFF2-40B4-BE49-F238E27FC236}">
                  <a16:creationId xmlns:a16="http://schemas.microsoft.com/office/drawing/2014/main" id="{9A4733ED-8095-60E0-242E-EA2095CF4379}"/>
                </a:ext>
              </a:extLst>
            </p:cNvPr>
            <p:cNvSpPr txBox="1"/>
            <p:nvPr/>
          </p:nvSpPr>
          <p:spPr>
            <a:xfrm>
              <a:off x="2525717" y="313415"/>
              <a:ext cx="242347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CEDAC Problem Effect</a:t>
              </a:r>
            </a:p>
          </p:txBody>
        </p:sp>
      </p:grpSp>
      <p:sp>
        <p:nvSpPr>
          <p:cNvPr id="4" name="AutoShape 4">
            <a:extLst>
              <a:ext uri="{FF2B5EF4-FFF2-40B4-BE49-F238E27FC236}">
                <a16:creationId xmlns:a16="http://schemas.microsoft.com/office/drawing/2014/main" id="{2C717994-A0D3-16DA-F97C-85BEFFB148BC}"/>
              </a:ext>
            </a:extLst>
          </p:cNvPr>
          <p:cNvSpPr>
            <a:spLocks/>
          </p:cNvSpPr>
          <p:nvPr/>
        </p:nvSpPr>
        <p:spPr bwMode="auto">
          <a:xfrm flipH="1">
            <a:off x="2898773" y="1823551"/>
            <a:ext cx="301626" cy="1111921"/>
          </a:xfrm>
          <a:prstGeom prst="rightBrace">
            <a:avLst>
              <a:gd name="adj1" fmla="val 34561"/>
              <a:gd name="adj2" fmla="val 50000"/>
            </a:avLst>
          </a:prstGeom>
          <a:noFill/>
          <a:ln w="28575" cap="sq">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5000"/>
              </a:lnSpc>
              <a:buFont typeface="Wingdings" panose="05000000000000000000" pitchFamily="2" charset="2"/>
              <a:buNone/>
            </a:pPr>
            <a:endParaRPr lang="en-US" altLang="en-US" sz="1600"/>
          </a:p>
        </p:txBody>
      </p:sp>
      <p:sp>
        <p:nvSpPr>
          <p:cNvPr id="6" name="Text Box 5">
            <a:extLst>
              <a:ext uri="{FF2B5EF4-FFF2-40B4-BE49-F238E27FC236}">
                <a16:creationId xmlns:a16="http://schemas.microsoft.com/office/drawing/2014/main" id="{BB3ABBE3-744D-E1E3-8C89-8C1459A43648}"/>
              </a:ext>
            </a:extLst>
          </p:cNvPr>
          <p:cNvSpPr txBox="1">
            <a:spLocks noChangeArrowheads="1"/>
          </p:cNvSpPr>
          <p:nvPr/>
        </p:nvSpPr>
        <p:spPr bwMode="auto">
          <a:xfrm>
            <a:off x="1015999" y="2082705"/>
            <a:ext cx="1517655" cy="3139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wrap="square">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80000"/>
              </a:lnSpc>
              <a:spcBef>
                <a:spcPct val="20000"/>
              </a:spcBef>
              <a:spcAft>
                <a:spcPct val="0"/>
              </a:spcAft>
              <a:buClrTx/>
              <a:buSzTx/>
              <a:buFontTx/>
              <a:buNone/>
            </a:pPr>
            <a:r>
              <a:rPr lang="en-US" altLang="en-US" sz="1800" dirty="0">
                <a:latin typeface="Roboto" panose="02000000000000000000" pitchFamily="2" charset="0"/>
                <a:ea typeface="Roboto" panose="02000000000000000000" pitchFamily="2" charset="0"/>
              </a:rPr>
              <a:t>The </a:t>
            </a:r>
            <a:r>
              <a:rPr lang="ja-JP" altLang="en-US" sz="1800" dirty="0">
                <a:latin typeface="Roboto" panose="02000000000000000000" pitchFamily="2" charset="0"/>
              </a:rPr>
              <a:t>“</a:t>
            </a:r>
            <a:r>
              <a:rPr lang="en-US" altLang="ja-JP" sz="1800" dirty="0">
                <a:latin typeface="Roboto" panose="02000000000000000000" pitchFamily="2" charset="0"/>
                <a:ea typeface="Roboto" panose="02000000000000000000" pitchFamily="2" charset="0"/>
              </a:rPr>
              <a:t>Effect</a:t>
            </a:r>
            <a:r>
              <a:rPr lang="ja-JP" altLang="en-US" sz="1800" dirty="0">
                <a:latin typeface="Roboto" panose="02000000000000000000" pitchFamily="2" charset="0"/>
              </a:rPr>
              <a:t>”</a:t>
            </a:r>
            <a:endParaRPr lang="en-US" altLang="en-US" sz="1800" dirty="0">
              <a:latin typeface="Roboto" panose="02000000000000000000" pitchFamily="2" charset="0"/>
              <a:ea typeface="Roboto" panose="02000000000000000000" pitchFamily="2" charset="0"/>
            </a:endParaRPr>
          </a:p>
        </p:txBody>
      </p:sp>
      <p:sp>
        <p:nvSpPr>
          <p:cNvPr id="7" name="Text Box 6">
            <a:extLst>
              <a:ext uri="{FF2B5EF4-FFF2-40B4-BE49-F238E27FC236}">
                <a16:creationId xmlns:a16="http://schemas.microsoft.com/office/drawing/2014/main" id="{A328E56B-D593-3A7D-5959-8ABD25C46B81}"/>
              </a:ext>
            </a:extLst>
          </p:cNvPr>
          <p:cNvSpPr txBox="1">
            <a:spLocks noChangeArrowheads="1"/>
          </p:cNvSpPr>
          <p:nvPr/>
        </p:nvSpPr>
        <p:spPr bwMode="auto">
          <a:xfrm>
            <a:off x="1054608" y="3161234"/>
            <a:ext cx="1568455" cy="3139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wrap="square">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80000"/>
              </a:lnSpc>
              <a:spcBef>
                <a:spcPct val="20000"/>
              </a:spcBef>
              <a:spcAft>
                <a:spcPct val="0"/>
              </a:spcAft>
              <a:buClrTx/>
              <a:buSzTx/>
              <a:buFontTx/>
              <a:buNone/>
            </a:pPr>
            <a:r>
              <a:rPr lang="en-US" altLang="en-US" sz="1800" dirty="0">
                <a:latin typeface="Roboto" panose="02000000000000000000" pitchFamily="2" charset="0"/>
                <a:ea typeface="Roboto" panose="02000000000000000000" pitchFamily="2" charset="0"/>
              </a:rPr>
              <a:t>The </a:t>
            </a:r>
            <a:r>
              <a:rPr lang="ja-JP" altLang="en-US" sz="1800" dirty="0">
                <a:latin typeface="Roboto" panose="02000000000000000000" pitchFamily="2" charset="0"/>
              </a:rPr>
              <a:t>“</a:t>
            </a:r>
            <a:r>
              <a:rPr lang="en-US" altLang="ja-JP" sz="1800" dirty="0">
                <a:latin typeface="Roboto" panose="02000000000000000000" pitchFamily="2" charset="0"/>
                <a:ea typeface="Roboto" panose="02000000000000000000" pitchFamily="2" charset="0"/>
              </a:rPr>
              <a:t>Cause</a:t>
            </a:r>
            <a:r>
              <a:rPr lang="ja-JP" altLang="en-US" sz="1800" dirty="0">
                <a:latin typeface="Roboto" panose="02000000000000000000" pitchFamily="2" charset="0"/>
              </a:rPr>
              <a:t>”</a:t>
            </a:r>
            <a:endParaRPr lang="en-US" altLang="en-US" sz="1800" dirty="0">
              <a:latin typeface="Roboto" panose="02000000000000000000" pitchFamily="2" charset="0"/>
              <a:ea typeface="Roboto" panose="02000000000000000000" pitchFamily="2" charset="0"/>
            </a:endParaRPr>
          </a:p>
        </p:txBody>
      </p:sp>
      <p:sp>
        <p:nvSpPr>
          <p:cNvPr id="8" name="Text Box 7">
            <a:extLst>
              <a:ext uri="{FF2B5EF4-FFF2-40B4-BE49-F238E27FC236}">
                <a16:creationId xmlns:a16="http://schemas.microsoft.com/office/drawing/2014/main" id="{C1C25B89-DA4A-74B2-B4EA-E52AE658D2EB}"/>
              </a:ext>
            </a:extLst>
          </p:cNvPr>
          <p:cNvSpPr txBox="1">
            <a:spLocks noChangeArrowheads="1"/>
          </p:cNvSpPr>
          <p:nvPr/>
        </p:nvSpPr>
        <p:spPr bwMode="auto">
          <a:xfrm>
            <a:off x="1015999" y="4655928"/>
            <a:ext cx="1820868" cy="5293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wrap="square">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80000"/>
              </a:lnSpc>
              <a:spcBef>
                <a:spcPct val="20000"/>
              </a:spcBef>
              <a:spcAft>
                <a:spcPct val="0"/>
              </a:spcAft>
              <a:buClrTx/>
              <a:buSzTx/>
              <a:buFontTx/>
              <a:buNone/>
            </a:pPr>
            <a:r>
              <a:rPr lang="en-US" altLang="en-US" sz="1800" dirty="0">
                <a:latin typeface="Roboto" panose="02000000000000000000" pitchFamily="2" charset="0"/>
                <a:ea typeface="Roboto" panose="02000000000000000000" pitchFamily="2" charset="0"/>
              </a:rPr>
              <a:t>The </a:t>
            </a:r>
            <a:r>
              <a:rPr lang="ja-JP" altLang="en-US" sz="1800" dirty="0">
                <a:latin typeface="Roboto" panose="02000000000000000000" pitchFamily="2" charset="0"/>
              </a:rPr>
              <a:t>“</a:t>
            </a:r>
            <a:r>
              <a:rPr lang="en-US" altLang="ja-JP" sz="1800" dirty="0">
                <a:latin typeface="Roboto" panose="02000000000000000000" pitchFamily="2" charset="0"/>
                <a:ea typeface="Roboto" panose="02000000000000000000" pitchFamily="2" charset="0"/>
              </a:rPr>
              <a:t>Solution</a:t>
            </a:r>
            <a:r>
              <a:rPr lang="ja-JP" altLang="en-US" sz="1800" dirty="0">
                <a:latin typeface="Roboto" panose="02000000000000000000" pitchFamily="2" charset="0"/>
              </a:rPr>
              <a:t>”</a:t>
            </a:r>
            <a:endParaRPr lang="en-US" altLang="ja-JP" sz="1800" dirty="0">
              <a:latin typeface="Roboto" panose="02000000000000000000" pitchFamily="2" charset="0"/>
              <a:ea typeface="Roboto" panose="02000000000000000000" pitchFamily="2" charset="0"/>
            </a:endParaRPr>
          </a:p>
          <a:p>
            <a:pPr>
              <a:lnSpc>
                <a:spcPct val="80000"/>
              </a:lnSpc>
              <a:spcBef>
                <a:spcPct val="20000"/>
              </a:spcBef>
              <a:spcAft>
                <a:spcPct val="0"/>
              </a:spcAft>
              <a:buClrTx/>
              <a:buSzTx/>
              <a:buFontTx/>
              <a:buNone/>
            </a:pPr>
            <a:r>
              <a:rPr lang="en-US" altLang="en-US" sz="1400" dirty="0">
                <a:latin typeface="Roboto" panose="02000000000000000000" pitchFamily="2" charset="0"/>
                <a:ea typeface="Roboto" panose="02000000000000000000" pitchFamily="2" charset="0"/>
              </a:rPr>
              <a:t>(countermeasures)</a:t>
            </a:r>
          </a:p>
        </p:txBody>
      </p:sp>
      <p:sp>
        <p:nvSpPr>
          <p:cNvPr id="9" name="AutoShape 8">
            <a:extLst>
              <a:ext uri="{FF2B5EF4-FFF2-40B4-BE49-F238E27FC236}">
                <a16:creationId xmlns:a16="http://schemas.microsoft.com/office/drawing/2014/main" id="{522701E4-0150-E859-6D9E-FED001303A36}"/>
              </a:ext>
            </a:extLst>
          </p:cNvPr>
          <p:cNvSpPr>
            <a:spLocks/>
          </p:cNvSpPr>
          <p:nvPr/>
        </p:nvSpPr>
        <p:spPr bwMode="auto">
          <a:xfrm flipH="1">
            <a:off x="2898773" y="3045104"/>
            <a:ext cx="301626" cy="685422"/>
          </a:xfrm>
          <a:prstGeom prst="rightBrace">
            <a:avLst>
              <a:gd name="adj1" fmla="val 19123"/>
              <a:gd name="adj2" fmla="val 50000"/>
            </a:avLst>
          </a:prstGeom>
          <a:noFill/>
          <a:ln w="28575" cap="sq">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5000"/>
              </a:lnSpc>
              <a:buFont typeface="Wingdings" panose="05000000000000000000" pitchFamily="2" charset="2"/>
              <a:buNone/>
            </a:pPr>
            <a:endParaRPr lang="en-US" altLang="en-US" sz="1600"/>
          </a:p>
        </p:txBody>
      </p:sp>
      <p:sp>
        <p:nvSpPr>
          <p:cNvPr id="10" name="AutoShape 9">
            <a:extLst>
              <a:ext uri="{FF2B5EF4-FFF2-40B4-BE49-F238E27FC236}">
                <a16:creationId xmlns:a16="http://schemas.microsoft.com/office/drawing/2014/main" id="{35E8A71A-28DB-67DD-4CED-54BA17786406}"/>
              </a:ext>
            </a:extLst>
          </p:cNvPr>
          <p:cNvSpPr>
            <a:spLocks/>
          </p:cNvSpPr>
          <p:nvPr/>
        </p:nvSpPr>
        <p:spPr bwMode="auto">
          <a:xfrm flipH="1">
            <a:off x="2898773" y="4160521"/>
            <a:ext cx="301626" cy="1520190"/>
          </a:xfrm>
          <a:prstGeom prst="rightBrace">
            <a:avLst>
              <a:gd name="adj1" fmla="val 42412"/>
              <a:gd name="adj2" fmla="val 50000"/>
            </a:avLst>
          </a:prstGeom>
          <a:noFill/>
          <a:ln w="28575" cap="sq">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5000"/>
              </a:lnSpc>
              <a:buFont typeface="Wingdings" panose="05000000000000000000" pitchFamily="2" charset="2"/>
              <a:buNone/>
            </a:pPr>
            <a:endParaRPr lang="en-US" altLang="en-US" sz="1600"/>
          </a:p>
        </p:txBody>
      </p:sp>
      <p:sp>
        <p:nvSpPr>
          <p:cNvPr id="11" name="Rectangle 10">
            <a:extLst>
              <a:ext uri="{FF2B5EF4-FFF2-40B4-BE49-F238E27FC236}">
                <a16:creationId xmlns:a16="http://schemas.microsoft.com/office/drawing/2014/main" id="{B6A14166-925E-815D-420A-2FFA7F5E726F}"/>
              </a:ext>
            </a:extLst>
          </p:cNvPr>
          <p:cNvSpPr/>
          <p:nvPr/>
        </p:nvSpPr>
        <p:spPr>
          <a:xfrm>
            <a:off x="3200399" y="2137297"/>
            <a:ext cx="5212081" cy="438337"/>
          </a:xfrm>
          <a:prstGeom prst="rect">
            <a:avLst/>
          </a:prstGeom>
          <a:no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02274010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lstStyle/>
          <a:p>
            <a:r>
              <a:rPr lang="en-US" dirty="0"/>
              <a:t>Metrics are Essential</a:t>
            </a:r>
          </a:p>
        </p:txBody>
      </p:sp>
      <p:sp>
        <p:nvSpPr>
          <p:cNvPr id="3" name="Content Placeholder 2">
            <a:extLst>
              <a:ext uri="{FF2B5EF4-FFF2-40B4-BE49-F238E27FC236}">
                <a16:creationId xmlns:a16="http://schemas.microsoft.com/office/drawing/2014/main" id="{2AA7A201-AD05-6520-E140-CCF11E59E700}"/>
              </a:ext>
            </a:extLst>
          </p:cNvPr>
          <p:cNvSpPr>
            <a:spLocks noGrp="1"/>
          </p:cNvSpPr>
          <p:nvPr>
            <p:ph idx="1"/>
          </p:nvPr>
        </p:nvSpPr>
        <p:spPr/>
        <p:txBody>
          <a:bodyPr>
            <a:normAutofit/>
          </a:bodyPr>
          <a:lstStyle/>
          <a:p>
            <a:r>
              <a:rPr lang="en-US" dirty="0"/>
              <a:t>Provide an objective measure of the “health” of a process and give clear direction for problem solving</a:t>
            </a:r>
          </a:p>
          <a:p>
            <a:pPr lvl="1"/>
            <a:r>
              <a:rPr lang="en-US" dirty="0"/>
              <a:t>Personal health measures:  weight, blood pressure, cholesterol levels</a:t>
            </a:r>
          </a:p>
          <a:p>
            <a:pPr lvl="1"/>
            <a:r>
              <a:rPr lang="en-US" dirty="0"/>
              <a:t>Automobile measures:  oil level, gas mileage, tire pressure, temperature</a:t>
            </a:r>
          </a:p>
          <a:p>
            <a:r>
              <a:rPr lang="en-US" dirty="0"/>
              <a:t>Without metrics, you may not solve the correct problem or you may be “solving” something that isn’t a problem at all!</a:t>
            </a:r>
          </a:p>
          <a:p>
            <a:r>
              <a:rPr lang="en-US" dirty="0"/>
              <a:t>Provide feedback around the impact of the solutions you implement</a:t>
            </a:r>
          </a:p>
          <a:p>
            <a:r>
              <a:rPr lang="en-US" dirty="0"/>
              <a:t>Enable sustainability and further improvement</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31</a:t>
            </a:fld>
            <a:endParaRPr lang="en-US"/>
          </a:p>
        </p:txBody>
      </p:sp>
      <p:grpSp>
        <p:nvGrpSpPr>
          <p:cNvPr id="4" name="Group 3">
            <a:extLst>
              <a:ext uri="{FF2B5EF4-FFF2-40B4-BE49-F238E27FC236}">
                <a16:creationId xmlns:a16="http://schemas.microsoft.com/office/drawing/2014/main" id="{50ECF6E5-D79A-571C-970B-C8B41BC1B4B2}"/>
              </a:ext>
            </a:extLst>
          </p:cNvPr>
          <p:cNvGrpSpPr/>
          <p:nvPr/>
        </p:nvGrpSpPr>
        <p:grpSpPr>
          <a:xfrm>
            <a:off x="838200" y="297639"/>
            <a:ext cx="4110990" cy="307138"/>
            <a:chOff x="838200" y="297639"/>
            <a:chExt cx="4110990" cy="307138"/>
          </a:xfrm>
        </p:grpSpPr>
        <p:grpSp>
          <p:nvGrpSpPr>
            <p:cNvPr id="6" name="Group 5">
              <a:extLst>
                <a:ext uri="{FF2B5EF4-FFF2-40B4-BE49-F238E27FC236}">
                  <a16:creationId xmlns:a16="http://schemas.microsoft.com/office/drawing/2014/main" id="{C69A61A5-5AC5-A01E-F01A-24089C622710}"/>
                </a:ext>
              </a:extLst>
            </p:cNvPr>
            <p:cNvGrpSpPr/>
            <p:nvPr/>
          </p:nvGrpSpPr>
          <p:grpSpPr>
            <a:xfrm>
              <a:off x="838200" y="297639"/>
              <a:ext cx="1687517" cy="290657"/>
              <a:chOff x="838200" y="297639"/>
              <a:chExt cx="1687517" cy="290657"/>
            </a:xfrm>
          </p:grpSpPr>
          <p:sp>
            <p:nvSpPr>
              <p:cNvPr id="8" name="AutoShape 9">
                <a:extLst>
                  <a:ext uri="{FF2B5EF4-FFF2-40B4-BE49-F238E27FC236}">
                    <a16:creationId xmlns:a16="http://schemas.microsoft.com/office/drawing/2014/main" id="{FDCBE620-B70F-CEED-5A03-F2C18BB1926C}"/>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9" name="AutoShape 9">
                <a:extLst>
                  <a:ext uri="{FF2B5EF4-FFF2-40B4-BE49-F238E27FC236}">
                    <a16:creationId xmlns:a16="http://schemas.microsoft.com/office/drawing/2014/main" id="{F81EEB60-DF32-4EF2-B353-D046A8F70472}"/>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10" name="Group 9">
                <a:extLst>
                  <a:ext uri="{FF2B5EF4-FFF2-40B4-BE49-F238E27FC236}">
                    <a16:creationId xmlns:a16="http://schemas.microsoft.com/office/drawing/2014/main" id="{8BB369BF-419C-D35A-CC81-72A92DBFD01D}"/>
                  </a:ext>
                </a:extLst>
              </p:cNvPr>
              <p:cNvGrpSpPr/>
              <p:nvPr/>
            </p:nvGrpSpPr>
            <p:grpSpPr>
              <a:xfrm>
                <a:off x="838200" y="297639"/>
                <a:ext cx="1060167" cy="290657"/>
                <a:chOff x="826426" y="4041857"/>
                <a:chExt cx="1060167" cy="290657"/>
              </a:xfrm>
            </p:grpSpPr>
            <p:sp>
              <p:nvSpPr>
                <p:cNvPr id="11" name="AutoShape 9">
                  <a:extLst>
                    <a:ext uri="{FF2B5EF4-FFF2-40B4-BE49-F238E27FC236}">
                      <a16:creationId xmlns:a16="http://schemas.microsoft.com/office/drawing/2014/main" id="{9593D7A2-6E79-DA0F-2AD2-377C7B9D9486}"/>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2" name="AutoShape 11">
                  <a:extLst>
                    <a:ext uri="{FF2B5EF4-FFF2-40B4-BE49-F238E27FC236}">
                      <a16:creationId xmlns:a16="http://schemas.microsoft.com/office/drawing/2014/main" id="{B176881C-9231-D05E-D002-AE318302662B}"/>
                    </a:ext>
                  </a:extLst>
                </p:cNvPr>
                <p:cNvSpPr>
                  <a:spLocks noChangeArrowheads="1"/>
                </p:cNvSpPr>
                <p:nvPr/>
              </p:nvSpPr>
              <p:spPr bwMode="auto">
                <a:xfrm>
                  <a:off x="1140101" y="4041858"/>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3" name="AutoShape 10">
                  <a:extLst>
                    <a:ext uri="{FF2B5EF4-FFF2-40B4-BE49-F238E27FC236}">
                      <a16:creationId xmlns:a16="http://schemas.microsoft.com/office/drawing/2014/main" id="{D90B671F-A6E8-B252-AB93-AB3CCC07B318}"/>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7" name="TextBox 6">
              <a:extLst>
                <a:ext uri="{FF2B5EF4-FFF2-40B4-BE49-F238E27FC236}">
                  <a16:creationId xmlns:a16="http://schemas.microsoft.com/office/drawing/2014/main" id="{DA962D68-14CE-92FF-ACD8-8E6272A47280}"/>
                </a:ext>
              </a:extLst>
            </p:cNvPr>
            <p:cNvSpPr txBox="1"/>
            <p:nvPr/>
          </p:nvSpPr>
          <p:spPr>
            <a:xfrm>
              <a:off x="2525717" y="313415"/>
              <a:ext cx="242347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CEDAC Problem Effect</a:t>
              </a:r>
            </a:p>
          </p:txBody>
        </p:sp>
      </p:grpSp>
    </p:spTree>
    <p:extLst>
      <p:ext uri="{BB962C8B-B14F-4D97-AF65-F5344CB8AC3E}">
        <p14:creationId xmlns:p14="http://schemas.microsoft.com/office/powerpoint/2010/main" val="269124822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normAutofit/>
          </a:bodyPr>
          <a:lstStyle/>
          <a:p>
            <a:r>
              <a:rPr lang="en-US" sz="4000" dirty="0"/>
              <a:t>Characteristics of Appropriate Metrics</a:t>
            </a:r>
          </a:p>
        </p:txBody>
      </p:sp>
      <p:sp>
        <p:nvSpPr>
          <p:cNvPr id="3" name="Content Placeholder 2">
            <a:extLst>
              <a:ext uri="{FF2B5EF4-FFF2-40B4-BE49-F238E27FC236}">
                <a16:creationId xmlns:a16="http://schemas.microsoft.com/office/drawing/2014/main" id="{2AA7A201-AD05-6520-E140-CCF11E59E700}"/>
              </a:ext>
            </a:extLst>
          </p:cNvPr>
          <p:cNvSpPr>
            <a:spLocks noGrp="1"/>
          </p:cNvSpPr>
          <p:nvPr>
            <p:ph idx="1"/>
          </p:nvPr>
        </p:nvSpPr>
        <p:spPr/>
        <p:txBody>
          <a:bodyPr>
            <a:normAutofit lnSpcReduction="10000"/>
          </a:bodyPr>
          <a:lstStyle/>
          <a:p>
            <a:r>
              <a:rPr lang="en-US" sz="3200" dirty="0"/>
              <a:t>Measurable and specific</a:t>
            </a:r>
          </a:p>
          <a:p>
            <a:r>
              <a:rPr lang="en-US" sz="3200" dirty="0"/>
              <a:t>Cover appropriate time period reflective of entire process</a:t>
            </a:r>
          </a:p>
          <a:p>
            <a:r>
              <a:rPr lang="en-US" sz="3200" dirty="0"/>
              <a:t>Easy to capture, read and understand</a:t>
            </a:r>
          </a:p>
          <a:p>
            <a:r>
              <a:rPr lang="en-US" sz="3200" dirty="0"/>
              <a:t>Detailed to enable root cause resolution</a:t>
            </a:r>
          </a:p>
          <a:p>
            <a:r>
              <a:rPr lang="en-US" sz="3200" dirty="0"/>
              <a:t>Customer focused</a:t>
            </a:r>
          </a:p>
          <a:p>
            <a:r>
              <a:rPr lang="en-US" sz="3200" dirty="0"/>
              <a:t>Lead to action</a:t>
            </a:r>
          </a:p>
          <a:p>
            <a:r>
              <a:rPr lang="en-US" sz="3200" dirty="0"/>
              <a:t>Include clear ownership</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32</a:t>
            </a:fld>
            <a:endParaRPr lang="en-US"/>
          </a:p>
        </p:txBody>
      </p:sp>
      <p:grpSp>
        <p:nvGrpSpPr>
          <p:cNvPr id="4" name="Group 3">
            <a:extLst>
              <a:ext uri="{FF2B5EF4-FFF2-40B4-BE49-F238E27FC236}">
                <a16:creationId xmlns:a16="http://schemas.microsoft.com/office/drawing/2014/main" id="{50ECF6E5-D79A-571C-970B-C8B41BC1B4B2}"/>
              </a:ext>
            </a:extLst>
          </p:cNvPr>
          <p:cNvGrpSpPr/>
          <p:nvPr/>
        </p:nvGrpSpPr>
        <p:grpSpPr>
          <a:xfrm>
            <a:off x="838200" y="297639"/>
            <a:ext cx="4110990" cy="307138"/>
            <a:chOff x="838200" y="297639"/>
            <a:chExt cx="4110990" cy="307138"/>
          </a:xfrm>
        </p:grpSpPr>
        <p:grpSp>
          <p:nvGrpSpPr>
            <p:cNvPr id="6" name="Group 5">
              <a:extLst>
                <a:ext uri="{FF2B5EF4-FFF2-40B4-BE49-F238E27FC236}">
                  <a16:creationId xmlns:a16="http://schemas.microsoft.com/office/drawing/2014/main" id="{C69A61A5-5AC5-A01E-F01A-24089C622710}"/>
                </a:ext>
              </a:extLst>
            </p:cNvPr>
            <p:cNvGrpSpPr/>
            <p:nvPr/>
          </p:nvGrpSpPr>
          <p:grpSpPr>
            <a:xfrm>
              <a:off x="838200" y="297639"/>
              <a:ext cx="1687517" cy="290657"/>
              <a:chOff x="838200" y="297639"/>
              <a:chExt cx="1687517" cy="290657"/>
            </a:xfrm>
          </p:grpSpPr>
          <p:sp>
            <p:nvSpPr>
              <p:cNvPr id="8" name="AutoShape 9">
                <a:extLst>
                  <a:ext uri="{FF2B5EF4-FFF2-40B4-BE49-F238E27FC236}">
                    <a16:creationId xmlns:a16="http://schemas.microsoft.com/office/drawing/2014/main" id="{FDCBE620-B70F-CEED-5A03-F2C18BB1926C}"/>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9" name="AutoShape 9">
                <a:extLst>
                  <a:ext uri="{FF2B5EF4-FFF2-40B4-BE49-F238E27FC236}">
                    <a16:creationId xmlns:a16="http://schemas.microsoft.com/office/drawing/2014/main" id="{F81EEB60-DF32-4EF2-B353-D046A8F70472}"/>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10" name="Group 9">
                <a:extLst>
                  <a:ext uri="{FF2B5EF4-FFF2-40B4-BE49-F238E27FC236}">
                    <a16:creationId xmlns:a16="http://schemas.microsoft.com/office/drawing/2014/main" id="{8BB369BF-419C-D35A-CC81-72A92DBFD01D}"/>
                  </a:ext>
                </a:extLst>
              </p:cNvPr>
              <p:cNvGrpSpPr/>
              <p:nvPr/>
            </p:nvGrpSpPr>
            <p:grpSpPr>
              <a:xfrm>
                <a:off x="838200" y="297639"/>
                <a:ext cx="1060167" cy="290657"/>
                <a:chOff x="826426" y="4041857"/>
                <a:chExt cx="1060167" cy="290657"/>
              </a:xfrm>
            </p:grpSpPr>
            <p:sp>
              <p:nvSpPr>
                <p:cNvPr id="11" name="AutoShape 9">
                  <a:extLst>
                    <a:ext uri="{FF2B5EF4-FFF2-40B4-BE49-F238E27FC236}">
                      <a16:creationId xmlns:a16="http://schemas.microsoft.com/office/drawing/2014/main" id="{9593D7A2-6E79-DA0F-2AD2-377C7B9D9486}"/>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2" name="AutoShape 11">
                  <a:extLst>
                    <a:ext uri="{FF2B5EF4-FFF2-40B4-BE49-F238E27FC236}">
                      <a16:creationId xmlns:a16="http://schemas.microsoft.com/office/drawing/2014/main" id="{B176881C-9231-D05E-D002-AE318302662B}"/>
                    </a:ext>
                  </a:extLst>
                </p:cNvPr>
                <p:cNvSpPr>
                  <a:spLocks noChangeArrowheads="1"/>
                </p:cNvSpPr>
                <p:nvPr/>
              </p:nvSpPr>
              <p:spPr bwMode="auto">
                <a:xfrm>
                  <a:off x="1140101" y="4041858"/>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3" name="AutoShape 10">
                  <a:extLst>
                    <a:ext uri="{FF2B5EF4-FFF2-40B4-BE49-F238E27FC236}">
                      <a16:creationId xmlns:a16="http://schemas.microsoft.com/office/drawing/2014/main" id="{D90B671F-A6E8-B252-AB93-AB3CCC07B318}"/>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7" name="TextBox 6">
              <a:extLst>
                <a:ext uri="{FF2B5EF4-FFF2-40B4-BE49-F238E27FC236}">
                  <a16:creationId xmlns:a16="http://schemas.microsoft.com/office/drawing/2014/main" id="{DA962D68-14CE-92FF-ACD8-8E6272A47280}"/>
                </a:ext>
              </a:extLst>
            </p:cNvPr>
            <p:cNvSpPr txBox="1"/>
            <p:nvPr/>
          </p:nvSpPr>
          <p:spPr>
            <a:xfrm>
              <a:off x="2525717" y="313415"/>
              <a:ext cx="242347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CEDAC Problem Effect</a:t>
              </a:r>
            </a:p>
          </p:txBody>
        </p:sp>
      </p:grpSp>
    </p:spTree>
    <p:extLst>
      <p:ext uri="{BB962C8B-B14F-4D97-AF65-F5344CB8AC3E}">
        <p14:creationId xmlns:p14="http://schemas.microsoft.com/office/powerpoint/2010/main" val="107561605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noAutofit/>
          </a:bodyPr>
          <a:lstStyle/>
          <a:p>
            <a:r>
              <a:rPr lang="en-US" sz="3200" dirty="0"/>
              <a:t>Differentiate Qualitative versus Quantitative metrics</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33</a:t>
            </a:fld>
            <a:endParaRPr lang="en-US"/>
          </a:p>
        </p:txBody>
      </p:sp>
      <p:graphicFrame>
        <p:nvGraphicFramePr>
          <p:cNvPr id="3" name="Group 34">
            <a:extLst>
              <a:ext uri="{FF2B5EF4-FFF2-40B4-BE49-F238E27FC236}">
                <a16:creationId xmlns:a16="http://schemas.microsoft.com/office/drawing/2014/main" id="{8903D1A0-9AF7-63D9-2123-FC35A2B7133A}"/>
              </a:ext>
            </a:extLst>
          </p:cNvPr>
          <p:cNvGraphicFramePr>
            <a:graphicFrameLocks noGrp="1"/>
          </p:cNvGraphicFramePr>
          <p:nvPr>
            <p:extLst>
              <p:ext uri="{D42A27DB-BD31-4B8C-83A1-F6EECF244321}">
                <p14:modId xmlns:p14="http://schemas.microsoft.com/office/powerpoint/2010/main" val="2459502157"/>
              </p:ext>
            </p:extLst>
          </p:nvPr>
        </p:nvGraphicFramePr>
        <p:xfrm>
          <a:off x="838201" y="1902863"/>
          <a:ext cx="10706100" cy="3225750"/>
        </p:xfrm>
        <a:graphic>
          <a:graphicData uri="http://schemas.openxmlformats.org/drawingml/2006/table">
            <a:tbl>
              <a:tblPr/>
              <a:tblGrid>
                <a:gridCol w="5579874">
                  <a:extLst>
                    <a:ext uri="{9D8B030D-6E8A-4147-A177-3AD203B41FA5}">
                      <a16:colId xmlns:a16="http://schemas.microsoft.com/office/drawing/2014/main" val="20000"/>
                    </a:ext>
                  </a:extLst>
                </a:gridCol>
                <a:gridCol w="5126226">
                  <a:extLst>
                    <a:ext uri="{9D8B030D-6E8A-4147-A177-3AD203B41FA5}">
                      <a16:colId xmlns:a16="http://schemas.microsoft.com/office/drawing/2014/main" val="20002"/>
                    </a:ext>
                  </a:extLst>
                </a:gridCol>
              </a:tblGrid>
              <a:tr h="0">
                <a:tc>
                  <a:txBody>
                    <a:bodyPr/>
                    <a:lstStyle/>
                    <a:p>
                      <a:pPr marL="0" marR="0" lvl="0" indent="0" algn="l" defTabSz="914400" rtl="0" eaLnBrk="0" fontAlgn="base" latinLnBrk="0" hangingPunct="0">
                        <a:lnSpc>
                          <a:spcPct val="115000"/>
                        </a:lnSpc>
                        <a:spcBef>
                          <a:spcPct val="50000"/>
                        </a:spcBef>
                        <a:spcAft>
                          <a:spcPct val="50000"/>
                        </a:spcAft>
                        <a:buClr>
                          <a:srgbClr val="006699"/>
                        </a:buClr>
                        <a:buSzPct val="90000"/>
                        <a:buFont typeface="Wingdings" pitchFamily="2" charset="2"/>
                        <a:buNone/>
                        <a:tabLst/>
                      </a:pPr>
                      <a:r>
                        <a:rPr kumimoji="0" lang="en-US" sz="3200" b="1" i="0" u="none" strike="noStrike" cap="none" normalizeH="0" baseline="0" dirty="0">
                          <a:ln>
                            <a:noFill/>
                          </a:ln>
                          <a:solidFill>
                            <a:schemeClr val="bg1"/>
                          </a:solidFill>
                          <a:effectLst/>
                          <a:latin typeface="Roboto" panose="02000000000000000000" pitchFamily="2" charset="0"/>
                          <a:ea typeface="Roboto" panose="02000000000000000000" pitchFamily="2" charset="0"/>
                        </a:rPr>
                        <a:t>Qualitative</a:t>
                      </a:r>
                    </a:p>
                  </a:txBody>
                  <a:tcPr marT="45715" marB="45715" anchor="b"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r" defTabSz="914400" rtl="0" eaLnBrk="0" fontAlgn="base" latinLnBrk="0" hangingPunct="0">
                        <a:lnSpc>
                          <a:spcPct val="115000"/>
                        </a:lnSpc>
                        <a:spcBef>
                          <a:spcPct val="50000"/>
                        </a:spcBef>
                        <a:spcAft>
                          <a:spcPct val="50000"/>
                        </a:spcAft>
                        <a:buClr>
                          <a:srgbClr val="006699"/>
                        </a:buClr>
                        <a:buSzPct val="90000"/>
                        <a:buFont typeface="Wingdings" pitchFamily="2" charset="2"/>
                        <a:buNone/>
                        <a:tabLst/>
                      </a:pPr>
                      <a:r>
                        <a:rPr kumimoji="0" lang="en-US" sz="3200" b="1" i="0" u="none" strike="noStrike" cap="none" normalizeH="0" baseline="0" dirty="0">
                          <a:ln>
                            <a:noFill/>
                          </a:ln>
                          <a:solidFill>
                            <a:schemeClr val="bg1"/>
                          </a:solidFill>
                          <a:effectLst/>
                          <a:latin typeface="Roboto" panose="02000000000000000000" pitchFamily="2" charset="0"/>
                          <a:ea typeface="Roboto" panose="02000000000000000000" pitchFamily="2" charset="0"/>
                        </a:rPr>
                        <a:t>Quantitative</a:t>
                      </a:r>
                    </a:p>
                  </a:txBody>
                  <a:tcPr marT="45715" marB="45715" anchor="b"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0">
                <a:tc>
                  <a:txBody>
                    <a:bodyPr/>
                    <a:lstStyle/>
                    <a:p>
                      <a:pPr marL="0" marR="0" lvl="0" indent="0" algn="l" defTabSz="914400" rtl="0" eaLnBrk="0" fontAlgn="base" latinLnBrk="0" hangingPunct="0">
                        <a:lnSpc>
                          <a:spcPct val="115000"/>
                        </a:lnSpc>
                        <a:spcBef>
                          <a:spcPct val="20000"/>
                        </a:spcBef>
                        <a:spcAft>
                          <a:spcPct val="20000"/>
                        </a:spcAft>
                        <a:buClr>
                          <a:srgbClr val="006699"/>
                        </a:buClr>
                        <a:buSzPct val="90000"/>
                        <a:buFont typeface="Wingdings" pitchFamily="2" charset="2"/>
                        <a:buNone/>
                        <a:tabLst/>
                      </a:pPr>
                      <a:r>
                        <a:rPr kumimoji="0" lang="en-US" sz="2400" b="1" i="0" u="none" strike="noStrike" kern="1200" cap="none" normalizeH="0" baseline="0" dirty="0">
                          <a:ln>
                            <a:noFill/>
                          </a:ln>
                          <a:solidFill>
                            <a:schemeClr val="tx1"/>
                          </a:solidFill>
                          <a:effectLst/>
                          <a:latin typeface="Roboto" panose="02000000000000000000" pitchFamily="2" charset="0"/>
                          <a:ea typeface="Roboto" panose="02000000000000000000" pitchFamily="2" charset="0"/>
                          <a:cs typeface="+mn-cs"/>
                        </a:rPr>
                        <a:t>It is hot</a:t>
                      </a:r>
                    </a:p>
                  </a:txBody>
                  <a:tcPr marT="45715" marB="45715"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0" fontAlgn="base" latinLnBrk="0" hangingPunct="0">
                        <a:lnSpc>
                          <a:spcPct val="100000"/>
                        </a:lnSpc>
                        <a:spcBef>
                          <a:spcPct val="20000"/>
                        </a:spcBef>
                        <a:spcAft>
                          <a:spcPct val="20000"/>
                        </a:spcAft>
                        <a:buClr>
                          <a:schemeClr val="tx1"/>
                        </a:buClr>
                        <a:buSzPct val="90000"/>
                        <a:buFont typeface="Arial" panose="020B0604020202020204" pitchFamily="34" charset="0"/>
                        <a:buNone/>
                        <a:tabLst/>
                      </a:pPr>
                      <a:r>
                        <a:rPr kumimoji="0" lang="en-US" sz="2400" b="1" i="0" u="none" strike="noStrike" kern="1200" cap="none" normalizeH="0" baseline="0" dirty="0">
                          <a:ln>
                            <a:noFill/>
                          </a:ln>
                          <a:solidFill>
                            <a:schemeClr val="tx1"/>
                          </a:solidFill>
                          <a:effectLst/>
                          <a:latin typeface="Roboto" panose="02000000000000000000" pitchFamily="2" charset="0"/>
                          <a:ea typeface="Roboto" panose="02000000000000000000" pitchFamily="2" charset="0"/>
                          <a:cs typeface="+mn-cs"/>
                        </a:rPr>
                        <a:t>It is 100 degrees F</a:t>
                      </a:r>
                    </a:p>
                  </a:txBody>
                  <a:tcPr marT="45715" marB="45715"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0">
                <a:tc>
                  <a:txBody>
                    <a:bodyPr/>
                    <a:lstStyle/>
                    <a:p>
                      <a:pPr marL="0" marR="0" lvl="0" indent="0" algn="l" defTabSz="914400" rtl="0" eaLnBrk="0" fontAlgn="base" latinLnBrk="0" hangingPunct="0">
                        <a:lnSpc>
                          <a:spcPct val="115000"/>
                        </a:lnSpc>
                        <a:spcBef>
                          <a:spcPct val="20000"/>
                        </a:spcBef>
                        <a:spcAft>
                          <a:spcPct val="20000"/>
                        </a:spcAft>
                        <a:buClr>
                          <a:srgbClr val="006699"/>
                        </a:buClr>
                        <a:buSzPct val="90000"/>
                        <a:buFont typeface="Wingdings" pitchFamily="2" charset="2"/>
                        <a:buNone/>
                        <a:tabLst/>
                      </a:pPr>
                      <a:r>
                        <a:rPr kumimoji="0" lang="en-US" sz="2400" b="1" i="0" u="none" strike="noStrike" kern="1200" cap="none" normalizeH="0" baseline="0" dirty="0">
                          <a:ln>
                            <a:noFill/>
                          </a:ln>
                          <a:solidFill>
                            <a:schemeClr val="tx1"/>
                          </a:solidFill>
                          <a:effectLst/>
                          <a:latin typeface="Roboto" panose="02000000000000000000" pitchFamily="2" charset="0"/>
                          <a:ea typeface="Roboto" panose="02000000000000000000" pitchFamily="2" charset="0"/>
                          <a:cs typeface="+mn-cs"/>
                        </a:rPr>
                        <a:t>Quality is poor</a:t>
                      </a:r>
                    </a:p>
                  </a:txBody>
                  <a:tcPr marT="45715" marB="45715"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0" fontAlgn="base" latinLnBrk="0" hangingPunct="0">
                        <a:lnSpc>
                          <a:spcPct val="100000"/>
                        </a:lnSpc>
                        <a:spcBef>
                          <a:spcPct val="20000"/>
                        </a:spcBef>
                        <a:spcAft>
                          <a:spcPct val="20000"/>
                        </a:spcAft>
                        <a:buClr>
                          <a:schemeClr val="tx1"/>
                        </a:buClr>
                        <a:buSzPct val="90000"/>
                        <a:buFont typeface="Arial" panose="020B0604020202020204" pitchFamily="34" charset="0"/>
                        <a:buNone/>
                        <a:tabLst/>
                      </a:pPr>
                      <a:r>
                        <a:rPr kumimoji="0" lang="en-US" sz="2400" b="1" i="0" u="none" strike="noStrike" kern="1200" cap="none" normalizeH="0" baseline="0" dirty="0">
                          <a:ln>
                            <a:noFill/>
                          </a:ln>
                          <a:solidFill>
                            <a:schemeClr val="tx1"/>
                          </a:solidFill>
                          <a:effectLst/>
                          <a:latin typeface="Roboto" panose="02000000000000000000" pitchFamily="2" charset="0"/>
                          <a:ea typeface="Roboto" panose="02000000000000000000" pitchFamily="2" charset="0"/>
                          <a:cs typeface="+mn-cs"/>
                        </a:rPr>
                        <a:t>First pass yield has decreased from 90% to 60%</a:t>
                      </a:r>
                    </a:p>
                  </a:txBody>
                  <a:tcPr marT="45715" marB="45715"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0">
                <a:tc>
                  <a:txBody>
                    <a:bodyPr/>
                    <a:lstStyle/>
                    <a:p>
                      <a:pPr marL="0" marR="0" lvl="0" indent="0" algn="l" defTabSz="914400" rtl="0" eaLnBrk="0" fontAlgn="base" latinLnBrk="0" hangingPunct="0">
                        <a:lnSpc>
                          <a:spcPct val="115000"/>
                        </a:lnSpc>
                        <a:spcBef>
                          <a:spcPct val="20000"/>
                        </a:spcBef>
                        <a:spcAft>
                          <a:spcPct val="20000"/>
                        </a:spcAft>
                        <a:buClr>
                          <a:srgbClr val="006699"/>
                        </a:buClr>
                        <a:buSzPct val="90000"/>
                        <a:buFont typeface="Wingdings" pitchFamily="2" charset="2"/>
                        <a:buNone/>
                        <a:tabLst/>
                        <a:defRPr/>
                      </a:pPr>
                      <a:r>
                        <a:rPr kumimoji="0" lang="en-US" sz="2400" b="1" i="0" u="none" strike="noStrike" kern="1200" cap="none" normalizeH="0" baseline="0" dirty="0">
                          <a:ln>
                            <a:noFill/>
                          </a:ln>
                          <a:solidFill>
                            <a:schemeClr val="tx1"/>
                          </a:solidFill>
                          <a:effectLst/>
                          <a:latin typeface="Roboto" panose="02000000000000000000" pitchFamily="2" charset="0"/>
                          <a:ea typeface="Roboto" panose="02000000000000000000" pitchFamily="2" charset="0"/>
                          <a:cs typeface="+mn-cs"/>
                        </a:rPr>
                        <a:t>Customers are not happy</a:t>
                      </a:r>
                    </a:p>
                  </a:txBody>
                  <a:tcPr marT="45715" marB="45715"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0" fontAlgn="base" latinLnBrk="0" hangingPunct="0">
                        <a:lnSpc>
                          <a:spcPct val="100000"/>
                        </a:lnSpc>
                        <a:spcBef>
                          <a:spcPct val="20000"/>
                        </a:spcBef>
                        <a:spcAft>
                          <a:spcPct val="20000"/>
                        </a:spcAft>
                        <a:buClr>
                          <a:schemeClr val="tx1"/>
                        </a:buClr>
                        <a:buSzPct val="90000"/>
                        <a:buFont typeface="Arial" panose="020B0604020202020204" pitchFamily="34" charset="0"/>
                        <a:buNone/>
                        <a:tabLst/>
                      </a:pPr>
                      <a:r>
                        <a:rPr kumimoji="0" lang="en-US" sz="2400" b="1" i="0" u="none" strike="noStrike" kern="1200" cap="none" normalizeH="0" baseline="0" dirty="0">
                          <a:ln>
                            <a:noFill/>
                          </a:ln>
                          <a:solidFill>
                            <a:schemeClr val="tx1"/>
                          </a:solidFill>
                          <a:effectLst/>
                          <a:latin typeface="Roboto" panose="02000000000000000000" pitchFamily="2" charset="0"/>
                          <a:ea typeface="Roboto" panose="02000000000000000000" pitchFamily="2" charset="0"/>
                          <a:cs typeface="+mn-cs"/>
                        </a:rPr>
                        <a:t>Customer complaints have tripled in the last month</a:t>
                      </a:r>
                    </a:p>
                  </a:txBody>
                  <a:tcPr marT="45715" marB="45715"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475828321"/>
                  </a:ext>
                </a:extLst>
              </a:tr>
              <a:tr h="140433">
                <a:tc>
                  <a:txBody>
                    <a:bodyPr/>
                    <a:lstStyle/>
                    <a:p>
                      <a:pPr marL="0" marR="0" lvl="0" indent="0" algn="l" defTabSz="914400" rtl="0" eaLnBrk="0" fontAlgn="base" latinLnBrk="0" hangingPunct="0">
                        <a:lnSpc>
                          <a:spcPct val="115000"/>
                        </a:lnSpc>
                        <a:spcBef>
                          <a:spcPct val="20000"/>
                        </a:spcBef>
                        <a:spcAft>
                          <a:spcPct val="20000"/>
                        </a:spcAft>
                        <a:buClr>
                          <a:srgbClr val="006699"/>
                        </a:buClr>
                        <a:buSzPct val="90000"/>
                        <a:buFont typeface="Wingdings" pitchFamily="2" charset="2"/>
                        <a:buNone/>
                        <a:tabLst/>
                      </a:pPr>
                      <a:r>
                        <a:rPr kumimoji="0" lang="en-US" sz="2400" b="1" i="0" u="none" strike="noStrike" kern="1200" cap="none" normalizeH="0" baseline="0" dirty="0">
                          <a:ln>
                            <a:noFill/>
                          </a:ln>
                          <a:solidFill>
                            <a:schemeClr val="tx1"/>
                          </a:solidFill>
                          <a:effectLst/>
                          <a:latin typeface="Roboto" panose="02000000000000000000" pitchFamily="2" charset="0"/>
                          <a:ea typeface="Roboto" panose="02000000000000000000" pitchFamily="2" charset="0"/>
                          <a:cs typeface="+mn-cs"/>
                        </a:rPr>
                        <a:t>Morale is low</a:t>
                      </a:r>
                    </a:p>
                  </a:txBody>
                  <a:tcPr marT="45715" marB="45715"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0" fontAlgn="base" latinLnBrk="0" hangingPunct="0">
                        <a:lnSpc>
                          <a:spcPct val="100000"/>
                        </a:lnSpc>
                        <a:spcBef>
                          <a:spcPct val="20000"/>
                        </a:spcBef>
                        <a:spcAft>
                          <a:spcPct val="20000"/>
                        </a:spcAft>
                        <a:buClr>
                          <a:schemeClr val="tx1"/>
                        </a:buClr>
                        <a:buSzPct val="90000"/>
                        <a:buFont typeface="Arial" panose="020B0604020202020204" pitchFamily="34" charset="0"/>
                        <a:buNone/>
                        <a:tabLst/>
                      </a:pPr>
                      <a:r>
                        <a:rPr kumimoji="0" lang="en-US" sz="2400" b="1" i="0" u="none" strike="noStrike" kern="1200" cap="none" normalizeH="0" baseline="0" dirty="0">
                          <a:ln>
                            <a:noFill/>
                          </a:ln>
                          <a:solidFill>
                            <a:schemeClr val="tx1"/>
                          </a:solidFill>
                          <a:effectLst/>
                          <a:latin typeface="Roboto" panose="02000000000000000000" pitchFamily="2" charset="0"/>
                          <a:ea typeface="Roboto" panose="02000000000000000000" pitchFamily="2" charset="0"/>
                          <a:cs typeface="+mn-cs"/>
                        </a:rPr>
                        <a:t>Employee turnover is 46%</a:t>
                      </a:r>
                    </a:p>
                  </a:txBody>
                  <a:tcPr marT="45715" marB="45715"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grpSp>
        <p:nvGrpSpPr>
          <p:cNvPr id="4" name="Group 3">
            <a:extLst>
              <a:ext uri="{FF2B5EF4-FFF2-40B4-BE49-F238E27FC236}">
                <a16:creationId xmlns:a16="http://schemas.microsoft.com/office/drawing/2014/main" id="{94BA6204-2457-711B-1764-EC8F05298270}"/>
              </a:ext>
            </a:extLst>
          </p:cNvPr>
          <p:cNvGrpSpPr/>
          <p:nvPr/>
        </p:nvGrpSpPr>
        <p:grpSpPr>
          <a:xfrm>
            <a:off x="838200" y="297639"/>
            <a:ext cx="4110990" cy="307138"/>
            <a:chOff x="838200" y="297639"/>
            <a:chExt cx="4110990" cy="307138"/>
          </a:xfrm>
        </p:grpSpPr>
        <p:grpSp>
          <p:nvGrpSpPr>
            <p:cNvPr id="6" name="Group 5">
              <a:extLst>
                <a:ext uri="{FF2B5EF4-FFF2-40B4-BE49-F238E27FC236}">
                  <a16:creationId xmlns:a16="http://schemas.microsoft.com/office/drawing/2014/main" id="{0648C5F8-0A90-103E-C5BA-D860299EEB30}"/>
                </a:ext>
              </a:extLst>
            </p:cNvPr>
            <p:cNvGrpSpPr/>
            <p:nvPr/>
          </p:nvGrpSpPr>
          <p:grpSpPr>
            <a:xfrm>
              <a:off x="838200" y="297639"/>
              <a:ext cx="1687517" cy="290657"/>
              <a:chOff x="838200" y="297639"/>
              <a:chExt cx="1687517" cy="290657"/>
            </a:xfrm>
          </p:grpSpPr>
          <p:sp>
            <p:nvSpPr>
              <p:cNvPr id="8" name="AutoShape 9">
                <a:extLst>
                  <a:ext uri="{FF2B5EF4-FFF2-40B4-BE49-F238E27FC236}">
                    <a16:creationId xmlns:a16="http://schemas.microsoft.com/office/drawing/2014/main" id="{41836353-8444-6D61-D627-5EAB8B760690}"/>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9" name="AutoShape 9">
                <a:extLst>
                  <a:ext uri="{FF2B5EF4-FFF2-40B4-BE49-F238E27FC236}">
                    <a16:creationId xmlns:a16="http://schemas.microsoft.com/office/drawing/2014/main" id="{2384E061-C36B-9A09-FCF8-D8ABCFBF61C9}"/>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10" name="Group 9">
                <a:extLst>
                  <a:ext uri="{FF2B5EF4-FFF2-40B4-BE49-F238E27FC236}">
                    <a16:creationId xmlns:a16="http://schemas.microsoft.com/office/drawing/2014/main" id="{6DE295F0-2BC9-EF9A-56FC-0C4F6E98962E}"/>
                  </a:ext>
                </a:extLst>
              </p:cNvPr>
              <p:cNvGrpSpPr/>
              <p:nvPr/>
            </p:nvGrpSpPr>
            <p:grpSpPr>
              <a:xfrm>
                <a:off x="838200" y="297639"/>
                <a:ext cx="1060167" cy="290657"/>
                <a:chOff x="826426" y="4041857"/>
                <a:chExt cx="1060167" cy="290657"/>
              </a:xfrm>
            </p:grpSpPr>
            <p:sp>
              <p:nvSpPr>
                <p:cNvPr id="11" name="AutoShape 9">
                  <a:extLst>
                    <a:ext uri="{FF2B5EF4-FFF2-40B4-BE49-F238E27FC236}">
                      <a16:creationId xmlns:a16="http://schemas.microsoft.com/office/drawing/2014/main" id="{47B706EF-DF91-0984-9B1A-D07DE072C8CE}"/>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2" name="AutoShape 11">
                  <a:extLst>
                    <a:ext uri="{FF2B5EF4-FFF2-40B4-BE49-F238E27FC236}">
                      <a16:creationId xmlns:a16="http://schemas.microsoft.com/office/drawing/2014/main" id="{56DDFA4C-0F0D-A802-09BC-B2E330C92C17}"/>
                    </a:ext>
                  </a:extLst>
                </p:cNvPr>
                <p:cNvSpPr>
                  <a:spLocks noChangeArrowheads="1"/>
                </p:cNvSpPr>
                <p:nvPr/>
              </p:nvSpPr>
              <p:spPr bwMode="auto">
                <a:xfrm>
                  <a:off x="1140101" y="4041858"/>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3" name="AutoShape 10">
                  <a:extLst>
                    <a:ext uri="{FF2B5EF4-FFF2-40B4-BE49-F238E27FC236}">
                      <a16:creationId xmlns:a16="http://schemas.microsoft.com/office/drawing/2014/main" id="{4C30C012-6788-9EBC-F12A-BB36171F65D4}"/>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7" name="TextBox 6">
              <a:extLst>
                <a:ext uri="{FF2B5EF4-FFF2-40B4-BE49-F238E27FC236}">
                  <a16:creationId xmlns:a16="http://schemas.microsoft.com/office/drawing/2014/main" id="{8DBD165B-AB03-E25E-DAF1-2CF723C8C7F0}"/>
                </a:ext>
              </a:extLst>
            </p:cNvPr>
            <p:cNvSpPr txBox="1"/>
            <p:nvPr/>
          </p:nvSpPr>
          <p:spPr>
            <a:xfrm>
              <a:off x="2525717" y="313415"/>
              <a:ext cx="242347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CEDAC Problem Effect</a:t>
              </a:r>
            </a:p>
          </p:txBody>
        </p:sp>
      </p:grpSp>
      <p:sp>
        <p:nvSpPr>
          <p:cNvPr id="14" name="AutoShape 30">
            <a:extLst>
              <a:ext uri="{FF2B5EF4-FFF2-40B4-BE49-F238E27FC236}">
                <a16:creationId xmlns:a16="http://schemas.microsoft.com/office/drawing/2014/main" id="{EA9CD6E4-518F-2249-133C-A44C6918B4CD}"/>
              </a:ext>
            </a:extLst>
          </p:cNvPr>
          <p:cNvSpPr>
            <a:spLocks noChangeArrowheads="1"/>
          </p:cNvSpPr>
          <p:nvPr/>
        </p:nvSpPr>
        <p:spPr bwMode="auto">
          <a:xfrm>
            <a:off x="5086985" y="2688273"/>
            <a:ext cx="1292225" cy="160337"/>
          </a:xfrm>
          <a:prstGeom prst="leftRightArrow">
            <a:avLst>
              <a:gd name="adj1" fmla="val 50000"/>
              <a:gd name="adj2" fmla="val 161189"/>
            </a:avLst>
          </a:prstGeom>
          <a:solidFill>
            <a:schemeClr val="tx1"/>
          </a:solidFill>
          <a:ln w="12700" cap="sq">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5000"/>
              </a:lnSpc>
              <a:buFont typeface="Wingdings" panose="05000000000000000000" pitchFamily="2" charset="2"/>
              <a:buNone/>
            </a:pPr>
            <a:endParaRPr lang="en-US" altLang="en-US" sz="1600"/>
          </a:p>
        </p:txBody>
      </p:sp>
      <p:sp>
        <p:nvSpPr>
          <p:cNvPr id="15" name="AutoShape 30">
            <a:extLst>
              <a:ext uri="{FF2B5EF4-FFF2-40B4-BE49-F238E27FC236}">
                <a16:creationId xmlns:a16="http://schemas.microsoft.com/office/drawing/2014/main" id="{A17B86BB-ED6A-E7C7-1B98-3E0E20A11250}"/>
              </a:ext>
            </a:extLst>
          </p:cNvPr>
          <p:cNvSpPr>
            <a:spLocks noChangeArrowheads="1"/>
          </p:cNvSpPr>
          <p:nvPr/>
        </p:nvSpPr>
        <p:spPr bwMode="auto">
          <a:xfrm>
            <a:off x="5086984" y="3258315"/>
            <a:ext cx="1292225" cy="160337"/>
          </a:xfrm>
          <a:prstGeom prst="leftRightArrow">
            <a:avLst>
              <a:gd name="adj1" fmla="val 50000"/>
              <a:gd name="adj2" fmla="val 161189"/>
            </a:avLst>
          </a:prstGeom>
          <a:solidFill>
            <a:schemeClr val="tx1"/>
          </a:solidFill>
          <a:ln w="12700" cap="sq">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5000"/>
              </a:lnSpc>
              <a:buFont typeface="Wingdings" panose="05000000000000000000" pitchFamily="2" charset="2"/>
              <a:buNone/>
            </a:pPr>
            <a:endParaRPr lang="en-US" altLang="en-US" sz="1600"/>
          </a:p>
        </p:txBody>
      </p:sp>
      <p:sp>
        <p:nvSpPr>
          <p:cNvPr id="16" name="AutoShape 30">
            <a:extLst>
              <a:ext uri="{FF2B5EF4-FFF2-40B4-BE49-F238E27FC236}">
                <a16:creationId xmlns:a16="http://schemas.microsoft.com/office/drawing/2014/main" id="{4234F59D-A9E3-626E-8425-C27FC7C0B770}"/>
              </a:ext>
            </a:extLst>
          </p:cNvPr>
          <p:cNvSpPr>
            <a:spLocks noChangeArrowheads="1"/>
          </p:cNvSpPr>
          <p:nvPr/>
        </p:nvSpPr>
        <p:spPr bwMode="auto">
          <a:xfrm>
            <a:off x="5086983" y="4113295"/>
            <a:ext cx="1292225" cy="160337"/>
          </a:xfrm>
          <a:prstGeom prst="leftRightArrow">
            <a:avLst>
              <a:gd name="adj1" fmla="val 50000"/>
              <a:gd name="adj2" fmla="val 161189"/>
            </a:avLst>
          </a:prstGeom>
          <a:solidFill>
            <a:schemeClr val="tx1"/>
          </a:solidFill>
          <a:ln w="12700" cap="sq">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5000"/>
              </a:lnSpc>
              <a:buFont typeface="Wingdings" panose="05000000000000000000" pitchFamily="2" charset="2"/>
              <a:buNone/>
            </a:pPr>
            <a:endParaRPr lang="en-US" altLang="en-US" sz="1600"/>
          </a:p>
        </p:txBody>
      </p:sp>
      <p:sp>
        <p:nvSpPr>
          <p:cNvPr id="17" name="AutoShape 30">
            <a:extLst>
              <a:ext uri="{FF2B5EF4-FFF2-40B4-BE49-F238E27FC236}">
                <a16:creationId xmlns:a16="http://schemas.microsoft.com/office/drawing/2014/main" id="{DED2207C-EC56-5DDF-3C58-E6613FD00987}"/>
              </a:ext>
            </a:extLst>
          </p:cNvPr>
          <p:cNvSpPr>
            <a:spLocks noChangeArrowheads="1"/>
          </p:cNvSpPr>
          <p:nvPr/>
        </p:nvSpPr>
        <p:spPr bwMode="auto">
          <a:xfrm>
            <a:off x="5087300" y="4809542"/>
            <a:ext cx="1292225" cy="160337"/>
          </a:xfrm>
          <a:prstGeom prst="leftRightArrow">
            <a:avLst>
              <a:gd name="adj1" fmla="val 50000"/>
              <a:gd name="adj2" fmla="val 161189"/>
            </a:avLst>
          </a:prstGeom>
          <a:solidFill>
            <a:schemeClr val="tx1"/>
          </a:solidFill>
          <a:ln w="12700" cap="sq">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5000"/>
              </a:lnSpc>
              <a:buFont typeface="Wingdings" panose="05000000000000000000" pitchFamily="2" charset="2"/>
              <a:buNone/>
            </a:pPr>
            <a:endParaRPr lang="en-US" altLang="en-US" sz="1600"/>
          </a:p>
        </p:txBody>
      </p:sp>
    </p:spTree>
    <p:extLst>
      <p:ext uri="{BB962C8B-B14F-4D97-AF65-F5344CB8AC3E}">
        <p14:creationId xmlns:p14="http://schemas.microsoft.com/office/powerpoint/2010/main" val="372558971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normAutofit/>
          </a:bodyPr>
          <a:lstStyle/>
          <a:p>
            <a:r>
              <a:rPr lang="en-US" sz="4000" dirty="0"/>
              <a:t>Common Pitfalls to Determining Metrics</a:t>
            </a:r>
          </a:p>
        </p:txBody>
      </p:sp>
      <p:sp>
        <p:nvSpPr>
          <p:cNvPr id="3" name="Content Placeholder 2">
            <a:extLst>
              <a:ext uri="{FF2B5EF4-FFF2-40B4-BE49-F238E27FC236}">
                <a16:creationId xmlns:a16="http://schemas.microsoft.com/office/drawing/2014/main" id="{2AA7A201-AD05-6520-E140-CCF11E59E700}"/>
              </a:ext>
            </a:extLst>
          </p:cNvPr>
          <p:cNvSpPr>
            <a:spLocks noGrp="1"/>
          </p:cNvSpPr>
          <p:nvPr>
            <p:ph idx="1"/>
          </p:nvPr>
        </p:nvSpPr>
        <p:spPr/>
        <p:txBody>
          <a:bodyPr>
            <a:normAutofit lnSpcReduction="10000"/>
          </a:bodyPr>
          <a:lstStyle/>
          <a:p>
            <a:r>
              <a:rPr lang="en-US" sz="3200" dirty="0"/>
              <a:t>Measurement too broad</a:t>
            </a:r>
          </a:p>
          <a:p>
            <a:r>
              <a:rPr lang="en-US" sz="3200" dirty="0"/>
              <a:t>Metric not actionable</a:t>
            </a:r>
          </a:p>
          <a:p>
            <a:r>
              <a:rPr lang="en-US" sz="3200" dirty="0"/>
              <a:t>Data not taken over long enough period</a:t>
            </a:r>
          </a:p>
          <a:p>
            <a:r>
              <a:rPr lang="en-US" sz="3200" dirty="0"/>
              <a:t>Data too difficult to capture </a:t>
            </a:r>
          </a:p>
          <a:p>
            <a:r>
              <a:rPr lang="en-US" sz="3200" dirty="0"/>
              <a:t>Inconsistent data collection</a:t>
            </a:r>
          </a:p>
          <a:p>
            <a:r>
              <a:rPr lang="en-US" sz="3200" dirty="0"/>
              <a:t>Lack of a goal</a:t>
            </a:r>
          </a:p>
          <a:p>
            <a:r>
              <a:rPr lang="en-US" sz="3200" dirty="0"/>
              <a:t>Too many items in a “miscellaneous” category</a:t>
            </a:r>
          </a:p>
          <a:p>
            <a:r>
              <a:rPr lang="en-US" sz="3200" dirty="0"/>
              <a:t>Metric inadequately deployed</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34</a:t>
            </a:fld>
            <a:endParaRPr lang="en-US"/>
          </a:p>
        </p:txBody>
      </p:sp>
      <p:grpSp>
        <p:nvGrpSpPr>
          <p:cNvPr id="4" name="Group 3">
            <a:extLst>
              <a:ext uri="{FF2B5EF4-FFF2-40B4-BE49-F238E27FC236}">
                <a16:creationId xmlns:a16="http://schemas.microsoft.com/office/drawing/2014/main" id="{50ECF6E5-D79A-571C-970B-C8B41BC1B4B2}"/>
              </a:ext>
            </a:extLst>
          </p:cNvPr>
          <p:cNvGrpSpPr/>
          <p:nvPr/>
        </p:nvGrpSpPr>
        <p:grpSpPr>
          <a:xfrm>
            <a:off x="838200" y="297639"/>
            <a:ext cx="4110990" cy="307138"/>
            <a:chOff x="838200" y="297639"/>
            <a:chExt cx="4110990" cy="307138"/>
          </a:xfrm>
        </p:grpSpPr>
        <p:grpSp>
          <p:nvGrpSpPr>
            <p:cNvPr id="6" name="Group 5">
              <a:extLst>
                <a:ext uri="{FF2B5EF4-FFF2-40B4-BE49-F238E27FC236}">
                  <a16:creationId xmlns:a16="http://schemas.microsoft.com/office/drawing/2014/main" id="{C69A61A5-5AC5-A01E-F01A-24089C622710}"/>
                </a:ext>
              </a:extLst>
            </p:cNvPr>
            <p:cNvGrpSpPr/>
            <p:nvPr/>
          </p:nvGrpSpPr>
          <p:grpSpPr>
            <a:xfrm>
              <a:off x="838200" y="297639"/>
              <a:ext cx="1687517" cy="290657"/>
              <a:chOff x="838200" y="297639"/>
              <a:chExt cx="1687517" cy="290657"/>
            </a:xfrm>
          </p:grpSpPr>
          <p:sp>
            <p:nvSpPr>
              <p:cNvPr id="8" name="AutoShape 9">
                <a:extLst>
                  <a:ext uri="{FF2B5EF4-FFF2-40B4-BE49-F238E27FC236}">
                    <a16:creationId xmlns:a16="http://schemas.microsoft.com/office/drawing/2014/main" id="{FDCBE620-B70F-CEED-5A03-F2C18BB1926C}"/>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9" name="AutoShape 9">
                <a:extLst>
                  <a:ext uri="{FF2B5EF4-FFF2-40B4-BE49-F238E27FC236}">
                    <a16:creationId xmlns:a16="http://schemas.microsoft.com/office/drawing/2014/main" id="{F81EEB60-DF32-4EF2-B353-D046A8F70472}"/>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10" name="Group 9">
                <a:extLst>
                  <a:ext uri="{FF2B5EF4-FFF2-40B4-BE49-F238E27FC236}">
                    <a16:creationId xmlns:a16="http://schemas.microsoft.com/office/drawing/2014/main" id="{8BB369BF-419C-D35A-CC81-72A92DBFD01D}"/>
                  </a:ext>
                </a:extLst>
              </p:cNvPr>
              <p:cNvGrpSpPr/>
              <p:nvPr/>
            </p:nvGrpSpPr>
            <p:grpSpPr>
              <a:xfrm>
                <a:off x="838200" y="297639"/>
                <a:ext cx="1060167" cy="290657"/>
                <a:chOff x="826426" y="4041857"/>
                <a:chExt cx="1060167" cy="290657"/>
              </a:xfrm>
            </p:grpSpPr>
            <p:sp>
              <p:nvSpPr>
                <p:cNvPr id="11" name="AutoShape 9">
                  <a:extLst>
                    <a:ext uri="{FF2B5EF4-FFF2-40B4-BE49-F238E27FC236}">
                      <a16:creationId xmlns:a16="http://schemas.microsoft.com/office/drawing/2014/main" id="{9593D7A2-6E79-DA0F-2AD2-377C7B9D9486}"/>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2" name="AutoShape 11">
                  <a:extLst>
                    <a:ext uri="{FF2B5EF4-FFF2-40B4-BE49-F238E27FC236}">
                      <a16:creationId xmlns:a16="http://schemas.microsoft.com/office/drawing/2014/main" id="{B176881C-9231-D05E-D002-AE318302662B}"/>
                    </a:ext>
                  </a:extLst>
                </p:cNvPr>
                <p:cNvSpPr>
                  <a:spLocks noChangeArrowheads="1"/>
                </p:cNvSpPr>
                <p:nvPr/>
              </p:nvSpPr>
              <p:spPr bwMode="auto">
                <a:xfrm>
                  <a:off x="1140101" y="4041858"/>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3" name="AutoShape 10">
                  <a:extLst>
                    <a:ext uri="{FF2B5EF4-FFF2-40B4-BE49-F238E27FC236}">
                      <a16:creationId xmlns:a16="http://schemas.microsoft.com/office/drawing/2014/main" id="{D90B671F-A6E8-B252-AB93-AB3CCC07B318}"/>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7" name="TextBox 6">
              <a:extLst>
                <a:ext uri="{FF2B5EF4-FFF2-40B4-BE49-F238E27FC236}">
                  <a16:creationId xmlns:a16="http://schemas.microsoft.com/office/drawing/2014/main" id="{DA962D68-14CE-92FF-ACD8-8E6272A47280}"/>
                </a:ext>
              </a:extLst>
            </p:cNvPr>
            <p:cNvSpPr txBox="1"/>
            <p:nvPr/>
          </p:nvSpPr>
          <p:spPr>
            <a:xfrm>
              <a:off x="2525717" y="313415"/>
              <a:ext cx="242347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CEDAC Problem Effect</a:t>
              </a:r>
            </a:p>
          </p:txBody>
        </p:sp>
      </p:grpSp>
    </p:spTree>
    <p:extLst>
      <p:ext uri="{BB962C8B-B14F-4D97-AF65-F5344CB8AC3E}">
        <p14:creationId xmlns:p14="http://schemas.microsoft.com/office/powerpoint/2010/main" val="293501028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8D9ED7-5CF9-6F4B-B4A8-2DBF8D852A20}"/>
              </a:ext>
            </a:extLst>
          </p:cNvPr>
          <p:cNvSpPr>
            <a:spLocks noGrp="1"/>
          </p:cNvSpPr>
          <p:nvPr>
            <p:ph type="title"/>
          </p:nvPr>
        </p:nvSpPr>
        <p:spPr/>
        <p:txBody>
          <a:bodyPr>
            <a:noAutofit/>
          </a:bodyPr>
          <a:lstStyle/>
          <a:p>
            <a:r>
              <a:rPr lang="fr-FR" sz="2800" dirty="0">
                <a:latin typeface="Roboto Medium"/>
                <a:ea typeface="Roboto Medium"/>
                <a:cs typeface="Roboto Medium"/>
              </a:rPr>
              <a:t>CEDAC </a:t>
            </a:r>
            <a:r>
              <a:rPr lang="fr-FR" sz="2800" dirty="0" err="1">
                <a:latin typeface="Roboto Medium"/>
                <a:ea typeface="Roboto Medium"/>
                <a:cs typeface="Roboto Medium"/>
              </a:rPr>
              <a:t>Step</a:t>
            </a:r>
            <a:r>
              <a:rPr lang="fr-FR" sz="2800" dirty="0">
                <a:latin typeface="Roboto Medium"/>
                <a:ea typeface="Roboto Medium"/>
                <a:cs typeface="Roboto Medium"/>
              </a:rPr>
              <a:t> 2 </a:t>
            </a:r>
            <a:r>
              <a:rPr lang="fr-FR" sz="2800" dirty="0" err="1">
                <a:latin typeface="Roboto Medium"/>
                <a:ea typeface="Roboto Medium"/>
                <a:cs typeface="Roboto Medium"/>
              </a:rPr>
              <a:t>Exercise</a:t>
            </a:r>
            <a:r>
              <a:rPr lang="fr-FR" sz="2800" dirty="0">
                <a:latin typeface="Roboto Medium"/>
                <a:ea typeface="Roboto Medium"/>
                <a:cs typeface="Roboto Medium"/>
              </a:rPr>
              <a:t>: Critique </a:t>
            </a:r>
            <a:r>
              <a:rPr lang="fr-FR" sz="2800" dirty="0" err="1">
                <a:latin typeface="Roboto Medium"/>
                <a:ea typeface="Roboto Medium"/>
                <a:cs typeface="Roboto Medium"/>
              </a:rPr>
              <a:t>sample</a:t>
            </a:r>
            <a:r>
              <a:rPr lang="fr-FR" sz="2800" dirty="0">
                <a:latin typeface="Roboto Medium"/>
                <a:ea typeface="Roboto Medium"/>
                <a:cs typeface="Roboto Medium"/>
              </a:rPr>
              <a:t> </a:t>
            </a:r>
            <a:r>
              <a:rPr lang="fr-FR" sz="2800" dirty="0" err="1">
                <a:latin typeface="Roboto Medium"/>
                <a:ea typeface="Roboto Medium"/>
                <a:cs typeface="Roboto Medium"/>
              </a:rPr>
              <a:t>metrics</a:t>
            </a:r>
            <a:endParaRPr lang="en-US" sz="2800" dirty="0">
              <a:latin typeface="Roboto Medium"/>
              <a:ea typeface="Roboto Medium"/>
              <a:cs typeface="Roboto Medium"/>
            </a:endParaRPr>
          </a:p>
        </p:txBody>
      </p:sp>
      <p:sp>
        <p:nvSpPr>
          <p:cNvPr id="5" name="Slide Number Placeholder 4">
            <a:extLst>
              <a:ext uri="{FF2B5EF4-FFF2-40B4-BE49-F238E27FC236}">
                <a16:creationId xmlns:a16="http://schemas.microsoft.com/office/drawing/2014/main" id="{EFB3C390-D307-7FFC-DADE-918C5180FE01}"/>
              </a:ext>
            </a:extLst>
          </p:cNvPr>
          <p:cNvSpPr>
            <a:spLocks noGrp="1"/>
          </p:cNvSpPr>
          <p:nvPr>
            <p:ph type="sldNum" sz="quarter" idx="4294967295"/>
          </p:nvPr>
        </p:nvSpPr>
        <p:spPr>
          <a:xfrm>
            <a:off x="8595078" y="6333148"/>
            <a:ext cx="2743200" cy="365125"/>
          </a:xfrm>
          <a:prstGeom prst="rect">
            <a:avLst/>
          </a:prstGeom>
        </p:spPr>
        <p:txBody>
          <a:bodyPr/>
          <a:lstStyle/>
          <a:p>
            <a:fld id="{CC6D4273-7FC1-0947-B9FE-19CB3C0D1FB6}" type="slidenum">
              <a:rPr lang="en-US" smtClean="0"/>
              <a:t>35</a:t>
            </a:fld>
            <a:endParaRPr lang="en-US"/>
          </a:p>
        </p:txBody>
      </p:sp>
      <p:sp>
        <p:nvSpPr>
          <p:cNvPr id="11" name="Rectangle 10">
            <a:extLst>
              <a:ext uri="{FF2B5EF4-FFF2-40B4-BE49-F238E27FC236}">
                <a16:creationId xmlns:a16="http://schemas.microsoft.com/office/drawing/2014/main" id="{3A9506B7-1A57-1322-5AB5-DA8522EE7602}"/>
              </a:ext>
            </a:extLst>
          </p:cNvPr>
          <p:cNvSpPr/>
          <p:nvPr/>
        </p:nvSpPr>
        <p:spPr>
          <a:xfrm>
            <a:off x="838200" y="2205321"/>
            <a:ext cx="9722342" cy="718145"/>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0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Given sample problem statements and metrics, critique and rewrite if necessary each metric.</a:t>
            </a:r>
          </a:p>
        </p:txBody>
      </p:sp>
      <p:sp>
        <p:nvSpPr>
          <p:cNvPr id="12" name="TextBox 11">
            <a:extLst>
              <a:ext uri="{FF2B5EF4-FFF2-40B4-BE49-F238E27FC236}">
                <a16:creationId xmlns:a16="http://schemas.microsoft.com/office/drawing/2014/main" id="{A4ECB5F6-F271-06CD-2A6A-E79F5245CD15}"/>
              </a:ext>
            </a:extLst>
          </p:cNvPr>
          <p:cNvSpPr txBox="1"/>
          <p:nvPr/>
        </p:nvSpPr>
        <p:spPr>
          <a:xfrm>
            <a:off x="838200" y="1767653"/>
            <a:ext cx="1603003"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Objective</a:t>
            </a:r>
            <a:endParaRPr kumimoji="0" lang="en-US" sz="56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endParaRPr>
          </a:p>
        </p:txBody>
      </p:sp>
      <p:sp>
        <p:nvSpPr>
          <p:cNvPr id="13" name="TextBox 12">
            <a:extLst>
              <a:ext uri="{FF2B5EF4-FFF2-40B4-BE49-F238E27FC236}">
                <a16:creationId xmlns:a16="http://schemas.microsoft.com/office/drawing/2014/main" id="{EA94F381-2B48-C111-2724-726B0390290F}"/>
              </a:ext>
            </a:extLst>
          </p:cNvPr>
          <p:cNvSpPr txBox="1"/>
          <p:nvPr/>
        </p:nvSpPr>
        <p:spPr>
          <a:xfrm>
            <a:off x="838200" y="2952549"/>
            <a:ext cx="2022990"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Instructions</a:t>
            </a:r>
            <a:endParaRPr kumimoji="0" lang="en-US" sz="56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endParaRPr>
          </a:p>
        </p:txBody>
      </p:sp>
      <p:sp>
        <p:nvSpPr>
          <p:cNvPr id="14" name="Rectangle 13">
            <a:extLst>
              <a:ext uri="{FF2B5EF4-FFF2-40B4-BE49-F238E27FC236}">
                <a16:creationId xmlns:a16="http://schemas.microsoft.com/office/drawing/2014/main" id="{82677B47-98C9-F770-8D4E-7D91CF39F5A7}"/>
              </a:ext>
            </a:extLst>
          </p:cNvPr>
          <p:cNvSpPr/>
          <p:nvPr/>
        </p:nvSpPr>
        <p:spPr>
          <a:xfrm>
            <a:off x="818941" y="3486027"/>
            <a:ext cx="4419809" cy="2318583"/>
          </a:xfrm>
          <a:prstGeom prst="rect">
            <a:avLst/>
          </a:prstGeom>
          <a:solidFill>
            <a:schemeClr val="bg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0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In pairs, critique each of the metrics as they correspond to the problem statements on the following slide against the criteria outlined on the previous slides. </a:t>
            </a:r>
          </a:p>
          <a:p>
            <a:pPr marL="0" marR="0" indent="0" algn="l" defTabSz="584200" rtl="0" fontAlgn="auto" latinLnBrk="0" hangingPunct="0">
              <a:lnSpc>
                <a:spcPct val="100000"/>
              </a:lnSpc>
              <a:spcBef>
                <a:spcPts val="0"/>
              </a:spcBef>
              <a:spcAft>
                <a:spcPts val="0"/>
              </a:spcAft>
              <a:buClrTx/>
              <a:buSzTx/>
              <a:buFontTx/>
              <a:buNone/>
              <a:tabLst/>
            </a:pPr>
            <a:r>
              <a:rPr kumimoji="0" lang="en-US" sz="20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If necessary, re-write the metrics to make more effective. </a:t>
            </a:r>
          </a:p>
        </p:txBody>
      </p:sp>
      <p:sp>
        <p:nvSpPr>
          <p:cNvPr id="15" name="TextBox 14">
            <a:extLst>
              <a:ext uri="{FF2B5EF4-FFF2-40B4-BE49-F238E27FC236}">
                <a16:creationId xmlns:a16="http://schemas.microsoft.com/office/drawing/2014/main" id="{90914B3B-0CE2-FDFF-2FB9-215236316256}"/>
              </a:ext>
            </a:extLst>
          </p:cNvPr>
          <p:cNvSpPr txBox="1"/>
          <p:nvPr/>
        </p:nvSpPr>
        <p:spPr>
          <a:xfrm>
            <a:off x="5879250" y="2952548"/>
            <a:ext cx="2968761"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Time to Complete</a:t>
            </a:r>
          </a:p>
        </p:txBody>
      </p:sp>
      <p:sp>
        <p:nvSpPr>
          <p:cNvPr id="16" name="TextBox 15">
            <a:extLst>
              <a:ext uri="{FF2B5EF4-FFF2-40B4-BE49-F238E27FC236}">
                <a16:creationId xmlns:a16="http://schemas.microsoft.com/office/drawing/2014/main" id="{6285230A-07BD-F376-25CA-177CC1D4233F}"/>
              </a:ext>
            </a:extLst>
          </p:cNvPr>
          <p:cNvSpPr txBox="1"/>
          <p:nvPr/>
        </p:nvSpPr>
        <p:spPr>
          <a:xfrm>
            <a:off x="5879250" y="4136472"/>
            <a:ext cx="1888337"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Deliverable</a:t>
            </a:r>
          </a:p>
        </p:txBody>
      </p:sp>
      <p:sp>
        <p:nvSpPr>
          <p:cNvPr id="17" name="Rectangle 16">
            <a:extLst>
              <a:ext uri="{FF2B5EF4-FFF2-40B4-BE49-F238E27FC236}">
                <a16:creationId xmlns:a16="http://schemas.microsoft.com/office/drawing/2014/main" id="{67530399-8FDB-50CD-E8FD-8E286DE1A2EA}"/>
              </a:ext>
            </a:extLst>
          </p:cNvPr>
          <p:cNvSpPr/>
          <p:nvPr/>
        </p:nvSpPr>
        <p:spPr>
          <a:xfrm>
            <a:off x="5879250" y="3496996"/>
            <a:ext cx="4681292" cy="471924"/>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584200" hangingPunct="0"/>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15 minutes</a:t>
            </a:r>
          </a:p>
        </p:txBody>
      </p:sp>
      <p:sp>
        <p:nvSpPr>
          <p:cNvPr id="18" name="Rectangle 17">
            <a:extLst>
              <a:ext uri="{FF2B5EF4-FFF2-40B4-BE49-F238E27FC236}">
                <a16:creationId xmlns:a16="http://schemas.microsoft.com/office/drawing/2014/main" id="{84DF6BD6-975A-3700-5E69-322EFF4F722E}"/>
              </a:ext>
            </a:extLst>
          </p:cNvPr>
          <p:cNvSpPr/>
          <p:nvPr/>
        </p:nvSpPr>
        <p:spPr>
          <a:xfrm>
            <a:off x="5879250" y="4665559"/>
            <a:ext cx="4681292" cy="841256"/>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584200" hangingPunct="0"/>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Report out on evaluation for each</a:t>
            </a:r>
            <a:b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br>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problem statement and metric </a:t>
            </a:r>
          </a:p>
        </p:txBody>
      </p:sp>
      <p:grpSp>
        <p:nvGrpSpPr>
          <p:cNvPr id="3" name="Group 2">
            <a:extLst>
              <a:ext uri="{FF2B5EF4-FFF2-40B4-BE49-F238E27FC236}">
                <a16:creationId xmlns:a16="http://schemas.microsoft.com/office/drawing/2014/main" id="{16865E1C-D685-A7AE-218A-FD1622AE7E83}"/>
              </a:ext>
            </a:extLst>
          </p:cNvPr>
          <p:cNvGrpSpPr/>
          <p:nvPr/>
        </p:nvGrpSpPr>
        <p:grpSpPr>
          <a:xfrm>
            <a:off x="838200" y="297639"/>
            <a:ext cx="4110990" cy="307138"/>
            <a:chOff x="838200" y="297639"/>
            <a:chExt cx="4110990" cy="307138"/>
          </a:xfrm>
        </p:grpSpPr>
        <p:grpSp>
          <p:nvGrpSpPr>
            <p:cNvPr id="4" name="Group 3">
              <a:extLst>
                <a:ext uri="{FF2B5EF4-FFF2-40B4-BE49-F238E27FC236}">
                  <a16:creationId xmlns:a16="http://schemas.microsoft.com/office/drawing/2014/main" id="{6BB102DA-FCF3-B138-1B68-6EA5538C23B1}"/>
                </a:ext>
              </a:extLst>
            </p:cNvPr>
            <p:cNvGrpSpPr/>
            <p:nvPr/>
          </p:nvGrpSpPr>
          <p:grpSpPr>
            <a:xfrm>
              <a:off x="838200" y="297639"/>
              <a:ext cx="1687517" cy="290657"/>
              <a:chOff x="838200" y="297639"/>
              <a:chExt cx="1687517" cy="290657"/>
            </a:xfrm>
          </p:grpSpPr>
          <p:sp>
            <p:nvSpPr>
              <p:cNvPr id="7" name="AutoShape 9">
                <a:extLst>
                  <a:ext uri="{FF2B5EF4-FFF2-40B4-BE49-F238E27FC236}">
                    <a16:creationId xmlns:a16="http://schemas.microsoft.com/office/drawing/2014/main" id="{9133B7B8-E188-A93F-2A69-935D3C833A1C}"/>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8" name="AutoShape 9">
                <a:extLst>
                  <a:ext uri="{FF2B5EF4-FFF2-40B4-BE49-F238E27FC236}">
                    <a16:creationId xmlns:a16="http://schemas.microsoft.com/office/drawing/2014/main" id="{708131C8-7F96-BA0D-3959-FCBFC1951580}"/>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9" name="Group 8">
                <a:extLst>
                  <a:ext uri="{FF2B5EF4-FFF2-40B4-BE49-F238E27FC236}">
                    <a16:creationId xmlns:a16="http://schemas.microsoft.com/office/drawing/2014/main" id="{D6B2AC4C-98CB-F0E1-57AA-ECDFBB42F4FA}"/>
                  </a:ext>
                </a:extLst>
              </p:cNvPr>
              <p:cNvGrpSpPr/>
              <p:nvPr/>
            </p:nvGrpSpPr>
            <p:grpSpPr>
              <a:xfrm>
                <a:off x="838200" y="297639"/>
                <a:ext cx="1060167" cy="290657"/>
                <a:chOff x="826426" y="4041857"/>
                <a:chExt cx="1060167" cy="290657"/>
              </a:xfrm>
            </p:grpSpPr>
            <p:sp>
              <p:nvSpPr>
                <p:cNvPr id="10" name="AutoShape 9">
                  <a:extLst>
                    <a:ext uri="{FF2B5EF4-FFF2-40B4-BE49-F238E27FC236}">
                      <a16:creationId xmlns:a16="http://schemas.microsoft.com/office/drawing/2014/main" id="{06369BCD-F6D1-9F46-89F5-52DCBD67DC98}"/>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9" name="AutoShape 11">
                  <a:extLst>
                    <a:ext uri="{FF2B5EF4-FFF2-40B4-BE49-F238E27FC236}">
                      <a16:creationId xmlns:a16="http://schemas.microsoft.com/office/drawing/2014/main" id="{E2194F7C-BED4-C919-83C3-72B34F4AFA3D}"/>
                    </a:ext>
                  </a:extLst>
                </p:cNvPr>
                <p:cNvSpPr>
                  <a:spLocks noChangeArrowheads="1"/>
                </p:cNvSpPr>
                <p:nvPr/>
              </p:nvSpPr>
              <p:spPr bwMode="auto">
                <a:xfrm>
                  <a:off x="1140101" y="4041858"/>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0" name="AutoShape 10">
                  <a:extLst>
                    <a:ext uri="{FF2B5EF4-FFF2-40B4-BE49-F238E27FC236}">
                      <a16:creationId xmlns:a16="http://schemas.microsoft.com/office/drawing/2014/main" id="{C926CCA7-ACA1-2AB5-3AB5-77D740254E56}"/>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6" name="TextBox 5">
              <a:extLst>
                <a:ext uri="{FF2B5EF4-FFF2-40B4-BE49-F238E27FC236}">
                  <a16:creationId xmlns:a16="http://schemas.microsoft.com/office/drawing/2014/main" id="{FDE6247A-5BF4-CA14-6371-138C6CAE2601}"/>
                </a:ext>
              </a:extLst>
            </p:cNvPr>
            <p:cNvSpPr txBox="1"/>
            <p:nvPr/>
          </p:nvSpPr>
          <p:spPr>
            <a:xfrm>
              <a:off x="2525717" y="313415"/>
              <a:ext cx="242347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CEDAC Problem Effect</a:t>
              </a:r>
            </a:p>
          </p:txBody>
        </p:sp>
      </p:grpSp>
    </p:spTree>
    <p:extLst>
      <p:ext uri="{BB962C8B-B14F-4D97-AF65-F5344CB8AC3E}">
        <p14:creationId xmlns:p14="http://schemas.microsoft.com/office/powerpoint/2010/main" val="149568436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lstStyle/>
          <a:p>
            <a:r>
              <a:rPr lang="en-US" dirty="0"/>
              <a:t>Exercise: Critique sample metrics</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36</a:t>
            </a:fld>
            <a:endParaRPr lang="en-US"/>
          </a:p>
        </p:txBody>
      </p:sp>
      <p:graphicFrame>
        <p:nvGraphicFramePr>
          <p:cNvPr id="3" name="Group 34">
            <a:extLst>
              <a:ext uri="{FF2B5EF4-FFF2-40B4-BE49-F238E27FC236}">
                <a16:creationId xmlns:a16="http://schemas.microsoft.com/office/drawing/2014/main" id="{8903D1A0-9AF7-63D9-2123-FC35A2B7133A}"/>
              </a:ext>
            </a:extLst>
          </p:cNvPr>
          <p:cNvGraphicFramePr>
            <a:graphicFrameLocks noGrp="1"/>
          </p:cNvGraphicFramePr>
          <p:nvPr>
            <p:extLst>
              <p:ext uri="{D42A27DB-BD31-4B8C-83A1-F6EECF244321}">
                <p14:modId xmlns:p14="http://schemas.microsoft.com/office/powerpoint/2010/main" val="4246653975"/>
              </p:ext>
            </p:extLst>
          </p:nvPr>
        </p:nvGraphicFramePr>
        <p:xfrm>
          <a:off x="838201" y="1902863"/>
          <a:ext cx="10706101" cy="4417010"/>
        </p:xfrm>
        <a:graphic>
          <a:graphicData uri="http://schemas.openxmlformats.org/drawingml/2006/table">
            <a:tbl>
              <a:tblPr/>
              <a:tblGrid>
                <a:gridCol w="3668107">
                  <a:extLst>
                    <a:ext uri="{9D8B030D-6E8A-4147-A177-3AD203B41FA5}">
                      <a16:colId xmlns:a16="http://schemas.microsoft.com/office/drawing/2014/main" val="20000"/>
                    </a:ext>
                  </a:extLst>
                </a:gridCol>
                <a:gridCol w="3668107">
                  <a:extLst>
                    <a:ext uri="{9D8B030D-6E8A-4147-A177-3AD203B41FA5}">
                      <a16:colId xmlns:a16="http://schemas.microsoft.com/office/drawing/2014/main" val="853178682"/>
                    </a:ext>
                  </a:extLst>
                </a:gridCol>
                <a:gridCol w="3369887">
                  <a:extLst>
                    <a:ext uri="{9D8B030D-6E8A-4147-A177-3AD203B41FA5}">
                      <a16:colId xmlns:a16="http://schemas.microsoft.com/office/drawing/2014/main" val="20002"/>
                    </a:ext>
                  </a:extLst>
                </a:gridCol>
              </a:tblGrid>
              <a:tr h="121367">
                <a:tc>
                  <a:txBody>
                    <a:bodyPr/>
                    <a:lstStyle/>
                    <a:p>
                      <a:pPr marL="0" marR="0" lvl="0" indent="0" algn="ctr" defTabSz="914400" rtl="0" eaLnBrk="0" fontAlgn="base" latinLnBrk="0" hangingPunct="0">
                        <a:lnSpc>
                          <a:spcPct val="115000"/>
                        </a:lnSpc>
                        <a:spcBef>
                          <a:spcPct val="50000"/>
                        </a:spcBef>
                        <a:spcAft>
                          <a:spcPct val="50000"/>
                        </a:spcAft>
                        <a:buClr>
                          <a:srgbClr val="006699"/>
                        </a:buClr>
                        <a:buSzPct val="90000"/>
                        <a:buFont typeface="Wingdings" pitchFamily="2" charset="2"/>
                        <a:buNone/>
                        <a:tabLst/>
                      </a:pPr>
                      <a:r>
                        <a:rPr kumimoji="0" lang="en-US" sz="2400" b="1" i="0" u="none" strike="noStrike" cap="none" normalizeH="0" baseline="0" dirty="0">
                          <a:ln>
                            <a:noFill/>
                          </a:ln>
                          <a:solidFill>
                            <a:schemeClr val="bg1"/>
                          </a:solidFill>
                          <a:effectLst/>
                          <a:latin typeface="Roboto" panose="02000000000000000000" pitchFamily="2" charset="0"/>
                          <a:ea typeface="Roboto" panose="02000000000000000000" pitchFamily="2" charset="0"/>
                        </a:rPr>
                        <a:t>PROBLEM STATEMENT</a:t>
                      </a:r>
                    </a:p>
                  </a:txBody>
                  <a:tcPr marT="45715" marB="45715" anchor="b"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15000"/>
                        </a:lnSpc>
                        <a:spcBef>
                          <a:spcPct val="50000"/>
                        </a:spcBef>
                        <a:spcAft>
                          <a:spcPct val="50000"/>
                        </a:spcAft>
                        <a:buClr>
                          <a:srgbClr val="006699"/>
                        </a:buClr>
                        <a:buSzPct val="90000"/>
                        <a:buFont typeface="Wingdings" pitchFamily="2" charset="2"/>
                        <a:buNone/>
                        <a:tabLst/>
                      </a:pPr>
                      <a:r>
                        <a:rPr kumimoji="0" lang="en-US" sz="2400" b="1" i="0" u="none" strike="noStrike" cap="none" normalizeH="0" baseline="0" dirty="0">
                          <a:ln>
                            <a:noFill/>
                          </a:ln>
                          <a:solidFill>
                            <a:schemeClr val="bg1"/>
                          </a:solidFill>
                          <a:effectLst/>
                          <a:latin typeface="Roboto" panose="02000000000000000000" pitchFamily="2" charset="0"/>
                          <a:ea typeface="Roboto" panose="02000000000000000000" pitchFamily="2" charset="0"/>
                        </a:rPr>
                        <a:t>METRIC</a:t>
                      </a:r>
                    </a:p>
                  </a:txBody>
                  <a:tcPr marT="45715" marB="45715" anchor="b"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15000"/>
                        </a:lnSpc>
                        <a:spcBef>
                          <a:spcPct val="50000"/>
                        </a:spcBef>
                        <a:spcAft>
                          <a:spcPct val="50000"/>
                        </a:spcAft>
                        <a:buClr>
                          <a:srgbClr val="006699"/>
                        </a:buClr>
                        <a:buSzPct val="90000"/>
                        <a:buFont typeface="Wingdings" pitchFamily="2" charset="2"/>
                        <a:buNone/>
                        <a:tabLst/>
                      </a:pPr>
                      <a:r>
                        <a:rPr kumimoji="0" lang="en-US" sz="2400" b="1" i="0" u="none" strike="noStrike" cap="none" normalizeH="0" baseline="0" dirty="0">
                          <a:ln>
                            <a:noFill/>
                          </a:ln>
                          <a:solidFill>
                            <a:schemeClr val="bg1"/>
                          </a:solidFill>
                          <a:effectLst/>
                          <a:latin typeface="Roboto" panose="02000000000000000000" pitchFamily="2" charset="0"/>
                          <a:ea typeface="Roboto" panose="02000000000000000000" pitchFamily="2" charset="0"/>
                        </a:rPr>
                        <a:t>CRITIQUE</a:t>
                      </a:r>
                    </a:p>
                  </a:txBody>
                  <a:tcPr marT="45715" marB="45715" anchor="b"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0">
                <a:tc>
                  <a:txBody>
                    <a:bodyPr/>
                    <a:lstStyle/>
                    <a:p>
                      <a:pPr marL="0" marR="0" lvl="0" indent="0" algn="l" defTabSz="914400" rtl="0" eaLnBrk="0" fontAlgn="base" latinLnBrk="0" hangingPunct="0">
                        <a:lnSpc>
                          <a:spcPct val="115000"/>
                        </a:lnSpc>
                        <a:spcBef>
                          <a:spcPct val="20000"/>
                        </a:spcBef>
                        <a:spcAft>
                          <a:spcPct val="20000"/>
                        </a:spcAft>
                        <a:buClr>
                          <a:srgbClr val="006699"/>
                        </a:buClr>
                        <a:buSzPct val="90000"/>
                        <a:buFont typeface="Wingdings" pitchFamily="2" charset="2"/>
                        <a:buNone/>
                        <a:tabLst/>
                      </a:pPr>
                      <a:r>
                        <a:rPr kumimoji="0" lang="en-US" sz="1600" b="1" i="0" u="none" strike="noStrike" kern="1200" cap="none" normalizeH="0" baseline="0" dirty="0">
                          <a:ln>
                            <a:noFill/>
                          </a:ln>
                          <a:solidFill>
                            <a:schemeClr val="tx1"/>
                          </a:solidFill>
                          <a:effectLst/>
                          <a:latin typeface="Roboto" panose="02000000000000000000" pitchFamily="2" charset="0"/>
                          <a:ea typeface="Roboto" panose="02000000000000000000" pitchFamily="2" charset="0"/>
                          <a:cs typeface="+mn-cs"/>
                        </a:rPr>
                        <a:t>1. The number of stock-outs in the warehouse has risen to 15% over the last three months</a:t>
                      </a:r>
                    </a:p>
                  </a:txBody>
                  <a:tcPr marT="45715" marB="45715"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15000"/>
                        </a:lnSpc>
                        <a:spcBef>
                          <a:spcPct val="20000"/>
                        </a:spcBef>
                        <a:spcAft>
                          <a:spcPct val="20000"/>
                        </a:spcAft>
                        <a:buClr>
                          <a:srgbClr val="006699"/>
                        </a:buClr>
                        <a:buSzPct val="90000"/>
                        <a:buFont typeface="Wingdings" pitchFamily="2" charset="2"/>
                        <a:buNone/>
                        <a:tabLst/>
                      </a:pPr>
                      <a:r>
                        <a:rPr kumimoji="0" lang="en-US" sz="1600" b="1" i="0" u="none" strike="noStrike" kern="1200" cap="none" normalizeH="0" baseline="0" dirty="0">
                          <a:ln>
                            <a:noFill/>
                          </a:ln>
                          <a:solidFill>
                            <a:schemeClr val="tx1"/>
                          </a:solidFill>
                          <a:effectLst/>
                          <a:latin typeface="Roboto" panose="02000000000000000000" pitchFamily="2" charset="0"/>
                          <a:ea typeface="Roboto" panose="02000000000000000000" pitchFamily="2" charset="0"/>
                          <a:cs typeface="+mn-cs"/>
                        </a:rPr>
                        <a:t>Inventory inaccuracy</a:t>
                      </a:r>
                    </a:p>
                  </a:txBody>
                  <a:tcPr marT="45715" marB="45715"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0" fontAlgn="base" latinLnBrk="0" hangingPunct="0">
                        <a:lnSpc>
                          <a:spcPct val="100000"/>
                        </a:lnSpc>
                        <a:spcBef>
                          <a:spcPct val="20000"/>
                        </a:spcBef>
                        <a:spcAft>
                          <a:spcPct val="20000"/>
                        </a:spcAft>
                        <a:buClr>
                          <a:schemeClr val="tx1"/>
                        </a:buClr>
                        <a:buSzPct val="90000"/>
                        <a:buFont typeface="Arial" panose="020B0604020202020204" pitchFamily="34" charset="0"/>
                        <a:buNone/>
                        <a:tabLst/>
                      </a:pPr>
                      <a:endParaRPr kumimoji="0" lang="en-US" sz="1600" b="1" i="0" u="none" strike="noStrike" kern="1200" cap="none" normalizeH="0" baseline="0" dirty="0">
                        <a:ln>
                          <a:noFill/>
                        </a:ln>
                        <a:solidFill>
                          <a:schemeClr val="tx1"/>
                        </a:solidFill>
                        <a:effectLst/>
                        <a:latin typeface="Roboto" panose="02000000000000000000" pitchFamily="2" charset="0"/>
                        <a:ea typeface="Roboto" panose="02000000000000000000" pitchFamily="2" charset="0"/>
                        <a:cs typeface="+mn-cs"/>
                      </a:endParaRPr>
                    </a:p>
                  </a:txBody>
                  <a:tcPr marT="45715" marB="45715"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0">
                <a:tc>
                  <a:txBody>
                    <a:bodyPr/>
                    <a:lstStyle/>
                    <a:p>
                      <a:pPr marL="0" marR="0" lvl="0" indent="0" algn="l" defTabSz="914400" rtl="0" eaLnBrk="0" fontAlgn="base" latinLnBrk="0" hangingPunct="0">
                        <a:lnSpc>
                          <a:spcPct val="115000"/>
                        </a:lnSpc>
                        <a:spcBef>
                          <a:spcPct val="20000"/>
                        </a:spcBef>
                        <a:spcAft>
                          <a:spcPct val="20000"/>
                        </a:spcAft>
                        <a:buClr>
                          <a:srgbClr val="006699"/>
                        </a:buClr>
                        <a:buSzPct val="90000"/>
                        <a:buFont typeface="Wingdings" pitchFamily="2" charset="2"/>
                        <a:buNone/>
                        <a:tabLst/>
                      </a:pPr>
                      <a:r>
                        <a:rPr kumimoji="0" lang="en-US" sz="1600" b="1" i="0" u="none" strike="noStrike" kern="1200" cap="none" normalizeH="0" baseline="0" dirty="0">
                          <a:ln>
                            <a:noFill/>
                          </a:ln>
                          <a:solidFill>
                            <a:schemeClr val="tx1"/>
                          </a:solidFill>
                          <a:effectLst/>
                          <a:latin typeface="Roboto" panose="02000000000000000000" pitchFamily="2" charset="0"/>
                          <a:ea typeface="Roboto" panose="02000000000000000000" pitchFamily="2" charset="0"/>
                          <a:cs typeface="+mn-cs"/>
                        </a:rPr>
                        <a:t>2. Over the last three months, 85 out of 630 customer orders shipped for the AC001 line of products resulted in claims of product damage by the customer </a:t>
                      </a:r>
                    </a:p>
                  </a:txBody>
                  <a:tcPr marT="45715" marB="45715"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15000"/>
                        </a:lnSpc>
                        <a:spcBef>
                          <a:spcPct val="20000"/>
                        </a:spcBef>
                        <a:spcAft>
                          <a:spcPct val="20000"/>
                        </a:spcAft>
                        <a:buClr>
                          <a:srgbClr val="006699"/>
                        </a:buClr>
                        <a:buSzPct val="90000"/>
                        <a:buFont typeface="Wingdings" pitchFamily="2" charset="2"/>
                        <a:buNone/>
                        <a:tabLst/>
                      </a:pPr>
                      <a:r>
                        <a:rPr kumimoji="0" lang="en-US" sz="1600" b="1" i="0" u="none" strike="noStrike" kern="1200" cap="none" normalizeH="0" baseline="0" dirty="0">
                          <a:ln>
                            <a:noFill/>
                          </a:ln>
                          <a:solidFill>
                            <a:schemeClr val="tx1"/>
                          </a:solidFill>
                          <a:effectLst/>
                          <a:latin typeface="Roboto" panose="02000000000000000000" pitchFamily="2" charset="0"/>
                          <a:ea typeface="Roboto" panose="02000000000000000000" pitchFamily="2" charset="0"/>
                          <a:cs typeface="+mn-cs"/>
                        </a:rPr>
                        <a:t>Daily on-time-delivery to customer demand</a:t>
                      </a:r>
                    </a:p>
                  </a:txBody>
                  <a:tcPr marT="45715" marB="45715"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0" fontAlgn="base" latinLnBrk="0" hangingPunct="0">
                        <a:lnSpc>
                          <a:spcPct val="100000"/>
                        </a:lnSpc>
                        <a:spcBef>
                          <a:spcPct val="20000"/>
                        </a:spcBef>
                        <a:spcAft>
                          <a:spcPct val="20000"/>
                        </a:spcAft>
                        <a:buClr>
                          <a:schemeClr val="tx1"/>
                        </a:buClr>
                        <a:buSzPct val="90000"/>
                        <a:buFont typeface="Arial" panose="020B0604020202020204" pitchFamily="34" charset="0"/>
                        <a:buNone/>
                        <a:tabLst/>
                      </a:pPr>
                      <a:endParaRPr kumimoji="0" lang="en-US" sz="1600" b="1" i="0" u="none" strike="noStrike" kern="1200" cap="none" normalizeH="0" baseline="0" dirty="0">
                        <a:ln>
                          <a:noFill/>
                        </a:ln>
                        <a:solidFill>
                          <a:schemeClr val="tx1"/>
                        </a:solidFill>
                        <a:effectLst/>
                        <a:latin typeface="Roboto" panose="02000000000000000000" pitchFamily="2" charset="0"/>
                        <a:ea typeface="Roboto" panose="02000000000000000000" pitchFamily="2" charset="0"/>
                        <a:cs typeface="+mn-cs"/>
                      </a:endParaRPr>
                    </a:p>
                  </a:txBody>
                  <a:tcPr marT="45715" marB="45715"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0">
                <a:tc>
                  <a:txBody>
                    <a:bodyPr/>
                    <a:lstStyle/>
                    <a:p>
                      <a:pPr marL="0" marR="0" lvl="0" indent="0" algn="l" defTabSz="914400" rtl="0" eaLnBrk="0" fontAlgn="base" latinLnBrk="0" hangingPunct="0">
                        <a:lnSpc>
                          <a:spcPct val="115000"/>
                        </a:lnSpc>
                        <a:spcBef>
                          <a:spcPct val="20000"/>
                        </a:spcBef>
                        <a:spcAft>
                          <a:spcPct val="20000"/>
                        </a:spcAft>
                        <a:buClr>
                          <a:srgbClr val="006699"/>
                        </a:buClr>
                        <a:buSzPct val="90000"/>
                        <a:buFont typeface="Wingdings" pitchFamily="2" charset="2"/>
                        <a:buNone/>
                        <a:tabLst/>
                        <a:defRPr/>
                      </a:pPr>
                      <a:r>
                        <a:rPr kumimoji="0" lang="en-US" sz="1600" b="1" i="0" u="none" strike="noStrike" kern="1200" cap="none" normalizeH="0" baseline="0" dirty="0">
                          <a:ln>
                            <a:noFill/>
                          </a:ln>
                          <a:solidFill>
                            <a:schemeClr val="tx1"/>
                          </a:solidFill>
                          <a:effectLst/>
                          <a:latin typeface="Roboto" panose="02000000000000000000" pitchFamily="2" charset="0"/>
                          <a:ea typeface="Roboto" panose="02000000000000000000" pitchFamily="2" charset="0"/>
                          <a:cs typeface="+mn-cs"/>
                        </a:rPr>
                        <a:t>3. 30% of all products that were repaired in the field last year had to be repaired a second time</a:t>
                      </a:r>
                    </a:p>
                  </a:txBody>
                  <a:tcPr marT="45715" marB="45715"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15000"/>
                        </a:lnSpc>
                        <a:spcBef>
                          <a:spcPct val="20000"/>
                        </a:spcBef>
                        <a:spcAft>
                          <a:spcPct val="20000"/>
                        </a:spcAft>
                        <a:buClr>
                          <a:srgbClr val="006699"/>
                        </a:buClr>
                        <a:buSzPct val="90000"/>
                        <a:buFont typeface="Wingdings" pitchFamily="2" charset="2"/>
                        <a:buNone/>
                        <a:tabLst/>
                        <a:defRPr/>
                      </a:pPr>
                      <a:r>
                        <a:rPr kumimoji="0" lang="en-US" sz="1600" b="1" i="0" u="none" strike="noStrike" kern="1200" cap="none" normalizeH="0" baseline="0" dirty="0">
                          <a:ln>
                            <a:noFill/>
                          </a:ln>
                          <a:solidFill>
                            <a:schemeClr val="tx1"/>
                          </a:solidFill>
                          <a:effectLst/>
                          <a:latin typeface="Roboto" panose="02000000000000000000" pitchFamily="2" charset="0"/>
                          <a:ea typeface="Roboto" panose="02000000000000000000" pitchFamily="2" charset="0"/>
                          <a:cs typeface="+mn-cs"/>
                        </a:rPr>
                        <a:t>Customer satisfaction</a:t>
                      </a:r>
                    </a:p>
                  </a:txBody>
                  <a:tcPr marT="45715" marB="45715"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0" fontAlgn="base" latinLnBrk="0" hangingPunct="0">
                        <a:lnSpc>
                          <a:spcPct val="100000"/>
                        </a:lnSpc>
                        <a:spcBef>
                          <a:spcPct val="20000"/>
                        </a:spcBef>
                        <a:spcAft>
                          <a:spcPct val="20000"/>
                        </a:spcAft>
                        <a:buClr>
                          <a:schemeClr val="tx1"/>
                        </a:buClr>
                        <a:buSzPct val="90000"/>
                        <a:buFont typeface="Arial" panose="020B0604020202020204" pitchFamily="34" charset="0"/>
                        <a:buNone/>
                        <a:tabLst/>
                      </a:pPr>
                      <a:endParaRPr kumimoji="0" lang="en-US" sz="1600" b="1" i="0" u="none" strike="noStrike" kern="1200" cap="none" normalizeH="0" baseline="0" dirty="0">
                        <a:ln>
                          <a:noFill/>
                        </a:ln>
                        <a:solidFill>
                          <a:schemeClr val="tx1"/>
                        </a:solidFill>
                        <a:effectLst/>
                        <a:latin typeface="Roboto" panose="02000000000000000000" pitchFamily="2" charset="0"/>
                        <a:ea typeface="Roboto" panose="02000000000000000000" pitchFamily="2" charset="0"/>
                        <a:cs typeface="+mn-cs"/>
                      </a:endParaRPr>
                    </a:p>
                  </a:txBody>
                  <a:tcPr marT="45715" marB="45715"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475828321"/>
                  </a:ext>
                </a:extLst>
              </a:tr>
              <a:tr h="267322">
                <a:tc>
                  <a:txBody>
                    <a:bodyPr/>
                    <a:lstStyle/>
                    <a:p>
                      <a:pPr marL="0" marR="0" lvl="0" indent="0" algn="l" defTabSz="914400" rtl="0" eaLnBrk="0" fontAlgn="base" latinLnBrk="0" hangingPunct="0">
                        <a:lnSpc>
                          <a:spcPct val="115000"/>
                        </a:lnSpc>
                        <a:spcBef>
                          <a:spcPct val="20000"/>
                        </a:spcBef>
                        <a:spcAft>
                          <a:spcPct val="20000"/>
                        </a:spcAft>
                        <a:buClr>
                          <a:srgbClr val="006699"/>
                        </a:buClr>
                        <a:buSzPct val="90000"/>
                        <a:buFont typeface="Wingdings" pitchFamily="2" charset="2"/>
                        <a:buNone/>
                        <a:tabLst/>
                        <a:defRPr/>
                      </a:pPr>
                      <a:r>
                        <a:rPr kumimoji="0" lang="en-US" sz="1600" b="1" i="0" u="none" strike="noStrike" kern="1200" cap="none" normalizeH="0" baseline="0" dirty="0">
                          <a:ln>
                            <a:noFill/>
                          </a:ln>
                          <a:solidFill>
                            <a:schemeClr val="tx1"/>
                          </a:solidFill>
                          <a:effectLst/>
                          <a:latin typeface="Roboto" panose="02000000000000000000" pitchFamily="2" charset="0"/>
                          <a:ea typeface="Roboto" panose="02000000000000000000" pitchFamily="2" charset="0"/>
                          <a:cs typeface="+mn-cs"/>
                        </a:rPr>
                        <a:t>4.  There is inadequate budget to hire a new accountant</a:t>
                      </a:r>
                    </a:p>
                  </a:txBody>
                  <a:tcPr marT="45715" marB="45715"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15000"/>
                        </a:lnSpc>
                        <a:spcBef>
                          <a:spcPct val="20000"/>
                        </a:spcBef>
                        <a:spcAft>
                          <a:spcPct val="20000"/>
                        </a:spcAft>
                        <a:buClr>
                          <a:srgbClr val="006699"/>
                        </a:buClr>
                        <a:buSzPct val="90000"/>
                        <a:buFont typeface="Wingdings" pitchFamily="2" charset="2"/>
                        <a:buNone/>
                        <a:tabLst/>
                        <a:defRPr/>
                      </a:pPr>
                      <a:r>
                        <a:rPr kumimoji="0" lang="en-US" sz="1600" b="1" i="0" u="none" strike="noStrike" kern="1200" cap="none" normalizeH="0" baseline="0" dirty="0">
                          <a:ln>
                            <a:noFill/>
                          </a:ln>
                          <a:solidFill>
                            <a:schemeClr val="tx1"/>
                          </a:solidFill>
                          <a:effectLst/>
                          <a:latin typeface="Roboto" panose="02000000000000000000" pitchFamily="2" charset="0"/>
                          <a:ea typeface="Roboto" panose="02000000000000000000" pitchFamily="2" charset="0"/>
                          <a:cs typeface="+mn-cs"/>
                        </a:rPr>
                        <a:t>Daily Account Receivables $$</a:t>
                      </a:r>
                    </a:p>
                  </a:txBody>
                  <a:tcPr marT="45715" marB="45715"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0" fontAlgn="base" latinLnBrk="0" hangingPunct="0">
                        <a:lnSpc>
                          <a:spcPct val="100000"/>
                        </a:lnSpc>
                        <a:spcBef>
                          <a:spcPct val="20000"/>
                        </a:spcBef>
                        <a:spcAft>
                          <a:spcPct val="20000"/>
                        </a:spcAft>
                        <a:buClr>
                          <a:schemeClr val="tx1"/>
                        </a:buClr>
                        <a:buSzPct val="90000"/>
                        <a:buFont typeface="Arial" panose="020B0604020202020204" pitchFamily="34" charset="0"/>
                        <a:buNone/>
                        <a:tabLst/>
                      </a:pPr>
                      <a:endParaRPr kumimoji="0" lang="en-US" sz="1600" b="1" i="0" u="none" strike="noStrike" kern="1200" cap="none" normalizeH="0" baseline="0" dirty="0">
                        <a:ln>
                          <a:noFill/>
                        </a:ln>
                        <a:solidFill>
                          <a:schemeClr val="tx1"/>
                        </a:solidFill>
                        <a:effectLst/>
                        <a:latin typeface="Roboto" panose="02000000000000000000" pitchFamily="2" charset="0"/>
                        <a:ea typeface="Roboto" panose="02000000000000000000" pitchFamily="2" charset="0"/>
                        <a:cs typeface="+mn-cs"/>
                      </a:endParaRPr>
                    </a:p>
                  </a:txBody>
                  <a:tcPr marT="45715" marB="45715"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350610316"/>
                  </a:ext>
                </a:extLst>
              </a:tr>
            </a:tbl>
          </a:graphicData>
        </a:graphic>
      </p:graphicFrame>
      <p:grpSp>
        <p:nvGrpSpPr>
          <p:cNvPr id="4" name="Group 3">
            <a:extLst>
              <a:ext uri="{FF2B5EF4-FFF2-40B4-BE49-F238E27FC236}">
                <a16:creationId xmlns:a16="http://schemas.microsoft.com/office/drawing/2014/main" id="{94BA6204-2457-711B-1764-EC8F05298270}"/>
              </a:ext>
            </a:extLst>
          </p:cNvPr>
          <p:cNvGrpSpPr/>
          <p:nvPr/>
        </p:nvGrpSpPr>
        <p:grpSpPr>
          <a:xfrm>
            <a:off x="838200" y="297639"/>
            <a:ext cx="4110990" cy="307138"/>
            <a:chOff x="838200" y="297639"/>
            <a:chExt cx="4110990" cy="307138"/>
          </a:xfrm>
        </p:grpSpPr>
        <p:grpSp>
          <p:nvGrpSpPr>
            <p:cNvPr id="6" name="Group 5">
              <a:extLst>
                <a:ext uri="{FF2B5EF4-FFF2-40B4-BE49-F238E27FC236}">
                  <a16:creationId xmlns:a16="http://schemas.microsoft.com/office/drawing/2014/main" id="{0648C5F8-0A90-103E-C5BA-D860299EEB30}"/>
                </a:ext>
              </a:extLst>
            </p:cNvPr>
            <p:cNvGrpSpPr/>
            <p:nvPr/>
          </p:nvGrpSpPr>
          <p:grpSpPr>
            <a:xfrm>
              <a:off x="838200" y="297639"/>
              <a:ext cx="1687517" cy="290657"/>
              <a:chOff x="838200" y="297639"/>
              <a:chExt cx="1687517" cy="290657"/>
            </a:xfrm>
          </p:grpSpPr>
          <p:sp>
            <p:nvSpPr>
              <p:cNvPr id="8" name="AutoShape 9">
                <a:extLst>
                  <a:ext uri="{FF2B5EF4-FFF2-40B4-BE49-F238E27FC236}">
                    <a16:creationId xmlns:a16="http://schemas.microsoft.com/office/drawing/2014/main" id="{41836353-8444-6D61-D627-5EAB8B760690}"/>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9" name="AutoShape 9">
                <a:extLst>
                  <a:ext uri="{FF2B5EF4-FFF2-40B4-BE49-F238E27FC236}">
                    <a16:creationId xmlns:a16="http://schemas.microsoft.com/office/drawing/2014/main" id="{2384E061-C36B-9A09-FCF8-D8ABCFBF61C9}"/>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10" name="Group 9">
                <a:extLst>
                  <a:ext uri="{FF2B5EF4-FFF2-40B4-BE49-F238E27FC236}">
                    <a16:creationId xmlns:a16="http://schemas.microsoft.com/office/drawing/2014/main" id="{6DE295F0-2BC9-EF9A-56FC-0C4F6E98962E}"/>
                  </a:ext>
                </a:extLst>
              </p:cNvPr>
              <p:cNvGrpSpPr/>
              <p:nvPr/>
            </p:nvGrpSpPr>
            <p:grpSpPr>
              <a:xfrm>
                <a:off x="838200" y="297639"/>
                <a:ext cx="1060167" cy="290657"/>
                <a:chOff x="826426" y="4041857"/>
                <a:chExt cx="1060167" cy="290657"/>
              </a:xfrm>
            </p:grpSpPr>
            <p:sp>
              <p:nvSpPr>
                <p:cNvPr id="11" name="AutoShape 9">
                  <a:extLst>
                    <a:ext uri="{FF2B5EF4-FFF2-40B4-BE49-F238E27FC236}">
                      <a16:creationId xmlns:a16="http://schemas.microsoft.com/office/drawing/2014/main" id="{47B706EF-DF91-0984-9B1A-D07DE072C8CE}"/>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2" name="AutoShape 11">
                  <a:extLst>
                    <a:ext uri="{FF2B5EF4-FFF2-40B4-BE49-F238E27FC236}">
                      <a16:creationId xmlns:a16="http://schemas.microsoft.com/office/drawing/2014/main" id="{56DDFA4C-0F0D-A802-09BC-B2E330C92C17}"/>
                    </a:ext>
                  </a:extLst>
                </p:cNvPr>
                <p:cNvSpPr>
                  <a:spLocks noChangeArrowheads="1"/>
                </p:cNvSpPr>
                <p:nvPr/>
              </p:nvSpPr>
              <p:spPr bwMode="auto">
                <a:xfrm>
                  <a:off x="1140101" y="4041858"/>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3" name="AutoShape 10">
                  <a:extLst>
                    <a:ext uri="{FF2B5EF4-FFF2-40B4-BE49-F238E27FC236}">
                      <a16:creationId xmlns:a16="http://schemas.microsoft.com/office/drawing/2014/main" id="{4C30C012-6788-9EBC-F12A-BB36171F65D4}"/>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7" name="TextBox 6">
              <a:extLst>
                <a:ext uri="{FF2B5EF4-FFF2-40B4-BE49-F238E27FC236}">
                  <a16:creationId xmlns:a16="http://schemas.microsoft.com/office/drawing/2014/main" id="{8DBD165B-AB03-E25E-DAF1-2CF723C8C7F0}"/>
                </a:ext>
              </a:extLst>
            </p:cNvPr>
            <p:cNvSpPr txBox="1"/>
            <p:nvPr/>
          </p:nvSpPr>
          <p:spPr>
            <a:xfrm>
              <a:off x="2525717" y="313415"/>
              <a:ext cx="242347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CEDAC Problem Effect</a:t>
              </a:r>
            </a:p>
          </p:txBody>
        </p:sp>
      </p:grpSp>
    </p:spTree>
    <p:extLst>
      <p:ext uri="{BB962C8B-B14F-4D97-AF65-F5344CB8AC3E}">
        <p14:creationId xmlns:p14="http://schemas.microsoft.com/office/powerpoint/2010/main" val="70333957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8D9ED7-5CF9-6F4B-B4A8-2DBF8D852A20}"/>
              </a:ext>
            </a:extLst>
          </p:cNvPr>
          <p:cNvSpPr>
            <a:spLocks noGrp="1"/>
          </p:cNvSpPr>
          <p:nvPr>
            <p:ph type="title"/>
          </p:nvPr>
        </p:nvSpPr>
        <p:spPr/>
        <p:txBody>
          <a:bodyPr>
            <a:noAutofit/>
          </a:bodyPr>
          <a:lstStyle/>
          <a:p>
            <a:r>
              <a:rPr lang="en-US" sz="2400" dirty="0">
                <a:latin typeface="Roboto Medium"/>
                <a:ea typeface="Roboto Medium"/>
                <a:cs typeface="Roboto Medium"/>
              </a:rPr>
              <a:t>Case Study Exercise: CEDAC Step 2 – Establish/Validate Metrics</a:t>
            </a:r>
          </a:p>
        </p:txBody>
      </p:sp>
      <p:sp>
        <p:nvSpPr>
          <p:cNvPr id="5" name="Slide Number Placeholder 4">
            <a:extLst>
              <a:ext uri="{FF2B5EF4-FFF2-40B4-BE49-F238E27FC236}">
                <a16:creationId xmlns:a16="http://schemas.microsoft.com/office/drawing/2014/main" id="{EFB3C390-D307-7FFC-DADE-918C5180FE01}"/>
              </a:ext>
            </a:extLst>
          </p:cNvPr>
          <p:cNvSpPr>
            <a:spLocks noGrp="1"/>
          </p:cNvSpPr>
          <p:nvPr>
            <p:ph type="sldNum" sz="quarter" idx="4294967295"/>
          </p:nvPr>
        </p:nvSpPr>
        <p:spPr>
          <a:xfrm>
            <a:off x="8595078" y="6333148"/>
            <a:ext cx="2743200" cy="365125"/>
          </a:xfrm>
          <a:prstGeom prst="rect">
            <a:avLst/>
          </a:prstGeom>
        </p:spPr>
        <p:txBody>
          <a:bodyPr/>
          <a:lstStyle/>
          <a:p>
            <a:fld id="{CC6D4273-7FC1-0947-B9FE-19CB3C0D1FB6}" type="slidenum">
              <a:rPr lang="en-US" smtClean="0"/>
              <a:t>37</a:t>
            </a:fld>
            <a:endParaRPr lang="en-US"/>
          </a:p>
        </p:txBody>
      </p:sp>
      <p:sp>
        <p:nvSpPr>
          <p:cNvPr id="11" name="Rectangle 10">
            <a:extLst>
              <a:ext uri="{FF2B5EF4-FFF2-40B4-BE49-F238E27FC236}">
                <a16:creationId xmlns:a16="http://schemas.microsoft.com/office/drawing/2014/main" id="{3A9506B7-1A57-1322-5AB5-DA8522EE7602}"/>
              </a:ext>
            </a:extLst>
          </p:cNvPr>
          <p:cNvSpPr/>
          <p:nvPr/>
        </p:nvSpPr>
        <p:spPr>
          <a:xfrm>
            <a:off x="838200" y="2297655"/>
            <a:ext cx="9722342" cy="533479"/>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Analyze Case Study </a:t>
            </a:r>
          </a:p>
        </p:txBody>
      </p:sp>
      <p:sp>
        <p:nvSpPr>
          <p:cNvPr id="12" name="TextBox 11">
            <a:extLst>
              <a:ext uri="{FF2B5EF4-FFF2-40B4-BE49-F238E27FC236}">
                <a16:creationId xmlns:a16="http://schemas.microsoft.com/office/drawing/2014/main" id="{A4ECB5F6-F271-06CD-2A6A-E79F5245CD15}"/>
              </a:ext>
            </a:extLst>
          </p:cNvPr>
          <p:cNvSpPr txBox="1"/>
          <p:nvPr/>
        </p:nvSpPr>
        <p:spPr>
          <a:xfrm>
            <a:off x="838200" y="1767653"/>
            <a:ext cx="1603003"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Objective</a:t>
            </a:r>
            <a:endParaRPr kumimoji="0" lang="en-US" sz="56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endParaRPr>
          </a:p>
        </p:txBody>
      </p:sp>
      <p:sp>
        <p:nvSpPr>
          <p:cNvPr id="13" name="TextBox 12">
            <a:extLst>
              <a:ext uri="{FF2B5EF4-FFF2-40B4-BE49-F238E27FC236}">
                <a16:creationId xmlns:a16="http://schemas.microsoft.com/office/drawing/2014/main" id="{EA94F381-2B48-C111-2724-726B0390290F}"/>
              </a:ext>
            </a:extLst>
          </p:cNvPr>
          <p:cNvSpPr txBox="1"/>
          <p:nvPr/>
        </p:nvSpPr>
        <p:spPr>
          <a:xfrm>
            <a:off x="838200" y="2952549"/>
            <a:ext cx="2022990"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Instructions</a:t>
            </a:r>
            <a:endParaRPr kumimoji="0" lang="en-US" sz="56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endParaRPr>
          </a:p>
        </p:txBody>
      </p:sp>
      <p:sp>
        <p:nvSpPr>
          <p:cNvPr id="14" name="Rectangle 13">
            <a:extLst>
              <a:ext uri="{FF2B5EF4-FFF2-40B4-BE49-F238E27FC236}">
                <a16:creationId xmlns:a16="http://schemas.microsoft.com/office/drawing/2014/main" id="{82677B47-98C9-F770-8D4E-7D91CF39F5A7}"/>
              </a:ext>
            </a:extLst>
          </p:cNvPr>
          <p:cNvSpPr/>
          <p:nvPr/>
        </p:nvSpPr>
        <p:spPr>
          <a:xfrm>
            <a:off x="818941" y="3486027"/>
            <a:ext cx="4419809" cy="2318583"/>
          </a:xfrm>
          <a:prstGeom prst="rect">
            <a:avLst/>
          </a:prstGeom>
          <a:solidFill>
            <a:schemeClr val="bg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16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In each team, review the additional metrics from the case study on the following slide</a:t>
            </a:r>
          </a:p>
          <a:p>
            <a:pPr marL="0" marR="0" indent="0" algn="l" defTabSz="584200" rtl="0" fontAlgn="auto" latinLnBrk="0" hangingPunct="0">
              <a:lnSpc>
                <a:spcPct val="100000"/>
              </a:lnSpc>
              <a:spcBef>
                <a:spcPts val="0"/>
              </a:spcBef>
              <a:spcAft>
                <a:spcPts val="0"/>
              </a:spcAft>
              <a:buClrTx/>
              <a:buSzTx/>
              <a:buFontTx/>
              <a:buNone/>
              <a:tabLst/>
            </a:pPr>
            <a:r>
              <a:rPr kumimoji="0" lang="en-US" sz="16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Given this new data, evaluate and refine your problem statement</a:t>
            </a:r>
          </a:p>
          <a:p>
            <a:pPr marL="0" marR="0" indent="0" algn="l" defTabSz="584200" rtl="0" fontAlgn="auto" latinLnBrk="0" hangingPunct="0">
              <a:lnSpc>
                <a:spcPct val="100000"/>
              </a:lnSpc>
              <a:spcBef>
                <a:spcPts val="0"/>
              </a:spcBef>
              <a:spcAft>
                <a:spcPts val="0"/>
              </a:spcAft>
              <a:buClrTx/>
              <a:buSzTx/>
              <a:buFontTx/>
              <a:buNone/>
              <a:tabLst/>
            </a:pPr>
            <a:r>
              <a:rPr kumimoji="0" lang="en-US" sz="16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Discuss what other data may be necessary to get to root cause and solve the problem</a:t>
            </a:r>
          </a:p>
          <a:p>
            <a:pPr marL="0" marR="0" indent="0" algn="l" defTabSz="584200" rtl="0" fontAlgn="auto" latinLnBrk="0" hangingPunct="0">
              <a:lnSpc>
                <a:spcPct val="100000"/>
              </a:lnSpc>
              <a:spcBef>
                <a:spcPts val="0"/>
              </a:spcBef>
              <a:spcAft>
                <a:spcPts val="0"/>
              </a:spcAft>
              <a:buClrTx/>
              <a:buSzTx/>
              <a:buFontTx/>
              <a:buNone/>
              <a:tabLst/>
            </a:pPr>
            <a:r>
              <a:rPr kumimoji="0" lang="en-US" sz="16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Record problem statement and list of potential metrics on chart paper for review with class</a:t>
            </a:r>
          </a:p>
        </p:txBody>
      </p:sp>
      <p:sp>
        <p:nvSpPr>
          <p:cNvPr id="15" name="TextBox 14">
            <a:extLst>
              <a:ext uri="{FF2B5EF4-FFF2-40B4-BE49-F238E27FC236}">
                <a16:creationId xmlns:a16="http://schemas.microsoft.com/office/drawing/2014/main" id="{90914B3B-0CE2-FDFF-2FB9-215236316256}"/>
              </a:ext>
            </a:extLst>
          </p:cNvPr>
          <p:cNvSpPr txBox="1"/>
          <p:nvPr/>
        </p:nvSpPr>
        <p:spPr>
          <a:xfrm>
            <a:off x="5879250" y="2952548"/>
            <a:ext cx="2968761"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Time to Complete</a:t>
            </a:r>
          </a:p>
        </p:txBody>
      </p:sp>
      <p:sp>
        <p:nvSpPr>
          <p:cNvPr id="16" name="TextBox 15">
            <a:extLst>
              <a:ext uri="{FF2B5EF4-FFF2-40B4-BE49-F238E27FC236}">
                <a16:creationId xmlns:a16="http://schemas.microsoft.com/office/drawing/2014/main" id="{6285230A-07BD-F376-25CA-177CC1D4233F}"/>
              </a:ext>
            </a:extLst>
          </p:cNvPr>
          <p:cNvSpPr txBox="1"/>
          <p:nvPr/>
        </p:nvSpPr>
        <p:spPr>
          <a:xfrm>
            <a:off x="5879250" y="4136472"/>
            <a:ext cx="1888337"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Deliverable</a:t>
            </a:r>
          </a:p>
        </p:txBody>
      </p:sp>
      <p:sp>
        <p:nvSpPr>
          <p:cNvPr id="17" name="Rectangle 16">
            <a:extLst>
              <a:ext uri="{FF2B5EF4-FFF2-40B4-BE49-F238E27FC236}">
                <a16:creationId xmlns:a16="http://schemas.microsoft.com/office/drawing/2014/main" id="{67530399-8FDB-50CD-E8FD-8E286DE1A2EA}"/>
              </a:ext>
            </a:extLst>
          </p:cNvPr>
          <p:cNvSpPr/>
          <p:nvPr/>
        </p:nvSpPr>
        <p:spPr>
          <a:xfrm>
            <a:off x="5879250" y="3496996"/>
            <a:ext cx="4681292" cy="471924"/>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584200" hangingPunct="0"/>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10 minutes</a:t>
            </a:r>
          </a:p>
        </p:txBody>
      </p:sp>
      <p:sp>
        <p:nvSpPr>
          <p:cNvPr id="18" name="Rectangle 17">
            <a:extLst>
              <a:ext uri="{FF2B5EF4-FFF2-40B4-BE49-F238E27FC236}">
                <a16:creationId xmlns:a16="http://schemas.microsoft.com/office/drawing/2014/main" id="{84DF6BD6-975A-3700-5E69-322EFF4F722E}"/>
              </a:ext>
            </a:extLst>
          </p:cNvPr>
          <p:cNvSpPr/>
          <p:nvPr/>
        </p:nvSpPr>
        <p:spPr>
          <a:xfrm>
            <a:off x="5879250" y="4634782"/>
            <a:ext cx="4681292" cy="1579920"/>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584200" hangingPunct="0"/>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Problem Statement and list of other potential metrics– one person to report out to rest of class</a:t>
            </a:r>
          </a:p>
        </p:txBody>
      </p:sp>
      <p:grpSp>
        <p:nvGrpSpPr>
          <p:cNvPr id="3" name="Group 2">
            <a:extLst>
              <a:ext uri="{FF2B5EF4-FFF2-40B4-BE49-F238E27FC236}">
                <a16:creationId xmlns:a16="http://schemas.microsoft.com/office/drawing/2014/main" id="{16865E1C-D685-A7AE-218A-FD1622AE7E83}"/>
              </a:ext>
            </a:extLst>
          </p:cNvPr>
          <p:cNvGrpSpPr/>
          <p:nvPr/>
        </p:nvGrpSpPr>
        <p:grpSpPr>
          <a:xfrm>
            <a:off x="838200" y="297639"/>
            <a:ext cx="4110990" cy="307138"/>
            <a:chOff x="838200" y="297639"/>
            <a:chExt cx="4110990" cy="307138"/>
          </a:xfrm>
        </p:grpSpPr>
        <p:grpSp>
          <p:nvGrpSpPr>
            <p:cNvPr id="4" name="Group 3">
              <a:extLst>
                <a:ext uri="{FF2B5EF4-FFF2-40B4-BE49-F238E27FC236}">
                  <a16:creationId xmlns:a16="http://schemas.microsoft.com/office/drawing/2014/main" id="{6BB102DA-FCF3-B138-1B68-6EA5538C23B1}"/>
                </a:ext>
              </a:extLst>
            </p:cNvPr>
            <p:cNvGrpSpPr/>
            <p:nvPr/>
          </p:nvGrpSpPr>
          <p:grpSpPr>
            <a:xfrm>
              <a:off x="838200" y="297639"/>
              <a:ext cx="1687517" cy="290657"/>
              <a:chOff x="838200" y="297639"/>
              <a:chExt cx="1687517" cy="290657"/>
            </a:xfrm>
          </p:grpSpPr>
          <p:sp>
            <p:nvSpPr>
              <p:cNvPr id="7" name="AutoShape 9">
                <a:extLst>
                  <a:ext uri="{FF2B5EF4-FFF2-40B4-BE49-F238E27FC236}">
                    <a16:creationId xmlns:a16="http://schemas.microsoft.com/office/drawing/2014/main" id="{9133B7B8-E188-A93F-2A69-935D3C833A1C}"/>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8" name="AutoShape 9">
                <a:extLst>
                  <a:ext uri="{FF2B5EF4-FFF2-40B4-BE49-F238E27FC236}">
                    <a16:creationId xmlns:a16="http://schemas.microsoft.com/office/drawing/2014/main" id="{708131C8-7F96-BA0D-3959-FCBFC1951580}"/>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9" name="Group 8">
                <a:extLst>
                  <a:ext uri="{FF2B5EF4-FFF2-40B4-BE49-F238E27FC236}">
                    <a16:creationId xmlns:a16="http://schemas.microsoft.com/office/drawing/2014/main" id="{D6B2AC4C-98CB-F0E1-57AA-ECDFBB42F4FA}"/>
                  </a:ext>
                </a:extLst>
              </p:cNvPr>
              <p:cNvGrpSpPr/>
              <p:nvPr/>
            </p:nvGrpSpPr>
            <p:grpSpPr>
              <a:xfrm>
                <a:off x="838200" y="297639"/>
                <a:ext cx="1060167" cy="290657"/>
                <a:chOff x="826426" y="4041857"/>
                <a:chExt cx="1060167" cy="290657"/>
              </a:xfrm>
            </p:grpSpPr>
            <p:sp>
              <p:nvSpPr>
                <p:cNvPr id="10" name="AutoShape 9">
                  <a:extLst>
                    <a:ext uri="{FF2B5EF4-FFF2-40B4-BE49-F238E27FC236}">
                      <a16:creationId xmlns:a16="http://schemas.microsoft.com/office/drawing/2014/main" id="{06369BCD-F6D1-9F46-89F5-52DCBD67DC98}"/>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9" name="AutoShape 11">
                  <a:extLst>
                    <a:ext uri="{FF2B5EF4-FFF2-40B4-BE49-F238E27FC236}">
                      <a16:creationId xmlns:a16="http://schemas.microsoft.com/office/drawing/2014/main" id="{E2194F7C-BED4-C919-83C3-72B34F4AFA3D}"/>
                    </a:ext>
                  </a:extLst>
                </p:cNvPr>
                <p:cNvSpPr>
                  <a:spLocks noChangeArrowheads="1"/>
                </p:cNvSpPr>
                <p:nvPr/>
              </p:nvSpPr>
              <p:spPr bwMode="auto">
                <a:xfrm>
                  <a:off x="1140101" y="4041858"/>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0" name="AutoShape 10">
                  <a:extLst>
                    <a:ext uri="{FF2B5EF4-FFF2-40B4-BE49-F238E27FC236}">
                      <a16:creationId xmlns:a16="http://schemas.microsoft.com/office/drawing/2014/main" id="{C926CCA7-ACA1-2AB5-3AB5-77D740254E56}"/>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6" name="TextBox 5">
              <a:extLst>
                <a:ext uri="{FF2B5EF4-FFF2-40B4-BE49-F238E27FC236}">
                  <a16:creationId xmlns:a16="http://schemas.microsoft.com/office/drawing/2014/main" id="{FDE6247A-5BF4-CA14-6371-138C6CAE2601}"/>
                </a:ext>
              </a:extLst>
            </p:cNvPr>
            <p:cNvSpPr txBox="1"/>
            <p:nvPr/>
          </p:nvSpPr>
          <p:spPr>
            <a:xfrm>
              <a:off x="2525717" y="313415"/>
              <a:ext cx="242347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CEDAC Problem Effect</a:t>
              </a:r>
            </a:p>
          </p:txBody>
        </p:sp>
      </p:grpSp>
    </p:spTree>
    <p:extLst>
      <p:ext uri="{BB962C8B-B14F-4D97-AF65-F5344CB8AC3E}">
        <p14:creationId xmlns:p14="http://schemas.microsoft.com/office/powerpoint/2010/main" val="135075100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1668A9-873A-57D2-016B-C3B5AEEC0C72}"/>
              </a:ext>
            </a:extLst>
          </p:cNvPr>
          <p:cNvSpPr>
            <a:spLocks noGrp="1"/>
          </p:cNvSpPr>
          <p:nvPr>
            <p:ph type="title"/>
          </p:nvPr>
        </p:nvSpPr>
        <p:spPr/>
        <p:txBody>
          <a:bodyPr>
            <a:normAutofit/>
          </a:bodyPr>
          <a:lstStyle/>
          <a:p>
            <a:r>
              <a:rPr lang="en-US" sz="3600" dirty="0"/>
              <a:t>Sample Case Study – “Spencer’s” Restaurant</a:t>
            </a:r>
          </a:p>
        </p:txBody>
      </p:sp>
      <p:sp>
        <p:nvSpPr>
          <p:cNvPr id="6" name="Slide Number Placeholder 5">
            <a:extLst>
              <a:ext uri="{FF2B5EF4-FFF2-40B4-BE49-F238E27FC236}">
                <a16:creationId xmlns:a16="http://schemas.microsoft.com/office/drawing/2014/main" id="{513532D1-AE2A-ADCD-94E6-52E41022128B}"/>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38</a:t>
            </a:fld>
            <a:endParaRPr lang="en-US"/>
          </a:p>
        </p:txBody>
      </p:sp>
      <p:grpSp>
        <p:nvGrpSpPr>
          <p:cNvPr id="5" name="Group 4">
            <a:extLst>
              <a:ext uri="{FF2B5EF4-FFF2-40B4-BE49-F238E27FC236}">
                <a16:creationId xmlns:a16="http://schemas.microsoft.com/office/drawing/2014/main" id="{68E38FC1-CD73-7FDA-3591-DA586749E99B}"/>
              </a:ext>
            </a:extLst>
          </p:cNvPr>
          <p:cNvGrpSpPr/>
          <p:nvPr/>
        </p:nvGrpSpPr>
        <p:grpSpPr>
          <a:xfrm>
            <a:off x="838200" y="297639"/>
            <a:ext cx="4110990" cy="307138"/>
            <a:chOff x="838200" y="297639"/>
            <a:chExt cx="4110990" cy="307138"/>
          </a:xfrm>
        </p:grpSpPr>
        <p:grpSp>
          <p:nvGrpSpPr>
            <p:cNvPr id="7" name="Group 6">
              <a:extLst>
                <a:ext uri="{FF2B5EF4-FFF2-40B4-BE49-F238E27FC236}">
                  <a16:creationId xmlns:a16="http://schemas.microsoft.com/office/drawing/2014/main" id="{88902AC2-ED77-D9BD-3A30-1711156AEA57}"/>
                </a:ext>
              </a:extLst>
            </p:cNvPr>
            <p:cNvGrpSpPr/>
            <p:nvPr/>
          </p:nvGrpSpPr>
          <p:grpSpPr>
            <a:xfrm>
              <a:off x="838200" y="297639"/>
              <a:ext cx="1687517" cy="290657"/>
              <a:chOff x="838200" y="297639"/>
              <a:chExt cx="1687517" cy="290657"/>
            </a:xfrm>
          </p:grpSpPr>
          <p:sp>
            <p:nvSpPr>
              <p:cNvPr id="9" name="AutoShape 9">
                <a:extLst>
                  <a:ext uri="{FF2B5EF4-FFF2-40B4-BE49-F238E27FC236}">
                    <a16:creationId xmlns:a16="http://schemas.microsoft.com/office/drawing/2014/main" id="{DA563EBA-FD59-BC88-EE21-D6F497AED9B4}"/>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0" name="AutoShape 9">
                <a:extLst>
                  <a:ext uri="{FF2B5EF4-FFF2-40B4-BE49-F238E27FC236}">
                    <a16:creationId xmlns:a16="http://schemas.microsoft.com/office/drawing/2014/main" id="{F0DE2CB0-529E-DEEA-F1EE-8FD387480C29}"/>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11" name="Group 10">
                <a:extLst>
                  <a:ext uri="{FF2B5EF4-FFF2-40B4-BE49-F238E27FC236}">
                    <a16:creationId xmlns:a16="http://schemas.microsoft.com/office/drawing/2014/main" id="{17AFF397-B7CE-94DC-7FE0-2693420274E1}"/>
                  </a:ext>
                </a:extLst>
              </p:cNvPr>
              <p:cNvGrpSpPr/>
              <p:nvPr/>
            </p:nvGrpSpPr>
            <p:grpSpPr>
              <a:xfrm>
                <a:off x="838200" y="297639"/>
                <a:ext cx="1060167" cy="290657"/>
                <a:chOff x="826426" y="4041857"/>
                <a:chExt cx="1060167" cy="290657"/>
              </a:xfrm>
            </p:grpSpPr>
            <p:sp>
              <p:nvSpPr>
                <p:cNvPr id="12" name="AutoShape 9">
                  <a:extLst>
                    <a:ext uri="{FF2B5EF4-FFF2-40B4-BE49-F238E27FC236}">
                      <a16:creationId xmlns:a16="http://schemas.microsoft.com/office/drawing/2014/main" id="{206370C7-6FA3-BF9E-AD9F-49F2E7950B00}"/>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3" name="AutoShape 11">
                  <a:extLst>
                    <a:ext uri="{FF2B5EF4-FFF2-40B4-BE49-F238E27FC236}">
                      <a16:creationId xmlns:a16="http://schemas.microsoft.com/office/drawing/2014/main" id="{90168785-C7E7-6C97-304E-9AA008AE67F1}"/>
                    </a:ext>
                  </a:extLst>
                </p:cNvPr>
                <p:cNvSpPr>
                  <a:spLocks noChangeArrowheads="1"/>
                </p:cNvSpPr>
                <p:nvPr/>
              </p:nvSpPr>
              <p:spPr bwMode="auto">
                <a:xfrm>
                  <a:off x="1140101" y="4041858"/>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4" name="AutoShape 10">
                  <a:extLst>
                    <a:ext uri="{FF2B5EF4-FFF2-40B4-BE49-F238E27FC236}">
                      <a16:creationId xmlns:a16="http://schemas.microsoft.com/office/drawing/2014/main" id="{B3BF2947-6F2A-B7AC-C33C-7962C0968EEC}"/>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8" name="TextBox 7">
              <a:extLst>
                <a:ext uri="{FF2B5EF4-FFF2-40B4-BE49-F238E27FC236}">
                  <a16:creationId xmlns:a16="http://schemas.microsoft.com/office/drawing/2014/main" id="{A0EBB898-3471-87FC-7F4F-2F0A1E98E683}"/>
                </a:ext>
              </a:extLst>
            </p:cNvPr>
            <p:cNvSpPr txBox="1"/>
            <p:nvPr/>
          </p:nvSpPr>
          <p:spPr>
            <a:xfrm>
              <a:off x="2525717" y="313415"/>
              <a:ext cx="242347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CEDAC Problem Effect</a:t>
              </a:r>
            </a:p>
          </p:txBody>
        </p:sp>
      </p:grpSp>
      <p:pic>
        <p:nvPicPr>
          <p:cNvPr id="15" name="Object 3">
            <a:extLst>
              <a:ext uri="{FF2B5EF4-FFF2-40B4-BE49-F238E27FC236}">
                <a16:creationId xmlns:a16="http://schemas.microsoft.com/office/drawing/2014/main" id="{185640B1-3983-A399-9E31-0283A18C08E3}"/>
              </a:ext>
            </a:extLst>
          </p:cNvPr>
          <p:cNvPicPr>
            <a:picLocks noGrp="1" noChangeAspect="1" noChangeArrowheads="1"/>
          </p:cNvPicPr>
          <p:nvPr>
            <p:ph sz="half" idx="1"/>
          </p:nvPr>
        </p:nvPicPr>
        <p:blipFill>
          <a:blip r:embed="rId3">
            <a:extLst>
              <a:ext uri="{28A0092B-C50C-407E-A947-70E740481C1C}">
                <a14:useLocalDpi xmlns:a14="http://schemas.microsoft.com/office/drawing/2010/main" val="0"/>
              </a:ext>
            </a:extLst>
          </a:blip>
          <a:srcRect/>
          <a:stretch>
            <a:fillRect/>
          </a:stretch>
        </p:blipFill>
        <p:spPr>
          <a:xfrm>
            <a:off x="321043" y="1783429"/>
            <a:ext cx="5774957" cy="3305016"/>
          </a:xfrm>
        </p:spPr>
      </p:pic>
      <p:pic>
        <p:nvPicPr>
          <p:cNvPr id="16" name="Object 10">
            <a:extLst>
              <a:ext uri="{FF2B5EF4-FFF2-40B4-BE49-F238E27FC236}">
                <a16:creationId xmlns:a16="http://schemas.microsoft.com/office/drawing/2014/main" id="{B6D2A496-BC95-5A65-B497-3C32BF6990D1}"/>
              </a:ext>
            </a:extLst>
          </p:cNvPr>
          <p:cNvPicPr>
            <a:picLocks noGrp="1" noChangeAspect="1" noChangeArrowheads="1"/>
          </p:cNvPicPr>
          <p:nvPr>
            <p:ph sz="half" idx="2"/>
          </p:nvPr>
        </p:nvPicPr>
        <p:blipFill>
          <a:blip r:embed="rId4">
            <a:extLst>
              <a:ext uri="{28A0092B-C50C-407E-A947-70E740481C1C}">
                <a14:useLocalDpi xmlns:a14="http://schemas.microsoft.com/office/drawing/2010/main" val="0"/>
              </a:ext>
            </a:extLst>
          </a:blip>
          <a:srcRect/>
          <a:stretch>
            <a:fillRect/>
          </a:stretch>
        </p:blipFill>
        <p:spPr bwMode="auto">
          <a:xfrm>
            <a:off x="5907455" y="2743994"/>
            <a:ext cx="6139330" cy="33009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sp>
        <p:nvSpPr>
          <p:cNvPr id="17" name="AutoShape 11">
            <a:extLst>
              <a:ext uri="{FF2B5EF4-FFF2-40B4-BE49-F238E27FC236}">
                <a16:creationId xmlns:a16="http://schemas.microsoft.com/office/drawing/2014/main" id="{1CF0F215-2557-077A-FDBA-7791B1390FD9}"/>
              </a:ext>
            </a:extLst>
          </p:cNvPr>
          <p:cNvSpPr>
            <a:spLocks noChangeArrowheads="1"/>
          </p:cNvSpPr>
          <p:nvPr/>
        </p:nvSpPr>
        <p:spPr bwMode="auto">
          <a:xfrm rot="5400000">
            <a:off x="8834245" y="1208843"/>
            <a:ext cx="285750" cy="2493962"/>
          </a:xfrm>
          <a:prstGeom prst="rightArrow">
            <a:avLst>
              <a:gd name="adj1" fmla="val 67278"/>
              <a:gd name="adj2" fmla="val 72222"/>
            </a:avLst>
          </a:prstGeom>
          <a:solidFill>
            <a:schemeClr val="accent1"/>
          </a:solidFill>
          <a:ln w="19050" cap="sq">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5000"/>
              </a:lnSpc>
              <a:buFont typeface="Wingdings" panose="05000000000000000000" pitchFamily="2" charset="2"/>
              <a:buNone/>
            </a:pPr>
            <a:endParaRPr lang="en-US" altLang="en-US" sz="1600"/>
          </a:p>
        </p:txBody>
      </p:sp>
      <p:sp>
        <p:nvSpPr>
          <p:cNvPr id="18" name="AutoShape 12">
            <a:extLst>
              <a:ext uri="{FF2B5EF4-FFF2-40B4-BE49-F238E27FC236}">
                <a16:creationId xmlns:a16="http://schemas.microsoft.com/office/drawing/2014/main" id="{F8E4EE33-157E-DA41-EAEC-B64BE387319C}"/>
              </a:ext>
            </a:extLst>
          </p:cNvPr>
          <p:cNvSpPr>
            <a:spLocks noChangeArrowheads="1"/>
          </p:cNvSpPr>
          <p:nvPr/>
        </p:nvSpPr>
        <p:spPr bwMode="auto">
          <a:xfrm rot="16200000">
            <a:off x="3065646" y="4452423"/>
            <a:ext cx="285750" cy="2493962"/>
          </a:xfrm>
          <a:prstGeom prst="rightArrow">
            <a:avLst>
              <a:gd name="adj1" fmla="val 67278"/>
              <a:gd name="adj2" fmla="val 72222"/>
            </a:avLst>
          </a:prstGeom>
          <a:solidFill>
            <a:schemeClr val="accent1"/>
          </a:solidFill>
          <a:ln w="19050" cap="sq">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5000"/>
              </a:lnSpc>
              <a:buFont typeface="Wingdings" panose="05000000000000000000" pitchFamily="2" charset="2"/>
              <a:buNone/>
            </a:pPr>
            <a:endParaRPr lang="en-US" altLang="en-US" sz="1600"/>
          </a:p>
        </p:txBody>
      </p:sp>
    </p:spTree>
    <p:extLst>
      <p:ext uri="{BB962C8B-B14F-4D97-AF65-F5344CB8AC3E}">
        <p14:creationId xmlns:p14="http://schemas.microsoft.com/office/powerpoint/2010/main" val="367408524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2DF11FF7-095F-D1A9-6784-C53D538A36FF}"/>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39</a:t>
            </a:fld>
            <a:endParaRPr lang="en-US"/>
          </a:p>
        </p:txBody>
      </p:sp>
      <p:sp>
        <p:nvSpPr>
          <p:cNvPr id="2" name="Title 1">
            <a:extLst>
              <a:ext uri="{FF2B5EF4-FFF2-40B4-BE49-F238E27FC236}">
                <a16:creationId xmlns:a16="http://schemas.microsoft.com/office/drawing/2014/main" id="{0D77BA17-B180-9889-85DC-DBE8C080CFB7}"/>
              </a:ext>
            </a:extLst>
          </p:cNvPr>
          <p:cNvSpPr>
            <a:spLocks noGrp="1"/>
          </p:cNvSpPr>
          <p:nvPr>
            <p:ph type="title" idx="4294967295"/>
          </p:nvPr>
        </p:nvSpPr>
        <p:spPr>
          <a:xfrm>
            <a:off x="699911" y="1497012"/>
            <a:ext cx="9815689" cy="1009650"/>
          </a:xfrm>
          <a:prstGeom prst="rect">
            <a:avLst/>
          </a:prstGeom>
        </p:spPr>
        <p:txBody>
          <a:bodyPr>
            <a:noAutofit/>
          </a:bodyPr>
          <a:lstStyle/>
          <a:p>
            <a:r>
              <a:rPr lang="en-US" sz="3200" dirty="0">
                <a:latin typeface="Roboto Medium"/>
                <a:ea typeface="Roboto Medium"/>
                <a:cs typeface="Roboto Medium"/>
              </a:rPr>
              <a:t>CEDAC Step 3 – Determine Objective Statement</a:t>
            </a:r>
          </a:p>
        </p:txBody>
      </p:sp>
      <p:sp>
        <p:nvSpPr>
          <p:cNvPr id="3" name="Content Placeholder 2">
            <a:extLst>
              <a:ext uri="{FF2B5EF4-FFF2-40B4-BE49-F238E27FC236}">
                <a16:creationId xmlns:a16="http://schemas.microsoft.com/office/drawing/2014/main" id="{30534846-F3D4-20E7-25C0-91FCF7736CB5}"/>
              </a:ext>
            </a:extLst>
          </p:cNvPr>
          <p:cNvSpPr>
            <a:spLocks noGrp="1"/>
          </p:cNvSpPr>
          <p:nvPr>
            <p:ph idx="4294967295"/>
          </p:nvPr>
        </p:nvSpPr>
        <p:spPr>
          <a:xfrm>
            <a:off x="722489" y="2506662"/>
            <a:ext cx="10515600" cy="4351338"/>
          </a:xfrm>
        </p:spPr>
        <p:txBody>
          <a:bodyPr/>
          <a:lstStyle/>
          <a:p>
            <a:pPr marL="0" indent="0">
              <a:buNone/>
            </a:pPr>
            <a:r>
              <a:rPr lang="en-US" dirty="0">
                <a:latin typeface="Roboto Medium" panose="02000000000000000000" pitchFamily="2" charset="0"/>
                <a:ea typeface="Roboto Medium" panose="02000000000000000000" pitchFamily="2" charset="0"/>
                <a:cs typeface="Roboto Medium" panose="02000000000000000000" pitchFamily="2" charset="0"/>
              </a:rPr>
              <a:t>Objectives:</a:t>
            </a:r>
          </a:p>
          <a:p>
            <a:r>
              <a:rPr lang="en-US" sz="2400" dirty="0"/>
              <a:t>Define objective in terms of problem solving</a:t>
            </a:r>
          </a:p>
          <a:p>
            <a:r>
              <a:rPr lang="en-US" sz="2400" dirty="0"/>
              <a:t>Explain purpose of setting objective</a:t>
            </a:r>
          </a:p>
          <a:p>
            <a:r>
              <a:rPr lang="en-US" sz="2400" dirty="0"/>
              <a:t>Identify examples of well-defined objectives</a:t>
            </a:r>
          </a:p>
          <a:p>
            <a:r>
              <a:rPr lang="en-US" sz="2400" dirty="0"/>
              <a:t>Review CEDAC charter and validate the problem statement, metrics, and objective</a:t>
            </a:r>
          </a:p>
        </p:txBody>
      </p:sp>
      <p:grpSp>
        <p:nvGrpSpPr>
          <p:cNvPr id="11" name="Group 10">
            <a:extLst>
              <a:ext uri="{FF2B5EF4-FFF2-40B4-BE49-F238E27FC236}">
                <a16:creationId xmlns:a16="http://schemas.microsoft.com/office/drawing/2014/main" id="{DCC7CB02-4F0E-2CE8-9EF1-D9AEB4FA2691}"/>
              </a:ext>
            </a:extLst>
          </p:cNvPr>
          <p:cNvGrpSpPr/>
          <p:nvPr/>
        </p:nvGrpSpPr>
        <p:grpSpPr>
          <a:xfrm>
            <a:off x="699911" y="837133"/>
            <a:ext cx="7273624" cy="659879"/>
            <a:chOff x="699911" y="1069861"/>
            <a:chExt cx="7273624" cy="350130"/>
          </a:xfrm>
        </p:grpSpPr>
        <p:sp>
          <p:nvSpPr>
            <p:cNvPr id="5" name="AutoShape 9">
              <a:extLst>
                <a:ext uri="{FF2B5EF4-FFF2-40B4-BE49-F238E27FC236}">
                  <a16:creationId xmlns:a16="http://schemas.microsoft.com/office/drawing/2014/main" id="{A10A2475-FBAF-2DA7-EE48-9E0556DB3824}"/>
                </a:ext>
              </a:extLst>
            </p:cNvPr>
            <p:cNvSpPr>
              <a:spLocks noChangeArrowheads="1"/>
            </p:cNvSpPr>
            <p:nvPr/>
          </p:nvSpPr>
          <p:spPr bwMode="auto">
            <a:xfrm>
              <a:off x="6395259" y="1069861"/>
              <a:ext cx="1578276" cy="350130"/>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200" dirty="0">
                  <a:solidFill>
                    <a:schemeClr val="bg1"/>
                  </a:solidFill>
                  <a:latin typeface="Roboto" panose="02000000000000000000" pitchFamily="2" charset="0"/>
                  <a:ea typeface="Roboto" panose="02000000000000000000" pitchFamily="2" charset="0"/>
                  <a:cs typeface="Roboto" panose="02000000000000000000" pitchFamily="2" charset="0"/>
                </a:rPr>
                <a:t>CEDAC Review</a:t>
              </a:r>
            </a:p>
          </p:txBody>
        </p:sp>
        <p:sp>
          <p:nvSpPr>
            <p:cNvPr id="4" name="AutoShape 9">
              <a:extLst>
                <a:ext uri="{FF2B5EF4-FFF2-40B4-BE49-F238E27FC236}">
                  <a16:creationId xmlns:a16="http://schemas.microsoft.com/office/drawing/2014/main" id="{663C2CC0-8818-6B25-BBA3-89708896610A}"/>
                </a:ext>
              </a:extLst>
            </p:cNvPr>
            <p:cNvSpPr>
              <a:spLocks noChangeArrowheads="1"/>
            </p:cNvSpPr>
            <p:nvPr/>
          </p:nvSpPr>
          <p:spPr bwMode="auto">
            <a:xfrm>
              <a:off x="4971710" y="1069861"/>
              <a:ext cx="1578276" cy="350130"/>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200" dirty="0">
                  <a:solidFill>
                    <a:schemeClr val="bg1"/>
                  </a:solidFill>
                  <a:latin typeface="Roboto" panose="02000000000000000000" pitchFamily="2" charset="0"/>
                  <a:ea typeface="Roboto" panose="02000000000000000000" pitchFamily="2" charset="0"/>
                  <a:cs typeface="Roboto" panose="02000000000000000000" pitchFamily="2" charset="0"/>
                </a:rPr>
                <a:t>CEDAC Solution</a:t>
              </a:r>
            </a:p>
          </p:txBody>
        </p:sp>
        <p:grpSp>
          <p:nvGrpSpPr>
            <p:cNvPr id="10" name="Group 9">
              <a:extLst>
                <a:ext uri="{FF2B5EF4-FFF2-40B4-BE49-F238E27FC236}">
                  <a16:creationId xmlns:a16="http://schemas.microsoft.com/office/drawing/2014/main" id="{DF07BA82-F1D2-01EE-36D7-0CE1E1021337}"/>
                </a:ext>
              </a:extLst>
            </p:cNvPr>
            <p:cNvGrpSpPr/>
            <p:nvPr/>
          </p:nvGrpSpPr>
          <p:grpSpPr>
            <a:xfrm>
              <a:off x="699911" y="1069861"/>
              <a:ext cx="4425950" cy="350130"/>
              <a:chOff x="5627530" y="641179"/>
              <a:chExt cx="6564470" cy="804977"/>
            </a:xfrm>
          </p:grpSpPr>
          <p:sp>
            <p:nvSpPr>
              <p:cNvPr id="7" name="AutoShape 9">
                <a:extLst>
                  <a:ext uri="{FF2B5EF4-FFF2-40B4-BE49-F238E27FC236}">
                    <a16:creationId xmlns:a16="http://schemas.microsoft.com/office/drawing/2014/main" id="{E658DE7F-EAE7-7BD9-8492-805CBFCFF7F5}"/>
                  </a:ext>
                </a:extLst>
              </p:cNvPr>
              <p:cNvSpPr>
                <a:spLocks noChangeArrowheads="1"/>
              </p:cNvSpPr>
              <p:nvPr/>
            </p:nvSpPr>
            <p:spPr bwMode="auto">
              <a:xfrm>
                <a:off x="9851136" y="641179"/>
                <a:ext cx="2340864" cy="804977"/>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200" dirty="0">
                    <a:solidFill>
                      <a:schemeClr val="bg1"/>
                    </a:solidFill>
                    <a:latin typeface="Roboto" panose="02000000000000000000" pitchFamily="2" charset="0"/>
                    <a:ea typeface="Roboto" panose="02000000000000000000" pitchFamily="2" charset="0"/>
                    <a:cs typeface="Roboto" panose="02000000000000000000" pitchFamily="2" charset="0"/>
                  </a:rPr>
                  <a:t>CEDAC Cause</a:t>
                </a:r>
              </a:p>
            </p:txBody>
          </p:sp>
          <p:sp>
            <p:nvSpPr>
              <p:cNvPr id="8" name="AutoShape 10">
                <a:extLst>
                  <a:ext uri="{FF2B5EF4-FFF2-40B4-BE49-F238E27FC236}">
                    <a16:creationId xmlns:a16="http://schemas.microsoft.com/office/drawing/2014/main" id="{3B341166-AC1F-8D30-9314-0FB3D948387F}"/>
                  </a:ext>
                </a:extLst>
              </p:cNvPr>
              <p:cNvSpPr>
                <a:spLocks noChangeArrowheads="1"/>
              </p:cNvSpPr>
              <p:nvPr/>
            </p:nvSpPr>
            <p:spPr bwMode="auto">
              <a:xfrm>
                <a:off x="7737856" y="641180"/>
                <a:ext cx="2342768" cy="804976"/>
              </a:xfrm>
              <a:prstGeom prst="homePlate">
                <a:avLst>
                  <a:gd name="adj" fmla="val 29912"/>
                </a:avLst>
              </a:prstGeom>
              <a:solidFill>
                <a:srgbClr val="FFB627"/>
              </a:solidFill>
              <a:ln w="12700" cap="sq">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r>
                  <a:rPr lang="en-US" altLang="en-US" sz="1200" dirty="0">
                    <a:latin typeface="Roboto" panose="02000000000000000000" pitchFamily="2" charset="0"/>
                    <a:ea typeface="Roboto" panose="02000000000000000000" pitchFamily="2" charset="0"/>
                  </a:rPr>
                  <a:t>CEDAC Effect</a:t>
                </a:r>
              </a:p>
            </p:txBody>
          </p:sp>
          <p:sp>
            <p:nvSpPr>
              <p:cNvPr id="9" name="AutoShape 11">
                <a:extLst>
                  <a:ext uri="{FF2B5EF4-FFF2-40B4-BE49-F238E27FC236}">
                    <a16:creationId xmlns:a16="http://schemas.microsoft.com/office/drawing/2014/main" id="{2AB16F46-B5FA-96F3-91C2-07B2F2F1CC6C}"/>
                  </a:ext>
                </a:extLst>
              </p:cNvPr>
              <p:cNvSpPr>
                <a:spLocks noChangeArrowheads="1"/>
              </p:cNvSpPr>
              <p:nvPr/>
            </p:nvSpPr>
            <p:spPr bwMode="auto">
              <a:xfrm>
                <a:off x="5627530" y="641179"/>
                <a:ext cx="2340864" cy="804977"/>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r>
                  <a:rPr lang="en-US" altLang="en-US" sz="1200" dirty="0">
                    <a:solidFill>
                      <a:schemeClr val="bg1"/>
                    </a:solidFill>
                    <a:latin typeface="Roboto" panose="02000000000000000000" pitchFamily="2" charset="0"/>
                    <a:ea typeface="Roboto" panose="02000000000000000000" pitchFamily="2" charset="0"/>
                  </a:rPr>
                  <a:t>CEDAC Overview</a:t>
                </a:r>
              </a:p>
            </p:txBody>
          </p:sp>
        </p:grpSp>
      </p:grpSp>
      <p:cxnSp>
        <p:nvCxnSpPr>
          <p:cNvPr id="12" name="Straight Connector 11">
            <a:extLst>
              <a:ext uri="{FF2B5EF4-FFF2-40B4-BE49-F238E27FC236}">
                <a16:creationId xmlns:a16="http://schemas.microsoft.com/office/drawing/2014/main" id="{A4FB0DFD-2D15-952D-9825-996B08251FD4}"/>
              </a:ext>
            </a:extLst>
          </p:cNvPr>
          <p:cNvCxnSpPr/>
          <p:nvPr/>
        </p:nvCxnSpPr>
        <p:spPr>
          <a:xfrm>
            <a:off x="699911" y="2386919"/>
            <a:ext cx="3882975" cy="0"/>
          </a:xfrm>
          <a:prstGeom prst="line">
            <a:avLst/>
          </a:prstGeom>
          <a:ln w="254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416326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lstStyle/>
          <a:p>
            <a:r>
              <a:rPr lang="en-US" dirty="0"/>
              <a:t>Steps of the CEDAC Process</a:t>
            </a:r>
          </a:p>
        </p:txBody>
      </p:sp>
      <p:sp>
        <p:nvSpPr>
          <p:cNvPr id="3" name="Content Placeholder 2">
            <a:extLst>
              <a:ext uri="{FF2B5EF4-FFF2-40B4-BE49-F238E27FC236}">
                <a16:creationId xmlns:a16="http://schemas.microsoft.com/office/drawing/2014/main" id="{2AA7A201-AD05-6520-E140-CCF11E59E700}"/>
              </a:ext>
            </a:extLst>
          </p:cNvPr>
          <p:cNvSpPr>
            <a:spLocks noGrp="1"/>
          </p:cNvSpPr>
          <p:nvPr>
            <p:ph idx="1"/>
          </p:nvPr>
        </p:nvSpPr>
        <p:spPr>
          <a:xfrm>
            <a:off x="3200400" y="1825625"/>
            <a:ext cx="8153400" cy="4351338"/>
          </a:xfrm>
        </p:spPr>
        <p:txBody>
          <a:bodyPr>
            <a:normAutofit fontScale="92500" lnSpcReduction="20000"/>
          </a:bodyPr>
          <a:lstStyle/>
          <a:p>
            <a:pPr marL="514350" indent="-514350">
              <a:buFont typeface="+mj-lt"/>
              <a:buAutoNum type="arabicPeriod"/>
            </a:pPr>
            <a:r>
              <a:rPr lang="en-US" dirty="0"/>
              <a:t>Define problem</a:t>
            </a:r>
          </a:p>
          <a:p>
            <a:pPr marL="514350" indent="-514350">
              <a:buFont typeface="+mj-lt"/>
              <a:buAutoNum type="arabicPeriod"/>
            </a:pPr>
            <a:r>
              <a:rPr lang="en-US" dirty="0"/>
              <a:t>Establish and validate metrics</a:t>
            </a:r>
          </a:p>
          <a:p>
            <a:pPr marL="514350" indent="-514350">
              <a:buFont typeface="+mj-lt"/>
              <a:buAutoNum type="arabicPeriod"/>
            </a:pPr>
            <a:r>
              <a:rPr lang="en-US" dirty="0"/>
              <a:t>Determine Objective Statement </a:t>
            </a:r>
          </a:p>
          <a:p>
            <a:pPr marL="514350" indent="-514350">
              <a:buFont typeface="+mj-lt"/>
              <a:buAutoNum type="arabicPeriod"/>
            </a:pPr>
            <a:r>
              <a:rPr lang="en-US" dirty="0"/>
              <a:t>Create CEDAC diagram (Flowchart, Fishbone, etc.)</a:t>
            </a:r>
          </a:p>
          <a:p>
            <a:pPr marL="514350" indent="-514350">
              <a:buFont typeface="+mj-lt"/>
              <a:buAutoNum type="arabicPeriod"/>
            </a:pPr>
            <a:r>
              <a:rPr lang="en-US" dirty="0"/>
              <a:t>Brainstorm and create FACT Cards (in yellow) and post on diagram</a:t>
            </a:r>
          </a:p>
          <a:p>
            <a:pPr marL="514350" indent="-514350">
              <a:buFont typeface="+mj-lt"/>
              <a:buAutoNum type="arabicPeriod"/>
            </a:pPr>
            <a:r>
              <a:rPr lang="en-US" dirty="0"/>
              <a:t>Brainstorm and create IMPROVEMENT Cards (in blue) and post on diagram</a:t>
            </a:r>
          </a:p>
          <a:p>
            <a:pPr marL="514350" indent="-514350">
              <a:buFont typeface="+mj-lt"/>
              <a:buAutoNum type="arabicPeriod"/>
            </a:pPr>
            <a:r>
              <a:rPr lang="en-US" dirty="0"/>
              <a:t>Take action on the IMPROVEMENT cards</a:t>
            </a:r>
          </a:p>
          <a:p>
            <a:pPr marL="514350" indent="-514350">
              <a:buFont typeface="+mj-lt"/>
              <a:buAutoNum type="arabicPeriod"/>
            </a:pPr>
            <a:r>
              <a:rPr lang="en-US" dirty="0"/>
              <a:t>Institutionalize improvements (countermeasures) that have proven to solve the problem</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40</a:t>
            </a:fld>
            <a:endParaRPr lang="en-US"/>
          </a:p>
        </p:txBody>
      </p:sp>
      <p:grpSp>
        <p:nvGrpSpPr>
          <p:cNvPr id="14" name="Group 13">
            <a:extLst>
              <a:ext uri="{FF2B5EF4-FFF2-40B4-BE49-F238E27FC236}">
                <a16:creationId xmlns:a16="http://schemas.microsoft.com/office/drawing/2014/main" id="{D41303C2-E018-19D2-0EB5-6DA73CD24807}"/>
              </a:ext>
            </a:extLst>
          </p:cNvPr>
          <p:cNvGrpSpPr/>
          <p:nvPr/>
        </p:nvGrpSpPr>
        <p:grpSpPr>
          <a:xfrm>
            <a:off x="838200" y="297639"/>
            <a:ext cx="4110990" cy="307138"/>
            <a:chOff x="838200" y="297639"/>
            <a:chExt cx="4110990" cy="307138"/>
          </a:xfrm>
        </p:grpSpPr>
        <p:grpSp>
          <p:nvGrpSpPr>
            <p:cNvPr id="15" name="Group 14">
              <a:extLst>
                <a:ext uri="{FF2B5EF4-FFF2-40B4-BE49-F238E27FC236}">
                  <a16:creationId xmlns:a16="http://schemas.microsoft.com/office/drawing/2014/main" id="{E5786EBA-3CE5-0613-28ED-FAC08B873002}"/>
                </a:ext>
              </a:extLst>
            </p:cNvPr>
            <p:cNvGrpSpPr/>
            <p:nvPr/>
          </p:nvGrpSpPr>
          <p:grpSpPr>
            <a:xfrm>
              <a:off x="838200" y="297639"/>
              <a:ext cx="1687517" cy="290657"/>
              <a:chOff x="838200" y="297639"/>
              <a:chExt cx="1687517" cy="290657"/>
            </a:xfrm>
          </p:grpSpPr>
          <p:sp>
            <p:nvSpPr>
              <p:cNvPr id="17" name="AutoShape 9">
                <a:extLst>
                  <a:ext uri="{FF2B5EF4-FFF2-40B4-BE49-F238E27FC236}">
                    <a16:creationId xmlns:a16="http://schemas.microsoft.com/office/drawing/2014/main" id="{B174F6F9-D206-07A7-A64A-B68DDBDC1860}"/>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8" name="AutoShape 9">
                <a:extLst>
                  <a:ext uri="{FF2B5EF4-FFF2-40B4-BE49-F238E27FC236}">
                    <a16:creationId xmlns:a16="http://schemas.microsoft.com/office/drawing/2014/main" id="{E8BB91E2-C1AC-FCCB-16DF-8C2FF5B3FF85}"/>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19" name="Group 18">
                <a:extLst>
                  <a:ext uri="{FF2B5EF4-FFF2-40B4-BE49-F238E27FC236}">
                    <a16:creationId xmlns:a16="http://schemas.microsoft.com/office/drawing/2014/main" id="{E2AC478D-7F21-38EF-5560-D40E7C498246}"/>
                  </a:ext>
                </a:extLst>
              </p:cNvPr>
              <p:cNvGrpSpPr/>
              <p:nvPr/>
            </p:nvGrpSpPr>
            <p:grpSpPr>
              <a:xfrm>
                <a:off x="838200" y="297639"/>
                <a:ext cx="1060167" cy="290657"/>
                <a:chOff x="826426" y="4041857"/>
                <a:chExt cx="1060167" cy="290657"/>
              </a:xfrm>
            </p:grpSpPr>
            <p:sp>
              <p:nvSpPr>
                <p:cNvPr id="20" name="AutoShape 9">
                  <a:extLst>
                    <a:ext uri="{FF2B5EF4-FFF2-40B4-BE49-F238E27FC236}">
                      <a16:creationId xmlns:a16="http://schemas.microsoft.com/office/drawing/2014/main" id="{12AB7CB1-4480-4FEE-CE6F-B4F2FA2C986A}"/>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21" name="AutoShape 11">
                  <a:extLst>
                    <a:ext uri="{FF2B5EF4-FFF2-40B4-BE49-F238E27FC236}">
                      <a16:creationId xmlns:a16="http://schemas.microsoft.com/office/drawing/2014/main" id="{AA5419CA-4052-22B2-630C-B0633134EA3A}"/>
                    </a:ext>
                  </a:extLst>
                </p:cNvPr>
                <p:cNvSpPr>
                  <a:spLocks noChangeArrowheads="1"/>
                </p:cNvSpPr>
                <p:nvPr/>
              </p:nvSpPr>
              <p:spPr bwMode="auto">
                <a:xfrm>
                  <a:off x="1140101" y="4041858"/>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2" name="AutoShape 10">
                  <a:extLst>
                    <a:ext uri="{FF2B5EF4-FFF2-40B4-BE49-F238E27FC236}">
                      <a16:creationId xmlns:a16="http://schemas.microsoft.com/office/drawing/2014/main" id="{CCE40F93-E620-B6AC-E23C-FC6C2C06EBAF}"/>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16" name="TextBox 15">
              <a:extLst>
                <a:ext uri="{FF2B5EF4-FFF2-40B4-BE49-F238E27FC236}">
                  <a16:creationId xmlns:a16="http://schemas.microsoft.com/office/drawing/2014/main" id="{9A4733ED-8095-60E0-242E-EA2095CF4379}"/>
                </a:ext>
              </a:extLst>
            </p:cNvPr>
            <p:cNvSpPr txBox="1"/>
            <p:nvPr/>
          </p:nvSpPr>
          <p:spPr>
            <a:xfrm>
              <a:off x="2525717" y="313415"/>
              <a:ext cx="242347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CEDAC Problem Effect</a:t>
              </a:r>
            </a:p>
          </p:txBody>
        </p:sp>
      </p:grpSp>
      <p:sp>
        <p:nvSpPr>
          <p:cNvPr id="4" name="AutoShape 4">
            <a:extLst>
              <a:ext uri="{FF2B5EF4-FFF2-40B4-BE49-F238E27FC236}">
                <a16:creationId xmlns:a16="http://schemas.microsoft.com/office/drawing/2014/main" id="{2C717994-A0D3-16DA-F97C-85BEFFB148BC}"/>
              </a:ext>
            </a:extLst>
          </p:cNvPr>
          <p:cNvSpPr>
            <a:spLocks/>
          </p:cNvSpPr>
          <p:nvPr/>
        </p:nvSpPr>
        <p:spPr bwMode="auto">
          <a:xfrm flipH="1">
            <a:off x="2898773" y="1823551"/>
            <a:ext cx="301626" cy="1111921"/>
          </a:xfrm>
          <a:prstGeom prst="rightBrace">
            <a:avLst>
              <a:gd name="adj1" fmla="val 34561"/>
              <a:gd name="adj2" fmla="val 50000"/>
            </a:avLst>
          </a:prstGeom>
          <a:noFill/>
          <a:ln w="28575" cap="sq">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5000"/>
              </a:lnSpc>
              <a:buFont typeface="Wingdings" panose="05000000000000000000" pitchFamily="2" charset="2"/>
              <a:buNone/>
            </a:pPr>
            <a:endParaRPr lang="en-US" altLang="en-US" sz="1600"/>
          </a:p>
        </p:txBody>
      </p:sp>
      <p:sp>
        <p:nvSpPr>
          <p:cNvPr id="6" name="Text Box 5">
            <a:extLst>
              <a:ext uri="{FF2B5EF4-FFF2-40B4-BE49-F238E27FC236}">
                <a16:creationId xmlns:a16="http://schemas.microsoft.com/office/drawing/2014/main" id="{BB3ABBE3-744D-E1E3-8C89-8C1459A43648}"/>
              </a:ext>
            </a:extLst>
          </p:cNvPr>
          <p:cNvSpPr txBox="1">
            <a:spLocks noChangeArrowheads="1"/>
          </p:cNvSpPr>
          <p:nvPr/>
        </p:nvSpPr>
        <p:spPr bwMode="auto">
          <a:xfrm>
            <a:off x="1015999" y="2082705"/>
            <a:ext cx="1517655" cy="3139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wrap="square">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80000"/>
              </a:lnSpc>
              <a:spcBef>
                <a:spcPct val="20000"/>
              </a:spcBef>
              <a:spcAft>
                <a:spcPct val="0"/>
              </a:spcAft>
              <a:buClrTx/>
              <a:buSzTx/>
              <a:buFontTx/>
              <a:buNone/>
            </a:pPr>
            <a:r>
              <a:rPr lang="en-US" altLang="en-US" sz="1800" dirty="0">
                <a:latin typeface="Roboto" panose="02000000000000000000" pitchFamily="2" charset="0"/>
                <a:ea typeface="Roboto" panose="02000000000000000000" pitchFamily="2" charset="0"/>
              </a:rPr>
              <a:t>The </a:t>
            </a:r>
            <a:r>
              <a:rPr lang="ja-JP" altLang="en-US" sz="1800" dirty="0">
                <a:latin typeface="Roboto" panose="02000000000000000000" pitchFamily="2" charset="0"/>
              </a:rPr>
              <a:t>“</a:t>
            </a:r>
            <a:r>
              <a:rPr lang="en-US" altLang="ja-JP" sz="1800" dirty="0">
                <a:latin typeface="Roboto" panose="02000000000000000000" pitchFamily="2" charset="0"/>
                <a:ea typeface="Roboto" panose="02000000000000000000" pitchFamily="2" charset="0"/>
              </a:rPr>
              <a:t>Effect</a:t>
            </a:r>
            <a:r>
              <a:rPr lang="ja-JP" altLang="en-US" sz="1800" dirty="0">
                <a:latin typeface="Roboto" panose="02000000000000000000" pitchFamily="2" charset="0"/>
              </a:rPr>
              <a:t>”</a:t>
            </a:r>
            <a:endParaRPr lang="en-US" altLang="en-US" sz="1800" dirty="0">
              <a:latin typeface="Roboto" panose="02000000000000000000" pitchFamily="2" charset="0"/>
              <a:ea typeface="Roboto" panose="02000000000000000000" pitchFamily="2" charset="0"/>
            </a:endParaRPr>
          </a:p>
        </p:txBody>
      </p:sp>
      <p:sp>
        <p:nvSpPr>
          <p:cNvPr id="7" name="Text Box 6">
            <a:extLst>
              <a:ext uri="{FF2B5EF4-FFF2-40B4-BE49-F238E27FC236}">
                <a16:creationId xmlns:a16="http://schemas.microsoft.com/office/drawing/2014/main" id="{A328E56B-D593-3A7D-5959-8ABD25C46B81}"/>
              </a:ext>
            </a:extLst>
          </p:cNvPr>
          <p:cNvSpPr txBox="1">
            <a:spLocks noChangeArrowheads="1"/>
          </p:cNvSpPr>
          <p:nvPr/>
        </p:nvSpPr>
        <p:spPr bwMode="auto">
          <a:xfrm>
            <a:off x="1054608" y="3161234"/>
            <a:ext cx="1568455" cy="3139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wrap="square">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80000"/>
              </a:lnSpc>
              <a:spcBef>
                <a:spcPct val="20000"/>
              </a:spcBef>
              <a:spcAft>
                <a:spcPct val="0"/>
              </a:spcAft>
              <a:buClrTx/>
              <a:buSzTx/>
              <a:buFontTx/>
              <a:buNone/>
            </a:pPr>
            <a:r>
              <a:rPr lang="en-US" altLang="en-US" sz="1800" dirty="0">
                <a:latin typeface="Roboto" panose="02000000000000000000" pitchFamily="2" charset="0"/>
                <a:ea typeface="Roboto" panose="02000000000000000000" pitchFamily="2" charset="0"/>
              </a:rPr>
              <a:t>The </a:t>
            </a:r>
            <a:r>
              <a:rPr lang="ja-JP" altLang="en-US" sz="1800" dirty="0">
                <a:latin typeface="Roboto" panose="02000000000000000000" pitchFamily="2" charset="0"/>
              </a:rPr>
              <a:t>“</a:t>
            </a:r>
            <a:r>
              <a:rPr lang="en-US" altLang="ja-JP" sz="1800" dirty="0">
                <a:latin typeface="Roboto" panose="02000000000000000000" pitchFamily="2" charset="0"/>
                <a:ea typeface="Roboto" panose="02000000000000000000" pitchFamily="2" charset="0"/>
              </a:rPr>
              <a:t>Cause</a:t>
            </a:r>
            <a:r>
              <a:rPr lang="ja-JP" altLang="en-US" sz="1800" dirty="0">
                <a:latin typeface="Roboto" panose="02000000000000000000" pitchFamily="2" charset="0"/>
              </a:rPr>
              <a:t>”</a:t>
            </a:r>
            <a:endParaRPr lang="en-US" altLang="en-US" sz="1800" dirty="0">
              <a:latin typeface="Roboto" panose="02000000000000000000" pitchFamily="2" charset="0"/>
              <a:ea typeface="Roboto" panose="02000000000000000000" pitchFamily="2" charset="0"/>
            </a:endParaRPr>
          </a:p>
        </p:txBody>
      </p:sp>
      <p:sp>
        <p:nvSpPr>
          <p:cNvPr id="8" name="Text Box 7">
            <a:extLst>
              <a:ext uri="{FF2B5EF4-FFF2-40B4-BE49-F238E27FC236}">
                <a16:creationId xmlns:a16="http://schemas.microsoft.com/office/drawing/2014/main" id="{C1C25B89-DA4A-74B2-B4EA-E52AE658D2EB}"/>
              </a:ext>
            </a:extLst>
          </p:cNvPr>
          <p:cNvSpPr txBox="1">
            <a:spLocks noChangeArrowheads="1"/>
          </p:cNvSpPr>
          <p:nvPr/>
        </p:nvSpPr>
        <p:spPr bwMode="auto">
          <a:xfrm>
            <a:off x="1015999" y="4655928"/>
            <a:ext cx="1820868" cy="5293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wrap="square">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80000"/>
              </a:lnSpc>
              <a:spcBef>
                <a:spcPct val="20000"/>
              </a:spcBef>
              <a:spcAft>
                <a:spcPct val="0"/>
              </a:spcAft>
              <a:buClrTx/>
              <a:buSzTx/>
              <a:buFontTx/>
              <a:buNone/>
            </a:pPr>
            <a:r>
              <a:rPr lang="en-US" altLang="en-US" sz="1800" dirty="0">
                <a:latin typeface="Roboto" panose="02000000000000000000" pitchFamily="2" charset="0"/>
                <a:ea typeface="Roboto" panose="02000000000000000000" pitchFamily="2" charset="0"/>
              </a:rPr>
              <a:t>The </a:t>
            </a:r>
            <a:r>
              <a:rPr lang="ja-JP" altLang="en-US" sz="1800" dirty="0">
                <a:latin typeface="Roboto" panose="02000000000000000000" pitchFamily="2" charset="0"/>
              </a:rPr>
              <a:t>“</a:t>
            </a:r>
            <a:r>
              <a:rPr lang="en-US" altLang="ja-JP" sz="1800" dirty="0">
                <a:latin typeface="Roboto" panose="02000000000000000000" pitchFamily="2" charset="0"/>
                <a:ea typeface="Roboto" panose="02000000000000000000" pitchFamily="2" charset="0"/>
              </a:rPr>
              <a:t>Solution</a:t>
            </a:r>
            <a:r>
              <a:rPr lang="ja-JP" altLang="en-US" sz="1800" dirty="0">
                <a:latin typeface="Roboto" panose="02000000000000000000" pitchFamily="2" charset="0"/>
              </a:rPr>
              <a:t>”</a:t>
            </a:r>
            <a:endParaRPr lang="en-US" altLang="ja-JP" sz="1800" dirty="0">
              <a:latin typeface="Roboto" panose="02000000000000000000" pitchFamily="2" charset="0"/>
              <a:ea typeface="Roboto" panose="02000000000000000000" pitchFamily="2" charset="0"/>
            </a:endParaRPr>
          </a:p>
          <a:p>
            <a:pPr>
              <a:lnSpc>
                <a:spcPct val="80000"/>
              </a:lnSpc>
              <a:spcBef>
                <a:spcPct val="20000"/>
              </a:spcBef>
              <a:spcAft>
                <a:spcPct val="0"/>
              </a:spcAft>
              <a:buClrTx/>
              <a:buSzTx/>
              <a:buFontTx/>
              <a:buNone/>
            </a:pPr>
            <a:r>
              <a:rPr lang="en-US" altLang="en-US" sz="1400" dirty="0">
                <a:latin typeface="Roboto" panose="02000000000000000000" pitchFamily="2" charset="0"/>
                <a:ea typeface="Roboto" panose="02000000000000000000" pitchFamily="2" charset="0"/>
              </a:rPr>
              <a:t>(countermeasures)</a:t>
            </a:r>
          </a:p>
        </p:txBody>
      </p:sp>
      <p:sp>
        <p:nvSpPr>
          <p:cNvPr id="9" name="AutoShape 8">
            <a:extLst>
              <a:ext uri="{FF2B5EF4-FFF2-40B4-BE49-F238E27FC236}">
                <a16:creationId xmlns:a16="http://schemas.microsoft.com/office/drawing/2014/main" id="{522701E4-0150-E859-6D9E-FED001303A36}"/>
              </a:ext>
            </a:extLst>
          </p:cNvPr>
          <p:cNvSpPr>
            <a:spLocks/>
          </p:cNvSpPr>
          <p:nvPr/>
        </p:nvSpPr>
        <p:spPr bwMode="auto">
          <a:xfrm flipH="1">
            <a:off x="2898773" y="3045104"/>
            <a:ext cx="301626" cy="685422"/>
          </a:xfrm>
          <a:prstGeom prst="rightBrace">
            <a:avLst>
              <a:gd name="adj1" fmla="val 19123"/>
              <a:gd name="adj2" fmla="val 50000"/>
            </a:avLst>
          </a:prstGeom>
          <a:noFill/>
          <a:ln w="28575" cap="sq">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5000"/>
              </a:lnSpc>
              <a:buFont typeface="Wingdings" panose="05000000000000000000" pitchFamily="2" charset="2"/>
              <a:buNone/>
            </a:pPr>
            <a:endParaRPr lang="en-US" altLang="en-US" sz="1600"/>
          </a:p>
        </p:txBody>
      </p:sp>
      <p:sp>
        <p:nvSpPr>
          <p:cNvPr id="10" name="AutoShape 9">
            <a:extLst>
              <a:ext uri="{FF2B5EF4-FFF2-40B4-BE49-F238E27FC236}">
                <a16:creationId xmlns:a16="http://schemas.microsoft.com/office/drawing/2014/main" id="{35E8A71A-28DB-67DD-4CED-54BA17786406}"/>
              </a:ext>
            </a:extLst>
          </p:cNvPr>
          <p:cNvSpPr>
            <a:spLocks/>
          </p:cNvSpPr>
          <p:nvPr/>
        </p:nvSpPr>
        <p:spPr bwMode="auto">
          <a:xfrm flipH="1">
            <a:off x="2898773" y="4160521"/>
            <a:ext cx="301626" cy="1520190"/>
          </a:xfrm>
          <a:prstGeom prst="rightBrace">
            <a:avLst>
              <a:gd name="adj1" fmla="val 42412"/>
              <a:gd name="adj2" fmla="val 50000"/>
            </a:avLst>
          </a:prstGeom>
          <a:noFill/>
          <a:ln w="28575" cap="sq">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5000"/>
              </a:lnSpc>
              <a:buFont typeface="Wingdings" panose="05000000000000000000" pitchFamily="2" charset="2"/>
              <a:buNone/>
            </a:pPr>
            <a:endParaRPr lang="en-US" altLang="en-US" sz="1600"/>
          </a:p>
        </p:txBody>
      </p:sp>
      <p:sp>
        <p:nvSpPr>
          <p:cNvPr id="11" name="Rectangle 10">
            <a:extLst>
              <a:ext uri="{FF2B5EF4-FFF2-40B4-BE49-F238E27FC236}">
                <a16:creationId xmlns:a16="http://schemas.microsoft.com/office/drawing/2014/main" id="{B6A14166-925E-815D-420A-2FFA7F5E726F}"/>
              </a:ext>
            </a:extLst>
          </p:cNvPr>
          <p:cNvSpPr/>
          <p:nvPr/>
        </p:nvSpPr>
        <p:spPr>
          <a:xfrm>
            <a:off x="3200399" y="2548777"/>
            <a:ext cx="5212081" cy="438337"/>
          </a:xfrm>
          <a:prstGeom prst="rect">
            <a:avLst/>
          </a:prstGeom>
          <a:no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7583848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normAutofit/>
          </a:bodyPr>
          <a:lstStyle/>
          <a:p>
            <a:r>
              <a:rPr lang="en-US" sz="4000" dirty="0"/>
              <a:t>Define Objective</a:t>
            </a:r>
          </a:p>
        </p:txBody>
      </p:sp>
      <p:sp>
        <p:nvSpPr>
          <p:cNvPr id="3" name="Content Placeholder 2">
            <a:extLst>
              <a:ext uri="{FF2B5EF4-FFF2-40B4-BE49-F238E27FC236}">
                <a16:creationId xmlns:a16="http://schemas.microsoft.com/office/drawing/2014/main" id="{2AA7A201-AD05-6520-E140-CCF11E59E700}"/>
              </a:ext>
            </a:extLst>
          </p:cNvPr>
          <p:cNvSpPr>
            <a:spLocks noGrp="1"/>
          </p:cNvSpPr>
          <p:nvPr>
            <p:ph idx="1"/>
          </p:nvPr>
        </p:nvSpPr>
        <p:spPr/>
        <p:txBody>
          <a:bodyPr>
            <a:normAutofit fontScale="92500" lnSpcReduction="10000"/>
          </a:bodyPr>
          <a:lstStyle/>
          <a:p>
            <a:r>
              <a:rPr lang="en-US" sz="3200" dirty="0"/>
              <a:t>“Objective” is the end result you expect from your problem solving activities and actions – the target for problem resolution</a:t>
            </a:r>
          </a:p>
          <a:p>
            <a:r>
              <a:rPr lang="en-US" sz="3200" dirty="0"/>
              <a:t>The objective should be:</a:t>
            </a:r>
          </a:p>
          <a:p>
            <a:pPr lvl="1"/>
            <a:r>
              <a:rPr lang="en-US" sz="2800" dirty="0"/>
              <a:t>Detailed and specific</a:t>
            </a:r>
          </a:p>
          <a:p>
            <a:pPr lvl="1"/>
            <a:r>
              <a:rPr lang="en-US" sz="2800" dirty="0"/>
              <a:t>Action-oriented</a:t>
            </a:r>
          </a:p>
          <a:p>
            <a:pPr lvl="1"/>
            <a:r>
              <a:rPr lang="en-US" sz="2800" dirty="0"/>
              <a:t>Measurable</a:t>
            </a:r>
          </a:p>
          <a:p>
            <a:pPr lvl="1"/>
            <a:r>
              <a:rPr lang="en-US" sz="2800" dirty="0"/>
              <a:t>Aggressive and realistic</a:t>
            </a:r>
          </a:p>
          <a:p>
            <a:pPr lvl="1"/>
            <a:r>
              <a:rPr lang="en-US" sz="2800" dirty="0"/>
              <a:t>Stated within specific time frame</a:t>
            </a:r>
          </a:p>
          <a:p>
            <a:pPr lvl="1"/>
            <a:r>
              <a:rPr lang="en-US" sz="2800" dirty="0"/>
              <a:t>Written</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41</a:t>
            </a:fld>
            <a:endParaRPr lang="en-US"/>
          </a:p>
        </p:txBody>
      </p:sp>
      <p:grpSp>
        <p:nvGrpSpPr>
          <p:cNvPr id="4" name="Group 3">
            <a:extLst>
              <a:ext uri="{FF2B5EF4-FFF2-40B4-BE49-F238E27FC236}">
                <a16:creationId xmlns:a16="http://schemas.microsoft.com/office/drawing/2014/main" id="{50ECF6E5-D79A-571C-970B-C8B41BC1B4B2}"/>
              </a:ext>
            </a:extLst>
          </p:cNvPr>
          <p:cNvGrpSpPr/>
          <p:nvPr/>
        </p:nvGrpSpPr>
        <p:grpSpPr>
          <a:xfrm>
            <a:off x="838200" y="297639"/>
            <a:ext cx="4110990" cy="307138"/>
            <a:chOff x="838200" y="297639"/>
            <a:chExt cx="4110990" cy="307138"/>
          </a:xfrm>
        </p:grpSpPr>
        <p:grpSp>
          <p:nvGrpSpPr>
            <p:cNvPr id="6" name="Group 5">
              <a:extLst>
                <a:ext uri="{FF2B5EF4-FFF2-40B4-BE49-F238E27FC236}">
                  <a16:creationId xmlns:a16="http://schemas.microsoft.com/office/drawing/2014/main" id="{C69A61A5-5AC5-A01E-F01A-24089C622710}"/>
                </a:ext>
              </a:extLst>
            </p:cNvPr>
            <p:cNvGrpSpPr/>
            <p:nvPr/>
          </p:nvGrpSpPr>
          <p:grpSpPr>
            <a:xfrm>
              <a:off x="838200" y="297639"/>
              <a:ext cx="1687517" cy="290657"/>
              <a:chOff x="838200" y="297639"/>
              <a:chExt cx="1687517" cy="290657"/>
            </a:xfrm>
          </p:grpSpPr>
          <p:sp>
            <p:nvSpPr>
              <p:cNvPr id="8" name="AutoShape 9">
                <a:extLst>
                  <a:ext uri="{FF2B5EF4-FFF2-40B4-BE49-F238E27FC236}">
                    <a16:creationId xmlns:a16="http://schemas.microsoft.com/office/drawing/2014/main" id="{FDCBE620-B70F-CEED-5A03-F2C18BB1926C}"/>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9" name="AutoShape 9">
                <a:extLst>
                  <a:ext uri="{FF2B5EF4-FFF2-40B4-BE49-F238E27FC236}">
                    <a16:creationId xmlns:a16="http://schemas.microsoft.com/office/drawing/2014/main" id="{F81EEB60-DF32-4EF2-B353-D046A8F70472}"/>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10" name="Group 9">
                <a:extLst>
                  <a:ext uri="{FF2B5EF4-FFF2-40B4-BE49-F238E27FC236}">
                    <a16:creationId xmlns:a16="http://schemas.microsoft.com/office/drawing/2014/main" id="{8BB369BF-419C-D35A-CC81-72A92DBFD01D}"/>
                  </a:ext>
                </a:extLst>
              </p:cNvPr>
              <p:cNvGrpSpPr/>
              <p:nvPr/>
            </p:nvGrpSpPr>
            <p:grpSpPr>
              <a:xfrm>
                <a:off x="838200" y="297639"/>
                <a:ext cx="1060167" cy="290657"/>
                <a:chOff x="826426" y="4041857"/>
                <a:chExt cx="1060167" cy="290657"/>
              </a:xfrm>
            </p:grpSpPr>
            <p:sp>
              <p:nvSpPr>
                <p:cNvPr id="11" name="AutoShape 9">
                  <a:extLst>
                    <a:ext uri="{FF2B5EF4-FFF2-40B4-BE49-F238E27FC236}">
                      <a16:creationId xmlns:a16="http://schemas.microsoft.com/office/drawing/2014/main" id="{9593D7A2-6E79-DA0F-2AD2-377C7B9D9486}"/>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2" name="AutoShape 11">
                  <a:extLst>
                    <a:ext uri="{FF2B5EF4-FFF2-40B4-BE49-F238E27FC236}">
                      <a16:creationId xmlns:a16="http://schemas.microsoft.com/office/drawing/2014/main" id="{B176881C-9231-D05E-D002-AE318302662B}"/>
                    </a:ext>
                  </a:extLst>
                </p:cNvPr>
                <p:cNvSpPr>
                  <a:spLocks noChangeArrowheads="1"/>
                </p:cNvSpPr>
                <p:nvPr/>
              </p:nvSpPr>
              <p:spPr bwMode="auto">
                <a:xfrm>
                  <a:off x="1140101" y="4041858"/>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3" name="AutoShape 10">
                  <a:extLst>
                    <a:ext uri="{FF2B5EF4-FFF2-40B4-BE49-F238E27FC236}">
                      <a16:creationId xmlns:a16="http://schemas.microsoft.com/office/drawing/2014/main" id="{D90B671F-A6E8-B252-AB93-AB3CCC07B318}"/>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7" name="TextBox 6">
              <a:extLst>
                <a:ext uri="{FF2B5EF4-FFF2-40B4-BE49-F238E27FC236}">
                  <a16:creationId xmlns:a16="http://schemas.microsoft.com/office/drawing/2014/main" id="{DA962D68-14CE-92FF-ACD8-8E6272A47280}"/>
                </a:ext>
              </a:extLst>
            </p:cNvPr>
            <p:cNvSpPr txBox="1"/>
            <p:nvPr/>
          </p:nvSpPr>
          <p:spPr>
            <a:xfrm>
              <a:off x="2525717" y="313415"/>
              <a:ext cx="242347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CEDAC Problem Effect</a:t>
              </a:r>
            </a:p>
          </p:txBody>
        </p:sp>
      </p:grpSp>
    </p:spTree>
    <p:extLst>
      <p:ext uri="{BB962C8B-B14F-4D97-AF65-F5344CB8AC3E}">
        <p14:creationId xmlns:p14="http://schemas.microsoft.com/office/powerpoint/2010/main" val="325470286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normAutofit/>
          </a:bodyPr>
          <a:lstStyle/>
          <a:p>
            <a:r>
              <a:rPr lang="en-US" sz="4000" dirty="0"/>
              <a:t>Explain Purpose of Setting the Objective</a:t>
            </a:r>
          </a:p>
        </p:txBody>
      </p:sp>
      <p:sp>
        <p:nvSpPr>
          <p:cNvPr id="3" name="Content Placeholder 2">
            <a:extLst>
              <a:ext uri="{FF2B5EF4-FFF2-40B4-BE49-F238E27FC236}">
                <a16:creationId xmlns:a16="http://schemas.microsoft.com/office/drawing/2014/main" id="{2AA7A201-AD05-6520-E140-CCF11E59E700}"/>
              </a:ext>
            </a:extLst>
          </p:cNvPr>
          <p:cNvSpPr>
            <a:spLocks noGrp="1"/>
          </p:cNvSpPr>
          <p:nvPr>
            <p:ph idx="1"/>
          </p:nvPr>
        </p:nvSpPr>
        <p:spPr/>
        <p:txBody>
          <a:bodyPr>
            <a:normAutofit/>
          </a:bodyPr>
          <a:lstStyle/>
          <a:p>
            <a:r>
              <a:rPr lang="en-US" sz="3200" dirty="0"/>
              <a:t>Defines current situation</a:t>
            </a:r>
          </a:p>
          <a:p>
            <a:r>
              <a:rPr lang="en-US" sz="3200" dirty="0"/>
              <a:t>Enables owner to gain clarity and focus</a:t>
            </a:r>
          </a:p>
          <a:p>
            <a:r>
              <a:rPr lang="en-US" sz="3200" dirty="0"/>
              <a:t>Communicates direction to team members</a:t>
            </a:r>
          </a:p>
          <a:p>
            <a:r>
              <a:rPr lang="en-US" sz="3200" dirty="0"/>
              <a:t>Establishes what “winning” looks like</a:t>
            </a:r>
          </a:p>
          <a:p>
            <a:r>
              <a:rPr lang="en-US" sz="3200" dirty="0"/>
              <a:t>Builds a success-oriented culture</a:t>
            </a:r>
          </a:p>
          <a:p>
            <a:pPr marL="0" indent="0">
              <a:buNone/>
            </a:pPr>
            <a:endParaRPr lang="en-US" sz="3200" dirty="0"/>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42</a:t>
            </a:fld>
            <a:endParaRPr lang="en-US"/>
          </a:p>
        </p:txBody>
      </p:sp>
      <p:grpSp>
        <p:nvGrpSpPr>
          <p:cNvPr id="4" name="Group 3">
            <a:extLst>
              <a:ext uri="{FF2B5EF4-FFF2-40B4-BE49-F238E27FC236}">
                <a16:creationId xmlns:a16="http://schemas.microsoft.com/office/drawing/2014/main" id="{50ECF6E5-D79A-571C-970B-C8B41BC1B4B2}"/>
              </a:ext>
            </a:extLst>
          </p:cNvPr>
          <p:cNvGrpSpPr/>
          <p:nvPr/>
        </p:nvGrpSpPr>
        <p:grpSpPr>
          <a:xfrm>
            <a:off x="838200" y="297639"/>
            <a:ext cx="4110990" cy="307138"/>
            <a:chOff x="838200" y="297639"/>
            <a:chExt cx="4110990" cy="307138"/>
          </a:xfrm>
        </p:grpSpPr>
        <p:grpSp>
          <p:nvGrpSpPr>
            <p:cNvPr id="6" name="Group 5">
              <a:extLst>
                <a:ext uri="{FF2B5EF4-FFF2-40B4-BE49-F238E27FC236}">
                  <a16:creationId xmlns:a16="http://schemas.microsoft.com/office/drawing/2014/main" id="{C69A61A5-5AC5-A01E-F01A-24089C622710}"/>
                </a:ext>
              </a:extLst>
            </p:cNvPr>
            <p:cNvGrpSpPr/>
            <p:nvPr/>
          </p:nvGrpSpPr>
          <p:grpSpPr>
            <a:xfrm>
              <a:off x="838200" y="297639"/>
              <a:ext cx="1687517" cy="290657"/>
              <a:chOff x="838200" y="297639"/>
              <a:chExt cx="1687517" cy="290657"/>
            </a:xfrm>
          </p:grpSpPr>
          <p:sp>
            <p:nvSpPr>
              <p:cNvPr id="8" name="AutoShape 9">
                <a:extLst>
                  <a:ext uri="{FF2B5EF4-FFF2-40B4-BE49-F238E27FC236}">
                    <a16:creationId xmlns:a16="http://schemas.microsoft.com/office/drawing/2014/main" id="{FDCBE620-B70F-CEED-5A03-F2C18BB1926C}"/>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9" name="AutoShape 9">
                <a:extLst>
                  <a:ext uri="{FF2B5EF4-FFF2-40B4-BE49-F238E27FC236}">
                    <a16:creationId xmlns:a16="http://schemas.microsoft.com/office/drawing/2014/main" id="{F81EEB60-DF32-4EF2-B353-D046A8F70472}"/>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10" name="Group 9">
                <a:extLst>
                  <a:ext uri="{FF2B5EF4-FFF2-40B4-BE49-F238E27FC236}">
                    <a16:creationId xmlns:a16="http://schemas.microsoft.com/office/drawing/2014/main" id="{8BB369BF-419C-D35A-CC81-72A92DBFD01D}"/>
                  </a:ext>
                </a:extLst>
              </p:cNvPr>
              <p:cNvGrpSpPr/>
              <p:nvPr/>
            </p:nvGrpSpPr>
            <p:grpSpPr>
              <a:xfrm>
                <a:off x="838200" y="297639"/>
                <a:ext cx="1060167" cy="290657"/>
                <a:chOff x="826426" y="4041857"/>
                <a:chExt cx="1060167" cy="290657"/>
              </a:xfrm>
            </p:grpSpPr>
            <p:sp>
              <p:nvSpPr>
                <p:cNvPr id="11" name="AutoShape 9">
                  <a:extLst>
                    <a:ext uri="{FF2B5EF4-FFF2-40B4-BE49-F238E27FC236}">
                      <a16:creationId xmlns:a16="http://schemas.microsoft.com/office/drawing/2014/main" id="{9593D7A2-6E79-DA0F-2AD2-377C7B9D9486}"/>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2" name="AutoShape 11">
                  <a:extLst>
                    <a:ext uri="{FF2B5EF4-FFF2-40B4-BE49-F238E27FC236}">
                      <a16:creationId xmlns:a16="http://schemas.microsoft.com/office/drawing/2014/main" id="{B176881C-9231-D05E-D002-AE318302662B}"/>
                    </a:ext>
                  </a:extLst>
                </p:cNvPr>
                <p:cNvSpPr>
                  <a:spLocks noChangeArrowheads="1"/>
                </p:cNvSpPr>
                <p:nvPr/>
              </p:nvSpPr>
              <p:spPr bwMode="auto">
                <a:xfrm>
                  <a:off x="1140101" y="4041858"/>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3" name="AutoShape 10">
                  <a:extLst>
                    <a:ext uri="{FF2B5EF4-FFF2-40B4-BE49-F238E27FC236}">
                      <a16:creationId xmlns:a16="http://schemas.microsoft.com/office/drawing/2014/main" id="{D90B671F-A6E8-B252-AB93-AB3CCC07B318}"/>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7" name="TextBox 6">
              <a:extLst>
                <a:ext uri="{FF2B5EF4-FFF2-40B4-BE49-F238E27FC236}">
                  <a16:creationId xmlns:a16="http://schemas.microsoft.com/office/drawing/2014/main" id="{DA962D68-14CE-92FF-ACD8-8E6272A47280}"/>
                </a:ext>
              </a:extLst>
            </p:cNvPr>
            <p:cNvSpPr txBox="1"/>
            <p:nvPr/>
          </p:nvSpPr>
          <p:spPr>
            <a:xfrm>
              <a:off x="2525717" y="313415"/>
              <a:ext cx="242347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CEDAC Problem Effect</a:t>
              </a:r>
            </a:p>
          </p:txBody>
        </p:sp>
      </p:grpSp>
    </p:spTree>
    <p:extLst>
      <p:ext uri="{BB962C8B-B14F-4D97-AF65-F5344CB8AC3E}">
        <p14:creationId xmlns:p14="http://schemas.microsoft.com/office/powerpoint/2010/main" val="88503156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normAutofit/>
          </a:bodyPr>
          <a:lstStyle/>
          <a:p>
            <a:r>
              <a:rPr lang="en-US" sz="4000" dirty="0"/>
              <a:t>Examples of Well-Defined Objectives</a:t>
            </a:r>
          </a:p>
        </p:txBody>
      </p:sp>
      <p:sp>
        <p:nvSpPr>
          <p:cNvPr id="3" name="Content Placeholder 2">
            <a:extLst>
              <a:ext uri="{FF2B5EF4-FFF2-40B4-BE49-F238E27FC236}">
                <a16:creationId xmlns:a16="http://schemas.microsoft.com/office/drawing/2014/main" id="{2AA7A201-AD05-6520-E140-CCF11E59E700}"/>
              </a:ext>
            </a:extLst>
          </p:cNvPr>
          <p:cNvSpPr>
            <a:spLocks noGrp="1"/>
          </p:cNvSpPr>
          <p:nvPr>
            <p:ph idx="1"/>
          </p:nvPr>
        </p:nvSpPr>
        <p:spPr/>
        <p:txBody>
          <a:bodyPr>
            <a:normAutofit/>
          </a:bodyPr>
          <a:lstStyle/>
          <a:p>
            <a:r>
              <a:rPr lang="en-US" sz="3200" dirty="0"/>
              <a:t>Improve first pass yield at first assembly operation from 75% to 95% by end of October</a:t>
            </a:r>
          </a:p>
          <a:p>
            <a:r>
              <a:rPr lang="en-US" sz="3200" dirty="0"/>
              <a:t>Reduce number of customer complaints by 50%, from 10/day to 5/day, within next month</a:t>
            </a:r>
          </a:p>
          <a:p>
            <a:r>
              <a:rPr lang="en-US" sz="3200" dirty="0"/>
              <a:t>Increase sales in the medical market by $100k per month, by the end of this year</a:t>
            </a:r>
          </a:p>
          <a:p>
            <a:r>
              <a:rPr lang="en-US" sz="3200" dirty="0"/>
              <a:t>Eliminate order entry errors, from 7/day to zero, by the close of this quarter</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43</a:t>
            </a:fld>
            <a:endParaRPr lang="en-US"/>
          </a:p>
        </p:txBody>
      </p:sp>
      <p:grpSp>
        <p:nvGrpSpPr>
          <p:cNvPr id="4" name="Group 3">
            <a:extLst>
              <a:ext uri="{FF2B5EF4-FFF2-40B4-BE49-F238E27FC236}">
                <a16:creationId xmlns:a16="http://schemas.microsoft.com/office/drawing/2014/main" id="{50ECF6E5-D79A-571C-970B-C8B41BC1B4B2}"/>
              </a:ext>
            </a:extLst>
          </p:cNvPr>
          <p:cNvGrpSpPr/>
          <p:nvPr/>
        </p:nvGrpSpPr>
        <p:grpSpPr>
          <a:xfrm>
            <a:off x="838200" y="297639"/>
            <a:ext cx="4110990" cy="307138"/>
            <a:chOff x="838200" y="297639"/>
            <a:chExt cx="4110990" cy="307138"/>
          </a:xfrm>
        </p:grpSpPr>
        <p:grpSp>
          <p:nvGrpSpPr>
            <p:cNvPr id="6" name="Group 5">
              <a:extLst>
                <a:ext uri="{FF2B5EF4-FFF2-40B4-BE49-F238E27FC236}">
                  <a16:creationId xmlns:a16="http://schemas.microsoft.com/office/drawing/2014/main" id="{C69A61A5-5AC5-A01E-F01A-24089C622710}"/>
                </a:ext>
              </a:extLst>
            </p:cNvPr>
            <p:cNvGrpSpPr/>
            <p:nvPr/>
          </p:nvGrpSpPr>
          <p:grpSpPr>
            <a:xfrm>
              <a:off x="838200" y="297639"/>
              <a:ext cx="1687517" cy="290657"/>
              <a:chOff x="838200" y="297639"/>
              <a:chExt cx="1687517" cy="290657"/>
            </a:xfrm>
          </p:grpSpPr>
          <p:sp>
            <p:nvSpPr>
              <p:cNvPr id="8" name="AutoShape 9">
                <a:extLst>
                  <a:ext uri="{FF2B5EF4-FFF2-40B4-BE49-F238E27FC236}">
                    <a16:creationId xmlns:a16="http://schemas.microsoft.com/office/drawing/2014/main" id="{FDCBE620-B70F-CEED-5A03-F2C18BB1926C}"/>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9" name="AutoShape 9">
                <a:extLst>
                  <a:ext uri="{FF2B5EF4-FFF2-40B4-BE49-F238E27FC236}">
                    <a16:creationId xmlns:a16="http://schemas.microsoft.com/office/drawing/2014/main" id="{F81EEB60-DF32-4EF2-B353-D046A8F70472}"/>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10" name="Group 9">
                <a:extLst>
                  <a:ext uri="{FF2B5EF4-FFF2-40B4-BE49-F238E27FC236}">
                    <a16:creationId xmlns:a16="http://schemas.microsoft.com/office/drawing/2014/main" id="{8BB369BF-419C-D35A-CC81-72A92DBFD01D}"/>
                  </a:ext>
                </a:extLst>
              </p:cNvPr>
              <p:cNvGrpSpPr/>
              <p:nvPr/>
            </p:nvGrpSpPr>
            <p:grpSpPr>
              <a:xfrm>
                <a:off x="838200" y="297639"/>
                <a:ext cx="1060167" cy="290657"/>
                <a:chOff x="826426" y="4041857"/>
                <a:chExt cx="1060167" cy="290657"/>
              </a:xfrm>
            </p:grpSpPr>
            <p:sp>
              <p:nvSpPr>
                <p:cNvPr id="11" name="AutoShape 9">
                  <a:extLst>
                    <a:ext uri="{FF2B5EF4-FFF2-40B4-BE49-F238E27FC236}">
                      <a16:creationId xmlns:a16="http://schemas.microsoft.com/office/drawing/2014/main" id="{9593D7A2-6E79-DA0F-2AD2-377C7B9D9486}"/>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2" name="AutoShape 11">
                  <a:extLst>
                    <a:ext uri="{FF2B5EF4-FFF2-40B4-BE49-F238E27FC236}">
                      <a16:creationId xmlns:a16="http://schemas.microsoft.com/office/drawing/2014/main" id="{B176881C-9231-D05E-D002-AE318302662B}"/>
                    </a:ext>
                  </a:extLst>
                </p:cNvPr>
                <p:cNvSpPr>
                  <a:spLocks noChangeArrowheads="1"/>
                </p:cNvSpPr>
                <p:nvPr/>
              </p:nvSpPr>
              <p:spPr bwMode="auto">
                <a:xfrm>
                  <a:off x="1140101" y="4041858"/>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3" name="AutoShape 10">
                  <a:extLst>
                    <a:ext uri="{FF2B5EF4-FFF2-40B4-BE49-F238E27FC236}">
                      <a16:creationId xmlns:a16="http://schemas.microsoft.com/office/drawing/2014/main" id="{D90B671F-A6E8-B252-AB93-AB3CCC07B318}"/>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7" name="TextBox 6">
              <a:extLst>
                <a:ext uri="{FF2B5EF4-FFF2-40B4-BE49-F238E27FC236}">
                  <a16:creationId xmlns:a16="http://schemas.microsoft.com/office/drawing/2014/main" id="{DA962D68-14CE-92FF-ACD8-8E6272A47280}"/>
                </a:ext>
              </a:extLst>
            </p:cNvPr>
            <p:cNvSpPr txBox="1"/>
            <p:nvPr/>
          </p:nvSpPr>
          <p:spPr>
            <a:xfrm>
              <a:off x="2525717" y="313415"/>
              <a:ext cx="242347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CEDAC Problem Effect</a:t>
              </a:r>
            </a:p>
          </p:txBody>
        </p:sp>
      </p:grpSp>
    </p:spTree>
    <p:extLst>
      <p:ext uri="{BB962C8B-B14F-4D97-AF65-F5344CB8AC3E}">
        <p14:creationId xmlns:p14="http://schemas.microsoft.com/office/powerpoint/2010/main" val="114050858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8D9ED7-5CF9-6F4B-B4A8-2DBF8D852A20}"/>
              </a:ext>
            </a:extLst>
          </p:cNvPr>
          <p:cNvSpPr>
            <a:spLocks noGrp="1"/>
          </p:cNvSpPr>
          <p:nvPr>
            <p:ph type="title"/>
          </p:nvPr>
        </p:nvSpPr>
        <p:spPr/>
        <p:txBody>
          <a:bodyPr>
            <a:noAutofit/>
          </a:bodyPr>
          <a:lstStyle/>
          <a:p>
            <a:r>
              <a:rPr lang="en-US" sz="2800" dirty="0">
                <a:latin typeface="Roboto Medium"/>
                <a:ea typeface="Roboto Medium"/>
                <a:cs typeface="Roboto Medium"/>
              </a:rPr>
              <a:t>Case Study Exercise: CEDAC Step 3 – Objective Statement</a:t>
            </a:r>
          </a:p>
        </p:txBody>
      </p:sp>
      <p:sp>
        <p:nvSpPr>
          <p:cNvPr id="5" name="Slide Number Placeholder 4">
            <a:extLst>
              <a:ext uri="{FF2B5EF4-FFF2-40B4-BE49-F238E27FC236}">
                <a16:creationId xmlns:a16="http://schemas.microsoft.com/office/drawing/2014/main" id="{EFB3C390-D307-7FFC-DADE-918C5180FE01}"/>
              </a:ext>
            </a:extLst>
          </p:cNvPr>
          <p:cNvSpPr>
            <a:spLocks noGrp="1"/>
          </p:cNvSpPr>
          <p:nvPr>
            <p:ph type="sldNum" sz="quarter" idx="4294967295"/>
          </p:nvPr>
        </p:nvSpPr>
        <p:spPr>
          <a:xfrm>
            <a:off x="8595078" y="6333148"/>
            <a:ext cx="2743200" cy="365125"/>
          </a:xfrm>
          <a:prstGeom prst="rect">
            <a:avLst/>
          </a:prstGeom>
        </p:spPr>
        <p:txBody>
          <a:bodyPr/>
          <a:lstStyle/>
          <a:p>
            <a:fld id="{CC6D4273-7FC1-0947-B9FE-19CB3C0D1FB6}" type="slidenum">
              <a:rPr lang="en-US" smtClean="0"/>
              <a:t>44</a:t>
            </a:fld>
            <a:endParaRPr lang="en-US"/>
          </a:p>
        </p:txBody>
      </p:sp>
      <p:sp>
        <p:nvSpPr>
          <p:cNvPr id="11" name="Rectangle 10">
            <a:extLst>
              <a:ext uri="{FF2B5EF4-FFF2-40B4-BE49-F238E27FC236}">
                <a16:creationId xmlns:a16="http://schemas.microsoft.com/office/drawing/2014/main" id="{3A9506B7-1A57-1322-5AB5-DA8522EE7602}"/>
              </a:ext>
            </a:extLst>
          </p:cNvPr>
          <p:cNvSpPr/>
          <p:nvPr/>
        </p:nvSpPr>
        <p:spPr>
          <a:xfrm>
            <a:off x="838200" y="2297655"/>
            <a:ext cx="9722342" cy="533479"/>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Analyze Case Study </a:t>
            </a:r>
          </a:p>
        </p:txBody>
      </p:sp>
      <p:sp>
        <p:nvSpPr>
          <p:cNvPr id="12" name="TextBox 11">
            <a:extLst>
              <a:ext uri="{FF2B5EF4-FFF2-40B4-BE49-F238E27FC236}">
                <a16:creationId xmlns:a16="http://schemas.microsoft.com/office/drawing/2014/main" id="{A4ECB5F6-F271-06CD-2A6A-E79F5245CD15}"/>
              </a:ext>
            </a:extLst>
          </p:cNvPr>
          <p:cNvSpPr txBox="1"/>
          <p:nvPr/>
        </p:nvSpPr>
        <p:spPr>
          <a:xfrm>
            <a:off x="838200" y="1767653"/>
            <a:ext cx="1603003"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Objective</a:t>
            </a:r>
            <a:endParaRPr kumimoji="0" lang="en-US" sz="56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endParaRPr>
          </a:p>
        </p:txBody>
      </p:sp>
      <p:sp>
        <p:nvSpPr>
          <p:cNvPr id="13" name="TextBox 12">
            <a:extLst>
              <a:ext uri="{FF2B5EF4-FFF2-40B4-BE49-F238E27FC236}">
                <a16:creationId xmlns:a16="http://schemas.microsoft.com/office/drawing/2014/main" id="{EA94F381-2B48-C111-2724-726B0390290F}"/>
              </a:ext>
            </a:extLst>
          </p:cNvPr>
          <p:cNvSpPr txBox="1"/>
          <p:nvPr/>
        </p:nvSpPr>
        <p:spPr>
          <a:xfrm>
            <a:off x="838200" y="2952549"/>
            <a:ext cx="2022990"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Instructions</a:t>
            </a:r>
            <a:endParaRPr kumimoji="0" lang="en-US" sz="56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endParaRPr>
          </a:p>
        </p:txBody>
      </p:sp>
      <p:sp>
        <p:nvSpPr>
          <p:cNvPr id="14" name="Rectangle 13">
            <a:extLst>
              <a:ext uri="{FF2B5EF4-FFF2-40B4-BE49-F238E27FC236}">
                <a16:creationId xmlns:a16="http://schemas.microsoft.com/office/drawing/2014/main" id="{82677B47-98C9-F770-8D4E-7D91CF39F5A7}"/>
              </a:ext>
            </a:extLst>
          </p:cNvPr>
          <p:cNvSpPr/>
          <p:nvPr/>
        </p:nvSpPr>
        <p:spPr>
          <a:xfrm>
            <a:off x="818941" y="3486027"/>
            <a:ext cx="4419809" cy="2318583"/>
          </a:xfrm>
          <a:prstGeom prst="rect">
            <a:avLst/>
          </a:prstGeom>
          <a:solidFill>
            <a:schemeClr val="bg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0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In each team, review the additional metrics from the case study on the following slide</a:t>
            </a:r>
          </a:p>
          <a:p>
            <a:pPr marL="0" marR="0" indent="0" algn="l" defTabSz="584200" rtl="0" fontAlgn="auto" latinLnBrk="0" hangingPunct="0">
              <a:lnSpc>
                <a:spcPct val="100000"/>
              </a:lnSpc>
              <a:spcBef>
                <a:spcPts val="0"/>
              </a:spcBef>
              <a:spcAft>
                <a:spcPts val="0"/>
              </a:spcAft>
              <a:buClrTx/>
              <a:buSzTx/>
              <a:buFontTx/>
              <a:buNone/>
              <a:tabLst/>
            </a:pPr>
            <a:r>
              <a:rPr kumimoji="0" lang="en-US" sz="20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Given this new data, determine your objective statement</a:t>
            </a:r>
          </a:p>
          <a:p>
            <a:pPr marL="0" marR="0" indent="0" algn="l" defTabSz="584200" rtl="0" fontAlgn="auto" latinLnBrk="0" hangingPunct="0">
              <a:lnSpc>
                <a:spcPct val="100000"/>
              </a:lnSpc>
              <a:spcBef>
                <a:spcPts val="0"/>
              </a:spcBef>
              <a:spcAft>
                <a:spcPts val="0"/>
              </a:spcAft>
              <a:buClrTx/>
              <a:buSzTx/>
              <a:buFontTx/>
              <a:buNone/>
              <a:tabLst/>
            </a:pPr>
            <a:r>
              <a:rPr kumimoji="0" lang="en-US" sz="20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Record objective statement on chart paper for review with class</a:t>
            </a:r>
          </a:p>
        </p:txBody>
      </p:sp>
      <p:sp>
        <p:nvSpPr>
          <p:cNvPr id="15" name="TextBox 14">
            <a:extLst>
              <a:ext uri="{FF2B5EF4-FFF2-40B4-BE49-F238E27FC236}">
                <a16:creationId xmlns:a16="http://schemas.microsoft.com/office/drawing/2014/main" id="{90914B3B-0CE2-FDFF-2FB9-215236316256}"/>
              </a:ext>
            </a:extLst>
          </p:cNvPr>
          <p:cNvSpPr txBox="1"/>
          <p:nvPr/>
        </p:nvSpPr>
        <p:spPr>
          <a:xfrm>
            <a:off x="5879250" y="2952548"/>
            <a:ext cx="2968761"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Time to Complete</a:t>
            </a:r>
          </a:p>
        </p:txBody>
      </p:sp>
      <p:sp>
        <p:nvSpPr>
          <p:cNvPr id="16" name="TextBox 15">
            <a:extLst>
              <a:ext uri="{FF2B5EF4-FFF2-40B4-BE49-F238E27FC236}">
                <a16:creationId xmlns:a16="http://schemas.microsoft.com/office/drawing/2014/main" id="{6285230A-07BD-F376-25CA-177CC1D4233F}"/>
              </a:ext>
            </a:extLst>
          </p:cNvPr>
          <p:cNvSpPr txBox="1"/>
          <p:nvPr/>
        </p:nvSpPr>
        <p:spPr>
          <a:xfrm>
            <a:off x="5879250" y="4136472"/>
            <a:ext cx="1888337"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Deliverable</a:t>
            </a:r>
          </a:p>
        </p:txBody>
      </p:sp>
      <p:sp>
        <p:nvSpPr>
          <p:cNvPr id="17" name="Rectangle 16">
            <a:extLst>
              <a:ext uri="{FF2B5EF4-FFF2-40B4-BE49-F238E27FC236}">
                <a16:creationId xmlns:a16="http://schemas.microsoft.com/office/drawing/2014/main" id="{67530399-8FDB-50CD-E8FD-8E286DE1A2EA}"/>
              </a:ext>
            </a:extLst>
          </p:cNvPr>
          <p:cNvSpPr/>
          <p:nvPr/>
        </p:nvSpPr>
        <p:spPr>
          <a:xfrm>
            <a:off x="5879250" y="3496996"/>
            <a:ext cx="4681292" cy="471924"/>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584200" hangingPunct="0"/>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10 minutes</a:t>
            </a:r>
          </a:p>
        </p:txBody>
      </p:sp>
      <p:sp>
        <p:nvSpPr>
          <p:cNvPr id="18" name="Rectangle 17">
            <a:extLst>
              <a:ext uri="{FF2B5EF4-FFF2-40B4-BE49-F238E27FC236}">
                <a16:creationId xmlns:a16="http://schemas.microsoft.com/office/drawing/2014/main" id="{84DF6BD6-975A-3700-5E69-322EFF4F722E}"/>
              </a:ext>
            </a:extLst>
          </p:cNvPr>
          <p:cNvSpPr/>
          <p:nvPr/>
        </p:nvSpPr>
        <p:spPr>
          <a:xfrm>
            <a:off x="5879250" y="4634782"/>
            <a:ext cx="4681292" cy="841256"/>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584200" hangingPunct="0"/>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Objective statement– one person to report out to rest of class</a:t>
            </a:r>
          </a:p>
        </p:txBody>
      </p:sp>
      <p:grpSp>
        <p:nvGrpSpPr>
          <p:cNvPr id="3" name="Group 2">
            <a:extLst>
              <a:ext uri="{FF2B5EF4-FFF2-40B4-BE49-F238E27FC236}">
                <a16:creationId xmlns:a16="http://schemas.microsoft.com/office/drawing/2014/main" id="{16865E1C-D685-A7AE-218A-FD1622AE7E83}"/>
              </a:ext>
            </a:extLst>
          </p:cNvPr>
          <p:cNvGrpSpPr/>
          <p:nvPr/>
        </p:nvGrpSpPr>
        <p:grpSpPr>
          <a:xfrm>
            <a:off x="838200" y="297639"/>
            <a:ext cx="4110990" cy="307138"/>
            <a:chOff x="838200" y="297639"/>
            <a:chExt cx="4110990" cy="307138"/>
          </a:xfrm>
        </p:grpSpPr>
        <p:grpSp>
          <p:nvGrpSpPr>
            <p:cNvPr id="4" name="Group 3">
              <a:extLst>
                <a:ext uri="{FF2B5EF4-FFF2-40B4-BE49-F238E27FC236}">
                  <a16:creationId xmlns:a16="http://schemas.microsoft.com/office/drawing/2014/main" id="{6BB102DA-FCF3-B138-1B68-6EA5538C23B1}"/>
                </a:ext>
              </a:extLst>
            </p:cNvPr>
            <p:cNvGrpSpPr/>
            <p:nvPr/>
          </p:nvGrpSpPr>
          <p:grpSpPr>
            <a:xfrm>
              <a:off x="838200" y="297639"/>
              <a:ext cx="1687517" cy="290657"/>
              <a:chOff x="838200" y="297639"/>
              <a:chExt cx="1687517" cy="290657"/>
            </a:xfrm>
          </p:grpSpPr>
          <p:sp>
            <p:nvSpPr>
              <p:cNvPr id="7" name="AutoShape 9">
                <a:extLst>
                  <a:ext uri="{FF2B5EF4-FFF2-40B4-BE49-F238E27FC236}">
                    <a16:creationId xmlns:a16="http://schemas.microsoft.com/office/drawing/2014/main" id="{9133B7B8-E188-A93F-2A69-935D3C833A1C}"/>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8" name="AutoShape 9">
                <a:extLst>
                  <a:ext uri="{FF2B5EF4-FFF2-40B4-BE49-F238E27FC236}">
                    <a16:creationId xmlns:a16="http://schemas.microsoft.com/office/drawing/2014/main" id="{708131C8-7F96-BA0D-3959-FCBFC1951580}"/>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9" name="Group 8">
                <a:extLst>
                  <a:ext uri="{FF2B5EF4-FFF2-40B4-BE49-F238E27FC236}">
                    <a16:creationId xmlns:a16="http://schemas.microsoft.com/office/drawing/2014/main" id="{D6B2AC4C-98CB-F0E1-57AA-ECDFBB42F4FA}"/>
                  </a:ext>
                </a:extLst>
              </p:cNvPr>
              <p:cNvGrpSpPr/>
              <p:nvPr/>
            </p:nvGrpSpPr>
            <p:grpSpPr>
              <a:xfrm>
                <a:off x="838200" y="297639"/>
                <a:ext cx="1060167" cy="290657"/>
                <a:chOff x="826426" y="4041857"/>
                <a:chExt cx="1060167" cy="290657"/>
              </a:xfrm>
            </p:grpSpPr>
            <p:sp>
              <p:nvSpPr>
                <p:cNvPr id="10" name="AutoShape 9">
                  <a:extLst>
                    <a:ext uri="{FF2B5EF4-FFF2-40B4-BE49-F238E27FC236}">
                      <a16:creationId xmlns:a16="http://schemas.microsoft.com/office/drawing/2014/main" id="{06369BCD-F6D1-9F46-89F5-52DCBD67DC98}"/>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9" name="AutoShape 11">
                  <a:extLst>
                    <a:ext uri="{FF2B5EF4-FFF2-40B4-BE49-F238E27FC236}">
                      <a16:creationId xmlns:a16="http://schemas.microsoft.com/office/drawing/2014/main" id="{E2194F7C-BED4-C919-83C3-72B34F4AFA3D}"/>
                    </a:ext>
                  </a:extLst>
                </p:cNvPr>
                <p:cNvSpPr>
                  <a:spLocks noChangeArrowheads="1"/>
                </p:cNvSpPr>
                <p:nvPr/>
              </p:nvSpPr>
              <p:spPr bwMode="auto">
                <a:xfrm>
                  <a:off x="1140101" y="4041858"/>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0" name="AutoShape 10">
                  <a:extLst>
                    <a:ext uri="{FF2B5EF4-FFF2-40B4-BE49-F238E27FC236}">
                      <a16:creationId xmlns:a16="http://schemas.microsoft.com/office/drawing/2014/main" id="{C926CCA7-ACA1-2AB5-3AB5-77D740254E56}"/>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6" name="TextBox 5">
              <a:extLst>
                <a:ext uri="{FF2B5EF4-FFF2-40B4-BE49-F238E27FC236}">
                  <a16:creationId xmlns:a16="http://schemas.microsoft.com/office/drawing/2014/main" id="{FDE6247A-5BF4-CA14-6371-138C6CAE2601}"/>
                </a:ext>
              </a:extLst>
            </p:cNvPr>
            <p:cNvSpPr txBox="1"/>
            <p:nvPr/>
          </p:nvSpPr>
          <p:spPr>
            <a:xfrm>
              <a:off x="2525717" y="313415"/>
              <a:ext cx="242347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CEDAC Problem Effect</a:t>
              </a:r>
            </a:p>
          </p:txBody>
        </p:sp>
      </p:grpSp>
    </p:spTree>
    <p:extLst>
      <p:ext uri="{BB962C8B-B14F-4D97-AF65-F5344CB8AC3E}">
        <p14:creationId xmlns:p14="http://schemas.microsoft.com/office/powerpoint/2010/main" val="245200645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077D53-AE4C-E910-8799-DEEA2CC0A5FC}"/>
              </a:ext>
            </a:extLst>
          </p:cNvPr>
          <p:cNvSpPr>
            <a:spLocks noGrp="1"/>
          </p:cNvSpPr>
          <p:nvPr>
            <p:ph type="title"/>
          </p:nvPr>
        </p:nvSpPr>
        <p:spPr/>
        <p:txBody>
          <a:bodyPr>
            <a:normAutofit/>
          </a:bodyPr>
          <a:lstStyle/>
          <a:p>
            <a:r>
              <a:rPr lang="en-US" sz="3600" dirty="0"/>
              <a:t>Sample Case Study – “Spencer’s” Restaurant</a:t>
            </a:r>
          </a:p>
        </p:txBody>
      </p:sp>
      <p:sp>
        <p:nvSpPr>
          <p:cNvPr id="4" name="Slide Number Placeholder 3">
            <a:extLst>
              <a:ext uri="{FF2B5EF4-FFF2-40B4-BE49-F238E27FC236}">
                <a16:creationId xmlns:a16="http://schemas.microsoft.com/office/drawing/2014/main" id="{664678EF-C2ED-ABA5-0EEC-F0AB19692545}"/>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45</a:t>
            </a:fld>
            <a:endParaRPr lang="en-US"/>
          </a:p>
        </p:txBody>
      </p:sp>
      <p:pic>
        <p:nvPicPr>
          <p:cNvPr id="3" name="Object 3">
            <a:extLst>
              <a:ext uri="{FF2B5EF4-FFF2-40B4-BE49-F238E27FC236}">
                <a16:creationId xmlns:a16="http://schemas.microsoft.com/office/drawing/2014/main" id="{DAE6608C-48C1-E376-C5CC-C56CCE9C1E6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a:xfrm>
            <a:off x="2013744" y="1958023"/>
            <a:ext cx="8164513" cy="4103687"/>
          </a:xfrm>
          <a:prstGeom prst="rect">
            <a:avLst/>
          </a:prstGeom>
        </p:spPr>
      </p:pic>
      <p:grpSp>
        <p:nvGrpSpPr>
          <p:cNvPr id="5" name="Group 4">
            <a:extLst>
              <a:ext uri="{FF2B5EF4-FFF2-40B4-BE49-F238E27FC236}">
                <a16:creationId xmlns:a16="http://schemas.microsoft.com/office/drawing/2014/main" id="{B26F9E8C-B24A-ADE4-D852-FFFBBDEE10F7}"/>
              </a:ext>
            </a:extLst>
          </p:cNvPr>
          <p:cNvGrpSpPr/>
          <p:nvPr/>
        </p:nvGrpSpPr>
        <p:grpSpPr>
          <a:xfrm>
            <a:off x="838200" y="297639"/>
            <a:ext cx="4110990" cy="307138"/>
            <a:chOff x="838200" y="297639"/>
            <a:chExt cx="4110990" cy="307138"/>
          </a:xfrm>
        </p:grpSpPr>
        <p:grpSp>
          <p:nvGrpSpPr>
            <p:cNvPr id="6" name="Group 5">
              <a:extLst>
                <a:ext uri="{FF2B5EF4-FFF2-40B4-BE49-F238E27FC236}">
                  <a16:creationId xmlns:a16="http://schemas.microsoft.com/office/drawing/2014/main" id="{A57C2583-BD5B-C1A0-85E2-CCF78701F82B}"/>
                </a:ext>
              </a:extLst>
            </p:cNvPr>
            <p:cNvGrpSpPr/>
            <p:nvPr/>
          </p:nvGrpSpPr>
          <p:grpSpPr>
            <a:xfrm>
              <a:off x="838200" y="297639"/>
              <a:ext cx="1687517" cy="290657"/>
              <a:chOff x="838200" y="297639"/>
              <a:chExt cx="1687517" cy="290657"/>
            </a:xfrm>
          </p:grpSpPr>
          <p:sp>
            <p:nvSpPr>
              <p:cNvPr id="8" name="AutoShape 9">
                <a:extLst>
                  <a:ext uri="{FF2B5EF4-FFF2-40B4-BE49-F238E27FC236}">
                    <a16:creationId xmlns:a16="http://schemas.microsoft.com/office/drawing/2014/main" id="{34A6B57B-35BE-5BB5-B6BC-AB83A54404BB}"/>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9" name="AutoShape 9">
                <a:extLst>
                  <a:ext uri="{FF2B5EF4-FFF2-40B4-BE49-F238E27FC236}">
                    <a16:creationId xmlns:a16="http://schemas.microsoft.com/office/drawing/2014/main" id="{9564E32B-7E57-8950-AD76-A655E6559E02}"/>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10" name="Group 9">
                <a:extLst>
                  <a:ext uri="{FF2B5EF4-FFF2-40B4-BE49-F238E27FC236}">
                    <a16:creationId xmlns:a16="http://schemas.microsoft.com/office/drawing/2014/main" id="{35D4AE5B-E445-E564-7E6D-F1DFB7BB3EA7}"/>
                  </a:ext>
                </a:extLst>
              </p:cNvPr>
              <p:cNvGrpSpPr/>
              <p:nvPr/>
            </p:nvGrpSpPr>
            <p:grpSpPr>
              <a:xfrm>
                <a:off x="838200" y="297639"/>
                <a:ext cx="1060167" cy="290657"/>
                <a:chOff x="826426" y="4041857"/>
                <a:chExt cx="1060167" cy="290657"/>
              </a:xfrm>
            </p:grpSpPr>
            <p:sp>
              <p:nvSpPr>
                <p:cNvPr id="11" name="AutoShape 9">
                  <a:extLst>
                    <a:ext uri="{FF2B5EF4-FFF2-40B4-BE49-F238E27FC236}">
                      <a16:creationId xmlns:a16="http://schemas.microsoft.com/office/drawing/2014/main" id="{B76E9A7C-79A5-F7E5-2DC1-5D04A2FDC6C9}"/>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2" name="AutoShape 11">
                  <a:extLst>
                    <a:ext uri="{FF2B5EF4-FFF2-40B4-BE49-F238E27FC236}">
                      <a16:creationId xmlns:a16="http://schemas.microsoft.com/office/drawing/2014/main" id="{B18FADF0-E994-46DC-DE48-470A735F8A1D}"/>
                    </a:ext>
                  </a:extLst>
                </p:cNvPr>
                <p:cNvSpPr>
                  <a:spLocks noChangeArrowheads="1"/>
                </p:cNvSpPr>
                <p:nvPr/>
              </p:nvSpPr>
              <p:spPr bwMode="auto">
                <a:xfrm>
                  <a:off x="1140101" y="4041858"/>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3" name="AutoShape 10">
                  <a:extLst>
                    <a:ext uri="{FF2B5EF4-FFF2-40B4-BE49-F238E27FC236}">
                      <a16:creationId xmlns:a16="http://schemas.microsoft.com/office/drawing/2014/main" id="{B4DE425E-8CC0-CD8A-7BF7-A6FFC87B8E02}"/>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7" name="TextBox 6">
              <a:extLst>
                <a:ext uri="{FF2B5EF4-FFF2-40B4-BE49-F238E27FC236}">
                  <a16:creationId xmlns:a16="http://schemas.microsoft.com/office/drawing/2014/main" id="{C7698E6D-91C8-6BED-0AC4-41F9D3DB727D}"/>
                </a:ext>
              </a:extLst>
            </p:cNvPr>
            <p:cNvSpPr txBox="1"/>
            <p:nvPr/>
          </p:nvSpPr>
          <p:spPr>
            <a:xfrm>
              <a:off x="2525717" y="313415"/>
              <a:ext cx="242347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CEDAC Problem Effect</a:t>
              </a:r>
            </a:p>
          </p:txBody>
        </p:sp>
      </p:grpSp>
    </p:spTree>
    <p:extLst>
      <p:ext uri="{BB962C8B-B14F-4D97-AF65-F5344CB8AC3E}">
        <p14:creationId xmlns:p14="http://schemas.microsoft.com/office/powerpoint/2010/main" val="344044539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8D9ED7-5CF9-6F4B-B4A8-2DBF8D852A20}"/>
              </a:ext>
            </a:extLst>
          </p:cNvPr>
          <p:cNvSpPr>
            <a:spLocks noGrp="1"/>
          </p:cNvSpPr>
          <p:nvPr>
            <p:ph type="title"/>
          </p:nvPr>
        </p:nvSpPr>
        <p:spPr/>
        <p:txBody>
          <a:bodyPr>
            <a:noAutofit/>
          </a:bodyPr>
          <a:lstStyle/>
          <a:p>
            <a:r>
              <a:rPr lang="en-US" sz="3600" dirty="0">
                <a:latin typeface="Roboto Medium"/>
                <a:ea typeface="Roboto Medium"/>
                <a:cs typeface="Roboto Medium"/>
              </a:rPr>
              <a:t>CEDAC Step 3 Exercise: Validate event charter</a:t>
            </a:r>
          </a:p>
        </p:txBody>
      </p:sp>
      <p:sp>
        <p:nvSpPr>
          <p:cNvPr id="5" name="Slide Number Placeholder 4">
            <a:extLst>
              <a:ext uri="{FF2B5EF4-FFF2-40B4-BE49-F238E27FC236}">
                <a16:creationId xmlns:a16="http://schemas.microsoft.com/office/drawing/2014/main" id="{EFB3C390-D307-7FFC-DADE-918C5180FE01}"/>
              </a:ext>
            </a:extLst>
          </p:cNvPr>
          <p:cNvSpPr>
            <a:spLocks noGrp="1"/>
          </p:cNvSpPr>
          <p:nvPr>
            <p:ph type="sldNum" sz="quarter" idx="4294967295"/>
          </p:nvPr>
        </p:nvSpPr>
        <p:spPr>
          <a:xfrm>
            <a:off x="8595078" y="6333148"/>
            <a:ext cx="2743200" cy="365125"/>
          </a:xfrm>
          <a:prstGeom prst="rect">
            <a:avLst/>
          </a:prstGeom>
        </p:spPr>
        <p:txBody>
          <a:bodyPr/>
          <a:lstStyle/>
          <a:p>
            <a:fld id="{CC6D4273-7FC1-0947-B9FE-19CB3C0D1FB6}" type="slidenum">
              <a:rPr lang="en-US" smtClean="0"/>
              <a:t>46</a:t>
            </a:fld>
            <a:endParaRPr lang="en-US"/>
          </a:p>
        </p:txBody>
      </p:sp>
      <p:sp>
        <p:nvSpPr>
          <p:cNvPr id="11" name="Rectangle 10">
            <a:extLst>
              <a:ext uri="{FF2B5EF4-FFF2-40B4-BE49-F238E27FC236}">
                <a16:creationId xmlns:a16="http://schemas.microsoft.com/office/drawing/2014/main" id="{3A9506B7-1A57-1322-5AB5-DA8522EE7602}"/>
              </a:ext>
            </a:extLst>
          </p:cNvPr>
          <p:cNvSpPr/>
          <p:nvPr/>
        </p:nvSpPr>
        <p:spPr>
          <a:xfrm>
            <a:off x="857459" y="2301132"/>
            <a:ext cx="9722342" cy="964367"/>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Evaluate the CEDAC event charter in terms of key learnings about Problem Statements, Metrics, and Objectives</a:t>
            </a:r>
          </a:p>
        </p:txBody>
      </p:sp>
      <p:sp>
        <p:nvSpPr>
          <p:cNvPr id="12" name="TextBox 11">
            <a:extLst>
              <a:ext uri="{FF2B5EF4-FFF2-40B4-BE49-F238E27FC236}">
                <a16:creationId xmlns:a16="http://schemas.microsoft.com/office/drawing/2014/main" id="{A4ECB5F6-F271-06CD-2A6A-E79F5245CD15}"/>
              </a:ext>
            </a:extLst>
          </p:cNvPr>
          <p:cNvSpPr txBox="1"/>
          <p:nvPr/>
        </p:nvSpPr>
        <p:spPr>
          <a:xfrm>
            <a:off x="838200" y="1767653"/>
            <a:ext cx="1603003"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Objective</a:t>
            </a:r>
            <a:endParaRPr kumimoji="0" lang="en-US" sz="56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endParaRPr>
          </a:p>
        </p:txBody>
      </p:sp>
      <p:sp>
        <p:nvSpPr>
          <p:cNvPr id="13" name="TextBox 12">
            <a:extLst>
              <a:ext uri="{FF2B5EF4-FFF2-40B4-BE49-F238E27FC236}">
                <a16:creationId xmlns:a16="http://schemas.microsoft.com/office/drawing/2014/main" id="{EA94F381-2B48-C111-2724-726B0390290F}"/>
              </a:ext>
            </a:extLst>
          </p:cNvPr>
          <p:cNvSpPr txBox="1"/>
          <p:nvPr/>
        </p:nvSpPr>
        <p:spPr>
          <a:xfrm>
            <a:off x="857459" y="3171470"/>
            <a:ext cx="2022990"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Instructions</a:t>
            </a:r>
            <a:endParaRPr kumimoji="0" lang="en-US" sz="56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endParaRPr>
          </a:p>
        </p:txBody>
      </p:sp>
      <p:sp>
        <p:nvSpPr>
          <p:cNvPr id="14" name="Rectangle 13">
            <a:extLst>
              <a:ext uri="{FF2B5EF4-FFF2-40B4-BE49-F238E27FC236}">
                <a16:creationId xmlns:a16="http://schemas.microsoft.com/office/drawing/2014/main" id="{82677B47-98C9-F770-8D4E-7D91CF39F5A7}"/>
              </a:ext>
            </a:extLst>
          </p:cNvPr>
          <p:cNvSpPr/>
          <p:nvPr/>
        </p:nvSpPr>
        <p:spPr>
          <a:xfrm>
            <a:off x="838200" y="3704948"/>
            <a:ext cx="4419809" cy="2318583"/>
          </a:xfrm>
          <a:prstGeom prst="rect">
            <a:avLst/>
          </a:prstGeom>
          <a:solidFill>
            <a:schemeClr val="bg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0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As a team, review the CEDAC Event Charter and validate that we have the right Problem Statement, Metrics, and Objective. </a:t>
            </a:r>
          </a:p>
          <a:p>
            <a:pPr marL="0" marR="0" indent="0" algn="l" defTabSz="584200" rtl="0" fontAlgn="auto" latinLnBrk="0" hangingPunct="0">
              <a:lnSpc>
                <a:spcPct val="100000"/>
              </a:lnSpc>
              <a:spcBef>
                <a:spcPts val="0"/>
              </a:spcBef>
              <a:spcAft>
                <a:spcPts val="0"/>
              </a:spcAft>
              <a:buClrTx/>
              <a:buSzTx/>
              <a:buFontTx/>
              <a:buNone/>
              <a:tabLst/>
            </a:pPr>
            <a:r>
              <a:rPr kumimoji="0" lang="en-US" sz="20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Make any needed modifications. </a:t>
            </a:r>
          </a:p>
        </p:txBody>
      </p:sp>
      <p:sp>
        <p:nvSpPr>
          <p:cNvPr id="15" name="TextBox 14">
            <a:extLst>
              <a:ext uri="{FF2B5EF4-FFF2-40B4-BE49-F238E27FC236}">
                <a16:creationId xmlns:a16="http://schemas.microsoft.com/office/drawing/2014/main" id="{90914B3B-0CE2-FDFF-2FB9-215236316256}"/>
              </a:ext>
            </a:extLst>
          </p:cNvPr>
          <p:cNvSpPr txBox="1"/>
          <p:nvPr/>
        </p:nvSpPr>
        <p:spPr>
          <a:xfrm>
            <a:off x="5898509" y="3171469"/>
            <a:ext cx="2968761"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Time to Complete</a:t>
            </a:r>
          </a:p>
        </p:txBody>
      </p:sp>
      <p:sp>
        <p:nvSpPr>
          <p:cNvPr id="16" name="TextBox 15">
            <a:extLst>
              <a:ext uri="{FF2B5EF4-FFF2-40B4-BE49-F238E27FC236}">
                <a16:creationId xmlns:a16="http://schemas.microsoft.com/office/drawing/2014/main" id="{6285230A-07BD-F376-25CA-177CC1D4233F}"/>
              </a:ext>
            </a:extLst>
          </p:cNvPr>
          <p:cNvSpPr txBox="1"/>
          <p:nvPr/>
        </p:nvSpPr>
        <p:spPr>
          <a:xfrm>
            <a:off x="5898509" y="4355393"/>
            <a:ext cx="1888337"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Deliverable</a:t>
            </a:r>
          </a:p>
        </p:txBody>
      </p:sp>
      <p:sp>
        <p:nvSpPr>
          <p:cNvPr id="17" name="Rectangle 16">
            <a:extLst>
              <a:ext uri="{FF2B5EF4-FFF2-40B4-BE49-F238E27FC236}">
                <a16:creationId xmlns:a16="http://schemas.microsoft.com/office/drawing/2014/main" id="{67530399-8FDB-50CD-E8FD-8E286DE1A2EA}"/>
              </a:ext>
            </a:extLst>
          </p:cNvPr>
          <p:cNvSpPr/>
          <p:nvPr/>
        </p:nvSpPr>
        <p:spPr>
          <a:xfrm>
            <a:off x="5898509" y="3715917"/>
            <a:ext cx="4681292" cy="471924"/>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584200" hangingPunct="0"/>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20 minutes</a:t>
            </a:r>
          </a:p>
        </p:txBody>
      </p:sp>
      <p:sp>
        <p:nvSpPr>
          <p:cNvPr id="18" name="Rectangle 17">
            <a:extLst>
              <a:ext uri="{FF2B5EF4-FFF2-40B4-BE49-F238E27FC236}">
                <a16:creationId xmlns:a16="http://schemas.microsoft.com/office/drawing/2014/main" id="{84DF6BD6-975A-3700-5E69-322EFF4F722E}"/>
              </a:ext>
            </a:extLst>
          </p:cNvPr>
          <p:cNvSpPr/>
          <p:nvPr/>
        </p:nvSpPr>
        <p:spPr>
          <a:xfrm>
            <a:off x="5898509" y="4881806"/>
            <a:ext cx="4681292" cy="471924"/>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584200" hangingPunct="0"/>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Validated Event Charter </a:t>
            </a:r>
          </a:p>
        </p:txBody>
      </p:sp>
      <p:grpSp>
        <p:nvGrpSpPr>
          <p:cNvPr id="3" name="Group 2">
            <a:extLst>
              <a:ext uri="{FF2B5EF4-FFF2-40B4-BE49-F238E27FC236}">
                <a16:creationId xmlns:a16="http://schemas.microsoft.com/office/drawing/2014/main" id="{16865E1C-D685-A7AE-218A-FD1622AE7E83}"/>
              </a:ext>
            </a:extLst>
          </p:cNvPr>
          <p:cNvGrpSpPr/>
          <p:nvPr/>
        </p:nvGrpSpPr>
        <p:grpSpPr>
          <a:xfrm>
            <a:off x="838200" y="297639"/>
            <a:ext cx="4110990" cy="307138"/>
            <a:chOff x="838200" y="297639"/>
            <a:chExt cx="4110990" cy="307138"/>
          </a:xfrm>
        </p:grpSpPr>
        <p:grpSp>
          <p:nvGrpSpPr>
            <p:cNvPr id="4" name="Group 3">
              <a:extLst>
                <a:ext uri="{FF2B5EF4-FFF2-40B4-BE49-F238E27FC236}">
                  <a16:creationId xmlns:a16="http://schemas.microsoft.com/office/drawing/2014/main" id="{6BB102DA-FCF3-B138-1B68-6EA5538C23B1}"/>
                </a:ext>
              </a:extLst>
            </p:cNvPr>
            <p:cNvGrpSpPr/>
            <p:nvPr/>
          </p:nvGrpSpPr>
          <p:grpSpPr>
            <a:xfrm>
              <a:off x="838200" y="297639"/>
              <a:ext cx="1687517" cy="290657"/>
              <a:chOff x="838200" y="297639"/>
              <a:chExt cx="1687517" cy="290657"/>
            </a:xfrm>
          </p:grpSpPr>
          <p:sp>
            <p:nvSpPr>
              <p:cNvPr id="7" name="AutoShape 9">
                <a:extLst>
                  <a:ext uri="{FF2B5EF4-FFF2-40B4-BE49-F238E27FC236}">
                    <a16:creationId xmlns:a16="http://schemas.microsoft.com/office/drawing/2014/main" id="{9133B7B8-E188-A93F-2A69-935D3C833A1C}"/>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8" name="AutoShape 9">
                <a:extLst>
                  <a:ext uri="{FF2B5EF4-FFF2-40B4-BE49-F238E27FC236}">
                    <a16:creationId xmlns:a16="http://schemas.microsoft.com/office/drawing/2014/main" id="{708131C8-7F96-BA0D-3959-FCBFC1951580}"/>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9" name="Group 8">
                <a:extLst>
                  <a:ext uri="{FF2B5EF4-FFF2-40B4-BE49-F238E27FC236}">
                    <a16:creationId xmlns:a16="http://schemas.microsoft.com/office/drawing/2014/main" id="{D6B2AC4C-98CB-F0E1-57AA-ECDFBB42F4FA}"/>
                  </a:ext>
                </a:extLst>
              </p:cNvPr>
              <p:cNvGrpSpPr/>
              <p:nvPr/>
            </p:nvGrpSpPr>
            <p:grpSpPr>
              <a:xfrm>
                <a:off x="838200" y="297639"/>
                <a:ext cx="1060167" cy="290657"/>
                <a:chOff x="826426" y="4041857"/>
                <a:chExt cx="1060167" cy="290657"/>
              </a:xfrm>
            </p:grpSpPr>
            <p:sp>
              <p:nvSpPr>
                <p:cNvPr id="10" name="AutoShape 9">
                  <a:extLst>
                    <a:ext uri="{FF2B5EF4-FFF2-40B4-BE49-F238E27FC236}">
                      <a16:creationId xmlns:a16="http://schemas.microsoft.com/office/drawing/2014/main" id="{06369BCD-F6D1-9F46-89F5-52DCBD67DC98}"/>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9" name="AutoShape 11">
                  <a:extLst>
                    <a:ext uri="{FF2B5EF4-FFF2-40B4-BE49-F238E27FC236}">
                      <a16:creationId xmlns:a16="http://schemas.microsoft.com/office/drawing/2014/main" id="{E2194F7C-BED4-C919-83C3-72B34F4AFA3D}"/>
                    </a:ext>
                  </a:extLst>
                </p:cNvPr>
                <p:cNvSpPr>
                  <a:spLocks noChangeArrowheads="1"/>
                </p:cNvSpPr>
                <p:nvPr/>
              </p:nvSpPr>
              <p:spPr bwMode="auto">
                <a:xfrm>
                  <a:off x="1140101" y="4041858"/>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0" name="AutoShape 10">
                  <a:extLst>
                    <a:ext uri="{FF2B5EF4-FFF2-40B4-BE49-F238E27FC236}">
                      <a16:creationId xmlns:a16="http://schemas.microsoft.com/office/drawing/2014/main" id="{C926CCA7-ACA1-2AB5-3AB5-77D740254E56}"/>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6" name="TextBox 5">
              <a:extLst>
                <a:ext uri="{FF2B5EF4-FFF2-40B4-BE49-F238E27FC236}">
                  <a16:creationId xmlns:a16="http://schemas.microsoft.com/office/drawing/2014/main" id="{FDE6247A-5BF4-CA14-6371-138C6CAE2601}"/>
                </a:ext>
              </a:extLst>
            </p:cNvPr>
            <p:cNvSpPr txBox="1"/>
            <p:nvPr/>
          </p:nvSpPr>
          <p:spPr>
            <a:xfrm>
              <a:off x="2525717" y="313415"/>
              <a:ext cx="242347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CEDAC Problem Effect</a:t>
              </a:r>
            </a:p>
          </p:txBody>
        </p:sp>
      </p:grpSp>
    </p:spTree>
    <p:extLst>
      <p:ext uri="{BB962C8B-B14F-4D97-AF65-F5344CB8AC3E}">
        <p14:creationId xmlns:p14="http://schemas.microsoft.com/office/powerpoint/2010/main" val="268162869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2DF11FF7-095F-D1A9-6784-C53D538A36FF}"/>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47</a:t>
            </a:fld>
            <a:endParaRPr lang="en-US"/>
          </a:p>
        </p:txBody>
      </p:sp>
      <p:sp>
        <p:nvSpPr>
          <p:cNvPr id="2" name="Title 1">
            <a:extLst>
              <a:ext uri="{FF2B5EF4-FFF2-40B4-BE49-F238E27FC236}">
                <a16:creationId xmlns:a16="http://schemas.microsoft.com/office/drawing/2014/main" id="{0D77BA17-B180-9889-85DC-DBE8C080CFB7}"/>
              </a:ext>
            </a:extLst>
          </p:cNvPr>
          <p:cNvSpPr>
            <a:spLocks noGrp="1"/>
          </p:cNvSpPr>
          <p:nvPr>
            <p:ph type="title" idx="4294967295"/>
          </p:nvPr>
        </p:nvSpPr>
        <p:spPr>
          <a:xfrm>
            <a:off x="699911" y="1497012"/>
            <a:ext cx="9815689" cy="1009650"/>
          </a:xfrm>
          <a:prstGeom prst="rect">
            <a:avLst/>
          </a:prstGeom>
        </p:spPr>
        <p:txBody>
          <a:bodyPr>
            <a:noAutofit/>
          </a:bodyPr>
          <a:lstStyle/>
          <a:p>
            <a:r>
              <a:rPr lang="en-US" sz="3200" dirty="0">
                <a:latin typeface="Roboto Medium"/>
                <a:ea typeface="Roboto Medium"/>
                <a:cs typeface="Roboto Medium"/>
              </a:rPr>
              <a:t>CEDAC Step 4 - Create CEDAC Diagram</a:t>
            </a:r>
          </a:p>
        </p:txBody>
      </p:sp>
      <p:sp>
        <p:nvSpPr>
          <p:cNvPr id="3" name="Content Placeholder 2">
            <a:extLst>
              <a:ext uri="{FF2B5EF4-FFF2-40B4-BE49-F238E27FC236}">
                <a16:creationId xmlns:a16="http://schemas.microsoft.com/office/drawing/2014/main" id="{30534846-F3D4-20E7-25C0-91FCF7736CB5}"/>
              </a:ext>
            </a:extLst>
          </p:cNvPr>
          <p:cNvSpPr>
            <a:spLocks noGrp="1"/>
          </p:cNvSpPr>
          <p:nvPr>
            <p:ph idx="4294967295"/>
          </p:nvPr>
        </p:nvSpPr>
        <p:spPr>
          <a:xfrm>
            <a:off x="722489" y="2506662"/>
            <a:ext cx="10515600" cy="4351338"/>
          </a:xfrm>
        </p:spPr>
        <p:txBody>
          <a:bodyPr/>
          <a:lstStyle/>
          <a:p>
            <a:pPr marL="0" indent="0">
              <a:buNone/>
            </a:pPr>
            <a:r>
              <a:rPr lang="en-US" dirty="0">
                <a:latin typeface="Roboto Medium" panose="02000000000000000000" pitchFamily="2" charset="0"/>
                <a:ea typeface="Roboto Medium" panose="02000000000000000000" pitchFamily="2" charset="0"/>
                <a:cs typeface="Roboto Medium" panose="02000000000000000000" pitchFamily="2" charset="0"/>
              </a:rPr>
              <a:t>Objectives:</a:t>
            </a:r>
          </a:p>
          <a:p>
            <a:r>
              <a:rPr lang="en-US" sz="2400" dirty="0"/>
              <a:t>Identify various formats for CEDAC and review example of each</a:t>
            </a:r>
          </a:p>
          <a:p>
            <a:r>
              <a:rPr lang="en-US" sz="2400" dirty="0"/>
              <a:t>Identify when to use each format</a:t>
            </a:r>
          </a:p>
          <a:p>
            <a:r>
              <a:rPr lang="en-US" sz="2400" dirty="0"/>
              <a:t>Identify steps to construct a Fishbone Diagram</a:t>
            </a:r>
          </a:p>
          <a:p>
            <a:r>
              <a:rPr lang="en-US" sz="2400" dirty="0"/>
              <a:t>Identify steps to construct a Process Flow Chart</a:t>
            </a:r>
          </a:p>
          <a:p>
            <a:r>
              <a:rPr lang="en-US" sz="2400" dirty="0"/>
              <a:t>Determine which format will be used for this CEDAC event</a:t>
            </a:r>
          </a:p>
        </p:txBody>
      </p:sp>
      <p:grpSp>
        <p:nvGrpSpPr>
          <p:cNvPr id="11" name="Group 10">
            <a:extLst>
              <a:ext uri="{FF2B5EF4-FFF2-40B4-BE49-F238E27FC236}">
                <a16:creationId xmlns:a16="http://schemas.microsoft.com/office/drawing/2014/main" id="{DCC7CB02-4F0E-2CE8-9EF1-D9AEB4FA2691}"/>
              </a:ext>
            </a:extLst>
          </p:cNvPr>
          <p:cNvGrpSpPr/>
          <p:nvPr/>
        </p:nvGrpSpPr>
        <p:grpSpPr>
          <a:xfrm>
            <a:off x="699911" y="837133"/>
            <a:ext cx="7273624" cy="659879"/>
            <a:chOff x="699911" y="1069861"/>
            <a:chExt cx="7273624" cy="350130"/>
          </a:xfrm>
        </p:grpSpPr>
        <p:sp>
          <p:nvSpPr>
            <p:cNvPr id="5" name="AutoShape 9">
              <a:extLst>
                <a:ext uri="{FF2B5EF4-FFF2-40B4-BE49-F238E27FC236}">
                  <a16:creationId xmlns:a16="http://schemas.microsoft.com/office/drawing/2014/main" id="{A10A2475-FBAF-2DA7-EE48-9E0556DB3824}"/>
                </a:ext>
              </a:extLst>
            </p:cNvPr>
            <p:cNvSpPr>
              <a:spLocks noChangeArrowheads="1"/>
            </p:cNvSpPr>
            <p:nvPr/>
          </p:nvSpPr>
          <p:spPr bwMode="auto">
            <a:xfrm>
              <a:off x="6395259" y="1069861"/>
              <a:ext cx="1578276" cy="350130"/>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200" dirty="0">
                  <a:solidFill>
                    <a:schemeClr val="bg1"/>
                  </a:solidFill>
                  <a:latin typeface="Roboto" panose="02000000000000000000" pitchFamily="2" charset="0"/>
                  <a:ea typeface="Roboto" panose="02000000000000000000" pitchFamily="2" charset="0"/>
                  <a:cs typeface="Roboto" panose="02000000000000000000" pitchFamily="2" charset="0"/>
                </a:rPr>
                <a:t>CEDAC Review</a:t>
              </a:r>
            </a:p>
          </p:txBody>
        </p:sp>
        <p:sp>
          <p:nvSpPr>
            <p:cNvPr id="4" name="AutoShape 9">
              <a:extLst>
                <a:ext uri="{FF2B5EF4-FFF2-40B4-BE49-F238E27FC236}">
                  <a16:creationId xmlns:a16="http://schemas.microsoft.com/office/drawing/2014/main" id="{663C2CC0-8818-6B25-BBA3-89708896610A}"/>
                </a:ext>
              </a:extLst>
            </p:cNvPr>
            <p:cNvSpPr>
              <a:spLocks noChangeArrowheads="1"/>
            </p:cNvSpPr>
            <p:nvPr/>
          </p:nvSpPr>
          <p:spPr bwMode="auto">
            <a:xfrm>
              <a:off x="4971710" y="1069861"/>
              <a:ext cx="1578276" cy="350130"/>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200" dirty="0">
                  <a:solidFill>
                    <a:schemeClr val="bg1"/>
                  </a:solidFill>
                  <a:latin typeface="Roboto" panose="02000000000000000000" pitchFamily="2" charset="0"/>
                  <a:ea typeface="Roboto" panose="02000000000000000000" pitchFamily="2" charset="0"/>
                  <a:cs typeface="Roboto" panose="02000000000000000000" pitchFamily="2" charset="0"/>
                </a:rPr>
                <a:t>CEDAC Solution</a:t>
              </a:r>
            </a:p>
          </p:txBody>
        </p:sp>
        <p:grpSp>
          <p:nvGrpSpPr>
            <p:cNvPr id="10" name="Group 9">
              <a:extLst>
                <a:ext uri="{FF2B5EF4-FFF2-40B4-BE49-F238E27FC236}">
                  <a16:creationId xmlns:a16="http://schemas.microsoft.com/office/drawing/2014/main" id="{DF07BA82-F1D2-01EE-36D7-0CE1E1021337}"/>
                </a:ext>
              </a:extLst>
            </p:cNvPr>
            <p:cNvGrpSpPr/>
            <p:nvPr/>
          </p:nvGrpSpPr>
          <p:grpSpPr>
            <a:xfrm>
              <a:off x="699911" y="1069861"/>
              <a:ext cx="4425950" cy="350130"/>
              <a:chOff x="5627530" y="641179"/>
              <a:chExt cx="6564470" cy="804977"/>
            </a:xfrm>
          </p:grpSpPr>
          <p:sp>
            <p:nvSpPr>
              <p:cNvPr id="7" name="AutoShape 9">
                <a:extLst>
                  <a:ext uri="{FF2B5EF4-FFF2-40B4-BE49-F238E27FC236}">
                    <a16:creationId xmlns:a16="http://schemas.microsoft.com/office/drawing/2014/main" id="{E658DE7F-EAE7-7BD9-8492-805CBFCFF7F5}"/>
                  </a:ext>
                </a:extLst>
              </p:cNvPr>
              <p:cNvSpPr>
                <a:spLocks noChangeArrowheads="1"/>
              </p:cNvSpPr>
              <p:nvPr/>
            </p:nvSpPr>
            <p:spPr bwMode="auto">
              <a:xfrm>
                <a:off x="9851136" y="641179"/>
                <a:ext cx="2340864" cy="804977"/>
              </a:xfrm>
              <a:prstGeom prst="homePlate">
                <a:avLst>
                  <a:gd name="adj" fmla="val 29912"/>
                </a:avLst>
              </a:prstGeom>
              <a:solidFill>
                <a:srgbClr val="FFB627"/>
              </a:solidFill>
              <a:ln w="12700" cap="sq">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r>
                  <a:rPr lang="en-US" altLang="en-US" sz="1200" dirty="0">
                    <a:latin typeface="Roboto" panose="02000000000000000000" pitchFamily="2" charset="0"/>
                    <a:ea typeface="Roboto" panose="02000000000000000000" pitchFamily="2" charset="0"/>
                  </a:rPr>
                  <a:t>CEDAC Cause</a:t>
                </a:r>
              </a:p>
            </p:txBody>
          </p:sp>
          <p:sp>
            <p:nvSpPr>
              <p:cNvPr id="8" name="AutoShape 10">
                <a:extLst>
                  <a:ext uri="{FF2B5EF4-FFF2-40B4-BE49-F238E27FC236}">
                    <a16:creationId xmlns:a16="http://schemas.microsoft.com/office/drawing/2014/main" id="{3B341166-AC1F-8D30-9314-0FB3D948387F}"/>
                  </a:ext>
                </a:extLst>
              </p:cNvPr>
              <p:cNvSpPr>
                <a:spLocks noChangeArrowheads="1"/>
              </p:cNvSpPr>
              <p:nvPr/>
            </p:nvSpPr>
            <p:spPr bwMode="auto">
              <a:xfrm>
                <a:off x="7737856" y="641180"/>
                <a:ext cx="2342768" cy="80497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r>
                  <a:rPr lang="en-US" altLang="en-US" sz="1200" dirty="0">
                    <a:solidFill>
                      <a:schemeClr val="bg1"/>
                    </a:solidFill>
                    <a:latin typeface="Roboto" panose="02000000000000000000" pitchFamily="2" charset="0"/>
                    <a:ea typeface="Roboto" panose="02000000000000000000" pitchFamily="2" charset="0"/>
                  </a:rPr>
                  <a:t>CEDAC Effect</a:t>
                </a:r>
              </a:p>
            </p:txBody>
          </p:sp>
          <p:sp>
            <p:nvSpPr>
              <p:cNvPr id="9" name="AutoShape 11">
                <a:extLst>
                  <a:ext uri="{FF2B5EF4-FFF2-40B4-BE49-F238E27FC236}">
                    <a16:creationId xmlns:a16="http://schemas.microsoft.com/office/drawing/2014/main" id="{2AB16F46-B5FA-96F3-91C2-07B2F2F1CC6C}"/>
                  </a:ext>
                </a:extLst>
              </p:cNvPr>
              <p:cNvSpPr>
                <a:spLocks noChangeArrowheads="1"/>
              </p:cNvSpPr>
              <p:nvPr/>
            </p:nvSpPr>
            <p:spPr bwMode="auto">
              <a:xfrm>
                <a:off x="5627530" y="641179"/>
                <a:ext cx="2340864" cy="804977"/>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r>
                  <a:rPr lang="en-US" altLang="en-US" sz="1200" dirty="0">
                    <a:solidFill>
                      <a:schemeClr val="bg1"/>
                    </a:solidFill>
                    <a:latin typeface="Roboto" panose="02000000000000000000" pitchFamily="2" charset="0"/>
                    <a:ea typeface="Roboto" panose="02000000000000000000" pitchFamily="2" charset="0"/>
                  </a:rPr>
                  <a:t>CEDAC Overview</a:t>
                </a:r>
              </a:p>
            </p:txBody>
          </p:sp>
        </p:grpSp>
      </p:grpSp>
      <p:cxnSp>
        <p:nvCxnSpPr>
          <p:cNvPr id="12" name="Straight Connector 11">
            <a:extLst>
              <a:ext uri="{FF2B5EF4-FFF2-40B4-BE49-F238E27FC236}">
                <a16:creationId xmlns:a16="http://schemas.microsoft.com/office/drawing/2014/main" id="{A4FB0DFD-2D15-952D-9825-996B08251FD4}"/>
              </a:ext>
            </a:extLst>
          </p:cNvPr>
          <p:cNvCxnSpPr/>
          <p:nvPr/>
        </p:nvCxnSpPr>
        <p:spPr>
          <a:xfrm>
            <a:off x="699911" y="2386919"/>
            <a:ext cx="3882975" cy="0"/>
          </a:xfrm>
          <a:prstGeom prst="line">
            <a:avLst/>
          </a:prstGeom>
          <a:ln w="254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2191353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lstStyle/>
          <a:p>
            <a:r>
              <a:rPr lang="en-US" dirty="0"/>
              <a:t>Steps of the CEDAC Process</a:t>
            </a:r>
          </a:p>
        </p:txBody>
      </p:sp>
      <p:sp>
        <p:nvSpPr>
          <p:cNvPr id="3" name="Content Placeholder 2">
            <a:extLst>
              <a:ext uri="{FF2B5EF4-FFF2-40B4-BE49-F238E27FC236}">
                <a16:creationId xmlns:a16="http://schemas.microsoft.com/office/drawing/2014/main" id="{2AA7A201-AD05-6520-E140-CCF11E59E700}"/>
              </a:ext>
            </a:extLst>
          </p:cNvPr>
          <p:cNvSpPr>
            <a:spLocks noGrp="1"/>
          </p:cNvSpPr>
          <p:nvPr>
            <p:ph idx="1"/>
          </p:nvPr>
        </p:nvSpPr>
        <p:spPr>
          <a:xfrm>
            <a:off x="3200400" y="1825625"/>
            <a:ext cx="8153400" cy="4351338"/>
          </a:xfrm>
        </p:spPr>
        <p:txBody>
          <a:bodyPr>
            <a:normAutofit fontScale="92500" lnSpcReduction="20000"/>
          </a:bodyPr>
          <a:lstStyle/>
          <a:p>
            <a:pPr marL="514350" indent="-514350">
              <a:buFont typeface="+mj-lt"/>
              <a:buAutoNum type="arabicPeriod"/>
            </a:pPr>
            <a:r>
              <a:rPr lang="en-US" dirty="0"/>
              <a:t>Define problem</a:t>
            </a:r>
          </a:p>
          <a:p>
            <a:pPr marL="514350" indent="-514350">
              <a:buFont typeface="+mj-lt"/>
              <a:buAutoNum type="arabicPeriod"/>
            </a:pPr>
            <a:r>
              <a:rPr lang="en-US" dirty="0"/>
              <a:t>Establish and validate metrics</a:t>
            </a:r>
          </a:p>
          <a:p>
            <a:pPr marL="514350" indent="-514350">
              <a:buFont typeface="+mj-lt"/>
              <a:buAutoNum type="arabicPeriod"/>
            </a:pPr>
            <a:r>
              <a:rPr lang="en-US" dirty="0"/>
              <a:t>Determine Objective Statement </a:t>
            </a:r>
          </a:p>
          <a:p>
            <a:pPr marL="514350" indent="-514350">
              <a:buFont typeface="+mj-lt"/>
              <a:buAutoNum type="arabicPeriod"/>
            </a:pPr>
            <a:r>
              <a:rPr lang="en-US" dirty="0"/>
              <a:t>Create CEDAC diagram (Flowchart, Fishbone, etc.)</a:t>
            </a:r>
          </a:p>
          <a:p>
            <a:pPr marL="514350" indent="-514350">
              <a:buFont typeface="+mj-lt"/>
              <a:buAutoNum type="arabicPeriod"/>
            </a:pPr>
            <a:r>
              <a:rPr lang="en-US" dirty="0"/>
              <a:t>Brainstorm and create FACT Cards (in yellow) and post on diagram</a:t>
            </a:r>
          </a:p>
          <a:p>
            <a:pPr marL="514350" indent="-514350">
              <a:buFont typeface="+mj-lt"/>
              <a:buAutoNum type="arabicPeriod"/>
            </a:pPr>
            <a:r>
              <a:rPr lang="en-US" dirty="0"/>
              <a:t>Brainstorm and create IMPROVEMENT Cards (in blue) and post on diagram</a:t>
            </a:r>
          </a:p>
          <a:p>
            <a:pPr marL="514350" indent="-514350">
              <a:buFont typeface="+mj-lt"/>
              <a:buAutoNum type="arabicPeriod"/>
            </a:pPr>
            <a:r>
              <a:rPr lang="en-US" dirty="0"/>
              <a:t>Take action on the IMPROVEMENT cards</a:t>
            </a:r>
          </a:p>
          <a:p>
            <a:pPr marL="514350" indent="-514350">
              <a:buFont typeface="+mj-lt"/>
              <a:buAutoNum type="arabicPeriod"/>
            </a:pPr>
            <a:r>
              <a:rPr lang="en-US" dirty="0"/>
              <a:t>Institutionalize improvements (countermeasures) that have proven to solve the problem</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48</a:t>
            </a:fld>
            <a:endParaRPr lang="en-US"/>
          </a:p>
        </p:txBody>
      </p:sp>
      <p:grpSp>
        <p:nvGrpSpPr>
          <p:cNvPr id="14" name="Group 13">
            <a:extLst>
              <a:ext uri="{FF2B5EF4-FFF2-40B4-BE49-F238E27FC236}">
                <a16:creationId xmlns:a16="http://schemas.microsoft.com/office/drawing/2014/main" id="{D41303C2-E018-19D2-0EB5-6DA73CD24807}"/>
              </a:ext>
            </a:extLst>
          </p:cNvPr>
          <p:cNvGrpSpPr/>
          <p:nvPr/>
        </p:nvGrpSpPr>
        <p:grpSpPr>
          <a:xfrm>
            <a:off x="838200" y="297639"/>
            <a:ext cx="4110990" cy="307138"/>
            <a:chOff x="838200" y="297639"/>
            <a:chExt cx="4110990" cy="307138"/>
          </a:xfrm>
        </p:grpSpPr>
        <p:grpSp>
          <p:nvGrpSpPr>
            <p:cNvPr id="15" name="Group 14">
              <a:extLst>
                <a:ext uri="{FF2B5EF4-FFF2-40B4-BE49-F238E27FC236}">
                  <a16:creationId xmlns:a16="http://schemas.microsoft.com/office/drawing/2014/main" id="{E5786EBA-3CE5-0613-28ED-FAC08B873002}"/>
                </a:ext>
              </a:extLst>
            </p:cNvPr>
            <p:cNvGrpSpPr/>
            <p:nvPr/>
          </p:nvGrpSpPr>
          <p:grpSpPr>
            <a:xfrm>
              <a:off x="838200" y="297639"/>
              <a:ext cx="1687517" cy="290657"/>
              <a:chOff x="838200" y="297639"/>
              <a:chExt cx="1687517" cy="290657"/>
            </a:xfrm>
          </p:grpSpPr>
          <p:sp>
            <p:nvSpPr>
              <p:cNvPr id="17" name="AutoShape 9">
                <a:extLst>
                  <a:ext uri="{FF2B5EF4-FFF2-40B4-BE49-F238E27FC236}">
                    <a16:creationId xmlns:a16="http://schemas.microsoft.com/office/drawing/2014/main" id="{B174F6F9-D206-07A7-A64A-B68DDBDC1860}"/>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8" name="AutoShape 9">
                <a:extLst>
                  <a:ext uri="{FF2B5EF4-FFF2-40B4-BE49-F238E27FC236}">
                    <a16:creationId xmlns:a16="http://schemas.microsoft.com/office/drawing/2014/main" id="{E8BB91E2-C1AC-FCCB-16DF-8C2FF5B3FF85}"/>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19" name="Group 18">
                <a:extLst>
                  <a:ext uri="{FF2B5EF4-FFF2-40B4-BE49-F238E27FC236}">
                    <a16:creationId xmlns:a16="http://schemas.microsoft.com/office/drawing/2014/main" id="{E2AC478D-7F21-38EF-5560-D40E7C498246}"/>
                  </a:ext>
                </a:extLst>
              </p:cNvPr>
              <p:cNvGrpSpPr/>
              <p:nvPr/>
            </p:nvGrpSpPr>
            <p:grpSpPr>
              <a:xfrm>
                <a:off x="838200" y="297639"/>
                <a:ext cx="1060167" cy="290657"/>
                <a:chOff x="826426" y="4041857"/>
                <a:chExt cx="1060167" cy="290657"/>
              </a:xfrm>
            </p:grpSpPr>
            <p:sp>
              <p:nvSpPr>
                <p:cNvPr id="20" name="AutoShape 9">
                  <a:extLst>
                    <a:ext uri="{FF2B5EF4-FFF2-40B4-BE49-F238E27FC236}">
                      <a16:creationId xmlns:a16="http://schemas.microsoft.com/office/drawing/2014/main" id="{12AB7CB1-4480-4FEE-CE6F-B4F2FA2C986A}"/>
                    </a:ext>
                  </a:extLst>
                </p:cNvPr>
                <p:cNvSpPr>
                  <a:spLocks noChangeArrowheads="1"/>
                </p:cNvSpPr>
                <p:nvPr/>
              </p:nvSpPr>
              <p:spPr bwMode="auto">
                <a:xfrm>
                  <a:off x="145377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1" name="AutoShape 11">
                  <a:extLst>
                    <a:ext uri="{FF2B5EF4-FFF2-40B4-BE49-F238E27FC236}">
                      <a16:creationId xmlns:a16="http://schemas.microsoft.com/office/drawing/2014/main" id="{AA5419CA-4052-22B2-630C-B0633134EA3A}"/>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2" name="AutoShape 10">
                  <a:extLst>
                    <a:ext uri="{FF2B5EF4-FFF2-40B4-BE49-F238E27FC236}">
                      <a16:creationId xmlns:a16="http://schemas.microsoft.com/office/drawing/2014/main" id="{CCE40F93-E620-B6AC-E23C-FC6C2C06EBAF}"/>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16" name="TextBox 15">
              <a:extLst>
                <a:ext uri="{FF2B5EF4-FFF2-40B4-BE49-F238E27FC236}">
                  <a16:creationId xmlns:a16="http://schemas.microsoft.com/office/drawing/2014/main" id="{9A4733ED-8095-60E0-242E-EA2095CF4379}"/>
                </a:ext>
              </a:extLst>
            </p:cNvPr>
            <p:cNvSpPr txBox="1"/>
            <p:nvPr/>
          </p:nvSpPr>
          <p:spPr>
            <a:xfrm>
              <a:off x="2525717" y="313415"/>
              <a:ext cx="242347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CEDAC Problem Cause</a:t>
              </a:r>
            </a:p>
          </p:txBody>
        </p:sp>
      </p:grpSp>
      <p:sp>
        <p:nvSpPr>
          <p:cNvPr id="4" name="AutoShape 4">
            <a:extLst>
              <a:ext uri="{FF2B5EF4-FFF2-40B4-BE49-F238E27FC236}">
                <a16:creationId xmlns:a16="http://schemas.microsoft.com/office/drawing/2014/main" id="{2C717994-A0D3-16DA-F97C-85BEFFB148BC}"/>
              </a:ext>
            </a:extLst>
          </p:cNvPr>
          <p:cNvSpPr>
            <a:spLocks/>
          </p:cNvSpPr>
          <p:nvPr/>
        </p:nvSpPr>
        <p:spPr bwMode="auto">
          <a:xfrm flipH="1">
            <a:off x="2898773" y="1823551"/>
            <a:ext cx="301626" cy="1111921"/>
          </a:xfrm>
          <a:prstGeom prst="rightBrace">
            <a:avLst>
              <a:gd name="adj1" fmla="val 34561"/>
              <a:gd name="adj2" fmla="val 50000"/>
            </a:avLst>
          </a:prstGeom>
          <a:noFill/>
          <a:ln w="28575" cap="sq">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5000"/>
              </a:lnSpc>
              <a:buFont typeface="Wingdings" panose="05000000000000000000" pitchFamily="2" charset="2"/>
              <a:buNone/>
            </a:pPr>
            <a:endParaRPr lang="en-US" altLang="en-US" sz="1600"/>
          </a:p>
        </p:txBody>
      </p:sp>
      <p:sp>
        <p:nvSpPr>
          <p:cNvPr id="6" name="Text Box 5">
            <a:extLst>
              <a:ext uri="{FF2B5EF4-FFF2-40B4-BE49-F238E27FC236}">
                <a16:creationId xmlns:a16="http://schemas.microsoft.com/office/drawing/2014/main" id="{BB3ABBE3-744D-E1E3-8C89-8C1459A43648}"/>
              </a:ext>
            </a:extLst>
          </p:cNvPr>
          <p:cNvSpPr txBox="1">
            <a:spLocks noChangeArrowheads="1"/>
          </p:cNvSpPr>
          <p:nvPr/>
        </p:nvSpPr>
        <p:spPr bwMode="auto">
          <a:xfrm>
            <a:off x="1015999" y="2082705"/>
            <a:ext cx="1517655" cy="3139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wrap="square">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80000"/>
              </a:lnSpc>
              <a:spcBef>
                <a:spcPct val="20000"/>
              </a:spcBef>
              <a:spcAft>
                <a:spcPct val="0"/>
              </a:spcAft>
              <a:buClrTx/>
              <a:buSzTx/>
              <a:buFontTx/>
              <a:buNone/>
            </a:pPr>
            <a:r>
              <a:rPr lang="en-US" altLang="en-US" sz="1800" dirty="0">
                <a:latin typeface="Roboto" panose="02000000000000000000" pitchFamily="2" charset="0"/>
                <a:ea typeface="Roboto" panose="02000000000000000000" pitchFamily="2" charset="0"/>
              </a:rPr>
              <a:t>The </a:t>
            </a:r>
            <a:r>
              <a:rPr lang="ja-JP" altLang="en-US" sz="1800" dirty="0">
                <a:latin typeface="Roboto" panose="02000000000000000000" pitchFamily="2" charset="0"/>
              </a:rPr>
              <a:t>“</a:t>
            </a:r>
            <a:r>
              <a:rPr lang="en-US" altLang="ja-JP" sz="1800" dirty="0">
                <a:latin typeface="Roboto" panose="02000000000000000000" pitchFamily="2" charset="0"/>
                <a:ea typeface="Roboto" panose="02000000000000000000" pitchFamily="2" charset="0"/>
              </a:rPr>
              <a:t>Effect</a:t>
            </a:r>
            <a:r>
              <a:rPr lang="ja-JP" altLang="en-US" sz="1800" dirty="0">
                <a:latin typeface="Roboto" panose="02000000000000000000" pitchFamily="2" charset="0"/>
              </a:rPr>
              <a:t>”</a:t>
            </a:r>
            <a:endParaRPr lang="en-US" altLang="en-US" sz="1800" dirty="0">
              <a:latin typeface="Roboto" panose="02000000000000000000" pitchFamily="2" charset="0"/>
              <a:ea typeface="Roboto" panose="02000000000000000000" pitchFamily="2" charset="0"/>
            </a:endParaRPr>
          </a:p>
        </p:txBody>
      </p:sp>
      <p:sp>
        <p:nvSpPr>
          <p:cNvPr id="7" name="Text Box 6">
            <a:extLst>
              <a:ext uri="{FF2B5EF4-FFF2-40B4-BE49-F238E27FC236}">
                <a16:creationId xmlns:a16="http://schemas.microsoft.com/office/drawing/2014/main" id="{A328E56B-D593-3A7D-5959-8ABD25C46B81}"/>
              </a:ext>
            </a:extLst>
          </p:cNvPr>
          <p:cNvSpPr txBox="1">
            <a:spLocks noChangeArrowheads="1"/>
          </p:cNvSpPr>
          <p:nvPr/>
        </p:nvSpPr>
        <p:spPr bwMode="auto">
          <a:xfrm>
            <a:off x="1054608" y="3161234"/>
            <a:ext cx="1568455" cy="3139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wrap="square">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80000"/>
              </a:lnSpc>
              <a:spcBef>
                <a:spcPct val="20000"/>
              </a:spcBef>
              <a:spcAft>
                <a:spcPct val="0"/>
              </a:spcAft>
              <a:buClrTx/>
              <a:buSzTx/>
              <a:buFontTx/>
              <a:buNone/>
            </a:pPr>
            <a:r>
              <a:rPr lang="en-US" altLang="en-US" sz="1800" dirty="0">
                <a:latin typeface="Roboto" panose="02000000000000000000" pitchFamily="2" charset="0"/>
                <a:ea typeface="Roboto" panose="02000000000000000000" pitchFamily="2" charset="0"/>
              </a:rPr>
              <a:t>The </a:t>
            </a:r>
            <a:r>
              <a:rPr lang="ja-JP" altLang="en-US" sz="1800" dirty="0">
                <a:latin typeface="Roboto" panose="02000000000000000000" pitchFamily="2" charset="0"/>
              </a:rPr>
              <a:t>“</a:t>
            </a:r>
            <a:r>
              <a:rPr lang="en-US" altLang="ja-JP" sz="1800" dirty="0">
                <a:latin typeface="Roboto" panose="02000000000000000000" pitchFamily="2" charset="0"/>
                <a:ea typeface="Roboto" panose="02000000000000000000" pitchFamily="2" charset="0"/>
              </a:rPr>
              <a:t>Cause</a:t>
            </a:r>
            <a:r>
              <a:rPr lang="ja-JP" altLang="en-US" sz="1800" dirty="0">
                <a:latin typeface="Roboto" panose="02000000000000000000" pitchFamily="2" charset="0"/>
              </a:rPr>
              <a:t>”</a:t>
            </a:r>
            <a:endParaRPr lang="en-US" altLang="en-US" sz="1800" dirty="0">
              <a:latin typeface="Roboto" panose="02000000000000000000" pitchFamily="2" charset="0"/>
              <a:ea typeface="Roboto" panose="02000000000000000000" pitchFamily="2" charset="0"/>
            </a:endParaRPr>
          </a:p>
        </p:txBody>
      </p:sp>
      <p:sp>
        <p:nvSpPr>
          <p:cNvPr id="8" name="Text Box 7">
            <a:extLst>
              <a:ext uri="{FF2B5EF4-FFF2-40B4-BE49-F238E27FC236}">
                <a16:creationId xmlns:a16="http://schemas.microsoft.com/office/drawing/2014/main" id="{C1C25B89-DA4A-74B2-B4EA-E52AE658D2EB}"/>
              </a:ext>
            </a:extLst>
          </p:cNvPr>
          <p:cNvSpPr txBox="1">
            <a:spLocks noChangeArrowheads="1"/>
          </p:cNvSpPr>
          <p:nvPr/>
        </p:nvSpPr>
        <p:spPr bwMode="auto">
          <a:xfrm>
            <a:off x="1015999" y="4655928"/>
            <a:ext cx="1820868" cy="5293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wrap="square">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80000"/>
              </a:lnSpc>
              <a:spcBef>
                <a:spcPct val="20000"/>
              </a:spcBef>
              <a:spcAft>
                <a:spcPct val="0"/>
              </a:spcAft>
              <a:buClrTx/>
              <a:buSzTx/>
              <a:buFontTx/>
              <a:buNone/>
            </a:pPr>
            <a:r>
              <a:rPr lang="en-US" altLang="en-US" sz="1800" dirty="0">
                <a:latin typeface="Roboto" panose="02000000000000000000" pitchFamily="2" charset="0"/>
                <a:ea typeface="Roboto" panose="02000000000000000000" pitchFamily="2" charset="0"/>
              </a:rPr>
              <a:t>The </a:t>
            </a:r>
            <a:r>
              <a:rPr lang="ja-JP" altLang="en-US" sz="1800" dirty="0">
                <a:latin typeface="Roboto" panose="02000000000000000000" pitchFamily="2" charset="0"/>
              </a:rPr>
              <a:t>“</a:t>
            </a:r>
            <a:r>
              <a:rPr lang="en-US" altLang="ja-JP" sz="1800" dirty="0">
                <a:latin typeface="Roboto" panose="02000000000000000000" pitchFamily="2" charset="0"/>
                <a:ea typeface="Roboto" panose="02000000000000000000" pitchFamily="2" charset="0"/>
              </a:rPr>
              <a:t>Solution</a:t>
            </a:r>
            <a:r>
              <a:rPr lang="ja-JP" altLang="en-US" sz="1800" dirty="0">
                <a:latin typeface="Roboto" panose="02000000000000000000" pitchFamily="2" charset="0"/>
              </a:rPr>
              <a:t>”</a:t>
            </a:r>
            <a:endParaRPr lang="en-US" altLang="ja-JP" sz="1800" dirty="0">
              <a:latin typeface="Roboto" panose="02000000000000000000" pitchFamily="2" charset="0"/>
              <a:ea typeface="Roboto" panose="02000000000000000000" pitchFamily="2" charset="0"/>
            </a:endParaRPr>
          </a:p>
          <a:p>
            <a:pPr>
              <a:lnSpc>
                <a:spcPct val="80000"/>
              </a:lnSpc>
              <a:spcBef>
                <a:spcPct val="20000"/>
              </a:spcBef>
              <a:spcAft>
                <a:spcPct val="0"/>
              </a:spcAft>
              <a:buClrTx/>
              <a:buSzTx/>
              <a:buFontTx/>
              <a:buNone/>
            </a:pPr>
            <a:r>
              <a:rPr lang="en-US" altLang="en-US" sz="1400" dirty="0">
                <a:latin typeface="Roboto" panose="02000000000000000000" pitchFamily="2" charset="0"/>
                <a:ea typeface="Roboto" panose="02000000000000000000" pitchFamily="2" charset="0"/>
              </a:rPr>
              <a:t>(countermeasures)</a:t>
            </a:r>
          </a:p>
        </p:txBody>
      </p:sp>
      <p:sp>
        <p:nvSpPr>
          <p:cNvPr id="9" name="AutoShape 8">
            <a:extLst>
              <a:ext uri="{FF2B5EF4-FFF2-40B4-BE49-F238E27FC236}">
                <a16:creationId xmlns:a16="http://schemas.microsoft.com/office/drawing/2014/main" id="{522701E4-0150-E859-6D9E-FED001303A36}"/>
              </a:ext>
            </a:extLst>
          </p:cNvPr>
          <p:cNvSpPr>
            <a:spLocks/>
          </p:cNvSpPr>
          <p:nvPr/>
        </p:nvSpPr>
        <p:spPr bwMode="auto">
          <a:xfrm flipH="1">
            <a:off x="2898773" y="3045104"/>
            <a:ext cx="301626" cy="685422"/>
          </a:xfrm>
          <a:prstGeom prst="rightBrace">
            <a:avLst>
              <a:gd name="adj1" fmla="val 19123"/>
              <a:gd name="adj2" fmla="val 50000"/>
            </a:avLst>
          </a:prstGeom>
          <a:noFill/>
          <a:ln w="28575" cap="sq">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5000"/>
              </a:lnSpc>
              <a:buFont typeface="Wingdings" panose="05000000000000000000" pitchFamily="2" charset="2"/>
              <a:buNone/>
            </a:pPr>
            <a:endParaRPr lang="en-US" altLang="en-US" sz="1600"/>
          </a:p>
        </p:txBody>
      </p:sp>
      <p:sp>
        <p:nvSpPr>
          <p:cNvPr id="10" name="AutoShape 9">
            <a:extLst>
              <a:ext uri="{FF2B5EF4-FFF2-40B4-BE49-F238E27FC236}">
                <a16:creationId xmlns:a16="http://schemas.microsoft.com/office/drawing/2014/main" id="{35E8A71A-28DB-67DD-4CED-54BA17786406}"/>
              </a:ext>
            </a:extLst>
          </p:cNvPr>
          <p:cNvSpPr>
            <a:spLocks/>
          </p:cNvSpPr>
          <p:nvPr/>
        </p:nvSpPr>
        <p:spPr bwMode="auto">
          <a:xfrm flipH="1">
            <a:off x="2898773" y="4160521"/>
            <a:ext cx="301626" cy="1520190"/>
          </a:xfrm>
          <a:prstGeom prst="rightBrace">
            <a:avLst>
              <a:gd name="adj1" fmla="val 42412"/>
              <a:gd name="adj2" fmla="val 50000"/>
            </a:avLst>
          </a:prstGeom>
          <a:noFill/>
          <a:ln w="28575" cap="sq">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5000"/>
              </a:lnSpc>
              <a:buFont typeface="Wingdings" panose="05000000000000000000" pitchFamily="2" charset="2"/>
              <a:buNone/>
            </a:pPr>
            <a:endParaRPr lang="en-US" altLang="en-US" sz="1600"/>
          </a:p>
        </p:txBody>
      </p:sp>
      <p:sp>
        <p:nvSpPr>
          <p:cNvPr id="11" name="Rectangle 10">
            <a:extLst>
              <a:ext uri="{FF2B5EF4-FFF2-40B4-BE49-F238E27FC236}">
                <a16:creationId xmlns:a16="http://schemas.microsoft.com/office/drawing/2014/main" id="{B6A14166-925E-815D-420A-2FFA7F5E726F}"/>
              </a:ext>
            </a:extLst>
          </p:cNvPr>
          <p:cNvSpPr/>
          <p:nvPr/>
        </p:nvSpPr>
        <p:spPr>
          <a:xfrm>
            <a:off x="3200399" y="2960257"/>
            <a:ext cx="8023861" cy="438337"/>
          </a:xfrm>
          <a:prstGeom prst="rect">
            <a:avLst/>
          </a:prstGeom>
          <a:no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52944884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normAutofit/>
          </a:bodyPr>
          <a:lstStyle/>
          <a:p>
            <a:r>
              <a:rPr lang="en-US" sz="4000" dirty="0"/>
              <a:t>Various Formats for CEDAC</a:t>
            </a:r>
          </a:p>
        </p:txBody>
      </p:sp>
      <p:sp>
        <p:nvSpPr>
          <p:cNvPr id="3" name="Content Placeholder 2">
            <a:extLst>
              <a:ext uri="{FF2B5EF4-FFF2-40B4-BE49-F238E27FC236}">
                <a16:creationId xmlns:a16="http://schemas.microsoft.com/office/drawing/2014/main" id="{2AA7A201-AD05-6520-E140-CCF11E59E700}"/>
              </a:ext>
            </a:extLst>
          </p:cNvPr>
          <p:cNvSpPr>
            <a:spLocks noGrp="1"/>
          </p:cNvSpPr>
          <p:nvPr>
            <p:ph idx="1"/>
          </p:nvPr>
        </p:nvSpPr>
        <p:spPr/>
        <p:txBody>
          <a:bodyPr>
            <a:normAutofit/>
          </a:bodyPr>
          <a:lstStyle/>
          <a:p>
            <a:r>
              <a:rPr lang="en-US" sz="3200" dirty="0"/>
              <a:t>Fishbone (Ishikawa) diagram</a:t>
            </a:r>
          </a:p>
          <a:p>
            <a:r>
              <a:rPr lang="en-US" sz="3200" dirty="0"/>
              <a:t>Process flow map</a:t>
            </a:r>
          </a:p>
          <a:p>
            <a:r>
              <a:rPr lang="en-US" sz="3200" dirty="0"/>
              <a:t>Diagram of product</a:t>
            </a:r>
          </a:p>
          <a:p>
            <a:r>
              <a:rPr lang="en-US" sz="3200" dirty="0"/>
              <a:t>Diagram (layout) of work area</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49</a:t>
            </a:fld>
            <a:endParaRPr lang="en-US"/>
          </a:p>
        </p:txBody>
      </p:sp>
      <p:grpSp>
        <p:nvGrpSpPr>
          <p:cNvPr id="14" name="Group 13">
            <a:extLst>
              <a:ext uri="{FF2B5EF4-FFF2-40B4-BE49-F238E27FC236}">
                <a16:creationId xmlns:a16="http://schemas.microsoft.com/office/drawing/2014/main" id="{94A7E9DA-C710-9A50-DE98-FB545193D022}"/>
              </a:ext>
            </a:extLst>
          </p:cNvPr>
          <p:cNvGrpSpPr/>
          <p:nvPr/>
        </p:nvGrpSpPr>
        <p:grpSpPr>
          <a:xfrm>
            <a:off x="838200" y="297639"/>
            <a:ext cx="4110990" cy="307138"/>
            <a:chOff x="838200" y="297639"/>
            <a:chExt cx="4110990" cy="307138"/>
          </a:xfrm>
        </p:grpSpPr>
        <p:grpSp>
          <p:nvGrpSpPr>
            <p:cNvPr id="15" name="Group 14">
              <a:extLst>
                <a:ext uri="{FF2B5EF4-FFF2-40B4-BE49-F238E27FC236}">
                  <a16:creationId xmlns:a16="http://schemas.microsoft.com/office/drawing/2014/main" id="{7E3FA7AC-ED64-BC4D-B5F3-517192A96304}"/>
                </a:ext>
              </a:extLst>
            </p:cNvPr>
            <p:cNvGrpSpPr/>
            <p:nvPr/>
          </p:nvGrpSpPr>
          <p:grpSpPr>
            <a:xfrm>
              <a:off x="838200" y="297639"/>
              <a:ext cx="1687517" cy="290657"/>
              <a:chOff x="838200" y="297639"/>
              <a:chExt cx="1687517" cy="290657"/>
            </a:xfrm>
          </p:grpSpPr>
          <p:sp>
            <p:nvSpPr>
              <p:cNvPr id="17" name="AutoShape 9">
                <a:extLst>
                  <a:ext uri="{FF2B5EF4-FFF2-40B4-BE49-F238E27FC236}">
                    <a16:creationId xmlns:a16="http://schemas.microsoft.com/office/drawing/2014/main" id="{EE35564A-9A78-E652-8FF4-980E60BBEC89}"/>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8" name="AutoShape 9">
                <a:extLst>
                  <a:ext uri="{FF2B5EF4-FFF2-40B4-BE49-F238E27FC236}">
                    <a16:creationId xmlns:a16="http://schemas.microsoft.com/office/drawing/2014/main" id="{6B9ED52B-720A-571B-A67A-C1924442DA36}"/>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19" name="Group 18">
                <a:extLst>
                  <a:ext uri="{FF2B5EF4-FFF2-40B4-BE49-F238E27FC236}">
                    <a16:creationId xmlns:a16="http://schemas.microsoft.com/office/drawing/2014/main" id="{54B4FCA1-7084-527D-38DF-A51912CB4BB9}"/>
                  </a:ext>
                </a:extLst>
              </p:cNvPr>
              <p:cNvGrpSpPr/>
              <p:nvPr/>
            </p:nvGrpSpPr>
            <p:grpSpPr>
              <a:xfrm>
                <a:off x="838200" y="297639"/>
                <a:ext cx="1060167" cy="290657"/>
                <a:chOff x="826426" y="4041857"/>
                <a:chExt cx="1060167" cy="290657"/>
              </a:xfrm>
            </p:grpSpPr>
            <p:sp>
              <p:nvSpPr>
                <p:cNvPr id="20" name="AutoShape 9">
                  <a:extLst>
                    <a:ext uri="{FF2B5EF4-FFF2-40B4-BE49-F238E27FC236}">
                      <a16:creationId xmlns:a16="http://schemas.microsoft.com/office/drawing/2014/main" id="{2327D17C-A5C6-234D-3D5F-B6C01E45BD98}"/>
                    </a:ext>
                  </a:extLst>
                </p:cNvPr>
                <p:cNvSpPr>
                  <a:spLocks noChangeArrowheads="1"/>
                </p:cNvSpPr>
                <p:nvPr/>
              </p:nvSpPr>
              <p:spPr bwMode="auto">
                <a:xfrm>
                  <a:off x="145377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1" name="AutoShape 11">
                  <a:extLst>
                    <a:ext uri="{FF2B5EF4-FFF2-40B4-BE49-F238E27FC236}">
                      <a16:creationId xmlns:a16="http://schemas.microsoft.com/office/drawing/2014/main" id="{2486708D-C9D1-3EEA-91CB-70C19E4A707C}"/>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2" name="AutoShape 10">
                  <a:extLst>
                    <a:ext uri="{FF2B5EF4-FFF2-40B4-BE49-F238E27FC236}">
                      <a16:creationId xmlns:a16="http://schemas.microsoft.com/office/drawing/2014/main" id="{B3F23951-87AA-49A5-9BF4-59BF619273DE}"/>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16" name="TextBox 15">
              <a:extLst>
                <a:ext uri="{FF2B5EF4-FFF2-40B4-BE49-F238E27FC236}">
                  <a16:creationId xmlns:a16="http://schemas.microsoft.com/office/drawing/2014/main" id="{0B3CDCE0-D50B-A992-50D5-C00E9EF5705F}"/>
                </a:ext>
              </a:extLst>
            </p:cNvPr>
            <p:cNvSpPr txBox="1"/>
            <p:nvPr/>
          </p:nvSpPr>
          <p:spPr>
            <a:xfrm>
              <a:off x="2525717" y="313415"/>
              <a:ext cx="242347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CEDAC Problem Cause</a:t>
              </a:r>
            </a:p>
          </p:txBody>
        </p:sp>
      </p:grpSp>
    </p:spTree>
    <p:extLst>
      <p:ext uri="{BB962C8B-B14F-4D97-AF65-F5344CB8AC3E}">
        <p14:creationId xmlns:p14="http://schemas.microsoft.com/office/powerpoint/2010/main" val="142389296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normAutofit/>
          </a:bodyPr>
          <a:lstStyle/>
          <a:p>
            <a:r>
              <a:rPr lang="en-US" sz="4000" dirty="0"/>
              <a:t>CEDAC Format #1 - Fishbone</a:t>
            </a:r>
          </a:p>
        </p:txBody>
      </p:sp>
      <p:sp>
        <p:nvSpPr>
          <p:cNvPr id="3" name="Content Placeholder 2">
            <a:extLst>
              <a:ext uri="{FF2B5EF4-FFF2-40B4-BE49-F238E27FC236}">
                <a16:creationId xmlns:a16="http://schemas.microsoft.com/office/drawing/2014/main" id="{2AA7A201-AD05-6520-E140-CCF11E59E700}"/>
              </a:ext>
            </a:extLst>
          </p:cNvPr>
          <p:cNvSpPr>
            <a:spLocks noGrp="1"/>
          </p:cNvSpPr>
          <p:nvPr>
            <p:ph idx="1"/>
          </p:nvPr>
        </p:nvSpPr>
        <p:spPr/>
        <p:txBody>
          <a:bodyPr>
            <a:normAutofit/>
          </a:bodyPr>
          <a:lstStyle/>
          <a:p>
            <a:pPr marL="0" indent="0">
              <a:buNone/>
            </a:pPr>
            <a:r>
              <a:rPr lang="en-US" sz="3200" dirty="0"/>
              <a:t>Fishbone diagram</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50</a:t>
            </a:fld>
            <a:endParaRPr lang="en-US"/>
          </a:p>
        </p:txBody>
      </p:sp>
      <p:grpSp>
        <p:nvGrpSpPr>
          <p:cNvPr id="14" name="Group 13">
            <a:extLst>
              <a:ext uri="{FF2B5EF4-FFF2-40B4-BE49-F238E27FC236}">
                <a16:creationId xmlns:a16="http://schemas.microsoft.com/office/drawing/2014/main" id="{94A7E9DA-C710-9A50-DE98-FB545193D022}"/>
              </a:ext>
            </a:extLst>
          </p:cNvPr>
          <p:cNvGrpSpPr/>
          <p:nvPr/>
        </p:nvGrpSpPr>
        <p:grpSpPr>
          <a:xfrm>
            <a:off x="838200" y="297639"/>
            <a:ext cx="4110990" cy="307138"/>
            <a:chOff x="838200" y="297639"/>
            <a:chExt cx="4110990" cy="307138"/>
          </a:xfrm>
        </p:grpSpPr>
        <p:grpSp>
          <p:nvGrpSpPr>
            <p:cNvPr id="15" name="Group 14">
              <a:extLst>
                <a:ext uri="{FF2B5EF4-FFF2-40B4-BE49-F238E27FC236}">
                  <a16:creationId xmlns:a16="http://schemas.microsoft.com/office/drawing/2014/main" id="{7E3FA7AC-ED64-BC4D-B5F3-517192A96304}"/>
                </a:ext>
              </a:extLst>
            </p:cNvPr>
            <p:cNvGrpSpPr/>
            <p:nvPr/>
          </p:nvGrpSpPr>
          <p:grpSpPr>
            <a:xfrm>
              <a:off x="838200" y="297639"/>
              <a:ext cx="1687517" cy="290657"/>
              <a:chOff x="838200" y="297639"/>
              <a:chExt cx="1687517" cy="290657"/>
            </a:xfrm>
          </p:grpSpPr>
          <p:sp>
            <p:nvSpPr>
              <p:cNvPr id="17" name="AutoShape 9">
                <a:extLst>
                  <a:ext uri="{FF2B5EF4-FFF2-40B4-BE49-F238E27FC236}">
                    <a16:creationId xmlns:a16="http://schemas.microsoft.com/office/drawing/2014/main" id="{EE35564A-9A78-E652-8FF4-980E60BBEC89}"/>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8" name="AutoShape 9">
                <a:extLst>
                  <a:ext uri="{FF2B5EF4-FFF2-40B4-BE49-F238E27FC236}">
                    <a16:creationId xmlns:a16="http://schemas.microsoft.com/office/drawing/2014/main" id="{6B9ED52B-720A-571B-A67A-C1924442DA36}"/>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19" name="Group 18">
                <a:extLst>
                  <a:ext uri="{FF2B5EF4-FFF2-40B4-BE49-F238E27FC236}">
                    <a16:creationId xmlns:a16="http://schemas.microsoft.com/office/drawing/2014/main" id="{54B4FCA1-7084-527D-38DF-A51912CB4BB9}"/>
                  </a:ext>
                </a:extLst>
              </p:cNvPr>
              <p:cNvGrpSpPr/>
              <p:nvPr/>
            </p:nvGrpSpPr>
            <p:grpSpPr>
              <a:xfrm>
                <a:off x="838200" y="297639"/>
                <a:ext cx="1060167" cy="290657"/>
                <a:chOff x="826426" y="4041857"/>
                <a:chExt cx="1060167" cy="290657"/>
              </a:xfrm>
            </p:grpSpPr>
            <p:sp>
              <p:nvSpPr>
                <p:cNvPr id="20" name="AutoShape 9">
                  <a:extLst>
                    <a:ext uri="{FF2B5EF4-FFF2-40B4-BE49-F238E27FC236}">
                      <a16:creationId xmlns:a16="http://schemas.microsoft.com/office/drawing/2014/main" id="{2327D17C-A5C6-234D-3D5F-B6C01E45BD98}"/>
                    </a:ext>
                  </a:extLst>
                </p:cNvPr>
                <p:cNvSpPr>
                  <a:spLocks noChangeArrowheads="1"/>
                </p:cNvSpPr>
                <p:nvPr/>
              </p:nvSpPr>
              <p:spPr bwMode="auto">
                <a:xfrm>
                  <a:off x="145377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1" name="AutoShape 11">
                  <a:extLst>
                    <a:ext uri="{FF2B5EF4-FFF2-40B4-BE49-F238E27FC236}">
                      <a16:creationId xmlns:a16="http://schemas.microsoft.com/office/drawing/2014/main" id="{2486708D-C9D1-3EEA-91CB-70C19E4A707C}"/>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2" name="AutoShape 10">
                  <a:extLst>
                    <a:ext uri="{FF2B5EF4-FFF2-40B4-BE49-F238E27FC236}">
                      <a16:creationId xmlns:a16="http://schemas.microsoft.com/office/drawing/2014/main" id="{B3F23951-87AA-49A5-9BF4-59BF619273DE}"/>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16" name="TextBox 15">
              <a:extLst>
                <a:ext uri="{FF2B5EF4-FFF2-40B4-BE49-F238E27FC236}">
                  <a16:creationId xmlns:a16="http://schemas.microsoft.com/office/drawing/2014/main" id="{0B3CDCE0-D50B-A992-50D5-C00E9EF5705F}"/>
                </a:ext>
              </a:extLst>
            </p:cNvPr>
            <p:cNvSpPr txBox="1"/>
            <p:nvPr/>
          </p:nvSpPr>
          <p:spPr>
            <a:xfrm>
              <a:off x="2525717" y="313415"/>
              <a:ext cx="242347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CEDAC Problem Cause</a:t>
              </a:r>
            </a:p>
          </p:txBody>
        </p:sp>
      </p:grpSp>
      <p:pic>
        <p:nvPicPr>
          <p:cNvPr id="4" name="Picture 17" descr="CEDAC">
            <a:extLst>
              <a:ext uri="{FF2B5EF4-FFF2-40B4-BE49-F238E27FC236}">
                <a16:creationId xmlns:a16="http://schemas.microsoft.com/office/drawing/2014/main" id="{AB794E0D-E102-B218-1539-5BD7AA3BD7A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5014" y="2517775"/>
            <a:ext cx="5607273" cy="34029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3" name="Group 12">
            <a:extLst>
              <a:ext uri="{FF2B5EF4-FFF2-40B4-BE49-F238E27FC236}">
                <a16:creationId xmlns:a16="http://schemas.microsoft.com/office/drawing/2014/main" id="{FDB0EBAE-D458-D58C-899E-4F2DC285E99B}"/>
              </a:ext>
            </a:extLst>
          </p:cNvPr>
          <p:cNvGrpSpPr/>
          <p:nvPr/>
        </p:nvGrpSpPr>
        <p:grpSpPr>
          <a:xfrm>
            <a:off x="6362286" y="2068831"/>
            <a:ext cx="5342034" cy="4108132"/>
            <a:chOff x="6362287" y="2356803"/>
            <a:chExt cx="3814762" cy="3427413"/>
          </a:xfrm>
        </p:grpSpPr>
        <p:sp>
          <p:nvSpPr>
            <p:cNvPr id="6" name="AutoShape 4">
              <a:extLst>
                <a:ext uri="{FF2B5EF4-FFF2-40B4-BE49-F238E27FC236}">
                  <a16:creationId xmlns:a16="http://schemas.microsoft.com/office/drawing/2014/main" id="{DC937348-E61E-394F-3CF7-E763C45EF8D8}"/>
                </a:ext>
              </a:extLst>
            </p:cNvPr>
            <p:cNvSpPr>
              <a:spLocks/>
            </p:cNvSpPr>
            <p:nvPr/>
          </p:nvSpPr>
          <p:spPr bwMode="auto">
            <a:xfrm>
              <a:off x="8392699" y="4080828"/>
              <a:ext cx="152400" cy="914400"/>
            </a:xfrm>
            <a:prstGeom prst="rightBrace">
              <a:avLst>
                <a:gd name="adj1" fmla="val 50000"/>
                <a:gd name="adj2" fmla="val 41843"/>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5000"/>
                </a:lnSpc>
                <a:buFont typeface="Wingdings" panose="05000000000000000000" pitchFamily="2" charset="2"/>
                <a:buNone/>
              </a:pPr>
              <a:endParaRPr lang="en-US" altLang="en-US" sz="1600">
                <a:latin typeface="Roboto" panose="02000000000000000000" pitchFamily="2" charset="0"/>
                <a:ea typeface="Roboto" panose="02000000000000000000" pitchFamily="2" charset="0"/>
              </a:endParaRPr>
            </a:p>
          </p:txBody>
        </p:sp>
        <p:sp>
          <p:nvSpPr>
            <p:cNvPr id="7" name="Rectangle 7">
              <a:extLst>
                <a:ext uri="{FF2B5EF4-FFF2-40B4-BE49-F238E27FC236}">
                  <a16:creationId xmlns:a16="http://schemas.microsoft.com/office/drawing/2014/main" id="{940F9C6D-C4FC-5F18-1112-52035984C4B3}"/>
                </a:ext>
              </a:extLst>
            </p:cNvPr>
            <p:cNvSpPr>
              <a:spLocks noChangeArrowheads="1"/>
            </p:cNvSpPr>
            <p:nvPr/>
          </p:nvSpPr>
          <p:spPr bwMode="auto">
            <a:xfrm>
              <a:off x="6892512" y="2356803"/>
              <a:ext cx="3268662" cy="307975"/>
            </a:xfrm>
            <a:prstGeom prst="rect">
              <a:avLst/>
            </a:prstGeom>
            <a:solidFill>
              <a:schemeClr val="accent1"/>
            </a:solidFill>
            <a:ln w="12700" cap="sq">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rPr>
                <a:t>Definition</a:t>
              </a:r>
            </a:p>
          </p:txBody>
        </p:sp>
        <p:sp>
          <p:nvSpPr>
            <p:cNvPr id="8" name="Rectangle 8">
              <a:extLst>
                <a:ext uri="{FF2B5EF4-FFF2-40B4-BE49-F238E27FC236}">
                  <a16:creationId xmlns:a16="http://schemas.microsoft.com/office/drawing/2014/main" id="{C48BA631-A3D0-90D3-120D-904A61934538}"/>
                </a:ext>
              </a:extLst>
            </p:cNvPr>
            <p:cNvSpPr>
              <a:spLocks noChangeArrowheads="1"/>
            </p:cNvSpPr>
            <p:nvPr/>
          </p:nvSpPr>
          <p:spPr bwMode="auto">
            <a:xfrm>
              <a:off x="6892512" y="4233228"/>
              <a:ext cx="3282950" cy="307975"/>
            </a:xfrm>
            <a:prstGeom prst="rect">
              <a:avLst/>
            </a:prstGeom>
            <a:solidFill>
              <a:schemeClr val="accent1"/>
            </a:solidFill>
            <a:ln w="12700" cap="sq">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600">
                  <a:solidFill>
                    <a:schemeClr val="bg1"/>
                  </a:solidFill>
                  <a:latin typeface="Roboto" panose="02000000000000000000" pitchFamily="2" charset="0"/>
                  <a:ea typeface="Roboto" panose="02000000000000000000" pitchFamily="2" charset="0"/>
                </a:rPr>
                <a:t>When to Use</a:t>
              </a:r>
            </a:p>
          </p:txBody>
        </p:sp>
        <p:sp>
          <p:nvSpPr>
            <p:cNvPr id="9" name="Rectangle 9">
              <a:extLst>
                <a:ext uri="{FF2B5EF4-FFF2-40B4-BE49-F238E27FC236}">
                  <a16:creationId xmlns:a16="http://schemas.microsoft.com/office/drawing/2014/main" id="{7A377FAC-C321-E827-6663-09AAE3C6C661}"/>
                </a:ext>
              </a:extLst>
            </p:cNvPr>
            <p:cNvSpPr>
              <a:spLocks noChangeArrowheads="1"/>
            </p:cNvSpPr>
            <p:nvPr/>
          </p:nvSpPr>
          <p:spPr bwMode="auto">
            <a:xfrm>
              <a:off x="6798849" y="2710816"/>
              <a:ext cx="3376613" cy="1216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nSpc>
                  <a:spcPct val="115000"/>
                </a:lnSpc>
                <a:spcBef>
                  <a:spcPct val="50000"/>
                </a:spcBef>
                <a:spcAft>
                  <a:spcPct val="50000"/>
                </a:spcAft>
                <a:buClr>
                  <a:srgbClr val="006699"/>
                </a:buClr>
                <a:buSzPct val="90000"/>
                <a:buFont typeface="Wingdings" panose="05000000000000000000" pitchFamily="2" charset="2"/>
                <a:buChar char="§"/>
                <a:tabLst>
                  <a:tab pos="3086100" algn="l"/>
                </a:tabLst>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tabLst>
                  <a:tab pos="3086100" algn="l"/>
                </a:tabLst>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tabLst>
                  <a:tab pos="3086100" algn="l"/>
                </a:tabLst>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9pPr>
            </a:lstStyle>
            <a:p>
              <a:pPr eaLnBrk="1" hangingPunct="1">
                <a:spcBef>
                  <a:spcPct val="30000"/>
                </a:spcBef>
                <a:spcAft>
                  <a:spcPct val="0"/>
                </a:spcAft>
                <a:buClr>
                  <a:schemeClr val="tx1"/>
                </a:buClr>
                <a:buFont typeface="Arial" panose="020B0604020202020204" pitchFamily="34" charset="0"/>
                <a:buChar char="•"/>
              </a:pPr>
              <a:r>
                <a:rPr lang="en-US" altLang="en-US" sz="1800" dirty="0">
                  <a:latin typeface="Roboto" panose="02000000000000000000" pitchFamily="2" charset="0"/>
                  <a:ea typeface="Roboto" panose="02000000000000000000" pitchFamily="2" charset="0"/>
                </a:rPr>
                <a:t>Consolidates a succinct picture of cause and effect relationships</a:t>
              </a:r>
            </a:p>
            <a:p>
              <a:pPr eaLnBrk="1" hangingPunct="1">
                <a:spcBef>
                  <a:spcPct val="30000"/>
                </a:spcBef>
                <a:spcAft>
                  <a:spcPct val="0"/>
                </a:spcAft>
                <a:buClr>
                  <a:schemeClr val="tx1"/>
                </a:buClr>
                <a:buFont typeface="Arial" panose="020B0604020202020204" pitchFamily="34" charset="0"/>
                <a:buChar char="•"/>
              </a:pPr>
              <a:r>
                <a:rPr lang="en-US" altLang="en-US" sz="1800" dirty="0">
                  <a:latin typeface="Roboto" panose="02000000000000000000" pitchFamily="2" charset="0"/>
                  <a:ea typeface="Roboto" panose="02000000000000000000" pitchFamily="2" charset="0"/>
                </a:rPr>
                <a:t>Uses major categories to stimulate possible causes</a:t>
              </a:r>
            </a:p>
            <a:p>
              <a:pPr eaLnBrk="1" hangingPunct="1">
                <a:spcBef>
                  <a:spcPct val="30000"/>
                </a:spcBef>
                <a:spcAft>
                  <a:spcPct val="0"/>
                </a:spcAft>
                <a:buClr>
                  <a:schemeClr val="tx1"/>
                </a:buClr>
                <a:buFont typeface="Arial" panose="020B0604020202020204" pitchFamily="34" charset="0"/>
                <a:buChar char="•"/>
              </a:pPr>
              <a:r>
                <a:rPr lang="en-US" altLang="en-US" sz="1800" dirty="0">
                  <a:latin typeface="Roboto" panose="02000000000000000000" pitchFamily="2" charset="0"/>
                  <a:ea typeface="Roboto" panose="02000000000000000000" pitchFamily="2" charset="0"/>
                </a:rPr>
                <a:t>Identifies root causes</a:t>
              </a:r>
            </a:p>
          </p:txBody>
        </p:sp>
        <p:cxnSp>
          <p:nvCxnSpPr>
            <p:cNvPr id="10" name="AutoShape 10">
              <a:extLst>
                <a:ext uri="{FF2B5EF4-FFF2-40B4-BE49-F238E27FC236}">
                  <a16:creationId xmlns:a16="http://schemas.microsoft.com/office/drawing/2014/main" id="{DCDED68E-B410-705D-DD6E-7DBC5AD8619F}"/>
                </a:ext>
              </a:extLst>
            </p:cNvPr>
            <p:cNvCxnSpPr>
              <a:cxnSpLocks noChangeShapeType="1"/>
              <a:endCxn id="7" idx="1"/>
            </p:cNvCxnSpPr>
            <p:nvPr/>
          </p:nvCxnSpPr>
          <p:spPr bwMode="auto">
            <a:xfrm flipV="1">
              <a:off x="6362287" y="2510791"/>
              <a:ext cx="530225" cy="1647825"/>
            </a:xfrm>
            <a:prstGeom prst="bentConnector3">
              <a:avLst>
                <a:gd name="adj1" fmla="val 48801"/>
              </a:avLst>
            </a:prstGeom>
            <a:noFill/>
            <a:ln w="19050" cap="sq">
              <a:solidFill>
                <a:schemeClr val="tx1"/>
              </a:solidFill>
              <a:miter lim="800000"/>
              <a:headEnd/>
              <a:tailEnd type="triangle" w="med" len="med"/>
            </a:ln>
            <a:extLst>
              <a:ext uri="{909E8E84-426E-40DD-AFC4-6F175D3DCCD1}">
                <a14:hiddenFill xmlns:a14="http://schemas.microsoft.com/office/drawing/2010/main">
                  <a:noFill/>
                </a14:hiddenFill>
              </a:ext>
            </a:extLst>
          </p:spPr>
        </p:cxnSp>
        <p:cxnSp>
          <p:nvCxnSpPr>
            <p:cNvPr id="11" name="AutoShape 11">
              <a:extLst>
                <a:ext uri="{FF2B5EF4-FFF2-40B4-BE49-F238E27FC236}">
                  <a16:creationId xmlns:a16="http://schemas.microsoft.com/office/drawing/2014/main" id="{B4DC29AB-9914-BA01-D007-FD5EE9029EA4}"/>
                </a:ext>
              </a:extLst>
            </p:cNvPr>
            <p:cNvCxnSpPr>
              <a:cxnSpLocks noChangeShapeType="1"/>
              <a:endCxn id="8" idx="1"/>
            </p:cNvCxnSpPr>
            <p:nvPr/>
          </p:nvCxnSpPr>
          <p:spPr bwMode="auto">
            <a:xfrm>
              <a:off x="6362287" y="4158616"/>
              <a:ext cx="530225" cy="228600"/>
            </a:xfrm>
            <a:prstGeom prst="bentConnector3">
              <a:avLst>
                <a:gd name="adj1" fmla="val 48801"/>
              </a:avLst>
            </a:prstGeom>
            <a:noFill/>
            <a:ln w="19050" cap="sq">
              <a:solidFill>
                <a:schemeClr val="tx1"/>
              </a:solidFill>
              <a:miter lim="800000"/>
              <a:headEnd/>
              <a:tailEnd type="triangle" w="med" len="med"/>
            </a:ln>
            <a:extLst>
              <a:ext uri="{909E8E84-426E-40DD-AFC4-6F175D3DCCD1}">
                <a14:hiddenFill xmlns:a14="http://schemas.microsoft.com/office/drawing/2010/main">
                  <a:noFill/>
                </a14:hiddenFill>
              </a:ext>
            </a:extLst>
          </p:spPr>
        </p:cxnSp>
        <p:sp>
          <p:nvSpPr>
            <p:cNvPr id="12" name="Rectangle 12">
              <a:extLst>
                <a:ext uri="{FF2B5EF4-FFF2-40B4-BE49-F238E27FC236}">
                  <a16:creationId xmlns:a16="http://schemas.microsoft.com/office/drawing/2014/main" id="{C5A52EBC-222D-C847-471C-60CE5C4DCDFB}"/>
                </a:ext>
              </a:extLst>
            </p:cNvPr>
            <p:cNvSpPr>
              <a:spLocks noChangeArrowheads="1"/>
            </p:cNvSpPr>
            <p:nvPr/>
          </p:nvSpPr>
          <p:spPr bwMode="auto">
            <a:xfrm>
              <a:off x="6800437" y="4568191"/>
              <a:ext cx="3376612" cy="1216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nSpc>
                  <a:spcPct val="115000"/>
                </a:lnSpc>
                <a:spcBef>
                  <a:spcPct val="50000"/>
                </a:spcBef>
                <a:spcAft>
                  <a:spcPct val="50000"/>
                </a:spcAft>
                <a:buClr>
                  <a:srgbClr val="006699"/>
                </a:buClr>
                <a:buSzPct val="90000"/>
                <a:buFont typeface="Wingdings" panose="05000000000000000000" pitchFamily="2" charset="2"/>
                <a:buChar char="§"/>
                <a:tabLst>
                  <a:tab pos="3086100" algn="l"/>
                </a:tabLst>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tabLst>
                  <a:tab pos="3086100" algn="l"/>
                </a:tabLst>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tabLst>
                  <a:tab pos="3086100" algn="l"/>
                </a:tabLst>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9pPr>
            </a:lstStyle>
            <a:p>
              <a:pPr>
                <a:spcBef>
                  <a:spcPct val="30000"/>
                </a:spcBef>
                <a:spcAft>
                  <a:spcPct val="0"/>
                </a:spcAft>
                <a:buClr>
                  <a:schemeClr val="tx1"/>
                </a:buClr>
                <a:buFont typeface="Arial" panose="020B0604020202020204" pitchFamily="34" charset="0"/>
                <a:buChar char="•"/>
              </a:pPr>
              <a:r>
                <a:rPr lang="en-US" altLang="en-US" sz="1800" dirty="0">
                  <a:latin typeface="Roboto" panose="02000000000000000000" pitchFamily="2" charset="0"/>
                  <a:ea typeface="Roboto" panose="02000000000000000000" pitchFamily="2" charset="0"/>
                </a:rPr>
                <a:t>Simple processes</a:t>
              </a:r>
            </a:p>
            <a:p>
              <a:pPr>
                <a:spcBef>
                  <a:spcPct val="30000"/>
                </a:spcBef>
                <a:spcAft>
                  <a:spcPct val="0"/>
                </a:spcAft>
                <a:buClr>
                  <a:schemeClr val="tx1"/>
                </a:buClr>
                <a:buFont typeface="Arial" panose="020B0604020202020204" pitchFamily="34" charset="0"/>
                <a:buChar char="•"/>
              </a:pPr>
              <a:r>
                <a:rPr lang="en-US" altLang="en-US" sz="1800" dirty="0">
                  <a:latin typeface="Roboto" panose="02000000000000000000" pitchFamily="2" charset="0"/>
                  <a:ea typeface="Roboto" panose="02000000000000000000" pitchFamily="2" charset="0"/>
                </a:rPr>
                <a:t>Specific problems</a:t>
              </a:r>
            </a:p>
            <a:p>
              <a:pPr>
                <a:spcBef>
                  <a:spcPct val="30000"/>
                </a:spcBef>
                <a:spcAft>
                  <a:spcPct val="0"/>
                </a:spcAft>
                <a:buClr>
                  <a:schemeClr val="tx1"/>
                </a:buClr>
                <a:buFont typeface="Arial" panose="020B0604020202020204" pitchFamily="34" charset="0"/>
                <a:buChar char="•"/>
              </a:pPr>
              <a:r>
                <a:rPr lang="en-US" altLang="en-US" sz="1800" dirty="0">
                  <a:latin typeface="Roboto" panose="02000000000000000000" pitchFamily="2" charset="0"/>
                  <a:ea typeface="Roboto" panose="02000000000000000000" pitchFamily="2" charset="0"/>
                </a:rPr>
                <a:t>Answer, why is there variation?</a:t>
              </a:r>
            </a:p>
            <a:p>
              <a:pPr eaLnBrk="1" hangingPunct="1">
                <a:spcBef>
                  <a:spcPct val="30000"/>
                </a:spcBef>
                <a:spcAft>
                  <a:spcPct val="0"/>
                </a:spcAft>
                <a:buClr>
                  <a:schemeClr val="accent1"/>
                </a:buClr>
              </a:pPr>
              <a:endParaRPr lang="en-US" altLang="en-US" sz="1800" dirty="0">
                <a:latin typeface="Roboto" panose="02000000000000000000" pitchFamily="2" charset="0"/>
                <a:ea typeface="Roboto" panose="02000000000000000000" pitchFamily="2" charset="0"/>
              </a:endParaRPr>
            </a:p>
          </p:txBody>
        </p:sp>
      </p:grpSp>
    </p:spTree>
    <p:extLst>
      <p:ext uri="{BB962C8B-B14F-4D97-AF65-F5344CB8AC3E}">
        <p14:creationId xmlns:p14="http://schemas.microsoft.com/office/powerpoint/2010/main" val="253383260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normAutofit/>
          </a:bodyPr>
          <a:lstStyle/>
          <a:p>
            <a:r>
              <a:rPr lang="en-US" sz="4000" dirty="0"/>
              <a:t>Steps to Construct a Fishbone Diagram</a:t>
            </a:r>
          </a:p>
        </p:txBody>
      </p:sp>
      <p:sp>
        <p:nvSpPr>
          <p:cNvPr id="3" name="Content Placeholder 2">
            <a:extLst>
              <a:ext uri="{FF2B5EF4-FFF2-40B4-BE49-F238E27FC236}">
                <a16:creationId xmlns:a16="http://schemas.microsoft.com/office/drawing/2014/main" id="{2AA7A201-AD05-6520-E140-CCF11E59E700}"/>
              </a:ext>
            </a:extLst>
          </p:cNvPr>
          <p:cNvSpPr>
            <a:spLocks noGrp="1"/>
          </p:cNvSpPr>
          <p:nvPr>
            <p:ph idx="1"/>
          </p:nvPr>
        </p:nvSpPr>
        <p:spPr/>
        <p:txBody>
          <a:bodyPr>
            <a:normAutofit fontScale="92500" lnSpcReduction="20000"/>
          </a:bodyPr>
          <a:lstStyle/>
          <a:p>
            <a:r>
              <a:rPr lang="en-US" sz="3200" dirty="0"/>
              <a:t>Place effect (problem statement) in box on far right, along with metrics exemplifying the problem</a:t>
            </a:r>
          </a:p>
          <a:p>
            <a:r>
              <a:rPr lang="en-US" sz="3200" dirty="0"/>
              <a:t>Extend fishbone to the left of problem statement</a:t>
            </a:r>
          </a:p>
          <a:p>
            <a:r>
              <a:rPr lang="en-US" sz="3200" dirty="0"/>
              <a:t>Major bones (categories) are drawn as 45 degree feeder lines from the horizontal line</a:t>
            </a:r>
          </a:p>
          <a:p>
            <a:r>
              <a:rPr lang="en-US" sz="3200" dirty="0"/>
              <a:t>Label the six categories using six “M’s” or eight “P’s”</a:t>
            </a:r>
          </a:p>
          <a:p>
            <a:pPr lvl="1"/>
            <a:r>
              <a:rPr lang="en-US" sz="2800" dirty="0"/>
              <a:t>Man, Machines, Methods, Materials, Measurement, Mother Nature</a:t>
            </a:r>
          </a:p>
          <a:p>
            <a:pPr lvl="1"/>
            <a:r>
              <a:rPr lang="en-US" sz="2800" dirty="0"/>
              <a:t>People, Procedures, Policies, Plant/Place, Performance, Planet, Price, Promotion</a:t>
            </a:r>
          </a:p>
          <a:p>
            <a:pPr lvl="1"/>
            <a:r>
              <a:rPr lang="en-US" sz="2800" dirty="0"/>
              <a:t>Price, Promotion, People, Processes, Place / Plant, Policies, Procedures &amp; Product (or Service)</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51</a:t>
            </a:fld>
            <a:endParaRPr lang="en-US"/>
          </a:p>
        </p:txBody>
      </p:sp>
      <p:grpSp>
        <p:nvGrpSpPr>
          <p:cNvPr id="14" name="Group 13">
            <a:extLst>
              <a:ext uri="{FF2B5EF4-FFF2-40B4-BE49-F238E27FC236}">
                <a16:creationId xmlns:a16="http://schemas.microsoft.com/office/drawing/2014/main" id="{94A7E9DA-C710-9A50-DE98-FB545193D022}"/>
              </a:ext>
            </a:extLst>
          </p:cNvPr>
          <p:cNvGrpSpPr/>
          <p:nvPr/>
        </p:nvGrpSpPr>
        <p:grpSpPr>
          <a:xfrm>
            <a:off x="838200" y="297639"/>
            <a:ext cx="4110990" cy="307138"/>
            <a:chOff x="838200" y="297639"/>
            <a:chExt cx="4110990" cy="307138"/>
          </a:xfrm>
        </p:grpSpPr>
        <p:grpSp>
          <p:nvGrpSpPr>
            <p:cNvPr id="15" name="Group 14">
              <a:extLst>
                <a:ext uri="{FF2B5EF4-FFF2-40B4-BE49-F238E27FC236}">
                  <a16:creationId xmlns:a16="http://schemas.microsoft.com/office/drawing/2014/main" id="{7E3FA7AC-ED64-BC4D-B5F3-517192A96304}"/>
                </a:ext>
              </a:extLst>
            </p:cNvPr>
            <p:cNvGrpSpPr/>
            <p:nvPr/>
          </p:nvGrpSpPr>
          <p:grpSpPr>
            <a:xfrm>
              <a:off x="838200" y="297639"/>
              <a:ext cx="1687517" cy="290657"/>
              <a:chOff x="838200" y="297639"/>
              <a:chExt cx="1687517" cy="290657"/>
            </a:xfrm>
          </p:grpSpPr>
          <p:sp>
            <p:nvSpPr>
              <p:cNvPr id="17" name="AutoShape 9">
                <a:extLst>
                  <a:ext uri="{FF2B5EF4-FFF2-40B4-BE49-F238E27FC236}">
                    <a16:creationId xmlns:a16="http://schemas.microsoft.com/office/drawing/2014/main" id="{EE35564A-9A78-E652-8FF4-980E60BBEC89}"/>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8" name="AutoShape 9">
                <a:extLst>
                  <a:ext uri="{FF2B5EF4-FFF2-40B4-BE49-F238E27FC236}">
                    <a16:creationId xmlns:a16="http://schemas.microsoft.com/office/drawing/2014/main" id="{6B9ED52B-720A-571B-A67A-C1924442DA36}"/>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19" name="Group 18">
                <a:extLst>
                  <a:ext uri="{FF2B5EF4-FFF2-40B4-BE49-F238E27FC236}">
                    <a16:creationId xmlns:a16="http://schemas.microsoft.com/office/drawing/2014/main" id="{54B4FCA1-7084-527D-38DF-A51912CB4BB9}"/>
                  </a:ext>
                </a:extLst>
              </p:cNvPr>
              <p:cNvGrpSpPr/>
              <p:nvPr/>
            </p:nvGrpSpPr>
            <p:grpSpPr>
              <a:xfrm>
                <a:off x="838200" y="297639"/>
                <a:ext cx="1060167" cy="290657"/>
                <a:chOff x="826426" y="4041857"/>
                <a:chExt cx="1060167" cy="290657"/>
              </a:xfrm>
            </p:grpSpPr>
            <p:sp>
              <p:nvSpPr>
                <p:cNvPr id="20" name="AutoShape 9">
                  <a:extLst>
                    <a:ext uri="{FF2B5EF4-FFF2-40B4-BE49-F238E27FC236}">
                      <a16:creationId xmlns:a16="http://schemas.microsoft.com/office/drawing/2014/main" id="{2327D17C-A5C6-234D-3D5F-B6C01E45BD98}"/>
                    </a:ext>
                  </a:extLst>
                </p:cNvPr>
                <p:cNvSpPr>
                  <a:spLocks noChangeArrowheads="1"/>
                </p:cNvSpPr>
                <p:nvPr/>
              </p:nvSpPr>
              <p:spPr bwMode="auto">
                <a:xfrm>
                  <a:off x="145377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1" name="AutoShape 11">
                  <a:extLst>
                    <a:ext uri="{FF2B5EF4-FFF2-40B4-BE49-F238E27FC236}">
                      <a16:creationId xmlns:a16="http://schemas.microsoft.com/office/drawing/2014/main" id="{2486708D-C9D1-3EEA-91CB-70C19E4A707C}"/>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2" name="AutoShape 10">
                  <a:extLst>
                    <a:ext uri="{FF2B5EF4-FFF2-40B4-BE49-F238E27FC236}">
                      <a16:creationId xmlns:a16="http://schemas.microsoft.com/office/drawing/2014/main" id="{B3F23951-87AA-49A5-9BF4-59BF619273DE}"/>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16" name="TextBox 15">
              <a:extLst>
                <a:ext uri="{FF2B5EF4-FFF2-40B4-BE49-F238E27FC236}">
                  <a16:creationId xmlns:a16="http://schemas.microsoft.com/office/drawing/2014/main" id="{0B3CDCE0-D50B-A992-50D5-C00E9EF5705F}"/>
                </a:ext>
              </a:extLst>
            </p:cNvPr>
            <p:cNvSpPr txBox="1"/>
            <p:nvPr/>
          </p:nvSpPr>
          <p:spPr>
            <a:xfrm>
              <a:off x="2525717" y="313415"/>
              <a:ext cx="242347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CEDAC Problem Cause</a:t>
              </a:r>
            </a:p>
          </p:txBody>
        </p:sp>
      </p:grpSp>
    </p:spTree>
    <p:extLst>
      <p:ext uri="{BB962C8B-B14F-4D97-AF65-F5344CB8AC3E}">
        <p14:creationId xmlns:p14="http://schemas.microsoft.com/office/powerpoint/2010/main" val="380245906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normAutofit/>
          </a:bodyPr>
          <a:lstStyle/>
          <a:p>
            <a:r>
              <a:rPr lang="en-US" sz="4000" dirty="0"/>
              <a:t>CEDAC Format #2 – Process Flow Map</a:t>
            </a:r>
          </a:p>
        </p:txBody>
      </p:sp>
      <p:sp>
        <p:nvSpPr>
          <p:cNvPr id="3" name="Content Placeholder 2">
            <a:extLst>
              <a:ext uri="{FF2B5EF4-FFF2-40B4-BE49-F238E27FC236}">
                <a16:creationId xmlns:a16="http://schemas.microsoft.com/office/drawing/2014/main" id="{2AA7A201-AD05-6520-E140-CCF11E59E700}"/>
              </a:ext>
            </a:extLst>
          </p:cNvPr>
          <p:cNvSpPr>
            <a:spLocks noGrp="1"/>
          </p:cNvSpPr>
          <p:nvPr>
            <p:ph idx="1"/>
          </p:nvPr>
        </p:nvSpPr>
        <p:spPr/>
        <p:txBody>
          <a:bodyPr>
            <a:normAutofit/>
          </a:bodyPr>
          <a:lstStyle/>
          <a:p>
            <a:pPr marL="0" indent="0">
              <a:buNone/>
            </a:pPr>
            <a:r>
              <a:rPr lang="en-US" sz="3200" dirty="0"/>
              <a:t>Process Flow Map</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52</a:t>
            </a:fld>
            <a:endParaRPr lang="en-US"/>
          </a:p>
        </p:txBody>
      </p:sp>
      <p:grpSp>
        <p:nvGrpSpPr>
          <p:cNvPr id="14" name="Group 13">
            <a:extLst>
              <a:ext uri="{FF2B5EF4-FFF2-40B4-BE49-F238E27FC236}">
                <a16:creationId xmlns:a16="http://schemas.microsoft.com/office/drawing/2014/main" id="{94A7E9DA-C710-9A50-DE98-FB545193D022}"/>
              </a:ext>
            </a:extLst>
          </p:cNvPr>
          <p:cNvGrpSpPr/>
          <p:nvPr/>
        </p:nvGrpSpPr>
        <p:grpSpPr>
          <a:xfrm>
            <a:off x="838200" y="297639"/>
            <a:ext cx="4110990" cy="307138"/>
            <a:chOff x="838200" y="297639"/>
            <a:chExt cx="4110990" cy="307138"/>
          </a:xfrm>
        </p:grpSpPr>
        <p:grpSp>
          <p:nvGrpSpPr>
            <p:cNvPr id="15" name="Group 14">
              <a:extLst>
                <a:ext uri="{FF2B5EF4-FFF2-40B4-BE49-F238E27FC236}">
                  <a16:creationId xmlns:a16="http://schemas.microsoft.com/office/drawing/2014/main" id="{7E3FA7AC-ED64-BC4D-B5F3-517192A96304}"/>
                </a:ext>
              </a:extLst>
            </p:cNvPr>
            <p:cNvGrpSpPr/>
            <p:nvPr/>
          </p:nvGrpSpPr>
          <p:grpSpPr>
            <a:xfrm>
              <a:off x="838200" y="297639"/>
              <a:ext cx="1687517" cy="290657"/>
              <a:chOff x="838200" y="297639"/>
              <a:chExt cx="1687517" cy="290657"/>
            </a:xfrm>
          </p:grpSpPr>
          <p:sp>
            <p:nvSpPr>
              <p:cNvPr id="17" name="AutoShape 9">
                <a:extLst>
                  <a:ext uri="{FF2B5EF4-FFF2-40B4-BE49-F238E27FC236}">
                    <a16:creationId xmlns:a16="http://schemas.microsoft.com/office/drawing/2014/main" id="{EE35564A-9A78-E652-8FF4-980E60BBEC89}"/>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8" name="AutoShape 9">
                <a:extLst>
                  <a:ext uri="{FF2B5EF4-FFF2-40B4-BE49-F238E27FC236}">
                    <a16:creationId xmlns:a16="http://schemas.microsoft.com/office/drawing/2014/main" id="{6B9ED52B-720A-571B-A67A-C1924442DA36}"/>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19" name="Group 18">
                <a:extLst>
                  <a:ext uri="{FF2B5EF4-FFF2-40B4-BE49-F238E27FC236}">
                    <a16:creationId xmlns:a16="http://schemas.microsoft.com/office/drawing/2014/main" id="{54B4FCA1-7084-527D-38DF-A51912CB4BB9}"/>
                  </a:ext>
                </a:extLst>
              </p:cNvPr>
              <p:cNvGrpSpPr/>
              <p:nvPr/>
            </p:nvGrpSpPr>
            <p:grpSpPr>
              <a:xfrm>
                <a:off x="838200" y="297639"/>
                <a:ext cx="1060167" cy="290657"/>
                <a:chOff x="826426" y="4041857"/>
                <a:chExt cx="1060167" cy="290657"/>
              </a:xfrm>
            </p:grpSpPr>
            <p:sp>
              <p:nvSpPr>
                <p:cNvPr id="20" name="AutoShape 9">
                  <a:extLst>
                    <a:ext uri="{FF2B5EF4-FFF2-40B4-BE49-F238E27FC236}">
                      <a16:creationId xmlns:a16="http://schemas.microsoft.com/office/drawing/2014/main" id="{2327D17C-A5C6-234D-3D5F-B6C01E45BD98}"/>
                    </a:ext>
                  </a:extLst>
                </p:cNvPr>
                <p:cNvSpPr>
                  <a:spLocks noChangeArrowheads="1"/>
                </p:cNvSpPr>
                <p:nvPr/>
              </p:nvSpPr>
              <p:spPr bwMode="auto">
                <a:xfrm>
                  <a:off x="145377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1" name="AutoShape 11">
                  <a:extLst>
                    <a:ext uri="{FF2B5EF4-FFF2-40B4-BE49-F238E27FC236}">
                      <a16:creationId xmlns:a16="http://schemas.microsoft.com/office/drawing/2014/main" id="{2486708D-C9D1-3EEA-91CB-70C19E4A707C}"/>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2" name="AutoShape 10">
                  <a:extLst>
                    <a:ext uri="{FF2B5EF4-FFF2-40B4-BE49-F238E27FC236}">
                      <a16:creationId xmlns:a16="http://schemas.microsoft.com/office/drawing/2014/main" id="{B3F23951-87AA-49A5-9BF4-59BF619273DE}"/>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16" name="TextBox 15">
              <a:extLst>
                <a:ext uri="{FF2B5EF4-FFF2-40B4-BE49-F238E27FC236}">
                  <a16:creationId xmlns:a16="http://schemas.microsoft.com/office/drawing/2014/main" id="{0B3CDCE0-D50B-A992-50D5-C00E9EF5705F}"/>
                </a:ext>
              </a:extLst>
            </p:cNvPr>
            <p:cNvSpPr txBox="1"/>
            <p:nvPr/>
          </p:nvSpPr>
          <p:spPr>
            <a:xfrm>
              <a:off x="2525717" y="313415"/>
              <a:ext cx="242347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CEDAC Problem Cause</a:t>
              </a:r>
            </a:p>
          </p:txBody>
        </p:sp>
      </p:grpSp>
      <p:grpSp>
        <p:nvGrpSpPr>
          <p:cNvPr id="13" name="Group 12">
            <a:extLst>
              <a:ext uri="{FF2B5EF4-FFF2-40B4-BE49-F238E27FC236}">
                <a16:creationId xmlns:a16="http://schemas.microsoft.com/office/drawing/2014/main" id="{FDB0EBAE-D458-D58C-899E-4F2DC285E99B}"/>
              </a:ext>
            </a:extLst>
          </p:cNvPr>
          <p:cNvGrpSpPr/>
          <p:nvPr/>
        </p:nvGrpSpPr>
        <p:grpSpPr>
          <a:xfrm>
            <a:off x="6362286" y="2068831"/>
            <a:ext cx="5342034" cy="4108132"/>
            <a:chOff x="6362287" y="2356803"/>
            <a:chExt cx="3814762" cy="3427413"/>
          </a:xfrm>
        </p:grpSpPr>
        <p:sp>
          <p:nvSpPr>
            <p:cNvPr id="6" name="AutoShape 4">
              <a:extLst>
                <a:ext uri="{FF2B5EF4-FFF2-40B4-BE49-F238E27FC236}">
                  <a16:creationId xmlns:a16="http://schemas.microsoft.com/office/drawing/2014/main" id="{DC937348-E61E-394F-3CF7-E763C45EF8D8}"/>
                </a:ext>
              </a:extLst>
            </p:cNvPr>
            <p:cNvSpPr>
              <a:spLocks/>
            </p:cNvSpPr>
            <p:nvPr/>
          </p:nvSpPr>
          <p:spPr bwMode="auto">
            <a:xfrm>
              <a:off x="8392699" y="4080828"/>
              <a:ext cx="152400" cy="914400"/>
            </a:xfrm>
            <a:prstGeom prst="rightBrace">
              <a:avLst>
                <a:gd name="adj1" fmla="val 50000"/>
                <a:gd name="adj2" fmla="val 41843"/>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5000"/>
                </a:lnSpc>
                <a:buFont typeface="Wingdings" panose="05000000000000000000" pitchFamily="2" charset="2"/>
                <a:buNone/>
              </a:pPr>
              <a:endParaRPr lang="en-US" altLang="en-US" sz="1600">
                <a:latin typeface="Roboto" panose="02000000000000000000" pitchFamily="2" charset="0"/>
                <a:ea typeface="Roboto" panose="02000000000000000000" pitchFamily="2" charset="0"/>
              </a:endParaRPr>
            </a:p>
          </p:txBody>
        </p:sp>
        <p:sp>
          <p:nvSpPr>
            <p:cNvPr id="7" name="Rectangle 7">
              <a:extLst>
                <a:ext uri="{FF2B5EF4-FFF2-40B4-BE49-F238E27FC236}">
                  <a16:creationId xmlns:a16="http://schemas.microsoft.com/office/drawing/2014/main" id="{940F9C6D-C4FC-5F18-1112-52035984C4B3}"/>
                </a:ext>
              </a:extLst>
            </p:cNvPr>
            <p:cNvSpPr>
              <a:spLocks noChangeArrowheads="1"/>
            </p:cNvSpPr>
            <p:nvPr/>
          </p:nvSpPr>
          <p:spPr bwMode="auto">
            <a:xfrm>
              <a:off x="6892512" y="2356803"/>
              <a:ext cx="3268662" cy="307975"/>
            </a:xfrm>
            <a:prstGeom prst="rect">
              <a:avLst/>
            </a:prstGeom>
            <a:solidFill>
              <a:schemeClr val="accent1"/>
            </a:solidFill>
            <a:ln w="12700" cap="sq">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rPr>
                <a:t>Definition</a:t>
              </a:r>
            </a:p>
          </p:txBody>
        </p:sp>
        <p:sp>
          <p:nvSpPr>
            <p:cNvPr id="8" name="Rectangle 8">
              <a:extLst>
                <a:ext uri="{FF2B5EF4-FFF2-40B4-BE49-F238E27FC236}">
                  <a16:creationId xmlns:a16="http://schemas.microsoft.com/office/drawing/2014/main" id="{C48BA631-A3D0-90D3-120D-904A61934538}"/>
                </a:ext>
              </a:extLst>
            </p:cNvPr>
            <p:cNvSpPr>
              <a:spLocks noChangeArrowheads="1"/>
            </p:cNvSpPr>
            <p:nvPr/>
          </p:nvSpPr>
          <p:spPr bwMode="auto">
            <a:xfrm>
              <a:off x="6892512" y="4233228"/>
              <a:ext cx="3282950" cy="307975"/>
            </a:xfrm>
            <a:prstGeom prst="rect">
              <a:avLst/>
            </a:prstGeom>
            <a:solidFill>
              <a:schemeClr val="accent1"/>
            </a:solidFill>
            <a:ln w="12700" cap="sq">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600">
                  <a:solidFill>
                    <a:schemeClr val="bg1"/>
                  </a:solidFill>
                  <a:latin typeface="Roboto" panose="02000000000000000000" pitchFamily="2" charset="0"/>
                  <a:ea typeface="Roboto" panose="02000000000000000000" pitchFamily="2" charset="0"/>
                </a:rPr>
                <a:t>When to Use</a:t>
              </a:r>
            </a:p>
          </p:txBody>
        </p:sp>
        <p:sp>
          <p:nvSpPr>
            <p:cNvPr id="9" name="Rectangle 9">
              <a:extLst>
                <a:ext uri="{FF2B5EF4-FFF2-40B4-BE49-F238E27FC236}">
                  <a16:creationId xmlns:a16="http://schemas.microsoft.com/office/drawing/2014/main" id="{7A377FAC-C321-E827-6663-09AAE3C6C661}"/>
                </a:ext>
              </a:extLst>
            </p:cNvPr>
            <p:cNvSpPr>
              <a:spLocks noChangeArrowheads="1"/>
            </p:cNvSpPr>
            <p:nvPr/>
          </p:nvSpPr>
          <p:spPr bwMode="auto">
            <a:xfrm>
              <a:off x="6798849" y="2710816"/>
              <a:ext cx="3376613" cy="1216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nSpc>
                  <a:spcPct val="115000"/>
                </a:lnSpc>
                <a:spcBef>
                  <a:spcPct val="50000"/>
                </a:spcBef>
                <a:spcAft>
                  <a:spcPct val="50000"/>
                </a:spcAft>
                <a:buClr>
                  <a:srgbClr val="006699"/>
                </a:buClr>
                <a:buSzPct val="90000"/>
                <a:buFont typeface="Wingdings" panose="05000000000000000000" pitchFamily="2" charset="2"/>
                <a:buChar char="§"/>
                <a:tabLst>
                  <a:tab pos="3086100" algn="l"/>
                </a:tabLst>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tabLst>
                  <a:tab pos="3086100" algn="l"/>
                </a:tabLst>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tabLst>
                  <a:tab pos="3086100" algn="l"/>
                </a:tabLst>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9pPr>
            </a:lstStyle>
            <a:p>
              <a:pPr>
                <a:spcBef>
                  <a:spcPct val="30000"/>
                </a:spcBef>
                <a:spcAft>
                  <a:spcPct val="0"/>
                </a:spcAft>
                <a:buClr>
                  <a:schemeClr val="tx1"/>
                </a:buClr>
                <a:buFont typeface="Arial" panose="020B0604020202020204" pitchFamily="34" charset="0"/>
                <a:buChar char="•"/>
              </a:pPr>
              <a:r>
                <a:rPr lang="en-US" altLang="en-US" sz="1800" dirty="0">
                  <a:latin typeface="Roboto" panose="02000000000000000000" pitchFamily="2" charset="0"/>
                  <a:ea typeface="Roboto" panose="02000000000000000000" pitchFamily="2" charset="0"/>
                </a:rPr>
                <a:t>Displays each major step within the process</a:t>
              </a:r>
            </a:p>
            <a:p>
              <a:pPr>
                <a:spcBef>
                  <a:spcPct val="30000"/>
                </a:spcBef>
                <a:spcAft>
                  <a:spcPct val="0"/>
                </a:spcAft>
                <a:buClr>
                  <a:schemeClr val="tx1"/>
                </a:buClr>
                <a:buFont typeface="Arial" panose="020B0604020202020204" pitchFamily="34" charset="0"/>
                <a:buChar char="•"/>
              </a:pPr>
              <a:r>
                <a:rPr lang="en-US" altLang="en-US" sz="1800" dirty="0">
                  <a:latin typeface="Roboto" panose="02000000000000000000" pitchFamily="2" charset="0"/>
                  <a:ea typeface="Roboto" panose="02000000000000000000" pitchFamily="2" charset="0"/>
                </a:rPr>
                <a:t>Links causes to specific process steps</a:t>
              </a:r>
            </a:p>
          </p:txBody>
        </p:sp>
        <p:cxnSp>
          <p:nvCxnSpPr>
            <p:cNvPr id="10" name="AutoShape 10">
              <a:extLst>
                <a:ext uri="{FF2B5EF4-FFF2-40B4-BE49-F238E27FC236}">
                  <a16:creationId xmlns:a16="http://schemas.microsoft.com/office/drawing/2014/main" id="{DCDED68E-B410-705D-DD6E-7DBC5AD8619F}"/>
                </a:ext>
              </a:extLst>
            </p:cNvPr>
            <p:cNvCxnSpPr>
              <a:cxnSpLocks noChangeShapeType="1"/>
              <a:endCxn id="7" idx="1"/>
            </p:cNvCxnSpPr>
            <p:nvPr/>
          </p:nvCxnSpPr>
          <p:spPr bwMode="auto">
            <a:xfrm flipV="1">
              <a:off x="6362287" y="2510791"/>
              <a:ext cx="530225" cy="1647825"/>
            </a:xfrm>
            <a:prstGeom prst="bentConnector3">
              <a:avLst>
                <a:gd name="adj1" fmla="val 48801"/>
              </a:avLst>
            </a:prstGeom>
            <a:noFill/>
            <a:ln w="19050" cap="sq">
              <a:solidFill>
                <a:schemeClr val="tx1"/>
              </a:solidFill>
              <a:miter lim="800000"/>
              <a:headEnd/>
              <a:tailEnd type="triangle" w="med" len="med"/>
            </a:ln>
            <a:extLst>
              <a:ext uri="{909E8E84-426E-40DD-AFC4-6F175D3DCCD1}">
                <a14:hiddenFill xmlns:a14="http://schemas.microsoft.com/office/drawing/2010/main">
                  <a:noFill/>
                </a14:hiddenFill>
              </a:ext>
            </a:extLst>
          </p:spPr>
        </p:cxnSp>
        <p:cxnSp>
          <p:nvCxnSpPr>
            <p:cNvPr id="11" name="AutoShape 11">
              <a:extLst>
                <a:ext uri="{FF2B5EF4-FFF2-40B4-BE49-F238E27FC236}">
                  <a16:creationId xmlns:a16="http://schemas.microsoft.com/office/drawing/2014/main" id="{B4DC29AB-9914-BA01-D007-FD5EE9029EA4}"/>
                </a:ext>
              </a:extLst>
            </p:cNvPr>
            <p:cNvCxnSpPr>
              <a:cxnSpLocks noChangeShapeType="1"/>
              <a:endCxn id="8" idx="1"/>
            </p:cNvCxnSpPr>
            <p:nvPr/>
          </p:nvCxnSpPr>
          <p:spPr bwMode="auto">
            <a:xfrm>
              <a:off x="6362287" y="4158616"/>
              <a:ext cx="530225" cy="228600"/>
            </a:xfrm>
            <a:prstGeom prst="bentConnector3">
              <a:avLst>
                <a:gd name="adj1" fmla="val 48801"/>
              </a:avLst>
            </a:prstGeom>
            <a:noFill/>
            <a:ln w="19050" cap="sq">
              <a:solidFill>
                <a:schemeClr val="tx1"/>
              </a:solidFill>
              <a:miter lim="800000"/>
              <a:headEnd/>
              <a:tailEnd type="triangle" w="med" len="med"/>
            </a:ln>
            <a:extLst>
              <a:ext uri="{909E8E84-426E-40DD-AFC4-6F175D3DCCD1}">
                <a14:hiddenFill xmlns:a14="http://schemas.microsoft.com/office/drawing/2010/main">
                  <a:noFill/>
                </a14:hiddenFill>
              </a:ext>
            </a:extLst>
          </p:spPr>
        </p:cxnSp>
        <p:sp>
          <p:nvSpPr>
            <p:cNvPr id="12" name="Rectangle 12">
              <a:extLst>
                <a:ext uri="{FF2B5EF4-FFF2-40B4-BE49-F238E27FC236}">
                  <a16:creationId xmlns:a16="http://schemas.microsoft.com/office/drawing/2014/main" id="{C5A52EBC-222D-C847-471C-60CE5C4DCDFB}"/>
                </a:ext>
              </a:extLst>
            </p:cNvPr>
            <p:cNvSpPr>
              <a:spLocks noChangeArrowheads="1"/>
            </p:cNvSpPr>
            <p:nvPr/>
          </p:nvSpPr>
          <p:spPr bwMode="auto">
            <a:xfrm>
              <a:off x="6800437" y="4568191"/>
              <a:ext cx="3376612" cy="1216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nSpc>
                  <a:spcPct val="115000"/>
                </a:lnSpc>
                <a:spcBef>
                  <a:spcPct val="50000"/>
                </a:spcBef>
                <a:spcAft>
                  <a:spcPct val="50000"/>
                </a:spcAft>
                <a:buClr>
                  <a:srgbClr val="006699"/>
                </a:buClr>
                <a:buSzPct val="90000"/>
                <a:buFont typeface="Wingdings" panose="05000000000000000000" pitchFamily="2" charset="2"/>
                <a:buChar char="§"/>
                <a:tabLst>
                  <a:tab pos="3086100" algn="l"/>
                </a:tabLst>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tabLst>
                  <a:tab pos="3086100" algn="l"/>
                </a:tabLst>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tabLst>
                  <a:tab pos="3086100" algn="l"/>
                </a:tabLst>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9pPr>
            </a:lstStyle>
            <a:p>
              <a:pPr>
                <a:spcBef>
                  <a:spcPct val="30000"/>
                </a:spcBef>
                <a:spcAft>
                  <a:spcPct val="0"/>
                </a:spcAft>
                <a:buClr>
                  <a:schemeClr val="tx1"/>
                </a:buClr>
                <a:buFont typeface="Arial" panose="020B0604020202020204" pitchFamily="34" charset="0"/>
                <a:buChar char="•"/>
              </a:pPr>
              <a:r>
                <a:rPr lang="en-US" altLang="en-US" sz="1800" dirty="0">
                  <a:latin typeface="Roboto" panose="02000000000000000000" pitchFamily="2" charset="0"/>
                  <a:ea typeface="Roboto" panose="02000000000000000000" pitchFamily="2" charset="0"/>
                </a:rPr>
                <a:t>Complex processes</a:t>
              </a:r>
            </a:p>
            <a:p>
              <a:pPr>
                <a:spcBef>
                  <a:spcPct val="30000"/>
                </a:spcBef>
                <a:spcAft>
                  <a:spcPct val="0"/>
                </a:spcAft>
                <a:buClr>
                  <a:schemeClr val="tx1"/>
                </a:buClr>
                <a:buFont typeface="Arial" panose="020B0604020202020204" pitchFamily="34" charset="0"/>
                <a:buChar char="•"/>
              </a:pPr>
              <a:r>
                <a:rPr lang="en-US" altLang="en-US" sz="1800" dirty="0">
                  <a:latin typeface="Roboto" panose="02000000000000000000" pitchFamily="2" charset="0"/>
                  <a:ea typeface="Roboto" panose="02000000000000000000" pitchFamily="2" charset="0"/>
                </a:rPr>
                <a:t>Unknown where/when the problem is occurring</a:t>
              </a:r>
            </a:p>
          </p:txBody>
        </p:sp>
      </p:grpSp>
      <p:pic>
        <p:nvPicPr>
          <p:cNvPr id="23" name="Picture 19" descr="bigstockphoto_Business_Process_d_On_Blue_Ba_177693">
            <a:extLst>
              <a:ext uri="{FF2B5EF4-FFF2-40B4-BE49-F238E27FC236}">
                <a16:creationId xmlns:a16="http://schemas.microsoft.com/office/drawing/2014/main" id="{1254A488-6978-222F-CFA2-35FF9141A2B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98034" y="2363721"/>
            <a:ext cx="5464252" cy="3845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86553868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normAutofit/>
          </a:bodyPr>
          <a:lstStyle/>
          <a:p>
            <a:r>
              <a:rPr lang="en-US" sz="4000" dirty="0"/>
              <a:t>Steps to construct a Process Flow Chart</a:t>
            </a:r>
          </a:p>
        </p:txBody>
      </p:sp>
      <p:sp>
        <p:nvSpPr>
          <p:cNvPr id="3" name="Content Placeholder 2">
            <a:extLst>
              <a:ext uri="{FF2B5EF4-FFF2-40B4-BE49-F238E27FC236}">
                <a16:creationId xmlns:a16="http://schemas.microsoft.com/office/drawing/2014/main" id="{2AA7A201-AD05-6520-E140-CCF11E59E700}"/>
              </a:ext>
            </a:extLst>
          </p:cNvPr>
          <p:cNvSpPr>
            <a:spLocks noGrp="1"/>
          </p:cNvSpPr>
          <p:nvPr>
            <p:ph idx="1"/>
          </p:nvPr>
        </p:nvSpPr>
        <p:spPr/>
        <p:txBody>
          <a:bodyPr>
            <a:normAutofit fontScale="92500" lnSpcReduction="10000"/>
          </a:bodyPr>
          <a:lstStyle/>
          <a:p>
            <a:r>
              <a:rPr lang="en-US" sz="3200" dirty="0"/>
              <a:t>Start with the INPUT into the process (indicated by an oval shape)</a:t>
            </a:r>
          </a:p>
          <a:p>
            <a:r>
              <a:rPr lang="en-US" sz="3200" dirty="0"/>
              <a:t>Ask, “what happens next?” and record each process step in a rectangular box</a:t>
            </a:r>
          </a:p>
          <a:p>
            <a:r>
              <a:rPr lang="en-US" sz="3200" dirty="0"/>
              <a:t>Use a diamond shapes to indicate decision points in the process</a:t>
            </a:r>
          </a:p>
          <a:p>
            <a:r>
              <a:rPr lang="en-US" sz="3200" dirty="0"/>
              <a:t>Connect steps (boxes and diamonds) using arrows to indicate flow</a:t>
            </a:r>
          </a:p>
          <a:p>
            <a:r>
              <a:rPr lang="en-US" sz="3200" dirty="0"/>
              <a:t>Conclude with OUTPUT of the process (also indicated by an oval shape)</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53</a:t>
            </a:fld>
            <a:endParaRPr lang="en-US"/>
          </a:p>
        </p:txBody>
      </p:sp>
      <p:grpSp>
        <p:nvGrpSpPr>
          <p:cNvPr id="14" name="Group 13">
            <a:extLst>
              <a:ext uri="{FF2B5EF4-FFF2-40B4-BE49-F238E27FC236}">
                <a16:creationId xmlns:a16="http://schemas.microsoft.com/office/drawing/2014/main" id="{94A7E9DA-C710-9A50-DE98-FB545193D022}"/>
              </a:ext>
            </a:extLst>
          </p:cNvPr>
          <p:cNvGrpSpPr/>
          <p:nvPr/>
        </p:nvGrpSpPr>
        <p:grpSpPr>
          <a:xfrm>
            <a:off x="838200" y="297639"/>
            <a:ext cx="4110990" cy="307138"/>
            <a:chOff x="838200" y="297639"/>
            <a:chExt cx="4110990" cy="307138"/>
          </a:xfrm>
        </p:grpSpPr>
        <p:grpSp>
          <p:nvGrpSpPr>
            <p:cNvPr id="15" name="Group 14">
              <a:extLst>
                <a:ext uri="{FF2B5EF4-FFF2-40B4-BE49-F238E27FC236}">
                  <a16:creationId xmlns:a16="http://schemas.microsoft.com/office/drawing/2014/main" id="{7E3FA7AC-ED64-BC4D-B5F3-517192A96304}"/>
                </a:ext>
              </a:extLst>
            </p:cNvPr>
            <p:cNvGrpSpPr/>
            <p:nvPr/>
          </p:nvGrpSpPr>
          <p:grpSpPr>
            <a:xfrm>
              <a:off x="838200" y="297639"/>
              <a:ext cx="1687517" cy="290657"/>
              <a:chOff x="838200" y="297639"/>
              <a:chExt cx="1687517" cy="290657"/>
            </a:xfrm>
          </p:grpSpPr>
          <p:sp>
            <p:nvSpPr>
              <p:cNvPr id="17" name="AutoShape 9">
                <a:extLst>
                  <a:ext uri="{FF2B5EF4-FFF2-40B4-BE49-F238E27FC236}">
                    <a16:creationId xmlns:a16="http://schemas.microsoft.com/office/drawing/2014/main" id="{EE35564A-9A78-E652-8FF4-980E60BBEC89}"/>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8" name="AutoShape 9">
                <a:extLst>
                  <a:ext uri="{FF2B5EF4-FFF2-40B4-BE49-F238E27FC236}">
                    <a16:creationId xmlns:a16="http://schemas.microsoft.com/office/drawing/2014/main" id="{6B9ED52B-720A-571B-A67A-C1924442DA36}"/>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19" name="Group 18">
                <a:extLst>
                  <a:ext uri="{FF2B5EF4-FFF2-40B4-BE49-F238E27FC236}">
                    <a16:creationId xmlns:a16="http://schemas.microsoft.com/office/drawing/2014/main" id="{54B4FCA1-7084-527D-38DF-A51912CB4BB9}"/>
                  </a:ext>
                </a:extLst>
              </p:cNvPr>
              <p:cNvGrpSpPr/>
              <p:nvPr/>
            </p:nvGrpSpPr>
            <p:grpSpPr>
              <a:xfrm>
                <a:off x="838200" y="297639"/>
                <a:ext cx="1060167" cy="290657"/>
                <a:chOff x="826426" y="4041857"/>
                <a:chExt cx="1060167" cy="290657"/>
              </a:xfrm>
            </p:grpSpPr>
            <p:sp>
              <p:nvSpPr>
                <p:cNvPr id="20" name="AutoShape 9">
                  <a:extLst>
                    <a:ext uri="{FF2B5EF4-FFF2-40B4-BE49-F238E27FC236}">
                      <a16:creationId xmlns:a16="http://schemas.microsoft.com/office/drawing/2014/main" id="{2327D17C-A5C6-234D-3D5F-B6C01E45BD98}"/>
                    </a:ext>
                  </a:extLst>
                </p:cNvPr>
                <p:cNvSpPr>
                  <a:spLocks noChangeArrowheads="1"/>
                </p:cNvSpPr>
                <p:nvPr/>
              </p:nvSpPr>
              <p:spPr bwMode="auto">
                <a:xfrm>
                  <a:off x="145377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1" name="AutoShape 11">
                  <a:extLst>
                    <a:ext uri="{FF2B5EF4-FFF2-40B4-BE49-F238E27FC236}">
                      <a16:creationId xmlns:a16="http://schemas.microsoft.com/office/drawing/2014/main" id="{2486708D-C9D1-3EEA-91CB-70C19E4A707C}"/>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2" name="AutoShape 10">
                  <a:extLst>
                    <a:ext uri="{FF2B5EF4-FFF2-40B4-BE49-F238E27FC236}">
                      <a16:creationId xmlns:a16="http://schemas.microsoft.com/office/drawing/2014/main" id="{B3F23951-87AA-49A5-9BF4-59BF619273DE}"/>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16" name="TextBox 15">
              <a:extLst>
                <a:ext uri="{FF2B5EF4-FFF2-40B4-BE49-F238E27FC236}">
                  <a16:creationId xmlns:a16="http://schemas.microsoft.com/office/drawing/2014/main" id="{0B3CDCE0-D50B-A992-50D5-C00E9EF5705F}"/>
                </a:ext>
              </a:extLst>
            </p:cNvPr>
            <p:cNvSpPr txBox="1"/>
            <p:nvPr/>
          </p:nvSpPr>
          <p:spPr>
            <a:xfrm>
              <a:off x="2525717" y="313415"/>
              <a:ext cx="242347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CEDAC Problem Cause</a:t>
              </a:r>
            </a:p>
          </p:txBody>
        </p:sp>
      </p:grpSp>
    </p:spTree>
    <p:extLst>
      <p:ext uri="{BB962C8B-B14F-4D97-AF65-F5344CB8AC3E}">
        <p14:creationId xmlns:p14="http://schemas.microsoft.com/office/powerpoint/2010/main" val="406406142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normAutofit/>
          </a:bodyPr>
          <a:lstStyle/>
          <a:p>
            <a:r>
              <a:rPr lang="en-US" sz="4000" dirty="0"/>
              <a:t>CEDAC Format #3 – Diagram of Product</a:t>
            </a:r>
          </a:p>
        </p:txBody>
      </p:sp>
      <p:sp>
        <p:nvSpPr>
          <p:cNvPr id="3" name="Content Placeholder 2">
            <a:extLst>
              <a:ext uri="{FF2B5EF4-FFF2-40B4-BE49-F238E27FC236}">
                <a16:creationId xmlns:a16="http://schemas.microsoft.com/office/drawing/2014/main" id="{2AA7A201-AD05-6520-E140-CCF11E59E700}"/>
              </a:ext>
            </a:extLst>
          </p:cNvPr>
          <p:cNvSpPr>
            <a:spLocks noGrp="1"/>
          </p:cNvSpPr>
          <p:nvPr>
            <p:ph idx="1"/>
          </p:nvPr>
        </p:nvSpPr>
        <p:spPr/>
        <p:txBody>
          <a:bodyPr>
            <a:normAutofit/>
          </a:bodyPr>
          <a:lstStyle/>
          <a:p>
            <a:pPr marL="0" indent="0">
              <a:buNone/>
            </a:pPr>
            <a:r>
              <a:rPr lang="en-US" sz="3200" dirty="0"/>
              <a:t>Diagram of Product</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54</a:t>
            </a:fld>
            <a:endParaRPr lang="en-US"/>
          </a:p>
        </p:txBody>
      </p:sp>
      <p:grpSp>
        <p:nvGrpSpPr>
          <p:cNvPr id="14" name="Group 13">
            <a:extLst>
              <a:ext uri="{FF2B5EF4-FFF2-40B4-BE49-F238E27FC236}">
                <a16:creationId xmlns:a16="http://schemas.microsoft.com/office/drawing/2014/main" id="{94A7E9DA-C710-9A50-DE98-FB545193D022}"/>
              </a:ext>
            </a:extLst>
          </p:cNvPr>
          <p:cNvGrpSpPr/>
          <p:nvPr/>
        </p:nvGrpSpPr>
        <p:grpSpPr>
          <a:xfrm>
            <a:off x="838200" y="297639"/>
            <a:ext cx="4110990" cy="307138"/>
            <a:chOff x="838200" y="297639"/>
            <a:chExt cx="4110990" cy="307138"/>
          </a:xfrm>
        </p:grpSpPr>
        <p:grpSp>
          <p:nvGrpSpPr>
            <p:cNvPr id="15" name="Group 14">
              <a:extLst>
                <a:ext uri="{FF2B5EF4-FFF2-40B4-BE49-F238E27FC236}">
                  <a16:creationId xmlns:a16="http://schemas.microsoft.com/office/drawing/2014/main" id="{7E3FA7AC-ED64-BC4D-B5F3-517192A96304}"/>
                </a:ext>
              </a:extLst>
            </p:cNvPr>
            <p:cNvGrpSpPr/>
            <p:nvPr/>
          </p:nvGrpSpPr>
          <p:grpSpPr>
            <a:xfrm>
              <a:off x="838200" y="297639"/>
              <a:ext cx="1687517" cy="290657"/>
              <a:chOff x="838200" y="297639"/>
              <a:chExt cx="1687517" cy="290657"/>
            </a:xfrm>
          </p:grpSpPr>
          <p:sp>
            <p:nvSpPr>
              <p:cNvPr id="17" name="AutoShape 9">
                <a:extLst>
                  <a:ext uri="{FF2B5EF4-FFF2-40B4-BE49-F238E27FC236}">
                    <a16:creationId xmlns:a16="http://schemas.microsoft.com/office/drawing/2014/main" id="{EE35564A-9A78-E652-8FF4-980E60BBEC89}"/>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8" name="AutoShape 9">
                <a:extLst>
                  <a:ext uri="{FF2B5EF4-FFF2-40B4-BE49-F238E27FC236}">
                    <a16:creationId xmlns:a16="http://schemas.microsoft.com/office/drawing/2014/main" id="{6B9ED52B-720A-571B-A67A-C1924442DA36}"/>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19" name="Group 18">
                <a:extLst>
                  <a:ext uri="{FF2B5EF4-FFF2-40B4-BE49-F238E27FC236}">
                    <a16:creationId xmlns:a16="http://schemas.microsoft.com/office/drawing/2014/main" id="{54B4FCA1-7084-527D-38DF-A51912CB4BB9}"/>
                  </a:ext>
                </a:extLst>
              </p:cNvPr>
              <p:cNvGrpSpPr/>
              <p:nvPr/>
            </p:nvGrpSpPr>
            <p:grpSpPr>
              <a:xfrm>
                <a:off x="838200" y="297639"/>
                <a:ext cx="1060167" cy="290657"/>
                <a:chOff x="826426" y="4041857"/>
                <a:chExt cx="1060167" cy="290657"/>
              </a:xfrm>
            </p:grpSpPr>
            <p:sp>
              <p:nvSpPr>
                <p:cNvPr id="20" name="AutoShape 9">
                  <a:extLst>
                    <a:ext uri="{FF2B5EF4-FFF2-40B4-BE49-F238E27FC236}">
                      <a16:creationId xmlns:a16="http://schemas.microsoft.com/office/drawing/2014/main" id="{2327D17C-A5C6-234D-3D5F-B6C01E45BD98}"/>
                    </a:ext>
                  </a:extLst>
                </p:cNvPr>
                <p:cNvSpPr>
                  <a:spLocks noChangeArrowheads="1"/>
                </p:cNvSpPr>
                <p:nvPr/>
              </p:nvSpPr>
              <p:spPr bwMode="auto">
                <a:xfrm>
                  <a:off x="145377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1" name="AutoShape 11">
                  <a:extLst>
                    <a:ext uri="{FF2B5EF4-FFF2-40B4-BE49-F238E27FC236}">
                      <a16:creationId xmlns:a16="http://schemas.microsoft.com/office/drawing/2014/main" id="{2486708D-C9D1-3EEA-91CB-70C19E4A707C}"/>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2" name="AutoShape 10">
                  <a:extLst>
                    <a:ext uri="{FF2B5EF4-FFF2-40B4-BE49-F238E27FC236}">
                      <a16:creationId xmlns:a16="http://schemas.microsoft.com/office/drawing/2014/main" id="{B3F23951-87AA-49A5-9BF4-59BF619273DE}"/>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16" name="TextBox 15">
              <a:extLst>
                <a:ext uri="{FF2B5EF4-FFF2-40B4-BE49-F238E27FC236}">
                  <a16:creationId xmlns:a16="http://schemas.microsoft.com/office/drawing/2014/main" id="{0B3CDCE0-D50B-A992-50D5-C00E9EF5705F}"/>
                </a:ext>
              </a:extLst>
            </p:cNvPr>
            <p:cNvSpPr txBox="1"/>
            <p:nvPr/>
          </p:nvSpPr>
          <p:spPr>
            <a:xfrm>
              <a:off x="2525717" y="313415"/>
              <a:ext cx="242347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CEDAC Problem Cause</a:t>
              </a:r>
            </a:p>
          </p:txBody>
        </p:sp>
      </p:grpSp>
      <p:grpSp>
        <p:nvGrpSpPr>
          <p:cNvPr id="13" name="Group 12">
            <a:extLst>
              <a:ext uri="{FF2B5EF4-FFF2-40B4-BE49-F238E27FC236}">
                <a16:creationId xmlns:a16="http://schemas.microsoft.com/office/drawing/2014/main" id="{FDB0EBAE-D458-D58C-899E-4F2DC285E99B}"/>
              </a:ext>
            </a:extLst>
          </p:cNvPr>
          <p:cNvGrpSpPr/>
          <p:nvPr/>
        </p:nvGrpSpPr>
        <p:grpSpPr>
          <a:xfrm>
            <a:off x="6362286" y="2068831"/>
            <a:ext cx="5342034" cy="4108132"/>
            <a:chOff x="6362287" y="2356803"/>
            <a:chExt cx="3814762" cy="3427413"/>
          </a:xfrm>
        </p:grpSpPr>
        <p:sp>
          <p:nvSpPr>
            <p:cNvPr id="6" name="AutoShape 4">
              <a:extLst>
                <a:ext uri="{FF2B5EF4-FFF2-40B4-BE49-F238E27FC236}">
                  <a16:creationId xmlns:a16="http://schemas.microsoft.com/office/drawing/2014/main" id="{DC937348-E61E-394F-3CF7-E763C45EF8D8}"/>
                </a:ext>
              </a:extLst>
            </p:cNvPr>
            <p:cNvSpPr>
              <a:spLocks/>
            </p:cNvSpPr>
            <p:nvPr/>
          </p:nvSpPr>
          <p:spPr bwMode="auto">
            <a:xfrm>
              <a:off x="8392699" y="4080828"/>
              <a:ext cx="152400" cy="914400"/>
            </a:xfrm>
            <a:prstGeom prst="rightBrace">
              <a:avLst>
                <a:gd name="adj1" fmla="val 50000"/>
                <a:gd name="adj2" fmla="val 41843"/>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5000"/>
                </a:lnSpc>
                <a:buFont typeface="Wingdings" panose="05000000000000000000" pitchFamily="2" charset="2"/>
                <a:buNone/>
              </a:pPr>
              <a:endParaRPr lang="en-US" altLang="en-US" sz="1600">
                <a:latin typeface="Roboto" panose="02000000000000000000" pitchFamily="2" charset="0"/>
                <a:ea typeface="Roboto" panose="02000000000000000000" pitchFamily="2" charset="0"/>
              </a:endParaRPr>
            </a:p>
          </p:txBody>
        </p:sp>
        <p:sp>
          <p:nvSpPr>
            <p:cNvPr id="7" name="Rectangle 7">
              <a:extLst>
                <a:ext uri="{FF2B5EF4-FFF2-40B4-BE49-F238E27FC236}">
                  <a16:creationId xmlns:a16="http://schemas.microsoft.com/office/drawing/2014/main" id="{940F9C6D-C4FC-5F18-1112-52035984C4B3}"/>
                </a:ext>
              </a:extLst>
            </p:cNvPr>
            <p:cNvSpPr>
              <a:spLocks noChangeArrowheads="1"/>
            </p:cNvSpPr>
            <p:nvPr/>
          </p:nvSpPr>
          <p:spPr bwMode="auto">
            <a:xfrm>
              <a:off x="6892512" y="2356803"/>
              <a:ext cx="3268662" cy="307975"/>
            </a:xfrm>
            <a:prstGeom prst="rect">
              <a:avLst/>
            </a:prstGeom>
            <a:solidFill>
              <a:schemeClr val="accent1"/>
            </a:solidFill>
            <a:ln w="12700" cap="sq">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rPr>
                <a:t>Definition</a:t>
              </a:r>
            </a:p>
          </p:txBody>
        </p:sp>
        <p:sp>
          <p:nvSpPr>
            <p:cNvPr id="8" name="Rectangle 8">
              <a:extLst>
                <a:ext uri="{FF2B5EF4-FFF2-40B4-BE49-F238E27FC236}">
                  <a16:creationId xmlns:a16="http://schemas.microsoft.com/office/drawing/2014/main" id="{C48BA631-A3D0-90D3-120D-904A61934538}"/>
                </a:ext>
              </a:extLst>
            </p:cNvPr>
            <p:cNvSpPr>
              <a:spLocks noChangeArrowheads="1"/>
            </p:cNvSpPr>
            <p:nvPr/>
          </p:nvSpPr>
          <p:spPr bwMode="auto">
            <a:xfrm>
              <a:off x="6892512" y="4233228"/>
              <a:ext cx="3282950" cy="307975"/>
            </a:xfrm>
            <a:prstGeom prst="rect">
              <a:avLst/>
            </a:prstGeom>
            <a:solidFill>
              <a:schemeClr val="accent1"/>
            </a:solidFill>
            <a:ln w="12700" cap="sq">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600">
                  <a:solidFill>
                    <a:schemeClr val="bg1"/>
                  </a:solidFill>
                  <a:latin typeface="Roboto" panose="02000000000000000000" pitchFamily="2" charset="0"/>
                  <a:ea typeface="Roboto" panose="02000000000000000000" pitchFamily="2" charset="0"/>
                </a:rPr>
                <a:t>When to Use</a:t>
              </a:r>
            </a:p>
          </p:txBody>
        </p:sp>
        <p:sp>
          <p:nvSpPr>
            <p:cNvPr id="9" name="Rectangle 9">
              <a:extLst>
                <a:ext uri="{FF2B5EF4-FFF2-40B4-BE49-F238E27FC236}">
                  <a16:creationId xmlns:a16="http://schemas.microsoft.com/office/drawing/2014/main" id="{7A377FAC-C321-E827-6663-09AAE3C6C661}"/>
                </a:ext>
              </a:extLst>
            </p:cNvPr>
            <p:cNvSpPr>
              <a:spLocks noChangeArrowheads="1"/>
            </p:cNvSpPr>
            <p:nvPr/>
          </p:nvSpPr>
          <p:spPr bwMode="auto">
            <a:xfrm>
              <a:off x="6798849" y="2710816"/>
              <a:ext cx="3376613" cy="1216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nSpc>
                  <a:spcPct val="115000"/>
                </a:lnSpc>
                <a:spcBef>
                  <a:spcPct val="50000"/>
                </a:spcBef>
                <a:spcAft>
                  <a:spcPct val="50000"/>
                </a:spcAft>
                <a:buClr>
                  <a:srgbClr val="006699"/>
                </a:buClr>
                <a:buSzPct val="90000"/>
                <a:buFont typeface="Wingdings" panose="05000000000000000000" pitchFamily="2" charset="2"/>
                <a:buChar char="§"/>
                <a:tabLst>
                  <a:tab pos="3086100" algn="l"/>
                </a:tabLst>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tabLst>
                  <a:tab pos="3086100" algn="l"/>
                </a:tabLst>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tabLst>
                  <a:tab pos="3086100" algn="l"/>
                </a:tabLst>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9pPr>
            </a:lstStyle>
            <a:p>
              <a:pPr>
                <a:spcBef>
                  <a:spcPct val="30000"/>
                </a:spcBef>
                <a:spcAft>
                  <a:spcPct val="0"/>
                </a:spcAft>
                <a:buClr>
                  <a:schemeClr val="tx1"/>
                </a:buClr>
                <a:buFont typeface="Arial" panose="020B0604020202020204" pitchFamily="34" charset="0"/>
                <a:buChar char="•"/>
              </a:pPr>
              <a:r>
                <a:rPr lang="en-US" altLang="en-US" sz="1800" dirty="0">
                  <a:latin typeface="Roboto" panose="02000000000000000000" pitchFamily="2" charset="0"/>
                  <a:ea typeface="Roboto" panose="02000000000000000000" pitchFamily="2" charset="0"/>
                </a:rPr>
                <a:t>Drawing of the product itself</a:t>
              </a:r>
            </a:p>
            <a:p>
              <a:pPr>
                <a:spcBef>
                  <a:spcPct val="30000"/>
                </a:spcBef>
                <a:spcAft>
                  <a:spcPct val="0"/>
                </a:spcAft>
                <a:buClr>
                  <a:schemeClr val="tx1"/>
                </a:buClr>
                <a:buFont typeface="Arial" panose="020B0604020202020204" pitchFamily="34" charset="0"/>
                <a:buChar char="•"/>
              </a:pPr>
              <a:r>
                <a:rPr lang="en-US" altLang="en-US" sz="1800" dirty="0">
                  <a:latin typeface="Roboto" panose="02000000000000000000" pitchFamily="2" charset="0"/>
                  <a:ea typeface="Roboto" panose="02000000000000000000" pitchFamily="2" charset="0"/>
                </a:rPr>
                <a:t>Relates possible causes to locations on the product</a:t>
              </a:r>
            </a:p>
          </p:txBody>
        </p:sp>
        <p:cxnSp>
          <p:nvCxnSpPr>
            <p:cNvPr id="10" name="AutoShape 10">
              <a:extLst>
                <a:ext uri="{FF2B5EF4-FFF2-40B4-BE49-F238E27FC236}">
                  <a16:creationId xmlns:a16="http://schemas.microsoft.com/office/drawing/2014/main" id="{DCDED68E-B410-705D-DD6E-7DBC5AD8619F}"/>
                </a:ext>
              </a:extLst>
            </p:cNvPr>
            <p:cNvCxnSpPr>
              <a:cxnSpLocks noChangeShapeType="1"/>
              <a:endCxn id="7" idx="1"/>
            </p:cNvCxnSpPr>
            <p:nvPr/>
          </p:nvCxnSpPr>
          <p:spPr bwMode="auto">
            <a:xfrm flipV="1">
              <a:off x="6362287" y="2510791"/>
              <a:ext cx="530225" cy="1647825"/>
            </a:xfrm>
            <a:prstGeom prst="bentConnector3">
              <a:avLst>
                <a:gd name="adj1" fmla="val 48801"/>
              </a:avLst>
            </a:prstGeom>
            <a:noFill/>
            <a:ln w="19050" cap="sq">
              <a:solidFill>
                <a:schemeClr val="tx1"/>
              </a:solidFill>
              <a:miter lim="800000"/>
              <a:headEnd/>
              <a:tailEnd type="triangle" w="med" len="med"/>
            </a:ln>
            <a:extLst>
              <a:ext uri="{909E8E84-426E-40DD-AFC4-6F175D3DCCD1}">
                <a14:hiddenFill xmlns:a14="http://schemas.microsoft.com/office/drawing/2010/main">
                  <a:noFill/>
                </a14:hiddenFill>
              </a:ext>
            </a:extLst>
          </p:spPr>
        </p:cxnSp>
        <p:cxnSp>
          <p:nvCxnSpPr>
            <p:cNvPr id="11" name="AutoShape 11">
              <a:extLst>
                <a:ext uri="{FF2B5EF4-FFF2-40B4-BE49-F238E27FC236}">
                  <a16:creationId xmlns:a16="http://schemas.microsoft.com/office/drawing/2014/main" id="{B4DC29AB-9914-BA01-D007-FD5EE9029EA4}"/>
                </a:ext>
              </a:extLst>
            </p:cNvPr>
            <p:cNvCxnSpPr>
              <a:cxnSpLocks noChangeShapeType="1"/>
              <a:endCxn id="8" idx="1"/>
            </p:cNvCxnSpPr>
            <p:nvPr/>
          </p:nvCxnSpPr>
          <p:spPr bwMode="auto">
            <a:xfrm>
              <a:off x="6362287" y="4158616"/>
              <a:ext cx="530225" cy="228600"/>
            </a:xfrm>
            <a:prstGeom prst="bentConnector3">
              <a:avLst>
                <a:gd name="adj1" fmla="val 48801"/>
              </a:avLst>
            </a:prstGeom>
            <a:noFill/>
            <a:ln w="19050" cap="sq">
              <a:solidFill>
                <a:schemeClr val="tx1"/>
              </a:solidFill>
              <a:miter lim="800000"/>
              <a:headEnd/>
              <a:tailEnd type="triangle" w="med" len="med"/>
            </a:ln>
            <a:extLst>
              <a:ext uri="{909E8E84-426E-40DD-AFC4-6F175D3DCCD1}">
                <a14:hiddenFill xmlns:a14="http://schemas.microsoft.com/office/drawing/2010/main">
                  <a:noFill/>
                </a14:hiddenFill>
              </a:ext>
            </a:extLst>
          </p:spPr>
        </p:cxnSp>
        <p:sp>
          <p:nvSpPr>
            <p:cNvPr id="12" name="Rectangle 12">
              <a:extLst>
                <a:ext uri="{FF2B5EF4-FFF2-40B4-BE49-F238E27FC236}">
                  <a16:creationId xmlns:a16="http://schemas.microsoft.com/office/drawing/2014/main" id="{C5A52EBC-222D-C847-471C-60CE5C4DCDFB}"/>
                </a:ext>
              </a:extLst>
            </p:cNvPr>
            <p:cNvSpPr>
              <a:spLocks noChangeArrowheads="1"/>
            </p:cNvSpPr>
            <p:nvPr/>
          </p:nvSpPr>
          <p:spPr bwMode="auto">
            <a:xfrm>
              <a:off x="6800437" y="4568191"/>
              <a:ext cx="3376612" cy="1216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nSpc>
                  <a:spcPct val="115000"/>
                </a:lnSpc>
                <a:spcBef>
                  <a:spcPct val="50000"/>
                </a:spcBef>
                <a:spcAft>
                  <a:spcPct val="50000"/>
                </a:spcAft>
                <a:buClr>
                  <a:srgbClr val="006699"/>
                </a:buClr>
                <a:buSzPct val="90000"/>
                <a:buFont typeface="Wingdings" panose="05000000000000000000" pitchFamily="2" charset="2"/>
                <a:buChar char="§"/>
                <a:tabLst>
                  <a:tab pos="3086100" algn="l"/>
                </a:tabLst>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tabLst>
                  <a:tab pos="3086100" algn="l"/>
                </a:tabLst>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tabLst>
                  <a:tab pos="3086100" algn="l"/>
                </a:tabLst>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9pPr>
            </a:lstStyle>
            <a:p>
              <a:pPr>
                <a:spcBef>
                  <a:spcPct val="30000"/>
                </a:spcBef>
                <a:spcAft>
                  <a:spcPct val="0"/>
                </a:spcAft>
                <a:buClr>
                  <a:schemeClr val="tx1"/>
                </a:buClr>
                <a:buFont typeface="Arial" panose="020B0604020202020204" pitchFamily="34" charset="0"/>
                <a:buChar char="•"/>
              </a:pPr>
              <a:r>
                <a:rPr lang="en-US" altLang="en-US" sz="1800" dirty="0">
                  <a:latin typeface="Roboto" panose="02000000000000000000" pitchFamily="2" charset="0"/>
                  <a:ea typeface="Roboto" panose="02000000000000000000" pitchFamily="2" charset="0"/>
                </a:rPr>
                <a:t>Very specific product</a:t>
              </a:r>
            </a:p>
            <a:p>
              <a:pPr>
                <a:spcBef>
                  <a:spcPct val="30000"/>
                </a:spcBef>
                <a:spcAft>
                  <a:spcPct val="0"/>
                </a:spcAft>
                <a:buClr>
                  <a:schemeClr val="tx1"/>
                </a:buClr>
                <a:buFont typeface="Arial" panose="020B0604020202020204" pitchFamily="34" charset="0"/>
                <a:buChar char="•"/>
              </a:pPr>
              <a:r>
                <a:rPr lang="en-US" altLang="en-US" sz="1800" dirty="0">
                  <a:latin typeface="Roboto" panose="02000000000000000000" pitchFamily="2" charset="0"/>
                  <a:ea typeface="Roboto" panose="02000000000000000000" pitchFamily="2" charset="0"/>
                </a:rPr>
                <a:t>Complex design</a:t>
              </a:r>
            </a:p>
          </p:txBody>
        </p:sp>
      </p:grpSp>
      <p:pic>
        <p:nvPicPr>
          <p:cNvPr id="4" name="Picture 2">
            <a:extLst>
              <a:ext uri="{FF2B5EF4-FFF2-40B4-BE49-F238E27FC236}">
                <a16:creationId xmlns:a16="http://schemas.microsoft.com/office/drawing/2014/main" id="{AD444E77-2F87-8343-55BA-90CD17FB285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01248" y="2262390"/>
            <a:ext cx="4873944" cy="39467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pic>
    </p:spTree>
    <p:extLst>
      <p:ext uri="{BB962C8B-B14F-4D97-AF65-F5344CB8AC3E}">
        <p14:creationId xmlns:p14="http://schemas.microsoft.com/office/powerpoint/2010/main" val="352713550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normAutofit/>
          </a:bodyPr>
          <a:lstStyle/>
          <a:p>
            <a:r>
              <a:rPr lang="en-US" sz="4000" dirty="0"/>
              <a:t>CEDAC Format #4 – Layout of Area</a:t>
            </a:r>
          </a:p>
        </p:txBody>
      </p:sp>
      <p:sp>
        <p:nvSpPr>
          <p:cNvPr id="3" name="Content Placeholder 2">
            <a:extLst>
              <a:ext uri="{FF2B5EF4-FFF2-40B4-BE49-F238E27FC236}">
                <a16:creationId xmlns:a16="http://schemas.microsoft.com/office/drawing/2014/main" id="{2AA7A201-AD05-6520-E140-CCF11E59E700}"/>
              </a:ext>
            </a:extLst>
          </p:cNvPr>
          <p:cNvSpPr>
            <a:spLocks noGrp="1"/>
          </p:cNvSpPr>
          <p:nvPr>
            <p:ph idx="1"/>
          </p:nvPr>
        </p:nvSpPr>
        <p:spPr/>
        <p:txBody>
          <a:bodyPr>
            <a:normAutofit/>
          </a:bodyPr>
          <a:lstStyle/>
          <a:p>
            <a:pPr marL="0" indent="0">
              <a:buNone/>
            </a:pPr>
            <a:r>
              <a:rPr lang="en-US" sz="3200" dirty="0"/>
              <a:t>Picture of Format</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55</a:t>
            </a:fld>
            <a:endParaRPr lang="en-US"/>
          </a:p>
        </p:txBody>
      </p:sp>
      <p:grpSp>
        <p:nvGrpSpPr>
          <p:cNvPr id="14" name="Group 13">
            <a:extLst>
              <a:ext uri="{FF2B5EF4-FFF2-40B4-BE49-F238E27FC236}">
                <a16:creationId xmlns:a16="http://schemas.microsoft.com/office/drawing/2014/main" id="{94A7E9DA-C710-9A50-DE98-FB545193D022}"/>
              </a:ext>
            </a:extLst>
          </p:cNvPr>
          <p:cNvGrpSpPr/>
          <p:nvPr/>
        </p:nvGrpSpPr>
        <p:grpSpPr>
          <a:xfrm>
            <a:off x="838200" y="297639"/>
            <a:ext cx="4110990" cy="307138"/>
            <a:chOff x="838200" y="297639"/>
            <a:chExt cx="4110990" cy="307138"/>
          </a:xfrm>
        </p:grpSpPr>
        <p:grpSp>
          <p:nvGrpSpPr>
            <p:cNvPr id="15" name="Group 14">
              <a:extLst>
                <a:ext uri="{FF2B5EF4-FFF2-40B4-BE49-F238E27FC236}">
                  <a16:creationId xmlns:a16="http://schemas.microsoft.com/office/drawing/2014/main" id="{7E3FA7AC-ED64-BC4D-B5F3-517192A96304}"/>
                </a:ext>
              </a:extLst>
            </p:cNvPr>
            <p:cNvGrpSpPr/>
            <p:nvPr/>
          </p:nvGrpSpPr>
          <p:grpSpPr>
            <a:xfrm>
              <a:off x="838200" y="297639"/>
              <a:ext cx="1687517" cy="290657"/>
              <a:chOff x="838200" y="297639"/>
              <a:chExt cx="1687517" cy="290657"/>
            </a:xfrm>
          </p:grpSpPr>
          <p:sp>
            <p:nvSpPr>
              <p:cNvPr id="17" name="AutoShape 9">
                <a:extLst>
                  <a:ext uri="{FF2B5EF4-FFF2-40B4-BE49-F238E27FC236}">
                    <a16:creationId xmlns:a16="http://schemas.microsoft.com/office/drawing/2014/main" id="{EE35564A-9A78-E652-8FF4-980E60BBEC89}"/>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8" name="AutoShape 9">
                <a:extLst>
                  <a:ext uri="{FF2B5EF4-FFF2-40B4-BE49-F238E27FC236}">
                    <a16:creationId xmlns:a16="http://schemas.microsoft.com/office/drawing/2014/main" id="{6B9ED52B-720A-571B-A67A-C1924442DA36}"/>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19" name="Group 18">
                <a:extLst>
                  <a:ext uri="{FF2B5EF4-FFF2-40B4-BE49-F238E27FC236}">
                    <a16:creationId xmlns:a16="http://schemas.microsoft.com/office/drawing/2014/main" id="{54B4FCA1-7084-527D-38DF-A51912CB4BB9}"/>
                  </a:ext>
                </a:extLst>
              </p:cNvPr>
              <p:cNvGrpSpPr/>
              <p:nvPr/>
            </p:nvGrpSpPr>
            <p:grpSpPr>
              <a:xfrm>
                <a:off x="838200" y="297639"/>
                <a:ext cx="1060167" cy="290657"/>
                <a:chOff x="826426" y="4041857"/>
                <a:chExt cx="1060167" cy="290657"/>
              </a:xfrm>
            </p:grpSpPr>
            <p:sp>
              <p:nvSpPr>
                <p:cNvPr id="20" name="AutoShape 9">
                  <a:extLst>
                    <a:ext uri="{FF2B5EF4-FFF2-40B4-BE49-F238E27FC236}">
                      <a16:creationId xmlns:a16="http://schemas.microsoft.com/office/drawing/2014/main" id="{2327D17C-A5C6-234D-3D5F-B6C01E45BD98}"/>
                    </a:ext>
                  </a:extLst>
                </p:cNvPr>
                <p:cNvSpPr>
                  <a:spLocks noChangeArrowheads="1"/>
                </p:cNvSpPr>
                <p:nvPr/>
              </p:nvSpPr>
              <p:spPr bwMode="auto">
                <a:xfrm>
                  <a:off x="145377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1" name="AutoShape 11">
                  <a:extLst>
                    <a:ext uri="{FF2B5EF4-FFF2-40B4-BE49-F238E27FC236}">
                      <a16:creationId xmlns:a16="http://schemas.microsoft.com/office/drawing/2014/main" id="{2486708D-C9D1-3EEA-91CB-70C19E4A707C}"/>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2" name="AutoShape 10">
                  <a:extLst>
                    <a:ext uri="{FF2B5EF4-FFF2-40B4-BE49-F238E27FC236}">
                      <a16:creationId xmlns:a16="http://schemas.microsoft.com/office/drawing/2014/main" id="{B3F23951-87AA-49A5-9BF4-59BF619273DE}"/>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16" name="TextBox 15">
              <a:extLst>
                <a:ext uri="{FF2B5EF4-FFF2-40B4-BE49-F238E27FC236}">
                  <a16:creationId xmlns:a16="http://schemas.microsoft.com/office/drawing/2014/main" id="{0B3CDCE0-D50B-A992-50D5-C00E9EF5705F}"/>
                </a:ext>
              </a:extLst>
            </p:cNvPr>
            <p:cNvSpPr txBox="1"/>
            <p:nvPr/>
          </p:nvSpPr>
          <p:spPr>
            <a:xfrm>
              <a:off x="2525717" y="313415"/>
              <a:ext cx="242347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CEDAC Problem Cause</a:t>
              </a:r>
            </a:p>
          </p:txBody>
        </p:sp>
      </p:grpSp>
      <p:grpSp>
        <p:nvGrpSpPr>
          <p:cNvPr id="13" name="Group 12">
            <a:extLst>
              <a:ext uri="{FF2B5EF4-FFF2-40B4-BE49-F238E27FC236}">
                <a16:creationId xmlns:a16="http://schemas.microsoft.com/office/drawing/2014/main" id="{FDB0EBAE-D458-D58C-899E-4F2DC285E99B}"/>
              </a:ext>
            </a:extLst>
          </p:cNvPr>
          <p:cNvGrpSpPr/>
          <p:nvPr/>
        </p:nvGrpSpPr>
        <p:grpSpPr>
          <a:xfrm>
            <a:off x="6362286" y="2068831"/>
            <a:ext cx="5342034" cy="4108132"/>
            <a:chOff x="6362287" y="2356803"/>
            <a:chExt cx="3814762" cy="3427413"/>
          </a:xfrm>
        </p:grpSpPr>
        <p:sp>
          <p:nvSpPr>
            <p:cNvPr id="6" name="AutoShape 4">
              <a:extLst>
                <a:ext uri="{FF2B5EF4-FFF2-40B4-BE49-F238E27FC236}">
                  <a16:creationId xmlns:a16="http://schemas.microsoft.com/office/drawing/2014/main" id="{DC937348-E61E-394F-3CF7-E763C45EF8D8}"/>
                </a:ext>
              </a:extLst>
            </p:cNvPr>
            <p:cNvSpPr>
              <a:spLocks/>
            </p:cNvSpPr>
            <p:nvPr/>
          </p:nvSpPr>
          <p:spPr bwMode="auto">
            <a:xfrm>
              <a:off x="8392699" y="4080828"/>
              <a:ext cx="152400" cy="914400"/>
            </a:xfrm>
            <a:prstGeom prst="rightBrace">
              <a:avLst>
                <a:gd name="adj1" fmla="val 50000"/>
                <a:gd name="adj2" fmla="val 41843"/>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5000"/>
                </a:lnSpc>
                <a:buFont typeface="Wingdings" panose="05000000000000000000" pitchFamily="2" charset="2"/>
                <a:buNone/>
              </a:pPr>
              <a:endParaRPr lang="en-US" altLang="en-US" sz="1600">
                <a:latin typeface="Roboto" panose="02000000000000000000" pitchFamily="2" charset="0"/>
                <a:ea typeface="Roboto" panose="02000000000000000000" pitchFamily="2" charset="0"/>
              </a:endParaRPr>
            </a:p>
          </p:txBody>
        </p:sp>
        <p:sp>
          <p:nvSpPr>
            <p:cNvPr id="7" name="Rectangle 7">
              <a:extLst>
                <a:ext uri="{FF2B5EF4-FFF2-40B4-BE49-F238E27FC236}">
                  <a16:creationId xmlns:a16="http://schemas.microsoft.com/office/drawing/2014/main" id="{940F9C6D-C4FC-5F18-1112-52035984C4B3}"/>
                </a:ext>
              </a:extLst>
            </p:cNvPr>
            <p:cNvSpPr>
              <a:spLocks noChangeArrowheads="1"/>
            </p:cNvSpPr>
            <p:nvPr/>
          </p:nvSpPr>
          <p:spPr bwMode="auto">
            <a:xfrm>
              <a:off x="6892512" y="2356803"/>
              <a:ext cx="3268662" cy="307975"/>
            </a:xfrm>
            <a:prstGeom prst="rect">
              <a:avLst/>
            </a:prstGeom>
            <a:solidFill>
              <a:schemeClr val="accent1"/>
            </a:solidFill>
            <a:ln w="12700" cap="sq">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rPr>
                <a:t>Definition</a:t>
              </a:r>
            </a:p>
          </p:txBody>
        </p:sp>
        <p:sp>
          <p:nvSpPr>
            <p:cNvPr id="8" name="Rectangle 8">
              <a:extLst>
                <a:ext uri="{FF2B5EF4-FFF2-40B4-BE49-F238E27FC236}">
                  <a16:creationId xmlns:a16="http://schemas.microsoft.com/office/drawing/2014/main" id="{C48BA631-A3D0-90D3-120D-904A61934538}"/>
                </a:ext>
              </a:extLst>
            </p:cNvPr>
            <p:cNvSpPr>
              <a:spLocks noChangeArrowheads="1"/>
            </p:cNvSpPr>
            <p:nvPr/>
          </p:nvSpPr>
          <p:spPr bwMode="auto">
            <a:xfrm>
              <a:off x="6892512" y="4233228"/>
              <a:ext cx="3282950" cy="307975"/>
            </a:xfrm>
            <a:prstGeom prst="rect">
              <a:avLst/>
            </a:prstGeom>
            <a:solidFill>
              <a:schemeClr val="accent1"/>
            </a:solidFill>
            <a:ln w="12700" cap="sq">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600">
                  <a:solidFill>
                    <a:schemeClr val="bg1"/>
                  </a:solidFill>
                  <a:latin typeface="Roboto" panose="02000000000000000000" pitchFamily="2" charset="0"/>
                  <a:ea typeface="Roboto" panose="02000000000000000000" pitchFamily="2" charset="0"/>
                </a:rPr>
                <a:t>When to Use</a:t>
              </a:r>
            </a:p>
          </p:txBody>
        </p:sp>
        <p:sp>
          <p:nvSpPr>
            <p:cNvPr id="9" name="Rectangle 9">
              <a:extLst>
                <a:ext uri="{FF2B5EF4-FFF2-40B4-BE49-F238E27FC236}">
                  <a16:creationId xmlns:a16="http://schemas.microsoft.com/office/drawing/2014/main" id="{7A377FAC-C321-E827-6663-09AAE3C6C661}"/>
                </a:ext>
              </a:extLst>
            </p:cNvPr>
            <p:cNvSpPr>
              <a:spLocks noChangeArrowheads="1"/>
            </p:cNvSpPr>
            <p:nvPr/>
          </p:nvSpPr>
          <p:spPr bwMode="auto">
            <a:xfrm>
              <a:off x="6798849" y="2710816"/>
              <a:ext cx="3376613" cy="1216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nSpc>
                  <a:spcPct val="115000"/>
                </a:lnSpc>
                <a:spcBef>
                  <a:spcPct val="50000"/>
                </a:spcBef>
                <a:spcAft>
                  <a:spcPct val="50000"/>
                </a:spcAft>
                <a:buClr>
                  <a:srgbClr val="006699"/>
                </a:buClr>
                <a:buSzPct val="90000"/>
                <a:buFont typeface="Wingdings" panose="05000000000000000000" pitchFamily="2" charset="2"/>
                <a:buChar char="§"/>
                <a:tabLst>
                  <a:tab pos="3086100" algn="l"/>
                </a:tabLst>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tabLst>
                  <a:tab pos="3086100" algn="l"/>
                </a:tabLst>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tabLst>
                  <a:tab pos="3086100" algn="l"/>
                </a:tabLst>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9pPr>
            </a:lstStyle>
            <a:p>
              <a:pPr>
                <a:spcBef>
                  <a:spcPct val="30000"/>
                </a:spcBef>
                <a:spcAft>
                  <a:spcPct val="0"/>
                </a:spcAft>
                <a:buClr>
                  <a:schemeClr val="tx1"/>
                </a:buClr>
                <a:buFont typeface="Arial" panose="020B0604020202020204" pitchFamily="34" charset="0"/>
                <a:buChar char="•"/>
              </a:pPr>
              <a:r>
                <a:rPr lang="en-US" altLang="en-US" sz="1800" dirty="0">
                  <a:latin typeface="Roboto" panose="02000000000000000000" pitchFamily="2" charset="0"/>
                  <a:ea typeface="Roboto" panose="02000000000000000000" pitchFamily="2" charset="0"/>
                </a:rPr>
                <a:t>Physical layout of problem area</a:t>
              </a:r>
            </a:p>
            <a:p>
              <a:pPr>
                <a:spcBef>
                  <a:spcPct val="30000"/>
                </a:spcBef>
                <a:spcAft>
                  <a:spcPct val="0"/>
                </a:spcAft>
                <a:buClr>
                  <a:schemeClr val="tx1"/>
                </a:buClr>
                <a:buFont typeface="Arial" panose="020B0604020202020204" pitchFamily="34" charset="0"/>
                <a:buChar char="•"/>
              </a:pPr>
              <a:r>
                <a:rPr lang="en-US" altLang="en-US" sz="1800" dirty="0">
                  <a:latin typeface="Roboto" panose="02000000000000000000" pitchFamily="2" charset="0"/>
                  <a:ea typeface="Roboto" panose="02000000000000000000" pitchFamily="2" charset="0"/>
                </a:rPr>
                <a:t>Relates possible causes to locations within the area</a:t>
              </a:r>
            </a:p>
          </p:txBody>
        </p:sp>
        <p:cxnSp>
          <p:nvCxnSpPr>
            <p:cNvPr id="10" name="AutoShape 10">
              <a:extLst>
                <a:ext uri="{FF2B5EF4-FFF2-40B4-BE49-F238E27FC236}">
                  <a16:creationId xmlns:a16="http://schemas.microsoft.com/office/drawing/2014/main" id="{DCDED68E-B410-705D-DD6E-7DBC5AD8619F}"/>
                </a:ext>
              </a:extLst>
            </p:cNvPr>
            <p:cNvCxnSpPr>
              <a:cxnSpLocks noChangeShapeType="1"/>
              <a:endCxn id="7" idx="1"/>
            </p:cNvCxnSpPr>
            <p:nvPr/>
          </p:nvCxnSpPr>
          <p:spPr bwMode="auto">
            <a:xfrm flipV="1">
              <a:off x="6362287" y="2510791"/>
              <a:ext cx="530225" cy="1647825"/>
            </a:xfrm>
            <a:prstGeom prst="bentConnector3">
              <a:avLst>
                <a:gd name="adj1" fmla="val 48801"/>
              </a:avLst>
            </a:prstGeom>
            <a:noFill/>
            <a:ln w="19050" cap="sq">
              <a:solidFill>
                <a:schemeClr val="tx1"/>
              </a:solidFill>
              <a:miter lim="800000"/>
              <a:headEnd/>
              <a:tailEnd type="triangle" w="med" len="med"/>
            </a:ln>
            <a:extLst>
              <a:ext uri="{909E8E84-426E-40DD-AFC4-6F175D3DCCD1}">
                <a14:hiddenFill xmlns:a14="http://schemas.microsoft.com/office/drawing/2010/main">
                  <a:noFill/>
                </a14:hiddenFill>
              </a:ext>
            </a:extLst>
          </p:spPr>
        </p:cxnSp>
        <p:cxnSp>
          <p:nvCxnSpPr>
            <p:cNvPr id="11" name="AutoShape 11">
              <a:extLst>
                <a:ext uri="{FF2B5EF4-FFF2-40B4-BE49-F238E27FC236}">
                  <a16:creationId xmlns:a16="http://schemas.microsoft.com/office/drawing/2014/main" id="{B4DC29AB-9914-BA01-D007-FD5EE9029EA4}"/>
                </a:ext>
              </a:extLst>
            </p:cNvPr>
            <p:cNvCxnSpPr>
              <a:cxnSpLocks noChangeShapeType="1"/>
              <a:endCxn id="8" idx="1"/>
            </p:cNvCxnSpPr>
            <p:nvPr/>
          </p:nvCxnSpPr>
          <p:spPr bwMode="auto">
            <a:xfrm>
              <a:off x="6362287" y="4158616"/>
              <a:ext cx="530225" cy="228600"/>
            </a:xfrm>
            <a:prstGeom prst="bentConnector3">
              <a:avLst>
                <a:gd name="adj1" fmla="val 48801"/>
              </a:avLst>
            </a:prstGeom>
            <a:noFill/>
            <a:ln w="19050" cap="sq">
              <a:solidFill>
                <a:schemeClr val="tx1"/>
              </a:solidFill>
              <a:miter lim="800000"/>
              <a:headEnd/>
              <a:tailEnd type="triangle" w="med" len="med"/>
            </a:ln>
            <a:extLst>
              <a:ext uri="{909E8E84-426E-40DD-AFC4-6F175D3DCCD1}">
                <a14:hiddenFill xmlns:a14="http://schemas.microsoft.com/office/drawing/2010/main">
                  <a:noFill/>
                </a14:hiddenFill>
              </a:ext>
            </a:extLst>
          </p:spPr>
        </p:cxnSp>
        <p:sp>
          <p:nvSpPr>
            <p:cNvPr id="12" name="Rectangle 12">
              <a:extLst>
                <a:ext uri="{FF2B5EF4-FFF2-40B4-BE49-F238E27FC236}">
                  <a16:creationId xmlns:a16="http://schemas.microsoft.com/office/drawing/2014/main" id="{C5A52EBC-222D-C847-471C-60CE5C4DCDFB}"/>
                </a:ext>
              </a:extLst>
            </p:cNvPr>
            <p:cNvSpPr>
              <a:spLocks noChangeArrowheads="1"/>
            </p:cNvSpPr>
            <p:nvPr/>
          </p:nvSpPr>
          <p:spPr bwMode="auto">
            <a:xfrm>
              <a:off x="6800437" y="4568191"/>
              <a:ext cx="3376612" cy="1216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nSpc>
                  <a:spcPct val="115000"/>
                </a:lnSpc>
                <a:spcBef>
                  <a:spcPct val="50000"/>
                </a:spcBef>
                <a:spcAft>
                  <a:spcPct val="50000"/>
                </a:spcAft>
                <a:buClr>
                  <a:srgbClr val="006699"/>
                </a:buClr>
                <a:buSzPct val="90000"/>
                <a:buFont typeface="Wingdings" panose="05000000000000000000" pitchFamily="2" charset="2"/>
                <a:buChar char="§"/>
                <a:tabLst>
                  <a:tab pos="3086100" algn="l"/>
                </a:tabLst>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tabLst>
                  <a:tab pos="3086100" algn="l"/>
                </a:tabLst>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tabLst>
                  <a:tab pos="3086100" algn="l"/>
                </a:tabLst>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9pPr>
            </a:lstStyle>
            <a:p>
              <a:pPr>
                <a:spcBef>
                  <a:spcPct val="30000"/>
                </a:spcBef>
                <a:spcAft>
                  <a:spcPct val="0"/>
                </a:spcAft>
                <a:buClr>
                  <a:schemeClr val="tx1"/>
                </a:buClr>
                <a:buFont typeface="Arial" panose="020B0604020202020204" pitchFamily="34" charset="0"/>
                <a:buChar char="•"/>
              </a:pPr>
              <a:r>
                <a:rPr lang="en-US" altLang="en-US" sz="1800" dirty="0">
                  <a:latin typeface="Roboto" panose="02000000000000000000" pitchFamily="2" charset="0"/>
                  <a:ea typeface="Roboto" panose="02000000000000000000" pitchFamily="2" charset="0"/>
                </a:rPr>
                <a:t>Systemic problems in environment</a:t>
              </a:r>
            </a:p>
          </p:txBody>
        </p:sp>
      </p:grpSp>
      <p:pic>
        <p:nvPicPr>
          <p:cNvPr id="23" name="Picture 19" descr="bigstockphoto_Electronics_804313">
            <a:extLst>
              <a:ext uri="{FF2B5EF4-FFF2-40B4-BE49-F238E27FC236}">
                <a16:creationId xmlns:a16="http://schemas.microsoft.com/office/drawing/2014/main" id="{D4D4CD13-5382-F64B-9FEB-6DCDBBCBDE0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40495" y="2253402"/>
            <a:ext cx="5421791" cy="3781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56170774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8D9ED7-5CF9-6F4B-B4A8-2DBF8D852A20}"/>
              </a:ext>
            </a:extLst>
          </p:cNvPr>
          <p:cNvSpPr>
            <a:spLocks noGrp="1"/>
          </p:cNvSpPr>
          <p:nvPr>
            <p:ph type="title"/>
          </p:nvPr>
        </p:nvSpPr>
        <p:spPr/>
        <p:txBody>
          <a:bodyPr>
            <a:noAutofit/>
          </a:bodyPr>
          <a:lstStyle/>
          <a:p>
            <a:r>
              <a:rPr lang="en-US" sz="2800" dirty="0">
                <a:latin typeface="Roboto Medium"/>
                <a:ea typeface="Roboto Medium"/>
                <a:cs typeface="Roboto Medium"/>
              </a:rPr>
              <a:t>Case Study Exercise: CEDAC Step 4 – Create CEDAC diagram</a:t>
            </a:r>
          </a:p>
        </p:txBody>
      </p:sp>
      <p:sp>
        <p:nvSpPr>
          <p:cNvPr id="5" name="Slide Number Placeholder 4">
            <a:extLst>
              <a:ext uri="{FF2B5EF4-FFF2-40B4-BE49-F238E27FC236}">
                <a16:creationId xmlns:a16="http://schemas.microsoft.com/office/drawing/2014/main" id="{EFB3C390-D307-7FFC-DADE-918C5180FE01}"/>
              </a:ext>
            </a:extLst>
          </p:cNvPr>
          <p:cNvSpPr>
            <a:spLocks noGrp="1"/>
          </p:cNvSpPr>
          <p:nvPr>
            <p:ph type="sldNum" sz="quarter" idx="4294967295"/>
          </p:nvPr>
        </p:nvSpPr>
        <p:spPr>
          <a:xfrm>
            <a:off x="8595078" y="6333148"/>
            <a:ext cx="2743200" cy="365125"/>
          </a:xfrm>
          <a:prstGeom prst="rect">
            <a:avLst/>
          </a:prstGeom>
        </p:spPr>
        <p:txBody>
          <a:bodyPr/>
          <a:lstStyle/>
          <a:p>
            <a:fld id="{CC6D4273-7FC1-0947-B9FE-19CB3C0D1FB6}" type="slidenum">
              <a:rPr lang="en-US" smtClean="0"/>
              <a:t>56</a:t>
            </a:fld>
            <a:endParaRPr lang="en-US"/>
          </a:p>
        </p:txBody>
      </p:sp>
      <p:sp>
        <p:nvSpPr>
          <p:cNvPr id="11" name="Rectangle 10">
            <a:extLst>
              <a:ext uri="{FF2B5EF4-FFF2-40B4-BE49-F238E27FC236}">
                <a16:creationId xmlns:a16="http://schemas.microsoft.com/office/drawing/2014/main" id="{3A9506B7-1A57-1322-5AB5-DA8522EE7602}"/>
              </a:ext>
            </a:extLst>
          </p:cNvPr>
          <p:cNvSpPr/>
          <p:nvPr/>
        </p:nvSpPr>
        <p:spPr>
          <a:xfrm>
            <a:off x="838200" y="2297655"/>
            <a:ext cx="9722342" cy="533479"/>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Analyze Case Study </a:t>
            </a:r>
          </a:p>
        </p:txBody>
      </p:sp>
      <p:sp>
        <p:nvSpPr>
          <p:cNvPr id="12" name="TextBox 11">
            <a:extLst>
              <a:ext uri="{FF2B5EF4-FFF2-40B4-BE49-F238E27FC236}">
                <a16:creationId xmlns:a16="http://schemas.microsoft.com/office/drawing/2014/main" id="{A4ECB5F6-F271-06CD-2A6A-E79F5245CD15}"/>
              </a:ext>
            </a:extLst>
          </p:cNvPr>
          <p:cNvSpPr txBox="1"/>
          <p:nvPr/>
        </p:nvSpPr>
        <p:spPr>
          <a:xfrm>
            <a:off x="838200" y="1767653"/>
            <a:ext cx="1603003"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Objective</a:t>
            </a:r>
            <a:endParaRPr kumimoji="0" lang="en-US" sz="56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endParaRPr>
          </a:p>
        </p:txBody>
      </p:sp>
      <p:sp>
        <p:nvSpPr>
          <p:cNvPr id="13" name="TextBox 12">
            <a:extLst>
              <a:ext uri="{FF2B5EF4-FFF2-40B4-BE49-F238E27FC236}">
                <a16:creationId xmlns:a16="http://schemas.microsoft.com/office/drawing/2014/main" id="{EA94F381-2B48-C111-2724-726B0390290F}"/>
              </a:ext>
            </a:extLst>
          </p:cNvPr>
          <p:cNvSpPr txBox="1"/>
          <p:nvPr/>
        </p:nvSpPr>
        <p:spPr>
          <a:xfrm>
            <a:off x="838200" y="2952549"/>
            <a:ext cx="2022990"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Instructions</a:t>
            </a:r>
            <a:endParaRPr kumimoji="0" lang="en-US" sz="56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endParaRPr>
          </a:p>
        </p:txBody>
      </p:sp>
      <p:sp>
        <p:nvSpPr>
          <p:cNvPr id="14" name="Rectangle 13">
            <a:extLst>
              <a:ext uri="{FF2B5EF4-FFF2-40B4-BE49-F238E27FC236}">
                <a16:creationId xmlns:a16="http://schemas.microsoft.com/office/drawing/2014/main" id="{82677B47-98C9-F770-8D4E-7D91CF39F5A7}"/>
              </a:ext>
            </a:extLst>
          </p:cNvPr>
          <p:cNvSpPr/>
          <p:nvPr/>
        </p:nvSpPr>
        <p:spPr>
          <a:xfrm>
            <a:off x="818941" y="3486027"/>
            <a:ext cx="4419809" cy="2318583"/>
          </a:xfrm>
          <a:prstGeom prst="rect">
            <a:avLst/>
          </a:prstGeom>
          <a:solidFill>
            <a:schemeClr val="bg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In each team, review the process flow map from the case study on the following slide</a:t>
            </a:r>
          </a:p>
          <a:p>
            <a:pPr marL="0" marR="0" indent="0" algn="l" defTabSz="584200" rtl="0" fontAlgn="auto" latinLnBrk="0" hangingPunct="0">
              <a:lnSpc>
                <a:spcPct val="100000"/>
              </a:lnSpc>
              <a:spcBef>
                <a:spcPts val="0"/>
              </a:spcBef>
              <a:spcAft>
                <a:spcPts val="0"/>
              </a:spcAft>
              <a:buClrTx/>
              <a:buSzTx/>
              <a:buFontTx/>
              <a:buNone/>
              <a:tabLst/>
            </a:pPr>
            <a:r>
              <a:rPr kumimoji="0" lang="en-US"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Given your problem statement, objective statement and metrics, decide which CEDAC format to use for this case study</a:t>
            </a:r>
          </a:p>
          <a:p>
            <a:pPr marL="0" marR="0" indent="0" algn="l" defTabSz="584200" rtl="0" fontAlgn="auto" latinLnBrk="0" hangingPunct="0">
              <a:lnSpc>
                <a:spcPct val="100000"/>
              </a:lnSpc>
              <a:spcBef>
                <a:spcPts val="0"/>
              </a:spcBef>
              <a:spcAft>
                <a:spcPts val="0"/>
              </a:spcAft>
              <a:buClrTx/>
              <a:buSzTx/>
              <a:buFontTx/>
              <a:buNone/>
              <a:tabLst/>
            </a:pPr>
            <a:r>
              <a:rPr kumimoji="0" lang="en-US"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Draw CEDAC diagram on chart paper for review with class</a:t>
            </a:r>
          </a:p>
        </p:txBody>
      </p:sp>
      <p:sp>
        <p:nvSpPr>
          <p:cNvPr id="15" name="TextBox 14">
            <a:extLst>
              <a:ext uri="{FF2B5EF4-FFF2-40B4-BE49-F238E27FC236}">
                <a16:creationId xmlns:a16="http://schemas.microsoft.com/office/drawing/2014/main" id="{90914B3B-0CE2-FDFF-2FB9-215236316256}"/>
              </a:ext>
            </a:extLst>
          </p:cNvPr>
          <p:cNvSpPr txBox="1"/>
          <p:nvPr/>
        </p:nvSpPr>
        <p:spPr>
          <a:xfrm>
            <a:off x="5879250" y="2952548"/>
            <a:ext cx="2968761"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Time to Complete</a:t>
            </a:r>
          </a:p>
        </p:txBody>
      </p:sp>
      <p:sp>
        <p:nvSpPr>
          <p:cNvPr id="16" name="TextBox 15">
            <a:extLst>
              <a:ext uri="{FF2B5EF4-FFF2-40B4-BE49-F238E27FC236}">
                <a16:creationId xmlns:a16="http://schemas.microsoft.com/office/drawing/2014/main" id="{6285230A-07BD-F376-25CA-177CC1D4233F}"/>
              </a:ext>
            </a:extLst>
          </p:cNvPr>
          <p:cNvSpPr txBox="1"/>
          <p:nvPr/>
        </p:nvSpPr>
        <p:spPr>
          <a:xfrm>
            <a:off x="5879250" y="4136472"/>
            <a:ext cx="1888337"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Deliverable</a:t>
            </a:r>
          </a:p>
        </p:txBody>
      </p:sp>
      <p:sp>
        <p:nvSpPr>
          <p:cNvPr id="17" name="Rectangle 16">
            <a:extLst>
              <a:ext uri="{FF2B5EF4-FFF2-40B4-BE49-F238E27FC236}">
                <a16:creationId xmlns:a16="http://schemas.microsoft.com/office/drawing/2014/main" id="{67530399-8FDB-50CD-E8FD-8E286DE1A2EA}"/>
              </a:ext>
            </a:extLst>
          </p:cNvPr>
          <p:cNvSpPr/>
          <p:nvPr/>
        </p:nvSpPr>
        <p:spPr>
          <a:xfrm>
            <a:off x="5879250" y="3496996"/>
            <a:ext cx="4681292" cy="471924"/>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584200" hangingPunct="0"/>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10 minutes</a:t>
            </a:r>
          </a:p>
        </p:txBody>
      </p:sp>
      <p:sp>
        <p:nvSpPr>
          <p:cNvPr id="18" name="Rectangle 17">
            <a:extLst>
              <a:ext uri="{FF2B5EF4-FFF2-40B4-BE49-F238E27FC236}">
                <a16:creationId xmlns:a16="http://schemas.microsoft.com/office/drawing/2014/main" id="{84DF6BD6-975A-3700-5E69-322EFF4F722E}"/>
              </a:ext>
            </a:extLst>
          </p:cNvPr>
          <p:cNvSpPr/>
          <p:nvPr/>
        </p:nvSpPr>
        <p:spPr>
          <a:xfrm>
            <a:off x="5879250" y="4634782"/>
            <a:ext cx="4681292" cy="841256"/>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584200" hangingPunct="0"/>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CEDAC diagram– one person to report out to rest of class</a:t>
            </a:r>
          </a:p>
        </p:txBody>
      </p:sp>
      <p:grpSp>
        <p:nvGrpSpPr>
          <p:cNvPr id="21" name="Group 20">
            <a:extLst>
              <a:ext uri="{FF2B5EF4-FFF2-40B4-BE49-F238E27FC236}">
                <a16:creationId xmlns:a16="http://schemas.microsoft.com/office/drawing/2014/main" id="{21418930-7731-EC21-4C08-225821D44469}"/>
              </a:ext>
            </a:extLst>
          </p:cNvPr>
          <p:cNvGrpSpPr/>
          <p:nvPr/>
        </p:nvGrpSpPr>
        <p:grpSpPr>
          <a:xfrm>
            <a:off x="838200" y="297639"/>
            <a:ext cx="4110990" cy="307138"/>
            <a:chOff x="838200" y="297639"/>
            <a:chExt cx="4110990" cy="307138"/>
          </a:xfrm>
        </p:grpSpPr>
        <p:grpSp>
          <p:nvGrpSpPr>
            <p:cNvPr id="22" name="Group 21">
              <a:extLst>
                <a:ext uri="{FF2B5EF4-FFF2-40B4-BE49-F238E27FC236}">
                  <a16:creationId xmlns:a16="http://schemas.microsoft.com/office/drawing/2014/main" id="{54964831-44E3-8C35-E4D7-29E6B077C666}"/>
                </a:ext>
              </a:extLst>
            </p:cNvPr>
            <p:cNvGrpSpPr/>
            <p:nvPr/>
          </p:nvGrpSpPr>
          <p:grpSpPr>
            <a:xfrm>
              <a:off x="838200" y="297639"/>
              <a:ext cx="1687517" cy="290657"/>
              <a:chOff x="838200" y="297639"/>
              <a:chExt cx="1687517" cy="290657"/>
            </a:xfrm>
          </p:grpSpPr>
          <p:sp>
            <p:nvSpPr>
              <p:cNvPr id="24" name="AutoShape 9">
                <a:extLst>
                  <a:ext uri="{FF2B5EF4-FFF2-40B4-BE49-F238E27FC236}">
                    <a16:creationId xmlns:a16="http://schemas.microsoft.com/office/drawing/2014/main" id="{237AC893-48C2-7311-2791-D44EB0B439F9}"/>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25" name="AutoShape 9">
                <a:extLst>
                  <a:ext uri="{FF2B5EF4-FFF2-40B4-BE49-F238E27FC236}">
                    <a16:creationId xmlns:a16="http://schemas.microsoft.com/office/drawing/2014/main" id="{2E3BFACF-0665-FF6F-6111-3123EB413DAC}"/>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26" name="Group 25">
                <a:extLst>
                  <a:ext uri="{FF2B5EF4-FFF2-40B4-BE49-F238E27FC236}">
                    <a16:creationId xmlns:a16="http://schemas.microsoft.com/office/drawing/2014/main" id="{0FA05D09-D9AD-73F1-A2DD-3DABA8AECBDD}"/>
                  </a:ext>
                </a:extLst>
              </p:cNvPr>
              <p:cNvGrpSpPr/>
              <p:nvPr/>
            </p:nvGrpSpPr>
            <p:grpSpPr>
              <a:xfrm>
                <a:off x="838200" y="297639"/>
                <a:ext cx="1060167" cy="290657"/>
                <a:chOff x="826426" y="4041857"/>
                <a:chExt cx="1060167" cy="290657"/>
              </a:xfrm>
            </p:grpSpPr>
            <p:sp>
              <p:nvSpPr>
                <p:cNvPr id="27" name="AutoShape 9">
                  <a:extLst>
                    <a:ext uri="{FF2B5EF4-FFF2-40B4-BE49-F238E27FC236}">
                      <a16:creationId xmlns:a16="http://schemas.microsoft.com/office/drawing/2014/main" id="{30903A04-D619-2AA2-9D03-BEC6F2DC9FD0}"/>
                    </a:ext>
                  </a:extLst>
                </p:cNvPr>
                <p:cNvSpPr>
                  <a:spLocks noChangeArrowheads="1"/>
                </p:cNvSpPr>
                <p:nvPr/>
              </p:nvSpPr>
              <p:spPr bwMode="auto">
                <a:xfrm>
                  <a:off x="145377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8" name="AutoShape 11">
                  <a:extLst>
                    <a:ext uri="{FF2B5EF4-FFF2-40B4-BE49-F238E27FC236}">
                      <a16:creationId xmlns:a16="http://schemas.microsoft.com/office/drawing/2014/main" id="{8991BFF2-86A2-017E-2770-79C52E804970}"/>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9" name="AutoShape 10">
                  <a:extLst>
                    <a:ext uri="{FF2B5EF4-FFF2-40B4-BE49-F238E27FC236}">
                      <a16:creationId xmlns:a16="http://schemas.microsoft.com/office/drawing/2014/main" id="{D0BCB2D8-D517-5039-69D0-87409DA395CD}"/>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23" name="TextBox 22">
              <a:extLst>
                <a:ext uri="{FF2B5EF4-FFF2-40B4-BE49-F238E27FC236}">
                  <a16:creationId xmlns:a16="http://schemas.microsoft.com/office/drawing/2014/main" id="{451B426E-62E2-AA02-0BC3-B960E50A13C2}"/>
                </a:ext>
              </a:extLst>
            </p:cNvPr>
            <p:cNvSpPr txBox="1"/>
            <p:nvPr/>
          </p:nvSpPr>
          <p:spPr>
            <a:xfrm>
              <a:off x="2525717" y="313415"/>
              <a:ext cx="242347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CEDAC Problem Cause</a:t>
              </a:r>
            </a:p>
          </p:txBody>
        </p:sp>
      </p:grpSp>
    </p:spTree>
    <p:extLst>
      <p:ext uri="{BB962C8B-B14F-4D97-AF65-F5344CB8AC3E}">
        <p14:creationId xmlns:p14="http://schemas.microsoft.com/office/powerpoint/2010/main" val="159174212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normAutofit/>
          </a:bodyPr>
          <a:lstStyle/>
          <a:p>
            <a:r>
              <a:rPr lang="en-US" sz="3600" dirty="0"/>
              <a:t>Sample Case Study – “Spencer’s” Restaurant</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57</a:t>
            </a:fld>
            <a:endParaRPr lang="en-US"/>
          </a:p>
        </p:txBody>
      </p:sp>
      <p:grpSp>
        <p:nvGrpSpPr>
          <p:cNvPr id="14" name="Group 13">
            <a:extLst>
              <a:ext uri="{FF2B5EF4-FFF2-40B4-BE49-F238E27FC236}">
                <a16:creationId xmlns:a16="http://schemas.microsoft.com/office/drawing/2014/main" id="{94A7E9DA-C710-9A50-DE98-FB545193D022}"/>
              </a:ext>
            </a:extLst>
          </p:cNvPr>
          <p:cNvGrpSpPr/>
          <p:nvPr/>
        </p:nvGrpSpPr>
        <p:grpSpPr>
          <a:xfrm>
            <a:off x="838200" y="297639"/>
            <a:ext cx="4110990" cy="307138"/>
            <a:chOff x="838200" y="297639"/>
            <a:chExt cx="4110990" cy="307138"/>
          </a:xfrm>
        </p:grpSpPr>
        <p:grpSp>
          <p:nvGrpSpPr>
            <p:cNvPr id="15" name="Group 14">
              <a:extLst>
                <a:ext uri="{FF2B5EF4-FFF2-40B4-BE49-F238E27FC236}">
                  <a16:creationId xmlns:a16="http://schemas.microsoft.com/office/drawing/2014/main" id="{7E3FA7AC-ED64-BC4D-B5F3-517192A96304}"/>
                </a:ext>
              </a:extLst>
            </p:cNvPr>
            <p:cNvGrpSpPr/>
            <p:nvPr/>
          </p:nvGrpSpPr>
          <p:grpSpPr>
            <a:xfrm>
              <a:off x="838200" y="297639"/>
              <a:ext cx="1687517" cy="290657"/>
              <a:chOff x="838200" y="297639"/>
              <a:chExt cx="1687517" cy="290657"/>
            </a:xfrm>
          </p:grpSpPr>
          <p:sp>
            <p:nvSpPr>
              <p:cNvPr id="17" name="AutoShape 9">
                <a:extLst>
                  <a:ext uri="{FF2B5EF4-FFF2-40B4-BE49-F238E27FC236}">
                    <a16:creationId xmlns:a16="http://schemas.microsoft.com/office/drawing/2014/main" id="{EE35564A-9A78-E652-8FF4-980E60BBEC89}"/>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8" name="AutoShape 9">
                <a:extLst>
                  <a:ext uri="{FF2B5EF4-FFF2-40B4-BE49-F238E27FC236}">
                    <a16:creationId xmlns:a16="http://schemas.microsoft.com/office/drawing/2014/main" id="{6B9ED52B-720A-571B-A67A-C1924442DA36}"/>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19" name="Group 18">
                <a:extLst>
                  <a:ext uri="{FF2B5EF4-FFF2-40B4-BE49-F238E27FC236}">
                    <a16:creationId xmlns:a16="http://schemas.microsoft.com/office/drawing/2014/main" id="{54B4FCA1-7084-527D-38DF-A51912CB4BB9}"/>
                  </a:ext>
                </a:extLst>
              </p:cNvPr>
              <p:cNvGrpSpPr/>
              <p:nvPr/>
            </p:nvGrpSpPr>
            <p:grpSpPr>
              <a:xfrm>
                <a:off x="838200" y="297639"/>
                <a:ext cx="1060167" cy="290657"/>
                <a:chOff x="826426" y="4041857"/>
                <a:chExt cx="1060167" cy="290657"/>
              </a:xfrm>
            </p:grpSpPr>
            <p:sp>
              <p:nvSpPr>
                <p:cNvPr id="20" name="AutoShape 9">
                  <a:extLst>
                    <a:ext uri="{FF2B5EF4-FFF2-40B4-BE49-F238E27FC236}">
                      <a16:creationId xmlns:a16="http://schemas.microsoft.com/office/drawing/2014/main" id="{2327D17C-A5C6-234D-3D5F-B6C01E45BD98}"/>
                    </a:ext>
                  </a:extLst>
                </p:cNvPr>
                <p:cNvSpPr>
                  <a:spLocks noChangeArrowheads="1"/>
                </p:cNvSpPr>
                <p:nvPr/>
              </p:nvSpPr>
              <p:spPr bwMode="auto">
                <a:xfrm>
                  <a:off x="145377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1" name="AutoShape 11">
                  <a:extLst>
                    <a:ext uri="{FF2B5EF4-FFF2-40B4-BE49-F238E27FC236}">
                      <a16:creationId xmlns:a16="http://schemas.microsoft.com/office/drawing/2014/main" id="{2486708D-C9D1-3EEA-91CB-70C19E4A707C}"/>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2" name="AutoShape 10">
                  <a:extLst>
                    <a:ext uri="{FF2B5EF4-FFF2-40B4-BE49-F238E27FC236}">
                      <a16:creationId xmlns:a16="http://schemas.microsoft.com/office/drawing/2014/main" id="{B3F23951-87AA-49A5-9BF4-59BF619273DE}"/>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16" name="TextBox 15">
              <a:extLst>
                <a:ext uri="{FF2B5EF4-FFF2-40B4-BE49-F238E27FC236}">
                  <a16:creationId xmlns:a16="http://schemas.microsoft.com/office/drawing/2014/main" id="{0B3CDCE0-D50B-A992-50D5-C00E9EF5705F}"/>
                </a:ext>
              </a:extLst>
            </p:cNvPr>
            <p:cNvSpPr txBox="1"/>
            <p:nvPr/>
          </p:nvSpPr>
          <p:spPr>
            <a:xfrm>
              <a:off x="2525717" y="313415"/>
              <a:ext cx="242347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CEDAC Problem Cause</a:t>
              </a:r>
            </a:p>
          </p:txBody>
        </p:sp>
      </p:grpSp>
      <p:grpSp>
        <p:nvGrpSpPr>
          <p:cNvPr id="36" name="Group 35">
            <a:extLst>
              <a:ext uri="{FF2B5EF4-FFF2-40B4-BE49-F238E27FC236}">
                <a16:creationId xmlns:a16="http://schemas.microsoft.com/office/drawing/2014/main" id="{3C9EA077-67B8-34D2-E6A0-483EE610C3A1}"/>
              </a:ext>
            </a:extLst>
          </p:cNvPr>
          <p:cNvGrpSpPr/>
          <p:nvPr/>
        </p:nvGrpSpPr>
        <p:grpSpPr>
          <a:xfrm>
            <a:off x="2122647" y="1954530"/>
            <a:ext cx="7946707" cy="4058920"/>
            <a:chOff x="500063" y="1616075"/>
            <a:chExt cx="5967412" cy="4397375"/>
          </a:xfrm>
        </p:grpSpPr>
        <p:sp>
          <p:nvSpPr>
            <p:cNvPr id="25" name="Rectangle 10">
              <a:extLst>
                <a:ext uri="{FF2B5EF4-FFF2-40B4-BE49-F238E27FC236}">
                  <a16:creationId xmlns:a16="http://schemas.microsoft.com/office/drawing/2014/main" id="{763917A9-98FB-3827-D853-ABDE8D3FF074}"/>
                </a:ext>
              </a:extLst>
            </p:cNvPr>
            <p:cNvSpPr>
              <a:spLocks noChangeArrowheads="1"/>
            </p:cNvSpPr>
            <p:nvPr/>
          </p:nvSpPr>
          <p:spPr bwMode="auto">
            <a:xfrm>
              <a:off x="3846513" y="1616075"/>
              <a:ext cx="2620962" cy="635000"/>
            </a:xfrm>
            <a:prstGeom prst="rect">
              <a:avLst/>
            </a:prstGeom>
            <a:solidFill>
              <a:schemeClr val="bg1"/>
            </a:solidFill>
            <a:ln w="12700" cap="sq">
              <a:solidFill>
                <a:schemeClr val="tx1"/>
              </a:solidFill>
              <a:miter lim="800000"/>
              <a:headEnd/>
              <a:tailEnd/>
            </a:ln>
          </p:spPr>
          <p:txBody>
            <a:bodyPr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400" dirty="0">
                  <a:latin typeface="Roboto" panose="02000000000000000000" pitchFamily="2" charset="0"/>
                  <a:ea typeface="Roboto" panose="02000000000000000000" pitchFamily="2" charset="0"/>
                </a:rPr>
                <a:t>Customer enters, is greeted and seated with menu</a:t>
              </a:r>
            </a:p>
          </p:txBody>
        </p:sp>
        <p:sp>
          <p:nvSpPr>
            <p:cNvPr id="26" name="Rectangle 11">
              <a:extLst>
                <a:ext uri="{FF2B5EF4-FFF2-40B4-BE49-F238E27FC236}">
                  <a16:creationId xmlns:a16="http://schemas.microsoft.com/office/drawing/2014/main" id="{017956AD-C850-45E4-2894-DE1EB67B17A5}"/>
                </a:ext>
              </a:extLst>
            </p:cNvPr>
            <p:cNvSpPr>
              <a:spLocks noChangeArrowheads="1"/>
            </p:cNvSpPr>
            <p:nvPr/>
          </p:nvSpPr>
          <p:spPr bwMode="auto">
            <a:xfrm>
              <a:off x="3846513" y="2546350"/>
              <a:ext cx="2620962" cy="635000"/>
            </a:xfrm>
            <a:prstGeom prst="rect">
              <a:avLst/>
            </a:prstGeom>
            <a:solidFill>
              <a:schemeClr val="bg2"/>
            </a:solidFill>
            <a:ln w="12700" cap="sq">
              <a:solidFill>
                <a:schemeClr val="tx1"/>
              </a:solidFill>
              <a:miter lim="800000"/>
              <a:headEnd/>
              <a:tailEnd/>
            </a:ln>
          </p:spPr>
          <p:txBody>
            <a:bodyPr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400" dirty="0">
                  <a:latin typeface="Roboto" panose="02000000000000000000" pitchFamily="2" charset="0"/>
                  <a:ea typeface="Roboto" panose="02000000000000000000" pitchFamily="2" charset="0"/>
                </a:rPr>
                <a:t>Customer reviews menu and order is taken by server</a:t>
              </a:r>
            </a:p>
          </p:txBody>
        </p:sp>
        <p:sp>
          <p:nvSpPr>
            <p:cNvPr id="27" name="Rectangle 12">
              <a:extLst>
                <a:ext uri="{FF2B5EF4-FFF2-40B4-BE49-F238E27FC236}">
                  <a16:creationId xmlns:a16="http://schemas.microsoft.com/office/drawing/2014/main" id="{5732940F-D73F-EC45-8D5C-3664C742C318}"/>
                </a:ext>
              </a:extLst>
            </p:cNvPr>
            <p:cNvSpPr>
              <a:spLocks noChangeArrowheads="1"/>
            </p:cNvSpPr>
            <p:nvPr/>
          </p:nvSpPr>
          <p:spPr bwMode="auto">
            <a:xfrm>
              <a:off x="3846513" y="3479800"/>
              <a:ext cx="2620962" cy="635000"/>
            </a:xfrm>
            <a:prstGeom prst="rect">
              <a:avLst/>
            </a:prstGeom>
            <a:solidFill>
              <a:schemeClr val="accent1"/>
            </a:solidFill>
            <a:ln w="12700" cap="sq">
              <a:solidFill>
                <a:schemeClr val="tx1"/>
              </a:solidFill>
              <a:miter lim="800000"/>
              <a:headEnd/>
              <a:tailEnd/>
            </a:ln>
          </p:spPr>
          <p:txBody>
            <a:bodyPr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400" dirty="0">
                  <a:solidFill>
                    <a:schemeClr val="bg1"/>
                  </a:solidFill>
                  <a:latin typeface="Roboto" panose="02000000000000000000" pitchFamily="2" charset="0"/>
                  <a:ea typeface="Roboto" panose="02000000000000000000" pitchFamily="2" charset="0"/>
                </a:rPr>
                <a:t>Customer is served food and presented with check</a:t>
              </a:r>
            </a:p>
          </p:txBody>
        </p:sp>
        <p:sp>
          <p:nvSpPr>
            <p:cNvPr id="28" name="Rectangle 13">
              <a:extLst>
                <a:ext uri="{FF2B5EF4-FFF2-40B4-BE49-F238E27FC236}">
                  <a16:creationId xmlns:a16="http://schemas.microsoft.com/office/drawing/2014/main" id="{E8CDCBEB-0D62-6C60-8C65-CE9C4DF74F7A}"/>
                </a:ext>
              </a:extLst>
            </p:cNvPr>
            <p:cNvSpPr>
              <a:spLocks noChangeArrowheads="1"/>
            </p:cNvSpPr>
            <p:nvPr/>
          </p:nvSpPr>
          <p:spPr bwMode="auto">
            <a:xfrm>
              <a:off x="3846513" y="4452938"/>
              <a:ext cx="2620962" cy="635000"/>
            </a:xfrm>
            <a:prstGeom prst="rect">
              <a:avLst/>
            </a:prstGeom>
            <a:solidFill>
              <a:schemeClr val="tx2"/>
            </a:solidFill>
            <a:ln w="12700" cap="sq">
              <a:solidFill>
                <a:schemeClr val="tx1"/>
              </a:solidFill>
              <a:miter lim="800000"/>
              <a:headEnd/>
              <a:tailEnd/>
            </a:ln>
          </p:spPr>
          <p:txBody>
            <a:bodyPr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400" dirty="0">
                  <a:solidFill>
                    <a:schemeClr val="bg1"/>
                  </a:solidFill>
                  <a:latin typeface="Roboto" panose="02000000000000000000" pitchFamily="2" charset="0"/>
                  <a:ea typeface="Roboto" panose="02000000000000000000" pitchFamily="2" charset="0"/>
                </a:rPr>
                <a:t>Customer pays and completes survey form</a:t>
              </a:r>
            </a:p>
          </p:txBody>
        </p:sp>
        <p:cxnSp>
          <p:nvCxnSpPr>
            <p:cNvPr id="29" name="AutoShape 14">
              <a:extLst>
                <a:ext uri="{FF2B5EF4-FFF2-40B4-BE49-F238E27FC236}">
                  <a16:creationId xmlns:a16="http://schemas.microsoft.com/office/drawing/2014/main" id="{9BACE576-B05F-651C-D41D-0FE4EC719FB5}"/>
                </a:ext>
              </a:extLst>
            </p:cNvPr>
            <p:cNvCxnSpPr>
              <a:cxnSpLocks noChangeShapeType="1"/>
              <a:stCxn id="25" idx="2"/>
              <a:endCxn id="26" idx="0"/>
            </p:cNvCxnSpPr>
            <p:nvPr/>
          </p:nvCxnSpPr>
          <p:spPr bwMode="auto">
            <a:xfrm>
              <a:off x="5157788" y="2251075"/>
              <a:ext cx="0" cy="295275"/>
            </a:xfrm>
            <a:prstGeom prst="straightConnector1">
              <a:avLst/>
            </a:prstGeom>
            <a:noFill/>
            <a:ln w="12700" cap="sq">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30" name="AutoShape 15">
              <a:extLst>
                <a:ext uri="{FF2B5EF4-FFF2-40B4-BE49-F238E27FC236}">
                  <a16:creationId xmlns:a16="http://schemas.microsoft.com/office/drawing/2014/main" id="{9467DABE-6148-62DF-A453-50588121FB92}"/>
                </a:ext>
              </a:extLst>
            </p:cNvPr>
            <p:cNvCxnSpPr>
              <a:cxnSpLocks noChangeShapeType="1"/>
              <a:stCxn id="26" idx="2"/>
              <a:endCxn id="27" idx="0"/>
            </p:cNvCxnSpPr>
            <p:nvPr/>
          </p:nvCxnSpPr>
          <p:spPr bwMode="auto">
            <a:xfrm>
              <a:off x="5157788" y="3181350"/>
              <a:ext cx="0" cy="298450"/>
            </a:xfrm>
            <a:prstGeom prst="straightConnector1">
              <a:avLst/>
            </a:prstGeom>
            <a:noFill/>
            <a:ln w="12700" cap="sq">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31" name="AutoShape 16">
              <a:extLst>
                <a:ext uri="{FF2B5EF4-FFF2-40B4-BE49-F238E27FC236}">
                  <a16:creationId xmlns:a16="http://schemas.microsoft.com/office/drawing/2014/main" id="{F33ED312-0EC3-3694-005D-1D66B8DD11D8}"/>
                </a:ext>
              </a:extLst>
            </p:cNvPr>
            <p:cNvCxnSpPr>
              <a:cxnSpLocks noChangeShapeType="1"/>
              <a:stCxn id="27" idx="2"/>
              <a:endCxn id="28" idx="0"/>
            </p:cNvCxnSpPr>
            <p:nvPr/>
          </p:nvCxnSpPr>
          <p:spPr bwMode="auto">
            <a:xfrm>
              <a:off x="5157788" y="4114800"/>
              <a:ext cx="0" cy="338138"/>
            </a:xfrm>
            <a:prstGeom prst="straightConnector1">
              <a:avLst/>
            </a:prstGeom>
            <a:noFill/>
            <a:ln w="12700" cap="sq">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32" name="Oval 17">
              <a:extLst>
                <a:ext uri="{FF2B5EF4-FFF2-40B4-BE49-F238E27FC236}">
                  <a16:creationId xmlns:a16="http://schemas.microsoft.com/office/drawing/2014/main" id="{426ACCC2-4BB5-4A02-38C0-F08EDA9B7DE8}"/>
                </a:ext>
              </a:extLst>
            </p:cNvPr>
            <p:cNvSpPr>
              <a:spLocks noChangeArrowheads="1"/>
            </p:cNvSpPr>
            <p:nvPr/>
          </p:nvSpPr>
          <p:spPr bwMode="auto">
            <a:xfrm>
              <a:off x="3846513" y="5411788"/>
              <a:ext cx="2620962" cy="601662"/>
            </a:xfrm>
            <a:prstGeom prst="ellipse">
              <a:avLst/>
            </a:prstGeom>
            <a:solidFill>
              <a:schemeClr val="accent2"/>
            </a:solidFill>
            <a:ln w="12700" cap="sq">
              <a:solidFill>
                <a:schemeClr val="tx1"/>
              </a:solidFill>
              <a:round/>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200">
                  <a:latin typeface="Roboto" panose="02000000000000000000" pitchFamily="2" charset="0"/>
                  <a:ea typeface="Roboto" panose="02000000000000000000" pitchFamily="2" charset="0"/>
                </a:rPr>
                <a:t>Satisfied, FULL customer</a:t>
              </a:r>
            </a:p>
          </p:txBody>
        </p:sp>
        <p:cxnSp>
          <p:nvCxnSpPr>
            <p:cNvPr id="33" name="AutoShape 18">
              <a:extLst>
                <a:ext uri="{FF2B5EF4-FFF2-40B4-BE49-F238E27FC236}">
                  <a16:creationId xmlns:a16="http://schemas.microsoft.com/office/drawing/2014/main" id="{C3D67C91-BD31-28D4-0136-47C45317DB5A}"/>
                </a:ext>
              </a:extLst>
            </p:cNvPr>
            <p:cNvCxnSpPr>
              <a:cxnSpLocks noChangeShapeType="1"/>
              <a:stCxn id="28" idx="2"/>
              <a:endCxn id="32" idx="0"/>
            </p:cNvCxnSpPr>
            <p:nvPr/>
          </p:nvCxnSpPr>
          <p:spPr bwMode="auto">
            <a:xfrm>
              <a:off x="5157788" y="5087938"/>
              <a:ext cx="0" cy="323850"/>
            </a:xfrm>
            <a:prstGeom prst="straightConnector1">
              <a:avLst/>
            </a:prstGeom>
            <a:noFill/>
            <a:ln w="12700" cap="sq">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34" name="Oval 19">
              <a:extLst>
                <a:ext uri="{FF2B5EF4-FFF2-40B4-BE49-F238E27FC236}">
                  <a16:creationId xmlns:a16="http://schemas.microsoft.com/office/drawing/2014/main" id="{1A3EFF76-9DD5-00C2-4C80-1F162F3D60A4}"/>
                </a:ext>
              </a:extLst>
            </p:cNvPr>
            <p:cNvSpPr>
              <a:spLocks noChangeArrowheads="1"/>
            </p:cNvSpPr>
            <p:nvPr/>
          </p:nvSpPr>
          <p:spPr bwMode="auto">
            <a:xfrm>
              <a:off x="500063" y="1646238"/>
              <a:ext cx="2620962" cy="601662"/>
            </a:xfrm>
            <a:prstGeom prst="ellipse">
              <a:avLst/>
            </a:prstGeom>
            <a:solidFill>
              <a:schemeClr val="accent2"/>
            </a:solidFill>
            <a:ln w="12700" cap="sq">
              <a:solidFill>
                <a:schemeClr val="tx1"/>
              </a:solidFill>
              <a:round/>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200" dirty="0">
                  <a:latin typeface="Roboto" panose="02000000000000000000" pitchFamily="2" charset="0"/>
                  <a:ea typeface="Roboto" panose="02000000000000000000" pitchFamily="2" charset="0"/>
                </a:rPr>
                <a:t>Hungry customer</a:t>
              </a:r>
            </a:p>
          </p:txBody>
        </p:sp>
        <p:cxnSp>
          <p:nvCxnSpPr>
            <p:cNvPr id="35" name="AutoShape 20">
              <a:extLst>
                <a:ext uri="{FF2B5EF4-FFF2-40B4-BE49-F238E27FC236}">
                  <a16:creationId xmlns:a16="http://schemas.microsoft.com/office/drawing/2014/main" id="{FF12505B-8F00-DE43-33D2-33A9EE6574BC}"/>
                </a:ext>
              </a:extLst>
            </p:cNvPr>
            <p:cNvCxnSpPr>
              <a:cxnSpLocks noChangeShapeType="1"/>
              <a:endCxn id="25" idx="1"/>
            </p:cNvCxnSpPr>
            <p:nvPr/>
          </p:nvCxnSpPr>
          <p:spPr bwMode="auto">
            <a:xfrm>
              <a:off x="3121025" y="1928813"/>
              <a:ext cx="725488" cy="4762"/>
            </a:xfrm>
            <a:prstGeom prst="straightConnector1">
              <a:avLst/>
            </a:prstGeom>
            <a:noFill/>
            <a:ln w="12700" cap="sq">
              <a:solidFill>
                <a:schemeClr val="tx1"/>
              </a:solidFill>
              <a:round/>
              <a:headEnd/>
              <a:tailEnd type="triangle" w="med" len="med"/>
            </a:ln>
            <a:extLst>
              <a:ext uri="{909E8E84-426E-40DD-AFC4-6F175D3DCCD1}">
                <a14:hiddenFill xmlns:a14="http://schemas.microsoft.com/office/drawing/2010/main">
                  <a:noFill/>
                </a14:hiddenFill>
              </a:ext>
            </a:extLst>
          </p:spPr>
        </p:cxnSp>
      </p:grpSp>
    </p:spTree>
    <p:extLst>
      <p:ext uri="{BB962C8B-B14F-4D97-AF65-F5344CB8AC3E}">
        <p14:creationId xmlns:p14="http://schemas.microsoft.com/office/powerpoint/2010/main" val="4249066360"/>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8D9ED7-5CF9-6F4B-B4A8-2DBF8D852A20}"/>
              </a:ext>
            </a:extLst>
          </p:cNvPr>
          <p:cNvSpPr>
            <a:spLocks noGrp="1"/>
          </p:cNvSpPr>
          <p:nvPr>
            <p:ph type="title"/>
          </p:nvPr>
        </p:nvSpPr>
        <p:spPr/>
        <p:txBody>
          <a:bodyPr>
            <a:noAutofit/>
          </a:bodyPr>
          <a:lstStyle/>
          <a:p>
            <a:r>
              <a:rPr lang="en-US" sz="3200" dirty="0">
                <a:latin typeface="Roboto Medium"/>
                <a:ea typeface="Roboto Medium"/>
                <a:cs typeface="Roboto Medium"/>
              </a:rPr>
              <a:t>CEDAC Step 4 Exercise: Determine Format for CEDAC</a:t>
            </a:r>
          </a:p>
        </p:txBody>
      </p:sp>
      <p:sp>
        <p:nvSpPr>
          <p:cNvPr id="5" name="Slide Number Placeholder 4">
            <a:extLst>
              <a:ext uri="{FF2B5EF4-FFF2-40B4-BE49-F238E27FC236}">
                <a16:creationId xmlns:a16="http://schemas.microsoft.com/office/drawing/2014/main" id="{EFB3C390-D307-7FFC-DADE-918C5180FE01}"/>
              </a:ext>
            </a:extLst>
          </p:cNvPr>
          <p:cNvSpPr>
            <a:spLocks noGrp="1"/>
          </p:cNvSpPr>
          <p:nvPr>
            <p:ph type="sldNum" sz="quarter" idx="4294967295"/>
          </p:nvPr>
        </p:nvSpPr>
        <p:spPr>
          <a:xfrm>
            <a:off x="8595078" y="6333148"/>
            <a:ext cx="2743200" cy="365125"/>
          </a:xfrm>
          <a:prstGeom prst="rect">
            <a:avLst/>
          </a:prstGeom>
        </p:spPr>
        <p:txBody>
          <a:bodyPr/>
          <a:lstStyle/>
          <a:p>
            <a:fld id="{CC6D4273-7FC1-0947-B9FE-19CB3C0D1FB6}" type="slidenum">
              <a:rPr lang="en-US" smtClean="0"/>
              <a:t>58</a:t>
            </a:fld>
            <a:endParaRPr lang="en-US"/>
          </a:p>
        </p:txBody>
      </p:sp>
      <p:sp>
        <p:nvSpPr>
          <p:cNvPr id="11" name="Rectangle 10">
            <a:extLst>
              <a:ext uri="{FF2B5EF4-FFF2-40B4-BE49-F238E27FC236}">
                <a16:creationId xmlns:a16="http://schemas.microsoft.com/office/drawing/2014/main" id="{3A9506B7-1A57-1322-5AB5-DA8522EE7602}"/>
              </a:ext>
            </a:extLst>
          </p:cNvPr>
          <p:cNvSpPr/>
          <p:nvPr/>
        </p:nvSpPr>
        <p:spPr>
          <a:xfrm>
            <a:off x="838200" y="2297655"/>
            <a:ext cx="9722342" cy="533479"/>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Determine which format will be used for this CEDAC event.</a:t>
            </a:r>
          </a:p>
        </p:txBody>
      </p:sp>
      <p:sp>
        <p:nvSpPr>
          <p:cNvPr id="12" name="TextBox 11">
            <a:extLst>
              <a:ext uri="{FF2B5EF4-FFF2-40B4-BE49-F238E27FC236}">
                <a16:creationId xmlns:a16="http://schemas.microsoft.com/office/drawing/2014/main" id="{A4ECB5F6-F271-06CD-2A6A-E79F5245CD15}"/>
              </a:ext>
            </a:extLst>
          </p:cNvPr>
          <p:cNvSpPr txBox="1"/>
          <p:nvPr/>
        </p:nvSpPr>
        <p:spPr>
          <a:xfrm>
            <a:off x="838200" y="1767653"/>
            <a:ext cx="1603003"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Objective</a:t>
            </a:r>
            <a:endParaRPr kumimoji="0" lang="en-US" sz="56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endParaRPr>
          </a:p>
        </p:txBody>
      </p:sp>
      <p:sp>
        <p:nvSpPr>
          <p:cNvPr id="13" name="TextBox 12">
            <a:extLst>
              <a:ext uri="{FF2B5EF4-FFF2-40B4-BE49-F238E27FC236}">
                <a16:creationId xmlns:a16="http://schemas.microsoft.com/office/drawing/2014/main" id="{EA94F381-2B48-C111-2724-726B0390290F}"/>
              </a:ext>
            </a:extLst>
          </p:cNvPr>
          <p:cNvSpPr txBox="1"/>
          <p:nvPr/>
        </p:nvSpPr>
        <p:spPr>
          <a:xfrm>
            <a:off x="838200" y="2952549"/>
            <a:ext cx="2022990"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Instructions</a:t>
            </a:r>
            <a:endParaRPr kumimoji="0" lang="en-US" sz="56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endParaRPr>
          </a:p>
        </p:txBody>
      </p:sp>
      <p:sp>
        <p:nvSpPr>
          <p:cNvPr id="14" name="Rectangle 13">
            <a:extLst>
              <a:ext uri="{FF2B5EF4-FFF2-40B4-BE49-F238E27FC236}">
                <a16:creationId xmlns:a16="http://schemas.microsoft.com/office/drawing/2014/main" id="{82677B47-98C9-F770-8D4E-7D91CF39F5A7}"/>
              </a:ext>
            </a:extLst>
          </p:cNvPr>
          <p:cNvSpPr/>
          <p:nvPr/>
        </p:nvSpPr>
        <p:spPr>
          <a:xfrm>
            <a:off x="818941" y="3486027"/>
            <a:ext cx="4419809" cy="2318583"/>
          </a:xfrm>
          <a:prstGeom prst="rect">
            <a:avLst/>
          </a:prstGeom>
          <a:solidFill>
            <a:schemeClr val="bg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As a team, determine which format will be used for this CEDAC event. </a:t>
            </a:r>
          </a:p>
          <a:p>
            <a:pPr marL="0" marR="0" indent="0" algn="l" defTabSz="584200" rtl="0" fontAlgn="auto" latinLnBrk="0" hangingPunct="0">
              <a:lnSpc>
                <a:spcPct val="100000"/>
              </a:lnSpc>
              <a:spcBef>
                <a:spcPts val="0"/>
              </a:spcBef>
              <a:spcAft>
                <a:spcPts val="0"/>
              </a:spcAft>
              <a:buClrTx/>
              <a:buSzTx/>
              <a:buFontTx/>
              <a:buNone/>
              <a:tabLst/>
            </a:pPr>
            <a:r>
              <a:rPr kumimoji="0" lang="en-US"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Create the decided format on the wall of the training room in preparation to begin the next part of the CEDAC process. </a:t>
            </a:r>
          </a:p>
          <a:p>
            <a:pPr marL="0" marR="0" indent="0" algn="l" defTabSz="584200" rtl="0" fontAlgn="auto" latinLnBrk="0" hangingPunct="0">
              <a:lnSpc>
                <a:spcPct val="100000"/>
              </a:lnSpc>
              <a:spcBef>
                <a:spcPts val="0"/>
              </a:spcBef>
              <a:spcAft>
                <a:spcPts val="0"/>
              </a:spcAft>
              <a:buClrTx/>
              <a:buSzTx/>
              <a:buFontTx/>
              <a:buNone/>
              <a:tabLst/>
            </a:pPr>
            <a:endParaRPr kumimoji="0" lang="en-US"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endParaRPr>
          </a:p>
          <a:p>
            <a:pPr marL="0" marR="0" indent="0" algn="l" defTabSz="584200" rtl="0" fontAlgn="auto" latinLnBrk="0" hangingPunct="0">
              <a:lnSpc>
                <a:spcPct val="100000"/>
              </a:lnSpc>
              <a:spcBef>
                <a:spcPts val="0"/>
              </a:spcBef>
              <a:spcAft>
                <a:spcPts val="0"/>
              </a:spcAft>
              <a:buClrTx/>
              <a:buSzTx/>
              <a:buFontTx/>
              <a:buNone/>
              <a:tabLst/>
            </a:pPr>
            <a:r>
              <a:rPr kumimoji="0" lang="en-US" b="0" i="1"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It is recommended that one team member captures the format electronically. </a:t>
            </a:r>
          </a:p>
        </p:txBody>
      </p:sp>
      <p:sp>
        <p:nvSpPr>
          <p:cNvPr id="15" name="TextBox 14">
            <a:extLst>
              <a:ext uri="{FF2B5EF4-FFF2-40B4-BE49-F238E27FC236}">
                <a16:creationId xmlns:a16="http://schemas.microsoft.com/office/drawing/2014/main" id="{90914B3B-0CE2-FDFF-2FB9-215236316256}"/>
              </a:ext>
            </a:extLst>
          </p:cNvPr>
          <p:cNvSpPr txBox="1"/>
          <p:nvPr/>
        </p:nvSpPr>
        <p:spPr>
          <a:xfrm>
            <a:off x="5879250" y="2952548"/>
            <a:ext cx="2968761"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Time to Complete</a:t>
            </a:r>
          </a:p>
        </p:txBody>
      </p:sp>
      <p:sp>
        <p:nvSpPr>
          <p:cNvPr id="16" name="TextBox 15">
            <a:extLst>
              <a:ext uri="{FF2B5EF4-FFF2-40B4-BE49-F238E27FC236}">
                <a16:creationId xmlns:a16="http://schemas.microsoft.com/office/drawing/2014/main" id="{6285230A-07BD-F376-25CA-177CC1D4233F}"/>
              </a:ext>
            </a:extLst>
          </p:cNvPr>
          <p:cNvSpPr txBox="1"/>
          <p:nvPr/>
        </p:nvSpPr>
        <p:spPr>
          <a:xfrm>
            <a:off x="5879250" y="4136472"/>
            <a:ext cx="1888337"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Deliverable</a:t>
            </a:r>
          </a:p>
        </p:txBody>
      </p:sp>
      <p:sp>
        <p:nvSpPr>
          <p:cNvPr id="17" name="Rectangle 16">
            <a:extLst>
              <a:ext uri="{FF2B5EF4-FFF2-40B4-BE49-F238E27FC236}">
                <a16:creationId xmlns:a16="http://schemas.microsoft.com/office/drawing/2014/main" id="{67530399-8FDB-50CD-E8FD-8E286DE1A2EA}"/>
              </a:ext>
            </a:extLst>
          </p:cNvPr>
          <p:cNvSpPr/>
          <p:nvPr/>
        </p:nvSpPr>
        <p:spPr>
          <a:xfrm>
            <a:off x="5879250" y="3496996"/>
            <a:ext cx="4681292" cy="471924"/>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584200" hangingPunct="0"/>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20 minutes</a:t>
            </a:r>
          </a:p>
        </p:txBody>
      </p:sp>
      <p:sp>
        <p:nvSpPr>
          <p:cNvPr id="18" name="Rectangle 17">
            <a:extLst>
              <a:ext uri="{FF2B5EF4-FFF2-40B4-BE49-F238E27FC236}">
                <a16:creationId xmlns:a16="http://schemas.microsoft.com/office/drawing/2014/main" id="{84DF6BD6-975A-3700-5E69-322EFF4F722E}"/>
              </a:ext>
            </a:extLst>
          </p:cNvPr>
          <p:cNvSpPr/>
          <p:nvPr/>
        </p:nvSpPr>
        <p:spPr>
          <a:xfrm>
            <a:off x="5874437" y="4634782"/>
            <a:ext cx="4681292" cy="1210588"/>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584200" hangingPunct="0"/>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Format agreed upon and transferred to “the wall” of the training room.</a:t>
            </a:r>
          </a:p>
        </p:txBody>
      </p:sp>
      <p:grpSp>
        <p:nvGrpSpPr>
          <p:cNvPr id="21" name="Group 20">
            <a:extLst>
              <a:ext uri="{FF2B5EF4-FFF2-40B4-BE49-F238E27FC236}">
                <a16:creationId xmlns:a16="http://schemas.microsoft.com/office/drawing/2014/main" id="{21418930-7731-EC21-4C08-225821D44469}"/>
              </a:ext>
            </a:extLst>
          </p:cNvPr>
          <p:cNvGrpSpPr/>
          <p:nvPr/>
        </p:nvGrpSpPr>
        <p:grpSpPr>
          <a:xfrm>
            <a:off x="838200" y="297639"/>
            <a:ext cx="4110990" cy="307138"/>
            <a:chOff x="838200" y="297639"/>
            <a:chExt cx="4110990" cy="307138"/>
          </a:xfrm>
        </p:grpSpPr>
        <p:grpSp>
          <p:nvGrpSpPr>
            <p:cNvPr id="22" name="Group 21">
              <a:extLst>
                <a:ext uri="{FF2B5EF4-FFF2-40B4-BE49-F238E27FC236}">
                  <a16:creationId xmlns:a16="http://schemas.microsoft.com/office/drawing/2014/main" id="{54964831-44E3-8C35-E4D7-29E6B077C666}"/>
                </a:ext>
              </a:extLst>
            </p:cNvPr>
            <p:cNvGrpSpPr/>
            <p:nvPr/>
          </p:nvGrpSpPr>
          <p:grpSpPr>
            <a:xfrm>
              <a:off x="838200" y="297639"/>
              <a:ext cx="1687517" cy="290657"/>
              <a:chOff x="838200" y="297639"/>
              <a:chExt cx="1687517" cy="290657"/>
            </a:xfrm>
          </p:grpSpPr>
          <p:sp>
            <p:nvSpPr>
              <p:cNvPr id="24" name="AutoShape 9">
                <a:extLst>
                  <a:ext uri="{FF2B5EF4-FFF2-40B4-BE49-F238E27FC236}">
                    <a16:creationId xmlns:a16="http://schemas.microsoft.com/office/drawing/2014/main" id="{237AC893-48C2-7311-2791-D44EB0B439F9}"/>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25" name="AutoShape 9">
                <a:extLst>
                  <a:ext uri="{FF2B5EF4-FFF2-40B4-BE49-F238E27FC236}">
                    <a16:creationId xmlns:a16="http://schemas.microsoft.com/office/drawing/2014/main" id="{2E3BFACF-0665-FF6F-6111-3123EB413DAC}"/>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26" name="Group 25">
                <a:extLst>
                  <a:ext uri="{FF2B5EF4-FFF2-40B4-BE49-F238E27FC236}">
                    <a16:creationId xmlns:a16="http://schemas.microsoft.com/office/drawing/2014/main" id="{0FA05D09-D9AD-73F1-A2DD-3DABA8AECBDD}"/>
                  </a:ext>
                </a:extLst>
              </p:cNvPr>
              <p:cNvGrpSpPr/>
              <p:nvPr/>
            </p:nvGrpSpPr>
            <p:grpSpPr>
              <a:xfrm>
                <a:off x="838200" y="297639"/>
                <a:ext cx="1060167" cy="290657"/>
                <a:chOff x="826426" y="4041857"/>
                <a:chExt cx="1060167" cy="290657"/>
              </a:xfrm>
            </p:grpSpPr>
            <p:sp>
              <p:nvSpPr>
                <p:cNvPr id="27" name="AutoShape 9">
                  <a:extLst>
                    <a:ext uri="{FF2B5EF4-FFF2-40B4-BE49-F238E27FC236}">
                      <a16:creationId xmlns:a16="http://schemas.microsoft.com/office/drawing/2014/main" id="{30903A04-D619-2AA2-9D03-BEC6F2DC9FD0}"/>
                    </a:ext>
                  </a:extLst>
                </p:cNvPr>
                <p:cNvSpPr>
                  <a:spLocks noChangeArrowheads="1"/>
                </p:cNvSpPr>
                <p:nvPr/>
              </p:nvSpPr>
              <p:spPr bwMode="auto">
                <a:xfrm>
                  <a:off x="145377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8" name="AutoShape 11">
                  <a:extLst>
                    <a:ext uri="{FF2B5EF4-FFF2-40B4-BE49-F238E27FC236}">
                      <a16:creationId xmlns:a16="http://schemas.microsoft.com/office/drawing/2014/main" id="{8991BFF2-86A2-017E-2770-79C52E804970}"/>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9" name="AutoShape 10">
                  <a:extLst>
                    <a:ext uri="{FF2B5EF4-FFF2-40B4-BE49-F238E27FC236}">
                      <a16:creationId xmlns:a16="http://schemas.microsoft.com/office/drawing/2014/main" id="{D0BCB2D8-D517-5039-69D0-87409DA395CD}"/>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23" name="TextBox 22">
              <a:extLst>
                <a:ext uri="{FF2B5EF4-FFF2-40B4-BE49-F238E27FC236}">
                  <a16:creationId xmlns:a16="http://schemas.microsoft.com/office/drawing/2014/main" id="{451B426E-62E2-AA02-0BC3-B960E50A13C2}"/>
                </a:ext>
              </a:extLst>
            </p:cNvPr>
            <p:cNvSpPr txBox="1"/>
            <p:nvPr/>
          </p:nvSpPr>
          <p:spPr>
            <a:xfrm>
              <a:off x="2525717" y="313415"/>
              <a:ext cx="242347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CEDAC Problem Cause</a:t>
              </a:r>
            </a:p>
          </p:txBody>
        </p:sp>
      </p:grpSp>
    </p:spTree>
    <p:extLst>
      <p:ext uri="{BB962C8B-B14F-4D97-AF65-F5344CB8AC3E}">
        <p14:creationId xmlns:p14="http://schemas.microsoft.com/office/powerpoint/2010/main" val="2860025482"/>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2DF11FF7-095F-D1A9-6784-C53D538A36FF}"/>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59</a:t>
            </a:fld>
            <a:endParaRPr lang="en-US"/>
          </a:p>
        </p:txBody>
      </p:sp>
      <p:sp>
        <p:nvSpPr>
          <p:cNvPr id="2" name="Title 1">
            <a:extLst>
              <a:ext uri="{FF2B5EF4-FFF2-40B4-BE49-F238E27FC236}">
                <a16:creationId xmlns:a16="http://schemas.microsoft.com/office/drawing/2014/main" id="{0D77BA17-B180-9889-85DC-DBE8C080CFB7}"/>
              </a:ext>
            </a:extLst>
          </p:cNvPr>
          <p:cNvSpPr>
            <a:spLocks noGrp="1"/>
          </p:cNvSpPr>
          <p:nvPr>
            <p:ph type="title" idx="4294967295"/>
          </p:nvPr>
        </p:nvSpPr>
        <p:spPr>
          <a:xfrm>
            <a:off x="699911" y="1497012"/>
            <a:ext cx="9815689" cy="1009650"/>
          </a:xfrm>
          <a:prstGeom prst="rect">
            <a:avLst/>
          </a:prstGeom>
        </p:spPr>
        <p:txBody>
          <a:bodyPr>
            <a:noAutofit/>
          </a:bodyPr>
          <a:lstStyle/>
          <a:p>
            <a:r>
              <a:rPr lang="en-US" sz="3200" dirty="0">
                <a:latin typeface="Roboto Medium"/>
                <a:ea typeface="Roboto Medium"/>
                <a:cs typeface="Roboto Medium"/>
              </a:rPr>
              <a:t>CEDAC Step 5 - Develop FACT Cards</a:t>
            </a:r>
          </a:p>
        </p:txBody>
      </p:sp>
      <p:sp>
        <p:nvSpPr>
          <p:cNvPr id="3" name="Content Placeholder 2">
            <a:extLst>
              <a:ext uri="{FF2B5EF4-FFF2-40B4-BE49-F238E27FC236}">
                <a16:creationId xmlns:a16="http://schemas.microsoft.com/office/drawing/2014/main" id="{30534846-F3D4-20E7-25C0-91FCF7736CB5}"/>
              </a:ext>
            </a:extLst>
          </p:cNvPr>
          <p:cNvSpPr>
            <a:spLocks noGrp="1"/>
          </p:cNvSpPr>
          <p:nvPr>
            <p:ph idx="4294967295"/>
          </p:nvPr>
        </p:nvSpPr>
        <p:spPr>
          <a:xfrm>
            <a:off x="722489" y="2506662"/>
            <a:ext cx="10515600" cy="4351338"/>
          </a:xfrm>
        </p:spPr>
        <p:txBody>
          <a:bodyPr/>
          <a:lstStyle/>
          <a:p>
            <a:pPr marL="0" indent="0">
              <a:buNone/>
            </a:pPr>
            <a:r>
              <a:rPr lang="en-US" dirty="0">
                <a:latin typeface="Roboto Medium" panose="02000000000000000000" pitchFamily="2" charset="0"/>
                <a:ea typeface="Roboto Medium" panose="02000000000000000000" pitchFamily="2" charset="0"/>
                <a:cs typeface="Roboto Medium" panose="02000000000000000000" pitchFamily="2" charset="0"/>
              </a:rPr>
              <a:t>Objectives:</a:t>
            </a:r>
          </a:p>
          <a:p>
            <a:r>
              <a:rPr lang="en-US" sz="2400" dirty="0"/>
              <a:t>Define FACT Cards and how they are used</a:t>
            </a:r>
          </a:p>
          <a:p>
            <a:r>
              <a:rPr lang="en-US" sz="2400" dirty="0"/>
              <a:t>Describe the detail of the format for a FACT Card and review example</a:t>
            </a:r>
          </a:p>
          <a:p>
            <a:r>
              <a:rPr lang="en-US" sz="2400" dirty="0"/>
              <a:t>Describe process for developing and posting the FACT Cards</a:t>
            </a:r>
          </a:p>
          <a:p>
            <a:r>
              <a:rPr lang="en-US" sz="2400" dirty="0"/>
              <a:t>Complete development of FACT Cards for business problem</a:t>
            </a:r>
          </a:p>
          <a:p>
            <a:r>
              <a:rPr lang="en-US" sz="2400" dirty="0"/>
              <a:t>Conduct team review of FACT Cards</a:t>
            </a:r>
          </a:p>
        </p:txBody>
      </p:sp>
      <p:grpSp>
        <p:nvGrpSpPr>
          <p:cNvPr id="11" name="Group 10">
            <a:extLst>
              <a:ext uri="{FF2B5EF4-FFF2-40B4-BE49-F238E27FC236}">
                <a16:creationId xmlns:a16="http://schemas.microsoft.com/office/drawing/2014/main" id="{DCC7CB02-4F0E-2CE8-9EF1-D9AEB4FA2691}"/>
              </a:ext>
            </a:extLst>
          </p:cNvPr>
          <p:cNvGrpSpPr/>
          <p:nvPr/>
        </p:nvGrpSpPr>
        <p:grpSpPr>
          <a:xfrm>
            <a:off x="699911" y="837133"/>
            <a:ext cx="7273624" cy="659879"/>
            <a:chOff x="699911" y="1069861"/>
            <a:chExt cx="7273624" cy="350130"/>
          </a:xfrm>
        </p:grpSpPr>
        <p:sp>
          <p:nvSpPr>
            <p:cNvPr id="5" name="AutoShape 9">
              <a:extLst>
                <a:ext uri="{FF2B5EF4-FFF2-40B4-BE49-F238E27FC236}">
                  <a16:creationId xmlns:a16="http://schemas.microsoft.com/office/drawing/2014/main" id="{A10A2475-FBAF-2DA7-EE48-9E0556DB3824}"/>
                </a:ext>
              </a:extLst>
            </p:cNvPr>
            <p:cNvSpPr>
              <a:spLocks noChangeArrowheads="1"/>
            </p:cNvSpPr>
            <p:nvPr/>
          </p:nvSpPr>
          <p:spPr bwMode="auto">
            <a:xfrm>
              <a:off x="6395259" y="1069861"/>
              <a:ext cx="1578276" cy="350130"/>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200" dirty="0">
                  <a:solidFill>
                    <a:schemeClr val="bg1"/>
                  </a:solidFill>
                  <a:latin typeface="Roboto" panose="02000000000000000000" pitchFamily="2" charset="0"/>
                  <a:ea typeface="Roboto" panose="02000000000000000000" pitchFamily="2" charset="0"/>
                  <a:cs typeface="Roboto" panose="02000000000000000000" pitchFamily="2" charset="0"/>
                </a:rPr>
                <a:t>CEDAC Review</a:t>
              </a:r>
            </a:p>
          </p:txBody>
        </p:sp>
        <p:sp>
          <p:nvSpPr>
            <p:cNvPr id="4" name="AutoShape 9">
              <a:extLst>
                <a:ext uri="{FF2B5EF4-FFF2-40B4-BE49-F238E27FC236}">
                  <a16:creationId xmlns:a16="http://schemas.microsoft.com/office/drawing/2014/main" id="{663C2CC0-8818-6B25-BBA3-89708896610A}"/>
                </a:ext>
              </a:extLst>
            </p:cNvPr>
            <p:cNvSpPr>
              <a:spLocks noChangeArrowheads="1"/>
            </p:cNvSpPr>
            <p:nvPr/>
          </p:nvSpPr>
          <p:spPr bwMode="auto">
            <a:xfrm>
              <a:off x="4971710" y="1069861"/>
              <a:ext cx="1578276" cy="350130"/>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200" dirty="0">
                  <a:solidFill>
                    <a:schemeClr val="bg1"/>
                  </a:solidFill>
                  <a:latin typeface="Roboto" panose="02000000000000000000" pitchFamily="2" charset="0"/>
                  <a:ea typeface="Roboto" panose="02000000000000000000" pitchFamily="2" charset="0"/>
                  <a:cs typeface="Roboto" panose="02000000000000000000" pitchFamily="2" charset="0"/>
                </a:rPr>
                <a:t>CEDAC Solution</a:t>
              </a:r>
            </a:p>
          </p:txBody>
        </p:sp>
        <p:grpSp>
          <p:nvGrpSpPr>
            <p:cNvPr id="10" name="Group 9">
              <a:extLst>
                <a:ext uri="{FF2B5EF4-FFF2-40B4-BE49-F238E27FC236}">
                  <a16:creationId xmlns:a16="http://schemas.microsoft.com/office/drawing/2014/main" id="{DF07BA82-F1D2-01EE-36D7-0CE1E1021337}"/>
                </a:ext>
              </a:extLst>
            </p:cNvPr>
            <p:cNvGrpSpPr/>
            <p:nvPr/>
          </p:nvGrpSpPr>
          <p:grpSpPr>
            <a:xfrm>
              <a:off x="699911" y="1069861"/>
              <a:ext cx="4425950" cy="350130"/>
              <a:chOff x="5627530" y="641179"/>
              <a:chExt cx="6564470" cy="804977"/>
            </a:xfrm>
          </p:grpSpPr>
          <p:sp>
            <p:nvSpPr>
              <p:cNvPr id="7" name="AutoShape 9">
                <a:extLst>
                  <a:ext uri="{FF2B5EF4-FFF2-40B4-BE49-F238E27FC236}">
                    <a16:creationId xmlns:a16="http://schemas.microsoft.com/office/drawing/2014/main" id="{E658DE7F-EAE7-7BD9-8492-805CBFCFF7F5}"/>
                  </a:ext>
                </a:extLst>
              </p:cNvPr>
              <p:cNvSpPr>
                <a:spLocks noChangeArrowheads="1"/>
              </p:cNvSpPr>
              <p:nvPr/>
            </p:nvSpPr>
            <p:spPr bwMode="auto">
              <a:xfrm>
                <a:off x="9851136" y="641179"/>
                <a:ext cx="2340864" cy="804977"/>
              </a:xfrm>
              <a:prstGeom prst="homePlate">
                <a:avLst>
                  <a:gd name="adj" fmla="val 29912"/>
                </a:avLst>
              </a:prstGeom>
              <a:solidFill>
                <a:srgbClr val="FFB627"/>
              </a:solidFill>
              <a:ln w="12700" cap="sq">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r>
                  <a:rPr lang="en-US" altLang="en-US" sz="1200" dirty="0">
                    <a:latin typeface="Roboto" panose="02000000000000000000" pitchFamily="2" charset="0"/>
                    <a:ea typeface="Roboto" panose="02000000000000000000" pitchFamily="2" charset="0"/>
                  </a:rPr>
                  <a:t>CEDAC Cause</a:t>
                </a:r>
              </a:p>
            </p:txBody>
          </p:sp>
          <p:sp>
            <p:nvSpPr>
              <p:cNvPr id="8" name="AutoShape 10">
                <a:extLst>
                  <a:ext uri="{FF2B5EF4-FFF2-40B4-BE49-F238E27FC236}">
                    <a16:creationId xmlns:a16="http://schemas.microsoft.com/office/drawing/2014/main" id="{3B341166-AC1F-8D30-9314-0FB3D948387F}"/>
                  </a:ext>
                </a:extLst>
              </p:cNvPr>
              <p:cNvSpPr>
                <a:spLocks noChangeArrowheads="1"/>
              </p:cNvSpPr>
              <p:nvPr/>
            </p:nvSpPr>
            <p:spPr bwMode="auto">
              <a:xfrm>
                <a:off x="7737856" y="641180"/>
                <a:ext cx="2342768" cy="80497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r>
                  <a:rPr lang="en-US" altLang="en-US" sz="1200" dirty="0">
                    <a:solidFill>
                      <a:schemeClr val="bg1"/>
                    </a:solidFill>
                    <a:latin typeface="Roboto" panose="02000000000000000000" pitchFamily="2" charset="0"/>
                    <a:ea typeface="Roboto" panose="02000000000000000000" pitchFamily="2" charset="0"/>
                  </a:rPr>
                  <a:t>CEDAC Effect</a:t>
                </a:r>
              </a:p>
            </p:txBody>
          </p:sp>
          <p:sp>
            <p:nvSpPr>
              <p:cNvPr id="9" name="AutoShape 11">
                <a:extLst>
                  <a:ext uri="{FF2B5EF4-FFF2-40B4-BE49-F238E27FC236}">
                    <a16:creationId xmlns:a16="http://schemas.microsoft.com/office/drawing/2014/main" id="{2AB16F46-B5FA-96F3-91C2-07B2F2F1CC6C}"/>
                  </a:ext>
                </a:extLst>
              </p:cNvPr>
              <p:cNvSpPr>
                <a:spLocks noChangeArrowheads="1"/>
              </p:cNvSpPr>
              <p:nvPr/>
            </p:nvSpPr>
            <p:spPr bwMode="auto">
              <a:xfrm>
                <a:off x="5627530" y="641179"/>
                <a:ext cx="2340864" cy="804977"/>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r>
                  <a:rPr lang="en-US" altLang="en-US" sz="1200" dirty="0">
                    <a:solidFill>
                      <a:schemeClr val="bg1"/>
                    </a:solidFill>
                    <a:latin typeface="Roboto" panose="02000000000000000000" pitchFamily="2" charset="0"/>
                    <a:ea typeface="Roboto" panose="02000000000000000000" pitchFamily="2" charset="0"/>
                  </a:rPr>
                  <a:t>CEDAC Overview</a:t>
                </a:r>
              </a:p>
            </p:txBody>
          </p:sp>
        </p:grpSp>
      </p:grpSp>
      <p:cxnSp>
        <p:nvCxnSpPr>
          <p:cNvPr id="12" name="Straight Connector 11">
            <a:extLst>
              <a:ext uri="{FF2B5EF4-FFF2-40B4-BE49-F238E27FC236}">
                <a16:creationId xmlns:a16="http://schemas.microsoft.com/office/drawing/2014/main" id="{A4FB0DFD-2D15-952D-9825-996B08251FD4}"/>
              </a:ext>
            </a:extLst>
          </p:cNvPr>
          <p:cNvCxnSpPr/>
          <p:nvPr/>
        </p:nvCxnSpPr>
        <p:spPr>
          <a:xfrm>
            <a:off x="699911" y="2386919"/>
            <a:ext cx="3882975" cy="0"/>
          </a:xfrm>
          <a:prstGeom prst="line">
            <a:avLst/>
          </a:prstGeom>
          <a:ln w="254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28027001"/>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lstStyle/>
          <a:p>
            <a:r>
              <a:rPr lang="en-US" dirty="0"/>
              <a:t>Steps of the CEDAC Process</a:t>
            </a:r>
          </a:p>
        </p:txBody>
      </p:sp>
      <p:sp>
        <p:nvSpPr>
          <p:cNvPr id="3" name="Content Placeholder 2">
            <a:extLst>
              <a:ext uri="{FF2B5EF4-FFF2-40B4-BE49-F238E27FC236}">
                <a16:creationId xmlns:a16="http://schemas.microsoft.com/office/drawing/2014/main" id="{2AA7A201-AD05-6520-E140-CCF11E59E700}"/>
              </a:ext>
            </a:extLst>
          </p:cNvPr>
          <p:cNvSpPr>
            <a:spLocks noGrp="1"/>
          </p:cNvSpPr>
          <p:nvPr>
            <p:ph idx="1"/>
          </p:nvPr>
        </p:nvSpPr>
        <p:spPr>
          <a:xfrm>
            <a:off x="3200400" y="1825625"/>
            <a:ext cx="8153400" cy="4351338"/>
          </a:xfrm>
        </p:spPr>
        <p:txBody>
          <a:bodyPr>
            <a:normAutofit fontScale="92500" lnSpcReduction="20000"/>
          </a:bodyPr>
          <a:lstStyle/>
          <a:p>
            <a:pPr marL="514350" indent="-514350">
              <a:buFont typeface="+mj-lt"/>
              <a:buAutoNum type="arabicPeriod"/>
            </a:pPr>
            <a:r>
              <a:rPr lang="en-US" dirty="0"/>
              <a:t>Define problem</a:t>
            </a:r>
          </a:p>
          <a:p>
            <a:pPr marL="514350" indent="-514350">
              <a:buFont typeface="+mj-lt"/>
              <a:buAutoNum type="arabicPeriod"/>
            </a:pPr>
            <a:r>
              <a:rPr lang="en-US" dirty="0"/>
              <a:t>Establish and validate metrics</a:t>
            </a:r>
          </a:p>
          <a:p>
            <a:pPr marL="514350" indent="-514350">
              <a:buFont typeface="+mj-lt"/>
              <a:buAutoNum type="arabicPeriod"/>
            </a:pPr>
            <a:r>
              <a:rPr lang="en-US" dirty="0"/>
              <a:t>Determine Objective Statement </a:t>
            </a:r>
          </a:p>
          <a:p>
            <a:pPr marL="514350" indent="-514350">
              <a:buFont typeface="+mj-lt"/>
              <a:buAutoNum type="arabicPeriod"/>
            </a:pPr>
            <a:r>
              <a:rPr lang="en-US" dirty="0"/>
              <a:t>Create CEDAC diagram (Flowchart, Fishbone, etc.)</a:t>
            </a:r>
          </a:p>
          <a:p>
            <a:pPr marL="514350" indent="-514350">
              <a:buFont typeface="+mj-lt"/>
              <a:buAutoNum type="arabicPeriod"/>
            </a:pPr>
            <a:r>
              <a:rPr lang="en-US" dirty="0"/>
              <a:t>Brainstorm and create FACT Cards (in yellow) and post on diagram</a:t>
            </a:r>
          </a:p>
          <a:p>
            <a:pPr marL="514350" indent="-514350">
              <a:buFont typeface="+mj-lt"/>
              <a:buAutoNum type="arabicPeriod"/>
            </a:pPr>
            <a:r>
              <a:rPr lang="en-US" dirty="0"/>
              <a:t>Brainstorm and create IMPROVEMENT Cards (in blue) and post on diagram</a:t>
            </a:r>
          </a:p>
          <a:p>
            <a:pPr marL="514350" indent="-514350">
              <a:buFont typeface="+mj-lt"/>
              <a:buAutoNum type="arabicPeriod"/>
            </a:pPr>
            <a:r>
              <a:rPr lang="en-US" dirty="0"/>
              <a:t>Take action on the IMPROVEMENT cards</a:t>
            </a:r>
          </a:p>
          <a:p>
            <a:pPr marL="514350" indent="-514350">
              <a:buFont typeface="+mj-lt"/>
              <a:buAutoNum type="arabicPeriod"/>
            </a:pPr>
            <a:r>
              <a:rPr lang="en-US" dirty="0"/>
              <a:t>Institutionalize improvements (countermeasures) that have proven to solve the problem</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60</a:t>
            </a:fld>
            <a:endParaRPr lang="en-US"/>
          </a:p>
        </p:txBody>
      </p:sp>
      <p:grpSp>
        <p:nvGrpSpPr>
          <p:cNvPr id="14" name="Group 13">
            <a:extLst>
              <a:ext uri="{FF2B5EF4-FFF2-40B4-BE49-F238E27FC236}">
                <a16:creationId xmlns:a16="http://schemas.microsoft.com/office/drawing/2014/main" id="{D41303C2-E018-19D2-0EB5-6DA73CD24807}"/>
              </a:ext>
            </a:extLst>
          </p:cNvPr>
          <p:cNvGrpSpPr/>
          <p:nvPr/>
        </p:nvGrpSpPr>
        <p:grpSpPr>
          <a:xfrm>
            <a:off x="838200" y="297639"/>
            <a:ext cx="4110990" cy="307138"/>
            <a:chOff x="838200" y="297639"/>
            <a:chExt cx="4110990" cy="307138"/>
          </a:xfrm>
        </p:grpSpPr>
        <p:grpSp>
          <p:nvGrpSpPr>
            <p:cNvPr id="15" name="Group 14">
              <a:extLst>
                <a:ext uri="{FF2B5EF4-FFF2-40B4-BE49-F238E27FC236}">
                  <a16:creationId xmlns:a16="http://schemas.microsoft.com/office/drawing/2014/main" id="{E5786EBA-3CE5-0613-28ED-FAC08B873002}"/>
                </a:ext>
              </a:extLst>
            </p:cNvPr>
            <p:cNvGrpSpPr/>
            <p:nvPr/>
          </p:nvGrpSpPr>
          <p:grpSpPr>
            <a:xfrm>
              <a:off x="838200" y="297639"/>
              <a:ext cx="1687517" cy="290657"/>
              <a:chOff x="838200" y="297639"/>
              <a:chExt cx="1687517" cy="290657"/>
            </a:xfrm>
          </p:grpSpPr>
          <p:sp>
            <p:nvSpPr>
              <p:cNvPr id="17" name="AutoShape 9">
                <a:extLst>
                  <a:ext uri="{FF2B5EF4-FFF2-40B4-BE49-F238E27FC236}">
                    <a16:creationId xmlns:a16="http://schemas.microsoft.com/office/drawing/2014/main" id="{B174F6F9-D206-07A7-A64A-B68DDBDC1860}"/>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8" name="AutoShape 9">
                <a:extLst>
                  <a:ext uri="{FF2B5EF4-FFF2-40B4-BE49-F238E27FC236}">
                    <a16:creationId xmlns:a16="http://schemas.microsoft.com/office/drawing/2014/main" id="{E8BB91E2-C1AC-FCCB-16DF-8C2FF5B3FF85}"/>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19" name="Group 18">
                <a:extLst>
                  <a:ext uri="{FF2B5EF4-FFF2-40B4-BE49-F238E27FC236}">
                    <a16:creationId xmlns:a16="http://schemas.microsoft.com/office/drawing/2014/main" id="{E2AC478D-7F21-38EF-5560-D40E7C498246}"/>
                  </a:ext>
                </a:extLst>
              </p:cNvPr>
              <p:cNvGrpSpPr/>
              <p:nvPr/>
            </p:nvGrpSpPr>
            <p:grpSpPr>
              <a:xfrm>
                <a:off x="838200" y="297639"/>
                <a:ext cx="1060167" cy="290657"/>
                <a:chOff x="826426" y="4041857"/>
                <a:chExt cx="1060167" cy="290657"/>
              </a:xfrm>
            </p:grpSpPr>
            <p:sp>
              <p:nvSpPr>
                <p:cNvPr id="20" name="AutoShape 9">
                  <a:extLst>
                    <a:ext uri="{FF2B5EF4-FFF2-40B4-BE49-F238E27FC236}">
                      <a16:creationId xmlns:a16="http://schemas.microsoft.com/office/drawing/2014/main" id="{12AB7CB1-4480-4FEE-CE6F-B4F2FA2C986A}"/>
                    </a:ext>
                  </a:extLst>
                </p:cNvPr>
                <p:cNvSpPr>
                  <a:spLocks noChangeArrowheads="1"/>
                </p:cNvSpPr>
                <p:nvPr/>
              </p:nvSpPr>
              <p:spPr bwMode="auto">
                <a:xfrm>
                  <a:off x="145377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1" name="AutoShape 11">
                  <a:extLst>
                    <a:ext uri="{FF2B5EF4-FFF2-40B4-BE49-F238E27FC236}">
                      <a16:creationId xmlns:a16="http://schemas.microsoft.com/office/drawing/2014/main" id="{AA5419CA-4052-22B2-630C-B0633134EA3A}"/>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2" name="AutoShape 10">
                  <a:extLst>
                    <a:ext uri="{FF2B5EF4-FFF2-40B4-BE49-F238E27FC236}">
                      <a16:creationId xmlns:a16="http://schemas.microsoft.com/office/drawing/2014/main" id="{CCE40F93-E620-B6AC-E23C-FC6C2C06EBAF}"/>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16" name="TextBox 15">
              <a:extLst>
                <a:ext uri="{FF2B5EF4-FFF2-40B4-BE49-F238E27FC236}">
                  <a16:creationId xmlns:a16="http://schemas.microsoft.com/office/drawing/2014/main" id="{9A4733ED-8095-60E0-242E-EA2095CF4379}"/>
                </a:ext>
              </a:extLst>
            </p:cNvPr>
            <p:cNvSpPr txBox="1"/>
            <p:nvPr/>
          </p:nvSpPr>
          <p:spPr>
            <a:xfrm>
              <a:off x="2525717" y="313415"/>
              <a:ext cx="242347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CEDAC Problem Cause</a:t>
              </a:r>
            </a:p>
          </p:txBody>
        </p:sp>
      </p:grpSp>
      <p:sp>
        <p:nvSpPr>
          <p:cNvPr id="4" name="AutoShape 4">
            <a:extLst>
              <a:ext uri="{FF2B5EF4-FFF2-40B4-BE49-F238E27FC236}">
                <a16:creationId xmlns:a16="http://schemas.microsoft.com/office/drawing/2014/main" id="{2C717994-A0D3-16DA-F97C-85BEFFB148BC}"/>
              </a:ext>
            </a:extLst>
          </p:cNvPr>
          <p:cNvSpPr>
            <a:spLocks/>
          </p:cNvSpPr>
          <p:nvPr/>
        </p:nvSpPr>
        <p:spPr bwMode="auto">
          <a:xfrm flipH="1">
            <a:off x="2898773" y="1823551"/>
            <a:ext cx="301626" cy="1111921"/>
          </a:xfrm>
          <a:prstGeom prst="rightBrace">
            <a:avLst>
              <a:gd name="adj1" fmla="val 34561"/>
              <a:gd name="adj2" fmla="val 50000"/>
            </a:avLst>
          </a:prstGeom>
          <a:noFill/>
          <a:ln w="28575" cap="sq">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5000"/>
              </a:lnSpc>
              <a:buFont typeface="Wingdings" panose="05000000000000000000" pitchFamily="2" charset="2"/>
              <a:buNone/>
            </a:pPr>
            <a:endParaRPr lang="en-US" altLang="en-US" sz="1600"/>
          </a:p>
        </p:txBody>
      </p:sp>
      <p:sp>
        <p:nvSpPr>
          <p:cNvPr id="6" name="Text Box 5">
            <a:extLst>
              <a:ext uri="{FF2B5EF4-FFF2-40B4-BE49-F238E27FC236}">
                <a16:creationId xmlns:a16="http://schemas.microsoft.com/office/drawing/2014/main" id="{BB3ABBE3-744D-E1E3-8C89-8C1459A43648}"/>
              </a:ext>
            </a:extLst>
          </p:cNvPr>
          <p:cNvSpPr txBox="1">
            <a:spLocks noChangeArrowheads="1"/>
          </p:cNvSpPr>
          <p:nvPr/>
        </p:nvSpPr>
        <p:spPr bwMode="auto">
          <a:xfrm>
            <a:off x="1015999" y="2082705"/>
            <a:ext cx="1517655" cy="3139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wrap="square">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80000"/>
              </a:lnSpc>
              <a:spcBef>
                <a:spcPct val="20000"/>
              </a:spcBef>
              <a:spcAft>
                <a:spcPct val="0"/>
              </a:spcAft>
              <a:buClrTx/>
              <a:buSzTx/>
              <a:buFontTx/>
              <a:buNone/>
            </a:pPr>
            <a:r>
              <a:rPr lang="en-US" altLang="en-US" sz="1800" dirty="0">
                <a:latin typeface="Roboto" panose="02000000000000000000" pitchFamily="2" charset="0"/>
                <a:ea typeface="Roboto" panose="02000000000000000000" pitchFamily="2" charset="0"/>
              </a:rPr>
              <a:t>The </a:t>
            </a:r>
            <a:r>
              <a:rPr lang="ja-JP" altLang="en-US" sz="1800" dirty="0">
                <a:latin typeface="Roboto" panose="02000000000000000000" pitchFamily="2" charset="0"/>
              </a:rPr>
              <a:t>“</a:t>
            </a:r>
            <a:r>
              <a:rPr lang="en-US" altLang="ja-JP" sz="1800" dirty="0">
                <a:latin typeface="Roboto" panose="02000000000000000000" pitchFamily="2" charset="0"/>
                <a:ea typeface="Roboto" panose="02000000000000000000" pitchFamily="2" charset="0"/>
              </a:rPr>
              <a:t>Effect</a:t>
            </a:r>
            <a:r>
              <a:rPr lang="ja-JP" altLang="en-US" sz="1800" dirty="0">
                <a:latin typeface="Roboto" panose="02000000000000000000" pitchFamily="2" charset="0"/>
              </a:rPr>
              <a:t>”</a:t>
            </a:r>
            <a:endParaRPr lang="en-US" altLang="en-US" sz="1800" dirty="0">
              <a:latin typeface="Roboto" panose="02000000000000000000" pitchFamily="2" charset="0"/>
              <a:ea typeface="Roboto" panose="02000000000000000000" pitchFamily="2" charset="0"/>
            </a:endParaRPr>
          </a:p>
        </p:txBody>
      </p:sp>
      <p:sp>
        <p:nvSpPr>
          <p:cNvPr id="7" name="Text Box 6">
            <a:extLst>
              <a:ext uri="{FF2B5EF4-FFF2-40B4-BE49-F238E27FC236}">
                <a16:creationId xmlns:a16="http://schemas.microsoft.com/office/drawing/2014/main" id="{A328E56B-D593-3A7D-5959-8ABD25C46B81}"/>
              </a:ext>
            </a:extLst>
          </p:cNvPr>
          <p:cNvSpPr txBox="1">
            <a:spLocks noChangeArrowheads="1"/>
          </p:cNvSpPr>
          <p:nvPr/>
        </p:nvSpPr>
        <p:spPr bwMode="auto">
          <a:xfrm>
            <a:off x="1054608" y="3161234"/>
            <a:ext cx="1568455" cy="3139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wrap="square">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80000"/>
              </a:lnSpc>
              <a:spcBef>
                <a:spcPct val="20000"/>
              </a:spcBef>
              <a:spcAft>
                <a:spcPct val="0"/>
              </a:spcAft>
              <a:buClrTx/>
              <a:buSzTx/>
              <a:buFontTx/>
              <a:buNone/>
            </a:pPr>
            <a:r>
              <a:rPr lang="en-US" altLang="en-US" sz="1800" dirty="0">
                <a:latin typeface="Roboto" panose="02000000000000000000" pitchFamily="2" charset="0"/>
                <a:ea typeface="Roboto" panose="02000000000000000000" pitchFamily="2" charset="0"/>
              </a:rPr>
              <a:t>The </a:t>
            </a:r>
            <a:r>
              <a:rPr lang="ja-JP" altLang="en-US" sz="1800" dirty="0">
                <a:latin typeface="Roboto" panose="02000000000000000000" pitchFamily="2" charset="0"/>
              </a:rPr>
              <a:t>“</a:t>
            </a:r>
            <a:r>
              <a:rPr lang="en-US" altLang="ja-JP" sz="1800" dirty="0">
                <a:latin typeface="Roboto" panose="02000000000000000000" pitchFamily="2" charset="0"/>
                <a:ea typeface="Roboto" panose="02000000000000000000" pitchFamily="2" charset="0"/>
              </a:rPr>
              <a:t>Cause</a:t>
            </a:r>
            <a:r>
              <a:rPr lang="ja-JP" altLang="en-US" sz="1800" dirty="0">
                <a:latin typeface="Roboto" panose="02000000000000000000" pitchFamily="2" charset="0"/>
              </a:rPr>
              <a:t>”</a:t>
            </a:r>
            <a:endParaRPr lang="en-US" altLang="en-US" sz="1800" dirty="0">
              <a:latin typeface="Roboto" panose="02000000000000000000" pitchFamily="2" charset="0"/>
              <a:ea typeface="Roboto" panose="02000000000000000000" pitchFamily="2" charset="0"/>
            </a:endParaRPr>
          </a:p>
        </p:txBody>
      </p:sp>
      <p:sp>
        <p:nvSpPr>
          <p:cNvPr id="8" name="Text Box 7">
            <a:extLst>
              <a:ext uri="{FF2B5EF4-FFF2-40B4-BE49-F238E27FC236}">
                <a16:creationId xmlns:a16="http://schemas.microsoft.com/office/drawing/2014/main" id="{C1C25B89-DA4A-74B2-B4EA-E52AE658D2EB}"/>
              </a:ext>
            </a:extLst>
          </p:cNvPr>
          <p:cNvSpPr txBox="1">
            <a:spLocks noChangeArrowheads="1"/>
          </p:cNvSpPr>
          <p:nvPr/>
        </p:nvSpPr>
        <p:spPr bwMode="auto">
          <a:xfrm>
            <a:off x="1015999" y="4655928"/>
            <a:ext cx="1820868" cy="5293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wrap="square">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80000"/>
              </a:lnSpc>
              <a:spcBef>
                <a:spcPct val="20000"/>
              </a:spcBef>
              <a:spcAft>
                <a:spcPct val="0"/>
              </a:spcAft>
              <a:buClrTx/>
              <a:buSzTx/>
              <a:buFontTx/>
              <a:buNone/>
            </a:pPr>
            <a:r>
              <a:rPr lang="en-US" altLang="en-US" sz="1800" dirty="0">
                <a:latin typeface="Roboto" panose="02000000000000000000" pitchFamily="2" charset="0"/>
                <a:ea typeface="Roboto" panose="02000000000000000000" pitchFamily="2" charset="0"/>
              </a:rPr>
              <a:t>The </a:t>
            </a:r>
            <a:r>
              <a:rPr lang="ja-JP" altLang="en-US" sz="1800" dirty="0">
                <a:latin typeface="Roboto" panose="02000000000000000000" pitchFamily="2" charset="0"/>
              </a:rPr>
              <a:t>“</a:t>
            </a:r>
            <a:r>
              <a:rPr lang="en-US" altLang="ja-JP" sz="1800" dirty="0">
                <a:latin typeface="Roboto" panose="02000000000000000000" pitchFamily="2" charset="0"/>
                <a:ea typeface="Roboto" panose="02000000000000000000" pitchFamily="2" charset="0"/>
              </a:rPr>
              <a:t>Solution</a:t>
            </a:r>
            <a:r>
              <a:rPr lang="ja-JP" altLang="en-US" sz="1800" dirty="0">
                <a:latin typeface="Roboto" panose="02000000000000000000" pitchFamily="2" charset="0"/>
              </a:rPr>
              <a:t>”</a:t>
            </a:r>
            <a:endParaRPr lang="en-US" altLang="ja-JP" sz="1800" dirty="0">
              <a:latin typeface="Roboto" panose="02000000000000000000" pitchFamily="2" charset="0"/>
              <a:ea typeface="Roboto" panose="02000000000000000000" pitchFamily="2" charset="0"/>
            </a:endParaRPr>
          </a:p>
          <a:p>
            <a:pPr>
              <a:lnSpc>
                <a:spcPct val="80000"/>
              </a:lnSpc>
              <a:spcBef>
                <a:spcPct val="20000"/>
              </a:spcBef>
              <a:spcAft>
                <a:spcPct val="0"/>
              </a:spcAft>
              <a:buClrTx/>
              <a:buSzTx/>
              <a:buFontTx/>
              <a:buNone/>
            </a:pPr>
            <a:r>
              <a:rPr lang="en-US" altLang="en-US" sz="1400" dirty="0">
                <a:latin typeface="Roboto" panose="02000000000000000000" pitchFamily="2" charset="0"/>
                <a:ea typeface="Roboto" panose="02000000000000000000" pitchFamily="2" charset="0"/>
              </a:rPr>
              <a:t>(countermeasures)</a:t>
            </a:r>
          </a:p>
        </p:txBody>
      </p:sp>
      <p:sp>
        <p:nvSpPr>
          <p:cNvPr id="9" name="AutoShape 8">
            <a:extLst>
              <a:ext uri="{FF2B5EF4-FFF2-40B4-BE49-F238E27FC236}">
                <a16:creationId xmlns:a16="http://schemas.microsoft.com/office/drawing/2014/main" id="{522701E4-0150-E859-6D9E-FED001303A36}"/>
              </a:ext>
            </a:extLst>
          </p:cNvPr>
          <p:cNvSpPr>
            <a:spLocks/>
          </p:cNvSpPr>
          <p:nvPr/>
        </p:nvSpPr>
        <p:spPr bwMode="auto">
          <a:xfrm flipH="1">
            <a:off x="2898773" y="3045104"/>
            <a:ext cx="301626" cy="685422"/>
          </a:xfrm>
          <a:prstGeom prst="rightBrace">
            <a:avLst>
              <a:gd name="adj1" fmla="val 19123"/>
              <a:gd name="adj2" fmla="val 50000"/>
            </a:avLst>
          </a:prstGeom>
          <a:noFill/>
          <a:ln w="28575" cap="sq">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5000"/>
              </a:lnSpc>
              <a:buFont typeface="Wingdings" panose="05000000000000000000" pitchFamily="2" charset="2"/>
              <a:buNone/>
            </a:pPr>
            <a:endParaRPr lang="en-US" altLang="en-US" sz="1600"/>
          </a:p>
        </p:txBody>
      </p:sp>
      <p:sp>
        <p:nvSpPr>
          <p:cNvPr id="10" name="AutoShape 9">
            <a:extLst>
              <a:ext uri="{FF2B5EF4-FFF2-40B4-BE49-F238E27FC236}">
                <a16:creationId xmlns:a16="http://schemas.microsoft.com/office/drawing/2014/main" id="{35E8A71A-28DB-67DD-4CED-54BA17786406}"/>
              </a:ext>
            </a:extLst>
          </p:cNvPr>
          <p:cNvSpPr>
            <a:spLocks/>
          </p:cNvSpPr>
          <p:nvPr/>
        </p:nvSpPr>
        <p:spPr bwMode="auto">
          <a:xfrm flipH="1">
            <a:off x="2898773" y="4160521"/>
            <a:ext cx="301626" cy="1520190"/>
          </a:xfrm>
          <a:prstGeom prst="rightBrace">
            <a:avLst>
              <a:gd name="adj1" fmla="val 42412"/>
              <a:gd name="adj2" fmla="val 50000"/>
            </a:avLst>
          </a:prstGeom>
          <a:noFill/>
          <a:ln w="28575" cap="sq">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5000"/>
              </a:lnSpc>
              <a:buFont typeface="Wingdings" panose="05000000000000000000" pitchFamily="2" charset="2"/>
              <a:buNone/>
            </a:pPr>
            <a:endParaRPr lang="en-US" altLang="en-US" sz="1600"/>
          </a:p>
        </p:txBody>
      </p:sp>
      <p:sp>
        <p:nvSpPr>
          <p:cNvPr id="11" name="Rectangle 10">
            <a:extLst>
              <a:ext uri="{FF2B5EF4-FFF2-40B4-BE49-F238E27FC236}">
                <a16:creationId xmlns:a16="http://schemas.microsoft.com/office/drawing/2014/main" id="{B6A14166-925E-815D-420A-2FFA7F5E726F}"/>
              </a:ext>
            </a:extLst>
          </p:cNvPr>
          <p:cNvSpPr/>
          <p:nvPr/>
        </p:nvSpPr>
        <p:spPr>
          <a:xfrm>
            <a:off x="3200399" y="3394597"/>
            <a:ext cx="8023861" cy="685422"/>
          </a:xfrm>
          <a:prstGeom prst="rect">
            <a:avLst/>
          </a:prstGeom>
          <a:no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402110752"/>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normAutofit/>
          </a:bodyPr>
          <a:lstStyle/>
          <a:p>
            <a:r>
              <a:rPr lang="en-US" sz="4000" dirty="0"/>
              <a:t>FACT Cards</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61</a:t>
            </a:fld>
            <a:endParaRPr lang="en-US"/>
          </a:p>
        </p:txBody>
      </p:sp>
      <p:grpSp>
        <p:nvGrpSpPr>
          <p:cNvPr id="14" name="Group 13">
            <a:extLst>
              <a:ext uri="{FF2B5EF4-FFF2-40B4-BE49-F238E27FC236}">
                <a16:creationId xmlns:a16="http://schemas.microsoft.com/office/drawing/2014/main" id="{94A7E9DA-C710-9A50-DE98-FB545193D022}"/>
              </a:ext>
            </a:extLst>
          </p:cNvPr>
          <p:cNvGrpSpPr/>
          <p:nvPr/>
        </p:nvGrpSpPr>
        <p:grpSpPr>
          <a:xfrm>
            <a:off x="838200" y="297639"/>
            <a:ext cx="4110990" cy="307138"/>
            <a:chOff x="838200" y="297639"/>
            <a:chExt cx="4110990" cy="307138"/>
          </a:xfrm>
        </p:grpSpPr>
        <p:grpSp>
          <p:nvGrpSpPr>
            <p:cNvPr id="15" name="Group 14">
              <a:extLst>
                <a:ext uri="{FF2B5EF4-FFF2-40B4-BE49-F238E27FC236}">
                  <a16:creationId xmlns:a16="http://schemas.microsoft.com/office/drawing/2014/main" id="{7E3FA7AC-ED64-BC4D-B5F3-517192A96304}"/>
                </a:ext>
              </a:extLst>
            </p:cNvPr>
            <p:cNvGrpSpPr/>
            <p:nvPr/>
          </p:nvGrpSpPr>
          <p:grpSpPr>
            <a:xfrm>
              <a:off x="838200" y="297639"/>
              <a:ext cx="1687517" cy="290657"/>
              <a:chOff x="838200" y="297639"/>
              <a:chExt cx="1687517" cy="290657"/>
            </a:xfrm>
          </p:grpSpPr>
          <p:sp>
            <p:nvSpPr>
              <p:cNvPr id="17" name="AutoShape 9">
                <a:extLst>
                  <a:ext uri="{FF2B5EF4-FFF2-40B4-BE49-F238E27FC236}">
                    <a16:creationId xmlns:a16="http://schemas.microsoft.com/office/drawing/2014/main" id="{EE35564A-9A78-E652-8FF4-980E60BBEC89}"/>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8" name="AutoShape 9">
                <a:extLst>
                  <a:ext uri="{FF2B5EF4-FFF2-40B4-BE49-F238E27FC236}">
                    <a16:creationId xmlns:a16="http://schemas.microsoft.com/office/drawing/2014/main" id="{6B9ED52B-720A-571B-A67A-C1924442DA36}"/>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19" name="Group 18">
                <a:extLst>
                  <a:ext uri="{FF2B5EF4-FFF2-40B4-BE49-F238E27FC236}">
                    <a16:creationId xmlns:a16="http://schemas.microsoft.com/office/drawing/2014/main" id="{54B4FCA1-7084-527D-38DF-A51912CB4BB9}"/>
                  </a:ext>
                </a:extLst>
              </p:cNvPr>
              <p:cNvGrpSpPr/>
              <p:nvPr/>
            </p:nvGrpSpPr>
            <p:grpSpPr>
              <a:xfrm>
                <a:off x="838200" y="297639"/>
                <a:ext cx="1060167" cy="290657"/>
                <a:chOff x="826426" y="4041857"/>
                <a:chExt cx="1060167" cy="290657"/>
              </a:xfrm>
            </p:grpSpPr>
            <p:sp>
              <p:nvSpPr>
                <p:cNvPr id="20" name="AutoShape 9">
                  <a:extLst>
                    <a:ext uri="{FF2B5EF4-FFF2-40B4-BE49-F238E27FC236}">
                      <a16:creationId xmlns:a16="http://schemas.microsoft.com/office/drawing/2014/main" id="{2327D17C-A5C6-234D-3D5F-B6C01E45BD98}"/>
                    </a:ext>
                  </a:extLst>
                </p:cNvPr>
                <p:cNvSpPr>
                  <a:spLocks noChangeArrowheads="1"/>
                </p:cNvSpPr>
                <p:nvPr/>
              </p:nvSpPr>
              <p:spPr bwMode="auto">
                <a:xfrm>
                  <a:off x="145377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1" name="AutoShape 11">
                  <a:extLst>
                    <a:ext uri="{FF2B5EF4-FFF2-40B4-BE49-F238E27FC236}">
                      <a16:creationId xmlns:a16="http://schemas.microsoft.com/office/drawing/2014/main" id="{2486708D-C9D1-3EEA-91CB-70C19E4A707C}"/>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2" name="AutoShape 10">
                  <a:extLst>
                    <a:ext uri="{FF2B5EF4-FFF2-40B4-BE49-F238E27FC236}">
                      <a16:creationId xmlns:a16="http://schemas.microsoft.com/office/drawing/2014/main" id="{B3F23951-87AA-49A5-9BF4-59BF619273DE}"/>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16" name="TextBox 15">
              <a:extLst>
                <a:ext uri="{FF2B5EF4-FFF2-40B4-BE49-F238E27FC236}">
                  <a16:creationId xmlns:a16="http://schemas.microsoft.com/office/drawing/2014/main" id="{0B3CDCE0-D50B-A992-50D5-C00E9EF5705F}"/>
                </a:ext>
              </a:extLst>
            </p:cNvPr>
            <p:cNvSpPr txBox="1"/>
            <p:nvPr/>
          </p:nvSpPr>
          <p:spPr>
            <a:xfrm>
              <a:off x="2525717" y="313415"/>
              <a:ext cx="242347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CEDAC Problem Cause</a:t>
              </a:r>
            </a:p>
          </p:txBody>
        </p:sp>
      </p:grpSp>
      <p:grpSp>
        <p:nvGrpSpPr>
          <p:cNvPr id="13" name="Group 12">
            <a:extLst>
              <a:ext uri="{FF2B5EF4-FFF2-40B4-BE49-F238E27FC236}">
                <a16:creationId xmlns:a16="http://schemas.microsoft.com/office/drawing/2014/main" id="{FDB0EBAE-D458-D58C-899E-4F2DC285E99B}"/>
              </a:ext>
            </a:extLst>
          </p:cNvPr>
          <p:cNvGrpSpPr/>
          <p:nvPr/>
        </p:nvGrpSpPr>
        <p:grpSpPr>
          <a:xfrm>
            <a:off x="6973630" y="2068831"/>
            <a:ext cx="4730691" cy="3342319"/>
            <a:chOff x="6798849" y="2356803"/>
            <a:chExt cx="3378200" cy="2788498"/>
          </a:xfrm>
        </p:grpSpPr>
        <p:sp>
          <p:nvSpPr>
            <p:cNvPr id="6" name="AutoShape 4">
              <a:extLst>
                <a:ext uri="{FF2B5EF4-FFF2-40B4-BE49-F238E27FC236}">
                  <a16:creationId xmlns:a16="http://schemas.microsoft.com/office/drawing/2014/main" id="{DC937348-E61E-394F-3CF7-E763C45EF8D8}"/>
                </a:ext>
              </a:extLst>
            </p:cNvPr>
            <p:cNvSpPr>
              <a:spLocks/>
            </p:cNvSpPr>
            <p:nvPr/>
          </p:nvSpPr>
          <p:spPr bwMode="auto">
            <a:xfrm>
              <a:off x="8392699" y="4080828"/>
              <a:ext cx="152400" cy="914400"/>
            </a:xfrm>
            <a:prstGeom prst="rightBrace">
              <a:avLst>
                <a:gd name="adj1" fmla="val 50000"/>
                <a:gd name="adj2" fmla="val 41843"/>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5000"/>
                </a:lnSpc>
                <a:buFont typeface="Wingdings" panose="05000000000000000000" pitchFamily="2" charset="2"/>
                <a:buNone/>
              </a:pPr>
              <a:endParaRPr lang="en-US" altLang="en-US" sz="1600">
                <a:latin typeface="Roboto" panose="02000000000000000000" pitchFamily="2" charset="0"/>
                <a:ea typeface="Roboto" panose="02000000000000000000" pitchFamily="2" charset="0"/>
              </a:endParaRPr>
            </a:p>
          </p:txBody>
        </p:sp>
        <p:sp>
          <p:nvSpPr>
            <p:cNvPr id="7" name="Rectangle 7">
              <a:extLst>
                <a:ext uri="{FF2B5EF4-FFF2-40B4-BE49-F238E27FC236}">
                  <a16:creationId xmlns:a16="http://schemas.microsoft.com/office/drawing/2014/main" id="{940F9C6D-C4FC-5F18-1112-52035984C4B3}"/>
                </a:ext>
              </a:extLst>
            </p:cNvPr>
            <p:cNvSpPr>
              <a:spLocks noChangeArrowheads="1"/>
            </p:cNvSpPr>
            <p:nvPr/>
          </p:nvSpPr>
          <p:spPr bwMode="auto">
            <a:xfrm>
              <a:off x="6892512" y="2356803"/>
              <a:ext cx="3268662" cy="307975"/>
            </a:xfrm>
            <a:prstGeom prst="rect">
              <a:avLst/>
            </a:prstGeom>
            <a:solidFill>
              <a:schemeClr val="accent1"/>
            </a:solidFill>
            <a:ln w="12700" cap="sq">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rPr>
                <a:t>Definition</a:t>
              </a:r>
            </a:p>
          </p:txBody>
        </p:sp>
        <p:sp>
          <p:nvSpPr>
            <p:cNvPr id="8" name="Rectangle 8">
              <a:extLst>
                <a:ext uri="{FF2B5EF4-FFF2-40B4-BE49-F238E27FC236}">
                  <a16:creationId xmlns:a16="http://schemas.microsoft.com/office/drawing/2014/main" id="{C48BA631-A3D0-90D3-120D-904A61934538}"/>
                </a:ext>
              </a:extLst>
            </p:cNvPr>
            <p:cNvSpPr>
              <a:spLocks noChangeArrowheads="1"/>
            </p:cNvSpPr>
            <p:nvPr/>
          </p:nvSpPr>
          <p:spPr bwMode="auto">
            <a:xfrm>
              <a:off x="6892512" y="3594311"/>
              <a:ext cx="3282950" cy="307975"/>
            </a:xfrm>
            <a:prstGeom prst="rect">
              <a:avLst/>
            </a:prstGeom>
            <a:solidFill>
              <a:schemeClr val="accent1"/>
            </a:solidFill>
            <a:ln w="12700" cap="sq">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rPr>
                <a:t>Use</a:t>
              </a:r>
            </a:p>
          </p:txBody>
        </p:sp>
        <p:sp>
          <p:nvSpPr>
            <p:cNvPr id="9" name="Rectangle 9">
              <a:extLst>
                <a:ext uri="{FF2B5EF4-FFF2-40B4-BE49-F238E27FC236}">
                  <a16:creationId xmlns:a16="http://schemas.microsoft.com/office/drawing/2014/main" id="{7A377FAC-C321-E827-6663-09AAE3C6C661}"/>
                </a:ext>
              </a:extLst>
            </p:cNvPr>
            <p:cNvSpPr>
              <a:spLocks noChangeArrowheads="1"/>
            </p:cNvSpPr>
            <p:nvPr/>
          </p:nvSpPr>
          <p:spPr bwMode="auto">
            <a:xfrm>
              <a:off x="6798849" y="2710816"/>
              <a:ext cx="3376613" cy="1216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nSpc>
                  <a:spcPct val="115000"/>
                </a:lnSpc>
                <a:spcBef>
                  <a:spcPct val="50000"/>
                </a:spcBef>
                <a:spcAft>
                  <a:spcPct val="50000"/>
                </a:spcAft>
                <a:buClr>
                  <a:srgbClr val="006699"/>
                </a:buClr>
                <a:buSzPct val="90000"/>
                <a:buFont typeface="Wingdings" panose="05000000000000000000" pitchFamily="2" charset="2"/>
                <a:buChar char="§"/>
                <a:tabLst>
                  <a:tab pos="3086100" algn="l"/>
                </a:tabLst>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tabLst>
                  <a:tab pos="3086100" algn="l"/>
                </a:tabLst>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tabLst>
                  <a:tab pos="3086100" algn="l"/>
                </a:tabLst>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9pPr>
            </a:lstStyle>
            <a:p>
              <a:pPr>
                <a:spcBef>
                  <a:spcPct val="30000"/>
                </a:spcBef>
                <a:spcAft>
                  <a:spcPct val="0"/>
                </a:spcAft>
                <a:buClr>
                  <a:schemeClr val="tx1"/>
                </a:buClr>
                <a:buFont typeface="Arial" panose="020B0604020202020204" pitchFamily="34" charset="0"/>
                <a:buChar char="•"/>
              </a:pPr>
              <a:r>
                <a:rPr lang="en-US" altLang="en-US" sz="1800" dirty="0">
                  <a:latin typeface="Roboto" panose="02000000000000000000" pitchFamily="2" charset="0"/>
                  <a:ea typeface="Roboto" panose="02000000000000000000" pitchFamily="2" charset="0"/>
                </a:rPr>
                <a:t>Use to record your ideas about what is causing the problem or standing in the way of target</a:t>
              </a:r>
            </a:p>
          </p:txBody>
        </p:sp>
        <p:sp>
          <p:nvSpPr>
            <p:cNvPr id="12" name="Rectangle 12">
              <a:extLst>
                <a:ext uri="{FF2B5EF4-FFF2-40B4-BE49-F238E27FC236}">
                  <a16:creationId xmlns:a16="http://schemas.microsoft.com/office/drawing/2014/main" id="{C5A52EBC-222D-C847-471C-60CE5C4DCDFB}"/>
                </a:ext>
              </a:extLst>
            </p:cNvPr>
            <p:cNvSpPr>
              <a:spLocks noChangeArrowheads="1"/>
            </p:cNvSpPr>
            <p:nvPr/>
          </p:nvSpPr>
          <p:spPr bwMode="auto">
            <a:xfrm>
              <a:off x="6800437" y="3929276"/>
              <a:ext cx="3376612" cy="1216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nSpc>
                  <a:spcPct val="115000"/>
                </a:lnSpc>
                <a:spcBef>
                  <a:spcPct val="50000"/>
                </a:spcBef>
                <a:spcAft>
                  <a:spcPct val="50000"/>
                </a:spcAft>
                <a:buClr>
                  <a:srgbClr val="006699"/>
                </a:buClr>
                <a:buSzPct val="90000"/>
                <a:buFont typeface="Wingdings" panose="05000000000000000000" pitchFamily="2" charset="2"/>
                <a:buChar char="§"/>
                <a:tabLst>
                  <a:tab pos="3086100" algn="l"/>
                </a:tabLst>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tabLst>
                  <a:tab pos="3086100" algn="l"/>
                </a:tabLst>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tabLst>
                  <a:tab pos="3086100" algn="l"/>
                </a:tabLst>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9pPr>
            </a:lstStyle>
            <a:p>
              <a:pPr>
                <a:lnSpc>
                  <a:spcPct val="100000"/>
                </a:lnSpc>
                <a:spcBef>
                  <a:spcPts val="0"/>
                </a:spcBef>
                <a:spcAft>
                  <a:spcPct val="0"/>
                </a:spcAft>
                <a:buClr>
                  <a:schemeClr val="tx1"/>
                </a:buClr>
                <a:buFont typeface="Arial" panose="020B0604020202020204" pitchFamily="34" charset="0"/>
                <a:buChar char="•"/>
              </a:pPr>
              <a:r>
                <a:rPr lang="fr-FR" altLang="en-US" sz="1800" dirty="0">
                  <a:latin typeface="Roboto" panose="02000000000000000000" pitchFamily="2" charset="0"/>
                  <a:ea typeface="Roboto" panose="02000000000000000000" pitchFamily="2" charset="0"/>
                </a:rPr>
                <a:t>Observations</a:t>
              </a:r>
            </a:p>
            <a:p>
              <a:pPr>
                <a:lnSpc>
                  <a:spcPct val="100000"/>
                </a:lnSpc>
                <a:spcBef>
                  <a:spcPts val="0"/>
                </a:spcBef>
                <a:spcAft>
                  <a:spcPct val="0"/>
                </a:spcAft>
                <a:buClr>
                  <a:schemeClr val="tx1"/>
                </a:buClr>
                <a:buFont typeface="Arial" panose="020B0604020202020204" pitchFamily="34" charset="0"/>
                <a:buChar char="•"/>
              </a:pPr>
              <a:r>
                <a:rPr lang="fr-FR" altLang="en-US" sz="1800" dirty="0">
                  <a:latin typeface="Roboto" panose="02000000000000000000" pitchFamily="2" charset="0"/>
                  <a:ea typeface="Roboto" panose="02000000000000000000" pitchFamily="2" charset="0"/>
                </a:rPr>
                <a:t>Perceptions</a:t>
              </a:r>
            </a:p>
            <a:p>
              <a:pPr>
                <a:lnSpc>
                  <a:spcPct val="100000"/>
                </a:lnSpc>
                <a:spcBef>
                  <a:spcPts val="0"/>
                </a:spcBef>
                <a:spcAft>
                  <a:spcPct val="0"/>
                </a:spcAft>
                <a:buClr>
                  <a:schemeClr val="tx1"/>
                </a:buClr>
                <a:buFont typeface="Arial" panose="020B0604020202020204" pitchFamily="34" charset="0"/>
                <a:buChar char="•"/>
              </a:pPr>
              <a:r>
                <a:rPr lang="fr-FR" altLang="en-US" sz="1800" dirty="0">
                  <a:latin typeface="Roboto" panose="02000000000000000000" pitchFamily="2" charset="0"/>
                  <a:ea typeface="Roboto" panose="02000000000000000000" pitchFamily="2" charset="0"/>
                </a:rPr>
                <a:t>Opinions</a:t>
              </a:r>
            </a:p>
            <a:p>
              <a:pPr>
                <a:lnSpc>
                  <a:spcPct val="100000"/>
                </a:lnSpc>
                <a:spcBef>
                  <a:spcPts val="0"/>
                </a:spcBef>
                <a:spcAft>
                  <a:spcPct val="0"/>
                </a:spcAft>
                <a:buClr>
                  <a:schemeClr val="tx1"/>
                </a:buClr>
                <a:buFont typeface="Arial" panose="020B0604020202020204" pitchFamily="34" charset="0"/>
                <a:buChar char="•"/>
              </a:pPr>
              <a:r>
                <a:rPr lang="fr-FR" altLang="en-US" sz="1800" dirty="0">
                  <a:latin typeface="Roboto" panose="02000000000000000000" pitchFamily="2" charset="0"/>
                  <a:ea typeface="Roboto" panose="02000000000000000000" pitchFamily="2" charset="0"/>
                </a:rPr>
                <a:t>Facts</a:t>
              </a:r>
            </a:p>
            <a:p>
              <a:pPr>
                <a:lnSpc>
                  <a:spcPct val="100000"/>
                </a:lnSpc>
                <a:spcBef>
                  <a:spcPts val="0"/>
                </a:spcBef>
                <a:spcAft>
                  <a:spcPct val="0"/>
                </a:spcAft>
                <a:buClr>
                  <a:schemeClr val="tx1"/>
                </a:buClr>
                <a:buFont typeface="Arial" panose="020B0604020202020204" pitchFamily="34" charset="0"/>
                <a:buChar char="•"/>
              </a:pPr>
              <a:r>
                <a:rPr lang="fr-FR" altLang="en-US" sz="1800" dirty="0">
                  <a:latin typeface="Roboto" panose="02000000000000000000" pitchFamily="2" charset="0"/>
                  <a:ea typeface="Roboto" panose="02000000000000000000" pitchFamily="2" charset="0"/>
                </a:rPr>
                <a:t>Questions</a:t>
              </a:r>
            </a:p>
            <a:p>
              <a:pPr>
                <a:lnSpc>
                  <a:spcPct val="100000"/>
                </a:lnSpc>
                <a:spcBef>
                  <a:spcPts val="0"/>
                </a:spcBef>
                <a:spcAft>
                  <a:spcPct val="0"/>
                </a:spcAft>
                <a:buClr>
                  <a:schemeClr val="tx1"/>
                </a:buClr>
                <a:buFont typeface="Arial" panose="020B0604020202020204" pitchFamily="34" charset="0"/>
                <a:buChar char="•"/>
              </a:pPr>
              <a:r>
                <a:rPr lang="fr-FR" altLang="en-US" sz="1800" dirty="0">
                  <a:latin typeface="Roboto" panose="02000000000000000000" pitchFamily="2" charset="0"/>
                  <a:ea typeface="Roboto" panose="02000000000000000000" pitchFamily="2" charset="0"/>
                </a:rPr>
                <a:t>Obstacles</a:t>
              </a:r>
            </a:p>
            <a:p>
              <a:pPr>
                <a:lnSpc>
                  <a:spcPct val="100000"/>
                </a:lnSpc>
                <a:spcBef>
                  <a:spcPts val="0"/>
                </a:spcBef>
                <a:spcAft>
                  <a:spcPct val="0"/>
                </a:spcAft>
                <a:buClr>
                  <a:schemeClr val="tx1"/>
                </a:buClr>
                <a:buFont typeface="Arial" panose="020B0604020202020204" pitchFamily="34" charset="0"/>
                <a:buChar char="•"/>
              </a:pPr>
              <a:r>
                <a:rPr lang="fr-FR" altLang="en-US" sz="1800" dirty="0">
                  <a:latin typeface="Roboto" panose="02000000000000000000" pitchFamily="2" charset="0"/>
                  <a:ea typeface="Roboto" panose="02000000000000000000" pitchFamily="2" charset="0"/>
                </a:rPr>
                <a:t>Causes</a:t>
              </a:r>
            </a:p>
          </p:txBody>
        </p:sp>
      </p:grpSp>
      <p:grpSp>
        <p:nvGrpSpPr>
          <p:cNvPr id="4" name="Group 15">
            <a:extLst>
              <a:ext uri="{FF2B5EF4-FFF2-40B4-BE49-F238E27FC236}">
                <a16:creationId xmlns:a16="http://schemas.microsoft.com/office/drawing/2014/main" id="{7CA0280E-245A-0345-5EC4-45F499AB25EA}"/>
              </a:ext>
            </a:extLst>
          </p:cNvPr>
          <p:cNvGrpSpPr>
            <a:grpSpLocks/>
          </p:cNvGrpSpPr>
          <p:nvPr/>
        </p:nvGrpSpPr>
        <p:grpSpPr bwMode="auto">
          <a:xfrm>
            <a:off x="2011894" y="1783429"/>
            <a:ext cx="3351545" cy="4471262"/>
            <a:chOff x="757" y="1076"/>
            <a:chExt cx="1611" cy="2389"/>
          </a:xfrm>
        </p:grpSpPr>
        <p:sp>
          <p:nvSpPr>
            <p:cNvPr id="24" name="Rectangle 16">
              <a:extLst>
                <a:ext uri="{FF2B5EF4-FFF2-40B4-BE49-F238E27FC236}">
                  <a16:creationId xmlns:a16="http://schemas.microsoft.com/office/drawing/2014/main" id="{9CF7D77E-8C56-F44C-D4AB-30CB3124E39C}"/>
                </a:ext>
              </a:extLst>
            </p:cNvPr>
            <p:cNvSpPr>
              <a:spLocks noChangeArrowheads="1"/>
            </p:cNvSpPr>
            <p:nvPr/>
          </p:nvSpPr>
          <p:spPr bwMode="auto">
            <a:xfrm>
              <a:off x="757" y="1078"/>
              <a:ext cx="1611" cy="2347"/>
            </a:xfrm>
            <a:prstGeom prst="rect">
              <a:avLst/>
            </a:prstGeom>
            <a:solidFill>
              <a:srgbClr val="FFFF66"/>
            </a:solidFill>
            <a:ln w="12700">
              <a:solidFill>
                <a:schemeClr val="tx1"/>
              </a:solidFill>
              <a:miter lim="800000"/>
              <a:headEnd/>
              <a:tailEnd type="none" w="sm" len="sm"/>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5000"/>
                </a:lnSpc>
                <a:buFont typeface="Wingdings" panose="05000000000000000000" pitchFamily="2" charset="2"/>
                <a:buNone/>
              </a:pPr>
              <a:endParaRPr lang="en-US" altLang="en-US" sz="2400">
                <a:latin typeface="Roboto" panose="02000000000000000000" pitchFamily="2" charset="0"/>
                <a:ea typeface="Roboto" panose="02000000000000000000" pitchFamily="2" charset="0"/>
              </a:endParaRPr>
            </a:p>
          </p:txBody>
        </p:sp>
        <p:sp>
          <p:nvSpPr>
            <p:cNvPr id="25" name="Text Box 17">
              <a:extLst>
                <a:ext uri="{FF2B5EF4-FFF2-40B4-BE49-F238E27FC236}">
                  <a16:creationId xmlns:a16="http://schemas.microsoft.com/office/drawing/2014/main" id="{3CBBC1B5-9AA2-7CE0-F59F-68A694C775F3}"/>
                </a:ext>
              </a:extLst>
            </p:cNvPr>
            <p:cNvSpPr txBox="1">
              <a:spLocks noChangeArrowheads="1"/>
            </p:cNvSpPr>
            <p:nvPr/>
          </p:nvSpPr>
          <p:spPr bwMode="auto">
            <a:xfrm>
              <a:off x="1889" y="1134"/>
              <a:ext cx="432" cy="1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800" dirty="0">
                  <a:latin typeface="Roboto" panose="02000000000000000000" pitchFamily="2" charset="0"/>
                  <a:ea typeface="Roboto" panose="02000000000000000000" pitchFamily="2" charset="0"/>
                </a:rPr>
                <a:t>&lt;Date&gt;</a:t>
              </a:r>
            </a:p>
          </p:txBody>
        </p:sp>
        <p:sp>
          <p:nvSpPr>
            <p:cNvPr id="26" name="Text Box 18">
              <a:extLst>
                <a:ext uri="{FF2B5EF4-FFF2-40B4-BE49-F238E27FC236}">
                  <a16:creationId xmlns:a16="http://schemas.microsoft.com/office/drawing/2014/main" id="{006394EA-4758-C43E-DAC2-99E7F55C1DD3}"/>
                </a:ext>
              </a:extLst>
            </p:cNvPr>
            <p:cNvSpPr txBox="1">
              <a:spLocks noChangeArrowheads="1"/>
            </p:cNvSpPr>
            <p:nvPr/>
          </p:nvSpPr>
          <p:spPr bwMode="auto">
            <a:xfrm>
              <a:off x="1860" y="3198"/>
              <a:ext cx="496" cy="1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800">
                  <a:latin typeface="Roboto" panose="02000000000000000000" pitchFamily="2" charset="0"/>
                  <a:ea typeface="Roboto" panose="02000000000000000000" pitchFamily="2" charset="0"/>
                </a:rPr>
                <a:t>&lt;Name&gt;</a:t>
              </a:r>
            </a:p>
          </p:txBody>
        </p:sp>
        <p:sp>
          <p:nvSpPr>
            <p:cNvPr id="27" name="Text Box 19">
              <a:extLst>
                <a:ext uri="{FF2B5EF4-FFF2-40B4-BE49-F238E27FC236}">
                  <a16:creationId xmlns:a16="http://schemas.microsoft.com/office/drawing/2014/main" id="{F72520EE-A6CB-8206-19BC-F1A0210EAA54}"/>
                </a:ext>
              </a:extLst>
            </p:cNvPr>
            <p:cNvSpPr txBox="1">
              <a:spLocks noChangeArrowheads="1"/>
            </p:cNvSpPr>
            <p:nvPr/>
          </p:nvSpPr>
          <p:spPr bwMode="auto">
            <a:xfrm>
              <a:off x="767" y="1076"/>
              <a:ext cx="379" cy="3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800" dirty="0">
                  <a:latin typeface="Roboto" panose="02000000000000000000" pitchFamily="2" charset="0"/>
                  <a:ea typeface="Roboto" panose="02000000000000000000" pitchFamily="2" charset="0"/>
                </a:rPr>
                <a:t>CARD</a:t>
              </a:r>
            </a:p>
            <a:p>
              <a:pPr algn="ctr">
                <a:lnSpc>
                  <a:spcPct val="80000"/>
                </a:lnSpc>
                <a:spcBef>
                  <a:spcPct val="20000"/>
                </a:spcBef>
                <a:spcAft>
                  <a:spcPct val="0"/>
                </a:spcAft>
                <a:buClrTx/>
                <a:buSzTx/>
                <a:buFontTx/>
                <a:buNone/>
              </a:pPr>
              <a:r>
                <a:rPr lang="en-US" altLang="en-US" sz="1800" dirty="0">
                  <a:latin typeface="Roboto" panose="02000000000000000000" pitchFamily="2" charset="0"/>
                  <a:ea typeface="Roboto" panose="02000000000000000000" pitchFamily="2" charset="0"/>
                </a:rPr>
                <a:t>#</a:t>
              </a:r>
            </a:p>
          </p:txBody>
        </p:sp>
        <p:sp>
          <p:nvSpPr>
            <p:cNvPr id="28" name="Text Box 20">
              <a:extLst>
                <a:ext uri="{FF2B5EF4-FFF2-40B4-BE49-F238E27FC236}">
                  <a16:creationId xmlns:a16="http://schemas.microsoft.com/office/drawing/2014/main" id="{64E6A9F7-6DF9-2291-318F-5ED7FA449FAA}"/>
                </a:ext>
              </a:extLst>
            </p:cNvPr>
            <p:cNvSpPr txBox="1">
              <a:spLocks noChangeArrowheads="1"/>
            </p:cNvSpPr>
            <p:nvPr/>
          </p:nvSpPr>
          <p:spPr bwMode="auto">
            <a:xfrm>
              <a:off x="775" y="3148"/>
              <a:ext cx="496" cy="3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800">
                  <a:latin typeface="Roboto" panose="02000000000000000000" pitchFamily="2" charset="0"/>
                  <a:ea typeface="Roboto" panose="02000000000000000000" pitchFamily="2" charset="0"/>
                </a:rPr>
                <a:t>Process</a:t>
              </a:r>
            </a:p>
            <a:p>
              <a:pPr algn="ctr">
                <a:lnSpc>
                  <a:spcPct val="80000"/>
                </a:lnSpc>
                <a:spcBef>
                  <a:spcPct val="20000"/>
                </a:spcBef>
                <a:spcAft>
                  <a:spcPct val="0"/>
                </a:spcAft>
                <a:buClrTx/>
                <a:buSzTx/>
                <a:buFontTx/>
                <a:buNone/>
              </a:pPr>
              <a:r>
                <a:rPr lang="en-US" altLang="en-US" sz="1800">
                  <a:latin typeface="Roboto" panose="02000000000000000000" pitchFamily="2" charset="0"/>
                  <a:ea typeface="Roboto" panose="02000000000000000000" pitchFamily="2" charset="0"/>
                </a:rPr>
                <a:t>#</a:t>
              </a:r>
            </a:p>
          </p:txBody>
        </p:sp>
        <p:sp>
          <p:nvSpPr>
            <p:cNvPr id="29" name="Rectangle 21">
              <a:extLst>
                <a:ext uri="{FF2B5EF4-FFF2-40B4-BE49-F238E27FC236}">
                  <a16:creationId xmlns:a16="http://schemas.microsoft.com/office/drawing/2014/main" id="{8544BFC7-4690-89A9-FD57-25982B16C96E}"/>
                </a:ext>
              </a:extLst>
            </p:cNvPr>
            <p:cNvSpPr>
              <a:spLocks noChangeArrowheads="1"/>
            </p:cNvSpPr>
            <p:nvPr/>
          </p:nvSpPr>
          <p:spPr bwMode="auto">
            <a:xfrm>
              <a:off x="822" y="1370"/>
              <a:ext cx="1480" cy="1684"/>
            </a:xfrm>
            <a:prstGeom prst="rect">
              <a:avLst/>
            </a:prstGeom>
            <a:solidFill>
              <a:srgbClr val="FFFF66"/>
            </a:solidFill>
            <a:ln w="12700">
              <a:solidFill>
                <a:schemeClr val="tx1"/>
              </a:solidFill>
              <a:miter lim="800000"/>
              <a:headEnd/>
              <a:tailEnd type="none" w="sm" len="sm"/>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900">
                <a:solidFill>
                  <a:schemeClr val="bg1"/>
                </a:solidFill>
                <a:latin typeface="Roboto" panose="02000000000000000000" pitchFamily="2" charset="0"/>
                <a:ea typeface="Roboto" panose="02000000000000000000" pitchFamily="2" charset="0"/>
              </a:endParaRPr>
            </a:p>
          </p:txBody>
        </p:sp>
        <p:sp>
          <p:nvSpPr>
            <p:cNvPr id="30" name="Text Box 22">
              <a:extLst>
                <a:ext uri="{FF2B5EF4-FFF2-40B4-BE49-F238E27FC236}">
                  <a16:creationId xmlns:a16="http://schemas.microsoft.com/office/drawing/2014/main" id="{AF8B8BCE-E49E-32F0-1B3F-371D5002F3FF}"/>
                </a:ext>
              </a:extLst>
            </p:cNvPr>
            <p:cNvSpPr txBox="1">
              <a:spLocks noChangeArrowheads="1"/>
            </p:cNvSpPr>
            <p:nvPr/>
          </p:nvSpPr>
          <p:spPr bwMode="auto">
            <a:xfrm>
              <a:off x="874" y="1574"/>
              <a:ext cx="1374" cy="4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800" dirty="0">
                  <a:latin typeface="Roboto" panose="02000000000000000000" pitchFamily="2" charset="0"/>
                  <a:ea typeface="Roboto" panose="02000000000000000000" pitchFamily="2" charset="0"/>
                </a:rPr>
                <a:t>&lt;Root Cause Description&gt;</a:t>
              </a:r>
            </a:p>
            <a:p>
              <a:pPr algn="ctr">
                <a:lnSpc>
                  <a:spcPct val="80000"/>
                </a:lnSpc>
                <a:spcBef>
                  <a:spcPct val="20000"/>
                </a:spcBef>
                <a:spcAft>
                  <a:spcPct val="0"/>
                </a:spcAft>
                <a:buClrTx/>
                <a:buSzTx/>
                <a:buFontTx/>
                <a:buNone/>
              </a:pPr>
              <a:endParaRPr lang="en-US" altLang="en-US" sz="1800" dirty="0">
                <a:latin typeface="Roboto" panose="02000000000000000000" pitchFamily="2" charset="0"/>
                <a:ea typeface="Roboto" panose="02000000000000000000" pitchFamily="2" charset="0"/>
              </a:endParaRPr>
            </a:p>
            <a:p>
              <a:pPr algn="ctr">
                <a:lnSpc>
                  <a:spcPct val="80000"/>
                </a:lnSpc>
                <a:spcBef>
                  <a:spcPct val="20000"/>
                </a:spcBef>
                <a:spcAft>
                  <a:spcPct val="0"/>
                </a:spcAft>
                <a:buClrTx/>
                <a:buSzTx/>
                <a:buFontTx/>
                <a:buNone/>
              </a:pPr>
              <a:r>
                <a:rPr lang="en-US" altLang="en-US" sz="1800" dirty="0">
                  <a:latin typeface="Roboto" panose="02000000000000000000" pitchFamily="2" charset="0"/>
                  <a:ea typeface="Roboto" panose="02000000000000000000" pitchFamily="2" charset="0"/>
                </a:rPr>
                <a:t>(</a:t>
              </a:r>
              <a:r>
                <a:rPr lang="en-US" altLang="en-US" sz="1800" u="sng" dirty="0">
                  <a:latin typeface="Roboto" panose="02000000000000000000" pitchFamily="2" charset="0"/>
                  <a:ea typeface="Roboto" panose="02000000000000000000" pitchFamily="2" charset="0"/>
                </a:rPr>
                <a:t>Detailed</a:t>
              </a:r>
              <a:r>
                <a:rPr lang="en-US" altLang="en-US" sz="1800" dirty="0">
                  <a:latin typeface="Roboto" panose="02000000000000000000" pitchFamily="2" charset="0"/>
                  <a:ea typeface="Roboto" panose="02000000000000000000" pitchFamily="2" charset="0"/>
                </a:rPr>
                <a:t> Text)</a:t>
              </a:r>
            </a:p>
          </p:txBody>
        </p:sp>
      </p:grpSp>
    </p:spTree>
    <p:extLst>
      <p:ext uri="{BB962C8B-B14F-4D97-AF65-F5344CB8AC3E}">
        <p14:creationId xmlns:p14="http://schemas.microsoft.com/office/powerpoint/2010/main" val="3326721208"/>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normAutofit/>
          </a:bodyPr>
          <a:lstStyle/>
          <a:p>
            <a:r>
              <a:rPr lang="en-US" sz="4000" dirty="0"/>
              <a:t>FACT Cards</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62</a:t>
            </a:fld>
            <a:endParaRPr lang="en-US"/>
          </a:p>
        </p:txBody>
      </p:sp>
      <p:grpSp>
        <p:nvGrpSpPr>
          <p:cNvPr id="14" name="Group 13">
            <a:extLst>
              <a:ext uri="{FF2B5EF4-FFF2-40B4-BE49-F238E27FC236}">
                <a16:creationId xmlns:a16="http://schemas.microsoft.com/office/drawing/2014/main" id="{94A7E9DA-C710-9A50-DE98-FB545193D022}"/>
              </a:ext>
            </a:extLst>
          </p:cNvPr>
          <p:cNvGrpSpPr/>
          <p:nvPr/>
        </p:nvGrpSpPr>
        <p:grpSpPr>
          <a:xfrm>
            <a:off x="838200" y="297639"/>
            <a:ext cx="4110990" cy="307138"/>
            <a:chOff x="838200" y="297639"/>
            <a:chExt cx="4110990" cy="307138"/>
          </a:xfrm>
        </p:grpSpPr>
        <p:grpSp>
          <p:nvGrpSpPr>
            <p:cNvPr id="15" name="Group 14">
              <a:extLst>
                <a:ext uri="{FF2B5EF4-FFF2-40B4-BE49-F238E27FC236}">
                  <a16:creationId xmlns:a16="http://schemas.microsoft.com/office/drawing/2014/main" id="{7E3FA7AC-ED64-BC4D-B5F3-517192A96304}"/>
                </a:ext>
              </a:extLst>
            </p:cNvPr>
            <p:cNvGrpSpPr/>
            <p:nvPr/>
          </p:nvGrpSpPr>
          <p:grpSpPr>
            <a:xfrm>
              <a:off x="838200" y="297639"/>
              <a:ext cx="1687517" cy="290657"/>
              <a:chOff x="838200" y="297639"/>
              <a:chExt cx="1687517" cy="290657"/>
            </a:xfrm>
          </p:grpSpPr>
          <p:sp>
            <p:nvSpPr>
              <p:cNvPr id="17" name="AutoShape 9">
                <a:extLst>
                  <a:ext uri="{FF2B5EF4-FFF2-40B4-BE49-F238E27FC236}">
                    <a16:creationId xmlns:a16="http://schemas.microsoft.com/office/drawing/2014/main" id="{EE35564A-9A78-E652-8FF4-980E60BBEC89}"/>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8" name="AutoShape 9">
                <a:extLst>
                  <a:ext uri="{FF2B5EF4-FFF2-40B4-BE49-F238E27FC236}">
                    <a16:creationId xmlns:a16="http://schemas.microsoft.com/office/drawing/2014/main" id="{6B9ED52B-720A-571B-A67A-C1924442DA36}"/>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19" name="Group 18">
                <a:extLst>
                  <a:ext uri="{FF2B5EF4-FFF2-40B4-BE49-F238E27FC236}">
                    <a16:creationId xmlns:a16="http://schemas.microsoft.com/office/drawing/2014/main" id="{54B4FCA1-7084-527D-38DF-A51912CB4BB9}"/>
                  </a:ext>
                </a:extLst>
              </p:cNvPr>
              <p:cNvGrpSpPr/>
              <p:nvPr/>
            </p:nvGrpSpPr>
            <p:grpSpPr>
              <a:xfrm>
                <a:off x="838200" y="297639"/>
                <a:ext cx="1060167" cy="290657"/>
                <a:chOff x="826426" y="4041857"/>
                <a:chExt cx="1060167" cy="290657"/>
              </a:xfrm>
            </p:grpSpPr>
            <p:sp>
              <p:nvSpPr>
                <p:cNvPr id="20" name="AutoShape 9">
                  <a:extLst>
                    <a:ext uri="{FF2B5EF4-FFF2-40B4-BE49-F238E27FC236}">
                      <a16:creationId xmlns:a16="http://schemas.microsoft.com/office/drawing/2014/main" id="{2327D17C-A5C6-234D-3D5F-B6C01E45BD98}"/>
                    </a:ext>
                  </a:extLst>
                </p:cNvPr>
                <p:cNvSpPr>
                  <a:spLocks noChangeArrowheads="1"/>
                </p:cNvSpPr>
                <p:nvPr/>
              </p:nvSpPr>
              <p:spPr bwMode="auto">
                <a:xfrm>
                  <a:off x="145377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1" name="AutoShape 11">
                  <a:extLst>
                    <a:ext uri="{FF2B5EF4-FFF2-40B4-BE49-F238E27FC236}">
                      <a16:creationId xmlns:a16="http://schemas.microsoft.com/office/drawing/2014/main" id="{2486708D-C9D1-3EEA-91CB-70C19E4A707C}"/>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2" name="AutoShape 10">
                  <a:extLst>
                    <a:ext uri="{FF2B5EF4-FFF2-40B4-BE49-F238E27FC236}">
                      <a16:creationId xmlns:a16="http://schemas.microsoft.com/office/drawing/2014/main" id="{B3F23951-87AA-49A5-9BF4-59BF619273DE}"/>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16" name="TextBox 15">
              <a:extLst>
                <a:ext uri="{FF2B5EF4-FFF2-40B4-BE49-F238E27FC236}">
                  <a16:creationId xmlns:a16="http://schemas.microsoft.com/office/drawing/2014/main" id="{0B3CDCE0-D50B-A992-50D5-C00E9EF5705F}"/>
                </a:ext>
              </a:extLst>
            </p:cNvPr>
            <p:cNvSpPr txBox="1"/>
            <p:nvPr/>
          </p:nvSpPr>
          <p:spPr>
            <a:xfrm>
              <a:off x="2525717" y="313415"/>
              <a:ext cx="242347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CEDAC Problem Cause</a:t>
              </a:r>
            </a:p>
          </p:txBody>
        </p:sp>
      </p:grpSp>
      <p:grpSp>
        <p:nvGrpSpPr>
          <p:cNvPr id="4" name="Group 15">
            <a:extLst>
              <a:ext uri="{FF2B5EF4-FFF2-40B4-BE49-F238E27FC236}">
                <a16:creationId xmlns:a16="http://schemas.microsoft.com/office/drawing/2014/main" id="{7CA0280E-245A-0345-5EC4-45F499AB25EA}"/>
              </a:ext>
            </a:extLst>
          </p:cNvPr>
          <p:cNvGrpSpPr>
            <a:grpSpLocks/>
          </p:cNvGrpSpPr>
          <p:nvPr/>
        </p:nvGrpSpPr>
        <p:grpSpPr bwMode="auto">
          <a:xfrm>
            <a:off x="2922688" y="1862037"/>
            <a:ext cx="3351545" cy="4471262"/>
            <a:chOff x="757" y="1076"/>
            <a:chExt cx="1611" cy="2389"/>
          </a:xfrm>
        </p:grpSpPr>
        <p:sp>
          <p:nvSpPr>
            <p:cNvPr id="24" name="Rectangle 16">
              <a:extLst>
                <a:ext uri="{FF2B5EF4-FFF2-40B4-BE49-F238E27FC236}">
                  <a16:creationId xmlns:a16="http://schemas.microsoft.com/office/drawing/2014/main" id="{9CF7D77E-8C56-F44C-D4AB-30CB3124E39C}"/>
                </a:ext>
              </a:extLst>
            </p:cNvPr>
            <p:cNvSpPr>
              <a:spLocks noChangeArrowheads="1"/>
            </p:cNvSpPr>
            <p:nvPr/>
          </p:nvSpPr>
          <p:spPr bwMode="auto">
            <a:xfrm>
              <a:off x="757" y="1078"/>
              <a:ext cx="1611" cy="2347"/>
            </a:xfrm>
            <a:prstGeom prst="rect">
              <a:avLst/>
            </a:prstGeom>
            <a:solidFill>
              <a:srgbClr val="FFFF66"/>
            </a:solidFill>
            <a:ln w="12700">
              <a:solidFill>
                <a:schemeClr val="tx1"/>
              </a:solidFill>
              <a:miter lim="800000"/>
              <a:headEnd/>
              <a:tailEnd type="none" w="sm" len="sm"/>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5000"/>
                </a:lnSpc>
                <a:buFont typeface="Wingdings" panose="05000000000000000000" pitchFamily="2" charset="2"/>
                <a:buNone/>
              </a:pPr>
              <a:endParaRPr lang="en-US" altLang="en-US" sz="2400">
                <a:latin typeface="Roboto" panose="02000000000000000000" pitchFamily="2" charset="0"/>
                <a:ea typeface="Roboto" panose="02000000000000000000" pitchFamily="2" charset="0"/>
              </a:endParaRPr>
            </a:p>
          </p:txBody>
        </p:sp>
        <p:sp>
          <p:nvSpPr>
            <p:cNvPr id="25" name="Text Box 17">
              <a:extLst>
                <a:ext uri="{FF2B5EF4-FFF2-40B4-BE49-F238E27FC236}">
                  <a16:creationId xmlns:a16="http://schemas.microsoft.com/office/drawing/2014/main" id="{3CBBC1B5-9AA2-7CE0-F59F-68A694C775F3}"/>
                </a:ext>
              </a:extLst>
            </p:cNvPr>
            <p:cNvSpPr txBox="1">
              <a:spLocks noChangeArrowheads="1"/>
            </p:cNvSpPr>
            <p:nvPr/>
          </p:nvSpPr>
          <p:spPr bwMode="auto">
            <a:xfrm>
              <a:off x="1889" y="1134"/>
              <a:ext cx="432" cy="1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800" dirty="0">
                  <a:latin typeface="Roboto" panose="02000000000000000000" pitchFamily="2" charset="0"/>
                  <a:ea typeface="Roboto" panose="02000000000000000000" pitchFamily="2" charset="0"/>
                </a:rPr>
                <a:t>&lt;Date&gt;</a:t>
              </a:r>
            </a:p>
          </p:txBody>
        </p:sp>
        <p:sp>
          <p:nvSpPr>
            <p:cNvPr id="26" name="Text Box 18">
              <a:extLst>
                <a:ext uri="{FF2B5EF4-FFF2-40B4-BE49-F238E27FC236}">
                  <a16:creationId xmlns:a16="http://schemas.microsoft.com/office/drawing/2014/main" id="{006394EA-4758-C43E-DAC2-99E7F55C1DD3}"/>
                </a:ext>
              </a:extLst>
            </p:cNvPr>
            <p:cNvSpPr txBox="1">
              <a:spLocks noChangeArrowheads="1"/>
            </p:cNvSpPr>
            <p:nvPr/>
          </p:nvSpPr>
          <p:spPr bwMode="auto">
            <a:xfrm>
              <a:off x="1860" y="3198"/>
              <a:ext cx="496" cy="1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800">
                  <a:latin typeface="Roboto" panose="02000000000000000000" pitchFamily="2" charset="0"/>
                  <a:ea typeface="Roboto" panose="02000000000000000000" pitchFamily="2" charset="0"/>
                </a:rPr>
                <a:t>&lt;Name&gt;</a:t>
              </a:r>
            </a:p>
          </p:txBody>
        </p:sp>
        <p:sp>
          <p:nvSpPr>
            <p:cNvPr id="27" name="Text Box 19">
              <a:extLst>
                <a:ext uri="{FF2B5EF4-FFF2-40B4-BE49-F238E27FC236}">
                  <a16:creationId xmlns:a16="http://schemas.microsoft.com/office/drawing/2014/main" id="{F72520EE-A6CB-8206-19BC-F1A0210EAA54}"/>
                </a:ext>
              </a:extLst>
            </p:cNvPr>
            <p:cNvSpPr txBox="1">
              <a:spLocks noChangeArrowheads="1"/>
            </p:cNvSpPr>
            <p:nvPr/>
          </p:nvSpPr>
          <p:spPr bwMode="auto">
            <a:xfrm>
              <a:off x="767" y="1076"/>
              <a:ext cx="379" cy="3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800" dirty="0">
                  <a:latin typeface="Roboto" panose="02000000000000000000" pitchFamily="2" charset="0"/>
                  <a:ea typeface="Roboto" panose="02000000000000000000" pitchFamily="2" charset="0"/>
                </a:rPr>
                <a:t>CARD</a:t>
              </a:r>
            </a:p>
            <a:p>
              <a:pPr algn="ctr">
                <a:lnSpc>
                  <a:spcPct val="80000"/>
                </a:lnSpc>
                <a:spcBef>
                  <a:spcPct val="20000"/>
                </a:spcBef>
                <a:spcAft>
                  <a:spcPct val="0"/>
                </a:spcAft>
                <a:buClrTx/>
                <a:buSzTx/>
                <a:buFontTx/>
                <a:buNone/>
              </a:pPr>
              <a:r>
                <a:rPr lang="en-US" altLang="en-US" sz="1800" dirty="0">
                  <a:latin typeface="Roboto" panose="02000000000000000000" pitchFamily="2" charset="0"/>
                  <a:ea typeface="Roboto" panose="02000000000000000000" pitchFamily="2" charset="0"/>
                </a:rPr>
                <a:t>#</a:t>
              </a:r>
            </a:p>
          </p:txBody>
        </p:sp>
        <p:sp>
          <p:nvSpPr>
            <p:cNvPr id="28" name="Text Box 20">
              <a:extLst>
                <a:ext uri="{FF2B5EF4-FFF2-40B4-BE49-F238E27FC236}">
                  <a16:creationId xmlns:a16="http://schemas.microsoft.com/office/drawing/2014/main" id="{64E6A9F7-6DF9-2291-318F-5ED7FA449FAA}"/>
                </a:ext>
              </a:extLst>
            </p:cNvPr>
            <p:cNvSpPr txBox="1">
              <a:spLocks noChangeArrowheads="1"/>
            </p:cNvSpPr>
            <p:nvPr/>
          </p:nvSpPr>
          <p:spPr bwMode="auto">
            <a:xfrm>
              <a:off x="775" y="3148"/>
              <a:ext cx="496" cy="3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800">
                  <a:latin typeface="Roboto" panose="02000000000000000000" pitchFamily="2" charset="0"/>
                  <a:ea typeface="Roboto" panose="02000000000000000000" pitchFamily="2" charset="0"/>
                </a:rPr>
                <a:t>Process</a:t>
              </a:r>
            </a:p>
            <a:p>
              <a:pPr algn="ctr">
                <a:lnSpc>
                  <a:spcPct val="80000"/>
                </a:lnSpc>
                <a:spcBef>
                  <a:spcPct val="20000"/>
                </a:spcBef>
                <a:spcAft>
                  <a:spcPct val="0"/>
                </a:spcAft>
                <a:buClrTx/>
                <a:buSzTx/>
                <a:buFontTx/>
                <a:buNone/>
              </a:pPr>
              <a:r>
                <a:rPr lang="en-US" altLang="en-US" sz="1800">
                  <a:latin typeface="Roboto" panose="02000000000000000000" pitchFamily="2" charset="0"/>
                  <a:ea typeface="Roboto" panose="02000000000000000000" pitchFamily="2" charset="0"/>
                </a:rPr>
                <a:t>#</a:t>
              </a:r>
            </a:p>
          </p:txBody>
        </p:sp>
        <p:sp>
          <p:nvSpPr>
            <p:cNvPr id="29" name="Rectangle 21">
              <a:extLst>
                <a:ext uri="{FF2B5EF4-FFF2-40B4-BE49-F238E27FC236}">
                  <a16:creationId xmlns:a16="http://schemas.microsoft.com/office/drawing/2014/main" id="{8544BFC7-4690-89A9-FD57-25982B16C96E}"/>
                </a:ext>
              </a:extLst>
            </p:cNvPr>
            <p:cNvSpPr>
              <a:spLocks noChangeArrowheads="1"/>
            </p:cNvSpPr>
            <p:nvPr/>
          </p:nvSpPr>
          <p:spPr bwMode="auto">
            <a:xfrm>
              <a:off x="822" y="1370"/>
              <a:ext cx="1480" cy="1684"/>
            </a:xfrm>
            <a:prstGeom prst="rect">
              <a:avLst/>
            </a:prstGeom>
            <a:solidFill>
              <a:srgbClr val="FFFF66"/>
            </a:solidFill>
            <a:ln w="12700">
              <a:solidFill>
                <a:schemeClr val="tx1"/>
              </a:solidFill>
              <a:miter lim="800000"/>
              <a:headEnd/>
              <a:tailEnd type="none" w="sm" len="sm"/>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900">
                <a:solidFill>
                  <a:schemeClr val="bg1"/>
                </a:solidFill>
                <a:latin typeface="Roboto" panose="02000000000000000000" pitchFamily="2" charset="0"/>
                <a:ea typeface="Roboto" panose="02000000000000000000" pitchFamily="2" charset="0"/>
              </a:endParaRPr>
            </a:p>
          </p:txBody>
        </p:sp>
        <p:sp>
          <p:nvSpPr>
            <p:cNvPr id="30" name="Text Box 22">
              <a:extLst>
                <a:ext uri="{FF2B5EF4-FFF2-40B4-BE49-F238E27FC236}">
                  <a16:creationId xmlns:a16="http://schemas.microsoft.com/office/drawing/2014/main" id="{AF8B8BCE-E49E-32F0-1B3F-371D5002F3FF}"/>
                </a:ext>
              </a:extLst>
            </p:cNvPr>
            <p:cNvSpPr txBox="1">
              <a:spLocks noChangeArrowheads="1"/>
            </p:cNvSpPr>
            <p:nvPr/>
          </p:nvSpPr>
          <p:spPr bwMode="auto">
            <a:xfrm>
              <a:off x="874" y="1574"/>
              <a:ext cx="1374" cy="4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800" dirty="0">
                  <a:latin typeface="Roboto" panose="02000000000000000000" pitchFamily="2" charset="0"/>
                  <a:ea typeface="Roboto" panose="02000000000000000000" pitchFamily="2" charset="0"/>
                </a:rPr>
                <a:t>&lt;Root Cause Description&gt;</a:t>
              </a:r>
            </a:p>
            <a:p>
              <a:pPr algn="ctr">
                <a:lnSpc>
                  <a:spcPct val="80000"/>
                </a:lnSpc>
                <a:spcBef>
                  <a:spcPct val="20000"/>
                </a:spcBef>
                <a:spcAft>
                  <a:spcPct val="0"/>
                </a:spcAft>
                <a:buClrTx/>
                <a:buSzTx/>
                <a:buFontTx/>
                <a:buNone/>
              </a:pPr>
              <a:endParaRPr lang="en-US" altLang="en-US" sz="1800" dirty="0">
                <a:latin typeface="Roboto" panose="02000000000000000000" pitchFamily="2" charset="0"/>
                <a:ea typeface="Roboto" panose="02000000000000000000" pitchFamily="2" charset="0"/>
              </a:endParaRPr>
            </a:p>
            <a:p>
              <a:pPr algn="ctr">
                <a:lnSpc>
                  <a:spcPct val="80000"/>
                </a:lnSpc>
                <a:spcBef>
                  <a:spcPct val="20000"/>
                </a:spcBef>
                <a:spcAft>
                  <a:spcPct val="0"/>
                </a:spcAft>
                <a:buClrTx/>
                <a:buSzTx/>
                <a:buFontTx/>
                <a:buNone/>
              </a:pPr>
              <a:r>
                <a:rPr lang="en-US" altLang="en-US" sz="1800" dirty="0">
                  <a:latin typeface="Roboto" panose="02000000000000000000" pitchFamily="2" charset="0"/>
                  <a:ea typeface="Roboto" panose="02000000000000000000" pitchFamily="2" charset="0"/>
                </a:rPr>
                <a:t>(</a:t>
              </a:r>
              <a:r>
                <a:rPr lang="en-US" altLang="en-US" sz="1800" u="sng" dirty="0">
                  <a:latin typeface="Roboto" panose="02000000000000000000" pitchFamily="2" charset="0"/>
                  <a:ea typeface="Roboto" panose="02000000000000000000" pitchFamily="2" charset="0"/>
                </a:rPr>
                <a:t>Detailed</a:t>
              </a:r>
              <a:r>
                <a:rPr lang="en-US" altLang="en-US" sz="1800" dirty="0">
                  <a:latin typeface="Roboto" panose="02000000000000000000" pitchFamily="2" charset="0"/>
                  <a:ea typeface="Roboto" panose="02000000000000000000" pitchFamily="2" charset="0"/>
                </a:rPr>
                <a:t> Text)</a:t>
              </a:r>
            </a:p>
          </p:txBody>
        </p:sp>
      </p:grpSp>
      <p:sp>
        <p:nvSpPr>
          <p:cNvPr id="3" name="Rectangle 2">
            <a:extLst>
              <a:ext uri="{FF2B5EF4-FFF2-40B4-BE49-F238E27FC236}">
                <a16:creationId xmlns:a16="http://schemas.microsoft.com/office/drawing/2014/main" id="{96C43F8E-9B0E-7668-9AF4-6479F2CB18FC}"/>
              </a:ext>
            </a:extLst>
          </p:cNvPr>
          <p:cNvSpPr txBox="1">
            <a:spLocks noChangeArrowheads="1"/>
          </p:cNvSpPr>
          <p:nvPr/>
        </p:nvSpPr>
        <p:spPr>
          <a:xfrm>
            <a:off x="336981" y="1921958"/>
            <a:ext cx="2884488" cy="4270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Roboto" panose="02000000000000000000" pitchFamily="2" charset="0"/>
                <a:ea typeface="Roboto" panose="02000000000000000000" pitchFamily="2" charset="0"/>
                <a:cs typeface="Roboto" panose="02000000000000000000"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Roboto" panose="02000000000000000000" pitchFamily="2" charset="0"/>
                <a:ea typeface="Roboto" panose="02000000000000000000" pitchFamily="2" charset="0"/>
                <a:cs typeface="Roboto" panose="02000000000000000000"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Roboto" panose="02000000000000000000" pitchFamily="2" charset="0"/>
                <a:ea typeface="Roboto" panose="02000000000000000000" pitchFamily="2" charset="0"/>
                <a:cs typeface="Roboto" panose="02000000000000000000"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Roboto" panose="02000000000000000000"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Roboto" panose="02000000000000000000"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anose="05000000000000000000" pitchFamily="2" charset="2"/>
              <a:buNone/>
            </a:pPr>
            <a:r>
              <a:rPr lang="en-US" altLang="en-US" sz="1800" b="1" dirty="0"/>
              <a:t>Use 4x6 Yellow Post-it</a:t>
            </a:r>
          </a:p>
        </p:txBody>
      </p:sp>
      <p:grpSp>
        <p:nvGrpSpPr>
          <p:cNvPr id="38" name="Group 37">
            <a:extLst>
              <a:ext uri="{FF2B5EF4-FFF2-40B4-BE49-F238E27FC236}">
                <a16:creationId xmlns:a16="http://schemas.microsoft.com/office/drawing/2014/main" id="{232BA592-F69A-5F9E-A4C3-FBB677E0B1B0}"/>
              </a:ext>
            </a:extLst>
          </p:cNvPr>
          <p:cNvGrpSpPr/>
          <p:nvPr/>
        </p:nvGrpSpPr>
        <p:grpSpPr>
          <a:xfrm>
            <a:off x="7748995" y="1862037"/>
            <a:ext cx="3351545" cy="4392654"/>
            <a:chOff x="6067425" y="2049463"/>
            <a:chExt cx="2593975" cy="3725862"/>
          </a:xfrm>
        </p:grpSpPr>
        <p:sp>
          <p:nvSpPr>
            <p:cNvPr id="10" name="Rectangle 16">
              <a:extLst>
                <a:ext uri="{FF2B5EF4-FFF2-40B4-BE49-F238E27FC236}">
                  <a16:creationId xmlns:a16="http://schemas.microsoft.com/office/drawing/2014/main" id="{DCA35B96-9DF1-E01D-82C9-FBF03771E729}"/>
                </a:ext>
              </a:extLst>
            </p:cNvPr>
            <p:cNvSpPr>
              <a:spLocks noChangeArrowheads="1"/>
            </p:cNvSpPr>
            <p:nvPr/>
          </p:nvSpPr>
          <p:spPr bwMode="auto">
            <a:xfrm>
              <a:off x="6067425" y="2049463"/>
              <a:ext cx="2557463" cy="3725862"/>
            </a:xfrm>
            <a:prstGeom prst="rect">
              <a:avLst/>
            </a:prstGeom>
            <a:solidFill>
              <a:srgbClr val="FFFF66"/>
            </a:solidFill>
            <a:ln w="12700">
              <a:solidFill>
                <a:schemeClr val="tx1"/>
              </a:solidFill>
              <a:miter lim="800000"/>
              <a:headEnd/>
              <a:tailEnd type="none" w="sm" len="sm"/>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5000"/>
                </a:lnSpc>
                <a:buFont typeface="Wingdings" panose="05000000000000000000" pitchFamily="2" charset="2"/>
                <a:buNone/>
              </a:pPr>
              <a:endParaRPr lang="en-US" altLang="en-US" sz="1600"/>
            </a:p>
          </p:txBody>
        </p:sp>
        <p:sp>
          <p:nvSpPr>
            <p:cNvPr id="11" name="Text Box 17">
              <a:extLst>
                <a:ext uri="{FF2B5EF4-FFF2-40B4-BE49-F238E27FC236}">
                  <a16:creationId xmlns:a16="http://schemas.microsoft.com/office/drawing/2014/main" id="{7603D4A5-5310-E3F9-712B-D8E7EEF41822}"/>
                </a:ext>
              </a:extLst>
            </p:cNvPr>
            <p:cNvSpPr txBox="1">
              <a:spLocks noChangeArrowheads="1"/>
            </p:cNvSpPr>
            <p:nvPr/>
          </p:nvSpPr>
          <p:spPr bwMode="auto">
            <a:xfrm>
              <a:off x="7759700" y="2141538"/>
              <a:ext cx="901700" cy="238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200" b="0">
                  <a:latin typeface="Comic Sans MS" panose="030F0702030302020204" pitchFamily="66" charset="0"/>
                </a:rPr>
                <a:t>04/02/07</a:t>
              </a:r>
            </a:p>
          </p:txBody>
        </p:sp>
        <p:sp>
          <p:nvSpPr>
            <p:cNvPr id="23" name="Text Box 18">
              <a:extLst>
                <a:ext uri="{FF2B5EF4-FFF2-40B4-BE49-F238E27FC236}">
                  <a16:creationId xmlns:a16="http://schemas.microsoft.com/office/drawing/2014/main" id="{0CA34134-98B5-E92F-C000-1F3009453DB5}"/>
                </a:ext>
              </a:extLst>
            </p:cNvPr>
            <p:cNvSpPr txBox="1">
              <a:spLocks noChangeArrowheads="1"/>
            </p:cNvSpPr>
            <p:nvPr/>
          </p:nvSpPr>
          <p:spPr bwMode="auto">
            <a:xfrm>
              <a:off x="7683500" y="5440363"/>
              <a:ext cx="850900" cy="238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200" b="0">
                  <a:latin typeface="Comic Sans MS" panose="030F0702030302020204" pitchFamily="66" charset="0"/>
                </a:rPr>
                <a:t>John Doe</a:t>
              </a:r>
            </a:p>
          </p:txBody>
        </p:sp>
        <p:sp>
          <p:nvSpPr>
            <p:cNvPr id="31" name="Text Box 19">
              <a:extLst>
                <a:ext uri="{FF2B5EF4-FFF2-40B4-BE49-F238E27FC236}">
                  <a16:creationId xmlns:a16="http://schemas.microsoft.com/office/drawing/2014/main" id="{FBA15316-8EAB-DF77-84A9-52EE23FF7838}"/>
                </a:ext>
              </a:extLst>
            </p:cNvPr>
            <p:cNvSpPr txBox="1">
              <a:spLocks noChangeArrowheads="1"/>
            </p:cNvSpPr>
            <p:nvPr/>
          </p:nvSpPr>
          <p:spPr bwMode="auto">
            <a:xfrm>
              <a:off x="6203950" y="2135188"/>
              <a:ext cx="277813" cy="238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200" b="0">
                  <a:latin typeface="Comic Sans MS" panose="030F0702030302020204" pitchFamily="66" charset="0"/>
                </a:rPr>
                <a:t>2</a:t>
              </a:r>
            </a:p>
          </p:txBody>
        </p:sp>
        <p:sp>
          <p:nvSpPr>
            <p:cNvPr id="32" name="Text Box 20">
              <a:extLst>
                <a:ext uri="{FF2B5EF4-FFF2-40B4-BE49-F238E27FC236}">
                  <a16:creationId xmlns:a16="http://schemas.microsoft.com/office/drawing/2014/main" id="{5892034F-C49F-4C6E-880B-1A1E2CEA2D59}"/>
                </a:ext>
              </a:extLst>
            </p:cNvPr>
            <p:cNvSpPr txBox="1">
              <a:spLocks noChangeArrowheads="1"/>
            </p:cNvSpPr>
            <p:nvPr/>
          </p:nvSpPr>
          <p:spPr bwMode="auto">
            <a:xfrm>
              <a:off x="6161088" y="5438775"/>
              <a:ext cx="766762" cy="238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200" b="0">
                  <a:latin typeface="Comic Sans MS" panose="030F0702030302020204" pitchFamily="66" charset="0"/>
                </a:rPr>
                <a:t>3.11, 4.2</a:t>
              </a:r>
            </a:p>
          </p:txBody>
        </p:sp>
        <p:sp>
          <p:nvSpPr>
            <p:cNvPr id="33" name="Text Box 21">
              <a:extLst>
                <a:ext uri="{FF2B5EF4-FFF2-40B4-BE49-F238E27FC236}">
                  <a16:creationId xmlns:a16="http://schemas.microsoft.com/office/drawing/2014/main" id="{A5F55592-189C-0EA5-C49C-80E19C2F9ED3}"/>
                </a:ext>
              </a:extLst>
            </p:cNvPr>
            <p:cNvSpPr txBox="1">
              <a:spLocks noChangeArrowheads="1"/>
            </p:cNvSpPr>
            <p:nvPr/>
          </p:nvSpPr>
          <p:spPr bwMode="auto">
            <a:xfrm>
              <a:off x="6324600" y="2671763"/>
              <a:ext cx="2136775" cy="13961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800" b="0" dirty="0">
                  <a:latin typeface="Comic Sans MS" panose="030F0702030302020204" pitchFamily="66" charset="0"/>
                </a:rPr>
                <a:t>Sales force does not know how to properly construct a quote in the order entry system, causing errors when trying to convert quotes to orders.</a:t>
              </a:r>
            </a:p>
          </p:txBody>
        </p:sp>
        <p:sp>
          <p:nvSpPr>
            <p:cNvPr id="34" name="Freeform 22">
              <a:extLst>
                <a:ext uri="{FF2B5EF4-FFF2-40B4-BE49-F238E27FC236}">
                  <a16:creationId xmlns:a16="http://schemas.microsoft.com/office/drawing/2014/main" id="{884EBD3D-B6EE-FC00-7654-B1CF06A1B47B}"/>
                </a:ext>
              </a:extLst>
            </p:cNvPr>
            <p:cNvSpPr>
              <a:spLocks/>
            </p:cNvSpPr>
            <p:nvPr/>
          </p:nvSpPr>
          <p:spPr bwMode="auto">
            <a:xfrm>
              <a:off x="6167438" y="2124075"/>
              <a:ext cx="331787" cy="247650"/>
            </a:xfrm>
            <a:custGeom>
              <a:avLst/>
              <a:gdLst>
                <a:gd name="T0" fmla="*/ 2147483646 w 257"/>
                <a:gd name="T1" fmla="*/ 2147483646 h 213"/>
                <a:gd name="T2" fmla="*/ 2147483646 w 257"/>
                <a:gd name="T3" fmla="*/ 2147483646 h 213"/>
                <a:gd name="T4" fmla="*/ 2147483646 w 257"/>
                <a:gd name="T5" fmla="*/ 2147483646 h 213"/>
                <a:gd name="T6" fmla="*/ 2147483646 w 257"/>
                <a:gd name="T7" fmla="*/ 2147483646 h 213"/>
                <a:gd name="T8" fmla="*/ 2147483646 w 257"/>
                <a:gd name="T9" fmla="*/ 2147483646 h 213"/>
                <a:gd name="T10" fmla="*/ 2147483646 w 257"/>
                <a:gd name="T11" fmla="*/ 2147483646 h 213"/>
                <a:gd name="T12" fmla="*/ 2147483646 w 257"/>
                <a:gd name="T13" fmla="*/ 2147483646 h 213"/>
                <a:gd name="T14" fmla="*/ 2147483646 w 257"/>
                <a:gd name="T15" fmla="*/ 2147483646 h 213"/>
                <a:gd name="T16" fmla="*/ 2147483646 w 257"/>
                <a:gd name="T17" fmla="*/ 2147483646 h 213"/>
                <a:gd name="T18" fmla="*/ 2147483646 w 257"/>
                <a:gd name="T19" fmla="*/ 0 h 213"/>
                <a:gd name="T20" fmla="*/ 2147483646 w 257"/>
                <a:gd name="T21" fmla="*/ 2147483646 h 21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257" h="213">
                  <a:moveTo>
                    <a:pt x="70" y="10"/>
                  </a:moveTo>
                  <a:cubicBezTo>
                    <a:pt x="41" y="23"/>
                    <a:pt x="38" y="37"/>
                    <a:pt x="22" y="62"/>
                  </a:cubicBezTo>
                  <a:cubicBezTo>
                    <a:pt x="16" y="91"/>
                    <a:pt x="0" y="136"/>
                    <a:pt x="22" y="163"/>
                  </a:cubicBezTo>
                  <a:cubicBezTo>
                    <a:pt x="38" y="182"/>
                    <a:pt x="62" y="189"/>
                    <a:pt x="84" y="197"/>
                  </a:cubicBezTo>
                  <a:cubicBezTo>
                    <a:pt x="89" y="199"/>
                    <a:pt x="98" y="202"/>
                    <a:pt x="98" y="202"/>
                  </a:cubicBezTo>
                  <a:cubicBezTo>
                    <a:pt x="218" y="196"/>
                    <a:pt x="180" y="213"/>
                    <a:pt x="242" y="168"/>
                  </a:cubicBezTo>
                  <a:cubicBezTo>
                    <a:pt x="245" y="158"/>
                    <a:pt x="249" y="149"/>
                    <a:pt x="252" y="139"/>
                  </a:cubicBezTo>
                  <a:cubicBezTo>
                    <a:pt x="254" y="134"/>
                    <a:pt x="257" y="125"/>
                    <a:pt x="257" y="125"/>
                  </a:cubicBezTo>
                  <a:cubicBezTo>
                    <a:pt x="252" y="87"/>
                    <a:pt x="251" y="86"/>
                    <a:pt x="233" y="58"/>
                  </a:cubicBezTo>
                  <a:cubicBezTo>
                    <a:pt x="225" y="26"/>
                    <a:pt x="206" y="10"/>
                    <a:pt x="175" y="0"/>
                  </a:cubicBezTo>
                  <a:cubicBezTo>
                    <a:pt x="146" y="2"/>
                    <a:pt x="102" y="10"/>
                    <a:pt x="70" y="10"/>
                  </a:cubicBezTo>
                  <a:close/>
                </a:path>
              </a:pathLst>
            </a:custGeom>
            <a:noFill/>
            <a:ln w="12700" cap="flat" cmpd="sng">
              <a:solidFill>
                <a:schemeClr val="tx1"/>
              </a:solidFill>
              <a:prstDash val="solid"/>
              <a:round/>
              <a:headEnd type="none" w="med" len="med"/>
              <a:tailEnd type="none" w="sm" len="sm"/>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35" name="Freeform 23">
              <a:extLst>
                <a:ext uri="{FF2B5EF4-FFF2-40B4-BE49-F238E27FC236}">
                  <a16:creationId xmlns:a16="http://schemas.microsoft.com/office/drawing/2014/main" id="{CA441660-DC74-6756-6B03-3B8E08554667}"/>
                </a:ext>
              </a:extLst>
            </p:cNvPr>
            <p:cNvSpPr>
              <a:spLocks/>
            </p:cNvSpPr>
            <p:nvPr/>
          </p:nvSpPr>
          <p:spPr bwMode="auto">
            <a:xfrm>
              <a:off x="6094413" y="2446338"/>
              <a:ext cx="2514600" cy="44450"/>
            </a:xfrm>
            <a:custGeom>
              <a:avLst/>
              <a:gdLst>
                <a:gd name="T0" fmla="*/ 0 w 1584"/>
                <a:gd name="T1" fmla="*/ 2147483646 h 28"/>
                <a:gd name="T2" fmla="*/ 2147483646 w 1584"/>
                <a:gd name="T3" fmla="*/ 2147483646 h 28"/>
                <a:gd name="T4" fmla="*/ 2147483646 w 1584"/>
                <a:gd name="T5" fmla="*/ 2147483646 h 28"/>
                <a:gd name="T6" fmla="*/ 2147483646 w 1584"/>
                <a:gd name="T7" fmla="*/ 2147483646 h 2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584" h="28">
                  <a:moveTo>
                    <a:pt x="0" y="14"/>
                  </a:moveTo>
                  <a:cubicBezTo>
                    <a:pt x="111" y="0"/>
                    <a:pt x="208" y="21"/>
                    <a:pt x="317" y="24"/>
                  </a:cubicBezTo>
                  <a:cubicBezTo>
                    <a:pt x="399" y="26"/>
                    <a:pt x="480" y="27"/>
                    <a:pt x="562" y="28"/>
                  </a:cubicBezTo>
                  <a:cubicBezTo>
                    <a:pt x="902" y="19"/>
                    <a:pt x="1244" y="24"/>
                    <a:pt x="1584" y="24"/>
                  </a:cubicBezTo>
                </a:path>
              </a:pathLst>
            </a:custGeom>
            <a:noFill/>
            <a:ln w="28575" cap="flat" cmpd="sng">
              <a:solidFill>
                <a:schemeClr val="tx1"/>
              </a:solidFill>
              <a:prstDash val="solid"/>
              <a:round/>
              <a:headEnd type="none" w="med" len="med"/>
              <a:tailEnd type="none" w="sm" len="sm"/>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36" name="Freeform 24">
              <a:extLst>
                <a:ext uri="{FF2B5EF4-FFF2-40B4-BE49-F238E27FC236}">
                  <a16:creationId xmlns:a16="http://schemas.microsoft.com/office/drawing/2014/main" id="{765F17EC-38A1-F542-0155-11F550CD913E}"/>
                </a:ext>
              </a:extLst>
            </p:cNvPr>
            <p:cNvSpPr>
              <a:spLocks/>
            </p:cNvSpPr>
            <p:nvPr/>
          </p:nvSpPr>
          <p:spPr bwMode="auto">
            <a:xfrm flipH="1" flipV="1">
              <a:off x="6086475" y="5343525"/>
              <a:ext cx="2514600" cy="44450"/>
            </a:xfrm>
            <a:custGeom>
              <a:avLst/>
              <a:gdLst>
                <a:gd name="T0" fmla="*/ 0 w 1584"/>
                <a:gd name="T1" fmla="*/ 2147483646 h 28"/>
                <a:gd name="T2" fmla="*/ 2147483646 w 1584"/>
                <a:gd name="T3" fmla="*/ 2147483646 h 28"/>
                <a:gd name="T4" fmla="*/ 2147483646 w 1584"/>
                <a:gd name="T5" fmla="*/ 2147483646 h 28"/>
                <a:gd name="T6" fmla="*/ 2147483646 w 1584"/>
                <a:gd name="T7" fmla="*/ 2147483646 h 2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584" h="28">
                  <a:moveTo>
                    <a:pt x="0" y="14"/>
                  </a:moveTo>
                  <a:cubicBezTo>
                    <a:pt x="111" y="0"/>
                    <a:pt x="208" y="21"/>
                    <a:pt x="317" y="24"/>
                  </a:cubicBezTo>
                  <a:cubicBezTo>
                    <a:pt x="399" y="26"/>
                    <a:pt x="480" y="27"/>
                    <a:pt x="562" y="28"/>
                  </a:cubicBezTo>
                  <a:cubicBezTo>
                    <a:pt x="902" y="19"/>
                    <a:pt x="1244" y="24"/>
                    <a:pt x="1584" y="24"/>
                  </a:cubicBezTo>
                </a:path>
              </a:pathLst>
            </a:custGeom>
            <a:noFill/>
            <a:ln w="28575" cap="flat" cmpd="sng">
              <a:solidFill>
                <a:schemeClr val="tx1"/>
              </a:solidFill>
              <a:prstDash val="solid"/>
              <a:round/>
              <a:headEnd type="none" w="med" len="med"/>
              <a:tailEnd type="none" w="sm" len="sm"/>
            </a:ln>
            <a:extLst>
              <a:ext uri="{909E8E84-426E-40DD-AFC4-6F175D3DCCD1}">
                <a14:hiddenFill xmlns:a14="http://schemas.microsoft.com/office/drawing/2010/main">
                  <a:solidFill>
                    <a:srgbClr val="FFFFFF"/>
                  </a:solidFill>
                </a14:hiddenFill>
              </a:ext>
            </a:extLst>
          </p:spPr>
          <p:txBody>
            <a:bodyPr/>
            <a:lstStyle/>
            <a:p>
              <a:endParaRPr lang="en-US"/>
            </a:p>
          </p:txBody>
        </p:sp>
      </p:grpSp>
      <p:sp>
        <p:nvSpPr>
          <p:cNvPr id="37" name="Rectangle 25">
            <a:extLst>
              <a:ext uri="{FF2B5EF4-FFF2-40B4-BE49-F238E27FC236}">
                <a16:creationId xmlns:a16="http://schemas.microsoft.com/office/drawing/2014/main" id="{906C3FFC-5EE1-EA69-9264-C0B9D0EABA8A}"/>
              </a:ext>
            </a:extLst>
          </p:cNvPr>
          <p:cNvSpPr>
            <a:spLocks noChangeArrowheads="1"/>
          </p:cNvSpPr>
          <p:nvPr/>
        </p:nvSpPr>
        <p:spPr bwMode="auto">
          <a:xfrm>
            <a:off x="6564969" y="1921958"/>
            <a:ext cx="1136851" cy="316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800" dirty="0">
                <a:latin typeface="Roboto" panose="02000000000000000000" pitchFamily="2" charset="0"/>
                <a:ea typeface="Roboto" panose="02000000000000000000" pitchFamily="2" charset="0"/>
              </a:rPr>
              <a:t>Example:</a:t>
            </a:r>
          </a:p>
        </p:txBody>
      </p:sp>
      <p:sp>
        <p:nvSpPr>
          <p:cNvPr id="39" name="Text Box 12">
            <a:extLst>
              <a:ext uri="{FF2B5EF4-FFF2-40B4-BE49-F238E27FC236}">
                <a16:creationId xmlns:a16="http://schemas.microsoft.com/office/drawing/2014/main" id="{8964ECA1-72A4-D334-1F59-978467124DFD}"/>
              </a:ext>
            </a:extLst>
          </p:cNvPr>
          <p:cNvSpPr txBox="1">
            <a:spLocks noChangeArrowheads="1"/>
          </p:cNvSpPr>
          <p:nvPr/>
        </p:nvSpPr>
        <p:spPr bwMode="auto">
          <a:xfrm>
            <a:off x="241554" y="4853524"/>
            <a:ext cx="1981200" cy="13234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80000"/>
              </a:lnSpc>
              <a:spcBef>
                <a:spcPct val="20000"/>
              </a:spcBef>
              <a:spcAft>
                <a:spcPct val="0"/>
              </a:spcAft>
              <a:buClrTx/>
              <a:buSzTx/>
              <a:buFontTx/>
              <a:buNone/>
            </a:pPr>
            <a:r>
              <a:rPr lang="en-US" altLang="en-US" sz="2000" dirty="0"/>
              <a:t>List 1 or more Process Steps where this root cause occurs</a:t>
            </a:r>
          </a:p>
        </p:txBody>
      </p:sp>
      <p:sp>
        <p:nvSpPr>
          <p:cNvPr id="40" name="Line 13">
            <a:extLst>
              <a:ext uri="{FF2B5EF4-FFF2-40B4-BE49-F238E27FC236}">
                <a16:creationId xmlns:a16="http://schemas.microsoft.com/office/drawing/2014/main" id="{D4BF2723-DCDC-E35F-2D0A-0E82C06E8DD4}"/>
              </a:ext>
            </a:extLst>
          </p:cNvPr>
          <p:cNvSpPr>
            <a:spLocks noChangeShapeType="1"/>
          </p:cNvSpPr>
          <p:nvPr/>
        </p:nvSpPr>
        <p:spPr bwMode="auto">
          <a:xfrm>
            <a:off x="2081578" y="5564070"/>
            <a:ext cx="929162" cy="293840"/>
          </a:xfrm>
          <a:prstGeom prst="line">
            <a:avLst/>
          </a:prstGeom>
          <a:noFill/>
          <a:ln w="38100">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41" name="Text Box 14">
            <a:extLst>
              <a:ext uri="{FF2B5EF4-FFF2-40B4-BE49-F238E27FC236}">
                <a16:creationId xmlns:a16="http://schemas.microsoft.com/office/drawing/2014/main" id="{74B8DC43-863E-4035-DFCE-F620909086FC}"/>
              </a:ext>
            </a:extLst>
          </p:cNvPr>
          <p:cNvSpPr txBox="1">
            <a:spLocks noChangeArrowheads="1"/>
          </p:cNvSpPr>
          <p:nvPr/>
        </p:nvSpPr>
        <p:spPr bwMode="auto">
          <a:xfrm>
            <a:off x="292255" y="2794096"/>
            <a:ext cx="1633538" cy="833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80000"/>
              </a:lnSpc>
              <a:spcBef>
                <a:spcPct val="20000"/>
              </a:spcBef>
              <a:spcAft>
                <a:spcPct val="0"/>
              </a:spcAft>
              <a:buClrTx/>
              <a:buSzTx/>
              <a:buFontTx/>
              <a:buNone/>
            </a:pPr>
            <a:r>
              <a:rPr lang="en-US" altLang="en-US" sz="2000" dirty="0">
                <a:latin typeface="Roboto" panose="02000000000000000000" pitchFamily="2" charset="0"/>
                <a:ea typeface="Roboto" panose="02000000000000000000" pitchFamily="2" charset="0"/>
              </a:rPr>
              <a:t>Each FACT Card has a unique #</a:t>
            </a:r>
          </a:p>
        </p:txBody>
      </p:sp>
      <p:sp>
        <p:nvSpPr>
          <p:cNvPr id="42" name="Line 15">
            <a:extLst>
              <a:ext uri="{FF2B5EF4-FFF2-40B4-BE49-F238E27FC236}">
                <a16:creationId xmlns:a16="http://schemas.microsoft.com/office/drawing/2014/main" id="{587A7701-04C9-1992-D19E-B051346F1814}"/>
              </a:ext>
            </a:extLst>
          </p:cNvPr>
          <p:cNvSpPr>
            <a:spLocks noChangeShapeType="1"/>
          </p:cNvSpPr>
          <p:nvPr/>
        </p:nvSpPr>
        <p:spPr bwMode="auto">
          <a:xfrm flipV="1">
            <a:off x="1779225" y="2323564"/>
            <a:ext cx="1231515" cy="747030"/>
          </a:xfrm>
          <a:prstGeom prst="line">
            <a:avLst/>
          </a:prstGeom>
          <a:noFill/>
          <a:ln w="38100">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Tree>
    <p:extLst>
      <p:ext uri="{BB962C8B-B14F-4D97-AF65-F5344CB8AC3E}">
        <p14:creationId xmlns:p14="http://schemas.microsoft.com/office/powerpoint/2010/main" val="1684207684"/>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normAutofit fontScale="90000"/>
          </a:bodyPr>
          <a:lstStyle/>
          <a:p>
            <a:r>
              <a:rPr lang="en-US" sz="4000" dirty="0"/>
              <a:t>Describe the Detail and Format for a FACT Card</a:t>
            </a:r>
          </a:p>
        </p:txBody>
      </p:sp>
      <p:sp>
        <p:nvSpPr>
          <p:cNvPr id="3" name="Content Placeholder 2">
            <a:extLst>
              <a:ext uri="{FF2B5EF4-FFF2-40B4-BE49-F238E27FC236}">
                <a16:creationId xmlns:a16="http://schemas.microsoft.com/office/drawing/2014/main" id="{2AA7A201-AD05-6520-E140-CCF11E59E700}"/>
              </a:ext>
            </a:extLst>
          </p:cNvPr>
          <p:cNvSpPr>
            <a:spLocks noGrp="1"/>
          </p:cNvSpPr>
          <p:nvPr>
            <p:ph idx="1"/>
          </p:nvPr>
        </p:nvSpPr>
        <p:spPr/>
        <p:txBody>
          <a:bodyPr>
            <a:normAutofit/>
          </a:bodyPr>
          <a:lstStyle/>
          <a:p>
            <a:pPr marL="0" indent="0">
              <a:buNone/>
            </a:pPr>
            <a:r>
              <a:rPr lang="en-US" sz="3200" b="1" dirty="0"/>
              <a:t>Fact card writing guidelines</a:t>
            </a:r>
          </a:p>
          <a:p>
            <a:r>
              <a:rPr lang="en-US" sz="3200" dirty="0"/>
              <a:t>Use full thoughts and sentences</a:t>
            </a:r>
          </a:p>
          <a:p>
            <a:r>
              <a:rPr lang="en-US" sz="3200" dirty="0"/>
              <a:t>Write one main idea per card</a:t>
            </a:r>
          </a:p>
          <a:p>
            <a:r>
              <a:rPr lang="en-US" sz="3200" dirty="0"/>
              <a:t>Be concrete and specific</a:t>
            </a:r>
          </a:p>
          <a:p>
            <a:r>
              <a:rPr lang="en-US" sz="3200" dirty="0"/>
              <a:t>Sign and date cards</a:t>
            </a:r>
          </a:p>
          <a:p>
            <a:r>
              <a:rPr lang="en-US" sz="3200" dirty="0"/>
              <a:t>Make card readable</a:t>
            </a:r>
          </a:p>
          <a:p>
            <a:endParaRPr lang="en-US" sz="3200" dirty="0"/>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63</a:t>
            </a:fld>
            <a:endParaRPr lang="en-US"/>
          </a:p>
        </p:txBody>
      </p:sp>
      <p:grpSp>
        <p:nvGrpSpPr>
          <p:cNvPr id="14" name="Group 13">
            <a:extLst>
              <a:ext uri="{FF2B5EF4-FFF2-40B4-BE49-F238E27FC236}">
                <a16:creationId xmlns:a16="http://schemas.microsoft.com/office/drawing/2014/main" id="{94A7E9DA-C710-9A50-DE98-FB545193D022}"/>
              </a:ext>
            </a:extLst>
          </p:cNvPr>
          <p:cNvGrpSpPr/>
          <p:nvPr/>
        </p:nvGrpSpPr>
        <p:grpSpPr>
          <a:xfrm>
            <a:off x="838200" y="297639"/>
            <a:ext cx="4110990" cy="307138"/>
            <a:chOff x="838200" y="297639"/>
            <a:chExt cx="4110990" cy="307138"/>
          </a:xfrm>
        </p:grpSpPr>
        <p:grpSp>
          <p:nvGrpSpPr>
            <p:cNvPr id="15" name="Group 14">
              <a:extLst>
                <a:ext uri="{FF2B5EF4-FFF2-40B4-BE49-F238E27FC236}">
                  <a16:creationId xmlns:a16="http://schemas.microsoft.com/office/drawing/2014/main" id="{7E3FA7AC-ED64-BC4D-B5F3-517192A96304}"/>
                </a:ext>
              </a:extLst>
            </p:cNvPr>
            <p:cNvGrpSpPr/>
            <p:nvPr/>
          </p:nvGrpSpPr>
          <p:grpSpPr>
            <a:xfrm>
              <a:off x="838200" y="297639"/>
              <a:ext cx="1687517" cy="290657"/>
              <a:chOff x="838200" y="297639"/>
              <a:chExt cx="1687517" cy="290657"/>
            </a:xfrm>
          </p:grpSpPr>
          <p:sp>
            <p:nvSpPr>
              <p:cNvPr id="17" name="AutoShape 9">
                <a:extLst>
                  <a:ext uri="{FF2B5EF4-FFF2-40B4-BE49-F238E27FC236}">
                    <a16:creationId xmlns:a16="http://schemas.microsoft.com/office/drawing/2014/main" id="{EE35564A-9A78-E652-8FF4-980E60BBEC89}"/>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8" name="AutoShape 9">
                <a:extLst>
                  <a:ext uri="{FF2B5EF4-FFF2-40B4-BE49-F238E27FC236}">
                    <a16:creationId xmlns:a16="http://schemas.microsoft.com/office/drawing/2014/main" id="{6B9ED52B-720A-571B-A67A-C1924442DA36}"/>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19" name="Group 18">
                <a:extLst>
                  <a:ext uri="{FF2B5EF4-FFF2-40B4-BE49-F238E27FC236}">
                    <a16:creationId xmlns:a16="http://schemas.microsoft.com/office/drawing/2014/main" id="{54B4FCA1-7084-527D-38DF-A51912CB4BB9}"/>
                  </a:ext>
                </a:extLst>
              </p:cNvPr>
              <p:cNvGrpSpPr/>
              <p:nvPr/>
            </p:nvGrpSpPr>
            <p:grpSpPr>
              <a:xfrm>
                <a:off x="838200" y="297639"/>
                <a:ext cx="1060167" cy="290657"/>
                <a:chOff x="826426" y="4041857"/>
                <a:chExt cx="1060167" cy="290657"/>
              </a:xfrm>
            </p:grpSpPr>
            <p:sp>
              <p:nvSpPr>
                <p:cNvPr id="20" name="AutoShape 9">
                  <a:extLst>
                    <a:ext uri="{FF2B5EF4-FFF2-40B4-BE49-F238E27FC236}">
                      <a16:creationId xmlns:a16="http://schemas.microsoft.com/office/drawing/2014/main" id="{2327D17C-A5C6-234D-3D5F-B6C01E45BD98}"/>
                    </a:ext>
                  </a:extLst>
                </p:cNvPr>
                <p:cNvSpPr>
                  <a:spLocks noChangeArrowheads="1"/>
                </p:cNvSpPr>
                <p:nvPr/>
              </p:nvSpPr>
              <p:spPr bwMode="auto">
                <a:xfrm>
                  <a:off x="145377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1" name="AutoShape 11">
                  <a:extLst>
                    <a:ext uri="{FF2B5EF4-FFF2-40B4-BE49-F238E27FC236}">
                      <a16:creationId xmlns:a16="http://schemas.microsoft.com/office/drawing/2014/main" id="{2486708D-C9D1-3EEA-91CB-70C19E4A707C}"/>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2" name="AutoShape 10">
                  <a:extLst>
                    <a:ext uri="{FF2B5EF4-FFF2-40B4-BE49-F238E27FC236}">
                      <a16:creationId xmlns:a16="http://schemas.microsoft.com/office/drawing/2014/main" id="{B3F23951-87AA-49A5-9BF4-59BF619273DE}"/>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16" name="TextBox 15">
              <a:extLst>
                <a:ext uri="{FF2B5EF4-FFF2-40B4-BE49-F238E27FC236}">
                  <a16:creationId xmlns:a16="http://schemas.microsoft.com/office/drawing/2014/main" id="{0B3CDCE0-D50B-A992-50D5-C00E9EF5705F}"/>
                </a:ext>
              </a:extLst>
            </p:cNvPr>
            <p:cNvSpPr txBox="1"/>
            <p:nvPr/>
          </p:nvSpPr>
          <p:spPr>
            <a:xfrm>
              <a:off x="2525717" y="313415"/>
              <a:ext cx="242347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CEDAC Problem Cause</a:t>
              </a:r>
            </a:p>
          </p:txBody>
        </p:sp>
      </p:grpSp>
    </p:spTree>
    <p:extLst>
      <p:ext uri="{BB962C8B-B14F-4D97-AF65-F5344CB8AC3E}">
        <p14:creationId xmlns:p14="http://schemas.microsoft.com/office/powerpoint/2010/main" val="698437777"/>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normAutofit fontScale="90000"/>
          </a:bodyPr>
          <a:lstStyle/>
          <a:p>
            <a:r>
              <a:rPr lang="en-US" sz="4000" dirty="0"/>
              <a:t>Process for Developing and Posting FACT Cards</a:t>
            </a:r>
          </a:p>
        </p:txBody>
      </p:sp>
      <p:sp>
        <p:nvSpPr>
          <p:cNvPr id="3" name="Content Placeholder 2">
            <a:extLst>
              <a:ext uri="{FF2B5EF4-FFF2-40B4-BE49-F238E27FC236}">
                <a16:creationId xmlns:a16="http://schemas.microsoft.com/office/drawing/2014/main" id="{2AA7A201-AD05-6520-E140-CCF11E59E700}"/>
              </a:ext>
            </a:extLst>
          </p:cNvPr>
          <p:cNvSpPr>
            <a:spLocks noGrp="1"/>
          </p:cNvSpPr>
          <p:nvPr>
            <p:ph idx="1"/>
          </p:nvPr>
        </p:nvSpPr>
        <p:spPr/>
        <p:txBody>
          <a:bodyPr>
            <a:normAutofit fontScale="85000" lnSpcReduction="20000"/>
          </a:bodyPr>
          <a:lstStyle/>
          <a:p>
            <a:r>
              <a:rPr lang="en-US" sz="3200" dirty="0"/>
              <a:t>Review and clarify the data, objective and problem statement</a:t>
            </a:r>
          </a:p>
          <a:p>
            <a:r>
              <a:rPr lang="en-US" sz="3200" dirty="0"/>
              <a:t>Silent brainstorm for five minutes, creating as many cards as possible</a:t>
            </a:r>
          </a:p>
          <a:p>
            <a:r>
              <a:rPr lang="en-US" sz="3200" dirty="0"/>
              <a:t>Be creative – anything goes!</a:t>
            </a:r>
          </a:p>
          <a:p>
            <a:r>
              <a:rPr lang="en-US" sz="3200" dirty="0"/>
              <a:t>Each person takes turns explaining a fact card and posts on the diagram</a:t>
            </a:r>
          </a:p>
          <a:p>
            <a:r>
              <a:rPr lang="en-US" sz="3200" dirty="0"/>
              <a:t>Don’t discuss or “problem solve” during posting process</a:t>
            </a:r>
          </a:p>
          <a:p>
            <a:r>
              <a:rPr lang="en-US" sz="3200" dirty="0"/>
              <a:t>Don’t  judge or criticize – goal is to generate as many ideas as possible</a:t>
            </a:r>
          </a:p>
          <a:p>
            <a:r>
              <a:rPr lang="en-US" sz="3200" dirty="0"/>
              <a:t>Encourage hitchhiking – build on each other’s ideas</a:t>
            </a:r>
          </a:p>
          <a:p>
            <a:r>
              <a:rPr lang="en-US" sz="3200" dirty="0"/>
              <a:t>Continue posting cards until everyone “passes”</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64</a:t>
            </a:fld>
            <a:endParaRPr lang="en-US"/>
          </a:p>
        </p:txBody>
      </p:sp>
      <p:grpSp>
        <p:nvGrpSpPr>
          <p:cNvPr id="14" name="Group 13">
            <a:extLst>
              <a:ext uri="{FF2B5EF4-FFF2-40B4-BE49-F238E27FC236}">
                <a16:creationId xmlns:a16="http://schemas.microsoft.com/office/drawing/2014/main" id="{94A7E9DA-C710-9A50-DE98-FB545193D022}"/>
              </a:ext>
            </a:extLst>
          </p:cNvPr>
          <p:cNvGrpSpPr/>
          <p:nvPr/>
        </p:nvGrpSpPr>
        <p:grpSpPr>
          <a:xfrm>
            <a:off x="838200" y="297639"/>
            <a:ext cx="4110990" cy="307138"/>
            <a:chOff x="838200" y="297639"/>
            <a:chExt cx="4110990" cy="307138"/>
          </a:xfrm>
        </p:grpSpPr>
        <p:grpSp>
          <p:nvGrpSpPr>
            <p:cNvPr id="15" name="Group 14">
              <a:extLst>
                <a:ext uri="{FF2B5EF4-FFF2-40B4-BE49-F238E27FC236}">
                  <a16:creationId xmlns:a16="http://schemas.microsoft.com/office/drawing/2014/main" id="{7E3FA7AC-ED64-BC4D-B5F3-517192A96304}"/>
                </a:ext>
              </a:extLst>
            </p:cNvPr>
            <p:cNvGrpSpPr/>
            <p:nvPr/>
          </p:nvGrpSpPr>
          <p:grpSpPr>
            <a:xfrm>
              <a:off x="838200" y="297639"/>
              <a:ext cx="1687517" cy="290657"/>
              <a:chOff x="838200" y="297639"/>
              <a:chExt cx="1687517" cy="290657"/>
            </a:xfrm>
          </p:grpSpPr>
          <p:sp>
            <p:nvSpPr>
              <p:cNvPr id="17" name="AutoShape 9">
                <a:extLst>
                  <a:ext uri="{FF2B5EF4-FFF2-40B4-BE49-F238E27FC236}">
                    <a16:creationId xmlns:a16="http://schemas.microsoft.com/office/drawing/2014/main" id="{EE35564A-9A78-E652-8FF4-980E60BBEC89}"/>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8" name="AutoShape 9">
                <a:extLst>
                  <a:ext uri="{FF2B5EF4-FFF2-40B4-BE49-F238E27FC236}">
                    <a16:creationId xmlns:a16="http://schemas.microsoft.com/office/drawing/2014/main" id="{6B9ED52B-720A-571B-A67A-C1924442DA36}"/>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19" name="Group 18">
                <a:extLst>
                  <a:ext uri="{FF2B5EF4-FFF2-40B4-BE49-F238E27FC236}">
                    <a16:creationId xmlns:a16="http://schemas.microsoft.com/office/drawing/2014/main" id="{54B4FCA1-7084-527D-38DF-A51912CB4BB9}"/>
                  </a:ext>
                </a:extLst>
              </p:cNvPr>
              <p:cNvGrpSpPr/>
              <p:nvPr/>
            </p:nvGrpSpPr>
            <p:grpSpPr>
              <a:xfrm>
                <a:off x="838200" y="297639"/>
                <a:ext cx="1060167" cy="290657"/>
                <a:chOff x="826426" y="4041857"/>
                <a:chExt cx="1060167" cy="290657"/>
              </a:xfrm>
            </p:grpSpPr>
            <p:sp>
              <p:nvSpPr>
                <p:cNvPr id="20" name="AutoShape 9">
                  <a:extLst>
                    <a:ext uri="{FF2B5EF4-FFF2-40B4-BE49-F238E27FC236}">
                      <a16:creationId xmlns:a16="http://schemas.microsoft.com/office/drawing/2014/main" id="{2327D17C-A5C6-234D-3D5F-B6C01E45BD98}"/>
                    </a:ext>
                  </a:extLst>
                </p:cNvPr>
                <p:cNvSpPr>
                  <a:spLocks noChangeArrowheads="1"/>
                </p:cNvSpPr>
                <p:nvPr/>
              </p:nvSpPr>
              <p:spPr bwMode="auto">
                <a:xfrm>
                  <a:off x="145377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1" name="AutoShape 11">
                  <a:extLst>
                    <a:ext uri="{FF2B5EF4-FFF2-40B4-BE49-F238E27FC236}">
                      <a16:creationId xmlns:a16="http://schemas.microsoft.com/office/drawing/2014/main" id="{2486708D-C9D1-3EEA-91CB-70C19E4A707C}"/>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2" name="AutoShape 10">
                  <a:extLst>
                    <a:ext uri="{FF2B5EF4-FFF2-40B4-BE49-F238E27FC236}">
                      <a16:creationId xmlns:a16="http://schemas.microsoft.com/office/drawing/2014/main" id="{B3F23951-87AA-49A5-9BF4-59BF619273DE}"/>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16" name="TextBox 15">
              <a:extLst>
                <a:ext uri="{FF2B5EF4-FFF2-40B4-BE49-F238E27FC236}">
                  <a16:creationId xmlns:a16="http://schemas.microsoft.com/office/drawing/2014/main" id="{0B3CDCE0-D50B-A992-50D5-C00E9EF5705F}"/>
                </a:ext>
              </a:extLst>
            </p:cNvPr>
            <p:cNvSpPr txBox="1"/>
            <p:nvPr/>
          </p:nvSpPr>
          <p:spPr>
            <a:xfrm>
              <a:off x="2525717" y="313415"/>
              <a:ext cx="242347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CEDAC Problem Cause</a:t>
              </a:r>
            </a:p>
          </p:txBody>
        </p:sp>
      </p:grpSp>
    </p:spTree>
    <p:extLst>
      <p:ext uri="{BB962C8B-B14F-4D97-AF65-F5344CB8AC3E}">
        <p14:creationId xmlns:p14="http://schemas.microsoft.com/office/powerpoint/2010/main" val="517805309"/>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noAutofit/>
          </a:bodyPr>
          <a:lstStyle/>
          <a:p>
            <a:r>
              <a:rPr lang="en-US" sz="3200" dirty="0"/>
              <a:t>Process for Reviewing and Numbering FACT Cards</a:t>
            </a:r>
          </a:p>
        </p:txBody>
      </p:sp>
      <p:sp>
        <p:nvSpPr>
          <p:cNvPr id="3" name="Content Placeholder 2">
            <a:extLst>
              <a:ext uri="{FF2B5EF4-FFF2-40B4-BE49-F238E27FC236}">
                <a16:creationId xmlns:a16="http://schemas.microsoft.com/office/drawing/2014/main" id="{2AA7A201-AD05-6520-E140-CCF11E59E700}"/>
              </a:ext>
            </a:extLst>
          </p:cNvPr>
          <p:cNvSpPr>
            <a:spLocks noGrp="1"/>
          </p:cNvSpPr>
          <p:nvPr>
            <p:ph idx="1"/>
          </p:nvPr>
        </p:nvSpPr>
        <p:spPr/>
        <p:txBody>
          <a:bodyPr>
            <a:normAutofit/>
          </a:bodyPr>
          <a:lstStyle/>
          <a:p>
            <a:r>
              <a:rPr lang="en-US" sz="3200" dirty="0"/>
              <a:t>Combine duplicate cards</a:t>
            </a:r>
          </a:p>
          <a:p>
            <a:r>
              <a:rPr lang="en-US" sz="3200" dirty="0"/>
              <a:t>Group “like” ideas together</a:t>
            </a:r>
          </a:p>
          <a:p>
            <a:r>
              <a:rPr lang="en-US" sz="3200" dirty="0"/>
              <a:t>Ensure everyone understands each possible cause</a:t>
            </a:r>
          </a:p>
          <a:p>
            <a:r>
              <a:rPr lang="en-US" sz="3200" dirty="0"/>
              <a:t>Number cards “1” through “x”</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65</a:t>
            </a:fld>
            <a:endParaRPr lang="en-US"/>
          </a:p>
        </p:txBody>
      </p:sp>
      <p:grpSp>
        <p:nvGrpSpPr>
          <p:cNvPr id="14" name="Group 13">
            <a:extLst>
              <a:ext uri="{FF2B5EF4-FFF2-40B4-BE49-F238E27FC236}">
                <a16:creationId xmlns:a16="http://schemas.microsoft.com/office/drawing/2014/main" id="{94A7E9DA-C710-9A50-DE98-FB545193D022}"/>
              </a:ext>
            </a:extLst>
          </p:cNvPr>
          <p:cNvGrpSpPr/>
          <p:nvPr/>
        </p:nvGrpSpPr>
        <p:grpSpPr>
          <a:xfrm>
            <a:off x="838200" y="297639"/>
            <a:ext cx="4110990" cy="307138"/>
            <a:chOff x="838200" y="297639"/>
            <a:chExt cx="4110990" cy="307138"/>
          </a:xfrm>
        </p:grpSpPr>
        <p:grpSp>
          <p:nvGrpSpPr>
            <p:cNvPr id="15" name="Group 14">
              <a:extLst>
                <a:ext uri="{FF2B5EF4-FFF2-40B4-BE49-F238E27FC236}">
                  <a16:creationId xmlns:a16="http://schemas.microsoft.com/office/drawing/2014/main" id="{7E3FA7AC-ED64-BC4D-B5F3-517192A96304}"/>
                </a:ext>
              </a:extLst>
            </p:cNvPr>
            <p:cNvGrpSpPr/>
            <p:nvPr/>
          </p:nvGrpSpPr>
          <p:grpSpPr>
            <a:xfrm>
              <a:off x="838200" y="297639"/>
              <a:ext cx="1687517" cy="290657"/>
              <a:chOff x="838200" y="297639"/>
              <a:chExt cx="1687517" cy="290657"/>
            </a:xfrm>
          </p:grpSpPr>
          <p:sp>
            <p:nvSpPr>
              <p:cNvPr id="17" name="AutoShape 9">
                <a:extLst>
                  <a:ext uri="{FF2B5EF4-FFF2-40B4-BE49-F238E27FC236}">
                    <a16:creationId xmlns:a16="http://schemas.microsoft.com/office/drawing/2014/main" id="{EE35564A-9A78-E652-8FF4-980E60BBEC89}"/>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8" name="AutoShape 9">
                <a:extLst>
                  <a:ext uri="{FF2B5EF4-FFF2-40B4-BE49-F238E27FC236}">
                    <a16:creationId xmlns:a16="http://schemas.microsoft.com/office/drawing/2014/main" id="{6B9ED52B-720A-571B-A67A-C1924442DA36}"/>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19" name="Group 18">
                <a:extLst>
                  <a:ext uri="{FF2B5EF4-FFF2-40B4-BE49-F238E27FC236}">
                    <a16:creationId xmlns:a16="http://schemas.microsoft.com/office/drawing/2014/main" id="{54B4FCA1-7084-527D-38DF-A51912CB4BB9}"/>
                  </a:ext>
                </a:extLst>
              </p:cNvPr>
              <p:cNvGrpSpPr/>
              <p:nvPr/>
            </p:nvGrpSpPr>
            <p:grpSpPr>
              <a:xfrm>
                <a:off x="838200" y="297639"/>
                <a:ext cx="1060167" cy="290657"/>
                <a:chOff x="826426" y="4041857"/>
                <a:chExt cx="1060167" cy="290657"/>
              </a:xfrm>
            </p:grpSpPr>
            <p:sp>
              <p:nvSpPr>
                <p:cNvPr id="20" name="AutoShape 9">
                  <a:extLst>
                    <a:ext uri="{FF2B5EF4-FFF2-40B4-BE49-F238E27FC236}">
                      <a16:creationId xmlns:a16="http://schemas.microsoft.com/office/drawing/2014/main" id="{2327D17C-A5C6-234D-3D5F-B6C01E45BD98}"/>
                    </a:ext>
                  </a:extLst>
                </p:cNvPr>
                <p:cNvSpPr>
                  <a:spLocks noChangeArrowheads="1"/>
                </p:cNvSpPr>
                <p:nvPr/>
              </p:nvSpPr>
              <p:spPr bwMode="auto">
                <a:xfrm>
                  <a:off x="145377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1" name="AutoShape 11">
                  <a:extLst>
                    <a:ext uri="{FF2B5EF4-FFF2-40B4-BE49-F238E27FC236}">
                      <a16:creationId xmlns:a16="http://schemas.microsoft.com/office/drawing/2014/main" id="{2486708D-C9D1-3EEA-91CB-70C19E4A707C}"/>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2" name="AutoShape 10">
                  <a:extLst>
                    <a:ext uri="{FF2B5EF4-FFF2-40B4-BE49-F238E27FC236}">
                      <a16:creationId xmlns:a16="http://schemas.microsoft.com/office/drawing/2014/main" id="{B3F23951-87AA-49A5-9BF4-59BF619273DE}"/>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16" name="TextBox 15">
              <a:extLst>
                <a:ext uri="{FF2B5EF4-FFF2-40B4-BE49-F238E27FC236}">
                  <a16:creationId xmlns:a16="http://schemas.microsoft.com/office/drawing/2014/main" id="{0B3CDCE0-D50B-A992-50D5-C00E9EF5705F}"/>
                </a:ext>
              </a:extLst>
            </p:cNvPr>
            <p:cNvSpPr txBox="1"/>
            <p:nvPr/>
          </p:nvSpPr>
          <p:spPr>
            <a:xfrm>
              <a:off x="2525717" y="313415"/>
              <a:ext cx="242347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CEDAC Problem Cause</a:t>
              </a:r>
            </a:p>
          </p:txBody>
        </p:sp>
      </p:grpSp>
    </p:spTree>
    <p:extLst>
      <p:ext uri="{BB962C8B-B14F-4D97-AF65-F5344CB8AC3E}">
        <p14:creationId xmlns:p14="http://schemas.microsoft.com/office/powerpoint/2010/main" val="2497231765"/>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8D9ED7-5CF9-6F4B-B4A8-2DBF8D852A20}"/>
              </a:ext>
            </a:extLst>
          </p:cNvPr>
          <p:cNvSpPr>
            <a:spLocks noGrp="1"/>
          </p:cNvSpPr>
          <p:nvPr>
            <p:ph type="title"/>
          </p:nvPr>
        </p:nvSpPr>
        <p:spPr/>
        <p:txBody>
          <a:bodyPr>
            <a:noAutofit/>
          </a:bodyPr>
          <a:lstStyle/>
          <a:p>
            <a:r>
              <a:rPr lang="en-US" sz="2800" dirty="0">
                <a:latin typeface="Roboto Medium"/>
                <a:ea typeface="Roboto Medium"/>
                <a:cs typeface="Roboto Medium"/>
              </a:rPr>
              <a:t>Case Study Exercise: CEDAC Step 5 – Develop FACT cards</a:t>
            </a:r>
          </a:p>
        </p:txBody>
      </p:sp>
      <p:sp>
        <p:nvSpPr>
          <p:cNvPr id="5" name="Slide Number Placeholder 4">
            <a:extLst>
              <a:ext uri="{FF2B5EF4-FFF2-40B4-BE49-F238E27FC236}">
                <a16:creationId xmlns:a16="http://schemas.microsoft.com/office/drawing/2014/main" id="{EFB3C390-D307-7FFC-DADE-918C5180FE01}"/>
              </a:ext>
            </a:extLst>
          </p:cNvPr>
          <p:cNvSpPr>
            <a:spLocks noGrp="1"/>
          </p:cNvSpPr>
          <p:nvPr>
            <p:ph type="sldNum" sz="quarter" idx="4294967295"/>
          </p:nvPr>
        </p:nvSpPr>
        <p:spPr>
          <a:xfrm>
            <a:off x="8595078" y="6333148"/>
            <a:ext cx="2743200" cy="365125"/>
          </a:xfrm>
          <a:prstGeom prst="rect">
            <a:avLst/>
          </a:prstGeom>
        </p:spPr>
        <p:txBody>
          <a:bodyPr/>
          <a:lstStyle/>
          <a:p>
            <a:fld id="{CC6D4273-7FC1-0947-B9FE-19CB3C0D1FB6}" type="slidenum">
              <a:rPr lang="en-US" smtClean="0"/>
              <a:t>66</a:t>
            </a:fld>
            <a:endParaRPr lang="en-US"/>
          </a:p>
        </p:txBody>
      </p:sp>
      <p:sp>
        <p:nvSpPr>
          <p:cNvPr id="11" name="Rectangle 10">
            <a:extLst>
              <a:ext uri="{FF2B5EF4-FFF2-40B4-BE49-F238E27FC236}">
                <a16:creationId xmlns:a16="http://schemas.microsoft.com/office/drawing/2014/main" id="{3A9506B7-1A57-1322-5AB5-DA8522EE7602}"/>
              </a:ext>
            </a:extLst>
          </p:cNvPr>
          <p:cNvSpPr/>
          <p:nvPr/>
        </p:nvSpPr>
        <p:spPr>
          <a:xfrm>
            <a:off x="838200" y="2297655"/>
            <a:ext cx="9722342" cy="533479"/>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Analyze Case Study </a:t>
            </a:r>
          </a:p>
        </p:txBody>
      </p:sp>
      <p:sp>
        <p:nvSpPr>
          <p:cNvPr id="12" name="TextBox 11">
            <a:extLst>
              <a:ext uri="{FF2B5EF4-FFF2-40B4-BE49-F238E27FC236}">
                <a16:creationId xmlns:a16="http://schemas.microsoft.com/office/drawing/2014/main" id="{A4ECB5F6-F271-06CD-2A6A-E79F5245CD15}"/>
              </a:ext>
            </a:extLst>
          </p:cNvPr>
          <p:cNvSpPr txBox="1"/>
          <p:nvPr/>
        </p:nvSpPr>
        <p:spPr>
          <a:xfrm>
            <a:off x="838200" y="1767653"/>
            <a:ext cx="1603003"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Objective</a:t>
            </a:r>
            <a:endParaRPr kumimoji="0" lang="en-US" sz="56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endParaRPr>
          </a:p>
        </p:txBody>
      </p:sp>
      <p:sp>
        <p:nvSpPr>
          <p:cNvPr id="13" name="TextBox 12">
            <a:extLst>
              <a:ext uri="{FF2B5EF4-FFF2-40B4-BE49-F238E27FC236}">
                <a16:creationId xmlns:a16="http://schemas.microsoft.com/office/drawing/2014/main" id="{EA94F381-2B48-C111-2724-726B0390290F}"/>
              </a:ext>
            </a:extLst>
          </p:cNvPr>
          <p:cNvSpPr txBox="1"/>
          <p:nvPr/>
        </p:nvSpPr>
        <p:spPr>
          <a:xfrm>
            <a:off x="838200" y="2952549"/>
            <a:ext cx="2022990"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Instructions</a:t>
            </a:r>
            <a:endParaRPr kumimoji="0" lang="en-US" sz="56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endParaRPr>
          </a:p>
        </p:txBody>
      </p:sp>
      <p:sp>
        <p:nvSpPr>
          <p:cNvPr id="14" name="Rectangle 13">
            <a:extLst>
              <a:ext uri="{FF2B5EF4-FFF2-40B4-BE49-F238E27FC236}">
                <a16:creationId xmlns:a16="http://schemas.microsoft.com/office/drawing/2014/main" id="{82677B47-98C9-F770-8D4E-7D91CF39F5A7}"/>
              </a:ext>
            </a:extLst>
          </p:cNvPr>
          <p:cNvSpPr/>
          <p:nvPr/>
        </p:nvSpPr>
        <p:spPr>
          <a:xfrm>
            <a:off x="818941" y="3486027"/>
            <a:ext cx="4419809" cy="2318583"/>
          </a:xfrm>
          <a:prstGeom prst="rect">
            <a:avLst/>
          </a:prstGeom>
          <a:solidFill>
            <a:schemeClr val="bg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0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In each team, follow the process outlined on the previous slides to develop and post FACT Cards.</a:t>
            </a:r>
          </a:p>
          <a:p>
            <a:pPr marL="0" marR="0" indent="0" algn="l" defTabSz="584200" rtl="0" fontAlgn="auto" latinLnBrk="0" hangingPunct="0">
              <a:lnSpc>
                <a:spcPct val="100000"/>
              </a:lnSpc>
              <a:spcBef>
                <a:spcPts val="0"/>
              </a:spcBef>
              <a:spcAft>
                <a:spcPts val="0"/>
              </a:spcAft>
              <a:buClrTx/>
              <a:buSzTx/>
              <a:buFontTx/>
              <a:buNone/>
              <a:tabLst/>
            </a:pPr>
            <a:r>
              <a:rPr kumimoji="0" lang="en-US" sz="20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Group like cards together and rewrite any cards that need further clarification.</a:t>
            </a:r>
          </a:p>
          <a:p>
            <a:pPr marL="0" marR="0" indent="0" algn="l" defTabSz="584200" rtl="0" fontAlgn="auto" latinLnBrk="0" hangingPunct="0">
              <a:lnSpc>
                <a:spcPct val="100000"/>
              </a:lnSpc>
              <a:spcBef>
                <a:spcPts val="0"/>
              </a:spcBef>
              <a:spcAft>
                <a:spcPts val="0"/>
              </a:spcAft>
              <a:buClrTx/>
              <a:buSzTx/>
              <a:buFontTx/>
              <a:buNone/>
              <a:tabLst/>
            </a:pPr>
            <a:r>
              <a:rPr kumimoji="0" lang="en-US" sz="20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Number the FACT Cards.</a:t>
            </a:r>
          </a:p>
        </p:txBody>
      </p:sp>
      <p:sp>
        <p:nvSpPr>
          <p:cNvPr id="15" name="TextBox 14">
            <a:extLst>
              <a:ext uri="{FF2B5EF4-FFF2-40B4-BE49-F238E27FC236}">
                <a16:creationId xmlns:a16="http://schemas.microsoft.com/office/drawing/2014/main" id="{90914B3B-0CE2-FDFF-2FB9-215236316256}"/>
              </a:ext>
            </a:extLst>
          </p:cNvPr>
          <p:cNvSpPr txBox="1"/>
          <p:nvPr/>
        </p:nvSpPr>
        <p:spPr>
          <a:xfrm>
            <a:off x="5879250" y="2952548"/>
            <a:ext cx="2968761"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Time to Complete</a:t>
            </a:r>
          </a:p>
        </p:txBody>
      </p:sp>
      <p:sp>
        <p:nvSpPr>
          <p:cNvPr id="16" name="TextBox 15">
            <a:extLst>
              <a:ext uri="{FF2B5EF4-FFF2-40B4-BE49-F238E27FC236}">
                <a16:creationId xmlns:a16="http://schemas.microsoft.com/office/drawing/2014/main" id="{6285230A-07BD-F376-25CA-177CC1D4233F}"/>
              </a:ext>
            </a:extLst>
          </p:cNvPr>
          <p:cNvSpPr txBox="1"/>
          <p:nvPr/>
        </p:nvSpPr>
        <p:spPr>
          <a:xfrm>
            <a:off x="5879250" y="4136472"/>
            <a:ext cx="1888337"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Deliverable</a:t>
            </a:r>
          </a:p>
        </p:txBody>
      </p:sp>
      <p:sp>
        <p:nvSpPr>
          <p:cNvPr id="17" name="Rectangle 16">
            <a:extLst>
              <a:ext uri="{FF2B5EF4-FFF2-40B4-BE49-F238E27FC236}">
                <a16:creationId xmlns:a16="http://schemas.microsoft.com/office/drawing/2014/main" id="{67530399-8FDB-50CD-E8FD-8E286DE1A2EA}"/>
              </a:ext>
            </a:extLst>
          </p:cNvPr>
          <p:cNvSpPr/>
          <p:nvPr/>
        </p:nvSpPr>
        <p:spPr>
          <a:xfrm>
            <a:off x="5879250" y="3496996"/>
            <a:ext cx="4681292" cy="471924"/>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584200" hangingPunct="0"/>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15 minutes</a:t>
            </a:r>
          </a:p>
        </p:txBody>
      </p:sp>
      <p:sp>
        <p:nvSpPr>
          <p:cNvPr id="18" name="Rectangle 17">
            <a:extLst>
              <a:ext uri="{FF2B5EF4-FFF2-40B4-BE49-F238E27FC236}">
                <a16:creationId xmlns:a16="http://schemas.microsoft.com/office/drawing/2014/main" id="{84DF6BD6-975A-3700-5E69-322EFF4F722E}"/>
              </a:ext>
            </a:extLst>
          </p:cNvPr>
          <p:cNvSpPr/>
          <p:nvPr/>
        </p:nvSpPr>
        <p:spPr>
          <a:xfrm>
            <a:off x="5879250" y="4634782"/>
            <a:ext cx="4681292" cy="841256"/>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584200" hangingPunct="0"/>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FACT Cards complete, posted on diagram and numbered.</a:t>
            </a:r>
          </a:p>
        </p:txBody>
      </p:sp>
      <p:grpSp>
        <p:nvGrpSpPr>
          <p:cNvPr id="21" name="Group 20">
            <a:extLst>
              <a:ext uri="{FF2B5EF4-FFF2-40B4-BE49-F238E27FC236}">
                <a16:creationId xmlns:a16="http://schemas.microsoft.com/office/drawing/2014/main" id="{21418930-7731-EC21-4C08-225821D44469}"/>
              </a:ext>
            </a:extLst>
          </p:cNvPr>
          <p:cNvGrpSpPr/>
          <p:nvPr/>
        </p:nvGrpSpPr>
        <p:grpSpPr>
          <a:xfrm>
            <a:off x="838200" y="297639"/>
            <a:ext cx="4110990" cy="307138"/>
            <a:chOff x="838200" y="297639"/>
            <a:chExt cx="4110990" cy="307138"/>
          </a:xfrm>
        </p:grpSpPr>
        <p:grpSp>
          <p:nvGrpSpPr>
            <p:cNvPr id="22" name="Group 21">
              <a:extLst>
                <a:ext uri="{FF2B5EF4-FFF2-40B4-BE49-F238E27FC236}">
                  <a16:creationId xmlns:a16="http://schemas.microsoft.com/office/drawing/2014/main" id="{54964831-44E3-8C35-E4D7-29E6B077C666}"/>
                </a:ext>
              </a:extLst>
            </p:cNvPr>
            <p:cNvGrpSpPr/>
            <p:nvPr/>
          </p:nvGrpSpPr>
          <p:grpSpPr>
            <a:xfrm>
              <a:off x="838200" y="297639"/>
              <a:ext cx="1687517" cy="290657"/>
              <a:chOff x="838200" y="297639"/>
              <a:chExt cx="1687517" cy="290657"/>
            </a:xfrm>
          </p:grpSpPr>
          <p:sp>
            <p:nvSpPr>
              <p:cNvPr id="24" name="AutoShape 9">
                <a:extLst>
                  <a:ext uri="{FF2B5EF4-FFF2-40B4-BE49-F238E27FC236}">
                    <a16:creationId xmlns:a16="http://schemas.microsoft.com/office/drawing/2014/main" id="{237AC893-48C2-7311-2791-D44EB0B439F9}"/>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25" name="AutoShape 9">
                <a:extLst>
                  <a:ext uri="{FF2B5EF4-FFF2-40B4-BE49-F238E27FC236}">
                    <a16:creationId xmlns:a16="http://schemas.microsoft.com/office/drawing/2014/main" id="{2E3BFACF-0665-FF6F-6111-3123EB413DAC}"/>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26" name="Group 25">
                <a:extLst>
                  <a:ext uri="{FF2B5EF4-FFF2-40B4-BE49-F238E27FC236}">
                    <a16:creationId xmlns:a16="http://schemas.microsoft.com/office/drawing/2014/main" id="{0FA05D09-D9AD-73F1-A2DD-3DABA8AECBDD}"/>
                  </a:ext>
                </a:extLst>
              </p:cNvPr>
              <p:cNvGrpSpPr/>
              <p:nvPr/>
            </p:nvGrpSpPr>
            <p:grpSpPr>
              <a:xfrm>
                <a:off x="838200" y="297639"/>
                <a:ext cx="1060167" cy="290657"/>
                <a:chOff x="826426" y="4041857"/>
                <a:chExt cx="1060167" cy="290657"/>
              </a:xfrm>
            </p:grpSpPr>
            <p:sp>
              <p:nvSpPr>
                <p:cNvPr id="27" name="AutoShape 9">
                  <a:extLst>
                    <a:ext uri="{FF2B5EF4-FFF2-40B4-BE49-F238E27FC236}">
                      <a16:creationId xmlns:a16="http://schemas.microsoft.com/office/drawing/2014/main" id="{30903A04-D619-2AA2-9D03-BEC6F2DC9FD0}"/>
                    </a:ext>
                  </a:extLst>
                </p:cNvPr>
                <p:cNvSpPr>
                  <a:spLocks noChangeArrowheads="1"/>
                </p:cNvSpPr>
                <p:nvPr/>
              </p:nvSpPr>
              <p:spPr bwMode="auto">
                <a:xfrm>
                  <a:off x="145377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8" name="AutoShape 11">
                  <a:extLst>
                    <a:ext uri="{FF2B5EF4-FFF2-40B4-BE49-F238E27FC236}">
                      <a16:creationId xmlns:a16="http://schemas.microsoft.com/office/drawing/2014/main" id="{8991BFF2-86A2-017E-2770-79C52E804970}"/>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9" name="AutoShape 10">
                  <a:extLst>
                    <a:ext uri="{FF2B5EF4-FFF2-40B4-BE49-F238E27FC236}">
                      <a16:creationId xmlns:a16="http://schemas.microsoft.com/office/drawing/2014/main" id="{D0BCB2D8-D517-5039-69D0-87409DA395CD}"/>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23" name="TextBox 22">
              <a:extLst>
                <a:ext uri="{FF2B5EF4-FFF2-40B4-BE49-F238E27FC236}">
                  <a16:creationId xmlns:a16="http://schemas.microsoft.com/office/drawing/2014/main" id="{451B426E-62E2-AA02-0BC3-B960E50A13C2}"/>
                </a:ext>
              </a:extLst>
            </p:cNvPr>
            <p:cNvSpPr txBox="1"/>
            <p:nvPr/>
          </p:nvSpPr>
          <p:spPr>
            <a:xfrm>
              <a:off x="2525717" y="313415"/>
              <a:ext cx="242347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CEDAC Problem Cause</a:t>
              </a:r>
            </a:p>
          </p:txBody>
        </p:sp>
      </p:grpSp>
    </p:spTree>
    <p:extLst>
      <p:ext uri="{BB962C8B-B14F-4D97-AF65-F5344CB8AC3E}">
        <p14:creationId xmlns:p14="http://schemas.microsoft.com/office/powerpoint/2010/main" val="966166046"/>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8D9ED7-5CF9-6F4B-B4A8-2DBF8D852A20}"/>
              </a:ext>
            </a:extLst>
          </p:cNvPr>
          <p:cNvSpPr>
            <a:spLocks noGrp="1"/>
          </p:cNvSpPr>
          <p:nvPr>
            <p:ph type="title"/>
          </p:nvPr>
        </p:nvSpPr>
        <p:spPr/>
        <p:txBody>
          <a:bodyPr>
            <a:noAutofit/>
          </a:bodyPr>
          <a:lstStyle/>
          <a:p>
            <a:r>
              <a:rPr lang="en-US" sz="2800" dirty="0">
                <a:latin typeface="Roboto Medium"/>
                <a:ea typeface="Roboto Medium"/>
                <a:cs typeface="Roboto Medium"/>
              </a:rPr>
              <a:t>CEDAC Step 5 Exercise: Develop FACT Cards</a:t>
            </a:r>
          </a:p>
        </p:txBody>
      </p:sp>
      <p:sp>
        <p:nvSpPr>
          <p:cNvPr id="5" name="Slide Number Placeholder 4">
            <a:extLst>
              <a:ext uri="{FF2B5EF4-FFF2-40B4-BE49-F238E27FC236}">
                <a16:creationId xmlns:a16="http://schemas.microsoft.com/office/drawing/2014/main" id="{EFB3C390-D307-7FFC-DADE-918C5180FE01}"/>
              </a:ext>
            </a:extLst>
          </p:cNvPr>
          <p:cNvSpPr>
            <a:spLocks noGrp="1"/>
          </p:cNvSpPr>
          <p:nvPr>
            <p:ph type="sldNum" sz="quarter" idx="4294967295"/>
          </p:nvPr>
        </p:nvSpPr>
        <p:spPr>
          <a:xfrm>
            <a:off x="8595078" y="6333148"/>
            <a:ext cx="2743200" cy="365125"/>
          </a:xfrm>
          <a:prstGeom prst="rect">
            <a:avLst/>
          </a:prstGeom>
        </p:spPr>
        <p:txBody>
          <a:bodyPr/>
          <a:lstStyle/>
          <a:p>
            <a:fld id="{CC6D4273-7FC1-0947-B9FE-19CB3C0D1FB6}" type="slidenum">
              <a:rPr lang="en-US" smtClean="0"/>
              <a:t>67</a:t>
            </a:fld>
            <a:endParaRPr lang="en-US"/>
          </a:p>
        </p:txBody>
      </p:sp>
      <p:sp>
        <p:nvSpPr>
          <p:cNvPr id="11" name="Rectangle 10">
            <a:extLst>
              <a:ext uri="{FF2B5EF4-FFF2-40B4-BE49-F238E27FC236}">
                <a16:creationId xmlns:a16="http://schemas.microsoft.com/office/drawing/2014/main" id="{3A9506B7-1A57-1322-5AB5-DA8522EE7602}"/>
              </a:ext>
            </a:extLst>
          </p:cNvPr>
          <p:cNvSpPr/>
          <p:nvPr/>
        </p:nvSpPr>
        <p:spPr>
          <a:xfrm>
            <a:off x="838200" y="2328432"/>
            <a:ext cx="9722342" cy="471924"/>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4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Develop FACT Cards that support the problem statement of this event.</a:t>
            </a:r>
          </a:p>
        </p:txBody>
      </p:sp>
      <p:sp>
        <p:nvSpPr>
          <p:cNvPr id="12" name="TextBox 11">
            <a:extLst>
              <a:ext uri="{FF2B5EF4-FFF2-40B4-BE49-F238E27FC236}">
                <a16:creationId xmlns:a16="http://schemas.microsoft.com/office/drawing/2014/main" id="{A4ECB5F6-F271-06CD-2A6A-E79F5245CD15}"/>
              </a:ext>
            </a:extLst>
          </p:cNvPr>
          <p:cNvSpPr txBox="1"/>
          <p:nvPr/>
        </p:nvSpPr>
        <p:spPr>
          <a:xfrm>
            <a:off x="838200" y="1767653"/>
            <a:ext cx="1603003"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Objective</a:t>
            </a:r>
            <a:endParaRPr kumimoji="0" lang="en-US" sz="56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endParaRPr>
          </a:p>
        </p:txBody>
      </p:sp>
      <p:sp>
        <p:nvSpPr>
          <p:cNvPr id="13" name="TextBox 12">
            <a:extLst>
              <a:ext uri="{FF2B5EF4-FFF2-40B4-BE49-F238E27FC236}">
                <a16:creationId xmlns:a16="http://schemas.microsoft.com/office/drawing/2014/main" id="{EA94F381-2B48-C111-2724-726B0390290F}"/>
              </a:ext>
            </a:extLst>
          </p:cNvPr>
          <p:cNvSpPr txBox="1"/>
          <p:nvPr/>
        </p:nvSpPr>
        <p:spPr>
          <a:xfrm>
            <a:off x="838200" y="2952549"/>
            <a:ext cx="2022990"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Instructions</a:t>
            </a:r>
            <a:endParaRPr kumimoji="0" lang="en-US" sz="56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endParaRPr>
          </a:p>
        </p:txBody>
      </p:sp>
      <p:sp>
        <p:nvSpPr>
          <p:cNvPr id="14" name="Rectangle 13">
            <a:extLst>
              <a:ext uri="{FF2B5EF4-FFF2-40B4-BE49-F238E27FC236}">
                <a16:creationId xmlns:a16="http://schemas.microsoft.com/office/drawing/2014/main" id="{82677B47-98C9-F770-8D4E-7D91CF39F5A7}"/>
              </a:ext>
            </a:extLst>
          </p:cNvPr>
          <p:cNvSpPr/>
          <p:nvPr/>
        </p:nvSpPr>
        <p:spPr>
          <a:xfrm>
            <a:off x="818941" y="3486027"/>
            <a:ext cx="4419809" cy="2318583"/>
          </a:xfrm>
          <a:prstGeom prst="rect">
            <a:avLst/>
          </a:prstGeom>
          <a:solidFill>
            <a:schemeClr val="bg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155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As a team, follow the process outlined on the previous slides to develop and post FACT Cards.</a:t>
            </a:r>
          </a:p>
          <a:p>
            <a:pPr marL="0" marR="0" indent="0" algn="l" defTabSz="584200" rtl="0" fontAlgn="auto" latinLnBrk="0" hangingPunct="0">
              <a:lnSpc>
                <a:spcPct val="100000"/>
              </a:lnSpc>
              <a:spcBef>
                <a:spcPts val="0"/>
              </a:spcBef>
              <a:spcAft>
                <a:spcPts val="0"/>
              </a:spcAft>
              <a:buClrTx/>
              <a:buSzTx/>
              <a:buFontTx/>
              <a:buNone/>
              <a:tabLst/>
            </a:pPr>
            <a:r>
              <a:rPr kumimoji="0" lang="en-US" sz="155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Conduct a team review of the FACT Cards for clarification and understanding.  </a:t>
            </a:r>
          </a:p>
          <a:p>
            <a:pPr marL="0" marR="0" indent="0" algn="l" defTabSz="584200" rtl="0" fontAlgn="auto" latinLnBrk="0" hangingPunct="0">
              <a:lnSpc>
                <a:spcPct val="100000"/>
              </a:lnSpc>
              <a:spcBef>
                <a:spcPts val="0"/>
              </a:spcBef>
              <a:spcAft>
                <a:spcPts val="0"/>
              </a:spcAft>
              <a:buClrTx/>
              <a:buSzTx/>
              <a:buFontTx/>
              <a:buNone/>
              <a:tabLst/>
            </a:pPr>
            <a:r>
              <a:rPr kumimoji="0" lang="en-US" sz="155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Group like cards together and rewrite any cards that need further clarification.</a:t>
            </a:r>
          </a:p>
          <a:p>
            <a:pPr marL="0" marR="0" indent="0" algn="l" defTabSz="584200" rtl="0" fontAlgn="auto" latinLnBrk="0" hangingPunct="0">
              <a:lnSpc>
                <a:spcPct val="100000"/>
              </a:lnSpc>
              <a:spcBef>
                <a:spcPts val="0"/>
              </a:spcBef>
              <a:spcAft>
                <a:spcPts val="0"/>
              </a:spcAft>
              <a:buClrTx/>
              <a:buSzTx/>
              <a:buFontTx/>
              <a:buNone/>
              <a:tabLst/>
            </a:pPr>
            <a:r>
              <a:rPr kumimoji="0" lang="en-US" sz="155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Number the FACT Cards.</a:t>
            </a:r>
          </a:p>
          <a:p>
            <a:pPr marL="0" marR="0" indent="0" algn="l" defTabSz="584200" rtl="0" fontAlgn="auto" latinLnBrk="0" hangingPunct="0">
              <a:lnSpc>
                <a:spcPct val="100000"/>
              </a:lnSpc>
              <a:spcBef>
                <a:spcPts val="0"/>
              </a:spcBef>
              <a:spcAft>
                <a:spcPts val="0"/>
              </a:spcAft>
              <a:buClrTx/>
              <a:buSzTx/>
              <a:buFontTx/>
              <a:buNone/>
              <a:tabLst/>
            </a:pPr>
            <a:r>
              <a:rPr kumimoji="0" lang="en-US" sz="1550" b="0" i="1"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It is recommended that one team member captures the format electronically. </a:t>
            </a:r>
          </a:p>
        </p:txBody>
      </p:sp>
      <p:sp>
        <p:nvSpPr>
          <p:cNvPr id="15" name="TextBox 14">
            <a:extLst>
              <a:ext uri="{FF2B5EF4-FFF2-40B4-BE49-F238E27FC236}">
                <a16:creationId xmlns:a16="http://schemas.microsoft.com/office/drawing/2014/main" id="{90914B3B-0CE2-FDFF-2FB9-215236316256}"/>
              </a:ext>
            </a:extLst>
          </p:cNvPr>
          <p:cNvSpPr txBox="1"/>
          <p:nvPr/>
        </p:nvSpPr>
        <p:spPr>
          <a:xfrm>
            <a:off x="5879250" y="2952548"/>
            <a:ext cx="2968761"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Time to Complete</a:t>
            </a:r>
          </a:p>
        </p:txBody>
      </p:sp>
      <p:sp>
        <p:nvSpPr>
          <p:cNvPr id="16" name="TextBox 15">
            <a:extLst>
              <a:ext uri="{FF2B5EF4-FFF2-40B4-BE49-F238E27FC236}">
                <a16:creationId xmlns:a16="http://schemas.microsoft.com/office/drawing/2014/main" id="{6285230A-07BD-F376-25CA-177CC1D4233F}"/>
              </a:ext>
            </a:extLst>
          </p:cNvPr>
          <p:cNvSpPr txBox="1"/>
          <p:nvPr/>
        </p:nvSpPr>
        <p:spPr>
          <a:xfrm>
            <a:off x="5879250" y="4136472"/>
            <a:ext cx="1888337"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Deliverable</a:t>
            </a:r>
          </a:p>
        </p:txBody>
      </p:sp>
      <p:sp>
        <p:nvSpPr>
          <p:cNvPr id="17" name="Rectangle 16">
            <a:extLst>
              <a:ext uri="{FF2B5EF4-FFF2-40B4-BE49-F238E27FC236}">
                <a16:creationId xmlns:a16="http://schemas.microsoft.com/office/drawing/2014/main" id="{67530399-8FDB-50CD-E8FD-8E286DE1A2EA}"/>
              </a:ext>
            </a:extLst>
          </p:cNvPr>
          <p:cNvSpPr/>
          <p:nvPr/>
        </p:nvSpPr>
        <p:spPr>
          <a:xfrm>
            <a:off x="5879250" y="3496996"/>
            <a:ext cx="4681292" cy="471924"/>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584200" hangingPunct="0"/>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Determined by facilitator</a:t>
            </a:r>
          </a:p>
        </p:txBody>
      </p:sp>
      <p:sp>
        <p:nvSpPr>
          <p:cNvPr id="18" name="Rectangle 17">
            <a:extLst>
              <a:ext uri="{FF2B5EF4-FFF2-40B4-BE49-F238E27FC236}">
                <a16:creationId xmlns:a16="http://schemas.microsoft.com/office/drawing/2014/main" id="{84DF6BD6-975A-3700-5E69-322EFF4F722E}"/>
              </a:ext>
            </a:extLst>
          </p:cNvPr>
          <p:cNvSpPr/>
          <p:nvPr/>
        </p:nvSpPr>
        <p:spPr>
          <a:xfrm>
            <a:off x="5879250" y="4634782"/>
            <a:ext cx="4681292" cy="841256"/>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584200" hangingPunct="0"/>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FACT Cards complete, reviewed, and numbered.</a:t>
            </a:r>
          </a:p>
        </p:txBody>
      </p:sp>
      <p:grpSp>
        <p:nvGrpSpPr>
          <p:cNvPr id="21" name="Group 20">
            <a:extLst>
              <a:ext uri="{FF2B5EF4-FFF2-40B4-BE49-F238E27FC236}">
                <a16:creationId xmlns:a16="http://schemas.microsoft.com/office/drawing/2014/main" id="{21418930-7731-EC21-4C08-225821D44469}"/>
              </a:ext>
            </a:extLst>
          </p:cNvPr>
          <p:cNvGrpSpPr/>
          <p:nvPr/>
        </p:nvGrpSpPr>
        <p:grpSpPr>
          <a:xfrm>
            <a:off x="838200" y="297639"/>
            <a:ext cx="4110990" cy="307138"/>
            <a:chOff x="838200" y="297639"/>
            <a:chExt cx="4110990" cy="307138"/>
          </a:xfrm>
        </p:grpSpPr>
        <p:grpSp>
          <p:nvGrpSpPr>
            <p:cNvPr id="22" name="Group 21">
              <a:extLst>
                <a:ext uri="{FF2B5EF4-FFF2-40B4-BE49-F238E27FC236}">
                  <a16:creationId xmlns:a16="http://schemas.microsoft.com/office/drawing/2014/main" id="{54964831-44E3-8C35-E4D7-29E6B077C666}"/>
                </a:ext>
              </a:extLst>
            </p:cNvPr>
            <p:cNvGrpSpPr/>
            <p:nvPr/>
          </p:nvGrpSpPr>
          <p:grpSpPr>
            <a:xfrm>
              <a:off x="838200" y="297639"/>
              <a:ext cx="1687517" cy="290657"/>
              <a:chOff x="838200" y="297639"/>
              <a:chExt cx="1687517" cy="290657"/>
            </a:xfrm>
          </p:grpSpPr>
          <p:sp>
            <p:nvSpPr>
              <p:cNvPr id="24" name="AutoShape 9">
                <a:extLst>
                  <a:ext uri="{FF2B5EF4-FFF2-40B4-BE49-F238E27FC236}">
                    <a16:creationId xmlns:a16="http://schemas.microsoft.com/office/drawing/2014/main" id="{237AC893-48C2-7311-2791-D44EB0B439F9}"/>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25" name="AutoShape 9">
                <a:extLst>
                  <a:ext uri="{FF2B5EF4-FFF2-40B4-BE49-F238E27FC236}">
                    <a16:creationId xmlns:a16="http://schemas.microsoft.com/office/drawing/2014/main" id="{2E3BFACF-0665-FF6F-6111-3123EB413DAC}"/>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26" name="Group 25">
                <a:extLst>
                  <a:ext uri="{FF2B5EF4-FFF2-40B4-BE49-F238E27FC236}">
                    <a16:creationId xmlns:a16="http://schemas.microsoft.com/office/drawing/2014/main" id="{0FA05D09-D9AD-73F1-A2DD-3DABA8AECBDD}"/>
                  </a:ext>
                </a:extLst>
              </p:cNvPr>
              <p:cNvGrpSpPr/>
              <p:nvPr/>
            </p:nvGrpSpPr>
            <p:grpSpPr>
              <a:xfrm>
                <a:off x="838200" y="297639"/>
                <a:ext cx="1060167" cy="290657"/>
                <a:chOff x="826426" y="4041857"/>
                <a:chExt cx="1060167" cy="290657"/>
              </a:xfrm>
            </p:grpSpPr>
            <p:sp>
              <p:nvSpPr>
                <p:cNvPr id="27" name="AutoShape 9">
                  <a:extLst>
                    <a:ext uri="{FF2B5EF4-FFF2-40B4-BE49-F238E27FC236}">
                      <a16:creationId xmlns:a16="http://schemas.microsoft.com/office/drawing/2014/main" id="{30903A04-D619-2AA2-9D03-BEC6F2DC9FD0}"/>
                    </a:ext>
                  </a:extLst>
                </p:cNvPr>
                <p:cNvSpPr>
                  <a:spLocks noChangeArrowheads="1"/>
                </p:cNvSpPr>
                <p:nvPr/>
              </p:nvSpPr>
              <p:spPr bwMode="auto">
                <a:xfrm>
                  <a:off x="145377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8" name="AutoShape 11">
                  <a:extLst>
                    <a:ext uri="{FF2B5EF4-FFF2-40B4-BE49-F238E27FC236}">
                      <a16:creationId xmlns:a16="http://schemas.microsoft.com/office/drawing/2014/main" id="{8991BFF2-86A2-017E-2770-79C52E804970}"/>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9" name="AutoShape 10">
                  <a:extLst>
                    <a:ext uri="{FF2B5EF4-FFF2-40B4-BE49-F238E27FC236}">
                      <a16:creationId xmlns:a16="http://schemas.microsoft.com/office/drawing/2014/main" id="{D0BCB2D8-D517-5039-69D0-87409DA395CD}"/>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23" name="TextBox 22">
              <a:extLst>
                <a:ext uri="{FF2B5EF4-FFF2-40B4-BE49-F238E27FC236}">
                  <a16:creationId xmlns:a16="http://schemas.microsoft.com/office/drawing/2014/main" id="{451B426E-62E2-AA02-0BC3-B960E50A13C2}"/>
                </a:ext>
              </a:extLst>
            </p:cNvPr>
            <p:cNvSpPr txBox="1"/>
            <p:nvPr/>
          </p:nvSpPr>
          <p:spPr>
            <a:xfrm>
              <a:off x="2525717" y="313415"/>
              <a:ext cx="242347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CEDAC Problem Cause</a:t>
              </a:r>
            </a:p>
          </p:txBody>
        </p:sp>
      </p:grpSp>
    </p:spTree>
    <p:extLst>
      <p:ext uri="{BB962C8B-B14F-4D97-AF65-F5344CB8AC3E}">
        <p14:creationId xmlns:p14="http://schemas.microsoft.com/office/powerpoint/2010/main" val="3662036948"/>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2DF11FF7-095F-D1A9-6784-C53D538A36FF}"/>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68</a:t>
            </a:fld>
            <a:endParaRPr lang="en-US"/>
          </a:p>
        </p:txBody>
      </p:sp>
      <p:sp>
        <p:nvSpPr>
          <p:cNvPr id="2" name="Title 1">
            <a:extLst>
              <a:ext uri="{FF2B5EF4-FFF2-40B4-BE49-F238E27FC236}">
                <a16:creationId xmlns:a16="http://schemas.microsoft.com/office/drawing/2014/main" id="{0D77BA17-B180-9889-85DC-DBE8C080CFB7}"/>
              </a:ext>
            </a:extLst>
          </p:cNvPr>
          <p:cNvSpPr>
            <a:spLocks noGrp="1"/>
          </p:cNvSpPr>
          <p:nvPr>
            <p:ph type="title" idx="4294967295"/>
          </p:nvPr>
        </p:nvSpPr>
        <p:spPr>
          <a:xfrm>
            <a:off x="699911" y="1497012"/>
            <a:ext cx="9815689" cy="1009650"/>
          </a:xfrm>
          <a:prstGeom prst="rect">
            <a:avLst/>
          </a:prstGeom>
        </p:spPr>
        <p:txBody>
          <a:bodyPr>
            <a:noAutofit/>
          </a:bodyPr>
          <a:lstStyle/>
          <a:p>
            <a:r>
              <a:rPr lang="en-US" sz="3200" dirty="0">
                <a:latin typeface="Roboto Medium"/>
                <a:ea typeface="Roboto Medium"/>
                <a:cs typeface="Roboto Medium"/>
              </a:rPr>
              <a:t>CEDAC Step 6 - Develop IMPROVEMENT Cards</a:t>
            </a:r>
          </a:p>
        </p:txBody>
      </p:sp>
      <p:sp>
        <p:nvSpPr>
          <p:cNvPr id="3" name="Content Placeholder 2">
            <a:extLst>
              <a:ext uri="{FF2B5EF4-FFF2-40B4-BE49-F238E27FC236}">
                <a16:creationId xmlns:a16="http://schemas.microsoft.com/office/drawing/2014/main" id="{30534846-F3D4-20E7-25C0-91FCF7736CB5}"/>
              </a:ext>
            </a:extLst>
          </p:cNvPr>
          <p:cNvSpPr>
            <a:spLocks noGrp="1"/>
          </p:cNvSpPr>
          <p:nvPr>
            <p:ph idx="4294967295"/>
          </p:nvPr>
        </p:nvSpPr>
        <p:spPr>
          <a:xfrm>
            <a:off x="722489" y="2506662"/>
            <a:ext cx="10515600" cy="4351338"/>
          </a:xfrm>
        </p:spPr>
        <p:txBody>
          <a:bodyPr/>
          <a:lstStyle/>
          <a:p>
            <a:pPr marL="0" indent="0">
              <a:buNone/>
            </a:pPr>
            <a:r>
              <a:rPr lang="en-US" dirty="0">
                <a:latin typeface="Roboto Medium" panose="02000000000000000000" pitchFamily="2" charset="0"/>
                <a:ea typeface="Roboto Medium" panose="02000000000000000000" pitchFamily="2" charset="0"/>
                <a:cs typeface="Roboto Medium" panose="02000000000000000000" pitchFamily="2" charset="0"/>
              </a:rPr>
              <a:t>Objectives:</a:t>
            </a:r>
          </a:p>
          <a:p>
            <a:r>
              <a:rPr lang="en-US" sz="2400" dirty="0"/>
              <a:t>Define IMPROVEMENT Cards and how they are used</a:t>
            </a:r>
          </a:p>
          <a:p>
            <a:r>
              <a:rPr lang="en-US" sz="2400" dirty="0"/>
              <a:t>Describe the format details for IMPROVEMENT Cards</a:t>
            </a:r>
          </a:p>
          <a:p>
            <a:r>
              <a:rPr lang="en-US" sz="2400" dirty="0"/>
              <a:t>Describe process for developing and posting the IMPROVEMENT Cards</a:t>
            </a:r>
          </a:p>
          <a:p>
            <a:r>
              <a:rPr lang="en-US" sz="2400" dirty="0"/>
              <a:t>Define how to incorporate existing improvement actions into the CEDAC method and capture current actions and initiatives</a:t>
            </a:r>
          </a:p>
          <a:p>
            <a:r>
              <a:rPr lang="en-US" sz="2400" dirty="0"/>
              <a:t>Complete development of IMPROVEMENT Cards for business problem</a:t>
            </a:r>
          </a:p>
          <a:p>
            <a:r>
              <a:rPr lang="en-US" sz="2400" dirty="0"/>
              <a:t>Conduct team review of IMPROVEMENT Cards</a:t>
            </a:r>
          </a:p>
        </p:txBody>
      </p:sp>
      <p:grpSp>
        <p:nvGrpSpPr>
          <p:cNvPr id="11" name="Group 10">
            <a:extLst>
              <a:ext uri="{FF2B5EF4-FFF2-40B4-BE49-F238E27FC236}">
                <a16:creationId xmlns:a16="http://schemas.microsoft.com/office/drawing/2014/main" id="{DCC7CB02-4F0E-2CE8-9EF1-D9AEB4FA2691}"/>
              </a:ext>
            </a:extLst>
          </p:cNvPr>
          <p:cNvGrpSpPr/>
          <p:nvPr/>
        </p:nvGrpSpPr>
        <p:grpSpPr>
          <a:xfrm>
            <a:off x="699911" y="837133"/>
            <a:ext cx="7273624" cy="659879"/>
            <a:chOff x="699911" y="1069861"/>
            <a:chExt cx="7273624" cy="350130"/>
          </a:xfrm>
        </p:grpSpPr>
        <p:sp>
          <p:nvSpPr>
            <p:cNvPr id="5" name="AutoShape 9">
              <a:extLst>
                <a:ext uri="{FF2B5EF4-FFF2-40B4-BE49-F238E27FC236}">
                  <a16:creationId xmlns:a16="http://schemas.microsoft.com/office/drawing/2014/main" id="{A10A2475-FBAF-2DA7-EE48-9E0556DB3824}"/>
                </a:ext>
              </a:extLst>
            </p:cNvPr>
            <p:cNvSpPr>
              <a:spLocks noChangeArrowheads="1"/>
            </p:cNvSpPr>
            <p:nvPr/>
          </p:nvSpPr>
          <p:spPr bwMode="auto">
            <a:xfrm>
              <a:off x="6395259" y="1069861"/>
              <a:ext cx="1578276" cy="350130"/>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200" dirty="0">
                  <a:solidFill>
                    <a:schemeClr val="bg1"/>
                  </a:solidFill>
                  <a:latin typeface="Roboto" panose="02000000000000000000" pitchFamily="2" charset="0"/>
                  <a:ea typeface="Roboto" panose="02000000000000000000" pitchFamily="2" charset="0"/>
                  <a:cs typeface="Roboto" panose="02000000000000000000" pitchFamily="2" charset="0"/>
                </a:rPr>
                <a:t>CEDAC Review</a:t>
              </a:r>
            </a:p>
          </p:txBody>
        </p:sp>
        <p:sp>
          <p:nvSpPr>
            <p:cNvPr id="4" name="AutoShape 9">
              <a:extLst>
                <a:ext uri="{FF2B5EF4-FFF2-40B4-BE49-F238E27FC236}">
                  <a16:creationId xmlns:a16="http://schemas.microsoft.com/office/drawing/2014/main" id="{663C2CC0-8818-6B25-BBA3-89708896610A}"/>
                </a:ext>
              </a:extLst>
            </p:cNvPr>
            <p:cNvSpPr>
              <a:spLocks noChangeArrowheads="1"/>
            </p:cNvSpPr>
            <p:nvPr/>
          </p:nvSpPr>
          <p:spPr bwMode="auto">
            <a:xfrm>
              <a:off x="4971710" y="1069861"/>
              <a:ext cx="1578276" cy="350130"/>
            </a:xfrm>
            <a:prstGeom prst="homePlate">
              <a:avLst>
                <a:gd name="adj" fmla="val 29912"/>
              </a:avLst>
            </a:prstGeom>
            <a:solidFill>
              <a:srgbClr val="FFB627"/>
            </a:solidFill>
            <a:ln w="12700" cap="sq">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r>
                <a:rPr lang="en-US" altLang="en-US" sz="1200" dirty="0">
                  <a:latin typeface="Roboto" panose="02000000000000000000" pitchFamily="2" charset="0"/>
                  <a:ea typeface="Roboto" panose="02000000000000000000" pitchFamily="2" charset="0"/>
                </a:rPr>
                <a:t>CEDAC Solution</a:t>
              </a:r>
            </a:p>
          </p:txBody>
        </p:sp>
        <p:grpSp>
          <p:nvGrpSpPr>
            <p:cNvPr id="10" name="Group 9">
              <a:extLst>
                <a:ext uri="{FF2B5EF4-FFF2-40B4-BE49-F238E27FC236}">
                  <a16:creationId xmlns:a16="http://schemas.microsoft.com/office/drawing/2014/main" id="{DF07BA82-F1D2-01EE-36D7-0CE1E1021337}"/>
                </a:ext>
              </a:extLst>
            </p:cNvPr>
            <p:cNvGrpSpPr/>
            <p:nvPr/>
          </p:nvGrpSpPr>
          <p:grpSpPr>
            <a:xfrm>
              <a:off x="699911" y="1069861"/>
              <a:ext cx="4425950" cy="350130"/>
              <a:chOff x="5627530" y="641179"/>
              <a:chExt cx="6564470" cy="804977"/>
            </a:xfrm>
          </p:grpSpPr>
          <p:sp>
            <p:nvSpPr>
              <p:cNvPr id="7" name="AutoShape 9">
                <a:extLst>
                  <a:ext uri="{FF2B5EF4-FFF2-40B4-BE49-F238E27FC236}">
                    <a16:creationId xmlns:a16="http://schemas.microsoft.com/office/drawing/2014/main" id="{E658DE7F-EAE7-7BD9-8492-805CBFCFF7F5}"/>
                  </a:ext>
                </a:extLst>
              </p:cNvPr>
              <p:cNvSpPr>
                <a:spLocks noChangeArrowheads="1"/>
              </p:cNvSpPr>
              <p:nvPr/>
            </p:nvSpPr>
            <p:spPr bwMode="auto">
              <a:xfrm>
                <a:off x="9851136" y="641179"/>
                <a:ext cx="2340864" cy="804977"/>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r>
                  <a:rPr lang="en-US" altLang="en-US" sz="1200" dirty="0">
                    <a:solidFill>
                      <a:schemeClr val="bg1"/>
                    </a:solidFill>
                    <a:latin typeface="Roboto" panose="02000000000000000000" pitchFamily="2" charset="0"/>
                    <a:ea typeface="Roboto" panose="02000000000000000000" pitchFamily="2" charset="0"/>
                  </a:rPr>
                  <a:t>CEDAC Cause</a:t>
                </a:r>
              </a:p>
            </p:txBody>
          </p:sp>
          <p:sp>
            <p:nvSpPr>
              <p:cNvPr id="8" name="AutoShape 10">
                <a:extLst>
                  <a:ext uri="{FF2B5EF4-FFF2-40B4-BE49-F238E27FC236}">
                    <a16:creationId xmlns:a16="http://schemas.microsoft.com/office/drawing/2014/main" id="{3B341166-AC1F-8D30-9314-0FB3D948387F}"/>
                  </a:ext>
                </a:extLst>
              </p:cNvPr>
              <p:cNvSpPr>
                <a:spLocks noChangeArrowheads="1"/>
              </p:cNvSpPr>
              <p:nvPr/>
            </p:nvSpPr>
            <p:spPr bwMode="auto">
              <a:xfrm>
                <a:off x="7737856" y="641180"/>
                <a:ext cx="2342768" cy="80497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r>
                  <a:rPr lang="en-US" altLang="en-US" sz="1200" dirty="0">
                    <a:solidFill>
                      <a:schemeClr val="bg1"/>
                    </a:solidFill>
                    <a:latin typeface="Roboto" panose="02000000000000000000" pitchFamily="2" charset="0"/>
                    <a:ea typeface="Roboto" panose="02000000000000000000" pitchFamily="2" charset="0"/>
                  </a:rPr>
                  <a:t>CEDAC Effect</a:t>
                </a:r>
              </a:p>
            </p:txBody>
          </p:sp>
          <p:sp>
            <p:nvSpPr>
              <p:cNvPr id="9" name="AutoShape 11">
                <a:extLst>
                  <a:ext uri="{FF2B5EF4-FFF2-40B4-BE49-F238E27FC236}">
                    <a16:creationId xmlns:a16="http://schemas.microsoft.com/office/drawing/2014/main" id="{2AB16F46-B5FA-96F3-91C2-07B2F2F1CC6C}"/>
                  </a:ext>
                </a:extLst>
              </p:cNvPr>
              <p:cNvSpPr>
                <a:spLocks noChangeArrowheads="1"/>
              </p:cNvSpPr>
              <p:nvPr/>
            </p:nvSpPr>
            <p:spPr bwMode="auto">
              <a:xfrm>
                <a:off x="5627530" y="641179"/>
                <a:ext cx="2340864" cy="804977"/>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r>
                  <a:rPr lang="en-US" altLang="en-US" sz="1200" dirty="0">
                    <a:solidFill>
                      <a:schemeClr val="bg1"/>
                    </a:solidFill>
                    <a:latin typeface="Roboto" panose="02000000000000000000" pitchFamily="2" charset="0"/>
                    <a:ea typeface="Roboto" panose="02000000000000000000" pitchFamily="2" charset="0"/>
                  </a:rPr>
                  <a:t>CEDAC Overview</a:t>
                </a:r>
              </a:p>
            </p:txBody>
          </p:sp>
        </p:grpSp>
      </p:grpSp>
      <p:cxnSp>
        <p:nvCxnSpPr>
          <p:cNvPr id="12" name="Straight Connector 11">
            <a:extLst>
              <a:ext uri="{FF2B5EF4-FFF2-40B4-BE49-F238E27FC236}">
                <a16:creationId xmlns:a16="http://schemas.microsoft.com/office/drawing/2014/main" id="{A4FB0DFD-2D15-952D-9825-996B08251FD4}"/>
              </a:ext>
            </a:extLst>
          </p:cNvPr>
          <p:cNvCxnSpPr/>
          <p:nvPr/>
        </p:nvCxnSpPr>
        <p:spPr>
          <a:xfrm>
            <a:off x="699911" y="2386919"/>
            <a:ext cx="3882975" cy="0"/>
          </a:xfrm>
          <a:prstGeom prst="line">
            <a:avLst/>
          </a:prstGeom>
          <a:ln w="254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09717850"/>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lstStyle/>
          <a:p>
            <a:r>
              <a:rPr lang="en-US" dirty="0"/>
              <a:t>Steps of the CEDAC Process</a:t>
            </a:r>
          </a:p>
        </p:txBody>
      </p:sp>
      <p:sp>
        <p:nvSpPr>
          <p:cNvPr id="3" name="Content Placeholder 2">
            <a:extLst>
              <a:ext uri="{FF2B5EF4-FFF2-40B4-BE49-F238E27FC236}">
                <a16:creationId xmlns:a16="http://schemas.microsoft.com/office/drawing/2014/main" id="{2AA7A201-AD05-6520-E140-CCF11E59E700}"/>
              </a:ext>
            </a:extLst>
          </p:cNvPr>
          <p:cNvSpPr>
            <a:spLocks noGrp="1"/>
          </p:cNvSpPr>
          <p:nvPr>
            <p:ph idx="1"/>
          </p:nvPr>
        </p:nvSpPr>
        <p:spPr>
          <a:xfrm>
            <a:off x="3200400" y="1825625"/>
            <a:ext cx="8153400" cy="4351338"/>
          </a:xfrm>
        </p:spPr>
        <p:txBody>
          <a:bodyPr>
            <a:normAutofit fontScale="92500" lnSpcReduction="20000"/>
          </a:bodyPr>
          <a:lstStyle/>
          <a:p>
            <a:pPr marL="514350" indent="-514350">
              <a:buFont typeface="+mj-lt"/>
              <a:buAutoNum type="arabicPeriod"/>
            </a:pPr>
            <a:r>
              <a:rPr lang="en-US" dirty="0"/>
              <a:t>Define problem</a:t>
            </a:r>
          </a:p>
          <a:p>
            <a:pPr marL="514350" indent="-514350">
              <a:buFont typeface="+mj-lt"/>
              <a:buAutoNum type="arabicPeriod"/>
            </a:pPr>
            <a:r>
              <a:rPr lang="en-US" dirty="0"/>
              <a:t>Establish and validate metrics</a:t>
            </a:r>
          </a:p>
          <a:p>
            <a:pPr marL="514350" indent="-514350">
              <a:buFont typeface="+mj-lt"/>
              <a:buAutoNum type="arabicPeriod"/>
            </a:pPr>
            <a:r>
              <a:rPr lang="en-US" dirty="0"/>
              <a:t>Determine Objective Statement </a:t>
            </a:r>
          </a:p>
          <a:p>
            <a:pPr marL="514350" indent="-514350">
              <a:buFont typeface="+mj-lt"/>
              <a:buAutoNum type="arabicPeriod"/>
            </a:pPr>
            <a:r>
              <a:rPr lang="en-US" dirty="0"/>
              <a:t>Create CEDAC diagram (Flowchart, Fishbone, etc.)</a:t>
            </a:r>
          </a:p>
          <a:p>
            <a:pPr marL="514350" indent="-514350">
              <a:buFont typeface="+mj-lt"/>
              <a:buAutoNum type="arabicPeriod"/>
            </a:pPr>
            <a:r>
              <a:rPr lang="en-US" dirty="0"/>
              <a:t>Brainstorm and create FACT Cards (in yellow) and post on diagram</a:t>
            </a:r>
          </a:p>
          <a:p>
            <a:pPr marL="514350" indent="-514350">
              <a:buFont typeface="+mj-lt"/>
              <a:buAutoNum type="arabicPeriod"/>
            </a:pPr>
            <a:r>
              <a:rPr lang="en-US" dirty="0"/>
              <a:t>Brainstorm and create IMPROVEMENT Cards (in blue) and post on diagram</a:t>
            </a:r>
          </a:p>
          <a:p>
            <a:pPr marL="514350" indent="-514350">
              <a:buFont typeface="+mj-lt"/>
              <a:buAutoNum type="arabicPeriod"/>
            </a:pPr>
            <a:r>
              <a:rPr lang="en-US" dirty="0"/>
              <a:t>Take action on the IMPROVEMENT cards</a:t>
            </a:r>
          </a:p>
          <a:p>
            <a:pPr marL="514350" indent="-514350">
              <a:buFont typeface="+mj-lt"/>
              <a:buAutoNum type="arabicPeriod"/>
            </a:pPr>
            <a:r>
              <a:rPr lang="en-US" dirty="0"/>
              <a:t>Institutionalize improvements (countermeasures) that have proven to solve the problem</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69</a:t>
            </a:fld>
            <a:endParaRPr lang="en-US"/>
          </a:p>
        </p:txBody>
      </p:sp>
      <p:grpSp>
        <p:nvGrpSpPr>
          <p:cNvPr id="14" name="Group 13">
            <a:extLst>
              <a:ext uri="{FF2B5EF4-FFF2-40B4-BE49-F238E27FC236}">
                <a16:creationId xmlns:a16="http://schemas.microsoft.com/office/drawing/2014/main" id="{D41303C2-E018-19D2-0EB5-6DA73CD24807}"/>
              </a:ext>
            </a:extLst>
          </p:cNvPr>
          <p:cNvGrpSpPr/>
          <p:nvPr/>
        </p:nvGrpSpPr>
        <p:grpSpPr>
          <a:xfrm>
            <a:off x="838200" y="297639"/>
            <a:ext cx="4351020" cy="307138"/>
            <a:chOff x="838200" y="297639"/>
            <a:chExt cx="4351020" cy="307138"/>
          </a:xfrm>
        </p:grpSpPr>
        <p:grpSp>
          <p:nvGrpSpPr>
            <p:cNvPr id="15" name="Group 14">
              <a:extLst>
                <a:ext uri="{FF2B5EF4-FFF2-40B4-BE49-F238E27FC236}">
                  <a16:creationId xmlns:a16="http://schemas.microsoft.com/office/drawing/2014/main" id="{E5786EBA-3CE5-0613-28ED-FAC08B873002}"/>
                </a:ext>
              </a:extLst>
            </p:cNvPr>
            <p:cNvGrpSpPr/>
            <p:nvPr/>
          </p:nvGrpSpPr>
          <p:grpSpPr>
            <a:xfrm>
              <a:off x="838200" y="297639"/>
              <a:ext cx="1687517" cy="290657"/>
              <a:chOff x="838200" y="297639"/>
              <a:chExt cx="1687517" cy="290657"/>
            </a:xfrm>
          </p:grpSpPr>
          <p:sp>
            <p:nvSpPr>
              <p:cNvPr id="17" name="AutoShape 9">
                <a:extLst>
                  <a:ext uri="{FF2B5EF4-FFF2-40B4-BE49-F238E27FC236}">
                    <a16:creationId xmlns:a16="http://schemas.microsoft.com/office/drawing/2014/main" id="{B174F6F9-D206-07A7-A64A-B68DDBDC1860}"/>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8" name="AutoShape 9">
                <a:extLst>
                  <a:ext uri="{FF2B5EF4-FFF2-40B4-BE49-F238E27FC236}">
                    <a16:creationId xmlns:a16="http://schemas.microsoft.com/office/drawing/2014/main" id="{E8BB91E2-C1AC-FCCB-16DF-8C2FF5B3FF85}"/>
                  </a:ext>
                </a:extLst>
              </p:cNvPr>
              <p:cNvSpPr>
                <a:spLocks noChangeArrowheads="1"/>
              </p:cNvSpPr>
              <p:nvPr/>
            </p:nvSpPr>
            <p:spPr bwMode="auto">
              <a:xfrm>
                <a:off x="1779225" y="297639"/>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nvGrpSpPr>
              <p:cNvPr id="19" name="Group 18">
                <a:extLst>
                  <a:ext uri="{FF2B5EF4-FFF2-40B4-BE49-F238E27FC236}">
                    <a16:creationId xmlns:a16="http://schemas.microsoft.com/office/drawing/2014/main" id="{E2AC478D-7F21-38EF-5560-D40E7C498246}"/>
                  </a:ext>
                </a:extLst>
              </p:cNvPr>
              <p:cNvGrpSpPr/>
              <p:nvPr/>
            </p:nvGrpSpPr>
            <p:grpSpPr>
              <a:xfrm>
                <a:off x="838200" y="297639"/>
                <a:ext cx="1060167" cy="290657"/>
                <a:chOff x="826426" y="4041857"/>
                <a:chExt cx="1060167" cy="290657"/>
              </a:xfrm>
            </p:grpSpPr>
            <p:sp>
              <p:nvSpPr>
                <p:cNvPr id="20" name="AutoShape 9">
                  <a:extLst>
                    <a:ext uri="{FF2B5EF4-FFF2-40B4-BE49-F238E27FC236}">
                      <a16:creationId xmlns:a16="http://schemas.microsoft.com/office/drawing/2014/main" id="{12AB7CB1-4480-4FEE-CE6F-B4F2FA2C986A}"/>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1" name="AutoShape 11">
                  <a:extLst>
                    <a:ext uri="{FF2B5EF4-FFF2-40B4-BE49-F238E27FC236}">
                      <a16:creationId xmlns:a16="http://schemas.microsoft.com/office/drawing/2014/main" id="{AA5419CA-4052-22B2-630C-B0633134EA3A}"/>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2" name="AutoShape 10">
                  <a:extLst>
                    <a:ext uri="{FF2B5EF4-FFF2-40B4-BE49-F238E27FC236}">
                      <a16:creationId xmlns:a16="http://schemas.microsoft.com/office/drawing/2014/main" id="{CCE40F93-E620-B6AC-E23C-FC6C2C06EBAF}"/>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16" name="TextBox 15">
              <a:extLst>
                <a:ext uri="{FF2B5EF4-FFF2-40B4-BE49-F238E27FC236}">
                  <a16:creationId xmlns:a16="http://schemas.microsoft.com/office/drawing/2014/main" id="{9A4733ED-8095-60E0-242E-EA2095CF4379}"/>
                </a:ext>
              </a:extLst>
            </p:cNvPr>
            <p:cNvSpPr txBox="1"/>
            <p:nvPr/>
          </p:nvSpPr>
          <p:spPr>
            <a:xfrm>
              <a:off x="2525717" y="313415"/>
              <a:ext cx="266350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CEDAC Problem Solution</a:t>
              </a:r>
            </a:p>
          </p:txBody>
        </p:sp>
      </p:grpSp>
      <p:sp>
        <p:nvSpPr>
          <p:cNvPr id="4" name="AutoShape 4">
            <a:extLst>
              <a:ext uri="{FF2B5EF4-FFF2-40B4-BE49-F238E27FC236}">
                <a16:creationId xmlns:a16="http://schemas.microsoft.com/office/drawing/2014/main" id="{2C717994-A0D3-16DA-F97C-85BEFFB148BC}"/>
              </a:ext>
            </a:extLst>
          </p:cNvPr>
          <p:cNvSpPr>
            <a:spLocks/>
          </p:cNvSpPr>
          <p:nvPr/>
        </p:nvSpPr>
        <p:spPr bwMode="auto">
          <a:xfrm flipH="1">
            <a:off x="2898773" y="1823551"/>
            <a:ext cx="301626" cy="1111921"/>
          </a:xfrm>
          <a:prstGeom prst="rightBrace">
            <a:avLst>
              <a:gd name="adj1" fmla="val 34561"/>
              <a:gd name="adj2" fmla="val 50000"/>
            </a:avLst>
          </a:prstGeom>
          <a:noFill/>
          <a:ln w="28575" cap="sq">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5000"/>
              </a:lnSpc>
              <a:buFont typeface="Wingdings" panose="05000000000000000000" pitchFamily="2" charset="2"/>
              <a:buNone/>
            </a:pPr>
            <a:endParaRPr lang="en-US" altLang="en-US" sz="1600"/>
          </a:p>
        </p:txBody>
      </p:sp>
      <p:sp>
        <p:nvSpPr>
          <p:cNvPr id="6" name="Text Box 5">
            <a:extLst>
              <a:ext uri="{FF2B5EF4-FFF2-40B4-BE49-F238E27FC236}">
                <a16:creationId xmlns:a16="http://schemas.microsoft.com/office/drawing/2014/main" id="{BB3ABBE3-744D-E1E3-8C89-8C1459A43648}"/>
              </a:ext>
            </a:extLst>
          </p:cNvPr>
          <p:cNvSpPr txBox="1">
            <a:spLocks noChangeArrowheads="1"/>
          </p:cNvSpPr>
          <p:nvPr/>
        </p:nvSpPr>
        <p:spPr bwMode="auto">
          <a:xfrm>
            <a:off x="1015999" y="2082705"/>
            <a:ext cx="1517655" cy="3139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wrap="square">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80000"/>
              </a:lnSpc>
              <a:spcBef>
                <a:spcPct val="20000"/>
              </a:spcBef>
              <a:spcAft>
                <a:spcPct val="0"/>
              </a:spcAft>
              <a:buClrTx/>
              <a:buSzTx/>
              <a:buFontTx/>
              <a:buNone/>
            </a:pPr>
            <a:r>
              <a:rPr lang="en-US" altLang="en-US" sz="1800" dirty="0">
                <a:latin typeface="Roboto" panose="02000000000000000000" pitchFamily="2" charset="0"/>
                <a:ea typeface="Roboto" panose="02000000000000000000" pitchFamily="2" charset="0"/>
              </a:rPr>
              <a:t>The </a:t>
            </a:r>
            <a:r>
              <a:rPr lang="ja-JP" altLang="en-US" sz="1800" dirty="0">
                <a:latin typeface="Roboto" panose="02000000000000000000" pitchFamily="2" charset="0"/>
              </a:rPr>
              <a:t>“</a:t>
            </a:r>
            <a:r>
              <a:rPr lang="en-US" altLang="ja-JP" sz="1800" dirty="0">
                <a:latin typeface="Roboto" panose="02000000000000000000" pitchFamily="2" charset="0"/>
                <a:ea typeface="Roboto" panose="02000000000000000000" pitchFamily="2" charset="0"/>
              </a:rPr>
              <a:t>Effect</a:t>
            </a:r>
            <a:r>
              <a:rPr lang="ja-JP" altLang="en-US" sz="1800" dirty="0">
                <a:latin typeface="Roboto" panose="02000000000000000000" pitchFamily="2" charset="0"/>
              </a:rPr>
              <a:t>”</a:t>
            </a:r>
            <a:endParaRPr lang="en-US" altLang="en-US" sz="1800" dirty="0">
              <a:latin typeface="Roboto" panose="02000000000000000000" pitchFamily="2" charset="0"/>
              <a:ea typeface="Roboto" panose="02000000000000000000" pitchFamily="2" charset="0"/>
            </a:endParaRPr>
          </a:p>
        </p:txBody>
      </p:sp>
      <p:sp>
        <p:nvSpPr>
          <p:cNvPr id="7" name="Text Box 6">
            <a:extLst>
              <a:ext uri="{FF2B5EF4-FFF2-40B4-BE49-F238E27FC236}">
                <a16:creationId xmlns:a16="http://schemas.microsoft.com/office/drawing/2014/main" id="{A328E56B-D593-3A7D-5959-8ABD25C46B81}"/>
              </a:ext>
            </a:extLst>
          </p:cNvPr>
          <p:cNvSpPr txBox="1">
            <a:spLocks noChangeArrowheads="1"/>
          </p:cNvSpPr>
          <p:nvPr/>
        </p:nvSpPr>
        <p:spPr bwMode="auto">
          <a:xfrm>
            <a:off x="1054608" y="3161234"/>
            <a:ext cx="1568455" cy="3139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wrap="square">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80000"/>
              </a:lnSpc>
              <a:spcBef>
                <a:spcPct val="20000"/>
              </a:spcBef>
              <a:spcAft>
                <a:spcPct val="0"/>
              </a:spcAft>
              <a:buClrTx/>
              <a:buSzTx/>
              <a:buFontTx/>
              <a:buNone/>
            </a:pPr>
            <a:r>
              <a:rPr lang="en-US" altLang="en-US" sz="1800" dirty="0">
                <a:latin typeface="Roboto" panose="02000000000000000000" pitchFamily="2" charset="0"/>
                <a:ea typeface="Roboto" panose="02000000000000000000" pitchFamily="2" charset="0"/>
              </a:rPr>
              <a:t>The </a:t>
            </a:r>
            <a:r>
              <a:rPr lang="ja-JP" altLang="en-US" sz="1800" dirty="0">
                <a:latin typeface="Roboto" panose="02000000000000000000" pitchFamily="2" charset="0"/>
              </a:rPr>
              <a:t>“</a:t>
            </a:r>
            <a:r>
              <a:rPr lang="en-US" altLang="ja-JP" sz="1800" dirty="0">
                <a:latin typeface="Roboto" panose="02000000000000000000" pitchFamily="2" charset="0"/>
                <a:ea typeface="Roboto" panose="02000000000000000000" pitchFamily="2" charset="0"/>
              </a:rPr>
              <a:t>Cause</a:t>
            </a:r>
            <a:r>
              <a:rPr lang="ja-JP" altLang="en-US" sz="1800" dirty="0">
                <a:latin typeface="Roboto" panose="02000000000000000000" pitchFamily="2" charset="0"/>
              </a:rPr>
              <a:t>”</a:t>
            </a:r>
            <a:endParaRPr lang="en-US" altLang="en-US" sz="1800" dirty="0">
              <a:latin typeface="Roboto" panose="02000000000000000000" pitchFamily="2" charset="0"/>
              <a:ea typeface="Roboto" panose="02000000000000000000" pitchFamily="2" charset="0"/>
            </a:endParaRPr>
          </a:p>
        </p:txBody>
      </p:sp>
      <p:sp>
        <p:nvSpPr>
          <p:cNvPr id="8" name="Text Box 7">
            <a:extLst>
              <a:ext uri="{FF2B5EF4-FFF2-40B4-BE49-F238E27FC236}">
                <a16:creationId xmlns:a16="http://schemas.microsoft.com/office/drawing/2014/main" id="{C1C25B89-DA4A-74B2-B4EA-E52AE658D2EB}"/>
              </a:ext>
            </a:extLst>
          </p:cNvPr>
          <p:cNvSpPr txBox="1">
            <a:spLocks noChangeArrowheads="1"/>
          </p:cNvSpPr>
          <p:nvPr/>
        </p:nvSpPr>
        <p:spPr bwMode="auto">
          <a:xfrm>
            <a:off x="1015999" y="4655928"/>
            <a:ext cx="1820868" cy="5293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wrap="square">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80000"/>
              </a:lnSpc>
              <a:spcBef>
                <a:spcPct val="20000"/>
              </a:spcBef>
              <a:spcAft>
                <a:spcPct val="0"/>
              </a:spcAft>
              <a:buClrTx/>
              <a:buSzTx/>
              <a:buFontTx/>
              <a:buNone/>
            </a:pPr>
            <a:r>
              <a:rPr lang="en-US" altLang="en-US" sz="1800" dirty="0">
                <a:latin typeface="Roboto" panose="02000000000000000000" pitchFamily="2" charset="0"/>
                <a:ea typeface="Roboto" panose="02000000000000000000" pitchFamily="2" charset="0"/>
              </a:rPr>
              <a:t>The </a:t>
            </a:r>
            <a:r>
              <a:rPr lang="ja-JP" altLang="en-US" sz="1800" dirty="0">
                <a:latin typeface="Roboto" panose="02000000000000000000" pitchFamily="2" charset="0"/>
              </a:rPr>
              <a:t>“</a:t>
            </a:r>
            <a:r>
              <a:rPr lang="en-US" altLang="ja-JP" sz="1800" dirty="0">
                <a:latin typeface="Roboto" panose="02000000000000000000" pitchFamily="2" charset="0"/>
                <a:ea typeface="Roboto" panose="02000000000000000000" pitchFamily="2" charset="0"/>
              </a:rPr>
              <a:t>Solution</a:t>
            </a:r>
            <a:r>
              <a:rPr lang="ja-JP" altLang="en-US" sz="1800" dirty="0">
                <a:latin typeface="Roboto" panose="02000000000000000000" pitchFamily="2" charset="0"/>
              </a:rPr>
              <a:t>”</a:t>
            </a:r>
            <a:endParaRPr lang="en-US" altLang="ja-JP" sz="1800" dirty="0">
              <a:latin typeface="Roboto" panose="02000000000000000000" pitchFamily="2" charset="0"/>
              <a:ea typeface="Roboto" panose="02000000000000000000" pitchFamily="2" charset="0"/>
            </a:endParaRPr>
          </a:p>
          <a:p>
            <a:pPr>
              <a:lnSpc>
                <a:spcPct val="80000"/>
              </a:lnSpc>
              <a:spcBef>
                <a:spcPct val="20000"/>
              </a:spcBef>
              <a:spcAft>
                <a:spcPct val="0"/>
              </a:spcAft>
              <a:buClrTx/>
              <a:buSzTx/>
              <a:buFontTx/>
              <a:buNone/>
            </a:pPr>
            <a:r>
              <a:rPr lang="en-US" altLang="en-US" sz="1400" dirty="0">
                <a:latin typeface="Roboto" panose="02000000000000000000" pitchFamily="2" charset="0"/>
                <a:ea typeface="Roboto" panose="02000000000000000000" pitchFamily="2" charset="0"/>
              </a:rPr>
              <a:t>(countermeasures)</a:t>
            </a:r>
          </a:p>
        </p:txBody>
      </p:sp>
      <p:sp>
        <p:nvSpPr>
          <p:cNvPr id="9" name="AutoShape 8">
            <a:extLst>
              <a:ext uri="{FF2B5EF4-FFF2-40B4-BE49-F238E27FC236}">
                <a16:creationId xmlns:a16="http://schemas.microsoft.com/office/drawing/2014/main" id="{522701E4-0150-E859-6D9E-FED001303A36}"/>
              </a:ext>
            </a:extLst>
          </p:cNvPr>
          <p:cNvSpPr>
            <a:spLocks/>
          </p:cNvSpPr>
          <p:nvPr/>
        </p:nvSpPr>
        <p:spPr bwMode="auto">
          <a:xfrm flipH="1">
            <a:off x="2898773" y="3045104"/>
            <a:ext cx="301626" cy="685422"/>
          </a:xfrm>
          <a:prstGeom prst="rightBrace">
            <a:avLst>
              <a:gd name="adj1" fmla="val 19123"/>
              <a:gd name="adj2" fmla="val 50000"/>
            </a:avLst>
          </a:prstGeom>
          <a:noFill/>
          <a:ln w="28575" cap="sq">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5000"/>
              </a:lnSpc>
              <a:buFont typeface="Wingdings" panose="05000000000000000000" pitchFamily="2" charset="2"/>
              <a:buNone/>
            </a:pPr>
            <a:endParaRPr lang="en-US" altLang="en-US" sz="1600"/>
          </a:p>
        </p:txBody>
      </p:sp>
      <p:sp>
        <p:nvSpPr>
          <p:cNvPr id="10" name="AutoShape 9">
            <a:extLst>
              <a:ext uri="{FF2B5EF4-FFF2-40B4-BE49-F238E27FC236}">
                <a16:creationId xmlns:a16="http://schemas.microsoft.com/office/drawing/2014/main" id="{35E8A71A-28DB-67DD-4CED-54BA17786406}"/>
              </a:ext>
            </a:extLst>
          </p:cNvPr>
          <p:cNvSpPr>
            <a:spLocks/>
          </p:cNvSpPr>
          <p:nvPr/>
        </p:nvSpPr>
        <p:spPr bwMode="auto">
          <a:xfrm flipH="1">
            <a:off x="2898773" y="4160521"/>
            <a:ext cx="301626" cy="1520190"/>
          </a:xfrm>
          <a:prstGeom prst="rightBrace">
            <a:avLst>
              <a:gd name="adj1" fmla="val 42412"/>
              <a:gd name="adj2" fmla="val 50000"/>
            </a:avLst>
          </a:prstGeom>
          <a:noFill/>
          <a:ln w="28575" cap="sq">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5000"/>
              </a:lnSpc>
              <a:buFont typeface="Wingdings" panose="05000000000000000000" pitchFamily="2" charset="2"/>
              <a:buNone/>
            </a:pPr>
            <a:endParaRPr lang="en-US" altLang="en-US" sz="1600"/>
          </a:p>
        </p:txBody>
      </p:sp>
      <p:sp>
        <p:nvSpPr>
          <p:cNvPr id="11" name="Rectangle 10">
            <a:extLst>
              <a:ext uri="{FF2B5EF4-FFF2-40B4-BE49-F238E27FC236}">
                <a16:creationId xmlns:a16="http://schemas.microsoft.com/office/drawing/2014/main" id="{B6A14166-925E-815D-420A-2FFA7F5E726F}"/>
              </a:ext>
            </a:extLst>
          </p:cNvPr>
          <p:cNvSpPr/>
          <p:nvPr/>
        </p:nvSpPr>
        <p:spPr>
          <a:xfrm>
            <a:off x="3200399" y="4068967"/>
            <a:ext cx="8023861" cy="685422"/>
          </a:xfrm>
          <a:prstGeom prst="rect">
            <a:avLst/>
          </a:prstGeom>
          <a:no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601267933"/>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normAutofit/>
          </a:bodyPr>
          <a:lstStyle/>
          <a:p>
            <a:r>
              <a:rPr lang="en-US" sz="4000" dirty="0"/>
              <a:t>IMPROVEMENT Cards</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70</a:t>
            </a:fld>
            <a:endParaRPr lang="en-US"/>
          </a:p>
        </p:txBody>
      </p:sp>
      <p:grpSp>
        <p:nvGrpSpPr>
          <p:cNvPr id="13" name="Group 12">
            <a:extLst>
              <a:ext uri="{FF2B5EF4-FFF2-40B4-BE49-F238E27FC236}">
                <a16:creationId xmlns:a16="http://schemas.microsoft.com/office/drawing/2014/main" id="{FDB0EBAE-D458-D58C-899E-4F2DC285E99B}"/>
              </a:ext>
            </a:extLst>
          </p:cNvPr>
          <p:cNvGrpSpPr/>
          <p:nvPr/>
        </p:nvGrpSpPr>
        <p:grpSpPr>
          <a:xfrm>
            <a:off x="6973631" y="1908811"/>
            <a:ext cx="4728469" cy="3777498"/>
            <a:chOff x="6798849" y="2223299"/>
            <a:chExt cx="3376613" cy="3151567"/>
          </a:xfrm>
        </p:grpSpPr>
        <p:sp>
          <p:nvSpPr>
            <p:cNvPr id="6" name="AutoShape 4">
              <a:extLst>
                <a:ext uri="{FF2B5EF4-FFF2-40B4-BE49-F238E27FC236}">
                  <a16:creationId xmlns:a16="http://schemas.microsoft.com/office/drawing/2014/main" id="{DC937348-E61E-394F-3CF7-E763C45EF8D8}"/>
                </a:ext>
              </a:extLst>
            </p:cNvPr>
            <p:cNvSpPr>
              <a:spLocks/>
            </p:cNvSpPr>
            <p:nvPr/>
          </p:nvSpPr>
          <p:spPr bwMode="auto">
            <a:xfrm>
              <a:off x="8392699" y="4080828"/>
              <a:ext cx="152400" cy="914400"/>
            </a:xfrm>
            <a:prstGeom prst="rightBrace">
              <a:avLst>
                <a:gd name="adj1" fmla="val 50000"/>
                <a:gd name="adj2" fmla="val 41843"/>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5000"/>
                </a:lnSpc>
                <a:buFont typeface="Wingdings" panose="05000000000000000000" pitchFamily="2" charset="2"/>
                <a:buNone/>
              </a:pPr>
              <a:endParaRPr lang="en-US" altLang="en-US" sz="1600">
                <a:latin typeface="Roboto" panose="02000000000000000000" pitchFamily="2" charset="0"/>
                <a:ea typeface="Roboto" panose="02000000000000000000" pitchFamily="2" charset="0"/>
              </a:endParaRPr>
            </a:p>
          </p:txBody>
        </p:sp>
        <p:sp>
          <p:nvSpPr>
            <p:cNvPr id="7" name="Rectangle 7">
              <a:extLst>
                <a:ext uri="{FF2B5EF4-FFF2-40B4-BE49-F238E27FC236}">
                  <a16:creationId xmlns:a16="http://schemas.microsoft.com/office/drawing/2014/main" id="{940F9C6D-C4FC-5F18-1112-52035984C4B3}"/>
                </a:ext>
              </a:extLst>
            </p:cNvPr>
            <p:cNvSpPr>
              <a:spLocks noChangeArrowheads="1"/>
            </p:cNvSpPr>
            <p:nvPr/>
          </p:nvSpPr>
          <p:spPr bwMode="auto">
            <a:xfrm>
              <a:off x="6892512" y="2223299"/>
              <a:ext cx="3268662" cy="307975"/>
            </a:xfrm>
            <a:prstGeom prst="rect">
              <a:avLst/>
            </a:prstGeom>
            <a:solidFill>
              <a:schemeClr val="accent1"/>
            </a:solidFill>
            <a:ln w="12700" cap="sq">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rPr>
                <a:t>Definition</a:t>
              </a:r>
            </a:p>
          </p:txBody>
        </p:sp>
        <p:sp>
          <p:nvSpPr>
            <p:cNvPr id="8" name="Rectangle 8">
              <a:extLst>
                <a:ext uri="{FF2B5EF4-FFF2-40B4-BE49-F238E27FC236}">
                  <a16:creationId xmlns:a16="http://schemas.microsoft.com/office/drawing/2014/main" id="{C48BA631-A3D0-90D3-120D-904A61934538}"/>
                </a:ext>
              </a:extLst>
            </p:cNvPr>
            <p:cNvSpPr>
              <a:spLocks noChangeArrowheads="1"/>
            </p:cNvSpPr>
            <p:nvPr/>
          </p:nvSpPr>
          <p:spPr bwMode="auto">
            <a:xfrm>
              <a:off x="6892512" y="3811860"/>
              <a:ext cx="3282950" cy="307975"/>
            </a:xfrm>
            <a:prstGeom prst="rect">
              <a:avLst/>
            </a:prstGeom>
            <a:solidFill>
              <a:schemeClr val="accent1"/>
            </a:solidFill>
            <a:ln w="12700" cap="sq">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rPr>
                <a:t>Use</a:t>
              </a:r>
            </a:p>
          </p:txBody>
        </p:sp>
        <p:sp>
          <p:nvSpPr>
            <p:cNvPr id="9" name="Rectangle 9">
              <a:extLst>
                <a:ext uri="{FF2B5EF4-FFF2-40B4-BE49-F238E27FC236}">
                  <a16:creationId xmlns:a16="http://schemas.microsoft.com/office/drawing/2014/main" id="{7A377FAC-C321-E827-6663-09AAE3C6C661}"/>
                </a:ext>
              </a:extLst>
            </p:cNvPr>
            <p:cNvSpPr>
              <a:spLocks noChangeArrowheads="1"/>
            </p:cNvSpPr>
            <p:nvPr/>
          </p:nvSpPr>
          <p:spPr bwMode="auto">
            <a:xfrm>
              <a:off x="6798849" y="2577312"/>
              <a:ext cx="3376613" cy="9169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nSpc>
                  <a:spcPct val="115000"/>
                </a:lnSpc>
                <a:spcBef>
                  <a:spcPct val="50000"/>
                </a:spcBef>
                <a:spcAft>
                  <a:spcPct val="50000"/>
                </a:spcAft>
                <a:buClr>
                  <a:srgbClr val="006699"/>
                </a:buClr>
                <a:buSzPct val="90000"/>
                <a:buFont typeface="Wingdings" panose="05000000000000000000" pitchFamily="2" charset="2"/>
                <a:buChar char="§"/>
                <a:tabLst>
                  <a:tab pos="3086100" algn="l"/>
                </a:tabLst>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tabLst>
                  <a:tab pos="3086100" algn="l"/>
                </a:tabLst>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tabLst>
                  <a:tab pos="3086100" algn="l"/>
                </a:tabLst>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9pPr>
            </a:lstStyle>
            <a:p>
              <a:pPr>
                <a:spcBef>
                  <a:spcPct val="30000"/>
                </a:spcBef>
                <a:spcAft>
                  <a:spcPct val="0"/>
                </a:spcAft>
                <a:buClr>
                  <a:schemeClr val="tx1"/>
                </a:buClr>
                <a:buFont typeface="Arial" panose="020B0604020202020204" pitchFamily="34" charset="0"/>
                <a:buChar char="•"/>
              </a:pPr>
              <a:r>
                <a:rPr lang="en-US" altLang="en-US" sz="1800" dirty="0">
                  <a:latin typeface="Roboto" panose="02000000000000000000" pitchFamily="2" charset="0"/>
                  <a:ea typeface="Roboto" panose="02000000000000000000" pitchFamily="2" charset="0"/>
                </a:rPr>
                <a:t>Use to record your proposals about how to solve the problem or reach the target</a:t>
              </a:r>
            </a:p>
            <a:p>
              <a:pPr>
                <a:spcBef>
                  <a:spcPct val="30000"/>
                </a:spcBef>
                <a:spcAft>
                  <a:spcPct val="0"/>
                </a:spcAft>
                <a:buClr>
                  <a:schemeClr val="tx1"/>
                </a:buClr>
                <a:buFont typeface="Arial" panose="020B0604020202020204" pitchFamily="34" charset="0"/>
                <a:buChar char="•"/>
              </a:pPr>
              <a:r>
                <a:rPr lang="en-US" altLang="en-US" sz="1800" dirty="0">
                  <a:latin typeface="Roboto" panose="02000000000000000000" pitchFamily="2" charset="0"/>
                  <a:ea typeface="Roboto" panose="02000000000000000000" pitchFamily="2" charset="0"/>
                </a:rPr>
                <a:t>Blue post-its address the yellow post-its</a:t>
              </a:r>
            </a:p>
            <a:p>
              <a:pPr marL="0" indent="0">
                <a:spcBef>
                  <a:spcPct val="30000"/>
                </a:spcBef>
                <a:spcAft>
                  <a:spcPct val="0"/>
                </a:spcAft>
                <a:buClr>
                  <a:schemeClr val="tx1"/>
                </a:buClr>
                <a:buNone/>
              </a:pPr>
              <a:endParaRPr lang="en-US" altLang="en-US" sz="1800" dirty="0">
                <a:latin typeface="Roboto" panose="02000000000000000000" pitchFamily="2" charset="0"/>
                <a:ea typeface="Roboto" panose="02000000000000000000" pitchFamily="2" charset="0"/>
              </a:endParaRPr>
            </a:p>
          </p:txBody>
        </p:sp>
        <p:sp>
          <p:nvSpPr>
            <p:cNvPr id="12" name="Rectangle 12">
              <a:extLst>
                <a:ext uri="{FF2B5EF4-FFF2-40B4-BE49-F238E27FC236}">
                  <a16:creationId xmlns:a16="http://schemas.microsoft.com/office/drawing/2014/main" id="{C5A52EBC-222D-C847-471C-60CE5C4DCDFB}"/>
                </a:ext>
              </a:extLst>
            </p:cNvPr>
            <p:cNvSpPr>
              <a:spLocks noChangeArrowheads="1"/>
            </p:cNvSpPr>
            <p:nvPr/>
          </p:nvSpPr>
          <p:spPr bwMode="auto">
            <a:xfrm>
              <a:off x="6798850" y="4158841"/>
              <a:ext cx="3376612" cy="1216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nSpc>
                  <a:spcPct val="115000"/>
                </a:lnSpc>
                <a:spcBef>
                  <a:spcPct val="50000"/>
                </a:spcBef>
                <a:spcAft>
                  <a:spcPct val="50000"/>
                </a:spcAft>
                <a:buClr>
                  <a:srgbClr val="006699"/>
                </a:buClr>
                <a:buSzPct val="90000"/>
                <a:buFont typeface="Wingdings" panose="05000000000000000000" pitchFamily="2" charset="2"/>
                <a:buChar char="§"/>
                <a:tabLst>
                  <a:tab pos="3086100" algn="l"/>
                </a:tabLst>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tabLst>
                  <a:tab pos="3086100" algn="l"/>
                </a:tabLst>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tabLst>
                  <a:tab pos="3086100" algn="l"/>
                </a:tabLst>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9pPr>
            </a:lstStyle>
            <a:p>
              <a:pPr>
                <a:lnSpc>
                  <a:spcPct val="100000"/>
                </a:lnSpc>
                <a:spcBef>
                  <a:spcPts val="0"/>
                </a:spcBef>
                <a:spcAft>
                  <a:spcPct val="0"/>
                </a:spcAft>
                <a:buClr>
                  <a:schemeClr val="tx1"/>
                </a:buClr>
                <a:buFont typeface="Arial" panose="020B0604020202020204" pitchFamily="34" charset="0"/>
                <a:buChar char="•"/>
              </a:pPr>
              <a:r>
                <a:rPr lang="fr-FR" altLang="en-US" sz="1800" dirty="0" err="1">
                  <a:latin typeface="Roboto" panose="02000000000000000000" pitchFamily="2" charset="0"/>
                  <a:ea typeface="Roboto" panose="02000000000000000000" pitchFamily="2" charset="0"/>
                </a:rPr>
                <a:t>Recommendations</a:t>
              </a:r>
              <a:endParaRPr lang="fr-FR" altLang="en-US" sz="1800" dirty="0">
                <a:latin typeface="Roboto" panose="02000000000000000000" pitchFamily="2" charset="0"/>
                <a:ea typeface="Roboto" panose="02000000000000000000" pitchFamily="2" charset="0"/>
              </a:endParaRPr>
            </a:p>
            <a:p>
              <a:pPr>
                <a:lnSpc>
                  <a:spcPct val="100000"/>
                </a:lnSpc>
                <a:spcBef>
                  <a:spcPts val="0"/>
                </a:spcBef>
                <a:spcAft>
                  <a:spcPct val="0"/>
                </a:spcAft>
                <a:buClr>
                  <a:schemeClr val="tx1"/>
                </a:buClr>
                <a:buFont typeface="Arial" panose="020B0604020202020204" pitchFamily="34" charset="0"/>
                <a:buChar char="•"/>
              </a:pPr>
              <a:r>
                <a:rPr lang="fr-FR" altLang="en-US" sz="1800" dirty="0" err="1">
                  <a:latin typeface="Roboto" panose="02000000000000000000" pitchFamily="2" charset="0"/>
                  <a:ea typeface="Roboto" panose="02000000000000000000" pitchFamily="2" charset="0"/>
                </a:rPr>
                <a:t>Countermeasures</a:t>
              </a:r>
              <a:endParaRPr lang="fr-FR" altLang="en-US" sz="1800" dirty="0">
                <a:latin typeface="Roboto" panose="02000000000000000000" pitchFamily="2" charset="0"/>
                <a:ea typeface="Roboto" panose="02000000000000000000" pitchFamily="2" charset="0"/>
              </a:endParaRPr>
            </a:p>
            <a:p>
              <a:pPr>
                <a:lnSpc>
                  <a:spcPct val="100000"/>
                </a:lnSpc>
                <a:spcBef>
                  <a:spcPts val="0"/>
                </a:spcBef>
                <a:spcAft>
                  <a:spcPct val="0"/>
                </a:spcAft>
                <a:buClr>
                  <a:schemeClr val="tx1"/>
                </a:buClr>
                <a:buFont typeface="Arial" panose="020B0604020202020204" pitchFamily="34" charset="0"/>
                <a:buChar char="•"/>
              </a:pPr>
              <a:r>
                <a:rPr lang="fr-FR" altLang="en-US" sz="1800" dirty="0">
                  <a:latin typeface="Roboto" panose="02000000000000000000" pitchFamily="2" charset="0"/>
                  <a:ea typeface="Roboto" panose="02000000000000000000" pitchFamily="2" charset="0"/>
                </a:rPr>
                <a:t>Corrective </a:t>
              </a:r>
              <a:r>
                <a:rPr lang="fr-FR" altLang="en-US" sz="1800" dirty="0" err="1">
                  <a:latin typeface="Roboto" panose="02000000000000000000" pitchFamily="2" charset="0"/>
                  <a:ea typeface="Roboto" panose="02000000000000000000" pitchFamily="2" charset="0"/>
                </a:rPr>
                <a:t>ideas</a:t>
              </a:r>
              <a:endParaRPr lang="fr-FR" altLang="en-US" sz="1800" dirty="0">
                <a:latin typeface="Roboto" panose="02000000000000000000" pitchFamily="2" charset="0"/>
                <a:ea typeface="Roboto" panose="02000000000000000000" pitchFamily="2" charset="0"/>
              </a:endParaRPr>
            </a:p>
            <a:p>
              <a:pPr>
                <a:lnSpc>
                  <a:spcPct val="100000"/>
                </a:lnSpc>
                <a:spcBef>
                  <a:spcPts val="0"/>
                </a:spcBef>
                <a:spcAft>
                  <a:spcPct val="0"/>
                </a:spcAft>
                <a:buClr>
                  <a:schemeClr val="tx1"/>
                </a:buClr>
                <a:buFont typeface="Arial" panose="020B0604020202020204" pitchFamily="34" charset="0"/>
                <a:buChar char="•"/>
              </a:pPr>
              <a:r>
                <a:rPr lang="fr-FR" altLang="en-US" sz="1800" dirty="0" err="1">
                  <a:latin typeface="Roboto" panose="02000000000000000000" pitchFamily="2" charset="0"/>
                  <a:ea typeface="Roboto" panose="02000000000000000000" pitchFamily="2" charset="0"/>
                </a:rPr>
                <a:t>Improvement</a:t>
              </a:r>
              <a:r>
                <a:rPr lang="fr-FR" altLang="en-US" sz="1800" dirty="0">
                  <a:latin typeface="Roboto" panose="02000000000000000000" pitchFamily="2" charset="0"/>
                  <a:ea typeface="Roboto" panose="02000000000000000000" pitchFamily="2" charset="0"/>
                </a:rPr>
                <a:t> </a:t>
              </a:r>
              <a:r>
                <a:rPr lang="fr-FR" altLang="en-US" sz="1800" dirty="0" err="1">
                  <a:latin typeface="Roboto" panose="02000000000000000000" pitchFamily="2" charset="0"/>
                  <a:ea typeface="Roboto" panose="02000000000000000000" pitchFamily="2" charset="0"/>
                </a:rPr>
                <a:t>ideas</a:t>
              </a:r>
              <a:endParaRPr lang="fr-FR" altLang="en-US" sz="1800" dirty="0">
                <a:latin typeface="Roboto" panose="02000000000000000000" pitchFamily="2" charset="0"/>
                <a:ea typeface="Roboto" panose="02000000000000000000" pitchFamily="2" charset="0"/>
              </a:endParaRPr>
            </a:p>
            <a:p>
              <a:pPr>
                <a:lnSpc>
                  <a:spcPct val="100000"/>
                </a:lnSpc>
                <a:spcBef>
                  <a:spcPts val="0"/>
                </a:spcBef>
                <a:spcAft>
                  <a:spcPct val="0"/>
                </a:spcAft>
                <a:buClr>
                  <a:schemeClr val="tx1"/>
                </a:buClr>
                <a:buFont typeface="Arial" panose="020B0604020202020204" pitchFamily="34" charset="0"/>
                <a:buChar char="•"/>
              </a:pPr>
              <a:r>
                <a:rPr lang="fr-FR" altLang="en-US" sz="1800" dirty="0">
                  <a:latin typeface="Roboto" panose="02000000000000000000" pitchFamily="2" charset="0"/>
                  <a:ea typeface="Roboto" panose="02000000000000000000" pitchFamily="2" charset="0"/>
                </a:rPr>
                <a:t>Suggestions</a:t>
              </a:r>
            </a:p>
          </p:txBody>
        </p:sp>
      </p:grpSp>
      <p:grpSp>
        <p:nvGrpSpPr>
          <p:cNvPr id="3" name="Group 2">
            <a:extLst>
              <a:ext uri="{FF2B5EF4-FFF2-40B4-BE49-F238E27FC236}">
                <a16:creationId xmlns:a16="http://schemas.microsoft.com/office/drawing/2014/main" id="{E97954FD-5532-68CF-E2C8-28FD968BC9FA}"/>
              </a:ext>
            </a:extLst>
          </p:cNvPr>
          <p:cNvGrpSpPr/>
          <p:nvPr/>
        </p:nvGrpSpPr>
        <p:grpSpPr>
          <a:xfrm>
            <a:off x="838200" y="297639"/>
            <a:ext cx="4351020" cy="307138"/>
            <a:chOff x="838200" y="297639"/>
            <a:chExt cx="4351020" cy="307138"/>
          </a:xfrm>
        </p:grpSpPr>
        <p:grpSp>
          <p:nvGrpSpPr>
            <p:cNvPr id="10" name="Group 9">
              <a:extLst>
                <a:ext uri="{FF2B5EF4-FFF2-40B4-BE49-F238E27FC236}">
                  <a16:creationId xmlns:a16="http://schemas.microsoft.com/office/drawing/2014/main" id="{AB8BC015-69F1-E60F-565F-950188138F89}"/>
                </a:ext>
              </a:extLst>
            </p:cNvPr>
            <p:cNvGrpSpPr/>
            <p:nvPr/>
          </p:nvGrpSpPr>
          <p:grpSpPr>
            <a:xfrm>
              <a:off x="838200" y="297639"/>
              <a:ext cx="1687517" cy="290657"/>
              <a:chOff x="838200" y="297639"/>
              <a:chExt cx="1687517" cy="290657"/>
            </a:xfrm>
          </p:grpSpPr>
          <p:sp>
            <p:nvSpPr>
              <p:cNvPr id="23" name="AutoShape 9">
                <a:extLst>
                  <a:ext uri="{FF2B5EF4-FFF2-40B4-BE49-F238E27FC236}">
                    <a16:creationId xmlns:a16="http://schemas.microsoft.com/office/drawing/2014/main" id="{C81E2195-2C4C-A6F6-8055-EF2182DC1BAA}"/>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31" name="AutoShape 9">
                <a:extLst>
                  <a:ext uri="{FF2B5EF4-FFF2-40B4-BE49-F238E27FC236}">
                    <a16:creationId xmlns:a16="http://schemas.microsoft.com/office/drawing/2014/main" id="{D0790997-B5AC-E09B-B2DC-B8CEBBE9265F}"/>
                  </a:ext>
                </a:extLst>
              </p:cNvPr>
              <p:cNvSpPr>
                <a:spLocks noChangeArrowheads="1"/>
              </p:cNvSpPr>
              <p:nvPr/>
            </p:nvSpPr>
            <p:spPr bwMode="auto">
              <a:xfrm>
                <a:off x="1779225" y="297639"/>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nvGrpSpPr>
              <p:cNvPr id="32" name="Group 31">
                <a:extLst>
                  <a:ext uri="{FF2B5EF4-FFF2-40B4-BE49-F238E27FC236}">
                    <a16:creationId xmlns:a16="http://schemas.microsoft.com/office/drawing/2014/main" id="{6B9A7614-672A-8105-4EAC-A6E1ADB82921}"/>
                  </a:ext>
                </a:extLst>
              </p:cNvPr>
              <p:cNvGrpSpPr/>
              <p:nvPr/>
            </p:nvGrpSpPr>
            <p:grpSpPr>
              <a:xfrm>
                <a:off x="838200" y="297639"/>
                <a:ext cx="1060167" cy="290657"/>
                <a:chOff x="826426" y="4041857"/>
                <a:chExt cx="1060167" cy="290657"/>
              </a:xfrm>
            </p:grpSpPr>
            <p:sp>
              <p:nvSpPr>
                <p:cNvPr id="33" name="AutoShape 9">
                  <a:extLst>
                    <a:ext uri="{FF2B5EF4-FFF2-40B4-BE49-F238E27FC236}">
                      <a16:creationId xmlns:a16="http://schemas.microsoft.com/office/drawing/2014/main" id="{1BA86E4A-7180-C8DA-8A50-1905486194E5}"/>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34" name="AutoShape 11">
                  <a:extLst>
                    <a:ext uri="{FF2B5EF4-FFF2-40B4-BE49-F238E27FC236}">
                      <a16:creationId xmlns:a16="http://schemas.microsoft.com/office/drawing/2014/main" id="{47DDA634-62DE-5801-F59F-AFED99542997}"/>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35" name="AutoShape 10">
                  <a:extLst>
                    <a:ext uri="{FF2B5EF4-FFF2-40B4-BE49-F238E27FC236}">
                      <a16:creationId xmlns:a16="http://schemas.microsoft.com/office/drawing/2014/main" id="{52AB551B-8631-1E25-479A-BEF0B5A084FF}"/>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11" name="TextBox 10">
              <a:extLst>
                <a:ext uri="{FF2B5EF4-FFF2-40B4-BE49-F238E27FC236}">
                  <a16:creationId xmlns:a16="http://schemas.microsoft.com/office/drawing/2014/main" id="{6CCBB6CA-F4EA-8315-B711-04E047CCCAF0}"/>
                </a:ext>
              </a:extLst>
            </p:cNvPr>
            <p:cNvSpPr txBox="1"/>
            <p:nvPr/>
          </p:nvSpPr>
          <p:spPr>
            <a:xfrm>
              <a:off x="2525717" y="313415"/>
              <a:ext cx="266350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CEDAC Problem Solution</a:t>
              </a:r>
            </a:p>
          </p:txBody>
        </p:sp>
      </p:grpSp>
      <p:grpSp>
        <p:nvGrpSpPr>
          <p:cNvPr id="36" name="Group 15">
            <a:extLst>
              <a:ext uri="{FF2B5EF4-FFF2-40B4-BE49-F238E27FC236}">
                <a16:creationId xmlns:a16="http://schemas.microsoft.com/office/drawing/2014/main" id="{5AF6A7FA-DD08-9BF9-E59A-C853D37DB8A3}"/>
              </a:ext>
            </a:extLst>
          </p:cNvPr>
          <p:cNvGrpSpPr>
            <a:grpSpLocks/>
          </p:cNvGrpSpPr>
          <p:nvPr/>
        </p:nvGrpSpPr>
        <p:grpSpPr bwMode="auto">
          <a:xfrm>
            <a:off x="1734730" y="1858963"/>
            <a:ext cx="3830320" cy="4474185"/>
            <a:chOff x="739" y="1072"/>
            <a:chExt cx="1611" cy="2349"/>
          </a:xfrm>
        </p:grpSpPr>
        <p:sp>
          <p:nvSpPr>
            <p:cNvPr id="37" name="Rectangle 16">
              <a:extLst>
                <a:ext uri="{FF2B5EF4-FFF2-40B4-BE49-F238E27FC236}">
                  <a16:creationId xmlns:a16="http://schemas.microsoft.com/office/drawing/2014/main" id="{5DCC8D94-684B-9578-0D1B-B60C6A329391}"/>
                </a:ext>
              </a:extLst>
            </p:cNvPr>
            <p:cNvSpPr>
              <a:spLocks noChangeArrowheads="1"/>
            </p:cNvSpPr>
            <p:nvPr/>
          </p:nvSpPr>
          <p:spPr bwMode="auto">
            <a:xfrm>
              <a:off x="739" y="1074"/>
              <a:ext cx="1611" cy="2347"/>
            </a:xfrm>
            <a:prstGeom prst="rect">
              <a:avLst/>
            </a:prstGeom>
            <a:solidFill>
              <a:srgbClr val="66CCFF"/>
            </a:solidFill>
            <a:ln w="12700">
              <a:solidFill>
                <a:schemeClr val="tx1"/>
              </a:solidFill>
              <a:miter lim="800000"/>
              <a:headEnd/>
              <a:tailEnd type="none" w="sm" len="sm"/>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5000"/>
                </a:lnSpc>
                <a:buFont typeface="Wingdings" panose="05000000000000000000" pitchFamily="2" charset="2"/>
                <a:buNone/>
              </a:pPr>
              <a:endParaRPr lang="en-US" altLang="en-US" sz="1600">
                <a:latin typeface="Roboto" panose="02000000000000000000" pitchFamily="2" charset="0"/>
                <a:ea typeface="Roboto" panose="02000000000000000000" pitchFamily="2" charset="0"/>
              </a:endParaRPr>
            </a:p>
          </p:txBody>
        </p:sp>
        <p:sp>
          <p:nvSpPr>
            <p:cNvPr id="38" name="Text Box 17">
              <a:extLst>
                <a:ext uri="{FF2B5EF4-FFF2-40B4-BE49-F238E27FC236}">
                  <a16:creationId xmlns:a16="http://schemas.microsoft.com/office/drawing/2014/main" id="{A3D6DDC5-B3F8-4538-FD1D-CE141F533FF3}"/>
                </a:ext>
              </a:extLst>
            </p:cNvPr>
            <p:cNvSpPr txBox="1">
              <a:spLocks noChangeArrowheads="1"/>
            </p:cNvSpPr>
            <p:nvPr/>
          </p:nvSpPr>
          <p:spPr bwMode="auto">
            <a:xfrm>
              <a:off x="1916" y="1130"/>
              <a:ext cx="344" cy="1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600">
                  <a:latin typeface="Roboto" panose="02000000000000000000" pitchFamily="2" charset="0"/>
                  <a:ea typeface="Roboto" panose="02000000000000000000" pitchFamily="2" charset="0"/>
                </a:rPr>
                <a:t>&lt;Date&gt;</a:t>
              </a:r>
            </a:p>
          </p:txBody>
        </p:sp>
        <p:sp>
          <p:nvSpPr>
            <p:cNvPr id="39" name="Text Box 18">
              <a:extLst>
                <a:ext uri="{FF2B5EF4-FFF2-40B4-BE49-F238E27FC236}">
                  <a16:creationId xmlns:a16="http://schemas.microsoft.com/office/drawing/2014/main" id="{7048588E-9BCC-6569-460D-C0A20DFDB41E}"/>
                </a:ext>
              </a:extLst>
            </p:cNvPr>
            <p:cNvSpPr txBox="1">
              <a:spLocks noChangeArrowheads="1"/>
            </p:cNvSpPr>
            <p:nvPr/>
          </p:nvSpPr>
          <p:spPr bwMode="auto">
            <a:xfrm>
              <a:off x="1888" y="2886"/>
              <a:ext cx="395" cy="1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600">
                  <a:latin typeface="Roboto" panose="02000000000000000000" pitchFamily="2" charset="0"/>
                  <a:ea typeface="Roboto" panose="02000000000000000000" pitchFamily="2" charset="0"/>
                </a:rPr>
                <a:t>&lt;Name&gt;</a:t>
              </a:r>
            </a:p>
          </p:txBody>
        </p:sp>
        <p:sp>
          <p:nvSpPr>
            <p:cNvPr id="40" name="Text Box 19">
              <a:extLst>
                <a:ext uri="{FF2B5EF4-FFF2-40B4-BE49-F238E27FC236}">
                  <a16:creationId xmlns:a16="http://schemas.microsoft.com/office/drawing/2014/main" id="{967C2E6F-ECD5-A3ED-42E3-E8EBB93BC2F0}"/>
                </a:ext>
              </a:extLst>
            </p:cNvPr>
            <p:cNvSpPr txBox="1">
              <a:spLocks noChangeArrowheads="1"/>
            </p:cNvSpPr>
            <p:nvPr/>
          </p:nvSpPr>
          <p:spPr bwMode="auto">
            <a:xfrm>
              <a:off x="787" y="1072"/>
              <a:ext cx="304" cy="2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600" dirty="0">
                  <a:latin typeface="Roboto" panose="02000000000000000000" pitchFamily="2" charset="0"/>
                  <a:ea typeface="Roboto" panose="02000000000000000000" pitchFamily="2" charset="0"/>
                </a:rPr>
                <a:t>CARD</a:t>
              </a:r>
            </a:p>
            <a:p>
              <a:pPr algn="ctr">
                <a:lnSpc>
                  <a:spcPct val="80000"/>
                </a:lnSpc>
                <a:spcBef>
                  <a:spcPct val="20000"/>
                </a:spcBef>
                <a:spcAft>
                  <a:spcPct val="0"/>
                </a:spcAft>
                <a:buClrTx/>
                <a:buSzTx/>
                <a:buFontTx/>
                <a:buNone/>
              </a:pPr>
              <a:r>
                <a:rPr lang="en-US" altLang="en-US" sz="1600" dirty="0">
                  <a:latin typeface="Roboto" panose="02000000000000000000" pitchFamily="2" charset="0"/>
                  <a:ea typeface="Roboto" panose="02000000000000000000" pitchFamily="2" charset="0"/>
                </a:rPr>
                <a:t>#</a:t>
              </a:r>
            </a:p>
          </p:txBody>
        </p:sp>
        <p:sp>
          <p:nvSpPr>
            <p:cNvPr id="41" name="Text Box 20">
              <a:extLst>
                <a:ext uri="{FF2B5EF4-FFF2-40B4-BE49-F238E27FC236}">
                  <a16:creationId xmlns:a16="http://schemas.microsoft.com/office/drawing/2014/main" id="{9BDFE9BC-8F78-9608-3BD5-75024397725B}"/>
                </a:ext>
              </a:extLst>
            </p:cNvPr>
            <p:cNvSpPr txBox="1">
              <a:spLocks noChangeArrowheads="1"/>
            </p:cNvSpPr>
            <p:nvPr/>
          </p:nvSpPr>
          <p:spPr bwMode="auto">
            <a:xfrm>
              <a:off x="831" y="2887"/>
              <a:ext cx="571" cy="1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600">
                  <a:latin typeface="Roboto" panose="02000000000000000000" pitchFamily="2" charset="0"/>
                  <a:ea typeface="Roboto" panose="02000000000000000000" pitchFamily="2" charset="0"/>
                </a:rPr>
                <a:t>FACT Card #</a:t>
              </a:r>
            </a:p>
          </p:txBody>
        </p:sp>
        <p:sp>
          <p:nvSpPr>
            <p:cNvPr id="42" name="Rectangle 21">
              <a:extLst>
                <a:ext uri="{FF2B5EF4-FFF2-40B4-BE49-F238E27FC236}">
                  <a16:creationId xmlns:a16="http://schemas.microsoft.com/office/drawing/2014/main" id="{61C4BCC9-AF01-58D7-976E-131A7078CC14}"/>
                </a:ext>
              </a:extLst>
            </p:cNvPr>
            <p:cNvSpPr>
              <a:spLocks noChangeArrowheads="1"/>
            </p:cNvSpPr>
            <p:nvPr/>
          </p:nvSpPr>
          <p:spPr bwMode="auto">
            <a:xfrm>
              <a:off x="804" y="1366"/>
              <a:ext cx="1480" cy="1477"/>
            </a:xfrm>
            <a:prstGeom prst="rect">
              <a:avLst/>
            </a:prstGeom>
            <a:solidFill>
              <a:srgbClr val="66CCFF"/>
            </a:solidFill>
            <a:ln w="12700">
              <a:solidFill>
                <a:schemeClr val="tx1"/>
              </a:solidFill>
              <a:miter lim="800000"/>
              <a:headEnd/>
              <a:tailEnd type="none" w="sm" len="sm"/>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900">
                <a:solidFill>
                  <a:schemeClr val="bg1"/>
                </a:solidFill>
                <a:latin typeface="Roboto" panose="02000000000000000000" pitchFamily="2" charset="0"/>
                <a:ea typeface="Roboto" panose="02000000000000000000" pitchFamily="2" charset="0"/>
              </a:endParaRPr>
            </a:p>
          </p:txBody>
        </p:sp>
        <p:sp>
          <p:nvSpPr>
            <p:cNvPr id="43" name="Text Box 22">
              <a:extLst>
                <a:ext uri="{FF2B5EF4-FFF2-40B4-BE49-F238E27FC236}">
                  <a16:creationId xmlns:a16="http://schemas.microsoft.com/office/drawing/2014/main" id="{4BEDEDCA-BFCB-C40E-65CB-92182D0686FF}"/>
                </a:ext>
              </a:extLst>
            </p:cNvPr>
            <p:cNvSpPr txBox="1">
              <a:spLocks noChangeArrowheads="1"/>
            </p:cNvSpPr>
            <p:nvPr/>
          </p:nvSpPr>
          <p:spPr bwMode="auto">
            <a:xfrm>
              <a:off x="909" y="1570"/>
              <a:ext cx="1280" cy="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600">
                  <a:latin typeface="Roboto" panose="02000000000000000000" pitchFamily="2" charset="0"/>
                  <a:ea typeface="Roboto" panose="02000000000000000000" pitchFamily="2" charset="0"/>
                </a:rPr>
                <a:t>&lt;Countermeasure Description&gt;</a:t>
              </a:r>
            </a:p>
            <a:p>
              <a:pPr algn="ctr">
                <a:lnSpc>
                  <a:spcPct val="80000"/>
                </a:lnSpc>
                <a:spcBef>
                  <a:spcPct val="20000"/>
                </a:spcBef>
                <a:spcAft>
                  <a:spcPct val="0"/>
                </a:spcAft>
                <a:buClrTx/>
                <a:buSzTx/>
                <a:buFontTx/>
                <a:buNone/>
              </a:pPr>
              <a:endParaRPr lang="en-US" altLang="en-US" sz="1600">
                <a:latin typeface="Roboto" panose="02000000000000000000" pitchFamily="2" charset="0"/>
                <a:ea typeface="Roboto" panose="02000000000000000000" pitchFamily="2" charset="0"/>
              </a:endParaRPr>
            </a:p>
            <a:p>
              <a:pPr algn="ctr">
                <a:lnSpc>
                  <a:spcPct val="80000"/>
                </a:lnSpc>
                <a:spcBef>
                  <a:spcPct val="20000"/>
                </a:spcBef>
                <a:spcAft>
                  <a:spcPct val="0"/>
                </a:spcAft>
                <a:buClrTx/>
                <a:buSzTx/>
                <a:buFontTx/>
                <a:buNone/>
              </a:pPr>
              <a:r>
                <a:rPr lang="en-US" altLang="en-US" sz="1600">
                  <a:latin typeface="Roboto" panose="02000000000000000000" pitchFamily="2" charset="0"/>
                  <a:ea typeface="Roboto" panose="02000000000000000000" pitchFamily="2" charset="0"/>
                </a:rPr>
                <a:t>(</a:t>
              </a:r>
              <a:r>
                <a:rPr lang="en-US" altLang="en-US" sz="1600" u="sng">
                  <a:latin typeface="Roboto" panose="02000000000000000000" pitchFamily="2" charset="0"/>
                  <a:ea typeface="Roboto" panose="02000000000000000000" pitchFamily="2" charset="0"/>
                </a:rPr>
                <a:t>Detailed</a:t>
              </a:r>
              <a:r>
                <a:rPr lang="en-US" altLang="en-US" sz="1600">
                  <a:latin typeface="Roboto" panose="02000000000000000000" pitchFamily="2" charset="0"/>
                  <a:ea typeface="Roboto" panose="02000000000000000000" pitchFamily="2" charset="0"/>
                </a:rPr>
                <a:t> Text)</a:t>
              </a:r>
            </a:p>
          </p:txBody>
        </p:sp>
        <p:sp>
          <p:nvSpPr>
            <p:cNvPr id="44" name="Rectangle 23">
              <a:extLst>
                <a:ext uri="{FF2B5EF4-FFF2-40B4-BE49-F238E27FC236}">
                  <a16:creationId xmlns:a16="http://schemas.microsoft.com/office/drawing/2014/main" id="{AF95CB45-D915-37BF-0E40-9025A29CC122}"/>
                </a:ext>
              </a:extLst>
            </p:cNvPr>
            <p:cNvSpPr>
              <a:spLocks noChangeArrowheads="1"/>
            </p:cNvSpPr>
            <p:nvPr/>
          </p:nvSpPr>
          <p:spPr bwMode="auto">
            <a:xfrm>
              <a:off x="756" y="3057"/>
              <a:ext cx="1562" cy="350"/>
            </a:xfrm>
            <a:prstGeom prst="rect">
              <a:avLst/>
            </a:prstGeom>
            <a:solidFill>
              <a:srgbClr val="66CCFF"/>
            </a:solidFill>
            <a:ln w="12700">
              <a:solidFill>
                <a:schemeClr val="tx1"/>
              </a:solidFill>
              <a:miter lim="800000"/>
              <a:headEnd/>
              <a:tailEnd type="none" w="sm" len="sm"/>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900">
                <a:solidFill>
                  <a:schemeClr val="bg1"/>
                </a:solidFill>
                <a:latin typeface="Roboto" panose="02000000000000000000" pitchFamily="2" charset="0"/>
                <a:ea typeface="Roboto" panose="02000000000000000000" pitchFamily="2" charset="0"/>
              </a:endParaRPr>
            </a:p>
          </p:txBody>
        </p:sp>
        <p:sp>
          <p:nvSpPr>
            <p:cNvPr id="45" name="Oval 24">
              <a:extLst>
                <a:ext uri="{FF2B5EF4-FFF2-40B4-BE49-F238E27FC236}">
                  <a16:creationId xmlns:a16="http://schemas.microsoft.com/office/drawing/2014/main" id="{27C7357F-9CB2-9D18-2AF9-43A7AAFEFD45}"/>
                </a:ext>
              </a:extLst>
            </p:cNvPr>
            <p:cNvSpPr>
              <a:spLocks noChangeArrowheads="1"/>
            </p:cNvSpPr>
            <p:nvPr/>
          </p:nvSpPr>
          <p:spPr bwMode="auto">
            <a:xfrm>
              <a:off x="1116" y="3099"/>
              <a:ext cx="250" cy="263"/>
            </a:xfrm>
            <a:prstGeom prst="ellipse">
              <a:avLst/>
            </a:prstGeom>
            <a:noFill/>
            <a:ln w="9525">
              <a:solidFill>
                <a:schemeClr val="tx1"/>
              </a:solidFill>
              <a:prstDash val="dash"/>
              <a:round/>
              <a:headEnd/>
              <a:tailEnd type="none" w="sm" len="sm"/>
            </a:ln>
            <a:extLst>
              <a:ext uri="{909E8E84-426E-40DD-AFC4-6F175D3DCCD1}">
                <a14:hiddenFill xmlns:a14="http://schemas.microsoft.com/office/drawing/2010/main">
                  <a:solidFill>
                    <a:srgbClr val="FFFFFF"/>
                  </a:solidFill>
                </a14:hiddenFill>
              </a:ext>
            </a:extLst>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5000"/>
                </a:lnSpc>
                <a:buFont typeface="Wingdings" panose="05000000000000000000" pitchFamily="2" charset="2"/>
                <a:buNone/>
              </a:pPr>
              <a:endParaRPr lang="en-US" altLang="en-US" sz="1600">
                <a:latin typeface="Roboto" panose="02000000000000000000" pitchFamily="2" charset="0"/>
                <a:ea typeface="Roboto" panose="02000000000000000000" pitchFamily="2" charset="0"/>
              </a:endParaRPr>
            </a:p>
          </p:txBody>
        </p:sp>
        <p:sp>
          <p:nvSpPr>
            <p:cNvPr id="46" name="Oval 25">
              <a:extLst>
                <a:ext uri="{FF2B5EF4-FFF2-40B4-BE49-F238E27FC236}">
                  <a16:creationId xmlns:a16="http://schemas.microsoft.com/office/drawing/2014/main" id="{1921CF9F-0835-7857-139A-09CCEDA1D195}"/>
                </a:ext>
              </a:extLst>
            </p:cNvPr>
            <p:cNvSpPr>
              <a:spLocks noChangeArrowheads="1"/>
            </p:cNvSpPr>
            <p:nvPr/>
          </p:nvSpPr>
          <p:spPr bwMode="auto">
            <a:xfrm>
              <a:off x="1415" y="3095"/>
              <a:ext cx="250" cy="263"/>
            </a:xfrm>
            <a:prstGeom prst="ellipse">
              <a:avLst/>
            </a:prstGeom>
            <a:noFill/>
            <a:ln w="9525">
              <a:solidFill>
                <a:schemeClr val="tx1"/>
              </a:solidFill>
              <a:prstDash val="dash"/>
              <a:round/>
              <a:headEnd/>
              <a:tailEnd type="none" w="sm" len="sm"/>
            </a:ln>
            <a:extLst>
              <a:ext uri="{909E8E84-426E-40DD-AFC4-6F175D3DCCD1}">
                <a14:hiddenFill xmlns:a14="http://schemas.microsoft.com/office/drawing/2010/main">
                  <a:solidFill>
                    <a:srgbClr val="FFFFFF"/>
                  </a:solidFill>
                </a14:hiddenFill>
              </a:ext>
            </a:extLst>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5000"/>
                </a:lnSpc>
                <a:buFont typeface="Wingdings" panose="05000000000000000000" pitchFamily="2" charset="2"/>
                <a:buNone/>
              </a:pPr>
              <a:endParaRPr lang="en-US" altLang="en-US" sz="1600">
                <a:latin typeface="Roboto" panose="02000000000000000000" pitchFamily="2" charset="0"/>
                <a:ea typeface="Roboto" panose="02000000000000000000" pitchFamily="2" charset="0"/>
              </a:endParaRPr>
            </a:p>
          </p:txBody>
        </p:sp>
        <p:sp>
          <p:nvSpPr>
            <p:cNvPr id="47" name="Oval 26">
              <a:extLst>
                <a:ext uri="{FF2B5EF4-FFF2-40B4-BE49-F238E27FC236}">
                  <a16:creationId xmlns:a16="http://schemas.microsoft.com/office/drawing/2014/main" id="{BC4A6714-7BC7-CE5C-3BB1-8F1C2BB9A6CD}"/>
                </a:ext>
              </a:extLst>
            </p:cNvPr>
            <p:cNvSpPr>
              <a:spLocks noChangeArrowheads="1"/>
            </p:cNvSpPr>
            <p:nvPr/>
          </p:nvSpPr>
          <p:spPr bwMode="auto">
            <a:xfrm>
              <a:off x="1709" y="3091"/>
              <a:ext cx="250" cy="263"/>
            </a:xfrm>
            <a:prstGeom prst="ellipse">
              <a:avLst/>
            </a:prstGeom>
            <a:noFill/>
            <a:ln w="9525">
              <a:solidFill>
                <a:schemeClr val="tx1"/>
              </a:solidFill>
              <a:prstDash val="dash"/>
              <a:round/>
              <a:headEnd/>
              <a:tailEnd type="none" w="sm" len="sm"/>
            </a:ln>
            <a:extLst>
              <a:ext uri="{909E8E84-426E-40DD-AFC4-6F175D3DCCD1}">
                <a14:hiddenFill xmlns:a14="http://schemas.microsoft.com/office/drawing/2010/main">
                  <a:solidFill>
                    <a:srgbClr val="FFFFFF"/>
                  </a:solidFill>
                </a14:hiddenFill>
              </a:ext>
            </a:extLst>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5000"/>
                </a:lnSpc>
                <a:buFont typeface="Wingdings" panose="05000000000000000000" pitchFamily="2" charset="2"/>
                <a:buNone/>
              </a:pPr>
              <a:endParaRPr lang="en-US" altLang="en-US" sz="1600">
                <a:latin typeface="Roboto" panose="02000000000000000000" pitchFamily="2" charset="0"/>
                <a:ea typeface="Roboto" panose="02000000000000000000" pitchFamily="2" charset="0"/>
              </a:endParaRPr>
            </a:p>
          </p:txBody>
        </p:sp>
      </p:grpSp>
      <p:sp>
        <p:nvSpPr>
          <p:cNvPr id="48" name="AutoShape 11">
            <a:extLst>
              <a:ext uri="{FF2B5EF4-FFF2-40B4-BE49-F238E27FC236}">
                <a16:creationId xmlns:a16="http://schemas.microsoft.com/office/drawing/2014/main" id="{B69C20E8-9812-E184-613C-88A13D881F11}"/>
              </a:ext>
            </a:extLst>
          </p:cNvPr>
          <p:cNvSpPr>
            <a:spLocks noChangeArrowheads="1"/>
          </p:cNvSpPr>
          <p:nvPr/>
        </p:nvSpPr>
        <p:spPr bwMode="auto">
          <a:xfrm>
            <a:off x="6180927" y="2578603"/>
            <a:ext cx="285750" cy="2493963"/>
          </a:xfrm>
          <a:prstGeom prst="rightArrow">
            <a:avLst>
              <a:gd name="adj1" fmla="val 67278"/>
              <a:gd name="adj2" fmla="val 72222"/>
            </a:avLst>
          </a:prstGeom>
          <a:solidFill>
            <a:schemeClr val="accent1"/>
          </a:solidFill>
          <a:ln w="19050" cap="sq">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5000"/>
              </a:lnSpc>
              <a:buFont typeface="Wingdings" panose="05000000000000000000" pitchFamily="2" charset="2"/>
              <a:buNone/>
            </a:pPr>
            <a:endParaRPr lang="en-US" altLang="en-US" sz="1600"/>
          </a:p>
        </p:txBody>
      </p:sp>
    </p:spTree>
    <p:extLst>
      <p:ext uri="{BB962C8B-B14F-4D97-AF65-F5344CB8AC3E}">
        <p14:creationId xmlns:p14="http://schemas.microsoft.com/office/powerpoint/2010/main" val="105780960"/>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normAutofit/>
          </a:bodyPr>
          <a:lstStyle/>
          <a:p>
            <a:r>
              <a:rPr lang="en-US" sz="4000" dirty="0"/>
              <a:t>IMPROVEMENT Cards</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71</a:t>
            </a:fld>
            <a:endParaRPr lang="en-US"/>
          </a:p>
        </p:txBody>
      </p:sp>
      <p:grpSp>
        <p:nvGrpSpPr>
          <p:cNvPr id="3" name="Group 2">
            <a:extLst>
              <a:ext uri="{FF2B5EF4-FFF2-40B4-BE49-F238E27FC236}">
                <a16:creationId xmlns:a16="http://schemas.microsoft.com/office/drawing/2014/main" id="{E97954FD-5532-68CF-E2C8-28FD968BC9FA}"/>
              </a:ext>
            </a:extLst>
          </p:cNvPr>
          <p:cNvGrpSpPr/>
          <p:nvPr/>
        </p:nvGrpSpPr>
        <p:grpSpPr>
          <a:xfrm>
            <a:off x="838200" y="297639"/>
            <a:ext cx="4351020" cy="307138"/>
            <a:chOff x="838200" y="297639"/>
            <a:chExt cx="4351020" cy="307138"/>
          </a:xfrm>
        </p:grpSpPr>
        <p:grpSp>
          <p:nvGrpSpPr>
            <p:cNvPr id="10" name="Group 9">
              <a:extLst>
                <a:ext uri="{FF2B5EF4-FFF2-40B4-BE49-F238E27FC236}">
                  <a16:creationId xmlns:a16="http://schemas.microsoft.com/office/drawing/2014/main" id="{AB8BC015-69F1-E60F-565F-950188138F89}"/>
                </a:ext>
              </a:extLst>
            </p:cNvPr>
            <p:cNvGrpSpPr/>
            <p:nvPr/>
          </p:nvGrpSpPr>
          <p:grpSpPr>
            <a:xfrm>
              <a:off x="838200" y="297639"/>
              <a:ext cx="1687517" cy="290657"/>
              <a:chOff x="838200" y="297639"/>
              <a:chExt cx="1687517" cy="290657"/>
            </a:xfrm>
          </p:grpSpPr>
          <p:sp>
            <p:nvSpPr>
              <p:cNvPr id="23" name="AutoShape 9">
                <a:extLst>
                  <a:ext uri="{FF2B5EF4-FFF2-40B4-BE49-F238E27FC236}">
                    <a16:creationId xmlns:a16="http://schemas.microsoft.com/office/drawing/2014/main" id="{C81E2195-2C4C-A6F6-8055-EF2182DC1BAA}"/>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31" name="AutoShape 9">
                <a:extLst>
                  <a:ext uri="{FF2B5EF4-FFF2-40B4-BE49-F238E27FC236}">
                    <a16:creationId xmlns:a16="http://schemas.microsoft.com/office/drawing/2014/main" id="{D0790997-B5AC-E09B-B2DC-B8CEBBE9265F}"/>
                  </a:ext>
                </a:extLst>
              </p:cNvPr>
              <p:cNvSpPr>
                <a:spLocks noChangeArrowheads="1"/>
              </p:cNvSpPr>
              <p:nvPr/>
            </p:nvSpPr>
            <p:spPr bwMode="auto">
              <a:xfrm>
                <a:off x="1779225" y="297639"/>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nvGrpSpPr>
              <p:cNvPr id="32" name="Group 31">
                <a:extLst>
                  <a:ext uri="{FF2B5EF4-FFF2-40B4-BE49-F238E27FC236}">
                    <a16:creationId xmlns:a16="http://schemas.microsoft.com/office/drawing/2014/main" id="{6B9A7614-672A-8105-4EAC-A6E1ADB82921}"/>
                  </a:ext>
                </a:extLst>
              </p:cNvPr>
              <p:cNvGrpSpPr/>
              <p:nvPr/>
            </p:nvGrpSpPr>
            <p:grpSpPr>
              <a:xfrm>
                <a:off x="838200" y="297639"/>
                <a:ext cx="1060167" cy="290657"/>
                <a:chOff x="826426" y="4041857"/>
                <a:chExt cx="1060167" cy="290657"/>
              </a:xfrm>
            </p:grpSpPr>
            <p:sp>
              <p:nvSpPr>
                <p:cNvPr id="33" name="AutoShape 9">
                  <a:extLst>
                    <a:ext uri="{FF2B5EF4-FFF2-40B4-BE49-F238E27FC236}">
                      <a16:creationId xmlns:a16="http://schemas.microsoft.com/office/drawing/2014/main" id="{1BA86E4A-7180-C8DA-8A50-1905486194E5}"/>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34" name="AutoShape 11">
                  <a:extLst>
                    <a:ext uri="{FF2B5EF4-FFF2-40B4-BE49-F238E27FC236}">
                      <a16:creationId xmlns:a16="http://schemas.microsoft.com/office/drawing/2014/main" id="{47DDA634-62DE-5801-F59F-AFED99542997}"/>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35" name="AutoShape 10">
                  <a:extLst>
                    <a:ext uri="{FF2B5EF4-FFF2-40B4-BE49-F238E27FC236}">
                      <a16:creationId xmlns:a16="http://schemas.microsoft.com/office/drawing/2014/main" id="{52AB551B-8631-1E25-479A-BEF0B5A084FF}"/>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11" name="TextBox 10">
              <a:extLst>
                <a:ext uri="{FF2B5EF4-FFF2-40B4-BE49-F238E27FC236}">
                  <a16:creationId xmlns:a16="http://schemas.microsoft.com/office/drawing/2014/main" id="{6CCBB6CA-F4EA-8315-B711-04E047CCCAF0}"/>
                </a:ext>
              </a:extLst>
            </p:cNvPr>
            <p:cNvSpPr txBox="1"/>
            <p:nvPr/>
          </p:nvSpPr>
          <p:spPr>
            <a:xfrm>
              <a:off x="2525717" y="313415"/>
              <a:ext cx="266350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CEDAC Problem Solution</a:t>
              </a:r>
            </a:p>
          </p:txBody>
        </p:sp>
      </p:grpSp>
      <p:grpSp>
        <p:nvGrpSpPr>
          <p:cNvPr id="36" name="Group 15">
            <a:extLst>
              <a:ext uri="{FF2B5EF4-FFF2-40B4-BE49-F238E27FC236}">
                <a16:creationId xmlns:a16="http://schemas.microsoft.com/office/drawing/2014/main" id="{5AF6A7FA-DD08-9BF9-E59A-C853D37DB8A3}"/>
              </a:ext>
            </a:extLst>
          </p:cNvPr>
          <p:cNvGrpSpPr>
            <a:grpSpLocks/>
          </p:cNvGrpSpPr>
          <p:nvPr/>
        </p:nvGrpSpPr>
        <p:grpSpPr bwMode="auto">
          <a:xfrm>
            <a:off x="2634762" y="1858963"/>
            <a:ext cx="3830320" cy="4474185"/>
            <a:chOff x="739" y="1072"/>
            <a:chExt cx="1611" cy="2349"/>
          </a:xfrm>
        </p:grpSpPr>
        <p:sp>
          <p:nvSpPr>
            <p:cNvPr id="37" name="Rectangle 16">
              <a:extLst>
                <a:ext uri="{FF2B5EF4-FFF2-40B4-BE49-F238E27FC236}">
                  <a16:creationId xmlns:a16="http://schemas.microsoft.com/office/drawing/2014/main" id="{5DCC8D94-684B-9578-0D1B-B60C6A329391}"/>
                </a:ext>
              </a:extLst>
            </p:cNvPr>
            <p:cNvSpPr>
              <a:spLocks noChangeArrowheads="1"/>
            </p:cNvSpPr>
            <p:nvPr/>
          </p:nvSpPr>
          <p:spPr bwMode="auto">
            <a:xfrm>
              <a:off x="739" y="1074"/>
              <a:ext cx="1611" cy="2347"/>
            </a:xfrm>
            <a:prstGeom prst="rect">
              <a:avLst/>
            </a:prstGeom>
            <a:solidFill>
              <a:srgbClr val="66CCFF"/>
            </a:solidFill>
            <a:ln w="12700">
              <a:solidFill>
                <a:schemeClr val="tx1"/>
              </a:solidFill>
              <a:miter lim="800000"/>
              <a:headEnd/>
              <a:tailEnd type="none" w="sm" len="sm"/>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5000"/>
                </a:lnSpc>
                <a:buFont typeface="Wingdings" panose="05000000000000000000" pitchFamily="2" charset="2"/>
                <a:buNone/>
              </a:pPr>
              <a:endParaRPr lang="en-US" altLang="en-US" sz="1600">
                <a:latin typeface="Roboto" panose="02000000000000000000" pitchFamily="2" charset="0"/>
                <a:ea typeface="Roboto" panose="02000000000000000000" pitchFamily="2" charset="0"/>
              </a:endParaRPr>
            </a:p>
          </p:txBody>
        </p:sp>
        <p:sp>
          <p:nvSpPr>
            <p:cNvPr id="38" name="Text Box 17">
              <a:extLst>
                <a:ext uri="{FF2B5EF4-FFF2-40B4-BE49-F238E27FC236}">
                  <a16:creationId xmlns:a16="http://schemas.microsoft.com/office/drawing/2014/main" id="{A3D6DDC5-B3F8-4538-FD1D-CE141F533FF3}"/>
                </a:ext>
              </a:extLst>
            </p:cNvPr>
            <p:cNvSpPr txBox="1">
              <a:spLocks noChangeArrowheads="1"/>
            </p:cNvSpPr>
            <p:nvPr/>
          </p:nvSpPr>
          <p:spPr bwMode="auto">
            <a:xfrm>
              <a:off x="1916" y="1130"/>
              <a:ext cx="344" cy="1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600">
                  <a:latin typeface="Roboto" panose="02000000000000000000" pitchFamily="2" charset="0"/>
                  <a:ea typeface="Roboto" panose="02000000000000000000" pitchFamily="2" charset="0"/>
                </a:rPr>
                <a:t>&lt;Date&gt;</a:t>
              </a:r>
            </a:p>
          </p:txBody>
        </p:sp>
        <p:sp>
          <p:nvSpPr>
            <p:cNvPr id="39" name="Text Box 18">
              <a:extLst>
                <a:ext uri="{FF2B5EF4-FFF2-40B4-BE49-F238E27FC236}">
                  <a16:creationId xmlns:a16="http://schemas.microsoft.com/office/drawing/2014/main" id="{7048588E-9BCC-6569-460D-C0A20DFDB41E}"/>
                </a:ext>
              </a:extLst>
            </p:cNvPr>
            <p:cNvSpPr txBox="1">
              <a:spLocks noChangeArrowheads="1"/>
            </p:cNvSpPr>
            <p:nvPr/>
          </p:nvSpPr>
          <p:spPr bwMode="auto">
            <a:xfrm>
              <a:off x="1888" y="2886"/>
              <a:ext cx="395" cy="1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600">
                  <a:latin typeface="Roboto" panose="02000000000000000000" pitchFamily="2" charset="0"/>
                  <a:ea typeface="Roboto" panose="02000000000000000000" pitchFamily="2" charset="0"/>
                </a:rPr>
                <a:t>&lt;Name&gt;</a:t>
              </a:r>
            </a:p>
          </p:txBody>
        </p:sp>
        <p:sp>
          <p:nvSpPr>
            <p:cNvPr id="40" name="Text Box 19">
              <a:extLst>
                <a:ext uri="{FF2B5EF4-FFF2-40B4-BE49-F238E27FC236}">
                  <a16:creationId xmlns:a16="http://schemas.microsoft.com/office/drawing/2014/main" id="{967C2E6F-ECD5-A3ED-42E3-E8EBB93BC2F0}"/>
                </a:ext>
              </a:extLst>
            </p:cNvPr>
            <p:cNvSpPr txBox="1">
              <a:spLocks noChangeArrowheads="1"/>
            </p:cNvSpPr>
            <p:nvPr/>
          </p:nvSpPr>
          <p:spPr bwMode="auto">
            <a:xfrm>
              <a:off x="787" y="1072"/>
              <a:ext cx="304" cy="2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600" dirty="0">
                  <a:latin typeface="Roboto" panose="02000000000000000000" pitchFamily="2" charset="0"/>
                  <a:ea typeface="Roboto" panose="02000000000000000000" pitchFamily="2" charset="0"/>
                </a:rPr>
                <a:t>CARD</a:t>
              </a:r>
            </a:p>
            <a:p>
              <a:pPr algn="ctr">
                <a:lnSpc>
                  <a:spcPct val="80000"/>
                </a:lnSpc>
                <a:spcBef>
                  <a:spcPct val="20000"/>
                </a:spcBef>
                <a:spcAft>
                  <a:spcPct val="0"/>
                </a:spcAft>
                <a:buClrTx/>
                <a:buSzTx/>
                <a:buFontTx/>
                <a:buNone/>
              </a:pPr>
              <a:r>
                <a:rPr lang="en-US" altLang="en-US" sz="1600" dirty="0">
                  <a:latin typeface="Roboto" panose="02000000000000000000" pitchFamily="2" charset="0"/>
                  <a:ea typeface="Roboto" panose="02000000000000000000" pitchFamily="2" charset="0"/>
                </a:rPr>
                <a:t>#</a:t>
              </a:r>
            </a:p>
          </p:txBody>
        </p:sp>
        <p:sp>
          <p:nvSpPr>
            <p:cNvPr id="41" name="Text Box 20">
              <a:extLst>
                <a:ext uri="{FF2B5EF4-FFF2-40B4-BE49-F238E27FC236}">
                  <a16:creationId xmlns:a16="http://schemas.microsoft.com/office/drawing/2014/main" id="{9BDFE9BC-8F78-9608-3BD5-75024397725B}"/>
                </a:ext>
              </a:extLst>
            </p:cNvPr>
            <p:cNvSpPr txBox="1">
              <a:spLocks noChangeArrowheads="1"/>
            </p:cNvSpPr>
            <p:nvPr/>
          </p:nvSpPr>
          <p:spPr bwMode="auto">
            <a:xfrm>
              <a:off x="831" y="2887"/>
              <a:ext cx="571" cy="1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600">
                  <a:latin typeface="Roboto" panose="02000000000000000000" pitchFamily="2" charset="0"/>
                  <a:ea typeface="Roboto" panose="02000000000000000000" pitchFamily="2" charset="0"/>
                </a:rPr>
                <a:t>FACT Card #</a:t>
              </a:r>
            </a:p>
          </p:txBody>
        </p:sp>
        <p:sp>
          <p:nvSpPr>
            <p:cNvPr id="42" name="Rectangle 21">
              <a:extLst>
                <a:ext uri="{FF2B5EF4-FFF2-40B4-BE49-F238E27FC236}">
                  <a16:creationId xmlns:a16="http://schemas.microsoft.com/office/drawing/2014/main" id="{61C4BCC9-AF01-58D7-976E-131A7078CC14}"/>
                </a:ext>
              </a:extLst>
            </p:cNvPr>
            <p:cNvSpPr>
              <a:spLocks noChangeArrowheads="1"/>
            </p:cNvSpPr>
            <p:nvPr/>
          </p:nvSpPr>
          <p:spPr bwMode="auto">
            <a:xfrm>
              <a:off x="804" y="1366"/>
              <a:ext cx="1480" cy="1477"/>
            </a:xfrm>
            <a:prstGeom prst="rect">
              <a:avLst/>
            </a:prstGeom>
            <a:solidFill>
              <a:srgbClr val="66CCFF"/>
            </a:solidFill>
            <a:ln w="12700">
              <a:solidFill>
                <a:schemeClr val="tx1"/>
              </a:solidFill>
              <a:miter lim="800000"/>
              <a:headEnd/>
              <a:tailEnd type="none" w="sm" len="sm"/>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900">
                <a:solidFill>
                  <a:schemeClr val="bg1"/>
                </a:solidFill>
                <a:latin typeface="Roboto" panose="02000000000000000000" pitchFamily="2" charset="0"/>
                <a:ea typeface="Roboto" panose="02000000000000000000" pitchFamily="2" charset="0"/>
              </a:endParaRPr>
            </a:p>
          </p:txBody>
        </p:sp>
        <p:sp>
          <p:nvSpPr>
            <p:cNvPr id="43" name="Text Box 22">
              <a:extLst>
                <a:ext uri="{FF2B5EF4-FFF2-40B4-BE49-F238E27FC236}">
                  <a16:creationId xmlns:a16="http://schemas.microsoft.com/office/drawing/2014/main" id="{4BEDEDCA-BFCB-C40E-65CB-92182D0686FF}"/>
                </a:ext>
              </a:extLst>
            </p:cNvPr>
            <p:cNvSpPr txBox="1">
              <a:spLocks noChangeArrowheads="1"/>
            </p:cNvSpPr>
            <p:nvPr/>
          </p:nvSpPr>
          <p:spPr bwMode="auto">
            <a:xfrm>
              <a:off x="909" y="1570"/>
              <a:ext cx="1280" cy="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600">
                  <a:latin typeface="Roboto" panose="02000000000000000000" pitchFamily="2" charset="0"/>
                  <a:ea typeface="Roboto" panose="02000000000000000000" pitchFamily="2" charset="0"/>
                </a:rPr>
                <a:t>&lt;Countermeasure Description&gt;</a:t>
              </a:r>
            </a:p>
            <a:p>
              <a:pPr algn="ctr">
                <a:lnSpc>
                  <a:spcPct val="80000"/>
                </a:lnSpc>
                <a:spcBef>
                  <a:spcPct val="20000"/>
                </a:spcBef>
                <a:spcAft>
                  <a:spcPct val="0"/>
                </a:spcAft>
                <a:buClrTx/>
                <a:buSzTx/>
                <a:buFontTx/>
                <a:buNone/>
              </a:pPr>
              <a:endParaRPr lang="en-US" altLang="en-US" sz="1600">
                <a:latin typeface="Roboto" panose="02000000000000000000" pitchFamily="2" charset="0"/>
                <a:ea typeface="Roboto" panose="02000000000000000000" pitchFamily="2" charset="0"/>
              </a:endParaRPr>
            </a:p>
            <a:p>
              <a:pPr algn="ctr">
                <a:lnSpc>
                  <a:spcPct val="80000"/>
                </a:lnSpc>
                <a:spcBef>
                  <a:spcPct val="20000"/>
                </a:spcBef>
                <a:spcAft>
                  <a:spcPct val="0"/>
                </a:spcAft>
                <a:buClrTx/>
                <a:buSzTx/>
                <a:buFontTx/>
                <a:buNone/>
              </a:pPr>
              <a:r>
                <a:rPr lang="en-US" altLang="en-US" sz="1600">
                  <a:latin typeface="Roboto" panose="02000000000000000000" pitchFamily="2" charset="0"/>
                  <a:ea typeface="Roboto" panose="02000000000000000000" pitchFamily="2" charset="0"/>
                </a:rPr>
                <a:t>(</a:t>
              </a:r>
              <a:r>
                <a:rPr lang="en-US" altLang="en-US" sz="1600" u="sng">
                  <a:latin typeface="Roboto" panose="02000000000000000000" pitchFamily="2" charset="0"/>
                  <a:ea typeface="Roboto" panose="02000000000000000000" pitchFamily="2" charset="0"/>
                </a:rPr>
                <a:t>Detailed</a:t>
              </a:r>
              <a:r>
                <a:rPr lang="en-US" altLang="en-US" sz="1600">
                  <a:latin typeface="Roboto" panose="02000000000000000000" pitchFamily="2" charset="0"/>
                  <a:ea typeface="Roboto" panose="02000000000000000000" pitchFamily="2" charset="0"/>
                </a:rPr>
                <a:t> Text)</a:t>
              </a:r>
            </a:p>
          </p:txBody>
        </p:sp>
        <p:sp>
          <p:nvSpPr>
            <p:cNvPr id="44" name="Rectangle 23">
              <a:extLst>
                <a:ext uri="{FF2B5EF4-FFF2-40B4-BE49-F238E27FC236}">
                  <a16:creationId xmlns:a16="http://schemas.microsoft.com/office/drawing/2014/main" id="{AF95CB45-D915-37BF-0E40-9025A29CC122}"/>
                </a:ext>
              </a:extLst>
            </p:cNvPr>
            <p:cNvSpPr>
              <a:spLocks noChangeArrowheads="1"/>
            </p:cNvSpPr>
            <p:nvPr/>
          </p:nvSpPr>
          <p:spPr bwMode="auto">
            <a:xfrm>
              <a:off x="756" y="3057"/>
              <a:ext cx="1562" cy="350"/>
            </a:xfrm>
            <a:prstGeom prst="rect">
              <a:avLst/>
            </a:prstGeom>
            <a:solidFill>
              <a:srgbClr val="66CCFF"/>
            </a:solidFill>
            <a:ln w="12700">
              <a:solidFill>
                <a:schemeClr val="tx1"/>
              </a:solidFill>
              <a:miter lim="800000"/>
              <a:headEnd/>
              <a:tailEnd type="none" w="sm" len="sm"/>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900">
                <a:solidFill>
                  <a:schemeClr val="bg1"/>
                </a:solidFill>
                <a:latin typeface="Roboto" panose="02000000000000000000" pitchFamily="2" charset="0"/>
                <a:ea typeface="Roboto" panose="02000000000000000000" pitchFamily="2" charset="0"/>
              </a:endParaRPr>
            </a:p>
          </p:txBody>
        </p:sp>
        <p:sp>
          <p:nvSpPr>
            <p:cNvPr id="45" name="Oval 24">
              <a:extLst>
                <a:ext uri="{FF2B5EF4-FFF2-40B4-BE49-F238E27FC236}">
                  <a16:creationId xmlns:a16="http://schemas.microsoft.com/office/drawing/2014/main" id="{27C7357F-9CB2-9D18-2AF9-43A7AAFEFD45}"/>
                </a:ext>
              </a:extLst>
            </p:cNvPr>
            <p:cNvSpPr>
              <a:spLocks noChangeArrowheads="1"/>
            </p:cNvSpPr>
            <p:nvPr/>
          </p:nvSpPr>
          <p:spPr bwMode="auto">
            <a:xfrm>
              <a:off x="1116" y="3099"/>
              <a:ext cx="250" cy="263"/>
            </a:xfrm>
            <a:prstGeom prst="ellipse">
              <a:avLst/>
            </a:prstGeom>
            <a:noFill/>
            <a:ln w="9525">
              <a:solidFill>
                <a:schemeClr val="tx1"/>
              </a:solidFill>
              <a:prstDash val="dash"/>
              <a:round/>
              <a:headEnd/>
              <a:tailEnd type="none" w="sm" len="sm"/>
            </a:ln>
            <a:extLst>
              <a:ext uri="{909E8E84-426E-40DD-AFC4-6F175D3DCCD1}">
                <a14:hiddenFill xmlns:a14="http://schemas.microsoft.com/office/drawing/2010/main">
                  <a:solidFill>
                    <a:srgbClr val="FFFFFF"/>
                  </a:solidFill>
                </a14:hiddenFill>
              </a:ext>
            </a:extLst>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5000"/>
                </a:lnSpc>
                <a:buFont typeface="Wingdings" panose="05000000000000000000" pitchFamily="2" charset="2"/>
                <a:buNone/>
              </a:pPr>
              <a:endParaRPr lang="en-US" altLang="en-US" sz="1600">
                <a:latin typeface="Roboto" panose="02000000000000000000" pitchFamily="2" charset="0"/>
                <a:ea typeface="Roboto" panose="02000000000000000000" pitchFamily="2" charset="0"/>
              </a:endParaRPr>
            </a:p>
          </p:txBody>
        </p:sp>
        <p:sp>
          <p:nvSpPr>
            <p:cNvPr id="46" name="Oval 25">
              <a:extLst>
                <a:ext uri="{FF2B5EF4-FFF2-40B4-BE49-F238E27FC236}">
                  <a16:creationId xmlns:a16="http://schemas.microsoft.com/office/drawing/2014/main" id="{1921CF9F-0835-7857-139A-09CCEDA1D195}"/>
                </a:ext>
              </a:extLst>
            </p:cNvPr>
            <p:cNvSpPr>
              <a:spLocks noChangeArrowheads="1"/>
            </p:cNvSpPr>
            <p:nvPr/>
          </p:nvSpPr>
          <p:spPr bwMode="auto">
            <a:xfrm>
              <a:off x="1415" y="3095"/>
              <a:ext cx="250" cy="263"/>
            </a:xfrm>
            <a:prstGeom prst="ellipse">
              <a:avLst/>
            </a:prstGeom>
            <a:noFill/>
            <a:ln w="9525">
              <a:solidFill>
                <a:schemeClr val="tx1"/>
              </a:solidFill>
              <a:prstDash val="dash"/>
              <a:round/>
              <a:headEnd/>
              <a:tailEnd type="none" w="sm" len="sm"/>
            </a:ln>
            <a:extLst>
              <a:ext uri="{909E8E84-426E-40DD-AFC4-6F175D3DCCD1}">
                <a14:hiddenFill xmlns:a14="http://schemas.microsoft.com/office/drawing/2010/main">
                  <a:solidFill>
                    <a:srgbClr val="FFFFFF"/>
                  </a:solidFill>
                </a14:hiddenFill>
              </a:ext>
            </a:extLst>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5000"/>
                </a:lnSpc>
                <a:buFont typeface="Wingdings" panose="05000000000000000000" pitchFamily="2" charset="2"/>
                <a:buNone/>
              </a:pPr>
              <a:endParaRPr lang="en-US" altLang="en-US" sz="1600">
                <a:latin typeface="Roboto" panose="02000000000000000000" pitchFamily="2" charset="0"/>
                <a:ea typeface="Roboto" panose="02000000000000000000" pitchFamily="2" charset="0"/>
              </a:endParaRPr>
            </a:p>
          </p:txBody>
        </p:sp>
        <p:sp>
          <p:nvSpPr>
            <p:cNvPr id="47" name="Oval 26">
              <a:extLst>
                <a:ext uri="{FF2B5EF4-FFF2-40B4-BE49-F238E27FC236}">
                  <a16:creationId xmlns:a16="http://schemas.microsoft.com/office/drawing/2014/main" id="{BC4A6714-7BC7-CE5C-3BB1-8F1C2BB9A6CD}"/>
                </a:ext>
              </a:extLst>
            </p:cNvPr>
            <p:cNvSpPr>
              <a:spLocks noChangeArrowheads="1"/>
            </p:cNvSpPr>
            <p:nvPr/>
          </p:nvSpPr>
          <p:spPr bwMode="auto">
            <a:xfrm>
              <a:off x="1709" y="3091"/>
              <a:ext cx="250" cy="263"/>
            </a:xfrm>
            <a:prstGeom prst="ellipse">
              <a:avLst/>
            </a:prstGeom>
            <a:noFill/>
            <a:ln w="9525">
              <a:solidFill>
                <a:schemeClr val="tx1"/>
              </a:solidFill>
              <a:prstDash val="dash"/>
              <a:round/>
              <a:headEnd/>
              <a:tailEnd type="none" w="sm" len="sm"/>
            </a:ln>
            <a:extLst>
              <a:ext uri="{909E8E84-426E-40DD-AFC4-6F175D3DCCD1}">
                <a14:hiddenFill xmlns:a14="http://schemas.microsoft.com/office/drawing/2010/main">
                  <a:solidFill>
                    <a:srgbClr val="FFFFFF"/>
                  </a:solidFill>
                </a14:hiddenFill>
              </a:ext>
            </a:extLst>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5000"/>
                </a:lnSpc>
                <a:buFont typeface="Wingdings" panose="05000000000000000000" pitchFamily="2" charset="2"/>
                <a:buNone/>
              </a:pPr>
              <a:endParaRPr lang="en-US" altLang="en-US" sz="1600">
                <a:latin typeface="Roboto" panose="02000000000000000000" pitchFamily="2" charset="0"/>
                <a:ea typeface="Roboto" panose="02000000000000000000" pitchFamily="2" charset="0"/>
              </a:endParaRPr>
            </a:p>
          </p:txBody>
        </p:sp>
      </p:grpSp>
      <p:grpSp>
        <p:nvGrpSpPr>
          <p:cNvPr id="26" name="Group 25">
            <a:extLst>
              <a:ext uri="{FF2B5EF4-FFF2-40B4-BE49-F238E27FC236}">
                <a16:creationId xmlns:a16="http://schemas.microsoft.com/office/drawing/2014/main" id="{BB84D1BD-12BD-CA74-A78B-DC09FA3304A0}"/>
              </a:ext>
            </a:extLst>
          </p:cNvPr>
          <p:cNvGrpSpPr/>
          <p:nvPr/>
        </p:nvGrpSpPr>
        <p:grpSpPr>
          <a:xfrm>
            <a:off x="7858645" y="1847881"/>
            <a:ext cx="3776406" cy="4447520"/>
            <a:chOff x="7526574" y="1978729"/>
            <a:chExt cx="2557463" cy="3725862"/>
          </a:xfrm>
        </p:grpSpPr>
        <p:sp>
          <p:nvSpPr>
            <p:cNvPr id="4" name="Rectangle 16">
              <a:extLst>
                <a:ext uri="{FF2B5EF4-FFF2-40B4-BE49-F238E27FC236}">
                  <a16:creationId xmlns:a16="http://schemas.microsoft.com/office/drawing/2014/main" id="{E1C745B0-FA34-09AF-4814-EE180B1CE25A}"/>
                </a:ext>
              </a:extLst>
            </p:cNvPr>
            <p:cNvSpPr>
              <a:spLocks noChangeArrowheads="1"/>
            </p:cNvSpPr>
            <p:nvPr/>
          </p:nvSpPr>
          <p:spPr bwMode="auto">
            <a:xfrm>
              <a:off x="7526574" y="1978729"/>
              <a:ext cx="2557463" cy="3725862"/>
            </a:xfrm>
            <a:prstGeom prst="rect">
              <a:avLst/>
            </a:prstGeom>
            <a:solidFill>
              <a:srgbClr val="66CCFF"/>
            </a:solidFill>
            <a:ln w="12700">
              <a:solidFill>
                <a:schemeClr val="tx1"/>
              </a:solidFill>
              <a:miter lim="800000"/>
              <a:headEnd/>
              <a:tailEnd type="none" w="sm" len="sm"/>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5000"/>
                </a:lnSpc>
                <a:buFont typeface="Wingdings" panose="05000000000000000000" pitchFamily="2" charset="2"/>
                <a:buNone/>
              </a:pPr>
              <a:endParaRPr lang="en-US" altLang="en-US" sz="1600"/>
            </a:p>
          </p:txBody>
        </p:sp>
        <p:sp>
          <p:nvSpPr>
            <p:cNvPr id="14" name="Text Box 17">
              <a:extLst>
                <a:ext uri="{FF2B5EF4-FFF2-40B4-BE49-F238E27FC236}">
                  <a16:creationId xmlns:a16="http://schemas.microsoft.com/office/drawing/2014/main" id="{9CC8E688-6926-04CA-B53D-6C0AE1FE7F98}"/>
                </a:ext>
              </a:extLst>
            </p:cNvPr>
            <p:cNvSpPr txBox="1">
              <a:spLocks noChangeArrowheads="1"/>
            </p:cNvSpPr>
            <p:nvPr/>
          </p:nvSpPr>
          <p:spPr bwMode="auto">
            <a:xfrm>
              <a:off x="9281491" y="2070804"/>
              <a:ext cx="776413" cy="2442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600" b="0">
                  <a:latin typeface="Comic Sans MS" panose="030F0702030302020204" pitchFamily="66" charset="0"/>
                </a:rPr>
                <a:t>04/02/07</a:t>
              </a:r>
            </a:p>
          </p:txBody>
        </p:sp>
        <p:sp>
          <p:nvSpPr>
            <p:cNvPr id="15" name="Text Box 18">
              <a:extLst>
                <a:ext uri="{FF2B5EF4-FFF2-40B4-BE49-F238E27FC236}">
                  <a16:creationId xmlns:a16="http://schemas.microsoft.com/office/drawing/2014/main" id="{82170A33-40FD-8F7B-EC25-7B4CBD18342A}"/>
                </a:ext>
              </a:extLst>
            </p:cNvPr>
            <p:cNvSpPr txBox="1">
              <a:spLocks noChangeArrowheads="1"/>
            </p:cNvSpPr>
            <p:nvPr/>
          </p:nvSpPr>
          <p:spPr bwMode="auto">
            <a:xfrm>
              <a:off x="9239703" y="4828291"/>
              <a:ext cx="732989" cy="2442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600" b="0" dirty="0">
                  <a:latin typeface="Comic Sans MS" panose="030F0702030302020204" pitchFamily="66" charset="0"/>
                </a:rPr>
                <a:t>John Doe</a:t>
              </a:r>
            </a:p>
          </p:txBody>
        </p:sp>
        <p:sp>
          <p:nvSpPr>
            <p:cNvPr id="16" name="Text Box 19">
              <a:extLst>
                <a:ext uri="{FF2B5EF4-FFF2-40B4-BE49-F238E27FC236}">
                  <a16:creationId xmlns:a16="http://schemas.microsoft.com/office/drawing/2014/main" id="{1E424504-737D-F555-B354-5BADC2B5C435}"/>
                </a:ext>
              </a:extLst>
            </p:cNvPr>
            <p:cNvSpPr txBox="1">
              <a:spLocks noChangeArrowheads="1"/>
            </p:cNvSpPr>
            <p:nvPr/>
          </p:nvSpPr>
          <p:spPr bwMode="auto">
            <a:xfrm>
              <a:off x="7697138" y="2064454"/>
              <a:ext cx="209735" cy="2442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600" b="0">
                  <a:latin typeface="Comic Sans MS" panose="030F0702030302020204" pitchFamily="66" charset="0"/>
                </a:rPr>
                <a:t>5</a:t>
              </a:r>
            </a:p>
          </p:txBody>
        </p:sp>
        <p:sp>
          <p:nvSpPr>
            <p:cNvPr id="17" name="Text Box 20">
              <a:extLst>
                <a:ext uri="{FF2B5EF4-FFF2-40B4-BE49-F238E27FC236}">
                  <a16:creationId xmlns:a16="http://schemas.microsoft.com/office/drawing/2014/main" id="{FC513865-3B72-E561-58C7-A1300A7A13A1}"/>
                </a:ext>
              </a:extLst>
            </p:cNvPr>
            <p:cNvSpPr txBox="1">
              <a:spLocks noChangeArrowheads="1"/>
            </p:cNvSpPr>
            <p:nvPr/>
          </p:nvSpPr>
          <p:spPr bwMode="auto">
            <a:xfrm>
              <a:off x="7722536" y="4802891"/>
              <a:ext cx="209735" cy="2442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600" b="0">
                  <a:latin typeface="Comic Sans MS" panose="030F0702030302020204" pitchFamily="66" charset="0"/>
                </a:rPr>
                <a:t>2</a:t>
              </a:r>
            </a:p>
          </p:txBody>
        </p:sp>
        <p:sp>
          <p:nvSpPr>
            <p:cNvPr id="18" name="Text Box 21">
              <a:extLst>
                <a:ext uri="{FF2B5EF4-FFF2-40B4-BE49-F238E27FC236}">
                  <a16:creationId xmlns:a16="http://schemas.microsoft.com/office/drawing/2014/main" id="{77FE58CE-239B-2CF0-23C9-C9EDD0D508C8}"/>
                </a:ext>
              </a:extLst>
            </p:cNvPr>
            <p:cNvSpPr txBox="1">
              <a:spLocks noChangeArrowheads="1"/>
            </p:cNvSpPr>
            <p:nvPr/>
          </p:nvSpPr>
          <p:spPr bwMode="auto">
            <a:xfrm>
              <a:off x="7783748" y="2601029"/>
              <a:ext cx="2136775" cy="1070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2400" b="0" dirty="0">
                  <a:latin typeface="Comic Sans MS" panose="030F0702030302020204" pitchFamily="66" charset="0"/>
                </a:rPr>
                <a:t>Train sales force in proper method of entering quotes in Order Entry system</a:t>
              </a:r>
            </a:p>
          </p:txBody>
        </p:sp>
        <p:sp>
          <p:nvSpPr>
            <p:cNvPr id="19" name="Freeform 22">
              <a:extLst>
                <a:ext uri="{FF2B5EF4-FFF2-40B4-BE49-F238E27FC236}">
                  <a16:creationId xmlns:a16="http://schemas.microsoft.com/office/drawing/2014/main" id="{4F600CCD-A538-F2EA-BBD5-DCDE0486F987}"/>
                </a:ext>
              </a:extLst>
            </p:cNvPr>
            <p:cNvSpPr>
              <a:spLocks/>
            </p:cNvSpPr>
            <p:nvPr/>
          </p:nvSpPr>
          <p:spPr bwMode="auto">
            <a:xfrm>
              <a:off x="7626586" y="2053341"/>
              <a:ext cx="331787" cy="247650"/>
            </a:xfrm>
            <a:custGeom>
              <a:avLst/>
              <a:gdLst>
                <a:gd name="T0" fmla="*/ 2147483646 w 257"/>
                <a:gd name="T1" fmla="*/ 2147483646 h 213"/>
                <a:gd name="T2" fmla="*/ 2147483646 w 257"/>
                <a:gd name="T3" fmla="*/ 2147483646 h 213"/>
                <a:gd name="T4" fmla="*/ 2147483646 w 257"/>
                <a:gd name="T5" fmla="*/ 2147483646 h 213"/>
                <a:gd name="T6" fmla="*/ 2147483646 w 257"/>
                <a:gd name="T7" fmla="*/ 2147483646 h 213"/>
                <a:gd name="T8" fmla="*/ 2147483646 w 257"/>
                <a:gd name="T9" fmla="*/ 2147483646 h 213"/>
                <a:gd name="T10" fmla="*/ 2147483646 w 257"/>
                <a:gd name="T11" fmla="*/ 2147483646 h 213"/>
                <a:gd name="T12" fmla="*/ 2147483646 w 257"/>
                <a:gd name="T13" fmla="*/ 2147483646 h 213"/>
                <a:gd name="T14" fmla="*/ 2147483646 w 257"/>
                <a:gd name="T15" fmla="*/ 2147483646 h 213"/>
                <a:gd name="T16" fmla="*/ 2147483646 w 257"/>
                <a:gd name="T17" fmla="*/ 2147483646 h 213"/>
                <a:gd name="T18" fmla="*/ 2147483646 w 257"/>
                <a:gd name="T19" fmla="*/ 0 h 213"/>
                <a:gd name="T20" fmla="*/ 2147483646 w 257"/>
                <a:gd name="T21" fmla="*/ 2147483646 h 21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257" h="213">
                  <a:moveTo>
                    <a:pt x="70" y="10"/>
                  </a:moveTo>
                  <a:cubicBezTo>
                    <a:pt x="41" y="23"/>
                    <a:pt x="38" y="37"/>
                    <a:pt x="22" y="62"/>
                  </a:cubicBezTo>
                  <a:cubicBezTo>
                    <a:pt x="16" y="91"/>
                    <a:pt x="0" y="136"/>
                    <a:pt x="22" y="163"/>
                  </a:cubicBezTo>
                  <a:cubicBezTo>
                    <a:pt x="38" y="182"/>
                    <a:pt x="62" y="189"/>
                    <a:pt x="84" y="197"/>
                  </a:cubicBezTo>
                  <a:cubicBezTo>
                    <a:pt x="89" y="199"/>
                    <a:pt x="98" y="202"/>
                    <a:pt x="98" y="202"/>
                  </a:cubicBezTo>
                  <a:cubicBezTo>
                    <a:pt x="218" y="196"/>
                    <a:pt x="180" y="213"/>
                    <a:pt x="242" y="168"/>
                  </a:cubicBezTo>
                  <a:cubicBezTo>
                    <a:pt x="245" y="158"/>
                    <a:pt x="249" y="149"/>
                    <a:pt x="252" y="139"/>
                  </a:cubicBezTo>
                  <a:cubicBezTo>
                    <a:pt x="254" y="134"/>
                    <a:pt x="257" y="125"/>
                    <a:pt x="257" y="125"/>
                  </a:cubicBezTo>
                  <a:cubicBezTo>
                    <a:pt x="252" y="87"/>
                    <a:pt x="251" y="86"/>
                    <a:pt x="233" y="58"/>
                  </a:cubicBezTo>
                  <a:cubicBezTo>
                    <a:pt x="225" y="26"/>
                    <a:pt x="206" y="10"/>
                    <a:pt x="175" y="0"/>
                  </a:cubicBezTo>
                  <a:cubicBezTo>
                    <a:pt x="146" y="2"/>
                    <a:pt x="102" y="10"/>
                    <a:pt x="70" y="10"/>
                  </a:cubicBezTo>
                  <a:close/>
                </a:path>
              </a:pathLst>
            </a:custGeom>
            <a:noFill/>
            <a:ln w="12700" cap="flat" cmpd="sng">
              <a:solidFill>
                <a:schemeClr val="tx1"/>
              </a:solidFill>
              <a:prstDash val="solid"/>
              <a:round/>
              <a:headEnd type="none" w="med" len="med"/>
              <a:tailEnd type="none" w="sm" len="sm"/>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0" name="Freeform 23">
              <a:extLst>
                <a:ext uri="{FF2B5EF4-FFF2-40B4-BE49-F238E27FC236}">
                  <a16:creationId xmlns:a16="http://schemas.microsoft.com/office/drawing/2014/main" id="{E72B130A-88A6-AE0D-2A80-756A6C5C232B}"/>
                </a:ext>
              </a:extLst>
            </p:cNvPr>
            <p:cNvSpPr>
              <a:spLocks/>
            </p:cNvSpPr>
            <p:nvPr/>
          </p:nvSpPr>
          <p:spPr bwMode="auto">
            <a:xfrm>
              <a:off x="7553561" y="2375604"/>
              <a:ext cx="2514600" cy="44450"/>
            </a:xfrm>
            <a:custGeom>
              <a:avLst/>
              <a:gdLst>
                <a:gd name="T0" fmla="*/ 0 w 1584"/>
                <a:gd name="T1" fmla="*/ 2147483646 h 28"/>
                <a:gd name="T2" fmla="*/ 2147483646 w 1584"/>
                <a:gd name="T3" fmla="*/ 2147483646 h 28"/>
                <a:gd name="T4" fmla="*/ 2147483646 w 1584"/>
                <a:gd name="T5" fmla="*/ 2147483646 h 28"/>
                <a:gd name="T6" fmla="*/ 2147483646 w 1584"/>
                <a:gd name="T7" fmla="*/ 2147483646 h 2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584" h="28">
                  <a:moveTo>
                    <a:pt x="0" y="14"/>
                  </a:moveTo>
                  <a:cubicBezTo>
                    <a:pt x="111" y="0"/>
                    <a:pt x="208" y="21"/>
                    <a:pt x="317" y="24"/>
                  </a:cubicBezTo>
                  <a:cubicBezTo>
                    <a:pt x="399" y="26"/>
                    <a:pt x="480" y="27"/>
                    <a:pt x="562" y="28"/>
                  </a:cubicBezTo>
                  <a:cubicBezTo>
                    <a:pt x="902" y="19"/>
                    <a:pt x="1244" y="24"/>
                    <a:pt x="1584" y="24"/>
                  </a:cubicBezTo>
                </a:path>
              </a:pathLst>
            </a:custGeom>
            <a:noFill/>
            <a:ln w="28575" cap="flat" cmpd="sng">
              <a:solidFill>
                <a:schemeClr val="tx1"/>
              </a:solidFill>
              <a:prstDash val="solid"/>
              <a:round/>
              <a:headEnd type="none" w="med" len="med"/>
              <a:tailEnd type="none" w="sm" len="sm"/>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1" name="Freeform 24">
              <a:extLst>
                <a:ext uri="{FF2B5EF4-FFF2-40B4-BE49-F238E27FC236}">
                  <a16:creationId xmlns:a16="http://schemas.microsoft.com/office/drawing/2014/main" id="{8A4658CD-DE7B-D600-6A6D-F750EA7C8049}"/>
                </a:ext>
              </a:extLst>
            </p:cNvPr>
            <p:cNvSpPr>
              <a:spLocks/>
            </p:cNvSpPr>
            <p:nvPr/>
          </p:nvSpPr>
          <p:spPr bwMode="auto">
            <a:xfrm flipH="1" flipV="1">
              <a:off x="7553561" y="5026729"/>
              <a:ext cx="2514600" cy="44450"/>
            </a:xfrm>
            <a:custGeom>
              <a:avLst/>
              <a:gdLst>
                <a:gd name="T0" fmla="*/ 0 w 1584"/>
                <a:gd name="T1" fmla="*/ 2147483646 h 28"/>
                <a:gd name="T2" fmla="*/ 2147483646 w 1584"/>
                <a:gd name="T3" fmla="*/ 2147483646 h 28"/>
                <a:gd name="T4" fmla="*/ 2147483646 w 1584"/>
                <a:gd name="T5" fmla="*/ 2147483646 h 28"/>
                <a:gd name="T6" fmla="*/ 2147483646 w 1584"/>
                <a:gd name="T7" fmla="*/ 2147483646 h 2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584" h="28">
                  <a:moveTo>
                    <a:pt x="0" y="14"/>
                  </a:moveTo>
                  <a:cubicBezTo>
                    <a:pt x="111" y="0"/>
                    <a:pt x="208" y="21"/>
                    <a:pt x="317" y="24"/>
                  </a:cubicBezTo>
                  <a:cubicBezTo>
                    <a:pt x="399" y="26"/>
                    <a:pt x="480" y="27"/>
                    <a:pt x="562" y="28"/>
                  </a:cubicBezTo>
                  <a:cubicBezTo>
                    <a:pt x="902" y="19"/>
                    <a:pt x="1244" y="24"/>
                    <a:pt x="1584" y="24"/>
                  </a:cubicBezTo>
                </a:path>
              </a:pathLst>
            </a:custGeom>
            <a:noFill/>
            <a:ln w="28575" cap="flat" cmpd="sng">
              <a:solidFill>
                <a:schemeClr val="tx1"/>
              </a:solidFill>
              <a:prstDash val="solid"/>
              <a:round/>
              <a:headEnd type="none" w="med" len="med"/>
              <a:tailEnd type="none" w="sm" len="sm"/>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2" name="Oval 31">
              <a:extLst>
                <a:ext uri="{FF2B5EF4-FFF2-40B4-BE49-F238E27FC236}">
                  <a16:creationId xmlns:a16="http://schemas.microsoft.com/office/drawing/2014/main" id="{3258BD3E-E440-C12A-FF78-21E2F12DDA1D}"/>
                </a:ext>
              </a:extLst>
            </p:cNvPr>
            <p:cNvSpPr>
              <a:spLocks noChangeArrowheads="1"/>
            </p:cNvSpPr>
            <p:nvPr/>
          </p:nvSpPr>
          <p:spPr bwMode="auto">
            <a:xfrm>
              <a:off x="8093311" y="5148966"/>
              <a:ext cx="396875" cy="417513"/>
            </a:xfrm>
            <a:prstGeom prst="ellipse">
              <a:avLst/>
            </a:prstGeom>
            <a:solidFill>
              <a:srgbClr val="FFFF00"/>
            </a:solidFill>
            <a:ln w="9525">
              <a:solidFill>
                <a:schemeClr val="tx1"/>
              </a:solidFill>
              <a:round/>
              <a:headEnd/>
              <a:tailEnd type="none" w="sm" len="sm"/>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5000"/>
                </a:lnSpc>
                <a:buFont typeface="Wingdings" panose="05000000000000000000" pitchFamily="2" charset="2"/>
                <a:buNone/>
              </a:pPr>
              <a:endParaRPr lang="en-US" altLang="en-US" sz="1600"/>
            </a:p>
          </p:txBody>
        </p:sp>
        <p:sp>
          <p:nvSpPr>
            <p:cNvPr id="24" name="Oval 32">
              <a:extLst>
                <a:ext uri="{FF2B5EF4-FFF2-40B4-BE49-F238E27FC236}">
                  <a16:creationId xmlns:a16="http://schemas.microsoft.com/office/drawing/2014/main" id="{EA8A54EB-C8F7-3538-09FB-6DA4DBDF4A68}"/>
                </a:ext>
              </a:extLst>
            </p:cNvPr>
            <p:cNvSpPr>
              <a:spLocks noChangeArrowheads="1"/>
            </p:cNvSpPr>
            <p:nvPr/>
          </p:nvSpPr>
          <p:spPr bwMode="auto">
            <a:xfrm>
              <a:off x="8534636" y="5148966"/>
              <a:ext cx="396875" cy="417513"/>
            </a:xfrm>
            <a:prstGeom prst="ellipse">
              <a:avLst/>
            </a:prstGeom>
            <a:solidFill>
              <a:srgbClr val="FFFF00"/>
            </a:solidFill>
            <a:ln w="9525">
              <a:solidFill>
                <a:schemeClr val="tx1"/>
              </a:solidFill>
              <a:round/>
              <a:headEnd/>
              <a:tailEnd type="none" w="sm" len="sm"/>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5000"/>
                </a:lnSpc>
                <a:buFont typeface="Wingdings" panose="05000000000000000000" pitchFamily="2" charset="2"/>
                <a:buNone/>
              </a:pPr>
              <a:endParaRPr lang="en-US" altLang="en-US" sz="1600"/>
            </a:p>
          </p:txBody>
        </p:sp>
      </p:grpSp>
      <p:sp>
        <p:nvSpPr>
          <p:cNvPr id="25" name="Rectangle 33">
            <a:extLst>
              <a:ext uri="{FF2B5EF4-FFF2-40B4-BE49-F238E27FC236}">
                <a16:creationId xmlns:a16="http://schemas.microsoft.com/office/drawing/2014/main" id="{5AC26CF6-783F-DBD9-B59F-19BC03F27023}"/>
              </a:ext>
            </a:extLst>
          </p:cNvPr>
          <p:cNvSpPr>
            <a:spLocks noChangeArrowheads="1"/>
          </p:cNvSpPr>
          <p:nvPr/>
        </p:nvSpPr>
        <p:spPr bwMode="auto">
          <a:xfrm>
            <a:off x="6512109" y="1912175"/>
            <a:ext cx="1241045" cy="3411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2000" dirty="0">
                <a:latin typeface="Roboto" panose="02000000000000000000" pitchFamily="2" charset="0"/>
                <a:ea typeface="Roboto" panose="02000000000000000000" pitchFamily="2" charset="0"/>
              </a:rPr>
              <a:t>Example:</a:t>
            </a:r>
          </a:p>
        </p:txBody>
      </p:sp>
      <p:sp>
        <p:nvSpPr>
          <p:cNvPr id="27" name="Rectangle 2">
            <a:extLst>
              <a:ext uri="{FF2B5EF4-FFF2-40B4-BE49-F238E27FC236}">
                <a16:creationId xmlns:a16="http://schemas.microsoft.com/office/drawing/2014/main" id="{0D150275-9FBC-56E1-DC3A-9D2D94BEA995}"/>
              </a:ext>
            </a:extLst>
          </p:cNvPr>
          <p:cNvSpPr txBox="1">
            <a:spLocks noChangeArrowheads="1"/>
          </p:cNvSpPr>
          <p:nvPr/>
        </p:nvSpPr>
        <p:spPr>
          <a:xfrm>
            <a:off x="19334" y="1802442"/>
            <a:ext cx="2541588" cy="4270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Roboto" panose="02000000000000000000" pitchFamily="2" charset="0"/>
                <a:ea typeface="Roboto" panose="02000000000000000000" pitchFamily="2" charset="0"/>
                <a:cs typeface="Roboto" panose="02000000000000000000"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Roboto" panose="02000000000000000000" pitchFamily="2" charset="0"/>
                <a:ea typeface="Roboto" panose="02000000000000000000" pitchFamily="2" charset="0"/>
                <a:cs typeface="Roboto" panose="02000000000000000000"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Roboto" panose="02000000000000000000" pitchFamily="2" charset="0"/>
                <a:ea typeface="Roboto" panose="02000000000000000000" pitchFamily="2" charset="0"/>
                <a:cs typeface="Roboto" panose="02000000000000000000"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Roboto" panose="02000000000000000000"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Roboto" panose="02000000000000000000"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anose="05000000000000000000" pitchFamily="2" charset="2"/>
              <a:buNone/>
            </a:pPr>
            <a:r>
              <a:rPr lang="en-US" altLang="en-US" sz="2000" b="1" dirty="0"/>
              <a:t>Use 4x6 Blue Post-it</a:t>
            </a:r>
          </a:p>
        </p:txBody>
      </p:sp>
      <p:sp>
        <p:nvSpPr>
          <p:cNvPr id="28" name="Text Box 12">
            <a:extLst>
              <a:ext uri="{FF2B5EF4-FFF2-40B4-BE49-F238E27FC236}">
                <a16:creationId xmlns:a16="http://schemas.microsoft.com/office/drawing/2014/main" id="{C7DF2EE1-AD3A-F950-22E4-AFE6DEF4E662}"/>
              </a:ext>
            </a:extLst>
          </p:cNvPr>
          <p:cNvSpPr txBox="1">
            <a:spLocks noChangeArrowheads="1"/>
          </p:cNvSpPr>
          <p:nvPr/>
        </p:nvSpPr>
        <p:spPr bwMode="auto">
          <a:xfrm>
            <a:off x="161275" y="4176364"/>
            <a:ext cx="1981200" cy="1202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80000"/>
              </a:lnSpc>
              <a:spcBef>
                <a:spcPct val="20000"/>
              </a:spcBef>
              <a:spcAft>
                <a:spcPct val="0"/>
              </a:spcAft>
              <a:buClrTx/>
              <a:buSzTx/>
              <a:buFontTx/>
              <a:buNone/>
            </a:pPr>
            <a:r>
              <a:rPr lang="en-US" altLang="en-US" sz="1800" dirty="0">
                <a:latin typeface="Roboto" panose="02000000000000000000" pitchFamily="2" charset="0"/>
                <a:ea typeface="Roboto" panose="02000000000000000000" pitchFamily="2" charset="0"/>
              </a:rPr>
              <a:t>List 1 or more FACT cards for which this countermeasure applies</a:t>
            </a:r>
          </a:p>
        </p:txBody>
      </p:sp>
      <p:sp>
        <p:nvSpPr>
          <p:cNvPr id="29" name="Line 13">
            <a:extLst>
              <a:ext uri="{FF2B5EF4-FFF2-40B4-BE49-F238E27FC236}">
                <a16:creationId xmlns:a16="http://schemas.microsoft.com/office/drawing/2014/main" id="{317FEB75-7C5A-79B8-970E-A284CB49FC53}"/>
              </a:ext>
            </a:extLst>
          </p:cNvPr>
          <p:cNvSpPr>
            <a:spLocks noChangeShapeType="1"/>
          </p:cNvSpPr>
          <p:nvPr/>
        </p:nvSpPr>
        <p:spPr bwMode="auto">
          <a:xfrm>
            <a:off x="1898367" y="5097364"/>
            <a:ext cx="955135" cy="242356"/>
          </a:xfrm>
          <a:prstGeom prst="line">
            <a:avLst/>
          </a:prstGeom>
          <a:noFill/>
          <a:ln w="38100">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30" name="Text Box 14">
            <a:extLst>
              <a:ext uri="{FF2B5EF4-FFF2-40B4-BE49-F238E27FC236}">
                <a16:creationId xmlns:a16="http://schemas.microsoft.com/office/drawing/2014/main" id="{78C99A7E-832B-F346-79E5-D4F1F396DF43}"/>
              </a:ext>
            </a:extLst>
          </p:cNvPr>
          <p:cNvSpPr txBox="1">
            <a:spLocks noChangeArrowheads="1"/>
          </p:cNvSpPr>
          <p:nvPr/>
        </p:nvSpPr>
        <p:spPr bwMode="auto">
          <a:xfrm>
            <a:off x="230842" y="2553908"/>
            <a:ext cx="1981200" cy="981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80000"/>
              </a:lnSpc>
              <a:spcBef>
                <a:spcPct val="20000"/>
              </a:spcBef>
              <a:spcAft>
                <a:spcPct val="0"/>
              </a:spcAft>
              <a:buClrTx/>
              <a:buSzTx/>
              <a:buFontTx/>
              <a:buNone/>
            </a:pPr>
            <a:r>
              <a:rPr lang="en-US" altLang="en-US" sz="1800" dirty="0">
                <a:latin typeface="Roboto" panose="02000000000000000000" pitchFamily="2" charset="0"/>
                <a:ea typeface="Roboto" panose="02000000000000000000" pitchFamily="2" charset="0"/>
              </a:rPr>
              <a:t>Each IMPROVEMENT Card has a unique #</a:t>
            </a:r>
          </a:p>
        </p:txBody>
      </p:sp>
      <p:sp>
        <p:nvSpPr>
          <p:cNvPr id="49" name="Line 15">
            <a:extLst>
              <a:ext uri="{FF2B5EF4-FFF2-40B4-BE49-F238E27FC236}">
                <a16:creationId xmlns:a16="http://schemas.microsoft.com/office/drawing/2014/main" id="{C87ECECD-F64B-D381-0F7C-6AB380A2C595}"/>
              </a:ext>
            </a:extLst>
          </p:cNvPr>
          <p:cNvSpPr>
            <a:spLocks noChangeShapeType="1"/>
          </p:cNvSpPr>
          <p:nvPr/>
        </p:nvSpPr>
        <p:spPr bwMode="auto">
          <a:xfrm flipV="1">
            <a:off x="1898367" y="2260859"/>
            <a:ext cx="890939" cy="435345"/>
          </a:xfrm>
          <a:prstGeom prst="line">
            <a:avLst/>
          </a:prstGeom>
          <a:noFill/>
          <a:ln w="38100">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50" name="Text Box 26">
            <a:extLst>
              <a:ext uri="{FF2B5EF4-FFF2-40B4-BE49-F238E27FC236}">
                <a16:creationId xmlns:a16="http://schemas.microsoft.com/office/drawing/2014/main" id="{2E1FA900-B1E7-9B50-2D9F-7AAF69AC0FCB}"/>
              </a:ext>
            </a:extLst>
          </p:cNvPr>
          <p:cNvSpPr txBox="1">
            <a:spLocks noChangeArrowheads="1"/>
          </p:cNvSpPr>
          <p:nvPr/>
        </p:nvSpPr>
        <p:spPr bwMode="auto">
          <a:xfrm>
            <a:off x="292210" y="5601331"/>
            <a:ext cx="1981200" cy="5378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80000"/>
              </a:lnSpc>
              <a:spcBef>
                <a:spcPct val="20000"/>
              </a:spcBef>
              <a:spcAft>
                <a:spcPct val="0"/>
              </a:spcAft>
              <a:buClrTx/>
              <a:buSzTx/>
              <a:buFontTx/>
              <a:buNone/>
            </a:pPr>
            <a:r>
              <a:rPr lang="en-US" altLang="en-US" sz="1800" dirty="0">
                <a:latin typeface="Roboto" panose="02000000000000000000" pitchFamily="2" charset="0"/>
                <a:ea typeface="Roboto" panose="02000000000000000000" pitchFamily="2" charset="0"/>
              </a:rPr>
              <a:t>Leave space for Dots</a:t>
            </a:r>
          </a:p>
        </p:txBody>
      </p:sp>
      <p:sp>
        <p:nvSpPr>
          <p:cNvPr id="51" name="Line 27">
            <a:extLst>
              <a:ext uri="{FF2B5EF4-FFF2-40B4-BE49-F238E27FC236}">
                <a16:creationId xmlns:a16="http://schemas.microsoft.com/office/drawing/2014/main" id="{DE4714AB-A356-DB03-DF6F-6991E118A8A4}"/>
              </a:ext>
            </a:extLst>
          </p:cNvPr>
          <p:cNvSpPr>
            <a:spLocks noChangeShapeType="1"/>
          </p:cNvSpPr>
          <p:nvPr/>
        </p:nvSpPr>
        <p:spPr bwMode="auto">
          <a:xfrm>
            <a:off x="2028958" y="5797723"/>
            <a:ext cx="1210234" cy="31458"/>
          </a:xfrm>
          <a:prstGeom prst="line">
            <a:avLst/>
          </a:prstGeom>
          <a:noFill/>
          <a:ln w="38100">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Tree>
    <p:extLst>
      <p:ext uri="{BB962C8B-B14F-4D97-AF65-F5344CB8AC3E}">
        <p14:creationId xmlns:p14="http://schemas.microsoft.com/office/powerpoint/2010/main" val="386302147"/>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normAutofit/>
          </a:bodyPr>
          <a:lstStyle/>
          <a:p>
            <a:r>
              <a:rPr lang="en-US" sz="4000" dirty="0"/>
              <a:t>Linkage</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72</a:t>
            </a:fld>
            <a:endParaRPr lang="en-US"/>
          </a:p>
        </p:txBody>
      </p:sp>
      <p:grpSp>
        <p:nvGrpSpPr>
          <p:cNvPr id="3" name="Group 2">
            <a:extLst>
              <a:ext uri="{FF2B5EF4-FFF2-40B4-BE49-F238E27FC236}">
                <a16:creationId xmlns:a16="http://schemas.microsoft.com/office/drawing/2014/main" id="{E97954FD-5532-68CF-E2C8-28FD968BC9FA}"/>
              </a:ext>
            </a:extLst>
          </p:cNvPr>
          <p:cNvGrpSpPr/>
          <p:nvPr/>
        </p:nvGrpSpPr>
        <p:grpSpPr>
          <a:xfrm>
            <a:off x="838200" y="297639"/>
            <a:ext cx="4351020" cy="307138"/>
            <a:chOff x="838200" y="297639"/>
            <a:chExt cx="4351020" cy="307138"/>
          </a:xfrm>
        </p:grpSpPr>
        <p:grpSp>
          <p:nvGrpSpPr>
            <p:cNvPr id="10" name="Group 9">
              <a:extLst>
                <a:ext uri="{FF2B5EF4-FFF2-40B4-BE49-F238E27FC236}">
                  <a16:creationId xmlns:a16="http://schemas.microsoft.com/office/drawing/2014/main" id="{AB8BC015-69F1-E60F-565F-950188138F89}"/>
                </a:ext>
              </a:extLst>
            </p:cNvPr>
            <p:cNvGrpSpPr/>
            <p:nvPr/>
          </p:nvGrpSpPr>
          <p:grpSpPr>
            <a:xfrm>
              <a:off x="838200" y="297639"/>
              <a:ext cx="1687517" cy="290657"/>
              <a:chOff x="838200" y="297639"/>
              <a:chExt cx="1687517" cy="290657"/>
            </a:xfrm>
          </p:grpSpPr>
          <p:sp>
            <p:nvSpPr>
              <p:cNvPr id="23" name="AutoShape 9">
                <a:extLst>
                  <a:ext uri="{FF2B5EF4-FFF2-40B4-BE49-F238E27FC236}">
                    <a16:creationId xmlns:a16="http://schemas.microsoft.com/office/drawing/2014/main" id="{C81E2195-2C4C-A6F6-8055-EF2182DC1BAA}"/>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31" name="AutoShape 9">
                <a:extLst>
                  <a:ext uri="{FF2B5EF4-FFF2-40B4-BE49-F238E27FC236}">
                    <a16:creationId xmlns:a16="http://schemas.microsoft.com/office/drawing/2014/main" id="{D0790997-B5AC-E09B-B2DC-B8CEBBE9265F}"/>
                  </a:ext>
                </a:extLst>
              </p:cNvPr>
              <p:cNvSpPr>
                <a:spLocks noChangeArrowheads="1"/>
              </p:cNvSpPr>
              <p:nvPr/>
            </p:nvSpPr>
            <p:spPr bwMode="auto">
              <a:xfrm>
                <a:off x="1779225" y="297639"/>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nvGrpSpPr>
              <p:cNvPr id="32" name="Group 31">
                <a:extLst>
                  <a:ext uri="{FF2B5EF4-FFF2-40B4-BE49-F238E27FC236}">
                    <a16:creationId xmlns:a16="http://schemas.microsoft.com/office/drawing/2014/main" id="{6B9A7614-672A-8105-4EAC-A6E1ADB82921}"/>
                  </a:ext>
                </a:extLst>
              </p:cNvPr>
              <p:cNvGrpSpPr/>
              <p:nvPr/>
            </p:nvGrpSpPr>
            <p:grpSpPr>
              <a:xfrm>
                <a:off x="838200" y="297639"/>
                <a:ext cx="1060167" cy="290657"/>
                <a:chOff x="826426" y="4041857"/>
                <a:chExt cx="1060167" cy="290657"/>
              </a:xfrm>
            </p:grpSpPr>
            <p:sp>
              <p:nvSpPr>
                <p:cNvPr id="33" name="AutoShape 9">
                  <a:extLst>
                    <a:ext uri="{FF2B5EF4-FFF2-40B4-BE49-F238E27FC236}">
                      <a16:creationId xmlns:a16="http://schemas.microsoft.com/office/drawing/2014/main" id="{1BA86E4A-7180-C8DA-8A50-1905486194E5}"/>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34" name="AutoShape 11">
                  <a:extLst>
                    <a:ext uri="{FF2B5EF4-FFF2-40B4-BE49-F238E27FC236}">
                      <a16:creationId xmlns:a16="http://schemas.microsoft.com/office/drawing/2014/main" id="{47DDA634-62DE-5801-F59F-AFED99542997}"/>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35" name="AutoShape 10">
                  <a:extLst>
                    <a:ext uri="{FF2B5EF4-FFF2-40B4-BE49-F238E27FC236}">
                      <a16:creationId xmlns:a16="http://schemas.microsoft.com/office/drawing/2014/main" id="{52AB551B-8631-1E25-479A-BEF0B5A084FF}"/>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11" name="TextBox 10">
              <a:extLst>
                <a:ext uri="{FF2B5EF4-FFF2-40B4-BE49-F238E27FC236}">
                  <a16:creationId xmlns:a16="http://schemas.microsoft.com/office/drawing/2014/main" id="{6CCBB6CA-F4EA-8315-B711-04E047CCCAF0}"/>
                </a:ext>
              </a:extLst>
            </p:cNvPr>
            <p:cNvSpPr txBox="1"/>
            <p:nvPr/>
          </p:nvSpPr>
          <p:spPr>
            <a:xfrm>
              <a:off x="2525717" y="313415"/>
              <a:ext cx="266350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CEDAC Problem Solution</a:t>
              </a:r>
            </a:p>
          </p:txBody>
        </p:sp>
      </p:grpSp>
      <p:grpSp>
        <p:nvGrpSpPr>
          <p:cNvPr id="67" name="Group 66">
            <a:extLst>
              <a:ext uri="{FF2B5EF4-FFF2-40B4-BE49-F238E27FC236}">
                <a16:creationId xmlns:a16="http://schemas.microsoft.com/office/drawing/2014/main" id="{AB3CA303-FECC-4323-DEE6-A8F21C980F69}"/>
              </a:ext>
            </a:extLst>
          </p:cNvPr>
          <p:cNvGrpSpPr/>
          <p:nvPr/>
        </p:nvGrpSpPr>
        <p:grpSpPr>
          <a:xfrm>
            <a:off x="1584692" y="1885951"/>
            <a:ext cx="8645158" cy="4085736"/>
            <a:chOff x="1584692" y="2052149"/>
            <a:chExt cx="7291587" cy="3919537"/>
          </a:xfrm>
        </p:grpSpPr>
        <p:grpSp>
          <p:nvGrpSpPr>
            <p:cNvPr id="6" name="Group 4">
              <a:extLst>
                <a:ext uri="{FF2B5EF4-FFF2-40B4-BE49-F238E27FC236}">
                  <a16:creationId xmlns:a16="http://schemas.microsoft.com/office/drawing/2014/main" id="{EF29B033-D1D0-9A86-9D4D-56562AA709DC}"/>
                </a:ext>
              </a:extLst>
            </p:cNvPr>
            <p:cNvGrpSpPr>
              <a:grpSpLocks/>
            </p:cNvGrpSpPr>
            <p:nvPr/>
          </p:nvGrpSpPr>
          <p:grpSpPr bwMode="auto">
            <a:xfrm>
              <a:off x="1584692" y="5125549"/>
              <a:ext cx="2068512" cy="846137"/>
              <a:chOff x="299" y="1151"/>
              <a:chExt cx="1303" cy="533"/>
            </a:xfrm>
          </p:grpSpPr>
          <p:grpSp>
            <p:nvGrpSpPr>
              <p:cNvPr id="7" name="Group 5">
                <a:extLst>
                  <a:ext uri="{FF2B5EF4-FFF2-40B4-BE49-F238E27FC236}">
                    <a16:creationId xmlns:a16="http://schemas.microsoft.com/office/drawing/2014/main" id="{CBA484D6-C11B-BB21-8071-4B291C15AA3F}"/>
                  </a:ext>
                </a:extLst>
              </p:cNvPr>
              <p:cNvGrpSpPr>
                <a:grpSpLocks/>
              </p:cNvGrpSpPr>
              <p:nvPr/>
            </p:nvGrpSpPr>
            <p:grpSpPr bwMode="auto">
              <a:xfrm>
                <a:off x="467" y="1152"/>
                <a:ext cx="482" cy="532"/>
                <a:chOff x="467" y="1152"/>
                <a:chExt cx="482" cy="532"/>
              </a:xfrm>
            </p:grpSpPr>
            <p:sp>
              <p:nvSpPr>
                <p:cNvPr id="52" name="Rectangle 6">
                  <a:extLst>
                    <a:ext uri="{FF2B5EF4-FFF2-40B4-BE49-F238E27FC236}">
                      <a16:creationId xmlns:a16="http://schemas.microsoft.com/office/drawing/2014/main" id="{4C5D6AB4-BAA5-C057-63E1-9E20C7F4E1D3}"/>
                    </a:ext>
                  </a:extLst>
                </p:cNvPr>
                <p:cNvSpPr>
                  <a:spLocks noChangeArrowheads="1"/>
                </p:cNvSpPr>
                <p:nvPr/>
              </p:nvSpPr>
              <p:spPr bwMode="auto">
                <a:xfrm>
                  <a:off x="467" y="1152"/>
                  <a:ext cx="481" cy="532"/>
                </a:xfrm>
                <a:prstGeom prst="rect">
                  <a:avLst/>
                </a:prstGeom>
                <a:noFill/>
                <a:ln w="12700">
                  <a:solidFill>
                    <a:schemeClr val="tx1"/>
                  </a:solidFill>
                  <a:miter lim="800000"/>
                  <a:headEnd/>
                  <a:tailEnd type="none" w="sm" len="sm"/>
                </a:ln>
                <a:extLst>
                  <a:ext uri="{909E8E84-426E-40DD-AFC4-6F175D3DCCD1}">
                    <a14:hiddenFill xmlns:a14="http://schemas.microsoft.com/office/drawing/2010/main">
                      <a:solidFill>
                        <a:srgbClr val="FFFFFF"/>
                      </a:solidFill>
                    </a14:hiddenFill>
                  </a:ext>
                </a:extLst>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5000"/>
                    </a:lnSpc>
                    <a:buFont typeface="Wingdings" panose="05000000000000000000" pitchFamily="2" charset="2"/>
                    <a:buNone/>
                  </a:pPr>
                  <a:endParaRPr lang="en-US" altLang="en-US" sz="1600">
                    <a:latin typeface="Roboto" panose="02000000000000000000" pitchFamily="2" charset="0"/>
                    <a:ea typeface="Roboto" panose="02000000000000000000" pitchFamily="2" charset="0"/>
                  </a:endParaRPr>
                </a:p>
              </p:txBody>
            </p:sp>
            <p:sp>
              <p:nvSpPr>
                <p:cNvPr id="53" name="Rectangle 7">
                  <a:extLst>
                    <a:ext uri="{FF2B5EF4-FFF2-40B4-BE49-F238E27FC236}">
                      <a16:creationId xmlns:a16="http://schemas.microsoft.com/office/drawing/2014/main" id="{4F5BD735-3ACC-A151-81B9-E706CEB88116}"/>
                    </a:ext>
                  </a:extLst>
                </p:cNvPr>
                <p:cNvSpPr>
                  <a:spLocks noChangeArrowheads="1"/>
                </p:cNvSpPr>
                <p:nvPr/>
              </p:nvSpPr>
              <p:spPr bwMode="auto">
                <a:xfrm>
                  <a:off x="467" y="1154"/>
                  <a:ext cx="482" cy="116"/>
                </a:xfrm>
                <a:prstGeom prst="rect">
                  <a:avLst/>
                </a:prstGeom>
                <a:noFill/>
                <a:ln w="12700">
                  <a:solidFill>
                    <a:schemeClr val="tx1"/>
                  </a:solidFill>
                  <a:miter lim="800000"/>
                  <a:headEnd/>
                  <a:tailEnd type="none" w="sm" len="sm"/>
                </a:ln>
                <a:extLst>
                  <a:ext uri="{909E8E84-426E-40DD-AFC4-6F175D3DCCD1}">
                    <a14:hiddenFill xmlns:a14="http://schemas.microsoft.com/office/drawing/2010/main">
                      <a:solidFill>
                        <a:srgbClr val="FFFFFF"/>
                      </a:solidFill>
                    </a14:hiddenFill>
                  </a:ext>
                </a:extLst>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000">
                      <a:latin typeface="Roboto" panose="02000000000000000000" pitchFamily="2" charset="0"/>
                      <a:ea typeface="Roboto" panose="02000000000000000000" pitchFamily="2" charset="0"/>
                    </a:rPr>
                    <a:t>1.0</a:t>
                  </a:r>
                </a:p>
              </p:txBody>
            </p:sp>
          </p:grpSp>
          <p:cxnSp>
            <p:nvCxnSpPr>
              <p:cNvPr id="8" name="AutoShape 8">
                <a:extLst>
                  <a:ext uri="{FF2B5EF4-FFF2-40B4-BE49-F238E27FC236}">
                    <a16:creationId xmlns:a16="http://schemas.microsoft.com/office/drawing/2014/main" id="{0E398A3E-F17F-FCA1-295A-CE015D0313ED}"/>
                  </a:ext>
                </a:extLst>
              </p:cNvPr>
              <p:cNvCxnSpPr>
                <a:cxnSpLocks noChangeShapeType="1"/>
                <a:stCxn id="52" idx="3"/>
                <a:endCxn id="13" idx="1"/>
              </p:cNvCxnSpPr>
              <p:nvPr/>
            </p:nvCxnSpPr>
            <p:spPr bwMode="auto">
              <a:xfrm flipV="1">
                <a:off x="948" y="1417"/>
                <a:ext cx="172" cy="1"/>
              </a:xfrm>
              <a:prstGeom prst="bentConnector3">
                <a:avLst>
                  <a:gd name="adj1" fmla="val 49417"/>
                </a:avLst>
              </a:prstGeom>
              <a:noFill/>
              <a:ln w="38100">
                <a:solidFill>
                  <a:schemeClr val="tx1"/>
                </a:solidFill>
                <a:miter lim="800000"/>
                <a:headEnd/>
                <a:tailEnd type="triangle" w="sm" len="sm"/>
              </a:ln>
              <a:extLst>
                <a:ext uri="{909E8E84-426E-40DD-AFC4-6F175D3DCCD1}">
                  <a14:hiddenFill xmlns:a14="http://schemas.microsoft.com/office/drawing/2010/main">
                    <a:noFill/>
                  </a14:hiddenFill>
                </a:ext>
              </a:extLst>
            </p:spPr>
          </p:cxnSp>
          <p:grpSp>
            <p:nvGrpSpPr>
              <p:cNvPr id="9" name="Group 9">
                <a:extLst>
                  <a:ext uri="{FF2B5EF4-FFF2-40B4-BE49-F238E27FC236}">
                    <a16:creationId xmlns:a16="http://schemas.microsoft.com/office/drawing/2014/main" id="{50D26986-C711-6273-48DE-01E08290D741}"/>
                  </a:ext>
                </a:extLst>
              </p:cNvPr>
              <p:cNvGrpSpPr>
                <a:grpSpLocks/>
              </p:cNvGrpSpPr>
              <p:nvPr/>
            </p:nvGrpSpPr>
            <p:grpSpPr bwMode="auto">
              <a:xfrm>
                <a:off x="1120" y="1151"/>
                <a:ext cx="482" cy="532"/>
                <a:chOff x="467" y="1152"/>
                <a:chExt cx="482" cy="532"/>
              </a:xfrm>
            </p:grpSpPr>
            <p:sp>
              <p:nvSpPr>
                <p:cNvPr id="13" name="Rectangle 10">
                  <a:extLst>
                    <a:ext uri="{FF2B5EF4-FFF2-40B4-BE49-F238E27FC236}">
                      <a16:creationId xmlns:a16="http://schemas.microsoft.com/office/drawing/2014/main" id="{4D35AB71-7DE7-E2B0-375E-020A0676D9B4}"/>
                    </a:ext>
                  </a:extLst>
                </p:cNvPr>
                <p:cNvSpPr>
                  <a:spLocks noChangeArrowheads="1"/>
                </p:cNvSpPr>
                <p:nvPr/>
              </p:nvSpPr>
              <p:spPr bwMode="auto">
                <a:xfrm>
                  <a:off x="467" y="1152"/>
                  <a:ext cx="481" cy="532"/>
                </a:xfrm>
                <a:prstGeom prst="rect">
                  <a:avLst/>
                </a:prstGeom>
                <a:noFill/>
                <a:ln w="12700">
                  <a:solidFill>
                    <a:schemeClr val="tx1"/>
                  </a:solidFill>
                  <a:miter lim="800000"/>
                  <a:headEnd/>
                  <a:tailEnd type="none" w="sm" len="sm"/>
                </a:ln>
                <a:extLst>
                  <a:ext uri="{909E8E84-426E-40DD-AFC4-6F175D3DCCD1}">
                    <a14:hiddenFill xmlns:a14="http://schemas.microsoft.com/office/drawing/2010/main">
                      <a:solidFill>
                        <a:srgbClr val="FFFFFF"/>
                      </a:solidFill>
                    </a14:hiddenFill>
                  </a:ext>
                </a:extLst>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5000"/>
                    </a:lnSpc>
                    <a:buFont typeface="Wingdings" panose="05000000000000000000" pitchFamily="2" charset="2"/>
                    <a:buNone/>
                  </a:pPr>
                  <a:endParaRPr lang="en-US" altLang="en-US" sz="1600">
                    <a:latin typeface="Roboto" panose="02000000000000000000" pitchFamily="2" charset="0"/>
                    <a:ea typeface="Roboto" panose="02000000000000000000" pitchFamily="2" charset="0"/>
                  </a:endParaRPr>
                </a:p>
              </p:txBody>
            </p:sp>
            <p:sp>
              <p:nvSpPr>
                <p:cNvPr id="48" name="Rectangle 11">
                  <a:extLst>
                    <a:ext uri="{FF2B5EF4-FFF2-40B4-BE49-F238E27FC236}">
                      <a16:creationId xmlns:a16="http://schemas.microsoft.com/office/drawing/2014/main" id="{BD90174C-D0F7-5673-45CA-568CF0969C3E}"/>
                    </a:ext>
                  </a:extLst>
                </p:cNvPr>
                <p:cNvSpPr>
                  <a:spLocks noChangeArrowheads="1"/>
                </p:cNvSpPr>
                <p:nvPr/>
              </p:nvSpPr>
              <p:spPr bwMode="auto">
                <a:xfrm>
                  <a:off x="467" y="1154"/>
                  <a:ext cx="482" cy="116"/>
                </a:xfrm>
                <a:prstGeom prst="rect">
                  <a:avLst/>
                </a:prstGeom>
                <a:noFill/>
                <a:ln w="12700">
                  <a:solidFill>
                    <a:schemeClr val="tx1"/>
                  </a:solidFill>
                  <a:miter lim="800000"/>
                  <a:headEnd/>
                  <a:tailEnd type="none" w="sm" len="sm"/>
                </a:ln>
                <a:extLst>
                  <a:ext uri="{909E8E84-426E-40DD-AFC4-6F175D3DCCD1}">
                    <a14:hiddenFill xmlns:a14="http://schemas.microsoft.com/office/drawing/2010/main">
                      <a:solidFill>
                        <a:srgbClr val="FFFFFF"/>
                      </a:solidFill>
                    </a14:hiddenFill>
                  </a:ext>
                </a:extLst>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000">
                      <a:latin typeface="Roboto" panose="02000000000000000000" pitchFamily="2" charset="0"/>
                      <a:ea typeface="Roboto" panose="02000000000000000000" pitchFamily="2" charset="0"/>
                    </a:rPr>
                    <a:t>2.0</a:t>
                  </a:r>
                </a:p>
              </p:txBody>
            </p:sp>
          </p:grpSp>
          <p:cxnSp>
            <p:nvCxnSpPr>
              <p:cNvPr id="12" name="AutoShape 12">
                <a:extLst>
                  <a:ext uri="{FF2B5EF4-FFF2-40B4-BE49-F238E27FC236}">
                    <a16:creationId xmlns:a16="http://schemas.microsoft.com/office/drawing/2014/main" id="{25C67B35-490B-2ABB-E849-2642B1E91BBE}"/>
                  </a:ext>
                </a:extLst>
              </p:cNvPr>
              <p:cNvCxnSpPr>
                <a:cxnSpLocks noChangeShapeType="1"/>
              </p:cNvCxnSpPr>
              <p:nvPr/>
            </p:nvCxnSpPr>
            <p:spPr bwMode="auto">
              <a:xfrm flipV="1">
                <a:off x="299" y="1413"/>
                <a:ext cx="172" cy="1"/>
              </a:xfrm>
              <a:prstGeom prst="bentConnector3">
                <a:avLst>
                  <a:gd name="adj1" fmla="val 49417"/>
                </a:avLst>
              </a:prstGeom>
              <a:noFill/>
              <a:ln w="38100">
                <a:solidFill>
                  <a:schemeClr val="tx1"/>
                </a:solidFill>
                <a:miter lim="800000"/>
                <a:headEnd/>
                <a:tailEnd type="triangle" w="sm" len="sm"/>
              </a:ln>
              <a:extLst>
                <a:ext uri="{909E8E84-426E-40DD-AFC4-6F175D3DCCD1}">
                  <a14:hiddenFill xmlns:a14="http://schemas.microsoft.com/office/drawing/2010/main">
                    <a:noFill/>
                  </a14:hiddenFill>
                </a:ext>
              </a:extLst>
            </p:spPr>
          </p:cxnSp>
        </p:grpSp>
        <p:grpSp>
          <p:nvGrpSpPr>
            <p:cNvPr id="54" name="Group 13">
              <a:extLst>
                <a:ext uri="{FF2B5EF4-FFF2-40B4-BE49-F238E27FC236}">
                  <a16:creationId xmlns:a16="http://schemas.microsoft.com/office/drawing/2014/main" id="{E8F9B704-10B1-1127-29FF-BED18F18007E}"/>
                </a:ext>
              </a:extLst>
            </p:cNvPr>
            <p:cNvGrpSpPr>
              <a:grpSpLocks/>
            </p:cNvGrpSpPr>
            <p:nvPr/>
          </p:nvGrpSpPr>
          <p:grpSpPr bwMode="auto">
            <a:xfrm>
              <a:off x="4670792" y="3661874"/>
              <a:ext cx="1249362" cy="1735137"/>
              <a:chOff x="2294" y="1636"/>
              <a:chExt cx="787" cy="1093"/>
            </a:xfrm>
          </p:grpSpPr>
          <p:sp>
            <p:nvSpPr>
              <p:cNvPr id="55" name="Rectangle 14">
                <a:extLst>
                  <a:ext uri="{FF2B5EF4-FFF2-40B4-BE49-F238E27FC236}">
                    <a16:creationId xmlns:a16="http://schemas.microsoft.com/office/drawing/2014/main" id="{17E2F976-C32E-5833-C7FC-F080726D19EE}"/>
                  </a:ext>
                </a:extLst>
              </p:cNvPr>
              <p:cNvSpPr>
                <a:spLocks noChangeArrowheads="1"/>
              </p:cNvSpPr>
              <p:nvPr/>
            </p:nvSpPr>
            <p:spPr bwMode="auto">
              <a:xfrm>
                <a:off x="2294" y="1636"/>
                <a:ext cx="787" cy="1093"/>
              </a:xfrm>
              <a:prstGeom prst="rect">
                <a:avLst/>
              </a:prstGeom>
              <a:solidFill>
                <a:srgbClr val="FFFF66"/>
              </a:solidFill>
              <a:ln w="12700">
                <a:solidFill>
                  <a:schemeClr val="tx1"/>
                </a:solidFill>
                <a:miter lim="800000"/>
                <a:headEnd/>
                <a:tailEnd type="none" w="sm" len="sm"/>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5000"/>
                  </a:lnSpc>
                  <a:buFont typeface="Wingdings" panose="05000000000000000000" pitchFamily="2" charset="2"/>
                  <a:buNone/>
                </a:pPr>
                <a:endParaRPr lang="en-US" altLang="en-US" sz="1600">
                  <a:latin typeface="Roboto" panose="02000000000000000000" pitchFamily="2" charset="0"/>
                  <a:ea typeface="Roboto" panose="02000000000000000000" pitchFamily="2" charset="0"/>
                </a:endParaRPr>
              </a:p>
            </p:txBody>
          </p:sp>
          <p:sp>
            <p:nvSpPr>
              <p:cNvPr id="56" name="Text Box 15">
                <a:extLst>
                  <a:ext uri="{FF2B5EF4-FFF2-40B4-BE49-F238E27FC236}">
                    <a16:creationId xmlns:a16="http://schemas.microsoft.com/office/drawing/2014/main" id="{FE8360D7-160C-298A-4463-4B655A530A9B}"/>
                  </a:ext>
                </a:extLst>
              </p:cNvPr>
              <p:cNvSpPr txBox="1">
                <a:spLocks noChangeArrowheads="1"/>
              </p:cNvSpPr>
              <p:nvPr/>
            </p:nvSpPr>
            <p:spPr bwMode="auto">
              <a:xfrm>
                <a:off x="2329" y="1647"/>
                <a:ext cx="327"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000">
                    <a:latin typeface="Roboto" panose="02000000000000000000" pitchFamily="2" charset="0"/>
                    <a:ea typeface="Roboto" panose="02000000000000000000" pitchFamily="2" charset="0"/>
                  </a:rPr>
                  <a:t>CARD</a:t>
                </a:r>
              </a:p>
              <a:p>
                <a:pPr algn="ctr">
                  <a:lnSpc>
                    <a:spcPct val="80000"/>
                  </a:lnSpc>
                  <a:spcBef>
                    <a:spcPct val="20000"/>
                  </a:spcBef>
                  <a:spcAft>
                    <a:spcPct val="0"/>
                  </a:spcAft>
                  <a:buClrTx/>
                  <a:buSzTx/>
                  <a:buFontTx/>
                  <a:buNone/>
                </a:pPr>
                <a:r>
                  <a:rPr lang="en-US" altLang="en-US" sz="1000">
                    <a:latin typeface="Roboto" panose="02000000000000000000" pitchFamily="2" charset="0"/>
                    <a:ea typeface="Roboto" panose="02000000000000000000" pitchFamily="2" charset="0"/>
                  </a:rPr>
                  <a:t>#</a:t>
                </a:r>
              </a:p>
            </p:txBody>
          </p:sp>
          <p:sp>
            <p:nvSpPr>
              <p:cNvPr id="57" name="Text Box 16">
                <a:extLst>
                  <a:ext uri="{FF2B5EF4-FFF2-40B4-BE49-F238E27FC236}">
                    <a16:creationId xmlns:a16="http://schemas.microsoft.com/office/drawing/2014/main" id="{E8A8F68A-72FF-9E60-AA61-CF3C666471C6}"/>
                  </a:ext>
                </a:extLst>
              </p:cNvPr>
              <p:cNvSpPr txBox="1">
                <a:spLocks noChangeArrowheads="1"/>
              </p:cNvSpPr>
              <p:nvPr/>
            </p:nvSpPr>
            <p:spPr bwMode="auto">
              <a:xfrm>
                <a:off x="2312" y="2494"/>
                <a:ext cx="412"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000" dirty="0">
                    <a:latin typeface="Roboto" panose="02000000000000000000" pitchFamily="2" charset="0"/>
                    <a:ea typeface="Roboto" panose="02000000000000000000" pitchFamily="2" charset="0"/>
                  </a:rPr>
                  <a:t>Process</a:t>
                </a:r>
              </a:p>
              <a:p>
                <a:pPr algn="ctr">
                  <a:lnSpc>
                    <a:spcPct val="80000"/>
                  </a:lnSpc>
                  <a:spcBef>
                    <a:spcPct val="20000"/>
                  </a:spcBef>
                  <a:spcAft>
                    <a:spcPct val="0"/>
                  </a:spcAft>
                  <a:buClrTx/>
                  <a:buSzTx/>
                  <a:buFontTx/>
                  <a:buNone/>
                </a:pPr>
                <a:r>
                  <a:rPr lang="en-US" altLang="en-US" sz="1000" dirty="0">
                    <a:latin typeface="Roboto" panose="02000000000000000000" pitchFamily="2" charset="0"/>
                    <a:ea typeface="Roboto" panose="02000000000000000000" pitchFamily="2" charset="0"/>
                  </a:rPr>
                  <a:t>Steps</a:t>
                </a:r>
              </a:p>
            </p:txBody>
          </p:sp>
        </p:grpSp>
        <p:grpSp>
          <p:nvGrpSpPr>
            <p:cNvPr id="58" name="Group 17">
              <a:extLst>
                <a:ext uri="{FF2B5EF4-FFF2-40B4-BE49-F238E27FC236}">
                  <a16:creationId xmlns:a16="http://schemas.microsoft.com/office/drawing/2014/main" id="{B24DFE15-1574-2B3B-F569-AA5946BBC3C6}"/>
                </a:ext>
              </a:extLst>
            </p:cNvPr>
            <p:cNvGrpSpPr>
              <a:grpSpLocks/>
            </p:cNvGrpSpPr>
            <p:nvPr/>
          </p:nvGrpSpPr>
          <p:grpSpPr bwMode="auto">
            <a:xfrm>
              <a:off x="7240954" y="2361711"/>
              <a:ext cx="1249363" cy="1735138"/>
              <a:chOff x="3935" y="1864"/>
              <a:chExt cx="787" cy="1093"/>
            </a:xfrm>
          </p:grpSpPr>
          <p:sp>
            <p:nvSpPr>
              <p:cNvPr id="59" name="Rectangle 18">
                <a:extLst>
                  <a:ext uri="{FF2B5EF4-FFF2-40B4-BE49-F238E27FC236}">
                    <a16:creationId xmlns:a16="http://schemas.microsoft.com/office/drawing/2014/main" id="{9244B7CD-1DC8-E3B8-75F2-BFAE6734F3DA}"/>
                  </a:ext>
                </a:extLst>
              </p:cNvPr>
              <p:cNvSpPr>
                <a:spLocks noChangeArrowheads="1"/>
              </p:cNvSpPr>
              <p:nvPr/>
            </p:nvSpPr>
            <p:spPr bwMode="auto">
              <a:xfrm>
                <a:off x="3935" y="1864"/>
                <a:ext cx="787" cy="1093"/>
              </a:xfrm>
              <a:prstGeom prst="rect">
                <a:avLst/>
              </a:prstGeom>
              <a:solidFill>
                <a:srgbClr val="66CCFF"/>
              </a:solidFill>
              <a:ln w="12700">
                <a:solidFill>
                  <a:schemeClr val="tx1"/>
                </a:solidFill>
                <a:miter lim="800000"/>
                <a:headEnd/>
                <a:tailEnd type="none" w="sm" len="sm"/>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5000"/>
                  </a:lnSpc>
                  <a:buFont typeface="Wingdings" panose="05000000000000000000" pitchFamily="2" charset="2"/>
                  <a:buNone/>
                </a:pPr>
                <a:endParaRPr lang="en-US" altLang="en-US" sz="1600">
                  <a:latin typeface="Roboto" panose="02000000000000000000" pitchFamily="2" charset="0"/>
                  <a:ea typeface="Roboto" panose="02000000000000000000" pitchFamily="2" charset="0"/>
                </a:endParaRPr>
              </a:p>
            </p:txBody>
          </p:sp>
          <p:sp>
            <p:nvSpPr>
              <p:cNvPr id="60" name="Text Box 19">
                <a:extLst>
                  <a:ext uri="{FF2B5EF4-FFF2-40B4-BE49-F238E27FC236}">
                    <a16:creationId xmlns:a16="http://schemas.microsoft.com/office/drawing/2014/main" id="{BFF50943-9C0B-E658-5201-D3D22CCA0755}"/>
                  </a:ext>
                </a:extLst>
              </p:cNvPr>
              <p:cNvSpPr txBox="1">
                <a:spLocks noChangeArrowheads="1"/>
              </p:cNvSpPr>
              <p:nvPr/>
            </p:nvSpPr>
            <p:spPr bwMode="auto">
              <a:xfrm>
                <a:off x="3970" y="1875"/>
                <a:ext cx="327"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000">
                    <a:latin typeface="Roboto" panose="02000000000000000000" pitchFamily="2" charset="0"/>
                    <a:ea typeface="Roboto" panose="02000000000000000000" pitchFamily="2" charset="0"/>
                  </a:rPr>
                  <a:t>CARD</a:t>
                </a:r>
              </a:p>
              <a:p>
                <a:pPr algn="ctr">
                  <a:lnSpc>
                    <a:spcPct val="80000"/>
                  </a:lnSpc>
                  <a:spcBef>
                    <a:spcPct val="20000"/>
                  </a:spcBef>
                  <a:spcAft>
                    <a:spcPct val="0"/>
                  </a:spcAft>
                  <a:buClrTx/>
                  <a:buSzTx/>
                  <a:buFontTx/>
                  <a:buNone/>
                </a:pPr>
                <a:r>
                  <a:rPr lang="en-US" altLang="en-US" sz="1000">
                    <a:latin typeface="Roboto" panose="02000000000000000000" pitchFamily="2" charset="0"/>
                    <a:ea typeface="Roboto" panose="02000000000000000000" pitchFamily="2" charset="0"/>
                  </a:rPr>
                  <a:t>#</a:t>
                </a:r>
              </a:p>
            </p:txBody>
          </p:sp>
          <p:sp>
            <p:nvSpPr>
              <p:cNvPr id="61" name="Text Box 20">
                <a:extLst>
                  <a:ext uri="{FF2B5EF4-FFF2-40B4-BE49-F238E27FC236}">
                    <a16:creationId xmlns:a16="http://schemas.microsoft.com/office/drawing/2014/main" id="{A6EB0C30-C28C-3099-15AE-E5CD8DD58CFA}"/>
                  </a:ext>
                </a:extLst>
              </p:cNvPr>
              <p:cNvSpPr txBox="1">
                <a:spLocks noChangeArrowheads="1"/>
              </p:cNvSpPr>
              <p:nvPr/>
            </p:nvSpPr>
            <p:spPr bwMode="auto">
              <a:xfrm>
                <a:off x="3949" y="2722"/>
                <a:ext cx="508"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000">
                    <a:latin typeface="Roboto" panose="02000000000000000000" pitchFamily="2" charset="0"/>
                    <a:ea typeface="Roboto" panose="02000000000000000000" pitchFamily="2" charset="0"/>
                  </a:rPr>
                  <a:t>FACT Card</a:t>
                </a:r>
              </a:p>
              <a:p>
                <a:pPr algn="ctr">
                  <a:lnSpc>
                    <a:spcPct val="80000"/>
                  </a:lnSpc>
                  <a:spcBef>
                    <a:spcPct val="20000"/>
                  </a:spcBef>
                  <a:spcAft>
                    <a:spcPct val="0"/>
                  </a:spcAft>
                  <a:buClrTx/>
                  <a:buSzTx/>
                  <a:buFontTx/>
                  <a:buNone/>
                </a:pPr>
                <a:r>
                  <a:rPr lang="en-US" altLang="en-US" sz="1000">
                    <a:latin typeface="Roboto" panose="02000000000000000000" pitchFamily="2" charset="0"/>
                    <a:ea typeface="Roboto" panose="02000000000000000000" pitchFamily="2" charset="0"/>
                  </a:rPr>
                  <a:t>#</a:t>
                </a:r>
                <a:r>
                  <a:rPr lang="ja-JP" altLang="en-US" sz="1000">
                    <a:latin typeface="Roboto" panose="02000000000000000000" pitchFamily="2" charset="0"/>
                  </a:rPr>
                  <a:t>’</a:t>
                </a:r>
                <a:r>
                  <a:rPr lang="en-US" altLang="ja-JP" sz="1000">
                    <a:latin typeface="Roboto" panose="02000000000000000000" pitchFamily="2" charset="0"/>
                    <a:ea typeface="Roboto" panose="02000000000000000000" pitchFamily="2" charset="0"/>
                  </a:rPr>
                  <a:t>s</a:t>
                </a:r>
                <a:endParaRPr lang="en-US" altLang="en-US" sz="1000">
                  <a:latin typeface="Roboto" panose="02000000000000000000" pitchFamily="2" charset="0"/>
                  <a:ea typeface="Roboto" panose="02000000000000000000" pitchFamily="2" charset="0"/>
                </a:endParaRPr>
              </a:p>
            </p:txBody>
          </p:sp>
        </p:grpSp>
        <p:sp>
          <p:nvSpPr>
            <p:cNvPr id="62" name="Line 21">
              <a:extLst>
                <a:ext uri="{FF2B5EF4-FFF2-40B4-BE49-F238E27FC236}">
                  <a16:creationId xmlns:a16="http://schemas.microsoft.com/office/drawing/2014/main" id="{5D8543AB-4E35-8F69-C9BC-FE9FC511CEC4}"/>
                </a:ext>
              </a:extLst>
            </p:cNvPr>
            <p:cNvSpPr>
              <a:spLocks noChangeShapeType="1"/>
            </p:cNvSpPr>
            <p:nvPr/>
          </p:nvSpPr>
          <p:spPr bwMode="auto">
            <a:xfrm flipV="1">
              <a:off x="3772267" y="5185874"/>
              <a:ext cx="730250" cy="11112"/>
            </a:xfrm>
            <a:prstGeom prst="line">
              <a:avLst/>
            </a:prstGeom>
            <a:noFill/>
            <a:ln w="38100">
              <a:solidFill>
                <a:schemeClr val="accent1"/>
              </a:solidFill>
              <a:round/>
              <a:headEnd/>
              <a:tailEnd type="triangle" w="lg" len="lg"/>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63" name="Line 22">
              <a:extLst>
                <a:ext uri="{FF2B5EF4-FFF2-40B4-BE49-F238E27FC236}">
                  <a16:creationId xmlns:a16="http://schemas.microsoft.com/office/drawing/2014/main" id="{8EDA51C4-D146-9BAA-D857-43C380B77335}"/>
                </a:ext>
              </a:extLst>
            </p:cNvPr>
            <p:cNvSpPr>
              <a:spLocks noChangeShapeType="1"/>
            </p:cNvSpPr>
            <p:nvPr/>
          </p:nvSpPr>
          <p:spPr bwMode="auto">
            <a:xfrm flipV="1">
              <a:off x="5335954" y="3844436"/>
              <a:ext cx="1784350" cy="11113"/>
            </a:xfrm>
            <a:prstGeom prst="line">
              <a:avLst/>
            </a:prstGeom>
            <a:noFill/>
            <a:ln w="38100">
              <a:solidFill>
                <a:schemeClr val="accent1"/>
              </a:solidFill>
              <a:round/>
              <a:headEnd/>
              <a:tailEnd type="triangle" w="lg" len="lg"/>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64" name="Text Box 23">
              <a:extLst>
                <a:ext uri="{FF2B5EF4-FFF2-40B4-BE49-F238E27FC236}">
                  <a16:creationId xmlns:a16="http://schemas.microsoft.com/office/drawing/2014/main" id="{70930E3E-112C-B325-BF52-7600D18380C3}"/>
                </a:ext>
              </a:extLst>
            </p:cNvPr>
            <p:cNvSpPr txBox="1">
              <a:spLocks noChangeArrowheads="1"/>
            </p:cNvSpPr>
            <p:nvPr/>
          </p:nvSpPr>
          <p:spPr bwMode="auto">
            <a:xfrm>
              <a:off x="2091553" y="4809636"/>
              <a:ext cx="1351652" cy="2664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400">
                  <a:latin typeface="Roboto" panose="02000000000000000000" pitchFamily="2" charset="0"/>
                  <a:ea typeface="Roboto" panose="02000000000000000000" pitchFamily="2" charset="0"/>
                </a:rPr>
                <a:t>Process Steps</a:t>
              </a:r>
            </a:p>
          </p:txBody>
        </p:sp>
        <p:sp>
          <p:nvSpPr>
            <p:cNvPr id="65" name="Text Box 24">
              <a:extLst>
                <a:ext uri="{FF2B5EF4-FFF2-40B4-BE49-F238E27FC236}">
                  <a16:creationId xmlns:a16="http://schemas.microsoft.com/office/drawing/2014/main" id="{A774A41C-12C8-F940-851E-C163EAA3FEC2}"/>
                </a:ext>
              </a:extLst>
            </p:cNvPr>
            <p:cNvSpPr txBox="1">
              <a:spLocks noChangeArrowheads="1"/>
            </p:cNvSpPr>
            <p:nvPr/>
          </p:nvSpPr>
          <p:spPr bwMode="auto">
            <a:xfrm>
              <a:off x="4661906" y="3355486"/>
              <a:ext cx="1148071" cy="2664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400">
                  <a:latin typeface="Roboto" panose="02000000000000000000" pitchFamily="2" charset="0"/>
                  <a:ea typeface="Roboto" panose="02000000000000000000" pitchFamily="2" charset="0"/>
                </a:rPr>
                <a:t>FACT Cards</a:t>
              </a:r>
            </a:p>
          </p:txBody>
        </p:sp>
        <p:sp>
          <p:nvSpPr>
            <p:cNvPr id="66" name="Text Box 25">
              <a:extLst>
                <a:ext uri="{FF2B5EF4-FFF2-40B4-BE49-F238E27FC236}">
                  <a16:creationId xmlns:a16="http://schemas.microsoft.com/office/drawing/2014/main" id="{9D6B96DD-3776-EC3D-05DC-9FF7D3904F9D}"/>
                </a:ext>
              </a:extLst>
            </p:cNvPr>
            <p:cNvSpPr txBox="1">
              <a:spLocks noChangeArrowheads="1"/>
            </p:cNvSpPr>
            <p:nvPr/>
          </p:nvSpPr>
          <p:spPr bwMode="auto">
            <a:xfrm>
              <a:off x="6897853" y="2052149"/>
              <a:ext cx="1978426" cy="2664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400">
                  <a:latin typeface="Roboto" panose="02000000000000000000" pitchFamily="2" charset="0"/>
                  <a:ea typeface="Roboto" panose="02000000000000000000" pitchFamily="2" charset="0"/>
                </a:rPr>
                <a:t>IMPROVEMENT Cards</a:t>
              </a:r>
            </a:p>
          </p:txBody>
        </p:sp>
      </p:grpSp>
    </p:spTree>
    <p:extLst>
      <p:ext uri="{BB962C8B-B14F-4D97-AF65-F5344CB8AC3E}">
        <p14:creationId xmlns:p14="http://schemas.microsoft.com/office/powerpoint/2010/main" val="2037920457"/>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noAutofit/>
          </a:bodyPr>
          <a:lstStyle/>
          <a:p>
            <a:r>
              <a:rPr lang="en-US" sz="2800" dirty="0"/>
              <a:t>Describe the Detail and Format for an IMPROVEMENT Card</a:t>
            </a:r>
          </a:p>
        </p:txBody>
      </p:sp>
      <p:sp>
        <p:nvSpPr>
          <p:cNvPr id="3" name="Content Placeholder 2">
            <a:extLst>
              <a:ext uri="{FF2B5EF4-FFF2-40B4-BE49-F238E27FC236}">
                <a16:creationId xmlns:a16="http://schemas.microsoft.com/office/drawing/2014/main" id="{2AA7A201-AD05-6520-E140-CCF11E59E700}"/>
              </a:ext>
            </a:extLst>
          </p:cNvPr>
          <p:cNvSpPr>
            <a:spLocks noGrp="1"/>
          </p:cNvSpPr>
          <p:nvPr>
            <p:ph idx="1"/>
          </p:nvPr>
        </p:nvSpPr>
        <p:spPr/>
        <p:txBody>
          <a:bodyPr/>
          <a:lstStyle/>
          <a:p>
            <a:pPr marL="0" indent="0">
              <a:buNone/>
            </a:pPr>
            <a:r>
              <a:rPr lang="en-US" dirty="0"/>
              <a:t>Improvement card writing guidelines</a:t>
            </a:r>
          </a:p>
          <a:p>
            <a:r>
              <a:rPr lang="en-US" dirty="0"/>
              <a:t>Use full thoughts and sentences</a:t>
            </a:r>
          </a:p>
          <a:p>
            <a:r>
              <a:rPr lang="en-US" dirty="0"/>
              <a:t>Write one main idea per card</a:t>
            </a:r>
          </a:p>
          <a:p>
            <a:r>
              <a:rPr lang="en-US" dirty="0"/>
              <a:t>Must be preceded by FACT cards</a:t>
            </a:r>
          </a:p>
          <a:p>
            <a:r>
              <a:rPr lang="en-US" dirty="0"/>
              <a:t>Be concrete and specific</a:t>
            </a:r>
          </a:p>
          <a:p>
            <a:r>
              <a:rPr lang="en-US" dirty="0"/>
              <a:t>Sign and date cards</a:t>
            </a:r>
          </a:p>
          <a:p>
            <a:r>
              <a:rPr lang="en-US" dirty="0"/>
              <a:t>Make card readable</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73</a:t>
            </a:fld>
            <a:endParaRPr lang="en-US"/>
          </a:p>
        </p:txBody>
      </p:sp>
      <p:grpSp>
        <p:nvGrpSpPr>
          <p:cNvPr id="4" name="Group 3">
            <a:extLst>
              <a:ext uri="{FF2B5EF4-FFF2-40B4-BE49-F238E27FC236}">
                <a16:creationId xmlns:a16="http://schemas.microsoft.com/office/drawing/2014/main" id="{C1F2DC6B-D88C-7FA5-5003-05F28F6783E5}"/>
              </a:ext>
            </a:extLst>
          </p:cNvPr>
          <p:cNvGrpSpPr/>
          <p:nvPr/>
        </p:nvGrpSpPr>
        <p:grpSpPr>
          <a:xfrm>
            <a:off x="838200" y="297639"/>
            <a:ext cx="4351020" cy="307138"/>
            <a:chOff x="838200" y="297639"/>
            <a:chExt cx="4351020" cy="307138"/>
          </a:xfrm>
        </p:grpSpPr>
        <p:grpSp>
          <p:nvGrpSpPr>
            <p:cNvPr id="6" name="Group 5">
              <a:extLst>
                <a:ext uri="{FF2B5EF4-FFF2-40B4-BE49-F238E27FC236}">
                  <a16:creationId xmlns:a16="http://schemas.microsoft.com/office/drawing/2014/main" id="{B5375B13-A527-ADD6-801D-0D6CB82E74BC}"/>
                </a:ext>
              </a:extLst>
            </p:cNvPr>
            <p:cNvGrpSpPr/>
            <p:nvPr/>
          </p:nvGrpSpPr>
          <p:grpSpPr>
            <a:xfrm>
              <a:off x="838200" y="297639"/>
              <a:ext cx="1687517" cy="290657"/>
              <a:chOff x="838200" y="297639"/>
              <a:chExt cx="1687517" cy="290657"/>
            </a:xfrm>
          </p:grpSpPr>
          <p:sp>
            <p:nvSpPr>
              <p:cNvPr id="8" name="AutoShape 9">
                <a:extLst>
                  <a:ext uri="{FF2B5EF4-FFF2-40B4-BE49-F238E27FC236}">
                    <a16:creationId xmlns:a16="http://schemas.microsoft.com/office/drawing/2014/main" id="{522737C5-48ED-C14C-5338-43A89A4D95E6}"/>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9" name="AutoShape 9">
                <a:extLst>
                  <a:ext uri="{FF2B5EF4-FFF2-40B4-BE49-F238E27FC236}">
                    <a16:creationId xmlns:a16="http://schemas.microsoft.com/office/drawing/2014/main" id="{C6C81D3D-7428-13F6-58A9-351006664885}"/>
                  </a:ext>
                </a:extLst>
              </p:cNvPr>
              <p:cNvSpPr>
                <a:spLocks noChangeArrowheads="1"/>
              </p:cNvSpPr>
              <p:nvPr/>
            </p:nvSpPr>
            <p:spPr bwMode="auto">
              <a:xfrm>
                <a:off x="1779225" y="297639"/>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nvGrpSpPr>
              <p:cNvPr id="10" name="Group 9">
                <a:extLst>
                  <a:ext uri="{FF2B5EF4-FFF2-40B4-BE49-F238E27FC236}">
                    <a16:creationId xmlns:a16="http://schemas.microsoft.com/office/drawing/2014/main" id="{402C9DD6-204A-C867-5AAC-7D462ECA9C05}"/>
                  </a:ext>
                </a:extLst>
              </p:cNvPr>
              <p:cNvGrpSpPr/>
              <p:nvPr/>
            </p:nvGrpSpPr>
            <p:grpSpPr>
              <a:xfrm>
                <a:off x="838200" y="297639"/>
                <a:ext cx="1060167" cy="290657"/>
                <a:chOff x="826426" y="4041857"/>
                <a:chExt cx="1060167" cy="290657"/>
              </a:xfrm>
            </p:grpSpPr>
            <p:sp>
              <p:nvSpPr>
                <p:cNvPr id="11" name="AutoShape 9">
                  <a:extLst>
                    <a:ext uri="{FF2B5EF4-FFF2-40B4-BE49-F238E27FC236}">
                      <a16:creationId xmlns:a16="http://schemas.microsoft.com/office/drawing/2014/main" id="{08BD392E-5779-F662-9B3B-5EE2616C36B2}"/>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2" name="AutoShape 11">
                  <a:extLst>
                    <a:ext uri="{FF2B5EF4-FFF2-40B4-BE49-F238E27FC236}">
                      <a16:creationId xmlns:a16="http://schemas.microsoft.com/office/drawing/2014/main" id="{8FC2A77B-56E8-8507-CAE7-B64ED1005372}"/>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3" name="AutoShape 10">
                  <a:extLst>
                    <a:ext uri="{FF2B5EF4-FFF2-40B4-BE49-F238E27FC236}">
                      <a16:creationId xmlns:a16="http://schemas.microsoft.com/office/drawing/2014/main" id="{56BF6379-B7D9-C0DF-7601-82D8EA4E4557}"/>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7" name="TextBox 6">
              <a:extLst>
                <a:ext uri="{FF2B5EF4-FFF2-40B4-BE49-F238E27FC236}">
                  <a16:creationId xmlns:a16="http://schemas.microsoft.com/office/drawing/2014/main" id="{7FAABA21-3AD5-A595-D680-61C4FEFB6378}"/>
                </a:ext>
              </a:extLst>
            </p:cNvPr>
            <p:cNvSpPr txBox="1"/>
            <p:nvPr/>
          </p:nvSpPr>
          <p:spPr>
            <a:xfrm>
              <a:off x="2525717" y="313415"/>
              <a:ext cx="266350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CEDAC Problem Solution</a:t>
              </a:r>
            </a:p>
          </p:txBody>
        </p:sp>
      </p:grpSp>
    </p:spTree>
    <p:extLst>
      <p:ext uri="{BB962C8B-B14F-4D97-AF65-F5344CB8AC3E}">
        <p14:creationId xmlns:p14="http://schemas.microsoft.com/office/powerpoint/2010/main" val="3894272175"/>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noAutofit/>
          </a:bodyPr>
          <a:lstStyle/>
          <a:p>
            <a:r>
              <a:rPr lang="en-US" sz="4000" dirty="0"/>
              <a:t>Improvement Card Idea Generator</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74</a:t>
            </a:fld>
            <a:endParaRPr lang="en-US"/>
          </a:p>
        </p:txBody>
      </p:sp>
      <p:graphicFrame>
        <p:nvGraphicFramePr>
          <p:cNvPr id="3" name="Group 34">
            <a:extLst>
              <a:ext uri="{FF2B5EF4-FFF2-40B4-BE49-F238E27FC236}">
                <a16:creationId xmlns:a16="http://schemas.microsoft.com/office/drawing/2014/main" id="{8903D1A0-9AF7-63D9-2123-FC35A2B7133A}"/>
              </a:ext>
            </a:extLst>
          </p:cNvPr>
          <p:cNvGraphicFramePr>
            <a:graphicFrameLocks noGrp="1"/>
          </p:cNvGraphicFramePr>
          <p:nvPr>
            <p:extLst>
              <p:ext uri="{D42A27DB-BD31-4B8C-83A1-F6EECF244321}">
                <p14:modId xmlns:p14="http://schemas.microsoft.com/office/powerpoint/2010/main" val="843851706"/>
              </p:ext>
            </p:extLst>
          </p:nvPr>
        </p:nvGraphicFramePr>
        <p:xfrm>
          <a:off x="838201" y="1754273"/>
          <a:ext cx="10706100" cy="4526667"/>
        </p:xfrm>
        <a:graphic>
          <a:graphicData uri="http://schemas.openxmlformats.org/drawingml/2006/table">
            <a:tbl>
              <a:tblPr/>
              <a:tblGrid>
                <a:gridCol w="2179319">
                  <a:extLst>
                    <a:ext uri="{9D8B030D-6E8A-4147-A177-3AD203B41FA5}">
                      <a16:colId xmlns:a16="http://schemas.microsoft.com/office/drawing/2014/main" val="20000"/>
                    </a:ext>
                  </a:extLst>
                </a:gridCol>
                <a:gridCol w="8526781">
                  <a:extLst>
                    <a:ext uri="{9D8B030D-6E8A-4147-A177-3AD203B41FA5}">
                      <a16:colId xmlns:a16="http://schemas.microsoft.com/office/drawing/2014/main" val="20002"/>
                    </a:ext>
                  </a:extLst>
                </a:gridCol>
              </a:tblGrid>
              <a:tr h="0">
                <a:tc gridSpan="2">
                  <a:txBody>
                    <a:bodyPr/>
                    <a:lstStyle/>
                    <a:p>
                      <a:pPr marL="0" marR="0" lvl="0" indent="0" algn="l" defTabSz="914400" rtl="0" eaLnBrk="0" fontAlgn="base" latinLnBrk="0" hangingPunct="0">
                        <a:lnSpc>
                          <a:spcPct val="115000"/>
                        </a:lnSpc>
                        <a:spcBef>
                          <a:spcPct val="50000"/>
                        </a:spcBef>
                        <a:spcAft>
                          <a:spcPct val="50000"/>
                        </a:spcAft>
                        <a:buClr>
                          <a:srgbClr val="006699"/>
                        </a:buClr>
                        <a:buSzPct val="90000"/>
                        <a:buFont typeface="Wingdings" pitchFamily="2" charset="2"/>
                        <a:buNone/>
                        <a:tabLst/>
                      </a:pPr>
                      <a:r>
                        <a:rPr kumimoji="0" lang="en-US" sz="2400" b="1" i="0" u="none" strike="noStrike" cap="none" normalizeH="0" baseline="0" dirty="0">
                          <a:ln>
                            <a:noFill/>
                          </a:ln>
                          <a:solidFill>
                            <a:schemeClr val="bg1"/>
                          </a:solidFill>
                          <a:effectLst/>
                          <a:latin typeface="Roboto" panose="02000000000000000000" pitchFamily="2" charset="0"/>
                          <a:ea typeface="Roboto" panose="02000000000000000000" pitchFamily="2" charset="0"/>
                        </a:rPr>
                        <a:t>Improvement Card Idea Generator</a:t>
                      </a:r>
                    </a:p>
                  </a:txBody>
                  <a:tcPr marT="45715" marB="45715" anchor="b"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hMerge="1">
                  <a:txBody>
                    <a:bodyPr/>
                    <a:lstStyle/>
                    <a:p>
                      <a:pPr marL="0" marR="0" lvl="0" indent="0" algn="r" defTabSz="914400" rtl="0" eaLnBrk="0" fontAlgn="base" latinLnBrk="0" hangingPunct="0">
                        <a:lnSpc>
                          <a:spcPct val="115000"/>
                        </a:lnSpc>
                        <a:spcBef>
                          <a:spcPct val="50000"/>
                        </a:spcBef>
                        <a:spcAft>
                          <a:spcPct val="50000"/>
                        </a:spcAft>
                        <a:buClr>
                          <a:srgbClr val="006699"/>
                        </a:buClr>
                        <a:buSzPct val="90000"/>
                        <a:buFont typeface="Wingdings" pitchFamily="2" charset="2"/>
                        <a:buNone/>
                        <a:tabLst/>
                      </a:pPr>
                      <a:endParaRPr kumimoji="0" lang="en-US" sz="3200" b="1" i="0" u="none" strike="noStrike" cap="none" normalizeH="0" baseline="0" dirty="0">
                        <a:ln>
                          <a:noFill/>
                        </a:ln>
                        <a:solidFill>
                          <a:schemeClr val="bg1"/>
                        </a:solidFill>
                        <a:effectLst/>
                        <a:latin typeface="Roboto" panose="02000000000000000000" pitchFamily="2" charset="0"/>
                        <a:ea typeface="Roboto" panose="02000000000000000000" pitchFamily="2" charset="0"/>
                      </a:endParaRPr>
                    </a:p>
                  </a:txBody>
                  <a:tcPr marT="45715" marB="45715" anchor="b"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161033">
                <a:tc>
                  <a:txBody>
                    <a:bodyPr/>
                    <a:lstStyle/>
                    <a:p>
                      <a:pPr marL="0" marR="0" lvl="0" indent="0" algn="l" defTabSz="914400" rtl="0" eaLnBrk="0" fontAlgn="base" latinLnBrk="0" hangingPunct="0">
                        <a:lnSpc>
                          <a:spcPct val="115000"/>
                        </a:lnSpc>
                        <a:spcBef>
                          <a:spcPct val="20000"/>
                        </a:spcBef>
                        <a:spcAft>
                          <a:spcPct val="20000"/>
                        </a:spcAft>
                        <a:buClr>
                          <a:srgbClr val="006699"/>
                        </a:buClr>
                        <a:buSzPct val="90000"/>
                        <a:buFont typeface="Wingdings" pitchFamily="2" charset="2"/>
                        <a:buNone/>
                        <a:tabLst/>
                      </a:pPr>
                      <a:r>
                        <a:rPr kumimoji="0" lang="en-US" sz="1400" b="0" i="0" u="none" strike="noStrike" kern="1200" cap="none" normalizeH="0" baseline="0" dirty="0">
                          <a:ln>
                            <a:noFill/>
                          </a:ln>
                          <a:solidFill>
                            <a:schemeClr val="tx1"/>
                          </a:solidFill>
                          <a:effectLst/>
                          <a:latin typeface="Roboto" panose="02000000000000000000" pitchFamily="2" charset="0"/>
                          <a:ea typeface="Roboto" panose="02000000000000000000" pitchFamily="2" charset="0"/>
                          <a:cs typeface="+mn-cs"/>
                        </a:rPr>
                        <a:t>Think of other uses</a:t>
                      </a:r>
                    </a:p>
                  </a:txBody>
                  <a:tcPr marT="45715" marB="45715"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p>
                      <a:pPr marL="0" marR="0" lvl="0" indent="0" algn="l" defTabSz="914400" rtl="0" eaLnBrk="0" fontAlgn="base" latinLnBrk="0" hangingPunct="0">
                        <a:lnSpc>
                          <a:spcPct val="100000"/>
                        </a:lnSpc>
                        <a:spcBef>
                          <a:spcPct val="20000"/>
                        </a:spcBef>
                        <a:spcAft>
                          <a:spcPct val="20000"/>
                        </a:spcAft>
                        <a:buClr>
                          <a:schemeClr val="tx1"/>
                        </a:buClr>
                        <a:buSzPct val="90000"/>
                        <a:buFont typeface="Arial" panose="020B0604020202020204" pitchFamily="34" charset="0"/>
                        <a:buNone/>
                        <a:tabLst/>
                      </a:pPr>
                      <a:r>
                        <a:rPr kumimoji="0" lang="en-US" sz="1400" b="0" i="0" u="none" strike="noStrike" kern="1200" cap="none" normalizeH="0" baseline="0" dirty="0">
                          <a:ln>
                            <a:noFill/>
                          </a:ln>
                          <a:solidFill>
                            <a:schemeClr val="tx1"/>
                          </a:solidFill>
                          <a:effectLst/>
                          <a:latin typeface="Roboto" panose="02000000000000000000" pitchFamily="2" charset="0"/>
                          <a:ea typeface="Roboto" panose="02000000000000000000" pitchFamily="2" charset="0"/>
                          <a:cs typeface="+mn-cs"/>
                        </a:rPr>
                        <a:t>New use? Amend it?</a:t>
                      </a:r>
                    </a:p>
                  </a:txBody>
                  <a:tcPr marT="45715" marB="45715"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0">
                <a:tc>
                  <a:txBody>
                    <a:bodyPr/>
                    <a:lstStyle/>
                    <a:p>
                      <a:pPr marL="0" marR="0" lvl="0" indent="0" algn="l" defTabSz="914400" rtl="0" eaLnBrk="0" fontAlgn="base" latinLnBrk="0" hangingPunct="0">
                        <a:lnSpc>
                          <a:spcPct val="115000"/>
                        </a:lnSpc>
                        <a:spcBef>
                          <a:spcPct val="20000"/>
                        </a:spcBef>
                        <a:spcAft>
                          <a:spcPct val="20000"/>
                        </a:spcAft>
                        <a:buClr>
                          <a:srgbClr val="006699"/>
                        </a:buClr>
                        <a:buSzPct val="90000"/>
                        <a:buFont typeface="Wingdings" pitchFamily="2" charset="2"/>
                        <a:buNone/>
                        <a:tabLst/>
                      </a:pPr>
                      <a:r>
                        <a:rPr kumimoji="0" lang="en-US" sz="1400" b="0" i="0" u="none" strike="noStrike" kern="1200" cap="none" normalizeH="0" baseline="0" dirty="0">
                          <a:ln>
                            <a:noFill/>
                          </a:ln>
                          <a:solidFill>
                            <a:schemeClr val="tx1"/>
                          </a:solidFill>
                          <a:effectLst/>
                          <a:latin typeface="Roboto" panose="02000000000000000000" pitchFamily="2" charset="0"/>
                          <a:ea typeface="Roboto" panose="02000000000000000000" pitchFamily="2" charset="0"/>
                          <a:cs typeface="+mn-cs"/>
                        </a:rPr>
                        <a:t>Apply it</a:t>
                      </a:r>
                    </a:p>
                  </a:txBody>
                  <a:tcPr marT="45715" marB="45715"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p>
                      <a:pPr marL="0" marR="0" lvl="0" indent="0" algn="l" defTabSz="914400" rtl="0" eaLnBrk="0" fontAlgn="base" latinLnBrk="0" hangingPunct="0">
                        <a:lnSpc>
                          <a:spcPct val="100000"/>
                        </a:lnSpc>
                        <a:spcBef>
                          <a:spcPct val="20000"/>
                        </a:spcBef>
                        <a:spcAft>
                          <a:spcPct val="20000"/>
                        </a:spcAft>
                        <a:buClr>
                          <a:schemeClr val="tx1"/>
                        </a:buClr>
                        <a:buSzPct val="90000"/>
                        <a:buFont typeface="Arial" panose="020B0604020202020204" pitchFamily="34" charset="0"/>
                        <a:buNone/>
                        <a:tabLst/>
                      </a:pPr>
                      <a:r>
                        <a:rPr kumimoji="0" lang="en-US" sz="1400" b="0" i="0" u="none" strike="noStrike" kern="1200" cap="none" normalizeH="0" baseline="0" dirty="0">
                          <a:ln>
                            <a:noFill/>
                          </a:ln>
                          <a:solidFill>
                            <a:schemeClr val="tx1"/>
                          </a:solidFill>
                          <a:effectLst/>
                          <a:latin typeface="Roboto" panose="02000000000000000000" pitchFamily="2" charset="0"/>
                          <a:ea typeface="Roboto" panose="02000000000000000000" pitchFamily="2" charset="0"/>
                          <a:cs typeface="+mn-cs"/>
                        </a:rPr>
                        <a:t>What does it look like? Copy it?</a:t>
                      </a:r>
                    </a:p>
                  </a:txBody>
                  <a:tcPr marT="45715" marB="45715"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708273691"/>
                  </a:ext>
                </a:extLst>
              </a:tr>
              <a:tr h="161033">
                <a:tc>
                  <a:txBody>
                    <a:bodyPr/>
                    <a:lstStyle/>
                    <a:p>
                      <a:pPr marL="0" marR="0" lvl="0" indent="0" algn="l" defTabSz="914400" rtl="0" eaLnBrk="0" fontAlgn="base" latinLnBrk="0" hangingPunct="0">
                        <a:lnSpc>
                          <a:spcPct val="115000"/>
                        </a:lnSpc>
                        <a:spcBef>
                          <a:spcPct val="20000"/>
                        </a:spcBef>
                        <a:spcAft>
                          <a:spcPct val="20000"/>
                        </a:spcAft>
                        <a:buClr>
                          <a:srgbClr val="006699"/>
                        </a:buClr>
                        <a:buSzPct val="90000"/>
                        <a:buFont typeface="Wingdings" pitchFamily="2" charset="2"/>
                        <a:buNone/>
                        <a:tabLst/>
                      </a:pPr>
                      <a:r>
                        <a:rPr kumimoji="0" lang="en-US" sz="1400" b="0" i="0" u="none" strike="noStrike" kern="1200" cap="none" normalizeH="0" baseline="0" dirty="0">
                          <a:ln>
                            <a:noFill/>
                          </a:ln>
                          <a:solidFill>
                            <a:schemeClr val="tx1"/>
                          </a:solidFill>
                          <a:effectLst/>
                          <a:latin typeface="Roboto" panose="02000000000000000000" pitchFamily="2" charset="0"/>
                          <a:ea typeface="Roboto" panose="02000000000000000000" pitchFamily="2" charset="0"/>
                          <a:cs typeface="+mn-cs"/>
                        </a:rPr>
                        <a:t>Revise it</a:t>
                      </a:r>
                    </a:p>
                  </a:txBody>
                  <a:tcPr marT="45715" marB="45715"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p>
                      <a:pPr marL="0" marR="0" lvl="0" indent="0" algn="l" defTabSz="914400" rtl="0" eaLnBrk="0" fontAlgn="base" latinLnBrk="0" hangingPunct="0">
                        <a:lnSpc>
                          <a:spcPct val="100000"/>
                        </a:lnSpc>
                        <a:spcBef>
                          <a:spcPct val="20000"/>
                        </a:spcBef>
                        <a:spcAft>
                          <a:spcPct val="20000"/>
                        </a:spcAft>
                        <a:buClr>
                          <a:schemeClr val="tx1"/>
                        </a:buClr>
                        <a:buSzPct val="90000"/>
                        <a:buFont typeface="Arial" panose="020B0604020202020204" pitchFamily="34" charset="0"/>
                        <a:buNone/>
                        <a:tabLst/>
                      </a:pPr>
                      <a:r>
                        <a:rPr kumimoji="0" lang="en-US" sz="1400" b="0" i="0" u="none" strike="noStrike" kern="1200" cap="none" normalizeH="0" baseline="0" dirty="0">
                          <a:ln>
                            <a:noFill/>
                          </a:ln>
                          <a:solidFill>
                            <a:schemeClr val="tx1"/>
                          </a:solidFill>
                          <a:effectLst/>
                          <a:latin typeface="Roboto" panose="02000000000000000000" pitchFamily="2" charset="0"/>
                          <a:ea typeface="Roboto" panose="02000000000000000000" pitchFamily="2" charset="0"/>
                          <a:cs typeface="+mn-cs"/>
                        </a:rPr>
                        <a:t>Can you change it? Think of its shape, form, movement.</a:t>
                      </a:r>
                    </a:p>
                  </a:txBody>
                  <a:tcPr marT="45715" marB="45715"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326311565"/>
                  </a:ext>
                </a:extLst>
              </a:tr>
              <a:tr h="161033">
                <a:tc>
                  <a:txBody>
                    <a:bodyPr/>
                    <a:lstStyle/>
                    <a:p>
                      <a:pPr marL="0" marR="0" lvl="0" indent="0" algn="l" defTabSz="914400" rtl="0" eaLnBrk="0" fontAlgn="base" latinLnBrk="0" hangingPunct="0">
                        <a:lnSpc>
                          <a:spcPct val="115000"/>
                        </a:lnSpc>
                        <a:spcBef>
                          <a:spcPct val="20000"/>
                        </a:spcBef>
                        <a:spcAft>
                          <a:spcPct val="20000"/>
                        </a:spcAft>
                        <a:buClr>
                          <a:srgbClr val="006699"/>
                        </a:buClr>
                        <a:buSzPct val="90000"/>
                        <a:buFont typeface="Wingdings" pitchFamily="2" charset="2"/>
                        <a:buNone/>
                        <a:tabLst/>
                      </a:pPr>
                      <a:r>
                        <a:rPr kumimoji="0" lang="en-US" sz="1400" b="0" i="0" u="none" strike="noStrike" kern="1200" cap="none" normalizeH="0" baseline="0" dirty="0">
                          <a:ln>
                            <a:noFill/>
                          </a:ln>
                          <a:solidFill>
                            <a:schemeClr val="tx1"/>
                          </a:solidFill>
                          <a:effectLst/>
                          <a:latin typeface="Roboto" panose="02000000000000000000" pitchFamily="2" charset="0"/>
                          <a:ea typeface="Roboto" panose="02000000000000000000" pitchFamily="2" charset="0"/>
                          <a:cs typeface="+mn-cs"/>
                        </a:rPr>
                        <a:t>Expand it</a:t>
                      </a:r>
                    </a:p>
                  </a:txBody>
                  <a:tcPr marT="45715" marB="45715"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p>
                      <a:pPr marL="0" marR="0" lvl="0" indent="0" algn="l" defTabSz="914400" rtl="0" eaLnBrk="0" fontAlgn="base" latinLnBrk="0" hangingPunct="0">
                        <a:lnSpc>
                          <a:spcPct val="100000"/>
                        </a:lnSpc>
                        <a:spcBef>
                          <a:spcPct val="20000"/>
                        </a:spcBef>
                        <a:spcAft>
                          <a:spcPct val="20000"/>
                        </a:spcAft>
                        <a:buClr>
                          <a:schemeClr val="tx1"/>
                        </a:buClr>
                        <a:buSzPct val="90000"/>
                        <a:buFont typeface="Arial" panose="020B0604020202020204" pitchFamily="34" charset="0"/>
                        <a:buNone/>
                        <a:tabLst/>
                      </a:pPr>
                      <a:r>
                        <a:rPr kumimoji="0" lang="en-US" sz="1400" b="0" i="0" u="none" strike="noStrike" kern="1200" cap="none" normalizeH="0" baseline="0" dirty="0">
                          <a:ln>
                            <a:noFill/>
                          </a:ln>
                          <a:solidFill>
                            <a:schemeClr val="tx1"/>
                          </a:solidFill>
                          <a:effectLst/>
                          <a:latin typeface="Roboto" panose="02000000000000000000" pitchFamily="2" charset="0"/>
                          <a:ea typeface="Roboto" panose="02000000000000000000" pitchFamily="2" charset="0"/>
                          <a:cs typeface="+mn-cs"/>
                        </a:rPr>
                        <a:t>Add something. Add time, length, constituent element.</a:t>
                      </a:r>
                    </a:p>
                  </a:txBody>
                  <a:tcPr marT="45715" marB="45715"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22065">
                <a:tc>
                  <a:txBody>
                    <a:bodyPr/>
                    <a:lstStyle/>
                    <a:p>
                      <a:pPr marL="0" marR="0" lvl="0" indent="0" algn="l" defTabSz="914400" rtl="0" eaLnBrk="0" fontAlgn="base" latinLnBrk="0" hangingPunct="0">
                        <a:lnSpc>
                          <a:spcPct val="115000"/>
                        </a:lnSpc>
                        <a:spcBef>
                          <a:spcPct val="20000"/>
                        </a:spcBef>
                        <a:spcAft>
                          <a:spcPct val="20000"/>
                        </a:spcAft>
                        <a:buClr>
                          <a:srgbClr val="006699"/>
                        </a:buClr>
                        <a:buSzPct val="90000"/>
                        <a:buFont typeface="Wingdings" pitchFamily="2" charset="2"/>
                        <a:buNone/>
                        <a:tabLst/>
                      </a:pPr>
                      <a:r>
                        <a:rPr kumimoji="0" lang="en-US" sz="1400" b="0" i="0" u="none" strike="noStrike" kern="1200" cap="none" normalizeH="0" baseline="0" dirty="0">
                          <a:ln>
                            <a:noFill/>
                          </a:ln>
                          <a:solidFill>
                            <a:schemeClr val="tx1"/>
                          </a:solidFill>
                          <a:effectLst/>
                          <a:latin typeface="Roboto" panose="02000000000000000000" pitchFamily="2" charset="0"/>
                          <a:ea typeface="Roboto" panose="02000000000000000000" pitchFamily="2" charset="0"/>
                          <a:cs typeface="+mn-cs"/>
                        </a:rPr>
                        <a:t>Reduce it</a:t>
                      </a:r>
                    </a:p>
                  </a:txBody>
                  <a:tcPr marT="45715" marB="45715"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p>
                      <a:pPr marL="0" marR="0" lvl="0" indent="0" algn="l" defTabSz="914400" rtl="0" eaLnBrk="0" fontAlgn="base" latinLnBrk="0" hangingPunct="0">
                        <a:lnSpc>
                          <a:spcPct val="100000"/>
                        </a:lnSpc>
                        <a:spcBef>
                          <a:spcPct val="20000"/>
                        </a:spcBef>
                        <a:spcAft>
                          <a:spcPct val="20000"/>
                        </a:spcAft>
                        <a:buClr>
                          <a:schemeClr val="tx1"/>
                        </a:buClr>
                        <a:buSzPct val="90000"/>
                        <a:buFont typeface="Arial" panose="020B0604020202020204" pitchFamily="34" charset="0"/>
                        <a:buNone/>
                        <a:tabLst/>
                      </a:pPr>
                      <a:r>
                        <a:rPr kumimoji="0" lang="en-US" sz="1400" b="0" i="0" u="none" strike="noStrike" kern="1200" cap="none" normalizeH="0" baseline="0" dirty="0">
                          <a:ln>
                            <a:noFill/>
                          </a:ln>
                          <a:solidFill>
                            <a:schemeClr val="tx1"/>
                          </a:solidFill>
                          <a:effectLst/>
                          <a:latin typeface="Roboto" panose="02000000000000000000" pitchFamily="2" charset="0"/>
                          <a:ea typeface="Roboto" panose="02000000000000000000" pitchFamily="2" charset="0"/>
                          <a:cs typeface="+mn-cs"/>
                        </a:rPr>
                        <a:t>Curtail something. Compress it?</a:t>
                      </a:r>
                    </a:p>
                  </a:txBody>
                  <a:tcPr marT="45715" marB="45715"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335440450"/>
                  </a:ext>
                </a:extLst>
              </a:tr>
              <a:tr h="161033">
                <a:tc>
                  <a:txBody>
                    <a:bodyPr/>
                    <a:lstStyle/>
                    <a:p>
                      <a:pPr marL="0" marR="0" lvl="0" indent="0" algn="l" defTabSz="914400" rtl="0" eaLnBrk="0" fontAlgn="base" latinLnBrk="0" hangingPunct="0">
                        <a:lnSpc>
                          <a:spcPct val="115000"/>
                        </a:lnSpc>
                        <a:spcBef>
                          <a:spcPct val="20000"/>
                        </a:spcBef>
                        <a:spcAft>
                          <a:spcPct val="20000"/>
                        </a:spcAft>
                        <a:buClr>
                          <a:srgbClr val="006699"/>
                        </a:buClr>
                        <a:buSzPct val="90000"/>
                        <a:buFont typeface="Wingdings" pitchFamily="2" charset="2"/>
                        <a:buNone/>
                        <a:tabLst/>
                      </a:pPr>
                      <a:r>
                        <a:rPr kumimoji="0" lang="en-US" sz="1400" b="0" i="0" u="none" strike="noStrike" kern="1200" cap="none" normalizeH="0" baseline="0" dirty="0">
                          <a:ln>
                            <a:noFill/>
                          </a:ln>
                          <a:solidFill>
                            <a:schemeClr val="tx1"/>
                          </a:solidFill>
                          <a:effectLst/>
                          <a:latin typeface="Roboto" panose="02000000000000000000" pitchFamily="2" charset="0"/>
                          <a:ea typeface="Roboto" panose="02000000000000000000" pitchFamily="2" charset="0"/>
                          <a:cs typeface="+mn-cs"/>
                        </a:rPr>
                        <a:t>Substitute it</a:t>
                      </a:r>
                    </a:p>
                  </a:txBody>
                  <a:tcPr marT="45715" marB="45715"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p>
                      <a:pPr marL="0" marR="0" lvl="0" indent="0" algn="l" defTabSz="914400" rtl="0" eaLnBrk="0" fontAlgn="base" latinLnBrk="0" hangingPunct="0">
                        <a:lnSpc>
                          <a:spcPct val="100000"/>
                        </a:lnSpc>
                        <a:spcBef>
                          <a:spcPct val="20000"/>
                        </a:spcBef>
                        <a:spcAft>
                          <a:spcPct val="20000"/>
                        </a:spcAft>
                        <a:buClr>
                          <a:schemeClr val="tx1"/>
                        </a:buClr>
                        <a:buSzPct val="90000"/>
                        <a:buFont typeface="Arial" panose="020B0604020202020204" pitchFamily="34" charset="0"/>
                        <a:buNone/>
                        <a:tabLst/>
                      </a:pPr>
                      <a:r>
                        <a:rPr kumimoji="0" lang="en-US" sz="1400" b="0" i="0" u="none" strike="noStrike" kern="1200" cap="none" normalizeH="0" baseline="0" dirty="0">
                          <a:ln>
                            <a:noFill/>
                          </a:ln>
                          <a:solidFill>
                            <a:schemeClr val="tx1"/>
                          </a:solidFill>
                          <a:effectLst/>
                          <a:latin typeface="Roboto" panose="02000000000000000000" pitchFamily="2" charset="0"/>
                          <a:ea typeface="Roboto" panose="02000000000000000000" pitchFamily="2" charset="0"/>
                          <a:cs typeface="+mn-cs"/>
                        </a:rPr>
                        <a:t>Any other man, material, and/or machine? What happens if you change the constituent elements of process?</a:t>
                      </a:r>
                    </a:p>
                  </a:txBody>
                  <a:tcPr marT="45715" marB="45715"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01111100"/>
                  </a:ext>
                </a:extLst>
              </a:tr>
              <a:tr h="161033">
                <a:tc>
                  <a:txBody>
                    <a:bodyPr/>
                    <a:lstStyle/>
                    <a:p>
                      <a:pPr marL="0" marR="0" lvl="0" indent="0" algn="l" defTabSz="914400" rtl="0" eaLnBrk="0" fontAlgn="base" latinLnBrk="0" hangingPunct="0">
                        <a:lnSpc>
                          <a:spcPct val="115000"/>
                        </a:lnSpc>
                        <a:spcBef>
                          <a:spcPct val="20000"/>
                        </a:spcBef>
                        <a:spcAft>
                          <a:spcPct val="20000"/>
                        </a:spcAft>
                        <a:buClr>
                          <a:srgbClr val="006699"/>
                        </a:buClr>
                        <a:buSzPct val="90000"/>
                        <a:buFont typeface="Wingdings" pitchFamily="2" charset="2"/>
                        <a:buNone/>
                        <a:tabLst/>
                        <a:defRPr/>
                      </a:pPr>
                      <a:r>
                        <a:rPr kumimoji="0" lang="en-US" sz="1400" b="0" i="0" u="none" strike="noStrike" kern="1200" cap="none" normalizeH="0" baseline="0" dirty="0">
                          <a:ln>
                            <a:noFill/>
                          </a:ln>
                          <a:solidFill>
                            <a:schemeClr val="tx1"/>
                          </a:solidFill>
                          <a:effectLst/>
                          <a:latin typeface="Roboto" panose="02000000000000000000" pitchFamily="2" charset="0"/>
                          <a:ea typeface="Roboto" panose="02000000000000000000" pitchFamily="2" charset="0"/>
                          <a:cs typeface="+mn-cs"/>
                        </a:rPr>
                        <a:t>Sort it</a:t>
                      </a:r>
                    </a:p>
                  </a:txBody>
                  <a:tcPr marT="45715" marB="45715"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p>
                      <a:pPr marL="0" marR="0" lvl="0" indent="0" algn="l" defTabSz="914400" rtl="0" eaLnBrk="0" fontAlgn="base" latinLnBrk="0" hangingPunct="0">
                        <a:lnSpc>
                          <a:spcPct val="100000"/>
                        </a:lnSpc>
                        <a:spcBef>
                          <a:spcPct val="20000"/>
                        </a:spcBef>
                        <a:spcAft>
                          <a:spcPct val="20000"/>
                        </a:spcAft>
                        <a:buClr>
                          <a:schemeClr val="tx1"/>
                        </a:buClr>
                        <a:buSzPct val="90000"/>
                        <a:buFont typeface="Arial" panose="020B0604020202020204" pitchFamily="34" charset="0"/>
                        <a:buNone/>
                        <a:tabLst/>
                      </a:pPr>
                      <a:r>
                        <a:rPr kumimoji="0" lang="en-US" sz="1400" b="0" i="0" u="none" strike="noStrike" kern="1200" cap="none" normalizeH="0" baseline="0" dirty="0">
                          <a:ln>
                            <a:noFill/>
                          </a:ln>
                          <a:solidFill>
                            <a:schemeClr val="tx1"/>
                          </a:solidFill>
                          <a:effectLst/>
                          <a:latin typeface="Roboto" panose="02000000000000000000" pitchFamily="2" charset="0"/>
                          <a:ea typeface="Roboto" panose="02000000000000000000" pitchFamily="2" charset="0"/>
                          <a:cs typeface="+mn-cs"/>
                        </a:rPr>
                        <a:t>Review layout and configuration. What about procedure and sequence?</a:t>
                      </a:r>
                    </a:p>
                  </a:txBody>
                  <a:tcPr marT="45715" marB="45715"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475828321"/>
                  </a:ext>
                </a:extLst>
              </a:tr>
              <a:tr h="322065">
                <a:tc>
                  <a:txBody>
                    <a:bodyPr/>
                    <a:lstStyle/>
                    <a:p>
                      <a:pPr marL="0" marR="0" lvl="0" indent="0" algn="l" defTabSz="914400" rtl="0" eaLnBrk="0" fontAlgn="base" latinLnBrk="0" hangingPunct="0">
                        <a:lnSpc>
                          <a:spcPct val="115000"/>
                        </a:lnSpc>
                        <a:spcBef>
                          <a:spcPct val="20000"/>
                        </a:spcBef>
                        <a:spcAft>
                          <a:spcPct val="20000"/>
                        </a:spcAft>
                        <a:buClr>
                          <a:srgbClr val="006699"/>
                        </a:buClr>
                        <a:buSzPct val="90000"/>
                        <a:buFont typeface="Wingdings" pitchFamily="2" charset="2"/>
                        <a:buNone/>
                        <a:tabLst/>
                        <a:defRPr/>
                      </a:pPr>
                      <a:r>
                        <a:rPr kumimoji="0" lang="en-US" sz="1400" b="0" i="0" u="none" strike="noStrike" kern="1200" cap="none" normalizeH="0" baseline="0" dirty="0">
                          <a:ln>
                            <a:noFill/>
                          </a:ln>
                          <a:solidFill>
                            <a:schemeClr val="tx1"/>
                          </a:solidFill>
                          <a:effectLst/>
                          <a:latin typeface="Roboto" panose="02000000000000000000" pitchFamily="2" charset="0"/>
                          <a:ea typeface="Roboto" panose="02000000000000000000" pitchFamily="2" charset="0"/>
                          <a:cs typeface="+mn-cs"/>
                        </a:rPr>
                        <a:t>Reverse it</a:t>
                      </a:r>
                    </a:p>
                  </a:txBody>
                  <a:tcPr marT="45715" marB="45715"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p>
                      <a:pPr marL="0" marR="0" lvl="0" indent="0" algn="l" defTabSz="914400" rtl="0" eaLnBrk="0" fontAlgn="base" latinLnBrk="0" hangingPunct="0">
                        <a:lnSpc>
                          <a:spcPct val="100000"/>
                        </a:lnSpc>
                        <a:spcBef>
                          <a:spcPct val="20000"/>
                        </a:spcBef>
                        <a:spcAft>
                          <a:spcPct val="20000"/>
                        </a:spcAft>
                        <a:buClr>
                          <a:schemeClr val="tx1"/>
                        </a:buClr>
                        <a:buSzPct val="90000"/>
                        <a:buFont typeface="Arial" panose="020B0604020202020204" pitchFamily="34" charset="0"/>
                        <a:buNone/>
                        <a:tabLst/>
                      </a:pPr>
                      <a:r>
                        <a:rPr kumimoji="0" lang="en-US" sz="1400" b="0" i="0" u="none" strike="noStrike" kern="1200" cap="none" normalizeH="0" baseline="0" dirty="0">
                          <a:ln>
                            <a:noFill/>
                          </a:ln>
                          <a:solidFill>
                            <a:schemeClr val="tx1"/>
                          </a:solidFill>
                          <a:effectLst/>
                          <a:latin typeface="Roboto" panose="02000000000000000000" pitchFamily="2" charset="0"/>
                          <a:ea typeface="Roboto" panose="02000000000000000000" pitchFamily="2" charset="0"/>
                          <a:cs typeface="+mn-cs"/>
                        </a:rPr>
                        <a:t>Reverse “plus” and “minus” (advantage and disadvantage). Go in reverse.</a:t>
                      </a:r>
                    </a:p>
                  </a:txBody>
                  <a:tcPr marT="45715" marB="45715"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718558723"/>
                  </a:ext>
                </a:extLst>
              </a:tr>
              <a:tr h="161033">
                <a:tc>
                  <a:txBody>
                    <a:bodyPr/>
                    <a:lstStyle/>
                    <a:p>
                      <a:pPr marL="0" marR="0" lvl="0" indent="0" algn="l" defTabSz="914400" rtl="0" eaLnBrk="0" fontAlgn="base" latinLnBrk="0" hangingPunct="0">
                        <a:lnSpc>
                          <a:spcPct val="115000"/>
                        </a:lnSpc>
                        <a:spcBef>
                          <a:spcPct val="20000"/>
                        </a:spcBef>
                        <a:spcAft>
                          <a:spcPct val="20000"/>
                        </a:spcAft>
                        <a:buClr>
                          <a:srgbClr val="006699"/>
                        </a:buClr>
                        <a:buSzPct val="90000"/>
                        <a:buFont typeface="Wingdings" pitchFamily="2" charset="2"/>
                        <a:buNone/>
                        <a:tabLst/>
                        <a:defRPr/>
                      </a:pPr>
                      <a:r>
                        <a:rPr kumimoji="0" lang="en-US" sz="1400" b="0" i="0" u="none" strike="noStrike" kern="1200" cap="none" normalizeH="0" baseline="0" dirty="0">
                          <a:ln>
                            <a:noFill/>
                          </a:ln>
                          <a:solidFill>
                            <a:schemeClr val="tx1"/>
                          </a:solidFill>
                          <a:effectLst/>
                          <a:latin typeface="Roboto" panose="02000000000000000000" pitchFamily="2" charset="0"/>
                          <a:ea typeface="Roboto" panose="02000000000000000000" pitchFamily="2" charset="0"/>
                          <a:cs typeface="+mn-cs"/>
                        </a:rPr>
                        <a:t>Combine it</a:t>
                      </a:r>
                    </a:p>
                  </a:txBody>
                  <a:tcPr marT="45715" marB="45715"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p>
                      <a:pPr marL="0" marR="0" lvl="0" indent="0" algn="l" defTabSz="914400" rtl="0" eaLnBrk="0" fontAlgn="base" latinLnBrk="0" hangingPunct="0">
                        <a:lnSpc>
                          <a:spcPct val="100000"/>
                        </a:lnSpc>
                        <a:spcBef>
                          <a:spcPct val="20000"/>
                        </a:spcBef>
                        <a:spcAft>
                          <a:spcPct val="20000"/>
                        </a:spcAft>
                        <a:buClr>
                          <a:schemeClr val="tx1"/>
                        </a:buClr>
                        <a:buSzPct val="90000"/>
                        <a:buFont typeface="Arial" panose="020B0604020202020204" pitchFamily="34" charset="0"/>
                        <a:buNone/>
                        <a:tabLst/>
                      </a:pPr>
                      <a:r>
                        <a:rPr kumimoji="0" lang="en-US" sz="1400" b="0" i="0" u="none" strike="noStrike" kern="1200" cap="none" normalizeH="0" baseline="0" dirty="0">
                          <a:ln>
                            <a:noFill/>
                          </a:ln>
                          <a:solidFill>
                            <a:schemeClr val="tx1"/>
                          </a:solidFill>
                          <a:effectLst/>
                          <a:latin typeface="Roboto" panose="02000000000000000000" pitchFamily="2" charset="0"/>
                          <a:ea typeface="Roboto" panose="02000000000000000000" pitchFamily="2" charset="0"/>
                          <a:cs typeface="+mn-cs"/>
                        </a:rPr>
                        <a:t>Combine mixture, assortment, combination and ideas.</a:t>
                      </a:r>
                    </a:p>
                  </a:txBody>
                  <a:tcPr marT="45715" marB="45715"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519147134"/>
                  </a:ext>
                </a:extLst>
              </a:tr>
              <a:tr h="161033">
                <a:tc>
                  <a:txBody>
                    <a:bodyPr/>
                    <a:lstStyle/>
                    <a:p>
                      <a:pPr marL="0" marR="0" lvl="0" indent="0" algn="l" defTabSz="914400" rtl="0" eaLnBrk="0" fontAlgn="base" latinLnBrk="0" hangingPunct="0">
                        <a:lnSpc>
                          <a:spcPct val="115000"/>
                        </a:lnSpc>
                        <a:spcBef>
                          <a:spcPct val="20000"/>
                        </a:spcBef>
                        <a:spcAft>
                          <a:spcPct val="20000"/>
                        </a:spcAft>
                        <a:buClr>
                          <a:srgbClr val="006699"/>
                        </a:buClr>
                        <a:buSzPct val="90000"/>
                        <a:buFont typeface="Wingdings" pitchFamily="2" charset="2"/>
                        <a:buNone/>
                        <a:tabLst/>
                      </a:pPr>
                      <a:r>
                        <a:rPr kumimoji="0" lang="en-US" sz="1400" b="0" i="0" u="none" strike="noStrike" kern="1200" cap="none" normalizeH="0" baseline="0" dirty="0">
                          <a:ln>
                            <a:noFill/>
                          </a:ln>
                          <a:solidFill>
                            <a:schemeClr val="tx1"/>
                          </a:solidFill>
                          <a:effectLst/>
                          <a:latin typeface="Roboto" panose="02000000000000000000" pitchFamily="2" charset="0"/>
                          <a:ea typeface="Roboto" panose="02000000000000000000" pitchFamily="2" charset="0"/>
                          <a:cs typeface="+mn-cs"/>
                        </a:rPr>
                        <a:t>Steal it</a:t>
                      </a:r>
                    </a:p>
                  </a:txBody>
                  <a:tcPr marT="45715" marB="45715"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p>
                      <a:pPr marL="0" marR="0" lvl="0" indent="0" algn="l" defTabSz="914400" rtl="0" eaLnBrk="0" fontAlgn="base" latinLnBrk="0" hangingPunct="0">
                        <a:lnSpc>
                          <a:spcPct val="100000"/>
                        </a:lnSpc>
                        <a:spcBef>
                          <a:spcPct val="20000"/>
                        </a:spcBef>
                        <a:spcAft>
                          <a:spcPct val="20000"/>
                        </a:spcAft>
                        <a:buClr>
                          <a:schemeClr val="tx1"/>
                        </a:buClr>
                        <a:buSzPct val="90000"/>
                        <a:buFont typeface="Arial" panose="020B0604020202020204" pitchFamily="34" charset="0"/>
                        <a:buNone/>
                        <a:tabLst/>
                      </a:pPr>
                      <a:r>
                        <a:rPr kumimoji="0" lang="en-US" sz="1400" b="0" i="0" u="none" strike="noStrike" kern="1200" cap="none" normalizeH="0" baseline="0" dirty="0">
                          <a:ln>
                            <a:noFill/>
                          </a:ln>
                          <a:solidFill>
                            <a:schemeClr val="tx1"/>
                          </a:solidFill>
                          <a:effectLst/>
                          <a:latin typeface="Roboto" panose="02000000000000000000" pitchFamily="2" charset="0"/>
                          <a:ea typeface="Roboto" panose="02000000000000000000" pitchFamily="2" charset="0"/>
                          <a:cs typeface="+mn-cs"/>
                        </a:rPr>
                        <a:t>Steal technology, steal method.</a:t>
                      </a:r>
                    </a:p>
                  </a:txBody>
                  <a:tcPr marT="45715" marB="45715"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22065">
                <a:tc>
                  <a:txBody>
                    <a:bodyPr/>
                    <a:lstStyle/>
                    <a:p>
                      <a:pPr marL="0" marR="0" lvl="0" indent="0" algn="l" defTabSz="914400" rtl="0" eaLnBrk="0" fontAlgn="base" latinLnBrk="0" hangingPunct="0">
                        <a:lnSpc>
                          <a:spcPct val="115000"/>
                        </a:lnSpc>
                        <a:spcBef>
                          <a:spcPct val="20000"/>
                        </a:spcBef>
                        <a:spcAft>
                          <a:spcPct val="20000"/>
                        </a:spcAft>
                        <a:buClr>
                          <a:srgbClr val="006699"/>
                        </a:buClr>
                        <a:buSzPct val="90000"/>
                        <a:buFont typeface="Wingdings" pitchFamily="2" charset="2"/>
                        <a:buNone/>
                        <a:tabLst/>
                      </a:pPr>
                      <a:r>
                        <a:rPr kumimoji="0" lang="en-US" sz="1400" b="0" i="0" u="none" strike="noStrike" kern="1200" cap="none" normalizeH="0" baseline="0" dirty="0">
                          <a:ln>
                            <a:noFill/>
                          </a:ln>
                          <a:solidFill>
                            <a:schemeClr val="tx1"/>
                          </a:solidFill>
                          <a:effectLst/>
                          <a:latin typeface="Roboto" panose="02000000000000000000" pitchFamily="2" charset="0"/>
                          <a:ea typeface="Roboto" panose="02000000000000000000" pitchFamily="2" charset="0"/>
                          <a:cs typeface="+mn-cs"/>
                        </a:rPr>
                        <a:t>Make secretly</a:t>
                      </a:r>
                    </a:p>
                  </a:txBody>
                  <a:tcPr marT="45715" marB="45715"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p>
                      <a:pPr marL="0" marR="0" lvl="0" indent="0" algn="l" defTabSz="914400" rtl="0" eaLnBrk="0" fontAlgn="base" latinLnBrk="0" hangingPunct="0">
                        <a:lnSpc>
                          <a:spcPct val="100000"/>
                        </a:lnSpc>
                        <a:spcBef>
                          <a:spcPct val="20000"/>
                        </a:spcBef>
                        <a:spcAft>
                          <a:spcPct val="20000"/>
                        </a:spcAft>
                        <a:buClr>
                          <a:schemeClr val="tx1"/>
                        </a:buClr>
                        <a:buSzPct val="90000"/>
                        <a:buFont typeface="Arial" panose="020B0604020202020204" pitchFamily="34" charset="0"/>
                        <a:buNone/>
                        <a:tabLst/>
                      </a:pPr>
                      <a:r>
                        <a:rPr kumimoji="0" lang="en-US" sz="1400" b="0" i="0" u="none" strike="noStrike" kern="1200" cap="none" normalizeH="0" baseline="0" dirty="0">
                          <a:ln>
                            <a:noFill/>
                          </a:ln>
                          <a:solidFill>
                            <a:schemeClr val="tx1"/>
                          </a:solidFill>
                          <a:effectLst/>
                          <a:latin typeface="Roboto" panose="02000000000000000000" pitchFamily="2" charset="0"/>
                          <a:ea typeface="Roboto" panose="02000000000000000000" pitchFamily="2" charset="0"/>
                          <a:cs typeface="+mn-cs"/>
                        </a:rPr>
                        <a:t>Nevertheless, make actual pieces.</a:t>
                      </a:r>
                    </a:p>
                  </a:txBody>
                  <a:tcPr marT="45715" marB="45715"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25801131"/>
                  </a:ext>
                </a:extLst>
              </a:tr>
              <a:tr h="161033">
                <a:tc>
                  <a:txBody>
                    <a:bodyPr/>
                    <a:lstStyle/>
                    <a:p>
                      <a:pPr marL="0" marR="0" lvl="0" indent="0" algn="l" defTabSz="914400" rtl="0" eaLnBrk="0" fontAlgn="base" latinLnBrk="0" hangingPunct="0">
                        <a:lnSpc>
                          <a:spcPct val="115000"/>
                        </a:lnSpc>
                        <a:spcBef>
                          <a:spcPct val="20000"/>
                        </a:spcBef>
                        <a:spcAft>
                          <a:spcPct val="20000"/>
                        </a:spcAft>
                        <a:buClr>
                          <a:srgbClr val="006699"/>
                        </a:buClr>
                        <a:buSzPct val="90000"/>
                        <a:buFont typeface="Wingdings" pitchFamily="2" charset="2"/>
                        <a:buNone/>
                        <a:tabLst/>
                      </a:pPr>
                      <a:r>
                        <a:rPr kumimoji="0" lang="en-US" sz="1400" b="0" i="0" u="none" strike="noStrike" kern="1200" cap="none" normalizeH="0" baseline="0" dirty="0">
                          <a:ln>
                            <a:noFill/>
                          </a:ln>
                          <a:solidFill>
                            <a:schemeClr val="tx1"/>
                          </a:solidFill>
                          <a:effectLst/>
                          <a:latin typeface="Roboto" panose="02000000000000000000" pitchFamily="2" charset="0"/>
                          <a:ea typeface="Roboto" panose="02000000000000000000" pitchFamily="2" charset="0"/>
                          <a:cs typeface="+mn-cs"/>
                        </a:rPr>
                        <a:t>Go to the next step</a:t>
                      </a:r>
                    </a:p>
                  </a:txBody>
                  <a:tcPr marT="45715" marB="45715"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p>
                      <a:pPr marL="0" marR="0" lvl="0" indent="0" algn="l" defTabSz="914400" rtl="0" eaLnBrk="0" fontAlgn="base" latinLnBrk="0" hangingPunct="0">
                        <a:lnSpc>
                          <a:spcPct val="100000"/>
                        </a:lnSpc>
                        <a:spcBef>
                          <a:spcPct val="20000"/>
                        </a:spcBef>
                        <a:spcAft>
                          <a:spcPct val="20000"/>
                        </a:spcAft>
                        <a:buClr>
                          <a:schemeClr val="tx1"/>
                        </a:buClr>
                        <a:buSzPct val="90000"/>
                        <a:buFont typeface="Arial" panose="020B0604020202020204" pitchFamily="34" charset="0"/>
                        <a:buNone/>
                        <a:tabLst/>
                      </a:pPr>
                      <a:r>
                        <a:rPr kumimoji="0" lang="en-US" sz="1400" b="0" i="0" u="none" strike="noStrike" kern="1200" cap="none" normalizeH="0" baseline="0" dirty="0">
                          <a:ln>
                            <a:noFill/>
                          </a:ln>
                          <a:solidFill>
                            <a:schemeClr val="tx1"/>
                          </a:solidFill>
                          <a:effectLst/>
                          <a:latin typeface="Roboto" panose="02000000000000000000" pitchFamily="2" charset="0"/>
                          <a:ea typeface="Roboto" panose="02000000000000000000" pitchFamily="2" charset="0"/>
                          <a:cs typeface="+mn-cs"/>
                        </a:rPr>
                        <a:t>Once you figure one out, think about what is next.</a:t>
                      </a:r>
                    </a:p>
                  </a:txBody>
                  <a:tcPr marT="45715" marB="45715"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587382566"/>
                  </a:ext>
                </a:extLst>
              </a:tr>
            </a:tbl>
          </a:graphicData>
        </a:graphic>
      </p:graphicFrame>
      <p:grpSp>
        <p:nvGrpSpPr>
          <p:cNvPr id="18" name="Group 17">
            <a:extLst>
              <a:ext uri="{FF2B5EF4-FFF2-40B4-BE49-F238E27FC236}">
                <a16:creationId xmlns:a16="http://schemas.microsoft.com/office/drawing/2014/main" id="{67A0C54A-A864-AED1-3F3C-BE23DF5FF865}"/>
              </a:ext>
            </a:extLst>
          </p:cNvPr>
          <p:cNvGrpSpPr/>
          <p:nvPr/>
        </p:nvGrpSpPr>
        <p:grpSpPr>
          <a:xfrm>
            <a:off x="838200" y="297639"/>
            <a:ext cx="4351020" cy="307138"/>
            <a:chOff x="838200" y="297639"/>
            <a:chExt cx="4351020" cy="307138"/>
          </a:xfrm>
        </p:grpSpPr>
        <p:grpSp>
          <p:nvGrpSpPr>
            <p:cNvPr id="19" name="Group 18">
              <a:extLst>
                <a:ext uri="{FF2B5EF4-FFF2-40B4-BE49-F238E27FC236}">
                  <a16:creationId xmlns:a16="http://schemas.microsoft.com/office/drawing/2014/main" id="{EB28F2EB-E15B-B334-094A-238BC9B3E5B5}"/>
                </a:ext>
              </a:extLst>
            </p:cNvPr>
            <p:cNvGrpSpPr/>
            <p:nvPr/>
          </p:nvGrpSpPr>
          <p:grpSpPr>
            <a:xfrm>
              <a:off x="838200" y="297639"/>
              <a:ext cx="1687517" cy="290657"/>
              <a:chOff x="838200" y="297639"/>
              <a:chExt cx="1687517" cy="290657"/>
            </a:xfrm>
          </p:grpSpPr>
          <p:sp>
            <p:nvSpPr>
              <p:cNvPr id="21" name="AutoShape 9">
                <a:extLst>
                  <a:ext uri="{FF2B5EF4-FFF2-40B4-BE49-F238E27FC236}">
                    <a16:creationId xmlns:a16="http://schemas.microsoft.com/office/drawing/2014/main" id="{7C4EA576-51F8-FA30-A520-6108F1E2F2E6}"/>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22" name="AutoShape 9">
                <a:extLst>
                  <a:ext uri="{FF2B5EF4-FFF2-40B4-BE49-F238E27FC236}">
                    <a16:creationId xmlns:a16="http://schemas.microsoft.com/office/drawing/2014/main" id="{D25DC678-383F-8A13-E640-D34082B07A84}"/>
                  </a:ext>
                </a:extLst>
              </p:cNvPr>
              <p:cNvSpPr>
                <a:spLocks noChangeArrowheads="1"/>
              </p:cNvSpPr>
              <p:nvPr/>
            </p:nvSpPr>
            <p:spPr bwMode="auto">
              <a:xfrm>
                <a:off x="1779225" y="297639"/>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nvGrpSpPr>
              <p:cNvPr id="23" name="Group 22">
                <a:extLst>
                  <a:ext uri="{FF2B5EF4-FFF2-40B4-BE49-F238E27FC236}">
                    <a16:creationId xmlns:a16="http://schemas.microsoft.com/office/drawing/2014/main" id="{510DCF16-9BCA-FEB4-F5A1-AFA0BEEB0393}"/>
                  </a:ext>
                </a:extLst>
              </p:cNvPr>
              <p:cNvGrpSpPr/>
              <p:nvPr/>
            </p:nvGrpSpPr>
            <p:grpSpPr>
              <a:xfrm>
                <a:off x="838200" y="297639"/>
                <a:ext cx="1060167" cy="290657"/>
                <a:chOff x="826426" y="4041857"/>
                <a:chExt cx="1060167" cy="290657"/>
              </a:xfrm>
            </p:grpSpPr>
            <p:sp>
              <p:nvSpPr>
                <p:cNvPr id="24" name="AutoShape 9">
                  <a:extLst>
                    <a:ext uri="{FF2B5EF4-FFF2-40B4-BE49-F238E27FC236}">
                      <a16:creationId xmlns:a16="http://schemas.microsoft.com/office/drawing/2014/main" id="{85E57617-4193-C4E2-D15C-A43352A480E7}"/>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5" name="AutoShape 11">
                  <a:extLst>
                    <a:ext uri="{FF2B5EF4-FFF2-40B4-BE49-F238E27FC236}">
                      <a16:creationId xmlns:a16="http://schemas.microsoft.com/office/drawing/2014/main" id="{1900694D-3E67-6481-FF46-CCF0FD2E1F04}"/>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6" name="AutoShape 10">
                  <a:extLst>
                    <a:ext uri="{FF2B5EF4-FFF2-40B4-BE49-F238E27FC236}">
                      <a16:creationId xmlns:a16="http://schemas.microsoft.com/office/drawing/2014/main" id="{81652B39-1B60-9ED5-E937-14BFF5F638CB}"/>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20" name="TextBox 19">
              <a:extLst>
                <a:ext uri="{FF2B5EF4-FFF2-40B4-BE49-F238E27FC236}">
                  <a16:creationId xmlns:a16="http://schemas.microsoft.com/office/drawing/2014/main" id="{933CB83C-F3FC-F0A4-5580-58B8673F541B}"/>
                </a:ext>
              </a:extLst>
            </p:cNvPr>
            <p:cNvSpPr txBox="1"/>
            <p:nvPr/>
          </p:nvSpPr>
          <p:spPr>
            <a:xfrm>
              <a:off x="2525717" y="313415"/>
              <a:ext cx="266350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CEDAC Problem Solution</a:t>
              </a:r>
            </a:p>
          </p:txBody>
        </p:sp>
      </p:grpSp>
    </p:spTree>
    <p:extLst>
      <p:ext uri="{BB962C8B-B14F-4D97-AF65-F5344CB8AC3E}">
        <p14:creationId xmlns:p14="http://schemas.microsoft.com/office/powerpoint/2010/main" val="4261264043"/>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noAutofit/>
          </a:bodyPr>
          <a:lstStyle/>
          <a:p>
            <a:r>
              <a:rPr lang="en-US" sz="2800" dirty="0"/>
              <a:t>Process for Developing and Posting IMPROVEMENT Cards</a:t>
            </a:r>
          </a:p>
        </p:txBody>
      </p:sp>
      <p:sp>
        <p:nvSpPr>
          <p:cNvPr id="3" name="Content Placeholder 2">
            <a:extLst>
              <a:ext uri="{FF2B5EF4-FFF2-40B4-BE49-F238E27FC236}">
                <a16:creationId xmlns:a16="http://schemas.microsoft.com/office/drawing/2014/main" id="{2AA7A201-AD05-6520-E140-CCF11E59E700}"/>
              </a:ext>
            </a:extLst>
          </p:cNvPr>
          <p:cNvSpPr>
            <a:spLocks noGrp="1"/>
          </p:cNvSpPr>
          <p:nvPr>
            <p:ph idx="1"/>
          </p:nvPr>
        </p:nvSpPr>
        <p:spPr/>
        <p:txBody>
          <a:bodyPr/>
          <a:lstStyle/>
          <a:p>
            <a:r>
              <a:rPr lang="en-US" dirty="0"/>
              <a:t>Divide into sub-teams to focus on specific areas of the yellow fact cards</a:t>
            </a:r>
          </a:p>
          <a:p>
            <a:r>
              <a:rPr lang="en-US" dirty="0"/>
              <a:t>Use brainstorming and data analysis to develop improvement cards</a:t>
            </a:r>
          </a:p>
          <a:p>
            <a:r>
              <a:rPr lang="en-US" dirty="0"/>
              <a:t>Make sure you include WHO will complete the action and by WHEN</a:t>
            </a:r>
          </a:p>
          <a:p>
            <a:r>
              <a:rPr lang="en-US" dirty="0"/>
              <a:t>Wherever possible, tie a metric to the action, to indicate impact to actual target</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75</a:t>
            </a:fld>
            <a:endParaRPr lang="en-US"/>
          </a:p>
        </p:txBody>
      </p:sp>
      <p:grpSp>
        <p:nvGrpSpPr>
          <p:cNvPr id="4" name="Group 3">
            <a:extLst>
              <a:ext uri="{FF2B5EF4-FFF2-40B4-BE49-F238E27FC236}">
                <a16:creationId xmlns:a16="http://schemas.microsoft.com/office/drawing/2014/main" id="{C1F2DC6B-D88C-7FA5-5003-05F28F6783E5}"/>
              </a:ext>
            </a:extLst>
          </p:cNvPr>
          <p:cNvGrpSpPr/>
          <p:nvPr/>
        </p:nvGrpSpPr>
        <p:grpSpPr>
          <a:xfrm>
            <a:off x="838200" y="297639"/>
            <a:ext cx="4351020" cy="307138"/>
            <a:chOff x="838200" y="297639"/>
            <a:chExt cx="4351020" cy="307138"/>
          </a:xfrm>
        </p:grpSpPr>
        <p:grpSp>
          <p:nvGrpSpPr>
            <p:cNvPr id="6" name="Group 5">
              <a:extLst>
                <a:ext uri="{FF2B5EF4-FFF2-40B4-BE49-F238E27FC236}">
                  <a16:creationId xmlns:a16="http://schemas.microsoft.com/office/drawing/2014/main" id="{B5375B13-A527-ADD6-801D-0D6CB82E74BC}"/>
                </a:ext>
              </a:extLst>
            </p:cNvPr>
            <p:cNvGrpSpPr/>
            <p:nvPr/>
          </p:nvGrpSpPr>
          <p:grpSpPr>
            <a:xfrm>
              <a:off x="838200" y="297639"/>
              <a:ext cx="1687517" cy="290657"/>
              <a:chOff x="838200" y="297639"/>
              <a:chExt cx="1687517" cy="290657"/>
            </a:xfrm>
          </p:grpSpPr>
          <p:sp>
            <p:nvSpPr>
              <p:cNvPr id="8" name="AutoShape 9">
                <a:extLst>
                  <a:ext uri="{FF2B5EF4-FFF2-40B4-BE49-F238E27FC236}">
                    <a16:creationId xmlns:a16="http://schemas.microsoft.com/office/drawing/2014/main" id="{522737C5-48ED-C14C-5338-43A89A4D95E6}"/>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9" name="AutoShape 9">
                <a:extLst>
                  <a:ext uri="{FF2B5EF4-FFF2-40B4-BE49-F238E27FC236}">
                    <a16:creationId xmlns:a16="http://schemas.microsoft.com/office/drawing/2014/main" id="{C6C81D3D-7428-13F6-58A9-351006664885}"/>
                  </a:ext>
                </a:extLst>
              </p:cNvPr>
              <p:cNvSpPr>
                <a:spLocks noChangeArrowheads="1"/>
              </p:cNvSpPr>
              <p:nvPr/>
            </p:nvSpPr>
            <p:spPr bwMode="auto">
              <a:xfrm>
                <a:off x="1779225" y="297639"/>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nvGrpSpPr>
              <p:cNvPr id="10" name="Group 9">
                <a:extLst>
                  <a:ext uri="{FF2B5EF4-FFF2-40B4-BE49-F238E27FC236}">
                    <a16:creationId xmlns:a16="http://schemas.microsoft.com/office/drawing/2014/main" id="{402C9DD6-204A-C867-5AAC-7D462ECA9C05}"/>
                  </a:ext>
                </a:extLst>
              </p:cNvPr>
              <p:cNvGrpSpPr/>
              <p:nvPr/>
            </p:nvGrpSpPr>
            <p:grpSpPr>
              <a:xfrm>
                <a:off x="838200" y="297639"/>
                <a:ext cx="1060167" cy="290657"/>
                <a:chOff x="826426" y="4041857"/>
                <a:chExt cx="1060167" cy="290657"/>
              </a:xfrm>
            </p:grpSpPr>
            <p:sp>
              <p:nvSpPr>
                <p:cNvPr id="11" name="AutoShape 9">
                  <a:extLst>
                    <a:ext uri="{FF2B5EF4-FFF2-40B4-BE49-F238E27FC236}">
                      <a16:creationId xmlns:a16="http://schemas.microsoft.com/office/drawing/2014/main" id="{08BD392E-5779-F662-9B3B-5EE2616C36B2}"/>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2" name="AutoShape 11">
                  <a:extLst>
                    <a:ext uri="{FF2B5EF4-FFF2-40B4-BE49-F238E27FC236}">
                      <a16:creationId xmlns:a16="http://schemas.microsoft.com/office/drawing/2014/main" id="{8FC2A77B-56E8-8507-CAE7-B64ED1005372}"/>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3" name="AutoShape 10">
                  <a:extLst>
                    <a:ext uri="{FF2B5EF4-FFF2-40B4-BE49-F238E27FC236}">
                      <a16:creationId xmlns:a16="http://schemas.microsoft.com/office/drawing/2014/main" id="{56BF6379-B7D9-C0DF-7601-82D8EA4E4557}"/>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7" name="TextBox 6">
              <a:extLst>
                <a:ext uri="{FF2B5EF4-FFF2-40B4-BE49-F238E27FC236}">
                  <a16:creationId xmlns:a16="http://schemas.microsoft.com/office/drawing/2014/main" id="{7FAABA21-3AD5-A595-D680-61C4FEFB6378}"/>
                </a:ext>
              </a:extLst>
            </p:cNvPr>
            <p:cNvSpPr txBox="1"/>
            <p:nvPr/>
          </p:nvSpPr>
          <p:spPr>
            <a:xfrm>
              <a:off x="2525717" y="313415"/>
              <a:ext cx="266350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CEDAC Problem Solution</a:t>
              </a:r>
            </a:p>
          </p:txBody>
        </p:sp>
      </p:grpSp>
    </p:spTree>
    <p:extLst>
      <p:ext uri="{BB962C8B-B14F-4D97-AF65-F5344CB8AC3E}">
        <p14:creationId xmlns:p14="http://schemas.microsoft.com/office/powerpoint/2010/main" val="3684709701"/>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noAutofit/>
          </a:bodyPr>
          <a:lstStyle/>
          <a:p>
            <a:r>
              <a:rPr lang="en-US" sz="2800" dirty="0"/>
              <a:t>Process for Reviewing and Numbering IMPROVEMENT Cards</a:t>
            </a:r>
          </a:p>
        </p:txBody>
      </p:sp>
      <p:sp>
        <p:nvSpPr>
          <p:cNvPr id="3" name="Content Placeholder 2">
            <a:extLst>
              <a:ext uri="{FF2B5EF4-FFF2-40B4-BE49-F238E27FC236}">
                <a16:creationId xmlns:a16="http://schemas.microsoft.com/office/drawing/2014/main" id="{2AA7A201-AD05-6520-E140-CCF11E59E700}"/>
              </a:ext>
            </a:extLst>
          </p:cNvPr>
          <p:cNvSpPr>
            <a:spLocks noGrp="1"/>
          </p:cNvSpPr>
          <p:nvPr>
            <p:ph idx="1"/>
          </p:nvPr>
        </p:nvSpPr>
        <p:spPr/>
        <p:txBody>
          <a:bodyPr/>
          <a:lstStyle/>
          <a:p>
            <a:r>
              <a:rPr lang="en-US" dirty="0"/>
              <a:t>Combine duplicate cards</a:t>
            </a:r>
          </a:p>
          <a:p>
            <a:r>
              <a:rPr lang="en-US" dirty="0"/>
              <a:t>Group “like” ideas together</a:t>
            </a:r>
          </a:p>
          <a:p>
            <a:r>
              <a:rPr lang="en-US" dirty="0"/>
              <a:t>Show linkage to the numbered yellow fact card(s)</a:t>
            </a:r>
          </a:p>
          <a:p>
            <a:r>
              <a:rPr lang="en-US" dirty="0"/>
              <a:t>Ensure everyone understands each possible improvement idea</a:t>
            </a:r>
          </a:p>
          <a:p>
            <a:r>
              <a:rPr lang="en-US" dirty="0"/>
              <a:t>Number cards “1” through “x”</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76</a:t>
            </a:fld>
            <a:endParaRPr lang="en-US"/>
          </a:p>
        </p:txBody>
      </p:sp>
      <p:grpSp>
        <p:nvGrpSpPr>
          <p:cNvPr id="4" name="Group 3">
            <a:extLst>
              <a:ext uri="{FF2B5EF4-FFF2-40B4-BE49-F238E27FC236}">
                <a16:creationId xmlns:a16="http://schemas.microsoft.com/office/drawing/2014/main" id="{C1F2DC6B-D88C-7FA5-5003-05F28F6783E5}"/>
              </a:ext>
            </a:extLst>
          </p:cNvPr>
          <p:cNvGrpSpPr/>
          <p:nvPr/>
        </p:nvGrpSpPr>
        <p:grpSpPr>
          <a:xfrm>
            <a:off x="838200" y="297639"/>
            <a:ext cx="4351020" cy="307138"/>
            <a:chOff x="838200" y="297639"/>
            <a:chExt cx="4351020" cy="307138"/>
          </a:xfrm>
        </p:grpSpPr>
        <p:grpSp>
          <p:nvGrpSpPr>
            <p:cNvPr id="6" name="Group 5">
              <a:extLst>
                <a:ext uri="{FF2B5EF4-FFF2-40B4-BE49-F238E27FC236}">
                  <a16:creationId xmlns:a16="http://schemas.microsoft.com/office/drawing/2014/main" id="{B5375B13-A527-ADD6-801D-0D6CB82E74BC}"/>
                </a:ext>
              </a:extLst>
            </p:cNvPr>
            <p:cNvGrpSpPr/>
            <p:nvPr/>
          </p:nvGrpSpPr>
          <p:grpSpPr>
            <a:xfrm>
              <a:off x="838200" y="297639"/>
              <a:ext cx="1687517" cy="290657"/>
              <a:chOff x="838200" y="297639"/>
              <a:chExt cx="1687517" cy="290657"/>
            </a:xfrm>
          </p:grpSpPr>
          <p:sp>
            <p:nvSpPr>
              <p:cNvPr id="8" name="AutoShape 9">
                <a:extLst>
                  <a:ext uri="{FF2B5EF4-FFF2-40B4-BE49-F238E27FC236}">
                    <a16:creationId xmlns:a16="http://schemas.microsoft.com/office/drawing/2014/main" id="{522737C5-48ED-C14C-5338-43A89A4D95E6}"/>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9" name="AutoShape 9">
                <a:extLst>
                  <a:ext uri="{FF2B5EF4-FFF2-40B4-BE49-F238E27FC236}">
                    <a16:creationId xmlns:a16="http://schemas.microsoft.com/office/drawing/2014/main" id="{C6C81D3D-7428-13F6-58A9-351006664885}"/>
                  </a:ext>
                </a:extLst>
              </p:cNvPr>
              <p:cNvSpPr>
                <a:spLocks noChangeArrowheads="1"/>
              </p:cNvSpPr>
              <p:nvPr/>
            </p:nvSpPr>
            <p:spPr bwMode="auto">
              <a:xfrm>
                <a:off x="1779225" y="297639"/>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nvGrpSpPr>
              <p:cNvPr id="10" name="Group 9">
                <a:extLst>
                  <a:ext uri="{FF2B5EF4-FFF2-40B4-BE49-F238E27FC236}">
                    <a16:creationId xmlns:a16="http://schemas.microsoft.com/office/drawing/2014/main" id="{402C9DD6-204A-C867-5AAC-7D462ECA9C05}"/>
                  </a:ext>
                </a:extLst>
              </p:cNvPr>
              <p:cNvGrpSpPr/>
              <p:nvPr/>
            </p:nvGrpSpPr>
            <p:grpSpPr>
              <a:xfrm>
                <a:off x="838200" y="297639"/>
                <a:ext cx="1060167" cy="290657"/>
                <a:chOff x="826426" y="4041857"/>
                <a:chExt cx="1060167" cy="290657"/>
              </a:xfrm>
            </p:grpSpPr>
            <p:sp>
              <p:nvSpPr>
                <p:cNvPr id="11" name="AutoShape 9">
                  <a:extLst>
                    <a:ext uri="{FF2B5EF4-FFF2-40B4-BE49-F238E27FC236}">
                      <a16:creationId xmlns:a16="http://schemas.microsoft.com/office/drawing/2014/main" id="{08BD392E-5779-F662-9B3B-5EE2616C36B2}"/>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2" name="AutoShape 11">
                  <a:extLst>
                    <a:ext uri="{FF2B5EF4-FFF2-40B4-BE49-F238E27FC236}">
                      <a16:creationId xmlns:a16="http://schemas.microsoft.com/office/drawing/2014/main" id="{8FC2A77B-56E8-8507-CAE7-B64ED1005372}"/>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3" name="AutoShape 10">
                  <a:extLst>
                    <a:ext uri="{FF2B5EF4-FFF2-40B4-BE49-F238E27FC236}">
                      <a16:creationId xmlns:a16="http://schemas.microsoft.com/office/drawing/2014/main" id="{56BF6379-B7D9-C0DF-7601-82D8EA4E4557}"/>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7" name="TextBox 6">
              <a:extLst>
                <a:ext uri="{FF2B5EF4-FFF2-40B4-BE49-F238E27FC236}">
                  <a16:creationId xmlns:a16="http://schemas.microsoft.com/office/drawing/2014/main" id="{7FAABA21-3AD5-A595-D680-61C4FEFB6378}"/>
                </a:ext>
              </a:extLst>
            </p:cNvPr>
            <p:cNvSpPr txBox="1"/>
            <p:nvPr/>
          </p:nvSpPr>
          <p:spPr>
            <a:xfrm>
              <a:off x="2525717" y="313415"/>
              <a:ext cx="266350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CEDAC Problem Solution</a:t>
              </a:r>
            </a:p>
          </p:txBody>
        </p:sp>
      </p:grpSp>
    </p:spTree>
    <p:extLst>
      <p:ext uri="{BB962C8B-B14F-4D97-AF65-F5344CB8AC3E}">
        <p14:creationId xmlns:p14="http://schemas.microsoft.com/office/powerpoint/2010/main" val="585849792"/>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8D9ED7-5CF9-6F4B-B4A8-2DBF8D852A20}"/>
              </a:ext>
            </a:extLst>
          </p:cNvPr>
          <p:cNvSpPr>
            <a:spLocks noGrp="1"/>
          </p:cNvSpPr>
          <p:nvPr>
            <p:ph type="title"/>
          </p:nvPr>
        </p:nvSpPr>
        <p:spPr/>
        <p:txBody>
          <a:bodyPr>
            <a:noAutofit/>
          </a:bodyPr>
          <a:lstStyle/>
          <a:p>
            <a:r>
              <a:rPr lang="en-US" sz="2800" dirty="0">
                <a:latin typeface="Roboto Medium"/>
                <a:ea typeface="Roboto Medium"/>
                <a:cs typeface="Roboto Medium"/>
              </a:rPr>
              <a:t>Case Study Exercise: CEDAC Step 6 – IMPROVEMENT cards</a:t>
            </a:r>
          </a:p>
        </p:txBody>
      </p:sp>
      <p:sp>
        <p:nvSpPr>
          <p:cNvPr id="5" name="Slide Number Placeholder 4">
            <a:extLst>
              <a:ext uri="{FF2B5EF4-FFF2-40B4-BE49-F238E27FC236}">
                <a16:creationId xmlns:a16="http://schemas.microsoft.com/office/drawing/2014/main" id="{EFB3C390-D307-7FFC-DADE-918C5180FE01}"/>
              </a:ext>
            </a:extLst>
          </p:cNvPr>
          <p:cNvSpPr>
            <a:spLocks noGrp="1"/>
          </p:cNvSpPr>
          <p:nvPr>
            <p:ph type="sldNum" sz="quarter" idx="4294967295"/>
          </p:nvPr>
        </p:nvSpPr>
        <p:spPr>
          <a:xfrm>
            <a:off x="8595078" y="6333148"/>
            <a:ext cx="2743200" cy="365125"/>
          </a:xfrm>
          <a:prstGeom prst="rect">
            <a:avLst/>
          </a:prstGeom>
        </p:spPr>
        <p:txBody>
          <a:bodyPr/>
          <a:lstStyle/>
          <a:p>
            <a:fld id="{CC6D4273-7FC1-0947-B9FE-19CB3C0D1FB6}" type="slidenum">
              <a:rPr lang="en-US" smtClean="0"/>
              <a:t>77</a:t>
            </a:fld>
            <a:endParaRPr lang="en-US"/>
          </a:p>
        </p:txBody>
      </p:sp>
      <p:sp>
        <p:nvSpPr>
          <p:cNvPr id="11" name="Rectangle 10">
            <a:extLst>
              <a:ext uri="{FF2B5EF4-FFF2-40B4-BE49-F238E27FC236}">
                <a16:creationId xmlns:a16="http://schemas.microsoft.com/office/drawing/2014/main" id="{3A9506B7-1A57-1322-5AB5-DA8522EE7602}"/>
              </a:ext>
            </a:extLst>
          </p:cNvPr>
          <p:cNvSpPr/>
          <p:nvPr/>
        </p:nvSpPr>
        <p:spPr>
          <a:xfrm>
            <a:off x="838200" y="2328432"/>
            <a:ext cx="9722342" cy="471924"/>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4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Analyze Case Study </a:t>
            </a:r>
          </a:p>
        </p:txBody>
      </p:sp>
      <p:sp>
        <p:nvSpPr>
          <p:cNvPr id="12" name="TextBox 11">
            <a:extLst>
              <a:ext uri="{FF2B5EF4-FFF2-40B4-BE49-F238E27FC236}">
                <a16:creationId xmlns:a16="http://schemas.microsoft.com/office/drawing/2014/main" id="{A4ECB5F6-F271-06CD-2A6A-E79F5245CD15}"/>
              </a:ext>
            </a:extLst>
          </p:cNvPr>
          <p:cNvSpPr txBox="1"/>
          <p:nvPr/>
        </p:nvSpPr>
        <p:spPr>
          <a:xfrm>
            <a:off x="838200" y="1767653"/>
            <a:ext cx="1603003"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Objective</a:t>
            </a:r>
            <a:endParaRPr kumimoji="0" lang="en-US" sz="56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endParaRPr>
          </a:p>
        </p:txBody>
      </p:sp>
      <p:sp>
        <p:nvSpPr>
          <p:cNvPr id="13" name="TextBox 12">
            <a:extLst>
              <a:ext uri="{FF2B5EF4-FFF2-40B4-BE49-F238E27FC236}">
                <a16:creationId xmlns:a16="http://schemas.microsoft.com/office/drawing/2014/main" id="{EA94F381-2B48-C111-2724-726B0390290F}"/>
              </a:ext>
            </a:extLst>
          </p:cNvPr>
          <p:cNvSpPr txBox="1"/>
          <p:nvPr/>
        </p:nvSpPr>
        <p:spPr>
          <a:xfrm>
            <a:off x="838200" y="2952549"/>
            <a:ext cx="2022990"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Instructions</a:t>
            </a:r>
            <a:endParaRPr kumimoji="0" lang="en-US" sz="56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endParaRPr>
          </a:p>
        </p:txBody>
      </p:sp>
      <p:sp>
        <p:nvSpPr>
          <p:cNvPr id="14" name="Rectangle 13">
            <a:extLst>
              <a:ext uri="{FF2B5EF4-FFF2-40B4-BE49-F238E27FC236}">
                <a16:creationId xmlns:a16="http://schemas.microsoft.com/office/drawing/2014/main" id="{82677B47-98C9-F770-8D4E-7D91CF39F5A7}"/>
              </a:ext>
            </a:extLst>
          </p:cNvPr>
          <p:cNvSpPr/>
          <p:nvPr/>
        </p:nvSpPr>
        <p:spPr>
          <a:xfrm>
            <a:off x="818941" y="3486027"/>
            <a:ext cx="4419809" cy="2318583"/>
          </a:xfrm>
          <a:prstGeom prst="rect">
            <a:avLst/>
          </a:prstGeom>
          <a:solidFill>
            <a:schemeClr val="bg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In each team, follow the process outlined on the previous slides to develop and post IMPROVEMENT Cards.</a:t>
            </a:r>
          </a:p>
          <a:p>
            <a:pPr marL="0" marR="0" indent="0" algn="l" defTabSz="584200" rtl="0" fontAlgn="auto" latinLnBrk="0" hangingPunct="0">
              <a:lnSpc>
                <a:spcPct val="100000"/>
              </a:lnSpc>
              <a:spcBef>
                <a:spcPts val="0"/>
              </a:spcBef>
              <a:spcAft>
                <a:spcPts val="0"/>
              </a:spcAft>
              <a:buClrTx/>
              <a:buSzTx/>
              <a:buFontTx/>
              <a:buNone/>
              <a:tabLst/>
            </a:pPr>
            <a:r>
              <a:rPr kumimoji="0" lang="en-US"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Group like cards together and rewrite any cards that need further clarification.</a:t>
            </a:r>
          </a:p>
          <a:p>
            <a:pPr marL="0" marR="0" indent="0" algn="l" defTabSz="584200" rtl="0" fontAlgn="auto" latinLnBrk="0" hangingPunct="0">
              <a:lnSpc>
                <a:spcPct val="100000"/>
              </a:lnSpc>
              <a:spcBef>
                <a:spcPts val="0"/>
              </a:spcBef>
              <a:spcAft>
                <a:spcPts val="0"/>
              </a:spcAft>
              <a:buClrTx/>
              <a:buSzTx/>
              <a:buFontTx/>
              <a:buNone/>
              <a:tabLst/>
            </a:pPr>
            <a:r>
              <a:rPr kumimoji="0" lang="en-US"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Number the IMPROVEMENT Cards.</a:t>
            </a:r>
          </a:p>
        </p:txBody>
      </p:sp>
      <p:sp>
        <p:nvSpPr>
          <p:cNvPr id="15" name="TextBox 14">
            <a:extLst>
              <a:ext uri="{FF2B5EF4-FFF2-40B4-BE49-F238E27FC236}">
                <a16:creationId xmlns:a16="http://schemas.microsoft.com/office/drawing/2014/main" id="{90914B3B-0CE2-FDFF-2FB9-215236316256}"/>
              </a:ext>
            </a:extLst>
          </p:cNvPr>
          <p:cNvSpPr txBox="1"/>
          <p:nvPr/>
        </p:nvSpPr>
        <p:spPr>
          <a:xfrm>
            <a:off x="5879250" y="2952548"/>
            <a:ext cx="2968761"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Time to Complete</a:t>
            </a:r>
          </a:p>
        </p:txBody>
      </p:sp>
      <p:sp>
        <p:nvSpPr>
          <p:cNvPr id="16" name="TextBox 15">
            <a:extLst>
              <a:ext uri="{FF2B5EF4-FFF2-40B4-BE49-F238E27FC236}">
                <a16:creationId xmlns:a16="http://schemas.microsoft.com/office/drawing/2014/main" id="{6285230A-07BD-F376-25CA-177CC1D4233F}"/>
              </a:ext>
            </a:extLst>
          </p:cNvPr>
          <p:cNvSpPr txBox="1"/>
          <p:nvPr/>
        </p:nvSpPr>
        <p:spPr>
          <a:xfrm>
            <a:off x="5879250" y="4136472"/>
            <a:ext cx="1888337"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Deliverable</a:t>
            </a:r>
          </a:p>
        </p:txBody>
      </p:sp>
      <p:sp>
        <p:nvSpPr>
          <p:cNvPr id="17" name="Rectangle 16">
            <a:extLst>
              <a:ext uri="{FF2B5EF4-FFF2-40B4-BE49-F238E27FC236}">
                <a16:creationId xmlns:a16="http://schemas.microsoft.com/office/drawing/2014/main" id="{67530399-8FDB-50CD-E8FD-8E286DE1A2EA}"/>
              </a:ext>
            </a:extLst>
          </p:cNvPr>
          <p:cNvSpPr/>
          <p:nvPr/>
        </p:nvSpPr>
        <p:spPr>
          <a:xfrm>
            <a:off x="5879250" y="3496996"/>
            <a:ext cx="4681292" cy="471924"/>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584200" hangingPunct="0"/>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20 minutes</a:t>
            </a:r>
          </a:p>
        </p:txBody>
      </p:sp>
      <p:sp>
        <p:nvSpPr>
          <p:cNvPr id="18" name="Rectangle 17">
            <a:extLst>
              <a:ext uri="{FF2B5EF4-FFF2-40B4-BE49-F238E27FC236}">
                <a16:creationId xmlns:a16="http://schemas.microsoft.com/office/drawing/2014/main" id="{84DF6BD6-975A-3700-5E69-322EFF4F722E}"/>
              </a:ext>
            </a:extLst>
          </p:cNvPr>
          <p:cNvSpPr/>
          <p:nvPr/>
        </p:nvSpPr>
        <p:spPr>
          <a:xfrm>
            <a:off x="5879250" y="4665560"/>
            <a:ext cx="4681292" cy="1210588"/>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584200" hangingPunct="0"/>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IMPROVEMENT Cards complete, posted on diagram and numbered.</a:t>
            </a:r>
          </a:p>
        </p:txBody>
      </p:sp>
      <p:grpSp>
        <p:nvGrpSpPr>
          <p:cNvPr id="3" name="Group 2">
            <a:extLst>
              <a:ext uri="{FF2B5EF4-FFF2-40B4-BE49-F238E27FC236}">
                <a16:creationId xmlns:a16="http://schemas.microsoft.com/office/drawing/2014/main" id="{33838455-30F4-7D35-C5DD-0FEFD791F7A7}"/>
              </a:ext>
            </a:extLst>
          </p:cNvPr>
          <p:cNvGrpSpPr/>
          <p:nvPr/>
        </p:nvGrpSpPr>
        <p:grpSpPr>
          <a:xfrm>
            <a:off x="838200" y="297639"/>
            <a:ext cx="4351020" cy="307138"/>
            <a:chOff x="838200" y="297639"/>
            <a:chExt cx="4351020" cy="307138"/>
          </a:xfrm>
        </p:grpSpPr>
        <p:grpSp>
          <p:nvGrpSpPr>
            <p:cNvPr id="4" name="Group 3">
              <a:extLst>
                <a:ext uri="{FF2B5EF4-FFF2-40B4-BE49-F238E27FC236}">
                  <a16:creationId xmlns:a16="http://schemas.microsoft.com/office/drawing/2014/main" id="{BD0E256E-61C9-53A3-0C8D-C424C6F9DF68}"/>
                </a:ext>
              </a:extLst>
            </p:cNvPr>
            <p:cNvGrpSpPr/>
            <p:nvPr/>
          </p:nvGrpSpPr>
          <p:grpSpPr>
            <a:xfrm>
              <a:off x="838200" y="297639"/>
              <a:ext cx="1687517" cy="290657"/>
              <a:chOff x="838200" y="297639"/>
              <a:chExt cx="1687517" cy="290657"/>
            </a:xfrm>
          </p:grpSpPr>
          <p:sp>
            <p:nvSpPr>
              <p:cNvPr id="7" name="AutoShape 9">
                <a:extLst>
                  <a:ext uri="{FF2B5EF4-FFF2-40B4-BE49-F238E27FC236}">
                    <a16:creationId xmlns:a16="http://schemas.microsoft.com/office/drawing/2014/main" id="{9AFA0187-E137-46A4-13F0-CF9AC0B151EF}"/>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8" name="AutoShape 9">
                <a:extLst>
                  <a:ext uri="{FF2B5EF4-FFF2-40B4-BE49-F238E27FC236}">
                    <a16:creationId xmlns:a16="http://schemas.microsoft.com/office/drawing/2014/main" id="{0215D16D-21A3-A9BE-1360-CB625C3A2B1D}"/>
                  </a:ext>
                </a:extLst>
              </p:cNvPr>
              <p:cNvSpPr>
                <a:spLocks noChangeArrowheads="1"/>
              </p:cNvSpPr>
              <p:nvPr/>
            </p:nvSpPr>
            <p:spPr bwMode="auto">
              <a:xfrm>
                <a:off x="1779225" y="297639"/>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nvGrpSpPr>
              <p:cNvPr id="9" name="Group 8">
                <a:extLst>
                  <a:ext uri="{FF2B5EF4-FFF2-40B4-BE49-F238E27FC236}">
                    <a16:creationId xmlns:a16="http://schemas.microsoft.com/office/drawing/2014/main" id="{44418A4C-EEC3-E913-3662-7A78AC7B9FFB}"/>
                  </a:ext>
                </a:extLst>
              </p:cNvPr>
              <p:cNvGrpSpPr/>
              <p:nvPr/>
            </p:nvGrpSpPr>
            <p:grpSpPr>
              <a:xfrm>
                <a:off x="838200" y="297639"/>
                <a:ext cx="1060167" cy="290657"/>
                <a:chOff x="826426" y="4041857"/>
                <a:chExt cx="1060167" cy="290657"/>
              </a:xfrm>
            </p:grpSpPr>
            <p:sp>
              <p:nvSpPr>
                <p:cNvPr id="10" name="AutoShape 9">
                  <a:extLst>
                    <a:ext uri="{FF2B5EF4-FFF2-40B4-BE49-F238E27FC236}">
                      <a16:creationId xmlns:a16="http://schemas.microsoft.com/office/drawing/2014/main" id="{A46650AB-3B49-3E89-B7F7-B4004D947C42}"/>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9" name="AutoShape 11">
                  <a:extLst>
                    <a:ext uri="{FF2B5EF4-FFF2-40B4-BE49-F238E27FC236}">
                      <a16:creationId xmlns:a16="http://schemas.microsoft.com/office/drawing/2014/main" id="{384D0189-DE4C-08A8-2E92-E482AEC09D0F}"/>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0" name="AutoShape 10">
                  <a:extLst>
                    <a:ext uri="{FF2B5EF4-FFF2-40B4-BE49-F238E27FC236}">
                      <a16:creationId xmlns:a16="http://schemas.microsoft.com/office/drawing/2014/main" id="{E346B49B-C6A4-A460-D53D-02493BA50EFD}"/>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6" name="TextBox 5">
              <a:extLst>
                <a:ext uri="{FF2B5EF4-FFF2-40B4-BE49-F238E27FC236}">
                  <a16:creationId xmlns:a16="http://schemas.microsoft.com/office/drawing/2014/main" id="{AE3534B4-CF02-8A4E-731E-D557F441C640}"/>
                </a:ext>
              </a:extLst>
            </p:cNvPr>
            <p:cNvSpPr txBox="1"/>
            <p:nvPr/>
          </p:nvSpPr>
          <p:spPr>
            <a:xfrm>
              <a:off x="2525717" y="313415"/>
              <a:ext cx="266350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CEDAC Problem Solution</a:t>
              </a:r>
            </a:p>
          </p:txBody>
        </p:sp>
      </p:grpSp>
    </p:spTree>
    <p:extLst>
      <p:ext uri="{BB962C8B-B14F-4D97-AF65-F5344CB8AC3E}">
        <p14:creationId xmlns:p14="http://schemas.microsoft.com/office/powerpoint/2010/main" val="1074410887"/>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noAutofit/>
          </a:bodyPr>
          <a:lstStyle/>
          <a:p>
            <a:r>
              <a:rPr lang="en-US" sz="2800" dirty="0"/>
              <a:t>Process to Incorporate Existing Actions into CEDAC Method</a:t>
            </a:r>
          </a:p>
        </p:txBody>
      </p:sp>
      <p:sp>
        <p:nvSpPr>
          <p:cNvPr id="3" name="Content Placeholder 2">
            <a:extLst>
              <a:ext uri="{FF2B5EF4-FFF2-40B4-BE49-F238E27FC236}">
                <a16:creationId xmlns:a16="http://schemas.microsoft.com/office/drawing/2014/main" id="{2AA7A201-AD05-6520-E140-CCF11E59E700}"/>
              </a:ext>
            </a:extLst>
          </p:cNvPr>
          <p:cNvSpPr>
            <a:spLocks noGrp="1"/>
          </p:cNvSpPr>
          <p:nvPr>
            <p:ph idx="1"/>
          </p:nvPr>
        </p:nvSpPr>
        <p:spPr/>
        <p:txBody>
          <a:bodyPr>
            <a:normAutofit lnSpcReduction="10000"/>
          </a:bodyPr>
          <a:lstStyle/>
          <a:p>
            <a:r>
              <a:rPr lang="en-US" dirty="0"/>
              <a:t>Poll all related managers, departments, improvement boards for previous or current actions related to problem, metrics and objectives</a:t>
            </a:r>
          </a:p>
          <a:p>
            <a:r>
              <a:rPr lang="en-US" dirty="0"/>
              <a:t>Capture related actions onto CEDAC improvement card, using the standard blue post-it</a:t>
            </a:r>
          </a:p>
          <a:p>
            <a:r>
              <a:rPr lang="en-US" dirty="0"/>
              <a:t>Include names and dates on the improvement card, as well as status of action, using the DOT system (Explained in next section)</a:t>
            </a:r>
          </a:p>
          <a:p>
            <a:r>
              <a:rPr lang="en-US" dirty="0"/>
              <a:t>Be sure to update/include any affected associates concerning CEDAC process, who are not present in event, so they may keep your CEDAC updated and current</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78</a:t>
            </a:fld>
            <a:endParaRPr lang="en-US"/>
          </a:p>
        </p:txBody>
      </p:sp>
      <p:grpSp>
        <p:nvGrpSpPr>
          <p:cNvPr id="4" name="Group 3">
            <a:extLst>
              <a:ext uri="{FF2B5EF4-FFF2-40B4-BE49-F238E27FC236}">
                <a16:creationId xmlns:a16="http://schemas.microsoft.com/office/drawing/2014/main" id="{C1F2DC6B-D88C-7FA5-5003-05F28F6783E5}"/>
              </a:ext>
            </a:extLst>
          </p:cNvPr>
          <p:cNvGrpSpPr/>
          <p:nvPr/>
        </p:nvGrpSpPr>
        <p:grpSpPr>
          <a:xfrm>
            <a:off x="838200" y="297639"/>
            <a:ext cx="4351020" cy="307138"/>
            <a:chOff x="838200" y="297639"/>
            <a:chExt cx="4351020" cy="307138"/>
          </a:xfrm>
        </p:grpSpPr>
        <p:grpSp>
          <p:nvGrpSpPr>
            <p:cNvPr id="6" name="Group 5">
              <a:extLst>
                <a:ext uri="{FF2B5EF4-FFF2-40B4-BE49-F238E27FC236}">
                  <a16:creationId xmlns:a16="http://schemas.microsoft.com/office/drawing/2014/main" id="{B5375B13-A527-ADD6-801D-0D6CB82E74BC}"/>
                </a:ext>
              </a:extLst>
            </p:cNvPr>
            <p:cNvGrpSpPr/>
            <p:nvPr/>
          </p:nvGrpSpPr>
          <p:grpSpPr>
            <a:xfrm>
              <a:off x="838200" y="297639"/>
              <a:ext cx="1687517" cy="290657"/>
              <a:chOff x="838200" y="297639"/>
              <a:chExt cx="1687517" cy="290657"/>
            </a:xfrm>
          </p:grpSpPr>
          <p:sp>
            <p:nvSpPr>
              <p:cNvPr id="8" name="AutoShape 9">
                <a:extLst>
                  <a:ext uri="{FF2B5EF4-FFF2-40B4-BE49-F238E27FC236}">
                    <a16:creationId xmlns:a16="http://schemas.microsoft.com/office/drawing/2014/main" id="{522737C5-48ED-C14C-5338-43A89A4D95E6}"/>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9" name="AutoShape 9">
                <a:extLst>
                  <a:ext uri="{FF2B5EF4-FFF2-40B4-BE49-F238E27FC236}">
                    <a16:creationId xmlns:a16="http://schemas.microsoft.com/office/drawing/2014/main" id="{C6C81D3D-7428-13F6-58A9-351006664885}"/>
                  </a:ext>
                </a:extLst>
              </p:cNvPr>
              <p:cNvSpPr>
                <a:spLocks noChangeArrowheads="1"/>
              </p:cNvSpPr>
              <p:nvPr/>
            </p:nvSpPr>
            <p:spPr bwMode="auto">
              <a:xfrm>
                <a:off x="1779225" y="297639"/>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nvGrpSpPr>
              <p:cNvPr id="10" name="Group 9">
                <a:extLst>
                  <a:ext uri="{FF2B5EF4-FFF2-40B4-BE49-F238E27FC236}">
                    <a16:creationId xmlns:a16="http://schemas.microsoft.com/office/drawing/2014/main" id="{402C9DD6-204A-C867-5AAC-7D462ECA9C05}"/>
                  </a:ext>
                </a:extLst>
              </p:cNvPr>
              <p:cNvGrpSpPr/>
              <p:nvPr/>
            </p:nvGrpSpPr>
            <p:grpSpPr>
              <a:xfrm>
                <a:off x="838200" y="297639"/>
                <a:ext cx="1060167" cy="290657"/>
                <a:chOff x="826426" y="4041857"/>
                <a:chExt cx="1060167" cy="290657"/>
              </a:xfrm>
            </p:grpSpPr>
            <p:sp>
              <p:nvSpPr>
                <p:cNvPr id="11" name="AutoShape 9">
                  <a:extLst>
                    <a:ext uri="{FF2B5EF4-FFF2-40B4-BE49-F238E27FC236}">
                      <a16:creationId xmlns:a16="http://schemas.microsoft.com/office/drawing/2014/main" id="{08BD392E-5779-F662-9B3B-5EE2616C36B2}"/>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2" name="AutoShape 11">
                  <a:extLst>
                    <a:ext uri="{FF2B5EF4-FFF2-40B4-BE49-F238E27FC236}">
                      <a16:creationId xmlns:a16="http://schemas.microsoft.com/office/drawing/2014/main" id="{8FC2A77B-56E8-8507-CAE7-B64ED1005372}"/>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3" name="AutoShape 10">
                  <a:extLst>
                    <a:ext uri="{FF2B5EF4-FFF2-40B4-BE49-F238E27FC236}">
                      <a16:creationId xmlns:a16="http://schemas.microsoft.com/office/drawing/2014/main" id="{56BF6379-B7D9-C0DF-7601-82D8EA4E4557}"/>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7" name="TextBox 6">
              <a:extLst>
                <a:ext uri="{FF2B5EF4-FFF2-40B4-BE49-F238E27FC236}">
                  <a16:creationId xmlns:a16="http://schemas.microsoft.com/office/drawing/2014/main" id="{7FAABA21-3AD5-A595-D680-61C4FEFB6378}"/>
                </a:ext>
              </a:extLst>
            </p:cNvPr>
            <p:cNvSpPr txBox="1"/>
            <p:nvPr/>
          </p:nvSpPr>
          <p:spPr>
            <a:xfrm>
              <a:off x="2525717" y="313415"/>
              <a:ext cx="266350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CEDAC Problem Solution</a:t>
              </a:r>
            </a:p>
          </p:txBody>
        </p:sp>
      </p:grpSp>
    </p:spTree>
    <p:extLst>
      <p:ext uri="{BB962C8B-B14F-4D97-AF65-F5344CB8AC3E}">
        <p14:creationId xmlns:p14="http://schemas.microsoft.com/office/powerpoint/2010/main" val="309225998"/>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8D9ED7-5CF9-6F4B-B4A8-2DBF8D852A20}"/>
              </a:ext>
            </a:extLst>
          </p:cNvPr>
          <p:cNvSpPr>
            <a:spLocks noGrp="1"/>
          </p:cNvSpPr>
          <p:nvPr>
            <p:ph type="title"/>
          </p:nvPr>
        </p:nvSpPr>
        <p:spPr/>
        <p:txBody>
          <a:bodyPr>
            <a:noAutofit/>
          </a:bodyPr>
          <a:lstStyle/>
          <a:p>
            <a:r>
              <a:rPr lang="en-US" sz="2800" dirty="0">
                <a:latin typeface="Roboto Medium"/>
                <a:ea typeface="Roboto Medium"/>
                <a:cs typeface="Roboto Medium"/>
              </a:rPr>
              <a:t>Exercise: Take Inventory of Current Actions that are Underway</a:t>
            </a:r>
          </a:p>
        </p:txBody>
      </p:sp>
      <p:sp>
        <p:nvSpPr>
          <p:cNvPr id="5" name="Slide Number Placeholder 4">
            <a:extLst>
              <a:ext uri="{FF2B5EF4-FFF2-40B4-BE49-F238E27FC236}">
                <a16:creationId xmlns:a16="http://schemas.microsoft.com/office/drawing/2014/main" id="{EFB3C390-D307-7FFC-DADE-918C5180FE01}"/>
              </a:ext>
            </a:extLst>
          </p:cNvPr>
          <p:cNvSpPr>
            <a:spLocks noGrp="1"/>
          </p:cNvSpPr>
          <p:nvPr>
            <p:ph type="sldNum" sz="quarter" idx="4294967295"/>
          </p:nvPr>
        </p:nvSpPr>
        <p:spPr>
          <a:xfrm>
            <a:off x="8595078" y="6333148"/>
            <a:ext cx="2743200" cy="365125"/>
          </a:xfrm>
          <a:prstGeom prst="rect">
            <a:avLst/>
          </a:prstGeom>
        </p:spPr>
        <p:txBody>
          <a:bodyPr/>
          <a:lstStyle/>
          <a:p>
            <a:fld id="{CC6D4273-7FC1-0947-B9FE-19CB3C0D1FB6}" type="slidenum">
              <a:rPr lang="en-US" smtClean="0"/>
              <a:t>79</a:t>
            </a:fld>
            <a:endParaRPr lang="en-US"/>
          </a:p>
        </p:txBody>
      </p:sp>
      <p:sp>
        <p:nvSpPr>
          <p:cNvPr id="11" name="Rectangle 10">
            <a:extLst>
              <a:ext uri="{FF2B5EF4-FFF2-40B4-BE49-F238E27FC236}">
                <a16:creationId xmlns:a16="http://schemas.microsoft.com/office/drawing/2014/main" id="{3A9506B7-1A57-1322-5AB5-DA8522EE7602}"/>
              </a:ext>
            </a:extLst>
          </p:cNvPr>
          <p:cNvSpPr/>
          <p:nvPr/>
        </p:nvSpPr>
        <p:spPr>
          <a:xfrm>
            <a:off x="838200" y="2359209"/>
            <a:ext cx="9722342" cy="410369"/>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0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Take an inventory of current actions and initiatives that are already underway.</a:t>
            </a:r>
          </a:p>
        </p:txBody>
      </p:sp>
      <p:sp>
        <p:nvSpPr>
          <p:cNvPr id="12" name="TextBox 11">
            <a:extLst>
              <a:ext uri="{FF2B5EF4-FFF2-40B4-BE49-F238E27FC236}">
                <a16:creationId xmlns:a16="http://schemas.microsoft.com/office/drawing/2014/main" id="{A4ECB5F6-F271-06CD-2A6A-E79F5245CD15}"/>
              </a:ext>
            </a:extLst>
          </p:cNvPr>
          <p:cNvSpPr txBox="1"/>
          <p:nvPr/>
        </p:nvSpPr>
        <p:spPr>
          <a:xfrm>
            <a:off x="838200" y="1767653"/>
            <a:ext cx="1603003"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Objective</a:t>
            </a:r>
            <a:endParaRPr kumimoji="0" lang="en-US" sz="56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endParaRPr>
          </a:p>
        </p:txBody>
      </p:sp>
      <p:sp>
        <p:nvSpPr>
          <p:cNvPr id="13" name="TextBox 12">
            <a:extLst>
              <a:ext uri="{FF2B5EF4-FFF2-40B4-BE49-F238E27FC236}">
                <a16:creationId xmlns:a16="http://schemas.microsoft.com/office/drawing/2014/main" id="{EA94F381-2B48-C111-2724-726B0390290F}"/>
              </a:ext>
            </a:extLst>
          </p:cNvPr>
          <p:cNvSpPr txBox="1"/>
          <p:nvPr/>
        </p:nvSpPr>
        <p:spPr>
          <a:xfrm>
            <a:off x="838200" y="2952549"/>
            <a:ext cx="2022990"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Instructions</a:t>
            </a:r>
            <a:endParaRPr kumimoji="0" lang="en-US" sz="56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endParaRPr>
          </a:p>
        </p:txBody>
      </p:sp>
      <p:sp>
        <p:nvSpPr>
          <p:cNvPr id="14" name="Rectangle 13">
            <a:extLst>
              <a:ext uri="{FF2B5EF4-FFF2-40B4-BE49-F238E27FC236}">
                <a16:creationId xmlns:a16="http://schemas.microsoft.com/office/drawing/2014/main" id="{82677B47-98C9-F770-8D4E-7D91CF39F5A7}"/>
              </a:ext>
            </a:extLst>
          </p:cNvPr>
          <p:cNvSpPr/>
          <p:nvPr/>
        </p:nvSpPr>
        <p:spPr>
          <a:xfrm>
            <a:off x="818941" y="3486027"/>
            <a:ext cx="4419809" cy="2318583"/>
          </a:xfrm>
          <a:prstGeom prst="rect">
            <a:avLst/>
          </a:prstGeom>
          <a:solidFill>
            <a:schemeClr val="bg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As a team, follow the process outlined on the previous slides to add existing actions onto your CEDAC format .</a:t>
            </a:r>
          </a:p>
          <a:p>
            <a:pPr marL="0" marR="0" indent="0" algn="l" defTabSz="584200" rtl="0" fontAlgn="auto" latinLnBrk="0" hangingPunct="0">
              <a:lnSpc>
                <a:spcPct val="100000"/>
              </a:lnSpc>
              <a:spcBef>
                <a:spcPts val="0"/>
              </a:spcBef>
              <a:spcAft>
                <a:spcPts val="0"/>
              </a:spcAft>
              <a:buClrTx/>
              <a:buSzTx/>
              <a:buFontTx/>
              <a:buNone/>
              <a:tabLst/>
            </a:pPr>
            <a:r>
              <a:rPr kumimoji="0" lang="en-US"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Conduct a team review of the new Improvement Cards or status update for clarification and understanding.  </a:t>
            </a:r>
          </a:p>
          <a:p>
            <a:pPr marL="0" marR="0" indent="0" algn="l" defTabSz="584200" rtl="0" fontAlgn="auto" latinLnBrk="0" hangingPunct="0">
              <a:lnSpc>
                <a:spcPct val="100000"/>
              </a:lnSpc>
              <a:spcBef>
                <a:spcPts val="0"/>
              </a:spcBef>
              <a:spcAft>
                <a:spcPts val="0"/>
              </a:spcAft>
              <a:buClrTx/>
              <a:buSzTx/>
              <a:buFontTx/>
              <a:buNone/>
              <a:tabLst/>
            </a:pPr>
            <a:r>
              <a:rPr kumimoji="0" lang="en-US" b="0" i="1"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It is recommended that one team member captures the format electronically. </a:t>
            </a:r>
          </a:p>
        </p:txBody>
      </p:sp>
      <p:sp>
        <p:nvSpPr>
          <p:cNvPr id="15" name="TextBox 14">
            <a:extLst>
              <a:ext uri="{FF2B5EF4-FFF2-40B4-BE49-F238E27FC236}">
                <a16:creationId xmlns:a16="http://schemas.microsoft.com/office/drawing/2014/main" id="{90914B3B-0CE2-FDFF-2FB9-215236316256}"/>
              </a:ext>
            </a:extLst>
          </p:cNvPr>
          <p:cNvSpPr txBox="1"/>
          <p:nvPr/>
        </p:nvSpPr>
        <p:spPr>
          <a:xfrm>
            <a:off x="5879250" y="2952548"/>
            <a:ext cx="2968761"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Time to Complete</a:t>
            </a:r>
          </a:p>
        </p:txBody>
      </p:sp>
      <p:sp>
        <p:nvSpPr>
          <p:cNvPr id="16" name="TextBox 15">
            <a:extLst>
              <a:ext uri="{FF2B5EF4-FFF2-40B4-BE49-F238E27FC236}">
                <a16:creationId xmlns:a16="http://schemas.microsoft.com/office/drawing/2014/main" id="{6285230A-07BD-F376-25CA-177CC1D4233F}"/>
              </a:ext>
            </a:extLst>
          </p:cNvPr>
          <p:cNvSpPr txBox="1"/>
          <p:nvPr/>
        </p:nvSpPr>
        <p:spPr>
          <a:xfrm>
            <a:off x="5879250" y="4136472"/>
            <a:ext cx="1888337"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Deliverable</a:t>
            </a:r>
          </a:p>
        </p:txBody>
      </p:sp>
      <p:sp>
        <p:nvSpPr>
          <p:cNvPr id="17" name="Rectangle 16">
            <a:extLst>
              <a:ext uri="{FF2B5EF4-FFF2-40B4-BE49-F238E27FC236}">
                <a16:creationId xmlns:a16="http://schemas.microsoft.com/office/drawing/2014/main" id="{67530399-8FDB-50CD-E8FD-8E286DE1A2EA}"/>
              </a:ext>
            </a:extLst>
          </p:cNvPr>
          <p:cNvSpPr/>
          <p:nvPr/>
        </p:nvSpPr>
        <p:spPr>
          <a:xfrm>
            <a:off x="5879250" y="3496996"/>
            <a:ext cx="4681292" cy="471924"/>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584200" hangingPunct="0"/>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Determined by facilitator</a:t>
            </a:r>
          </a:p>
        </p:txBody>
      </p:sp>
      <p:sp>
        <p:nvSpPr>
          <p:cNvPr id="18" name="Rectangle 17">
            <a:extLst>
              <a:ext uri="{FF2B5EF4-FFF2-40B4-BE49-F238E27FC236}">
                <a16:creationId xmlns:a16="http://schemas.microsoft.com/office/drawing/2014/main" id="{84DF6BD6-975A-3700-5E69-322EFF4F722E}"/>
              </a:ext>
            </a:extLst>
          </p:cNvPr>
          <p:cNvSpPr/>
          <p:nvPr/>
        </p:nvSpPr>
        <p:spPr>
          <a:xfrm>
            <a:off x="5879250" y="4696338"/>
            <a:ext cx="4681292" cy="841256"/>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584200" hangingPunct="0"/>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IMPROVEMENT Cards updated and reviewed.</a:t>
            </a:r>
          </a:p>
        </p:txBody>
      </p:sp>
      <p:grpSp>
        <p:nvGrpSpPr>
          <p:cNvPr id="3" name="Group 2">
            <a:extLst>
              <a:ext uri="{FF2B5EF4-FFF2-40B4-BE49-F238E27FC236}">
                <a16:creationId xmlns:a16="http://schemas.microsoft.com/office/drawing/2014/main" id="{33838455-30F4-7D35-C5DD-0FEFD791F7A7}"/>
              </a:ext>
            </a:extLst>
          </p:cNvPr>
          <p:cNvGrpSpPr/>
          <p:nvPr/>
        </p:nvGrpSpPr>
        <p:grpSpPr>
          <a:xfrm>
            <a:off x="838200" y="297639"/>
            <a:ext cx="4351020" cy="307138"/>
            <a:chOff x="838200" y="297639"/>
            <a:chExt cx="4351020" cy="307138"/>
          </a:xfrm>
        </p:grpSpPr>
        <p:grpSp>
          <p:nvGrpSpPr>
            <p:cNvPr id="4" name="Group 3">
              <a:extLst>
                <a:ext uri="{FF2B5EF4-FFF2-40B4-BE49-F238E27FC236}">
                  <a16:creationId xmlns:a16="http://schemas.microsoft.com/office/drawing/2014/main" id="{BD0E256E-61C9-53A3-0C8D-C424C6F9DF68}"/>
                </a:ext>
              </a:extLst>
            </p:cNvPr>
            <p:cNvGrpSpPr/>
            <p:nvPr/>
          </p:nvGrpSpPr>
          <p:grpSpPr>
            <a:xfrm>
              <a:off x="838200" y="297639"/>
              <a:ext cx="1687517" cy="290657"/>
              <a:chOff x="838200" y="297639"/>
              <a:chExt cx="1687517" cy="290657"/>
            </a:xfrm>
          </p:grpSpPr>
          <p:sp>
            <p:nvSpPr>
              <p:cNvPr id="7" name="AutoShape 9">
                <a:extLst>
                  <a:ext uri="{FF2B5EF4-FFF2-40B4-BE49-F238E27FC236}">
                    <a16:creationId xmlns:a16="http://schemas.microsoft.com/office/drawing/2014/main" id="{9AFA0187-E137-46A4-13F0-CF9AC0B151EF}"/>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8" name="AutoShape 9">
                <a:extLst>
                  <a:ext uri="{FF2B5EF4-FFF2-40B4-BE49-F238E27FC236}">
                    <a16:creationId xmlns:a16="http://schemas.microsoft.com/office/drawing/2014/main" id="{0215D16D-21A3-A9BE-1360-CB625C3A2B1D}"/>
                  </a:ext>
                </a:extLst>
              </p:cNvPr>
              <p:cNvSpPr>
                <a:spLocks noChangeArrowheads="1"/>
              </p:cNvSpPr>
              <p:nvPr/>
            </p:nvSpPr>
            <p:spPr bwMode="auto">
              <a:xfrm>
                <a:off x="1779225" y="297639"/>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nvGrpSpPr>
              <p:cNvPr id="9" name="Group 8">
                <a:extLst>
                  <a:ext uri="{FF2B5EF4-FFF2-40B4-BE49-F238E27FC236}">
                    <a16:creationId xmlns:a16="http://schemas.microsoft.com/office/drawing/2014/main" id="{44418A4C-EEC3-E913-3662-7A78AC7B9FFB}"/>
                  </a:ext>
                </a:extLst>
              </p:cNvPr>
              <p:cNvGrpSpPr/>
              <p:nvPr/>
            </p:nvGrpSpPr>
            <p:grpSpPr>
              <a:xfrm>
                <a:off x="838200" y="297639"/>
                <a:ext cx="1060167" cy="290657"/>
                <a:chOff x="826426" y="4041857"/>
                <a:chExt cx="1060167" cy="290657"/>
              </a:xfrm>
            </p:grpSpPr>
            <p:sp>
              <p:nvSpPr>
                <p:cNvPr id="10" name="AutoShape 9">
                  <a:extLst>
                    <a:ext uri="{FF2B5EF4-FFF2-40B4-BE49-F238E27FC236}">
                      <a16:creationId xmlns:a16="http://schemas.microsoft.com/office/drawing/2014/main" id="{A46650AB-3B49-3E89-B7F7-B4004D947C42}"/>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9" name="AutoShape 11">
                  <a:extLst>
                    <a:ext uri="{FF2B5EF4-FFF2-40B4-BE49-F238E27FC236}">
                      <a16:creationId xmlns:a16="http://schemas.microsoft.com/office/drawing/2014/main" id="{384D0189-DE4C-08A8-2E92-E482AEC09D0F}"/>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0" name="AutoShape 10">
                  <a:extLst>
                    <a:ext uri="{FF2B5EF4-FFF2-40B4-BE49-F238E27FC236}">
                      <a16:creationId xmlns:a16="http://schemas.microsoft.com/office/drawing/2014/main" id="{E346B49B-C6A4-A460-D53D-02493BA50EFD}"/>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6" name="TextBox 5">
              <a:extLst>
                <a:ext uri="{FF2B5EF4-FFF2-40B4-BE49-F238E27FC236}">
                  <a16:creationId xmlns:a16="http://schemas.microsoft.com/office/drawing/2014/main" id="{AE3534B4-CF02-8A4E-731E-D557F441C640}"/>
                </a:ext>
              </a:extLst>
            </p:cNvPr>
            <p:cNvSpPr txBox="1"/>
            <p:nvPr/>
          </p:nvSpPr>
          <p:spPr>
            <a:xfrm>
              <a:off x="2525717" y="313415"/>
              <a:ext cx="266350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CEDAC Problem Solution</a:t>
              </a:r>
            </a:p>
          </p:txBody>
        </p:sp>
      </p:grpSp>
    </p:spTree>
    <p:extLst>
      <p:ext uri="{BB962C8B-B14F-4D97-AF65-F5344CB8AC3E}">
        <p14:creationId xmlns:p14="http://schemas.microsoft.com/office/powerpoint/2010/main" val="2808161929"/>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8D9ED7-5CF9-6F4B-B4A8-2DBF8D852A20}"/>
              </a:ext>
            </a:extLst>
          </p:cNvPr>
          <p:cNvSpPr>
            <a:spLocks noGrp="1"/>
          </p:cNvSpPr>
          <p:nvPr>
            <p:ph type="title"/>
          </p:nvPr>
        </p:nvSpPr>
        <p:spPr/>
        <p:txBody>
          <a:bodyPr>
            <a:noAutofit/>
          </a:bodyPr>
          <a:lstStyle/>
          <a:p>
            <a:r>
              <a:rPr lang="en-US" sz="2800" dirty="0">
                <a:latin typeface="Roboto Medium"/>
                <a:ea typeface="Roboto Medium"/>
                <a:cs typeface="Roboto Medium"/>
              </a:rPr>
              <a:t>CEDAC Step 6 Exercise: Develop IMPROVEMENT Cards</a:t>
            </a:r>
          </a:p>
        </p:txBody>
      </p:sp>
      <p:sp>
        <p:nvSpPr>
          <p:cNvPr id="5" name="Slide Number Placeholder 4">
            <a:extLst>
              <a:ext uri="{FF2B5EF4-FFF2-40B4-BE49-F238E27FC236}">
                <a16:creationId xmlns:a16="http://schemas.microsoft.com/office/drawing/2014/main" id="{EFB3C390-D307-7FFC-DADE-918C5180FE01}"/>
              </a:ext>
            </a:extLst>
          </p:cNvPr>
          <p:cNvSpPr>
            <a:spLocks noGrp="1"/>
          </p:cNvSpPr>
          <p:nvPr>
            <p:ph type="sldNum" sz="quarter" idx="4294967295"/>
          </p:nvPr>
        </p:nvSpPr>
        <p:spPr>
          <a:xfrm>
            <a:off x="8595078" y="6333148"/>
            <a:ext cx="2743200" cy="365125"/>
          </a:xfrm>
          <a:prstGeom prst="rect">
            <a:avLst/>
          </a:prstGeom>
        </p:spPr>
        <p:txBody>
          <a:bodyPr/>
          <a:lstStyle/>
          <a:p>
            <a:fld id="{CC6D4273-7FC1-0947-B9FE-19CB3C0D1FB6}" type="slidenum">
              <a:rPr lang="en-US" smtClean="0"/>
              <a:t>80</a:t>
            </a:fld>
            <a:endParaRPr lang="en-US"/>
          </a:p>
        </p:txBody>
      </p:sp>
      <p:sp>
        <p:nvSpPr>
          <p:cNvPr id="11" name="Rectangle 10">
            <a:extLst>
              <a:ext uri="{FF2B5EF4-FFF2-40B4-BE49-F238E27FC236}">
                <a16:creationId xmlns:a16="http://schemas.microsoft.com/office/drawing/2014/main" id="{3A9506B7-1A57-1322-5AB5-DA8522EE7602}"/>
              </a:ext>
            </a:extLst>
          </p:cNvPr>
          <p:cNvSpPr/>
          <p:nvPr/>
        </p:nvSpPr>
        <p:spPr>
          <a:xfrm>
            <a:off x="838200" y="2328432"/>
            <a:ext cx="9722342" cy="471924"/>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4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Develop IMPROVEMENT Cards for each FACT Card. </a:t>
            </a:r>
          </a:p>
        </p:txBody>
      </p:sp>
      <p:sp>
        <p:nvSpPr>
          <p:cNvPr id="12" name="TextBox 11">
            <a:extLst>
              <a:ext uri="{FF2B5EF4-FFF2-40B4-BE49-F238E27FC236}">
                <a16:creationId xmlns:a16="http://schemas.microsoft.com/office/drawing/2014/main" id="{A4ECB5F6-F271-06CD-2A6A-E79F5245CD15}"/>
              </a:ext>
            </a:extLst>
          </p:cNvPr>
          <p:cNvSpPr txBox="1"/>
          <p:nvPr/>
        </p:nvSpPr>
        <p:spPr>
          <a:xfrm>
            <a:off x="838200" y="1767653"/>
            <a:ext cx="1603003"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Objective</a:t>
            </a:r>
            <a:endParaRPr kumimoji="0" lang="en-US" sz="56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endParaRPr>
          </a:p>
        </p:txBody>
      </p:sp>
      <p:sp>
        <p:nvSpPr>
          <p:cNvPr id="13" name="TextBox 12">
            <a:extLst>
              <a:ext uri="{FF2B5EF4-FFF2-40B4-BE49-F238E27FC236}">
                <a16:creationId xmlns:a16="http://schemas.microsoft.com/office/drawing/2014/main" id="{EA94F381-2B48-C111-2724-726B0390290F}"/>
              </a:ext>
            </a:extLst>
          </p:cNvPr>
          <p:cNvSpPr txBox="1"/>
          <p:nvPr/>
        </p:nvSpPr>
        <p:spPr>
          <a:xfrm>
            <a:off x="838200" y="2952549"/>
            <a:ext cx="2022990"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Instructions</a:t>
            </a:r>
            <a:endParaRPr kumimoji="0" lang="en-US" sz="56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endParaRPr>
          </a:p>
        </p:txBody>
      </p:sp>
      <p:sp>
        <p:nvSpPr>
          <p:cNvPr id="14" name="Rectangle 13">
            <a:extLst>
              <a:ext uri="{FF2B5EF4-FFF2-40B4-BE49-F238E27FC236}">
                <a16:creationId xmlns:a16="http://schemas.microsoft.com/office/drawing/2014/main" id="{82677B47-98C9-F770-8D4E-7D91CF39F5A7}"/>
              </a:ext>
            </a:extLst>
          </p:cNvPr>
          <p:cNvSpPr/>
          <p:nvPr/>
        </p:nvSpPr>
        <p:spPr>
          <a:xfrm>
            <a:off x="818941" y="3486027"/>
            <a:ext cx="4419809" cy="2318583"/>
          </a:xfrm>
          <a:prstGeom prst="rect">
            <a:avLst/>
          </a:prstGeom>
          <a:solidFill>
            <a:schemeClr val="bg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15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As a team, follow the process outlined on the previous slides to develop and post IMPROVEMENT Cards.</a:t>
            </a:r>
          </a:p>
          <a:p>
            <a:pPr marL="0" marR="0" indent="0" algn="l" defTabSz="584200" rtl="0" fontAlgn="auto" latinLnBrk="0" hangingPunct="0">
              <a:lnSpc>
                <a:spcPct val="100000"/>
              </a:lnSpc>
              <a:spcBef>
                <a:spcPts val="0"/>
              </a:spcBef>
              <a:spcAft>
                <a:spcPts val="0"/>
              </a:spcAft>
              <a:buClrTx/>
              <a:buSzTx/>
              <a:buFontTx/>
              <a:buNone/>
              <a:tabLst/>
            </a:pPr>
            <a:r>
              <a:rPr kumimoji="0" lang="en-US" sz="15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Conduct a team review of the IMPROVEMENT Cards for clarification and understanding.  </a:t>
            </a:r>
          </a:p>
          <a:p>
            <a:pPr marL="0" marR="0" indent="0" algn="l" defTabSz="584200" rtl="0" fontAlgn="auto" latinLnBrk="0" hangingPunct="0">
              <a:lnSpc>
                <a:spcPct val="100000"/>
              </a:lnSpc>
              <a:spcBef>
                <a:spcPts val="0"/>
              </a:spcBef>
              <a:spcAft>
                <a:spcPts val="0"/>
              </a:spcAft>
              <a:buClrTx/>
              <a:buSzTx/>
              <a:buFontTx/>
              <a:buNone/>
              <a:tabLst/>
            </a:pPr>
            <a:r>
              <a:rPr kumimoji="0" lang="en-US" sz="15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Group like cards together and rewrite any cards that need further clarification.</a:t>
            </a:r>
          </a:p>
          <a:p>
            <a:pPr marL="0" marR="0" indent="0" algn="l" defTabSz="584200" rtl="0" fontAlgn="auto" latinLnBrk="0" hangingPunct="0">
              <a:lnSpc>
                <a:spcPct val="100000"/>
              </a:lnSpc>
              <a:spcBef>
                <a:spcPts val="0"/>
              </a:spcBef>
              <a:spcAft>
                <a:spcPts val="0"/>
              </a:spcAft>
              <a:buClrTx/>
              <a:buSzTx/>
              <a:buFontTx/>
              <a:buNone/>
              <a:tabLst/>
            </a:pPr>
            <a:r>
              <a:rPr kumimoji="0" lang="en-US" sz="15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Number the IMPROVEMENT Cards.</a:t>
            </a:r>
          </a:p>
          <a:p>
            <a:pPr marL="0" marR="0" indent="0" algn="l" defTabSz="584200" rtl="0" fontAlgn="auto" latinLnBrk="0" hangingPunct="0">
              <a:lnSpc>
                <a:spcPct val="100000"/>
              </a:lnSpc>
              <a:spcBef>
                <a:spcPts val="0"/>
              </a:spcBef>
              <a:spcAft>
                <a:spcPts val="0"/>
              </a:spcAft>
              <a:buClrTx/>
              <a:buSzTx/>
              <a:buFontTx/>
              <a:buNone/>
              <a:tabLst/>
            </a:pPr>
            <a:r>
              <a:rPr kumimoji="0" lang="en-US" sz="1500" b="0" i="1"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It is recommended that one team member captures the format electronically. </a:t>
            </a:r>
          </a:p>
        </p:txBody>
      </p:sp>
      <p:sp>
        <p:nvSpPr>
          <p:cNvPr id="15" name="TextBox 14">
            <a:extLst>
              <a:ext uri="{FF2B5EF4-FFF2-40B4-BE49-F238E27FC236}">
                <a16:creationId xmlns:a16="http://schemas.microsoft.com/office/drawing/2014/main" id="{90914B3B-0CE2-FDFF-2FB9-215236316256}"/>
              </a:ext>
            </a:extLst>
          </p:cNvPr>
          <p:cNvSpPr txBox="1"/>
          <p:nvPr/>
        </p:nvSpPr>
        <p:spPr>
          <a:xfrm>
            <a:off x="5879250" y="2952548"/>
            <a:ext cx="2968761"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Time to Complete</a:t>
            </a:r>
          </a:p>
        </p:txBody>
      </p:sp>
      <p:sp>
        <p:nvSpPr>
          <p:cNvPr id="16" name="TextBox 15">
            <a:extLst>
              <a:ext uri="{FF2B5EF4-FFF2-40B4-BE49-F238E27FC236}">
                <a16:creationId xmlns:a16="http://schemas.microsoft.com/office/drawing/2014/main" id="{6285230A-07BD-F376-25CA-177CC1D4233F}"/>
              </a:ext>
            </a:extLst>
          </p:cNvPr>
          <p:cNvSpPr txBox="1"/>
          <p:nvPr/>
        </p:nvSpPr>
        <p:spPr>
          <a:xfrm>
            <a:off x="5879250" y="4136472"/>
            <a:ext cx="1888337"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Deliverable</a:t>
            </a:r>
          </a:p>
        </p:txBody>
      </p:sp>
      <p:sp>
        <p:nvSpPr>
          <p:cNvPr id="17" name="Rectangle 16">
            <a:extLst>
              <a:ext uri="{FF2B5EF4-FFF2-40B4-BE49-F238E27FC236}">
                <a16:creationId xmlns:a16="http://schemas.microsoft.com/office/drawing/2014/main" id="{67530399-8FDB-50CD-E8FD-8E286DE1A2EA}"/>
              </a:ext>
            </a:extLst>
          </p:cNvPr>
          <p:cNvSpPr/>
          <p:nvPr/>
        </p:nvSpPr>
        <p:spPr>
          <a:xfrm>
            <a:off x="5879250" y="3496996"/>
            <a:ext cx="4681292" cy="471924"/>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584200" hangingPunct="0"/>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Determined by facilitator</a:t>
            </a:r>
          </a:p>
        </p:txBody>
      </p:sp>
      <p:sp>
        <p:nvSpPr>
          <p:cNvPr id="18" name="Rectangle 17">
            <a:extLst>
              <a:ext uri="{FF2B5EF4-FFF2-40B4-BE49-F238E27FC236}">
                <a16:creationId xmlns:a16="http://schemas.microsoft.com/office/drawing/2014/main" id="{84DF6BD6-975A-3700-5E69-322EFF4F722E}"/>
              </a:ext>
            </a:extLst>
          </p:cNvPr>
          <p:cNvSpPr/>
          <p:nvPr/>
        </p:nvSpPr>
        <p:spPr>
          <a:xfrm>
            <a:off x="5879250" y="4665560"/>
            <a:ext cx="4681292" cy="841256"/>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584200" hangingPunct="0"/>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IMPROVEMENT Cards complete, reviewed, and numbered.</a:t>
            </a:r>
          </a:p>
        </p:txBody>
      </p:sp>
      <p:grpSp>
        <p:nvGrpSpPr>
          <p:cNvPr id="3" name="Group 2">
            <a:extLst>
              <a:ext uri="{FF2B5EF4-FFF2-40B4-BE49-F238E27FC236}">
                <a16:creationId xmlns:a16="http://schemas.microsoft.com/office/drawing/2014/main" id="{33838455-30F4-7D35-C5DD-0FEFD791F7A7}"/>
              </a:ext>
            </a:extLst>
          </p:cNvPr>
          <p:cNvGrpSpPr/>
          <p:nvPr/>
        </p:nvGrpSpPr>
        <p:grpSpPr>
          <a:xfrm>
            <a:off x="838200" y="297639"/>
            <a:ext cx="4351020" cy="307138"/>
            <a:chOff x="838200" y="297639"/>
            <a:chExt cx="4351020" cy="307138"/>
          </a:xfrm>
        </p:grpSpPr>
        <p:grpSp>
          <p:nvGrpSpPr>
            <p:cNvPr id="4" name="Group 3">
              <a:extLst>
                <a:ext uri="{FF2B5EF4-FFF2-40B4-BE49-F238E27FC236}">
                  <a16:creationId xmlns:a16="http://schemas.microsoft.com/office/drawing/2014/main" id="{BD0E256E-61C9-53A3-0C8D-C424C6F9DF68}"/>
                </a:ext>
              </a:extLst>
            </p:cNvPr>
            <p:cNvGrpSpPr/>
            <p:nvPr/>
          </p:nvGrpSpPr>
          <p:grpSpPr>
            <a:xfrm>
              <a:off x="838200" y="297639"/>
              <a:ext cx="1687517" cy="290657"/>
              <a:chOff x="838200" y="297639"/>
              <a:chExt cx="1687517" cy="290657"/>
            </a:xfrm>
          </p:grpSpPr>
          <p:sp>
            <p:nvSpPr>
              <p:cNvPr id="7" name="AutoShape 9">
                <a:extLst>
                  <a:ext uri="{FF2B5EF4-FFF2-40B4-BE49-F238E27FC236}">
                    <a16:creationId xmlns:a16="http://schemas.microsoft.com/office/drawing/2014/main" id="{9AFA0187-E137-46A4-13F0-CF9AC0B151EF}"/>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8" name="AutoShape 9">
                <a:extLst>
                  <a:ext uri="{FF2B5EF4-FFF2-40B4-BE49-F238E27FC236}">
                    <a16:creationId xmlns:a16="http://schemas.microsoft.com/office/drawing/2014/main" id="{0215D16D-21A3-A9BE-1360-CB625C3A2B1D}"/>
                  </a:ext>
                </a:extLst>
              </p:cNvPr>
              <p:cNvSpPr>
                <a:spLocks noChangeArrowheads="1"/>
              </p:cNvSpPr>
              <p:nvPr/>
            </p:nvSpPr>
            <p:spPr bwMode="auto">
              <a:xfrm>
                <a:off x="1779225" y="297639"/>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nvGrpSpPr>
              <p:cNvPr id="9" name="Group 8">
                <a:extLst>
                  <a:ext uri="{FF2B5EF4-FFF2-40B4-BE49-F238E27FC236}">
                    <a16:creationId xmlns:a16="http://schemas.microsoft.com/office/drawing/2014/main" id="{44418A4C-EEC3-E913-3662-7A78AC7B9FFB}"/>
                  </a:ext>
                </a:extLst>
              </p:cNvPr>
              <p:cNvGrpSpPr/>
              <p:nvPr/>
            </p:nvGrpSpPr>
            <p:grpSpPr>
              <a:xfrm>
                <a:off x="838200" y="297639"/>
                <a:ext cx="1060167" cy="290657"/>
                <a:chOff x="826426" y="4041857"/>
                <a:chExt cx="1060167" cy="290657"/>
              </a:xfrm>
            </p:grpSpPr>
            <p:sp>
              <p:nvSpPr>
                <p:cNvPr id="10" name="AutoShape 9">
                  <a:extLst>
                    <a:ext uri="{FF2B5EF4-FFF2-40B4-BE49-F238E27FC236}">
                      <a16:creationId xmlns:a16="http://schemas.microsoft.com/office/drawing/2014/main" id="{A46650AB-3B49-3E89-B7F7-B4004D947C42}"/>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9" name="AutoShape 11">
                  <a:extLst>
                    <a:ext uri="{FF2B5EF4-FFF2-40B4-BE49-F238E27FC236}">
                      <a16:creationId xmlns:a16="http://schemas.microsoft.com/office/drawing/2014/main" id="{384D0189-DE4C-08A8-2E92-E482AEC09D0F}"/>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0" name="AutoShape 10">
                  <a:extLst>
                    <a:ext uri="{FF2B5EF4-FFF2-40B4-BE49-F238E27FC236}">
                      <a16:creationId xmlns:a16="http://schemas.microsoft.com/office/drawing/2014/main" id="{E346B49B-C6A4-A460-D53D-02493BA50EFD}"/>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6" name="TextBox 5">
              <a:extLst>
                <a:ext uri="{FF2B5EF4-FFF2-40B4-BE49-F238E27FC236}">
                  <a16:creationId xmlns:a16="http://schemas.microsoft.com/office/drawing/2014/main" id="{AE3534B4-CF02-8A4E-731E-D557F441C640}"/>
                </a:ext>
              </a:extLst>
            </p:cNvPr>
            <p:cNvSpPr txBox="1"/>
            <p:nvPr/>
          </p:nvSpPr>
          <p:spPr>
            <a:xfrm>
              <a:off x="2525717" y="313415"/>
              <a:ext cx="266350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CEDAC Problem Solution</a:t>
              </a:r>
            </a:p>
          </p:txBody>
        </p:sp>
      </p:grpSp>
    </p:spTree>
    <p:extLst>
      <p:ext uri="{BB962C8B-B14F-4D97-AF65-F5344CB8AC3E}">
        <p14:creationId xmlns:p14="http://schemas.microsoft.com/office/powerpoint/2010/main" val="3775121513"/>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2DF11FF7-095F-D1A9-6784-C53D538A36FF}"/>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81</a:t>
            </a:fld>
            <a:endParaRPr lang="en-US"/>
          </a:p>
        </p:txBody>
      </p:sp>
      <p:sp>
        <p:nvSpPr>
          <p:cNvPr id="2" name="Title 1">
            <a:extLst>
              <a:ext uri="{FF2B5EF4-FFF2-40B4-BE49-F238E27FC236}">
                <a16:creationId xmlns:a16="http://schemas.microsoft.com/office/drawing/2014/main" id="{0D77BA17-B180-9889-85DC-DBE8C080CFB7}"/>
              </a:ext>
            </a:extLst>
          </p:cNvPr>
          <p:cNvSpPr>
            <a:spLocks noGrp="1"/>
          </p:cNvSpPr>
          <p:nvPr>
            <p:ph type="title" idx="4294967295"/>
          </p:nvPr>
        </p:nvSpPr>
        <p:spPr>
          <a:xfrm>
            <a:off x="699911" y="1497012"/>
            <a:ext cx="9815689" cy="1009650"/>
          </a:xfrm>
          <a:prstGeom prst="rect">
            <a:avLst/>
          </a:prstGeom>
        </p:spPr>
        <p:txBody>
          <a:bodyPr>
            <a:noAutofit/>
          </a:bodyPr>
          <a:lstStyle/>
          <a:p>
            <a:r>
              <a:rPr lang="en-US" sz="2800" dirty="0">
                <a:latin typeface="Roboto Medium"/>
                <a:ea typeface="Roboto Medium"/>
                <a:cs typeface="Roboto Medium"/>
              </a:rPr>
              <a:t>CEDAC Step 7 - Prioritize and Act on IMPROVEMENT Cards</a:t>
            </a:r>
          </a:p>
        </p:txBody>
      </p:sp>
      <p:sp>
        <p:nvSpPr>
          <p:cNvPr id="3" name="Content Placeholder 2">
            <a:extLst>
              <a:ext uri="{FF2B5EF4-FFF2-40B4-BE49-F238E27FC236}">
                <a16:creationId xmlns:a16="http://schemas.microsoft.com/office/drawing/2014/main" id="{30534846-F3D4-20E7-25C0-91FCF7736CB5}"/>
              </a:ext>
            </a:extLst>
          </p:cNvPr>
          <p:cNvSpPr>
            <a:spLocks noGrp="1"/>
          </p:cNvSpPr>
          <p:nvPr>
            <p:ph idx="4294967295"/>
          </p:nvPr>
        </p:nvSpPr>
        <p:spPr>
          <a:xfrm>
            <a:off x="722489" y="2506662"/>
            <a:ext cx="10515600" cy="4351338"/>
          </a:xfrm>
        </p:spPr>
        <p:txBody>
          <a:bodyPr/>
          <a:lstStyle/>
          <a:p>
            <a:pPr marL="0" indent="0">
              <a:buNone/>
            </a:pPr>
            <a:r>
              <a:rPr lang="en-US" dirty="0">
                <a:latin typeface="Roboto Medium" panose="02000000000000000000" pitchFamily="2" charset="0"/>
                <a:ea typeface="Roboto Medium" panose="02000000000000000000" pitchFamily="2" charset="0"/>
                <a:cs typeface="Roboto Medium" panose="02000000000000000000" pitchFamily="2" charset="0"/>
              </a:rPr>
              <a:t>Objectives:</a:t>
            </a:r>
          </a:p>
          <a:p>
            <a:r>
              <a:rPr lang="en-US" sz="2400" dirty="0"/>
              <a:t>Discuss the objectives of prioritizing IMPROVEMENT Cards</a:t>
            </a:r>
          </a:p>
          <a:p>
            <a:r>
              <a:rPr lang="en-US" sz="2400" dirty="0"/>
              <a:t>Describe the method for acting on IMPROVEMENT Cards</a:t>
            </a:r>
          </a:p>
          <a:p>
            <a:r>
              <a:rPr lang="en-US" sz="2400" dirty="0"/>
              <a:t>Describe the process for prioritization and acting on the IMPROVEMENT Cards</a:t>
            </a:r>
          </a:p>
          <a:p>
            <a:r>
              <a:rPr lang="en-US" sz="2400" dirty="0"/>
              <a:t>Discuss Case Study</a:t>
            </a:r>
          </a:p>
          <a:p>
            <a:r>
              <a:rPr lang="en-US" sz="2400" dirty="0"/>
              <a:t>Complete process for prioritization of IMPROVEMENT Cards for business problem</a:t>
            </a:r>
          </a:p>
          <a:p>
            <a:endParaRPr lang="en-US" sz="2400" dirty="0"/>
          </a:p>
        </p:txBody>
      </p:sp>
      <p:grpSp>
        <p:nvGrpSpPr>
          <p:cNvPr id="11" name="Group 10">
            <a:extLst>
              <a:ext uri="{FF2B5EF4-FFF2-40B4-BE49-F238E27FC236}">
                <a16:creationId xmlns:a16="http://schemas.microsoft.com/office/drawing/2014/main" id="{DCC7CB02-4F0E-2CE8-9EF1-D9AEB4FA2691}"/>
              </a:ext>
            </a:extLst>
          </p:cNvPr>
          <p:cNvGrpSpPr/>
          <p:nvPr/>
        </p:nvGrpSpPr>
        <p:grpSpPr>
          <a:xfrm>
            <a:off x="699911" y="837133"/>
            <a:ext cx="7273624" cy="659879"/>
            <a:chOff x="699911" y="1069861"/>
            <a:chExt cx="7273624" cy="350130"/>
          </a:xfrm>
        </p:grpSpPr>
        <p:sp>
          <p:nvSpPr>
            <p:cNvPr id="5" name="AutoShape 9">
              <a:extLst>
                <a:ext uri="{FF2B5EF4-FFF2-40B4-BE49-F238E27FC236}">
                  <a16:creationId xmlns:a16="http://schemas.microsoft.com/office/drawing/2014/main" id="{A10A2475-FBAF-2DA7-EE48-9E0556DB3824}"/>
                </a:ext>
              </a:extLst>
            </p:cNvPr>
            <p:cNvSpPr>
              <a:spLocks noChangeArrowheads="1"/>
            </p:cNvSpPr>
            <p:nvPr/>
          </p:nvSpPr>
          <p:spPr bwMode="auto">
            <a:xfrm>
              <a:off x="6395259" y="1069861"/>
              <a:ext cx="1578276" cy="350130"/>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200" dirty="0">
                  <a:solidFill>
                    <a:schemeClr val="bg1"/>
                  </a:solidFill>
                  <a:latin typeface="Roboto" panose="02000000000000000000" pitchFamily="2" charset="0"/>
                  <a:ea typeface="Roboto" panose="02000000000000000000" pitchFamily="2" charset="0"/>
                  <a:cs typeface="Roboto" panose="02000000000000000000" pitchFamily="2" charset="0"/>
                </a:rPr>
                <a:t>CEDAC Review</a:t>
              </a:r>
            </a:p>
          </p:txBody>
        </p:sp>
        <p:sp>
          <p:nvSpPr>
            <p:cNvPr id="4" name="AutoShape 9">
              <a:extLst>
                <a:ext uri="{FF2B5EF4-FFF2-40B4-BE49-F238E27FC236}">
                  <a16:creationId xmlns:a16="http://schemas.microsoft.com/office/drawing/2014/main" id="{663C2CC0-8818-6B25-BBA3-89708896610A}"/>
                </a:ext>
              </a:extLst>
            </p:cNvPr>
            <p:cNvSpPr>
              <a:spLocks noChangeArrowheads="1"/>
            </p:cNvSpPr>
            <p:nvPr/>
          </p:nvSpPr>
          <p:spPr bwMode="auto">
            <a:xfrm>
              <a:off x="4971710" y="1069861"/>
              <a:ext cx="1578276" cy="350130"/>
            </a:xfrm>
            <a:prstGeom prst="homePlate">
              <a:avLst>
                <a:gd name="adj" fmla="val 29912"/>
              </a:avLst>
            </a:prstGeom>
            <a:solidFill>
              <a:srgbClr val="FFB627"/>
            </a:solidFill>
            <a:ln w="12700" cap="sq">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r>
                <a:rPr lang="en-US" altLang="en-US" sz="1200" dirty="0">
                  <a:latin typeface="Roboto" panose="02000000000000000000" pitchFamily="2" charset="0"/>
                  <a:ea typeface="Roboto" panose="02000000000000000000" pitchFamily="2" charset="0"/>
                </a:rPr>
                <a:t>CEDAC Solution</a:t>
              </a:r>
            </a:p>
          </p:txBody>
        </p:sp>
        <p:grpSp>
          <p:nvGrpSpPr>
            <p:cNvPr id="10" name="Group 9">
              <a:extLst>
                <a:ext uri="{FF2B5EF4-FFF2-40B4-BE49-F238E27FC236}">
                  <a16:creationId xmlns:a16="http://schemas.microsoft.com/office/drawing/2014/main" id="{DF07BA82-F1D2-01EE-36D7-0CE1E1021337}"/>
                </a:ext>
              </a:extLst>
            </p:cNvPr>
            <p:cNvGrpSpPr/>
            <p:nvPr/>
          </p:nvGrpSpPr>
          <p:grpSpPr>
            <a:xfrm>
              <a:off x="699911" y="1069861"/>
              <a:ext cx="4425950" cy="350130"/>
              <a:chOff x="5627530" y="641179"/>
              <a:chExt cx="6564470" cy="804977"/>
            </a:xfrm>
          </p:grpSpPr>
          <p:sp>
            <p:nvSpPr>
              <p:cNvPr id="7" name="AutoShape 9">
                <a:extLst>
                  <a:ext uri="{FF2B5EF4-FFF2-40B4-BE49-F238E27FC236}">
                    <a16:creationId xmlns:a16="http://schemas.microsoft.com/office/drawing/2014/main" id="{E658DE7F-EAE7-7BD9-8492-805CBFCFF7F5}"/>
                  </a:ext>
                </a:extLst>
              </p:cNvPr>
              <p:cNvSpPr>
                <a:spLocks noChangeArrowheads="1"/>
              </p:cNvSpPr>
              <p:nvPr/>
            </p:nvSpPr>
            <p:spPr bwMode="auto">
              <a:xfrm>
                <a:off x="9851136" y="641179"/>
                <a:ext cx="2340864" cy="804977"/>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r>
                  <a:rPr lang="en-US" altLang="en-US" sz="1200" dirty="0">
                    <a:solidFill>
                      <a:schemeClr val="bg1"/>
                    </a:solidFill>
                    <a:latin typeface="Roboto" panose="02000000000000000000" pitchFamily="2" charset="0"/>
                    <a:ea typeface="Roboto" panose="02000000000000000000" pitchFamily="2" charset="0"/>
                  </a:rPr>
                  <a:t>CEDAC Cause</a:t>
                </a:r>
              </a:p>
            </p:txBody>
          </p:sp>
          <p:sp>
            <p:nvSpPr>
              <p:cNvPr id="8" name="AutoShape 10">
                <a:extLst>
                  <a:ext uri="{FF2B5EF4-FFF2-40B4-BE49-F238E27FC236}">
                    <a16:creationId xmlns:a16="http://schemas.microsoft.com/office/drawing/2014/main" id="{3B341166-AC1F-8D30-9314-0FB3D948387F}"/>
                  </a:ext>
                </a:extLst>
              </p:cNvPr>
              <p:cNvSpPr>
                <a:spLocks noChangeArrowheads="1"/>
              </p:cNvSpPr>
              <p:nvPr/>
            </p:nvSpPr>
            <p:spPr bwMode="auto">
              <a:xfrm>
                <a:off x="7737856" y="641180"/>
                <a:ext cx="2342768" cy="80497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r>
                  <a:rPr lang="en-US" altLang="en-US" sz="1200" dirty="0">
                    <a:solidFill>
                      <a:schemeClr val="bg1"/>
                    </a:solidFill>
                    <a:latin typeface="Roboto" panose="02000000000000000000" pitchFamily="2" charset="0"/>
                    <a:ea typeface="Roboto" panose="02000000000000000000" pitchFamily="2" charset="0"/>
                  </a:rPr>
                  <a:t>CEDAC Effect</a:t>
                </a:r>
              </a:p>
            </p:txBody>
          </p:sp>
          <p:sp>
            <p:nvSpPr>
              <p:cNvPr id="9" name="AutoShape 11">
                <a:extLst>
                  <a:ext uri="{FF2B5EF4-FFF2-40B4-BE49-F238E27FC236}">
                    <a16:creationId xmlns:a16="http://schemas.microsoft.com/office/drawing/2014/main" id="{2AB16F46-B5FA-96F3-91C2-07B2F2F1CC6C}"/>
                  </a:ext>
                </a:extLst>
              </p:cNvPr>
              <p:cNvSpPr>
                <a:spLocks noChangeArrowheads="1"/>
              </p:cNvSpPr>
              <p:nvPr/>
            </p:nvSpPr>
            <p:spPr bwMode="auto">
              <a:xfrm>
                <a:off x="5627530" y="641179"/>
                <a:ext cx="2340864" cy="804977"/>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r>
                  <a:rPr lang="en-US" altLang="en-US" sz="1200" dirty="0">
                    <a:solidFill>
                      <a:schemeClr val="bg1"/>
                    </a:solidFill>
                    <a:latin typeface="Roboto" panose="02000000000000000000" pitchFamily="2" charset="0"/>
                    <a:ea typeface="Roboto" panose="02000000000000000000" pitchFamily="2" charset="0"/>
                  </a:rPr>
                  <a:t>CEDAC Overview</a:t>
                </a:r>
              </a:p>
            </p:txBody>
          </p:sp>
        </p:grpSp>
      </p:grpSp>
      <p:cxnSp>
        <p:nvCxnSpPr>
          <p:cNvPr id="12" name="Straight Connector 11">
            <a:extLst>
              <a:ext uri="{FF2B5EF4-FFF2-40B4-BE49-F238E27FC236}">
                <a16:creationId xmlns:a16="http://schemas.microsoft.com/office/drawing/2014/main" id="{A4FB0DFD-2D15-952D-9825-996B08251FD4}"/>
              </a:ext>
            </a:extLst>
          </p:cNvPr>
          <p:cNvCxnSpPr/>
          <p:nvPr/>
        </p:nvCxnSpPr>
        <p:spPr>
          <a:xfrm>
            <a:off x="699911" y="2386919"/>
            <a:ext cx="3882975" cy="0"/>
          </a:xfrm>
          <a:prstGeom prst="line">
            <a:avLst/>
          </a:prstGeom>
          <a:ln w="254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1921338"/>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lstStyle/>
          <a:p>
            <a:r>
              <a:rPr lang="en-US" dirty="0"/>
              <a:t>Steps of the CEDAC Process</a:t>
            </a:r>
          </a:p>
        </p:txBody>
      </p:sp>
      <p:sp>
        <p:nvSpPr>
          <p:cNvPr id="3" name="Content Placeholder 2">
            <a:extLst>
              <a:ext uri="{FF2B5EF4-FFF2-40B4-BE49-F238E27FC236}">
                <a16:creationId xmlns:a16="http://schemas.microsoft.com/office/drawing/2014/main" id="{2AA7A201-AD05-6520-E140-CCF11E59E700}"/>
              </a:ext>
            </a:extLst>
          </p:cNvPr>
          <p:cNvSpPr>
            <a:spLocks noGrp="1"/>
          </p:cNvSpPr>
          <p:nvPr>
            <p:ph idx="1"/>
          </p:nvPr>
        </p:nvSpPr>
        <p:spPr>
          <a:xfrm>
            <a:off x="3200400" y="1825625"/>
            <a:ext cx="8153400" cy="4351338"/>
          </a:xfrm>
        </p:spPr>
        <p:txBody>
          <a:bodyPr>
            <a:normAutofit fontScale="92500" lnSpcReduction="20000"/>
          </a:bodyPr>
          <a:lstStyle/>
          <a:p>
            <a:pPr marL="514350" indent="-514350">
              <a:buFont typeface="+mj-lt"/>
              <a:buAutoNum type="arabicPeriod"/>
            </a:pPr>
            <a:r>
              <a:rPr lang="en-US" dirty="0"/>
              <a:t>Define problem</a:t>
            </a:r>
          </a:p>
          <a:p>
            <a:pPr marL="514350" indent="-514350">
              <a:buFont typeface="+mj-lt"/>
              <a:buAutoNum type="arabicPeriod"/>
            </a:pPr>
            <a:r>
              <a:rPr lang="en-US" dirty="0"/>
              <a:t>Establish and validate metrics</a:t>
            </a:r>
          </a:p>
          <a:p>
            <a:pPr marL="514350" indent="-514350">
              <a:buFont typeface="+mj-lt"/>
              <a:buAutoNum type="arabicPeriod"/>
            </a:pPr>
            <a:r>
              <a:rPr lang="en-US" dirty="0"/>
              <a:t>Determine Objective Statement </a:t>
            </a:r>
          </a:p>
          <a:p>
            <a:pPr marL="514350" indent="-514350">
              <a:buFont typeface="+mj-lt"/>
              <a:buAutoNum type="arabicPeriod"/>
            </a:pPr>
            <a:r>
              <a:rPr lang="en-US" dirty="0"/>
              <a:t>Create CEDAC diagram (Flowchart, Fishbone, etc.)</a:t>
            </a:r>
          </a:p>
          <a:p>
            <a:pPr marL="514350" indent="-514350">
              <a:buFont typeface="+mj-lt"/>
              <a:buAutoNum type="arabicPeriod"/>
            </a:pPr>
            <a:r>
              <a:rPr lang="en-US" dirty="0"/>
              <a:t>Brainstorm and create FACT Cards (in yellow) and post on diagram</a:t>
            </a:r>
          </a:p>
          <a:p>
            <a:pPr marL="514350" indent="-514350">
              <a:buFont typeface="+mj-lt"/>
              <a:buAutoNum type="arabicPeriod"/>
            </a:pPr>
            <a:r>
              <a:rPr lang="en-US" dirty="0"/>
              <a:t>Brainstorm and create IMPROVEMENT Cards (in blue) and post on diagram</a:t>
            </a:r>
          </a:p>
          <a:p>
            <a:pPr marL="514350" indent="-514350">
              <a:buFont typeface="+mj-lt"/>
              <a:buAutoNum type="arabicPeriod"/>
            </a:pPr>
            <a:r>
              <a:rPr lang="en-US" dirty="0"/>
              <a:t>Take action on the IMPROVEMENT cards</a:t>
            </a:r>
          </a:p>
          <a:p>
            <a:pPr marL="514350" indent="-514350">
              <a:buFont typeface="+mj-lt"/>
              <a:buAutoNum type="arabicPeriod"/>
            </a:pPr>
            <a:r>
              <a:rPr lang="en-US" dirty="0"/>
              <a:t>Institutionalize improvements (countermeasures) that have proven to solve the problem</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82</a:t>
            </a:fld>
            <a:endParaRPr lang="en-US"/>
          </a:p>
        </p:txBody>
      </p:sp>
      <p:grpSp>
        <p:nvGrpSpPr>
          <p:cNvPr id="14" name="Group 13">
            <a:extLst>
              <a:ext uri="{FF2B5EF4-FFF2-40B4-BE49-F238E27FC236}">
                <a16:creationId xmlns:a16="http://schemas.microsoft.com/office/drawing/2014/main" id="{D41303C2-E018-19D2-0EB5-6DA73CD24807}"/>
              </a:ext>
            </a:extLst>
          </p:cNvPr>
          <p:cNvGrpSpPr/>
          <p:nvPr/>
        </p:nvGrpSpPr>
        <p:grpSpPr>
          <a:xfrm>
            <a:off x="838200" y="297639"/>
            <a:ext cx="4351020" cy="307138"/>
            <a:chOff x="838200" y="297639"/>
            <a:chExt cx="4351020" cy="307138"/>
          </a:xfrm>
        </p:grpSpPr>
        <p:grpSp>
          <p:nvGrpSpPr>
            <p:cNvPr id="15" name="Group 14">
              <a:extLst>
                <a:ext uri="{FF2B5EF4-FFF2-40B4-BE49-F238E27FC236}">
                  <a16:creationId xmlns:a16="http://schemas.microsoft.com/office/drawing/2014/main" id="{E5786EBA-3CE5-0613-28ED-FAC08B873002}"/>
                </a:ext>
              </a:extLst>
            </p:cNvPr>
            <p:cNvGrpSpPr/>
            <p:nvPr/>
          </p:nvGrpSpPr>
          <p:grpSpPr>
            <a:xfrm>
              <a:off x="838200" y="297639"/>
              <a:ext cx="1687517" cy="290657"/>
              <a:chOff x="838200" y="297639"/>
              <a:chExt cx="1687517" cy="290657"/>
            </a:xfrm>
          </p:grpSpPr>
          <p:sp>
            <p:nvSpPr>
              <p:cNvPr id="17" name="AutoShape 9">
                <a:extLst>
                  <a:ext uri="{FF2B5EF4-FFF2-40B4-BE49-F238E27FC236}">
                    <a16:creationId xmlns:a16="http://schemas.microsoft.com/office/drawing/2014/main" id="{B174F6F9-D206-07A7-A64A-B68DDBDC1860}"/>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8" name="AutoShape 9">
                <a:extLst>
                  <a:ext uri="{FF2B5EF4-FFF2-40B4-BE49-F238E27FC236}">
                    <a16:creationId xmlns:a16="http://schemas.microsoft.com/office/drawing/2014/main" id="{E8BB91E2-C1AC-FCCB-16DF-8C2FF5B3FF85}"/>
                  </a:ext>
                </a:extLst>
              </p:cNvPr>
              <p:cNvSpPr>
                <a:spLocks noChangeArrowheads="1"/>
              </p:cNvSpPr>
              <p:nvPr/>
            </p:nvSpPr>
            <p:spPr bwMode="auto">
              <a:xfrm>
                <a:off x="1779225" y="297639"/>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nvGrpSpPr>
              <p:cNvPr id="19" name="Group 18">
                <a:extLst>
                  <a:ext uri="{FF2B5EF4-FFF2-40B4-BE49-F238E27FC236}">
                    <a16:creationId xmlns:a16="http://schemas.microsoft.com/office/drawing/2014/main" id="{E2AC478D-7F21-38EF-5560-D40E7C498246}"/>
                  </a:ext>
                </a:extLst>
              </p:cNvPr>
              <p:cNvGrpSpPr/>
              <p:nvPr/>
            </p:nvGrpSpPr>
            <p:grpSpPr>
              <a:xfrm>
                <a:off x="838200" y="297639"/>
                <a:ext cx="1060167" cy="290657"/>
                <a:chOff x="826426" y="4041857"/>
                <a:chExt cx="1060167" cy="290657"/>
              </a:xfrm>
            </p:grpSpPr>
            <p:sp>
              <p:nvSpPr>
                <p:cNvPr id="20" name="AutoShape 9">
                  <a:extLst>
                    <a:ext uri="{FF2B5EF4-FFF2-40B4-BE49-F238E27FC236}">
                      <a16:creationId xmlns:a16="http://schemas.microsoft.com/office/drawing/2014/main" id="{12AB7CB1-4480-4FEE-CE6F-B4F2FA2C986A}"/>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1" name="AutoShape 11">
                  <a:extLst>
                    <a:ext uri="{FF2B5EF4-FFF2-40B4-BE49-F238E27FC236}">
                      <a16:creationId xmlns:a16="http://schemas.microsoft.com/office/drawing/2014/main" id="{AA5419CA-4052-22B2-630C-B0633134EA3A}"/>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2" name="AutoShape 10">
                  <a:extLst>
                    <a:ext uri="{FF2B5EF4-FFF2-40B4-BE49-F238E27FC236}">
                      <a16:creationId xmlns:a16="http://schemas.microsoft.com/office/drawing/2014/main" id="{CCE40F93-E620-B6AC-E23C-FC6C2C06EBAF}"/>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16" name="TextBox 15">
              <a:extLst>
                <a:ext uri="{FF2B5EF4-FFF2-40B4-BE49-F238E27FC236}">
                  <a16:creationId xmlns:a16="http://schemas.microsoft.com/office/drawing/2014/main" id="{9A4733ED-8095-60E0-242E-EA2095CF4379}"/>
                </a:ext>
              </a:extLst>
            </p:cNvPr>
            <p:cNvSpPr txBox="1"/>
            <p:nvPr/>
          </p:nvSpPr>
          <p:spPr>
            <a:xfrm>
              <a:off x="2525717" y="313415"/>
              <a:ext cx="266350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CEDAC Problem Solution</a:t>
              </a:r>
            </a:p>
          </p:txBody>
        </p:sp>
      </p:grpSp>
      <p:sp>
        <p:nvSpPr>
          <p:cNvPr id="4" name="AutoShape 4">
            <a:extLst>
              <a:ext uri="{FF2B5EF4-FFF2-40B4-BE49-F238E27FC236}">
                <a16:creationId xmlns:a16="http://schemas.microsoft.com/office/drawing/2014/main" id="{2C717994-A0D3-16DA-F97C-85BEFFB148BC}"/>
              </a:ext>
            </a:extLst>
          </p:cNvPr>
          <p:cNvSpPr>
            <a:spLocks/>
          </p:cNvSpPr>
          <p:nvPr/>
        </p:nvSpPr>
        <p:spPr bwMode="auto">
          <a:xfrm flipH="1">
            <a:off x="2898773" y="1823551"/>
            <a:ext cx="301626" cy="1111921"/>
          </a:xfrm>
          <a:prstGeom prst="rightBrace">
            <a:avLst>
              <a:gd name="adj1" fmla="val 34561"/>
              <a:gd name="adj2" fmla="val 50000"/>
            </a:avLst>
          </a:prstGeom>
          <a:noFill/>
          <a:ln w="28575" cap="sq">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5000"/>
              </a:lnSpc>
              <a:buFont typeface="Wingdings" panose="05000000000000000000" pitchFamily="2" charset="2"/>
              <a:buNone/>
            </a:pPr>
            <a:endParaRPr lang="en-US" altLang="en-US" sz="1600"/>
          </a:p>
        </p:txBody>
      </p:sp>
      <p:sp>
        <p:nvSpPr>
          <p:cNvPr id="6" name="Text Box 5">
            <a:extLst>
              <a:ext uri="{FF2B5EF4-FFF2-40B4-BE49-F238E27FC236}">
                <a16:creationId xmlns:a16="http://schemas.microsoft.com/office/drawing/2014/main" id="{BB3ABBE3-744D-E1E3-8C89-8C1459A43648}"/>
              </a:ext>
            </a:extLst>
          </p:cNvPr>
          <p:cNvSpPr txBox="1">
            <a:spLocks noChangeArrowheads="1"/>
          </p:cNvSpPr>
          <p:nvPr/>
        </p:nvSpPr>
        <p:spPr bwMode="auto">
          <a:xfrm>
            <a:off x="1015999" y="2082705"/>
            <a:ext cx="1517655" cy="3139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wrap="square">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80000"/>
              </a:lnSpc>
              <a:spcBef>
                <a:spcPct val="20000"/>
              </a:spcBef>
              <a:spcAft>
                <a:spcPct val="0"/>
              </a:spcAft>
              <a:buClrTx/>
              <a:buSzTx/>
              <a:buFontTx/>
              <a:buNone/>
            </a:pPr>
            <a:r>
              <a:rPr lang="en-US" altLang="en-US" sz="1800" dirty="0">
                <a:latin typeface="Roboto" panose="02000000000000000000" pitchFamily="2" charset="0"/>
                <a:ea typeface="Roboto" panose="02000000000000000000" pitchFamily="2" charset="0"/>
              </a:rPr>
              <a:t>The </a:t>
            </a:r>
            <a:r>
              <a:rPr lang="ja-JP" altLang="en-US" sz="1800" dirty="0">
                <a:latin typeface="Roboto" panose="02000000000000000000" pitchFamily="2" charset="0"/>
              </a:rPr>
              <a:t>“</a:t>
            </a:r>
            <a:r>
              <a:rPr lang="en-US" altLang="ja-JP" sz="1800" dirty="0">
                <a:latin typeface="Roboto" panose="02000000000000000000" pitchFamily="2" charset="0"/>
                <a:ea typeface="Roboto" panose="02000000000000000000" pitchFamily="2" charset="0"/>
              </a:rPr>
              <a:t>Effect</a:t>
            </a:r>
            <a:r>
              <a:rPr lang="ja-JP" altLang="en-US" sz="1800" dirty="0">
                <a:latin typeface="Roboto" panose="02000000000000000000" pitchFamily="2" charset="0"/>
              </a:rPr>
              <a:t>”</a:t>
            </a:r>
            <a:endParaRPr lang="en-US" altLang="en-US" sz="1800" dirty="0">
              <a:latin typeface="Roboto" panose="02000000000000000000" pitchFamily="2" charset="0"/>
              <a:ea typeface="Roboto" panose="02000000000000000000" pitchFamily="2" charset="0"/>
            </a:endParaRPr>
          </a:p>
        </p:txBody>
      </p:sp>
      <p:sp>
        <p:nvSpPr>
          <p:cNvPr id="7" name="Text Box 6">
            <a:extLst>
              <a:ext uri="{FF2B5EF4-FFF2-40B4-BE49-F238E27FC236}">
                <a16:creationId xmlns:a16="http://schemas.microsoft.com/office/drawing/2014/main" id="{A328E56B-D593-3A7D-5959-8ABD25C46B81}"/>
              </a:ext>
            </a:extLst>
          </p:cNvPr>
          <p:cNvSpPr txBox="1">
            <a:spLocks noChangeArrowheads="1"/>
          </p:cNvSpPr>
          <p:nvPr/>
        </p:nvSpPr>
        <p:spPr bwMode="auto">
          <a:xfrm>
            <a:off x="1054608" y="3161234"/>
            <a:ext cx="1568455" cy="3139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wrap="square">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80000"/>
              </a:lnSpc>
              <a:spcBef>
                <a:spcPct val="20000"/>
              </a:spcBef>
              <a:spcAft>
                <a:spcPct val="0"/>
              </a:spcAft>
              <a:buClrTx/>
              <a:buSzTx/>
              <a:buFontTx/>
              <a:buNone/>
            </a:pPr>
            <a:r>
              <a:rPr lang="en-US" altLang="en-US" sz="1800" dirty="0">
                <a:latin typeface="Roboto" panose="02000000000000000000" pitchFamily="2" charset="0"/>
                <a:ea typeface="Roboto" panose="02000000000000000000" pitchFamily="2" charset="0"/>
              </a:rPr>
              <a:t>The </a:t>
            </a:r>
            <a:r>
              <a:rPr lang="ja-JP" altLang="en-US" sz="1800" dirty="0">
                <a:latin typeface="Roboto" panose="02000000000000000000" pitchFamily="2" charset="0"/>
              </a:rPr>
              <a:t>“</a:t>
            </a:r>
            <a:r>
              <a:rPr lang="en-US" altLang="ja-JP" sz="1800" dirty="0">
                <a:latin typeface="Roboto" panose="02000000000000000000" pitchFamily="2" charset="0"/>
                <a:ea typeface="Roboto" panose="02000000000000000000" pitchFamily="2" charset="0"/>
              </a:rPr>
              <a:t>Cause</a:t>
            </a:r>
            <a:r>
              <a:rPr lang="ja-JP" altLang="en-US" sz="1800" dirty="0">
                <a:latin typeface="Roboto" panose="02000000000000000000" pitchFamily="2" charset="0"/>
              </a:rPr>
              <a:t>”</a:t>
            </a:r>
            <a:endParaRPr lang="en-US" altLang="en-US" sz="1800" dirty="0">
              <a:latin typeface="Roboto" panose="02000000000000000000" pitchFamily="2" charset="0"/>
              <a:ea typeface="Roboto" panose="02000000000000000000" pitchFamily="2" charset="0"/>
            </a:endParaRPr>
          </a:p>
        </p:txBody>
      </p:sp>
      <p:sp>
        <p:nvSpPr>
          <p:cNvPr id="8" name="Text Box 7">
            <a:extLst>
              <a:ext uri="{FF2B5EF4-FFF2-40B4-BE49-F238E27FC236}">
                <a16:creationId xmlns:a16="http://schemas.microsoft.com/office/drawing/2014/main" id="{C1C25B89-DA4A-74B2-B4EA-E52AE658D2EB}"/>
              </a:ext>
            </a:extLst>
          </p:cNvPr>
          <p:cNvSpPr txBox="1">
            <a:spLocks noChangeArrowheads="1"/>
          </p:cNvSpPr>
          <p:nvPr/>
        </p:nvSpPr>
        <p:spPr bwMode="auto">
          <a:xfrm>
            <a:off x="1015999" y="4655928"/>
            <a:ext cx="1820868" cy="5293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wrap="square">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80000"/>
              </a:lnSpc>
              <a:spcBef>
                <a:spcPct val="20000"/>
              </a:spcBef>
              <a:spcAft>
                <a:spcPct val="0"/>
              </a:spcAft>
              <a:buClrTx/>
              <a:buSzTx/>
              <a:buFontTx/>
              <a:buNone/>
            </a:pPr>
            <a:r>
              <a:rPr lang="en-US" altLang="en-US" sz="1800" dirty="0">
                <a:latin typeface="Roboto" panose="02000000000000000000" pitchFamily="2" charset="0"/>
                <a:ea typeface="Roboto" panose="02000000000000000000" pitchFamily="2" charset="0"/>
              </a:rPr>
              <a:t>The </a:t>
            </a:r>
            <a:r>
              <a:rPr lang="ja-JP" altLang="en-US" sz="1800" dirty="0">
                <a:latin typeface="Roboto" panose="02000000000000000000" pitchFamily="2" charset="0"/>
              </a:rPr>
              <a:t>“</a:t>
            </a:r>
            <a:r>
              <a:rPr lang="en-US" altLang="ja-JP" sz="1800" dirty="0">
                <a:latin typeface="Roboto" panose="02000000000000000000" pitchFamily="2" charset="0"/>
                <a:ea typeface="Roboto" panose="02000000000000000000" pitchFamily="2" charset="0"/>
              </a:rPr>
              <a:t>Solution</a:t>
            </a:r>
            <a:r>
              <a:rPr lang="ja-JP" altLang="en-US" sz="1800" dirty="0">
                <a:latin typeface="Roboto" panose="02000000000000000000" pitchFamily="2" charset="0"/>
              </a:rPr>
              <a:t>”</a:t>
            </a:r>
            <a:endParaRPr lang="en-US" altLang="ja-JP" sz="1800" dirty="0">
              <a:latin typeface="Roboto" panose="02000000000000000000" pitchFamily="2" charset="0"/>
              <a:ea typeface="Roboto" panose="02000000000000000000" pitchFamily="2" charset="0"/>
            </a:endParaRPr>
          </a:p>
          <a:p>
            <a:pPr>
              <a:lnSpc>
                <a:spcPct val="80000"/>
              </a:lnSpc>
              <a:spcBef>
                <a:spcPct val="20000"/>
              </a:spcBef>
              <a:spcAft>
                <a:spcPct val="0"/>
              </a:spcAft>
              <a:buClrTx/>
              <a:buSzTx/>
              <a:buFontTx/>
              <a:buNone/>
            </a:pPr>
            <a:r>
              <a:rPr lang="en-US" altLang="en-US" sz="1400" dirty="0">
                <a:latin typeface="Roboto" panose="02000000000000000000" pitchFamily="2" charset="0"/>
                <a:ea typeface="Roboto" panose="02000000000000000000" pitchFamily="2" charset="0"/>
              </a:rPr>
              <a:t>(countermeasures)</a:t>
            </a:r>
          </a:p>
        </p:txBody>
      </p:sp>
      <p:sp>
        <p:nvSpPr>
          <p:cNvPr id="9" name="AutoShape 8">
            <a:extLst>
              <a:ext uri="{FF2B5EF4-FFF2-40B4-BE49-F238E27FC236}">
                <a16:creationId xmlns:a16="http://schemas.microsoft.com/office/drawing/2014/main" id="{522701E4-0150-E859-6D9E-FED001303A36}"/>
              </a:ext>
            </a:extLst>
          </p:cNvPr>
          <p:cNvSpPr>
            <a:spLocks/>
          </p:cNvSpPr>
          <p:nvPr/>
        </p:nvSpPr>
        <p:spPr bwMode="auto">
          <a:xfrm flipH="1">
            <a:off x="2898773" y="3045104"/>
            <a:ext cx="301626" cy="685422"/>
          </a:xfrm>
          <a:prstGeom prst="rightBrace">
            <a:avLst>
              <a:gd name="adj1" fmla="val 19123"/>
              <a:gd name="adj2" fmla="val 50000"/>
            </a:avLst>
          </a:prstGeom>
          <a:noFill/>
          <a:ln w="28575" cap="sq">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5000"/>
              </a:lnSpc>
              <a:buFont typeface="Wingdings" panose="05000000000000000000" pitchFamily="2" charset="2"/>
              <a:buNone/>
            </a:pPr>
            <a:endParaRPr lang="en-US" altLang="en-US" sz="1600"/>
          </a:p>
        </p:txBody>
      </p:sp>
      <p:sp>
        <p:nvSpPr>
          <p:cNvPr id="10" name="AutoShape 9">
            <a:extLst>
              <a:ext uri="{FF2B5EF4-FFF2-40B4-BE49-F238E27FC236}">
                <a16:creationId xmlns:a16="http://schemas.microsoft.com/office/drawing/2014/main" id="{35E8A71A-28DB-67DD-4CED-54BA17786406}"/>
              </a:ext>
            </a:extLst>
          </p:cNvPr>
          <p:cNvSpPr>
            <a:spLocks/>
          </p:cNvSpPr>
          <p:nvPr/>
        </p:nvSpPr>
        <p:spPr bwMode="auto">
          <a:xfrm flipH="1">
            <a:off x="2898773" y="4160521"/>
            <a:ext cx="301626" cy="1520190"/>
          </a:xfrm>
          <a:prstGeom prst="rightBrace">
            <a:avLst>
              <a:gd name="adj1" fmla="val 42412"/>
              <a:gd name="adj2" fmla="val 50000"/>
            </a:avLst>
          </a:prstGeom>
          <a:noFill/>
          <a:ln w="28575" cap="sq">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5000"/>
              </a:lnSpc>
              <a:buFont typeface="Wingdings" panose="05000000000000000000" pitchFamily="2" charset="2"/>
              <a:buNone/>
            </a:pPr>
            <a:endParaRPr lang="en-US" altLang="en-US" sz="1600"/>
          </a:p>
        </p:txBody>
      </p:sp>
      <p:sp>
        <p:nvSpPr>
          <p:cNvPr id="11" name="Rectangle 10">
            <a:extLst>
              <a:ext uri="{FF2B5EF4-FFF2-40B4-BE49-F238E27FC236}">
                <a16:creationId xmlns:a16="http://schemas.microsoft.com/office/drawing/2014/main" id="{B6A14166-925E-815D-420A-2FFA7F5E726F}"/>
              </a:ext>
            </a:extLst>
          </p:cNvPr>
          <p:cNvSpPr/>
          <p:nvPr/>
        </p:nvSpPr>
        <p:spPr>
          <a:xfrm>
            <a:off x="3200399" y="4709047"/>
            <a:ext cx="8023861" cy="441967"/>
          </a:xfrm>
          <a:prstGeom prst="rect">
            <a:avLst/>
          </a:prstGeom>
          <a:no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644199834"/>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noAutofit/>
          </a:bodyPr>
          <a:lstStyle/>
          <a:p>
            <a:r>
              <a:rPr lang="en-US" sz="3600" dirty="0"/>
              <a:t>Objectives of Prioritizing IMPROVEMENT Cards</a:t>
            </a:r>
          </a:p>
        </p:txBody>
      </p:sp>
      <p:sp>
        <p:nvSpPr>
          <p:cNvPr id="3" name="Content Placeholder 2">
            <a:extLst>
              <a:ext uri="{FF2B5EF4-FFF2-40B4-BE49-F238E27FC236}">
                <a16:creationId xmlns:a16="http://schemas.microsoft.com/office/drawing/2014/main" id="{2AA7A201-AD05-6520-E140-CCF11E59E700}"/>
              </a:ext>
            </a:extLst>
          </p:cNvPr>
          <p:cNvSpPr>
            <a:spLocks noGrp="1"/>
          </p:cNvSpPr>
          <p:nvPr>
            <p:ph idx="1"/>
          </p:nvPr>
        </p:nvSpPr>
        <p:spPr/>
        <p:txBody>
          <a:bodyPr>
            <a:normAutofit/>
          </a:bodyPr>
          <a:lstStyle/>
          <a:p>
            <a:r>
              <a:rPr lang="en-US" dirty="0"/>
              <a:t>Now that you have a multitude of possible causes and potential solutions, it is important that you prioritize your efforts impact results as quickly as possible</a:t>
            </a:r>
          </a:p>
          <a:p>
            <a:r>
              <a:rPr lang="en-US" dirty="0"/>
              <a:t>This process allows you to focus your efforts on the most important and most effective actions first</a:t>
            </a:r>
          </a:p>
          <a:p>
            <a:r>
              <a:rPr lang="en-US" dirty="0"/>
              <a:t>Enables efficient use of resources and quicker, tangible results</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83</a:t>
            </a:fld>
            <a:endParaRPr lang="en-US"/>
          </a:p>
        </p:txBody>
      </p:sp>
      <p:grpSp>
        <p:nvGrpSpPr>
          <p:cNvPr id="4" name="Group 3">
            <a:extLst>
              <a:ext uri="{FF2B5EF4-FFF2-40B4-BE49-F238E27FC236}">
                <a16:creationId xmlns:a16="http://schemas.microsoft.com/office/drawing/2014/main" id="{C1F2DC6B-D88C-7FA5-5003-05F28F6783E5}"/>
              </a:ext>
            </a:extLst>
          </p:cNvPr>
          <p:cNvGrpSpPr/>
          <p:nvPr/>
        </p:nvGrpSpPr>
        <p:grpSpPr>
          <a:xfrm>
            <a:off x="838200" y="297639"/>
            <a:ext cx="4351020" cy="307138"/>
            <a:chOff x="838200" y="297639"/>
            <a:chExt cx="4351020" cy="307138"/>
          </a:xfrm>
        </p:grpSpPr>
        <p:grpSp>
          <p:nvGrpSpPr>
            <p:cNvPr id="6" name="Group 5">
              <a:extLst>
                <a:ext uri="{FF2B5EF4-FFF2-40B4-BE49-F238E27FC236}">
                  <a16:creationId xmlns:a16="http://schemas.microsoft.com/office/drawing/2014/main" id="{B5375B13-A527-ADD6-801D-0D6CB82E74BC}"/>
                </a:ext>
              </a:extLst>
            </p:cNvPr>
            <p:cNvGrpSpPr/>
            <p:nvPr/>
          </p:nvGrpSpPr>
          <p:grpSpPr>
            <a:xfrm>
              <a:off x="838200" y="297639"/>
              <a:ext cx="1687517" cy="290657"/>
              <a:chOff x="838200" y="297639"/>
              <a:chExt cx="1687517" cy="290657"/>
            </a:xfrm>
          </p:grpSpPr>
          <p:sp>
            <p:nvSpPr>
              <p:cNvPr id="8" name="AutoShape 9">
                <a:extLst>
                  <a:ext uri="{FF2B5EF4-FFF2-40B4-BE49-F238E27FC236}">
                    <a16:creationId xmlns:a16="http://schemas.microsoft.com/office/drawing/2014/main" id="{522737C5-48ED-C14C-5338-43A89A4D95E6}"/>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9" name="AutoShape 9">
                <a:extLst>
                  <a:ext uri="{FF2B5EF4-FFF2-40B4-BE49-F238E27FC236}">
                    <a16:creationId xmlns:a16="http://schemas.microsoft.com/office/drawing/2014/main" id="{C6C81D3D-7428-13F6-58A9-351006664885}"/>
                  </a:ext>
                </a:extLst>
              </p:cNvPr>
              <p:cNvSpPr>
                <a:spLocks noChangeArrowheads="1"/>
              </p:cNvSpPr>
              <p:nvPr/>
            </p:nvSpPr>
            <p:spPr bwMode="auto">
              <a:xfrm>
                <a:off x="1779225" y="297639"/>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nvGrpSpPr>
              <p:cNvPr id="10" name="Group 9">
                <a:extLst>
                  <a:ext uri="{FF2B5EF4-FFF2-40B4-BE49-F238E27FC236}">
                    <a16:creationId xmlns:a16="http://schemas.microsoft.com/office/drawing/2014/main" id="{402C9DD6-204A-C867-5AAC-7D462ECA9C05}"/>
                  </a:ext>
                </a:extLst>
              </p:cNvPr>
              <p:cNvGrpSpPr/>
              <p:nvPr/>
            </p:nvGrpSpPr>
            <p:grpSpPr>
              <a:xfrm>
                <a:off x="838200" y="297639"/>
                <a:ext cx="1060167" cy="290657"/>
                <a:chOff x="826426" y="4041857"/>
                <a:chExt cx="1060167" cy="290657"/>
              </a:xfrm>
            </p:grpSpPr>
            <p:sp>
              <p:nvSpPr>
                <p:cNvPr id="11" name="AutoShape 9">
                  <a:extLst>
                    <a:ext uri="{FF2B5EF4-FFF2-40B4-BE49-F238E27FC236}">
                      <a16:creationId xmlns:a16="http://schemas.microsoft.com/office/drawing/2014/main" id="{08BD392E-5779-F662-9B3B-5EE2616C36B2}"/>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2" name="AutoShape 11">
                  <a:extLst>
                    <a:ext uri="{FF2B5EF4-FFF2-40B4-BE49-F238E27FC236}">
                      <a16:creationId xmlns:a16="http://schemas.microsoft.com/office/drawing/2014/main" id="{8FC2A77B-56E8-8507-CAE7-B64ED1005372}"/>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3" name="AutoShape 10">
                  <a:extLst>
                    <a:ext uri="{FF2B5EF4-FFF2-40B4-BE49-F238E27FC236}">
                      <a16:creationId xmlns:a16="http://schemas.microsoft.com/office/drawing/2014/main" id="{56BF6379-B7D9-C0DF-7601-82D8EA4E4557}"/>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7" name="TextBox 6">
              <a:extLst>
                <a:ext uri="{FF2B5EF4-FFF2-40B4-BE49-F238E27FC236}">
                  <a16:creationId xmlns:a16="http://schemas.microsoft.com/office/drawing/2014/main" id="{7FAABA21-3AD5-A595-D680-61C4FEFB6378}"/>
                </a:ext>
              </a:extLst>
            </p:cNvPr>
            <p:cNvSpPr txBox="1"/>
            <p:nvPr/>
          </p:nvSpPr>
          <p:spPr>
            <a:xfrm>
              <a:off x="2525717" y="313415"/>
              <a:ext cx="266350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CEDAC Problem Solution</a:t>
              </a:r>
            </a:p>
          </p:txBody>
        </p:sp>
      </p:grpSp>
    </p:spTree>
    <p:extLst>
      <p:ext uri="{BB962C8B-B14F-4D97-AF65-F5344CB8AC3E}">
        <p14:creationId xmlns:p14="http://schemas.microsoft.com/office/powerpoint/2010/main" val="1849812855"/>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noAutofit/>
          </a:bodyPr>
          <a:lstStyle/>
          <a:p>
            <a:r>
              <a:rPr lang="en-US" sz="3200" dirty="0"/>
              <a:t>DOT System: Use consensus to agree which improvements to test</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84</a:t>
            </a:fld>
            <a:endParaRPr lang="en-US"/>
          </a:p>
        </p:txBody>
      </p:sp>
      <p:grpSp>
        <p:nvGrpSpPr>
          <p:cNvPr id="4" name="Group 3">
            <a:extLst>
              <a:ext uri="{FF2B5EF4-FFF2-40B4-BE49-F238E27FC236}">
                <a16:creationId xmlns:a16="http://schemas.microsoft.com/office/drawing/2014/main" id="{C1F2DC6B-D88C-7FA5-5003-05F28F6783E5}"/>
              </a:ext>
            </a:extLst>
          </p:cNvPr>
          <p:cNvGrpSpPr/>
          <p:nvPr/>
        </p:nvGrpSpPr>
        <p:grpSpPr>
          <a:xfrm>
            <a:off x="838200" y="297639"/>
            <a:ext cx="4351020" cy="307138"/>
            <a:chOff x="838200" y="297639"/>
            <a:chExt cx="4351020" cy="307138"/>
          </a:xfrm>
        </p:grpSpPr>
        <p:grpSp>
          <p:nvGrpSpPr>
            <p:cNvPr id="6" name="Group 5">
              <a:extLst>
                <a:ext uri="{FF2B5EF4-FFF2-40B4-BE49-F238E27FC236}">
                  <a16:creationId xmlns:a16="http://schemas.microsoft.com/office/drawing/2014/main" id="{B5375B13-A527-ADD6-801D-0D6CB82E74BC}"/>
                </a:ext>
              </a:extLst>
            </p:cNvPr>
            <p:cNvGrpSpPr/>
            <p:nvPr/>
          </p:nvGrpSpPr>
          <p:grpSpPr>
            <a:xfrm>
              <a:off x="838200" y="297639"/>
              <a:ext cx="1687517" cy="290657"/>
              <a:chOff x="838200" y="297639"/>
              <a:chExt cx="1687517" cy="290657"/>
            </a:xfrm>
          </p:grpSpPr>
          <p:sp>
            <p:nvSpPr>
              <p:cNvPr id="8" name="AutoShape 9">
                <a:extLst>
                  <a:ext uri="{FF2B5EF4-FFF2-40B4-BE49-F238E27FC236}">
                    <a16:creationId xmlns:a16="http://schemas.microsoft.com/office/drawing/2014/main" id="{522737C5-48ED-C14C-5338-43A89A4D95E6}"/>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9" name="AutoShape 9">
                <a:extLst>
                  <a:ext uri="{FF2B5EF4-FFF2-40B4-BE49-F238E27FC236}">
                    <a16:creationId xmlns:a16="http://schemas.microsoft.com/office/drawing/2014/main" id="{C6C81D3D-7428-13F6-58A9-351006664885}"/>
                  </a:ext>
                </a:extLst>
              </p:cNvPr>
              <p:cNvSpPr>
                <a:spLocks noChangeArrowheads="1"/>
              </p:cNvSpPr>
              <p:nvPr/>
            </p:nvSpPr>
            <p:spPr bwMode="auto">
              <a:xfrm>
                <a:off x="1779225" y="297639"/>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nvGrpSpPr>
              <p:cNvPr id="10" name="Group 9">
                <a:extLst>
                  <a:ext uri="{FF2B5EF4-FFF2-40B4-BE49-F238E27FC236}">
                    <a16:creationId xmlns:a16="http://schemas.microsoft.com/office/drawing/2014/main" id="{402C9DD6-204A-C867-5AAC-7D462ECA9C05}"/>
                  </a:ext>
                </a:extLst>
              </p:cNvPr>
              <p:cNvGrpSpPr/>
              <p:nvPr/>
            </p:nvGrpSpPr>
            <p:grpSpPr>
              <a:xfrm>
                <a:off x="838200" y="297639"/>
                <a:ext cx="1060167" cy="290657"/>
                <a:chOff x="826426" y="4041857"/>
                <a:chExt cx="1060167" cy="290657"/>
              </a:xfrm>
            </p:grpSpPr>
            <p:sp>
              <p:nvSpPr>
                <p:cNvPr id="11" name="AutoShape 9">
                  <a:extLst>
                    <a:ext uri="{FF2B5EF4-FFF2-40B4-BE49-F238E27FC236}">
                      <a16:creationId xmlns:a16="http://schemas.microsoft.com/office/drawing/2014/main" id="{08BD392E-5779-F662-9B3B-5EE2616C36B2}"/>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2" name="AutoShape 11">
                  <a:extLst>
                    <a:ext uri="{FF2B5EF4-FFF2-40B4-BE49-F238E27FC236}">
                      <a16:creationId xmlns:a16="http://schemas.microsoft.com/office/drawing/2014/main" id="{8FC2A77B-56E8-8507-CAE7-B64ED1005372}"/>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3" name="AutoShape 10">
                  <a:extLst>
                    <a:ext uri="{FF2B5EF4-FFF2-40B4-BE49-F238E27FC236}">
                      <a16:creationId xmlns:a16="http://schemas.microsoft.com/office/drawing/2014/main" id="{56BF6379-B7D9-C0DF-7601-82D8EA4E4557}"/>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7" name="TextBox 6">
              <a:extLst>
                <a:ext uri="{FF2B5EF4-FFF2-40B4-BE49-F238E27FC236}">
                  <a16:creationId xmlns:a16="http://schemas.microsoft.com/office/drawing/2014/main" id="{7FAABA21-3AD5-A595-D680-61C4FEFB6378}"/>
                </a:ext>
              </a:extLst>
            </p:cNvPr>
            <p:cNvSpPr txBox="1"/>
            <p:nvPr/>
          </p:nvSpPr>
          <p:spPr>
            <a:xfrm>
              <a:off x="2525717" y="313415"/>
              <a:ext cx="266350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CEDAC Problem Solution</a:t>
              </a:r>
            </a:p>
          </p:txBody>
        </p:sp>
      </p:grpSp>
      <p:grpSp>
        <p:nvGrpSpPr>
          <p:cNvPr id="54" name="Group 53">
            <a:extLst>
              <a:ext uri="{FF2B5EF4-FFF2-40B4-BE49-F238E27FC236}">
                <a16:creationId xmlns:a16="http://schemas.microsoft.com/office/drawing/2014/main" id="{76CD2C33-1409-EBB9-027E-97D93CF328F6}"/>
              </a:ext>
            </a:extLst>
          </p:cNvPr>
          <p:cNvGrpSpPr/>
          <p:nvPr/>
        </p:nvGrpSpPr>
        <p:grpSpPr>
          <a:xfrm>
            <a:off x="928212" y="1783428"/>
            <a:ext cx="10335577" cy="4377659"/>
            <a:chOff x="442913" y="1316038"/>
            <a:chExt cx="8266112" cy="4845050"/>
          </a:xfrm>
        </p:grpSpPr>
        <p:sp>
          <p:nvSpPr>
            <p:cNvPr id="16" name="Freeform 3">
              <a:extLst>
                <a:ext uri="{FF2B5EF4-FFF2-40B4-BE49-F238E27FC236}">
                  <a16:creationId xmlns:a16="http://schemas.microsoft.com/office/drawing/2014/main" id="{87E7EAB7-FD86-B569-2355-574E1E90A7AD}"/>
                </a:ext>
              </a:extLst>
            </p:cNvPr>
            <p:cNvSpPr>
              <a:spLocks/>
            </p:cNvSpPr>
            <p:nvPr/>
          </p:nvSpPr>
          <p:spPr bwMode="auto">
            <a:xfrm>
              <a:off x="449263" y="2028825"/>
              <a:ext cx="2073275" cy="623888"/>
            </a:xfrm>
            <a:custGeom>
              <a:avLst/>
              <a:gdLst>
                <a:gd name="T0" fmla="*/ 0 w 1622"/>
                <a:gd name="T1" fmla="*/ 2147483646 h 475"/>
                <a:gd name="T2" fmla="*/ 0 w 1622"/>
                <a:gd name="T3" fmla="*/ 2147483646 h 475"/>
                <a:gd name="T4" fmla="*/ 2147483646 w 1622"/>
                <a:gd name="T5" fmla="*/ 2147483646 h 475"/>
                <a:gd name="T6" fmla="*/ 2147483646 w 1622"/>
                <a:gd name="T7" fmla="*/ 2147483646 h 475"/>
                <a:gd name="T8" fmla="*/ 2147483646 w 1622"/>
                <a:gd name="T9" fmla="*/ 2147483646 h 475"/>
                <a:gd name="T10" fmla="*/ 2147483646 w 1622"/>
                <a:gd name="T11" fmla="*/ 2147483646 h 475"/>
                <a:gd name="T12" fmla="*/ 2147483646 w 1622"/>
                <a:gd name="T13" fmla="*/ 2147483646 h 475"/>
                <a:gd name="T14" fmla="*/ 2147483646 w 1622"/>
                <a:gd name="T15" fmla="*/ 2147483646 h 475"/>
                <a:gd name="T16" fmla="*/ 2147483646 w 1622"/>
                <a:gd name="T17" fmla="*/ 2147483646 h 475"/>
                <a:gd name="T18" fmla="*/ 2147483646 w 1622"/>
                <a:gd name="T19" fmla="*/ 2147483646 h 475"/>
                <a:gd name="T20" fmla="*/ 2147483646 w 1622"/>
                <a:gd name="T21" fmla="*/ 2147483646 h 475"/>
                <a:gd name="T22" fmla="*/ 2147483646 w 1622"/>
                <a:gd name="T23" fmla="*/ 2147483646 h 475"/>
                <a:gd name="T24" fmla="*/ 2147483646 w 1622"/>
                <a:gd name="T25" fmla="*/ 2147483646 h 475"/>
                <a:gd name="T26" fmla="*/ 2147483646 w 1622"/>
                <a:gd name="T27" fmla="*/ 2147483646 h 475"/>
                <a:gd name="T28" fmla="*/ 2147483646 w 1622"/>
                <a:gd name="T29" fmla="*/ 2147483646 h 475"/>
                <a:gd name="T30" fmla="*/ 2147483646 w 1622"/>
                <a:gd name="T31" fmla="*/ 2147483646 h 475"/>
                <a:gd name="T32" fmla="*/ 2147483646 w 1622"/>
                <a:gd name="T33" fmla="*/ 2147483646 h 475"/>
                <a:gd name="T34" fmla="*/ 2147483646 w 1622"/>
                <a:gd name="T35" fmla="*/ 2147483646 h 475"/>
                <a:gd name="T36" fmla="*/ 2147483646 w 1622"/>
                <a:gd name="T37" fmla="*/ 2147483646 h 475"/>
                <a:gd name="T38" fmla="*/ 2147483646 w 1622"/>
                <a:gd name="T39" fmla="*/ 2147483646 h 475"/>
                <a:gd name="T40" fmla="*/ 2147483646 w 1622"/>
                <a:gd name="T41" fmla="*/ 2147483646 h 475"/>
                <a:gd name="T42" fmla="*/ 2147483646 w 1622"/>
                <a:gd name="T43" fmla="*/ 2147483646 h 475"/>
                <a:gd name="T44" fmla="*/ 2147483646 w 1622"/>
                <a:gd name="T45" fmla="*/ 2147483646 h 475"/>
                <a:gd name="T46" fmla="*/ 2147483646 w 1622"/>
                <a:gd name="T47" fmla="*/ 0 h 475"/>
                <a:gd name="T48" fmla="*/ 2147483646 w 1622"/>
                <a:gd name="T49" fmla="*/ 2147483646 h 475"/>
                <a:gd name="T50" fmla="*/ 0 w 1622"/>
                <a:gd name="T51" fmla="*/ 2147483646 h 475"/>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1622" h="475">
                  <a:moveTo>
                    <a:pt x="0" y="24"/>
                  </a:moveTo>
                  <a:lnTo>
                    <a:pt x="0" y="475"/>
                  </a:lnTo>
                  <a:lnTo>
                    <a:pt x="1622" y="475"/>
                  </a:lnTo>
                  <a:lnTo>
                    <a:pt x="1622" y="15"/>
                  </a:lnTo>
                  <a:lnTo>
                    <a:pt x="1555" y="72"/>
                  </a:lnTo>
                  <a:lnTo>
                    <a:pt x="1507" y="24"/>
                  </a:lnTo>
                  <a:lnTo>
                    <a:pt x="1421" y="67"/>
                  </a:lnTo>
                  <a:lnTo>
                    <a:pt x="1349" y="39"/>
                  </a:lnTo>
                  <a:lnTo>
                    <a:pt x="1210" y="58"/>
                  </a:lnTo>
                  <a:lnTo>
                    <a:pt x="1147" y="39"/>
                  </a:lnTo>
                  <a:lnTo>
                    <a:pt x="1066" y="67"/>
                  </a:lnTo>
                  <a:lnTo>
                    <a:pt x="989" y="48"/>
                  </a:lnTo>
                  <a:lnTo>
                    <a:pt x="931" y="91"/>
                  </a:lnTo>
                  <a:lnTo>
                    <a:pt x="850" y="24"/>
                  </a:lnTo>
                  <a:lnTo>
                    <a:pt x="782" y="63"/>
                  </a:lnTo>
                  <a:lnTo>
                    <a:pt x="730" y="29"/>
                  </a:lnTo>
                  <a:lnTo>
                    <a:pt x="614" y="63"/>
                  </a:lnTo>
                  <a:lnTo>
                    <a:pt x="595" y="29"/>
                  </a:lnTo>
                  <a:lnTo>
                    <a:pt x="480" y="72"/>
                  </a:lnTo>
                  <a:lnTo>
                    <a:pt x="403" y="29"/>
                  </a:lnTo>
                  <a:lnTo>
                    <a:pt x="317" y="58"/>
                  </a:lnTo>
                  <a:lnTo>
                    <a:pt x="259" y="10"/>
                  </a:lnTo>
                  <a:lnTo>
                    <a:pt x="202" y="34"/>
                  </a:lnTo>
                  <a:lnTo>
                    <a:pt x="149" y="0"/>
                  </a:lnTo>
                  <a:lnTo>
                    <a:pt x="110" y="39"/>
                  </a:lnTo>
                  <a:lnTo>
                    <a:pt x="0" y="24"/>
                  </a:lnTo>
                  <a:close/>
                </a:path>
              </a:pathLst>
            </a:custGeom>
            <a:solidFill>
              <a:srgbClr val="66CCFF"/>
            </a:solidFill>
            <a:ln w="12700" cap="flat" cmpd="sng">
              <a:solidFill>
                <a:schemeClr val="tx1"/>
              </a:solidFill>
              <a:prstDash val="solid"/>
              <a:round/>
              <a:headEnd type="none" w="med" len="med"/>
              <a:tailEnd type="none" w="sm" len="sm"/>
            </a:ln>
          </p:spPr>
          <p:txBody>
            <a:bodyPr/>
            <a:lstStyle/>
            <a:p>
              <a:endParaRPr lang="en-US">
                <a:latin typeface="Roboto" panose="02000000000000000000" pitchFamily="2" charset="0"/>
                <a:ea typeface="Roboto" panose="02000000000000000000" pitchFamily="2" charset="0"/>
              </a:endParaRPr>
            </a:p>
          </p:txBody>
        </p:sp>
        <p:sp>
          <p:nvSpPr>
            <p:cNvPr id="17" name="Oval 4">
              <a:extLst>
                <a:ext uri="{FF2B5EF4-FFF2-40B4-BE49-F238E27FC236}">
                  <a16:creationId xmlns:a16="http://schemas.microsoft.com/office/drawing/2014/main" id="{1CC560EA-7C35-B008-FD71-CBCF514F0ABD}"/>
                </a:ext>
              </a:extLst>
            </p:cNvPr>
            <p:cNvSpPr>
              <a:spLocks noChangeArrowheads="1"/>
            </p:cNvSpPr>
            <p:nvPr/>
          </p:nvSpPr>
          <p:spPr bwMode="auto">
            <a:xfrm>
              <a:off x="1285875" y="2211388"/>
              <a:ext cx="363538" cy="346075"/>
            </a:xfrm>
            <a:prstGeom prst="ellipse">
              <a:avLst/>
            </a:prstGeom>
            <a:solidFill>
              <a:srgbClr val="FFFF00"/>
            </a:solidFill>
            <a:ln w="9525">
              <a:solidFill>
                <a:schemeClr val="tx1"/>
              </a:solidFill>
              <a:round/>
              <a:headEnd/>
              <a:tailEnd type="none" w="sm" len="sm"/>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5000"/>
                </a:lnSpc>
                <a:buFont typeface="Wingdings" panose="05000000000000000000" pitchFamily="2" charset="2"/>
                <a:buNone/>
              </a:pPr>
              <a:endParaRPr lang="en-US" altLang="en-US" sz="1600">
                <a:latin typeface="Roboto" panose="02000000000000000000" pitchFamily="2" charset="0"/>
                <a:ea typeface="Roboto" panose="02000000000000000000" pitchFamily="2" charset="0"/>
              </a:endParaRPr>
            </a:p>
          </p:txBody>
        </p:sp>
        <p:sp>
          <p:nvSpPr>
            <p:cNvPr id="18" name="Freeform 5">
              <a:extLst>
                <a:ext uri="{FF2B5EF4-FFF2-40B4-BE49-F238E27FC236}">
                  <a16:creationId xmlns:a16="http://schemas.microsoft.com/office/drawing/2014/main" id="{4370B2D5-8C55-2E4C-2B74-AAF80CAF1E84}"/>
                </a:ext>
              </a:extLst>
            </p:cNvPr>
            <p:cNvSpPr>
              <a:spLocks/>
            </p:cNvSpPr>
            <p:nvPr/>
          </p:nvSpPr>
          <p:spPr bwMode="auto">
            <a:xfrm>
              <a:off x="449263" y="2730500"/>
              <a:ext cx="2073275" cy="623888"/>
            </a:xfrm>
            <a:custGeom>
              <a:avLst/>
              <a:gdLst>
                <a:gd name="T0" fmla="*/ 0 w 1622"/>
                <a:gd name="T1" fmla="*/ 2147483646 h 475"/>
                <a:gd name="T2" fmla="*/ 0 w 1622"/>
                <a:gd name="T3" fmla="*/ 2147483646 h 475"/>
                <a:gd name="T4" fmla="*/ 2147483646 w 1622"/>
                <a:gd name="T5" fmla="*/ 2147483646 h 475"/>
                <a:gd name="T6" fmla="*/ 2147483646 w 1622"/>
                <a:gd name="T7" fmla="*/ 2147483646 h 475"/>
                <a:gd name="T8" fmla="*/ 2147483646 w 1622"/>
                <a:gd name="T9" fmla="*/ 2147483646 h 475"/>
                <a:gd name="T10" fmla="*/ 2147483646 w 1622"/>
                <a:gd name="T11" fmla="*/ 2147483646 h 475"/>
                <a:gd name="T12" fmla="*/ 2147483646 w 1622"/>
                <a:gd name="T13" fmla="*/ 2147483646 h 475"/>
                <a:gd name="T14" fmla="*/ 2147483646 w 1622"/>
                <a:gd name="T15" fmla="*/ 2147483646 h 475"/>
                <a:gd name="T16" fmla="*/ 2147483646 w 1622"/>
                <a:gd name="T17" fmla="*/ 2147483646 h 475"/>
                <a:gd name="T18" fmla="*/ 2147483646 w 1622"/>
                <a:gd name="T19" fmla="*/ 2147483646 h 475"/>
                <a:gd name="T20" fmla="*/ 2147483646 w 1622"/>
                <a:gd name="T21" fmla="*/ 2147483646 h 475"/>
                <a:gd name="T22" fmla="*/ 2147483646 w 1622"/>
                <a:gd name="T23" fmla="*/ 2147483646 h 475"/>
                <a:gd name="T24" fmla="*/ 2147483646 w 1622"/>
                <a:gd name="T25" fmla="*/ 2147483646 h 475"/>
                <a:gd name="T26" fmla="*/ 2147483646 w 1622"/>
                <a:gd name="T27" fmla="*/ 2147483646 h 475"/>
                <a:gd name="T28" fmla="*/ 2147483646 w 1622"/>
                <a:gd name="T29" fmla="*/ 2147483646 h 475"/>
                <a:gd name="T30" fmla="*/ 2147483646 w 1622"/>
                <a:gd name="T31" fmla="*/ 2147483646 h 475"/>
                <a:gd name="T32" fmla="*/ 2147483646 w 1622"/>
                <a:gd name="T33" fmla="*/ 2147483646 h 475"/>
                <a:gd name="T34" fmla="*/ 2147483646 w 1622"/>
                <a:gd name="T35" fmla="*/ 2147483646 h 475"/>
                <a:gd name="T36" fmla="*/ 2147483646 w 1622"/>
                <a:gd name="T37" fmla="*/ 2147483646 h 475"/>
                <a:gd name="T38" fmla="*/ 2147483646 w 1622"/>
                <a:gd name="T39" fmla="*/ 2147483646 h 475"/>
                <a:gd name="T40" fmla="*/ 2147483646 w 1622"/>
                <a:gd name="T41" fmla="*/ 2147483646 h 475"/>
                <a:gd name="T42" fmla="*/ 2147483646 w 1622"/>
                <a:gd name="T43" fmla="*/ 2147483646 h 475"/>
                <a:gd name="T44" fmla="*/ 2147483646 w 1622"/>
                <a:gd name="T45" fmla="*/ 2147483646 h 475"/>
                <a:gd name="T46" fmla="*/ 2147483646 w 1622"/>
                <a:gd name="T47" fmla="*/ 0 h 475"/>
                <a:gd name="T48" fmla="*/ 2147483646 w 1622"/>
                <a:gd name="T49" fmla="*/ 2147483646 h 475"/>
                <a:gd name="T50" fmla="*/ 0 w 1622"/>
                <a:gd name="T51" fmla="*/ 2147483646 h 475"/>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1622" h="475">
                  <a:moveTo>
                    <a:pt x="0" y="24"/>
                  </a:moveTo>
                  <a:lnTo>
                    <a:pt x="0" y="475"/>
                  </a:lnTo>
                  <a:lnTo>
                    <a:pt x="1622" y="475"/>
                  </a:lnTo>
                  <a:lnTo>
                    <a:pt x="1622" y="15"/>
                  </a:lnTo>
                  <a:lnTo>
                    <a:pt x="1555" y="72"/>
                  </a:lnTo>
                  <a:lnTo>
                    <a:pt x="1507" y="24"/>
                  </a:lnTo>
                  <a:lnTo>
                    <a:pt x="1421" y="67"/>
                  </a:lnTo>
                  <a:lnTo>
                    <a:pt x="1349" y="39"/>
                  </a:lnTo>
                  <a:lnTo>
                    <a:pt x="1210" y="58"/>
                  </a:lnTo>
                  <a:lnTo>
                    <a:pt x="1147" y="39"/>
                  </a:lnTo>
                  <a:lnTo>
                    <a:pt x="1066" y="67"/>
                  </a:lnTo>
                  <a:lnTo>
                    <a:pt x="989" y="48"/>
                  </a:lnTo>
                  <a:lnTo>
                    <a:pt x="931" y="91"/>
                  </a:lnTo>
                  <a:lnTo>
                    <a:pt x="850" y="24"/>
                  </a:lnTo>
                  <a:lnTo>
                    <a:pt x="782" y="63"/>
                  </a:lnTo>
                  <a:lnTo>
                    <a:pt x="730" y="29"/>
                  </a:lnTo>
                  <a:lnTo>
                    <a:pt x="614" y="63"/>
                  </a:lnTo>
                  <a:lnTo>
                    <a:pt x="595" y="29"/>
                  </a:lnTo>
                  <a:lnTo>
                    <a:pt x="480" y="72"/>
                  </a:lnTo>
                  <a:lnTo>
                    <a:pt x="403" y="29"/>
                  </a:lnTo>
                  <a:lnTo>
                    <a:pt x="317" y="58"/>
                  </a:lnTo>
                  <a:lnTo>
                    <a:pt x="259" y="10"/>
                  </a:lnTo>
                  <a:lnTo>
                    <a:pt x="202" y="34"/>
                  </a:lnTo>
                  <a:lnTo>
                    <a:pt x="149" y="0"/>
                  </a:lnTo>
                  <a:lnTo>
                    <a:pt x="110" y="39"/>
                  </a:lnTo>
                  <a:lnTo>
                    <a:pt x="0" y="24"/>
                  </a:lnTo>
                  <a:close/>
                </a:path>
              </a:pathLst>
            </a:custGeom>
            <a:solidFill>
              <a:srgbClr val="66CCFF"/>
            </a:solidFill>
            <a:ln w="12700" cap="flat" cmpd="sng">
              <a:solidFill>
                <a:schemeClr val="tx1"/>
              </a:solidFill>
              <a:prstDash val="solid"/>
              <a:round/>
              <a:headEnd type="none" w="med" len="med"/>
              <a:tailEnd type="none" w="sm" len="sm"/>
            </a:ln>
          </p:spPr>
          <p:txBody>
            <a:bodyPr/>
            <a:lstStyle/>
            <a:p>
              <a:endParaRPr lang="en-US">
                <a:latin typeface="Roboto" panose="02000000000000000000" pitchFamily="2" charset="0"/>
                <a:ea typeface="Roboto" panose="02000000000000000000" pitchFamily="2" charset="0"/>
              </a:endParaRPr>
            </a:p>
          </p:txBody>
        </p:sp>
        <p:sp>
          <p:nvSpPr>
            <p:cNvPr id="19" name="Oval 6">
              <a:extLst>
                <a:ext uri="{FF2B5EF4-FFF2-40B4-BE49-F238E27FC236}">
                  <a16:creationId xmlns:a16="http://schemas.microsoft.com/office/drawing/2014/main" id="{AF52B269-C12D-6592-731A-2F3A6AC2A1EF}"/>
                </a:ext>
              </a:extLst>
            </p:cNvPr>
            <p:cNvSpPr>
              <a:spLocks noChangeArrowheads="1"/>
            </p:cNvSpPr>
            <p:nvPr/>
          </p:nvSpPr>
          <p:spPr bwMode="auto">
            <a:xfrm>
              <a:off x="1285875" y="2909888"/>
              <a:ext cx="363538" cy="346075"/>
            </a:xfrm>
            <a:prstGeom prst="ellipse">
              <a:avLst/>
            </a:prstGeom>
            <a:solidFill>
              <a:srgbClr val="FFFF00"/>
            </a:solidFill>
            <a:ln w="9525">
              <a:solidFill>
                <a:schemeClr val="tx1"/>
              </a:solidFill>
              <a:round/>
              <a:headEnd/>
              <a:tailEnd type="none" w="sm" len="sm"/>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5000"/>
                </a:lnSpc>
                <a:buFont typeface="Wingdings" panose="05000000000000000000" pitchFamily="2" charset="2"/>
                <a:buNone/>
              </a:pPr>
              <a:endParaRPr lang="en-US" altLang="en-US" sz="1600">
                <a:latin typeface="Roboto" panose="02000000000000000000" pitchFamily="2" charset="0"/>
                <a:ea typeface="Roboto" panose="02000000000000000000" pitchFamily="2" charset="0"/>
              </a:endParaRPr>
            </a:p>
          </p:txBody>
        </p:sp>
        <p:sp>
          <p:nvSpPr>
            <p:cNvPr id="20" name="Freeform 7">
              <a:extLst>
                <a:ext uri="{FF2B5EF4-FFF2-40B4-BE49-F238E27FC236}">
                  <a16:creationId xmlns:a16="http://schemas.microsoft.com/office/drawing/2014/main" id="{F782AFBA-13C9-83B6-95B1-8642DC041C88}"/>
                </a:ext>
              </a:extLst>
            </p:cNvPr>
            <p:cNvSpPr>
              <a:spLocks/>
            </p:cNvSpPr>
            <p:nvPr/>
          </p:nvSpPr>
          <p:spPr bwMode="auto">
            <a:xfrm>
              <a:off x="449263" y="3432175"/>
              <a:ext cx="2073275" cy="623888"/>
            </a:xfrm>
            <a:custGeom>
              <a:avLst/>
              <a:gdLst>
                <a:gd name="T0" fmla="*/ 0 w 1622"/>
                <a:gd name="T1" fmla="*/ 2147483646 h 475"/>
                <a:gd name="T2" fmla="*/ 0 w 1622"/>
                <a:gd name="T3" fmla="*/ 2147483646 h 475"/>
                <a:gd name="T4" fmla="*/ 2147483646 w 1622"/>
                <a:gd name="T5" fmla="*/ 2147483646 h 475"/>
                <a:gd name="T6" fmla="*/ 2147483646 w 1622"/>
                <a:gd name="T7" fmla="*/ 2147483646 h 475"/>
                <a:gd name="T8" fmla="*/ 2147483646 w 1622"/>
                <a:gd name="T9" fmla="*/ 2147483646 h 475"/>
                <a:gd name="T10" fmla="*/ 2147483646 w 1622"/>
                <a:gd name="T11" fmla="*/ 2147483646 h 475"/>
                <a:gd name="T12" fmla="*/ 2147483646 w 1622"/>
                <a:gd name="T13" fmla="*/ 2147483646 h 475"/>
                <a:gd name="T14" fmla="*/ 2147483646 w 1622"/>
                <a:gd name="T15" fmla="*/ 2147483646 h 475"/>
                <a:gd name="T16" fmla="*/ 2147483646 w 1622"/>
                <a:gd name="T17" fmla="*/ 2147483646 h 475"/>
                <a:gd name="T18" fmla="*/ 2147483646 w 1622"/>
                <a:gd name="T19" fmla="*/ 2147483646 h 475"/>
                <a:gd name="T20" fmla="*/ 2147483646 w 1622"/>
                <a:gd name="T21" fmla="*/ 2147483646 h 475"/>
                <a:gd name="T22" fmla="*/ 2147483646 w 1622"/>
                <a:gd name="T23" fmla="*/ 2147483646 h 475"/>
                <a:gd name="T24" fmla="*/ 2147483646 w 1622"/>
                <a:gd name="T25" fmla="*/ 2147483646 h 475"/>
                <a:gd name="T26" fmla="*/ 2147483646 w 1622"/>
                <a:gd name="T27" fmla="*/ 2147483646 h 475"/>
                <a:gd name="T28" fmla="*/ 2147483646 w 1622"/>
                <a:gd name="T29" fmla="*/ 2147483646 h 475"/>
                <a:gd name="T30" fmla="*/ 2147483646 w 1622"/>
                <a:gd name="T31" fmla="*/ 2147483646 h 475"/>
                <a:gd name="T32" fmla="*/ 2147483646 w 1622"/>
                <a:gd name="T33" fmla="*/ 2147483646 h 475"/>
                <a:gd name="T34" fmla="*/ 2147483646 w 1622"/>
                <a:gd name="T35" fmla="*/ 2147483646 h 475"/>
                <a:gd name="T36" fmla="*/ 2147483646 w 1622"/>
                <a:gd name="T37" fmla="*/ 2147483646 h 475"/>
                <a:gd name="T38" fmla="*/ 2147483646 w 1622"/>
                <a:gd name="T39" fmla="*/ 2147483646 h 475"/>
                <a:gd name="T40" fmla="*/ 2147483646 w 1622"/>
                <a:gd name="T41" fmla="*/ 2147483646 h 475"/>
                <a:gd name="T42" fmla="*/ 2147483646 w 1622"/>
                <a:gd name="T43" fmla="*/ 2147483646 h 475"/>
                <a:gd name="T44" fmla="*/ 2147483646 w 1622"/>
                <a:gd name="T45" fmla="*/ 2147483646 h 475"/>
                <a:gd name="T46" fmla="*/ 2147483646 w 1622"/>
                <a:gd name="T47" fmla="*/ 0 h 475"/>
                <a:gd name="T48" fmla="*/ 2147483646 w 1622"/>
                <a:gd name="T49" fmla="*/ 2147483646 h 475"/>
                <a:gd name="T50" fmla="*/ 0 w 1622"/>
                <a:gd name="T51" fmla="*/ 2147483646 h 475"/>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1622" h="475">
                  <a:moveTo>
                    <a:pt x="0" y="24"/>
                  </a:moveTo>
                  <a:lnTo>
                    <a:pt x="0" y="475"/>
                  </a:lnTo>
                  <a:lnTo>
                    <a:pt x="1622" y="475"/>
                  </a:lnTo>
                  <a:lnTo>
                    <a:pt x="1622" y="15"/>
                  </a:lnTo>
                  <a:lnTo>
                    <a:pt x="1555" y="72"/>
                  </a:lnTo>
                  <a:lnTo>
                    <a:pt x="1507" y="24"/>
                  </a:lnTo>
                  <a:lnTo>
                    <a:pt x="1421" y="67"/>
                  </a:lnTo>
                  <a:lnTo>
                    <a:pt x="1349" y="39"/>
                  </a:lnTo>
                  <a:lnTo>
                    <a:pt x="1210" y="58"/>
                  </a:lnTo>
                  <a:lnTo>
                    <a:pt x="1147" y="39"/>
                  </a:lnTo>
                  <a:lnTo>
                    <a:pt x="1066" y="67"/>
                  </a:lnTo>
                  <a:lnTo>
                    <a:pt x="989" y="48"/>
                  </a:lnTo>
                  <a:lnTo>
                    <a:pt x="931" y="91"/>
                  </a:lnTo>
                  <a:lnTo>
                    <a:pt x="850" y="24"/>
                  </a:lnTo>
                  <a:lnTo>
                    <a:pt x="782" y="63"/>
                  </a:lnTo>
                  <a:lnTo>
                    <a:pt x="730" y="29"/>
                  </a:lnTo>
                  <a:lnTo>
                    <a:pt x="614" y="63"/>
                  </a:lnTo>
                  <a:lnTo>
                    <a:pt x="595" y="29"/>
                  </a:lnTo>
                  <a:lnTo>
                    <a:pt x="480" y="72"/>
                  </a:lnTo>
                  <a:lnTo>
                    <a:pt x="403" y="29"/>
                  </a:lnTo>
                  <a:lnTo>
                    <a:pt x="317" y="58"/>
                  </a:lnTo>
                  <a:lnTo>
                    <a:pt x="259" y="10"/>
                  </a:lnTo>
                  <a:lnTo>
                    <a:pt x="202" y="34"/>
                  </a:lnTo>
                  <a:lnTo>
                    <a:pt x="149" y="0"/>
                  </a:lnTo>
                  <a:lnTo>
                    <a:pt x="110" y="39"/>
                  </a:lnTo>
                  <a:lnTo>
                    <a:pt x="0" y="24"/>
                  </a:lnTo>
                  <a:close/>
                </a:path>
              </a:pathLst>
            </a:custGeom>
            <a:solidFill>
              <a:srgbClr val="66CCFF"/>
            </a:solidFill>
            <a:ln w="12700" cap="flat" cmpd="sng">
              <a:solidFill>
                <a:schemeClr val="tx1"/>
              </a:solidFill>
              <a:prstDash val="solid"/>
              <a:round/>
              <a:headEnd type="none" w="med" len="med"/>
              <a:tailEnd type="none" w="sm" len="sm"/>
            </a:ln>
          </p:spPr>
          <p:txBody>
            <a:bodyPr/>
            <a:lstStyle/>
            <a:p>
              <a:endParaRPr lang="en-US">
                <a:latin typeface="Roboto" panose="02000000000000000000" pitchFamily="2" charset="0"/>
                <a:ea typeface="Roboto" panose="02000000000000000000" pitchFamily="2" charset="0"/>
              </a:endParaRPr>
            </a:p>
          </p:txBody>
        </p:sp>
        <p:sp>
          <p:nvSpPr>
            <p:cNvPr id="21" name="Oval 8">
              <a:extLst>
                <a:ext uri="{FF2B5EF4-FFF2-40B4-BE49-F238E27FC236}">
                  <a16:creationId xmlns:a16="http://schemas.microsoft.com/office/drawing/2014/main" id="{06547AB3-5605-9B47-5884-DA4A978F637D}"/>
                </a:ext>
              </a:extLst>
            </p:cNvPr>
            <p:cNvSpPr>
              <a:spLocks noChangeArrowheads="1"/>
            </p:cNvSpPr>
            <p:nvPr/>
          </p:nvSpPr>
          <p:spPr bwMode="auto">
            <a:xfrm>
              <a:off x="1285875" y="3614738"/>
              <a:ext cx="363538" cy="346075"/>
            </a:xfrm>
            <a:prstGeom prst="ellipse">
              <a:avLst/>
            </a:prstGeom>
            <a:solidFill>
              <a:srgbClr val="FFFF00"/>
            </a:solidFill>
            <a:ln w="9525">
              <a:solidFill>
                <a:schemeClr val="tx1"/>
              </a:solidFill>
              <a:round/>
              <a:headEnd/>
              <a:tailEnd type="none" w="sm" len="sm"/>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5000"/>
                </a:lnSpc>
                <a:buFont typeface="Wingdings" panose="05000000000000000000" pitchFamily="2" charset="2"/>
                <a:buNone/>
              </a:pPr>
              <a:endParaRPr lang="en-US" altLang="en-US" sz="1600">
                <a:latin typeface="Roboto" panose="02000000000000000000" pitchFamily="2" charset="0"/>
                <a:ea typeface="Roboto" panose="02000000000000000000" pitchFamily="2" charset="0"/>
              </a:endParaRPr>
            </a:p>
          </p:txBody>
        </p:sp>
        <p:sp>
          <p:nvSpPr>
            <p:cNvPr id="22" name="Freeform 9">
              <a:extLst>
                <a:ext uri="{FF2B5EF4-FFF2-40B4-BE49-F238E27FC236}">
                  <a16:creationId xmlns:a16="http://schemas.microsoft.com/office/drawing/2014/main" id="{327929F9-4314-5B6C-FB25-218B1EB5C3B3}"/>
                </a:ext>
              </a:extLst>
            </p:cNvPr>
            <p:cNvSpPr>
              <a:spLocks/>
            </p:cNvSpPr>
            <p:nvPr/>
          </p:nvSpPr>
          <p:spPr bwMode="auto">
            <a:xfrm>
              <a:off x="449263" y="4133850"/>
              <a:ext cx="2073275" cy="623888"/>
            </a:xfrm>
            <a:custGeom>
              <a:avLst/>
              <a:gdLst>
                <a:gd name="T0" fmla="*/ 0 w 1622"/>
                <a:gd name="T1" fmla="*/ 2147483646 h 475"/>
                <a:gd name="T2" fmla="*/ 0 w 1622"/>
                <a:gd name="T3" fmla="*/ 2147483646 h 475"/>
                <a:gd name="T4" fmla="*/ 2147483646 w 1622"/>
                <a:gd name="T5" fmla="*/ 2147483646 h 475"/>
                <a:gd name="T6" fmla="*/ 2147483646 w 1622"/>
                <a:gd name="T7" fmla="*/ 2147483646 h 475"/>
                <a:gd name="T8" fmla="*/ 2147483646 w 1622"/>
                <a:gd name="T9" fmla="*/ 2147483646 h 475"/>
                <a:gd name="T10" fmla="*/ 2147483646 w 1622"/>
                <a:gd name="T11" fmla="*/ 2147483646 h 475"/>
                <a:gd name="T12" fmla="*/ 2147483646 w 1622"/>
                <a:gd name="T13" fmla="*/ 2147483646 h 475"/>
                <a:gd name="T14" fmla="*/ 2147483646 w 1622"/>
                <a:gd name="T15" fmla="*/ 2147483646 h 475"/>
                <a:gd name="T16" fmla="*/ 2147483646 w 1622"/>
                <a:gd name="T17" fmla="*/ 2147483646 h 475"/>
                <a:gd name="T18" fmla="*/ 2147483646 w 1622"/>
                <a:gd name="T19" fmla="*/ 2147483646 h 475"/>
                <a:gd name="T20" fmla="*/ 2147483646 w 1622"/>
                <a:gd name="T21" fmla="*/ 2147483646 h 475"/>
                <a:gd name="T22" fmla="*/ 2147483646 w 1622"/>
                <a:gd name="T23" fmla="*/ 2147483646 h 475"/>
                <a:gd name="T24" fmla="*/ 2147483646 w 1622"/>
                <a:gd name="T25" fmla="*/ 2147483646 h 475"/>
                <a:gd name="T26" fmla="*/ 2147483646 w 1622"/>
                <a:gd name="T27" fmla="*/ 2147483646 h 475"/>
                <a:gd name="T28" fmla="*/ 2147483646 w 1622"/>
                <a:gd name="T29" fmla="*/ 2147483646 h 475"/>
                <a:gd name="T30" fmla="*/ 2147483646 w 1622"/>
                <a:gd name="T31" fmla="*/ 2147483646 h 475"/>
                <a:gd name="T32" fmla="*/ 2147483646 w 1622"/>
                <a:gd name="T33" fmla="*/ 2147483646 h 475"/>
                <a:gd name="T34" fmla="*/ 2147483646 w 1622"/>
                <a:gd name="T35" fmla="*/ 2147483646 h 475"/>
                <a:gd name="T36" fmla="*/ 2147483646 w 1622"/>
                <a:gd name="T37" fmla="*/ 2147483646 h 475"/>
                <a:gd name="T38" fmla="*/ 2147483646 w 1622"/>
                <a:gd name="T39" fmla="*/ 2147483646 h 475"/>
                <a:gd name="T40" fmla="*/ 2147483646 w 1622"/>
                <a:gd name="T41" fmla="*/ 2147483646 h 475"/>
                <a:gd name="T42" fmla="*/ 2147483646 w 1622"/>
                <a:gd name="T43" fmla="*/ 2147483646 h 475"/>
                <a:gd name="T44" fmla="*/ 2147483646 w 1622"/>
                <a:gd name="T45" fmla="*/ 2147483646 h 475"/>
                <a:gd name="T46" fmla="*/ 2147483646 w 1622"/>
                <a:gd name="T47" fmla="*/ 0 h 475"/>
                <a:gd name="T48" fmla="*/ 2147483646 w 1622"/>
                <a:gd name="T49" fmla="*/ 2147483646 h 475"/>
                <a:gd name="T50" fmla="*/ 0 w 1622"/>
                <a:gd name="T51" fmla="*/ 2147483646 h 475"/>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1622" h="475">
                  <a:moveTo>
                    <a:pt x="0" y="24"/>
                  </a:moveTo>
                  <a:lnTo>
                    <a:pt x="0" y="475"/>
                  </a:lnTo>
                  <a:lnTo>
                    <a:pt x="1622" y="475"/>
                  </a:lnTo>
                  <a:lnTo>
                    <a:pt x="1622" y="15"/>
                  </a:lnTo>
                  <a:lnTo>
                    <a:pt x="1555" y="72"/>
                  </a:lnTo>
                  <a:lnTo>
                    <a:pt x="1507" y="24"/>
                  </a:lnTo>
                  <a:lnTo>
                    <a:pt x="1421" y="67"/>
                  </a:lnTo>
                  <a:lnTo>
                    <a:pt x="1349" y="39"/>
                  </a:lnTo>
                  <a:lnTo>
                    <a:pt x="1210" y="58"/>
                  </a:lnTo>
                  <a:lnTo>
                    <a:pt x="1147" y="39"/>
                  </a:lnTo>
                  <a:lnTo>
                    <a:pt x="1066" y="67"/>
                  </a:lnTo>
                  <a:lnTo>
                    <a:pt x="989" y="48"/>
                  </a:lnTo>
                  <a:lnTo>
                    <a:pt x="931" y="91"/>
                  </a:lnTo>
                  <a:lnTo>
                    <a:pt x="850" y="24"/>
                  </a:lnTo>
                  <a:lnTo>
                    <a:pt x="782" y="63"/>
                  </a:lnTo>
                  <a:lnTo>
                    <a:pt x="730" y="29"/>
                  </a:lnTo>
                  <a:lnTo>
                    <a:pt x="614" y="63"/>
                  </a:lnTo>
                  <a:lnTo>
                    <a:pt x="595" y="29"/>
                  </a:lnTo>
                  <a:lnTo>
                    <a:pt x="480" y="72"/>
                  </a:lnTo>
                  <a:lnTo>
                    <a:pt x="403" y="29"/>
                  </a:lnTo>
                  <a:lnTo>
                    <a:pt x="317" y="58"/>
                  </a:lnTo>
                  <a:lnTo>
                    <a:pt x="259" y="10"/>
                  </a:lnTo>
                  <a:lnTo>
                    <a:pt x="202" y="34"/>
                  </a:lnTo>
                  <a:lnTo>
                    <a:pt x="149" y="0"/>
                  </a:lnTo>
                  <a:lnTo>
                    <a:pt x="110" y="39"/>
                  </a:lnTo>
                  <a:lnTo>
                    <a:pt x="0" y="24"/>
                  </a:lnTo>
                  <a:close/>
                </a:path>
              </a:pathLst>
            </a:custGeom>
            <a:solidFill>
              <a:srgbClr val="66CCFF"/>
            </a:solidFill>
            <a:ln w="12700" cap="flat" cmpd="sng">
              <a:solidFill>
                <a:schemeClr val="tx1"/>
              </a:solidFill>
              <a:prstDash val="solid"/>
              <a:round/>
              <a:headEnd type="none" w="med" len="med"/>
              <a:tailEnd type="none" w="sm" len="sm"/>
            </a:ln>
          </p:spPr>
          <p:txBody>
            <a:bodyPr/>
            <a:lstStyle/>
            <a:p>
              <a:endParaRPr lang="en-US">
                <a:latin typeface="Roboto" panose="02000000000000000000" pitchFamily="2" charset="0"/>
                <a:ea typeface="Roboto" panose="02000000000000000000" pitchFamily="2" charset="0"/>
              </a:endParaRPr>
            </a:p>
          </p:txBody>
        </p:sp>
        <p:sp>
          <p:nvSpPr>
            <p:cNvPr id="23" name="Oval 10">
              <a:extLst>
                <a:ext uri="{FF2B5EF4-FFF2-40B4-BE49-F238E27FC236}">
                  <a16:creationId xmlns:a16="http://schemas.microsoft.com/office/drawing/2014/main" id="{0C238E85-4828-BB62-CDB2-8602C97F74DC}"/>
                </a:ext>
              </a:extLst>
            </p:cNvPr>
            <p:cNvSpPr>
              <a:spLocks noChangeArrowheads="1"/>
            </p:cNvSpPr>
            <p:nvPr/>
          </p:nvSpPr>
          <p:spPr bwMode="auto">
            <a:xfrm>
              <a:off x="1289050" y="4319588"/>
              <a:ext cx="363538" cy="346075"/>
            </a:xfrm>
            <a:prstGeom prst="ellipse">
              <a:avLst/>
            </a:prstGeom>
            <a:solidFill>
              <a:srgbClr val="FFFF00"/>
            </a:solidFill>
            <a:ln w="9525">
              <a:solidFill>
                <a:schemeClr val="tx1"/>
              </a:solidFill>
              <a:round/>
              <a:headEnd/>
              <a:tailEnd type="none" w="sm" len="sm"/>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5000"/>
                </a:lnSpc>
                <a:buFont typeface="Wingdings" panose="05000000000000000000" pitchFamily="2" charset="2"/>
                <a:buNone/>
              </a:pPr>
              <a:endParaRPr lang="en-US" altLang="en-US" sz="1600">
                <a:latin typeface="Roboto" panose="02000000000000000000" pitchFamily="2" charset="0"/>
                <a:ea typeface="Roboto" panose="02000000000000000000" pitchFamily="2" charset="0"/>
              </a:endParaRPr>
            </a:p>
          </p:txBody>
        </p:sp>
        <p:sp>
          <p:nvSpPr>
            <p:cNvPr id="24" name="Freeform 11">
              <a:extLst>
                <a:ext uri="{FF2B5EF4-FFF2-40B4-BE49-F238E27FC236}">
                  <a16:creationId xmlns:a16="http://schemas.microsoft.com/office/drawing/2014/main" id="{9DEDA1C7-5E3B-1E54-82A4-838E40D3A49D}"/>
                </a:ext>
              </a:extLst>
            </p:cNvPr>
            <p:cNvSpPr>
              <a:spLocks/>
            </p:cNvSpPr>
            <p:nvPr/>
          </p:nvSpPr>
          <p:spPr bwMode="auto">
            <a:xfrm>
              <a:off x="449263" y="4835525"/>
              <a:ext cx="2073275" cy="623888"/>
            </a:xfrm>
            <a:custGeom>
              <a:avLst/>
              <a:gdLst>
                <a:gd name="T0" fmla="*/ 0 w 1622"/>
                <a:gd name="T1" fmla="*/ 2147483646 h 475"/>
                <a:gd name="T2" fmla="*/ 0 w 1622"/>
                <a:gd name="T3" fmla="*/ 2147483646 h 475"/>
                <a:gd name="T4" fmla="*/ 2147483646 w 1622"/>
                <a:gd name="T5" fmla="*/ 2147483646 h 475"/>
                <a:gd name="T6" fmla="*/ 2147483646 w 1622"/>
                <a:gd name="T7" fmla="*/ 2147483646 h 475"/>
                <a:gd name="T8" fmla="*/ 2147483646 w 1622"/>
                <a:gd name="T9" fmla="*/ 2147483646 h 475"/>
                <a:gd name="T10" fmla="*/ 2147483646 w 1622"/>
                <a:gd name="T11" fmla="*/ 2147483646 h 475"/>
                <a:gd name="T12" fmla="*/ 2147483646 w 1622"/>
                <a:gd name="T13" fmla="*/ 2147483646 h 475"/>
                <a:gd name="T14" fmla="*/ 2147483646 w 1622"/>
                <a:gd name="T15" fmla="*/ 2147483646 h 475"/>
                <a:gd name="T16" fmla="*/ 2147483646 w 1622"/>
                <a:gd name="T17" fmla="*/ 2147483646 h 475"/>
                <a:gd name="T18" fmla="*/ 2147483646 w 1622"/>
                <a:gd name="T19" fmla="*/ 2147483646 h 475"/>
                <a:gd name="T20" fmla="*/ 2147483646 w 1622"/>
                <a:gd name="T21" fmla="*/ 2147483646 h 475"/>
                <a:gd name="T22" fmla="*/ 2147483646 w 1622"/>
                <a:gd name="T23" fmla="*/ 2147483646 h 475"/>
                <a:gd name="T24" fmla="*/ 2147483646 w 1622"/>
                <a:gd name="T25" fmla="*/ 2147483646 h 475"/>
                <a:gd name="T26" fmla="*/ 2147483646 w 1622"/>
                <a:gd name="T27" fmla="*/ 2147483646 h 475"/>
                <a:gd name="T28" fmla="*/ 2147483646 w 1622"/>
                <a:gd name="T29" fmla="*/ 2147483646 h 475"/>
                <a:gd name="T30" fmla="*/ 2147483646 w 1622"/>
                <a:gd name="T31" fmla="*/ 2147483646 h 475"/>
                <a:gd name="T32" fmla="*/ 2147483646 w 1622"/>
                <a:gd name="T33" fmla="*/ 2147483646 h 475"/>
                <a:gd name="T34" fmla="*/ 2147483646 w 1622"/>
                <a:gd name="T35" fmla="*/ 2147483646 h 475"/>
                <a:gd name="T36" fmla="*/ 2147483646 w 1622"/>
                <a:gd name="T37" fmla="*/ 2147483646 h 475"/>
                <a:gd name="T38" fmla="*/ 2147483646 w 1622"/>
                <a:gd name="T39" fmla="*/ 2147483646 h 475"/>
                <a:gd name="T40" fmla="*/ 2147483646 w 1622"/>
                <a:gd name="T41" fmla="*/ 2147483646 h 475"/>
                <a:gd name="T42" fmla="*/ 2147483646 w 1622"/>
                <a:gd name="T43" fmla="*/ 2147483646 h 475"/>
                <a:gd name="T44" fmla="*/ 2147483646 w 1622"/>
                <a:gd name="T45" fmla="*/ 2147483646 h 475"/>
                <a:gd name="T46" fmla="*/ 2147483646 w 1622"/>
                <a:gd name="T47" fmla="*/ 0 h 475"/>
                <a:gd name="T48" fmla="*/ 2147483646 w 1622"/>
                <a:gd name="T49" fmla="*/ 2147483646 h 475"/>
                <a:gd name="T50" fmla="*/ 0 w 1622"/>
                <a:gd name="T51" fmla="*/ 2147483646 h 475"/>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1622" h="475">
                  <a:moveTo>
                    <a:pt x="0" y="24"/>
                  </a:moveTo>
                  <a:lnTo>
                    <a:pt x="0" y="475"/>
                  </a:lnTo>
                  <a:lnTo>
                    <a:pt x="1622" y="475"/>
                  </a:lnTo>
                  <a:lnTo>
                    <a:pt x="1622" y="15"/>
                  </a:lnTo>
                  <a:lnTo>
                    <a:pt x="1555" y="72"/>
                  </a:lnTo>
                  <a:lnTo>
                    <a:pt x="1507" y="24"/>
                  </a:lnTo>
                  <a:lnTo>
                    <a:pt x="1421" y="67"/>
                  </a:lnTo>
                  <a:lnTo>
                    <a:pt x="1349" y="39"/>
                  </a:lnTo>
                  <a:lnTo>
                    <a:pt x="1210" y="58"/>
                  </a:lnTo>
                  <a:lnTo>
                    <a:pt x="1147" y="39"/>
                  </a:lnTo>
                  <a:lnTo>
                    <a:pt x="1066" y="67"/>
                  </a:lnTo>
                  <a:lnTo>
                    <a:pt x="989" y="48"/>
                  </a:lnTo>
                  <a:lnTo>
                    <a:pt x="931" y="91"/>
                  </a:lnTo>
                  <a:lnTo>
                    <a:pt x="850" y="24"/>
                  </a:lnTo>
                  <a:lnTo>
                    <a:pt x="782" y="63"/>
                  </a:lnTo>
                  <a:lnTo>
                    <a:pt x="730" y="29"/>
                  </a:lnTo>
                  <a:lnTo>
                    <a:pt x="614" y="63"/>
                  </a:lnTo>
                  <a:lnTo>
                    <a:pt x="595" y="29"/>
                  </a:lnTo>
                  <a:lnTo>
                    <a:pt x="480" y="72"/>
                  </a:lnTo>
                  <a:lnTo>
                    <a:pt x="403" y="29"/>
                  </a:lnTo>
                  <a:lnTo>
                    <a:pt x="317" y="58"/>
                  </a:lnTo>
                  <a:lnTo>
                    <a:pt x="259" y="10"/>
                  </a:lnTo>
                  <a:lnTo>
                    <a:pt x="202" y="34"/>
                  </a:lnTo>
                  <a:lnTo>
                    <a:pt x="149" y="0"/>
                  </a:lnTo>
                  <a:lnTo>
                    <a:pt x="110" y="39"/>
                  </a:lnTo>
                  <a:lnTo>
                    <a:pt x="0" y="24"/>
                  </a:lnTo>
                  <a:close/>
                </a:path>
              </a:pathLst>
            </a:custGeom>
            <a:solidFill>
              <a:srgbClr val="66CCFF"/>
            </a:solidFill>
            <a:ln w="12700" cap="flat" cmpd="sng">
              <a:solidFill>
                <a:schemeClr val="tx1"/>
              </a:solidFill>
              <a:prstDash val="solid"/>
              <a:round/>
              <a:headEnd type="none" w="med" len="med"/>
              <a:tailEnd type="none" w="sm" len="sm"/>
            </a:ln>
          </p:spPr>
          <p:txBody>
            <a:bodyPr/>
            <a:lstStyle/>
            <a:p>
              <a:endParaRPr lang="en-US">
                <a:latin typeface="Roboto" panose="02000000000000000000" pitchFamily="2" charset="0"/>
                <a:ea typeface="Roboto" panose="02000000000000000000" pitchFamily="2" charset="0"/>
              </a:endParaRPr>
            </a:p>
          </p:txBody>
        </p:sp>
        <p:sp>
          <p:nvSpPr>
            <p:cNvPr id="25" name="Oval 12">
              <a:extLst>
                <a:ext uri="{FF2B5EF4-FFF2-40B4-BE49-F238E27FC236}">
                  <a16:creationId xmlns:a16="http://schemas.microsoft.com/office/drawing/2014/main" id="{806C981C-6DF1-F79E-6E5A-409AD8525438}"/>
                </a:ext>
              </a:extLst>
            </p:cNvPr>
            <p:cNvSpPr>
              <a:spLocks noChangeArrowheads="1"/>
            </p:cNvSpPr>
            <p:nvPr/>
          </p:nvSpPr>
          <p:spPr bwMode="auto">
            <a:xfrm>
              <a:off x="1292225" y="5003800"/>
              <a:ext cx="363538" cy="346075"/>
            </a:xfrm>
            <a:prstGeom prst="ellipse">
              <a:avLst/>
            </a:prstGeom>
            <a:solidFill>
              <a:srgbClr val="FFFF00"/>
            </a:solidFill>
            <a:ln w="9525">
              <a:solidFill>
                <a:schemeClr val="tx1"/>
              </a:solidFill>
              <a:round/>
              <a:headEnd/>
              <a:tailEnd type="none" w="sm" len="sm"/>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5000"/>
                </a:lnSpc>
                <a:buFont typeface="Wingdings" panose="05000000000000000000" pitchFamily="2" charset="2"/>
                <a:buNone/>
              </a:pPr>
              <a:endParaRPr lang="en-US" altLang="en-US" sz="1600">
                <a:latin typeface="Roboto" panose="02000000000000000000" pitchFamily="2" charset="0"/>
                <a:ea typeface="Roboto" panose="02000000000000000000" pitchFamily="2" charset="0"/>
              </a:endParaRPr>
            </a:p>
          </p:txBody>
        </p:sp>
        <p:sp>
          <p:nvSpPr>
            <p:cNvPr id="26" name="Freeform 13">
              <a:extLst>
                <a:ext uri="{FF2B5EF4-FFF2-40B4-BE49-F238E27FC236}">
                  <a16:creationId xmlns:a16="http://schemas.microsoft.com/office/drawing/2014/main" id="{078E22A4-E445-65C0-6365-DAF7466AE95F}"/>
                </a:ext>
              </a:extLst>
            </p:cNvPr>
            <p:cNvSpPr>
              <a:spLocks/>
            </p:cNvSpPr>
            <p:nvPr/>
          </p:nvSpPr>
          <p:spPr bwMode="auto">
            <a:xfrm>
              <a:off x="449263" y="5537200"/>
              <a:ext cx="2073275" cy="623888"/>
            </a:xfrm>
            <a:custGeom>
              <a:avLst/>
              <a:gdLst>
                <a:gd name="T0" fmla="*/ 0 w 1622"/>
                <a:gd name="T1" fmla="*/ 2147483646 h 475"/>
                <a:gd name="T2" fmla="*/ 0 w 1622"/>
                <a:gd name="T3" fmla="*/ 2147483646 h 475"/>
                <a:gd name="T4" fmla="*/ 2147483646 w 1622"/>
                <a:gd name="T5" fmla="*/ 2147483646 h 475"/>
                <a:gd name="T6" fmla="*/ 2147483646 w 1622"/>
                <a:gd name="T7" fmla="*/ 2147483646 h 475"/>
                <a:gd name="T8" fmla="*/ 2147483646 w 1622"/>
                <a:gd name="T9" fmla="*/ 2147483646 h 475"/>
                <a:gd name="T10" fmla="*/ 2147483646 w 1622"/>
                <a:gd name="T11" fmla="*/ 2147483646 h 475"/>
                <a:gd name="T12" fmla="*/ 2147483646 w 1622"/>
                <a:gd name="T13" fmla="*/ 2147483646 h 475"/>
                <a:gd name="T14" fmla="*/ 2147483646 w 1622"/>
                <a:gd name="T15" fmla="*/ 2147483646 h 475"/>
                <a:gd name="T16" fmla="*/ 2147483646 w 1622"/>
                <a:gd name="T17" fmla="*/ 2147483646 h 475"/>
                <a:gd name="T18" fmla="*/ 2147483646 w 1622"/>
                <a:gd name="T19" fmla="*/ 2147483646 h 475"/>
                <a:gd name="T20" fmla="*/ 2147483646 w 1622"/>
                <a:gd name="T21" fmla="*/ 2147483646 h 475"/>
                <a:gd name="T22" fmla="*/ 2147483646 w 1622"/>
                <a:gd name="T23" fmla="*/ 2147483646 h 475"/>
                <a:gd name="T24" fmla="*/ 2147483646 w 1622"/>
                <a:gd name="T25" fmla="*/ 2147483646 h 475"/>
                <a:gd name="T26" fmla="*/ 2147483646 w 1622"/>
                <a:gd name="T27" fmla="*/ 2147483646 h 475"/>
                <a:gd name="T28" fmla="*/ 2147483646 w 1622"/>
                <a:gd name="T29" fmla="*/ 2147483646 h 475"/>
                <a:gd name="T30" fmla="*/ 2147483646 w 1622"/>
                <a:gd name="T31" fmla="*/ 2147483646 h 475"/>
                <a:gd name="T32" fmla="*/ 2147483646 w 1622"/>
                <a:gd name="T33" fmla="*/ 2147483646 h 475"/>
                <a:gd name="T34" fmla="*/ 2147483646 w 1622"/>
                <a:gd name="T35" fmla="*/ 2147483646 h 475"/>
                <a:gd name="T36" fmla="*/ 2147483646 w 1622"/>
                <a:gd name="T37" fmla="*/ 2147483646 h 475"/>
                <a:gd name="T38" fmla="*/ 2147483646 w 1622"/>
                <a:gd name="T39" fmla="*/ 2147483646 h 475"/>
                <a:gd name="T40" fmla="*/ 2147483646 w 1622"/>
                <a:gd name="T41" fmla="*/ 2147483646 h 475"/>
                <a:gd name="T42" fmla="*/ 2147483646 w 1622"/>
                <a:gd name="T43" fmla="*/ 2147483646 h 475"/>
                <a:gd name="T44" fmla="*/ 2147483646 w 1622"/>
                <a:gd name="T45" fmla="*/ 2147483646 h 475"/>
                <a:gd name="T46" fmla="*/ 2147483646 w 1622"/>
                <a:gd name="T47" fmla="*/ 0 h 475"/>
                <a:gd name="T48" fmla="*/ 2147483646 w 1622"/>
                <a:gd name="T49" fmla="*/ 2147483646 h 475"/>
                <a:gd name="T50" fmla="*/ 0 w 1622"/>
                <a:gd name="T51" fmla="*/ 2147483646 h 475"/>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1622" h="475">
                  <a:moveTo>
                    <a:pt x="0" y="24"/>
                  </a:moveTo>
                  <a:lnTo>
                    <a:pt x="0" y="475"/>
                  </a:lnTo>
                  <a:lnTo>
                    <a:pt x="1622" y="475"/>
                  </a:lnTo>
                  <a:lnTo>
                    <a:pt x="1622" y="15"/>
                  </a:lnTo>
                  <a:lnTo>
                    <a:pt x="1555" y="72"/>
                  </a:lnTo>
                  <a:lnTo>
                    <a:pt x="1507" y="24"/>
                  </a:lnTo>
                  <a:lnTo>
                    <a:pt x="1421" y="67"/>
                  </a:lnTo>
                  <a:lnTo>
                    <a:pt x="1349" y="39"/>
                  </a:lnTo>
                  <a:lnTo>
                    <a:pt x="1210" y="58"/>
                  </a:lnTo>
                  <a:lnTo>
                    <a:pt x="1147" y="39"/>
                  </a:lnTo>
                  <a:lnTo>
                    <a:pt x="1066" y="67"/>
                  </a:lnTo>
                  <a:lnTo>
                    <a:pt x="989" y="48"/>
                  </a:lnTo>
                  <a:lnTo>
                    <a:pt x="931" y="91"/>
                  </a:lnTo>
                  <a:lnTo>
                    <a:pt x="850" y="24"/>
                  </a:lnTo>
                  <a:lnTo>
                    <a:pt x="782" y="63"/>
                  </a:lnTo>
                  <a:lnTo>
                    <a:pt x="730" y="29"/>
                  </a:lnTo>
                  <a:lnTo>
                    <a:pt x="614" y="63"/>
                  </a:lnTo>
                  <a:lnTo>
                    <a:pt x="595" y="29"/>
                  </a:lnTo>
                  <a:lnTo>
                    <a:pt x="480" y="72"/>
                  </a:lnTo>
                  <a:lnTo>
                    <a:pt x="403" y="29"/>
                  </a:lnTo>
                  <a:lnTo>
                    <a:pt x="317" y="58"/>
                  </a:lnTo>
                  <a:lnTo>
                    <a:pt x="259" y="10"/>
                  </a:lnTo>
                  <a:lnTo>
                    <a:pt x="202" y="34"/>
                  </a:lnTo>
                  <a:lnTo>
                    <a:pt x="149" y="0"/>
                  </a:lnTo>
                  <a:lnTo>
                    <a:pt x="110" y="39"/>
                  </a:lnTo>
                  <a:lnTo>
                    <a:pt x="0" y="24"/>
                  </a:lnTo>
                  <a:close/>
                </a:path>
              </a:pathLst>
            </a:custGeom>
            <a:solidFill>
              <a:srgbClr val="66CCFF"/>
            </a:solidFill>
            <a:ln w="12700" cap="flat" cmpd="sng">
              <a:solidFill>
                <a:schemeClr val="tx1"/>
              </a:solidFill>
              <a:prstDash val="solid"/>
              <a:round/>
              <a:headEnd type="none" w="med" len="med"/>
              <a:tailEnd type="none" w="sm" len="sm"/>
            </a:ln>
          </p:spPr>
          <p:txBody>
            <a:bodyPr/>
            <a:lstStyle/>
            <a:p>
              <a:endParaRPr lang="en-US">
                <a:latin typeface="Roboto" panose="02000000000000000000" pitchFamily="2" charset="0"/>
                <a:ea typeface="Roboto" panose="02000000000000000000" pitchFamily="2" charset="0"/>
              </a:endParaRPr>
            </a:p>
          </p:txBody>
        </p:sp>
        <p:sp>
          <p:nvSpPr>
            <p:cNvPr id="27" name="Oval 14">
              <a:extLst>
                <a:ext uri="{FF2B5EF4-FFF2-40B4-BE49-F238E27FC236}">
                  <a16:creationId xmlns:a16="http://schemas.microsoft.com/office/drawing/2014/main" id="{0E03D773-CF94-7293-D00F-9A1DD28CE96B}"/>
                </a:ext>
              </a:extLst>
            </p:cNvPr>
            <p:cNvSpPr>
              <a:spLocks noChangeArrowheads="1"/>
            </p:cNvSpPr>
            <p:nvPr/>
          </p:nvSpPr>
          <p:spPr bwMode="auto">
            <a:xfrm>
              <a:off x="1273175" y="5727700"/>
              <a:ext cx="363538" cy="346075"/>
            </a:xfrm>
            <a:prstGeom prst="ellipse">
              <a:avLst/>
            </a:prstGeom>
            <a:solidFill>
              <a:srgbClr val="FFFF00"/>
            </a:solidFill>
            <a:ln w="9525">
              <a:solidFill>
                <a:schemeClr val="tx1"/>
              </a:solidFill>
              <a:round/>
              <a:headEnd/>
              <a:tailEnd type="none" w="sm" len="sm"/>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5000"/>
                </a:lnSpc>
                <a:buFont typeface="Wingdings" panose="05000000000000000000" pitchFamily="2" charset="2"/>
                <a:buNone/>
              </a:pPr>
              <a:endParaRPr lang="en-US" altLang="en-US" sz="1600">
                <a:latin typeface="Roboto" panose="02000000000000000000" pitchFamily="2" charset="0"/>
                <a:ea typeface="Roboto" panose="02000000000000000000" pitchFamily="2" charset="0"/>
              </a:endParaRPr>
            </a:p>
          </p:txBody>
        </p:sp>
        <p:sp>
          <p:nvSpPr>
            <p:cNvPr id="28" name="Oval 15">
              <a:extLst>
                <a:ext uri="{FF2B5EF4-FFF2-40B4-BE49-F238E27FC236}">
                  <a16:creationId xmlns:a16="http://schemas.microsoft.com/office/drawing/2014/main" id="{F0B62F13-3A72-5D70-A9A6-E535800C17B3}"/>
                </a:ext>
              </a:extLst>
            </p:cNvPr>
            <p:cNvSpPr>
              <a:spLocks noChangeArrowheads="1"/>
            </p:cNvSpPr>
            <p:nvPr/>
          </p:nvSpPr>
          <p:spPr bwMode="auto">
            <a:xfrm>
              <a:off x="873125" y="2908300"/>
              <a:ext cx="363538" cy="346075"/>
            </a:xfrm>
            <a:prstGeom prst="ellipse">
              <a:avLst/>
            </a:prstGeom>
            <a:solidFill>
              <a:srgbClr val="FFFF00"/>
            </a:solidFill>
            <a:ln w="9525">
              <a:solidFill>
                <a:schemeClr val="tx1"/>
              </a:solidFill>
              <a:round/>
              <a:headEnd/>
              <a:tailEnd type="none" w="sm" len="sm"/>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5000"/>
                </a:lnSpc>
                <a:buFont typeface="Wingdings" panose="05000000000000000000" pitchFamily="2" charset="2"/>
                <a:buNone/>
              </a:pPr>
              <a:endParaRPr lang="en-US" altLang="en-US" sz="1600">
                <a:latin typeface="Roboto" panose="02000000000000000000" pitchFamily="2" charset="0"/>
                <a:ea typeface="Roboto" panose="02000000000000000000" pitchFamily="2" charset="0"/>
              </a:endParaRPr>
            </a:p>
          </p:txBody>
        </p:sp>
        <p:sp>
          <p:nvSpPr>
            <p:cNvPr id="29" name="Oval 16">
              <a:extLst>
                <a:ext uri="{FF2B5EF4-FFF2-40B4-BE49-F238E27FC236}">
                  <a16:creationId xmlns:a16="http://schemas.microsoft.com/office/drawing/2014/main" id="{309CF1F0-6169-C771-067D-BF563E351410}"/>
                </a:ext>
              </a:extLst>
            </p:cNvPr>
            <p:cNvSpPr>
              <a:spLocks noChangeArrowheads="1"/>
            </p:cNvSpPr>
            <p:nvPr/>
          </p:nvSpPr>
          <p:spPr bwMode="auto">
            <a:xfrm>
              <a:off x="858838" y="3613150"/>
              <a:ext cx="363537" cy="346075"/>
            </a:xfrm>
            <a:prstGeom prst="ellipse">
              <a:avLst/>
            </a:prstGeom>
            <a:solidFill>
              <a:srgbClr val="FFFF00"/>
            </a:solidFill>
            <a:ln w="9525">
              <a:solidFill>
                <a:schemeClr val="tx1"/>
              </a:solidFill>
              <a:round/>
              <a:headEnd/>
              <a:tailEnd type="none" w="sm" len="sm"/>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5000"/>
                </a:lnSpc>
                <a:buFont typeface="Wingdings" panose="05000000000000000000" pitchFamily="2" charset="2"/>
                <a:buNone/>
              </a:pPr>
              <a:endParaRPr lang="en-US" altLang="en-US" sz="1600">
                <a:latin typeface="Roboto" panose="02000000000000000000" pitchFamily="2" charset="0"/>
                <a:ea typeface="Roboto" panose="02000000000000000000" pitchFamily="2" charset="0"/>
              </a:endParaRPr>
            </a:p>
          </p:txBody>
        </p:sp>
        <p:sp>
          <p:nvSpPr>
            <p:cNvPr id="30" name="Oval 17">
              <a:extLst>
                <a:ext uri="{FF2B5EF4-FFF2-40B4-BE49-F238E27FC236}">
                  <a16:creationId xmlns:a16="http://schemas.microsoft.com/office/drawing/2014/main" id="{71276577-A532-FDA0-D053-5FA332CDF365}"/>
                </a:ext>
              </a:extLst>
            </p:cNvPr>
            <p:cNvSpPr>
              <a:spLocks noChangeArrowheads="1"/>
            </p:cNvSpPr>
            <p:nvPr/>
          </p:nvSpPr>
          <p:spPr bwMode="auto">
            <a:xfrm>
              <a:off x="858838" y="4321175"/>
              <a:ext cx="363537" cy="346075"/>
            </a:xfrm>
            <a:prstGeom prst="ellipse">
              <a:avLst/>
            </a:prstGeom>
            <a:solidFill>
              <a:srgbClr val="FFFF00"/>
            </a:solidFill>
            <a:ln w="9525">
              <a:solidFill>
                <a:schemeClr val="tx1"/>
              </a:solidFill>
              <a:round/>
              <a:headEnd/>
              <a:tailEnd type="none" w="sm" len="sm"/>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5000"/>
                </a:lnSpc>
                <a:buFont typeface="Wingdings" panose="05000000000000000000" pitchFamily="2" charset="2"/>
                <a:buNone/>
              </a:pPr>
              <a:endParaRPr lang="en-US" altLang="en-US" sz="1600">
                <a:latin typeface="Roboto" panose="02000000000000000000" pitchFamily="2" charset="0"/>
                <a:ea typeface="Roboto" panose="02000000000000000000" pitchFamily="2" charset="0"/>
              </a:endParaRPr>
            </a:p>
          </p:txBody>
        </p:sp>
        <p:sp>
          <p:nvSpPr>
            <p:cNvPr id="31" name="Oval 18">
              <a:extLst>
                <a:ext uri="{FF2B5EF4-FFF2-40B4-BE49-F238E27FC236}">
                  <a16:creationId xmlns:a16="http://schemas.microsoft.com/office/drawing/2014/main" id="{CEB3F2E7-6EE1-3DA6-5DE7-B976973C5048}"/>
                </a:ext>
              </a:extLst>
            </p:cNvPr>
            <p:cNvSpPr>
              <a:spLocks noChangeArrowheads="1"/>
            </p:cNvSpPr>
            <p:nvPr/>
          </p:nvSpPr>
          <p:spPr bwMode="auto">
            <a:xfrm>
              <a:off x="874713" y="5003800"/>
              <a:ext cx="363537" cy="346075"/>
            </a:xfrm>
            <a:prstGeom prst="ellipse">
              <a:avLst/>
            </a:prstGeom>
            <a:solidFill>
              <a:srgbClr val="FFFF00"/>
            </a:solidFill>
            <a:ln w="9525">
              <a:solidFill>
                <a:schemeClr val="tx1"/>
              </a:solidFill>
              <a:round/>
              <a:headEnd/>
              <a:tailEnd type="none" w="sm" len="sm"/>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5000"/>
                </a:lnSpc>
                <a:buFont typeface="Wingdings" panose="05000000000000000000" pitchFamily="2" charset="2"/>
                <a:buNone/>
              </a:pPr>
              <a:endParaRPr lang="en-US" altLang="en-US" sz="1600">
                <a:latin typeface="Roboto" panose="02000000000000000000" pitchFamily="2" charset="0"/>
                <a:ea typeface="Roboto" panose="02000000000000000000" pitchFamily="2" charset="0"/>
              </a:endParaRPr>
            </a:p>
          </p:txBody>
        </p:sp>
        <p:sp>
          <p:nvSpPr>
            <p:cNvPr id="32" name="Oval 19">
              <a:extLst>
                <a:ext uri="{FF2B5EF4-FFF2-40B4-BE49-F238E27FC236}">
                  <a16:creationId xmlns:a16="http://schemas.microsoft.com/office/drawing/2014/main" id="{190115EA-DA21-7E5C-9529-AC14A854F974}"/>
                </a:ext>
              </a:extLst>
            </p:cNvPr>
            <p:cNvSpPr>
              <a:spLocks noChangeArrowheads="1"/>
            </p:cNvSpPr>
            <p:nvPr/>
          </p:nvSpPr>
          <p:spPr bwMode="auto">
            <a:xfrm>
              <a:off x="874713" y="5727700"/>
              <a:ext cx="363537" cy="346075"/>
            </a:xfrm>
            <a:prstGeom prst="ellipse">
              <a:avLst/>
            </a:prstGeom>
            <a:solidFill>
              <a:srgbClr val="FFFF00"/>
            </a:solidFill>
            <a:ln w="9525">
              <a:solidFill>
                <a:schemeClr val="tx1"/>
              </a:solidFill>
              <a:round/>
              <a:headEnd/>
              <a:tailEnd type="none" w="sm" len="sm"/>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5000"/>
                </a:lnSpc>
                <a:buFont typeface="Wingdings" panose="05000000000000000000" pitchFamily="2" charset="2"/>
                <a:buNone/>
              </a:pPr>
              <a:endParaRPr lang="en-US" altLang="en-US" sz="1600">
                <a:latin typeface="Roboto" panose="02000000000000000000" pitchFamily="2" charset="0"/>
                <a:ea typeface="Roboto" panose="02000000000000000000" pitchFamily="2" charset="0"/>
              </a:endParaRPr>
            </a:p>
          </p:txBody>
        </p:sp>
        <p:sp>
          <p:nvSpPr>
            <p:cNvPr id="33" name="Oval 20">
              <a:extLst>
                <a:ext uri="{FF2B5EF4-FFF2-40B4-BE49-F238E27FC236}">
                  <a16:creationId xmlns:a16="http://schemas.microsoft.com/office/drawing/2014/main" id="{98108F58-FCD3-F6FA-9172-37C1B6553E92}"/>
                </a:ext>
              </a:extLst>
            </p:cNvPr>
            <p:cNvSpPr>
              <a:spLocks noChangeArrowheads="1"/>
            </p:cNvSpPr>
            <p:nvPr/>
          </p:nvSpPr>
          <p:spPr bwMode="auto">
            <a:xfrm>
              <a:off x="1719263" y="4319588"/>
              <a:ext cx="363537" cy="346075"/>
            </a:xfrm>
            <a:prstGeom prst="ellipse">
              <a:avLst/>
            </a:prstGeom>
            <a:solidFill>
              <a:srgbClr val="FFFF00"/>
            </a:solidFill>
            <a:ln w="9525">
              <a:solidFill>
                <a:schemeClr val="tx1"/>
              </a:solidFill>
              <a:round/>
              <a:headEnd/>
              <a:tailEnd type="none" w="sm" len="sm"/>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5000"/>
                </a:lnSpc>
                <a:buFont typeface="Wingdings" panose="05000000000000000000" pitchFamily="2" charset="2"/>
                <a:buNone/>
              </a:pPr>
              <a:endParaRPr lang="en-US" altLang="en-US" sz="1600">
                <a:latin typeface="Roboto" panose="02000000000000000000" pitchFamily="2" charset="0"/>
                <a:ea typeface="Roboto" panose="02000000000000000000" pitchFamily="2" charset="0"/>
              </a:endParaRPr>
            </a:p>
          </p:txBody>
        </p:sp>
        <p:sp>
          <p:nvSpPr>
            <p:cNvPr id="34" name="Oval 21">
              <a:extLst>
                <a:ext uri="{FF2B5EF4-FFF2-40B4-BE49-F238E27FC236}">
                  <a16:creationId xmlns:a16="http://schemas.microsoft.com/office/drawing/2014/main" id="{F13F7388-E007-4B1E-BEB6-33A3CA91FB1A}"/>
                </a:ext>
              </a:extLst>
            </p:cNvPr>
            <p:cNvSpPr>
              <a:spLocks noChangeArrowheads="1"/>
            </p:cNvSpPr>
            <p:nvPr/>
          </p:nvSpPr>
          <p:spPr bwMode="auto">
            <a:xfrm>
              <a:off x="1711325" y="5003800"/>
              <a:ext cx="363538" cy="346075"/>
            </a:xfrm>
            <a:prstGeom prst="ellipse">
              <a:avLst/>
            </a:prstGeom>
            <a:solidFill>
              <a:srgbClr val="FFFF00"/>
            </a:solidFill>
            <a:ln w="9525">
              <a:solidFill>
                <a:schemeClr val="tx1"/>
              </a:solidFill>
              <a:round/>
              <a:headEnd/>
              <a:tailEnd type="none" w="sm" len="sm"/>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5000"/>
                </a:lnSpc>
                <a:buFont typeface="Wingdings" panose="05000000000000000000" pitchFamily="2" charset="2"/>
                <a:buNone/>
              </a:pPr>
              <a:endParaRPr lang="en-US" altLang="en-US" sz="1600">
                <a:latin typeface="Roboto" panose="02000000000000000000" pitchFamily="2" charset="0"/>
                <a:ea typeface="Roboto" panose="02000000000000000000" pitchFamily="2" charset="0"/>
              </a:endParaRPr>
            </a:p>
          </p:txBody>
        </p:sp>
        <p:sp>
          <p:nvSpPr>
            <p:cNvPr id="35" name="Oval 22">
              <a:extLst>
                <a:ext uri="{FF2B5EF4-FFF2-40B4-BE49-F238E27FC236}">
                  <a16:creationId xmlns:a16="http://schemas.microsoft.com/office/drawing/2014/main" id="{AEB052A9-0446-03A9-37D7-B58C7625B312}"/>
                </a:ext>
              </a:extLst>
            </p:cNvPr>
            <p:cNvSpPr>
              <a:spLocks noChangeArrowheads="1"/>
            </p:cNvSpPr>
            <p:nvPr/>
          </p:nvSpPr>
          <p:spPr bwMode="auto">
            <a:xfrm>
              <a:off x="1673225" y="5727700"/>
              <a:ext cx="363538" cy="346075"/>
            </a:xfrm>
            <a:prstGeom prst="ellipse">
              <a:avLst/>
            </a:prstGeom>
            <a:solidFill>
              <a:srgbClr val="FFFF00"/>
            </a:solidFill>
            <a:ln w="9525">
              <a:solidFill>
                <a:schemeClr val="tx1"/>
              </a:solidFill>
              <a:round/>
              <a:headEnd/>
              <a:tailEnd type="none" w="sm" len="sm"/>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5000"/>
                </a:lnSpc>
                <a:buFont typeface="Wingdings" panose="05000000000000000000" pitchFamily="2" charset="2"/>
                <a:buNone/>
              </a:pPr>
              <a:endParaRPr lang="en-US" altLang="en-US" sz="1600">
                <a:latin typeface="Roboto" panose="02000000000000000000" pitchFamily="2" charset="0"/>
                <a:ea typeface="Roboto" panose="02000000000000000000" pitchFamily="2" charset="0"/>
              </a:endParaRPr>
            </a:p>
          </p:txBody>
        </p:sp>
        <p:sp>
          <p:nvSpPr>
            <p:cNvPr id="36" name="Line 23">
              <a:extLst>
                <a:ext uri="{FF2B5EF4-FFF2-40B4-BE49-F238E27FC236}">
                  <a16:creationId xmlns:a16="http://schemas.microsoft.com/office/drawing/2014/main" id="{59F3FC0D-7EBB-02C2-CEEA-81961EC4507C}"/>
                </a:ext>
              </a:extLst>
            </p:cNvPr>
            <p:cNvSpPr>
              <a:spLocks noChangeShapeType="1"/>
            </p:cNvSpPr>
            <p:nvPr/>
          </p:nvSpPr>
          <p:spPr bwMode="auto">
            <a:xfrm>
              <a:off x="677863" y="5905500"/>
              <a:ext cx="1546225" cy="0"/>
            </a:xfrm>
            <a:prstGeom prst="line">
              <a:avLst/>
            </a:prstGeom>
            <a:noFill/>
            <a:ln w="28575">
              <a:solidFill>
                <a:schemeClr val="tx1"/>
              </a:solidFill>
              <a:round/>
              <a:headEnd/>
              <a:tailEnd type="none" w="sm" len="sm"/>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37" name="Line 24">
              <a:extLst>
                <a:ext uri="{FF2B5EF4-FFF2-40B4-BE49-F238E27FC236}">
                  <a16:creationId xmlns:a16="http://schemas.microsoft.com/office/drawing/2014/main" id="{6BEB30A7-2A19-8EB4-697C-BA8A6D3DA02B}"/>
                </a:ext>
              </a:extLst>
            </p:cNvPr>
            <p:cNvSpPr>
              <a:spLocks noChangeShapeType="1"/>
            </p:cNvSpPr>
            <p:nvPr/>
          </p:nvSpPr>
          <p:spPr bwMode="auto">
            <a:xfrm>
              <a:off x="701675" y="3795713"/>
              <a:ext cx="1081088" cy="0"/>
            </a:xfrm>
            <a:prstGeom prst="line">
              <a:avLst/>
            </a:prstGeom>
            <a:noFill/>
            <a:ln w="28575">
              <a:solidFill>
                <a:schemeClr val="tx1"/>
              </a:solidFill>
              <a:round/>
              <a:headEnd/>
              <a:tailEnd type="none" w="sm" len="sm"/>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38" name="Rectangle 25">
              <a:extLst>
                <a:ext uri="{FF2B5EF4-FFF2-40B4-BE49-F238E27FC236}">
                  <a16:creationId xmlns:a16="http://schemas.microsoft.com/office/drawing/2014/main" id="{15EC7D5C-2459-1990-DBC5-682C302D5506}"/>
                </a:ext>
              </a:extLst>
            </p:cNvPr>
            <p:cNvSpPr>
              <a:spLocks noChangeArrowheads="1"/>
            </p:cNvSpPr>
            <p:nvPr/>
          </p:nvSpPr>
          <p:spPr bwMode="auto">
            <a:xfrm>
              <a:off x="739775" y="4959350"/>
              <a:ext cx="1447800" cy="442913"/>
            </a:xfrm>
            <a:prstGeom prst="rect">
              <a:avLst/>
            </a:prstGeom>
            <a:noFill/>
            <a:ln w="28575">
              <a:solidFill>
                <a:schemeClr val="tx1"/>
              </a:solidFill>
              <a:miter lim="800000"/>
              <a:headEnd/>
              <a:tailEnd type="none" w="sm" len="sm"/>
            </a:ln>
            <a:extLst>
              <a:ext uri="{909E8E84-426E-40DD-AFC4-6F175D3DCCD1}">
                <a14:hiddenFill xmlns:a14="http://schemas.microsoft.com/office/drawing/2010/main">
                  <a:solidFill>
                    <a:srgbClr val="FFFFFF"/>
                  </a:solidFill>
                </a14:hiddenFill>
              </a:ext>
            </a:extLst>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5000"/>
                </a:lnSpc>
                <a:buFont typeface="Wingdings" panose="05000000000000000000" pitchFamily="2" charset="2"/>
                <a:buNone/>
              </a:pPr>
              <a:endParaRPr lang="en-US" altLang="en-US" sz="1600">
                <a:latin typeface="Roboto" panose="02000000000000000000" pitchFamily="2" charset="0"/>
                <a:ea typeface="Roboto" panose="02000000000000000000" pitchFamily="2" charset="0"/>
              </a:endParaRPr>
            </a:p>
          </p:txBody>
        </p:sp>
        <p:sp>
          <p:nvSpPr>
            <p:cNvPr id="39" name="Text Box 26">
              <a:extLst>
                <a:ext uri="{FF2B5EF4-FFF2-40B4-BE49-F238E27FC236}">
                  <a16:creationId xmlns:a16="http://schemas.microsoft.com/office/drawing/2014/main" id="{C79F06E4-35A5-03D2-7566-8F11AE02356B}"/>
                </a:ext>
              </a:extLst>
            </p:cNvPr>
            <p:cNvSpPr txBox="1">
              <a:spLocks noChangeArrowheads="1"/>
            </p:cNvSpPr>
            <p:nvPr/>
          </p:nvSpPr>
          <p:spPr bwMode="auto">
            <a:xfrm>
              <a:off x="2563813" y="2168525"/>
              <a:ext cx="1343025" cy="2664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80000"/>
                </a:lnSpc>
                <a:spcBef>
                  <a:spcPct val="20000"/>
                </a:spcBef>
                <a:spcAft>
                  <a:spcPct val="0"/>
                </a:spcAft>
                <a:buClrTx/>
                <a:buSzTx/>
                <a:buFontTx/>
                <a:buNone/>
              </a:pPr>
              <a:r>
                <a:rPr lang="en-US" altLang="en-US" sz="1400">
                  <a:latin typeface="Roboto" panose="02000000000000000000" pitchFamily="2" charset="0"/>
                  <a:ea typeface="Roboto" panose="02000000000000000000" pitchFamily="2" charset="0"/>
                </a:rPr>
                <a:t>Of Interest</a:t>
              </a:r>
            </a:p>
          </p:txBody>
        </p:sp>
        <p:sp>
          <p:nvSpPr>
            <p:cNvPr id="40" name="Text Box 27">
              <a:extLst>
                <a:ext uri="{FF2B5EF4-FFF2-40B4-BE49-F238E27FC236}">
                  <a16:creationId xmlns:a16="http://schemas.microsoft.com/office/drawing/2014/main" id="{CA3E223A-7BDC-4CAC-75C7-83C2EE3F8C92}"/>
                </a:ext>
              </a:extLst>
            </p:cNvPr>
            <p:cNvSpPr txBox="1">
              <a:spLocks noChangeArrowheads="1"/>
            </p:cNvSpPr>
            <p:nvPr/>
          </p:nvSpPr>
          <p:spPr bwMode="auto">
            <a:xfrm>
              <a:off x="2563813" y="2824163"/>
              <a:ext cx="1343025" cy="438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80000"/>
                </a:lnSpc>
                <a:spcBef>
                  <a:spcPct val="20000"/>
                </a:spcBef>
                <a:spcAft>
                  <a:spcPct val="0"/>
                </a:spcAft>
                <a:buClrTx/>
                <a:buSzTx/>
                <a:buFontTx/>
                <a:buNone/>
              </a:pPr>
              <a:r>
                <a:rPr lang="en-US" altLang="en-US" sz="1400">
                  <a:latin typeface="Roboto" panose="02000000000000000000" pitchFamily="2" charset="0"/>
                  <a:ea typeface="Roboto" panose="02000000000000000000" pitchFamily="2" charset="0"/>
                </a:rPr>
                <a:t>Under Preparation</a:t>
              </a:r>
            </a:p>
          </p:txBody>
        </p:sp>
        <p:sp>
          <p:nvSpPr>
            <p:cNvPr id="41" name="Text Box 28">
              <a:extLst>
                <a:ext uri="{FF2B5EF4-FFF2-40B4-BE49-F238E27FC236}">
                  <a16:creationId xmlns:a16="http://schemas.microsoft.com/office/drawing/2014/main" id="{BA700D2D-59CA-E6CD-A201-5419DB0452FE}"/>
                </a:ext>
              </a:extLst>
            </p:cNvPr>
            <p:cNvSpPr txBox="1">
              <a:spLocks noChangeArrowheads="1"/>
            </p:cNvSpPr>
            <p:nvPr/>
          </p:nvSpPr>
          <p:spPr bwMode="auto">
            <a:xfrm>
              <a:off x="2563813" y="3627438"/>
              <a:ext cx="1343025" cy="2664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80000"/>
                </a:lnSpc>
                <a:spcBef>
                  <a:spcPct val="20000"/>
                </a:spcBef>
                <a:spcAft>
                  <a:spcPct val="0"/>
                </a:spcAft>
                <a:buClrTx/>
                <a:buSzTx/>
                <a:buFontTx/>
                <a:buNone/>
              </a:pPr>
              <a:r>
                <a:rPr lang="en-US" altLang="en-US" sz="1400">
                  <a:latin typeface="Roboto" panose="02000000000000000000" pitchFamily="2" charset="0"/>
                  <a:ea typeface="Roboto" panose="02000000000000000000" pitchFamily="2" charset="0"/>
                </a:rPr>
                <a:t>Not Viable</a:t>
              </a:r>
            </a:p>
          </p:txBody>
        </p:sp>
        <p:sp>
          <p:nvSpPr>
            <p:cNvPr id="42" name="Text Box 29">
              <a:extLst>
                <a:ext uri="{FF2B5EF4-FFF2-40B4-BE49-F238E27FC236}">
                  <a16:creationId xmlns:a16="http://schemas.microsoft.com/office/drawing/2014/main" id="{7578071F-CE48-B542-DBB8-7B3C6AADBCAE}"/>
                </a:ext>
              </a:extLst>
            </p:cNvPr>
            <p:cNvSpPr txBox="1">
              <a:spLocks noChangeArrowheads="1"/>
            </p:cNvSpPr>
            <p:nvPr/>
          </p:nvSpPr>
          <p:spPr bwMode="auto">
            <a:xfrm>
              <a:off x="2563813" y="4295775"/>
              <a:ext cx="1343025" cy="2664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80000"/>
                </a:lnSpc>
                <a:spcBef>
                  <a:spcPct val="20000"/>
                </a:spcBef>
                <a:spcAft>
                  <a:spcPct val="0"/>
                </a:spcAft>
                <a:buClrTx/>
                <a:buSzTx/>
                <a:buFontTx/>
                <a:buNone/>
              </a:pPr>
              <a:r>
                <a:rPr lang="en-US" altLang="en-US" sz="1400">
                  <a:latin typeface="Roboto" panose="02000000000000000000" pitchFamily="2" charset="0"/>
                  <a:ea typeface="Roboto" panose="02000000000000000000" pitchFamily="2" charset="0"/>
                </a:rPr>
                <a:t>Under Test</a:t>
              </a:r>
            </a:p>
          </p:txBody>
        </p:sp>
        <p:sp>
          <p:nvSpPr>
            <p:cNvPr id="43" name="Text Box 30">
              <a:extLst>
                <a:ext uri="{FF2B5EF4-FFF2-40B4-BE49-F238E27FC236}">
                  <a16:creationId xmlns:a16="http://schemas.microsoft.com/office/drawing/2014/main" id="{C42EC7E6-8761-F8B9-07F1-B427AD2431FE}"/>
                </a:ext>
              </a:extLst>
            </p:cNvPr>
            <p:cNvSpPr txBox="1">
              <a:spLocks noChangeArrowheads="1"/>
            </p:cNvSpPr>
            <p:nvPr/>
          </p:nvSpPr>
          <p:spPr bwMode="auto">
            <a:xfrm>
              <a:off x="2563813" y="4964113"/>
              <a:ext cx="1343025" cy="438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80000"/>
                </a:lnSpc>
                <a:spcBef>
                  <a:spcPct val="20000"/>
                </a:spcBef>
                <a:spcAft>
                  <a:spcPct val="0"/>
                </a:spcAft>
                <a:buClrTx/>
                <a:buSzTx/>
                <a:buFontTx/>
                <a:buNone/>
              </a:pPr>
              <a:r>
                <a:rPr lang="en-US" altLang="en-US" sz="1400">
                  <a:latin typeface="Roboto" panose="02000000000000000000" pitchFamily="2" charset="0"/>
                  <a:ea typeface="Roboto" panose="02000000000000000000" pitchFamily="2" charset="0"/>
                </a:rPr>
                <a:t>Successful Test</a:t>
              </a:r>
            </a:p>
          </p:txBody>
        </p:sp>
        <p:sp>
          <p:nvSpPr>
            <p:cNvPr id="44" name="Text Box 31">
              <a:extLst>
                <a:ext uri="{FF2B5EF4-FFF2-40B4-BE49-F238E27FC236}">
                  <a16:creationId xmlns:a16="http://schemas.microsoft.com/office/drawing/2014/main" id="{1A77523C-AE49-C59E-7E1E-8D99FDD5D475}"/>
                </a:ext>
              </a:extLst>
            </p:cNvPr>
            <p:cNvSpPr txBox="1">
              <a:spLocks noChangeArrowheads="1"/>
            </p:cNvSpPr>
            <p:nvPr/>
          </p:nvSpPr>
          <p:spPr bwMode="auto">
            <a:xfrm>
              <a:off x="2563813" y="5624513"/>
              <a:ext cx="1343025" cy="438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80000"/>
                </a:lnSpc>
                <a:spcBef>
                  <a:spcPct val="20000"/>
                </a:spcBef>
                <a:spcAft>
                  <a:spcPct val="0"/>
                </a:spcAft>
                <a:buClrTx/>
                <a:buSzTx/>
                <a:buFontTx/>
                <a:buNone/>
              </a:pPr>
              <a:r>
                <a:rPr lang="en-US" altLang="en-US" sz="1400">
                  <a:latin typeface="Roboto" panose="02000000000000000000" pitchFamily="2" charset="0"/>
                  <a:ea typeface="Roboto" panose="02000000000000000000" pitchFamily="2" charset="0"/>
                </a:rPr>
                <a:t>Unsuccessful Test</a:t>
              </a:r>
            </a:p>
          </p:txBody>
        </p:sp>
        <p:sp>
          <p:nvSpPr>
            <p:cNvPr id="45" name="Text Box 32">
              <a:extLst>
                <a:ext uri="{FF2B5EF4-FFF2-40B4-BE49-F238E27FC236}">
                  <a16:creationId xmlns:a16="http://schemas.microsoft.com/office/drawing/2014/main" id="{3A5558E2-59C2-D0B1-D758-EE49B4765DDF}"/>
                </a:ext>
              </a:extLst>
            </p:cNvPr>
            <p:cNvSpPr txBox="1">
              <a:spLocks noChangeArrowheads="1"/>
            </p:cNvSpPr>
            <p:nvPr/>
          </p:nvSpPr>
          <p:spPr bwMode="auto">
            <a:xfrm>
              <a:off x="3995738" y="2030413"/>
              <a:ext cx="4706937" cy="573087"/>
            </a:xfrm>
            <a:prstGeom prst="rect">
              <a:avLst/>
            </a:prstGeom>
            <a:noFill/>
            <a:ln w="9525">
              <a:solidFill>
                <a:schemeClr val="tx1"/>
              </a:solidFill>
              <a:miter lim="800000"/>
              <a:headEnd/>
              <a:tailEnd type="none" w="sm" len="sm"/>
            </a:ln>
            <a:extLst>
              <a:ext uri="{909E8E84-426E-40DD-AFC4-6F175D3DCCD1}">
                <a14:hiddenFill xmlns:a14="http://schemas.microsoft.com/office/drawing/2010/main">
                  <a:solidFill>
                    <a:srgbClr val="FFFFFF"/>
                  </a:solidFill>
                </a14:hiddenFill>
              </a:ext>
            </a:extLst>
          </p:spPr>
          <p:txBody>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80000"/>
                </a:lnSpc>
                <a:spcAft>
                  <a:spcPct val="0"/>
                </a:spcAft>
                <a:buClrTx/>
                <a:buSzTx/>
                <a:buFontTx/>
                <a:buNone/>
              </a:pPr>
              <a:r>
                <a:rPr lang="en-US" altLang="en-US" sz="1300" b="0" dirty="0">
                  <a:latin typeface="Roboto" panose="02000000000000000000" pitchFamily="2" charset="0"/>
                  <a:ea typeface="Roboto" panose="02000000000000000000" pitchFamily="2" charset="0"/>
                </a:rPr>
                <a:t>The improvement has merit. It is visually marked for the purpose of consideration over cards that have no dots. No specific implementation action is required at this time.</a:t>
              </a:r>
            </a:p>
          </p:txBody>
        </p:sp>
        <p:sp>
          <p:nvSpPr>
            <p:cNvPr id="46" name="Text Box 33">
              <a:extLst>
                <a:ext uri="{FF2B5EF4-FFF2-40B4-BE49-F238E27FC236}">
                  <a16:creationId xmlns:a16="http://schemas.microsoft.com/office/drawing/2014/main" id="{FA5F6A51-E4F2-D7BB-C8F5-62A83F8E5C19}"/>
                </a:ext>
              </a:extLst>
            </p:cNvPr>
            <p:cNvSpPr txBox="1">
              <a:spLocks noChangeArrowheads="1"/>
            </p:cNvSpPr>
            <p:nvPr/>
          </p:nvSpPr>
          <p:spPr bwMode="auto">
            <a:xfrm>
              <a:off x="3995738" y="2730500"/>
              <a:ext cx="4706937" cy="573088"/>
            </a:xfrm>
            <a:prstGeom prst="rect">
              <a:avLst/>
            </a:prstGeom>
            <a:noFill/>
            <a:ln w="9525">
              <a:solidFill>
                <a:schemeClr val="tx1"/>
              </a:solidFill>
              <a:miter lim="800000"/>
              <a:headEnd/>
              <a:tailEnd type="none" w="sm" len="sm"/>
            </a:ln>
            <a:extLst>
              <a:ext uri="{909E8E84-426E-40DD-AFC4-6F175D3DCCD1}">
                <a14:hiddenFill xmlns:a14="http://schemas.microsoft.com/office/drawing/2010/main">
                  <a:solidFill>
                    <a:srgbClr val="FFFFFF"/>
                  </a:solidFill>
                </a14:hiddenFill>
              </a:ext>
            </a:extLst>
          </p:spPr>
          <p:txBody>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80000"/>
                </a:lnSpc>
                <a:spcAft>
                  <a:spcPct val="0"/>
                </a:spcAft>
                <a:buClrTx/>
                <a:buSzTx/>
                <a:buFontTx/>
                <a:buNone/>
              </a:pPr>
              <a:r>
                <a:rPr lang="en-US" altLang="en-US" sz="1300" b="0" dirty="0">
                  <a:latin typeface="Roboto" panose="02000000000000000000" pitchFamily="2" charset="0"/>
                  <a:ea typeface="Roboto" panose="02000000000000000000" pitchFamily="2" charset="0"/>
                </a:rPr>
                <a:t>The improvement has been selected for implementation and activities to put the improvement in place are underway, including. validation of the related Facts and feasibility of the improvement.</a:t>
              </a:r>
            </a:p>
          </p:txBody>
        </p:sp>
        <p:sp>
          <p:nvSpPr>
            <p:cNvPr id="47" name="Text Box 34">
              <a:extLst>
                <a:ext uri="{FF2B5EF4-FFF2-40B4-BE49-F238E27FC236}">
                  <a16:creationId xmlns:a16="http://schemas.microsoft.com/office/drawing/2014/main" id="{809C1115-8C90-EA65-115B-2DA64A238389}"/>
                </a:ext>
              </a:extLst>
            </p:cNvPr>
            <p:cNvSpPr txBox="1">
              <a:spLocks noChangeArrowheads="1"/>
            </p:cNvSpPr>
            <p:nvPr/>
          </p:nvSpPr>
          <p:spPr bwMode="auto">
            <a:xfrm>
              <a:off x="3995738" y="3432175"/>
              <a:ext cx="4706937" cy="573088"/>
            </a:xfrm>
            <a:prstGeom prst="rect">
              <a:avLst/>
            </a:prstGeom>
            <a:noFill/>
            <a:ln w="9525">
              <a:solidFill>
                <a:schemeClr val="tx1"/>
              </a:solidFill>
              <a:miter lim="800000"/>
              <a:headEnd/>
              <a:tailEnd type="none" w="sm" len="sm"/>
            </a:ln>
            <a:extLst>
              <a:ext uri="{909E8E84-426E-40DD-AFC4-6F175D3DCCD1}">
                <a14:hiddenFill xmlns:a14="http://schemas.microsoft.com/office/drawing/2010/main">
                  <a:solidFill>
                    <a:srgbClr val="FFFFFF"/>
                  </a:solidFill>
                </a14:hiddenFill>
              </a:ext>
            </a:extLst>
          </p:spPr>
          <p:txBody>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80000"/>
                </a:lnSpc>
                <a:spcAft>
                  <a:spcPct val="0"/>
                </a:spcAft>
                <a:buClrTx/>
                <a:buSzTx/>
                <a:buFontTx/>
                <a:buNone/>
              </a:pPr>
              <a:r>
                <a:rPr lang="en-US" altLang="en-US" sz="1300" b="0" dirty="0">
                  <a:latin typeface="Roboto" panose="02000000000000000000" pitchFamily="2" charset="0"/>
                  <a:ea typeface="Roboto" panose="02000000000000000000" pitchFamily="2" charset="0"/>
                </a:rPr>
                <a:t>During the preparation process, it has been determined that the FACT cards could not be substantiated to support the improvement, or this is not feasible or cost effective to implement.</a:t>
              </a:r>
            </a:p>
          </p:txBody>
        </p:sp>
        <p:sp>
          <p:nvSpPr>
            <p:cNvPr id="48" name="Text Box 35">
              <a:extLst>
                <a:ext uri="{FF2B5EF4-FFF2-40B4-BE49-F238E27FC236}">
                  <a16:creationId xmlns:a16="http://schemas.microsoft.com/office/drawing/2014/main" id="{1174B96D-C8D6-AC0D-5BBC-5460C6B6B544}"/>
                </a:ext>
              </a:extLst>
            </p:cNvPr>
            <p:cNvSpPr txBox="1">
              <a:spLocks noChangeArrowheads="1"/>
            </p:cNvSpPr>
            <p:nvPr/>
          </p:nvSpPr>
          <p:spPr bwMode="auto">
            <a:xfrm>
              <a:off x="3995738" y="4132263"/>
              <a:ext cx="4706937" cy="573087"/>
            </a:xfrm>
            <a:prstGeom prst="rect">
              <a:avLst/>
            </a:prstGeom>
            <a:noFill/>
            <a:ln w="9525">
              <a:solidFill>
                <a:schemeClr val="tx1"/>
              </a:solidFill>
              <a:miter lim="800000"/>
              <a:headEnd/>
              <a:tailEnd type="none" w="sm" len="sm"/>
            </a:ln>
            <a:extLst>
              <a:ext uri="{909E8E84-426E-40DD-AFC4-6F175D3DCCD1}">
                <a14:hiddenFill xmlns:a14="http://schemas.microsoft.com/office/drawing/2010/main">
                  <a:solidFill>
                    <a:srgbClr val="FFFFFF"/>
                  </a:solidFill>
                </a14:hiddenFill>
              </a:ext>
            </a:extLst>
          </p:spPr>
          <p:txBody>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80000"/>
                </a:lnSpc>
                <a:spcAft>
                  <a:spcPct val="0"/>
                </a:spcAft>
                <a:buClrTx/>
                <a:buSzTx/>
                <a:buFontTx/>
                <a:buNone/>
              </a:pPr>
              <a:r>
                <a:rPr lang="en-US" altLang="en-US" sz="1300" b="0" dirty="0">
                  <a:latin typeface="Roboto" panose="02000000000000000000" pitchFamily="2" charset="0"/>
                  <a:ea typeface="Roboto" panose="02000000000000000000" pitchFamily="2" charset="0"/>
                </a:rPr>
                <a:t>The improvement </a:t>
              </a:r>
              <a:r>
                <a:rPr lang="en-US" altLang="en-US" sz="1300" b="0" u="sng" dirty="0">
                  <a:latin typeface="Roboto" panose="02000000000000000000" pitchFamily="2" charset="0"/>
                  <a:ea typeface="Roboto" panose="02000000000000000000" pitchFamily="2" charset="0"/>
                </a:rPr>
                <a:t>has</a:t>
              </a:r>
              <a:r>
                <a:rPr lang="en-US" altLang="en-US" sz="1300" b="0" dirty="0">
                  <a:latin typeface="Roboto" panose="02000000000000000000" pitchFamily="2" charset="0"/>
                  <a:ea typeface="Roboto" panose="02000000000000000000" pitchFamily="2" charset="0"/>
                </a:rPr>
                <a:t> </a:t>
              </a:r>
              <a:r>
                <a:rPr lang="en-US" altLang="en-US" sz="1300" b="0" u="sng" dirty="0">
                  <a:latin typeface="Roboto" panose="02000000000000000000" pitchFamily="2" charset="0"/>
                  <a:ea typeface="Roboto" panose="02000000000000000000" pitchFamily="2" charset="0"/>
                </a:rPr>
                <a:t>been</a:t>
              </a:r>
              <a:r>
                <a:rPr lang="en-US" altLang="en-US" sz="1300" b="0" dirty="0">
                  <a:latin typeface="Roboto" panose="02000000000000000000" pitchFamily="2" charset="0"/>
                  <a:ea typeface="Roboto" panose="02000000000000000000" pitchFamily="2" charset="0"/>
                </a:rPr>
                <a:t> </a:t>
              </a:r>
              <a:r>
                <a:rPr lang="en-US" altLang="en-US" sz="1300" b="0" u="sng" dirty="0">
                  <a:latin typeface="Roboto" panose="02000000000000000000" pitchFamily="2" charset="0"/>
                  <a:ea typeface="Roboto" panose="02000000000000000000" pitchFamily="2" charset="0"/>
                </a:rPr>
                <a:t>implemented</a:t>
              </a:r>
              <a:r>
                <a:rPr lang="en-US" altLang="en-US" sz="1300" b="0" dirty="0">
                  <a:latin typeface="Roboto" panose="02000000000000000000" pitchFamily="2" charset="0"/>
                  <a:ea typeface="Roboto" panose="02000000000000000000" pitchFamily="2" charset="0"/>
                </a:rPr>
                <a:t>, either completely, or in a pilot mode, in a way that its effectiveness as a countermeasure can be tested using the problem </a:t>
              </a:r>
              <a:r>
                <a:rPr lang="ja-JP" altLang="en-US" sz="1300" b="0" dirty="0">
                  <a:latin typeface="Roboto" panose="02000000000000000000" pitchFamily="2" charset="0"/>
                </a:rPr>
                <a:t>“</a:t>
              </a:r>
              <a:r>
                <a:rPr lang="en-US" altLang="ja-JP" sz="1300" b="0" dirty="0">
                  <a:latin typeface="Roboto" panose="02000000000000000000" pitchFamily="2" charset="0"/>
                  <a:ea typeface="Roboto" panose="02000000000000000000" pitchFamily="2" charset="0"/>
                </a:rPr>
                <a:t>effect</a:t>
              </a:r>
              <a:r>
                <a:rPr lang="ja-JP" altLang="en-US" sz="1300" b="0" dirty="0">
                  <a:latin typeface="Roboto" panose="02000000000000000000" pitchFamily="2" charset="0"/>
                </a:rPr>
                <a:t>”</a:t>
              </a:r>
              <a:r>
                <a:rPr lang="en-US" altLang="ja-JP" sz="1300" b="0" dirty="0">
                  <a:latin typeface="Roboto" panose="02000000000000000000" pitchFamily="2" charset="0"/>
                  <a:ea typeface="Roboto" panose="02000000000000000000" pitchFamily="2" charset="0"/>
                </a:rPr>
                <a:t> metric.</a:t>
              </a:r>
              <a:endParaRPr lang="en-US" altLang="en-US" sz="1300" b="0" dirty="0">
                <a:latin typeface="Roboto" panose="02000000000000000000" pitchFamily="2" charset="0"/>
                <a:ea typeface="Roboto" panose="02000000000000000000" pitchFamily="2" charset="0"/>
              </a:endParaRPr>
            </a:p>
          </p:txBody>
        </p:sp>
        <p:sp>
          <p:nvSpPr>
            <p:cNvPr id="49" name="Text Box 36">
              <a:extLst>
                <a:ext uri="{FF2B5EF4-FFF2-40B4-BE49-F238E27FC236}">
                  <a16:creationId xmlns:a16="http://schemas.microsoft.com/office/drawing/2014/main" id="{4FFC255C-1FFC-5093-C97B-E60AEEB32568}"/>
                </a:ext>
              </a:extLst>
            </p:cNvPr>
            <p:cNvSpPr txBox="1">
              <a:spLocks noChangeArrowheads="1"/>
            </p:cNvSpPr>
            <p:nvPr/>
          </p:nvSpPr>
          <p:spPr bwMode="auto">
            <a:xfrm>
              <a:off x="3995738" y="4833938"/>
              <a:ext cx="4706937" cy="573087"/>
            </a:xfrm>
            <a:prstGeom prst="rect">
              <a:avLst/>
            </a:prstGeom>
            <a:noFill/>
            <a:ln w="9525">
              <a:solidFill>
                <a:schemeClr val="tx1"/>
              </a:solidFill>
              <a:miter lim="800000"/>
              <a:headEnd/>
              <a:tailEnd type="none" w="sm" len="sm"/>
            </a:ln>
            <a:extLst>
              <a:ext uri="{909E8E84-426E-40DD-AFC4-6F175D3DCCD1}">
                <a14:hiddenFill xmlns:a14="http://schemas.microsoft.com/office/drawing/2010/main">
                  <a:solidFill>
                    <a:srgbClr val="FFFFFF"/>
                  </a:solidFill>
                </a14:hiddenFill>
              </a:ext>
            </a:extLst>
          </p:spPr>
          <p:txBody>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80000"/>
                </a:lnSpc>
                <a:spcAft>
                  <a:spcPct val="0"/>
                </a:spcAft>
                <a:buClrTx/>
                <a:buSzTx/>
                <a:buFontTx/>
                <a:buNone/>
              </a:pPr>
              <a:r>
                <a:rPr lang="en-US" altLang="en-US" sz="1300" b="0" dirty="0">
                  <a:latin typeface="Roboto" panose="02000000000000000000" pitchFamily="2" charset="0"/>
                  <a:ea typeface="Roboto" panose="02000000000000000000" pitchFamily="2" charset="0"/>
                </a:rPr>
                <a:t>The implemented improvement has been validated as being effective in completely or partially solving the problem, as measured by the problem </a:t>
              </a:r>
              <a:r>
                <a:rPr lang="ja-JP" altLang="en-US" sz="1300" b="0" dirty="0">
                  <a:latin typeface="Roboto" panose="02000000000000000000" pitchFamily="2" charset="0"/>
                </a:rPr>
                <a:t>“</a:t>
              </a:r>
              <a:r>
                <a:rPr lang="en-US" altLang="ja-JP" sz="1300" b="0" dirty="0">
                  <a:latin typeface="Roboto" panose="02000000000000000000" pitchFamily="2" charset="0"/>
                  <a:ea typeface="Roboto" panose="02000000000000000000" pitchFamily="2" charset="0"/>
                </a:rPr>
                <a:t>effect</a:t>
              </a:r>
              <a:r>
                <a:rPr lang="ja-JP" altLang="en-US" sz="1300" b="0" dirty="0">
                  <a:latin typeface="Roboto" panose="02000000000000000000" pitchFamily="2" charset="0"/>
                </a:rPr>
                <a:t>”</a:t>
              </a:r>
              <a:r>
                <a:rPr lang="en-US" altLang="ja-JP" sz="1300" b="0" dirty="0">
                  <a:latin typeface="Roboto" panose="02000000000000000000" pitchFamily="2" charset="0"/>
                  <a:ea typeface="Roboto" panose="02000000000000000000" pitchFamily="2" charset="0"/>
                </a:rPr>
                <a:t> metric.</a:t>
              </a:r>
              <a:endParaRPr lang="en-US" altLang="en-US" sz="1300" b="0" dirty="0">
                <a:latin typeface="Roboto" panose="02000000000000000000" pitchFamily="2" charset="0"/>
                <a:ea typeface="Roboto" panose="02000000000000000000" pitchFamily="2" charset="0"/>
              </a:endParaRPr>
            </a:p>
          </p:txBody>
        </p:sp>
        <p:sp>
          <p:nvSpPr>
            <p:cNvPr id="50" name="Text Box 37">
              <a:extLst>
                <a:ext uri="{FF2B5EF4-FFF2-40B4-BE49-F238E27FC236}">
                  <a16:creationId xmlns:a16="http://schemas.microsoft.com/office/drawing/2014/main" id="{BA83E070-1B4F-FFE3-F5D3-C9FC9A4A4BED}"/>
                </a:ext>
              </a:extLst>
            </p:cNvPr>
            <p:cNvSpPr txBox="1">
              <a:spLocks noChangeArrowheads="1"/>
            </p:cNvSpPr>
            <p:nvPr/>
          </p:nvSpPr>
          <p:spPr bwMode="auto">
            <a:xfrm>
              <a:off x="3995738" y="5535613"/>
              <a:ext cx="4706937" cy="573087"/>
            </a:xfrm>
            <a:prstGeom prst="rect">
              <a:avLst/>
            </a:prstGeom>
            <a:noFill/>
            <a:ln w="9525">
              <a:solidFill>
                <a:schemeClr val="tx1"/>
              </a:solidFill>
              <a:miter lim="800000"/>
              <a:headEnd/>
              <a:tailEnd type="none" w="sm" len="sm"/>
            </a:ln>
            <a:extLst>
              <a:ext uri="{909E8E84-426E-40DD-AFC4-6F175D3DCCD1}">
                <a14:hiddenFill xmlns:a14="http://schemas.microsoft.com/office/drawing/2010/main">
                  <a:solidFill>
                    <a:srgbClr val="FFFFFF"/>
                  </a:solidFill>
                </a14:hiddenFill>
              </a:ext>
            </a:extLst>
          </p:spPr>
          <p:txBody>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80000"/>
                </a:lnSpc>
                <a:spcAft>
                  <a:spcPct val="0"/>
                </a:spcAft>
                <a:buClrTx/>
                <a:buSzTx/>
                <a:buFontTx/>
                <a:buNone/>
              </a:pPr>
              <a:r>
                <a:rPr lang="en-US" altLang="en-US" sz="1300" b="0" dirty="0">
                  <a:latin typeface="Roboto" panose="02000000000000000000" pitchFamily="2" charset="0"/>
                  <a:ea typeface="Roboto" panose="02000000000000000000" pitchFamily="2" charset="0"/>
                </a:rPr>
                <a:t>The implemented improvement has not had a positive effect on solving the problem. It may need to be backed out if it has added cost to the process without associated benefit.</a:t>
              </a:r>
            </a:p>
          </p:txBody>
        </p:sp>
        <p:sp>
          <p:nvSpPr>
            <p:cNvPr id="51" name="Freeform 38">
              <a:extLst>
                <a:ext uri="{FF2B5EF4-FFF2-40B4-BE49-F238E27FC236}">
                  <a16:creationId xmlns:a16="http://schemas.microsoft.com/office/drawing/2014/main" id="{C96A35AE-7420-CD38-0492-3BF424584094}"/>
                </a:ext>
              </a:extLst>
            </p:cNvPr>
            <p:cNvSpPr>
              <a:spLocks/>
            </p:cNvSpPr>
            <p:nvPr/>
          </p:nvSpPr>
          <p:spPr bwMode="auto">
            <a:xfrm>
              <a:off x="442913" y="1316038"/>
              <a:ext cx="2073275" cy="623887"/>
            </a:xfrm>
            <a:custGeom>
              <a:avLst/>
              <a:gdLst>
                <a:gd name="T0" fmla="*/ 0 w 1622"/>
                <a:gd name="T1" fmla="*/ 2147483646 h 475"/>
                <a:gd name="T2" fmla="*/ 0 w 1622"/>
                <a:gd name="T3" fmla="*/ 2147483646 h 475"/>
                <a:gd name="T4" fmla="*/ 2147483646 w 1622"/>
                <a:gd name="T5" fmla="*/ 2147483646 h 475"/>
                <a:gd name="T6" fmla="*/ 2147483646 w 1622"/>
                <a:gd name="T7" fmla="*/ 2147483646 h 475"/>
                <a:gd name="T8" fmla="*/ 2147483646 w 1622"/>
                <a:gd name="T9" fmla="*/ 2147483646 h 475"/>
                <a:gd name="T10" fmla="*/ 2147483646 w 1622"/>
                <a:gd name="T11" fmla="*/ 2147483646 h 475"/>
                <a:gd name="T12" fmla="*/ 2147483646 w 1622"/>
                <a:gd name="T13" fmla="*/ 2147483646 h 475"/>
                <a:gd name="T14" fmla="*/ 2147483646 w 1622"/>
                <a:gd name="T15" fmla="*/ 2147483646 h 475"/>
                <a:gd name="T16" fmla="*/ 2147483646 w 1622"/>
                <a:gd name="T17" fmla="*/ 2147483646 h 475"/>
                <a:gd name="T18" fmla="*/ 2147483646 w 1622"/>
                <a:gd name="T19" fmla="*/ 2147483646 h 475"/>
                <a:gd name="T20" fmla="*/ 2147483646 w 1622"/>
                <a:gd name="T21" fmla="*/ 2147483646 h 475"/>
                <a:gd name="T22" fmla="*/ 2147483646 w 1622"/>
                <a:gd name="T23" fmla="*/ 2147483646 h 475"/>
                <a:gd name="T24" fmla="*/ 2147483646 w 1622"/>
                <a:gd name="T25" fmla="*/ 2147483646 h 475"/>
                <a:gd name="T26" fmla="*/ 2147483646 w 1622"/>
                <a:gd name="T27" fmla="*/ 2147483646 h 475"/>
                <a:gd name="T28" fmla="*/ 2147483646 w 1622"/>
                <a:gd name="T29" fmla="*/ 2147483646 h 475"/>
                <a:gd name="T30" fmla="*/ 2147483646 w 1622"/>
                <a:gd name="T31" fmla="*/ 2147483646 h 475"/>
                <a:gd name="T32" fmla="*/ 2147483646 w 1622"/>
                <a:gd name="T33" fmla="*/ 2147483646 h 475"/>
                <a:gd name="T34" fmla="*/ 2147483646 w 1622"/>
                <a:gd name="T35" fmla="*/ 2147483646 h 475"/>
                <a:gd name="T36" fmla="*/ 2147483646 w 1622"/>
                <a:gd name="T37" fmla="*/ 2147483646 h 475"/>
                <a:gd name="T38" fmla="*/ 2147483646 w 1622"/>
                <a:gd name="T39" fmla="*/ 2147483646 h 475"/>
                <a:gd name="T40" fmla="*/ 2147483646 w 1622"/>
                <a:gd name="T41" fmla="*/ 2147483646 h 475"/>
                <a:gd name="T42" fmla="*/ 2147483646 w 1622"/>
                <a:gd name="T43" fmla="*/ 2147483646 h 475"/>
                <a:gd name="T44" fmla="*/ 2147483646 w 1622"/>
                <a:gd name="T45" fmla="*/ 2147483646 h 475"/>
                <a:gd name="T46" fmla="*/ 2147483646 w 1622"/>
                <a:gd name="T47" fmla="*/ 0 h 475"/>
                <a:gd name="T48" fmla="*/ 2147483646 w 1622"/>
                <a:gd name="T49" fmla="*/ 2147483646 h 475"/>
                <a:gd name="T50" fmla="*/ 0 w 1622"/>
                <a:gd name="T51" fmla="*/ 2147483646 h 475"/>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1622" h="475">
                  <a:moveTo>
                    <a:pt x="0" y="24"/>
                  </a:moveTo>
                  <a:lnTo>
                    <a:pt x="0" y="475"/>
                  </a:lnTo>
                  <a:lnTo>
                    <a:pt x="1622" y="475"/>
                  </a:lnTo>
                  <a:lnTo>
                    <a:pt x="1622" y="15"/>
                  </a:lnTo>
                  <a:lnTo>
                    <a:pt x="1555" y="72"/>
                  </a:lnTo>
                  <a:lnTo>
                    <a:pt x="1507" y="24"/>
                  </a:lnTo>
                  <a:lnTo>
                    <a:pt x="1421" y="67"/>
                  </a:lnTo>
                  <a:lnTo>
                    <a:pt x="1349" y="39"/>
                  </a:lnTo>
                  <a:lnTo>
                    <a:pt x="1210" y="58"/>
                  </a:lnTo>
                  <a:lnTo>
                    <a:pt x="1147" y="39"/>
                  </a:lnTo>
                  <a:lnTo>
                    <a:pt x="1066" y="67"/>
                  </a:lnTo>
                  <a:lnTo>
                    <a:pt x="989" y="48"/>
                  </a:lnTo>
                  <a:lnTo>
                    <a:pt x="931" y="91"/>
                  </a:lnTo>
                  <a:lnTo>
                    <a:pt x="850" y="24"/>
                  </a:lnTo>
                  <a:lnTo>
                    <a:pt x="782" y="63"/>
                  </a:lnTo>
                  <a:lnTo>
                    <a:pt x="730" y="29"/>
                  </a:lnTo>
                  <a:lnTo>
                    <a:pt x="614" y="63"/>
                  </a:lnTo>
                  <a:lnTo>
                    <a:pt x="595" y="29"/>
                  </a:lnTo>
                  <a:lnTo>
                    <a:pt x="480" y="72"/>
                  </a:lnTo>
                  <a:lnTo>
                    <a:pt x="403" y="29"/>
                  </a:lnTo>
                  <a:lnTo>
                    <a:pt x="317" y="58"/>
                  </a:lnTo>
                  <a:lnTo>
                    <a:pt x="259" y="10"/>
                  </a:lnTo>
                  <a:lnTo>
                    <a:pt x="202" y="34"/>
                  </a:lnTo>
                  <a:lnTo>
                    <a:pt x="149" y="0"/>
                  </a:lnTo>
                  <a:lnTo>
                    <a:pt x="110" y="39"/>
                  </a:lnTo>
                  <a:lnTo>
                    <a:pt x="0" y="24"/>
                  </a:lnTo>
                  <a:close/>
                </a:path>
              </a:pathLst>
            </a:custGeom>
            <a:solidFill>
              <a:srgbClr val="66CCFF"/>
            </a:solidFill>
            <a:ln w="12700" cap="flat" cmpd="sng">
              <a:solidFill>
                <a:schemeClr val="tx1"/>
              </a:solidFill>
              <a:prstDash val="solid"/>
              <a:round/>
              <a:headEnd type="none" w="med" len="med"/>
              <a:tailEnd type="none" w="sm" len="sm"/>
            </a:ln>
          </p:spPr>
          <p:txBody>
            <a:bodyPr/>
            <a:lstStyle/>
            <a:p>
              <a:endParaRPr lang="en-US">
                <a:latin typeface="Roboto" panose="02000000000000000000" pitchFamily="2" charset="0"/>
                <a:ea typeface="Roboto" panose="02000000000000000000" pitchFamily="2" charset="0"/>
              </a:endParaRPr>
            </a:p>
          </p:txBody>
        </p:sp>
        <p:sp>
          <p:nvSpPr>
            <p:cNvPr id="52" name="Text Box 39">
              <a:extLst>
                <a:ext uri="{FF2B5EF4-FFF2-40B4-BE49-F238E27FC236}">
                  <a16:creationId xmlns:a16="http://schemas.microsoft.com/office/drawing/2014/main" id="{0CC5474A-2603-D899-281B-9975B454ADB3}"/>
                </a:ext>
              </a:extLst>
            </p:cNvPr>
            <p:cNvSpPr txBox="1">
              <a:spLocks noChangeArrowheads="1"/>
            </p:cNvSpPr>
            <p:nvPr/>
          </p:nvSpPr>
          <p:spPr bwMode="auto">
            <a:xfrm>
              <a:off x="2557463" y="1484313"/>
              <a:ext cx="1411287" cy="2664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80000"/>
                </a:lnSpc>
                <a:spcBef>
                  <a:spcPct val="20000"/>
                </a:spcBef>
                <a:spcAft>
                  <a:spcPct val="0"/>
                </a:spcAft>
                <a:buClrTx/>
                <a:buSzTx/>
                <a:buFontTx/>
                <a:buNone/>
              </a:pPr>
              <a:r>
                <a:rPr lang="en-US" altLang="en-US" sz="1400" dirty="0">
                  <a:latin typeface="Roboto" panose="02000000000000000000" pitchFamily="2" charset="0"/>
                  <a:ea typeface="Roboto" panose="02000000000000000000" pitchFamily="2" charset="0"/>
                </a:rPr>
                <a:t>Not of Interest</a:t>
              </a:r>
            </a:p>
          </p:txBody>
        </p:sp>
        <p:sp>
          <p:nvSpPr>
            <p:cNvPr id="53" name="Text Box 40">
              <a:extLst>
                <a:ext uri="{FF2B5EF4-FFF2-40B4-BE49-F238E27FC236}">
                  <a16:creationId xmlns:a16="http://schemas.microsoft.com/office/drawing/2014/main" id="{68B40AE2-85B0-307D-C3E5-FE2B7036539E}"/>
                </a:ext>
              </a:extLst>
            </p:cNvPr>
            <p:cNvSpPr txBox="1">
              <a:spLocks noChangeArrowheads="1"/>
            </p:cNvSpPr>
            <p:nvPr/>
          </p:nvSpPr>
          <p:spPr bwMode="auto">
            <a:xfrm>
              <a:off x="4002088" y="1338263"/>
              <a:ext cx="4706937" cy="573087"/>
            </a:xfrm>
            <a:prstGeom prst="rect">
              <a:avLst/>
            </a:prstGeom>
            <a:noFill/>
            <a:ln w="9525">
              <a:solidFill>
                <a:schemeClr val="tx1"/>
              </a:solidFill>
              <a:miter lim="800000"/>
              <a:headEnd/>
              <a:tailEnd type="none" w="sm" len="sm"/>
            </a:ln>
            <a:extLst>
              <a:ext uri="{909E8E84-426E-40DD-AFC4-6F175D3DCCD1}">
                <a14:hiddenFill xmlns:a14="http://schemas.microsoft.com/office/drawing/2010/main">
                  <a:solidFill>
                    <a:srgbClr val="FFFFFF"/>
                  </a:solidFill>
                </a14:hiddenFill>
              </a:ext>
            </a:extLst>
          </p:spPr>
          <p:txBody>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80000"/>
                </a:lnSpc>
                <a:spcAft>
                  <a:spcPct val="0"/>
                </a:spcAft>
                <a:buClrTx/>
                <a:buSzTx/>
                <a:buFontTx/>
                <a:buNone/>
              </a:pPr>
              <a:r>
                <a:rPr lang="en-US" altLang="en-US" sz="1300" b="0" dirty="0">
                  <a:latin typeface="Roboto" panose="02000000000000000000" pitchFamily="2" charset="0"/>
                  <a:ea typeface="Roboto" panose="02000000000000000000" pitchFamily="2" charset="0"/>
                </a:rPr>
                <a:t>The improvement has been reviewed but is not being considered at the current point in time. It may be reconsidered in the future as other improvements are acted upon.</a:t>
              </a:r>
            </a:p>
          </p:txBody>
        </p:sp>
      </p:grpSp>
    </p:spTree>
    <p:extLst>
      <p:ext uri="{BB962C8B-B14F-4D97-AF65-F5344CB8AC3E}">
        <p14:creationId xmlns:p14="http://schemas.microsoft.com/office/powerpoint/2010/main" val="629057734"/>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noAutofit/>
          </a:bodyPr>
          <a:lstStyle/>
          <a:p>
            <a:r>
              <a:rPr lang="en-US" sz="3200" dirty="0"/>
              <a:t>Process for Prioritization of the IMPROVEMENT Cards</a:t>
            </a:r>
          </a:p>
        </p:txBody>
      </p:sp>
      <p:sp>
        <p:nvSpPr>
          <p:cNvPr id="3" name="Content Placeholder 2">
            <a:extLst>
              <a:ext uri="{FF2B5EF4-FFF2-40B4-BE49-F238E27FC236}">
                <a16:creationId xmlns:a16="http://schemas.microsoft.com/office/drawing/2014/main" id="{2AA7A201-AD05-6520-E140-CCF11E59E700}"/>
              </a:ext>
            </a:extLst>
          </p:cNvPr>
          <p:cNvSpPr>
            <a:spLocks noGrp="1"/>
          </p:cNvSpPr>
          <p:nvPr>
            <p:ph idx="1"/>
          </p:nvPr>
        </p:nvSpPr>
        <p:spPr/>
        <p:txBody>
          <a:bodyPr>
            <a:normAutofit fontScale="92500"/>
          </a:bodyPr>
          <a:lstStyle/>
          <a:p>
            <a:r>
              <a:rPr lang="en-US" dirty="0"/>
              <a:t>One quick and easy method for prioritization of actions to test is to place the improvement card number on a quadrant chart, where:</a:t>
            </a:r>
          </a:p>
          <a:p>
            <a:pPr lvl="1"/>
            <a:r>
              <a:rPr lang="en-US" dirty="0"/>
              <a:t>One axis = “Ease of implementation”</a:t>
            </a:r>
          </a:p>
          <a:p>
            <a:pPr lvl="1"/>
            <a:r>
              <a:rPr lang="en-US" dirty="0"/>
              <a:t>Second axis = “Impact” to target or objective</a:t>
            </a:r>
          </a:p>
          <a:p>
            <a:endParaRPr lang="en-US" dirty="0"/>
          </a:p>
          <a:p>
            <a:r>
              <a:rPr lang="en-US" dirty="0"/>
              <a:t>Prioritize actions that are “easy to implement” with “high impact” first</a:t>
            </a:r>
          </a:p>
          <a:p>
            <a:r>
              <a:rPr lang="en-US" dirty="0"/>
              <a:t>Then select actions within the “difficult to implement”/”high impact” and “easy to implement”/”low impact” next</a:t>
            </a:r>
          </a:p>
          <a:p>
            <a:r>
              <a:rPr lang="en-US" dirty="0"/>
              <a:t>Re-evaluate improvement cards that fall within the “difficult to implement” and “low impact” quadrant</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85</a:t>
            </a:fld>
            <a:endParaRPr lang="en-US"/>
          </a:p>
        </p:txBody>
      </p:sp>
      <p:grpSp>
        <p:nvGrpSpPr>
          <p:cNvPr id="4" name="Group 3">
            <a:extLst>
              <a:ext uri="{FF2B5EF4-FFF2-40B4-BE49-F238E27FC236}">
                <a16:creationId xmlns:a16="http://schemas.microsoft.com/office/drawing/2014/main" id="{C1F2DC6B-D88C-7FA5-5003-05F28F6783E5}"/>
              </a:ext>
            </a:extLst>
          </p:cNvPr>
          <p:cNvGrpSpPr/>
          <p:nvPr/>
        </p:nvGrpSpPr>
        <p:grpSpPr>
          <a:xfrm>
            <a:off x="838200" y="297639"/>
            <a:ext cx="4351020" cy="307138"/>
            <a:chOff x="838200" y="297639"/>
            <a:chExt cx="4351020" cy="307138"/>
          </a:xfrm>
        </p:grpSpPr>
        <p:grpSp>
          <p:nvGrpSpPr>
            <p:cNvPr id="6" name="Group 5">
              <a:extLst>
                <a:ext uri="{FF2B5EF4-FFF2-40B4-BE49-F238E27FC236}">
                  <a16:creationId xmlns:a16="http://schemas.microsoft.com/office/drawing/2014/main" id="{B5375B13-A527-ADD6-801D-0D6CB82E74BC}"/>
                </a:ext>
              </a:extLst>
            </p:cNvPr>
            <p:cNvGrpSpPr/>
            <p:nvPr/>
          </p:nvGrpSpPr>
          <p:grpSpPr>
            <a:xfrm>
              <a:off x="838200" y="297639"/>
              <a:ext cx="1687517" cy="290657"/>
              <a:chOff x="838200" y="297639"/>
              <a:chExt cx="1687517" cy="290657"/>
            </a:xfrm>
          </p:grpSpPr>
          <p:sp>
            <p:nvSpPr>
              <p:cNvPr id="8" name="AutoShape 9">
                <a:extLst>
                  <a:ext uri="{FF2B5EF4-FFF2-40B4-BE49-F238E27FC236}">
                    <a16:creationId xmlns:a16="http://schemas.microsoft.com/office/drawing/2014/main" id="{522737C5-48ED-C14C-5338-43A89A4D95E6}"/>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9" name="AutoShape 9">
                <a:extLst>
                  <a:ext uri="{FF2B5EF4-FFF2-40B4-BE49-F238E27FC236}">
                    <a16:creationId xmlns:a16="http://schemas.microsoft.com/office/drawing/2014/main" id="{C6C81D3D-7428-13F6-58A9-351006664885}"/>
                  </a:ext>
                </a:extLst>
              </p:cNvPr>
              <p:cNvSpPr>
                <a:spLocks noChangeArrowheads="1"/>
              </p:cNvSpPr>
              <p:nvPr/>
            </p:nvSpPr>
            <p:spPr bwMode="auto">
              <a:xfrm>
                <a:off x="1779225" y="297639"/>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nvGrpSpPr>
              <p:cNvPr id="10" name="Group 9">
                <a:extLst>
                  <a:ext uri="{FF2B5EF4-FFF2-40B4-BE49-F238E27FC236}">
                    <a16:creationId xmlns:a16="http://schemas.microsoft.com/office/drawing/2014/main" id="{402C9DD6-204A-C867-5AAC-7D462ECA9C05}"/>
                  </a:ext>
                </a:extLst>
              </p:cNvPr>
              <p:cNvGrpSpPr/>
              <p:nvPr/>
            </p:nvGrpSpPr>
            <p:grpSpPr>
              <a:xfrm>
                <a:off x="838200" y="297639"/>
                <a:ext cx="1060167" cy="290657"/>
                <a:chOff x="826426" y="4041857"/>
                <a:chExt cx="1060167" cy="290657"/>
              </a:xfrm>
            </p:grpSpPr>
            <p:sp>
              <p:nvSpPr>
                <p:cNvPr id="11" name="AutoShape 9">
                  <a:extLst>
                    <a:ext uri="{FF2B5EF4-FFF2-40B4-BE49-F238E27FC236}">
                      <a16:creationId xmlns:a16="http://schemas.microsoft.com/office/drawing/2014/main" id="{08BD392E-5779-F662-9B3B-5EE2616C36B2}"/>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2" name="AutoShape 11">
                  <a:extLst>
                    <a:ext uri="{FF2B5EF4-FFF2-40B4-BE49-F238E27FC236}">
                      <a16:creationId xmlns:a16="http://schemas.microsoft.com/office/drawing/2014/main" id="{8FC2A77B-56E8-8507-CAE7-B64ED1005372}"/>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3" name="AutoShape 10">
                  <a:extLst>
                    <a:ext uri="{FF2B5EF4-FFF2-40B4-BE49-F238E27FC236}">
                      <a16:creationId xmlns:a16="http://schemas.microsoft.com/office/drawing/2014/main" id="{56BF6379-B7D9-C0DF-7601-82D8EA4E4557}"/>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7" name="TextBox 6">
              <a:extLst>
                <a:ext uri="{FF2B5EF4-FFF2-40B4-BE49-F238E27FC236}">
                  <a16:creationId xmlns:a16="http://schemas.microsoft.com/office/drawing/2014/main" id="{7FAABA21-3AD5-A595-D680-61C4FEFB6378}"/>
                </a:ext>
              </a:extLst>
            </p:cNvPr>
            <p:cNvSpPr txBox="1"/>
            <p:nvPr/>
          </p:nvSpPr>
          <p:spPr>
            <a:xfrm>
              <a:off x="2525717" y="313415"/>
              <a:ext cx="266350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CEDAC Problem Solution</a:t>
              </a:r>
            </a:p>
          </p:txBody>
        </p:sp>
      </p:grpSp>
    </p:spTree>
    <p:extLst>
      <p:ext uri="{BB962C8B-B14F-4D97-AF65-F5344CB8AC3E}">
        <p14:creationId xmlns:p14="http://schemas.microsoft.com/office/powerpoint/2010/main" val="891785799"/>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noAutofit/>
          </a:bodyPr>
          <a:lstStyle/>
          <a:p>
            <a:r>
              <a:rPr lang="en-US" sz="3600" dirty="0"/>
              <a:t>Which Improvements to Work?</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86</a:t>
            </a:fld>
            <a:endParaRPr lang="en-US"/>
          </a:p>
        </p:txBody>
      </p:sp>
      <p:grpSp>
        <p:nvGrpSpPr>
          <p:cNvPr id="4" name="Group 3">
            <a:extLst>
              <a:ext uri="{FF2B5EF4-FFF2-40B4-BE49-F238E27FC236}">
                <a16:creationId xmlns:a16="http://schemas.microsoft.com/office/drawing/2014/main" id="{C1F2DC6B-D88C-7FA5-5003-05F28F6783E5}"/>
              </a:ext>
            </a:extLst>
          </p:cNvPr>
          <p:cNvGrpSpPr/>
          <p:nvPr/>
        </p:nvGrpSpPr>
        <p:grpSpPr>
          <a:xfrm>
            <a:off x="838200" y="297639"/>
            <a:ext cx="4351020" cy="307138"/>
            <a:chOff x="838200" y="297639"/>
            <a:chExt cx="4351020" cy="307138"/>
          </a:xfrm>
        </p:grpSpPr>
        <p:grpSp>
          <p:nvGrpSpPr>
            <p:cNvPr id="6" name="Group 5">
              <a:extLst>
                <a:ext uri="{FF2B5EF4-FFF2-40B4-BE49-F238E27FC236}">
                  <a16:creationId xmlns:a16="http://schemas.microsoft.com/office/drawing/2014/main" id="{B5375B13-A527-ADD6-801D-0D6CB82E74BC}"/>
                </a:ext>
              </a:extLst>
            </p:cNvPr>
            <p:cNvGrpSpPr/>
            <p:nvPr/>
          </p:nvGrpSpPr>
          <p:grpSpPr>
            <a:xfrm>
              <a:off x="838200" y="297639"/>
              <a:ext cx="1687517" cy="290657"/>
              <a:chOff x="838200" y="297639"/>
              <a:chExt cx="1687517" cy="290657"/>
            </a:xfrm>
          </p:grpSpPr>
          <p:sp>
            <p:nvSpPr>
              <p:cNvPr id="8" name="AutoShape 9">
                <a:extLst>
                  <a:ext uri="{FF2B5EF4-FFF2-40B4-BE49-F238E27FC236}">
                    <a16:creationId xmlns:a16="http://schemas.microsoft.com/office/drawing/2014/main" id="{522737C5-48ED-C14C-5338-43A89A4D95E6}"/>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9" name="AutoShape 9">
                <a:extLst>
                  <a:ext uri="{FF2B5EF4-FFF2-40B4-BE49-F238E27FC236}">
                    <a16:creationId xmlns:a16="http://schemas.microsoft.com/office/drawing/2014/main" id="{C6C81D3D-7428-13F6-58A9-351006664885}"/>
                  </a:ext>
                </a:extLst>
              </p:cNvPr>
              <p:cNvSpPr>
                <a:spLocks noChangeArrowheads="1"/>
              </p:cNvSpPr>
              <p:nvPr/>
            </p:nvSpPr>
            <p:spPr bwMode="auto">
              <a:xfrm>
                <a:off x="1779225" y="297639"/>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nvGrpSpPr>
              <p:cNvPr id="10" name="Group 9">
                <a:extLst>
                  <a:ext uri="{FF2B5EF4-FFF2-40B4-BE49-F238E27FC236}">
                    <a16:creationId xmlns:a16="http://schemas.microsoft.com/office/drawing/2014/main" id="{402C9DD6-204A-C867-5AAC-7D462ECA9C05}"/>
                  </a:ext>
                </a:extLst>
              </p:cNvPr>
              <p:cNvGrpSpPr/>
              <p:nvPr/>
            </p:nvGrpSpPr>
            <p:grpSpPr>
              <a:xfrm>
                <a:off x="838200" y="297639"/>
                <a:ext cx="1060167" cy="290657"/>
                <a:chOff x="826426" y="4041857"/>
                <a:chExt cx="1060167" cy="290657"/>
              </a:xfrm>
            </p:grpSpPr>
            <p:sp>
              <p:nvSpPr>
                <p:cNvPr id="11" name="AutoShape 9">
                  <a:extLst>
                    <a:ext uri="{FF2B5EF4-FFF2-40B4-BE49-F238E27FC236}">
                      <a16:creationId xmlns:a16="http://schemas.microsoft.com/office/drawing/2014/main" id="{08BD392E-5779-F662-9B3B-5EE2616C36B2}"/>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2" name="AutoShape 11">
                  <a:extLst>
                    <a:ext uri="{FF2B5EF4-FFF2-40B4-BE49-F238E27FC236}">
                      <a16:creationId xmlns:a16="http://schemas.microsoft.com/office/drawing/2014/main" id="{8FC2A77B-56E8-8507-CAE7-B64ED1005372}"/>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3" name="AutoShape 10">
                  <a:extLst>
                    <a:ext uri="{FF2B5EF4-FFF2-40B4-BE49-F238E27FC236}">
                      <a16:creationId xmlns:a16="http://schemas.microsoft.com/office/drawing/2014/main" id="{56BF6379-B7D9-C0DF-7601-82D8EA4E4557}"/>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7" name="TextBox 6">
              <a:extLst>
                <a:ext uri="{FF2B5EF4-FFF2-40B4-BE49-F238E27FC236}">
                  <a16:creationId xmlns:a16="http://schemas.microsoft.com/office/drawing/2014/main" id="{7FAABA21-3AD5-A595-D680-61C4FEFB6378}"/>
                </a:ext>
              </a:extLst>
            </p:cNvPr>
            <p:cNvSpPr txBox="1"/>
            <p:nvPr/>
          </p:nvSpPr>
          <p:spPr>
            <a:xfrm>
              <a:off x="2525717" y="313415"/>
              <a:ext cx="266350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CEDAC Problem Solution</a:t>
              </a:r>
            </a:p>
          </p:txBody>
        </p:sp>
      </p:grpSp>
      <p:grpSp>
        <p:nvGrpSpPr>
          <p:cNvPr id="14" name="Group 8">
            <a:extLst>
              <a:ext uri="{FF2B5EF4-FFF2-40B4-BE49-F238E27FC236}">
                <a16:creationId xmlns:a16="http://schemas.microsoft.com/office/drawing/2014/main" id="{4D0A2A53-0648-DB90-7C53-1DD1569FACA1}"/>
              </a:ext>
            </a:extLst>
          </p:cNvPr>
          <p:cNvGrpSpPr>
            <a:grpSpLocks/>
          </p:cNvGrpSpPr>
          <p:nvPr/>
        </p:nvGrpSpPr>
        <p:grpSpPr bwMode="auto">
          <a:xfrm>
            <a:off x="7299643" y="883920"/>
            <a:ext cx="3444875" cy="400050"/>
            <a:chOff x="2868" y="382"/>
            <a:chExt cx="2170" cy="252"/>
          </a:xfrm>
        </p:grpSpPr>
        <p:grpSp>
          <p:nvGrpSpPr>
            <p:cNvPr id="15" name="Group 9">
              <a:extLst>
                <a:ext uri="{FF2B5EF4-FFF2-40B4-BE49-F238E27FC236}">
                  <a16:creationId xmlns:a16="http://schemas.microsoft.com/office/drawing/2014/main" id="{BD436353-85B6-AD56-C012-3451F0270458}"/>
                </a:ext>
              </a:extLst>
            </p:cNvPr>
            <p:cNvGrpSpPr>
              <a:grpSpLocks/>
            </p:cNvGrpSpPr>
            <p:nvPr/>
          </p:nvGrpSpPr>
          <p:grpSpPr bwMode="auto">
            <a:xfrm>
              <a:off x="2868" y="382"/>
              <a:ext cx="806" cy="252"/>
              <a:chOff x="2062" y="299"/>
              <a:chExt cx="1306" cy="393"/>
            </a:xfrm>
          </p:grpSpPr>
          <p:sp>
            <p:nvSpPr>
              <p:cNvPr id="21" name="Freeform 10">
                <a:extLst>
                  <a:ext uri="{FF2B5EF4-FFF2-40B4-BE49-F238E27FC236}">
                    <a16:creationId xmlns:a16="http://schemas.microsoft.com/office/drawing/2014/main" id="{50865F8A-4929-415A-719D-EF8A37D656F4}"/>
                  </a:ext>
                </a:extLst>
              </p:cNvPr>
              <p:cNvSpPr>
                <a:spLocks/>
              </p:cNvSpPr>
              <p:nvPr/>
            </p:nvSpPr>
            <p:spPr bwMode="auto">
              <a:xfrm>
                <a:off x="2062" y="299"/>
                <a:ext cx="1306" cy="393"/>
              </a:xfrm>
              <a:custGeom>
                <a:avLst/>
                <a:gdLst>
                  <a:gd name="T0" fmla="*/ 0 w 1622"/>
                  <a:gd name="T1" fmla="*/ 14 h 475"/>
                  <a:gd name="T2" fmla="*/ 0 w 1622"/>
                  <a:gd name="T3" fmla="*/ 269 h 475"/>
                  <a:gd name="T4" fmla="*/ 847 w 1622"/>
                  <a:gd name="T5" fmla="*/ 269 h 475"/>
                  <a:gd name="T6" fmla="*/ 847 w 1622"/>
                  <a:gd name="T7" fmla="*/ 8 h 475"/>
                  <a:gd name="T8" fmla="*/ 812 w 1622"/>
                  <a:gd name="T9" fmla="*/ 41 h 475"/>
                  <a:gd name="T10" fmla="*/ 787 w 1622"/>
                  <a:gd name="T11" fmla="*/ 14 h 475"/>
                  <a:gd name="T12" fmla="*/ 742 w 1622"/>
                  <a:gd name="T13" fmla="*/ 38 h 475"/>
                  <a:gd name="T14" fmla="*/ 704 w 1622"/>
                  <a:gd name="T15" fmla="*/ 22 h 475"/>
                  <a:gd name="T16" fmla="*/ 631 w 1622"/>
                  <a:gd name="T17" fmla="*/ 33 h 475"/>
                  <a:gd name="T18" fmla="*/ 599 w 1622"/>
                  <a:gd name="T19" fmla="*/ 22 h 475"/>
                  <a:gd name="T20" fmla="*/ 556 w 1622"/>
                  <a:gd name="T21" fmla="*/ 38 h 475"/>
                  <a:gd name="T22" fmla="*/ 516 w 1622"/>
                  <a:gd name="T23" fmla="*/ 27 h 475"/>
                  <a:gd name="T24" fmla="*/ 486 w 1622"/>
                  <a:gd name="T25" fmla="*/ 51 h 475"/>
                  <a:gd name="T26" fmla="*/ 444 w 1622"/>
                  <a:gd name="T27" fmla="*/ 14 h 475"/>
                  <a:gd name="T28" fmla="*/ 408 w 1622"/>
                  <a:gd name="T29" fmla="*/ 36 h 475"/>
                  <a:gd name="T30" fmla="*/ 381 w 1622"/>
                  <a:gd name="T31" fmla="*/ 17 h 475"/>
                  <a:gd name="T32" fmla="*/ 320 w 1622"/>
                  <a:gd name="T33" fmla="*/ 36 h 475"/>
                  <a:gd name="T34" fmla="*/ 311 w 1622"/>
                  <a:gd name="T35" fmla="*/ 17 h 475"/>
                  <a:gd name="T36" fmla="*/ 250 w 1622"/>
                  <a:gd name="T37" fmla="*/ 41 h 475"/>
                  <a:gd name="T38" fmla="*/ 210 w 1622"/>
                  <a:gd name="T39" fmla="*/ 17 h 475"/>
                  <a:gd name="T40" fmla="*/ 165 w 1622"/>
                  <a:gd name="T41" fmla="*/ 33 h 475"/>
                  <a:gd name="T42" fmla="*/ 135 w 1622"/>
                  <a:gd name="T43" fmla="*/ 6 h 475"/>
                  <a:gd name="T44" fmla="*/ 105 w 1622"/>
                  <a:gd name="T45" fmla="*/ 19 h 475"/>
                  <a:gd name="T46" fmla="*/ 78 w 1622"/>
                  <a:gd name="T47" fmla="*/ 0 h 475"/>
                  <a:gd name="T48" fmla="*/ 58 w 1622"/>
                  <a:gd name="T49" fmla="*/ 22 h 475"/>
                  <a:gd name="T50" fmla="*/ 0 w 1622"/>
                  <a:gd name="T51" fmla="*/ 14 h 475"/>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1622" h="475">
                    <a:moveTo>
                      <a:pt x="0" y="24"/>
                    </a:moveTo>
                    <a:lnTo>
                      <a:pt x="0" y="475"/>
                    </a:lnTo>
                    <a:lnTo>
                      <a:pt x="1622" y="475"/>
                    </a:lnTo>
                    <a:lnTo>
                      <a:pt x="1622" y="15"/>
                    </a:lnTo>
                    <a:lnTo>
                      <a:pt x="1555" y="72"/>
                    </a:lnTo>
                    <a:lnTo>
                      <a:pt x="1507" y="24"/>
                    </a:lnTo>
                    <a:lnTo>
                      <a:pt x="1421" y="67"/>
                    </a:lnTo>
                    <a:lnTo>
                      <a:pt x="1349" y="39"/>
                    </a:lnTo>
                    <a:lnTo>
                      <a:pt x="1210" y="58"/>
                    </a:lnTo>
                    <a:lnTo>
                      <a:pt x="1147" y="39"/>
                    </a:lnTo>
                    <a:lnTo>
                      <a:pt x="1066" y="67"/>
                    </a:lnTo>
                    <a:lnTo>
                      <a:pt x="989" y="48"/>
                    </a:lnTo>
                    <a:lnTo>
                      <a:pt x="931" y="91"/>
                    </a:lnTo>
                    <a:lnTo>
                      <a:pt x="850" y="24"/>
                    </a:lnTo>
                    <a:lnTo>
                      <a:pt x="782" y="63"/>
                    </a:lnTo>
                    <a:lnTo>
                      <a:pt x="730" y="29"/>
                    </a:lnTo>
                    <a:lnTo>
                      <a:pt x="614" y="63"/>
                    </a:lnTo>
                    <a:lnTo>
                      <a:pt x="595" y="29"/>
                    </a:lnTo>
                    <a:lnTo>
                      <a:pt x="480" y="72"/>
                    </a:lnTo>
                    <a:lnTo>
                      <a:pt x="403" y="29"/>
                    </a:lnTo>
                    <a:lnTo>
                      <a:pt x="317" y="58"/>
                    </a:lnTo>
                    <a:lnTo>
                      <a:pt x="259" y="10"/>
                    </a:lnTo>
                    <a:lnTo>
                      <a:pt x="202" y="34"/>
                    </a:lnTo>
                    <a:lnTo>
                      <a:pt x="149" y="0"/>
                    </a:lnTo>
                    <a:lnTo>
                      <a:pt x="110" y="39"/>
                    </a:lnTo>
                    <a:lnTo>
                      <a:pt x="0" y="24"/>
                    </a:lnTo>
                    <a:close/>
                  </a:path>
                </a:pathLst>
              </a:custGeom>
              <a:solidFill>
                <a:srgbClr val="66CCFF"/>
              </a:solidFill>
              <a:ln w="12700" cap="flat" cmpd="sng">
                <a:solidFill>
                  <a:schemeClr val="tx1"/>
                </a:solidFill>
                <a:prstDash val="solid"/>
                <a:round/>
                <a:headEnd type="none" w="med" len="med"/>
                <a:tailEnd type="none" w="sm" len="sm"/>
              </a:ln>
            </p:spPr>
            <p:txBody>
              <a:bodyPr/>
              <a:lstStyle/>
              <a:p>
                <a:endParaRPr lang="en-US"/>
              </a:p>
            </p:txBody>
          </p:sp>
          <p:sp>
            <p:nvSpPr>
              <p:cNvPr id="22" name="Oval 11">
                <a:extLst>
                  <a:ext uri="{FF2B5EF4-FFF2-40B4-BE49-F238E27FC236}">
                    <a16:creationId xmlns:a16="http://schemas.microsoft.com/office/drawing/2014/main" id="{59F51D54-515B-0E20-7A79-D346C4EF5913}"/>
                  </a:ext>
                </a:extLst>
              </p:cNvPr>
              <p:cNvSpPr>
                <a:spLocks noChangeArrowheads="1"/>
              </p:cNvSpPr>
              <p:nvPr/>
            </p:nvSpPr>
            <p:spPr bwMode="auto">
              <a:xfrm>
                <a:off x="2589" y="414"/>
                <a:ext cx="230" cy="218"/>
              </a:xfrm>
              <a:prstGeom prst="ellipse">
                <a:avLst/>
              </a:prstGeom>
              <a:solidFill>
                <a:srgbClr val="FFFF00"/>
              </a:solidFill>
              <a:ln w="9525">
                <a:solidFill>
                  <a:schemeClr val="tx1"/>
                </a:solidFill>
                <a:round/>
                <a:headEnd/>
                <a:tailEnd type="none" w="sm" len="sm"/>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5000"/>
                  </a:lnSpc>
                  <a:buFont typeface="Wingdings" panose="05000000000000000000" pitchFamily="2" charset="2"/>
                  <a:buNone/>
                </a:pPr>
                <a:endParaRPr lang="en-US" altLang="en-US" sz="1600"/>
              </a:p>
            </p:txBody>
          </p:sp>
        </p:grpSp>
        <p:grpSp>
          <p:nvGrpSpPr>
            <p:cNvPr id="16" name="Group 12">
              <a:extLst>
                <a:ext uri="{FF2B5EF4-FFF2-40B4-BE49-F238E27FC236}">
                  <a16:creationId xmlns:a16="http://schemas.microsoft.com/office/drawing/2014/main" id="{9E856C97-DD36-85C8-77CC-E5CD6F848F9D}"/>
                </a:ext>
              </a:extLst>
            </p:cNvPr>
            <p:cNvGrpSpPr>
              <a:grpSpLocks/>
            </p:cNvGrpSpPr>
            <p:nvPr/>
          </p:nvGrpSpPr>
          <p:grpSpPr bwMode="auto">
            <a:xfrm>
              <a:off x="4206" y="407"/>
              <a:ext cx="832" cy="227"/>
              <a:chOff x="130" y="1720"/>
              <a:chExt cx="1306" cy="393"/>
            </a:xfrm>
          </p:grpSpPr>
          <p:sp>
            <p:nvSpPr>
              <p:cNvPr id="18" name="Freeform 13">
                <a:extLst>
                  <a:ext uri="{FF2B5EF4-FFF2-40B4-BE49-F238E27FC236}">
                    <a16:creationId xmlns:a16="http://schemas.microsoft.com/office/drawing/2014/main" id="{34075CF9-4EBD-D1F0-6101-88F039C9BE5D}"/>
                  </a:ext>
                </a:extLst>
              </p:cNvPr>
              <p:cNvSpPr>
                <a:spLocks/>
              </p:cNvSpPr>
              <p:nvPr/>
            </p:nvSpPr>
            <p:spPr bwMode="auto">
              <a:xfrm>
                <a:off x="130" y="1720"/>
                <a:ext cx="1306" cy="393"/>
              </a:xfrm>
              <a:custGeom>
                <a:avLst/>
                <a:gdLst>
                  <a:gd name="T0" fmla="*/ 0 w 1622"/>
                  <a:gd name="T1" fmla="*/ 14 h 475"/>
                  <a:gd name="T2" fmla="*/ 0 w 1622"/>
                  <a:gd name="T3" fmla="*/ 269 h 475"/>
                  <a:gd name="T4" fmla="*/ 847 w 1622"/>
                  <a:gd name="T5" fmla="*/ 269 h 475"/>
                  <a:gd name="T6" fmla="*/ 847 w 1622"/>
                  <a:gd name="T7" fmla="*/ 8 h 475"/>
                  <a:gd name="T8" fmla="*/ 812 w 1622"/>
                  <a:gd name="T9" fmla="*/ 41 h 475"/>
                  <a:gd name="T10" fmla="*/ 787 w 1622"/>
                  <a:gd name="T11" fmla="*/ 14 h 475"/>
                  <a:gd name="T12" fmla="*/ 742 w 1622"/>
                  <a:gd name="T13" fmla="*/ 38 h 475"/>
                  <a:gd name="T14" fmla="*/ 704 w 1622"/>
                  <a:gd name="T15" fmla="*/ 22 h 475"/>
                  <a:gd name="T16" fmla="*/ 631 w 1622"/>
                  <a:gd name="T17" fmla="*/ 33 h 475"/>
                  <a:gd name="T18" fmla="*/ 599 w 1622"/>
                  <a:gd name="T19" fmla="*/ 22 h 475"/>
                  <a:gd name="T20" fmla="*/ 556 w 1622"/>
                  <a:gd name="T21" fmla="*/ 38 h 475"/>
                  <a:gd name="T22" fmla="*/ 516 w 1622"/>
                  <a:gd name="T23" fmla="*/ 27 h 475"/>
                  <a:gd name="T24" fmla="*/ 486 w 1622"/>
                  <a:gd name="T25" fmla="*/ 51 h 475"/>
                  <a:gd name="T26" fmla="*/ 444 w 1622"/>
                  <a:gd name="T27" fmla="*/ 14 h 475"/>
                  <a:gd name="T28" fmla="*/ 408 w 1622"/>
                  <a:gd name="T29" fmla="*/ 36 h 475"/>
                  <a:gd name="T30" fmla="*/ 381 w 1622"/>
                  <a:gd name="T31" fmla="*/ 17 h 475"/>
                  <a:gd name="T32" fmla="*/ 320 w 1622"/>
                  <a:gd name="T33" fmla="*/ 36 h 475"/>
                  <a:gd name="T34" fmla="*/ 311 w 1622"/>
                  <a:gd name="T35" fmla="*/ 17 h 475"/>
                  <a:gd name="T36" fmla="*/ 250 w 1622"/>
                  <a:gd name="T37" fmla="*/ 41 h 475"/>
                  <a:gd name="T38" fmla="*/ 210 w 1622"/>
                  <a:gd name="T39" fmla="*/ 17 h 475"/>
                  <a:gd name="T40" fmla="*/ 165 w 1622"/>
                  <a:gd name="T41" fmla="*/ 33 h 475"/>
                  <a:gd name="T42" fmla="*/ 135 w 1622"/>
                  <a:gd name="T43" fmla="*/ 6 h 475"/>
                  <a:gd name="T44" fmla="*/ 105 w 1622"/>
                  <a:gd name="T45" fmla="*/ 19 h 475"/>
                  <a:gd name="T46" fmla="*/ 78 w 1622"/>
                  <a:gd name="T47" fmla="*/ 0 h 475"/>
                  <a:gd name="T48" fmla="*/ 58 w 1622"/>
                  <a:gd name="T49" fmla="*/ 22 h 475"/>
                  <a:gd name="T50" fmla="*/ 0 w 1622"/>
                  <a:gd name="T51" fmla="*/ 14 h 475"/>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1622" h="475">
                    <a:moveTo>
                      <a:pt x="0" y="24"/>
                    </a:moveTo>
                    <a:lnTo>
                      <a:pt x="0" y="475"/>
                    </a:lnTo>
                    <a:lnTo>
                      <a:pt x="1622" y="475"/>
                    </a:lnTo>
                    <a:lnTo>
                      <a:pt x="1622" y="15"/>
                    </a:lnTo>
                    <a:lnTo>
                      <a:pt x="1555" y="72"/>
                    </a:lnTo>
                    <a:lnTo>
                      <a:pt x="1507" y="24"/>
                    </a:lnTo>
                    <a:lnTo>
                      <a:pt x="1421" y="67"/>
                    </a:lnTo>
                    <a:lnTo>
                      <a:pt x="1349" y="39"/>
                    </a:lnTo>
                    <a:lnTo>
                      <a:pt x="1210" y="58"/>
                    </a:lnTo>
                    <a:lnTo>
                      <a:pt x="1147" y="39"/>
                    </a:lnTo>
                    <a:lnTo>
                      <a:pt x="1066" y="67"/>
                    </a:lnTo>
                    <a:lnTo>
                      <a:pt x="989" y="48"/>
                    </a:lnTo>
                    <a:lnTo>
                      <a:pt x="931" y="91"/>
                    </a:lnTo>
                    <a:lnTo>
                      <a:pt x="850" y="24"/>
                    </a:lnTo>
                    <a:lnTo>
                      <a:pt x="782" y="63"/>
                    </a:lnTo>
                    <a:lnTo>
                      <a:pt x="730" y="29"/>
                    </a:lnTo>
                    <a:lnTo>
                      <a:pt x="614" y="63"/>
                    </a:lnTo>
                    <a:lnTo>
                      <a:pt x="595" y="29"/>
                    </a:lnTo>
                    <a:lnTo>
                      <a:pt x="480" y="72"/>
                    </a:lnTo>
                    <a:lnTo>
                      <a:pt x="403" y="29"/>
                    </a:lnTo>
                    <a:lnTo>
                      <a:pt x="317" y="58"/>
                    </a:lnTo>
                    <a:lnTo>
                      <a:pt x="259" y="10"/>
                    </a:lnTo>
                    <a:lnTo>
                      <a:pt x="202" y="34"/>
                    </a:lnTo>
                    <a:lnTo>
                      <a:pt x="149" y="0"/>
                    </a:lnTo>
                    <a:lnTo>
                      <a:pt x="110" y="39"/>
                    </a:lnTo>
                    <a:lnTo>
                      <a:pt x="0" y="24"/>
                    </a:lnTo>
                    <a:close/>
                  </a:path>
                </a:pathLst>
              </a:custGeom>
              <a:solidFill>
                <a:srgbClr val="66CCFF"/>
              </a:solidFill>
              <a:ln w="12700" cap="flat" cmpd="sng">
                <a:solidFill>
                  <a:schemeClr val="tx1"/>
                </a:solidFill>
                <a:prstDash val="solid"/>
                <a:round/>
                <a:headEnd type="none" w="med" len="med"/>
                <a:tailEnd type="none" w="sm" len="sm"/>
              </a:ln>
            </p:spPr>
            <p:txBody>
              <a:bodyPr/>
              <a:lstStyle/>
              <a:p>
                <a:endParaRPr lang="en-US"/>
              </a:p>
            </p:txBody>
          </p:sp>
          <p:sp>
            <p:nvSpPr>
              <p:cNvPr id="19" name="Oval 14">
                <a:extLst>
                  <a:ext uri="{FF2B5EF4-FFF2-40B4-BE49-F238E27FC236}">
                    <a16:creationId xmlns:a16="http://schemas.microsoft.com/office/drawing/2014/main" id="{29BF7715-A448-D16B-DA71-2A990EC21D3D}"/>
                  </a:ext>
                </a:extLst>
              </p:cNvPr>
              <p:cNvSpPr>
                <a:spLocks noChangeArrowheads="1"/>
              </p:cNvSpPr>
              <p:nvPr/>
            </p:nvSpPr>
            <p:spPr bwMode="auto">
              <a:xfrm>
                <a:off x="657" y="1833"/>
                <a:ext cx="229" cy="218"/>
              </a:xfrm>
              <a:prstGeom prst="ellipse">
                <a:avLst/>
              </a:prstGeom>
              <a:solidFill>
                <a:srgbClr val="FFFF00"/>
              </a:solidFill>
              <a:ln w="9525">
                <a:solidFill>
                  <a:schemeClr val="tx1"/>
                </a:solidFill>
                <a:round/>
                <a:headEnd/>
                <a:tailEnd type="none" w="sm" len="sm"/>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5000"/>
                  </a:lnSpc>
                  <a:buFont typeface="Wingdings" panose="05000000000000000000" pitchFamily="2" charset="2"/>
                  <a:buNone/>
                </a:pPr>
                <a:endParaRPr lang="en-US" altLang="en-US" sz="1600"/>
              </a:p>
            </p:txBody>
          </p:sp>
          <p:sp>
            <p:nvSpPr>
              <p:cNvPr id="20" name="Oval 15">
                <a:extLst>
                  <a:ext uri="{FF2B5EF4-FFF2-40B4-BE49-F238E27FC236}">
                    <a16:creationId xmlns:a16="http://schemas.microsoft.com/office/drawing/2014/main" id="{937CE295-42DA-2D40-8224-F607158EA75C}"/>
                  </a:ext>
                </a:extLst>
              </p:cNvPr>
              <p:cNvSpPr>
                <a:spLocks noChangeArrowheads="1"/>
              </p:cNvSpPr>
              <p:nvPr/>
            </p:nvSpPr>
            <p:spPr bwMode="auto">
              <a:xfrm>
                <a:off x="397" y="1833"/>
                <a:ext cx="229" cy="218"/>
              </a:xfrm>
              <a:prstGeom prst="ellipse">
                <a:avLst/>
              </a:prstGeom>
              <a:solidFill>
                <a:srgbClr val="FFFF00"/>
              </a:solidFill>
              <a:ln w="9525">
                <a:solidFill>
                  <a:schemeClr val="tx1"/>
                </a:solidFill>
                <a:round/>
                <a:headEnd/>
                <a:tailEnd type="none" w="sm" len="sm"/>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5000"/>
                  </a:lnSpc>
                  <a:buFont typeface="Wingdings" panose="05000000000000000000" pitchFamily="2" charset="2"/>
                  <a:buNone/>
                </a:pPr>
                <a:endParaRPr lang="en-US" altLang="en-US" sz="1600"/>
              </a:p>
            </p:txBody>
          </p:sp>
        </p:grpSp>
        <p:sp>
          <p:nvSpPr>
            <p:cNvPr id="17" name="AutoShape 16">
              <a:extLst>
                <a:ext uri="{FF2B5EF4-FFF2-40B4-BE49-F238E27FC236}">
                  <a16:creationId xmlns:a16="http://schemas.microsoft.com/office/drawing/2014/main" id="{8B071C6A-FE73-B4EA-C024-4A5593895AFC}"/>
                </a:ext>
              </a:extLst>
            </p:cNvPr>
            <p:cNvSpPr>
              <a:spLocks noChangeArrowheads="1"/>
            </p:cNvSpPr>
            <p:nvPr/>
          </p:nvSpPr>
          <p:spPr bwMode="auto">
            <a:xfrm>
              <a:off x="3821" y="416"/>
              <a:ext cx="275" cy="192"/>
            </a:xfrm>
            <a:prstGeom prst="rightArrow">
              <a:avLst>
                <a:gd name="adj1" fmla="val 50000"/>
                <a:gd name="adj2" fmla="val 35807"/>
              </a:avLst>
            </a:prstGeom>
            <a:solidFill>
              <a:schemeClr val="accent1"/>
            </a:solidFill>
            <a:ln w="50800" cmpd="dbl">
              <a:solidFill>
                <a:schemeClr val="tx1"/>
              </a:solidFill>
              <a:miter lim="800000"/>
              <a:headEnd/>
              <a:tailEnd type="none" w="sm" len="sm"/>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5000"/>
                </a:lnSpc>
                <a:buFont typeface="Wingdings" panose="05000000000000000000" pitchFamily="2" charset="2"/>
                <a:buNone/>
              </a:pPr>
              <a:endParaRPr lang="en-US" altLang="en-US" sz="1600"/>
            </a:p>
          </p:txBody>
        </p:sp>
      </p:grpSp>
      <p:grpSp>
        <p:nvGrpSpPr>
          <p:cNvPr id="51" name="Group 50">
            <a:extLst>
              <a:ext uri="{FF2B5EF4-FFF2-40B4-BE49-F238E27FC236}">
                <a16:creationId xmlns:a16="http://schemas.microsoft.com/office/drawing/2014/main" id="{F05A2DC2-6295-D748-D5F1-20EFA98D2880}"/>
              </a:ext>
            </a:extLst>
          </p:cNvPr>
          <p:cNvGrpSpPr/>
          <p:nvPr/>
        </p:nvGrpSpPr>
        <p:grpSpPr>
          <a:xfrm>
            <a:off x="2185344" y="1893571"/>
            <a:ext cx="7821312" cy="4283392"/>
            <a:chOff x="1062735" y="1893571"/>
            <a:chExt cx="6753225" cy="4077501"/>
          </a:xfrm>
        </p:grpSpPr>
        <p:grpSp>
          <p:nvGrpSpPr>
            <p:cNvPr id="25" name="Group 2">
              <a:extLst>
                <a:ext uri="{FF2B5EF4-FFF2-40B4-BE49-F238E27FC236}">
                  <a16:creationId xmlns:a16="http://schemas.microsoft.com/office/drawing/2014/main" id="{4F9A5F37-ACBF-92EE-008F-87FC3D408FFF}"/>
                </a:ext>
              </a:extLst>
            </p:cNvPr>
            <p:cNvGrpSpPr>
              <a:grpSpLocks/>
            </p:cNvGrpSpPr>
            <p:nvPr/>
          </p:nvGrpSpPr>
          <p:grpSpPr bwMode="auto">
            <a:xfrm>
              <a:off x="2997897" y="1969771"/>
              <a:ext cx="4818063" cy="3300412"/>
              <a:chOff x="5558" y="914"/>
              <a:chExt cx="3035" cy="2079"/>
            </a:xfrm>
          </p:grpSpPr>
          <p:sp>
            <p:nvSpPr>
              <p:cNvPr id="26" name="Rectangle 3">
                <a:extLst>
                  <a:ext uri="{FF2B5EF4-FFF2-40B4-BE49-F238E27FC236}">
                    <a16:creationId xmlns:a16="http://schemas.microsoft.com/office/drawing/2014/main" id="{7A4E36EE-0759-7A5B-214C-CAE59C2777CC}"/>
                  </a:ext>
                </a:extLst>
              </p:cNvPr>
              <p:cNvSpPr>
                <a:spLocks noChangeArrowheads="1"/>
              </p:cNvSpPr>
              <p:nvPr/>
            </p:nvSpPr>
            <p:spPr bwMode="auto">
              <a:xfrm>
                <a:off x="7076" y="1950"/>
                <a:ext cx="1517" cy="1043"/>
              </a:xfrm>
              <a:prstGeom prst="rect">
                <a:avLst/>
              </a:prstGeom>
              <a:noFill/>
              <a:ln w="28575">
                <a:solidFill>
                  <a:schemeClr val="tx1"/>
                </a:solidFill>
                <a:miter lim="800000"/>
                <a:headEnd/>
                <a:tailEnd type="none" w="sm" len="sm"/>
              </a:ln>
              <a:extLst>
                <a:ext uri="{909E8E84-426E-40DD-AFC4-6F175D3DCCD1}">
                  <a14:hiddenFill xmlns:a14="http://schemas.microsoft.com/office/drawing/2010/main">
                    <a:solidFill>
                      <a:srgbClr val="FFFFFF"/>
                    </a:solidFill>
                  </a14:hiddenFill>
                </a:ext>
              </a:extLst>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900">
                  <a:solidFill>
                    <a:schemeClr val="bg1"/>
                  </a:solidFill>
                  <a:latin typeface="Roboto" panose="02000000000000000000" pitchFamily="2" charset="0"/>
                  <a:ea typeface="Roboto" panose="02000000000000000000" pitchFamily="2" charset="0"/>
                </a:endParaRPr>
              </a:p>
            </p:txBody>
          </p:sp>
          <p:sp>
            <p:nvSpPr>
              <p:cNvPr id="27" name="Rectangle 4">
                <a:extLst>
                  <a:ext uri="{FF2B5EF4-FFF2-40B4-BE49-F238E27FC236}">
                    <a16:creationId xmlns:a16="http://schemas.microsoft.com/office/drawing/2014/main" id="{45C7B825-9EF9-15DD-E1BF-E456E2A54BF4}"/>
                  </a:ext>
                </a:extLst>
              </p:cNvPr>
              <p:cNvSpPr>
                <a:spLocks noChangeArrowheads="1"/>
              </p:cNvSpPr>
              <p:nvPr/>
            </p:nvSpPr>
            <p:spPr bwMode="auto">
              <a:xfrm>
                <a:off x="5558" y="1950"/>
                <a:ext cx="1517" cy="1043"/>
              </a:xfrm>
              <a:prstGeom prst="rect">
                <a:avLst/>
              </a:prstGeom>
              <a:noFill/>
              <a:ln w="28575">
                <a:solidFill>
                  <a:schemeClr val="tx1"/>
                </a:solidFill>
                <a:miter lim="800000"/>
                <a:headEnd/>
                <a:tailEnd type="none" w="sm" len="sm"/>
              </a:ln>
              <a:extLst>
                <a:ext uri="{909E8E84-426E-40DD-AFC4-6F175D3DCCD1}">
                  <a14:hiddenFill xmlns:a14="http://schemas.microsoft.com/office/drawing/2010/main">
                    <a:solidFill>
                      <a:srgbClr val="FFFFFF"/>
                    </a:solidFill>
                  </a14:hiddenFill>
                </a:ext>
              </a:extLst>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900">
                  <a:solidFill>
                    <a:schemeClr val="bg1"/>
                  </a:solidFill>
                  <a:latin typeface="Roboto" panose="02000000000000000000" pitchFamily="2" charset="0"/>
                  <a:ea typeface="Roboto" panose="02000000000000000000" pitchFamily="2" charset="0"/>
                </a:endParaRPr>
              </a:p>
            </p:txBody>
          </p:sp>
          <p:sp>
            <p:nvSpPr>
              <p:cNvPr id="28" name="Rectangle 5">
                <a:extLst>
                  <a:ext uri="{FF2B5EF4-FFF2-40B4-BE49-F238E27FC236}">
                    <a16:creationId xmlns:a16="http://schemas.microsoft.com/office/drawing/2014/main" id="{61E0058C-2167-4140-DEF8-922DDBA1AB99}"/>
                  </a:ext>
                </a:extLst>
              </p:cNvPr>
              <p:cNvSpPr>
                <a:spLocks noChangeArrowheads="1"/>
              </p:cNvSpPr>
              <p:nvPr/>
            </p:nvSpPr>
            <p:spPr bwMode="auto">
              <a:xfrm>
                <a:off x="7076" y="914"/>
                <a:ext cx="1517" cy="1043"/>
              </a:xfrm>
              <a:prstGeom prst="rect">
                <a:avLst/>
              </a:prstGeom>
              <a:noFill/>
              <a:ln w="28575">
                <a:solidFill>
                  <a:schemeClr val="tx1"/>
                </a:solidFill>
                <a:miter lim="800000"/>
                <a:headEnd/>
                <a:tailEnd type="none" w="sm" len="sm"/>
              </a:ln>
              <a:extLst>
                <a:ext uri="{909E8E84-426E-40DD-AFC4-6F175D3DCCD1}">
                  <a14:hiddenFill xmlns:a14="http://schemas.microsoft.com/office/drawing/2010/main">
                    <a:solidFill>
                      <a:srgbClr val="FFFFFF"/>
                    </a:solidFill>
                  </a14:hiddenFill>
                </a:ext>
              </a:extLst>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900">
                  <a:solidFill>
                    <a:schemeClr val="bg1"/>
                  </a:solidFill>
                  <a:latin typeface="Roboto" panose="02000000000000000000" pitchFamily="2" charset="0"/>
                  <a:ea typeface="Roboto" panose="02000000000000000000" pitchFamily="2" charset="0"/>
                </a:endParaRPr>
              </a:p>
            </p:txBody>
          </p:sp>
          <p:sp>
            <p:nvSpPr>
              <p:cNvPr id="29" name="Rectangle 6">
                <a:extLst>
                  <a:ext uri="{FF2B5EF4-FFF2-40B4-BE49-F238E27FC236}">
                    <a16:creationId xmlns:a16="http://schemas.microsoft.com/office/drawing/2014/main" id="{C6E75D99-6CE0-C6EB-316D-F4B9538255B0}"/>
                  </a:ext>
                </a:extLst>
              </p:cNvPr>
              <p:cNvSpPr>
                <a:spLocks noChangeArrowheads="1"/>
              </p:cNvSpPr>
              <p:nvPr/>
            </p:nvSpPr>
            <p:spPr bwMode="auto">
              <a:xfrm>
                <a:off x="5558" y="914"/>
                <a:ext cx="1517" cy="1043"/>
              </a:xfrm>
              <a:prstGeom prst="rect">
                <a:avLst/>
              </a:prstGeom>
              <a:noFill/>
              <a:ln w="28575">
                <a:solidFill>
                  <a:schemeClr val="tx1"/>
                </a:solidFill>
                <a:miter lim="800000"/>
                <a:headEnd/>
                <a:tailEnd type="none" w="sm" len="sm"/>
              </a:ln>
              <a:extLst>
                <a:ext uri="{909E8E84-426E-40DD-AFC4-6F175D3DCCD1}">
                  <a14:hiddenFill xmlns:a14="http://schemas.microsoft.com/office/drawing/2010/main">
                    <a:solidFill>
                      <a:srgbClr val="FFFFFF"/>
                    </a:solidFill>
                  </a14:hiddenFill>
                </a:ext>
              </a:extLst>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900">
                  <a:solidFill>
                    <a:schemeClr val="bg1"/>
                  </a:solidFill>
                  <a:latin typeface="Roboto" panose="02000000000000000000" pitchFamily="2" charset="0"/>
                  <a:ea typeface="Roboto" panose="02000000000000000000" pitchFamily="2" charset="0"/>
                </a:endParaRPr>
              </a:p>
            </p:txBody>
          </p:sp>
        </p:grpSp>
        <p:grpSp>
          <p:nvGrpSpPr>
            <p:cNvPr id="30" name="Group 17">
              <a:extLst>
                <a:ext uri="{FF2B5EF4-FFF2-40B4-BE49-F238E27FC236}">
                  <a16:creationId xmlns:a16="http://schemas.microsoft.com/office/drawing/2014/main" id="{C73C1963-82E5-C906-F0D9-4A3CE9E331E9}"/>
                </a:ext>
              </a:extLst>
            </p:cNvPr>
            <p:cNvGrpSpPr>
              <a:grpSpLocks/>
            </p:cNvGrpSpPr>
            <p:nvPr/>
          </p:nvGrpSpPr>
          <p:grpSpPr bwMode="auto">
            <a:xfrm>
              <a:off x="5406135" y="1953896"/>
              <a:ext cx="2408237" cy="1655762"/>
              <a:chOff x="3133" y="1095"/>
              <a:chExt cx="1517" cy="1043"/>
            </a:xfrm>
          </p:grpSpPr>
          <p:sp>
            <p:nvSpPr>
              <p:cNvPr id="31" name="Rectangle 18">
                <a:extLst>
                  <a:ext uri="{FF2B5EF4-FFF2-40B4-BE49-F238E27FC236}">
                    <a16:creationId xmlns:a16="http://schemas.microsoft.com/office/drawing/2014/main" id="{668B2778-E75B-BB76-095B-1184E5787E58}"/>
                  </a:ext>
                </a:extLst>
              </p:cNvPr>
              <p:cNvSpPr>
                <a:spLocks noChangeArrowheads="1"/>
              </p:cNvSpPr>
              <p:nvPr/>
            </p:nvSpPr>
            <p:spPr bwMode="auto">
              <a:xfrm>
                <a:off x="3133" y="1095"/>
                <a:ext cx="1517" cy="1043"/>
              </a:xfrm>
              <a:prstGeom prst="rect">
                <a:avLst/>
              </a:prstGeom>
              <a:solidFill>
                <a:schemeClr val="accent1"/>
              </a:solidFill>
              <a:ln w="28575">
                <a:solidFill>
                  <a:schemeClr val="tx1"/>
                </a:solidFill>
                <a:miter lim="800000"/>
                <a:headEnd/>
                <a:tailEnd type="none" w="sm" len="sm"/>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5000"/>
                  </a:lnSpc>
                  <a:buFont typeface="Wingdings" panose="05000000000000000000" pitchFamily="2" charset="2"/>
                  <a:buNone/>
                </a:pPr>
                <a:endParaRPr lang="en-US" altLang="en-US" sz="1600">
                  <a:latin typeface="Roboto" panose="02000000000000000000" pitchFamily="2" charset="0"/>
                  <a:ea typeface="Roboto" panose="02000000000000000000" pitchFamily="2" charset="0"/>
                </a:endParaRPr>
              </a:p>
            </p:txBody>
          </p:sp>
          <p:sp>
            <p:nvSpPr>
              <p:cNvPr id="32" name="Text Box 19">
                <a:extLst>
                  <a:ext uri="{FF2B5EF4-FFF2-40B4-BE49-F238E27FC236}">
                    <a16:creationId xmlns:a16="http://schemas.microsoft.com/office/drawing/2014/main" id="{0EB0C722-C04D-503C-DF3D-6C6ABBFB9B53}"/>
                  </a:ext>
                </a:extLst>
              </p:cNvPr>
              <p:cNvSpPr txBox="1">
                <a:spLocks noChangeArrowheads="1"/>
              </p:cNvSpPr>
              <p:nvPr/>
            </p:nvSpPr>
            <p:spPr bwMode="auto">
              <a:xfrm>
                <a:off x="3705" y="1692"/>
                <a:ext cx="775" cy="374"/>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800">
                    <a:solidFill>
                      <a:schemeClr val="bg1"/>
                    </a:solidFill>
                    <a:latin typeface="Roboto" panose="02000000000000000000" pitchFamily="2" charset="0"/>
                    <a:ea typeface="Roboto" panose="02000000000000000000" pitchFamily="2" charset="0"/>
                  </a:rPr>
                  <a:t>Consider</a:t>
                </a:r>
              </a:p>
              <a:p>
                <a:pPr algn="ctr">
                  <a:lnSpc>
                    <a:spcPct val="80000"/>
                  </a:lnSpc>
                  <a:spcBef>
                    <a:spcPct val="20000"/>
                  </a:spcBef>
                  <a:spcAft>
                    <a:spcPct val="0"/>
                  </a:spcAft>
                  <a:buClrTx/>
                  <a:buSzTx/>
                  <a:buFontTx/>
                  <a:buNone/>
                </a:pPr>
                <a:r>
                  <a:rPr lang="en-US" altLang="en-US" sz="1800">
                    <a:solidFill>
                      <a:schemeClr val="bg1"/>
                    </a:solidFill>
                    <a:latin typeface="Roboto" panose="02000000000000000000" pitchFamily="2" charset="0"/>
                    <a:ea typeface="Roboto" panose="02000000000000000000" pitchFamily="2" charset="0"/>
                  </a:rPr>
                  <a:t>Alternatives</a:t>
                </a:r>
              </a:p>
            </p:txBody>
          </p:sp>
        </p:grpSp>
        <p:sp>
          <p:nvSpPr>
            <p:cNvPr id="33" name="Text Box 20">
              <a:extLst>
                <a:ext uri="{FF2B5EF4-FFF2-40B4-BE49-F238E27FC236}">
                  <a16:creationId xmlns:a16="http://schemas.microsoft.com/office/drawing/2014/main" id="{DEC00B07-C986-FAA0-A0B8-AB3AED41B14C}"/>
                </a:ext>
              </a:extLst>
            </p:cNvPr>
            <p:cNvSpPr txBox="1">
              <a:spLocks noChangeArrowheads="1"/>
            </p:cNvSpPr>
            <p:nvPr/>
          </p:nvSpPr>
          <p:spPr bwMode="auto">
            <a:xfrm>
              <a:off x="2476384" y="5054283"/>
              <a:ext cx="438963" cy="2664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r">
                <a:lnSpc>
                  <a:spcPct val="80000"/>
                </a:lnSpc>
                <a:spcBef>
                  <a:spcPct val="20000"/>
                </a:spcBef>
                <a:spcAft>
                  <a:spcPct val="0"/>
                </a:spcAft>
                <a:buClrTx/>
                <a:buSzTx/>
                <a:buFontTx/>
                <a:buNone/>
              </a:pPr>
              <a:r>
                <a:rPr lang="en-US" altLang="en-US" sz="1400">
                  <a:latin typeface="Roboto" panose="02000000000000000000" pitchFamily="2" charset="0"/>
                  <a:ea typeface="Roboto" panose="02000000000000000000" pitchFamily="2" charset="0"/>
                </a:rPr>
                <a:t>Low</a:t>
              </a:r>
            </a:p>
          </p:txBody>
        </p:sp>
        <p:sp>
          <p:nvSpPr>
            <p:cNvPr id="34" name="Text Box 21">
              <a:extLst>
                <a:ext uri="{FF2B5EF4-FFF2-40B4-BE49-F238E27FC236}">
                  <a16:creationId xmlns:a16="http://schemas.microsoft.com/office/drawing/2014/main" id="{3681EE72-378C-AB08-10A9-BCACE6E3F34B}"/>
                </a:ext>
              </a:extLst>
            </p:cNvPr>
            <p:cNvSpPr txBox="1">
              <a:spLocks noChangeArrowheads="1"/>
            </p:cNvSpPr>
            <p:nvPr/>
          </p:nvSpPr>
          <p:spPr bwMode="auto">
            <a:xfrm>
              <a:off x="2427448" y="1893571"/>
              <a:ext cx="479962" cy="2664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r">
                <a:lnSpc>
                  <a:spcPct val="80000"/>
                </a:lnSpc>
                <a:spcBef>
                  <a:spcPct val="20000"/>
                </a:spcBef>
                <a:spcAft>
                  <a:spcPct val="0"/>
                </a:spcAft>
                <a:buClrTx/>
                <a:buSzTx/>
                <a:buFontTx/>
                <a:buNone/>
              </a:pPr>
              <a:r>
                <a:rPr lang="en-US" altLang="en-US" sz="1400">
                  <a:latin typeface="Roboto" panose="02000000000000000000" pitchFamily="2" charset="0"/>
                  <a:ea typeface="Roboto" panose="02000000000000000000" pitchFamily="2" charset="0"/>
                </a:rPr>
                <a:t>High</a:t>
              </a:r>
            </a:p>
          </p:txBody>
        </p:sp>
        <p:sp>
          <p:nvSpPr>
            <p:cNvPr id="35" name="Text Box 22">
              <a:extLst>
                <a:ext uri="{FF2B5EF4-FFF2-40B4-BE49-F238E27FC236}">
                  <a16:creationId xmlns:a16="http://schemas.microsoft.com/office/drawing/2014/main" id="{C161C4A0-72EC-46CF-D9A4-A646F53103C5}"/>
                </a:ext>
              </a:extLst>
            </p:cNvPr>
            <p:cNvSpPr txBox="1">
              <a:spLocks noChangeArrowheads="1"/>
            </p:cNvSpPr>
            <p:nvPr/>
          </p:nvSpPr>
          <p:spPr bwMode="auto">
            <a:xfrm>
              <a:off x="3095122" y="5338446"/>
              <a:ext cx="438963" cy="2664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400">
                  <a:latin typeface="Roboto" panose="02000000000000000000" pitchFamily="2" charset="0"/>
                  <a:ea typeface="Roboto" panose="02000000000000000000" pitchFamily="2" charset="0"/>
                </a:rPr>
                <a:t>Low</a:t>
              </a:r>
            </a:p>
          </p:txBody>
        </p:sp>
        <p:sp>
          <p:nvSpPr>
            <p:cNvPr id="36" name="Text Box 23">
              <a:extLst>
                <a:ext uri="{FF2B5EF4-FFF2-40B4-BE49-F238E27FC236}">
                  <a16:creationId xmlns:a16="http://schemas.microsoft.com/office/drawing/2014/main" id="{7F1D5F60-2A06-BF9D-CAFC-9B22EA881807}"/>
                </a:ext>
              </a:extLst>
            </p:cNvPr>
            <p:cNvSpPr txBox="1">
              <a:spLocks noChangeArrowheads="1"/>
            </p:cNvSpPr>
            <p:nvPr/>
          </p:nvSpPr>
          <p:spPr bwMode="auto">
            <a:xfrm>
              <a:off x="7253716" y="5287646"/>
              <a:ext cx="479962" cy="2664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400">
                  <a:latin typeface="Roboto" panose="02000000000000000000" pitchFamily="2" charset="0"/>
                  <a:ea typeface="Roboto" panose="02000000000000000000" pitchFamily="2" charset="0"/>
                </a:rPr>
                <a:t>High</a:t>
              </a:r>
            </a:p>
          </p:txBody>
        </p:sp>
        <p:grpSp>
          <p:nvGrpSpPr>
            <p:cNvPr id="37" name="Group 24">
              <a:extLst>
                <a:ext uri="{FF2B5EF4-FFF2-40B4-BE49-F238E27FC236}">
                  <a16:creationId xmlns:a16="http://schemas.microsoft.com/office/drawing/2014/main" id="{AF037E8B-EF67-8558-588D-B1923D6399C9}"/>
                </a:ext>
              </a:extLst>
            </p:cNvPr>
            <p:cNvGrpSpPr>
              <a:grpSpLocks/>
            </p:cNvGrpSpPr>
            <p:nvPr/>
          </p:nvGrpSpPr>
          <p:grpSpPr bwMode="auto">
            <a:xfrm>
              <a:off x="3009010" y="3601721"/>
              <a:ext cx="2408237" cy="1655762"/>
              <a:chOff x="1623" y="2127"/>
              <a:chExt cx="1517" cy="1043"/>
            </a:xfrm>
          </p:grpSpPr>
          <p:sp>
            <p:nvSpPr>
              <p:cNvPr id="38" name="Rectangle 25">
                <a:extLst>
                  <a:ext uri="{FF2B5EF4-FFF2-40B4-BE49-F238E27FC236}">
                    <a16:creationId xmlns:a16="http://schemas.microsoft.com/office/drawing/2014/main" id="{C7A0CFC7-0103-0DAE-A43D-131128ABBB6F}"/>
                  </a:ext>
                </a:extLst>
              </p:cNvPr>
              <p:cNvSpPr>
                <a:spLocks noChangeArrowheads="1"/>
              </p:cNvSpPr>
              <p:nvPr/>
            </p:nvSpPr>
            <p:spPr bwMode="auto">
              <a:xfrm>
                <a:off x="1623" y="2127"/>
                <a:ext cx="1517" cy="1043"/>
              </a:xfrm>
              <a:prstGeom prst="rect">
                <a:avLst/>
              </a:prstGeom>
              <a:solidFill>
                <a:schemeClr val="accent3"/>
              </a:solidFill>
              <a:ln w="28575">
                <a:solidFill>
                  <a:schemeClr val="tx1"/>
                </a:solidFill>
                <a:miter lim="800000"/>
                <a:headEnd/>
                <a:tailEnd type="none" w="sm" len="sm"/>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900">
                  <a:solidFill>
                    <a:schemeClr val="bg1"/>
                  </a:solidFill>
                  <a:latin typeface="Roboto" panose="02000000000000000000" pitchFamily="2" charset="0"/>
                  <a:ea typeface="Roboto" panose="02000000000000000000" pitchFamily="2" charset="0"/>
                </a:endParaRPr>
              </a:p>
            </p:txBody>
          </p:sp>
          <p:sp>
            <p:nvSpPr>
              <p:cNvPr id="39" name="Text Box 26">
                <a:extLst>
                  <a:ext uri="{FF2B5EF4-FFF2-40B4-BE49-F238E27FC236}">
                    <a16:creationId xmlns:a16="http://schemas.microsoft.com/office/drawing/2014/main" id="{0CBE9EEE-3741-34B6-6785-CF15453CF51C}"/>
                  </a:ext>
                </a:extLst>
              </p:cNvPr>
              <p:cNvSpPr txBox="1">
                <a:spLocks noChangeArrowheads="1"/>
              </p:cNvSpPr>
              <p:nvPr/>
            </p:nvSpPr>
            <p:spPr bwMode="auto">
              <a:xfrm>
                <a:off x="2176" y="2562"/>
                <a:ext cx="405" cy="199"/>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800" dirty="0">
                    <a:solidFill>
                      <a:schemeClr val="bg1"/>
                    </a:solidFill>
                    <a:latin typeface="Roboto" panose="02000000000000000000" pitchFamily="2" charset="0"/>
                    <a:ea typeface="Roboto" panose="02000000000000000000" pitchFamily="2" charset="0"/>
                  </a:rPr>
                  <a:t>Defer</a:t>
                </a:r>
              </a:p>
            </p:txBody>
          </p:sp>
        </p:grpSp>
        <p:grpSp>
          <p:nvGrpSpPr>
            <p:cNvPr id="40" name="Group 27">
              <a:extLst>
                <a:ext uri="{FF2B5EF4-FFF2-40B4-BE49-F238E27FC236}">
                  <a16:creationId xmlns:a16="http://schemas.microsoft.com/office/drawing/2014/main" id="{DD606E13-99E9-591D-B808-AC63E8A744D8}"/>
                </a:ext>
              </a:extLst>
            </p:cNvPr>
            <p:cNvGrpSpPr>
              <a:grpSpLocks/>
            </p:cNvGrpSpPr>
            <p:nvPr/>
          </p:nvGrpSpPr>
          <p:grpSpPr bwMode="auto">
            <a:xfrm>
              <a:off x="5406135" y="3604896"/>
              <a:ext cx="2408237" cy="1655762"/>
              <a:chOff x="3133" y="2129"/>
              <a:chExt cx="1517" cy="1043"/>
            </a:xfrm>
          </p:grpSpPr>
          <p:sp>
            <p:nvSpPr>
              <p:cNvPr id="41" name="Rectangle 28">
                <a:extLst>
                  <a:ext uri="{FF2B5EF4-FFF2-40B4-BE49-F238E27FC236}">
                    <a16:creationId xmlns:a16="http://schemas.microsoft.com/office/drawing/2014/main" id="{87184E98-AED7-8F45-986B-B38D2F0D7196}"/>
                  </a:ext>
                </a:extLst>
              </p:cNvPr>
              <p:cNvSpPr>
                <a:spLocks noChangeArrowheads="1"/>
              </p:cNvSpPr>
              <p:nvPr/>
            </p:nvSpPr>
            <p:spPr bwMode="auto">
              <a:xfrm>
                <a:off x="3133" y="2129"/>
                <a:ext cx="1517" cy="1043"/>
              </a:xfrm>
              <a:prstGeom prst="rect">
                <a:avLst/>
              </a:prstGeom>
              <a:solidFill>
                <a:schemeClr val="tx2"/>
              </a:solidFill>
              <a:ln w="28575">
                <a:solidFill>
                  <a:schemeClr val="tx1"/>
                </a:solidFill>
                <a:miter lim="800000"/>
                <a:headEnd/>
                <a:tailEnd type="none" w="sm" len="sm"/>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900">
                  <a:solidFill>
                    <a:schemeClr val="bg1"/>
                  </a:solidFill>
                  <a:latin typeface="Roboto" panose="02000000000000000000" pitchFamily="2" charset="0"/>
                  <a:ea typeface="Roboto" panose="02000000000000000000" pitchFamily="2" charset="0"/>
                </a:endParaRPr>
              </a:p>
            </p:txBody>
          </p:sp>
          <p:sp>
            <p:nvSpPr>
              <p:cNvPr id="42" name="Text Box 29">
                <a:extLst>
                  <a:ext uri="{FF2B5EF4-FFF2-40B4-BE49-F238E27FC236}">
                    <a16:creationId xmlns:a16="http://schemas.microsoft.com/office/drawing/2014/main" id="{92578E16-E111-6DAB-F9EB-6F1E6F0E68D9}"/>
                  </a:ext>
                </a:extLst>
              </p:cNvPr>
              <p:cNvSpPr txBox="1">
                <a:spLocks noChangeArrowheads="1"/>
              </p:cNvSpPr>
              <p:nvPr/>
            </p:nvSpPr>
            <p:spPr bwMode="auto">
              <a:xfrm>
                <a:off x="3576" y="2569"/>
                <a:ext cx="606" cy="198"/>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800" dirty="0">
                    <a:solidFill>
                      <a:schemeClr val="bg1"/>
                    </a:solidFill>
                    <a:latin typeface="Roboto" panose="02000000000000000000" pitchFamily="2" charset="0"/>
                    <a:ea typeface="Roboto" panose="02000000000000000000" pitchFamily="2" charset="0"/>
                  </a:rPr>
                  <a:t>Don</a:t>
                </a:r>
                <a:r>
                  <a:rPr lang="ja-JP" altLang="en-US" sz="1800" dirty="0">
                    <a:solidFill>
                      <a:schemeClr val="bg1"/>
                    </a:solidFill>
                    <a:latin typeface="Roboto" panose="02000000000000000000" pitchFamily="2" charset="0"/>
                  </a:rPr>
                  <a:t>’</a:t>
                </a:r>
                <a:r>
                  <a:rPr lang="en-US" altLang="ja-JP" sz="1800" dirty="0">
                    <a:solidFill>
                      <a:schemeClr val="bg1"/>
                    </a:solidFill>
                    <a:latin typeface="Roboto" panose="02000000000000000000" pitchFamily="2" charset="0"/>
                    <a:ea typeface="Roboto" panose="02000000000000000000" pitchFamily="2" charset="0"/>
                  </a:rPr>
                  <a:t>t Do</a:t>
                </a:r>
                <a:endParaRPr lang="en-US" altLang="en-US" sz="1800" dirty="0">
                  <a:solidFill>
                    <a:schemeClr val="bg1"/>
                  </a:solidFill>
                  <a:latin typeface="Roboto" panose="02000000000000000000" pitchFamily="2" charset="0"/>
                  <a:ea typeface="Roboto" panose="02000000000000000000" pitchFamily="2" charset="0"/>
                </a:endParaRPr>
              </a:p>
            </p:txBody>
          </p:sp>
        </p:grpSp>
        <p:sp>
          <p:nvSpPr>
            <p:cNvPr id="43" name="Freeform 30">
              <a:extLst>
                <a:ext uri="{FF2B5EF4-FFF2-40B4-BE49-F238E27FC236}">
                  <a16:creationId xmlns:a16="http://schemas.microsoft.com/office/drawing/2014/main" id="{084D9C3B-FC78-CA2A-90C3-7AAD13F31682}"/>
                </a:ext>
              </a:extLst>
            </p:cNvPr>
            <p:cNvSpPr>
              <a:spLocks/>
            </p:cNvSpPr>
            <p:nvPr/>
          </p:nvSpPr>
          <p:spPr bwMode="auto">
            <a:xfrm>
              <a:off x="2988372" y="1941196"/>
              <a:ext cx="4805363" cy="1657350"/>
            </a:xfrm>
            <a:custGeom>
              <a:avLst/>
              <a:gdLst>
                <a:gd name="T0" fmla="*/ 0 w 3027"/>
                <a:gd name="T1" fmla="*/ 2147483646 h 1076"/>
                <a:gd name="T2" fmla="*/ 2147483646 w 3027"/>
                <a:gd name="T3" fmla="*/ 2147483646 h 1076"/>
                <a:gd name="T4" fmla="*/ 2147483646 w 3027"/>
                <a:gd name="T5" fmla="*/ 2147483646 h 1076"/>
                <a:gd name="T6" fmla="*/ 2147483646 w 3027"/>
                <a:gd name="T7" fmla="*/ 0 h 1076"/>
                <a:gd name="T8" fmla="*/ 0 w 3027"/>
                <a:gd name="T9" fmla="*/ 2147483646 h 107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27" h="1076">
                  <a:moveTo>
                    <a:pt x="0" y="20"/>
                  </a:moveTo>
                  <a:lnTo>
                    <a:pt x="13" y="1076"/>
                  </a:lnTo>
                  <a:lnTo>
                    <a:pt x="1536" y="1076"/>
                  </a:lnTo>
                  <a:lnTo>
                    <a:pt x="3027" y="0"/>
                  </a:lnTo>
                  <a:lnTo>
                    <a:pt x="0" y="20"/>
                  </a:lnTo>
                  <a:close/>
                </a:path>
              </a:pathLst>
            </a:custGeom>
            <a:solidFill>
              <a:schemeClr val="accent2"/>
            </a:solidFill>
            <a:ln w="28575" cap="flat" cmpd="sng">
              <a:solidFill>
                <a:schemeClr val="tx1"/>
              </a:solidFill>
              <a:prstDash val="solid"/>
              <a:round/>
              <a:headEnd type="none" w="med" len="med"/>
              <a:tailEnd type="none" w="sm" len="sm"/>
            </a:ln>
          </p:spPr>
          <p:txBody>
            <a:bodyPr/>
            <a:lstStyle/>
            <a:p>
              <a:endParaRPr lang="en-US">
                <a:latin typeface="Roboto" panose="02000000000000000000" pitchFamily="2" charset="0"/>
                <a:ea typeface="Roboto" panose="02000000000000000000" pitchFamily="2" charset="0"/>
              </a:endParaRPr>
            </a:p>
          </p:txBody>
        </p:sp>
        <p:grpSp>
          <p:nvGrpSpPr>
            <p:cNvPr id="44" name="Group 31">
              <a:extLst>
                <a:ext uri="{FF2B5EF4-FFF2-40B4-BE49-F238E27FC236}">
                  <a16:creationId xmlns:a16="http://schemas.microsoft.com/office/drawing/2014/main" id="{D2B6D442-7475-5052-F1AC-3B994B75AC6B}"/>
                </a:ext>
              </a:extLst>
            </p:cNvPr>
            <p:cNvGrpSpPr>
              <a:grpSpLocks/>
            </p:cNvGrpSpPr>
            <p:nvPr/>
          </p:nvGrpSpPr>
          <p:grpSpPr bwMode="auto">
            <a:xfrm>
              <a:off x="3644010" y="2428558"/>
              <a:ext cx="1635125" cy="512763"/>
              <a:chOff x="1544" y="1438"/>
              <a:chExt cx="1306" cy="393"/>
            </a:xfrm>
          </p:grpSpPr>
          <p:sp>
            <p:nvSpPr>
              <p:cNvPr id="45" name="Freeform 32">
                <a:extLst>
                  <a:ext uri="{FF2B5EF4-FFF2-40B4-BE49-F238E27FC236}">
                    <a16:creationId xmlns:a16="http://schemas.microsoft.com/office/drawing/2014/main" id="{BDD95E05-C3E7-5BC2-3D6E-AC2C5DD9BD2A}"/>
                  </a:ext>
                </a:extLst>
              </p:cNvPr>
              <p:cNvSpPr>
                <a:spLocks/>
              </p:cNvSpPr>
              <p:nvPr/>
            </p:nvSpPr>
            <p:spPr bwMode="auto">
              <a:xfrm>
                <a:off x="1544" y="1438"/>
                <a:ext cx="1306" cy="393"/>
              </a:xfrm>
              <a:custGeom>
                <a:avLst/>
                <a:gdLst>
                  <a:gd name="T0" fmla="*/ 0 w 1622"/>
                  <a:gd name="T1" fmla="*/ 14 h 475"/>
                  <a:gd name="T2" fmla="*/ 0 w 1622"/>
                  <a:gd name="T3" fmla="*/ 269 h 475"/>
                  <a:gd name="T4" fmla="*/ 847 w 1622"/>
                  <a:gd name="T5" fmla="*/ 269 h 475"/>
                  <a:gd name="T6" fmla="*/ 847 w 1622"/>
                  <a:gd name="T7" fmla="*/ 8 h 475"/>
                  <a:gd name="T8" fmla="*/ 812 w 1622"/>
                  <a:gd name="T9" fmla="*/ 41 h 475"/>
                  <a:gd name="T10" fmla="*/ 787 w 1622"/>
                  <a:gd name="T11" fmla="*/ 14 h 475"/>
                  <a:gd name="T12" fmla="*/ 742 w 1622"/>
                  <a:gd name="T13" fmla="*/ 38 h 475"/>
                  <a:gd name="T14" fmla="*/ 704 w 1622"/>
                  <a:gd name="T15" fmla="*/ 22 h 475"/>
                  <a:gd name="T16" fmla="*/ 631 w 1622"/>
                  <a:gd name="T17" fmla="*/ 33 h 475"/>
                  <a:gd name="T18" fmla="*/ 599 w 1622"/>
                  <a:gd name="T19" fmla="*/ 22 h 475"/>
                  <a:gd name="T20" fmla="*/ 556 w 1622"/>
                  <a:gd name="T21" fmla="*/ 38 h 475"/>
                  <a:gd name="T22" fmla="*/ 516 w 1622"/>
                  <a:gd name="T23" fmla="*/ 27 h 475"/>
                  <a:gd name="T24" fmla="*/ 486 w 1622"/>
                  <a:gd name="T25" fmla="*/ 51 h 475"/>
                  <a:gd name="T26" fmla="*/ 444 w 1622"/>
                  <a:gd name="T27" fmla="*/ 14 h 475"/>
                  <a:gd name="T28" fmla="*/ 408 w 1622"/>
                  <a:gd name="T29" fmla="*/ 36 h 475"/>
                  <a:gd name="T30" fmla="*/ 381 w 1622"/>
                  <a:gd name="T31" fmla="*/ 17 h 475"/>
                  <a:gd name="T32" fmla="*/ 320 w 1622"/>
                  <a:gd name="T33" fmla="*/ 36 h 475"/>
                  <a:gd name="T34" fmla="*/ 311 w 1622"/>
                  <a:gd name="T35" fmla="*/ 17 h 475"/>
                  <a:gd name="T36" fmla="*/ 250 w 1622"/>
                  <a:gd name="T37" fmla="*/ 41 h 475"/>
                  <a:gd name="T38" fmla="*/ 210 w 1622"/>
                  <a:gd name="T39" fmla="*/ 17 h 475"/>
                  <a:gd name="T40" fmla="*/ 165 w 1622"/>
                  <a:gd name="T41" fmla="*/ 33 h 475"/>
                  <a:gd name="T42" fmla="*/ 135 w 1622"/>
                  <a:gd name="T43" fmla="*/ 6 h 475"/>
                  <a:gd name="T44" fmla="*/ 105 w 1622"/>
                  <a:gd name="T45" fmla="*/ 19 h 475"/>
                  <a:gd name="T46" fmla="*/ 78 w 1622"/>
                  <a:gd name="T47" fmla="*/ 0 h 475"/>
                  <a:gd name="T48" fmla="*/ 58 w 1622"/>
                  <a:gd name="T49" fmla="*/ 22 h 475"/>
                  <a:gd name="T50" fmla="*/ 0 w 1622"/>
                  <a:gd name="T51" fmla="*/ 14 h 475"/>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1622" h="475">
                    <a:moveTo>
                      <a:pt x="0" y="24"/>
                    </a:moveTo>
                    <a:lnTo>
                      <a:pt x="0" y="475"/>
                    </a:lnTo>
                    <a:lnTo>
                      <a:pt x="1622" y="475"/>
                    </a:lnTo>
                    <a:lnTo>
                      <a:pt x="1622" y="15"/>
                    </a:lnTo>
                    <a:lnTo>
                      <a:pt x="1555" y="72"/>
                    </a:lnTo>
                    <a:lnTo>
                      <a:pt x="1507" y="24"/>
                    </a:lnTo>
                    <a:lnTo>
                      <a:pt x="1421" y="67"/>
                    </a:lnTo>
                    <a:lnTo>
                      <a:pt x="1349" y="39"/>
                    </a:lnTo>
                    <a:lnTo>
                      <a:pt x="1210" y="58"/>
                    </a:lnTo>
                    <a:lnTo>
                      <a:pt x="1147" y="39"/>
                    </a:lnTo>
                    <a:lnTo>
                      <a:pt x="1066" y="67"/>
                    </a:lnTo>
                    <a:lnTo>
                      <a:pt x="989" y="48"/>
                    </a:lnTo>
                    <a:lnTo>
                      <a:pt x="931" y="91"/>
                    </a:lnTo>
                    <a:lnTo>
                      <a:pt x="850" y="24"/>
                    </a:lnTo>
                    <a:lnTo>
                      <a:pt x="782" y="63"/>
                    </a:lnTo>
                    <a:lnTo>
                      <a:pt x="730" y="29"/>
                    </a:lnTo>
                    <a:lnTo>
                      <a:pt x="614" y="63"/>
                    </a:lnTo>
                    <a:lnTo>
                      <a:pt x="595" y="29"/>
                    </a:lnTo>
                    <a:lnTo>
                      <a:pt x="480" y="72"/>
                    </a:lnTo>
                    <a:lnTo>
                      <a:pt x="403" y="29"/>
                    </a:lnTo>
                    <a:lnTo>
                      <a:pt x="317" y="58"/>
                    </a:lnTo>
                    <a:lnTo>
                      <a:pt x="259" y="10"/>
                    </a:lnTo>
                    <a:lnTo>
                      <a:pt x="202" y="34"/>
                    </a:lnTo>
                    <a:lnTo>
                      <a:pt x="149" y="0"/>
                    </a:lnTo>
                    <a:lnTo>
                      <a:pt x="110" y="39"/>
                    </a:lnTo>
                    <a:lnTo>
                      <a:pt x="0" y="24"/>
                    </a:lnTo>
                    <a:close/>
                  </a:path>
                </a:pathLst>
              </a:custGeom>
              <a:solidFill>
                <a:srgbClr val="66CCFF"/>
              </a:solidFill>
              <a:ln w="12700" cap="flat" cmpd="sng">
                <a:solidFill>
                  <a:schemeClr val="tx1"/>
                </a:solidFill>
                <a:prstDash val="solid"/>
                <a:round/>
                <a:headEnd type="none" w="med" len="med"/>
                <a:tailEnd type="none" w="sm" len="sm"/>
              </a:ln>
            </p:spPr>
            <p:txBody>
              <a:bodyPr/>
              <a:lstStyle/>
              <a:p>
                <a:endParaRPr lang="en-US">
                  <a:latin typeface="Roboto" panose="02000000000000000000" pitchFamily="2" charset="0"/>
                  <a:ea typeface="Roboto" panose="02000000000000000000" pitchFamily="2" charset="0"/>
                </a:endParaRPr>
              </a:p>
            </p:txBody>
          </p:sp>
          <p:sp>
            <p:nvSpPr>
              <p:cNvPr id="46" name="Oval 33">
                <a:extLst>
                  <a:ext uri="{FF2B5EF4-FFF2-40B4-BE49-F238E27FC236}">
                    <a16:creationId xmlns:a16="http://schemas.microsoft.com/office/drawing/2014/main" id="{8F41E383-4528-5603-A37C-57B0EB101588}"/>
                  </a:ext>
                </a:extLst>
              </p:cNvPr>
              <p:cNvSpPr>
                <a:spLocks noChangeArrowheads="1"/>
              </p:cNvSpPr>
              <p:nvPr/>
            </p:nvSpPr>
            <p:spPr bwMode="auto">
              <a:xfrm>
                <a:off x="2071" y="1551"/>
                <a:ext cx="228" cy="218"/>
              </a:xfrm>
              <a:prstGeom prst="ellipse">
                <a:avLst/>
              </a:prstGeom>
              <a:solidFill>
                <a:srgbClr val="FFFF00"/>
              </a:solidFill>
              <a:ln w="9525">
                <a:solidFill>
                  <a:schemeClr val="tx1"/>
                </a:solidFill>
                <a:round/>
                <a:headEnd/>
                <a:tailEnd type="none" w="sm" len="sm"/>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5000"/>
                  </a:lnSpc>
                  <a:buFont typeface="Wingdings" panose="05000000000000000000" pitchFamily="2" charset="2"/>
                  <a:buNone/>
                </a:pPr>
                <a:endParaRPr lang="en-US" altLang="en-US" sz="1600">
                  <a:latin typeface="Roboto" panose="02000000000000000000" pitchFamily="2" charset="0"/>
                  <a:ea typeface="Roboto" panose="02000000000000000000" pitchFamily="2" charset="0"/>
                </a:endParaRPr>
              </a:p>
            </p:txBody>
          </p:sp>
          <p:sp>
            <p:nvSpPr>
              <p:cNvPr id="47" name="Oval 34">
                <a:extLst>
                  <a:ext uri="{FF2B5EF4-FFF2-40B4-BE49-F238E27FC236}">
                    <a16:creationId xmlns:a16="http://schemas.microsoft.com/office/drawing/2014/main" id="{1FBCF93D-48CF-2855-61B3-2DF34B6AE9DF}"/>
                  </a:ext>
                </a:extLst>
              </p:cNvPr>
              <p:cNvSpPr>
                <a:spLocks noChangeArrowheads="1"/>
              </p:cNvSpPr>
              <p:nvPr/>
            </p:nvSpPr>
            <p:spPr bwMode="auto">
              <a:xfrm>
                <a:off x="1812" y="1550"/>
                <a:ext cx="228" cy="218"/>
              </a:xfrm>
              <a:prstGeom prst="ellipse">
                <a:avLst/>
              </a:prstGeom>
              <a:solidFill>
                <a:srgbClr val="FFFF00"/>
              </a:solidFill>
              <a:ln w="9525">
                <a:solidFill>
                  <a:schemeClr val="tx1"/>
                </a:solidFill>
                <a:round/>
                <a:headEnd/>
                <a:tailEnd type="none" w="sm" len="sm"/>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5000"/>
                  </a:lnSpc>
                  <a:buFont typeface="Wingdings" panose="05000000000000000000" pitchFamily="2" charset="2"/>
                  <a:buNone/>
                </a:pPr>
                <a:endParaRPr lang="en-US" altLang="en-US" sz="1600">
                  <a:latin typeface="Roboto" panose="02000000000000000000" pitchFamily="2" charset="0"/>
                  <a:ea typeface="Roboto" panose="02000000000000000000" pitchFamily="2" charset="0"/>
                </a:endParaRPr>
              </a:p>
            </p:txBody>
          </p:sp>
        </p:grpSp>
        <p:sp>
          <p:nvSpPr>
            <p:cNvPr id="48" name="Text Box 35">
              <a:extLst>
                <a:ext uri="{FF2B5EF4-FFF2-40B4-BE49-F238E27FC236}">
                  <a16:creationId xmlns:a16="http://schemas.microsoft.com/office/drawing/2014/main" id="{134D353D-AAA3-B03F-9DF5-5D308754C356}"/>
                </a:ext>
              </a:extLst>
            </p:cNvPr>
            <p:cNvSpPr txBox="1">
              <a:spLocks noChangeArrowheads="1"/>
            </p:cNvSpPr>
            <p:nvPr/>
          </p:nvSpPr>
          <p:spPr bwMode="auto">
            <a:xfrm>
              <a:off x="4148614" y="2979421"/>
              <a:ext cx="667190" cy="316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800">
                  <a:latin typeface="Roboto" panose="02000000000000000000" pitchFamily="2" charset="0"/>
                  <a:ea typeface="Roboto" panose="02000000000000000000" pitchFamily="2" charset="0"/>
                </a:rPr>
                <a:t>Do it !</a:t>
              </a:r>
            </a:p>
          </p:txBody>
        </p:sp>
        <p:sp>
          <p:nvSpPr>
            <p:cNvPr id="49" name="Text Box 36">
              <a:extLst>
                <a:ext uri="{FF2B5EF4-FFF2-40B4-BE49-F238E27FC236}">
                  <a16:creationId xmlns:a16="http://schemas.microsoft.com/office/drawing/2014/main" id="{BCB9C3B8-0E4D-EF00-9618-03D192BFC2E7}"/>
                </a:ext>
              </a:extLst>
            </p:cNvPr>
            <p:cNvSpPr txBox="1">
              <a:spLocks noChangeArrowheads="1"/>
            </p:cNvSpPr>
            <p:nvPr/>
          </p:nvSpPr>
          <p:spPr bwMode="auto">
            <a:xfrm>
              <a:off x="1062735" y="3308033"/>
              <a:ext cx="1966912"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Bef>
                  <a:spcPct val="20000"/>
                </a:spcBef>
                <a:spcAft>
                  <a:spcPct val="0"/>
                </a:spcAft>
                <a:buClrTx/>
                <a:buSzTx/>
                <a:buFontTx/>
                <a:buNone/>
              </a:pPr>
              <a:r>
                <a:rPr lang="en-US" altLang="en-US" sz="1800">
                  <a:latin typeface="Roboto" panose="02000000000000000000" pitchFamily="2" charset="0"/>
                  <a:ea typeface="Roboto" panose="02000000000000000000" pitchFamily="2" charset="0"/>
                </a:rPr>
                <a:t>Level of Impact </a:t>
              </a:r>
              <a:r>
                <a:rPr lang="en-US" altLang="en-US" sz="1400">
                  <a:latin typeface="Roboto" panose="02000000000000000000" pitchFamily="2" charset="0"/>
                  <a:ea typeface="Roboto" panose="02000000000000000000" pitchFamily="2" charset="0"/>
                </a:rPr>
                <a:t>(on CEDAC Metric)</a:t>
              </a:r>
            </a:p>
          </p:txBody>
        </p:sp>
        <p:sp>
          <p:nvSpPr>
            <p:cNvPr id="50" name="Text Box 37">
              <a:extLst>
                <a:ext uri="{FF2B5EF4-FFF2-40B4-BE49-F238E27FC236}">
                  <a16:creationId xmlns:a16="http://schemas.microsoft.com/office/drawing/2014/main" id="{399BB886-C67A-A29E-512C-4206799E4B7F}"/>
                </a:ext>
              </a:extLst>
            </p:cNvPr>
            <p:cNvSpPr txBox="1">
              <a:spLocks noChangeArrowheads="1"/>
            </p:cNvSpPr>
            <p:nvPr/>
          </p:nvSpPr>
          <p:spPr bwMode="auto">
            <a:xfrm>
              <a:off x="4058347" y="5343208"/>
              <a:ext cx="2700338" cy="6278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Bef>
                  <a:spcPct val="20000"/>
                </a:spcBef>
                <a:spcAft>
                  <a:spcPct val="0"/>
                </a:spcAft>
                <a:buClrTx/>
                <a:buSzTx/>
                <a:buFontTx/>
                <a:buNone/>
              </a:pPr>
              <a:r>
                <a:rPr lang="en-US" altLang="en-US" sz="1800">
                  <a:latin typeface="Roboto" panose="02000000000000000000" pitchFamily="2" charset="0"/>
                  <a:ea typeface="Roboto" panose="02000000000000000000" pitchFamily="2" charset="0"/>
                </a:rPr>
                <a:t>Level of Effort to Implement </a:t>
              </a:r>
            </a:p>
            <a:p>
              <a:pPr algn="ctr">
                <a:lnSpc>
                  <a:spcPct val="100000"/>
                </a:lnSpc>
                <a:spcBef>
                  <a:spcPct val="20000"/>
                </a:spcBef>
                <a:spcAft>
                  <a:spcPct val="0"/>
                </a:spcAft>
                <a:buClrTx/>
                <a:buSzTx/>
                <a:buFontTx/>
                <a:buNone/>
              </a:pPr>
              <a:r>
                <a:rPr lang="en-US" altLang="en-US" sz="1400">
                  <a:latin typeface="Roboto" panose="02000000000000000000" pitchFamily="2" charset="0"/>
                  <a:ea typeface="Roboto" panose="02000000000000000000" pitchFamily="2" charset="0"/>
                </a:rPr>
                <a:t>(Cost, Time, Resources)</a:t>
              </a:r>
            </a:p>
          </p:txBody>
        </p:sp>
      </p:grpSp>
    </p:spTree>
    <p:extLst>
      <p:ext uri="{BB962C8B-B14F-4D97-AF65-F5344CB8AC3E}">
        <p14:creationId xmlns:p14="http://schemas.microsoft.com/office/powerpoint/2010/main" val="1952755698"/>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8D9ED7-5CF9-6F4B-B4A8-2DBF8D852A20}"/>
              </a:ext>
            </a:extLst>
          </p:cNvPr>
          <p:cNvSpPr>
            <a:spLocks noGrp="1"/>
          </p:cNvSpPr>
          <p:nvPr>
            <p:ph type="title"/>
          </p:nvPr>
        </p:nvSpPr>
        <p:spPr/>
        <p:txBody>
          <a:bodyPr>
            <a:noAutofit/>
          </a:bodyPr>
          <a:lstStyle/>
          <a:p>
            <a:r>
              <a:rPr lang="en-US" sz="2800" dirty="0">
                <a:latin typeface="Roboto Medium"/>
                <a:ea typeface="Roboto Medium"/>
                <a:cs typeface="Roboto Medium"/>
              </a:rPr>
              <a:t>Case Study Exercise: CEDAC Step 7 – Prioritize Improvements</a:t>
            </a:r>
          </a:p>
        </p:txBody>
      </p:sp>
      <p:sp>
        <p:nvSpPr>
          <p:cNvPr id="5" name="Slide Number Placeholder 4">
            <a:extLst>
              <a:ext uri="{FF2B5EF4-FFF2-40B4-BE49-F238E27FC236}">
                <a16:creationId xmlns:a16="http://schemas.microsoft.com/office/drawing/2014/main" id="{EFB3C390-D307-7FFC-DADE-918C5180FE01}"/>
              </a:ext>
            </a:extLst>
          </p:cNvPr>
          <p:cNvSpPr>
            <a:spLocks noGrp="1"/>
          </p:cNvSpPr>
          <p:nvPr>
            <p:ph type="sldNum" sz="quarter" idx="4294967295"/>
          </p:nvPr>
        </p:nvSpPr>
        <p:spPr>
          <a:xfrm>
            <a:off x="8595078" y="6333148"/>
            <a:ext cx="2743200" cy="365125"/>
          </a:xfrm>
          <a:prstGeom prst="rect">
            <a:avLst/>
          </a:prstGeom>
        </p:spPr>
        <p:txBody>
          <a:bodyPr/>
          <a:lstStyle/>
          <a:p>
            <a:fld id="{CC6D4273-7FC1-0947-B9FE-19CB3C0D1FB6}" type="slidenum">
              <a:rPr lang="en-US" smtClean="0"/>
              <a:t>87</a:t>
            </a:fld>
            <a:endParaRPr lang="en-US"/>
          </a:p>
        </p:txBody>
      </p:sp>
      <p:sp>
        <p:nvSpPr>
          <p:cNvPr id="11" name="Rectangle 10">
            <a:extLst>
              <a:ext uri="{FF2B5EF4-FFF2-40B4-BE49-F238E27FC236}">
                <a16:creationId xmlns:a16="http://schemas.microsoft.com/office/drawing/2014/main" id="{3A9506B7-1A57-1322-5AB5-DA8522EE7602}"/>
              </a:ext>
            </a:extLst>
          </p:cNvPr>
          <p:cNvSpPr/>
          <p:nvPr/>
        </p:nvSpPr>
        <p:spPr>
          <a:xfrm>
            <a:off x="838200" y="2328432"/>
            <a:ext cx="9722342" cy="471924"/>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4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Analyze Case Study </a:t>
            </a:r>
          </a:p>
        </p:txBody>
      </p:sp>
      <p:sp>
        <p:nvSpPr>
          <p:cNvPr id="12" name="TextBox 11">
            <a:extLst>
              <a:ext uri="{FF2B5EF4-FFF2-40B4-BE49-F238E27FC236}">
                <a16:creationId xmlns:a16="http://schemas.microsoft.com/office/drawing/2014/main" id="{A4ECB5F6-F271-06CD-2A6A-E79F5245CD15}"/>
              </a:ext>
            </a:extLst>
          </p:cNvPr>
          <p:cNvSpPr txBox="1"/>
          <p:nvPr/>
        </p:nvSpPr>
        <p:spPr>
          <a:xfrm>
            <a:off x="838200" y="1767653"/>
            <a:ext cx="1603003"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Objective</a:t>
            </a:r>
            <a:endParaRPr kumimoji="0" lang="en-US" sz="56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endParaRPr>
          </a:p>
        </p:txBody>
      </p:sp>
      <p:sp>
        <p:nvSpPr>
          <p:cNvPr id="13" name="TextBox 12">
            <a:extLst>
              <a:ext uri="{FF2B5EF4-FFF2-40B4-BE49-F238E27FC236}">
                <a16:creationId xmlns:a16="http://schemas.microsoft.com/office/drawing/2014/main" id="{EA94F381-2B48-C111-2724-726B0390290F}"/>
              </a:ext>
            </a:extLst>
          </p:cNvPr>
          <p:cNvSpPr txBox="1"/>
          <p:nvPr/>
        </p:nvSpPr>
        <p:spPr>
          <a:xfrm>
            <a:off x="838200" y="2952549"/>
            <a:ext cx="2022990"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Instructions</a:t>
            </a:r>
            <a:endParaRPr kumimoji="0" lang="en-US" sz="56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endParaRPr>
          </a:p>
        </p:txBody>
      </p:sp>
      <p:sp>
        <p:nvSpPr>
          <p:cNvPr id="14" name="Rectangle 13">
            <a:extLst>
              <a:ext uri="{FF2B5EF4-FFF2-40B4-BE49-F238E27FC236}">
                <a16:creationId xmlns:a16="http://schemas.microsoft.com/office/drawing/2014/main" id="{82677B47-98C9-F770-8D4E-7D91CF39F5A7}"/>
              </a:ext>
            </a:extLst>
          </p:cNvPr>
          <p:cNvSpPr/>
          <p:nvPr/>
        </p:nvSpPr>
        <p:spPr>
          <a:xfrm>
            <a:off x="818941" y="3486027"/>
            <a:ext cx="4419809" cy="2318583"/>
          </a:xfrm>
          <a:prstGeom prst="rect">
            <a:avLst/>
          </a:prstGeom>
          <a:solidFill>
            <a:schemeClr val="bg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In each team, follow the process outlined on the previous slides to prioritize IMPROVEMENT Cards.</a:t>
            </a:r>
          </a:p>
          <a:p>
            <a:pPr marL="0" marR="0" indent="0" algn="l" defTabSz="584200" rtl="0" fontAlgn="auto" latinLnBrk="0" hangingPunct="0">
              <a:lnSpc>
                <a:spcPct val="100000"/>
              </a:lnSpc>
              <a:spcBef>
                <a:spcPts val="0"/>
              </a:spcBef>
              <a:spcAft>
                <a:spcPts val="0"/>
              </a:spcAft>
              <a:buClrTx/>
              <a:buSzTx/>
              <a:buFontTx/>
              <a:buNone/>
              <a:tabLst/>
            </a:pPr>
            <a:r>
              <a:rPr kumimoji="0" lang="en-US"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Group like cards together and rewrite any cards that need further clarification.</a:t>
            </a:r>
          </a:p>
          <a:p>
            <a:pPr marL="0" marR="0" indent="0" algn="l" defTabSz="584200" rtl="0" fontAlgn="auto" latinLnBrk="0" hangingPunct="0">
              <a:lnSpc>
                <a:spcPct val="100000"/>
              </a:lnSpc>
              <a:spcBef>
                <a:spcPts val="0"/>
              </a:spcBef>
              <a:spcAft>
                <a:spcPts val="0"/>
              </a:spcAft>
              <a:buClrTx/>
              <a:buSzTx/>
              <a:buFontTx/>
              <a:buNone/>
              <a:tabLst/>
            </a:pPr>
            <a:r>
              <a:rPr kumimoji="0" lang="en-US"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Number the IMPROVEMENT Cards.</a:t>
            </a:r>
          </a:p>
        </p:txBody>
      </p:sp>
      <p:sp>
        <p:nvSpPr>
          <p:cNvPr id="15" name="TextBox 14">
            <a:extLst>
              <a:ext uri="{FF2B5EF4-FFF2-40B4-BE49-F238E27FC236}">
                <a16:creationId xmlns:a16="http://schemas.microsoft.com/office/drawing/2014/main" id="{90914B3B-0CE2-FDFF-2FB9-215236316256}"/>
              </a:ext>
            </a:extLst>
          </p:cNvPr>
          <p:cNvSpPr txBox="1"/>
          <p:nvPr/>
        </p:nvSpPr>
        <p:spPr>
          <a:xfrm>
            <a:off x="5879250" y="2952548"/>
            <a:ext cx="2968761"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Time to Complete</a:t>
            </a:r>
          </a:p>
        </p:txBody>
      </p:sp>
      <p:sp>
        <p:nvSpPr>
          <p:cNvPr id="16" name="TextBox 15">
            <a:extLst>
              <a:ext uri="{FF2B5EF4-FFF2-40B4-BE49-F238E27FC236}">
                <a16:creationId xmlns:a16="http://schemas.microsoft.com/office/drawing/2014/main" id="{6285230A-07BD-F376-25CA-177CC1D4233F}"/>
              </a:ext>
            </a:extLst>
          </p:cNvPr>
          <p:cNvSpPr txBox="1"/>
          <p:nvPr/>
        </p:nvSpPr>
        <p:spPr>
          <a:xfrm>
            <a:off x="5879250" y="4136472"/>
            <a:ext cx="1888337"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Deliverable</a:t>
            </a:r>
          </a:p>
        </p:txBody>
      </p:sp>
      <p:sp>
        <p:nvSpPr>
          <p:cNvPr id="17" name="Rectangle 16">
            <a:extLst>
              <a:ext uri="{FF2B5EF4-FFF2-40B4-BE49-F238E27FC236}">
                <a16:creationId xmlns:a16="http://schemas.microsoft.com/office/drawing/2014/main" id="{67530399-8FDB-50CD-E8FD-8E286DE1A2EA}"/>
              </a:ext>
            </a:extLst>
          </p:cNvPr>
          <p:cNvSpPr/>
          <p:nvPr/>
        </p:nvSpPr>
        <p:spPr>
          <a:xfrm>
            <a:off x="5879250" y="3496996"/>
            <a:ext cx="4681292" cy="471924"/>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584200" hangingPunct="0"/>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15 minutes</a:t>
            </a:r>
          </a:p>
        </p:txBody>
      </p:sp>
      <p:sp>
        <p:nvSpPr>
          <p:cNvPr id="18" name="Rectangle 17">
            <a:extLst>
              <a:ext uri="{FF2B5EF4-FFF2-40B4-BE49-F238E27FC236}">
                <a16:creationId xmlns:a16="http://schemas.microsoft.com/office/drawing/2014/main" id="{84DF6BD6-975A-3700-5E69-322EFF4F722E}"/>
              </a:ext>
            </a:extLst>
          </p:cNvPr>
          <p:cNvSpPr/>
          <p:nvPr/>
        </p:nvSpPr>
        <p:spPr>
          <a:xfrm>
            <a:off x="5879250" y="4665560"/>
            <a:ext cx="4681292" cy="471924"/>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584200" hangingPunct="0"/>
            <a:r>
              <a:rPr lang="en-US" sz="240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IMPROVEMENT Cards prioritized</a:t>
            </a:r>
            <a:endPar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endParaRPr>
          </a:p>
        </p:txBody>
      </p:sp>
      <p:grpSp>
        <p:nvGrpSpPr>
          <p:cNvPr id="3" name="Group 2">
            <a:extLst>
              <a:ext uri="{FF2B5EF4-FFF2-40B4-BE49-F238E27FC236}">
                <a16:creationId xmlns:a16="http://schemas.microsoft.com/office/drawing/2014/main" id="{33838455-30F4-7D35-C5DD-0FEFD791F7A7}"/>
              </a:ext>
            </a:extLst>
          </p:cNvPr>
          <p:cNvGrpSpPr/>
          <p:nvPr/>
        </p:nvGrpSpPr>
        <p:grpSpPr>
          <a:xfrm>
            <a:off x="838200" y="297639"/>
            <a:ext cx="4351020" cy="307138"/>
            <a:chOff x="838200" y="297639"/>
            <a:chExt cx="4351020" cy="307138"/>
          </a:xfrm>
        </p:grpSpPr>
        <p:grpSp>
          <p:nvGrpSpPr>
            <p:cNvPr id="4" name="Group 3">
              <a:extLst>
                <a:ext uri="{FF2B5EF4-FFF2-40B4-BE49-F238E27FC236}">
                  <a16:creationId xmlns:a16="http://schemas.microsoft.com/office/drawing/2014/main" id="{BD0E256E-61C9-53A3-0C8D-C424C6F9DF68}"/>
                </a:ext>
              </a:extLst>
            </p:cNvPr>
            <p:cNvGrpSpPr/>
            <p:nvPr/>
          </p:nvGrpSpPr>
          <p:grpSpPr>
            <a:xfrm>
              <a:off x="838200" y="297639"/>
              <a:ext cx="1687517" cy="290657"/>
              <a:chOff x="838200" y="297639"/>
              <a:chExt cx="1687517" cy="290657"/>
            </a:xfrm>
          </p:grpSpPr>
          <p:sp>
            <p:nvSpPr>
              <p:cNvPr id="7" name="AutoShape 9">
                <a:extLst>
                  <a:ext uri="{FF2B5EF4-FFF2-40B4-BE49-F238E27FC236}">
                    <a16:creationId xmlns:a16="http://schemas.microsoft.com/office/drawing/2014/main" id="{9AFA0187-E137-46A4-13F0-CF9AC0B151EF}"/>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8" name="AutoShape 9">
                <a:extLst>
                  <a:ext uri="{FF2B5EF4-FFF2-40B4-BE49-F238E27FC236}">
                    <a16:creationId xmlns:a16="http://schemas.microsoft.com/office/drawing/2014/main" id="{0215D16D-21A3-A9BE-1360-CB625C3A2B1D}"/>
                  </a:ext>
                </a:extLst>
              </p:cNvPr>
              <p:cNvSpPr>
                <a:spLocks noChangeArrowheads="1"/>
              </p:cNvSpPr>
              <p:nvPr/>
            </p:nvSpPr>
            <p:spPr bwMode="auto">
              <a:xfrm>
                <a:off x="1779225" y="297639"/>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nvGrpSpPr>
              <p:cNvPr id="9" name="Group 8">
                <a:extLst>
                  <a:ext uri="{FF2B5EF4-FFF2-40B4-BE49-F238E27FC236}">
                    <a16:creationId xmlns:a16="http://schemas.microsoft.com/office/drawing/2014/main" id="{44418A4C-EEC3-E913-3662-7A78AC7B9FFB}"/>
                  </a:ext>
                </a:extLst>
              </p:cNvPr>
              <p:cNvGrpSpPr/>
              <p:nvPr/>
            </p:nvGrpSpPr>
            <p:grpSpPr>
              <a:xfrm>
                <a:off x="838200" y="297639"/>
                <a:ext cx="1060167" cy="290657"/>
                <a:chOff x="826426" y="4041857"/>
                <a:chExt cx="1060167" cy="290657"/>
              </a:xfrm>
            </p:grpSpPr>
            <p:sp>
              <p:nvSpPr>
                <p:cNvPr id="10" name="AutoShape 9">
                  <a:extLst>
                    <a:ext uri="{FF2B5EF4-FFF2-40B4-BE49-F238E27FC236}">
                      <a16:creationId xmlns:a16="http://schemas.microsoft.com/office/drawing/2014/main" id="{A46650AB-3B49-3E89-B7F7-B4004D947C42}"/>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9" name="AutoShape 11">
                  <a:extLst>
                    <a:ext uri="{FF2B5EF4-FFF2-40B4-BE49-F238E27FC236}">
                      <a16:creationId xmlns:a16="http://schemas.microsoft.com/office/drawing/2014/main" id="{384D0189-DE4C-08A8-2E92-E482AEC09D0F}"/>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0" name="AutoShape 10">
                  <a:extLst>
                    <a:ext uri="{FF2B5EF4-FFF2-40B4-BE49-F238E27FC236}">
                      <a16:creationId xmlns:a16="http://schemas.microsoft.com/office/drawing/2014/main" id="{E346B49B-C6A4-A460-D53D-02493BA50EFD}"/>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6" name="TextBox 5">
              <a:extLst>
                <a:ext uri="{FF2B5EF4-FFF2-40B4-BE49-F238E27FC236}">
                  <a16:creationId xmlns:a16="http://schemas.microsoft.com/office/drawing/2014/main" id="{AE3534B4-CF02-8A4E-731E-D557F441C640}"/>
                </a:ext>
              </a:extLst>
            </p:cNvPr>
            <p:cNvSpPr txBox="1"/>
            <p:nvPr/>
          </p:nvSpPr>
          <p:spPr>
            <a:xfrm>
              <a:off x="2525717" y="313415"/>
              <a:ext cx="266350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CEDAC Problem Solution</a:t>
              </a:r>
            </a:p>
          </p:txBody>
        </p:sp>
      </p:grpSp>
    </p:spTree>
    <p:extLst>
      <p:ext uri="{BB962C8B-B14F-4D97-AF65-F5344CB8AC3E}">
        <p14:creationId xmlns:p14="http://schemas.microsoft.com/office/powerpoint/2010/main" val="2490220898"/>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noAutofit/>
          </a:bodyPr>
          <a:lstStyle/>
          <a:p>
            <a:r>
              <a:rPr lang="en-US" sz="3200" dirty="0"/>
              <a:t>Electronic transfer of all IMPROVEMENT Card data</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88</a:t>
            </a:fld>
            <a:endParaRPr lang="en-US"/>
          </a:p>
        </p:txBody>
      </p:sp>
      <p:grpSp>
        <p:nvGrpSpPr>
          <p:cNvPr id="4" name="Group 3">
            <a:extLst>
              <a:ext uri="{FF2B5EF4-FFF2-40B4-BE49-F238E27FC236}">
                <a16:creationId xmlns:a16="http://schemas.microsoft.com/office/drawing/2014/main" id="{C1F2DC6B-D88C-7FA5-5003-05F28F6783E5}"/>
              </a:ext>
            </a:extLst>
          </p:cNvPr>
          <p:cNvGrpSpPr/>
          <p:nvPr/>
        </p:nvGrpSpPr>
        <p:grpSpPr>
          <a:xfrm>
            <a:off x="838200" y="297639"/>
            <a:ext cx="4351020" cy="307138"/>
            <a:chOff x="838200" y="297639"/>
            <a:chExt cx="4351020" cy="307138"/>
          </a:xfrm>
        </p:grpSpPr>
        <p:grpSp>
          <p:nvGrpSpPr>
            <p:cNvPr id="6" name="Group 5">
              <a:extLst>
                <a:ext uri="{FF2B5EF4-FFF2-40B4-BE49-F238E27FC236}">
                  <a16:creationId xmlns:a16="http://schemas.microsoft.com/office/drawing/2014/main" id="{B5375B13-A527-ADD6-801D-0D6CB82E74BC}"/>
                </a:ext>
              </a:extLst>
            </p:cNvPr>
            <p:cNvGrpSpPr/>
            <p:nvPr/>
          </p:nvGrpSpPr>
          <p:grpSpPr>
            <a:xfrm>
              <a:off x="838200" y="297639"/>
              <a:ext cx="1687517" cy="290657"/>
              <a:chOff x="838200" y="297639"/>
              <a:chExt cx="1687517" cy="290657"/>
            </a:xfrm>
          </p:grpSpPr>
          <p:sp>
            <p:nvSpPr>
              <p:cNvPr id="8" name="AutoShape 9">
                <a:extLst>
                  <a:ext uri="{FF2B5EF4-FFF2-40B4-BE49-F238E27FC236}">
                    <a16:creationId xmlns:a16="http://schemas.microsoft.com/office/drawing/2014/main" id="{522737C5-48ED-C14C-5338-43A89A4D95E6}"/>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9" name="AutoShape 9">
                <a:extLst>
                  <a:ext uri="{FF2B5EF4-FFF2-40B4-BE49-F238E27FC236}">
                    <a16:creationId xmlns:a16="http://schemas.microsoft.com/office/drawing/2014/main" id="{C6C81D3D-7428-13F6-58A9-351006664885}"/>
                  </a:ext>
                </a:extLst>
              </p:cNvPr>
              <p:cNvSpPr>
                <a:spLocks noChangeArrowheads="1"/>
              </p:cNvSpPr>
              <p:nvPr/>
            </p:nvSpPr>
            <p:spPr bwMode="auto">
              <a:xfrm>
                <a:off x="1779225" y="297639"/>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nvGrpSpPr>
              <p:cNvPr id="10" name="Group 9">
                <a:extLst>
                  <a:ext uri="{FF2B5EF4-FFF2-40B4-BE49-F238E27FC236}">
                    <a16:creationId xmlns:a16="http://schemas.microsoft.com/office/drawing/2014/main" id="{402C9DD6-204A-C867-5AAC-7D462ECA9C05}"/>
                  </a:ext>
                </a:extLst>
              </p:cNvPr>
              <p:cNvGrpSpPr/>
              <p:nvPr/>
            </p:nvGrpSpPr>
            <p:grpSpPr>
              <a:xfrm>
                <a:off x="838200" y="297639"/>
                <a:ext cx="1060167" cy="290657"/>
                <a:chOff x="826426" y="4041857"/>
                <a:chExt cx="1060167" cy="290657"/>
              </a:xfrm>
            </p:grpSpPr>
            <p:sp>
              <p:nvSpPr>
                <p:cNvPr id="11" name="AutoShape 9">
                  <a:extLst>
                    <a:ext uri="{FF2B5EF4-FFF2-40B4-BE49-F238E27FC236}">
                      <a16:creationId xmlns:a16="http://schemas.microsoft.com/office/drawing/2014/main" id="{08BD392E-5779-F662-9B3B-5EE2616C36B2}"/>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2" name="AutoShape 11">
                  <a:extLst>
                    <a:ext uri="{FF2B5EF4-FFF2-40B4-BE49-F238E27FC236}">
                      <a16:creationId xmlns:a16="http://schemas.microsoft.com/office/drawing/2014/main" id="{8FC2A77B-56E8-8507-CAE7-B64ED1005372}"/>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3" name="AutoShape 10">
                  <a:extLst>
                    <a:ext uri="{FF2B5EF4-FFF2-40B4-BE49-F238E27FC236}">
                      <a16:creationId xmlns:a16="http://schemas.microsoft.com/office/drawing/2014/main" id="{56BF6379-B7D9-C0DF-7601-82D8EA4E4557}"/>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7" name="TextBox 6">
              <a:extLst>
                <a:ext uri="{FF2B5EF4-FFF2-40B4-BE49-F238E27FC236}">
                  <a16:creationId xmlns:a16="http://schemas.microsoft.com/office/drawing/2014/main" id="{7FAABA21-3AD5-A595-D680-61C4FEFB6378}"/>
                </a:ext>
              </a:extLst>
            </p:cNvPr>
            <p:cNvSpPr txBox="1"/>
            <p:nvPr/>
          </p:nvSpPr>
          <p:spPr>
            <a:xfrm>
              <a:off x="2525717" y="313415"/>
              <a:ext cx="266350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CEDAC Problem Solution</a:t>
              </a:r>
            </a:p>
          </p:txBody>
        </p:sp>
      </p:grpSp>
      <p:pic>
        <p:nvPicPr>
          <p:cNvPr id="3" name="Object 11">
            <a:extLst>
              <a:ext uri="{FF2B5EF4-FFF2-40B4-BE49-F238E27FC236}">
                <a16:creationId xmlns:a16="http://schemas.microsoft.com/office/drawing/2014/main" id="{5ABABC0E-FBA7-8B11-A5BF-BB39DDFF940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7481" y="1620838"/>
            <a:ext cx="10837038" cy="4311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189029648"/>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8D9ED7-5CF9-6F4B-B4A8-2DBF8D852A20}"/>
              </a:ext>
            </a:extLst>
          </p:cNvPr>
          <p:cNvSpPr>
            <a:spLocks noGrp="1"/>
          </p:cNvSpPr>
          <p:nvPr>
            <p:ph type="title"/>
          </p:nvPr>
        </p:nvSpPr>
        <p:spPr/>
        <p:txBody>
          <a:bodyPr>
            <a:noAutofit/>
          </a:bodyPr>
          <a:lstStyle/>
          <a:p>
            <a:r>
              <a:rPr lang="en-US" sz="2800" dirty="0">
                <a:latin typeface="Roboto Medium"/>
                <a:ea typeface="Roboto Medium"/>
                <a:cs typeface="Roboto Medium"/>
              </a:rPr>
              <a:t>CEDAC Step 7 Exercise: Prioritize IMPROVEMENT Cards</a:t>
            </a:r>
          </a:p>
        </p:txBody>
      </p:sp>
      <p:sp>
        <p:nvSpPr>
          <p:cNvPr id="5" name="Slide Number Placeholder 4">
            <a:extLst>
              <a:ext uri="{FF2B5EF4-FFF2-40B4-BE49-F238E27FC236}">
                <a16:creationId xmlns:a16="http://schemas.microsoft.com/office/drawing/2014/main" id="{EFB3C390-D307-7FFC-DADE-918C5180FE01}"/>
              </a:ext>
            </a:extLst>
          </p:cNvPr>
          <p:cNvSpPr>
            <a:spLocks noGrp="1"/>
          </p:cNvSpPr>
          <p:nvPr>
            <p:ph type="sldNum" sz="quarter" idx="4294967295"/>
          </p:nvPr>
        </p:nvSpPr>
        <p:spPr>
          <a:xfrm>
            <a:off x="8595078" y="6333148"/>
            <a:ext cx="2743200" cy="365125"/>
          </a:xfrm>
          <a:prstGeom prst="rect">
            <a:avLst/>
          </a:prstGeom>
        </p:spPr>
        <p:txBody>
          <a:bodyPr/>
          <a:lstStyle/>
          <a:p>
            <a:fld id="{CC6D4273-7FC1-0947-B9FE-19CB3C0D1FB6}" type="slidenum">
              <a:rPr lang="en-US" smtClean="0"/>
              <a:t>89</a:t>
            </a:fld>
            <a:endParaRPr lang="en-US"/>
          </a:p>
        </p:txBody>
      </p:sp>
      <p:sp>
        <p:nvSpPr>
          <p:cNvPr id="11" name="Rectangle 10">
            <a:extLst>
              <a:ext uri="{FF2B5EF4-FFF2-40B4-BE49-F238E27FC236}">
                <a16:creationId xmlns:a16="http://schemas.microsoft.com/office/drawing/2014/main" id="{3A9506B7-1A57-1322-5AB5-DA8522EE7602}"/>
              </a:ext>
            </a:extLst>
          </p:cNvPr>
          <p:cNvSpPr/>
          <p:nvPr/>
        </p:nvSpPr>
        <p:spPr>
          <a:xfrm>
            <a:off x="838200" y="2328432"/>
            <a:ext cx="9722342" cy="471924"/>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4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Prioritize IMPROVEMENT Cards for the business problem. </a:t>
            </a:r>
          </a:p>
        </p:txBody>
      </p:sp>
      <p:sp>
        <p:nvSpPr>
          <p:cNvPr id="12" name="TextBox 11">
            <a:extLst>
              <a:ext uri="{FF2B5EF4-FFF2-40B4-BE49-F238E27FC236}">
                <a16:creationId xmlns:a16="http://schemas.microsoft.com/office/drawing/2014/main" id="{A4ECB5F6-F271-06CD-2A6A-E79F5245CD15}"/>
              </a:ext>
            </a:extLst>
          </p:cNvPr>
          <p:cNvSpPr txBox="1"/>
          <p:nvPr/>
        </p:nvSpPr>
        <p:spPr>
          <a:xfrm>
            <a:off x="838200" y="1767653"/>
            <a:ext cx="1603003"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Objective</a:t>
            </a:r>
            <a:endParaRPr kumimoji="0" lang="en-US" sz="56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endParaRPr>
          </a:p>
        </p:txBody>
      </p:sp>
      <p:sp>
        <p:nvSpPr>
          <p:cNvPr id="13" name="TextBox 12">
            <a:extLst>
              <a:ext uri="{FF2B5EF4-FFF2-40B4-BE49-F238E27FC236}">
                <a16:creationId xmlns:a16="http://schemas.microsoft.com/office/drawing/2014/main" id="{EA94F381-2B48-C111-2724-726B0390290F}"/>
              </a:ext>
            </a:extLst>
          </p:cNvPr>
          <p:cNvSpPr txBox="1"/>
          <p:nvPr/>
        </p:nvSpPr>
        <p:spPr>
          <a:xfrm>
            <a:off x="838200" y="2952549"/>
            <a:ext cx="2022990"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Instructions</a:t>
            </a:r>
            <a:endParaRPr kumimoji="0" lang="en-US" sz="56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endParaRPr>
          </a:p>
        </p:txBody>
      </p:sp>
      <p:sp>
        <p:nvSpPr>
          <p:cNvPr id="14" name="Rectangle 13">
            <a:extLst>
              <a:ext uri="{FF2B5EF4-FFF2-40B4-BE49-F238E27FC236}">
                <a16:creationId xmlns:a16="http://schemas.microsoft.com/office/drawing/2014/main" id="{82677B47-98C9-F770-8D4E-7D91CF39F5A7}"/>
              </a:ext>
            </a:extLst>
          </p:cNvPr>
          <p:cNvSpPr/>
          <p:nvPr/>
        </p:nvSpPr>
        <p:spPr>
          <a:xfrm>
            <a:off x="818941" y="3486027"/>
            <a:ext cx="4419809" cy="2318583"/>
          </a:xfrm>
          <a:prstGeom prst="rect">
            <a:avLst/>
          </a:prstGeom>
          <a:solidFill>
            <a:schemeClr val="bg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As a team, follow the process outlined on the previous slides to prioritize the </a:t>
            </a:r>
            <a:br>
              <a:rPr kumimoji="0" lang="en-US"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br>
            <a:r>
              <a:rPr kumimoji="0" lang="en-US"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IMPROVEMENT Cards.</a:t>
            </a:r>
          </a:p>
          <a:p>
            <a:pPr marL="0" marR="0" indent="0" algn="l" defTabSz="584200" rtl="0" fontAlgn="auto" latinLnBrk="0" hangingPunct="0">
              <a:lnSpc>
                <a:spcPct val="100000"/>
              </a:lnSpc>
              <a:spcBef>
                <a:spcPts val="0"/>
              </a:spcBef>
              <a:spcAft>
                <a:spcPts val="0"/>
              </a:spcAft>
              <a:buClrTx/>
              <a:buSzTx/>
              <a:buFontTx/>
              <a:buNone/>
              <a:tabLst/>
            </a:pPr>
            <a:r>
              <a:rPr kumimoji="0" lang="en-US"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Capture all of the IMPROVEMENT Card data electronically and assign people responsible and dates for when action will go to next step.</a:t>
            </a:r>
          </a:p>
        </p:txBody>
      </p:sp>
      <p:sp>
        <p:nvSpPr>
          <p:cNvPr id="15" name="TextBox 14">
            <a:extLst>
              <a:ext uri="{FF2B5EF4-FFF2-40B4-BE49-F238E27FC236}">
                <a16:creationId xmlns:a16="http://schemas.microsoft.com/office/drawing/2014/main" id="{90914B3B-0CE2-FDFF-2FB9-215236316256}"/>
              </a:ext>
            </a:extLst>
          </p:cNvPr>
          <p:cNvSpPr txBox="1"/>
          <p:nvPr/>
        </p:nvSpPr>
        <p:spPr>
          <a:xfrm>
            <a:off x="5879250" y="2952548"/>
            <a:ext cx="2968761"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Time to Complete</a:t>
            </a:r>
          </a:p>
        </p:txBody>
      </p:sp>
      <p:sp>
        <p:nvSpPr>
          <p:cNvPr id="16" name="TextBox 15">
            <a:extLst>
              <a:ext uri="{FF2B5EF4-FFF2-40B4-BE49-F238E27FC236}">
                <a16:creationId xmlns:a16="http://schemas.microsoft.com/office/drawing/2014/main" id="{6285230A-07BD-F376-25CA-177CC1D4233F}"/>
              </a:ext>
            </a:extLst>
          </p:cNvPr>
          <p:cNvSpPr txBox="1"/>
          <p:nvPr/>
        </p:nvSpPr>
        <p:spPr>
          <a:xfrm>
            <a:off x="5879250" y="4136472"/>
            <a:ext cx="1888337"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Deliverable</a:t>
            </a:r>
          </a:p>
        </p:txBody>
      </p:sp>
      <p:sp>
        <p:nvSpPr>
          <p:cNvPr id="17" name="Rectangle 16">
            <a:extLst>
              <a:ext uri="{FF2B5EF4-FFF2-40B4-BE49-F238E27FC236}">
                <a16:creationId xmlns:a16="http://schemas.microsoft.com/office/drawing/2014/main" id="{67530399-8FDB-50CD-E8FD-8E286DE1A2EA}"/>
              </a:ext>
            </a:extLst>
          </p:cNvPr>
          <p:cNvSpPr/>
          <p:nvPr/>
        </p:nvSpPr>
        <p:spPr>
          <a:xfrm>
            <a:off x="5879250" y="3496996"/>
            <a:ext cx="4681292" cy="471924"/>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584200" hangingPunct="0"/>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Determined by facilitator</a:t>
            </a:r>
          </a:p>
        </p:txBody>
      </p:sp>
      <p:sp>
        <p:nvSpPr>
          <p:cNvPr id="18" name="Rectangle 17">
            <a:extLst>
              <a:ext uri="{FF2B5EF4-FFF2-40B4-BE49-F238E27FC236}">
                <a16:creationId xmlns:a16="http://schemas.microsoft.com/office/drawing/2014/main" id="{84DF6BD6-975A-3700-5E69-322EFF4F722E}"/>
              </a:ext>
            </a:extLst>
          </p:cNvPr>
          <p:cNvSpPr/>
          <p:nvPr/>
        </p:nvSpPr>
        <p:spPr>
          <a:xfrm>
            <a:off x="5879250" y="4665560"/>
            <a:ext cx="4681292" cy="1210588"/>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584200" hangingPunct="0"/>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IMPROVEMENT Cards prioritized. All IMPROVEMENT Card data transferred electronically</a:t>
            </a:r>
          </a:p>
        </p:txBody>
      </p:sp>
      <p:grpSp>
        <p:nvGrpSpPr>
          <p:cNvPr id="3" name="Group 2">
            <a:extLst>
              <a:ext uri="{FF2B5EF4-FFF2-40B4-BE49-F238E27FC236}">
                <a16:creationId xmlns:a16="http://schemas.microsoft.com/office/drawing/2014/main" id="{33838455-30F4-7D35-C5DD-0FEFD791F7A7}"/>
              </a:ext>
            </a:extLst>
          </p:cNvPr>
          <p:cNvGrpSpPr/>
          <p:nvPr/>
        </p:nvGrpSpPr>
        <p:grpSpPr>
          <a:xfrm>
            <a:off x="838200" y="297639"/>
            <a:ext cx="4351020" cy="307138"/>
            <a:chOff x="838200" y="297639"/>
            <a:chExt cx="4351020" cy="307138"/>
          </a:xfrm>
        </p:grpSpPr>
        <p:grpSp>
          <p:nvGrpSpPr>
            <p:cNvPr id="4" name="Group 3">
              <a:extLst>
                <a:ext uri="{FF2B5EF4-FFF2-40B4-BE49-F238E27FC236}">
                  <a16:creationId xmlns:a16="http://schemas.microsoft.com/office/drawing/2014/main" id="{BD0E256E-61C9-53A3-0C8D-C424C6F9DF68}"/>
                </a:ext>
              </a:extLst>
            </p:cNvPr>
            <p:cNvGrpSpPr/>
            <p:nvPr/>
          </p:nvGrpSpPr>
          <p:grpSpPr>
            <a:xfrm>
              <a:off x="838200" y="297639"/>
              <a:ext cx="1687517" cy="290657"/>
              <a:chOff x="838200" y="297639"/>
              <a:chExt cx="1687517" cy="290657"/>
            </a:xfrm>
          </p:grpSpPr>
          <p:sp>
            <p:nvSpPr>
              <p:cNvPr id="7" name="AutoShape 9">
                <a:extLst>
                  <a:ext uri="{FF2B5EF4-FFF2-40B4-BE49-F238E27FC236}">
                    <a16:creationId xmlns:a16="http://schemas.microsoft.com/office/drawing/2014/main" id="{9AFA0187-E137-46A4-13F0-CF9AC0B151EF}"/>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8" name="AutoShape 9">
                <a:extLst>
                  <a:ext uri="{FF2B5EF4-FFF2-40B4-BE49-F238E27FC236}">
                    <a16:creationId xmlns:a16="http://schemas.microsoft.com/office/drawing/2014/main" id="{0215D16D-21A3-A9BE-1360-CB625C3A2B1D}"/>
                  </a:ext>
                </a:extLst>
              </p:cNvPr>
              <p:cNvSpPr>
                <a:spLocks noChangeArrowheads="1"/>
              </p:cNvSpPr>
              <p:nvPr/>
            </p:nvSpPr>
            <p:spPr bwMode="auto">
              <a:xfrm>
                <a:off x="1779225" y="297639"/>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nvGrpSpPr>
              <p:cNvPr id="9" name="Group 8">
                <a:extLst>
                  <a:ext uri="{FF2B5EF4-FFF2-40B4-BE49-F238E27FC236}">
                    <a16:creationId xmlns:a16="http://schemas.microsoft.com/office/drawing/2014/main" id="{44418A4C-EEC3-E913-3662-7A78AC7B9FFB}"/>
                  </a:ext>
                </a:extLst>
              </p:cNvPr>
              <p:cNvGrpSpPr/>
              <p:nvPr/>
            </p:nvGrpSpPr>
            <p:grpSpPr>
              <a:xfrm>
                <a:off x="838200" y="297639"/>
                <a:ext cx="1060167" cy="290657"/>
                <a:chOff x="826426" y="4041857"/>
                <a:chExt cx="1060167" cy="290657"/>
              </a:xfrm>
            </p:grpSpPr>
            <p:sp>
              <p:nvSpPr>
                <p:cNvPr id="10" name="AutoShape 9">
                  <a:extLst>
                    <a:ext uri="{FF2B5EF4-FFF2-40B4-BE49-F238E27FC236}">
                      <a16:creationId xmlns:a16="http://schemas.microsoft.com/office/drawing/2014/main" id="{A46650AB-3B49-3E89-B7F7-B4004D947C42}"/>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9" name="AutoShape 11">
                  <a:extLst>
                    <a:ext uri="{FF2B5EF4-FFF2-40B4-BE49-F238E27FC236}">
                      <a16:creationId xmlns:a16="http://schemas.microsoft.com/office/drawing/2014/main" id="{384D0189-DE4C-08A8-2E92-E482AEC09D0F}"/>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0" name="AutoShape 10">
                  <a:extLst>
                    <a:ext uri="{FF2B5EF4-FFF2-40B4-BE49-F238E27FC236}">
                      <a16:creationId xmlns:a16="http://schemas.microsoft.com/office/drawing/2014/main" id="{E346B49B-C6A4-A460-D53D-02493BA50EFD}"/>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6" name="TextBox 5">
              <a:extLst>
                <a:ext uri="{FF2B5EF4-FFF2-40B4-BE49-F238E27FC236}">
                  <a16:creationId xmlns:a16="http://schemas.microsoft.com/office/drawing/2014/main" id="{AE3534B4-CF02-8A4E-731E-D557F441C640}"/>
                </a:ext>
              </a:extLst>
            </p:cNvPr>
            <p:cNvSpPr txBox="1"/>
            <p:nvPr/>
          </p:nvSpPr>
          <p:spPr>
            <a:xfrm>
              <a:off x="2525717" y="313415"/>
              <a:ext cx="266350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CEDAC Problem Solution</a:t>
              </a:r>
            </a:p>
          </p:txBody>
        </p:sp>
      </p:grpSp>
    </p:spTree>
    <p:extLst>
      <p:ext uri="{BB962C8B-B14F-4D97-AF65-F5344CB8AC3E}">
        <p14:creationId xmlns:p14="http://schemas.microsoft.com/office/powerpoint/2010/main" val="18579742"/>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2DF11FF7-095F-D1A9-6784-C53D538A36FF}"/>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90</a:t>
            </a:fld>
            <a:endParaRPr lang="en-US"/>
          </a:p>
        </p:txBody>
      </p:sp>
      <p:sp>
        <p:nvSpPr>
          <p:cNvPr id="2" name="Title 1">
            <a:extLst>
              <a:ext uri="{FF2B5EF4-FFF2-40B4-BE49-F238E27FC236}">
                <a16:creationId xmlns:a16="http://schemas.microsoft.com/office/drawing/2014/main" id="{0D77BA17-B180-9889-85DC-DBE8C080CFB7}"/>
              </a:ext>
            </a:extLst>
          </p:cNvPr>
          <p:cNvSpPr>
            <a:spLocks noGrp="1"/>
          </p:cNvSpPr>
          <p:nvPr>
            <p:ph type="title" idx="4294967295"/>
          </p:nvPr>
        </p:nvSpPr>
        <p:spPr>
          <a:xfrm>
            <a:off x="699911" y="1497012"/>
            <a:ext cx="9815689" cy="1009650"/>
          </a:xfrm>
          <a:prstGeom prst="rect">
            <a:avLst/>
          </a:prstGeom>
        </p:spPr>
        <p:txBody>
          <a:bodyPr>
            <a:noAutofit/>
          </a:bodyPr>
          <a:lstStyle/>
          <a:p>
            <a:r>
              <a:rPr lang="en-US" sz="2800" dirty="0">
                <a:latin typeface="Roboto Medium"/>
                <a:ea typeface="Roboto Medium"/>
                <a:cs typeface="Roboto Medium"/>
              </a:rPr>
              <a:t>CEDAC Step 8 - Follow-up Process through to Problem Resolution</a:t>
            </a:r>
          </a:p>
        </p:txBody>
      </p:sp>
      <p:sp>
        <p:nvSpPr>
          <p:cNvPr id="3" name="Content Placeholder 2">
            <a:extLst>
              <a:ext uri="{FF2B5EF4-FFF2-40B4-BE49-F238E27FC236}">
                <a16:creationId xmlns:a16="http://schemas.microsoft.com/office/drawing/2014/main" id="{30534846-F3D4-20E7-25C0-91FCF7736CB5}"/>
              </a:ext>
            </a:extLst>
          </p:cNvPr>
          <p:cNvSpPr>
            <a:spLocks noGrp="1"/>
          </p:cNvSpPr>
          <p:nvPr>
            <p:ph idx="4294967295"/>
          </p:nvPr>
        </p:nvSpPr>
        <p:spPr>
          <a:xfrm>
            <a:off x="722489" y="2506662"/>
            <a:ext cx="10515600" cy="4351338"/>
          </a:xfrm>
        </p:spPr>
        <p:txBody>
          <a:bodyPr/>
          <a:lstStyle/>
          <a:p>
            <a:pPr marL="0" indent="0">
              <a:buNone/>
            </a:pPr>
            <a:r>
              <a:rPr lang="en-US" dirty="0">
                <a:latin typeface="Roboto Medium" panose="02000000000000000000" pitchFamily="2" charset="0"/>
                <a:ea typeface="Roboto Medium" panose="02000000000000000000" pitchFamily="2" charset="0"/>
                <a:cs typeface="Roboto Medium" panose="02000000000000000000" pitchFamily="2" charset="0"/>
              </a:rPr>
              <a:t>Objectives:</a:t>
            </a:r>
          </a:p>
          <a:p>
            <a:r>
              <a:rPr lang="en-US" sz="2400" dirty="0"/>
              <a:t>Describe the Follow-up Process</a:t>
            </a:r>
          </a:p>
          <a:p>
            <a:pPr lvl="1"/>
            <a:r>
              <a:rPr lang="en-US" sz="2000" dirty="0"/>
              <a:t>Adding FACT Cards</a:t>
            </a:r>
          </a:p>
          <a:p>
            <a:pPr lvl="1"/>
            <a:r>
              <a:rPr lang="en-US" sz="2000" dirty="0"/>
              <a:t>Adding IMPROVEMENT Cards</a:t>
            </a:r>
          </a:p>
          <a:p>
            <a:pPr lvl="1"/>
            <a:r>
              <a:rPr lang="en-US" sz="2000" dirty="0"/>
              <a:t>Gaining additional buy-in from stakeholders</a:t>
            </a:r>
          </a:p>
          <a:p>
            <a:r>
              <a:rPr lang="en-US" sz="2400" dirty="0"/>
              <a:t>Discuss tracking and management of periodic review process</a:t>
            </a:r>
          </a:p>
          <a:p>
            <a:r>
              <a:rPr lang="en-US" sz="2400" dirty="0"/>
              <a:t>Determine structure and details for how team will conduct follow-ups to the CEDAC event</a:t>
            </a:r>
          </a:p>
          <a:p>
            <a:endParaRPr lang="en-US" sz="2400" dirty="0"/>
          </a:p>
        </p:txBody>
      </p:sp>
      <p:grpSp>
        <p:nvGrpSpPr>
          <p:cNvPr id="11" name="Group 10">
            <a:extLst>
              <a:ext uri="{FF2B5EF4-FFF2-40B4-BE49-F238E27FC236}">
                <a16:creationId xmlns:a16="http://schemas.microsoft.com/office/drawing/2014/main" id="{DCC7CB02-4F0E-2CE8-9EF1-D9AEB4FA2691}"/>
              </a:ext>
            </a:extLst>
          </p:cNvPr>
          <p:cNvGrpSpPr/>
          <p:nvPr/>
        </p:nvGrpSpPr>
        <p:grpSpPr>
          <a:xfrm>
            <a:off x="699911" y="837133"/>
            <a:ext cx="7273624" cy="659879"/>
            <a:chOff x="699911" y="1069861"/>
            <a:chExt cx="7273624" cy="350130"/>
          </a:xfrm>
        </p:grpSpPr>
        <p:sp>
          <p:nvSpPr>
            <p:cNvPr id="5" name="AutoShape 9">
              <a:extLst>
                <a:ext uri="{FF2B5EF4-FFF2-40B4-BE49-F238E27FC236}">
                  <a16:creationId xmlns:a16="http://schemas.microsoft.com/office/drawing/2014/main" id="{A10A2475-FBAF-2DA7-EE48-9E0556DB3824}"/>
                </a:ext>
              </a:extLst>
            </p:cNvPr>
            <p:cNvSpPr>
              <a:spLocks noChangeArrowheads="1"/>
            </p:cNvSpPr>
            <p:nvPr/>
          </p:nvSpPr>
          <p:spPr bwMode="auto">
            <a:xfrm>
              <a:off x="6395259" y="1069861"/>
              <a:ext cx="1578276" cy="350130"/>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200" dirty="0">
                  <a:solidFill>
                    <a:schemeClr val="bg1"/>
                  </a:solidFill>
                  <a:latin typeface="Roboto" panose="02000000000000000000" pitchFamily="2" charset="0"/>
                  <a:ea typeface="Roboto" panose="02000000000000000000" pitchFamily="2" charset="0"/>
                  <a:cs typeface="Roboto" panose="02000000000000000000" pitchFamily="2" charset="0"/>
                </a:rPr>
                <a:t>CEDAC Review</a:t>
              </a:r>
            </a:p>
          </p:txBody>
        </p:sp>
        <p:sp>
          <p:nvSpPr>
            <p:cNvPr id="4" name="AutoShape 9">
              <a:extLst>
                <a:ext uri="{FF2B5EF4-FFF2-40B4-BE49-F238E27FC236}">
                  <a16:creationId xmlns:a16="http://schemas.microsoft.com/office/drawing/2014/main" id="{663C2CC0-8818-6B25-BBA3-89708896610A}"/>
                </a:ext>
              </a:extLst>
            </p:cNvPr>
            <p:cNvSpPr>
              <a:spLocks noChangeArrowheads="1"/>
            </p:cNvSpPr>
            <p:nvPr/>
          </p:nvSpPr>
          <p:spPr bwMode="auto">
            <a:xfrm>
              <a:off x="4971710" y="1069861"/>
              <a:ext cx="1578276" cy="350130"/>
            </a:xfrm>
            <a:prstGeom prst="homePlate">
              <a:avLst>
                <a:gd name="adj" fmla="val 29912"/>
              </a:avLst>
            </a:prstGeom>
            <a:solidFill>
              <a:srgbClr val="FFB627"/>
            </a:solidFill>
            <a:ln w="12700" cap="sq">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r>
                <a:rPr lang="en-US" altLang="en-US" sz="1200" dirty="0">
                  <a:latin typeface="Roboto" panose="02000000000000000000" pitchFamily="2" charset="0"/>
                  <a:ea typeface="Roboto" panose="02000000000000000000" pitchFamily="2" charset="0"/>
                </a:rPr>
                <a:t>CEDAC Solution</a:t>
              </a:r>
            </a:p>
          </p:txBody>
        </p:sp>
        <p:grpSp>
          <p:nvGrpSpPr>
            <p:cNvPr id="10" name="Group 9">
              <a:extLst>
                <a:ext uri="{FF2B5EF4-FFF2-40B4-BE49-F238E27FC236}">
                  <a16:creationId xmlns:a16="http://schemas.microsoft.com/office/drawing/2014/main" id="{DF07BA82-F1D2-01EE-36D7-0CE1E1021337}"/>
                </a:ext>
              </a:extLst>
            </p:cNvPr>
            <p:cNvGrpSpPr/>
            <p:nvPr/>
          </p:nvGrpSpPr>
          <p:grpSpPr>
            <a:xfrm>
              <a:off x="699911" y="1069861"/>
              <a:ext cx="4425950" cy="350130"/>
              <a:chOff x="5627530" y="641179"/>
              <a:chExt cx="6564470" cy="804977"/>
            </a:xfrm>
          </p:grpSpPr>
          <p:sp>
            <p:nvSpPr>
              <p:cNvPr id="7" name="AutoShape 9">
                <a:extLst>
                  <a:ext uri="{FF2B5EF4-FFF2-40B4-BE49-F238E27FC236}">
                    <a16:creationId xmlns:a16="http://schemas.microsoft.com/office/drawing/2014/main" id="{E658DE7F-EAE7-7BD9-8492-805CBFCFF7F5}"/>
                  </a:ext>
                </a:extLst>
              </p:cNvPr>
              <p:cNvSpPr>
                <a:spLocks noChangeArrowheads="1"/>
              </p:cNvSpPr>
              <p:nvPr/>
            </p:nvSpPr>
            <p:spPr bwMode="auto">
              <a:xfrm>
                <a:off x="9851136" y="641179"/>
                <a:ext cx="2340864" cy="804977"/>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r>
                  <a:rPr lang="en-US" altLang="en-US" sz="1200" dirty="0">
                    <a:solidFill>
                      <a:schemeClr val="bg1"/>
                    </a:solidFill>
                    <a:latin typeface="Roboto" panose="02000000000000000000" pitchFamily="2" charset="0"/>
                    <a:ea typeface="Roboto" panose="02000000000000000000" pitchFamily="2" charset="0"/>
                  </a:rPr>
                  <a:t>CEDAC Cause</a:t>
                </a:r>
              </a:p>
            </p:txBody>
          </p:sp>
          <p:sp>
            <p:nvSpPr>
              <p:cNvPr id="8" name="AutoShape 10">
                <a:extLst>
                  <a:ext uri="{FF2B5EF4-FFF2-40B4-BE49-F238E27FC236}">
                    <a16:creationId xmlns:a16="http://schemas.microsoft.com/office/drawing/2014/main" id="{3B341166-AC1F-8D30-9314-0FB3D948387F}"/>
                  </a:ext>
                </a:extLst>
              </p:cNvPr>
              <p:cNvSpPr>
                <a:spLocks noChangeArrowheads="1"/>
              </p:cNvSpPr>
              <p:nvPr/>
            </p:nvSpPr>
            <p:spPr bwMode="auto">
              <a:xfrm>
                <a:off x="7737856" y="641180"/>
                <a:ext cx="2342768" cy="80497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r>
                  <a:rPr lang="en-US" altLang="en-US" sz="1200" dirty="0">
                    <a:solidFill>
                      <a:schemeClr val="bg1"/>
                    </a:solidFill>
                    <a:latin typeface="Roboto" panose="02000000000000000000" pitchFamily="2" charset="0"/>
                    <a:ea typeface="Roboto" panose="02000000000000000000" pitchFamily="2" charset="0"/>
                  </a:rPr>
                  <a:t>CEDAC Effect</a:t>
                </a:r>
              </a:p>
            </p:txBody>
          </p:sp>
          <p:sp>
            <p:nvSpPr>
              <p:cNvPr id="9" name="AutoShape 11">
                <a:extLst>
                  <a:ext uri="{FF2B5EF4-FFF2-40B4-BE49-F238E27FC236}">
                    <a16:creationId xmlns:a16="http://schemas.microsoft.com/office/drawing/2014/main" id="{2AB16F46-B5FA-96F3-91C2-07B2F2F1CC6C}"/>
                  </a:ext>
                </a:extLst>
              </p:cNvPr>
              <p:cNvSpPr>
                <a:spLocks noChangeArrowheads="1"/>
              </p:cNvSpPr>
              <p:nvPr/>
            </p:nvSpPr>
            <p:spPr bwMode="auto">
              <a:xfrm>
                <a:off x="5627530" y="641179"/>
                <a:ext cx="2340864" cy="804977"/>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r>
                  <a:rPr lang="en-US" altLang="en-US" sz="1200" dirty="0">
                    <a:solidFill>
                      <a:schemeClr val="bg1"/>
                    </a:solidFill>
                    <a:latin typeface="Roboto" panose="02000000000000000000" pitchFamily="2" charset="0"/>
                    <a:ea typeface="Roboto" panose="02000000000000000000" pitchFamily="2" charset="0"/>
                  </a:rPr>
                  <a:t>CEDAC Overview</a:t>
                </a:r>
              </a:p>
            </p:txBody>
          </p:sp>
        </p:grpSp>
      </p:grpSp>
      <p:cxnSp>
        <p:nvCxnSpPr>
          <p:cNvPr id="12" name="Straight Connector 11">
            <a:extLst>
              <a:ext uri="{FF2B5EF4-FFF2-40B4-BE49-F238E27FC236}">
                <a16:creationId xmlns:a16="http://schemas.microsoft.com/office/drawing/2014/main" id="{A4FB0DFD-2D15-952D-9825-996B08251FD4}"/>
              </a:ext>
            </a:extLst>
          </p:cNvPr>
          <p:cNvCxnSpPr/>
          <p:nvPr/>
        </p:nvCxnSpPr>
        <p:spPr>
          <a:xfrm>
            <a:off x="699911" y="2386919"/>
            <a:ext cx="3882975" cy="0"/>
          </a:xfrm>
          <a:prstGeom prst="line">
            <a:avLst/>
          </a:prstGeom>
          <a:ln w="254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54116252"/>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lstStyle/>
          <a:p>
            <a:r>
              <a:rPr lang="en-US" dirty="0"/>
              <a:t>Steps of the CEDAC Process</a:t>
            </a:r>
          </a:p>
        </p:txBody>
      </p:sp>
      <p:sp>
        <p:nvSpPr>
          <p:cNvPr id="3" name="Content Placeholder 2">
            <a:extLst>
              <a:ext uri="{FF2B5EF4-FFF2-40B4-BE49-F238E27FC236}">
                <a16:creationId xmlns:a16="http://schemas.microsoft.com/office/drawing/2014/main" id="{2AA7A201-AD05-6520-E140-CCF11E59E700}"/>
              </a:ext>
            </a:extLst>
          </p:cNvPr>
          <p:cNvSpPr>
            <a:spLocks noGrp="1"/>
          </p:cNvSpPr>
          <p:nvPr>
            <p:ph idx="1"/>
          </p:nvPr>
        </p:nvSpPr>
        <p:spPr>
          <a:xfrm>
            <a:off x="3200400" y="1825625"/>
            <a:ext cx="8153400" cy="4351338"/>
          </a:xfrm>
        </p:spPr>
        <p:txBody>
          <a:bodyPr>
            <a:normAutofit fontScale="92500" lnSpcReduction="20000"/>
          </a:bodyPr>
          <a:lstStyle/>
          <a:p>
            <a:pPr marL="514350" indent="-514350">
              <a:buFont typeface="+mj-lt"/>
              <a:buAutoNum type="arabicPeriod"/>
            </a:pPr>
            <a:r>
              <a:rPr lang="en-US" dirty="0"/>
              <a:t>Define problem</a:t>
            </a:r>
          </a:p>
          <a:p>
            <a:pPr marL="514350" indent="-514350">
              <a:buFont typeface="+mj-lt"/>
              <a:buAutoNum type="arabicPeriod"/>
            </a:pPr>
            <a:r>
              <a:rPr lang="en-US" dirty="0"/>
              <a:t>Establish and validate metrics</a:t>
            </a:r>
          </a:p>
          <a:p>
            <a:pPr marL="514350" indent="-514350">
              <a:buFont typeface="+mj-lt"/>
              <a:buAutoNum type="arabicPeriod"/>
            </a:pPr>
            <a:r>
              <a:rPr lang="en-US" dirty="0"/>
              <a:t>Determine Objective Statement </a:t>
            </a:r>
          </a:p>
          <a:p>
            <a:pPr marL="514350" indent="-514350">
              <a:buFont typeface="+mj-lt"/>
              <a:buAutoNum type="arabicPeriod"/>
            </a:pPr>
            <a:r>
              <a:rPr lang="en-US" dirty="0"/>
              <a:t>Create CEDAC diagram (Flowchart, Fishbone, etc.)</a:t>
            </a:r>
          </a:p>
          <a:p>
            <a:pPr marL="514350" indent="-514350">
              <a:buFont typeface="+mj-lt"/>
              <a:buAutoNum type="arabicPeriod"/>
            </a:pPr>
            <a:r>
              <a:rPr lang="en-US" dirty="0"/>
              <a:t>Brainstorm and create FACT Cards (in yellow) and post on diagram</a:t>
            </a:r>
          </a:p>
          <a:p>
            <a:pPr marL="514350" indent="-514350">
              <a:buFont typeface="+mj-lt"/>
              <a:buAutoNum type="arabicPeriod"/>
            </a:pPr>
            <a:r>
              <a:rPr lang="en-US" dirty="0"/>
              <a:t>Brainstorm and create IMPROVEMENT Cards (in blue) and post on diagram</a:t>
            </a:r>
          </a:p>
          <a:p>
            <a:pPr marL="514350" indent="-514350">
              <a:buFont typeface="+mj-lt"/>
              <a:buAutoNum type="arabicPeriod"/>
            </a:pPr>
            <a:r>
              <a:rPr lang="en-US" dirty="0"/>
              <a:t>Take action on the IMPROVEMENT cards</a:t>
            </a:r>
          </a:p>
          <a:p>
            <a:pPr marL="514350" indent="-514350">
              <a:buFont typeface="+mj-lt"/>
              <a:buAutoNum type="arabicPeriod"/>
            </a:pPr>
            <a:r>
              <a:rPr lang="en-US" dirty="0"/>
              <a:t>Institutionalize improvements (countermeasures) that have proven to solve the problem</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91</a:t>
            </a:fld>
            <a:endParaRPr lang="en-US"/>
          </a:p>
        </p:txBody>
      </p:sp>
      <p:grpSp>
        <p:nvGrpSpPr>
          <p:cNvPr id="14" name="Group 13">
            <a:extLst>
              <a:ext uri="{FF2B5EF4-FFF2-40B4-BE49-F238E27FC236}">
                <a16:creationId xmlns:a16="http://schemas.microsoft.com/office/drawing/2014/main" id="{D41303C2-E018-19D2-0EB5-6DA73CD24807}"/>
              </a:ext>
            </a:extLst>
          </p:cNvPr>
          <p:cNvGrpSpPr/>
          <p:nvPr/>
        </p:nvGrpSpPr>
        <p:grpSpPr>
          <a:xfrm>
            <a:off x="838200" y="297639"/>
            <a:ext cx="4351020" cy="307138"/>
            <a:chOff x="838200" y="297639"/>
            <a:chExt cx="4351020" cy="307138"/>
          </a:xfrm>
        </p:grpSpPr>
        <p:grpSp>
          <p:nvGrpSpPr>
            <p:cNvPr id="15" name="Group 14">
              <a:extLst>
                <a:ext uri="{FF2B5EF4-FFF2-40B4-BE49-F238E27FC236}">
                  <a16:creationId xmlns:a16="http://schemas.microsoft.com/office/drawing/2014/main" id="{E5786EBA-3CE5-0613-28ED-FAC08B873002}"/>
                </a:ext>
              </a:extLst>
            </p:cNvPr>
            <p:cNvGrpSpPr/>
            <p:nvPr/>
          </p:nvGrpSpPr>
          <p:grpSpPr>
            <a:xfrm>
              <a:off x="838200" y="297639"/>
              <a:ext cx="1687517" cy="290657"/>
              <a:chOff x="838200" y="297639"/>
              <a:chExt cx="1687517" cy="290657"/>
            </a:xfrm>
          </p:grpSpPr>
          <p:sp>
            <p:nvSpPr>
              <p:cNvPr id="17" name="AutoShape 9">
                <a:extLst>
                  <a:ext uri="{FF2B5EF4-FFF2-40B4-BE49-F238E27FC236}">
                    <a16:creationId xmlns:a16="http://schemas.microsoft.com/office/drawing/2014/main" id="{B174F6F9-D206-07A7-A64A-B68DDBDC1860}"/>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8" name="AutoShape 9">
                <a:extLst>
                  <a:ext uri="{FF2B5EF4-FFF2-40B4-BE49-F238E27FC236}">
                    <a16:creationId xmlns:a16="http://schemas.microsoft.com/office/drawing/2014/main" id="{E8BB91E2-C1AC-FCCB-16DF-8C2FF5B3FF85}"/>
                  </a:ext>
                </a:extLst>
              </p:cNvPr>
              <p:cNvSpPr>
                <a:spLocks noChangeArrowheads="1"/>
              </p:cNvSpPr>
              <p:nvPr/>
            </p:nvSpPr>
            <p:spPr bwMode="auto">
              <a:xfrm>
                <a:off x="1779225" y="297639"/>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nvGrpSpPr>
              <p:cNvPr id="19" name="Group 18">
                <a:extLst>
                  <a:ext uri="{FF2B5EF4-FFF2-40B4-BE49-F238E27FC236}">
                    <a16:creationId xmlns:a16="http://schemas.microsoft.com/office/drawing/2014/main" id="{E2AC478D-7F21-38EF-5560-D40E7C498246}"/>
                  </a:ext>
                </a:extLst>
              </p:cNvPr>
              <p:cNvGrpSpPr/>
              <p:nvPr/>
            </p:nvGrpSpPr>
            <p:grpSpPr>
              <a:xfrm>
                <a:off x="838200" y="297639"/>
                <a:ext cx="1060167" cy="290657"/>
                <a:chOff x="826426" y="4041857"/>
                <a:chExt cx="1060167" cy="290657"/>
              </a:xfrm>
            </p:grpSpPr>
            <p:sp>
              <p:nvSpPr>
                <p:cNvPr id="20" name="AutoShape 9">
                  <a:extLst>
                    <a:ext uri="{FF2B5EF4-FFF2-40B4-BE49-F238E27FC236}">
                      <a16:creationId xmlns:a16="http://schemas.microsoft.com/office/drawing/2014/main" id="{12AB7CB1-4480-4FEE-CE6F-B4F2FA2C986A}"/>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1" name="AutoShape 11">
                  <a:extLst>
                    <a:ext uri="{FF2B5EF4-FFF2-40B4-BE49-F238E27FC236}">
                      <a16:creationId xmlns:a16="http://schemas.microsoft.com/office/drawing/2014/main" id="{AA5419CA-4052-22B2-630C-B0633134EA3A}"/>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2" name="AutoShape 10">
                  <a:extLst>
                    <a:ext uri="{FF2B5EF4-FFF2-40B4-BE49-F238E27FC236}">
                      <a16:creationId xmlns:a16="http://schemas.microsoft.com/office/drawing/2014/main" id="{CCE40F93-E620-B6AC-E23C-FC6C2C06EBAF}"/>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16" name="TextBox 15">
              <a:extLst>
                <a:ext uri="{FF2B5EF4-FFF2-40B4-BE49-F238E27FC236}">
                  <a16:creationId xmlns:a16="http://schemas.microsoft.com/office/drawing/2014/main" id="{9A4733ED-8095-60E0-242E-EA2095CF4379}"/>
                </a:ext>
              </a:extLst>
            </p:cNvPr>
            <p:cNvSpPr txBox="1"/>
            <p:nvPr/>
          </p:nvSpPr>
          <p:spPr>
            <a:xfrm>
              <a:off x="2525717" y="313415"/>
              <a:ext cx="266350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CEDAC Problem Solution</a:t>
              </a:r>
            </a:p>
          </p:txBody>
        </p:sp>
      </p:grpSp>
      <p:sp>
        <p:nvSpPr>
          <p:cNvPr id="4" name="AutoShape 4">
            <a:extLst>
              <a:ext uri="{FF2B5EF4-FFF2-40B4-BE49-F238E27FC236}">
                <a16:creationId xmlns:a16="http://schemas.microsoft.com/office/drawing/2014/main" id="{2C717994-A0D3-16DA-F97C-85BEFFB148BC}"/>
              </a:ext>
            </a:extLst>
          </p:cNvPr>
          <p:cNvSpPr>
            <a:spLocks/>
          </p:cNvSpPr>
          <p:nvPr/>
        </p:nvSpPr>
        <p:spPr bwMode="auto">
          <a:xfrm flipH="1">
            <a:off x="2898773" y="1823551"/>
            <a:ext cx="301626" cy="1111921"/>
          </a:xfrm>
          <a:prstGeom prst="rightBrace">
            <a:avLst>
              <a:gd name="adj1" fmla="val 34561"/>
              <a:gd name="adj2" fmla="val 50000"/>
            </a:avLst>
          </a:prstGeom>
          <a:noFill/>
          <a:ln w="28575" cap="sq">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5000"/>
              </a:lnSpc>
              <a:buFont typeface="Wingdings" panose="05000000000000000000" pitchFamily="2" charset="2"/>
              <a:buNone/>
            </a:pPr>
            <a:endParaRPr lang="en-US" altLang="en-US" sz="1600"/>
          </a:p>
        </p:txBody>
      </p:sp>
      <p:sp>
        <p:nvSpPr>
          <p:cNvPr id="6" name="Text Box 5">
            <a:extLst>
              <a:ext uri="{FF2B5EF4-FFF2-40B4-BE49-F238E27FC236}">
                <a16:creationId xmlns:a16="http://schemas.microsoft.com/office/drawing/2014/main" id="{BB3ABBE3-744D-E1E3-8C89-8C1459A43648}"/>
              </a:ext>
            </a:extLst>
          </p:cNvPr>
          <p:cNvSpPr txBox="1">
            <a:spLocks noChangeArrowheads="1"/>
          </p:cNvSpPr>
          <p:nvPr/>
        </p:nvSpPr>
        <p:spPr bwMode="auto">
          <a:xfrm>
            <a:off x="1015999" y="2082705"/>
            <a:ext cx="1517655" cy="3139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wrap="square">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80000"/>
              </a:lnSpc>
              <a:spcBef>
                <a:spcPct val="20000"/>
              </a:spcBef>
              <a:spcAft>
                <a:spcPct val="0"/>
              </a:spcAft>
              <a:buClrTx/>
              <a:buSzTx/>
              <a:buFontTx/>
              <a:buNone/>
            </a:pPr>
            <a:r>
              <a:rPr lang="en-US" altLang="en-US" sz="1800" dirty="0">
                <a:latin typeface="Roboto" panose="02000000000000000000" pitchFamily="2" charset="0"/>
                <a:ea typeface="Roboto" panose="02000000000000000000" pitchFamily="2" charset="0"/>
              </a:rPr>
              <a:t>The </a:t>
            </a:r>
            <a:r>
              <a:rPr lang="ja-JP" altLang="en-US" sz="1800" dirty="0">
                <a:latin typeface="Roboto" panose="02000000000000000000" pitchFamily="2" charset="0"/>
              </a:rPr>
              <a:t>“</a:t>
            </a:r>
            <a:r>
              <a:rPr lang="en-US" altLang="ja-JP" sz="1800" dirty="0">
                <a:latin typeface="Roboto" panose="02000000000000000000" pitchFamily="2" charset="0"/>
                <a:ea typeface="Roboto" panose="02000000000000000000" pitchFamily="2" charset="0"/>
              </a:rPr>
              <a:t>Effect</a:t>
            </a:r>
            <a:r>
              <a:rPr lang="ja-JP" altLang="en-US" sz="1800" dirty="0">
                <a:latin typeface="Roboto" panose="02000000000000000000" pitchFamily="2" charset="0"/>
              </a:rPr>
              <a:t>”</a:t>
            </a:r>
            <a:endParaRPr lang="en-US" altLang="en-US" sz="1800" dirty="0">
              <a:latin typeface="Roboto" panose="02000000000000000000" pitchFamily="2" charset="0"/>
              <a:ea typeface="Roboto" panose="02000000000000000000" pitchFamily="2" charset="0"/>
            </a:endParaRPr>
          </a:p>
        </p:txBody>
      </p:sp>
      <p:sp>
        <p:nvSpPr>
          <p:cNvPr id="7" name="Text Box 6">
            <a:extLst>
              <a:ext uri="{FF2B5EF4-FFF2-40B4-BE49-F238E27FC236}">
                <a16:creationId xmlns:a16="http://schemas.microsoft.com/office/drawing/2014/main" id="{A328E56B-D593-3A7D-5959-8ABD25C46B81}"/>
              </a:ext>
            </a:extLst>
          </p:cNvPr>
          <p:cNvSpPr txBox="1">
            <a:spLocks noChangeArrowheads="1"/>
          </p:cNvSpPr>
          <p:nvPr/>
        </p:nvSpPr>
        <p:spPr bwMode="auto">
          <a:xfrm>
            <a:off x="1054608" y="3161234"/>
            <a:ext cx="1568455" cy="3139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wrap="square">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80000"/>
              </a:lnSpc>
              <a:spcBef>
                <a:spcPct val="20000"/>
              </a:spcBef>
              <a:spcAft>
                <a:spcPct val="0"/>
              </a:spcAft>
              <a:buClrTx/>
              <a:buSzTx/>
              <a:buFontTx/>
              <a:buNone/>
            </a:pPr>
            <a:r>
              <a:rPr lang="en-US" altLang="en-US" sz="1800" dirty="0">
                <a:latin typeface="Roboto" panose="02000000000000000000" pitchFamily="2" charset="0"/>
                <a:ea typeface="Roboto" panose="02000000000000000000" pitchFamily="2" charset="0"/>
              </a:rPr>
              <a:t>The </a:t>
            </a:r>
            <a:r>
              <a:rPr lang="ja-JP" altLang="en-US" sz="1800" dirty="0">
                <a:latin typeface="Roboto" panose="02000000000000000000" pitchFamily="2" charset="0"/>
              </a:rPr>
              <a:t>“</a:t>
            </a:r>
            <a:r>
              <a:rPr lang="en-US" altLang="ja-JP" sz="1800" dirty="0">
                <a:latin typeface="Roboto" panose="02000000000000000000" pitchFamily="2" charset="0"/>
                <a:ea typeface="Roboto" panose="02000000000000000000" pitchFamily="2" charset="0"/>
              </a:rPr>
              <a:t>Cause</a:t>
            </a:r>
            <a:r>
              <a:rPr lang="ja-JP" altLang="en-US" sz="1800" dirty="0">
                <a:latin typeface="Roboto" panose="02000000000000000000" pitchFamily="2" charset="0"/>
              </a:rPr>
              <a:t>”</a:t>
            </a:r>
            <a:endParaRPr lang="en-US" altLang="en-US" sz="1800" dirty="0">
              <a:latin typeface="Roboto" panose="02000000000000000000" pitchFamily="2" charset="0"/>
              <a:ea typeface="Roboto" panose="02000000000000000000" pitchFamily="2" charset="0"/>
            </a:endParaRPr>
          </a:p>
        </p:txBody>
      </p:sp>
      <p:sp>
        <p:nvSpPr>
          <p:cNvPr id="8" name="Text Box 7">
            <a:extLst>
              <a:ext uri="{FF2B5EF4-FFF2-40B4-BE49-F238E27FC236}">
                <a16:creationId xmlns:a16="http://schemas.microsoft.com/office/drawing/2014/main" id="{C1C25B89-DA4A-74B2-B4EA-E52AE658D2EB}"/>
              </a:ext>
            </a:extLst>
          </p:cNvPr>
          <p:cNvSpPr txBox="1">
            <a:spLocks noChangeArrowheads="1"/>
          </p:cNvSpPr>
          <p:nvPr/>
        </p:nvSpPr>
        <p:spPr bwMode="auto">
          <a:xfrm>
            <a:off x="1015999" y="4655928"/>
            <a:ext cx="1820868" cy="5293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wrap="square">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80000"/>
              </a:lnSpc>
              <a:spcBef>
                <a:spcPct val="20000"/>
              </a:spcBef>
              <a:spcAft>
                <a:spcPct val="0"/>
              </a:spcAft>
              <a:buClrTx/>
              <a:buSzTx/>
              <a:buFontTx/>
              <a:buNone/>
            </a:pPr>
            <a:r>
              <a:rPr lang="en-US" altLang="en-US" sz="1800" dirty="0">
                <a:latin typeface="Roboto" panose="02000000000000000000" pitchFamily="2" charset="0"/>
                <a:ea typeface="Roboto" panose="02000000000000000000" pitchFamily="2" charset="0"/>
              </a:rPr>
              <a:t>The </a:t>
            </a:r>
            <a:r>
              <a:rPr lang="ja-JP" altLang="en-US" sz="1800" dirty="0">
                <a:latin typeface="Roboto" panose="02000000000000000000" pitchFamily="2" charset="0"/>
              </a:rPr>
              <a:t>“</a:t>
            </a:r>
            <a:r>
              <a:rPr lang="en-US" altLang="ja-JP" sz="1800" dirty="0">
                <a:latin typeface="Roboto" panose="02000000000000000000" pitchFamily="2" charset="0"/>
                <a:ea typeface="Roboto" panose="02000000000000000000" pitchFamily="2" charset="0"/>
              </a:rPr>
              <a:t>Solution</a:t>
            </a:r>
            <a:r>
              <a:rPr lang="ja-JP" altLang="en-US" sz="1800" dirty="0">
                <a:latin typeface="Roboto" panose="02000000000000000000" pitchFamily="2" charset="0"/>
              </a:rPr>
              <a:t>”</a:t>
            </a:r>
            <a:endParaRPr lang="en-US" altLang="ja-JP" sz="1800" dirty="0">
              <a:latin typeface="Roboto" panose="02000000000000000000" pitchFamily="2" charset="0"/>
              <a:ea typeface="Roboto" panose="02000000000000000000" pitchFamily="2" charset="0"/>
            </a:endParaRPr>
          </a:p>
          <a:p>
            <a:pPr>
              <a:lnSpc>
                <a:spcPct val="80000"/>
              </a:lnSpc>
              <a:spcBef>
                <a:spcPct val="20000"/>
              </a:spcBef>
              <a:spcAft>
                <a:spcPct val="0"/>
              </a:spcAft>
              <a:buClrTx/>
              <a:buSzTx/>
              <a:buFontTx/>
              <a:buNone/>
            </a:pPr>
            <a:r>
              <a:rPr lang="en-US" altLang="en-US" sz="1400" dirty="0">
                <a:latin typeface="Roboto" panose="02000000000000000000" pitchFamily="2" charset="0"/>
                <a:ea typeface="Roboto" panose="02000000000000000000" pitchFamily="2" charset="0"/>
              </a:rPr>
              <a:t>(countermeasures)</a:t>
            </a:r>
          </a:p>
        </p:txBody>
      </p:sp>
      <p:sp>
        <p:nvSpPr>
          <p:cNvPr id="9" name="AutoShape 8">
            <a:extLst>
              <a:ext uri="{FF2B5EF4-FFF2-40B4-BE49-F238E27FC236}">
                <a16:creationId xmlns:a16="http://schemas.microsoft.com/office/drawing/2014/main" id="{522701E4-0150-E859-6D9E-FED001303A36}"/>
              </a:ext>
            </a:extLst>
          </p:cNvPr>
          <p:cNvSpPr>
            <a:spLocks/>
          </p:cNvSpPr>
          <p:nvPr/>
        </p:nvSpPr>
        <p:spPr bwMode="auto">
          <a:xfrm flipH="1">
            <a:off x="2898773" y="3045104"/>
            <a:ext cx="301626" cy="685422"/>
          </a:xfrm>
          <a:prstGeom prst="rightBrace">
            <a:avLst>
              <a:gd name="adj1" fmla="val 19123"/>
              <a:gd name="adj2" fmla="val 50000"/>
            </a:avLst>
          </a:prstGeom>
          <a:noFill/>
          <a:ln w="28575" cap="sq">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5000"/>
              </a:lnSpc>
              <a:buFont typeface="Wingdings" panose="05000000000000000000" pitchFamily="2" charset="2"/>
              <a:buNone/>
            </a:pPr>
            <a:endParaRPr lang="en-US" altLang="en-US" sz="1600"/>
          </a:p>
        </p:txBody>
      </p:sp>
      <p:sp>
        <p:nvSpPr>
          <p:cNvPr id="10" name="AutoShape 9">
            <a:extLst>
              <a:ext uri="{FF2B5EF4-FFF2-40B4-BE49-F238E27FC236}">
                <a16:creationId xmlns:a16="http://schemas.microsoft.com/office/drawing/2014/main" id="{35E8A71A-28DB-67DD-4CED-54BA17786406}"/>
              </a:ext>
            </a:extLst>
          </p:cNvPr>
          <p:cNvSpPr>
            <a:spLocks/>
          </p:cNvSpPr>
          <p:nvPr/>
        </p:nvSpPr>
        <p:spPr bwMode="auto">
          <a:xfrm flipH="1">
            <a:off x="2898773" y="4160521"/>
            <a:ext cx="301626" cy="1520190"/>
          </a:xfrm>
          <a:prstGeom prst="rightBrace">
            <a:avLst>
              <a:gd name="adj1" fmla="val 42412"/>
              <a:gd name="adj2" fmla="val 50000"/>
            </a:avLst>
          </a:prstGeom>
          <a:noFill/>
          <a:ln w="28575" cap="sq">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5000"/>
              </a:lnSpc>
              <a:buFont typeface="Wingdings" panose="05000000000000000000" pitchFamily="2" charset="2"/>
              <a:buNone/>
            </a:pPr>
            <a:endParaRPr lang="en-US" altLang="en-US" sz="1600"/>
          </a:p>
        </p:txBody>
      </p:sp>
      <p:sp>
        <p:nvSpPr>
          <p:cNvPr id="11" name="Rectangle 10">
            <a:extLst>
              <a:ext uri="{FF2B5EF4-FFF2-40B4-BE49-F238E27FC236}">
                <a16:creationId xmlns:a16="http://schemas.microsoft.com/office/drawing/2014/main" id="{B6A14166-925E-815D-420A-2FFA7F5E726F}"/>
              </a:ext>
            </a:extLst>
          </p:cNvPr>
          <p:cNvSpPr/>
          <p:nvPr/>
        </p:nvSpPr>
        <p:spPr>
          <a:xfrm>
            <a:off x="3200399" y="5143387"/>
            <a:ext cx="8023861" cy="685422"/>
          </a:xfrm>
          <a:prstGeom prst="rect">
            <a:avLst/>
          </a:prstGeom>
          <a:no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861605694"/>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noAutofit/>
          </a:bodyPr>
          <a:lstStyle/>
          <a:p>
            <a:r>
              <a:rPr lang="en-US" sz="4000" dirty="0"/>
              <a:t>The Follow-Up Process</a:t>
            </a:r>
          </a:p>
        </p:txBody>
      </p:sp>
      <p:sp>
        <p:nvSpPr>
          <p:cNvPr id="3" name="Content Placeholder 2">
            <a:extLst>
              <a:ext uri="{FF2B5EF4-FFF2-40B4-BE49-F238E27FC236}">
                <a16:creationId xmlns:a16="http://schemas.microsoft.com/office/drawing/2014/main" id="{2AA7A201-AD05-6520-E140-CCF11E59E700}"/>
              </a:ext>
            </a:extLst>
          </p:cNvPr>
          <p:cNvSpPr>
            <a:spLocks noGrp="1"/>
          </p:cNvSpPr>
          <p:nvPr>
            <p:ph idx="1"/>
          </p:nvPr>
        </p:nvSpPr>
        <p:spPr/>
        <p:txBody>
          <a:bodyPr>
            <a:normAutofit fontScale="85000" lnSpcReduction="20000"/>
          </a:bodyPr>
          <a:lstStyle/>
          <a:p>
            <a:r>
              <a:rPr lang="en-US" dirty="0"/>
              <a:t>Update IMPROVEMENT cards with countermeasure test results (DOT system)</a:t>
            </a:r>
          </a:p>
          <a:p>
            <a:r>
              <a:rPr lang="en-US" dirty="0"/>
              <a:t>Track Problem / target metrics to confirm impact of actions</a:t>
            </a:r>
          </a:p>
          <a:p>
            <a:r>
              <a:rPr lang="en-US" dirty="0"/>
              <a:t>Continue taking action on IMPROVEMENT cards marked for action, as prioritized earlier</a:t>
            </a:r>
          </a:p>
          <a:p>
            <a:r>
              <a:rPr lang="en-US" dirty="0"/>
              <a:t>Add new FACT cards as additional data becomes available</a:t>
            </a:r>
          </a:p>
          <a:p>
            <a:r>
              <a:rPr lang="en-US" dirty="0"/>
              <a:t>Add new IMPROVEMENT cards to address new FACT cards, and to address further investigation of original FACT cards</a:t>
            </a:r>
          </a:p>
          <a:p>
            <a:r>
              <a:rPr lang="en-US" dirty="0"/>
              <a:t>Conduct CEDAC follow-up events, as needed to achieve problem resolution and achieve target objective</a:t>
            </a:r>
          </a:p>
          <a:p>
            <a:r>
              <a:rPr lang="en-US" dirty="0"/>
              <a:t>Implement changes and adjustments to countermeasure priorities and implementation plans, according to the metrics and results achieved</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92</a:t>
            </a:fld>
            <a:endParaRPr lang="en-US"/>
          </a:p>
        </p:txBody>
      </p:sp>
      <p:grpSp>
        <p:nvGrpSpPr>
          <p:cNvPr id="4" name="Group 3">
            <a:extLst>
              <a:ext uri="{FF2B5EF4-FFF2-40B4-BE49-F238E27FC236}">
                <a16:creationId xmlns:a16="http://schemas.microsoft.com/office/drawing/2014/main" id="{C1F2DC6B-D88C-7FA5-5003-05F28F6783E5}"/>
              </a:ext>
            </a:extLst>
          </p:cNvPr>
          <p:cNvGrpSpPr/>
          <p:nvPr/>
        </p:nvGrpSpPr>
        <p:grpSpPr>
          <a:xfrm>
            <a:off x="838200" y="297639"/>
            <a:ext cx="4351020" cy="307138"/>
            <a:chOff x="838200" y="297639"/>
            <a:chExt cx="4351020" cy="307138"/>
          </a:xfrm>
        </p:grpSpPr>
        <p:grpSp>
          <p:nvGrpSpPr>
            <p:cNvPr id="6" name="Group 5">
              <a:extLst>
                <a:ext uri="{FF2B5EF4-FFF2-40B4-BE49-F238E27FC236}">
                  <a16:creationId xmlns:a16="http://schemas.microsoft.com/office/drawing/2014/main" id="{B5375B13-A527-ADD6-801D-0D6CB82E74BC}"/>
                </a:ext>
              </a:extLst>
            </p:cNvPr>
            <p:cNvGrpSpPr/>
            <p:nvPr/>
          </p:nvGrpSpPr>
          <p:grpSpPr>
            <a:xfrm>
              <a:off x="838200" y="297639"/>
              <a:ext cx="1687517" cy="290657"/>
              <a:chOff x="838200" y="297639"/>
              <a:chExt cx="1687517" cy="290657"/>
            </a:xfrm>
          </p:grpSpPr>
          <p:sp>
            <p:nvSpPr>
              <p:cNvPr id="8" name="AutoShape 9">
                <a:extLst>
                  <a:ext uri="{FF2B5EF4-FFF2-40B4-BE49-F238E27FC236}">
                    <a16:creationId xmlns:a16="http://schemas.microsoft.com/office/drawing/2014/main" id="{522737C5-48ED-C14C-5338-43A89A4D95E6}"/>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9" name="AutoShape 9">
                <a:extLst>
                  <a:ext uri="{FF2B5EF4-FFF2-40B4-BE49-F238E27FC236}">
                    <a16:creationId xmlns:a16="http://schemas.microsoft.com/office/drawing/2014/main" id="{C6C81D3D-7428-13F6-58A9-351006664885}"/>
                  </a:ext>
                </a:extLst>
              </p:cNvPr>
              <p:cNvSpPr>
                <a:spLocks noChangeArrowheads="1"/>
              </p:cNvSpPr>
              <p:nvPr/>
            </p:nvSpPr>
            <p:spPr bwMode="auto">
              <a:xfrm>
                <a:off x="1779225" y="297639"/>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nvGrpSpPr>
              <p:cNvPr id="10" name="Group 9">
                <a:extLst>
                  <a:ext uri="{FF2B5EF4-FFF2-40B4-BE49-F238E27FC236}">
                    <a16:creationId xmlns:a16="http://schemas.microsoft.com/office/drawing/2014/main" id="{402C9DD6-204A-C867-5AAC-7D462ECA9C05}"/>
                  </a:ext>
                </a:extLst>
              </p:cNvPr>
              <p:cNvGrpSpPr/>
              <p:nvPr/>
            </p:nvGrpSpPr>
            <p:grpSpPr>
              <a:xfrm>
                <a:off x="838200" y="297639"/>
                <a:ext cx="1060167" cy="290657"/>
                <a:chOff x="826426" y="4041857"/>
                <a:chExt cx="1060167" cy="290657"/>
              </a:xfrm>
            </p:grpSpPr>
            <p:sp>
              <p:nvSpPr>
                <p:cNvPr id="11" name="AutoShape 9">
                  <a:extLst>
                    <a:ext uri="{FF2B5EF4-FFF2-40B4-BE49-F238E27FC236}">
                      <a16:creationId xmlns:a16="http://schemas.microsoft.com/office/drawing/2014/main" id="{08BD392E-5779-F662-9B3B-5EE2616C36B2}"/>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2" name="AutoShape 11">
                  <a:extLst>
                    <a:ext uri="{FF2B5EF4-FFF2-40B4-BE49-F238E27FC236}">
                      <a16:creationId xmlns:a16="http://schemas.microsoft.com/office/drawing/2014/main" id="{8FC2A77B-56E8-8507-CAE7-B64ED1005372}"/>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3" name="AutoShape 10">
                  <a:extLst>
                    <a:ext uri="{FF2B5EF4-FFF2-40B4-BE49-F238E27FC236}">
                      <a16:creationId xmlns:a16="http://schemas.microsoft.com/office/drawing/2014/main" id="{56BF6379-B7D9-C0DF-7601-82D8EA4E4557}"/>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7" name="TextBox 6">
              <a:extLst>
                <a:ext uri="{FF2B5EF4-FFF2-40B4-BE49-F238E27FC236}">
                  <a16:creationId xmlns:a16="http://schemas.microsoft.com/office/drawing/2014/main" id="{7FAABA21-3AD5-A595-D680-61C4FEFB6378}"/>
                </a:ext>
              </a:extLst>
            </p:cNvPr>
            <p:cNvSpPr txBox="1"/>
            <p:nvPr/>
          </p:nvSpPr>
          <p:spPr>
            <a:xfrm>
              <a:off x="2525717" y="313415"/>
              <a:ext cx="266350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CEDAC Problem Solution</a:t>
              </a:r>
            </a:p>
          </p:txBody>
        </p:sp>
      </p:grpSp>
    </p:spTree>
    <p:extLst>
      <p:ext uri="{BB962C8B-B14F-4D97-AF65-F5344CB8AC3E}">
        <p14:creationId xmlns:p14="http://schemas.microsoft.com/office/powerpoint/2010/main" val="1712717797"/>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noAutofit/>
          </a:bodyPr>
          <a:lstStyle/>
          <a:p>
            <a:r>
              <a:rPr lang="en-US" sz="3200" dirty="0"/>
              <a:t>Tracking and Management of Periodic Review Process</a:t>
            </a:r>
          </a:p>
        </p:txBody>
      </p:sp>
      <p:sp>
        <p:nvSpPr>
          <p:cNvPr id="3" name="Content Placeholder 2">
            <a:extLst>
              <a:ext uri="{FF2B5EF4-FFF2-40B4-BE49-F238E27FC236}">
                <a16:creationId xmlns:a16="http://schemas.microsoft.com/office/drawing/2014/main" id="{2AA7A201-AD05-6520-E140-CCF11E59E700}"/>
              </a:ext>
            </a:extLst>
          </p:cNvPr>
          <p:cNvSpPr>
            <a:spLocks noGrp="1"/>
          </p:cNvSpPr>
          <p:nvPr>
            <p:ph idx="1"/>
          </p:nvPr>
        </p:nvSpPr>
        <p:spPr/>
        <p:txBody>
          <a:bodyPr>
            <a:normAutofit/>
          </a:bodyPr>
          <a:lstStyle/>
          <a:p>
            <a:r>
              <a:rPr lang="en-US" dirty="0"/>
              <a:t>Establish process for update and review of improvement actions</a:t>
            </a:r>
          </a:p>
          <a:p>
            <a:r>
              <a:rPr lang="en-US" dirty="0"/>
              <a:t>Ensure clear roles and responsibilities are defined and assigned</a:t>
            </a:r>
          </a:p>
          <a:p>
            <a:r>
              <a:rPr lang="en-US" dirty="0"/>
              <a:t>Update metrics daily/weekly to show progress</a:t>
            </a:r>
          </a:p>
          <a:p>
            <a:r>
              <a:rPr lang="en-US" dirty="0"/>
              <a:t>Include other associates as needed</a:t>
            </a:r>
          </a:p>
          <a:p>
            <a:r>
              <a:rPr lang="en-US" dirty="0"/>
              <a:t>Standardize improved processes for similar business needs</a:t>
            </a:r>
          </a:p>
          <a:p>
            <a:r>
              <a:rPr lang="en-US" dirty="0"/>
              <a:t>Ensure improvements are sustainable and documented</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93</a:t>
            </a:fld>
            <a:endParaRPr lang="en-US"/>
          </a:p>
        </p:txBody>
      </p:sp>
      <p:grpSp>
        <p:nvGrpSpPr>
          <p:cNvPr id="4" name="Group 3">
            <a:extLst>
              <a:ext uri="{FF2B5EF4-FFF2-40B4-BE49-F238E27FC236}">
                <a16:creationId xmlns:a16="http://schemas.microsoft.com/office/drawing/2014/main" id="{C1F2DC6B-D88C-7FA5-5003-05F28F6783E5}"/>
              </a:ext>
            </a:extLst>
          </p:cNvPr>
          <p:cNvGrpSpPr/>
          <p:nvPr/>
        </p:nvGrpSpPr>
        <p:grpSpPr>
          <a:xfrm>
            <a:off x="838200" y="297639"/>
            <a:ext cx="4351020" cy="307138"/>
            <a:chOff x="838200" y="297639"/>
            <a:chExt cx="4351020" cy="307138"/>
          </a:xfrm>
        </p:grpSpPr>
        <p:grpSp>
          <p:nvGrpSpPr>
            <p:cNvPr id="6" name="Group 5">
              <a:extLst>
                <a:ext uri="{FF2B5EF4-FFF2-40B4-BE49-F238E27FC236}">
                  <a16:creationId xmlns:a16="http://schemas.microsoft.com/office/drawing/2014/main" id="{B5375B13-A527-ADD6-801D-0D6CB82E74BC}"/>
                </a:ext>
              </a:extLst>
            </p:cNvPr>
            <p:cNvGrpSpPr/>
            <p:nvPr/>
          </p:nvGrpSpPr>
          <p:grpSpPr>
            <a:xfrm>
              <a:off x="838200" y="297639"/>
              <a:ext cx="1687517" cy="290657"/>
              <a:chOff x="838200" y="297639"/>
              <a:chExt cx="1687517" cy="290657"/>
            </a:xfrm>
          </p:grpSpPr>
          <p:sp>
            <p:nvSpPr>
              <p:cNvPr id="8" name="AutoShape 9">
                <a:extLst>
                  <a:ext uri="{FF2B5EF4-FFF2-40B4-BE49-F238E27FC236}">
                    <a16:creationId xmlns:a16="http://schemas.microsoft.com/office/drawing/2014/main" id="{522737C5-48ED-C14C-5338-43A89A4D95E6}"/>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9" name="AutoShape 9">
                <a:extLst>
                  <a:ext uri="{FF2B5EF4-FFF2-40B4-BE49-F238E27FC236}">
                    <a16:creationId xmlns:a16="http://schemas.microsoft.com/office/drawing/2014/main" id="{C6C81D3D-7428-13F6-58A9-351006664885}"/>
                  </a:ext>
                </a:extLst>
              </p:cNvPr>
              <p:cNvSpPr>
                <a:spLocks noChangeArrowheads="1"/>
              </p:cNvSpPr>
              <p:nvPr/>
            </p:nvSpPr>
            <p:spPr bwMode="auto">
              <a:xfrm>
                <a:off x="1779225" y="297639"/>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nvGrpSpPr>
              <p:cNvPr id="10" name="Group 9">
                <a:extLst>
                  <a:ext uri="{FF2B5EF4-FFF2-40B4-BE49-F238E27FC236}">
                    <a16:creationId xmlns:a16="http://schemas.microsoft.com/office/drawing/2014/main" id="{402C9DD6-204A-C867-5AAC-7D462ECA9C05}"/>
                  </a:ext>
                </a:extLst>
              </p:cNvPr>
              <p:cNvGrpSpPr/>
              <p:nvPr/>
            </p:nvGrpSpPr>
            <p:grpSpPr>
              <a:xfrm>
                <a:off x="838200" y="297639"/>
                <a:ext cx="1060167" cy="290657"/>
                <a:chOff x="826426" y="4041857"/>
                <a:chExt cx="1060167" cy="290657"/>
              </a:xfrm>
            </p:grpSpPr>
            <p:sp>
              <p:nvSpPr>
                <p:cNvPr id="11" name="AutoShape 9">
                  <a:extLst>
                    <a:ext uri="{FF2B5EF4-FFF2-40B4-BE49-F238E27FC236}">
                      <a16:creationId xmlns:a16="http://schemas.microsoft.com/office/drawing/2014/main" id="{08BD392E-5779-F662-9B3B-5EE2616C36B2}"/>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2" name="AutoShape 11">
                  <a:extLst>
                    <a:ext uri="{FF2B5EF4-FFF2-40B4-BE49-F238E27FC236}">
                      <a16:creationId xmlns:a16="http://schemas.microsoft.com/office/drawing/2014/main" id="{8FC2A77B-56E8-8507-CAE7-B64ED1005372}"/>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3" name="AutoShape 10">
                  <a:extLst>
                    <a:ext uri="{FF2B5EF4-FFF2-40B4-BE49-F238E27FC236}">
                      <a16:creationId xmlns:a16="http://schemas.microsoft.com/office/drawing/2014/main" id="{56BF6379-B7D9-C0DF-7601-82D8EA4E4557}"/>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7" name="TextBox 6">
              <a:extLst>
                <a:ext uri="{FF2B5EF4-FFF2-40B4-BE49-F238E27FC236}">
                  <a16:creationId xmlns:a16="http://schemas.microsoft.com/office/drawing/2014/main" id="{7FAABA21-3AD5-A595-D680-61C4FEFB6378}"/>
                </a:ext>
              </a:extLst>
            </p:cNvPr>
            <p:cNvSpPr txBox="1"/>
            <p:nvPr/>
          </p:nvSpPr>
          <p:spPr>
            <a:xfrm>
              <a:off x="2525717" y="313415"/>
              <a:ext cx="266350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CEDAC Problem Solution</a:t>
              </a:r>
            </a:p>
          </p:txBody>
        </p:sp>
      </p:grpSp>
    </p:spTree>
    <p:extLst>
      <p:ext uri="{BB962C8B-B14F-4D97-AF65-F5344CB8AC3E}">
        <p14:creationId xmlns:p14="http://schemas.microsoft.com/office/powerpoint/2010/main" val="2895843212"/>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8D9ED7-5CF9-6F4B-B4A8-2DBF8D852A20}"/>
              </a:ext>
            </a:extLst>
          </p:cNvPr>
          <p:cNvSpPr>
            <a:spLocks noGrp="1"/>
          </p:cNvSpPr>
          <p:nvPr>
            <p:ph type="title"/>
          </p:nvPr>
        </p:nvSpPr>
        <p:spPr/>
        <p:txBody>
          <a:bodyPr>
            <a:noAutofit/>
          </a:bodyPr>
          <a:lstStyle/>
          <a:p>
            <a:r>
              <a:rPr lang="en-US" sz="2800" dirty="0">
                <a:latin typeface="Roboto Medium"/>
                <a:ea typeface="Roboto Medium"/>
                <a:cs typeface="Roboto Medium"/>
              </a:rPr>
              <a:t>CEDAC Step 8 Exercise: Follow-up Process</a:t>
            </a:r>
          </a:p>
        </p:txBody>
      </p:sp>
      <p:sp>
        <p:nvSpPr>
          <p:cNvPr id="5" name="Slide Number Placeholder 4">
            <a:extLst>
              <a:ext uri="{FF2B5EF4-FFF2-40B4-BE49-F238E27FC236}">
                <a16:creationId xmlns:a16="http://schemas.microsoft.com/office/drawing/2014/main" id="{EFB3C390-D307-7FFC-DADE-918C5180FE01}"/>
              </a:ext>
            </a:extLst>
          </p:cNvPr>
          <p:cNvSpPr>
            <a:spLocks noGrp="1"/>
          </p:cNvSpPr>
          <p:nvPr>
            <p:ph type="sldNum" sz="quarter" idx="4294967295"/>
          </p:nvPr>
        </p:nvSpPr>
        <p:spPr>
          <a:xfrm>
            <a:off x="8595078" y="6333148"/>
            <a:ext cx="2743200" cy="365125"/>
          </a:xfrm>
          <a:prstGeom prst="rect">
            <a:avLst/>
          </a:prstGeom>
        </p:spPr>
        <p:txBody>
          <a:bodyPr/>
          <a:lstStyle/>
          <a:p>
            <a:fld id="{CC6D4273-7FC1-0947-B9FE-19CB3C0D1FB6}" type="slidenum">
              <a:rPr lang="en-US" smtClean="0"/>
              <a:t>94</a:t>
            </a:fld>
            <a:endParaRPr lang="en-US"/>
          </a:p>
        </p:txBody>
      </p:sp>
      <p:sp>
        <p:nvSpPr>
          <p:cNvPr id="11" name="Rectangle 10">
            <a:extLst>
              <a:ext uri="{FF2B5EF4-FFF2-40B4-BE49-F238E27FC236}">
                <a16:creationId xmlns:a16="http://schemas.microsoft.com/office/drawing/2014/main" id="{3A9506B7-1A57-1322-5AB5-DA8522EE7602}"/>
              </a:ext>
            </a:extLst>
          </p:cNvPr>
          <p:cNvSpPr/>
          <p:nvPr/>
        </p:nvSpPr>
        <p:spPr>
          <a:xfrm>
            <a:off x="838200" y="2328432"/>
            <a:ext cx="9722342" cy="471924"/>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4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Determine the details of the Follow-up Process for this CEDAC event. </a:t>
            </a:r>
          </a:p>
        </p:txBody>
      </p:sp>
      <p:sp>
        <p:nvSpPr>
          <p:cNvPr id="12" name="TextBox 11">
            <a:extLst>
              <a:ext uri="{FF2B5EF4-FFF2-40B4-BE49-F238E27FC236}">
                <a16:creationId xmlns:a16="http://schemas.microsoft.com/office/drawing/2014/main" id="{A4ECB5F6-F271-06CD-2A6A-E79F5245CD15}"/>
              </a:ext>
            </a:extLst>
          </p:cNvPr>
          <p:cNvSpPr txBox="1"/>
          <p:nvPr/>
        </p:nvSpPr>
        <p:spPr>
          <a:xfrm>
            <a:off x="838200" y="1767653"/>
            <a:ext cx="1603003"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Objective</a:t>
            </a:r>
            <a:endParaRPr kumimoji="0" lang="en-US" sz="56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endParaRPr>
          </a:p>
        </p:txBody>
      </p:sp>
      <p:sp>
        <p:nvSpPr>
          <p:cNvPr id="13" name="TextBox 12">
            <a:extLst>
              <a:ext uri="{FF2B5EF4-FFF2-40B4-BE49-F238E27FC236}">
                <a16:creationId xmlns:a16="http://schemas.microsoft.com/office/drawing/2014/main" id="{EA94F381-2B48-C111-2724-726B0390290F}"/>
              </a:ext>
            </a:extLst>
          </p:cNvPr>
          <p:cNvSpPr txBox="1"/>
          <p:nvPr/>
        </p:nvSpPr>
        <p:spPr>
          <a:xfrm>
            <a:off x="838200" y="2952549"/>
            <a:ext cx="2022990"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Instructions</a:t>
            </a:r>
            <a:endParaRPr kumimoji="0" lang="en-US" sz="56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endParaRPr>
          </a:p>
        </p:txBody>
      </p:sp>
      <p:sp>
        <p:nvSpPr>
          <p:cNvPr id="14" name="Rectangle 13">
            <a:extLst>
              <a:ext uri="{FF2B5EF4-FFF2-40B4-BE49-F238E27FC236}">
                <a16:creationId xmlns:a16="http://schemas.microsoft.com/office/drawing/2014/main" id="{82677B47-98C9-F770-8D4E-7D91CF39F5A7}"/>
              </a:ext>
            </a:extLst>
          </p:cNvPr>
          <p:cNvSpPr/>
          <p:nvPr/>
        </p:nvSpPr>
        <p:spPr>
          <a:xfrm>
            <a:off x="818941" y="3486027"/>
            <a:ext cx="4419809" cy="2318583"/>
          </a:xfrm>
          <a:prstGeom prst="rect">
            <a:avLst/>
          </a:prstGeom>
          <a:solidFill>
            <a:schemeClr val="bg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As a team, decide how you will conduct the follow-ups to the CEDAC. </a:t>
            </a:r>
          </a:p>
          <a:p>
            <a:pPr marL="285750" marR="0" indent="-285750" algn="l" defTabSz="584200" rtl="0" fontAlgn="auto" latinLnBrk="0" hangingPunct="0">
              <a:lnSpc>
                <a:spcPct val="100000"/>
              </a:lnSpc>
              <a:spcBef>
                <a:spcPts val="0"/>
              </a:spcBef>
              <a:spcAft>
                <a:spcPts val="0"/>
              </a:spcAft>
              <a:buClrTx/>
              <a:buSzTx/>
              <a:buFont typeface="Arial" panose="020B0604020202020204" pitchFamily="34" charset="0"/>
              <a:buChar char="•"/>
              <a:tabLst/>
            </a:pPr>
            <a:r>
              <a:rPr kumimoji="0" lang="en-US"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Identify the rules. </a:t>
            </a:r>
          </a:p>
          <a:p>
            <a:pPr marL="285750" marR="0" indent="-285750" algn="l" defTabSz="584200" rtl="0" fontAlgn="auto" latinLnBrk="0" hangingPunct="0">
              <a:lnSpc>
                <a:spcPct val="100000"/>
              </a:lnSpc>
              <a:spcBef>
                <a:spcPts val="0"/>
              </a:spcBef>
              <a:spcAft>
                <a:spcPts val="0"/>
              </a:spcAft>
              <a:buClrTx/>
              <a:buSzTx/>
              <a:buFont typeface="Arial" panose="020B0604020202020204" pitchFamily="34" charset="0"/>
              <a:buChar char="•"/>
              <a:tabLst/>
            </a:pPr>
            <a:r>
              <a:rPr kumimoji="0" lang="en-US"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Identify roles and responsibilities and assign ownership.</a:t>
            </a:r>
          </a:p>
          <a:p>
            <a:pPr marL="285750" marR="0" indent="-285750" algn="l" defTabSz="584200" rtl="0" fontAlgn="auto" latinLnBrk="0" hangingPunct="0">
              <a:lnSpc>
                <a:spcPct val="100000"/>
              </a:lnSpc>
              <a:spcBef>
                <a:spcPts val="0"/>
              </a:spcBef>
              <a:spcAft>
                <a:spcPts val="0"/>
              </a:spcAft>
              <a:buClrTx/>
              <a:buSzTx/>
              <a:buFont typeface="Arial" panose="020B0604020202020204" pitchFamily="34" charset="0"/>
              <a:buChar char="•"/>
              <a:tabLst/>
            </a:pPr>
            <a:r>
              <a:rPr kumimoji="0" lang="en-US"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Identify metric(s) of success</a:t>
            </a:r>
          </a:p>
        </p:txBody>
      </p:sp>
      <p:sp>
        <p:nvSpPr>
          <p:cNvPr id="15" name="TextBox 14">
            <a:extLst>
              <a:ext uri="{FF2B5EF4-FFF2-40B4-BE49-F238E27FC236}">
                <a16:creationId xmlns:a16="http://schemas.microsoft.com/office/drawing/2014/main" id="{90914B3B-0CE2-FDFF-2FB9-215236316256}"/>
              </a:ext>
            </a:extLst>
          </p:cNvPr>
          <p:cNvSpPr txBox="1"/>
          <p:nvPr/>
        </p:nvSpPr>
        <p:spPr>
          <a:xfrm>
            <a:off x="5879250" y="2952548"/>
            <a:ext cx="2968761"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Time to Complete</a:t>
            </a:r>
          </a:p>
        </p:txBody>
      </p:sp>
      <p:sp>
        <p:nvSpPr>
          <p:cNvPr id="16" name="TextBox 15">
            <a:extLst>
              <a:ext uri="{FF2B5EF4-FFF2-40B4-BE49-F238E27FC236}">
                <a16:creationId xmlns:a16="http://schemas.microsoft.com/office/drawing/2014/main" id="{6285230A-07BD-F376-25CA-177CC1D4233F}"/>
              </a:ext>
            </a:extLst>
          </p:cNvPr>
          <p:cNvSpPr txBox="1"/>
          <p:nvPr/>
        </p:nvSpPr>
        <p:spPr>
          <a:xfrm>
            <a:off x="5879250" y="4136472"/>
            <a:ext cx="1888337"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Deliverable</a:t>
            </a:r>
          </a:p>
        </p:txBody>
      </p:sp>
      <p:sp>
        <p:nvSpPr>
          <p:cNvPr id="17" name="Rectangle 16">
            <a:extLst>
              <a:ext uri="{FF2B5EF4-FFF2-40B4-BE49-F238E27FC236}">
                <a16:creationId xmlns:a16="http://schemas.microsoft.com/office/drawing/2014/main" id="{67530399-8FDB-50CD-E8FD-8E286DE1A2EA}"/>
              </a:ext>
            </a:extLst>
          </p:cNvPr>
          <p:cNvSpPr/>
          <p:nvPr/>
        </p:nvSpPr>
        <p:spPr>
          <a:xfrm>
            <a:off x="5879250" y="3496996"/>
            <a:ext cx="4681292" cy="471924"/>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584200" hangingPunct="0"/>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Determined by facilitator</a:t>
            </a:r>
          </a:p>
        </p:txBody>
      </p:sp>
      <p:sp>
        <p:nvSpPr>
          <p:cNvPr id="18" name="Rectangle 17">
            <a:extLst>
              <a:ext uri="{FF2B5EF4-FFF2-40B4-BE49-F238E27FC236}">
                <a16:creationId xmlns:a16="http://schemas.microsoft.com/office/drawing/2014/main" id="{84DF6BD6-975A-3700-5E69-322EFF4F722E}"/>
              </a:ext>
            </a:extLst>
          </p:cNvPr>
          <p:cNvSpPr/>
          <p:nvPr/>
        </p:nvSpPr>
        <p:spPr>
          <a:xfrm>
            <a:off x="5879250" y="4665560"/>
            <a:ext cx="4681292" cy="1210588"/>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584200" hangingPunct="0"/>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IMPROVEMENT Cards prioritized. All IMPROVEMENT Card data transferred electronically</a:t>
            </a:r>
          </a:p>
        </p:txBody>
      </p:sp>
      <p:grpSp>
        <p:nvGrpSpPr>
          <p:cNvPr id="3" name="Group 2">
            <a:extLst>
              <a:ext uri="{FF2B5EF4-FFF2-40B4-BE49-F238E27FC236}">
                <a16:creationId xmlns:a16="http://schemas.microsoft.com/office/drawing/2014/main" id="{33838455-30F4-7D35-C5DD-0FEFD791F7A7}"/>
              </a:ext>
            </a:extLst>
          </p:cNvPr>
          <p:cNvGrpSpPr/>
          <p:nvPr/>
        </p:nvGrpSpPr>
        <p:grpSpPr>
          <a:xfrm>
            <a:off x="838200" y="297639"/>
            <a:ext cx="4351020" cy="307138"/>
            <a:chOff x="838200" y="297639"/>
            <a:chExt cx="4351020" cy="307138"/>
          </a:xfrm>
        </p:grpSpPr>
        <p:grpSp>
          <p:nvGrpSpPr>
            <p:cNvPr id="4" name="Group 3">
              <a:extLst>
                <a:ext uri="{FF2B5EF4-FFF2-40B4-BE49-F238E27FC236}">
                  <a16:creationId xmlns:a16="http://schemas.microsoft.com/office/drawing/2014/main" id="{BD0E256E-61C9-53A3-0C8D-C424C6F9DF68}"/>
                </a:ext>
              </a:extLst>
            </p:cNvPr>
            <p:cNvGrpSpPr/>
            <p:nvPr/>
          </p:nvGrpSpPr>
          <p:grpSpPr>
            <a:xfrm>
              <a:off x="838200" y="297639"/>
              <a:ext cx="1687517" cy="290657"/>
              <a:chOff x="838200" y="297639"/>
              <a:chExt cx="1687517" cy="290657"/>
            </a:xfrm>
          </p:grpSpPr>
          <p:sp>
            <p:nvSpPr>
              <p:cNvPr id="7" name="AutoShape 9">
                <a:extLst>
                  <a:ext uri="{FF2B5EF4-FFF2-40B4-BE49-F238E27FC236}">
                    <a16:creationId xmlns:a16="http://schemas.microsoft.com/office/drawing/2014/main" id="{9AFA0187-E137-46A4-13F0-CF9AC0B151EF}"/>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8" name="AutoShape 9">
                <a:extLst>
                  <a:ext uri="{FF2B5EF4-FFF2-40B4-BE49-F238E27FC236}">
                    <a16:creationId xmlns:a16="http://schemas.microsoft.com/office/drawing/2014/main" id="{0215D16D-21A3-A9BE-1360-CB625C3A2B1D}"/>
                  </a:ext>
                </a:extLst>
              </p:cNvPr>
              <p:cNvSpPr>
                <a:spLocks noChangeArrowheads="1"/>
              </p:cNvSpPr>
              <p:nvPr/>
            </p:nvSpPr>
            <p:spPr bwMode="auto">
              <a:xfrm>
                <a:off x="1779225" y="297639"/>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nvGrpSpPr>
              <p:cNvPr id="9" name="Group 8">
                <a:extLst>
                  <a:ext uri="{FF2B5EF4-FFF2-40B4-BE49-F238E27FC236}">
                    <a16:creationId xmlns:a16="http://schemas.microsoft.com/office/drawing/2014/main" id="{44418A4C-EEC3-E913-3662-7A78AC7B9FFB}"/>
                  </a:ext>
                </a:extLst>
              </p:cNvPr>
              <p:cNvGrpSpPr/>
              <p:nvPr/>
            </p:nvGrpSpPr>
            <p:grpSpPr>
              <a:xfrm>
                <a:off x="838200" y="297639"/>
                <a:ext cx="1060167" cy="290657"/>
                <a:chOff x="826426" y="4041857"/>
                <a:chExt cx="1060167" cy="290657"/>
              </a:xfrm>
            </p:grpSpPr>
            <p:sp>
              <p:nvSpPr>
                <p:cNvPr id="10" name="AutoShape 9">
                  <a:extLst>
                    <a:ext uri="{FF2B5EF4-FFF2-40B4-BE49-F238E27FC236}">
                      <a16:creationId xmlns:a16="http://schemas.microsoft.com/office/drawing/2014/main" id="{A46650AB-3B49-3E89-B7F7-B4004D947C42}"/>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9" name="AutoShape 11">
                  <a:extLst>
                    <a:ext uri="{FF2B5EF4-FFF2-40B4-BE49-F238E27FC236}">
                      <a16:creationId xmlns:a16="http://schemas.microsoft.com/office/drawing/2014/main" id="{384D0189-DE4C-08A8-2E92-E482AEC09D0F}"/>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0" name="AutoShape 10">
                  <a:extLst>
                    <a:ext uri="{FF2B5EF4-FFF2-40B4-BE49-F238E27FC236}">
                      <a16:creationId xmlns:a16="http://schemas.microsoft.com/office/drawing/2014/main" id="{E346B49B-C6A4-A460-D53D-02493BA50EFD}"/>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6" name="TextBox 5">
              <a:extLst>
                <a:ext uri="{FF2B5EF4-FFF2-40B4-BE49-F238E27FC236}">
                  <a16:creationId xmlns:a16="http://schemas.microsoft.com/office/drawing/2014/main" id="{AE3534B4-CF02-8A4E-731E-D557F441C640}"/>
                </a:ext>
              </a:extLst>
            </p:cNvPr>
            <p:cNvSpPr txBox="1"/>
            <p:nvPr/>
          </p:nvSpPr>
          <p:spPr>
            <a:xfrm>
              <a:off x="2525717" y="313415"/>
              <a:ext cx="266350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CEDAC Problem Solution</a:t>
              </a:r>
            </a:p>
          </p:txBody>
        </p:sp>
      </p:grpSp>
    </p:spTree>
    <p:extLst>
      <p:ext uri="{BB962C8B-B14F-4D97-AF65-F5344CB8AC3E}">
        <p14:creationId xmlns:p14="http://schemas.microsoft.com/office/powerpoint/2010/main" val="1890071305"/>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noAutofit/>
          </a:bodyPr>
          <a:lstStyle/>
          <a:p>
            <a:r>
              <a:rPr lang="en-US" sz="3600" dirty="0"/>
              <a:t>Prepare for Final Report-Out to Management</a:t>
            </a:r>
          </a:p>
        </p:txBody>
      </p:sp>
      <p:sp>
        <p:nvSpPr>
          <p:cNvPr id="3" name="Content Placeholder 2">
            <a:extLst>
              <a:ext uri="{FF2B5EF4-FFF2-40B4-BE49-F238E27FC236}">
                <a16:creationId xmlns:a16="http://schemas.microsoft.com/office/drawing/2014/main" id="{2AA7A201-AD05-6520-E140-CCF11E59E700}"/>
              </a:ext>
            </a:extLst>
          </p:cNvPr>
          <p:cNvSpPr>
            <a:spLocks noGrp="1"/>
          </p:cNvSpPr>
          <p:nvPr>
            <p:ph idx="1"/>
          </p:nvPr>
        </p:nvSpPr>
        <p:spPr/>
        <p:txBody>
          <a:bodyPr>
            <a:normAutofit/>
          </a:bodyPr>
          <a:lstStyle/>
          <a:p>
            <a:r>
              <a:rPr lang="en-US" dirty="0"/>
              <a:t>All team members should contribute to the final report-out presentation to management</a:t>
            </a:r>
          </a:p>
          <a:p>
            <a:r>
              <a:rPr lang="en-US" dirty="0"/>
              <a:t>Report-out should include</a:t>
            </a:r>
          </a:p>
          <a:p>
            <a:pPr lvl="1"/>
            <a:r>
              <a:rPr lang="en-US" dirty="0"/>
              <a:t>Introduction of Team</a:t>
            </a:r>
          </a:p>
          <a:p>
            <a:pPr lvl="1"/>
            <a:r>
              <a:rPr lang="en-US" dirty="0"/>
              <a:t>Review of Event goals and objectives</a:t>
            </a:r>
          </a:p>
          <a:p>
            <a:pPr lvl="1"/>
            <a:r>
              <a:rPr lang="en-US" dirty="0"/>
              <a:t>Review of Former Process and Documentation Forms</a:t>
            </a:r>
          </a:p>
          <a:p>
            <a:pPr lvl="1"/>
            <a:r>
              <a:rPr lang="en-US" dirty="0"/>
              <a:t>Review of Improvement Opportunities Identified and Implemented</a:t>
            </a:r>
          </a:p>
          <a:p>
            <a:pPr lvl="1"/>
            <a:r>
              <a:rPr lang="en-US" dirty="0"/>
              <a:t>Review of CEDAC Follow-Up Process</a:t>
            </a:r>
          </a:p>
          <a:p>
            <a:r>
              <a:rPr lang="en-US" dirty="0"/>
              <a:t>Typical Report-Out times are 15 minutes for presentation and 15 minutes for questions</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95</a:t>
            </a:fld>
            <a:endParaRPr lang="en-US"/>
          </a:p>
        </p:txBody>
      </p:sp>
      <p:grpSp>
        <p:nvGrpSpPr>
          <p:cNvPr id="4" name="Group 3">
            <a:extLst>
              <a:ext uri="{FF2B5EF4-FFF2-40B4-BE49-F238E27FC236}">
                <a16:creationId xmlns:a16="http://schemas.microsoft.com/office/drawing/2014/main" id="{C1F2DC6B-D88C-7FA5-5003-05F28F6783E5}"/>
              </a:ext>
            </a:extLst>
          </p:cNvPr>
          <p:cNvGrpSpPr/>
          <p:nvPr/>
        </p:nvGrpSpPr>
        <p:grpSpPr>
          <a:xfrm>
            <a:off x="838200" y="297639"/>
            <a:ext cx="4351020" cy="307138"/>
            <a:chOff x="838200" y="297639"/>
            <a:chExt cx="4351020" cy="307138"/>
          </a:xfrm>
        </p:grpSpPr>
        <p:grpSp>
          <p:nvGrpSpPr>
            <p:cNvPr id="6" name="Group 5">
              <a:extLst>
                <a:ext uri="{FF2B5EF4-FFF2-40B4-BE49-F238E27FC236}">
                  <a16:creationId xmlns:a16="http://schemas.microsoft.com/office/drawing/2014/main" id="{B5375B13-A527-ADD6-801D-0D6CB82E74BC}"/>
                </a:ext>
              </a:extLst>
            </p:cNvPr>
            <p:cNvGrpSpPr/>
            <p:nvPr/>
          </p:nvGrpSpPr>
          <p:grpSpPr>
            <a:xfrm>
              <a:off x="838200" y="297639"/>
              <a:ext cx="1687517" cy="290657"/>
              <a:chOff x="838200" y="297639"/>
              <a:chExt cx="1687517" cy="290657"/>
            </a:xfrm>
          </p:grpSpPr>
          <p:sp>
            <p:nvSpPr>
              <p:cNvPr id="8" name="AutoShape 9">
                <a:extLst>
                  <a:ext uri="{FF2B5EF4-FFF2-40B4-BE49-F238E27FC236}">
                    <a16:creationId xmlns:a16="http://schemas.microsoft.com/office/drawing/2014/main" id="{522737C5-48ED-C14C-5338-43A89A4D95E6}"/>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9" name="AutoShape 9">
                <a:extLst>
                  <a:ext uri="{FF2B5EF4-FFF2-40B4-BE49-F238E27FC236}">
                    <a16:creationId xmlns:a16="http://schemas.microsoft.com/office/drawing/2014/main" id="{C6C81D3D-7428-13F6-58A9-351006664885}"/>
                  </a:ext>
                </a:extLst>
              </p:cNvPr>
              <p:cNvSpPr>
                <a:spLocks noChangeArrowheads="1"/>
              </p:cNvSpPr>
              <p:nvPr/>
            </p:nvSpPr>
            <p:spPr bwMode="auto">
              <a:xfrm>
                <a:off x="1779225" y="297639"/>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nvGrpSpPr>
              <p:cNvPr id="10" name="Group 9">
                <a:extLst>
                  <a:ext uri="{FF2B5EF4-FFF2-40B4-BE49-F238E27FC236}">
                    <a16:creationId xmlns:a16="http://schemas.microsoft.com/office/drawing/2014/main" id="{402C9DD6-204A-C867-5AAC-7D462ECA9C05}"/>
                  </a:ext>
                </a:extLst>
              </p:cNvPr>
              <p:cNvGrpSpPr/>
              <p:nvPr/>
            </p:nvGrpSpPr>
            <p:grpSpPr>
              <a:xfrm>
                <a:off x="838200" y="297639"/>
                <a:ext cx="1060167" cy="290657"/>
                <a:chOff x="826426" y="4041857"/>
                <a:chExt cx="1060167" cy="290657"/>
              </a:xfrm>
            </p:grpSpPr>
            <p:sp>
              <p:nvSpPr>
                <p:cNvPr id="11" name="AutoShape 9">
                  <a:extLst>
                    <a:ext uri="{FF2B5EF4-FFF2-40B4-BE49-F238E27FC236}">
                      <a16:creationId xmlns:a16="http://schemas.microsoft.com/office/drawing/2014/main" id="{08BD392E-5779-F662-9B3B-5EE2616C36B2}"/>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2" name="AutoShape 11">
                  <a:extLst>
                    <a:ext uri="{FF2B5EF4-FFF2-40B4-BE49-F238E27FC236}">
                      <a16:creationId xmlns:a16="http://schemas.microsoft.com/office/drawing/2014/main" id="{8FC2A77B-56E8-8507-CAE7-B64ED1005372}"/>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3" name="AutoShape 10">
                  <a:extLst>
                    <a:ext uri="{FF2B5EF4-FFF2-40B4-BE49-F238E27FC236}">
                      <a16:creationId xmlns:a16="http://schemas.microsoft.com/office/drawing/2014/main" id="{56BF6379-B7D9-C0DF-7601-82D8EA4E4557}"/>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7" name="TextBox 6">
              <a:extLst>
                <a:ext uri="{FF2B5EF4-FFF2-40B4-BE49-F238E27FC236}">
                  <a16:creationId xmlns:a16="http://schemas.microsoft.com/office/drawing/2014/main" id="{7FAABA21-3AD5-A595-D680-61C4FEFB6378}"/>
                </a:ext>
              </a:extLst>
            </p:cNvPr>
            <p:cNvSpPr txBox="1"/>
            <p:nvPr/>
          </p:nvSpPr>
          <p:spPr>
            <a:xfrm>
              <a:off x="2525717" y="313415"/>
              <a:ext cx="266350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CEDAC Problem Solution</a:t>
              </a:r>
            </a:p>
          </p:txBody>
        </p:sp>
      </p:grpSp>
    </p:spTree>
    <p:extLst>
      <p:ext uri="{BB962C8B-B14F-4D97-AF65-F5344CB8AC3E}">
        <p14:creationId xmlns:p14="http://schemas.microsoft.com/office/powerpoint/2010/main" val="705870468"/>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2DF11FF7-095F-D1A9-6784-C53D538A36FF}"/>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96</a:t>
            </a:fld>
            <a:endParaRPr lang="en-US"/>
          </a:p>
        </p:txBody>
      </p:sp>
      <p:sp>
        <p:nvSpPr>
          <p:cNvPr id="2" name="Title 1">
            <a:extLst>
              <a:ext uri="{FF2B5EF4-FFF2-40B4-BE49-F238E27FC236}">
                <a16:creationId xmlns:a16="http://schemas.microsoft.com/office/drawing/2014/main" id="{0D77BA17-B180-9889-85DC-DBE8C080CFB7}"/>
              </a:ext>
            </a:extLst>
          </p:cNvPr>
          <p:cNvSpPr>
            <a:spLocks noGrp="1"/>
          </p:cNvSpPr>
          <p:nvPr>
            <p:ph type="title" idx="4294967295"/>
          </p:nvPr>
        </p:nvSpPr>
        <p:spPr>
          <a:xfrm>
            <a:off x="699911" y="1497012"/>
            <a:ext cx="9815689" cy="1009650"/>
          </a:xfrm>
          <a:prstGeom prst="rect">
            <a:avLst/>
          </a:prstGeom>
        </p:spPr>
        <p:txBody>
          <a:bodyPr>
            <a:noAutofit/>
          </a:bodyPr>
          <a:lstStyle/>
          <a:p>
            <a:r>
              <a:rPr lang="en-US" sz="4000" dirty="0">
                <a:latin typeface="Roboto Medium"/>
                <a:ea typeface="Roboto Medium"/>
                <a:cs typeface="Roboto Medium"/>
              </a:rPr>
              <a:t>CEDAC Review</a:t>
            </a:r>
          </a:p>
        </p:txBody>
      </p:sp>
      <p:sp>
        <p:nvSpPr>
          <p:cNvPr id="3" name="Content Placeholder 2">
            <a:extLst>
              <a:ext uri="{FF2B5EF4-FFF2-40B4-BE49-F238E27FC236}">
                <a16:creationId xmlns:a16="http://schemas.microsoft.com/office/drawing/2014/main" id="{30534846-F3D4-20E7-25C0-91FCF7736CB5}"/>
              </a:ext>
            </a:extLst>
          </p:cNvPr>
          <p:cNvSpPr>
            <a:spLocks noGrp="1"/>
          </p:cNvSpPr>
          <p:nvPr>
            <p:ph idx="4294967295"/>
          </p:nvPr>
        </p:nvSpPr>
        <p:spPr>
          <a:xfrm>
            <a:off x="722489" y="2506662"/>
            <a:ext cx="10515600" cy="4351338"/>
          </a:xfrm>
        </p:spPr>
        <p:txBody>
          <a:bodyPr/>
          <a:lstStyle/>
          <a:p>
            <a:pPr marL="0" indent="0">
              <a:buNone/>
            </a:pPr>
            <a:r>
              <a:rPr lang="en-US" dirty="0">
                <a:latin typeface="Roboto Medium" panose="02000000000000000000" pitchFamily="2" charset="0"/>
                <a:ea typeface="Roboto Medium" panose="02000000000000000000" pitchFamily="2" charset="0"/>
                <a:cs typeface="Roboto Medium" panose="02000000000000000000" pitchFamily="2" charset="0"/>
              </a:rPr>
              <a:t>Objectives:</a:t>
            </a:r>
          </a:p>
          <a:p>
            <a:r>
              <a:rPr lang="en-US" sz="2400" dirty="0"/>
              <a:t>Review Benefits of CEDAC</a:t>
            </a:r>
          </a:p>
          <a:p>
            <a:r>
              <a:rPr lang="en-US" sz="2400" dirty="0"/>
              <a:t>Review CEDAC Roadmap</a:t>
            </a:r>
          </a:p>
          <a:p>
            <a:r>
              <a:rPr lang="en-US" sz="2400" dirty="0"/>
              <a:t>Discuss Key Learnings</a:t>
            </a:r>
          </a:p>
          <a:p>
            <a:endParaRPr lang="en-US" sz="2400" dirty="0"/>
          </a:p>
        </p:txBody>
      </p:sp>
      <p:grpSp>
        <p:nvGrpSpPr>
          <p:cNvPr id="11" name="Group 10">
            <a:extLst>
              <a:ext uri="{FF2B5EF4-FFF2-40B4-BE49-F238E27FC236}">
                <a16:creationId xmlns:a16="http://schemas.microsoft.com/office/drawing/2014/main" id="{DCC7CB02-4F0E-2CE8-9EF1-D9AEB4FA2691}"/>
              </a:ext>
            </a:extLst>
          </p:cNvPr>
          <p:cNvGrpSpPr/>
          <p:nvPr/>
        </p:nvGrpSpPr>
        <p:grpSpPr>
          <a:xfrm>
            <a:off x="699911" y="837133"/>
            <a:ext cx="7273624" cy="659879"/>
            <a:chOff x="699911" y="1069861"/>
            <a:chExt cx="7273624" cy="350130"/>
          </a:xfrm>
        </p:grpSpPr>
        <p:sp>
          <p:nvSpPr>
            <p:cNvPr id="5" name="AutoShape 9">
              <a:extLst>
                <a:ext uri="{FF2B5EF4-FFF2-40B4-BE49-F238E27FC236}">
                  <a16:creationId xmlns:a16="http://schemas.microsoft.com/office/drawing/2014/main" id="{A10A2475-FBAF-2DA7-EE48-9E0556DB3824}"/>
                </a:ext>
              </a:extLst>
            </p:cNvPr>
            <p:cNvSpPr>
              <a:spLocks noChangeArrowheads="1"/>
            </p:cNvSpPr>
            <p:nvPr/>
          </p:nvSpPr>
          <p:spPr bwMode="auto">
            <a:xfrm>
              <a:off x="6395259" y="1069861"/>
              <a:ext cx="1578276" cy="350130"/>
            </a:xfrm>
            <a:prstGeom prst="homePlate">
              <a:avLst>
                <a:gd name="adj" fmla="val 29912"/>
              </a:avLst>
            </a:prstGeom>
            <a:solidFill>
              <a:srgbClr val="FFB627"/>
            </a:solidFill>
            <a:ln w="12700" cap="sq">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r>
                <a:rPr lang="en-US" altLang="en-US" sz="1200" dirty="0">
                  <a:latin typeface="Roboto" panose="02000000000000000000" pitchFamily="2" charset="0"/>
                  <a:ea typeface="Roboto" panose="02000000000000000000" pitchFamily="2" charset="0"/>
                </a:rPr>
                <a:t>CEDAC Review</a:t>
              </a:r>
            </a:p>
          </p:txBody>
        </p:sp>
        <p:sp>
          <p:nvSpPr>
            <p:cNvPr id="4" name="AutoShape 9">
              <a:extLst>
                <a:ext uri="{FF2B5EF4-FFF2-40B4-BE49-F238E27FC236}">
                  <a16:creationId xmlns:a16="http://schemas.microsoft.com/office/drawing/2014/main" id="{663C2CC0-8818-6B25-BBA3-89708896610A}"/>
                </a:ext>
              </a:extLst>
            </p:cNvPr>
            <p:cNvSpPr>
              <a:spLocks noChangeArrowheads="1"/>
            </p:cNvSpPr>
            <p:nvPr/>
          </p:nvSpPr>
          <p:spPr bwMode="auto">
            <a:xfrm>
              <a:off x="4971710" y="1069861"/>
              <a:ext cx="1578276" cy="350130"/>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r>
                <a:rPr lang="en-US" altLang="en-US" sz="1200" dirty="0">
                  <a:solidFill>
                    <a:schemeClr val="bg1"/>
                  </a:solidFill>
                  <a:latin typeface="Roboto" panose="02000000000000000000" pitchFamily="2" charset="0"/>
                  <a:ea typeface="Roboto" panose="02000000000000000000" pitchFamily="2" charset="0"/>
                </a:rPr>
                <a:t>CEDAC Solution</a:t>
              </a:r>
            </a:p>
          </p:txBody>
        </p:sp>
        <p:grpSp>
          <p:nvGrpSpPr>
            <p:cNvPr id="10" name="Group 9">
              <a:extLst>
                <a:ext uri="{FF2B5EF4-FFF2-40B4-BE49-F238E27FC236}">
                  <a16:creationId xmlns:a16="http://schemas.microsoft.com/office/drawing/2014/main" id="{DF07BA82-F1D2-01EE-36D7-0CE1E1021337}"/>
                </a:ext>
              </a:extLst>
            </p:cNvPr>
            <p:cNvGrpSpPr/>
            <p:nvPr/>
          </p:nvGrpSpPr>
          <p:grpSpPr>
            <a:xfrm>
              <a:off x="699911" y="1069861"/>
              <a:ext cx="4425950" cy="350130"/>
              <a:chOff x="5627530" y="641179"/>
              <a:chExt cx="6564470" cy="804977"/>
            </a:xfrm>
          </p:grpSpPr>
          <p:sp>
            <p:nvSpPr>
              <p:cNvPr id="7" name="AutoShape 9">
                <a:extLst>
                  <a:ext uri="{FF2B5EF4-FFF2-40B4-BE49-F238E27FC236}">
                    <a16:creationId xmlns:a16="http://schemas.microsoft.com/office/drawing/2014/main" id="{E658DE7F-EAE7-7BD9-8492-805CBFCFF7F5}"/>
                  </a:ext>
                </a:extLst>
              </p:cNvPr>
              <p:cNvSpPr>
                <a:spLocks noChangeArrowheads="1"/>
              </p:cNvSpPr>
              <p:nvPr/>
            </p:nvSpPr>
            <p:spPr bwMode="auto">
              <a:xfrm>
                <a:off x="9851136" y="641179"/>
                <a:ext cx="2340864" cy="804977"/>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r>
                  <a:rPr lang="en-US" altLang="en-US" sz="1200" dirty="0">
                    <a:solidFill>
                      <a:schemeClr val="bg1"/>
                    </a:solidFill>
                    <a:latin typeface="Roboto" panose="02000000000000000000" pitchFamily="2" charset="0"/>
                    <a:ea typeface="Roboto" panose="02000000000000000000" pitchFamily="2" charset="0"/>
                  </a:rPr>
                  <a:t>CEDAC Cause</a:t>
                </a:r>
              </a:p>
            </p:txBody>
          </p:sp>
          <p:sp>
            <p:nvSpPr>
              <p:cNvPr id="8" name="AutoShape 10">
                <a:extLst>
                  <a:ext uri="{FF2B5EF4-FFF2-40B4-BE49-F238E27FC236}">
                    <a16:creationId xmlns:a16="http://schemas.microsoft.com/office/drawing/2014/main" id="{3B341166-AC1F-8D30-9314-0FB3D948387F}"/>
                  </a:ext>
                </a:extLst>
              </p:cNvPr>
              <p:cNvSpPr>
                <a:spLocks noChangeArrowheads="1"/>
              </p:cNvSpPr>
              <p:nvPr/>
            </p:nvSpPr>
            <p:spPr bwMode="auto">
              <a:xfrm>
                <a:off x="7737856" y="641180"/>
                <a:ext cx="2342768" cy="80497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r>
                  <a:rPr lang="en-US" altLang="en-US" sz="1200" dirty="0">
                    <a:solidFill>
                      <a:schemeClr val="bg1"/>
                    </a:solidFill>
                    <a:latin typeface="Roboto" panose="02000000000000000000" pitchFamily="2" charset="0"/>
                    <a:ea typeface="Roboto" panose="02000000000000000000" pitchFamily="2" charset="0"/>
                  </a:rPr>
                  <a:t>CEDAC Effect</a:t>
                </a:r>
              </a:p>
            </p:txBody>
          </p:sp>
          <p:sp>
            <p:nvSpPr>
              <p:cNvPr id="9" name="AutoShape 11">
                <a:extLst>
                  <a:ext uri="{FF2B5EF4-FFF2-40B4-BE49-F238E27FC236}">
                    <a16:creationId xmlns:a16="http://schemas.microsoft.com/office/drawing/2014/main" id="{2AB16F46-B5FA-96F3-91C2-07B2F2F1CC6C}"/>
                  </a:ext>
                </a:extLst>
              </p:cNvPr>
              <p:cNvSpPr>
                <a:spLocks noChangeArrowheads="1"/>
              </p:cNvSpPr>
              <p:nvPr/>
            </p:nvSpPr>
            <p:spPr bwMode="auto">
              <a:xfrm>
                <a:off x="5627530" y="641179"/>
                <a:ext cx="2340864" cy="804977"/>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r>
                  <a:rPr lang="en-US" altLang="en-US" sz="1200" dirty="0">
                    <a:solidFill>
                      <a:schemeClr val="bg1"/>
                    </a:solidFill>
                    <a:latin typeface="Roboto" panose="02000000000000000000" pitchFamily="2" charset="0"/>
                    <a:ea typeface="Roboto" panose="02000000000000000000" pitchFamily="2" charset="0"/>
                  </a:rPr>
                  <a:t>CEDAC Overview</a:t>
                </a:r>
              </a:p>
            </p:txBody>
          </p:sp>
        </p:grpSp>
      </p:grpSp>
      <p:cxnSp>
        <p:nvCxnSpPr>
          <p:cNvPr id="12" name="Straight Connector 11">
            <a:extLst>
              <a:ext uri="{FF2B5EF4-FFF2-40B4-BE49-F238E27FC236}">
                <a16:creationId xmlns:a16="http://schemas.microsoft.com/office/drawing/2014/main" id="{A4FB0DFD-2D15-952D-9825-996B08251FD4}"/>
              </a:ext>
            </a:extLst>
          </p:cNvPr>
          <p:cNvCxnSpPr/>
          <p:nvPr/>
        </p:nvCxnSpPr>
        <p:spPr>
          <a:xfrm>
            <a:off x="699911" y="2386919"/>
            <a:ext cx="3882975" cy="0"/>
          </a:xfrm>
          <a:prstGeom prst="line">
            <a:avLst/>
          </a:prstGeom>
          <a:ln w="254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00359806"/>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noAutofit/>
          </a:bodyPr>
          <a:lstStyle/>
          <a:p>
            <a:r>
              <a:rPr lang="en-US" sz="3600" dirty="0"/>
              <a:t>Review - CEDAC Benefits</a:t>
            </a:r>
          </a:p>
        </p:txBody>
      </p:sp>
      <p:sp>
        <p:nvSpPr>
          <p:cNvPr id="3" name="Content Placeholder 2">
            <a:extLst>
              <a:ext uri="{FF2B5EF4-FFF2-40B4-BE49-F238E27FC236}">
                <a16:creationId xmlns:a16="http://schemas.microsoft.com/office/drawing/2014/main" id="{2AA7A201-AD05-6520-E140-CCF11E59E700}"/>
              </a:ext>
            </a:extLst>
          </p:cNvPr>
          <p:cNvSpPr>
            <a:spLocks noGrp="1"/>
          </p:cNvSpPr>
          <p:nvPr>
            <p:ph idx="1"/>
          </p:nvPr>
        </p:nvSpPr>
        <p:spPr/>
        <p:txBody>
          <a:bodyPr>
            <a:normAutofit lnSpcReduction="10000"/>
          </a:bodyPr>
          <a:lstStyle/>
          <a:p>
            <a:r>
              <a:rPr lang="en-US" dirty="0"/>
              <a:t>Brings problem solving out of the meeting room, eliminating “another one hour meeting each week”</a:t>
            </a:r>
          </a:p>
          <a:p>
            <a:r>
              <a:rPr lang="en-US" dirty="0"/>
              <a:t>Involves everyone in the continuous improvement process</a:t>
            </a:r>
          </a:p>
          <a:p>
            <a:r>
              <a:rPr lang="en-US" dirty="0"/>
              <a:t>Is visually displayed in the work place providing easy access</a:t>
            </a:r>
          </a:p>
          <a:p>
            <a:r>
              <a:rPr lang="en-US" dirty="0"/>
              <a:t>Covers every step in the problem solving process in one technique</a:t>
            </a:r>
          </a:p>
          <a:p>
            <a:r>
              <a:rPr lang="en-US" dirty="0"/>
              <a:t>Quantifies the effect and tracks progress providing immediate feedback for successful solution implementations</a:t>
            </a:r>
          </a:p>
          <a:p>
            <a:r>
              <a:rPr lang="en-US" dirty="0"/>
              <a:t>Is flexible; board design is limited only by extent of imagination; it does not require the fishbone format be used exclusively</a:t>
            </a:r>
          </a:p>
          <a:p>
            <a:endParaRPr lang="en-US" dirty="0"/>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97</a:t>
            </a:fld>
            <a:endParaRPr lang="en-US"/>
          </a:p>
        </p:txBody>
      </p:sp>
      <p:grpSp>
        <p:nvGrpSpPr>
          <p:cNvPr id="4" name="Group 3">
            <a:extLst>
              <a:ext uri="{FF2B5EF4-FFF2-40B4-BE49-F238E27FC236}">
                <a16:creationId xmlns:a16="http://schemas.microsoft.com/office/drawing/2014/main" id="{C1F2DC6B-D88C-7FA5-5003-05F28F6783E5}"/>
              </a:ext>
            </a:extLst>
          </p:cNvPr>
          <p:cNvGrpSpPr/>
          <p:nvPr/>
        </p:nvGrpSpPr>
        <p:grpSpPr>
          <a:xfrm>
            <a:off x="838200" y="297639"/>
            <a:ext cx="4351020" cy="307138"/>
            <a:chOff x="838200" y="297639"/>
            <a:chExt cx="4351020" cy="307138"/>
          </a:xfrm>
        </p:grpSpPr>
        <p:grpSp>
          <p:nvGrpSpPr>
            <p:cNvPr id="6" name="Group 5">
              <a:extLst>
                <a:ext uri="{FF2B5EF4-FFF2-40B4-BE49-F238E27FC236}">
                  <a16:creationId xmlns:a16="http://schemas.microsoft.com/office/drawing/2014/main" id="{B5375B13-A527-ADD6-801D-0D6CB82E74BC}"/>
                </a:ext>
              </a:extLst>
            </p:cNvPr>
            <p:cNvGrpSpPr/>
            <p:nvPr/>
          </p:nvGrpSpPr>
          <p:grpSpPr>
            <a:xfrm>
              <a:off x="838200" y="297639"/>
              <a:ext cx="1687517" cy="290657"/>
              <a:chOff x="838200" y="297639"/>
              <a:chExt cx="1687517" cy="290657"/>
            </a:xfrm>
          </p:grpSpPr>
          <p:sp>
            <p:nvSpPr>
              <p:cNvPr id="8" name="AutoShape 9">
                <a:extLst>
                  <a:ext uri="{FF2B5EF4-FFF2-40B4-BE49-F238E27FC236}">
                    <a16:creationId xmlns:a16="http://schemas.microsoft.com/office/drawing/2014/main" id="{522737C5-48ED-C14C-5338-43A89A4D95E6}"/>
                  </a:ext>
                </a:extLst>
              </p:cNvPr>
              <p:cNvSpPr>
                <a:spLocks noChangeArrowheads="1"/>
              </p:cNvSpPr>
              <p:nvPr/>
            </p:nvSpPr>
            <p:spPr bwMode="auto">
              <a:xfrm>
                <a:off x="2092900" y="297639"/>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9" name="AutoShape 9">
                <a:extLst>
                  <a:ext uri="{FF2B5EF4-FFF2-40B4-BE49-F238E27FC236}">
                    <a16:creationId xmlns:a16="http://schemas.microsoft.com/office/drawing/2014/main" id="{C6C81D3D-7428-13F6-58A9-351006664885}"/>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nvGrpSpPr>
              <p:cNvPr id="10" name="Group 9">
                <a:extLst>
                  <a:ext uri="{FF2B5EF4-FFF2-40B4-BE49-F238E27FC236}">
                    <a16:creationId xmlns:a16="http://schemas.microsoft.com/office/drawing/2014/main" id="{402C9DD6-204A-C867-5AAC-7D462ECA9C05}"/>
                  </a:ext>
                </a:extLst>
              </p:cNvPr>
              <p:cNvGrpSpPr/>
              <p:nvPr/>
            </p:nvGrpSpPr>
            <p:grpSpPr>
              <a:xfrm>
                <a:off x="838200" y="297639"/>
                <a:ext cx="1060167" cy="290657"/>
                <a:chOff x="826426" y="4041857"/>
                <a:chExt cx="1060167" cy="290657"/>
              </a:xfrm>
            </p:grpSpPr>
            <p:sp>
              <p:nvSpPr>
                <p:cNvPr id="11" name="AutoShape 9">
                  <a:extLst>
                    <a:ext uri="{FF2B5EF4-FFF2-40B4-BE49-F238E27FC236}">
                      <a16:creationId xmlns:a16="http://schemas.microsoft.com/office/drawing/2014/main" id="{08BD392E-5779-F662-9B3B-5EE2616C36B2}"/>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2" name="AutoShape 11">
                  <a:extLst>
                    <a:ext uri="{FF2B5EF4-FFF2-40B4-BE49-F238E27FC236}">
                      <a16:creationId xmlns:a16="http://schemas.microsoft.com/office/drawing/2014/main" id="{8FC2A77B-56E8-8507-CAE7-B64ED1005372}"/>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3" name="AutoShape 10">
                  <a:extLst>
                    <a:ext uri="{FF2B5EF4-FFF2-40B4-BE49-F238E27FC236}">
                      <a16:creationId xmlns:a16="http://schemas.microsoft.com/office/drawing/2014/main" id="{56BF6379-B7D9-C0DF-7601-82D8EA4E4557}"/>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7" name="TextBox 6">
              <a:extLst>
                <a:ext uri="{FF2B5EF4-FFF2-40B4-BE49-F238E27FC236}">
                  <a16:creationId xmlns:a16="http://schemas.microsoft.com/office/drawing/2014/main" id="{7FAABA21-3AD5-A595-D680-61C4FEFB6378}"/>
                </a:ext>
              </a:extLst>
            </p:cNvPr>
            <p:cNvSpPr txBox="1"/>
            <p:nvPr/>
          </p:nvSpPr>
          <p:spPr>
            <a:xfrm>
              <a:off x="2525717" y="313415"/>
              <a:ext cx="266350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CEDAC Review</a:t>
              </a:r>
            </a:p>
          </p:txBody>
        </p:sp>
      </p:grpSp>
    </p:spTree>
    <p:extLst>
      <p:ext uri="{BB962C8B-B14F-4D97-AF65-F5344CB8AC3E}">
        <p14:creationId xmlns:p14="http://schemas.microsoft.com/office/powerpoint/2010/main" val="3824699935"/>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lstStyle/>
          <a:p>
            <a:r>
              <a:rPr lang="en-US" altLang="en-US" dirty="0"/>
              <a:t>Review - CEDAC Roadmap</a:t>
            </a:r>
            <a:endParaRPr lang="en-US" dirty="0"/>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98</a:t>
            </a:fld>
            <a:endParaRPr lang="en-US"/>
          </a:p>
        </p:txBody>
      </p:sp>
      <p:grpSp>
        <p:nvGrpSpPr>
          <p:cNvPr id="47" name="Group 46">
            <a:extLst>
              <a:ext uri="{FF2B5EF4-FFF2-40B4-BE49-F238E27FC236}">
                <a16:creationId xmlns:a16="http://schemas.microsoft.com/office/drawing/2014/main" id="{1030B0D3-94CC-B7BF-E916-F53B62AF20B0}"/>
              </a:ext>
            </a:extLst>
          </p:cNvPr>
          <p:cNvGrpSpPr/>
          <p:nvPr/>
        </p:nvGrpSpPr>
        <p:grpSpPr>
          <a:xfrm>
            <a:off x="838200" y="1783429"/>
            <a:ext cx="10515600" cy="4271614"/>
            <a:chOff x="238125" y="1431925"/>
            <a:chExt cx="8547100" cy="4497388"/>
          </a:xfrm>
        </p:grpSpPr>
        <p:grpSp>
          <p:nvGrpSpPr>
            <p:cNvPr id="24" name="Group 4">
              <a:extLst>
                <a:ext uri="{FF2B5EF4-FFF2-40B4-BE49-F238E27FC236}">
                  <a16:creationId xmlns:a16="http://schemas.microsoft.com/office/drawing/2014/main" id="{A90B559C-DC98-CDED-8CA3-0D50744C4800}"/>
                </a:ext>
              </a:extLst>
            </p:cNvPr>
            <p:cNvGrpSpPr>
              <a:grpSpLocks/>
            </p:cNvGrpSpPr>
            <p:nvPr/>
          </p:nvGrpSpPr>
          <p:grpSpPr bwMode="auto">
            <a:xfrm>
              <a:off x="4267200" y="1431925"/>
              <a:ext cx="4462463" cy="2395538"/>
              <a:chOff x="1389" y="1410"/>
              <a:chExt cx="4116" cy="1795"/>
            </a:xfrm>
          </p:grpSpPr>
          <p:sp>
            <p:nvSpPr>
              <p:cNvPr id="25" name="Rectangle 5">
                <a:extLst>
                  <a:ext uri="{FF2B5EF4-FFF2-40B4-BE49-F238E27FC236}">
                    <a16:creationId xmlns:a16="http://schemas.microsoft.com/office/drawing/2014/main" id="{48A1FA0B-DC74-F0D7-E5CA-DFECA95ABB82}"/>
                  </a:ext>
                </a:extLst>
              </p:cNvPr>
              <p:cNvSpPr>
                <a:spLocks noChangeArrowheads="1"/>
              </p:cNvSpPr>
              <p:nvPr/>
            </p:nvSpPr>
            <p:spPr bwMode="auto">
              <a:xfrm>
                <a:off x="1389" y="1410"/>
                <a:ext cx="4116" cy="1795"/>
              </a:xfrm>
              <a:prstGeom prst="rect">
                <a:avLst/>
              </a:prstGeom>
              <a:solidFill>
                <a:schemeClr val="bg2"/>
              </a:solidFill>
              <a:ln w="12700" cap="sq">
                <a:solidFill>
                  <a:srgbClr val="0033CC"/>
                </a:solidFill>
                <a:miter lim="800000"/>
                <a:headEnd type="none" w="sm" len="sm"/>
                <a:tailEnd type="none" w="sm" len="sm"/>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5000"/>
                  </a:lnSpc>
                  <a:buFont typeface="Wingdings" panose="05000000000000000000" pitchFamily="2" charset="2"/>
                  <a:buNone/>
                </a:pPr>
                <a:endParaRPr lang="en-US" altLang="en-US" sz="1600">
                  <a:latin typeface="Roboto" panose="02000000000000000000" pitchFamily="2" charset="0"/>
                  <a:ea typeface="Roboto" panose="02000000000000000000" pitchFamily="2" charset="0"/>
                </a:endParaRPr>
              </a:p>
            </p:txBody>
          </p:sp>
          <p:sp>
            <p:nvSpPr>
              <p:cNvPr id="26" name="Text Box 6">
                <a:extLst>
                  <a:ext uri="{FF2B5EF4-FFF2-40B4-BE49-F238E27FC236}">
                    <a16:creationId xmlns:a16="http://schemas.microsoft.com/office/drawing/2014/main" id="{EAF9EF83-3ED8-A8D0-1332-E27CEDFDB1BD}"/>
                  </a:ext>
                </a:extLst>
              </p:cNvPr>
              <p:cNvSpPr txBox="1">
                <a:spLocks noChangeArrowheads="1"/>
              </p:cNvSpPr>
              <p:nvPr/>
            </p:nvSpPr>
            <p:spPr bwMode="auto">
              <a:xfrm>
                <a:off x="2346" y="1508"/>
                <a:ext cx="2237" cy="267"/>
              </a:xfrm>
              <a:prstGeom prst="rect">
                <a:avLst/>
              </a:prstGeom>
              <a:solidFill>
                <a:srgbClr val="EAEAEA"/>
              </a:solidFill>
              <a:ln>
                <a:noFill/>
              </a:ln>
              <a:extLs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Bef>
                    <a:spcPct val="30000"/>
                  </a:spcBef>
                  <a:spcAft>
                    <a:spcPct val="0"/>
                  </a:spcAft>
                  <a:buClrTx/>
                  <a:buSzTx/>
                  <a:buFontTx/>
                  <a:buNone/>
                </a:pPr>
                <a:r>
                  <a:rPr lang="en-US" altLang="en-US" sz="1600" i="1" dirty="0">
                    <a:solidFill>
                      <a:schemeClr val="tx2"/>
                    </a:solidFill>
                    <a:latin typeface="Roboto" panose="02000000000000000000" pitchFamily="2" charset="0"/>
                    <a:ea typeface="Roboto" panose="02000000000000000000" pitchFamily="2" charset="0"/>
                  </a:rPr>
                  <a:t>Repeat until problem is solved </a:t>
                </a:r>
              </a:p>
            </p:txBody>
          </p:sp>
        </p:grpSp>
        <p:grpSp>
          <p:nvGrpSpPr>
            <p:cNvPr id="27" name="Group 25">
              <a:extLst>
                <a:ext uri="{FF2B5EF4-FFF2-40B4-BE49-F238E27FC236}">
                  <a16:creationId xmlns:a16="http://schemas.microsoft.com/office/drawing/2014/main" id="{44EB1519-39A5-5F3F-4A7A-0C9C3E6E39B7}"/>
                </a:ext>
              </a:extLst>
            </p:cNvPr>
            <p:cNvGrpSpPr>
              <a:grpSpLocks/>
            </p:cNvGrpSpPr>
            <p:nvPr/>
          </p:nvGrpSpPr>
          <p:grpSpPr bwMode="auto">
            <a:xfrm>
              <a:off x="238125" y="2227263"/>
              <a:ext cx="1835150" cy="1341437"/>
              <a:chOff x="317" y="1707"/>
              <a:chExt cx="959" cy="845"/>
            </a:xfrm>
          </p:grpSpPr>
          <p:sp>
            <p:nvSpPr>
              <p:cNvPr id="28" name="Rectangle 8">
                <a:extLst>
                  <a:ext uri="{FF2B5EF4-FFF2-40B4-BE49-F238E27FC236}">
                    <a16:creationId xmlns:a16="http://schemas.microsoft.com/office/drawing/2014/main" id="{E40B71A0-533A-5F0F-E0A1-EFBD394B273F}"/>
                  </a:ext>
                </a:extLst>
              </p:cNvPr>
              <p:cNvSpPr>
                <a:spLocks noChangeArrowheads="1"/>
              </p:cNvSpPr>
              <p:nvPr/>
            </p:nvSpPr>
            <p:spPr bwMode="auto">
              <a:xfrm>
                <a:off x="317" y="1872"/>
                <a:ext cx="958" cy="680"/>
              </a:xfrm>
              <a:prstGeom prst="rect">
                <a:avLst/>
              </a:prstGeom>
              <a:solidFill>
                <a:schemeClr val="bg1"/>
              </a:solidFill>
              <a:ln w="12700" cap="sq">
                <a:solidFill>
                  <a:schemeClr val="tx1"/>
                </a:solidFill>
                <a:miter lim="800000"/>
                <a:headEnd/>
                <a:tailEnd/>
              </a:ln>
            </p:spPr>
            <p:txBody>
              <a:bodyPr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br>
                  <a:rPr lang="en-US" altLang="en-US" sz="1400">
                    <a:latin typeface="Roboto" panose="02000000000000000000" pitchFamily="2" charset="0"/>
                    <a:ea typeface="Roboto" panose="02000000000000000000" pitchFamily="2" charset="0"/>
                  </a:rPr>
                </a:br>
                <a:r>
                  <a:rPr lang="en-US" altLang="en-US" sz="1400">
                    <a:latin typeface="Roboto" panose="02000000000000000000" pitchFamily="2" charset="0"/>
                    <a:ea typeface="Roboto" panose="02000000000000000000" pitchFamily="2" charset="0"/>
                  </a:rPr>
                  <a:t>Conduct CEDAC Planning Workshop</a:t>
                </a:r>
              </a:p>
            </p:txBody>
          </p:sp>
          <p:sp>
            <p:nvSpPr>
              <p:cNvPr id="29" name="Rectangle 9">
                <a:extLst>
                  <a:ext uri="{FF2B5EF4-FFF2-40B4-BE49-F238E27FC236}">
                    <a16:creationId xmlns:a16="http://schemas.microsoft.com/office/drawing/2014/main" id="{78F983B1-97FB-2380-635C-E34135C7A5D5}"/>
                  </a:ext>
                </a:extLst>
              </p:cNvPr>
              <p:cNvSpPr>
                <a:spLocks noChangeArrowheads="1"/>
              </p:cNvSpPr>
              <p:nvPr/>
            </p:nvSpPr>
            <p:spPr bwMode="auto">
              <a:xfrm>
                <a:off x="317" y="1707"/>
                <a:ext cx="959" cy="159"/>
              </a:xfrm>
              <a:prstGeom prst="rect">
                <a:avLst/>
              </a:prstGeom>
              <a:solidFill>
                <a:schemeClr val="accent1"/>
              </a:solidFill>
              <a:ln w="12700" cap="sq">
                <a:solidFill>
                  <a:schemeClr val="tx1"/>
                </a:solidFill>
                <a:miter lim="800000"/>
                <a:headEnd/>
                <a:tailEnd/>
              </a:ln>
            </p:spPr>
            <p:txBody>
              <a:bodyPr wrap="none" anchor="ctr" anchorCtr="1"/>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200">
                    <a:solidFill>
                      <a:schemeClr val="bg1"/>
                    </a:solidFill>
                    <a:latin typeface="Roboto" panose="02000000000000000000" pitchFamily="2" charset="0"/>
                    <a:ea typeface="Roboto" panose="02000000000000000000" pitchFamily="2" charset="0"/>
                  </a:rPr>
                  <a:t>PROCESS STEP 1</a:t>
                </a:r>
              </a:p>
            </p:txBody>
          </p:sp>
        </p:grpSp>
        <p:grpSp>
          <p:nvGrpSpPr>
            <p:cNvPr id="30" name="Group 26">
              <a:extLst>
                <a:ext uri="{FF2B5EF4-FFF2-40B4-BE49-F238E27FC236}">
                  <a16:creationId xmlns:a16="http://schemas.microsoft.com/office/drawing/2014/main" id="{AE108493-002D-762B-E25E-65EFC71AADC7}"/>
                </a:ext>
              </a:extLst>
            </p:cNvPr>
            <p:cNvGrpSpPr>
              <a:grpSpLocks/>
            </p:cNvGrpSpPr>
            <p:nvPr/>
          </p:nvGrpSpPr>
          <p:grpSpPr bwMode="auto">
            <a:xfrm>
              <a:off x="2295525" y="2227263"/>
              <a:ext cx="1835150" cy="1341437"/>
              <a:chOff x="1448" y="1704"/>
              <a:chExt cx="959" cy="845"/>
            </a:xfrm>
          </p:grpSpPr>
          <p:sp>
            <p:nvSpPr>
              <p:cNvPr id="31" name="Rectangle 10">
                <a:extLst>
                  <a:ext uri="{FF2B5EF4-FFF2-40B4-BE49-F238E27FC236}">
                    <a16:creationId xmlns:a16="http://schemas.microsoft.com/office/drawing/2014/main" id="{A943C807-3838-2E92-4335-9A8D5DDFDEB8}"/>
                  </a:ext>
                </a:extLst>
              </p:cNvPr>
              <p:cNvSpPr>
                <a:spLocks noChangeArrowheads="1"/>
              </p:cNvSpPr>
              <p:nvPr/>
            </p:nvSpPr>
            <p:spPr bwMode="auto">
              <a:xfrm>
                <a:off x="1448" y="1869"/>
                <a:ext cx="958" cy="680"/>
              </a:xfrm>
              <a:prstGeom prst="rect">
                <a:avLst/>
              </a:prstGeom>
              <a:solidFill>
                <a:schemeClr val="bg1"/>
              </a:solidFill>
              <a:ln w="12700" cap="sq">
                <a:solidFill>
                  <a:schemeClr val="tx1"/>
                </a:solidFill>
                <a:miter lim="800000"/>
                <a:headEnd/>
                <a:tailEnd/>
              </a:ln>
            </p:spPr>
            <p:txBody>
              <a:bodyPr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br>
                  <a:rPr lang="en-US" altLang="en-US" sz="1400">
                    <a:latin typeface="Roboto" panose="02000000000000000000" pitchFamily="2" charset="0"/>
                    <a:ea typeface="Roboto" panose="02000000000000000000" pitchFamily="2" charset="0"/>
                  </a:rPr>
                </a:br>
                <a:r>
                  <a:rPr lang="en-US" altLang="en-US" sz="1400">
                    <a:latin typeface="Roboto" panose="02000000000000000000" pitchFamily="2" charset="0"/>
                    <a:ea typeface="Roboto" panose="02000000000000000000" pitchFamily="2" charset="0"/>
                  </a:rPr>
                  <a:t>Conduct CEDAC</a:t>
                </a:r>
              </a:p>
              <a:p>
                <a:pPr algn="ctr">
                  <a:lnSpc>
                    <a:spcPct val="80000"/>
                  </a:lnSpc>
                  <a:spcBef>
                    <a:spcPct val="20000"/>
                  </a:spcBef>
                  <a:spcAft>
                    <a:spcPct val="0"/>
                  </a:spcAft>
                  <a:buClrTx/>
                  <a:buSzTx/>
                  <a:buFontTx/>
                  <a:buNone/>
                </a:pPr>
                <a:r>
                  <a:rPr lang="en-US" altLang="en-US" sz="1400">
                    <a:latin typeface="Roboto" panose="02000000000000000000" pitchFamily="2" charset="0"/>
                    <a:ea typeface="Roboto" panose="02000000000000000000" pitchFamily="2" charset="0"/>
                  </a:rPr>
                  <a:t>Event</a:t>
                </a:r>
              </a:p>
            </p:txBody>
          </p:sp>
          <p:sp>
            <p:nvSpPr>
              <p:cNvPr id="32" name="Rectangle 11">
                <a:extLst>
                  <a:ext uri="{FF2B5EF4-FFF2-40B4-BE49-F238E27FC236}">
                    <a16:creationId xmlns:a16="http://schemas.microsoft.com/office/drawing/2014/main" id="{BCD8D306-7006-583F-ABA8-8BEF80849EA0}"/>
                  </a:ext>
                </a:extLst>
              </p:cNvPr>
              <p:cNvSpPr>
                <a:spLocks noChangeArrowheads="1"/>
              </p:cNvSpPr>
              <p:nvPr/>
            </p:nvSpPr>
            <p:spPr bwMode="auto">
              <a:xfrm>
                <a:off x="1448" y="1704"/>
                <a:ext cx="959" cy="159"/>
              </a:xfrm>
              <a:prstGeom prst="rect">
                <a:avLst/>
              </a:prstGeom>
              <a:solidFill>
                <a:schemeClr val="accent1"/>
              </a:solidFill>
              <a:ln w="12700" cap="sq">
                <a:solidFill>
                  <a:schemeClr val="tx1"/>
                </a:solidFill>
                <a:miter lim="800000"/>
                <a:headEnd/>
                <a:tailEnd/>
              </a:ln>
            </p:spPr>
            <p:txBody>
              <a:bodyPr wrap="none" anchor="ctr" anchorCtr="1"/>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200">
                    <a:solidFill>
                      <a:schemeClr val="bg1"/>
                    </a:solidFill>
                    <a:latin typeface="Roboto" panose="02000000000000000000" pitchFamily="2" charset="0"/>
                    <a:ea typeface="Roboto" panose="02000000000000000000" pitchFamily="2" charset="0"/>
                  </a:rPr>
                  <a:t>PROCESS STEP 2</a:t>
                </a:r>
              </a:p>
            </p:txBody>
          </p:sp>
        </p:grpSp>
        <p:grpSp>
          <p:nvGrpSpPr>
            <p:cNvPr id="33" name="Group 27">
              <a:extLst>
                <a:ext uri="{FF2B5EF4-FFF2-40B4-BE49-F238E27FC236}">
                  <a16:creationId xmlns:a16="http://schemas.microsoft.com/office/drawing/2014/main" id="{A2A40F5C-ECA8-4480-F395-48589EAC5623}"/>
                </a:ext>
              </a:extLst>
            </p:cNvPr>
            <p:cNvGrpSpPr>
              <a:grpSpLocks/>
            </p:cNvGrpSpPr>
            <p:nvPr/>
          </p:nvGrpSpPr>
          <p:grpSpPr bwMode="auto">
            <a:xfrm>
              <a:off x="4500563" y="2227263"/>
              <a:ext cx="1835150" cy="1341437"/>
              <a:chOff x="2591" y="1704"/>
              <a:chExt cx="959" cy="845"/>
            </a:xfrm>
          </p:grpSpPr>
          <p:sp>
            <p:nvSpPr>
              <p:cNvPr id="34" name="Rectangle 12">
                <a:extLst>
                  <a:ext uri="{FF2B5EF4-FFF2-40B4-BE49-F238E27FC236}">
                    <a16:creationId xmlns:a16="http://schemas.microsoft.com/office/drawing/2014/main" id="{5ACA9FFB-7DB0-9B7B-CD6D-F28240F5659F}"/>
                  </a:ext>
                </a:extLst>
              </p:cNvPr>
              <p:cNvSpPr>
                <a:spLocks noChangeArrowheads="1"/>
              </p:cNvSpPr>
              <p:nvPr/>
            </p:nvSpPr>
            <p:spPr bwMode="auto">
              <a:xfrm>
                <a:off x="2591" y="1869"/>
                <a:ext cx="958" cy="680"/>
              </a:xfrm>
              <a:prstGeom prst="rect">
                <a:avLst/>
              </a:prstGeom>
              <a:solidFill>
                <a:schemeClr val="bg1"/>
              </a:solidFill>
              <a:ln w="12700" cap="sq">
                <a:solidFill>
                  <a:schemeClr val="tx1"/>
                </a:solidFill>
                <a:miter lim="800000"/>
                <a:headEnd/>
                <a:tailEnd/>
              </a:ln>
            </p:spPr>
            <p:txBody>
              <a:bodyPr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br>
                  <a:rPr lang="en-US" altLang="en-US" sz="1400">
                    <a:latin typeface="Roboto" panose="02000000000000000000" pitchFamily="2" charset="0"/>
                    <a:ea typeface="Roboto" panose="02000000000000000000" pitchFamily="2" charset="0"/>
                  </a:rPr>
                </a:br>
                <a:r>
                  <a:rPr lang="en-US" altLang="en-US" sz="1400">
                    <a:latin typeface="Roboto" panose="02000000000000000000" pitchFamily="2" charset="0"/>
                    <a:ea typeface="Roboto" panose="02000000000000000000" pitchFamily="2" charset="0"/>
                  </a:rPr>
                  <a:t>Implement and Test Countermeasures</a:t>
                </a:r>
              </a:p>
            </p:txBody>
          </p:sp>
          <p:sp>
            <p:nvSpPr>
              <p:cNvPr id="35" name="Rectangle 13">
                <a:extLst>
                  <a:ext uri="{FF2B5EF4-FFF2-40B4-BE49-F238E27FC236}">
                    <a16:creationId xmlns:a16="http://schemas.microsoft.com/office/drawing/2014/main" id="{A890A5C2-2F97-ED1A-7496-11D30F70F424}"/>
                  </a:ext>
                </a:extLst>
              </p:cNvPr>
              <p:cNvSpPr>
                <a:spLocks noChangeArrowheads="1"/>
              </p:cNvSpPr>
              <p:nvPr/>
            </p:nvSpPr>
            <p:spPr bwMode="auto">
              <a:xfrm>
                <a:off x="2591" y="1704"/>
                <a:ext cx="959" cy="159"/>
              </a:xfrm>
              <a:prstGeom prst="rect">
                <a:avLst/>
              </a:prstGeom>
              <a:solidFill>
                <a:schemeClr val="accent1"/>
              </a:solidFill>
              <a:ln w="12700" cap="sq">
                <a:solidFill>
                  <a:schemeClr val="tx1"/>
                </a:solidFill>
                <a:miter lim="800000"/>
                <a:headEnd/>
                <a:tailEnd/>
              </a:ln>
            </p:spPr>
            <p:txBody>
              <a:bodyPr wrap="none" anchor="ctr" anchorCtr="1"/>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200">
                    <a:solidFill>
                      <a:schemeClr val="bg1"/>
                    </a:solidFill>
                    <a:latin typeface="Roboto" panose="02000000000000000000" pitchFamily="2" charset="0"/>
                    <a:ea typeface="Roboto" panose="02000000000000000000" pitchFamily="2" charset="0"/>
                  </a:rPr>
                  <a:t>PROCESS STEP 3</a:t>
                </a:r>
              </a:p>
            </p:txBody>
          </p:sp>
        </p:grpSp>
        <p:grpSp>
          <p:nvGrpSpPr>
            <p:cNvPr id="36" name="Group 28">
              <a:extLst>
                <a:ext uri="{FF2B5EF4-FFF2-40B4-BE49-F238E27FC236}">
                  <a16:creationId xmlns:a16="http://schemas.microsoft.com/office/drawing/2014/main" id="{3D307BC7-A0E9-A034-225F-47F972E56E89}"/>
                </a:ext>
              </a:extLst>
            </p:cNvPr>
            <p:cNvGrpSpPr>
              <a:grpSpLocks/>
            </p:cNvGrpSpPr>
            <p:nvPr/>
          </p:nvGrpSpPr>
          <p:grpSpPr bwMode="auto">
            <a:xfrm>
              <a:off x="6538913" y="2227263"/>
              <a:ext cx="1835150" cy="1341437"/>
              <a:chOff x="3734" y="1704"/>
              <a:chExt cx="959" cy="845"/>
            </a:xfrm>
          </p:grpSpPr>
          <p:sp>
            <p:nvSpPr>
              <p:cNvPr id="37" name="Rectangle 14">
                <a:extLst>
                  <a:ext uri="{FF2B5EF4-FFF2-40B4-BE49-F238E27FC236}">
                    <a16:creationId xmlns:a16="http://schemas.microsoft.com/office/drawing/2014/main" id="{D39A15C3-F3D9-F6FB-BA43-64A0EDB861FC}"/>
                  </a:ext>
                </a:extLst>
              </p:cNvPr>
              <p:cNvSpPr>
                <a:spLocks noChangeArrowheads="1"/>
              </p:cNvSpPr>
              <p:nvPr/>
            </p:nvSpPr>
            <p:spPr bwMode="auto">
              <a:xfrm>
                <a:off x="3734" y="1869"/>
                <a:ext cx="958" cy="680"/>
              </a:xfrm>
              <a:prstGeom prst="rect">
                <a:avLst/>
              </a:prstGeom>
              <a:solidFill>
                <a:schemeClr val="bg1"/>
              </a:solidFill>
              <a:ln w="12700" cap="sq">
                <a:solidFill>
                  <a:schemeClr val="tx1"/>
                </a:solidFill>
                <a:miter lim="800000"/>
                <a:headEnd/>
                <a:tailEnd/>
              </a:ln>
            </p:spPr>
            <p:txBody>
              <a:bodyPr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br>
                  <a:rPr lang="en-US" altLang="en-US" sz="1400" dirty="0">
                    <a:latin typeface="Roboto" panose="02000000000000000000" pitchFamily="2" charset="0"/>
                    <a:ea typeface="Roboto" panose="02000000000000000000" pitchFamily="2" charset="0"/>
                  </a:rPr>
                </a:br>
                <a:r>
                  <a:rPr lang="en-US" altLang="en-US" sz="1400" dirty="0">
                    <a:latin typeface="Roboto" panose="02000000000000000000" pitchFamily="2" charset="0"/>
                    <a:ea typeface="Roboto" panose="02000000000000000000" pitchFamily="2" charset="0"/>
                  </a:rPr>
                  <a:t>Conduct CEDAC Follow-up Workshops</a:t>
                </a:r>
              </a:p>
            </p:txBody>
          </p:sp>
          <p:sp>
            <p:nvSpPr>
              <p:cNvPr id="38" name="Rectangle 15">
                <a:extLst>
                  <a:ext uri="{FF2B5EF4-FFF2-40B4-BE49-F238E27FC236}">
                    <a16:creationId xmlns:a16="http://schemas.microsoft.com/office/drawing/2014/main" id="{5DF13676-67E6-7839-3EB4-9DCC2E84ECBF}"/>
                  </a:ext>
                </a:extLst>
              </p:cNvPr>
              <p:cNvSpPr>
                <a:spLocks noChangeArrowheads="1"/>
              </p:cNvSpPr>
              <p:nvPr/>
            </p:nvSpPr>
            <p:spPr bwMode="auto">
              <a:xfrm>
                <a:off x="3734" y="1704"/>
                <a:ext cx="959" cy="159"/>
              </a:xfrm>
              <a:prstGeom prst="rect">
                <a:avLst/>
              </a:prstGeom>
              <a:solidFill>
                <a:schemeClr val="accent1"/>
              </a:solidFill>
              <a:ln w="12700" cap="sq">
                <a:solidFill>
                  <a:schemeClr val="tx1"/>
                </a:solidFill>
                <a:miter lim="800000"/>
                <a:headEnd/>
                <a:tailEnd/>
              </a:ln>
            </p:spPr>
            <p:txBody>
              <a:bodyPr wrap="none" anchor="ctr" anchorCtr="1"/>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200">
                    <a:solidFill>
                      <a:schemeClr val="bg1"/>
                    </a:solidFill>
                    <a:latin typeface="Roboto" panose="02000000000000000000" pitchFamily="2" charset="0"/>
                    <a:ea typeface="Roboto" panose="02000000000000000000" pitchFamily="2" charset="0"/>
                  </a:rPr>
                  <a:t>PROCESS STEP 4</a:t>
                </a:r>
              </a:p>
            </p:txBody>
          </p:sp>
        </p:grpSp>
        <p:cxnSp>
          <p:nvCxnSpPr>
            <p:cNvPr id="39" name="AutoShape 16">
              <a:extLst>
                <a:ext uri="{FF2B5EF4-FFF2-40B4-BE49-F238E27FC236}">
                  <a16:creationId xmlns:a16="http://schemas.microsoft.com/office/drawing/2014/main" id="{0AEA85B2-0D30-1A9F-6C00-2493B1F59F73}"/>
                </a:ext>
              </a:extLst>
            </p:cNvPr>
            <p:cNvCxnSpPr>
              <a:cxnSpLocks noChangeShapeType="1"/>
              <a:stCxn id="28" idx="3"/>
              <a:endCxn id="31" idx="1"/>
            </p:cNvCxnSpPr>
            <p:nvPr/>
          </p:nvCxnSpPr>
          <p:spPr bwMode="auto">
            <a:xfrm>
              <a:off x="2071688" y="3028950"/>
              <a:ext cx="223837" cy="0"/>
            </a:xfrm>
            <a:prstGeom prst="straightConnector1">
              <a:avLst/>
            </a:prstGeom>
            <a:noFill/>
            <a:ln w="38100" cap="sq">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40" name="AutoShape 17">
              <a:extLst>
                <a:ext uri="{FF2B5EF4-FFF2-40B4-BE49-F238E27FC236}">
                  <a16:creationId xmlns:a16="http://schemas.microsoft.com/office/drawing/2014/main" id="{06056B4E-E108-D9C4-AA53-D92F876CA113}"/>
                </a:ext>
              </a:extLst>
            </p:cNvPr>
            <p:cNvCxnSpPr>
              <a:cxnSpLocks noChangeShapeType="1"/>
              <a:stCxn id="31" idx="3"/>
              <a:endCxn id="34" idx="1"/>
            </p:cNvCxnSpPr>
            <p:nvPr/>
          </p:nvCxnSpPr>
          <p:spPr bwMode="auto">
            <a:xfrm>
              <a:off x="4129088" y="3028950"/>
              <a:ext cx="371475" cy="0"/>
            </a:xfrm>
            <a:prstGeom prst="straightConnector1">
              <a:avLst/>
            </a:prstGeom>
            <a:noFill/>
            <a:ln w="38100" cap="sq">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41" name="AutoShape 18">
              <a:extLst>
                <a:ext uri="{FF2B5EF4-FFF2-40B4-BE49-F238E27FC236}">
                  <a16:creationId xmlns:a16="http://schemas.microsoft.com/office/drawing/2014/main" id="{239A209E-9B0D-5C4F-85A6-2CE644AF97CB}"/>
                </a:ext>
              </a:extLst>
            </p:cNvPr>
            <p:cNvCxnSpPr>
              <a:cxnSpLocks noChangeShapeType="1"/>
              <a:stCxn id="34" idx="3"/>
              <a:endCxn id="37" idx="1"/>
            </p:cNvCxnSpPr>
            <p:nvPr/>
          </p:nvCxnSpPr>
          <p:spPr bwMode="auto">
            <a:xfrm>
              <a:off x="6334125" y="3028950"/>
              <a:ext cx="204788" cy="0"/>
            </a:xfrm>
            <a:prstGeom prst="straightConnector1">
              <a:avLst/>
            </a:prstGeom>
            <a:noFill/>
            <a:ln w="38100" cap="sq">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42" name="AutoShape 20">
              <a:extLst>
                <a:ext uri="{FF2B5EF4-FFF2-40B4-BE49-F238E27FC236}">
                  <a16:creationId xmlns:a16="http://schemas.microsoft.com/office/drawing/2014/main" id="{0F5379BA-72B8-9C13-F237-624E24322606}"/>
                </a:ext>
              </a:extLst>
            </p:cNvPr>
            <p:cNvCxnSpPr>
              <a:cxnSpLocks noChangeShapeType="1"/>
              <a:stCxn id="37" idx="3"/>
              <a:endCxn id="35" idx="0"/>
            </p:cNvCxnSpPr>
            <p:nvPr/>
          </p:nvCxnSpPr>
          <p:spPr bwMode="auto">
            <a:xfrm flipH="1" flipV="1">
              <a:off x="5418138" y="2227263"/>
              <a:ext cx="2954337" cy="801687"/>
            </a:xfrm>
            <a:prstGeom prst="bentConnector4">
              <a:avLst>
                <a:gd name="adj1" fmla="val -7685"/>
                <a:gd name="adj2" fmla="val 128514"/>
              </a:avLst>
            </a:prstGeom>
            <a:noFill/>
            <a:ln w="38100" cap="sq">
              <a:solidFill>
                <a:schemeClr val="tx1"/>
              </a:solidFill>
              <a:miter lim="800000"/>
              <a:headEnd/>
              <a:tailEnd type="triangle" w="med" len="med"/>
            </a:ln>
            <a:extLst>
              <a:ext uri="{909E8E84-426E-40DD-AFC4-6F175D3DCCD1}">
                <a14:hiddenFill xmlns:a14="http://schemas.microsoft.com/office/drawing/2010/main">
                  <a:noFill/>
                </a14:hiddenFill>
              </a:ext>
            </a:extLst>
          </p:spPr>
        </p:cxnSp>
        <p:sp>
          <p:nvSpPr>
            <p:cNvPr id="43" name="Rectangle 21">
              <a:extLst>
                <a:ext uri="{FF2B5EF4-FFF2-40B4-BE49-F238E27FC236}">
                  <a16:creationId xmlns:a16="http://schemas.microsoft.com/office/drawing/2014/main" id="{48890BC4-B94B-B79A-022C-180EC3B6DF3E}"/>
                </a:ext>
              </a:extLst>
            </p:cNvPr>
            <p:cNvSpPr>
              <a:spLocks noChangeArrowheads="1"/>
            </p:cNvSpPr>
            <p:nvPr/>
          </p:nvSpPr>
          <p:spPr bwMode="auto">
            <a:xfrm>
              <a:off x="238125" y="4019550"/>
              <a:ext cx="2008188" cy="1909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28600" indent="-228600">
                <a:lnSpc>
                  <a:spcPct val="115000"/>
                </a:lnSpc>
                <a:spcBef>
                  <a:spcPct val="50000"/>
                </a:spcBef>
                <a:spcAft>
                  <a:spcPct val="50000"/>
                </a:spcAft>
                <a:buClr>
                  <a:srgbClr val="006699"/>
                </a:buClr>
                <a:buSzPct val="90000"/>
                <a:buFont typeface="Wingdings" panose="05000000000000000000" pitchFamily="2" charset="2"/>
                <a:buChar char="§"/>
                <a:tabLst>
                  <a:tab pos="3086100" algn="l"/>
                </a:tabLst>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tabLst>
                  <a:tab pos="3086100" algn="l"/>
                </a:tabLst>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tabLst>
                  <a:tab pos="3086100" algn="l"/>
                </a:tabLst>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30000"/>
                </a:spcBef>
                <a:spcAft>
                  <a:spcPct val="0"/>
                </a:spcAft>
                <a:buClr>
                  <a:schemeClr val="tx1"/>
                </a:buClr>
                <a:buFont typeface="Arial" panose="020B0604020202020204" pitchFamily="34" charset="0"/>
                <a:buChar char="•"/>
              </a:pPr>
              <a:r>
                <a:rPr lang="en-US" altLang="en-US" sz="1400" dirty="0">
                  <a:latin typeface="Roboto" panose="02000000000000000000" pitchFamily="2" charset="0"/>
                  <a:ea typeface="Roboto" panose="02000000000000000000" pitchFamily="2" charset="0"/>
                </a:rPr>
                <a:t>Identify the Problem</a:t>
              </a:r>
            </a:p>
            <a:p>
              <a:pPr eaLnBrk="1" hangingPunct="1">
                <a:lnSpc>
                  <a:spcPct val="100000"/>
                </a:lnSpc>
                <a:spcBef>
                  <a:spcPct val="30000"/>
                </a:spcBef>
                <a:spcAft>
                  <a:spcPct val="0"/>
                </a:spcAft>
                <a:buClr>
                  <a:schemeClr val="tx1"/>
                </a:buClr>
                <a:buFont typeface="Arial" panose="020B0604020202020204" pitchFamily="34" charset="0"/>
                <a:buChar char="•"/>
              </a:pPr>
              <a:r>
                <a:rPr lang="en-US" altLang="en-US" sz="1400" dirty="0">
                  <a:latin typeface="Roboto" panose="02000000000000000000" pitchFamily="2" charset="0"/>
                  <a:ea typeface="Roboto" panose="02000000000000000000" pitchFamily="2" charset="0"/>
                </a:rPr>
                <a:t>Validate problem using metrics</a:t>
              </a:r>
            </a:p>
            <a:p>
              <a:pPr eaLnBrk="1" hangingPunct="1">
                <a:lnSpc>
                  <a:spcPct val="100000"/>
                </a:lnSpc>
                <a:spcBef>
                  <a:spcPct val="30000"/>
                </a:spcBef>
                <a:spcAft>
                  <a:spcPct val="0"/>
                </a:spcAft>
                <a:buClr>
                  <a:schemeClr val="tx1"/>
                </a:buClr>
                <a:buFont typeface="Arial" panose="020B0604020202020204" pitchFamily="34" charset="0"/>
                <a:buChar char="•"/>
              </a:pPr>
              <a:r>
                <a:rPr lang="en-US" altLang="en-US" sz="1400" dirty="0">
                  <a:latin typeface="Roboto" panose="02000000000000000000" pitchFamily="2" charset="0"/>
                  <a:ea typeface="Roboto" panose="02000000000000000000" pitchFamily="2" charset="0"/>
                </a:rPr>
                <a:t>Identify target </a:t>
              </a:r>
            </a:p>
            <a:p>
              <a:pPr eaLnBrk="1" hangingPunct="1">
                <a:lnSpc>
                  <a:spcPct val="100000"/>
                </a:lnSpc>
                <a:spcBef>
                  <a:spcPct val="0"/>
                </a:spcBef>
                <a:spcAft>
                  <a:spcPct val="0"/>
                </a:spcAft>
                <a:buClr>
                  <a:schemeClr val="tx1"/>
                </a:buClr>
                <a:buFont typeface="Arial" panose="020B0604020202020204" pitchFamily="34" charset="0"/>
                <a:buChar char="•"/>
              </a:pPr>
              <a:r>
                <a:rPr lang="en-US" altLang="en-US" sz="1400" dirty="0">
                  <a:latin typeface="Roboto" panose="02000000000000000000" pitchFamily="2" charset="0"/>
                  <a:ea typeface="Roboto" panose="02000000000000000000" pitchFamily="2" charset="0"/>
                </a:rPr>
                <a:t>	(When is the problem solved?)</a:t>
              </a:r>
            </a:p>
            <a:p>
              <a:pPr eaLnBrk="1" hangingPunct="1">
                <a:lnSpc>
                  <a:spcPct val="100000"/>
                </a:lnSpc>
                <a:spcBef>
                  <a:spcPct val="30000"/>
                </a:spcBef>
                <a:spcAft>
                  <a:spcPct val="0"/>
                </a:spcAft>
                <a:buClr>
                  <a:schemeClr val="tx1"/>
                </a:buClr>
                <a:buFont typeface="Arial" panose="020B0604020202020204" pitchFamily="34" charset="0"/>
                <a:buChar char="•"/>
              </a:pPr>
              <a:r>
                <a:rPr lang="en-US" altLang="en-US" sz="1400" dirty="0">
                  <a:latin typeface="Roboto" panose="02000000000000000000" pitchFamily="2" charset="0"/>
                  <a:ea typeface="Roboto" panose="02000000000000000000" pitchFamily="2" charset="0"/>
                </a:rPr>
                <a:t>Plan CEDAC Event</a:t>
              </a:r>
            </a:p>
          </p:txBody>
        </p:sp>
        <p:sp>
          <p:nvSpPr>
            <p:cNvPr id="44" name="Rectangle 22">
              <a:extLst>
                <a:ext uri="{FF2B5EF4-FFF2-40B4-BE49-F238E27FC236}">
                  <a16:creationId xmlns:a16="http://schemas.microsoft.com/office/drawing/2014/main" id="{376F1F3A-DCB1-F52E-7844-6BDD2C97BC2E}"/>
                </a:ext>
              </a:extLst>
            </p:cNvPr>
            <p:cNvSpPr>
              <a:spLocks noChangeArrowheads="1"/>
            </p:cNvSpPr>
            <p:nvPr/>
          </p:nvSpPr>
          <p:spPr bwMode="auto">
            <a:xfrm>
              <a:off x="2311400" y="4019550"/>
              <a:ext cx="2047875" cy="1839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28600" indent="-228600">
                <a:lnSpc>
                  <a:spcPct val="115000"/>
                </a:lnSpc>
                <a:spcBef>
                  <a:spcPct val="50000"/>
                </a:spcBef>
                <a:spcAft>
                  <a:spcPct val="50000"/>
                </a:spcAft>
                <a:buClr>
                  <a:srgbClr val="006699"/>
                </a:buClr>
                <a:buSzPct val="90000"/>
                <a:buFont typeface="Wingdings" panose="05000000000000000000" pitchFamily="2" charset="2"/>
                <a:buChar char="§"/>
                <a:tabLst>
                  <a:tab pos="3086100" algn="l"/>
                </a:tabLst>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tabLst>
                  <a:tab pos="3086100" algn="l"/>
                </a:tabLst>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tabLst>
                  <a:tab pos="3086100" algn="l"/>
                </a:tabLst>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30000"/>
                </a:spcBef>
                <a:spcAft>
                  <a:spcPct val="0"/>
                </a:spcAft>
                <a:buClr>
                  <a:schemeClr val="tx1"/>
                </a:buClr>
                <a:buFont typeface="Arial" panose="020B0604020202020204" pitchFamily="34" charset="0"/>
                <a:buChar char="•"/>
              </a:pPr>
              <a:r>
                <a:rPr lang="en-US" altLang="en-US" sz="1400" dirty="0">
                  <a:latin typeface="Roboto" panose="02000000000000000000" pitchFamily="2" charset="0"/>
                  <a:ea typeface="Roboto" panose="02000000000000000000" pitchFamily="2" charset="0"/>
                </a:rPr>
                <a:t>CEDAC Chart</a:t>
              </a:r>
            </a:p>
            <a:p>
              <a:pPr eaLnBrk="1" hangingPunct="1">
                <a:lnSpc>
                  <a:spcPct val="100000"/>
                </a:lnSpc>
                <a:spcBef>
                  <a:spcPct val="30000"/>
                </a:spcBef>
                <a:spcAft>
                  <a:spcPct val="0"/>
                </a:spcAft>
                <a:buClr>
                  <a:schemeClr val="tx1"/>
                </a:buClr>
                <a:buFont typeface="Arial" panose="020B0604020202020204" pitchFamily="34" charset="0"/>
                <a:buChar char="•"/>
              </a:pPr>
              <a:r>
                <a:rPr lang="en-US" altLang="en-US" sz="1400" dirty="0">
                  <a:latin typeface="Roboto" panose="02000000000000000000" pitchFamily="2" charset="0"/>
                  <a:ea typeface="Roboto" panose="02000000000000000000" pitchFamily="2" charset="0"/>
                </a:rPr>
                <a:t>FACT Cards posted</a:t>
              </a:r>
            </a:p>
            <a:p>
              <a:pPr eaLnBrk="1" hangingPunct="1">
                <a:lnSpc>
                  <a:spcPct val="100000"/>
                </a:lnSpc>
                <a:spcBef>
                  <a:spcPct val="30000"/>
                </a:spcBef>
                <a:spcAft>
                  <a:spcPct val="0"/>
                </a:spcAft>
                <a:buClr>
                  <a:schemeClr val="tx1"/>
                </a:buClr>
                <a:buFont typeface="Arial" panose="020B0604020202020204" pitchFamily="34" charset="0"/>
                <a:buChar char="•"/>
              </a:pPr>
              <a:r>
                <a:rPr lang="en-US" altLang="en-US" sz="1400" dirty="0">
                  <a:latin typeface="Roboto" panose="02000000000000000000" pitchFamily="2" charset="0"/>
                  <a:ea typeface="Roboto" panose="02000000000000000000" pitchFamily="2" charset="0"/>
                </a:rPr>
                <a:t>IMPROVEMENT Cards posted</a:t>
              </a:r>
            </a:p>
            <a:p>
              <a:pPr eaLnBrk="1" hangingPunct="1">
                <a:lnSpc>
                  <a:spcPct val="100000"/>
                </a:lnSpc>
                <a:spcBef>
                  <a:spcPct val="30000"/>
                </a:spcBef>
                <a:spcAft>
                  <a:spcPct val="0"/>
                </a:spcAft>
                <a:buClr>
                  <a:schemeClr val="tx1"/>
                </a:buClr>
                <a:buFont typeface="Arial" panose="020B0604020202020204" pitchFamily="34" charset="0"/>
                <a:buChar char="•"/>
              </a:pPr>
              <a:r>
                <a:rPr lang="en-US" altLang="en-US" sz="1400" dirty="0">
                  <a:latin typeface="Roboto" panose="02000000000000000000" pitchFamily="2" charset="0"/>
                  <a:ea typeface="Roboto" panose="02000000000000000000" pitchFamily="2" charset="0"/>
                </a:rPr>
                <a:t>IMPROVEMENT Cards marked for action</a:t>
              </a:r>
            </a:p>
            <a:p>
              <a:pPr eaLnBrk="1" hangingPunct="1">
                <a:lnSpc>
                  <a:spcPct val="100000"/>
                </a:lnSpc>
                <a:spcBef>
                  <a:spcPct val="30000"/>
                </a:spcBef>
                <a:spcAft>
                  <a:spcPct val="0"/>
                </a:spcAft>
                <a:buClr>
                  <a:schemeClr val="tx1"/>
                </a:buClr>
                <a:buFont typeface="Arial" panose="020B0604020202020204" pitchFamily="34" charset="0"/>
                <a:buChar char="•"/>
              </a:pPr>
              <a:r>
                <a:rPr lang="en-US" altLang="en-US" sz="1400" dirty="0">
                  <a:latin typeface="Roboto" panose="02000000000000000000" pitchFamily="2" charset="0"/>
                  <a:ea typeface="Roboto" panose="02000000000000000000" pitchFamily="2" charset="0"/>
                </a:rPr>
                <a:t>Follow-up Plan</a:t>
              </a:r>
            </a:p>
          </p:txBody>
        </p:sp>
        <p:sp>
          <p:nvSpPr>
            <p:cNvPr id="45" name="Rectangle 23">
              <a:extLst>
                <a:ext uri="{FF2B5EF4-FFF2-40B4-BE49-F238E27FC236}">
                  <a16:creationId xmlns:a16="http://schemas.microsoft.com/office/drawing/2014/main" id="{0353CBCA-7BA7-9FCE-B86A-6AF08B23C118}"/>
                </a:ext>
              </a:extLst>
            </p:cNvPr>
            <p:cNvSpPr>
              <a:spLocks noChangeArrowheads="1"/>
            </p:cNvSpPr>
            <p:nvPr/>
          </p:nvSpPr>
          <p:spPr bwMode="auto">
            <a:xfrm>
              <a:off x="4495800" y="4043363"/>
              <a:ext cx="2290763" cy="1839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28600" indent="-228600">
                <a:lnSpc>
                  <a:spcPct val="115000"/>
                </a:lnSpc>
                <a:spcBef>
                  <a:spcPct val="50000"/>
                </a:spcBef>
                <a:spcAft>
                  <a:spcPct val="50000"/>
                </a:spcAft>
                <a:buClr>
                  <a:srgbClr val="006699"/>
                </a:buClr>
                <a:buSzPct val="90000"/>
                <a:buFont typeface="Wingdings" panose="05000000000000000000" pitchFamily="2" charset="2"/>
                <a:buChar char="§"/>
                <a:tabLst>
                  <a:tab pos="3086100" algn="l"/>
                </a:tabLst>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tabLst>
                  <a:tab pos="3086100" algn="l"/>
                </a:tabLst>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tabLst>
                  <a:tab pos="3086100" algn="l"/>
                </a:tabLst>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30000"/>
                </a:spcBef>
                <a:spcAft>
                  <a:spcPct val="0"/>
                </a:spcAft>
                <a:buClr>
                  <a:schemeClr val="tx1"/>
                </a:buClr>
                <a:buFont typeface="Arial" panose="020B0604020202020204" pitchFamily="34" charset="0"/>
                <a:buChar char="•"/>
              </a:pPr>
              <a:r>
                <a:rPr lang="en-US" altLang="en-US" sz="1400" dirty="0">
                  <a:latin typeface="Roboto" panose="02000000000000000000" pitchFamily="2" charset="0"/>
                  <a:ea typeface="Roboto" panose="02000000000000000000" pitchFamily="2" charset="0"/>
                </a:rPr>
                <a:t>Countermeasure Test results</a:t>
              </a:r>
            </a:p>
            <a:p>
              <a:pPr eaLnBrk="1" hangingPunct="1">
                <a:lnSpc>
                  <a:spcPct val="100000"/>
                </a:lnSpc>
                <a:spcBef>
                  <a:spcPct val="30000"/>
                </a:spcBef>
                <a:spcAft>
                  <a:spcPct val="0"/>
                </a:spcAft>
                <a:buClr>
                  <a:schemeClr val="tx1"/>
                </a:buClr>
                <a:buFont typeface="Arial" panose="020B0604020202020204" pitchFamily="34" charset="0"/>
                <a:buChar char="•"/>
              </a:pPr>
              <a:r>
                <a:rPr lang="en-US" altLang="en-US" sz="1400" dirty="0">
                  <a:latin typeface="Roboto" panose="02000000000000000000" pitchFamily="2" charset="0"/>
                  <a:ea typeface="Roboto" panose="02000000000000000000" pitchFamily="2" charset="0"/>
                </a:rPr>
                <a:t>Problem / target metric tracking</a:t>
              </a:r>
            </a:p>
            <a:p>
              <a:pPr eaLnBrk="1" hangingPunct="1">
                <a:lnSpc>
                  <a:spcPct val="100000"/>
                </a:lnSpc>
                <a:spcBef>
                  <a:spcPct val="30000"/>
                </a:spcBef>
                <a:spcAft>
                  <a:spcPct val="0"/>
                </a:spcAft>
                <a:buClr>
                  <a:schemeClr val="tx1"/>
                </a:buClr>
                <a:buFont typeface="Arial" panose="020B0604020202020204" pitchFamily="34" charset="0"/>
                <a:buChar char="•"/>
              </a:pPr>
              <a:r>
                <a:rPr lang="en-US" altLang="en-US" sz="1400" dirty="0">
                  <a:latin typeface="Roboto" panose="02000000000000000000" pitchFamily="2" charset="0"/>
                  <a:ea typeface="Roboto" panose="02000000000000000000" pitchFamily="2" charset="0"/>
                </a:rPr>
                <a:t>IMPROVEMENT CARDS marked for action</a:t>
              </a:r>
            </a:p>
            <a:p>
              <a:pPr eaLnBrk="1" hangingPunct="1">
                <a:lnSpc>
                  <a:spcPct val="100000"/>
                </a:lnSpc>
                <a:spcBef>
                  <a:spcPct val="30000"/>
                </a:spcBef>
                <a:spcAft>
                  <a:spcPct val="0"/>
                </a:spcAft>
                <a:buClr>
                  <a:schemeClr val="tx1"/>
                </a:buClr>
                <a:buFont typeface="Arial" panose="020B0604020202020204" pitchFamily="34" charset="0"/>
                <a:buChar char="•"/>
              </a:pPr>
              <a:r>
                <a:rPr lang="en-US" altLang="en-US" sz="1400" dirty="0">
                  <a:latin typeface="Roboto" panose="02000000000000000000" pitchFamily="2" charset="0"/>
                  <a:ea typeface="Roboto" panose="02000000000000000000" pitchFamily="2" charset="0"/>
                </a:rPr>
                <a:t>Additional FACT Cards</a:t>
              </a:r>
            </a:p>
            <a:p>
              <a:pPr eaLnBrk="1" hangingPunct="1">
                <a:lnSpc>
                  <a:spcPct val="100000"/>
                </a:lnSpc>
                <a:spcBef>
                  <a:spcPct val="30000"/>
                </a:spcBef>
                <a:spcAft>
                  <a:spcPct val="0"/>
                </a:spcAft>
                <a:buClr>
                  <a:schemeClr val="tx1"/>
                </a:buClr>
                <a:buFont typeface="Arial" panose="020B0604020202020204" pitchFamily="34" charset="0"/>
                <a:buChar char="•"/>
              </a:pPr>
              <a:r>
                <a:rPr lang="en-US" altLang="en-US" sz="1400" dirty="0">
                  <a:latin typeface="Roboto" panose="02000000000000000000" pitchFamily="2" charset="0"/>
                  <a:ea typeface="Roboto" panose="02000000000000000000" pitchFamily="2" charset="0"/>
                </a:rPr>
                <a:t>Additional IMPROVEMENT Cards</a:t>
              </a:r>
            </a:p>
          </p:txBody>
        </p:sp>
        <p:sp>
          <p:nvSpPr>
            <p:cNvPr id="46" name="Rectangle 24">
              <a:extLst>
                <a:ext uri="{FF2B5EF4-FFF2-40B4-BE49-F238E27FC236}">
                  <a16:creationId xmlns:a16="http://schemas.microsoft.com/office/drawing/2014/main" id="{FF4B6604-545B-F685-4671-FA3D5FBF09EB}"/>
                </a:ext>
              </a:extLst>
            </p:cNvPr>
            <p:cNvSpPr>
              <a:spLocks noChangeArrowheads="1"/>
            </p:cNvSpPr>
            <p:nvPr/>
          </p:nvSpPr>
          <p:spPr bwMode="auto">
            <a:xfrm>
              <a:off x="6645275" y="4019550"/>
              <a:ext cx="2139950" cy="1216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28600" indent="-228600">
                <a:lnSpc>
                  <a:spcPct val="115000"/>
                </a:lnSpc>
                <a:spcBef>
                  <a:spcPct val="50000"/>
                </a:spcBef>
                <a:spcAft>
                  <a:spcPct val="50000"/>
                </a:spcAft>
                <a:buClr>
                  <a:srgbClr val="006699"/>
                </a:buClr>
                <a:buSzPct val="90000"/>
                <a:buFont typeface="Wingdings" panose="05000000000000000000" pitchFamily="2" charset="2"/>
                <a:buChar char="§"/>
                <a:tabLst>
                  <a:tab pos="3086100" algn="l"/>
                </a:tabLst>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tabLst>
                  <a:tab pos="3086100" algn="l"/>
                </a:tabLst>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tabLst>
                  <a:tab pos="3086100" algn="l"/>
                </a:tabLst>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30000"/>
                </a:spcBef>
                <a:spcAft>
                  <a:spcPct val="0"/>
                </a:spcAft>
                <a:buClr>
                  <a:schemeClr val="tx1"/>
                </a:buClr>
                <a:buFont typeface="Arial" panose="020B0604020202020204" pitchFamily="34" charset="0"/>
                <a:buChar char="•"/>
              </a:pPr>
              <a:r>
                <a:rPr lang="en-US" altLang="en-US" sz="1400">
                  <a:latin typeface="Roboto" panose="02000000000000000000" pitchFamily="2" charset="0"/>
                  <a:ea typeface="Roboto" panose="02000000000000000000" pitchFamily="2" charset="0"/>
                </a:rPr>
                <a:t>Changes and adjustments to countermeasure priorities and implementation plans</a:t>
              </a:r>
            </a:p>
            <a:p>
              <a:pPr eaLnBrk="1" hangingPunct="1">
                <a:lnSpc>
                  <a:spcPct val="100000"/>
                </a:lnSpc>
                <a:spcBef>
                  <a:spcPct val="30000"/>
                </a:spcBef>
                <a:spcAft>
                  <a:spcPct val="0"/>
                </a:spcAft>
                <a:buClr>
                  <a:schemeClr val="tx1"/>
                </a:buClr>
                <a:buFont typeface="Arial" panose="020B0604020202020204" pitchFamily="34" charset="0"/>
                <a:buChar char="•"/>
              </a:pPr>
              <a:endParaRPr lang="en-US" altLang="en-US" sz="1400">
                <a:latin typeface="Roboto" panose="02000000000000000000" pitchFamily="2" charset="0"/>
                <a:ea typeface="Roboto" panose="02000000000000000000" pitchFamily="2" charset="0"/>
              </a:endParaRPr>
            </a:p>
          </p:txBody>
        </p:sp>
      </p:grpSp>
      <p:grpSp>
        <p:nvGrpSpPr>
          <p:cNvPr id="13" name="Group 12">
            <a:extLst>
              <a:ext uri="{FF2B5EF4-FFF2-40B4-BE49-F238E27FC236}">
                <a16:creationId xmlns:a16="http://schemas.microsoft.com/office/drawing/2014/main" id="{88FC350D-62F4-2C0E-B6E2-5FEEA6F9848B}"/>
              </a:ext>
            </a:extLst>
          </p:cNvPr>
          <p:cNvGrpSpPr/>
          <p:nvPr/>
        </p:nvGrpSpPr>
        <p:grpSpPr>
          <a:xfrm>
            <a:off x="838200" y="297639"/>
            <a:ext cx="4351020" cy="307138"/>
            <a:chOff x="838200" y="297639"/>
            <a:chExt cx="4351020" cy="307138"/>
          </a:xfrm>
        </p:grpSpPr>
        <p:grpSp>
          <p:nvGrpSpPr>
            <p:cNvPr id="23" name="Group 22">
              <a:extLst>
                <a:ext uri="{FF2B5EF4-FFF2-40B4-BE49-F238E27FC236}">
                  <a16:creationId xmlns:a16="http://schemas.microsoft.com/office/drawing/2014/main" id="{A59B9922-6964-F632-950A-8CBDCC661795}"/>
                </a:ext>
              </a:extLst>
            </p:cNvPr>
            <p:cNvGrpSpPr/>
            <p:nvPr/>
          </p:nvGrpSpPr>
          <p:grpSpPr>
            <a:xfrm>
              <a:off x="838200" y="297639"/>
              <a:ext cx="1687517" cy="290657"/>
              <a:chOff x="838200" y="297639"/>
              <a:chExt cx="1687517" cy="290657"/>
            </a:xfrm>
          </p:grpSpPr>
          <p:sp>
            <p:nvSpPr>
              <p:cNvPr id="49" name="AutoShape 9">
                <a:extLst>
                  <a:ext uri="{FF2B5EF4-FFF2-40B4-BE49-F238E27FC236}">
                    <a16:creationId xmlns:a16="http://schemas.microsoft.com/office/drawing/2014/main" id="{4D295DFF-5B61-5DD4-737F-96FF4B868ACF}"/>
                  </a:ext>
                </a:extLst>
              </p:cNvPr>
              <p:cNvSpPr>
                <a:spLocks noChangeArrowheads="1"/>
              </p:cNvSpPr>
              <p:nvPr/>
            </p:nvSpPr>
            <p:spPr bwMode="auto">
              <a:xfrm>
                <a:off x="2092900" y="297639"/>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50" name="AutoShape 9">
                <a:extLst>
                  <a:ext uri="{FF2B5EF4-FFF2-40B4-BE49-F238E27FC236}">
                    <a16:creationId xmlns:a16="http://schemas.microsoft.com/office/drawing/2014/main" id="{2731429B-EDA0-E796-92B0-B8BC5011DC27}"/>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nvGrpSpPr>
              <p:cNvPr id="51" name="Group 50">
                <a:extLst>
                  <a:ext uri="{FF2B5EF4-FFF2-40B4-BE49-F238E27FC236}">
                    <a16:creationId xmlns:a16="http://schemas.microsoft.com/office/drawing/2014/main" id="{DD8F6880-3B5D-DA9F-0D83-6B858FE8B13B}"/>
                  </a:ext>
                </a:extLst>
              </p:cNvPr>
              <p:cNvGrpSpPr/>
              <p:nvPr/>
            </p:nvGrpSpPr>
            <p:grpSpPr>
              <a:xfrm>
                <a:off x="838200" y="297639"/>
                <a:ext cx="1060167" cy="290657"/>
                <a:chOff x="826426" y="4041857"/>
                <a:chExt cx="1060167" cy="290657"/>
              </a:xfrm>
            </p:grpSpPr>
            <p:sp>
              <p:nvSpPr>
                <p:cNvPr id="52" name="AutoShape 9">
                  <a:extLst>
                    <a:ext uri="{FF2B5EF4-FFF2-40B4-BE49-F238E27FC236}">
                      <a16:creationId xmlns:a16="http://schemas.microsoft.com/office/drawing/2014/main" id="{E85F5E23-E2CC-6FFE-E7A8-089BE1FB892F}"/>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53" name="AutoShape 11">
                  <a:extLst>
                    <a:ext uri="{FF2B5EF4-FFF2-40B4-BE49-F238E27FC236}">
                      <a16:creationId xmlns:a16="http://schemas.microsoft.com/office/drawing/2014/main" id="{74D0C803-2D1A-939E-7580-FC3CA62C9D95}"/>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54" name="AutoShape 10">
                  <a:extLst>
                    <a:ext uri="{FF2B5EF4-FFF2-40B4-BE49-F238E27FC236}">
                      <a16:creationId xmlns:a16="http://schemas.microsoft.com/office/drawing/2014/main" id="{2344304C-7669-DF08-12F9-51F103D97903}"/>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48" name="TextBox 47">
              <a:extLst>
                <a:ext uri="{FF2B5EF4-FFF2-40B4-BE49-F238E27FC236}">
                  <a16:creationId xmlns:a16="http://schemas.microsoft.com/office/drawing/2014/main" id="{9EB16D49-6400-A536-B3B0-54690B5E0125}"/>
                </a:ext>
              </a:extLst>
            </p:cNvPr>
            <p:cNvSpPr txBox="1"/>
            <p:nvPr/>
          </p:nvSpPr>
          <p:spPr>
            <a:xfrm>
              <a:off x="2525717" y="313415"/>
              <a:ext cx="266350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CEDAC Review</a:t>
              </a:r>
            </a:p>
          </p:txBody>
        </p:sp>
      </p:grpSp>
    </p:spTree>
    <p:extLst>
      <p:ext uri="{BB962C8B-B14F-4D97-AF65-F5344CB8AC3E}">
        <p14:creationId xmlns:p14="http://schemas.microsoft.com/office/powerpoint/2010/main" val="380716031"/>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8D9ED7-5CF9-6F4B-B4A8-2DBF8D852A20}"/>
              </a:ext>
            </a:extLst>
          </p:cNvPr>
          <p:cNvSpPr>
            <a:spLocks noGrp="1"/>
          </p:cNvSpPr>
          <p:nvPr>
            <p:ph type="title"/>
          </p:nvPr>
        </p:nvSpPr>
        <p:spPr/>
        <p:txBody>
          <a:bodyPr>
            <a:noAutofit/>
          </a:bodyPr>
          <a:lstStyle/>
          <a:p>
            <a:r>
              <a:rPr lang="en-US" sz="2800" dirty="0">
                <a:latin typeface="Roboto Medium"/>
                <a:ea typeface="Roboto Medium"/>
                <a:cs typeface="Roboto Medium"/>
              </a:rPr>
              <a:t>CEDAC Exercise: Review Key Learnings</a:t>
            </a:r>
          </a:p>
        </p:txBody>
      </p:sp>
      <p:sp>
        <p:nvSpPr>
          <p:cNvPr id="5" name="Slide Number Placeholder 4">
            <a:extLst>
              <a:ext uri="{FF2B5EF4-FFF2-40B4-BE49-F238E27FC236}">
                <a16:creationId xmlns:a16="http://schemas.microsoft.com/office/drawing/2014/main" id="{EFB3C390-D307-7FFC-DADE-918C5180FE01}"/>
              </a:ext>
            </a:extLst>
          </p:cNvPr>
          <p:cNvSpPr>
            <a:spLocks noGrp="1"/>
          </p:cNvSpPr>
          <p:nvPr>
            <p:ph type="sldNum" sz="quarter" idx="4294967295"/>
          </p:nvPr>
        </p:nvSpPr>
        <p:spPr>
          <a:xfrm>
            <a:off x="8595078" y="6333148"/>
            <a:ext cx="2743200" cy="365125"/>
          </a:xfrm>
          <a:prstGeom prst="rect">
            <a:avLst/>
          </a:prstGeom>
        </p:spPr>
        <p:txBody>
          <a:bodyPr/>
          <a:lstStyle/>
          <a:p>
            <a:fld id="{CC6D4273-7FC1-0947-B9FE-19CB3C0D1FB6}" type="slidenum">
              <a:rPr lang="en-US" smtClean="0"/>
              <a:t>99</a:t>
            </a:fld>
            <a:endParaRPr lang="en-US"/>
          </a:p>
        </p:txBody>
      </p:sp>
      <p:sp>
        <p:nvSpPr>
          <p:cNvPr id="11" name="Rectangle 10">
            <a:extLst>
              <a:ext uri="{FF2B5EF4-FFF2-40B4-BE49-F238E27FC236}">
                <a16:creationId xmlns:a16="http://schemas.microsoft.com/office/drawing/2014/main" id="{3A9506B7-1A57-1322-5AB5-DA8522EE7602}"/>
              </a:ext>
            </a:extLst>
          </p:cNvPr>
          <p:cNvSpPr/>
          <p:nvPr/>
        </p:nvSpPr>
        <p:spPr>
          <a:xfrm>
            <a:off x="838200" y="2328432"/>
            <a:ext cx="9722342" cy="471924"/>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4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Discuss key learnings from this CEDAC event. </a:t>
            </a:r>
          </a:p>
        </p:txBody>
      </p:sp>
      <p:sp>
        <p:nvSpPr>
          <p:cNvPr id="12" name="TextBox 11">
            <a:extLst>
              <a:ext uri="{FF2B5EF4-FFF2-40B4-BE49-F238E27FC236}">
                <a16:creationId xmlns:a16="http://schemas.microsoft.com/office/drawing/2014/main" id="{A4ECB5F6-F271-06CD-2A6A-E79F5245CD15}"/>
              </a:ext>
            </a:extLst>
          </p:cNvPr>
          <p:cNvSpPr txBox="1"/>
          <p:nvPr/>
        </p:nvSpPr>
        <p:spPr>
          <a:xfrm>
            <a:off x="838200" y="1767653"/>
            <a:ext cx="1603003"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Objective</a:t>
            </a:r>
            <a:endParaRPr kumimoji="0" lang="en-US" sz="56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endParaRPr>
          </a:p>
        </p:txBody>
      </p:sp>
      <p:sp>
        <p:nvSpPr>
          <p:cNvPr id="13" name="TextBox 12">
            <a:extLst>
              <a:ext uri="{FF2B5EF4-FFF2-40B4-BE49-F238E27FC236}">
                <a16:creationId xmlns:a16="http://schemas.microsoft.com/office/drawing/2014/main" id="{EA94F381-2B48-C111-2724-726B0390290F}"/>
              </a:ext>
            </a:extLst>
          </p:cNvPr>
          <p:cNvSpPr txBox="1"/>
          <p:nvPr/>
        </p:nvSpPr>
        <p:spPr>
          <a:xfrm>
            <a:off x="838200" y="2952549"/>
            <a:ext cx="2022990"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Instructions</a:t>
            </a:r>
            <a:endParaRPr kumimoji="0" lang="en-US" sz="56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endParaRPr>
          </a:p>
        </p:txBody>
      </p:sp>
      <p:sp>
        <p:nvSpPr>
          <p:cNvPr id="14" name="Rectangle 13">
            <a:extLst>
              <a:ext uri="{FF2B5EF4-FFF2-40B4-BE49-F238E27FC236}">
                <a16:creationId xmlns:a16="http://schemas.microsoft.com/office/drawing/2014/main" id="{82677B47-98C9-F770-8D4E-7D91CF39F5A7}"/>
              </a:ext>
            </a:extLst>
          </p:cNvPr>
          <p:cNvSpPr/>
          <p:nvPr/>
        </p:nvSpPr>
        <p:spPr>
          <a:xfrm>
            <a:off x="818941" y="3486027"/>
            <a:ext cx="4419809" cy="2318583"/>
          </a:xfrm>
          <a:prstGeom prst="rect">
            <a:avLst/>
          </a:prstGeom>
          <a:solidFill>
            <a:schemeClr val="bg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0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In pairs, spend 5 minutes discussing key learnings and take-aways from this CEDAC Event </a:t>
            </a:r>
          </a:p>
          <a:p>
            <a:pPr marL="0" marR="0" indent="0" algn="l" defTabSz="584200" rtl="0" fontAlgn="auto" latinLnBrk="0" hangingPunct="0">
              <a:lnSpc>
                <a:spcPct val="100000"/>
              </a:lnSpc>
              <a:spcBef>
                <a:spcPts val="0"/>
              </a:spcBef>
              <a:spcAft>
                <a:spcPts val="0"/>
              </a:spcAft>
              <a:buClrTx/>
              <a:buSzTx/>
              <a:buFontTx/>
              <a:buNone/>
              <a:tabLst/>
            </a:pPr>
            <a:r>
              <a:rPr kumimoji="0" lang="en-US" sz="20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One person from each group will share one learning with the rest of the class</a:t>
            </a:r>
          </a:p>
        </p:txBody>
      </p:sp>
      <p:sp>
        <p:nvSpPr>
          <p:cNvPr id="15" name="TextBox 14">
            <a:extLst>
              <a:ext uri="{FF2B5EF4-FFF2-40B4-BE49-F238E27FC236}">
                <a16:creationId xmlns:a16="http://schemas.microsoft.com/office/drawing/2014/main" id="{90914B3B-0CE2-FDFF-2FB9-215236316256}"/>
              </a:ext>
            </a:extLst>
          </p:cNvPr>
          <p:cNvSpPr txBox="1"/>
          <p:nvPr/>
        </p:nvSpPr>
        <p:spPr>
          <a:xfrm>
            <a:off x="5879250" y="2952548"/>
            <a:ext cx="2968761"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Time to Complete</a:t>
            </a:r>
          </a:p>
        </p:txBody>
      </p:sp>
      <p:sp>
        <p:nvSpPr>
          <p:cNvPr id="16" name="TextBox 15">
            <a:extLst>
              <a:ext uri="{FF2B5EF4-FFF2-40B4-BE49-F238E27FC236}">
                <a16:creationId xmlns:a16="http://schemas.microsoft.com/office/drawing/2014/main" id="{6285230A-07BD-F376-25CA-177CC1D4233F}"/>
              </a:ext>
            </a:extLst>
          </p:cNvPr>
          <p:cNvSpPr txBox="1"/>
          <p:nvPr/>
        </p:nvSpPr>
        <p:spPr>
          <a:xfrm>
            <a:off x="5879250" y="4136472"/>
            <a:ext cx="1888337"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Deliverable</a:t>
            </a:r>
          </a:p>
        </p:txBody>
      </p:sp>
      <p:sp>
        <p:nvSpPr>
          <p:cNvPr id="17" name="Rectangle 16">
            <a:extLst>
              <a:ext uri="{FF2B5EF4-FFF2-40B4-BE49-F238E27FC236}">
                <a16:creationId xmlns:a16="http://schemas.microsoft.com/office/drawing/2014/main" id="{67530399-8FDB-50CD-E8FD-8E286DE1A2EA}"/>
              </a:ext>
            </a:extLst>
          </p:cNvPr>
          <p:cNvSpPr/>
          <p:nvPr/>
        </p:nvSpPr>
        <p:spPr>
          <a:xfrm>
            <a:off x="5879250" y="3496996"/>
            <a:ext cx="4681292" cy="471924"/>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584200" hangingPunct="0"/>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5 minutes</a:t>
            </a:r>
          </a:p>
        </p:txBody>
      </p:sp>
      <p:sp>
        <p:nvSpPr>
          <p:cNvPr id="18" name="Rectangle 17">
            <a:extLst>
              <a:ext uri="{FF2B5EF4-FFF2-40B4-BE49-F238E27FC236}">
                <a16:creationId xmlns:a16="http://schemas.microsoft.com/office/drawing/2014/main" id="{84DF6BD6-975A-3700-5E69-322EFF4F722E}"/>
              </a:ext>
            </a:extLst>
          </p:cNvPr>
          <p:cNvSpPr/>
          <p:nvPr/>
        </p:nvSpPr>
        <p:spPr>
          <a:xfrm>
            <a:off x="5879250" y="4665560"/>
            <a:ext cx="4681292" cy="841256"/>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584200" hangingPunct="0"/>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Report-out of key learning to rest of class</a:t>
            </a:r>
          </a:p>
        </p:txBody>
      </p:sp>
      <p:grpSp>
        <p:nvGrpSpPr>
          <p:cNvPr id="21" name="Group 20">
            <a:extLst>
              <a:ext uri="{FF2B5EF4-FFF2-40B4-BE49-F238E27FC236}">
                <a16:creationId xmlns:a16="http://schemas.microsoft.com/office/drawing/2014/main" id="{F1D51CA6-AECF-5AC7-ACD7-DCFBE7C5CD45}"/>
              </a:ext>
            </a:extLst>
          </p:cNvPr>
          <p:cNvGrpSpPr/>
          <p:nvPr/>
        </p:nvGrpSpPr>
        <p:grpSpPr>
          <a:xfrm>
            <a:off x="838200" y="297639"/>
            <a:ext cx="4351020" cy="307138"/>
            <a:chOff x="838200" y="297639"/>
            <a:chExt cx="4351020" cy="307138"/>
          </a:xfrm>
        </p:grpSpPr>
        <p:grpSp>
          <p:nvGrpSpPr>
            <p:cNvPr id="22" name="Group 21">
              <a:extLst>
                <a:ext uri="{FF2B5EF4-FFF2-40B4-BE49-F238E27FC236}">
                  <a16:creationId xmlns:a16="http://schemas.microsoft.com/office/drawing/2014/main" id="{7D6386A2-D94F-9098-A0D6-E35AB4609EF3}"/>
                </a:ext>
              </a:extLst>
            </p:cNvPr>
            <p:cNvGrpSpPr/>
            <p:nvPr/>
          </p:nvGrpSpPr>
          <p:grpSpPr>
            <a:xfrm>
              <a:off x="838200" y="297639"/>
              <a:ext cx="1687517" cy="290657"/>
              <a:chOff x="838200" y="297639"/>
              <a:chExt cx="1687517" cy="290657"/>
            </a:xfrm>
          </p:grpSpPr>
          <p:sp>
            <p:nvSpPr>
              <p:cNvPr id="24" name="AutoShape 9">
                <a:extLst>
                  <a:ext uri="{FF2B5EF4-FFF2-40B4-BE49-F238E27FC236}">
                    <a16:creationId xmlns:a16="http://schemas.microsoft.com/office/drawing/2014/main" id="{ED526DAD-2ED3-9E7F-14E0-A272D28F1D7F}"/>
                  </a:ext>
                </a:extLst>
              </p:cNvPr>
              <p:cNvSpPr>
                <a:spLocks noChangeArrowheads="1"/>
              </p:cNvSpPr>
              <p:nvPr/>
            </p:nvSpPr>
            <p:spPr bwMode="auto">
              <a:xfrm>
                <a:off x="2092900" y="297639"/>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5" name="AutoShape 9">
                <a:extLst>
                  <a:ext uri="{FF2B5EF4-FFF2-40B4-BE49-F238E27FC236}">
                    <a16:creationId xmlns:a16="http://schemas.microsoft.com/office/drawing/2014/main" id="{715AC3A4-B5B7-E95C-4762-0AEF2C06D442}"/>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nvGrpSpPr>
              <p:cNvPr id="26" name="Group 25">
                <a:extLst>
                  <a:ext uri="{FF2B5EF4-FFF2-40B4-BE49-F238E27FC236}">
                    <a16:creationId xmlns:a16="http://schemas.microsoft.com/office/drawing/2014/main" id="{1634BFEB-DAC8-D5D2-3881-CBB188494CE6}"/>
                  </a:ext>
                </a:extLst>
              </p:cNvPr>
              <p:cNvGrpSpPr/>
              <p:nvPr/>
            </p:nvGrpSpPr>
            <p:grpSpPr>
              <a:xfrm>
                <a:off x="838200" y="297639"/>
                <a:ext cx="1060167" cy="290657"/>
                <a:chOff x="826426" y="4041857"/>
                <a:chExt cx="1060167" cy="290657"/>
              </a:xfrm>
            </p:grpSpPr>
            <p:sp>
              <p:nvSpPr>
                <p:cNvPr id="27" name="AutoShape 9">
                  <a:extLst>
                    <a:ext uri="{FF2B5EF4-FFF2-40B4-BE49-F238E27FC236}">
                      <a16:creationId xmlns:a16="http://schemas.microsoft.com/office/drawing/2014/main" id="{A168FC9C-35F2-ECCA-09A7-2F6501AA7253}"/>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8" name="AutoShape 11">
                  <a:extLst>
                    <a:ext uri="{FF2B5EF4-FFF2-40B4-BE49-F238E27FC236}">
                      <a16:creationId xmlns:a16="http://schemas.microsoft.com/office/drawing/2014/main" id="{D661AB51-6AF5-78C0-8BF4-7FCE8924C71D}"/>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9" name="AutoShape 10">
                  <a:extLst>
                    <a:ext uri="{FF2B5EF4-FFF2-40B4-BE49-F238E27FC236}">
                      <a16:creationId xmlns:a16="http://schemas.microsoft.com/office/drawing/2014/main" id="{88E215A8-30C7-CEA6-A307-48D12C18A6B0}"/>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23" name="TextBox 22">
              <a:extLst>
                <a:ext uri="{FF2B5EF4-FFF2-40B4-BE49-F238E27FC236}">
                  <a16:creationId xmlns:a16="http://schemas.microsoft.com/office/drawing/2014/main" id="{C1A75539-8B52-3F5E-F7CA-63A88D6ADFEB}"/>
                </a:ext>
              </a:extLst>
            </p:cNvPr>
            <p:cNvSpPr txBox="1"/>
            <p:nvPr/>
          </p:nvSpPr>
          <p:spPr>
            <a:xfrm>
              <a:off x="2525717" y="313415"/>
              <a:ext cx="266350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CEDAC Review</a:t>
              </a:r>
            </a:p>
          </p:txBody>
        </p:sp>
      </p:grpSp>
    </p:spTree>
    <p:extLst>
      <p:ext uri="{BB962C8B-B14F-4D97-AF65-F5344CB8AC3E}">
        <p14:creationId xmlns:p14="http://schemas.microsoft.com/office/powerpoint/2010/main" val="422851063"/>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B09C19-D9DE-E2E1-B56E-07E75302E78F}"/>
              </a:ext>
            </a:extLst>
          </p:cNvPr>
          <p:cNvSpPr>
            <a:spLocks noGrp="1"/>
          </p:cNvSpPr>
          <p:nvPr>
            <p:ph type="ctrTitle"/>
          </p:nvPr>
        </p:nvSpPr>
        <p:spPr/>
        <p:txBody>
          <a:bodyPr/>
          <a:lstStyle/>
          <a:p>
            <a:r>
              <a:rPr lang="en-US" dirty="0"/>
              <a:t>Appendix</a:t>
            </a:r>
          </a:p>
        </p:txBody>
      </p:sp>
      <p:sp>
        <p:nvSpPr>
          <p:cNvPr id="3" name="Subtitle 2">
            <a:extLst>
              <a:ext uri="{FF2B5EF4-FFF2-40B4-BE49-F238E27FC236}">
                <a16:creationId xmlns:a16="http://schemas.microsoft.com/office/drawing/2014/main" id="{D6E9F0E8-44DF-17F4-C428-4A846A182A35}"/>
              </a:ext>
            </a:extLst>
          </p:cNvPr>
          <p:cNvSpPr>
            <a:spLocks noGrp="1"/>
          </p:cNvSpPr>
          <p:nvPr>
            <p:ph type="subTitle" idx="1"/>
          </p:nvPr>
        </p:nvSpPr>
        <p:spPr/>
        <p:txBody>
          <a:bodyPr/>
          <a:lstStyle/>
          <a:p>
            <a:r>
              <a:rPr lang="en-US" dirty="0"/>
              <a:t>History of CEDAC</a:t>
            </a:r>
          </a:p>
        </p:txBody>
      </p:sp>
      <p:sp>
        <p:nvSpPr>
          <p:cNvPr id="5" name="Slide Number Placeholder 4">
            <a:extLst>
              <a:ext uri="{FF2B5EF4-FFF2-40B4-BE49-F238E27FC236}">
                <a16:creationId xmlns:a16="http://schemas.microsoft.com/office/drawing/2014/main" id="{F8827CDC-E359-D8C5-1138-53B58F0B6B22}"/>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100</a:t>
            </a:fld>
            <a:endParaRPr lang="en-US"/>
          </a:p>
        </p:txBody>
      </p:sp>
    </p:spTree>
    <p:extLst>
      <p:ext uri="{BB962C8B-B14F-4D97-AF65-F5344CB8AC3E}">
        <p14:creationId xmlns:p14="http://schemas.microsoft.com/office/powerpoint/2010/main" val="1904978316"/>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noAutofit/>
          </a:bodyPr>
          <a:lstStyle/>
          <a:p>
            <a:r>
              <a:rPr lang="en-US" sz="3600" dirty="0"/>
              <a:t>History of CEDAC</a:t>
            </a:r>
          </a:p>
        </p:txBody>
      </p:sp>
      <p:sp>
        <p:nvSpPr>
          <p:cNvPr id="3" name="Content Placeholder 2">
            <a:extLst>
              <a:ext uri="{FF2B5EF4-FFF2-40B4-BE49-F238E27FC236}">
                <a16:creationId xmlns:a16="http://schemas.microsoft.com/office/drawing/2014/main" id="{2AA7A201-AD05-6520-E140-CCF11E59E700}"/>
              </a:ext>
            </a:extLst>
          </p:cNvPr>
          <p:cNvSpPr>
            <a:spLocks noGrp="1"/>
          </p:cNvSpPr>
          <p:nvPr>
            <p:ph idx="1"/>
          </p:nvPr>
        </p:nvSpPr>
        <p:spPr/>
        <p:txBody>
          <a:bodyPr>
            <a:normAutofit fontScale="85000" lnSpcReduction="20000"/>
          </a:bodyPr>
          <a:lstStyle/>
          <a:p>
            <a:r>
              <a:rPr lang="en-US" dirty="0"/>
              <a:t>Cause-Effect “Fishbone” Diagram (aka: Ishikawa Diagram) was named after it’s originator, Kaoru Ishikawa, who first used them in the shipyards in Kobe Japan in the 1960’s</a:t>
            </a:r>
          </a:p>
          <a:p>
            <a:pPr lvl="1"/>
            <a:r>
              <a:rPr lang="en-US" dirty="0"/>
              <a:t>The Cause Effect Diagram has been a standard QC tool for several decades</a:t>
            </a:r>
          </a:p>
          <a:p>
            <a:r>
              <a:rPr lang="en-US" dirty="0"/>
              <a:t>CEDAC developed by Ryuji </a:t>
            </a:r>
            <a:r>
              <a:rPr lang="en-US" dirty="0" err="1"/>
              <a:t>Fukada</a:t>
            </a:r>
            <a:r>
              <a:rPr lang="en-US" dirty="0"/>
              <a:t> in the mid-1970’s while working at Sumitomo Electric in Japan</a:t>
            </a:r>
          </a:p>
          <a:p>
            <a:pPr lvl="1"/>
            <a:r>
              <a:rPr lang="en-US" dirty="0"/>
              <a:t>CEDAC piloted in 350 projects in 40 Sumitomo plants</a:t>
            </a:r>
          </a:p>
          <a:p>
            <a:pPr lvl="1"/>
            <a:r>
              <a:rPr lang="en-US" dirty="0"/>
              <a:t>Awarded the Japanese Deming (</a:t>
            </a:r>
            <a:r>
              <a:rPr lang="en-US" dirty="0" err="1"/>
              <a:t>Nikai</a:t>
            </a:r>
            <a:r>
              <a:rPr lang="en-US" dirty="0"/>
              <a:t>) prize in 1978 for a paper on the subject</a:t>
            </a:r>
          </a:p>
          <a:p>
            <a:pPr lvl="1"/>
            <a:r>
              <a:rPr lang="en-US" dirty="0"/>
              <a:t>Published Book: CEDAC: A Tool for Continuous Systematic Improvement, 1996, Productivity Press</a:t>
            </a:r>
          </a:p>
          <a:p>
            <a:r>
              <a:rPr lang="en-US" dirty="0"/>
              <a:t>CEDAC has been accepted and is widely used today as a Lean transformation and quality improvement tool and method </a:t>
            </a:r>
          </a:p>
          <a:p>
            <a:pPr lvl="1"/>
            <a:r>
              <a:rPr lang="en-US" dirty="0"/>
              <a:t>CEDAC has been successfully adapted for use with process flows and other baseline maps in addition to Cause-Effect diagrams</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101</a:t>
            </a:fld>
            <a:endParaRPr lang="en-US"/>
          </a:p>
        </p:txBody>
      </p:sp>
    </p:spTree>
    <p:extLst>
      <p:ext uri="{BB962C8B-B14F-4D97-AF65-F5344CB8AC3E}">
        <p14:creationId xmlns:p14="http://schemas.microsoft.com/office/powerpoint/2010/main" val="2037999518"/>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301234-A0AA-5598-26B5-033CE6FE23E5}"/>
              </a:ext>
            </a:extLst>
          </p:cNvPr>
          <p:cNvSpPr txBox="1">
            <a:spLocks/>
          </p:cNvSpPr>
          <p:nvPr/>
        </p:nvSpPr>
        <p:spPr>
          <a:xfrm>
            <a:off x="606705" y="793843"/>
            <a:ext cx="10515600" cy="1022351"/>
          </a:xfrm>
          <a:prstGeom prst="rect">
            <a:avLst/>
          </a:prstGeom>
        </p:spPr>
        <p:txBody>
          <a:bodyPr lIns="91440" tIns="45720" rIns="91440" bIns="45720" anchor="t"/>
          <a:lstStyle>
            <a:lvl1pPr algn="l" defTabSz="914400" rtl="0" eaLnBrk="1" latinLnBrk="0" hangingPunct="1">
              <a:lnSpc>
                <a:spcPct val="90000"/>
              </a:lnSpc>
              <a:spcBef>
                <a:spcPct val="0"/>
              </a:spcBef>
              <a:buNone/>
              <a:defRPr sz="4400" kern="1200">
                <a:solidFill>
                  <a:schemeClr val="bg1"/>
                </a:solidFill>
                <a:latin typeface="Baskerville" panose="02020502070401020303" pitchFamily="18" charset="0"/>
                <a:ea typeface="Baskerville" panose="02020502070401020303" pitchFamily="18" charset="0"/>
                <a:cs typeface="+mj-cs"/>
              </a:defRPr>
            </a:lvl1pPr>
          </a:lstStyle>
          <a:p>
            <a:r>
              <a:rPr lang="en-US" dirty="0">
                <a:solidFill>
                  <a:schemeClr val="tx1"/>
                </a:solidFill>
                <a:latin typeface="Roboto Medium"/>
                <a:cs typeface="Roboto"/>
              </a:rPr>
              <a:t>Other</a:t>
            </a:r>
            <a:r>
              <a:rPr lang="en-US" dirty="0">
                <a:solidFill>
                  <a:schemeClr val="tx1"/>
                </a:solidFill>
                <a:latin typeface="Roboto Medium"/>
                <a:cs typeface="Roboto Medium"/>
              </a:rPr>
              <a:t> Modules In This Series:</a:t>
            </a:r>
          </a:p>
        </p:txBody>
      </p:sp>
      <p:pic>
        <p:nvPicPr>
          <p:cNvPr id="3" name="Picture 2">
            <a:extLst>
              <a:ext uri="{FF2B5EF4-FFF2-40B4-BE49-F238E27FC236}">
                <a16:creationId xmlns:a16="http://schemas.microsoft.com/office/drawing/2014/main" id="{5DF3825E-B951-729D-1675-8A890DAAC766}"/>
              </a:ext>
            </a:extLst>
          </p:cNvPr>
          <p:cNvPicPr>
            <a:picLocks noChangeAspect="1"/>
          </p:cNvPicPr>
          <p:nvPr/>
        </p:nvPicPr>
        <p:blipFill>
          <a:blip r:embed="rId3"/>
          <a:stretch>
            <a:fillRect/>
          </a:stretch>
        </p:blipFill>
        <p:spPr>
          <a:xfrm>
            <a:off x="605117" y="1638489"/>
            <a:ext cx="3939240" cy="45719"/>
          </a:xfrm>
          <a:prstGeom prst="rect">
            <a:avLst/>
          </a:prstGeom>
        </p:spPr>
      </p:pic>
      <p:sp>
        <p:nvSpPr>
          <p:cNvPr id="4" name="Content Placeholder 3">
            <a:extLst>
              <a:ext uri="{FF2B5EF4-FFF2-40B4-BE49-F238E27FC236}">
                <a16:creationId xmlns:a16="http://schemas.microsoft.com/office/drawing/2014/main" id="{C9914E55-E875-9B78-1E43-35D121FD9751}"/>
              </a:ext>
            </a:extLst>
          </p:cNvPr>
          <p:cNvSpPr txBox="1">
            <a:spLocks/>
          </p:cNvSpPr>
          <p:nvPr/>
        </p:nvSpPr>
        <p:spPr>
          <a:xfrm>
            <a:off x="5839258" y="1166648"/>
            <a:ext cx="5157787" cy="368458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1"/>
                </a:solidFill>
                <a:latin typeface="Roboto" panose="02000000000000000000" pitchFamily="2" charset="0"/>
                <a:ea typeface="Roboto" panose="02000000000000000000" pitchFamily="2" charset="0"/>
                <a:cs typeface="Roboto" panose="02000000000000000000"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Roboto" panose="02000000000000000000" pitchFamily="2" charset="0"/>
                <a:ea typeface="Roboto" panose="02000000000000000000" pitchFamily="2" charset="0"/>
                <a:cs typeface="Roboto" panose="02000000000000000000"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Roboto" panose="02000000000000000000" pitchFamily="2" charset="0"/>
                <a:ea typeface="Roboto" panose="02000000000000000000" pitchFamily="2" charset="0"/>
                <a:cs typeface="Roboto" panose="02000000000000000000"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Roboto" panose="02000000000000000000" pitchFamily="2" charset="0"/>
                <a:ea typeface="Roboto" panose="02000000000000000000" pitchFamily="2" charset="0"/>
                <a:cs typeface="Roboto" panose="02000000000000000000"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Roboto" panose="02000000000000000000" pitchFamily="2" charset="0"/>
                <a:ea typeface="Roboto" panose="02000000000000000000" pitchFamily="2" charset="0"/>
                <a:cs typeface="Roboto" panose="02000000000000000000"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None/>
            </a:pPr>
            <a:r>
              <a:rPr lang="en-US" sz="1400" dirty="0">
                <a:solidFill>
                  <a:schemeClr val="tx1"/>
                </a:solidFill>
              </a:rPr>
              <a:t>5S</a:t>
            </a:r>
          </a:p>
          <a:p>
            <a:pPr marL="0" indent="0" algn="r">
              <a:buNone/>
            </a:pPr>
            <a:r>
              <a:rPr lang="en-US" sz="1400" dirty="0">
                <a:solidFill>
                  <a:schemeClr val="tx1"/>
                </a:solidFill>
              </a:rPr>
              <a:t>Standard Work</a:t>
            </a:r>
          </a:p>
          <a:p>
            <a:pPr marL="0" indent="0" algn="r">
              <a:buNone/>
            </a:pPr>
            <a:r>
              <a:rPr lang="en-US" sz="1400" dirty="0">
                <a:solidFill>
                  <a:schemeClr val="tx1"/>
                </a:solidFill>
              </a:rPr>
              <a:t>Total Productive Maintenance (TPM)</a:t>
            </a:r>
          </a:p>
          <a:p>
            <a:pPr marL="0" indent="0" algn="r">
              <a:buNone/>
            </a:pPr>
            <a:r>
              <a:rPr lang="en-US" sz="1400" dirty="0">
                <a:solidFill>
                  <a:schemeClr val="tx1"/>
                </a:solidFill>
              </a:rPr>
              <a:t>Administrative Lean</a:t>
            </a:r>
          </a:p>
          <a:p>
            <a:pPr marL="0" indent="0" algn="r">
              <a:buNone/>
            </a:pPr>
            <a:r>
              <a:rPr lang="en-US" sz="1400" dirty="0">
                <a:solidFill>
                  <a:schemeClr val="tx1"/>
                </a:solidFill>
              </a:rPr>
              <a:t>Cell Design/ Production Preparation Process (3P)</a:t>
            </a:r>
          </a:p>
          <a:p>
            <a:pPr marL="0" indent="0" algn="r">
              <a:buNone/>
            </a:pPr>
            <a:r>
              <a:rPr lang="en-US" sz="1400" dirty="0">
                <a:solidFill>
                  <a:schemeClr val="tx1"/>
                </a:solidFill>
              </a:rPr>
              <a:t>Kaizen</a:t>
            </a:r>
          </a:p>
          <a:p>
            <a:pPr marL="0" indent="0" algn="r">
              <a:buNone/>
            </a:pPr>
            <a:r>
              <a:rPr lang="en-US" sz="1400" dirty="0">
                <a:solidFill>
                  <a:schemeClr val="tx1"/>
                </a:solidFill>
              </a:rPr>
              <a:t>Kanban</a:t>
            </a:r>
          </a:p>
          <a:p>
            <a:pPr marL="0" indent="0" algn="r">
              <a:buNone/>
            </a:pPr>
            <a:r>
              <a:rPr lang="en-US" sz="1400" dirty="0">
                <a:solidFill>
                  <a:schemeClr val="tx1"/>
                </a:solidFill>
              </a:rPr>
              <a:t>Problem Solving</a:t>
            </a:r>
          </a:p>
          <a:p>
            <a:pPr marL="0" indent="0" algn="r">
              <a:buNone/>
            </a:pPr>
            <a:r>
              <a:rPr lang="en-US" sz="1400" dirty="0" err="1">
                <a:solidFill>
                  <a:schemeClr val="tx1"/>
                </a:solidFill>
              </a:rPr>
              <a:t>Poka</a:t>
            </a:r>
            <a:r>
              <a:rPr lang="en-US" sz="1400" dirty="0">
                <a:solidFill>
                  <a:schemeClr val="tx1"/>
                </a:solidFill>
              </a:rPr>
              <a:t> Yoke Quality Systems</a:t>
            </a:r>
          </a:p>
          <a:p>
            <a:pPr marL="0" indent="0" algn="r">
              <a:buNone/>
            </a:pPr>
            <a:r>
              <a:rPr lang="en-US" sz="1400" dirty="0">
                <a:solidFill>
                  <a:schemeClr val="tx1"/>
                </a:solidFill>
              </a:rPr>
              <a:t>Transaction Process Improvement (TPI)</a:t>
            </a:r>
          </a:p>
          <a:p>
            <a:pPr marL="0" indent="0" algn="r">
              <a:buNone/>
            </a:pPr>
            <a:r>
              <a:rPr lang="en-US" sz="1400" dirty="0">
                <a:solidFill>
                  <a:schemeClr val="tx1"/>
                </a:solidFill>
              </a:rPr>
              <a:t>Cause &amp; Effect Diagram with the Additions of Cards (CEDAC)</a:t>
            </a:r>
          </a:p>
          <a:p>
            <a:pPr marL="0" indent="0" algn="r">
              <a:buNone/>
            </a:pPr>
            <a:r>
              <a:rPr lang="en-US" sz="1400" dirty="0">
                <a:solidFill>
                  <a:schemeClr val="tx1"/>
                </a:solidFill>
              </a:rPr>
              <a:t>Single Minute Exchange of Dies (SMED)</a:t>
            </a:r>
          </a:p>
          <a:p>
            <a:pPr marL="0" indent="0" algn="r">
              <a:buNone/>
            </a:pPr>
            <a:r>
              <a:rPr lang="en-US" sz="1400" dirty="0">
                <a:solidFill>
                  <a:schemeClr val="tx1"/>
                </a:solidFill>
              </a:rPr>
              <a:t>Value Stream Mapping (</a:t>
            </a:r>
            <a:r>
              <a:rPr lang="en-US" sz="1400" dirty="0" err="1">
                <a:solidFill>
                  <a:schemeClr val="tx1"/>
                </a:solidFill>
              </a:rPr>
              <a:t>VSMi</a:t>
            </a:r>
            <a:r>
              <a:rPr lang="en-US" sz="1400" dirty="0">
                <a:solidFill>
                  <a:schemeClr val="tx1"/>
                </a:solidFill>
              </a:rPr>
              <a:t>®)</a:t>
            </a:r>
          </a:p>
          <a:p>
            <a:pPr marL="0" indent="0" algn="r">
              <a:buNone/>
            </a:pPr>
            <a:r>
              <a:rPr lang="en-US" sz="1400" dirty="0">
                <a:solidFill>
                  <a:schemeClr val="tx1"/>
                </a:solidFill>
              </a:rPr>
              <a:t>Visual Management</a:t>
            </a:r>
          </a:p>
          <a:p>
            <a:pPr marL="0" indent="0" algn="r">
              <a:buNone/>
            </a:pPr>
            <a:r>
              <a:rPr lang="en-US" sz="1400" dirty="0">
                <a:solidFill>
                  <a:schemeClr val="tx1"/>
                </a:solidFill>
              </a:rPr>
              <a:t>Managing Daily Process Excellence</a:t>
            </a:r>
          </a:p>
        </p:txBody>
      </p:sp>
      <p:pic>
        <p:nvPicPr>
          <p:cNvPr id="11" name="Picture 10">
            <a:extLst>
              <a:ext uri="{FF2B5EF4-FFF2-40B4-BE49-F238E27FC236}">
                <a16:creationId xmlns:a16="http://schemas.microsoft.com/office/drawing/2014/main" id="{11F73560-3A07-DDBC-A93D-9C2969C3C85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220142" y="2039270"/>
            <a:ext cx="2945426" cy="1754165"/>
          </a:xfrm>
          <a:prstGeom prst="rect">
            <a:avLst/>
          </a:prstGeom>
        </p:spPr>
      </p:pic>
      <p:sp>
        <p:nvSpPr>
          <p:cNvPr id="13" name="Steve Jones">
            <a:extLst>
              <a:ext uri="{FF2B5EF4-FFF2-40B4-BE49-F238E27FC236}">
                <a16:creationId xmlns:a16="http://schemas.microsoft.com/office/drawing/2014/main" id="{32D7D26D-2286-A78A-74DF-8555FD64C346}"/>
              </a:ext>
            </a:extLst>
          </p:cNvPr>
          <p:cNvSpPr/>
          <p:nvPr/>
        </p:nvSpPr>
        <p:spPr>
          <a:xfrm>
            <a:off x="1069695" y="4201690"/>
            <a:ext cx="3475310" cy="19902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nchor="ctr">
            <a:spAutoFit/>
          </a:bodyPr>
          <a:lstStyle>
            <a:lvl1pPr defTabSz="1155700">
              <a:lnSpc>
                <a:spcPct val="80000"/>
              </a:lnSpc>
              <a:defRPr sz="3000" b="1">
                <a:solidFill>
                  <a:srgbClr val="FFFFFF"/>
                </a:solidFill>
              </a:defRPr>
            </a:lvl1pPr>
          </a:lstStyle>
          <a:p>
            <a:r>
              <a:rPr lang="en-US" sz="1600" dirty="0">
                <a:solidFill>
                  <a:srgbClr val="EE3228"/>
                </a:solidFill>
                <a:latin typeface="Roboto" panose="02000000000000000000" pitchFamily="2" charset="0"/>
                <a:ea typeface="Roboto" panose="02000000000000000000" pitchFamily="2" charset="0"/>
                <a:cs typeface="Roboto" panose="02000000000000000000" pitchFamily="2" charset="0"/>
              </a:rPr>
              <a:t>For More Information Please Contact:</a:t>
            </a:r>
          </a:p>
        </p:txBody>
      </p:sp>
      <p:sp>
        <p:nvSpPr>
          <p:cNvPr id="14" name="Head of Management Dept.">
            <a:extLst>
              <a:ext uri="{FF2B5EF4-FFF2-40B4-BE49-F238E27FC236}">
                <a16:creationId xmlns:a16="http://schemas.microsoft.com/office/drawing/2014/main" id="{13AAF857-F867-C38A-47E8-4FCE37EF32C8}"/>
              </a:ext>
            </a:extLst>
          </p:cNvPr>
          <p:cNvSpPr/>
          <p:nvPr/>
        </p:nvSpPr>
        <p:spPr>
          <a:xfrm>
            <a:off x="1367375" y="4590893"/>
            <a:ext cx="2879948" cy="838178"/>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lvl1pPr defTabSz="1155700">
              <a:defRPr sz="3000">
                <a:solidFill>
                  <a:srgbClr val="5D616E"/>
                </a:solidFill>
              </a:defRPr>
            </a:lvl1pPr>
          </a:lstStyle>
          <a:p>
            <a:pPr algn="ctr">
              <a:lnSpc>
                <a:spcPct val="90000"/>
              </a:lnSpc>
              <a:spcBef>
                <a:spcPts val="1000"/>
              </a:spcBef>
            </a:pPr>
            <a:r>
              <a:rPr lang="en-US" sz="1400" dirty="0">
                <a:solidFill>
                  <a:schemeClr val="tx1"/>
                </a:solidFill>
                <a:latin typeface="Roboto" panose="02000000000000000000" pitchFamily="2" charset="0"/>
                <a:ea typeface="Roboto" panose="02000000000000000000" pitchFamily="2" charset="0"/>
                <a:cs typeface="Roboto" panose="02000000000000000000" pitchFamily="2" charset="0"/>
              </a:rPr>
              <a:t>Mark DeLuzio, President and CEO</a:t>
            </a:r>
          </a:p>
          <a:p>
            <a:pPr algn="ctr">
              <a:lnSpc>
                <a:spcPct val="90000"/>
              </a:lnSpc>
              <a:spcBef>
                <a:spcPts val="1000"/>
              </a:spcBef>
            </a:pPr>
            <a:r>
              <a:rPr lang="en-US" sz="1400" dirty="0">
                <a:solidFill>
                  <a:schemeClr val="tx1"/>
                </a:solidFill>
                <a:latin typeface="Roboto" panose="02000000000000000000" pitchFamily="2" charset="0"/>
                <a:ea typeface="Roboto" panose="02000000000000000000" pitchFamily="2" charset="0"/>
                <a:cs typeface="Roboto" panose="02000000000000000000" pitchFamily="2" charset="0"/>
              </a:rPr>
              <a:t>+1.860.234.0915</a:t>
            </a:r>
          </a:p>
          <a:p>
            <a:pPr algn="ctr">
              <a:lnSpc>
                <a:spcPct val="90000"/>
              </a:lnSpc>
              <a:spcBef>
                <a:spcPts val="1000"/>
              </a:spcBef>
            </a:pPr>
            <a:r>
              <a:rPr lang="en-US" sz="1400" dirty="0">
                <a:solidFill>
                  <a:schemeClr val="tx1"/>
                </a:solidFill>
                <a:latin typeface="Roboto" panose="02000000000000000000" pitchFamily="2" charset="0"/>
                <a:ea typeface="Roboto" panose="02000000000000000000" pitchFamily="2" charset="0"/>
                <a:cs typeface="Roboto" panose="02000000000000000000" pitchFamily="2" charset="0"/>
              </a:rPr>
              <a:t>mark.deluzio@leanhorizons.com</a:t>
            </a:r>
            <a:endParaRPr sz="1400" dirty="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15" name="TextBox 14">
            <a:extLst>
              <a:ext uri="{FF2B5EF4-FFF2-40B4-BE49-F238E27FC236}">
                <a16:creationId xmlns:a16="http://schemas.microsoft.com/office/drawing/2014/main" id="{1729F7AC-495A-4FB8-042F-1DBECD3DB7C9}"/>
              </a:ext>
            </a:extLst>
          </p:cNvPr>
          <p:cNvSpPr txBox="1"/>
          <p:nvPr/>
        </p:nvSpPr>
        <p:spPr>
          <a:xfrm>
            <a:off x="6291" y="5619244"/>
            <a:ext cx="5602115" cy="26648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gn="ctr">
              <a:lnSpc>
                <a:spcPct val="80000"/>
              </a:lnSpc>
              <a:spcAft>
                <a:spcPct val="0"/>
              </a:spcAft>
              <a:buClrTx/>
              <a:buSzTx/>
              <a:buFontTx/>
              <a:buNone/>
            </a:pPr>
            <a:r>
              <a:rPr lang="en-US" altLang="en-US" sz="1400" i="1" dirty="0">
                <a:latin typeface="Roboto" panose="02000000000000000000" pitchFamily="2" charset="0"/>
                <a:ea typeface="Roboto" panose="02000000000000000000" pitchFamily="2" charset="0"/>
                <a:cs typeface="Roboto" panose="02000000000000000000" pitchFamily="2" charset="0"/>
              </a:rPr>
              <a:t>Strategically Creating Value Through the Elimination of Waste</a:t>
            </a:r>
            <a:endParaRPr lang="en-US" altLang="en-US" sz="1400" dirty="0">
              <a:latin typeface="Roboto" panose="02000000000000000000" pitchFamily="2" charset="0"/>
              <a:ea typeface="Roboto" panose="02000000000000000000" pitchFamily="2" charset="0"/>
              <a:cs typeface="Roboto" panose="02000000000000000000" pitchFamily="2" charset="0"/>
            </a:endParaRPr>
          </a:p>
        </p:txBody>
      </p:sp>
      <p:sp>
        <p:nvSpPr>
          <p:cNvPr id="18" name="Slide Number Placeholder 17">
            <a:extLst>
              <a:ext uri="{FF2B5EF4-FFF2-40B4-BE49-F238E27FC236}">
                <a16:creationId xmlns:a16="http://schemas.microsoft.com/office/drawing/2014/main" id="{F71C8E8F-D781-AA13-E1D1-E5284A242753}"/>
              </a:ext>
            </a:extLst>
          </p:cNvPr>
          <p:cNvSpPr>
            <a:spLocks noGrp="1"/>
          </p:cNvSpPr>
          <p:nvPr>
            <p:ph type="sldNum" sz="quarter" idx="4294967295"/>
          </p:nvPr>
        </p:nvSpPr>
        <p:spPr>
          <a:xfrm>
            <a:off x="8595078" y="6333148"/>
            <a:ext cx="2743200" cy="365125"/>
          </a:xfrm>
          <a:prstGeom prst="rect">
            <a:avLst/>
          </a:prstGeom>
        </p:spPr>
        <p:txBody>
          <a:bodyPr/>
          <a:lstStyle/>
          <a:p>
            <a:fld id="{CC6D4273-7FC1-0947-B9FE-19CB3C0D1FB6}" type="slidenum">
              <a:rPr lang="en-US" smtClean="0"/>
              <a:t>102</a:t>
            </a:fld>
            <a:endParaRPr lang="en-US" dirty="0"/>
          </a:p>
        </p:txBody>
      </p:sp>
    </p:spTree>
    <p:extLst>
      <p:ext uri="{BB962C8B-B14F-4D97-AF65-F5344CB8AC3E}">
        <p14:creationId xmlns:p14="http://schemas.microsoft.com/office/powerpoint/2010/main" val="3151529435"/>
      </p:ext>
    </p:extLst>
  </p:cSld>
  <p:clrMapOvr>
    <a:masterClrMapping/>
  </p:clrMapOvr>
</p:sld>
</file>

<file path=ppt/theme/theme1.xml><?xml version="1.0" encoding="utf-8"?>
<a:theme xmlns:a="http://schemas.openxmlformats.org/drawingml/2006/main" name="Office Theme">
  <a:themeElements>
    <a:clrScheme name="Custom 1">
      <a:dk1>
        <a:srgbClr val="000000"/>
      </a:dk1>
      <a:lt1>
        <a:srgbClr val="FFFFFF"/>
      </a:lt1>
      <a:dk2>
        <a:srgbClr val="44546A"/>
      </a:dk2>
      <a:lt2>
        <a:srgbClr val="E7E6E6"/>
      </a:lt2>
      <a:accent1>
        <a:srgbClr val="EE3228"/>
      </a:accent1>
      <a:accent2>
        <a:srgbClr val="FDCA40"/>
      </a:accent2>
      <a:accent3>
        <a:srgbClr val="939598"/>
      </a:accent3>
      <a:accent4>
        <a:srgbClr val="76939F"/>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14171</TotalTime>
  <Words>11331</Words>
  <Application>Microsoft Office PowerPoint</Application>
  <PresentationFormat>Widescreen</PresentationFormat>
  <Paragraphs>1519</Paragraphs>
  <Slides>102</Slides>
  <Notes>102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102</vt:i4>
      </vt:variant>
    </vt:vector>
  </HeadingPairs>
  <TitlesOfParts>
    <vt:vector size="109" baseType="lpstr">
      <vt:lpstr>Arial</vt:lpstr>
      <vt:lpstr>Calibri</vt:lpstr>
      <vt:lpstr>Comic Sans MS</vt:lpstr>
      <vt:lpstr>Roboto</vt:lpstr>
      <vt:lpstr>Roboto Medium</vt:lpstr>
      <vt:lpstr>Wingdings</vt:lpstr>
      <vt:lpstr>Office Theme</vt:lpstr>
      <vt:lpstr>PowerPoint Presentation</vt:lpstr>
      <vt:lpstr>PowerPoint Presentation</vt:lpstr>
      <vt:lpstr>PowerPoint Presentation</vt:lpstr>
      <vt:lpstr>Ground Rules for Event</vt:lpstr>
      <vt:lpstr>Goal of CEDAC Module</vt:lpstr>
      <vt:lpstr>Typical CEDAC Event Agenda</vt:lpstr>
      <vt:lpstr>Exercise: CEDAC Charter Review</vt:lpstr>
      <vt:lpstr>CEDAC</vt:lpstr>
      <vt:lpstr>CEDAC Defined</vt:lpstr>
      <vt:lpstr>When to Use CEDAC</vt:lpstr>
      <vt:lpstr>Steps of the CEDAC Process</vt:lpstr>
      <vt:lpstr>CEDAC Roadmap</vt:lpstr>
      <vt:lpstr>CEDAC Pre-Event Process</vt:lpstr>
      <vt:lpstr>CEDAC Event Process</vt:lpstr>
      <vt:lpstr>CEDAC Example: Cash Collection Process</vt:lpstr>
      <vt:lpstr>CEDAC Example: Cash Collection Process</vt:lpstr>
      <vt:lpstr>CEDAC Example: Cash Collection Process</vt:lpstr>
      <vt:lpstr>CEDAC Example: Cash Collection Process</vt:lpstr>
      <vt:lpstr>CEDAC Step 1 - Define the Problem</vt:lpstr>
      <vt:lpstr>Steps of the CEDAC Process</vt:lpstr>
      <vt:lpstr>Elements of a CEDAC Problem Statement</vt:lpstr>
      <vt:lpstr>Common Pitfalls in CEDAC Problem Statements</vt:lpstr>
      <vt:lpstr>Common Pitfalls in CEDAC Problem Statements</vt:lpstr>
      <vt:lpstr>Common Pitfalls in CEDAC Problem Statements</vt:lpstr>
      <vt:lpstr>CEDAC Step 1 Exercise: Critique sample problem statements</vt:lpstr>
      <vt:lpstr>Sample Problem Statements</vt:lpstr>
      <vt:lpstr>Case Study Exercise: CEDAC Step 1 – Define Problem</vt:lpstr>
      <vt:lpstr>Sample Case Study – “Spencer’s” Restaurant</vt:lpstr>
      <vt:lpstr>CEDAC Step 2 – Establish and Validate Metrics</vt:lpstr>
      <vt:lpstr>Steps of the CEDAC Process</vt:lpstr>
      <vt:lpstr>Metrics are Essential</vt:lpstr>
      <vt:lpstr>Characteristics of Appropriate Metrics</vt:lpstr>
      <vt:lpstr>Differentiate Qualitative versus Quantitative metrics</vt:lpstr>
      <vt:lpstr>Common Pitfalls to Determining Metrics</vt:lpstr>
      <vt:lpstr>CEDAC Step 2 Exercise: Critique sample metrics</vt:lpstr>
      <vt:lpstr>Exercise: Critique sample metrics</vt:lpstr>
      <vt:lpstr>Case Study Exercise: CEDAC Step 2 – Establish/Validate Metrics</vt:lpstr>
      <vt:lpstr>Sample Case Study – “Spencer’s” Restaurant</vt:lpstr>
      <vt:lpstr>CEDAC Step 3 – Determine Objective Statement</vt:lpstr>
      <vt:lpstr>Steps of the CEDAC Process</vt:lpstr>
      <vt:lpstr>Define Objective</vt:lpstr>
      <vt:lpstr>Explain Purpose of Setting the Objective</vt:lpstr>
      <vt:lpstr>Examples of Well-Defined Objectives</vt:lpstr>
      <vt:lpstr>Case Study Exercise: CEDAC Step 3 – Objective Statement</vt:lpstr>
      <vt:lpstr>Sample Case Study – “Spencer’s” Restaurant</vt:lpstr>
      <vt:lpstr>CEDAC Step 3 Exercise: Validate event charter</vt:lpstr>
      <vt:lpstr>CEDAC Step 4 - Create CEDAC Diagram</vt:lpstr>
      <vt:lpstr>Steps of the CEDAC Process</vt:lpstr>
      <vt:lpstr>Various Formats for CEDAC</vt:lpstr>
      <vt:lpstr>CEDAC Format #1 - Fishbone</vt:lpstr>
      <vt:lpstr>Steps to Construct a Fishbone Diagram</vt:lpstr>
      <vt:lpstr>CEDAC Format #2 – Process Flow Map</vt:lpstr>
      <vt:lpstr>Steps to construct a Process Flow Chart</vt:lpstr>
      <vt:lpstr>CEDAC Format #3 – Diagram of Product</vt:lpstr>
      <vt:lpstr>CEDAC Format #4 – Layout of Area</vt:lpstr>
      <vt:lpstr>Case Study Exercise: CEDAC Step 4 – Create CEDAC diagram</vt:lpstr>
      <vt:lpstr>Sample Case Study – “Spencer’s” Restaurant</vt:lpstr>
      <vt:lpstr>CEDAC Step 4 Exercise: Determine Format for CEDAC</vt:lpstr>
      <vt:lpstr>CEDAC Step 5 - Develop FACT Cards</vt:lpstr>
      <vt:lpstr>Steps of the CEDAC Process</vt:lpstr>
      <vt:lpstr>FACT Cards</vt:lpstr>
      <vt:lpstr>FACT Cards</vt:lpstr>
      <vt:lpstr>Describe the Detail and Format for a FACT Card</vt:lpstr>
      <vt:lpstr>Process for Developing and Posting FACT Cards</vt:lpstr>
      <vt:lpstr>Process for Reviewing and Numbering FACT Cards</vt:lpstr>
      <vt:lpstr>Case Study Exercise: CEDAC Step 5 – Develop FACT cards</vt:lpstr>
      <vt:lpstr>CEDAC Step 5 Exercise: Develop FACT Cards</vt:lpstr>
      <vt:lpstr>CEDAC Step 6 - Develop IMPROVEMENT Cards</vt:lpstr>
      <vt:lpstr>Steps of the CEDAC Process</vt:lpstr>
      <vt:lpstr>IMPROVEMENT Cards</vt:lpstr>
      <vt:lpstr>IMPROVEMENT Cards</vt:lpstr>
      <vt:lpstr>Linkage</vt:lpstr>
      <vt:lpstr>Describe the Detail and Format for an IMPROVEMENT Card</vt:lpstr>
      <vt:lpstr>Improvement Card Idea Generator</vt:lpstr>
      <vt:lpstr>Process for Developing and Posting IMPROVEMENT Cards</vt:lpstr>
      <vt:lpstr>Process for Reviewing and Numbering IMPROVEMENT Cards</vt:lpstr>
      <vt:lpstr>Case Study Exercise: CEDAC Step 6 – IMPROVEMENT cards</vt:lpstr>
      <vt:lpstr>Process to Incorporate Existing Actions into CEDAC Method</vt:lpstr>
      <vt:lpstr>Exercise: Take Inventory of Current Actions that are Underway</vt:lpstr>
      <vt:lpstr>CEDAC Step 6 Exercise: Develop IMPROVEMENT Cards</vt:lpstr>
      <vt:lpstr>CEDAC Step 7 - Prioritize and Act on IMPROVEMENT Cards</vt:lpstr>
      <vt:lpstr>Steps of the CEDAC Process</vt:lpstr>
      <vt:lpstr>Objectives of Prioritizing IMPROVEMENT Cards</vt:lpstr>
      <vt:lpstr>DOT System: Use consensus to agree which improvements to test</vt:lpstr>
      <vt:lpstr>Process for Prioritization of the IMPROVEMENT Cards</vt:lpstr>
      <vt:lpstr>Which Improvements to Work?</vt:lpstr>
      <vt:lpstr>Case Study Exercise: CEDAC Step 7 – Prioritize Improvements</vt:lpstr>
      <vt:lpstr>Electronic transfer of all IMPROVEMENT Card data</vt:lpstr>
      <vt:lpstr>CEDAC Step 7 Exercise: Prioritize IMPROVEMENT Cards</vt:lpstr>
      <vt:lpstr>CEDAC Step 8 - Follow-up Process through to Problem Resolution</vt:lpstr>
      <vt:lpstr>Steps of the CEDAC Process</vt:lpstr>
      <vt:lpstr>The Follow-Up Process</vt:lpstr>
      <vt:lpstr>Tracking and Management of Periodic Review Process</vt:lpstr>
      <vt:lpstr>CEDAC Step 8 Exercise: Follow-up Process</vt:lpstr>
      <vt:lpstr>Prepare for Final Report-Out to Management</vt:lpstr>
      <vt:lpstr>CEDAC Review</vt:lpstr>
      <vt:lpstr>Review - CEDAC Benefits</vt:lpstr>
      <vt:lpstr>Review - CEDAC Roadmap</vt:lpstr>
      <vt:lpstr>CEDAC Exercise: Review Key Learnings</vt:lpstr>
      <vt:lpstr>Appendix</vt:lpstr>
      <vt:lpstr>History of CEDAC</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Justin Santiago</dc:creator>
  <cp:lastModifiedBy>Scott DeLuzio</cp:lastModifiedBy>
  <cp:revision>429</cp:revision>
  <dcterms:created xsi:type="dcterms:W3CDTF">2023-02-08T22:10:20Z</dcterms:created>
  <dcterms:modified xsi:type="dcterms:W3CDTF">2023-09-29T19:51:52Z</dcterms:modified>
</cp:coreProperties>
</file>