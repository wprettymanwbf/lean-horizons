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8" r:id="rId2"/>
    <p:sldId id="259" r:id="rId3"/>
    <p:sldId id="276" r:id="rId4"/>
    <p:sldId id="277" r:id="rId5"/>
    <p:sldId id="260" r:id="rId6"/>
    <p:sldId id="278" r:id="rId7"/>
    <p:sldId id="279" r:id="rId8"/>
    <p:sldId id="280" r:id="rId9"/>
    <p:sldId id="281" r:id="rId10"/>
    <p:sldId id="282" r:id="rId11"/>
    <p:sldId id="283" r:id="rId12"/>
    <p:sldId id="261" r:id="rId13"/>
    <p:sldId id="272" r:id="rId14"/>
    <p:sldId id="262" r:id="rId15"/>
    <p:sldId id="263" r:id="rId16"/>
    <p:sldId id="264" r:id="rId17"/>
    <p:sldId id="266" r:id="rId18"/>
    <p:sldId id="267" r:id="rId19"/>
    <p:sldId id="268" r:id="rId20"/>
    <p:sldId id="269" r:id="rId21"/>
    <p:sldId id="270" r:id="rId22"/>
    <p:sldId id="265" r:id="rId23"/>
    <p:sldId id="271" r:id="rId24"/>
    <p:sldId id="273" r:id="rId25"/>
    <p:sldId id="275" r:id="rId26"/>
    <p:sldId id="2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DAB"/>
    <a:srgbClr val="222222"/>
    <a:srgbClr val="FFB627"/>
    <a:srgbClr val="177E89"/>
    <a:srgbClr val="8EDCE6"/>
    <a:srgbClr val="F1BF98"/>
    <a:srgbClr val="2EC4B6"/>
    <a:srgbClr val="BDDBD0"/>
    <a:srgbClr val="2D7DD2"/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81849" autoAdjust="0"/>
  </p:normalViewPr>
  <p:slideViewPr>
    <p:cSldViewPr snapToGrid="0">
      <p:cViewPr varScale="1">
        <p:scale>
          <a:sx n="58" d="100"/>
          <a:sy n="58" d="100"/>
        </p:scale>
        <p:origin x="78" y="6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LEAN JEOPARDY BOOT CAMP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2024.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99632B-E122-EDE0-0BAF-755FD08A2404}"/>
              </a:ext>
            </a:extLst>
          </p:cNvPr>
          <p:cNvSpPr txBox="1">
            <a:spLocks/>
          </p:cNvSpPr>
          <p:nvPr userDrawn="1"/>
        </p:nvSpPr>
        <p:spPr>
          <a:xfrm>
            <a:off x="8595078" y="63331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Lean Boot Camp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DDFCB8E-50DB-9E20-EE16-7DD24F1FD356}"/>
              </a:ext>
            </a:extLst>
          </p:cNvPr>
          <p:cNvSpPr txBox="1">
            <a:spLocks/>
          </p:cNvSpPr>
          <p:nvPr/>
        </p:nvSpPr>
        <p:spPr>
          <a:xfrm>
            <a:off x="1524000" y="4953466"/>
            <a:ext cx="9144000" cy="402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Jeopardy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eopardy! Logo">
            <a:extLst>
              <a:ext uri="{FF2B5EF4-FFF2-40B4-BE49-F238E27FC236}">
                <a16:creationId xmlns:a16="http://schemas.microsoft.com/office/drawing/2014/main" id="{429D47F7-3634-7776-027E-0946B1E5C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842" y="2383022"/>
            <a:ext cx="8768316" cy="493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4B24E7-55F4-7A7F-1660-F432370F03B3}"/>
              </a:ext>
            </a:extLst>
          </p:cNvPr>
          <p:cNvSpPr txBox="1"/>
          <p:nvPr/>
        </p:nvSpPr>
        <p:spPr>
          <a:xfrm>
            <a:off x="1412846" y="402328"/>
            <a:ext cx="9366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035DAB"/>
                </a:solidFill>
              </a:rPr>
              <a:t>Let’s Play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E3018-2D6F-1158-E4D8-A419E5A710F7}"/>
              </a:ext>
            </a:extLst>
          </p:cNvPr>
          <p:cNvSpPr txBox="1"/>
          <p:nvPr/>
        </p:nvSpPr>
        <p:spPr>
          <a:xfrm>
            <a:off x="1412846" y="1859340"/>
            <a:ext cx="9366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035DAB"/>
                </a:solidFill>
              </a:rPr>
              <a:t>Lean Boot Camp</a:t>
            </a:r>
          </a:p>
        </p:txBody>
      </p:sp>
    </p:spTree>
    <p:extLst>
      <p:ext uri="{BB962C8B-B14F-4D97-AF65-F5344CB8AC3E}">
        <p14:creationId xmlns:p14="http://schemas.microsoft.com/office/powerpoint/2010/main" val="40380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5F4DF2AC-2EB5-707C-0D01-80889D571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E5E6C2-BF3C-7D5A-47B4-12455EA09B76}"/>
              </a:ext>
            </a:extLst>
          </p:cNvPr>
          <p:cNvSpPr txBox="1"/>
          <p:nvPr/>
        </p:nvSpPr>
        <p:spPr>
          <a:xfrm>
            <a:off x="1105786" y="2083981"/>
            <a:ext cx="95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35DAB"/>
                </a:solidFill>
                <a:latin typeface="+mj-lt"/>
              </a:rPr>
              <a:t>Rules of Lean Boot Camp Jeopardy: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8142A-63EF-3070-1E65-7BA423A9590D}"/>
              </a:ext>
            </a:extLst>
          </p:cNvPr>
          <p:cNvSpPr txBox="1"/>
          <p:nvPr/>
        </p:nvSpPr>
        <p:spPr>
          <a:xfrm>
            <a:off x="1105786" y="2913321"/>
            <a:ext cx="95799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5DAB"/>
                </a:solidFill>
              </a:rPr>
              <a:t>Answer in the form of a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5DAB"/>
                </a:solidFill>
              </a:rPr>
              <a:t>All decisions are final by the 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5DAB"/>
                </a:solidFill>
              </a:rPr>
              <a:t>All questions worth 1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5DAB"/>
                </a:solidFill>
              </a:rPr>
              <a:t>Deduct a point if you are wrong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5DAB"/>
                </a:solidFill>
              </a:rPr>
              <a:t>MC keeps the score</a:t>
            </a:r>
          </a:p>
        </p:txBody>
      </p:sp>
    </p:spTree>
    <p:extLst>
      <p:ext uri="{BB962C8B-B14F-4D97-AF65-F5344CB8AC3E}">
        <p14:creationId xmlns:p14="http://schemas.microsoft.com/office/powerpoint/2010/main" val="99063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5F4DF2AC-2EB5-707C-0D01-80889D571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2254087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E5E6C2-BF3C-7D5A-47B4-12455EA09B76}"/>
              </a:ext>
            </a:extLst>
          </p:cNvPr>
          <p:cNvSpPr txBox="1"/>
          <p:nvPr/>
        </p:nvSpPr>
        <p:spPr>
          <a:xfrm>
            <a:off x="1306032" y="1930921"/>
            <a:ext cx="95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35DAB"/>
                </a:solidFill>
                <a:latin typeface="+mj-lt"/>
              </a:rPr>
              <a:t>Let’s Play!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8142A-63EF-3070-1E65-7BA423A9590D}"/>
              </a:ext>
            </a:extLst>
          </p:cNvPr>
          <p:cNvSpPr txBox="1"/>
          <p:nvPr/>
        </p:nvSpPr>
        <p:spPr>
          <a:xfrm>
            <a:off x="1306031" y="4280749"/>
            <a:ext cx="9579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35DAB"/>
                </a:solidFill>
              </a:rPr>
              <a:t>Are You Ready?</a:t>
            </a:r>
          </a:p>
        </p:txBody>
      </p:sp>
    </p:spTree>
    <p:extLst>
      <p:ext uri="{BB962C8B-B14F-4D97-AF65-F5344CB8AC3E}">
        <p14:creationId xmlns:p14="http://schemas.microsoft.com/office/powerpoint/2010/main" val="81686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Employees, Customers, and Shareholders.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Lean Trilogy?</a:t>
            </a:r>
          </a:p>
        </p:txBody>
      </p:sp>
    </p:spTree>
    <p:extLst>
      <p:ext uri="{BB962C8B-B14F-4D97-AF65-F5344CB8AC3E}">
        <p14:creationId xmlns:p14="http://schemas.microsoft.com/office/powerpoint/2010/main" val="405265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BCA8-C298-5174-71EA-6F7B49A9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14304D7C-D88D-64BC-01D2-035663ECB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3FBCD3-0B3E-57CA-994B-A7650944B31F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Those doing the work and are closest to the process.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920F1-28EC-8FBC-85B7-2E4BB4188B41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are the best people to solve problems?</a:t>
            </a:r>
          </a:p>
        </p:txBody>
      </p:sp>
    </p:spTree>
    <p:extLst>
      <p:ext uri="{BB962C8B-B14F-4D97-AF65-F5344CB8AC3E}">
        <p14:creationId xmlns:p14="http://schemas.microsoft.com/office/powerpoint/2010/main" val="65514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37E8-D606-4561-4805-38DEAEFB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36DAC1F8-92BA-C96F-D6DA-B5C8BFD0B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34F34C-06C8-06D1-331D-DFE5DB5ED29A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spectator sport.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190E2-4D06-47E9-0747-186B7217B4A2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isn’t Lean?</a:t>
            </a:r>
          </a:p>
        </p:txBody>
      </p:sp>
    </p:spTree>
    <p:extLst>
      <p:ext uri="{BB962C8B-B14F-4D97-AF65-F5344CB8AC3E}">
        <p14:creationId xmlns:p14="http://schemas.microsoft.com/office/powerpoint/2010/main" val="316970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6D5C-2CEC-9992-7F2C-022D2D10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4BE2C245-B883-5511-D325-CEEE8B7F5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B42F7E-C268-8993-526F-07F98B6E44FB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 for the better.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CE2373-A88F-CA15-2AA6-F2939F92CCF5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Kaizen?</a:t>
            </a:r>
          </a:p>
        </p:txBody>
      </p:sp>
    </p:spTree>
    <p:extLst>
      <p:ext uri="{BB962C8B-B14F-4D97-AF65-F5344CB8AC3E}">
        <p14:creationId xmlns:p14="http://schemas.microsoft.com/office/powerpoint/2010/main" val="9354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143DB-0E77-605D-BB58-2B64AAC78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A58A7482-DCE0-F345-121F-61B566A04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E19A15-C81B-2C86-88E9-8176B1BBA487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method to make our strategic imperatives a reality.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C71DE-8D76-A4C6-700D-4F09DAC66B42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Strategy Deployment (Hoshin Planning)?</a:t>
            </a:r>
          </a:p>
        </p:txBody>
      </p:sp>
    </p:spTree>
    <p:extLst>
      <p:ext uri="{BB962C8B-B14F-4D97-AF65-F5344CB8AC3E}">
        <p14:creationId xmlns:p14="http://schemas.microsoft.com/office/powerpoint/2010/main" val="238337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BF01-F0A9-5BD0-2B9D-8D04B12B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2A16D2EB-B4C6-5FB9-C9D1-1AFB32551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775E0D-60AC-FD47-4C16-80C0E38A7E00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 must be documented in order to call it this.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41846-6345-0397-3E24-61F253DCDF67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a process?</a:t>
            </a:r>
          </a:p>
        </p:txBody>
      </p:sp>
    </p:spTree>
    <p:extLst>
      <p:ext uri="{BB962C8B-B14F-4D97-AF65-F5344CB8AC3E}">
        <p14:creationId xmlns:p14="http://schemas.microsoft.com/office/powerpoint/2010/main" val="96428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0FF6-0E62-0D41-A262-D4722B6A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D59CDE5-FEB3-2BA6-B036-56724ACA8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7AD786-1AF5-C323-FA1E-D4A4004010F1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defect prevention method.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287F01-F3B0-686A-982D-E3CF2313E202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Poka Yoke?</a:t>
            </a:r>
          </a:p>
        </p:txBody>
      </p:sp>
    </p:spTree>
    <p:extLst>
      <p:ext uri="{BB962C8B-B14F-4D97-AF65-F5344CB8AC3E}">
        <p14:creationId xmlns:p14="http://schemas.microsoft.com/office/powerpoint/2010/main" val="248098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Purpose, People, Principles, Process, and Plan.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the 5 P’s of a Lean Transformation?</a:t>
            </a:r>
          </a:p>
        </p:txBody>
      </p:sp>
    </p:spTree>
    <p:extLst>
      <p:ext uri="{BB962C8B-B14F-4D97-AF65-F5344CB8AC3E}">
        <p14:creationId xmlns:p14="http://schemas.microsoft.com/office/powerpoint/2010/main" val="114239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snapshot of all actions both value-added, and non-value-added, required to bring a product or service through the main material and information flows.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Value Stream Mapping (VSM)?</a:t>
            </a:r>
          </a:p>
        </p:txBody>
      </p:sp>
    </p:spTree>
    <p:extLst>
      <p:ext uri="{BB962C8B-B14F-4D97-AF65-F5344CB8AC3E}">
        <p14:creationId xmlns:p14="http://schemas.microsoft.com/office/powerpoint/2010/main" val="157453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principle suggests roughly 80% of effects come from 20% of causes.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Pareto Principle?</a:t>
            </a:r>
          </a:p>
        </p:txBody>
      </p:sp>
    </p:spTree>
    <p:extLst>
      <p:ext uri="{BB962C8B-B14F-4D97-AF65-F5344CB8AC3E}">
        <p14:creationId xmlns:p14="http://schemas.microsoft.com/office/powerpoint/2010/main" val="21288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Takt Time, Work Sequence, Standard Work-In-Process.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the three components of Standard Work in Lean?</a:t>
            </a:r>
          </a:p>
        </p:txBody>
      </p:sp>
    </p:spTree>
    <p:extLst>
      <p:ext uri="{BB962C8B-B14F-4D97-AF65-F5344CB8AC3E}">
        <p14:creationId xmlns:p14="http://schemas.microsoft.com/office/powerpoint/2010/main" val="392173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can be no improvement without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a Standard?</a:t>
            </a:r>
          </a:p>
        </p:txBody>
      </p:sp>
    </p:spTree>
    <p:extLst>
      <p:ext uri="{BB962C8B-B14F-4D97-AF65-F5344CB8AC3E}">
        <p14:creationId xmlns:p14="http://schemas.microsoft.com/office/powerpoint/2010/main" val="411895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rate at which a product or service should be produced to meet customer demand.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Takt Time?</a:t>
            </a:r>
          </a:p>
        </p:txBody>
      </p:sp>
    </p:spTree>
    <p:extLst>
      <p:ext uri="{BB962C8B-B14F-4D97-AF65-F5344CB8AC3E}">
        <p14:creationId xmlns:p14="http://schemas.microsoft.com/office/powerpoint/2010/main" val="136452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production method where items move through the process one at a time to reduce lead time and waste.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one-piece flow?</a:t>
            </a:r>
          </a:p>
        </p:txBody>
      </p:sp>
    </p:spTree>
    <p:extLst>
      <p:ext uri="{BB962C8B-B14F-4D97-AF65-F5344CB8AC3E}">
        <p14:creationId xmlns:p14="http://schemas.microsoft.com/office/powerpoint/2010/main" val="245151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hierarchy where Safety is the most important.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Safety, Quality, Delivery, Cost (SQDC)?</a:t>
            </a:r>
          </a:p>
        </p:txBody>
      </p:sp>
    </p:spTree>
    <p:extLst>
      <p:ext uri="{BB962C8B-B14F-4D97-AF65-F5344CB8AC3E}">
        <p14:creationId xmlns:p14="http://schemas.microsoft.com/office/powerpoint/2010/main" val="310089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 refers to leveling production scheduling to minimize waste and ensure smooth 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Heijunka Level Scheduling?</a:t>
            </a:r>
          </a:p>
        </p:txBody>
      </p:sp>
    </p:spTree>
    <p:extLst>
      <p:ext uri="{BB962C8B-B14F-4D97-AF65-F5344CB8AC3E}">
        <p14:creationId xmlns:p14="http://schemas.microsoft.com/office/powerpoint/2010/main" val="428725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Producing only what is needed, when it is needed, in the quantity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Just In Time (JIT)?</a:t>
            </a:r>
          </a:p>
        </p:txBody>
      </p:sp>
    </p:spTree>
    <p:extLst>
      <p:ext uri="{BB962C8B-B14F-4D97-AF65-F5344CB8AC3E}">
        <p14:creationId xmlns:p14="http://schemas.microsoft.com/office/powerpoint/2010/main" val="138581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identify waste in manufacturing and business processes and create an actionable transformation plan.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one of the key goals of Value Stream Mapping (VSM)?</a:t>
            </a:r>
          </a:p>
        </p:txBody>
      </p:sp>
    </p:spTree>
    <p:extLst>
      <p:ext uri="{BB962C8B-B14F-4D97-AF65-F5344CB8AC3E}">
        <p14:creationId xmlns:p14="http://schemas.microsoft.com/office/powerpoint/2010/main" val="250158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one best way to perform a task.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Standard Work?</a:t>
            </a:r>
          </a:p>
        </p:txBody>
      </p:sp>
    </p:spTree>
    <p:extLst>
      <p:ext uri="{BB962C8B-B14F-4D97-AF65-F5344CB8AC3E}">
        <p14:creationId xmlns:p14="http://schemas.microsoft.com/office/powerpoint/2010/main" val="193201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eopardy! Logo">
            <a:extLst>
              <a:ext uri="{FF2B5EF4-FFF2-40B4-BE49-F238E27FC236}">
                <a16:creationId xmlns:a16="http://schemas.microsoft.com/office/drawing/2014/main" id="{429D47F7-3634-7776-027E-0946B1E5C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02" y="2354447"/>
            <a:ext cx="7836195" cy="440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6AD655-C4ED-1A54-5B24-18F8AA611114}"/>
              </a:ext>
            </a:extLst>
          </p:cNvPr>
          <p:cNvSpPr txBox="1"/>
          <p:nvPr/>
        </p:nvSpPr>
        <p:spPr>
          <a:xfrm>
            <a:off x="4323719" y="1859340"/>
            <a:ext cx="35445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solidFill>
                  <a:srgbClr val="035DAB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431181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eopardy! Logo">
            <a:extLst>
              <a:ext uri="{FF2B5EF4-FFF2-40B4-BE49-F238E27FC236}">
                <a16:creationId xmlns:a16="http://schemas.microsoft.com/office/drawing/2014/main" id="{429D47F7-3634-7776-027E-0946B1E5C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444" y="1333721"/>
            <a:ext cx="5403112" cy="303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6AD655-C4ED-1A54-5B24-18F8AA611114}"/>
              </a:ext>
            </a:extLst>
          </p:cNvPr>
          <p:cNvSpPr txBox="1"/>
          <p:nvPr/>
        </p:nvSpPr>
        <p:spPr>
          <a:xfrm>
            <a:off x="4874001" y="838614"/>
            <a:ext cx="24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35DAB"/>
                </a:solidFill>
              </a:rPr>
              <a:t>FINAL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625A1-4EC4-2529-7946-73E4EC1E8782}"/>
              </a:ext>
            </a:extLst>
          </p:cNvPr>
          <p:cNvSpPr/>
          <p:nvPr/>
        </p:nvSpPr>
        <p:spPr>
          <a:xfrm>
            <a:off x="2879651" y="4658418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People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080A8-4843-8617-D57B-42C8DAB4FDF3}"/>
              </a:ext>
            </a:extLst>
          </p:cNvPr>
          <p:cNvSpPr txBox="1"/>
          <p:nvPr/>
        </p:nvSpPr>
        <p:spPr>
          <a:xfrm>
            <a:off x="4134222" y="3642755"/>
            <a:ext cx="39235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035DAB"/>
                </a:solidFill>
              </a:rPr>
              <a:t>Category:</a:t>
            </a:r>
          </a:p>
        </p:txBody>
      </p:sp>
    </p:spTree>
    <p:extLst>
      <p:ext uri="{BB962C8B-B14F-4D97-AF65-F5344CB8AC3E}">
        <p14:creationId xmlns:p14="http://schemas.microsoft.com/office/powerpoint/2010/main" val="350029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Jeopardy! Logo">
            <a:extLst>
              <a:ext uri="{FF2B5EF4-FFF2-40B4-BE49-F238E27FC236}">
                <a16:creationId xmlns:a16="http://schemas.microsoft.com/office/drawing/2014/main" id="{D918E06E-2D83-A622-4669-5602CB36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42" y="0"/>
            <a:ext cx="4196316" cy="236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87193-BAB7-17E1-D7A2-EAE5E4D6EA28}"/>
              </a:ext>
            </a:extLst>
          </p:cNvPr>
          <p:cNvSpPr/>
          <p:nvPr/>
        </p:nvSpPr>
        <p:spPr>
          <a:xfrm>
            <a:off x="2879651" y="227536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Those who are doing the 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F970F-0EF6-B7AA-FDFE-5C943B0C6CCB}"/>
              </a:ext>
            </a:extLst>
          </p:cNvPr>
          <p:cNvSpPr/>
          <p:nvPr/>
        </p:nvSpPr>
        <p:spPr>
          <a:xfrm>
            <a:off x="2879651" y="4341627"/>
            <a:ext cx="6432698" cy="1360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is the best suited to solve problems?</a:t>
            </a:r>
          </a:p>
        </p:txBody>
      </p:sp>
    </p:spTree>
    <p:extLst>
      <p:ext uri="{BB962C8B-B14F-4D97-AF65-F5344CB8AC3E}">
        <p14:creationId xmlns:p14="http://schemas.microsoft.com/office/powerpoint/2010/main" val="278304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HC FONT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14228</TotalTime>
  <Words>431</Words>
  <Application>Microsoft Office PowerPoint</Application>
  <PresentationFormat>Widescreen</PresentationFormat>
  <Paragraphs>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397</cp:revision>
  <dcterms:created xsi:type="dcterms:W3CDTF">2023-02-08T22:10:20Z</dcterms:created>
  <dcterms:modified xsi:type="dcterms:W3CDTF">2024-11-18T20:32:47Z</dcterms:modified>
</cp:coreProperties>
</file>