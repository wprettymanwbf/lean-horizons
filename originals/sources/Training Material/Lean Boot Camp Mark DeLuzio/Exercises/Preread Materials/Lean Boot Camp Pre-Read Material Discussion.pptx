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58" r:id="rId2"/>
    <p:sldId id="283" r:id="rId3"/>
    <p:sldId id="284" r:id="rId4"/>
    <p:sldId id="285" r:id="rId5"/>
    <p:sldId id="379" r:id="rId6"/>
    <p:sldId id="362" r:id="rId7"/>
    <p:sldId id="363" r:id="rId8"/>
    <p:sldId id="376" r:id="rId9"/>
    <p:sldId id="378" r:id="rId10"/>
    <p:sldId id="377" r:id="rId11"/>
    <p:sldId id="367" r:id="rId12"/>
    <p:sldId id="368" r:id="rId13"/>
    <p:sldId id="369" r:id="rId14"/>
    <p:sldId id="374" r:id="rId15"/>
    <p:sldId id="375" r:id="rId16"/>
    <p:sldId id="372" r:id="rId17"/>
    <p:sldId id="373" r:id="rId18"/>
    <p:sldId id="380" r:id="rId19"/>
    <p:sldId id="384" r:id="rId20"/>
    <p:sldId id="381" r:id="rId21"/>
    <p:sldId id="385" r:id="rId22"/>
    <p:sldId id="382" r:id="rId23"/>
    <p:sldId id="387" r:id="rId24"/>
    <p:sldId id="383" r:id="rId25"/>
    <p:sldId id="3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0D62DF-D1BE-4D62-B120-9C4471DE3D52}">
          <p14:sldIdLst>
            <p14:sldId id="258"/>
            <p14:sldId id="283"/>
            <p14:sldId id="284"/>
            <p14:sldId id="285"/>
            <p14:sldId id="379"/>
            <p14:sldId id="362"/>
            <p14:sldId id="363"/>
            <p14:sldId id="376"/>
            <p14:sldId id="378"/>
            <p14:sldId id="377"/>
            <p14:sldId id="367"/>
            <p14:sldId id="368"/>
            <p14:sldId id="369"/>
            <p14:sldId id="374"/>
            <p14:sldId id="375"/>
            <p14:sldId id="372"/>
            <p14:sldId id="373"/>
            <p14:sldId id="380"/>
            <p14:sldId id="384"/>
            <p14:sldId id="381"/>
            <p14:sldId id="385"/>
            <p14:sldId id="382"/>
            <p14:sldId id="387"/>
            <p14:sldId id="383"/>
            <p14:sldId id="3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03" autoAdjust="0"/>
    <p:restoredTop sz="81849" autoAdjust="0"/>
  </p:normalViewPr>
  <p:slideViewPr>
    <p:cSldViewPr snapToGrid="0">
      <p:cViewPr varScale="1">
        <p:scale>
          <a:sx n="90" d="100"/>
          <a:sy n="90" d="100"/>
        </p:scale>
        <p:origin x="720" y="96"/>
      </p:cViewPr>
      <p:guideLst/>
    </p:cSldViewPr>
  </p:slideViewPr>
  <p:notesTextViewPr>
    <p:cViewPr>
      <p:scale>
        <a:sx n="3" d="2"/>
        <a:sy n="3" d="2"/>
      </p:scale>
      <p:origin x="0" y="-1044"/>
    </p:cViewPr>
  </p:notesTextViewPr>
  <p:sorterViewPr>
    <p:cViewPr varScale="1">
      <p:scale>
        <a:sx n="100" d="100"/>
        <a:sy n="100" d="100"/>
      </p:scale>
      <p:origin x="0" y="-27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10/30/2024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85DB2-A619-1360-E190-439E4DD6A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F2AA4-A7B7-9558-F9E3-241ED75AC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4B962-96A5-E631-D930-F0AF299BD1C0}"/>
              </a:ext>
            </a:extLst>
          </p:cNvPr>
          <p:cNvSpPr>
            <a:spLocks noGrp="1"/>
          </p:cNvSpPr>
          <p:nvPr>
            <p:ph type="body" idx="1"/>
          </p:nvPr>
        </p:nvSpPr>
        <p:spPr/>
        <p:txBody>
          <a:bodyPr/>
          <a:lstStyle/>
          <a:p>
            <a:pPr eaLnBrk="1" hangingPunct="1"/>
            <a:r>
              <a:rPr lang="en-US" altLang="en-US" dirty="0">
                <a:latin typeface="Times New Roman" panose="02020603050405020304" pitchFamily="18" charset="0"/>
              </a:rPr>
              <a:t>Prework: Intentional with Seating</a:t>
            </a:r>
          </a:p>
          <a:p>
            <a:pPr eaLnBrk="1" hangingPunct="1"/>
            <a:r>
              <a:rPr lang="en-US" altLang="en-US" dirty="0">
                <a:latin typeface="Times New Roman" panose="02020603050405020304" pitchFamily="18" charset="0"/>
              </a:rPr>
              <a:t>A – Check-in </a:t>
            </a:r>
          </a:p>
          <a:p>
            <a:pPr eaLnBrk="1" hangingPunct="1"/>
            <a:r>
              <a:rPr lang="en-US" altLang="en-US" dirty="0">
                <a:latin typeface="Times New Roman" panose="02020603050405020304" pitchFamily="18" charset="0"/>
              </a:rPr>
              <a:t>A - Story of how training started</a:t>
            </a:r>
          </a:p>
          <a:p>
            <a:pPr eaLnBrk="1" hangingPunct="1"/>
            <a:r>
              <a:rPr lang="en-US" altLang="en-US" dirty="0">
                <a:latin typeface="Times New Roman" panose="02020603050405020304" pitchFamily="18" charset="0"/>
              </a:rPr>
              <a:t>A – Review 3-day agenda (very briefly)</a:t>
            </a:r>
          </a:p>
          <a:p>
            <a:pPr eaLnBrk="1" hangingPunct="1"/>
            <a:r>
              <a:rPr lang="en-US" altLang="en-US" dirty="0">
                <a:latin typeface="Times New Roman" panose="02020603050405020304" pitchFamily="18" charset="0"/>
              </a:rPr>
              <a:t>A – Read promises (select based on impact to that individual)</a:t>
            </a:r>
          </a:p>
          <a:p>
            <a:pPr eaLnBrk="1" hangingPunct="1"/>
            <a:endParaRPr lang="en-US" altLang="en-US" dirty="0">
              <a:latin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BD65DA3-BD97-C1AD-7A3A-1842070FD7FD}"/>
              </a:ext>
            </a:extLst>
          </p:cNvPr>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470148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latin typeface="Arial" panose="020B0604020202020204" pitchFamily="34" charset="0"/>
              </a:rPr>
              <a:t>Question 1 – Why has it been difficult to decode the Toyota Production System (TPS) –</a:t>
            </a:r>
          </a:p>
          <a:p>
            <a:r>
              <a:rPr lang="en-US" altLang="en-US" sz="1200" b="1" dirty="0">
                <a:latin typeface="Arial" panose="020B0604020202020204" pitchFamily="34" charset="0"/>
              </a:rPr>
              <a:t>Answer – Observers confuse the tools and practices they see on their plant visits (at Toyota plants) with the system itself.  </a:t>
            </a:r>
          </a:p>
          <a:p>
            <a:r>
              <a:rPr lang="en-US" altLang="en-US" sz="1200" dirty="0">
                <a:latin typeface="Arial" panose="020B0604020202020204" pitchFamily="34" charset="0"/>
              </a:rPr>
              <a:t>Question 2 – What is the paradox of the TPS?</a:t>
            </a:r>
          </a:p>
          <a:p>
            <a:r>
              <a:rPr lang="en-US" altLang="en-US" sz="1200" b="1" dirty="0">
                <a:latin typeface="Arial" panose="020B0604020202020204" pitchFamily="34" charset="0"/>
              </a:rPr>
              <a:t>Answer – That the rigid specification is the very thing that makes the flexibility and creativity possible.  The key is to understand that the Toyota Production System creates a community of scientists.  The </a:t>
            </a:r>
            <a:r>
              <a:rPr lang="ja-JP" altLang="en-US" sz="1200" b="1" dirty="0">
                <a:latin typeface="Arial" panose="020B0604020202020204" pitchFamily="34" charset="0"/>
              </a:rPr>
              <a:t>“</a:t>
            </a:r>
            <a:r>
              <a:rPr lang="en-US" altLang="ja-JP" sz="1200" b="1" dirty="0">
                <a:latin typeface="Arial" panose="020B0604020202020204" pitchFamily="34" charset="0"/>
              </a:rPr>
              <a:t>scientific method</a:t>
            </a:r>
            <a:r>
              <a:rPr lang="ja-JP" altLang="en-US" sz="1200" b="1" dirty="0">
                <a:latin typeface="Arial" panose="020B0604020202020204" pitchFamily="34" charset="0"/>
              </a:rPr>
              <a:t>”</a:t>
            </a:r>
            <a:r>
              <a:rPr lang="en-US" altLang="ja-JP" sz="1200" b="1" dirty="0">
                <a:latin typeface="Arial" panose="020B0604020202020204" pitchFamily="34" charset="0"/>
              </a:rPr>
              <a:t> is ingrained at Toyota.</a:t>
            </a:r>
          </a:p>
          <a:p>
            <a:r>
              <a:rPr lang="en-US" altLang="en-US" sz="1200" dirty="0">
                <a:latin typeface="Arial" panose="020B0604020202020204" pitchFamily="34" charset="0"/>
              </a:rPr>
              <a:t>Question 3 – Explain how Toyota makes changes.</a:t>
            </a:r>
          </a:p>
          <a:p>
            <a:r>
              <a:rPr lang="en-US" altLang="en-US" sz="1200" b="1" dirty="0">
                <a:latin typeface="Arial" panose="020B0604020202020204" pitchFamily="34" charset="0"/>
              </a:rPr>
              <a:t>Answer – It follows the scientific method.  To make any changes Toyota uses a rigorous problem-solving process that requires a detailed assessment of the current state of affairs and a plan for improvement that is, in effect, an experimental test of the proposed changes.</a:t>
            </a:r>
          </a:p>
          <a:p>
            <a:r>
              <a:rPr lang="en-US" altLang="en-US" sz="1200" dirty="0">
                <a:latin typeface="Arial" panose="020B0604020202020204" pitchFamily="34" charset="0"/>
              </a:rPr>
              <a:t>Question 4 – What are the key elements of Rule 1?</a:t>
            </a:r>
          </a:p>
          <a:p>
            <a:r>
              <a:rPr lang="en-US" altLang="en-US" sz="1200" b="1" dirty="0">
                <a:latin typeface="Arial" panose="020B0604020202020204" pitchFamily="34" charset="0"/>
              </a:rPr>
              <a:t>Answer – All work shall be highly specified as to content, sequence, timing, and outcome.</a:t>
            </a:r>
          </a:p>
          <a:p>
            <a:r>
              <a:rPr lang="en-US" altLang="en-US" sz="1200" dirty="0">
                <a:latin typeface="Arial" panose="020B0604020202020204" pitchFamily="34" charset="0"/>
              </a:rPr>
              <a:t>Question 5 – What is the purpose of Rule 2?  What are some of tools used in Rule 2?</a:t>
            </a:r>
          </a:p>
          <a:p>
            <a:r>
              <a:rPr lang="en-US" altLang="en-US" sz="1200" b="1" dirty="0">
                <a:latin typeface="Arial" panose="020B0604020202020204" pitchFamily="34" charset="0"/>
              </a:rPr>
              <a:t>Answer – While the first rule explains how people perform their individual work activities, the second rule explains how they connect with one another.  Some of the tools include kanban; </a:t>
            </a:r>
            <a:r>
              <a:rPr lang="en-US" altLang="en-US" sz="1200" b="1" dirty="0" err="1">
                <a:latin typeface="Arial" panose="020B0604020202020204" pitchFamily="34" charset="0"/>
              </a:rPr>
              <a:t>andon</a:t>
            </a:r>
            <a:r>
              <a:rPr lang="en-US" altLang="en-US" sz="1200" b="1" dirty="0">
                <a:latin typeface="Arial" panose="020B0604020202020204" pitchFamily="34" charset="0"/>
              </a:rPr>
              <a:t>, standard containers.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639447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3A29-70CD-9330-7644-000289A68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6C9F5-33BA-3E03-D5EF-DD7A50332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7314C-91DF-562E-7A6A-AE6B79E2156C}"/>
              </a:ext>
            </a:extLst>
          </p:cNvPr>
          <p:cNvSpPr>
            <a:spLocks noGrp="1"/>
          </p:cNvSpPr>
          <p:nvPr>
            <p:ph type="body" idx="1"/>
          </p:nvPr>
        </p:nvSpPr>
        <p:spPr/>
        <p:txBody>
          <a:bodyPr/>
          <a:lstStyle/>
          <a:p>
            <a:pPr>
              <a:lnSpc>
                <a:spcPct val="90000"/>
              </a:lnSpc>
            </a:pPr>
            <a:r>
              <a:rPr lang="en-US" altLang="en-US" sz="1200" dirty="0">
                <a:latin typeface="Arial" panose="020B0604020202020204" pitchFamily="34" charset="0"/>
              </a:rPr>
              <a:t>Question 6 – How soon is a support person expected to respond and solve a problem raised by production line worker?</a:t>
            </a:r>
          </a:p>
          <a:p>
            <a:pPr>
              <a:lnSpc>
                <a:spcPct val="90000"/>
              </a:lnSpc>
            </a:pPr>
            <a:r>
              <a:rPr lang="en-US" altLang="en-US" sz="1200" b="1" dirty="0">
                <a:latin typeface="Arial" panose="020B0604020202020204" pitchFamily="34" charset="0"/>
              </a:rPr>
              <a:t>Answer – Respond immediately and resolve the problem within the worker</a:t>
            </a:r>
            <a:r>
              <a:rPr lang="ja-JP" altLang="en-US" sz="1200" b="1" dirty="0">
                <a:latin typeface="Arial" panose="020B0604020202020204" pitchFamily="34" charset="0"/>
              </a:rPr>
              <a:t>’</a:t>
            </a:r>
            <a:r>
              <a:rPr lang="en-US" altLang="ja-JP" sz="1200" b="1" dirty="0">
                <a:latin typeface="Arial" panose="020B0604020202020204" pitchFamily="34" charset="0"/>
              </a:rPr>
              <a:t>s cycle time.</a:t>
            </a:r>
          </a:p>
          <a:p>
            <a:pPr>
              <a:lnSpc>
                <a:spcPct val="90000"/>
              </a:lnSpc>
            </a:pPr>
            <a:r>
              <a:rPr lang="en-US" altLang="en-US" sz="1200" dirty="0">
                <a:latin typeface="Arial" panose="020B0604020202020204" pitchFamily="34" charset="0"/>
              </a:rPr>
              <a:t>Question 7 – In Rule 3, all production lines have to be set up so that </a:t>
            </a:r>
            <a:r>
              <a:rPr lang="en-US" altLang="en-US" sz="1200" u="sng" dirty="0">
                <a:latin typeface="Arial" panose="020B0604020202020204" pitchFamily="34" charset="0"/>
              </a:rPr>
              <a:t>every product</a:t>
            </a:r>
            <a:r>
              <a:rPr lang="en-US" altLang="en-US" sz="1200" dirty="0">
                <a:latin typeface="Arial" panose="020B0604020202020204" pitchFamily="34" charset="0"/>
              </a:rPr>
              <a:t> and </a:t>
            </a:r>
            <a:r>
              <a:rPr lang="en-US" altLang="en-US" sz="1200" u="sng" dirty="0">
                <a:latin typeface="Arial" panose="020B0604020202020204" pitchFamily="34" charset="0"/>
              </a:rPr>
              <a:t>service</a:t>
            </a:r>
            <a:r>
              <a:rPr lang="en-US" altLang="en-US" sz="1200" dirty="0">
                <a:latin typeface="Arial" panose="020B0604020202020204" pitchFamily="34" charset="0"/>
              </a:rPr>
              <a:t> flows.  By requiring that </a:t>
            </a:r>
            <a:r>
              <a:rPr lang="en-US" altLang="en-US" sz="1200" u="sng" dirty="0">
                <a:latin typeface="Arial" panose="020B0604020202020204" pitchFamily="34" charset="0"/>
              </a:rPr>
              <a:t>every product</a:t>
            </a:r>
            <a:r>
              <a:rPr lang="en-US" altLang="en-US" sz="1200" dirty="0">
                <a:latin typeface="Arial" panose="020B0604020202020204" pitchFamily="34" charset="0"/>
              </a:rPr>
              <a:t> and </a:t>
            </a:r>
            <a:r>
              <a:rPr lang="en-US" altLang="en-US" sz="1200" u="sng" dirty="0">
                <a:latin typeface="Arial" panose="020B0604020202020204" pitchFamily="34" charset="0"/>
              </a:rPr>
              <a:t>service</a:t>
            </a:r>
            <a:r>
              <a:rPr lang="en-US" altLang="en-US" sz="1200" dirty="0">
                <a:latin typeface="Arial" panose="020B0604020202020204" pitchFamily="34" charset="0"/>
              </a:rPr>
              <a:t> flows the rule ensures what?</a:t>
            </a:r>
          </a:p>
          <a:p>
            <a:pPr>
              <a:lnSpc>
                <a:spcPct val="90000"/>
              </a:lnSpc>
            </a:pPr>
            <a:r>
              <a:rPr lang="en-US" altLang="en-US" sz="1200" b="1" dirty="0">
                <a:latin typeface="Arial" panose="020B0604020202020204" pitchFamily="34" charset="0"/>
              </a:rPr>
              <a:t>Answer – The rule ensures that an experiment will occur each time a path is used.</a:t>
            </a:r>
          </a:p>
          <a:p>
            <a:pPr>
              <a:lnSpc>
                <a:spcPct val="90000"/>
              </a:lnSpc>
            </a:pPr>
            <a:r>
              <a:rPr lang="en-US" altLang="en-US" sz="1200" dirty="0">
                <a:latin typeface="Arial" panose="020B0604020202020204" pitchFamily="34" charset="0"/>
              </a:rPr>
              <a:t>Question 8 – What are the elements of Rule 4? </a:t>
            </a:r>
          </a:p>
          <a:p>
            <a:pPr>
              <a:lnSpc>
                <a:spcPct val="90000"/>
              </a:lnSpc>
            </a:pPr>
            <a:r>
              <a:rPr lang="en-US" altLang="en-US" sz="1200" b="1" dirty="0">
                <a:latin typeface="Arial" panose="020B0604020202020204" pitchFamily="34" charset="0"/>
              </a:rPr>
              <a:t>Answer – Any improvement must be made in accordance with the scientific method, under the guidance of a teacher, at the lowest possible level in the organization.</a:t>
            </a:r>
          </a:p>
          <a:p>
            <a:pPr>
              <a:lnSpc>
                <a:spcPct val="90000"/>
              </a:lnSpc>
            </a:pPr>
            <a:r>
              <a:rPr lang="en-US" altLang="en-US" sz="1200" dirty="0">
                <a:latin typeface="Arial" panose="020B0604020202020204" pitchFamily="34" charset="0"/>
              </a:rPr>
              <a:t>Question 9 – What learning did you have from Sensei </a:t>
            </a:r>
            <a:r>
              <a:rPr lang="en-US" altLang="en-US" sz="1200" dirty="0" err="1">
                <a:latin typeface="Arial" panose="020B0604020202020204" pitchFamily="34" charset="0"/>
              </a:rPr>
              <a:t>Ohba</a:t>
            </a:r>
            <a:r>
              <a:rPr lang="ja-JP" altLang="en-US" sz="1200" dirty="0">
                <a:latin typeface="Arial" panose="020B0604020202020204" pitchFamily="34" charset="0"/>
              </a:rPr>
              <a:t>’</a:t>
            </a:r>
            <a:r>
              <a:rPr lang="en-US" altLang="ja-JP" sz="1200" dirty="0">
                <a:latin typeface="Arial" panose="020B0604020202020204" pitchFamily="34" charset="0"/>
              </a:rPr>
              <a:t>s teaching to the TSSC consultant?</a:t>
            </a:r>
          </a:p>
          <a:p>
            <a:pPr>
              <a:lnSpc>
                <a:spcPct val="90000"/>
              </a:lnSpc>
            </a:pPr>
            <a:r>
              <a:rPr lang="en-US" altLang="en-US" sz="1200" b="1" dirty="0">
                <a:latin typeface="Arial" panose="020B0604020202020204" pitchFamily="34" charset="0"/>
              </a:rPr>
              <a:t>Answer – </a:t>
            </a:r>
            <a:r>
              <a:rPr lang="en-US" altLang="en-US" sz="1200" b="1" dirty="0" err="1">
                <a:latin typeface="Arial" panose="020B0604020202020204" pitchFamily="34" charset="0"/>
              </a:rPr>
              <a:t>Ohba</a:t>
            </a:r>
            <a:r>
              <a:rPr lang="en-US" altLang="en-US" sz="1200" b="1" dirty="0">
                <a:latin typeface="Arial" panose="020B0604020202020204" pitchFamily="34" charset="0"/>
              </a:rPr>
              <a:t> San was trying to show the team had not fully explored all their improvement opportunities because they had not questioned their assumptions deeply enough (5 Whys?).  Also, he was trying to show the team that their improvement activity had not been carried out as a bona fide experiment.  By setting a goal of 5 minutes for the changeover they were confusing goals with predictions based on hypotheses.  The goal was not a prediction of what they believed they would achieve through the specific improvement steps they planned to take.  Although they reduced the changeover time considerably, they had not tested the hypotheses implicit in their effort.</a:t>
            </a:r>
          </a:p>
          <a:p>
            <a:pPr>
              <a:lnSpc>
                <a:spcPct val="90000"/>
              </a:lnSpc>
            </a:pPr>
            <a:r>
              <a:rPr lang="en-US" altLang="en-US" sz="1200" dirty="0">
                <a:latin typeface="Arial" panose="020B0604020202020204" pitchFamily="34" charset="0"/>
              </a:rPr>
              <a:t>Question 10 – What are the six ideal outputs to be achieved by using the TPS?</a:t>
            </a:r>
          </a:p>
          <a:p>
            <a:pPr>
              <a:lnSpc>
                <a:spcPct val="90000"/>
              </a:lnSpc>
            </a:pPr>
            <a:r>
              <a:rPr lang="en-US" altLang="en-US" sz="1200" b="1" dirty="0">
                <a:latin typeface="Arial" panose="020B0604020202020204" pitchFamily="34" charset="0"/>
              </a:rPr>
              <a:t>Answer – The output of an ideal person, group of people, or machine:</a:t>
            </a:r>
          </a:p>
          <a:p>
            <a:pPr>
              <a:lnSpc>
                <a:spcPct val="90000"/>
              </a:lnSpc>
            </a:pPr>
            <a:r>
              <a:rPr lang="en-US" altLang="en-US" sz="1200" b="1" dirty="0">
                <a:latin typeface="Arial" panose="020B0604020202020204" pitchFamily="34" charset="0"/>
              </a:rPr>
              <a:t>is defect free (that is, it has the features and performance the customer expects);</a:t>
            </a:r>
          </a:p>
          <a:p>
            <a:pPr>
              <a:lnSpc>
                <a:spcPct val="90000"/>
              </a:lnSpc>
            </a:pPr>
            <a:r>
              <a:rPr lang="en-US" altLang="en-US" sz="1200" b="1" dirty="0">
                <a:latin typeface="Arial" panose="020B0604020202020204" pitchFamily="34" charset="0"/>
              </a:rPr>
              <a:t>can be delivered one request at a time (a batch size of one);</a:t>
            </a:r>
          </a:p>
          <a:p>
            <a:pPr>
              <a:lnSpc>
                <a:spcPct val="90000"/>
              </a:lnSpc>
            </a:pPr>
            <a:r>
              <a:rPr lang="en-US" altLang="en-US" sz="1200" b="1" dirty="0">
                <a:latin typeface="Arial" panose="020B0604020202020204" pitchFamily="34" charset="0"/>
              </a:rPr>
              <a:t>can be supplied on demand in the version requested;</a:t>
            </a:r>
          </a:p>
          <a:p>
            <a:pPr>
              <a:lnSpc>
                <a:spcPct val="90000"/>
              </a:lnSpc>
            </a:pPr>
            <a:r>
              <a:rPr lang="en-US" altLang="en-US" sz="1200" b="1" dirty="0">
                <a:latin typeface="Arial" panose="020B0604020202020204" pitchFamily="34" charset="0"/>
              </a:rPr>
              <a:t>can be delivered immediately;</a:t>
            </a:r>
          </a:p>
          <a:p>
            <a:pPr>
              <a:lnSpc>
                <a:spcPct val="90000"/>
              </a:lnSpc>
            </a:pPr>
            <a:r>
              <a:rPr lang="en-US" altLang="en-US" sz="1200" b="1" dirty="0">
                <a:latin typeface="Arial" panose="020B0604020202020204" pitchFamily="34" charset="0"/>
              </a:rPr>
              <a:t>can be produced without wasting any materials, labor, energy, or other resources (such as costs associated with inventory); </a:t>
            </a:r>
          </a:p>
          <a:p>
            <a:pPr>
              <a:lnSpc>
                <a:spcPct val="90000"/>
              </a:lnSpc>
            </a:pPr>
            <a:r>
              <a:rPr lang="en-US" altLang="en-US" sz="1200" b="1" dirty="0">
                <a:latin typeface="Arial" panose="020B0604020202020204" pitchFamily="34" charset="0"/>
              </a:rPr>
              <a:t>can be produced in a work environment that is safe physically, emotionally, and professionally for every employee.</a:t>
            </a:r>
          </a:p>
          <a:p>
            <a:pPr>
              <a:lnSpc>
                <a:spcPct val="90000"/>
              </a:lnSpc>
            </a:pPr>
            <a:endParaRPr lang="en-US" altLang="en-US" sz="1200" b="1" dirty="0">
              <a:latin typeface="Arial" panose="020B0604020202020204" pitchFamily="34" charset="0"/>
            </a:endParaRPr>
          </a:p>
        </p:txBody>
      </p:sp>
      <p:sp>
        <p:nvSpPr>
          <p:cNvPr id="4" name="Slide Number Placeholder 3">
            <a:extLst>
              <a:ext uri="{FF2B5EF4-FFF2-40B4-BE49-F238E27FC236}">
                <a16:creationId xmlns:a16="http://schemas.microsoft.com/office/drawing/2014/main" id="{37B6372C-D9F9-9765-412C-2BB9DBB309B4}"/>
              </a:ext>
            </a:extLst>
          </p:cNvPr>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703800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CD06-1317-CF31-1087-4552611DD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9AF91-B00B-BA30-0263-FF653AB03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AC858-41F3-15BB-4D46-2300E78B2133}"/>
              </a:ext>
            </a:extLst>
          </p:cNvPr>
          <p:cNvSpPr>
            <a:spLocks noGrp="1"/>
          </p:cNvSpPr>
          <p:nvPr>
            <p:ph type="body" idx="1"/>
          </p:nvPr>
        </p:nvSpPr>
        <p:spPr/>
        <p:txBody>
          <a:bodyPr/>
          <a:lstStyle/>
          <a:p>
            <a:pPr eaLnBrk="1" hangingPunct="1"/>
            <a:r>
              <a:rPr lang="en-US" altLang="en-US" dirty="0">
                <a:latin typeface="Times New Roman" panose="02020603050405020304" pitchFamily="18" charset="0"/>
              </a:rPr>
              <a:t>DBS</a:t>
            </a:r>
          </a:p>
          <a:p>
            <a:pPr eaLnBrk="1" hangingPunct="1"/>
            <a:r>
              <a:rPr lang="en-US" altLang="en-US" dirty="0" err="1">
                <a:latin typeface="Times New Roman" panose="02020603050405020304" pitchFamily="18" charset="0"/>
              </a:rPr>
              <a:t>Acquistion</a:t>
            </a:r>
            <a:r>
              <a:rPr lang="en-US" altLang="en-US" dirty="0">
                <a:latin typeface="Times New Roman" panose="02020603050405020304" pitchFamily="18" charset="0"/>
              </a:rPr>
              <a:t> – Feet on the ground</a:t>
            </a:r>
          </a:p>
          <a:p>
            <a:pPr eaLnBrk="1" hangingPunct="1"/>
            <a:endParaRPr lang="en-US" altLang="en-US" dirty="0">
              <a:latin typeface="Times New Roman" panose="02020603050405020304" pitchFamily="18" charset="0"/>
            </a:endParaRPr>
          </a:p>
          <a:p>
            <a:pPr algn="l"/>
            <a:r>
              <a:rPr lang="en-US" sz="1200" b="0" i="0" u="none" strike="noStrike" baseline="0" dirty="0">
                <a:solidFill>
                  <a:srgbClr val="333333"/>
                </a:solidFill>
                <a:latin typeface="CIDFont+F1"/>
              </a:rPr>
              <a:t>Although they have long worked in tandem, Steven and Mitchell have distinct managerial personalities.</a:t>
            </a:r>
          </a:p>
          <a:p>
            <a:pPr algn="l"/>
            <a:r>
              <a:rPr lang="en-US" sz="1200" b="0" i="0" u="none" strike="noStrike" baseline="0" dirty="0">
                <a:solidFill>
                  <a:srgbClr val="333333"/>
                </a:solidFill>
                <a:latin typeface="CIDFont+F1"/>
              </a:rPr>
              <a:t>"Steve is more strategy-oriented," says Friedman, Billings, Ramsey Group Inc. (</a:t>
            </a:r>
            <a:r>
              <a:rPr lang="en-US" sz="1200" b="0" i="0" u="none" strike="noStrike" baseline="0" dirty="0">
                <a:solidFill>
                  <a:srgbClr val="06459A"/>
                </a:solidFill>
                <a:latin typeface="CIDFont+F2"/>
              </a:rPr>
              <a:t>FBR </a:t>
            </a:r>
            <a:r>
              <a:rPr lang="en-US" sz="1200" b="0" i="0" u="none" strike="noStrike" baseline="0" dirty="0">
                <a:solidFill>
                  <a:srgbClr val="333333"/>
                </a:solidFill>
                <a:latin typeface="CIDFont+F1"/>
              </a:rPr>
              <a:t>) analyst Ned</a:t>
            </a:r>
          </a:p>
          <a:p>
            <a:pPr algn="l"/>
            <a:r>
              <a:rPr lang="en-US" sz="1200" b="0" i="0" u="none" strike="noStrike" baseline="0" dirty="0">
                <a:solidFill>
                  <a:srgbClr val="333333"/>
                </a:solidFill>
                <a:latin typeface="CIDFont+F1"/>
              </a:rPr>
              <a:t>Armstrong. "Mitch is more operations-oriented."</a:t>
            </a:r>
            <a:endParaRPr lang="en-US" altLang="en-US"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D1553413-7D23-7AF6-D136-9A940EDFB9ED}"/>
              </a:ext>
            </a:extLst>
          </p:cNvPr>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333593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AD7CD-8FB7-0EC5-BE8A-E74568B01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D0C25-DA99-B37C-5D8D-73384979D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C588A-B65F-2B69-6091-0F6E3F299397}"/>
              </a:ext>
            </a:extLst>
          </p:cNvPr>
          <p:cNvSpPr>
            <a:spLocks noGrp="1"/>
          </p:cNvSpPr>
          <p:nvPr>
            <p:ph type="body" idx="1"/>
          </p:nvPr>
        </p:nvSpPr>
        <p:spPr/>
        <p:txBody>
          <a:bodyPr/>
          <a:lstStyle/>
          <a:p>
            <a:pPr eaLnBrk="1" hangingPunct="1"/>
            <a:r>
              <a:rPr lang="en-US" altLang="en-US" dirty="0">
                <a:latin typeface="Times New Roman" panose="02020603050405020304" pitchFamily="18" charset="0"/>
              </a:rPr>
              <a:t>Prework: Intentional with Seating</a:t>
            </a:r>
          </a:p>
          <a:p>
            <a:pPr eaLnBrk="1" hangingPunct="1"/>
            <a:r>
              <a:rPr lang="en-US" altLang="en-US" dirty="0">
                <a:latin typeface="Times New Roman" panose="02020603050405020304" pitchFamily="18" charset="0"/>
              </a:rPr>
              <a:t>A – Check in </a:t>
            </a:r>
          </a:p>
          <a:p>
            <a:pPr eaLnBrk="1" hangingPunct="1"/>
            <a:r>
              <a:rPr lang="en-US" altLang="en-US" dirty="0">
                <a:latin typeface="Times New Roman" panose="02020603050405020304" pitchFamily="18" charset="0"/>
              </a:rPr>
              <a:t>A - Story of how training started</a:t>
            </a:r>
          </a:p>
          <a:p>
            <a:pPr eaLnBrk="1" hangingPunct="1"/>
            <a:r>
              <a:rPr lang="en-US" altLang="en-US" dirty="0">
                <a:latin typeface="Times New Roman" panose="02020603050405020304" pitchFamily="18" charset="0"/>
              </a:rPr>
              <a:t>A – Review 3 day agenda (very briefly)</a:t>
            </a:r>
          </a:p>
          <a:p>
            <a:pPr eaLnBrk="1" hangingPunct="1"/>
            <a:r>
              <a:rPr lang="en-US" altLang="en-US" dirty="0">
                <a:latin typeface="Times New Roman" panose="02020603050405020304" pitchFamily="18" charset="0"/>
              </a:rPr>
              <a:t>A – Read promises (select based impact to that individual)</a:t>
            </a:r>
          </a:p>
          <a:p>
            <a:pPr eaLnBrk="1" hangingPunct="1"/>
            <a:endParaRPr lang="en-US" altLang="en-US" dirty="0">
              <a:latin typeface="Times New Roman" panose="02020603050405020304" pitchFamily="18" charset="0"/>
            </a:endParaRPr>
          </a:p>
          <a:p>
            <a:pPr eaLnBrk="1" hangingPunct="1"/>
            <a:endParaRPr lang="en-US" altLang="en-US"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A99495D1-2CB2-DE6C-1634-217409E613B8}"/>
              </a:ext>
            </a:extLst>
          </p:cNvPr>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762910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516D2-A027-2D15-8303-D003C48EA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943D9-FDA3-067B-6DA7-1E15384B8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6F362-91DC-B4D7-792B-0D1945981757}"/>
              </a:ext>
            </a:extLst>
          </p:cNvPr>
          <p:cNvSpPr>
            <a:spLocks noGrp="1"/>
          </p:cNvSpPr>
          <p:nvPr>
            <p:ph type="body" idx="1"/>
          </p:nvPr>
        </p:nvSpPr>
        <p:spPr/>
        <p:txBody>
          <a:bodyPr/>
          <a:lstStyle/>
          <a:p>
            <a:pPr eaLnBrk="1" hangingPunct="1"/>
            <a:r>
              <a:rPr lang="en-US" altLang="en-US" dirty="0">
                <a:latin typeface="Times New Roman" panose="02020603050405020304" pitchFamily="18" charset="0"/>
              </a:rPr>
              <a:t>Prework: Intentional with Seating</a:t>
            </a:r>
          </a:p>
          <a:p>
            <a:pPr eaLnBrk="1" hangingPunct="1"/>
            <a:r>
              <a:rPr lang="en-US" altLang="en-US" dirty="0">
                <a:latin typeface="Times New Roman" panose="02020603050405020304" pitchFamily="18" charset="0"/>
              </a:rPr>
              <a:t>A – Check in </a:t>
            </a:r>
          </a:p>
          <a:p>
            <a:pPr eaLnBrk="1" hangingPunct="1"/>
            <a:r>
              <a:rPr lang="en-US" altLang="en-US" dirty="0">
                <a:latin typeface="Times New Roman" panose="02020603050405020304" pitchFamily="18" charset="0"/>
              </a:rPr>
              <a:t>A - Story of how training started</a:t>
            </a:r>
          </a:p>
          <a:p>
            <a:pPr eaLnBrk="1" hangingPunct="1"/>
            <a:r>
              <a:rPr lang="en-US" altLang="en-US" dirty="0">
                <a:latin typeface="Times New Roman" panose="02020603050405020304" pitchFamily="18" charset="0"/>
              </a:rPr>
              <a:t>A – Review 3 day agenda (very briefly)</a:t>
            </a:r>
          </a:p>
          <a:p>
            <a:pPr eaLnBrk="1" hangingPunct="1"/>
            <a:r>
              <a:rPr lang="en-US" altLang="en-US" dirty="0">
                <a:latin typeface="Times New Roman" panose="02020603050405020304" pitchFamily="18" charset="0"/>
              </a:rPr>
              <a:t>A – Read promises (select based impact to that individual)</a:t>
            </a:r>
          </a:p>
          <a:p>
            <a:pPr eaLnBrk="1" hangingPunct="1"/>
            <a:endParaRPr lang="en-US" altLang="en-US" dirty="0">
              <a:latin typeface="Times New Roman" panose="02020603050405020304" pitchFamily="18" charset="0"/>
            </a:endParaRPr>
          </a:p>
          <a:p>
            <a:pPr eaLnBrk="1" hangingPunct="1"/>
            <a:endParaRPr lang="en-US" altLang="en-US"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239AE83A-8529-A228-AA1B-9A39C4DA8500}"/>
              </a:ext>
            </a:extLst>
          </p:cNvPr>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161561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81B8D-726A-6833-3029-8D7677832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26007-0FBD-3306-0F5E-C57B57856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26748-7F0E-0A44-36EE-EAAC48C58699}"/>
              </a:ext>
            </a:extLst>
          </p:cNvPr>
          <p:cNvSpPr>
            <a:spLocks noGrp="1"/>
          </p:cNvSpPr>
          <p:nvPr>
            <p:ph type="body" idx="1"/>
          </p:nvPr>
        </p:nvSpPr>
        <p:spPr/>
        <p:txBody>
          <a:bodyPr/>
          <a:lstStyle/>
          <a:p>
            <a:pPr eaLnBrk="1" hangingPunct="1"/>
            <a:r>
              <a:rPr lang="en-US" altLang="en-US" dirty="0">
                <a:latin typeface="Times New Roman" panose="02020603050405020304" pitchFamily="18" charset="0"/>
              </a:rPr>
              <a:t>B – Where do you think you are today regarding TBS/CC</a:t>
            </a:r>
          </a:p>
          <a:p>
            <a:pPr eaLnBrk="1" hangingPunct="1"/>
            <a:r>
              <a:rPr lang="en-US" altLang="en-US" dirty="0">
                <a:latin typeface="Times New Roman" panose="02020603050405020304" pitchFamily="18" charset="0"/>
              </a:rPr>
              <a:t>      (record on X/Y axis TBS bottom; CC left axis)</a:t>
            </a:r>
          </a:p>
          <a:p>
            <a:pPr eaLnBrk="1" hangingPunct="1"/>
            <a:r>
              <a:rPr lang="en-US" altLang="en-US" dirty="0">
                <a:latin typeface="Times New Roman" panose="02020603050405020304" pitchFamily="18" charset="0"/>
              </a:rPr>
              <a:t>      (BP and TC post first)</a:t>
            </a:r>
          </a:p>
        </p:txBody>
      </p:sp>
      <p:sp>
        <p:nvSpPr>
          <p:cNvPr id="4" name="Slide Number Placeholder 3">
            <a:extLst>
              <a:ext uri="{FF2B5EF4-FFF2-40B4-BE49-F238E27FC236}">
                <a16:creationId xmlns:a16="http://schemas.microsoft.com/office/drawing/2014/main" id="{6D488EBC-9E7E-F62E-7EEC-151EEB085016}"/>
              </a:ext>
            </a:extLst>
          </p:cNvPr>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516166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AB7B0-23F6-BF14-78AC-9189012F9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38874-9CE3-677E-D2BF-23DB0D0E8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720AC-D1E0-F38F-8A7A-9FC1212F5824}"/>
              </a:ext>
            </a:extLst>
          </p:cNvPr>
          <p:cNvSpPr>
            <a:spLocks noGrp="1"/>
          </p:cNvSpPr>
          <p:nvPr>
            <p:ph type="body" idx="1"/>
          </p:nvPr>
        </p:nvSpPr>
        <p:spPr/>
        <p:txBody>
          <a:bodyPr/>
          <a:lstStyle/>
          <a:p>
            <a:pPr eaLnBrk="1" hangingPunct="1"/>
            <a:endParaRPr lang="en-US" altLang="en-US"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7833546A-5102-950A-19B1-48738DB0BA85}"/>
              </a:ext>
            </a:extLst>
          </p:cNvPr>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550822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1EF4B-9A2F-0D6D-D9D4-864185BDF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872DB-96D6-0C4C-7540-782C9418E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F4E65-19A4-ED60-F8D7-6946C5140D5B}"/>
              </a:ext>
            </a:extLst>
          </p:cNvPr>
          <p:cNvSpPr>
            <a:spLocks noGrp="1"/>
          </p:cNvSpPr>
          <p:nvPr>
            <p:ph type="body" idx="1"/>
          </p:nvPr>
        </p:nvSpPr>
        <p:spPr/>
        <p:txBody>
          <a:bodyPr/>
          <a:lstStyle/>
          <a:p>
            <a:pPr eaLnBrk="1" hangingPunct="1"/>
            <a:endParaRPr lang="en-US" altLang="en-US"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A9B85498-E186-CC84-5098-EAD6B9CA16F2}"/>
              </a:ext>
            </a:extLst>
          </p:cNvPr>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923996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TimesNewRomanPSMT"/>
              </a:rPr>
              <a:t>The Lean Trilogy characterizes the equilibrium that needs to exist</a:t>
            </a:r>
          </a:p>
          <a:p>
            <a:pPr algn="l"/>
            <a:r>
              <a:rPr lang="en-US" sz="1200" b="0" i="0" u="none" strike="noStrike" baseline="0" dirty="0">
                <a:latin typeface="TimesNewRomanPSMT"/>
              </a:rPr>
              <a:t>between three primary stakeholders: the Employee, the Customer</a:t>
            </a:r>
          </a:p>
          <a:p>
            <a:pPr algn="l"/>
            <a:r>
              <a:rPr lang="en-US" sz="1200" b="0" i="0" u="none" strike="noStrike" baseline="0" dirty="0">
                <a:latin typeface="TimesNewRomanPSMT"/>
              </a:rPr>
              <a:t>and the Shareholder. If the requirements of these three groups are</a:t>
            </a:r>
          </a:p>
          <a:p>
            <a:pPr algn="l"/>
            <a:r>
              <a:rPr lang="en-US" sz="1200" b="0" i="0" u="none" strike="noStrike" baseline="0" dirty="0">
                <a:latin typeface="TimesNewRomanPSMT"/>
              </a:rPr>
              <a:t>not met, the Lean Transformation will fail.</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3221694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98647-83E6-3FE7-96FD-4FC3FAC4D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D16E1-FCD4-2307-C26E-981E577F2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2BDF8-9A54-D792-507A-E9D385AB9E2E}"/>
              </a:ext>
            </a:extLst>
          </p:cNvPr>
          <p:cNvSpPr>
            <a:spLocks noGrp="1"/>
          </p:cNvSpPr>
          <p:nvPr>
            <p:ph type="body" idx="1"/>
          </p:nvPr>
        </p:nvSpPr>
        <p:spPr/>
        <p:txBody>
          <a:bodyPr/>
          <a:lstStyle/>
          <a:p>
            <a:pPr marL="342900" indent="-342900"/>
            <a:r>
              <a:rPr lang="en-US" altLang="en-US" sz="1000" dirty="0">
                <a:latin typeface="+mj-lt"/>
              </a:rPr>
              <a:t>Question 1 – </a:t>
            </a:r>
            <a:r>
              <a:rPr lang="en-US" altLang="en-US" sz="1000" b="0" dirty="0">
                <a:latin typeface="+mj-lt"/>
              </a:rPr>
              <a:t>What is Art’s main theme</a:t>
            </a:r>
          </a:p>
          <a:p>
            <a:r>
              <a:rPr lang="en-US" altLang="en-US" sz="1000" b="1" dirty="0">
                <a:latin typeface="+mj-lt"/>
              </a:rPr>
              <a:t>Answer – </a:t>
            </a:r>
            <a:r>
              <a:rPr lang="en-US" altLang="en-US" sz="1800" b="1" dirty="0">
                <a:effectLst/>
                <a:latin typeface="+mj-lt"/>
              </a:rPr>
              <a:t>A </a:t>
            </a:r>
            <a:r>
              <a:rPr lang="en-US" sz="1800" b="1" dirty="0">
                <a:effectLst/>
                <a:latin typeface="+mj-lt"/>
                <a:ea typeface="Times New Roman" panose="02020603050405020304" pitchFamily="18" charset="0"/>
              </a:rPr>
              <a:t>company can only be truly lean if the leaders are setting an example and leading the way. A lean executive does not dictate what others need to go do. A lean executive does it himself.</a:t>
            </a:r>
            <a:endParaRPr lang="en-US" sz="1000" b="1" dirty="0">
              <a:effectLst/>
              <a:latin typeface="+mj-lt"/>
              <a:ea typeface="Times New Roman" panose="02020603050405020304" pitchFamily="18" charset="0"/>
            </a:endParaRPr>
          </a:p>
          <a:p>
            <a:endParaRPr lang="en-US" altLang="en-US" sz="1000" b="1" dirty="0">
              <a:effectLst/>
              <a:latin typeface="+mj-l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b="0" dirty="0">
                <a:effectLst/>
                <a:latin typeface="+mj-lt"/>
              </a:rPr>
              <a:t>Question 2 - </a:t>
            </a:r>
            <a:r>
              <a:rPr lang="en-US" sz="1000" b="0" dirty="0"/>
              <a:t>What are the principles required to become lean?</a:t>
            </a:r>
          </a:p>
          <a:p>
            <a:r>
              <a:rPr lang="en-US" altLang="en-US" sz="1000" b="1" dirty="0">
                <a:effectLst/>
                <a:latin typeface="+mj-lt"/>
              </a:rPr>
              <a:t>Answer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Work to Takt Time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Create one-piece flow</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Utilized Standard Work</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Connect Customers to Work by Using a Pull System</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altLang="en-US" sz="1000" b="1" dirty="0">
              <a:latin typeface="+mj-lt"/>
            </a:endParaRPr>
          </a:p>
          <a:p>
            <a:pPr marL="342900" marR="0" indent="-342900"/>
            <a:r>
              <a:rPr lang="en-US" altLang="en-US" sz="1000" dirty="0">
                <a:latin typeface="+mj-lt"/>
              </a:rPr>
              <a:t>Question 3 – </a:t>
            </a:r>
            <a:r>
              <a:rPr lang="en-US" sz="1000" b="0" dirty="0"/>
              <a:t>What were the lean fundamentals from Art’s perspective?</a:t>
            </a:r>
          </a:p>
          <a:p>
            <a:pPr marL="0" marR="0" lvl="0" indent="0">
              <a:lnSpc>
                <a:spcPct val="107000"/>
              </a:lnSpc>
              <a:spcBef>
                <a:spcPts val="0"/>
              </a:spcBef>
              <a:spcAft>
                <a:spcPts val="0"/>
              </a:spcAft>
              <a:buFont typeface="Symbol" panose="05050102010706020507" pitchFamily="18" charset="2"/>
              <a:buNone/>
            </a:pPr>
            <a:r>
              <a:rPr lang="en-US" altLang="en-US" sz="1800" b="1" dirty="0">
                <a:effectLst/>
                <a:latin typeface="+mj-lt"/>
              </a:rPr>
              <a:t>Answer</a:t>
            </a:r>
          </a:p>
          <a:p>
            <a:pPr marL="800100" marR="0" lvl="1" indent="-34290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Work to Takt time</a:t>
            </a:r>
          </a:p>
          <a:p>
            <a:pPr marL="800100" marR="0" lvl="1" indent="-342900">
              <a:lnSpc>
                <a:spcPct val="107000"/>
              </a:lnSpc>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One-piece flow</a:t>
            </a:r>
          </a:p>
          <a:p>
            <a:pPr marL="800100" marR="0" lvl="1" indent="-342900">
              <a:lnSpc>
                <a:spcPct val="107000"/>
              </a:lnSpc>
              <a:spcBef>
                <a:spcPts val="0"/>
              </a:spcBef>
              <a:spcAft>
                <a:spcPts val="8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Connect the customer to the work by using a pull system </a:t>
            </a:r>
          </a:p>
          <a:p>
            <a:pPr marL="342900" marR="0" indent="-342900"/>
            <a:endParaRPr lang="en-US" sz="1000" b="0" dirty="0"/>
          </a:p>
        </p:txBody>
      </p:sp>
      <p:sp>
        <p:nvSpPr>
          <p:cNvPr id="4" name="Slide Number Placeholder 3">
            <a:extLst>
              <a:ext uri="{FF2B5EF4-FFF2-40B4-BE49-F238E27FC236}">
                <a16:creationId xmlns:a16="http://schemas.microsoft.com/office/drawing/2014/main" id="{37476C05-49C1-3699-9FD1-C416AAD782F5}"/>
              </a:ext>
            </a:extLst>
          </p:cNvPr>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136665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A8116-D6E7-54D1-F285-1B1E0CD52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0CDF3-0096-D687-FB63-C00700D2D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51DF1-6203-5268-B3B8-D6B4250FE5BE}"/>
              </a:ext>
            </a:extLst>
          </p:cNvPr>
          <p:cNvSpPr>
            <a:spLocks noGrp="1"/>
          </p:cNvSpPr>
          <p:nvPr>
            <p:ph type="body" idx="1"/>
          </p:nvPr>
        </p:nvSpPr>
        <p:spPr/>
        <p:txBody>
          <a:bodyPr/>
          <a:lstStyle/>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What is a lean leader</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Lead from the front</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Constantly insist on the lead fundamentals (takt time, one-piece flow, standard work, and pull)</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Planning for the transformation of people</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Strong leadership (lead by example and guide people back to lean fundamentals)</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Lean Leaders standard work</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Set the direction and build the organizational capability to solve problems at the root cause</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Daily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gemba</a:t>
            </a:r>
            <a:r>
              <a:rPr lang="en-US" sz="1100" dirty="0">
                <a:effectLst/>
                <a:latin typeface="Calibri" panose="020F0502020204030204" pitchFamily="34" charset="0"/>
                <a:ea typeface="Calibri" panose="020F0502020204030204" pitchFamily="34" charset="0"/>
                <a:cs typeface="Times New Roman" panose="02020603050405020304" pitchFamily="18" charset="0"/>
              </a:rPr>
              <a:t> walks and review KPIs</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Identify breakthrough and set stretch goals </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Show respect and support for all your associates</a:t>
            </a:r>
          </a:p>
          <a:p>
            <a:pPr marL="457200" marR="0" lvl="1" indent="0">
              <a:lnSpc>
                <a:spcPct val="107000"/>
              </a:lnSpc>
              <a:spcBef>
                <a:spcPts val="0"/>
              </a:spcBef>
              <a:spcAft>
                <a:spcPts val="0"/>
              </a:spcAft>
              <a:buFont typeface="Courier New" panose="02070309020205020404" pitchFamily="49" charset="0"/>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Font typeface="Courier New" panose="02070309020205020404" pitchFamily="49" charset="0"/>
              <a:buNone/>
            </a:pPr>
            <a:r>
              <a:rPr lang="en-US" sz="1100" dirty="0">
                <a:effectLst/>
                <a:latin typeface="Calibri" panose="020F0502020204030204" pitchFamily="34" charset="0"/>
                <a:ea typeface="Calibri" panose="020F0502020204030204" pitchFamily="34" charset="0"/>
                <a:cs typeface="Times New Roman" panose="02020603050405020304" pitchFamily="18" charset="0"/>
              </a:rPr>
              <a:t>Other industries</a:t>
            </a:r>
          </a:p>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Lean in Hospitals</a:t>
            </a:r>
          </a:p>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Life Insurance</a:t>
            </a:r>
          </a:p>
          <a:p>
            <a:pPr marL="342900" marR="0" lvl="0" indent="-342900">
              <a:lnSpc>
                <a:spcPct val="107000"/>
              </a:lnSpc>
              <a:spcBef>
                <a:spcPts val="0"/>
              </a:spcBef>
              <a:spcAft>
                <a:spcPts val="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Distributor / Retailer</a:t>
            </a:r>
          </a:p>
          <a:p>
            <a:pPr marL="0" marR="0" lvl="0" indent="0">
              <a:lnSpc>
                <a:spcPct val="107000"/>
              </a:lnSpc>
              <a:spcBef>
                <a:spcPts val="0"/>
              </a:spcBef>
              <a:spcAft>
                <a:spcPts val="0"/>
              </a:spcAft>
              <a:buFont typeface="Courier New" panose="02070309020205020404" pitchFamily="49" charset="0"/>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Reasons to make a lean transformation</a:t>
            </a:r>
          </a:p>
          <a:p>
            <a:pPr marL="342900" marR="0" lvl="0" indent="-342900">
              <a:lnSpc>
                <a:spcPct val="107000"/>
              </a:lnSpc>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Use lean as a strategic weapon</a:t>
            </a:r>
          </a:p>
          <a:p>
            <a:pPr marL="342900" marR="0" lvl="0" indent="-342900">
              <a:lnSpc>
                <a:spcPct val="107000"/>
              </a:lnSpc>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Responsibility to the people – creating a learning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envir</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Wiremold Strategy</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Strengthen our base operations</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100 %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ontime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50% reduction in defects</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20% prod gain</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20 inv turns</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Visual controls</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Double in size every three to five years </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Pursue selective acquisitions</a:t>
            </a:r>
          </a:p>
          <a:p>
            <a:pPr marL="742950" marR="0" lvl="1" indent="-285750">
              <a:lnSpc>
                <a:spcPct val="107000"/>
              </a:lnSpc>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QFD process products </a:t>
            </a:r>
          </a:p>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Wiremold core values</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People</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Customers</a:t>
            </a:r>
          </a:p>
          <a:p>
            <a:pPr marL="342900" marR="0" lvl="0" indent="-342900">
              <a:lnSpc>
                <a:spcPct val="107000"/>
              </a:lnSpc>
              <a:spcBef>
                <a:spcPts val="0"/>
              </a:spcBef>
              <a:spcAft>
                <a:spcPts val="0"/>
              </a:spcAft>
              <a:buFont typeface="Calibri" panose="020F0502020204030204" pitchFamily="34" charset="0"/>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Kaizen</a:t>
            </a:r>
          </a:p>
          <a:p>
            <a:pPr marL="0" marR="0" lvl="0" indent="0">
              <a:lnSpc>
                <a:spcPct val="107000"/>
              </a:lnSpc>
              <a:spcBef>
                <a:spcPts val="0"/>
              </a:spcBef>
              <a:spcAft>
                <a:spcPts val="0"/>
              </a:spcAft>
              <a:buFont typeface="Courier New" panose="02070309020205020404" pitchFamily="49" charset="0"/>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indent="-342900"/>
            <a:endParaRPr lang="en-US" sz="1000" b="0" dirty="0"/>
          </a:p>
        </p:txBody>
      </p:sp>
      <p:sp>
        <p:nvSpPr>
          <p:cNvPr id="4" name="Slide Number Placeholder 3">
            <a:extLst>
              <a:ext uri="{FF2B5EF4-FFF2-40B4-BE49-F238E27FC236}">
                <a16:creationId xmlns:a16="http://schemas.microsoft.com/office/drawing/2014/main" id="{00F20988-86DA-552A-FA43-78003CD16046}"/>
              </a:ext>
            </a:extLst>
          </p:cNvPr>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837288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DC00A-AB20-FB7B-997A-65BF4123A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8416A-D8B2-DBBE-6289-F7B7098A8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0798E-8450-682E-14F1-B60B8560BB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FCA9F7-C6E4-9615-179A-83FF790BFFA3}"/>
              </a:ext>
            </a:extLst>
          </p:cNvPr>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309506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970-26ED-EAA3-BB6A-208E1BFD8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CCAC7-1629-F37C-5D9D-F454FFE52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EF0FC-3AE4-F43F-AC4F-A3EDA35A9626}"/>
              </a:ext>
            </a:extLst>
          </p:cNvPr>
          <p:cNvSpPr>
            <a:spLocks noGrp="1"/>
          </p:cNvSpPr>
          <p:nvPr>
            <p:ph type="body" idx="1"/>
          </p:nvPr>
        </p:nvSpPr>
        <p:spPr/>
        <p:txBody>
          <a:bodyPr/>
          <a:lstStyle/>
          <a:p>
            <a:pPr marL="171450" indent="-171450">
              <a:buFont typeface="Arial" panose="020B0604020202020204" pitchFamily="34" charset="0"/>
              <a:buChar char="•"/>
            </a:pPr>
            <a:r>
              <a:rPr lang="en-US" sz="1200" b="1" dirty="0"/>
              <a:t>Question 1:</a:t>
            </a:r>
            <a:r>
              <a:rPr lang="en-US" sz="1200" dirty="0"/>
              <a:t> What is the main distinction between the Toyota Production System (TPS) and the Danaher Business System (DBS)?</a:t>
            </a:r>
          </a:p>
          <a:p>
            <a:pPr marL="628650" lvl="1" indent="-171450">
              <a:buFont typeface="Arial" panose="020B0604020202020204" pitchFamily="34" charset="0"/>
              <a:buChar char="•"/>
            </a:pPr>
            <a:r>
              <a:rPr lang="en-US" sz="1200" b="1" dirty="0"/>
              <a:t>Answer:</a:t>
            </a:r>
            <a:r>
              <a:rPr lang="en-US" sz="1200" dirty="0"/>
              <a:t> TPS is more focused on manufacturing excellence, while DBS evolved to encompass broader business functions, including finance, HR, and sales.</a:t>
            </a:r>
          </a:p>
          <a:p>
            <a:pPr marL="171450" lvl="0" indent="-171450">
              <a:buFont typeface="Arial" panose="020B0604020202020204" pitchFamily="34" charset="0"/>
              <a:buChar char="•"/>
            </a:pPr>
            <a:r>
              <a:rPr lang="en-US" sz="1200" b="1" dirty="0"/>
              <a:t>Question 2:</a:t>
            </a:r>
            <a:r>
              <a:rPr lang="en-US" sz="1200" dirty="0"/>
              <a:t> How does DBS address improvement across functions in the company?</a:t>
            </a:r>
          </a:p>
          <a:p>
            <a:pPr marL="628650" lvl="1" indent="-171450">
              <a:buFont typeface="Arial" panose="020B0604020202020204" pitchFamily="34" charset="0"/>
              <a:buChar char="•"/>
            </a:pPr>
            <a:r>
              <a:rPr lang="en-US" sz="1200" b="1" dirty="0"/>
              <a:t>Answer:</a:t>
            </a:r>
            <a:r>
              <a:rPr lang="en-US" sz="1200" dirty="0"/>
              <a:t> DBS expanded from point kaizens, which focus on single processes, to enterprise kaizens, requiring cross-functional cooperation and strategic alignment.</a:t>
            </a:r>
            <a:endParaRPr lang="en-US" sz="1000" b="0" dirty="0"/>
          </a:p>
          <a:p>
            <a:pPr marL="171450" indent="-171450">
              <a:buFont typeface="Arial" panose="020B0604020202020204" pitchFamily="34" charset="0"/>
              <a:buChar char="•"/>
            </a:pPr>
            <a:r>
              <a:rPr lang="en-US" b="1" dirty="0"/>
              <a:t>Question 3:</a:t>
            </a:r>
            <a:r>
              <a:rPr lang="en-US" dirty="0"/>
              <a:t> What role does “Policy Deployment” play in DBS?</a:t>
            </a:r>
          </a:p>
          <a:p>
            <a:pPr marL="628650" lvl="1" indent="-171450">
              <a:buFont typeface="Arial" panose="020B0604020202020204" pitchFamily="34" charset="0"/>
              <a:buChar char="•"/>
            </a:pPr>
            <a:r>
              <a:rPr lang="en-US" b="1" dirty="0"/>
              <a:t>Answer:</a:t>
            </a:r>
            <a:r>
              <a:rPr lang="en-US" dirty="0"/>
              <a:t> Policy Deployment, also called Strategy Deployment, serves as a compass to prioritize objectives and guide DBS resources toward strategic goals.</a:t>
            </a:r>
          </a:p>
          <a:p>
            <a:pPr marL="171450" lvl="0" indent="-171450">
              <a:buFont typeface="Arial" panose="020B0604020202020204" pitchFamily="34" charset="0"/>
              <a:buChar char="•"/>
            </a:pPr>
            <a:r>
              <a:rPr lang="en-US" sz="1200" b="1" dirty="0"/>
              <a:t>Question 4:</a:t>
            </a:r>
            <a:r>
              <a:rPr lang="en-US" sz="1200" b="0" dirty="0"/>
              <a:t> What was an unexpected benefit of SQDC improvements at Danaher?</a:t>
            </a:r>
          </a:p>
          <a:p>
            <a:pPr marL="628650" lvl="1" indent="-171450">
              <a:buFont typeface="Arial" panose="020B0604020202020204" pitchFamily="34" charset="0"/>
              <a:buChar char="•"/>
            </a:pPr>
            <a:r>
              <a:rPr lang="en-US" sz="1200" b="1" dirty="0"/>
              <a:t>Answer:</a:t>
            </a:r>
            <a:r>
              <a:rPr lang="en-US" sz="1200" b="0" dirty="0"/>
              <a:t> It was discovered that DBS can be used as a Growth vehicle as well.</a:t>
            </a:r>
          </a:p>
          <a:p>
            <a:pPr marL="171450" lvl="0" indent="-171450">
              <a:buFont typeface="Arial" panose="020B0604020202020204" pitchFamily="34" charset="0"/>
              <a:buChar char="•"/>
            </a:pPr>
            <a:r>
              <a:rPr lang="en-US" sz="1200" b="1" dirty="0"/>
              <a:t>Question 5:</a:t>
            </a:r>
            <a:r>
              <a:rPr lang="en-US" sz="1200" b="0" dirty="0"/>
              <a:t> Why is copying TPS or DBS ineffective for other companies?</a:t>
            </a:r>
          </a:p>
          <a:p>
            <a:pPr marL="628650" lvl="1" indent="-171450">
              <a:buFont typeface="Arial" panose="020B0604020202020204" pitchFamily="34" charset="0"/>
              <a:buChar char="•"/>
            </a:pPr>
            <a:r>
              <a:rPr lang="en-US" sz="1200" b="1" dirty="0"/>
              <a:t>Answer</a:t>
            </a:r>
            <a:r>
              <a:rPr lang="en-US" sz="1200" b="1"/>
              <a:t>:</a:t>
            </a:r>
            <a:r>
              <a:rPr lang="en-US" sz="1200" b="0"/>
              <a:t> Both </a:t>
            </a:r>
            <a:r>
              <a:rPr lang="en-US" sz="1200" b="0" dirty="0"/>
              <a:t>systems work within their respective cultures, and companies must develop their own systems rather than copying TPS or DBS directly.</a:t>
            </a:r>
          </a:p>
        </p:txBody>
      </p:sp>
      <p:sp>
        <p:nvSpPr>
          <p:cNvPr id="4" name="Slide Number Placeholder 3">
            <a:extLst>
              <a:ext uri="{FF2B5EF4-FFF2-40B4-BE49-F238E27FC236}">
                <a16:creationId xmlns:a16="http://schemas.microsoft.com/office/drawing/2014/main" id="{CB10EC7D-31DC-4E64-C82D-DB828CE3BD24}"/>
              </a:ext>
            </a:extLst>
          </p:cNvPr>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1284165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1D9C6-3193-C242-706A-B5AD65343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E8A94-C81D-B41D-EF69-178289B43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A42A2-93E1-545F-C2C8-01A8FA6F74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B7B4DA-5E65-10EA-4871-4F35056E0788}"/>
              </a:ext>
            </a:extLst>
          </p:cNvPr>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8686274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E30A-59EB-33CE-2F42-411A8BE0F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4214A-5351-6C77-7B1F-A314F0B56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02B42-AC89-6DFB-DA72-B68737CCCFC1}"/>
              </a:ext>
            </a:extLst>
          </p:cNvPr>
          <p:cNvSpPr>
            <a:spLocks noGrp="1"/>
          </p:cNvSpPr>
          <p:nvPr>
            <p:ph type="body" idx="1"/>
          </p:nvPr>
        </p:nvSpPr>
        <p:spPr/>
        <p:txBody>
          <a:bodyPr/>
          <a:lstStyle/>
          <a:p>
            <a:pPr marL="342900" marR="0" indent="-342900">
              <a:buFont typeface="Arial" panose="020B0604020202020204" pitchFamily="34" charset="0"/>
              <a:buChar char="•"/>
            </a:pPr>
            <a:r>
              <a:rPr lang="en-US" sz="1000" b="1" dirty="0"/>
              <a:t>Question 1:</a:t>
            </a:r>
            <a:r>
              <a:rPr lang="en-US" sz="1000" b="0" dirty="0"/>
              <a:t> What is the goal of Six Sigma, and how does it compare to the quality goal of TPS?</a:t>
            </a:r>
            <a:endParaRPr lang="en-US" sz="1000" b="1" dirty="0"/>
          </a:p>
          <a:p>
            <a:pPr marL="800100" marR="0" lvl="1" indent="-342900">
              <a:buFont typeface="Arial" panose="020B0604020202020204" pitchFamily="34" charset="0"/>
              <a:buChar char="•"/>
            </a:pPr>
            <a:r>
              <a:rPr lang="en-US" sz="1000" b="1" dirty="0"/>
              <a:t>Answer:</a:t>
            </a:r>
            <a:r>
              <a:rPr lang="en-US" sz="1000" b="0" dirty="0"/>
              <a:t> Six Sigma targets 3.4 defects per million, considered "World-Class." In contrast, the Toyota Production System aims for zero defects.</a:t>
            </a:r>
          </a:p>
          <a:p>
            <a:pPr marL="342900" marR="0" lvl="0" indent="-342900">
              <a:buFont typeface="Arial" panose="020B0604020202020204" pitchFamily="34" charset="0"/>
              <a:buChar char="•"/>
            </a:pPr>
            <a:r>
              <a:rPr lang="en-US" sz="1000" b="1" dirty="0"/>
              <a:t>Question 2:</a:t>
            </a:r>
            <a:r>
              <a:rPr lang="en-US" sz="1000" b="0" dirty="0"/>
              <a:t> How does Six Sigma training potentially create a divide within organizations?</a:t>
            </a:r>
          </a:p>
          <a:p>
            <a:pPr marL="800100" marR="0" lvl="1" indent="-342900">
              <a:buFont typeface="Arial" panose="020B0604020202020204" pitchFamily="34" charset="0"/>
              <a:buChar char="•"/>
            </a:pPr>
            <a:r>
              <a:rPr lang="en-US" sz="1000" b="1" dirty="0"/>
              <a:t>Answer:</a:t>
            </a:r>
            <a:r>
              <a:rPr lang="en-US" sz="1000" b="0" dirty="0"/>
              <a:t> Six Sigma’s intensive certification requirements (Black Belts, Green Belts) often lead to a divide between “haves” (certified individuals) and “have-nots” (other employees), which can exclude many from active improvement roles.</a:t>
            </a:r>
          </a:p>
          <a:p>
            <a:pPr marL="342900" marR="0" lvl="0" indent="-342900">
              <a:buFont typeface="Arial" panose="020B0604020202020204" pitchFamily="34" charset="0"/>
              <a:buChar char="•"/>
            </a:pPr>
            <a:r>
              <a:rPr lang="en-US" sz="1000" b="1" dirty="0"/>
              <a:t>Question 3:</a:t>
            </a:r>
            <a:r>
              <a:rPr lang="en-US" sz="1000" b="0" dirty="0"/>
              <a:t> What does the paper say about improving versus eliminating wasteful processes?</a:t>
            </a:r>
          </a:p>
          <a:p>
            <a:pPr marL="800100" marR="0" lvl="1" indent="-342900">
              <a:buFont typeface="Arial" panose="020B0604020202020204" pitchFamily="34" charset="0"/>
              <a:buChar char="•"/>
            </a:pPr>
            <a:r>
              <a:rPr lang="en-US" sz="1000" b="1" dirty="0"/>
              <a:t>Answer:</a:t>
            </a:r>
            <a:r>
              <a:rPr lang="en-US" sz="1000" b="0" dirty="0"/>
              <a:t> Lean focuses on identifying and eliminating wasteful processes entirely, whereas Six Sigma may attempt to improve processes that would be better eliminated.</a:t>
            </a:r>
            <a:endParaRPr lang="en-US" sz="1200" dirty="0"/>
          </a:p>
          <a:p>
            <a:pPr marL="342900" marR="0" lvl="0" indent="-342900">
              <a:buFont typeface="Arial" panose="020B0604020202020204" pitchFamily="34" charset="0"/>
              <a:buChar char="•"/>
            </a:pPr>
            <a:r>
              <a:rPr lang="en-US" sz="1000" b="1" dirty="0"/>
              <a:t>Question 4:</a:t>
            </a:r>
            <a:r>
              <a:rPr lang="en-US" sz="1000" b="0" dirty="0"/>
              <a:t> What is a fundamental flaw in using Six Sigma as the </a:t>
            </a:r>
            <a:r>
              <a:rPr lang="en-US" sz="1000" dirty="0"/>
              <a:t>primary</a:t>
            </a:r>
            <a:r>
              <a:rPr lang="en-US" sz="1000" b="0" dirty="0"/>
              <a:t> driver of continuous improvement?</a:t>
            </a:r>
            <a:endParaRPr lang="en-US" sz="1000" b="1" dirty="0"/>
          </a:p>
          <a:p>
            <a:pPr marL="800100" marR="0" lvl="1" indent="-342900">
              <a:buFont typeface="Arial" panose="020B0604020202020204" pitchFamily="34" charset="0"/>
              <a:buChar char="•"/>
            </a:pPr>
            <a:r>
              <a:rPr lang="en-US" sz="1000" b="1" dirty="0"/>
              <a:t>Answer:</a:t>
            </a:r>
            <a:r>
              <a:rPr lang="en-US" sz="1000" b="0" dirty="0"/>
              <a:t> The author argues that Six Sigma cannot foster a cultural transformation because it is a tool, not a set of guiding values or principles essential for sustainable improvement.</a:t>
            </a:r>
          </a:p>
          <a:p>
            <a:pPr marL="342900" marR="0" lvl="0" indent="-342900">
              <a:buFont typeface="Arial" panose="020B0604020202020204" pitchFamily="34" charset="0"/>
              <a:buChar char="•"/>
            </a:pPr>
            <a:r>
              <a:rPr lang="en-US" sz="1000" b="1" dirty="0"/>
              <a:t>Question 5:</a:t>
            </a:r>
            <a:r>
              <a:rPr lang="en-US" sz="1000" b="0" dirty="0"/>
              <a:t> </a:t>
            </a:r>
          </a:p>
          <a:p>
            <a:pPr marL="800100" marR="0" lvl="1" indent="-342900">
              <a:buFont typeface="Arial" panose="020B0604020202020204" pitchFamily="34" charset="0"/>
              <a:buChar char="•"/>
            </a:pPr>
            <a:r>
              <a:rPr lang="en-US" sz="1000" b="1" dirty="0"/>
              <a:t>Answer:</a:t>
            </a:r>
            <a:r>
              <a:rPr lang="en-US" sz="1000" b="0" dirty="0"/>
              <a:t> </a:t>
            </a:r>
            <a:endParaRPr lang="en-US" sz="1000" b="1" dirty="0"/>
          </a:p>
        </p:txBody>
      </p:sp>
      <p:sp>
        <p:nvSpPr>
          <p:cNvPr id="4" name="Slide Number Placeholder 3">
            <a:extLst>
              <a:ext uri="{FF2B5EF4-FFF2-40B4-BE49-F238E27FC236}">
                <a16:creationId xmlns:a16="http://schemas.microsoft.com/office/drawing/2014/main" id="{2B8C3751-F5DC-B3EE-3EC0-96098523AF31}"/>
              </a:ext>
            </a:extLst>
          </p:cNvPr>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95218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9C553-FF27-EBE7-F932-FDAE9564D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C8FCA-FA3A-6154-824F-DEEFB5617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F3DDD-BF55-9CD5-0628-1B8C5CE4B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A8767E-C1A5-26E3-8AD5-11497F05893F}"/>
              </a:ext>
            </a:extLst>
          </p:cNvPr>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208872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8405C-20EE-E790-FFF0-541F510FE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2C67-F86F-E816-59B5-3FAB1A2B9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BAE13-036F-F073-271F-18EB58838142}"/>
              </a:ext>
            </a:extLst>
          </p:cNvPr>
          <p:cNvSpPr>
            <a:spLocks noGrp="1"/>
          </p:cNvSpPr>
          <p:nvPr>
            <p:ph type="body" idx="1"/>
          </p:nvPr>
        </p:nvSpPr>
        <p:spPr/>
        <p:txBody>
          <a:bodyPr/>
          <a:lstStyle/>
          <a:p>
            <a:pPr marL="342900" marR="0" indent="-342900">
              <a:buFont typeface="Arial" panose="020B0604020202020204" pitchFamily="34" charset="0"/>
              <a:buChar char="•"/>
            </a:pPr>
            <a:r>
              <a:rPr lang="en-US" sz="1000" b="1" dirty="0"/>
              <a:t>Question 1:</a:t>
            </a:r>
            <a:r>
              <a:rPr lang="en-US" sz="1000" b="0" dirty="0"/>
              <a:t> What is the primary focus of Strategy Deployment within an organization?</a:t>
            </a:r>
            <a:endParaRPr lang="en-US" sz="1000" b="1" dirty="0"/>
          </a:p>
          <a:p>
            <a:pPr marL="800100" marR="0" lvl="1" indent="-342900">
              <a:buFont typeface="Arial" panose="020B0604020202020204" pitchFamily="34" charset="0"/>
              <a:buChar char="•"/>
            </a:pPr>
            <a:r>
              <a:rPr lang="en-US" sz="1000" b="1" dirty="0"/>
              <a:t>Answer:</a:t>
            </a:r>
            <a:r>
              <a:rPr lang="en-US" sz="1000" b="0" dirty="0"/>
              <a:t> Strategy Deployment focuses on implementing a few key strategic imperatives at breakthrough levels, working “on” the business rather than “in” it.</a:t>
            </a:r>
          </a:p>
          <a:p>
            <a:pPr marL="342900" marR="0" lvl="0" indent="-342900">
              <a:buFont typeface="Arial" panose="020B0604020202020204" pitchFamily="34" charset="0"/>
              <a:buChar char="•"/>
            </a:pPr>
            <a:r>
              <a:rPr lang="en-US" sz="1000" b="1" dirty="0"/>
              <a:t>Question 2:</a:t>
            </a:r>
            <a:r>
              <a:rPr lang="en-US" sz="1000" b="0" dirty="0"/>
              <a:t> How does Daily Management (DM) differ from Strategy Deployment in terms of organizational involvement?</a:t>
            </a:r>
          </a:p>
          <a:p>
            <a:pPr marL="800100" marR="0" lvl="1" indent="-342900">
              <a:buFont typeface="Arial" panose="020B0604020202020204" pitchFamily="34" charset="0"/>
              <a:buChar char="•"/>
            </a:pPr>
            <a:r>
              <a:rPr lang="en-US" sz="1000" b="1" dirty="0"/>
              <a:t>Answer:</a:t>
            </a:r>
            <a:r>
              <a:rPr lang="en-US" sz="1000" b="0" dirty="0"/>
              <a:t> DM involves nearly everyone in the organization, particularly frontline associates and supervisors, whereas SD typically involves senior and middle management.</a:t>
            </a:r>
          </a:p>
          <a:p>
            <a:pPr marL="342900" marR="0" lvl="0" indent="-342900">
              <a:buFont typeface="Arial" panose="020B0604020202020204" pitchFamily="34" charset="0"/>
              <a:buChar char="•"/>
            </a:pPr>
            <a:r>
              <a:rPr lang="en-US" sz="1000" b="1" dirty="0"/>
              <a:t>Question 3:</a:t>
            </a:r>
            <a:r>
              <a:rPr lang="en-US" sz="1000" b="0" dirty="0"/>
              <a:t> </a:t>
            </a:r>
            <a:r>
              <a:rPr lang="en-US" sz="1200" dirty="0"/>
              <a:t>How does a strong Daily Management system support Strategy Deployment?</a:t>
            </a:r>
            <a:endParaRPr lang="en-US" sz="1000" b="0" dirty="0"/>
          </a:p>
          <a:p>
            <a:pPr marL="800100" marR="0" lvl="1" indent="-342900">
              <a:buFont typeface="Arial" panose="020B0604020202020204" pitchFamily="34" charset="0"/>
              <a:buChar char="•"/>
            </a:pPr>
            <a:r>
              <a:rPr lang="en-US" sz="1000" b="1" dirty="0"/>
              <a:t>Answer:</a:t>
            </a:r>
            <a:r>
              <a:rPr lang="en-US" sz="1000" b="0" dirty="0"/>
              <a:t> </a:t>
            </a:r>
            <a:r>
              <a:rPr lang="en-US" sz="1200" dirty="0"/>
              <a:t>A strong DM system allows senior leadership to focus on SD without getting bogged down by daily issues, enabling them to dedicate time to strategic initiatives.</a:t>
            </a:r>
          </a:p>
          <a:p>
            <a:pPr marL="342900" marR="0" lvl="0" indent="-342900">
              <a:buFont typeface="Arial" panose="020B0604020202020204" pitchFamily="34" charset="0"/>
              <a:buChar char="•"/>
            </a:pPr>
            <a:r>
              <a:rPr lang="en-US" sz="1000" b="1" dirty="0"/>
              <a:t>Question 4:</a:t>
            </a:r>
            <a:r>
              <a:rPr lang="en-US" sz="1000" b="0" dirty="0"/>
              <a:t> How does Strategy Deployment create “alignment and focus” within the organization?</a:t>
            </a:r>
            <a:endParaRPr lang="en-US" sz="1000" b="1" dirty="0"/>
          </a:p>
          <a:p>
            <a:pPr marL="800100" marR="0" lvl="1" indent="-342900">
              <a:buFont typeface="Arial" panose="020B0604020202020204" pitchFamily="34" charset="0"/>
              <a:buChar char="•"/>
            </a:pPr>
            <a:r>
              <a:rPr lang="en-US" sz="1000" b="1" dirty="0"/>
              <a:t>Answer:</a:t>
            </a:r>
            <a:r>
              <a:rPr lang="en-US" sz="1000" b="0" dirty="0"/>
              <a:t> SD allows the organization to prioritize a few critical initiatives, ensuring that resources are directed toward achieving strategic goals effectively.</a:t>
            </a:r>
          </a:p>
          <a:p>
            <a:pPr marL="342900" marR="0" lvl="0" indent="-342900">
              <a:buFont typeface="Arial" panose="020B0604020202020204" pitchFamily="34" charset="0"/>
              <a:buChar char="•"/>
            </a:pPr>
            <a:r>
              <a:rPr lang="en-US" sz="1000" b="1" dirty="0"/>
              <a:t>Question 5:</a:t>
            </a:r>
            <a:r>
              <a:rPr lang="en-US" sz="1000" b="0" dirty="0"/>
              <a:t> Why is it often challenging for leaders to limit involvement in Strategy Deployment to select team members?</a:t>
            </a:r>
          </a:p>
          <a:p>
            <a:pPr marL="800100" marR="0" lvl="1" indent="-342900">
              <a:buFont typeface="Arial" panose="020B0604020202020204" pitchFamily="34" charset="0"/>
              <a:buChar char="•"/>
            </a:pPr>
            <a:r>
              <a:rPr lang="en-US" sz="1000" b="1" dirty="0"/>
              <a:t>Answer:</a:t>
            </a:r>
            <a:r>
              <a:rPr lang="en-US" sz="1000" b="0" dirty="0"/>
              <a:t> Leaders may feel that limiting involvement could make employees feel left out, but SD requires selective involvement to maintain strategic focus.</a:t>
            </a:r>
            <a:endParaRPr lang="en-US" sz="1000" b="1" dirty="0"/>
          </a:p>
        </p:txBody>
      </p:sp>
      <p:sp>
        <p:nvSpPr>
          <p:cNvPr id="4" name="Slide Number Placeholder 3">
            <a:extLst>
              <a:ext uri="{FF2B5EF4-FFF2-40B4-BE49-F238E27FC236}">
                <a16:creationId xmlns:a16="http://schemas.microsoft.com/office/drawing/2014/main" id="{A617802D-AB51-9DF7-DFE5-F9B59354551C}"/>
              </a:ext>
            </a:extLst>
          </p:cNvPr>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223830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2BC0-E8BC-C716-90B8-3B16946DF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78620-6B7A-BF08-95E3-E6D2E5287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93E86-098D-E189-4FF0-73D0B8CDFD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CACEFB-2140-03D4-8E75-8479070039E4}"/>
              </a:ext>
            </a:extLst>
          </p:cNvPr>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1087251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D0A80-C0CD-0CEA-F79F-8C41D637F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1E894-E8C0-9D0D-78D3-B9E786D88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DF4BD-933F-9396-0E51-C588F42AA132}"/>
              </a:ext>
            </a:extLst>
          </p:cNvPr>
          <p:cNvSpPr>
            <a:spLocks noGrp="1"/>
          </p:cNvSpPr>
          <p:nvPr>
            <p:ph type="body" idx="1"/>
          </p:nvPr>
        </p:nvSpPr>
        <p:spPr/>
        <p:txBody>
          <a:bodyPr/>
          <a:lstStyle/>
          <a:p>
            <a:pPr marL="342900" marR="0" indent="-342900">
              <a:buFont typeface="Arial" panose="020B0604020202020204" pitchFamily="34" charset="0"/>
              <a:buChar char="•"/>
            </a:pPr>
            <a:r>
              <a:rPr lang="en-US" sz="1000" b="1" dirty="0"/>
              <a:t>Question 1:</a:t>
            </a:r>
            <a:r>
              <a:rPr lang="en-US" sz="1000" b="0" dirty="0"/>
              <a:t> What is the Respect for People (RFP) principle?</a:t>
            </a:r>
          </a:p>
          <a:p>
            <a:pPr marL="800100" marR="0" lvl="1" indent="-342900">
              <a:buFont typeface="Arial" panose="020B0604020202020204" pitchFamily="34" charset="0"/>
              <a:buChar char="•"/>
            </a:pPr>
            <a:r>
              <a:rPr lang="en-US" sz="1000" b="1" dirty="0"/>
              <a:t>Answer:</a:t>
            </a:r>
            <a:r>
              <a:rPr lang="en-US" sz="1000" b="0" dirty="0"/>
              <a:t> RFP emphasizes valuing people as a fundamental aspect of continuous improvement, stating that "making things means making people.“</a:t>
            </a:r>
          </a:p>
          <a:p>
            <a:pPr marL="342900" marR="0" lvl="0" indent="-342900">
              <a:buFont typeface="Arial" panose="020B0604020202020204" pitchFamily="34" charset="0"/>
              <a:buChar char="•"/>
            </a:pPr>
            <a:r>
              <a:rPr lang="en-US" sz="1000" b="1" dirty="0"/>
              <a:t>Question 2:</a:t>
            </a:r>
            <a:r>
              <a:rPr lang="en-US" sz="1000" b="0" dirty="0"/>
              <a:t> What is the role of Jidoka with Respect for People principle?</a:t>
            </a:r>
          </a:p>
          <a:p>
            <a:pPr marL="800100" marR="0" lvl="1" indent="-342900">
              <a:buFont typeface="Arial" panose="020B0604020202020204" pitchFamily="34" charset="0"/>
              <a:buChar char="•"/>
            </a:pPr>
            <a:r>
              <a:rPr lang="en-US" sz="1000" b="1" dirty="0"/>
              <a:t>Answer:</a:t>
            </a:r>
            <a:r>
              <a:rPr lang="en-US" sz="1000" b="0" dirty="0"/>
              <a:t> Jidoka, or automation with a human touch, recognizes that it isn’t practical or fair to expect operators to consistently (or constantly) detect defects.</a:t>
            </a:r>
          </a:p>
          <a:p>
            <a:pPr marL="342900" marR="0" lvl="0" indent="-342900">
              <a:buFont typeface="Arial" panose="020B0604020202020204" pitchFamily="34" charset="0"/>
              <a:buChar char="•"/>
            </a:pPr>
            <a:r>
              <a:rPr lang="en-US" sz="1000" b="1" dirty="0"/>
              <a:t>Question 3:</a:t>
            </a:r>
            <a:r>
              <a:rPr lang="en-US" sz="1000" b="0" dirty="0"/>
              <a:t> What did the research find about employees' experience with Kaizen?</a:t>
            </a:r>
          </a:p>
          <a:p>
            <a:pPr marL="800100" marR="0" lvl="1" indent="-342900">
              <a:buFont typeface="Arial" panose="020B0604020202020204" pitchFamily="34" charset="0"/>
              <a:buChar char="•"/>
            </a:pPr>
            <a:r>
              <a:rPr lang="en-US" sz="1000" b="1" dirty="0"/>
              <a:t>Answer:</a:t>
            </a:r>
            <a:r>
              <a:rPr lang="en-US" sz="1000" b="0" dirty="0"/>
              <a:t> Toyota received high scores based on the higher level of employee participation in Kaizen events which resulted in higher attitude, motivation, job satisfaction, and morale levels. Given these favorable outcomes, a conclusion can be made that participation in Kaizen events supports the RFP principle.</a:t>
            </a:r>
          </a:p>
          <a:p>
            <a:pPr marL="342900" marR="0" lvl="0" indent="-342900">
              <a:buFont typeface="Arial" panose="020B0604020202020204" pitchFamily="34" charset="0"/>
              <a:buChar char="•"/>
            </a:pPr>
            <a:r>
              <a:rPr lang="en-US" sz="1000" b="1" dirty="0"/>
              <a:t>Question 4:</a:t>
            </a:r>
            <a:r>
              <a:rPr lang="en-US" sz="1000" b="0" dirty="0"/>
              <a:t> What concern does the RFP principle raise regarding productivity improvements?</a:t>
            </a:r>
          </a:p>
          <a:p>
            <a:pPr marL="800100" marR="0" lvl="1" indent="-342900">
              <a:buFont typeface="Arial" panose="020B0604020202020204" pitchFamily="34" charset="0"/>
              <a:buChar char="•"/>
            </a:pPr>
            <a:r>
              <a:rPr lang="en-US" sz="1000" b="1" dirty="0"/>
              <a:t>Answer:</a:t>
            </a:r>
            <a:r>
              <a:rPr lang="en-US" sz="1000" b="0" dirty="0"/>
              <a:t> RFP raises the concern of job security, as productivity improvements may reduce the need for certain roles, creating anxiety among employees unless addressed with policies like no-layoff pledges.</a:t>
            </a:r>
            <a:endParaRPr lang="en-US" sz="1000" b="1" dirty="0"/>
          </a:p>
        </p:txBody>
      </p:sp>
      <p:sp>
        <p:nvSpPr>
          <p:cNvPr id="4" name="Slide Number Placeholder 3">
            <a:extLst>
              <a:ext uri="{FF2B5EF4-FFF2-40B4-BE49-F238E27FC236}">
                <a16:creationId xmlns:a16="http://schemas.microsoft.com/office/drawing/2014/main" id="{4A2006B6-E8FB-4938-3403-28E5CF1E82B5}"/>
              </a:ext>
            </a:extLst>
          </p:cNvPr>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5376561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PRESENTATION TITLE GOES HERE</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2024.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5" name="Slide Number Placeholder 5">
            <a:extLst>
              <a:ext uri="{FF2B5EF4-FFF2-40B4-BE49-F238E27FC236}">
                <a16:creationId xmlns:a16="http://schemas.microsoft.com/office/drawing/2014/main" id="{1099632B-E122-EDE0-0BAF-755FD08A2404}"/>
              </a:ext>
            </a:extLst>
          </p:cNvPr>
          <p:cNvSpPr txBox="1">
            <a:spLocks/>
          </p:cNvSpPr>
          <p:nvPr userDrawn="1"/>
        </p:nvSpPr>
        <p:spPr>
          <a:xfrm>
            <a:off x="8595078" y="63331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Lean Boot Camp</a:t>
            </a:r>
          </a:p>
        </p:txBody>
      </p:sp>
      <p:sp>
        <p:nvSpPr>
          <p:cNvPr id="2" name="Subtitle 2">
            <a:extLst>
              <a:ext uri="{FF2B5EF4-FFF2-40B4-BE49-F238E27FC236}">
                <a16:creationId xmlns:a16="http://schemas.microsoft.com/office/drawing/2014/main" id="{EDDFCB8E-50DB-9E20-EE16-7DD24F1FD356}"/>
              </a:ext>
            </a:extLst>
          </p:cNvPr>
          <p:cNvSpPr txBox="1">
            <a:spLocks/>
          </p:cNvSpPr>
          <p:nvPr/>
        </p:nvSpPr>
        <p:spPr>
          <a:xfrm>
            <a:off x="1524000" y="4953466"/>
            <a:ext cx="9144000" cy="4021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Pre-Read Material Discussion</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6D3DD-6CEF-48BB-E1C3-DB520C617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E514B-C397-BCD3-7261-DB6619BE9FF9}"/>
              </a:ext>
            </a:extLst>
          </p:cNvPr>
          <p:cNvSpPr>
            <a:spLocks noGrp="1"/>
          </p:cNvSpPr>
          <p:nvPr>
            <p:ph type="title"/>
          </p:nvPr>
        </p:nvSpPr>
        <p:spPr/>
        <p:txBody>
          <a:bodyPr/>
          <a:lstStyle/>
          <a:p>
            <a:r>
              <a:rPr lang="en-US" dirty="0"/>
              <a:t>Decoding the DNA of the Toyota Production System</a:t>
            </a:r>
          </a:p>
        </p:txBody>
      </p:sp>
      <p:sp>
        <p:nvSpPr>
          <p:cNvPr id="3" name="Text Placeholder 2">
            <a:extLst>
              <a:ext uri="{FF2B5EF4-FFF2-40B4-BE49-F238E27FC236}">
                <a16:creationId xmlns:a16="http://schemas.microsoft.com/office/drawing/2014/main" id="{60059C5C-450F-4443-5801-97497FDDB954}"/>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2775770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56BC-1129-25E9-7DB4-6396F65BDAE6}"/>
              </a:ext>
            </a:extLst>
          </p:cNvPr>
          <p:cNvSpPr>
            <a:spLocks noGrp="1"/>
          </p:cNvSpPr>
          <p:nvPr>
            <p:ph type="title"/>
          </p:nvPr>
        </p:nvSpPr>
        <p:spPr/>
        <p:txBody>
          <a:bodyPr>
            <a:noAutofit/>
          </a:bodyPr>
          <a:lstStyle/>
          <a:p>
            <a:r>
              <a:rPr lang="en-US" sz="3200" dirty="0"/>
              <a:t>Decoding the DNA of the Toyota Production System - Discussion</a:t>
            </a:r>
          </a:p>
        </p:txBody>
      </p:sp>
      <p:sp>
        <p:nvSpPr>
          <p:cNvPr id="4" name="Content Placeholder 3">
            <a:extLst>
              <a:ext uri="{FF2B5EF4-FFF2-40B4-BE49-F238E27FC236}">
                <a16:creationId xmlns:a16="http://schemas.microsoft.com/office/drawing/2014/main" id="{A75A0E8B-0633-6553-E39D-8A49D919C539}"/>
              </a:ext>
            </a:extLst>
          </p:cNvPr>
          <p:cNvSpPr>
            <a:spLocks noGrp="1"/>
          </p:cNvSpPr>
          <p:nvPr>
            <p:ph sz="half" idx="2"/>
          </p:nvPr>
        </p:nvSpPr>
        <p:spPr/>
        <p:txBody>
          <a:bodyPr anchor="ctr">
            <a:normAutofit fontScale="92500"/>
          </a:bodyPr>
          <a:lstStyle/>
          <a:p>
            <a:pPr>
              <a:lnSpc>
                <a:spcPct val="110000"/>
              </a:lnSpc>
            </a:pPr>
            <a:r>
              <a:rPr lang="en-US" sz="2400" dirty="0"/>
              <a:t>Why has it been difficult to decode the Toyota Production System (TPS)?</a:t>
            </a:r>
          </a:p>
          <a:p>
            <a:pPr>
              <a:lnSpc>
                <a:spcPct val="110000"/>
              </a:lnSpc>
            </a:pPr>
            <a:r>
              <a:rPr lang="en-US" sz="2400" dirty="0"/>
              <a:t>What is the paradox of the Toyota Production System?</a:t>
            </a:r>
          </a:p>
          <a:p>
            <a:pPr>
              <a:lnSpc>
                <a:spcPct val="110000"/>
              </a:lnSpc>
            </a:pPr>
            <a:r>
              <a:rPr lang="en-US" sz="2400" dirty="0"/>
              <a:t>Explain how Toyota makes changes</a:t>
            </a:r>
          </a:p>
          <a:p>
            <a:pPr>
              <a:lnSpc>
                <a:spcPct val="110000"/>
              </a:lnSpc>
            </a:pPr>
            <a:r>
              <a:rPr lang="en-US" sz="2400" dirty="0"/>
              <a:t>What are the key elements of Rule #1?</a:t>
            </a:r>
          </a:p>
          <a:p>
            <a:pPr>
              <a:lnSpc>
                <a:spcPct val="110000"/>
              </a:lnSpc>
            </a:pPr>
            <a:r>
              <a:rPr lang="en-US" sz="2400" dirty="0"/>
              <a:t>What is the purpose of Rule #2? What are some of the tools used in Rule #2?</a:t>
            </a:r>
          </a:p>
        </p:txBody>
      </p:sp>
      <p:pic>
        <p:nvPicPr>
          <p:cNvPr id="5" name="Content Placeholder 4">
            <a:extLst>
              <a:ext uri="{FF2B5EF4-FFF2-40B4-BE49-F238E27FC236}">
                <a16:creationId xmlns:a16="http://schemas.microsoft.com/office/drawing/2014/main" id="{18B31C0B-7B14-4009-816C-2D2F65FA9D4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195512" y="2401094"/>
            <a:ext cx="2466975" cy="3200400"/>
          </a:xfrm>
          <a:prstGeom prst="rect">
            <a:avLst/>
          </a:prstGeom>
          <a:ln w="88900" cap="sq">
            <a:solidFill>
              <a:srgbClr val="000000"/>
            </a:solidFill>
            <a:miter lim="800000"/>
            <a:headEnd/>
            <a:tailEnd/>
          </a:ln>
          <a:effectLst>
            <a:innerShdw blurRad="76200">
              <a:srgbClr val="000000"/>
            </a:innerShdw>
          </a:effectLst>
        </p:spPr>
      </p:pic>
    </p:spTree>
    <p:extLst>
      <p:ext uri="{BB962C8B-B14F-4D97-AF65-F5344CB8AC3E}">
        <p14:creationId xmlns:p14="http://schemas.microsoft.com/office/powerpoint/2010/main" val="3982472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12E76-4667-8FED-E3F5-417F23A27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CA8FA-34A3-B9BF-179A-404E8FF2F36A}"/>
              </a:ext>
            </a:extLst>
          </p:cNvPr>
          <p:cNvSpPr>
            <a:spLocks noGrp="1"/>
          </p:cNvSpPr>
          <p:nvPr>
            <p:ph type="title"/>
          </p:nvPr>
        </p:nvSpPr>
        <p:spPr/>
        <p:txBody>
          <a:bodyPr>
            <a:noAutofit/>
          </a:bodyPr>
          <a:lstStyle/>
          <a:p>
            <a:r>
              <a:rPr lang="en-US" sz="3200" dirty="0"/>
              <a:t>Decoding the DNA of the Toyota Production System - Discussion</a:t>
            </a:r>
          </a:p>
        </p:txBody>
      </p:sp>
      <p:sp>
        <p:nvSpPr>
          <p:cNvPr id="4" name="Content Placeholder 3">
            <a:extLst>
              <a:ext uri="{FF2B5EF4-FFF2-40B4-BE49-F238E27FC236}">
                <a16:creationId xmlns:a16="http://schemas.microsoft.com/office/drawing/2014/main" id="{0930EF0A-C842-12D6-9DCF-DEA1817EC5B8}"/>
              </a:ext>
            </a:extLst>
          </p:cNvPr>
          <p:cNvSpPr>
            <a:spLocks noGrp="1"/>
          </p:cNvSpPr>
          <p:nvPr>
            <p:ph sz="half" idx="2"/>
          </p:nvPr>
        </p:nvSpPr>
        <p:spPr/>
        <p:txBody>
          <a:bodyPr anchor="ctr">
            <a:normAutofit fontScale="85000" lnSpcReduction="10000"/>
          </a:bodyPr>
          <a:lstStyle/>
          <a:p>
            <a:pPr>
              <a:lnSpc>
                <a:spcPct val="110000"/>
              </a:lnSpc>
            </a:pPr>
            <a:r>
              <a:rPr lang="en-US" sz="2400" dirty="0"/>
              <a:t>How soon is a support person expected to respond and solve the problem raised by a production line worker? </a:t>
            </a:r>
          </a:p>
          <a:p>
            <a:pPr>
              <a:lnSpc>
                <a:spcPct val="110000"/>
              </a:lnSpc>
            </a:pPr>
            <a:r>
              <a:rPr lang="en-US" sz="2400" dirty="0"/>
              <a:t>In Rule #3, production lines have to be set up so that every  ___________ and ___________ flows. This rule ensures what?</a:t>
            </a:r>
          </a:p>
          <a:p>
            <a:pPr>
              <a:lnSpc>
                <a:spcPct val="110000"/>
              </a:lnSpc>
            </a:pPr>
            <a:r>
              <a:rPr lang="en-US" sz="2400" dirty="0"/>
              <a:t>What are the elements for Rule #4?</a:t>
            </a:r>
          </a:p>
          <a:p>
            <a:pPr>
              <a:lnSpc>
                <a:spcPct val="110000"/>
              </a:lnSpc>
            </a:pPr>
            <a:r>
              <a:rPr lang="en-US" sz="2400" dirty="0"/>
              <a:t>What learning did you have from Sensei </a:t>
            </a:r>
            <a:r>
              <a:rPr lang="en-US" sz="2400" dirty="0" err="1"/>
              <a:t>Ohba’s</a:t>
            </a:r>
            <a:r>
              <a:rPr lang="en-US" sz="2400" dirty="0"/>
              <a:t> teaching to the TSSC consultant?</a:t>
            </a:r>
          </a:p>
          <a:p>
            <a:pPr>
              <a:lnSpc>
                <a:spcPct val="110000"/>
              </a:lnSpc>
            </a:pPr>
            <a:r>
              <a:rPr lang="en-US" sz="2400" dirty="0"/>
              <a:t>What are the six ideal outputs to be achieved by using the TPS?</a:t>
            </a:r>
          </a:p>
        </p:txBody>
      </p:sp>
      <p:pic>
        <p:nvPicPr>
          <p:cNvPr id="5" name="Content Placeholder 4">
            <a:extLst>
              <a:ext uri="{FF2B5EF4-FFF2-40B4-BE49-F238E27FC236}">
                <a16:creationId xmlns:a16="http://schemas.microsoft.com/office/drawing/2014/main" id="{8F3BCEF9-CF1F-3C8C-11C5-203A10A1CC5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195512" y="2401094"/>
            <a:ext cx="2466975" cy="3200400"/>
          </a:xfrm>
          <a:prstGeom prst="rect">
            <a:avLst/>
          </a:prstGeom>
          <a:ln w="88900" cap="sq">
            <a:solidFill>
              <a:srgbClr val="000000"/>
            </a:solidFill>
            <a:miter lim="800000"/>
            <a:headEnd/>
            <a:tailEnd/>
          </a:ln>
          <a:effectLst>
            <a:innerShdw blurRad="76200">
              <a:srgbClr val="000000"/>
            </a:innerShdw>
          </a:effectLst>
        </p:spPr>
      </p:pic>
    </p:spTree>
    <p:extLst>
      <p:ext uri="{BB962C8B-B14F-4D97-AF65-F5344CB8AC3E}">
        <p14:creationId xmlns:p14="http://schemas.microsoft.com/office/powerpoint/2010/main" val="95518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2F884-99DA-A324-7D74-42A5E1DC1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72D2A-E789-5345-4D91-6D24141574BC}"/>
              </a:ext>
            </a:extLst>
          </p:cNvPr>
          <p:cNvSpPr>
            <a:spLocks noGrp="1"/>
          </p:cNvSpPr>
          <p:nvPr>
            <p:ph type="title"/>
          </p:nvPr>
        </p:nvSpPr>
        <p:spPr/>
        <p:txBody>
          <a:bodyPr/>
          <a:lstStyle/>
          <a:p>
            <a:r>
              <a:rPr lang="en-US" dirty="0"/>
              <a:t>Business Week Article - A Dynamo Called Danaher</a:t>
            </a:r>
          </a:p>
        </p:txBody>
      </p:sp>
      <p:sp>
        <p:nvSpPr>
          <p:cNvPr id="3" name="Text Placeholder 2">
            <a:extLst>
              <a:ext uri="{FF2B5EF4-FFF2-40B4-BE49-F238E27FC236}">
                <a16:creationId xmlns:a16="http://schemas.microsoft.com/office/drawing/2014/main" id="{21F70131-66E0-18D3-C0AE-4A3095E41A71}"/>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63022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609D4-6892-DAFD-CEB9-27759234B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03600-1007-0D2D-1706-A2F0E525FF59}"/>
              </a:ext>
            </a:extLst>
          </p:cNvPr>
          <p:cNvSpPr>
            <a:spLocks noGrp="1"/>
          </p:cNvSpPr>
          <p:nvPr>
            <p:ph type="title"/>
          </p:nvPr>
        </p:nvSpPr>
        <p:spPr/>
        <p:txBody>
          <a:bodyPr/>
          <a:lstStyle/>
          <a:p>
            <a:r>
              <a:rPr lang="en-US" dirty="0"/>
              <a:t>HBR Case Study on Danaher</a:t>
            </a:r>
          </a:p>
        </p:txBody>
      </p:sp>
      <p:sp>
        <p:nvSpPr>
          <p:cNvPr id="3" name="Text Placeholder 2">
            <a:extLst>
              <a:ext uri="{FF2B5EF4-FFF2-40B4-BE49-F238E27FC236}">
                <a16:creationId xmlns:a16="http://schemas.microsoft.com/office/drawing/2014/main" id="{BE16705A-072E-F5F5-13CA-C73BEC9A70C8}"/>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343036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B7D8-7699-B4E7-73D2-98814BA63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964F2-F6EC-1F46-4C86-0F174D3B943B}"/>
              </a:ext>
            </a:extLst>
          </p:cNvPr>
          <p:cNvSpPr>
            <a:spLocks noGrp="1"/>
          </p:cNvSpPr>
          <p:nvPr>
            <p:ph type="title"/>
          </p:nvPr>
        </p:nvSpPr>
        <p:spPr/>
        <p:txBody>
          <a:bodyPr/>
          <a:lstStyle/>
          <a:p>
            <a:r>
              <a:rPr lang="en-US" dirty="0"/>
              <a:t>The Journey from Doing Lean to Being Lean</a:t>
            </a:r>
          </a:p>
        </p:txBody>
      </p:sp>
      <p:sp>
        <p:nvSpPr>
          <p:cNvPr id="3" name="Text Placeholder 2">
            <a:extLst>
              <a:ext uri="{FF2B5EF4-FFF2-40B4-BE49-F238E27FC236}">
                <a16:creationId xmlns:a16="http://schemas.microsoft.com/office/drawing/2014/main" id="{E70607EC-9582-65DE-12E4-8BFEB09E652A}"/>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71442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6D6F-5072-2E94-08BD-C8E94F02A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68497-2DEE-C842-90F2-B457D4C69DCB}"/>
              </a:ext>
            </a:extLst>
          </p:cNvPr>
          <p:cNvSpPr>
            <a:spLocks noGrp="1"/>
          </p:cNvSpPr>
          <p:nvPr>
            <p:ph type="title"/>
          </p:nvPr>
        </p:nvSpPr>
        <p:spPr/>
        <p:txBody>
          <a:bodyPr>
            <a:noAutofit/>
          </a:bodyPr>
          <a:lstStyle/>
          <a:p>
            <a:r>
              <a:rPr lang="en-US" dirty="0"/>
              <a:t>The Journey from Do to Be</a:t>
            </a:r>
          </a:p>
        </p:txBody>
      </p:sp>
      <p:sp>
        <p:nvSpPr>
          <p:cNvPr id="6" name="Content Placeholder 5">
            <a:extLst>
              <a:ext uri="{FF2B5EF4-FFF2-40B4-BE49-F238E27FC236}">
                <a16:creationId xmlns:a16="http://schemas.microsoft.com/office/drawing/2014/main" id="{B9113169-840B-7C7A-9EF6-7ADF372CA8E5}"/>
              </a:ext>
            </a:extLst>
          </p:cNvPr>
          <p:cNvSpPr>
            <a:spLocks noGrp="1"/>
          </p:cNvSpPr>
          <p:nvPr>
            <p:ph sz="half" idx="1"/>
          </p:nvPr>
        </p:nvSpPr>
        <p:spPr/>
        <p:txBody>
          <a:bodyPr anchor="ctr"/>
          <a:lstStyle/>
          <a:p>
            <a:pPr>
              <a:lnSpc>
                <a:spcPct val="110000"/>
              </a:lnSpc>
            </a:pPr>
            <a:r>
              <a:rPr lang="en-US" altLang="en-US" sz="2200" dirty="0"/>
              <a:t>Many organizations “DO” Lean</a:t>
            </a:r>
          </a:p>
          <a:p>
            <a:pPr marL="685800" lvl="2">
              <a:lnSpc>
                <a:spcPct val="110000"/>
              </a:lnSpc>
              <a:spcBef>
                <a:spcPts val="1000"/>
              </a:spcBef>
            </a:pPr>
            <a:r>
              <a:rPr lang="en-US" altLang="en-US" sz="1800" dirty="0"/>
              <a:t>Mechanical – Check the Box Mentality</a:t>
            </a:r>
          </a:p>
          <a:p>
            <a:pPr marL="685800" lvl="2">
              <a:lnSpc>
                <a:spcPct val="110000"/>
              </a:lnSpc>
              <a:spcBef>
                <a:spcPts val="1000"/>
              </a:spcBef>
            </a:pPr>
            <a:r>
              <a:rPr lang="en-US" altLang="en-US" sz="1800" dirty="0"/>
              <a:t>Non-Cultural</a:t>
            </a:r>
          </a:p>
          <a:p>
            <a:pPr marL="685800" lvl="2">
              <a:lnSpc>
                <a:spcPct val="110000"/>
              </a:lnSpc>
              <a:spcBef>
                <a:spcPts val="1000"/>
              </a:spcBef>
            </a:pPr>
            <a:r>
              <a:rPr lang="en-US" altLang="en-US" sz="1800" dirty="0"/>
              <a:t>No measurable impact</a:t>
            </a:r>
          </a:p>
          <a:p>
            <a:pPr marL="685800" lvl="2">
              <a:lnSpc>
                <a:spcPct val="110000"/>
              </a:lnSpc>
              <a:spcBef>
                <a:spcPts val="1000"/>
              </a:spcBef>
            </a:pPr>
            <a:r>
              <a:rPr lang="en-US" altLang="en-US" sz="1800" dirty="0"/>
              <a:t>Blasé management commitment</a:t>
            </a:r>
          </a:p>
          <a:p>
            <a:pPr marL="685800" lvl="2">
              <a:lnSpc>
                <a:spcPct val="110000"/>
              </a:lnSpc>
              <a:spcBef>
                <a:spcPts val="1000"/>
              </a:spcBef>
            </a:pPr>
            <a:r>
              <a:rPr lang="en-US" altLang="en-US" sz="1800" dirty="0"/>
              <a:t>Individuals DO the tools because they are told to</a:t>
            </a:r>
          </a:p>
        </p:txBody>
      </p:sp>
      <p:pic>
        <p:nvPicPr>
          <p:cNvPr id="7" name="Picture 2">
            <a:extLst>
              <a:ext uri="{FF2B5EF4-FFF2-40B4-BE49-F238E27FC236}">
                <a16:creationId xmlns:a16="http://schemas.microsoft.com/office/drawing/2014/main" id="{4A870F15-B1C5-897F-6881-33F7EB70BB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207444" y="2693357"/>
            <a:ext cx="3111111" cy="261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9357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7CDDF-B8B8-9BCB-4589-5FA1617B8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A2D35-39B4-5512-9BF7-F39FB702AE25}"/>
              </a:ext>
            </a:extLst>
          </p:cNvPr>
          <p:cNvSpPr>
            <a:spLocks noGrp="1"/>
          </p:cNvSpPr>
          <p:nvPr>
            <p:ph type="title"/>
          </p:nvPr>
        </p:nvSpPr>
        <p:spPr/>
        <p:txBody>
          <a:bodyPr>
            <a:noAutofit/>
          </a:bodyPr>
          <a:lstStyle/>
          <a:p>
            <a:r>
              <a:rPr lang="en-US" dirty="0"/>
              <a:t>The Journey from Do to Be</a:t>
            </a:r>
          </a:p>
        </p:txBody>
      </p:sp>
      <p:sp>
        <p:nvSpPr>
          <p:cNvPr id="6" name="Content Placeholder 5">
            <a:extLst>
              <a:ext uri="{FF2B5EF4-FFF2-40B4-BE49-F238E27FC236}">
                <a16:creationId xmlns:a16="http://schemas.microsoft.com/office/drawing/2014/main" id="{21217C3E-B042-BEFE-EF90-36DEAC012B9C}"/>
              </a:ext>
            </a:extLst>
          </p:cNvPr>
          <p:cNvSpPr>
            <a:spLocks noGrp="1"/>
          </p:cNvSpPr>
          <p:nvPr>
            <p:ph sz="half" idx="1"/>
          </p:nvPr>
        </p:nvSpPr>
        <p:spPr/>
        <p:txBody>
          <a:bodyPr anchor="ctr">
            <a:normAutofit/>
          </a:bodyPr>
          <a:lstStyle/>
          <a:p>
            <a:pPr>
              <a:lnSpc>
                <a:spcPct val="110000"/>
              </a:lnSpc>
            </a:pPr>
            <a:r>
              <a:rPr lang="en-US" altLang="en-US" sz="2400" dirty="0"/>
              <a:t>BE </a:t>
            </a:r>
            <a:r>
              <a:rPr lang="en-US" altLang="en-US" sz="2400" dirty="0" err="1"/>
              <a:t>ing</a:t>
            </a:r>
            <a:r>
              <a:rPr lang="en-US" altLang="en-US" sz="2400" dirty="0"/>
              <a:t> Lean requires commitment</a:t>
            </a:r>
          </a:p>
          <a:p>
            <a:pPr lvl="1">
              <a:lnSpc>
                <a:spcPct val="110000"/>
              </a:lnSpc>
            </a:pPr>
            <a:r>
              <a:rPr lang="en-US" altLang="en-US" sz="2000" dirty="0"/>
              <a:t>All in, no kidding, no turning back</a:t>
            </a:r>
          </a:p>
          <a:p>
            <a:pPr lvl="1">
              <a:lnSpc>
                <a:spcPct val="110000"/>
              </a:lnSpc>
            </a:pPr>
            <a:r>
              <a:rPr lang="en-US" altLang="en-US" sz="2000" dirty="0"/>
              <a:t>It is a culture of CI</a:t>
            </a:r>
          </a:p>
          <a:p>
            <a:pPr lvl="1">
              <a:lnSpc>
                <a:spcPct val="110000"/>
              </a:lnSpc>
            </a:pPr>
            <a:r>
              <a:rPr lang="en-US" altLang="en-US" sz="2000" dirty="0"/>
              <a:t>It is a learning culture</a:t>
            </a:r>
          </a:p>
          <a:p>
            <a:pPr lvl="1">
              <a:lnSpc>
                <a:spcPct val="110000"/>
              </a:lnSpc>
            </a:pPr>
            <a:r>
              <a:rPr lang="en-US" altLang="en-US" sz="2000" dirty="0"/>
              <a:t>It is a culture of professional growth</a:t>
            </a:r>
          </a:p>
          <a:p>
            <a:pPr lvl="1">
              <a:lnSpc>
                <a:spcPct val="110000"/>
              </a:lnSpc>
            </a:pPr>
            <a:r>
              <a:rPr lang="en-US" altLang="en-US" sz="2000" dirty="0"/>
              <a:t>It is a culture where individuals are responsible and choose “in”</a:t>
            </a:r>
          </a:p>
        </p:txBody>
      </p:sp>
      <p:pic>
        <p:nvPicPr>
          <p:cNvPr id="4" name="Picture 2">
            <a:extLst>
              <a:ext uri="{FF2B5EF4-FFF2-40B4-BE49-F238E27FC236}">
                <a16:creationId xmlns:a16="http://schemas.microsoft.com/office/drawing/2014/main" id="{84C1B468-0F6F-3DE7-B6E5-8DCD1209A6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016968" y="2839389"/>
            <a:ext cx="3492063" cy="2323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107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D4709-5EEC-B7E4-A6DE-F142F1ED1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CF081-54D8-D721-B62B-8070E3185F02}"/>
              </a:ext>
            </a:extLst>
          </p:cNvPr>
          <p:cNvSpPr>
            <a:spLocks noGrp="1"/>
          </p:cNvSpPr>
          <p:nvPr>
            <p:ph type="title"/>
          </p:nvPr>
        </p:nvSpPr>
        <p:spPr/>
        <p:txBody>
          <a:bodyPr>
            <a:noAutofit/>
          </a:bodyPr>
          <a:lstStyle/>
          <a:p>
            <a:r>
              <a:rPr lang="en-US" dirty="0"/>
              <a:t>The Journey from Do to Be</a:t>
            </a:r>
          </a:p>
        </p:txBody>
      </p:sp>
      <p:sp>
        <p:nvSpPr>
          <p:cNvPr id="6" name="Content Placeholder 5">
            <a:extLst>
              <a:ext uri="{FF2B5EF4-FFF2-40B4-BE49-F238E27FC236}">
                <a16:creationId xmlns:a16="http://schemas.microsoft.com/office/drawing/2014/main" id="{12B57F35-7301-C2B1-ACF9-75779D7B09C0}"/>
              </a:ext>
            </a:extLst>
          </p:cNvPr>
          <p:cNvSpPr>
            <a:spLocks noGrp="1"/>
          </p:cNvSpPr>
          <p:nvPr>
            <p:ph sz="half" idx="1"/>
          </p:nvPr>
        </p:nvSpPr>
        <p:spPr/>
        <p:txBody>
          <a:bodyPr anchor="ctr">
            <a:normAutofit/>
          </a:bodyPr>
          <a:lstStyle/>
          <a:p>
            <a:pPr>
              <a:lnSpc>
                <a:spcPct val="110000"/>
              </a:lnSpc>
            </a:pPr>
            <a:r>
              <a:rPr lang="en-US" altLang="en-US" sz="2400" dirty="0"/>
              <a:t>The journey from DO to BE</a:t>
            </a:r>
          </a:p>
          <a:p>
            <a:pPr lvl="1">
              <a:lnSpc>
                <a:spcPct val="110000"/>
              </a:lnSpc>
            </a:pPr>
            <a:r>
              <a:rPr lang="en-US" altLang="en-US" sz="2000" dirty="0"/>
              <a:t>Individual responsibility for learning</a:t>
            </a:r>
          </a:p>
          <a:p>
            <a:pPr lvl="1">
              <a:lnSpc>
                <a:spcPct val="110000"/>
              </a:lnSpc>
            </a:pPr>
            <a:r>
              <a:rPr lang="en-US" altLang="en-US" sz="2000" dirty="0"/>
              <a:t>Spinning the CI Cycle</a:t>
            </a:r>
          </a:p>
          <a:p>
            <a:pPr lvl="1">
              <a:lnSpc>
                <a:spcPct val="110000"/>
              </a:lnSpc>
            </a:pPr>
            <a:r>
              <a:rPr lang="en-US" altLang="en-US" sz="2000" dirty="0"/>
              <a:t>Staying in the Learning zone</a:t>
            </a:r>
          </a:p>
          <a:p>
            <a:pPr lvl="1">
              <a:lnSpc>
                <a:spcPct val="110000"/>
              </a:lnSpc>
            </a:pPr>
            <a:r>
              <a:rPr lang="en-US" altLang="en-US" sz="2000" dirty="0"/>
              <a:t>Oscillating between effective &amp; ineffective</a:t>
            </a:r>
          </a:p>
          <a:p>
            <a:pPr>
              <a:lnSpc>
                <a:spcPct val="110000"/>
              </a:lnSpc>
            </a:pPr>
            <a:endParaRPr lang="en-US" altLang="en-US" sz="2400" dirty="0"/>
          </a:p>
        </p:txBody>
      </p:sp>
      <p:sp>
        <p:nvSpPr>
          <p:cNvPr id="3" name="Content Placeholder 2">
            <a:extLst>
              <a:ext uri="{FF2B5EF4-FFF2-40B4-BE49-F238E27FC236}">
                <a16:creationId xmlns:a16="http://schemas.microsoft.com/office/drawing/2014/main" id="{A8E3AF21-92EF-4E4C-D8FA-A8E5F6846C7C}"/>
              </a:ext>
            </a:extLst>
          </p:cNvPr>
          <p:cNvSpPr>
            <a:spLocks noGrp="1"/>
          </p:cNvSpPr>
          <p:nvPr>
            <p:ph sz="half" idx="2"/>
          </p:nvPr>
        </p:nvSpPr>
        <p:spPr/>
        <p:txBody>
          <a:bodyPr anchor="ctr"/>
          <a:lstStyle/>
          <a:p>
            <a:pPr marL="0" indent="0" algn="ctr">
              <a:buNone/>
            </a:pPr>
            <a:r>
              <a:rPr lang="en-US" b="1" dirty="0"/>
              <a:t>LEARN &amp; </a:t>
            </a:r>
            <a:r>
              <a:rPr lang="en-US" b="1" dirty="0">
                <a:solidFill>
                  <a:schemeClr val="accent5"/>
                </a:solidFill>
              </a:rPr>
              <a:t>BE</a:t>
            </a:r>
          </a:p>
          <a:p>
            <a:pPr marL="0" indent="0" algn="ctr">
              <a:buNone/>
            </a:pPr>
            <a:r>
              <a:rPr lang="en-US" b="1" dirty="0"/>
              <a:t>Vs.</a:t>
            </a:r>
          </a:p>
          <a:p>
            <a:pPr marL="0" indent="0" algn="ctr">
              <a:buNone/>
            </a:pPr>
            <a:r>
              <a:rPr lang="en-US" b="1" dirty="0"/>
              <a:t>BEING TAUGHT &amp;  </a:t>
            </a:r>
            <a:r>
              <a:rPr lang="en-US" b="1" dirty="0">
                <a:solidFill>
                  <a:schemeClr val="accent1"/>
                </a:solidFill>
              </a:rPr>
              <a:t>DO</a:t>
            </a:r>
          </a:p>
        </p:txBody>
      </p:sp>
    </p:spTree>
    <p:extLst>
      <p:ext uri="{BB962C8B-B14F-4D97-AF65-F5344CB8AC3E}">
        <p14:creationId xmlns:p14="http://schemas.microsoft.com/office/powerpoint/2010/main" val="249278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AB61-995B-D01B-4263-EE070FC4A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705E0-E5D0-6BBF-1F57-36BFA16673BA}"/>
              </a:ext>
            </a:extLst>
          </p:cNvPr>
          <p:cNvSpPr>
            <a:spLocks noGrp="1"/>
          </p:cNvSpPr>
          <p:nvPr>
            <p:ph type="title"/>
          </p:nvPr>
        </p:nvSpPr>
        <p:spPr/>
        <p:txBody>
          <a:bodyPr/>
          <a:lstStyle/>
          <a:p>
            <a:r>
              <a:rPr lang="en-US" dirty="0"/>
              <a:t>The Lean Trilogy</a:t>
            </a:r>
          </a:p>
        </p:txBody>
      </p:sp>
      <p:sp>
        <p:nvSpPr>
          <p:cNvPr id="3" name="Text Placeholder 2">
            <a:extLst>
              <a:ext uri="{FF2B5EF4-FFF2-40B4-BE49-F238E27FC236}">
                <a16:creationId xmlns:a16="http://schemas.microsoft.com/office/drawing/2014/main" id="{FB0013F0-75EA-904C-A55D-4ECE865BDD61}"/>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3496434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56C32-0486-B778-E341-1678A4D73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1615F-4038-EBC8-044D-729DF3ACC588}"/>
              </a:ext>
            </a:extLst>
          </p:cNvPr>
          <p:cNvSpPr>
            <a:spLocks noGrp="1"/>
          </p:cNvSpPr>
          <p:nvPr>
            <p:ph type="title"/>
          </p:nvPr>
        </p:nvSpPr>
        <p:spPr/>
        <p:txBody>
          <a:bodyPr/>
          <a:lstStyle/>
          <a:p>
            <a:r>
              <a:rPr lang="en-US" dirty="0"/>
              <a:t>The Lean Turnaround </a:t>
            </a:r>
            <a:br>
              <a:rPr lang="en-US" dirty="0"/>
            </a:br>
            <a:r>
              <a:rPr lang="en-US" dirty="0"/>
              <a:t>by Art Byrne</a:t>
            </a:r>
          </a:p>
        </p:txBody>
      </p:sp>
      <p:sp>
        <p:nvSpPr>
          <p:cNvPr id="3" name="Text Placeholder 2">
            <a:extLst>
              <a:ext uri="{FF2B5EF4-FFF2-40B4-BE49-F238E27FC236}">
                <a16:creationId xmlns:a16="http://schemas.microsoft.com/office/drawing/2014/main" id="{2A6F1D93-F58F-0623-023A-7CFF64C28642}"/>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2022874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2EF2-319F-ABDD-D695-BEB8D7560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81F2-B1A7-FD23-5972-64E6D3752970}"/>
              </a:ext>
            </a:extLst>
          </p:cNvPr>
          <p:cNvSpPr>
            <a:spLocks noGrp="1"/>
          </p:cNvSpPr>
          <p:nvPr>
            <p:ph type="title"/>
          </p:nvPr>
        </p:nvSpPr>
        <p:spPr/>
        <p:txBody>
          <a:bodyPr>
            <a:noAutofit/>
          </a:bodyPr>
          <a:lstStyle/>
          <a:p>
            <a:r>
              <a:rPr lang="en-US" sz="3200" dirty="0"/>
              <a:t>Decoding the DNA of the Toyota Production System - Discussion</a:t>
            </a:r>
          </a:p>
        </p:txBody>
      </p:sp>
      <p:sp>
        <p:nvSpPr>
          <p:cNvPr id="4" name="Content Placeholder 3">
            <a:extLst>
              <a:ext uri="{FF2B5EF4-FFF2-40B4-BE49-F238E27FC236}">
                <a16:creationId xmlns:a16="http://schemas.microsoft.com/office/drawing/2014/main" id="{33E11406-7800-09F1-A599-F440A3D0B329}"/>
              </a:ext>
            </a:extLst>
          </p:cNvPr>
          <p:cNvSpPr>
            <a:spLocks noGrp="1"/>
          </p:cNvSpPr>
          <p:nvPr>
            <p:ph sz="half" idx="2"/>
          </p:nvPr>
        </p:nvSpPr>
        <p:spPr/>
        <p:txBody>
          <a:bodyPr anchor="ctr">
            <a:normAutofit fontScale="92500" lnSpcReduction="20000"/>
          </a:bodyPr>
          <a:lstStyle/>
          <a:p>
            <a:pPr>
              <a:lnSpc>
                <a:spcPct val="110000"/>
              </a:lnSpc>
            </a:pPr>
            <a:r>
              <a:rPr lang="en-US" sz="2400" dirty="0"/>
              <a:t>What is Art’s main theme in the book?</a:t>
            </a:r>
          </a:p>
          <a:p>
            <a:pPr>
              <a:lnSpc>
                <a:spcPct val="110000"/>
              </a:lnSpc>
            </a:pPr>
            <a:r>
              <a:rPr lang="en-US" sz="2400" dirty="0"/>
              <a:t>What are the principles required to become lean?</a:t>
            </a:r>
          </a:p>
          <a:p>
            <a:pPr>
              <a:lnSpc>
                <a:spcPct val="110000"/>
              </a:lnSpc>
            </a:pPr>
            <a:r>
              <a:rPr lang="en-US" sz="2400" dirty="0"/>
              <a:t>What is takt and how would we apply it in your company?</a:t>
            </a:r>
          </a:p>
          <a:p>
            <a:pPr>
              <a:lnSpc>
                <a:spcPct val="110000"/>
              </a:lnSpc>
            </a:pPr>
            <a:r>
              <a:rPr lang="en-US" sz="2400" dirty="0"/>
              <a:t>What is cycle time and how does it work with Takt time?</a:t>
            </a:r>
          </a:p>
          <a:p>
            <a:pPr>
              <a:lnSpc>
                <a:spcPct val="110000"/>
              </a:lnSpc>
            </a:pPr>
            <a:r>
              <a:rPr lang="en-US" sz="2400" dirty="0"/>
              <a:t>Do you calculate takt at the plant level on in each AREA?</a:t>
            </a:r>
          </a:p>
          <a:p>
            <a:pPr>
              <a:lnSpc>
                <a:spcPct val="110000"/>
              </a:lnSpc>
            </a:pPr>
            <a:r>
              <a:rPr lang="en-US" sz="2400" dirty="0"/>
              <a:t>What is the advantage of knowing takt time?</a:t>
            </a:r>
          </a:p>
        </p:txBody>
      </p:sp>
      <p:pic>
        <p:nvPicPr>
          <p:cNvPr id="8" name="Content Placeholder 7">
            <a:extLst>
              <a:ext uri="{FF2B5EF4-FFF2-40B4-BE49-F238E27FC236}">
                <a16:creationId xmlns:a16="http://schemas.microsoft.com/office/drawing/2014/main" id="{F6E1D1F4-7269-31D6-BEBC-661267A22DD6}"/>
              </a:ext>
            </a:extLst>
          </p:cNvPr>
          <p:cNvPicPr>
            <a:picLocks noGrp="1" noChangeAspect="1"/>
          </p:cNvPicPr>
          <p:nvPr>
            <p:ph sz="half" idx="1"/>
          </p:nvPr>
        </p:nvPicPr>
        <p:blipFill>
          <a:blip r:embed="rId3"/>
          <a:stretch>
            <a:fillRect/>
          </a:stretch>
        </p:blipFill>
        <p:spPr>
          <a:xfrm>
            <a:off x="1913916" y="2066924"/>
            <a:ext cx="2605323" cy="392906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585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0937D-B7AD-51FC-3828-049C1EFED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E58C1-727F-9531-0FEE-4543BA7ADD58}"/>
              </a:ext>
            </a:extLst>
          </p:cNvPr>
          <p:cNvSpPr>
            <a:spLocks noGrp="1"/>
          </p:cNvSpPr>
          <p:nvPr>
            <p:ph type="title"/>
          </p:nvPr>
        </p:nvSpPr>
        <p:spPr/>
        <p:txBody>
          <a:bodyPr>
            <a:noAutofit/>
          </a:bodyPr>
          <a:lstStyle/>
          <a:p>
            <a:r>
              <a:rPr lang="en-US" sz="3200" dirty="0"/>
              <a:t>Decoding the DNA of the Toyota Production System - Discussion</a:t>
            </a:r>
          </a:p>
        </p:txBody>
      </p:sp>
      <p:sp>
        <p:nvSpPr>
          <p:cNvPr id="4" name="Content Placeholder 3">
            <a:extLst>
              <a:ext uri="{FF2B5EF4-FFF2-40B4-BE49-F238E27FC236}">
                <a16:creationId xmlns:a16="http://schemas.microsoft.com/office/drawing/2014/main" id="{F36B774F-1670-8847-4914-609A3EEAB961}"/>
              </a:ext>
            </a:extLst>
          </p:cNvPr>
          <p:cNvSpPr>
            <a:spLocks noGrp="1"/>
          </p:cNvSpPr>
          <p:nvPr>
            <p:ph sz="half" idx="2"/>
          </p:nvPr>
        </p:nvSpPr>
        <p:spPr/>
        <p:txBody>
          <a:bodyPr anchor="ctr">
            <a:normAutofit/>
          </a:bodyPr>
          <a:lstStyle/>
          <a:p>
            <a:pPr>
              <a:lnSpc>
                <a:spcPct val="110000"/>
              </a:lnSpc>
            </a:pPr>
            <a:r>
              <a:rPr lang="en-US" sz="2400" dirty="0"/>
              <a:t>How does lean effect Standard Cost Accounting?</a:t>
            </a:r>
          </a:p>
          <a:p>
            <a:pPr>
              <a:lnSpc>
                <a:spcPct val="110000"/>
              </a:lnSpc>
            </a:pPr>
            <a:r>
              <a:rPr lang="en-US" sz="2400" dirty="0"/>
              <a:t>What is a lean leader?</a:t>
            </a:r>
          </a:p>
          <a:p>
            <a:pPr>
              <a:lnSpc>
                <a:spcPct val="110000"/>
              </a:lnSpc>
            </a:pPr>
            <a:r>
              <a:rPr lang="en-US" sz="2400" dirty="0"/>
              <a:t>What is the Lean Leaders Standard Work?</a:t>
            </a:r>
          </a:p>
          <a:p>
            <a:pPr>
              <a:lnSpc>
                <a:spcPct val="110000"/>
              </a:lnSpc>
            </a:pPr>
            <a:r>
              <a:rPr lang="en-US" sz="2400" dirty="0"/>
              <a:t>What other examples (vertical's) did Art use as examples?</a:t>
            </a:r>
          </a:p>
          <a:p>
            <a:pPr>
              <a:lnSpc>
                <a:spcPct val="110000"/>
              </a:lnSpc>
            </a:pPr>
            <a:r>
              <a:rPr lang="en-US" sz="2400" dirty="0"/>
              <a:t>What was Wiremold’s core values?</a:t>
            </a:r>
          </a:p>
          <a:p>
            <a:pPr>
              <a:lnSpc>
                <a:spcPct val="110000"/>
              </a:lnSpc>
            </a:pPr>
            <a:r>
              <a:rPr lang="en-US" sz="2400" dirty="0"/>
              <a:t>What was Wiremold’s Strategy?</a:t>
            </a:r>
          </a:p>
        </p:txBody>
      </p:sp>
      <p:pic>
        <p:nvPicPr>
          <p:cNvPr id="8" name="Content Placeholder 7">
            <a:extLst>
              <a:ext uri="{FF2B5EF4-FFF2-40B4-BE49-F238E27FC236}">
                <a16:creationId xmlns:a16="http://schemas.microsoft.com/office/drawing/2014/main" id="{F18FFB13-88F9-B71A-94FB-8643F5848F9F}"/>
              </a:ext>
            </a:extLst>
          </p:cNvPr>
          <p:cNvPicPr>
            <a:picLocks noGrp="1" noChangeAspect="1"/>
          </p:cNvPicPr>
          <p:nvPr>
            <p:ph sz="half" idx="1"/>
          </p:nvPr>
        </p:nvPicPr>
        <p:blipFill>
          <a:blip r:embed="rId3"/>
          <a:stretch>
            <a:fillRect/>
          </a:stretch>
        </p:blipFill>
        <p:spPr>
          <a:xfrm>
            <a:off x="1913916" y="2066924"/>
            <a:ext cx="2605323" cy="392906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00615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141F-B50E-9235-780A-052775E43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A676E-ECBB-EF90-3508-E9776ED80B13}"/>
              </a:ext>
            </a:extLst>
          </p:cNvPr>
          <p:cNvSpPr>
            <a:spLocks noGrp="1"/>
          </p:cNvSpPr>
          <p:nvPr>
            <p:ph type="title"/>
          </p:nvPr>
        </p:nvSpPr>
        <p:spPr/>
        <p:txBody>
          <a:bodyPr/>
          <a:lstStyle/>
          <a:p>
            <a:r>
              <a:rPr lang="en-US" dirty="0"/>
              <a:t>DBS vs. TPS</a:t>
            </a:r>
          </a:p>
        </p:txBody>
      </p:sp>
      <p:sp>
        <p:nvSpPr>
          <p:cNvPr id="3" name="Text Placeholder 2">
            <a:extLst>
              <a:ext uri="{FF2B5EF4-FFF2-40B4-BE49-F238E27FC236}">
                <a16:creationId xmlns:a16="http://schemas.microsoft.com/office/drawing/2014/main" id="{7AD13010-35F7-9FA7-40E9-F630F0E2B69E}"/>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3042429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5CFF-9AE3-E2D5-62E2-55CBAFEB6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4CB7B-9385-4DE4-20C7-E80F6A05A1C1}"/>
              </a:ext>
            </a:extLst>
          </p:cNvPr>
          <p:cNvSpPr>
            <a:spLocks noGrp="1"/>
          </p:cNvSpPr>
          <p:nvPr>
            <p:ph type="title"/>
          </p:nvPr>
        </p:nvSpPr>
        <p:spPr/>
        <p:txBody>
          <a:bodyPr>
            <a:noAutofit/>
          </a:bodyPr>
          <a:lstStyle/>
          <a:p>
            <a:r>
              <a:rPr lang="en-US" dirty="0"/>
              <a:t>DBS vs. TPS</a:t>
            </a:r>
          </a:p>
        </p:txBody>
      </p:sp>
      <p:pic>
        <p:nvPicPr>
          <p:cNvPr id="13" name="Content Placeholder 9">
            <a:extLst>
              <a:ext uri="{FF2B5EF4-FFF2-40B4-BE49-F238E27FC236}">
                <a16:creationId xmlns:a16="http://schemas.microsoft.com/office/drawing/2014/main" id="{3E9DABF9-D617-C37E-6A34-31A5F7F1AD11}"/>
              </a:ext>
            </a:extLst>
          </p:cNvPr>
          <p:cNvPicPr>
            <a:picLocks noChangeAspect="1"/>
          </p:cNvPicPr>
          <p:nvPr/>
        </p:nvPicPr>
        <p:blipFill>
          <a:blip r:embed="rId3"/>
          <a:stretch>
            <a:fillRect/>
          </a:stretch>
        </p:blipFill>
        <p:spPr>
          <a:xfrm>
            <a:off x="7570749" y="1690688"/>
            <a:ext cx="3251941" cy="3251941"/>
          </a:xfrm>
          <a:prstGeom prst="rect">
            <a:avLst/>
          </a:prstGeom>
        </p:spPr>
      </p:pic>
      <p:sp>
        <p:nvSpPr>
          <p:cNvPr id="17" name="Content Placeholder 16">
            <a:extLst>
              <a:ext uri="{FF2B5EF4-FFF2-40B4-BE49-F238E27FC236}">
                <a16:creationId xmlns:a16="http://schemas.microsoft.com/office/drawing/2014/main" id="{021E8B70-4EE2-42F1-3013-3782F5021918}"/>
              </a:ext>
            </a:extLst>
          </p:cNvPr>
          <p:cNvSpPr>
            <a:spLocks noGrp="1"/>
          </p:cNvSpPr>
          <p:nvPr>
            <p:ph sz="half" idx="1"/>
          </p:nvPr>
        </p:nvSpPr>
        <p:spPr/>
        <p:txBody>
          <a:bodyPr anchor="ctr">
            <a:normAutofit lnSpcReduction="10000"/>
          </a:bodyPr>
          <a:lstStyle/>
          <a:p>
            <a:r>
              <a:rPr lang="en-US" sz="2400" dirty="0"/>
              <a:t>What is the main distinction between TPS and DBS?</a:t>
            </a:r>
          </a:p>
          <a:p>
            <a:r>
              <a:rPr lang="en-US" sz="2400" dirty="0"/>
              <a:t>How does DBS address improvement across functions in the company?</a:t>
            </a:r>
          </a:p>
          <a:p>
            <a:r>
              <a:rPr lang="en-US" sz="2400" dirty="0"/>
              <a:t>What role does “Policy Deployment” play in DBS?</a:t>
            </a:r>
          </a:p>
          <a:p>
            <a:r>
              <a:rPr lang="en-US" sz="2400" dirty="0"/>
              <a:t>What was an unexpected benefit of SQDC improvements at Danaher?</a:t>
            </a:r>
          </a:p>
          <a:p>
            <a:r>
              <a:rPr lang="en-US" sz="2400" dirty="0"/>
              <a:t>Why is copying TPS or DBS ineffective for other companies?</a:t>
            </a:r>
          </a:p>
        </p:txBody>
      </p:sp>
      <p:pic>
        <p:nvPicPr>
          <p:cNvPr id="18" name="Content Placeholder 14">
            <a:extLst>
              <a:ext uri="{FF2B5EF4-FFF2-40B4-BE49-F238E27FC236}">
                <a16:creationId xmlns:a16="http://schemas.microsoft.com/office/drawing/2014/main" id="{FDA3E448-D4E0-3BD2-47AA-3053B8F29955}"/>
              </a:ext>
            </a:extLst>
          </p:cNvPr>
          <p:cNvPicPr>
            <a:picLocks noChangeAspect="1"/>
          </p:cNvPicPr>
          <p:nvPr/>
        </p:nvPicPr>
        <p:blipFill>
          <a:blip r:embed="rId4"/>
          <a:stretch>
            <a:fillRect/>
          </a:stretch>
        </p:blipFill>
        <p:spPr>
          <a:xfrm>
            <a:off x="7570748" y="3656900"/>
            <a:ext cx="3251941" cy="3251941"/>
          </a:xfrm>
          <a:prstGeom prst="rect">
            <a:avLst/>
          </a:prstGeom>
        </p:spPr>
      </p:pic>
    </p:spTree>
    <p:extLst>
      <p:ext uri="{BB962C8B-B14F-4D97-AF65-F5344CB8AC3E}">
        <p14:creationId xmlns:p14="http://schemas.microsoft.com/office/powerpoint/2010/main" val="825387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B187-9968-B206-6108-5CE0DEF7C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9147A-E496-7BAF-77FE-ED75E787E49E}"/>
              </a:ext>
            </a:extLst>
          </p:cNvPr>
          <p:cNvSpPr>
            <a:spLocks noGrp="1"/>
          </p:cNvSpPr>
          <p:nvPr>
            <p:ph type="title"/>
          </p:nvPr>
        </p:nvSpPr>
        <p:spPr/>
        <p:txBody>
          <a:bodyPr/>
          <a:lstStyle/>
          <a:p>
            <a:r>
              <a:rPr lang="en-US" dirty="0"/>
              <a:t>The Six Sigma Hysteria</a:t>
            </a:r>
          </a:p>
        </p:txBody>
      </p:sp>
      <p:sp>
        <p:nvSpPr>
          <p:cNvPr id="3" name="Text Placeholder 2">
            <a:extLst>
              <a:ext uri="{FF2B5EF4-FFF2-40B4-BE49-F238E27FC236}">
                <a16:creationId xmlns:a16="http://schemas.microsoft.com/office/drawing/2014/main" id="{D77E8250-949A-A004-3DB7-E943180D295F}"/>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3568468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C1E7-E402-7324-57CA-02DF45212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A79BA-9BA3-059D-4EF5-C640A57E9E5E}"/>
              </a:ext>
            </a:extLst>
          </p:cNvPr>
          <p:cNvSpPr>
            <a:spLocks noGrp="1"/>
          </p:cNvSpPr>
          <p:nvPr>
            <p:ph type="title"/>
          </p:nvPr>
        </p:nvSpPr>
        <p:spPr/>
        <p:txBody>
          <a:bodyPr>
            <a:noAutofit/>
          </a:bodyPr>
          <a:lstStyle/>
          <a:p>
            <a:r>
              <a:rPr lang="en-US" sz="4000" dirty="0"/>
              <a:t>The Six Sigma Hysteria – Discussion</a:t>
            </a:r>
          </a:p>
        </p:txBody>
      </p:sp>
      <p:sp>
        <p:nvSpPr>
          <p:cNvPr id="4" name="Content Placeholder 3">
            <a:extLst>
              <a:ext uri="{FF2B5EF4-FFF2-40B4-BE49-F238E27FC236}">
                <a16:creationId xmlns:a16="http://schemas.microsoft.com/office/drawing/2014/main" id="{A7B0688C-B3D8-BB13-2D10-089C073AB33D}"/>
              </a:ext>
            </a:extLst>
          </p:cNvPr>
          <p:cNvSpPr>
            <a:spLocks noGrp="1"/>
          </p:cNvSpPr>
          <p:nvPr>
            <p:ph sz="half" idx="2"/>
          </p:nvPr>
        </p:nvSpPr>
        <p:spPr/>
        <p:txBody>
          <a:bodyPr anchor="ctr">
            <a:normAutofit fontScale="92500" lnSpcReduction="20000"/>
          </a:bodyPr>
          <a:lstStyle/>
          <a:p>
            <a:pPr>
              <a:lnSpc>
                <a:spcPct val="110000"/>
              </a:lnSpc>
            </a:pPr>
            <a:r>
              <a:rPr lang="en-US" sz="2400" dirty="0"/>
              <a:t>What is the goal of Six Sigma, and how does it compare to the quality goal of TPS?</a:t>
            </a:r>
          </a:p>
          <a:p>
            <a:pPr>
              <a:lnSpc>
                <a:spcPct val="110000"/>
              </a:lnSpc>
            </a:pPr>
            <a:r>
              <a:rPr lang="en-US" sz="2400" dirty="0"/>
              <a:t>How does Six Sigma training potentially create a divide within organizations?</a:t>
            </a:r>
          </a:p>
          <a:p>
            <a:pPr>
              <a:lnSpc>
                <a:spcPct val="110000"/>
              </a:lnSpc>
            </a:pPr>
            <a:r>
              <a:rPr lang="en-US" sz="2400" dirty="0"/>
              <a:t>What does the paper say about improving versus eliminating wasteful processes?</a:t>
            </a:r>
          </a:p>
          <a:p>
            <a:pPr>
              <a:lnSpc>
                <a:spcPct val="110000"/>
              </a:lnSpc>
            </a:pPr>
            <a:r>
              <a:rPr lang="en-US" sz="2400" dirty="0"/>
              <a:t>What is a fundamental flaw in using Six Sigma as the primary driver of continuous improvement?</a:t>
            </a:r>
          </a:p>
        </p:txBody>
      </p:sp>
      <p:pic>
        <p:nvPicPr>
          <p:cNvPr id="16" name="Content Placeholder 15">
            <a:extLst>
              <a:ext uri="{FF2B5EF4-FFF2-40B4-BE49-F238E27FC236}">
                <a16:creationId xmlns:a16="http://schemas.microsoft.com/office/drawing/2014/main" id="{D08D53FE-9C43-1473-F9A0-3224D2DF9DB0}"/>
              </a:ext>
            </a:extLst>
          </p:cNvPr>
          <p:cNvPicPr>
            <a:picLocks noGrp="1" noChangeAspect="1"/>
          </p:cNvPicPr>
          <p:nvPr>
            <p:ph sz="half" idx="1"/>
          </p:nvPr>
        </p:nvPicPr>
        <p:blipFill>
          <a:blip r:embed="rId3"/>
          <a:stretch>
            <a:fillRect/>
          </a:stretch>
        </p:blipFill>
        <p:spPr>
          <a:xfrm>
            <a:off x="2177900" y="2060851"/>
            <a:ext cx="2649281" cy="3708993"/>
          </a:xfrm>
        </p:spPr>
      </p:pic>
    </p:spTree>
    <p:extLst>
      <p:ext uri="{BB962C8B-B14F-4D97-AF65-F5344CB8AC3E}">
        <p14:creationId xmlns:p14="http://schemas.microsoft.com/office/powerpoint/2010/main" val="382042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B41F-52F8-0A07-97E2-38FEED7C7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98706-27E8-65A9-0F63-6DDCB3F53FC2}"/>
              </a:ext>
            </a:extLst>
          </p:cNvPr>
          <p:cNvSpPr>
            <a:spLocks noGrp="1"/>
          </p:cNvSpPr>
          <p:nvPr>
            <p:ph type="title"/>
          </p:nvPr>
        </p:nvSpPr>
        <p:spPr/>
        <p:txBody>
          <a:bodyPr/>
          <a:lstStyle/>
          <a:p>
            <a:r>
              <a:rPr lang="en-US" dirty="0"/>
              <a:t>Strategy Deployment </a:t>
            </a:r>
            <a:br>
              <a:rPr lang="en-US" dirty="0"/>
            </a:br>
            <a:r>
              <a:rPr lang="en-US" dirty="0"/>
              <a:t>vs. Daily Management</a:t>
            </a:r>
          </a:p>
        </p:txBody>
      </p:sp>
      <p:sp>
        <p:nvSpPr>
          <p:cNvPr id="3" name="Text Placeholder 2">
            <a:extLst>
              <a:ext uri="{FF2B5EF4-FFF2-40B4-BE49-F238E27FC236}">
                <a16:creationId xmlns:a16="http://schemas.microsoft.com/office/drawing/2014/main" id="{99F81C96-2582-1EBC-4173-5386DC2CC525}"/>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3100026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06057-EF94-4942-50CA-124D1A1D5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70658-E2E2-1BBF-0662-DAFC4CA33DE5}"/>
              </a:ext>
            </a:extLst>
          </p:cNvPr>
          <p:cNvSpPr>
            <a:spLocks noGrp="1"/>
          </p:cNvSpPr>
          <p:nvPr>
            <p:ph type="title"/>
          </p:nvPr>
        </p:nvSpPr>
        <p:spPr/>
        <p:txBody>
          <a:bodyPr>
            <a:noAutofit/>
          </a:bodyPr>
          <a:lstStyle/>
          <a:p>
            <a:r>
              <a:rPr lang="en-US" sz="3200" dirty="0"/>
              <a:t>Strategy Deployment vs. Daily Management – </a:t>
            </a:r>
            <a:br>
              <a:rPr lang="en-US" sz="3200" dirty="0"/>
            </a:br>
            <a:r>
              <a:rPr lang="en-US" sz="3200" dirty="0"/>
              <a:t>Discussion</a:t>
            </a:r>
          </a:p>
        </p:txBody>
      </p:sp>
      <p:sp>
        <p:nvSpPr>
          <p:cNvPr id="4" name="Content Placeholder 3">
            <a:extLst>
              <a:ext uri="{FF2B5EF4-FFF2-40B4-BE49-F238E27FC236}">
                <a16:creationId xmlns:a16="http://schemas.microsoft.com/office/drawing/2014/main" id="{0AC2DC26-DF5B-BC04-3CD0-DC5D8C945EEA}"/>
              </a:ext>
            </a:extLst>
          </p:cNvPr>
          <p:cNvSpPr>
            <a:spLocks noGrp="1"/>
          </p:cNvSpPr>
          <p:nvPr>
            <p:ph sz="half" idx="2"/>
          </p:nvPr>
        </p:nvSpPr>
        <p:spPr/>
        <p:txBody>
          <a:bodyPr anchor="ctr">
            <a:normAutofit fontScale="85000" lnSpcReduction="20000"/>
          </a:bodyPr>
          <a:lstStyle/>
          <a:p>
            <a:pPr>
              <a:lnSpc>
                <a:spcPct val="110000"/>
              </a:lnSpc>
            </a:pPr>
            <a:r>
              <a:rPr lang="en-US" sz="2400" dirty="0"/>
              <a:t>What is the primary focus of Strategy Deployment?</a:t>
            </a:r>
          </a:p>
          <a:p>
            <a:pPr>
              <a:lnSpc>
                <a:spcPct val="110000"/>
              </a:lnSpc>
            </a:pPr>
            <a:r>
              <a:rPr lang="en-US" sz="2400" dirty="0"/>
              <a:t>How does Daily Management differ from Strategy Deployment in terms of organizational involvement?</a:t>
            </a:r>
          </a:p>
          <a:p>
            <a:pPr>
              <a:lnSpc>
                <a:spcPct val="110000"/>
              </a:lnSpc>
            </a:pPr>
            <a:r>
              <a:rPr lang="en-US" sz="2400" dirty="0"/>
              <a:t>How does a strong Daily Management system support Strategy Deployment?</a:t>
            </a:r>
          </a:p>
          <a:p>
            <a:pPr>
              <a:lnSpc>
                <a:spcPct val="110000"/>
              </a:lnSpc>
            </a:pPr>
            <a:r>
              <a:rPr lang="en-US" sz="2400" dirty="0"/>
              <a:t>How does Strategy Deployment create “alignment and focus” within the organization?</a:t>
            </a:r>
          </a:p>
          <a:p>
            <a:pPr>
              <a:lnSpc>
                <a:spcPct val="110000"/>
              </a:lnSpc>
            </a:pPr>
            <a:r>
              <a:rPr lang="en-US" sz="2400" dirty="0"/>
              <a:t>Why is it often challenging for leaders to limit involvement in Strategy Deployment to select team members?</a:t>
            </a:r>
          </a:p>
        </p:txBody>
      </p:sp>
      <p:pic>
        <p:nvPicPr>
          <p:cNvPr id="12" name="Content Placeholder 11">
            <a:extLst>
              <a:ext uri="{FF2B5EF4-FFF2-40B4-BE49-F238E27FC236}">
                <a16:creationId xmlns:a16="http://schemas.microsoft.com/office/drawing/2014/main" id="{897BBD5D-0D52-5D4B-B296-691F7322C8B6}"/>
              </a:ext>
            </a:extLst>
          </p:cNvPr>
          <p:cNvPicPr>
            <a:picLocks noGrp="1" noChangeAspect="1"/>
          </p:cNvPicPr>
          <p:nvPr>
            <p:ph sz="half" idx="1"/>
          </p:nvPr>
        </p:nvPicPr>
        <p:blipFill>
          <a:blip r:embed="rId3"/>
          <a:stretch>
            <a:fillRect/>
          </a:stretch>
        </p:blipFill>
        <p:spPr>
          <a:xfrm>
            <a:off x="838200" y="2274769"/>
            <a:ext cx="5181600" cy="3453050"/>
          </a:xfrm>
        </p:spPr>
      </p:pic>
    </p:spTree>
    <p:extLst>
      <p:ext uri="{BB962C8B-B14F-4D97-AF65-F5344CB8AC3E}">
        <p14:creationId xmlns:p14="http://schemas.microsoft.com/office/powerpoint/2010/main" val="803308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BFDC-2303-DFF1-9F87-AC0ED9435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84FC6-2A21-5B41-2124-924C114FB8D9}"/>
              </a:ext>
            </a:extLst>
          </p:cNvPr>
          <p:cNvSpPr>
            <a:spLocks noGrp="1"/>
          </p:cNvSpPr>
          <p:nvPr>
            <p:ph type="title"/>
          </p:nvPr>
        </p:nvSpPr>
        <p:spPr/>
        <p:txBody>
          <a:bodyPr/>
          <a:lstStyle/>
          <a:p>
            <a:r>
              <a:rPr lang="en-US" dirty="0"/>
              <a:t>Lean Leadership and the Respect for People Principle</a:t>
            </a:r>
          </a:p>
        </p:txBody>
      </p:sp>
      <p:sp>
        <p:nvSpPr>
          <p:cNvPr id="3" name="Text Placeholder 2">
            <a:extLst>
              <a:ext uri="{FF2B5EF4-FFF2-40B4-BE49-F238E27FC236}">
                <a16:creationId xmlns:a16="http://schemas.microsoft.com/office/drawing/2014/main" id="{E932846D-2688-A6D3-EBD3-395CCC5AC02B}"/>
              </a:ext>
            </a:extLst>
          </p:cNvPr>
          <p:cNvSpPr>
            <a:spLocks noGrp="1"/>
          </p:cNvSpPr>
          <p:nvPr>
            <p:ph type="body" idx="1"/>
          </p:nvPr>
        </p:nvSpPr>
        <p:spPr/>
        <p:txBody>
          <a:bodyPr/>
          <a:lstStyle/>
          <a:p>
            <a:r>
              <a:rPr lang="en-US" dirty="0"/>
              <a:t>Discussion</a:t>
            </a:r>
          </a:p>
        </p:txBody>
      </p:sp>
    </p:spTree>
    <p:extLst>
      <p:ext uri="{BB962C8B-B14F-4D97-AF65-F5344CB8AC3E}">
        <p14:creationId xmlns:p14="http://schemas.microsoft.com/office/powerpoint/2010/main" val="2868606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48488-38D4-F0DA-B362-E9657585A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16917-E956-EB9B-633D-61F60F4AC354}"/>
              </a:ext>
            </a:extLst>
          </p:cNvPr>
          <p:cNvSpPr>
            <a:spLocks noGrp="1"/>
          </p:cNvSpPr>
          <p:nvPr>
            <p:ph type="title"/>
          </p:nvPr>
        </p:nvSpPr>
        <p:spPr/>
        <p:txBody>
          <a:bodyPr>
            <a:noAutofit/>
          </a:bodyPr>
          <a:lstStyle/>
          <a:p>
            <a:r>
              <a:rPr lang="en-US" sz="3200" dirty="0"/>
              <a:t>Lean Leadership and the Respect for People Principle - Discussion</a:t>
            </a:r>
          </a:p>
        </p:txBody>
      </p:sp>
      <p:sp>
        <p:nvSpPr>
          <p:cNvPr id="4" name="Content Placeholder 3">
            <a:extLst>
              <a:ext uri="{FF2B5EF4-FFF2-40B4-BE49-F238E27FC236}">
                <a16:creationId xmlns:a16="http://schemas.microsoft.com/office/drawing/2014/main" id="{9EE7ABEA-3C48-5707-FE54-146FF857A1CB}"/>
              </a:ext>
            </a:extLst>
          </p:cNvPr>
          <p:cNvSpPr>
            <a:spLocks noGrp="1"/>
          </p:cNvSpPr>
          <p:nvPr>
            <p:ph sz="half" idx="2"/>
          </p:nvPr>
        </p:nvSpPr>
        <p:spPr/>
        <p:txBody>
          <a:bodyPr anchor="ctr">
            <a:normAutofit lnSpcReduction="10000"/>
          </a:bodyPr>
          <a:lstStyle/>
          <a:p>
            <a:pPr>
              <a:lnSpc>
                <a:spcPct val="110000"/>
              </a:lnSpc>
            </a:pPr>
            <a:r>
              <a:rPr lang="en-US" sz="2400" dirty="0"/>
              <a:t>What is the Respect for People (RFP) principle?</a:t>
            </a:r>
          </a:p>
          <a:p>
            <a:pPr>
              <a:lnSpc>
                <a:spcPct val="110000"/>
              </a:lnSpc>
            </a:pPr>
            <a:r>
              <a:rPr lang="en-US" sz="2400" dirty="0"/>
              <a:t>What is the role of Jidoka with RFP?</a:t>
            </a:r>
          </a:p>
          <a:p>
            <a:pPr>
              <a:lnSpc>
                <a:spcPct val="110000"/>
              </a:lnSpc>
            </a:pPr>
            <a:r>
              <a:rPr lang="en-US" sz="2400" dirty="0"/>
              <a:t>What did the research find about employees' experience with Kaizen?</a:t>
            </a:r>
          </a:p>
          <a:p>
            <a:pPr>
              <a:lnSpc>
                <a:spcPct val="110000"/>
              </a:lnSpc>
            </a:pPr>
            <a:r>
              <a:rPr lang="en-US" sz="2400" dirty="0"/>
              <a:t>What concern does the RFP principle raise regarding productivity improvements?</a:t>
            </a:r>
          </a:p>
        </p:txBody>
      </p:sp>
      <p:pic>
        <p:nvPicPr>
          <p:cNvPr id="7" name="Content Placeholder 6">
            <a:extLst>
              <a:ext uri="{FF2B5EF4-FFF2-40B4-BE49-F238E27FC236}">
                <a16:creationId xmlns:a16="http://schemas.microsoft.com/office/drawing/2014/main" id="{258C9060-AD9F-213D-24DD-B7A70EE19F9A}"/>
              </a:ext>
            </a:extLst>
          </p:cNvPr>
          <p:cNvPicPr>
            <a:picLocks noGrp="1" noChangeAspect="1"/>
          </p:cNvPicPr>
          <p:nvPr>
            <p:ph sz="half" idx="1"/>
          </p:nvPr>
        </p:nvPicPr>
        <p:blipFill>
          <a:blip r:embed="rId3"/>
          <a:stretch>
            <a:fillRect/>
          </a:stretch>
        </p:blipFill>
        <p:spPr>
          <a:xfrm>
            <a:off x="838200" y="2058194"/>
            <a:ext cx="5181600" cy="3886200"/>
          </a:xfrm>
        </p:spPr>
      </p:pic>
    </p:spTree>
    <p:extLst>
      <p:ext uri="{BB962C8B-B14F-4D97-AF65-F5344CB8AC3E}">
        <p14:creationId xmlns:p14="http://schemas.microsoft.com/office/powerpoint/2010/main" val="69793409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14481</TotalTime>
  <Words>2988</Words>
  <Application>Microsoft Office PowerPoint</Application>
  <PresentationFormat>Widescreen</PresentationFormat>
  <Paragraphs>290</Paragraphs>
  <Slides>25</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Calibri</vt:lpstr>
      <vt:lpstr>CIDFont+F1</vt:lpstr>
      <vt:lpstr>CIDFont+F2</vt:lpstr>
      <vt:lpstr>Courier New</vt:lpstr>
      <vt:lpstr>Roboto</vt:lpstr>
      <vt:lpstr>Roboto Medium</vt:lpstr>
      <vt:lpstr>Symbol</vt:lpstr>
      <vt:lpstr>Times New Roman</vt:lpstr>
      <vt:lpstr>TimesNewRomanPSMT</vt:lpstr>
      <vt:lpstr>Office Theme</vt:lpstr>
      <vt:lpstr>PowerPoint Presentation</vt:lpstr>
      <vt:lpstr>PowerPoint Presentation</vt:lpstr>
      <vt:lpstr>PowerPoint Presentation</vt:lpstr>
      <vt:lpstr>Ground Rules for Event</vt:lpstr>
      <vt:lpstr>Decoding the DNA of the Toyota Production System</vt:lpstr>
      <vt:lpstr>Decoding the DNA of the Toyota Production System - Discussion</vt:lpstr>
      <vt:lpstr>Decoding the DNA of the Toyota Production System - Discussion</vt:lpstr>
      <vt:lpstr>Business Week Article - A Dynamo Called Danaher</vt:lpstr>
      <vt:lpstr>HBR Case Study on Danaher</vt:lpstr>
      <vt:lpstr>The Journey from Doing Lean to Being Lean</vt:lpstr>
      <vt:lpstr>The Journey from Do to Be</vt:lpstr>
      <vt:lpstr>The Journey from Do to Be</vt:lpstr>
      <vt:lpstr>The Journey from Do to Be</vt:lpstr>
      <vt:lpstr>The Lean Trilogy</vt:lpstr>
      <vt:lpstr>The Lean Turnaround  by Art Byrne</vt:lpstr>
      <vt:lpstr>Decoding the DNA of the Toyota Production System - Discussion</vt:lpstr>
      <vt:lpstr>Decoding the DNA of the Toyota Production System - Discussion</vt:lpstr>
      <vt:lpstr>DBS vs. TPS</vt:lpstr>
      <vt:lpstr>DBS vs. TPS</vt:lpstr>
      <vt:lpstr>The Six Sigma Hysteria</vt:lpstr>
      <vt:lpstr>The Six Sigma Hysteria – Discussion</vt:lpstr>
      <vt:lpstr>Strategy Deployment  vs. Daily Management</vt:lpstr>
      <vt:lpstr>Strategy Deployment vs. Daily Management –  Discussion</vt:lpstr>
      <vt:lpstr>Lean Leadership and the Respect for People Principle</vt:lpstr>
      <vt:lpstr>Lean Leadership and the Respect for People Principle -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386</cp:revision>
  <dcterms:created xsi:type="dcterms:W3CDTF">2023-02-08T22:10:20Z</dcterms:created>
  <dcterms:modified xsi:type="dcterms:W3CDTF">2024-10-30T23:33:01Z</dcterms:modified>
</cp:coreProperties>
</file>