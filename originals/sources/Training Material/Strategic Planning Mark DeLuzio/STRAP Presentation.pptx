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sldIdLst>
    <p:sldId id="256" r:id="rId2"/>
    <p:sldId id="287" r:id="rId3"/>
    <p:sldId id="290" r:id="rId4"/>
    <p:sldId id="289" r:id="rId5"/>
    <p:sldId id="1632" r:id="rId6"/>
    <p:sldId id="1634" r:id="rId7"/>
    <p:sldId id="1635" r:id="rId8"/>
    <p:sldId id="1637" r:id="rId9"/>
    <p:sldId id="1670" r:id="rId10"/>
    <p:sldId id="1671" r:id="rId11"/>
    <p:sldId id="1672" r:id="rId12"/>
    <p:sldId id="1674" r:id="rId13"/>
    <p:sldId id="1639" r:id="rId14"/>
    <p:sldId id="1642" r:id="rId15"/>
    <p:sldId id="1643" r:id="rId16"/>
    <p:sldId id="1644" r:id="rId17"/>
    <p:sldId id="1645" r:id="rId18"/>
    <p:sldId id="1666" r:id="rId19"/>
    <p:sldId id="1636" r:id="rId20"/>
    <p:sldId id="1646" r:id="rId21"/>
    <p:sldId id="268" r:id="rId22"/>
    <p:sldId id="269" r:id="rId23"/>
    <p:sldId id="1647" r:id="rId24"/>
    <p:sldId id="1658" r:id="rId25"/>
    <p:sldId id="1649" r:id="rId26"/>
    <p:sldId id="1650" r:id="rId27"/>
    <p:sldId id="1651" r:id="rId28"/>
    <p:sldId id="1659" r:id="rId29"/>
    <p:sldId id="1652" r:id="rId30"/>
    <p:sldId id="1673" r:id="rId31"/>
    <p:sldId id="1660" r:id="rId32"/>
    <p:sldId id="1653" r:id="rId33"/>
    <p:sldId id="1661" r:id="rId34"/>
    <p:sldId id="1654" r:id="rId35"/>
    <p:sldId id="1662" r:id="rId36"/>
    <p:sldId id="1655" r:id="rId37"/>
    <p:sldId id="1663" r:id="rId38"/>
    <p:sldId id="1656" r:id="rId39"/>
    <p:sldId id="1664" r:id="rId40"/>
    <p:sldId id="1657" r:id="rId41"/>
    <p:sldId id="1677" r:id="rId42"/>
    <p:sldId id="1675" r:id="rId43"/>
    <p:sldId id="1665" r:id="rId44"/>
    <p:sldId id="1676" r:id="rId45"/>
    <p:sldId id="1667" r:id="rId46"/>
    <p:sldId id="1668" r:id="rId4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"/>
      </a:defRPr>
    </a:lvl1pPr>
    <a:lvl2pPr marL="0" marR="0" indent="3429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"/>
      </a:defRPr>
    </a:lvl2pPr>
    <a:lvl3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"/>
      </a:defRPr>
    </a:lvl3pPr>
    <a:lvl4pPr marL="0" marR="0" indent="10287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"/>
      </a:defRPr>
    </a:lvl4pPr>
    <a:lvl5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"/>
      </a:defRPr>
    </a:lvl5pPr>
    <a:lvl6pPr marL="0" marR="0" indent="17145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"/>
      </a:defRPr>
    </a:lvl6pPr>
    <a:lvl7pPr marL="0" marR="0" indent="2057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"/>
      </a:defRPr>
    </a:lvl7pPr>
    <a:lvl8pPr marL="0" marR="0" indent="24003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"/>
      </a:defRPr>
    </a:lvl8pPr>
    <a:lvl9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6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Robot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BFF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5B5854"/>
        </a:fontRef>
        <a:srgbClr val="5B5854"/>
      </a:tcTxStyle>
      <a:tcStyle>
        <a:tcBdr>
          <a:left>
            <a:ln w="25400" cap="flat">
              <a:solidFill>
                <a:srgbClr val="5B5854"/>
              </a:solidFill>
              <a:custDash>
                <a:ds d="200000" sp="200000"/>
              </a:custDash>
              <a:miter lim="400000"/>
            </a:ln>
          </a:left>
          <a:right>
            <a:ln w="25400" cap="flat">
              <a:solidFill>
                <a:srgbClr val="5B5854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B5854"/>
              </a:solidFill>
              <a:prstDash val="solid"/>
              <a:miter lim="400000"/>
            </a:ln>
          </a:top>
          <a:bottom>
            <a:ln w="12700" cap="flat">
              <a:solidFill>
                <a:srgbClr val="5B5854"/>
              </a:solidFill>
              <a:prstDash val="solid"/>
              <a:miter lim="400000"/>
            </a:ln>
          </a:bottom>
          <a:insideH>
            <a:ln w="12700" cap="flat">
              <a:solidFill>
                <a:srgbClr val="5B5854"/>
              </a:solidFill>
              <a:prstDash val="solid"/>
              <a:miter lim="400000"/>
            </a:ln>
          </a:insideH>
          <a:insideV>
            <a:ln w="25400" cap="flat">
              <a:solidFill>
                <a:srgbClr val="5B5854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2">
              <a:hueOff val="-1122706"/>
              <a:satOff val="6504"/>
              <a:lumOff val="15871"/>
              <a:alpha val="17000"/>
            </a:schemeClr>
          </a:solidFill>
        </a:fill>
      </a:tcStyle>
    </a:band2H>
    <a:firstCol>
      <a:tcTxStyle b="on" i="off">
        <a:fontRef idx="minor">
          <a:srgbClr val="5B5854"/>
        </a:fontRef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38100" cap="flat">
              <a:solidFill>
                <a:srgbClr val="5B5854"/>
              </a:solidFill>
              <a:prstDash val="solid"/>
              <a:miter lim="400000"/>
            </a:ln>
          </a:right>
          <a:top>
            <a:ln w="12700" cap="flat">
              <a:solidFill>
                <a:srgbClr val="5B5854"/>
              </a:solidFill>
              <a:prstDash val="solid"/>
              <a:miter lim="400000"/>
            </a:ln>
          </a:top>
          <a:bottom>
            <a:ln w="12700" cap="flat">
              <a:solidFill>
                <a:srgbClr val="5B5854"/>
              </a:solidFill>
              <a:prstDash val="solid"/>
              <a:miter lim="400000"/>
            </a:ln>
          </a:bottom>
          <a:insideH>
            <a:ln w="12700" cap="flat">
              <a:solidFill>
                <a:srgbClr val="5B5854"/>
              </a:solidFill>
              <a:prstDash val="solid"/>
              <a:miter lim="400000"/>
            </a:ln>
          </a:insideH>
          <a:insideV>
            <a:ln w="12700" cap="flat">
              <a:solidFill>
                <a:srgbClr val="5B5854"/>
              </a:solidFill>
              <a:prstDash val="solid"/>
              <a:miter lim="400000"/>
            </a:ln>
          </a:insideV>
        </a:tcBdr>
        <a:fill>
          <a:solidFill>
            <a:srgbClr val="809E35">
              <a:alpha val="10000"/>
            </a:srgbClr>
          </a:solidFill>
        </a:fill>
      </a:tcStyle>
    </a:firstCol>
    <a:lastRow>
      <a:tcTxStyle b="on" i="off">
        <a:fontRef idx="minor">
          <a:srgbClr val="5B5854"/>
        </a:fontRef>
        <a:srgbClr val="5B5854"/>
      </a:tcTxStyle>
      <a:tcStyle>
        <a:tcBdr>
          <a:left>
            <a:ln w="12700" cap="flat">
              <a:solidFill>
                <a:srgbClr val="5B5854"/>
              </a:solidFill>
              <a:prstDash val="solid"/>
              <a:miter lim="400000"/>
            </a:ln>
          </a:left>
          <a:right>
            <a:ln w="12700" cap="flat">
              <a:solidFill>
                <a:srgbClr val="5B5854"/>
              </a:solidFill>
              <a:prstDash val="solid"/>
              <a:miter lim="400000"/>
            </a:ln>
          </a:right>
          <a:top>
            <a:ln w="38100" cap="flat">
              <a:solidFill>
                <a:srgbClr val="5B585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5B5854"/>
              </a:solidFill>
              <a:prstDash val="solid"/>
              <a:miter lim="400000"/>
            </a:ln>
          </a:insideH>
          <a:insideV>
            <a:ln w="12700" cap="flat">
              <a:solidFill>
                <a:srgbClr val="5B5854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5B5854"/>
        </a:fontRef>
        <a:srgbClr val="5B5854"/>
      </a:tcTxStyle>
      <a:tcStyle>
        <a:tcBdr>
          <a:left>
            <a:ln w="12700" cap="flat">
              <a:solidFill>
                <a:srgbClr val="5B5854"/>
              </a:solidFill>
              <a:prstDash val="solid"/>
              <a:miter lim="400000"/>
            </a:ln>
          </a:left>
          <a:right>
            <a:ln w="12700" cap="flat">
              <a:solidFill>
                <a:srgbClr val="5B5854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8100" cap="flat">
              <a:solidFill>
                <a:srgbClr val="5B5854"/>
              </a:solidFill>
              <a:prstDash val="solid"/>
              <a:miter lim="400000"/>
            </a:ln>
          </a:bottom>
          <a:insideH>
            <a:ln w="12700" cap="flat">
              <a:solidFill>
                <a:srgbClr val="5B5854"/>
              </a:solidFill>
              <a:prstDash val="solid"/>
              <a:miter lim="400000"/>
            </a:ln>
          </a:insideH>
          <a:insideV>
            <a:ln w="12700" cap="flat">
              <a:solidFill>
                <a:srgbClr val="5B5854"/>
              </a:solidFill>
              <a:prstDash val="solid"/>
              <a:miter lim="400000"/>
            </a:ln>
          </a:insideV>
        </a:tcBdr>
        <a:fill>
          <a:solidFill>
            <a:srgbClr val="619E5C">
              <a:alpha val="15000"/>
            </a:srgbClr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5B5854"/>
        </a:fontRef>
        <a:srgbClr val="5B5854"/>
      </a:tcTxStyle>
      <a:tcStyle>
        <a:tcBdr>
          <a:left>
            <a:ln w="12700" cap="flat">
              <a:solidFill>
                <a:srgbClr val="BDBBB3"/>
              </a:solidFill>
              <a:prstDash val="solid"/>
              <a:miter lim="400000"/>
            </a:ln>
          </a:left>
          <a:right>
            <a:ln w="12700" cap="flat">
              <a:solidFill>
                <a:srgbClr val="BDBBB3"/>
              </a:solidFill>
              <a:prstDash val="solid"/>
              <a:miter lim="400000"/>
            </a:ln>
          </a:right>
          <a:top>
            <a:ln w="12700" cap="flat">
              <a:solidFill>
                <a:srgbClr val="A5A59F"/>
              </a:solidFill>
              <a:prstDash val="solid"/>
              <a:miter lim="400000"/>
            </a:ln>
          </a:top>
          <a:bottom>
            <a:ln w="12700" cap="flat">
              <a:solidFill>
                <a:srgbClr val="A5A59F"/>
              </a:solidFill>
              <a:prstDash val="solid"/>
              <a:miter lim="400000"/>
            </a:ln>
          </a:bottom>
          <a:insideH>
            <a:ln w="12700" cap="flat">
              <a:solidFill>
                <a:srgbClr val="A5A59F"/>
              </a:solidFill>
              <a:prstDash val="solid"/>
              <a:miter lim="400000"/>
            </a:ln>
          </a:insideH>
          <a:insideV>
            <a:ln w="12700" cap="flat">
              <a:solidFill>
                <a:srgbClr val="BDBBB3"/>
              </a:solidFill>
              <a:prstDash val="solid"/>
              <a:miter lim="400000"/>
            </a:ln>
          </a:insideV>
        </a:tcBdr>
        <a:fill>
          <a:solidFill>
            <a:srgbClr val="E7E3D2"/>
          </a:solidFill>
        </a:fill>
      </a:tcStyle>
    </a:wholeTbl>
    <a:band2H>
      <a:tcTxStyle/>
      <a:tcStyle>
        <a:tcBdr/>
        <a:fill>
          <a:solidFill>
            <a:srgbClr val="F6F2E5"/>
          </a:solidFill>
        </a:fill>
      </a:tcStyle>
    </a:band2H>
    <a:firstCol>
      <a:tcTxStyle b="on" i="off">
        <a:fontRef idx="minor">
          <a:srgbClr val="5B5854"/>
        </a:fontRef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A5A59F"/>
              </a:solidFill>
              <a:prstDash val="solid"/>
              <a:miter lim="400000"/>
            </a:ln>
          </a:right>
          <a:top>
            <a:ln w="12700" cap="flat">
              <a:solidFill>
                <a:srgbClr val="A5A59F"/>
              </a:solidFill>
              <a:prstDash val="solid"/>
              <a:miter lim="400000"/>
            </a:ln>
          </a:top>
          <a:bottom>
            <a:ln w="12700" cap="flat">
              <a:solidFill>
                <a:srgbClr val="A5A59F"/>
              </a:solidFill>
              <a:prstDash val="solid"/>
              <a:miter lim="400000"/>
            </a:ln>
          </a:bottom>
          <a:insideH>
            <a:ln w="12700" cap="flat">
              <a:solidFill>
                <a:srgbClr val="A5A59F"/>
              </a:solidFill>
              <a:prstDash val="solid"/>
              <a:miter lim="400000"/>
            </a:ln>
          </a:insideH>
          <a:insideV>
            <a:ln w="12700" cap="flat">
              <a:solidFill>
                <a:srgbClr val="A5A59F"/>
              </a:solidFill>
              <a:prstDash val="solid"/>
              <a:miter lim="400000"/>
            </a:ln>
          </a:insideV>
        </a:tcBdr>
        <a:fill>
          <a:solidFill>
            <a:srgbClr val="D3CDB7"/>
          </a:solidFill>
        </a:fill>
      </a:tcStyle>
    </a:firstCol>
    <a:lastRow>
      <a:tcTxStyle b="on" i="off">
        <a:fontRef idx="minor">
          <a:srgbClr val="5B5854"/>
        </a:fontRef>
        <a:srgbClr val="5B5854"/>
      </a:tcTxStyle>
      <a:tcStyle>
        <a:tcBdr>
          <a:left>
            <a:ln w="12700" cap="flat">
              <a:solidFill>
                <a:srgbClr val="A5A59F"/>
              </a:solidFill>
              <a:prstDash val="solid"/>
              <a:miter lim="400000"/>
            </a:ln>
          </a:left>
          <a:right>
            <a:ln w="12700" cap="flat">
              <a:solidFill>
                <a:srgbClr val="A5A59F"/>
              </a:solidFill>
              <a:prstDash val="solid"/>
              <a:miter lim="400000"/>
            </a:ln>
          </a:right>
          <a:top>
            <a:ln w="12700" cap="flat">
              <a:solidFill>
                <a:srgbClr val="A5A59F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A5A59F"/>
              </a:solidFill>
              <a:prstDash val="solid"/>
              <a:miter lim="400000"/>
            </a:ln>
          </a:insideH>
          <a:insideV>
            <a:ln w="12700" cap="flat">
              <a:solidFill>
                <a:srgbClr val="A5A59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8E755A"/>
              </a:solidFill>
              <a:prstDash val="solid"/>
              <a:miter lim="400000"/>
            </a:ln>
          </a:left>
          <a:right>
            <a:ln w="12700" cap="flat">
              <a:solidFill>
                <a:srgbClr val="8E755A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A5A59F"/>
              </a:solidFill>
              <a:prstDash val="solid"/>
              <a:miter lim="400000"/>
            </a:ln>
          </a:bottom>
          <a:insideH>
            <a:ln w="12700" cap="flat">
              <a:solidFill>
                <a:srgbClr val="8E755A"/>
              </a:solidFill>
              <a:prstDash val="solid"/>
              <a:miter lim="400000"/>
            </a:ln>
          </a:insideH>
          <a:insideV>
            <a:ln w="12700" cap="flat">
              <a:solidFill>
                <a:srgbClr val="8E755A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Ref idx="minor">
          <a:srgbClr val="5B5854"/>
        </a:fontRef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DBBB3"/>
              </a:solidFill>
              <a:prstDash val="solid"/>
              <a:miter lim="400000"/>
            </a:ln>
          </a:top>
          <a:bottom>
            <a:ln w="12700" cap="flat">
              <a:solidFill>
                <a:srgbClr val="BDBBB3"/>
              </a:solidFill>
              <a:prstDash val="solid"/>
              <a:miter lim="400000"/>
            </a:ln>
          </a:bottom>
          <a:insideH>
            <a:ln w="12700" cap="flat">
              <a:solidFill>
                <a:srgbClr val="BDBBB3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3DA"/>
          </a:solidFill>
        </a:fill>
      </a:tcStyle>
    </a:wholeTbl>
    <a:band2H>
      <a:tcTxStyle/>
      <a:tcStyle>
        <a:tcBdr/>
        <a:fill>
          <a:solidFill>
            <a:srgbClr val="F9F5E8"/>
          </a:solidFill>
        </a:fill>
      </a:tcStyle>
    </a:band2H>
    <a:firstCol>
      <a:tcTxStyle b="on" i="off">
        <a:fontRef idx="minor">
          <a:srgbClr val="5B5854"/>
        </a:fontRef>
        <a:srgbClr val="5B5854"/>
      </a:tcTxStyle>
      <a:tcStyle>
        <a:tcBdr>
          <a:left>
            <a:ln w="12700" cap="flat">
              <a:solidFill>
                <a:srgbClr val="A5A59F"/>
              </a:solidFill>
              <a:prstDash val="solid"/>
              <a:miter lim="400000"/>
            </a:ln>
          </a:left>
          <a:right>
            <a:ln w="12700" cap="flat">
              <a:solidFill>
                <a:srgbClr val="A5A59F"/>
              </a:solidFill>
              <a:prstDash val="solid"/>
              <a:miter lim="400000"/>
            </a:ln>
          </a:right>
          <a:top>
            <a:ln w="12700" cap="flat">
              <a:solidFill>
                <a:srgbClr val="A5A59F"/>
              </a:solidFill>
              <a:prstDash val="solid"/>
              <a:miter lim="400000"/>
            </a:ln>
          </a:top>
          <a:bottom>
            <a:ln w="12700" cap="flat">
              <a:solidFill>
                <a:srgbClr val="A5A59F"/>
              </a:solidFill>
              <a:prstDash val="solid"/>
              <a:miter lim="400000"/>
            </a:ln>
          </a:bottom>
          <a:insideH>
            <a:ln w="12700" cap="flat">
              <a:solidFill>
                <a:srgbClr val="A5A59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6D5D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DBBB3"/>
              </a:solidFill>
              <a:prstDash val="solid"/>
              <a:miter lim="400000"/>
            </a:ln>
          </a:top>
          <a:bottom>
            <a:ln w="12700" cap="flat">
              <a:solidFill>
                <a:srgbClr val="A5A59F"/>
              </a:solidFill>
              <a:prstDash val="solid"/>
              <a:miter lim="400000"/>
            </a:ln>
          </a:bottom>
          <a:insideH>
            <a:ln w="12700" cap="flat">
              <a:solidFill>
                <a:srgbClr val="4D6166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A5A59F"/>
              </a:solidFill>
              <a:prstDash val="solid"/>
              <a:miter lim="400000"/>
            </a:ln>
          </a:top>
          <a:bottom>
            <a:ln w="12700" cap="flat">
              <a:solidFill>
                <a:srgbClr val="BDBBB3"/>
              </a:solidFill>
              <a:prstDash val="solid"/>
              <a:miter lim="400000"/>
            </a:ln>
          </a:bottom>
          <a:insideH>
            <a:ln w="12700" cap="flat">
              <a:solidFill>
                <a:srgbClr val="657477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CF821DB8-F4EB-4A41-A1BA-3FCAFE7338EE}" styleName="">
    <a:tblBg/>
    <a:wholeTbl>
      <a:tcTxStyle b="off" i="off">
        <a:fontRef idx="minor">
          <a:srgbClr val="5B5854"/>
        </a:fontRef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AAA6A6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AAA6A6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AAA6A6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FECE2"/>
          </a:solidFill>
        </a:fill>
      </a:tcStyle>
    </a:wholeTbl>
    <a:band2H>
      <a:tcTxStyle/>
      <a:tcStyle>
        <a:tcBdr/>
        <a:fill>
          <a:solidFill>
            <a:srgbClr val="FFFBF1"/>
          </a:solidFill>
        </a:fill>
      </a:tcStyle>
    </a:band2H>
    <a:firstCol>
      <a:tcTxStyle b="on" i="off">
        <a:fontRef idx="minor">
          <a:srgbClr val="5B5854"/>
        </a:fontRef>
        <a:srgbClr val="5B5854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A29A85"/>
              </a:solidFill>
              <a:prstDash val="solid"/>
              <a:miter lim="400000"/>
            </a:ln>
          </a:right>
          <a:top>
            <a:ln w="12700" cap="flat">
              <a:solidFill>
                <a:srgbClr val="AAA6A6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AAA6A6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AAA6A6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4D8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A29A85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A29A85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A29A85"/>
              </a:solidFill>
              <a:prstDash val="solid"/>
              <a:miter lim="400000"/>
            </a:ln>
          </a:bottom>
          <a:insideH>
            <a:ln w="12700" cap="flat">
              <a:solidFill>
                <a:srgbClr val="A29A85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Row>
  </a:tblStyle>
  <a:tblStyle styleId="{33BA23B1-9221-436E-865A-0063620EA4FD}" styleName="">
    <a:tblBg/>
    <a:wholeTbl>
      <a:tcTxStyle b="off" i="off">
        <a:fontRef idx="minor">
          <a:srgbClr val="5B5854"/>
        </a:fontRef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6D2C0">
              <a:alpha val="50000"/>
            </a:srgbClr>
          </a:solidFill>
        </a:fill>
      </a:tcStyle>
    </a:wholeTbl>
    <a:band2H>
      <a:tcTxStyle/>
      <a:tcStyle>
        <a:tcBdr/>
        <a:fill>
          <a:solidFill>
            <a:srgbClr val="E9E7DC"/>
          </a:solidFill>
        </a:fill>
      </a:tcStyle>
    </a:band2H>
    <a:firstCol>
      <a:tcTxStyle b="on" i="off">
        <a:fontRef idx="minor">
          <a:srgbClr val="5B5854"/>
        </a:fontRef>
        <a:srgbClr val="5B5854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C5BEAA"/>
          </a:solidFill>
        </a:fill>
      </a:tcStyle>
    </a:firstCol>
    <a:lastRow>
      <a:tcTxStyle b="on" i="off">
        <a:fontRef idx="minor">
          <a:srgbClr val="5B5854"/>
        </a:fontRef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D6D2C0">
              <a:alpha val="25000"/>
            </a:srgbClr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254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28C7D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5B5854"/>
        </a:fontRef>
        <a:srgbClr val="5B5854"/>
      </a:tcTxStyle>
      <a:tcStyle>
        <a:tcBdr>
          <a:left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left>
          <a:right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top>
          <a:bottom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bottom>
          <a:insideH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H>
          <a:insideV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2">
              <a:hueOff val="-1122706"/>
              <a:satOff val="6504"/>
              <a:lumOff val="15871"/>
              <a:alpha val="12000"/>
            </a:schemeClr>
          </a:solidFill>
        </a:fill>
      </a:tcStyle>
    </a:band2H>
    <a:firstCol>
      <a:tcTxStyle b="on" i="off">
        <a:fontRef idx="minor">
          <a:srgbClr val="5B5854"/>
        </a:fontRef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50800" cap="flat">
              <a:solidFill>
                <a:schemeClr val="accent5">
                  <a:alpha val="75000"/>
                </a:schemeClr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top>
          <a:bottom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bottom>
          <a:insideH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H>
          <a:insideV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5B5854"/>
        </a:fontRef>
        <a:srgbClr val="5B5854"/>
      </a:tcTxStyle>
      <a:tcStyle>
        <a:tcBdr>
          <a:left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left>
          <a:right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right>
          <a:top>
            <a:ln w="50800" cap="flat">
              <a:solidFill>
                <a:schemeClr val="accent5">
                  <a:alpha val="75000"/>
                </a:schemeClr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H>
          <a:insideV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5B5854"/>
        </a:fontRef>
        <a:srgbClr val="5B5854"/>
      </a:tcTxStyle>
      <a:tcStyle>
        <a:tcBdr>
          <a:left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left>
          <a:right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50800" cap="flat">
              <a:solidFill>
                <a:schemeClr val="accent5">
                  <a:alpha val="75000"/>
                </a:schemeClr>
              </a:solidFill>
              <a:prstDash val="solid"/>
              <a:miter lim="400000"/>
            </a:ln>
          </a:bottom>
          <a:insideH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H>
          <a:insideV>
            <a:ln w="38100" cap="flat">
              <a:solidFill>
                <a:schemeClr val="accent2">
                  <a:hueOff val="-1122706"/>
                  <a:satOff val="6504"/>
                  <a:lumOff val="15871"/>
                  <a:alpha val="64999"/>
                </a:schemeClr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8F44A2F1-9E1F-4B54-A3A2-5F16C0AD49E2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C5C7C9">
              <a:alpha val="30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694"/>
  </p:normalViewPr>
  <p:slideViewPr>
    <p:cSldViewPr snapToGrid="0" snapToObjects="1">
      <p:cViewPr varScale="1">
        <p:scale>
          <a:sx n="60" d="100"/>
          <a:sy n="60" d="100"/>
        </p:scale>
        <p:origin x="145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4000" dirty="0">
                <a:solidFill>
                  <a:schemeClr val="bg1"/>
                </a:solidFill>
              </a:rPr>
              <a:t>North American Market Share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North american Market Share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3-4D79-3C4B-9057-374443C7DAB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2-4D79-3C4B-9057-374443C7DAB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4-4D79-3C4B-9057-374443C7DAB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5-4D79-3C4B-9057-374443C7DABE}"/>
              </c:ext>
            </c:extLst>
          </c:dPt>
          <c:dPt>
            <c:idx val="4"/>
            <c:bubble3D val="0"/>
            <c:spPr>
              <a:solidFill>
                <a:schemeClr val="bg2">
                  <a:lumMod val="25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10000"/>
                  </a:prstClr>
                </a:outerShdw>
              </a:effectLst>
              <a:scene3d>
                <a:camera prst="orthographicFront"/>
                <a:lightRig rig="threePt" dir="t"/>
              </a:scene3d>
              <a:sp3d>
                <a:bevelT w="127000" h="127000"/>
                <a:bevelB w="127000" h="127000"/>
              </a:sp3d>
            </c:spPr>
            <c:extLst>
              <c:ext xmlns:c16="http://schemas.microsoft.com/office/drawing/2014/chart" uri="{C3380CC4-5D6E-409C-BE32-E72D297353CC}">
                <c16:uniqueId val="{00000011-4D79-3C4B-9057-374443C7DABE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spc="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926174950787401"/>
                      <c:h val="7.101562718428970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13-4D79-3C4B-9057-374443C7DABE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spc="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2-4D79-3C4B-9057-374443C7DABE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spc="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4-4D79-3C4B-9057-374443C7DABE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spc="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5-4D79-3C4B-9057-374443C7DABE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2400" b="1" i="0" u="none" strike="noStrike" kern="1200" spc="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11-4D79-3C4B-9057-374443C7DAB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1" i="0" u="none" strike="noStrike" kern="1200" spc="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Other</c:v>
                </c:pt>
                <c:pt idx="1">
                  <c:v>Competiror 1</c:v>
                </c:pt>
                <c:pt idx="2">
                  <c:v>Competitor 2</c:v>
                </c:pt>
                <c:pt idx="3">
                  <c:v>Competitor 3</c:v>
                </c:pt>
                <c:pt idx="4">
                  <c:v>Acme Co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27</c:v>
                </c:pt>
                <c:pt idx="2">
                  <c:v>15</c:v>
                </c:pt>
                <c:pt idx="3">
                  <c:v>11</c:v>
                </c:pt>
                <c:pt idx="4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79-3C4B-9057-374443C7DABE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" name="Shape 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2200">
        <a:latin typeface="+mn-lt"/>
        <a:ea typeface="+mn-ea"/>
        <a:cs typeface="+mn-cs"/>
        <a:sym typeface="Roboto"/>
      </a:defRPr>
    </a:lvl1pPr>
    <a:lvl2pPr indent="342900" defTabSz="457200" latinLnBrk="0">
      <a:defRPr sz="2200">
        <a:latin typeface="+mn-lt"/>
        <a:ea typeface="+mn-ea"/>
        <a:cs typeface="+mn-cs"/>
        <a:sym typeface="Roboto"/>
      </a:defRPr>
    </a:lvl2pPr>
    <a:lvl3pPr indent="685800" defTabSz="457200" latinLnBrk="0">
      <a:defRPr sz="2200">
        <a:latin typeface="+mn-lt"/>
        <a:ea typeface="+mn-ea"/>
        <a:cs typeface="+mn-cs"/>
        <a:sym typeface="Roboto"/>
      </a:defRPr>
    </a:lvl3pPr>
    <a:lvl4pPr indent="1028700" defTabSz="457200" latinLnBrk="0">
      <a:defRPr sz="2200">
        <a:latin typeface="+mn-lt"/>
        <a:ea typeface="+mn-ea"/>
        <a:cs typeface="+mn-cs"/>
        <a:sym typeface="Roboto"/>
      </a:defRPr>
    </a:lvl4pPr>
    <a:lvl5pPr indent="1371600" defTabSz="457200" latinLnBrk="0">
      <a:defRPr sz="2200">
        <a:latin typeface="+mn-lt"/>
        <a:ea typeface="+mn-ea"/>
        <a:cs typeface="+mn-cs"/>
        <a:sym typeface="Roboto"/>
      </a:defRPr>
    </a:lvl5pPr>
    <a:lvl6pPr indent="1714500" defTabSz="457200" latinLnBrk="0">
      <a:defRPr sz="2200">
        <a:latin typeface="+mn-lt"/>
        <a:ea typeface="+mn-ea"/>
        <a:cs typeface="+mn-cs"/>
        <a:sym typeface="Roboto"/>
      </a:defRPr>
    </a:lvl6pPr>
    <a:lvl7pPr indent="2057400" defTabSz="457200" latinLnBrk="0">
      <a:defRPr sz="2200">
        <a:latin typeface="+mn-lt"/>
        <a:ea typeface="+mn-ea"/>
        <a:cs typeface="+mn-cs"/>
        <a:sym typeface="Roboto"/>
      </a:defRPr>
    </a:lvl7pPr>
    <a:lvl8pPr indent="2400300" defTabSz="457200" latinLnBrk="0">
      <a:defRPr sz="2200">
        <a:latin typeface="+mn-lt"/>
        <a:ea typeface="+mn-ea"/>
        <a:cs typeface="+mn-cs"/>
        <a:sym typeface="Roboto"/>
      </a:defRPr>
    </a:lvl8pPr>
    <a:lvl9pPr indent="2743200" defTabSz="457200" latinLnBrk="0">
      <a:defRPr sz="2200">
        <a:latin typeface="+mn-lt"/>
        <a:ea typeface="+mn-ea"/>
        <a:cs typeface="+mn-cs"/>
        <a:sym typeface="Roboto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2061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869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1650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BEFCF99F-B044-2C45-8B78-35E0EE6769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 b="1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buChar char="•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buChar char="–"/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02F0776-E1FC-6F4F-ADD7-2516B3773D31}" type="slidenum">
              <a:rPr lang="en-US" altLang="en-US" b="0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</a:t>
            </a:fld>
            <a:endParaRPr lang="en-US" altLang="en-US" b="0">
              <a:solidFill>
                <a:srgbClr val="000000"/>
              </a:solidFill>
            </a:endParaRP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F9BB20E8-EFB3-B147-8CD8-B4E5EDE4D1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992563" y="514350"/>
            <a:ext cx="4572000" cy="2571750"/>
          </a:xfrm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D3B3B70-0482-8E45-AF58-5AD94036BD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55713" y="3257550"/>
            <a:ext cx="10042525" cy="3086100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DO: Use this analogy and stress the common error that many companies make during Strategic Deployment.</a:t>
            </a:r>
          </a:p>
        </p:txBody>
      </p:sp>
    </p:spTree>
    <p:extLst>
      <p:ext uri="{BB962C8B-B14F-4D97-AF65-F5344CB8AC3E}">
        <p14:creationId xmlns:p14="http://schemas.microsoft.com/office/powerpoint/2010/main" val="12156817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581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653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389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0264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6378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638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189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5137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8655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4538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3346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3102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1035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4715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5244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2596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5428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2807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6532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9801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4067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0662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3569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4763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8686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215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2871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1432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98613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0939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0D96DC8-B6B7-D34B-9028-2CF705DEE8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347896" y="-1"/>
            <a:ext cx="11034911" cy="13716001"/>
          </a:xfrm>
          <a:prstGeom prst="rect">
            <a:avLst/>
          </a:prstGeom>
          <a:blipFill>
            <a:blip r:embed="rId2"/>
            <a:srcRect/>
            <a:stretch>
              <a:fillRect l="-12148" r="-12148"/>
            </a:stretch>
          </a:blipFill>
        </p:spPr>
        <p:txBody>
          <a:bodyPr/>
          <a:lstStyle>
            <a:lvl1pPr>
              <a:defRPr sz="3000"/>
            </a:lvl1pPr>
          </a:lstStyle>
          <a:p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21183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0E9CD025-EB32-0D45-88E8-6B9BA98434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80848" y="3827010"/>
            <a:ext cx="4619091" cy="4619091"/>
          </a:xfrm>
          <a:prstGeom prst="ellipse">
            <a:avLst/>
          </a:prstGeom>
          <a:blipFill>
            <a:blip r:embed="rId2"/>
            <a:srcRect/>
            <a:stretch>
              <a:fillRect/>
            </a:stretch>
          </a:blipFill>
        </p:spPr>
        <p:txBody>
          <a:bodyPr/>
          <a:lstStyle>
            <a:lvl1pPr>
              <a:defRPr sz="3000"/>
            </a:lvl1pPr>
          </a:lstStyle>
          <a:p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28597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D7BF6C2-9B7B-DF48-BD1D-9A30DAEC3B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243657" y="3482502"/>
            <a:ext cx="3672108" cy="3672108"/>
          </a:xfrm>
          <a:prstGeom prst="ellipse">
            <a:avLst/>
          </a:prstGeom>
          <a:blipFill>
            <a:blip r:embed="rId2"/>
            <a:srcRect/>
            <a:stretch>
              <a:fillRect/>
            </a:stretch>
          </a:blipFill>
        </p:spPr>
        <p:txBody>
          <a:bodyPr/>
          <a:lstStyle>
            <a:lvl1pPr>
              <a:defRPr sz="3000"/>
            </a:lvl1pPr>
          </a:lstStyle>
          <a:p>
            <a:endParaRPr lang="en-UA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C6D587ED-8150-7D46-BA20-046A19CA68F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356525" y="3482502"/>
            <a:ext cx="3672108" cy="3672108"/>
          </a:xfrm>
          <a:prstGeom prst="ellipse">
            <a:avLst/>
          </a:prstGeom>
          <a:blipFill>
            <a:blip r:embed="rId2"/>
            <a:srcRect/>
            <a:stretch>
              <a:fillRect/>
            </a:stretch>
          </a:blipFill>
        </p:spPr>
        <p:txBody>
          <a:bodyPr/>
          <a:lstStyle>
            <a:lvl1pPr>
              <a:defRPr sz="3000"/>
            </a:lvl1pPr>
          </a:lstStyle>
          <a:p>
            <a:endParaRPr lang="en-UA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6FA92C43-7C9D-3A43-BAC3-35236864FF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8508303" y="3482502"/>
            <a:ext cx="3672108" cy="3672108"/>
          </a:xfrm>
          <a:prstGeom prst="ellipse">
            <a:avLst/>
          </a:prstGeom>
          <a:blipFill>
            <a:blip r:embed="rId2"/>
            <a:srcRect/>
            <a:stretch>
              <a:fillRect/>
            </a:stretch>
          </a:blipFill>
        </p:spPr>
        <p:txBody>
          <a:bodyPr/>
          <a:lstStyle>
            <a:lvl1pPr>
              <a:defRPr sz="3000"/>
            </a:lvl1pPr>
          </a:lstStyle>
          <a:p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80088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0D96DC8-B6B7-D34B-9028-2CF705DEE8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1034911" cy="13716001"/>
          </a:xfrm>
          <a:prstGeom prst="rect">
            <a:avLst/>
          </a:prstGeom>
          <a:blipFill>
            <a:blip r:embed="rId2"/>
            <a:srcRect/>
            <a:stretch>
              <a:fillRect l="-12148" r="-12148"/>
            </a:stretch>
          </a:blipFill>
        </p:spPr>
        <p:txBody>
          <a:bodyPr/>
          <a:lstStyle>
            <a:lvl1pPr>
              <a:defRPr sz="3000"/>
            </a:lvl1pPr>
          </a:lstStyle>
          <a:p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03844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60F8F-F0E6-4998-8A86-3CC32F4179E0}" type="datetimeFigureOut">
              <a:rPr lang="en-US" smtClean="0"/>
              <a:t>1/25/24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70BE6-34B0-4BE4-95BC-E6ECD1FA3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11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2" r:id="rId5"/>
    <p:sldLayoutId id="2147483656" r:id="rId6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xStyles>
    <p:title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1pPr>
      <a:lvl2pPr marL="0" marR="0" indent="3429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2pPr>
      <a:lvl3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3pPr>
      <a:lvl4pPr marL="0" marR="0" indent="10287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4pPr>
      <a:lvl5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5pPr>
      <a:lvl6pPr marL="0" marR="0" indent="17145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6pPr>
      <a:lvl7pPr marL="0" marR="0" indent="2057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7pPr>
      <a:lvl8pPr marL="0" marR="0" indent="24003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8pPr>
      <a:lvl9pPr marL="0" marR="0" indent="2743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6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9pPr>
    </p:titleStyle>
    <p:body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1pPr>
      <a:lvl2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2pPr>
      <a:lvl3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3pPr>
      <a:lvl4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4pPr>
      <a:lvl5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5pPr>
      <a:lvl6pPr marL="0" marR="0" indent="355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6pPr>
      <a:lvl7pPr marL="0" marR="0" indent="711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7pPr>
      <a:lvl8pPr marL="0" marR="0" indent="1066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8pPr>
      <a:lvl9pPr marL="0" marR="0" indent="1422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Roboto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1pPr>
      <a:lvl2pPr marL="0" marR="0" indent="3429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2pPr>
      <a:lvl3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3pPr>
      <a:lvl4pPr marL="0" marR="0" indent="10287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4pPr>
      <a:lvl5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5pPr>
      <a:lvl6pPr marL="0" marR="0" indent="17145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6pPr>
      <a:lvl7pPr marL="0" marR="0" indent="2057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7pPr>
      <a:lvl8pPr marL="0" marR="0" indent="24003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8pPr>
      <a:lvl9pPr marL="0" marR="0" indent="2743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Robot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mark.deluzio@leanhorizon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E95A52-200E-4257-324B-0E30443617B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723" y="27710"/>
            <a:ext cx="24383277" cy="13716000"/>
          </a:xfrm>
          <a:prstGeom prst="rect">
            <a:avLst/>
          </a:prstGeom>
        </p:spPr>
      </p:pic>
      <p:sp>
        <p:nvSpPr>
          <p:cNvPr id="32" name="Project Strategy"/>
          <p:cNvSpPr/>
          <p:nvPr/>
        </p:nvSpPr>
        <p:spPr>
          <a:xfrm>
            <a:off x="2255599" y="5085466"/>
            <a:ext cx="10424863" cy="1477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defRPr sz="8000" b="1">
                <a:solidFill>
                  <a:srgbClr val="FFFFFF"/>
                </a:solidFill>
              </a:defRPr>
            </a:lvl1pPr>
          </a:lstStyle>
          <a:p>
            <a:r>
              <a:rPr lang="en-US" sz="9600" dirty="0">
                <a:solidFill>
                  <a:schemeClr val="bg1"/>
                </a:solidFill>
              </a:rPr>
              <a:t>Strategic Planning</a:t>
            </a:r>
            <a:endParaRPr sz="9600" dirty="0">
              <a:solidFill>
                <a:schemeClr val="bg1"/>
              </a:solidFill>
            </a:endParaRPr>
          </a:p>
        </p:txBody>
      </p:sp>
      <p:sp>
        <p:nvSpPr>
          <p:cNvPr id="33" name="00 W Wicker Dr,…"/>
          <p:cNvSpPr/>
          <p:nvPr/>
        </p:nvSpPr>
        <p:spPr>
          <a:xfrm>
            <a:off x="10464162" y="12657212"/>
            <a:ext cx="4432599" cy="546303"/>
          </a:xfrm>
          <a:prstGeom prst="rect">
            <a:avLst/>
          </a:prstGeom>
          <a:ln w="12700"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/>
          <a:p>
            <a:pPr defTabSz="952500">
              <a:lnSpc>
                <a:spcPct val="130000"/>
              </a:lnSpc>
              <a:buClr>
                <a:srgbClr val="E9F6FA"/>
              </a:buClr>
              <a:buFont typeface="Roboto"/>
              <a:defRPr sz="3000">
                <a:solidFill>
                  <a:srgbClr val="A9AFC3"/>
                </a:solidFill>
                <a:uFill>
                  <a:solidFill>
                    <a:srgbClr val="323C40"/>
                  </a:solidFill>
                </a:uFill>
              </a:defRPr>
            </a:pPr>
            <a:r>
              <a:rPr lang="en-US" dirty="0">
                <a:solidFill>
                  <a:srgbClr val="0070C0"/>
                </a:solidFill>
              </a:rPr>
              <a:t>www.leanhorizons.com</a:t>
            </a:r>
            <a:endParaRPr dirty="0">
              <a:solidFill>
                <a:srgbClr val="0070C0"/>
              </a:solidFill>
            </a:endParaRPr>
          </a:p>
        </p:txBody>
      </p:sp>
      <p:sp>
        <p:nvSpPr>
          <p:cNvPr id="35" name="Circle"/>
          <p:cNvSpPr/>
          <p:nvPr/>
        </p:nvSpPr>
        <p:spPr>
          <a:xfrm>
            <a:off x="1134536" y="5569831"/>
            <a:ext cx="508597" cy="508596"/>
          </a:xfrm>
          <a:prstGeom prst="ellipse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DD4242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DCEF5D-3129-C7A7-9458-3C20000D2F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40" y="11234860"/>
            <a:ext cx="2756117" cy="1968655"/>
          </a:xfrm>
          <a:prstGeom prst="rect">
            <a:avLst/>
          </a:prstGeom>
          <a:effectLst>
            <a:softEdge rad="186187"/>
          </a:effectLst>
        </p:spPr>
      </p:pic>
      <p:sp>
        <p:nvSpPr>
          <p:cNvPr id="16" name="Project Strategy">
            <a:extLst>
              <a:ext uri="{FF2B5EF4-FFF2-40B4-BE49-F238E27FC236}">
                <a16:creationId xmlns:a16="http://schemas.microsoft.com/office/drawing/2014/main" id="{AD2B7EAB-1FC6-C0CF-EDD2-610BD1801275}"/>
              </a:ext>
            </a:extLst>
          </p:cNvPr>
          <p:cNvSpPr/>
          <p:nvPr/>
        </p:nvSpPr>
        <p:spPr>
          <a:xfrm>
            <a:off x="461441" y="7657765"/>
            <a:ext cx="14463221" cy="677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defRPr sz="8000" b="1">
                <a:solidFill>
                  <a:srgbClr val="FFFFFF"/>
                </a:solidFill>
              </a:defRPr>
            </a:lvl1pPr>
          </a:lstStyle>
          <a:p>
            <a:pPr algn="ctr"/>
            <a:r>
              <a:rPr lang="en-US" sz="4400" i="1" dirty="0">
                <a:solidFill>
                  <a:schemeClr val="bg1"/>
                </a:solidFill>
              </a:rPr>
              <a:t>What Game Are We Playing and How Are We Going to Win?</a:t>
            </a:r>
            <a:endParaRPr sz="4400" i="1" dirty="0">
              <a:solidFill>
                <a:schemeClr val="bg1"/>
              </a:solidFill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2D4C3E5-AD49-1AC1-E0FF-F6666C65724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9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85380" y="5085466"/>
            <a:ext cx="7270182" cy="6768791"/>
          </a:xfrm>
          <a:prstGeom prst="rect">
            <a:avLst/>
          </a:prstGeom>
          <a:effectLst>
            <a:softEdge rad="503737"/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723" y="0"/>
            <a:ext cx="24383277" cy="13716000"/>
          </a:xfrm>
          <a:prstGeom prst="rect">
            <a:avLst/>
          </a:prstGeom>
        </p:spPr>
      </p:pic>
      <p:sp>
        <p:nvSpPr>
          <p:cNvPr id="455" name="Promotion Strategy"/>
          <p:cNvSpPr/>
          <p:nvPr/>
        </p:nvSpPr>
        <p:spPr>
          <a:xfrm>
            <a:off x="18529606" y="11502371"/>
            <a:ext cx="9372601" cy="1094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z="8800" dirty="0">
                <a:solidFill>
                  <a:schemeClr val="bg1"/>
                </a:solidFill>
              </a:rPr>
              <a:t>Agenda</a:t>
            </a:r>
            <a:endParaRPr sz="8800" dirty="0">
              <a:solidFill>
                <a:schemeClr val="bg1"/>
              </a:solidFill>
            </a:endParaRPr>
          </a:p>
        </p:txBody>
      </p:sp>
      <p:sp>
        <p:nvSpPr>
          <p:cNvPr id="456" name="Line"/>
          <p:cNvSpPr/>
          <p:nvPr/>
        </p:nvSpPr>
        <p:spPr>
          <a:xfrm>
            <a:off x="17717812" y="12049667"/>
            <a:ext cx="594149" cy="0"/>
          </a:xfrm>
          <a:prstGeom prst="line">
            <a:avLst/>
          </a:prstGeom>
          <a:ln w="381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457" name="Coupons"/>
          <p:cNvSpPr/>
          <p:nvPr/>
        </p:nvSpPr>
        <p:spPr>
          <a:xfrm>
            <a:off x="1852135" y="2572418"/>
            <a:ext cx="6021649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2" name="Coupons">
            <a:extLst>
              <a:ext uri="{FF2B5EF4-FFF2-40B4-BE49-F238E27FC236}">
                <a16:creationId xmlns:a16="http://schemas.microsoft.com/office/drawing/2014/main" id="{59037309-8DAC-2D7B-696E-703319CA6A8E}"/>
              </a:ext>
            </a:extLst>
          </p:cNvPr>
          <p:cNvSpPr/>
          <p:nvPr/>
        </p:nvSpPr>
        <p:spPr>
          <a:xfrm>
            <a:off x="2612595" y="4406576"/>
            <a:ext cx="12646290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chemeClr val="bg1"/>
                </a:solidFill>
              </a:rPr>
              <a:t>Anatomy of a Strategic Plan</a:t>
            </a:r>
          </a:p>
        </p:txBody>
      </p:sp>
      <p:sp>
        <p:nvSpPr>
          <p:cNvPr id="4" name="Coupons">
            <a:extLst>
              <a:ext uri="{FF2B5EF4-FFF2-40B4-BE49-F238E27FC236}">
                <a16:creationId xmlns:a16="http://schemas.microsoft.com/office/drawing/2014/main" id="{D13AE36A-E3FA-A1FA-46A3-D66831539B2E}"/>
              </a:ext>
            </a:extLst>
          </p:cNvPr>
          <p:cNvSpPr/>
          <p:nvPr/>
        </p:nvSpPr>
        <p:spPr>
          <a:xfrm>
            <a:off x="3549193" y="6240734"/>
            <a:ext cx="18061497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chemeClr val="bg1"/>
                </a:solidFill>
              </a:rPr>
              <a:t>Common Issues with Strategic Planning</a:t>
            </a:r>
          </a:p>
        </p:txBody>
      </p:sp>
      <p:sp>
        <p:nvSpPr>
          <p:cNvPr id="5" name="Coupons">
            <a:extLst>
              <a:ext uri="{FF2B5EF4-FFF2-40B4-BE49-F238E27FC236}">
                <a16:creationId xmlns:a16="http://schemas.microsoft.com/office/drawing/2014/main" id="{81B957DF-82FC-3B0E-0B0F-E929DB68E358}"/>
              </a:ext>
            </a:extLst>
          </p:cNvPr>
          <p:cNvSpPr/>
          <p:nvPr/>
        </p:nvSpPr>
        <p:spPr>
          <a:xfrm>
            <a:off x="5801314" y="8034387"/>
            <a:ext cx="9825378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chemeClr val="bg1"/>
                </a:solidFill>
              </a:rPr>
              <a:t>Final Thoughts</a:t>
            </a:r>
          </a:p>
        </p:txBody>
      </p:sp>
    </p:spTree>
    <p:extLst>
      <p:ext uri="{BB962C8B-B14F-4D97-AF65-F5344CB8AC3E}">
        <p14:creationId xmlns:p14="http://schemas.microsoft.com/office/powerpoint/2010/main" val="231535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animClr clrSpc="rgb" dir="cw">
                                      <p:cBhvr>
                                        <p:cTn id="7" dur="500" fill="hold"/>
                                        <p:tgtEl>
                                          <p:spTgt spid="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  <p:set>
                                      <p:cBhvr>
                                        <p:cTn id="8" dur="500" fill="hold"/>
                                        <p:tgtEl>
                                          <p:spTgt spid="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" dur="500" fill="hold"/>
                                        <p:tgtEl>
                                          <p:spTgt spid="4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723" y="0"/>
            <a:ext cx="24383277" cy="13716000"/>
          </a:xfrm>
          <a:prstGeom prst="rect">
            <a:avLst/>
          </a:prstGeom>
        </p:spPr>
      </p:pic>
      <p:sp>
        <p:nvSpPr>
          <p:cNvPr id="457" name="Coupons"/>
          <p:cNvSpPr/>
          <p:nvPr/>
        </p:nvSpPr>
        <p:spPr>
          <a:xfrm>
            <a:off x="1740623" y="1983644"/>
            <a:ext cx="9187572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7200" dirty="0">
                <a:solidFill>
                  <a:schemeClr val="bg1"/>
                </a:solidFill>
              </a:rPr>
              <a:t>What is Strategy?</a:t>
            </a:r>
          </a:p>
        </p:txBody>
      </p:sp>
      <p:sp>
        <p:nvSpPr>
          <p:cNvPr id="7" name="Coupons">
            <a:extLst>
              <a:ext uri="{FF2B5EF4-FFF2-40B4-BE49-F238E27FC236}">
                <a16:creationId xmlns:a16="http://schemas.microsoft.com/office/drawing/2014/main" id="{28A3B02A-E328-6C1C-8DA8-147C3D2C4D70}"/>
              </a:ext>
            </a:extLst>
          </p:cNvPr>
          <p:cNvSpPr/>
          <p:nvPr/>
        </p:nvSpPr>
        <p:spPr>
          <a:xfrm>
            <a:off x="3446243" y="6831669"/>
            <a:ext cx="19052684" cy="2369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7200" i="1" dirty="0">
                <a:solidFill>
                  <a:schemeClr val="bg1"/>
                </a:solidFill>
              </a:rPr>
              <a:t>“Operational effectiveness is not strategy.”</a:t>
            </a:r>
          </a:p>
          <a:p>
            <a:endParaRPr lang="en-US" sz="7200" i="1" dirty="0">
              <a:solidFill>
                <a:schemeClr val="bg1"/>
              </a:solidFill>
            </a:endParaRPr>
          </a:p>
          <a:p>
            <a:pPr algn="r"/>
            <a:r>
              <a:rPr lang="en-US" sz="4800" dirty="0">
                <a:solidFill>
                  <a:schemeClr val="bg1"/>
                </a:solidFill>
              </a:rPr>
              <a:t>- Michael E. Porter</a:t>
            </a:r>
          </a:p>
        </p:txBody>
      </p:sp>
      <p:sp>
        <p:nvSpPr>
          <p:cNvPr id="8" name="Coupons">
            <a:extLst>
              <a:ext uri="{FF2B5EF4-FFF2-40B4-BE49-F238E27FC236}">
                <a16:creationId xmlns:a16="http://schemas.microsoft.com/office/drawing/2014/main" id="{F50B9DA5-4575-90F9-95BE-1BE882174492}"/>
              </a:ext>
            </a:extLst>
          </p:cNvPr>
          <p:cNvSpPr/>
          <p:nvPr/>
        </p:nvSpPr>
        <p:spPr>
          <a:xfrm>
            <a:off x="3446243" y="4405439"/>
            <a:ext cx="17956147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7200" dirty="0">
                <a:solidFill>
                  <a:schemeClr val="bg1"/>
                </a:solidFill>
              </a:rPr>
              <a:t>First, let’s consider what Strategy IS NOT!</a:t>
            </a:r>
          </a:p>
        </p:txBody>
      </p:sp>
      <p:pic>
        <p:nvPicPr>
          <p:cNvPr id="1026" name="Picture 2" descr="Michael E. Porter - Faculty &amp; Research - Harvard Business School">
            <a:extLst>
              <a:ext uri="{FF2B5EF4-FFF2-40B4-BE49-F238E27FC236}">
                <a16:creationId xmlns:a16="http://schemas.microsoft.com/office/drawing/2014/main" id="{3B72098A-C653-C5E6-496A-74C888B52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1129" y="8129394"/>
            <a:ext cx="3914567" cy="4128089"/>
          </a:xfrm>
          <a:prstGeom prst="rect">
            <a:avLst/>
          </a:prstGeom>
          <a:noFill/>
          <a:effectLst>
            <a:softEdge rad="452558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325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A3DBE6-C390-51F0-92A6-6A816F37C0A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8000"/>
          </a:blip>
          <a:stretch>
            <a:fillRect/>
          </a:stretch>
        </p:blipFill>
        <p:spPr>
          <a:xfrm>
            <a:off x="-332509" y="-205344"/>
            <a:ext cx="24938181" cy="13937673"/>
          </a:xfrm>
          <a:prstGeom prst="rect">
            <a:avLst/>
          </a:prstGeom>
          <a:effectLst>
            <a:softEdge rad="254000"/>
          </a:effectLst>
        </p:spPr>
      </p:pic>
      <p:sp>
        <p:nvSpPr>
          <p:cNvPr id="457" name="Coupons"/>
          <p:cNvSpPr/>
          <p:nvPr/>
        </p:nvSpPr>
        <p:spPr>
          <a:xfrm>
            <a:off x="1740623" y="1983644"/>
            <a:ext cx="9187572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7200" dirty="0">
                <a:solidFill>
                  <a:schemeClr val="bg1"/>
                </a:solidFill>
              </a:rPr>
              <a:t>However…</a:t>
            </a:r>
          </a:p>
        </p:txBody>
      </p:sp>
      <p:sp>
        <p:nvSpPr>
          <p:cNvPr id="8" name="Coupons">
            <a:extLst>
              <a:ext uri="{FF2B5EF4-FFF2-40B4-BE49-F238E27FC236}">
                <a16:creationId xmlns:a16="http://schemas.microsoft.com/office/drawing/2014/main" id="{F50B9DA5-4575-90F9-95BE-1BE882174492}"/>
              </a:ext>
            </a:extLst>
          </p:cNvPr>
          <p:cNvSpPr/>
          <p:nvPr/>
        </p:nvSpPr>
        <p:spPr>
          <a:xfrm>
            <a:off x="1740623" y="4722690"/>
            <a:ext cx="21855358" cy="22236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6000" b="0" dirty="0">
                <a:solidFill>
                  <a:schemeClr val="bg1"/>
                </a:solidFill>
              </a:rPr>
              <a:t>Operational Excellence (in terms of SQDC*) enables superior execution of the necessary operational imperatives in which to implement strategy.</a:t>
            </a:r>
          </a:p>
        </p:txBody>
      </p:sp>
      <p:sp>
        <p:nvSpPr>
          <p:cNvPr id="11" name="Coupons">
            <a:extLst>
              <a:ext uri="{FF2B5EF4-FFF2-40B4-BE49-F238E27FC236}">
                <a16:creationId xmlns:a16="http://schemas.microsoft.com/office/drawing/2014/main" id="{818F2B12-1366-5773-5022-7750E0F93241}"/>
              </a:ext>
            </a:extLst>
          </p:cNvPr>
          <p:cNvSpPr/>
          <p:nvPr/>
        </p:nvSpPr>
        <p:spPr>
          <a:xfrm>
            <a:off x="1740623" y="8789856"/>
            <a:ext cx="19052684" cy="23698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algn="ctr"/>
            <a:r>
              <a:rPr lang="en-US" sz="7200" i="1" dirty="0">
                <a:solidFill>
                  <a:schemeClr val="bg1"/>
                </a:solidFill>
              </a:rPr>
              <a:t>“You must earn the right to grow.”</a:t>
            </a:r>
          </a:p>
          <a:p>
            <a:endParaRPr lang="en-US" sz="7200" i="1" dirty="0">
              <a:solidFill>
                <a:schemeClr val="bg1"/>
              </a:solidFill>
            </a:endParaRPr>
          </a:p>
          <a:p>
            <a:pPr algn="r"/>
            <a:r>
              <a:rPr lang="en-US" sz="4800" dirty="0">
                <a:solidFill>
                  <a:schemeClr val="bg1"/>
                </a:solidFill>
              </a:rPr>
              <a:t>- Danaher Strategic Policy Statement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E5F2EB-1223-FA63-ECBC-0E7348C15AF9}"/>
              </a:ext>
            </a:extLst>
          </p:cNvPr>
          <p:cNvSpPr txBox="1"/>
          <p:nvPr/>
        </p:nvSpPr>
        <p:spPr>
          <a:xfrm>
            <a:off x="714710" y="12649273"/>
            <a:ext cx="12366702" cy="70788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</a:rPr>
              <a:t>* </a:t>
            </a:r>
            <a:r>
              <a:rPr lang="en-US" sz="4000" u="sng" dirty="0">
                <a:solidFill>
                  <a:schemeClr val="bg1"/>
                </a:solidFill>
              </a:rPr>
              <a:t>S</a:t>
            </a:r>
            <a:r>
              <a:rPr lang="en-US" sz="4000" dirty="0">
                <a:solidFill>
                  <a:schemeClr val="bg1"/>
                </a:solidFill>
              </a:rPr>
              <a:t>afety, </a:t>
            </a:r>
            <a:r>
              <a:rPr lang="en-US" sz="4000" u="sng" dirty="0">
                <a:solidFill>
                  <a:schemeClr val="bg1"/>
                </a:solidFill>
              </a:rPr>
              <a:t>Q</a:t>
            </a:r>
            <a:r>
              <a:rPr lang="en-US" sz="4000" dirty="0">
                <a:solidFill>
                  <a:schemeClr val="bg1"/>
                </a:solidFill>
              </a:rPr>
              <a:t>uality, </a:t>
            </a:r>
            <a:r>
              <a:rPr lang="en-US" sz="4000" u="sng" dirty="0">
                <a:solidFill>
                  <a:schemeClr val="bg1"/>
                </a:solidFill>
              </a:rPr>
              <a:t>D</a:t>
            </a:r>
            <a:r>
              <a:rPr lang="en-US" sz="4000" dirty="0">
                <a:solidFill>
                  <a:schemeClr val="bg1"/>
                </a:solidFill>
              </a:rPr>
              <a:t>elivery, </a:t>
            </a:r>
            <a:r>
              <a:rPr lang="en-US" sz="4000" u="sng" dirty="0">
                <a:solidFill>
                  <a:schemeClr val="bg1"/>
                </a:solidFill>
              </a:rPr>
              <a:t>C</a:t>
            </a:r>
            <a:r>
              <a:rPr lang="en-US" sz="4000" dirty="0">
                <a:solidFill>
                  <a:schemeClr val="bg1"/>
                </a:solidFill>
              </a:rPr>
              <a:t>ost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476076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CED97E21-9E68-A94C-91D7-3ECF860DADF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1000"/>
          </a:blip>
          <a:stretch>
            <a:fillRect/>
          </a:stretch>
        </p:blipFill>
        <p:spPr>
          <a:xfrm>
            <a:off x="0" y="38049"/>
            <a:ext cx="24358600" cy="13716000"/>
          </a:xfrm>
          <a:prstGeom prst="rect">
            <a:avLst/>
          </a:prstGeom>
          <a:noFill/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5744E943-0C1F-3240-B31C-5FB563C22B5A}"/>
              </a:ext>
            </a:extLst>
          </p:cNvPr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0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EB96BD1-9F20-DF4D-AEBD-745EFC340D45}"/>
              </a:ext>
            </a:extLst>
          </p:cNvPr>
          <p:cNvCxnSpPr>
            <a:cxnSpLocks/>
          </p:cNvCxnSpPr>
          <p:nvPr/>
        </p:nvCxnSpPr>
        <p:spPr>
          <a:xfrm flipV="1">
            <a:off x="713698" y="7516166"/>
            <a:ext cx="23221476" cy="81512"/>
          </a:xfrm>
          <a:prstGeom prst="straightConnector1">
            <a:avLst/>
          </a:prstGeom>
          <a:ln w="101600">
            <a:solidFill>
              <a:schemeClr val="bg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37" name="Text Box 2">
            <a:extLst>
              <a:ext uri="{FF2B5EF4-FFF2-40B4-BE49-F238E27FC236}">
                <a16:creationId xmlns:a16="http://schemas.microsoft.com/office/drawing/2014/main" id="{58F684B1-1468-994D-9834-8F24DC09F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884" y="3208401"/>
            <a:ext cx="1808033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latin typeface="+mn-lt"/>
              </a:rPr>
              <a:t>Typical Maturity Timeline - With Aggressive Adoption of Lean</a:t>
            </a:r>
            <a:endParaRPr lang="en-US" altLang="en-US" sz="40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1390AD63-D3BB-9143-BA01-3FE589753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0283" y="11922956"/>
            <a:ext cx="16475074" cy="707886"/>
          </a:xfrm>
          <a:prstGeom prst="rect">
            <a:avLst/>
          </a:prstGeom>
          <a:solidFill>
            <a:srgbClr val="EAEAE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anchor="b" anchorCtr="1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100000"/>
              </a:lnSpc>
              <a:spcAft>
                <a:spcPct val="0"/>
              </a:spcAft>
              <a:buClr>
                <a:srgbClr val="014B1F"/>
              </a:buClr>
              <a:buSzPct val="75000"/>
              <a:buFont typeface="Wingdings" pitchFamily="2" charset="2"/>
              <a:buNone/>
            </a:pPr>
            <a:r>
              <a:rPr lang="en-US" altLang="en-US" sz="4000" b="0" i="1" dirty="0">
                <a:latin typeface="+mn-lt"/>
              </a:rPr>
              <a:t>Are you positioned for GROWTH?</a:t>
            </a:r>
            <a:endParaRPr lang="en-US" altLang="en-US" sz="4000" b="0" dirty="0">
              <a:solidFill>
                <a:srgbClr val="000066"/>
              </a:solidFill>
              <a:latin typeface="+mn-lt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87F8BBF-C72B-244B-A899-AA520C3D5076}"/>
              </a:ext>
            </a:extLst>
          </p:cNvPr>
          <p:cNvSpPr/>
          <p:nvPr/>
        </p:nvSpPr>
        <p:spPr>
          <a:xfrm>
            <a:off x="1524615" y="5426671"/>
            <a:ext cx="4439172" cy="4260502"/>
          </a:xfrm>
          <a:prstGeom prst="ellipse">
            <a:avLst/>
          </a:prstGeom>
          <a:gradFill>
            <a:gsLst>
              <a:gs pos="19000">
                <a:srgbClr val="0070C0"/>
              </a:gs>
              <a:gs pos="93000">
                <a:schemeClr val="tx1"/>
              </a:gs>
              <a:gs pos="88000">
                <a:schemeClr val="tx1"/>
              </a:gs>
              <a:gs pos="100000">
                <a:schemeClr val="tx1"/>
              </a:gs>
            </a:gsLst>
            <a:lin ang="5400000" scaled="1"/>
          </a:gradFill>
          <a:effectLst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u="sng" dirty="0"/>
              <a:t>FOCUS:</a:t>
            </a:r>
          </a:p>
          <a:p>
            <a:pPr algn="ctr"/>
            <a:r>
              <a:rPr lang="en-US" sz="3200" b="1" dirty="0"/>
              <a:t>OPERATIONS</a:t>
            </a:r>
          </a:p>
          <a:p>
            <a:pPr algn="ctr"/>
            <a:r>
              <a:rPr lang="en-US" sz="3200" b="1" dirty="0"/>
              <a:t>(SQDC)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702B8ED-63F1-3F4A-9544-EAA09AF032D3}"/>
              </a:ext>
            </a:extLst>
          </p:cNvPr>
          <p:cNvSpPr/>
          <p:nvPr/>
        </p:nvSpPr>
        <p:spPr>
          <a:xfrm>
            <a:off x="18379400" y="5304407"/>
            <a:ext cx="4439172" cy="4260502"/>
          </a:xfrm>
          <a:prstGeom prst="ellipse">
            <a:avLst/>
          </a:prstGeom>
          <a:gradFill>
            <a:gsLst>
              <a:gs pos="0">
                <a:srgbClr val="00B050"/>
              </a:gs>
              <a:gs pos="100000">
                <a:schemeClr val="accent6"/>
              </a:gs>
              <a:gs pos="88000">
                <a:schemeClr val="accent6"/>
              </a:gs>
              <a:gs pos="100000">
                <a:schemeClr val="accent6"/>
              </a:gs>
            </a:gsLst>
            <a:lin ang="5400000" scaled="1"/>
          </a:gradFill>
          <a:effectLst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/>
          </a:p>
          <a:p>
            <a:pPr algn="ctr"/>
            <a:r>
              <a:rPr lang="en-US" sz="3200" b="1" u="sng" dirty="0"/>
              <a:t>FOCUS</a:t>
            </a:r>
            <a:endParaRPr lang="en-US" sz="3200" b="1" dirty="0"/>
          </a:p>
          <a:p>
            <a:pPr algn="ctr"/>
            <a:r>
              <a:rPr lang="en-US" sz="3200" b="1" dirty="0"/>
              <a:t>PROFITABLE</a:t>
            </a:r>
          </a:p>
          <a:p>
            <a:pPr algn="ctr"/>
            <a:r>
              <a:rPr lang="en-US" sz="3200" b="1" dirty="0"/>
              <a:t>GROWTH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DC6A3C-A7CB-CB43-A3F7-CD77B4EA6F4B}"/>
              </a:ext>
            </a:extLst>
          </p:cNvPr>
          <p:cNvSpPr/>
          <p:nvPr/>
        </p:nvSpPr>
        <p:spPr>
          <a:xfrm>
            <a:off x="8673742" y="5467429"/>
            <a:ext cx="4439172" cy="4260502"/>
          </a:xfrm>
          <a:prstGeom prst="ellipse">
            <a:avLst/>
          </a:prstGeom>
          <a:gradFill>
            <a:gsLst>
              <a:gs pos="19000">
                <a:srgbClr val="0070C0"/>
              </a:gs>
              <a:gs pos="93000">
                <a:schemeClr val="tx1"/>
              </a:gs>
              <a:gs pos="88000">
                <a:schemeClr val="tx1"/>
              </a:gs>
              <a:gs pos="100000">
                <a:schemeClr val="tx1"/>
              </a:gs>
            </a:gsLst>
            <a:lin ang="5400000" scaled="1"/>
          </a:gradFill>
          <a:effectLst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3200" b="1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1499F6-516D-2844-AAFA-3D7CC675F56E}"/>
              </a:ext>
            </a:extLst>
          </p:cNvPr>
          <p:cNvSpPr/>
          <p:nvPr/>
        </p:nvSpPr>
        <p:spPr>
          <a:xfrm>
            <a:off x="11246352" y="5467427"/>
            <a:ext cx="4439172" cy="4260502"/>
          </a:xfrm>
          <a:prstGeom prst="ellipse">
            <a:avLst/>
          </a:prstGeom>
          <a:gradFill>
            <a:gsLst>
              <a:gs pos="2000">
                <a:srgbClr val="00B050"/>
              </a:gs>
              <a:gs pos="100000">
                <a:schemeClr val="accent6"/>
              </a:gs>
              <a:gs pos="88000">
                <a:schemeClr val="accent6"/>
              </a:gs>
              <a:gs pos="100000">
                <a:schemeClr val="accent6"/>
              </a:gs>
            </a:gsLst>
            <a:lin ang="5400000" scaled="1"/>
          </a:gradFill>
          <a:ln>
            <a:solidFill>
              <a:schemeClr val="accent1">
                <a:shade val="50000"/>
                <a:alpha val="46043"/>
              </a:schemeClr>
            </a:solidFill>
          </a:ln>
          <a:effectLst>
            <a:softEdge rad="12700"/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F0742D-8617-064D-9B5F-B94B18A16696}"/>
              </a:ext>
            </a:extLst>
          </p:cNvPr>
          <p:cNvSpPr txBox="1"/>
          <p:nvPr/>
        </p:nvSpPr>
        <p:spPr>
          <a:xfrm>
            <a:off x="10265615" y="6896049"/>
            <a:ext cx="346441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u="sng" dirty="0">
                <a:solidFill>
                  <a:schemeClr val="bg1"/>
                </a:solidFill>
              </a:rPr>
              <a:t>FOCUS:</a:t>
            </a:r>
          </a:p>
          <a:p>
            <a:r>
              <a:rPr lang="en-US" sz="3200" b="1" dirty="0">
                <a:solidFill>
                  <a:schemeClr val="bg1"/>
                </a:solidFill>
              </a:rPr>
              <a:t>----- HYBRID -----</a:t>
            </a:r>
          </a:p>
        </p:txBody>
      </p:sp>
      <p:sp>
        <p:nvSpPr>
          <p:cNvPr id="18" name="Text Box 2">
            <a:extLst>
              <a:ext uri="{FF2B5EF4-FFF2-40B4-BE49-F238E27FC236}">
                <a16:creationId xmlns:a16="http://schemas.microsoft.com/office/drawing/2014/main" id="{593AFD73-39FA-5A4D-B72E-BE330E9EA5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7651" y="9870569"/>
            <a:ext cx="354526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latin typeface="+mn-lt"/>
              </a:rPr>
              <a:t>0 - 2 Years</a:t>
            </a:r>
            <a:endParaRPr lang="en-US" altLang="en-US" sz="40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9" name="Text Box 2">
            <a:extLst>
              <a:ext uri="{FF2B5EF4-FFF2-40B4-BE49-F238E27FC236}">
                <a16:creationId xmlns:a16="http://schemas.microsoft.com/office/drawing/2014/main" id="{73A443E9-5D13-0747-8341-3F39A46EA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9369" y="9938301"/>
            <a:ext cx="354526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latin typeface="+mn-lt"/>
              </a:rPr>
              <a:t>1 - 3 Years</a:t>
            </a:r>
            <a:endParaRPr lang="en-US" altLang="en-US" sz="40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0" name="Text Box 2">
            <a:extLst>
              <a:ext uri="{FF2B5EF4-FFF2-40B4-BE49-F238E27FC236}">
                <a16:creationId xmlns:a16="http://schemas.microsoft.com/office/drawing/2014/main" id="{9F73F4D3-FB3E-214F-9675-CA035097A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3101" y="9870569"/>
            <a:ext cx="354526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4000" dirty="0">
                <a:solidFill>
                  <a:schemeClr val="bg1"/>
                </a:solidFill>
                <a:latin typeface="+mn-lt"/>
              </a:rPr>
              <a:t>3+ Years</a:t>
            </a:r>
            <a:endParaRPr lang="en-US" altLang="en-US" sz="40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4E4A81-E1EB-A1C2-2D92-F830E0575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000" dirty="0"/>
              <a:t>                                                 </a:t>
            </a:r>
            <a:br>
              <a:rPr lang="en-US" sz="7000" dirty="0"/>
            </a:br>
            <a:r>
              <a:rPr lang="en-US" sz="7000" dirty="0"/>
              <a:t>                                                    </a:t>
            </a:r>
            <a:r>
              <a:rPr lang="en-US" sz="7000" b="1" dirty="0">
                <a:solidFill>
                  <a:schemeClr val="bg1"/>
                </a:solidFill>
              </a:rPr>
              <a:t>Where is Your Company?</a:t>
            </a:r>
          </a:p>
        </p:txBody>
      </p:sp>
    </p:spTree>
    <p:extLst>
      <p:ext uri="{BB962C8B-B14F-4D97-AF65-F5344CB8AC3E}">
        <p14:creationId xmlns:p14="http://schemas.microsoft.com/office/powerpoint/2010/main" val="1879540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0"/>
            <a:ext cx="24383277" cy="13716000"/>
          </a:xfrm>
          <a:prstGeom prst="rect">
            <a:avLst/>
          </a:prstGeom>
        </p:spPr>
      </p:pic>
      <p:sp>
        <p:nvSpPr>
          <p:cNvPr id="457" name="Coupons"/>
          <p:cNvSpPr/>
          <p:nvPr/>
        </p:nvSpPr>
        <p:spPr>
          <a:xfrm>
            <a:off x="1263958" y="2109644"/>
            <a:ext cx="9187572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7200" dirty="0">
                <a:solidFill>
                  <a:schemeClr val="bg1"/>
                </a:solidFill>
              </a:rPr>
              <a:t>Strategy Defined</a:t>
            </a:r>
          </a:p>
        </p:txBody>
      </p:sp>
      <p:sp>
        <p:nvSpPr>
          <p:cNvPr id="8" name="Coupons">
            <a:extLst>
              <a:ext uri="{FF2B5EF4-FFF2-40B4-BE49-F238E27FC236}">
                <a16:creationId xmlns:a16="http://schemas.microsoft.com/office/drawing/2014/main" id="{F50B9DA5-4575-90F9-95BE-1BE882174492}"/>
              </a:ext>
            </a:extLst>
          </p:cNvPr>
          <p:cNvSpPr/>
          <p:nvPr/>
        </p:nvSpPr>
        <p:spPr>
          <a:xfrm>
            <a:off x="1263958" y="3599809"/>
            <a:ext cx="22745133" cy="3508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endParaRPr lang="en-US" sz="6000" b="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6000" b="0" dirty="0">
                <a:solidFill>
                  <a:schemeClr val="bg1"/>
                </a:solidFill>
              </a:rPr>
              <a:t>Strategy is where we roadmap sustainable competitive advantage for profitable, long-term growth, and we must answer the question…</a:t>
            </a:r>
          </a:p>
        </p:txBody>
      </p:sp>
      <p:sp>
        <p:nvSpPr>
          <p:cNvPr id="11" name="Coupons">
            <a:extLst>
              <a:ext uri="{FF2B5EF4-FFF2-40B4-BE49-F238E27FC236}">
                <a16:creationId xmlns:a16="http://schemas.microsoft.com/office/drawing/2014/main" id="{818F2B12-1366-5773-5022-7750E0F93241}"/>
              </a:ext>
            </a:extLst>
          </p:cNvPr>
          <p:cNvSpPr/>
          <p:nvPr/>
        </p:nvSpPr>
        <p:spPr>
          <a:xfrm>
            <a:off x="503353" y="8361865"/>
            <a:ext cx="23505738" cy="14834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algn="ctr"/>
            <a:r>
              <a:rPr lang="en-US" sz="7200" i="1" dirty="0">
                <a:solidFill>
                  <a:srgbClr val="FF0000"/>
                </a:solidFill>
              </a:rPr>
              <a:t>“What game are we playing and how are we going to win?”</a:t>
            </a:r>
          </a:p>
          <a:p>
            <a:pPr algn="r"/>
            <a:endParaRPr 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97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0"/>
            <a:ext cx="24383277" cy="13716000"/>
          </a:xfrm>
          <a:prstGeom prst="rect">
            <a:avLst/>
          </a:prstGeom>
        </p:spPr>
      </p:pic>
      <p:sp>
        <p:nvSpPr>
          <p:cNvPr id="457" name="Coupons"/>
          <p:cNvSpPr/>
          <p:nvPr/>
        </p:nvSpPr>
        <p:spPr>
          <a:xfrm>
            <a:off x="1740623" y="1983612"/>
            <a:ext cx="11707748" cy="89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7200" dirty="0">
                <a:solidFill>
                  <a:schemeClr val="bg1"/>
                </a:solidFill>
              </a:rPr>
              <a:t>But Who Defines Winning?</a:t>
            </a:r>
          </a:p>
        </p:txBody>
      </p:sp>
      <p:sp>
        <p:nvSpPr>
          <p:cNvPr id="8" name="Coupons">
            <a:extLst>
              <a:ext uri="{FF2B5EF4-FFF2-40B4-BE49-F238E27FC236}">
                <a16:creationId xmlns:a16="http://schemas.microsoft.com/office/drawing/2014/main" id="{F50B9DA5-4575-90F9-95BE-1BE882174492}"/>
              </a:ext>
            </a:extLst>
          </p:cNvPr>
          <p:cNvSpPr/>
          <p:nvPr/>
        </p:nvSpPr>
        <p:spPr>
          <a:xfrm>
            <a:off x="9679258" y="5471067"/>
            <a:ext cx="19830952" cy="399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endParaRPr lang="en-US" sz="5400" b="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5400" b="0" dirty="0">
                <a:solidFill>
                  <a:schemeClr val="bg1"/>
                </a:solidFill>
              </a:rPr>
              <a:t>Winning is defined by your key stakeholders</a:t>
            </a:r>
          </a:p>
          <a:p>
            <a:endParaRPr lang="en-US" sz="5400" b="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5400" b="0" dirty="0">
                <a:solidFill>
                  <a:schemeClr val="bg1"/>
                </a:solidFill>
              </a:rPr>
              <a:t>Cannot be a Zero-Sum game</a:t>
            </a:r>
          </a:p>
          <a:p>
            <a:endParaRPr lang="en-US" sz="5400" b="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5400" b="0" dirty="0">
                <a:solidFill>
                  <a:schemeClr val="bg1"/>
                </a:solidFill>
              </a:rPr>
              <a:t>All stakeholders* must win! </a:t>
            </a:r>
          </a:p>
        </p:txBody>
      </p:sp>
      <p:pic>
        <p:nvPicPr>
          <p:cNvPr id="24" name="Google Shape;248;p24">
            <a:extLst>
              <a:ext uri="{FF2B5EF4-FFF2-40B4-BE49-F238E27FC236}">
                <a16:creationId xmlns:a16="http://schemas.microsoft.com/office/drawing/2014/main" id="{0CE70E73-CE41-A2F7-45D3-E3031335A7D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614300" y="3588564"/>
            <a:ext cx="12907858" cy="846033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oupons">
            <a:extLst>
              <a:ext uri="{FF2B5EF4-FFF2-40B4-BE49-F238E27FC236}">
                <a16:creationId xmlns:a16="http://schemas.microsoft.com/office/drawing/2014/main" id="{B222E0EB-C334-1AB1-7213-07AAF00A7044}"/>
              </a:ext>
            </a:extLst>
          </p:cNvPr>
          <p:cNvSpPr/>
          <p:nvPr/>
        </p:nvSpPr>
        <p:spPr>
          <a:xfrm>
            <a:off x="2029007" y="12758221"/>
            <a:ext cx="20325261" cy="4975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4000" b="0" dirty="0">
                <a:solidFill>
                  <a:schemeClr val="bg1"/>
                </a:solidFill>
              </a:rPr>
              <a:t>* Other Stakeholders include Community, Society, Environment, Suppliers, Competition</a:t>
            </a:r>
          </a:p>
        </p:txBody>
      </p:sp>
    </p:spTree>
    <p:extLst>
      <p:ext uri="{BB962C8B-B14F-4D97-AF65-F5344CB8AC3E}">
        <p14:creationId xmlns:p14="http://schemas.microsoft.com/office/powerpoint/2010/main" val="1240001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5B60A10-B81E-1CDB-DEF4-7B6AF8CB06E3}"/>
              </a:ext>
            </a:extLst>
          </p:cNvPr>
          <p:cNvSpPr/>
          <p:nvPr/>
        </p:nvSpPr>
        <p:spPr>
          <a:xfrm>
            <a:off x="15248620" y="3229994"/>
            <a:ext cx="8317092" cy="8204394"/>
          </a:xfrm>
          <a:prstGeom prst="rect">
            <a:avLst/>
          </a:prstGeom>
          <a:solidFill>
            <a:schemeClr val="tx2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4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Robot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AC26E9-7000-9CB3-E787-B195B4D7F17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6000"/>
          </a:blip>
          <a:stretch>
            <a:fillRect/>
          </a:stretch>
        </p:blipFill>
        <p:spPr>
          <a:xfrm>
            <a:off x="14954323" y="2879242"/>
            <a:ext cx="8164317" cy="8164317"/>
          </a:xfrm>
          <a:prstGeom prst="rect">
            <a:avLst/>
          </a:prstGeom>
        </p:spPr>
      </p:pic>
      <p:sp>
        <p:nvSpPr>
          <p:cNvPr id="457" name="Coupons"/>
          <p:cNvSpPr/>
          <p:nvPr/>
        </p:nvSpPr>
        <p:spPr>
          <a:xfrm>
            <a:off x="1740623" y="1983612"/>
            <a:ext cx="11707748" cy="89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7200" dirty="0">
                <a:solidFill>
                  <a:schemeClr val="bg1"/>
                </a:solidFill>
              </a:rPr>
              <a:t>Strategic Plan Relationships</a:t>
            </a:r>
          </a:p>
        </p:txBody>
      </p:sp>
      <p:sp>
        <p:nvSpPr>
          <p:cNvPr id="8" name="Coupons">
            <a:extLst>
              <a:ext uri="{FF2B5EF4-FFF2-40B4-BE49-F238E27FC236}">
                <a16:creationId xmlns:a16="http://schemas.microsoft.com/office/drawing/2014/main" id="{F50B9DA5-4575-90F9-95BE-1BE882174492}"/>
              </a:ext>
            </a:extLst>
          </p:cNvPr>
          <p:cNvSpPr/>
          <p:nvPr/>
        </p:nvSpPr>
        <p:spPr>
          <a:xfrm>
            <a:off x="15090618" y="3785457"/>
            <a:ext cx="8028022" cy="599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algn="ctr"/>
            <a:endParaRPr lang="en-US" sz="5400" dirty="0">
              <a:solidFill>
                <a:schemeClr val="bg1"/>
              </a:solidFill>
            </a:endParaRPr>
          </a:p>
          <a:p>
            <a:pPr algn="ctr"/>
            <a:endParaRPr lang="en-US" sz="5400" dirty="0">
              <a:solidFill>
                <a:schemeClr val="bg1"/>
              </a:solidFill>
            </a:endParaRPr>
          </a:p>
          <a:p>
            <a:pPr algn="ctr"/>
            <a:r>
              <a:rPr lang="en-US" sz="5400" dirty="0">
                <a:solidFill>
                  <a:schemeClr val="bg1"/>
                </a:solidFill>
              </a:rPr>
              <a:t>Strategic Planning is NOT a budget or financial exercise! </a:t>
            </a:r>
          </a:p>
          <a:p>
            <a:pPr algn="ctr"/>
            <a:endParaRPr lang="en-US" sz="5400" dirty="0">
              <a:solidFill>
                <a:schemeClr val="bg1"/>
              </a:solidFill>
            </a:endParaRPr>
          </a:p>
          <a:p>
            <a:pPr algn="ctr"/>
            <a:r>
              <a:rPr lang="en-US" sz="5400" dirty="0">
                <a:solidFill>
                  <a:schemeClr val="bg1"/>
                </a:solidFill>
              </a:rPr>
              <a:t>Do not confuse financial planning with strategic planning!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9CD52985-4A8D-AE55-A043-ABEF78DA66B6}"/>
              </a:ext>
            </a:extLst>
          </p:cNvPr>
          <p:cNvSpPr/>
          <p:nvPr/>
        </p:nvSpPr>
        <p:spPr>
          <a:xfrm>
            <a:off x="3179475" y="4589555"/>
            <a:ext cx="3969833" cy="3991214"/>
          </a:xfrm>
          <a:prstGeom prst="ellipse">
            <a:avLst/>
          </a:prstGeom>
          <a:solidFill>
            <a:schemeClr val="accent2">
              <a:lumMod val="50000"/>
              <a:alpha val="66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Strategic Plan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42BDEFB-F4D2-F6BA-6044-0F1C2690F14F}"/>
              </a:ext>
            </a:extLst>
          </p:cNvPr>
          <p:cNvSpPr/>
          <p:nvPr/>
        </p:nvSpPr>
        <p:spPr>
          <a:xfrm>
            <a:off x="6306547" y="5161563"/>
            <a:ext cx="4125952" cy="3991214"/>
          </a:xfrm>
          <a:prstGeom prst="ellipse">
            <a:avLst/>
          </a:prstGeom>
          <a:solidFill>
            <a:schemeClr val="accent2">
              <a:lumMod val="75000"/>
              <a:alpha val="66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b="1" dirty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rPr>
              <a:t>Strategy Deployment</a:t>
            </a:r>
            <a:endParaRPr kumimoji="0" lang="en-US" sz="4000" b="1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Roboto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57DF5A9-EF01-BF42-26AA-EB7CDDD7C33A}"/>
              </a:ext>
            </a:extLst>
          </p:cNvPr>
          <p:cNvSpPr/>
          <p:nvPr/>
        </p:nvSpPr>
        <p:spPr>
          <a:xfrm>
            <a:off x="3624664" y="7443174"/>
            <a:ext cx="3969833" cy="3991214"/>
          </a:xfrm>
          <a:prstGeom prst="ellipse">
            <a:avLst/>
          </a:prstGeom>
          <a:solidFill>
            <a:schemeClr val="accent2">
              <a:lumMod val="60000"/>
              <a:lumOff val="40000"/>
              <a:alpha val="66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Product Plan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012F0DC-696B-3646-60CC-144B6D3399F5}"/>
              </a:ext>
            </a:extLst>
          </p:cNvPr>
          <p:cNvSpPr/>
          <p:nvPr/>
        </p:nvSpPr>
        <p:spPr>
          <a:xfrm>
            <a:off x="6751736" y="8297976"/>
            <a:ext cx="3969833" cy="3991214"/>
          </a:xfrm>
          <a:prstGeom prst="ellipse">
            <a:avLst/>
          </a:prstGeom>
          <a:solidFill>
            <a:schemeClr val="accent3">
              <a:lumMod val="60000"/>
              <a:lumOff val="40000"/>
              <a:alpha val="66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Financial Plan</a:t>
            </a:r>
          </a:p>
        </p:txBody>
      </p:sp>
    </p:spTree>
    <p:extLst>
      <p:ext uri="{BB962C8B-B14F-4D97-AF65-F5344CB8AC3E}">
        <p14:creationId xmlns:p14="http://schemas.microsoft.com/office/powerpoint/2010/main" val="4608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457" name="Coupons"/>
          <p:cNvSpPr/>
          <p:nvPr/>
        </p:nvSpPr>
        <p:spPr>
          <a:xfrm>
            <a:off x="1183061" y="1024607"/>
            <a:ext cx="18956040" cy="89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7200" dirty="0">
                <a:solidFill>
                  <a:schemeClr val="bg1"/>
                </a:solidFill>
              </a:rPr>
              <a:t>Strategic Planning Roadmap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5DD60B8-3ED5-087A-34C3-5B30FB0E1A28}"/>
              </a:ext>
            </a:extLst>
          </p:cNvPr>
          <p:cNvCxnSpPr>
            <a:cxnSpLocks/>
          </p:cNvCxnSpPr>
          <p:nvPr/>
        </p:nvCxnSpPr>
        <p:spPr>
          <a:xfrm>
            <a:off x="1871832" y="4382232"/>
            <a:ext cx="20566798" cy="42436"/>
          </a:xfrm>
          <a:prstGeom prst="straightConnector1">
            <a:avLst/>
          </a:prstGeom>
          <a:noFill/>
          <a:ln w="88900" cap="flat">
            <a:solidFill>
              <a:schemeClr val="bg1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3CBB88D-34E5-8507-5BEF-9BF774C478B2}"/>
              </a:ext>
            </a:extLst>
          </p:cNvPr>
          <p:cNvSpPr/>
          <p:nvPr/>
        </p:nvSpPr>
        <p:spPr>
          <a:xfrm>
            <a:off x="17460270" y="3227194"/>
            <a:ext cx="3278459" cy="2319454"/>
          </a:xfrm>
          <a:prstGeom prst="rect">
            <a:avLst/>
          </a:prstGeom>
          <a:blipFill rotWithShape="1">
            <a:blip r:embed="rId4"/>
            <a:srcRect/>
            <a:tile tx="0" ty="0" sx="100000" sy="100000" flip="none" algn="tl"/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 fontScale="85000" lnSpcReduction="20000"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Identify Potential Strategic Stretch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Objectives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6B5C86B-7759-EC47-6429-68E71F53D7E1}"/>
              </a:ext>
            </a:extLst>
          </p:cNvPr>
          <p:cNvSpPr/>
          <p:nvPr/>
        </p:nvSpPr>
        <p:spPr>
          <a:xfrm>
            <a:off x="22630421" y="3842800"/>
            <a:ext cx="1135642" cy="1088242"/>
          </a:xfrm>
          <a:prstGeom prst="ellipse">
            <a:avLst/>
          </a:prstGeom>
          <a:solidFill>
            <a:schemeClr val="tx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2878EC-389D-D8F3-00D9-40D9C523FF01}"/>
              </a:ext>
            </a:extLst>
          </p:cNvPr>
          <p:cNvSpPr/>
          <p:nvPr/>
        </p:nvSpPr>
        <p:spPr>
          <a:xfrm>
            <a:off x="12374131" y="3264941"/>
            <a:ext cx="3278459" cy="2319454"/>
          </a:xfrm>
          <a:prstGeom prst="rect">
            <a:avLst/>
          </a:prstGeom>
          <a:blipFill rotWithShape="1">
            <a:blip r:embed="rId4"/>
            <a:srcRect/>
            <a:tile tx="0" ty="0" sx="100000" sy="100000" flip="none" algn="tl"/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Determine ”Voice of the Data”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29502F-A090-88BA-0C80-2B3F343E65D5}"/>
              </a:ext>
            </a:extLst>
          </p:cNvPr>
          <p:cNvSpPr/>
          <p:nvPr/>
        </p:nvSpPr>
        <p:spPr>
          <a:xfrm>
            <a:off x="7545652" y="3227194"/>
            <a:ext cx="3278459" cy="2319454"/>
          </a:xfrm>
          <a:prstGeom prst="rect">
            <a:avLst/>
          </a:prstGeom>
          <a:blipFill rotWithShape="1">
            <a:blip r:embed="rId4"/>
            <a:srcRect/>
            <a:tile tx="0" ty="0" sx="100000" sy="100000" flip="none" algn="tl"/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Organize &amp; Analyze Data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66B210D-231A-4BB1-58A7-628984ECF3B5}"/>
              </a:ext>
            </a:extLst>
          </p:cNvPr>
          <p:cNvSpPr/>
          <p:nvPr/>
        </p:nvSpPr>
        <p:spPr>
          <a:xfrm>
            <a:off x="684069" y="7116147"/>
            <a:ext cx="1135642" cy="1088242"/>
          </a:xfrm>
          <a:prstGeom prst="ellipse">
            <a:avLst/>
          </a:prstGeom>
          <a:solidFill>
            <a:schemeClr val="tx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A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F897AB7-46E5-7570-DC7D-35A7E40F5B24}"/>
              </a:ext>
            </a:extLst>
          </p:cNvPr>
          <p:cNvCxnSpPr>
            <a:cxnSpLocks/>
          </p:cNvCxnSpPr>
          <p:nvPr/>
        </p:nvCxnSpPr>
        <p:spPr>
          <a:xfrm>
            <a:off x="1819711" y="7697582"/>
            <a:ext cx="20618919" cy="149933"/>
          </a:xfrm>
          <a:prstGeom prst="straightConnector1">
            <a:avLst/>
          </a:prstGeom>
          <a:noFill/>
          <a:ln w="88900" cap="flat">
            <a:solidFill>
              <a:schemeClr val="bg1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107B242-DB99-83FC-BF94-ADDD34E5D213}"/>
              </a:ext>
            </a:extLst>
          </p:cNvPr>
          <p:cNvSpPr/>
          <p:nvPr/>
        </p:nvSpPr>
        <p:spPr>
          <a:xfrm>
            <a:off x="2948311" y="6658391"/>
            <a:ext cx="3278459" cy="2319454"/>
          </a:xfrm>
          <a:prstGeom prst="rect">
            <a:avLst/>
          </a:prstGeom>
          <a:blipFill rotWithShape="1">
            <a:blip r:embed="rId4"/>
            <a:srcRect/>
            <a:tile tx="0" ty="0" sx="100000" sy="100000" flip="none" algn="tl"/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Prioritize &amp; Select Stretch Objectives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BF53FF-9787-AAF9-1911-3693E2AF0424}"/>
              </a:ext>
            </a:extLst>
          </p:cNvPr>
          <p:cNvSpPr/>
          <p:nvPr/>
        </p:nvSpPr>
        <p:spPr>
          <a:xfrm>
            <a:off x="12453540" y="6678903"/>
            <a:ext cx="3278459" cy="2319454"/>
          </a:xfrm>
          <a:prstGeom prst="rect">
            <a:avLst/>
          </a:prstGeom>
          <a:blipFill rotWithShape="1">
            <a:blip r:embed="rId4"/>
            <a:srcRect/>
            <a:tile tx="0" ty="0" sx="100000" sy="100000" flip="none" algn="tl"/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 lnSpcReduction="10000"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Appraise Benefits of Stretch Objectives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CAC4D7E-0C3B-A7B3-28B6-B0886D639D69}"/>
              </a:ext>
            </a:extLst>
          </p:cNvPr>
          <p:cNvSpPr/>
          <p:nvPr/>
        </p:nvSpPr>
        <p:spPr>
          <a:xfrm>
            <a:off x="7594391" y="6678903"/>
            <a:ext cx="3278459" cy="2319454"/>
          </a:xfrm>
          <a:prstGeom prst="rect">
            <a:avLst/>
          </a:prstGeom>
          <a:blipFill rotWithShape="1">
            <a:blip r:embed="rId4"/>
            <a:srcRect/>
            <a:tile tx="0" ty="0" sx="100000" sy="100000" flip="none" algn="tl"/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 Deselect Stretch Objectives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25B8352-ADD1-A7B2-5147-9FEB4DF74C2E}"/>
              </a:ext>
            </a:extLst>
          </p:cNvPr>
          <p:cNvCxnSpPr>
            <a:cxnSpLocks/>
          </p:cNvCxnSpPr>
          <p:nvPr/>
        </p:nvCxnSpPr>
        <p:spPr>
          <a:xfrm flipV="1">
            <a:off x="19246671" y="5584395"/>
            <a:ext cx="0" cy="1817722"/>
          </a:xfrm>
          <a:prstGeom prst="straightConnector1">
            <a:avLst/>
          </a:prstGeom>
          <a:noFill/>
          <a:ln w="88900" cap="flat">
            <a:solidFill>
              <a:schemeClr val="bg1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8D0CE516-779F-263F-4F3F-B1AADA8AF120}"/>
              </a:ext>
            </a:extLst>
          </p:cNvPr>
          <p:cNvSpPr/>
          <p:nvPr/>
        </p:nvSpPr>
        <p:spPr>
          <a:xfrm>
            <a:off x="22628642" y="7303394"/>
            <a:ext cx="1135642" cy="1088242"/>
          </a:xfrm>
          <a:prstGeom prst="ellipse">
            <a:avLst/>
          </a:prstGeom>
          <a:solidFill>
            <a:schemeClr val="tx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rPr>
              <a:t>B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Roboto"/>
            </a:endParaRPr>
          </a:p>
        </p:txBody>
      </p:sp>
      <p:sp>
        <p:nvSpPr>
          <p:cNvPr id="13" name="Diamond 12">
            <a:extLst>
              <a:ext uri="{FF2B5EF4-FFF2-40B4-BE49-F238E27FC236}">
                <a16:creationId xmlns:a16="http://schemas.microsoft.com/office/drawing/2014/main" id="{B49968F3-0CB4-59BB-2A47-39B67F0ECC8A}"/>
              </a:ext>
            </a:extLst>
          </p:cNvPr>
          <p:cNvSpPr/>
          <p:nvPr/>
        </p:nvSpPr>
        <p:spPr>
          <a:xfrm>
            <a:off x="17057653" y="6438566"/>
            <a:ext cx="4378036" cy="2817898"/>
          </a:xfrm>
          <a:prstGeom prst="diamond">
            <a:avLst/>
          </a:prstGeom>
          <a:blipFill rotWithShape="1">
            <a:blip r:embed="rId4"/>
            <a:srcRect/>
            <a:tile tx="0" ty="0" sx="100000" sy="100000" flip="none" algn="tl"/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Meet Stakeholder Expectations?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8BD3B94-EBD8-0C9C-735C-8A93B2478F30}"/>
              </a:ext>
            </a:extLst>
          </p:cNvPr>
          <p:cNvSpPr txBox="1"/>
          <p:nvPr/>
        </p:nvSpPr>
        <p:spPr>
          <a:xfrm>
            <a:off x="21167242" y="6923328"/>
            <a:ext cx="916918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rPr>
              <a:t>YES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98AF790-00D7-7F01-5CE8-FD2B6DECE624}"/>
              </a:ext>
            </a:extLst>
          </p:cNvPr>
          <p:cNvSpPr txBox="1"/>
          <p:nvPr/>
        </p:nvSpPr>
        <p:spPr>
          <a:xfrm>
            <a:off x="19559067" y="5914678"/>
            <a:ext cx="748603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rPr>
              <a:t>NO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3C0497A-6EF9-D71F-B06E-3C7B51478A46}"/>
              </a:ext>
            </a:extLst>
          </p:cNvPr>
          <p:cNvCxnSpPr>
            <a:cxnSpLocks/>
          </p:cNvCxnSpPr>
          <p:nvPr/>
        </p:nvCxnSpPr>
        <p:spPr>
          <a:xfrm>
            <a:off x="4294909" y="11469237"/>
            <a:ext cx="15264158" cy="0"/>
          </a:xfrm>
          <a:prstGeom prst="straightConnector1">
            <a:avLst/>
          </a:prstGeom>
          <a:noFill/>
          <a:ln w="88900" cap="flat">
            <a:solidFill>
              <a:schemeClr val="bg1"/>
            </a:solidFill>
            <a:prstDash val="solid"/>
            <a:miter lim="400000"/>
            <a:tailEnd type="triangle" w="lg" len="lg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9EE35AD-F71B-7D4B-ECE8-3DD35402610A}"/>
              </a:ext>
            </a:extLst>
          </p:cNvPr>
          <p:cNvSpPr/>
          <p:nvPr/>
        </p:nvSpPr>
        <p:spPr>
          <a:xfrm>
            <a:off x="3196530" y="10925116"/>
            <a:ext cx="1135642" cy="1088242"/>
          </a:xfrm>
          <a:prstGeom prst="ellipse">
            <a:avLst/>
          </a:prstGeom>
          <a:solidFill>
            <a:schemeClr val="tx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rPr>
              <a:t>B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Roboto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7B8BD94-E758-C604-5856-7FB687447AEA}"/>
              </a:ext>
            </a:extLst>
          </p:cNvPr>
          <p:cNvSpPr/>
          <p:nvPr/>
        </p:nvSpPr>
        <p:spPr>
          <a:xfrm>
            <a:off x="19641008" y="10918357"/>
            <a:ext cx="1135642" cy="1088242"/>
          </a:xfrm>
          <a:prstGeom prst="ellipse">
            <a:avLst/>
          </a:prstGeom>
          <a:solidFill>
            <a:schemeClr val="tx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 fontScale="70000" lnSpcReduction="20000"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END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B4E967F-D1B3-BE4D-5B05-3B0D4432FD0F}"/>
              </a:ext>
            </a:extLst>
          </p:cNvPr>
          <p:cNvSpPr/>
          <p:nvPr/>
        </p:nvSpPr>
        <p:spPr>
          <a:xfrm>
            <a:off x="736190" y="3838111"/>
            <a:ext cx="1135642" cy="1088242"/>
          </a:xfrm>
          <a:prstGeom prst="ellipse">
            <a:avLst/>
          </a:prstGeom>
          <a:solidFill>
            <a:schemeClr val="tx1"/>
          </a:solidFill>
          <a:ln w="12700" cap="flat">
            <a:solidFill>
              <a:schemeClr val="bg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 fontScale="62500" lnSpcReduction="20000"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solidFill>
                  <a:schemeClr val="bg1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rPr>
              <a:t>Start</a:t>
            </a:r>
            <a:endParaRPr kumimoji="0" lang="en-US" sz="40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FillTx/>
              <a:latin typeface="+mn-lt"/>
              <a:ea typeface="+mn-ea"/>
              <a:cs typeface="+mn-cs"/>
              <a:sym typeface="Roboto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5B1279-778E-0885-3809-13F4A95AFEEB}"/>
              </a:ext>
            </a:extLst>
          </p:cNvPr>
          <p:cNvSpPr/>
          <p:nvPr/>
        </p:nvSpPr>
        <p:spPr>
          <a:xfrm>
            <a:off x="2948311" y="3282344"/>
            <a:ext cx="3278459" cy="2319454"/>
          </a:xfrm>
          <a:prstGeom prst="rect">
            <a:avLst/>
          </a:prstGeom>
          <a:blipFill rotWithShape="1">
            <a:blip r:embed="rId4"/>
            <a:srcRect/>
            <a:tile tx="0" ty="0" sx="100000" sy="100000" flip="none" algn="tl"/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Collect Data per Data Request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5FA736-83F3-53A4-0ED9-A925E07E4CC5}"/>
              </a:ext>
            </a:extLst>
          </p:cNvPr>
          <p:cNvSpPr/>
          <p:nvPr/>
        </p:nvSpPr>
        <p:spPr>
          <a:xfrm>
            <a:off x="5282973" y="10343061"/>
            <a:ext cx="3278459" cy="2319454"/>
          </a:xfrm>
          <a:prstGeom prst="rect">
            <a:avLst/>
          </a:prstGeom>
          <a:blipFill rotWithShape="1">
            <a:blip r:embed="rId4"/>
            <a:srcRect/>
            <a:tile tx="0" ty="0" sx="100000" sy="100000" flip="none" algn="tl"/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6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Determine PRELIMINARY Hoshin AIPs and Targets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E052C08-D2BD-D6D5-DC68-40EC036D5046}"/>
              </a:ext>
            </a:extLst>
          </p:cNvPr>
          <p:cNvSpPr/>
          <p:nvPr/>
        </p:nvSpPr>
        <p:spPr>
          <a:xfrm>
            <a:off x="9984050" y="10310790"/>
            <a:ext cx="3278459" cy="2319454"/>
          </a:xfrm>
          <a:prstGeom prst="rect">
            <a:avLst/>
          </a:prstGeom>
          <a:blipFill rotWithShape="1">
            <a:blip r:embed="rId4"/>
            <a:srcRect/>
            <a:tile tx="0" ty="0" sx="100000" sy="100000" flip="none" algn="tl"/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Finalize Strategic Plan Presentation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6C3AD0-3A9A-96FB-E9BE-766D0939AC35}"/>
              </a:ext>
            </a:extLst>
          </p:cNvPr>
          <p:cNvSpPr/>
          <p:nvPr/>
        </p:nvSpPr>
        <p:spPr>
          <a:xfrm>
            <a:off x="14812529" y="10309510"/>
            <a:ext cx="3278459" cy="2319454"/>
          </a:xfrm>
          <a:prstGeom prst="rect">
            <a:avLst/>
          </a:prstGeom>
          <a:blipFill rotWithShape="1">
            <a:blip r:embed="rId4"/>
            <a:srcRect/>
            <a:tile tx="0" ty="0" sx="100000" sy="100000" flip="none" algn="tl"/>
          </a:blip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normAutofit fontScale="85000" lnSpcReduction="10000"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Plan for Hoshin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Workshops (People, timing, etc.)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BA67CF1-31EF-C8B2-0DE4-9CB90B0AFE63}"/>
              </a:ext>
            </a:extLst>
          </p:cNvPr>
          <p:cNvSpPr txBox="1"/>
          <p:nvPr/>
        </p:nvSpPr>
        <p:spPr>
          <a:xfrm>
            <a:off x="5853818" y="5200988"/>
            <a:ext cx="706581" cy="718145"/>
          </a:xfrm>
          <a:prstGeom prst="rect">
            <a:avLst/>
          </a:prstGeom>
          <a:solidFill>
            <a:schemeClr val="accent1"/>
          </a:solidFill>
          <a:ln w="47625" cap="rnd">
            <a:solidFill>
              <a:schemeClr val="bg1"/>
            </a:solidFill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rPr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DCE5BE2-2C05-53FD-5C9C-0F807199B3F9}"/>
              </a:ext>
            </a:extLst>
          </p:cNvPr>
          <p:cNvSpPr txBox="1"/>
          <p:nvPr/>
        </p:nvSpPr>
        <p:spPr>
          <a:xfrm>
            <a:off x="15258532" y="8669261"/>
            <a:ext cx="706581" cy="718145"/>
          </a:xfrm>
          <a:prstGeom prst="rect">
            <a:avLst/>
          </a:prstGeom>
          <a:solidFill>
            <a:schemeClr val="accent1"/>
          </a:solidFill>
          <a:ln w="47625" cap="rnd">
            <a:solidFill>
              <a:schemeClr val="bg1"/>
            </a:solidFill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EDBD7D9-667E-D2E4-5988-11D88A9940FE}"/>
              </a:ext>
            </a:extLst>
          </p:cNvPr>
          <p:cNvSpPr txBox="1"/>
          <p:nvPr/>
        </p:nvSpPr>
        <p:spPr>
          <a:xfrm>
            <a:off x="10475805" y="8625614"/>
            <a:ext cx="706581" cy="718145"/>
          </a:xfrm>
          <a:prstGeom prst="rect">
            <a:avLst/>
          </a:prstGeom>
          <a:solidFill>
            <a:schemeClr val="accent1"/>
          </a:solidFill>
          <a:ln w="47625" cap="rnd">
            <a:solidFill>
              <a:schemeClr val="bg1"/>
            </a:solidFill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0D9AD0-314E-92D1-4D9E-2B4740FD8FAF}"/>
              </a:ext>
            </a:extLst>
          </p:cNvPr>
          <p:cNvSpPr txBox="1"/>
          <p:nvPr/>
        </p:nvSpPr>
        <p:spPr>
          <a:xfrm>
            <a:off x="5868437" y="8605102"/>
            <a:ext cx="706581" cy="718145"/>
          </a:xfrm>
          <a:prstGeom prst="rect">
            <a:avLst/>
          </a:prstGeom>
          <a:solidFill>
            <a:schemeClr val="accent1"/>
          </a:solidFill>
          <a:ln w="47625" cap="rnd">
            <a:solidFill>
              <a:schemeClr val="bg1"/>
            </a:solidFill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4C94709-4A4B-E756-E71B-0C1D61B69185}"/>
              </a:ext>
            </a:extLst>
          </p:cNvPr>
          <p:cNvSpPr txBox="1"/>
          <p:nvPr/>
        </p:nvSpPr>
        <p:spPr>
          <a:xfrm>
            <a:off x="20385438" y="5257555"/>
            <a:ext cx="706581" cy="718145"/>
          </a:xfrm>
          <a:prstGeom prst="rect">
            <a:avLst/>
          </a:prstGeom>
          <a:solidFill>
            <a:schemeClr val="accent1"/>
          </a:solidFill>
          <a:ln w="47625" cap="rnd">
            <a:solidFill>
              <a:schemeClr val="bg1"/>
            </a:solidFill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D74A7B1-3916-3C24-A6E2-AABB503C5291}"/>
              </a:ext>
            </a:extLst>
          </p:cNvPr>
          <p:cNvSpPr txBox="1"/>
          <p:nvPr/>
        </p:nvSpPr>
        <p:spPr>
          <a:xfrm>
            <a:off x="15378708" y="5253023"/>
            <a:ext cx="706581" cy="718145"/>
          </a:xfrm>
          <a:prstGeom prst="rect">
            <a:avLst/>
          </a:prstGeom>
          <a:solidFill>
            <a:schemeClr val="accent1"/>
          </a:solidFill>
          <a:ln w="47625" cap="rnd">
            <a:solidFill>
              <a:schemeClr val="bg1"/>
            </a:solidFill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3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7EEDE83-C59B-9550-1B6B-3EBA8B941E4A}"/>
              </a:ext>
            </a:extLst>
          </p:cNvPr>
          <p:cNvSpPr txBox="1"/>
          <p:nvPr/>
        </p:nvSpPr>
        <p:spPr>
          <a:xfrm>
            <a:off x="10539249" y="5269954"/>
            <a:ext cx="706581" cy="718145"/>
          </a:xfrm>
          <a:prstGeom prst="rect">
            <a:avLst/>
          </a:prstGeom>
          <a:solidFill>
            <a:schemeClr val="accent1"/>
          </a:solidFill>
          <a:ln w="47625" cap="rnd">
            <a:solidFill>
              <a:schemeClr val="bg1"/>
            </a:solidFill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5CFEABD-A2A1-1544-E90C-05689FAF1425}"/>
              </a:ext>
            </a:extLst>
          </p:cNvPr>
          <p:cNvSpPr txBox="1"/>
          <p:nvPr/>
        </p:nvSpPr>
        <p:spPr>
          <a:xfrm>
            <a:off x="8295150" y="12381570"/>
            <a:ext cx="706581" cy="718145"/>
          </a:xfrm>
          <a:prstGeom prst="rect">
            <a:avLst/>
          </a:prstGeom>
          <a:solidFill>
            <a:schemeClr val="accent1"/>
          </a:solidFill>
          <a:ln w="47625" cap="rnd">
            <a:solidFill>
              <a:schemeClr val="bg1"/>
            </a:solidFill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B512EA2-8FD4-84C5-09C5-965241D3ED16}"/>
              </a:ext>
            </a:extLst>
          </p:cNvPr>
          <p:cNvSpPr txBox="1"/>
          <p:nvPr/>
        </p:nvSpPr>
        <p:spPr>
          <a:xfrm>
            <a:off x="12964210" y="12343639"/>
            <a:ext cx="706581" cy="718145"/>
          </a:xfrm>
          <a:prstGeom prst="rect">
            <a:avLst/>
          </a:prstGeom>
          <a:solidFill>
            <a:schemeClr val="accent1"/>
          </a:solidFill>
          <a:ln w="47625" cap="rnd">
            <a:solidFill>
              <a:schemeClr val="bg1"/>
            </a:solidFill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A7AF36-07B8-B1DF-081C-1C812911F96F}"/>
              </a:ext>
            </a:extLst>
          </p:cNvPr>
          <p:cNvSpPr txBox="1"/>
          <p:nvPr/>
        </p:nvSpPr>
        <p:spPr>
          <a:xfrm>
            <a:off x="17633270" y="12252883"/>
            <a:ext cx="706581" cy="718145"/>
          </a:xfrm>
          <a:prstGeom prst="rect">
            <a:avLst/>
          </a:prstGeom>
          <a:solidFill>
            <a:schemeClr val="accent1"/>
          </a:solidFill>
          <a:ln w="47625" cap="rnd">
            <a:solidFill>
              <a:schemeClr val="bg1"/>
            </a:solidFill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4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2214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457" name="Coupons"/>
          <p:cNvSpPr/>
          <p:nvPr/>
        </p:nvSpPr>
        <p:spPr>
          <a:xfrm>
            <a:off x="1676055" y="1130504"/>
            <a:ext cx="18956040" cy="89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7200" dirty="0">
                <a:solidFill>
                  <a:schemeClr val="bg1"/>
                </a:solidFill>
              </a:rPr>
              <a:t>The Data Request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755E98-B782-299E-78FC-EB2E150AE0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1139468"/>
            <a:ext cx="10515945" cy="11446028"/>
          </a:xfrm>
          <a:prstGeom prst="rect">
            <a:avLst/>
          </a:prstGeom>
          <a:effectLst/>
          <a:scene3d>
            <a:camera prst="orthographicFront"/>
            <a:lightRig rig="threePt" dir="t"/>
          </a:scene3d>
          <a:sp3d>
            <a:bevelT w="152400"/>
          </a:sp3d>
        </p:spPr>
      </p:pic>
      <p:sp>
        <p:nvSpPr>
          <p:cNvPr id="4" name="Coupons">
            <a:extLst>
              <a:ext uri="{FF2B5EF4-FFF2-40B4-BE49-F238E27FC236}">
                <a16:creationId xmlns:a16="http://schemas.microsoft.com/office/drawing/2014/main" id="{0D6DB983-B649-001A-5E82-E0623790172D}"/>
              </a:ext>
            </a:extLst>
          </p:cNvPr>
          <p:cNvSpPr/>
          <p:nvPr/>
        </p:nvSpPr>
        <p:spPr>
          <a:xfrm>
            <a:off x="887707" y="5192544"/>
            <a:ext cx="10677843" cy="3330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endParaRPr lang="en-US" sz="5400" b="0" dirty="0">
              <a:solidFill>
                <a:schemeClr val="bg1"/>
              </a:solidFill>
            </a:endParaRPr>
          </a:p>
          <a:p>
            <a:r>
              <a:rPr lang="en-US" sz="5400" b="0" dirty="0">
                <a:solidFill>
                  <a:schemeClr val="bg1"/>
                </a:solidFill>
              </a:rPr>
              <a:t>Data collection systems required to collect strategic data on an ongoing basis.</a:t>
            </a:r>
          </a:p>
          <a:p>
            <a:endParaRPr lang="en-US" sz="5400" b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9777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Line 17">
            <a:extLst>
              <a:ext uri="{FF2B5EF4-FFF2-40B4-BE49-F238E27FC236}">
                <a16:creationId xmlns:a16="http://schemas.microsoft.com/office/drawing/2014/main" id="{72818C60-1881-989D-BC24-D669742C79D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326591" y="10785633"/>
            <a:ext cx="7508078" cy="1"/>
          </a:xfrm>
          <a:prstGeom prst="line">
            <a:avLst/>
          </a:prstGeom>
          <a:solidFill>
            <a:srgbClr val="8C0000"/>
          </a:solidFill>
          <a:ln w="107950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457" name="Coupons"/>
          <p:cNvSpPr/>
          <p:nvPr/>
        </p:nvSpPr>
        <p:spPr>
          <a:xfrm>
            <a:off x="841292" y="696270"/>
            <a:ext cx="18956040" cy="1782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7200" dirty="0">
                <a:solidFill>
                  <a:schemeClr val="bg1"/>
                </a:solidFill>
              </a:rPr>
              <a:t>Strategic Planning is NOT an Event </a:t>
            </a:r>
          </a:p>
          <a:p>
            <a:r>
              <a:rPr lang="en-US" sz="7200" dirty="0">
                <a:solidFill>
                  <a:schemeClr val="bg1"/>
                </a:solidFill>
              </a:rPr>
              <a:t>	- </a:t>
            </a:r>
            <a:r>
              <a:rPr lang="en-US" sz="6000" dirty="0">
                <a:solidFill>
                  <a:schemeClr val="bg1"/>
                </a:solidFill>
              </a:rPr>
              <a:t>It’s a Continuous Process </a:t>
            </a:r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25" name="Line 17">
            <a:extLst>
              <a:ext uri="{FF2B5EF4-FFF2-40B4-BE49-F238E27FC236}">
                <a16:creationId xmlns:a16="http://schemas.microsoft.com/office/drawing/2014/main" id="{BE77381D-664F-745A-88C9-2DF788210408}"/>
              </a:ext>
            </a:extLst>
          </p:cNvPr>
          <p:cNvSpPr>
            <a:spLocks noChangeShapeType="1"/>
          </p:cNvSpPr>
          <p:nvPr/>
        </p:nvSpPr>
        <p:spPr bwMode="auto">
          <a:xfrm rot="10800000" flipH="1" flipV="1">
            <a:off x="7568761" y="4983848"/>
            <a:ext cx="7508078" cy="0"/>
          </a:xfrm>
          <a:prstGeom prst="line">
            <a:avLst/>
          </a:prstGeom>
          <a:solidFill>
            <a:srgbClr val="8C0000"/>
          </a:solidFill>
          <a:ln w="107950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7A129ACA-C86F-D27D-9C05-79E1574B59A5}"/>
              </a:ext>
            </a:extLst>
          </p:cNvPr>
          <p:cNvGrpSpPr/>
          <p:nvPr/>
        </p:nvGrpSpPr>
        <p:grpSpPr>
          <a:xfrm>
            <a:off x="841292" y="3637471"/>
            <a:ext cx="9514784" cy="8674272"/>
            <a:chOff x="669472" y="2916474"/>
            <a:chExt cx="9514784" cy="7945193"/>
          </a:xfrm>
          <a:gradFill>
            <a:gsLst>
              <a:gs pos="3000">
                <a:schemeClr val="bg1">
                  <a:lumMod val="75000"/>
                </a:schemeClr>
              </a:gs>
              <a:gs pos="66000">
                <a:schemeClr val="bg1">
                  <a:lumMod val="75000"/>
                </a:schemeClr>
              </a:gs>
              <a:gs pos="77000">
                <a:schemeClr val="bg1">
                  <a:lumMod val="75000"/>
                </a:schemeClr>
              </a:gs>
              <a:gs pos="100000">
                <a:schemeClr val="tx1"/>
              </a:gs>
            </a:gsLst>
            <a:lin ang="5400000" scaled="0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5D52F4C-B35E-E8B4-A23D-A968A75B45AE}"/>
                </a:ext>
              </a:extLst>
            </p:cNvPr>
            <p:cNvSpPr/>
            <p:nvPr/>
          </p:nvSpPr>
          <p:spPr>
            <a:xfrm>
              <a:off x="669472" y="2916474"/>
              <a:ext cx="9514784" cy="7945193"/>
            </a:xfrm>
            <a:prstGeom prst="ellipse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8D5A0E7-5470-4135-7704-2739C3550B10}"/>
                </a:ext>
              </a:extLst>
            </p:cNvPr>
            <p:cNvSpPr txBox="1"/>
            <p:nvPr/>
          </p:nvSpPr>
          <p:spPr>
            <a:xfrm>
              <a:off x="6016986" y="4909786"/>
              <a:ext cx="3137785" cy="4435348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t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endParaRPr>
            </a:p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800" b="1" dirty="0">
                  <a:solidFill>
                    <a:schemeClr val="tx1"/>
                  </a:solidFill>
                </a:rPr>
                <a:t>SD Performance +</a:t>
              </a:r>
            </a:p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Roboto"/>
                </a:rPr>
                <a:t>Market</a:t>
              </a:r>
            </a:p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800" b="1" dirty="0">
                  <a:solidFill>
                    <a:schemeClr val="tx1"/>
                  </a:solidFill>
                </a:rPr>
                <a:t>Customer</a:t>
              </a:r>
              <a:endPara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endParaRPr>
            </a:p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800" b="1" dirty="0">
                  <a:solidFill>
                    <a:schemeClr val="tx1"/>
                  </a:solidFill>
                </a:rPr>
                <a:t>Competition</a:t>
              </a:r>
            </a:p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Roboto"/>
                </a:rPr>
                <a:t>Technology</a:t>
              </a:r>
            </a:p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800" b="1" dirty="0">
                  <a:solidFill>
                    <a:schemeClr val="tx1"/>
                  </a:solidFill>
                </a:rPr>
                <a:t>Regulations</a:t>
              </a:r>
            </a:p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Roboto"/>
                </a:rPr>
                <a:t>Environment</a:t>
              </a:r>
            </a:p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800" b="1" dirty="0">
                  <a:solidFill>
                    <a:schemeClr val="tx1"/>
                  </a:solidFill>
                </a:rPr>
                <a:t>Supply Chain</a:t>
              </a:r>
            </a:p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2800" b="1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uFillTx/>
                  <a:latin typeface="+mn-lt"/>
                  <a:ea typeface="+mn-ea"/>
                  <a:cs typeface="+mn-cs"/>
                  <a:sym typeface="Roboto"/>
                </a:rPr>
                <a:t>Economy</a:t>
              </a:r>
            </a:p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28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81FAD01C-49C7-FC3A-A484-57047667B9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1972" y="5010161"/>
              <a:ext cx="4009926" cy="4284322"/>
            </a:xfrm>
            <a:prstGeom prst="rect">
              <a:avLst/>
            </a:prstGeom>
            <a:grpFill/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B05A6FF-F722-CECF-C0F8-62D905AA4C78}"/>
                </a:ext>
              </a:extLst>
            </p:cNvPr>
            <p:cNvSpPr txBox="1"/>
            <p:nvPr/>
          </p:nvSpPr>
          <p:spPr>
            <a:xfrm>
              <a:off x="2319442" y="4026353"/>
              <a:ext cx="6214843" cy="656590"/>
            </a:xfrm>
            <a:prstGeom prst="rect">
              <a:avLst/>
            </a:prstGeom>
            <a:grp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t">
              <a:spAutoFit/>
            </a:bodyPr>
            <a:lstStyle/>
            <a:p>
              <a:pPr marL="0" marR="0" indent="0" algn="l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3600" b="1" i="1" dirty="0">
                  <a:solidFill>
                    <a:schemeClr val="tx1"/>
                  </a:solidFill>
                </a:rPr>
                <a:t>Strategic Scan Considerations</a:t>
              </a:r>
              <a:endParaRPr kumimoji="0" lang="en-US" sz="3600" b="1" i="1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7AD1DA2-7955-A93A-9F8D-F0D563C99857}"/>
              </a:ext>
            </a:extLst>
          </p:cNvPr>
          <p:cNvSpPr txBox="1"/>
          <p:nvPr/>
        </p:nvSpPr>
        <p:spPr>
          <a:xfrm>
            <a:off x="9475843" y="4201414"/>
            <a:ext cx="4531689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rPr>
              <a:t>Confirm/Adjust Strategy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92CE1C0-AC49-D048-CE35-F05C63DF46DA}"/>
              </a:ext>
            </a:extLst>
          </p:cNvPr>
          <p:cNvSpPr txBox="1"/>
          <p:nvPr/>
        </p:nvSpPr>
        <p:spPr>
          <a:xfrm>
            <a:off x="10231527" y="10110602"/>
            <a:ext cx="3920945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rPr>
              <a:t>Quarterly Checkpoint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20195B37-C072-44A1-0250-7DBE07D03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5175" y="2930366"/>
            <a:ext cx="18423636" cy="10178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418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723" y="0"/>
            <a:ext cx="24383277" cy="13716000"/>
          </a:xfrm>
          <a:prstGeom prst="rect">
            <a:avLst/>
          </a:prstGeom>
        </p:spPr>
      </p:pic>
      <p:sp>
        <p:nvSpPr>
          <p:cNvPr id="455" name="Promotion Strategy"/>
          <p:cNvSpPr/>
          <p:nvPr/>
        </p:nvSpPr>
        <p:spPr>
          <a:xfrm>
            <a:off x="18529606" y="11502371"/>
            <a:ext cx="9372601" cy="1094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z="8800" dirty="0">
                <a:solidFill>
                  <a:schemeClr val="bg1"/>
                </a:solidFill>
              </a:rPr>
              <a:t>Agenda</a:t>
            </a:r>
            <a:endParaRPr sz="8800" dirty="0">
              <a:solidFill>
                <a:schemeClr val="bg1"/>
              </a:solidFill>
            </a:endParaRPr>
          </a:p>
        </p:txBody>
      </p:sp>
      <p:sp>
        <p:nvSpPr>
          <p:cNvPr id="456" name="Line"/>
          <p:cNvSpPr/>
          <p:nvPr/>
        </p:nvSpPr>
        <p:spPr>
          <a:xfrm>
            <a:off x="17717812" y="12049667"/>
            <a:ext cx="594149" cy="0"/>
          </a:xfrm>
          <a:prstGeom prst="line">
            <a:avLst/>
          </a:prstGeom>
          <a:ln w="381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457" name="Coupons"/>
          <p:cNvSpPr/>
          <p:nvPr/>
        </p:nvSpPr>
        <p:spPr>
          <a:xfrm>
            <a:off x="1852135" y="2572418"/>
            <a:ext cx="6021649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2" name="Coupons">
            <a:extLst>
              <a:ext uri="{FF2B5EF4-FFF2-40B4-BE49-F238E27FC236}">
                <a16:creationId xmlns:a16="http://schemas.microsoft.com/office/drawing/2014/main" id="{59037309-8DAC-2D7B-696E-703319CA6A8E}"/>
              </a:ext>
            </a:extLst>
          </p:cNvPr>
          <p:cNvSpPr/>
          <p:nvPr/>
        </p:nvSpPr>
        <p:spPr>
          <a:xfrm>
            <a:off x="2612595" y="4406576"/>
            <a:ext cx="12646290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rgbClr val="FF0000"/>
                </a:solidFill>
              </a:rPr>
              <a:t>Anatomy of a Strategic Plan</a:t>
            </a:r>
          </a:p>
        </p:txBody>
      </p:sp>
      <p:sp>
        <p:nvSpPr>
          <p:cNvPr id="4" name="Coupons">
            <a:extLst>
              <a:ext uri="{FF2B5EF4-FFF2-40B4-BE49-F238E27FC236}">
                <a16:creationId xmlns:a16="http://schemas.microsoft.com/office/drawing/2014/main" id="{D13AE36A-E3FA-A1FA-46A3-D66831539B2E}"/>
              </a:ext>
            </a:extLst>
          </p:cNvPr>
          <p:cNvSpPr/>
          <p:nvPr/>
        </p:nvSpPr>
        <p:spPr>
          <a:xfrm>
            <a:off x="3549193" y="6240734"/>
            <a:ext cx="18061497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chemeClr val="bg1"/>
                </a:solidFill>
              </a:rPr>
              <a:t>Common Issues with Strategic Planning</a:t>
            </a:r>
          </a:p>
        </p:txBody>
      </p:sp>
      <p:sp>
        <p:nvSpPr>
          <p:cNvPr id="5" name="Coupons">
            <a:extLst>
              <a:ext uri="{FF2B5EF4-FFF2-40B4-BE49-F238E27FC236}">
                <a16:creationId xmlns:a16="http://schemas.microsoft.com/office/drawing/2014/main" id="{81B957DF-82FC-3B0E-0B0F-E929DB68E358}"/>
              </a:ext>
            </a:extLst>
          </p:cNvPr>
          <p:cNvSpPr/>
          <p:nvPr/>
        </p:nvSpPr>
        <p:spPr>
          <a:xfrm>
            <a:off x="5801314" y="8034387"/>
            <a:ext cx="9825378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chemeClr val="bg1"/>
                </a:solidFill>
              </a:rPr>
              <a:t>Final Thoughts</a:t>
            </a:r>
          </a:p>
        </p:txBody>
      </p:sp>
    </p:spTree>
    <p:extLst>
      <p:ext uri="{BB962C8B-B14F-4D97-AF65-F5344CB8AC3E}">
        <p14:creationId xmlns:p14="http://schemas.microsoft.com/office/powerpoint/2010/main" val="1049993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0" y="0"/>
            <a:ext cx="24383277" cy="13716000"/>
          </a:xfrm>
          <a:prstGeom prst="rect">
            <a:avLst/>
          </a:prstGeom>
        </p:spPr>
      </p:pic>
      <p:sp>
        <p:nvSpPr>
          <p:cNvPr id="2" name="Coupons">
            <a:extLst>
              <a:ext uri="{FF2B5EF4-FFF2-40B4-BE49-F238E27FC236}">
                <a16:creationId xmlns:a16="http://schemas.microsoft.com/office/drawing/2014/main" id="{59037309-8DAC-2D7B-696E-703319CA6A8E}"/>
              </a:ext>
            </a:extLst>
          </p:cNvPr>
          <p:cNvSpPr/>
          <p:nvPr/>
        </p:nvSpPr>
        <p:spPr>
          <a:xfrm>
            <a:off x="1163748" y="1241634"/>
            <a:ext cx="14158028" cy="89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7200" dirty="0">
                <a:solidFill>
                  <a:schemeClr val="bg1"/>
                </a:solidFill>
              </a:rPr>
              <a:t>Major Strategic Plan Components</a:t>
            </a:r>
          </a:p>
        </p:txBody>
      </p: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E41E7869-A7D1-5576-07B0-3BF9B92C97D0}"/>
              </a:ext>
            </a:extLst>
          </p:cNvPr>
          <p:cNvGrpSpPr/>
          <p:nvPr/>
        </p:nvGrpSpPr>
        <p:grpSpPr>
          <a:xfrm>
            <a:off x="1062660" y="4126755"/>
            <a:ext cx="8873172" cy="1882014"/>
            <a:chOff x="1965812" y="3928900"/>
            <a:chExt cx="8873172" cy="188201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15D7D07-3089-D626-6B44-BDB256FDA63D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10" name="Circle">
                <a:extLst>
                  <a:ext uri="{FF2B5EF4-FFF2-40B4-BE49-F238E27FC236}">
                    <a16:creationId xmlns:a16="http://schemas.microsoft.com/office/drawing/2014/main" id="{86019C6E-2D9C-3EE6-5EDC-9BB0F56A0D58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1" name="Circle">
                <a:extLst>
                  <a:ext uri="{FF2B5EF4-FFF2-40B4-BE49-F238E27FC236}">
                    <a16:creationId xmlns:a16="http://schemas.microsoft.com/office/drawing/2014/main" id="{F3B13FBF-877E-F25C-7AF2-A292B5EE540E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/>
              </a:p>
            </p:txBody>
          </p:sp>
          <p:sp>
            <p:nvSpPr>
              <p:cNvPr id="12" name="1">
                <a:extLst>
                  <a:ext uri="{FF2B5EF4-FFF2-40B4-BE49-F238E27FC236}">
                    <a16:creationId xmlns:a16="http://schemas.microsoft.com/office/drawing/2014/main" id="{F8F2E05C-42C8-B721-F867-EE6461B632E2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dirty="0">
                    <a:solidFill>
                      <a:schemeClr val="accent2"/>
                    </a:solidFill>
                  </a:rPr>
                  <a:t>1</a:t>
                </a:r>
              </a:p>
            </p:txBody>
          </p:sp>
        </p:grpSp>
        <p:sp>
          <p:nvSpPr>
            <p:cNvPr id="450" name="Coupons">
              <a:extLst>
                <a:ext uri="{FF2B5EF4-FFF2-40B4-BE49-F238E27FC236}">
                  <a16:creationId xmlns:a16="http://schemas.microsoft.com/office/drawing/2014/main" id="{A1645028-9F9F-2063-AC63-9514105DE82D}"/>
                </a:ext>
              </a:extLst>
            </p:cNvPr>
            <p:cNvSpPr/>
            <p:nvPr/>
          </p:nvSpPr>
          <p:spPr>
            <a:xfrm>
              <a:off x="4045351" y="4615991"/>
              <a:ext cx="6793633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Mission Statement</a:t>
              </a:r>
            </a:p>
          </p:txBody>
        </p:sp>
      </p:grp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4C434364-E166-8740-A365-4E6286B9D919}"/>
              </a:ext>
            </a:extLst>
          </p:cNvPr>
          <p:cNvGrpSpPr/>
          <p:nvPr/>
        </p:nvGrpSpPr>
        <p:grpSpPr>
          <a:xfrm>
            <a:off x="1051100" y="6947591"/>
            <a:ext cx="8873172" cy="1882014"/>
            <a:chOff x="1965812" y="3928900"/>
            <a:chExt cx="8873172" cy="1882014"/>
          </a:xfrm>
        </p:grpSpPr>
        <p:grpSp>
          <p:nvGrpSpPr>
            <p:cNvPr id="453" name="Group 452">
              <a:extLst>
                <a:ext uri="{FF2B5EF4-FFF2-40B4-BE49-F238E27FC236}">
                  <a16:creationId xmlns:a16="http://schemas.microsoft.com/office/drawing/2014/main" id="{BC501409-D87E-14EA-A0A9-40FDB220D25E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458" name="Circle">
                <a:extLst>
                  <a:ext uri="{FF2B5EF4-FFF2-40B4-BE49-F238E27FC236}">
                    <a16:creationId xmlns:a16="http://schemas.microsoft.com/office/drawing/2014/main" id="{8D8AF2BB-B2C1-B25F-1FDF-9279672BD423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/>
              </a:p>
            </p:txBody>
          </p:sp>
          <p:sp>
            <p:nvSpPr>
              <p:cNvPr id="459" name="Circle">
                <a:extLst>
                  <a:ext uri="{FF2B5EF4-FFF2-40B4-BE49-F238E27FC236}">
                    <a16:creationId xmlns:a16="http://schemas.microsoft.com/office/drawing/2014/main" id="{C81FA449-79F3-2CEB-222D-D33AF76A8172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 dirty="0"/>
              </a:p>
            </p:txBody>
          </p:sp>
          <p:sp>
            <p:nvSpPr>
              <p:cNvPr id="460" name="1">
                <a:extLst>
                  <a:ext uri="{FF2B5EF4-FFF2-40B4-BE49-F238E27FC236}">
                    <a16:creationId xmlns:a16="http://schemas.microsoft.com/office/drawing/2014/main" id="{F898943A-2063-C390-691B-8F777C1FDE55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2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54" name="Coupons">
              <a:extLst>
                <a:ext uri="{FF2B5EF4-FFF2-40B4-BE49-F238E27FC236}">
                  <a16:creationId xmlns:a16="http://schemas.microsoft.com/office/drawing/2014/main" id="{60B6B3F6-CE89-C347-CBEC-E2C111F46B89}"/>
                </a:ext>
              </a:extLst>
            </p:cNvPr>
            <p:cNvSpPr/>
            <p:nvPr/>
          </p:nvSpPr>
          <p:spPr>
            <a:xfrm>
              <a:off x="4045351" y="4615991"/>
              <a:ext cx="6793633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Vision Statement</a:t>
              </a:r>
            </a:p>
          </p:txBody>
        </p:sp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96DCA164-6EEF-3E74-4AFA-EE5A07B9FB28}"/>
              </a:ext>
            </a:extLst>
          </p:cNvPr>
          <p:cNvGrpSpPr/>
          <p:nvPr/>
        </p:nvGrpSpPr>
        <p:grpSpPr>
          <a:xfrm>
            <a:off x="1009757" y="9628416"/>
            <a:ext cx="13355964" cy="1882014"/>
            <a:chOff x="1965812" y="3928900"/>
            <a:chExt cx="13355964" cy="1882014"/>
          </a:xfrm>
        </p:grpSpPr>
        <p:grpSp>
          <p:nvGrpSpPr>
            <p:cNvPr id="462" name="Group 461">
              <a:extLst>
                <a:ext uri="{FF2B5EF4-FFF2-40B4-BE49-F238E27FC236}">
                  <a16:creationId xmlns:a16="http://schemas.microsoft.com/office/drawing/2014/main" id="{2277658F-9F60-1805-D477-D9E0D136A4EE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464" name="Circle">
                <a:extLst>
                  <a:ext uri="{FF2B5EF4-FFF2-40B4-BE49-F238E27FC236}">
                    <a16:creationId xmlns:a16="http://schemas.microsoft.com/office/drawing/2014/main" id="{E66BA601-C931-C253-E1C5-1D2266260AEE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65" name="Circle">
                <a:extLst>
                  <a:ext uri="{FF2B5EF4-FFF2-40B4-BE49-F238E27FC236}">
                    <a16:creationId xmlns:a16="http://schemas.microsoft.com/office/drawing/2014/main" id="{995D84FA-E05D-EFA3-224B-901EDF815F4A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66" name="1">
                <a:extLst>
                  <a:ext uri="{FF2B5EF4-FFF2-40B4-BE49-F238E27FC236}">
                    <a16:creationId xmlns:a16="http://schemas.microsoft.com/office/drawing/2014/main" id="{2A420FB6-37BB-C937-18F8-8154EC328857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3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63" name="Coupons">
              <a:extLst>
                <a:ext uri="{FF2B5EF4-FFF2-40B4-BE49-F238E27FC236}">
                  <a16:creationId xmlns:a16="http://schemas.microsoft.com/office/drawing/2014/main" id="{C06392FE-AE6F-8CD2-9F14-5C4E4C143880}"/>
                </a:ext>
              </a:extLst>
            </p:cNvPr>
            <p:cNvSpPr/>
            <p:nvPr/>
          </p:nvSpPr>
          <p:spPr>
            <a:xfrm>
              <a:off x="4045351" y="4615991"/>
              <a:ext cx="11276425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Major Changes from Last Year</a:t>
              </a:r>
            </a:p>
          </p:txBody>
        </p:sp>
      </p:grp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4E7621DA-0358-D141-3DAA-A3CCDD2FC294}"/>
              </a:ext>
            </a:extLst>
          </p:cNvPr>
          <p:cNvGrpSpPr/>
          <p:nvPr/>
        </p:nvGrpSpPr>
        <p:grpSpPr>
          <a:xfrm>
            <a:off x="13695105" y="3227784"/>
            <a:ext cx="10226188" cy="1882014"/>
            <a:chOff x="1965812" y="3928900"/>
            <a:chExt cx="10226188" cy="1882014"/>
          </a:xfrm>
        </p:grpSpPr>
        <p:grpSp>
          <p:nvGrpSpPr>
            <p:cNvPr id="468" name="Group 467">
              <a:extLst>
                <a:ext uri="{FF2B5EF4-FFF2-40B4-BE49-F238E27FC236}">
                  <a16:creationId xmlns:a16="http://schemas.microsoft.com/office/drawing/2014/main" id="{DED5DD29-AF5F-EDD0-5E00-4DFC35E9787D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470" name="Circle">
                <a:extLst>
                  <a:ext uri="{FF2B5EF4-FFF2-40B4-BE49-F238E27FC236}">
                    <a16:creationId xmlns:a16="http://schemas.microsoft.com/office/drawing/2014/main" id="{047BAD8E-56C8-5C18-7A29-2EECB1C9C065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71" name="Circle">
                <a:extLst>
                  <a:ext uri="{FF2B5EF4-FFF2-40B4-BE49-F238E27FC236}">
                    <a16:creationId xmlns:a16="http://schemas.microsoft.com/office/drawing/2014/main" id="{CAFA18A8-D986-AC3E-2E79-CA36A5FFD595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72" name="1">
                <a:extLst>
                  <a:ext uri="{FF2B5EF4-FFF2-40B4-BE49-F238E27FC236}">
                    <a16:creationId xmlns:a16="http://schemas.microsoft.com/office/drawing/2014/main" id="{9F09F965-3C2D-CA95-2050-CB1EA5E19B5A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4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69" name="Coupons">
              <a:extLst>
                <a:ext uri="{FF2B5EF4-FFF2-40B4-BE49-F238E27FC236}">
                  <a16:creationId xmlns:a16="http://schemas.microsoft.com/office/drawing/2014/main" id="{336F91FB-7F19-ED4E-C56D-7057A979BE0F}"/>
                </a:ext>
              </a:extLst>
            </p:cNvPr>
            <p:cNvSpPr/>
            <p:nvPr/>
          </p:nvSpPr>
          <p:spPr>
            <a:xfrm>
              <a:off x="4045351" y="4615991"/>
              <a:ext cx="8146649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Voice of the Customer</a:t>
              </a:r>
            </a:p>
          </p:txBody>
        </p: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F77CB056-FA47-8E99-2317-2FA57A1D0911}"/>
              </a:ext>
            </a:extLst>
          </p:cNvPr>
          <p:cNvGrpSpPr/>
          <p:nvPr/>
        </p:nvGrpSpPr>
        <p:grpSpPr>
          <a:xfrm>
            <a:off x="13695105" y="6044755"/>
            <a:ext cx="8873172" cy="1882014"/>
            <a:chOff x="1965812" y="3928900"/>
            <a:chExt cx="8873172" cy="1882014"/>
          </a:xfrm>
        </p:grpSpPr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25205DF9-9B2B-FBD6-6147-3A700B6BAA6E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476" name="Circle">
                <a:extLst>
                  <a:ext uri="{FF2B5EF4-FFF2-40B4-BE49-F238E27FC236}">
                    <a16:creationId xmlns:a16="http://schemas.microsoft.com/office/drawing/2014/main" id="{A0260049-31C1-5096-6A32-67EE36A7F561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77" name="Circle">
                <a:extLst>
                  <a:ext uri="{FF2B5EF4-FFF2-40B4-BE49-F238E27FC236}">
                    <a16:creationId xmlns:a16="http://schemas.microsoft.com/office/drawing/2014/main" id="{62B6C648-B8E0-AD58-FFB9-0676AB707A38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78" name="1">
                <a:extLst>
                  <a:ext uri="{FF2B5EF4-FFF2-40B4-BE49-F238E27FC236}">
                    <a16:creationId xmlns:a16="http://schemas.microsoft.com/office/drawing/2014/main" id="{60078584-C7C4-1CAA-8704-AA057962DCAA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5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75" name="Coupons">
              <a:extLst>
                <a:ext uri="{FF2B5EF4-FFF2-40B4-BE49-F238E27FC236}">
                  <a16:creationId xmlns:a16="http://schemas.microsoft.com/office/drawing/2014/main" id="{42AE47FE-93C5-CBC7-3759-2EDC8FCBA6A2}"/>
                </a:ext>
              </a:extLst>
            </p:cNvPr>
            <p:cNvSpPr/>
            <p:nvPr/>
          </p:nvSpPr>
          <p:spPr>
            <a:xfrm>
              <a:off x="4045351" y="4615991"/>
              <a:ext cx="6793633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SWOT Analysis</a:t>
              </a:r>
            </a:p>
          </p:txBody>
        </p: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A95CA979-46BB-067D-9040-01A7E9F418AB}"/>
              </a:ext>
            </a:extLst>
          </p:cNvPr>
          <p:cNvGrpSpPr/>
          <p:nvPr/>
        </p:nvGrpSpPr>
        <p:grpSpPr>
          <a:xfrm>
            <a:off x="13552643" y="8550993"/>
            <a:ext cx="9821600" cy="1882014"/>
            <a:chOff x="1965812" y="3928900"/>
            <a:chExt cx="8873172" cy="1882014"/>
          </a:xfrm>
        </p:grpSpPr>
        <p:grpSp>
          <p:nvGrpSpPr>
            <p:cNvPr id="480" name="Group 479">
              <a:extLst>
                <a:ext uri="{FF2B5EF4-FFF2-40B4-BE49-F238E27FC236}">
                  <a16:creationId xmlns:a16="http://schemas.microsoft.com/office/drawing/2014/main" id="{ABC266D7-ABCD-B144-892F-9F6AF30811BD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482" name="Circle">
                <a:extLst>
                  <a:ext uri="{FF2B5EF4-FFF2-40B4-BE49-F238E27FC236}">
                    <a16:creationId xmlns:a16="http://schemas.microsoft.com/office/drawing/2014/main" id="{3C94FCD0-D812-F3A0-F9AB-8BCE6FB3C7C5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83" name="Circle">
                <a:extLst>
                  <a:ext uri="{FF2B5EF4-FFF2-40B4-BE49-F238E27FC236}">
                    <a16:creationId xmlns:a16="http://schemas.microsoft.com/office/drawing/2014/main" id="{5CB6450D-179C-D160-1DC9-FEC23FA4E8BF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84" name="1">
                <a:extLst>
                  <a:ext uri="{FF2B5EF4-FFF2-40B4-BE49-F238E27FC236}">
                    <a16:creationId xmlns:a16="http://schemas.microsoft.com/office/drawing/2014/main" id="{3C02C7BC-C3AF-80FE-FAB9-8D575606BE16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6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81" name="Coupons">
              <a:extLst>
                <a:ext uri="{FF2B5EF4-FFF2-40B4-BE49-F238E27FC236}">
                  <a16:creationId xmlns:a16="http://schemas.microsoft.com/office/drawing/2014/main" id="{C0B88E1D-E39E-7930-A8FE-63F25838F549}"/>
                </a:ext>
              </a:extLst>
            </p:cNvPr>
            <p:cNvSpPr/>
            <p:nvPr/>
          </p:nvSpPr>
          <p:spPr>
            <a:xfrm>
              <a:off x="4045351" y="4246659"/>
              <a:ext cx="6793633" cy="14850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3 - Year Sales History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7BA8AF-50A5-7EAF-887B-7F65D5190511}"/>
              </a:ext>
            </a:extLst>
          </p:cNvPr>
          <p:cNvGrpSpPr/>
          <p:nvPr/>
        </p:nvGrpSpPr>
        <p:grpSpPr>
          <a:xfrm>
            <a:off x="13552643" y="11133496"/>
            <a:ext cx="10627658" cy="1882014"/>
            <a:chOff x="1965812" y="3928900"/>
            <a:chExt cx="9601393" cy="188201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65A45AB-EFB4-0A53-B4F7-3228784D901C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17" name="Circle">
                <a:extLst>
                  <a:ext uri="{FF2B5EF4-FFF2-40B4-BE49-F238E27FC236}">
                    <a16:creationId xmlns:a16="http://schemas.microsoft.com/office/drawing/2014/main" id="{36BD3562-3E4C-C844-0348-F2C35B5A3D00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8" name="Circle">
                <a:extLst>
                  <a:ext uri="{FF2B5EF4-FFF2-40B4-BE49-F238E27FC236}">
                    <a16:creationId xmlns:a16="http://schemas.microsoft.com/office/drawing/2014/main" id="{8638633A-C307-FEA1-6971-71D9ED6E1198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9" name="1">
                <a:extLst>
                  <a:ext uri="{FF2B5EF4-FFF2-40B4-BE49-F238E27FC236}">
                    <a16:creationId xmlns:a16="http://schemas.microsoft.com/office/drawing/2014/main" id="{06841A97-1908-7DE3-1373-D697F47A1D5D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7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6" name="Coupons">
              <a:extLst>
                <a:ext uri="{FF2B5EF4-FFF2-40B4-BE49-F238E27FC236}">
                  <a16:creationId xmlns:a16="http://schemas.microsoft.com/office/drawing/2014/main" id="{480708B6-ED3D-763A-6727-B21AC6C9CA7F}"/>
                </a:ext>
              </a:extLst>
            </p:cNvPr>
            <p:cNvSpPr/>
            <p:nvPr/>
          </p:nvSpPr>
          <p:spPr>
            <a:xfrm>
              <a:off x="4045351" y="4246659"/>
              <a:ext cx="7521854" cy="14850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Strategic Breakthrough Objectives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79040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723" y="0"/>
            <a:ext cx="24383277" cy="13716000"/>
          </a:xfrm>
          <a:prstGeom prst="rect">
            <a:avLst/>
          </a:prstGeom>
        </p:spPr>
      </p:pic>
      <p:sp>
        <p:nvSpPr>
          <p:cNvPr id="2" name="Coupons">
            <a:extLst>
              <a:ext uri="{FF2B5EF4-FFF2-40B4-BE49-F238E27FC236}">
                <a16:creationId xmlns:a16="http://schemas.microsoft.com/office/drawing/2014/main" id="{59037309-8DAC-2D7B-696E-703319CA6A8E}"/>
              </a:ext>
            </a:extLst>
          </p:cNvPr>
          <p:cNvSpPr/>
          <p:nvPr/>
        </p:nvSpPr>
        <p:spPr>
          <a:xfrm>
            <a:off x="1163748" y="1241634"/>
            <a:ext cx="14158028" cy="89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7200" dirty="0">
                <a:solidFill>
                  <a:schemeClr val="bg1"/>
                </a:solidFill>
              </a:rPr>
              <a:t>Supporting Data and Analysis</a:t>
            </a:r>
          </a:p>
        </p:txBody>
      </p:sp>
      <p:grpSp>
        <p:nvGrpSpPr>
          <p:cNvPr id="451" name="Group 450">
            <a:extLst>
              <a:ext uri="{FF2B5EF4-FFF2-40B4-BE49-F238E27FC236}">
                <a16:creationId xmlns:a16="http://schemas.microsoft.com/office/drawing/2014/main" id="{E41E7869-A7D1-5576-07B0-3BF9B92C97D0}"/>
              </a:ext>
            </a:extLst>
          </p:cNvPr>
          <p:cNvGrpSpPr/>
          <p:nvPr/>
        </p:nvGrpSpPr>
        <p:grpSpPr>
          <a:xfrm>
            <a:off x="888925" y="3614546"/>
            <a:ext cx="12151826" cy="1882014"/>
            <a:chOff x="1965812" y="3928900"/>
            <a:chExt cx="12151826" cy="188201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15D7D07-3089-D626-6B44-BDB256FDA63D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10" name="Circle">
                <a:extLst>
                  <a:ext uri="{FF2B5EF4-FFF2-40B4-BE49-F238E27FC236}">
                    <a16:creationId xmlns:a16="http://schemas.microsoft.com/office/drawing/2014/main" id="{86019C6E-2D9C-3EE6-5EDC-9BB0F56A0D58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1" name="Circle">
                <a:extLst>
                  <a:ext uri="{FF2B5EF4-FFF2-40B4-BE49-F238E27FC236}">
                    <a16:creationId xmlns:a16="http://schemas.microsoft.com/office/drawing/2014/main" id="{F3B13FBF-877E-F25C-7AF2-A292B5EE540E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2" name="1">
                <a:extLst>
                  <a:ext uri="{FF2B5EF4-FFF2-40B4-BE49-F238E27FC236}">
                    <a16:creationId xmlns:a16="http://schemas.microsoft.com/office/drawing/2014/main" id="{F8F2E05C-42C8-B721-F867-EE6461B632E2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8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50" name="Coupons">
              <a:extLst>
                <a:ext uri="{FF2B5EF4-FFF2-40B4-BE49-F238E27FC236}">
                  <a16:creationId xmlns:a16="http://schemas.microsoft.com/office/drawing/2014/main" id="{A1645028-9F9F-2063-AC63-9514105DE82D}"/>
                </a:ext>
              </a:extLst>
            </p:cNvPr>
            <p:cNvSpPr/>
            <p:nvPr/>
          </p:nvSpPr>
          <p:spPr>
            <a:xfrm>
              <a:off x="4045351" y="4246659"/>
              <a:ext cx="10072287" cy="14850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Operations &amp; Supply Chain Analysis</a:t>
              </a:r>
            </a:p>
          </p:txBody>
        </p:sp>
      </p:grpSp>
      <p:grpSp>
        <p:nvGrpSpPr>
          <p:cNvPr id="452" name="Group 451">
            <a:extLst>
              <a:ext uri="{FF2B5EF4-FFF2-40B4-BE49-F238E27FC236}">
                <a16:creationId xmlns:a16="http://schemas.microsoft.com/office/drawing/2014/main" id="{4C434364-E166-8740-A365-4E6286B9D919}"/>
              </a:ext>
            </a:extLst>
          </p:cNvPr>
          <p:cNvGrpSpPr/>
          <p:nvPr/>
        </p:nvGrpSpPr>
        <p:grpSpPr>
          <a:xfrm>
            <a:off x="888925" y="6098489"/>
            <a:ext cx="8873172" cy="1882014"/>
            <a:chOff x="1965812" y="3928900"/>
            <a:chExt cx="8873172" cy="1882014"/>
          </a:xfrm>
        </p:grpSpPr>
        <p:grpSp>
          <p:nvGrpSpPr>
            <p:cNvPr id="453" name="Group 452">
              <a:extLst>
                <a:ext uri="{FF2B5EF4-FFF2-40B4-BE49-F238E27FC236}">
                  <a16:creationId xmlns:a16="http://schemas.microsoft.com/office/drawing/2014/main" id="{BC501409-D87E-14EA-A0A9-40FDB220D25E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458" name="Circle">
                <a:extLst>
                  <a:ext uri="{FF2B5EF4-FFF2-40B4-BE49-F238E27FC236}">
                    <a16:creationId xmlns:a16="http://schemas.microsoft.com/office/drawing/2014/main" id="{8D8AF2BB-B2C1-B25F-1FDF-9279672BD423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59" name="Circle">
                <a:extLst>
                  <a:ext uri="{FF2B5EF4-FFF2-40B4-BE49-F238E27FC236}">
                    <a16:creationId xmlns:a16="http://schemas.microsoft.com/office/drawing/2014/main" id="{C81FA449-79F3-2CEB-222D-D33AF76A8172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60" name="1">
                <a:extLst>
                  <a:ext uri="{FF2B5EF4-FFF2-40B4-BE49-F238E27FC236}">
                    <a16:creationId xmlns:a16="http://schemas.microsoft.com/office/drawing/2014/main" id="{F898943A-2063-C390-691B-8F777C1FDE55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9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54" name="Coupons">
              <a:extLst>
                <a:ext uri="{FF2B5EF4-FFF2-40B4-BE49-F238E27FC236}">
                  <a16:creationId xmlns:a16="http://schemas.microsoft.com/office/drawing/2014/main" id="{60B6B3F6-CE89-C347-CBEC-E2C111F46B89}"/>
                </a:ext>
              </a:extLst>
            </p:cNvPr>
            <p:cNvSpPr/>
            <p:nvPr/>
          </p:nvSpPr>
          <p:spPr>
            <a:xfrm>
              <a:off x="4045351" y="4615991"/>
              <a:ext cx="6793633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Market Analysis</a:t>
              </a:r>
            </a:p>
          </p:txBody>
        </p:sp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96DCA164-6EEF-3E74-4AFA-EE5A07B9FB28}"/>
              </a:ext>
            </a:extLst>
          </p:cNvPr>
          <p:cNvGrpSpPr/>
          <p:nvPr/>
        </p:nvGrpSpPr>
        <p:grpSpPr>
          <a:xfrm>
            <a:off x="888925" y="8556818"/>
            <a:ext cx="13355964" cy="1882014"/>
            <a:chOff x="1965812" y="3928900"/>
            <a:chExt cx="13355964" cy="1882014"/>
          </a:xfrm>
        </p:grpSpPr>
        <p:grpSp>
          <p:nvGrpSpPr>
            <p:cNvPr id="462" name="Group 461">
              <a:extLst>
                <a:ext uri="{FF2B5EF4-FFF2-40B4-BE49-F238E27FC236}">
                  <a16:creationId xmlns:a16="http://schemas.microsoft.com/office/drawing/2014/main" id="{2277658F-9F60-1805-D477-D9E0D136A4EE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464" name="Circle">
                <a:extLst>
                  <a:ext uri="{FF2B5EF4-FFF2-40B4-BE49-F238E27FC236}">
                    <a16:creationId xmlns:a16="http://schemas.microsoft.com/office/drawing/2014/main" id="{E66BA601-C931-C253-E1C5-1D2266260AEE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65" name="Circle">
                <a:extLst>
                  <a:ext uri="{FF2B5EF4-FFF2-40B4-BE49-F238E27FC236}">
                    <a16:creationId xmlns:a16="http://schemas.microsoft.com/office/drawing/2014/main" id="{995D84FA-E05D-EFA3-224B-901EDF815F4A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66" name="1">
                <a:extLst>
                  <a:ext uri="{FF2B5EF4-FFF2-40B4-BE49-F238E27FC236}">
                    <a16:creationId xmlns:a16="http://schemas.microsoft.com/office/drawing/2014/main" id="{2A420FB6-37BB-C937-18F8-8154EC328857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10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63" name="Coupons">
              <a:extLst>
                <a:ext uri="{FF2B5EF4-FFF2-40B4-BE49-F238E27FC236}">
                  <a16:creationId xmlns:a16="http://schemas.microsoft.com/office/drawing/2014/main" id="{C06392FE-AE6F-8CD2-9F14-5C4E4C143880}"/>
                </a:ext>
              </a:extLst>
            </p:cNvPr>
            <p:cNvSpPr/>
            <p:nvPr/>
          </p:nvSpPr>
          <p:spPr>
            <a:xfrm>
              <a:off x="4045351" y="4615991"/>
              <a:ext cx="11276425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Competitive Analysis</a:t>
              </a:r>
            </a:p>
          </p:txBody>
        </p:sp>
      </p:grpSp>
      <p:grpSp>
        <p:nvGrpSpPr>
          <p:cNvPr id="467" name="Group 466">
            <a:extLst>
              <a:ext uri="{FF2B5EF4-FFF2-40B4-BE49-F238E27FC236}">
                <a16:creationId xmlns:a16="http://schemas.microsoft.com/office/drawing/2014/main" id="{4E7621DA-0358-D141-3DAA-A3CCDD2FC294}"/>
              </a:ext>
            </a:extLst>
          </p:cNvPr>
          <p:cNvGrpSpPr/>
          <p:nvPr/>
        </p:nvGrpSpPr>
        <p:grpSpPr>
          <a:xfrm>
            <a:off x="13552643" y="3227784"/>
            <a:ext cx="10226188" cy="1882014"/>
            <a:chOff x="1965812" y="3928900"/>
            <a:chExt cx="10226188" cy="1882014"/>
          </a:xfrm>
        </p:grpSpPr>
        <p:grpSp>
          <p:nvGrpSpPr>
            <p:cNvPr id="468" name="Group 467">
              <a:extLst>
                <a:ext uri="{FF2B5EF4-FFF2-40B4-BE49-F238E27FC236}">
                  <a16:creationId xmlns:a16="http://schemas.microsoft.com/office/drawing/2014/main" id="{DED5DD29-AF5F-EDD0-5E00-4DFC35E9787D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470" name="Circle">
                <a:extLst>
                  <a:ext uri="{FF2B5EF4-FFF2-40B4-BE49-F238E27FC236}">
                    <a16:creationId xmlns:a16="http://schemas.microsoft.com/office/drawing/2014/main" id="{047BAD8E-56C8-5C18-7A29-2EECB1C9C065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71" name="Circle">
                <a:extLst>
                  <a:ext uri="{FF2B5EF4-FFF2-40B4-BE49-F238E27FC236}">
                    <a16:creationId xmlns:a16="http://schemas.microsoft.com/office/drawing/2014/main" id="{CAFA18A8-D986-AC3E-2E79-CA36A5FFD595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72" name="1">
                <a:extLst>
                  <a:ext uri="{FF2B5EF4-FFF2-40B4-BE49-F238E27FC236}">
                    <a16:creationId xmlns:a16="http://schemas.microsoft.com/office/drawing/2014/main" id="{9F09F965-3C2D-CA95-2050-CB1EA5E19B5A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11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69" name="Coupons">
              <a:extLst>
                <a:ext uri="{FF2B5EF4-FFF2-40B4-BE49-F238E27FC236}">
                  <a16:creationId xmlns:a16="http://schemas.microsoft.com/office/drawing/2014/main" id="{336F91FB-7F19-ED4E-C56D-7057A979BE0F}"/>
                </a:ext>
              </a:extLst>
            </p:cNvPr>
            <p:cNvSpPr/>
            <p:nvPr/>
          </p:nvSpPr>
          <p:spPr>
            <a:xfrm>
              <a:off x="4045351" y="4615991"/>
              <a:ext cx="8146649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Technological Trends</a:t>
              </a:r>
            </a:p>
          </p:txBody>
        </p:sp>
      </p:grpSp>
      <p:grpSp>
        <p:nvGrpSpPr>
          <p:cNvPr id="473" name="Group 472">
            <a:extLst>
              <a:ext uri="{FF2B5EF4-FFF2-40B4-BE49-F238E27FC236}">
                <a16:creationId xmlns:a16="http://schemas.microsoft.com/office/drawing/2014/main" id="{F77CB056-FA47-8E99-2317-2FA57A1D0911}"/>
              </a:ext>
            </a:extLst>
          </p:cNvPr>
          <p:cNvGrpSpPr/>
          <p:nvPr/>
        </p:nvGrpSpPr>
        <p:grpSpPr>
          <a:xfrm>
            <a:off x="13552643" y="6044755"/>
            <a:ext cx="8873172" cy="1882014"/>
            <a:chOff x="1965812" y="3928900"/>
            <a:chExt cx="8873172" cy="1882014"/>
          </a:xfrm>
        </p:grpSpPr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25205DF9-9B2B-FBD6-6147-3A700B6BAA6E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476" name="Circle">
                <a:extLst>
                  <a:ext uri="{FF2B5EF4-FFF2-40B4-BE49-F238E27FC236}">
                    <a16:creationId xmlns:a16="http://schemas.microsoft.com/office/drawing/2014/main" id="{A0260049-31C1-5096-6A32-67EE36A7F561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77" name="Circle">
                <a:extLst>
                  <a:ext uri="{FF2B5EF4-FFF2-40B4-BE49-F238E27FC236}">
                    <a16:creationId xmlns:a16="http://schemas.microsoft.com/office/drawing/2014/main" id="{62B6C648-B8E0-AD58-FFB9-0676AB707A38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78" name="1">
                <a:extLst>
                  <a:ext uri="{FF2B5EF4-FFF2-40B4-BE49-F238E27FC236}">
                    <a16:creationId xmlns:a16="http://schemas.microsoft.com/office/drawing/2014/main" id="{60078584-C7C4-1CAA-8704-AA057962DCAA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12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75" name="Coupons">
              <a:extLst>
                <a:ext uri="{FF2B5EF4-FFF2-40B4-BE49-F238E27FC236}">
                  <a16:creationId xmlns:a16="http://schemas.microsoft.com/office/drawing/2014/main" id="{42AE47FE-93C5-CBC7-3759-2EDC8FCBA6A2}"/>
                </a:ext>
              </a:extLst>
            </p:cNvPr>
            <p:cNvSpPr/>
            <p:nvPr/>
          </p:nvSpPr>
          <p:spPr>
            <a:xfrm>
              <a:off x="4045351" y="4615991"/>
              <a:ext cx="6793633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SKU Analysis</a:t>
              </a:r>
            </a:p>
          </p:txBody>
        </p: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A95CA979-46BB-067D-9040-01A7E9F418AB}"/>
              </a:ext>
            </a:extLst>
          </p:cNvPr>
          <p:cNvGrpSpPr/>
          <p:nvPr/>
        </p:nvGrpSpPr>
        <p:grpSpPr>
          <a:xfrm>
            <a:off x="13552643" y="8550993"/>
            <a:ext cx="8873172" cy="1882014"/>
            <a:chOff x="1965812" y="3928900"/>
            <a:chExt cx="8873172" cy="1882014"/>
          </a:xfrm>
        </p:grpSpPr>
        <p:grpSp>
          <p:nvGrpSpPr>
            <p:cNvPr id="480" name="Group 479">
              <a:extLst>
                <a:ext uri="{FF2B5EF4-FFF2-40B4-BE49-F238E27FC236}">
                  <a16:creationId xmlns:a16="http://schemas.microsoft.com/office/drawing/2014/main" id="{ABC266D7-ABCD-B144-892F-9F6AF30811BD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482" name="Circle">
                <a:extLst>
                  <a:ext uri="{FF2B5EF4-FFF2-40B4-BE49-F238E27FC236}">
                    <a16:creationId xmlns:a16="http://schemas.microsoft.com/office/drawing/2014/main" id="{3C94FCD0-D812-F3A0-F9AB-8BCE6FB3C7C5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83" name="Circle">
                <a:extLst>
                  <a:ext uri="{FF2B5EF4-FFF2-40B4-BE49-F238E27FC236}">
                    <a16:creationId xmlns:a16="http://schemas.microsoft.com/office/drawing/2014/main" id="{5CB6450D-179C-D160-1DC9-FEC23FA4E8BF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84" name="1">
                <a:extLst>
                  <a:ext uri="{FF2B5EF4-FFF2-40B4-BE49-F238E27FC236}">
                    <a16:creationId xmlns:a16="http://schemas.microsoft.com/office/drawing/2014/main" id="{3C02C7BC-C3AF-80FE-FAB9-8D575606BE16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13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81" name="Coupons">
              <a:extLst>
                <a:ext uri="{FF2B5EF4-FFF2-40B4-BE49-F238E27FC236}">
                  <a16:creationId xmlns:a16="http://schemas.microsoft.com/office/drawing/2014/main" id="{C0B88E1D-E39E-7930-A8FE-63F25838F549}"/>
                </a:ext>
              </a:extLst>
            </p:cNvPr>
            <p:cNvSpPr/>
            <p:nvPr/>
          </p:nvSpPr>
          <p:spPr>
            <a:xfrm>
              <a:off x="4045351" y="4615991"/>
              <a:ext cx="6793633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Risk Analysis</a:t>
              </a:r>
            </a:p>
          </p:txBody>
        </p:sp>
      </p:grpSp>
      <p:grpSp>
        <p:nvGrpSpPr>
          <p:cNvPr id="485" name="Group 484">
            <a:extLst>
              <a:ext uri="{FF2B5EF4-FFF2-40B4-BE49-F238E27FC236}">
                <a16:creationId xmlns:a16="http://schemas.microsoft.com/office/drawing/2014/main" id="{7FAFC54F-03D6-04AF-5595-C15F5215909A}"/>
              </a:ext>
            </a:extLst>
          </p:cNvPr>
          <p:cNvGrpSpPr/>
          <p:nvPr/>
        </p:nvGrpSpPr>
        <p:grpSpPr>
          <a:xfrm>
            <a:off x="13592371" y="11063313"/>
            <a:ext cx="8833444" cy="1882014"/>
            <a:chOff x="1965812" y="3928900"/>
            <a:chExt cx="8833444" cy="1882014"/>
          </a:xfrm>
        </p:grpSpPr>
        <p:grpSp>
          <p:nvGrpSpPr>
            <p:cNvPr id="486" name="Group 485">
              <a:extLst>
                <a:ext uri="{FF2B5EF4-FFF2-40B4-BE49-F238E27FC236}">
                  <a16:creationId xmlns:a16="http://schemas.microsoft.com/office/drawing/2014/main" id="{5C8B4B19-5606-CF69-A8F9-2856A3196E7C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488" name="Circle">
                <a:extLst>
                  <a:ext uri="{FF2B5EF4-FFF2-40B4-BE49-F238E27FC236}">
                    <a16:creationId xmlns:a16="http://schemas.microsoft.com/office/drawing/2014/main" id="{3CFA145E-D53A-7498-1536-3B7DA1454DE8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89" name="Circle">
                <a:extLst>
                  <a:ext uri="{FF2B5EF4-FFF2-40B4-BE49-F238E27FC236}">
                    <a16:creationId xmlns:a16="http://schemas.microsoft.com/office/drawing/2014/main" id="{B458941A-B5AC-A21D-9104-E3BCC32F8533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490" name="1">
                <a:extLst>
                  <a:ext uri="{FF2B5EF4-FFF2-40B4-BE49-F238E27FC236}">
                    <a16:creationId xmlns:a16="http://schemas.microsoft.com/office/drawing/2014/main" id="{AE45B55D-2318-E81C-F3EB-436BC9E05407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15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87" name="Coupons">
              <a:extLst>
                <a:ext uri="{FF2B5EF4-FFF2-40B4-BE49-F238E27FC236}">
                  <a16:creationId xmlns:a16="http://schemas.microsoft.com/office/drawing/2014/main" id="{3B539530-7D20-FF5B-A9AC-04E09A75EE4A}"/>
                </a:ext>
              </a:extLst>
            </p:cNvPr>
            <p:cNvSpPr/>
            <p:nvPr/>
          </p:nvSpPr>
          <p:spPr>
            <a:xfrm>
              <a:off x="4045352" y="4615991"/>
              <a:ext cx="6753904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Financial Summary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A32F7D4-A6AE-4932-C159-4BA33554FED2}"/>
              </a:ext>
            </a:extLst>
          </p:cNvPr>
          <p:cNvGrpSpPr/>
          <p:nvPr/>
        </p:nvGrpSpPr>
        <p:grpSpPr>
          <a:xfrm>
            <a:off x="928653" y="10866078"/>
            <a:ext cx="8833444" cy="1882014"/>
            <a:chOff x="1965812" y="3928900"/>
            <a:chExt cx="8833444" cy="188201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51F4D66-E966-438A-C28E-9625169C8A60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7" name="Circle">
                <a:extLst>
                  <a:ext uri="{FF2B5EF4-FFF2-40B4-BE49-F238E27FC236}">
                    <a16:creationId xmlns:a16="http://schemas.microsoft.com/office/drawing/2014/main" id="{76CC497D-71A1-A524-36BD-AF95AAD337E0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8" name="Circle">
                <a:extLst>
                  <a:ext uri="{FF2B5EF4-FFF2-40B4-BE49-F238E27FC236}">
                    <a16:creationId xmlns:a16="http://schemas.microsoft.com/office/drawing/2014/main" id="{111E7F53-C14B-6382-AC3C-6E1D4D21BA32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9" name="1">
                <a:extLst>
                  <a:ext uri="{FF2B5EF4-FFF2-40B4-BE49-F238E27FC236}">
                    <a16:creationId xmlns:a16="http://schemas.microsoft.com/office/drawing/2014/main" id="{6E1CE199-571A-2A62-A74D-73280D59BC5A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14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5" name="Coupons">
              <a:extLst>
                <a:ext uri="{FF2B5EF4-FFF2-40B4-BE49-F238E27FC236}">
                  <a16:creationId xmlns:a16="http://schemas.microsoft.com/office/drawing/2014/main" id="{4302ABEA-1583-F887-B48D-3192B5051E76}"/>
                </a:ext>
              </a:extLst>
            </p:cNvPr>
            <p:cNvSpPr/>
            <p:nvPr/>
          </p:nvSpPr>
          <p:spPr>
            <a:xfrm>
              <a:off x="4045352" y="4615991"/>
              <a:ext cx="6753904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Human Capital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25643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723" y="22302"/>
            <a:ext cx="24383277" cy="13716000"/>
          </a:xfrm>
          <a:prstGeom prst="rect">
            <a:avLst/>
          </a:prstGeom>
        </p:spPr>
      </p:pic>
      <p:grpSp>
        <p:nvGrpSpPr>
          <p:cNvPr id="451" name="Group 450">
            <a:extLst>
              <a:ext uri="{FF2B5EF4-FFF2-40B4-BE49-F238E27FC236}">
                <a16:creationId xmlns:a16="http://schemas.microsoft.com/office/drawing/2014/main" id="{E41E7869-A7D1-5576-07B0-3BF9B92C97D0}"/>
              </a:ext>
            </a:extLst>
          </p:cNvPr>
          <p:cNvGrpSpPr/>
          <p:nvPr/>
        </p:nvGrpSpPr>
        <p:grpSpPr>
          <a:xfrm>
            <a:off x="1229638" y="1283607"/>
            <a:ext cx="8873172" cy="1882014"/>
            <a:chOff x="1965812" y="3928900"/>
            <a:chExt cx="8873172" cy="1882014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15D7D07-3089-D626-6B44-BDB256FDA63D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10" name="Circle">
                <a:extLst>
                  <a:ext uri="{FF2B5EF4-FFF2-40B4-BE49-F238E27FC236}">
                    <a16:creationId xmlns:a16="http://schemas.microsoft.com/office/drawing/2014/main" id="{86019C6E-2D9C-3EE6-5EDC-9BB0F56A0D58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1" name="Circle">
                <a:extLst>
                  <a:ext uri="{FF2B5EF4-FFF2-40B4-BE49-F238E27FC236}">
                    <a16:creationId xmlns:a16="http://schemas.microsoft.com/office/drawing/2014/main" id="{F3B13FBF-877E-F25C-7AF2-A292B5EE540E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2" name="1">
                <a:extLst>
                  <a:ext uri="{FF2B5EF4-FFF2-40B4-BE49-F238E27FC236}">
                    <a16:creationId xmlns:a16="http://schemas.microsoft.com/office/drawing/2014/main" id="{F8F2E05C-42C8-B721-F867-EE6461B632E2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dirty="0">
                    <a:solidFill>
                      <a:schemeClr val="accent2"/>
                    </a:solidFill>
                  </a:rPr>
                  <a:t>1</a:t>
                </a:r>
              </a:p>
            </p:txBody>
          </p:sp>
        </p:grpSp>
        <p:sp>
          <p:nvSpPr>
            <p:cNvPr id="450" name="Coupons">
              <a:extLst>
                <a:ext uri="{FF2B5EF4-FFF2-40B4-BE49-F238E27FC236}">
                  <a16:creationId xmlns:a16="http://schemas.microsoft.com/office/drawing/2014/main" id="{A1645028-9F9F-2063-AC63-9514105DE82D}"/>
                </a:ext>
              </a:extLst>
            </p:cNvPr>
            <p:cNvSpPr/>
            <p:nvPr/>
          </p:nvSpPr>
          <p:spPr>
            <a:xfrm>
              <a:off x="4045351" y="4615991"/>
              <a:ext cx="6793633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Mission Statement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95594FE-8F19-B344-46EB-5DD2A11E78B3}"/>
              </a:ext>
            </a:extLst>
          </p:cNvPr>
          <p:cNvSpPr txBox="1"/>
          <p:nvPr/>
        </p:nvSpPr>
        <p:spPr>
          <a:xfrm>
            <a:off x="1687129" y="4314575"/>
            <a:ext cx="21808782" cy="74635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1155700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Defined: Current State - What do we do? Our purpose for being?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BD65E8-DD77-881F-300C-942047D7E7BF}"/>
              </a:ext>
            </a:extLst>
          </p:cNvPr>
          <p:cNvSpPr txBox="1"/>
          <p:nvPr/>
        </p:nvSpPr>
        <p:spPr>
          <a:xfrm>
            <a:off x="1146157" y="6745143"/>
            <a:ext cx="22091686" cy="424731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5400" b="1" dirty="0">
                <a:solidFill>
                  <a:schemeClr val="bg1"/>
                </a:solidFill>
              </a:rPr>
              <a:t>Coca-Cola: </a:t>
            </a:r>
            <a:r>
              <a:rPr lang="en-US" sz="5400" i="1" dirty="0">
                <a:solidFill>
                  <a:schemeClr val="bg1"/>
                </a:solidFill>
              </a:rPr>
              <a:t>“To craft the brands and choice of drinks that people love, to refresh them in body &amp; spirit.”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5400" dirty="0">
                <a:solidFill>
                  <a:schemeClr val="bg1"/>
                </a:solidFill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5400" b="1" dirty="0">
                <a:solidFill>
                  <a:schemeClr val="bg1"/>
                </a:solidFill>
              </a:rPr>
              <a:t>Starbucks: </a:t>
            </a:r>
            <a:r>
              <a:rPr lang="en-US" sz="5400" i="1" dirty="0">
                <a:solidFill>
                  <a:schemeClr val="bg1"/>
                </a:solidFill>
              </a:rPr>
              <a:t>“To inspire and nurture the human spirit – one person, one cup, and one neighborhood at a time.”</a:t>
            </a:r>
          </a:p>
        </p:txBody>
      </p:sp>
    </p:spTree>
    <p:extLst>
      <p:ext uri="{BB962C8B-B14F-4D97-AF65-F5344CB8AC3E}">
        <p14:creationId xmlns:p14="http://schemas.microsoft.com/office/powerpoint/2010/main" val="906856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723" y="-22302"/>
            <a:ext cx="24383277" cy="13716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5594FE-8F19-B344-46EB-5DD2A11E78B3}"/>
              </a:ext>
            </a:extLst>
          </p:cNvPr>
          <p:cNvSpPr txBox="1"/>
          <p:nvPr/>
        </p:nvSpPr>
        <p:spPr>
          <a:xfrm>
            <a:off x="1687129" y="4314575"/>
            <a:ext cx="21808782" cy="74635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1155700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Defined: Future State - Where are we going?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E09A29F-3554-84EC-C430-739D38512B14}"/>
              </a:ext>
            </a:extLst>
          </p:cNvPr>
          <p:cNvGrpSpPr/>
          <p:nvPr/>
        </p:nvGrpSpPr>
        <p:grpSpPr>
          <a:xfrm>
            <a:off x="1351892" y="1216281"/>
            <a:ext cx="8873172" cy="1882014"/>
            <a:chOff x="1965812" y="3928900"/>
            <a:chExt cx="8873172" cy="188201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214BB4D-5D69-AE72-04A3-4DA1BEF9E8B6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8" name="Circle">
                <a:extLst>
                  <a:ext uri="{FF2B5EF4-FFF2-40B4-BE49-F238E27FC236}">
                    <a16:creationId xmlns:a16="http://schemas.microsoft.com/office/drawing/2014/main" id="{D3354B6E-2BD2-4736-F328-8A522169D7EA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9" name="Circle">
                <a:extLst>
                  <a:ext uri="{FF2B5EF4-FFF2-40B4-BE49-F238E27FC236}">
                    <a16:creationId xmlns:a16="http://schemas.microsoft.com/office/drawing/2014/main" id="{2F57CA1C-8DA0-3B7A-FACB-B26D4BADF9C6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4" name="1">
                <a:extLst>
                  <a:ext uri="{FF2B5EF4-FFF2-40B4-BE49-F238E27FC236}">
                    <a16:creationId xmlns:a16="http://schemas.microsoft.com/office/drawing/2014/main" id="{AA82FCCB-12A8-3D64-7548-2A9AF1DB06E9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2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5" name="Coupons">
              <a:extLst>
                <a:ext uri="{FF2B5EF4-FFF2-40B4-BE49-F238E27FC236}">
                  <a16:creationId xmlns:a16="http://schemas.microsoft.com/office/drawing/2014/main" id="{35943B6F-C35D-E056-D5BF-10874C8F7658}"/>
                </a:ext>
              </a:extLst>
            </p:cNvPr>
            <p:cNvSpPr/>
            <p:nvPr/>
          </p:nvSpPr>
          <p:spPr>
            <a:xfrm>
              <a:off x="4045351" y="4615991"/>
              <a:ext cx="6793633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Vision Statement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2B9953E-6D71-A8F3-B184-97E30F668DC1}"/>
              </a:ext>
            </a:extLst>
          </p:cNvPr>
          <p:cNvSpPr txBox="1"/>
          <p:nvPr/>
        </p:nvSpPr>
        <p:spPr>
          <a:xfrm>
            <a:off x="1207284" y="6725778"/>
            <a:ext cx="21969432" cy="49859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54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</a:t>
            </a:r>
            <a:r>
              <a:rPr lang="en-US" sz="54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5400" i="1" dirty="0">
                <a:solidFill>
                  <a:schemeClr val="bg1"/>
                </a:solidFill>
              </a:rPr>
              <a:t>“Our vision is to be earth's most customer-centric company;                        to build a place where people can come to find  and discover                                anything they might want to buy online.”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4800" i="1" dirty="0">
                <a:solidFill>
                  <a:schemeClr val="bg1"/>
                </a:solidFill>
              </a:rPr>
              <a:t> 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5400" b="1" dirty="0">
                <a:solidFill>
                  <a:schemeClr val="bg1"/>
                </a:solidFill>
              </a:rPr>
              <a:t>Tesla: </a:t>
            </a:r>
            <a:r>
              <a:rPr lang="en-US" sz="5400" i="1" dirty="0">
                <a:solidFill>
                  <a:schemeClr val="bg1"/>
                </a:solidFill>
              </a:rPr>
              <a:t>“To create the most compelling car company of the 21st century                    by driving the world’s transition to electric vehicles.” </a:t>
            </a:r>
          </a:p>
        </p:txBody>
      </p:sp>
    </p:spTree>
    <p:extLst>
      <p:ext uri="{BB962C8B-B14F-4D97-AF65-F5344CB8AC3E}">
        <p14:creationId xmlns:p14="http://schemas.microsoft.com/office/powerpoint/2010/main" val="724189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723" y="0"/>
            <a:ext cx="24383277" cy="1371600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E9ABB0A9-121D-ADDA-2420-CE055ED01DCE}"/>
              </a:ext>
            </a:extLst>
          </p:cNvPr>
          <p:cNvGrpSpPr/>
          <p:nvPr/>
        </p:nvGrpSpPr>
        <p:grpSpPr>
          <a:xfrm>
            <a:off x="1422061" y="1216281"/>
            <a:ext cx="13355964" cy="1882014"/>
            <a:chOff x="1965812" y="3928900"/>
            <a:chExt cx="13355964" cy="188201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6D039D6-8A27-EA9A-A8C2-35A6B23FBC1B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12" name="Circle">
                <a:extLst>
                  <a:ext uri="{FF2B5EF4-FFF2-40B4-BE49-F238E27FC236}">
                    <a16:creationId xmlns:a16="http://schemas.microsoft.com/office/drawing/2014/main" id="{C6636A20-2D64-2486-1CA1-3E20E51A7CAB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3" name="Circle">
                <a:extLst>
                  <a:ext uri="{FF2B5EF4-FFF2-40B4-BE49-F238E27FC236}">
                    <a16:creationId xmlns:a16="http://schemas.microsoft.com/office/drawing/2014/main" id="{A2B41FB4-7BFC-3814-84B9-7DB7345D7AEB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5" name="1">
                <a:extLst>
                  <a:ext uri="{FF2B5EF4-FFF2-40B4-BE49-F238E27FC236}">
                    <a16:creationId xmlns:a16="http://schemas.microsoft.com/office/drawing/2014/main" id="{C32694C2-1683-F8EF-CFE4-0F671F6C14CD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3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1" name="Coupons">
              <a:extLst>
                <a:ext uri="{FF2B5EF4-FFF2-40B4-BE49-F238E27FC236}">
                  <a16:creationId xmlns:a16="http://schemas.microsoft.com/office/drawing/2014/main" id="{F2CC7E2D-5BF6-6E6E-0655-09419F7BF73F}"/>
                </a:ext>
              </a:extLst>
            </p:cNvPr>
            <p:cNvSpPr/>
            <p:nvPr/>
          </p:nvSpPr>
          <p:spPr>
            <a:xfrm>
              <a:off x="4045351" y="4615991"/>
              <a:ext cx="11276425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Major Changes from Last Year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82124A5-EE92-2067-FC25-C115835EB860}"/>
              </a:ext>
            </a:extLst>
          </p:cNvPr>
          <p:cNvSpPr txBox="1"/>
          <p:nvPr/>
        </p:nvSpPr>
        <p:spPr>
          <a:xfrm>
            <a:off x="842198" y="4194174"/>
            <a:ext cx="22107012" cy="15773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1155700">
              <a:lnSpc>
                <a:spcPct val="80000"/>
              </a:lnSpc>
            </a:pPr>
            <a:r>
              <a:rPr lang="en-US" sz="6000" dirty="0">
                <a:solidFill>
                  <a:schemeClr val="bg1"/>
                </a:solidFill>
              </a:rPr>
              <a:t>Defined: Provide significant differences in business conditions, competition, technology, markets, etc.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7114EE-5153-B337-EBFB-F77293A7F1F4}"/>
              </a:ext>
            </a:extLst>
          </p:cNvPr>
          <p:cNvSpPr txBox="1"/>
          <p:nvPr/>
        </p:nvSpPr>
        <p:spPr>
          <a:xfrm>
            <a:off x="906655" y="6734315"/>
            <a:ext cx="22570690" cy="452431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R="0" lvl="0" algn="l">
              <a:spcBef>
                <a:spcPts val="0"/>
              </a:spcBef>
              <a:spcAft>
                <a:spcPts val="0"/>
              </a:spcAft>
            </a:pPr>
            <a:r>
              <a:rPr lang="en-US" sz="4800" i="1" dirty="0">
                <a:solidFill>
                  <a:schemeClr val="bg1"/>
                </a:solidFill>
              </a:rPr>
              <a:t>Kaizen improvements in our New Product Development process (time to market from 48 months to 12 months) will provide a significant competitive advantage with new product entries.</a:t>
            </a:r>
          </a:p>
          <a:p>
            <a:pPr marR="0" lvl="0" algn="l">
              <a:spcBef>
                <a:spcPts val="0"/>
              </a:spcBef>
              <a:spcAft>
                <a:spcPts val="0"/>
              </a:spcAft>
            </a:pPr>
            <a:endParaRPr lang="en-US" sz="4800" i="1" dirty="0">
              <a:solidFill>
                <a:schemeClr val="bg1"/>
              </a:solidFill>
            </a:endParaRPr>
          </a:p>
          <a:p>
            <a:pPr marR="0" lvl="0" algn="l">
              <a:spcBef>
                <a:spcPts val="0"/>
              </a:spcBef>
              <a:spcAft>
                <a:spcPts val="0"/>
              </a:spcAft>
            </a:pPr>
            <a:r>
              <a:rPr lang="en-US" sz="4800" i="1" dirty="0">
                <a:solidFill>
                  <a:schemeClr val="bg1"/>
                </a:solidFill>
              </a:rPr>
              <a:t>New European environmental regulations will require that we redesign our packaging to be eco-friendly, consistent with the new regulations.</a:t>
            </a:r>
          </a:p>
        </p:txBody>
      </p:sp>
    </p:spTree>
    <p:extLst>
      <p:ext uri="{BB962C8B-B14F-4D97-AF65-F5344CB8AC3E}">
        <p14:creationId xmlns:p14="http://schemas.microsoft.com/office/powerpoint/2010/main" val="1835810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723" y="0"/>
            <a:ext cx="24383277" cy="13716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3871AC2-1C77-ED96-9BA8-402DE6C012E0}"/>
              </a:ext>
            </a:extLst>
          </p:cNvPr>
          <p:cNvGrpSpPr/>
          <p:nvPr/>
        </p:nvGrpSpPr>
        <p:grpSpPr>
          <a:xfrm>
            <a:off x="1219394" y="1095444"/>
            <a:ext cx="10226188" cy="1882014"/>
            <a:chOff x="1965812" y="3928900"/>
            <a:chExt cx="10226188" cy="1882014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BCED67D-F941-52A5-DBBE-3FCC9F32E6EF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8" name="Circle">
                <a:extLst>
                  <a:ext uri="{FF2B5EF4-FFF2-40B4-BE49-F238E27FC236}">
                    <a16:creationId xmlns:a16="http://schemas.microsoft.com/office/drawing/2014/main" id="{1BBEF5CE-0B58-0B43-BFB7-C6FD73371D5B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9" name="Circle">
                <a:extLst>
                  <a:ext uri="{FF2B5EF4-FFF2-40B4-BE49-F238E27FC236}">
                    <a16:creationId xmlns:a16="http://schemas.microsoft.com/office/drawing/2014/main" id="{8E480D37-15B5-06CD-1AA1-A2B1D7DFEBFF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4" name="1">
                <a:extLst>
                  <a:ext uri="{FF2B5EF4-FFF2-40B4-BE49-F238E27FC236}">
                    <a16:creationId xmlns:a16="http://schemas.microsoft.com/office/drawing/2014/main" id="{26EDBFBD-3D9A-87B6-DA32-19C80B2EB403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4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5" name="Coupons">
              <a:extLst>
                <a:ext uri="{FF2B5EF4-FFF2-40B4-BE49-F238E27FC236}">
                  <a16:creationId xmlns:a16="http://schemas.microsoft.com/office/drawing/2014/main" id="{F7E13EC0-7D89-7458-1175-F15A7FFCE228}"/>
                </a:ext>
              </a:extLst>
            </p:cNvPr>
            <p:cNvSpPr/>
            <p:nvPr/>
          </p:nvSpPr>
          <p:spPr>
            <a:xfrm>
              <a:off x="4045351" y="4615991"/>
              <a:ext cx="8146649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Voice of the Customer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87AC73C-0DF5-212B-7435-DE002CF9267C}"/>
              </a:ext>
            </a:extLst>
          </p:cNvPr>
          <p:cNvGrpSpPr>
            <a:grpSpLocks/>
          </p:cNvGrpSpPr>
          <p:nvPr/>
        </p:nvGrpSpPr>
        <p:grpSpPr bwMode="auto">
          <a:xfrm>
            <a:off x="1219394" y="3829544"/>
            <a:ext cx="13868323" cy="8543166"/>
            <a:chOff x="369" y="1526"/>
            <a:chExt cx="5212" cy="241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1F0A1FA-795A-1164-E1EA-812D38C608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" y="1526"/>
              <a:ext cx="864" cy="384"/>
            </a:xfrm>
            <a:prstGeom prst="rect">
              <a:avLst/>
            </a:prstGeom>
            <a:gradFill rotWithShape="0">
              <a:gsLst>
                <a:gs pos="0">
                  <a:srgbClr val="C00000">
                    <a:alpha val="22000"/>
                  </a:srgbClr>
                </a:gs>
                <a:gs pos="51000">
                  <a:srgbClr val="C00000"/>
                </a:gs>
                <a:gs pos="100000">
                  <a:srgbClr val="C00000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0" hangingPunct="0"/>
              <a:r>
                <a:rPr lang="en-US" altLang="en-US" sz="2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rPr>
                <a:t>Quality</a:t>
              </a:r>
            </a:p>
          </p:txBody>
        </p:sp>
        <p:sp>
          <p:nvSpPr>
            <p:cNvPr id="36" name="Line 5">
              <a:extLst>
                <a:ext uri="{FF2B5EF4-FFF2-40B4-BE49-F238E27FC236}">
                  <a16:creationId xmlns:a16="http://schemas.microsoft.com/office/drawing/2014/main" id="{7996EA57-7639-3E4A-8AE9-6405918585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2" y="1718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37" name="Text Box 6">
              <a:extLst>
                <a:ext uri="{FF2B5EF4-FFF2-40B4-BE49-F238E27FC236}">
                  <a16:creationId xmlns:a16="http://schemas.microsoft.com/office/drawing/2014/main" id="{6020FB27-E8C4-675A-DBFA-ADC572480C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3" y="1549"/>
              <a:ext cx="4108" cy="339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0" hangingPunct="0"/>
              <a:r>
                <a:rPr lang="en-US" altLang="en-US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+mn-lt"/>
                  <a:ea typeface="Times New Roman" panose="02020603050405020304" pitchFamily="18" charset="0"/>
                  <a:cs typeface="Times New Roman" panose="02020603050405020304" pitchFamily="18" charset="0"/>
                </a:rPr>
                <a:t>Product or Service Features, Attributes, Dimensions, Characteristics Relating to the Function of the Product or Service, Reliability, Availability, Effectiveness, Recovery, Customer Returns, Defects, Rework or Scrap</a:t>
              </a:r>
              <a:endParaRPr lang="en-US" altLang="en-US" b="1" u="sng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BC824C6-F2DE-CFD7-B61D-87CE58F245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" y="2032"/>
              <a:ext cx="864" cy="384"/>
            </a:xfrm>
            <a:prstGeom prst="rect">
              <a:avLst/>
            </a:prstGeom>
            <a:gradFill rotWithShape="0">
              <a:gsLst>
                <a:gs pos="0">
                  <a:srgbClr val="C00000">
                    <a:alpha val="22000"/>
                  </a:srgbClr>
                </a:gs>
                <a:gs pos="51000">
                  <a:srgbClr val="C00000"/>
                </a:gs>
                <a:gs pos="100000">
                  <a:srgbClr val="C00000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0" hangingPunct="0"/>
              <a:r>
                <a:rPr lang="en-US" altLang="en-US" sz="2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rPr>
                <a:t>Cost</a:t>
              </a:r>
            </a:p>
          </p:txBody>
        </p:sp>
        <p:sp>
          <p:nvSpPr>
            <p:cNvPr id="39" name="Line 8">
              <a:extLst>
                <a:ext uri="{FF2B5EF4-FFF2-40B4-BE49-F238E27FC236}">
                  <a16:creationId xmlns:a16="http://schemas.microsoft.com/office/drawing/2014/main" id="{56D9D9C3-C4E4-27F2-54CB-3B92F2A7FC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2" y="222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40" name="Text Box 9">
              <a:extLst>
                <a:ext uri="{FF2B5EF4-FFF2-40B4-BE49-F238E27FC236}">
                  <a16:creationId xmlns:a16="http://schemas.microsoft.com/office/drawing/2014/main" id="{99C58675-4922-03A6-9096-F2D7E123F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3" y="2062"/>
              <a:ext cx="4108" cy="339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0" hangingPunct="0"/>
              <a:r>
                <a:rPr lang="en-US" altLang="en-US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+mn-lt"/>
                  <a:ea typeface="Times New Roman" panose="02020603050405020304" pitchFamily="18" charset="0"/>
                  <a:cs typeface="Times New Roman" panose="02020603050405020304" pitchFamily="18" charset="0"/>
                </a:rPr>
                <a:t>Process Cost Efficiency, Prices to Consumer (Initial Plus Life Cycle), Repair Costs, Purchase Price, Financing Terms, Depreciation, Residual Value, Raw Material, Energy Efficiency</a:t>
              </a:r>
              <a:endParaRPr lang="en-US" altLang="en-US" b="1" u="sng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C04BB711-59F8-3B6F-19EB-6A14EA06E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" y="2539"/>
              <a:ext cx="864" cy="384"/>
            </a:xfrm>
            <a:prstGeom prst="rect">
              <a:avLst/>
            </a:prstGeom>
            <a:gradFill rotWithShape="0">
              <a:gsLst>
                <a:gs pos="0">
                  <a:srgbClr val="C00000">
                    <a:alpha val="22000"/>
                  </a:srgbClr>
                </a:gs>
                <a:gs pos="51000">
                  <a:srgbClr val="C00000"/>
                </a:gs>
                <a:gs pos="100000">
                  <a:srgbClr val="C00000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0" hangingPunct="0"/>
              <a:r>
                <a:rPr lang="en-US" altLang="en-US" sz="2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rPr>
                <a:t>Speed</a:t>
              </a:r>
            </a:p>
          </p:txBody>
        </p:sp>
        <p:sp>
          <p:nvSpPr>
            <p:cNvPr id="42" name="Line 11">
              <a:extLst>
                <a:ext uri="{FF2B5EF4-FFF2-40B4-BE49-F238E27FC236}">
                  <a16:creationId xmlns:a16="http://schemas.microsoft.com/office/drawing/2014/main" id="{5A76B884-1AC6-6543-5F74-D37E6CCEA7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2" y="2731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43" name="Text Box 12">
              <a:extLst>
                <a:ext uri="{FF2B5EF4-FFF2-40B4-BE49-F238E27FC236}">
                  <a16:creationId xmlns:a16="http://schemas.microsoft.com/office/drawing/2014/main" id="{6A056A0B-F7A5-C062-3CAF-EB9D7D29C2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3" y="2624"/>
              <a:ext cx="4108" cy="234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0" hangingPunct="0"/>
              <a:r>
                <a:rPr lang="en-US" altLang="en-US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+mn-lt"/>
                  <a:ea typeface="Times New Roman" panose="02020603050405020304" pitchFamily="18" charset="0"/>
                  <a:cs typeface="Times New Roman" panose="02020603050405020304" pitchFamily="18" charset="0"/>
                </a:rPr>
                <a:t>Lead Times, Delivery Times, Turnaround Times, Setup Times, Delays, Up Time, Equipment Availability, Rolling Speed, Flexibility</a:t>
              </a:r>
              <a:endParaRPr lang="en-US" altLang="en-US" b="1" u="sng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47CF17B-D1E6-E1A3-8439-C249B25B0A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" y="3045"/>
              <a:ext cx="864" cy="384"/>
            </a:xfrm>
            <a:prstGeom prst="rect">
              <a:avLst/>
            </a:prstGeom>
            <a:gradFill rotWithShape="0">
              <a:gsLst>
                <a:gs pos="0">
                  <a:srgbClr val="C00000">
                    <a:alpha val="22000"/>
                  </a:srgbClr>
                </a:gs>
                <a:gs pos="51000">
                  <a:srgbClr val="C00000"/>
                </a:gs>
                <a:gs pos="100000">
                  <a:srgbClr val="C00000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0" hangingPunct="0"/>
              <a:r>
                <a:rPr lang="en-US" altLang="en-US" sz="2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rPr>
                <a:t>Service</a:t>
              </a:r>
            </a:p>
            <a:p>
              <a:pPr algn="ctr" eaLnBrk="0" hangingPunct="0"/>
              <a:r>
                <a:rPr lang="en-US" altLang="en-US" sz="28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rPr>
                <a:t>and Safety</a:t>
              </a:r>
            </a:p>
          </p:txBody>
        </p:sp>
        <p:sp>
          <p:nvSpPr>
            <p:cNvPr id="45" name="Line 14">
              <a:extLst>
                <a:ext uri="{FF2B5EF4-FFF2-40B4-BE49-F238E27FC236}">
                  <a16:creationId xmlns:a16="http://schemas.microsoft.com/office/drawing/2014/main" id="{3E8FDD9B-2521-1F5E-6E2D-5A9D9986D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2" y="3237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46" name="Text Box 15">
              <a:extLst>
                <a:ext uri="{FF2B5EF4-FFF2-40B4-BE49-F238E27FC236}">
                  <a16:creationId xmlns:a16="http://schemas.microsoft.com/office/drawing/2014/main" id="{37EBCF3D-798A-B4B7-A88E-1DB16F26D7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3" y="3028"/>
              <a:ext cx="4108" cy="443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0" hangingPunct="0"/>
              <a:r>
                <a:rPr lang="en-US" altLang="en-US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+mn-lt"/>
                  <a:ea typeface="Times New Roman" panose="02020603050405020304" pitchFamily="18" charset="0"/>
                  <a:cs typeface="Times New Roman" panose="02020603050405020304" pitchFamily="18" charset="0"/>
                </a:rPr>
                <a:t>Environment, Health and Safety Policy,</a:t>
              </a:r>
              <a:r>
                <a:rPr lang="en-US" altLang="en-US" i="1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+mn-lt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en-US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+mn-lt"/>
                  <a:ea typeface="Times New Roman" panose="02020603050405020304" pitchFamily="18" charset="0"/>
                  <a:cs typeface="Times New Roman" panose="02020603050405020304" pitchFamily="18" charset="0"/>
                </a:rPr>
                <a:t>Service Requirements, After-Purchase Reliability, Parts Availability, Service, Warranties, Maintainability, Customer-Required Maintenance, Product Liability, Product/Service Safety, Recordable Injuries, Lost Time, Environmental Incidents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7817DD22-28F0-BFC0-3BDA-E8E96624F8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" y="3552"/>
              <a:ext cx="864" cy="384"/>
            </a:xfrm>
            <a:prstGeom prst="rect">
              <a:avLst/>
            </a:prstGeom>
            <a:gradFill rotWithShape="0">
              <a:gsLst>
                <a:gs pos="0">
                  <a:srgbClr val="C00000">
                    <a:alpha val="22000"/>
                  </a:srgbClr>
                </a:gs>
                <a:gs pos="51000">
                  <a:srgbClr val="C00000"/>
                </a:gs>
                <a:gs pos="100000">
                  <a:srgbClr val="C00000"/>
                </a:gs>
              </a:gsLst>
              <a:lin ang="270000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algn="ctr" eaLnBrk="0" hangingPunct="0"/>
              <a:r>
                <a:rPr lang="en-US" altLang="en-US" sz="27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rPr>
                <a:t>Corporate</a:t>
              </a:r>
            </a:p>
            <a:p>
              <a:pPr algn="ctr" eaLnBrk="0" hangingPunct="0"/>
              <a:r>
                <a:rPr lang="en-US" altLang="en-US" sz="2700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rPr>
                <a:t> Responsibility</a:t>
              </a:r>
            </a:p>
          </p:txBody>
        </p:sp>
        <p:sp>
          <p:nvSpPr>
            <p:cNvPr id="48" name="Line 17">
              <a:extLst>
                <a:ext uri="{FF2B5EF4-FFF2-40B4-BE49-F238E27FC236}">
                  <a16:creationId xmlns:a16="http://schemas.microsoft.com/office/drawing/2014/main" id="{002CB9E1-375D-5844-6058-AB5002CC25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2" y="3744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endParaRPr 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  <p:sp>
          <p:nvSpPr>
            <p:cNvPr id="49" name="Text Box 18">
              <a:extLst>
                <a:ext uri="{FF2B5EF4-FFF2-40B4-BE49-F238E27FC236}">
                  <a16:creationId xmlns:a16="http://schemas.microsoft.com/office/drawing/2014/main" id="{54A748A9-FDB6-0D3E-7760-9149D15D0C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3" y="3628"/>
              <a:ext cx="4108" cy="234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defPPr>
                <a:defRPr lang="fr-FR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tx1"/>
                  </a:solidFill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defRPr>
              </a:lvl9pPr>
            </a:lstStyle>
            <a:p>
              <a:pPr eaLnBrk="0" hangingPunct="0"/>
              <a:r>
                <a:rPr lang="en-US" altLang="en-US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+mn-lt"/>
                  <a:ea typeface="Times New Roman" panose="02020603050405020304" pitchFamily="18" charset="0"/>
                  <a:cs typeface="Times New Roman" panose="02020603050405020304" pitchFamily="18" charset="0"/>
                </a:rPr>
                <a:t>Ethical Business Conduct, Business Risk Management, Environment, Health and Safety Policy, Code of Conduct</a:t>
              </a: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BC524866-FDAC-8293-9173-F84041CE4A1A}"/>
              </a:ext>
            </a:extLst>
          </p:cNvPr>
          <p:cNvSpPr txBox="1"/>
          <p:nvPr/>
        </p:nvSpPr>
        <p:spPr>
          <a:xfrm>
            <a:off x="16089381" y="5009832"/>
            <a:ext cx="7292955" cy="600164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en-US" sz="4800" dirty="0">
                <a:solidFill>
                  <a:schemeClr val="bg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The challenge is to understand how your customers, stakeholders, process owner, etc. define and prioritize the various needs and expectations they have of your products and services.</a:t>
            </a:r>
            <a:endParaRPr lang="en-US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316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723" y="0"/>
            <a:ext cx="24383277" cy="13716000"/>
          </a:xfrm>
          <a:prstGeom prst="rect">
            <a:avLst/>
          </a:prstGeom>
        </p:spPr>
      </p:pic>
      <p:sp>
        <p:nvSpPr>
          <p:cNvPr id="11" name="Coupons">
            <a:extLst>
              <a:ext uri="{FF2B5EF4-FFF2-40B4-BE49-F238E27FC236}">
                <a16:creationId xmlns:a16="http://schemas.microsoft.com/office/drawing/2014/main" id="{818F2B12-1366-5773-5022-7750E0F93241}"/>
              </a:ext>
            </a:extLst>
          </p:cNvPr>
          <p:cNvSpPr/>
          <p:nvPr/>
        </p:nvSpPr>
        <p:spPr>
          <a:xfrm>
            <a:off x="878262" y="1294815"/>
            <a:ext cx="23505738" cy="7463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algn="ctr"/>
            <a:r>
              <a:rPr lang="en-US" sz="6000" i="1" dirty="0">
                <a:solidFill>
                  <a:schemeClr val="bg1"/>
                </a:solidFill>
              </a:rPr>
              <a:t>“Do you REALLY know the expectations of your customer?”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D3958EA-61D2-52AA-7F5E-BC68D3DEA1D0}"/>
              </a:ext>
            </a:extLst>
          </p:cNvPr>
          <p:cNvSpPr txBox="1">
            <a:spLocks noChangeArrowheads="1"/>
          </p:cNvSpPr>
          <p:nvPr/>
        </p:nvSpPr>
        <p:spPr>
          <a:xfrm>
            <a:off x="14657194" y="3241147"/>
            <a:ext cx="5481908" cy="2829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>
            <a:glow rad="481185">
              <a:schemeClr val="accent5">
                <a:satMod val="175000"/>
                <a:alpha val="40000"/>
              </a:schemeClr>
            </a:glow>
            <a:softEdge rad="996844"/>
          </a:effectLst>
          <a:scene3d>
            <a:camera prst="orthographicFront"/>
            <a:lightRig rig="threePt" dir="t"/>
          </a:scene3d>
          <a:sp3d>
            <a:bevelT w="241300" h="133350" prst="coolSlant"/>
          </a:sp3d>
        </p:spPr>
        <p:txBody>
          <a:bodyPr/>
          <a:lstStyle/>
          <a:p>
            <a:pPr marL="457200" indent="-457200" defTabSz="1828800" eaLnBrk="0" fontAlgn="base">
              <a:spcAft>
                <a:spcPct val="50000"/>
              </a:spcAft>
              <a:buClr>
                <a:srgbClr val="006699"/>
              </a:buClr>
              <a:buSzPct val="90000"/>
              <a:defRPr/>
            </a:pPr>
            <a:r>
              <a:rPr lang="en-US" sz="3200" b="1" dirty="0">
                <a:latin typeface="Arial"/>
                <a:ea typeface="ＭＳ Ｐゴシック" panose="020B0600070205080204" pitchFamily="34" charset="-128"/>
              </a:rPr>
              <a:t>100% On-time Delivery to Request Date</a:t>
            </a:r>
          </a:p>
          <a:p>
            <a:pPr marL="457200" indent="-457200" defTabSz="1828800" eaLnBrk="0" fontAlgn="base">
              <a:spcAft>
                <a:spcPct val="50000"/>
              </a:spcAft>
              <a:buClr>
                <a:srgbClr val="006699"/>
              </a:buClr>
              <a:buSzPct val="90000"/>
              <a:defRPr/>
            </a:pPr>
            <a:r>
              <a:rPr lang="en-US" sz="3200" b="1" dirty="0">
                <a:latin typeface="Arial"/>
                <a:ea typeface="ＭＳ Ｐゴシック" panose="020B0600070205080204" pitchFamily="34" charset="-128"/>
              </a:rPr>
              <a:t>ZERO Defects</a:t>
            </a:r>
          </a:p>
          <a:p>
            <a:pPr marL="457200" indent="-457200" defTabSz="1828800" eaLnBrk="0" fontAlgn="base">
              <a:spcAft>
                <a:spcPct val="50000"/>
              </a:spcAft>
              <a:buClr>
                <a:srgbClr val="006699"/>
              </a:buClr>
              <a:buSzPct val="90000"/>
              <a:defRPr/>
            </a:pPr>
            <a:r>
              <a:rPr lang="en-US" sz="3200" b="1" dirty="0">
                <a:latin typeface="Arial"/>
                <a:ea typeface="ＭＳ Ｐゴシック" panose="020B0600070205080204" pitchFamily="34" charset="-128"/>
              </a:rPr>
              <a:t>ZERO Field Warranty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FB737C-905A-79C8-EE98-118905B425B7}"/>
              </a:ext>
            </a:extLst>
          </p:cNvPr>
          <p:cNvSpPr txBox="1"/>
          <p:nvPr/>
        </p:nvSpPr>
        <p:spPr>
          <a:xfrm>
            <a:off x="4758239" y="11130905"/>
            <a:ext cx="14866797" cy="193899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 defTabSz="1828800" eaLnBrk="0" fontAlgn="base">
              <a:spcBef>
                <a:spcPts val="1200"/>
              </a:spcBef>
              <a:spcAft>
                <a:spcPts val="1200"/>
              </a:spcAft>
              <a:buClr>
                <a:srgbClr val="006699"/>
              </a:buClr>
              <a:buSzPct val="90000"/>
              <a:defRPr/>
            </a:pPr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Hino’s Supplier Rating of JAKE Brake:  </a:t>
            </a:r>
            <a:r>
              <a:rPr lang="en-US" sz="6000" b="1" dirty="0">
                <a:solidFill>
                  <a:srgbClr val="FF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#106 </a:t>
            </a:r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rPr>
              <a:t>of 110 Engine Suppliers!</a:t>
            </a: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1A2F5A21-9FE0-5A2B-027A-7ED8983FD650}"/>
              </a:ext>
            </a:extLst>
          </p:cNvPr>
          <p:cNvSpPr/>
          <p:nvPr/>
        </p:nvSpPr>
        <p:spPr>
          <a:xfrm>
            <a:off x="7231912" y="7563869"/>
            <a:ext cx="7328236" cy="1426567"/>
          </a:xfrm>
          <a:prstGeom prst="rightArrow">
            <a:avLst/>
          </a:prstGeom>
          <a:gradFill>
            <a:gsLst>
              <a:gs pos="54000">
                <a:srgbClr val="D31D2F"/>
              </a:gs>
              <a:gs pos="48000">
                <a:srgbClr val="E01421"/>
              </a:gs>
              <a:gs pos="2000">
                <a:srgbClr val="FF0000"/>
              </a:gs>
              <a:gs pos="100000">
                <a:schemeClr val="tx1"/>
              </a:gs>
            </a:gsLst>
            <a:lin ang="54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HINO’s Expectations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B040931-BBAB-95F8-3E63-64761626C6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7795" y="7007608"/>
            <a:ext cx="3761163" cy="28294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E7E9A9B-E1BA-F185-88F5-8771CCC297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6830" y="3241147"/>
            <a:ext cx="3761163" cy="2829480"/>
          </a:xfrm>
          <a:prstGeom prst="rect">
            <a:avLst/>
          </a:prstGeom>
        </p:spPr>
      </p:pic>
      <p:sp>
        <p:nvSpPr>
          <p:cNvPr id="15" name="Right Arrow 14">
            <a:extLst>
              <a:ext uri="{FF2B5EF4-FFF2-40B4-BE49-F238E27FC236}">
                <a16:creationId xmlns:a16="http://schemas.microsoft.com/office/drawing/2014/main" id="{3B41DB0B-3FE1-698F-4C8C-FBF4C7CD0C54}"/>
              </a:ext>
            </a:extLst>
          </p:cNvPr>
          <p:cNvSpPr/>
          <p:nvPr/>
        </p:nvSpPr>
        <p:spPr>
          <a:xfrm>
            <a:off x="7328958" y="3942603"/>
            <a:ext cx="7328236" cy="1426567"/>
          </a:xfrm>
          <a:prstGeom prst="rightArrow">
            <a:avLst/>
          </a:prstGeom>
          <a:gradFill>
            <a:gsLst>
              <a:gs pos="0">
                <a:srgbClr val="00B050"/>
              </a:gs>
              <a:gs pos="47000">
                <a:srgbClr val="00B050"/>
              </a:gs>
              <a:gs pos="36000">
                <a:srgbClr val="00B050"/>
              </a:gs>
              <a:gs pos="100000">
                <a:schemeClr val="tx1"/>
              </a:gs>
            </a:gsLst>
            <a:lin ang="540000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uFillTx/>
                <a:latin typeface="+mn-lt"/>
                <a:ea typeface="+mn-ea"/>
                <a:cs typeface="+mn-cs"/>
                <a:sym typeface="Roboto"/>
              </a:rPr>
              <a:t>Jake Brake’s Performance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BE131B84-A8F5-B172-F21A-A412AD2607D0}"/>
              </a:ext>
            </a:extLst>
          </p:cNvPr>
          <p:cNvSpPr txBox="1">
            <a:spLocks noChangeArrowheads="1"/>
          </p:cNvSpPr>
          <p:nvPr/>
        </p:nvSpPr>
        <p:spPr>
          <a:xfrm>
            <a:off x="14657194" y="6978497"/>
            <a:ext cx="5481908" cy="28294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  <a:effectLst>
            <a:glow rad="481185">
              <a:schemeClr val="accent5">
                <a:satMod val="175000"/>
                <a:alpha val="40000"/>
              </a:schemeClr>
            </a:glow>
            <a:softEdge rad="996844"/>
          </a:effectLst>
          <a:scene3d>
            <a:camera prst="orthographicFront"/>
            <a:lightRig rig="threePt" dir="t"/>
          </a:scene3d>
          <a:sp3d>
            <a:bevelT w="241300" h="133350" prst="coolSlant"/>
          </a:sp3d>
        </p:spPr>
        <p:txBody>
          <a:bodyPr/>
          <a:lstStyle/>
          <a:p>
            <a:pPr marL="457200" indent="-457200" defTabSz="1828800" eaLnBrk="0" fontAlgn="base">
              <a:spcAft>
                <a:spcPct val="50000"/>
              </a:spcAft>
              <a:buClr>
                <a:srgbClr val="006699"/>
              </a:buClr>
              <a:buSzPct val="90000"/>
              <a:defRPr/>
            </a:pPr>
            <a:r>
              <a:rPr lang="en-US" sz="3200" b="1" u="sng" dirty="0">
                <a:latin typeface="Arial"/>
                <a:ea typeface="ＭＳ Ｐゴシック" panose="020B0600070205080204" pitchFamily="34" charset="-128"/>
              </a:rPr>
              <a:t>All of the above plus:</a:t>
            </a:r>
          </a:p>
          <a:p>
            <a:pPr marL="457200" indent="-457200" defTabSz="1828800" eaLnBrk="0" fontAlgn="base">
              <a:spcAft>
                <a:spcPct val="50000"/>
              </a:spcAft>
              <a:buClr>
                <a:srgbClr val="006699"/>
              </a:buClr>
              <a:buSzPct val="90000"/>
              <a:defRPr/>
            </a:pPr>
            <a:r>
              <a:rPr lang="en-US" sz="3200" b="1" dirty="0">
                <a:latin typeface="Arial"/>
                <a:ea typeface="ＭＳ Ｐゴシック" panose="020B0600070205080204" pitchFamily="34" charset="-128"/>
              </a:rPr>
              <a:t>Consistent label placement</a:t>
            </a:r>
          </a:p>
          <a:p>
            <a:pPr marL="457200" indent="-457200" defTabSz="1828800" eaLnBrk="0" fontAlgn="base">
              <a:spcAft>
                <a:spcPct val="50000"/>
              </a:spcAft>
              <a:buClr>
                <a:srgbClr val="006699"/>
              </a:buClr>
              <a:buSzPct val="90000"/>
              <a:defRPr/>
            </a:pPr>
            <a:r>
              <a:rPr lang="en-US" sz="3200" b="1" dirty="0">
                <a:latin typeface="Arial"/>
                <a:ea typeface="ＭＳ Ｐゴシック" panose="020B0600070205080204" pitchFamily="34" charset="-128"/>
              </a:rPr>
              <a:t>Timely responses</a:t>
            </a:r>
          </a:p>
          <a:p>
            <a:pPr marL="457200" indent="-457200" defTabSz="1828800" eaLnBrk="0" fontAlgn="base">
              <a:spcAft>
                <a:spcPct val="50000"/>
              </a:spcAft>
              <a:buClr>
                <a:srgbClr val="006699"/>
              </a:buClr>
              <a:buSzPct val="90000"/>
              <a:defRPr/>
            </a:pPr>
            <a:r>
              <a:rPr lang="en-US" sz="3200" b="1" dirty="0">
                <a:latin typeface="Arial"/>
                <a:ea typeface="ＭＳ Ｐゴシック" panose="020B0600070205080204" pitchFamily="34" charset="-128"/>
              </a:rPr>
              <a:t>Dunnage removal</a:t>
            </a:r>
          </a:p>
        </p:txBody>
      </p:sp>
      <p:sp>
        <p:nvSpPr>
          <p:cNvPr id="18" name="Coupons">
            <a:extLst>
              <a:ext uri="{FF2B5EF4-FFF2-40B4-BE49-F238E27FC236}">
                <a16:creationId xmlns:a16="http://schemas.microsoft.com/office/drawing/2014/main" id="{09212A4E-FFC7-5376-0EDB-41412986007A}"/>
              </a:ext>
            </a:extLst>
          </p:cNvPr>
          <p:cNvSpPr/>
          <p:nvPr/>
        </p:nvSpPr>
        <p:spPr>
          <a:xfrm rot="19181199">
            <a:off x="16542578" y="8964706"/>
            <a:ext cx="6016908" cy="5970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algn="ctr"/>
            <a:r>
              <a:rPr lang="en-US" sz="4800" i="1" dirty="0">
                <a:solidFill>
                  <a:srgbClr val="FF0000"/>
                </a:solidFill>
              </a:rPr>
              <a:t>We never asked! 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017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723" y="43282"/>
            <a:ext cx="24383277" cy="137160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781E207-0CD3-12F5-1A52-9971312E8A3C}"/>
              </a:ext>
            </a:extLst>
          </p:cNvPr>
          <p:cNvGrpSpPr/>
          <p:nvPr/>
        </p:nvGrpSpPr>
        <p:grpSpPr>
          <a:xfrm>
            <a:off x="1665443" y="1182823"/>
            <a:ext cx="8873172" cy="1882014"/>
            <a:chOff x="1965812" y="3928900"/>
            <a:chExt cx="8873172" cy="1882014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717F49E-CABF-056B-DDCC-0D03A5CD58F1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19" name="Circle">
                <a:extLst>
                  <a:ext uri="{FF2B5EF4-FFF2-40B4-BE49-F238E27FC236}">
                    <a16:creationId xmlns:a16="http://schemas.microsoft.com/office/drawing/2014/main" id="{67EEF93B-5709-F853-0EC3-E99AEAF10C05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1" name="Circle">
                <a:extLst>
                  <a:ext uri="{FF2B5EF4-FFF2-40B4-BE49-F238E27FC236}">
                    <a16:creationId xmlns:a16="http://schemas.microsoft.com/office/drawing/2014/main" id="{52ECCE84-6992-980D-FDF8-704E0423F818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2" name="1">
                <a:extLst>
                  <a:ext uri="{FF2B5EF4-FFF2-40B4-BE49-F238E27FC236}">
                    <a16:creationId xmlns:a16="http://schemas.microsoft.com/office/drawing/2014/main" id="{72B967DA-E549-B6A7-61F9-21E3398F1191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5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7" name="Coupons">
              <a:extLst>
                <a:ext uri="{FF2B5EF4-FFF2-40B4-BE49-F238E27FC236}">
                  <a16:creationId xmlns:a16="http://schemas.microsoft.com/office/drawing/2014/main" id="{F2ACC8F7-8986-30BD-5211-ECF0BB92877C}"/>
                </a:ext>
              </a:extLst>
            </p:cNvPr>
            <p:cNvSpPr/>
            <p:nvPr/>
          </p:nvSpPr>
          <p:spPr>
            <a:xfrm>
              <a:off x="4045351" y="4615991"/>
              <a:ext cx="6793633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SWOT Analysis</a:t>
              </a:r>
            </a:p>
          </p:txBody>
        </p:sp>
      </p:grp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0900A789-DDFD-1D48-DEB3-3F21CFEAFB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06086"/>
              </p:ext>
            </p:extLst>
          </p:nvPr>
        </p:nvGraphicFramePr>
        <p:xfrm>
          <a:off x="3699146" y="3992138"/>
          <a:ext cx="16256001" cy="719660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tableStyleId>{8F44A2F1-9E1F-4B54-A3A2-5F16C0AD49E2}</a:tableStyleId>
              </a:tblPr>
              <a:tblGrid>
                <a:gridCol w="5418667">
                  <a:extLst>
                    <a:ext uri="{9D8B030D-6E8A-4147-A177-3AD203B41FA5}">
                      <a16:colId xmlns:a16="http://schemas.microsoft.com/office/drawing/2014/main" val="1187428926"/>
                    </a:ext>
                  </a:extLst>
                </a:gridCol>
                <a:gridCol w="5418667">
                  <a:extLst>
                    <a:ext uri="{9D8B030D-6E8A-4147-A177-3AD203B41FA5}">
                      <a16:colId xmlns:a16="http://schemas.microsoft.com/office/drawing/2014/main" val="1684196551"/>
                    </a:ext>
                  </a:extLst>
                </a:gridCol>
                <a:gridCol w="5418667">
                  <a:extLst>
                    <a:ext uri="{9D8B030D-6E8A-4147-A177-3AD203B41FA5}">
                      <a16:colId xmlns:a16="http://schemas.microsoft.com/office/drawing/2014/main" val="1325863776"/>
                    </a:ext>
                  </a:extLst>
                </a:gridCol>
              </a:tblGrid>
              <a:tr h="3470451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741787"/>
                  </a:ext>
                </a:extLst>
              </a:tr>
              <a:tr h="37261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856408"/>
                  </a:ext>
                </a:extLst>
              </a:tr>
            </a:tbl>
          </a:graphicData>
        </a:graphic>
      </p:graphicFrame>
      <p:sp>
        <p:nvSpPr>
          <p:cNvPr id="24" name="Circle">
            <a:extLst>
              <a:ext uri="{FF2B5EF4-FFF2-40B4-BE49-F238E27FC236}">
                <a16:creationId xmlns:a16="http://schemas.microsoft.com/office/drawing/2014/main" id="{6F1AD37C-8B2C-0EB7-D08D-00D51BB8EA62}"/>
              </a:ext>
            </a:extLst>
          </p:cNvPr>
          <p:cNvSpPr/>
          <p:nvPr/>
        </p:nvSpPr>
        <p:spPr>
          <a:xfrm>
            <a:off x="10468304" y="4153658"/>
            <a:ext cx="2613810" cy="261381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5" name="Strengths">
            <a:extLst>
              <a:ext uri="{FF2B5EF4-FFF2-40B4-BE49-F238E27FC236}">
                <a16:creationId xmlns:a16="http://schemas.microsoft.com/office/drawing/2014/main" id="{DDC39F74-8217-9503-0A9C-3BE2BCC96818}"/>
              </a:ext>
            </a:extLst>
          </p:cNvPr>
          <p:cNvSpPr/>
          <p:nvPr/>
        </p:nvSpPr>
        <p:spPr>
          <a:xfrm>
            <a:off x="9101859" y="6992939"/>
            <a:ext cx="5346701" cy="447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sz="3600" dirty="0">
                <a:solidFill>
                  <a:schemeClr val="accent2"/>
                </a:solidFill>
              </a:rPr>
              <a:t>Strengths</a:t>
            </a:r>
            <a:endParaRPr dirty="0">
              <a:solidFill>
                <a:schemeClr val="accent2"/>
              </a:solidFill>
            </a:endParaRPr>
          </a:p>
        </p:txBody>
      </p:sp>
      <p:sp>
        <p:nvSpPr>
          <p:cNvPr id="26" name="S">
            <a:extLst>
              <a:ext uri="{FF2B5EF4-FFF2-40B4-BE49-F238E27FC236}">
                <a16:creationId xmlns:a16="http://schemas.microsoft.com/office/drawing/2014/main" id="{F6594D42-B669-61C8-6E79-C45BD2732D5D}"/>
              </a:ext>
            </a:extLst>
          </p:cNvPr>
          <p:cNvSpPr/>
          <p:nvPr/>
        </p:nvSpPr>
        <p:spPr>
          <a:xfrm>
            <a:off x="11235459" y="4383346"/>
            <a:ext cx="1079501" cy="2154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1155700">
              <a:lnSpc>
                <a:spcPct val="80000"/>
              </a:lnSpc>
              <a:defRPr sz="14000" b="1">
                <a:solidFill>
                  <a:srgbClr val="DD4242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dirty="0">
                <a:solidFill>
                  <a:schemeClr val="accent2"/>
                </a:solidFill>
              </a:rPr>
              <a:t>S</a:t>
            </a:r>
          </a:p>
        </p:txBody>
      </p:sp>
      <p:sp>
        <p:nvSpPr>
          <p:cNvPr id="28" name="Circle">
            <a:extLst>
              <a:ext uri="{FF2B5EF4-FFF2-40B4-BE49-F238E27FC236}">
                <a16:creationId xmlns:a16="http://schemas.microsoft.com/office/drawing/2014/main" id="{E125EE42-8CE9-F648-ECB7-AE88B54CD62C}"/>
              </a:ext>
            </a:extLst>
          </p:cNvPr>
          <p:cNvSpPr/>
          <p:nvPr/>
        </p:nvSpPr>
        <p:spPr>
          <a:xfrm>
            <a:off x="15928542" y="4141492"/>
            <a:ext cx="2613810" cy="261381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9" name="Weaknesses">
            <a:extLst>
              <a:ext uri="{FF2B5EF4-FFF2-40B4-BE49-F238E27FC236}">
                <a16:creationId xmlns:a16="http://schemas.microsoft.com/office/drawing/2014/main" id="{32D550D3-33FF-2513-F8D1-B675463F28E2}"/>
              </a:ext>
            </a:extLst>
          </p:cNvPr>
          <p:cNvSpPr/>
          <p:nvPr/>
        </p:nvSpPr>
        <p:spPr>
          <a:xfrm>
            <a:off x="14562096" y="6927681"/>
            <a:ext cx="5346701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sz="3600" dirty="0">
                <a:solidFill>
                  <a:schemeClr val="accent2"/>
                </a:solidFill>
              </a:rPr>
              <a:t>Weaknesses</a:t>
            </a:r>
          </a:p>
        </p:txBody>
      </p:sp>
      <p:sp>
        <p:nvSpPr>
          <p:cNvPr id="30" name="W">
            <a:extLst>
              <a:ext uri="{FF2B5EF4-FFF2-40B4-BE49-F238E27FC236}">
                <a16:creationId xmlns:a16="http://schemas.microsoft.com/office/drawing/2014/main" id="{7877B881-64E6-2DE7-80C7-7F58BDDFEB9C}"/>
              </a:ext>
            </a:extLst>
          </p:cNvPr>
          <p:cNvSpPr/>
          <p:nvPr/>
        </p:nvSpPr>
        <p:spPr>
          <a:xfrm>
            <a:off x="16282946" y="4447380"/>
            <a:ext cx="1905001" cy="2154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1155700">
              <a:lnSpc>
                <a:spcPct val="80000"/>
              </a:lnSpc>
              <a:defRPr sz="14000" b="1">
                <a:solidFill>
                  <a:srgbClr val="DD4242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dirty="0">
                <a:solidFill>
                  <a:schemeClr val="accent2"/>
                </a:solidFill>
              </a:rPr>
              <a:t>W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8574E0F-1426-36FB-3C75-433609131680}"/>
              </a:ext>
            </a:extLst>
          </p:cNvPr>
          <p:cNvGrpSpPr/>
          <p:nvPr/>
        </p:nvGrpSpPr>
        <p:grpSpPr>
          <a:xfrm>
            <a:off x="9080962" y="7708311"/>
            <a:ext cx="5346701" cy="3365587"/>
            <a:chOff x="9080962" y="7708311"/>
            <a:chExt cx="5346701" cy="3365587"/>
          </a:xfrm>
        </p:grpSpPr>
        <p:sp>
          <p:nvSpPr>
            <p:cNvPr id="32" name="Opportunities">
              <a:extLst>
                <a:ext uri="{FF2B5EF4-FFF2-40B4-BE49-F238E27FC236}">
                  <a16:creationId xmlns:a16="http://schemas.microsoft.com/office/drawing/2014/main" id="{5086F040-6C10-51B9-73D3-E820E45210AE}"/>
                </a:ext>
              </a:extLst>
            </p:cNvPr>
            <p:cNvSpPr/>
            <p:nvPr/>
          </p:nvSpPr>
          <p:spPr>
            <a:xfrm>
              <a:off x="9080962" y="10519900"/>
              <a:ext cx="5346701" cy="55399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sz="3600" dirty="0">
                  <a:solidFill>
                    <a:schemeClr val="accent2"/>
                  </a:solidFill>
                </a:rPr>
                <a:t>Opportunities</a:t>
              </a:r>
            </a:p>
          </p:txBody>
        </p:sp>
        <p:sp>
          <p:nvSpPr>
            <p:cNvPr id="33" name="Circle">
              <a:extLst>
                <a:ext uri="{FF2B5EF4-FFF2-40B4-BE49-F238E27FC236}">
                  <a16:creationId xmlns:a16="http://schemas.microsoft.com/office/drawing/2014/main" id="{1F362E2E-E375-4D94-1176-59C774BA3BA6}"/>
                </a:ext>
              </a:extLst>
            </p:cNvPr>
            <p:cNvSpPr/>
            <p:nvPr/>
          </p:nvSpPr>
          <p:spPr>
            <a:xfrm>
              <a:off x="10452045" y="7708311"/>
              <a:ext cx="2613810" cy="2613811"/>
            </a:xfrm>
            <a:prstGeom prst="ellipse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34" name="O">
              <a:extLst>
                <a:ext uri="{FF2B5EF4-FFF2-40B4-BE49-F238E27FC236}">
                  <a16:creationId xmlns:a16="http://schemas.microsoft.com/office/drawing/2014/main" id="{244917C3-0C43-9017-13E8-23497DC2C69C}"/>
                </a:ext>
              </a:extLst>
            </p:cNvPr>
            <p:cNvSpPr/>
            <p:nvPr/>
          </p:nvSpPr>
          <p:spPr>
            <a:xfrm>
              <a:off x="11086246" y="7937999"/>
              <a:ext cx="1345408" cy="215443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 defTabSz="1155700">
                <a:lnSpc>
                  <a:spcPct val="80000"/>
                </a:lnSpc>
                <a:defRPr sz="14000" b="1">
                  <a:solidFill>
                    <a:srgbClr val="DD4242"/>
                  </a:solidFill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dirty="0">
                  <a:solidFill>
                    <a:schemeClr val="accent2"/>
                  </a:solidFill>
                </a:rPr>
                <a:t>O</a:t>
              </a:r>
            </a:p>
          </p:txBody>
        </p:sp>
      </p:grpSp>
      <p:sp>
        <p:nvSpPr>
          <p:cNvPr id="36" name="Threats">
            <a:extLst>
              <a:ext uri="{FF2B5EF4-FFF2-40B4-BE49-F238E27FC236}">
                <a16:creationId xmlns:a16="http://schemas.microsoft.com/office/drawing/2014/main" id="{A737D77F-651C-7FC9-CBE5-501A245F80DF}"/>
              </a:ext>
            </a:extLst>
          </p:cNvPr>
          <p:cNvSpPr/>
          <p:nvPr/>
        </p:nvSpPr>
        <p:spPr>
          <a:xfrm>
            <a:off x="14541658" y="10572694"/>
            <a:ext cx="5346701" cy="553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sz="3600" dirty="0">
                <a:solidFill>
                  <a:schemeClr val="accent2"/>
                </a:solidFill>
              </a:rPr>
              <a:t>Threats</a:t>
            </a:r>
          </a:p>
        </p:txBody>
      </p:sp>
      <p:sp>
        <p:nvSpPr>
          <p:cNvPr id="37" name="Circle">
            <a:extLst>
              <a:ext uri="{FF2B5EF4-FFF2-40B4-BE49-F238E27FC236}">
                <a16:creationId xmlns:a16="http://schemas.microsoft.com/office/drawing/2014/main" id="{221F55A6-5C6C-BC1C-3E46-83E59F130F9A}"/>
              </a:ext>
            </a:extLst>
          </p:cNvPr>
          <p:cNvSpPr/>
          <p:nvPr/>
        </p:nvSpPr>
        <p:spPr>
          <a:xfrm>
            <a:off x="15912742" y="7761105"/>
            <a:ext cx="2613810" cy="261381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38" name="T">
            <a:extLst>
              <a:ext uri="{FF2B5EF4-FFF2-40B4-BE49-F238E27FC236}">
                <a16:creationId xmlns:a16="http://schemas.microsoft.com/office/drawing/2014/main" id="{108AAB76-5E77-0278-3351-BA2D2BE0BAA5}"/>
              </a:ext>
            </a:extLst>
          </p:cNvPr>
          <p:cNvSpPr/>
          <p:nvPr/>
        </p:nvSpPr>
        <p:spPr>
          <a:xfrm>
            <a:off x="16491083" y="8066993"/>
            <a:ext cx="1457128" cy="2154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defTabSz="1155700">
              <a:lnSpc>
                <a:spcPct val="80000"/>
              </a:lnSpc>
              <a:defRPr sz="14000" b="1">
                <a:solidFill>
                  <a:srgbClr val="DD4242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dirty="0">
                <a:solidFill>
                  <a:schemeClr val="accent2"/>
                </a:solidFill>
              </a:rPr>
              <a:t>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92BA04-710B-05BD-FD68-30AF3B613111}"/>
              </a:ext>
            </a:extLst>
          </p:cNvPr>
          <p:cNvSpPr txBox="1"/>
          <p:nvPr/>
        </p:nvSpPr>
        <p:spPr>
          <a:xfrm>
            <a:off x="3547457" y="5017890"/>
            <a:ext cx="5781626" cy="15773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1155700">
              <a:lnSpc>
                <a:spcPct val="80000"/>
              </a:lnSpc>
            </a:pPr>
            <a:r>
              <a:rPr lang="en-US" sz="6000" i="1" dirty="0">
                <a:solidFill>
                  <a:schemeClr val="tx1"/>
                </a:solidFill>
              </a:rPr>
              <a:t>Internal to </a:t>
            </a:r>
          </a:p>
          <a:p>
            <a:pPr defTabSz="1155700">
              <a:lnSpc>
                <a:spcPct val="80000"/>
              </a:lnSpc>
            </a:pPr>
            <a:r>
              <a:rPr lang="en-US" sz="6000" i="1" dirty="0">
                <a:solidFill>
                  <a:schemeClr val="tx1"/>
                </a:solidFill>
              </a:rPr>
              <a:t>the Business: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23C677-27E0-54C5-1E71-64B2C756B9E5}"/>
              </a:ext>
            </a:extLst>
          </p:cNvPr>
          <p:cNvSpPr txBox="1"/>
          <p:nvPr/>
        </p:nvSpPr>
        <p:spPr>
          <a:xfrm>
            <a:off x="3580895" y="8435446"/>
            <a:ext cx="5781626" cy="15773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1155700">
              <a:lnSpc>
                <a:spcPct val="80000"/>
              </a:lnSpc>
            </a:pPr>
            <a:r>
              <a:rPr lang="en-US" sz="6000" i="1" dirty="0">
                <a:solidFill>
                  <a:schemeClr val="tx1"/>
                </a:solidFill>
              </a:rPr>
              <a:t>External to </a:t>
            </a:r>
          </a:p>
          <a:p>
            <a:pPr defTabSz="1155700">
              <a:lnSpc>
                <a:spcPct val="80000"/>
              </a:lnSpc>
            </a:pPr>
            <a:r>
              <a:rPr lang="en-US" sz="6000" i="1" dirty="0">
                <a:solidFill>
                  <a:schemeClr val="tx1"/>
                </a:solidFill>
              </a:rPr>
              <a:t>the Business:</a:t>
            </a:r>
          </a:p>
        </p:txBody>
      </p:sp>
    </p:spTree>
    <p:extLst>
      <p:ext uri="{BB962C8B-B14F-4D97-AF65-F5344CB8AC3E}">
        <p14:creationId xmlns:p14="http://schemas.microsoft.com/office/powerpoint/2010/main" val="229085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Nam quam nunc, blandit vel, luctus pulvinar, hendrerit id, lorem. Maecenas nec odio et ante tincidunt tempus. Donec vitae sapien ut libero venenatis faucibus."/>
          <p:cNvSpPr/>
          <p:nvPr/>
        </p:nvSpPr>
        <p:spPr>
          <a:xfrm>
            <a:off x="1174338" y="8904925"/>
            <a:ext cx="10020306" cy="2117684"/>
          </a:xfrm>
          <a:prstGeom prst="rect">
            <a:avLst/>
          </a:prstGeom>
          <a:ln w="12700"/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/>
          <a:lstStyle>
            <a:lvl1pPr defTabSz="952500">
              <a:lnSpc>
                <a:spcPct val="130000"/>
              </a:lnSpc>
              <a:buClr>
                <a:srgbClr val="E9F6FA"/>
              </a:buClr>
              <a:defRPr sz="3000">
                <a:solidFill>
                  <a:srgbClr val="A9AFC3"/>
                </a:solidFill>
                <a:uFill>
                  <a:solidFill>
                    <a:srgbClr val="323C40"/>
                  </a:solidFill>
                </a:uFill>
              </a:defRPr>
            </a:lvl1pPr>
          </a:lstStyle>
          <a:p>
            <a:pPr marL="171450" marR="0">
              <a:spcBef>
                <a:spcPts val="0"/>
              </a:spcBef>
              <a:spcAft>
                <a:spcPts val="0"/>
              </a:spcAft>
            </a:pPr>
            <a:r>
              <a:rPr lang="en-US" sz="4400" i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Our salesforce is highly experienced and have ensconced customer relationships.</a:t>
            </a:r>
            <a:endParaRPr lang="en-US" sz="44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71450" marR="0">
              <a:spcBef>
                <a:spcPts val="0"/>
              </a:spcBef>
              <a:spcAft>
                <a:spcPts val="0"/>
              </a:spcAft>
            </a:pPr>
            <a:r>
              <a:rPr lang="en-US" sz="1800" b="1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5" name="Human resources"/>
          <p:cNvSpPr/>
          <p:nvPr/>
        </p:nvSpPr>
        <p:spPr>
          <a:xfrm>
            <a:off x="3196479" y="7394759"/>
            <a:ext cx="5888980" cy="667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defTabSz="1155700">
              <a:defRPr sz="3000" b="1">
                <a:solidFill>
                  <a:srgbClr val="A9AFC3"/>
                </a:solidFill>
              </a:defRPr>
            </a:lvl1pPr>
          </a:lstStyle>
          <a:p>
            <a:r>
              <a:rPr lang="en-US" dirty="0">
                <a:solidFill>
                  <a:schemeClr val="accent3"/>
                </a:solidFill>
              </a:rPr>
              <a:t>INTERNAL TO THE BUSINESS</a:t>
            </a:r>
            <a:endParaRPr dirty="0">
              <a:solidFill>
                <a:schemeClr val="accent3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67771F-6479-6ADA-F3C1-ECD29C27D768}"/>
              </a:ext>
            </a:extLst>
          </p:cNvPr>
          <p:cNvGrpSpPr/>
          <p:nvPr/>
        </p:nvGrpSpPr>
        <p:grpSpPr>
          <a:xfrm>
            <a:off x="3471416" y="3029369"/>
            <a:ext cx="5346701" cy="3287096"/>
            <a:chOff x="3533799" y="2226362"/>
            <a:chExt cx="5346701" cy="3287096"/>
          </a:xfrm>
        </p:grpSpPr>
        <p:sp>
          <p:nvSpPr>
            <p:cNvPr id="241" name="Circle"/>
            <p:cNvSpPr/>
            <p:nvPr/>
          </p:nvSpPr>
          <p:spPr>
            <a:xfrm>
              <a:off x="4900244" y="2226362"/>
              <a:ext cx="2613810" cy="2613811"/>
            </a:xfrm>
            <a:prstGeom prst="ellipse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48" name="Strengths"/>
            <p:cNvSpPr/>
            <p:nvPr/>
          </p:nvSpPr>
          <p:spPr>
            <a:xfrm>
              <a:off x="3533799" y="5065643"/>
              <a:ext cx="5346701" cy="44781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sz="3600" dirty="0">
                  <a:solidFill>
                    <a:schemeClr val="accent2"/>
                  </a:solidFill>
                </a:rPr>
                <a:t>Strengths</a:t>
              </a:r>
            </a:p>
          </p:txBody>
        </p:sp>
        <p:sp>
          <p:nvSpPr>
            <p:cNvPr id="249" name="S"/>
            <p:cNvSpPr/>
            <p:nvPr/>
          </p:nvSpPr>
          <p:spPr>
            <a:xfrm>
              <a:off x="5667399" y="2456050"/>
              <a:ext cx="1079501" cy="215443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 defTabSz="1155700">
                <a:lnSpc>
                  <a:spcPct val="80000"/>
                </a:lnSpc>
                <a:defRPr sz="14000" b="1">
                  <a:solidFill>
                    <a:srgbClr val="DD4242"/>
                  </a:solidFill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dirty="0">
                  <a:solidFill>
                    <a:schemeClr val="accent2"/>
                  </a:solidFill>
                </a:rPr>
                <a:t>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732FD7C-F876-880D-9DA6-B8FB78F950B2}"/>
              </a:ext>
            </a:extLst>
          </p:cNvPr>
          <p:cNvGrpSpPr/>
          <p:nvPr/>
        </p:nvGrpSpPr>
        <p:grpSpPr>
          <a:xfrm>
            <a:off x="15368478" y="3029369"/>
            <a:ext cx="5346701" cy="3340187"/>
            <a:chOff x="15357499" y="2226362"/>
            <a:chExt cx="5346701" cy="3340187"/>
          </a:xfrm>
        </p:grpSpPr>
        <p:sp>
          <p:nvSpPr>
            <p:cNvPr id="240" name="Circle"/>
            <p:cNvSpPr/>
            <p:nvPr/>
          </p:nvSpPr>
          <p:spPr>
            <a:xfrm>
              <a:off x="16723945" y="2226362"/>
              <a:ext cx="2613810" cy="2613811"/>
            </a:xfrm>
            <a:prstGeom prst="ellipse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54" name="Weaknesses"/>
            <p:cNvSpPr/>
            <p:nvPr/>
          </p:nvSpPr>
          <p:spPr>
            <a:xfrm>
              <a:off x="15357499" y="5012551"/>
              <a:ext cx="5346701" cy="55399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sz="3600" dirty="0">
                  <a:solidFill>
                    <a:schemeClr val="accent2"/>
                  </a:solidFill>
                </a:rPr>
                <a:t>Weaknesses</a:t>
              </a:r>
            </a:p>
          </p:txBody>
        </p:sp>
        <p:sp>
          <p:nvSpPr>
            <p:cNvPr id="255" name="W"/>
            <p:cNvSpPr/>
            <p:nvPr/>
          </p:nvSpPr>
          <p:spPr>
            <a:xfrm>
              <a:off x="17078349" y="2532250"/>
              <a:ext cx="1905001" cy="215443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 defTabSz="1155700">
                <a:lnSpc>
                  <a:spcPct val="80000"/>
                </a:lnSpc>
                <a:defRPr sz="14000" b="1">
                  <a:solidFill>
                    <a:srgbClr val="DD4242"/>
                  </a:solidFill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>
                  <a:solidFill>
                    <a:schemeClr val="accent2"/>
                  </a:solidFill>
                </a:rPr>
                <a:t>W</a:t>
              </a:r>
            </a:p>
          </p:txBody>
        </p:sp>
      </p:grpSp>
      <p:sp>
        <p:nvSpPr>
          <p:cNvPr id="256" name="Line"/>
          <p:cNvSpPr/>
          <p:nvPr/>
        </p:nvSpPr>
        <p:spPr>
          <a:xfrm>
            <a:off x="17744753" y="7022603"/>
            <a:ext cx="594150" cy="1"/>
          </a:xfrm>
          <a:prstGeom prst="line">
            <a:avLst/>
          </a:prstGeom>
          <a:ln w="1270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57" name="Line"/>
          <p:cNvSpPr/>
          <p:nvPr/>
        </p:nvSpPr>
        <p:spPr>
          <a:xfrm>
            <a:off x="5847691" y="7022603"/>
            <a:ext cx="594150" cy="1"/>
          </a:xfrm>
          <a:prstGeom prst="line">
            <a:avLst/>
          </a:prstGeom>
          <a:ln w="1270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58" name="Line"/>
          <p:cNvSpPr/>
          <p:nvPr/>
        </p:nvSpPr>
        <p:spPr>
          <a:xfrm flipH="1">
            <a:off x="12189964" y="2110624"/>
            <a:ext cx="0" cy="10833329"/>
          </a:xfrm>
          <a:prstGeom prst="line">
            <a:avLst/>
          </a:prstGeom>
          <a:ln w="25400">
            <a:solidFill>
              <a:schemeClr val="accent4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/>
            </a:pP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D924A7-18A6-4BBC-980B-196D8EA89E45}"/>
              </a:ext>
            </a:extLst>
          </p:cNvPr>
          <p:cNvGrpSpPr/>
          <p:nvPr/>
        </p:nvGrpSpPr>
        <p:grpSpPr>
          <a:xfrm>
            <a:off x="978837" y="574036"/>
            <a:ext cx="12041856" cy="1882014"/>
            <a:chOff x="1965812" y="3928900"/>
            <a:chExt cx="10753635" cy="188201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8704917-7AC1-6575-EA67-A3C9B285FC0D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5" name="Circle">
                <a:extLst>
                  <a:ext uri="{FF2B5EF4-FFF2-40B4-BE49-F238E27FC236}">
                    <a16:creationId xmlns:a16="http://schemas.microsoft.com/office/drawing/2014/main" id="{B7A520DD-33F4-58E2-458D-9292C85510CE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6" name="Circle">
                <a:extLst>
                  <a:ext uri="{FF2B5EF4-FFF2-40B4-BE49-F238E27FC236}">
                    <a16:creationId xmlns:a16="http://schemas.microsoft.com/office/drawing/2014/main" id="{C6D69131-4438-F49A-5C2E-F5538C240916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7" name="1">
                <a:extLst>
                  <a:ext uri="{FF2B5EF4-FFF2-40B4-BE49-F238E27FC236}">
                    <a16:creationId xmlns:a16="http://schemas.microsoft.com/office/drawing/2014/main" id="{735A62C0-6D2B-9AA6-BB4F-6106EA3BD3BF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5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" name="Coupons">
              <a:extLst>
                <a:ext uri="{FF2B5EF4-FFF2-40B4-BE49-F238E27FC236}">
                  <a16:creationId xmlns:a16="http://schemas.microsoft.com/office/drawing/2014/main" id="{057D9259-32BC-782B-F612-D27C21EA99C6}"/>
                </a:ext>
              </a:extLst>
            </p:cNvPr>
            <p:cNvSpPr/>
            <p:nvPr/>
          </p:nvSpPr>
          <p:spPr>
            <a:xfrm>
              <a:off x="4045351" y="4246659"/>
              <a:ext cx="8674096" cy="14850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SWOT Analysis - Examples</a:t>
              </a:r>
            </a:p>
          </p:txBody>
        </p:sp>
      </p:grpSp>
      <p:sp>
        <p:nvSpPr>
          <p:cNvPr id="10" name="Human resources">
            <a:extLst>
              <a:ext uri="{FF2B5EF4-FFF2-40B4-BE49-F238E27FC236}">
                <a16:creationId xmlns:a16="http://schemas.microsoft.com/office/drawing/2014/main" id="{ABB065AC-EE4A-127B-7D69-DC04C430F460}"/>
              </a:ext>
            </a:extLst>
          </p:cNvPr>
          <p:cNvSpPr/>
          <p:nvPr/>
        </p:nvSpPr>
        <p:spPr>
          <a:xfrm>
            <a:off x="15298541" y="7380292"/>
            <a:ext cx="5888980" cy="667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defTabSz="1155700">
              <a:defRPr sz="3000" b="1">
                <a:solidFill>
                  <a:srgbClr val="A9AFC3"/>
                </a:solidFill>
              </a:defRPr>
            </a:lvl1pPr>
          </a:lstStyle>
          <a:p>
            <a:r>
              <a:rPr lang="en-US" dirty="0">
                <a:solidFill>
                  <a:schemeClr val="accent3"/>
                </a:solidFill>
              </a:rPr>
              <a:t>INTERNAL TO THE BUSINESS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3989D4-C7ED-0541-C74E-1837051D85FC}"/>
              </a:ext>
            </a:extLst>
          </p:cNvPr>
          <p:cNvSpPr txBox="1"/>
          <p:nvPr/>
        </p:nvSpPr>
        <p:spPr>
          <a:xfrm>
            <a:off x="12239186" y="8904925"/>
            <a:ext cx="12199434" cy="178170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defTabSz="952500">
              <a:lnSpc>
                <a:spcPct val="130000"/>
              </a:lnSpc>
              <a:buClr>
                <a:srgbClr val="E9F6FA"/>
              </a:buClr>
            </a:pPr>
            <a:r>
              <a:rPr lang="en-US" sz="4400" i="1" dirty="0">
                <a:solidFill>
                  <a:schemeClr val="bg1"/>
                </a:solidFill>
                <a:uFill>
                  <a:solidFill>
                    <a:srgbClr val="323C40"/>
                  </a:solidFill>
                </a:uFill>
                <a:latin typeface="Calibri" panose="020F0502020204030204" pitchFamily="34" charset="0"/>
                <a:cs typeface="Times New Roman" panose="02020603050405020304" pitchFamily="18" charset="0"/>
              </a:rPr>
              <a:t>Our New Product Development “time to market” lags competition by 75%.</a:t>
            </a:r>
          </a:p>
        </p:txBody>
      </p:sp>
    </p:spTree>
    <p:extLst>
      <p:ext uri="{BB962C8B-B14F-4D97-AF65-F5344CB8AC3E}">
        <p14:creationId xmlns:p14="http://schemas.microsoft.com/office/powerpoint/2010/main" val="240859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FD049525-53C2-2D53-F82C-36020BB32380}"/>
              </a:ext>
            </a:extLst>
          </p:cNvPr>
          <p:cNvGrpSpPr/>
          <p:nvPr/>
        </p:nvGrpSpPr>
        <p:grpSpPr>
          <a:xfrm>
            <a:off x="3529161" y="3341487"/>
            <a:ext cx="5346701" cy="3365587"/>
            <a:chOff x="3529161" y="2226362"/>
            <a:chExt cx="5346701" cy="3365587"/>
          </a:xfrm>
        </p:grpSpPr>
        <p:sp>
          <p:nvSpPr>
            <p:cNvPr id="266" name="Opportunities"/>
            <p:cNvSpPr/>
            <p:nvPr/>
          </p:nvSpPr>
          <p:spPr>
            <a:xfrm>
              <a:off x="3529161" y="5037951"/>
              <a:ext cx="5346701" cy="55399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sz="3600" dirty="0">
                  <a:solidFill>
                    <a:schemeClr val="accent2"/>
                  </a:solidFill>
                </a:rPr>
                <a:t>Opportunities</a:t>
              </a:r>
            </a:p>
          </p:txBody>
        </p:sp>
        <p:sp>
          <p:nvSpPr>
            <p:cNvPr id="273" name="Circle"/>
            <p:cNvSpPr/>
            <p:nvPr/>
          </p:nvSpPr>
          <p:spPr>
            <a:xfrm>
              <a:off x="4900244" y="2226362"/>
              <a:ext cx="2613810" cy="2613811"/>
            </a:xfrm>
            <a:prstGeom prst="ellipse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74" name="O"/>
            <p:cNvSpPr/>
            <p:nvPr/>
          </p:nvSpPr>
          <p:spPr>
            <a:xfrm>
              <a:off x="5534445" y="2456050"/>
              <a:ext cx="1345408" cy="215443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 defTabSz="1155700">
                <a:lnSpc>
                  <a:spcPct val="80000"/>
                </a:lnSpc>
                <a:defRPr sz="14000" b="1">
                  <a:solidFill>
                    <a:srgbClr val="DD4242"/>
                  </a:solidFill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dirty="0">
                  <a:solidFill>
                    <a:schemeClr val="accent2"/>
                  </a:solidFill>
                </a:rPr>
                <a:t>O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D0180C0-4610-921D-D888-8FF1112171E5}"/>
              </a:ext>
            </a:extLst>
          </p:cNvPr>
          <p:cNvGrpSpPr/>
          <p:nvPr/>
        </p:nvGrpSpPr>
        <p:grpSpPr>
          <a:xfrm>
            <a:off x="15352861" y="3341487"/>
            <a:ext cx="5346701" cy="3365587"/>
            <a:chOff x="15352861" y="2226362"/>
            <a:chExt cx="5346701" cy="3365587"/>
          </a:xfrm>
        </p:grpSpPr>
        <p:sp>
          <p:nvSpPr>
            <p:cNvPr id="271" name="Threats"/>
            <p:cNvSpPr/>
            <p:nvPr/>
          </p:nvSpPr>
          <p:spPr>
            <a:xfrm>
              <a:off x="15352861" y="5037951"/>
              <a:ext cx="5346701" cy="55399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sz="3600" dirty="0">
                  <a:solidFill>
                    <a:schemeClr val="accent2"/>
                  </a:solidFill>
                </a:rPr>
                <a:t>Threats</a:t>
              </a:r>
            </a:p>
          </p:txBody>
        </p:sp>
        <p:sp>
          <p:nvSpPr>
            <p:cNvPr id="272" name="Circle"/>
            <p:cNvSpPr/>
            <p:nvPr/>
          </p:nvSpPr>
          <p:spPr>
            <a:xfrm>
              <a:off x="16723945" y="2226362"/>
              <a:ext cx="2613810" cy="2613811"/>
            </a:xfrm>
            <a:prstGeom prst="ellipse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lIns="50800" tIns="50800" rIns="50800" bIns="50800" anchor="ctr"/>
            <a:lstStyle/>
            <a:p>
              <a:pPr defTabSz="584200">
                <a:defRPr sz="4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275" name="T"/>
            <p:cNvSpPr/>
            <p:nvPr/>
          </p:nvSpPr>
          <p:spPr>
            <a:xfrm>
              <a:off x="17302286" y="2532250"/>
              <a:ext cx="1457128" cy="215443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lIns="0" tIns="0" rIns="0" bIns="0" anchor="ctr">
              <a:spAutoFit/>
            </a:bodyPr>
            <a:lstStyle>
              <a:lvl1pPr defTabSz="1155700">
                <a:lnSpc>
                  <a:spcPct val="80000"/>
                </a:lnSpc>
                <a:defRPr sz="14000" b="1">
                  <a:solidFill>
                    <a:srgbClr val="DD4242"/>
                  </a:solidFill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>
                  <a:solidFill>
                    <a:schemeClr val="accent2"/>
                  </a:solidFill>
                </a:rPr>
                <a:t>T</a:t>
              </a:r>
            </a:p>
          </p:txBody>
        </p:sp>
      </p:grpSp>
      <p:sp>
        <p:nvSpPr>
          <p:cNvPr id="276" name="Line"/>
          <p:cNvSpPr/>
          <p:nvPr/>
        </p:nvSpPr>
        <p:spPr>
          <a:xfrm flipH="1">
            <a:off x="12261865" y="1582470"/>
            <a:ext cx="2" cy="10948322"/>
          </a:xfrm>
          <a:prstGeom prst="line">
            <a:avLst/>
          </a:prstGeom>
          <a:ln w="25400">
            <a:solidFill>
              <a:schemeClr val="accent4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/>
            </a:pPr>
            <a:endParaRPr/>
          </a:p>
        </p:txBody>
      </p:sp>
      <p:sp>
        <p:nvSpPr>
          <p:cNvPr id="277" name="Line"/>
          <p:cNvSpPr/>
          <p:nvPr/>
        </p:nvSpPr>
        <p:spPr>
          <a:xfrm>
            <a:off x="17733774" y="7334721"/>
            <a:ext cx="594150" cy="1"/>
          </a:xfrm>
          <a:prstGeom prst="line">
            <a:avLst/>
          </a:prstGeom>
          <a:ln w="1270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278" name="Line"/>
          <p:cNvSpPr/>
          <p:nvPr/>
        </p:nvSpPr>
        <p:spPr>
          <a:xfrm>
            <a:off x="5910074" y="7334721"/>
            <a:ext cx="594150" cy="1"/>
          </a:xfrm>
          <a:prstGeom prst="line">
            <a:avLst/>
          </a:prstGeom>
          <a:ln w="1270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8A2615F-6642-6F66-E39E-C512C9C34D4C}"/>
              </a:ext>
            </a:extLst>
          </p:cNvPr>
          <p:cNvGrpSpPr/>
          <p:nvPr/>
        </p:nvGrpSpPr>
        <p:grpSpPr>
          <a:xfrm>
            <a:off x="1049800" y="490413"/>
            <a:ext cx="11252427" cy="1882014"/>
            <a:chOff x="1965812" y="3928900"/>
            <a:chExt cx="11252427" cy="188201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C88B12B-E00E-DC7A-3E99-2509C96CC2D4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5" name="Circle">
                <a:extLst>
                  <a:ext uri="{FF2B5EF4-FFF2-40B4-BE49-F238E27FC236}">
                    <a16:creationId xmlns:a16="http://schemas.microsoft.com/office/drawing/2014/main" id="{C5E8C8F7-ED1A-D241-A029-D7FC9DA28ED9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6" name="Circle">
                <a:extLst>
                  <a:ext uri="{FF2B5EF4-FFF2-40B4-BE49-F238E27FC236}">
                    <a16:creationId xmlns:a16="http://schemas.microsoft.com/office/drawing/2014/main" id="{F329A73F-02A6-2B48-3498-6C485DED7F14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7" name="1">
                <a:extLst>
                  <a:ext uri="{FF2B5EF4-FFF2-40B4-BE49-F238E27FC236}">
                    <a16:creationId xmlns:a16="http://schemas.microsoft.com/office/drawing/2014/main" id="{4C7D02FD-9402-E6E6-2CA4-5DE473304359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5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" name="Coupons">
              <a:extLst>
                <a:ext uri="{FF2B5EF4-FFF2-40B4-BE49-F238E27FC236}">
                  <a16:creationId xmlns:a16="http://schemas.microsoft.com/office/drawing/2014/main" id="{C29E9D25-44AD-5A63-AF08-13FFC80411B5}"/>
                </a:ext>
              </a:extLst>
            </p:cNvPr>
            <p:cNvSpPr/>
            <p:nvPr/>
          </p:nvSpPr>
          <p:spPr>
            <a:xfrm>
              <a:off x="4045350" y="4615991"/>
              <a:ext cx="9172889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SWOT Analysis - Examples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5FE68FD-6C70-0286-7499-484171AFC2F8}"/>
              </a:ext>
            </a:extLst>
          </p:cNvPr>
          <p:cNvSpPr txBox="1"/>
          <p:nvPr/>
        </p:nvSpPr>
        <p:spPr>
          <a:xfrm>
            <a:off x="102794" y="9574308"/>
            <a:ext cx="12199434" cy="28007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marR="0">
              <a:spcBef>
                <a:spcPts val="0"/>
              </a:spcBef>
              <a:spcAft>
                <a:spcPts val="0"/>
              </a:spcAft>
            </a:pPr>
            <a:r>
              <a:rPr lang="en-US" sz="4400" i="1" dirty="0">
                <a:solidFill>
                  <a:schemeClr val="bg1"/>
                </a:solidFill>
                <a:uFill>
                  <a:solidFill>
                    <a:srgbClr val="323C40"/>
                  </a:solidFill>
                </a:uFill>
                <a:latin typeface="Calibri" panose="020F0502020204030204" pitchFamily="34" charset="0"/>
                <a:cs typeface="Times New Roman" panose="02020603050405020304" pitchFamily="18" charset="0"/>
              </a:rPr>
              <a:t>Espresso making is intimidating for the home user, and simple, less intimidating, innovative, proprietary in-home espresso products could revolutionize the home-based espresso market.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03A821-76A3-A077-175D-CF3402F18F2E}"/>
              </a:ext>
            </a:extLst>
          </p:cNvPr>
          <p:cNvSpPr txBox="1"/>
          <p:nvPr/>
        </p:nvSpPr>
        <p:spPr>
          <a:xfrm>
            <a:off x="12081772" y="9574308"/>
            <a:ext cx="12199434" cy="21236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marR="0">
              <a:spcBef>
                <a:spcPts val="0"/>
              </a:spcBef>
              <a:spcAft>
                <a:spcPts val="0"/>
              </a:spcAft>
            </a:pPr>
            <a:r>
              <a:rPr lang="en-US" sz="4400" i="1" dirty="0">
                <a:solidFill>
                  <a:schemeClr val="bg1"/>
                </a:solidFill>
                <a:uFill>
                  <a:solidFill>
                    <a:srgbClr val="323C40"/>
                  </a:solidFill>
                </a:uFill>
                <a:latin typeface="Calibri" panose="020F0502020204030204" pitchFamily="34" charset="0"/>
                <a:cs typeface="Times New Roman" panose="02020603050405020304" pitchFamily="18" charset="0"/>
              </a:rPr>
              <a:t>The conversion from fossil fueled vehicles to electric automobiles will challenge our traditional gas-powered vehicle product platform.</a:t>
            </a:r>
          </a:p>
        </p:txBody>
      </p:sp>
      <p:sp>
        <p:nvSpPr>
          <p:cNvPr id="14" name="Human resources">
            <a:extLst>
              <a:ext uri="{FF2B5EF4-FFF2-40B4-BE49-F238E27FC236}">
                <a16:creationId xmlns:a16="http://schemas.microsoft.com/office/drawing/2014/main" id="{2E68C6EC-DC98-67F4-9F23-31F2BE92F772}"/>
              </a:ext>
            </a:extLst>
          </p:cNvPr>
          <p:cNvSpPr/>
          <p:nvPr/>
        </p:nvSpPr>
        <p:spPr>
          <a:xfrm>
            <a:off x="3412626" y="8045997"/>
            <a:ext cx="5888980" cy="667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defTabSz="1155700">
              <a:defRPr sz="3000" b="1">
                <a:solidFill>
                  <a:srgbClr val="A9AFC3"/>
                </a:solidFill>
              </a:defRPr>
            </a:lvl1pPr>
          </a:lstStyle>
          <a:p>
            <a:r>
              <a:rPr lang="en-US" dirty="0">
                <a:solidFill>
                  <a:schemeClr val="accent3"/>
                </a:solidFill>
              </a:rPr>
              <a:t>EXTERNAL TO THE BUSINESS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15" name="Human resources">
            <a:extLst>
              <a:ext uri="{FF2B5EF4-FFF2-40B4-BE49-F238E27FC236}">
                <a16:creationId xmlns:a16="http://schemas.microsoft.com/office/drawing/2014/main" id="{ACDEA6D3-4B84-4BD0-D3D2-298BD9530103}"/>
              </a:ext>
            </a:extLst>
          </p:cNvPr>
          <p:cNvSpPr/>
          <p:nvPr/>
        </p:nvSpPr>
        <p:spPr>
          <a:xfrm>
            <a:off x="15236999" y="7973125"/>
            <a:ext cx="5888980" cy="6679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defTabSz="1155700">
              <a:defRPr sz="3000" b="1">
                <a:solidFill>
                  <a:srgbClr val="A9AFC3"/>
                </a:solidFill>
              </a:defRPr>
            </a:lvl1pPr>
          </a:lstStyle>
          <a:p>
            <a:r>
              <a:rPr lang="en-US" dirty="0">
                <a:solidFill>
                  <a:schemeClr val="accent3"/>
                </a:solidFill>
              </a:rPr>
              <a:t>EXTERNAL TO THE BUSINESS</a:t>
            </a:r>
            <a:endParaRPr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4582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87ECADA-845D-726E-B715-29A021674C61}"/>
              </a:ext>
            </a:extLst>
          </p:cNvPr>
          <p:cNvGrpSpPr/>
          <p:nvPr/>
        </p:nvGrpSpPr>
        <p:grpSpPr>
          <a:xfrm>
            <a:off x="960136" y="828816"/>
            <a:ext cx="9821600" cy="1882014"/>
            <a:chOff x="1965812" y="3928900"/>
            <a:chExt cx="8873172" cy="188201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AC17DFC2-590E-14BB-B140-CA56586A512E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17" name="Circle">
                <a:extLst>
                  <a:ext uri="{FF2B5EF4-FFF2-40B4-BE49-F238E27FC236}">
                    <a16:creationId xmlns:a16="http://schemas.microsoft.com/office/drawing/2014/main" id="{01911162-87D2-88AD-A9E8-3FB40625D66E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8" name="Circle">
                <a:extLst>
                  <a:ext uri="{FF2B5EF4-FFF2-40B4-BE49-F238E27FC236}">
                    <a16:creationId xmlns:a16="http://schemas.microsoft.com/office/drawing/2014/main" id="{A81B3027-C4D4-8F38-7A43-789402EAC296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9" name="1">
                <a:extLst>
                  <a:ext uri="{FF2B5EF4-FFF2-40B4-BE49-F238E27FC236}">
                    <a16:creationId xmlns:a16="http://schemas.microsoft.com/office/drawing/2014/main" id="{40420F91-C20F-1690-C9C2-C25D81F2A29F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6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6" name="Coupons">
              <a:extLst>
                <a:ext uri="{FF2B5EF4-FFF2-40B4-BE49-F238E27FC236}">
                  <a16:creationId xmlns:a16="http://schemas.microsoft.com/office/drawing/2014/main" id="{B1815B39-0F53-7E5F-3751-DB99CA5BF5C0}"/>
                </a:ext>
              </a:extLst>
            </p:cNvPr>
            <p:cNvSpPr/>
            <p:nvPr/>
          </p:nvSpPr>
          <p:spPr>
            <a:xfrm>
              <a:off x="4045351" y="4246659"/>
              <a:ext cx="6793633" cy="14850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3 - Year Sales History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DB1630B9-02FA-5A21-FC52-5BEFD795F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9690" y="2889799"/>
            <a:ext cx="17044620" cy="793640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6A5BDAE-F807-8C06-A0AD-15B81565E212}"/>
              </a:ext>
            </a:extLst>
          </p:cNvPr>
          <p:cNvSpPr txBox="1"/>
          <p:nvPr/>
        </p:nvSpPr>
        <p:spPr>
          <a:xfrm>
            <a:off x="4209603" y="11866362"/>
            <a:ext cx="12199434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marR="0" algn="l">
              <a:spcBef>
                <a:spcPts val="0"/>
              </a:spcBef>
              <a:spcAft>
                <a:spcPts val="0"/>
              </a:spcAft>
            </a:pPr>
            <a:r>
              <a:rPr lang="en-US" sz="4400" b="1" dirty="0">
                <a:solidFill>
                  <a:schemeClr val="bg1"/>
                </a:solidFill>
                <a:uFill>
                  <a:solidFill>
                    <a:srgbClr val="323C40"/>
                  </a:solidFill>
                </a:uFill>
                <a:latin typeface="Calibri" panose="020F0502020204030204" pitchFamily="34" charset="0"/>
                <a:cs typeface="Times New Roman" panose="02020603050405020304" pitchFamily="18" charset="0"/>
              </a:rPr>
              <a:t>Opportunistic</a:t>
            </a:r>
            <a:r>
              <a:rPr lang="en-US" sz="4400" b="1" u="sng" dirty="0">
                <a:solidFill>
                  <a:schemeClr val="bg1"/>
                </a:solidFill>
                <a:uFill>
                  <a:solidFill>
                    <a:srgbClr val="323C40"/>
                  </a:solidFill>
                </a:uFill>
                <a:latin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4400" i="1" dirty="0">
                <a:solidFill>
                  <a:schemeClr val="bg1"/>
                </a:solidFill>
                <a:uFill>
                  <a:solidFill>
                    <a:srgbClr val="323C40"/>
                  </a:solidFill>
                </a:uFill>
                <a:latin typeface="Calibri" panose="020F0502020204030204" pitchFamily="34" charset="0"/>
                <a:cs typeface="Times New Roman" panose="02020603050405020304" pitchFamily="18" charset="0"/>
              </a:rPr>
              <a:t>Early stage products or markets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14F78C9-DF26-2CE0-69C1-9F064E645469}"/>
              </a:ext>
            </a:extLst>
          </p:cNvPr>
          <p:cNvSpPr txBox="1"/>
          <p:nvPr/>
        </p:nvSpPr>
        <p:spPr>
          <a:xfrm>
            <a:off x="4209603" y="11163299"/>
            <a:ext cx="17044619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marR="0" algn="l">
              <a:spcBef>
                <a:spcPts val="0"/>
              </a:spcBef>
              <a:spcAft>
                <a:spcPts val="0"/>
              </a:spcAft>
            </a:pPr>
            <a:r>
              <a:rPr lang="en-US" sz="4400" b="1" dirty="0">
                <a:solidFill>
                  <a:schemeClr val="bg1"/>
                </a:solidFill>
                <a:uFill>
                  <a:solidFill>
                    <a:srgbClr val="323C40"/>
                  </a:solidFill>
                </a:uFill>
                <a:latin typeface="Calibri" panose="020F0502020204030204" pitchFamily="34" charset="0"/>
                <a:cs typeface="Times New Roman" panose="02020603050405020304" pitchFamily="18" charset="0"/>
              </a:rPr>
              <a:t>Strategic</a:t>
            </a:r>
            <a:r>
              <a:rPr lang="en-US" sz="4400" b="1" u="sng" dirty="0">
                <a:solidFill>
                  <a:schemeClr val="bg1"/>
                </a:solidFill>
                <a:uFill>
                  <a:solidFill>
                    <a:srgbClr val="323C40"/>
                  </a:solidFill>
                </a:uFill>
                <a:latin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4400" i="1" dirty="0">
                <a:solidFill>
                  <a:schemeClr val="bg1"/>
                </a:solidFill>
                <a:uFill>
                  <a:solidFill>
                    <a:srgbClr val="323C40"/>
                  </a:solidFill>
                </a:uFill>
                <a:latin typeface="Calibri" panose="020F0502020204030204" pitchFamily="34" charset="0"/>
                <a:cs typeface="Times New Roman" panose="02020603050405020304" pitchFamily="18" charset="0"/>
              </a:rPr>
              <a:t>Products that will drive sustainable, profitable share-growth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329BD65-8D30-17B3-CE25-3206F7B17E70}"/>
              </a:ext>
            </a:extLst>
          </p:cNvPr>
          <p:cNvSpPr txBox="1"/>
          <p:nvPr/>
        </p:nvSpPr>
        <p:spPr>
          <a:xfrm>
            <a:off x="4209603" y="12569425"/>
            <a:ext cx="12199434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171450" marR="0" algn="l">
              <a:spcBef>
                <a:spcPts val="0"/>
              </a:spcBef>
              <a:spcAft>
                <a:spcPts val="0"/>
              </a:spcAft>
            </a:pPr>
            <a:r>
              <a:rPr lang="en-US" sz="4400" b="1" dirty="0">
                <a:solidFill>
                  <a:schemeClr val="bg1"/>
                </a:solidFill>
                <a:uFill>
                  <a:solidFill>
                    <a:srgbClr val="323C40"/>
                  </a:solidFill>
                </a:uFill>
                <a:latin typeface="Calibri" panose="020F0502020204030204" pitchFamily="34" charset="0"/>
                <a:cs typeface="Times New Roman" panose="02020603050405020304" pitchFamily="18" charset="0"/>
              </a:rPr>
              <a:t>Sustain</a:t>
            </a:r>
            <a:r>
              <a:rPr lang="en-US" sz="4400" b="1" u="sng" dirty="0">
                <a:solidFill>
                  <a:schemeClr val="bg1"/>
                </a:solidFill>
                <a:uFill>
                  <a:solidFill>
                    <a:srgbClr val="323C40"/>
                  </a:solidFill>
                </a:uFill>
                <a:latin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4400" i="1" dirty="0">
                <a:solidFill>
                  <a:schemeClr val="bg1"/>
                </a:solidFill>
                <a:uFill>
                  <a:solidFill>
                    <a:srgbClr val="323C40"/>
                  </a:solidFill>
                </a:uFill>
                <a:latin typeface="Calibri" panose="020F0502020204030204" pitchFamily="34" charset="0"/>
                <a:cs typeface="Times New Roman" panose="02020603050405020304" pitchFamily="18" charset="0"/>
              </a:rPr>
              <a:t>Legacy products and/or markets</a:t>
            </a:r>
          </a:p>
        </p:txBody>
      </p:sp>
    </p:spTree>
    <p:extLst>
      <p:ext uri="{BB962C8B-B14F-4D97-AF65-F5344CB8AC3E}">
        <p14:creationId xmlns:p14="http://schemas.microsoft.com/office/powerpoint/2010/main" val="17512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2458C51-D53F-218D-5084-596A07F6E9B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alphaModFix amt="59000"/>
          </a:blip>
          <a:stretch>
            <a:fillRect/>
          </a:stretch>
        </p:blipFill>
        <p:spPr>
          <a:xfrm>
            <a:off x="0" y="0"/>
            <a:ext cx="24384000" cy="13716001"/>
          </a:xfrm>
          <a:prstGeom prst="rect">
            <a:avLst/>
          </a:prstGeom>
        </p:spPr>
      </p:pic>
      <p:sp>
        <p:nvSpPr>
          <p:cNvPr id="457" name="Coupons"/>
          <p:cNvSpPr/>
          <p:nvPr/>
        </p:nvSpPr>
        <p:spPr>
          <a:xfrm>
            <a:off x="1740623" y="1983644"/>
            <a:ext cx="6021649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2" name="Coupons">
            <a:extLst>
              <a:ext uri="{FF2B5EF4-FFF2-40B4-BE49-F238E27FC236}">
                <a16:creationId xmlns:a16="http://schemas.microsoft.com/office/drawing/2014/main" id="{59037309-8DAC-2D7B-696E-703319CA6A8E}"/>
              </a:ext>
            </a:extLst>
          </p:cNvPr>
          <p:cNvSpPr/>
          <p:nvPr/>
        </p:nvSpPr>
        <p:spPr>
          <a:xfrm>
            <a:off x="1644946" y="3193692"/>
            <a:ext cx="21599294" cy="10348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</a:rPr>
              <a:t>Key Questions to Consider: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Where are share growth opportunities?</a:t>
            </a:r>
          </a:p>
          <a:p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What is the likelihood of Opportunistic Products revenue projection?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Where are growth opportunities to take market share?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Do you understand why key product categories have declined?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Did price increases distort your true growth picture?</a:t>
            </a:r>
          </a:p>
          <a:p>
            <a:endParaRPr lang="en-US" sz="60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3DFEE2C-D03B-29A0-74BB-3D7B498FFDDE}"/>
              </a:ext>
            </a:extLst>
          </p:cNvPr>
          <p:cNvGrpSpPr/>
          <p:nvPr/>
        </p:nvGrpSpPr>
        <p:grpSpPr>
          <a:xfrm>
            <a:off x="1138555" y="1037701"/>
            <a:ext cx="9821600" cy="1882014"/>
            <a:chOff x="1965812" y="3928900"/>
            <a:chExt cx="8873172" cy="188201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CD5F6FBB-FA0C-724F-2341-9A43F4F23736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10" name="Circle">
                <a:extLst>
                  <a:ext uri="{FF2B5EF4-FFF2-40B4-BE49-F238E27FC236}">
                    <a16:creationId xmlns:a16="http://schemas.microsoft.com/office/drawing/2014/main" id="{2D3CB795-CBB1-3105-3136-8C2EE1649733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1" name="Circle">
                <a:extLst>
                  <a:ext uri="{FF2B5EF4-FFF2-40B4-BE49-F238E27FC236}">
                    <a16:creationId xmlns:a16="http://schemas.microsoft.com/office/drawing/2014/main" id="{2F7AA9D0-76D5-6997-7E3E-303F49954437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2" name="1">
                <a:extLst>
                  <a:ext uri="{FF2B5EF4-FFF2-40B4-BE49-F238E27FC236}">
                    <a16:creationId xmlns:a16="http://schemas.microsoft.com/office/drawing/2014/main" id="{4E5FED2F-CD97-F7B3-AD98-83ADF452C604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6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9" name="Coupons">
              <a:extLst>
                <a:ext uri="{FF2B5EF4-FFF2-40B4-BE49-F238E27FC236}">
                  <a16:creationId xmlns:a16="http://schemas.microsoft.com/office/drawing/2014/main" id="{21D9606F-C416-2915-D0E8-2FB11E69A283}"/>
                </a:ext>
              </a:extLst>
            </p:cNvPr>
            <p:cNvSpPr/>
            <p:nvPr/>
          </p:nvSpPr>
          <p:spPr>
            <a:xfrm>
              <a:off x="4045351" y="4246659"/>
              <a:ext cx="6793633" cy="148502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3 - Year Sales History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3990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723" y="0"/>
            <a:ext cx="24383277" cy="137160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7CE61F9-17AC-B354-457F-45886DC1E677}"/>
              </a:ext>
            </a:extLst>
          </p:cNvPr>
          <p:cNvCxnSpPr>
            <a:cxnSpLocks/>
          </p:cNvCxnSpPr>
          <p:nvPr/>
        </p:nvCxnSpPr>
        <p:spPr>
          <a:xfrm>
            <a:off x="6072696" y="8708608"/>
            <a:ext cx="8569042" cy="0"/>
          </a:xfrm>
          <a:prstGeom prst="straightConnector1">
            <a:avLst/>
          </a:prstGeom>
          <a:ln w="1174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2">
            <a:extLst>
              <a:ext uri="{FF2B5EF4-FFF2-40B4-BE49-F238E27FC236}">
                <a16:creationId xmlns:a16="http://schemas.microsoft.com/office/drawing/2014/main" id="{45FF6FBA-2740-26C1-02EC-A5792F7FBC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1420" y="3882197"/>
            <a:ext cx="1808033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182880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i="1" kern="1200" dirty="0">
                <a:solidFill>
                  <a:srgbClr val="FF0000"/>
                </a:solidFill>
                <a:latin typeface="Open Sans"/>
              </a:rPr>
              <a:t>Strategy Deployment is a Means to Make Your Strategic Plan a Reality</a:t>
            </a:r>
            <a:endParaRPr lang="en-US" altLang="en-US" sz="4000" b="0" i="1" kern="1200" dirty="0">
              <a:solidFill>
                <a:srgbClr val="FF0000"/>
              </a:solidFill>
              <a:latin typeface="Open Sans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704D7B8-2098-806A-9541-606197D2CF06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580456"/>
            <a:ext cx="21031200" cy="1313119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1pPr>
            <a:lvl2pPr marL="0" marR="0" indent="34290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2pPr>
            <a:lvl3pPr marL="0" marR="0" indent="68580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3pPr>
            <a:lvl4pPr marL="0" marR="0" indent="102870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4pPr>
            <a:lvl5pPr marL="0" marR="0" indent="137160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5pPr>
            <a:lvl6pPr marL="0" marR="0" indent="171450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6pPr>
            <a:lvl7pPr marL="0" marR="0" indent="205740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7pPr>
            <a:lvl8pPr marL="0" marR="0" indent="240030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8pPr>
            <a:lvl9pPr marL="0" marR="0" indent="2743200" algn="ctr" defTabSz="8255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6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Roboto"/>
              </a:defRPr>
            </a:lvl9pPr>
          </a:lstStyle>
          <a:p>
            <a:pPr hangingPunct="1"/>
            <a:r>
              <a:rPr lang="en-US" altLang="en-US" sz="5600" b="1" dirty="0">
                <a:solidFill>
                  <a:schemeClr val="bg1"/>
                </a:solidFill>
                <a:ea typeface="ＭＳ Ｐゴシック" panose="020B0600070205080204" pitchFamily="34" charset="-128"/>
              </a:rPr>
              <a:t>Relationship of Strategic Planning to Strategy Deployment</a:t>
            </a:r>
          </a:p>
        </p:txBody>
      </p:sp>
      <p:sp>
        <p:nvSpPr>
          <p:cNvPr id="12" name="Text Box 13">
            <a:extLst>
              <a:ext uri="{FF2B5EF4-FFF2-40B4-BE49-F238E27FC236}">
                <a16:creationId xmlns:a16="http://schemas.microsoft.com/office/drawing/2014/main" id="{BD5C6390-57F4-8D2A-4248-62388AA6E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649" y="12466113"/>
            <a:ext cx="17321160" cy="830997"/>
          </a:xfrm>
          <a:prstGeom prst="rect">
            <a:avLst/>
          </a:prstGeom>
          <a:solidFill>
            <a:srgbClr val="EAEAEA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square" anchor="b" anchorCtr="1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defTabSz="1828800" hangingPunct="1">
              <a:lnSpc>
                <a:spcPct val="100000"/>
              </a:lnSpc>
              <a:spcAft>
                <a:spcPct val="0"/>
              </a:spcAft>
              <a:buClr>
                <a:srgbClr val="014B1F"/>
              </a:buClr>
              <a:buSzPct val="75000"/>
              <a:buNone/>
            </a:pPr>
            <a:r>
              <a:rPr lang="en-US" altLang="en-US" sz="4800" b="0" i="1" kern="1200" dirty="0">
                <a:latin typeface="Open Sans"/>
              </a:rPr>
              <a:t>Do not confuse Strategic Planning with Strategy Deployment!</a:t>
            </a:r>
            <a:endParaRPr lang="en-US" altLang="en-US" sz="4800" b="0" kern="1200" dirty="0">
              <a:latin typeface="Open Sans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601FB0-D383-F003-9B9C-3D6EA5BC4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779" y="6277392"/>
            <a:ext cx="7173586" cy="43041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C2046D4-1E9C-735A-7B3F-361788C2AC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41738" y="5918793"/>
            <a:ext cx="9395056" cy="6393404"/>
          </a:xfrm>
          <a:prstGeom prst="rect">
            <a:avLst/>
          </a:prstGeom>
          <a:ln>
            <a:noFill/>
          </a:ln>
        </p:spPr>
      </p:pic>
      <p:sp>
        <p:nvSpPr>
          <p:cNvPr id="15" name="Text Box 2">
            <a:extLst>
              <a:ext uri="{FF2B5EF4-FFF2-40B4-BE49-F238E27FC236}">
                <a16:creationId xmlns:a16="http://schemas.microsoft.com/office/drawing/2014/main" id="{18FC525D-FA38-C2F3-9607-8A032AC2A7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5161109"/>
            <a:ext cx="619301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182880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kern="1200" dirty="0">
                <a:solidFill>
                  <a:schemeClr val="bg1"/>
                </a:solidFill>
                <a:latin typeface="Open Sans"/>
              </a:rPr>
              <a:t>STRATEGIC PLANNING</a:t>
            </a:r>
            <a:endParaRPr lang="en-US" altLang="en-US" sz="4000" b="0" kern="1200" dirty="0">
              <a:solidFill>
                <a:schemeClr val="bg1"/>
              </a:solidFill>
              <a:latin typeface="Open Sans"/>
            </a:endParaRPr>
          </a:p>
        </p:txBody>
      </p:sp>
      <p:sp>
        <p:nvSpPr>
          <p:cNvPr id="16" name="Text Box 2">
            <a:extLst>
              <a:ext uri="{FF2B5EF4-FFF2-40B4-BE49-F238E27FC236}">
                <a16:creationId xmlns:a16="http://schemas.microsoft.com/office/drawing/2014/main" id="{E54C68A5-79D9-C184-37FE-C8E26B209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2068" y="5161109"/>
            <a:ext cx="655850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algn="l" defTabSz="182880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kern="1200" dirty="0">
                <a:solidFill>
                  <a:schemeClr val="bg1"/>
                </a:solidFill>
                <a:latin typeface="Open Sans"/>
              </a:rPr>
              <a:t>STRATEGY DEPLOYMENT</a:t>
            </a:r>
            <a:endParaRPr lang="en-US" altLang="en-US" sz="4000" b="0" kern="1200" dirty="0">
              <a:solidFill>
                <a:schemeClr val="bg1"/>
              </a:solidFill>
              <a:latin typeface="Open Sans"/>
            </a:endParaRPr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id="{25CFD80F-6C5C-5033-42E5-E274366C9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8720" y="7304422"/>
            <a:ext cx="6193018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6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lnSpc>
                <a:spcPct val="115000"/>
              </a:lnSpc>
              <a:spcBef>
                <a:spcPct val="50000"/>
              </a:spcBef>
              <a:spcAft>
                <a:spcPct val="50000"/>
              </a:spcAft>
              <a:buClr>
                <a:srgbClr val="006699"/>
              </a:buClr>
              <a:buSzPct val="90000"/>
              <a:buFont typeface="Wingdings" pitchFamily="2" charset="2"/>
              <a:buChar char="§"/>
              <a:defRPr sz="14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>
                <a:solidFill>
                  <a:schemeClr val="tx1"/>
                </a:solidFill>
                <a:latin typeface="Book Antiqua" panose="02040602050305030304" pitchFamily="18" charset="0"/>
                <a:ea typeface="ＭＳ Ｐゴシック" panose="020B0600070205080204" pitchFamily="34" charset="-128"/>
              </a:defRPr>
            </a:lvl9pPr>
          </a:lstStyle>
          <a:p>
            <a:pPr defTabSz="182880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4000" kern="1200" dirty="0">
                <a:solidFill>
                  <a:schemeClr val="bg1"/>
                </a:solidFill>
                <a:latin typeface="Open Sans"/>
              </a:rPr>
              <a:t>STRATEGIC OBJECTIVES &amp; LIKELY STRATEGIES</a:t>
            </a:r>
            <a:endParaRPr lang="en-US" altLang="en-US" sz="4000" b="0" kern="1200" dirty="0">
              <a:solidFill>
                <a:schemeClr val="bg1"/>
              </a:solidFill>
              <a:latin typeface="Open San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4F2C7A5-3D45-3251-FB19-8FF1BCF4B4C1}"/>
              </a:ext>
            </a:extLst>
          </p:cNvPr>
          <p:cNvGrpSpPr/>
          <p:nvPr/>
        </p:nvGrpSpPr>
        <p:grpSpPr>
          <a:xfrm>
            <a:off x="815939" y="540844"/>
            <a:ext cx="21801053" cy="1882014"/>
            <a:chOff x="1965812" y="3928900"/>
            <a:chExt cx="18185742" cy="1882014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EC08534-3AC5-6FB2-254F-72A0917C0718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21" name="Circle">
                <a:extLst>
                  <a:ext uri="{FF2B5EF4-FFF2-40B4-BE49-F238E27FC236}">
                    <a16:creationId xmlns:a16="http://schemas.microsoft.com/office/drawing/2014/main" id="{20737103-9E90-402B-2EE6-370A4104C014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2" name="Circle">
                <a:extLst>
                  <a:ext uri="{FF2B5EF4-FFF2-40B4-BE49-F238E27FC236}">
                    <a16:creationId xmlns:a16="http://schemas.microsoft.com/office/drawing/2014/main" id="{660F76AF-F821-7F79-7525-D92EC3B465CD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23" name="1">
                <a:extLst>
                  <a:ext uri="{FF2B5EF4-FFF2-40B4-BE49-F238E27FC236}">
                    <a16:creationId xmlns:a16="http://schemas.microsoft.com/office/drawing/2014/main" id="{59C6EBB5-68C8-E2E8-5A72-DFBECC745AC3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7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20" name="Coupons">
              <a:extLst>
                <a:ext uri="{FF2B5EF4-FFF2-40B4-BE49-F238E27FC236}">
                  <a16:creationId xmlns:a16="http://schemas.microsoft.com/office/drawing/2014/main" id="{E5724480-1A18-7408-3DA4-44E4B728230E}"/>
                </a:ext>
              </a:extLst>
            </p:cNvPr>
            <p:cNvSpPr/>
            <p:nvPr/>
          </p:nvSpPr>
          <p:spPr>
            <a:xfrm>
              <a:off x="4045351" y="4615991"/>
              <a:ext cx="16106203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Strategic Breakthrough Objectives &amp; Likely Strategies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369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30360FE-F4E0-0696-1851-7EDE61C3D2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60800" y="0"/>
            <a:ext cx="24383277" cy="1371600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591" name="Rectangle"/>
          <p:cNvSpPr/>
          <p:nvPr/>
        </p:nvSpPr>
        <p:spPr>
          <a:xfrm>
            <a:off x="13244390" y="10632725"/>
            <a:ext cx="4598248" cy="1661121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3000" b="1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592" name="Rectangle"/>
          <p:cNvSpPr/>
          <p:nvPr/>
        </p:nvSpPr>
        <p:spPr>
          <a:xfrm>
            <a:off x="13244390" y="8715025"/>
            <a:ext cx="4598248" cy="1661121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3000" b="1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593" name="Rectangle"/>
          <p:cNvSpPr/>
          <p:nvPr/>
        </p:nvSpPr>
        <p:spPr>
          <a:xfrm>
            <a:off x="18018743" y="10632725"/>
            <a:ext cx="4598249" cy="1661121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3000" b="1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594" name="Rectangle"/>
          <p:cNvSpPr/>
          <p:nvPr/>
        </p:nvSpPr>
        <p:spPr>
          <a:xfrm>
            <a:off x="18018743" y="8682203"/>
            <a:ext cx="4598249" cy="1879697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3000" b="1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595" name="Rectangle"/>
          <p:cNvSpPr/>
          <p:nvPr/>
        </p:nvSpPr>
        <p:spPr>
          <a:xfrm>
            <a:off x="1966790" y="10632725"/>
            <a:ext cx="4598249" cy="1661121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3000" b="1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596" name="Rectangle"/>
          <p:cNvSpPr/>
          <p:nvPr/>
        </p:nvSpPr>
        <p:spPr>
          <a:xfrm>
            <a:off x="1966790" y="8715025"/>
            <a:ext cx="4598249" cy="1661121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3000" b="1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597" name="Rectangle"/>
          <p:cNvSpPr/>
          <p:nvPr/>
        </p:nvSpPr>
        <p:spPr>
          <a:xfrm>
            <a:off x="6741143" y="10632725"/>
            <a:ext cx="4598249" cy="1661121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3000" b="1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598" name="Rectangle"/>
          <p:cNvSpPr/>
          <p:nvPr/>
        </p:nvSpPr>
        <p:spPr>
          <a:xfrm>
            <a:off x="6741143" y="8700060"/>
            <a:ext cx="4598249" cy="1661122"/>
          </a:xfrm>
          <a:prstGeom prst="rect">
            <a:avLst/>
          </a:prstGeom>
          <a:solidFill>
            <a:schemeClr val="accent5"/>
          </a:solidFill>
          <a:ln w="12700">
            <a:solidFill>
              <a:srgbClr val="FF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3000" b="1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dirty="0"/>
          </a:p>
        </p:txBody>
      </p:sp>
      <p:sp>
        <p:nvSpPr>
          <p:cNvPr id="603" name="Line"/>
          <p:cNvSpPr/>
          <p:nvPr/>
        </p:nvSpPr>
        <p:spPr>
          <a:xfrm flipH="1" flipV="1">
            <a:off x="7081763" y="4607351"/>
            <a:ext cx="2697216" cy="1499863"/>
          </a:xfrm>
          <a:prstGeom prst="line">
            <a:avLst/>
          </a:prstGeom>
          <a:ln w="63500">
            <a:solidFill>
              <a:schemeClr val="bg1"/>
            </a:solidFill>
            <a:miter lim="400000"/>
            <a:headEnd type="arrow"/>
          </a:ln>
        </p:spPr>
        <p:txBody>
          <a:bodyPr lIns="50800" tIns="50800" rIns="50800" bIns="50800" anchor="ctr"/>
          <a:lstStyle/>
          <a:p>
            <a:pPr algn="l" defTabSz="457200">
              <a:defRPr sz="1200"/>
            </a:pPr>
            <a:endParaRPr/>
          </a:p>
        </p:txBody>
      </p:sp>
      <p:sp>
        <p:nvSpPr>
          <p:cNvPr id="607" name="Rectangle"/>
          <p:cNvSpPr/>
          <p:nvPr/>
        </p:nvSpPr>
        <p:spPr>
          <a:xfrm>
            <a:off x="9796829" y="6197075"/>
            <a:ext cx="4898426" cy="1499862"/>
          </a:xfrm>
          <a:prstGeom prst="rect">
            <a:avLst/>
          </a:prstGeom>
          <a:solidFill>
            <a:schemeClr val="accent5"/>
          </a:solidFill>
          <a:ln w="63500">
            <a:solidFill>
              <a:srgbClr val="FF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3000" b="1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/>
          </a:p>
        </p:txBody>
      </p:sp>
      <p:sp>
        <p:nvSpPr>
          <p:cNvPr id="608" name="Key Objectives"/>
          <p:cNvSpPr txBox="1"/>
          <p:nvPr/>
        </p:nvSpPr>
        <p:spPr>
          <a:xfrm>
            <a:off x="10376708" y="6447822"/>
            <a:ext cx="3751463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defTabSz="914400">
              <a:lnSpc>
                <a:spcPct val="80000"/>
              </a:lnSpc>
              <a:defRPr sz="3000" b="1">
                <a:solidFill>
                  <a:srgbClr val="A9AFC3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Pro Forma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Strategic Initiatives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09" name="Line"/>
          <p:cNvSpPr/>
          <p:nvPr/>
        </p:nvSpPr>
        <p:spPr>
          <a:xfrm flipV="1">
            <a:off x="20232600" y="6913631"/>
            <a:ext cx="1" cy="661997"/>
          </a:xfrm>
          <a:prstGeom prst="line">
            <a:avLst/>
          </a:prstGeom>
          <a:ln w="63500">
            <a:solidFill>
              <a:schemeClr val="bg1"/>
            </a:solidFill>
            <a:miter lim="400000"/>
            <a:headEnd type="arrow"/>
          </a:ln>
        </p:spPr>
        <p:txBody>
          <a:bodyPr lIns="50800" tIns="50800" rIns="50800" bIns="50800" anchor="ctr"/>
          <a:lstStyle/>
          <a:p>
            <a:pPr algn="l" defTabSz="457200">
              <a:defRPr sz="1200"/>
            </a:pPr>
            <a:endParaRPr/>
          </a:p>
        </p:txBody>
      </p:sp>
      <p:sp>
        <p:nvSpPr>
          <p:cNvPr id="610" name="Line"/>
          <p:cNvSpPr/>
          <p:nvPr/>
        </p:nvSpPr>
        <p:spPr>
          <a:xfrm flipH="1">
            <a:off x="14744895" y="6937874"/>
            <a:ext cx="5499800" cy="1"/>
          </a:xfrm>
          <a:prstGeom prst="line">
            <a:avLst/>
          </a:prstGeom>
          <a:ln w="63500">
            <a:solidFill>
              <a:schemeClr val="bg1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/>
            </a:pPr>
            <a:endParaRPr/>
          </a:p>
        </p:txBody>
      </p:sp>
      <p:sp>
        <p:nvSpPr>
          <p:cNvPr id="611" name="Line"/>
          <p:cNvSpPr/>
          <p:nvPr/>
        </p:nvSpPr>
        <p:spPr>
          <a:xfrm flipH="1">
            <a:off x="4171045" y="6937875"/>
            <a:ext cx="5517703" cy="0"/>
          </a:xfrm>
          <a:prstGeom prst="line">
            <a:avLst/>
          </a:prstGeom>
          <a:ln w="63500">
            <a:solidFill>
              <a:schemeClr val="bg1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/>
            </a:pPr>
            <a:endParaRPr/>
          </a:p>
        </p:txBody>
      </p:sp>
      <p:sp>
        <p:nvSpPr>
          <p:cNvPr id="612" name="Line"/>
          <p:cNvSpPr/>
          <p:nvPr/>
        </p:nvSpPr>
        <p:spPr>
          <a:xfrm flipV="1">
            <a:off x="8815300" y="6913630"/>
            <a:ext cx="0" cy="661997"/>
          </a:xfrm>
          <a:prstGeom prst="line">
            <a:avLst/>
          </a:prstGeom>
          <a:ln w="63500">
            <a:solidFill>
              <a:schemeClr val="bg1"/>
            </a:solidFill>
            <a:miter lim="400000"/>
            <a:headEnd type="arrow"/>
          </a:ln>
        </p:spPr>
        <p:txBody>
          <a:bodyPr lIns="50800" tIns="50800" rIns="50800" bIns="50800" anchor="ctr"/>
          <a:lstStyle/>
          <a:p>
            <a:pPr algn="l" defTabSz="457200">
              <a:defRPr sz="1200"/>
            </a:pPr>
            <a:endParaRPr/>
          </a:p>
        </p:txBody>
      </p:sp>
      <p:sp>
        <p:nvSpPr>
          <p:cNvPr id="613" name="Line"/>
          <p:cNvSpPr/>
          <p:nvPr/>
        </p:nvSpPr>
        <p:spPr>
          <a:xfrm flipV="1">
            <a:off x="4183142" y="6913630"/>
            <a:ext cx="0" cy="661997"/>
          </a:xfrm>
          <a:prstGeom prst="line">
            <a:avLst/>
          </a:prstGeom>
          <a:ln w="63500">
            <a:solidFill>
              <a:schemeClr val="bg1"/>
            </a:solidFill>
            <a:miter lim="400000"/>
            <a:headEnd type="arrow"/>
          </a:ln>
        </p:spPr>
        <p:txBody>
          <a:bodyPr lIns="50800" tIns="50800" rIns="50800" bIns="50800" anchor="ctr"/>
          <a:lstStyle/>
          <a:p>
            <a:pPr algn="l" defTabSz="457200">
              <a:defRPr sz="1200"/>
            </a:pPr>
            <a:endParaRPr/>
          </a:p>
        </p:txBody>
      </p:sp>
      <p:sp>
        <p:nvSpPr>
          <p:cNvPr id="614" name="Line"/>
          <p:cNvSpPr/>
          <p:nvPr/>
        </p:nvSpPr>
        <p:spPr>
          <a:xfrm flipV="1">
            <a:off x="15726422" y="6913631"/>
            <a:ext cx="0" cy="661996"/>
          </a:xfrm>
          <a:prstGeom prst="line">
            <a:avLst/>
          </a:prstGeom>
          <a:ln w="63500">
            <a:solidFill>
              <a:schemeClr val="bg1"/>
            </a:solidFill>
            <a:miter lim="400000"/>
            <a:headEnd type="arrow"/>
          </a:ln>
        </p:spPr>
        <p:txBody>
          <a:bodyPr lIns="50800" tIns="50800" rIns="50800" bIns="50800" anchor="ctr"/>
          <a:lstStyle/>
          <a:p>
            <a:pPr algn="l" defTabSz="457200">
              <a:defRPr sz="1200"/>
            </a:pPr>
            <a:endParaRPr/>
          </a:p>
        </p:txBody>
      </p:sp>
      <p:sp>
        <p:nvSpPr>
          <p:cNvPr id="615" name="Market Development"/>
          <p:cNvSpPr txBox="1"/>
          <p:nvPr/>
        </p:nvSpPr>
        <p:spPr>
          <a:xfrm>
            <a:off x="2070193" y="7876658"/>
            <a:ext cx="4429098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defTabSz="9144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sz="3600" dirty="0">
                <a:solidFill>
                  <a:srgbClr val="FF0000"/>
                </a:solidFill>
              </a:rPr>
              <a:t>Market Development</a:t>
            </a:r>
          </a:p>
        </p:txBody>
      </p:sp>
      <p:sp>
        <p:nvSpPr>
          <p:cNvPr id="616" name="Process Improvement"/>
          <p:cNvSpPr txBox="1"/>
          <p:nvPr/>
        </p:nvSpPr>
        <p:spPr>
          <a:xfrm>
            <a:off x="6707520" y="7876658"/>
            <a:ext cx="4680769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defTabSz="9144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sz="3600">
                <a:solidFill>
                  <a:srgbClr val="FF0000"/>
                </a:solidFill>
              </a:rPr>
              <a:t>Process Improvement</a:t>
            </a:r>
          </a:p>
        </p:txBody>
      </p:sp>
      <p:sp>
        <p:nvSpPr>
          <p:cNvPr id="617" name="People Development"/>
          <p:cNvSpPr txBox="1"/>
          <p:nvPr/>
        </p:nvSpPr>
        <p:spPr>
          <a:xfrm>
            <a:off x="13450902" y="7850047"/>
            <a:ext cx="4398641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defTabSz="9144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sz="3600">
                <a:solidFill>
                  <a:srgbClr val="FF0000"/>
                </a:solidFill>
              </a:rPr>
              <a:t>People Development</a:t>
            </a:r>
          </a:p>
        </p:txBody>
      </p:sp>
      <p:sp>
        <p:nvSpPr>
          <p:cNvPr id="618" name="Product Development"/>
          <p:cNvSpPr txBox="1"/>
          <p:nvPr/>
        </p:nvSpPr>
        <p:spPr>
          <a:xfrm>
            <a:off x="18119099" y="7876658"/>
            <a:ext cx="4599016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defTabSz="9144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sz="3600" dirty="0">
                <a:solidFill>
                  <a:srgbClr val="FF0000"/>
                </a:solidFill>
              </a:rPr>
              <a:t>Product Development</a:t>
            </a:r>
          </a:p>
        </p:txBody>
      </p:sp>
      <p:sp>
        <p:nvSpPr>
          <p:cNvPr id="619" name="Expand market reach"/>
          <p:cNvSpPr txBox="1"/>
          <p:nvPr/>
        </p:nvSpPr>
        <p:spPr>
          <a:xfrm>
            <a:off x="2282202" y="9074448"/>
            <a:ext cx="4017191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 defTabSz="914400">
              <a:lnSpc>
                <a:spcPct val="80000"/>
              </a:lnSpc>
              <a:defRPr sz="3000">
                <a:solidFill>
                  <a:srgbClr val="A9AFC3"/>
                </a:solidFill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Develop Market for High Speed Controllers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20" name="Revenue / Product"/>
          <p:cNvSpPr txBox="1"/>
          <p:nvPr/>
        </p:nvSpPr>
        <p:spPr>
          <a:xfrm>
            <a:off x="2358625" y="10719491"/>
            <a:ext cx="3873327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 defTabSz="914400">
              <a:lnSpc>
                <a:spcPct val="80000"/>
              </a:lnSpc>
              <a:defRPr sz="3000">
                <a:solidFill>
                  <a:srgbClr val="A9AFC3"/>
                </a:solidFill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$40 million revenue with 45% Gross Margin by 12/31/XX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22" name="Initiative"/>
          <p:cNvSpPr txBox="1"/>
          <p:nvPr/>
        </p:nvSpPr>
        <p:spPr>
          <a:xfrm rot="16200000">
            <a:off x="727544" y="9272066"/>
            <a:ext cx="1694484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defTabSz="914400">
              <a:lnSpc>
                <a:spcPct val="80000"/>
              </a:lnSpc>
              <a:defRPr sz="3000">
                <a:solidFill>
                  <a:srgbClr val="DD4242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chemeClr val="bg1"/>
                </a:solidFill>
              </a:rPr>
              <a:t>SD AIP</a:t>
            </a:r>
            <a:endParaRPr sz="3600" dirty="0">
              <a:solidFill>
                <a:schemeClr val="bg1"/>
              </a:solidFill>
            </a:endParaRPr>
          </a:p>
        </p:txBody>
      </p:sp>
      <p:sp>
        <p:nvSpPr>
          <p:cNvPr id="623" name="KPI"/>
          <p:cNvSpPr txBox="1"/>
          <p:nvPr/>
        </p:nvSpPr>
        <p:spPr>
          <a:xfrm rot="16200000">
            <a:off x="815284" y="11206049"/>
            <a:ext cx="1519004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defTabSz="914400">
              <a:lnSpc>
                <a:spcPct val="80000"/>
              </a:lnSpc>
              <a:defRPr sz="3000">
                <a:solidFill>
                  <a:srgbClr val="DD4242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3600" dirty="0">
                <a:solidFill>
                  <a:schemeClr val="bg1"/>
                </a:solidFill>
              </a:rPr>
              <a:t>SD TTI</a:t>
            </a:r>
            <a:endParaRPr sz="3600" dirty="0">
              <a:solidFill>
                <a:schemeClr val="bg1"/>
              </a:solidFill>
            </a:endParaRPr>
          </a:p>
        </p:txBody>
      </p:sp>
      <p:sp>
        <p:nvSpPr>
          <p:cNvPr id="625" name="SEO Improvement"/>
          <p:cNvSpPr txBox="1"/>
          <p:nvPr/>
        </p:nvSpPr>
        <p:spPr>
          <a:xfrm>
            <a:off x="6822416" y="10706850"/>
            <a:ext cx="4598248" cy="1487587"/>
          </a:xfrm>
          <a:prstGeom prst="rect">
            <a:avLst/>
          </a:prstGeom>
          <a:ln w="12700">
            <a:solidFill>
              <a:srgbClr val="FF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 defTabSz="914400">
              <a:lnSpc>
                <a:spcPct val="80000"/>
              </a:lnSpc>
              <a:defRPr sz="3000">
                <a:solidFill>
                  <a:srgbClr val="A9AFC3"/>
                </a:solidFill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Reduce N.P.D. Lead-Time from 48 Months to 6 Months by 12/31/XX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27" name="Add new goods"/>
          <p:cNvSpPr txBox="1"/>
          <p:nvPr/>
        </p:nvSpPr>
        <p:spPr>
          <a:xfrm>
            <a:off x="6703028" y="8827372"/>
            <a:ext cx="4868780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 defTabSz="914400">
              <a:lnSpc>
                <a:spcPct val="80000"/>
              </a:lnSpc>
              <a:defRPr sz="3000">
                <a:solidFill>
                  <a:srgbClr val="A9AFC3"/>
                </a:solidFill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Redesign New Product Development Process to Meet Customer Needs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28" name="Improve CRM system"/>
          <p:cNvSpPr txBox="1"/>
          <p:nvPr/>
        </p:nvSpPr>
        <p:spPr>
          <a:xfrm>
            <a:off x="13244390" y="8895801"/>
            <a:ext cx="4598248" cy="1487587"/>
          </a:xfrm>
          <a:prstGeom prst="rect">
            <a:avLst/>
          </a:prstGeom>
          <a:ln w="12700">
            <a:solidFill>
              <a:srgbClr val="FF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 defTabSz="914400">
              <a:lnSpc>
                <a:spcPct val="80000"/>
              </a:lnSpc>
              <a:defRPr sz="3000">
                <a:solidFill>
                  <a:srgbClr val="A9AFC3"/>
                </a:solidFill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Develop Monolithic Engineering Development Program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30" name="% Work time / month"/>
          <p:cNvSpPr txBox="1"/>
          <p:nvPr/>
        </p:nvSpPr>
        <p:spPr>
          <a:xfrm>
            <a:off x="13608823" y="10513333"/>
            <a:ext cx="3813982" cy="182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 defTabSz="914400">
              <a:lnSpc>
                <a:spcPct val="80000"/>
              </a:lnSpc>
              <a:defRPr sz="3000">
                <a:solidFill>
                  <a:srgbClr val="A9AFC3"/>
                </a:solidFill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chemeClr val="bg1"/>
                </a:solidFill>
              </a:rPr>
              <a:t>Improve Monolithic Engineering  Density from 15% to 50% by 12/31/XX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632" name="Revenue / Year"/>
          <p:cNvSpPr txBox="1"/>
          <p:nvPr/>
        </p:nvSpPr>
        <p:spPr>
          <a:xfrm>
            <a:off x="18381203" y="10650145"/>
            <a:ext cx="3873328" cy="14875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spAutoFit/>
          </a:bodyPr>
          <a:lstStyle>
            <a:lvl1pPr algn="l" defTabSz="914400">
              <a:lnSpc>
                <a:spcPct val="80000"/>
              </a:lnSpc>
              <a:defRPr sz="3000">
                <a:solidFill>
                  <a:srgbClr val="A9AFC3"/>
                </a:solidFill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Improve Vitality Index from 30% to 55% by 12/31/XX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33" name="Add new features"/>
          <p:cNvSpPr txBox="1"/>
          <p:nvPr/>
        </p:nvSpPr>
        <p:spPr>
          <a:xfrm>
            <a:off x="18018743" y="8929946"/>
            <a:ext cx="4598249" cy="1487587"/>
          </a:xfrm>
          <a:prstGeom prst="rect">
            <a:avLst/>
          </a:prstGeom>
          <a:ln w="12700">
            <a:solidFill>
              <a:srgbClr val="FF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>
            <a:spAutoFit/>
          </a:bodyPr>
          <a:lstStyle>
            <a:lvl1pPr algn="l" defTabSz="914400">
              <a:lnSpc>
                <a:spcPct val="80000"/>
              </a:lnSpc>
              <a:defRPr sz="3000">
                <a:solidFill>
                  <a:srgbClr val="A9AFC3"/>
                </a:solidFill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Develop High Speed Controller Design Process Product Offerings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1154802-2B26-E764-FF13-FEF71D8D3FE0}"/>
              </a:ext>
            </a:extLst>
          </p:cNvPr>
          <p:cNvGrpSpPr/>
          <p:nvPr/>
        </p:nvGrpSpPr>
        <p:grpSpPr>
          <a:xfrm>
            <a:off x="815939" y="540844"/>
            <a:ext cx="21801053" cy="1882014"/>
            <a:chOff x="1965812" y="3928900"/>
            <a:chExt cx="18185742" cy="188201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07BDE87B-0FDC-AD9A-B194-98DD7BF2063A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5" name="Circle">
                <a:extLst>
                  <a:ext uri="{FF2B5EF4-FFF2-40B4-BE49-F238E27FC236}">
                    <a16:creationId xmlns:a16="http://schemas.microsoft.com/office/drawing/2014/main" id="{97EE382E-61B6-1C87-0F16-0E3BADD2D630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6" name="Circle">
                <a:extLst>
                  <a:ext uri="{FF2B5EF4-FFF2-40B4-BE49-F238E27FC236}">
                    <a16:creationId xmlns:a16="http://schemas.microsoft.com/office/drawing/2014/main" id="{B44B6FD7-91B4-DE56-7748-C9C6C90518D4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7" name="1">
                <a:extLst>
                  <a:ext uri="{FF2B5EF4-FFF2-40B4-BE49-F238E27FC236}">
                    <a16:creationId xmlns:a16="http://schemas.microsoft.com/office/drawing/2014/main" id="{5DBE9163-25F3-E0F9-88ED-1D9D5B6D26B6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7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" name="Coupons">
              <a:extLst>
                <a:ext uri="{FF2B5EF4-FFF2-40B4-BE49-F238E27FC236}">
                  <a16:creationId xmlns:a16="http://schemas.microsoft.com/office/drawing/2014/main" id="{7133EBA8-9344-9F7B-1CC0-2FCB6C53BC04}"/>
                </a:ext>
              </a:extLst>
            </p:cNvPr>
            <p:cNvSpPr/>
            <p:nvPr/>
          </p:nvSpPr>
          <p:spPr>
            <a:xfrm>
              <a:off x="4045351" y="4615991"/>
              <a:ext cx="16106203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Strategic Breakthrough Objectives &amp; Likely Strategies</a:t>
              </a:r>
            </a:p>
          </p:txBody>
        </p:sp>
      </p:grpSp>
      <p:sp>
        <p:nvSpPr>
          <p:cNvPr id="9" name="Key Objectives">
            <a:extLst>
              <a:ext uri="{FF2B5EF4-FFF2-40B4-BE49-F238E27FC236}">
                <a16:creationId xmlns:a16="http://schemas.microsoft.com/office/drawing/2014/main" id="{1A571B77-4BD3-B5C9-963A-3DBAF10D1E61}"/>
              </a:ext>
            </a:extLst>
          </p:cNvPr>
          <p:cNvSpPr txBox="1"/>
          <p:nvPr/>
        </p:nvSpPr>
        <p:spPr>
          <a:xfrm>
            <a:off x="5614073" y="12729812"/>
            <a:ext cx="12505026" cy="564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>
            <a:spAutoFit/>
          </a:bodyPr>
          <a:lstStyle>
            <a:lvl1pPr defTabSz="914400">
              <a:lnSpc>
                <a:spcPct val="80000"/>
              </a:lnSpc>
              <a:defRPr sz="3000" b="1">
                <a:solidFill>
                  <a:srgbClr val="A9AFC3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</a:rPr>
              <a:t>SD TTI = Targets To Improve    SD AIP = Annual Improvement Priorities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1026FFBC-9B34-C177-4657-3B818A509AA0}"/>
              </a:ext>
            </a:extLst>
          </p:cNvPr>
          <p:cNvSpPr/>
          <p:nvPr/>
        </p:nvSpPr>
        <p:spPr>
          <a:xfrm>
            <a:off x="10039049" y="2446586"/>
            <a:ext cx="4426780" cy="3062971"/>
          </a:xfrm>
          <a:prstGeom prst="rect">
            <a:avLst/>
          </a:prstGeom>
          <a:solidFill>
            <a:schemeClr val="accent5"/>
          </a:solidFill>
          <a:ln w="63500">
            <a:solidFill>
              <a:srgbClr val="FF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3000" b="1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dirty="0"/>
              <a:t>Strategic Breakthrough Objective:</a:t>
            </a:r>
          </a:p>
          <a:p>
            <a:pPr defTabSz="584200">
              <a:defRPr sz="3000" b="1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lang="en-US" dirty="0"/>
          </a:p>
          <a:p>
            <a:pPr defTabSz="584200">
              <a:defRPr sz="3000" b="1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r>
              <a:rPr lang="en-US" i="1" dirty="0"/>
              <a:t>Increase Market Share from 20% to 55% by 12/31/XXXX</a:t>
            </a:r>
            <a:endParaRPr i="1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8BBC116-BBE6-253C-594A-18D27A26DDD5}"/>
              </a:ext>
            </a:extLst>
          </p:cNvPr>
          <p:cNvGrpSpPr/>
          <p:nvPr/>
        </p:nvGrpSpPr>
        <p:grpSpPr>
          <a:xfrm>
            <a:off x="3308890" y="2744538"/>
            <a:ext cx="3943962" cy="2717263"/>
            <a:chOff x="7913557" y="5733680"/>
            <a:chExt cx="4731106" cy="354886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090F739-B94F-6289-F15B-9470941F1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13557" y="5733680"/>
              <a:ext cx="4719624" cy="354886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A4D8C5D-1694-6A66-2277-546D0456ADC4}"/>
                </a:ext>
              </a:extLst>
            </p:cNvPr>
            <p:cNvSpPr txBox="1"/>
            <p:nvPr/>
          </p:nvSpPr>
          <p:spPr>
            <a:xfrm>
              <a:off x="7963897" y="7273321"/>
              <a:ext cx="4680766" cy="13642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defTabSz="584200">
                <a:defRPr sz="3000" b="1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r>
                <a:rPr lang="en-US" sz="2600" dirty="0">
                  <a:solidFill>
                    <a:schemeClr val="tx1"/>
                  </a:solidFill>
                </a:rPr>
                <a:t>To Be Confirmed &amp; Refined by the Strategic Deployment Team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567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88209BEF-02BE-2C78-3D2C-CD11A95F78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723" y="11341"/>
            <a:ext cx="24383277" cy="137160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0360FE-F4E0-0696-1851-7EDE61C3D2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723" y="55630"/>
            <a:ext cx="24383277" cy="13716000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32BE0BF-7EB9-AB75-FC6D-434CDAA7CA57}"/>
              </a:ext>
            </a:extLst>
          </p:cNvPr>
          <p:cNvGrpSpPr/>
          <p:nvPr/>
        </p:nvGrpSpPr>
        <p:grpSpPr>
          <a:xfrm>
            <a:off x="1070261" y="768361"/>
            <a:ext cx="14296119" cy="1882014"/>
            <a:chOff x="1965812" y="3928900"/>
            <a:chExt cx="14296119" cy="188201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3E99CA6-745F-CE48-7950-E7F69AA47E55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13" name="Circle">
                <a:extLst>
                  <a:ext uri="{FF2B5EF4-FFF2-40B4-BE49-F238E27FC236}">
                    <a16:creationId xmlns:a16="http://schemas.microsoft.com/office/drawing/2014/main" id="{DE710553-6F7C-BB99-BDB7-71BB666AD911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4" name="Circle">
                <a:extLst>
                  <a:ext uri="{FF2B5EF4-FFF2-40B4-BE49-F238E27FC236}">
                    <a16:creationId xmlns:a16="http://schemas.microsoft.com/office/drawing/2014/main" id="{524BA410-2781-F710-3548-0A9A90BF8AD3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5" name="1">
                <a:extLst>
                  <a:ext uri="{FF2B5EF4-FFF2-40B4-BE49-F238E27FC236}">
                    <a16:creationId xmlns:a16="http://schemas.microsoft.com/office/drawing/2014/main" id="{7E6AFCBA-7DA6-B79F-DC09-8BA46782CDD2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8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2" name="Coupons">
              <a:extLst>
                <a:ext uri="{FF2B5EF4-FFF2-40B4-BE49-F238E27FC236}">
                  <a16:creationId xmlns:a16="http://schemas.microsoft.com/office/drawing/2014/main" id="{A4E3F8BA-7748-EBD0-25D1-4EBA29726A29}"/>
                </a:ext>
              </a:extLst>
            </p:cNvPr>
            <p:cNvSpPr/>
            <p:nvPr/>
          </p:nvSpPr>
          <p:spPr>
            <a:xfrm>
              <a:off x="4045351" y="4615991"/>
              <a:ext cx="12216580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Operations &amp; Supply Chain Analysis</a:t>
              </a:r>
            </a:p>
          </p:txBody>
        </p:sp>
      </p:grp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598BB8C-01D3-45B3-DD19-A61F9F81452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828655"/>
              </p:ext>
            </p:extLst>
          </p:nvPr>
        </p:nvGraphicFramePr>
        <p:xfrm>
          <a:off x="3599056" y="2849647"/>
          <a:ext cx="17631936" cy="10586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943600" imgH="3568700" progId="Word.Document.12">
                  <p:embed/>
                </p:oleObj>
              </mc:Choice>
              <mc:Fallback>
                <p:oleObj name="Document" r:id="rId3" imgW="5943600" imgH="35687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99056" y="2849647"/>
                        <a:ext cx="17631936" cy="105866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81569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2458C51-D53F-218D-5084-596A07F6E9B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alphaModFix amt="59000"/>
          </a:blip>
          <a:stretch>
            <a:fillRect/>
          </a:stretch>
        </p:blipFill>
        <p:spPr>
          <a:xfrm>
            <a:off x="0" y="0"/>
            <a:ext cx="24384000" cy="13716001"/>
          </a:xfrm>
          <a:prstGeom prst="rect">
            <a:avLst/>
          </a:prstGeom>
        </p:spPr>
      </p:pic>
      <p:sp>
        <p:nvSpPr>
          <p:cNvPr id="457" name="Coupons"/>
          <p:cNvSpPr/>
          <p:nvPr/>
        </p:nvSpPr>
        <p:spPr>
          <a:xfrm>
            <a:off x="1740623" y="1983644"/>
            <a:ext cx="6021649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2" name="Coupons">
            <a:extLst>
              <a:ext uri="{FF2B5EF4-FFF2-40B4-BE49-F238E27FC236}">
                <a16:creationId xmlns:a16="http://schemas.microsoft.com/office/drawing/2014/main" id="{59037309-8DAC-2D7B-696E-703319CA6A8E}"/>
              </a:ext>
            </a:extLst>
          </p:cNvPr>
          <p:cNvSpPr/>
          <p:nvPr/>
        </p:nvSpPr>
        <p:spPr>
          <a:xfrm>
            <a:off x="2323501" y="2300680"/>
            <a:ext cx="19235234" cy="11826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</a:rPr>
              <a:t>Key Questions to Consider: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In terms of being a QUALITY supplier, how are you viewed by your customers?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Do you have the future capacity to support your future growth plans?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Can your supply base keep pace with your growth?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Can your suppliers meet your NPD lead-times?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Will geographic expansion require you to reconsider your global footprint?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endParaRPr lang="en-US" sz="600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0E0CE06-08D9-6CE1-CFDC-C4AFB83274B7}"/>
              </a:ext>
            </a:extLst>
          </p:cNvPr>
          <p:cNvGrpSpPr/>
          <p:nvPr/>
        </p:nvGrpSpPr>
        <p:grpSpPr>
          <a:xfrm>
            <a:off x="237504" y="418666"/>
            <a:ext cx="14296119" cy="1882014"/>
            <a:chOff x="1965812" y="3928900"/>
            <a:chExt cx="14296119" cy="188201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2B74C31-B4CF-95E7-EF37-4A961CB796CC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13" name="Circle">
                <a:extLst>
                  <a:ext uri="{FF2B5EF4-FFF2-40B4-BE49-F238E27FC236}">
                    <a16:creationId xmlns:a16="http://schemas.microsoft.com/office/drawing/2014/main" id="{A2DE1175-9E84-1459-DD63-5E61BA3FDCDC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4" name="Circle">
                <a:extLst>
                  <a:ext uri="{FF2B5EF4-FFF2-40B4-BE49-F238E27FC236}">
                    <a16:creationId xmlns:a16="http://schemas.microsoft.com/office/drawing/2014/main" id="{EE3DBFDF-F826-A28D-7E7E-F625A7F3F3A9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5" name="1">
                <a:extLst>
                  <a:ext uri="{FF2B5EF4-FFF2-40B4-BE49-F238E27FC236}">
                    <a16:creationId xmlns:a16="http://schemas.microsoft.com/office/drawing/2014/main" id="{96E6FEFD-696B-E250-957F-971C481DE6CA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8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6" name="Coupons">
              <a:extLst>
                <a:ext uri="{FF2B5EF4-FFF2-40B4-BE49-F238E27FC236}">
                  <a16:creationId xmlns:a16="http://schemas.microsoft.com/office/drawing/2014/main" id="{A7553C6A-F15A-FEFD-E407-498C4EBB9378}"/>
                </a:ext>
              </a:extLst>
            </p:cNvPr>
            <p:cNvSpPr/>
            <p:nvPr/>
          </p:nvSpPr>
          <p:spPr>
            <a:xfrm>
              <a:off x="4045351" y="4615991"/>
              <a:ext cx="12216580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Operations &amp; Supply Chain Analysis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1951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88209BEF-02BE-2C78-3D2C-CD11A95F78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723" y="0"/>
            <a:ext cx="24383277" cy="137160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0360FE-F4E0-0696-1851-7EDE61C3D2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723" y="55630"/>
            <a:ext cx="24383277" cy="13716000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AF674A0-1E8F-8BB0-CA7B-BA8BBCFAF62B}"/>
              </a:ext>
            </a:extLst>
          </p:cNvPr>
          <p:cNvGrpSpPr/>
          <p:nvPr/>
        </p:nvGrpSpPr>
        <p:grpSpPr>
          <a:xfrm>
            <a:off x="1240381" y="611720"/>
            <a:ext cx="8873172" cy="1882014"/>
            <a:chOff x="1965812" y="3928900"/>
            <a:chExt cx="8873172" cy="188201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80D6498-097E-9BB5-56DF-C02995F4CA50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5" name="Circle">
                <a:extLst>
                  <a:ext uri="{FF2B5EF4-FFF2-40B4-BE49-F238E27FC236}">
                    <a16:creationId xmlns:a16="http://schemas.microsoft.com/office/drawing/2014/main" id="{DE2DF536-7D61-E1A1-BA85-FEF80EEB4AB1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6" name="Circle">
                <a:extLst>
                  <a:ext uri="{FF2B5EF4-FFF2-40B4-BE49-F238E27FC236}">
                    <a16:creationId xmlns:a16="http://schemas.microsoft.com/office/drawing/2014/main" id="{1EA46E19-F3C6-51E2-FC78-8A6328BB82D8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7" name="1">
                <a:extLst>
                  <a:ext uri="{FF2B5EF4-FFF2-40B4-BE49-F238E27FC236}">
                    <a16:creationId xmlns:a16="http://schemas.microsoft.com/office/drawing/2014/main" id="{662323C3-BC47-1FBB-913F-DBABA8287CB2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9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" name="Coupons">
              <a:extLst>
                <a:ext uri="{FF2B5EF4-FFF2-40B4-BE49-F238E27FC236}">
                  <a16:creationId xmlns:a16="http://schemas.microsoft.com/office/drawing/2014/main" id="{68508DE4-06A5-988A-8E02-433807AEB7B6}"/>
                </a:ext>
              </a:extLst>
            </p:cNvPr>
            <p:cNvSpPr/>
            <p:nvPr/>
          </p:nvSpPr>
          <p:spPr>
            <a:xfrm>
              <a:off x="4045351" y="4615991"/>
              <a:ext cx="6793633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Market Analysis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D0F5DBB6-7EFF-A666-C837-526FEF6EB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872" y="2767711"/>
            <a:ext cx="11713142" cy="1030519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8573FC-7AE6-E3EC-06F6-579F941E9D30}"/>
              </a:ext>
            </a:extLst>
          </p:cNvPr>
          <p:cNvSpPr txBox="1"/>
          <p:nvPr/>
        </p:nvSpPr>
        <p:spPr>
          <a:xfrm>
            <a:off x="13875119" y="3768420"/>
            <a:ext cx="10044775" cy="773545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 marL="0" marR="0" indent="0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6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rPr>
              <a:t>Focus on </a:t>
            </a:r>
            <a:r>
              <a:rPr kumimoji="0" lang="en-US" sz="5600" b="0" i="1" u="sng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rPr>
              <a:t>SERVED</a:t>
            </a:r>
            <a:r>
              <a:rPr kumimoji="0" lang="en-US" sz="56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rPr>
              <a:t> Market</a:t>
            </a: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chemeClr val="bg1"/>
              </a:solidFill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1" u="sng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rPr>
              <a:t>Example:</a:t>
            </a: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rPr>
              <a:t>Global tire market includes tires for heavy duty trucks, motorcycles, autos, recreation vehicles, construction equipment, etc. </a:t>
            </a: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4800" dirty="0">
              <a:solidFill>
                <a:schemeClr val="bg1"/>
              </a:solidFill>
            </a:endParaRPr>
          </a:p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rPr>
              <a:t>Not meaningful if you only serve the specialty motorcycle  industry</a:t>
            </a:r>
          </a:p>
        </p:txBody>
      </p:sp>
    </p:spTree>
    <p:extLst>
      <p:ext uri="{BB962C8B-B14F-4D97-AF65-F5344CB8AC3E}">
        <p14:creationId xmlns:p14="http://schemas.microsoft.com/office/powerpoint/2010/main" val="2950571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Coupons"/>
          <p:cNvSpPr/>
          <p:nvPr/>
        </p:nvSpPr>
        <p:spPr>
          <a:xfrm>
            <a:off x="1740623" y="1983644"/>
            <a:ext cx="6021649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endParaRPr lang="en-US" sz="7200"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C181112-72E5-DE76-0B40-0A1101EC68F1}"/>
              </a:ext>
            </a:extLst>
          </p:cNvPr>
          <p:cNvGrpSpPr/>
          <p:nvPr/>
        </p:nvGrpSpPr>
        <p:grpSpPr>
          <a:xfrm>
            <a:off x="1240381" y="611720"/>
            <a:ext cx="8873172" cy="1882014"/>
            <a:chOff x="1965812" y="3928900"/>
            <a:chExt cx="8873172" cy="188201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8B43299-2013-D655-AA28-D1D8DD17054C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9" name="Circle">
                <a:extLst>
                  <a:ext uri="{FF2B5EF4-FFF2-40B4-BE49-F238E27FC236}">
                    <a16:creationId xmlns:a16="http://schemas.microsoft.com/office/drawing/2014/main" id="{C46E1C67-81AA-55CF-E78F-D16AC8E1E4FC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0" name="Circle">
                <a:extLst>
                  <a:ext uri="{FF2B5EF4-FFF2-40B4-BE49-F238E27FC236}">
                    <a16:creationId xmlns:a16="http://schemas.microsoft.com/office/drawing/2014/main" id="{D6646DCB-9555-97E9-E229-09EBD01F0652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1" name="1">
                <a:extLst>
                  <a:ext uri="{FF2B5EF4-FFF2-40B4-BE49-F238E27FC236}">
                    <a16:creationId xmlns:a16="http://schemas.microsoft.com/office/drawing/2014/main" id="{A109E8B6-1888-539D-63BF-19308B96226C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9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8" name="Coupons">
              <a:extLst>
                <a:ext uri="{FF2B5EF4-FFF2-40B4-BE49-F238E27FC236}">
                  <a16:creationId xmlns:a16="http://schemas.microsoft.com/office/drawing/2014/main" id="{5F3EDDBA-F09D-2859-45F2-76DF23FF3E13}"/>
                </a:ext>
              </a:extLst>
            </p:cNvPr>
            <p:cNvSpPr/>
            <p:nvPr/>
          </p:nvSpPr>
          <p:spPr>
            <a:xfrm>
              <a:off x="4045351" y="4615991"/>
              <a:ext cx="6793633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Market Analysis</a:t>
              </a:r>
            </a:p>
          </p:txBody>
        </p:sp>
      </p:grp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5EB56B9C-9A24-A445-C50E-F3E7026834F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0291342"/>
              </p:ext>
            </p:extLst>
          </p:nvPr>
        </p:nvGraphicFramePr>
        <p:xfrm>
          <a:off x="3687952" y="2968529"/>
          <a:ext cx="16256000" cy="108373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84780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2458C51-D53F-218D-5084-596A07F6E9B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alphaModFix amt="59000"/>
          </a:blip>
          <a:stretch>
            <a:fillRect/>
          </a:stretch>
        </p:blipFill>
        <p:spPr>
          <a:xfrm>
            <a:off x="0" y="0"/>
            <a:ext cx="24384000" cy="13716001"/>
          </a:xfrm>
          <a:prstGeom prst="rect">
            <a:avLst/>
          </a:prstGeom>
        </p:spPr>
      </p:pic>
      <p:sp>
        <p:nvSpPr>
          <p:cNvPr id="457" name="Coupons"/>
          <p:cNvSpPr/>
          <p:nvPr/>
        </p:nvSpPr>
        <p:spPr>
          <a:xfrm>
            <a:off x="1740623" y="1983644"/>
            <a:ext cx="6021649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2" name="Coupons">
            <a:extLst>
              <a:ext uri="{FF2B5EF4-FFF2-40B4-BE49-F238E27FC236}">
                <a16:creationId xmlns:a16="http://schemas.microsoft.com/office/drawing/2014/main" id="{59037309-8DAC-2D7B-696E-703319CA6A8E}"/>
              </a:ext>
            </a:extLst>
          </p:cNvPr>
          <p:cNvSpPr/>
          <p:nvPr/>
        </p:nvSpPr>
        <p:spPr>
          <a:xfrm>
            <a:off x="2664903" y="2668321"/>
            <a:ext cx="21666200" cy="19212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</a:rPr>
              <a:t>Key Questions to Consider: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Is your focus on your served market?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Are there any markets that you should exit?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What geographical/regional changes will affect your business? (Politics/laws/culture/etc.)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Will new competition enter your markets?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Is the market growing or declining? 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Is your share position expected to drastically change?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endParaRPr lang="en-US" sz="6000"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C181112-72E5-DE76-0B40-0A1101EC68F1}"/>
              </a:ext>
            </a:extLst>
          </p:cNvPr>
          <p:cNvGrpSpPr/>
          <p:nvPr/>
        </p:nvGrpSpPr>
        <p:grpSpPr>
          <a:xfrm>
            <a:off x="1240381" y="611720"/>
            <a:ext cx="8873172" cy="1882014"/>
            <a:chOff x="1965812" y="3928900"/>
            <a:chExt cx="8873172" cy="188201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8B43299-2013-D655-AA28-D1D8DD17054C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9" name="Circle">
                <a:extLst>
                  <a:ext uri="{FF2B5EF4-FFF2-40B4-BE49-F238E27FC236}">
                    <a16:creationId xmlns:a16="http://schemas.microsoft.com/office/drawing/2014/main" id="{C46E1C67-81AA-55CF-E78F-D16AC8E1E4FC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0" name="Circle">
                <a:extLst>
                  <a:ext uri="{FF2B5EF4-FFF2-40B4-BE49-F238E27FC236}">
                    <a16:creationId xmlns:a16="http://schemas.microsoft.com/office/drawing/2014/main" id="{D6646DCB-9555-97E9-E229-09EBD01F0652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1" name="1">
                <a:extLst>
                  <a:ext uri="{FF2B5EF4-FFF2-40B4-BE49-F238E27FC236}">
                    <a16:creationId xmlns:a16="http://schemas.microsoft.com/office/drawing/2014/main" id="{A109E8B6-1888-539D-63BF-19308B96226C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9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8" name="Coupons">
              <a:extLst>
                <a:ext uri="{FF2B5EF4-FFF2-40B4-BE49-F238E27FC236}">
                  <a16:creationId xmlns:a16="http://schemas.microsoft.com/office/drawing/2014/main" id="{5F3EDDBA-F09D-2859-45F2-76DF23FF3E13}"/>
                </a:ext>
              </a:extLst>
            </p:cNvPr>
            <p:cNvSpPr/>
            <p:nvPr/>
          </p:nvSpPr>
          <p:spPr>
            <a:xfrm>
              <a:off x="4045351" y="4615991"/>
              <a:ext cx="6793633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Market Analysis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9953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88209BEF-02BE-2C78-3D2C-CD11A95F78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723" y="0"/>
            <a:ext cx="24383277" cy="137160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0360FE-F4E0-0696-1851-7EDE61C3D2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723" y="31934"/>
            <a:ext cx="24383277" cy="13716000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4C85531B-626B-3407-6284-83DABF77E5B5}"/>
              </a:ext>
            </a:extLst>
          </p:cNvPr>
          <p:cNvGrpSpPr/>
          <p:nvPr/>
        </p:nvGrpSpPr>
        <p:grpSpPr>
          <a:xfrm>
            <a:off x="1042919" y="1031239"/>
            <a:ext cx="13355964" cy="1882014"/>
            <a:chOff x="1965812" y="3928900"/>
            <a:chExt cx="13355964" cy="188201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DE82AE2-61C3-6CC6-B723-52539F3A7795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12" name="Circle">
                <a:extLst>
                  <a:ext uri="{FF2B5EF4-FFF2-40B4-BE49-F238E27FC236}">
                    <a16:creationId xmlns:a16="http://schemas.microsoft.com/office/drawing/2014/main" id="{3C0F137C-A84D-DA1F-0606-AE8698F80DDA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3" name="Circle">
                <a:extLst>
                  <a:ext uri="{FF2B5EF4-FFF2-40B4-BE49-F238E27FC236}">
                    <a16:creationId xmlns:a16="http://schemas.microsoft.com/office/drawing/2014/main" id="{97A9801D-D158-5077-9B38-19372E48DE2F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4" name="1">
                <a:extLst>
                  <a:ext uri="{FF2B5EF4-FFF2-40B4-BE49-F238E27FC236}">
                    <a16:creationId xmlns:a16="http://schemas.microsoft.com/office/drawing/2014/main" id="{340B0DC3-8D79-68BA-4CFA-BCD28F37428D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10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1" name="Coupons">
              <a:extLst>
                <a:ext uri="{FF2B5EF4-FFF2-40B4-BE49-F238E27FC236}">
                  <a16:creationId xmlns:a16="http://schemas.microsoft.com/office/drawing/2014/main" id="{340F2D9B-B563-F548-DF58-5FD224E150FA}"/>
                </a:ext>
              </a:extLst>
            </p:cNvPr>
            <p:cNvSpPr/>
            <p:nvPr/>
          </p:nvSpPr>
          <p:spPr>
            <a:xfrm>
              <a:off x="4045351" y="4615991"/>
              <a:ext cx="11276425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Competitive Analysis</a:t>
              </a: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ADAADBA-8E5F-0403-B42F-4244D8D60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430" y="3187230"/>
            <a:ext cx="20707590" cy="9858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4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2458C51-D53F-218D-5084-596A07F6E9B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alphaModFix amt="59000"/>
          </a:blip>
          <a:stretch>
            <a:fillRect/>
          </a:stretch>
        </p:blipFill>
        <p:spPr>
          <a:xfrm>
            <a:off x="0" y="0"/>
            <a:ext cx="24384000" cy="13716001"/>
          </a:xfrm>
          <a:prstGeom prst="rect">
            <a:avLst/>
          </a:prstGeom>
        </p:spPr>
      </p:pic>
      <p:sp>
        <p:nvSpPr>
          <p:cNvPr id="457" name="Coupons"/>
          <p:cNvSpPr/>
          <p:nvPr/>
        </p:nvSpPr>
        <p:spPr>
          <a:xfrm>
            <a:off x="1740623" y="1983644"/>
            <a:ext cx="6021649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2" name="Coupons">
            <a:extLst>
              <a:ext uri="{FF2B5EF4-FFF2-40B4-BE49-F238E27FC236}">
                <a16:creationId xmlns:a16="http://schemas.microsoft.com/office/drawing/2014/main" id="{59037309-8DAC-2D7B-696E-703319CA6A8E}"/>
              </a:ext>
            </a:extLst>
          </p:cNvPr>
          <p:cNvSpPr/>
          <p:nvPr/>
        </p:nvSpPr>
        <p:spPr>
          <a:xfrm>
            <a:off x="1439127" y="3417093"/>
            <a:ext cx="22944873" cy="8871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</a:rPr>
              <a:t>Key Questions to Consider: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Can you exploit the weaknesses of your competition?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Can you take share by superior Quality &amp; Delivery?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Can you drive price via value-selling efforts?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Does the market understand your competitive strengths?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Do they care?</a:t>
            </a:r>
          </a:p>
          <a:p>
            <a:endParaRPr lang="en-US" sz="600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CD0E154-7BDB-4233-60D3-DB151BB42A44}"/>
              </a:ext>
            </a:extLst>
          </p:cNvPr>
          <p:cNvGrpSpPr/>
          <p:nvPr/>
        </p:nvGrpSpPr>
        <p:grpSpPr>
          <a:xfrm>
            <a:off x="1042919" y="1031239"/>
            <a:ext cx="13355964" cy="1882014"/>
            <a:chOff x="1965812" y="3928900"/>
            <a:chExt cx="13355964" cy="188201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1672B34-DE36-E280-CEC3-3F51CAD38EF3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12" name="Circle">
                <a:extLst>
                  <a:ext uri="{FF2B5EF4-FFF2-40B4-BE49-F238E27FC236}">
                    <a16:creationId xmlns:a16="http://schemas.microsoft.com/office/drawing/2014/main" id="{F8F12ADB-4E44-9219-4C3F-110FE29499D5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3" name="Circle">
                <a:extLst>
                  <a:ext uri="{FF2B5EF4-FFF2-40B4-BE49-F238E27FC236}">
                    <a16:creationId xmlns:a16="http://schemas.microsoft.com/office/drawing/2014/main" id="{06C7B1EF-350C-CB95-0F8F-FBA63E32C279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4" name="1">
                <a:extLst>
                  <a:ext uri="{FF2B5EF4-FFF2-40B4-BE49-F238E27FC236}">
                    <a16:creationId xmlns:a16="http://schemas.microsoft.com/office/drawing/2014/main" id="{D3D1C9C9-B5AD-93F6-F1AB-2636BAC0698B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10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6" name="Coupons">
              <a:extLst>
                <a:ext uri="{FF2B5EF4-FFF2-40B4-BE49-F238E27FC236}">
                  <a16:creationId xmlns:a16="http://schemas.microsoft.com/office/drawing/2014/main" id="{BFAD0EF7-ED99-AD66-5B02-B5BEB4DA1C55}"/>
                </a:ext>
              </a:extLst>
            </p:cNvPr>
            <p:cNvSpPr/>
            <p:nvPr/>
          </p:nvSpPr>
          <p:spPr>
            <a:xfrm>
              <a:off x="4045351" y="4615991"/>
              <a:ext cx="11276425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Competitive Analysis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2511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88209BEF-02BE-2C78-3D2C-CD11A95F78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723" y="0"/>
            <a:ext cx="24383277" cy="137160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0360FE-F4E0-0696-1851-7EDE61C3D2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24108" y="33322"/>
            <a:ext cx="24383277" cy="13716000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C7FD0AD-2883-2405-8C97-89FA28B722C7}"/>
              </a:ext>
            </a:extLst>
          </p:cNvPr>
          <p:cNvGrpSpPr/>
          <p:nvPr/>
        </p:nvGrpSpPr>
        <p:grpSpPr>
          <a:xfrm>
            <a:off x="1330907" y="863726"/>
            <a:ext cx="10226188" cy="1882014"/>
            <a:chOff x="1965812" y="3928900"/>
            <a:chExt cx="10226188" cy="188201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FB899BF-6F15-D358-C555-8EF4F2D8610E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5" name="Circle">
                <a:extLst>
                  <a:ext uri="{FF2B5EF4-FFF2-40B4-BE49-F238E27FC236}">
                    <a16:creationId xmlns:a16="http://schemas.microsoft.com/office/drawing/2014/main" id="{DE2DFBBA-1192-91E3-E958-7D357805AB35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6" name="Circle">
                <a:extLst>
                  <a:ext uri="{FF2B5EF4-FFF2-40B4-BE49-F238E27FC236}">
                    <a16:creationId xmlns:a16="http://schemas.microsoft.com/office/drawing/2014/main" id="{D2998477-F07B-0B0E-425C-0112D9B181E7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7" name="1">
                <a:extLst>
                  <a:ext uri="{FF2B5EF4-FFF2-40B4-BE49-F238E27FC236}">
                    <a16:creationId xmlns:a16="http://schemas.microsoft.com/office/drawing/2014/main" id="{56DD2C6F-8CC2-0F24-23E8-A460D7D8FD53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11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" name="Coupons">
              <a:extLst>
                <a:ext uri="{FF2B5EF4-FFF2-40B4-BE49-F238E27FC236}">
                  <a16:creationId xmlns:a16="http://schemas.microsoft.com/office/drawing/2014/main" id="{1ACDA6A2-215E-FA12-49BE-41556B324B7B}"/>
                </a:ext>
              </a:extLst>
            </p:cNvPr>
            <p:cNvSpPr/>
            <p:nvPr/>
          </p:nvSpPr>
          <p:spPr>
            <a:xfrm>
              <a:off x="4045351" y="4615991"/>
              <a:ext cx="8146649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Technological Trends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64AD768-4E04-CE80-9C9F-4BE45213A58C}"/>
              </a:ext>
            </a:extLst>
          </p:cNvPr>
          <p:cNvSpPr txBox="1"/>
          <p:nvPr/>
        </p:nvSpPr>
        <p:spPr>
          <a:xfrm>
            <a:off x="902876" y="4044224"/>
            <a:ext cx="22757224" cy="74635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1155700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Defined: Tech Trends that might impact the future of the business.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BAD4CF-341D-D5D9-A500-6FA0F7769D24}"/>
              </a:ext>
            </a:extLst>
          </p:cNvPr>
          <p:cNvSpPr txBox="1"/>
          <p:nvPr/>
        </p:nvSpPr>
        <p:spPr>
          <a:xfrm>
            <a:off x="2271913" y="5488287"/>
            <a:ext cx="19709253" cy="84023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>
              <a:defRPr sz="5400" b="1">
                <a:solidFill>
                  <a:schemeClr val="bg1"/>
                </a:solidFill>
              </a:defRPr>
            </a:lvl1pPr>
          </a:lstStyle>
          <a:p>
            <a:pPr algn="l"/>
            <a:r>
              <a:rPr lang="en-US" b="0" i="1" dirty="0"/>
              <a:t>Competition has developed a lithium battery WIDGET that has wide market appeal. This will require a transition to convert our product line from AC power to a battery-operated platform. </a:t>
            </a:r>
          </a:p>
          <a:p>
            <a:pPr algn="l"/>
            <a:endParaRPr lang="en-US" b="0" i="1" dirty="0"/>
          </a:p>
          <a:p>
            <a:pPr algn="l"/>
            <a:r>
              <a:rPr lang="en-US" b="0" i="1" dirty="0"/>
              <a:t>Driver navigation capabilities are being developed in smartphones which will make our stand-alone navigation equipment obsolete.</a:t>
            </a:r>
          </a:p>
          <a:p>
            <a:pPr algn="l"/>
            <a:endParaRPr lang="en-US" b="0" i="1" dirty="0"/>
          </a:p>
          <a:p>
            <a:pPr algn="l"/>
            <a:r>
              <a:rPr lang="en-US" b="0" i="1" dirty="0"/>
              <a:t>Cordless table-top appliances are replacing traditional AC-powered products.</a:t>
            </a:r>
          </a:p>
          <a:p>
            <a:pPr algn="l"/>
            <a:r>
              <a:rPr lang="en-US" b="0" i="1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667745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2458C51-D53F-218D-5084-596A07F6E9B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alphaModFix amt="59000"/>
          </a:blip>
          <a:stretch>
            <a:fillRect/>
          </a:stretch>
        </p:blipFill>
        <p:spPr>
          <a:xfrm>
            <a:off x="0" y="0"/>
            <a:ext cx="24384000" cy="13716001"/>
          </a:xfrm>
          <a:prstGeom prst="rect">
            <a:avLst/>
          </a:prstGeom>
        </p:spPr>
      </p:pic>
      <p:sp>
        <p:nvSpPr>
          <p:cNvPr id="457" name="Coupons"/>
          <p:cNvSpPr/>
          <p:nvPr/>
        </p:nvSpPr>
        <p:spPr>
          <a:xfrm>
            <a:off x="1740623" y="1983644"/>
            <a:ext cx="6021649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2" name="Coupons">
            <a:extLst>
              <a:ext uri="{FF2B5EF4-FFF2-40B4-BE49-F238E27FC236}">
                <a16:creationId xmlns:a16="http://schemas.microsoft.com/office/drawing/2014/main" id="{59037309-8DAC-2D7B-696E-703319CA6A8E}"/>
              </a:ext>
            </a:extLst>
          </p:cNvPr>
          <p:cNvSpPr/>
          <p:nvPr/>
        </p:nvSpPr>
        <p:spPr>
          <a:xfrm>
            <a:off x="1035514" y="2920327"/>
            <a:ext cx="22312971" cy="103489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</a:rPr>
              <a:t>Key Questions to Consider: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Can your product/company be displaced via disruptive technology?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Do you have a way to drive effective technology innovations?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Are you driving an adequate % of new products in your annual sales?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Do you have the technical talent (Engineering and Commercial) to keep up with the latest technical needs of the market?</a:t>
            </a:r>
          </a:p>
          <a:p>
            <a:endParaRPr lang="en-US" sz="6000" dirty="0">
              <a:solidFill>
                <a:schemeClr val="bg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97E03A5-BEA3-CFB2-4012-FC2D21CD143B}"/>
              </a:ext>
            </a:extLst>
          </p:cNvPr>
          <p:cNvGrpSpPr/>
          <p:nvPr/>
        </p:nvGrpSpPr>
        <p:grpSpPr>
          <a:xfrm>
            <a:off x="1330907" y="863726"/>
            <a:ext cx="10226188" cy="1882014"/>
            <a:chOff x="1965812" y="3928900"/>
            <a:chExt cx="10226188" cy="188201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253827D-92CC-0D24-0482-63E68EF9A60B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9" name="Circle">
                <a:extLst>
                  <a:ext uri="{FF2B5EF4-FFF2-40B4-BE49-F238E27FC236}">
                    <a16:creationId xmlns:a16="http://schemas.microsoft.com/office/drawing/2014/main" id="{EA682F3E-1F58-8563-4426-BEC56D417998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0" name="Circle">
                <a:extLst>
                  <a:ext uri="{FF2B5EF4-FFF2-40B4-BE49-F238E27FC236}">
                    <a16:creationId xmlns:a16="http://schemas.microsoft.com/office/drawing/2014/main" id="{F702566E-F9DC-6CB9-EF28-ED9C744ECA6A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1" name="1">
                <a:extLst>
                  <a:ext uri="{FF2B5EF4-FFF2-40B4-BE49-F238E27FC236}">
                    <a16:creationId xmlns:a16="http://schemas.microsoft.com/office/drawing/2014/main" id="{9D8F5CB0-07C2-A3A9-4278-70E978CE4615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11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8" name="Coupons">
              <a:extLst>
                <a:ext uri="{FF2B5EF4-FFF2-40B4-BE49-F238E27FC236}">
                  <a16:creationId xmlns:a16="http://schemas.microsoft.com/office/drawing/2014/main" id="{921D9527-123C-EA2E-756E-6F3F06845ACF}"/>
                </a:ext>
              </a:extLst>
            </p:cNvPr>
            <p:cNvSpPr/>
            <p:nvPr/>
          </p:nvSpPr>
          <p:spPr>
            <a:xfrm>
              <a:off x="4045351" y="4615991"/>
              <a:ext cx="8146649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Technological Trends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015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88209BEF-02BE-2C78-3D2C-CD11A95F78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723" y="0"/>
            <a:ext cx="24383277" cy="13716000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27010EE-7BC7-358A-2E10-FBC33DE62C6D}"/>
              </a:ext>
            </a:extLst>
          </p:cNvPr>
          <p:cNvGrpSpPr/>
          <p:nvPr/>
        </p:nvGrpSpPr>
        <p:grpSpPr>
          <a:xfrm>
            <a:off x="1094775" y="499779"/>
            <a:ext cx="8873172" cy="1882014"/>
            <a:chOff x="1965812" y="3928900"/>
            <a:chExt cx="8873172" cy="188201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E7D9D3A-50A0-3601-955F-9096B62FC850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12" name="Circle">
                <a:extLst>
                  <a:ext uri="{FF2B5EF4-FFF2-40B4-BE49-F238E27FC236}">
                    <a16:creationId xmlns:a16="http://schemas.microsoft.com/office/drawing/2014/main" id="{7D1B33F4-0246-228B-640E-9AAE72F61937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3" name="Circle">
                <a:extLst>
                  <a:ext uri="{FF2B5EF4-FFF2-40B4-BE49-F238E27FC236}">
                    <a16:creationId xmlns:a16="http://schemas.microsoft.com/office/drawing/2014/main" id="{624EF3A8-8B4D-B5CC-563E-83139DB96AFD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4" name="1">
                <a:extLst>
                  <a:ext uri="{FF2B5EF4-FFF2-40B4-BE49-F238E27FC236}">
                    <a16:creationId xmlns:a16="http://schemas.microsoft.com/office/drawing/2014/main" id="{0390A2E6-5B93-BF80-B398-9738F46E4605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12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1" name="Coupons">
              <a:extLst>
                <a:ext uri="{FF2B5EF4-FFF2-40B4-BE49-F238E27FC236}">
                  <a16:creationId xmlns:a16="http://schemas.microsoft.com/office/drawing/2014/main" id="{D129C804-98B8-764C-5619-7060FFE44739}"/>
                </a:ext>
              </a:extLst>
            </p:cNvPr>
            <p:cNvSpPr/>
            <p:nvPr/>
          </p:nvSpPr>
          <p:spPr>
            <a:xfrm>
              <a:off x="4045351" y="4615991"/>
              <a:ext cx="6793633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SKU Analysis</a:t>
              </a:r>
            </a:p>
          </p:txBody>
        </p:sp>
      </p:grp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40A130F-97CA-5020-D64F-273DD878A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70959"/>
              </p:ext>
            </p:extLst>
          </p:nvPr>
        </p:nvGraphicFramePr>
        <p:xfrm>
          <a:off x="1436687" y="11669787"/>
          <a:ext cx="21510624" cy="1829272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510624">
                  <a:extLst>
                    <a:ext uri="{9D8B030D-6E8A-4147-A177-3AD203B41FA5}">
                      <a16:colId xmlns:a16="http://schemas.microsoft.com/office/drawing/2014/main" val="3214787839"/>
                    </a:ext>
                  </a:extLst>
                </a:gridCol>
              </a:tblGrid>
              <a:tr h="182927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4400" b="0" i="0" u="none" strike="noStrike" cap="none" spc="0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FillTx/>
                          <a:latin typeface="+mn-lt"/>
                          <a:ea typeface="+mn-ea"/>
                          <a:cs typeface="+mn-cs"/>
                          <a:sym typeface="Roboto"/>
                        </a:rPr>
                        <a:t>Provide the # of active SKUs by product line as well as the # of SKUs                               that make up 80% of your total revenue for that category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39914446"/>
                  </a:ext>
                </a:extLst>
              </a:tr>
            </a:tbl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0E3B381C-9BF4-59D6-594A-B95A138774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5649532"/>
              </p:ext>
            </p:extLst>
          </p:nvPr>
        </p:nvGraphicFramePr>
        <p:xfrm>
          <a:off x="5531361" y="1752894"/>
          <a:ext cx="13321277" cy="105677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4546600" imgH="3606800" progId="Excel.Sheet.12">
                  <p:embed/>
                </p:oleObj>
              </mc:Choice>
              <mc:Fallback>
                <p:oleObj name="Worksheet" r:id="rId3" imgW="4546600" imgH="3606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31361" y="1752894"/>
                        <a:ext cx="13321277" cy="105677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2798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2458C51-D53F-218D-5084-596A07F6E9B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alphaModFix amt="59000"/>
          </a:blip>
          <a:stretch>
            <a:fillRect/>
          </a:stretch>
        </p:blipFill>
        <p:spPr>
          <a:xfrm>
            <a:off x="0" y="0"/>
            <a:ext cx="24384000" cy="13716001"/>
          </a:xfrm>
          <a:prstGeom prst="rect">
            <a:avLst/>
          </a:prstGeom>
        </p:spPr>
      </p:pic>
      <p:sp>
        <p:nvSpPr>
          <p:cNvPr id="457" name="Coupons"/>
          <p:cNvSpPr/>
          <p:nvPr/>
        </p:nvSpPr>
        <p:spPr>
          <a:xfrm>
            <a:off x="1740623" y="1983644"/>
            <a:ext cx="6021649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2" name="Coupons">
            <a:extLst>
              <a:ext uri="{FF2B5EF4-FFF2-40B4-BE49-F238E27FC236}">
                <a16:creationId xmlns:a16="http://schemas.microsoft.com/office/drawing/2014/main" id="{59037309-8DAC-2D7B-696E-703319CA6A8E}"/>
              </a:ext>
            </a:extLst>
          </p:cNvPr>
          <p:cNvSpPr/>
          <p:nvPr/>
        </p:nvSpPr>
        <p:spPr>
          <a:xfrm>
            <a:off x="1552266" y="3242506"/>
            <a:ext cx="22944874" cy="88716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</a:rPr>
              <a:t>Key Questions to Consider: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Can you pair back redundant SKUs from your product line?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In doing so, how will this be perceived by your customer base?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Are their proper screens in your Product Management process to eliminate SKU overload in your new product pipeline?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Is your salesforce trained and disciplined to sell existing technology?</a:t>
            </a:r>
          </a:p>
          <a:p>
            <a:endParaRPr lang="en-US" sz="600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5FCEB85-DCE5-7A8C-4A97-9FFA087BFD16}"/>
              </a:ext>
            </a:extLst>
          </p:cNvPr>
          <p:cNvGrpSpPr/>
          <p:nvPr/>
        </p:nvGrpSpPr>
        <p:grpSpPr>
          <a:xfrm>
            <a:off x="1094775" y="499779"/>
            <a:ext cx="8873172" cy="1882014"/>
            <a:chOff x="1965812" y="3928900"/>
            <a:chExt cx="8873172" cy="188201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C82B54F-15A7-F64E-3BD9-AD845FC54CEC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12" name="Circle">
                <a:extLst>
                  <a:ext uri="{FF2B5EF4-FFF2-40B4-BE49-F238E27FC236}">
                    <a16:creationId xmlns:a16="http://schemas.microsoft.com/office/drawing/2014/main" id="{2D5C3732-07DB-5F2B-C1E5-1C4733A86229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3" name="Circle">
                <a:extLst>
                  <a:ext uri="{FF2B5EF4-FFF2-40B4-BE49-F238E27FC236}">
                    <a16:creationId xmlns:a16="http://schemas.microsoft.com/office/drawing/2014/main" id="{0996EE12-2F50-9005-0F10-A79E7E50924E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4" name="1">
                <a:extLst>
                  <a:ext uri="{FF2B5EF4-FFF2-40B4-BE49-F238E27FC236}">
                    <a16:creationId xmlns:a16="http://schemas.microsoft.com/office/drawing/2014/main" id="{0CA54546-1360-1A87-122D-D599BBF7F260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12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6" name="Coupons">
              <a:extLst>
                <a:ext uri="{FF2B5EF4-FFF2-40B4-BE49-F238E27FC236}">
                  <a16:creationId xmlns:a16="http://schemas.microsoft.com/office/drawing/2014/main" id="{8DD58396-ABDF-F2BC-BD42-19175E3B9395}"/>
                </a:ext>
              </a:extLst>
            </p:cNvPr>
            <p:cNvSpPr/>
            <p:nvPr/>
          </p:nvSpPr>
          <p:spPr>
            <a:xfrm>
              <a:off x="4045351" y="4615991"/>
              <a:ext cx="6793633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SKU Analysis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21737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88209BEF-02BE-2C78-3D2C-CD11A95F78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723" y="0"/>
            <a:ext cx="24383277" cy="137160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0360FE-F4E0-0696-1851-7EDE61C3D2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723" y="0"/>
            <a:ext cx="24383277" cy="13716000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AA1DA0E-8D9E-0CC4-DEFE-EEC5A7B974ED}"/>
              </a:ext>
            </a:extLst>
          </p:cNvPr>
          <p:cNvGrpSpPr/>
          <p:nvPr/>
        </p:nvGrpSpPr>
        <p:grpSpPr>
          <a:xfrm>
            <a:off x="1174789" y="1079676"/>
            <a:ext cx="8873172" cy="1882014"/>
            <a:chOff x="1965812" y="3928900"/>
            <a:chExt cx="8873172" cy="1882014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FAEC072-D144-2989-54C1-D9FAF4CC979A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5" name="Circle">
                <a:extLst>
                  <a:ext uri="{FF2B5EF4-FFF2-40B4-BE49-F238E27FC236}">
                    <a16:creationId xmlns:a16="http://schemas.microsoft.com/office/drawing/2014/main" id="{181A5E10-45F5-D08E-ED79-F65FBEB4C225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6" name="Circle">
                <a:extLst>
                  <a:ext uri="{FF2B5EF4-FFF2-40B4-BE49-F238E27FC236}">
                    <a16:creationId xmlns:a16="http://schemas.microsoft.com/office/drawing/2014/main" id="{73D5A8CD-BAC9-A885-E26E-8035D97A9260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7" name="1">
                <a:extLst>
                  <a:ext uri="{FF2B5EF4-FFF2-40B4-BE49-F238E27FC236}">
                    <a16:creationId xmlns:a16="http://schemas.microsoft.com/office/drawing/2014/main" id="{76A654B6-234C-DF30-05E0-6FC8D45DE472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13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" name="Coupons">
              <a:extLst>
                <a:ext uri="{FF2B5EF4-FFF2-40B4-BE49-F238E27FC236}">
                  <a16:creationId xmlns:a16="http://schemas.microsoft.com/office/drawing/2014/main" id="{D930AB83-F66B-517D-2F92-8033C8FEE7B7}"/>
                </a:ext>
              </a:extLst>
            </p:cNvPr>
            <p:cNvSpPr/>
            <p:nvPr/>
          </p:nvSpPr>
          <p:spPr>
            <a:xfrm>
              <a:off x="4045351" y="4615991"/>
              <a:ext cx="6793633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Risk Analysis</a:t>
              </a:r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2883FB77-7033-76FB-C6CD-71776A389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376" y="3658730"/>
            <a:ext cx="16187853" cy="8897959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4C389730-6ACD-26B4-42EA-BA12614CACA8}"/>
              </a:ext>
            </a:extLst>
          </p:cNvPr>
          <p:cNvGrpSpPr/>
          <p:nvPr/>
        </p:nvGrpSpPr>
        <p:grpSpPr>
          <a:xfrm>
            <a:off x="18885882" y="7669680"/>
            <a:ext cx="4728117" cy="4663570"/>
            <a:chOff x="18596556" y="3989777"/>
            <a:chExt cx="4728117" cy="4663570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AAAE6DB0-D7C5-E9C5-DBDD-286C1765EAB2}"/>
                </a:ext>
              </a:extLst>
            </p:cNvPr>
            <p:cNvSpPr/>
            <p:nvPr/>
          </p:nvSpPr>
          <p:spPr>
            <a:xfrm>
              <a:off x="18596556" y="3989777"/>
              <a:ext cx="4728117" cy="466357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0" rIns="50800" bIns="50800" numCol="1" spcCol="38100" rtlCol="0" anchor="t" anchorCtr="0">
              <a:noAutofit/>
            </a:bodyPr>
            <a:lstStyle/>
            <a:p>
              <a:pPr marL="0" marR="0" indent="0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5400" b="1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+mn-lt"/>
                  <a:ea typeface="+mn-ea"/>
                  <a:cs typeface="+mn-cs"/>
                  <a:sym typeface="Roboto"/>
                </a:rPr>
                <a:t>Key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2A2BA9B-EE95-887F-8F6E-E0C13A8CBD6B}"/>
                </a:ext>
              </a:extLst>
            </p:cNvPr>
            <p:cNvSpPr/>
            <p:nvPr/>
          </p:nvSpPr>
          <p:spPr>
            <a:xfrm>
              <a:off x="19096744" y="5243035"/>
              <a:ext cx="3727740" cy="718145"/>
            </a:xfrm>
            <a:prstGeom prst="rect">
              <a:avLst/>
            </a:prstGeom>
            <a:solidFill>
              <a:srgbClr val="00B050"/>
            </a:solidFill>
            <a:ln w="12700" cap="flat">
              <a:noFill/>
              <a:miter lim="400000"/>
            </a:ln>
            <a:effectLst>
              <a:softEdge rad="127000"/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4000" b="0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+mn-lt"/>
                  <a:ea typeface="+mn-ea"/>
                  <a:cs typeface="+mn-cs"/>
                  <a:sym typeface="Roboto"/>
                </a:rPr>
                <a:t>No Action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709FE80-C216-A2CA-E45B-DD09ACD5F978}"/>
                </a:ext>
              </a:extLst>
            </p:cNvPr>
            <p:cNvSpPr/>
            <p:nvPr/>
          </p:nvSpPr>
          <p:spPr>
            <a:xfrm>
              <a:off x="19096744" y="6251241"/>
              <a:ext cx="3727740" cy="718145"/>
            </a:xfrm>
            <a:prstGeom prst="rect">
              <a:avLst/>
            </a:prstGeom>
            <a:solidFill>
              <a:srgbClr val="FFFF00"/>
            </a:solidFill>
            <a:ln w="12700" cap="flat">
              <a:noFill/>
              <a:miter lim="400000"/>
            </a:ln>
            <a:effectLst>
              <a:softEdge rad="127000"/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4000" b="0" i="0" u="none" strike="noStrike" cap="none" spc="0" normalizeH="0" baseline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+mn-lt"/>
                  <a:ea typeface="+mn-ea"/>
                  <a:cs typeface="+mn-cs"/>
                  <a:sym typeface="Roboto"/>
                </a:rPr>
                <a:t>Monitor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BEC53EA-956D-6103-8F7C-6462267D82F4}"/>
                </a:ext>
              </a:extLst>
            </p:cNvPr>
            <p:cNvSpPr/>
            <p:nvPr/>
          </p:nvSpPr>
          <p:spPr>
            <a:xfrm>
              <a:off x="19096744" y="7254853"/>
              <a:ext cx="3727740" cy="718145"/>
            </a:xfrm>
            <a:prstGeom prst="rect">
              <a:avLst/>
            </a:prstGeom>
            <a:solidFill>
              <a:srgbClr val="FF0000"/>
            </a:solidFill>
            <a:ln w="12700" cap="flat">
              <a:noFill/>
              <a:miter lim="400000"/>
            </a:ln>
            <a:effectLst>
              <a:softEdge rad="127000"/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en-US" sz="4000" b="0" i="0" u="none" strike="noStrike" cap="none" spc="0" normalizeH="0" baseline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uFillTx/>
                  <a:latin typeface="+mn-lt"/>
                  <a:ea typeface="+mn-ea"/>
                  <a:cs typeface="+mn-cs"/>
                  <a:sym typeface="Roboto"/>
                </a:rPr>
                <a:t>Mitigate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3293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2458C51-D53F-218D-5084-596A07F6E9B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alphaModFix amt="59000"/>
          </a:blip>
          <a:stretch>
            <a:fillRect/>
          </a:stretch>
        </p:blipFill>
        <p:spPr>
          <a:xfrm>
            <a:off x="0" y="18318"/>
            <a:ext cx="24384000" cy="13716001"/>
          </a:xfrm>
          <a:prstGeom prst="rect">
            <a:avLst/>
          </a:prstGeom>
        </p:spPr>
      </p:pic>
      <p:sp>
        <p:nvSpPr>
          <p:cNvPr id="457" name="Coupons"/>
          <p:cNvSpPr/>
          <p:nvPr/>
        </p:nvSpPr>
        <p:spPr>
          <a:xfrm>
            <a:off x="1740623" y="1983644"/>
            <a:ext cx="6021649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2" name="Coupons">
            <a:extLst>
              <a:ext uri="{FF2B5EF4-FFF2-40B4-BE49-F238E27FC236}">
                <a16:creationId xmlns:a16="http://schemas.microsoft.com/office/drawing/2014/main" id="{59037309-8DAC-2D7B-696E-703319CA6A8E}"/>
              </a:ext>
            </a:extLst>
          </p:cNvPr>
          <p:cNvSpPr/>
          <p:nvPr/>
        </p:nvSpPr>
        <p:spPr>
          <a:xfrm>
            <a:off x="2115795" y="3608591"/>
            <a:ext cx="21153244" cy="8132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6000" dirty="0">
                <a:solidFill>
                  <a:schemeClr val="bg1"/>
                </a:solidFill>
              </a:rPr>
              <a:t>Key Questions to Consider: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Do you have a meaningful risk-assessment process?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Do you use FMEA? (Failure Mode Effect Analysis)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Do you consider micro AND macro risks?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dirty="0">
                <a:solidFill>
                  <a:schemeClr val="bg1"/>
                </a:solidFill>
              </a:rPr>
              <a:t>Do you have processes on the shelf to mitigate your various risks?</a:t>
            </a:r>
          </a:p>
          <a:p>
            <a:endParaRPr lang="en-US" sz="6000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404BAE7-EA16-3DEC-12DE-F41809FF443D}"/>
              </a:ext>
            </a:extLst>
          </p:cNvPr>
          <p:cNvGrpSpPr/>
          <p:nvPr/>
        </p:nvGrpSpPr>
        <p:grpSpPr>
          <a:xfrm>
            <a:off x="1174789" y="1079676"/>
            <a:ext cx="8873172" cy="1882014"/>
            <a:chOff x="1965812" y="3928900"/>
            <a:chExt cx="8873172" cy="188201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1656147-3F8F-281D-ED75-9C53A5727E0B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10" name="Circle">
                <a:extLst>
                  <a:ext uri="{FF2B5EF4-FFF2-40B4-BE49-F238E27FC236}">
                    <a16:creationId xmlns:a16="http://schemas.microsoft.com/office/drawing/2014/main" id="{3FBDA26A-859B-A20C-71EE-CDCD9F911C8B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1" name="Circle">
                <a:extLst>
                  <a:ext uri="{FF2B5EF4-FFF2-40B4-BE49-F238E27FC236}">
                    <a16:creationId xmlns:a16="http://schemas.microsoft.com/office/drawing/2014/main" id="{F295AA3B-1D49-5FCB-11C5-F6D8919171AD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5" name="1">
                <a:extLst>
                  <a:ext uri="{FF2B5EF4-FFF2-40B4-BE49-F238E27FC236}">
                    <a16:creationId xmlns:a16="http://schemas.microsoft.com/office/drawing/2014/main" id="{BDD9D15F-C232-E108-DD6F-33221DDDF3BF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13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9" name="Coupons">
              <a:extLst>
                <a:ext uri="{FF2B5EF4-FFF2-40B4-BE49-F238E27FC236}">
                  <a16:creationId xmlns:a16="http://schemas.microsoft.com/office/drawing/2014/main" id="{5C58ED7D-CBA0-862C-2E56-2DC304387BDB}"/>
                </a:ext>
              </a:extLst>
            </p:cNvPr>
            <p:cNvSpPr/>
            <p:nvPr/>
          </p:nvSpPr>
          <p:spPr>
            <a:xfrm>
              <a:off x="4045351" y="4615991"/>
              <a:ext cx="6793633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Risk Analysis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1003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30360FE-F4E0-0696-1851-7EDE61C3D2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0" y="0"/>
            <a:ext cx="24383277" cy="13716000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832752B-4F0E-7E0B-567A-8DC3840D7B47}"/>
              </a:ext>
            </a:extLst>
          </p:cNvPr>
          <p:cNvGrpSpPr/>
          <p:nvPr/>
        </p:nvGrpSpPr>
        <p:grpSpPr>
          <a:xfrm>
            <a:off x="1329873" y="1234067"/>
            <a:ext cx="8833444" cy="1882014"/>
            <a:chOff x="1965812" y="3928900"/>
            <a:chExt cx="8833444" cy="188201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28BAA24-AB8A-A906-19DB-AC96C2315F03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12" name="Circle">
                <a:extLst>
                  <a:ext uri="{FF2B5EF4-FFF2-40B4-BE49-F238E27FC236}">
                    <a16:creationId xmlns:a16="http://schemas.microsoft.com/office/drawing/2014/main" id="{4FAD1628-0485-D80B-D114-FB2B53B2DCCC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3" name="Circle">
                <a:extLst>
                  <a:ext uri="{FF2B5EF4-FFF2-40B4-BE49-F238E27FC236}">
                    <a16:creationId xmlns:a16="http://schemas.microsoft.com/office/drawing/2014/main" id="{40E0D520-B0FC-E674-4923-4FEE5672C385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4" name="1">
                <a:extLst>
                  <a:ext uri="{FF2B5EF4-FFF2-40B4-BE49-F238E27FC236}">
                    <a16:creationId xmlns:a16="http://schemas.microsoft.com/office/drawing/2014/main" id="{00F4D955-4948-730B-F0AE-87F68060806A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14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1" name="Coupons">
              <a:extLst>
                <a:ext uri="{FF2B5EF4-FFF2-40B4-BE49-F238E27FC236}">
                  <a16:creationId xmlns:a16="http://schemas.microsoft.com/office/drawing/2014/main" id="{F51CDD22-9F44-6E30-079E-25078430E613}"/>
                </a:ext>
              </a:extLst>
            </p:cNvPr>
            <p:cNvSpPr/>
            <p:nvPr/>
          </p:nvSpPr>
          <p:spPr>
            <a:xfrm>
              <a:off x="4045352" y="4615991"/>
              <a:ext cx="6753904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Human Capital </a:t>
              </a: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320E45AB-7AFE-43AC-B939-F5BB94DB7A55}"/>
              </a:ext>
            </a:extLst>
          </p:cNvPr>
          <p:cNvSpPr txBox="1"/>
          <p:nvPr/>
        </p:nvSpPr>
        <p:spPr>
          <a:xfrm>
            <a:off x="737850" y="3843479"/>
            <a:ext cx="7936499" cy="74635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1155700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i="1" u="sng" dirty="0"/>
              <a:t>Things to Consider: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B51C46-19E4-1D0D-E454-129908D4FC5B}"/>
              </a:ext>
            </a:extLst>
          </p:cNvPr>
          <p:cNvSpPr txBox="1"/>
          <p:nvPr/>
        </p:nvSpPr>
        <p:spPr>
          <a:xfrm>
            <a:off x="1161596" y="5317235"/>
            <a:ext cx="22213132" cy="67505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685800" marR="0" indent="-6858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rPr>
              <a:t>What training does your current workforce need to meet your strategic plan?</a:t>
            </a:r>
          </a:p>
          <a:p>
            <a:pPr marL="685800" marR="0" indent="-6858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4800" dirty="0">
                <a:solidFill>
                  <a:schemeClr val="bg1"/>
                </a:solidFill>
              </a:rPr>
              <a:t>What talent gaps do you have to meet your plan?</a:t>
            </a:r>
          </a:p>
          <a:p>
            <a:pPr marL="1335088" lvl="2" indent="-679450" algn="l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bg1"/>
                </a:solidFill>
              </a:rPr>
              <a:t>Technical ?</a:t>
            </a:r>
          </a:p>
          <a:p>
            <a:pPr marL="1335088" lvl="2" indent="-679450" algn="l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bg1"/>
                </a:solidFill>
              </a:rPr>
              <a:t>Commercial?</a:t>
            </a:r>
          </a:p>
          <a:p>
            <a:pPr marL="1335088" lvl="2" indent="-679450" algn="l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bg1"/>
                </a:solidFill>
              </a:rPr>
              <a:t>Financial?</a:t>
            </a:r>
          </a:p>
          <a:p>
            <a:pPr marL="1335088" lvl="2" indent="-679450" algn="l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bg1"/>
                </a:solidFill>
              </a:rPr>
              <a:t>Managerial ?</a:t>
            </a:r>
          </a:p>
          <a:p>
            <a:pPr marL="1335088" lvl="2" indent="-679450" algn="l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bg1"/>
                </a:solidFill>
              </a:rPr>
              <a:t>Leadership?</a:t>
            </a:r>
          </a:p>
          <a:p>
            <a:pPr marL="525463" indent="-504825" algn="l">
              <a:buFont typeface="Arial" panose="020B0604020202020204" pitchFamily="34" charset="0"/>
              <a:buChar char="•"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rPr>
              <a:t>Do you have a robust talent acquisition process?</a:t>
            </a:r>
          </a:p>
          <a:p>
            <a:pPr marL="1335088" lvl="1" indent="-679450" algn="l">
              <a:buFont typeface="Arial" panose="020B0604020202020204" pitchFamily="34" charset="0"/>
              <a:buChar char="•"/>
            </a:pP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299AACBA-D156-5911-89E2-C9776F9E9258}"/>
              </a:ext>
            </a:extLst>
          </p:cNvPr>
          <p:cNvSpPr/>
          <p:nvPr/>
        </p:nvSpPr>
        <p:spPr>
          <a:xfrm>
            <a:off x="19046282" y="8869927"/>
            <a:ext cx="3630544" cy="23227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0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4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6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3"/>
                </a:cubicBezTo>
                <a:cubicBezTo>
                  <a:pt x="13386" y="9109"/>
                  <a:pt x="13260" y="9535"/>
                  <a:pt x="13227" y="9619"/>
                </a:cubicBezTo>
                <a:cubicBezTo>
                  <a:pt x="13219" y="9631"/>
                  <a:pt x="13101" y="9813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0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8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4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80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7"/>
                </a:moveTo>
                <a:cubicBezTo>
                  <a:pt x="19516" y="15007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4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3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7"/>
                </a:cubicBezTo>
                <a:cubicBezTo>
                  <a:pt x="17950" y="4265"/>
                  <a:pt x="18131" y="4361"/>
                  <a:pt x="18562" y="5641"/>
                </a:cubicBezTo>
                <a:cubicBezTo>
                  <a:pt x="18822" y="6387"/>
                  <a:pt x="18452" y="7378"/>
                  <a:pt x="18253" y="7910"/>
                </a:cubicBezTo>
                <a:cubicBezTo>
                  <a:pt x="18161" y="8155"/>
                  <a:pt x="18130" y="8457"/>
                  <a:pt x="18182" y="8718"/>
                </a:cubicBezTo>
                <a:cubicBezTo>
                  <a:pt x="18316" y="9392"/>
                  <a:pt x="18254" y="9707"/>
                  <a:pt x="18232" y="9784"/>
                </a:cubicBezTo>
                <a:cubicBezTo>
                  <a:pt x="18230" y="9789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2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7"/>
                  <a:pt x="19516" y="15007"/>
                </a:cubicBezTo>
                <a:moveTo>
                  <a:pt x="2371" y="16155"/>
                </a:moveTo>
                <a:cubicBezTo>
                  <a:pt x="3030" y="15932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9"/>
                  <a:pt x="3367" y="9784"/>
                </a:cubicBezTo>
                <a:cubicBezTo>
                  <a:pt x="3346" y="9707"/>
                  <a:pt x="3283" y="9392"/>
                  <a:pt x="3418" y="8718"/>
                </a:cubicBezTo>
                <a:cubicBezTo>
                  <a:pt x="3470" y="8457"/>
                  <a:pt x="3439" y="8155"/>
                  <a:pt x="3347" y="7910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1"/>
                  <a:pt x="3649" y="4265"/>
                  <a:pt x="4133" y="4007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4"/>
                </a:cubicBezTo>
                <a:cubicBezTo>
                  <a:pt x="6045" y="3548"/>
                  <a:pt x="6096" y="3341"/>
                  <a:pt x="6165" y="3133"/>
                </a:cubicBezTo>
                <a:cubicBezTo>
                  <a:pt x="6225" y="2950"/>
                  <a:pt x="6289" y="2793"/>
                  <a:pt x="6351" y="2631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3"/>
                  <a:pt x="2130" y="5184"/>
                </a:cubicBezTo>
                <a:cubicBezTo>
                  <a:pt x="1700" y="6419"/>
                  <a:pt x="2212" y="7760"/>
                  <a:pt x="2464" y="8434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7"/>
                  <a:pt x="2084" y="15007"/>
                </a:cubicBezTo>
                <a:cubicBezTo>
                  <a:pt x="1191" y="15387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 Light"/>
                <a:ea typeface="Roboto Light"/>
                <a:cs typeface="Roboto Light"/>
                <a:sym typeface="Roboto Light"/>
              </a:defRPr>
            </a:pPr>
            <a:endParaRPr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962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88209BEF-02BE-2C78-3D2C-CD11A95F78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723" y="0"/>
            <a:ext cx="24383277" cy="1371600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30360FE-F4E0-0696-1851-7EDE61C3D29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3000"/>
          </a:blip>
          <a:stretch>
            <a:fillRect/>
          </a:stretch>
        </p:blipFill>
        <p:spPr>
          <a:xfrm>
            <a:off x="723" y="29735"/>
            <a:ext cx="24383277" cy="13716000"/>
          </a:xfrm>
          <a:prstGeom prst="rect">
            <a:avLst/>
          </a:prstGeom>
          <a:ln>
            <a:solidFill>
              <a:srgbClr val="FF0000"/>
            </a:solidFill>
          </a:ln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832752B-4F0E-7E0B-567A-8DC3840D7B47}"/>
              </a:ext>
            </a:extLst>
          </p:cNvPr>
          <p:cNvGrpSpPr/>
          <p:nvPr/>
        </p:nvGrpSpPr>
        <p:grpSpPr>
          <a:xfrm>
            <a:off x="1329873" y="1234067"/>
            <a:ext cx="8833444" cy="1882014"/>
            <a:chOff x="1965812" y="3928900"/>
            <a:chExt cx="8833444" cy="188201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28BAA24-AB8A-A906-19DB-AC96C2315F03}"/>
                </a:ext>
              </a:extLst>
            </p:cNvPr>
            <p:cNvGrpSpPr/>
            <p:nvPr/>
          </p:nvGrpSpPr>
          <p:grpSpPr>
            <a:xfrm>
              <a:off x="1965812" y="3928900"/>
              <a:ext cx="1882014" cy="1882014"/>
              <a:chOff x="1608973" y="2501544"/>
              <a:chExt cx="1882014" cy="1882014"/>
            </a:xfrm>
          </p:grpSpPr>
          <p:sp>
            <p:nvSpPr>
              <p:cNvPr id="12" name="Circle">
                <a:extLst>
                  <a:ext uri="{FF2B5EF4-FFF2-40B4-BE49-F238E27FC236}">
                    <a16:creationId xmlns:a16="http://schemas.microsoft.com/office/drawing/2014/main" id="{4FAD1628-0485-D80B-D114-FB2B53B2DCCC}"/>
                  </a:ext>
                </a:extLst>
              </p:cNvPr>
              <p:cNvSpPr/>
              <p:nvPr/>
            </p:nvSpPr>
            <p:spPr>
              <a:xfrm>
                <a:off x="1608973" y="2501544"/>
                <a:ext cx="1882014" cy="188201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/>
                  </a:gs>
                  <a:gs pos="100000">
                    <a:schemeClr val="accent6"/>
                  </a:gs>
                </a:gsLst>
                <a:lin ang="162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3" name="Circle">
                <a:extLst>
                  <a:ext uri="{FF2B5EF4-FFF2-40B4-BE49-F238E27FC236}">
                    <a16:creationId xmlns:a16="http://schemas.microsoft.com/office/drawing/2014/main" id="{40E0D520-B0FC-E674-4923-4FEE5672C385}"/>
                  </a:ext>
                </a:extLst>
              </p:cNvPr>
              <p:cNvSpPr/>
              <p:nvPr/>
            </p:nvSpPr>
            <p:spPr>
              <a:xfrm>
                <a:off x="1783560" y="2676131"/>
                <a:ext cx="1532840" cy="1532840"/>
              </a:xfrm>
              <a:prstGeom prst="ellipse">
                <a:avLst/>
              </a:prstGeom>
              <a:solidFill>
                <a:srgbClr val="191C26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584200">
                  <a:defRPr sz="4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endParaRPr/>
              </a:p>
            </p:txBody>
          </p:sp>
          <p:sp>
            <p:nvSpPr>
              <p:cNvPr id="14" name="1">
                <a:extLst>
                  <a:ext uri="{FF2B5EF4-FFF2-40B4-BE49-F238E27FC236}">
                    <a16:creationId xmlns:a16="http://schemas.microsoft.com/office/drawing/2014/main" id="{00F4D955-4948-730B-F0AE-87F68060806A}"/>
                  </a:ext>
                </a:extLst>
              </p:cNvPr>
              <p:cNvSpPr/>
              <p:nvPr/>
            </p:nvSpPr>
            <p:spPr>
              <a:xfrm>
                <a:off x="2066464" y="2950108"/>
                <a:ext cx="967031" cy="9848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lIns="0" tIns="0" rIns="0" bIns="0" anchor="ctr">
                <a:spAutoFit/>
              </a:bodyPr>
              <a:lstStyle>
                <a:lvl1pPr defTabSz="1155700">
                  <a:defRPr sz="6400" b="1">
                    <a:solidFill>
                      <a:srgbClr val="DD4242"/>
                    </a:solidFill>
                  </a:defRPr>
                </a:lvl1pPr>
              </a:lstStyle>
              <a:p>
                <a:r>
                  <a:rPr lang="en-US" dirty="0">
                    <a:solidFill>
                      <a:schemeClr val="accent2"/>
                    </a:solidFill>
                  </a:rPr>
                  <a:t>15</a:t>
                </a:r>
                <a:endParaRPr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1" name="Coupons">
              <a:extLst>
                <a:ext uri="{FF2B5EF4-FFF2-40B4-BE49-F238E27FC236}">
                  <a16:creationId xmlns:a16="http://schemas.microsoft.com/office/drawing/2014/main" id="{F51CDD22-9F44-6E30-079E-25078430E613}"/>
                </a:ext>
              </a:extLst>
            </p:cNvPr>
            <p:cNvSpPr/>
            <p:nvPr/>
          </p:nvSpPr>
          <p:spPr>
            <a:xfrm>
              <a:off x="4045352" y="4615991"/>
              <a:ext cx="6753904" cy="7463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anchor="ctr">
              <a:spAutoFit/>
            </a:bodyPr>
            <a:lstStyle>
              <a:lvl1pPr algn="l" defTabSz="1155700">
                <a:lnSpc>
                  <a:spcPct val="80000"/>
                </a:lnSpc>
                <a:defRPr sz="3000" b="1">
                  <a:solidFill>
                    <a:srgbClr val="DD4242"/>
                  </a:solidFill>
                </a:defRPr>
              </a:lvl1pPr>
            </a:lstStyle>
            <a:p>
              <a:r>
                <a:rPr lang="en-US" sz="6000" b="0" dirty="0">
                  <a:solidFill>
                    <a:schemeClr val="bg1"/>
                  </a:solidFill>
                </a:rPr>
                <a:t>Financial Summary</a:t>
              </a:r>
            </a:p>
          </p:txBody>
        </p:sp>
      </p:grpSp>
      <p:sp>
        <p:nvSpPr>
          <p:cNvPr id="23" name="Oval">
            <a:extLst>
              <a:ext uri="{FF2B5EF4-FFF2-40B4-BE49-F238E27FC236}">
                <a16:creationId xmlns:a16="http://schemas.microsoft.com/office/drawing/2014/main" id="{B609AA5C-66A5-6CAA-592D-CC4E8DE8F29E}"/>
              </a:ext>
            </a:extLst>
          </p:cNvPr>
          <p:cNvSpPr/>
          <p:nvPr/>
        </p:nvSpPr>
        <p:spPr>
          <a:xfrm>
            <a:off x="1329873" y="3718756"/>
            <a:ext cx="9273120" cy="9259900"/>
          </a:xfrm>
          <a:prstGeom prst="ellipse">
            <a:avLst/>
          </a:prstGeom>
          <a:ln w="76200">
            <a:solidFill>
              <a:srgbClr val="FF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 Light"/>
                <a:ea typeface="Roboto Light"/>
                <a:cs typeface="Roboto Light"/>
                <a:sym typeface="Roboto Light"/>
              </a:defRPr>
            </a:pPr>
            <a:endParaRPr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5" name="Line">
            <a:extLst>
              <a:ext uri="{FF2B5EF4-FFF2-40B4-BE49-F238E27FC236}">
                <a16:creationId xmlns:a16="http://schemas.microsoft.com/office/drawing/2014/main" id="{E3953C9B-6A71-8031-1E0A-2B62BE8C6D63}"/>
              </a:ext>
            </a:extLst>
          </p:cNvPr>
          <p:cNvSpPr/>
          <p:nvPr/>
        </p:nvSpPr>
        <p:spPr>
          <a:xfrm flipH="1">
            <a:off x="6975857" y="5031991"/>
            <a:ext cx="2240435" cy="2240434"/>
          </a:xfrm>
          <a:prstGeom prst="line">
            <a:avLst/>
          </a:prstGeom>
          <a:ln w="76200">
            <a:solidFill>
              <a:srgbClr val="FF0000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/>
            </a:pPr>
            <a:endParaRPr/>
          </a:p>
        </p:txBody>
      </p:sp>
      <p:sp>
        <p:nvSpPr>
          <p:cNvPr id="26" name="Line">
            <a:extLst>
              <a:ext uri="{FF2B5EF4-FFF2-40B4-BE49-F238E27FC236}">
                <a16:creationId xmlns:a16="http://schemas.microsoft.com/office/drawing/2014/main" id="{B18735EE-107A-698D-6042-81090E68C4D1}"/>
              </a:ext>
            </a:extLst>
          </p:cNvPr>
          <p:cNvSpPr/>
          <p:nvPr/>
        </p:nvSpPr>
        <p:spPr>
          <a:xfrm flipH="1" flipV="1">
            <a:off x="1347789" y="8312839"/>
            <a:ext cx="3121371" cy="52"/>
          </a:xfrm>
          <a:prstGeom prst="line">
            <a:avLst/>
          </a:prstGeom>
          <a:ln w="76200">
            <a:solidFill>
              <a:srgbClr val="FF0000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/>
            </a:pPr>
            <a:endParaRPr/>
          </a:p>
        </p:txBody>
      </p:sp>
      <p:sp>
        <p:nvSpPr>
          <p:cNvPr id="27" name="Line">
            <a:extLst>
              <a:ext uri="{FF2B5EF4-FFF2-40B4-BE49-F238E27FC236}">
                <a16:creationId xmlns:a16="http://schemas.microsoft.com/office/drawing/2014/main" id="{F409DDE6-4ED7-891B-ECED-31769775BED0}"/>
              </a:ext>
            </a:extLst>
          </p:cNvPr>
          <p:cNvSpPr/>
          <p:nvPr/>
        </p:nvSpPr>
        <p:spPr>
          <a:xfrm flipH="1" flipV="1">
            <a:off x="6968696" y="9399065"/>
            <a:ext cx="2249634" cy="2249634"/>
          </a:xfrm>
          <a:prstGeom prst="line">
            <a:avLst/>
          </a:prstGeom>
          <a:ln w="76200">
            <a:solidFill>
              <a:srgbClr val="FF0000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/>
            </a:pPr>
            <a:endParaRPr/>
          </a:p>
        </p:txBody>
      </p:sp>
      <p:sp>
        <p:nvSpPr>
          <p:cNvPr id="28" name="Circle">
            <a:extLst>
              <a:ext uri="{FF2B5EF4-FFF2-40B4-BE49-F238E27FC236}">
                <a16:creationId xmlns:a16="http://schemas.microsoft.com/office/drawing/2014/main" id="{1779789F-F933-08F9-663A-04141461012F}"/>
              </a:ext>
            </a:extLst>
          </p:cNvPr>
          <p:cNvSpPr/>
          <p:nvPr/>
        </p:nvSpPr>
        <p:spPr>
          <a:xfrm>
            <a:off x="4480533" y="6862805"/>
            <a:ext cx="2971801" cy="2971801"/>
          </a:xfrm>
          <a:prstGeom prst="ellipse">
            <a:avLst/>
          </a:prstGeom>
          <a:ln w="76200">
            <a:solidFill>
              <a:srgbClr val="FF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 Light"/>
                <a:ea typeface="Roboto Light"/>
                <a:cs typeface="Roboto Light"/>
                <a:sym typeface="Roboto Light"/>
              </a:defRPr>
            </a:pPr>
            <a:endParaRPr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0" name="Wants">
            <a:extLst>
              <a:ext uri="{FF2B5EF4-FFF2-40B4-BE49-F238E27FC236}">
                <a16:creationId xmlns:a16="http://schemas.microsoft.com/office/drawing/2014/main" id="{2C9425F1-3672-5D9F-1BB3-FD9D90EAD4F5}"/>
              </a:ext>
            </a:extLst>
          </p:cNvPr>
          <p:cNvSpPr/>
          <p:nvPr/>
        </p:nvSpPr>
        <p:spPr>
          <a:xfrm>
            <a:off x="3211887" y="4809936"/>
            <a:ext cx="2906769" cy="1630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defTabSz="9144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Profit &amp; Loss Statement</a:t>
            </a:r>
            <a:endParaRPr sz="4400" dirty="0">
              <a:solidFill>
                <a:schemeClr val="bg1"/>
              </a:solidFill>
            </a:endParaRPr>
          </a:p>
        </p:txBody>
      </p:sp>
      <p:sp>
        <p:nvSpPr>
          <p:cNvPr id="34" name="Shape">
            <a:extLst>
              <a:ext uri="{FF2B5EF4-FFF2-40B4-BE49-F238E27FC236}">
                <a16:creationId xmlns:a16="http://schemas.microsoft.com/office/drawing/2014/main" id="{3A552C8F-C874-AEF6-04A8-237923553906}"/>
              </a:ext>
            </a:extLst>
          </p:cNvPr>
          <p:cNvSpPr/>
          <p:nvPr/>
        </p:nvSpPr>
        <p:spPr>
          <a:xfrm>
            <a:off x="5367419" y="7868505"/>
            <a:ext cx="1117600" cy="9144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0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4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6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3"/>
                </a:cubicBezTo>
                <a:cubicBezTo>
                  <a:pt x="13386" y="9109"/>
                  <a:pt x="13260" y="9535"/>
                  <a:pt x="13227" y="9619"/>
                </a:cubicBezTo>
                <a:cubicBezTo>
                  <a:pt x="13219" y="9631"/>
                  <a:pt x="13101" y="9813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0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8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4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80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7"/>
                </a:moveTo>
                <a:cubicBezTo>
                  <a:pt x="19516" y="15007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4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3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7"/>
                </a:cubicBezTo>
                <a:cubicBezTo>
                  <a:pt x="17950" y="4265"/>
                  <a:pt x="18131" y="4361"/>
                  <a:pt x="18562" y="5641"/>
                </a:cubicBezTo>
                <a:cubicBezTo>
                  <a:pt x="18822" y="6387"/>
                  <a:pt x="18452" y="7378"/>
                  <a:pt x="18253" y="7910"/>
                </a:cubicBezTo>
                <a:cubicBezTo>
                  <a:pt x="18161" y="8155"/>
                  <a:pt x="18130" y="8457"/>
                  <a:pt x="18182" y="8718"/>
                </a:cubicBezTo>
                <a:cubicBezTo>
                  <a:pt x="18316" y="9392"/>
                  <a:pt x="18254" y="9707"/>
                  <a:pt x="18232" y="9784"/>
                </a:cubicBezTo>
                <a:cubicBezTo>
                  <a:pt x="18230" y="9789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2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7"/>
                  <a:pt x="19516" y="15007"/>
                </a:cubicBezTo>
                <a:moveTo>
                  <a:pt x="2371" y="16155"/>
                </a:moveTo>
                <a:cubicBezTo>
                  <a:pt x="3030" y="15932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9"/>
                  <a:pt x="3367" y="9784"/>
                </a:cubicBezTo>
                <a:cubicBezTo>
                  <a:pt x="3346" y="9707"/>
                  <a:pt x="3283" y="9392"/>
                  <a:pt x="3418" y="8718"/>
                </a:cubicBezTo>
                <a:cubicBezTo>
                  <a:pt x="3470" y="8457"/>
                  <a:pt x="3439" y="8155"/>
                  <a:pt x="3347" y="7910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1"/>
                  <a:pt x="3649" y="4265"/>
                  <a:pt x="4133" y="4007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4"/>
                </a:cubicBezTo>
                <a:cubicBezTo>
                  <a:pt x="6045" y="3548"/>
                  <a:pt x="6096" y="3341"/>
                  <a:pt x="6165" y="3133"/>
                </a:cubicBezTo>
                <a:cubicBezTo>
                  <a:pt x="6225" y="2950"/>
                  <a:pt x="6289" y="2793"/>
                  <a:pt x="6351" y="2631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3"/>
                  <a:pt x="2130" y="5184"/>
                </a:cubicBezTo>
                <a:cubicBezTo>
                  <a:pt x="1700" y="6419"/>
                  <a:pt x="2212" y="7760"/>
                  <a:pt x="2464" y="8434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7"/>
                  <a:pt x="2084" y="15007"/>
                </a:cubicBezTo>
                <a:cubicBezTo>
                  <a:pt x="1191" y="15387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defTabSz="457200">
              <a:defRPr sz="3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 Light"/>
                <a:ea typeface="Roboto Light"/>
                <a:cs typeface="Roboto Light"/>
                <a:sym typeface="Roboto Light"/>
              </a:defRPr>
            </a:pPr>
            <a:endParaRPr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8" name="Wants">
            <a:extLst>
              <a:ext uri="{FF2B5EF4-FFF2-40B4-BE49-F238E27FC236}">
                <a16:creationId xmlns:a16="http://schemas.microsoft.com/office/drawing/2014/main" id="{4BA27E86-63D9-A9B0-57A0-5F927306DD57}"/>
              </a:ext>
            </a:extLst>
          </p:cNvPr>
          <p:cNvSpPr/>
          <p:nvPr/>
        </p:nvSpPr>
        <p:spPr>
          <a:xfrm>
            <a:off x="7422706" y="7830077"/>
            <a:ext cx="2906769" cy="1089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defTabSz="9144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Balance Sheet</a:t>
            </a:r>
            <a:endParaRPr sz="4400" dirty="0">
              <a:solidFill>
                <a:schemeClr val="bg1"/>
              </a:solidFill>
            </a:endParaRPr>
          </a:p>
        </p:txBody>
      </p:sp>
      <p:sp>
        <p:nvSpPr>
          <p:cNvPr id="39" name="Wants">
            <a:extLst>
              <a:ext uri="{FF2B5EF4-FFF2-40B4-BE49-F238E27FC236}">
                <a16:creationId xmlns:a16="http://schemas.microsoft.com/office/drawing/2014/main" id="{421D1B89-4A7A-862C-76D0-DB7B9B089EED}"/>
              </a:ext>
            </a:extLst>
          </p:cNvPr>
          <p:cNvSpPr/>
          <p:nvPr/>
        </p:nvSpPr>
        <p:spPr>
          <a:xfrm>
            <a:off x="3409413" y="10345335"/>
            <a:ext cx="2906769" cy="1089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defTabSz="9144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4400" dirty="0">
                <a:solidFill>
                  <a:schemeClr val="bg1"/>
                </a:solidFill>
              </a:rPr>
              <a:t>Cash Flow Statement</a:t>
            </a:r>
            <a:endParaRPr sz="4400" dirty="0">
              <a:solidFill>
                <a:schemeClr val="bg1"/>
              </a:solidFill>
            </a:endParaRPr>
          </a:p>
        </p:txBody>
      </p:sp>
      <p:sp>
        <p:nvSpPr>
          <p:cNvPr id="33" name="Oval">
            <a:extLst>
              <a:ext uri="{FF2B5EF4-FFF2-40B4-BE49-F238E27FC236}">
                <a16:creationId xmlns:a16="http://schemas.microsoft.com/office/drawing/2014/main" id="{0E57EA4D-3AD4-E2DA-FF28-991814329DD4}"/>
              </a:ext>
            </a:extLst>
          </p:cNvPr>
          <p:cNvSpPr/>
          <p:nvPr/>
        </p:nvSpPr>
        <p:spPr>
          <a:xfrm>
            <a:off x="5049919" y="7466535"/>
            <a:ext cx="1803401" cy="1816101"/>
          </a:xfrm>
          <a:prstGeom prst="ellipse">
            <a:avLst/>
          </a:prstGeom>
          <a:solidFill>
            <a:schemeClr val="accent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Roboto Light"/>
                <a:ea typeface="Roboto Light"/>
                <a:cs typeface="Roboto Light"/>
                <a:sym typeface="Roboto Light"/>
              </a:defRPr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$$$ </a:t>
            </a:r>
            <a:endParaRPr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0E45AB-7AFE-43AC-B939-F5BB94DB7A55}"/>
              </a:ext>
            </a:extLst>
          </p:cNvPr>
          <p:cNvSpPr txBox="1"/>
          <p:nvPr/>
        </p:nvSpPr>
        <p:spPr>
          <a:xfrm>
            <a:off x="13525247" y="3494699"/>
            <a:ext cx="7936499" cy="746358"/>
          </a:xfrm>
          <a:prstGeom prst="rect">
            <a:avLst/>
          </a:prstGeom>
          <a:ln w="12700">
            <a:miter lim="400000"/>
          </a:ln>
        </p:spPr>
        <p:txBody>
          <a:bodyPr wrap="square" lIns="0" tIns="0" rIns="0" bIns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1155700">
              <a:lnSpc>
                <a:spcPct val="8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i="1" u="sng" dirty="0"/>
              <a:t>Things to Consider:</a:t>
            </a:r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B51C46-19E4-1D0D-E454-129908D4FC5B}"/>
              </a:ext>
            </a:extLst>
          </p:cNvPr>
          <p:cNvSpPr txBox="1"/>
          <p:nvPr/>
        </p:nvSpPr>
        <p:spPr>
          <a:xfrm>
            <a:off x="12784315" y="4670370"/>
            <a:ext cx="8925520" cy="67505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pPr marL="685800" marR="0" indent="-6858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rPr>
              <a:t>Not a budgeting exercise</a:t>
            </a:r>
          </a:p>
          <a:p>
            <a:pPr marL="685800" marR="0" indent="-68580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4800" dirty="0">
                <a:solidFill>
                  <a:schemeClr val="bg1"/>
                </a:solidFill>
              </a:rPr>
              <a:t>Provide 3 Scenarios:</a:t>
            </a:r>
          </a:p>
          <a:p>
            <a:pPr marL="1487488" lvl="8" indent="-677863" algn="l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bg1"/>
                </a:solidFill>
              </a:rPr>
              <a:t>Upside-Likely-Downside</a:t>
            </a:r>
          </a:p>
          <a:p>
            <a:pPr marL="700088" lvl="7" indent="-700088" algn="l">
              <a:buFont typeface="Arial" panose="020B0604020202020204" pitchFamily="34" charset="0"/>
              <a:buChar char="•"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rPr>
              <a:t>Key Metrics to Highlight:</a:t>
            </a:r>
          </a:p>
          <a:p>
            <a:pPr marL="1619250" lvl="8" indent="-809625" algn="l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bg1"/>
                </a:solidFill>
              </a:rPr>
              <a:t>GM% YOY</a:t>
            </a:r>
          </a:p>
          <a:p>
            <a:pPr marL="1619250" lvl="8" indent="-809625" algn="l">
              <a:buFont typeface="Arial" panose="020B0604020202020204" pitchFamily="34" charset="0"/>
              <a:buChar char="•"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rPr>
              <a:t>Operating Cash Flow</a:t>
            </a:r>
          </a:p>
          <a:p>
            <a:pPr marL="1619250" lvl="8" indent="-809625" algn="l">
              <a:buFont typeface="Arial" panose="020B0604020202020204" pitchFamily="34" charset="0"/>
              <a:buChar char="•"/>
            </a:pPr>
            <a:r>
              <a:rPr lang="en-US" sz="4800" dirty="0">
                <a:solidFill>
                  <a:schemeClr val="bg1"/>
                </a:solidFill>
              </a:rPr>
              <a:t>CAPEX Spending</a:t>
            </a:r>
          </a:p>
          <a:p>
            <a:pPr marL="1619250" lvl="8" indent="-809625" algn="l">
              <a:buFont typeface="Arial" panose="020B0604020202020204" pitchFamily="34" charset="0"/>
              <a:buChar char="•"/>
            </a:pPr>
            <a:r>
              <a:rPr kumimoji="0" lang="en-US" sz="4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  <a:sym typeface="Roboto"/>
              </a:rPr>
              <a:t>Inventory Turns Projection</a:t>
            </a:r>
          </a:p>
          <a:p>
            <a:pPr marL="1619250" lvl="8" indent="-809625" algn="l">
              <a:buFont typeface="Arial" panose="020B0604020202020204" pitchFamily="34" charset="0"/>
              <a:buChar char="•"/>
            </a:pPr>
            <a:r>
              <a:rPr lang="en-US" sz="4800" dirty="0" err="1">
                <a:solidFill>
                  <a:schemeClr val="bg1"/>
                </a:solidFill>
              </a:rPr>
              <a:t>FCF</a:t>
            </a:r>
            <a:r>
              <a:rPr lang="en-US" sz="4800" dirty="0">
                <a:solidFill>
                  <a:schemeClr val="bg1"/>
                </a:solidFill>
              </a:rPr>
              <a:t> as % of NI</a:t>
            </a:r>
            <a:endParaRPr kumimoji="0" lang="en-US" sz="4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ea typeface="+mn-ea"/>
              <a:cs typeface="+mn-cs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505784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723" y="0"/>
            <a:ext cx="24383277" cy="13716000"/>
          </a:xfrm>
          <a:prstGeom prst="rect">
            <a:avLst/>
          </a:prstGeom>
        </p:spPr>
      </p:pic>
      <p:sp>
        <p:nvSpPr>
          <p:cNvPr id="455" name="Promotion Strategy"/>
          <p:cNvSpPr/>
          <p:nvPr/>
        </p:nvSpPr>
        <p:spPr>
          <a:xfrm>
            <a:off x="18529606" y="11502371"/>
            <a:ext cx="9372601" cy="1094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z="8800" dirty="0">
                <a:solidFill>
                  <a:schemeClr val="bg1"/>
                </a:solidFill>
              </a:rPr>
              <a:t>Agenda</a:t>
            </a:r>
            <a:endParaRPr sz="8800" dirty="0">
              <a:solidFill>
                <a:schemeClr val="bg1"/>
              </a:solidFill>
            </a:endParaRPr>
          </a:p>
        </p:txBody>
      </p:sp>
      <p:sp>
        <p:nvSpPr>
          <p:cNvPr id="456" name="Line"/>
          <p:cNvSpPr/>
          <p:nvPr/>
        </p:nvSpPr>
        <p:spPr>
          <a:xfrm>
            <a:off x="17717812" y="12049667"/>
            <a:ext cx="594149" cy="0"/>
          </a:xfrm>
          <a:prstGeom prst="line">
            <a:avLst/>
          </a:prstGeom>
          <a:ln w="381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457" name="Coupons"/>
          <p:cNvSpPr/>
          <p:nvPr/>
        </p:nvSpPr>
        <p:spPr>
          <a:xfrm>
            <a:off x="1852135" y="2572418"/>
            <a:ext cx="6021649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2" name="Coupons">
            <a:extLst>
              <a:ext uri="{FF2B5EF4-FFF2-40B4-BE49-F238E27FC236}">
                <a16:creationId xmlns:a16="http://schemas.microsoft.com/office/drawing/2014/main" id="{59037309-8DAC-2D7B-696E-703319CA6A8E}"/>
              </a:ext>
            </a:extLst>
          </p:cNvPr>
          <p:cNvSpPr/>
          <p:nvPr/>
        </p:nvSpPr>
        <p:spPr>
          <a:xfrm>
            <a:off x="2612595" y="4406576"/>
            <a:ext cx="12646290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chemeClr val="bg1"/>
                </a:solidFill>
              </a:rPr>
              <a:t>Anatomy of a Strategic Plan</a:t>
            </a:r>
          </a:p>
        </p:txBody>
      </p:sp>
      <p:sp>
        <p:nvSpPr>
          <p:cNvPr id="4" name="Coupons">
            <a:extLst>
              <a:ext uri="{FF2B5EF4-FFF2-40B4-BE49-F238E27FC236}">
                <a16:creationId xmlns:a16="http://schemas.microsoft.com/office/drawing/2014/main" id="{D13AE36A-E3FA-A1FA-46A3-D66831539B2E}"/>
              </a:ext>
            </a:extLst>
          </p:cNvPr>
          <p:cNvSpPr/>
          <p:nvPr/>
        </p:nvSpPr>
        <p:spPr>
          <a:xfrm>
            <a:off x="3549193" y="6240734"/>
            <a:ext cx="18061497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rgbClr val="FF0000"/>
                </a:solidFill>
              </a:rPr>
              <a:t>Common Issues with Strategic Planning</a:t>
            </a:r>
          </a:p>
        </p:txBody>
      </p:sp>
      <p:sp>
        <p:nvSpPr>
          <p:cNvPr id="5" name="Coupons">
            <a:extLst>
              <a:ext uri="{FF2B5EF4-FFF2-40B4-BE49-F238E27FC236}">
                <a16:creationId xmlns:a16="http://schemas.microsoft.com/office/drawing/2014/main" id="{81B957DF-82FC-3B0E-0B0F-E929DB68E358}"/>
              </a:ext>
            </a:extLst>
          </p:cNvPr>
          <p:cNvSpPr/>
          <p:nvPr/>
        </p:nvSpPr>
        <p:spPr>
          <a:xfrm>
            <a:off x="5801314" y="8034387"/>
            <a:ext cx="9825378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chemeClr val="bg1"/>
                </a:solidFill>
              </a:rPr>
              <a:t>Final Thoughts</a:t>
            </a:r>
          </a:p>
        </p:txBody>
      </p:sp>
    </p:spTree>
    <p:extLst>
      <p:ext uri="{BB962C8B-B14F-4D97-AF65-F5344CB8AC3E}">
        <p14:creationId xmlns:p14="http://schemas.microsoft.com/office/powerpoint/2010/main" val="3903852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723" y="0"/>
            <a:ext cx="24383277" cy="13716000"/>
          </a:xfrm>
          <a:prstGeom prst="rect">
            <a:avLst/>
          </a:prstGeom>
        </p:spPr>
      </p:pic>
      <p:sp>
        <p:nvSpPr>
          <p:cNvPr id="457" name="Coupons"/>
          <p:cNvSpPr/>
          <p:nvPr/>
        </p:nvSpPr>
        <p:spPr>
          <a:xfrm>
            <a:off x="569407" y="1717474"/>
            <a:ext cx="14517855" cy="89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chemeClr val="bg1"/>
                </a:solidFill>
              </a:rPr>
              <a:t>Common Issues and Guidelines</a:t>
            </a:r>
          </a:p>
        </p:txBody>
      </p:sp>
      <p:sp>
        <p:nvSpPr>
          <p:cNvPr id="7" name="Coupons">
            <a:extLst>
              <a:ext uri="{FF2B5EF4-FFF2-40B4-BE49-F238E27FC236}">
                <a16:creationId xmlns:a16="http://schemas.microsoft.com/office/drawing/2014/main" id="{8138EE0C-4BE6-3EB9-B821-39500EF68C68}"/>
              </a:ext>
            </a:extLst>
          </p:cNvPr>
          <p:cNvSpPr/>
          <p:nvPr/>
        </p:nvSpPr>
        <p:spPr>
          <a:xfrm>
            <a:off x="569407" y="3492459"/>
            <a:ext cx="21153244" cy="96103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marL="857250" indent="-857250">
              <a:buFont typeface="Wingdings" pitchFamily="2" charset="2"/>
              <a:buChar char="ü"/>
            </a:pPr>
            <a:r>
              <a:rPr lang="en-US" sz="6000" b="0" dirty="0">
                <a:solidFill>
                  <a:schemeClr val="bg1"/>
                </a:solidFill>
              </a:rPr>
              <a:t>Not telling a story - message is too complex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b="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b="0" dirty="0">
                <a:solidFill>
                  <a:schemeClr val="bg1"/>
                </a:solidFill>
              </a:rPr>
              <a:t>“How do we win” is not clearly identified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b="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b="0" dirty="0">
                <a:solidFill>
                  <a:schemeClr val="bg1"/>
                </a:solidFill>
              </a:rPr>
              <a:t>Lack of team buy-in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b="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b="0" dirty="0">
                <a:solidFill>
                  <a:schemeClr val="bg1"/>
                </a:solidFill>
              </a:rPr>
              <a:t>Lack of prioritization and focus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b="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b="0" dirty="0">
                <a:solidFill>
                  <a:schemeClr val="bg1"/>
                </a:solidFill>
              </a:rPr>
              <a:t>Too much text, not enough visuals</a:t>
            </a:r>
          </a:p>
          <a:p>
            <a:pPr marL="857250" indent="-857250">
              <a:buFont typeface="Wingdings" pitchFamily="2" charset="2"/>
              <a:buChar char="ü"/>
            </a:pPr>
            <a:endParaRPr lang="en-US" sz="6000" b="0" dirty="0">
              <a:solidFill>
                <a:schemeClr val="bg1"/>
              </a:solidFill>
            </a:endParaRPr>
          </a:p>
          <a:p>
            <a:pPr marL="857250" indent="-857250">
              <a:buFont typeface="Wingdings" pitchFamily="2" charset="2"/>
              <a:buChar char="ü"/>
            </a:pPr>
            <a:r>
              <a:rPr lang="en-US" sz="6000" b="0" dirty="0">
                <a:solidFill>
                  <a:schemeClr val="bg1"/>
                </a:solidFill>
              </a:rPr>
              <a:t>Improper identification of “Strategic Complexion”          (SQDC focus? Growth Focus? Hybrid?)</a:t>
            </a:r>
          </a:p>
          <a:p>
            <a:endParaRPr lang="en-US" sz="6000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247A5A-7536-35A5-C636-3DDDDE73E52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18468455" y="4952954"/>
            <a:ext cx="5014362" cy="7549095"/>
          </a:xfrm>
          <a:prstGeom prst="rect">
            <a:avLst/>
          </a:prstGeom>
          <a:effectLst>
            <a:glow>
              <a:schemeClr val="accent1"/>
            </a:glow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201000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723" y="0"/>
            <a:ext cx="24383277" cy="13716000"/>
          </a:xfrm>
          <a:prstGeom prst="rect">
            <a:avLst/>
          </a:prstGeom>
        </p:spPr>
      </p:pic>
      <p:sp>
        <p:nvSpPr>
          <p:cNvPr id="455" name="Promotion Strategy"/>
          <p:cNvSpPr/>
          <p:nvPr/>
        </p:nvSpPr>
        <p:spPr>
          <a:xfrm>
            <a:off x="18529606" y="11502371"/>
            <a:ext cx="9372601" cy="1094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 sz="8800" dirty="0">
                <a:solidFill>
                  <a:schemeClr val="bg1"/>
                </a:solidFill>
              </a:rPr>
              <a:t>Agenda</a:t>
            </a:r>
            <a:endParaRPr sz="8800" dirty="0">
              <a:solidFill>
                <a:schemeClr val="bg1"/>
              </a:solidFill>
            </a:endParaRPr>
          </a:p>
        </p:txBody>
      </p:sp>
      <p:sp>
        <p:nvSpPr>
          <p:cNvPr id="456" name="Line"/>
          <p:cNvSpPr/>
          <p:nvPr/>
        </p:nvSpPr>
        <p:spPr>
          <a:xfrm>
            <a:off x="17717812" y="12049667"/>
            <a:ext cx="594149" cy="0"/>
          </a:xfrm>
          <a:prstGeom prst="line">
            <a:avLst/>
          </a:prstGeom>
          <a:ln w="38100">
            <a:solidFill>
              <a:schemeClr val="accent2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457" name="Coupons"/>
          <p:cNvSpPr/>
          <p:nvPr/>
        </p:nvSpPr>
        <p:spPr>
          <a:xfrm>
            <a:off x="1852135" y="2572418"/>
            <a:ext cx="6021649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2" name="Coupons">
            <a:extLst>
              <a:ext uri="{FF2B5EF4-FFF2-40B4-BE49-F238E27FC236}">
                <a16:creationId xmlns:a16="http://schemas.microsoft.com/office/drawing/2014/main" id="{59037309-8DAC-2D7B-696E-703319CA6A8E}"/>
              </a:ext>
            </a:extLst>
          </p:cNvPr>
          <p:cNvSpPr/>
          <p:nvPr/>
        </p:nvSpPr>
        <p:spPr>
          <a:xfrm>
            <a:off x="2612595" y="4406576"/>
            <a:ext cx="12646290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chemeClr val="bg1"/>
                </a:solidFill>
              </a:rPr>
              <a:t>Anatomy of a Strategic Plan</a:t>
            </a:r>
          </a:p>
        </p:txBody>
      </p:sp>
      <p:sp>
        <p:nvSpPr>
          <p:cNvPr id="4" name="Coupons">
            <a:extLst>
              <a:ext uri="{FF2B5EF4-FFF2-40B4-BE49-F238E27FC236}">
                <a16:creationId xmlns:a16="http://schemas.microsoft.com/office/drawing/2014/main" id="{D13AE36A-E3FA-A1FA-46A3-D66831539B2E}"/>
              </a:ext>
            </a:extLst>
          </p:cNvPr>
          <p:cNvSpPr/>
          <p:nvPr/>
        </p:nvSpPr>
        <p:spPr>
          <a:xfrm>
            <a:off x="3549193" y="6240734"/>
            <a:ext cx="18061497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chemeClr val="bg1"/>
                </a:solidFill>
              </a:rPr>
              <a:t>Common Issues with Strategic Planning</a:t>
            </a:r>
          </a:p>
        </p:txBody>
      </p:sp>
      <p:sp>
        <p:nvSpPr>
          <p:cNvPr id="5" name="Coupons">
            <a:extLst>
              <a:ext uri="{FF2B5EF4-FFF2-40B4-BE49-F238E27FC236}">
                <a16:creationId xmlns:a16="http://schemas.microsoft.com/office/drawing/2014/main" id="{81B957DF-82FC-3B0E-0B0F-E929DB68E358}"/>
              </a:ext>
            </a:extLst>
          </p:cNvPr>
          <p:cNvSpPr/>
          <p:nvPr/>
        </p:nvSpPr>
        <p:spPr>
          <a:xfrm>
            <a:off x="5801314" y="8034387"/>
            <a:ext cx="9825378" cy="8955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rgbClr val="FF0000"/>
                </a:solidFill>
              </a:rPr>
              <a:t>Final Thoughts</a:t>
            </a:r>
          </a:p>
        </p:txBody>
      </p:sp>
    </p:spTree>
    <p:extLst>
      <p:ext uri="{BB962C8B-B14F-4D97-AF65-F5344CB8AC3E}">
        <p14:creationId xmlns:p14="http://schemas.microsoft.com/office/powerpoint/2010/main" val="63314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461AA89-E14F-97DE-ECB3-D251C7F7DEC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3000"/>
          </a:blip>
          <a:stretch>
            <a:fillRect/>
          </a:stretch>
        </p:blipFill>
        <p:spPr>
          <a:xfrm>
            <a:off x="723" y="0"/>
            <a:ext cx="24383277" cy="13716000"/>
          </a:xfrm>
          <a:prstGeom prst="rect">
            <a:avLst/>
          </a:prstGeom>
        </p:spPr>
      </p:pic>
      <p:sp>
        <p:nvSpPr>
          <p:cNvPr id="457" name="Coupons"/>
          <p:cNvSpPr/>
          <p:nvPr/>
        </p:nvSpPr>
        <p:spPr>
          <a:xfrm>
            <a:off x="1345261" y="1963619"/>
            <a:ext cx="14517855" cy="89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en-US" sz="7200" dirty="0">
                <a:solidFill>
                  <a:schemeClr val="bg1"/>
                </a:solidFill>
              </a:rPr>
              <a:t>Final Thought</a:t>
            </a:r>
          </a:p>
        </p:txBody>
      </p:sp>
      <p:sp>
        <p:nvSpPr>
          <p:cNvPr id="7" name="Coupons">
            <a:extLst>
              <a:ext uri="{FF2B5EF4-FFF2-40B4-BE49-F238E27FC236}">
                <a16:creationId xmlns:a16="http://schemas.microsoft.com/office/drawing/2014/main" id="{8138EE0C-4BE6-3EB9-B821-39500EF68C68}"/>
              </a:ext>
            </a:extLst>
          </p:cNvPr>
          <p:cNvSpPr/>
          <p:nvPr/>
        </p:nvSpPr>
        <p:spPr>
          <a:xfrm>
            <a:off x="1345261" y="4028120"/>
            <a:ext cx="22676399" cy="4477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6600" b="0" dirty="0">
                <a:solidFill>
                  <a:schemeClr val="bg1"/>
                </a:solidFill>
              </a:rPr>
              <a:t>Tell your story…</a:t>
            </a:r>
          </a:p>
          <a:p>
            <a:endParaRPr lang="en-US" sz="6600" b="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6600" b="0" dirty="0">
                <a:solidFill>
                  <a:schemeClr val="bg1"/>
                </a:solidFill>
              </a:rPr>
              <a:t>The quality and clarity of a Strategic Plan is inversely related to the number of pages in the presentation! </a:t>
            </a:r>
          </a:p>
          <a:p>
            <a:endParaRPr lang="en-US" sz="66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351E7B-550E-999F-909E-2355BE5AF18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7000"/>
          </a:blip>
          <a:stretch>
            <a:fillRect/>
          </a:stretch>
        </p:blipFill>
        <p:spPr>
          <a:xfrm>
            <a:off x="15863116" y="8016377"/>
            <a:ext cx="7410399" cy="5060760"/>
          </a:xfrm>
          <a:prstGeom prst="rect">
            <a:avLst/>
          </a:prstGeom>
          <a:effectLst>
            <a:softEdge rad="476908"/>
          </a:effectLst>
        </p:spPr>
      </p:pic>
    </p:spTree>
    <p:extLst>
      <p:ext uri="{BB962C8B-B14F-4D97-AF65-F5344CB8AC3E}">
        <p14:creationId xmlns:p14="http://schemas.microsoft.com/office/powerpoint/2010/main" val="217003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6AA0FE-44AE-DF36-A95F-F9AE4E94B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983" y="3429000"/>
            <a:ext cx="9601200" cy="6858000"/>
          </a:xfrm>
          <a:prstGeom prst="rect">
            <a:avLst/>
          </a:prstGeom>
          <a:effectLst/>
        </p:spPr>
      </p:pic>
      <p:sp>
        <p:nvSpPr>
          <p:cNvPr id="3" name="Coupons">
            <a:extLst>
              <a:ext uri="{FF2B5EF4-FFF2-40B4-BE49-F238E27FC236}">
                <a16:creationId xmlns:a16="http://schemas.microsoft.com/office/drawing/2014/main" id="{169E2C26-1104-383D-2817-C0ED337BE337}"/>
              </a:ext>
            </a:extLst>
          </p:cNvPr>
          <p:cNvSpPr/>
          <p:nvPr/>
        </p:nvSpPr>
        <p:spPr>
          <a:xfrm>
            <a:off x="11375953" y="4259368"/>
            <a:ext cx="22676399" cy="65087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r>
              <a:rPr lang="en-US" sz="6600" i="1" u="sng" dirty="0">
                <a:solidFill>
                  <a:schemeClr val="bg1"/>
                </a:solidFill>
              </a:rPr>
              <a:t>Contact Details:</a:t>
            </a:r>
          </a:p>
          <a:p>
            <a:endParaRPr lang="en-US" sz="6600" b="0" dirty="0">
              <a:solidFill>
                <a:schemeClr val="bg1"/>
              </a:solidFill>
            </a:endParaRPr>
          </a:p>
          <a:p>
            <a:r>
              <a:rPr lang="en-US" sz="6600" b="0" dirty="0">
                <a:solidFill>
                  <a:schemeClr val="bg1"/>
                </a:solidFill>
              </a:rPr>
              <a:t>Mark C. DeLuzio</a:t>
            </a:r>
          </a:p>
          <a:p>
            <a:r>
              <a:rPr lang="en-US" sz="6600" b="0" dirty="0">
                <a:solidFill>
                  <a:schemeClr val="bg1"/>
                </a:solidFill>
              </a:rPr>
              <a:t>President &amp; CEO</a:t>
            </a:r>
          </a:p>
          <a:p>
            <a:r>
              <a:rPr lang="en-US" sz="6600" b="0" dirty="0">
                <a:solidFill>
                  <a:schemeClr val="bg1"/>
                </a:solidFill>
              </a:rPr>
              <a:t>+1.860.234.0915</a:t>
            </a:r>
          </a:p>
          <a:p>
            <a:r>
              <a:rPr lang="en-US" sz="6600" b="0" dirty="0">
                <a:solidFill>
                  <a:srgbClr val="00B0F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mark.deluzio@leanhorizons.com</a:t>
            </a:r>
            <a:endParaRPr lang="en-US" sz="6600" b="0" dirty="0">
              <a:solidFill>
                <a:srgbClr val="00B0F0"/>
              </a:solidFill>
            </a:endParaRPr>
          </a:p>
          <a:p>
            <a:endParaRPr lang="en-US" sz="6600" b="0" dirty="0">
              <a:solidFill>
                <a:schemeClr val="bg1"/>
              </a:solidFill>
            </a:endParaRPr>
          </a:p>
          <a:p>
            <a:endParaRPr lang="en-US" sz="6600" dirty="0">
              <a:solidFill>
                <a:schemeClr val="bg1"/>
              </a:solidFill>
            </a:endParaRPr>
          </a:p>
        </p:txBody>
      </p:sp>
      <p:sp>
        <p:nvSpPr>
          <p:cNvPr id="4" name="Coupons">
            <a:extLst>
              <a:ext uri="{FF2B5EF4-FFF2-40B4-BE49-F238E27FC236}">
                <a16:creationId xmlns:a16="http://schemas.microsoft.com/office/drawing/2014/main" id="{F664F79F-0A8D-653F-86B5-EA0E2DF00E9E}"/>
              </a:ext>
            </a:extLst>
          </p:cNvPr>
          <p:cNvSpPr/>
          <p:nvPr/>
        </p:nvSpPr>
        <p:spPr>
          <a:xfrm>
            <a:off x="957711" y="10768073"/>
            <a:ext cx="9403744" cy="13365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>
            <a:lvl1pPr algn="l" defTabSz="1155700">
              <a:lnSpc>
                <a:spcPct val="80000"/>
              </a:lnSpc>
              <a:defRPr sz="3000" b="1">
                <a:solidFill>
                  <a:srgbClr val="DD4242"/>
                </a:solidFill>
              </a:defRPr>
            </a:lvl1pPr>
          </a:lstStyle>
          <a:p>
            <a:pPr algn="ctr"/>
            <a:r>
              <a:rPr lang="en-US" sz="5400" b="0" dirty="0">
                <a:solidFill>
                  <a:srgbClr val="00B0F0"/>
                </a:solidFill>
              </a:rPr>
              <a:t>www.leanhorizons.com</a:t>
            </a:r>
          </a:p>
          <a:p>
            <a:pPr algn="ctr"/>
            <a:endParaRPr lang="en-US" sz="5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8456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New_Template8">
  <a:themeElements>
    <a:clrScheme name="PS">
      <a:dk1>
        <a:srgbClr val="191C25"/>
      </a:dk1>
      <a:lt1>
        <a:srgbClr val="FFFFFF"/>
      </a:lt1>
      <a:dk2>
        <a:srgbClr val="191C25"/>
      </a:dk2>
      <a:lt2>
        <a:srgbClr val="FEFEFE"/>
      </a:lt2>
      <a:accent1>
        <a:srgbClr val="FEFEFE"/>
      </a:accent1>
      <a:accent2>
        <a:srgbClr val="DD4141"/>
      </a:accent2>
      <a:accent3>
        <a:srgbClr val="A8AEC3"/>
      </a:accent3>
      <a:accent4>
        <a:srgbClr val="5D616D"/>
      </a:accent4>
      <a:accent5>
        <a:srgbClr val="232832"/>
      </a:accent5>
      <a:accent6>
        <a:srgbClr val="191C25"/>
      </a:accent6>
      <a:hlink>
        <a:srgbClr val="A8AEC3"/>
      </a:hlink>
      <a:folHlink>
        <a:srgbClr val="5D616D"/>
      </a:folHlink>
    </a:clrScheme>
    <a:fontScheme name="New_Template8">
      <a:majorFont>
        <a:latin typeface="Roboto"/>
        <a:ea typeface="Roboto"/>
        <a:cs typeface="Roboto"/>
      </a:majorFont>
      <a:minorFont>
        <a:latin typeface="Roboto"/>
        <a:ea typeface="Roboto"/>
        <a:cs typeface="Roboto"/>
      </a:minorFont>
    </a:fontScheme>
    <a:fmtScheme name="New_Template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Robot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5">
              <a:alpha val="75000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Robot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New_Template8">
  <a:themeElements>
    <a:clrScheme name="New_Template8">
      <a:dk1>
        <a:srgbClr val="000000"/>
      </a:dk1>
      <a:lt1>
        <a:srgbClr val="FFFFFF"/>
      </a:lt1>
      <a:dk2>
        <a:srgbClr val="5B5854"/>
      </a:dk2>
      <a:lt2>
        <a:srgbClr val="C9C3BA"/>
      </a:lt2>
      <a:accent1>
        <a:srgbClr val="708CA5"/>
      </a:accent1>
      <a:accent2>
        <a:srgbClr val="80A7A7"/>
      </a:accent2>
      <a:accent3>
        <a:srgbClr val="98A66D"/>
      </a:accent3>
      <a:accent4>
        <a:srgbClr val="CF9E5B"/>
      </a:accent4>
      <a:accent5>
        <a:srgbClr val="C87C6D"/>
      </a:accent5>
      <a:accent6>
        <a:srgbClr val="837B9A"/>
      </a:accent6>
      <a:hlink>
        <a:srgbClr val="0000FF"/>
      </a:hlink>
      <a:folHlink>
        <a:srgbClr val="FF00FF"/>
      </a:folHlink>
    </a:clrScheme>
    <a:fontScheme name="New_Template8">
      <a:majorFont>
        <a:latin typeface="Roboto"/>
        <a:ea typeface="Roboto"/>
        <a:cs typeface="Roboto"/>
      </a:majorFont>
      <a:minorFont>
        <a:latin typeface="Roboto"/>
        <a:ea typeface="Roboto"/>
        <a:cs typeface="Roboto"/>
      </a:minorFont>
    </a:fontScheme>
    <a:fmtScheme name="New_Template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FFFFFF"/>
            </a:solidFill>
            <a:effectLst>
              <a:outerShdw blurRad="38100" dist="12700" dir="5400000" rotWithShape="0">
                <a:srgbClr val="000000">
                  <a:alpha val="50000"/>
                </a:srgbClr>
              </a:outerShdw>
            </a:effectLst>
            <a:uFillTx/>
            <a:latin typeface="+mn-lt"/>
            <a:ea typeface="+mn-ea"/>
            <a:cs typeface="+mn-cs"/>
            <a:sym typeface="Robot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5">
              <a:alpha val="75000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t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Robot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8876</TotalTime>
  <Words>2116</Words>
  <Application>Microsoft Macintosh PowerPoint</Application>
  <PresentationFormat>Custom</PresentationFormat>
  <Paragraphs>450</Paragraphs>
  <Slides>46</Slides>
  <Notes>34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6" baseType="lpstr">
      <vt:lpstr>ＭＳ Ｐゴシック</vt:lpstr>
      <vt:lpstr>Arial</vt:lpstr>
      <vt:lpstr>Calibri</vt:lpstr>
      <vt:lpstr>Open Sans</vt:lpstr>
      <vt:lpstr>Roboto</vt:lpstr>
      <vt:lpstr>Times New Roman</vt:lpstr>
      <vt:lpstr>Wingdings</vt:lpstr>
      <vt:lpstr>New_Template8</vt:lpstr>
      <vt:lpstr>Document</vt:lpstr>
      <vt:lpstr>Worksheet</vt:lpstr>
      <vt:lpstr>PowerPoint Presentation</vt:lpstr>
      <vt:lpstr>PowerPoint Presentation</vt:lpstr>
      <vt:lpstr>PowerPoint Presentation</vt:lpstr>
      <vt:lpstr>PowerPoint Presentation</vt:lpstr>
      <vt:lpstr>                                                                                                      Where is Your Company?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Mark DeLuzio</cp:lastModifiedBy>
  <cp:revision>288</cp:revision>
  <dcterms:modified xsi:type="dcterms:W3CDTF">2024-01-25T16:35:04Z</dcterms:modified>
</cp:coreProperties>
</file>