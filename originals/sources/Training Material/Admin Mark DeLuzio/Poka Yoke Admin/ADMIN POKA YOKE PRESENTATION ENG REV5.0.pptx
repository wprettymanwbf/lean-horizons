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1"/>
  </p:notesMasterIdLst>
  <p:sldIdLst>
    <p:sldId id="313" r:id="rId2"/>
    <p:sldId id="283" r:id="rId3"/>
    <p:sldId id="284" r:id="rId4"/>
    <p:sldId id="285" r:id="rId5"/>
    <p:sldId id="314" r:id="rId6"/>
    <p:sldId id="315" r:id="rId7"/>
    <p:sldId id="316" r:id="rId8"/>
    <p:sldId id="368" r:id="rId9"/>
    <p:sldId id="369" r:id="rId10"/>
    <p:sldId id="370" r:id="rId11"/>
    <p:sldId id="371" r:id="rId12"/>
    <p:sldId id="335" r:id="rId13"/>
    <p:sldId id="372" r:id="rId14"/>
    <p:sldId id="373" r:id="rId15"/>
    <p:sldId id="374" r:id="rId16"/>
    <p:sldId id="375" r:id="rId17"/>
    <p:sldId id="376" r:id="rId18"/>
    <p:sldId id="377" r:id="rId19"/>
    <p:sldId id="378" r:id="rId20"/>
    <p:sldId id="379" r:id="rId21"/>
    <p:sldId id="380" r:id="rId22"/>
    <p:sldId id="381" r:id="rId23"/>
    <p:sldId id="382" r:id="rId24"/>
    <p:sldId id="383" r:id="rId25"/>
    <p:sldId id="384" r:id="rId26"/>
    <p:sldId id="385" r:id="rId27"/>
    <p:sldId id="386" r:id="rId28"/>
    <p:sldId id="387" r:id="rId29"/>
    <p:sldId id="388" r:id="rId30"/>
    <p:sldId id="389" r:id="rId31"/>
    <p:sldId id="390" r:id="rId32"/>
    <p:sldId id="391" r:id="rId33"/>
    <p:sldId id="392" r:id="rId34"/>
    <p:sldId id="393" r:id="rId35"/>
    <p:sldId id="394" r:id="rId36"/>
    <p:sldId id="395" r:id="rId37"/>
    <p:sldId id="396" r:id="rId38"/>
    <p:sldId id="397" r:id="rId39"/>
    <p:sldId id="39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611379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1584331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1675549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Introduce the notion of Poka-Yoke and the goal of this event. </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In this module we want you to learn the difference between defects and errors, learn how poka-yoke is a vital element of improving product quality, and learn how to implement poka-yoke in your value streams.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615819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As with all kaizen, our direction for our improvement efforts should be driven by a business need and/or the tool Value Stream Mapping.</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Why?</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want to make sure we are going to get our </a:t>
            </a:r>
            <a:r>
              <a:rPr lang="ja-JP" altLang="en-US" dirty="0">
                <a:latin typeface="Arial" panose="020B0604020202020204" pitchFamily="34" charset="0"/>
              </a:rPr>
              <a:t>“</a:t>
            </a:r>
            <a:r>
              <a:rPr lang="en-US" altLang="ja-JP" dirty="0">
                <a:latin typeface="Arial" panose="020B0604020202020204" pitchFamily="34" charset="0"/>
              </a:rPr>
              <a:t>bang for the buck</a:t>
            </a:r>
            <a:r>
              <a:rPr lang="ja-JP" altLang="en-US" dirty="0">
                <a:latin typeface="Arial" panose="020B0604020202020204" pitchFamily="34" charset="0"/>
              </a:rPr>
              <a:t>”</a:t>
            </a:r>
            <a:r>
              <a:rPr lang="en-US" altLang="ja-JP" dirty="0">
                <a:latin typeface="Arial" panose="020B0604020202020204" pitchFamily="34" charset="0"/>
              </a:rPr>
              <a:t> with the investment we are making in our improvement efforts.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business need is being met with our kaizen event this week?</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Is there a Value Stream Map or a Value Stream Plan that identifies the need for this event?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177521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Japanese origins and definition of the term, poka-yoke.</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err="1">
                <a:latin typeface="Arial" panose="020B0604020202020204" pitchFamily="34" charset="0"/>
              </a:rPr>
              <a:t>Poka</a:t>
            </a:r>
            <a:r>
              <a:rPr lang="en-US" altLang="ja-JP" dirty="0">
                <a:latin typeface="Arial" panose="020B0604020202020204" pitchFamily="34" charset="0"/>
              </a:rPr>
              <a:t> Yoke is also called mistake-proofing, error-proofing, and </a:t>
            </a:r>
            <a:r>
              <a:rPr lang="en-US" altLang="ja-JP" dirty="0" err="1">
                <a:latin typeface="Arial" panose="020B0604020202020204" pitchFamily="34" charset="0"/>
              </a:rPr>
              <a:t>baka</a:t>
            </a:r>
            <a:r>
              <a:rPr lang="en-US" altLang="ja-JP" dirty="0">
                <a:latin typeface="Arial" panose="020B0604020202020204" pitchFamily="34" charset="0"/>
              </a:rPr>
              <a:t>-yoke (fool proofing)</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Poka-Yoke refers to methods that help associates avoid mistakes in their work caused by choosing the wrong item, leaving out an item, or any other form of doing something incorrectly.</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 </a:t>
            </a:r>
            <a:r>
              <a:rPr lang="en-US" altLang="ja-JP" dirty="0" err="1">
                <a:latin typeface="Arial" panose="020B0604020202020204" pitchFamily="34" charset="0"/>
              </a:rPr>
              <a:t>Jidoka</a:t>
            </a:r>
            <a:r>
              <a:rPr lang="en-US" altLang="ja-JP" dirty="0">
                <a:latin typeface="Arial" panose="020B0604020202020204" pitchFamily="34" charset="0"/>
              </a:rPr>
              <a:t> is another Japanese term that refers to providing systems, programs, and associates the ability to detect when an abnormal condition has occurred and immediately stop work. This allows associates to build quality into each process of their work.</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are other error proofing examples?</a:t>
            </a:r>
            <a:r>
              <a:rPr lang="ja-JP" altLang="en-US" dirty="0">
                <a:latin typeface="Arial" panose="020B0604020202020204" pitchFamily="34" charset="0"/>
              </a:rPr>
              <a:t>”</a:t>
            </a:r>
            <a:endParaRPr lang="en-US" altLang="ja-JP" dirty="0">
              <a:latin typeface="Arial" panose="020B0604020202020204" pitchFamily="34" charset="0"/>
            </a:endParaRP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Car safety belt warning light or buzzer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Clothes iron that shuts itself off if left on inadvertently</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Garage door opener with safety reversing switch</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Lawn mower with safety release handle for shutting off mower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A car that cannot be started in gear</a:t>
            </a:r>
          </a:p>
          <a:p>
            <a:pPr>
              <a:lnSpc>
                <a:spcPct val="80000"/>
              </a:lnSpc>
              <a:spcBef>
                <a:spcPct val="0"/>
              </a:spcBef>
              <a:spcAft>
                <a:spcPct val="50000"/>
              </a:spcAft>
              <a:buClr>
                <a:srgbClr val="0000FF"/>
              </a:buClr>
              <a:buFont typeface="Wingdings 2" panose="05020102010507070707" pitchFamily="18" charset="2"/>
              <a:buNone/>
            </a:pPr>
            <a:r>
              <a:rPr lang="en-US" altLang="en-US" dirty="0">
                <a:latin typeface="Arial" panose="020B0604020202020204" pitchFamily="34" charset="0"/>
              </a:rPr>
              <a:t>Microwave ovens that will not start with the door open</a:t>
            </a:r>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78463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key points on the slide. As if anyone has experience implementing poka-yokes in the workplace and if yes, to share.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355066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five elements of production are Me (the operator), Material, Machine, Method, and Information. Each one of these elements has the capability of introducing variation into the process that can result in poor quality. When we error-proof a process, we want to take each of these five elements into consideration so that we can achieve process control.</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019328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Poka-Yoke is a key element in our capability to implement Kaizen-Lean Manufacturing Systems. It is a key element in our capability to eliminate waste from: defects, inventories, motions, delays, processes, misused resources, untapped resources.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Consistency in quality will result in maintaining customer satisfaction and loyalty.</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Think about all of the costs for producing defective work or errors. There are tremendous costs associated with re-work, materials, equipment expenses, shipping – not to mention the damage that happens to our relationship with our customers and how our products and brand are viewed.</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58668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ea typeface="ＭＳ Ｐゴシック" charset="0"/>
                <a:cs typeface="+mn-cs"/>
              </a:rPr>
              <a:t>DO:</a:t>
            </a:r>
            <a:r>
              <a:rPr lang="en-US" sz="800" dirty="0">
                <a:ea typeface="ＭＳ Ｐゴシック" charset="0"/>
                <a:cs typeface="+mn-cs"/>
              </a:rPr>
              <a:t> Review the charter for this event.</a:t>
            </a:r>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252606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DO:</a:t>
            </a:r>
            <a:r>
              <a:rPr lang="en-US" altLang="en-US" sz="800" dirty="0">
                <a:latin typeface="Arial" panose="020B0604020202020204" pitchFamily="34" charset="0"/>
              </a:rPr>
              <a:t> Have the class discuss the exercise in pairs and prepare their answers, or conduct this exercise as a large group calling upon people to share their answers. </a:t>
            </a:r>
          </a:p>
          <a:p>
            <a:r>
              <a:rPr lang="en-US" altLang="en-US" sz="800" b="1" dirty="0">
                <a:latin typeface="Arial" panose="020B0604020202020204" pitchFamily="34" charset="0"/>
              </a:rPr>
              <a:t>SAY</a:t>
            </a:r>
            <a:r>
              <a:rPr lang="en-US" altLang="en-US" sz="800" dirty="0">
                <a:latin typeface="Arial" panose="020B0604020202020204" pitchFamily="34" charset="0"/>
              </a:rPr>
              <a:t>: </a:t>
            </a:r>
            <a:r>
              <a:rPr lang="ja-JP" altLang="en-US" sz="800" dirty="0">
                <a:latin typeface="Arial" panose="020B0604020202020204" pitchFamily="34" charset="0"/>
              </a:rPr>
              <a:t>“</a:t>
            </a:r>
            <a:r>
              <a:rPr lang="en-US" altLang="ja-JP" sz="800" dirty="0">
                <a:latin typeface="Arial" panose="020B0604020202020204" pitchFamily="34" charset="0"/>
              </a:rPr>
              <a:t>Defects are a result of errors that are made – so if you can reduce or eliminate the potential for error, you do the same for the potential for defects.</a:t>
            </a:r>
            <a:r>
              <a:rPr lang="ja-JP" altLang="en-US" sz="800" dirty="0">
                <a:latin typeface="Arial" panose="020B0604020202020204" pitchFamily="34" charset="0"/>
              </a:rPr>
              <a:t>”</a:t>
            </a:r>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498257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Human mistakes are the most common cause of defects.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Review the 10 types of human mistakes.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Can you think of a daily process at work or at home that human mistakes are often made? What could be done to prevent those errors from happening?</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Our processes need to be designed to account for this fact, so that mistakes are not made or passed along.</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176232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4 levels of error proofing.</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the </a:t>
            </a:r>
            <a:r>
              <a:rPr lang="ja-JP" altLang="en-US" dirty="0">
                <a:latin typeface="Arial" panose="020B0604020202020204" pitchFamily="34" charset="0"/>
              </a:rPr>
              <a:t>“</a:t>
            </a:r>
            <a:r>
              <a:rPr lang="en-US" altLang="ja-JP" dirty="0">
                <a:latin typeface="Arial" panose="020B0604020202020204" pitchFamily="34" charset="0"/>
              </a:rPr>
              <a:t>Customer Inspects level, we are still allowing defects to get into the hands of customers.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is wrong with stopping at Level 2? (we are waiting until after the 3</a:t>
            </a:r>
            <a:r>
              <a:rPr lang="en-US" altLang="ja-JP" baseline="30000" dirty="0">
                <a:latin typeface="Arial" panose="020B0604020202020204" pitchFamily="34" charset="0"/>
              </a:rPr>
              <a:t>rd</a:t>
            </a:r>
            <a:r>
              <a:rPr lang="en-US" altLang="ja-JP" dirty="0">
                <a:latin typeface="Arial" panose="020B0604020202020204" pitchFamily="34" charset="0"/>
              </a:rPr>
              <a:t> process to check if we have a quality part… steps B and C could be working on defect (WASTE – and if they are working in batch even more so!)</a:t>
            </a:r>
          </a:p>
          <a:p>
            <a:r>
              <a:rPr lang="en-US" altLang="en-US" b="1" dirty="0">
                <a:latin typeface="Arial" panose="020B0604020202020204" pitchFamily="34" charset="0"/>
              </a:rPr>
              <a:t>SAY</a:t>
            </a:r>
            <a:r>
              <a:rPr lang="en-US" altLang="en-US" dirty="0">
                <a:latin typeface="Arial" panose="020B0604020202020204" pitchFamily="34" charset="0"/>
              </a:rPr>
              <a:t>:  At level 3 we are getting much better by inspecting at the end of each process (however we are adding time and resources to do so at every point).</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We want to reach a point (Level 4) where it is impossible to pass a defect onto the next process. In this section will discuss ways to build quality into the product so that we can achieve this.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369447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rPr>
              <a:t>DO:</a:t>
            </a:r>
            <a:r>
              <a:rPr lang="en-US" altLang="en-US" sz="800" dirty="0">
                <a:latin typeface="Arial" panose="020B0604020202020204" pitchFamily="34" charset="0"/>
              </a:rPr>
              <a:t> Have the class discuss the exercise in pairs and prepare their answers, or conduct this exercise as a large group calling upon people to share their answers. </a:t>
            </a:r>
          </a:p>
          <a:p>
            <a:endParaRPr lang="en-US" altLang="en-US" sz="800" dirty="0">
              <a:latin typeface="Arial" panose="020B0604020202020204" pitchFamily="34" charset="0"/>
            </a:endParaRPr>
          </a:p>
          <a:p>
            <a:r>
              <a:rPr lang="en-US" altLang="en-US" sz="800" b="1" dirty="0">
                <a:latin typeface="Arial" panose="020B0604020202020204" pitchFamily="34" charset="0"/>
              </a:rPr>
              <a:t>NOTE: </a:t>
            </a:r>
            <a:r>
              <a:rPr lang="en-US" altLang="en-US" sz="800" dirty="0">
                <a:latin typeface="Arial" panose="020B0604020202020204" pitchFamily="34" charset="0"/>
              </a:rPr>
              <a:t>Participants may list devices or mechanisms designed to error-proof, but that still allow us to pass along a defect or allow for an error to be made. Use this opportunity to clarify the definition of poka-yoke. </a:t>
            </a:r>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777216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4194040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the seven steps.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203631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Red Flag conditions.</a:t>
            </a: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13094431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Red Flag conditions.</a:t>
            </a: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2111325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With error-proofing we can implement a control/shut down technique in the process – with prevention an error would be impossible, with detection, the defect would be unable to move onto the next step. </a:t>
            </a:r>
          </a:p>
          <a:p>
            <a:r>
              <a:rPr lang="en-US" altLang="en-US" dirty="0">
                <a:latin typeface="Arial" panose="020B0604020202020204" pitchFamily="34" charset="0"/>
              </a:rPr>
              <a:t>By implementing a warning technique, prevention methods would allow us to know that an error is about to be made, and detection methods would let us know that an error has just occurred.</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2271253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Are there others that you can think of?</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38349399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examples.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Are there others that you can think of?</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2558042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summary points. </a:t>
            </a:r>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965214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906038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types of poka-yokes have you seen when conducting on-line ordering or data entry?</a:t>
            </a:r>
            <a:r>
              <a:rPr lang="ja-JP" altLang="en-US" dirty="0">
                <a:latin typeface="Arial" panose="020B0604020202020204" pitchFamily="34" charset="0"/>
              </a:rPr>
              <a:t>”</a:t>
            </a:r>
            <a:r>
              <a:rPr lang="en-US" altLang="ja-JP" dirty="0">
                <a:latin typeface="Arial" panose="020B0604020202020204" pitchFamily="34" charset="0"/>
              </a:rPr>
              <a:t> (drop down boxes, zip code validation of city, double entry of password, no submission if mandatory fields not completed…)</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29054991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While checklists do not assure that a mistake cannot be made, they significantly reduce the amount of errors and can provide standardized work.</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566255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Again, color-coding does not completely error-proof a process, but it reduces errors and improves quality significantly.</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39775236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How have you seen this used?</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35601396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6695422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How have you seen the spread of this technology?</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4390807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4263671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2386564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How does the example in this picture prevent errors? Do you currently have any examples of 5S or visual management in your office?</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1845266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25885363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4904065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25902494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30144108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7866438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ADMIN POKA YOKE PRESENTATION ENG REV5.0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0.emf"/><Relationship Id="rId11" Type="http://schemas.openxmlformats.org/officeDocument/2006/relationships/image" Target="../media/image14.png"/><Relationship Id="rId5" Type="http://schemas.openxmlformats.org/officeDocument/2006/relationships/image" Target="../media/image9.png"/><Relationship Id="rId10" Type="http://schemas.openxmlformats.org/officeDocument/2006/relationships/oleObject" Target="../embeddings/oleObject1.bin"/><Relationship Id="rId4" Type="http://schemas.openxmlformats.org/officeDocument/2006/relationships/image" Target="../media/image8.jpeg"/><Relationship Id="rId9" Type="http://schemas.openxmlformats.org/officeDocument/2006/relationships/image" Target="../media/image13.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3442234" y="3900266"/>
            <a:ext cx="5674290" cy="920252"/>
          </a:xfrm>
          <a:prstGeom prst="rect">
            <a:avLst/>
          </a:prstGeom>
          <a:noFill/>
        </p:spPr>
        <p:txBody>
          <a:bodyPr wrap="square" rtlCol="0">
            <a:spAutoFit/>
          </a:bodyPr>
          <a:lstStyle/>
          <a:p>
            <a:pPr algn="ctr">
              <a:lnSpc>
                <a:spcPct val="150000"/>
              </a:lnSpc>
              <a:spcBef>
                <a:spcPct val="0"/>
              </a:spcBef>
            </a:pPr>
            <a:r>
              <a:rPr lang="en-GB" altLang="en-US" sz="4000" b="0" dirty="0"/>
              <a:t>Administrative Poka-Yoke</a:t>
            </a:r>
          </a:p>
        </p:txBody>
      </p:sp>
      <p:sp>
        <p:nvSpPr>
          <p:cNvPr id="6" name="Slide Number Placeholder 5">
            <a:extLst>
              <a:ext uri="{FF2B5EF4-FFF2-40B4-BE49-F238E27FC236}">
                <a16:creationId xmlns:a16="http://schemas.microsoft.com/office/drawing/2014/main" id="{6E4494D2-9BB1-413A-87A5-B87486367AE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a:t>
            </a:fld>
            <a:endParaRPr lang="en-US" dirty="0"/>
          </a:p>
        </p:txBody>
      </p:sp>
    </p:spTree>
    <p:extLst>
      <p:ext uri="{BB962C8B-B14F-4D97-AF65-F5344CB8AC3E}">
        <p14:creationId xmlns:p14="http://schemas.microsoft.com/office/powerpoint/2010/main" val="1880187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altLang="en-US" dirty="0"/>
              <a:t>Safety first (use personal protective equipment)</a:t>
            </a:r>
          </a:p>
          <a:p>
            <a:r>
              <a:rPr lang="en-US" altLang="en-US" dirty="0"/>
              <a:t>Active participation by all</a:t>
            </a:r>
          </a:p>
          <a:p>
            <a:r>
              <a:rPr lang="en-US" altLang="en-US" dirty="0"/>
              <a:t>Start and end on time</a:t>
            </a:r>
          </a:p>
          <a:p>
            <a:r>
              <a:rPr lang="en-US" altLang="en-US" dirty="0"/>
              <a:t>All electronic gadgets (phones, pagers, </a:t>
            </a:r>
            <a:r>
              <a:rPr lang="en-US" altLang="en-US" dirty="0" err="1"/>
              <a:t>etc</a:t>
            </a:r>
            <a:r>
              <a:rPr lang="en-US" altLang="en-US" dirty="0"/>
              <a:t>) turned to </a:t>
            </a:r>
            <a:r>
              <a:rPr lang="ja-JP" altLang="en-US" dirty="0"/>
              <a:t>“</a:t>
            </a:r>
            <a:r>
              <a:rPr lang="en-US" altLang="ja-JP" dirty="0"/>
              <a:t>off</a:t>
            </a:r>
            <a:r>
              <a:rPr lang="ja-JP" altLang="en-US" dirty="0"/>
              <a:t>”</a:t>
            </a:r>
            <a:r>
              <a:rPr lang="en-US" altLang="ja-JP" dirty="0"/>
              <a:t> or </a:t>
            </a:r>
            <a:r>
              <a:rPr lang="ja-JP" altLang="en-US" dirty="0"/>
              <a:t>“</a:t>
            </a:r>
            <a:r>
              <a:rPr lang="en-US" altLang="ja-JP" dirty="0"/>
              <a:t>silent</a:t>
            </a:r>
            <a:r>
              <a:rPr lang="ja-JP" altLang="en-US" dirty="0"/>
              <a:t>”</a:t>
            </a:r>
            <a:endParaRPr lang="en-US" altLang="ja-JP" dirty="0"/>
          </a:p>
          <a:p>
            <a:r>
              <a:rPr lang="en-US" altLang="en-US" dirty="0"/>
              <a:t>Computers to be used only when instructed</a:t>
            </a:r>
          </a:p>
          <a:p>
            <a:r>
              <a:rPr lang="en-US" altLang="en-US" dirty="0"/>
              <a:t>Keep an open mind to change</a:t>
            </a:r>
          </a:p>
          <a:p>
            <a:r>
              <a:rPr lang="en-US" altLang="en-US" dirty="0"/>
              <a:t>Don</a:t>
            </a:r>
            <a:r>
              <a:rPr lang="ja-JP" altLang="en-US" dirty="0"/>
              <a:t>’</a:t>
            </a:r>
            <a:r>
              <a:rPr lang="en-US" altLang="ja-JP" dirty="0"/>
              <a:t>t let </a:t>
            </a:r>
            <a:r>
              <a:rPr lang="ja-JP" altLang="en-US" dirty="0"/>
              <a:t>“</a:t>
            </a:r>
            <a:r>
              <a:rPr lang="en-US" altLang="ja-JP" dirty="0"/>
              <a:t>perfect</a:t>
            </a:r>
            <a:r>
              <a:rPr lang="ja-JP" altLang="en-US" dirty="0"/>
              <a:t>”</a:t>
            </a:r>
            <a:r>
              <a:rPr lang="en-US" altLang="ja-JP" dirty="0"/>
              <a:t> get in the way of </a:t>
            </a:r>
            <a:r>
              <a:rPr lang="ja-JP" altLang="en-US" dirty="0"/>
              <a:t>“</a:t>
            </a:r>
            <a:r>
              <a:rPr lang="en-US" altLang="ja-JP" dirty="0"/>
              <a:t>better</a:t>
            </a:r>
            <a:r>
              <a:rPr lang="ja-JP" altLang="en-US" dirty="0"/>
              <a:t>”</a:t>
            </a:r>
            <a:endParaRPr lang="en-US" altLang="en-US" dirty="0"/>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Poka-Yoke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apply the principles and practices of Poka-Yoke to achieve an improved quality target goal for your business.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8" name="Group 7">
            <a:extLst>
              <a:ext uri="{FF2B5EF4-FFF2-40B4-BE49-F238E27FC236}">
                <a16:creationId xmlns:a16="http://schemas.microsoft.com/office/drawing/2014/main" id="{9A9F6E4E-2CF2-05EE-3268-0C4BCF1B23ED}"/>
              </a:ext>
            </a:extLst>
          </p:cNvPr>
          <p:cNvGrpSpPr/>
          <p:nvPr/>
        </p:nvGrpSpPr>
        <p:grpSpPr>
          <a:xfrm>
            <a:off x="2555399" y="3835400"/>
            <a:ext cx="7081202" cy="1788160"/>
            <a:chOff x="2325688" y="3835400"/>
            <a:chExt cx="4503737" cy="1350963"/>
          </a:xfrm>
        </p:grpSpPr>
        <p:sp>
          <p:nvSpPr>
            <p:cNvPr id="4" name="AutoShape 7">
              <a:extLst>
                <a:ext uri="{FF2B5EF4-FFF2-40B4-BE49-F238E27FC236}">
                  <a16:creationId xmlns:a16="http://schemas.microsoft.com/office/drawing/2014/main" id="{854A2E84-1C2F-0423-7629-9632CF25B234}"/>
                </a:ext>
              </a:extLst>
            </p:cNvPr>
            <p:cNvSpPr>
              <a:spLocks noChangeArrowheads="1"/>
            </p:cNvSpPr>
            <p:nvPr/>
          </p:nvSpPr>
          <p:spPr bwMode="auto">
            <a:xfrm>
              <a:off x="5229225"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Poka-Yoke</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Examples</a:t>
              </a:r>
            </a:p>
          </p:txBody>
        </p:sp>
        <p:sp>
          <p:nvSpPr>
            <p:cNvPr id="6" name="AutoShape 8">
              <a:extLst>
                <a:ext uri="{FF2B5EF4-FFF2-40B4-BE49-F238E27FC236}">
                  <a16:creationId xmlns:a16="http://schemas.microsoft.com/office/drawing/2014/main" id="{989C1CF3-AD2C-772A-ADF6-8D3B0783109A}"/>
                </a:ext>
              </a:extLst>
            </p:cNvPr>
            <p:cNvSpPr>
              <a:spLocks noChangeArrowheads="1"/>
            </p:cNvSpPr>
            <p:nvPr/>
          </p:nvSpPr>
          <p:spPr bwMode="auto">
            <a:xfrm>
              <a:off x="3773488"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7 Steps</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of Poka-</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Yoke</a:t>
              </a:r>
            </a:p>
          </p:txBody>
        </p:sp>
        <p:sp>
          <p:nvSpPr>
            <p:cNvPr id="7" name="AutoShape 12">
              <a:extLst>
                <a:ext uri="{FF2B5EF4-FFF2-40B4-BE49-F238E27FC236}">
                  <a16:creationId xmlns:a16="http://schemas.microsoft.com/office/drawing/2014/main" id="{0C6B106A-8032-E64F-D639-F6CC6897ABFA}"/>
                </a:ext>
              </a:extLst>
            </p:cNvPr>
            <p:cNvSpPr>
              <a:spLocks noChangeArrowheads="1"/>
            </p:cNvSpPr>
            <p:nvPr/>
          </p:nvSpPr>
          <p:spPr bwMode="auto">
            <a:xfrm>
              <a:off x="2325688" y="3835400"/>
              <a:ext cx="1600200" cy="1346200"/>
            </a:xfrm>
            <a:prstGeom prst="homePlate">
              <a:avLst>
                <a:gd name="adj" fmla="val 11155"/>
              </a:avLst>
            </a:prstGeom>
            <a:solidFill>
              <a:schemeClr val="accent1"/>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a:solidFill>
                    <a:schemeClr val="bg1"/>
                  </a:solidFill>
                  <a:latin typeface="Roboto" panose="02000000000000000000" pitchFamily="2" charset="0"/>
                  <a:ea typeface="Roboto" panose="02000000000000000000" pitchFamily="2" charset="0"/>
                </a:rPr>
                <a:t>Introduction</a:t>
              </a:r>
              <a:br>
                <a:rPr lang="en-US" altLang="en-US" sz="2000">
                  <a:solidFill>
                    <a:schemeClr val="bg1"/>
                  </a:solidFill>
                  <a:latin typeface="Roboto" panose="02000000000000000000" pitchFamily="2" charset="0"/>
                  <a:ea typeface="Roboto" panose="02000000000000000000" pitchFamily="2" charset="0"/>
                </a:rPr>
              </a:br>
              <a:r>
                <a:rPr lang="en-US" altLang="en-US" sz="2000">
                  <a:solidFill>
                    <a:schemeClr val="bg1"/>
                  </a:solidFill>
                  <a:latin typeface="Roboto" panose="02000000000000000000" pitchFamily="2" charset="0"/>
                  <a:ea typeface="Roboto" panose="02000000000000000000" pitchFamily="2" charset="0"/>
                </a:rPr>
                <a:t>to Poka-Yoke</a:t>
              </a:r>
            </a:p>
          </p:txBody>
        </p:sp>
      </p:grpSp>
    </p:spTree>
    <p:extLst>
      <p:ext uri="{BB962C8B-B14F-4D97-AF65-F5344CB8AC3E}">
        <p14:creationId xmlns:p14="http://schemas.microsoft.com/office/powerpoint/2010/main" val="3787226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Introduction to Poka-Yoke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poka-yoke</a:t>
            </a:r>
          </a:p>
          <a:p>
            <a:r>
              <a:rPr lang="en-US" dirty="0"/>
              <a:t>Identify the five elements of production</a:t>
            </a:r>
          </a:p>
          <a:p>
            <a:r>
              <a:rPr lang="en-US" dirty="0"/>
              <a:t>Review the four levels of error-proofing</a:t>
            </a:r>
          </a:p>
          <a:p>
            <a:r>
              <a:rPr lang="en-US" dirty="0"/>
              <a:t>Differentiate “defects” from “errors”</a:t>
            </a:r>
          </a:p>
          <a:p>
            <a:r>
              <a:rPr lang="en-US" dirty="0"/>
              <a:t>Identify sources of defects</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Introduction to Poka-Yoke</a:t>
              </a:r>
            </a:p>
          </p:txBody>
        </p:sp>
      </p:grpSp>
    </p:spTree>
    <p:extLst>
      <p:ext uri="{BB962C8B-B14F-4D97-AF65-F5344CB8AC3E}">
        <p14:creationId xmlns:p14="http://schemas.microsoft.com/office/powerpoint/2010/main" val="9583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How did we get here?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302" name="Group 301">
            <a:extLst>
              <a:ext uri="{FF2B5EF4-FFF2-40B4-BE49-F238E27FC236}">
                <a16:creationId xmlns:a16="http://schemas.microsoft.com/office/drawing/2014/main" id="{1A45A3A0-19A6-D3F9-3ED2-6A71C47402BE}"/>
              </a:ext>
            </a:extLst>
          </p:cNvPr>
          <p:cNvGrpSpPr/>
          <p:nvPr/>
        </p:nvGrpSpPr>
        <p:grpSpPr>
          <a:xfrm>
            <a:off x="838200" y="297639"/>
            <a:ext cx="2778942" cy="306433"/>
            <a:chOff x="838200" y="297639"/>
            <a:chExt cx="2778942" cy="306433"/>
          </a:xfrm>
        </p:grpSpPr>
        <p:grpSp>
          <p:nvGrpSpPr>
            <p:cNvPr id="307" name="Group 306">
              <a:extLst>
                <a:ext uri="{FF2B5EF4-FFF2-40B4-BE49-F238E27FC236}">
                  <a16:creationId xmlns:a16="http://schemas.microsoft.com/office/drawing/2014/main" id="{B8E336E8-5F4B-B5B9-239B-649E5D56BC35}"/>
                </a:ext>
              </a:extLst>
            </p:cNvPr>
            <p:cNvGrpSpPr/>
            <p:nvPr/>
          </p:nvGrpSpPr>
          <p:grpSpPr>
            <a:xfrm>
              <a:off x="838200" y="297639"/>
              <a:ext cx="1060167" cy="290657"/>
              <a:chOff x="826426" y="4041857"/>
              <a:chExt cx="1060167" cy="290657"/>
            </a:xfrm>
          </p:grpSpPr>
          <p:sp>
            <p:nvSpPr>
              <p:cNvPr id="308" name="AutoShape 9">
                <a:extLst>
                  <a:ext uri="{FF2B5EF4-FFF2-40B4-BE49-F238E27FC236}">
                    <a16:creationId xmlns:a16="http://schemas.microsoft.com/office/drawing/2014/main" id="{50C9CAC9-1A5E-25FF-37BE-3E7E24E44E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9" name="AutoShape 11">
                <a:extLst>
                  <a:ext uri="{FF2B5EF4-FFF2-40B4-BE49-F238E27FC236}">
                    <a16:creationId xmlns:a16="http://schemas.microsoft.com/office/drawing/2014/main" id="{A926FF61-3DC2-E4AC-2DBF-86C7A984602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0" name="AutoShape 10">
                <a:extLst>
                  <a:ext uri="{FF2B5EF4-FFF2-40B4-BE49-F238E27FC236}">
                    <a16:creationId xmlns:a16="http://schemas.microsoft.com/office/drawing/2014/main" id="{B86E1C5F-0D01-267A-7F29-93DC338A5D73}"/>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304" name="TextBox 303">
              <a:extLst>
                <a:ext uri="{FF2B5EF4-FFF2-40B4-BE49-F238E27FC236}">
                  <a16:creationId xmlns:a16="http://schemas.microsoft.com/office/drawing/2014/main" id="{9C69DEF4-A52E-396E-F8B4-9F7BCE748906}"/>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pic>
        <p:nvPicPr>
          <p:cNvPr id="311" name="Picture 310">
            <a:extLst>
              <a:ext uri="{FF2B5EF4-FFF2-40B4-BE49-F238E27FC236}">
                <a16:creationId xmlns:a16="http://schemas.microsoft.com/office/drawing/2014/main" id="{6D516EBD-2852-40D2-AA49-4188828EF138}"/>
              </a:ext>
            </a:extLst>
          </p:cNvPr>
          <p:cNvPicPr>
            <a:picLocks noChangeAspect="1"/>
          </p:cNvPicPr>
          <p:nvPr/>
        </p:nvPicPr>
        <p:blipFill>
          <a:blip r:embed="rId3"/>
          <a:stretch>
            <a:fillRect/>
          </a:stretch>
        </p:blipFill>
        <p:spPr>
          <a:xfrm>
            <a:off x="1319404" y="1736032"/>
            <a:ext cx="9553193" cy="4597116"/>
          </a:xfrm>
          <a:prstGeom prst="rect">
            <a:avLst/>
          </a:prstGeom>
        </p:spPr>
      </p:pic>
    </p:spTree>
    <p:extLst>
      <p:ext uri="{BB962C8B-B14F-4D97-AF65-F5344CB8AC3E}">
        <p14:creationId xmlns:p14="http://schemas.microsoft.com/office/powerpoint/2010/main" val="655687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lstStyle/>
          <a:p>
            <a:r>
              <a:rPr lang="en-US" dirty="0"/>
              <a:t>Poka-Yoke: Error-Proofing</a:t>
            </a:r>
          </a:p>
        </p:txBody>
      </p:sp>
      <p:grpSp>
        <p:nvGrpSpPr>
          <p:cNvPr id="22" name="Group 21">
            <a:extLst>
              <a:ext uri="{FF2B5EF4-FFF2-40B4-BE49-F238E27FC236}">
                <a16:creationId xmlns:a16="http://schemas.microsoft.com/office/drawing/2014/main" id="{6C889D24-EEB6-369B-EC17-FB2BA2D2288E}"/>
              </a:ext>
            </a:extLst>
          </p:cNvPr>
          <p:cNvGrpSpPr/>
          <p:nvPr/>
        </p:nvGrpSpPr>
        <p:grpSpPr>
          <a:xfrm>
            <a:off x="1220121" y="1679575"/>
            <a:ext cx="9780196" cy="2366783"/>
            <a:chOff x="646113" y="1679575"/>
            <a:chExt cx="8189912" cy="2209800"/>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latin typeface="Roboto" panose="02000000000000000000" pitchFamily="2" charset="0"/>
                    <a:ea typeface="Roboto" panose="02000000000000000000" pitchFamily="2" charset="0"/>
                  </a:rPr>
                  <a:t>Examples</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err="1">
                    <a:solidFill>
                      <a:schemeClr val="tx1"/>
                    </a:solidFill>
                    <a:latin typeface="Roboto" panose="02000000000000000000" pitchFamily="2" charset="0"/>
                    <a:ea typeface="Roboto" panose="02000000000000000000" pitchFamily="2" charset="0"/>
                  </a:rPr>
                  <a:t>Jidoka</a:t>
                </a:r>
                <a:endParaRPr lang="en-US" altLang="en-US" sz="1800" dirty="0">
                  <a:solidFill>
                    <a:schemeClr val="tx1"/>
                  </a:solidFill>
                  <a:latin typeface="Roboto" panose="02000000000000000000" pitchFamily="2" charset="0"/>
                  <a:ea typeface="Roboto" panose="02000000000000000000" pitchFamily="2" charset="0"/>
                </a:endParaRP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800" dirty="0">
                    <a:solidFill>
                      <a:schemeClr val="tx1"/>
                    </a:solidFill>
                    <a:latin typeface="Roboto" panose="02000000000000000000" pitchFamily="2" charset="0"/>
                    <a:ea typeface="Roboto" panose="02000000000000000000" pitchFamily="2" charset="0"/>
                  </a:rPr>
                  <a:t>Poka-Yoke</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 Japanese term meaning, “mistake-proof”</a:t>
              </a:r>
            </a:p>
            <a:p>
              <a:pPr lvl="1" algn="l">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Inadvertent errors (</a:t>
              </a:r>
              <a:r>
                <a:rPr lang="en-US" altLang="en-US" sz="1600" b="0" dirty="0" err="1">
                  <a:solidFill>
                    <a:schemeClr val="tx1"/>
                  </a:solidFill>
                  <a:latin typeface="Roboto" panose="02000000000000000000" pitchFamily="2" charset="0"/>
                  <a:ea typeface="Roboto" panose="02000000000000000000" pitchFamily="2" charset="0"/>
                </a:rPr>
                <a:t>Poka</a:t>
              </a:r>
              <a:r>
                <a:rPr lang="en-US" altLang="en-US" sz="1600" b="0" dirty="0">
                  <a:solidFill>
                    <a:schemeClr val="tx1"/>
                  </a:solidFill>
                  <a:latin typeface="Roboto" panose="02000000000000000000" pitchFamily="2" charset="0"/>
                  <a:ea typeface="Roboto" panose="02000000000000000000" pitchFamily="2" charset="0"/>
                </a:rPr>
                <a:t>)</a:t>
              </a:r>
            </a:p>
            <a:p>
              <a:pPr lvl="1" algn="l">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To avoid (</a:t>
              </a:r>
              <a:r>
                <a:rPr lang="en-US" altLang="en-US" sz="1600" b="0" dirty="0" err="1">
                  <a:solidFill>
                    <a:schemeClr val="tx1"/>
                  </a:solidFill>
                  <a:latin typeface="Roboto" panose="02000000000000000000" pitchFamily="2" charset="0"/>
                  <a:ea typeface="Roboto" panose="02000000000000000000" pitchFamily="2" charset="0"/>
                </a:rPr>
                <a:t>yokeru</a:t>
              </a:r>
              <a:r>
                <a:rPr lang="en-US" altLang="en-US" sz="1600" b="0" dirty="0">
                  <a:solidFill>
                    <a:schemeClr val="tx1"/>
                  </a:solidFill>
                  <a:latin typeface="Roboto" panose="02000000000000000000" pitchFamily="2" charset="0"/>
                  <a:ea typeface="Roboto" panose="02000000000000000000" pitchFamily="2" charset="0"/>
                </a:rPr>
                <a:t>)</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 method of designing processes that will prevent errors</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Also referred to as “autonomation”, means a method of transferring human intelligence to the process</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The process detects abnormalities and stops when detected</a:t>
              </a: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Motion detect light switches room enter and exit</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Car stops when object in path.</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Auto shut-off irons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Automatic sinks in public restrooms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Low clearance barriers in parking garage</a:t>
              </a:r>
            </a:p>
          </p:txBody>
        </p:sp>
        <p:sp>
          <p:nvSpPr>
            <p:cNvPr id="18" name="Oval 14">
              <a:extLst>
                <a:ext uri="{FF2B5EF4-FFF2-40B4-BE49-F238E27FC236}">
                  <a16:creationId xmlns:a16="http://schemas.microsoft.com/office/drawing/2014/main" id="{10424D23-D6AE-D70D-D272-DB7ADC7566D8}"/>
                </a:ext>
              </a:extLst>
            </p:cNvPr>
            <p:cNvSpPr>
              <a:spLocks noChangeArrowheads="1"/>
            </p:cNvSpPr>
            <p:nvPr/>
          </p:nvSpPr>
          <p:spPr bwMode="auto">
            <a:xfrm>
              <a:off x="776288" y="1682750"/>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a:solidFill>
                    <a:schemeClr val="tx1"/>
                  </a:solidFill>
                  <a:latin typeface="Roboto" panose="02000000000000000000" pitchFamily="2" charset="0"/>
                  <a:ea typeface="Roboto" panose="02000000000000000000" pitchFamily="2" charset="0"/>
                </a:rPr>
                <a:t>1</a:t>
              </a:r>
            </a:p>
          </p:txBody>
        </p:sp>
        <p:sp>
          <p:nvSpPr>
            <p:cNvPr id="19" name="Oval 15">
              <a:extLst>
                <a:ext uri="{FF2B5EF4-FFF2-40B4-BE49-F238E27FC236}">
                  <a16:creationId xmlns:a16="http://schemas.microsoft.com/office/drawing/2014/main" id="{94E33EDE-8EFA-4D5B-0BA1-785F41683101}"/>
                </a:ext>
              </a:extLst>
            </p:cNvPr>
            <p:cNvSpPr>
              <a:spLocks noChangeArrowheads="1"/>
            </p:cNvSpPr>
            <p:nvPr/>
          </p:nvSpPr>
          <p:spPr bwMode="auto">
            <a:xfrm>
              <a:off x="3448050" y="1690688"/>
              <a:ext cx="323850" cy="287337"/>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2</a:t>
              </a:r>
            </a:p>
          </p:txBody>
        </p:sp>
        <p:sp>
          <p:nvSpPr>
            <p:cNvPr id="20" name="Oval 16">
              <a:extLst>
                <a:ext uri="{FF2B5EF4-FFF2-40B4-BE49-F238E27FC236}">
                  <a16:creationId xmlns:a16="http://schemas.microsoft.com/office/drawing/2014/main" id="{92B71777-2A2A-C40B-AF33-125E30957E60}"/>
                </a:ext>
              </a:extLst>
            </p:cNvPr>
            <p:cNvSpPr>
              <a:spLocks noChangeArrowheads="1"/>
            </p:cNvSpPr>
            <p:nvPr/>
          </p:nvSpPr>
          <p:spPr bwMode="auto">
            <a:xfrm>
              <a:off x="5970588" y="1679575"/>
              <a:ext cx="323850" cy="287338"/>
            </a:xfrm>
            <a:prstGeom prst="ellipse">
              <a:avLst/>
            </a:prstGeom>
            <a:solidFill>
              <a:schemeClr val="bg1"/>
            </a:solidFill>
            <a:ln w="19050" cap="sq">
              <a:solidFill>
                <a:srgbClr val="000066"/>
              </a:solidFill>
              <a:round/>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3</a:t>
              </a:r>
            </a:p>
          </p:txBody>
        </p:sp>
      </p:grpSp>
      <p:grpSp>
        <p:nvGrpSpPr>
          <p:cNvPr id="23" name="Group 22">
            <a:extLst>
              <a:ext uri="{FF2B5EF4-FFF2-40B4-BE49-F238E27FC236}">
                <a16:creationId xmlns:a16="http://schemas.microsoft.com/office/drawing/2014/main" id="{72AF7DA9-5821-2163-1C00-713F3263F975}"/>
              </a:ext>
            </a:extLst>
          </p:cNvPr>
          <p:cNvGrpSpPr/>
          <p:nvPr/>
        </p:nvGrpSpPr>
        <p:grpSpPr>
          <a:xfrm>
            <a:off x="838200" y="297639"/>
            <a:ext cx="2778942" cy="306433"/>
            <a:chOff x="838200" y="297639"/>
            <a:chExt cx="2778942" cy="306433"/>
          </a:xfrm>
        </p:grpSpPr>
        <p:grpSp>
          <p:nvGrpSpPr>
            <p:cNvPr id="24" name="Group 23">
              <a:extLst>
                <a:ext uri="{FF2B5EF4-FFF2-40B4-BE49-F238E27FC236}">
                  <a16:creationId xmlns:a16="http://schemas.microsoft.com/office/drawing/2014/main" id="{71879B87-2A7C-1993-4DEE-3301D704EF02}"/>
                </a:ext>
              </a:extLst>
            </p:cNvPr>
            <p:cNvGrpSpPr/>
            <p:nvPr/>
          </p:nvGrpSpPr>
          <p:grpSpPr>
            <a:xfrm>
              <a:off x="838200" y="297639"/>
              <a:ext cx="1060167" cy="290657"/>
              <a:chOff x="826426" y="4041857"/>
              <a:chExt cx="1060167" cy="290657"/>
            </a:xfrm>
          </p:grpSpPr>
          <p:sp>
            <p:nvSpPr>
              <p:cNvPr id="26" name="AutoShape 9">
                <a:extLst>
                  <a:ext uri="{FF2B5EF4-FFF2-40B4-BE49-F238E27FC236}">
                    <a16:creationId xmlns:a16="http://schemas.microsoft.com/office/drawing/2014/main" id="{5A71AF37-C43E-D20E-16B1-9D4E0E73CAE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7" name="AutoShape 11">
                <a:extLst>
                  <a:ext uri="{FF2B5EF4-FFF2-40B4-BE49-F238E27FC236}">
                    <a16:creationId xmlns:a16="http://schemas.microsoft.com/office/drawing/2014/main" id="{CA381BA8-9910-FB20-34A4-B75B29CB620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8" name="AutoShape 10">
                <a:extLst>
                  <a:ext uri="{FF2B5EF4-FFF2-40B4-BE49-F238E27FC236}">
                    <a16:creationId xmlns:a16="http://schemas.microsoft.com/office/drawing/2014/main" id="{63F55FFC-7A14-06D9-2C52-73720411FF53}"/>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5" name="TextBox 24">
              <a:extLst>
                <a:ext uri="{FF2B5EF4-FFF2-40B4-BE49-F238E27FC236}">
                  <a16:creationId xmlns:a16="http://schemas.microsoft.com/office/drawing/2014/main" id="{BA4A6760-947D-D1ED-84AB-56171B364110}"/>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2231164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Poka-Yoke Philosophy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Promotes defect prevention vs. defect detection</a:t>
            </a:r>
          </a:p>
          <a:p>
            <a:r>
              <a:rPr lang="en-US" dirty="0"/>
              <a:t>Recognizes that people forget and make errors, and machines and processes fail and make errors </a:t>
            </a:r>
          </a:p>
          <a:p>
            <a:r>
              <a:rPr lang="en-US" dirty="0"/>
              <a:t>Respects the intelligence of workers by taking the judgment out of repetitive tasks or actions where errors are likely to occur</a:t>
            </a:r>
          </a:p>
          <a:p>
            <a:r>
              <a:rPr lang="en-US" dirty="0"/>
              <a:t>Utilizes people working in the process to “mistake-proof” the process because they own the process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4" name="Group 3">
            <a:extLst>
              <a:ext uri="{FF2B5EF4-FFF2-40B4-BE49-F238E27FC236}">
                <a16:creationId xmlns:a16="http://schemas.microsoft.com/office/drawing/2014/main" id="{83A9B341-21ED-0F9C-72C9-B50096296A74}"/>
              </a:ext>
            </a:extLst>
          </p:cNvPr>
          <p:cNvGrpSpPr/>
          <p:nvPr/>
        </p:nvGrpSpPr>
        <p:grpSpPr>
          <a:xfrm>
            <a:off x="838200" y="297639"/>
            <a:ext cx="2778942" cy="306433"/>
            <a:chOff x="838200" y="297639"/>
            <a:chExt cx="2778942" cy="306433"/>
          </a:xfrm>
        </p:grpSpPr>
        <p:grpSp>
          <p:nvGrpSpPr>
            <p:cNvPr id="6" name="Group 5">
              <a:extLst>
                <a:ext uri="{FF2B5EF4-FFF2-40B4-BE49-F238E27FC236}">
                  <a16:creationId xmlns:a16="http://schemas.microsoft.com/office/drawing/2014/main" id="{A0A03C02-E13A-06D3-663E-B0CF4F1F7132}"/>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F59EA1CB-6C13-3088-6223-B31E4BDE2C5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3C634AAF-E1DA-BBF1-ADFB-430E8B29F31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4C7FE6F3-684E-35A3-A4AD-C152B18F220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1239F581-29FB-0630-071B-1AC9B7E4D145}"/>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829517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ea typeface="+mj-ea"/>
              </a:rPr>
              <a:t>The Five Elements of a Process</a:t>
            </a:r>
            <a:endParaRPr lang="en-US" dirty="0"/>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3" name="Group 2">
            <a:extLst>
              <a:ext uri="{FF2B5EF4-FFF2-40B4-BE49-F238E27FC236}">
                <a16:creationId xmlns:a16="http://schemas.microsoft.com/office/drawing/2014/main" id="{180558DE-658D-86E7-8F65-82E23AF1C4E0}"/>
              </a:ext>
            </a:extLst>
          </p:cNvPr>
          <p:cNvGrpSpPr/>
          <p:nvPr/>
        </p:nvGrpSpPr>
        <p:grpSpPr>
          <a:xfrm>
            <a:off x="838200" y="297639"/>
            <a:ext cx="2778942" cy="306433"/>
            <a:chOff x="838200" y="297639"/>
            <a:chExt cx="2778942" cy="306433"/>
          </a:xfrm>
        </p:grpSpPr>
        <p:grpSp>
          <p:nvGrpSpPr>
            <p:cNvPr id="5" name="Group 4">
              <a:extLst>
                <a:ext uri="{FF2B5EF4-FFF2-40B4-BE49-F238E27FC236}">
                  <a16:creationId xmlns:a16="http://schemas.microsoft.com/office/drawing/2014/main" id="{C3F4E980-7FE7-386F-BEBF-A8971B7D8C8A}"/>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FAE99FB2-F1AE-8F39-8883-0D9E08B0250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4FE49726-9C96-7AC1-0CDA-AB11101385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6052DD42-1535-D208-FEB2-8F32E83C609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4E2FE4E5-4C9E-E3C0-972F-AD3F0447D007}"/>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grpSp>
        <p:nvGrpSpPr>
          <p:cNvPr id="10" name="Group 385">
            <a:extLst>
              <a:ext uri="{FF2B5EF4-FFF2-40B4-BE49-F238E27FC236}">
                <a16:creationId xmlns:a16="http://schemas.microsoft.com/office/drawing/2014/main" id="{6D3481C8-6F54-F30F-D811-48755AB89094}"/>
              </a:ext>
            </a:extLst>
          </p:cNvPr>
          <p:cNvGrpSpPr>
            <a:grpSpLocks/>
          </p:cNvGrpSpPr>
          <p:nvPr/>
        </p:nvGrpSpPr>
        <p:grpSpPr bwMode="auto">
          <a:xfrm>
            <a:off x="7726730" y="1767653"/>
            <a:ext cx="2243137" cy="2644775"/>
            <a:chOff x="4099" y="849"/>
            <a:chExt cx="1413" cy="1666"/>
          </a:xfrm>
        </p:grpSpPr>
        <p:pic>
          <p:nvPicPr>
            <p:cNvPr id="11" name="Picture 369" descr="mds2500">
              <a:extLst>
                <a:ext uri="{FF2B5EF4-FFF2-40B4-BE49-F238E27FC236}">
                  <a16:creationId xmlns:a16="http://schemas.microsoft.com/office/drawing/2014/main" id="{A31CB8AD-9B46-D9EE-81E0-582E3B21D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6" y="1488"/>
              <a:ext cx="1012" cy="1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12" name="Rectangle 362">
              <a:extLst>
                <a:ext uri="{FF2B5EF4-FFF2-40B4-BE49-F238E27FC236}">
                  <a16:creationId xmlns:a16="http://schemas.microsoft.com/office/drawing/2014/main" id="{650AAADF-FC1F-1A08-E221-2843C4D66376}"/>
                </a:ext>
              </a:extLst>
            </p:cNvPr>
            <p:cNvSpPr>
              <a:spLocks noChangeArrowheads="1"/>
            </p:cNvSpPr>
            <p:nvPr/>
          </p:nvSpPr>
          <p:spPr bwMode="auto">
            <a:xfrm>
              <a:off x="4099" y="849"/>
              <a:ext cx="1413" cy="638"/>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3. MACHINE</a:t>
              </a:r>
              <a:endParaRPr lang="en-US" altLang="en-US" sz="1600" b="0" dirty="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dirty="0">
                  <a:latin typeface="Roboto" panose="02000000000000000000" pitchFamily="2" charset="0"/>
                  <a:ea typeface="Roboto" panose="02000000000000000000" pitchFamily="2" charset="0"/>
                </a:rPr>
                <a:t>Control: Conditions assured through everyone</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 participation</a:t>
              </a:r>
              <a:endParaRPr lang="en-US" altLang="en-US" sz="1400" b="0" dirty="0">
                <a:latin typeface="Roboto" panose="02000000000000000000" pitchFamily="2" charset="0"/>
                <a:ea typeface="Roboto" panose="02000000000000000000" pitchFamily="2" charset="0"/>
              </a:endParaRPr>
            </a:p>
          </p:txBody>
        </p:sp>
      </p:grpSp>
      <p:grpSp>
        <p:nvGrpSpPr>
          <p:cNvPr id="13" name="Group 383">
            <a:extLst>
              <a:ext uri="{FF2B5EF4-FFF2-40B4-BE49-F238E27FC236}">
                <a16:creationId xmlns:a16="http://schemas.microsoft.com/office/drawing/2014/main" id="{8A266788-7128-F677-7704-294394ABB848}"/>
              </a:ext>
            </a:extLst>
          </p:cNvPr>
          <p:cNvGrpSpPr>
            <a:grpSpLocks/>
          </p:cNvGrpSpPr>
          <p:nvPr/>
        </p:nvGrpSpPr>
        <p:grpSpPr bwMode="auto">
          <a:xfrm>
            <a:off x="1627555" y="1786703"/>
            <a:ext cx="2947987" cy="1423987"/>
            <a:chOff x="257" y="861"/>
            <a:chExt cx="1857" cy="897"/>
          </a:xfrm>
        </p:grpSpPr>
        <p:sp useBgFill="1">
          <p:nvSpPr>
            <p:cNvPr id="14" name="Rectangle 364">
              <a:extLst>
                <a:ext uri="{FF2B5EF4-FFF2-40B4-BE49-F238E27FC236}">
                  <a16:creationId xmlns:a16="http://schemas.microsoft.com/office/drawing/2014/main" id="{0DB0F0CF-6F36-9F15-641B-D67CBAF351D4}"/>
                </a:ext>
              </a:extLst>
            </p:cNvPr>
            <p:cNvSpPr>
              <a:spLocks noChangeArrowheads="1"/>
            </p:cNvSpPr>
            <p:nvPr/>
          </p:nvSpPr>
          <p:spPr bwMode="auto">
            <a:xfrm>
              <a:off x="257" y="861"/>
              <a:ext cx="1224" cy="77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1. ME</a:t>
              </a:r>
              <a:endParaRPr lang="en-US" altLang="en-US" sz="1600" b="0" dirty="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dirty="0">
                  <a:latin typeface="Roboto" panose="02000000000000000000" pitchFamily="2" charset="0"/>
                  <a:ea typeface="Roboto" panose="02000000000000000000" pitchFamily="2" charset="0"/>
                </a:rPr>
                <a:t>Control: Discipline, fundamental education, cross-training assignments</a:t>
              </a:r>
            </a:p>
          </p:txBody>
        </p:sp>
        <p:pic>
          <p:nvPicPr>
            <p:cNvPr id="15" name="Picture 370" descr="jacqy">
              <a:extLst>
                <a:ext uri="{FF2B5EF4-FFF2-40B4-BE49-F238E27FC236}">
                  <a16:creationId xmlns:a16="http://schemas.microsoft.com/office/drawing/2014/main" id="{D7A73DDC-51EC-9DDF-83BF-6FCDCBF20C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1" y="980"/>
              <a:ext cx="633" cy="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 name="Group 384">
            <a:extLst>
              <a:ext uri="{FF2B5EF4-FFF2-40B4-BE49-F238E27FC236}">
                <a16:creationId xmlns:a16="http://schemas.microsoft.com/office/drawing/2014/main" id="{A322B42D-75C8-F7B8-EDBF-F67F1101C8CC}"/>
              </a:ext>
            </a:extLst>
          </p:cNvPr>
          <p:cNvGrpSpPr>
            <a:grpSpLocks/>
          </p:cNvGrpSpPr>
          <p:nvPr/>
        </p:nvGrpSpPr>
        <p:grpSpPr bwMode="auto">
          <a:xfrm>
            <a:off x="4993055" y="1786703"/>
            <a:ext cx="2243137" cy="2054225"/>
            <a:chOff x="2377" y="861"/>
            <a:chExt cx="1413" cy="1294"/>
          </a:xfrm>
        </p:grpSpPr>
        <p:sp useBgFill="1">
          <p:nvSpPr>
            <p:cNvPr id="17" name="Rectangle 280">
              <a:extLst>
                <a:ext uri="{FF2B5EF4-FFF2-40B4-BE49-F238E27FC236}">
                  <a16:creationId xmlns:a16="http://schemas.microsoft.com/office/drawing/2014/main" id="{D16717F8-327C-3EF7-6076-5165AF189395}"/>
                </a:ext>
              </a:extLst>
            </p:cNvPr>
            <p:cNvSpPr>
              <a:spLocks noChangeArrowheads="1"/>
            </p:cNvSpPr>
            <p:nvPr/>
          </p:nvSpPr>
          <p:spPr bwMode="auto">
            <a:xfrm>
              <a:off x="2377" y="861"/>
              <a:ext cx="1413" cy="367"/>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2. MATERIAL</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Control: Source controls</a:t>
              </a:r>
            </a:p>
          </p:txBody>
        </p:sp>
        <p:pic>
          <p:nvPicPr>
            <p:cNvPr id="18" name="Picture 371">
              <a:extLst>
                <a:ext uri="{FF2B5EF4-FFF2-40B4-BE49-F238E27FC236}">
                  <a16:creationId xmlns:a16="http://schemas.microsoft.com/office/drawing/2014/main" id="{806F7652-867C-DBA8-3A4F-9DF54B19F7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9799" t="15628" r="29013" b="9355"/>
            <a:stretch>
              <a:fillRect/>
            </a:stretch>
          </p:blipFill>
          <p:spPr bwMode="auto">
            <a:xfrm>
              <a:off x="2633" y="1246"/>
              <a:ext cx="755" cy="909"/>
            </a:xfrm>
            <a:prstGeom prst="rect">
              <a:avLst/>
            </a:prstGeom>
            <a:noFill/>
            <a:ln w="12700">
              <a:solidFill>
                <a:srgbClr val="800080"/>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19" name="Group 386">
            <a:extLst>
              <a:ext uri="{FF2B5EF4-FFF2-40B4-BE49-F238E27FC236}">
                <a16:creationId xmlns:a16="http://schemas.microsoft.com/office/drawing/2014/main" id="{C7F70FB1-44D2-7CFD-1195-B6680F509497}"/>
              </a:ext>
            </a:extLst>
          </p:cNvPr>
          <p:cNvGrpSpPr>
            <a:grpSpLocks/>
          </p:cNvGrpSpPr>
          <p:nvPr/>
        </p:nvGrpSpPr>
        <p:grpSpPr bwMode="auto">
          <a:xfrm>
            <a:off x="1584692" y="4248915"/>
            <a:ext cx="3355975" cy="1949450"/>
            <a:chOff x="230" y="2412"/>
            <a:chExt cx="2114" cy="1228"/>
          </a:xfrm>
        </p:grpSpPr>
        <p:sp useBgFill="1">
          <p:nvSpPr>
            <p:cNvPr id="20" name="Rectangle 363">
              <a:extLst>
                <a:ext uri="{FF2B5EF4-FFF2-40B4-BE49-F238E27FC236}">
                  <a16:creationId xmlns:a16="http://schemas.microsoft.com/office/drawing/2014/main" id="{F224F6D2-C3A4-9BD1-76E3-22B89B219A68}"/>
                </a:ext>
              </a:extLst>
            </p:cNvPr>
            <p:cNvSpPr>
              <a:spLocks noChangeArrowheads="1"/>
            </p:cNvSpPr>
            <p:nvPr/>
          </p:nvSpPr>
          <p:spPr bwMode="auto">
            <a:xfrm>
              <a:off x="230" y="2412"/>
              <a:ext cx="1150" cy="502"/>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4. METHOD</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Control: Work standards</a:t>
              </a:r>
            </a:p>
          </p:txBody>
        </p:sp>
        <p:pic>
          <p:nvPicPr>
            <p:cNvPr id="21" name="Picture 374">
              <a:extLst>
                <a:ext uri="{FF2B5EF4-FFF2-40B4-BE49-F238E27FC236}">
                  <a16:creationId xmlns:a16="http://schemas.microsoft.com/office/drawing/2014/main" id="{05EB17AA-2DCE-9EBF-C0A0-756B3407F5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3" y="3117"/>
              <a:ext cx="851" cy="523"/>
            </a:xfrm>
            <a:prstGeom prst="rect">
              <a:avLst/>
            </a:prstGeom>
            <a:solidFill>
              <a:schemeClr val="bg1"/>
            </a:solidFill>
            <a:ln w="12700">
              <a:solidFill>
                <a:schemeClr val="tx1"/>
              </a:solidFill>
              <a:miter lim="800000"/>
              <a:headEnd/>
              <a:tailEnd/>
            </a:ln>
          </p:spPr>
        </p:pic>
        <p:pic>
          <p:nvPicPr>
            <p:cNvPr id="22" name="Picture 375" descr="Untitled1">
              <a:extLst>
                <a:ext uri="{FF2B5EF4-FFF2-40B4-BE49-F238E27FC236}">
                  <a16:creationId xmlns:a16="http://schemas.microsoft.com/office/drawing/2014/main" id="{77582822-B821-2BCD-4CDF-8DD34F1B6C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1" y="2783"/>
              <a:ext cx="1121" cy="522"/>
            </a:xfrm>
            <a:prstGeom prst="rect">
              <a:avLst/>
            </a:prstGeom>
            <a:solidFill>
              <a:schemeClr val="bg1"/>
            </a:solidFill>
            <a:ln w="9525">
              <a:solidFill>
                <a:schemeClr val="tx1"/>
              </a:solidFill>
              <a:miter lim="800000"/>
              <a:headEnd/>
              <a:tailEnd/>
            </a:ln>
          </p:spPr>
        </p:pic>
      </p:grpSp>
      <p:grpSp>
        <p:nvGrpSpPr>
          <p:cNvPr id="23" name="Group 387">
            <a:extLst>
              <a:ext uri="{FF2B5EF4-FFF2-40B4-BE49-F238E27FC236}">
                <a16:creationId xmlns:a16="http://schemas.microsoft.com/office/drawing/2014/main" id="{43D5C3FC-629C-8986-A48F-07B0E0428526}"/>
              </a:ext>
            </a:extLst>
          </p:cNvPr>
          <p:cNvGrpSpPr>
            <a:grpSpLocks/>
          </p:cNvGrpSpPr>
          <p:nvPr/>
        </p:nvGrpSpPr>
        <p:grpSpPr bwMode="auto">
          <a:xfrm>
            <a:off x="5740767" y="4815653"/>
            <a:ext cx="4124325" cy="1436687"/>
            <a:chOff x="2848" y="2769"/>
            <a:chExt cx="2598" cy="905"/>
          </a:xfrm>
        </p:grpSpPr>
        <p:sp useBgFill="1">
          <p:nvSpPr>
            <p:cNvPr id="24" name="Rectangle 4">
              <a:extLst>
                <a:ext uri="{FF2B5EF4-FFF2-40B4-BE49-F238E27FC236}">
                  <a16:creationId xmlns:a16="http://schemas.microsoft.com/office/drawing/2014/main" id="{9D436E6E-EE0D-B010-9158-7EF26D403542}"/>
                </a:ext>
              </a:extLst>
            </p:cNvPr>
            <p:cNvSpPr>
              <a:spLocks noChangeArrowheads="1"/>
            </p:cNvSpPr>
            <p:nvPr/>
          </p:nvSpPr>
          <p:spPr bwMode="auto">
            <a:xfrm>
              <a:off x="2848" y="2868"/>
              <a:ext cx="1368" cy="774"/>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5. INFORMATION</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400" b="0">
                  <a:latin typeface="Roboto" panose="02000000000000000000" pitchFamily="2" charset="0"/>
                  <a:ea typeface="Roboto" panose="02000000000000000000" pitchFamily="2" charset="0"/>
                </a:rPr>
                <a:t>Control: Visual controls (e.g.: instruction sheets, visually managed queues)</a:t>
              </a:r>
            </a:p>
          </p:txBody>
        </p:sp>
        <p:pic>
          <p:nvPicPr>
            <p:cNvPr id="25" name="Picture 372">
              <a:extLst>
                <a:ext uri="{FF2B5EF4-FFF2-40B4-BE49-F238E27FC236}">
                  <a16:creationId xmlns:a16="http://schemas.microsoft.com/office/drawing/2014/main" id="{4AB0E616-C59C-3400-7047-EA4A5D3A3A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2626" t="16127" r="34036" b="8626"/>
            <a:stretch>
              <a:fillRect/>
            </a:stretch>
          </p:blipFill>
          <p:spPr bwMode="auto">
            <a:xfrm>
              <a:off x="4220" y="2980"/>
              <a:ext cx="665" cy="59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377" descr="453x375">
              <a:extLst>
                <a:ext uri="{FF2B5EF4-FFF2-40B4-BE49-F238E27FC236}">
                  <a16:creationId xmlns:a16="http://schemas.microsoft.com/office/drawing/2014/main" id="{6E7BBE2E-D49F-F5E6-9270-550747555C1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1" y="2772"/>
              <a:ext cx="756"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376">
              <a:extLst>
                <a:ext uri="{FF2B5EF4-FFF2-40B4-BE49-F238E27FC236}">
                  <a16:creationId xmlns:a16="http://schemas.microsoft.com/office/drawing/2014/main" id="{98D3D788-8CB7-BBAD-4E41-FB36BD739479}"/>
                </a:ext>
              </a:extLst>
            </p:cNvPr>
            <p:cNvGraphicFramePr>
              <a:graphicFrameLocks noChangeAspect="1"/>
            </p:cNvGraphicFramePr>
            <p:nvPr/>
          </p:nvGraphicFramePr>
          <p:xfrm>
            <a:off x="5021" y="3121"/>
            <a:ext cx="425" cy="553"/>
          </p:xfrm>
          <a:graphic>
            <a:graphicData uri="http://schemas.openxmlformats.org/presentationml/2006/ole">
              <mc:AlternateContent xmlns:mc="http://schemas.openxmlformats.org/markup-compatibility/2006">
                <mc:Choice xmlns:v="urn:schemas-microsoft-com:vml" Requires="v">
                  <p:oleObj name="Photo Editor Photo" r:id="rId10" imgW="4571429" imgH="6095238" progId="MSPhotoEd.3">
                    <p:embed/>
                  </p:oleObj>
                </mc:Choice>
                <mc:Fallback>
                  <p:oleObj name="Photo Editor Photo" r:id="rId10" imgW="4571429" imgH="6095238" progId="MSPhotoEd.3">
                    <p:embed/>
                    <p:pic>
                      <p:nvPicPr>
                        <p:cNvPr id="23568" name="Object 376">
                          <a:extLst>
                            <a:ext uri="{FF2B5EF4-FFF2-40B4-BE49-F238E27FC236}">
                              <a16:creationId xmlns:a16="http://schemas.microsoft.com/office/drawing/2014/main" id="{8D46DEE8-B413-F823-638A-3771894F850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21" y="3121"/>
                          <a:ext cx="425" cy="553"/>
                        </a:xfrm>
                        <a:prstGeom prst="rect">
                          <a:avLst/>
                        </a:prstGeom>
                        <a:noFill/>
                        <a:ln w="12700">
                          <a:solidFill>
                            <a:schemeClr val="tx1"/>
                          </a:solidFill>
                          <a:miter lim="800000"/>
                          <a:headEnd type="none" w="sm" len="sm"/>
                          <a:tailEnd type="none" w="sm" len="sm"/>
                        </a:ln>
                        <a:effectLst>
                          <a:outerShdw dist="35921" dir="2700000" algn="ctr" rotWithShape="0">
                            <a:schemeClr val="bg2">
                              <a:alpha val="74997"/>
                            </a:schemeClr>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pic>
          <p:nvPicPr>
            <p:cNvPr id="28" name="Picture 373" descr="pr94963">
              <a:extLst>
                <a:ext uri="{FF2B5EF4-FFF2-40B4-BE49-F238E27FC236}">
                  <a16:creationId xmlns:a16="http://schemas.microsoft.com/office/drawing/2014/main" id="{834A3504-C96A-69ED-DC54-CB1B4AF7B2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l="44609" t="27716" r="6352" b="12418"/>
            <a:stretch>
              <a:fillRect/>
            </a:stretch>
          </p:blipFill>
          <p:spPr bwMode="auto">
            <a:xfrm>
              <a:off x="4299" y="2769"/>
              <a:ext cx="509" cy="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349158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Why is Poka-Yoke an important concept?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Key element in our capability to eliminate waste</a:t>
            </a:r>
          </a:p>
          <a:p>
            <a:r>
              <a:rPr lang="en-US" dirty="0"/>
              <a:t>No need for “just in case” inspections</a:t>
            </a:r>
          </a:p>
          <a:p>
            <a:r>
              <a:rPr lang="en-US" dirty="0"/>
              <a:t>Allows company to process only what the customer needs</a:t>
            </a:r>
          </a:p>
          <a:p>
            <a:r>
              <a:rPr lang="en-US" dirty="0"/>
              <a:t>Maintain customer satisfaction and loyalty</a:t>
            </a:r>
          </a:p>
          <a:p>
            <a:r>
              <a:rPr lang="en-US" dirty="0"/>
              <a:t>Happy customers mean more sales</a:t>
            </a:r>
          </a:p>
          <a:p>
            <a:r>
              <a:rPr lang="en-US" dirty="0"/>
              <a:t>Always a cost associated with defects and rework</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pSp>
        <p:nvGrpSpPr>
          <p:cNvPr id="4" name="Group 3">
            <a:extLst>
              <a:ext uri="{FF2B5EF4-FFF2-40B4-BE49-F238E27FC236}">
                <a16:creationId xmlns:a16="http://schemas.microsoft.com/office/drawing/2014/main" id="{83A9B341-21ED-0F9C-72C9-B50096296A74}"/>
              </a:ext>
            </a:extLst>
          </p:cNvPr>
          <p:cNvGrpSpPr/>
          <p:nvPr/>
        </p:nvGrpSpPr>
        <p:grpSpPr>
          <a:xfrm>
            <a:off x="838200" y="297639"/>
            <a:ext cx="2778942" cy="306433"/>
            <a:chOff x="838200" y="297639"/>
            <a:chExt cx="2778942" cy="306433"/>
          </a:xfrm>
        </p:grpSpPr>
        <p:grpSp>
          <p:nvGrpSpPr>
            <p:cNvPr id="6" name="Group 5">
              <a:extLst>
                <a:ext uri="{FF2B5EF4-FFF2-40B4-BE49-F238E27FC236}">
                  <a16:creationId xmlns:a16="http://schemas.microsoft.com/office/drawing/2014/main" id="{A0A03C02-E13A-06D3-663E-B0CF4F1F7132}"/>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F59EA1CB-6C13-3088-6223-B31E4BDE2C5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3C634AAF-E1DA-BBF1-ADFB-430E8B29F31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4C7FE6F3-684E-35A3-A4AD-C152B18F220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1239F581-29FB-0630-071B-1AC9B7E4D145}"/>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3963150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Poka-Yoke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Poka-Yoke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grpSp>
        <p:nvGrpSpPr>
          <p:cNvPr id="3" name="Group 2">
            <a:extLst>
              <a:ext uri="{FF2B5EF4-FFF2-40B4-BE49-F238E27FC236}">
                <a16:creationId xmlns:a16="http://schemas.microsoft.com/office/drawing/2014/main" id="{015689BF-FE9E-A9A8-D450-F90D70ECEC20}"/>
              </a:ext>
            </a:extLst>
          </p:cNvPr>
          <p:cNvGrpSpPr/>
          <p:nvPr/>
        </p:nvGrpSpPr>
        <p:grpSpPr>
          <a:xfrm>
            <a:off x="838200" y="297639"/>
            <a:ext cx="2778942" cy="306433"/>
            <a:chOff x="838200" y="297639"/>
            <a:chExt cx="2778942" cy="306433"/>
          </a:xfrm>
        </p:grpSpPr>
        <p:grpSp>
          <p:nvGrpSpPr>
            <p:cNvPr id="4" name="Group 3">
              <a:extLst>
                <a:ext uri="{FF2B5EF4-FFF2-40B4-BE49-F238E27FC236}">
                  <a16:creationId xmlns:a16="http://schemas.microsoft.com/office/drawing/2014/main" id="{097102EB-000B-6396-23F8-7B68D5CDED7D}"/>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120E6CE5-60D8-06C6-2A22-55E8768B4A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540CA4AA-CFF3-A576-EB30-4C6CE3E9DED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43EB12F0-E140-B191-8B7A-5BF557A44EF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8C8BC5EE-C17B-F521-AD64-A96CBD55A38D}"/>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1840648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Discussion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the difference between “defects” and “errors”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discuss what you think the </a:t>
            </a:r>
            <a:r>
              <a:rPr kumimoji="0" lang="en-US"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difference is between </a:t>
            </a: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the terms “defects” and “errors”.</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Class discussion of</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answers </a:t>
            </a:r>
          </a:p>
        </p:txBody>
      </p:sp>
      <p:grpSp>
        <p:nvGrpSpPr>
          <p:cNvPr id="3" name="Group 2">
            <a:extLst>
              <a:ext uri="{FF2B5EF4-FFF2-40B4-BE49-F238E27FC236}">
                <a16:creationId xmlns:a16="http://schemas.microsoft.com/office/drawing/2014/main" id="{015689BF-FE9E-A9A8-D450-F90D70ECEC20}"/>
              </a:ext>
            </a:extLst>
          </p:cNvPr>
          <p:cNvGrpSpPr/>
          <p:nvPr/>
        </p:nvGrpSpPr>
        <p:grpSpPr>
          <a:xfrm>
            <a:off x="838200" y="297639"/>
            <a:ext cx="2778942" cy="306433"/>
            <a:chOff x="838200" y="297639"/>
            <a:chExt cx="2778942" cy="306433"/>
          </a:xfrm>
        </p:grpSpPr>
        <p:grpSp>
          <p:nvGrpSpPr>
            <p:cNvPr id="4" name="Group 3">
              <a:extLst>
                <a:ext uri="{FF2B5EF4-FFF2-40B4-BE49-F238E27FC236}">
                  <a16:creationId xmlns:a16="http://schemas.microsoft.com/office/drawing/2014/main" id="{097102EB-000B-6396-23F8-7B68D5CDED7D}"/>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120E6CE5-60D8-06C6-2A22-55E8768B4A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540CA4AA-CFF3-A576-EB30-4C6CE3E9DED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43EB12F0-E140-B191-8B7A-5BF557A44EF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8C8BC5EE-C17B-F521-AD64-A96CBD55A38D}"/>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995771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What causes defects?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77500" lnSpcReduction="20000"/>
          </a:bodyPr>
          <a:lstStyle/>
          <a:p>
            <a:pPr marL="0" indent="0">
              <a:buNone/>
            </a:pPr>
            <a:r>
              <a:rPr lang="en-US" altLang="en-US" sz="2800" b="1" dirty="0"/>
              <a:t>Human Mistakes:</a:t>
            </a:r>
            <a:endParaRPr lang="en-US" b="1" dirty="0"/>
          </a:p>
          <a:p>
            <a:r>
              <a:rPr lang="en-US" dirty="0"/>
              <a:t>Simple errors, the most common cause of defects, occur unpredictably</a:t>
            </a:r>
          </a:p>
          <a:p>
            <a:r>
              <a:rPr lang="en-US" dirty="0"/>
              <a:t>Ten Types of Human Mistakes:</a:t>
            </a:r>
          </a:p>
          <a:p>
            <a:pPr lvl="1"/>
            <a:r>
              <a:rPr lang="en-US" dirty="0"/>
              <a:t>Forgetfulness</a:t>
            </a:r>
          </a:p>
          <a:p>
            <a:pPr lvl="1"/>
            <a:r>
              <a:rPr lang="en-US" dirty="0"/>
              <a:t>Misunderstanding</a:t>
            </a:r>
          </a:p>
          <a:p>
            <a:pPr lvl="1"/>
            <a:r>
              <a:rPr lang="en-US" dirty="0"/>
              <a:t>Wrong Identification</a:t>
            </a:r>
          </a:p>
          <a:p>
            <a:pPr lvl="1"/>
            <a:r>
              <a:rPr lang="en-US" dirty="0"/>
              <a:t>Lack of Experience</a:t>
            </a:r>
          </a:p>
          <a:p>
            <a:pPr lvl="1"/>
            <a:r>
              <a:rPr lang="en-US" dirty="0"/>
              <a:t>Willful ignoring</a:t>
            </a:r>
          </a:p>
          <a:p>
            <a:pPr lvl="1"/>
            <a:r>
              <a:rPr lang="en-US" dirty="0"/>
              <a:t>Inadvertent or sloppiness</a:t>
            </a:r>
          </a:p>
          <a:p>
            <a:pPr lvl="1"/>
            <a:r>
              <a:rPr lang="en-US" dirty="0"/>
              <a:t>Slowness</a:t>
            </a:r>
          </a:p>
          <a:p>
            <a:pPr lvl="1"/>
            <a:r>
              <a:rPr lang="en-US" dirty="0"/>
              <a:t>Lack of standardization</a:t>
            </a:r>
          </a:p>
          <a:p>
            <a:pPr lvl="1"/>
            <a:r>
              <a:rPr lang="en-US" dirty="0"/>
              <a:t>Surprise</a:t>
            </a:r>
          </a:p>
          <a:p>
            <a:pPr lvl="1"/>
            <a:r>
              <a:rPr lang="en-US" dirty="0"/>
              <a:t>Intentional</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grpSp>
        <p:nvGrpSpPr>
          <p:cNvPr id="5" name="Group 4">
            <a:extLst>
              <a:ext uri="{FF2B5EF4-FFF2-40B4-BE49-F238E27FC236}">
                <a16:creationId xmlns:a16="http://schemas.microsoft.com/office/drawing/2014/main" id="{A1D7C4B4-79DD-EFDF-62BC-B1575DF40AC0}"/>
              </a:ext>
            </a:extLst>
          </p:cNvPr>
          <p:cNvGrpSpPr/>
          <p:nvPr/>
        </p:nvGrpSpPr>
        <p:grpSpPr>
          <a:xfrm>
            <a:off x="838200" y="297639"/>
            <a:ext cx="2778942" cy="306433"/>
            <a:chOff x="838200" y="297639"/>
            <a:chExt cx="2778942" cy="306433"/>
          </a:xfrm>
        </p:grpSpPr>
        <p:grpSp>
          <p:nvGrpSpPr>
            <p:cNvPr id="7" name="Group 6">
              <a:extLst>
                <a:ext uri="{FF2B5EF4-FFF2-40B4-BE49-F238E27FC236}">
                  <a16:creationId xmlns:a16="http://schemas.microsoft.com/office/drawing/2014/main" id="{07E08ED7-A92C-D35B-8F6C-8D33DFEA2F6D}"/>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571C8757-F240-368D-0C7D-4CD973A305E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FEA13EC1-7D78-5CA9-07F7-AB7292C4244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2C3F143-0DBE-2B70-BA58-F2BE853AA3E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6506B9B5-6518-072A-8240-2781E1FAA271}"/>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
        <p:nvSpPr>
          <p:cNvPr id="12" name="AutoShape 7">
            <a:extLst>
              <a:ext uri="{FF2B5EF4-FFF2-40B4-BE49-F238E27FC236}">
                <a16:creationId xmlns:a16="http://schemas.microsoft.com/office/drawing/2014/main" id="{27277986-9BE6-35D3-3CB1-E009796A75FC}"/>
              </a:ext>
            </a:extLst>
          </p:cNvPr>
          <p:cNvSpPr>
            <a:spLocks noChangeArrowheads="1"/>
          </p:cNvSpPr>
          <p:nvPr/>
        </p:nvSpPr>
        <p:spPr bwMode="auto">
          <a:xfrm>
            <a:off x="5842000" y="2834481"/>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13" name="Rectangle 8">
            <a:extLst>
              <a:ext uri="{FF2B5EF4-FFF2-40B4-BE49-F238E27FC236}">
                <a16:creationId xmlns:a16="http://schemas.microsoft.com/office/drawing/2014/main" id="{3ED53F65-AE0B-21A9-A44D-DF01E516DCD8}"/>
              </a:ext>
            </a:extLst>
          </p:cNvPr>
          <p:cNvSpPr>
            <a:spLocks noChangeArrowheads="1"/>
          </p:cNvSpPr>
          <p:nvPr/>
        </p:nvSpPr>
        <p:spPr bwMode="auto">
          <a:xfrm>
            <a:off x="2456498" y="1825625"/>
            <a:ext cx="2620962" cy="6350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1. Poor Procedures </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or Standards</a:t>
            </a:r>
          </a:p>
        </p:txBody>
      </p:sp>
      <p:sp>
        <p:nvSpPr>
          <p:cNvPr id="14" name="Rectangle 9">
            <a:extLst>
              <a:ext uri="{FF2B5EF4-FFF2-40B4-BE49-F238E27FC236}">
                <a16:creationId xmlns:a16="http://schemas.microsoft.com/office/drawing/2014/main" id="{A0C750F9-9721-651C-25A2-0E1B58B835F4}"/>
              </a:ext>
            </a:extLst>
          </p:cNvPr>
          <p:cNvSpPr>
            <a:spLocks noChangeArrowheads="1"/>
          </p:cNvSpPr>
          <p:nvPr/>
        </p:nvSpPr>
        <p:spPr bwMode="auto">
          <a:xfrm>
            <a:off x="2456498" y="2755900"/>
            <a:ext cx="2620962" cy="635000"/>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2. Equipment</a:t>
            </a:r>
          </a:p>
        </p:txBody>
      </p:sp>
      <p:sp>
        <p:nvSpPr>
          <p:cNvPr id="15" name="Rectangle 10">
            <a:extLst>
              <a:ext uri="{FF2B5EF4-FFF2-40B4-BE49-F238E27FC236}">
                <a16:creationId xmlns:a16="http://schemas.microsoft.com/office/drawing/2014/main" id="{DEC799F7-8CA4-78BA-2A62-C70D047C02B5}"/>
              </a:ext>
            </a:extLst>
          </p:cNvPr>
          <p:cNvSpPr>
            <a:spLocks noChangeArrowheads="1"/>
          </p:cNvSpPr>
          <p:nvPr/>
        </p:nvSpPr>
        <p:spPr bwMode="auto">
          <a:xfrm>
            <a:off x="2456498" y="3689350"/>
            <a:ext cx="2620962" cy="635000"/>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3. Non-conforming Material</a:t>
            </a:r>
          </a:p>
        </p:txBody>
      </p:sp>
      <p:sp>
        <p:nvSpPr>
          <p:cNvPr id="16" name="Rectangle 11">
            <a:extLst>
              <a:ext uri="{FF2B5EF4-FFF2-40B4-BE49-F238E27FC236}">
                <a16:creationId xmlns:a16="http://schemas.microsoft.com/office/drawing/2014/main" id="{E1150C2B-8EEA-D403-551C-72F32201CFDB}"/>
              </a:ext>
            </a:extLst>
          </p:cNvPr>
          <p:cNvSpPr>
            <a:spLocks noChangeArrowheads="1"/>
          </p:cNvSpPr>
          <p:nvPr/>
        </p:nvSpPr>
        <p:spPr bwMode="auto">
          <a:xfrm>
            <a:off x="2456498" y="4662487"/>
            <a:ext cx="2620962" cy="635000"/>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4. Inaccurate Information</a:t>
            </a:r>
          </a:p>
        </p:txBody>
      </p:sp>
      <p:cxnSp>
        <p:nvCxnSpPr>
          <p:cNvPr id="17" name="AutoShape 12">
            <a:extLst>
              <a:ext uri="{FF2B5EF4-FFF2-40B4-BE49-F238E27FC236}">
                <a16:creationId xmlns:a16="http://schemas.microsoft.com/office/drawing/2014/main" id="{C79DC80A-0CB7-D202-FBD5-884DDBFB791B}"/>
              </a:ext>
            </a:extLst>
          </p:cNvPr>
          <p:cNvCxnSpPr>
            <a:cxnSpLocks noChangeShapeType="1"/>
            <a:stCxn id="13" idx="2"/>
            <a:endCxn id="14" idx="0"/>
          </p:cNvCxnSpPr>
          <p:nvPr/>
        </p:nvCxnSpPr>
        <p:spPr bwMode="auto">
          <a:xfrm>
            <a:off x="3767773" y="246062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3">
            <a:extLst>
              <a:ext uri="{FF2B5EF4-FFF2-40B4-BE49-F238E27FC236}">
                <a16:creationId xmlns:a16="http://schemas.microsoft.com/office/drawing/2014/main" id="{89C99D6B-102F-ED3B-296B-37D1E7D9B1E5}"/>
              </a:ext>
            </a:extLst>
          </p:cNvPr>
          <p:cNvCxnSpPr>
            <a:cxnSpLocks noChangeShapeType="1"/>
            <a:stCxn id="14" idx="2"/>
            <a:endCxn id="15" idx="0"/>
          </p:cNvCxnSpPr>
          <p:nvPr/>
        </p:nvCxnSpPr>
        <p:spPr bwMode="auto">
          <a:xfrm>
            <a:off x="3767773" y="339090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4">
            <a:extLst>
              <a:ext uri="{FF2B5EF4-FFF2-40B4-BE49-F238E27FC236}">
                <a16:creationId xmlns:a16="http://schemas.microsoft.com/office/drawing/2014/main" id="{7D1CE6D2-7272-4EF7-10F6-8253701B3567}"/>
              </a:ext>
            </a:extLst>
          </p:cNvPr>
          <p:cNvCxnSpPr>
            <a:cxnSpLocks noChangeShapeType="1"/>
            <a:stCxn id="15" idx="2"/>
            <a:endCxn id="16" idx="0"/>
          </p:cNvCxnSpPr>
          <p:nvPr/>
        </p:nvCxnSpPr>
        <p:spPr bwMode="auto">
          <a:xfrm>
            <a:off x="3767773" y="4324350"/>
            <a:ext cx="0" cy="33813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Oval 15">
            <a:extLst>
              <a:ext uri="{FF2B5EF4-FFF2-40B4-BE49-F238E27FC236}">
                <a16:creationId xmlns:a16="http://schemas.microsoft.com/office/drawing/2014/main" id="{993A4334-B69E-1835-43C8-92D5BB78F007}"/>
              </a:ext>
            </a:extLst>
          </p:cNvPr>
          <p:cNvSpPr>
            <a:spLocks noChangeArrowheads="1"/>
          </p:cNvSpPr>
          <p:nvPr/>
        </p:nvSpPr>
        <p:spPr bwMode="auto">
          <a:xfrm>
            <a:off x="2456498" y="5621337"/>
            <a:ext cx="2620962" cy="601663"/>
          </a:xfrm>
          <a:prstGeom prst="ellipse">
            <a:avLst/>
          </a:prstGeom>
          <a:solidFill>
            <a:schemeClr val="accent2"/>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5. Human Mistakes</a:t>
            </a:r>
          </a:p>
        </p:txBody>
      </p:sp>
      <p:cxnSp>
        <p:nvCxnSpPr>
          <p:cNvPr id="21" name="AutoShape 16">
            <a:extLst>
              <a:ext uri="{FF2B5EF4-FFF2-40B4-BE49-F238E27FC236}">
                <a16:creationId xmlns:a16="http://schemas.microsoft.com/office/drawing/2014/main" id="{48752864-66DB-9E2E-7197-CEF6E0CAE917}"/>
              </a:ext>
            </a:extLst>
          </p:cNvPr>
          <p:cNvCxnSpPr>
            <a:cxnSpLocks noChangeShapeType="1"/>
            <a:stCxn id="16" idx="2"/>
            <a:endCxn id="20" idx="0"/>
          </p:cNvCxnSpPr>
          <p:nvPr/>
        </p:nvCxnSpPr>
        <p:spPr bwMode="auto">
          <a:xfrm>
            <a:off x="3767773" y="5297487"/>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155474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ea typeface="+mj-ea"/>
              </a:rPr>
              <a:t>Error-Proofing</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Level 1 - Customer Inspects</a:t>
            </a:r>
          </a:p>
          <a:p>
            <a:r>
              <a:rPr lang="en-US" altLang="en-US" sz="2800" dirty="0"/>
              <a:t>Level 2 - End of Value Stream Inspection</a:t>
            </a:r>
          </a:p>
          <a:p>
            <a:endParaRPr lang="en-US" altLang="en-US" dirty="0"/>
          </a:p>
          <a:p>
            <a:endParaRPr lang="en-US" altLang="en-US" sz="2800" dirty="0"/>
          </a:p>
          <a:p>
            <a:r>
              <a:rPr lang="en-US" dirty="0"/>
              <a:t>Level 3 - End of Process Inspection</a:t>
            </a:r>
          </a:p>
          <a:p>
            <a:endParaRPr lang="en-US" dirty="0"/>
          </a:p>
          <a:p>
            <a:endParaRPr lang="en-US" dirty="0"/>
          </a:p>
          <a:p>
            <a:r>
              <a:rPr lang="en-US" dirty="0"/>
              <a:t>Level 4 - Perfect Quality Built In</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grpSp>
        <p:nvGrpSpPr>
          <p:cNvPr id="4" name="Group 3">
            <a:extLst>
              <a:ext uri="{FF2B5EF4-FFF2-40B4-BE49-F238E27FC236}">
                <a16:creationId xmlns:a16="http://schemas.microsoft.com/office/drawing/2014/main" id="{CDD5FE28-040A-8392-FEE2-C0B98295DEDC}"/>
              </a:ext>
            </a:extLst>
          </p:cNvPr>
          <p:cNvGrpSpPr/>
          <p:nvPr/>
        </p:nvGrpSpPr>
        <p:grpSpPr>
          <a:xfrm>
            <a:off x="838200" y="297639"/>
            <a:ext cx="2778942" cy="306433"/>
            <a:chOff x="838200" y="297639"/>
            <a:chExt cx="2778942" cy="306433"/>
          </a:xfrm>
        </p:grpSpPr>
        <p:grpSp>
          <p:nvGrpSpPr>
            <p:cNvPr id="6" name="Group 5">
              <a:extLst>
                <a:ext uri="{FF2B5EF4-FFF2-40B4-BE49-F238E27FC236}">
                  <a16:creationId xmlns:a16="http://schemas.microsoft.com/office/drawing/2014/main" id="{7467AD91-46C7-4517-3D28-9EE477004485}"/>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96C1F976-1426-462F-26B3-A18AFC011D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B766CDB8-99CD-CDAF-C311-E9C6C4DF6DA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9E81DAF3-7DD1-8B80-BA1A-6AD1ECB4725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7" name="TextBox 6">
              <a:extLst>
                <a:ext uri="{FF2B5EF4-FFF2-40B4-BE49-F238E27FC236}">
                  <a16:creationId xmlns:a16="http://schemas.microsoft.com/office/drawing/2014/main" id="{B431F571-42CF-E1C5-16A8-984334812CCB}"/>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pic>
        <p:nvPicPr>
          <p:cNvPr id="11" name="Picture 63" descr="Value Stream">
            <a:extLst>
              <a:ext uri="{FF2B5EF4-FFF2-40B4-BE49-F238E27FC236}">
                <a16:creationId xmlns:a16="http://schemas.microsoft.com/office/drawing/2014/main" id="{25620683-B927-99EF-6EB0-1D5A10B18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5069" y="2376170"/>
            <a:ext cx="5248601" cy="145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4" descr="Process Inspection">
            <a:extLst>
              <a:ext uri="{FF2B5EF4-FFF2-40B4-BE49-F238E27FC236}">
                <a16:creationId xmlns:a16="http://schemas.microsoft.com/office/drawing/2014/main" id="{0E04052E-BC2B-0B36-3420-339CA3075E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4224497"/>
            <a:ext cx="5451920" cy="105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65" descr="Perfect Process">
            <a:extLst>
              <a:ext uri="{FF2B5EF4-FFF2-40B4-BE49-F238E27FC236}">
                <a16:creationId xmlns:a16="http://schemas.microsoft.com/office/drawing/2014/main" id="{A0822005-346D-7160-01EE-ACE64A8EE2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0778" y="5414805"/>
            <a:ext cx="30988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AutoShape 71">
            <a:extLst>
              <a:ext uri="{FF2B5EF4-FFF2-40B4-BE49-F238E27FC236}">
                <a16:creationId xmlns:a16="http://schemas.microsoft.com/office/drawing/2014/main" id="{176A3068-F6C6-1023-9FB4-3B6D722F268A}"/>
              </a:ext>
            </a:extLst>
          </p:cNvPr>
          <p:cNvSpPr>
            <a:spLocks noChangeArrowheads="1"/>
          </p:cNvSpPr>
          <p:nvPr/>
        </p:nvSpPr>
        <p:spPr bwMode="auto">
          <a:xfrm>
            <a:off x="9203053" y="5275898"/>
            <a:ext cx="1804037" cy="1239043"/>
          </a:xfrm>
          <a:prstGeom prst="irregularSeal1">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Poka-Yoke</a:t>
            </a:r>
          </a:p>
        </p:txBody>
      </p:sp>
    </p:spTree>
    <p:extLst>
      <p:ext uri="{BB962C8B-B14F-4D97-AF65-F5344CB8AC3E}">
        <p14:creationId xmlns:p14="http://schemas.microsoft.com/office/powerpoint/2010/main" val="1765299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Discussion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error-proofing examples in your everyday environment.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pairs, list examples of devices or mechanisms in your everyday environment designed to prevent errors.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do these devices prevent the occurrence of a defect or a mistake?</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answers as a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Class discussion of</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answers </a:t>
            </a:r>
          </a:p>
        </p:txBody>
      </p:sp>
      <p:grpSp>
        <p:nvGrpSpPr>
          <p:cNvPr id="3" name="Group 2">
            <a:extLst>
              <a:ext uri="{FF2B5EF4-FFF2-40B4-BE49-F238E27FC236}">
                <a16:creationId xmlns:a16="http://schemas.microsoft.com/office/drawing/2014/main" id="{015689BF-FE9E-A9A8-D450-F90D70ECEC20}"/>
              </a:ext>
            </a:extLst>
          </p:cNvPr>
          <p:cNvGrpSpPr/>
          <p:nvPr/>
        </p:nvGrpSpPr>
        <p:grpSpPr>
          <a:xfrm>
            <a:off x="838200" y="297639"/>
            <a:ext cx="2778942" cy="306433"/>
            <a:chOff x="838200" y="297639"/>
            <a:chExt cx="2778942" cy="306433"/>
          </a:xfrm>
        </p:grpSpPr>
        <p:grpSp>
          <p:nvGrpSpPr>
            <p:cNvPr id="4" name="Group 3">
              <a:extLst>
                <a:ext uri="{FF2B5EF4-FFF2-40B4-BE49-F238E27FC236}">
                  <a16:creationId xmlns:a16="http://schemas.microsoft.com/office/drawing/2014/main" id="{097102EB-000B-6396-23F8-7B68D5CDED7D}"/>
                </a:ext>
              </a:extLst>
            </p:cNvPr>
            <p:cNvGrpSpPr/>
            <p:nvPr/>
          </p:nvGrpSpPr>
          <p:grpSpPr>
            <a:xfrm>
              <a:off x="838200" y="297639"/>
              <a:ext cx="1060167" cy="290657"/>
              <a:chOff x="826426" y="4041857"/>
              <a:chExt cx="1060167" cy="290657"/>
            </a:xfrm>
          </p:grpSpPr>
          <p:sp>
            <p:nvSpPr>
              <p:cNvPr id="7" name="AutoShape 9">
                <a:extLst>
                  <a:ext uri="{FF2B5EF4-FFF2-40B4-BE49-F238E27FC236}">
                    <a16:creationId xmlns:a16="http://schemas.microsoft.com/office/drawing/2014/main" id="{120E6CE5-60D8-06C6-2A22-55E8768B4A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11">
                <a:extLst>
                  <a:ext uri="{FF2B5EF4-FFF2-40B4-BE49-F238E27FC236}">
                    <a16:creationId xmlns:a16="http://schemas.microsoft.com/office/drawing/2014/main" id="{540CA4AA-CFF3-A576-EB30-4C6CE3E9DED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43EB12F0-E140-B191-8B7A-5BF557A44EF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6" name="TextBox 5">
              <a:extLst>
                <a:ext uri="{FF2B5EF4-FFF2-40B4-BE49-F238E27FC236}">
                  <a16:creationId xmlns:a16="http://schemas.microsoft.com/office/drawing/2014/main" id="{8C8BC5EE-C17B-F521-AD64-A96CBD55A38D}"/>
                </a:ext>
              </a:extLst>
            </p:cNvPr>
            <p:cNvSpPr txBox="1"/>
            <p:nvPr/>
          </p:nvSpPr>
          <p:spPr>
            <a:xfrm>
              <a:off x="190849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1022131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The 7 Steps of Poka-Yoke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Identify the 7 steps of the Poka-Yoke process</a:t>
            </a:r>
          </a:p>
          <a:p>
            <a:r>
              <a:rPr lang="en-US" dirty="0"/>
              <a:t>Define and identify Red Flag conditions</a:t>
            </a:r>
          </a:p>
          <a:p>
            <a:r>
              <a:rPr lang="en-US" dirty="0"/>
              <a:t>Differentiate between prevention and detection error-proofing techniques</a:t>
            </a:r>
          </a:p>
          <a:p>
            <a:r>
              <a:rPr lang="en-US" dirty="0"/>
              <a:t>Discuss importance of developing a Process Stop Support Plan</a:t>
            </a:r>
          </a:p>
          <a:p>
            <a:r>
              <a:rPr lang="en-US" dirty="0"/>
              <a:t>Discuss use of visual controls when error-proofing is not possible</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7 Steps of Poka-Yoke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Introduction to Poka-Yoke</a:t>
              </a:r>
            </a:p>
          </p:txBody>
        </p:sp>
      </p:grpSp>
    </p:spTree>
    <p:extLst>
      <p:ext uri="{BB962C8B-B14F-4D97-AF65-F5344CB8AC3E}">
        <p14:creationId xmlns:p14="http://schemas.microsoft.com/office/powerpoint/2010/main" val="3994545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7 Steps of Poka-Yoke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Create a process map and identify the locations at which the defects </a:t>
            </a:r>
            <a:r>
              <a:rPr lang="en-US"/>
              <a:t>are found </a:t>
            </a:r>
            <a:r>
              <a:rPr lang="en-US" dirty="0"/>
              <a:t>and made</a:t>
            </a:r>
          </a:p>
          <a:p>
            <a:r>
              <a:rPr lang="en-US" dirty="0"/>
              <a:t>Evaluate current procedures for adequacy and determine if they are </a:t>
            </a:r>
            <a:br>
              <a:rPr lang="en-US" dirty="0"/>
            </a:br>
            <a:r>
              <a:rPr lang="en-US" dirty="0"/>
              <a:t>being followed</a:t>
            </a:r>
          </a:p>
          <a:p>
            <a:r>
              <a:rPr lang="en-US" dirty="0"/>
              <a:t>Identify defect provoking conditions, or red flag conditions, at each </a:t>
            </a:r>
            <a:br>
              <a:rPr lang="en-US" dirty="0"/>
            </a:br>
            <a:r>
              <a:rPr lang="en-US" dirty="0"/>
              <a:t>process step</a:t>
            </a:r>
          </a:p>
          <a:p>
            <a:r>
              <a:rPr lang="en-US" dirty="0"/>
              <a:t>Identify the root cause(s) (error) of each type of defect and in which process step it occurs</a:t>
            </a:r>
          </a:p>
          <a:p>
            <a:r>
              <a:rPr lang="en-US" dirty="0"/>
              <a:t>Identify the type of error-proofing device required</a:t>
            </a:r>
          </a:p>
          <a:p>
            <a:r>
              <a:rPr lang="en-US" dirty="0"/>
              <a:t>Create the device and try it</a:t>
            </a:r>
          </a:p>
          <a:p>
            <a:r>
              <a:rPr lang="en-US" dirty="0"/>
              <a:t>Measure for effectiveness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3833900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Red Flag Conditions are conditions which normally provoke errors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Multiple steps</a:t>
            </a:r>
          </a:p>
          <a:p>
            <a:r>
              <a:rPr lang="en-US" dirty="0"/>
              <a:t>Infrequent processing</a:t>
            </a:r>
          </a:p>
          <a:p>
            <a:r>
              <a:rPr lang="en-US" dirty="0"/>
              <a:t>Lack of standards</a:t>
            </a:r>
          </a:p>
          <a:p>
            <a:r>
              <a:rPr lang="en-US" dirty="0"/>
              <a:t>Rapid repetition</a:t>
            </a:r>
          </a:p>
          <a:p>
            <a:r>
              <a:rPr lang="en-US" dirty="0"/>
              <a:t>High volume</a:t>
            </a:r>
          </a:p>
          <a:p>
            <a:r>
              <a:rPr lang="en-US" dirty="0"/>
              <a:t>Environmental conditions</a:t>
            </a:r>
          </a:p>
          <a:p>
            <a:pPr lvl="1"/>
            <a:r>
              <a:rPr lang="en-US" dirty="0"/>
              <a:t>Material / process handling</a:t>
            </a:r>
          </a:p>
          <a:p>
            <a:pPr lvl="1"/>
            <a:r>
              <a:rPr lang="en-US" dirty="0"/>
              <a:t>Housekeeping</a:t>
            </a:r>
          </a:p>
          <a:p>
            <a:pPr lvl="1"/>
            <a:r>
              <a:rPr lang="en-US" dirty="0"/>
              <a:t>Ergonomics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2552958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Red Flag Conditions (continued)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Adjustments</a:t>
            </a:r>
          </a:p>
          <a:p>
            <a:pPr lvl="1"/>
            <a:r>
              <a:rPr lang="en-US" dirty="0"/>
              <a:t>Machines</a:t>
            </a:r>
          </a:p>
          <a:p>
            <a:pPr lvl="1"/>
            <a:r>
              <a:rPr lang="en-US" dirty="0"/>
              <a:t>Programs</a:t>
            </a:r>
          </a:p>
          <a:p>
            <a:r>
              <a:rPr lang="en-US" dirty="0"/>
              <a:t>Templates / template changes</a:t>
            </a:r>
          </a:p>
          <a:p>
            <a:r>
              <a:rPr lang="en-US" dirty="0"/>
              <a:t>Low tolerance</a:t>
            </a:r>
          </a:p>
          <a:p>
            <a:r>
              <a:rPr lang="en-US" dirty="0"/>
              <a:t>Many transactions / Mixed transactions</a:t>
            </a:r>
          </a:p>
          <a:p>
            <a:r>
              <a:rPr lang="en-US" dirty="0"/>
              <a:t>Symmetry / Asymmetry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1333760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Errors may either be prevented or detected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graphicFrame>
        <p:nvGraphicFramePr>
          <p:cNvPr id="11" name="Group 39">
            <a:extLst>
              <a:ext uri="{FF2B5EF4-FFF2-40B4-BE49-F238E27FC236}">
                <a16:creationId xmlns:a16="http://schemas.microsoft.com/office/drawing/2014/main" id="{4E195D0A-FECF-869A-9622-3040B3B3D347}"/>
              </a:ext>
            </a:extLst>
          </p:cNvPr>
          <p:cNvGraphicFramePr>
            <a:graphicFrameLocks noGrp="1"/>
          </p:cNvGraphicFramePr>
          <p:nvPr>
            <p:extLst>
              <p:ext uri="{D42A27DB-BD31-4B8C-83A1-F6EECF244321}">
                <p14:modId xmlns:p14="http://schemas.microsoft.com/office/powerpoint/2010/main" val="600919684"/>
              </p:ext>
            </p:extLst>
          </p:nvPr>
        </p:nvGraphicFramePr>
        <p:xfrm>
          <a:off x="1699507" y="2437998"/>
          <a:ext cx="8792986" cy="2809239"/>
        </p:xfrm>
        <a:graphic>
          <a:graphicData uri="http://schemas.openxmlformats.org/drawingml/2006/table">
            <a:tbl>
              <a:tblPr/>
              <a:tblGrid>
                <a:gridCol w="2931563">
                  <a:extLst>
                    <a:ext uri="{9D8B030D-6E8A-4147-A177-3AD203B41FA5}">
                      <a16:colId xmlns:a16="http://schemas.microsoft.com/office/drawing/2014/main" val="20000"/>
                    </a:ext>
                  </a:extLst>
                </a:gridCol>
                <a:gridCol w="2929860">
                  <a:extLst>
                    <a:ext uri="{9D8B030D-6E8A-4147-A177-3AD203B41FA5}">
                      <a16:colId xmlns:a16="http://schemas.microsoft.com/office/drawing/2014/main" val="20001"/>
                    </a:ext>
                  </a:extLst>
                </a:gridCol>
                <a:gridCol w="2931563">
                  <a:extLst>
                    <a:ext uri="{9D8B030D-6E8A-4147-A177-3AD203B41FA5}">
                      <a16:colId xmlns:a16="http://schemas.microsoft.com/office/drawing/2014/main" val="20002"/>
                    </a:ext>
                  </a:extLst>
                </a:gridCol>
              </a:tblGrid>
              <a:tr h="935748">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Technique</a:t>
                      </a: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Prevention</a:t>
                      </a: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Detection</a:t>
                      </a:r>
                    </a:p>
                  </a:txBody>
                  <a:tcP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937743">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Control (shut down)</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An error is impossible</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Defective item can</a:t>
                      </a:r>
                      <a:r>
                        <a:rPr kumimoji="0" lang="en-US" altLang="en-US" sz="1600" b="1" i="0" u="none" strike="noStrike" cap="none" normalizeH="0" baseline="0" dirty="0">
                          <a:ln>
                            <a:noFill/>
                          </a:ln>
                          <a:solidFill>
                            <a:schemeClr val="tx1"/>
                          </a:solidFill>
                          <a:effectLst/>
                          <a:latin typeface="Roboto" panose="02000000000000000000" pitchFamily="2" charset="0"/>
                          <a:ea typeface="MS PGothic" panose="020B0600070205080204" pitchFamily="34" charset="-128"/>
                        </a:rPr>
                        <a:t>’</a:t>
                      </a:r>
                      <a:r>
                        <a:rPr kumimoji="0" lang="en-US" altLang="ja-JP"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t move on to the next step</a:t>
                      </a:r>
                      <a:endPar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35748">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Warning</a:t>
                      </a: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An error is about to be made</a:t>
                      </a: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15000"/>
                        </a:lnSpc>
                        <a:spcBef>
                          <a:spcPct val="50000"/>
                        </a:spcBef>
                        <a:spcAft>
                          <a:spcPct val="50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An error has been made</a:t>
                      </a:r>
                    </a:p>
                  </a:txBody>
                  <a:tcPr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39679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F010-4B33-E23A-6D48-A5202A00D7EE}"/>
              </a:ext>
            </a:extLst>
          </p:cNvPr>
          <p:cNvSpPr>
            <a:spLocks noGrp="1"/>
          </p:cNvSpPr>
          <p:nvPr>
            <p:ph type="title"/>
          </p:nvPr>
        </p:nvSpPr>
        <p:spPr/>
        <p:txBody>
          <a:bodyPr>
            <a:noAutofit/>
          </a:bodyPr>
          <a:lstStyle/>
          <a:p>
            <a:r>
              <a:rPr lang="en-US" sz="3200" dirty="0"/>
              <a:t>Control (Shutdown) Prevention and Detection Examples</a:t>
            </a:r>
          </a:p>
        </p:txBody>
      </p:sp>
      <p:sp>
        <p:nvSpPr>
          <p:cNvPr id="3" name="Text Placeholder 2">
            <a:extLst>
              <a:ext uri="{FF2B5EF4-FFF2-40B4-BE49-F238E27FC236}">
                <a16:creationId xmlns:a16="http://schemas.microsoft.com/office/drawing/2014/main" id="{CCC7D271-45EA-CDC0-0051-A122F5844192}"/>
              </a:ext>
            </a:extLst>
          </p:cNvPr>
          <p:cNvSpPr>
            <a:spLocks noGrp="1"/>
          </p:cNvSpPr>
          <p:nvPr>
            <p:ph type="body" idx="1"/>
          </p:nvPr>
        </p:nvSpPr>
        <p:spPr/>
        <p:txBody>
          <a:bodyPr/>
          <a:lstStyle/>
          <a:p>
            <a:r>
              <a:rPr lang="en-US" dirty="0"/>
              <a:t>Prevention</a:t>
            </a:r>
          </a:p>
        </p:txBody>
      </p:sp>
      <p:sp>
        <p:nvSpPr>
          <p:cNvPr id="4" name="Content Placeholder 3">
            <a:extLst>
              <a:ext uri="{FF2B5EF4-FFF2-40B4-BE49-F238E27FC236}">
                <a16:creationId xmlns:a16="http://schemas.microsoft.com/office/drawing/2014/main" id="{1138C23F-850D-1146-79F3-F76898813353}"/>
              </a:ext>
            </a:extLst>
          </p:cNvPr>
          <p:cNvSpPr>
            <a:spLocks noGrp="1"/>
          </p:cNvSpPr>
          <p:nvPr>
            <p:ph sz="half" idx="2"/>
          </p:nvPr>
        </p:nvSpPr>
        <p:spPr/>
        <p:txBody>
          <a:bodyPr/>
          <a:lstStyle/>
          <a:p>
            <a:r>
              <a:rPr lang="en-US" dirty="0"/>
              <a:t>Access controlled by biometric scan</a:t>
            </a:r>
          </a:p>
          <a:p>
            <a:r>
              <a:rPr lang="en-US" dirty="0"/>
              <a:t>Vehicle won’t start unless in park and brake depressed.</a:t>
            </a:r>
          </a:p>
          <a:p>
            <a:endParaRPr lang="en-US" dirty="0"/>
          </a:p>
        </p:txBody>
      </p:sp>
      <p:sp>
        <p:nvSpPr>
          <p:cNvPr id="5" name="Text Placeholder 4">
            <a:extLst>
              <a:ext uri="{FF2B5EF4-FFF2-40B4-BE49-F238E27FC236}">
                <a16:creationId xmlns:a16="http://schemas.microsoft.com/office/drawing/2014/main" id="{4B1367AF-12A0-EA4B-6BE2-7045C256FDE0}"/>
              </a:ext>
            </a:extLst>
          </p:cNvPr>
          <p:cNvSpPr>
            <a:spLocks noGrp="1"/>
          </p:cNvSpPr>
          <p:nvPr>
            <p:ph type="body" sz="quarter" idx="3"/>
          </p:nvPr>
        </p:nvSpPr>
        <p:spPr/>
        <p:txBody>
          <a:bodyPr/>
          <a:lstStyle/>
          <a:p>
            <a:r>
              <a:rPr lang="en-US" dirty="0"/>
              <a:t>Detection</a:t>
            </a:r>
          </a:p>
        </p:txBody>
      </p:sp>
      <p:sp>
        <p:nvSpPr>
          <p:cNvPr id="6" name="Content Placeholder 5">
            <a:extLst>
              <a:ext uri="{FF2B5EF4-FFF2-40B4-BE49-F238E27FC236}">
                <a16:creationId xmlns:a16="http://schemas.microsoft.com/office/drawing/2014/main" id="{FFF9843C-C48F-F8C6-F58B-494A5B4BE1D5}"/>
              </a:ext>
            </a:extLst>
          </p:cNvPr>
          <p:cNvSpPr>
            <a:spLocks noGrp="1"/>
          </p:cNvSpPr>
          <p:nvPr>
            <p:ph sz="quarter" idx="4"/>
          </p:nvPr>
        </p:nvSpPr>
        <p:spPr/>
        <p:txBody>
          <a:bodyPr/>
          <a:lstStyle/>
          <a:p>
            <a:r>
              <a:rPr lang="en-US" dirty="0"/>
              <a:t>Laundry dryers that have a device that shuts them down when overheating is detected</a:t>
            </a:r>
          </a:p>
          <a:p>
            <a:r>
              <a:rPr lang="en-US" dirty="0"/>
              <a:t>A computer spell checker</a:t>
            </a:r>
          </a:p>
        </p:txBody>
      </p:sp>
      <p:pic>
        <p:nvPicPr>
          <p:cNvPr id="15" name="Picture 2">
            <a:extLst>
              <a:ext uri="{FF2B5EF4-FFF2-40B4-BE49-F238E27FC236}">
                <a16:creationId xmlns:a16="http://schemas.microsoft.com/office/drawing/2014/main" id="{A5D39454-4C6A-DCC4-C6EE-8A903681B65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4608" y="4191844"/>
            <a:ext cx="219392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a:extLst>
              <a:ext uri="{FF2B5EF4-FFF2-40B4-BE49-F238E27FC236}">
                <a16:creationId xmlns:a16="http://schemas.microsoft.com/office/drawing/2014/main" id="{93D81882-5D79-0994-E422-BA847FF163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07047" y="4814214"/>
            <a:ext cx="250507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5" descr="bigstockphoto_Laptop_Keys_10873">
            <a:extLst>
              <a:ext uri="{FF2B5EF4-FFF2-40B4-BE49-F238E27FC236}">
                <a16:creationId xmlns:a16="http://schemas.microsoft.com/office/drawing/2014/main" id="{8B2DD97E-AC4A-23C9-7E9F-B2831E5F81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1397" y="4191844"/>
            <a:ext cx="2339151" cy="155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4" descr="02687572000?rgn=0,0,1534,2500&amp;scl=10&amp;fmt=jpeg">
            <a:extLst>
              <a:ext uri="{FF2B5EF4-FFF2-40B4-BE49-F238E27FC236}">
                <a16:creationId xmlns:a16="http://schemas.microsoft.com/office/drawing/2014/main" id="{D254552E-472C-CBFD-D034-BDCD7B092D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3100" y="4347369"/>
            <a:ext cx="1166973" cy="19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34">
            <a:extLst>
              <a:ext uri="{FF2B5EF4-FFF2-40B4-BE49-F238E27FC236}">
                <a16:creationId xmlns:a16="http://schemas.microsoft.com/office/drawing/2014/main" id="{51C270A5-DADF-9965-970C-D40A7AFE33C6}"/>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grpSp>
        <p:nvGrpSpPr>
          <p:cNvPr id="20" name="Group 19">
            <a:extLst>
              <a:ext uri="{FF2B5EF4-FFF2-40B4-BE49-F238E27FC236}">
                <a16:creationId xmlns:a16="http://schemas.microsoft.com/office/drawing/2014/main" id="{42D99677-FED3-289C-5671-08ECD3C2C2A1}"/>
              </a:ext>
            </a:extLst>
          </p:cNvPr>
          <p:cNvGrpSpPr/>
          <p:nvPr/>
        </p:nvGrpSpPr>
        <p:grpSpPr>
          <a:xfrm>
            <a:off x="838200" y="297639"/>
            <a:ext cx="3310890" cy="307138"/>
            <a:chOff x="838200" y="297639"/>
            <a:chExt cx="3310890" cy="307138"/>
          </a:xfrm>
        </p:grpSpPr>
        <p:grpSp>
          <p:nvGrpSpPr>
            <p:cNvPr id="21" name="Group 20">
              <a:extLst>
                <a:ext uri="{FF2B5EF4-FFF2-40B4-BE49-F238E27FC236}">
                  <a16:creationId xmlns:a16="http://schemas.microsoft.com/office/drawing/2014/main" id="{FFD31D37-7F49-097A-CD03-AB0513A4155B}"/>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DAC9BECE-A996-A411-180A-07B39D7BDF3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1">
                <a:extLst>
                  <a:ext uri="{FF2B5EF4-FFF2-40B4-BE49-F238E27FC236}">
                    <a16:creationId xmlns:a16="http://schemas.microsoft.com/office/drawing/2014/main" id="{53B1054A-DEAF-8779-312E-DFF0130596E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470AC360-8DBC-FB51-2D62-29014012F4C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2" name="TextBox 21">
              <a:extLst>
                <a:ext uri="{FF2B5EF4-FFF2-40B4-BE49-F238E27FC236}">
                  <a16:creationId xmlns:a16="http://schemas.microsoft.com/office/drawing/2014/main" id="{DA6A74C8-91FC-4F0D-279E-6CA35270A04D}"/>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289283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F010-4B33-E23A-6D48-A5202A00D7EE}"/>
              </a:ext>
            </a:extLst>
          </p:cNvPr>
          <p:cNvSpPr>
            <a:spLocks noGrp="1"/>
          </p:cNvSpPr>
          <p:nvPr>
            <p:ph type="title"/>
          </p:nvPr>
        </p:nvSpPr>
        <p:spPr/>
        <p:txBody>
          <a:bodyPr>
            <a:noAutofit/>
          </a:bodyPr>
          <a:lstStyle/>
          <a:p>
            <a:r>
              <a:rPr lang="en-US" sz="3600" dirty="0"/>
              <a:t>Warning Prevention and Detection Examples</a:t>
            </a:r>
          </a:p>
        </p:txBody>
      </p:sp>
      <p:sp>
        <p:nvSpPr>
          <p:cNvPr id="3" name="Text Placeholder 2">
            <a:extLst>
              <a:ext uri="{FF2B5EF4-FFF2-40B4-BE49-F238E27FC236}">
                <a16:creationId xmlns:a16="http://schemas.microsoft.com/office/drawing/2014/main" id="{CCC7D271-45EA-CDC0-0051-A122F5844192}"/>
              </a:ext>
            </a:extLst>
          </p:cNvPr>
          <p:cNvSpPr>
            <a:spLocks noGrp="1"/>
          </p:cNvSpPr>
          <p:nvPr>
            <p:ph type="body" idx="1"/>
          </p:nvPr>
        </p:nvSpPr>
        <p:spPr/>
        <p:txBody>
          <a:bodyPr/>
          <a:lstStyle/>
          <a:p>
            <a:r>
              <a:rPr lang="en-US" dirty="0"/>
              <a:t>Prevention</a:t>
            </a:r>
          </a:p>
        </p:txBody>
      </p:sp>
      <p:sp>
        <p:nvSpPr>
          <p:cNvPr id="4" name="Content Placeholder 3">
            <a:extLst>
              <a:ext uri="{FF2B5EF4-FFF2-40B4-BE49-F238E27FC236}">
                <a16:creationId xmlns:a16="http://schemas.microsoft.com/office/drawing/2014/main" id="{1138C23F-850D-1146-79F3-F76898813353}"/>
              </a:ext>
            </a:extLst>
          </p:cNvPr>
          <p:cNvSpPr>
            <a:spLocks noGrp="1"/>
          </p:cNvSpPr>
          <p:nvPr>
            <p:ph sz="half" idx="2"/>
          </p:nvPr>
        </p:nvSpPr>
        <p:spPr/>
        <p:txBody>
          <a:bodyPr/>
          <a:lstStyle/>
          <a:p>
            <a:r>
              <a:rPr lang="en-US" dirty="0"/>
              <a:t>Warning systems in automobiles to alert driver that not all seatbelts have </a:t>
            </a:r>
            <a:br>
              <a:rPr lang="en-US" dirty="0"/>
            </a:br>
            <a:r>
              <a:rPr lang="en-US" dirty="0"/>
              <a:t>been fastened</a:t>
            </a:r>
          </a:p>
        </p:txBody>
      </p:sp>
      <p:sp>
        <p:nvSpPr>
          <p:cNvPr id="5" name="Text Placeholder 4">
            <a:extLst>
              <a:ext uri="{FF2B5EF4-FFF2-40B4-BE49-F238E27FC236}">
                <a16:creationId xmlns:a16="http://schemas.microsoft.com/office/drawing/2014/main" id="{4B1367AF-12A0-EA4B-6BE2-7045C256FDE0}"/>
              </a:ext>
            </a:extLst>
          </p:cNvPr>
          <p:cNvSpPr>
            <a:spLocks noGrp="1"/>
          </p:cNvSpPr>
          <p:nvPr>
            <p:ph type="body" sz="quarter" idx="3"/>
          </p:nvPr>
        </p:nvSpPr>
        <p:spPr/>
        <p:txBody>
          <a:bodyPr/>
          <a:lstStyle/>
          <a:p>
            <a:r>
              <a:rPr lang="en-US" dirty="0"/>
              <a:t>Detection</a:t>
            </a:r>
          </a:p>
        </p:txBody>
      </p:sp>
      <p:sp>
        <p:nvSpPr>
          <p:cNvPr id="6" name="Content Placeholder 5">
            <a:extLst>
              <a:ext uri="{FF2B5EF4-FFF2-40B4-BE49-F238E27FC236}">
                <a16:creationId xmlns:a16="http://schemas.microsoft.com/office/drawing/2014/main" id="{FFF9843C-C48F-F8C6-F58B-494A5B4BE1D5}"/>
              </a:ext>
            </a:extLst>
          </p:cNvPr>
          <p:cNvSpPr>
            <a:spLocks noGrp="1"/>
          </p:cNvSpPr>
          <p:nvPr>
            <p:ph sz="quarter" idx="4"/>
          </p:nvPr>
        </p:nvSpPr>
        <p:spPr/>
        <p:txBody>
          <a:bodyPr/>
          <a:lstStyle/>
          <a:p>
            <a:r>
              <a:rPr lang="en-US" dirty="0"/>
              <a:t>Smoke detectors</a:t>
            </a:r>
          </a:p>
        </p:txBody>
      </p:sp>
      <p:sp>
        <p:nvSpPr>
          <p:cNvPr id="19" name="Text Box 34">
            <a:extLst>
              <a:ext uri="{FF2B5EF4-FFF2-40B4-BE49-F238E27FC236}">
                <a16:creationId xmlns:a16="http://schemas.microsoft.com/office/drawing/2014/main" id="{51C270A5-DADF-9965-970C-D40A7AFE33C6}"/>
              </a:ext>
            </a:extLst>
          </p:cNvPr>
          <p:cNvSpPr txBox="1">
            <a:spLocks noChangeArrowheads="1"/>
          </p:cNvSpPr>
          <p:nvPr/>
        </p:nvSpPr>
        <p:spPr bwMode="auto">
          <a:xfrm>
            <a:off x="427038" y="6097588"/>
            <a:ext cx="25098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800" b="0" i="1" dirty="0">
                <a:solidFill>
                  <a:srgbClr val="000066"/>
                </a:solidFill>
                <a:latin typeface="Roboto" panose="02000000000000000000" pitchFamily="2" charset="0"/>
                <a:ea typeface="Roboto" panose="02000000000000000000" pitchFamily="2" charset="0"/>
              </a:rPr>
              <a:t>Reprinted with permission from BigPhotoStock.com</a:t>
            </a:r>
          </a:p>
        </p:txBody>
      </p:sp>
      <p:pic>
        <p:nvPicPr>
          <p:cNvPr id="20" name="Picture 15" descr="bigstockphoto_Fasten_your_seat_belt__702352">
            <a:extLst>
              <a:ext uri="{FF2B5EF4-FFF2-40B4-BE49-F238E27FC236}">
                <a16:creationId xmlns:a16="http://schemas.microsoft.com/office/drawing/2014/main" id="{70FA2531-AE5B-490E-4F49-420941353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7144" y="4062012"/>
            <a:ext cx="2715037" cy="2035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6" descr="bigstockphoto_Smoke_Detector_1325825">
            <a:extLst>
              <a:ext uri="{FF2B5EF4-FFF2-40B4-BE49-F238E27FC236}">
                <a16:creationId xmlns:a16="http://schemas.microsoft.com/office/drawing/2014/main" id="{1A99BE6D-22A9-B2C0-7C66-78530515EF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5176" y="4062012"/>
            <a:ext cx="2722535" cy="203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oup 14">
            <a:extLst>
              <a:ext uri="{FF2B5EF4-FFF2-40B4-BE49-F238E27FC236}">
                <a16:creationId xmlns:a16="http://schemas.microsoft.com/office/drawing/2014/main" id="{4AFFEDF9-C73F-04F3-D010-C4654EED8301}"/>
              </a:ext>
            </a:extLst>
          </p:cNvPr>
          <p:cNvGrpSpPr/>
          <p:nvPr/>
        </p:nvGrpSpPr>
        <p:grpSpPr>
          <a:xfrm>
            <a:off x="838200" y="297639"/>
            <a:ext cx="3310890" cy="307138"/>
            <a:chOff x="838200" y="297639"/>
            <a:chExt cx="3310890" cy="307138"/>
          </a:xfrm>
        </p:grpSpPr>
        <p:grpSp>
          <p:nvGrpSpPr>
            <p:cNvPr id="16" name="Group 15">
              <a:extLst>
                <a:ext uri="{FF2B5EF4-FFF2-40B4-BE49-F238E27FC236}">
                  <a16:creationId xmlns:a16="http://schemas.microsoft.com/office/drawing/2014/main" id="{F32316CA-521C-EC73-5829-2D05BBF59A9E}"/>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9F2C8196-A125-9E7B-49CC-0B266ABF2CF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5DE72445-554E-7E4A-BFA1-449D09435D04}"/>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8B238463-9CC9-340A-6FCA-8D5404B3A33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7" name="TextBox 16">
              <a:extLst>
                <a:ext uri="{FF2B5EF4-FFF2-40B4-BE49-F238E27FC236}">
                  <a16:creationId xmlns:a16="http://schemas.microsoft.com/office/drawing/2014/main" id="{B01EAB78-9E37-DF80-7D08-8159862E318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3806669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Error-Proofing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Error-Proofing devices can</a:t>
            </a:r>
          </a:p>
          <a:p>
            <a:pPr lvl="1"/>
            <a:r>
              <a:rPr lang="en-US" dirty="0"/>
              <a:t>Prevent errors from occurring</a:t>
            </a:r>
          </a:p>
          <a:p>
            <a:pPr lvl="1"/>
            <a:r>
              <a:rPr lang="en-US" dirty="0"/>
              <a:t>Detect the error after it occurred</a:t>
            </a:r>
          </a:p>
          <a:p>
            <a:pPr lvl="1"/>
            <a:r>
              <a:rPr lang="en-US" dirty="0"/>
              <a:t>Detect the defect after it has been made</a:t>
            </a:r>
          </a:p>
          <a:p>
            <a:r>
              <a:rPr lang="en-US" dirty="0"/>
              <a:t>The best error-proofing devices are</a:t>
            </a:r>
          </a:p>
          <a:p>
            <a:pPr lvl="1"/>
            <a:r>
              <a:rPr lang="en-US" dirty="0"/>
              <a:t>Simple and cheap</a:t>
            </a:r>
          </a:p>
          <a:p>
            <a:pPr lvl="1"/>
            <a:r>
              <a:rPr lang="en-US" dirty="0"/>
              <a:t>Part of the regular process</a:t>
            </a:r>
          </a:p>
          <a:p>
            <a:pPr lvl="1"/>
            <a:r>
              <a:rPr lang="en-US" dirty="0"/>
              <a:t>Close to where the error is made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pSp>
        <p:nvGrpSpPr>
          <p:cNvPr id="4" name="Group 3">
            <a:extLst>
              <a:ext uri="{FF2B5EF4-FFF2-40B4-BE49-F238E27FC236}">
                <a16:creationId xmlns:a16="http://schemas.microsoft.com/office/drawing/2014/main" id="{21B93D17-4C6C-0C68-0D84-1E5CE719B3F8}"/>
              </a:ext>
            </a:extLst>
          </p:cNvPr>
          <p:cNvGrpSpPr/>
          <p:nvPr/>
        </p:nvGrpSpPr>
        <p:grpSpPr>
          <a:xfrm>
            <a:off x="838200" y="297639"/>
            <a:ext cx="3310890" cy="307138"/>
            <a:chOff x="838200" y="297639"/>
            <a:chExt cx="3310890" cy="307138"/>
          </a:xfrm>
        </p:grpSpPr>
        <p:grpSp>
          <p:nvGrpSpPr>
            <p:cNvPr id="6" name="Group 5">
              <a:extLst>
                <a:ext uri="{FF2B5EF4-FFF2-40B4-BE49-F238E27FC236}">
                  <a16:creationId xmlns:a16="http://schemas.microsoft.com/office/drawing/2014/main" id="{C8E2C21F-D0AE-9C2E-E70C-78673A568DD4}"/>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55B3E36E-B804-7CF0-2174-31CD0EA06A7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1">
                <a:extLst>
                  <a:ext uri="{FF2B5EF4-FFF2-40B4-BE49-F238E27FC236}">
                    <a16:creationId xmlns:a16="http://schemas.microsoft.com/office/drawing/2014/main" id="{FF3C6D0D-ABFA-7EAD-CFD1-4A67DB08723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0BDD0876-4214-39CD-D152-D7946C1734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7" name="TextBox 6">
              <a:extLst>
                <a:ext uri="{FF2B5EF4-FFF2-40B4-BE49-F238E27FC236}">
                  <a16:creationId xmlns:a16="http://schemas.microsoft.com/office/drawing/2014/main" id="{1FAC0AAC-37D7-08AF-7666-8D9C5A177E3E}"/>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7 Steps of Poka-Yoke</a:t>
              </a:r>
            </a:p>
          </p:txBody>
        </p:sp>
      </p:grpSp>
    </p:spTree>
    <p:extLst>
      <p:ext uri="{BB962C8B-B14F-4D97-AF65-F5344CB8AC3E}">
        <p14:creationId xmlns:p14="http://schemas.microsoft.com/office/powerpoint/2010/main" val="1282462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Poka-Yoke Examples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Identify types of poka-yokes</a:t>
            </a:r>
          </a:p>
          <a:p>
            <a:r>
              <a:rPr lang="en-US" dirty="0"/>
              <a:t>Review various poka-yoke examples</a:t>
            </a:r>
          </a:p>
          <a:p>
            <a:r>
              <a:rPr lang="en-US" dirty="0"/>
              <a:t>Review key learnings</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ADE2756-B973-0064-D4DD-52D3744FBA6B}"/>
              </a:ext>
            </a:extLst>
          </p:cNvPr>
          <p:cNvGrpSpPr/>
          <p:nvPr/>
        </p:nvGrpSpPr>
        <p:grpSpPr>
          <a:xfrm>
            <a:off x="699911" y="837133"/>
            <a:ext cx="4425950" cy="659879"/>
            <a:chOff x="5627530" y="641179"/>
            <a:chExt cx="6564470" cy="804977"/>
          </a:xfrm>
        </p:grpSpPr>
        <p:sp>
          <p:nvSpPr>
            <p:cNvPr id="14" name="AutoShape 9">
              <a:extLst>
                <a:ext uri="{FF2B5EF4-FFF2-40B4-BE49-F238E27FC236}">
                  <a16:creationId xmlns:a16="http://schemas.microsoft.com/office/drawing/2014/main" id="{FF83B6EB-BAFE-C193-44C8-50C54ED609A3}"/>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Poka-Yoke Examples</a:t>
              </a:r>
            </a:p>
          </p:txBody>
        </p:sp>
        <p:sp>
          <p:nvSpPr>
            <p:cNvPr id="15" name="AutoShape 10">
              <a:extLst>
                <a:ext uri="{FF2B5EF4-FFF2-40B4-BE49-F238E27FC236}">
                  <a16:creationId xmlns:a16="http://schemas.microsoft.com/office/drawing/2014/main" id="{386767CB-AD12-A8CE-F49D-60EB435EC2D3}"/>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7 Steps of Poka-Yoke</a:t>
              </a:r>
            </a:p>
          </p:txBody>
        </p:sp>
        <p:sp>
          <p:nvSpPr>
            <p:cNvPr id="16" name="AutoShape 11">
              <a:extLst>
                <a:ext uri="{FF2B5EF4-FFF2-40B4-BE49-F238E27FC236}">
                  <a16:creationId xmlns:a16="http://schemas.microsoft.com/office/drawing/2014/main" id="{C2EFD1F9-72F5-1220-34C5-1283C9247686}"/>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Introduction to Poka-Yoke</a:t>
              </a:r>
            </a:p>
          </p:txBody>
        </p:sp>
      </p:grpSp>
    </p:spTree>
    <p:extLst>
      <p:ext uri="{BB962C8B-B14F-4D97-AF65-F5344CB8AC3E}">
        <p14:creationId xmlns:p14="http://schemas.microsoft.com/office/powerpoint/2010/main" val="2610131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Computer/Data Entry</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Field Checks:</a:t>
            </a:r>
          </a:p>
          <a:p>
            <a:pPr lvl="1"/>
            <a:r>
              <a:rPr lang="en-US" dirty="0"/>
              <a:t>Part Numbers vs. Database</a:t>
            </a:r>
          </a:p>
          <a:p>
            <a:pPr lvl="1"/>
            <a:r>
              <a:rPr lang="en-US" dirty="0"/>
              <a:t>SS Numbers</a:t>
            </a:r>
          </a:p>
          <a:p>
            <a:pPr lvl="1"/>
            <a:r>
              <a:rPr lang="en-US" dirty="0"/>
              <a:t>Date Check</a:t>
            </a:r>
          </a:p>
          <a:p>
            <a:r>
              <a:rPr lang="en-US" dirty="0"/>
              <a:t>Form Completion Verification</a:t>
            </a:r>
          </a:p>
          <a:p>
            <a:r>
              <a:rPr lang="en-US" dirty="0"/>
              <a:t>Password Protection</a:t>
            </a:r>
          </a:p>
          <a:p>
            <a:r>
              <a:rPr lang="en-US" dirty="0"/>
              <a:t>Automated Backups</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pic>
        <p:nvPicPr>
          <p:cNvPr id="14" name="Picture 17">
            <a:extLst>
              <a:ext uri="{FF2B5EF4-FFF2-40B4-BE49-F238E27FC236}">
                <a16:creationId xmlns:a16="http://schemas.microsoft.com/office/drawing/2014/main" id="{60867650-C2D7-9494-28E0-1A26C0610AC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55976" y="2703514"/>
            <a:ext cx="4325795" cy="2847815"/>
          </a:xfrm>
        </p:spPr>
      </p:pic>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3928788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Checklists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Standardized, pre-designed</a:t>
            </a:r>
          </a:p>
          <a:p>
            <a:r>
              <a:rPr lang="en-US" dirty="0"/>
              <a:t>Eliminates missed steps, parts, etc.</a:t>
            </a:r>
          </a:p>
          <a:p>
            <a:r>
              <a:rPr lang="en-US" dirty="0"/>
              <a:t>Provides documentation of process quality</a:t>
            </a:r>
          </a:p>
          <a:p>
            <a:r>
              <a:rPr lang="en-US" dirty="0"/>
              <a:t>High correlation to quality improvement in rather complicated processes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pic>
        <p:nvPicPr>
          <p:cNvPr id="15" name="Picture 12">
            <a:extLst>
              <a:ext uri="{FF2B5EF4-FFF2-40B4-BE49-F238E27FC236}">
                <a16:creationId xmlns:a16="http://schemas.microsoft.com/office/drawing/2014/main" id="{EF92797C-B6CF-92E5-9233-8636B3F744A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199481" y="2518569"/>
            <a:ext cx="24384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044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Color Coding</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lnSpcReduction="10000"/>
          </a:bodyPr>
          <a:lstStyle/>
          <a:p>
            <a:r>
              <a:rPr lang="en-US" dirty="0"/>
              <a:t>Provides visual control of process</a:t>
            </a:r>
          </a:p>
          <a:p>
            <a:r>
              <a:rPr lang="en-US" dirty="0"/>
              <a:t>Easy separation of similar process output</a:t>
            </a:r>
          </a:p>
          <a:p>
            <a:pPr lvl="1"/>
            <a:r>
              <a:rPr lang="en-US" dirty="0"/>
              <a:t>Red Credit Memo</a:t>
            </a:r>
          </a:p>
          <a:p>
            <a:pPr lvl="1"/>
            <a:r>
              <a:rPr lang="en-US" dirty="0"/>
              <a:t>Black Invoice</a:t>
            </a:r>
          </a:p>
          <a:p>
            <a:pPr lvl="1"/>
            <a:r>
              <a:rPr lang="en-US" dirty="0"/>
              <a:t>Yellow Packing List</a:t>
            </a:r>
          </a:p>
          <a:p>
            <a:r>
              <a:rPr lang="en-US" dirty="0"/>
              <a:t>Easily detect when process is not in control</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pic>
        <p:nvPicPr>
          <p:cNvPr id="5" name="Picture 12">
            <a:extLst>
              <a:ext uri="{FF2B5EF4-FFF2-40B4-BE49-F238E27FC236}">
                <a16:creationId xmlns:a16="http://schemas.microsoft.com/office/drawing/2014/main" id="{5D828F49-3A28-26D6-FAE1-5C4DAF50452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996632" y="2703514"/>
            <a:ext cx="4410869" cy="289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216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Sizes and Weights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92500" lnSpcReduction="10000"/>
          </a:bodyPr>
          <a:lstStyle/>
          <a:p>
            <a:r>
              <a:rPr lang="en-US" dirty="0"/>
              <a:t>Weights:</a:t>
            </a:r>
          </a:p>
          <a:p>
            <a:pPr lvl="1"/>
            <a:r>
              <a:rPr lang="en-US" dirty="0"/>
              <a:t>Easily detect if a parcel contains </a:t>
            </a:r>
            <a:br>
              <a:rPr lang="en-US" dirty="0"/>
            </a:br>
            <a:r>
              <a:rPr lang="en-US" dirty="0"/>
              <a:t>the required contents</a:t>
            </a:r>
          </a:p>
          <a:p>
            <a:r>
              <a:rPr lang="en-US" dirty="0"/>
              <a:t>Sizes:</a:t>
            </a:r>
          </a:p>
          <a:p>
            <a:pPr lvl="1"/>
            <a:r>
              <a:rPr lang="en-US" dirty="0"/>
              <a:t>Standardized sizes provide for visual control and detection of process errors</a:t>
            </a:r>
          </a:p>
          <a:p>
            <a:pPr lvl="2"/>
            <a:r>
              <a:rPr lang="en-US" dirty="0"/>
              <a:t>Applications are different sizes for different classification of customers</a:t>
            </a:r>
          </a:p>
          <a:p>
            <a:pPr lvl="2"/>
            <a:r>
              <a:rPr lang="en-US" dirty="0"/>
              <a:t>Different sized folders used for process variations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pic>
        <p:nvPicPr>
          <p:cNvPr id="14" name="Picture 12">
            <a:extLst>
              <a:ext uri="{FF2B5EF4-FFF2-40B4-BE49-F238E27FC236}">
                <a16:creationId xmlns:a16="http://schemas.microsoft.com/office/drawing/2014/main" id="{ABC33AA4-222A-5827-1ECB-D14896A64B1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208625" y="2518569"/>
            <a:ext cx="2420112" cy="3657600"/>
          </a:xfrm>
        </p:spPr>
      </p:pic>
    </p:spTree>
    <p:extLst>
      <p:ext uri="{BB962C8B-B14F-4D97-AF65-F5344CB8AC3E}">
        <p14:creationId xmlns:p14="http://schemas.microsoft.com/office/powerpoint/2010/main" val="295299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Batch Totals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Detects and eliminates data entry errors</a:t>
            </a:r>
          </a:p>
          <a:p>
            <a:r>
              <a:rPr lang="en-US" dirty="0"/>
              <a:t>Extremely useful in Accounts Payable or other batch processing applications</a:t>
            </a:r>
          </a:p>
          <a:p>
            <a:r>
              <a:rPr lang="en-US" dirty="0"/>
              <a:t>Error can still occur if source data is incorrect!</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pic>
        <p:nvPicPr>
          <p:cNvPr id="15" name="Picture 12">
            <a:extLst>
              <a:ext uri="{FF2B5EF4-FFF2-40B4-BE49-F238E27FC236}">
                <a16:creationId xmlns:a16="http://schemas.microsoft.com/office/drawing/2014/main" id="{39A6F67B-50CF-7E06-6E8A-C3566C720CF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73772" y="2594643"/>
            <a:ext cx="4410869" cy="3065554"/>
          </a:xfrm>
        </p:spPr>
      </p:pic>
    </p:spTree>
    <p:extLst>
      <p:ext uri="{BB962C8B-B14F-4D97-AF65-F5344CB8AC3E}">
        <p14:creationId xmlns:p14="http://schemas.microsoft.com/office/powerpoint/2010/main" val="181515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Electronic Cards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92500" lnSpcReduction="20000"/>
          </a:bodyPr>
          <a:lstStyle/>
          <a:p>
            <a:r>
              <a:rPr lang="en-US" dirty="0"/>
              <a:t>Pre-programmed data</a:t>
            </a:r>
          </a:p>
          <a:p>
            <a:r>
              <a:rPr lang="en-US" dirty="0"/>
              <a:t>Eliminates data entry errors</a:t>
            </a:r>
          </a:p>
          <a:p>
            <a:r>
              <a:rPr lang="en-US" dirty="0"/>
              <a:t>Password protection can eliminate fraud</a:t>
            </a:r>
          </a:p>
          <a:p>
            <a:r>
              <a:rPr lang="en-US" dirty="0"/>
              <a:t>Potential uses:</a:t>
            </a:r>
          </a:p>
          <a:p>
            <a:pPr lvl="1"/>
            <a:r>
              <a:rPr lang="en-US" dirty="0"/>
              <a:t>Building security</a:t>
            </a:r>
          </a:p>
          <a:p>
            <a:pPr lvl="1"/>
            <a:r>
              <a:rPr lang="en-US" dirty="0"/>
              <a:t>Financial transactions</a:t>
            </a:r>
          </a:p>
          <a:p>
            <a:pPr lvl="1"/>
            <a:r>
              <a:rPr lang="en-US" dirty="0"/>
              <a:t>Time tracking and reporting</a:t>
            </a:r>
          </a:p>
          <a:p>
            <a:pPr lvl="1"/>
            <a:r>
              <a:rPr lang="en-US" dirty="0"/>
              <a:t>Company expense report control</a:t>
            </a:r>
          </a:p>
          <a:p>
            <a:pPr lvl="1"/>
            <a:r>
              <a:rPr lang="en-US" dirty="0"/>
              <a:t>Identification verification</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pic>
        <p:nvPicPr>
          <p:cNvPr id="14" name="Picture 12">
            <a:extLst>
              <a:ext uri="{FF2B5EF4-FFF2-40B4-BE49-F238E27FC236}">
                <a16:creationId xmlns:a16="http://schemas.microsoft.com/office/drawing/2014/main" id="{23C7E365-4730-1D0B-8C3D-C2B7930E4C4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59048" y="2703514"/>
            <a:ext cx="4288433" cy="2866103"/>
          </a:xfrm>
        </p:spPr>
      </p:pic>
    </p:spTree>
    <p:extLst>
      <p:ext uri="{BB962C8B-B14F-4D97-AF65-F5344CB8AC3E}">
        <p14:creationId xmlns:p14="http://schemas.microsoft.com/office/powerpoint/2010/main" val="3911692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Standardized Forms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Eliminates errors of omission</a:t>
            </a:r>
          </a:p>
          <a:p>
            <a:r>
              <a:rPr lang="en-US" dirty="0"/>
              <a:t>Provides for repeatable quality input/output</a:t>
            </a:r>
          </a:p>
          <a:p>
            <a:r>
              <a:rPr lang="en-US" dirty="0"/>
              <a:t>Easily sorted based on data fields</a:t>
            </a:r>
          </a:p>
          <a:p>
            <a:r>
              <a:rPr lang="en-US" dirty="0"/>
              <a:t>Printing of form could be tied to the completeness of the document</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pic>
        <p:nvPicPr>
          <p:cNvPr id="15" name="Picture 12">
            <a:extLst>
              <a:ext uri="{FF2B5EF4-FFF2-40B4-BE49-F238E27FC236}">
                <a16:creationId xmlns:a16="http://schemas.microsoft.com/office/drawing/2014/main" id="{0BA6248E-F0AD-BFF7-C8E8-1EBAA4956AB1}"/>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839789" y="2505303"/>
            <a:ext cx="4749610" cy="3392578"/>
          </a:xfrm>
        </p:spPr>
      </p:pic>
    </p:spTree>
    <p:extLst>
      <p:ext uri="{BB962C8B-B14F-4D97-AF65-F5344CB8AC3E}">
        <p14:creationId xmlns:p14="http://schemas.microsoft.com/office/powerpoint/2010/main" val="3463896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Standardized Templates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Assures that all required materials or parts are processed</a:t>
            </a:r>
          </a:p>
          <a:p>
            <a:r>
              <a:rPr lang="en-US" dirty="0"/>
              <a:t>Used in shipping materials/forms to a customer where there is high level of complexity and errors are frequent</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grpSp>
        <p:nvGrpSpPr>
          <p:cNvPr id="37" name="Group 12">
            <a:extLst>
              <a:ext uri="{FF2B5EF4-FFF2-40B4-BE49-F238E27FC236}">
                <a16:creationId xmlns:a16="http://schemas.microsoft.com/office/drawing/2014/main" id="{D4E8A955-E398-6466-09F4-47F03D23FCB0}"/>
              </a:ext>
            </a:extLst>
          </p:cNvPr>
          <p:cNvGrpSpPr>
            <a:grpSpLocks/>
          </p:cNvGrpSpPr>
          <p:nvPr/>
        </p:nvGrpSpPr>
        <p:grpSpPr bwMode="auto">
          <a:xfrm>
            <a:off x="836612" y="2696369"/>
            <a:ext cx="4625975" cy="3302000"/>
            <a:chOff x="3287" y="1742"/>
            <a:chExt cx="2283" cy="1660"/>
          </a:xfrm>
        </p:grpSpPr>
        <p:sp>
          <p:nvSpPr>
            <p:cNvPr id="38" name="Rectangle 13">
              <a:extLst>
                <a:ext uri="{FF2B5EF4-FFF2-40B4-BE49-F238E27FC236}">
                  <a16:creationId xmlns:a16="http://schemas.microsoft.com/office/drawing/2014/main" id="{EAC66BA5-5E19-0F4A-06A3-F72B5DF65229}"/>
                </a:ext>
              </a:extLst>
            </p:cNvPr>
            <p:cNvSpPr>
              <a:spLocks noChangeArrowheads="1"/>
            </p:cNvSpPr>
            <p:nvPr/>
          </p:nvSpPr>
          <p:spPr bwMode="auto">
            <a:xfrm>
              <a:off x="3287" y="1742"/>
              <a:ext cx="2283" cy="1660"/>
            </a:xfrm>
            <a:prstGeom prst="rect">
              <a:avLst/>
            </a:prstGeom>
            <a:solidFill>
              <a:schemeClr val="accent5"/>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39" name="Rectangle 14">
              <a:extLst>
                <a:ext uri="{FF2B5EF4-FFF2-40B4-BE49-F238E27FC236}">
                  <a16:creationId xmlns:a16="http://schemas.microsoft.com/office/drawing/2014/main" id="{52F2CBCF-0B0A-2A07-C383-C21619D1EE87}"/>
                </a:ext>
              </a:extLst>
            </p:cNvPr>
            <p:cNvSpPr>
              <a:spLocks noChangeArrowheads="1"/>
            </p:cNvSpPr>
            <p:nvPr/>
          </p:nvSpPr>
          <p:spPr bwMode="auto">
            <a:xfrm>
              <a:off x="3463" y="1958"/>
              <a:ext cx="847" cy="1308"/>
            </a:xfrm>
            <a:prstGeom prst="rect">
              <a:avLst/>
            </a:prstGeom>
            <a:solidFill>
              <a:schemeClr val="bg2"/>
            </a:solidFill>
            <a:ln w="12700">
              <a:solidFill>
                <a:schemeClr val="tx1"/>
              </a:solidFill>
              <a:prstDash val="dash"/>
              <a:miter lim="800000"/>
              <a:headEnd type="none" w="sm" len="sm"/>
              <a:tailEnd type="none" w="sm" len="sm"/>
            </a:ln>
            <a:effectLst/>
          </p:spPr>
          <p:txBody>
            <a:bodyPr wrap="none" anchor="ctr"/>
            <a:lstStyle/>
            <a:p>
              <a:pPr algn="ctr">
                <a:spcBef>
                  <a:spcPct val="30000"/>
                </a:spcBef>
                <a:defRPr/>
              </a:pPr>
              <a:r>
                <a:rPr lang="en-US" sz="2000" dirty="0">
                  <a:solidFill>
                    <a:schemeClr val="tx1"/>
                  </a:solidFill>
                  <a:latin typeface="Roboto" panose="02000000000000000000" pitchFamily="2" charset="0"/>
                  <a:ea typeface="Roboto" panose="02000000000000000000" pitchFamily="2" charset="0"/>
                </a:rPr>
                <a:t>Point of Sale</a:t>
              </a:r>
            </a:p>
            <a:p>
              <a:pPr algn="ctr">
                <a:spcBef>
                  <a:spcPct val="30000"/>
                </a:spcBef>
                <a:defRPr/>
              </a:pPr>
              <a:r>
                <a:rPr lang="en-US" sz="2000" dirty="0">
                  <a:solidFill>
                    <a:schemeClr val="tx1"/>
                  </a:solidFill>
                  <a:latin typeface="Roboto" panose="02000000000000000000" pitchFamily="2" charset="0"/>
                  <a:ea typeface="Roboto" panose="02000000000000000000" pitchFamily="2" charset="0"/>
                </a:rPr>
                <a:t>Material</a:t>
              </a:r>
            </a:p>
          </p:txBody>
        </p:sp>
        <p:sp>
          <p:nvSpPr>
            <p:cNvPr id="40" name="Rectangle 15">
              <a:extLst>
                <a:ext uri="{FF2B5EF4-FFF2-40B4-BE49-F238E27FC236}">
                  <a16:creationId xmlns:a16="http://schemas.microsoft.com/office/drawing/2014/main" id="{60F5B536-33BF-325E-1465-A708A769112D}"/>
                </a:ext>
              </a:extLst>
            </p:cNvPr>
            <p:cNvSpPr>
              <a:spLocks noChangeArrowheads="1"/>
            </p:cNvSpPr>
            <p:nvPr/>
          </p:nvSpPr>
          <p:spPr bwMode="auto">
            <a:xfrm>
              <a:off x="4486" y="1992"/>
              <a:ext cx="501" cy="176"/>
            </a:xfrm>
            <a:prstGeom prst="rect">
              <a:avLst/>
            </a:prstGeom>
            <a:solidFill>
              <a:schemeClr val="bg2"/>
            </a:solidFill>
            <a:ln w="12700">
              <a:solidFill>
                <a:schemeClr val="tx1"/>
              </a:solidFill>
              <a:prstDash val="dash"/>
              <a:miter lim="800000"/>
              <a:headEnd type="none" w="sm" len="sm"/>
              <a:tailEnd type="none" w="sm" len="sm"/>
            </a:ln>
            <a:effectLst/>
          </p:spPr>
          <p:txBody>
            <a:bodyPr wrap="none" anchor="ctr"/>
            <a:lstStyle/>
            <a:p>
              <a:pPr algn="ctr">
                <a:spcBef>
                  <a:spcPct val="30000"/>
                </a:spcBef>
                <a:defRPr/>
              </a:pPr>
              <a:r>
                <a:rPr lang="en-US" sz="1400" dirty="0">
                  <a:solidFill>
                    <a:schemeClr val="tx1"/>
                  </a:solidFill>
                  <a:latin typeface="Roboto" panose="02000000000000000000" pitchFamily="2" charset="0"/>
                  <a:ea typeface="Roboto" panose="02000000000000000000" pitchFamily="2" charset="0"/>
                </a:rPr>
                <a:t>Credit Slips</a:t>
              </a:r>
            </a:p>
          </p:txBody>
        </p:sp>
        <p:sp>
          <p:nvSpPr>
            <p:cNvPr id="41" name="Rectangle 16">
              <a:extLst>
                <a:ext uri="{FF2B5EF4-FFF2-40B4-BE49-F238E27FC236}">
                  <a16:creationId xmlns:a16="http://schemas.microsoft.com/office/drawing/2014/main" id="{EBD3AD5B-53ED-B996-4557-2FEC7FA11198}"/>
                </a:ext>
              </a:extLst>
            </p:cNvPr>
            <p:cNvSpPr>
              <a:spLocks noChangeArrowheads="1"/>
            </p:cNvSpPr>
            <p:nvPr/>
          </p:nvSpPr>
          <p:spPr bwMode="auto">
            <a:xfrm>
              <a:off x="4486" y="2277"/>
              <a:ext cx="617" cy="596"/>
            </a:xfrm>
            <a:prstGeom prst="rect">
              <a:avLst/>
            </a:prstGeom>
            <a:solidFill>
              <a:schemeClr val="bg2"/>
            </a:solidFill>
            <a:ln w="12700">
              <a:solidFill>
                <a:schemeClr val="tx1"/>
              </a:solidFill>
              <a:prstDash val="dash"/>
              <a:miter lim="800000"/>
              <a:headEnd type="none" w="sm" len="sm"/>
              <a:tailEnd type="none" w="sm" len="sm"/>
            </a:ln>
            <a:effectLst/>
          </p:spPr>
          <p:txBody>
            <a:bodyPr wrap="none" anchor="ctr"/>
            <a:lstStyle/>
            <a:p>
              <a:pPr algn="ctr">
                <a:spcBef>
                  <a:spcPct val="30000"/>
                </a:spcBef>
                <a:defRPr/>
              </a:pPr>
              <a:r>
                <a:rPr lang="en-US" sz="1600" dirty="0">
                  <a:solidFill>
                    <a:schemeClr val="tx1"/>
                  </a:solidFill>
                  <a:latin typeface="Roboto" panose="02000000000000000000" pitchFamily="2" charset="0"/>
                  <a:ea typeface="Roboto" panose="02000000000000000000" pitchFamily="2" charset="0"/>
                </a:rPr>
                <a:t>Applications</a:t>
              </a:r>
              <a:endParaRPr lang="en-US" sz="1200" dirty="0">
                <a:solidFill>
                  <a:schemeClr val="tx1"/>
                </a:solidFill>
                <a:latin typeface="Roboto" panose="02000000000000000000" pitchFamily="2" charset="0"/>
                <a:ea typeface="Roboto" panose="02000000000000000000" pitchFamily="2" charset="0"/>
              </a:endParaRPr>
            </a:p>
          </p:txBody>
        </p:sp>
        <p:sp>
          <p:nvSpPr>
            <p:cNvPr id="42" name="Oval 17">
              <a:extLst>
                <a:ext uri="{FF2B5EF4-FFF2-40B4-BE49-F238E27FC236}">
                  <a16:creationId xmlns:a16="http://schemas.microsoft.com/office/drawing/2014/main" id="{79443365-07AF-5F46-D0DF-B5B96F3B111B}"/>
                </a:ext>
              </a:extLst>
            </p:cNvPr>
            <p:cNvSpPr>
              <a:spLocks noChangeArrowheads="1"/>
            </p:cNvSpPr>
            <p:nvPr/>
          </p:nvSpPr>
          <p:spPr bwMode="auto">
            <a:xfrm>
              <a:off x="5103" y="1840"/>
              <a:ext cx="409" cy="454"/>
            </a:xfrm>
            <a:prstGeom prst="ellipse">
              <a:avLst/>
            </a:prstGeom>
            <a:solidFill>
              <a:schemeClr val="bg2"/>
            </a:solidFill>
            <a:ln w="12700">
              <a:solidFill>
                <a:schemeClr val="tx1"/>
              </a:solidFill>
              <a:prstDash val="dash"/>
              <a:round/>
              <a:headEnd type="none" w="sm" len="sm"/>
              <a:tailEnd type="none" w="sm" len="sm"/>
            </a:ln>
            <a:effectLst/>
          </p:spPr>
          <p:txBody>
            <a:bodyPr wrap="none" anchor="ctr"/>
            <a:lstStyle/>
            <a:p>
              <a:pPr algn="ctr">
                <a:spcBef>
                  <a:spcPct val="30000"/>
                </a:spcBef>
                <a:defRPr/>
              </a:pPr>
              <a:r>
                <a:rPr lang="en-US">
                  <a:solidFill>
                    <a:schemeClr val="tx1"/>
                  </a:solidFill>
                  <a:latin typeface="Roboto" panose="02000000000000000000" pitchFamily="2" charset="0"/>
                  <a:ea typeface="Roboto" panose="02000000000000000000" pitchFamily="2" charset="0"/>
                </a:rPr>
                <a:t>Badge</a:t>
              </a:r>
            </a:p>
          </p:txBody>
        </p:sp>
        <p:sp>
          <p:nvSpPr>
            <p:cNvPr id="43" name="Rectangle 18">
              <a:extLst>
                <a:ext uri="{FF2B5EF4-FFF2-40B4-BE49-F238E27FC236}">
                  <a16:creationId xmlns:a16="http://schemas.microsoft.com/office/drawing/2014/main" id="{A25AC554-3113-7D88-4114-F4EF26810565}"/>
                </a:ext>
              </a:extLst>
            </p:cNvPr>
            <p:cNvSpPr>
              <a:spLocks noChangeArrowheads="1"/>
            </p:cNvSpPr>
            <p:nvPr/>
          </p:nvSpPr>
          <p:spPr bwMode="auto">
            <a:xfrm>
              <a:off x="4493" y="2989"/>
              <a:ext cx="847" cy="305"/>
            </a:xfrm>
            <a:prstGeom prst="rect">
              <a:avLst/>
            </a:prstGeom>
            <a:solidFill>
              <a:schemeClr val="bg2"/>
            </a:solidFill>
            <a:ln w="12700">
              <a:solidFill>
                <a:schemeClr val="tx1"/>
              </a:solidFill>
              <a:prstDash val="dash"/>
              <a:miter lim="800000"/>
              <a:headEnd type="none" w="sm" len="sm"/>
              <a:tailEnd type="none" w="sm" len="sm"/>
            </a:ln>
            <a:effectLst/>
          </p:spPr>
          <p:txBody>
            <a:bodyPr wrap="none" anchor="ctr"/>
            <a:lstStyle/>
            <a:p>
              <a:pPr algn="ctr">
                <a:spcBef>
                  <a:spcPct val="30000"/>
                </a:spcBef>
                <a:defRPr/>
              </a:pPr>
              <a:r>
                <a:rPr lang="en-US" sz="2000" dirty="0">
                  <a:solidFill>
                    <a:schemeClr val="tx1"/>
                  </a:solidFill>
                  <a:latin typeface="Roboto" panose="02000000000000000000" pitchFamily="2" charset="0"/>
                  <a:ea typeface="Roboto" panose="02000000000000000000" pitchFamily="2" charset="0"/>
                </a:rPr>
                <a:t>Store Signs</a:t>
              </a:r>
            </a:p>
          </p:txBody>
        </p:sp>
      </p:grpSp>
    </p:spTree>
    <p:extLst>
      <p:ext uri="{BB962C8B-B14F-4D97-AF65-F5344CB8AC3E}">
        <p14:creationId xmlns:p14="http://schemas.microsoft.com/office/powerpoint/2010/main" val="913278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Types of Poka-yoke Devices for the Office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5S Organization</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Organization eliminates errors</a:t>
            </a:r>
          </a:p>
          <a:p>
            <a:r>
              <a:rPr lang="en-US" dirty="0"/>
              <a:t>Makes things easy to find</a:t>
            </a:r>
          </a:p>
          <a:p>
            <a:r>
              <a:rPr lang="en-US" dirty="0"/>
              <a:t>Easy to detect when something is missing</a:t>
            </a:r>
          </a:p>
          <a:p>
            <a:r>
              <a:rPr lang="en-US" dirty="0"/>
              <a:t>Greatly improves productivity, quality, customer service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7" name="Group 6">
            <a:extLst>
              <a:ext uri="{FF2B5EF4-FFF2-40B4-BE49-F238E27FC236}">
                <a16:creationId xmlns:a16="http://schemas.microsoft.com/office/drawing/2014/main" id="{CBC0DE44-D0E6-060C-372B-A61BE0021B31}"/>
              </a:ext>
            </a:extLst>
          </p:cNvPr>
          <p:cNvGrpSpPr/>
          <p:nvPr/>
        </p:nvGrpSpPr>
        <p:grpSpPr>
          <a:xfrm>
            <a:off x="838200" y="297639"/>
            <a:ext cx="3310890" cy="307138"/>
            <a:chOff x="838200" y="297639"/>
            <a:chExt cx="3310890" cy="307138"/>
          </a:xfrm>
        </p:grpSpPr>
        <p:grpSp>
          <p:nvGrpSpPr>
            <p:cNvPr id="9" name="Group 8">
              <a:extLst>
                <a:ext uri="{FF2B5EF4-FFF2-40B4-BE49-F238E27FC236}">
                  <a16:creationId xmlns:a16="http://schemas.microsoft.com/office/drawing/2014/main" id="{2F827E81-0D34-5F97-DE15-28E6932CED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9F4FD-2B98-C133-91B9-62E50B70AA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3B6C485-2AD3-D8C4-4736-9F271EAA766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5D1E6171-15C9-BFBB-2AE8-95F6395B7DB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0" name="TextBox 9">
              <a:extLst>
                <a:ext uri="{FF2B5EF4-FFF2-40B4-BE49-F238E27FC236}">
                  <a16:creationId xmlns:a16="http://schemas.microsoft.com/office/drawing/2014/main" id="{FB63335C-4169-E3DF-DEEF-0E40C435462F}"/>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
        <p:nvSpPr>
          <p:cNvPr id="17" name="AutoShape 15">
            <a:extLst>
              <a:ext uri="{FF2B5EF4-FFF2-40B4-BE49-F238E27FC236}">
                <a16:creationId xmlns:a16="http://schemas.microsoft.com/office/drawing/2014/main" id="{DF88A6E4-D796-6795-5909-1FFE2C0AD391}"/>
              </a:ext>
            </a:extLst>
          </p:cNvPr>
          <p:cNvSpPr>
            <a:spLocks noChangeArrowheads="1"/>
          </p:cNvSpPr>
          <p:nvPr/>
        </p:nvSpPr>
        <p:spPr bwMode="auto">
          <a:xfrm>
            <a:off x="5766754" y="2880439"/>
            <a:ext cx="285750" cy="2493963"/>
          </a:xfrm>
          <a:prstGeom prst="rightArrow">
            <a:avLst>
              <a:gd name="adj1" fmla="val 67278"/>
              <a:gd name="adj2" fmla="val 72222"/>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endParaRPr lang="en-US" altLang="en-US">
              <a:solidFill>
                <a:schemeClr val="bg1"/>
              </a:solidFill>
            </a:endParaRPr>
          </a:p>
        </p:txBody>
      </p:sp>
      <p:pic>
        <p:nvPicPr>
          <p:cNvPr id="14" name="Picture 12" descr="Lib Bookcase">
            <a:extLst>
              <a:ext uri="{FF2B5EF4-FFF2-40B4-BE49-F238E27FC236}">
                <a16:creationId xmlns:a16="http://schemas.microsoft.com/office/drawing/2014/main" id="{770313B1-08D3-77C5-E594-1A20A229273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960120" y="2503448"/>
            <a:ext cx="4409281" cy="3306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9328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fontScale="90000"/>
          </a:bodyPr>
          <a:lstStyle/>
          <a:p>
            <a:r>
              <a:rPr lang="en-US" sz="4000" dirty="0">
                <a:latin typeface="Roboto Medium"/>
                <a:ea typeface="Roboto Medium"/>
                <a:cs typeface="Roboto Medium"/>
              </a:rPr>
              <a:t>Exercise: Determine Opportunities for Poka-Yoke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opportunities for Poka-Yoke in your organization.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chart on the following page as a guide to identify areas of opportunity to implement poka</a:t>
            </a:r>
            <a:r>
              <a:rPr lang="en-US"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t>
            </a: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yokes.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Return to the group and prioritize based on event charter and goals.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Review of listing</a:t>
            </a:r>
          </a:p>
        </p:txBody>
      </p:sp>
      <p:grpSp>
        <p:nvGrpSpPr>
          <p:cNvPr id="10" name="Group 9">
            <a:extLst>
              <a:ext uri="{FF2B5EF4-FFF2-40B4-BE49-F238E27FC236}">
                <a16:creationId xmlns:a16="http://schemas.microsoft.com/office/drawing/2014/main" id="{871F5945-BCEF-A41F-B5E0-8B06933CCF80}"/>
              </a:ext>
            </a:extLst>
          </p:cNvPr>
          <p:cNvGrpSpPr/>
          <p:nvPr/>
        </p:nvGrpSpPr>
        <p:grpSpPr>
          <a:xfrm>
            <a:off x="838200" y="297639"/>
            <a:ext cx="3310890" cy="307138"/>
            <a:chOff x="838200" y="297639"/>
            <a:chExt cx="3310890" cy="307138"/>
          </a:xfrm>
        </p:grpSpPr>
        <p:grpSp>
          <p:nvGrpSpPr>
            <p:cNvPr id="19" name="Group 18">
              <a:extLst>
                <a:ext uri="{FF2B5EF4-FFF2-40B4-BE49-F238E27FC236}">
                  <a16:creationId xmlns:a16="http://schemas.microsoft.com/office/drawing/2014/main" id="{79A658E7-5248-1C5F-D6CE-BAED88DD966D}"/>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61303A3B-DCDC-59C7-2E54-2086A86EE80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59941C0D-A452-3C98-841C-85C0FE2074D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5A352469-37C4-057A-2633-EF8B2B1D134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20" name="TextBox 19">
              <a:extLst>
                <a:ext uri="{FF2B5EF4-FFF2-40B4-BE49-F238E27FC236}">
                  <a16:creationId xmlns:a16="http://schemas.microsoft.com/office/drawing/2014/main" id="{90415805-92D3-99BA-9E22-C868464FF907}"/>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Tree>
    <p:extLst>
      <p:ext uri="{BB962C8B-B14F-4D97-AF65-F5344CB8AC3E}">
        <p14:creationId xmlns:p14="http://schemas.microsoft.com/office/powerpoint/2010/main" val="2588842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Exercise: Determine Opportunities for Poka-yoke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pSp>
        <p:nvGrpSpPr>
          <p:cNvPr id="3" name="Group 2">
            <a:extLst>
              <a:ext uri="{FF2B5EF4-FFF2-40B4-BE49-F238E27FC236}">
                <a16:creationId xmlns:a16="http://schemas.microsoft.com/office/drawing/2014/main" id="{B17CD40E-7FCC-5D88-5F4A-5999C831F4F0}"/>
              </a:ext>
            </a:extLst>
          </p:cNvPr>
          <p:cNvGrpSpPr/>
          <p:nvPr/>
        </p:nvGrpSpPr>
        <p:grpSpPr>
          <a:xfrm>
            <a:off x="838200" y="297639"/>
            <a:ext cx="3310890" cy="307138"/>
            <a:chOff x="838200" y="297639"/>
            <a:chExt cx="3310890" cy="307138"/>
          </a:xfrm>
        </p:grpSpPr>
        <p:grpSp>
          <p:nvGrpSpPr>
            <p:cNvPr id="12" name="Group 11">
              <a:extLst>
                <a:ext uri="{FF2B5EF4-FFF2-40B4-BE49-F238E27FC236}">
                  <a16:creationId xmlns:a16="http://schemas.microsoft.com/office/drawing/2014/main" id="{5C9DAAD5-DEAD-3913-33A2-D0B3CDC89C95}"/>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92646E5E-A4C7-6442-9753-1C9038035B8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27648C99-E4EB-2470-530B-C3E743CA0FB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CE4C2AAD-98EF-F2AA-A7C8-C579C767AE3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3" name="TextBox 12">
              <a:extLst>
                <a:ext uri="{FF2B5EF4-FFF2-40B4-BE49-F238E27FC236}">
                  <a16:creationId xmlns:a16="http://schemas.microsoft.com/office/drawing/2014/main" id="{2B374190-68FA-B4FD-AC16-681C6ED8AA56}"/>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graphicFrame>
        <p:nvGraphicFramePr>
          <p:cNvPr id="17" name="Group 30">
            <a:extLst>
              <a:ext uri="{FF2B5EF4-FFF2-40B4-BE49-F238E27FC236}">
                <a16:creationId xmlns:a16="http://schemas.microsoft.com/office/drawing/2014/main" id="{BD76EAB2-6428-EB85-3F8C-2EB310F474E2}"/>
              </a:ext>
            </a:extLst>
          </p:cNvPr>
          <p:cNvGraphicFramePr>
            <a:graphicFrameLocks noGrp="1"/>
          </p:cNvGraphicFramePr>
          <p:nvPr>
            <p:ph idx="1"/>
            <p:extLst>
              <p:ext uri="{D42A27DB-BD31-4B8C-83A1-F6EECF244321}">
                <p14:modId xmlns:p14="http://schemas.microsoft.com/office/powerpoint/2010/main" val="2437432209"/>
              </p:ext>
            </p:extLst>
          </p:nvPr>
        </p:nvGraphicFramePr>
        <p:xfrm>
          <a:off x="2013744" y="1998968"/>
          <a:ext cx="8164513" cy="4025900"/>
        </p:xfrm>
        <a:graphic>
          <a:graphicData uri="http://schemas.openxmlformats.org/drawingml/2006/table">
            <a:tbl>
              <a:tblPr/>
              <a:tblGrid>
                <a:gridCol w="2720975">
                  <a:extLst>
                    <a:ext uri="{9D8B030D-6E8A-4147-A177-3AD203B41FA5}">
                      <a16:colId xmlns:a16="http://schemas.microsoft.com/office/drawing/2014/main" val="20000"/>
                    </a:ext>
                  </a:extLst>
                </a:gridCol>
                <a:gridCol w="2722563">
                  <a:extLst>
                    <a:ext uri="{9D8B030D-6E8A-4147-A177-3AD203B41FA5}">
                      <a16:colId xmlns:a16="http://schemas.microsoft.com/office/drawing/2014/main" val="20001"/>
                    </a:ext>
                  </a:extLst>
                </a:gridCol>
                <a:gridCol w="2720975">
                  <a:extLst>
                    <a:ext uri="{9D8B030D-6E8A-4147-A177-3AD203B41FA5}">
                      <a16:colId xmlns:a16="http://schemas.microsoft.com/office/drawing/2014/main" val="20002"/>
                    </a:ext>
                  </a:extLst>
                </a:gridCol>
              </a:tblGrid>
              <a:tr h="1006475">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charset="0"/>
                        <a:buNone/>
                        <a:tabLst/>
                      </a:pPr>
                      <a:r>
                        <a:rPr kumimoji="0" lang="en-US" sz="1600" b="1" i="0" u="none" strike="noStrike" cap="none" normalizeH="0" baseline="0">
                          <a:ln>
                            <a:noFill/>
                          </a:ln>
                          <a:solidFill>
                            <a:schemeClr val="bg1"/>
                          </a:solidFill>
                          <a:effectLst/>
                          <a:latin typeface="Roboto" panose="02000000000000000000" pitchFamily="2" charset="0"/>
                          <a:ea typeface="Roboto" panose="02000000000000000000" pitchFamily="2" charset="0"/>
                        </a:rPr>
                        <a:t>Area/Department</a:t>
                      </a:r>
                    </a:p>
                  </a:txBody>
                  <a:tcPr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charset="0"/>
                        <a:buNone/>
                        <a:tabLst/>
                      </a:pPr>
                      <a:r>
                        <a:rPr kumimoji="0" lang="en-US" sz="1600" b="1" i="0" u="none" strike="noStrike" cap="none" normalizeH="0" baseline="0">
                          <a:ln>
                            <a:noFill/>
                          </a:ln>
                          <a:solidFill>
                            <a:schemeClr val="bg1"/>
                          </a:solidFill>
                          <a:effectLst/>
                          <a:latin typeface="Roboto" panose="02000000000000000000" pitchFamily="2" charset="0"/>
                          <a:ea typeface="Roboto" panose="02000000000000000000" pitchFamily="2" charset="0"/>
                        </a:rPr>
                        <a:t>Describe Defect</a:t>
                      </a:r>
                      <a:br>
                        <a:rPr kumimoji="0" lang="en-US" sz="1600" b="1" i="0" u="none" strike="noStrike" cap="none" normalizeH="0" baseline="0">
                          <a:ln>
                            <a:noFill/>
                          </a:ln>
                          <a:solidFill>
                            <a:schemeClr val="bg1"/>
                          </a:solidFill>
                          <a:effectLst/>
                          <a:latin typeface="Roboto" panose="02000000000000000000" pitchFamily="2" charset="0"/>
                          <a:ea typeface="Roboto" panose="02000000000000000000" pitchFamily="2" charset="0"/>
                        </a:rPr>
                      </a:br>
                      <a:r>
                        <a:rPr kumimoji="0" lang="en-US" sz="1600" b="1" i="0" u="none" strike="noStrike" cap="none" normalizeH="0" baseline="0">
                          <a:ln>
                            <a:noFill/>
                          </a:ln>
                          <a:solidFill>
                            <a:schemeClr val="bg1"/>
                          </a:solidFill>
                          <a:effectLst/>
                          <a:latin typeface="Roboto" panose="02000000000000000000" pitchFamily="2" charset="0"/>
                          <a:ea typeface="Roboto" panose="02000000000000000000" pitchFamily="2" charset="0"/>
                        </a:rPr>
                        <a:t>(Red Flag Conditions)</a:t>
                      </a:r>
                    </a:p>
                  </a:txBody>
                  <a:tcPr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tc>
                  <a:txBody>
                    <a:bodyPr/>
                    <a:lstStyle/>
                    <a:p>
                      <a:pPr marL="0" marR="0" lvl="0" indent="0" algn="ctr" defTabSz="914400" rtl="0" eaLnBrk="0" fontAlgn="base" latinLnBrk="0" hangingPunct="0">
                        <a:lnSpc>
                          <a:spcPct val="115000"/>
                        </a:lnSpc>
                        <a:spcBef>
                          <a:spcPct val="20000"/>
                        </a:spcBef>
                        <a:spcAft>
                          <a:spcPct val="20000"/>
                        </a:spcAft>
                        <a:buClr>
                          <a:srgbClr val="006699"/>
                        </a:buClr>
                        <a:buSzPct val="90000"/>
                        <a:buFont typeface="Wingdings" charset="0"/>
                        <a:buNone/>
                        <a:tabLst/>
                      </a:pPr>
                      <a:r>
                        <a:rPr kumimoji="0" lang="en-US" sz="1600" b="1" i="0" u="none" strike="noStrike" cap="none" normalizeH="0" baseline="0">
                          <a:ln>
                            <a:noFill/>
                          </a:ln>
                          <a:solidFill>
                            <a:schemeClr val="bg1"/>
                          </a:solidFill>
                          <a:effectLst/>
                          <a:latin typeface="Roboto" panose="02000000000000000000" pitchFamily="2" charset="0"/>
                          <a:ea typeface="Roboto" panose="02000000000000000000" pitchFamily="2" charset="0"/>
                        </a:rPr>
                        <a:t>Recommend Poka-yoke Solution</a:t>
                      </a:r>
                    </a:p>
                  </a:txBody>
                  <a:tcPr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1"/>
                    </a:solidFill>
                  </a:tcPr>
                </a:tc>
                <a:extLst>
                  <a:ext uri="{0D108BD9-81ED-4DB2-BD59-A6C34878D82A}">
                    <a16:rowId xmlns:a16="http://schemas.microsoft.com/office/drawing/2014/main" val="10000"/>
                  </a:ext>
                </a:extLst>
              </a:tr>
              <a:tr h="100647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Finance</a:t>
                      </a:r>
                    </a:p>
                  </a:txBody>
                  <a:tcPr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Overpaying invoices due to keypunch errors on invoices </a:t>
                      </a:r>
                    </a:p>
                  </a:txBody>
                  <a:tcPr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Batch Control Totals</a:t>
                      </a:r>
                    </a:p>
                  </a:txBody>
                  <a:tcPr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00647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006475">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anchor="ctr" anchorCtr="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anchor="ctr" anchorCtr="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charset="0"/>
                        <a:buNone/>
                        <a:tabLst/>
                      </a:pPr>
                      <a:endPar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anchor="ctr" anchorCtr="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02015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Review Exercise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600" dirty="0"/>
              <a:t>2 Minute Review</a:t>
            </a:r>
          </a:p>
          <a:p>
            <a:pPr lvl="1"/>
            <a:r>
              <a:rPr lang="en-US" sz="3200" dirty="0"/>
              <a:t>In pairs, or in small groups, spend 5 minutes discussing key learnings and take-aways from this Poka-yoke Event thus far</a:t>
            </a:r>
          </a:p>
          <a:p>
            <a:pPr lvl="1"/>
            <a:r>
              <a:rPr lang="en-US" sz="3200" dirty="0"/>
              <a:t>One person from each group will share one learning that was discussed with the rest of the class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grpSp>
        <p:nvGrpSpPr>
          <p:cNvPr id="11" name="Group 10">
            <a:extLst>
              <a:ext uri="{FF2B5EF4-FFF2-40B4-BE49-F238E27FC236}">
                <a16:creationId xmlns:a16="http://schemas.microsoft.com/office/drawing/2014/main" id="{2AF5B0C8-B3F1-80B5-17CD-6AE217CA3879}"/>
              </a:ext>
            </a:extLst>
          </p:cNvPr>
          <p:cNvGrpSpPr/>
          <p:nvPr/>
        </p:nvGrpSpPr>
        <p:grpSpPr>
          <a:xfrm>
            <a:off x="838200" y="297639"/>
            <a:ext cx="3310890" cy="307138"/>
            <a:chOff x="838200" y="297639"/>
            <a:chExt cx="3310890" cy="307138"/>
          </a:xfrm>
        </p:grpSpPr>
        <p:grpSp>
          <p:nvGrpSpPr>
            <p:cNvPr id="12" name="Group 11">
              <a:extLst>
                <a:ext uri="{FF2B5EF4-FFF2-40B4-BE49-F238E27FC236}">
                  <a16:creationId xmlns:a16="http://schemas.microsoft.com/office/drawing/2014/main" id="{B09C654A-FAB3-79B3-ADA0-03FEAA5B2D80}"/>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91BC1AB0-E9E6-6850-A2BB-4C1E1B58313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1A0B6771-3CC5-2F83-2235-4D34702F1A2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979357B-A0C3-4A8F-18A9-914A3339CDF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3" name="TextBox 12">
              <a:extLst>
                <a:ext uri="{FF2B5EF4-FFF2-40B4-BE49-F238E27FC236}">
                  <a16:creationId xmlns:a16="http://schemas.microsoft.com/office/drawing/2014/main" id="{BCCBB8D9-3B24-DD44-D93C-956822655688}"/>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Tree>
    <p:extLst>
      <p:ext uri="{BB962C8B-B14F-4D97-AF65-F5344CB8AC3E}">
        <p14:creationId xmlns:p14="http://schemas.microsoft.com/office/powerpoint/2010/main" val="2034164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600" dirty="0"/>
              <a:t>Build quality into the process</a:t>
            </a:r>
          </a:p>
          <a:p>
            <a:r>
              <a:rPr lang="en-US" sz="3600" dirty="0"/>
              <a:t>All processes can become error free</a:t>
            </a:r>
          </a:p>
          <a:p>
            <a:r>
              <a:rPr lang="en-US" sz="3600" dirty="0"/>
              <a:t>Seek out the root cause</a:t>
            </a:r>
          </a:p>
          <a:p>
            <a:r>
              <a:rPr lang="en-US" sz="3600" dirty="0"/>
              <a:t>Look for Red Flag Conditions</a:t>
            </a:r>
          </a:p>
          <a:p>
            <a:r>
              <a:rPr lang="en-US" sz="3600" dirty="0"/>
              <a:t>Poka-yoke is a change in attitude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11" name="Group 10">
            <a:extLst>
              <a:ext uri="{FF2B5EF4-FFF2-40B4-BE49-F238E27FC236}">
                <a16:creationId xmlns:a16="http://schemas.microsoft.com/office/drawing/2014/main" id="{2AF5B0C8-B3F1-80B5-17CD-6AE217CA3879}"/>
              </a:ext>
            </a:extLst>
          </p:cNvPr>
          <p:cNvGrpSpPr/>
          <p:nvPr/>
        </p:nvGrpSpPr>
        <p:grpSpPr>
          <a:xfrm>
            <a:off x="838200" y="297639"/>
            <a:ext cx="3310890" cy="307138"/>
            <a:chOff x="838200" y="297639"/>
            <a:chExt cx="3310890" cy="307138"/>
          </a:xfrm>
        </p:grpSpPr>
        <p:grpSp>
          <p:nvGrpSpPr>
            <p:cNvPr id="12" name="Group 11">
              <a:extLst>
                <a:ext uri="{FF2B5EF4-FFF2-40B4-BE49-F238E27FC236}">
                  <a16:creationId xmlns:a16="http://schemas.microsoft.com/office/drawing/2014/main" id="{B09C654A-FAB3-79B3-ADA0-03FEAA5B2D80}"/>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91BC1AB0-E9E6-6850-A2BB-4C1E1B58313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1A0B6771-3CC5-2F83-2235-4D34702F1A2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979357B-A0C3-4A8F-18A9-914A3339CDF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sp>
          <p:nvSpPr>
            <p:cNvPr id="13" name="TextBox 12">
              <a:extLst>
                <a:ext uri="{FF2B5EF4-FFF2-40B4-BE49-F238E27FC236}">
                  <a16:creationId xmlns:a16="http://schemas.microsoft.com/office/drawing/2014/main" id="{BCCBB8D9-3B24-DD44-D93C-956822655688}"/>
                </a:ext>
              </a:extLst>
            </p:cNvPr>
            <p:cNvSpPr txBox="1"/>
            <p:nvPr/>
          </p:nvSpPr>
          <p:spPr>
            <a:xfrm>
              <a:off x="1908497" y="313415"/>
              <a:ext cx="22405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Poka-Yoke Examples</a:t>
              </a:r>
            </a:p>
          </p:txBody>
        </p:sp>
      </p:grpSp>
    </p:spTree>
    <p:extLst>
      <p:ext uri="{BB962C8B-B14F-4D97-AF65-F5344CB8AC3E}">
        <p14:creationId xmlns:p14="http://schemas.microsoft.com/office/powerpoint/2010/main" val="411321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39</a:t>
            </a:fld>
            <a:endParaRPr lang="en-US" dirty="0"/>
          </a:p>
        </p:txBody>
      </p:sp>
    </p:spTree>
    <p:extLst>
      <p:ext uri="{BB962C8B-B14F-4D97-AF65-F5344CB8AC3E}">
        <p14:creationId xmlns:p14="http://schemas.microsoft.com/office/powerpoint/2010/main" val="3535763947"/>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14073</TotalTime>
  <Words>3332</Words>
  <Application>Microsoft Office PowerPoint</Application>
  <PresentationFormat>Widescreen</PresentationFormat>
  <Paragraphs>511</Paragraphs>
  <Slides>39</Slides>
  <Notes>39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7" baseType="lpstr">
      <vt:lpstr>Arial</vt:lpstr>
      <vt:lpstr>Calibri</vt:lpstr>
      <vt:lpstr>Roboto</vt:lpstr>
      <vt:lpstr>Roboto Medium</vt:lpstr>
      <vt:lpstr>Wingdings</vt:lpstr>
      <vt:lpstr>Wingdings 2</vt:lpstr>
      <vt:lpstr>Office Theme</vt:lpstr>
      <vt:lpstr>Photo Editor Photo</vt:lpstr>
      <vt:lpstr>PowerPoint Presentation</vt:lpstr>
      <vt:lpstr>PowerPoint Presentation</vt:lpstr>
      <vt:lpstr>PowerPoint Presentation</vt:lpstr>
      <vt:lpstr>Ground Rules for Event</vt:lpstr>
      <vt:lpstr>Goal of Poka-Yoke Module</vt:lpstr>
      <vt:lpstr>Introduction to Poka-Yoke</vt:lpstr>
      <vt:lpstr>How did we get here?</vt:lpstr>
      <vt:lpstr>Poka-Yoke: Error-Proofing</vt:lpstr>
      <vt:lpstr>Poka-Yoke Philosophy</vt:lpstr>
      <vt:lpstr>The Five Elements of a Process</vt:lpstr>
      <vt:lpstr>Why is Poka-Yoke an important concept?</vt:lpstr>
      <vt:lpstr>Exercise: Poka-Yoke Charter Review</vt:lpstr>
      <vt:lpstr>Discussion</vt:lpstr>
      <vt:lpstr>What causes defects?</vt:lpstr>
      <vt:lpstr>Error-Proofing</vt:lpstr>
      <vt:lpstr>Discussion</vt:lpstr>
      <vt:lpstr>The 7 Steps of Poka-Yoke</vt:lpstr>
      <vt:lpstr>7 Steps of Poka-Yoke</vt:lpstr>
      <vt:lpstr>Red Flag Conditions are conditions which normally provoke errors</vt:lpstr>
      <vt:lpstr>Red Flag Conditions (continued)</vt:lpstr>
      <vt:lpstr>Errors may either be prevented or detected</vt:lpstr>
      <vt:lpstr>Control (Shutdown) Prevention and Detection Examples</vt:lpstr>
      <vt:lpstr>Warning Prevention and Detection Examples</vt:lpstr>
      <vt:lpstr>Error-Proofing Summary</vt:lpstr>
      <vt:lpstr>Poka-Yoke Examples</vt:lpstr>
      <vt:lpstr>Types of Poka-yoke Devices for the Office</vt:lpstr>
      <vt:lpstr>Types of Poka-yoke Devices for the Office</vt:lpstr>
      <vt:lpstr>Types of Poka-yoke Devices for the Office</vt:lpstr>
      <vt:lpstr>Types of Poka-yoke Devices for the Office</vt:lpstr>
      <vt:lpstr>Types of Poka-yoke Devices for the Office</vt:lpstr>
      <vt:lpstr>Types of Poka-yoke Devices for the Office</vt:lpstr>
      <vt:lpstr>Types of Poka-yoke Devices for the Office</vt:lpstr>
      <vt:lpstr>Types of Poka-yoke Devices for the Office</vt:lpstr>
      <vt:lpstr>Types of Poka-yoke Devices for the Office</vt:lpstr>
      <vt:lpstr>Exercise: Determine Opportunities for Poka-Yoke</vt:lpstr>
      <vt:lpstr>Exercise: Determine Opportunities for Poka-yoke</vt:lpstr>
      <vt:lpstr>Review Exercise</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398</cp:revision>
  <dcterms:created xsi:type="dcterms:W3CDTF">2023-02-08T22:10:20Z</dcterms:created>
  <dcterms:modified xsi:type="dcterms:W3CDTF">2023-09-29T20:52:38Z</dcterms:modified>
</cp:coreProperties>
</file>