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0"/>
  </p:notesMasterIdLst>
  <p:sldIdLst>
    <p:sldId id="258" r:id="rId2"/>
    <p:sldId id="326" r:id="rId3"/>
    <p:sldId id="327" r:id="rId4"/>
    <p:sldId id="328" r:id="rId5"/>
    <p:sldId id="329" r:id="rId6"/>
    <p:sldId id="331" r:id="rId7"/>
    <p:sldId id="332" r:id="rId8"/>
    <p:sldId id="333" r:id="rId9"/>
    <p:sldId id="335" r:id="rId10"/>
    <p:sldId id="336" r:id="rId11"/>
    <p:sldId id="337" r:id="rId12"/>
    <p:sldId id="338" r:id="rId13"/>
    <p:sldId id="460" r:id="rId14"/>
    <p:sldId id="461" r:id="rId15"/>
    <p:sldId id="462" r:id="rId16"/>
    <p:sldId id="463" r:id="rId17"/>
    <p:sldId id="464" r:id="rId18"/>
    <p:sldId id="46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2222"/>
    <a:srgbClr val="FFB627"/>
    <a:srgbClr val="177E89"/>
    <a:srgbClr val="8EDCE6"/>
    <a:srgbClr val="F1BF98"/>
    <a:srgbClr val="2EC4B6"/>
    <a:srgbClr val="BDDBD0"/>
    <a:srgbClr val="2D7DD2"/>
    <a:srgbClr val="62929E"/>
    <a:srgbClr val="B3DE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14" autoAdjust="0"/>
    <p:restoredTop sz="81849" autoAdjust="0"/>
  </p:normalViewPr>
  <p:slideViewPr>
    <p:cSldViewPr snapToGrid="0">
      <p:cViewPr varScale="1">
        <p:scale>
          <a:sx n="90" d="100"/>
          <a:sy n="90" d="100"/>
        </p:scale>
        <p:origin x="1500" y="96"/>
      </p:cViewPr>
      <p:guideLst/>
    </p:cSldViewPr>
  </p:slideViewPr>
  <p:notesTextViewPr>
    <p:cViewPr>
      <p:scale>
        <a:sx n="3" d="2"/>
        <a:sy n="3" d="2"/>
      </p:scale>
      <p:origin x="0" y="0"/>
    </p:cViewPr>
  </p:notesTextViewPr>
  <p:sorterViewPr>
    <p:cViewPr varScale="1">
      <p:scale>
        <a:sx n="100" d="100"/>
        <a:sy n="100" d="100"/>
      </p:scale>
      <p:origin x="0" y="-1252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9/25/2023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Times New Roman" panose="02020603050405020304" pitchFamily="18" charset="0"/>
              </a:rPr>
              <a:t>DO: Read through important points on the slide and identify the basic components of VSM. </a:t>
            </a:r>
          </a:p>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It is important to note that our event this week will not yield any realized improvements or results. This tool simply gives the picture of what the improved process could be if the business completes the identified actions and kaizen to get there.</a:t>
            </a:r>
            <a:r>
              <a:rPr lang="ja-JP" altLang="en-US" dirty="0">
                <a:latin typeface="Arial" panose="020B0604020202020204" pitchFamily="34" charset="0"/>
              </a:rPr>
              <a:t>”</a:t>
            </a:r>
            <a:r>
              <a:rPr lang="en-US" altLang="ja-JP" dirty="0">
                <a:latin typeface="Times New Roman" panose="02020603050405020304" pitchFamily="18" charset="0"/>
              </a:rPr>
              <a:t> </a:t>
            </a:r>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a:t>
            </a:fld>
            <a:endParaRPr lang="en-US"/>
          </a:p>
        </p:txBody>
      </p:sp>
    </p:spTree>
    <p:extLst>
      <p:ext uri="{BB962C8B-B14F-4D97-AF65-F5344CB8AC3E}">
        <p14:creationId xmlns:p14="http://schemas.microsoft.com/office/powerpoint/2010/main" val="27385865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With discreet information flow, we still add to, subtract from, interpret and reformat information, but we create information along the way as well.</a:t>
            </a:r>
            <a:r>
              <a:rPr lang="ja-JP" altLang="en-US" dirty="0">
                <a:latin typeface="Arial" panose="020B0604020202020204" pitchFamily="34" charset="0"/>
              </a:rPr>
              <a:t>”</a:t>
            </a:r>
            <a:r>
              <a:rPr lang="en-US" altLang="ja-JP" dirty="0">
                <a:latin typeface="Times New Roman" panose="02020603050405020304" pitchFamily="18" charset="0"/>
              </a:rPr>
              <a:t> </a:t>
            </a:r>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a:t>
            </a:fld>
            <a:endParaRPr lang="en-US"/>
          </a:p>
        </p:txBody>
      </p:sp>
    </p:spTree>
    <p:extLst>
      <p:ext uri="{BB962C8B-B14F-4D97-AF65-F5344CB8AC3E}">
        <p14:creationId xmlns:p14="http://schemas.microsoft.com/office/powerpoint/2010/main" val="28114135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A Value Stream Map is the </a:t>
            </a:r>
            <a:r>
              <a:rPr lang="ja-JP" altLang="en-US" dirty="0">
                <a:latin typeface="Arial" panose="020B0604020202020204" pitchFamily="34" charset="0"/>
              </a:rPr>
              <a:t>“</a:t>
            </a:r>
            <a:r>
              <a:rPr lang="en-US" altLang="ja-JP" dirty="0">
                <a:latin typeface="Times New Roman" panose="02020603050405020304" pitchFamily="18" charset="0"/>
              </a:rPr>
              <a:t>30,000-foot</a:t>
            </a:r>
            <a:r>
              <a:rPr lang="ja-JP" altLang="en-US" dirty="0">
                <a:latin typeface="Arial" panose="020B0604020202020204" pitchFamily="34" charset="0"/>
              </a:rPr>
              <a:t>”</a:t>
            </a:r>
            <a:r>
              <a:rPr lang="en-US" altLang="ja-JP" dirty="0">
                <a:latin typeface="Times New Roman" panose="02020603050405020304" pitchFamily="18" charset="0"/>
              </a:rPr>
              <a:t> view of the process. A Process Map is a tool that would take just one process box from a Value Stream Map, and explode that process into it</a:t>
            </a:r>
            <a:r>
              <a:rPr lang="ja-JP" altLang="en-US" dirty="0">
                <a:latin typeface="Arial" panose="020B0604020202020204" pitchFamily="34" charset="0"/>
              </a:rPr>
              <a:t>’</a:t>
            </a:r>
            <a:r>
              <a:rPr lang="en-US" altLang="ja-JP" dirty="0">
                <a:latin typeface="Times New Roman" panose="02020603050405020304" pitchFamily="18" charset="0"/>
              </a:rPr>
              <a:t>s detailed steps.</a:t>
            </a:r>
            <a:r>
              <a:rPr lang="ja-JP" altLang="en-US" dirty="0">
                <a:latin typeface="Arial" panose="020B0604020202020204" pitchFamily="34" charset="0"/>
              </a:rPr>
              <a:t>”</a:t>
            </a:r>
            <a:r>
              <a:rPr lang="en-US" altLang="ja-JP" dirty="0">
                <a:latin typeface="Times New Roman" panose="02020603050405020304" pitchFamily="18" charset="0"/>
              </a:rPr>
              <a:t> </a:t>
            </a:r>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a:t>
            </a:fld>
            <a:endParaRPr lang="en-US"/>
          </a:p>
        </p:txBody>
      </p:sp>
    </p:spTree>
    <p:extLst>
      <p:ext uri="{BB962C8B-B14F-4D97-AF65-F5344CB8AC3E}">
        <p14:creationId xmlns:p14="http://schemas.microsoft.com/office/powerpoint/2010/main" val="16384446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So why are we here? What do we want to accomplish?</a:t>
            </a:r>
            <a:r>
              <a:rPr lang="ja-JP" altLang="en-US" dirty="0">
                <a:latin typeface="Arial" panose="020B0604020202020204" pitchFamily="34" charset="0"/>
              </a:rPr>
              <a:t>”</a:t>
            </a:r>
            <a:endParaRPr lang="en-US" altLang="ja-JP" dirty="0">
              <a:latin typeface="Times New Roman" panose="02020603050405020304" pitchFamily="18" charset="0"/>
            </a:endParaRPr>
          </a:p>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If I am going to improve the </a:t>
            </a:r>
            <a:r>
              <a:rPr lang="ja-JP" altLang="en-US" dirty="0">
                <a:latin typeface="Arial" panose="020B0604020202020204" pitchFamily="34" charset="0"/>
              </a:rPr>
              <a:t>“</a:t>
            </a:r>
            <a:r>
              <a:rPr lang="en-US" altLang="ja-JP" dirty="0">
                <a:latin typeface="Times New Roman" panose="02020603050405020304" pitchFamily="18" charset="0"/>
              </a:rPr>
              <a:t>&lt;fill in with your event&gt; Process, what do I do first? VSM gives you the focus.</a:t>
            </a:r>
            <a:r>
              <a:rPr lang="ja-JP" altLang="en-US" dirty="0">
                <a:latin typeface="Arial" panose="020B0604020202020204" pitchFamily="34" charset="0"/>
              </a:rPr>
              <a:t>”</a:t>
            </a:r>
            <a:endParaRPr lang="en-US" altLang="ja-JP" dirty="0">
              <a:latin typeface="Times New Roman" panose="02020603050405020304" pitchFamily="18" charset="0"/>
            </a:endParaRPr>
          </a:p>
          <a:p>
            <a:r>
              <a:rPr lang="en-US" altLang="en-US" b="0" dirty="0">
                <a:latin typeface="Times New Roman" panose="02020603050405020304" pitchFamily="18" charset="0"/>
              </a:rPr>
              <a:t>DO:</a:t>
            </a:r>
            <a:r>
              <a:rPr lang="en-US" altLang="en-US" dirty="0">
                <a:latin typeface="Times New Roman" panose="02020603050405020304" pitchFamily="18" charset="0"/>
              </a:rPr>
              <a:t> Cover points on the slide.</a:t>
            </a:r>
          </a:p>
        </p:txBody>
      </p:sp>
      <p:sp>
        <p:nvSpPr>
          <p:cNvPr id="4" name="Slide Number Placeholder 3"/>
          <p:cNvSpPr>
            <a:spLocks noGrp="1"/>
          </p:cNvSpPr>
          <p:nvPr>
            <p:ph type="sldNum" sz="quarter" idx="5"/>
          </p:nvPr>
        </p:nvSpPr>
        <p:spPr/>
        <p:txBody>
          <a:bodyPr/>
          <a:lstStyle/>
          <a:p>
            <a:fld id="{AECD8548-F1A2-4EDF-A416-5F2BB6B8F64C}" type="slidenum">
              <a:rPr lang="en-US" smtClean="0"/>
              <a:t>7</a:t>
            </a:fld>
            <a:endParaRPr lang="en-US"/>
          </a:p>
        </p:txBody>
      </p:sp>
    </p:spTree>
    <p:extLst>
      <p:ext uri="{BB962C8B-B14F-4D97-AF65-F5344CB8AC3E}">
        <p14:creationId xmlns:p14="http://schemas.microsoft.com/office/powerpoint/2010/main" val="31879126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It is critical to understand that Value Stream Mapping is a tool that is used to execute our Key Business Imperatives for Business Strategy. VSM helps identify the waste so that improvements can be made to eliminate the waste.</a:t>
            </a:r>
            <a:r>
              <a:rPr lang="ja-JP" altLang="en-US" dirty="0">
                <a:latin typeface="Arial" panose="020B0604020202020204" pitchFamily="34" charset="0"/>
              </a:rPr>
              <a:t>”</a:t>
            </a:r>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a:t>
            </a:fld>
            <a:endParaRPr lang="en-US"/>
          </a:p>
        </p:txBody>
      </p:sp>
    </p:spTree>
    <p:extLst>
      <p:ext uri="{BB962C8B-B14F-4D97-AF65-F5344CB8AC3E}">
        <p14:creationId xmlns:p14="http://schemas.microsoft.com/office/powerpoint/2010/main" val="34842862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0" dirty="0">
                <a:latin typeface="Times New Roman" panose="02020603050405020304" pitchFamily="18" charset="0"/>
              </a:rPr>
              <a:t>DO:</a:t>
            </a:r>
            <a:r>
              <a:rPr lang="en-US" altLang="en-US" dirty="0">
                <a:latin typeface="Times New Roman" panose="02020603050405020304" pitchFamily="18" charset="0"/>
              </a:rPr>
              <a:t> Review the VSM Roadmap. Cover what has taken place already, where we are in the process, and where we will go from here. </a:t>
            </a:r>
          </a:p>
          <a:p>
            <a:r>
              <a:rPr lang="en-US" altLang="en-US" b="0" dirty="0">
                <a:latin typeface="Times New Roman" panose="02020603050405020304" pitchFamily="18" charset="0"/>
              </a:rPr>
              <a:t>DO:</a:t>
            </a:r>
            <a:r>
              <a:rPr lang="en-US" altLang="en-US" dirty="0">
                <a:latin typeface="Times New Roman" panose="02020603050405020304" pitchFamily="18" charset="0"/>
              </a:rPr>
              <a:t> Stress that this is an iterative process. VSM is typically a 6 month cycle… then when your future state becomes your new current state, you begin again. </a:t>
            </a:r>
          </a:p>
          <a:p>
            <a:r>
              <a:rPr lang="en-US" altLang="en-US" b="0" dirty="0">
                <a:latin typeface="Times New Roman" panose="02020603050405020304" pitchFamily="18" charset="0"/>
              </a:rPr>
              <a:t>DO:</a:t>
            </a:r>
            <a:r>
              <a:rPr lang="en-US" altLang="en-US" dirty="0">
                <a:latin typeface="Times New Roman" panose="02020603050405020304" pitchFamily="18" charset="0"/>
              </a:rPr>
              <a:t> Stress that each of these process steps are not equal in length. They are separate, necessary steps. Step 4 is a 6 month cycle that is filled with kaizen events and other improvement activities that target achieving the future state. </a:t>
            </a:r>
          </a:p>
          <a:p>
            <a:r>
              <a:rPr lang="en-US" altLang="en-US" b="0" dirty="0">
                <a:latin typeface="Times New Roman" panose="02020603050405020304" pitchFamily="18" charset="0"/>
              </a:rPr>
              <a:t>SAY:</a:t>
            </a:r>
            <a:r>
              <a:rPr lang="en-US" altLang="en-US" dirty="0">
                <a:latin typeface="Times New Roman" panose="02020603050405020304" pitchFamily="18" charset="0"/>
              </a:rPr>
              <a:t> The personnel in Step 2 in most cases will be different or </a:t>
            </a:r>
            <a:r>
              <a:rPr lang="ja-JP" altLang="en-US" dirty="0">
                <a:latin typeface="Arial" panose="020B0604020202020204" pitchFamily="34" charset="0"/>
              </a:rPr>
              <a:t>“</a:t>
            </a:r>
            <a:r>
              <a:rPr lang="en-US" altLang="ja-JP" dirty="0">
                <a:latin typeface="Times New Roman" panose="02020603050405020304" pitchFamily="18" charset="0"/>
              </a:rPr>
              <a:t>in addition</a:t>
            </a:r>
            <a:r>
              <a:rPr lang="ja-JP" altLang="en-US" dirty="0">
                <a:latin typeface="Arial" panose="020B0604020202020204" pitchFamily="34" charset="0"/>
              </a:rPr>
              <a:t>”</a:t>
            </a:r>
            <a:r>
              <a:rPr lang="en-US" altLang="ja-JP" dirty="0">
                <a:latin typeface="Times New Roman" panose="02020603050405020304" pitchFamily="18" charset="0"/>
              </a:rPr>
              <a:t> to those in Step 1, this is why the Intro to Lean will be conducted at both steps. </a:t>
            </a:r>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a:t>
            </a:fld>
            <a:endParaRPr lang="en-US"/>
          </a:p>
        </p:txBody>
      </p:sp>
    </p:spTree>
    <p:extLst>
      <p:ext uri="{BB962C8B-B14F-4D97-AF65-F5344CB8AC3E}">
        <p14:creationId xmlns:p14="http://schemas.microsoft.com/office/powerpoint/2010/main" val="6136899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This week we are at Process Step 3. The steps to conducting a VSM Event are:</a:t>
            </a:r>
          </a:p>
          <a:p>
            <a:r>
              <a:rPr lang="en-US" altLang="en-US" dirty="0">
                <a:latin typeface="Times New Roman" panose="02020603050405020304" pitchFamily="18" charset="0"/>
              </a:rPr>
              <a:t>1 – Select Product or Service Family (this has been done)</a:t>
            </a:r>
          </a:p>
          <a:p>
            <a:r>
              <a:rPr lang="en-US" altLang="en-US" dirty="0">
                <a:latin typeface="Times New Roman" panose="02020603050405020304" pitchFamily="18" charset="0"/>
              </a:rPr>
              <a:t>2 – Create the Current State Map – again, the snapshot of the process today</a:t>
            </a:r>
          </a:p>
          <a:p>
            <a:r>
              <a:rPr lang="en-US" altLang="en-US" dirty="0">
                <a:latin typeface="Times New Roman" panose="02020603050405020304" pitchFamily="18" charset="0"/>
              </a:rPr>
              <a:t>3 – Interrogate the Current State – here we will analyze the Current State for improvement opportunities</a:t>
            </a:r>
          </a:p>
          <a:p>
            <a:r>
              <a:rPr lang="en-US" altLang="en-US" dirty="0">
                <a:latin typeface="Times New Roman" panose="02020603050405020304" pitchFamily="18" charset="0"/>
              </a:rPr>
              <a:t>4 – Create Future State Map – based on the improvements we want to make – what will the future process look like</a:t>
            </a:r>
          </a:p>
          <a:p>
            <a:r>
              <a:rPr lang="en-US" altLang="en-US" dirty="0">
                <a:latin typeface="Times New Roman" panose="02020603050405020304" pitchFamily="18" charset="0"/>
              </a:rPr>
              <a:t>5 – Develop the Value Stream Plan – here is where we detail what specific objectives need to be accomplished in order for the Future State to be achieved. </a:t>
            </a:r>
          </a:p>
          <a:p>
            <a:r>
              <a:rPr lang="en-US" altLang="en-US" dirty="0">
                <a:latin typeface="Times New Roman" panose="02020603050405020304" pitchFamily="18" charset="0"/>
              </a:rPr>
              <a:t>Realize that when we are complete this week</a:t>
            </a:r>
            <a:r>
              <a:rPr lang="ja-JP" altLang="en-US" dirty="0">
                <a:latin typeface="Arial" panose="020B0604020202020204" pitchFamily="34" charset="0"/>
              </a:rPr>
              <a:t>’</a:t>
            </a:r>
            <a:r>
              <a:rPr lang="en-US" altLang="ja-JP" dirty="0">
                <a:latin typeface="Times New Roman" panose="02020603050405020304" pitchFamily="18" charset="0"/>
              </a:rPr>
              <a:t>s event – no improvements will actually be made… it is not until the action plan gets implemented that we will see results. </a:t>
            </a:r>
            <a:r>
              <a:rPr lang="ja-JP" altLang="en-US" dirty="0">
                <a:latin typeface="Arial" panose="020B0604020202020204" pitchFamily="34" charset="0"/>
              </a:rPr>
              <a:t>“</a:t>
            </a:r>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a:t>
            </a:fld>
            <a:endParaRPr lang="en-US"/>
          </a:p>
        </p:txBody>
      </p:sp>
    </p:spTree>
    <p:extLst>
      <p:ext uri="{BB962C8B-B14F-4D97-AF65-F5344CB8AC3E}">
        <p14:creationId xmlns:p14="http://schemas.microsoft.com/office/powerpoint/2010/main" val="1868383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This is the typical 5 day agenda for what we will accomplish this week.</a:t>
            </a:r>
            <a:r>
              <a:rPr lang="ja-JP" altLang="en-US" dirty="0">
                <a:latin typeface="Arial" panose="020B0604020202020204" pitchFamily="34" charset="0"/>
              </a:rPr>
              <a:t>”</a:t>
            </a:r>
            <a:r>
              <a:rPr lang="en-US" altLang="ja-JP" dirty="0">
                <a:latin typeface="Times New Roman" panose="02020603050405020304" pitchFamily="18" charset="0"/>
              </a:rPr>
              <a:t> </a:t>
            </a:r>
          </a:p>
          <a:p>
            <a:r>
              <a:rPr lang="en-US" altLang="en-US" b="0" dirty="0">
                <a:latin typeface="Times New Roman" panose="02020603050405020304" pitchFamily="18" charset="0"/>
              </a:rPr>
              <a:t>NOTE:</a:t>
            </a:r>
            <a:r>
              <a:rPr lang="en-US" altLang="en-US" dirty="0">
                <a:latin typeface="Times New Roman" panose="02020603050405020304" pitchFamily="18" charset="0"/>
              </a:rPr>
              <a:t> Deliverable dates can be adjusted as needed depending on the event.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11</a:t>
            </a:fld>
            <a:endParaRPr lang="en-US"/>
          </a:p>
        </p:txBody>
      </p:sp>
    </p:spTree>
    <p:extLst>
      <p:ext uri="{BB962C8B-B14F-4D97-AF65-F5344CB8AC3E}">
        <p14:creationId xmlns:p14="http://schemas.microsoft.com/office/powerpoint/2010/main" val="10012146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pPr>
            <a:r>
              <a:rPr lang="en-US" altLang="en-US" b="0" dirty="0">
                <a:latin typeface="Times New Roman" panose="02020603050405020304" pitchFamily="18" charset="0"/>
              </a:rPr>
              <a:t>DO</a:t>
            </a:r>
            <a:r>
              <a:rPr lang="en-US" altLang="en-US" dirty="0">
                <a:latin typeface="Times New Roman" panose="02020603050405020304" pitchFamily="18" charset="0"/>
              </a:rPr>
              <a:t>: Review the fields of the Value Stream Plan.</a:t>
            </a:r>
          </a:p>
          <a:p>
            <a:pPr>
              <a:lnSpc>
                <a:spcPct val="80000"/>
              </a:lnSpc>
            </a:pPr>
            <a:r>
              <a:rPr lang="en-US" altLang="en-US" sz="1200" dirty="0">
                <a:latin typeface="Times New Roman" panose="02020603050405020304" pitchFamily="18" charset="0"/>
              </a:rPr>
              <a:t>Document Product Family and Value Stream – this clearly identifies which products are included in the VS Plan and specifies the scope.</a:t>
            </a:r>
          </a:p>
          <a:p>
            <a:pPr>
              <a:lnSpc>
                <a:spcPct val="80000"/>
              </a:lnSpc>
            </a:pPr>
            <a:r>
              <a:rPr lang="en-US" altLang="en-US" sz="1200" dirty="0">
                <a:latin typeface="Times New Roman" panose="02020603050405020304" pitchFamily="18" charset="0"/>
              </a:rPr>
              <a:t>Dates: Identify the date the plan was established and the date the improvement efforts will kick off.</a:t>
            </a:r>
          </a:p>
          <a:p>
            <a:pPr>
              <a:lnSpc>
                <a:spcPct val="80000"/>
              </a:lnSpc>
            </a:pPr>
            <a:r>
              <a:rPr lang="en-US" altLang="en-US" sz="1200" dirty="0">
                <a:latin typeface="Times New Roman" panose="02020603050405020304" pitchFamily="18" charset="0"/>
              </a:rPr>
              <a:t>Business Objective: Succinctly state the objective of moving to the Future State</a:t>
            </a:r>
          </a:p>
          <a:p>
            <a:pPr>
              <a:lnSpc>
                <a:spcPct val="80000"/>
              </a:lnSpc>
            </a:pPr>
            <a:r>
              <a:rPr lang="en-US" altLang="en-US" sz="1200" dirty="0">
                <a:latin typeface="Times New Roman" panose="02020603050405020304" pitchFamily="18" charset="0"/>
              </a:rPr>
              <a:t>Value Stream </a:t>
            </a:r>
            <a:r>
              <a:rPr lang="en-US" altLang="en-US" sz="1200" dirty="0" err="1">
                <a:latin typeface="Times New Roman" panose="02020603050405020304" pitchFamily="18" charset="0"/>
              </a:rPr>
              <a:t>Mgr</a:t>
            </a:r>
            <a:r>
              <a:rPr lang="en-US" altLang="en-US" sz="1200" dirty="0">
                <a:latin typeface="Times New Roman" panose="02020603050405020304" pitchFamily="18" charset="0"/>
              </a:rPr>
              <a:t> and Business Unit Owner – The VS </a:t>
            </a:r>
            <a:r>
              <a:rPr lang="en-US" altLang="en-US" sz="1200" dirty="0" err="1">
                <a:latin typeface="Times New Roman" panose="02020603050405020304" pitchFamily="18" charset="0"/>
              </a:rPr>
              <a:t>Mgr</a:t>
            </a:r>
            <a:r>
              <a:rPr lang="en-US" altLang="en-US" sz="1200" dirty="0">
                <a:latin typeface="Times New Roman" panose="02020603050405020304" pitchFamily="18" charset="0"/>
              </a:rPr>
              <a:t> is responsible for the value stream and insuring that the necessary improvements are made in accordance to the schedule.</a:t>
            </a:r>
          </a:p>
          <a:p>
            <a:pPr>
              <a:lnSpc>
                <a:spcPct val="80000"/>
              </a:lnSpc>
            </a:pPr>
            <a:r>
              <a:rPr lang="en-US" altLang="en-US" sz="1200" dirty="0">
                <a:latin typeface="Times New Roman" panose="02020603050405020304" pitchFamily="18" charset="0"/>
              </a:rPr>
              <a:t>The Business Unit Owner – Is the person responsible for the overall business unit the contains the value stream.</a:t>
            </a:r>
          </a:p>
          <a:p>
            <a:pPr>
              <a:lnSpc>
                <a:spcPct val="80000"/>
              </a:lnSpc>
            </a:pPr>
            <a:r>
              <a:rPr lang="en-US" altLang="en-US" sz="1200" dirty="0">
                <a:latin typeface="Times New Roman" panose="02020603050405020304" pitchFamily="18" charset="0"/>
              </a:rPr>
              <a:t>VS Loop- Specify loops on the Value Stream Plan – this should come directly from the Future State Map. </a:t>
            </a:r>
          </a:p>
          <a:p>
            <a:pPr>
              <a:lnSpc>
                <a:spcPct val="80000"/>
              </a:lnSpc>
            </a:pPr>
            <a:r>
              <a:rPr lang="en-US" altLang="en-US" sz="1200" dirty="0">
                <a:latin typeface="Times New Roman" panose="02020603050405020304" pitchFamily="18" charset="0"/>
              </a:rPr>
              <a:t>Value Stream Objective – Identify what needs to be done to move from the current state to the future state. The emphasis should be on what, not how this will be accomplished. The objective should describe what the end state looks like</a:t>
            </a:r>
          </a:p>
          <a:p>
            <a:pPr>
              <a:lnSpc>
                <a:spcPct val="80000"/>
              </a:lnSpc>
            </a:pPr>
            <a:r>
              <a:rPr lang="en-US" altLang="en-US" sz="1200" dirty="0">
                <a:latin typeface="Times New Roman" panose="02020603050405020304" pitchFamily="18" charset="0"/>
              </a:rPr>
              <a:t>Goal – Develop goals that will allow you to identify when the VS Objective has been achieved. Consistent performance at the goal level indicates that the objective has been satisfied.</a:t>
            </a:r>
          </a:p>
          <a:p>
            <a:pPr>
              <a:lnSpc>
                <a:spcPct val="80000"/>
              </a:lnSpc>
            </a:pPr>
            <a:r>
              <a:rPr lang="en-US" altLang="en-US" sz="1200" dirty="0">
                <a:latin typeface="Times New Roman" panose="02020603050405020304" pitchFamily="18" charset="0"/>
              </a:rPr>
              <a:t>Target Completion Dates – Identify the date to achieve the VS Objective/Goal. Keep in mind the interrelationships that exist between the objectives and prioritize appropriately. There is not always a 1 to 1 relationship between kaizen activities and objectives. A single objective may require multiple kaizens to reach the goal. </a:t>
            </a:r>
          </a:p>
          <a:p>
            <a:pPr>
              <a:lnSpc>
                <a:spcPct val="80000"/>
              </a:lnSpc>
            </a:pPr>
            <a:r>
              <a:rPr lang="en-US" altLang="en-US" sz="1200" dirty="0">
                <a:latin typeface="Times New Roman" panose="02020603050405020304" pitchFamily="18" charset="0"/>
              </a:rPr>
              <a:t>Owners of the Value Stream – High enough in the organization to effectively prioritize the objective. Insures that sufficient resources are invested to reach the goal. Eliminates any obstacles and follows up with the team to ensure timeline is maintained.</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12</a:t>
            </a:fld>
            <a:endParaRPr lang="en-US"/>
          </a:p>
        </p:txBody>
      </p:sp>
    </p:spTree>
    <p:extLst>
      <p:ext uri="{BB962C8B-B14F-4D97-AF65-F5344CB8AC3E}">
        <p14:creationId xmlns:p14="http://schemas.microsoft.com/office/powerpoint/2010/main" val="2178155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0" dirty="0">
                <a:latin typeface="Times New Roman" panose="02020603050405020304" pitchFamily="18" charset="0"/>
              </a:rPr>
              <a:t>DO: Review points on the slide.</a:t>
            </a:r>
          </a:p>
        </p:txBody>
      </p:sp>
      <p:sp>
        <p:nvSpPr>
          <p:cNvPr id="4" name="Slide Number Placeholder 3"/>
          <p:cNvSpPr>
            <a:spLocks noGrp="1"/>
          </p:cNvSpPr>
          <p:nvPr>
            <p:ph type="sldNum" sz="quarter" idx="5"/>
          </p:nvPr>
        </p:nvSpPr>
        <p:spPr/>
        <p:txBody>
          <a:bodyPr/>
          <a:lstStyle/>
          <a:p>
            <a:fld id="{AECD8548-F1A2-4EDF-A416-5F2BB6B8F64C}" type="slidenum">
              <a:rPr lang="en-US" smtClean="0"/>
              <a:t>14</a:t>
            </a:fld>
            <a:endParaRPr lang="en-US"/>
          </a:p>
        </p:txBody>
      </p:sp>
    </p:spTree>
    <p:extLst>
      <p:ext uri="{BB962C8B-B14F-4D97-AF65-F5344CB8AC3E}">
        <p14:creationId xmlns:p14="http://schemas.microsoft.com/office/powerpoint/2010/main" val="28273338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0" dirty="0">
                <a:latin typeface="Times New Roman" panose="02020603050405020304" pitchFamily="18" charset="0"/>
              </a:rPr>
              <a:t>DO: Review points on the slide.</a:t>
            </a:r>
          </a:p>
        </p:txBody>
      </p:sp>
      <p:sp>
        <p:nvSpPr>
          <p:cNvPr id="4" name="Slide Number Placeholder 3"/>
          <p:cNvSpPr>
            <a:spLocks noGrp="1"/>
          </p:cNvSpPr>
          <p:nvPr>
            <p:ph type="sldNum" sz="quarter" idx="5"/>
          </p:nvPr>
        </p:nvSpPr>
        <p:spPr/>
        <p:txBody>
          <a:bodyPr/>
          <a:lstStyle/>
          <a:p>
            <a:fld id="{AECD8548-F1A2-4EDF-A416-5F2BB6B8F64C}" type="slidenum">
              <a:rPr lang="en-US" smtClean="0"/>
              <a:t>15</a:t>
            </a:fld>
            <a:endParaRPr lang="en-US"/>
          </a:p>
        </p:txBody>
      </p:sp>
    </p:spTree>
    <p:extLst>
      <p:ext uri="{BB962C8B-B14F-4D97-AF65-F5344CB8AC3E}">
        <p14:creationId xmlns:p14="http://schemas.microsoft.com/office/powerpoint/2010/main" val="23527942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0" dirty="0">
                <a:latin typeface="Times New Roman" panose="02020603050405020304" pitchFamily="18" charset="0"/>
              </a:rPr>
              <a:t>DO: Review points on the slide.</a:t>
            </a:r>
          </a:p>
        </p:txBody>
      </p:sp>
      <p:sp>
        <p:nvSpPr>
          <p:cNvPr id="4" name="Slide Number Placeholder 3"/>
          <p:cNvSpPr>
            <a:spLocks noGrp="1"/>
          </p:cNvSpPr>
          <p:nvPr>
            <p:ph type="sldNum" sz="quarter" idx="5"/>
          </p:nvPr>
        </p:nvSpPr>
        <p:spPr/>
        <p:txBody>
          <a:bodyPr/>
          <a:lstStyle/>
          <a:p>
            <a:fld id="{AECD8548-F1A2-4EDF-A416-5F2BB6B8F64C}" type="slidenum">
              <a:rPr lang="en-US" smtClean="0"/>
              <a:t>16</a:t>
            </a:fld>
            <a:endParaRPr lang="en-US"/>
          </a:p>
        </p:txBody>
      </p:sp>
    </p:spTree>
    <p:extLst>
      <p:ext uri="{BB962C8B-B14F-4D97-AF65-F5344CB8AC3E}">
        <p14:creationId xmlns:p14="http://schemas.microsoft.com/office/powerpoint/2010/main" val="38793802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0" dirty="0">
                <a:latin typeface="Times New Roman" panose="02020603050405020304" pitchFamily="18" charset="0"/>
              </a:rPr>
              <a:t>SAY: “This is a sample of an excerpt from a site plan showing scheduled events from two different Value Streams (New Mortgage and Debt Consolidation).”</a:t>
            </a:r>
          </a:p>
        </p:txBody>
      </p:sp>
      <p:sp>
        <p:nvSpPr>
          <p:cNvPr id="4" name="Slide Number Placeholder 3"/>
          <p:cNvSpPr>
            <a:spLocks noGrp="1"/>
          </p:cNvSpPr>
          <p:nvPr>
            <p:ph type="sldNum" sz="quarter" idx="5"/>
          </p:nvPr>
        </p:nvSpPr>
        <p:spPr/>
        <p:txBody>
          <a:bodyPr/>
          <a:lstStyle/>
          <a:p>
            <a:fld id="{AECD8548-F1A2-4EDF-A416-5F2BB6B8F64C}" type="slidenum">
              <a:rPr lang="en-US" smtClean="0"/>
              <a:t>17</a:t>
            </a:fld>
            <a:endParaRPr lang="en-US"/>
          </a:p>
        </p:txBody>
      </p:sp>
    </p:spTree>
    <p:extLst>
      <p:ext uri="{BB962C8B-B14F-4D97-AF65-F5344CB8AC3E}">
        <p14:creationId xmlns:p14="http://schemas.microsoft.com/office/powerpoint/2010/main" val="23235290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7B85E90D-7DD7-92B5-E387-8C0441E41AC3}"/>
              </a:ext>
            </a:extLst>
          </p:cNvPr>
          <p:cNvPicPr>
            <a:picLocks noChangeAspect="1"/>
          </p:cNvPicPr>
          <p:nvPr userDrawn="1"/>
        </p:nvPicPr>
        <p:blipFill>
          <a:blip r:embed="rId2"/>
          <a:stretch>
            <a:fillRect/>
          </a:stretch>
        </p:blipFill>
        <p:spPr>
          <a:xfrm>
            <a:off x="2385391" y="1950112"/>
            <a:ext cx="7772400" cy="2590800"/>
          </a:xfrm>
          <a:prstGeom prst="rect">
            <a:avLst/>
          </a:prstGeom>
        </p:spPr>
      </p:pic>
    </p:spTree>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FA04139-8C44-65B7-CCE0-3C7273396743}"/>
              </a:ext>
            </a:extLst>
          </p:cNvPr>
          <p:cNvPicPr>
            <a:picLocks noChangeAspect="1"/>
          </p:cNvPicPr>
          <p:nvPr userDrawn="1"/>
        </p:nvPicPr>
        <p:blipFill>
          <a:blip r:embed="rId2"/>
          <a:stretch>
            <a:fillRect/>
          </a:stretch>
        </p:blipFill>
        <p:spPr>
          <a:xfrm>
            <a:off x="10041954" y="6012921"/>
            <a:ext cx="1825625" cy="365125"/>
          </a:xfrm>
          <a:prstGeom prst="rect">
            <a:avLst/>
          </a:prstGeom>
        </p:spPr>
      </p:pic>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EDBCBB7B-054A-FE83-5F7C-FE4A1CDFEEBA}"/>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186D81-5D29-FE58-C442-6A6A0689DB5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4CBFE9C-CE1B-ED6E-1745-391F9496BE1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7E55C65A-BA96-51C7-B6FE-07AB4FB9C96C}"/>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6C847F-0B94-F947-B172-F99DB133759E}"/>
              </a:ext>
            </a:extLst>
          </p:cNvPr>
          <p:cNvSpPr>
            <a:spLocks noGrp="1"/>
          </p:cNvSpPr>
          <p:nvPr>
            <p:ph type="sldNum" sz="quarter" idx="11"/>
          </p:nvPr>
        </p:nvSpPr>
        <p:spPr/>
        <p:txBody>
          <a:bodyPr/>
          <a:lstStyle/>
          <a:p>
            <a:fld id="{CC6D4273-7FC1-0947-B9FE-19CB3C0D1FB6}" type="slidenum">
              <a:rPr lang="en-US" smtClean="0"/>
              <a:pPr/>
              <a:t>‹#›</a:t>
            </a:fld>
            <a:endParaRPr lang="en-US" dirty="0"/>
          </a:p>
        </p:txBody>
      </p:sp>
      <p:sp>
        <p:nvSpPr>
          <p:cNvPr id="7" name="TextBox 6">
            <a:extLst>
              <a:ext uri="{FF2B5EF4-FFF2-40B4-BE49-F238E27FC236}">
                <a16:creationId xmlns:a16="http://schemas.microsoft.com/office/drawing/2014/main" id="{5C21B1ED-B2E3-19AE-DDFC-B157A0140513}"/>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EB026B9A-5C7E-C150-5C07-A68A167F0F67}"/>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6BBD52B6-C25E-E933-F2B7-D40B2BFDF83D}"/>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155FD7A-35A4-E3BB-30E7-93993A9F2FCF}"/>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328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C7573B6-84E2-B075-59F6-13B735C1EA0C}"/>
              </a:ext>
            </a:extLst>
          </p:cNvPr>
          <p:cNvPicPr>
            <a:picLocks noChangeAspect="1"/>
          </p:cNvPicPr>
          <p:nvPr userDrawn="1"/>
        </p:nvPicPr>
        <p:blipFill>
          <a:blip r:embed="rId16"/>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AF899C9A-A2FC-CD4A-1E66-538BA9DCD182}"/>
              </a:ext>
            </a:extLst>
          </p:cNvPr>
          <p:cNvSpPr>
            <a:spLocks noGrp="1"/>
          </p:cNvSpPr>
          <p:nvPr>
            <p:ph type="title"/>
          </p:nvPr>
        </p:nvSpPr>
        <p:spPr>
          <a:xfrm>
            <a:off x="838200" y="681037"/>
            <a:ext cx="10515600" cy="10096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0655B500-689F-3416-FFFA-6EFE369BF707}"/>
              </a:ext>
            </a:extLst>
          </p:cNvPr>
          <p:cNvSpPr>
            <a:spLocks noGrp="1"/>
          </p:cNvSpPr>
          <p:nvPr>
            <p:ph type="sldNum" sz="quarter" idx="4"/>
          </p:nvPr>
        </p:nvSpPr>
        <p:spPr>
          <a:xfrm>
            <a:off x="8595078" y="6333148"/>
            <a:ext cx="2743200" cy="365125"/>
          </a:xfrm>
          <a:prstGeom prst="rect">
            <a:avLst/>
          </a:prstGeom>
        </p:spPr>
        <p:txBody>
          <a:bodyPr vert="horz" lIns="91440" tIns="45720" rIns="91440" bIns="45720" rtlCol="0" anchor="ctr"/>
          <a:lstStyle>
            <a:lvl1pPr algn="r">
              <a:defRPr sz="1200">
                <a:solidFill>
                  <a:schemeClr val="tx1"/>
                </a:solidFill>
              </a:defRPr>
            </a:lvl1pPr>
          </a:lstStyle>
          <a:p>
            <a:fld id="{CC6D4273-7FC1-0947-B9FE-19CB3C0D1FB6}" type="slidenum">
              <a:rPr lang="en-US" smtClean="0"/>
              <a:pPr/>
              <a:t>‹#›</a:t>
            </a:fld>
            <a:endParaRPr lang="en-US" dirty="0"/>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7"/>
          <a:stretch>
            <a:fillRect/>
          </a:stretch>
        </p:blipFill>
        <p:spPr>
          <a:xfrm>
            <a:off x="10650147" y="311856"/>
            <a:ext cx="1376262" cy="275252"/>
          </a:xfrm>
          <a:prstGeom prst="rect">
            <a:avLst/>
          </a:prstGeom>
        </p:spPr>
      </p:pic>
      <p:cxnSp>
        <p:nvCxnSpPr>
          <p:cNvPr id="16" name="Straight Connector 15">
            <a:extLst>
              <a:ext uri="{FF2B5EF4-FFF2-40B4-BE49-F238E27FC236}">
                <a16:creationId xmlns:a16="http://schemas.microsoft.com/office/drawing/2014/main" id="{BFFEF531-ADF4-AB70-CB0F-227DD4FA1B4F}"/>
              </a:ext>
            </a:extLst>
          </p:cNvPr>
          <p:cNvCxnSpPr/>
          <p:nvPr userDrawn="1"/>
        </p:nvCxnSpPr>
        <p:spPr>
          <a:xfrm>
            <a:off x="838200" y="6382347"/>
            <a:ext cx="10515599"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AF5F83-88DF-460F-82C5-C2709D4DF5D2}"/>
              </a:ext>
            </a:extLst>
          </p:cNvPr>
          <p:cNvSpPr txBox="1"/>
          <p:nvPr userDrawn="1"/>
        </p:nvSpPr>
        <p:spPr>
          <a:xfrm>
            <a:off x="838200" y="6389310"/>
            <a:ext cx="4171934" cy="400110"/>
          </a:xfrm>
          <a:prstGeom prst="rect">
            <a:avLst/>
          </a:prstGeom>
          <a:noFill/>
        </p:spPr>
        <p:txBody>
          <a:bodyPr wrap="square" rtlCol="0">
            <a:spAutoFit/>
          </a:bodyPr>
          <a:lstStyle/>
          <a:p>
            <a:r>
              <a:rPr lang="en-US" sz="1000" dirty="0"/>
              <a:t>VSM ROADMAP ENG REV4.0</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76B0F1ED-1C44-DFD6-E7DA-038409D9167D}"/>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B60FA6-6E24-C6E2-C35D-A4139BCE2E8B}"/>
              </a:ext>
            </a:extLst>
          </p:cNvPr>
          <p:cNvPicPr>
            <a:picLocks noChangeAspect="1"/>
          </p:cNvPicPr>
          <p:nvPr/>
        </p:nvPicPr>
        <p:blipFill>
          <a:blip r:embed="rId2"/>
          <a:stretch>
            <a:fillRect/>
          </a:stretch>
        </p:blipFill>
        <p:spPr>
          <a:xfrm>
            <a:off x="4747929" y="4846192"/>
            <a:ext cx="2696138" cy="45719"/>
          </a:xfrm>
          <a:prstGeom prst="rect">
            <a:avLst/>
          </a:prstGeom>
        </p:spPr>
      </p:pic>
      <p:sp>
        <p:nvSpPr>
          <p:cNvPr id="5" name="TextBox 4">
            <a:extLst>
              <a:ext uri="{FF2B5EF4-FFF2-40B4-BE49-F238E27FC236}">
                <a16:creationId xmlns:a16="http://schemas.microsoft.com/office/drawing/2014/main" id="{0BF4BEED-3D12-D343-768A-9E83F9558AE0}"/>
              </a:ext>
            </a:extLst>
          </p:cNvPr>
          <p:cNvSpPr txBox="1"/>
          <p:nvPr/>
        </p:nvSpPr>
        <p:spPr>
          <a:xfrm>
            <a:off x="668594" y="4138306"/>
            <a:ext cx="10746658" cy="646331"/>
          </a:xfrm>
          <a:prstGeom prst="rect">
            <a:avLst/>
          </a:prstGeom>
          <a:noFill/>
        </p:spPr>
        <p:txBody>
          <a:bodyPr wrap="square" rtlCol="0">
            <a:spAutoFit/>
          </a:bodyPr>
          <a:lstStyle/>
          <a:p>
            <a:pPr algn="ctr"/>
            <a:r>
              <a:rPr lang="en-US" sz="3600" dirty="0" err="1">
                <a:latin typeface="Roboto" panose="02000000000000000000" pitchFamily="2" charset="0"/>
                <a:ea typeface="Roboto" panose="02000000000000000000" pitchFamily="2" charset="0"/>
                <a:cs typeface="Roboto" panose="02000000000000000000" pitchFamily="2" charset="0"/>
              </a:rPr>
              <a:t>VSMi</a:t>
            </a:r>
            <a:r>
              <a:rPr lang="en-US" sz="3600" dirty="0">
                <a:latin typeface="Roboto" panose="02000000000000000000" pitchFamily="2" charset="0"/>
                <a:ea typeface="Roboto" panose="02000000000000000000" pitchFamily="2" charset="0"/>
                <a:cs typeface="Roboto" panose="02000000000000000000" pitchFamily="2" charset="0"/>
              </a:rPr>
              <a:t> Roadmap</a:t>
            </a:r>
          </a:p>
        </p:txBody>
      </p:sp>
      <p:sp>
        <p:nvSpPr>
          <p:cNvPr id="3" name="Slide Number Placeholder 2">
            <a:extLst>
              <a:ext uri="{FF2B5EF4-FFF2-40B4-BE49-F238E27FC236}">
                <a16:creationId xmlns:a16="http://schemas.microsoft.com/office/drawing/2014/main" id="{DCEF716D-CC64-6765-89C4-B03733484518}"/>
              </a:ext>
            </a:extLst>
          </p:cNvPr>
          <p:cNvSpPr>
            <a:spLocks noGrp="1"/>
          </p:cNvSpPr>
          <p:nvPr>
            <p:ph type="sldNum" sz="quarter" idx="4"/>
          </p:nvPr>
        </p:nvSpPr>
        <p:spPr>
          <a:xfrm>
            <a:off x="8595078" y="6386632"/>
            <a:ext cx="2743200" cy="331932"/>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a:t>
            </a:fld>
            <a:endParaRPr lang="en-US"/>
          </a:p>
        </p:txBody>
      </p:sp>
    </p:spTree>
    <p:extLst>
      <p:ext uri="{BB962C8B-B14F-4D97-AF65-F5344CB8AC3E}">
        <p14:creationId xmlns:p14="http://schemas.microsoft.com/office/powerpoint/2010/main" val="552795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92DCF-BAB1-5F2B-601F-3334D8ECE687}"/>
              </a:ext>
            </a:extLst>
          </p:cNvPr>
          <p:cNvSpPr>
            <a:spLocks noGrp="1"/>
          </p:cNvSpPr>
          <p:nvPr>
            <p:ph type="title"/>
          </p:nvPr>
        </p:nvSpPr>
        <p:spPr/>
        <p:txBody>
          <a:bodyPr/>
          <a:lstStyle/>
          <a:p>
            <a:r>
              <a:rPr lang="en-US" dirty="0"/>
              <a:t>Other Modules In This Series</a:t>
            </a:r>
          </a:p>
        </p:txBody>
      </p:sp>
      <p:sp>
        <p:nvSpPr>
          <p:cNvPr id="3" name="Content Placeholder 3">
            <a:extLst>
              <a:ext uri="{FF2B5EF4-FFF2-40B4-BE49-F238E27FC236}">
                <a16:creationId xmlns:a16="http://schemas.microsoft.com/office/drawing/2014/main" id="{2DE22F5B-0ED7-9B1A-A260-C714A06F6D8D}"/>
              </a:ext>
            </a:extLst>
          </p:cNvPr>
          <p:cNvSpPr txBox="1">
            <a:spLocks/>
          </p:cNvSpPr>
          <p:nvPr/>
        </p:nvSpPr>
        <p:spPr>
          <a:xfrm>
            <a:off x="5964518" y="168420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Intro to Lean</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Process Mapping</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p:txBody>
      </p:sp>
      <p:sp>
        <p:nvSpPr>
          <p:cNvPr id="4" name="Steve Jones">
            <a:extLst>
              <a:ext uri="{FF2B5EF4-FFF2-40B4-BE49-F238E27FC236}">
                <a16:creationId xmlns:a16="http://schemas.microsoft.com/office/drawing/2014/main" id="{B6676899-EC75-8920-F33D-CCD7B872A3C8}"/>
              </a:ext>
            </a:extLst>
          </p:cNvPr>
          <p:cNvSpPr/>
          <p:nvPr/>
        </p:nvSpPr>
        <p:spPr>
          <a:xfrm>
            <a:off x="1069695" y="4201690"/>
            <a:ext cx="3475310" cy="199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5" name="Head of Management Dept.">
            <a:extLst>
              <a:ext uri="{FF2B5EF4-FFF2-40B4-BE49-F238E27FC236}">
                <a16:creationId xmlns:a16="http://schemas.microsoft.com/office/drawing/2014/main" id="{FED8FB5A-94EA-4A6F-1D86-3986B231E3C4}"/>
              </a:ext>
            </a:extLst>
          </p:cNvPr>
          <p:cNvSpPr/>
          <p:nvPr/>
        </p:nvSpPr>
        <p:spPr>
          <a:xfrm>
            <a:off x="1367375" y="4590893"/>
            <a:ext cx="2879948" cy="8381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 name="TextBox 5">
            <a:extLst>
              <a:ext uri="{FF2B5EF4-FFF2-40B4-BE49-F238E27FC236}">
                <a16:creationId xmlns:a16="http://schemas.microsoft.com/office/drawing/2014/main" id="{527FEA71-DF2A-69B2-6339-1972E08AA96C}"/>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pic>
        <p:nvPicPr>
          <p:cNvPr id="7" name="Picture 6">
            <a:extLst>
              <a:ext uri="{FF2B5EF4-FFF2-40B4-BE49-F238E27FC236}">
                <a16:creationId xmlns:a16="http://schemas.microsoft.com/office/drawing/2014/main" id="{D567D265-DBA4-640B-F70C-E345C90358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9" name="Slide Number Placeholder 2">
            <a:extLst>
              <a:ext uri="{FF2B5EF4-FFF2-40B4-BE49-F238E27FC236}">
                <a16:creationId xmlns:a16="http://schemas.microsoft.com/office/drawing/2014/main" id="{FB743B8F-8573-6203-575B-F671C499E71F}"/>
              </a:ext>
            </a:extLst>
          </p:cNvPr>
          <p:cNvSpPr txBox="1">
            <a:spLocks/>
          </p:cNvSpPr>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2</a:t>
            </a:fld>
            <a:endParaRPr lang="en-US"/>
          </a:p>
        </p:txBody>
      </p:sp>
    </p:spTree>
    <p:extLst>
      <p:ext uri="{BB962C8B-B14F-4D97-AF65-F5344CB8AC3E}">
        <p14:creationId xmlns:p14="http://schemas.microsoft.com/office/powerpoint/2010/main" val="3661772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DE9536E-A3E9-9AC3-2CF5-E5110EFBF049}"/>
              </a:ext>
            </a:extLst>
          </p:cNvPr>
          <p:cNvSpPr>
            <a:spLocks noGrp="1"/>
          </p:cNvSpPr>
          <p:nvPr>
            <p:ph type="sldNum" sz="quarter" idx="11"/>
          </p:nvPr>
        </p:nvSpPr>
        <p:spPr/>
        <p:txBody>
          <a:bodyPr/>
          <a:lstStyle/>
          <a:p>
            <a:fld id="{CC6D4273-7FC1-0947-B9FE-19CB3C0D1FB6}" type="slidenum">
              <a:rPr lang="en-US" smtClean="0"/>
              <a:pPr/>
              <a:t>3</a:t>
            </a:fld>
            <a:endParaRPr lang="en-US" dirty="0"/>
          </a:p>
        </p:txBody>
      </p:sp>
      <p:sp>
        <p:nvSpPr>
          <p:cNvPr id="4" name="TextBox 3">
            <a:extLst>
              <a:ext uri="{FF2B5EF4-FFF2-40B4-BE49-F238E27FC236}">
                <a16:creationId xmlns:a16="http://schemas.microsoft.com/office/drawing/2014/main" id="{1A4AE373-0611-EB19-BB19-9C1E2B3420FE}"/>
              </a:ext>
            </a:extLst>
          </p:cNvPr>
          <p:cNvSpPr txBox="1"/>
          <p:nvPr/>
        </p:nvSpPr>
        <p:spPr>
          <a:xfrm>
            <a:off x="3046810" y="2413338"/>
            <a:ext cx="5868590" cy="2554545"/>
          </a:xfrm>
          <a:prstGeom prst="rect">
            <a:avLst/>
          </a:prstGeom>
          <a:noFill/>
        </p:spPr>
        <p:txBody>
          <a:bodyPr wrap="square">
            <a:spAutoFit/>
          </a:bodyPr>
          <a:lstStyle/>
          <a:p>
            <a:pPr marL="0" indent="0" algn="ctr">
              <a:buNone/>
            </a:pPr>
            <a:r>
              <a:rPr lang="en-US" sz="2000" dirty="0">
                <a:solidFill>
                  <a:schemeClr val="tx1"/>
                </a:solidFill>
                <a:latin typeface="Roboto" panose="02000000000000000000" pitchFamily="2" charset="0"/>
                <a:ea typeface="Roboto" panose="02000000000000000000" pitchFamily="2" charset="0"/>
                <a:cs typeface="Roboto" panose="02000000000000000000" pitchFamily="2" charset="0"/>
              </a:rPr>
              <a:t>This document contains confidential</a:t>
            </a:r>
            <a:br>
              <a:rPr lang="en-US" sz="20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sz="2000" dirty="0">
                <a:solidFill>
                  <a:schemeClr val="tx1"/>
                </a:solidFill>
                <a:latin typeface="Roboto" panose="02000000000000000000" pitchFamily="2" charset="0"/>
                <a:ea typeface="Roboto" panose="02000000000000000000" pitchFamily="2" charset="0"/>
                <a:cs typeface="Roboto" panose="02000000000000000000" pitchFamily="2" charset="0"/>
              </a:rPr>
              <a:t>and proprietary information owned</a:t>
            </a:r>
            <a:br>
              <a:rPr lang="en-US" sz="20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sz="2000" dirty="0">
                <a:solidFill>
                  <a:schemeClr val="tx1"/>
                </a:solidFill>
                <a:latin typeface="Roboto" panose="02000000000000000000" pitchFamily="2" charset="0"/>
                <a:ea typeface="Roboto" panose="02000000000000000000" pitchFamily="2" charset="0"/>
                <a:cs typeface="Roboto" panose="02000000000000000000" pitchFamily="2" charset="0"/>
              </a:rPr>
              <a:t> by Lean Horizons Consulting, LLC.</a:t>
            </a:r>
            <a:br>
              <a:rPr lang="en-US" sz="2000" dirty="0">
                <a:solidFill>
                  <a:schemeClr val="tx1"/>
                </a:solidFill>
                <a:latin typeface="Roboto" panose="02000000000000000000" pitchFamily="2" charset="0"/>
                <a:ea typeface="Roboto" panose="02000000000000000000" pitchFamily="2" charset="0"/>
                <a:cs typeface="Roboto" panose="02000000000000000000" pitchFamily="2" charset="0"/>
              </a:rPr>
            </a:br>
            <a:br>
              <a:rPr lang="en-US" sz="20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sz="2000" dirty="0">
                <a:solidFill>
                  <a:schemeClr val="tx1"/>
                </a:solidFill>
                <a:latin typeface="Roboto" panose="02000000000000000000" pitchFamily="2" charset="0"/>
                <a:ea typeface="Roboto" panose="02000000000000000000" pitchFamily="2" charset="0"/>
                <a:cs typeface="Roboto" panose="02000000000000000000" pitchFamily="2" charset="0"/>
              </a:rPr>
              <a:t>Any disclosure, use, copying or</a:t>
            </a:r>
            <a:br>
              <a:rPr lang="en-US" sz="20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sz="2000" dirty="0">
                <a:solidFill>
                  <a:schemeClr val="tx1"/>
                </a:solidFill>
                <a:latin typeface="Roboto" panose="02000000000000000000" pitchFamily="2" charset="0"/>
                <a:ea typeface="Roboto" panose="02000000000000000000" pitchFamily="2" charset="0"/>
                <a:cs typeface="Roboto" panose="02000000000000000000" pitchFamily="2" charset="0"/>
              </a:rPr>
              <a:t>distribution of this information without the express written consent of Lean Horizons Consulting is strictly prohibited.</a:t>
            </a:r>
          </a:p>
        </p:txBody>
      </p:sp>
    </p:spTree>
    <p:extLst>
      <p:ext uri="{BB962C8B-B14F-4D97-AF65-F5344CB8AC3E}">
        <p14:creationId xmlns:p14="http://schemas.microsoft.com/office/powerpoint/2010/main" val="2438637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Value Stream Mapping Defined</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a:xfrm>
            <a:off x="938213" y="2693989"/>
            <a:ext cx="5157787" cy="823912"/>
          </a:xfrm>
        </p:spPr>
        <p:txBody>
          <a:bodyPr/>
          <a:lstStyle/>
          <a:p>
            <a:r>
              <a:rPr lang="en-US" dirty="0"/>
              <a:t>Key Characteristics</a:t>
            </a:r>
          </a:p>
        </p:txBody>
      </p:sp>
      <p:sp>
        <p:nvSpPr>
          <p:cNvPr id="4" name="Content Placeholder 3">
            <a:extLst>
              <a:ext uri="{FF2B5EF4-FFF2-40B4-BE49-F238E27FC236}">
                <a16:creationId xmlns:a16="http://schemas.microsoft.com/office/drawing/2014/main" id="{2E3BC3A4-C860-76B2-2DD3-B03AB882C853}"/>
              </a:ext>
            </a:extLst>
          </p:cNvPr>
          <p:cNvSpPr>
            <a:spLocks noGrp="1"/>
          </p:cNvSpPr>
          <p:nvPr>
            <p:ph sz="half" idx="2"/>
          </p:nvPr>
        </p:nvSpPr>
        <p:spPr>
          <a:xfrm>
            <a:off x="938213" y="3517901"/>
            <a:ext cx="5157787" cy="2671762"/>
          </a:xfrm>
        </p:spPr>
        <p:txBody>
          <a:bodyPr>
            <a:normAutofit fontScale="85000" lnSpcReduction="20000"/>
          </a:bodyPr>
          <a:lstStyle/>
          <a:p>
            <a:r>
              <a:rPr lang="en-US" dirty="0"/>
              <a:t>VSM is a graphical representation that uses a common mapping language</a:t>
            </a:r>
          </a:p>
          <a:p>
            <a:r>
              <a:rPr lang="en-US" dirty="0"/>
              <a:t>VSM provides the basis and direction for identifying improvement opportunities</a:t>
            </a:r>
          </a:p>
          <a:p>
            <a:r>
              <a:rPr lang="en-US" dirty="0"/>
              <a:t>Conducting VSM does not in and of itself yield any improvements… the power is in the plan! </a:t>
            </a:r>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a:xfrm>
            <a:off x="6270625" y="2693989"/>
            <a:ext cx="5183188" cy="823912"/>
          </a:xfrm>
        </p:spPr>
        <p:txBody>
          <a:bodyPr/>
          <a:lstStyle/>
          <a:p>
            <a:r>
              <a:rPr lang="en-US" dirty="0"/>
              <a:t>Components of VSM</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a:xfrm>
            <a:off x="6270625" y="3517901"/>
            <a:ext cx="5183188" cy="2671762"/>
          </a:xfrm>
        </p:spPr>
        <p:txBody>
          <a:bodyPr>
            <a:normAutofit fontScale="85000" lnSpcReduction="20000"/>
          </a:bodyPr>
          <a:lstStyle/>
          <a:p>
            <a:r>
              <a:rPr lang="en-US" dirty="0"/>
              <a:t>Current State Value Stream Map</a:t>
            </a:r>
          </a:p>
          <a:p>
            <a:r>
              <a:rPr lang="en-US" dirty="0"/>
              <a:t>Mark-Up of Current State </a:t>
            </a:r>
            <a:br>
              <a:rPr lang="en-US" dirty="0"/>
            </a:br>
            <a:r>
              <a:rPr lang="en-US" dirty="0"/>
              <a:t>Value Stream Map</a:t>
            </a:r>
          </a:p>
          <a:p>
            <a:r>
              <a:rPr lang="en-US" dirty="0"/>
              <a:t>Future State Value Stream Map</a:t>
            </a:r>
          </a:p>
          <a:p>
            <a:r>
              <a:rPr lang="en-US" dirty="0"/>
              <a:t>Value Stream Plan</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a:t>
            </a:fld>
            <a:endParaRPr lang="en-US"/>
          </a:p>
        </p:txBody>
      </p:sp>
      <p:sp>
        <p:nvSpPr>
          <p:cNvPr id="7" name="Content Placeholder 3">
            <a:extLst>
              <a:ext uri="{FF2B5EF4-FFF2-40B4-BE49-F238E27FC236}">
                <a16:creationId xmlns:a16="http://schemas.microsoft.com/office/drawing/2014/main" id="{6B8384C8-AD68-7822-2E68-7B142C102E35}"/>
              </a:ext>
            </a:extLst>
          </p:cNvPr>
          <p:cNvSpPr txBox="1">
            <a:spLocks/>
          </p:cNvSpPr>
          <p:nvPr/>
        </p:nvSpPr>
        <p:spPr>
          <a:xfrm>
            <a:off x="1112838" y="1875791"/>
            <a:ext cx="10140949" cy="1022351"/>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VSM is a snapshot of all actions both value added and non-value added </a:t>
            </a:r>
            <a:br>
              <a:rPr lang="en-US" dirty="0"/>
            </a:br>
            <a:r>
              <a:rPr lang="en-US" dirty="0"/>
              <a:t>required to bring a product or service through the main material </a:t>
            </a:r>
            <a:br>
              <a:rPr lang="en-US" dirty="0"/>
            </a:br>
            <a:r>
              <a:rPr lang="en-US" dirty="0"/>
              <a:t>and information flows</a:t>
            </a:r>
          </a:p>
        </p:txBody>
      </p:sp>
    </p:spTree>
    <p:extLst>
      <p:ext uri="{BB962C8B-B14F-4D97-AF65-F5344CB8AC3E}">
        <p14:creationId xmlns:p14="http://schemas.microsoft.com/office/powerpoint/2010/main" val="2464273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The “</a:t>
            </a:r>
            <a:r>
              <a:rPr lang="en-US" dirty="0" err="1"/>
              <a:t>i</a:t>
            </a:r>
            <a:r>
              <a:rPr lang="en-US" dirty="0"/>
              <a:t>” in </a:t>
            </a:r>
            <a:r>
              <a:rPr lang="en-US" dirty="0" err="1"/>
              <a:t>VSMi</a:t>
            </a:r>
            <a:r>
              <a:rPr lang="en-US" dirty="0"/>
              <a:t> </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err="1"/>
              <a:t>VSMi</a:t>
            </a:r>
            <a:r>
              <a:rPr lang="en-US" dirty="0"/>
              <a:t> is about identifying and eliminating waste associated with the flow of information</a:t>
            </a:r>
          </a:p>
          <a:p>
            <a:r>
              <a:rPr lang="en-US" dirty="0"/>
              <a:t>Information flow is defined as adding to, subtracting from, interpreting, or reformatting information</a:t>
            </a:r>
          </a:p>
          <a:p>
            <a:r>
              <a:rPr lang="en-US" dirty="0"/>
              <a:t>Information must arrive at the to the right place, at the right time, and to the right person</a:t>
            </a:r>
          </a:p>
          <a:p>
            <a:r>
              <a:rPr lang="en-US" dirty="0"/>
              <a:t>Processes today are not designed around information flow</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a:t>
            </a:fld>
            <a:endParaRPr lang="en-US"/>
          </a:p>
        </p:txBody>
      </p:sp>
    </p:spTree>
    <p:extLst>
      <p:ext uri="{BB962C8B-B14F-4D97-AF65-F5344CB8AC3E}">
        <p14:creationId xmlns:p14="http://schemas.microsoft.com/office/powerpoint/2010/main" val="3188806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 Box 64">
            <a:extLst>
              <a:ext uri="{FF2B5EF4-FFF2-40B4-BE49-F238E27FC236}">
                <a16:creationId xmlns:a16="http://schemas.microsoft.com/office/drawing/2014/main" id="{EF5B73C7-0A33-DA9A-A466-635D3BAB648D}"/>
              </a:ext>
            </a:extLst>
          </p:cNvPr>
          <p:cNvSpPr txBox="1">
            <a:spLocks noChangeArrowheads="1"/>
          </p:cNvSpPr>
          <p:nvPr/>
        </p:nvSpPr>
        <p:spPr bwMode="auto">
          <a:xfrm>
            <a:off x="2485898" y="1945259"/>
            <a:ext cx="2063438" cy="48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rPr>
              <a:t>VALUE STREAM MAP</a:t>
            </a:r>
          </a:p>
        </p:txBody>
      </p:sp>
      <p:sp>
        <p:nvSpPr>
          <p:cNvPr id="136" name="AutoShape 2">
            <a:extLst>
              <a:ext uri="{FF2B5EF4-FFF2-40B4-BE49-F238E27FC236}">
                <a16:creationId xmlns:a16="http://schemas.microsoft.com/office/drawing/2014/main" id="{6E5A8F6A-2B0E-303F-D0FB-21150291FBFB}"/>
              </a:ext>
            </a:extLst>
          </p:cNvPr>
          <p:cNvSpPr>
            <a:spLocks noChangeArrowheads="1"/>
          </p:cNvSpPr>
          <p:nvPr/>
        </p:nvSpPr>
        <p:spPr bwMode="auto">
          <a:xfrm>
            <a:off x="237057" y="4421121"/>
            <a:ext cx="5287384" cy="1537940"/>
          </a:xfrm>
          <a:prstGeom prst="upArrow">
            <a:avLst>
              <a:gd name="adj1" fmla="val 83704"/>
              <a:gd name="adj2" fmla="val 30343"/>
            </a:avLst>
          </a:prstGeom>
          <a:solidFill>
            <a:srgbClr val="EE3228"/>
          </a:solidFill>
          <a:ln w="12700" cap="sq">
            <a:solidFill>
              <a:schemeClr val="tx1"/>
            </a:solidFill>
            <a:miter lim="800000"/>
            <a:headEnd/>
            <a:tailEnd/>
          </a:ln>
        </p:spPr>
        <p:txBody>
          <a:bodyPr wrap="none" anchor="ctr"/>
          <a:lstStyle>
            <a:lvl1pPr marL="2286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buFontTx/>
              <a:buChar char="•"/>
            </a:pPr>
            <a:r>
              <a:rPr lang="en-US" altLang="en-US" sz="1200" dirty="0">
                <a:latin typeface="Roboto" panose="02000000000000000000" pitchFamily="2" charset="0"/>
                <a:ea typeface="Roboto" panose="02000000000000000000" pitchFamily="2" charset="0"/>
                <a:cs typeface="Roboto" panose="02000000000000000000" pitchFamily="2" charset="0"/>
              </a:rPr>
              <a:t>High-level snapshot of end-to-end </a:t>
            </a:r>
            <a:br>
              <a:rPr lang="en-US" altLang="en-US" sz="1200" dirty="0">
                <a:latin typeface="Roboto" panose="02000000000000000000" pitchFamily="2" charset="0"/>
                <a:ea typeface="Roboto" panose="02000000000000000000" pitchFamily="2" charset="0"/>
                <a:cs typeface="Roboto" panose="02000000000000000000" pitchFamily="2" charset="0"/>
              </a:rPr>
            </a:br>
            <a:r>
              <a:rPr lang="en-US" altLang="en-US" sz="1200" dirty="0">
                <a:latin typeface="Roboto" panose="02000000000000000000" pitchFamily="2" charset="0"/>
                <a:ea typeface="Roboto" panose="02000000000000000000" pitchFamily="2" charset="0"/>
                <a:cs typeface="Roboto" panose="02000000000000000000" pitchFamily="2" charset="0"/>
              </a:rPr>
              <a:t>business</a:t>
            </a:r>
            <a:br>
              <a:rPr lang="en-US" altLang="en-US" sz="1200" dirty="0">
                <a:latin typeface="Roboto" panose="02000000000000000000" pitchFamily="2" charset="0"/>
                <a:ea typeface="Roboto" panose="02000000000000000000" pitchFamily="2" charset="0"/>
                <a:cs typeface="Roboto" panose="02000000000000000000" pitchFamily="2" charset="0"/>
              </a:rPr>
            </a:br>
            <a:endParaRPr lang="en-US" altLang="en-US" sz="1200" dirty="0">
              <a:latin typeface="Roboto" panose="02000000000000000000" pitchFamily="2" charset="0"/>
              <a:ea typeface="Roboto" panose="02000000000000000000" pitchFamily="2" charset="0"/>
              <a:cs typeface="Roboto" panose="02000000000000000000" pitchFamily="2" charset="0"/>
            </a:endParaRPr>
          </a:p>
          <a:p>
            <a:pPr algn="l">
              <a:buFontTx/>
              <a:buChar char="•"/>
            </a:pPr>
            <a:r>
              <a:rPr lang="en-US" altLang="en-US" sz="1200" dirty="0">
                <a:latin typeface="Roboto" panose="02000000000000000000" pitchFamily="2" charset="0"/>
                <a:ea typeface="Roboto" panose="02000000000000000000" pitchFamily="2" charset="0"/>
                <a:cs typeface="Roboto" panose="02000000000000000000" pitchFamily="2" charset="0"/>
              </a:rPr>
              <a:t>Used to identify where opportunities for improvement exist</a:t>
            </a:r>
            <a:br>
              <a:rPr lang="en-US" altLang="en-US" sz="1200" dirty="0">
                <a:latin typeface="Roboto" panose="02000000000000000000" pitchFamily="2" charset="0"/>
                <a:ea typeface="Roboto" panose="02000000000000000000" pitchFamily="2" charset="0"/>
                <a:cs typeface="Roboto" panose="02000000000000000000" pitchFamily="2" charset="0"/>
              </a:rPr>
            </a:br>
            <a:endParaRPr lang="en-US" altLang="en-US" sz="1200" dirty="0">
              <a:latin typeface="Roboto" panose="02000000000000000000" pitchFamily="2" charset="0"/>
              <a:ea typeface="Roboto" panose="02000000000000000000" pitchFamily="2" charset="0"/>
              <a:cs typeface="Roboto" panose="02000000000000000000" pitchFamily="2" charset="0"/>
            </a:endParaRPr>
          </a:p>
          <a:p>
            <a:pPr algn="l">
              <a:buFontTx/>
              <a:buChar char="•"/>
            </a:pPr>
            <a:r>
              <a:rPr lang="en-US" altLang="en-US" sz="1200" dirty="0">
                <a:latin typeface="Roboto" panose="02000000000000000000" pitchFamily="2" charset="0"/>
                <a:ea typeface="Roboto" panose="02000000000000000000" pitchFamily="2" charset="0"/>
                <a:cs typeface="Roboto" panose="02000000000000000000" pitchFamily="2" charset="0"/>
              </a:rPr>
              <a:t>Does not incorporate decision loops</a:t>
            </a:r>
          </a:p>
        </p:txBody>
      </p:sp>
      <p:sp>
        <p:nvSpPr>
          <p:cNvPr id="137" name="Rectangle 4">
            <a:extLst>
              <a:ext uri="{FF2B5EF4-FFF2-40B4-BE49-F238E27FC236}">
                <a16:creationId xmlns:a16="http://schemas.microsoft.com/office/drawing/2014/main" id="{2044EB11-58B4-B1DA-3E1C-89B52AEFA593}"/>
              </a:ext>
            </a:extLst>
          </p:cNvPr>
          <p:cNvSpPr>
            <a:spLocks noChangeArrowheads="1"/>
          </p:cNvSpPr>
          <p:nvPr/>
        </p:nvSpPr>
        <p:spPr bwMode="auto">
          <a:xfrm>
            <a:off x="505988" y="1535113"/>
            <a:ext cx="5086645" cy="2653240"/>
          </a:xfrm>
          <a:prstGeom prst="rect">
            <a:avLst/>
          </a:prstGeom>
          <a:solidFill>
            <a:srgbClr val="F8F8F8"/>
          </a:solidFill>
          <a:ln w="12700" cap="sq">
            <a:solidFill>
              <a:srgbClr val="7F7F7F"/>
            </a:solidFill>
            <a:miter lim="800000"/>
            <a:headEnd type="none" w="sm" len="sm"/>
            <a:tailEnd type="none" w="sm" len="sm"/>
          </a:ln>
          <a:effectLst>
            <a:outerShdw blurRad="63500" dist="63500" dir="3187806" algn="ctr" rotWithShape="0">
              <a:schemeClr val="tx1">
                <a:alpha val="74998"/>
              </a:schemeClr>
            </a:outerShdw>
          </a:effectLst>
        </p:spPr>
        <p:txBody>
          <a:bodyPr wrap="none" anchor="ctr"/>
          <a:lstStyle/>
          <a:p>
            <a:pPr algn="ctr">
              <a:lnSpc>
                <a:spcPct val="80000"/>
              </a:lnSpc>
              <a:spcBef>
                <a:spcPct val="20000"/>
              </a:spcBef>
              <a:defRPr/>
            </a:pPr>
            <a:endParaRPr lang="en-US">
              <a:latin typeface="Arial" charset="0"/>
              <a:ea typeface="ＭＳ Ｐゴシック" charset="0"/>
            </a:endParaRPr>
          </a:p>
        </p:txBody>
      </p:sp>
      <p:grpSp>
        <p:nvGrpSpPr>
          <p:cNvPr id="138" name="Group 5">
            <a:extLst>
              <a:ext uri="{FF2B5EF4-FFF2-40B4-BE49-F238E27FC236}">
                <a16:creationId xmlns:a16="http://schemas.microsoft.com/office/drawing/2014/main" id="{E0A6DA4B-DE88-2B14-086A-131648665F40}"/>
              </a:ext>
            </a:extLst>
          </p:cNvPr>
          <p:cNvGrpSpPr>
            <a:grpSpLocks/>
          </p:cNvGrpSpPr>
          <p:nvPr/>
        </p:nvGrpSpPr>
        <p:grpSpPr bwMode="auto">
          <a:xfrm>
            <a:off x="625157" y="1718670"/>
            <a:ext cx="911017" cy="510345"/>
            <a:chOff x="933" y="2179"/>
            <a:chExt cx="658" cy="463"/>
          </a:xfrm>
        </p:grpSpPr>
        <p:sp>
          <p:nvSpPr>
            <p:cNvPr id="139" name="Rectangle 6">
              <a:extLst>
                <a:ext uri="{FF2B5EF4-FFF2-40B4-BE49-F238E27FC236}">
                  <a16:creationId xmlns:a16="http://schemas.microsoft.com/office/drawing/2014/main" id="{5ABB4686-29A4-E32B-5BDB-41DE05C00907}"/>
                </a:ext>
              </a:extLst>
            </p:cNvPr>
            <p:cNvSpPr>
              <a:spLocks noChangeArrowheads="1"/>
            </p:cNvSpPr>
            <p:nvPr/>
          </p:nvSpPr>
          <p:spPr bwMode="auto">
            <a:xfrm>
              <a:off x="1545" y="2179"/>
              <a:ext cx="41" cy="250"/>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40" name="Rectangle 7">
              <a:extLst>
                <a:ext uri="{FF2B5EF4-FFF2-40B4-BE49-F238E27FC236}">
                  <a16:creationId xmlns:a16="http://schemas.microsoft.com/office/drawing/2014/main" id="{CA3EEC29-DF09-E2C7-6D17-B77757623E12}"/>
                </a:ext>
              </a:extLst>
            </p:cNvPr>
            <p:cNvSpPr>
              <a:spLocks noChangeArrowheads="1"/>
            </p:cNvSpPr>
            <p:nvPr/>
          </p:nvSpPr>
          <p:spPr bwMode="auto">
            <a:xfrm>
              <a:off x="933" y="2435"/>
              <a:ext cx="658" cy="209"/>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41" name="AutoShape 8">
              <a:extLst>
                <a:ext uri="{FF2B5EF4-FFF2-40B4-BE49-F238E27FC236}">
                  <a16:creationId xmlns:a16="http://schemas.microsoft.com/office/drawing/2014/main" id="{032E2FE8-E410-FFBA-88EE-0732A00D1603}"/>
                </a:ext>
              </a:extLst>
            </p:cNvPr>
            <p:cNvSpPr>
              <a:spLocks noChangeArrowheads="1"/>
            </p:cNvSpPr>
            <p:nvPr/>
          </p:nvSpPr>
          <p:spPr bwMode="auto">
            <a:xfrm>
              <a:off x="1342" y="2245"/>
              <a:ext cx="202" cy="189"/>
            </a:xfrm>
            <a:prstGeom prst="rtTriangle">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42" name="AutoShape 9">
              <a:extLst>
                <a:ext uri="{FF2B5EF4-FFF2-40B4-BE49-F238E27FC236}">
                  <a16:creationId xmlns:a16="http://schemas.microsoft.com/office/drawing/2014/main" id="{E59B9C47-05EC-DB4A-2EDE-A9DC7BF81E56}"/>
                </a:ext>
              </a:extLst>
            </p:cNvPr>
            <p:cNvSpPr>
              <a:spLocks noChangeArrowheads="1"/>
            </p:cNvSpPr>
            <p:nvPr/>
          </p:nvSpPr>
          <p:spPr bwMode="auto">
            <a:xfrm>
              <a:off x="1138" y="2245"/>
              <a:ext cx="202" cy="189"/>
            </a:xfrm>
            <a:prstGeom prst="rtTriangle">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43" name="AutoShape 10">
              <a:extLst>
                <a:ext uri="{FF2B5EF4-FFF2-40B4-BE49-F238E27FC236}">
                  <a16:creationId xmlns:a16="http://schemas.microsoft.com/office/drawing/2014/main" id="{8266856E-8BBF-2D7D-D509-4018CD426FF0}"/>
                </a:ext>
              </a:extLst>
            </p:cNvPr>
            <p:cNvSpPr>
              <a:spLocks noChangeArrowheads="1"/>
            </p:cNvSpPr>
            <p:nvPr/>
          </p:nvSpPr>
          <p:spPr bwMode="auto">
            <a:xfrm>
              <a:off x="934" y="2245"/>
              <a:ext cx="201" cy="189"/>
            </a:xfrm>
            <a:prstGeom prst="rtTriangle">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44" name="Rectangle 11">
              <a:extLst>
                <a:ext uri="{FF2B5EF4-FFF2-40B4-BE49-F238E27FC236}">
                  <a16:creationId xmlns:a16="http://schemas.microsoft.com/office/drawing/2014/main" id="{19B04492-6F2F-530D-9707-56423151471C}"/>
                </a:ext>
              </a:extLst>
            </p:cNvPr>
            <p:cNvSpPr>
              <a:spLocks noChangeArrowheads="1"/>
            </p:cNvSpPr>
            <p:nvPr/>
          </p:nvSpPr>
          <p:spPr bwMode="auto">
            <a:xfrm>
              <a:off x="974" y="2355"/>
              <a:ext cx="27" cy="52"/>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45" name="Rectangle 12">
              <a:extLst>
                <a:ext uri="{FF2B5EF4-FFF2-40B4-BE49-F238E27FC236}">
                  <a16:creationId xmlns:a16="http://schemas.microsoft.com/office/drawing/2014/main" id="{A9A0A43B-EF2D-A382-66CA-ECCC5067BF1A}"/>
                </a:ext>
              </a:extLst>
            </p:cNvPr>
            <p:cNvSpPr>
              <a:spLocks noChangeArrowheads="1"/>
            </p:cNvSpPr>
            <p:nvPr/>
          </p:nvSpPr>
          <p:spPr bwMode="auto">
            <a:xfrm>
              <a:off x="1185" y="2355"/>
              <a:ext cx="27" cy="52"/>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46" name="Rectangle 13">
              <a:extLst>
                <a:ext uri="{FF2B5EF4-FFF2-40B4-BE49-F238E27FC236}">
                  <a16:creationId xmlns:a16="http://schemas.microsoft.com/office/drawing/2014/main" id="{B4D349A7-CA12-0F08-3FB8-B953F989FDD5}"/>
                </a:ext>
              </a:extLst>
            </p:cNvPr>
            <p:cNvSpPr>
              <a:spLocks noChangeArrowheads="1"/>
            </p:cNvSpPr>
            <p:nvPr/>
          </p:nvSpPr>
          <p:spPr bwMode="auto">
            <a:xfrm>
              <a:off x="1395" y="2355"/>
              <a:ext cx="26" cy="52"/>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grpSp>
        <p:nvGrpSpPr>
          <p:cNvPr id="147" name="Group 14">
            <a:extLst>
              <a:ext uri="{FF2B5EF4-FFF2-40B4-BE49-F238E27FC236}">
                <a16:creationId xmlns:a16="http://schemas.microsoft.com/office/drawing/2014/main" id="{591AABF8-4799-C0C0-E5DB-CD62E5A531B2}"/>
              </a:ext>
            </a:extLst>
          </p:cNvPr>
          <p:cNvGrpSpPr>
            <a:grpSpLocks/>
          </p:cNvGrpSpPr>
          <p:nvPr/>
        </p:nvGrpSpPr>
        <p:grpSpPr bwMode="auto">
          <a:xfrm>
            <a:off x="4463661" y="1718670"/>
            <a:ext cx="911017" cy="510345"/>
            <a:chOff x="933" y="2179"/>
            <a:chExt cx="658" cy="463"/>
          </a:xfrm>
        </p:grpSpPr>
        <p:sp>
          <p:nvSpPr>
            <p:cNvPr id="148" name="Rectangle 15">
              <a:extLst>
                <a:ext uri="{FF2B5EF4-FFF2-40B4-BE49-F238E27FC236}">
                  <a16:creationId xmlns:a16="http://schemas.microsoft.com/office/drawing/2014/main" id="{73E75A92-741C-F456-F510-442CA1DAC008}"/>
                </a:ext>
              </a:extLst>
            </p:cNvPr>
            <p:cNvSpPr>
              <a:spLocks noChangeArrowheads="1"/>
            </p:cNvSpPr>
            <p:nvPr/>
          </p:nvSpPr>
          <p:spPr bwMode="auto">
            <a:xfrm>
              <a:off x="1545" y="2179"/>
              <a:ext cx="41" cy="250"/>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49" name="Rectangle 16">
              <a:extLst>
                <a:ext uri="{FF2B5EF4-FFF2-40B4-BE49-F238E27FC236}">
                  <a16:creationId xmlns:a16="http://schemas.microsoft.com/office/drawing/2014/main" id="{5C352CDA-E359-1CA5-ECAE-C24148017918}"/>
                </a:ext>
              </a:extLst>
            </p:cNvPr>
            <p:cNvSpPr>
              <a:spLocks noChangeArrowheads="1"/>
            </p:cNvSpPr>
            <p:nvPr/>
          </p:nvSpPr>
          <p:spPr bwMode="auto">
            <a:xfrm>
              <a:off x="933" y="2435"/>
              <a:ext cx="658" cy="209"/>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50" name="AutoShape 17">
              <a:extLst>
                <a:ext uri="{FF2B5EF4-FFF2-40B4-BE49-F238E27FC236}">
                  <a16:creationId xmlns:a16="http://schemas.microsoft.com/office/drawing/2014/main" id="{97A8EE4C-5ACC-552F-2DE6-C987E8E5BB5A}"/>
                </a:ext>
              </a:extLst>
            </p:cNvPr>
            <p:cNvSpPr>
              <a:spLocks noChangeArrowheads="1"/>
            </p:cNvSpPr>
            <p:nvPr/>
          </p:nvSpPr>
          <p:spPr bwMode="auto">
            <a:xfrm>
              <a:off x="1342" y="2245"/>
              <a:ext cx="202" cy="189"/>
            </a:xfrm>
            <a:prstGeom prst="rtTriangle">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51" name="AutoShape 18">
              <a:extLst>
                <a:ext uri="{FF2B5EF4-FFF2-40B4-BE49-F238E27FC236}">
                  <a16:creationId xmlns:a16="http://schemas.microsoft.com/office/drawing/2014/main" id="{EE9B007C-1B65-709F-8D31-F32FD13C8559}"/>
                </a:ext>
              </a:extLst>
            </p:cNvPr>
            <p:cNvSpPr>
              <a:spLocks noChangeArrowheads="1"/>
            </p:cNvSpPr>
            <p:nvPr/>
          </p:nvSpPr>
          <p:spPr bwMode="auto">
            <a:xfrm>
              <a:off x="1138" y="2245"/>
              <a:ext cx="202" cy="189"/>
            </a:xfrm>
            <a:prstGeom prst="rtTriangle">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52" name="AutoShape 19">
              <a:extLst>
                <a:ext uri="{FF2B5EF4-FFF2-40B4-BE49-F238E27FC236}">
                  <a16:creationId xmlns:a16="http://schemas.microsoft.com/office/drawing/2014/main" id="{ED5352A4-9A4A-B168-293B-22AACE0E48D7}"/>
                </a:ext>
              </a:extLst>
            </p:cNvPr>
            <p:cNvSpPr>
              <a:spLocks noChangeArrowheads="1"/>
            </p:cNvSpPr>
            <p:nvPr/>
          </p:nvSpPr>
          <p:spPr bwMode="auto">
            <a:xfrm>
              <a:off x="935" y="2245"/>
              <a:ext cx="201" cy="189"/>
            </a:xfrm>
            <a:prstGeom prst="rtTriangle">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53" name="Rectangle 20">
              <a:extLst>
                <a:ext uri="{FF2B5EF4-FFF2-40B4-BE49-F238E27FC236}">
                  <a16:creationId xmlns:a16="http://schemas.microsoft.com/office/drawing/2014/main" id="{1B086993-1A99-AB18-3317-5D48B0A14CEB}"/>
                </a:ext>
              </a:extLst>
            </p:cNvPr>
            <p:cNvSpPr>
              <a:spLocks noChangeArrowheads="1"/>
            </p:cNvSpPr>
            <p:nvPr/>
          </p:nvSpPr>
          <p:spPr bwMode="auto">
            <a:xfrm>
              <a:off x="974" y="2355"/>
              <a:ext cx="27" cy="52"/>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54" name="Rectangle 21">
              <a:extLst>
                <a:ext uri="{FF2B5EF4-FFF2-40B4-BE49-F238E27FC236}">
                  <a16:creationId xmlns:a16="http://schemas.microsoft.com/office/drawing/2014/main" id="{60366C27-C346-BF96-A9B8-35BC83440849}"/>
                </a:ext>
              </a:extLst>
            </p:cNvPr>
            <p:cNvSpPr>
              <a:spLocks noChangeArrowheads="1"/>
            </p:cNvSpPr>
            <p:nvPr/>
          </p:nvSpPr>
          <p:spPr bwMode="auto">
            <a:xfrm>
              <a:off x="1185" y="2355"/>
              <a:ext cx="27" cy="52"/>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55" name="Rectangle 22">
              <a:extLst>
                <a:ext uri="{FF2B5EF4-FFF2-40B4-BE49-F238E27FC236}">
                  <a16:creationId xmlns:a16="http://schemas.microsoft.com/office/drawing/2014/main" id="{C6AE5EE4-16A8-A8F8-2534-B8BD07B97AE0}"/>
                </a:ext>
              </a:extLst>
            </p:cNvPr>
            <p:cNvSpPr>
              <a:spLocks noChangeArrowheads="1"/>
            </p:cNvSpPr>
            <p:nvPr/>
          </p:nvSpPr>
          <p:spPr bwMode="auto">
            <a:xfrm>
              <a:off x="1396" y="2355"/>
              <a:ext cx="27" cy="52"/>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sp>
        <p:nvSpPr>
          <p:cNvPr id="156" name="Rectangle 23">
            <a:extLst>
              <a:ext uri="{FF2B5EF4-FFF2-40B4-BE49-F238E27FC236}">
                <a16:creationId xmlns:a16="http://schemas.microsoft.com/office/drawing/2014/main" id="{D9A4DABF-A4EE-89D5-4232-945D3CAAC7D8}"/>
              </a:ext>
            </a:extLst>
          </p:cNvPr>
          <p:cNvSpPr>
            <a:spLocks noChangeArrowheads="1"/>
          </p:cNvSpPr>
          <p:nvPr/>
        </p:nvSpPr>
        <p:spPr bwMode="auto">
          <a:xfrm>
            <a:off x="1528335" y="2845046"/>
            <a:ext cx="421796" cy="506174"/>
          </a:xfrm>
          <a:prstGeom prst="rect">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57" name="Rectangle 24">
            <a:extLst>
              <a:ext uri="{FF2B5EF4-FFF2-40B4-BE49-F238E27FC236}">
                <a16:creationId xmlns:a16="http://schemas.microsoft.com/office/drawing/2014/main" id="{56F0DAB9-8F7E-8E33-B301-6C7A83788E07}"/>
              </a:ext>
            </a:extLst>
          </p:cNvPr>
          <p:cNvSpPr>
            <a:spLocks noChangeArrowheads="1"/>
          </p:cNvSpPr>
          <p:nvPr/>
        </p:nvSpPr>
        <p:spPr bwMode="auto">
          <a:xfrm>
            <a:off x="2679259" y="2845046"/>
            <a:ext cx="418660" cy="506174"/>
          </a:xfrm>
          <a:prstGeom prst="rect">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58" name="Rectangle 25">
            <a:extLst>
              <a:ext uri="{FF2B5EF4-FFF2-40B4-BE49-F238E27FC236}">
                <a16:creationId xmlns:a16="http://schemas.microsoft.com/office/drawing/2014/main" id="{962B6A62-D869-B957-B74A-0040DF1E6CF0}"/>
              </a:ext>
            </a:extLst>
          </p:cNvPr>
          <p:cNvSpPr>
            <a:spLocks noChangeArrowheads="1"/>
          </p:cNvSpPr>
          <p:nvPr/>
        </p:nvSpPr>
        <p:spPr bwMode="auto">
          <a:xfrm>
            <a:off x="3800390" y="2845046"/>
            <a:ext cx="420228" cy="506174"/>
          </a:xfrm>
          <a:prstGeom prst="rect">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59" name="Line 26">
            <a:extLst>
              <a:ext uri="{FF2B5EF4-FFF2-40B4-BE49-F238E27FC236}">
                <a16:creationId xmlns:a16="http://schemas.microsoft.com/office/drawing/2014/main" id="{48DF1538-7934-E0FE-8555-5E5668EF3DAC}"/>
              </a:ext>
            </a:extLst>
          </p:cNvPr>
          <p:cNvSpPr>
            <a:spLocks noChangeShapeType="1"/>
          </p:cNvSpPr>
          <p:nvPr/>
        </p:nvSpPr>
        <p:spPr bwMode="auto">
          <a:xfrm>
            <a:off x="1537743" y="2978542"/>
            <a:ext cx="42022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160" name="Line 27">
            <a:extLst>
              <a:ext uri="{FF2B5EF4-FFF2-40B4-BE49-F238E27FC236}">
                <a16:creationId xmlns:a16="http://schemas.microsoft.com/office/drawing/2014/main" id="{CB4AE8C8-3C40-CB75-70BC-D6401CB3178E}"/>
              </a:ext>
            </a:extLst>
          </p:cNvPr>
          <p:cNvSpPr>
            <a:spLocks noChangeShapeType="1"/>
          </p:cNvSpPr>
          <p:nvPr/>
        </p:nvSpPr>
        <p:spPr bwMode="auto">
          <a:xfrm>
            <a:off x="2676123" y="2970199"/>
            <a:ext cx="42022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161" name="Line 28">
            <a:extLst>
              <a:ext uri="{FF2B5EF4-FFF2-40B4-BE49-F238E27FC236}">
                <a16:creationId xmlns:a16="http://schemas.microsoft.com/office/drawing/2014/main" id="{0A5B966D-B3F8-B983-9F7A-C4A05998A44E}"/>
              </a:ext>
            </a:extLst>
          </p:cNvPr>
          <p:cNvSpPr>
            <a:spLocks noChangeShapeType="1"/>
          </p:cNvSpPr>
          <p:nvPr/>
        </p:nvSpPr>
        <p:spPr bwMode="auto">
          <a:xfrm>
            <a:off x="3805094" y="2961855"/>
            <a:ext cx="42022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nvGrpSpPr>
          <p:cNvPr id="162" name="Group 29">
            <a:extLst>
              <a:ext uri="{FF2B5EF4-FFF2-40B4-BE49-F238E27FC236}">
                <a16:creationId xmlns:a16="http://schemas.microsoft.com/office/drawing/2014/main" id="{5688C2AB-E004-281F-9435-8293F84F9CED}"/>
              </a:ext>
            </a:extLst>
          </p:cNvPr>
          <p:cNvGrpSpPr>
            <a:grpSpLocks/>
          </p:cNvGrpSpPr>
          <p:nvPr/>
        </p:nvGrpSpPr>
        <p:grpSpPr bwMode="auto">
          <a:xfrm>
            <a:off x="1537743" y="3474982"/>
            <a:ext cx="421796" cy="418567"/>
            <a:chOff x="1702" y="2990"/>
            <a:chExt cx="269" cy="301"/>
          </a:xfrm>
        </p:grpSpPr>
        <p:sp>
          <p:nvSpPr>
            <p:cNvPr id="163" name="Rectangle 30">
              <a:extLst>
                <a:ext uri="{FF2B5EF4-FFF2-40B4-BE49-F238E27FC236}">
                  <a16:creationId xmlns:a16="http://schemas.microsoft.com/office/drawing/2014/main" id="{BBFFDBE0-24A3-B95A-11D9-CA88FCC4B060}"/>
                </a:ext>
              </a:extLst>
            </p:cNvPr>
            <p:cNvSpPr>
              <a:spLocks noChangeArrowheads="1"/>
            </p:cNvSpPr>
            <p:nvPr/>
          </p:nvSpPr>
          <p:spPr bwMode="auto">
            <a:xfrm>
              <a:off x="1702" y="2990"/>
              <a:ext cx="269" cy="301"/>
            </a:xfrm>
            <a:prstGeom prst="rect">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64" name="Line 31">
              <a:extLst>
                <a:ext uri="{FF2B5EF4-FFF2-40B4-BE49-F238E27FC236}">
                  <a16:creationId xmlns:a16="http://schemas.microsoft.com/office/drawing/2014/main" id="{34661C19-8FF3-775C-906F-8461C6B6967D}"/>
                </a:ext>
              </a:extLst>
            </p:cNvPr>
            <p:cNvSpPr>
              <a:spLocks noChangeShapeType="1"/>
            </p:cNvSpPr>
            <p:nvPr/>
          </p:nvSpPr>
          <p:spPr bwMode="auto">
            <a:xfrm>
              <a:off x="1741" y="3046"/>
              <a:ext cx="181"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165" name="Line 32">
              <a:extLst>
                <a:ext uri="{FF2B5EF4-FFF2-40B4-BE49-F238E27FC236}">
                  <a16:creationId xmlns:a16="http://schemas.microsoft.com/office/drawing/2014/main" id="{3C40A61E-8133-1D12-3246-7DD8AD3A8E2E}"/>
                </a:ext>
              </a:extLst>
            </p:cNvPr>
            <p:cNvSpPr>
              <a:spLocks noChangeShapeType="1"/>
            </p:cNvSpPr>
            <p:nvPr/>
          </p:nvSpPr>
          <p:spPr bwMode="auto">
            <a:xfrm>
              <a:off x="1741" y="3088"/>
              <a:ext cx="181"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166" name="Line 33">
              <a:extLst>
                <a:ext uri="{FF2B5EF4-FFF2-40B4-BE49-F238E27FC236}">
                  <a16:creationId xmlns:a16="http://schemas.microsoft.com/office/drawing/2014/main" id="{B301F743-7480-9E1D-CE79-FB129957655F}"/>
                </a:ext>
              </a:extLst>
            </p:cNvPr>
            <p:cNvSpPr>
              <a:spLocks noChangeShapeType="1"/>
            </p:cNvSpPr>
            <p:nvPr/>
          </p:nvSpPr>
          <p:spPr bwMode="auto">
            <a:xfrm>
              <a:off x="1741" y="3130"/>
              <a:ext cx="181"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167" name="Line 34">
              <a:extLst>
                <a:ext uri="{FF2B5EF4-FFF2-40B4-BE49-F238E27FC236}">
                  <a16:creationId xmlns:a16="http://schemas.microsoft.com/office/drawing/2014/main" id="{74A22F68-6668-33FC-ECD0-2BDBA500F36A}"/>
                </a:ext>
              </a:extLst>
            </p:cNvPr>
            <p:cNvSpPr>
              <a:spLocks noChangeShapeType="1"/>
            </p:cNvSpPr>
            <p:nvPr/>
          </p:nvSpPr>
          <p:spPr bwMode="auto">
            <a:xfrm>
              <a:off x="1741" y="3172"/>
              <a:ext cx="181"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168" name="Line 35">
              <a:extLst>
                <a:ext uri="{FF2B5EF4-FFF2-40B4-BE49-F238E27FC236}">
                  <a16:creationId xmlns:a16="http://schemas.microsoft.com/office/drawing/2014/main" id="{2A71E7C3-FD06-38AB-5E16-945C1CFEDC1E}"/>
                </a:ext>
              </a:extLst>
            </p:cNvPr>
            <p:cNvSpPr>
              <a:spLocks noChangeShapeType="1"/>
            </p:cNvSpPr>
            <p:nvPr/>
          </p:nvSpPr>
          <p:spPr bwMode="auto">
            <a:xfrm>
              <a:off x="1741" y="3214"/>
              <a:ext cx="181"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169" name="Line 36">
              <a:extLst>
                <a:ext uri="{FF2B5EF4-FFF2-40B4-BE49-F238E27FC236}">
                  <a16:creationId xmlns:a16="http://schemas.microsoft.com/office/drawing/2014/main" id="{AB41FEE2-445F-7002-2B4E-84E8B752FEB4}"/>
                </a:ext>
              </a:extLst>
            </p:cNvPr>
            <p:cNvSpPr>
              <a:spLocks noChangeShapeType="1"/>
            </p:cNvSpPr>
            <p:nvPr/>
          </p:nvSpPr>
          <p:spPr bwMode="auto">
            <a:xfrm>
              <a:off x="1741" y="3256"/>
              <a:ext cx="181"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grpSp>
        <p:nvGrpSpPr>
          <p:cNvPr id="170" name="Group 37">
            <a:extLst>
              <a:ext uri="{FF2B5EF4-FFF2-40B4-BE49-F238E27FC236}">
                <a16:creationId xmlns:a16="http://schemas.microsoft.com/office/drawing/2014/main" id="{A2908456-A27B-C4FB-7BD5-14AF9DA47168}"/>
              </a:ext>
            </a:extLst>
          </p:cNvPr>
          <p:cNvGrpSpPr>
            <a:grpSpLocks/>
          </p:cNvGrpSpPr>
          <p:nvPr/>
        </p:nvGrpSpPr>
        <p:grpSpPr bwMode="auto">
          <a:xfrm>
            <a:off x="2679259" y="3502794"/>
            <a:ext cx="421796" cy="418567"/>
            <a:chOff x="1702" y="2990"/>
            <a:chExt cx="269" cy="301"/>
          </a:xfrm>
        </p:grpSpPr>
        <p:sp>
          <p:nvSpPr>
            <p:cNvPr id="171" name="Rectangle 38">
              <a:extLst>
                <a:ext uri="{FF2B5EF4-FFF2-40B4-BE49-F238E27FC236}">
                  <a16:creationId xmlns:a16="http://schemas.microsoft.com/office/drawing/2014/main" id="{91E16E76-DEF5-7CA4-46D2-01535BAA9FAC}"/>
                </a:ext>
              </a:extLst>
            </p:cNvPr>
            <p:cNvSpPr>
              <a:spLocks noChangeArrowheads="1"/>
            </p:cNvSpPr>
            <p:nvPr/>
          </p:nvSpPr>
          <p:spPr bwMode="auto">
            <a:xfrm>
              <a:off x="1702" y="2990"/>
              <a:ext cx="267" cy="301"/>
            </a:xfrm>
            <a:prstGeom prst="rect">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72" name="Line 39">
              <a:extLst>
                <a:ext uri="{FF2B5EF4-FFF2-40B4-BE49-F238E27FC236}">
                  <a16:creationId xmlns:a16="http://schemas.microsoft.com/office/drawing/2014/main" id="{5CD10AFA-D9D1-8974-11AB-58501BDC2248}"/>
                </a:ext>
              </a:extLst>
            </p:cNvPr>
            <p:cNvSpPr>
              <a:spLocks noChangeShapeType="1"/>
            </p:cNvSpPr>
            <p:nvPr/>
          </p:nvSpPr>
          <p:spPr bwMode="auto">
            <a:xfrm>
              <a:off x="1741" y="3046"/>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173" name="Line 40">
              <a:extLst>
                <a:ext uri="{FF2B5EF4-FFF2-40B4-BE49-F238E27FC236}">
                  <a16:creationId xmlns:a16="http://schemas.microsoft.com/office/drawing/2014/main" id="{14AE8357-525B-3F4C-73DA-10C84C6D403B}"/>
                </a:ext>
              </a:extLst>
            </p:cNvPr>
            <p:cNvSpPr>
              <a:spLocks noChangeShapeType="1"/>
            </p:cNvSpPr>
            <p:nvPr/>
          </p:nvSpPr>
          <p:spPr bwMode="auto">
            <a:xfrm>
              <a:off x="1741" y="3088"/>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174" name="Line 41">
              <a:extLst>
                <a:ext uri="{FF2B5EF4-FFF2-40B4-BE49-F238E27FC236}">
                  <a16:creationId xmlns:a16="http://schemas.microsoft.com/office/drawing/2014/main" id="{3A79380C-0DF8-8CDD-2CE7-FA4A762BD9EA}"/>
                </a:ext>
              </a:extLst>
            </p:cNvPr>
            <p:cNvSpPr>
              <a:spLocks noChangeShapeType="1"/>
            </p:cNvSpPr>
            <p:nvPr/>
          </p:nvSpPr>
          <p:spPr bwMode="auto">
            <a:xfrm>
              <a:off x="1741" y="3132"/>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175" name="Line 42">
              <a:extLst>
                <a:ext uri="{FF2B5EF4-FFF2-40B4-BE49-F238E27FC236}">
                  <a16:creationId xmlns:a16="http://schemas.microsoft.com/office/drawing/2014/main" id="{1B2982DD-92B4-2122-70BE-26E18C3ED0E2}"/>
                </a:ext>
              </a:extLst>
            </p:cNvPr>
            <p:cNvSpPr>
              <a:spLocks noChangeShapeType="1"/>
            </p:cNvSpPr>
            <p:nvPr/>
          </p:nvSpPr>
          <p:spPr bwMode="auto">
            <a:xfrm>
              <a:off x="1741" y="3172"/>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176" name="Line 43">
              <a:extLst>
                <a:ext uri="{FF2B5EF4-FFF2-40B4-BE49-F238E27FC236}">
                  <a16:creationId xmlns:a16="http://schemas.microsoft.com/office/drawing/2014/main" id="{E0951CC3-13EF-7195-753A-53BFA8A197F9}"/>
                </a:ext>
              </a:extLst>
            </p:cNvPr>
            <p:cNvSpPr>
              <a:spLocks noChangeShapeType="1"/>
            </p:cNvSpPr>
            <p:nvPr/>
          </p:nvSpPr>
          <p:spPr bwMode="auto">
            <a:xfrm>
              <a:off x="1741" y="3214"/>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177" name="Line 44">
              <a:extLst>
                <a:ext uri="{FF2B5EF4-FFF2-40B4-BE49-F238E27FC236}">
                  <a16:creationId xmlns:a16="http://schemas.microsoft.com/office/drawing/2014/main" id="{F2D9DCAC-4CD1-DC71-CFB6-15677F2836FD}"/>
                </a:ext>
              </a:extLst>
            </p:cNvPr>
            <p:cNvSpPr>
              <a:spLocks noChangeShapeType="1"/>
            </p:cNvSpPr>
            <p:nvPr/>
          </p:nvSpPr>
          <p:spPr bwMode="auto">
            <a:xfrm>
              <a:off x="1741" y="3256"/>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grpSp>
        <p:nvGrpSpPr>
          <p:cNvPr id="178" name="Group 45">
            <a:extLst>
              <a:ext uri="{FF2B5EF4-FFF2-40B4-BE49-F238E27FC236}">
                <a16:creationId xmlns:a16="http://schemas.microsoft.com/office/drawing/2014/main" id="{D0136434-4CDA-B547-0019-D4C1A40A36A9}"/>
              </a:ext>
            </a:extLst>
          </p:cNvPr>
          <p:cNvGrpSpPr>
            <a:grpSpLocks/>
          </p:cNvGrpSpPr>
          <p:nvPr/>
        </p:nvGrpSpPr>
        <p:grpSpPr bwMode="auto">
          <a:xfrm>
            <a:off x="3803526" y="3487497"/>
            <a:ext cx="421796" cy="418567"/>
            <a:chOff x="1702" y="2990"/>
            <a:chExt cx="269" cy="301"/>
          </a:xfrm>
        </p:grpSpPr>
        <p:sp>
          <p:nvSpPr>
            <p:cNvPr id="179" name="Rectangle 46">
              <a:extLst>
                <a:ext uri="{FF2B5EF4-FFF2-40B4-BE49-F238E27FC236}">
                  <a16:creationId xmlns:a16="http://schemas.microsoft.com/office/drawing/2014/main" id="{54FC4F42-9350-5532-15DA-0FEE9D0A7143}"/>
                </a:ext>
              </a:extLst>
            </p:cNvPr>
            <p:cNvSpPr>
              <a:spLocks noChangeArrowheads="1"/>
            </p:cNvSpPr>
            <p:nvPr/>
          </p:nvSpPr>
          <p:spPr bwMode="auto">
            <a:xfrm>
              <a:off x="1702" y="2990"/>
              <a:ext cx="269" cy="303"/>
            </a:xfrm>
            <a:prstGeom prst="rect">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80" name="Line 47">
              <a:extLst>
                <a:ext uri="{FF2B5EF4-FFF2-40B4-BE49-F238E27FC236}">
                  <a16:creationId xmlns:a16="http://schemas.microsoft.com/office/drawing/2014/main" id="{B6A42487-FF02-1D31-5595-13D917201869}"/>
                </a:ext>
              </a:extLst>
            </p:cNvPr>
            <p:cNvSpPr>
              <a:spLocks noChangeShapeType="1"/>
            </p:cNvSpPr>
            <p:nvPr/>
          </p:nvSpPr>
          <p:spPr bwMode="auto">
            <a:xfrm>
              <a:off x="1740" y="3044"/>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181" name="Line 48">
              <a:extLst>
                <a:ext uri="{FF2B5EF4-FFF2-40B4-BE49-F238E27FC236}">
                  <a16:creationId xmlns:a16="http://schemas.microsoft.com/office/drawing/2014/main" id="{4CAD42B1-4B97-02F6-C97A-775519A2EB68}"/>
                </a:ext>
              </a:extLst>
            </p:cNvPr>
            <p:cNvSpPr>
              <a:spLocks noChangeShapeType="1"/>
            </p:cNvSpPr>
            <p:nvPr/>
          </p:nvSpPr>
          <p:spPr bwMode="auto">
            <a:xfrm>
              <a:off x="1740" y="3088"/>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182" name="Line 49">
              <a:extLst>
                <a:ext uri="{FF2B5EF4-FFF2-40B4-BE49-F238E27FC236}">
                  <a16:creationId xmlns:a16="http://schemas.microsoft.com/office/drawing/2014/main" id="{7C10DC5D-1138-F540-13EA-AB30F066624B}"/>
                </a:ext>
              </a:extLst>
            </p:cNvPr>
            <p:cNvSpPr>
              <a:spLocks noChangeShapeType="1"/>
            </p:cNvSpPr>
            <p:nvPr/>
          </p:nvSpPr>
          <p:spPr bwMode="auto">
            <a:xfrm>
              <a:off x="1740" y="3130"/>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183" name="Line 50">
              <a:extLst>
                <a:ext uri="{FF2B5EF4-FFF2-40B4-BE49-F238E27FC236}">
                  <a16:creationId xmlns:a16="http://schemas.microsoft.com/office/drawing/2014/main" id="{C1335911-BC4B-A142-CF44-4FE25051D3B3}"/>
                </a:ext>
              </a:extLst>
            </p:cNvPr>
            <p:cNvSpPr>
              <a:spLocks noChangeShapeType="1"/>
            </p:cNvSpPr>
            <p:nvPr/>
          </p:nvSpPr>
          <p:spPr bwMode="auto">
            <a:xfrm>
              <a:off x="1740" y="3172"/>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184" name="Line 51">
              <a:extLst>
                <a:ext uri="{FF2B5EF4-FFF2-40B4-BE49-F238E27FC236}">
                  <a16:creationId xmlns:a16="http://schemas.microsoft.com/office/drawing/2014/main" id="{9C16688C-5058-534A-6659-A6552A27495C}"/>
                </a:ext>
              </a:extLst>
            </p:cNvPr>
            <p:cNvSpPr>
              <a:spLocks noChangeShapeType="1"/>
            </p:cNvSpPr>
            <p:nvPr/>
          </p:nvSpPr>
          <p:spPr bwMode="auto">
            <a:xfrm>
              <a:off x="1740" y="3214"/>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185" name="Line 52">
              <a:extLst>
                <a:ext uri="{FF2B5EF4-FFF2-40B4-BE49-F238E27FC236}">
                  <a16:creationId xmlns:a16="http://schemas.microsoft.com/office/drawing/2014/main" id="{2FA6AF7F-993D-9C21-D464-AE6334D1AC83}"/>
                </a:ext>
              </a:extLst>
            </p:cNvPr>
            <p:cNvSpPr>
              <a:spLocks noChangeShapeType="1"/>
            </p:cNvSpPr>
            <p:nvPr/>
          </p:nvSpPr>
          <p:spPr bwMode="auto">
            <a:xfrm>
              <a:off x="1740" y="3258"/>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sp>
        <p:nvSpPr>
          <p:cNvPr id="186" name="Line 53">
            <a:extLst>
              <a:ext uri="{FF2B5EF4-FFF2-40B4-BE49-F238E27FC236}">
                <a16:creationId xmlns:a16="http://schemas.microsoft.com/office/drawing/2014/main" id="{19D74E46-0B5A-D37D-7E1A-49D1980E6651}"/>
              </a:ext>
            </a:extLst>
          </p:cNvPr>
          <p:cNvSpPr>
            <a:spLocks noChangeShapeType="1"/>
          </p:cNvSpPr>
          <p:nvPr/>
        </p:nvSpPr>
        <p:spPr bwMode="auto">
          <a:xfrm flipV="1">
            <a:off x="1961107" y="3099523"/>
            <a:ext cx="719719" cy="18078"/>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187" name="AutoShape 54">
            <a:extLst>
              <a:ext uri="{FF2B5EF4-FFF2-40B4-BE49-F238E27FC236}">
                <a16:creationId xmlns:a16="http://schemas.microsoft.com/office/drawing/2014/main" id="{B0D09765-F57C-53F9-2DB3-7500490399AA}"/>
              </a:ext>
            </a:extLst>
          </p:cNvPr>
          <p:cNvSpPr>
            <a:spLocks noChangeArrowheads="1"/>
          </p:cNvSpPr>
          <p:nvPr/>
        </p:nvSpPr>
        <p:spPr bwMode="auto">
          <a:xfrm>
            <a:off x="2190038" y="2985495"/>
            <a:ext cx="230498" cy="222494"/>
          </a:xfrm>
          <a:prstGeom prst="triangle">
            <a:avLst>
              <a:gd name="adj" fmla="val 50000"/>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pPr>
            <a:r>
              <a:rPr lang="en-US" altLang="en-US" sz="1200">
                <a:solidFill>
                  <a:schemeClr val="tx1"/>
                </a:solidFill>
                <a:latin typeface="Times New Roman" panose="02020603050405020304" pitchFamily="18" charset="0"/>
                <a:cs typeface="Arial" panose="020B0604020202020204" pitchFamily="34" charset="0"/>
              </a:rPr>
              <a:t>I</a:t>
            </a:r>
          </a:p>
        </p:txBody>
      </p:sp>
      <p:sp>
        <p:nvSpPr>
          <p:cNvPr id="188" name="Line 55">
            <a:extLst>
              <a:ext uri="{FF2B5EF4-FFF2-40B4-BE49-F238E27FC236}">
                <a16:creationId xmlns:a16="http://schemas.microsoft.com/office/drawing/2014/main" id="{08E0A148-0C9A-3EA5-E20A-4B0F00FE6089}"/>
              </a:ext>
            </a:extLst>
          </p:cNvPr>
          <p:cNvSpPr>
            <a:spLocks noChangeShapeType="1"/>
          </p:cNvSpPr>
          <p:nvPr/>
        </p:nvSpPr>
        <p:spPr bwMode="auto">
          <a:xfrm flipV="1">
            <a:off x="3132415" y="3099523"/>
            <a:ext cx="721288" cy="18078"/>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189" name="AutoShape 56">
            <a:extLst>
              <a:ext uri="{FF2B5EF4-FFF2-40B4-BE49-F238E27FC236}">
                <a16:creationId xmlns:a16="http://schemas.microsoft.com/office/drawing/2014/main" id="{3E01C723-DEDD-5FD7-2384-9070302F2DFF}"/>
              </a:ext>
            </a:extLst>
          </p:cNvPr>
          <p:cNvSpPr>
            <a:spLocks noChangeArrowheads="1"/>
          </p:cNvSpPr>
          <p:nvPr/>
        </p:nvSpPr>
        <p:spPr bwMode="auto">
          <a:xfrm>
            <a:off x="3334689" y="2985495"/>
            <a:ext cx="228930" cy="222494"/>
          </a:xfrm>
          <a:prstGeom prst="triangle">
            <a:avLst>
              <a:gd name="adj" fmla="val 50000"/>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pPr>
            <a:r>
              <a:rPr lang="en-US" altLang="en-US" sz="1200">
                <a:solidFill>
                  <a:schemeClr val="tx1"/>
                </a:solidFill>
                <a:latin typeface="Times New Roman" panose="02020603050405020304" pitchFamily="18" charset="0"/>
                <a:cs typeface="Arial" panose="020B0604020202020204" pitchFamily="34" charset="0"/>
              </a:rPr>
              <a:t>I</a:t>
            </a:r>
          </a:p>
        </p:txBody>
      </p:sp>
      <p:sp>
        <p:nvSpPr>
          <p:cNvPr id="190" name="AutoShape 57">
            <a:extLst>
              <a:ext uri="{FF2B5EF4-FFF2-40B4-BE49-F238E27FC236}">
                <a16:creationId xmlns:a16="http://schemas.microsoft.com/office/drawing/2014/main" id="{0DDFAD87-B076-7562-7C32-CDAC0FAF97C7}"/>
              </a:ext>
            </a:extLst>
          </p:cNvPr>
          <p:cNvSpPr>
            <a:spLocks noChangeArrowheads="1"/>
          </p:cNvSpPr>
          <p:nvPr/>
        </p:nvSpPr>
        <p:spPr bwMode="auto">
          <a:xfrm rot="18900000">
            <a:off x="4162602" y="2452900"/>
            <a:ext cx="978442" cy="266993"/>
          </a:xfrm>
          <a:prstGeom prst="rightArrow">
            <a:avLst>
              <a:gd name="adj1" fmla="val 50000"/>
              <a:gd name="adj2" fmla="val 81250"/>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91" name="AutoShape 58">
            <a:extLst>
              <a:ext uri="{FF2B5EF4-FFF2-40B4-BE49-F238E27FC236}">
                <a16:creationId xmlns:a16="http://schemas.microsoft.com/office/drawing/2014/main" id="{22BEC763-EEC9-7654-0E93-921EB0E013A2}"/>
              </a:ext>
            </a:extLst>
          </p:cNvPr>
          <p:cNvSpPr>
            <a:spLocks noChangeArrowheads="1"/>
          </p:cNvSpPr>
          <p:nvPr/>
        </p:nvSpPr>
        <p:spPr bwMode="auto">
          <a:xfrm rot="2772363">
            <a:off x="718236" y="2469241"/>
            <a:ext cx="869117" cy="301059"/>
          </a:xfrm>
          <a:prstGeom prst="rightArrow">
            <a:avLst>
              <a:gd name="adj1" fmla="val 50000"/>
              <a:gd name="adj2" fmla="val 81245"/>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92" name="AutoShape 59">
            <a:extLst>
              <a:ext uri="{FF2B5EF4-FFF2-40B4-BE49-F238E27FC236}">
                <a16:creationId xmlns:a16="http://schemas.microsoft.com/office/drawing/2014/main" id="{378C64B4-1AC3-CCE9-BB22-BA4C671872B9}"/>
              </a:ext>
            </a:extLst>
          </p:cNvPr>
          <p:cNvSpPr>
            <a:spLocks noChangeArrowheads="1"/>
          </p:cNvSpPr>
          <p:nvPr/>
        </p:nvSpPr>
        <p:spPr bwMode="auto">
          <a:xfrm>
            <a:off x="1302540" y="3387375"/>
            <a:ext cx="749512" cy="470018"/>
          </a:xfrm>
          <a:prstGeom prst="irregularSeal1">
            <a:avLst/>
          </a:prstGeom>
          <a:solidFill>
            <a:srgbClr val="F8F8F8"/>
          </a:solidFill>
          <a:ln w="38100" cap="sq">
            <a:solidFill>
              <a:srgbClr val="EE3228"/>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93" name="AutoShape 60">
            <a:extLst>
              <a:ext uri="{FF2B5EF4-FFF2-40B4-BE49-F238E27FC236}">
                <a16:creationId xmlns:a16="http://schemas.microsoft.com/office/drawing/2014/main" id="{CB05E455-1E9F-01CF-90FB-9C62DE848943}"/>
              </a:ext>
            </a:extLst>
          </p:cNvPr>
          <p:cNvSpPr>
            <a:spLocks noChangeArrowheads="1"/>
          </p:cNvSpPr>
          <p:nvPr/>
        </p:nvSpPr>
        <p:spPr bwMode="auto">
          <a:xfrm>
            <a:off x="2280982" y="2653145"/>
            <a:ext cx="755784" cy="467237"/>
          </a:xfrm>
          <a:prstGeom prst="irregularSeal1">
            <a:avLst/>
          </a:prstGeom>
          <a:solidFill>
            <a:srgbClr val="F8F8F8"/>
          </a:solidFill>
          <a:ln w="38100" cap="sq">
            <a:solidFill>
              <a:srgbClr val="EE3228"/>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94" name="AutoShape 61">
            <a:extLst>
              <a:ext uri="{FF2B5EF4-FFF2-40B4-BE49-F238E27FC236}">
                <a16:creationId xmlns:a16="http://schemas.microsoft.com/office/drawing/2014/main" id="{36089471-A2F4-7121-3BA9-B22C255447E0}"/>
              </a:ext>
            </a:extLst>
          </p:cNvPr>
          <p:cNvSpPr>
            <a:spLocks noChangeArrowheads="1"/>
          </p:cNvSpPr>
          <p:nvPr/>
        </p:nvSpPr>
        <p:spPr bwMode="auto">
          <a:xfrm>
            <a:off x="3485219" y="3120382"/>
            <a:ext cx="754216" cy="470018"/>
          </a:xfrm>
          <a:prstGeom prst="irregularSeal1">
            <a:avLst/>
          </a:prstGeom>
          <a:solidFill>
            <a:srgbClr val="F8F8F8"/>
          </a:solidFill>
          <a:ln w="38100" cap="sq">
            <a:solidFill>
              <a:srgbClr val="EE3228"/>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pic>
        <p:nvPicPr>
          <p:cNvPr id="195" name="Picture 65" descr="image001">
            <a:extLst>
              <a:ext uri="{FF2B5EF4-FFF2-40B4-BE49-F238E27FC236}">
                <a16:creationId xmlns:a16="http://schemas.microsoft.com/office/drawing/2014/main" id="{4B85EB7F-8EFE-8C28-AC22-B8303540B2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2410" y="3287441"/>
            <a:ext cx="5079070" cy="267525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grpSp>
        <p:nvGrpSpPr>
          <p:cNvPr id="196" name="Group 66">
            <a:extLst>
              <a:ext uri="{FF2B5EF4-FFF2-40B4-BE49-F238E27FC236}">
                <a16:creationId xmlns:a16="http://schemas.microsoft.com/office/drawing/2014/main" id="{5EC232B9-DB68-F4B8-0FD2-89825B0936B8}"/>
              </a:ext>
            </a:extLst>
          </p:cNvPr>
          <p:cNvGrpSpPr>
            <a:grpSpLocks/>
          </p:cNvGrpSpPr>
          <p:nvPr/>
        </p:nvGrpSpPr>
        <p:grpSpPr bwMode="auto">
          <a:xfrm>
            <a:off x="3322013" y="2767813"/>
            <a:ext cx="1272608" cy="2324520"/>
            <a:chOff x="1968" y="1728"/>
            <a:chExt cx="672" cy="1584"/>
          </a:xfrm>
        </p:grpSpPr>
        <p:sp>
          <p:nvSpPr>
            <p:cNvPr id="197" name="Rectangle 67">
              <a:extLst>
                <a:ext uri="{FF2B5EF4-FFF2-40B4-BE49-F238E27FC236}">
                  <a16:creationId xmlns:a16="http://schemas.microsoft.com/office/drawing/2014/main" id="{3715ADF8-C1A3-71DF-3CF8-80EBECACBC88}"/>
                </a:ext>
              </a:extLst>
            </p:cNvPr>
            <p:cNvSpPr>
              <a:spLocks noChangeArrowheads="1"/>
            </p:cNvSpPr>
            <p:nvPr/>
          </p:nvSpPr>
          <p:spPr bwMode="auto">
            <a:xfrm>
              <a:off x="1968" y="1728"/>
              <a:ext cx="672" cy="864"/>
            </a:xfrm>
            <a:prstGeom prst="rect">
              <a:avLst/>
            </a:prstGeom>
            <a:noFill/>
            <a:ln w="76200" cap="sq">
              <a:solidFill>
                <a:srgbClr val="FFB627"/>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98" name="Line 68">
              <a:extLst>
                <a:ext uri="{FF2B5EF4-FFF2-40B4-BE49-F238E27FC236}">
                  <a16:creationId xmlns:a16="http://schemas.microsoft.com/office/drawing/2014/main" id="{C7C07D95-A1D6-772D-75E4-F02FE80447F0}"/>
                </a:ext>
              </a:extLst>
            </p:cNvPr>
            <p:cNvSpPr>
              <a:spLocks noChangeShapeType="1"/>
            </p:cNvSpPr>
            <p:nvPr/>
          </p:nvSpPr>
          <p:spPr bwMode="auto">
            <a:xfrm>
              <a:off x="2304" y="2592"/>
              <a:ext cx="0" cy="720"/>
            </a:xfrm>
            <a:prstGeom prst="line">
              <a:avLst/>
            </a:prstGeom>
            <a:noFill/>
            <a:ln w="76200" cap="sq">
              <a:solidFill>
                <a:srgbClr val="FFB627"/>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sp>
        <p:nvSpPr>
          <p:cNvPr id="199" name="Line 69">
            <a:extLst>
              <a:ext uri="{FF2B5EF4-FFF2-40B4-BE49-F238E27FC236}">
                <a16:creationId xmlns:a16="http://schemas.microsoft.com/office/drawing/2014/main" id="{8D8297FD-A5B9-35AF-B8F7-B75E87575522}"/>
              </a:ext>
            </a:extLst>
          </p:cNvPr>
          <p:cNvSpPr>
            <a:spLocks noChangeShapeType="1"/>
          </p:cNvSpPr>
          <p:nvPr/>
        </p:nvSpPr>
        <p:spPr bwMode="auto">
          <a:xfrm>
            <a:off x="3958317" y="5092333"/>
            <a:ext cx="2332755" cy="0"/>
          </a:xfrm>
          <a:prstGeom prst="line">
            <a:avLst/>
          </a:prstGeom>
          <a:noFill/>
          <a:ln w="76200" cap="sq">
            <a:solidFill>
              <a:srgbClr val="FFB627"/>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200" name="Title 1">
            <a:extLst>
              <a:ext uri="{FF2B5EF4-FFF2-40B4-BE49-F238E27FC236}">
                <a16:creationId xmlns:a16="http://schemas.microsoft.com/office/drawing/2014/main" id="{0EB5D760-F838-1888-C0FA-D5B3F90E73F3}"/>
              </a:ext>
            </a:extLst>
          </p:cNvPr>
          <p:cNvSpPr txBox="1">
            <a:spLocks/>
          </p:cNvSpPr>
          <p:nvPr/>
        </p:nvSpPr>
        <p:spPr>
          <a:xfrm>
            <a:off x="505988" y="716744"/>
            <a:ext cx="10515600" cy="1009651"/>
          </a:xfrm>
          <a:prstGeom prst="rect">
            <a:avLst/>
          </a:prstGeom>
        </p:spPr>
        <p:txBody>
          <a:bodyPr>
            <a:noAutofit/>
          </a:bodyPr>
          <a:lst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a:lstStyle>
          <a:p>
            <a:r>
              <a:rPr lang="en-US" sz="3600" dirty="0"/>
              <a:t>Value Stream Map and Process Map Distinction</a:t>
            </a:r>
          </a:p>
        </p:txBody>
      </p:sp>
      <p:sp>
        <p:nvSpPr>
          <p:cNvPr id="201" name="AutoShape 70">
            <a:extLst>
              <a:ext uri="{FF2B5EF4-FFF2-40B4-BE49-F238E27FC236}">
                <a16:creationId xmlns:a16="http://schemas.microsoft.com/office/drawing/2014/main" id="{0322056A-3C50-7034-2274-D8CAB2194FE5}"/>
              </a:ext>
            </a:extLst>
          </p:cNvPr>
          <p:cNvSpPr>
            <a:spLocks noChangeArrowheads="1"/>
          </p:cNvSpPr>
          <p:nvPr/>
        </p:nvSpPr>
        <p:spPr bwMode="auto">
          <a:xfrm rot="16200000">
            <a:off x="8077955" y="-202340"/>
            <a:ext cx="1584900" cy="4863181"/>
          </a:xfrm>
          <a:prstGeom prst="leftArrow">
            <a:avLst>
              <a:gd name="adj1" fmla="val 78509"/>
              <a:gd name="adj2" fmla="val 30565"/>
            </a:avLst>
          </a:prstGeom>
          <a:solidFill>
            <a:srgbClr val="EE3228"/>
          </a:solidFill>
          <a:ln w="12700" cap="sq">
            <a:solidFill>
              <a:schemeClr val="tx1"/>
            </a:solidFill>
            <a:miter lim="800000"/>
            <a:headEnd/>
            <a:tailEnd/>
          </a:ln>
        </p:spPr>
        <p:txBody>
          <a:bodyPr vert="eaVert" wrap="square" anchor="ctr"/>
          <a:lstStyle>
            <a:lvl1pPr marL="2286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buFontTx/>
              <a:buChar char="•"/>
            </a:pPr>
            <a:r>
              <a:rPr lang="en-US" altLang="en-US" sz="1200" dirty="0">
                <a:latin typeface="Roboto" panose="02000000000000000000" pitchFamily="2" charset="0"/>
                <a:ea typeface="Roboto" panose="02000000000000000000" pitchFamily="2" charset="0"/>
                <a:cs typeface="Roboto" panose="02000000000000000000" pitchFamily="2" charset="0"/>
              </a:rPr>
              <a:t>Detailed graphical depiction of a manufacturing or business process</a:t>
            </a:r>
            <a:br>
              <a:rPr lang="en-US" altLang="en-US" sz="1200" dirty="0">
                <a:latin typeface="Roboto" panose="02000000000000000000" pitchFamily="2" charset="0"/>
                <a:ea typeface="Roboto" panose="02000000000000000000" pitchFamily="2" charset="0"/>
                <a:cs typeface="Roboto" panose="02000000000000000000" pitchFamily="2" charset="0"/>
              </a:rPr>
            </a:br>
            <a:endParaRPr lang="en-US" altLang="en-US" sz="1200" dirty="0">
              <a:latin typeface="Roboto" panose="02000000000000000000" pitchFamily="2" charset="0"/>
              <a:ea typeface="Roboto" panose="02000000000000000000" pitchFamily="2" charset="0"/>
              <a:cs typeface="Roboto" panose="02000000000000000000" pitchFamily="2" charset="0"/>
            </a:endParaRPr>
          </a:p>
          <a:p>
            <a:pPr algn="l">
              <a:buFontTx/>
              <a:buChar char="•"/>
            </a:pPr>
            <a:r>
              <a:rPr lang="en-US" altLang="en-US" sz="1200" dirty="0">
                <a:latin typeface="Roboto" panose="02000000000000000000" pitchFamily="2" charset="0"/>
                <a:ea typeface="Roboto" panose="02000000000000000000" pitchFamily="2" charset="0"/>
                <a:cs typeface="Roboto" panose="02000000000000000000" pitchFamily="2" charset="0"/>
              </a:rPr>
              <a:t>Used to identify specific improvements</a:t>
            </a:r>
            <a:br>
              <a:rPr lang="en-US" altLang="en-US" sz="1200" dirty="0">
                <a:latin typeface="Roboto" panose="02000000000000000000" pitchFamily="2" charset="0"/>
                <a:ea typeface="Roboto" panose="02000000000000000000" pitchFamily="2" charset="0"/>
                <a:cs typeface="Roboto" panose="02000000000000000000" pitchFamily="2" charset="0"/>
              </a:rPr>
            </a:br>
            <a:endParaRPr lang="en-US" altLang="en-US" sz="1200" dirty="0">
              <a:latin typeface="Roboto" panose="02000000000000000000" pitchFamily="2" charset="0"/>
              <a:ea typeface="Roboto" panose="02000000000000000000" pitchFamily="2" charset="0"/>
              <a:cs typeface="Roboto" panose="02000000000000000000" pitchFamily="2" charset="0"/>
            </a:endParaRPr>
          </a:p>
          <a:p>
            <a:pPr algn="l">
              <a:buFontTx/>
              <a:buChar char="•"/>
            </a:pPr>
            <a:r>
              <a:rPr lang="en-US" altLang="en-US" sz="1200" dirty="0">
                <a:latin typeface="Roboto" panose="02000000000000000000" pitchFamily="2" charset="0"/>
                <a:ea typeface="Roboto" panose="02000000000000000000" pitchFamily="2" charset="0"/>
                <a:cs typeface="Roboto" panose="02000000000000000000" pitchFamily="2" charset="0"/>
              </a:rPr>
              <a:t>Incorporates decision loops within the process </a:t>
            </a:r>
          </a:p>
        </p:txBody>
      </p:sp>
      <p:sp>
        <p:nvSpPr>
          <p:cNvPr id="202" name="TextBox 201">
            <a:extLst>
              <a:ext uri="{FF2B5EF4-FFF2-40B4-BE49-F238E27FC236}">
                <a16:creationId xmlns:a16="http://schemas.microsoft.com/office/drawing/2014/main" id="{CBB3CF5C-FDDC-6013-2004-BE55FCED8716}"/>
              </a:ext>
            </a:extLst>
          </p:cNvPr>
          <p:cNvSpPr txBox="1"/>
          <p:nvPr/>
        </p:nvSpPr>
        <p:spPr>
          <a:xfrm>
            <a:off x="1882707" y="1680334"/>
            <a:ext cx="2297127" cy="369332"/>
          </a:xfrm>
          <a:prstGeom prst="rect">
            <a:avLst/>
          </a:prstGeom>
          <a:noFill/>
        </p:spPr>
        <p:txBody>
          <a:bodyPr wrap="square" rtlCol="0">
            <a:spAutoFit/>
          </a:bodyPr>
          <a:lstStyle/>
          <a:p>
            <a:pPr algn="ctr"/>
            <a:r>
              <a:rPr lang="en-US" b="1" dirty="0">
                <a:latin typeface="Roboto" panose="02000000000000000000" pitchFamily="2" charset="0"/>
                <a:ea typeface="Roboto" panose="02000000000000000000" pitchFamily="2" charset="0"/>
                <a:cs typeface="Roboto" panose="02000000000000000000" pitchFamily="2" charset="0"/>
              </a:rPr>
              <a:t>Value Stream Map</a:t>
            </a:r>
          </a:p>
        </p:txBody>
      </p:sp>
      <p:sp>
        <p:nvSpPr>
          <p:cNvPr id="203" name="Slide Number Placeholder 2">
            <a:extLst>
              <a:ext uri="{FF2B5EF4-FFF2-40B4-BE49-F238E27FC236}">
                <a16:creationId xmlns:a16="http://schemas.microsoft.com/office/drawing/2014/main" id="{EF4A9DB6-D35C-21C3-AE9C-9CE7299F1607}"/>
              </a:ext>
            </a:extLst>
          </p:cNvPr>
          <p:cNvSpPr txBox="1">
            <a:spLocks/>
          </p:cNvSpPr>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6</a:t>
            </a:fld>
            <a:endParaRPr lang="en-US" dirty="0"/>
          </a:p>
        </p:txBody>
      </p:sp>
    </p:spTree>
    <p:extLst>
      <p:ext uri="{BB962C8B-B14F-4D97-AF65-F5344CB8AC3E}">
        <p14:creationId xmlns:p14="http://schemas.microsoft.com/office/powerpoint/2010/main" val="10903850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When to Use Value Stream Mapping</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a:xfrm>
            <a:off x="938213" y="2693989"/>
            <a:ext cx="5157787" cy="823912"/>
          </a:xfrm>
        </p:spPr>
        <p:txBody>
          <a:bodyPr/>
          <a:lstStyle/>
          <a:p>
            <a:r>
              <a:rPr lang="en-US" dirty="0"/>
              <a:t>Benefits</a:t>
            </a:r>
          </a:p>
        </p:txBody>
      </p:sp>
      <p:sp>
        <p:nvSpPr>
          <p:cNvPr id="4" name="Content Placeholder 3">
            <a:extLst>
              <a:ext uri="{FF2B5EF4-FFF2-40B4-BE49-F238E27FC236}">
                <a16:creationId xmlns:a16="http://schemas.microsoft.com/office/drawing/2014/main" id="{2E3BC3A4-C860-76B2-2DD3-B03AB882C853}"/>
              </a:ext>
            </a:extLst>
          </p:cNvPr>
          <p:cNvSpPr>
            <a:spLocks noGrp="1"/>
          </p:cNvSpPr>
          <p:nvPr>
            <p:ph sz="half" idx="2"/>
          </p:nvPr>
        </p:nvSpPr>
        <p:spPr>
          <a:xfrm>
            <a:off x="938213" y="3517901"/>
            <a:ext cx="5157787" cy="2671762"/>
          </a:xfrm>
        </p:spPr>
        <p:txBody>
          <a:bodyPr>
            <a:normAutofit fontScale="85000" lnSpcReduction="20000"/>
          </a:bodyPr>
          <a:lstStyle/>
          <a:p>
            <a:r>
              <a:rPr lang="en-US" dirty="0"/>
              <a:t>Focuses limited resources</a:t>
            </a:r>
          </a:p>
          <a:p>
            <a:r>
              <a:rPr lang="en-US" dirty="0"/>
              <a:t>Establishes timeline for expected performance improvements </a:t>
            </a:r>
          </a:p>
          <a:p>
            <a:r>
              <a:rPr lang="en-US" dirty="0"/>
              <a:t>Avoids creating islands of success in a sea of waste</a:t>
            </a:r>
          </a:p>
          <a:p>
            <a:r>
              <a:rPr lang="en-US" dirty="0"/>
              <a:t>Allows everyone gain a common understanding of the current state and the future vision </a:t>
            </a:r>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a:xfrm>
            <a:off x="6270625" y="2693989"/>
            <a:ext cx="5183188" cy="823912"/>
          </a:xfrm>
        </p:spPr>
        <p:txBody>
          <a:bodyPr/>
          <a:lstStyle/>
          <a:p>
            <a:r>
              <a:rPr lang="en-US" dirty="0"/>
              <a:t>When to Use</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a:xfrm>
            <a:off x="6270625" y="3517901"/>
            <a:ext cx="5183188" cy="2671762"/>
          </a:xfrm>
        </p:spPr>
        <p:txBody>
          <a:bodyPr>
            <a:normAutofit fontScale="85000" lnSpcReduction="20000"/>
          </a:bodyPr>
          <a:lstStyle/>
          <a:p>
            <a:r>
              <a:rPr lang="en-US" dirty="0"/>
              <a:t>To provide direction for getting started on the Lean journey</a:t>
            </a:r>
          </a:p>
          <a:p>
            <a:r>
              <a:rPr lang="en-US" dirty="0"/>
              <a:t>To execute improvements driven by Strategy Deployment and Key Business Imperatives</a:t>
            </a:r>
          </a:p>
          <a:p>
            <a:r>
              <a:rPr lang="en-US" dirty="0"/>
              <a:t>To gain true cross-functional understanding the end-to-end process</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a:t>
            </a:fld>
            <a:endParaRPr lang="en-US"/>
          </a:p>
        </p:txBody>
      </p:sp>
      <p:sp>
        <p:nvSpPr>
          <p:cNvPr id="7" name="Content Placeholder 3">
            <a:extLst>
              <a:ext uri="{FF2B5EF4-FFF2-40B4-BE49-F238E27FC236}">
                <a16:creationId xmlns:a16="http://schemas.microsoft.com/office/drawing/2014/main" id="{6B8384C8-AD68-7822-2E68-7B142C102E35}"/>
              </a:ext>
            </a:extLst>
          </p:cNvPr>
          <p:cNvSpPr txBox="1">
            <a:spLocks/>
          </p:cNvSpPr>
          <p:nvPr/>
        </p:nvSpPr>
        <p:spPr>
          <a:xfrm>
            <a:off x="1112838" y="1875791"/>
            <a:ext cx="10140949" cy="1022351"/>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To effectively use of the Value Stream Mapping Tool and Method to clearly </a:t>
            </a:r>
            <a:br>
              <a:rPr lang="en-US" dirty="0"/>
            </a:br>
            <a:r>
              <a:rPr lang="en-US" dirty="0"/>
              <a:t>identify waste in key end-to-end manufacturing and business processes,</a:t>
            </a:r>
            <a:br>
              <a:rPr lang="en-US" dirty="0"/>
            </a:br>
            <a:r>
              <a:rPr lang="en-US" dirty="0"/>
              <a:t>and create an executable transformation plan</a:t>
            </a:r>
          </a:p>
        </p:txBody>
      </p:sp>
    </p:spTree>
    <p:extLst>
      <p:ext uri="{BB962C8B-B14F-4D97-AF65-F5344CB8AC3E}">
        <p14:creationId xmlns:p14="http://schemas.microsoft.com/office/powerpoint/2010/main" val="6274854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8C8DCBD4-A1B0-96D8-ACFB-55C6AEDEDD76}"/>
              </a:ext>
            </a:extLst>
          </p:cNvPr>
          <p:cNvSpPr>
            <a:spLocks noGrp="1"/>
          </p:cNvSpPr>
          <p:nvPr>
            <p:ph type="title"/>
          </p:nvPr>
        </p:nvSpPr>
        <p:spPr/>
        <p:txBody>
          <a:bodyPr>
            <a:normAutofit fontScale="90000"/>
          </a:bodyPr>
          <a:lstStyle/>
          <a:p>
            <a:r>
              <a:rPr lang="en-US" dirty="0"/>
              <a:t>Value Stream Mapping Linkage to Strategy</a:t>
            </a:r>
          </a:p>
        </p:txBody>
      </p:sp>
      <p:sp>
        <p:nvSpPr>
          <p:cNvPr id="3" name="Rectangle 4">
            <a:extLst>
              <a:ext uri="{FF2B5EF4-FFF2-40B4-BE49-F238E27FC236}">
                <a16:creationId xmlns:a16="http://schemas.microsoft.com/office/drawing/2014/main" id="{18E12515-2421-8E86-8221-0C78C06585E8}"/>
              </a:ext>
            </a:extLst>
          </p:cNvPr>
          <p:cNvSpPr>
            <a:spLocks noChangeArrowheads="1"/>
          </p:cNvSpPr>
          <p:nvPr/>
        </p:nvSpPr>
        <p:spPr bwMode="auto">
          <a:xfrm>
            <a:off x="3734024" y="2691572"/>
            <a:ext cx="2686050" cy="2208213"/>
          </a:xfrm>
          <a:prstGeom prst="rect">
            <a:avLst/>
          </a:prstGeom>
          <a:solidFill>
            <a:schemeClr val="accent3"/>
          </a:solidFill>
          <a:ln w="6350">
            <a:solidFill>
              <a:schemeClr val="tx1"/>
            </a:solidFill>
            <a:miter lim="800000"/>
            <a:headEnd/>
            <a:tailEnd/>
          </a:ln>
          <a:effectLst/>
        </p:spPr>
        <p:txBody>
          <a:bodyPr wrap="none" lIns="45720" rIns="45720" anchor="ctr"/>
          <a:lstStyle/>
          <a:p>
            <a:pPr algn="ctr">
              <a:spcBef>
                <a:spcPct val="30000"/>
              </a:spcBef>
              <a:defRPr/>
            </a:pPr>
            <a:r>
              <a:rPr lang="en-GB" sz="2400" dirty="0">
                <a:solidFill>
                  <a:schemeClr val="bg1"/>
                </a:solidFill>
                <a:latin typeface="Roboto" panose="02000000000000000000" pitchFamily="2" charset="0"/>
                <a:ea typeface="Roboto" panose="02000000000000000000" pitchFamily="2" charset="0"/>
                <a:cs typeface="Roboto" panose="02000000000000000000" pitchFamily="2" charset="0"/>
              </a:rPr>
              <a:t>Identify</a:t>
            </a:r>
          </a:p>
          <a:p>
            <a:pPr algn="ctr">
              <a:spcBef>
                <a:spcPct val="30000"/>
              </a:spcBef>
              <a:defRPr/>
            </a:pPr>
            <a:r>
              <a:rPr lang="en-GB" sz="2400" dirty="0">
                <a:solidFill>
                  <a:schemeClr val="bg1"/>
                </a:solidFill>
                <a:latin typeface="Roboto" panose="02000000000000000000" pitchFamily="2" charset="0"/>
                <a:ea typeface="Roboto" panose="02000000000000000000" pitchFamily="2" charset="0"/>
                <a:cs typeface="Roboto" panose="02000000000000000000" pitchFamily="2" charset="0"/>
              </a:rPr>
              <a:t>and Map</a:t>
            </a:r>
          </a:p>
          <a:p>
            <a:pPr algn="ctr">
              <a:spcBef>
                <a:spcPct val="30000"/>
              </a:spcBef>
              <a:defRPr/>
            </a:pPr>
            <a:r>
              <a:rPr lang="en-GB" sz="2400" dirty="0">
                <a:solidFill>
                  <a:schemeClr val="bg1"/>
                </a:solidFill>
                <a:latin typeface="Roboto" panose="02000000000000000000" pitchFamily="2" charset="0"/>
                <a:ea typeface="Roboto" panose="02000000000000000000" pitchFamily="2" charset="0"/>
                <a:cs typeface="Roboto" panose="02000000000000000000" pitchFamily="2" charset="0"/>
              </a:rPr>
              <a:t>Value Streams</a:t>
            </a:r>
          </a:p>
          <a:p>
            <a:pPr algn="ctr">
              <a:spcBef>
                <a:spcPct val="30000"/>
              </a:spcBef>
              <a:buClr>
                <a:schemeClr val="folHlink"/>
              </a:buClr>
              <a:defRPr/>
            </a:pPr>
            <a:endParaRPr lang="en-GB" sz="24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 name="Text Box 7">
            <a:extLst>
              <a:ext uri="{FF2B5EF4-FFF2-40B4-BE49-F238E27FC236}">
                <a16:creationId xmlns:a16="http://schemas.microsoft.com/office/drawing/2014/main" id="{A1A3B453-24EA-C4B7-28B7-7996BE7DA346}"/>
              </a:ext>
            </a:extLst>
          </p:cNvPr>
          <p:cNvSpPr txBox="1">
            <a:spLocks noChangeArrowheads="1"/>
          </p:cNvSpPr>
          <p:nvPr/>
        </p:nvSpPr>
        <p:spPr bwMode="auto">
          <a:xfrm>
            <a:off x="5976209" y="5883275"/>
            <a:ext cx="1128712"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50000"/>
              </a:spcBef>
            </a:pPr>
            <a:r>
              <a:rPr lang="en-GB" altLang="en-US" sz="1800" dirty="0">
                <a:solidFill>
                  <a:schemeClr val="tx1"/>
                </a:solidFill>
                <a:latin typeface="Roboto" panose="02000000000000000000" pitchFamily="2" charset="0"/>
                <a:ea typeface="Roboto" panose="02000000000000000000" pitchFamily="2" charset="0"/>
                <a:cs typeface="Roboto" panose="02000000000000000000" pitchFamily="2" charset="0"/>
              </a:rPr>
              <a:t>WASTE</a:t>
            </a:r>
          </a:p>
        </p:txBody>
      </p:sp>
      <p:sp>
        <p:nvSpPr>
          <p:cNvPr id="6" name="Rectangle 9">
            <a:extLst>
              <a:ext uri="{FF2B5EF4-FFF2-40B4-BE49-F238E27FC236}">
                <a16:creationId xmlns:a16="http://schemas.microsoft.com/office/drawing/2014/main" id="{7B445EAC-6313-F8C6-9084-407B07BF1460}"/>
              </a:ext>
            </a:extLst>
          </p:cNvPr>
          <p:cNvSpPr>
            <a:spLocks noChangeArrowheads="1"/>
          </p:cNvSpPr>
          <p:nvPr/>
        </p:nvSpPr>
        <p:spPr bwMode="auto">
          <a:xfrm>
            <a:off x="1182624" y="4193347"/>
            <a:ext cx="2437100" cy="1983616"/>
          </a:xfrm>
          <a:prstGeom prst="rect">
            <a:avLst/>
          </a:prstGeom>
          <a:solidFill>
            <a:schemeClr val="accent5"/>
          </a:solidFill>
          <a:ln w="6350">
            <a:solidFill>
              <a:schemeClr val="bg2"/>
            </a:solidFill>
            <a:miter lim="800000"/>
            <a:headEnd/>
            <a:tailEnd/>
          </a:ln>
          <a:effectLst/>
        </p:spPr>
        <p:txBody>
          <a:bodyPr wrap="none" lIns="45720" rIns="45720" anchor="ctr"/>
          <a:lstStyle>
            <a:lvl1pPr marL="101600" indent="-101600">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ctr">
              <a:buClr>
                <a:schemeClr val="folHlink"/>
              </a:buClr>
              <a:defRPr/>
            </a:pPr>
            <a:r>
              <a:rPr lang="en-US" altLang="en-US" sz="1800" dirty="0">
                <a:latin typeface="Roboto" panose="02000000000000000000" pitchFamily="2" charset="0"/>
                <a:ea typeface="Roboto" panose="02000000000000000000" pitchFamily="2" charset="0"/>
                <a:cs typeface="Roboto" panose="02000000000000000000" pitchFamily="2" charset="0"/>
              </a:rPr>
              <a:t>Identify strategic</a:t>
            </a:r>
          </a:p>
          <a:p>
            <a:pPr algn="ctr">
              <a:buClr>
                <a:schemeClr val="folHlink"/>
              </a:buClr>
              <a:defRPr/>
            </a:pPr>
            <a:r>
              <a:rPr lang="en-US" altLang="en-US" sz="1800" dirty="0">
                <a:latin typeface="Roboto" panose="02000000000000000000" pitchFamily="2" charset="0"/>
                <a:ea typeface="Roboto" panose="02000000000000000000" pitchFamily="2" charset="0"/>
                <a:cs typeface="Roboto" panose="02000000000000000000" pitchFamily="2" charset="0"/>
              </a:rPr>
              <a:t>objectives and major</a:t>
            </a:r>
            <a:br>
              <a:rPr lang="en-US" altLang="en-US" sz="1800" dirty="0">
                <a:latin typeface="Roboto" panose="02000000000000000000" pitchFamily="2" charset="0"/>
                <a:ea typeface="Roboto" panose="02000000000000000000" pitchFamily="2" charset="0"/>
                <a:cs typeface="Roboto" panose="02000000000000000000" pitchFamily="2" charset="0"/>
              </a:rPr>
            </a:br>
            <a:r>
              <a:rPr lang="en-US" altLang="en-US" sz="1800" dirty="0">
                <a:latin typeface="Roboto" panose="02000000000000000000" pitchFamily="2" charset="0"/>
                <a:ea typeface="Roboto" panose="02000000000000000000" pitchFamily="2" charset="0"/>
                <a:cs typeface="Roboto" panose="02000000000000000000" pitchFamily="2" charset="0"/>
              </a:rPr>
              <a:t>business improvement</a:t>
            </a:r>
            <a:br>
              <a:rPr lang="en-US" altLang="en-US" sz="1800" dirty="0">
                <a:latin typeface="Roboto" panose="02000000000000000000" pitchFamily="2" charset="0"/>
                <a:ea typeface="Roboto" panose="02000000000000000000" pitchFamily="2" charset="0"/>
                <a:cs typeface="Roboto" panose="02000000000000000000" pitchFamily="2" charset="0"/>
              </a:rPr>
            </a:br>
            <a:r>
              <a:rPr lang="en-US" altLang="en-US" sz="1800" dirty="0">
                <a:latin typeface="Roboto" panose="02000000000000000000" pitchFamily="2" charset="0"/>
                <a:ea typeface="Roboto" panose="02000000000000000000" pitchFamily="2" charset="0"/>
                <a:cs typeface="Roboto" panose="02000000000000000000" pitchFamily="2" charset="0"/>
              </a:rPr>
              <a:t>opportunities</a:t>
            </a:r>
          </a:p>
        </p:txBody>
      </p:sp>
      <p:sp>
        <p:nvSpPr>
          <p:cNvPr id="8" name="Oval 2">
            <a:extLst>
              <a:ext uri="{FF2B5EF4-FFF2-40B4-BE49-F238E27FC236}">
                <a16:creationId xmlns:a16="http://schemas.microsoft.com/office/drawing/2014/main" id="{763B7E0D-3862-4172-2209-41AA85728EE8}"/>
              </a:ext>
            </a:extLst>
          </p:cNvPr>
          <p:cNvSpPr>
            <a:spLocks noChangeArrowheads="1"/>
          </p:cNvSpPr>
          <p:nvPr/>
        </p:nvSpPr>
        <p:spPr bwMode="auto">
          <a:xfrm>
            <a:off x="1290718" y="1893060"/>
            <a:ext cx="2220912" cy="2189162"/>
          </a:xfrm>
          <a:prstGeom prst="ellipse">
            <a:avLst/>
          </a:prstGeom>
          <a:solidFill>
            <a:schemeClr val="accent5"/>
          </a:solidFill>
          <a:ln w="6350">
            <a:solidFill>
              <a:schemeClr val="bg2"/>
            </a:solidFill>
            <a:round/>
            <a:headEnd/>
            <a:tailEnd/>
          </a:ln>
          <a:effectLst/>
        </p:spPr>
        <p:txBody>
          <a:bodyPr wrap="none" lIns="45720" rIns="45720" anchor="ctr"/>
          <a:lstStyle/>
          <a:p>
            <a:pPr marL="101600" indent="-101600" algn="ctr">
              <a:spcBef>
                <a:spcPct val="30000"/>
              </a:spcBef>
              <a:buClr>
                <a:schemeClr val="folHlink"/>
              </a:buClr>
              <a:defRPr/>
            </a:pPr>
            <a:r>
              <a:rPr lang="en-GB" sz="2400" dirty="0">
                <a:solidFill>
                  <a:schemeClr val="bg1"/>
                </a:solidFill>
                <a:latin typeface="Roboto" panose="02000000000000000000" pitchFamily="2" charset="0"/>
                <a:ea typeface="Roboto" panose="02000000000000000000" pitchFamily="2" charset="0"/>
                <a:cs typeface="Roboto" panose="02000000000000000000" pitchFamily="2" charset="0"/>
              </a:rPr>
              <a:t>Key</a:t>
            </a:r>
          </a:p>
          <a:p>
            <a:pPr marL="101600" indent="-101600" algn="ctr">
              <a:spcBef>
                <a:spcPct val="30000"/>
              </a:spcBef>
              <a:buClr>
                <a:schemeClr val="folHlink"/>
              </a:buClr>
              <a:defRPr/>
            </a:pPr>
            <a:r>
              <a:rPr lang="en-GB" sz="2400" dirty="0">
                <a:solidFill>
                  <a:schemeClr val="bg1"/>
                </a:solidFill>
                <a:latin typeface="Roboto" panose="02000000000000000000" pitchFamily="2" charset="0"/>
                <a:ea typeface="Roboto" panose="02000000000000000000" pitchFamily="2" charset="0"/>
                <a:cs typeface="Roboto" panose="02000000000000000000" pitchFamily="2" charset="0"/>
              </a:rPr>
              <a:t>Business</a:t>
            </a:r>
          </a:p>
          <a:p>
            <a:pPr marL="101600" indent="-101600" algn="ctr">
              <a:spcBef>
                <a:spcPct val="30000"/>
              </a:spcBef>
              <a:buClr>
                <a:schemeClr val="folHlink"/>
              </a:buClr>
              <a:defRPr/>
            </a:pPr>
            <a:r>
              <a:rPr lang="en-GB" sz="2400" dirty="0">
                <a:solidFill>
                  <a:schemeClr val="bg1"/>
                </a:solidFill>
                <a:latin typeface="Roboto" panose="02000000000000000000" pitchFamily="2" charset="0"/>
                <a:ea typeface="Roboto" panose="02000000000000000000" pitchFamily="2" charset="0"/>
                <a:cs typeface="Roboto" panose="02000000000000000000" pitchFamily="2" charset="0"/>
              </a:rPr>
              <a:t>Imperatives</a:t>
            </a:r>
            <a:endParaRPr lang="en-GB" sz="24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9" name="AutoShape 5">
            <a:extLst>
              <a:ext uri="{FF2B5EF4-FFF2-40B4-BE49-F238E27FC236}">
                <a16:creationId xmlns:a16="http://schemas.microsoft.com/office/drawing/2014/main" id="{5779DDA3-BB3E-6BC7-CC38-CBCD98B94324}"/>
              </a:ext>
            </a:extLst>
          </p:cNvPr>
          <p:cNvSpPr>
            <a:spLocks noChangeArrowheads="1"/>
          </p:cNvSpPr>
          <p:nvPr/>
        </p:nvSpPr>
        <p:spPr bwMode="auto">
          <a:xfrm>
            <a:off x="6434362" y="1539047"/>
            <a:ext cx="792162" cy="4276725"/>
          </a:xfrm>
          <a:prstGeom prst="cube">
            <a:avLst>
              <a:gd name="adj" fmla="val 78426"/>
            </a:avLst>
          </a:prstGeom>
          <a:solidFill>
            <a:schemeClr val="bg2"/>
          </a:solidFill>
          <a:ln w="6350">
            <a:solidFill>
              <a:schemeClr val="tx1"/>
            </a:solidFill>
            <a:miter lim="800000"/>
            <a:headEnd/>
            <a:tailEnd/>
          </a:ln>
        </p:spPr>
        <p:txBody>
          <a:bodyPr wrap="none" lIns="45720" rIns="45720"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 name="Freeform 6">
            <a:extLst>
              <a:ext uri="{FF2B5EF4-FFF2-40B4-BE49-F238E27FC236}">
                <a16:creationId xmlns:a16="http://schemas.microsoft.com/office/drawing/2014/main" id="{83E3B08B-09D8-4DB5-39E3-8111CD8D06CA}"/>
              </a:ext>
            </a:extLst>
          </p:cNvPr>
          <p:cNvSpPr>
            <a:spLocks/>
          </p:cNvSpPr>
          <p:nvPr/>
        </p:nvSpPr>
        <p:spPr bwMode="auto">
          <a:xfrm>
            <a:off x="6931249" y="1634297"/>
            <a:ext cx="3627023" cy="4327525"/>
          </a:xfrm>
          <a:custGeom>
            <a:avLst/>
            <a:gdLst>
              <a:gd name="T0" fmla="*/ 12865 w 1621"/>
              <a:gd name="T1" fmla="*/ 1061790 h 1777"/>
              <a:gd name="T2" fmla="*/ 1498718 w 1621"/>
              <a:gd name="T3" fmla="*/ 1061790 h 1777"/>
              <a:gd name="T4" fmla="*/ 1498718 w 1621"/>
              <a:gd name="T5" fmla="*/ 0 h 1777"/>
              <a:gd name="T6" fmla="*/ 2605067 w 1621"/>
              <a:gd name="T7" fmla="*/ 2172286 h 1777"/>
              <a:gd name="T8" fmla="*/ 1505150 w 1621"/>
              <a:gd name="T9" fmla="*/ 4325090 h 1777"/>
              <a:gd name="T10" fmla="*/ 1505150 w 1621"/>
              <a:gd name="T11" fmla="*/ 3273041 h 1777"/>
              <a:gd name="T12" fmla="*/ 6432 w 1621"/>
              <a:gd name="T13" fmla="*/ 3273041 h 1777"/>
              <a:gd name="T14" fmla="*/ 32161 w 1621"/>
              <a:gd name="T15" fmla="*/ 3107441 h 1777"/>
              <a:gd name="T16" fmla="*/ 0 w 1621"/>
              <a:gd name="T17" fmla="*/ 2932099 h 1777"/>
              <a:gd name="T18" fmla="*/ 64323 w 1621"/>
              <a:gd name="T19" fmla="*/ 2747016 h 1777"/>
              <a:gd name="T20" fmla="*/ 19297 w 1621"/>
              <a:gd name="T21" fmla="*/ 2630122 h 1777"/>
              <a:gd name="T22" fmla="*/ 51458 w 1621"/>
              <a:gd name="T23" fmla="*/ 2357369 h 1777"/>
              <a:gd name="T24" fmla="*/ 12865 w 1621"/>
              <a:gd name="T25" fmla="*/ 2220992 h 1777"/>
              <a:gd name="T26" fmla="*/ 45026 w 1621"/>
              <a:gd name="T27" fmla="*/ 2045651 h 1777"/>
              <a:gd name="T28" fmla="*/ 12865 w 1621"/>
              <a:gd name="T29" fmla="*/ 1850827 h 1777"/>
              <a:gd name="T30" fmla="*/ 51458 w 1621"/>
              <a:gd name="T31" fmla="*/ 1733932 h 1777"/>
              <a:gd name="T32" fmla="*/ 12865 w 1621"/>
              <a:gd name="T33" fmla="*/ 1568332 h 1777"/>
              <a:gd name="T34" fmla="*/ 45026 w 1621"/>
              <a:gd name="T35" fmla="*/ 1246873 h 1777"/>
              <a:gd name="T36" fmla="*/ 12865 w 1621"/>
              <a:gd name="T37" fmla="*/ 1168943 h 1777"/>
              <a:gd name="T38" fmla="*/ 12865 w 1621"/>
              <a:gd name="T39" fmla="*/ 1061790 h 17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621" h="1777">
                <a:moveTo>
                  <a:pt x="8" y="436"/>
                </a:moveTo>
                <a:lnTo>
                  <a:pt x="932" y="436"/>
                </a:lnTo>
                <a:lnTo>
                  <a:pt x="932" y="0"/>
                </a:lnTo>
                <a:lnTo>
                  <a:pt x="1620" y="892"/>
                </a:lnTo>
                <a:lnTo>
                  <a:pt x="936" y="1776"/>
                </a:lnTo>
                <a:lnTo>
                  <a:pt x="936" y="1344"/>
                </a:lnTo>
                <a:lnTo>
                  <a:pt x="4" y="1344"/>
                </a:lnTo>
                <a:lnTo>
                  <a:pt x="20" y="1276"/>
                </a:lnTo>
                <a:lnTo>
                  <a:pt x="0" y="1204"/>
                </a:lnTo>
                <a:lnTo>
                  <a:pt x="40" y="1128"/>
                </a:lnTo>
                <a:lnTo>
                  <a:pt x="12" y="1080"/>
                </a:lnTo>
                <a:lnTo>
                  <a:pt x="32" y="968"/>
                </a:lnTo>
                <a:lnTo>
                  <a:pt x="8" y="912"/>
                </a:lnTo>
                <a:lnTo>
                  <a:pt x="28" y="840"/>
                </a:lnTo>
                <a:lnTo>
                  <a:pt x="8" y="760"/>
                </a:lnTo>
                <a:lnTo>
                  <a:pt x="32" y="712"/>
                </a:lnTo>
                <a:lnTo>
                  <a:pt x="8" y="644"/>
                </a:lnTo>
                <a:lnTo>
                  <a:pt x="28" y="512"/>
                </a:lnTo>
                <a:lnTo>
                  <a:pt x="8" y="480"/>
                </a:lnTo>
                <a:lnTo>
                  <a:pt x="8" y="436"/>
                </a:lnTo>
              </a:path>
            </a:pathLst>
          </a:custGeom>
          <a:solidFill>
            <a:schemeClr val="accent3"/>
          </a:solidFill>
          <a:ln w="6350" cap="rnd" cmpd="sng">
            <a:solidFill>
              <a:schemeClr val="tx1"/>
            </a:solidFill>
            <a:prstDash val="solid"/>
            <a:round/>
            <a:headEnd type="none" w="med" len="med"/>
            <a:tailEnd type="none" w="med" len="med"/>
          </a:ln>
          <a:effectLst/>
        </p:spPr>
        <p:txBody>
          <a:bodyPr lIns="45720" rIns="45720" anchor="ctr"/>
          <a:lstStyle/>
          <a:p>
            <a:pPr algn="ctr">
              <a:spcBef>
                <a:spcPct val="20000"/>
              </a:spcBef>
              <a:defRPr/>
            </a:pPr>
            <a:r>
              <a:rPr lang="en-US" sz="2400" dirty="0">
                <a:solidFill>
                  <a:schemeClr val="bg1"/>
                </a:solidFill>
                <a:latin typeface="Roboto" panose="02000000000000000000" pitchFamily="2" charset="0"/>
                <a:ea typeface="Roboto" panose="02000000000000000000" pitchFamily="2" charset="0"/>
                <a:cs typeface="Roboto" panose="02000000000000000000" pitchFamily="2" charset="0"/>
              </a:rPr>
              <a:t>Make Improvements </a:t>
            </a:r>
            <a:br>
              <a:rPr lang="en-US" sz="24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sz="2400" dirty="0">
                <a:solidFill>
                  <a:schemeClr val="bg1"/>
                </a:solidFill>
                <a:latin typeface="Roboto" panose="02000000000000000000" pitchFamily="2" charset="0"/>
                <a:ea typeface="Roboto" panose="02000000000000000000" pitchFamily="2" charset="0"/>
                <a:cs typeface="Roboto" panose="02000000000000000000" pitchFamily="2" charset="0"/>
              </a:rPr>
              <a:t>that </a:t>
            </a:r>
            <a:br>
              <a:rPr lang="en-US" sz="24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sz="2400" dirty="0">
                <a:solidFill>
                  <a:schemeClr val="bg1"/>
                </a:solidFill>
                <a:latin typeface="Roboto" panose="02000000000000000000" pitchFamily="2" charset="0"/>
                <a:ea typeface="Roboto" panose="02000000000000000000" pitchFamily="2" charset="0"/>
                <a:cs typeface="Roboto" panose="02000000000000000000" pitchFamily="2" charset="0"/>
              </a:rPr>
              <a:t>Eliminate Waste:</a:t>
            </a:r>
          </a:p>
        </p:txBody>
      </p:sp>
      <p:sp>
        <p:nvSpPr>
          <p:cNvPr id="14" name="Slide Number Placeholder 2">
            <a:extLst>
              <a:ext uri="{FF2B5EF4-FFF2-40B4-BE49-F238E27FC236}">
                <a16:creationId xmlns:a16="http://schemas.microsoft.com/office/drawing/2014/main" id="{F6D55855-9E7A-126D-9527-49E25D0D888A}"/>
              </a:ext>
            </a:extLst>
          </p:cNvPr>
          <p:cNvSpPr txBox="1">
            <a:spLocks/>
          </p:cNvSpPr>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8</a:t>
            </a:fld>
            <a:endParaRPr lang="en-US"/>
          </a:p>
        </p:txBody>
      </p:sp>
    </p:spTree>
    <p:extLst>
      <p:ext uri="{BB962C8B-B14F-4D97-AF65-F5344CB8AC3E}">
        <p14:creationId xmlns:p14="http://schemas.microsoft.com/office/powerpoint/2010/main" val="2051673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BA158-ED47-6961-97F4-68EE874326C5}"/>
              </a:ext>
            </a:extLst>
          </p:cNvPr>
          <p:cNvSpPr>
            <a:spLocks noGrp="1"/>
          </p:cNvSpPr>
          <p:nvPr>
            <p:ph type="title"/>
          </p:nvPr>
        </p:nvSpPr>
        <p:spPr/>
        <p:txBody>
          <a:bodyPr>
            <a:normAutofit/>
          </a:bodyPr>
          <a:lstStyle/>
          <a:p>
            <a:r>
              <a:rPr lang="en-US" sz="3600" dirty="0"/>
              <a:t>Value Stream Mapping Roadmap to Success</a:t>
            </a:r>
          </a:p>
        </p:txBody>
      </p:sp>
      <p:sp>
        <p:nvSpPr>
          <p:cNvPr id="4" name="Rectangle 2">
            <a:extLst>
              <a:ext uri="{FF2B5EF4-FFF2-40B4-BE49-F238E27FC236}">
                <a16:creationId xmlns:a16="http://schemas.microsoft.com/office/drawing/2014/main" id="{44F98848-5B7A-394A-4D47-4A3109CD6A78}"/>
              </a:ext>
            </a:extLst>
          </p:cNvPr>
          <p:cNvSpPr>
            <a:spLocks noChangeArrowheads="1"/>
          </p:cNvSpPr>
          <p:nvPr/>
        </p:nvSpPr>
        <p:spPr bwMode="auto">
          <a:xfrm>
            <a:off x="3448622" y="1855661"/>
            <a:ext cx="6534150" cy="2776537"/>
          </a:xfrm>
          <a:prstGeom prst="rect">
            <a:avLst/>
          </a:prstGeom>
          <a:solidFill>
            <a:srgbClr val="7F7F7F"/>
          </a:solidFill>
          <a:ln w="12700" cap="sq">
            <a:solidFill>
              <a:srgbClr val="0033CC"/>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5" name="Text Box 31">
            <a:extLst>
              <a:ext uri="{FF2B5EF4-FFF2-40B4-BE49-F238E27FC236}">
                <a16:creationId xmlns:a16="http://schemas.microsoft.com/office/drawing/2014/main" id="{50D1BC17-2653-390F-277B-1082EF5A8A95}"/>
              </a:ext>
            </a:extLst>
          </p:cNvPr>
          <p:cNvSpPr txBox="1">
            <a:spLocks noChangeArrowheads="1"/>
          </p:cNvSpPr>
          <p:nvPr/>
        </p:nvSpPr>
        <p:spPr bwMode="auto">
          <a:xfrm>
            <a:off x="4834220" y="2005702"/>
            <a:ext cx="3802643" cy="338554"/>
          </a:xfrm>
          <a:prstGeom prst="rect">
            <a:avLst/>
          </a:prstGeom>
          <a:solidFill>
            <a:srgbClr val="7F7F7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600" b="0" dirty="0">
                <a:solidFill>
                  <a:schemeClr val="bg1">
                    <a:lumMod val="95000"/>
                  </a:schemeClr>
                </a:solidFill>
                <a:latin typeface="Roboto" panose="02000000000000000000" pitchFamily="2" charset="0"/>
                <a:ea typeface="Roboto" panose="02000000000000000000" pitchFamily="2" charset="0"/>
                <a:cs typeface="Roboto" panose="02000000000000000000" pitchFamily="2" charset="0"/>
              </a:rPr>
              <a:t>Repeat for each identified Value Stream</a:t>
            </a:r>
          </a:p>
        </p:txBody>
      </p:sp>
      <p:sp>
        <p:nvSpPr>
          <p:cNvPr id="6" name="Oval 21">
            <a:extLst>
              <a:ext uri="{FF2B5EF4-FFF2-40B4-BE49-F238E27FC236}">
                <a16:creationId xmlns:a16="http://schemas.microsoft.com/office/drawing/2014/main" id="{D95A922C-F956-0315-BF43-CD91F7BC9192}"/>
              </a:ext>
            </a:extLst>
          </p:cNvPr>
          <p:cNvSpPr>
            <a:spLocks noChangeArrowheads="1"/>
          </p:cNvSpPr>
          <p:nvPr/>
        </p:nvSpPr>
        <p:spPr bwMode="auto">
          <a:xfrm>
            <a:off x="8906447" y="3301873"/>
            <a:ext cx="976312" cy="1052513"/>
          </a:xfrm>
          <a:prstGeom prst="ellipse">
            <a:avLst/>
          </a:prstGeom>
          <a:solidFill>
            <a:schemeClr val="accent1"/>
          </a:solidFill>
          <a:ln w="6350">
            <a:solidFill>
              <a:schemeClr val="tx1"/>
            </a:solidFill>
            <a:round/>
            <a:headEnd/>
            <a:tailEnd/>
          </a:ln>
        </p:spPr>
        <p:txBody>
          <a:bodyPr wrap="none" lIns="45720" rIns="45720" anchor="ctr"/>
          <a:lstStyle>
            <a:lvl1pPr marL="101600" indent="-101600">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
                <a:schemeClr val="folHlink"/>
              </a:buClr>
              <a:buSzTx/>
              <a:buFontTx/>
              <a:buNone/>
            </a:pPr>
            <a:r>
              <a:rPr lang="en-GB" altLang="en-US" sz="1200" b="0" dirty="0">
                <a:solidFill>
                  <a:schemeClr val="bg1">
                    <a:lumMod val="95000"/>
                  </a:schemeClr>
                </a:solidFill>
                <a:latin typeface="Roboto" panose="02000000000000000000" pitchFamily="2" charset="0"/>
                <a:ea typeface="Roboto" panose="02000000000000000000" pitchFamily="2" charset="0"/>
                <a:cs typeface="Roboto" panose="02000000000000000000" pitchFamily="2" charset="0"/>
              </a:rPr>
              <a:t>Repeat</a:t>
            </a:r>
          </a:p>
          <a:p>
            <a:pPr algn="ctr">
              <a:lnSpc>
                <a:spcPct val="100000"/>
              </a:lnSpc>
              <a:spcBef>
                <a:spcPct val="30000"/>
              </a:spcBef>
              <a:spcAft>
                <a:spcPct val="0"/>
              </a:spcAft>
              <a:buClr>
                <a:schemeClr val="folHlink"/>
              </a:buClr>
              <a:buSzTx/>
              <a:buFontTx/>
              <a:buNone/>
            </a:pPr>
            <a:r>
              <a:rPr lang="en-GB" altLang="en-US" sz="1200" b="0" dirty="0">
                <a:solidFill>
                  <a:schemeClr val="bg1">
                    <a:lumMod val="95000"/>
                  </a:schemeClr>
                </a:solidFill>
                <a:latin typeface="Roboto" panose="02000000000000000000" pitchFamily="2" charset="0"/>
                <a:ea typeface="Roboto" panose="02000000000000000000" pitchFamily="2" charset="0"/>
                <a:cs typeface="Roboto" panose="02000000000000000000" pitchFamily="2" charset="0"/>
              </a:rPr>
              <a:t>Cycle</a:t>
            </a:r>
          </a:p>
        </p:txBody>
      </p:sp>
      <p:sp>
        <p:nvSpPr>
          <p:cNvPr id="7" name="Rectangle 33">
            <a:extLst>
              <a:ext uri="{FF2B5EF4-FFF2-40B4-BE49-F238E27FC236}">
                <a16:creationId xmlns:a16="http://schemas.microsoft.com/office/drawing/2014/main" id="{F6531B55-90FC-095C-5C0B-69FFD7604E76}"/>
              </a:ext>
            </a:extLst>
          </p:cNvPr>
          <p:cNvSpPr>
            <a:spLocks noChangeArrowheads="1"/>
          </p:cNvSpPr>
          <p:nvPr/>
        </p:nvSpPr>
        <p:spPr bwMode="auto">
          <a:xfrm>
            <a:off x="1756347" y="3293936"/>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b="0">
                <a:latin typeface="Roboto" panose="02000000000000000000" pitchFamily="2" charset="0"/>
                <a:ea typeface="Roboto" panose="02000000000000000000" pitchFamily="2" charset="0"/>
                <a:cs typeface="Roboto" panose="02000000000000000000" pitchFamily="2" charset="0"/>
              </a:rPr>
            </a:br>
            <a:r>
              <a:rPr lang="en-US" altLang="en-US" sz="1400" b="0">
                <a:latin typeface="Roboto" panose="02000000000000000000" pitchFamily="2" charset="0"/>
                <a:ea typeface="Roboto" panose="02000000000000000000" pitchFamily="2" charset="0"/>
                <a:cs typeface="Roboto" panose="02000000000000000000" pitchFamily="2" charset="0"/>
              </a:rPr>
              <a:t>Site Assessment</a:t>
            </a:r>
          </a:p>
        </p:txBody>
      </p:sp>
      <p:sp>
        <p:nvSpPr>
          <p:cNvPr id="8" name="Rectangle 34">
            <a:extLst>
              <a:ext uri="{FF2B5EF4-FFF2-40B4-BE49-F238E27FC236}">
                <a16:creationId xmlns:a16="http://schemas.microsoft.com/office/drawing/2014/main" id="{1FD3C569-3E69-6D25-FBED-4E7CE2725235}"/>
              </a:ext>
            </a:extLst>
          </p:cNvPr>
          <p:cNvSpPr>
            <a:spLocks noChangeArrowheads="1"/>
          </p:cNvSpPr>
          <p:nvPr/>
        </p:nvSpPr>
        <p:spPr bwMode="auto">
          <a:xfrm>
            <a:off x="1756347" y="3031998"/>
            <a:ext cx="1522412" cy="252413"/>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PROCESS STEP 1</a:t>
            </a:r>
          </a:p>
        </p:txBody>
      </p:sp>
      <p:sp>
        <p:nvSpPr>
          <p:cNvPr id="9" name="Rectangle 35">
            <a:extLst>
              <a:ext uri="{FF2B5EF4-FFF2-40B4-BE49-F238E27FC236}">
                <a16:creationId xmlns:a16="http://schemas.microsoft.com/office/drawing/2014/main" id="{16D8C825-98EB-03E0-7264-1A38DF32C1D4}"/>
              </a:ext>
            </a:extLst>
          </p:cNvPr>
          <p:cNvSpPr>
            <a:spLocks noChangeArrowheads="1"/>
          </p:cNvSpPr>
          <p:nvPr/>
        </p:nvSpPr>
        <p:spPr bwMode="auto">
          <a:xfrm>
            <a:off x="3551809" y="3289173"/>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b="0">
                <a:latin typeface="Roboto" panose="02000000000000000000" pitchFamily="2" charset="0"/>
                <a:ea typeface="Roboto" panose="02000000000000000000" pitchFamily="2" charset="0"/>
                <a:cs typeface="Roboto" panose="02000000000000000000" pitchFamily="2" charset="0"/>
              </a:rPr>
            </a:br>
            <a:r>
              <a:rPr lang="en-US" altLang="en-US" sz="1400" b="0">
                <a:latin typeface="Roboto" panose="02000000000000000000" pitchFamily="2" charset="0"/>
                <a:ea typeface="Roboto" panose="02000000000000000000" pitchFamily="2" charset="0"/>
                <a:cs typeface="Roboto" panose="02000000000000000000" pitchFamily="2" charset="0"/>
              </a:rPr>
              <a:t>VSM Event</a:t>
            </a:r>
            <a:br>
              <a:rPr lang="en-US" altLang="en-US" sz="1400" b="0">
                <a:latin typeface="Roboto" panose="02000000000000000000" pitchFamily="2" charset="0"/>
                <a:ea typeface="Roboto" panose="02000000000000000000" pitchFamily="2" charset="0"/>
                <a:cs typeface="Roboto" panose="02000000000000000000" pitchFamily="2" charset="0"/>
              </a:rPr>
            </a:br>
            <a:r>
              <a:rPr lang="en-US" altLang="en-US" sz="1400" b="0">
                <a:latin typeface="Roboto" panose="02000000000000000000" pitchFamily="2" charset="0"/>
                <a:ea typeface="Roboto" panose="02000000000000000000" pitchFamily="2" charset="0"/>
                <a:cs typeface="Roboto" panose="02000000000000000000" pitchFamily="2" charset="0"/>
              </a:rPr>
              <a:t>Preparation</a:t>
            </a:r>
          </a:p>
        </p:txBody>
      </p:sp>
      <p:sp>
        <p:nvSpPr>
          <p:cNvPr id="10" name="Rectangle 36">
            <a:extLst>
              <a:ext uri="{FF2B5EF4-FFF2-40B4-BE49-F238E27FC236}">
                <a16:creationId xmlns:a16="http://schemas.microsoft.com/office/drawing/2014/main" id="{98AAF313-46E4-7DA3-6959-760B9E8BB409}"/>
              </a:ext>
            </a:extLst>
          </p:cNvPr>
          <p:cNvSpPr>
            <a:spLocks noChangeArrowheads="1"/>
          </p:cNvSpPr>
          <p:nvPr/>
        </p:nvSpPr>
        <p:spPr bwMode="auto">
          <a:xfrm>
            <a:off x="3551809" y="3027236"/>
            <a:ext cx="1522413" cy="252412"/>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cs typeface="Roboto" panose="02000000000000000000" pitchFamily="2" charset="0"/>
              </a:rPr>
              <a:t>PROCESS STEP 2</a:t>
            </a:r>
          </a:p>
        </p:txBody>
      </p:sp>
      <p:sp>
        <p:nvSpPr>
          <p:cNvPr id="11" name="Rectangle 37">
            <a:extLst>
              <a:ext uri="{FF2B5EF4-FFF2-40B4-BE49-F238E27FC236}">
                <a16:creationId xmlns:a16="http://schemas.microsoft.com/office/drawing/2014/main" id="{473AEF0F-160E-6219-BB47-596C2E791582}"/>
              </a:ext>
            </a:extLst>
          </p:cNvPr>
          <p:cNvSpPr>
            <a:spLocks noChangeArrowheads="1"/>
          </p:cNvSpPr>
          <p:nvPr/>
        </p:nvSpPr>
        <p:spPr bwMode="auto">
          <a:xfrm>
            <a:off x="5366322" y="3289173"/>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b="0">
                <a:latin typeface="Roboto" panose="02000000000000000000" pitchFamily="2" charset="0"/>
                <a:ea typeface="Roboto" panose="02000000000000000000" pitchFamily="2" charset="0"/>
                <a:cs typeface="Roboto" panose="02000000000000000000" pitchFamily="2" charset="0"/>
              </a:rPr>
            </a:br>
            <a:r>
              <a:rPr lang="en-US" altLang="en-US" sz="1400" b="0">
                <a:latin typeface="Roboto" panose="02000000000000000000" pitchFamily="2" charset="0"/>
                <a:ea typeface="Roboto" panose="02000000000000000000" pitchFamily="2" charset="0"/>
                <a:cs typeface="Roboto" panose="02000000000000000000" pitchFamily="2" charset="0"/>
              </a:rPr>
              <a:t>Conduct</a:t>
            </a:r>
            <a:br>
              <a:rPr lang="en-US" altLang="en-US" sz="1400" b="0">
                <a:latin typeface="Roboto" panose="02000000000000000000" pitchFamily="2" charset="0"/>
                <a:ea typeface="Roboto" panose="02000000000000000000" pitchFamily="2" charset="0"/>
                <a:cs typeface="Roboto" panose="02000000000000000000" pitchFamily="2" charset="0"/>
              </a:rPr>
            </a:br>
            <a:r>
              <a:rPr lang="en-US" altLang="en-US" sz="1400" b="0">
                <a:latin typeface="Roboto" panose="02000000000000000000" pitchFamily="2" charset="0"/>
                <a:ea typeface="Roboto" panose="02000000000000000000" pitchFamily="2" charset="0"/>
                <a:cs typeface="Roboto" panose="02000000000000000000" pitchFamily="2" charset="0"/>
              </a:rPr>
              <a:t>VSM Event</a:t>
            </a:r>
          </a:p>
        </p:txBody>
      </p:sp>
      <p:sp>
        <p:nvSpPr>
          <p:cNvPr id="12" name="Rectangle 38">
            <a:extLst>
              <a:ext uri="{FF2B5EF4-FFF2-40B4-BE49-F238E27FC236}">
                <a16:creationId xmlns:a16="http://schemas.microsoft.com/office/drawing/2014/main" id="{CD8C55EB-7BCB-0612-3168-B9A68E38409E}"/>
              </a:ext>
            </a:extLst>
          </p:cNvPr>
          <p:cNvSpPr>
            <a:spLocks noChangeArrowheads="1"/>
          </p:cNvSpPr>
          <p:nvPr/>
        </p:nvSpPr>
        <p:spPr bwMode="auto">
          <a:xfrm>
            <a:off x="5366322" y="3027236"/>
            <a:ext cx="1522412" cy="252412"/>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cs typeface="Roboto" panose="02000000000000000000" pitchFamily="2" charset="0"/>
              </a:rPr>
              <a:t>PROCESS STEP 3</a:t>
            </a:r>
          </a:p>
        </p:txBody>
      </p:sp>
      <p:sp>
        <p:nvSpPr>
          <p:cNvPr id="13" name="Rectangle 39">
            <a:extLst>
              <a:ext uri="{FF2B5EF4-FFF2-40B4-BE49-F238E27FC236}">
                <a16:creationId xmlns:a16="http://schemas.microsoft.com/office/drawing/2014/main" id="{FB37C5C5-0871-66C4-7F14-A6630E8B49E4}"/>
              </a:ext>
            </a:extLst>
          </p:cNvPr>
          <p:cNvSpPr>
            <a:spLocks noChangeArrowheads="1"/>
          </p:cNvSpPr>
          <p:nvPr/>
        </p:nvSpPr>
        <p:spPr bwMode="auto">
          <a:xfrm>
            <a:off x="7180834" y="3289173"/>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b="0" dirty="0">
                <a:latin typeface="Roboto" panose="02000000000000000000" pitchFamily="2" charset="0"/>
                <a:ea typeface="Roboto" panose="02000000000000000000" pitchFamily="2" charset="0"/>
                <a:cs typeface="Roboto" panose="02000000000000000000" pitchFamily="2" charset="0"/>
              </a:rPr>
            </a:br>
            <a:r>
              <a:rPr lang="en-US" altLang="en-US" sz="1400" b="0" dirty="0">
                <a:latin typeface="Roboto" panose="02000000000000000000" pitchFamily="2" charset="0"/>
                <a:ea typeface="Roboto" panose="02000000000000000000" pitchFamily="2" charset="0"/>
                <a:cs typeface="Roboto" panose="02000000000000000000" pitchFamily="2" charset="0"/>
              </a:rPr>
              <a:t>Implement</a:t>
            </a:r>
            <a:br>
              <a:rPr lang="en-US" altLang="en-US" sz="1400" b="0" dirty="0">
                <a:latin typeface="Roboto" panose="02000000000000000000" pitchFamily="2" charset="0"/>
                <a:ea typeface="Roboto" panose="02000000000000000000" pitchFamily="2" charset="0"/>
                <a:cs typeface="Roboto" panose="02000000000000000000" pitchFamily="2" charset="0"/>
              </a:rPr>
            </a:br>
            <a:r>
              <a:rPr lang="en-US" altLang="en-US" sz="1400" b="0" dirty="0">
                <a:latin typeface="Roboto" panose="02000000000000000000" pitchFamily="2" charset="0"/>
                <a:ea typeface="Roboto" panose="02000000000000000000" pitchFamily="2" charset="0"/>
                <a:cs typeface="Roboto" panose="02000000000000000000" pitchFamily="2" charset="0"/>
              </a:rPr>
              <a:t>VS Plan</a:t>
            </a:r>
          </a:p>
        </p:txBody>
      </p:sp>
      <p:sp>
        <p:nvSpPr>
          <p:cNvPr id="14" name="Rectangle 40">
            <a:extLst>
              <a:ext uri="{FF2B5EF4-FFF2-40B4-BE49-F238E27FC236}">
                <a16:creationId xmlns:a16="http://schemas.microsoft.com/office/drawing/2014/main" id="{F3815DF7-1098-DF3D-BFE2-0C87170C61EC}"/>
              </a:ext>
            </a:extLst>
          </p:cNvPr>
          <p:cNvSpPr>
            <a:spLocks noChangeArrowheads="1"/>
          </p:cNvSpPr>
          <p:nvPr/>
        </p:nvSpPr>
        <p:spPr bwMode="auto">
          <a:xfrm>
            <a:off x="7180834" y="3027236"/>
            <a:ext cx="1522413" cy="252412"/>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cs typeface="Roboto" panose="02000000000000000000" pitchFamily="2" charset="0"/>
              </a:rPr>
              <a:t>PROCESS STEP 4</a:t>
            </a:r>
          </a:p>
        </p:txBody>
      </p:sp>
      <p:cxnSp>
        <p:nvCxnSpPr>
          <p:cNvPr id="15" name="AutoShape 41">
            <a:extLst>
              <a:ext uri="{FF2B5EF4-FFF2-40B4-BE49-F238E27FC236}">
                <a16:creationId xmlns:a16="http://schemas.microsoft.com/office/drawing/2014/main" id="{B0343BD5-E2F9-B6FC-7A62-EF84A418783A}"/>
              </a:ext>
            </a:extLst>
          </p:cNvPr>
          <p:cNvCxnSpPr>
            <a:cxnSpLocks noChangeShapeType="1"/>
            <a:stCxn id="7" idx="3"/>
            <a:endCxn id="9" idx="1"/>
          </p:cNvCxnSpPr>
          <p:nvPr/>
        </p:nvCxnSpPr>
        <p:spPr bwMode="auto">
          <a:xfrm flipV="1">
            <a:off x="3277172" y="3828923"/>
            <a:ext cx="274637" cy="4763"/>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 name="AutoShape 42">
            <a:extLst>
              <a:ext uri="{FF2B5EF4-FFF2-40B4-BE49-F238E27FC236}">
                <a16:creationId xmlns:a16="http://schemas.microsoft.com/office/drawing/2014/main" id="{0C17F2A3-5AE2-B98C-9C30-5202758E613B}"/>
              </a:ext>
            </a:extLst>
          </p:cNvPr>
          <p:cNvCxnSpPr>
            <a:cxnSpLocks noChangeShapeType="1"/>
            <a:stCxn id="9" idx="3"/>
            <a:endCxn id="11" idx="1"/>
          </p:cNvCxnSpPr>
          <p:nvPr/>
        </p:nvCxnSpPr>
        <p:spPr bwMode="auto">
          <a:xfrm>
            <a:off x="5072634" y="3828923"/>
            <a:ext cx="2936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7" name="AutoShape 43">
            <a:extLst>
              <a:ext uri="{FF2B5EF4-FFF2-40B4-BE49-F238E27FC236}">
                <a16:creationId xmlns:a16="http://schemas.microsoft.com/office/drawing/2014/main" id="{3034BB9A-0693-6A53-28A2-8FD62E4CB972}"/>
              </a:ext>
            </a:extLst>
          </p:cNvPr>
          <p:cNvCxnSpPr>
            <a:cxnSpLocks noChangeShapeType="1"/>
            <a:stCxn id="11" idx="3"/>
            <a:endCxn id="13" idx="1"/>
          </p:cNvCxnSpPr>
          <p:nvPr/>
        </p:nvCxnSpPr>
        <p:spPr bwMode="auto">
          <a:xfrm>
            <a:off x="6887147" y="3828923"/>
            <a:ext cx="293687"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 name="AutoShape 44">
            <a:extLst>
              <a:ext uri="{FF2B5EF4-FFF2-40B4-BE49-F238E27FC236}">
                <a16:creationId xmlns:a16="http://schemas.microsoft.com/office/drawing/2014/main" id="{90708395-2494-ADFF-C13C-1E9ABD61E9B9}"/>
              </a:ext>
            </a:extLst>
          </p:cNvPr>
          <p:cNvCxnSpPr>
            <a:cxnSpLocks noChangeShapeType="1"/>
            <a:stCxn id="13" idx="3"/>
            <a:endCxn id="6" idx="2"/>
          </p:cNvCxnSpPr>
          <p:nvPr/>
        </p:nvCxnSpPr>
        <p:spPr bwMode="auto">
          <a:xfrm>
            <a:off x="8701659" y="3828923"/>
            <a:ext cx="2047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 name="AutoShape 45">
            <a:extLst>
              <a:ext uri="{FF2B5EF4-FFF2-40B4-BE49-F238E27FC236}">
                <a16:creationId xmlns:a16="http://schemas.microsoft.com/office/drawing/2014/main" id="{01E743C4-A387-F484-CCD6-9DB3FAF4CCEA}"/>
              </a:ext>
            </a:extLst>
          </p:cNvPr>
          <p:cNvCxnSpPr>
            <a:cxnSpLocks noChangeShapeType="1"/>
            <a:stCxn id="6" idx="0"/>
            <a:endCxn id="10" idx="0"/>
          </p:cNvCxnSpPr>
          <p:nvPr/>
        </p:nvCxnSpPr>
        <p:spPr bwMode="auto">
          <a:xfrm rot="5400000" flipH="1">
            <a:off x="6717284" y="623761"/>
            <a:ext cx="274637" cy="5081588"/>
          </a:xfrm>
          <a:prstGeom prst="bentConnector3">
            <a:avLst>
              <a:gd name="adj1" fmla="val 261269"/>
            </a:avLst>
          </a:prstGeom>
          <a:noFill/>
          <a:ln w="381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0" name="Rectangle 57">
            <a:extLst>
              <a:ext uri="{FF2B5EF4-FFF2-40B4-BE49-F238E27FC236}">
                <a16:creationId xmlns:a16="http://schemas.microsoft.com/office/drawing/2014/main" id="{16AF8E3E-E277-9C1D-E023-A289A9C5AC98}"/>
              </a:ext>
            </a:extLst>
          </p:cNvPr>
          <p:cNvSpPr>
            <a:spLocks noChangeArrowheads="1"/>
          </p:cNvSpPr>
          <p:nvPr/>
        </p:nvSpPr>
        <p:spPr bwMode="auto">
          <a:xfrm>
            <a:off x="1657922" y="4609973"/>
            <a:ext cx="167481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ct val="50000"/>
              </a:spcBef>
              <a:spcAft>
                <a:spcPct val="50000"/>
              </a:spcAft>
              <a:buClr>
                <a:srgbClr val="006699"/>
              </a:buClr>
              <a:buSzPct val="40000"/>
              <a:buFont typeface="Wingdings" pitchFamily="2" charset="2"/>
              <a:buChar char="n"/>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accent1"/>
              </a:buClr>
              <a:buSzPct val="90000"/>
              <a:buFont typeface="Wingdings" pitchFamily="2" charset="2"/>
              <a:buChar char="§"/>
            </a:pPr>
            <a:r>
              <a:rPr lang="en-US" altLang="en-US" sz="1200" b="0" dirty="0">
                <a:latin typeface="Roboto" panose="02000000000000000000" pitchFamily="2" charset="0"/>
                <a:ea typeface="Roboto" panose="02000000000000000000" pitchFamily="2" charset="0"/>
                <a:cs typeface="Roboto" panose="02000000000000000000" pitchFamily="2" charset="0"/>
              </a:rPr>
              <a:t>Complete Intro to Lean</a:t>
            </a:r>
          </a:p>
          <a:p>
            <a:pPr eaLnBrk="1" hangingPunct="1">
              <a:lnSpc>
                <a:spcPct val="100000"/>
              </a:lnSpc>
              <a:spcBef>
                <a:spcPct val="30000"/>
              </a:spcBef>
              <a:spcAft>
                <a:spcPct val="0"/>
              </a:spcAft>
              <a:buClr>
                <a:schemeClr val="accent1"/>
              </a:buClr>
              <a:buSzPct val="90000"/>
              <a:buFont typeface="Wingdings" pitchFamily="2" charset="2"/>
              <a:buChar char="§"/>
            </a:pPr>
            <a:r>
              <a:rPr lang="en-US" altLang="en-US" sz="1200" b="0" dirty="0">
                <a:latin typeface="Roboto" panose="02000000000000000000" pitchFamily="2" charset="0"/>
                <a:ea typeface="Roboto" panose="02000000000000000000" pitchFamily="2" charset="0"/>
                <a:cs typeface="Roboto" panose="02000000000000000000" pitchFamily="2" charset="0"/>
              </a:rPr>
              <a:t>Identify Strategic Value Streams and Product Families</a:t>
            </a:r>
          </a:p>
          <a:p>
            <a:pPr eaLnBrk="1" hangingPunct="1">
              <a:lnSpc>
                <a:spcPct val="100000"/>
              </a:lnSpc>
              <a:spcBef>
                <a:spcPct val="30000"/>
              </a:spcBef>
              <a:spcAft>
                <a:spcPct val="0"/>
              </a:spcAft>
              <a:buClr>
                <a:schemeClr val="accent1"/>
              </a:buClr>
              <a:buSzPct val="90000"/>
              <a:buFont typeface="Wingdings" pitchFamily="2" charset="2"/>
              <a:buChar char="§"/>
            </a:pPr>
            <a:r>
              <a:rPr lang="en-US" altLang="en-US" sz="1200" b="0" dirty="0">
                <a:latin typeface="Roboto" panose="02000000000000000000" pitchFamily="2" charset="0"/>
                <a:ea typeface="Roboto" panose="02000000000000000000" pitchFamily="2" charset="0"/>
                <a:cs typeface="Roboto" panose="02000000000000000000" pitchFamily="2" charset="0"/>
              </a:rPr>
              <a:t>Plan VSM Events</a:t>
            </a:r>
          </a:p>
        </p:txBody>
      </p:sp>
      <p:sp>
        <p:nvSpPr>
          <p:cNvPr id="21" name="Rectangle 58">
            <a:extLst>
              <a:ext uri="{FF2B5EF4-FFF2-40B4-BE49-F238E27FC236}">
                <a16:creationId xmlns:a16="http://schemas.microsoft.com/office/drawing/2014/main" id="{3351945C-FE3C-1E08-11C1-05E004B59A74}"/>
              </a:ext>
            </a:extLst>
          </p:cNvPr>
          <p:cNvSpPr>
            <a:spLocks noChangeArrowheads="1"/>
          </p:cNvSpPr>
          <p:nvPr/>
        </p:nvSpPr>
        <p:spPr bwMode="auto">
          <a:xfrm>
            <a:off x="3486722" y="4609973"/>
            <a:ext cx="183991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ct val="50000"/>
              </a:spcBef>
              <a:spcAft>
                <a:spcPct val="50000"/>
              </a:spcAft>
              <a:buClr>
                <a:srgbClr val="006699"/>
              </a:buClr>
              <a:buSzPct val="40000"/>
              <a:buFont typeface="Wingdings" pitchFamily="2" charset="2"/>
              <a:buChar char="n"/>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accent1"/>
              </a:buClr>
              <a:buSzPct val="90000"/>
              <a:buFont typeface="Wingdings" pitchFamily="2" charset="2"/>
              <a:buChar char="§"/>
            </a:pPr>
            <a:r>
              <a:rPr lang="en-US" altLang="en-US" sz="1200" b="0">
                <a:latin typeface="Roboto" panose="02000000000000000000" pitchFamily="2" charset="0"/>
                <a:ea typeface="Roboto" panose="02000000000000000000" pitchFamily="2" charset="0"/>
                <a:cs typeface="Roboto" panose="02000000000000000000" pitchFamily="2" charset="0"/>
              </a:rPr>
              <a:t>Complete Intro to Lean</a:t>
            </a:r>
          </a:p>
          <a:p>
            <a:pPr eaLnBrk="1" hangingPunct="1">
              <a:lnSpc>
                <a:spcPct val="100000"/>
              </a:lnSpc>
              <a:spcBef>
                <a:spcPct val="30000"/>
              </a:spcBef>
              <a:spcAft>
                <a:spcPct val="0"/>
              </a:spcAft>
              <a:buClr>
                <a:schemeClr val="accent1"/>
              </a:buClr>
              <a:buSzPct val="90000"/>
              <a:buFont typeface="Wingdings" pitchFamily="2" charset="2"/>
              <a:buChar char="§"/>
            </a:pPr>
            <a:r>
              <a:rPr lang="en-US" altLang="en-US" sz="1200" b="0">
                <a:latin typeface="Roboto" panose="02000000000000000000" pitchFamily="2" charset="0"/>
                <a:ea typeface="Roboto" panose="02000000000000000000" pitchFamily="2" charset="0"/>
                <a:cs typeface="Roboto" panose="02000000000000000000" pitchFamily="2" charset="0"/>
              </a:rPr>
              <a:t>Select Value Stream and Product Family</a:t>
            </a:r>
          </a:p>
          <a:p>
            <a:pPr eaLnBrk="1" hangingPunct="1">
              <a:lnSpc>
                <a:spcPct val="100000"/>
              </a:lnSpc>
              <a:spcBef>
                <a:spcPct val="30000"/>
              </a:spcBef>
              <a:spcAft>
                <a:spcPct val="0"/>
              </a:spcAft>
              <a:buClr>
                <a:schemeClr val="accent1"/>
              </a:buClr>
              <a:buSzPct val="90000"/>
              <a:buFont typeface="Wingdings" pitchFamily="2" charset="2"/>
              <a:buChar char="§"/>
            </a:pPr>
            <a:r>
              <a:rPr lang="en-US" altLang="en-US" sz="1200" b="0">
                <a:latin typeface="Roboto" panose="02000000000000000000" pitchFamily="2" charset="0"/>
                <a:ea typeface="Roboto" panose="02000000000000000000" pitchFamily="2" charset="0"/>
                <a:cs typeface="Roboto" panose="02000000000000000000" pitchFamily="2" charset="0"/>
              </a:rPr>
              <a:t>Confirm VSM Team</a:t>
            </a:r>
          </a:p>
          <a:p>
            <a:pPr eaLnBrk="1" hangingPunct="1">
              <a:lnSpc>
                <a:spcPct val="100000"/>
              </a:lnSpc>
              <a:spcBef>
                <a:spcPct val="30000"/>
              </a:spcBef>
              <a:spcAft>
                <a:spcPct val="0"/>
              </a:spcAft>
              <a:buClr>
                <a:schemeClr val="accent1"/>
              </a:buClr>
              <a:buSzPct val="90000"/>
              <a:buFont typeface="Wingdings" pitchFamily="2" charset="2"/>
              <a:buChar char="§"/>
            </a:pPr>
            <a:r>
              <a:rPr lang="en-US" altLang="en-US" sz="1200" b="0">
                <a:latin typeface="Roboto" panose="02000000000000000000" pitchFamily="2" charset="0"/>
                <a:ea typeface="Roboto" panose="02000000000000000000" pitchFamily="2" charset="0"/>
                <a:cs typeface="Roboto" panose="02000000000000000000" pitchFamily="2" charset="0"/>
              </a:rPr>
              <a:t>Plan logistics for VSM Event</a:t>
            </a:r>
          </a:p>
        </p:txBody>
      </p:sp>
      <p:sp>
        <p:nvSpPr>
          <p:cNvPr id="22" name="Rectangle 60">
            <a:extLst>
              <a:ext uri="{FF2B5EF4-FFF2-40B4-BE49-F238E27FC236}">
                <a16:creationId xmlns:a16="http://schemas.microsoft.com/office/drawing/2014/main" id="{6AF1AFD6-96F4-0BAA-8C25-E394F690EC09}"/>
              </a:ext>
            </a:extLst>
          </p:cNvPr>
          <p:cNvSpPr>
            <a:spLocks noChangeArrowheads="1"/>
          </p:cNvSpPr>
          <p:nvPr/>
        </p:nvSpPr>
        <p:spPr bwMode="auto">
          <a:xfrm>
            <a:off x="5252022" y="4609973"/>
            <a:ext cx="183991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ct val="50000"/>
              </a:spcBef>
              <a:spcAft>
                <a:spcPct val="50000"/>
              </a:spcAft>
              <a:buClr>
                <a:srgbClr val="006699"/>
              </a:buClr>
              <a:buSzPct val="40000"/>
              <a:buFont typeface="Wingdings" pitchFamily="2" charset="2"/>
              <a:buChar char="n"/>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accent1"/>
              </a:buClr>
              <a:buSzPct val="90000"/>
              <a:buFont typeface="Wingdings" pitchFamily="2" charset="2"/>
              <a:buChar char="§"/>
            </a:pPr>
            <a:r>
              <a:rPr lang="en-US" altLang="en-US" sz="1200" b="0">
                <a:latin typeface="Roboto" panose="02000000000000000000" pitchFamily="2" charset="0"/>
                <a:ea typeface="Roboto" panose="02000000000000000000" pitchFamily="2" charset="0"/>
                <a:cs typeface="Roboto" panose="02000000000000000000" pitchFamily="2" charset="0"/>
              </a:rPr>
              <a:t>Current State VSM</a:t>
            </a:r>
          </a:p>
          <a:p>
            <a:pPr eaLnBrk="1" hangingPunct="1">
              <a:lnSpc>
                <a:spcPct val="100000"/>
              </a:lnSpc>
              <a:spcBef>
                <a:spcPct val="30000"/>
              </a:spcBef>
              <a:spcAft>
                <a:spcPct val="0"/>
              </a:spcAft>
              <a:buClr>
                <a:schemeClr val="accent1"/>
              </a:buClr>
              <a:buSzPct val="90000"/>
              <a:buFont typeface="Wingdings" pitchFamily="2" charset="2"/>
              <a:buChar char="§"/>
            </a:pPr>
            <a:r>
              <a:rPr lang="en-US" altLang="en-US" sz="1200" b="0">
                <a:latin typeface="Roboto" panose="02000000000000000000" pitchFamily="2" charset="0"/>
                <a:ea typeface="Roboto" panose="02000000000000000000" pitchFamily="2" charset="0"/>
                <a:cs typeface="Roboto" panose="02000000000000000000" pitchFamily="2" charset="0"/>
              </a:rPr>
              <a:t>Future State VSM</a:t>
            </a:r>
          </a:p>
          <a:p>
            <a:pPr eaLnBrk="1" hangingPunct="1">
              <a:lnSpc>
                <a:spcPct val="100000"/>
              </a:lnSpc>
              <a:spcBef>
                <a:spcPct val="30000"/>
              </a:spcBef>
              <a:spcAft>
                <a:spcPct val="0"/>
              </a:spcAft>
              <a:buClr>
                <a:schemeClr val="accent1"/>
              </a:buClr>
              <a:buSzPct val="90000"/>
              <a:buFont typeface="Wingdings" pitchFamily="2" charset="2"/>
              <a:buChar char="§"/>
            </a:pPr>
            <a:r>
              <a:rPr lang="en-US" altLang="en-US" sz="1200" b="0">
                <a:latin typeface="Roboto" panose="02000000000000000000" pitchFamily="2" charset="0"/>
                <a:ea typeface="Roboto" panose="02000000000000000000" pitchFamily="2" charset="0"/>
                <a:cs typeface="Roboto" panose="02000000000000000000" pitchFamily="2" charset="0"/>
              </a:rPr>
              <a:t>Value stream Plan complete</a:t>
            </a:r>
          </a:p>
          <a:p>
            <a:pPr eaLnBrk="1" hangingPunct="1">
              <a:lnSpc>
                <a:spcPct val="100000"/>
              </a:lnSpc>
              <a:spcBef>
                <a:spcPct val="30000"/>
              </a:spcBef>
              <a:spcAft>
                <a:spcPct val="0"/>
              </a:spcAft>
              <a:buClr>
                <a:schemeClr val="accent1"/>
              </a:buClr>
              <a:buSzPct val="90000"/>
              <a:buFont typeface="Wingdings" pitchFamily="2" charset="2"/>
              <a:buChar char="§"/>
            </a:pPr>
            <a:r>
              <a:rPr lang="en-US" altLang="en-US" sz="1200" b="0">
                <a:latin typeface="Roboto" panose="02000000000000000000" pitchFamily="2" charset="0"/>
                <a:ea typeface="Roboto" panose="02000000000000000000" pitchFamily="2" charset="0"/>
                <a:cs typeface="Roboto" panose="02000000000000000000" pitchFamily="2" charset="0"/>
              </a:rPr>
              <a:t>Site Plan updated</a:t>
            </a:r>
          </a:p>
        </p:txBody>
      </p:sp>
      <p:sp>
        <p:nvSpPr>
          <p:cNvPr id="23" name="Rectangle 62">
            <a:extLst>
              <a:ext uri="{FF2B5EF4-FFF2-40B4-BE49-F238E27FC236}">
                <a16:creationId xmlns:a16="http://schemas.microsoft.com/office/drawing/2014/main" id="{3A30A23C-977C-2DCA-A650-791431829200}"/>
              </a:ext>
            </a:extLst>
          </p:cNvPr>
          <p:cNvSpPr>
            <a:spLocks noChangeArrowheads="1"/>
          </p:cNvSpPr>
          <p:nvPr/>
        </p:nvSpPr>
        <p:spPr bwMode="auto">
          <a:xfrm>
            <a:off x="7093522" y="4609973"/>
            <a:ext cx="182721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ct val="50000"/>
              </a:spcBef>
              <a:spcAft>
                <a:spcPct val="50000"/>
              </a:spcAft>
              <a:buClr>
                <a:srgbClr val="006699"/>
              </a:buClr>
              <a:buSzPct val="40000"/>
              <a:buFont typeface="Wingdings" pitchFamily="2" charset="2"/>
              <a:buChar char="n"/>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accent1"/>
              </a:buClr>
              <a:buSzPct val="90000"/>
              <a:buFont typeface="Wingdings" pitchFamily="2" charset="2"/>
              <a:buChar char="§"/>
            </a:pPr>
            <a:r>
              <a:rPr lang="en-US" altLang="en-US" sz="1200" b="0" dirty="0">
                <a:latin typeface="Roboto" panose="02000000000000000000" pitchFamily="2" charset="0"/>
                <a:ea typeface="Roboto" panose="02000000000000000000" pitchFamily="2" charset="0"/>
                <a:cs typeface="Roboto" panose="02000000000000000000" pitchFamily="2" charset="0"/>
              </a:rPr>
              <a:t>Plan kaizen events that link to VS Plan</a:t>
            </a:r>
          </a:p>
          <a:p>
            <a:pPr eaLnBrk="1" hangingPunct="1">
              <a:lnSpc>
                <a:spcPct val="100000"/>
              </a:lnSpc>
              <a:spcBef>
                <a:spcPct val="30000"/>
              </a:spcBef>
              <a:spcAft>
                <a:spcPct val="0"/>
              </a:spcAft>
              <a:buClr>
                <a:schemeClr val="accent1"/>
              </a:buClr>
              <a:buSzPct val="90000"/>
              <a:buFont typeface="Wingdings" pitchFamily="2" charset="2"/>
              <a:buChar char="§"/>
            </a:pPr>
            <a:r>
              <a:rPr lang="en-US" altLang="en-US" sz="1200" b="0" dirty="0">
                <a:latin typeface="Roboto" panose="02000000000000000000" pitchFamily="2" charset="0"/>
                <a:ea typeface="Roboto" panose="02000000000000000000" pitchFamily="2" charset="0"/>
                <a:cs typeface="Roboto" panose="02000000000000000000" pitchFamily="2" charset="0"/>
              </a:rPr>
              <a:t>Train Kaizen Teams</a:t>
            </a:r>
          </a:p>
          <a:p>
            <a:pPr eaLnBrk="1" hangingPunct="1">
              <a:lnSpc>
                <a:spcPct val="100000"/>
              </a:lnSpc>
              <a:spcBef>
                <a:spcPct val="30000"/>
              </a:spcBef>
              <a:spcAft>
                <a:spcPct val="0"/>
              </a:spcAft>
              <a:buClr>
                <a:schemeClr val="accent1"/>
              </a:buClr>
              <a:buSzPct val="90000"/>
              <a:buFont typeface="Wingdings" pitchFamily="2" charset="2"/>
              <a:buChar char="§"/>
            </a:pPr>
            <a:r>
              <a:rPr lang="en-US" altLang="en-US" sz="1200" b="0" dirty="0">
                <a:latin typeface="Roboto" panose="02000000000000000000" pitchFamily="2" charset="0"/>
                <a:ea typeface="Roboto" panose="02000000000000000000" pitchFamily="2" charset="0"/>
                <a:cs typeface="Roboto" panose="02000000000000000000" pitchFamily="2" charset="0"/>
              </a:rPr>
              <a:t>Conduct kaizen events and measure results</a:t>
            </a:r>
          </a:p>
          <a:p>
            <a:pPr eaLnBrk="1" hangingPunct="1">
              <a:lnSpc>
                <a:spcPct val="100000"/>
              </a:lnSpc>
              <a:spcBef>
                <a:spcPct val="30000"/>
              </a:spcBef>
              <a:spcAft>
                <a:spcPct val="0"/>
              </a:spcAft>
              <a:buClr>
                <a:schemeClr val="accent1"/>
              </a:buClr>
              <a:buSzPct val="90000"/>
              <a:buFont typeface="Wingdings" pitchFamily="2" charset="2"/>
              <a:buChar char="§"/>
            </a:pPr>
            <a:r>
              <a:rPr lang="en-US" altLang="en-US" sz="1200" b="0" dirty="0">
                <a:latin typeface="Roboto" panose="02000000000000000000" pitchFamily="2" charset="0"/>
                <a:ea typeface="Roboto" panose="02000000000000000000" pitchFamily="2" charset="0"/>
                <a:cs typeface="Roboto" panose="02000000000000000000" pitchFamily="2" charset="0"/>
              </a:rPr>
              <a:t>Manage VS Plan to completion</a:t>
            </a:r>
          </a:p>
        </p:txBody>
      </p:sp>
      <p:sp>
        <p:nvSpPr>
          <p:cNvPr id="24" name="Slide Number Placeholder 2">
            <a:extLst>
              <a:ext uri="{FF2B5EF4-FFF2-40B4-BE49-F238E27FC236}">
                <a16:creationId xmlns:a16="http://schemas.microsoft.com/office/drawing/2014/main" id="{E7E79D41-BB9D-801E-ACB3-4449F38A7812}"/>
              </a:ext>
            </a:extLst>
          </p:cNvPr>
          <p:cNvSpPr txBox="1">
            <a:spLocks/>
          </p:cNvSpPr>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9</a:t>
            </a:fld>
            <a:endParaRPr lang="en-US"/>
          </a:p>
        </p:txBody>
      </p:sp>
    </p:spTree>
    <p:extLst>
      <p:ext uri="{BB962C8B-B14F-4D97-AF65-F5344CB8AC3E}">
        <p14:creationId xmlns:p14="http://schemas.microsoft.com/office/powerpoint/2010/main" val="21209924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1A7AA-191E-B3F8-D23D-A1F2C587DDAE}"/>
              </a:ext>
            </a:extLst>
          </p:cNvPr>
          <p:cNvSpPr>
            <a:spLocks noGrp="1"/>
          </p:cNvSpPr>
          <p:nvPr>
            <p:ph type="title"/>
          </p:nvPr>
        </p:nvSpPr>
        <p:spPr/>
        <p:txBody>
          <a:bodyPr/>
          <a:lstStyle/>
          <a:p>
            <a:r>
              <a:rPr lang="en-US" dirty="0"/>
              <a:t>Value Stream Mapping Process</a:t>
            </a:r>
          </a:p>
        </p:txBody>
      </p:sp>
      <p:grpSp>
        <p:nvGrpSpPr>
          <p:cNvPr id="20" name="Group 2">
            <a:extLst>
              <a:ext uri="{FF2B5EF4-FFF2-40B4-BE49-F238E27FC236}">
                <a16:creationId xmlns:a16="http://schemas.microsoft.com/office/drawing/2014/main" id="{EBABB2CD-0D66-A789-6CFA-AF71ADF35159}"/>
              </a:ext>
            </a:extLst>
          </p:cNvPr>
          <p:cNvGrpSpPr>
            <a:grpSpLocks/>
          </p:cNvGrpSpPr>
          <p:nvPr/>
        </p:nvGrpSpPr>
        <p:grpSpPr bwMode="auto">
          <a:xfrm>
            <a:off x="3302318" y="1782509"/>
            <a:ext cx="6534150" cy="2776537"/>
            <a:chOff x="1389" y="1410"/>
            <a:chExt cx="4116" cy="1795"/>
          </a:xfrm>
        </p:grpSpPr>
        <p:sp>
          <p:nvSpPr>
            <p:cNvPr id="21" name="Rectangle 3">
              <a:extLst>
                <a:ext uri="{FF2B5EF4-FFF2-40B4-BE49-F238E27FC236}">
                  <a16:creationId xmlns:a16="http://schemas.microsoft.com/office/drawing/2014/main" id="{DFD96AC8-805C-D43B-57A6-33FFA0B429C7}"/>
                </a:ext>
              </a:extLst>
            </p:cNvPr>
            <p:cNvSpPr>
              <a:spLocks noChangeArrowheads="1"/>
            </p:cNvSpPr>
            <p:nvPr/>
          </p:nvSpPr>
          <p:spPr bwMode="auto">
            <a:xfrm>
              <a:off x="1389" y="1410"/>
              <a:ext cx="4116" cy="1795"/>
            </a:xfrm>
            <a:prstGeom prst="rect">
              <a:avLst/>
            </a:prstGeom>
            <a:solidFill>
              <a:srgbClr val="7F7F7F"/>
            </a:solidFill>
            <a:ln w="12700" cap="sq">
              <a:solidFill>
                <a:srgbClr val="0033CC"/>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b="0">
                <a:solidFill>
                  <a:schemeClr val="bg1"/>
                </a:solidFill>
                <a:latin typeface="Roboto Medium" panose="02000000000000000000" pitchFamily="2" charset="0"/>
                <a:ea typeface="Roboto Medium" panose="02000000000000000000" pitchFamily="2" charset="0"/>
                <a:cs typeface="Roboto Medium" panose="02000000000000000000" pitchFamily="2" charset="0"/>
              </a:endParaRPr>
            </a:p>
          </p:txBody>
        </p:sp>
        <p:sp>
          <p:nvSpPr>
            <p:cNvPr id="22" name="Text Box 4">
              <a:extLst>
                <a:ext uri="{FF2B5EF4-FFF2-40B4-BE49-F238E27FC236}">
                  <a16:creationId xmlns:a16="http://schemas.microsoft.com/office/drawing/2014/main" id="{45324079-DF95-6092-1DAE-885D5204D940}"/>
                </a:ext>
              </a:extLst>
            </p:cNvPr>
            <p:cNvSpPr txBox="1">
              <a:spLocks noChangeArrowheads="1"/>
            </p:cNvSpPr>
            <p:nvPr/>
          </p:nvSpPr>
          <p:spPr bwMode="auto">
            <a:xfrm>
              <a:off x="2250" y="1507"/>
              <a:ext cx="2419" cy="219"/>
            </a:xfrm>
            <a:prstGeom prst="rect">
              <a:avLst/>
            </a:prstGeom>
            <a:no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600" b="0" dirty="0">
                  <a:solidFill>
                    <a:schemeClr val="bg1">
                      <a:lumMod val="95000"/>
                    </a:schemeClr>
                  </a:solidFill>
                  <a:latin typeface="Roboto Medium" panose="02000000000000000000" pitchFamily="2" charset="0"/>
                  <a:ea typeface="Roboto Medium" panose="02000000000000000000" pitchFamily="2" charset="0"/>
                  <a:cs typeface="Roboto Medium" panose="02000000000000000000" pitchFamily="2" charset="0"/>
                </a:rPr>
                <a:t>Repeat for each identified Value Stream</a:t>
              </a:r>
            </a:p>
          </p:txBody>
        </p:sp>
      </p:grpSp>
      <p:sp>
        <p:nvSpPr>
          <p:cNvPr id="23" name="Oval 6">
            <a:extLst>
              <a:ext uri="{FF2B5EF4-FFF2-40B4-BE49-F238E27FC236}">
                <a16:creationId xmlns:a16="http://schemas.microsoft.com/office/drawing/2014/main" id="{371CADE7-723F-8CD9-9CDC-36B26FCBDFF8}"/>
              </a:ext>
            </a:extLst>
          </p:cNvPr>
          <p:cNvSpPr>
            <a:spLocks noChangeArrowheads="1"/>
          </p:cNvSpPr>
          <p:nvPr/>
        </p:nvSpPr>
        <p:spPr bwMode="auto">
          <a:xfrm>
            <a:off x="8760143" y="3228721"/>
            <a:ext cx="976312" cy="1052513"/>
          </a:xfrm>
          <a:prstGeom prst="ellipse">
            <a:avLst/>
          </a:prstGeom>
          <a:solidFill>
            <a:schemeClr val="accent1"/>
          </a:solidFill>
          <a:ln w="6350">
            <a:solidFill>
              <a:schemeClr val="tx1"/>
            </a:solidFill>
            <a:round/>
            <a:headEnd/>
            <a:tailEnd/>
          </a:ln>
        </p:spPr>
        <p:txBody>
          <a:bodyPr wrap="none" lIns="45720" rIns="45720" anchor="ctr"/>
          <a:lstStyle>
            <a:lvl1pPr marL="101600" indent="-101600">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
                <a:schemeClr val="folHlink"/>
              </a:buClr>
              <a:buSzTx/>
              <a:buFontTx/>
              <a:buNone/>
            </a:pPr>
            <a:r>
              <a:rPr lang="en-GB" altLang="en-US" sz="1200" b="0" dirty="0">
                <a:solidFill>
                  <a:schemeClr val="bg1">
                    <a:lumMod val="95000"/>
                  </a:schemeClr>
                </a:solidFill>
                <a:latin typeface="Roboto Medium" panose="02000000000000000000" pitchFamily="2" charset="0"/>
                <a:ea typeface="Roboto Medium" panose="02000000000000000000" pitchFamily="2" charset="0"/>
                <a:cs typeface="Roboto Medium" panose="02000000000000000000" pitchFamily="2" charset="0"/>
              </a:rPr>
              <a:t>Repeat</a:t>
            </a:r>
          </a:p>
          <a:p>
            <a:pPr algn="ctr">
              <a:lnSpc>
                <a:spcPct val="100000"/>
              </a:lnSpc>
              <a:spcBef>
                <a:spcPct val="30000"/>
              </a:spcBef>
              <a:spcAft>
                <a:spcPct val="0"/>
              </a:spcAft>
              <a:buClr>
                <a:schemeClr val="folHlink"/>
              </a:buClr>
              <a:buSzTx/>
              <a:buFontTx/>
              <a:buNone/>
            </a:pPr>
            <a:r>
              <a:rPr lang="en-GB" altLang="en-US" sz="1200" b="0" dirty="0">
                <a:solidFill>
                  <a:schemeClr val="bg1">
                    <a:lumMod val="95000"/>
                  </a:schemeClr>
                </a:solidFill>
                <a:latin typeface="Roboto Medium" panose="02000000000000000000" pitchFamily="2" charset="0"/>
                <a:ea typeface="Roboto Medium" panose="02000000000000000000" pitchFamily="2" charset="0"/>
                <a:cs typeface="Roboto Medium" panose="02000000000000000000" pitchFamily="2" charset="0"/>
              </a:rPr>
              <a:t>Cycle</a:t>
            </a:r>
          </a:p>
        </p:txBody>
      </p:sp>
      <p:sp>
        <p:nvSpPr>
          <p:cNvPr id="24" name="Rectangle 8">
            <a:extLst>
              <a:ext uri="{FF2B5EF4-FFF2-40B4-BE49-F238E27FC236}">
                <a16:creationId xmlns:a16="http://schemas.microsoft.com/office/drawing/2014/main" id="{6FD23167-0EF1-43A3-AE75-E28E903E81D3}"/>
              </a:ext>
            </a:extLst>
          </p:cNvPr>
          <p:cNvSpPr>
            <a:spLocks noChangeArrowheads="1"/>
          </p:cNvSpPr>
          <p:nvPr/>
        </p:nvSpPr>
        <p:spPr bwMode="auto">
          <a:xfrm>
            <a:off x="1610043" y="3220784"/>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b="0">
                <a:latin typeface="Roboto Medium" panose="02000000000000000000" pitchFamily="2" charset="0"/>
                <a:ea typeface="Roboto Medium" panose="02000000000000000000" pitchFamily="2" charset="0"/>
                <a:cs typeface="Roboto Medium" panose="02000000000000000000" pitchFamily="2" charset="0"/>
              </a:rPr>
            </a:br>
            <a:r>
              <a:rPr lang="en-US" altLang="en-US" sz="1400" b="0">
                <a:latin typeface="Roboto Medium" panose="02000000000000000000" pitchFamily="2" charset="0"/>
                <a:ea typeface="Roboto Medium" panose="02000000000000000000" pitchFamily="2" charset="0"/>
                <a:cs typeface="Roboto Medium" panose="02000000000000000000" pitchFamily="2" charset="0"/>
              </a:rPr>
              <a:t>Site Assessment</a:t>
            </a:r>
          </a:p>
        </p:txBody>
      </p:sp>
      <p:sp>
        <p:nvSpPr>
          <p:cNvPr id="25" name="Rectangle 9">
            <a:extLst>
              <a:ext uri="{FF2B5EF4-FFF2-40B4-BE49-F238E27FC236}">
                <a16:creationId xmlns:a16="http://schemas.microsoft.com/office/drawing/2014/main" id="{F9A39AE5-6B6C-AAE6-03AB-38C99D1E7E27}"/>
              </a:ext>
            </a:extLst>
          </p:cNvPr>
          <p:cNvSpPr>
            <a:spLocks noChangeArrowheads="1"/>
          </p:cNvSpPr>
          <p:nvPr/>
        </p:nvSpPr>
        <p:spPr bwMode="auto">
          <a:xfrm>
            <a:off x="1610043" y="2958846"/>
            <a:ext cx="1522412" cy="252413"/>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b="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PROCESS STEP 1</a:t>
            </a:r>
          </a:p>
        </p:txBody>
      </p:sp>
      <p:sp>
        <p:nvSpPr>
          <p:cNvPr id="26" name="Rectangle 10">
            <a:extLst>
              <a:ext uri="{FF2B5EF4-FFF2-40B4-BE49-F238E27FC236}">
                <a16:creationId xmlns:a16="http://schemas.microsoft.com/office/drawing/2014/main" id="{DA0880C4-BB0E-5E96-CF97-1C97BB47B9E7}"/>
              </a:ext>
            </a:extLst>
          </p:cNvPr>
          <p:cNvSpPr>
            <a:spLocks noChangeArrowheads="1"/>
          </p:cNvSpPr>
          <p:nvPr/>
        </p:nvSpPr>
        <p:spPr bwMode="auto">
          <a:xfrm>
            <a:off x="3405505" y="3216021"/>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b="0">
                <a:latin typeface="Roboto Medium" panose="02000000000000000000" pitchFamily="2" charset="0"/>
                <a:ea typeface="Roboto Medium" panose="02000000000000000000" pitchFamily="2" charset="0"/>
                <a:cs typeface="Roboto Medium" panose="02000000000000000000" pitchFamily="2" charset="0"/>
              </a:rPr>
            </a:br>
            <a:r>
              <a:rPr lang="en-US" altLang="en-US" sz="1400" b="0">
                <a:latin typeface="Roboto Medium" panose="02000000000000000000" pitchFamily="2" charset="0"/>
                <a:ea typeface="Roboto Medium" panose="02000000000000000000" pitchFamily="2" charset="0"/>
                <a:cs typeface="Roboto Medium" panose="02000000000000000000" pitchFamily="2" charset="0"/>
              </a:rPr>
              <a:t>VSM Event</a:t>
            </a:r>
            <a:br>
              <a:rPr lang="en-US" altLang="en-US" sz="1400" b="0">
                <a:latin typeface="Roboto Medium" panose="02000000000000000000" pitchFamily="2" charset="0"/>
                <a:ea typeface="Roboto Medium" panose="02000000000000000000" pitchFamily="2" charset="0"/>
                <a:cs typeface="Roboto Medium" panose="02000000000000000000" pitchFamily="2" charset="0"/>
              </a:rPr>
            </a:br>
            <a:r>
              <a:rPr lang="en-US" altLang="en-US" sz="1400" b="0">
                <a:latin typeface="Roboto Medium" panose="02000000000000000000" pitchFamily="2" charset="0"/>
                <a:ea typeface="Roboto Medium" panose="02000000000000000000" pitchFamily="2" charset="0"/>
                <a:cs typeface="Roboto Medium" panose="02000000000000000000" pitchFamily="2" charset="0"/>
              </a:rPr>
              <a:t>Preparation</a:t>
            </a:r>
          </a:p>
        </p:txBody>
      </p:sp>
      <p:sp>
        <p:nvSpPr>
          <p:cNvPr id="27" name="Rectangle 11">
            <a:extLst>
              <a:ext uri="{FF2B5EF4-FFF2-40B4-BE49-F238E27FC236}">
                <a16:creationId xmlns:a16="http://schemas.microsoft.com/office/drawing/2014/main" id="{9005F5D8-F677-B5A9-E48D-A50A962EABD3}"/>
              </a:ext>
            </a:extLst>
          </p:cNvPr>
          <p:cNvSpPr>
            <a:spLocks noChangeArrowheads="1"/>
          </p:cNvSpPr>
          <p:nvPr/>
        </p:nvSpPr>
        <p:spPr bwMode="auto">
          <a:xfrm>
            <a:off x="3405505" y="2954084"/>
            <a:ext cx="1522413" cy="252412"/>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b="0">
                <a:solidFill>
                  <a:schemeClr val="bg1"/>
                </a:solidFill>
                <a:latin typeface="Roboto Medium" panose="02000000000000000000" pitchFamily="2" charset="0"/>
                <a:ea typeface="Roboto Medium" panose="02000000000000000000" pitchFamily="2" charset="0"/>
                <a:cs typeface="Roboto Medium" panose="02000000000000000000" pitchFamily="2" charset="0"/>
              </a:rPr>
              <a:t>PROCESS STEP 2</a:t>
            </a:r>
          </a:p>
        </p:txBody>
      </p:sp>
      <p:sp>
        <p:nvSpPr>
          <p:cNvPr id="28" name="Rectangle 12">
            <a:extLst>
              <a:ext uri="{FF2B5EF4-FFF2-40B4-BE49-F238E27FC236}">
                <a16:creationId xmlns:a16="http://schemas.microsoft.com/office/drawing/2014/main" id="{BAB2A3B5-C07A-BA05-C73B-2D957DBAD6CA}"/>
              </a:ext>
            </a:extLst>
          </p:cNvPr>
          <p:cNvSpPr>
            <a:spLocks noChangeArrowheads="1"/>
          </p:cNvSpPr>
          <p:nvPr/>
        </p:nvSpPr>
        <p:spPr bwMode="auto">
          <a:xfrm>
            <a:off x="5220018" y="3216021"/>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b="0">
                <a:latin typeface="Roboto Medium" panose="02000000000000000000" pitchFamily="2" charset="0"/>
                <a:ea typeface="Roboto Medium" panose="02000000000000000000" pitchFamily="2" charset="0"/>
                <a:cs typeface="Roboto Medium" panose="02000000000000000000" pitchFamily="2" charset="0"/>
              </a:rPr>
            </a:br>
            <a:r>
              <a:rPr lang="en-US" altLang="en-US" sz="1400" b="0">
                <a:latin typeface="Roboto Medium" panose="02000000000000000000" pitchFamily="2" charset="0"/>
                <a:ea typeface="Roboto Medium" panose="02000000000000000000" pitchFamily="2" charset="0"/>
                <a:cs typeface="Roboto Medium" panose="02000000000000000000" pitchFamily="2" charset="0"/>
              </a:rPr>
              <a:t>Conduct</a:t>
            </a:r>
            <a:br>
              <a:rPr lang="en-US" altLang="en-US" sz="1400" b="0">
                <a:latin typeface="Roboto Medium" panose="02000000000000000000" pitchFamily="2" charset="0"/>
                <a:ea typeface="Roboto Medium" panose="02000000000000000000" pitchFamily="2" charset="0"/>
                <a:cs typeface="Roboto Medium" panose="02000000000000000000" pitchFamily="2" charset="0"/>
              </a:rPr>
            </a:br>
            <a:r>
              <a:rPr lang="en-US" altLang="en-US" sz="1400" b="0">
                <a:latin typeface="Roboto Medium" panose="02000000000000000000" pitchFamily="2" charset="0"/>
                <a:ea typeface="Roboto Medium" panose="02000000000000000000" pitchFamily="2" charset="0"/>
                <a:cs typeface="Roboto Medium" panose="02000000000000000000" pitchFamily="2" charset="0"/>
              </a:rPr>
              <a:t>VSM Event</a:t>
            </a:r>
          </a:p>
        </p:txBody>
      </p:sp>
      <p:sp>
        <p:nvSpPr>
          <p:cNvPr id="29" name="Rectangle 13">
            <a:extLst>
              <a:ext uri="{FF2B5EF4-FFF2-40B4-BE49-F238E27FC236}">
                <a16:creationId xmlns:a16="http://schemas.microsoft.com/office/drawing/2014/main" id="{27AE00CF-8388-2148-563E-76A0C1AB4E98}"/>
              </a:ext>
            </a:extLst>
          </p:cNvPr>
          <p:cNvSpPr>
            <a:spLocks noChangeArrowheads="1"/>
          </p:cNvSpPr>
          <p:nvPr/>
        </p:nvSpPr>
        <p:spPr bwMode="auto">
          <a:xfrm>
            <a:off x="5220018" y="2954084"/>
            <a:ext cx="1522412" cy="252412"/>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b="0">
                <a:solidFill>
                  <a:schemeClr val="bg1"/>
                </a:solidFill>
                <a:latin typeface="Roboto Medium" panose="02000000000000000000" pitchFamily="2" charset="0"/>
                <a:ea typeface="Roboto Medium" panose="02000000000000000000" pitchFamily="2" charset="0"/>
                <a:cs typeface="Roboto Medium" panose="02000000000000000000" pitchFamily="2" charset="0"/>
              </a:rPr>
              <a:t>PROCESS STEP 3</a:t>
            </a:r>
          </a:p>
        </p:txBody>
      </p:sp>
      <p:sp>
        <p:nvSpPr>
          <p:cNvPr id="30" name="Rectangle 14">
            <a:extLst>
              <a:ext uri="{FF2B5EF4-FFF2-40B4-BE49-F238E27FC236}">
                <a16:creationId xmlns:a16="http://schemas.microsoft.com/office/drawing/2014/main" id="{B80724C0-5CAF-EAA5-952C-E46FAFF86AA0}"/>
              </a:ext>
            </a:extLst>
          </p:cNvPr>
          <p:cNvSpPr>
            <a:spLocks noChangeArrowheads="1"/>
          </p:cNvSpPr>
          <p:nvPr/>
        </p:nvSpPr>
        <p:spPr bwMode="auto">
          <a:xfrm>
            <a:off x="7034530" y="3216021"/>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b="0">
                <a:latin typeface="Roboto Medium" panose="02000000000000000000" pitchFamily="2" charset="0"/>
                <a:ea typeface="Roboto Medium" panose="02000000000000000000" pitchFamily="2" charset="0"/>
                <a:cs typeface="Roboto Medium" panose="02000000000000000000" pitchFamily="2" charset="0"/>
              </a:rPr>
            </a:br>
            <a:r>
              <a:rPr lang="en-US" altLang="en-US" sz="1400" b="0">
                <a:latin typeface="Roboto Medium" panose="02000000000000000000" pitchFamily="2" charset="0"/>
                <a:ea typeface="Roboto Medium" panose="02000000000000000000" pitchFamily="2" charset="0"/>
                <a:cs typeface="Roboto Medium" panose="02000000000000000000" pitchFamily="2" charset="0"/>
              </a:rPr>
              <a:t>Implement</a:t>
            </a:r>
            <a:br>
              <a:rPr lang="en-US" altLang="en-US" sz="1400" b="0">
                <a:latin typeface="Roboto Medium" panose="02000000000000000000" pitchFamily="2" charset="0"/>
                <a:ea typeface="Roboto Medium" panose="02000000000000000000" pitchFamily="2" charset="0"/>
                <a:cs typeface="Roboto Medium" panose="02000000000000000000" pitchFamily="2" charset="0"/>
              </a:rPr>
            </a:br>
            <a:r>
              <a:rPr lang="en-US" altLang="en-US" sz="1400" b="0">
                <a:latin typeface="Roboto Medium" panose="02000000000000000000" pitchFamily="2" charset="0"/>
                <a:ea typeface="Roboto Medium" panose="02000000000000000000" pitchFamily="2" charset="0"/>
                <a:cs typeface="Roboto Medium" panose="02000000000000000000" pitchFamily="2" charset="0"/>
              </a:rPr>
              <a:t>VS Plan</a:t>
            </a:r>
          </a:p>
        </p:txBody>
      </p:sp>
      <p:sp>
        <p:nvSpPr>
          <p:cNvPr id="31" name="Rectangle 15">
            <a:extLst>
              <a:ext uri="{FF2B5EF4-FFF2-40B4-BE49-F238E27FC236}">
                <a16:creationId xmlns:a16="http://schemas.microsoft.com/office/drawing/2014/main" id="{E88DEA62-0A6F-57CD-AA53-6332DD913859}"/>
              </a:ext>
            </a:extLst>
          </p:cNvPr>
          <p:cNvSpPr>
            <a:spLocks noChangeArrowheads="1"/>
          </p:cNvSpPr>
          <p:nvPr/>
        </p:nvSpPr>
        <p:spPr bwMode="auto">
          <a:xfrm>
            <a:off x="7034530" y="2954084"/>
            <a:ext cx="1522413" cy="252412"/>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b="0">
                <a:solidFill>
                  <a:schemeClr val="bg1"/>
                </a:solidFill>
                <a:latin typeface="Roboto Medium" panose="02000000000000000000" pitchFamily="2" charset="0"/>
                <a:ea typeface="Roboto Medium" panose="02000000000000000000" pitchFamily="2" charset="0"/>
                <a:cs typeface="Roboto Medium" panose="02000000000000000000" pitchFamily="2" charset="0"/>
              </a:rPr>
              <a:t>PROCESS STEP 4</a:t>
            </a:r>
          </a:p>
        </p:txBody>
      </p:sp>
      <p:cxnSp>
        <p:nvCxnSpPr>
          <p:cNvPr id="32" name="AutoShape 16">
            <a:extLst>
              <a:ext uri="{FF2B5EF4-FFF2-40B4-BE49-F238E27FC236}">
                <a16:creationId xmlns:a16="http://schemas.microsoft.com/office/drawing/2014/main" id="{E8F56AEC-76BE-1239-EBC5-2C82A9105A8D}"/>
              </a:ext>
            </a:extLst>
          </p:cNvPr>
          <p:cNvCxnSpPr>
            <a:cxnSpLocks noChangeShapeType="1"/>
            <a:stCxn id="24" idx="3"/>
            <a:endCxn id="26" idx="1"/>
          </p:cNvCxnSpPr>
          <p:nvPr/>
        </p:nvCxnSpPr>
        <p:spPr bwMode="auto">
          <a:xfrm flipV="1">
            <a:off x="3130868" y="3755771"/>
            <a:ext cx="274637" cy="4763"/>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3" name="AutoShape 17">
            <a:extLst>
              <a:ext uri="{FF2B5EF4-FFF2-40B4-BE49-F238E27FC236}">
                <a16:creationId xmlns:a16="http://schemas.microsoft.com/office/drawing/2014/main" id="{6D3810A5-5089-C202-1318-4B75AE54A521}"/>
              </a:ext>
            </a:extLst>
          </p:cNvPr>
          <p:cNvCxnSpPr>
            <a:cxnSpLocks noChangeShapeType="1"/>
            <a:stCxn id="26" idx="3"/>
            <a:endCxn id="28" idx="1"/>
          </p:cNvCxnSpPr>
          <p:nvPr/>
        </p:nvCxnSpPr>
        <p:spPr bwMode="auto">
          <a:xfrm>
            <a:off x="4926330" y="3755771"/>
            <a:ext cx="2936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4" name="AutoShape 18">
            <a:extLst>
              <a:ext uri="{FF2B5EF4-FFF2-40B4-BE49-F238E27FC236}">
                <a16:creationId xmlns:a16="http://schemas.microsoft.com/office/drawing/2014/main" id="{757B9DF9-1316-C33E-89D8-59647DF64CFD}"/>
              </a:ext>
            </a:extLst>
          </p:cNvPr>
          <p:cNvCxnSpPr>
            <a:cxnSpLocks noChangeShapeType="1"/>
            <a:stCxn id="28" idx="3"/>
            <a:endCxn id="30" idx="1"/>
          </p:cNvCxnSpPr>
          <p:nvPr/>
        </p:nvCxnSpPr>
        <p:spPr bwMode="auto">
          <a:xfrm>
            <a:off x="6740843" y="3755771"/>
            <a:ext cx="293687"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5" name="AutoShape 19">
            <a:extLst>
              <a:ext uri="{FF2B5EF4-FFF2-40B4-BE49-F238E27FC236}">
                <a16:creationId xmlns:a16="http://schemas.microsoft.com/office/drawing/2014/main" id="{58C13A99-1BF5-D0FD-FBE2-B85050E7FD71}"/>
              </a:ext>
            </a:extLst>
          </p:cNvPr>
          <p:cNvCxnSpPr>
            <a:cxnSpLocks noChangeShapeType="1"/>
            <a:stCxn id="30" idx="3"/>
            <a:endCxn id="23" idx="2"/>
          </p:cNvCxnSpPr>
          <p:nvPr/>
        </p:nvCxnSpPr>
        <p:spPr bwMode="auto">
          <a:xfrm>
            <a:off x="8555355" y="3755771"/>
            <a:ext cx="2047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6" name="AutoShape 20">
            <a:extLst>
              <a:ext uri="{FF2B5EF4-FFF2-40B4-BE49-F238E27FC236}">
                <a16:creationId xmlns:a16="http://schemas.microsoft.com/office/drawing/2014/main" id="{59BB6DBB-705A-CF2F-34FF-F511EC2C4E39}"/>
              </a:ext>
            </a:extLst>
          </p:cNvPr>
          <p:cNvCxnSpPr>
            <a:cxnSpLocks noChangeShapeType="1"/>
            <a:stCxn id="23" idx="0"/>
            <a:endCxn id="27" idx="0"/>
          </p:cNvCxnSpPr>
          <p:nvPr/>
        </p:nvCxnSpPr>
        <p:spPr bwMode="auto">
          <a:xfrm rot="5400000" flipH="1">
            <a:off x="6570980" y="550609"/>
            <a:ext cx="274637" cy="5081588"/>
          </a:xfrm>
          <a:prstGeom prst="bentConnector3">
            <a:avLst>
              <a:gd name="adj1" fmla="val 261269"/>
            </a:avLst>
          </a:prstGeom>
          <a:noFill/>
          <a:ln w="38100" cap="sq">
            <a:solidFill>
              <a:schemeClr val="tx1"/>
            </a:solidFill>
            <a:miter lim="800000"/>
            <a:headEnd/>
            <a:tailEnd type="triangle" w="med" len="med"/>
          </a:ln>
          <a:extLst>
            <a:ext uri="{909E8E84-426E-40DD-AFC4-6F175D3DCCD1}">
              <a14:hiddenFill xmlns:a14="http://schemas.microsoft.com/office/drawing/2010/main">
                <a:noFill/>
              </a14:hiddenFill>
            </a:ext>
          </a:extLst>
        </p:spPr>
      </p:cxnSp>
      <p:grpSp>
        <p:nvGrpSpPr>
          <p:cNvPr id="37" name="Group 22">
            <a:extLst>
              <a:ext uri="{FF2B5EF4-FFF2-40B4-BE49-F238E27FC236}">
                <a16:creationId xmlns:a16="http://schemas.microsoft.com/office/drawing/2014/main" id="{E03DB43F-4E63-B854-74A4-2710C4C9A599}"/>
              </a:ext>
            </a:extLst>
          </p:cNvPr>
          <p:cNvGrpSpPr>
            <a:grpSpLocks/>
          </p:cNvGrpSpPr>
          <p:nvPr/>
        </p:nvGrpSpPr>
        <p:grpSpPr bwMode="auto">
          <a:xfrm>
            <a:off x="1517968" y="4265359"/>
            <a:ext cx="8359775" cy="2012950"/>
            <a:chOff x="265" y="2587"/>
            <a:chExt cx="5266" cy="1268"/>
          </a:xfrm>
        </p:grpSpPr>
        <p:grpSp>
          <p:nvGrpSpPr>
            <p:cNvPr id="38" name="Group 23">
              <a:extLst>
                <a:ext uri="{FF2B5EF4-FFF2-40B4-BE49-F238E27FC236}">
                  <a16:creationId xmlns:a16="http://schemas.microsoft.com/office/drawing/2014/main" id="{4B8DEA3E-E1B3-A6AB-24C5-E6609DFD1C86}"/>
                </a:ext>
              </a:extLst>
            </p:cNvPr>
            <p:cNvGrpSpPr>
              <a:grpSpLocks/>
            </p:cNvGrpSpPr>
            <p:nvPr/>
          </p:nvGrpSpPr>
          <p:grpSpPr bwMode="auto">
            <a:xfrm>
              <a:off x="308" y="2969"/>
              <a:ext cx="5223" cy="886"/>
              <a:chOff x="1350" y="2060"/>
              <a:chExt cx="3035" cy="208"/>
            </a:xfrm>
          </p:grpSpPr>
          <p:sp>
            <p:nvSpPr>
              <p:cNvPr id="41" name="AutoShape 24">
                <a:extLst>
                  <a:ext uri="{FF2B5EF4-FFF2-40B4-BE49-F238E27FC236}">
                    <a16:creationId xmlns:a16="http://schemas.microsoft.com/office/drawing/2014/main" id="{BC2EC0A5-E5A9-7AD9-C255-5271F2B2B408}"/>
                  </a:ext>
                </a:extLst>
              </p:cNvPr>
              <p:cNvSpPr>
                <a:spLocks noChangeArrowheads="1"/>
              </p:cNvSpPr>
              <p:nvPr/>
            </p:nvSpPr>
            <p:spPr bwMode="auto">
              <a:xfrm>
                <a:off x="3722" y="2060"/>
                <a:ext cx="663" cy="208"/>
              </a:xfrm>
              <a:prstGeom prst="homePlate">
                <a:avLst>
                  <a:gd name="adj" fmla="val 29912"/>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b="0">
                    <a:solidFill>
                      <a:schemeClr val="bg1"/>
                    </a:solidFill>
                    <a:latin typeface="Roboto Medium" panose="02000000000000000000" pitchFamily="2" charset="0"/>
                    <a:ea typeface="Roboto Medium" panose="02000000000000000000" pitchFamily="2" charset="0"/>
                    <a:cs typeface="Roboto Medium" panose="02000000000000000000" pitchFamily="2" charset="0"/>
                  </a:rPr>
                  <a:t>Develop </a:t>
                </a:r>
                <a:br>
                  <a:rPr lang="en-US" altLang="en-US" sz="1600" b="0">
                    <a:solidFill>
                      <a:schemeClr val="bg1"/>
                    </a:solidFill>
                    <a:latin typeface="Roboto Medium" panose="02000000000000000000" pitchFamily="2" charset="0"/>
                    <a:ea typeface="Roboto Medium" panose="02000000000000000000" pitchFamily="2" charset="0"/>
                    <a:cs typeface="Roboto Medium" panose="02000000000000000000" pitchFamily="2" charset="0"/>
                  </a:rPr>
                </a:br>
                <a:r>
                  <a:rPr lang="en-US" altLang="en-US" sz="1600" b="0">
                    <a:solidFill>
                      <a:schemeClr val="bg1"/>
                    </a:solidFill>
                    <a:latin typeface="Roboto Medium" panose="02000000000000000000" pitchFamily="2" charset="0"/>
                    <a:ea typeface="Roboto Medium" panose="02000000000000000000" pitchFamily="2" charset="0"/>
                    <a:cs typeface="Roboto Medium" panose="02000000000000000000" pitchFamily="2" charset="0"/>
                  </a:rPr>
                  <a:t>Value</a:t>
                </a:r>
                <a:br>
                  <a:rPr lang="en-US" altLang="en-US" sz="1600" b="0">
                    <a:solidFill>
                      <a:schemeClr val="bg1"/>
                    </a:solidFill>
                    <a:latin typeface="Roboto Medium" panose="02000000000000000000" pitchFamily="2" charset="0"/>
                    <a:ea typeface="Roboto Medium" panose="02000000000000000000" pitchFamily="2" charset="0"/>
                    <a:cs typeface="Roboto Medium" panose="02000000000000000000" pitchFamily="2" charset="0"/>
                  </a:rPr>
                </a:br>
                <a:r>
                  <a:rPr lang="en-US" altLang="en-US" sz="1600" b="0">
                    <a:solidFill>
                      <a:schemeClr val="bg1"/>
                    </a:solidFill>
                    <a:latin typeface="Roboto Medium" panose="02000000000000000000" pitchFamily="2" charset="0"/>
                    <a:ea typeface="Roboto Medium" panose="02000000000000000000" pitchFamily="2" charset="0"/>
                    <a:cs typeface="Roboto Medium" panose="02000000000000000000" pitchFamily="2" charset="0"/>
                  </a:rPr>
                  <a:t>Stream Plan</a:t>
                </a:r>
              </a:p>
            </p:txBody>
          </p:sp>
          <p:sp>
            <p:nvSpPr>
              <p:cNvPr id="42" name="AutoShape 25">
                <a:extLst>
                  <a:ext uri="{FF2B5EF4-FFF2-40B4-BE49-F238E27FC236}">
                    <a16:creationId xmlns:a16="http://schemas.microsoft.com/office/drawing/2014/main" id="{3EE46E44-894D-CB9B-1455-AEB515F218F0}"/>
                  </a:ext>
                </a:extLst>
              </p:cNvPr>
              <p:cNvSpPr>
                <a:spLocks noChangeArrowheads="1"/>
              </p:cNvSpPr>
              <p:nvPr/>
            </p:nvSpPr>
            <p:spPr bwMode="auto">
              <a:xfrm>
                <a:off x="3128" y="2060"/>
                <a:ext cx="663" cy="208"/>
              </a:xfrm>
              <a:prstGeom prst="homePlate">
                <a:avLst>
                  <a:gd name="adj" fmla="val 29912"/>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b="0">
                    <a:solidFill>
                      <a:schemeClr val="bg1"/>
                    </a:solidFill>
                    <a:latin typeface="Roboto Medium" panose="02000000000000000000" pitchFamily="2" charset="0"/>
                    <a:ea typeface="Roboto Medium" panose="02000000000000000000" pitchFamily="2" charset="0"/>
                    <a:cs typeface="Roboto Medium" panose="02000000000000000000" pitchFamily="2" charset="0"/>
                  </a:rPr>
                  <a:t>Create </a:t>
                </a:r>
                <a:br>
                  <a:rPr lang="en-US" altLang="en-US" sz="1600" b="0">
                    <a:solidFill>
                      <a:schemeClr val="bg1"/>
                    </a:solidFill>
                    <a:latin typeface="Roboto Medium" panose="02000000000000000000" pitchFamily="2" charset="0"/>
                    <a:ea typeface="Roboto Medium" panose="02000000000000000000" pitchFamily="2" charset="0"/>
                    <a:cs typeface="Roboto Medium" panose="02000000000000000000" pitchFamily="2" charset="0"/>
                  </a:rPr>
                </a:br>
                <a:r>
                  <a:rPr lang="en-US" altLang="en-US" sz="1600" b="0">
                    <a:solidFill>
                      <a:schemeClr val="bg1"/>
                    </a:solidFill>
                    <a:latin typeface="Roboto Medium" panose="02000000000000000000" pitchFamily="2" charset="0"/>
                    <a:ea typeface="Roboto Medium" panose="02000000000000000000" pitchFamily="2" charset="0"/>
                    <a:cs typeface="Roboto Medium" panose="02000000000000000000" pitchFamily="2" charset="0"/>
                  </a:rPr>
                  <a:t>Future</a:t>
                </a:r>
                <a:br>
                  <a:rPr lang="en-US" altLang="en-US" sz="1600" b="0">
                    <a:solidFill>
                      <a:schemeClr val="bg1"/>
                    </a:solidFill>
                    <a:latin typeface="Roboto Medium" panose="02000000000000000000" pitchFamily="2" charset="0"/>
                    <a:ea typeface="Roboto Medium" panose="02000000000000000000" pitchFamily="2" charset="0"/>
                    <a:cs typeface="Roboto Medium" panose="02000000000000000000" pitchFamily="2" charset="0"/>
                  </a:rPr>
                </a:br>
                <a:r>
                  <a:rPr lang="en-US" altLang="en-US" sz="1600" b="0">
                    <a:solidFill>
                      <a:schemeClr val="bg1"/>
                    </a:solidFill>
                    <a:latin typeface="Roboto Medium" panose="02000000000000000000" pitchFamily="2" charset="0"/>
                    <a:ea typeface="Roboto Medium" panose="02000000000000000000" pitchFamily="2" charset="0"/>
                    <a:cs typeface="Roboto Medium" panose="02000000000000000000" pitchFamily="2" charset="0"/>
                  </a:rPr>
                  <a:t>State Map</a:t>
                </a:r>
              </a:p>
            </p:txBody>
          </p:sp>
          <p:sp>
            <p:nvSpPr>
              <p:cNvPr id="43" name="AutoShape 26">
                <a:extLst>
                  <a:ext uri="{FF2B5EF4-FFF2-40B4-BE49-F238E27FC236}">
                    <a16:creationId xmlns:a16="http://schemas.microsoft.com/office/drawing/2014/main" id="{F5E78B1E-FE13-046E-E8B0-A8B4B77AA23E}"/>
                  </a:ext>
                </a:extLst>
              </p:cNvPr>
              <p:cNvSpPr>
                <a:spLocks noChangeArrowheads="1"/>
              </p:cNvSpPr>
              <p:nvPr/>
            </p:nvSpPr>
            <p:spPr bwMode="auto">
              <a:xfrm>
                <a:off x="2541" y="2060"/>
                <a:ext cx="663" cy="208"/>
              </a:xfrm>
              <a:prstGeom prst="homePlate">
                <a:avLst>
                  <a:gd name="adj" fmla="val 29912"/>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b="0">
                    <a:solidFill>
                      <a:schemeClr val="bg1"/>
                    </a:solidFill>
                    <a:latin typeface="Roboto Medium" panose="02000000000000000000" pitchFamily="2" charset="0"/>
                    <a:ea typeface="Roboto Medium" panose="02000000000000000000" pitchFamily="2" charset="0"/>
                    <a:cs typeface="Roboto Medium" panose="02000000000000000000" pitchFamily="2" charset="0"/>
                  </a:rPr>
                  <a:t>Interrogate </a:t>
                </a:r>
                <a:br>
                  <a:rPr lang="en-US" altLang="en-US" sz="1600" b="0">
                    <a:solidFill>
                      <a:schemeClr val="bg1"/>
                    </a:solidFill>
                    <a:latin typeface="Roboto Medium" panose="02000000000000000000" pitchFamily="2" charset="0"/>
                    <a:ea typeface="Roboto Medium" panose="02000000000000000000" pitchFamily="2" charset="0"/>
                    <a:cs typeface="Roboto Medium" panose="02000000000000000000" pitchFamily="2" charset="0"/>
                  </a:rPr>
                </a:br>
                <a:r>
                  <a:rPr lang="en-US" altLang="en-US" sz="1600" b="0">
                    <a:solidFill>
                      <a:schemeClr val="bg1"/>
                    </a:solidFill>
                    <a:latin typeface="Roboto Medium" panose="02000000000000000000" pitchFamily="2" charset="0"/>
                    <a:ea typeface="Roboto Medium" panose="02000000000000000000" pitchFamily="2" charset="0"/>
                    <a:cs typeface="Roboto Medium" panose="02000000000000000000" pitchFamily="2" charset="0"/>
                  </a:rPr>
                  <a:t>the</a:t>
                </a:r>
                <a:br>
                  <a:rPr lang="en-US" altLang="en-US" sz="1600" b="0">
                    <a:solidFill>
                      <a:schemeClr val="bg1"/>
                    </a:solidFill>
                    <a:latin typeface="Roboto Medium" panose="02000000000000000000" pitchFamily="2" charset="0"/>
                    <a:ea typeface="Roboto Medium" panose="02000000000000000000" pitchFamily="2" charset="0"/>
                    <a:cs typeface="Roboto Medium" panose="02000000000000000000" pitchFamily="2" charset="0"/>
                  </a:rPr>
                </a:br>
                <a:r>
                  <a:rPr lang="en-US" altLang="en-US" sz="1600" b="0">
                    <a:solidFill>
                      <a:schemeClr val="bg1"/>
                    </a:solidFill>
                    <a:latin typeface="Roboto Medium" panose="02000000000000000000" pitchFamily="2" charset="0"/>
                    <a:ea typeface="Roboto Medium" panose="02000000000000000000" pitchFamily="2" charset="0"/>
                    <a:cs typeface="Roboto Medium" panose="02000000000000000000" pitchFamily="2" charset="0"/>
                  </a:rPr>
                  <a:t>Current </a:t>
                </a:r>
                <a:br>
                  <a:rPr lang="en-US" altLang="en-US" sz="1600" b="0">
                    <a:solidFill>
                      <a:schemeClr val="bg1"/>
                    </a:solidFill>
                    <a:latin typeface="Roboto Medium" panose="02000000000000000000" pitchFamily="2" charset="0"/>
                    <a:ea typeface="Roboto Medium" panose="02000000000000000000" pitchFamily="2" charset="0"/>
                    <a:cs typeface="Roboto Medium" panose="02000000000000000000" pitchFamily="2" charset="0"/>
                  </a:rPr>
                </a:br>
                <a:r>
                  <a:rPr lang="en-US" altLang="en-US" sz="1600" b="0">
                    <a:solidFill>
                      <a:schemeClr val="bg1"/>
                    </a:solidFill>
                    <a:latin typeface="Roboto Medium" panose="02000000000000000000" pitchFamily="2" charset="0"/>
                    <a:ea typeface="Roboto Medium" panose="02000000000000000000" pitchFamily="2" charset="0"/>
                    <a:cs typeface="Roboto Medium" panose="02000000000000000000" pitchFamily="2" charset="0"/>
                  </a:rPr>
                  <a:t>State</a:t>
                </a:r>
              </a:p>
            </p:txBody>
          </p:sp>
          <p:sp>
            <p:nvSpPr>
              <p:cNvPr id="44" name="AutoShape 27">
                <a:extLst>
                  <a:ext uri="{FF2B5EF4-FFF2-40B4-BE49-F238E27FC236}">
                    <a16:creationId xmlns:a16="http://schemas.microsoft.com/office/drawing/2014/main" id="{D7BB9A4C-9850-2D86-A04D-60A7573EC11E}"/>
                  </a:ext>
                </a:extLst>
              </p:cNvPr>
              <p:cNvSpPr>
                <a:spLocks noChangeArrowheads="1"/>
              </p:cNvSpPr>
              <p:nvPr/>
            </p:nvSpPr>
            <p:spPr bwMode="auto">
              <a:xfrm>
                <a:off x="1951" y="2060"/>
                <a:ext cx="663" cy="208"/>
              </a:xfrm>
              <a:prstGeom prst="homePlate">
                <a:avLst>
                  <a:gd name="adj" fmla="val 29912"/>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b="0">
                    <a:solidFill>
                      <a:schemeClr val="bg1"/>
                    </a:solidFill>
                    <a:latin typeface="Roboto Medium" panose="02000000000000000000" pitchFamily="2" charset="0"/>
                    <a:ea typeface="Roboto Medium" panose="02000000000000000000" pitchFamily="2" charset="0"/>
                    <a:cs typeface="Roboto Medium" panose="02000000000000000000" pitchFamily="2" charset="0"/>
                  </a:rPr>
                  <a:t>Create </a:t>
                </a:r>
                <a:br>
                  <a:rPr lang="en-US" altLang="en-US" sz="1600" b="0">
                    <a:solidFill>
                      <a:schemeClr val="bg1"/>
                    </a:solidFill>
                    <a:latin typeface="Roboto Medium" panose="02000000000000000000" pitchFamily="2" charset="0"/>
                    <a:ea typeface="Roboto Medium" panose="02000000000000000000" pitchFamily="2" charset="0"/>
                    <a:cs typeface="Roboto Medium" panose="02000000000000000000" pitchFamily="2" charset="0"/>
                  </a:rPr>
                </a:br>
                <a:r>
                  <a:rPr lang="en-US" altLang="en-US" sz="1600" b="0">
                    <a:solidFill>
                      <a:schemeClr val="bg1"/>
                    </a:solidFill>
                    <a:latin typeface="Roboto Medium" panose="02000000000000000000" pitchFamily="2" charset="0"/>
                    <a:ea typeface="Roboto Medium" panose="02000000000000000000" pitchFamily="2" charset="0"/>
                    <a:cs typeface="Roboto Medium" panose="02000000000000000000" pitchFamily="2" charset="0"/>
                  </a:rPr>
                  <a:t>Current</a:t>
                </a:r>
                <a:br>
                  <a:rPr lang="en-US" altLang="en-US" sz="1600" b="0">
                    <a:solidFill>
                      <a:schemeClr val="bg1"/>
                    </a:solidFill>
                    <a:latin typeface="Roboto Medium" panose="02000000000000000000" pitchFamily="2" charset="0"/>
                    <a:ea typeface="Roboto Medium" panose="02000000000000000000" pitchFamily="2" charset="0"/>
                    <a:cs typeface="Roboto Medium" panose="02000000000000000000" pitchFamily="2" charset="0"/>
                  </a:rPr>
                </a:br>
                <a:r>
                  <a:rPr lang="en-US" altLang="en-US" sz="1600" b="0">
                    <a:solidFill>
                      <a:schemeClr val="bg1"/>
                    </a:solidFill>
                    <a:latin typeface="Roboto Medium" panose="02000000000000000000" pitchFamily="2" charset="0"/>
                    <a:ea typeface="Roboto Medium" panose="02000000000000000000" pitchFamily="2" charset="0"/>
                    <a:cs typeface="Roboto Medium" panose="02000000000000000000" pitchFamily="2" charset="0"/>
                  </a:rPr>
                  <a:t>State Map </a:t>
                </a:r>
              </a:p>
            </p:txBody>
          </p:sp>
          <p:sp>
            <p:nvSpPr>
              <p:cNvPr id="45" name="AutoShape 28">
                <a:extLst>
                  <a:ext uri="{FF2B5EF4-FFF2-40B4-BE49-F238E27FC236}">
                    <a16:creationId xmlns:a16="http://schemas.microsoft.com/office/drawing/2014/main" id="{B39716D0-8735-BE6D-F158-63F11A10B146}"/>
                  </a:ext>
                </a:extLst>
              </p:cNvPr>
              <p:cNvSpPr>
                <a:spLocks noChangeArrowheads="1"/>
              </p:cNvSpPr>
              <p:nvPr/>
            </p:nvSpPr>
            <p:spPr bwMode="auto">
              <a:xfrm>
                <a:off x="1350" y="2060"/>
                <a:ext cx="663" cy="208"/>
              </a:xfrm>
              <a:prstGeom prst="homePlate">
                <a:avLst>
                  <a:gd name="adj" fmla="val 29912"/>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b="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Select Product </a:t>
                </a:r>
                <a:br>
                  <a:rPr lang="en-US" altLang="en-US" sz="1600" b="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br>
                <a:r>
                  <a:rPr lang="en-US" altLang="en-US" sz="1600" b="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or</a:t>
                </a:r>
                <a:br>
                  <a:rPr lang="en-US" altLang="en-US" sz="1600" b="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br>
                <a:r>
                  <a:rPr lang="en-US" altLang="en-US" sz="1600" b="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Service Family</a:t>
                </a:r>
              </a:p>
            </p:txBody>
          </p:sp>
        </p:grpSp>
        <p:sp>
          <p:nvSpPr>
            <p:cNvPr id="39" name="Line 29">
              <a:extLst>
                <a:ext uri="{FF2B5EF4-FFF2-40B4-BE49-F238E27FC236}">
                  <a16:creationId xmlns:a16="http://schemas.microsoft.com/office/drawing/2014/main" id="{9259D539-4DF7-762C-9959-DA274264FC40}"/>
                </a:ext>
              </a:extLst>
            </p:cNvPr>
            <p:cNvSpPr>
              <a:spLocks noChangeShapeType="1"/>
            </p:cNvSpPr>
            <p:nvPr/>
          </p:nvSpPr>
          <p:spPr bwMode="auto">
            <a:xfrm flipH="1">
              <a:off x="265" y="2606"/>
              <a:ext cx="2332" cy="356"/>
            </a:xfrm>
            <a:prstGeom prst="line">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Medium" panose="02000000000000000000" pitchFamily="2" charset="0"/>
                <a:ea typeface="Roboto Medium" panose="02000000000000000000" pitchFamily="2" charset="0"/>
                <a:cs typeface="Roboto Medium" panose="02000000000000000000" pitchFamily="2" charset="0"/>
              </a:endParaRPr>
            </a:p>
          </p:txBody>
        </p:sp>
        <p:sp>
          <p:nvSpPr>
            <p:cNvPr id="40" name="Line 30">
              <a:extLst>
                <a:ext uri="{FF2B5EF4-FFF2-40B4-BE49-F238E27FC236}">
                  <a16:creationId xmlns:a16="http://schemas.microsoft.com/office/drawing/2014/main" id="{C949FEA0-04CE-694F-F0F8-69C916FE10BE}"/>
                </a:ext>
              </a:extLst>
            </p:cNvPr>
            <p:cNvSpPr>
              <a:spLocks noChangeShapeType="1"/>
            </p:cNvSpPr>
            <p:nvPr/>
          </p:nvSpPr>
          <p:spPr bwMode="auto">
            <a:xfrm>
              <a:off x="3547" y="2587"/>
              <a:ext cx="1856" cy="348"/>
            </a:xfrm>
            <a:prstGeom prst="line">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Medium" panose="02000000000000000000" pitchFamily="2" charset="0"/>
                <a:ea typeface="Roboto Medium" panose="02000000000000000000" pitchFamily="2" charset="0"/>
                <a:cs typeface="Roboto Medium" panose="02000000000000000000" pitchFamily="2" charset="0"/>
              </a:endParaRPr>
            </a:p>
          </p:txBody>
        </p:sp>
      </p:grpSp>
      <p:sp>
        <p:nvSpPr>
          <p:cNvPr id="46" name="Slide Number Placeholder 2">
            <a:extLst>
              <a:ext uri="{FF2B5EF4-FFF2-40B4-BE49-F238E27FC236}">
                <a16:creationId xmlns:a16="http://schemas.microsoft.com/office/drawing/2014/main" id="{D12C36DF-77AA-CDFE-2528-047C01FFB023}"/>
              </a:ext>
            </a:extLst>
          </p:cNvPr>
          <p:cNvSpPr txBox="1">
            <a:spLocks/>
          </p:cNvSpPr>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10</a:t>
            </a:fld>
            <a:endParaRPr lang="en-US"/>
          </a:p>
        </p:txBody>
      </p:sp>
    </p:spTree>
    <p:extLst>
      <p:ext uri="{BB962C8B-B14F-4D97-AF65-F5344CB8AC3E}">
        <p14:creationId xmlns:p14="http://schemas.microsoft.com/office/powerpoint/2010/main" val="2394000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left)">
                                      <p:cBhvr>
                                        <p:cTn id="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D6EE9-D5F8-4584-22C8-B9E879BBE640}"/>
              </a:ext>
            </a:extLst>
          </p:cNvPr>
          <p:cNvSpPr>
            <a:spLocks noGrp="1"/>
          </p:cNvSpPr>
          <p:nvPr>
            <p:ph type="title"/>
          </p:nvPr>
        </p:nvSpPr>
        <p:spPr/>
        <p:txBody>
          <a:bodyPr/>
          <a:lstStyle/>
          <a:p>
            <a:r>
              <a:rPr lang="en-US" dirty="0"/>
              <a:t>Value Stream Mapping Session Agenda</a:t>
            </a:r>
          </a:p>
        </p:txBody>
      </p:sp>
      <p:graphicFrame>
        <p:nvGraphicFramePr>
          <p:cNvPr id="3" name="Group 2">
            <a:extLst>
              <a:ext uri="{FF2B5EF4-FFF2-40B4-BE49-F238E27FC236}">
                <a16:creationId xmlns:a16="http://schemas.microsoft.com/office/drawing/2014/main" id="{FB2506EC-0047-88BD-5A9E-3D9B306075C6}"/>
              </a:ext>
            </a:extLst>
          </p:cNvPr>
          <p:cNvGraphicFramePr>
            <a:graphicFrameLocks noGrp="1"/>
          </p:cNvGraphicFramePr>
          <p:nvPr/>
        </p:nvGraphicFramePr>
        <p:xfrm>
          <a:off x="838200" y="1601343"/>
          <a:ext cx="10073640" cy="4476752"/>
        </p:xfrm>
        <a:graphic>
          <a:graphicData uri="http://schemas.openxmlformats.org/drawingml/2006/table">
            <a:tbl>
              <a:tblPr/>
              <a:tblGrid>
                <a:gridCol w="1080705">
                  <a:extLst>
                    <a:ext uri="{9D8B030D-6E8A-4147-A177-3AD203B41FA5}">
                      <a16:colId xmlns:a16="http://schemas.microsoft.com/office/drawing/2014/main" val="20000"/>
                    </a:ext>
                  </a:extLst>
                </a:gridCol>
                <a:gridCol w="4169540">
                  <a:extLst>
                    <a:ext uri="{9D8B030D-6E8A-4147-A177-3AD203B41FA5}">
                      <a16:colId xmlns:a16="http://schemas.microsoft.com/office/drawing/2014/main" val="20001"/>
                    </a:ext>
                  </a:extLst>
                </a:gridCol>
                <a:gridCol w="4823395">
                  <a:extLst>
                    <a:ext uri="{9D8B030D-6E8A-4147-A177-3AD203B41FA5}">
                      <a16:colId xmlns:a16="http://schemas.microsoft.com/office/drawing/2014/main" val="20002"/>
                    </a:ext>
                  </a:extLst>
                </a:gridCol>
              </a:tblGrid>
              <a:tr h="406914">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800" b="1" i="0" u="none" strike="noStrike" cap="none" normalizeH="0" baseline="0">
                          <a:ln>
                            <a:noFill/>
                          </a:ln>
                          <a:solidFill>
                            <a:schemeClr val="bg1"/>
                          </a:solidFill>
                          <a:effectLst/>
                          <a:latin typeface="Arial" charset="0"/>
                        </a:rPr>
                        <a:t>Day</a:t>
                      </a:r>
                    </a:p>
                  </a:txBody>
                  <a:tcPr marT="45721" marB="45721" anchor="b" horzOverflow="overflow">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solidFill>
                      <a:srgbClr val="EE3228"/>
                    </a:solid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800" b="1" i="0" u="none" strike="noStrike" cap="none" normalizeH="0" baseline="0" dirty="0">
                          <a:ln>
                            <a:noFill/>
                          </a:ln>
                          <a:solidFill>
                            <a:schemeClr val="bg1"/>
                          </a:solidFill>
                          <a:effectLst/>
                          <a:latin typeface="Arial" charset="0"/>
                        </a:rPr>
                        <a:t>Key Learnings</a:t>
                      </a:r>
                    </a:p>
                  </a:txBody>
                  <a:tcPr marT="45721" marB="45721" anchor="b" horzOverflow="overflow">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solidFill>
                      <a:srgbClr val="EE3228"/>
                    </a:solid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40000"/>
                        <a:buFont typeface="Wingdings" pitchFamily="2" charset="2"/>
                        <a:buNone/>
                        <a:tabLst/>
                      </a:pPr>
                      <a:r>
                        <a:rPr kumimoji="0" lang="en-US" sz="1800" b="1" i="0" u="none" strike="noStrike" cap="none" normalizeH="0" baseline="0" dirty="0">
                          <a:ln>
                            <a:noFill/>
                          </a:ln>
                          <a:solidFill>
                            <a:schemeClr val="bg1"/>
                          </a:solidFill>
                          <a:effectLst/>
                          <a:latin typeface="Arial" charset="0"/>
                        </a:rPr>
                        <a:t>Daily Deliverables</a:t>
                      </a:r>
                    </a:p>
                  </a:txBody>
                  <a:tcPr marT="45721" marB="45721" anchor="b" horzOverflow="overflow">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solidFill>
                      <a:srgbClr val="EE3228"/>
                    </a:solidFill>
                  </a:tcPr>
                </a:tc>
                <a:extLst>
                  <a:ext uri="{0D108BD9-81ED-4DB2-BD59-A6C34878D82A}">
                    <a16:rowId xmlns:a16="http://schemas.microsoft.com/office/drawing/2014/main" val="10000"/>
                  </a:ext>
                </a:extLst>
              </a:tr>
              <a:tr h="902221">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40000"/>
                        <a:buFont typeface="Wingdings" pitchFamily="2" charset="2"/>
                        <a:buNone/>
                        <a:tabLst/>
                      </a:pPr>
                      <a:r>
                        <a:rPr kumimoji="0" lang="en-US" sz="1600" b="1" i="0" u="none" strike="noStrike" cap="none" normalizeH="0" baseline="0">
                          <a:ln>
                            <a:noFill/>
                          </a:ln>
                          <a:solidFill>
                            <a:schemeClr val="tx1"/>
                          </a:solidFill>
                          <a:effectLst/>
                          <a:latin typeface="Arial" charset="0"/>
                        </a:rPr>
                        <a:t>Day 1</a:t>
                      </a:r>
                    </a:p>
                  </a:txBody>
                  <a:tcPr marT="45721" marB="45721" horzOverflow="overflow">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noFill/>
                  </a:tcPr>
                </a:tc>
                <a:tc>
                  <a:txBody>
                    <a:bodyPr/>
                    <a:lstStyle/>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Char char="§"/>
                        <a:tabLst/>
                      </a:pPr>
                      <a:r>
                        <a:rPr kumimoji="0" lang="en-US" sz="1400" b="1" i="0" u="none" strike="noStrike" cap="none" normalizeH="0" baseline="0" dirty="0">
                          <a:ln>
                            <a:noFill/>
                          </a:ln>
                          <a:solidFill>
                            <a:schemeClr val="tx1"/>
                          </a:solidFill>
                          <a:effectLst/>
                          <a:latin typeface="Arial" charset="0"/>
                        </a:rPr>
                        <a:t> Introduction</a:t>
                      </a:r>
                    </a:p>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Char char="§"/>
                        <a:tabLst/>
                      </a:pPr>
                      <a:r>
                        <a:rPr kumimoji="0" lang="en-US" sz="1400" b="1" i="0" u="none" strike="noStrike" cap="none" normalizeH="0" baseline="0" dirty="0">
                          <a:ln>
                            <a:noFill/>
                          </a:ln>
                          <a:solidFill>
                            <a:schemeClr val="tx1"/>
                          </a:solidFill>
                          <a:effectLst/>
                          <a:latin typeface="Arial" charset="0"/>
                        </a:rPr>
                        <a:t> Identifying Value Streams</a:t>
                      </a:r>
                    </a:p>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Char char="§"/>
                        <a:tabLst/>
                      </a:pPr>
                      <a:r>
                        <a:rPr kumimoji="0" lang="en-US" sz="1400" b="1" i="0" u="none" strike="noStrike" cap="none" normalizeH="0" baseline="0" dirty="0">
                          <a:ln>
                            <a:noFill/>
                          </a:ln>
                          <a:solidFill>
                            <a:schemeClr val="tx1"/>
                          </a:solidFill>
                          <a:effectLst/>
                          <a:latin typeface="Arial" charset="0"/>
                        </a:rPr>
                        <a:t> Current State Mapping</a:t>
                      </a:r>
                    </a:p>
                  </a:txBody>
                  <a:tcPr marT="45721" marB="45721" horzOverflow="overflow">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noFill/>
                  </a:tcPr>
                </a:tc>
                <a:tc>
                  <a:txBody>
                    <a:bodyPr/>
                    <a:lstStyle/>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Char char="§"/>
                        <a:tabLst/>
                      </a:pPr>
                      <a:r>
                        <a:rPr kumimoji="0" lang="en-US" sz="1400" b="1" i="0" u="none" strike="noStrike" cap="none" normalizeH="0" baseline="0">
                          <a:ln>
                            <a:noFill/>
                          </a:ln>
                          <a:solidFill>
                            <a:schemeClr val="tx1"/>
                          </a:solidFill>
                          <a:effectLst/>
                          <a:latin typeface="Arial" charset="0"/>
                        </a:rPr>
                        <a:t>Current State Process Walk</a:t>
                      </a:r>
                    </a:p>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Char char="§"/>
                        <a:tabLst/>
                      </a:pPr>
                      <a:r>
                        <a:rPr kumimoji="0" lang="en-US" sz="1400" b="1" i="0" u="none" strike="noStrike" cap="none" normalizeH="0" baseline="0">
                          <a:ln>
                            <a:noFill/>
                          </a:ln>
                          <a:solidFill>
                            <a:schemeClr val="tx1"/>
                          </a:solidFill>
                          <a:effectLst/>
                          <a:latin typeface="Arial" charset="0"/>
                        </a:rPr>
                        <a:t>Labeling of Process Boxes on Current State Map</a:t>
                      </a:r>
                    </a:p>
                  </a:txBody>
                  <a:tcPr marT="45721" marB="45721" horzOverflow="overflow">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54074">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40000"/>
                        <a:buFont typeface="Wingdings" pitchFamily="2" charset="2"/>
                        <a:buNone/>
                        <a:tabLst/>
                      </a:pPr>
                      <a:r>
                        <a:rPr kumimoji="0" lang="en-US" sz="1600" b="1" i="0" u="none" strike="noStrike" cap="none" normalizeH="0" baseline="0">
                          <a:ln>
                            <a:noFill/>
                          </a:ln>
                          <a:solidFill>
                            <a:schemeClr val="tx1"/>
                          </a:solidFill>
                          <a:effectLst/>
                          <a:latin typeface="Arial" charset="0"/>
                        </a:rPr>
                        <a:t>Day 2</a:t>
                      </a:r>
                    </a:p>
                  </a:txBody>
                  <a:tcPr marT="45721" marB="45721" horzOverflow="overflow">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noFill/>
                  </a:tcPr>
                </a:tc>
                <a:tc>
                  <a:txBody>
                    <a:bodyPr/>
                    <a:lstStyle/>
                    <a:p>
                      <a:pPr marL="290513" marR="0" lvl="0" indent="-290513" algn="l" defTabSz="914400" rtl="0" eaLnBrk="0" fontAlgn="base" latinLnBrk="0" hangingPunct="0">
                        <a:lnSpc>
                          <a:spcPct val="100000"/>
                        </a:lnSpc>
                        <a:spcBef>
                          <a:spcPct val="20000"/>
                        </a:spcBef>
                        <a:spcAft>
                          <a:spcPct val="20000"/>
                        </a:spcAft>
                        <a:buClr>
                          <a:srgbClr val="006699"/>
                        </a:buClr>
                        <a:buSzPct val="90000"/>
                        <a:buFont typeface="Wingdings" pitchFamily="2" charset="2"/>
                        <a:buChar char="§"/>
                        <a:tabLst/>
                      </a:pPr>
                      <a:r>
                        <a:rPr kumimoji="0" lang="en-US" sz="1400" b="1" i="0" u="none" strike="noStrike" cap="none" normalizeH="0" baseline="0">
                          <a:ln>
                            <a:noFill/>
                          </a:ln>
                          <a:solidFill>
                            <a:schemeClr val="tx1"/>
                          </a:solidFill>
                          <a:effectLst/>
                          <a:latin typeface="Arial" charset="0"/>
                        </a:rPr>
                        <a:t>Conduct Data Gathering for Current State Map for Business</a:t>
                      </a:r>
                    </a:p>
                  </a:txBody>
                  <a:tcPr marT="45721" marB="45721" horzOverflow="overflow">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noFill/>
                  </a:tcPr>
                </a:tc>
                <a:tc>
                  <a:txBody>
                    <a:bodyPr/>
                    <a:lstStyle/>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Char char="§"/>
                        <a:tabLst/>
                      </a:pPr>
                      <a:r>
                        <a:rPr kumimoji="0" lang="en-US" sz="1400" b="1" i="0" u="none" strike="noStrike" cap="none" normalizeH="0" baseline="0" dirty="0">
                          <a:ln>
                            <a:noFill/>
                          </a:ln>
                          <a:solidFill>
                            <a:schemeClr val="tx1"/>
                          </a:solidFill>
                          <a:effectLst/>
                          <a:latin typeface="Arial" charset="0"/>
                        </a:rPr>
                        <a:t>Current State Map with Complete Data</a:t>
                      </a:r>
                    </a:p>
                  </a:txBody>
                  <a:tcPr marT="45721" marB="45721" horzOverflow="overflow">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55661">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40000"/>
                        <a:buFont typeface="Wingdings" pitchFamily="2" charset="2"/>
                        <a:buNone/>
                        <a:tabLst/>
                      </a:pPr>
                      <a:r>
                        <a:rPr kumimoji="0" lang="en-US" sz="1600" b="1" i="0" u="none" strike="noStrike" cap="none" normalizeH="0" baseline="0">
                          <a:ln>
                            <a:noFill/>
                          </a:ln>
                          <a:solidFill>
                            <a:schemeClr val="tx1"/>
                          </a:solidFill>
                          <a:effectLst/>
                          <a:latin typeface="Arial" charset="0"/>
                        </a:rPr>
                        <a:t>Day 3</a:t>
                      </a:r>
                    </a:p>
                  </a:txBody>
                  <a:tcPr marT="45721" marB="45721" horzOverflow="overflow">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noFill/>
                  </a:tcPr>
                </a:tc>
                <a:tc>
                  <a:txBody>
                    <a:bodyPr/>
                    <a:lstStyle/>
                    <a:p>
                      <a:pPr marL="290513" marR="0" lvl="0" indent="-290513" algn="l" defTabSz="914400" rtl="0" eaLnBrk="0" fontAlgn="base" latinLnBrk="0" hangingPunct="0">
                        <a:lnSpc>
                          <a:spcPct val="100000"/>
                        </a:lnSpc>
                        <a:spcBef>
                          <a:spcPct val="20000"/>
                        </a:spcBef>
                        <a:spcAft>
                          <a:spcPct val="20000"/>
                        </a:spcAft>
                        <a:buClr>
                          <a:srgbClr val="006699"/>
                        </a:buClr>
                        <a:buSzPct val="90000"/>
                        <a:buFont typeface="Wingdings" pitchFamily="2" charset="2"/>
                        <a:buChar char="§"/>
                        <a:tabLst/>
                      </a:pPr>
                      <a:r>
                        <a:rPr kumimoji="0" lang="en-US" sz="1400" b="1" i="0" u="none" strike="noStrike" cap="none" normalizeH="0" baseline="0">
                          <a:ln>
                            <a:noFill/>
                          </a:ln>
                          <a:solidFill>
                            <a:schemeClr val="tx1"/>
                          </a:solidFill>
                          <a:effectLst/>
                          <a:latin typeface="Arial" charset="0"/>
                        </a:rPr>
                        <a:t>Interrogate the Current State</a:t>
                      </a:r>
                    </a:p>
                  </a:txBody>
                  <a:tcPr marT="45721" marB="45721" horzOverflow="overflow">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noFill/>
                  </a:tcPr>
                </a:tc>
                <a:tc>
                  <a:txBody>
                    <a:bodyPr/>
                    <a:lstStyle/>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Char char="§"/>
                        <a:tabLst/>
                      </a:pPr>
                      <a:r>
                        <a:rPr kumimoji="0" lang="en-US" sz="1400" b="1" i="0" u="none" strike="noStrike" cap="none" normalizeH="0" baseline="0">
                          <a:ln>
                            <a:noFill/>
                          </a:ln>
                          <a:solidFill>
                            <a:schemeClr val="tx1"/>
                          </a:solidFill>
                          <a:effectLst/>
                          <a:latin typeface="Arial" charset="0"/>
                        </a:rPr>
                        <a:t>Current State Report-Out to Management</a:t>
                      </a:r>
                    </a:p>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Char char="§"/>
                        <a:tabLst/>
                      </a:pPr>
                      <a:r>
                        <a:rPr kumimoji="0" lang="en-US" sz="1400" b="1" i="0" u="none" strike="noStrike" cap="none" normalizeH="0" baseline="0">
                          <a:ln>
                            <a:noFill/>
                          </a:ln>
                          <a:solidFill>
                            <a:schemeClr val="tx1"/>
                          </a:solidFill>
                          <a:effectLst/>
                          <a:latin typeface="Arial" charset="0"/>
                        </a:rPr>
                        <a:t>Completed Marked-Up Current State Map</a:t>
                      </a:r>
                    </a:p>
                  </a:txBody>
                  <a:tcPr marT="45721" marB="45721" horzOverflow="overflow">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902221">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40000"/>
                        <a:buFont typeface="Wingdings" pitchFamily="2" charset="2"/>
                        <a:buNone/>
                        <a:tabLst/>
                      </a:pPr>
                      <a:r>
                        <a:rPr kumimoji="0" lang="en-US" sz="1600" b="1" i="0" u="none" strike="noStrike" cap="none" normalizeH="0" baseline="0">
                          <a:ln>
                            <a:noFill/>
                          </a:ln>
                          <a:solidFill>
                            <a:schemeClr val="tx1"/>
                          </a:solidFill>
                          <a:effectLst/>
                          <a:latin typeface="Arial" charset="0"/>
                        </a:rPr>
                        <a:t>Day 4</a:t>
                      </a:r>
                    </a:p>
                  </a:txBody>
                  <a:tcPr marT="45721" marB="45721" horzOverflow="overflow">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noFill/>
                  </a:tcPr>
                </a:tc>
                <a:tc>
                  <a:txBody>
                    <a:bodyPr/>
                    <a:lstStyle/>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Char char="§"/>
                        <a:tabLst/>
                      </a:pPr>
                      <a:r>
                        <a:rPr kumimoji="0" lang="en-US" sz="1400" b="1" i="0" u="none" strike="noStrike" cap="none" normalizeH="0" baseline="0">
                          <a:ln>
                            <a:noFill/>
                          </a:ln>
                          <a:solidFill>
                            <a:schemeClr val="tx1"/>
                          </a:solidFill>
                          <a:effectLst/>
                          <a:latin typeface="Arial" charset="0"/>
                        </a:rPr>
                        <a:t>Future State Mapping</a:t>
                      </a:r>
                    </a:p>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Char char="§"/>
                        <a:tabLst/>
                      </a:pPr>
                      <a:r>
                        <a:rPr kumimoji="0" lang="en-US" sz="1400" b="1" i="0" u="none" strike="noStrike" cap="none" normalizeH="0" baseline="0">
                          <a:ln>
                            <a:noFill/>
                          </a:ln>
                          <a:solidFill>
                            <a:schemeClr val="tx1"/>
                          </a:solidFill>
                          <a:effectLst/>
                          <a:latin typeface="Arial" charset="0"/>
                        </a:rPr>
                        <a:t>Completing the Value Stream Plan</a:t>
                      </a:r>
                    </a:p>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Char char="§"/>
                        <a:tabLst/>
                      </a:pPr>
                      <a:r>
                        <a:rPr kumimoji="0" lang="en-US" sz="1400" b="1" i="0" u="none" strike="noStrike" cap="none" normalizeH="0" baseline="0">
                          <a:ln>
                            <a:noFill/>
                          </a:ln>
                          <a:solidFill>
                            <a:schemeClr val="tx1"/>
                          </a:solidFill>
                          <a:effectLst/>
                          <a:latin typeface="Arial" charset="0"/>
                        </a:rPr>
                        <a:t>Beyond the Future State</a:t>
                      </a:r>
                    </a:p>
                  </a:txBody>
                  <a:tcPr marT="45721" marB="45721" horzOverflow="overflow">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noFill/>
                  </a:tcPr>
                </a:tc>
                <a:tc>
                  <a:txBody>
                    <a:bodyPr/>
                    <a:lstStyle/>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Char char="§"/>
                        <a:tabLst/>
                      </a:pPr>
                      <a:r>
                        <a:rPr kumimoji="0" lang="en-US" sz="1400" b="1" i="0" u="none" strike="noStrike" cap="none" normalizeH="0" baseline="0">
                          <a:ln>
                            <a:noFill/>
                          </a:ln>
                          <a:solidFill>
                            <a:schemeClr val="tx1"/>
                          </a:solidFill>
                          <a:effectLst/>
                          <a:latin typeface="Arial" charset="0"/>
                        </a:rPr>
                        <a:t>Completed Future State Map and Value Stream Plan</a:t>
                      </a:r>
                    </a:p>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Char char="§"/>
                        <a:tabLst/>
                      </a:pPr>
                      <a:endParaRPr kumimoji="0" lang="en-US" sz="1400" b="1" i="0" u="none" strike="noStrike" cap="none" normalizeH="0" baseline="0">
                        <a:ln>
                          <a:noFill/>
                        </a:ln>
                        <a:solidFill>
                          <a:schemeClr val="tx1"/>
                        </a:solidFill>
                        <a:effectLst/>
                        <a:latin typeface="Arial" charset="0"/>
                      </a:endParaRPr>
                    </a:p>
                  </a:txBody>
                  <a:tcPr marT="45721" marB="45721" horzOverflow="overflow">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55661">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40000"/>
                        <a:buFont typeface="Wingdings" pitchFamily="2" charset="2"/>
                        <a:buNone/>
                        <a:tabLst/>
                      </a:pPr>
                      <a:r>
                        <a:rPr kumimoji="0" lang="en-US" sz="1600" b="1" i="0" u="none" strike="noStrike" cap="none" normalizeH="0" baseline="0">
                          <a:ln>
                            <a:noFill/>
                          </a:ln>
                          <a:solidFill>
                            <a:schemeClr val="tx1"/>
                          </a:solidFill>
                          <a:effectLst/>
                          <a:latin typeface="Arial" charset="0"/>
                        </a:rPr>
                        <a:t>Day 5</a:t>
                      </a:r>
                    </a:p>
                  </a:txBody>
                  <a:tcPr marT="45721" marB="45721" horzOverflow="overflow">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noFill/>
                  </a:tcPr>
                </a:tc>
                <a:tc>
                  <a:txBody>
                    <a:bodyPr/>
                    <a:lstStyle/>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Char char="§"/>
                        <a:tabLst/>
                      </a:pPr>
                      <a:r>
                        <a:rPr kumimoji="0" lang="en-US" sz="1400" b="1" i="0" u="none" strike="noStrike" cap="none" normalizeH="0" baseline="0">
                          <a:ln>
                            <a:noFill/>
                          </a:ln>
                          <a:solidFill>
                            <a:schemeClr val="tx1"/>
                          </a:solidFill>
                          <a:effectLst/>
                          <a:latin typeface="Arial" charset="0"/>
                        </a:rPr>
                        <a:t>Prepare for Team Final Report-Out</a:t>
                      </a:r>
                    </a:p>
                  </a:txBody>
                  <a:tcPr marT="45721" marB="45721" horzOverflow="overflow">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noFill/>
                  </a:tcPr>
                </a:tc>
                <a:tc>
                  <a:txBody>
                    <a:bodyPr/>
                    <a:lstStyle/>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Char char="§"/>
                        <a:tabLst/>
                      </a:pPr>
                      <a:r>
                        <a:rPr kumimoji="0" lang="en-US" sz="1400" b="1" i="0" u="none" strike="noStrike" cap="none" normalizeH="0" baseline="0" dirty="0">
                          <a:ln>
                            <a:noFill/>
                          </a:ln>
                          <a:solidFill>
                            <a:schemeClr val="tx1"/>
                          </a:solidFill>
                          <a:effectLst/>
                          <a:latin typeface="Arial" charset="0"/>
                        </a:rPr>
                        <a:t>Final Report-Out to Management</a:t>
                      </a:r>
                    </a:p>
                  </a:txBody>
                  <a:tcPr marT="45721" marB="45721" horzOverflow="overflow">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2363758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E8AF3-1BCD-FD64-0CC5-69866BF5B308}"/>
              </a:ext>
            </a:extLst>
          </p:cNvPr>
          <p:cNvSpPr>
            <a:spLocks noGrp="1"/>
          </p:cNvSpPr>
          <p:nvPr>
            <p:ph type="title"/>
          </p:nvPr>
        </p:nvSpPr>
        <p:spPr/>
        <p:txBody>
          <a:bodyPr/>
          <a:lstStyle/>
          <a:p>
            <a:r>
              <a:rPr lang="en-US" dirty="0"/>
              <a:t>The Value Stream Plan</a:t>
            </a:r>
          </a:p>
        </p:txBody>
      </p:sp>
      <p:pic>
        <p:nvPicPr>
          <p:cNvPr id="3" name="Picture 10" descr="Blank VS Plan">
            <a:extLst>
              <a:ext uri="{FF2B5EF4-FFF2-40B4-BE49-F238E27FC236}">
                <a16:creationId xmlns:a16="http://schemas.microsoft.com/office/drawing/2014/main" id="{2EB3796E-A3B3-2487-7ADF-993006B56F0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8353"/>
          <a:stretch/>
        </p:blipFill>
        <p:spPr bwMode="auto">
          <a:xfrm>
            <a:off x="1355265" y="1806893"/>
            <a:ext cx="9481470" cy="437007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00675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5659A-1B9D-6AC3-4B5A-3206CCF1FA8B}"/>
              </a:ext>
            </a:extLst>
          </p:cNvPr>
          <p:cNvSpPr>
            <a:spLocks noGrp="1"/>
          </p:cNvSpPr>
          <p:nvPr>
            <p:ph type="title"/>
          </p:nvPr>
        </p:nvSpPr>
        <p:spPr/>
        <p:txBody>
          <a:bodyPr>
            <a:noAutofit/>
          </a:bodyPr>
          <a:lstStyle/>
          <a:p>
            <a:r>
              <a:rPr lang="en-US" sz="3600" dirty="0"/>
              <a:t>VSM in Context</a:t>
            </a:r>
          </a:p>
        </p:txBody>
      </p:sp>
      <p:sp>
        <p:nvSpPr>
          <p:cNvPr id="3" name="Content Placeholder 2">
            <a:extLst>
              <a:ext uri="{FF2B5EF4-FFF2-40B4-BE49-F238E27FC236}">
                <a16:creationId xmlns:a16="http://schemas.microsoft.com/office/drawing/2014/main" id="{ACC36E60-9F8A-5DBE-A0D5-44C39EE59A27}"/>
              </a:ext>
            </a:extLst>
          </p:cNvPr>
          <p:cNvSpPr>
            <a:spLocks noGrp="1"/>
          </p:cNvSpPr>
          <p:nvPr>
            <p:ph idx="1"/>
          </p:nvPr>
        </p:nvSpPr>
        <p:spPr>
          <a:xfrm>
            <a:off x="838200" y="1825625"/>
            <a:ext cx="2453951" cy="2711299"/>
          </a:xfrm>
        </p:spPr>
        <p:txBody>
          <a:bodyPr>
            <a:normAutofit fontScale="92500" lnSpcReduction="10000"/>
          </a:bodyPr>
          <a:lstStyle/>
          <a:p>
            <a:pPr>
              <a:spcBef>
                <a:spcPct val="20000"/>
              </a:spcBef>
              <a:spcAft>
                <a:spcPct val="20000"/>
              </a:spcAft>
            </a:pPr>
            <a:r>
              <a:rPr lang="en-US" altLang="en-US" sz="2400" dirty="0"/>
              <a:t>VSM is an incremental and repeatable cycle</a:t>
            </a:r>
          </a:p>
          <a:p>
            <a:pPr>
              <a:spcBef>
                <a:spcPct val="20000"/>
              </a:spcBef>
              <a:spcAft>
                <a:spcPct val="20000"/>
              </a:spcAft>
            </a:pPr>
            <a:r>
              <a:rPr lang="en-US" altLang="en-US" sz="2400" dirty="0"/>
              <a:t>VSM implementation cycles should support business</a:t>
            </a:r>
            <a:r>
              <a:rPr lang="ja-JP" altLang="en-US" sz="2400"/>
              <a:t>’</a:t>
            </a:r>
            <a:r>
              <a:rPr lang="en-US" altLang="ja-JP" sz="2400" dirty="0"/>
              <a:t> long-term </a:t>
            </a:r>
            <a:r>
              <a:rPr lang="ja-JP" altLang="en-US" sz="2400"/>
              <a:t>“</a:t>
            </a:r>
            <a:r>
              <a:rPr lang="en-US" altLang="ja-JP" sz="2400" dirty="0"/>
              <a:t>vision</a:t>
            </a:r>
            <a:r>
              <a:rPr lang="ja-JP" altLang="en-US" sz="2400"/>
              <a:t>”</a:t>
            </a:r>
            <a:r>
              <a:rPr lang="en-US" altLang="ja-JP" sz="2400" dirty="0"/>
              <a:t> </a:t>
            </a:r>
            <a:endParaRPr lang="en-US" altLang="en-US" sz="2400" dirty="0"/>
          </a:p>
        </p:txBody>
      </p:sp>
      <p:grpSp>
        <p:nvGrpSpPr>
          <p:cNvPr id="5" name="Group 4">
            <a:extLst>
              <a:ext uri="{FF2B5EF4-FFF2-40B4-BE49-F238E27FC236}">
                <a16:creationId xmlns:a16="http://schemas.microsoft.com/office/drawing/2014/main" id="{C77717C3-CC2C-2399-63BE-F804EAB39AFB}"/>
              </a:ext>
            </a:extLst>
          </p:cNvPr>
          <p:cNvGrpSpPr/>
          <p:nvPr/>
        </p:nvGrpSpPr>
        <p:grpSpPr>
          <a:xfrm>
            <a:off x="940249" y="302538"/>
            <a:ext cx="6219503" cy="311932"/>
            <a:chOff x="940249" y="302538"/>
            <a:chExt cx="6219503" cy="311932"/>
          </a:xfrm>
        </p:grpSpPr>
        <p:sp>
          <p:nvSpPr>
            <p:cNvPr id="6" name="TextBox 5">
              <a:extLst>
                <a:ext uri="{FF2B5EF4-FFF2-40B4-BE49-F238E27FC236}">
                  <a16:creationId xmlns:a16="http://schemas.microsoft.com/office/drawing/2014/main" id="{4022925D-8ED2-7623-0534-C997F7D301E0}"/>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Develop Value Stream Plan</a:t>
              </a:r>
            </a:p>
          </p:txBody>
        </p:sp>
        <p:sp>
          <p:nvSpPr>
            <p:cNvPr id="7" name="AutoShape 9">
              <a:extLst>
                <a:ext uri="{FF2B5EF4-FFF2-40B4-BE49-F238E27FC236}">
                  <a16:creationId xmlns:a16="http://schemas.microsoft.com/office/drawing/2014/main" id="{78E0535C-FBE0-54CF-6E02-18C08A17F07E}"/>
                </a:ext>
              </a:extLst>
            </p:cNvPr>
            <p:cNvSpPr>
              <a:spLocks noChangeArrowheads="1"/>
            </p:cNvSpPr>
            <p:nvPr/>
          </p:nvSpPr>
          <p:spPr bwMode="auto">
            <a:xfrm>
              <a:off x="2183425"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CBAA5BA8-81E2-1872-EE73-76961B388F18}"/>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6E1BAB1F-568B-9D1B-A965-978BD3AAA08F}"/>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AD2FA40B-7E9C-AC70-A360-A635DFB34CAE}"/>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D2879726-91FE-FFE0-1D8C-1AA74574E498}"/>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2" name="Rectangle 13">
            <a:extLst>
              <a:ext uri="{FF2B5EF4-FFF2-40B4-BE49-F238E27FC236}">
                <a16:creationId xmlns:a16="http://schemas.microsoft.com/office/drawing/2014/main" id="{152F85AB-D980-C8B6-967E-F0C8482B5A63}"/>
              </a:ext>
            </a:extLst>
          </p:cNvPr>
          <p:cNvSpPr>
            <a:spLocks noChangeArrowheads="1"/>
          </p:cNvSpPr>
          <p:nvPr/>
        </p:nvSpPr>
        <p:spPr bwMode="auto">
          <a:xfrm>
            <a:off x="4038600" y="2501761"/>
            <a:ext cx="1066800" cy="685800"/>
          </a:xfrm>
          <a:prstGeom prst="rect">
            <a:avLst/>
          </a:prstGeom>
          <a:solidFill>
            <a:srgbClr val="7F7F7F"/>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200" dirty="0">
                <a:solidFill>
                  <a:schemeClr val="bg1"/>
                </a:solidFill>
              </a:rPr>
              <a:t>VSM</a:t>
            </a:r>
          </a:p>
          <a:p>
            <a:pPr algn="ctr">
              <a:lnSpc>
                <a:spcPct val="100000"/>
              </a:lnSpc>
              <a:spcBef>
                <a:spcPct val="30000"/>
              </a:spcBef>
              <a:spcAft>
                <a:spcPct val="0"/>
              </a:spcAft>
              <a:buClrTx/>
              <a:buSzTx/>
              <a:buFontTx/>
              <a:buNone/>
            </a:pPr>
            <a:r>
              <a:rPr lang="ja-JP" altLang="en-US" sz="1200">
                <a:solidFill>
                  <a:schemeClr val="bg1"/>
                </a:solidFill>
              </a:rPr>
              <a:t>“</a:t>
            </a:r>
            <a:r>
              <a:rPr lang="en-US" altLang="ja-JP" sz="1200" dirty="0">
                <a:solidFill>
                  <a:schemeClr val="bg1"/>
                </a:solidFill>
              </a:rPr>
              <a:t>Event</a:t>
            </a:r>
            <a:r>
              <a:rPr lang="ja-JP" altLang="en-US" sz="1200">
                <a:solidFill>
                  <a:schemeClr val="bg1"/>
                </a:solidFill>
              </a:rPr>
              <a:t>”</a:t>
            </a:r>
            <a:endParaRPr lang="en-US" altLang="en-US" sz="1200" dirty="0">
              <a:solidFill>
                <a:schemeClr val="bg1"/>
              </a:solidFill>
            </a:endParaRPr>
          </a:p>
        </p:txBody>
      </p:sp>
      <p:sp>
        <p:nvSpPr>
          <p:cNvPr id="13" name="AutoShape 14">
            <a:extLst>
              <a:ext uri="{FF2B5EF4-FFF2-40B4-BE49-F238E27FC236}">
                <a16:creationId xmlns:a16="http://schemas.microsoft.com/office/drawing/2014/main" id="{D0DBFD24-B079-945E-2A99-DCBCC0562B14}"/>
              </a:ext>
            </a:extLst>
          </p:cNvPr>
          <p:cNvSpPr>
            <a:spLocks noChangeArrowheads="1"/>
          </p:cNvSpPr>
          <p:nvPr/>
        </p:nvSpPr>
        <p:spPr bwMode="auto">
          <a:xfrm>
            <a:off x="4191000" y="4025761"/>
            <a:ext cx="914400" cy="609600"/>
          </a:xfrm>
          <a:prstGeom prst="flowChartDocument">
            <a:avLst/>
          </a:prstGeom>
          <a:solidFill>
            <a:srgbClr val="7F7F7F"/>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200">
                <a:solidFill>
                  <a:schemeClr val="bg1"/>
                </a:solidFill>
              </a:rPr>
              <a:t>Future-State</a:t>
            </a:r>
          </a:p>
          <a:p>
            <a:pPr algn="ctr">
              <a:lnSpc>
                <a:spcPct val="100000"/>
              </a:lnSpc>
              <a:spcBef>
                <a:spcPct val="30000"/>
              </a:spcBef>
              <a:spcAft>
                <a:spcPct val="0"/>
              </a:spcAft>
              <a:buClrTx/>
              <a:buSzTx/>
              <a:buFontTx/>
              <a:buNone/>
            </a:pPr>
            <a:r>
              <a:rPr lang="en-US" altLang="en-US" sz="1200">
                <a:solidFill>
                  <a:schemeClr val="bg1"/>
                </a:solidFill>
              </a:rPr>
              <a:t>VSM</a:t>
            </a:r>
          </a:p>
        </p:txBody>
      </p:sp>
      <p:sp>
        <p:nvSpPr>
          <p:cNvPr id="14" name="AutoShape 15">
            <a:extLst>
              <a:ext uri="{FF2B5EF4-FFF2-40B4-BE49-F238E27FC236}">
                <a16:creationId xmlns:a16="http://schemas.microsoft.com/office/drawing/2014/main" id="{340D9F38-AE89-EDA4-5467-6CCE3EFA34EE}"/>
              </a:ext>
            </a:extLst>
          </p:cNvPr>
          <p:cNvSpPr>
            <a:spLocks noChangeArrowheads="1"/>
          </p:cNvSpPr>
          <p:nvPr/>
        </p:nvSpPr>
        <p:spPr bwMode="auto">
          <a:xfrm>
            <a:off x="4648200" y="3492361"/>
            <a:ext cx="914400" cy="609600"/>
          </a:xfrm>
          <a:prstGeom prst="flowChartDocument">
            <a:avLst/>
          </a:prstGeom>
          <a:solidFill>
            <a:srgbClr val="7F7F7F"/>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100">
                <a:solidFill>
                  <a:schemeClr val="bg1"/>
                </a:solidFill>
              </a:rPr>
              <a:t>Value Stream</a:t>
            </a:r>
          </a:p>
          <a:p>
            <a:pPr algn="ctr">
              <a:lnSpc>
                <a:spcPct val="100000"/>
              </a:lnSpc>
              <a:spcBef>
                <a:spcPct val="30000"/>
              </a:spcBef>
              <a:spcAft>
                <a:spcPct val="0"/>
              </a:spcAft>
              <a:buClrTx/>
              <a:buSzTx/>
              <a:buFontTx/>
              <a:buNone/>
            </a:pPr>
            <a:r>
              <a:rPr lang="en-US" altLang="en-US" sz="1100">
                <a:solidFill>
                  <a:schemeClr val="bg1"/>
                </a:solidFill>
              </a:rPr>
              <a:t>Plan</a:t>
            </a:r>
          </a:p>
        </p:txBody>
      </p:sp>
      <p:sp>
        <p:nvSpPr>
          <p:cNvPr id="15" name="Line 16">
            <a:extLst>
              <a:ext uri="{FF2B5EF4-FFF2-40B4-BE49-F238E27FC236}">
                <a16:creationId xmlns:a16="http://schemas.microsoft.com/office/drawing/2014/main" id="{D4FE94C9-A916-E298-52A4-6ADBF4E23D2D}"/>
              </a:ext>
            </a:extLst>
          </p:cNvPr>
          <p:cNvSpPr>
            <a:spLocks noChangeShapeType="1"/>
          </p:cNvSpPr>
          <p:nvPr/>
        </p:nvSpPr>
        <p:spPr bwMode="auto">
          <a:xfrm>
            <a:off x="4876800" y="3187561"/>
            <a:ext cx="228600" cy="3048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16" name="Line 17">
            <a:extLst>
              <a:ext uri="{FF2B5EF4-FFF2-40B4-BE49-F238E27FC236}">
                <a16:creationId xmlns:a16="http://schemas.microsoft.com/office/drawing/2014/main" id="{45D42E3E-66B5-92F8-C8FD-0414300267CC}"/>
              </a:ext>
            </a:extLst>
          </p:cNvPr>
          <p:cNvSpPr>
            <a:spLocks noChangeShapeType="1"/>
          </p:cNvSpPr>
          <p:nvPr/>
        </p:nvSpPr>
        <p:spPr bwMode="auto">
          <a:xfrm>
            <a:off x="4343400" y="3187561"/>
            <a:ext cx="7620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17" name="Rectangle 18">
            <a:extLst>
              <a:ext uri="{FF2B5EF4-FFF2-40B4-BE49-F238E27FC236}">
                <a16:creationId xmlns:a16="http://schemas.microsoft.com/office/drawing/2014/main" id="{82B0CA5D-991E-690A-8C6E-D47C93C8D1B2}"/>
              </a:ext>
            </a:extLst>
          </p:cNvPr>
          <p:cNvSpPr>
            <a:spLocks noChangeArrowheads="1"/>
          </p:cNvSpPr>
          <p:nvPr/>
        </p:nvSpPr>
        <p:spPr bwMode="auto">
          <a:xfrm>
            <a:off x="6096000" y="2349361"/>
            <a:ext cx="1219200" cy="990600"/>
          </a:xfrm>
          <a:prstGeom prst="rect">
            <a:avLst/>
          </a:prstGeom>
          <a:solidFill>
            <a:srgbClr val="7F7F7F"/>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200">
                <a:solidFill>
                  <a:schemeClr val="bg1"/>
                </a:solidFill>
              </a:rPr>
              <a:t>VS Plan</a:t>
            </a:r>
          </a:p>
          <a:p>
            <a:pPr algn="ctr">
              <a:lnSpc>
                <a:spcPct val="100000"/>
              </a:lnSpc>
              <a:spcBef>
                <a:spcPct val="30000"/>
              </a:spcBef>
              <a:spcAft>
                <a:spcPct val="0"/>
              </a:spcAft>
              <a:buClrTx/>
              <a:buSzTx/>
              <a:buFontTx/>
              <a:buNone/>
            </a:pPr>
            <a:r>
              <a:rPr lang="en-US" altLang="en-US" sz="1200">
                <a:solidFill>
                  <a:schemeClr val="bg1"/>
                </a:solidFill>
              </a:rPr>
              <a:t>Implementation</a:t>
            </a:r>
          </a:p>
        </p:txBody>
      </p:sp>
      <p:sp>
        <p:nvSpPr>
          <p:cNvPr id="18" name="Rectangle 19">
            <a:extLst>
              <a:ext uri="{FF2B5EF4-FFF2-40B4-BE49-F238E27FC236}">
                <a16:creationId xmlns:a16="http://schemas.microsoft.com/office/drawing/2014/main" id="{5C731AB0-3773-A28C-6F85-C883F5F92D00}"/>
              </a:ext>
            </a:extLst>
          </p:cNvPr>
          <p:cNvSpPr>
            <a:spLocks noChangeArrowheads="1"/>
          </p:cNvSpPr>
          <p:nvPr/>
        </p:nvSpPr>
        <p:spPr bwMode="auto">
          <a:xfrm>
            <a:off x="8229600" y="2501761"/>
            <a:ext cx="1066800" cy="685800"/>
          </a:xfrm>
          <a:prstGeom prst="rect">
            <a:avLst/>
          </a:prstGeom>
          <a:solidFill>
            <a:srgbClr val="7F7F7F"/>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200">
                <a:solidFill>
                  <a:schemeClr val="bg1"/>
                </a:solidFill>
              </a:rPr>
              <a:t>New</a:t>
            </a:r>
          </a:p>
          <a:p>
            <a:pPr algn="ctr">
              <a:lnSpc>
                <a:spcPct val="100000"/>
              </a:lnSpc>
              <a:spcBef>
                <a:spcPct val="30000"/>
              </a:spcBef>
              <a:spcAft>
                <a:spcPct val="0"/>
              </a:spcAft>
              <a:buClrTx/>
              <a:buSzTx/>
              <a:buFontTx/>
              <a:buNone/>
            </a:pPr>
            <a:r>
              <a:rPr lang="en-US" altLang="en-US" sz="1200">
                <a:solidFill>
                  <a:schemeClr val="bg1"/>
                </a:solidFill>
              </a:rPr>
              <a:t>VSM</a:t>
            </a:r>
          </a:p>
          <a:p>
            <a:pPr algn="ctr">
              <a:lnSpc>
                <a:spcPct val="100000"/>
              </a:lnSpc>
              <a:spcBef>
                <a:spcPct val="30000"/>
              </a:spcBef>
              <a:spcAft>
                <a:spcPct val="0"/>
              </a:spcAft>
              <a:buClrTx/>
              <a:buSzTx/>
              <a:buFontTx/>
              <a:buNone/>
            </a:pPr>
            <a:r>
              <a:rPr lang="ja-JP" altLang="en-US" sz="1200">
                <a:solidFill>
                  <a:schemeClr val="bg1"/>
                </a:solidFill>
              </a:rPr>
              <a:t>“</a:t>
            </a:r>
            <a:r>
              <a:rPr lang="en-US" altLang="ja-JP" sz="1200">
                <a:solidFill>
                  <a:schemeClr val="bg1"/>
                </a:solidFill>
              </a:rPr>
              <a:t>Event</a:t>
            </a:r>
            <a:r>
              <a:rPr lang="ja-JP" altLang="en-US" sz="1200">
                <a:solidFill>
                  <a:schemeClr val="bg1"/>
                </a:solidFill>
              </a:rPr>
              <a:t>”</a:t>
            </a:r>
            <a:endParaRPr lang="en-US" altLang="en-US" sz="1200">
              <a:solidFill>
                <a:schemeClr val="bg1"/>
              </a:solidFill>
            </a:endParaRPr>
          </a:p>
        </p:txBody>
      </p:sp>
      <p:sp>
        <p:nvSpPr>
          <p:cNvPr id="19" name="AutoShape 20">
            <a:extLst>
              <a:ext uri="{FF2B5EF4-FFF2-40B4-BE49-F238E27FC236}">
                <a16:creationId xmlns:a16="http://schemas.microsoft.com/office/drawing/2014/main" id="{21917F19-98D3-CA5E-0B3F-7485C4858CD5}"/>
              </a:ext>
            </a:extLst>
          </p:cNvPr>
          <p:cNvSpPr>
            <a:spLocks noChangeArrowheads="1"/>
          </p:cNvSpPr>
          <p:nvPr/>
        </p:nvSpPr>
        <p:spPr bwMode="auto">
          <a:xfrm>
            <a:off x="8229600" y="4101961"/>
            <a:ext cx="914400" cy="685800"/>
          </a:xfrm>
          <a:prstGeom prst="flowChartDocument">
            <a:avLst/>
          </a:prstGeom>
          <a:solidFill>
            <a:srgbClr val="7F7F7F"/>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100">
                <a:solidFill>
                  <a:schemeClr val="bg1"/>
                </a:solidFill>
              </a:rPr>
              <a:t>New</a:t>
            </a:r>
          </a:p>
          <a:p>
            <a:pPr algn="ctr">
              <a:lnSpc>
                <a:spcPct val="100000"/>
              </a:lnSpc>
              <a:spcBef>
                <a:spcPct val="30000"/>
              </a:spcBef>
              <a:spcAft>
                <a:spcPct val="0"/>
              </a:spcAft>
              <a:buClrTx/>
              <a:buSzTx/>
              <a:buFontTx/>
              <a:buNone/>
            </a:pPr>
            <a:r>
              <a:rPr lang="en-US" altLang="en-US" sz="1100">
                <a:solidFill>
                  <a:schemeClr val="bg1"/>
                </a:solidFill>
              </a:rPr>
              <a:t>Future-State</a:t>
            </a:r>
          </a:p>
          <a:p>
            <a:pPr algn="ctr">
              <a:lnSpc>
                <a:spcPct val="100000"/>
              </a:lnSpc>
              <a:spcBef>
                <a:spcPct val="30000"/>
              </a:spcBef>
              <a:spcAft>
                <a:spcPct val="0"/>
              </a:spcAft>
              <a:buClrTx/>
              <a:buSzTx/>
              <a:buFontTx/>
              <a:buNone/>
            </a:pPr>
            <a:r>
              <a:rPr lang="en-US" altLang="en-US" sz="1100">
                <a:solidFill>
                  <a:schemeClr val="bg1"/>
                </a:solidFill>
              </a:rPr>
              <a:t>VSM</a:t>
            </a:r>
          </a:p>
        </p:txBody>
      </p:sp>
      <p:sp>
        <p:nvSpPr>
          <p:cNvPr id="20" name="AutoShape 21">
            <a:extLst>
              <a:ext uri="{FF2B5EF4-FFF2-40B4-BE49-F238E27FC236}">
                <a16:creationId xmlns:a16="http://schemas.microsoft.com/office/drawing/2014/main" id="{73D860F7-78E4-8216-AE71-F8727CE7C3B2}"/>
              </a:ext>
            </a:extLst>
          </p:cNvPr>
          <p:cNvSpPr>
            <a:spLocks noChangeArrowheads="1"/>
          </p:cNvSpPr>
          <p:nvPr/>
        </p:nvSpPr>
        <p:spPr bwMode="auto">
          <a:xfrm>
            <a:off x="8616950" y="3339961"/>
            <a:ext cx="984250" cy="762000"/>
          </a:xfrm>
          <a:prstGeom prst="flowChartDocument">
            <a:avLst/>
          </a:prstGeom>
          <a:solidFill>
            <a:srgbClr val="7F7F7F"/>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100">
                <a:solidFill>
                  <a:schemeClr val="bg1"/>
                </a:solidFill>
              </a:rPr>
              <a:t>New </a:t>
            </a:r>
          </a:p>
          <a:p>
            <a:pPr algn="ctr">
              <a:lnSpc>
                <a:spcPct val="100000"/>
              </a:lnSpc>
              <a:spcBef>
                <a:spcPct val="30000"/>
              </a:spcBef>
              <a:spcAft>
                <a:spcPct val="0"/>
              </a:spcAft>
              <a:buClrTx/>
              <a:buSzTx/>
              <a:buFontTx/>
              <a:buNone/>
            </a:pPr>
            <a:r>
              <a:rPr lang="en-US" altLang="en-US" sz="1100">
                <a:solidFill>
                  <a:schemeClr val="bg1"/>
                </a:solidFill>
              </a:rPr>
              <a:t>Value Stream</a:t>
            </a:r>
          </a:p>
          <a:p>
            <a:pPr algn="ctr">
              <a:lnSpc>
                <a:spcPct val="100000"/>
              </a:lnSpc>
              <a:spcBef>
                <a:spcPct val="30000"/>
              </a:spcBef>
              <a:spcAft>
                <a:spcPct val="0"/>
              </a:spcAft>
              <a:buClrTx/>
              <a:buSzTx/>
              <a:buFontTx/>
              <a:buNone/>
            </a:pPr>
            <a:r>
              <a:rPr lang="en-US" altLang="en-US" sz="1100">
                <a:solidFill>
                  <a:schemeClr val="bg1"/>
                </a:solidFill>
              </a:rPr>
              <a:t>Plan</a:t>
            </a:r>
          </a:p>
        </p:txBody>
      </p:sp>
      <p:sp>
        <p:nvSpPr>
          <p:cNvPr id="21" name="Line 22">
            <a:extLst>
              <a:ext uri="{FF2B5EF4-FFF2-40B4-BE49-F238E27FC236}">
                <a16:creationId xmlns:a16="http://schemas.microsoft.com/office/drawing/2014/main" id="{7CD651B0-18C0-4C9A-5DDE-3541B5DDF56B}"/>
              </a:ext>
            </a:extLst>
          </p:cNvPr>
          <p:cNvSpPr>
            <a:spLocks noChangeShapeType="1"/>
          </p:cNvSpPr>
          <p:nvPr/>
        </p:nvSpPr>
        <p:spPr bwMode="auto">
          <a:xfrm>
            <a:off x="8915400" y="3187561"/>
            <a:ext cx="152400" cy="1524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2" name="Line 23">
            <a:extLst>
              <a:ext uri="{FF2B5EF4-FFF2-40B4-BE49-F238E27FC236}">
                <a16:creationId xmlns:a16="http://schemas.microsoft.com/office/drawing/2014/main" id="{68317DC9-BAFD-B3C4-FBD2-3C569D89A168}"/>
              </a:ext>
            </a:extLst>
          </p:cNvPr>
          <p:cNvSpPr>
            <a:spLocks noChangeShapeType="1"/>
          </p:cNvSpPr>
          <p:nvPr/>
        </p:nvSpPr>
        <p:spPr bwMode="auto">
          <a:xfrm>
            <a:off x="8382000" y="3187561"/>
            <a:ext cx="152400" cy="9144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cxnSp>
        <p:nvCxnSpPr>
          <p:cNvPr id="23" name="AutoShape 24">
            <a:extLst>
              <a:ext uri="{FF2B5EF4-FFF2-40B4-BE49-F238E27FC236}">
                <a16:creationId xmlns:a16="http://schemas.microsoft.com/office/drawing/2014/main" id="{8FFAC33F-8471-EACF-F6FE-D61420B4579B}"/>
              </a:ext>
            </a:extLst>
          </p:cNvPr>
          <p:cNvCxnSpPr>
            <a:cxnSpLocks noChangeShapeType="1"/>
            <a:stCxn id="12" idx="3"/>
            <a:endCxn id="17" idx="1"/>
          </p:cNvCxnSpPr>
          <p:nvPr/>
        </p:nvCxnSpPr>
        <p:spPr bwMode="auto">
          <a:xfrm>
            <a:off x="5105400" y="2844661"/>
            <a:ext cx="990600" cy="0"/>
          </a:xfrm>
          <a:prstGeom prst="straightConnector1">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cxnSp>
      <p:cxnSp>
        <p:nvCxnSpPr>
          <p:cNvPr id="24" name="AutoShape 25">
            <a:extLst>
              <a:ext uri="{FF2B5EF4-FFF2-40B4-BE49-F238E27FC236}">
                <a16:creationId xmlns:a16="http://schemas.microsoft.com/office/drawing/2014/main" id="{F62F37A6-0494-10BE-8BB1-3791A7A9DFE6}"/>
              </a:ext>
            </a:extLst>
          </p:cNvPr>
          <p:cNvCxnSpPr>
            <a:cxnSpLocks noChangeShapeType="1"/>
            <a:stCxn id="17" idx="3"/>
            <a:endCxn id="18" idx="1"/>
          </p:cNvCxnSpPr>
          <p:nvPr/>
        </p:nvCxnSpPr>
        <p:spPr bwMode="auto">
          <a:xfrm>
            <a:off x="7315200" y="2844661"/>
            <a:ext cx="914400" cy="0"/>
          </a:xfrm>
          <a:prstGeom prst="straightConnector1">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cxnSp>
      <p:cxnSp>
        <p:nvCxnSpPr>
          <p:cNvPr id="25" name="AutoShape 26">
            <a:extLst>
              <a:ext uri="{FF2B5EF4-FFF2-40B4-BE49-F238E27FC236}">
                <a16:creationId xmlns:a16="http://schemas.microsoft.com/office/drawing/2014/main" id="{087637B6-A936-3E4D-D744-5604812B21B2}"/>
              </a:ext>
            </a:extLst>
          </p:cNvPr>
          <p:cNvCxnSpPr>
            <a:cxnSpLocks noChangeShapeType="1"/>
            <a:stCxn id="18" idx="3"/>
            <a:endCxn id="32" idx="1"/>
          </p:cNvCxnSpPr>
          <p:nvPr/>
        </p:nvCxnSpPr>
        <p:spPr bwMode="auto">
          <a:xfrm>
            <a:off x="9296400" y="2844661"/>
            <a:ext cx="990600" cy="0"/>
          </a:xfrm>
          <a:prstGeom prst="straightConnector1">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cxnSp>
      <p:sp>
        <p:nvSpPr>
          <p:cNvPr id="26" name="Line 27">
            <a:extLst>
              <a:ext uri="{FF2B5EF4-FFF2-40B4-BE49-F238E27FC236}">
                <a16:creationId xmlns:a16="http://schemas.microsoft.com/office/drawing/2014/main" id="{AB533F6C-8689-5989-A93F-38AAA03C64F4}"/>
              </a:ext>
            </a:extLst>
          </p:cNvPr>
          <p:cNvSpPr>
            <a:spLocks noChangeShapeType="1"/>
          </p:cNvSpPr>
          <p:nvPr/>
        </p:nvSpPr>
        <p:spPr bwMode="auto">
          <a:xfrm flipV="1">
            <a:off x="5181600" y="2092186"/>
            <a:ext cx="3048000" cy="0"/>
          </a:xfrm>
          <a:prstGeom prst="line">
            <a:avLst/>
          </a:prstGeom>
          <a:noFill/>
          <a:ln w="28575" cap="sq">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 name="Text Box 28">
            <a:extLst>
              <a:ext uri="{FF2B5EF4-FFF2-40B4-BE49-F238E27FC236}">
                <a16:creationId xmlns:a16="http://schemas.microsoft.com/office/drawing/2014/main" id="{BF36B4EB-FE9E-BE2C-A79B-77635AEFEFEB}"/>
              </a:ext>
            </a:extLst>
          </p:cNvPr>
          <p:cNvSpPr txBox="1">
            <a:spLocks noChangeArrowheads="1"/>
          </p:cNvSpPr>
          <p:nvPr/>
        </p:nvSpPr>
        <p:spPr bwMode="auto">
          <a:xfrm>
            <a:off x="5888038" y="1911211"/>
            <a:ext cx="1574800" cy="600164"/>
          </a:xfrm>
          <a:prstGeom prst="rect">
            <a:avLst/>
          </a:prstGeom>
          <a:solidFill>
            <a:schemeClr val="bg1"/>
          </a:solidFill>
          <a:ln w="12700" cap="sq">
            <a:solidFill>
              <a:schemeClr val="tx1"/>
            </a:solidFill>
            <a:miter lim="800000"/>
            <a:headEnd type="none" w="sm" len="sm"/>
            <a:tailEnd type="none" w="sm" len="sm"/>
          </a:ln>
        </p:spPr>
        <p:txBody>
          <a:bodyPr>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100" dirty="0"/>
              <a:t>Approx. ½ of time span from now to Future State</a:t>
            </a:r>
          </a:p>
        </p:txBody>
      </p:sp>
      <p:sp>
        <p:nvSpPr>
          <p:cNvPr id="28" name="Text Box 29">
            <a:extLst>
              <a:ext uri="{FF2B5EF4-FFF2-40B4-BE49-F238E27FC236}">
                <a16:creationId xmlns:a16="http://schemas.microsoft.com/office/drawing/2014/main" id="{CC2C01FC-3A0A-7163-7EF5-F527F320D516}"/>
              </a:ext>
            </a:extLst>
          </p:cNvPr>
          <p:cNvSpPr txBox="1">
            <a:spLocks noChangeArrowheads="1"/>
          </p:cNvSpPr>
          <p:nvPr/>
        </p:nvSpPr>
        <p:spPr bwMode="auto">
          <a:xfrm>
            <a:off x="6096000" y="3416161"/>
            <a:ext cx="152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30000"/>
              </a:spcBef>
              <a:spcAft>
                <a:spcPct val="0"/>
              </a:spcAft>
              <a:buClrTx/>
              <a:buSzTx/>
              <a:buFontTx/>
              <a:buNone/>
            </a:pPr>
            <a:r>
              <a:rPr lang="en-US" altLang="en-US" sz="1100" b="0" dirty="0"/>
              <a:t>Kaizen events and other improvement and transformational activities</a:t>
            </a:r>
          </a:p>
        </p:txBody>
      </p:sp>
      <p:sp>
        <p:nvSpPr>
          <p:cNvPr id="29" name="Rectangle 30">
            <a:extLst>
              <a:ext uri="{FF2B5EF4-FFF2-40B4-BE49-F238E27FC236}">
                <a16:creationId xmlns:a16="http://schemas.microsoft.com/office/drawing/2014/main" id="{3FE110B1-EB3A-2F2B-6694-DE66AA5E6453}"/>
              </a:ext>
            </a:extLst>
          </p:cNvPr>
          <p:cNvSpPr>
            <a:spLocks noChangeArrowheads="1"/>
          </p:cNvSpPr>
          <p:nvPr/>
        </p:nvSpPr>
        <p:spPr bwMode="auto">
          <a:xfrm>
            <a:off x="5715000" y="4940161"/>
            <a:ext cx="2514600" cy="914400"/>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000" dirty="0">
                <a:solidFill>
                  <a:schemeClr val="bg1"/>
                </a:solidFill>
              </a:rPr>
              <a:t>Begin implementation of</a:t>
            </a:r>
          </a:p>
          <a:p>
            <a:pPr algn="ctr">
              <a:lnSpc>
                <a:spcPct val="100000"/>
              </a:lnSpc>
              <a:spcBef>
                <a:spcPct val="30000"/>
              </a:spcBef>
              <a:spcAft>
                <a:spcPct val="0"/>
              </a:spcAft>
              <a:buClrTx/>
              <a:buSzTx/>
              <a:buFontTx/>
              <a:buNone/>
            </a:pPr>
            <a:r>
              <a:rPr lang="en-US" altLang="en-US" sz="1000" dirty="0">
                <a:solidFill>
                  <a:schemeClr val="bg1"/>
                </a:solidFill>
              </a:rPr>
              <a:t>pacing transformation activities</a:t>
            </a:r>
          </a:p>
          <a:p>
            <a:pPr algn="ctr">
              <a:lnSpc>
                <a:spcPct val="100000"/>
              </a:lnSpc>
              <a:spcBef>
                <a:spcPct val="30000"/>
              </a:spcBef>
              <a:spcAft>
                <a:spcPct val="0"/>
              </a:spcAft>
              <a:buClrTx/>
              <a:buSzTx/>
              <a:buFontTx/>
              <a:buNone/>
            </a:pPr>
            <a:r>
              <a:rPr lang="en-US" altLang="en-US" sz="1000" dirty="0">
                <a:solidFill>
                  <a:schemeClr val="bg1"/>
                </a:solidFill>
              </a:rPr>
              <a:t>(&gt;6 months) required to achieve </a:t>
            </a:r>
          </a:p>
          <a:p>
            <a:pPr algn="ctr">
              <a:lnSpc>
                <a:spcPct val="100000"/>
              </a:lnSpc>
              <a:spcBef>
                <a:spcPct val="30000"/>
              </a:spcBef>
              <a:spcAft>
                <a:spcPct val="0"/>
              </a:spcAft>
              <a:buClrTx/>
              <a:buSzTx/>
              <a:buFontTx/>
              <a:buNone/>
            </a:pPr>
            <a:r>
              <a:rPr lang="en-US" altLang="en-US" sz="1000" dirty="0">
                <a:solidFill>
                  <a:schemeClr val="bg1"/>
                </a:solidFill>
              </a:rPr>
              <a:t>long-term </a:t>
            </a:r>
            <a:r>
              <a:rPr lang="ja-JP" altLang="en-US" sz="1000">
                <a:solidFill>
                  <a:schemeClr val="bg1"/>
                </a:solidFill>
              </a:rPr>
              <a:t>“</a:t>
            </a:r>
            <a:r>
              <a:rPr lang="en-US" altLang="ja-JP" sz="1000" dirty="0">
                <a:solidFill>
                  <a:schemeClr val="bg1"/>
                </a:solidFill>
              </a:rPr>
              <a:t>vision</a:t>
            </a:r>
            <a:r>
              <a:rPr lang="ja-JP" altLang="en-US" sz="1000">
                <a:solidFill>
                  <a:schemeClr val="bg1"/>
                </a:solidFill>
              </a:rPr>
              <a:t>”</a:t>
            </a:r>
            <a:r>
              <a:rPr lang="en-US" altLang="ja-JP" sz="1000" dirty="0">
                <a:solidFill>
                  <a:schemeClr val="bg1"/>
                </a:solidFill>
              </a:rPr>
              <a:t> </a:t>
            </a:r>
            <a:endParaRPr lang="en-US" altLang="en-US" sz="1000" dirty="0">
              <a:solidFill>
                <a:schemeClr val="bg1"/>
              </a:solidFill>
            </a:endParaRPr>
          </a:p>
        </p:txBody>
      </p:sp>
      <p:sp>
        <p:nvSpPr>
          <p:cNvPr id="30" name="AutoShape 31">
            <a:extLst>
              <a:ext uri="{FF2B5EF4-FFF2-40B4-BE49-F238E27FC236}">
                <a16:creationId xmlns:a16="http://schemas.microsoft.com/office/drawing/2014/main" id="{4A38DE37-34DC-6B80-1545-CAEDC65BDC14}"/>
              </a:ext>
            </a:extLst>
          </p:cNvPr>
          <p:cNvSpPr>
            <a:spLocks noChangeArrowheads="1"/>
          </p:cNvSpPr>
          <p:nvPr/>
        </p:nvSpPr>
        <p:spPr bwMode="auto">
          <a:xfrm>
            <a:off x="4267200" y="5092561"/>
            <a:ext cx="914400" cy="609600"/>
          </a:xfrm>
          <a:prstGeom prst="flowChartDocument">
            <a:avLst/>
          </a:prstGeom>
          <a:solidFill>
            <a:schemeClr val="accent1"/>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000" dirty="0">
                <a:solidFill>
                  <a:schemeClr val="bg1"/>
                </a:solidFill>
              </a:rPr>
              <a:t>Long-term</a:t>
            </a:r>
          </a:p>
          <a:p>
            <a:pPr algn="ctr">
              <a:lnSpc>
                <a:spcPct val="100000"/>
              </a:lnSpc>
              <a:spcBef>
                <a:spcPct val="30000"/>
              </a:spcBef>
              <a:spcAft>
                <a:spcPct val="0"/>
              </a:spcAft>
              <a:buClrTx/>
              <a:buSzTx/>
              <a:buFontTx/>
              <a:buNone/>
            </a:pPr>
            <a:r>
              <a:rPr lang="en-US" altLang="en-US" sz="1000" dirty="0">
                <a:solidFill>
                  <a:schemeClr val="bg1"/>
                </a:solidFill>
              </a:rPr>
              <a:t>Vision</a:t>
            </a:r>
          </a:p>
        </p:txBody>
      </p:sp>
      <p:cxnSp>
        <p:nvCxnSpPr>
          <p:cNvPr id="31" name="AutoShape 32">
            <a:extLst>
              <a:ext uri="{FF2B5EF4-FFF2-40B4-BE49-F238E27FC236}">
                <a16:creationId xmlns:a16="http://schemas.microsoft.com/office/drawing/2014/main" id="{B8B068DB-7AE0-7669-41EA-3FDDA334149D}"/>
              </a:ext>
            </a:extLst>
          </p:cNvPr>
          <p:cNvCxnSpPr>
            <a:cxnSpLocks noChangeShapeType="1"/>
            <a:stCxn id="30" idx="3"/>
            <a:endCxn id="29" idx="1"/>
          </p:cNvCxnSpPr>
          <p:nvPr/>
        </p:nvCxnSpPr>
        <p:spPr bwMode="auto">
          <a:xfrm>
            <a:off x="5181600" y="5397361"/>
            <a:ext cx="533400" cy="0"/>
          </a:xfrm>
          <a:prstGeom prst="straightConnector1">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cxnSp>
      <p:sp>
        <p:nvSpPr>
          <p:cNvPr id="32" name="AutoShape 33">
            <a:extLst>
              <a:ext uri="{FF2B5EF4-FFF2-40B4-BE49-F238E27FC236}">
                <a16:creationId xmlns:a16="http://schemas.microsoft.com/office/drawing/2014/main" id="{8B912E10-787D-ED1B-8B2B-656F6716DAEF}"/>
              </a:ext>
            </a:extLst>
          </p:cNvPr>
          <p:cNvSpPr>
            <a:spLocks noChangeArrowheads="1"/>
          </p:cNvSpPr>
          <p:nvPr/>
        </p:nvSpPr>
        <p:spPr bwMode="auto">
          <a:xfrm>
            <a:off x="10287000" y="2463661"/>
            <a:ext cx="1524000" cy="762000"/>
          </a:xfrm>
          <a:prstGeom prst="flowChartAlternateProcess">
            <a:avLst/>
          </a:prstGeom>
          <a:solidFill>
            <a:schemeClr val="accent1"/>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000" dirty="0">
                <a:solidFill>
                  <a:schemeClr val="bg1"/>
                </a:solidFill>
              </a:rPr>
              <a:t>Convergence</a:t>
            </a:r>
          </a:p>
          <a:p>
            <a:pPr algn="ctr">
              <a:lnSpc>
                <a:spcPct val="100000"/>
              </a:lnSpc>
              <a:spcBef>
                <a:spcPct val="30000"/>
              </a:spcBef>
              <a:spcAft>
                <a:spcPct val="0"/>
              </a:spcAft>
              <a:buClrTx/>
              <a:buSzTx/>
              <a:buFontTx/>
              <a:buNone/>
            </a:pPr>
            <a:r>
              <a:rPr lang="en-US" altLang="en-US" sz="1000" dirty="0">
                <a:solidFill>
                  <a:schemeClr val="bg1"/>
                </a:solidFill>
              </a:rPr>
              <a:t>of future VSM and </a:t>
            </a:r>
          </a:p>
          <a:p>
            <a:pPr algn="ctr">
              <a:lnSpc>
                <a:spcPct val="100000"/>
              </a:lnSpc>
              <a:spcBef>
                <a:spcPct val="30000"/>
              </a:spcBef>
              <a:spcAft>
                <a:spcPct val="0"/>
              </a:spcAft>
              <a:buClrTx/>
              <a:buSzTx/>
              <a:buFontTx/>
              <a:buNone/>
            </a:pPr>
            <a:r>
              <a:rPr lang="en-US" altLang="en-US" sz="1000" dirty="0">
                <a:solidFill>
                  <a:schemeClr val="bg1"/>
                </a:solidFill>
              </a:rPr>
              <a:t>long-term </a:t>
            </a:r>
            <a:r>
              <a:rPr lang="ja-JP" altLang="en-US" sz="1000">
                <a:solidFill>
                  <a:schemeClr val="bg1"/>
                </a:solidFill>
              </a:rPr>
              <a:t>“</a:t>
            </a:r>
            <a:r>
              <a:rPr lang="en-US" altLang="ja-JP" sz="1000" dirty="0">
                <a:solidFill>
                  <a:schemeClr val="bg1"/>
                </a:solidFill>
              </a:rPr>
              <a:t>Vision</a:t>
            </a:r>
            <a:r>
              <a:rPr lang="ja-JP" altLang="en-US" sz="1000">
                <a:solidFill>
                  <a:schemeClr val="bg1"/>
                </a:solidFill>
              </a:rPr>
              <a:t>”</a:t>
            </a:r>
            <a:endParaRPr lang="en-US" altLang="ja-JP" sz="1000" dirty="0">
              <a:solidFill>
                <a:schemeClr val="bg1"/>
              </a:solidFill>
            </a:endParaRPr>
          </a:p>
          <a:p>
            <a:pPr algn="ctr">
              <a:lnSpc>
                <a:spcPct val="100000"/>
              </a:lnSpc>
              <a:spcBef>
                <a:spcPct val="30000"/>
              </a:spcBef>
              <a:spcAft>
                <a:spcPct val="0"/>
              </a:spcAft>
              <a:buClrTx/>
              <a:buSzTx/>
              <a:buFontTx/>
              <a:buNone/>
            </a:pPr>
            <a:r>
              <a:rPr lang="en-US" altLang="en-US" sz="1000" dirty="0">
                <a:solidFill>
                  <a:schemeClr val="bg1"/>
                </a:solidFill>
              </a:rPr>
              <a:t>transformation</a:t>
            </a:r>
          </a:p>
        </p:txBody>
      </p:sp>
      <p:cxnSp>
        <p:nvCxnSpPr>
          <p:cNvPr id="33" name="AutoShape 34">
            <a:extLst>
              <a:ext uri="{FF2B5EF4-FFF2-40B4-BE49-F238E27FC236}">
                <a16:creationId xmlns:a16="http://schemas.microsoft.com/office/drawing/2014/main" id="{3738AE6A-CB4B-358A-4AA3-D3A321486B06}"/>
              </a:ext>
            </a:extLst>
          </p:cNvPr>
          <p:cNvCxnSpPr>
            <a:cxnSpLocks noChangeShapeType="1"/>
            <a:stCxn id="29" idx="3"/>
            <a:endCxn id="32" idx="2"/>
          </p:cNvCxnSpPr>
          <p:nvPr/>
        </p:nvCxnSpPr>
        <p:spPr bwMode="auto">
          <a:xfrm flipV="1">
            <a:off x="8229600" y="3225661"/>
            <a:ext cx="2819400" cy="2171700"/>
          </a:xfrm>
          <a:prstGeom prst="bentConnector2">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cxnSp>
      <p:cxnSp>
        <p:nvCxnSpPr>
          <p:cNvPr id="34" name="AutoShape 35">
            <a:extLst>
              <a:ext uri="{FF2B5EF4-FFF2-40B4-BE49-F238E27FC236}">
                <a16:creationId xmlns:a16="http://schemas.microsoft.com/office/drawing/2014/main" id="{491EEEDC-DEB1-F437-60F6-CDF59E10909B}"/>
              </a:ext>
            </a:extLst>
          </p:cNvPr>
          <p:cNvCxnSpPr>
            <a:cxnSpLocks noChangeShapeType="1"/>
            <a:stCxn id="13" idx="2"/>
            <a:endCxn id="30" idx="0"/>
          </p:cNvCxnSpPr>
          <p:nvPr/>
        </p:nvCxnSpPr>
        <p:spPr bwMode="auto">
          <a:xfrm>
            <a:off x="4648200" y="4602023"/>
            <a:ext cx="76200" cy="490538"/>
          </a:xfrm>
          <a:prstGeom prst="straightConnector1">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cxnSp>
      <p:grpSp>
        <p:nvGrpSpPr>
          <p:cNvPr id="35" name="Group 36">
            <a:extLst>
              <a:ext uri="{FF2B5EF4-FFF2-40B4-BE49-F238E27FC236}">
                <a16:creationId xmlns:a16="http://schemas.microsoft.com/office/drawing/2014/main" id="{BEB3F3E2-EAB1-EB9A-9E61-FA8EDEAAC544}"/>
              </a:ext>
            </a:extLst>
          </p:cNvPr>
          <p:cNvGrpSpPr>
            <a:grpSpLocks/>
          </p:cNvGrpSpPr>
          <p:nvPr/>
        </p:nvGrpSpPr>
        <p:grpSpPr bwMode="auto">
          <a:xfrm>
            <a:off x="9715500" y="2730361"/>
            <a:ext cx="152400" cy="228600"/>
            <a:chOff x="4056" y="1968"/>
            <a:chExt cx="96" cy="144"/>
          </a:xfrm>
        </p:grpSpPr>
        <p:sp>
          <p:nvSpPr>
            <p:cNvPr id="36" name="Rectangle 37">
              <a:extLst>
                <a:ext uri="{FF2B5EF4-FFF2-40B4-BE49-F238E27FC236}">
                  <a16:creationId xmlns:a16="http://schemas.microsoft.com/office/drawing/2014/main" id="{96907F40-E2D9-1AD8-D30A-5BDC66B08809}"/>
                </a:ext>
              </a:extLst>
            </p:cNvPr>
            <p:cNvSpPr>
              <a:spLocks noChangeArrowheads="1"/>
            </p:cNvSpPr>
            <p:nvPr/>
          </p:nvSpPr>
          <p:spPr bwMode="auto">
            <a:xfrm>
              <a:off x="4080" y="1968"/>
              <a:ext cx="48" cy="144"/>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lnSpc>
                  <a:spcPct val="115000"/>
                </a:lnSpc>
                <a:spcBef>
                  <a:spcPct val="50000"/>
                </a:spcBef>
                <a:spcAft>
                  <a:spcPct val="50000"/>
                </a:spcAft>
                <a:buClr>
                  <a:srgbClr val="006699"/>
                </a:buClr>
                <a:buSzPct val="40000"/>
                <a:buFont typeface="Wingdings" pitchFamily="2" charset="2"/>
                <a:buChar char="n"/>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40000"/>
                <a:buFont typeface="Wingdings"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40000"/>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7" name="Line 38">
              <a:extLst>
                <a:ext uri="{FF2B5EF4-FFF2-40B4-BE49-F238E27FC236}">
                  <a16:creationId xmlns:a16="http://schemas.microsoft.com/office/drawing/2014/main" id="{455BD106-CC66-655F-E662-084B62E74D2C}"/>
                </a:ext>
              </a:extLst>
            </p:cNvPr>
            <p:cNvSpPr>
              <a:spLocks noChangeShapeType="1"/>
            </p:cNvSpPr>
            <p:nvPr/>
          </p:nvSpPr>
          <p:spPr bwMode="auto">
            <a:xfrm flipH="1">
              <a:off x="4056" y="1968"/>
              <a:ext cx="48" cy="14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38" name="Line 39">
              <a:extLst>
                <a:ext uri="{FF2B5EF4-FFF2-40B4-BE49-F238E27FC236}">
                  <a16:creationId xmlns:a16="http://schemas.microsoft.com/office/drawing/2014/main" id="{1BDF7DCB-1B69-84D5-EC91-4A1C4CC0AFA2}"/>
                </a:ext>
              </a:extLst>
            </p:cNvPr>
            <p:cNvSpPr>
              <a:spLocks noChangeShapeType="1"/>
            </p:cNvSpPr>
            <p:nvPr/>
          </p:nvSpPr>
          <p:spPr bwMode="auto">
            <a:xfrm flipH="1">
              <a:off x="4104" y="1968"/>
              <a:ext cx="48" cy="14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sp>
        <p:nvSpPr>
          <p:cNvPr id="39" name="Line 40">
            <a:extLst>
              <a:ext uri="{FF2B5EF4-FFF2-40B4-BE49-F238E27FC236}">
                <a16:creationId xmlns:a16="http://schemas.microsoft.com/office/drawing/2014/main" id="{6265D1AE-5A90-610D-167B-008FE2267846}"/>
              </a:ext>
            </a:extLst>
          </p:cNvPr>
          <p:cNvSpPr>
            <a:spLocks noChangeShapeType="1"/>
          </p:cNvSpPr>
          <p:nvPr/>
        </p:nvSpPr>
        <p:spPr bwMode="auto">
          <a:xfrm>
            <a:off x="5181600" y="1892161"/>
            <a:ext cx="0" cy="38100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40" name="Line 41">
            <a:extLst>
              <a:ext uri="{FF2B5EF4-FFF2-40B4-BE49-F238E27FC236}">
                <a16:creationId xmlns:a16="http://schemas.microsoft.com/office/drawing/2014/main" id="{E43C0B84-79BD-D01C-EB02-53E687DBF5FF}"/>
              </a:ext>
            </a:extLst>
          </p:cNvPr>
          <p:cNvSpPr>
            <a:spLocks noChangeShapeType="1"/>
          </p:cNvSpPr>
          <p:nvPr/>
        </p:nvSpPr>
        <p:spPr bwMode="auto">
          <a:xfrm>
            <a:off x="8229600" y="1892161"/>
            <a:ext cx="0" cy="38100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41" name="Slide Number Placeholder 2">
            <a:extLst>
              <a:ext uri="{FF2B5EF4-FFF2-40B4-BE49-F238E27FC236}">
                <a16:creationId xmlns:a16="http://schemas.microsoft.com/office/drawing/2014/main" id="{AB68D6BE-9A96-F032-2F0B-3CD5DF5B8A93}"/>
              </a:ext>
            </a:extLst>
          </p:cNvPr>
          <p:cNvSpPr txBox="1">
            <a:spLocks/>
          </p:cNvSpPr>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13</a:t>
            </a:fld>
            <a:endParaRPr lang="en-US" dirty="0"/>
          </a:p>
        </p:txBody>
      </p:sp>
    </p:spTree>
    <p:extLst>
      <p:ext uri="{BB962C8B-B14F-4D97-AF65-F5344CB8AC3E}">
        <p14:creationId xmlns:p14="http://schemas.microsoft.com/office/powerpoint/2010/main" val="1253333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Role of Leadership in VSM</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92500" lnSpcReduction="10000"/>
          </a:bodyPr>
          <a:lstStyle/>
          <a:p>
            <a:r>
              <a:rPr lang="en-US" dirty="0"/>
              <a:t>Define and communicate the long-term “vision” for the business regularly</a:t>
            </a:r>
          </a:p>
          <a:p>
            <a:pPr lvl="1"/>
            <a:r>
              <a:rPr lang="en-US" dirty="0"/>
              <a:t>No sense in making short term improvements to a process that may be outsourced, eliminated or fundamentally transformed in the near future</a:t>
            </a:r>
          </a:p>
          <a:p>
            <a:r>
              <a:rPr lang="en-US" dirty="0"/>
              <a:t>Identify key value streams to be addressed by the business</a:t>
            </a:r>
          </a:p>
          <a:p>
            <a:pPr lvl="1"/>
            <a:r>
              <a:rPr lang="en-US" dirty="0"/>
              <a:t>Prioritized according to business need and strategy</a:t>
            </a:r>
          </a:p>
          <a:p>
            <a:pPr lvl="1"/>
            <a:r>
              <a:rPr lang="en-US" dirty="0"/>
              <a:t>Not every business process will need to be addressed by VSM</a:t>
            </a:r>
          </a:p>
          <a:p>
            <a:r>
              <a:rPr lang="en-US" dirty="0"/>
              <a:t>Provide sponsorship and support for VSM events and implementation</a:t>
            </a:r>
          </a:p>
          <a:p>
            <a:pPr lvl="1"/>
            <a:r>
              <a:rPr lang="en-US" dirty="0"/>
              <a:t>Internal/external resources and funding</a:t>
            </a:r>
          </a:p>
          <a:p>
            <a:pPr lvl="1"/>
            <a:r>
              <a:rPr lang="en-US" dirty="0"/>
              <a:t>Executive decision-making</a:t>
            </a:r>
          </a:p>
          <a:p>
            <a:pPr lvl="1"/>
            <a:r>
              <a:rPr lang="en-US" dirty="0"/>
              <a:t>Empowerment of teams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14</a:t>
            </a:fld>
            <a:endParaRPr lang="en-US"/>
          </a:p>
        </p:txBody>
      </p:sp>
    </p:spTree>
    <p:extLst>
      <p:ext uri="{BB962C8B-B14F-4D97-AF65-F5344CB8AC3E}">
        <p14:creationId xmlns:p14="http://schemas.microsoft.com/office/powerpoint/2010/main" val="26757971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Role of the Value Stream Manager</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The Value Stream Manager is the business process “owner”</a:t>
            </a:r>
          </a:p>
          <a:p>
            <a:r>
              <a:rPr lang="en-US" dirty="0"/>
              <a:t>Oversees, charters and typically leads VSM events</a:t>
            </a:r>
          </a:p>
          <a:p>
            <a:r>
              <a:rPr lang="en-US" dirty="0"/>
              <a:t>“Owns” the Value Stream Plan</a:t>
            </a:r>
          </a:p>
          <a:p>
            <a:pPr lvl="1"/>
            <a:r>
              <a:rPr lang="en-US" dirty="0"/>
              <a:t>Responsible for overseeing the completion of kaizen and other CI improvement activities that are identified on the VS Plan</a:t>
            </a:r>
          </a:p>
          <a:p>
            <a:pPr lvl="1"/>
            <a:r>
              <a:rPr lang="en-US" dirty="0"/>
              <a:t>Provides leadership in resolving issues and removing obstacles that affect reaching the future state in the prescribed timeframe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15</a:t>
            </a:fld>
            <a:endParaRPr lang="en-US"/>
          </a:p>
        </p:txBody>
      </p:sp>
    </p:spTree>
    <p:extLst>
      <p:ext uri="{BB962C8B-B14F-4D97-AF65-F5344CB8AC3E}">
        <p14:creationId xmlns:p14="http://schemas.microsoft.com/office/powerpoint/2010/main" val="19864051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Role of the Value Stream Manager</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“Owns” the operational aspects of the end-to-end process, even if it crosses organizational boundaries</a:t>
            </a:r>
          </a:p>
          <a:p>
            <a:pPr lvl="1"/>
            <a:r>
              <a:rPr lang="en-US" dirty="0"/>
              <a:t>Reports (solid or dotted line) to the level where all VS processes and functions report to</a:t>
            </a:r>
          </a:p>
          <a:p>
            <a:pPr lvl="1"/>
            <a:r>
              <a:rPr lang="en-US" dirty="0"/>
              <a:t>Ensures that the future state operational model is viable and achieves the benefits envisioned during the VSM event</a:t>
            </a:r>
          </a:p>
          <a:p>
            <a:r>
              <a:rPr lang="en-US" dirty="0"/>
              <a:t>Continues the VSM process through the second and subsequent cycles</a:t>
            </a:r>
          </a:p>
          <a:p>
            <a:r>
              <a:rPr lang="en-US" dirty="0"/>
              <a:t>Maintains the linkage between VSM and strategic vision of the business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16</a:t>
            </a:fld>
            <a:endParaRPr lang="en-US"/>
          </a:p>
        </p:txBody>
      </p:sp>
    </p:spTree>
    <p:extLst>
      <p:ext uri="{BB962C8B-B14F-4D97-AF65-F5344CB8AC3E}">
        <p14:creationId xmlns:p14="http://schemas.microsoft.com/office/powerpoint/2010/main" val="38451581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Site Plan</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a:xfrm>
            <a:off x="838200" y="2602865"/>
            <a:ext cx="2118360" cy="2494915"/>
          </a:xfrm>
        </p:spPr>
        <p:txBody>
          <a:bodyPr>
            <a:normAutofit/>
          </a:bodyPr>
          <a:lstStyle/>
          <a:p>
            <a:pPr marL="0" indent="0">
              <a:buNone/>
            </a:pPr>
            <a:r>
              <a:rPr lang="en-US" sz="2000" dirty="0"/>
              <a:t>A single plan and schedule of all kaizen and continuous improvement events for a particular facility.</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17</a:t>
            </a:fld>
            <a:endParaRPr lang="en-US"/>
          </a:p>
        </p:txBody>
      </p:sp>
      <p:graphicFrame>
        <p:nvGraphicFramePr>
          <p:cNvPr id="4" name="Group 4">
            <a:extLst>
              <a:ext uri="{FF2B5EF4-FFF2-40B4-BE49-F238E27FC236}">
                <a16:creationId xmlns:a16="http://schemas.microsoft.com/office/drawing/2014/main" id="{24F5C0C2-8546-92CF-7FAA-961B1CBF9898}"/>
              </a:ext>
            </a:extLst>
          </p:cNvPr>
          <p:cNvGraphicFramePr>
            <a:graphicFrameLocks/>
          </p:cNvGraphicFramePr>
          <p:nvPr>
            <p:extLst>
              <p:ext uri="{D42A27DB-BD31-4B8C-83A1-F6EECF244321}">
                <p14:modId xmlns:p14="http://schemas.microsoft.com/office/powerpoint/2010/main" val="24120867"/>
              </p:ext>
            </p:extLst>
          </p:nvPr>
        </p:nvGraphicFramePr>
        <p:xfrm>
          <a:off x="3248978" y="2011680"/>
          <a:ext cx="8398192" cy="4243375"/>
        </p:xfrm>
        <a:graphic>
          <a:graphicData uri="http://schemas.openxmlformats.org/drawingml/2006/table">
            <a:tbl>
              <a:tblPr/>
              <a:tblGrid>
                <a:gridCol w="660495">
                  <a:extLst>
                    <a:ext uri="{9D8B030D-6E8A-4147-A177-3AD203B41FA5}">
                      <a16:colId xmlns:a16="http://schemas.microsoft.com/office/drawing/2014/main" val="20000"/>
                    </a:ext>
                  </a:extLst>
                </a:gridCol>
                <a:gridCol w="1690998">
                  <a:extLst>
                    <a:ext uri="{9D8B030D-6E8A-4147-A177-3AD203B41FA5}">
                      <a16:colId xmlns:a16="http://schemas.microsoft.com/office/drawing/2014/main" val="20001"/>
                    </a:ext>
                  </a:extLst>
                </a:gridCol>
                <a:gridCol w="804928">
                  <a:extLst>
                    <a:ext uri="{9D8B030D-6E8A-4147-A177-3AD203B41FA5}">
                      <a16:colId xmlns:a16="http://schemas.microsoft.com/office/drawing/2014/main" val="20002"/>
                    </a:ext>
                  </a:extLst>
                </a:gridCol>
                <a:gridCol w="1085680">
                  <a:extLst>
                    <a:ext uri="{9D8B030D-6E8A-4147-A177-3AD203B41FA5}">
                      <a16:colId xmlns:a16="http://schemas.microsoft.com/office/drawing/2014/main" val="20003"/>
                    </a:ext>
                  </a:extLst>
                </a:gridCol>
                <a:gridCol w="855236">
                  <a:extLst>
                    <a:ext uri="{9D8B030D-6E8A-4147-A177-3AD203B41FA5}">
                      <a16:colId xmlns:a16="http://schemas.microsoft.com/office/drawing/2014/main" val="20004"/>
                    </a:ext>
                  </a:extLst>
                </a:gridCol>
                <a:gridCol w="809797">
                  <a:extLst>
                    <a:ext uri="{9D8B030D-6E8A-4147-A177-3AD203B41FA5}">
                      <a16:colId xmlns:a16="http://schemas.microsoft.com/office/drawing/2014/main" val="20005"/>
                    </a:ext>
                  </a:extLst>
                </a:gridCol>
                <a:gridCol w="727032">
                  <a:extLst>
                    <a:ext uri="{9D8B030D-6E8A-4147-A177-3AD203B41FA5}">
                      <a16:colId xmlns:a16="http://schemas.microsoft.com/office/drawing/2014/main" val="20006"/>
                    </a:ext>
                  </a:extLst>
                </a:gridCol>
                <a:gridCol w="1764026">
                  <a:extLst>
                    <a:ext uri="{9D8B030D-6E8A-4147-A177-3AD203B41FA5}">
                      <a16:colId xmlns:a16="http://schemas.microsoft.com/office/drawing/2014/main" val="20007"/>
                    </a:ext>
                  </a:extLst>
                </a:gridCol>
              </a:tblGrid>
              <a:tr h="552508">
                <a:tc gridSpan="8">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rPr>
                        <a:t>Sample Site Plan excerpt showing scheduled events from two different Value Streams (New Mortgage and Debt Consolidation)</a:t>
                      </a:r>
                    </a:p>
                  </a:txBody>
                  <a:tcPr marT="45713" marB="45713"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76865">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WEEK</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AREA/CELL</a:t>
                      </a:r>
                      <a:endParaRPr kumimoji="0" lang="en-US" altLang="en-US" sz="1000" b="1" i="0" u="none" strike="noStrike" cap="none" normalizeH="0" baseline="0" dirty="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VSM</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TOOL</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VS Plan Number</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STATUS</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SENSEI</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COMMENTS</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6865">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3-Jan</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Mailroom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New Mortgage</a:t>
                      </a:r>
                      <a:endParaRPr kumimoji="0" lang="en-US" altLang="en-US" sz="1000" b="1" i="0" u="none" strike="noStrike" cap="none" normalizeH="0" baseline="0" dirty="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Standard work</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3</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complete</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Clem</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see kaizen results sheet</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6865">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3-Jan</a:t>
                      </a: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Data Entry</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New Mortgage</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Standard Work</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8</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complete</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Clem</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see kaizen results sheet</a:t>
                      </a:r>
                      <a:endParaRPr kumimoji="0" lang="en-US" altLang="en-US" sz="1000" b="1" i="0" u="none" strike="noStrike" cap="none" normalizeH="0" baseline="0" dirty="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6865">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10-Jan</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Data Entry</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New Mortgage</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Supermarket</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4</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complete</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Clem</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PRE-RUN Kanban Calculator</a:t>
                      </a:r>
                      <a:endParaRPr kumimoji="0" lang="en-US" altLang="en-US" sz="1000" b="1" i="0" u="none" strike="noStrike" cap="none" normalizeH="0" baseline="0" dirty="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76865">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10-Jan</a:t>
                      </a: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Underwriting</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Debt Consol</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Standard work</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6</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complete</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Clem</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see kaizen results sheet</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52812">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17-Jan</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NO EVENTS</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EAEA"/>
                    </a:solid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EAEA"/>
                    </a:solid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EAEA"/>
                    </a:solid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EAEA"/>
                    </a:solid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EAEA"/>
                    </a:solid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Clem out</a:t>
                      </a:r>
                      <a:endParaRPr kumimoji="0" lang="en-US" altLang="en-US" sz="1000" b="1" i="0" u="none" strike="noStrike" cap="none" normalizeH="0" baseline="0" dirty="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76865">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24-Jan</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Package Preparation</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New Mortgage</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Standard Work</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2</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complete</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Clem</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DEMAND QUESTIONS</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76865">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24-Jan</a:t>
                      </a: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Mailroom</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Debt Consol</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Standard work</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1</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complete</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Clem</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4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4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40000"/>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t" latinLnBrk="0" hangingPunct="0">
                        <a:lnSpc>
                          <a:spcPct val="115000"/>
                        </a:lnSpc>
                        <a:spcBef>
                          <a:spcPct val="0"/>
                        </a:spcBef>
                        <a:spcAft>
                          <a:spcPct val="50000"/>
                        </a:spcAft>
                        <a:buClr>
                          <a:srgbClr val="006699"/>
                        </a:buClr>
                        <a:buSzPct val="40000"/>
                        <a:buFont typeface="Wingdings" panose="05000000000000000000" pitchFamily="2" charset="2"/>
                        <a:buNone/>
                        <a:tabLst/>
                      </a:pPr>
                      <a:r>
                        <a:rPr kumimoji="0" lang="en-US" altLang="en-US" sz="10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DEMAND QUESTIONS</a:t>
                      </a:r>
                      <a:endParaRPr kumimoji="0" lang="en-US" altLang="en-US" sz="1000" b="1" i="0" u="none" strike="noStrike" cap="none" normalizeH="0" baseline="0" dirty="0">
                        <a:ln>
                          <a:noFill/>
                        </a:ln>
                        <a:solidFill>
                          <a:schemeClr val="tx1"/>
                        </a:solidFill>
                        <a:effectLst/>
                        <a:latin typeface="Roboto" panose="02000000000000000000" pitchFamily="2" charset="0"/>
                        <a:ea typeface="Roboto" panose="02000000000000000000" pitchFamily="2"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8677080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92DCF-BAB1-5F2B-601F-3334D8ECE687}"/>
              </a:ext>
            </a:extLst>
          </p:cNvPr>
          <p:cNvSpPr>
            <a:spLocks noGrp="1"/>
          </p:cNvSpPr>
          <p:nvPr>
            <p:ph type="title"/>
          </p:nvPr>
        </p:nvSpPr>
        <p:spPr/>
        <p:txBody>
          <a:bodyPr/>
          <a:lstStyle/>
          <a:p>
            <a:r>
              <a:rPr lang="en-US" dirty="0"/>
              <a:t>Other Modules In This Series</a:t>
            </a:r>
          </a:p>
        </p:txBody>
      </p:sp>
      <p:sp>
        <p:nvSpPr>
          <p:cNvPr id="3" name="Content Placeholder 3">
            <a:extLst>
              <a:ext uri="{FF2B5EF4-FFF2-40B4-BE49-F238E27FC236}">
                <a16:creationId xmlns:a16="http://schemas.microsoft.com/office/drawing/2014/main" id="{2DE22F5B-0ED7-9B1A-A260-C714A06F6D8D}"/>
              </a:ext>
            </a:extLst>
          </p:cNvPr>
          <p:cNvSpPr txBox="1">
            <a:spLocks/>
          </p:cNvSpPr>
          <p:nvPr/>
        </p:nvSpPr>
        <p:spPr>
          <a:xfrm>
            <a:off x="5964518" y="168420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Intro to Lean</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Process Mapping</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p:txBody>
      </p:sp>
      <p:sp>
        <p:nvSpPr>
          <p:cNvPr id="4" name="Steve Jones">
            <a:extLst>
              <a:ext uri="{FF2B5EF4-FFF2-40B4-BE49-F238E27FC236}">
                <a16:creationId xmlns:a16="http://schemas.microsoft.com/office/drawing/2014/main" id="{B6676899-EC75-8920-F33D-CCD7B872A3C8}"/>
              </a:ext>
            </a:extLst>
          </p:cNvPr>
          <p:cNvSpPr/>
          <p:nvPr/>
        </p:nvSpPr>
        <p:spPr>
          <a:xfrm>
            <a:off x="1069695" y="4201690"/>
            <a:ext cx="3475310" cy="199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5" name="Head of Management Dept.">
            <a:extLst>
              <a:ext uri="{FF2B5EF4-FFF2-40B4-BE49-F238E27FC236}">
                <a16:creationId xmlns:a16="http://schemas.microsoft.com/office/drawing/2014/main" id="{FED8FB5A-94EA-4A6F-1D86-3986B231E3C4}"/>
              </a:ext>
            </a:extLst>
          </p:cNvPr>
          <p:cNvSpPr/>
          <p:nvPr/>
        </p:nvSpPr>
        <p:spPr>
          <a:xfrm>
            <a:off x="1367375" y="4590893"/>
            <a:ext cx="2879948" cy="8381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 name="TextBox 5">
            <a:extLst>
              <a:ext uri="{FF2B5EF4-FFF2-40B4-BE49-F238E27FC236}">
                <a16:creationId xmlns:a16="http://schemas.microsoft.com/office/drawing/2014/main" id="{527FEA71-DF2A-69B2-6339-1972E08AA96C}"/>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pic>
        <p:nvPicPr>
          <p:cNvPr id="7" name="Picture 6">
            <a:extLst>
              <a:ext uri="{FF2B5EF4-FFF2-40B4-BE49-F238E27FC236}">
                <a16:creationId xmlns:a16="http://schemas.microsoft.com/office/drawing/2014/main" id="{D567D265-DBA4-640B-F70C-E345C90358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9" name="Slide Number Placeholder 2">
            <a:extLst>
              <a:ext uri="{FF2B5EF4-FFF2-40B4-BE49-F238E27FC236}">
                <a16:creationId xmlns:a16="http://schemas.microsoft.com/office/drawing/2014/main" id="{FB743B8F-8573-6203-575B-F671C499E71F}"/>
              </a:ext>
            </a:extLst>
          </p:cNvPr>
          <p:cNvSpPr txBox="1">
            <a:spLocks/>
          </p:cNvSpPr>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18</a:t>
            </a:fld>
            <a:endParaRPr lang="en-US"/>
          </a:p>
        </p:txBody>
      </p:sp>
    </p:spTree>
    <p:extLst>
      <p:ext uri="{BB962C8B-B14F-4D97-AF65-F5344CB8AC3E}">
        <p14:creationId xmlns:p14="http://schemas.microsoft.com/office/powerpoint/2010/main" val="1892547187"/>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14032</TotalTime>
  <Words>2315</Words>
  <Application>Microsoft Office PowerPoint</Application>
  <PresentationFormat>Widescreen</PresentationFormat>
  <Paragraphs>347</Paragraphs>
  <Slides>18</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Roboto</vt:lpstr>
      <vt:lpstr>Roboto Medium</vt:lpstr>
      <vt:lpstr>Times New Roman</vt:lpstr>
      <vt:lpstr>Wingdings</vt:lpstr>
      <vt:lpstr>Office Theme</vt:lpstr>
      <vt:lpstr>PowerPoint Presentation</vt:lpstr>
      <vt:lpstr>Other Modules In This Series</vt:lpstr>
      <vt:lpstr>PowerPoint Presentation</vt:lpstr>
      <vt:lpstr>Value Stream Mapping Defined</vt:lpstr>
      <vt:lpstr>The “i” in VSMi </vt:lpstr>
      <vt:lpstr>PowerPoint Presentation</vt:lpstr>
      <vt:lpstr>When to Use Value Stream Mapping</vt:lpstr>
      <vt:lpstr>Value Stream Mapping Linkage to Strategy</vt:lpstr>
      <vt:lpstr>Value Stream Mapping Roadmap to Success</vt:lpstr>
      <vt:lpstr>Value Stream Mapping Process</vt:lpstr>
      <vt:lpstr>Value Stream Mapping Session Agenda</vt:lpstr>
      <vt:lpstr>The Value Stream Plan</vt:lpstr>
      <vt:lpstr>VSM in Context</vt:lpstr>
      <vt:lpstr>Role of Leadership in VSM</vt:lpstr>
      <vt:lpstr>Role of the Value Stream Manager</vt:lpstr>
      <vt:lpstr>Role of the Value Stream Manager</vt:lpstr>
      <vt:lpstr>Site Plan</vt:lpstr>
      <vt:lpstr>Other Modules In This Series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Scott DeLuzio</cp:lastModifiedBy>
  <cp:revision>372</cp:revision>
  <dcterms:created xsi:type="dcterms:W3CDTF">2023-02-08T22:10:20Z</dcterms:created>
  <dcterms:modified xsi:type="dcterms:W3CDTF">2023-09-25T18:58:49Z</dcterms:modified>
</cp:coreProperties>
</file>