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5"/>
  </p:notesMasterIdLst>
  <p:sldIdLst>
    <p:sldId id="258" r:id="rId2"/>
    <p:sldId id="313" r:id="rId3"/>
    <p:sldId id="321" r:id="rId4"/>
    <p:sldId id="287" r:id="rId5"/>
    <p:sldId id="316" r:id="rId6"/>
    <p:sldId id="317" r:id="rId7"/>
    <p:sldId id="315" r:id="rId8"/>
    <p:sldId id="318" r:id="rId9"/>
    <p:sldId id="325" r:id="rId10"/>
    <p:sldId id="314" r:id="rId11"/>
    <p:sldId id="322" r:id="rId12"/>
    <p:sldId id="323" r:id="rId13"/>
    <p:sldId id="32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627"/>
    <a:srgbClr val="222222"/>
    <a:srgbClr val="EE3228"/>
    <a:srgbClr val="7F7F7F"/>
    <a:srgbClr val="177E89"/>
    <a:srgbClr val="8EDCE6"/>
    <a:srgbClr val="F1BF98"/>
    <a:srgbClr val="2EC4B6"/>
    <a:srgbClr val="BDDBD0"/>
    <a:srgbClr val="2D7DD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235"/>
    <p:restoredTop sz="81917" autoAdjust="0"/>
  </p:normalViewPr>
  <p:slideViewPr>
    <p:cSldViewPr snapToGrid="0">
      <p:cViewPr varScale="1">
        <p:scale>
          <a:sx n="146" d="100"/>
          <a:sy n="146" d="100"/>
        </p:scale>
        <p:origin x="472" y="160"/>
      </p:cViewPr>
      <p:guideLst/>
    </p:cSldViewPr>
  </p:slideViewPr>
  <p:notesTextViewPr>
    <p:cViewPr>
      <p:scale>
        <a:sx n="3" d="2"/>
        <a:sy n="3" d="2"/>
      </p:scale>
      <p:origin x="0" y="0"/>
    </p:cViewPr>
  </p:notesTextViewPr>
  <p:sorterViewPr>
    <p:cViewPr varScale="1">
      <p:scale>
        <a:sx n="100" d="100"/>
        <a:sy n="100" d="100"/>
      </p:scale>
      <p:origin x="0" y="-1252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8/9/23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a:t>
            </a:fld>
            <a:endParaRPr lang="en-US"/>
          </a:p>
        </p:txBody>
      </p:sp>
    </p:spTree>
    <p:extLst>
      <p:ext uri="{BB962C8B-B14F-4D97-AF65-F5344CB8AC3E}">
        <p14:creationId xmlns:p14="http://schemas.microsoft.com/office/powerpoint/2010/main" val="2755085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a:t>
            </a:fld>
            <a:endParaRPr lang="en-US"/>
          </a:p>
        </p:txBody>
      </p:sp>
    </p:spTree>
    <p:extLst>
      <p:ext uri="{BB962C8B-B14F-4D97-AF65-F5344CB8AC3E}">
        <p14:creationId xmlns:p14="http://schemas.microsoft.com/office/powerpoint/2010/main" val="41937473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a:t>
            </a:fld>
            <a:endParaRPr lang="en-US"/>
          </a:p>
        </p:txBody>
      </p:sp>
    </p:spTree>
    <p:extLst>
      <p:ext uri="{BB962C8B-B14F-4D97-AF65-F5344CB8AC3E}">
        <p14:creationId xmlns:p14="http://schemas.microsoft.com/office/powerpoint/2010/main" val="22796169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a:t>
            </a:fld>
            <a:endParaRPr lang="en-US"/>
          </a:p>
        </p:txBody>
      </p:sp>
    </p:spTree>
    <p:extLst>
      <p:ext uri="{BB962C8B-B14F-4D97-AF65-F5344CB8AC3E}">
        <p14:creationId xmlns:p14="http://schemas.microsoft.com/office/powerpoint/2010/main" val="28697372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34422869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a:t>
            </a:fld>
            <a:endParaRPr lang="en-US"/>
          </a:p>
        </p:txBody>
      </p:sp>
    </p:spTree>
    <p:extLst>
      <p:ext uri="{BB962C8B-B14F-4D97-AF65-F5344CB8AC3E}">
        <p14:creationId xmlns:p14="http://schemas.microsoft.com/office/powerpoint/2010/main" val="23768631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12</a:t>
            </a:fld>
            <a:endParaRPr lang="en-US"/>
          </a:p>
        </p:txBody>
      </p:sp>
    </p:spTree>
    <p:extLst>
      <p:ext uri="{BB962C8B-B14F-4D97-AF65-F5344CB8AC3E}">
        <p14:creationId xmlns:p14="http://schemas.microsoft.com/office/powerpoint/2010/main" val="26900665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7B85E90D-7DD7-92B5-E387-8C0441E41AC3}"/>
              </a:ext>
            </a:extLst>
          </p:cNvPr>
          <p:cNvPicPr>
            <a:picLocks noChangeAspect="1"/>
          </p:cNvPicPr>
          <p:nvPr userDrawn="1"/>
        </p:nvPicPr>
        <p:blipFill>
          <a:blip r:embed="rId2"/>
          <a:stretch>
            <a:fillRect/>
          </a:stretch>
        </p:blipFill>
        <p:spPr>
          <a:xfrm>
            <a:off x="2385391" y="1950112"/>
            <a:ext cx="7772400" cy="2590800"/>
          </a:xfrm>
          <a:prstGeom prst="rect">
            <a:avLst/>
          </a:prstGeom>
        </p:spPr>
      </p:pic>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EDBCBB7B-054A-FE83-5F7C-FE4A1CDFEEBA}"/>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186D81-5D29-FE58-C442-6A6A0689DB5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4CBFE9C-CE1B-ED6E-1745-391F9496BE1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7E55C65A-BA96-51C7-B6FE-07AB4FB9C96C}"/>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6C847F-0B94-F947-B172-F99DB133759E}"/>
              </a:ext>
            </a:extLst>
          </p:cNvPr>
          <p:cNvSpPr>
            <a:spLocks noGrp="1"/>
          </p:cNvSpPr>
          <p:nvPr>
            <p:ph type="sldNum" sz="quarter" idx="11"/>
          </p:nvPr>
        </p:nvSpPr>
        <p:spPr/>
        <p:txBody>
          <a:bodyPr/>
          <a:lstStyle/>
          <a:p>
            <a:fld id="{CC6D4273-7FC1-0947-B9FE-19CB3C0D1FB6}" type="slidenum">
              <a:rPr lang="en-US" smtClean="0"/>
              <a:pPr/>
              <a:t>‹#›</a:t>
            </a:fld>
            <a:endParaRPr lang="en-US" dirty="0"/>
          </a:p>
        </p:txBody>
      </p:sp>
      <p:sp>
        <p:nvSpPr>
          <p:cNvPr id="7" name="TextBox 6">
            <a:extLst>
              <a:ext uri="{FF2B5EF4-FFF2-40B4-BE49-F238E27FC236}">
                <a16:creationId xmlns:a16="http://schemas.microsoft.com/office/drawing/2014/main" id="{5C21B1ED-B2E3-19AE-DDFC-B157A0140513}"/>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EB026B9A-5C7E-C150-5C07-A68A167F0F67}"/>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6BBD52B6-C25E-E933-F2B7-D40B2BFDF83D}"/>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155FD7A-35A4-E3BB-30E7-93993A9F2FCF}"/>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7573B6-84E2-B075-59F6-13B735C1EA0C}"/>
              </a:ext>
            </a:extLst>
          </p:cNvPr>
          <p:cNvPicPr>
            <a:picLocks noChangeAspect="1"/>
          </p:cNvPicPr>
          <p:nvPr userDrawn="1"/>
        </p:nvPicPr>
        <p:blipFill>
          <a:blip r:embed="rId16"/>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0655B500-689F-3416-FFFA-6EFE369BF707}"/>
              </a:ext>
            </a:extLst>
          </p:cNvPr>
          <p:cNvSpPr>
            <a:spLocks noGrp="1"/>
          </p:cNvSpPr>
          <p:nvPr>
            <p:ph type="sldNum" sz="quarter" idx="4"/>
          </p:nvPr>
        </p:nvSpPr>
        <p:spPr>
          <a:xfrm>
            <a:off x="8595078" y="6333148"/>
            <a:ext cx="2743200" cy="365125"/>
          </a:xfrm>
          <a:prstGeom prst="rect">
            <a:avLst/>
          </a:prstGeom>
        </p:spPr>
        <p:txBody>
          <a:bodyPr vert="horz" lIns="91440" tIns="45720" rIns="91440" bIns="45720" rtlCol="0" anchor="ctr"/>
          <a:lstStyle>
            <a:lvl1pPr algn="r">
              <a:defRPr sz="1200">
                <a:solidFill>
                  <a:schemeClr val="tx1"/>
                </a:solidFill>
              </a:defRPr>
            </a:lvl1pPr>
          </a:lstStyle>
          <a:p>
            <a:fld id="{CC6D4273-7FC1-0947-B9FE-19CB3C0D1FB6}" type="slidenum">
              <a:rPr lang="en-US" smtClean="0"/>
              <a:pPr/>
              <a:t>‹#›</a:t>
            </a:fld>
            <a:endParaRPr lang="en-US" dirty="0"/>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650147" y="311856"/>
            <a:ext cx="1376262" cy="275252"/>
          </a:xfrm>
          <a:prstGeom prst="rect">
            <a:avLst/>
          </a:prstGeom>
        </p:spPr>
      </p:pic>
      <p:cxnSp>
        <p:nvCxnSpPr>
          <p:cNvPr id="16" name="Straight Connector 15">
            <a:extLst>
              <a:ext uri="{FF2B5EF4-FFF2-40B4-BE49-F238E27FC236}">
                <a16:creationId xmlns:a16="http://schemas.microsoft.com/office/drawing/2014/main" id="{BFFEF531-ADF4-AB70-CB0F-227DD4FA1B4F}"/>
              </a:ext>
            </a:extLst>
          </p:cNvPr>
          <p:cNvCxnSpPr/>
          <p:nvPr userDrawn="1"/>
        </p:nvCxnSpPr>
        <p:spPr>
          <a:xfrm>
            <a:off x="838200" y="6382347"/>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AF5F83-88DF-460F-82C5-C2709D4DF5D2}"/>
              </a:ext>
            </a:extLst>
          </p:cNvPr>
          <p:cNvSpPr txBox="1"/>
          <p:nvPr userDrawn="1"/>
        </p:nvSpPr>
        <p:spPr>
          <a:xfrm>
            <a:off x="838200" y="6389310"/>
            <a:ext cx="4171934" cy="400110"/>
          </a:xfrm>
          <a:prstGeom prst="rect">
            <a:avLst/>
          </a:prstGeom>
          <a:noFill/>
        </p:spPr>
        <p:txBody>
          <a:bodyPr wrap="square" rtlCol="0">
            <a:spAutoFit/>
          </a:bodyPr>
          <a:lstStyle/>
          <a:p>
            <a:r>
              <a:rPr lang="en-US" sz="1000" dirty="0" err="1"/>
              <a:t>VSMi</a:t>
            </a:r>
            <a:r>
              <a:rPr lang="en-US" sz="1000" dirty="0"/>
              <a:t>® Exercise CCC Rev 4.0</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76B0F1ED-1C44-DFD6-E7DA-038409D9167D}"/>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5.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image" Target="../media/image6.emf"/><Relationship Id="rId5" Type="http://schemas.openxmlformats.org/officeDocument/2006/relationships/oleObject" Target="../embeddings/oleObject3.bin"/><Relationship Id="rId4" Type="http://schemas.openxmlformats.org/officeDocument/2006/relationships/image" Target="../media/image5.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5.bin"/><Relationship Id="rId1" Type="http://schemas.openxmlformats.org/officeDocument/2006/relationships/slideLayout" Target="../slideLayouts/slideLayout10.xml"/><Relationship Id="rId5" Type="http://schemas.openxmlformats.org/officeDocument/2006/relationships/image" Target="../media/image6.emf"/><Relationship Id="rId4" Type="http://schemas.openxmlformats.org/officeDocument/2006/relationships/oleObject" Target="../embeddings/oleObject6.bin"/></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7.bin"/><Relationship Id="rId1" Type="http://schemas.openxmlformats.org/officeDocument/2006/relationships/slideLayout" Target="../slideLayouts/slideLayout10.xml"/><Relationship Id="rId6" Type="http://schemas.openxmlformats.org/officeDocument/2006/relationships/oleObject" Target="../embeddings/oleObject9.bin"/><Relationship Id="rId5" Type="http://schemas.openxmlformats.org/officeDocument/2006/relationships/image" Target="../media/image6.emf"/><Relationship Id="rId4" Type="http://schemas.openxmlformats.org/officeDocument/2006/relationships/oleObject" Target="../embeddings/oleObject8.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B60FA6-6E24-C6E2-C35D-A4139BCE2E8B}"/>
              </a:ext>
            </a:extLst>
          </p:cNvPr>
          <p:cNvPicPr>
            <a:picLocks noChangeAspect="1"/>
          </p:cNvPicPr>
          <p:nvPr/>
        </p:nvPicPr>
        <p:blipFill>
          <a:blip r:embed="rId3"/>
          <a:stretch>
            <a:fillRect/>
          </a:stretch>
        </p:blipFill>
        <p:spPr>
          <a:xfrm>
            <a:off x="4747929" y="4846192"/>
            <a:ext cx="2696138" cy="45719"/>
          </a:xfrm>
          <a:prstGeom prst="rect">
            <a:avLst/>
          </a:prstGeom>
        </p:spPr>
      </p:pic>
      <p:sp>
        <p:nvSpPr>
          <p:cNvPr id="5" name="TextBox 4">
            <a:extLst>
              <a:ext uri="{FF2B5EF4-FFF2-40B4-BE49-F238E27FC236}">
                <a16:creationId xmlns:a16="http://schemas.microsoft.com/office/drawing/2014/main" id="{0BF4BEED-3D12-D343-768A-9E83F9558AE0}"/>
              </a:ext>
            </a:extLst>
          </p:cNvPr>
          <p:cNvSpPr txBox="1"/>
          <p:nvPr/>
        </p:nvSpPr>
        <p:spPr>
          <a:xfrm>
            <a:off x="1648084" y="4138306"/>
            <a:ext cx="8895828" cy="707886"/>
          </a:xfrm>
          <a:prstGeom prst="rect">
            <a:avLst/>
          </a:prstGeom>
          <a:noFill/>
        </p:spPr>
        <p:txBody>
          <a:bodyPr wrap="square" rtlCol="0">
            <a:spAutoFit/>
          </a:bodyPr>
          <a:lstStyle/>
          <a:p>
            <a:pPr algn="ctr"/>
            <a:r>
              <a:rPr lang="en-US" sz="4000" dirty="0" err="1">
                <a:latin typeface="Roboto" panose="02000000000000000000" pitchFamily="2" charset="0"/>
                <a:ea typeface="Roboto" panose="02000000000000000000" pitchFamily="2" charset="0"/>
                <a:cs typeface="Roboto" panose="02000000000000000000" pitchFamily="2" charset="0"/>
              </a:rPr>
              <a:t>VSMi</a:t>
            </a:r>
            <a:r>
              <a:rPr lang="en-US" sz="4000" dirty="0">
                <a:latin typeface="Roboto" panose="02000000000000000000" pitchFamily="2" charset="0"/>
                <a:ea typeface="Roboto" panose="02000000000000000000" pitchFamily="2" charset="0"/>
                <a:cs typeface="Roboto" panose="02000000000000000000" pitchFamily="2" charset="0"/>
              </a:rPr>
              <a:t>® Exercise</a:t>
            </a:r>
          </a:p>
        </p:txBody>
      </p:sp>
      <p:sp>
        <p:nvSpPr>
          <p:cNvPr id="3" name="Slide Number Placeholder 2">
            <a:extLst>
              <a:ext uri="{FF2B5EF4-FFF2-40B4-BE49-F238E27FC236}">
                <a16:creationId xmlns:a16="http://schemas.microsoft.com/office/drawing/2014/main" id="{DCEF716D-CC64-6765-89C4-B03733484518}"/>
              </a:ext>
            </a:extLst>
          </p:cNvPr>
          <p:cNvSpPr>
            <a:spLocks noGrp="1"/>
          </p:cNvSpPr>
          <p:nvPr>
            <p:ph type="sldNum" sz="quarter" idx="4"/>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a:t>
            </a:fld>
            <a:endParaRPr lang="en-US" dirty="0"/>
          </a:p>
        </p:txBody>
      </p:sp>
    </p:spTree>
    <p:extLst>
      <p:ext uri="{BB962C8B-B14F-4D97-AF65-F5344CB8AC3E}">
        <p14:creationId xmlns:p14="http://schemas.microsoft.com/office/powerpoint/2010/main" val="552795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 name="Rectangle 86">
            <a:extLst>
              <a:ext uri="{FF2B5EF4-FFF2-40B4-BE49-F238E27FC236}">
                <a16:creationId xmlns:a16="http://schemas.microsoft.com/office/drawing/2014/main" id="{CE5D6B40-8A09-4BE9-92AB-0A92BEDBFC0A}"/>
              </a:ext>
            </a:extLst>
          </p:cNvPr>
          <p:cNvSpPr>
            <a:spLocks noChangeArrowheads="1"/>
          </p:cNvSpPr>
          <p:nvPr/>
        </p:nvSpPr>
        <p:spPr bwMode="auto">
          <a:xfrm>
            <a:off x="8304836" y="3776565"/>
            <a:ext cx="638596" cy="84663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177" name="Group 262">
            <a:extLst>
              <a:ext uri="{FF2B5EF4-FFF2-40B4-BE49-F238E27FC236}">
                <a16:creationId xmlns:a16="http://schemas.microsoft.com/office/drawing/2014/main" id="{86049BFC-1695-9906-7A23-E216C00E4EC7}"/>
              </a:ext>
            </a:extLst>
          </p:cNvPr>
          <p:cNvGrpSpPr>
            <a:grpSpLocks/>
          </p:cNvGrpSpPr>
          <p:nvPr/>
        </p:nvGrpSpPr>
        <p:grpSpPr bwMode="auto">
          <a:xfrm>
            <a:off x="5103531" y="2259832"/>
            <a:ext cx="692150" cy="808038"/>
            <a:chOff x="3212" y="1438"/>
            <a:chExt cx="433" cy="533"/>
          </a:xfrm>
        </p:grpSpPr>
        <p:sp>
          <p:nvSpPr>
            <p:cNvPr id="178" name="Rectangle 263">
              <a:extLst>
                <a:ext uri="{FF2B5EF4-FFF2-40B4-BE49-F238E27FC236}">
                  <a16:creationId xmlns:a16="http://schemas.microsoft.com/office/drawing/2014/main" id="{6DEF5773-2720-CF76-57BD-5EC09338784C}"/>
                </a:ext>
              </a:extLst>
            </p:cNvPr>
            <p:cNvSpPr>
              <a:spLocks noChangeArrowheads="1"/>
            </p:cNvSpPr>
            <p:nvPr/>
          </p:nvSpPr>
          <p:spPr bwMode="auto">
            <a:xfrm>
              <a:off x="3306" y="1810"/>
              <a:ext cx="264"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eaLnBrk="1" hangingPunct="1">
                <a:lnSpc>
                  <a:spcPct val="100000"/>
                </a:lnSpc>
                <a:spcBef>
                  <a:spcPct val="0"/>
                </a:spcBef>
                <a:spcAft>
                  <a:spcPct val="0"/>
                </a:spcAft>
                <a:buClrTx/>
                <a:buSzTx/>
                <a:buFontTx/>
                <a:buNone/>
              </a:pPr>
              <a:r>
                <a:rPr lang="en-US" altLang="en-US" sz="800" b="0" dirty="0">
                  <a:cs typeface="Arial" panose="020B0604020202020204" pitchFamily="34" charset="0"/>
                </a:rPr>
                <a:t>Card</a:t>
              </a:r>
            </a:p>
            <a:p>
              <a:pPr algn="ctr" eaLnBrk="1" hangingPunct="1">
                <a:lnSpc>
                  <a:spcPct val="100000"/>
                </a:lnSpc>
                <a:spcBef>
                  <a:spcPct val="0"/>
                </a:spcBef>
                <a:spcAft>
                  <a:spcPct val="0"/>
                </a:spcAft>
                <a:buClrTx/>
                <a:buSzTx/>
                <a:buFontTx/>
                <a:buNone/>
              </a:pPr>
              <a:r>
                <a:rPr lang="en-US" altLang="en-US" sz="800" b="0" dirty="0">
                  <a:cs typeface="Arial" panose="020B0604020202020204" pitchFamily="34" charset="0"/>
                </a:rPr>
                <a:t>Applicant</a:t>
              </a:r>
            </a:p>
          </p:txBody>
        </p:sp>
        <p:graphicFrame>
          <p:nvGraphicFramePr>
            <p:cNvPr id="179" name="Object 264">
              <a:extLst>
                <a:ext uri="{FF2B5EF4-FFF2-40B4-BE49-F238E27FC236}">
                  <a16:creationId xmlns:a16="http://schemas.microsoft.com/office/drawing/2014/main" id="{35BFEF2A-B350-45FA-26DF-659CE4768C2D}"/>
                </a:ext>
              </a:extLst>
            </p:cNvPr>
            <p:cNvGraphicFramePr>
              <a:graphicFrameLocks noChangeAspect="1"/>
            </p:cNvGraphicFramePr>
            <p:nvPr>
              <p:extLst>
                <p:ext uri="{D42A27DB-BD31-4B8C-83A1-F6EECF244321}">
                  <p14:modId xmlns:p14="http://schemas.microsoft.com/office/powerpoint/2010/main" val="1136640826"/>
                </p:ext>
              </p:extLst>
            </p:nvPr>
          </p:nvGraphicFramePr>
          <p:xfrm>
            <a:off x="3212" y="1438"/>
            <a:ext cx="433" cy="492"/>
          </p:xfrm>
          <a:graphic>
            <a:graphicData uri="http://schemas.openxmlformats.org/presentationml/2006/ole">
              <mc:AlternateContent xmlns:mc="http://schemas.openxmlformats.org/markup-compatibility/2006">
                <mc:Choice xmlns:v="urn:schemas-microsoft-com:vml" Requires="v">
                  <p:oleObj name="Visio" r:id="rId3" imgW="698500" imgH="977900" progId="Visio.Drawing.11">
                    <p:embed/>
                  </p:oleObj>
                </mc:Choice>
                <mc:Fallback>
                  <p:oleObj name="Visio" r:id="rId3" imgW="698500" imgH="977900" progId="Visio.Drawing.11">
                    <p:embed/>
                    <p:pic>
                      <p:nvPicPr>
                        <p:cNvPr id="12394" name="Object 264">
                          <a:extLst>
                            <a:ext uri="{FF2B5EF4-FFF2-40B4-BE49-F238E27FC236}">
                              <a16:creationId xmlns:a16="http://schemas.microsoft.com/office/drawing/2014/main" id="{7F5AC62A-E9DF-1FC8-A5B9-B461E3B579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2" y="1438"/>
                          <a:ext cx="433" cy="4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cxnSp>
        <p:nvCxnSpPr>
          <p:cNvPr id="180" name="AutoShape 73">
            <a:extLst>
              <a:ext uri="{FF2B5EF4-FFF2-40B4-BE49-F238E27FC236}">
                <a16:creationId xmlns:a16="http://schemas.microsoft.com/office/drawing/2014/main" id="{96B09E14-CD6C-38FE-3444-EB3A2824E983}"/>
              </a:ext>
            </a:extLst>
          </p:cNvPr>
          <p:cNvCxnSpPr>
            <a:cxnSpLocks noChangeShapeType="1"/>
          </p:cNvCxnSpPr>
          <p:nvPr/>
        </p:nvCxnSpPr>
        <p:spPr bwMode="auto">
          <a:xfrm rot="5400000" flipH="1">
            <a:off x="7049798" y="1585482"/>
            <a:ext cx="1571625" cy="3600450"/>
          </a:xfrm>
          <a:prstGeom prst="bentConnector2">
            <a:avLst/>
          </a:prstGeom>
          <a:noFill/>
          <a:ln w="53975" cap="sq">
            <a:solidFill>
              <a:schemeClr val="tx1"/>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1" name="AutoShape 79">
            <a:extLst>
              <a:ext uri="{FF2B5EF4-FFF2-40B4-BE49-F238E27FC236}">
                <a16:creationId xmlns:a16="http://schemas.microsoft.com/office/drawing/2014/main" id="{4A2700C9-162D-9473-C027-F9989AFE2DAE}"/>
              </a:ext>
            </a:extLst>
          </p:cNvPr>
          <p:cNvCxnSpPr>
            <a:cxnSpLocks noChangeShapeType="1"/>
          </p:cNvCxnSpPr>
          <p:nvPr/>
        </p:nvCxnSpPr>
        <p:spPr bwMode="auto">
          <a:xfrm rot="10800000" flipV="1">
            <a:off x="1326651" y="2482419"/>
            <a:ext cx="2478087" cy="1708150"/>
          </a:xfrm>
          <a:prstGeom prst="bentConnector2">
            <a:avLst/>
          </a:prstGeom>
          <a:noFill/>
          <a:ln w="57150" cap="sq">
            <a:solidFill>
              <a:schemeClr val="tx1"/>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3" name="Rectangle 279">
            <a:extLst>
              <a:ext uri="{FF2B5EF4-FFF2-40B4-BE49-F238E27FC236}">
                <a16:creationId xmlns:a16="http://schemas.microsoft.com/office/drawing/2014/main" id="{510CED68-D846-4543-2811-242E4B3F7CA9}"/>
              </a:ext>
            </a:extLst>
          </p:cNvPr>
          <p:cNvSpPr>
            <a:spLocks noChangeArrowheads="1"/>
          </p:cNvSpPr>
          <p:nvPr/>
        </p:nvSpPr>
        <p:spPr bwMode="auto">
          <a:xfrm>
            <a:off x="4898982" y="3108469"/>
            <a:ext cx="1178801" cy="41876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84" name="Rectangle 284">
            <a:extLst>
              <a:ext uri="{FF2B5EF4-FFF2-40B4-BE49-F238E27FC236}">
                <a16:creationId xmlns:a16="http://schemas.microsoft.com/office/drawing/2014/main" id="{2BCE60D0-C218-1D26-3C2B-14D2326D5C1C}"/>
              </a:ext>
            </a:extLst>
          </p:cNvPr>
          <p:cNvSpPr>
            <a:spLocks noChangeArrowheads="1"/>
          </p:cNvSpPr>
          <p:nvPr/>
        </p:nvSpPr>
        <p:spPr bwMode="auto">
          <a:xfrm>
            <a:off x="4868581" y="3122756"/>
            <a:ext cx="1249362"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800" dirty="0">
                <a:cs typeface="Arial" panose="020B0604020202020204" pitchFamily="34" charset="0"/>
              </a:rPr>
              <a:t>Central Data Base</a:t>
            </a:r>
          </a:p>
        </p:txBody>
      </p:sp>
      <p:sp>
        <p:nvSpPr>
          <p:cNvPr id="185" name="Rectangle 12">
            <a:extLst>
              <a:ext uri="{FF2B5EF4-FFF2-40B4-BE49-F238E27FC236}">
                <a16:creationId xmlns:a16="http://schemas.microsoft.com/office/drawing/2014/main" id="{71750A29-1C3D-1C05-D4CA-5A609AC11915}"/>
              </a:ext>
            </a:extLst>
          </p:cNvPr>
          <p:cNvSpPr>
            <a:spLocks noChangeArrowheads="1"/>
          </p:cNvSpPr>
          <p:nvPr/>
        </p:nvSpPr>
        <p:spPr bwMode="auto">
          <a:xfrm>
            <a:off x="4922796" y="4132981"/>
            <a:ext cx="661987" cy="55562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86" name="Line 13">
            <a:extLst>
              <a:ext uri="{FF2B5EF4-FFF2-40B4-BE49-F238E27FC236}">
                <a16:creationId xmlns:a16="http://schemas.microsoft.com/office/drawing/2014/main" id="{13AC58A6-DFFD-D417-BD35-FCA726F18786}"/>
              </a:ext>
            </a:extLst>
          </p:cNvPr>
          <p:cNvSpPr>
            <a:spLocks noChangeShapeType="1"/>
          </p:cNvSpPr>
          <p:nvPr/>
        </p:nvSpPr>
        <p:spPr bwMode="auto">
          <a:xfrm>
            <a:off x="4927558" y="4423493"/>
            <a:ext cx="650875" cy="158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800"/>
          </a:p>
        </p:txBody>
      </p:sp>
      <p:sp>
        <p:nvSpPr>
          <p:cNvPr id="187" name="Text Box 18">
            <a:extLst>
              <a:ext uri="{FF2B5EF4-FFF2-40B4-BE49-F238E27FC236}">
                <a16:creationId xmlns:a16="http://schemas.microsoft.com/office/drawing/2014/main" id="{B135850A-418A-DB37-94EC-3D108772C87B}"/>
              </a:ext>
            </a:extLst>
          </p:cNvPr>
          <p:cNvSpPr txBox="1">
            <a:spLocks noChangeArrowheads="1"/>
          </p:cNvSpPr>
          <p:nvPr/>
        </p:nvSpPr>
        <p:spPr bwMode="auto">
          <a:xfrm>
            <a:off x="4948196" y="4094881"/>
            <a:ext cx="619125"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700" b="0"/>
              <a:t>Data Entry</a:t>
            </a:r>
          </a:p>
        </p:txBody>
      </p:sp>
      <p:sp>
        <p:nvSpPr>
          <p:cNvPr id="188" name="Rectangle 20">
            <a:extLst>
              <a:ext uri="{FF2B5EF4-FFF2-40B4-BE49-F238E27FC236}">
                <a16:creationId xmlns:a16="http://schemas.microsoft.com/office/drawing/2014/main" id="{589554E8-C22A-E9FD-AC5A-196388A0B1D7}"/>
              </a:ext>
            </a:extLst>
          </p:cNvPr>
          <p:cNvSpPr>
            <a:spLocks noChangeArrowheads="1"/>
          </p:cNvSpPr>
          <p:nvPr/>
        </p:nvSpPr>
        <p:spPr bwMode="auto">
          <a:xfrm>
            <a:off x="3933783" y="4132981"/>
            <a:ext cx="657225" cy="55562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89" name="Line 21">
            <a:extLst>
              <a:ext uri="{FF2B5EF4-FFF2-40B4-BE49-F238E27FC236}">
                <a16:creationId xmlns:a16="http://schemas.microsoft.com/office/drawing/2014/main" id="{2DFCE643-929D-1A16-C974-0D2AEDD19E97}"/>
              </a:ext>
            </a:extLst>
          </p:cNvPr>
          <p:cNvSpPr>
            <a:spLocks noChangeShapeType="1"/>
          </p:cNvSpPr>
          <p:nvPr/>
        </p:nvSpPr>
        <p:spPr bwMode="auto">
          <a:xfrm>
            <a:off x="3938546" y="4425081"/>
            <a:ext cx="646112" cy="1587"/>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800"/>
          </a:p>
        </p:txBody>
      </p:sp>
      <p:sp>
        <p:nvSpPr>
          <p:cNvPr id="190" name="Text Box 26">
            <a:extLst>
              <a:ext uri="{FF2B5EF4-FFF2-40B4-BE49-F238E27FC236}">
                <a16:creationId xmlns:a16="http://schemas.microsoft.com/office/drawing/2014/main" id="{C0DC9549-DFF7-F183-F9C2-28810F0F94CA}"/>
              </a:ext>
            </a:extLst>
          </p:cNvPr>
          <p:cNvSpPr txBox="1">
            <a:spLocks noChangeArrowheads="1"/>
          </p:cNvSpPr>
          <p:nvPr/>
        </p:nvSpPr>
        <p:spPr bwMode="auto">
          <a:xfrm>
            <a:off x="3959183" y="4094881"/>
            <a:ext cx="612775"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700" b="0"/>
              <a:t>Scan</a:t>
            </a:r>
          </a:p>
        </p:txBody>
      </p:sp>
      <p:grpSp>
        <p:nvGrpSpPr>
          <p:cNvPr id="342" name="Group 341">
            <a:extLst>
              <a:ext uri="{FF2B5EF4-FFF2-40B4-BE49-F238E27FC236}">
                <a16:creationId xmlns:a16="http://schemas.microsoft.com/office/drawing/2014/main" id="{C9CB8EA8-2FEF-2406-4811-0CA2346C3F9C}"/>
              </a:ext>
            </a:extLst>
          </p:cNvPr>
          <p:cNvGrpSpPr/>
          <p:nvPr/>
        </p:nvGrpSpPr>
        <p:grpSpPr>
          <a:xfrm>
            <a:off x="6029948" y="4117050"/>
            <a:ext cx="1117607" cy="571556"/>
            <a:chOff x="5937207" y="4117050"/>
            <a:chExt cx="1117607" cy="571556"/>
          </a:xfrm>
        </p:grpSpPr>
        <p:sp>
          <p:nvSpPr>
            <p:cNvPr id="195" name="Rectangle 42">
              <a:extLst>
                <a:ext uri="{FF2B5EF4-FFF2-40B4-BE49-F238E27FC236}">
                  <a16:creationId xmlns:a16="http://schemas.microsoft.com/office/drawing/2014/main" id="{FD44F4D5-860E-99BB-0CE5-FD351E918200}"/>
                </a:ext>
              </a:extLst>
            </p:cNvPr>
            <p:cNvSpPr>
              <a:spLocks noChangeArrowheads="1"/>
            </p:cNvSpPr>
            <p:nvPr/>
          </p:nvSpPr>
          <p:spPr bwMode="auto">
            <a:xfrm>
              <a:off x="5937207" y="4132981"/>
              <a:ext cx="1117607" cy="55562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96" name="Line 43">
              <a:extLst>
                <a:ext uri="{FF2B5EF4-FFF2-40B4-BE49-F238E27FC236}">
                  <a16:creationId xmlns:a16="http://schemas.microsoft.com/office/drawing/2014/main" id="{0FF5B620-1211-48E1-E04F-530347351AC8}"/>
                </a:ext>
              </a:extLst>
            </p:cNvPr>
            <p:cNvSpPr>
              <a:spLocks noChangeShapeType="1"/>
            </p:cNvSpPr>
            <p:nvPr/>
          </p:nvSpPr>
          <p:spPr bwMode="auto">
            <a:xfrm flipV="1">
              <a:off x="5940383" y="4423493"/>
              <a:ext cx="1114431" cy="4763"/>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800" dirty="0"/>
            </a:p>
          </p:txBody>
        </p:sp>
        <p:sp>
          <p:nvSpPr>
            <p:cNvPr id="197" name="Text Box 48">
              <a:extLst>
                <a:ext uri="{FF2B5EF4-FFF2-40B4-BE49-F238E27FC236}">
                  <a16:creationId xmlns:a16="http://schemas.microsoft.com/office/drawing/2014/main" id="{5DFB349E-6171-686D-986C-7E391BB33FD3}"/>
                </a:ext>
              </a:extLst>
            </p:cNvPr>
            <p:cNvSpPr txBox="1">
              <a:spLocks noChangeArrowheads="1"/>
            </p:cNvSpPr>
            <p:nvPr/>
          </p:nvSpPr>
          <p:spPr bwMode="auto">
            <a:xfrm>
              <a:off x="6110347" y="4117050"/>
              <a:ext cx="698500"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700" b="0" dirty="0"/>
                <a:t>Underwrite</a:t>
              </a:r>
            </a:p>
          </p:txBody>
        </p:sp>
      </p:grpSp>
      <p:sp>
        <p:nvSpPr>
          <p:cNvPr id="198" name="Rectangle 50">
            <a:extLst>
              <a:ext uri="{FF2B5EF4-FFF2-40B4-BE49-F238E27FC236}">
                <a16:creationId xmlns:a16="http://schemas.microsoft.com/office/drawing/2014/main" id="{7D105D21-1B62-9CC4-8124-37A09EB26038}"/>
              </a:ext>
            </a:extLst>
          </p:cNvPr>
          <p:cNvSpPr>
            <a:spLocks noChangeArrowheads="1"/>
          </p:cNvSpPr>
          <p:nvPr/>
        </p:nvSpPr>
        <p:spPr bwMode="auto">
          <a:xfrm>
            <a:off x="1509035" y="4132981"/>
            <a:ext cx="1103949" cy="55562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99" name="Line 51">
            <a:extLst>
              <a:ext uri="{FF2B5EF4-FFF2-40B4-BE49-F238E27FC236}">
                <a16:creationId xmlns:a16="http://schemas.microsoft.com/office/drawing/2014/main" id="{EC0322FA-4B99-17A5-4525-85C47909F0E5}"/>
              </a:ext>
            </a:extLst>
          </p:cNvPr>
          <p:cNvSpPr>
            <a:spLocks noChangeShapeType="1"/>
          </p:cNvSpPr>
          <p:nvPr/>
        </p:nvSpPr>
        <p:spPr bwMode="auto">
          <a:xfrm flipV="1">
            <a:off x="1546341" y="4426668"/>
            <a:ext cx="1060292" cy="3175"/>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800"/>
          </a:p>
        </p:txBody>
      </p:sp>
      <p:sp>
        <p:nvSpPr>
          <p:cNvPr id="200" name="Text Box 56">
            <a:extLst>
              <a:ext uri="{FF2B5EF4-FFF2-40B4-BE49-F238E27FC236}">
                <a16:creationId xmlns:a16="http://schemas.microsoft.com/office/drawing/2014/main" id="{EBFBB453-2FF5-5C15-7BA9-DCECDC662CF2}"/>
              </a:ext>
            </a:extLst>
          </p:cNvPr>
          <p:cNvSpPr txBox="1">
            <a:spLocks noChangeArrowheads="1"/>
          </p:cNvSpPr>
          <p:nvPr/>
        </p:nvSpPr>
        <p:spPr bwMode="auto">
          <a:xfrm>
            <a:off x="1573853" y="4094881"/>
            <a:ext cx="1020080"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t>Receipt</a:t>
            </a:r>
          </a:p>
        </p:txBody>
      </p:sp>
      <p:sp>
        <p:nvSpPr>
          <p:cNvPr id="201" name="Line 57">
            <a:extLst>
              <a:ext uri="{FF2B5EF4-FFF2-40B4-BE49-F238E27FC236}">
                <a16:creationId xmlns:a16="http://schemas.microsoft.com/office/drawing/2014/main" id="{4E660380-09F1-4223-1A59-40B919335D95}"/>
              </a:ext>
            </a:extLst>
          </p:cNvPr>
          <p:cNvSpPr>
            <a:spLocks noChangeShapeType="1"/>
          </p:cNvSpPr>
          <p:nvPr/>
        </p:nvSpPr>
        <p:spPr bwMode="auto">
          <a:xfrm flipV="1">
            <a:off x="2609808" y="4390156"/>
            <a:ext cx="344488"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800"/>
          </a:p>
        </p:txBody>
      </p:sp>
      <p:sp>
        <p:nvSpPr>
          <p:cNvPr id="202" name="Rectangle 59">
            <a:extLst>
              <a:ext uri="{FF2B5EF4-FFF2-40B4-BE49-F238E27FC236}">
                <a16:creationId xmlns:a16="http://schemas.microsoft.com/office/drawing/2014/main" id="{B35A79AB-D8E6-D938-D8AE-0ADEA6A257B6}"/>
              </a:ext>
            </a:extLst>
          </p:cNvPr>
          <p:cNvSpPr>
            <a:spLocks noChangeArrowheads="1"/>
          </p:cNvSpPr>
          <p:nvPr/>
        </p:nvSpPr>
        <p:spPr bwMode="auto">
          <a:xfrm>
            <a:off x="2944771" y="4132981"/>
            <a:ext cx="657225" cy="55562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03" name="Line 60">
            <a:extLst>
              <a:ext uri="{FF2B5EF4-FFF2-40B4-BE49-F238E27FC236}">
                <a16:creationId xmlns:a16="http://schemas.microsoft.com/office/drawing/2014/main" id="{3438E69D-59B6-C5B5-3131-3C31B2BFD65B}"/>
              </a:ext>
            </a:extLst>
          </p:cNvPr>
          <p:cNvSpPr>
            <a:spLocks noChangeShapeType="1"/>
          </p:cNvSpPr>
          <p:nvPr/>
        </p:nvSpPr>
        <p:spPr bwMode="auto">
          <a:xfrm>
            <a:off x="2949533" y="4425081"/>
            <a:ext cx="646113" cy="1587"/>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800"/>
          </a:p>
        </p:txBody>
      </p:sp>
      <p:sp>
        <p:nvSpPr>
          <p:cNvPr id="204" name="Text Box 65">
            <a:extLst>
              <a:ext uri="{FF2B5EF4-FFF2-40B4-BE49-F238E27FC236}">
                <a16:creationId xmlns:a16="http://schemas.microsoft.com/office/drawing/2014/main" id="{4AE17A9F-61BF-B43A-0343-2731DB57F25A}"/>
              </a:ext>
            </a:extLst>
          </p:cNvPr>
          <p:cNvSpPr txBox="1">
            <a:spLocks noChangeArrowheads="1"/>
          </p:cNvSpPr>
          <p:nvPr/>
        </p:nvSpPr>
        <p:spPr bwMode="auto">
          <a:xfrm>
            <a:off x="2968583" y="4094881"/>
            <a:ext cx="6143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t>Signature</a:t>
            </a:r>
          </a:p>
          <a:p>
            <a:pPr algn="ctr">
              <a:lnSpc>
                <a:spcPct val="100000"/>
              </a:lnSpc>
              <a:spcBef>
                <a:spcPct val="0"/>
              </a:spcBef>
              <a:spcAft>
                <a:spcPct val="0"/>
              </a:spcAft>
              <a:buClrTx/>
              <a:buSzTx/>
              <a:buFontTx/>
              <a:buNone/>
            </a:pPr>
            <a:r>
              <a:rPr lang="en-US" altLang="en-US" sz="700" b="0"/>
              <a:t>Check</a:t>
            </a:r>
          </a:p>
        </p:txBody>
      </p:sp>
      <p:grpSp>
        <p:nvGrpSpPr>
          <p:cNvPr id="205" name="Group 66">
            <a:extLst>
              <a:ext uri="{FF2B5EF4-FFF2-40B4-BE49-F238E27FC236}">
                <a16:creationId xmlns:a16="http://schemas.microsoft.com/office/drawing/2014/main" id="{F305B126-7371-C36E-670E-659170F9AED2}"/>
              </a:ext>
            </a:extLst>
          </p:cNvPr>
          <p:cNvGrpSpPr>
            <a:grpSpLocks/>
          </p:cNvGrpSpPr>
          <p:nvPr/>
        </p:nvGrpSpPr>
        <p:grpSpPr bwMode="auto">
          <a:xfrm>
            <a:off x="8308431" y="3218399"/>
            <a:ext cx="635000" cy="555625"/>
            <a:chOff x="3979" y="2536"/>
            <a:chExt cx="525" cy="365"/>
          </a:xfrm>
        </p:grpSpPr>
        <p:sp>
          <p:nvSpPr>
            <p:cNvPr id="206" name="Rectangle 67">
              <a:extLst>
                <a:ext uri="{FF2B5EF4-FFF2-40B4-BE49-F238E27FC236}">
                  <a16:creationId xmlns:a16="http://schemas.microsoft.com/office/drawing/2014/main" id="{8A02BF46-D3CB-B49F-C93B-A8BCF64199FC}"/>
                </a:ext>
              </a:extLst>
            </p:cNvPr>
            <p:cNvSpPr>
              <a:spLocks noChangeArrowheads="1"/>
            </p:cNvSpPr>
            <p:nvPr/>
          </p:nvSpPr>
          <p:spPr bwMode="auto">
            <a:xfrm>
              <a:off x="3979" y="2536"/>
              <a:ext cx="525" cy="36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07" name="Line 68">
              <a:extLst>
                <a:ext uri="{FF2B5EF4-FFF2-40B4-BE49-F238E27FC236}">
                  <a16:creationId xmlns:a16="http://schemas.microsoft.com/office/drawing/2014/main" id="{BD43DEF9-89DF-45A2-3682-E27C3F5C01FB}"/>
                </a:ext>
              </a:extLst>
            </p:cNvPr>
            <p:cNvSpPr>
              <a:spLocks noChangeShapeType="1"/>
            </p:cNvSpPr>
            <p:nvPr/>
          </p:nvSpPr>
          <p:spPr bwMode="auto">
            <a:xfrm>
              <a:off x="3982" y="2734"/>
              <a:ext cx="518" cy="1"/>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208" name="Text Box 69">
            <a:extLst>
              <a:ext uri="{FF2B5EF4-FFF2-40B4-BE49-F238E27FC236}">
                <a16:creationId xmlns:a16="http://schemas.microsoft.com/office/drawing/2014/main" id="{CEB19696-7D75-E111-60B1-502C0349AF4A}"/>
              </a:ext>
            </a:extLst>
          </p:cNvPr>
          <p:cNvSpPr txBox="1">
            <a:spLocks noChangeArrowheads="1"/>
          </p:cNvSpPr>
          <p:nvPr/>
        </p:nvSpPr>
        <p:spPr bwMode="auto">
          <a:xfrm>
            <a:off x="8325893" y="3178711"/>
            <a:ext cx="6111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dirty="0"/>
              <a:t>Generate</a:t>
            </a:r>
          </a:p>
          <a:p>
            <a:pPr algn="ctr">
              <a:lnSpc>
                <a:spcPct val="100000"/>
              </a:lnSpc>
              <a:spcBef>
                <a:spcPct val="0"/>
              </a:spcBef>
              <a:spcAft>
                <a:spcPct val="0"/>
              </a:spcAft>
              <a:buClrTx/>
              <a:buSzTx/>
              <a:buFontTx/>
              <a:buNone/>
            </a:pPr>
            <a:r>
              <a:rPr lang="en-US" altLang="en-US" sz="700" b="0" dirty="0"/>
              <a:t>Card</a:t>
            </a:r>
          </a:p>
        </p:txBody>
      </p:sp>
      <p:sp>
        <p:nvSpPr>
          <p:cNvPr id="209" name="Line 71">
            <a:extLst>
              <a:ext uri="{FF2B5EF4-FFF2-40B4-BE49-F238E27FC236}">
                <a16:creationId xmlns:a16="http://schemas.microsoft.com/office/drawing/2014/main" id="{5DB66AAB-88F7-089E-1F37-899F2725F18C}"/>
              </a:ext>
            </a:extLst>
          </p:cNvPr>
          <p:cNvSpPr>
            <a:spLocks noChangeShapeType="1"/>
          </p:cNvSpPr>
          <p:nvPr/>
        </p:nvSpPr>
        <p:spPr bwMode="auto">
          <a:xfrm flipV="1">
            <a:off x="5608596" y="4390156"/>
            <a:ext cx="346075"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800"/>
          </a:p>
        </p:txBody>
      </p:sp>
      <p:sp>
        <p:nvSpPr>
          <p:cNvPr id="212" name="Rectangle 89">
            <a:extLst>
              <a:ext uri="{FF2B5EF4-FFF2-40B4-BE49-F238E27FC236}">
                <a16:creationId xmlns:a16="http://schemas.microsoft.com/office/drawing/2014/main" id="{E409E9F7-7616-8844-F513-C1EDC5D82BD4}"/>
              </a:ext>
            </a:extLst>
          </p:cNvPr>
          <p:cNvSpPr>
            <a:spLocks noChangeArrowheads="1"/>
          </p:cNvSpPr>
          <p:nvPr/>
        </p:nvSpPr>
        <p:spPr bwMode="auto">
          <a:xfrm>
            <a:off x="4925971" y="4710831"/>
            <a:ext cx="674687" cy="1087177"/>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sp>
        <p:nvSpPr>
          <p:cNvPr id="213" name="Rectangle 90">
            <a:extLst>
              <a:ext uri="{FF2B5EF4-FFF2-40B4-BE49-F238E27FC236}">
                <a16:creationId xmlns:a16="http://schemas.microsoft.com/office/drawing/2014/main" id="{45488B3D-F562-145B-7D6B-3F0A99A2C0D2}"/>
              </a:ext>
            </a:extLst>
          </p:cNvPr>
          <p:cNvSpPr>
            <a:spLocks noChangeArrowheads="1"/>
          </p:cNvSpPr>
          <p:nvPr/>
        </p:nvSpPr>
        <p:spPr bwMode="auto">
          <a:xfrm>
            <a:off x="3929021" y="4710831"/>
            <a:ext cx="649287" cy="1088767"/>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sp>
        <p:nvSpPr>
          <p:cNvPr id="214" name="Rectangle 91">
            <a:extLst>
              <a:ext uri="{FF2B5EF4-FFF2-40B4-BE49-F238E27FC236}">
                <a16:creationId xmlns:a16="http://schemas.microsoft.com/office/drawing/2014/main" id="{EE951FB6-ED3F-CF10-3A15-B86A71B2C50B}"/>
              </a:ext>
            </a:extLst>
          </p:cNvPr>
          <p:cNvSpPr>
            <a:spLocks noChangeArrowheads="1"/>
          </p:cNvSpPr>
          <p:nvPr/>
        </p:nvSpPr>
        <p:spPr bwMode="auto">
          <a:xfrm>
            <a:off x="2941596" y="4710831"/>
            <a:ext cx="647700" cy="1079242"/>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sp>
        <p:nvSpPr>
          <p:cNvPr id="215" name="Rectangle 92">
            <a:extLst>
              <a:ext uri="{FF2B5EF4-FFF2-40B4-BE49-F238E27FC236}">
                <a16:creationId xmlns:a16="http://schemas.microsoft.com/office/drawing/2014/main" id="{851D4BFA-3C42-B8FD-AC04-AF9879B8CE89}"/>
              </a:ext>
            </a:extLst>
          </p:cNvPr>
          <p:cNvSpPr>
            <a:spLocks noChangeArrowheads="1"/>
          </p:cNvSpPr>
          <p:nvPr/>
        </p:nvSpPr>
        <p:spPr bwMode="auto">
          <a:xfrm>
            <a:off x="3917949" y="4707656"/>
            <a:ext cx="635161" cy="1000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720" rIns="45720">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25000"/>
              </a:lnSpc>
              <a:spcBef>
                <a:spcPct val="0"/>
              </a:spcBef>
              <a:spcAft>
                <a:spcPct val="0"/>
              </a:spcAft>
              <a:buClrTx/>
              <a:buSzTx/>
              <a:buFontTx/>
              <a:buNone/>
            </a:pPr>
            <a:r>
              <a:rPr lang="en-US" altLang="en-US" sz="800" b="0" dirty="0"/>
              <a:t>Volume =</a:t>
            </a:r>
          </a:p>
          <a:p>
            <a:pPr>
              <a:lnSpc>
                <a:spcPct val="125000"/>
              </a:lnSpc>
              <a:spcBef>
                <a:spcPct val="0"/>
              </a:spcBef>
              <a:spcAft>
                <a:spcPct val="0"/>
              </a:spcAft>
              <a:buClrTx/>
              <a:buSzTx/>
              <a:buFontTx/>
              <a:buNone/>
            </a:pPr>
            <a:r>
              <a:rPr lang="en-US" altLang="en-US" sz="800" b="0" dirty="0"/>
              <a:t>Processing Time = </a:t>
            </a:r>
          </a:p>
          <a:p>
            <a:pPr>
              <a:lnSpc>
                <a:spcPct val="125000"/>
              </a:lnSpc>
              <a:spcBef>
                <a:spcPct val="0"/>
              </a:spcBef>
              <a:spcAft>
                <a:spcPct val="0"/>
              </a:spcAft>
              <a:buClrTx/>
              <a:buSzTx/>
              <a:buFontTx/>
              <a:buNone/>
            </a:pPr>
            <a:r>
              <a:rPr lang="en-US" altLang="en-US" sz="800" b="0" dirty="0"/>
              <a:t>DOI = </a:t>
            </a:r>
          </a:p>
          <a:p>
            <a:pPr>
              <a:lnSpc>
                <a:spcPct val="125000"/>
              </a:lnSpc>
              <a:spcBef>
                <a:spcPct val="0"/>
              </a:spcBef>
              <a:spcAft>
                <a:spcPct val="0"/>
              </a:spcAft>
              <a:buClrTx/>
              <a:buSzTx/>
              <a:buFontTx/>
              <a:buNone/>
            </a:pPr>
            <a:r>
              <a:rPr lang="en-US" altLang="en-US" sz="800" b="0" dirty="0"/>
              <a:t>Quality = </a:t>
            </a:r>
          </a:p>
          <a:p>
            <a:pPr>
              <a:lnSpc>
                <a:spcPct val="125000"/>
              </a:lnSpc>
              <a:spcBef>
                <a:spcPct val="0"/>
              </a:spcBef>
              <a:spcAft>
                <a:spcPct val="0"/>
              </a:spcAft>
              <a:buClrTx/>
              <a:buSzTx/>
              <a:buFontTx/>
              <a:buNone/>
            </a:pPr>
            <a:r>
              <a:rPr lang="en-US" altLang="en-US" sz="800" b="0" dirty="0"/>
              <a:t># Rework = </a:t>
            </a:r>
          </a:p>
        </p:txBody>
      </p:sp>
      <p:sp>
        <p:nvSpPr>
          <p:cNvPr id="216" name="Rectangle 93">
            <a:extLst>
              <a:ext uri="{FF2B5EF4-FFF2-40B4-BE49-F238E27FC236}">
                <a16:creationId xmlns:a16="http://schemas.microsoft.com/office/drawing/2014/main" id="{DD8F56FC-0C2F-D9A7-073C-E057CCE4B873}"/>
              </a:ext>
            </a:extLst>
          </p:cNvPr>
          <p:cNvSpPr>
            <a:spLocks noChangeArrowheads="1"/>
          </p:cNvSpPr>
          <p:nvPr/>
        </p:nvSpPr>
        <p:spPr bwMode="auto">
          <a:xfrm>
            <a:off x="1511347" y="4710831"/>
            <a:ext cx="1092112" cy="717412"/>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sp>
        <p:nvSpPr>
          <p:cNvPr id="217" name="Rectangle 94">
            <a:extLst>
              <a:ext uri="{FF2B5EF4-FFF2-40B4-BE49-F238E27FC236}">
                <a16:creationId xmlns:a16="http://schemas.microsoft.com/office/drawing/2014/main" id="{3182848C-DC4D-A004-8DD4-0D76D2487D66}"/>
              </a:ext>
            </a:extLst>
          </p:cNvPr>
          <p:cNvSpPr>
            <a:spLocks noChangeArrowheads="1"/>
          </p:cNvSpPr>
          <p:nvPr/>
        </p:nvSpPr>
        <p:spPr bwMode="auto">
          <a:xfrm>
            <a:off x="1571671" y="4707656"/>
            <a:ext cx="132157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720" rIns="45720">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00000"/>
              </a:lnSpc>
              <a:spcBef>
                <a:spcPct val="0"/>
              </a:spcBef>
              <a:spcAft>
                <a:spcPct val="0"/>
              </a:spcAft>
              <a:buClrTx/>
              <a:buSzTx/>
              <a:buFontTx/>
              <a:buNone/>
            </a:pPr>
            <a:r>
              <a:rPr lang="en-US" altLang="en-US" sz="800" b="0" dirty="0"/>
              <a:t>Volume = </a:t>
            </a:r>
          </a:p>
          <a:p>
            <a:pPr>
              <a:lnSpc>
                <a:spcPct val="100000"/>
              </a:lnSpc>
              <a:spcBef>
                <a:spcPct val="0"/>
              </a:spcBef>
              <a:spcAft>
                <a:spcPct val="0"/>
              </a:spcAft>
              <a:buClrTx/>
              <a:buSzTx/>
              <a:buFontTx/>
              <a:buNone/>
            </a:pPr>
            <a:r>
              <a:rPr lang="en-US" altLang="en-US" sz="800" b="0" dirty="0"/>
              <a:t>Processing Time = </a:t>
            </a:r>
          </a:p>
          <a:p>
            <a:pPr>
              <a:lnSpc>
                <a:spcPct val="100000"/>
              </a:lnSpc>
              <a:spcBef>
                <a:spcPct val="0"/>
              </a:spcBef>
              <a:spcAft>
                <a:spcPct val="0"/>
              </a:spcAft>
              <a:buClrTx/>
              <a:buSzTx/>
              <a:buFontTx/>
              <a:buNone/>
            </a:pPr>
            <a:r>
              <a:rPr lang="en-US" altLang="en-US" sz="800" b="0" dirty="0"/>
              <a:t>DOI = </a:t>
            </a:r>
          </a:p>
          <a:p>
            <a:pPr>
              <a:lnSpc>
                <a:spcPct val="100000"/>
              </a:lnSpc>
              <a:spcBef>
                <a:spcPct val="0"/>
              </a:spcBef>
              <a:spcAft>
                <a:spcPct val="0"/>
              </a:spcAft>
              <a:buClrTx/>
              <a:buSzTx/>
              <a:buFontTx/>
              <a:buNone/>
            </a:pPr>
            <a:r>
              <a:rPr lang="en-US" altLang="en-US" sz="800" b="0" dirty="0"/>
              <a:t>Quality = </a:t>
            </a:r>
          </a:p>
          <a:p>
            <a:pPr>
              <a:lnSpc>
                <a:spcPct val="100000"/>
              </a:lnSpc>
              <a:spcBef>
                <a:spcPct val="0"/>
              </a:spcBef>
              <a:spcAft>
                <a:spcPct val="0"/>
              </a:spcAft>
              <a:buClrTx/>
              <a:buSzTx/>
              <a:buFontTx/>
              <a:buNone/>
            </a:pPr>
            <a:r>
              <a:rPr lang="en-US" altLang="en-US" sz="800" b="0" dirty="0"/>
              <a:t># Rework = </a:t>
            </a:r>
          </a:p>
        </p:txBody>
      </p:sp>
      <p:sp>
        <p:nvSpPr>
          <p:cNvPr id="218" name="Line 152">
            <a:extLst>
              <a:ext uri="{FF2B5EF4-FFF2-40B4-BE49-F238E27FC236}">
                <a16:creationId xmlns:a16="http://schemas.microsoft.com/office/drawing/2014/main" id="{49D43BBA-7D73-5D18-9B98-526916EB1B32}"/>
              </a:ext>
            </a:extLst>
          </p:cNvPr>
          <p:cNvSpPr>
            <a:spLocks noChangeShapeType="1"/>
          </p:cNvSpPr>
          <p:nvPr/>
        </p:nvSpPr>
        <p:spPr bwMode="auto">
          <a:xfrm flipV="1">
            <a:off x="2671721" y="4390156"/>
            <a:ext cx="217487"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800"/>
          </a:p>
        </p:txBody>
      </p:sp>
      <p:grpSp>
        <p:nvGrpSpPr>
          <p:cNvPr id="219" name="Group 153">
            <a:extLst>
              <a:ext uri="{FF2B5EF4-FFF2-40B4-BE49-F238E27FC236}">
                <a16:creationId xmlns:a16="http://schemas.microsoft.com/office/drawing/2014/main" id="{2A09FF7A-3112-E6B2-E259-BBBF58B37B08}"/>
              </a:ext>
            </a:extLst>
          </p:cNvPr>
          <p:cNvGrpSpPr>
            <a:grpSpLocks/>
          </p:cNvGrpSpPr>
          <p:nvPr/>
        </p:nvGrpSpPr>
        <p:grpSpPr bwMode="auto">
          <a:xfrm>
            <a:off x="2489158" y="4244106"/>
            <a:ext cx="561975" cy="903287"/>
            <a:chOff x="748" y="2665"/>
            <a:chExt cx="354" cy="569"/>
          </a:xfrm>
        </p:grpSpPr>
        <p:sp>
          <p:nvSpPr>
            <p:cNvPr id="220" name="Rectangle 154">
              <a:extLst>
                <a:ext uri="{FF2B5EF4-FFF2-40B4-BE49-F238E27FC236}">
                  <a16:creationId xmlns:a16="http://schemas.microsoft.com/office/drawing/2014/main" id="{54BBB390-1AA3-37E6-360E-B864C525299D}"/>
                </a:ext>
              </a:extLst>
            </p:cNvPr>
            <p:cNvSpPr>
              <a:spLocks noChangeArrowheads="1"/>
            </p:cNvSpPr>
            <p:nvPr/>
          </p:nvSpPr>
          <p:spPr bwMode="auto">
            <a:xfrm>
              <a:off x="855" y="2709"/>
              <a:ext cx="151" cy="16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sp>
          <p:nvSpPr>
            <p:cNvPr id="221" name="AutoShape 155">
              <a:extLst>
                <a:ext uri="{FF2B5EF4-FFF2-40B4-BE49-F238E27FC236}">
                  <a16:creationId xmlns:a16="http://schemas.microsoft.com/office/drawing/2014/main" id="{58077586-473E-3851-E1C9-D1295910D29C}"/>
                </a:ext>
              </a:extLst>
            </p:cNvPr>
            <p:cNvSpPr>
              <a:spLocks/>
            </p:cNvSpPr>
            <p:nvPr/>
          </p:nvSpPr>
          <p:spPr bwMode="auto">
            <a:xfrm rot="-5400000">
              <a:off x="922" y="2598"/>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sp>
          <p:nvSpPr>
            <p:cNvPr id="222" name="AutoShape 156">
              <a:extLst>
                <a:ext uri="{FF2B5EF4-FFF2-40B4-BE49-F238E27FC236}">
                  <a16:creationId xmlns:a16="http://schemas.microsoft.com/office/drawing/2014/main" id="{EDFAF286-AFCE-0ECC-B052-A79CC71D4CFD}"/>
                </a:ext>
              </a:extLst>
            </p:cNvPr>
            <p:cNvSpPr>
              <a:spLocks/>
            </p:cNvSpPr>
            <p:nvPr/>
          </p:nvSpPr>
          <p:spPr bwMode="auto">
            <a:xfrm rot="-5400000">
              <a:off x="922" y="2607"/>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sp>
          <p:nvSpPr>
            <p:cNvPr id="223" name="AutoShape 157">
              <a:extLst>
                <a:ext uri="{FF2B5EF4-FFF2-40B4-BE49-F238E27FC236}">
                  <a16:creationId xmlns:a16="http://schemas.microsoft.com/office/drawing/2014/main" id="{FB597010-8B6D-44FC-C414-616B639F8BB2}"/>
                </a:ext>
              </a:extLst>
            </p:cNvPr>
            <p:cNvSpPr>
              <a:spLocks/>
            </p:cNvSpPr>
            <p:nvPr/>
          </p:nvSpPr>
          <p:spPr bwMode="auto">
            <a:xfrm rot="-5400000">
              <a:off x="922" y="2616"/>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grpSp>
          <p:nvGrpSpPr>
            <p:cNvPr id="224" name="Group 158">
              <a:extLst>
                <a:ext uri="{FF2B5EF4-FFF2-40B4-BE49-F238E27FC236}">
                  <a16:creationId xmlns:a16="http://schemas.microsoft.com/office/drawing/2014/main" id="{5F27B8F2-E90E-74C0-B2A1-34F0F39DA12B}"/>
                </a:ext>
              </a:extLst>
            </p:cNvPr>
            <p:cNvGrpSpPr>
              <a:grpSpLocks/>
            </p:cNvGrpSpPr>
            <p:nvPr/>
          </p:nvGrpSpPr>
          <p:grpSpPr bwMode="auto">
            <a:xfrm>
              <a:off x="849" y="2898"/>
              <a:ext cx="151" cy="336"/>
              <a:chOff x="576" y="1200"/>
              <a:chExt cx="240" cy="336"/>
            </a:xfrm>
          </p:grpSpPr>
          <p:sp>
            <p:nvSpPr>
              <p:cNvPr id="227" name="Rectangle 159">
                <a:extLst>
                  <a:ext uri="{FF2B5EF4-FFF2-40B4-BE49-F238E27FC236}">
                    <a16:creationId xmlns:a16="http://schemas.microsoft.com/office/drawing/2014/main" id="{C3FFC53D-1F2E-4488-0C3A-D33C0CE017A8}"/>
                  </a:ext>
                </a:extLst>
              </p:cNvPr>
              <p:cNvSpPr>
                <a:spLocks noChangeArrowheads="1"/>
              </p:cNvSpPr>
              <p:nvPr/>
            </p:nvSpPr>
            <p:spPr bwMode="auto">
              <a:xfrm>
                <a:off x="576" y="1200"/>
                <a:ext cx="240"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sp>
            <p:nvSpPr>
              <p:cNvPr id="228" name="Line 160">
                <a:extLst>
                  <a:ext uri="{FF2B5EF4-FFF2-40B4-BE49-F238E27FC236}">
                    <a16:creationId xmlns:a16="http://schemas.microsoft.com/office/drawing/2014/main" id="{63F2E93D-43DB-2E60-6C2E-8480C7B1C44C}"/>
                  </a:ext>
                </a:extLst>
              </p:cNvPr>
              <p:cNvSpPr>
                <a:spLocks noChangeShapeType="1"/>
              </p:cNvSpPr>
              <p:nvPr/>
            </p:nvSpPr>
            <p:spPr bwMode="auto">
              <a:xfrm>
                <a:off x="576" y="139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800"/>
              </a:p>
            </p:txBody>
          </p:sp>
          <p:sp>
            <p:nvSpPr>
              <p:cNvPr id="229" name="Line 161">
                <a:extLst>
                  <a:ext uri="{FF2B5EF4-FFF2-40B4-BE49-F238E27FC236}">
                    <a16:creationId xmlns:a16="http://schemas.microsoft.com/office/drawing/2014/main" id="{48C03F3A-EA65-CEC2-1916-2B53A644D986}"/>
                  </a:ext>
                </a:extLst>
              </p:cNvPr>
              <p:cNvSpPr>
                <a:spLocks noChangeShapeType="1"/>
              </p:cNvSpPr>
              <p:nvPr/>
            </p:nvSpPr>
            <p:spPr bwMode="auto">
              <a:xfrm>
                <a:off x="576" y="129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800"/>
              </a:p>
            </p:txBody>
          </p:sp>
        </p:grpSp>
        <p:sp>
          <p:nvSpPr>
            <p:cNvPr id="225" name="Text Box 162">
              <a:extLst>
                <a:ext uri="{FF2B5EF4-FFF2-40B4-BE49-F238E27FC236}">
                  <a16:creationId xmlns:a16="http://schemas.microsoft.com/office/drawing/2014/main" id="{01A757A4-6F90-C3AB-9571-87B787A25B4A}"/>
                </a:ext>
              </a:extLst>
            </p:cNvPr>
            <p:cNvSpPr txBox="1">
              <a:spLocks noChangeArrowheads="1"/>
            </p:cNvSpPr>
            <p:nvPr/>
          </p:nvSpPr>
          <p:spPr bwMode="auto">
            <a:xfrm>
              <a:off x="834" y="2736"/>
              <a:ext cx="192" cy="13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eaLnBrk="1" hangingPunct="1">
                <a:lnSpc>
                  <a:spcPct val="100000"/>
                </a:lnSpc>
                <a:spcBef>
                  <a:spcPct val="0"/>
                </a:spcBef>
                <a:spcAft>
                  <a:spcPct val="0"/>
                </a:spcAft>
                <a:buClrTx/>
                <a:buSzTx/>
                <a:buFontTx/>
                <a:buNone/>
              </a:pPr>
              <a:r>
                <a:rPr lang="en-US" altLang="en-US" sz="800" b="0" dirty="0"/>
                <a:t>IN</a:t>
              </a:r>
            </a:p>
          </p:txBody>
        </p:sp>
        <p:sp>
          <p:nvSpPr>
            <p:cNvPr id="226" name="Text Box 163">
              <a:extLst>
                <a:ext uri="{FF2B5EF4-FFF2-40B4-BE49-F238E27FC236}">
                  <a16:creationId xmlns:a16="http://schemas.microsoft.com/office/drawing/2014/main" id="{DA02F218-57FF-6D31-F33B-B4B6BACB75B9}"/>
                </a:ext>
              </a:extLst>
            </p:cNvPr>
            <p:cNvSpPr txBox="1">
              <a:spLocks noChangeArrowheads="1"/>
            </p:cNvSpPr>
            <p:nvPr/>
          </p:nvSpPr>
          <p:spPr bwMode="auto">
            <a:xfrm>
              <a:off x="748" y="2918"/>
              <a:ext cx="354"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Aft>
                  <a:spcPct val="0"/>
                </a:spcAft>
                <a:buClrTx/>
                <a:buSzTx/>
                <a:buFontTx/>
                <a:buNone/>
              </a:pPr>
              <a:endParaRPr lang="en-US" altLang="en-US" sz="800" b="0">
                <a:solidFill>
                  <a:srgbClr val="FF0000"/>
                </a:solidFill>
              </a:endParaRPr>
            </a:p>
          </p:txBody>
        </p:sp>
      </p:grpSp>
      <p:sp>
        <p:nvSpPr>
          <p:cNvPr id="230" name="Line 164">
            <a:extLst>
              <a:ext uri="{FF2B5EF4-FFF2-40B4-BE49-F238E27FC236}">
                <a16:creationId xmlns:a16="http://schemas.microsoft.com/office/drawing/2014/main" id="{4409415B-5C88-6B55-3A30-34DD9DBFAB66}"/>
              </a:ext>
            </a:extLst>
          </p:cNvPr>
          <p:cNvSpPr>
            <a:spLocks noChangeShapeType="1"/>
          </p:cNvSpPr>
          <p:nvPr/>
        </p:nvSpPr>
        <p:spPr bwMode="auto">
          <a:xfrm flipV="1">
            <a:off x="2400875" y="3900632"/>
            <a:ext cx="217487"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800"/>
          </a:p>
        </p:txBody>
      </p:sp>
      <p:grpSp>
        <p:nvGrpSpPr>
          <p:cNvPr id="231" name="Group 165">
            <a:extLst>
              <a:ext uri="{FF2B5EF4-FFF2-40B4-BE49-F238E27FC236}">
                <a16:creationId xmlns:a16="http://schemas.microsoft.com/office/drawing/2014/main" id="{C882ED0D-E768-7C67-AC1A-12152B233C49}"/>
              </a:ext>
            </a:extLst>
          </p:cNvPr>
          <p:cNvGrpSpPr>
            <a:grpSpLocks/>
          </p:cNvGrpSpPr>
          <p:nvPr/>
        </p:nvGrpSpPr>
        <p:grpSpPr bwMode="auto">
          <a:xfrm>
            <a:off x="1097872" y="4244106"/>
            <a:ext cx="454025" cy="903287"/>
            <a:chOff x="140" y="2665"/>
            <a:chExt cx="286" cy="569"/>
          </a:xfrm>
        </p:grpSpPr>
        <p:sp>
          <p:nvSpPr>
            <p:cNvPr id="232" name="Text Box 166">
              <a:extLst>
                <a:ext uri="{FF2B5EF4-FFF2-40B4-BE49-F238E27FC236}">
                  <a16:creationId xmlns:a16="http://schemas.microsoft.com/office/drawing/2014/main" id="{D83782D5-E0A4-94AF-D3DF-8C117C2A78B1}"/>
                </a:ext>
              </a:extLst>
            </p:cNvPr>
            <p:cNvSpPr txBox="1">
              <a:spLocks noChangeArrowheads="1"/>
            </p:cNvSpPr>
            <p:nvPr/>
          </p:nvSpPr>
          <p:spPr bwMode="auto">
            <a:xfrm>
              <a:off x="140" y="2918"/>
              <a:ext cx="28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Aft>
                  <a:spcPct val="0"/>
                </a:spcAft>
                <a:buClrTx/>
                <a:buSzTx/>
                <a:buFontTx/>
                <a:buNone/>
              </a:pPr>
              <a:endParaRPr lang="en-US" altLang="en-US" sz="800" b="0">
                <a:solidFill>
                  <a:srgbClr val="FF0000"/>
                </a:solidFill>
              </a:endParaRPr>
            </a:p>
          </p:txBody>
        </p:sp>
        <p:sp>
          <p:nvSpPr>
            <p:cNvPr id="233" name="Rectangle 167">
              <a:extLst>
                <a:ext uri="{FF2B5EF4-FFF2-40B4-BE49-F238E27FC236}">
                  <a16:creationId xmlns:a16="http://schemas.microsoft.com/office/drawing/2014/main" id="{DE8ECEF5-CBCF-2ACC-45DF-1B2A5C6C1343}"/>
                </a:ext>
              </a:extLst>
            </p:cNvPr>
            <p:cNvSpPr>
              <a:spLocks noChangeArrowheads="1"/>
            </p:cNvSpPr>
            <p:nvPr/>
          </p:nvSpPr>
          <p:spPr bwMode="auto">
            <a:xfrm>
              <a:off x="215" y="2709"/>
              <a:ext cx="151" cy="16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sp>
          <p:nvSpPr>
            <p:cNvPr id="234" name="AutoShape 168">
              <a:extLst>
                <a:ext uri="{FF2B5EF4-FFF2-40B4-BE49-F238E27FC236}">
                  <a16:creationId xmlns:a16="http://schemas.microsoft.com/office/drawing/2014/main" id="{041EF6FD-3CD1-8244-4DC3-99409C569170}"/>
                </a:ext>
              </a:extLst>
            </p:cNvPr>
            <p:cNvSpPr>
              <a:spLocks/>
            </p:cNvSpPr>
            <p:nvPr/>
          </p:nvSpPr>
          <p:spPr bwMode="auto">
            <a:xfrm rot="16200000">
              <a:off x="282" y="2598"/>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sp>
          <p:nvSpPr>
            <p:cNvPr id="235" name="AutoShape 169">
              <a:extLst>
                <a:ext uri="{FF2B5EF4-FFF2-40B4-BE49-F238E27FC236}">
                  <a16:creationId xmlns:a16="http://schemas.microsoft.com/office/drawing/2014/main" id="{27B918E0-EAC7-0504-57F7-107AEE92E740}"/>
                </a:ext>
              </a:extLst>
            </p:cNvPr>
            <p:cNvSpPr>
              <a:spLocks/>
            </p:cNvSpPr>
            <p:nvPr/>
          </p:nvSpPr>
          <p:spPr bwMode="auto">
            <a:xfrm rot="16200000">
              <a:off x="282" y="2607"/>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sp>
          <p:nvSpPr>
            <p:cNvPr id="236" name="AutoShape 170">
              <a:extLst>
                <a:ext uri="{FF2B5EF4-FFF2-40B4-BE49-F238E27FC236}">
                  <a16:creationId xmlns:a16="http://schemas.microsoft.com/office/drawing/2014/main" id="{88FAAA4F-FB4C-1332-0D67-D255C55D1B66}"/>
                </a:ext>
              </a:extLst>
            </p:cNvPr>
            <p:cNvSpPr>
              <a:spLocks/>
            </p:cNvSpPr>
            <p:nvPr/>
          </p:nvSpPr>
          <p:spPr bwMode="auto">
            <a:xfrm rot="16200000">
              <a:off x="282" y="2616"/>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grpSp>
          <p:nvGrpSpPr>
            <p:cNvPr id="237" name="Group 171">
              <a:extLst>
                <a:ext uri="{FF2B5EF4-FFF2-40B4-BE49-F238E27FC236}">
                  <a16:creationId xmlns:a16="http://schemas.microsoft.com/office/drawing/2014/main" id="{B0BAD783-2163-A139-19B7-D74C1480630F}"/>
                </a:ext>
              </a:extLst>
            </p:cNvPr>
            <p:cNvGrpSpPr>
              <a:grpSpLocks/>
            </p:cNvGrpSpPr>
            <p:nvPr/>
          </p:nvGrpSpPr>
          <p:grpSpPr bwMode="auto">
            <a:xfrm>
              <a:off x="209" y="2898"/>
              <a:ext cx="151" cy="336"/>
              <a:chOff x="576" y="1200"/>
              <a:chExt cx="240" cy="336"/>
            </a:xfrm>
          </p:grpSpPr>
          <p:sp>
            <p:nvSpPr>
              <p:cNvPr id="239" name="Rectangle 172">
                <a:extLst>
                  <a:ext uri="{FF2B5EF4-FFF2-40B4-BE49-F238E27FC236}">
                    <a16:creationId xmlns:a16="http://schemas.microsoft.com/office/drawing/2014/main" id="{9D17B568-F8FE-F269-8AE6-F1C8EC813552}"/>
                  </a:ext>
                </a:extLst>
              </p:cNvPr>
              <p:cNvSpPr>
                <a:spLocks noChangeArrowheads="1"/>
              </p:cNvSpPr>
              <p:nvPr/>
            </p:nvSpPr>
            <p:spPr bwMode="auto">
              <a:xfrm>
                <a:off x="576" y="1200"/>
                <a:ext cx="240"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sp>
            <p:nvSpPr>
              <p:cNvPr id="240" name="Line 173">
                <a:extLst>
                  <a:ext uri="{FF2B5EF4-FFF2-40B4-BE49-F238E27FC236}">
                    <a16:creationId xmlns:a16="http://schemas.microsoft.com/office/drawing/2014/main" id="{0D12CE93-856F-E33E-E3A3-F595E0F3F188}"/>
                  </a:ext>
                </a:extLst>
              </p:cNvPr>
              <p:cNvSpPr>
                <a:spLocks noChangeShapeType="1"/>
              </p:cNvSpPr>
              <p:nvPr/>
            </p:nvSpPr>
            <p:spPr bwMode="auto">
              <a:xfrm>
                <a:off x="576" y="139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800"/>
              </a:p>
            </p:txBody>
          </p:sp>
          <p:sp>
            <p:nvSpPr>
              <p:cNvPr id="241" name="Line 174">
                <a:extLst>
                  <a:ext uri="{FF2B5EF4-FFF2-40B4-BE49-F238E27FC236}">
                    <a16:creationId xmlns:a16="http://schemas.microsoft.com/office/drawing/2014/main" id="{FF0FDB10-1CE0-217A-94EE-0746BF2D2EBB}"/>
                  </a:ext>
                </a:extLst>
              </p:cNvPr>
              <p:cNvSpPr>
                <a:spLocks noChangeShapeType="1"/>
              </p:cNvSpPr>
              <p:nvPr/>
            </p:nvSpPr>
            <p:spPr bwMode="auto">
              <a:xfrm>
                <a:off x="576" y="129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800"/>
              </a:p>
            </p:txBody>
          </p:sp>
        </p:grpSp>
        <p:sp>
          <p:nvSpPr>
            <p:cNvPr id="238" name="Text Box 175">
              <a:extLst>
                <a:ext uri="{FF2B5EF4-FFF2-40B4-BE49-F238E27FC236}">
                  <a16:creationId xmlns:a16="http://schemas.microsoft.com/office/drawing/2014/main" id="{38FC11FE-05A1-2084-8220-6F3D312B1C39}"/>
                </a:ext>
              </a:extLst>
            </p:cNvPr>
            <p:cNvSpPr txBox="1">
              <a:spLocks noChangeArrowheads="1"/>
            </p:cNvSpPr>
            <p:nvPr/>
          </p:nvSpPr>
          <p:spPr bwMode="auto">
            <a:xfrm>
              <a:off x="194" y="2736"/>
              <a:ext cx="197" cy="13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eaLnBrk="1" hangingPunct="1">
                <a:lnSpc>
                  <a:spcPct val="100000"/>
                </a:lnSpc>
                <a:spcBef>
                  <a:spcPct val="0"/>
                </a:spcBef>
                <a:spcAft>
                  <a:spcPct val="0"/>
                </a:spcAft>
                <a:buClrTx/>
                <a:buSzTx/>
                <a:buFontTx/>
                <a:buNone/>
              </a:pPr>
              <a:r>
                <a:rPr lang="en-US" altLang="en-US" sz="800" b="0" dirty="0"/>
                <a:t>IN</a:t>
              </a:r>
            </a:p>
          </p:txBody>
        </p:sp>
      </p:grpSp>
      <p:sp>
        <p:nvSpPr>
          <p:cNvPr id="242" name="Line 188">
            <a:extLst>
              <a:ext uri="{FF2B5EF4-FFF2-40B4-BE49-F238E27FC236}">
                <a16:creationId xmlns:a16="http://schemas.microsoft.com/office/drawing/2014/main" id="{D089283C-DCC9-6736-9C8E-39F98ADA9DA9}"/>
              </a:ext>
            </a:extLst>
          </p:cNvPr>
          <p:cNvSpPr>
            <a:spLocks noChangeShapeType="1"/>
          </p:cNvSpPr>
          <p:nvPr/>
        </p:nvSpPr>
        <p:spPr bwMode="auto">
          <a:xfrm flipV="1">
            <a:off x="5589546" y="4390156"/>
            <a:ext cx="346075"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800"/>
          </a:p>
        </p:txBody>
      </p:sp>
      <p:sp>
        <p:nvSpPr>
          <p:cNvPr id="243" name="Line 189">
            <a:extLst>
              <a:ext uri="{FF2B5EF4-FFF2-40B4-BE49-F238E27FC236}">
                <a16:creationId xmlns:a16="http://schemas.microsoft.com/office/drawing/2014/main" id="{32074418-4876-961F-B935-F63024290230}"/>
              </a:ext>
            </a:extLst>
          </p:cNvPr>
          <p:cNvSpPr>
            <a:spLocks noChangeShapeType="1"/>
          </p:cNvSpPr>
          <p:nvPr/>
        </p:nvSpPr>
        <p:spPr bwMode="auto">
          <a:xfrm flipV="1">
            <a:off x="5649871" y="4390156"/>
            <a:ext cx="217487"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800"/>
          </a:p>
        </p:txBody>
      </p:sp>
      <p:sp>
        <p:nvSpPr>
          <p:cNvPr id="244" name="Line 190">
            <a:extLst>
              <a:ext uri="{FF2B5EF4-FFF2-40B4-BE49-F238E27FC236}">
                <a16:creationId xmlns:a16="http://schemas.microsoft.com/office/drawing/2014/main" id="{57879410-AF52-76BA-BE77-BEB5C2720563}"/>
              </a:ext>
            </a:extLst>
          </p:cNvPr>
          <p:cNvSpPr>
            <a:spLocks noChangeShapeType="1"/>
          </p:cNvSpPr>
          <p:nvPr/>
        </p:nvSpPr>
        <p:spPr bwMode="auto">
          <a:xfrm flipV="1">
            <a:off x="5591133" y="4390156"/>
            <a:ext cx="344488"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800"/>
          </a:p>
        </p:txBody>
      </p:sp>
      <p:grpSp>
        <p:nvGrpSpPr>
          <p:cNvPr id="245" name="Group 191">
            <a:extLst>
              <a:ext uri="{FF2B5EF4-FFF2-40B4-BE49-F238E27FC236}">
                <a16:creationId xmlns:a16="http://schemas.microsoft.com/office/drawing/2014/main" id="{2FB1965A-B11D-9D71-49A6-535E11AB9CAD}"/>
              </a:ext>
            </a:extLst>
          </p:cNvPr>
          <p:cNvGrpSpPr>
            <a:grpSpLocks/>
          </p:cNvGrpSpPr>
          <p:nvPr/>
        </p:nvGrpSpPr>
        <p:grpSpPr bwMode="auto">
          <a:xfrm>
            <a:off x="5518108" y="4244106"/>
            <a:ext cx="454025" cy="903287"/>
            <a:chOff x="2656" y="2665"/>
            <a:chExt cx="286" cy="569"/>
          </a:xfrm>
        </p:grpSpPr>
        <p:sp>
          <p:nvSpPr>
            <p:cNvPr id="246" name="Text Box 192">
              <a:extLst>
                <a:ext uri="{FF2B5EF4-FFF2-40B4-BE49-F238E27FC236}">
                  <a16:creationId xmlns:a16="http://schemas.microsoft.com/office/drawing/2014/main" id="{B41FE68C-B5D5-35D6-A936-C22F761E0210}"/>
                </a:ext>
              </a:extLst>
            </p:cNvPr>
            <p:cNvSpPr txBox="1">
              <a:spLocks noChangeArrowheads="1"/>
            </p:cNvSpPr>
            <p:nvPr/>
          </p:nvSpPr>
          <p:spPr bwMode="auto">
            <a:xfrm>
              <a:off x="2656" y="2918"/>
              <a:ext cx="28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Aft>
                  <a:spcPct val="0"/>
                </a:spcAft>
                <a:buClrTx/>
                <a:buSzTx/>
                <a:buFontTx/>
                <a:buNone/>
              </a:pPr>
              <a:endParaRPr lang="en-US" altLang="en-US" sz="800" b="0">
                <a:solidFill>
                  <a:srgbClr val="FF0000"/>
                </a:solidFill>
              </a:endParaRPr>
            </a:p>
          </p:txBody>
        </p:sp>
        <p:sp>
          <p:nvSpPr>
            <p:cNvPr id="247" name="Rectangle 193">
              <a:extLst>
                <a:ext uri="{FF2B5EF4-FFF2-40B4-BE49-F238E27FC236}">
                  <a16:creationId xmlns:a16="http://schemas.microsoft.com/office/drawing/2014/main" id="{775F205C-331C-4886-911C-31B6A81B39D2}"/>
                </a:ext>
              </a:extLst>
            </p:cNvPr>
            <p:cNvSpPr>
              <a:spLocks noChangeArrowheads="1"/>
            </p:cNvSpPr>
            <p:nvPr/>
          </p:nvSpPr>
          <p:spPr bwMode="auto">
            <a:xfrm>
              <a:off x="2731" y="2709"/>
              <a:ext cx="151" cy="16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sp>
          <p:nvSpPr>
            <p:cNvPr id="248" name="AutoShape 194">
              <a:extLst>
                <a:ext uri="{FF2B5EF4-FFF2-40B4-BE49-F238E27FC236}">
                  <a16:creationId xmlns:a16="http://schemas.microsoft.com/office/drawing/2014/main" id="{772A72BD-B25C-E3D8-A8D6-171789178C3F}"/>
                </a:ext>
              </a:extLst>
            </p:cNvPr>
            <p:cNvSpPr>
              <a:spLocks/>
            </p:cNvSpPr>
            <p:nvPr/>
          </p:nvSpPr>
          <p:spPr bwMode="auto">
            <a:xfrm rot="-5400000">
              <a:off x="2798" y="2598"/>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sp>
          <p:nvSpPr>
            <p:cNvPr id="249" name="AutoShape 195">
              <a:extLst>
                <a:ext uri="{FF2B5EF4-FFF2-40B4-BE49-F238E27FC236}">
                  <a16:creationId xmlns:a16="http://schemas.microsoft.com/office/drawing/2014/main" id="{A37B2279-F8DB-D3F8-0283-ECC32158C7A4}"/>
                </a:ext>
              </a:extLst>
            </p:cNvPr>
            <p:cNvSpPr>
              <a:spLocks/>
            </p:cNvSpPr>
            <p:nvPr/>
          </p:nvSpPr>
          <p:spPr bwMode="auto">
            <a:xfrm rot="-5400000">
              <a:off x="2798" y="2607"/>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sp>
          <p:nvSpPr>
            <p:cNvPr id="250" name="AutoShape 196">
              <a:extLst>
                <a:ext uri="{FF2B5EF4-FFF2-40B4-BE49-F238E27FC236}">
                  <a16:creationId xmlns:a16="http://schemas.microsoft.com/office/drawing/2014/main" id="{D1B6DC29-1144-A0DE-179B-AA350D0B8460}"/>
                </a:ext>
              </a:extLst>
            </p:cNvPr>
            <p:cNvSpPr>
              <a:spLocks/>
            </p:cNvSpPr>
            <p:nvPr/>
          </p:nvSpPr>
          <p:spPr bwMode="auto">
            <a:xfrm rot="-5400000">
              <a:off x="2798" y="2616"/>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grpSp>
          <p:nvGrpSpPr>
            <p:cNvPr id="251" name="Group 197">
              <a:extLst>
                <a:ext uri="{FF2B5EF4-FFF2-40B4-BE49-F238E27FC236}">
                  <a16:creationId xmlns:a16="http://schemas.microsoft.com/office/drawing/2014/main" id="{5675C661-AF6F-CA9C-5D23-4BF7FAE8D0FB}"/>
                </a:ext>
              </a:extLst>
            </p:cNvPr>
            <p:cNvGrpSpPr>
              <a:grpSpLocks/>
            </p:cNvGrpSpPr>
            <p:nvPr/>
          </p:nvGrpSpPr>
          <p:grpSpPr bwMode="auto">
            <a:xfrm>
              <a:off x="2725" y="2898"/>
              <a:ext cx="151" cy="336"/>
              <a:chOff x="576" y="1200"/>
              <a:chExt cx="240" cy="336"/>
            </a:xfrm>
          </p:grpSpPr>
          <p:sp>
            <p:nvSpPr>
              <p:cNvPr id="253" name="Rectangle 198">
                <a:extLst>
                  <a:ext uri="{FF2B5EF4-FFF2-40B4-BE49-F238E27FC236}">
                    <a16:creationId xmlns:a16="http://schemas.microsoft.com/office/drawing/2014/main" id="{CA1D2743-ECF2-7FEE-E9AC-E2B2CC58F622}"/>
                  </a:ext>
                </a:extLst>
              </p:cNvPr>
              <p:cNvSpPr>
                <a:spLocks noChangeArrowheads="1"/>
              </p:cNvSpPr>
              <p:nvPr/>
            </p:nvSpPr>
            <p:spPr bwMode="auto">
              <a:xfrm>
                <a:off x="576" y="1200"/>
                <a:ext cx="240"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sp>
            <p:nvSpPr>
              <p:cNvPr id="254" name="Line 199">
                <a:extLst>
                  <a:ext uri="{FF2B5EF4-FFF2-40B4-BE49-F238E27FC236}">
                    <a16:creationId xmlns:a16="http://schemas.microsoft.com/office/drawing/2014/main" id="{5FA69A64-C7DD-8A89-A6D5-FC646107B166}"/>
                  </a:ext>
                </a:extLst>
              </p:cNvPr>
              <p:cNvSpPr>
                <a:spLocks noChangeShapeType="1"/>
              </p:cNvSpPr>
              <p:nvPr/>
            </p:nvSpPr>
            <p:spPr bwMode="auto">
              <a:xfrm>
                <a:off x="576" y="139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800"/>
              </a:p>
            </p:txBody>
          </p:sp>
          <p:sp>
            <p:nvSpPr>
              <p:cNvPr id="255" name="Line 200">
                <a:extLst>
                  <a:ext uri="{FF2B5EF4-FFF2-40B4-BE49-F238E27FC236}">
                    <a16:creationId xmlns:a16="http://schemas.microsoft.com/office/drawing/2014/main" id="{AAD2108F-9531-0A11-B331-1E2DC948F93B}"/>
                  </a:ext>
                </a:extLst>
              </p:cNvPr>
              <p:cNvSpPr>
                <a:spLocks noChangeShapeType="1"/>
              </p:cNvSpPr>
              <p:nvPr/>
            </p:nvSpPr>
            <p:spPr bwMode="auto">
              <a:xfrm>
                <a:off x="576" y="129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800"/>
              </a:p>
            </p:txBody>
          </p:sp>
        </p:grpSp>
        <p:sp>
          <p:nvSpPr>
            <p:cNvPr id="252" name="Text Box 201">
              <a:extLst>
                <a:ext uri="{FF2B5EF4-FFF2-40B4-BE49-F238E27FC236}">
                  <a16:creationId xmlns:a16="http://schemas.microsoft.com/office/drawing/2014/main" id="{B694AC81-6DC7-0F13-0B0D-BC5D4158842A}"/>
                </a:ext>
              </a:extLst>
            </p:cNvPr>
            <p:cNvSpPr txBox="1">
              <a:spLocks noChangeArrowheads="1"/>
            </p:cNvSpPr>
            <p:nvPr/>
          </p:nvSpPr>
          <p:spPr bwMode="auto">
            <a:xfrm>
              <a:off x="2710" y="2736"/>
              <a:ext cx="186" cy="13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eaLnBrk="1" hangingPunct="1">
                <a:lnSpc>
                  <a:spcPct val="100000"/>
                </a:lnSpc>
                <a:spcBef>
                  <a:spcPct val="0"/>
                </a:spcBef>
                <a:spcAft>
                  <a:spcPct val="0"/>
                </a:spcAft>
                <a:buClrTx/>
                <a:buSzTx/>
                <a:buFontTx/>
                <a:buNone/>
              </a:pPr>
              <a:r>
                <a:rPr lang="en-US" altLang="en-US" sz="800" b="0" dirty="0"/>
                <a:t>IN</a:t>
              </a:r>
            </a:p>
          </p:txBody>
        </p:sp>
      </p:grpSp>
      <p:sp>
        <p:nvSpPr>
          <p:cNvPr id="256" name="Line 214">
            <a:extLst>
              <a:ext uri="{FF2B5EF4-FFF2-40B4-BE49-F238E27FC236}">
                <a16:creationId xmlns:a16="http://schemas.microsoft.com/office/drawing/2014/main" id="{CC175F26-4A78-55DA-99E6-54C779B8BD7C}"/>
              </a:ext>
            </a:extLst>
          </p:cNvPr>
          <p:cNvSpPr>
            <a:spLocks noChangeShapeType="1"/>
          </p:cNvSpPr>
          <p:nvPr/>
        </p:nvSpPr>
        <p:spPr bwMode="auto">
          <a:xfrm flipV="1">
            <a:off x="4581483" y="4390156"/>
            <a:ext cx="344488"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800"/>
          </a:p>
        </p:txBody>
      </p:sp>
      <p:sp>
        <p:nvSpPr>
          <p:cNvPr id="257" name="Line 215">
            <a:extLst>
              <a:ext uri="{FF2B5EF4-FFF2-40B4-BE49-F238E27FC236}">
                <a16:creationId xmlns:a16="http://schemas.microsoft.com/office/drawing/2014/main" id="{25C7A8A0-2F01-FF6D-29F8-FB8232D0F8A3}"/>
              </a:ext>
            </a:extLst>
          </p:cNvPr>
          <p:cNvSpPr>
            <a:spLocks noChangeShapeType="1"/>
          </p:cNvSpPr>
          <p:nvPr/>
        </p:nvSpPr>
        <p:spPr bwMode="auto">
          <a:xfrm flipV="1">
            <a:off x="4640221" y="4390156"/>
            <a:ext cx="217487"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800"/>
          </a:p>
        </p:txBody>
      </p:sp>
      <p:sp>
        <p:nvSpPr>
          <p:cNvPr id="258" name="Line 216">
            <a:extLst>
              <a:ext uri="{FF2B5EF4-FFF2-40B4-BE49-F238E27FC236}">
                <a16:creationId xmlns:a16="http://schemas.microsoft.com/office/drawing/2014/main" id="{CB0DE12F-8CDC-8172-FE1D-26ED9BA2334B}"/>
              </a:ext>
            </a:extLst>
          </p:cNvPr>
          <p:cNvSpPr>
            <a:spLocks noChangeShapeType="1"/>
          </p:cNvSpPr>
          <p:nvPr/>
        </p:nvSpPr>
        <p:spPr bwMode="auto">
          <a:xfrm flipV="1">
            <a:off x="4581483" y="4390156"/>
            <a:ext cx="344488"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800"/>
          </a:p>
        </p:txBody>
      </p:sp>
      <p:grpSp>
        <p:nvGrpSpPr>
          <p:cNvPr id="259" name="Group 217">
            <a:extLst>
              <a:ext uri="{FF2B5EF4-FFF2-40B4-BE49-F238E27FC236}">
                <a16:creationId xmlns:a16="http://schemas.microsoft.com/office/drawing/2014/main" id="{EFF612F9-466F-3EB5-04B4-6422D1D51955}"/>
              </a:ext>
            </a:extLst>
          </p:cNvPr>
          <p:cNvGrpSpPr>
            <a:grpSpLocks/>
          </p:cNvGrpSpPr>
          <p:nvPr/>
        </p:nvGrpSpPr>
        <p:grpSpPr bwMode="auto">
          <a:xfrm>
            <a:off x="4508458" y="4244106"/>
            <a:ext cx="454025" cy="903287"/>
            <a:chOff x="2020" y="2665"/>
            <a:chExt cx="286" cy="569"/>
          </a:xfrm>
        </p:grpSpPr>
        <p:sp>
          <p:nvSpPr>
            <p:cNvPr id="260" name="Text Box 218">
              <a:extLst>
                <a:ext uri="{FF2B5EF4-FFF2-40B4-BE49-F238E27FC236}">
                  <a16:creationId xmlns:a16="http://schemas.microsoft.com/office/drawing/2014/main" id="{2E7590C9-0D57-8382-1CDD-CAACB2CFAB39}"/>
                </a:ext>
              </a:extLst>
            </p:cNvPr>
            <p:cNvSpPr txBox="1">
              <a:spLocks noChangeArrowheads="1"/>
            </p:cNvSpPr>
            <p:nvPr/>
          </p:nvSpPr>
          <p:spPr bwMode="auto">
            <a:xfrm>
              <a:off x="2020" y="2918"/>
              <a:ext cx="28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Aft>
                  <a:spcPct val="0"/>
                </a:spcAft>
                <a:buClrTx/>
                <a:buSzTx/>
                <a:buFontTx/>
                <a:buNone/>
              </a:pPr>
              <a:endParaRPr lang="en-US" altLang="en-US" sz="800" b="0">
                <a:solidFill>
                  <a:srgbClr val="FF0000"/>
                </a:solidFill>
              </a:endParaRPr>
            </a:p>
          </p:txBody>
        </p:sp>
        <p:sp>
          <p:nvSpPr>
            <p:cNvPr id="261" name="Rectangle 219">
              <a:extLst>
                <a:ext uri="{FF2B5EF4-FFF2-40B4-BE49-F238E27FC236}">
                  <a16:creationId xmlns:a16="http://schemas.microsoft.com/office/drawing/2014/main" id="{53ACE2E1-5420-1237-BAAB-812D8D99CFF1}"/>
                </a:ext>
              </a:extLst>
            </p:cNvPr>
            <p:cNvSpPr>
              <a:spLocks noChangeArrowheads="1"/>
            </p:cNvSpPr>
            <p:nvPr/>
          </p:nvSpPr>
          <p:spPr bwMode="auto">
            <a:xfrm>
              <a:off x="2095" y="2709"/>
              <a:ext cx="151" cy="16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sp>
          <p:nvSpPr>
            <p:cNvPr id="262" name="AutoShape 220">
              <a:extLst>
                <a:ext uri="{FF2B5EF4-FFF2-40B4-BE49-F238E27FC236}">
                  <a16:creationId xmlns:a16="http://schemas.microsoft.com/office/drawing/2014/main" id="{ABE159D1-3B65-5CB7-F44A-E28E1C03F9FA}"/>
                </a:ext>
              </a:extLst>
            </p:cNvPr>
            <p:cNvSpPr>
              <a:spLocks/>
            </p:cNvSpPr>
            <p:nvPr/>
          </p:nvSpPr>
          <p:spPr bwMode="auto">
            <a:xfrm rot="-5400000">
              <a:off x="2162" y="2598"/>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sp>
          <p:nvSpPr>
            <p:cNvPr id="263" name="AutoShape 221">
              <a:extLst>
                <a:ext uri="{FF2B5EF4-FFF2-40B4-BE49-F238E27FC236}">
                  <a16:creationId xmlns:a16="http://schemas.microsoft.com/office/drawing/2014/main" id="{8C0E49E0-E4BE-86F2-4656-4F2A768AABBF}"/>
                </a:ext>
              </a:extLst>
            </p:cNvPr>
            <p:cNvSpPr>
              <a:spLocks/>
            </p:cNvSpPr>
            <p:nvPr/>
          </p:nvSpPr>
          <p:spPr bwMode="auto">
            <a:xfrm rot="-5400000">
              <a:off x="2162" y="2607"/>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sp>
          <p:nvSpPr>
            <p:cNvPr id="264" name="AutoShape 222">
              <a:extLst>
                <a:ext uri="{FF2B5EF4-FFF2-40B4-BE49-F238E27FC236}">
                  <a16:creationId xmlns:a16="http://schemas.microsoft.com/office/drawing/2014/main" id="{58F00247-934B-3DBD-FE5D-1FE25BDAE1B4}"/>
                </a:ext>
              </a:extLst>
            </p:cNvPr>
            <p:cNvSpPr>
              <a:spLocks/>
            </p:cNvSpPr>
            <p:nvPr/>
          </p:nvSpPr>
          <p:spPr bwMode="auto">
            <a:xfrm rot="-5400000">
              <a:off x="2162" y="2616"/>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grpSp>
          <p:nvGrpSpPr>
            <p:cNvPr id="265" name="Group 223">
              <a:extLst>
                <a:ext uri="{FF2B5EF4-FFF2-40B4-BE49-F238E27FC236}">
                  <a16:creationId xmlns:a16="http://schemas.microsoft.com/office/drawing/2014/main" id="{D0D34826-3683-03A1-13C4-42FF5BB3C6A0}"/>
                </a:ext>
              </a:extLst>
            </p:cNvPr>
            <p:cNvGrpSpPr>
              <a:grpSpLocks/>
            </p:cNvGrpSpPr>
            <p:nvPr/>
          </p:nvGrpSpPr>
          <p:grpSpPr bwMode="auto">
            <a:xfrm>
              <a:off x="2089" y="2898"/>
              <a:ext cx="151" cy="336"/>
              <a:chOff x="576" y="1200"/>
              <a:chExt cx="240" cy="336"/>
            </a:xfrm>
          </p:grpSpPr>
          <p:sp>
            <p:nvSpPr>
              <p:cNvPr id="267" name="Rectangle 224">
                <a:extLst>
                  <a:ext uri="{FF2B5EF4-FFF2-40B4-BE49-F238E27FC236}">
                    <a16:creationId xmlns:a16="http://schemas.microsoft.com/office/drawing/2014/main" id="{3322569B-8B3D-C785-9DA4-24F00A7C083B}"/>
                  </a:ext>
                </a:extLst>
              </p:cNvPr>
              <p:cNvSpPr>
                <a:spLocks noChangeArrowheads="1"/>
              </p:cNvSpPr>
              <p:nvPr/>
            </p:nvSpPr>
            <p:spPr bwMode="auto">
              <a:xfrm>
                <a:off x="576" y="1200"/>
                <a:ext cx="240"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sp>
            <p:nvSpPr>
              <p:cNvPr id="268" name="Line 225">
                <a:extLst>
                  <a:ext uri="{FF2B5EF4-FFF2-40B4-BE49-F238E27FC236}">
                    <a16:creationId xmlns:a16="http://schemas.microsoft.com/office/drawing/2014/main" id="{18CD6AA5-250D-BE0C-5EC4-B2C51E211343}"/>
                  </a:ext>
                </a:extLst>
              </p:cNvPr>
              <p:cNvSpPr>
                <a:spLocks noChangeShapeType="1"/>
              </p:cNvSpPr>
              <p:nvPr/>
            </p:nvSpPr>
            <p:spPr bwMode="auto">
              <a:xfrm>
                <a:off x="576" y="139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800"/>
              </a:p>
            </p:txBody>
          </p:sp>
          <p:sp>
            <p:nvSpPr>
              <p:cNvPr id="269" name="Line 226">
                <a:extLst>
                  <a:ext uri="{FF2B5EF4-FFF2-40B4-BE49-F238E27FC236}">
                    <a16:creationId xmlns:a16="http://schemas.microsoft.com/office/drawing/2014/main" id="{F88591CD-4A17-EFF6-07A0-F5E3EBABD66E}"/>
                  </a:ext>
                </a:extLst>
              </p:cNvPr>
              <p:cNvSpPr>
                <a:spLocks noChangeShapeType="1"/>
              </p:cNvSpPr>
              <p:nvPr/>
            </p:nvSpPr>
            <p:spPr bwMode="auto">
              <a:xfrm>
                <a:off x="576" y="129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800"/>
              </a:p>
            </p:txBody>
          </p:sp>
        </p:grpSp>
        <p:sp>
          <p:nvSpPr>
            <p:cNvPr id="266" name="Text Box 227">
              <a:extLst>
                <a:ext uri="{FF2B5EF4-FFF2-40B4-BE49-F238E27FC236}">
                  <a16:creationId xmlns:a16="http://schemas.microsoft.com/office/drawing/2014/main" id="{38F3FE98-E90D-0B4D-0DE8-D0450739D67C}"/>
                </a:ext>
              </a:extLst>
            </p:cNvPr>
            <p:cNvSpPr txBox="1">
              <a:spLocks noChangeArrowheads="1"/>
            </p:cNvSpPr>
            <p:nvPr/>
          </p:nvSpPr>
          <p:spPr bwMode="auto">
            <a:xfrm>
              <a:off x="2074" y="2736"/>
              <a:ext cx="192" cy="13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eaLnBrk="1" hangingPunct="1">
                <a:lnSpc>
                  <a:spcPct val="100000"/>
                </a:lnSpc>
                <a:spcBef>
                  <a:spcPct val="0"/>
                </a:spcBef>
                <a:spcAft>
                  <a:spcPct val="0"/>
                </a:spcAft>
                <a:buClrTx/>
                <a:buSzTx/>
                <a:buFontTx/>
                <a:buNone/>
              </a:pPr>
              <a:r>
                <a:rPr lang="en-US" altLang="en-US" sz="800" b="0" dirty="0"/>
                <a:t>IN</a:t>
              </a:r>
            </a:p>
          </p:txBody>
        </p:sp>
      </p:grpSp>
      <p:sp>
        <p:nvSpPr>
          <p:cNvPr id="270" name="Line 228">
            <a:extLst>
              <a:ext uri="{FF2B5EF4-FFF2-40B4-BE49-F238E27FC236}">
                <a16:creationId xmlns:a16="http://schemas.microsoft.com/office/drawing/2014/main" id="{DBE90A33-9FF7-50E0-1020-03896F5BAC6C}"/>
              </a:ext>
            </a:extLst>
          </p:cNvPr>
          <p:cNvSpPr>
            <a:spLocks noChangeShapeType="1"/>
          </p:cNvSpPr>
          <p:nvPr/>
        </p:nvSpPr>
        <p:spPr bwMode="auto">
          <a:xfrm flipV="1">
            <a:off x="3597233" y="4390156"/>
            <a:ext cx="344488"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800"/>
          </a:p>
        </p:txBody>
      </p:sp>
      <p:sp>
        <p:nvSpPr>
          <p:cNvPr id="271" name="Line 229">
            <a:extLst>
              <a:ext uri="{FF2B5EF4-FFF2-40B4-BE49-F238E27FC236}">
                <a16:creationId xmlns:a16="http://schemas.microsoft.com/office/drawing/2014/main" id="{00C08E08-80D5-9150-D051-AC3904FECCBD}"/>
              </a:ext>
            </a:extLst>
          </p:cNvPr>
          <p:cNvSpPr>
            <a:spLocks noChangeShapeType="1"/>
          </p:cNvSpPr>
          <p:nvPr/>
        </p:nvSpPr>
        <p:spPr bwMode="auto">
          <a:xfrm flipV="1">
            <a:off x="3655971" y="4390156"/>
            <a:ext cx="217487"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800"/>
          </a:p>
        </p:txBody>
      </p:sp>
      <p:sp>
        <p:nvSpPr>
          <p:cNvPr id="272" name="Line 230">
            <a:extLst>
              <a:ext uri="{FF2B5EF4-FFF2-40B4-BE49-F238E27FC236}">
                <a16:creationId xmlns:a16="http://schemas.microsoft.com/office/drawing/2014/main" id="{94EF4437-2498-B981-D7A7-FA5F4E979910}"/>
              </a:ext>
            </a:extLst>
          </p:cNvPr>
          <p:cNvSpPr>
            <a:spLocks noChangeShapeType="1"/>
          </p:cNvSpPr>
          <p:nvPr/>
        </p:nvSpPr>
        <p:spPr bwMode="auto">
          <a:xfrm flipV="1">
            <a:off x="3597233" y="4390156"/>
            <a:ext cx="344488"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800"/>
          </a:p>
        </p:txBody>
      </p:sp>
      <p:grpSp>
        <p:nvGrpSpPr>
          <p:cNvPr id="273" name="Group 231">
            <a:extLst>
              <a:ext uri="{FF2B5EF4-FFF2-40B4-BE49-F238E27FC236}">
                <a16:creationId xmlns:a16="http://schemas.microsoft.com/office/drawing/2014/main" id="{A09D52B6-F03C-A9E5-AC93-A65B5258E52C}"/>
              </a:ext>
            </a:extLst>
          </p:cNvPr>
          <p:cNvGrpSpPr>
            <a:grpSpLocks/>
          </p:cNvGrpSpPr>
          <p:nvPr/>
        </p:nvGrpSpPr>
        <p:grpSpPr bwMode="auto">
          <a:xfrm>
            <a:off x="3524208" y="4244106"/>
            <a:ext cx="454025" cy="903287"/>
            <a:chOff x="1400" y="2665"/>
            <a:chExt cx="286" cy="569"/>
          </a:xfrm>
        </p:grpSpPr>
        <p:sp>
          <p:nvSpPr>
            <p:cNvPr id="274" name="Text Box 232">
              <a:extLst>
                <a:ext uri="{FF2B5EF4-FFF2-40B4-BE49-F238E27FC236}">
                  <a16:creationId xmlns:a16="http://schemas.microsoft.com/office/drawing/2014/main" id="{62794A13-1129-C056-D3CB-B20D05124033}"/>
                </a:ext>
              </a:extLst>
            </p:cNvPr>
            <p:cNvSpPr txBox="1">
              <a:spLocks noChangeArrowheads="1"/>
            </p:cNvSpPr>
            <p:nvPr/>
          </p:nvSpPr>
          <p:spPr bwMode="auto">
            <a:xfrm>
              <a:off x="1400" y="2918"/>
              <a:ext cx="28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Aft>
                  <a:spcPct val="0"/>
                </a:spcAft>
                <a:buClrTx/>
                <a:buSzTx/>
                <a:buFontTx/>
                <a:buNone/>
              </a:pPr>
              <a:endParaRPr lang="en-US" altLang="en-US" sz="800" b="0">
                <a:solidFill>
                  <a:srgbClr val="FF0000"/>
                </a:solidFill>
              </a:endParaRPr>
            </a:p>
          </p:txBody>
        </p:sp>
        <p:sp>
          <p:nvSpPr>
            <p:cNvPr id="275" name="Rectangle 233">
              <a:extLst>
                <a:ext uri="{FF2B5EF4-FFF2-40B4-BE49-F238E27FC236}">
                  <a16:creationId xmlns:a16="http://schemas.microsoft.com/office/drawing/2014/main" id="{C3AB793E-0015-B261-3CB7-44F28D39F8E0}"/>
                </a:ext>
              </a:extLst>
            </p:cNvPr>
            <p:cNvSpPr>
              <a:spLocks noChangeArrowheads="1"/>
            </p:cNvSpPr>
            <p:nvPr/>
          </p:nvSpPr>
          <p:spPr bwMode="auto">
            <a:xfrm>
              <a:off x="1475" y="2709"/>
              <a:ext cx="151" cy="16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sp>
          <p:nvSpPr>
            <p:cNvPr id="276" name="AutoShape 234">
              <a:extLst>
                <a:ext uri="{FF2B5EF4-FFF2-40B4-BE49-F238E27FC236}">
                  <a16:creationId xmlns:a16="http://schemas.microsoft.com/office/drawing/2014/main" id="{311F7F88-62ED-FEE8-C7E9-243C3078283E}"/>
                </a:ext>
              </a:extLst>
            </p:cNvPr>
            <p:cNvSpPr>
              <a:spLocks/>
            </p:cNvSpPr>
            <p:nvPr/>
          </p:nvSpPr>
          <p:spPr bwMode="auto">
            <a:xfrm rot="-5400000">
              <a:off x="1542" y="2598"/>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sp>
          <p:nvSpPr>
            <p:cNvPr id="277" name="AutoShape 235">
              <a:extLst>
                <a:ext uri="{FF2B5EF4-FFF2-40B4-BE49-F238E27FC236}">
                  <a16:creationId xmlns:a16="http://schemas.microsoft.com/office/drawing/2014/main" id="{F3143ACF-2F43-6855-C09C-588B35E8091F}"/>
                </a:ext>
              </a:extLst>
            </p:cNvPr>
            <p:cNvSpPr>
              <a:spLocks/>
            </p:cNvSpPr>
            <p:nvPr/>
          </p:nvSpPr>
          <p:spPr bwMode="auto">
            <a:xfrm rot="-5400000">
              <a:off x="1542" y="2607"/>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sp>
          <p:nvSpPr>
            <p:cNvPr id="278" name="AutoShape 236">
              <a:extLst>
                <a:ext uri="{FF2B5EF4-FFF2-40B4-BE49-F238E27FC236}">
                  <a16:creationId xmlns:a16="http://schemas.microsoft.com/office/drawing/2014/main" id="{726FB809-BFBD-DB07-E7B2-AD2214874519}"/>
                </a:ext>
              </a:extLst>
            </p:cNvPr>
            <p:cNvSpPr>
              <a:spLocks/>
            </p:cNvSpPr>
            <p:nvPr/>
          </p:nvSpPr>
          <p:spPr bwMode="auto">
            <a:xfrm rot="-5400000">
              <a:off x="1542" y="2616"/>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grpSp>
          <p:nvGrpSpPr>
            <p:cNvPr id="279" name="Group 237">
              <a:extLst>
                <a:ext uri="{FF2B5EF4-FFF2-40B4-BE49-F238E27FC236}">
                  <a16:creationId xmlns:a16="http://schemas.microsoft.com/office/drawing/2014/main" id="{D1464D24-49F2-4FD8-7FD5-71005231E450}"/>
                </a:ext>
              </a:extLst>
            </p:cNvPr>
            <p:cNvGrpSpPr>
              <a:grpSpLocks/>
            </p:cNvGrpSpPr>
            <p:nvPr/>
          </p:nvGrpSpPr>
          <p:grpSpPr bwMode="auto">
            <a:xfrm>
              <a:off x="1469" y="2898"/>
              <a:ext cx="151" cy="336"/>
              <a:chOff x="576" y="1200"/>
              <a:chExt cx="240" cy="336"/>
            </a:xfrm>
          </p:grpSpPr>
          <p:sp>
            <p:nvSpPr>
              <p:cNvPr id="281" name="Rectangle 238">
                <a:extLst>
                  <a:ext uri="{FF2B5EF4-FFF2-40B4-BE49-F238E27FC236}">
                    <a16:creationId xmlns:a16="http://schemas.microsoft.com/office/drawing/2014/main" id="{DAA2ED96-B2BD-5658-123E-4F3D3DD89015}"/>
                  </a:ext>
                </a:extLst>
              </p:cNvPr>
              <p:cNvSpPr>
                <a:spLocks noChangeArrowheads="1"/>
              </p:cNvSpPr>
              <p:nvPr/>
            </p:nvSpPr>
            <p:spPr bwMode="auto">
              <a:xfrm>
                <a:off x="576" y="1200"/>
                <a:ext cx="240"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sp>
            <p:nvSpPr>
              <p:cNvPr id="282" name="Line 239">
                <a:extLst>
                  <a:ext uri="{FF2B5EF4-FFF2-40B4-BE49-F238E27FC236}">
                    <a16:creationId xmlns:a16="http://schemas.microsoft.com/office/drawing/2014/main" id="{6FDE0366-A8D0-2DD6-680C-DB7529D09CA9}"/>
                  </a:ext>
                </a:extLst>
              </p:cNvPr>
              <p:cNvSpPr>
                <a:spLocks noChangeShapeType="1"/>
              </p:cNvSpPr>
              <p:nvPr/>
            </p:nvSpPr>
            <p:spPr bwMode="auto">
              <a:xfrm>
                <a:off x="576" y="139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800"/>
              </a:p>
            </p:txBody>
          </p:sp>
          <p:sp>
            <p:nvSpPr>
              <p:cNvPr id="283" name="Line 240">
                <a:extLst>
                  <a:ext uri="{FF2B5EF4-FFF2-40B4-BE49-F238E27FC236}">
                    <a16:creationId xmlns:a16="http://schemas.microsoft.com/office/drawing/2014/main" id="{96C7C874-808C-DE37-3F1E-BD8C319AC8C0}"/>
                  </a:ext>
                </a:extLst>
              </p:cNvPr>
              <p:cNvSpPr>
                <a:spLocks noChangeShapeType="1"/>
              </p:cNvSpPr>
              <p:nvPr/>
            </p:nvSpPr>
            <p:spPr bwMode="auto">
              <a:xfrm>
                <a:off x="576" y="129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800"/>
              </a:p>
            </p:txBody>
          </p:sp>
        </p:grpSp>
        <p:sp>
          <p:nvSpPr>
            <p:cNvPr id="280" name="Text Box 241">
              <a:extLst>
                <a:ext uri="{FF2B5EF4-FFF2-40B4-BE49-F238E27FC236}">
                  <a16:creationId xmlns:a16="http://schemas.microsoft.com/office/drawing/2014/main" id="{C70E235C-30C3-15B1-5BCF-BC0A48E56A23}"/>
                </a:ext>
              </a:extLst>
            </p:cNvPr>
            <p:cNvSpPr txBox="1">
              <a:spLocks noChangeArrowheads="1"/>
            </p:cNvSpPr>
            <p:nvPr/>
          </p:nvSpPr>
          <p:spPr bwMode="auto">
            <a:xfrm>
              <a:off x="1454" y="2736"/>
              <a:ext cx="198" cy="13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eaLnBrk="1" hangingPunct="1">
                <a:lnSpc>
                  <a:spcPct val="100000"/>
                </a:lnSpc>
                <a:spcBef>
                  <a:spcPct val="0"/>
                </a:spcBef>
                <a:spcAft>
                  <a:spcPct val="0"/>
                </a:spcAft>
                <a:buClrTx/>
                <a:buSzTx/>
                <a:buFontTx/>
                <a:buNone/>
              </a:pPr>
              <a:r>
                <a:rPr lang="en-US" altLang="en-US" sz="800" b="0" dirty="0"/>
                <a:t>IN</a:t>
              </a:r>
            </a:p>
          </p:txBody>
        </p:sp>
      </p:grpSp>
      <p:sp>
        <p:nvSpPr>
          <p:cNvPr id="284" name="Rectangle 249">
            <a:extLst>
              <a:ext uri="{FF2B5EF4-FFF2-40B4-BE49-F238E27FC236}">
                <a16:creationId xmlns:a16="http://schemas.microsoft.com/office/drawing/2014/main" id="{EF4D27A6-3461-5A62-7579-3132EA039C75}"/>
              </a:ext>
            </a:extLst>
          </p:cNvPr>
          <p:cNvSpPr>
            <a:spLocks noChangeArrowheads="1"/>
          </p:cNvSpPr>
          <p:nvPr/>
        </p:nvSpPr>
        <p:spPr bwMode="auto">
          <a:xfrm>
            <a:off x="4913311" y="4688606"/>
            <a:ext cx="658710" cy="1000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720" rIns="45720">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25000"/>
              </a:lnSpc>
              <a:spcBef>
                <a:spcPct val="0"/>
              </a:spcBef>
              <a:spcAft>
                <a:spcPct val="0"/>
              </a:spcAft>
              <a:buClrTx/>
              <a:buSzTx/>
              <a:buFontTx/>
              <a:buNone/>
            </a:pPr>
            <a:r>
              <a:rPr lang="en-US" altLang="en-US" sz="800" b="0" dirty="0"/>
              <a:t>Volume =</a:t>
            </a:r>
          </a:p>
          <a:p>
            <a:pPr>
              <a:lnSpc>
                <a:spcPct val="125000"/>
              </a:lnSpc>
              <a:spcBef>
                <a:spcPct val="0"/>
              </a:spcBef>
              <a:spcAft>
                <a:spcPct val="0"/>
              </a:spcAft>
              <a:buClrTx/>
              <a:buSzTx/>
              <a:buFontTx/>
              <a:buNone/>
            </a:pPr>
            <a:r>
              <a:rPr lang="en-US" altLang="en-US" sz="800" b="0" dirty="0"/>
              <a:t>Processing Time =</a:t>
            </a:r>
          </a:p>
          <a:p>
            <a:pPr>
              <a:lnSpc>
                <a:spcPct val="125000"/>
              </a:lnSpc>
              <a:spcBef>
                <a:spcPct val="0"/>
              </a:spcBef>
              <a:spcAft>
                <a:spcPct val="0"/>
              </a:spcAft>
              <a:buClrTx/>
              <a:buSzTx/>
              <a:buFontTx/>
              <a:buNone/>
            </a:pPr>
            <a:r>
              <a:rPr lang="en-US" altLang="en-US" sz="800" b="0" dirty="0"/>
              <a:t>DOI = </a:t>
            </a:r>
          </a:p>
          <a:p>
            <a:pPr>
              <a:lnSpc>
                <a:spcPct val="125000"/>
              </a:lnSpc>
              <a:spcBef>
                <a:spcPct val="0"/>
              </a:spcBef>
              <a:spcAft>
                <a:spcPct val="0"/>
              </a:spcAft>
              <a:buClrTx/>
              <a:buSzTx/>
              <a:buFontTx/>
              <a:buNone/>
            </a:pPr>
            <a:r>
              <a:rPr lang="en-US" altLang="en-US" sz="800" b="0" dirty="0"/>
              <a:t>Quality =</a:t>
            </a:r>
          </a:p>
          <a:p>
            <a:pPr>
              <a:lnSpc>
                <a:spcPct val="125000"/>
              </a:lnSpc>
              <a:spcBef>
                <a:spcPct val="0"/>
              </a:spcBef>
              <a:spcAft>
                <a:spcPct val="0"/>
              </a:spcAft>
              <a:buClrTx/>
              <a:buSzTx/>
              <a:buFontTx/>
              <a:buNone/>
            </a:pPr>
            <a:r>
              <a:rPr lang="en-US" altLang="en-US" sz="800" b="0" dirty="0"/>
              <a:t># Rework = </a:t>
            </a:r>
          </a:p>
        </p:txBody>
      </p:sp>
      <p:sp>
        <p:nvSpPr>
          <p:cNvPr id="285" name="Rectangle 250">
            <a:extLst>
              <a:ext uri="{FF2B5EF4-FFF2-40B4-BE49-F238E27FC236}">
                <a16:creationId xmlns:a16="http://schemas.microsoft.com/office/drawing/2014/main" id="{5BA8D0D6-E255-E6E6-5196-13E833F80767}"/>
              </a:ext>
            </a:extLst>
          </p:cNvPr>
          <p:cNvSpPr>
            <a:spLocks noChangeArrowheads="1"/>
          </p:cNvSpPr>
          <p:nvPr/>
        </p:nvSpPr>
        <p:spPr bwMode="auto">
          <a:xfrm>
            <a:off x="8328478" y="3780830"/>
            <a:ext cx="673100" cy="231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720" rIns="45720">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25000"/>
              </a:lnSpc>
              <a:spcBef>
                <a:spcPct val="0"/>
              </a:spcBef>
              <a:spcAft>
                <a:spcPct val="0"/>
              </a:spcAft>
              <a:buClrTx/>
              <a:buSzTx/>
              <a:buFontTx/>
              <a:buNone/>
            </a:pPr>
            <a:r>
              <a:rPr lang="en-US" altLang="en-US" sz="800" b="0" dirty="0"/>
              <a:t>Volume =</a:t>
            </a:r>
          </a:p>
        </p:txBody>
      </p:sp>
      <p:sp>
        <p:nvSpPr>
          <p:cNvPr id="286" name="Rectangle 251">
            <a:extLst>
              <a:ext uri="{FF2B5EF4-FFF2-40B4-BE49-F238E27FC236}">
                <a16:creationId xmlns:a16="http://schemas.microsoft.com/office/drawing/2014/main" id="{312337F5-54DA-A91B-1CD6-6F017D8883FF}"/>
              </a:ext>
            </a:extLst>
          </p:cNvPr>
          <p:cNvSpPr>
            <a:spLocks noChangeArrowheads="1"/>
          </p:cNvSpPr>
          <p:nvPr/>
        </p:nvSpPr>
        <p:spPr bwMode="auto">
          <a:xfrm>
            <a:off x="2927349" y="4707656"/>
            <a:ext cx="625476" cy="1000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720" rIns="45720">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25000"/>
              </a:lnSpc>
              <a:spcBef>
                <a:spcPct val="0"/>
              </a:spcBef>
              <a:spcAft>
                <a:spcPct val="0"/>
              </a:spcAft>
              <a:buClrTx/>
              <a:buSzTx/>
              <a:buFontTx/>
              <a:buNone/>
            </a:pPr>
            <a:r>
              <a:rPr lang="en-US" altLang="en-US" sz="800" b="0" dirty="0"/>
              <a:t>Volume = </a:t>
            </a:r>
          </a:p>
          <a:p>
            <a:pPr>
              <a:lnSpc>
                <a:spcPct val="125000"/>
              </a:lnSpc>
              <a:spcBef>
                <a:spcPct val="0"/>
              </a:spcBef>
              <a:spcAft>
                <a:spcPct val="0"/>
              </a:spcAft>
              <a:buClrTx/>
              <a:buSzTx/>
              <a:buFontTx/>
              <a:buNone/>
            </a:pPr>
            <a:r>
              <a:rPr lang="en-US" altLang="en-US" sz="800" b="0" dirty="0"/>
              <a:t>Processing Time =</a:t>
            </a:r>
          </a:p>
          <a:p>
            <a:pPr>
              <a:lnSpc>
                <a:spcPct val="125000"/>
              </a:lnSpc>
              <a:spcBef>
                <a:spcPct val="0"/>
              </a:spcBef>
              <a:spcAft>
                <a:spcPct val="0"/>
              </a:spcAft>
              <a:buClrTx/>
              <a:buSzTx/>
              <a:buFontTx/>
              <a:buNone/>
            </a:pPr>
            <a:r>
              <a:rPr lang="en-US" altLang="en-US" sz="800" b="0" dirty="0"/>
              <a:t>DOI = </a:t>
            </a:r>
          </a:p>
          <a:p>
            <a:pPr>
              <a:lnSpc>
                <a:spcPct val="125000"/>
              </a:lnSpc>
              <a:spcBef>
                <a:spcPct val="0"/>
              </a:spcBef>
              <a:spcAft>
                <a:spcPct val="0"/>
              </a:spcAft>
              <a:buClrTx/>
              <a:buSzTx/>
              <a:buFontTx/>
              <a:buNone/>
            </a:pPr>
            <a:r>
              <a:rPr lang="en-US" altLang="en-US" sz="800" b="0" dirty="0"/>
              <a:t>Quality = </a:t>
            </a:r>
          </a:p>
          <a:p>
            <a:pPr>
              <a:lnSpc>
                <a:spcPct val="125000"/>
              </a:lnSpc>
              <a:spcBef>
                <a:spcPct val="0"/>
              </a:spcBef>
              <a:spcAft>
                <a:spcPct val="0"/>
              </a:spcAft>
              <a:buClrTx/>
              <a:buSzTx/>
              <a:buFontTx/>
              <a:buNone/>
            </a:pPr>
            <a:r>
              <a:rPr lang="en-US" altLang="en-US" sz="800" b="0" dirty="0"/>
              <a:t># Rework = </a:t>
            </a:r>
          </a:p>
        </p:txBody>
      </p:sp>
      <p:grpSp>
        <p:nvGrpSpPr>
          <p:cNvPr id="343" name="Group 342">
            <a:extLst>
              <a:ext uri="{FF2B5EF4-FFF2-40B4-BE49-F238E27FC236}">
                <a16:creationId xmlns:a16="http://schemas.microsoft.com/office/drawing/2014/main" id="{9C82BFA3-50AC-B6F5-895D-21FA2128B7D5}"/>
              </a:ext>
            </a:extLst>
          </p:cNvPr>
          <p:cNvGrpSpPr/>
          <p:nvPr/>
        </p:nvGrpSpPr>
        <p:grpSpPr>
          <a:xfrm>
            <a:off x="6039473" y="4688606"/>
            <a:ext cx="1102135" cy="934269"/>
            <a:chOff x="5946732" y="4688606"/>
            <a:chExt cx="1102135" cy="934269"/>
          </a:xfrm>
        </p:grpSpPr>
        <p:sp>
          <p:nvSpPr>
            <p:cNvPr id="211" name="Rectangle 88">
              <a:extLst>
                <a:ext uri="{FF2B5EF4-FFF2-40B4-BE49-F238E27FC236}">
                  <a16:creationId xmlns:a16="http://schemas.microsoft.com/office/drawing/2014/main" id="{926DD044-4FF3-9305-4577-B63C7F77D56F}"/>
                </a:ext>
              </a:extLst>
            </p:cNvPr>
            <p:cNvSpPr>
              <a:spLocks noChangeArrowheads="1"/>
            </p:cNvSpPr>
            <p:nvPr/>
          </p:nvSpPr>
          <p:spPr bwMode="auto">
            <a:xfrm>
              <a:off x="5946732" y="4710831"/>
              <a:ext cx="1102135" cy="912044"/>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sp>
          <p:nvSpPr>
            <p:cNvPr id="287" name="Rectangle 252">
              <a:extLst>
                <a:ext uri="{FF2B5EF4-FFF2-40B4-BE49-F238E27FC236}">
                  <a16:creationId xmlns:a16="http://schemas.microsoft.com/office/drawing/2014/main" id="{7494127A-0527-ACFE-C60B-2C50B5129AA3}"/>
                </a:ext>
              </a:extLst>
            </p:cNvPr>
            <p:cNvSpPr>
              <a:spLocks noChangeArrowheads="1"/>
            </p:cNvSpPr>
            <p:nvPr/>
          </p:nvSpPr>
          <p:spPr bwMode="auto">
            <a:xfrm>
              <a:off x="5993801" y="4688606"/>
              <a:ext cx="975588" cy="846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25000"/>
                </a:lnSpc>
                <a:spcBef>
                  <a:spcPct val="0"/>
                </a:spcBef>
                <a:spcAft>
                  <a:spcPct val="0"/>
                </a:spcAft>
                <a:buClrTx/>
                <a:buSzTx/>
                <a:buFontTx/>
                <a:buNone/>
              </a:pPr>
              <a:r>
                <a:rPr lang="en-US" altLang="en-US" sz="800" b="0" dirty="0"/>
                <a:t>Volume =</a:t>
              </a:r>
            </a:p>
            <a:p>
              <a:pPr>
                <a:lnSpc>
                  <a:spcPct val="125000"/>
                </a:lnSpc>
                <a:spcBef>
                  <a:spcPct val="0"/>
                </a:spcBef>
                <a:spcAft>
                  <a:spcPct val="0"/>
                </a:spcAft>
                <a:buClrTx/>
                <a:buSzTx/>
                <a:buFontTx/>
                <a:buNone/>
              </a:pPr>
              <a:r>
                <a:rPr lang="en-US" altLang="en-US" sz="800" b="0" dirty="0"/>
                <a:t>Processing Time = </a:t>
              </a:r>
            </a:p>
            <a:p>
              <a:pPr>
                <a:lnSpc>
                  <a:spcPct val="125000"/>
                </a:lnSpc>
                <a:spcBef>
                  <a:spcPct val="0"/>
                </a:spcBef>
                <a:spcAft>
                  <a:spcPct val="0"/>
                </a:spcAft>
                <a:buClrTx/>
                <a:buSzTx/>
                <a:buFontTx/>
                <a:buNone/>
              </a:pPr>
              <a:r>
                <a:rPr lang="en-US" altLang="en-US" sz="800" b="0" dirty="0"/>
                <a:t>DOI =</a:t>
              </a:r>
            </a:p>
            <a:p>
              <a:pPr>
                <a:lnSpc>
                  <a:spcPct val="125000"/>
                </a:lnSpc>
                <a:spcBef>
                  <a:spcPct val="0"/>
                </a:spcBef>
                <a:spcAft>
                  <a:spcPct val="0"/>
                </a:spcAft>
                <a:buClrTx/>
                <a:buSzTx/>
                <a:buFontTx/>
                <a:buNone/>
              </a:pPr>
              <a:r>
                <a:rPr lang="en-US" altLang="en-US" sz="800" b="0" dirty="0"/>
                <a:t>Quality = </a:t>
              </a:r>
            </a:p>
            <a:p>
              <a:pPr>
                <a:lnSpc>
                  <a:spcPct val="125000"/>
                </a:lnSpc>
                <a:spcBef>
                  <a:spcPct val="0"/>
                </a:spcBef>
                <a:spcAft>
                  <a:spcPct val="0"/>
                </a:spcAft>
                <a:buClrTx/>
                <a:buSzTx/>
                <a:buFontTx/>
                <a:buNone/>
              </a:pPr>
              <a:r>
                <a:rPr lang="en-US" altLang="en-US" sz="800" b="0" dirty="0"/>
                <a:t># Rework = </a:t>
              </a:r>
            </a:p>
          </p:txBody>
        </p:sp>
      </p:grpSp>
      <p:sp>
        <p:nvSpPr>
          <p:cNvPr id="301" name="Text Box 177">
            <a:extLst>
              <a:ext uri="{FF2B5EF4-FFF2-40B4-BE49-F238E27FC236}">
                <a16:creationId xmlns:a16="http://schemas.microsoft.com/office/drawing/2014/main" id="{083B9055-2727-D661-5E61-AA5BCD14CC18}"/>
              </a:ext>
            </a:extLst>
          </p:cNvPr>
          <p:cNvSpPr txBox="1">
            <a:spLocks noChangeArrowheads="1"/>
          </p:cNvSpPr>
          <p:nvPr/>
        </p:nvSpPr>
        <p:spPr bwMode="auto">
          <a:xfrm>
            <a:off x="7505417" y="3998004"/>
            <a:ext cx="454025"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Aft>
                <a:spcPct val="0"/>
              </a:spcAft>
              <a:buClrTx/>
              <a:buSzTx/>
              <a:buFontTx/>
              <a:buNone/>
            </a:pPr>
            <a:endParaRPr lang="en-US" altLang="en-US" sz="400" b="0">
              <a:solidFill>
                <a:srgbClr val="FF0000"/>
              </a:solidFill>
            </a:endParaRPr>
          </a:p>
        </p:txBody>
      </p:sp>
      <p:grpSp>
        <p:nvGrpSpPr>
          <p:cNvPr id="338" name="Group 337">
            <a:extLst>
              <a:ext uri="{FF2B5EF4-FFF2-40B4-BE49-F238E27FC236}">
                <a16:creationId xmlns:a16="http://schemas.microsoft.com/office/drawing/2014/main" id="{688655FA-AB89-BB31-4B06-0F450A47F100}"/>
              </a:ext>
            </a:extLst>
          </p:cNvPr>
          <p:cNvGrpSpPr/>
          <p:nvPr/>
        </p:nvGrpSpPr>
        <p:grpSpPr>
          <a:xfrm>
            <a:off x="7947064" y="3374894"/>
            <a:ext cx="239713" cy="42863"/>
            <a:chOff x="7625273" y="3595573"/>
            <a:chExt cx="239713" cy="42863"/>
          </a:xfrm>
        </p:grpSpPr>
        <p:sp>
          <p:nvSpPr>
            <p:cNvPr id="304" name="AutoShape 180">
              <a:extLst>
                <a:ext uri="{FF2B5EF4-FFF2-40B4-BE49-F238E27FC236}">
                  <a16:creationId xmlns:a16="http://schemas.microsoft.com/office/drawing/2014/main" id="{34A7100F-74AB-C903-16DC-52DD5A666866}"/>
                </a:ext>
              </a:extLst>
            </p:cNvPr>
            <p:cNvSpPr>
              <a:spLocks/>
            </p:cNvSpPr>
            <p:nvPr/>
          </p:nvSpPr>
          <p:spPr bwMode="auto">
            <a:xfrm rot="16200000">
              <a:off x="7730842" y="3490004"/>
              <a:ext cx="28575" cy="239713"/>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05" name="AutoShape 181">
              <a:extLst>
                <a:ext uri="{FF2B5EF4-FFF2-40B4-BE49-F238E27FC236}">
                  <a16:creationId xmlns:a16="http://schemas.microsoft.com/office/drawing/2014/main" id="{ED2FD459-987F-EDC8-663F-D7C59CE672A9}"/>
                </a:ext>
              </a:extLst>
            </p:cNvPr>
            <p:cNvSpPr>
              <a:spLocks/>
            </p:cNvSpPr>
            <p:nvPr/>
          </p:nvSpPr>
          <p:spPr bwMode="auto">
            <a:xfrm rot="16200000">
              <a:off x="7730842" y="3504292"/>
              <a:ext cx="28575" cy="239713"/>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sp>
        <p:nvSpPr>
          <p:cNvPr id="306" name="AutoShape 182">
            <a:extLst>
              <a:ext uri="{FF2B5EF4-FFF2-40B4-BE49-F238E27FC236}">
                <a16:creationId xmlns:a16="http://schemas.microsoft.com/office/drawing/2014/main" id="{F3FA11D6-4015-8247-F918-19B24BD50752}"/>
              </a:ext>
            </a:extLst>
          </p:cNvPr>
          <p:cNvSpPr>
            <a:spLocks/>
          </p:cNvSpPr>
          <p:nvPr/>
        </p:nvSpPr>
        <p:spPr bwMode="auto">
          <a:xfrm rot="16200000">
            <a:off x="8052633" y="3256417"/>
            <a:ext cx="28575" cy="239713"/>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307" name="Group 183">
            <a:extLst>
              <a:ext uri="{FF2B5EF4-FFF2-40B4-BE49-F238E27FC236}">
                <a16:creationId xmlns:a16="http://schemas.microsoft.com/office/drawing/2014/main" id="{A4CC0662-F492-FBC8-3625-8DED4BFD8E2B}"/>
              </a:ext>
            </a:extLst>
          </p:cNvPr>
          <p:cNvGrpSpPr>
            <a:grpSpLocks/>
          </p:cNvGrpSpPr>
          <p:nvPr/>
        </p:nvGrpSpPr>
        <p:grpSpPr bwMode="auto">
          <a:xfrm>
            <a:off x="7942954" y="3708145"/>
            <a:ext cx="239713" cy="533400"/>
            <a:chOff x="576" y="1200"/>
            <a:chExt cx="240" cy="336"/>
          </a:xfrm>
        </p:grpSpPr>
        <p:sp>
          <p:nvSpPr>
            <p:cNvPr id="309" name="Rectangle 184">
              <a:extLst>
                <a:ext uri="{FF2B5EF4-FFF2-40B4-BE49-F238E27FC236}">
                  <a16:creationId xmlns:a16="http://schemas.microsoft.com/office/drawing/2014/main" id="{CC5F44B1-6F71-8EE7-06A1-A1656103A3C1}"/>
                </a:ext>
              </a:extLst>
            </p:cNvPr>
            <p:cNvSpPr>
              <a:spLocks noChangeArrowheads="1"/>
            </p:cNvSpPr>
            <p:nvPr/>
          </p:nvSpPr>
          <p:spPr bwMode="auto">
            <a:xfrm>
              <a:off x="576" y="1200"/>
              <a:ext cx="240"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10" name="Line 185">
              <a:extLst>
                <a:ext uri="{FF2B5EF4-FFF2-40B4-BE49-F238E27FC236}">
                  <a16:creationId xmlns:a16="http://schemas.microsoft.com/office/drawing/2014/main" id="{E7635653-CAD1-D307-51A1-53E703AA060C}"/>
                </a:ext>
              </a:extLst>
            </p:cNvPr>
            <p:cNvSpPr>
              <a:spLocks noChangeShapeType="1"/>
            </p:cNvSpPr>
            <p:nvPr/>
          </p:nvSpPr>
          <p:spPr bwMode="auto">
            <a:xfrm>
              <a:off x="576" y="139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1" name="Line 186">
              <a:extLst>
                <a:ext uri="{FF2B5EF4-FFF2-40B4-BE49-F238E27FC236}">
                  <a16:creationId xmlns:a16="http://schemas.microsoft.com/office/drawing/2014/main" id="{D93367F8-925C-70AF-94B5-DBF3D4140D72}"/>
                </a:ext>
              </a:extLst>
            </p:cNvPr>
            <p:cNvSpPr>
              <a:spLocks noChangeShapeType="1"/>
            </p:cNvSpPr>
            <p:nvPr/>
          </p:nvSpPr>
          <p:spPr bwMode="auto">
            <a:xfrm>
              <a:off x="576" y="129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40" name="Group 339">
            <a:extLst>
              <a:ext uri="{FF2B5EF4-FFF2-40B4-BE49-F238E27FC236}">
                <a16:creationId xmlns:a16="http://schemas.microsoft.com/office/drawing/2014/main" id="{5AF489C5-13CD-35D7-EB21-665C14F74B3E}"/>
              </a:ext>
            </a:extLst>
          </p:cNvPr>
          <p:cNvGrpSpPr/>
          <p:nvPr/>
        </p:nvGrpSpPr>
        <p:grpSpPr>
          <a:xfrm>
            <a:off x="7915528" y="3428538"/>
            <a:ext cx="273051" cy="266700"/>
            <a:chOff x="7531930" y="3464881"/>
            <a:chExt cx="273051" cy="266700"/>
          </a:xfrm>
        </p:grpSpPr>
        <p:sp>
          <p:nvSpPr>
            <p:cNvPr id="303" name="Rectangle 179">
              <a:extLst>
                <a:ext uri="{FF2B5EF4-FFF2-40B4-BE49-F238E27FC236}">
                  <a16:creationId xmlns:a16="http://schemas.microsoft.com/office/drawing/2014/main" id="{7917D7CE-A72B-63C0-9EFD-48847DF94114}"/>
                </a:ext>
              </a:extLst>
            </p:cNvPr>
            <p:cNvSpPr>
              <a:spLocks noChangeArrowheads="1"/>
            </p:cNvSpPr>
            <p:nvPr/>
          </p:nvSpPr>
          <p:spPr bwMode="auto">
            <a:xfrm>
              <a:off x="7565268" y="3464881"/>
              <a:ext cx="239713" cy="2667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08" name="Text Box 187">
              <a:extLst>
                <a:ext uri="{FF2B5EF4-FFF2-40B4-BE49-F238E27FC236}">
                  <a16:creationId xmlns:a16="http://schemas.microsoft.com/office/drawing/2014/main" id="{E3C48B2B-9681-F2B6-FCA3-41298B7F4E0C}"/>
                </a:ext>
              </a:extLst>
            </p:cNvPr>
            <p:cNvSpPr txBox="1">
              <a:spLocks noChangeArrowheads="1"/>
            </p:cNvSpPr>
            <p:nvPr/>
          </p:nvSpPr>
          <p:spPr bwMode="auto">
            <a:xfrm>
              <a:off x="7531930" y="3507743"/>
              <a:ext cx="266700" cy="1841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eaLnBrk="1" hangingPunct="1">
                <a:lnSpc>
                  <a:spcPct val="100000"/>
                </a:lnSpc>
                <a:spcBef>
                  <a:spcPct val="0"/>
                </a:spcBef>
                <a:spcAft>
                  <a:spcPct val="0"/>
                </a:spcAft>
                <a:buClrTx/>
                <a:buSzTx/>
                <a:buFontTx/>
                <a:buNone/>
              </a:pPr>
              <a:r>
                <a:rPr lang="en-US" altLang="en-US" sz="600" b="0"/>
                <a:t>IN</a:t>
              </a:r>
            </a:p>
          </p:txBody>
        </p:sp>
      </p:grpSp>
      <p:grpSp>
        <p:nvGrpSpPr>
          <p:cNvPr id="341" name="Group 340">
            <a:extLst>
              <a:ext uri="{FF2B5EF4-FFF2-40B4-BE49-F238E27FC236}">
                <a16:creationId xmlns:a16="http://schemas.microsoft.com/office/drawing/2014/main" id="{EFA2FD33-B48A-336E-D8AF-9300289D06F3}"/>
              </a:ext>
            </a:extLst>
          </p:cNvPr>
          <p:cNvGrpSpPr/>
          <p:nvPr/>
        </p:nvGrpSpPr>
        <p:grpSpPr>
          <a:xfrm>
            <a:off x="7176781" y="4359399"/>
            <a:ext cx="1041111" cy="1433704"/>
            <a:chOff x="7176781" y="4359399"/>
            <a:chExt cx="1041111" cy="1433704"/>
          </a:xfrm>
        </p:grpSpPr>
        <p:sp>
          <p:nvSpPr>
            <p:cNvPr id="337" name="Rectangle 86">
              <a:extLst>
                <a:ext uri="{FF2B5EF4-FFF2-40B4-BE49-F238E27FC236}">
                  <a16:creationId xmlns:a16="http://schemas.microsoft.com/office/drawing/2014/main" id="{5CD8F46E-C70E-9E69-B986-644C55D82107}"/>
                </a:ext>
              </a:extLst>
            </p:cNvPr>
            <p:cNvSpPr>
              <a:spLocks noChangeArrowheads="1"/>
            </p:cNvSpPr>
            <p:nvPr/>
          </p:nvSpPr>
          <p:spPr bwMode="auto">
            <a:xfrm>
              <a:off x="7213623" y="4946468"/>
              <a:ext cx="1004269" cy="84663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294" name="Group 34">
              <a:extLst>
                <a:ext uri="{FF2B5EF4-FFF2-40B4-BE49-F238E27FC236}">
                  <a16:creationId xmlns:a16="http://schemas.microsoft.com/office/drawing/2014/main" id="{FD6D1D26-B659-F3D5-7631-D5AEFA04ACCD}"/>
                </a:ext>
              </a:extLst>
            </p:cNvPr>
            <p:cNvGrpSpPr>
              <a:grpSpLocks/>
            </p:cNvGrpSpPr>
            <p:nvPr/>
          </p:nvGrpSpPr>
          <p:grpSpPr bwMode="auto">
            <a:xfrm>
              <a:off x="7213941" y="4359399"/>
              <a:ext cx="989077" cy="557213"/>
              <a:chOff x="3991" y="2407"/>
              <a:chExt cx="567" cy="365"/>
            </a:xfrm>
          </p:grpSpPr>
          <p:sp>
            <p:nvSpPr>
              <p:cNvPr id="295" name="Rectangle 35">
                <a:extLst>
                  <a:ext uri="{FF2B5EF4-FFF2-40B4-BE49-F238E27FC236}">
                    <a16:creationId xmlns:a16="http://schemas.microsoft.com/office/drawing/2014/main" id="{F2C3669D-FD5D-77FC-6B37-47E556B185D0}"/>
                  </a:ext>
                </a:extLst>
              </p:cNvPr>
              <p:cNvSpPr>
                <a:spLocks noChangeArrowheads="1"/>
              </p:cNvSpPr>
              <p:nvPr/>
            </p:nvSpPr>
            <p:spPr bwMode="auto">
              <a:xfrm>
                <a:off x="3991" y="2407"/>
                <a:ext cx="567" cy="36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sp>
            <p:nvSpPr>
              <p:cNvPr id="296" name="Line 36">
                <a:extLst>
                  <a:ext uri="{FF2B5EF4-FFF2-40B4-BE49-F238E27FC236}">
                    <a16:creationId xmlns:a16="http://schemas.microsoft.com/office/drawing/2014/main" id="{BA29C084-5DDF-9C75-3AE3-4BEE4BCB48F2}"/>
                  </a:ext>
                </a:extLst>
              </p:cNvPr>
              <p:cNvSpPr>
                <a:spLocks noChangeShapeType="1"/>
              </p:cNvSpPr>
              <p:nvPr/>
            </p:nvSpPr>
            <p:spPr bwMode="auto">
              <a:xfrm>
                <a:off x="3995" y="2592"/>
                <a:ext cx="563"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800"/>
              </a:p>
            </p:txBody>
          </p:sp>
        </p:grpSp>
        <p:sp>
          <p:nvSpPr>
            <p:cNvPr id="297" name="Text Box 37">
              <a:extLst>
                <a:ext uri="{FF2B5EF4-FFF2-40B4-BE49-F238E27FC236}">
                  <a16:creationId xmlns:a16="http://schemas.microsoft.com/office/drawing/2014/main" id="{7109AF53-DC62-3AD4-8DC9-A70BA75BACCF}"/>
                </a:ext>
              </a:extLst>
            </p:cNvPr>
            <p:cNvSpPr txBox="1">
              <a:spLocks noChangeArrowheads="1"/>
            </p:cNvSpPr>
            <p:nvPr/>
          </p:nvSpPr>
          <p:spPr bwMode="auto">
            <a:xfrm>
              <a:off x="7176781" y="4360864"/>
              <a:ext cx="88582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800" b="0" dirty="0"/>
                <a:t>Re-Underwrite</a:t>
              </a:r>
            </a:p>
          </p:txBody>
        </p:sp>
        <p:sp>
          <p:nvSpPr>
            <p:cNvPr id="298" name="Rectangle 254">
              <a:extLst>
                <a:ext uri="{FF2B5EF4-FFF2-40B4-BE49-F238E27FC236}">
                  <a16:creationId xmlns:a16="http://schemas.microsoft.com/office/drawing/2014/main" id="{7600AE8E-BC84-E33C-D1CC-9D2D6FFE0CFA}"/>
                </a:ext>
              </a:extLst>
            </p:cNvPr>
            <p:cNvSpPr>
              <a:spLocks noChangeArrowheads="1"/>
            </p:cNvSpPr>
            <p:nvPr/>
          </p:nvSpPr>
          <p:spPr bwMode="auto">
            <a:xfrm>
              <a:off x="7193745" y="4918215"/>
              <a:ext cx="946734" cy="846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25000"/>
                </a:lnSpc>
                <a:spcBef>
                  <a:spcPct val="0"/>
                </a:spcBef>
                <a:spcAft>
                  <a:spcPct val="0"/>
                </a:spcAft>
                <a:buClrTx/>
                <a:buSzTx/>
                <a:buFontTx/>
                <a:buNone/>
              </a:pPr>
              <a:r>
                <a:rPr lang="en-US" altLang="en-US" sz="800" b="0" dirty="0"/>
                <a:t>Volume =</a:t>
              </a:r>
            </a:p>
            <a:p>
              <a:pPr>
                <a:lnSpc>
                  <a:spcPct val="125000"/>
                </a:lnSpc>
                <a:spcBef>
                  <a:spcPct val="0"/>
                </a:spcBef>
                <a:spcAft>
                  <a:spcPct val="0"/>
                </a:spcAft>
                <a:buClrTx/>
                <a:buSzTx/>
                <a:buFontTx/>
                <a:buNone/>
              </a:pPr>
              <a:r>
                <a:rPr lang="en-US" altLang="en-US" sz="800" b="0" dirty="0"/>
                <a:t>Processing Time =</a:t>
              </a:r>
            </a:p>
            <a:p>
              <a:pPr>
                <a:lnSpc>
                  <a:spcPct val="125000"/>
                </a:lnSpc>
                <a:spcBef>
                  <a:spcPct val="0"/>
                </a:spcBef>
                <a:spcAft>
                  <a:spcPct val="0"/>
                </a:spcAft>
                <a:buClrTx/>
                <a:buSzTx/>
                <a:buFontTx/>
                <a:buNone/>
              </a:pPr>
              <a:r>
                <a:rPr lang="en-US" altLang="en-US" sz="800" b="0" dirty="0"/>
                <a:t>DOI = </a:t>
              </a:r>
            </a:p>
            <a:p>
              <a:pPr>
                <a:lnSpc>
                  <a:spcPct val="125000"/>
                </a:lnSpc>
                <a:spcBef>
                  <a:spcPct val="0"/>
                </a:spcBef>
                <a:spcAft>
                  <a:spcPct val="0"/>
                </a:spcAft>
                <a:buClrTx/>
                <a:buSzTx/>
                <a:buFontTx/>
                <a:buNone/>
              </a:pPr>
              <a:r>
                <a:rPr lang="en-US" altLang="en-US" sz="800" b="0" dirty="0"/>
                <a:t>Quality =</a:t>
              </a:r>
            </a:p>
            <a:p>
              <a:pPr>
                <a:lnSpc>
                  <a:spcPct val="125000"/>
                </a:lnSpc>
                <a:spcBef>
                  <a:spcPct val="0"/>
                </a:spcBef>
                <a:spcAft>
                  <a:spcPct val="0"/>
                </a:spcAft>
                <a:buClrTx/>
                <a:buSzTx/>
                <a:buFontTx/>
                <a:buNone/>
              </a:pPr>
              <a:r>
                <a:rPr lang="en-US" altLang="en-US" sz="800" b="0" dirty="0"/>
                <a:t># Rework = </a:t>
              </a:r>
            </a:p>
          </p:txBody>
        </p:sp>
      </p:grpSp>
      <p:sp>
        <p:nvSpPr>
          <p:cNvPr id="336" name="Rectangle 86">
            <a:extLst>
              <a:ext uri="{FF2B5EF4-FFF2-40B4-BE49-F238E27FC236}">
                <a16:creationId xmlns:a16="http://schemas.microsoft.com/office/drawing/2014/main" id="{4548D030-7447-507D-1646-3C89608BCCC5}"/>
              </a:ext>
            </a:extLst>
          </p:cNvPr>
          <p:cNvSpPr>
            <a:spLocks noChangeArrowheads="1"/>
          </p:cNvSpPr>
          <p:nvPr/>
        </p:nvSpPr>
        <p:spPr bwMode="auto">
          <a:xfrm>
            <a:off x="9338505" y="4865893"/>
            <a:ext cx="1022045" cy="84663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12" name="Rectangle 27">
            <a:extLst>
              <a:ext uri="{FF2B5EF4-FFF2-40B4-BE49-F238E27FC236}">
                <a16:creationId xmlns:a16="http://schemas.microsoft.com/office/drawing/2014/main" id="{F1521561-E2D2-AB10-A39B-69FABA554E17}"/>
              </a:ext>
            </a:extLst>
          </p:cNvPr>
          <p:cNvSpPr>
            <a:spLocks noChangeArrowheads="1"/>
          </p:cNvSpPr>
          <p:nvPr/>
        </p:nvSpPr>
        <p:spPr bwMode="auto">
          <a:xfrm>
            <a:off x="9338506" y="4267407"/>
            <a:ext cx="644525" cy="55562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endParaRPr lang="en-US" altLang="en-US" sz="800" b="0">
              <a:solidFill>
                <a:srgbClr val="FF0000"/>
              </a:solidFill>
            </a:endParaRPr>
          </a:p>
        </p:txBody>
      </p:sp>
      <p:sp>
        <p:nvSpPr>
          <p:cNvPr id="313" name="Line 28">
            <a:extLst>
              <a:ext uri="{FF2B5EF4-FFF2-40B4-BE49-F238E27FC236}">
                <a16:creationId xmlns:a16="http://schemas.microsoft.com/office/drawing/2014/main" id="{8CF28AF4-9FD5-2C56-8DAB-866F7625FAFF}"/>
              </a:ext>
            </a:extLst>
          </p:cNvPr>
          <p:cNvSpPr>
            <a:spLocks noChangeShapeType="1"/>
          </p:cNvSpPr>
          <p:nvPr/>
        </p:nvSpPr>
        <p:spPr bwMode="auto">
          <a:xfrm>
            <a:off x="9343268" y="4562682"/>
            <a:ext cx="633413" cy="1587"/>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800"/>
          </a:p>
        </p:txBody>
      </p:sp>
      <p:sp>
        <p:nvSpPr>
          <p:cNvPr id="314" name="Text Box 29">
            <a:extLst>
              <a:ext uri="{FF2B5EF4-FFF2-40B4-BE49-F238E27FC236}">
                <a16:creationId xmlns:a16="http://schemas.microsoft.com/office/drawing/2014/main" id="{6D71C9C4-B9BD-D504-69DB-D1EE2674FCC9}"/>
              </a:ext>
            </a:extLst>
          </p:cNvPr>
          <p:cNvSpPr txBox="1">
            <a:spLocks noChangeArrowheads="1"/>
          </p:cNvSpPr>
          <p:nvPr/>
        </p:nvSpPr>
        <p:spPr bwMode="auto">
          <a:xfrm>
            <a:off x="9362318" y="4229307"/>
            <a:ext cx="60483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800" b="0"/>
              <a:t>Mail Card</a:t>
            </a:r>
          </a:p>
        </p:txBody>
      </p:sp>
      <p:grpSp>
        <p:nvGrpSpPr>
          <p:cNvPr id="315" name="Group 202">
            <a:extLst>
              <a:ext uri="{FF2B5EF4-FFF2-40B4-BE49-F238E27FC236}">
                <a16:creationId xmlns:a16="http://schemas.microsoft.com/office/drawing/2014/main" id="{41BE7654-2B3B-859B-05D7-B88A9B8BB356}"/>
              </a:ext>
            </a:extLst>
          </p:cNvPr>
          <p:cNvGrpSpPr>
            <a:grpSpLocks/>
          </p:cNvGrpSpPr>
          <p:nvPr/>
        </p:nvGrpSpPr>
        <p:grpSpPr bwMode="auto">
          <a:xfrm>
            <a:off x="8970206" y="4502357"/>
            <a:ext cx="454025" cy="903287"/>
            <a:chOff x="4528" y="2665"/>
            <a:chExt cx="286" cy="569"/>
          </a:xfrm>
        </p:grpSpPr>
        <p:sp>
          <p:nvSpPr>
            <p:cNvPr id="316" name="Text Box 203">
              <a:extLst>
                <a:ext uri="{FF2B5EF4-FFF2-40B4-BE49-F238E27FC236}">
                  <a16:creationId xmlns:a16="http://schemas.microsoft.com/office/drawing/2014/main" id="{9F4BC3E8-70A0-8EEA-EDDA-A8B3903F4AA6}"/>
                </a:ext>
              </a:extLst>
            </p:cNvPr>
            <p:cNvSpPr txBox="1">
              <a:spLocks noChangeArrowheads="1"/>
            </p:cNvSpPr>
            <p:nvPr/>
          </p:nvSpPr>
          <p:spPr bwMode="auto">
            <a:xfrm>
              <a:off x="4528" y="2918"/>
              <a:ext cx="28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Aft>
                  <a:spcPct val="0"/>
                </a:spcAft>
                <a:buClrTx/>
                <a:buSzTx/>
                <a:buFontTx/>
                <a:buNone/>
              </a:pPr>
              <a:endParaRPr lang="en-US" altLang="en-US" sz="800" b="0">
                <a:solidFill>
                  <a:srgbClr val="FF0000"/>
                </a:solidFill>
              </a:endParaRPr>
            </a:p>
            <a:p>
              <a:pPr algn="ctr">
                <a:lnSpc>
                  <a:spcPct val="100000"/>
                </a:lnSpc>
                <a:spcAft>
                  <a:spcPct val="0"/>
                </a:spcAft>
                <a:buClrTx/>
                <a:buSzTx/>
                <a:buFontTx/>
                <a:buNone/>
              </a:pPr>
              <a:endParaRPr lang="en-US" altLang="en-US" sz="800" b="0">
                <a:solidFill>
                  <a:srgbClr val="FF0000"/>
                </a:solidFill>
              </a:endParaRPr>
            </a:p>
          </p:txBody>
        </p:sp>
        <p:sp>
          <p:nvSpPr>
            <p:cNvPr id="317" name="Line 204">
              <a:extLst>
                <a:ext uri="{FF2B5EF4-FFF2-40B4-BE49-F238E27FC236}">
                  <a16:creationId xmlns:a16="http://schemas.microsoft.com/office/drawing/2014/main" id="{8615FE56-3AF6-7728-C964-33795CF29B59}"/>
                </a:ext>
              </a:extLst>
            </p:cNvPr>
            <p:cNvSpPr>
              <a:spLocks noChangeShapeType="1"/>
            </p:cNvSpPr>
            <p:nvPr/>
          </p:nvSpPr>
          <p:spPr bwMode="auto">
            <a:xfrm flipV="1">
              <a:off x="4611" y="2757"/>
              <a:ext cx="137" cy="2"/>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800"/>
            </a:p>
          </p:txBody>
        </p:sp>
        <p:sp>
          <p:nvSpPr>
            <p:cNvPr id="318" name="Rectangle 205">
              <a:extLst>
                <a:ext uri="{FF2B5EF4-FFF2-40B4-BE49-F238E27FC236}">
                  <a16:creationId xmlns:a16="http://schemas.microsoft.com/office/drawing/2014/main" id="{56BD69F9-4FF8-E5F5-B877-1BC0F69273CE}"/>
                </a:ext>
              </a:extLst>
            </p:cNvPr>
            <p:cNvSpPr>
              <a:spLocks noChangeArrowheads="1"/>
            </p:cNvSpPr>
            <p:nvPr/>
          </p:nvSpPr>
          <p:spPr bwMode="auto">
            <a:xfrm>
              <a:off x="4603" y="2709"/>
              <a:ext cx="151" cy="16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sp>
          <p:nvSpPr>
            <p:cNvPr id="319" name="AutoShape 206">
              <a:extLst>
                <a:ext uri="{FF2B5EF4-FFF2-40B4-BE49-F238E27FC236}">
                  <a16:creationId xmlns:a16="http://schemas.microsoft.com/office/drawing/2014/main" id="{1EE11A3B-6C3E-BEF0-B7C0-4E43529282D0}"/>
                </a:ext>
              </a:extLst>
            </p:cNvPr>
            <p:cNvSpPr>
              <a:spLocks/>
            </p:cNvSpPr>
            <p:nvPr/>
          </p:nvSpPr>
          <p:spPr bwMode="auto">
            <a:xfrm rot="-5400000">
              <a:off x="4670" y="2598"/>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sp>
          <p:nvSpPr>
            <p:cNvPr id="320" name="AutoShape 207">
              <a:extLst>
                <a:ext uri="{FF2B5EF4-FFF2-40B4-BE49-F238E27FC236}">
                  <a16:creationId xmlns:a16="http://schemas.microsoft.com/office/drawing/2014/main" id="{749ED73C-DA8F-CD71-7B1B-2307EBD58469}"/>
                </a:ext>
              </a:extLst>
            </p:cNvPr>
            <p:cNvSpPr>
              <a:spLocks/>
            </p:cNvSpPr>
            <p:nvPr/>
          </p:nvSpPr>
          <p:spPr bwMode="auto">
            <a:xfrm rot="-5400000">
              <a:off x="4670" y="2607"/>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sp>
          <p:nvSpPr>
            <p:cNvPr id="321" name="AutoShape 208">
              <a:extLst>
                <a:ext uri="{FF2B5EF4-FFF2-40B4-BE49-F238E27FC236}">
                  <a16:creationId xmlns:a16="http://schemas.microsoft.com/office/drawing/2014/main" id="{9A3EE4CA-A065-2B55-A87B-A1320873B311}"/>
                </a:ext>
              </a:extLst>
            </p:cNvPr>
            <p:cNvSpPr>
              <a:spLocks/>
            </p:cNvSpPr>
            <p:nvPr/>
          </p:nvSpPr>
          <p:spPr bwMode="auto">
            <a:xfrm rot="-5400000">
              <a:off x="4670" y="2616"/>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grpSp>
          <p:nvGrpSpPr>
            <p:cNvPr id="322" name="Group 209">
              <a:extLst>
                <a:ext uri="{FF2B5EF4-FFF2-40B4-BE49-F238E27FC236}">
                  <a16:creationId xmlns:a16="http://schemas.microsoft.com/office/drawing/2014/main" id="{B4237FA7-1BDC-7E9B-A3F4-C65CE9AFE7CA}"/>
                </a:ext>
              </a:extLst>
            </p:cNvPr>
            <p:cNvGrpSpPr>
              <a:grpSpLocks/>
            </p:cNvGrpSpPr>
            <p:nvPr/>
          </p:nvGrpSpPr>
          <p:grpSpPr bwMode="auto">
            <a:xfrm>
              <a:off x="4597" y="2898"/>
              <a:ext cx="151" cy="336"/>
              <a:chOff x="576" y="1200"/>
              <a:chExt cx="240" cy="336"/>
            </a:xfrm>
          </p:grpSpPr>
          <p:sp>
            <p:nvSpPr>
              <p:cNvPr id="324" name="Rectangle 210">
                <a:extLst>
                  <a:ext uri="{FF2B5EF4-FFF2-40B4-BE49-F238E27FC236}">
                    <a16:creationId xmlns:a16="http://schemas.microsoft.com/office/drawing/2014/main" id="{655578BF-6A99-A397-B179-73D0BA908502}"/>
                  </a:ext>
                </a:extLst>
              </p:cNvPr>
              <p:cNvSpPr>
                <a:spLocks noChangeArrowheads="1"/>
              </p:cNvSpPr>
              <p:nvPr/>
            </p:nvSpPr>
            <p:spPr bwMode="auto">
              <a:xfrm>
                <a:off x="576" y="1200"/>
                <a:ext cx="240"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800">
                  <a:solidFill>
                    <a:schemeClr val="bg1"/>
                  </a:solidFill>
                </a:endParaRPr>
              </a:p>
            </p:txBody>
          </p:sp>
          <p:sp>
            <p:nvSpPr>
              <p:cNvPr id="325" name="Line 211">
                <a:extLst>
                  <a:ext uri="{FF2B5EF4-FFF2-40B4-BE49-F238E27FC236}">
                    <a16:creationId xmlns:a16="http://schemas.microsoft.com/office/drawing/2014/main" id="{2BA72240-D2B5-7BA6-F94C-FCB83B710A85}"/>
                  </a:ext>
                </a:extLst>
              </p:cNvPr>
              <p:cNvSpPr>
                <a:spLocks noChangeShapeType="1"/>
              </p:cNvSpPr>
              <p:nvPr/>
            </p:nvSpPr>
            <p:spPr bwMode="auto">
              <a:xfrm>
                <a:off x="576" y="139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800"/>
              </a:p>
            </p:txBody>
          </p:sp>
          <p:sp>
            <p:nvSpPr>
              <p:cNvPr id="326" name="Line 212">
                <a:extLst>
                  <a:ext uri="{FF2B5EF4-FFF2-40B4-BE49-F238E27FC236}">
                    <a16:creationId xmlns:a16="http://schemas.microsoft.com/office/drawing/2014/main" id="{2BB999D1-5607-A141-330E-C2C46C349AFE}"/>
                  </a:ext>
                </a:extLst>
              </p:cNvPr>
              <p:cNvSpPr>
                <a:spLocks noChangeShapeType="1"/>
              </p:cNvSpPr>
              <p:nvPr/>
            </p:nvSpPr>
            <p:spPr bwMode="auto">
              <a:xfrm>
                <a:off x="576" y="129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800"/>
              </a:p>
            </p:txBody>
          </p:sp>
        </p:grpSp>
        <p:sp>
          <p:nvSpPr>
            <p:cNvPr id="323" name="Text Box 213">
              <a:extLst>
                <a:ext uri="{FF2B5EF4-FFF2-40B4-BE49-F238E27FC236}">
                  <a16:creationId xmlns:a16="http://schemas.microsoft.com/office/drawing/2014/main" id="{6B9BA1EE-E982-6B61-85EE-852033A6394F}"/>
                </a:ext>
              </a:extLst>
            </p:cNvPr>
            <p:cNvSpPr txBox="1">
              <a:spLocks noChangeArrowheads="1"/>
            </p:cNvSpPr>
            <p:nvPr/>
          </p:nvSpPr>
          <p:spPr bwMode="auto">
            <a:xfrm>
              <a:off x="4582" y="2736"/>
              <a:ext cx="193" cy="13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eaLnBrk="1" hangingPunct="1">
                <a:lnSpc>
                  <a:spcPct val="100000"/>
                </a:lnSpc>
                <a:spcBef>
                  <a:spcPct val="0"/>
                </a:spcBef>
                <a:spcAft>
                  <a:spcPct val="0"/>
                </a:spcAft>
                <a:buClrTx/>
                <a:buSzTx/>
                <a:buFontTx/>
                <a:buNone/>
              </a:pPr>
              <a:r>
                <a:rPr lang="en-US" altLang="en-US" sz="800" b="0" dirty="0"/>
                <a:t>IN</a:t>
              </a:r>
            </a:p>
          </p:txBody>
        </p:sp>
      </p:grpSp>
      <p:sp>
        <p:nvSpPr>
          <p:cNvPr id="327" name="Rectangle 253">
            <a:extLst>
              <a:ext uri="{FF2B5EF4-FFF2-40B4-BE49-F238E27FC236}">
                <a16:creationId xmlns:a16="http://schemas.microsoft.com/office/drawing/2014/main" id="{2679CBCE-8D85-87E7-723E-64286EC1F8B5}"/>
              </a:ext>
            </a:extLst>
          </p:cNvPr>
          <p:cNvSpPr>
            <a:spLocks noChangeArrowheads="1"/>
          </p:cNvSpPr>
          <p:nvPr/>
        </p:nvSpPr>
        <p:spPr bwMode="auto">
          <a:xfrm>
            <a:off x="9316281" y="4829382"/>
            <a:ext cx="946734" cy="846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25000"/>
              </a:lnSpc>
              <a:spcBef>
                <a:spcPct val="0"/>
              </a:spcBef>
              <a:spcAft>
                <a:spcPct val="0"/>
              </a:spcAft>
              <a:buClrTx/>
              <a:buSzTx/>
              <a:buFontTx/>
              <a:buNone/>
            </a:pPr>
            <a:r>
              <a:rPr lang="en-US" altLang="en-US" sz="800" b="0" dirty="0"/>
              <a:t>Volume = </a:t>
            </a:r>
          </a:p>
          <a:p>
            <a:pPr>
              <a:lnSpc>
                <a:spcPct val="125000"/>
              </a:lnSpc>
              <a:spcBef>
                <a:spcPct val="0"/>
              </a:spcBef>
              <a:spcAft>
                <a:spcPct val="0"/>
              </a:spcAft>
              <a:buClrTx/>
              <a:buSzTx/>
              <a:buFontTx/>
              <a:buNone/>
            </a:pPr>
            <a:r>
              <a:rPr lang="en-US" altLang="en-US" sz="800" b="0" dirty="0"/>
              <a:t>Processing Time =</a:t>
            </a:r>
          </a:p>
          <a:p>
            <a:pPr>
              <a:lnSpc>
                <a:spcPct val="125000"/>
              </a:lnSpc>
              <a:spcBef>
                <a:spcPct val="0"/>
              </a:spcBef>
              <a:spcAft>
                <a:spcPct val="0"/>
              </a:spcAft>
              <a:buClrTx/>
              <a:buSzTx/>
              <a:buFontTx/>
              <a:buNone/>
            </a:pPr>
            <a:r>
              <a:rPr lang="en-US" altLang="en-US" sz="800" b="0" dirty="0"/>
              <a:t>DOI =</a:t>
            </a:r>
          </a:p>
          <a:p>
            <a:pPr>
              <a:lnSpc>
                <a:spcPct val="125000"/>
              </a:lnSpc>
              <a:spcBef>
                <a:spcPct val="0"/>
              </a:spcBef>
              <a:spcAft>
                <a:spcPct val="0"/>
              </a:spcAft>
              <a:buClrTx/>
              <a:buSzTx/>
              <a:buFontTx/>
              <a:buNone/>
            </a:pPr>
            <a:r>
              <a:rPr lang="en-US" altLang="en-US" sz="800" b="0" dirty="0"/>
              <a:t>Quality =</a:t>
            </a:r>
          </a:p>
          <a:p>
            <a:pPr>
              <a:lnSpc>
                <a:spcPct val="125000"/>
              </a:lnSpc>
              <a:spcBef>
                <a:spcPct val="0"/>
              </a:spcBef>
              <a:spcAft>
                <a:spcPct val="0"/>
              </a:spcAft>
              <a:buClrTx/>
              <a:buSzTx/>
              <a:buFontTx/>
              <a:buNone/>
            </a:pPr>
            <a:r>
              <a:rPr lang="en-US" altLang="en-US" sz="800" b="0" dirty="0"/>
              <a:t># Rework = </a:t>
            </a:r>
          </a:p>
        </p:txBody>
      </p:sp>
      <p:sp>
        <p:nvSpPr>
          <p:cNvPr id="2" name="Title 1">
            <a:extLst>
              <a:ext uri="{FF2B5EF4-FFF2-40B4-BE49-F238E27FC236}">
                <a16:creationId xmlns:a16="http://schemas.microsoft.com/office/drawing/2014/main" id="{4FD4BA31-4D3B-FA0E-6089-B8825A645E55}"/>
              </a:ext>
            </a:extLst>
          </p:cNvPr>
          <p:cNvSpPr>
            <a:spLocks noGrp="1"/>
          </p:cNvSpPr>
          <p:nvPr>
            <p:ph type="title" idx="4294967295"/>
          </p:nvPr>
        </p:nvSpPr>
        <p:spPr>
          <a:xfrm>
            <a:off x="320633" y="443951"/>
            <a:ext cx="10515600" cy="1009650"/>
          </a:xfrm>
        </p:spPr>
        <p:txBody>
          <a:bodyPr>
            <a:noAutofit/>
          </a:bodyPr>
          <a:lstStyle/>
          <a:p>
            <a:r>
              <a:rPr lang="en-US" altLang="en-US" sz="2800" dirty="0"/>
              <a:t>Carl's Credit Cards Value Stream Mapping Exercise</a:t>
            </a:r>
            <a:endParaRPr lang="en-US" sz="2800" dirty="0"/>
          </a:p>
        </p:txBody>
      </p:sp>
      <p:sp>
        <p:nvSpPr>
          <p:cNvPr id="171" name="Text Box 5">
            <a:extLst>
              <a:ext uri="{FF2B5EF4-FFF2-40B4-BE49-F238E27FC236}">
                <a16:creationId xmlns:a16="http://schemas.microsoft.com/office/drawing/2014/main" id="{3AD06E49-BAE6-EDA8-75E5-CF8BCF5ECBE1}"/>
              </a:ext>
            </a:extLst>
          </p:cNvPr>
          <p:cNvSpPr txBox="1">
            <a:spLocks noChangeArrowheads="1"/>
          </p:cNvSpPr>
          <p:nvPr/>
        </p:nvSpPr>
        <p:spPr bwMode="auto">
          <a:xfrm>
            <a:off x="4329402" y="1690688"/>
            <a:ext cx="23479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1400" dirty="0"/>
              <a:t>Carl’s Credit Cards (CCC)</a:t>
            </a:r>
          </a:p>
        </p:txBody>
      </p:sp>
      <p:sp>
        <p:nvSpPr>
          <p:cNvPr id="182" name="Text Box 84">
            <a:extLst>
              <a:ext uri="{FF2B5EF4-FFF2-40B4-BE49-F238E27FC236}">
                <a16:creationId xmlns:a16="http://schemas.microsoft.com/office/drawing/2014/main" id="{4353F774-51AC-491A-7B8F-0B771758DF87}"/>
              </a:ext>
            </a:extLst>
          </p:cNvPr>
          <p:cNvSpPr txBox="1">
            <a:spLocks noChangeArrowheads="1"/>
          </p:cNvSpPr>
          <p:nvPr/>
        </p:nvSpPr>
        <p:spPr bwMode="auto">
          <a:xfrm>
            <a:off x="3930608" y="2375902"/>
            <a:ext cx="103187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685800" indent="-22860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00000"/>
              </a:lnSpc>
              <a:spcBef>
                <a:spcPct val="0"/>
              </a:spcBef>
              <a:spcAft>
                <a:spcPct val="0"/>
              </a:spcAft>
              <a:buClrTx/>
              <a:buSzTx/>
              <a:buFontTx/>
              <a:buNone/>
            </a:pPr>
            <a:r>
              <a:rPr lang="en-US" altLang="en-US" sz="1000" b="0" dirty="0"/>
              <a:t>Demand =</a:t>
            </a:r>
          </a:p>
        </p:txBody>
      </p:sp>
      <p:grpSp>
        <p:nvGrpSpPr>
          <p:cNvPr id="330" name="Group 6">
            <a:extLst>
              <a:ext uri="{FF2B5EF4-FFF2-40B4-BE49-F238E27FC236}">
                <a16:creationId xmlns:a16="http://schemas.microsoft.com/office/drawing/2014/main" id="{F67FC8C3-B18F-5946-0417-F03625EDAC91}"/>
              </a:ext>
            </a:extLst>
          </p:cNvPr>
          <p:cNvGrpSpPr>
            <a:grpSpLocks/>
          </p:cNvGrpSpPr>
          <p:nvPr/>
        </p:nvGrpSpPr>
        <p:grpSpPr bwMode="auto">
          <a:xfrm>
            <a:off x="1887116" y="1784359"/>
            <a:ext cx="2072066" cy="595312"/>
            <a:chOff x="3503" y="1570"/>
            <a:chExt cx="984" cy="375"/>
          </a:xfrm>
        </p:grpSpPr>
        <p:sp>
          <p:nvSpPr>
            <p:cNvPr id="331" name="Rectangle 7">
              <a:extLst>
                <a:ext uri="{FF2B5EF4-FFF2-40B4-BE49-F238E27FC236}">
                  <a16:creationId xmlns:a16="http://schemas.microsoft.com/office/drawing/2014/main" id="{2283254C-000B-4777-469E-F8E5686BA8CC}"/>
                </a:ext>
              </a:extLst>
            </p:cNvPr>
            <p:cNvSpPr>
              <a:spLocks noChangeArrowheads="1"/>
            </p:cNvSpPr>
            <p:nvPr/>
          </p:nvSpPr>
          <p:spPr bwMode="auto">
            <a:xfrm>
              <a:off x="3503" y="1604"/>
              <a:ext cx="984" cy="341"/>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32" name="Text Box 8">
              <a:extLst>
                <a:ext uri="{FF2B5EF4-FFF2-40B4-BE49-F238E27FC236}">
                  <a16:creationId xmlns:a16="http://schemas.microsoft.com/office/drawing/2014/main" id="{92349E0E-EC47-7132-909F-8D9B7066FE9E}"/>
                </a:ext>
              </a:extLst>
            </p:cNvPr>
            <p:cNvSpPr txBox="1">
              <a:spLocks noChangeArrowheads="1"/>
            </p:cNvSpPr>
            <p:nvPr/>
          </p:nvSpPr>
          <p:spPr bwMode="auto">
            <a:xfrm>
              <a:off x="3601" y="1609"/>
              <a:ext cx="63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5000"/>
                </a:spcBef>
                <a:spcAft>
                  <a:spcPct val="0"/>
                </a:spcAft>
                <a:buClrTx/>
                <a:buSzTx/>
                <a:buFontTx/>
                <a:buNone/>
              </a:pPr>
              <a:endParaRPr lang="en-US" altLang="en-US" sz="800" b="0"/>
            </a:p>
          </p:txBody>
        </p:sp>
        <p:sp>
          <p:nvSpPr>
            <p:cNvPr id="333" name="Line 9">
              <a:extLst>
                <a:ext uri="{FF2B5EF4-FFF2-40B4-BE49-F238E27FC236}">
                  <a16:creationId xmlns:a16="http://schemas.microsoft.com/office/drawing/2014/main" id="{4EF05C34-1663-BF9C-46CF-E5142A48ECB6}"/>
                </a:ext>
              </a:extLst>
            </p:cNvPr>
            <p:cNvSpPr>
              <a:spLocks noChangeShapeType="1"/>
            </p:cNvSpPr>
            <p:nvPr/>
          </p:nvSpPr>
          <p:spPr bwMode="auto">
            <a:xfrm>
              <a:off x="3526" y="1804"/>
              <a:ext cx="445" cy="3"/>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34" name="Rectangle 10">
              <a:extLst>
                <a:ext uri="{FF2B5EF4-FFF2-40B4-BE49-F238E27FC236}">
                  <a16:creationId xmlns:a16="http://schemas.microsoft.com/office/drawing/2014/main" id="{A4249FEF-FFFB-0457-9CA1-8A5599F62AE1}"/>
                </a:ext>
              </a:extLst>
            </p:cNvPr>
            <p:cNvSpPr>
              <a:spLocks noChangeArrowheads="1"/>
            </p:cNvSpPr>
            <p:nvPr/>
          </p:nvSpPr>
          <p:spPr bwMode="auto">
            <a:xfrm>
              <a:off x="3709" y="1570"/>
              <a:ext cx="524"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1000" dirty="0"/>
                <a:t>Takt Time</a:t>
              </a:r>
            </a:p>
          </p:txBody>
        </p:sp>
      </p:grpSp>
      <p:sp>
        <p:nvSpPr>
          <p:cNvPr id="335" name="Text Box 84">
            <a:extLst>
              <a:ext uri="{FF2B5EF4-FFF2-40B4-BE49-F238E27FC236}">
                <a16:creationId xmlns:a16="http://schemas.microsoft.com/office/drawing/2014/main" id="{D11E72AC-6D47-389D-B379-03AB04E950AA}"/>
              </a:ext>
            </a:extLst>
          </p:cNvPr>
          <p:cNvSpPr txBox="1">
            <a:spLocks noChangeArrowheads="1"/>
          </p:cNvSpPr>
          <p:nvPr/>
        </p:nvSpPr>
        <p:spPr bwMode="auto">
          <a:xfrm>
            <a:off x="2915611" y="2036086"/>
            <a:ext cx="23828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14300" indent="-114300">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685800" indent="-22860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00000"/>
              </a:lnSpc>
              <a:spcBef>
                <a:spcPct val="0"/>
              </a:spcBef>
              <a:spcAft>
                <a:spcPct val="0"/>
              </a:spcAft>
              <a:buClrTx/>
              <a:buSzTx/>
              <a:buFontTx/>
              <a:buNone/>
            </a:pPr>
            <a:r>
              <a:rPr lang="en-US" altLang="en-US" sz="1000" b="0" dirty="0"/>
              <a:t>=</a:t>
            </a:r>
          </a:p>
        </p:txBody>
      </p:sp>
      <p:grpSp>
        <p:nvGrpSpPr>
          <p:cNvPr id="345" name="Group 344">
            <a:extLst>
              <a:ext uri="{FF2B5EF4-FFF2-40B4-BE49-F238E27FC236}">
                <a16:creationId xmlns:a16="http://schemas.microsoft.com/office/drawing/2014/main" id="{91718846-4832-3B1D-141E-A43700C90015}"/>
              </a:ext>
            </a:extLst>
          </p:cNvPr>
          <p:cNvGrpSpPr/>
          <p:nvPr/>
        </p:nvGrpSpPr>
        <p:grpSpPr>
          <a:xfrm>
            <a:off x="1421294" y="5961523"/>
            <a:ext cx="8509000" cy="273050"/>
            <a:chOff x="184150" y="5786438"/>
            <a:chExt cx="8509000" cy="273050"/>
          </a:xfrm>
        </p:grpSpPr>
        <p:sp>
          <p:nvSpPr>
            <p:cNvPr id="346" name="Line 95">
              <a:extLst>
                <a:ext uri="{FF2B5EF4-FFF2-40B4-BE49-F238E27FC236}">
                  <a16:creationId xmlns:a16="http://schemas.microsoft.com/office/drawing/2014/main" id="{314B9438-82EE-63E2-440B-58476D53CD0A}"/>
                </a:ext>
              </a:extLst>
            </p:cNvPr>
            <p:cNvSpPr>
              <a:spLocks noChangeShapeType="1"/>
            </p:cNvSpPr>
            <p:nvPr/>
          </p:nvSpPr>
          <p:spPr bwMode="auto">
            <a:xfrm flipV="1">
              <a:off x="7321550" y="5786438"/>
              <a:ext cx="736600" cy="635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47" name="Line 96">
              <a:extLst>
                <a:ext uri="{FF2B5EF4-FFF2-40B4-BE49-F238E27FC236}">
                  <a16:creationId xmlns:a16="http://schemas.microsoft.com/office/drawing/2014/main" id="{A99C9A66-FFE6-78A1-FC80-82250873FBE5}"/>
                </a:ext>
              </a:extLst>
            </p:cNvPr>
            <p:cNvSpPr>
              <a:spLocks noChangeShapeType="1"/>
            </p:cNvSpPr>
            <p:nvPr/>
          </p:nvSpPr>
          <p:spPr bwMode="auto">
            <a:xfrm>
              <a:off x="8064500" y="6059488"/>
              <a:ext cx="62865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48" name="Line 97">
              <a:extLst>
                <a:ext uri="{FF2B5EF4-FFF2-40B4-BE49-F238E27FC236}">
                  <a16:creationId xmlns:a16="http://schemas.microsoft.com/office/drawing/2014/main" id="{1437D5E8-D4CD-7ACB-4E11-BD2C8570ECA6}"/>
                </a:ext>
              </a:extLst>
            </p:cNvPr>
            <p:cNvSpPr>
              <a:spLocks noChangeShapeType="1"/>
            </p:cNvSpPr>
            <p:nvPr/>
          </p:nvSpPr>
          <p:spPr bwMode="auto">
            <a:xfrm>
              <a:off x="6305550" y="5792788"/>
              <a:ext cx="2794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49" name="Line 98">
              <a:extLst>
                <a:ext uri="{FF2B5EF4-FFF2-40B4-BE49-F238E27FC236}">
                  <a16:creationId xmlns:a16="http://schemas.microsoft.com/office/drawing/2014/main" id="{7BF3BECC-4B6C-8E75-29FD-CD5884990267}"/>
                </a:ext>
              </a:extLst>
            </p:cNvPr>
            <p:cNvSpPr>
              <a:spLocks noChangeShapeType="1"/>
            </p:cNvSpPr>
            <p:nvPr/>
          </p:nvSpPr>
          <p:spPr bwMode="auto">
            <a:xfrm>
              <a:off x="5327650" y="5792788"/>
              <a:ext cx="29845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0" name="Line 99">
              <a:extLst>
                <a:ext uri="{FF2B5EF4-FFF2-40B4-BE49-F238E27FC236}">
                  <a16:creationId xmlns:a16="http://schemas.microsoft.com/office/drawing/2014/main" id="{999CF186-A42E-88D7-BFAF-9D4634DCDDBB}"/>
                </a:ext>
              </a:extLst>
            </p:cNvPr>
            <p:cNvSpPr>
              <a:spLocks noChangeShapeType="1"/>
            </p:cNvSpPr>
            <p:nvPr/>
          </p:nvSpPr>
          <p:spPr bwMode="auto">
            <a:xfrm>
              <a:off x="4286250" y="5792788"/>
              <a:ext cx="3683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1" name="Line 100">
              <a:extLst>
                <a:ext uri="{FF2B5EF4-FFF2-40B4-BE49-F238E27FC236}">
                  <a16:creationId xmlns:a16="http://schemas.microsoft.com/office/drawing/2014/main" id="{43437222-F7F4-ED3A-3ACA-C941386BA48C}"/>
                </a:ext>
              </a:extLst>
            </p:cNvPr>
            <p:cNvSpPr>
              <a:spLocks noChangeShapeType="1"/>
            </p:cNvSpPr>
            <p:nvPr/>
          </p:nvSpPr>
          <p:spPr bwMode="auto">
            <a:xfrm>
              <a:off x="3295650" y="5792788"/>
              <a:ext cx="287338"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2" name="Line 101">
              <a:extLst>
                <a:ext uri="{FF2B5EF4-FFF2-40B4-BE49-F238E27FC236}">
                  <a16:creationId xmlns:a16="http://schemas.microsoft.com/office/drawing/2014/main" id="{EC3684AA-7577-4623-F767-E4C1D2A3B256}"/>
                </a:ext>
              </a:extLst>
            </p:cNvPr>
            <p:cNvSpPr>
              <a:spLocks noChangeShapeType="1"/>
            </p:cNvSpPr>
            <p:nvPr/>
          </p:nvSpPr>
          <p:spPr bwMode="auto">
            <a:xfrm>
              <a:off x="2284413" y="5788025"/>
              <a:ext cx="306387" cy="4763"/>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3" name="Line 102">
              <a:extLst>
                <a:ext uri="{FF2B5EF4-FFF2-40B4-BE49-F238E27FC236}">
                  <a16:creationId xmlns:a16="http://schemas.microsoft.com/office/drawing/2014/main" id="{31E55332-A3B5-1D43-1B96-39A9CEC8FDA4}"/>
                </a:ext>
              </a:extLst>
            </p:cNvPr>
            <p:cNvSpPr>
              <a:spLocks noChangeShapeType="1"/>
            </p:cNvSpPr>
            <p:nvPr/>
          </p:nvSpPr>
          <p:spPr bwMode="auto">
            <a:xfrm>
              <a:off x="1300163" y="5792788"/>
              <a:ext cx="315912"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4" name="Line 103">
              <a:extLst>
                <a:ext uri="{FF2B5EF4-FFF2-40B4-BE49-F238E27FC236}">
                  <a16:creationId xmlns:a16="http://schemas.microsoft.com/office/drawing/2014/main" id="{0855DD36-B3CD-CD36-E157-473244236FC1}"/>
                </a:ext>
              </a:extLst>
            </p:cNvPr>
            <p:cNvSpPr>
              <a:spLocks noChangeShapeType="1"/>
            </p:cNvSpPr>
            <p:nvPr/>
          </p:nvSpPr>
          <p:spPr bwMode="auto">
            <a:xfrm>
              <a:off x="184150" y="5792788"/>
              <a:ext cx="473075"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5" name="Line 104">
              <a:extLst>
                <a:ext uri="{FF2B5EF4-FFF2-40B4-BE49-F238E27FC236}">
                  <a16:creationId xmlns:a16="http://schemas.microsoft.com/office/drawing/2014/main" id="{EEDEF3C9-A6D1-57A5-D7A6-94FB40FE4339}"/>
                </a:ext>
              </a:extLst>
            </p:cNvPr>
            <p:cNvSpPr>
              <a:spLocks noChangeShapeType="1"/>
            </p:cNvSpPr>
            <p:nvPr/>
          </p:nvSpPr>
          <p:spPr bwMode="auto">
            <a:xfrm>
              <a:off x="6588125" y="6059488"/>
              <a:ext cx="733425"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6" name="Line 105">
              <a:extLst>
                <a:ext uri="{FF2B5EF4-FFF2-40B4-BE49-F238E27FC236}">
                  <a16:creationId xmlns:a16="http://schemas.microsoft.com/office/drawing/2014/main" id="{21E568AA-5C57-6A9B-9D07-499D3BDD71E4}"/>
                </a:ext>
              </a:extLst>
            </p:cNvPr>
            <p:cNvSpPr>
              <a:spLocks noChangeShapeType="1"/>
            </p:cNvSpPr>
            <p:nvPr/>
          </p:nvSpPr>
          <p:spPr bwMode="auto">
            <a:xfrm>
              <a:off x="5638800" y="6059488"/>
              <a:ext cx="657225"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7" name="Line 106">
              <a:extLst>
                <a:ext uri="{FF2B5EF4-FFF2-40B4-BE49-F238E27FC236}">
                  <a16:creationId xmlns:a16="http://schemas.microsoft.com/office/drawing/2014/main" id="{FC14B8C6-8B74-B14E-F750-6EDA8F980AC9}"/>
                </a:ext>
              </a:extLst>
            </p:cNvPr>
            <p:cNvSpPr>
              <a:spLocks noChangeShapeType="1"/>
            </p:cNvSpPr>
            <p:nvPr/>
          </p:nvSpPr>
          <p:spPr bwMode="auto">
            <a:xfrm>
              <a:off x="4679950" y="6059488"/>
              <a:ext cx="62865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8" name="Line 107">
              <a:extLst>
                <a:ext uri="{FF2B5EF4-FFF2-40B4-BE49-F238E27FC236}">
                  <a16:creationId xmlns:a16="http://schemas.microsoft.com/office/drawing/2014/main" id="{A5C3AC67-A6D6-02ED-2EB7-625EDE4576E9}"/>
                </a:ext>
              </a:extLst>
            </p:cNvPr>
            <p:cNvSpPr>
              <a:spLocks noChangeShapeType="1"/>
            </p:cNvSpPr>
            <p:nvPr/>
          </p:nvSpPr>
          <p:spPr bwMode="auto">
            <a:xfrm>
              <a:off x="3592513" y="6059488"/>
              <a:ext cx="681037"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9" name="Line 108">
              <a:extLst>
                <a:ext uri="{FF2B5EF4-FFF2-40B4-BE49-F238E27FC236}">
                  <a16:creationId xmlns:a16="http://schemas.microsoft.com/office/drawing/2014/main" id="{CA6EE68C-3ACC-07A5-5F67-29B70756CC3E}"/>
                </a:ext>
              </a:extLst>
            </p:cNvPr>
            <p:cNvSpPr>
              <a:spLocks noChangeShapeType="1"/>
            </p:cNvSpPr>
            <p:nvPr/>
          </p:nvSpPr>
          <p:spPr bwMode="auto">
            <a:xfrm>
              <a:off x="2584450" y="6059488"/>
              <a:ext cx="69215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60" name="Line 109">
              <a:extLst>
                <a:ext uri="{FF2B5EF4-FFF2-40B4-BE49-F238E27FC236}">
                  <a16:creationId xmlns:a16="http://schemas.microsoft.com/office/drawing/2014/main" id="{DC4E1FD2-593C-74ED-01BA-7BB0C8D3B92F}"/>
                </a:ext>
              </a:extLst>
            </p:cNvPr>
            <p:cNvSpPr>
              <a:spLocks noChangeShapeType="1"/>
            </p:cNvSpPr>
            <p:nvPr/>
          </p:nvSpPr>
          <p:spPr bwMode="auto">
            <a:xfrm>
              <a:off x="1625600" y="6059488"/>
              <a:ext cx="638175"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61" name="Line 110">
              <a:extLst>
                <a:ext uri="{FF2B5EF4-FFF2-40B4-BE49-F238E27FC236}">
                  <a16:creationId xmlns:a16="http://schemas.microsoft.com/office/drawing/2014/main" id="{D2D2A2DC-F318-4E5F-7667-1FF31124A3C4}"/>
                </a:ext>
              </a:extLst>
            </p:cNvPr>
            <p:cNvSpPr>
              <a:spLocks noChangeShapeType="1"/>
            </p:cNvSpPr>
            <p:nvPr/>
          </p:nvSpPr>
          <p:spPr bwMode="auto">
            <a:xfrm>
              <a:off x="650875" y="6059488"/>
              <a:ext cx="638175"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cxnSp>
          <p:nvCxnSpPr>
            <p:cNvPr id="362" name="AutoShape 111">
              <a:extLst>
                <a:ext uri="{FF2B5EF4-FFF2-40B4-BE49-F238E27FC236}">
                  <a16:creationId xmlns:a16="http://schemas.microsoft.com/office/drawing/2014/main" id="{B99F53CA-A588-97A8-D896-DEF3F38FBECF}"/>
                </a:ext>
              </a:extLst>
            </p:cNvPr>
            <p:cNvCxnSpPr>
              <a:cxnSpLocks noChangeShapeType="1"/>
            </p:cNvCxnSpPr>
            <p:nvPr/>
          </p:nvCxnSpPr>
          <p:spPr bwMode="auto">
            <a:xfrm>
              <a:off x="652463" y="5792788"/>
              <a:ext cx="0" cy="26035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3" name="AutoShape 112">
              <a:extLst>
                <a:ext uri="{FF2B5EF4-FFF2-40B4-BE49-F238E27FC236}">
                  <a16:creationId xmlns:a16="http://schemas.microsoft.com/office/drawing/2014/main" id="{2E4D3399-1795-A5D1-16E5-29D762D35837}"/>
                </a:ext>
              </a:extLst>
            </p:cNvPr>
            <p:cNvCxnSpPr>
              <a:cxnSpLocks noChangeShapeType="1"/>
              <a:endCxn id="353" idx="0"/>
            </p:cNvCxnSpPr>
            <p:nvPr/>
          </p:nvCxnSpPr>
          <p:spPr bwMode="auto">
            <a:xfrm flipV="1">
              <a:off x="1298575" y="5792788"/>
              <a:ext cx="1588"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4" name="AutoShape 113">
              <a:extLst>
                <a:ext uri="{FF2B5EF4-FFF2-40B4-BE49-F238E27FC236}">
                  <a16:creationId xmlns:a16="http://schemas.microsoft.com/office/drawing/2014/main" id="{D8FDCCD6-A819-CCC2-52B2-432CA16742D0}"/>
                </a:ext>
              </a:extLst>
            </p:cNvPr>
            <p:cNvCxnSpPr>
              <a:cxnSpLocks noChangeShapeType="1"/>
            </p:cNvCxnSpPr>
            <p:nvPr/>
          </p:nvCxnSpPr>
          <p:spPr bwMode="auto">
            <a:xfrm>
              <a:off x="1620838" y="5792788"/>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5" name="AutoShape 114">
              <a:extLst>
                <a:ext uri="{FF2B5EF4-FFF2-40B4-BE49-F238E27FC236}">
                  <a16:creationId xmlns:a16="http://schemas.microsoft.com/office/drawing/2014/main" id="{9DC7D8FB-E993-7944-6BAA-3AD970F67CD4}"/>
                </a:ext>
              </a:extLst>
            </p:cNvPr>
            <p:cNvCxnSpPr>
              <a:cxnSpLocks noChangeShapeType="1"/>
              <a:endCxn id="352" idx="0"/>
            </p:cNvCxnSpPr>
            <p:nvPr/>
          </p:nvCxnSpPr>
          <p:spPr bwMode="auto">
            <a:xfrm flipV="1">
              <a:off x="2278063" y="5788025"/>
              <a:ext cx="635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6" name="AutoShape 115">
              <a:extLst>
                <a:ext uri="{FF2B5EF4-FFF2-40B4-BE49-F238E27FC236}">
                  <a16:creationId xmlns:a16="http://schemas.microsoft.com/office/drawing/2014/main" id="{6BCA697A-F06E-A725-4D82-426EB1400D1B}"/>
                </a:ext>
              </a:extLst>
            </p:cNvPr>
            <p:cNvCxnSpPr>
              <a:cxnSpLocks noChangeShapeType="1"/>
              <a:stCxn id="352" idx="1"/>
              <a:endCxn id="359" idx="0"/>
            </p:cNvCxnSpPr>
            <p:nvPr/>
          </p:nvCxnSpPr>
          <p:spPr bwMode="auto">
            <a:xfrm flipH="1">
              <a:off x="2584450" y="5792788"/>
              <a:ext cx="635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7" name="AutoShape 116">
              <a:extLst>
                <a:ext uri="{FF2B5EF4-FFF2-40B4-BE49-F238E27FC236}">
                  <a16:creationId xmlns:a16="http://schemas.microsoft.com/office/drawing/2014/main" id="{8463F393-4F36-B804-0A0C-275B284A7870}"/>
                </a:ext>
              </a:extLst>
            </p:cNvPr>
            <p:cNvCxnSpPr>
              <a:cxnSpLocks noChangeShapeType="1"/>
            </p:cNvCxnSpPr>
            <p:nvPr/>
          </p:nvCxnSpPr>
          <p:spPr bwMode="auto">
            <a:xfrm flipV="1">
              <a:off x="5321300" y="5792788"/>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8" name="AutoShape 117">
              <a:extLst>
                <a:ext uri="{FF2B5EF4-FFF2-40B4-BE49-F238E27FC236}">
                  <a16:creationId xmlns:a16="http://schemas.microsoft.com/office/drawing/2014/main" id="{375D6571-DF8A-6A07-0757-211A47C64031}"/>
                </a:ext>
              </a:extLst>
            </p:cNvPr>
            <p:cNvCxnSpPr>
              <a:cxnSpLocks noChangeShapeType="1"/>
            </p:cNvCxnSpPr>
            <p:nvPr/>
          </p:nvCxnSpPr>
          <p:spPr bwMode="auto">
            <a:xfrm flipV="1">
              <a:off x="3281363" y="5792788"/>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9" name="AutoShape 118">
              <a:extLst>
                <a:ext uri="{FF2B5EF4-FFF2-40B4-BE49-F238E27FC236}">
                  <a16:creationId xmlns:a16="http://schemas.microsoft.com/office/drawing/2014/main" id="{598B55C2-D420-DA94-B563-706458BE6006}"/>
                </a:ext>
              </a:extLst>
            </p:cNvPr>
            <p:cNvCxnSpPr>
              <a:cxnSpLocks noChangeShapeType="1"/>
            </p:cNvCxnSpPr>
            <p:nvPr/>
          </p:nvCxnSpPr>
          <p:spPr bwMode="auto">
            <a:xfrm flipV="1">
              <a:off x="8058150" y="5792788"/>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0" name="AutoShape 119">
              <a:extLst>
                <a:ext uri="{FF2B5EF4-FFF2-40B4-BE49-F238E27FC236}">
                  <a16:creationId xmlns:a16="http://schemas.microsoft.com/office/drawing/2014/main" id="{803A3796-45C2-781E-F675-E243B4EE911B}"/>
                </a:ext>
              </a:extLst>
            </p:cNvPr>
            <p:cNvCxnSpPr>
              <a:cxnSpLocks noChangeShapeType="1"/>
            </p:cNvCxnSpPr>
            <p:nvPr/>
          </p:nvCxnSpPr>
          <p:spPr bwMode="auto">
            <a:xfrm flipV="1">
              <a:off x="3595688" y="5792788"/>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1" name="AutoShape 120">
              <a:extLst>
                <a:ext uri="{FF2B5EF4-FFF2-40B4-BE49-F238E27FC236}">
                  <a16:creationId xmlns:a16="http://schemas.microsoft.com/office/drawing/2014/main" id="{908E7B40-C2A1-4DBF-FDA9-E60945ADEDFF}"/>
                </a:ext>
              </a:extLst>
            </p:cNvPr>
            <p:cNvCxnSpPr>
              <a:cxnSpLocks noChangeShapeType="1"/>
            </p:cNvCxnSpPr>
            <p:nvPr/>
          </p:nvCxnSpPr>
          <p:spPr bwMode="auto">
            <a:xfrm flipV="1">
              <a:off x="4273550" y="5792788"/>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2" name="AutoShape 121">
              <a:extLst>
                <a:ext uri="{FF2B5EF4-FFF2-40B4-BE49-F238E27FC236}">
                  <a16:creationId xmlns:a16="http://schemas.microsoft.com/office/drawing/2014/main" id="{E6E38F21-DF39-82C2-8861-5DE3101E560C}"/>
                </a:ext>
              </a:extLst>
            </p:cNvPr>
            <p:cNvCxnSpPr>
              <a:cxnSpLocks noChangeShapeType="1"/>
            </p:cNvCxnSpPr>
            <p:nvPr/>
          </p:nvCxnSpPr>
          <p:spPr bwMode="auto">
            <a:xfrm flipV="1">
              <a:off x="4667250" y="5792788"/>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3" name="AutoShape 122">
              <a:extLst>
                <a:ext uri="{FF2B5EF4-FFF2-40B4-BE49-F238E27FC236}">
                  <a16:creationId xmlns:a16="http://schemas.microsoft.com/office/drawing/2014/main" id="{33AB1E36-1F96-A7A8-0EE0-888076EA904B}"/>
                </a:ext>
              </a:extLst>
            </p:cNvPr>
            <p:cNvCxnSpPr>
              <a:cxnSpLocks noChangeShapeType="1"/>
            </p:cNvCxnSpPr>
            <p:nvPr/>
          </p:nvCxnSpPr>
          <p:spPr bwMode="auto">
            <a:xfrm flipV="1">
              <a:off x="5638800" y="5792788"/>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4" name="AutoShape 123">
              <a:extLst>
                <a:ext uri="{FF2B5EF4-FFF2-40B4-BE49-F238E27FC236}">
                  <a16:creationId xmlns:a16="http://schemas.microsoft.com/office/drawing/2014/main" id="{DD101E0F-0CFA-12D4-82EB-AF269406A61E}"/>
                </a:ext>
              </a:extLst>
            </p:cNvPr>
            <p:cNvCxnSpPr>
              <a:cxnSpLocks noChangeShapeType="1"/>
            </p:cNvCxnSpPr>
            <p:nvPr/>
          </p:nvCxnSpPr>
          <p:spPr bwMode="auto">
            <a:xfrm flipV="1">
              <a:off x="6299200" y="5792788"/>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5" name="AutoShape 124">
              <a:extLst>
                <a:ext uri="{FF2B5EF4-FFF2-40B4-BE49-F238E27FC236}">
                  <a16:creationId xmlns:a16="http://schemas.microsoft.com/office/drawing/2014/main" id="{A4A75BB5-ED57-3B4C-8E3C-9E8F8F0E08A3}"/>
                </a:ext>
              </a:extLst>
            </p:cNvPr>
            <p:cNvCxnSpPr>
              <a:cxnSpLocks noChangeShapeType="1"/>
            </p:cNvCxnSpPr>
            <p:nvPr/>
          </p:nvCxnSpPr>
          <p:spPr bwMode="auto">
            <a:xfrm flipV="1">
              <a:off x="6589713" y="5792788"/>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6" name="AutoShape 125">
              <a:extLst>
                <a:ext uri="{FF2B5EF4-FFF2-40B4-BE49-F238E27FC236}">
                  <a16:creationId xmlns:a16="http://schemas.microsoft.com/office/drawing/2014/main" id="{53A7427E-FFFB-5ACE-4A45-7C506B38EDD3}"/>
                </a:ext>
              </a:extLst>
            </p:cNvPr>
            <p:cNvCxnSpPr>
              <a:cxnSpLocks noChangeShapeType="1"/>
            </p:cNvCxnSpPr>
            <p:nvPr/>
          </p:nvCxnSpPr>
          <p:spPr bwMode="auto">
            <a:xfrm flipV="1">
              <a:off x="7321550" y="5792788"/>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81" name="Text Box 142">
            <a:extLst>
              <a:ext uri="{FF2B5EF4-FFF2-40B4-BE49-F238E27FC236}">
                <a16:creationId xmlns:a16="http://schemas.microsoft.com/office/drawing/2014/main" id="{75C97AC8-70DF-089C-B5A0-5ADCA138DE27}"/>
              </a:ext>
            </a:extLst>
          </p:cNvPr>
          <p:cNvSpPr txBox="1">
            <a:spLocks noChangeArrowheads="1"/>
          </p:cNvSpPr>
          <p:nvPr/>
        </p:nvSpPr>
        <p:spPr bwMode="auto">
          <a:xfrm>
            <a:off x="9930294" y="5744982"/>
            <a:ext cx="737192" cy="583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200000"/>
              </a:lnSpc>
              <a:spcBef>
                <a:spcPct val="30000"/>
              </a:spcBef>
              <a:spcAft>
                <a:spcPct val="0"/>
              </a:spcAft>
              <a:buClrTx/>
              <a:buSzTx/>
              <a:buFontTx/>
              <a:buNone/>
            </a:pPr>
            <a:r>
              <a:rPr lang="en-US" altLang="en-US" sz="800" dirty="0"/>
              <a:t>P.T. =    </a:t>
            </a:r>
          </a:p>
          <a:p>
            <a:pPr>
              <a:lnSpc>
                <a:spcPct val="200000"/>
              </a:lnSpc>
              <a:spcBef>
                <a:spcPct val="30000"/>
              </a:spcBef>
              <a:spcAft>
                <a:spcPct val="0"/>
              </a:spcAft>
              <a:buClrTx/>
              <a:buSzTx/>
              <a:buFontTx/>
              <a:buNone/>
            </a:pPr>
            <a:r>
              <a:rPr lang="en-US" altLang="en-US" sz="800" dirty="0"/>
              <a:t>L.T. =</a:t>
            </a:r>
          </a:p>
        </p:txBody>
      </p:sp>
      <p:sp>
        <p:nvSpPr>
          <p:cNvPr id="382" name="Line 143">
            <a:extLst>
              <a:ext uri="{FF2B5EF4-FFF2-40B4-BE49-F238E27FC236}">
                <a16:creationId xmlns:a16="http://schemas.microsoft.com/office/drawing/2014/main" id="{5F964105-8B69-8855-9D3A-BDDAFC5D381D}"/>
              </a:ext>
            </a:extLst>
          </p:cNvPr>
          <p:cNvSpPr>
            <a:spLocks noChangeShapeType="1"/>
          </p:cNvSpPr>
          <p:nvPr/>
        </p:nvSpPr>
        <p:spPr bwMode="auto">
          <a:xfrm flipV="1">
            <a:off x="9960877" y="6045263"/>
            <a:ext cx="931513"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83" name="Rectangle 144">
            <a:extLst>
              <a:ext uri="{FF2B5EF4-FFF2-40B4-BE49-F238E27FC236}">
                <a16:creationId xmlns:a16="http://schemas.microsoft.com/office/drawing/2014/main" id="{921BAA65-33B5-1F06-4DB1-C3F81E265E17}"/>
              </a:ext>
            </a:extLst>
          </p:cNvPr>
          <p:cNvSpPr>
            <a:spLocks noChangeArrowheads="1"/>
          </p:cNvSpPr>
          <p:nvPr/>
        </p:nvSpPr>
        <p:spPr bwMode="auto">
          <a:xfrm>
            <a:off x="9960877" y="5753808"/>
            <a:ext cx="932592" cy="551156"/>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 name="Slide Number Placeholder 2">
            <a:extLst>
              <a:ext uri="{FF2B5EF4-FFF2-40B4-BE49-F238E27FC236}">
                <a16:creationId xmlns:a16="http://schemas.microsoft.com/office/drawing/2014/main" id="{154A836D-6B43-492C-35B8-ED5C7288AF09}"/>
              </a:ext>
            </a:extLst>
          </p:cNvPr>
          <p:cNvSpPr txBox="1">
            <a:spLocks/>
          </p:cNvSpPr>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2</a:t>
            </a:fld>
            <a:endParaRPr lang="en-US" dirty="0"/>
          </a:p>
        </p:txBody>
      </p:sp>
    </p:spTree>
    <p:extLst>
      <p:ext uri="{BB962C8B-B14F-4D97-AF65-F5344CB8AC3E}">
        <p14:creationId xmlns:p14="http://schemas.microsoft.com/office/powerpoint/2010/main" val="33703043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52992F-1E41-CEF5-67CE-D2E60DC42BF8}"/>
              </a:ext>
            </a:extLst>
          </p:cNvPr>
          <p:cNvSpPr>
            <a:spLocks noGrp="1"/>
          </p:cNvSpPr>
          <p:nvPr>
            <p:ph type="title"/>
          </p:nvPr>
        </p:nvSpPr>
        <p:spPr/>
        <p:txBody>
          <a:bodyPr/>
          <a:lstStyle/>
          <a:p>
            <a:r>
              <a:rPr lang="en-US" altLang="en-US" dirty="0"/>
              <a:t>Exercise: Carl’s Credit Cards</a:t>
            </a:r>
            <a:endParaRPr lang="en-US" dirty="0"/>
          </a:p>
        </p:txBody>
      </p:sp>
      <p:sp>
        <p:nvSpPr>
          <p:cNvPr id="4" name="Rectangle 3">
            <a:extLst>
              <a:ext uri="{FF2B5EF4-FFF2-40B4-BE49-F238E27FC236}">
                <a16:creationId xmlns:a16="http://schemas.microsoft.com/office/drawing/2014/main" id="{817E7460-1035-4C22-7769-B814F2BA6497}"/>
              </a:ext>
            </a:extLst>
          </p:cNvPr>
          <p:cNvSpPr>
            <a:spLocks noChangeArrowheads="1"/>
          </p:cNvSpPr>
          <p:nvPr/>
        </p:nvSpPr>
        <p:spPr bwMode="auto">
          <a:xfrm>
            <a:off x="6462712" y="4645026"/>
            <a:ext cx="4227096" cy="1676400"/>
          </a:xfrm>
          <a:prstGeom prst="rect">
            <a:avLst/>
          </a:prstGeom>
          <a:solidFill>
            <a:srgbClr val="EE3228"/>
          </a:solidFill>
          <a:ln w="19050" cap="rnd" algn="ctr">
            <a:solidFill>
              <a:schemeClr val="tx1"/>
            </a:solidFill>
            <a:prstDash val="sysDot"/>
            <a:miter lim="800000"/>
            <a:headEnd/>
            <a:tailEnd/>
          </a:ln>
          <a:effec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00000"/>
              </a:lnSpc>
              <a:spcBef>
                <a:spcPct val="30000"/>
              </a:spcBef>
              <a:spcAft>
                <a:spcPct val="0"/>
              </a:spcAft>
              <a:buClrTx/>
              <a:buSzTx/>
              <a:buFontTx/>
              <a:buNone/>
            </a:pPr>
            <a:r>
              <a:rPr lang="en-US" altLang="en-US" sz="1600" dirty="0">
                <a:solidFill>
                  <a:schemeClr val="bg1"/>
                </a:solidFill>
              </a:rPr>
              <a:t>One person from each </a:t>
            </a:r>
            <a:br>
              <a:rPr lang="en-US" altLang="en-US" sz="1600" dirty="0">
                <a:solidFill>
                  <a:schemeClr val="bg1"/>
                </a:solidFill>
              </a:rPr>
            </a:br>
            <a:r>
              <a:rPr lang="en-US" altLang="en-US" sz="1600" dirty="0">
                <a:solidFill>
                  <a:schemeClr val="bg1"/>
                </a:solidFill>
              </a:rPr>
              <a:t>group will present map </a:t>
            </a:r>
            <a:br>
              <a:rPr lang="en-US" altLang="en-US" sz="1600" dirty="0">
                <a:solidFill>
                  <a:schemeClr val="bg1"/>
                </a:solidFill>
              </a:rPr>
            </a:br>
            <a:r>
              <a:rPr lang="en-US" altLang="en-US" sz="1600" dirty="0">
                <a:solidFill>
                  <a:schemeClr val="bg1"/>
                </a:solidFill>
              </a:rPr>
              <a:t>to the class. </a:t>
            </a:r>
          </a:p>
          <a:p>
            <a:pPr>
              <a:lnSpc>
                <a:spcPct val="100000"/>
              </a:lnSpc>
              <a:spcBef>
                <a:spcPct val="30000"/>
              </a:spcBef>
              <a:spcAft>
                <a:spcPct val="0"/>
              </a:spcAft>
              <a:buClrTx/>
              <a:buSzTx/>
              <a:buFontTx/>
              <a:buNone/>
            </a:pPr>
            <a:r>
              <a:rPr lang="en-US" altLang="en-US" sz="1600" dirty="0">
                <a:solidFill>
                  <a:schemeClr val="bg1"/>
                </a:solidFill>
              </a:rPr>
              <a:t>Comments and feedback </a:t>
            </a:r>
            <a:br>
              <a:rPr lang="en-US" altLang="en-US" sz="1600" dirty="0">
                <a:solidFill>
                  <a:schemeClr val="bg1"/>
                </a:solidFill>
              </a:rPr>
            </a:br>
            <a:r>
              <a:rPr lang="en-US" altLang="en-US" sz="1600" dirty="0">
                <a:solidFill>
                  <a:schemeClr val="bg1"/>
                </a:solidFill>
              </a:rPr>
              <a:t>encouraged. </a:t>
            </a:r>
          </a:p>
        </p:txBody>
      </p:sp>
      <p:sp>
        <p:nvSpPr>
          <p:cNvPr id="5" name="Rectangle 4">
            <a:extLst>
              <a:ext uri="{FF2B5EF4-FFF2-40B4-BE49-F238E27FC236}">
                <a16:creationId xmlns:a16="http://schemas.microsoft.com/office/drawing/2014/main" id="{B51FD39D-263A-552C-C0B6-A84EF31A044C}"/>
              </a:ext>
            </a:extLst>
          </p:cNvPr>
          <p:cNvSpPr>
            <a:spLocks noChangeArrowheads="1"/>
          </p:cNvSpPr>
          <p:nvPr/>
        </p:nvSpPr>
        <p:spPr bwMode="auto">
          <a:xfrm>
            <a:off x="6462712" y="3492501"/>
            <a:ext cx="4203712" cy="474662"/>
          </a:xfrm>
          <a:prstGeom prst="rect">
            <a:avLst/>
          </a:prstGeom>
          <a:solidFill>
            <a:srgbClr val="EE3228"/>
          </a:solidFill>
          <a:ln w="19050" cap="rnd" algn="ctr">
            <a:solidFill>
              <a:schemeClr val="tx1"/>
            </a:solidFill>
            <a:prstDash val="sysDot"/>
            <a:miter lim="800000"/>
            <a:headEnd/>
            <a:tailEnd/>
          </a:ln>
          <a:effec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80000"/>
              </a:lnSpc>
              <a:spcBef>
                <a:spcPct val="20000"/>
              </a:spcBef>
              <a:spcAft>
                <a:spcPct val="0"/>
              </a:spcAft>
              <a:buClrTx/>
              <a:buSzTx/>
              <a:buFontTx/>
              <a:buNone/>
            </a:pPr>
            <a:r>
              <a:rPr lang="en-US" altLang="en-US" sz="1600" dirty="0">
                <a:solidFill>
                  <a:schemeClr val="bg1"/>
                </a:solidFill>
              </a:rPr>
              <a:t>40 minutes</a:t>
            </a:r>
          </a:p>
        </p:txBody>
      </p:sp>
      <p:sp>
        <p:nvSpPr>
          <p:cNvPr id="6" name="Rectangle 5">
            <a:extLst>
              <a:ext uri="{FF2B5EF4-FFF2-40B4-BE49-F238E27FC236}">
                <a16:creationId xmlns:a16="http://schemas.microsoft.com/office/drawing/2014/main" id="{4BDB7BE8-E27F-04CF-1975-A8AD3D66A2B3}"/>
              </a:ext>
            </a:extLst>
          </p:cNvPr>
          <p:cNvSpPr>
            <a:spLocks noChangeArrowheads="1"/>
          </p:cNvSpPr>
          <p:nvPr/>
        </p:nvSpPr>
        <p:spPr bwMode="auto">
          <a:xfrm>
            <a:off x="844550" y="3468688"/>
            <a:ext cx="5211762" cy="2863850"/>
          </a:xfrm>
          <a:prstGeom prst="rect">
            <a:avLst/>
          </a:prstGeom>
          <a:solidFill>
            <a:srgbClr val="7F7F7F"/>
          </a:solidFill>
          <a:ln w="19050" cap="rnd" algn="ctr">
            <a:solidFill>
              <a:schemeClr val="tx1"/>
            </a:solidFill>
            <a:prstDash val="sysDot"/>
            <a:miter lim="800000"/>
            <a:headEnd/>
            <a:tailEnd/>
          </a:ln>
          <a:effectLst/>
        </p:spPr>
        <p:txBody>
          <a:bodyPr wrap="none" anchor="ctr"/>
          <a:lstStyle>
            <a:lvl1pPr marL="231775" indent="-231775">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685800" indent="-22860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spcBef>
                <a:spcPct val="20000"/>
              </a:spcBef>
              <a:spcAft>
                <a:spcPct val="20000"/>
              </a:spcAft>
              <a:buClrTx/>
              <a:buSzTx/>
              <a:buFontTx/>
              <a:buNone/>
            </a:pPr>
            <a:r>
              <a:rPr lang="en-US" altLang="en-US" sz="1600" dirty="0">
                <a:solidFill>
                  <a:schemeClr val="bg1"/>
                </a:solidFill>
              </a:rPr>
              <a:t>Read through the case study data handout for Carl’s </a:t>
            </a:r>
            <a:br>
              <a:rPr lang="en-US" altLang="en-US" sz="1600" dirty="0">
                <a:solidFill>
                  <a:schemeClr val="bg1"/>
                </a:solidFill>
              </a:rPr>
            </a:br>
            <a:r>
              <a:rPr lang="en-US" altLang="en-US" sz="1600" dirty="0">
                <a:solidFill>
                  <a:schemeClr val="bg1"/>
                </a:solidFill>
              </a:rPr>
              <a:t>Credit Cards. Make notes where needed.</a:t>
            </a:r>
          </a:p>
          <a:p>
            <a:pPr>
              <a:spcBef>
                <a:spcPct val="20000"/>
              </a:spcBef>
              <a:spcAft>
                <a:spcPct val="20000"/>
              </a:spcAft>
              <a:buClrTx/>
              <a:buSzTx/>
              <a:buFontTx/>
              <a:buNone/>
            </a:pPr>
            <a:r>
              <a:rPr lang="en-US" altLang="en-US" sz="1600" dirty="0">
                <a:solidFill>
                  <a:schemeClr val="bg1"/>
                </a:solidFill>
              </a:rPr>
              <a:t>In small groups, create the Current State Map using</a:t>
            </a:r>
            <a:br>
              <a:rPr lang="en-US" altLang="en-US" sz="1600" dirty="0">
                <a:solidFill>
                  <a:schemeClr val="bg1"/>
                </a:solidFill>
              </a:rPr>
            </a:br>
            <a:r>
              <a:rPr lang="en-US" altLang="en-US" sz="1600" dirty="0">
                <a:solidFill>
                  <a:schemeClr val="bg1"/>
                </a:solidFill>
              </a:rPr>
              <a:t>chart paper and post-it notes. </a:t>
            </a:r>
          </a:p>
        </p:txBody>
      </p:sp>
      <p:sp>
        <p:nvSpPr>
          <p:cNvPr id="7" name="Rectangle 6">
            <a:extLst>
              <a:ext uri="{FF2B5EF4-FFF2-40B4-BE49-F238E27FC236}">
                <a16:creationId xmlns:a16="http://schemas.microsoft.com/office/drawing/2014/main" id="{A63530FE-71DE-A1B7-FCDB-BA69328B5589}"/>
              </a:ext>
            </a:extLst>
          </p:cNvPr>
          <p:cNvSpPr>
            <a:spLocks noChangeArrowheads="1"/>
          </p:cNvSpPr>
          <p:nvPr/>
        </p:nvSpPr>
        <p:spPr bwMode="auto">
          <a:xfrm>
            <a:off x="838199" y="2149476"/>
            <a:ext cx="9851609" cy="723900"/>
          </a:xfrm>
          <a:prstGeom prst="rect">
            <a:avLst/>
          </a:prstGeom>
          <a:solidFill>
            <a:schemeClr val="accent1"/>
          </a:solidFill>
          <a:ln w="19050" cap="rnd" algn="ctr">
            <a:solidFill>
              <a:schemeClr val="tx1"/>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spcBef>
                <a:spcPct val="30000"/>
              </a:spcBef>
              <a:spcAft>
                <a:spcPct val="0"/>
              </a:spcAft>
              <a:buClrTx/>
              <a:buSzTx/>
              <a:buFontTx/>
              <a:buNone/>
            </a:pPr>
            <a:r>
              <a:rPr lang="en-US" altLang="en-US" sz="1600">
                <a:solidFill>
                  <a:schemeClr val="bg1"/>
                </a:solidFill>
              </a:rPr>
              <a:t>Create an accurate Current State Value Stream Map from case study example data.</a:t>
            </a:r>
          </a:p>
        </p:txBody>
      </p:sp>
      <p:sp>
        <p:nvSpPr>
          <p:cNvPr id="8" name="Text Box 7">
            <a:extLst>
              <a:ext uri="{FF2B5EF4-FFF2-40B4-BE49-F238E27FC236}">
                <a16:creationId xmlns:a16="http://schemas.microsoft.com/office/drawing/2014/main" id="{EF3BE886-338F-BFBE-77FF-982D0D084271}"/>
              </a:ext>
            </a:extLst>
          </p:cNvPr>
          <p:cNvSpPr txBox="1">
            <a:spLocks noChangeArrowheads="1"/>
          </p:cNvSpPr>
          <p:nvPr/>
        </p:nvSpPr>
        <p:spPr bwMode="auto">
          <a:xfrm>
            <a:off x="882650" y="1863726"/>
            <a:ext cx="1212850" cy="311150"/>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80000"/>
              </a:lnSpc>
              <a:spcBef>
                <a:spcPct val="20000"/>
              </a:spcBef>
              <a:spcAft>
                <a:spcPct val="0"/>
              </a:spcAft>
              <a:buClrTx/>
              <a:buSzTx/>
              <a:buFontTx/>
              <a:buNone/>
            </a:pPr>
            <a:r>
              <a:rPr lang="en-US" altLang="en-US" sz="1800" dirty="0"/>
              <a:t>Objective</a:t>
            </a:r>
          </a:p>
        </p:txBody>
      </p:sp>
      <p:sp>
        <p:nvSpPr>
          <p:cNvPr id="9" name="Text Box 8">
            <a:extLst>
              <a:ext uri="{FF2B5EF4-FFF2-40B4-BE49-F238E27FC236}">
                <a16:creationId xmlns:a16="http://schemas.microsoft.com/office/drawing/2014/main" id="{389DAB7E-FA3B-9841-EDB2-F26EB4D97428}"/>
              </a:ext>
            </a:extLst>
          </p:cNvPr>
          <p:cNvSpPr txBox="1">
            <a:spLocks noChangeArrowheads="1"/>
          </p:cNvSpPr>
          <p:nvPr/>
        </p:nvSpPr>
        <p:spPr bwMode="auto">
          <a:xfrm>
            <a:off x="892175" y="3173413"/>
            <a:ext cx="1492250" cy="311150"/>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80000"/>
              </a:lnSpc>
              <a:spcBef>
                <a:spcPct val="20000"/>
              </a:spcBef>
              <a:spcAft>
                <a:spcPct val="0"/>
              </a:spcAft>
              <a:buClrTx/>
              <a:buSzTx/>
              <a:buFontTx/>
              <a:buNone/>
            </a:pPr>
            <a:r>
              <a:rPr lang="en-US" altLang="en-US" sz="1800"/>
              <a:t>Instructions</a:t>
            </a:r>
          </a:p>
        </p:txBody>
      </p:sp>
      <p:sp>
        <p:nvSpPr>
          <p:cNvPr id="10" name="Text Box 9">
            <a:extLst>
              <a:ext uri="{FF2B5EF4-FFF2-40B4-BE49-F238E27FC236}">
                <a16:creationId xmlns:a16="http://schemas.microsoft.com/office/drawing/2014/main" id="{F33480A6-5E21-C381-FFB4-95170A7F6F16}"/>
              </a:ext>
            </a:extLst>
          </p:cNvPr>
          <p:cNvSpPr txBox="1">
            <a:spLocks noChangeArrowheads="1"/>
          </p:cNvSpPr>
          <p:nvPr/>
        </p:nvSpPr>
        <p:spPr bwMode="auto">
          <a:xfrm>
            <a:off x="6429375" y="3194051"/>
            <a:ext cx="2101850" cy="311150"/>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80000"/>
              </a:lnSpc>
              <a:spcBef>
                <a:spcPct val="20000"/>
              </a:spcBef>
              <a:spcAft>
                <a:spcPct val="0"/>
              </a:spcAft>
              <a:buClrTx/>
              <a:buSzTx/>
              <a:buFontTx/>
              <a:buNone/>
            </a:pPr>
            <a:r>
              <a:rPr lang="en-US" altLang="en-US" sz="1800"/>
              <a:t>Time to Complete</a:t>
            </a:r>
          </a:p>
        </p:txBody>
      </p:sp>
      <p:sp>
        <p:nvSpPr>
          <p:cNvPr id="11" name="Text Box 10">
            <a:extLst>
              <a:ext uri="{FF2B5EF4-FFF2-40B4-BE49-F238E27FC236}">
                <a16:creationId xmlns:a16="http://schemas.microsoft.com/office/drawing/2014/main" id="{799CFD03-552B-4F63-58FC-6598DCAAED83}"/>
              </a:ext>
            </a:extLst>
          </p:cNvPr>
          <p:cNvSpPr txBox="1">
            <a:spLocks noChangeArrowheads="1"/>
          </p:cNvSpPr>
          <p:nvPr/>
        </p:nvSpPr>
        <p:spPr bwMode="auto">
          <a:xfrm>
            <a:off x="6465887" y="4362451"/>
            <a:ext cx="1403350" cy="311150"/>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80000"/>
              </a:lnSpc>
              <a:spcBef>
                <a:spcPct val="20000"/>
              </a:spcBef>
              <a:spcAft>
                <a:spcPct val="0"/>
              </a:spcAft>
              <a:buClrTx/>
              <a:buSzTx/>
              <a:buFontTx/>
              <a:buNone/>
            </a:pPr>
            <a:r>
              <a:rPr lang="en-US" altLang="en-US" sz="1800"/>
              <a:t>Deliverable</a:t>
            </a:r>
          </a:p>
        </p:txBody>
      </p:sp>
      <p:grpSp>
        <p:nvGrpSpPr>
          <p:cNvPr id="19" name="Group 18">
            <a:extLst>
              <a:ext uri="{FF2B5EF4-FFF2-40B4-BE49-F238E27FC236}">
                <a16:creationId xmlns:a16="http://schemas.microsoft.com/office/drawing/2014/main" id="{C1D72191-0DCE-2F5F-D833-9E399ED85BDE}"/>
              </a:ext>
            </a:extLst>
          </p:cNvPr>
          <p:cNvGrpSpPr/>
          <p:nvPr/>
        </p:nvGrpSpPr>
        <p:grpSpPr>
          <a:xfrm>
            <a:off x="838199" y="291161"/>
            <a:ext cx="1695892" cy="305739"/>
            <a:chOff x="838199" y="291161"/>
            <a:chExt cx="1695892" cy="305739"/>
          </a:xfrm>
        </p:grpSpPr>
        <p:sp>
          <p:nvSpPr>
            <p:cNvPr id="18" name="AutoShape 9">
              <a:extLst>
                <a:ext uri="{FF2B5EF4-FFF2-40B4-BE49-F238E27FC236}">
                  <a16:creationId xmlns:a16="http://schemas.microsoft.com/office/drawing/2014/main" id="{1CBEE344-7E79-1472-D398-03C66A11F896}"/>
                </a:ext>
              </a:extLst>
            </p:cNvPr>
            <p:cNvSpPr>
              <a:spLocks noChangeArrowheads="1"/>
            </p:cNvSpPr>
            <p:nvPr/>
          </p:nvSpPr>
          <p:spPr bwMode="auto">
            <a:xfrm>
              <a:off x="2101274"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7" name="AutoShape 9">
              <a:extLst>
                <a:ext uri="{FF2B5EF4-FFF2-40B4-BE49-F238E27FC236}">
                  <a16:creationId xmlns:a16="http://schemas.microsoft.com/office/drawing/2014/main" id="{7FE90E62-E40B-E267-AEDF-450F49D72130}"/>
                </a:ext>
              </a:extLst>
            </p:cNvPr>
            <p:cNvSpPr>
              <a:spLocks noChangeArrowheads="1"/>
            </p:cNvSpPr>
            <p:nvPr/>
          </p:nvSpPr>
          <p:spPr bwMode="auto">
            <a:xfrm>
              <a:off x="1796474"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9">
              <a:extLst>
                <a:ext uri="{FF2B5EF4-FFF2-40B4-BE49-F238E27FC236}">
                  <a16:creationId xmlns:a16="http://schemas.microsoft.com/office/drawing/2014/main" id="{478E2709-69A9-3E54-E3BB-C914224AA411}"/>
                </a:ext>
              </a:extLst>
            </p:cNvPr>
            <p:cNvSpPr>
              <a:spLocks noChangeArrowheads="1"/>
            </p:cNvSpPr>
            <p:nvPr/>
          </p:nvSpPr>
          <p:spPr bwMode="auto">
            <a:xfrm>
              <a:off x="1465549"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1">
              <a:extLst>
                <a:ext uri="{FF2B5EF4-FFF2-40B4-BE49-F238E27FC236}">
                  <a16:creationId xmlns:a16="http://schemas.microsoft.com/office/drawing/2014/main" id="{D57FFF88-F6DB-A765-12EA-A45FE181D763}"/>
                </a:ext>
              </a:extLst>
            </p:cNvPr>
            <p:cNvSpPr>
              <a:spLocks noChangeArrowheads="1"/>
            </p:cNvSpPr>
            <p:nvPr/>
          </p:nvSpPr>
          <p:spPr bwMode="auto">
            <a:xfrm>
              <a:off x="1134084" y="291162"/>
              <a:ext cx="432817" cy="305738"/>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10">
              <a:extLst>
                <a:ext uri="{FF2B5EF4-FFF2-40B4-BE49-F238E27FC236}">
                  <a16:creationId xmlns:a16="http://schemas.microsoft.com/office/drawing/2014/main" id="{0EBF36AE-AA1C-AF52-4D93-853F06F0074F}"/>
                </a:ext>
              </a:extLst>
            </p:cNvPr>
            <p:cNvSpPr>
              <a:spLocks noChangeArrowheads="1"/>
            </p:cNvSpPr>
            <p:nvPr/>
          </p:nvSpPr>
          <p:spPr bwMode="auto">
            <a:xfrm>
              <a:off x="838199"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20" name="TextBox 19">
            <a:extLst>
              <a:ext uri="{FF2B5EF4-FFF2-40B4-BE49-F238E27FC236}">
                <a16:creationId xmlns:a16="http://schemas.microsoft.com/office/drawing/2014/main" id="{96280866-F5F0-DF06-EB78-94881F06C7B4}"/>
              </a:ext>
            </a:extLst>
          </p:cNvPr>
          <p:cNvSpPr txBox="1"/>
          <p:nvPr/>
        </p:nvSpPr>
        <p:spPr>
          <a:xfrm>
            <a:off x="2592050" y="291161"/>
            <a:ext cx="2917371" cy="307777"/>
          </a:xfrm>
          <a:prstGeom prst="rect">
            <a:avLst/>
          </a:prstGeom>
          <a:noFill/>
        </p:spPr>
        <p:txBody>
          <a:bodyPr wrap="square" rtlCol="0">
            <a:spAutoFit/>
          </a:bodyPr>
          <a:lstStyle/>
          <a:p>
            <a:r>
              <a:rPr lang="en-US" sz="14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Create Current State Map</a:t>
            </a:r>
          </a:p>
        </p:txBody>
      </p:sp>
      <p:sp>
        <p:nvSpPr>
          <p:cNvPr id="21" name="Slide Number Placeholder 2">
            <a:extLst>
              <a:ext uri="{FF2B5EF4-FFF2-40B4-BE49-F238E27FC236}">
                <a16:creationId xmlns:a16="http://schemas.microsoft.com/office/drawing/2014/main" id="{A500C3D3-4B87-00FC-F855-37342425EE46}"/>
              </a:ext>
            </a:extLst>
          </p:cNvPr>
          <p:cNvSpPr txBox="1">
            <a:spLocks/>
          </p:cNvSpPr>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3</a:t>
            </a:fld>
            <a:endParaRPr lang="en-US" dirty="0"/>
          </a:p>
        </p:txBody>
      </p:sp>
    </p:spTree>
    <p:extLst>
      <p:ext uri="{BB962C8B-B14F-4D97-AF65-F5344CB8AC3E}">
        <p14:creationId xmlns:p14="http://schemas.microsoft.com/office/powerpoint/2010/main" val="3635468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pPr>
              <a:lnSpc>
                <a:spcPct val="80000"/>
              </a:lnSpc>
              <a:spcBef>
                <a:spcPct val="0"/>
              </a:spcBef>
              <a:spcAft>
                <a:spcPct val="0"/>
              </a:spcAft>
              <a:buClrTx/>
              <a:buSzTx/>
              <a:buFontTx/>
              <a:buNone/>
            </a:pPr>
            <a:r>
              <a:rPr lang="en-US" altLang="en-US" sz="4400" dirty="0"/>
              <a:t>Case Study: Carl’s Credit Cards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85000" lnSpcReduction="20000"/>
          </a:bodyPr>
          <a:lstStyle/>
          <a:p>
            <a:r>
              <a:rPr lang="en-US" dirty="0"/>
              <a:t>Background</a:t>
            </a:r>
          </a:p>
          <a:p>
            <a:pPr lvl="1"/>
            <a:r>
              <a:rPr lang="en-US" altLang="en-US" sz="2400" dirty="0"/>
              <a:t>Carl’s Credit Cards provides ready credit for a wide variety of consumers under Carl’s private branded Visa</a:t>
            </a:r>
            <a:r>
              <a:rPr lang="en-US" altLang="en-US" sz="1400" baseline="50000" dirty="0">
                <a:cs typeface="Arial" panose="020B0604020202020204" pitchFamily="34" charset="0"/>
              </a:rPr>
              <a:t>®</a:t>
            </a:r>
            <a:r>
              <a:rPr lang="en-US" altLang="en-US" sz="2400" dirty="0">
                <a:cs typeface="Arial" panose="020B0604020202020204" pitchFamily="34" charset="0"/>
              </a:rPr>
              <a:t>.  These</a:t>
            </a:r>
            <a:r>
              <a:rPr lang="en-US" altLang="en-US" sz="2400" dirty="0"/>
              <a:t> cards are accepted everywhere and are favored by consumers with “less than perfect credit histories”.  Carl’s Credit Cards has made a name for itself by providing quick credit for those who may have difficulty obtaining it from other sources. </a:t>
            </a:r>
            <a:endParaRPr lang="en-US" dirty="0"/>
          </a:p>
          <a:p>
            <a:r>
              <a:rPr lang="en-US" dirty="0"/>
              <a:t>Customer Requirements</a:t>
            </a:r>
          </a:p>
          <a:p>
            <a:pPr lvl="1"/>
            <a:r>
              <a:rPr lang="en-US" dirty="0"/>
              <a:t>Customers send CCC an average of 40,000 applications a month.</a:t>
            </a:r>
          </a:p>
          <a:p>
            <a:pPr lvl="1"/>
            <a:r>
              <a:rPr lang="en-US" dirty="0"/>
              <a:t>Applications are sent via mail, fax, and internet.</a:t>
            </a:r>
          </a:p>
          <a:p>
            <a:pPr lvl="1"/>
            <a:r>
              <a:rPr lang="en-US" dirty="0"/>
              <a:t>Customers are notified of their approval or rejection via registered mail.</a:t>
            </a:r>
          </a:p>
          <a:p>
            <a:pPr lvl="1"/>
            <a:r>
              <a:rPr lang="en-US" dirty="0"/>
              <a:t>Applications are received via mail twice daily and via fax or internet 24 hours per day</a:t>
            </a:r>
          </a:p>
          <a:p>
            <a:r>
              <a:rPr lang="en-US" dirty="0"/>
              <a:t>CCC Work Time</a:t>
            </a:r>
          </a:p>
          <a:p>
            <a:pPr lvl="1"/>
            <a:r>
              <a:rPr lang="en-US" dirty="0"/>
              <a:t>20 days in a month</a:t>
            </a:r>
          </a:p>
          <a:p>
            <a:pPr lvl="1"/>
            <a:r>
              <a:rPr lang="en-US" dirty="0"/>
              <a:t>One 8-hour shift operation in all departments</a:t>
            </a:r>
          </a:p>
          <a:p>
            <a:pPr lvl="1"/>
            <a:r>
              <a:rPr lang="en-US" dirty="0"/>
              <a:t>Two 15-minute breaks, unpaid lunch</a:t>
            </a:r>
          </a:p>
          <a:p>
            <a:pPr marL="457200" lvl="1" indent="0">
              <a:buNone/>
            </a:pPr>
            <a:endParaRPr lang="en-US" alt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a:t>
            </a:fld>
            <a:endParaRPr lang="en-US"/>
          </a:p>
        </p:txBody>
      </p:sp>
      <p:grpSp>
        <p:nvGrpSpPr>
          <p:cNvPr id="6" name="Group 5">
            <a:extLst>
              <a:ext uri="{FF2B5EF4-FFF2-40B4-BE49-F238E27FC236}">
                <a16:creationId xmlns:a16="http://schemas.microsoft.com/office/drawing/2014/main" id="{480F79D2-B920-44BF-B4D5-5AFA0C8CB1F9}"/>
              </a:ext>
            </a:extLst>
          </p:cNvPr>
          <p:cNvGrpSpPr/>
          <p:nvPr/>
        </p:nvGrpSpPr>
        <p:grpSpPr>
          <a:xfrm>
            <a:off x="838199" y="291161"/>
            <a:ext cx="1695892" cy="305739"/>
            <a:chOff x="838199" y="291161"/>
            <a:chExt cx="1695892" cy="305739"/>
          </a:xfrm>
        </p:grpSpPr>
        <p:sp>
          <p:nvSpPr>
            <p:cNvPr id="7" name="AutoShape 9">
              <a:extLst>
                <a:ext uri="{FF2B5EF4-FFF2-40B4-BE49-F238E27FC236}">
                  <a16:creationId xmlns:a16="http://schemas.microsoft.com/office/drawing/2014/main" id="{44882456-6A19-D1FD-EE92-B93DC21A3E13}"/>
                </a:ext>
              </a:extLst>
            </p:cNvPr>
            <p:cNvSpPr>
              <a:spLocks noChangeArrowheads="1"/>
            </p:cNvSpPr>
            <p:nvPr/>
          </p:nvSpPr>
          <p:spPr bwMode="auto">
            <a:xfrm>
              <a:off x="2101274"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6647A6E7-E8E4-BAFD-0E43-C5403F8821C2}"/>
                </a:ext>
              </a:extLst>
            </p:cNvPr>
            <p:cNvSpPr>
              <a:spLocks noChangeArrowheads="1"/>
            </p:cNvSpPr>
            <p:nvPr/>
          </p:nvSpPr>
          <p:spPr bwMode="auto">
            <a:xfrm>
              <a:off x="1796474"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E13C17FD-2190-A147-1CB8-15AFF2D39F7D}"/>
                </a:ext>
              </a:extLst>
            </p:cNvPr>
            <p:cNvSpPr>
              <a:spLocks noChangeArrowheads="1"/>
            </p:cNvSpPr>
            <p:nvPr/>
          </p:nvSpPr>
          <p:spPr bwMode="auto">
            <a:xfrm>
              <a:off x="1465549"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4B795159-B65E-87BF-50D9-9C5459E3B56A}"/>
                </a:ext>
              </a:extLst>
            </p:cNvPr>
            <p:cNvSpPr>
              <a:spLocks noChangeArrowheads="1"/>
            </p:cNvSpPr>
            <p:nvPr/>
          </p:nvSpPr>
          <p:spPr bwMode="auto">
            <a:xfrm>
              <a:off x="1134084" y="291162"/>
              <a:ext cx="432817" cy="305738"/>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0">
              <a:extLst>
                <a:ext uri="{FF2B5EF4-FFF2-40B4-BE49-F238E27FC236}">
                  <a16:creationId xmlns:a16="http://schemas.microsoft.com/office/drawing/2014/main" id="{FF35BF2F-4472-DA09-3799-B407253B43D7}"/>
                </a:ext>
              </a:extLst>
            </p:cNvPr>
            <p:cNvSpPr>
              <a:spLocks noChangeArrowheads="1"/>
            </p:cNvSpPr>
            <p:nvPr/>
          </p:nvSpPr>
          <p:spPr bwMode="auto">
            <a:xfrm>
              <a:off x="838199"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2" name="TextBox 11">
            <a:extLst>
              <a:ext uri="{FF2B5EF4-FFF2-40B4-BE49-F238E27FC236}">
                <a16:creationId xmlns:a16="http://schemas.microsoft.com/office/drawing/2014/main" id="{BA8003C9-1595-2438-7A5E-9D82957F9B2D}"/>
              </a:ext>
            </a:extLst>
          </p:cNvPr>
          <p:cNvSpPr txBox="1"/>
          <p:nvPr/>
        </p:nvSpPr>
        <p:spPr>
          <a:xfrm>
            <a:off x="2592050" y="291161"/>
            <a:ext cx="2917371" cy="307777"/>
          </a:xfrm>
          <a:prstGeom prst="rect">
            <a:avLst/>
          </a:prstGeom>
          <a:noFill/>
        </p:spPr>
        <p:txBody>
          <a:bodyPr wrap="square" rtlCol="0">
            <a:spAutoFit/>
          </a:bodyPr>
          <a:lstStyle/>
          <a:p>
            <a:r>
              <a:rPr lang="en-US" sz="14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Create Current State Map</a:t>
            </a:r>
          </a:p>
        </p:txBody>
      </p:sp>
    </p:spTree>
    <p:extLst>
      <p:ext uri="{BB962C8B-B14F-4D97-AF65-F5344CB8AC3E}">
        <p14:creationId xmlns:p14="http://schemas.microsoft.com/office/powerpoint/2010/main" val="22811713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pPr>
              <a:lnSpc>
                <a:spcPct val="80000"/>
              </a:lnSpc>
              <a:spcBef>
                <a:spcPct val="0"/>
              </a:spcBef>
              <a:spcAft>
                <a:spcPct val="0"/>
              </a:spcAft>
              <a:buClrTx/>
              <a:buSzTx/>
              <a:buFontTx/>
              <a:buNone/>
            </a:pPr>
            <a:r>
              <a:rPr lang="en-US" altLang="en-US" sz="4400" dirty="0"/>
              <a:t>Case Study: Carl’s Credit Cards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62500" lnSpcReduction="20000"/>
          </a:bodyPr>
          <a:lstStyle/>
          <a:p>
            <a:pPr>
              <a:lnSpc>
                <a:spcPct val="120000"/>
              </a:lnSpc>
            </a:pPr>
            <a:r>
              <a:rPr lang="en-US" altLang="en-US" sz="2800" dirty="0"/>
              <a:t>Application Processing - Receipt</a:t>
            </a:r>
            <a:endParaRPr lang="en-US" dirty="0"/>
          </a:p>
          <a:p>
            <a:pPr lvl="1">
              <a:lnSpc>
                <a:spcPct val="120000"/>
              </a:lnSpc>
            </a:pPr>
            <a:r>
              <a:rPr lang="en-US" altLang="en-US" dirty="0"/>
              <a:t>All </a:t>
            </a:r>
            <a:r>
              <a:rPr lang="en-US" altLang="en-US" sz="2400" dirty="0"/>
              <a:t>mailed applications are received in the mailroom where they are opened and sorted by source code by one of two mailroom employees who are both dedicated to this task. </a:t>
            </a:r>
          </a:p>
          <a:p>
            <a:pPr lvl="1">
              <a:lnSpc>
                <a:spcPct val="120000"/>
              </a:lnSpc>
            </a:pPr>
            <a:r>
              <a:rPr lang="en-US" dirty="0"/>
              <a:t>75% of all applications are sent through the mail and it takes an average of 15 seconds to open and sort an envelope. On average an envelope gets sorted every 10 seconds. </a:t>
            </a:r>
          </a:p>
          <a:p>
            <a:pPr lvl="1">
              <a:lnSpc>
                <a:spcPct val="120000"/>
              </a:lnSpc>
            </a:pPr>
            <a:r>
              <a:rPr lang="en-US" dirty="0"/>
              <a:t>Thee two mailroom employees are responsible for all incoming and outgoing mail and courier services at CCC.</a:t>
            </a:r>
          </a:p>
          <a:p>
            <a:pPr lvl="1">
              <a:lnSpc>
                <a:spcPct val="120000"/>
              </a:lnSpc>
            </a:pPr>
            <a:r>
              <a:rPr lang="en-US" dirty="0"/>
              <a:t>Mail Processed at 100% quality.</a:t>
            </a:r>
          </a:p>
          <a:p>
            <a:pPr>
              <a:lnSpc>
                <a:spcPct val="120000"/>
              </a:lnSpc>
            </a:pPr>
            <a:r>
              <a:rPr lang="en-US" dirty="0"/>
              <a:t>Application Processing – Signature Check</a:t>
            </a:r>
          </a:p>
          <a:p>
            <a:pPr lvl="1">
              <a:lnSpc>
                <a:spcPct val="120000"/>
              </a:lnSpc>
            </a:pPr>
            <a:r>
              <a:rPr lang="en-US" dirty="0"/>
              <a:t>When the mailed applications have been opened and sorted, they are checked for a customer signature by a supervisor. </a:t>
            </a:r>
          </a:p>
          <a:p>
            <a:pPr lvl="1">
              <a:lnSpc>
                <a:spcPct val="120000"/>
              </a:lnSpc>
            </a:pPr>
            <a:r>
              <a:rPr lang="en-US" dirty="0"/>
              <a:t>It takes 10 seconds for the supervisor to review for the signature after the opening and sorting process.</a:t>
            </a:r>
          </a:p>
          <a:p>
            <a:pPr lvl="1">
              <a:lnSpc>
                <a:spcPct val="120000"/>
              </a:lnSpc>
            </a:pPr>
            <a:r>
              <a:rPr lang="en-US" dirty="0"/>
              <a:t>82% of mailed applications contain a customer signature, those without signatures are returned to the customer providing there is a mailing address on the application. </a:t>
            </a:r>
          </a:p>
          <a:p>
            <a:pPr lvl="1">
              <a:lnSpc>
                <a:spcPct val="120000"/>
              </a:lnSpc>
            </a:pPr>
            <a:r>
              <a:rPr lang="en-US" dirty="0"/>
              <a:t>Those without a mailing address are destroyed.</a:t>
            </a:r>
          </a:p>
          <a:p>
            <a:pPr lvl="1">
              <a:lnSpc>
                <a:spcPct val="120000"/>
              </a:lnSpc>
            </a:pPr>
            <a:r>
              <a:rPr lang="en-US" dirty="0"/>
              <a:t>Faxed and internet applications are received into a fax server where the image is held as a PDF.</a:t>
            </a:r>
          </a:p>
          <a:p>
            <a:pPr marL="457200" lvl="1" indent="0">
              <a:lnSpc>
                <a:spcPct val="120000"/>
              </a:lnSpc>
              <a:buNone/>
            </a:pPr>
            <a:endParaRPr lang="en-US" alt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a:t>
            </a:fld>
            <a:endParaRPr lang="en-US"/>
          </a:p>
        </p:txBody>
      </p:sp>
      <p:grpSp>
        <p:nvGrpSpPr>
          <p:cNvPr id="6" name="Group 5">
            <a:extLst>
              <a:ext uri="{FF2B5EF4-FFF2-40B4-BE49-F238E27FC236}">
                <a16:creationId xmlns:a16="http://schemas.microsoft.com/office/drawing/2014/main" id="{B5EA7E9D-0655-67B8-19AA-EBC3E2D6BC0A}"/>
              </a:ext>
            </a:extLst>
          </p:cNvPr>
          <p:cNvGrpSpPr/>
          <p:nvPr/>
        </p:nvGrpSpPr>
        <p:grpSpPr>
          <a:xfrm>
            <a:off x="838199" y="291161"/>
            <a:ext cx="1695892" cy="305739"/>
            <a:chOff x="838199" y="291161"/>
            <a:chExt cx="1695892" cy="305739"/>
          </a:xfrm>
        </p:grpSpPr>
        <p:sp>
          <p:nvSpPr>
            <p:cNvPr id="7" name="AutoShape 9">
              <a:extLst>
                <a:ext uri="{FF2B5EF4-FFF2-40B4-BE49-F238E27FC236}">
                  <a16:creationId xmlns:a16="http://schemas.microsoft.com/office/drawing/2014/main" id="{098393B8-0248-8684-E213-23830B0B9B84}"/>
                </a:ext>
              </a:extLst>
            </p:cNvPr>
            <p:cNvSpPr>
              <a:spLocks noChangeArrowheads="1"/>
            </p:cNvSpPr>
            <p:nvPr/>
          </p:nvSpPr>
          <p:spPr bwMode="auto">
            <a:xfrm>
              <a:off x="2101274"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6C081717-3632-37E6-74AE-C7FF572AEF9E}"/>
                </a:ext>
              </a:extLst>
            </p:cNvPr>
            <p:cNvSpPr>
              <a:spLocks noChangeArrowheads="1"/>
            </p:cNvSpPr>
            <p:nvPr/>
          </p:nvSpPr>
          <p:spPr bwMode="auto">
            <a:xfrm>
              <a:off x="1796474"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E19A0D9B-3AA7-6595-D6CE-5D15C9C1294F}"/>
                </a:ext>
              </a:extLst>
            </p:cNvPr>
            <p:cNvSpPr>
              <a:spLocks noChangeArrowheads="1"/>
            </p:cNvSpPr>
            <p:nvPr/>
          </p:nvSpPr>
          <p:spPr bwMode="auto">
            <a:xfrm>
              <a:off x="1465549"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7761E3F1-D240-6556-C804-D71D0F9F4BD8}"/>
                </a:ext>
              </a:extLst>
            </p:cNvPr>
            <p:cNvSpPr>
              <a:spLocks noChangeArrowheads="1"/>
            </p:cNvSpPr>
            <p:nvPr/>
          </p:nvSpPr>
          <p:spPr bwMode="auto">
            <a:xfrm>
              <a:off x="1134084" y="291162"/>
              <a:ext cx="432817" cy="305738"/>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0">
              <a:extLst>
                <a:ext uri="{FF2B5EF4-FFF2-40B4-BE49-F238E27FC236}">
                  <a16:creationId xmlns:a16="http://schemas.microsoft.com/office/drawing/2014/main" id="{FAD617D3-603F-1A0A-E50D-E78E02F61E6E}"/>
                </a:ext>
              </a:extLst>
            </p:cNvPr>
            <p:cNvSpPr>
              <a:spLocks noChangeArrowheads="1"/>
            </p:cNvSpPr>
            <p:nvPr/>
          </p:nvSpPr>
          <p:spPr bwMode="auto">
            <a:xfrm>
              <a:off x="838199"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2" name="TextBox 11">
            <a:extLst>
              <a:ext uri="{FF2B5EF4-FFF2-40B4-BE49-F238E27FC236}">
                <a16:creationId xmlns:a16="http://schemas.microsoft.com/office/drawing/2014/main" id="{EACCBD1F-4F69-7FCE-2257-ABF75195A498}"/>
              </a:ext>
            </a:extLst>
          </p:cNvPr>
          <p:cNvSpPr txBox="1"/>
          <p:nvPr/>
        </p:nvSpPr>
        <p:spPr>
          <a:xfrm>
            <a:off x="2592050" y="291161"/>
            <a:ext cx="2917371" cy="307777"/>
          </a:xfrm>
          <a:prstGeom prst="rect">
            <a:avLst/>
          </a:prstGeom>
          <a:noFill/>
        </p:spPr>
        <p:txBody>
          <a:bodyPr wrap="square" rtlCol="0">
            <a:spAutoFit/>
          </a:bodyPr>
          <a:lstStyle/>
          <a:p>
            <a:r>
              <a:rPr lang="en-US" sz="14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Create Current State Map</a:t>
            </a:r>
          </a:p>
        </p:txBody>
      </p:sp>
    </p:spTree>
    <p:extLst>
      <p:ext uri="{BB962C8B-B14F-4D97-AF65-F5344CB8AC3E}">
        <p14:creationId xmlns:p14="http://schemas.microsoft.com/office/powerpoint/2010/main" val="4046111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pPr>
              <a:lnSpc>
                <a:spcPct val="80000"/>
              </a:lnSpc>
              <a:spcBef>
                <a:spcPct val="0"/>
              </a:spcBef>
              <a:spcAft>
                <a:spcPct val="0"/>
              </a:spcAft>
              <a:buClrTx/>
              <a:buSzTx/>
              <a:buFontTx/>
              <a:buNone/>
            </a:pPr>
            <a:r>
              <a:rPr lang="en-US" altLang="en-US" sz="4400" dirty="0"/>
              <a:t>Case Study: Carl’s Credit Cards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a:xfrm>
            <a:off x="838200" y="1825625"/>
            <a:ext cx="10262616" cy="4351338"/>
          </a:xfrm>
        </p:spPr>
        <p:txBody>
          <a:bodyPr>
            <a:normAutofit fontScale="92500"/>
          </a:bodyPr>
          <a:lstStyle/>
          <a:p>
            <a:pPr>
              <a:lnSpc>
                <a:spcPct val="120000"/>
              </a:lnSpc>
            </a:pPr>
            <a:r>
              <a:rPr lang="en-US" altLang="en-US" sz="1600" dirty="0"/>
              <a:t>Application Processing - Scanning</a:t>
            </a:r>
            <a:endParaRPr lang="en-US" sz="1600" dirty="0"/>
          </a:p>
          <a:p>
            <a:pPr lvl="1">
              <a:lnSpc>
                <a:spcPct val="120000"/>
              </a:lnSpc>
            </a:pPr>
            <a:r>
              <a:rPr lang="en-US" altLang="en-US" sz="1400" dirty="0"/>
              <a:t>All accepted mail applications are sent to the 3</a:t>
            </a:r>
            <a:r>
              <a:rPr lang="en-US" altLang="en-US" sz="1400" baseline="30000" dirty="0"/>
              <a:t>rd</a:t>
            </a:r>
            <a:r>
              <a:rPr lang="en-US" altLang="en-US" sz="1400" dirty="0"/>
              <a:t> floor as a part of the normal interoffice mail delivery</a:t>
            </a:r>
          </a:p>
          <a:p>
            <a:pPr lvl="1">
              <a:lnSpc>
                <a:spcPct val="120000"/>
              </a:lnSpc>
            </a:pPr>
            <a:r>
              <a:rPr lang="en-US" sz="1400" dirty="0"/>
              <a:t>Once on the 3</a:t>
            </a:r>
            <a:r>
              <a:rPr lang="en-US" sz="1400" baseline="30000" dirty="0"/>
              <a:t>rd</a:t>
            </a:r>
            <a:r>
              <a:rPr lang="en-US" sz="1400" dirty="0"/>
              <a:t> floor the applications are scanned as PDF images on a high-speed scanner. There is one operator for the scanning operations.</a:t>
            </a:r>
          </a:p>
          <a:p>
            <a:pPr lvl="1">
              <a:lnSpc>
                <a:spcPct val="120000"/>
              </a:lnSpc>
            </a:pPr>
            <a:r>
              <a:rPr lang="en-US" sz="1400" dirty="0"/>
              <a:t>The scanner is loaded with batches of 50 applications which take 250 seconds to go through the scan.</a:t>
            </a:r>
          </a:p>
          <a:p>
            <a:pPr lvl="1">
              <a:lnSpc>
                <a:spcPct val="120000"/>
              </a:lnSpc>
            </a:pPr>
            <a:r>
              <a:rPr lang="en-US" sz="1400" dirty="0"/>
              <a:t>The scanners are very reliable with 99% uptime, however about 5% of the time an application will jam and need to be rescanned.</a:t>
            </a:r>
          </a:p>
          <a:p>
            <a:pPr>
              <a:lnSpc>
                <a:spcPct val="120000"/>
              </a:lnSpc>
            </a:pPr>
            <a:r>
              <a:rPr lang="en-US" sz="1600" dirty="0"/>
              <a:t>Application Processing – Data Entry</a:t>
            </a:r>
          </a:p>
          <a:p>
            <a:pPr lvl="1">
              <a:lnSpc>
                <a:spcPct val="120000"/>
              </a:lnSpc>
            </a:pPr>
            <a:r>
              <a:rPr lang="en-US" sz="1400" u="none" strike="noStrike" dirty="0">
                <a:effectLst/>
              </a:rPr>
              <a:t>The application information is entered into the central data base by one of ten data entry clerks all dedicated to this task.</a:t>
            </a:r>
          </a:p>
          <a:p>
            <a:pPr lvl="1">
              <a:lnSpc>
                <a:spcPct val="120000"/>
              </a:lnSpc>
            </a:pPr>
            <a:r>
              <a:rPr lang="en-US" sz="1400" u="none" strike="noStrike" dirty="0">
                <a:effectLst/>
              </a:rPr>
              <a:t>It takes the clerks 180 seconds to enter the data and they do so with 100% accuracy because there are ten clerks an application is entered every 20 seconds.</a:t>
            </a:r>
          </a:p>
          <a:p>
            <a:pPr lvl="1">
              <a:lnSpc>
                <a:spcPct val="120000"/>
              </a:lnSpc>
            </a:pPr>
            <a:r>
              <a:rPr lang="en-US" sz="1400" u="none" strike="noStrike" dirty="0">
                <a:effectLst/>
              </a:rPr>
              <a:t>Once the application information has been entered into the central data base it is submitted for an automated credit check and credit scoring.  </a:t>
            </a:r>
          </a:p>
          <a:p>
            <a:pPr lvl="1">
              <a:lnSpc>
                <a:spcPct val="120000"/>
              </a:lnSpc>
            </a:pPr>
            <a:r>
              <a:rPr lang="en-US" sz="1400" u="none" strike="noStrike" dirty="0">
                <a:effectLst/>
              </a:rPr>
              <a:t>7.5% of applications will be rejected at credit check and another 6% will be automatically rejected because of scoring.  </a:t>
            </a:r>
          </a:p>
          <a:p>
            <a:pPr lvl="1">
              <a:lnSpc>
                <a:spcPct val="120000"/>
              </a:lnSpc>
            </a:pPr>
            <a:r>
              <a:rPr lang="en-US" sz="1400" u="none" strike="noStrike" dirty="0">
                <a:effectLst/>
              </a:rPr>
              <a:t>Rejected applications are automatically sent a system generated rejection letter.</a:t>
            </a:r>
          </a:p>
          <a:p>
            <a:pPr marL="457200" lvl="1" indent="0">
              <a:lnSpc>
                <a:spcPct val="120000"/>
              </a:lnSpc>
              <a:buNone/>
            </a:pPr>
            <a:endParaRPr lang="en-US" altLang="en-US" sz="1400"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a:t>
            </a:fld>
            <a:endParaRPr lang="en-US"/>
          </a:p>
        </p:txBody>
      </p:sp>
      <p:grpSp>
        <p:nvGrpSpPr>
          <p:cNvPr id="6" name="Group 5">
            <a:extLst>
              <a:ext uri="{FF2B5EF4-FFF2-40B4-BE49-F238E27FC236}">
                <a16:creationId xmlns:a16="http://schemas.microsoft.com/office/drawing/2014/main" id="{A9942F0B-7E94-FF77-681E-FB0D8EF43422}"/>
              </a:ext>
            </a:extLst>
          </p:cNvPr>
          <p:cNvGrpSpPr/>
          <p:nvPr/>
        </p:nvGrpSpPr>
        <p:grpSpPr>
          <a:xfrm>
            <a:off x="838199" y="291161"/>
            <a:ext cx="1695892" cy="305739"/>
            <a:chOff x="838199" y="291161"/>
            <a:chExt cx="1695892" cy="305739"/>
          </a:xfrm>
        </p:grpSpPr>
        <p:sp>
          <p:nvSpPr>
            <p:cNvPr id="7" name="AutoShape 9">
              <a:extLst>
                <a:ext uri="{FF2B5EF4-FFF2-40B4-BE49-F238E27FC236}">
                  <a16:creationId xmlns:a16="http://schemas.microsoft.com/office/drawing/2014/main" id="{0952085D-1F95-C364-3A17-A3573890F6AA}"/>
                </a:ext>
              </a:extLst>
            </p:cNvPr>
            <p:cNvSpPr>
              <a:spLocks noChangeArrowheads="1"/>
            </p:cNvSpPr>
            <p:nvPr/>
          </p:nvSpPr>
          <p:spPr bwMode="auto">
            <a:xfrm>
              <a:off x="2101274"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4D2C41AE-6FA8-1972-E017-7996B4BF8463}"/>
                </a:ext>
              </a:extLst>
            </p:cNvPr>
            <p:cNvSpPr>
              <a:spLocks noChangeArrowheads="1"/>
            </p:cNvSpPr>
            <p:nvPr/>
          </p:nvSpPr>
          <p:spPr bwMode="auto">
            <a:xfrm>
              <a:off x="1796474"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60681BB5-5CE7-984A-FAC1-6DE14BEAF95E}"/>
                </a:ext>
              </a:extLst>
            </p:cNvPr>
            <p:cNvSpPr>
              <a:spLocks noChangeArrowheads="1"/>
            </p:cNvSpPr>
            <p:nvPr/>
          </p:nvSpPr>
          <p:spPr bwMode="auto">
            <a:xfrm>
              <a:off x="1465549"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94D0FEA6-58DF-4D38-CE19-70909DCD834F}"/>
                </a:ext>
              </a:extLst>
            </p:cNvPr>
            <p:cNvSpPr>
              <a:spLocks noChangeArrowheads="1"/>
            </p:cNvSpPr>
            <p:nvPr/>
          </p:nvSpPr>
          <p:spPr bwMode="auto">
            <a:xfrm>
              <a:off x="1134084" y="291162"/>
              <a:ext cx="432817" cy="305738"/>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0">
              <a:extLst>
                <a:ext uri="{FF2B5EF4-FFF2-40B4-BE49-F238E27FC236}">
                  <a16:creationId xmlns:a16="http://schemas.microsoft.com/office/drawing/2014/main" id="{7CA12BEB-0B32-6B39-F827-5F75EFAF780E}"/>
                </a:ext>
              </a:extLst>
            </p:cNvPr>
            <p:cNvSpPr>
              <a:spLocks noChangeArrowheads="1"/>
            </p:cNvSpPr>
            <p:nvPr/>
          </p:nvSpPr>
          <p:spPr bwMode="auto">
            <a:xfrm>
              <a:off x="838199"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2" name="TextBox 11">
            <a:extLst>
              <a:ext uri="{FF2B5EF4-FFF2-40B4-BE49-F238E27FC236}">
                <a16:creationId xmlns:a16="http://schemas.microsoft.com/office/drawing/2014/main" id="{6514EE21-D411-0BB0-4CF5-78B025F9121C}"/>
              </a:ext>
            </a:extLst>
          </p:cNvPr>
          <p:cNvSpPr txBox="1"/>
          <p:nvPr/>
        </p:nvSpPr>
        <p:spPr>
          <a:xfrm>
            <a:off x="2592050" y="291161"/>
            <a:ext cx="2917371" cy="307777"/>
          </a:xfrm>
          <a:prstGeom prst="rect">
            <a:avLst/>
          </a:prstGeom>
          <a:noFill/>
        </p:spPr>
        <p:txBody>
          <a:bodyPr wrap="square" rtlCol="0">
            <a:spAutoFit/>
          </a:bodyPr>
          <a:lstStyle/>
          <a:p>
            <a:r>
              <a:rPr lang="en-US" sz="14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Create Current State Map</a:t>
            </a:r>
          </a:p>
        </p:txBody>
      </p:sp>
    </p:spTree>
    <p:extLst>
      <p:ext uri="{BB962C8B-B14F-4D97-AF65-F5344CB8AC3E}">
        <p14:creationId xmlns:p14="http://schemas.microsoft.com/office/powerpoint/2010/main" val="903129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46BDA-92A4-C4A6-61DD-F4E35CC8D72F}"/>
              </a:ext>
            </a:extLst>
          </p:cNvPr>
          <p:cNvSpPr>
            <a:spLocks noGrp="1"/>
          </p:cNvSpPr>
          <p:nvPr>
            <p:ph type="title"/>
          </p:nvPr>
        </p:nvSpPr>
        <p:spPr/>
        <p:txBody>
          <a:bodyPr>
            <a:normAutofit/>
          </a:bodyPr>
          <a:lstStyle/>
          <a:p>
            <a:r>
              <a:rPr lang="en-US" dirty="0"/>
              <a:t>Case Study: Carl’s Credit Cards</a:t>
            </a:r>
          </a:p>
        </p:txBody>
      </p:sp>
      <p:sp>
        <p:nvSpPr>
          <p:cNvPr id="3" name="Content Placeholder 2">
            <a:extLst>
              <a:ext uri="{FF2B5EF4-FFF2-40B4-BE49-F238E27FC236}">
                <a16:creationId xmlns:a16="http://schemas.microsoft.com/office/drawing/2014/main" id="{04548731-DFA6-1526-E550-D818EEFCEAE9}"/>
              </a:ext>
            </a:extLst>
          </p:cNvPr>
          <p:cNvSpPr>
            <a:spLocks noGrp="1"/>
          </p:cNvSpPr>
          <p:nvPr>
            <p:ph idx="1"/>
          </p:nvPr>
        </p:nvSpPr>
        <p:spPr/>
        <p:txBody>
          <a:bodyPr>
            <a:noAutofit/>
          </a:bodyPr>
          <a:lstStyle/>
          <a:p>
            <a:r>
              <a:rPr lang="en-US" sz="1600" dirty="0"/>
              <a:t>Application Processing - Underwriting </a:t>
            </a:r>
          </a:p>
          <a:p>
            <a:pPr lvl="1"/>
            <a:r>
              <a:rPr lang="en-US" sz="1600" dirty="0"/>
              <a:t>All applications that successfully go through credit check and scoring are sent to one of four senior underwriters all dedicated to this task who determine the credit worthiness and limit for the customer.  </a:t>
            </a:r>
          </a:p>
          <a:p>
            <a:pPr lvl="1"/>
            <a:r>
              <a:rPr lang="en-US" sz="1600" dirty="0"/>
              <a:t>It takes an average of 72 seconds to review the file and come to a credit decision.</a:t>
            </a:r>
          </a:p>
          <a:p>
            <a:pPr lvl="1"/>
            <a:r>
              <a:rPr lang="en-US" sz="1600" dirty="0"/>
              <a:t>65% go directly to the vendor for card processing  </a:t>
            </a:r>
          </a:p>
          <a:p>
            <a:r>
              <a:rPr lang="en-US" sz="1600" dirty="0"/>
              <a:t>Application Processing – Re-underwriting</a:t>
            </a:r>
          </a:p>
          <a:p>
            <a:pPr lvl="1"/>
            <a:r>
              <a:rPr lang="en-US" sz="1600" dirty="0"/>
              <a:t>35% of all applications go through a second review</a:t>
            </a:r>
          </a:p>
          <a:p>
            <a:pPr lvl="1"/>
            <a:r>
              <a:rPr lang="en-US" sz="1600" dirty="0"/>
              <a:t>57% of applications in the re-underwriting process require additional information from the customer to complete the underwriting process.</a:t>
            </a:r>
          </a:p>
          <a:p>
            <a:pPr lvl="1"/>
            <a:r>
              <a:rPr lang="en-US" sz="1600" dirty="0"/>
              <a:t>It takes an average of 72 seconds to re-review the file and come to a credit decision.</a:t>
            </a:r>
          </a:p>
          <a:p>
            <a:r>
              <a:rPr lang="en-US" sz="1600" dirty="0"/>
              <a:t>Application Processing - Generate Card</a:t>
            </a:r>
          </a:p>
          <a:p>
            <a:pPr lvl="1"/>
            <a:r>
              <a:rPr lang="en-US" sz="1600" dirty="0"/>
              <a:t>Approved applications are sent electronically to Paul’s Plastic Products (PPP), an outside vendor, to produce the actual credit card.  The service level agreement with the card producer calls for a two-day maximum turn around on the cards.  It takes PPP 20 seconds to generate a card.</a:t>
            </a:r>
          </a:p>
          <a:p>
            <a:pPr lvl="1"/>
            <a:r>
              <a:rPr lang="en-US" sz="1600" dirty="0"/>
              <a:t>Paul’s Plastic Products has very tight quality standards and has never made an error in generating a card.</a:t>
            </a:r>
          </a:p>
          <a:p>
            <a:endParaRPr lang="en-US" sz="1600" dirty="0"/>
          </a:p>
        </p:txBody>
      </p:sp>
      <p:grpSp>
        <p:nvGrpSpPr>
          <p:cNvPr id="5" name="Group 4">
            <a:extLst>
              <a:ext uri="{FF2B5EF4-FFF2-40B4-BE49-F238E27FC236}">
                <a16:creationId xmlns:a16="http://schemas.microsoft.com/office/drawing/2014/main" id="{2562EBA3-102C-12EF-1765-975536FA846D}"/>
              </a:ext>
            </a:extLst>
          </p:cNvPr>
          <p:cNvGrpSpPr/>
          <p:nvPr/>
        </p:nvGrpSpPr>
        <p:grpSpPr>
          <a:xfrm>
            <a:off x="838199" y="291161"/>
            <a:ext cx="1695892" cy="305739"/>
            <a:chOff x="838199" y="291161"/>
            <a:chExt cx="1695892" cy="305739"/>
          </a:xfrm>
        </p:grpSpPr>
        <p:sp>
          <p:nvSpPr>
            <p:cNvPr id="6" name="AutoShape 9">
              <a:extLst>
                <a:ext uri="{FF2B5EF4-FFF2-40B4-BE49-F238E27FC236}">
                  <a16:creationId xmlns:a16="http://schemas.microsoft.com/office/drawing/2014/main" id="{B6C28D2C-7F7E-02BC-0863-62B0A6850001}"/>
                </a:ext>
              </a:extLst>
            </p:cNvPr>
            <p:cNvSpPr>
              <a:spLocks noChangeArrowheads="1"/>
            </p:cNvSpPr>
            <p:nvPr/>
          </p:nvSpPr>
          <p:spPr bwMode="auto">
            <a:xfrm>
              <a:off x="2101274"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F1B4C5D1-0620-E7DE-DA4B-82A7C864AE86}"/>
                </a:ext>
              </a:extLst>
            </p:cNvPr>
            <p:cNvSpPr>
              <a:spLocks noChangeArrowheads="1"/>
            </p:cNvSpPr>
            <p:nvPr/>
          </p:nvSpPr>
          <p:spPr bwMode="auto">
            <a:xfrm>
              <a:off x="1796474"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78D751CD-49FE-4A2B-18EA-F18C6A15F52E}"/>
                </a:ext>
              </a:extLst>
            </p:cNvPr>
            <p:cNvSpPr>
              <a:spLocks noChangeArrowheads="1"/>
            </p:cNvSpPr>
            <p:nvPr/>
          </p:nvSpPr>
          <p:spPr bwMode="auto">
            <a:xfrm>
              <a:off x="1465549"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118E2235-73A8-F7EB-DFD9-A3B6BA7BF687}"/>
                </a:ext>
              </a:extLst>
            </p:cNvPr>
            <p:cNvSpPr>
              <a:spLocks noChangeArrowheads="1"/>
            </p:cNvSpPr>
            <p:nvPr/>
          </p:nvSpPr>
          <p:spPr bwMode="auto">
            <a:xfrm>
              <a:off x="1134084" y="291162"/>
              <a:ext cx="432817" cy="305738"/>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0">
              <a:extLst>
                <a:ext uri="{FF2B5EF4-FFF2-40B4-BE49-F238E27FC236}">
                  <a16:creationId xmlns:a16="http://schemas.microsoft.com/office/drawing/2014/main" id="{F5B29464-9ED7-723D-85CB-B4B2F9D074AB}"/>
                </a:ext>
              </a:extLst>
            </p:cNvPr>
            <p:cNvSpPr>
              <a:spLocks noChangeArrowheads="1"/>
            </p:cNvSpPr>
            <p:nvPr/>
          </p:nvSpPr>
          <p:spPr bwMode="auto">
            <a:xfrm>
              <a:off x="838199"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1" name="TextBox 10">
            <a:extLst>
              <a:ext uri="{FF2B5EF4-FFF2-40B4-BE49-F238E27FC236}">
                <a16:creationId xmlns:a16="http://schemas.microsoft.com/office/drawing/2014/main" id="{EF4EF3F0-B1F0-A4D3-4663-26A910467E58}"/>
              </a:ext>
            </a:extLst>
          </p:cNvPr>
          <p:cNvSpPr txBox="1"/>
          <p:nvPr/>
        </p:nvSpPr>
        <p:spPr>
          <a:xfrm>
            <a:off x="2592050" y="291161"/>
            <a:ext cx="2917371" cy="307777"/>
          </a:xfrm>
          <a:prstGeom prst="rect">
            <a:avLst/>
          </a:prstGeom>
          <a:noFill/>
        </p:spPr>
        <p:txBody>
          <a:bodyPr wrap="square" rtlCol="0">
            <a:spAutoFit/>
          </a:bodyPr>
          <a:lstStyle/>
          <a:p>
            <a:r>
              <a:rPr lang="en-US" sz="14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Create Current State Map</a:t>
            </a:r>
          </a:p>
        </p:txBody>
      </p:sp>
      <p:sp>
        <p:nvSpPr>
          <p:cNvPr id="12" name="Slide Number Placeholder 2">
            <a:extLst>
              <a:ext uri="{FF2B5EF4-FFF2-40B4-BE49-F238E27FC236}">
                <a16:creationId xmlns:a16="http://schemas.microsoft.com/office/drawing/2014/main" id="{DAA28F78-59FD-3FC8-F9BA-A2AF72F3742F}"/>
              </a:ext>
            </a:extLst>
          </p:cNvPr>
          <p:cNvSpPr txBox="1">
            <a:spLocks/>
          </p:cNvSpPr>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7</a:t>
            </a:fld>
            <a:endParaRPr lang="en-US" dirty="0"/>
          </a:p>
        </p:txBody>
      </p:sp>
    </p:spTree>
    <p:extLst>
      <p:ext uri="{BB962C8B-B14F-4D97-AF65-F5344CB8AC3E}">
        <p14:creationId xmlns:p14="http://schemas.microsoft.com/office/powerpoint/2010/main" val="3136672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79B09-C934-AABE-11F5-9C820C8691FB}"/>
              </a:ext>
            </a:extLst>
          </p:cNvPr>
          <p:cNvSpPr>
            <a:spLocks noGrp="1"/>
          </p:cNvSpPr>
          <p:nvPr>
            <p:ph type="title"/>
          </p:nvPr>
        </p:nvSpPr>
        <p:spPr/>
        <p:txBody>
          <a:bodyPr>
            <a:normAutofit/>
          </a:bodyPr>
          <a:lstStyle/>
          <a:p>
            <a:r>
              <a:rPr lang="en-US" dirty="0"/>
              <a:t>Case Study: Carl’s Credit Cards</a:t>
            </a:r>
          </a:p>
        </p:txBody>
      </p:sp>
      <p:sp>
        <p:nvSpPr>
          <p:cNvPr id="3" name="Content Placeholder 2">
            <a:extLst>
              <a:ext uri="{FF2B5EF4-FFF2-40B4-BE49-F238E27FC236}">
                <a16:creationId xmlns:a16="http://schemas.microsoft.com/office/drawing/2014/main" id="{FA5C8975-5E99-58DC-E99B-029D66CEAEFE}"/>
              </a:ext>
            </a:extLst>
          </p:cNvPr>
          <p:cNvSpPr>
            <a:spLocks noGrp="1"/>
          </p:cNvSpPr>
          <p:nvPr>
            <p:ph idx="1"/>
          </p:nvPr>
        </p:nvSpPr>
        <p:spPr/>
        <p:txBody>
          <a:bodyPr>
            <a:normAutofit fontScale="70000" lnSpcReduction="20000"/>
          </a:bodyPr>
          <a:lstStyle/>
          <a:p>
            <a:r>
              <a:rPr lang="en-US" dirty="0"/>
              <a:t>Application Processing - Mail Card</a:t>
            </a:r>
          </a:p>
          <a:p>
            <a:pPr lvl="1"/>
            <a:r>
              <a:rPr lang="en-US" dirty="0"/>
              <a:t>Paul’s Plastic Products sends return shipments via private courier daily</a:t>
            </a:r>
          </a:p>
          <a:p>
            <a:pPr lvl="1"/>
            <a:r>
              <a:rPr lang="en-US" dirty="0"/>
              <a:t>The mailroom is the same location that applications were originally mailed into</a:t>
            </a:r>
          </a:p>
          <a:p>
            <a:pPr lvl="1"/>
            <a:r>
              <a:rPr lang="en-US" dirty="0"/>
              <a:t>All packages are received in the mailroom where they are sorted by region and mailed</a:t>
            </a:r>
          </a:p>
          <a:p>
            <a:pPr lvl="1"/>
            <a:r>
              <a:rPr lang="en-US" dirty="0"/>
              <a:t>It takes one of two dedicated mailroom employees 20 seconds to process a package for shipping and they do so with 100% accuracy.  A packaged is observed to be put in the mail every 12 seconds.  These are the same employees that handle incoming applications.</a:t>
            </a:r>
          </a:p>
          <a:p>
            <a:r>
              <a:rPr lang="en-US" dirty="0"/>
              <a:t>Inventory</a:t>
            </a:r>
          </a:p>
          <a:p>
            <a:pPr lvl="1"/>
            <a:r>
              <a:rPr lang="en-US" dirty="0"/>
              <a:t>There are 750 mailed applications in the mailroom waiting to be opened and sorted.</a:t>
            </a:r>
          </a:p>
          <a:p>
            <a:pPr lvl="1"/>
            <a:r>
              <a:rPr lang="en-US" dirty="0"/>
              <a:t>There are 750 opened and sorted applications waiting to be checked for signature.</a:t>
            </a:r>
          </a:p>
          <a:p>
            <a:pPr lvl="1"/>
            <a:r>
              <a:rPr lang="en-US" dirty="0"/>
              <a:t>There are 500 applications waiting to be scanned.</a:t>
            </a:r>
          </a:p>
          <a:p>
            <a:pPr lvl="1"/>
            <a:r>
              <a:rPr lang="en-US" dirty="0"/>
              <a:t>There are 1,000 applications waiting for data entry.</a:t>
            </a:r>
          </a:p>
          <a:p>
            <a:pPr lvl="1"/>
            <a:r>
              <a:rPr lang="en-US" dirty="0"/>
              <a:t>There are 500 applications waiting for underwriting</a:t>
            </a:r>
          </a:p>
          <a:p>
            <a:pPr lvl="1"/>
            <a:r>
              <a:rPr lang="en-US" dirty="0"/>
              <a:t>There are 2,000 applications at PPP waiting to be made into cards.</a:t>
            </a:r>
          </a:p>
          <a:p>
            <a:pPr lvl="1"/>
            <a:r>
              <a:rPr lang="en-US" dirty="0"/>
              <a:t>There are 600 welcome packages waiting to be sent.</a:t>
            </a:r>
          </a:p>
          <a:p>
            <a:r>
              <a:rPr lang="en-US" dirty="0"/>
              <a:t>Scheduling</a:t>
            </a:r>
          </a:p>
          <a:p>
            <a:pPr lvl="1"/>
            <a:r>
              <a:rPr lang="en-US" dirty="0"/>
              <a:t>All applications are processed on a FIFO basis.</a:t>
            </a:r>
          </a:p>
          <a:p>
            <a:endParaRPr lang="en-US" dirty="0"/>
          </a:p>
          <a:p>
            <a:endParaRPr lang="en-US" dirty="0"/>
          </a:p>
          <a:p>
            <a:endParaRPr lang="en-US" dirty="0"/>
          </a:p>
          <a:p>
            <a:endParaRPr lang="en-US" dirty="0"/>
          </a:p>
        </p:txBody>
      </p:sp>
      <p:grpSp>
        <p:nvGrpSpPr>
          <p:cNvPr id="5" name="Group 4">
            <a:extLst>
              <a:ext uri="{FF2B5EF4-FFF2-40B4-BE49-F238E27FC236}">
                <a16:creationId xmlns:a16="http://schemas.microsoft.com/office/drawing/2014/main" id="{24B0841E-5E82-6FF2-54B0-F15FDE25BED5}"/>
              </a:ext>
            </a:extLst>
          </p:cNvPr>
          <p:cNvGrpSpPr/>
          <p:nvPr/>
        </p:nvGrpSpPr>
        <p:grpSpPr>
          <a:xfrm>
            <a:off x="838199" y="291161"/>
            <a:ext cx="1695892" cy="305739"/>
            <a:chOff x="838199" y="291161"/>
            <a:chExt cx="1695892" cy="305739"/>
          </a:xfrm>
        </p:grpSpPr>
        <p:sp>
          <p:nvSpPr>
            <p:cNvPr id="6" name="AutoShape 9">
              <a:extLst>
                <a:ext uri="{FF2B5EF4-FFF2-40B4-BE49-F238E27FC236}">
                  <a16:creationId xmlns:a16="http://schemas.microsoft.com/office/drawing/2014/main" id="{45B637FB-9AA3-C3AF-F555-F1C5CEA24422}"/>
                </a:ext>
              </a:extLst>
            </p:cNvPr>
            <p:cNvSpPr>
              <a:spLocks noChangeArrowheads="1"/>
            </p:cNvSpPr>
            <p:nvPr/>
          </p:nvSpPr>
          <p:spPr bwMode="auto">
            <a:xfrm>
              <a:off x="2101274"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D5E41442-B720-C798-2B17-54905B6F8349}"/>
                </a:ext>
              </a:extLst>
            </p:cNvPr>
            <p:cNvSpPr>
              <a:spLocks noChangeArrowheads="1"/>
            </p:cNvSpPr>
            <p:nvPr/>
          </p:nvSpPr>
          <p:spPr bwMode="auto">
            <a:xfrm>
              <a:off x="1796474"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90C00B60-7644-E435-BF62-0F691F0DAE53}"/>
                </a:ext>
              </a:extLst>
            </p:cNvPr>
            <p:cNvSpPr>
              <a:spLocks noChangeArrowheads="1"/>
            </p:cNvSpPr>
            <p:nvPr/>
          </p:nvSpPr>
          <p:spPr bwMode="auto">
            <a:xfrm>
              <a:off x="1465549"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780DCFFF-EC7B-104C-40F2-6280895335A4}"/>
                </a:ext>
              </a:extLst>
            </p:cNvPr>
            <p:cNvSpPr>
              <a:spLocks noChangeArrowheads="1"/>
            </p:cNvSpPr>
            <p:nvPr/>
          </p:nvSpPr>
          <p:spPr bwMode="auto">
            <a:xfrm>
              <a:off x="1134084" y="291162"/>
              <a:ext cx="432817" cy="305738"/>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0">
              <a:extLst>
                <a:ext uri="{FF2B5EF4-FFF2-40B4-BE49-F238E27FC236}">
                  <a16:creationId xmlns:a16="http://schemas.microsoft.com/office/drawing/2014/main" id="{E677A8A2-B2E9-09DE-F230-A148947D4F07}"/>
                </a:ext>
              </a:extLst>
            </p:cNvPr>
            <p:cNvSpPr>
              <a:spLocks noChangeArrowheads="1"/>
            </p:cNvSpPr>
            <p:nvPr/>
          </p:nvSpPr>
          <p:spPr bwMode="auto">
            <a:xfrm>
              <a:off x="838199"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1" name="TextBox 10">
            <a:extLst>
              <a:ext uri="{FF2B5EF4-FFF2-40B4-BE49-F238E27FC236}">
                <a16:creationId xmlns:a16="http://schemas.microsoft.com/office/drawing/2014/main" id="{1FA21698-6563-3A2B-BB82-D484024A34D9}"/>
              </a:ext>
            </a:extLst>
          </p:cNvPr>
          <p:cNvSpPr txBox="1"/>
          <p:nvPr/>
        </p:nvSpPr>
        <p:spPr>
          <a:xfrm>
            <a:off x="2592050" y="291161"/>
            <a:ext cx="2917371" cy="307777"/>
          </a:xfrm>
          <a:prstGeom prst="rect">
            <a:avLst/>
          </a:prstGeom>
          <a:noFill/>
        </p:spPr>
        <p:txBody>
          <a:bodyPr wrap="square" rtlCol="0">
            <a:spAutoFit/>
          </a:bodyPr>
          <a:lstStyle/>
          <a:p>
            <a:r>
              <a:rPr lang="en-US" sz="14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Create Current State Map</a:t>
            </a:r>
          </a:p>
        </p:txBody>
      </p:sp>
      <p:sp>
        <p:nvSpPr>
          <p:cNvPr id="12" name="Slide Number Placeholder 2">
            <a:extLst>
              <a:ext uri="{FF2B5EF4-FFF2-40B4-BE49-F238E27FC236}">
                <a16:creationId xmlns:a16="http://schemas.microsoft.com/office/drawing/2014/main" id="{4EF616A7-41B7-72F7-AF9D-3D9CD5E413CE}"/>
              </a:ext>
            </a:extLst>
          </p:cNvPr>
          <p:cNvSpPr txBox="1">
            <a:spLocks/>
          </p:cNvSpPr>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8</a:t>
            </a:fld>
            <a:endParaRPr lang="en-US" dirty="0"/>
          </a:p>
        </p:txBody>
      </p:sp>
    </p:spTree>
    <p:extLst>
      <p:ext uri="{BB962C8B-B14F-4D97-AF65-F5344CB8AC3E}">
        <p14:creationId xmlns:p14="http://schemas.microsoft.com/office/powerpoint/2010/main" val="305898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78BC1C1-D571-7132-D48A-0691BAF47026}"/>
              </a:ext>
            </a:extLst>
          </p:cNvPr>
          <p:cNvSpPr>
            <a:spLocks noGrp="1"/>
          </p:cNvSpPr>
          <p:nvPr>
            <p:ph type="sldNum" sz="quarter" idx="11"/>
          </p:nvPr>
        </p:nvSpPr>
        <p:spPr/>
        <p:txBody>
          <a:bodyPr/>
          <a:lstStyle/>
          <a:p>
            <a:fld id="{CC6D4273-7FC1-0947-B9FE-19CB3C0D1FB6}" type="slidenum">
              <a:rPr lang="en-US" smtClean="0"/>
              <a:pPr/>
              <a:t>9</a:t>
            </a:fld>
            <a:endParaRPr lang="en-US" dirty="0"/>
          </a:p>
        </p:txBody>
      </p:sp>
      <p:sp>
        <p:nvSpPr>
          <p:cNvPr id="3" name="Rectangle 114">
            <a:extLst>
              <a:ext uri="{FF2B5EF4-FFF2-40B4-BE49-F238E27FC236}">
                <a16:creationId xmlns:a16="http://schemas.microsoft.com/office/drawing/2014/main" id="{ACC180CF-58CD-1317-62FE-7933F264B943}"/>
              </a:ext>
            </a:extLst>
          </p:cNvPr>
          <p:cNvSpPr>
            <a:spLocks noChangeArrowheads="1"/>
          </p:cNvSpPr>
          <p:nvPr/>
        </p:nvSpPr>
        <p:spPr bwMode="auto">
          <a:xfrm>
            <a:off x="6744365" y="4319588"/>
            <a:ext cx="663575" cy="336550"/>
          </a:xfrm>
          <a:prstGeom prst="rect">
            <a:avLst/>
          </a:prstGeom>
          <a:solidFill>
            <a:srgbClr val="FFFF00"/>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800" b="0"/>
              <a:t>35% go to exception</a:t>
            </a:r>
            <a:r>
              <a:rPr lang="en-US" altLang="en-US" sz="800" b="0">
                <a:solidFill>
                  <a:srgbClr val="FF0000"/>
                </a:solidFill>
              </a:rPr>
              <a:t> </a:t>
            </a:r>
          </a:p>
        </p:txBody>
      </p:sp>
      <p:sp>
        <p:nvSpPr>
          <p:cNvPr id="4" name="Rectangle 454">
            <a:extLst>
              <a:ext uri="{FF2B5EF4-FFF2-40B4-BE49-F238E27FC236}">
                <a16:creationId xmlns:a16="http://schemas.microsoft.com/office/drawing/2014/main" id="{F4B58D85-3FDD-20CA-467B-349F149C98E2}"/>
              </a:ext>
            </a:extLst>
          </p:cNvPr>
          <p:cNvSpPr>
            <a:spLocks noChangeArrowheads="1"/>
          </p:cNvSpPr>
          <p:nvPr/>
        </p:nvSpPr>
        <p:spPr bwMode="auto">
          <a:xfrm>
            <a:off x="7888953" y="4122738"/>
            <a:ext cx="649287" cy="54927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 name="Text Box 3">
            <a:extLst>
              <a:ext uri="{FF2B5EF4-FFF2-40B4-BE49-F238E27FC236}">
                <a16:creationId xmlns:a16="http://schemas.microsoft.com/office/drawing/2014/main" id="{0D9CE244-AC68-CE08-BAFE-3D68E03E46F5}"/>
              </a:ext>
            </a:extLst>
          </p:cNvPr>
          <p:cNvSpPr txBox="1">
            <a:spLocks noChangeArrowheads="1"/>
          </p:cNvSpPr>
          <p:nvPr/>
        </p:nvSpPr>
        <p:spPr bwMode="auto">
          <a:xfrm>
            <a:off x="4659978" y="1223963"/>
            <a:ext cx="23479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1400"/>
              <a:t>Carl’s Credit Cards (CCC)</a:t>
            </a:r>
          </a:p>
        </p:txBody>
      </p:sp>
      <p:grpSp>
        <p:nvGrpSpPr>
          <p:cNvPr id="6" name="Group 4">
            <a:extLst>
              <a:ext uri="{FF2B5EF4-FFF2-40B4-BE49-F238E27FC236}">
                <a16:creationId xmlns:a16="http://schemas.microsoft.com/office/drawing/2014/main" id="{3A680DC3-81D8-B9B6-8B31-100D7CADB5A2}"/>
              </a:ext>
            </a:extLst>
          </p:cNvPr>
          <p:cNvGrpSpPr>
            <a:grpSpLocks/>
          </p:cNvGrpSpPr>
          <p:nvPr/>
        </p:nvGrpSpPr>
        <p:grpSpPr bwMode="auto">
          <a:xfrm>
            <a:off x="2093572" y="1284288"/>
            <a:ext cx="2312215" cy="700087"/>
            <a:chOff x="3444" y="1504"/>
            <a:chExt cx="1043" cy="441"/>
          </a:xfrm>
        </p:grpSpPr>
        <p:sp>
          <p:nvSpPr>
            <p:cNvPr id="7" name="Rectangle 5">
              <a:extLst>
                <a:ext uri="{FF2B5EF4-FFF2-40B4-BE49-F238E27FC236}">
                  <a16:creationId xmlns:a16="http://schemas.microsoft.com/office/drawing/2014/main" id="{CDB279C7-D144-8D2D-6985-C3986629CB8D}"/>
                </a:ext>
              </a:extLst>
            </p:cNvPr>
            <p:cNvSpPr>
              <a:spLocks noChangeArrowheads="1"/>
            </p:cNvSpPr>
            <p:nvPr/>
          </p:nvSpPr>
          <p:spPr bwMode="auto">
            <a:xfrm>
              <a:off x="3503" y="1504"/>
              <a:ext cx="984" cy="441"/>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8" name="Text Box 6">
              <a:extLst>
                <a:ext uri="{FF2B5EF4-FFF2-40B4-BE49-F238E27FC236}">
                  <a16:creationId xmlns:a16="http://schemas.microsoft.com/office/drawing/2014/main" id="{3F66D8EE-D389-F96B-EAAB-6EDA3AF91A1E}"/>
                </a:ext>
              </a:extLst>
            </p:cNvPr>
            <p:cNvSpPr txBox="1">
              <a:spLocks noChangeArrowheads="1"/>
            </p:cNvSpPr>
            <p:nvPr/>
          </p:nvSpPr>
          <p:spPr bwMode="auto">
            <a:xfrm>
              <a:off x="3444" y="1689"/>
              <a:ext cx="632" cy="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5000"/>
                </a:spcBef>
                <a:spcAft>
                  <a:spcPct val="0"/>
                </a:spcAft>
                <a:buClrTx/>
                <a:buSzTx/>
                <a:buFontTx/>
                <a:buNone/>
              </a:pPr>
              <a:r>
                <a:rPr lang="en-US" altLang="en-US" sz="800" b="0"/>
                <a:t>27,000 Seconds</a:t>
              </a:r>
            </a:p>
            <a:p>
              <a:pPr algn="ctr">
                <a:lnSpc>
                  <a:spcPct val="100000"/>
                </a:lnSpc>
                <a:spcBef>
                  <a:spcPct val="35000"/>
                </a:spcBef>
                <a:spcAft>
                  <a:spcPct val="0"/>
                </a:spcAft>
                <a:buClrTx/>
                <a:buSzTx/>
                <a:buFontTx/>
                <a:buNone/>
              </a:pPr>
              <a:r>
                <a:rPr lang="en-US" altLang="en-US" sz="800" b="0"/>
                <a:t>2,000 Pieces</a:t>
              </a:r>
            </a:p>
          </p:txBody>
        </p:sp>
        <p:sp>
          <p:nvSpPr>
            <p:cNvPr id="9" name="Line 7">
              <a:extLst>
                <a:ext uri="{FF2B5EF4-FFF2-40B4-BE49-F238E27FC236}">
                  <a16:creationId xmlns:a16="http://schemas.microsoft.com/office/drawing/2014/main" id="{A47D302F-4988-7430-B59F-618010FC1366}"/>
                </a:ext>
              </a:extLst>
            </p:cNvPr>
            <p:cNvSpPr>
              <a:spLocks noChangeShapeType="1"/>
            </p:cNvSpPr>
            <p:nvPr/>
          </p:nvSpPr>
          <p:spPr bwMode="auto">
            <a:xfrm>
              <a:off x="3526" y="1804"/>
              <a:ext cx="445" cy="3"/>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 name="Rectangle 8">
              <a:extLst>
                <a:ext uri="{FF2B5EF4-FFF2-40B4-BE49-F238E27FC236}">
                  <a16:creationId xmlns:a16="http://schemas.microsoft.com/office/drawing/2014/main" id="{0168B9C3-BC3E-4A2A-3E81-8C30D6721B76}"/>
                </a:ext>
              </a:extLst>
            </p:cNvPr>
            <p:cNvSpPr>
              <a:spLocks noChangeArrowheads="1"/>
            </p:cNvSpPr>
            <p:nvPr/>
          </p:nvSpPr>
          <p:spPr bwMode="auto">
            <a:xfrm>
              <a:off x="3729" y="1578"/>
              <a:ext cx="524"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1600" baseline="30000" dirty="0"/>
                <a:t>Takt Time</a:t>
              </a:r>
            </a:p>
          </p:txBody>
        </p:sp>
      </p:grpSp>
      <p:sp>
        <p:nvSpPr>
          <p:cNvPr id="11" name="Text Box 9">
            <a:extLst>
              <a:ext uri="{FF2B5EF4-FFF2-40B4-BE49-F238E27FC236}">
                <a16:creationId xmlns:a16="http://schemas.microsoft.com/office/drawing/2014/main" id="{09F7E4BA-18E9-9880-F755-E68F53537D86}"/>
              </a:ext>
            </a:extLst>
          </p:cNvPr>
          <p:cNvSpPr txBox="1">
            <a:spLocks noChangeArrowheads="1"/>
          </p:cNvSpPr>
          <p:nvPr/>
        </p:nvSpPr>
        <p:spPr bwMode="auto">
          <a:xfrm>
            <a:off x="3551712" y="1654175"/>
            <a:ext cx="939800"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00000"/>
              </a:lnSpc>
              <a:spcBef>
                <a:spcPct val="0"/>
              </a:spcBef>
              <a:spcAft>
                <a:spcPct val="0"/>
              </a:spcAft>
              <a:buClrTx/>
              <a:buSzTx/>
              <a:buFontTx/>
              <a:buNone/>
            </a:pPr>
            <a:r>
              <a:rPr lang="en-US" altLang="en-US" sz="800" b="0" dirty="0"/>
              <a:t>= </a:t>
            </a:r>
            <a:r>
              <a:rPr lang="en-US" altLang="en-US" sz="800" dirty="0">
                <a:solidFill>
                  <a:srgbClr val="FF0000"/>
                </a:solidFill>
              </a:rPr>
              <a:t>13.5 seconds</a:t>
            </a:r>
          </a:p>
        </p:txBody>
      </p:sp>
      <p:sp>
        <p:nvSpPr>
          <p:cNvPr id="12" name="Rectangle 12">
            <a:extLst>
              <a:ext uri="{FF2B5EF4-FFF2-40B4-BE49-F238E27FC236}">
                <a16:creationId xmlns:a16="http://schemas.microsoft.com/office/drawing/2014/main" id="{E14E38EB-E4F1-7F1E-3727-A8F388361C19}"/>
              </a:ext>
            </a:extLst>
          </p:cNvPr>
          <p:cNvSpPr>
            <a:spLocks noChangeArrowheads="1"/>
          </p:cNvSpPr>
          <p:nvPr/>
        </p:nvSpPr>
        <p:spPr bwMode="auto">
          <a:xfrm>
            <a:off x="4907628" y="4064001"/>
            <a:ext cx="661987" cy="55562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3" name="Line 13">
            <a:extLst>
              <a:ext uri="{FF2B5EF4-FFF2-40B4-BE49-F238E27FC236}">
                <a16:creationId xmlns:a16="http://schemas.microsoft.com/office/drawing/2014/main" id="{36AA4BA1-9F35-10F3-652B-359007824CF0}"/>
              </a:ext>
            </a:extLst>
          </p:cNvPr>
          <p:cNvSpPr>
            <a:spLocks noChangeShapeType="1"/>
          </p:cNvSpPr>
          <p:nvPr/>
        </p:nvSpPr>
        <p:spPr bwMode="auto">
          <a:xfrm>
            <a:off x="4912390" y="4354513"/>
            <a:ext cx="650875" cy="158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14" name="Group 14">
            <a:extLst>
              <a:ext uri="{FF2B5EF4-FFF2-40B4-BE49-F238E27FC236}">
                <a16:creationId xmlns:a16="http://schemas.microsoft.com/office/drawing/2014/main" id="{1CC64F72-0DD7-49E2-05C0-0BAAF48C6DDF}"/>
              </a:ext>
            </a:extLst>
          </p:cNvPr>
          <p:cNvGrpSpPr>
            <a:grpSpLocks/>
          </p:cNvGrpSpPr>
          <p:nvPr/>
        </p:nvGrpSpPr>
        <p:grpSpPr bwMode="auto">
          <a:xfrm flipV="1">
            <a:off x="5052090" y="4354513"/>
            <a:ext cx="147638" cy="171450"/>
            <a:chOff x="720" y="3354"/>
            <a:chExt cx="192" cy="198"/>
          </a:xfrm>
        </p:grpSpPr>
        <p:sp>
          <p:nvSpPr>
            <p:cNvPr id="15" name="Oval 15">
              <a:extLst>
                <a:ext uri="{FF2B5EF4-FFF2-40B4-BE49-F238E27FC236}">
                  <a16:creationId xmlns:a16="http://schemas.microsoft.com/office/drawing/2014/main" id="{D520A75A-F0EE-17A5-04B1-4E41E638B270}"/>
                </a:ext>
              </a:extLst>
            </p:cNvPr>
            <p:cNvSpPr>
              <a:spLocks noChangeArrowheads="1"/>
            </p:cNvSpPr>
            <p:nvPr/>
          </p:nvSpPr>
          <p:spPr bwMode="auto">
            <a:xfrm>
              <a:off x="768" y="3408"/>
              <a:ext cx="96" cy="9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6" name="AutoShape 16">
              <a:extLst>
                <a:ext uri="{FF2B5EF4-FFF2-40B4-BE49-F238E27FC236}">
                  <a16:creationId xmlns:a16="http://schemas.microsoft.com/office/drawing/2014/main" id="{3B15A906-AE54-BFCA-5CFF-ACB707E43940}"/>
                </a:ext>
              </a:extLst>
            </p:cNvPr>
            <p:cNvSpPr>
              <a:spLocks noChangeArrowheads="1"/>
            </p:cNvSpPr>
            <p:nvPr/>
          </p:nvSpPr>
          <p:spPr bwMode="auto">
            <a:xfrm>
              <a:off x="720" y="3354"/>
              <a:ext cx="192" cy="198"/>
            </a:xfrm>
            <a:custGeom>
              <a:avLst/>
              <a:gdLst>
                <a:gd name="T0" fmla="*/ 1 w 21600"/>
                <a:gd name="T1" fmla="*/ 0 h 21600"/>
                <a:gd name="T2" fmla="*/ 0 w 21600"/>
                <a:gd name="T3" fmla="*/ 1 h 21600"/>
                <a:gd name="T4" fmla="*/ 1 w 21600"/>
                <a:gd name="T5" fmla="*/ 0 h 21600"/>
                <a:gd name="T6" fmla="*/ 1 w 21600"/>
                <a:gd name="T7" fmla="*/ 1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7" name="Text Box 17">
            <a:extLst>
              <a:ext uri="{FF2B5EF4-FFF2-40B4-BE49-F238E27FC236}">
                <a16:creationId xmlns:a16="http://schemas.microsoft.com/office/drawing/2014/main" id="{4708E045-B96C-B3C1-D546-B226F27C0AC9}"/>
              </a:ext>
            </a:extLst>
          </p:cNvPr>
          <p:cNvSpPr txBox="1">
            <a:spLocks noChangeArrowheads="1"/>
          </p:cNvSpPr>
          <p:nvPr/>
        </p:nvSpPr>
        <p:spPr bwMode="auto">
          <a:xfrm>
            <a:off x="5164803" y="4376738"/>
            <a:ext cx="360362" cy="198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700" b="0"/>
              <a:t>= 10</a:t>
            </a:r>
          </a:p>
        </p:txBody>
      </p:sp>
      <p:sp>
        <p:nvSpPr>
          <p:cNvPr id="18" name="Text Box 18">
            <a:extLst>
              <a:ext uri="{FF2B5EF4-FFF2-40B4-BE49-F238E27FC236}">
                <a16:creationId xmlns:a16="http://schemas.microsoft.com/office/drawing/2014/main" id="{33F1FD76-5B01-57F3-AF71-179D3B6F3DCE}"/>
              </a:ext>
            </a:extLst>
          </p:cNvPr>
          <p:cNvSpPr txBox="1">
            <a:spLocks noChangeArrowheads="1"/>
          </p:cNvSpPr>
          <p:nvPr/>
        </p:nvSpPr>
        <p:spPr bwMode="auto">
          <a:xfrm>
            <a:off x="4933028" y="4025901"/>
            <a:ext cx="619125"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700" b="0"/>
              <a:t>Data Entry</a:t>
            </a:r>
          </a:p>
        </p:txBody>
      </p:sp>
      <p:grpSp>
        <p:nvGrpSpPr>
          <p:cNvPr id="19" name="Group 19">
            <a:extLst>
              <a:ext uri="{FF2B5EF4-FFF2-40B4-BE49-F238E27FC236}">
                <a16:creationId xmlns:a16="http://schemas.microsoft.com/office/drawing/2014/main" id="{FEC0FB29-3FA5-E479-D992-6B1FF0BE0723}"/>
              </a:ext>
            </a:extLst>
          </p:cNvPr>
          <p:cNvGrpSpPr>
            <a:grpSpLocks/>
          </p:cNvGrpSpPr>
          <p:nvPr/>
        </p:nvGrpSpPr>
        <p:grpSpPr bwMode="auto">
          <a:xfrm>
            <a:off x="3918615" y="4025901"/>
            <a:ext cx="657225" cy="593725"/>
            <a:chOff x="1223" y="2972"/>
            <a:chExt cx="456" cy="390"/>
          </a:xfrm>
        </p:grpSpPr>
        <p:sp>
          <p:nvSpPr>
            <p:cNvPr id="20" name="Rectangle 20">
              <a:extLst>
                <a:ext uri="{FF2B5EF4-FFF2-40B4-BE49-F238E27FC236}">
                  <a16:creationId xmlns:a16="http://schemas.microsoft.com/office/drawing/2014/main" id="{BFA6E0B2-F9A3-ED79-FD0E-3067490FFC4B}"/>
                </a:ext>
              </a:extLst>
            </p:cNvPr>
            <p:cNvSpPr>
              <a:spLocks noChangeArrowheads="1"/>
            </p:cNvSpPr>
            <p:nvPr/>
          </p:nvSpPr>
          <p:spPr bwMode="auto">
            <a:xfrm>
              <a:off x="1223" y="2997"/>
              <a:ext cx="456" cy="36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1" name="Line 21">
              <a:extLst>
                <a:ext uri="{FF2B5EF4-FFF2-40B4-BE49-F238E27FC236}">
                  <a16:creationId xmlns:a16="http://schemas.microsoft.com/office/drawing/2014/main" id="{B3D1EE14-8349-BA84-E22D-73CC19FCC851}"/>
                </a:ext>
              </a:extLst>
            </p:cNvPr>
            <p:cNvSpPr>
              <a:spLocks noChangeShapeType="1"/>
            </p:cNvSpPr>
            <p:nvPr/>
          </p:nvSpPr>
          <p:spPr bwMode="auto">
            <a:xfrm>
              <a:off x="1226" y="3189"/>
              <a:ext cx="449" cy="1"/>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22" name="Group 22">
              <a:extLst>
                <a:ext uri="{FF2B5EF4-FFF2-40B4-BE49-F238E27FC236}">
                  <a16:creationId xmlns:a16="http://schemas.microsoft.com/office/drawing/2014/main" id="{B9BEB2C4-D386-5808-7A12-3F6FC8D1B7BE}"/>
                </a:ext>
              </a:extLst>
            </p:cNvPr>
            <p:cNvGrpSpPr>
              <a:grpSpLocks/>
            </p:cNvGrpSpPr>
            <p:nvPr/>
          </p:nvGrpSpPr>
          <p:grpSpPr bwMode="auto">
            <a:xfrm flipV="1">
              <a:off x="1323" y="3188"/>
              <a:ext cx="101" cy="112"/>
              <a:chOff x="720" y="3354"/>
              <a:chExt cx="192" cy="198"/>
            </a:xfrm>
          </p:grpSpPr>
          <p:sp>
            <p:nvSpPr>
              <p:cNvPr id="25" name="Oval 23">
                <a:extLst>
                  <a:ext uri="{FF2B5EF4-FFF2-40B4-BE49-F238E27FC236}">
                    <a16:creationId xmlns:a16="http://schemas.microsoft.com/office/drawing/2014/main" id="{5A136355-4286-882C-0F03-7E268FC93926}"/>
                  </a:ext>
                </a:extLst>
              </p:cNvPr>
              <p:cNvSpPr>
                <a:spLocks noChangeArrowheads="1"/>
              </p:cNvSpPr>
              <p:nvPr/>
            </p:nvSpPr>
            <p:spPr bwMode="auto">
              <a:xfrm>
                <a:off x="768" y="3408"/>
                <a:ext cx="96" cy="9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6" name="AutoShape 24">
                <a:extLst>
                  <a:ext uri="{FF2B5EF4-FFF2-40B4-BE49-F238E27FC236}">
                    <a16:creationId xmlns:a16="http://schemas.microsoft.com/office/drawing/2014/main" id="{3C65D583-8C76-5F2C-53CD-7770C210254A}"/>
                  </a:ext>
                </a:extLst>
              </p:cNvPr>
              <p:cNvSpPr>
                <a:spLocks noChangeArrowheads="1"/>
              </p:cNvSpPr>
              <p:nvPr/>
            </p:nvSpPr>
            <p:spPr bwMode="auto">
              <a:xfrm>
                <a:off x="720" y="3354"/>
                <a:ext cx="192" cy="198"/>
              </a:xfrm>
              <a:custGeom>
                <a:avLst/>
                <a:gdLst>
                  <a:gd name="T0" fmla="*/ 1 w 21600"/>
                  <a:gd name="T1" fmla="*/ 0 h 21600"/>
                  <a:gd name="T2" fmla="*/ 0 w 21600"/>
                  <a:gd name="T3" fmla="*/ 1 h 21600"/>
                  <a:gd name="T4" fmla="*/ 1 w 21600"/>
                  <a:gd name="T5" fmla="*/ 0 h 21600"/>
                  <a:gd name="T6" fmla="*/ 1 w 21600"/>
                  <a:gd name="T7" fmla="*/ 1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3" name="Text Box 25">
              <a:extLst>
                <a:ext uri="{FF2B5EF4-FFF2-40B4-BE49-F238E27FC236}">
                  <a16:creationId xmlns:a16="http://schemas.microsoft.com/office/drawing/2014/main" id="{0E41529E-D5F4-B7C7-6260-75794B3E00F4}"/>
                </a:ext>
              </a:extLst>
            </p:cNvPr>
            <p:cNvSpPr txBox="1">
              <a:spLocks noChangeArrowheads="1"/>
            </p:cNvSpPr>
            <p:nvPr/>
          </p:nvSpPr>
          <p:spPr bwMode="auto">
            <a:xfrm>
              <a:off x="1416" y="3202"/>
              <a:ext cx="215" cy="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700" b="0"/>
                <a:t>= 1</a:t>
              </a:r>
            </a:p>
          </p:txBody>
        </p:sp>
        <p:sp>
          <p:nvSpPr>
            <p:cNvPr id="24" name="Text Box 26">
              <a:extLst>
                <a:ext uri="{FF2B5EF4-FFF2-40B4-BE49-F238E27FC236}">
                  <a16:creationId xmlns:a16="http://schemas.microsoft.com/office/drawing/2014/main" id="{531FB7DC-8181-0649-21FA-F34D7287E744}"/>
                </a:ext>
              </a:extLst>
            </p:cNvPr>
            <p:cNvSpPr txBox="1">
              <a:spLocks noChangeArrowheads="1"/>
            </p:cNvSpPr>
            <p:nvPr/>
          </p:nvSpPr>
          <p:spPr bwMode="auto">
            <a:xfrm>
              <a:off x="1241" y="2972"/>
              <a:ext cx="425"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700" b="0"/>
                <a:t>Scan</a:t>
              </a:r>
            </a:p>
          </p:txBody>
        </p:sp>
      </p:grpSp>
      <p:sp>
        <p:nvSpPr>
          <p:cNvPr id="27" name="Rectangle 28">
            <a:extLst>
              <a:ext uri="{FF2B5EF4-FFF2-40B4-BE49-F238E27FC236}">
                <a16:creationId xmlns:a16="http://schemas.microsoft.com/office/drawing/2014/main" id="{3F7B4944-8336-07E4-8011-ED4E5680F9F8}"/>
              </a:ext>
            </a:extLst>
          </p:cNvPr>
          <p:cNvSpPr>
            <a:spLocks noChangeArrowheads="1"/>
          </p:cNvSpPr>
          <p:nvPr/>
        </p:nvSpPr>
        <p:spPr bwMode="auto">
          <a:xfrm>
            <a:off x="9324053" y="4064001"/>
            <a:ext cx="644525" cy="55562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endParaRPr lang="en-US" altLang="en-US" sz="1000" b="0">
              <a:solidFill>
                <a:srgbClr val="FF0000"/>
              </a:solidFill>
            </a:endParaRPr>
          </a:p>
        </p:txBody>
      </p:sp>
      <p:sp>
        <p:nvSpPr>
          <p:cNvPr id="28" name="Line 29">
            <a:extLst>
              <a:ext uri="{FF2B5EF4-FFF2-40B4-BE49-F238E27FC236}">
                <a16:creationId xmlns:a16="http://schemas.microsoft.com/office/drawing/2014/main" id="{7DD147D7-828A-4DD2-9EB8-E07978448B91}"/>
              </a:ext>
            </a:extLst>
          </p:cNvPr>
          <p:cNvSpPr>
            <a:spLocks noChangeShapeType="1"/>
          </p:cNvSpPr>
          <p:nvPr/>
        </p:nvSpPr>
        <p:spPr bwMode="auto">
          <a:xfrm>
            <a:off x="9328815" y="4359276"/>
            <a:ext cx="633413" cy="1587"/>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9" name="Text Box 30">
            <a:extLst>
              <a:ext uri="{FF2B5EF4-FFF2-40B4-BE49-F238E27FC236}">
                <a16:creationId xmlns:a16="http://schemas.microsoft.com/office/drawing/2014/main" id="{F93BB8C9-8447-DD77-EAD3-19E88B23C187}"/>
              </a:ext>
            </a:extLst>
          </p:cNvPr>
          <p:cNvSpPr txBox="1">
            <a:spLocks noChangeArrowheads="1"/>
          </p:cNvSpPr>
          <p:nvPr/>
        </p:nvSpPr>
        <p:spPr bwMode="auto">
          <a:xfrm>
            <a:off x="9347865" y="4025901"/>
            <a:ext cx="60483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700" b="0"/>
              <a:t>Mail Card</a:t>
            </a:r>
          </a:p>
        </p:txBody>
      </p:sp>
      <p:grpSp>
        <p:nvGrpSpPr>
          <p:cNvPr id="30" name="Group 31">
            <a:extLst>
              <a:ext uri="{FF2B5EF4-FFF2-40B4-BE49-F238E27FC236}">
                <a16:creationId xmlns:a16="http://schemas.microsoft.com/office/drawing/2014/main" id="{73D40071-E231-CD1D-79E9-B7D550899594}"/>
              </a:ext>
            </a:extLst>
          </p:cNvPr>
          <p:cNvGrpSpPr>
            <a:grpSpLocks/>
          </p:cNvGrpSpPr>
          <p:nvPr/>
        </p:nvGrpSpPr>
        <p:grpSpPr bwMode="auto">
          <a:xfrm flipV="1">
            <a:off x="9432003" y="4354513"/>
            <a:ext cx="163512" cy="171450"/>
            <a:chOff x="720" y="3354"/>
            <a:chExt cx="192" cy="198"/>
          </a:xfrm>
        </p:grpSpPr>
        <p:sp>
          <p:nvSpPr>
            <p:cNvPr id="31" name="Oval 32">
              <a:extLst>
                <a:ext uri="{FF2B5EF4-FFF2-40B4-BE49-F238E27FC236}">
                  <a16:creationId xmlns:a16="http://schemas.microsoft.com/office/drawing/2014/main" id="{4AA2F0E2-6D16-522A-6EC2-BEACBFBFE621}"/>
                </a:ext>
              </a:extLst>
            </p:cNvPr>
            <p:cNvSpPr>
              <a:spLocks noChangeArrowheads="1"/>
            </p:cNvSpPr>
            <p:nvPr/>
          </p:nvSpPr>
          <p:spPr bwMode="auto">
            <a:xfrm>
              <a:off x="768" y="3408"/>
              <a:ext cx="96" cy="9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2" name="AutoShape 33">
              <a:extLst>
                <a:ext uri="{FF2B5EF4-FFF2-40B4-BE49-F238E27FC236}">
                  <a16:creationId xmlns:a16="http://schemas.microsoft.com/office/drawing/2014/main" id="{1A3A0D25-FC05-862E-F647-D46660411F96}"/>
                </a:ext>
              </a:extLst>
            </p:cNvPr>
            <p:cNvSpPr>
              <a:spLocks noChangeArrowheads="1"/>
            </p:cNvSpPr>
            <p:nvPr/>
          </p:nvSpPr>
          <p:spPr bwMode="auto">
            <a:xfrm>
              <a:off x="720" y="3354"/>
              <a:ext cx="192" cy="198"/>
            </a:xfrm>
            <a:custGeom>
              <a:avLst/>
              <a:gdLst>
                <a:gd name="T0" fmla="*/ 1 w 21600"/>
                <a:gd name="T1" fmla="*/ 0 h 21600"/>
                <a:gd name="T2" fmla="*/ 0 w 21600"/>
                <a:gd name="T3" fmla="*/ 1 h 21600"/>
                <a:gd name="T4" fmla="*/ 1 w 21600"/>
                <a:gd name="T5" fmla="*/ 0 h 21600"/>
                <a:gd name="T6" fmla="*/ 1 w 21600"/>
                <a:gd name="T7" fmla="*/ 1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3" name="Text Box 34">
            <a:extLst>
              <a:ext uri="{FF2B5EF4-FFF2-40B4-BE49-F238E27FC236}">
                <a16:creationId xmlns:a16="http://schemas.microsoft.com/office/drawing/2014/main" id="{A3CA08AB-AB23-3BB1-C23B-236DBAF116E1}"/>
              </a:ext>
            </a:extLst>
          </p:cNvPr>
          <p:cNvSpPr txBox="1">
            <a:spLocks noChangeArrowheads="1"/>
          </p:cNvSpPr>
          <p:nvPr/>
        </p:nvSpPr>
        <p:spPr bwMode="auto">
          <a:xfrm>
            <a:off x="9601865" y="4354513"/>
            <a:ext cx="309563" cy="198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700" b="0"/>
              <a:t>= 2</a:t>
            </a:r>
          </a:p>
        </p:txBody>
      </p:sp>
      <p:grpSp>
        <p:nvGrpSpPr>
          <p:cNvPr id="34" name="Group 36">
            <a:extLst>
              <a:ext uri="{FF2B5EF4-FFF2-40B4-BE49-F238E27FC236}">
                <a16:creationId xmlns:a16="http://schemas.microsoft.com/office/drawing/2014/main" id="{45D2B81F-16A6-8626-E72A-C087271902BC}"/>
              </a:ext>
            </a:extLst>
          </p:cNvPr>
          <p:cNvGrpSpPr>
            <a:grpSpLocks/>
          </p:cNvGrpSpPr>
          <p:nvPr/>
        </p:nvGrpSpPr>
        <p:grpSpPr bwMode="auto">
          <a:xfrm>
            <a:off x="6930103" y="4621213"/>
            <a:ext cx="635000" cy="557213"/>
            <a:chOff x="3979" y="2536"/>
            <a:chExt cx="525" cy="365"/>
          </a:xfrm>
        </p:grpSpPr>
        <p:sp>
          <p:nvSpPr>
            <p:cNvPr id="35" name="Rectangle 37">
              <a:extLst>
                <a:ext uri="{FF2B5EF4-FFF2-40B4-BE49-F238E27FC236}">
                  <a16:creationId xmlns:a16="http://schemas.microsoft.com/office/drawing/2014/main" id="{AB65AC0E-3CBD-3487-269B-062AA11D07F3}"/>
                </a:ext>
              </a:extLst>
            </p:cNvPr>
            <p:cNvSpPr>
              <a:spLocks noChangeArrowheads="1"/>
            </p:cNvSpPr>
            <p:nvPr/>
          </p:nvSpPr>
          <p:spPr bwMode="auto">
            <a:xfrm>
              <a:off x="3979" y="2536"/>
              <a:ext cx="525" cy="36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6" name="Line 38">
              <a:extLst>
                <a:ext uri="{FF2B5EF4-FFF2-40B4-BE49-F238E27FC236}">
                  <a16:creationId xmlns:a16="http://schemas.microsoft.com/office/drawing/2014/main" id="{7F260798-0ABA-358E-D0D3-84CCCC28ABA3}"/>
                </a:ext>
              </a:extLst>
            </p:cNvPr>
            <p:cNvSpPr>
              <a:spLocks noChangeShapeType="1"/>
            </p:cNvSpPr>
            <p:nvPr/>
          </p:nvSpPr>
          <p:spPr bwMode="auto">
            <a:xfrm>
              <a:off x="3982" y="2734"/>
              <a:ext cx="518" cy="1"/>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37" name="Text Box 39">
            <a:extLst>
              <a:ext uri="{FF2B5EF4-FFF2-40B4-BE49-F238E27FC236}">
                <a16:creationId xmlns:a16="http://schemas.microsoft.com/office/drawing/2014/main" id="{B2B06875-1EE3-5EFE-83ED-2AA53649CEA6}"/>
              </a:ext>
            </a:extLst>
          </p:cNvPr>
          <p:cNvSpPr txBox="1">
            <a:spLocks noChangeArrowheads="1"/>
          </p:cNvSpPr>
          <p:nvPr/>
        </p:nvSpPr>
        <p:spPr bwMode="auto">
          <a:xfrm>
            <a:off x="6801515" y="4611688"/>
            <a:ext cx="885825" cy="198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t>Re-Underwrite</a:t>
            </a:r>
          </a:p>
        </p:txBody>
      </p:sp>
      <p:grpSp>
        <p:nvGrpSpPr>
          <p:cNvPr id="38" name="Group 40">
            <a:extLst>
              <a:ext uri="{FF2B5EF4-FFF2-40B4-BE49-F238E27FC236}">
                <a16:creationId xmlns:a16="http://schemas.microsoft.com/office/drawing/2014/main" id="{AD388A9A-38A3-376E-09A2-AE525E1273B3}"/>
              </a:ext>
            </a:extLst>
          </p:cNvPr>
          <p:cNvGrpSpPr>
            <a:grpSpLocks/>
          </p:cNvGrpSpPr>
          <p:nvPr/>
        </p:nvGrpSpPr>
        <p:grpSpPr bwMode="auto">
          <a:xfrm flipV="1">
            <a:off x="7058690" y="4935538"/>
            <a:ext cx="166688" cy="171450"/>
            <a:chOff x="720" y="3354"/>
            <a:chExt cx="192" cy="198"/>
          </a:xfrm>
        </p:grpSpPr>
        <p:sp>
          <p:nvSpPr>
            <p:cNvPr id="39" name="Oval 41">
              <a:extLst>
                <a:ext uri="{FF2B5EF4-FFF2-40B4-BE49-F238E27FC236}">
                  <a16:creationId xmlns:a16="http://schemas.microsoft.com/office/drawing/2014/main" id="{660B3094-6565-5B28-43F8-D2AEA2DBE194}"/>
                </a:ext>
              </a:extLst>
            </p:cNvPr>
            <p:cNvSpPr>
              <a:spLocks noChangeArrowheads="1"/>
            </p:cNvSpPr>
            <p:nvPr/>
          </p:nvSpPr>
          <p:spPr bwMode="auto">
            <a:xfrm>
              <a:off x="768" y="3408"/>
              <a:ext cx="96" cy="9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40" name="AutoShape 42">
              <a:extLst>
                <a:ext uri="{FF2B5EF4-FFF2-40B4-BE49-F238E27FC236}">
                  <a16:creationId xmlns:a16="http://schemas.microsoft.com/office/drawing/2014/main" id="{5DFACCC1-CA93-6694-E893-24F4E23C4734}"/>
                </a:ext>
              </a:extLst>
            </p:cNvPr>
            <p:cNvSpPr>
              <a:spLocks noChangeArrowheads="1"/>
            </p:cNvSpPr>
            <p:nvPr/>
          </p:nvSpPr>
          <p:spPr bwMode="auto">
            <a:xfrm>
              <a:off x="720" y="3354"/>
              <a:ext cx="192" cy="198"/>
            </a:xfrm>
            <a:custGeom>
              <a:avLst/>
              <a:gdLst>
                <a:gd name="T0" fmla="*/ 1 w 21600"/>
                <a:gd name="T1" fmla="*/ 0 h 21600"/>
                <a:gd name="T2" fmla="*/ 0 w 21600"/>
                <a:gd name="T3" fmla="*/ 1 h 21600"/>
                <a:gd name="T4" fmla="*/ 1 w 21600"/>
                <a:gd name="T5" fmla="*/ 0 h 21600"/>
                <a:gd name="T6" fmla="*/ 1 w 21600"/>
                <a:gd name="T7" fmla="*/ 1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41" name="Text Box 43">
            <a:extLst>
              <a:ext uri="{FF2B5EF4-FFF2-40B4-BE49-F238E27FC236}">
                <a16:creationId xmlns:a16="http://schemas.microsoft.com/office/drawing/2014/main" id="{651C582A-CD07-910B-A5BB-60721526A3D1}"/>
              </a:ext>
            </a:extLst>
          </p:cNvPr>
          <p:cNvSpPr txBox="1">
            <a:spLocks noChangeArrowheads="1"/>
          </p:cNvSpPr>
          <p:nvPr/>
        </p:nvSpPr>
        <p:spPr bwMode="auto">
          <a:xfrm>
            <a:off x="7234903" y="4937126"/>
            <a:ext cx="309562"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700" b="0"/>
              <a:t>= 2</a:t>
            </a:r>
          </a:p>
        </p:txBody>
      </p:sp>
      <p:sp>
        <p:nvSpPr>
          <p:cNvPr id="42" name="Rectangle 45">
            <a:extLst>
              <a:ext uri="{FF2B5EF4-FFF2-40B4-BE49-F238E27FC236}">
                <a16:creationId xmlns:a16="http://schemas.microsoft.com/office/drawing/2014/main" id="{ACC3B403-4ED2-75B5-9E32-D1E6BAB45627}"/>
              </a:ext>
            </a:extLst>
          </p:cNvPr>
          <p:cNvSpPr>
            <a:spLocks noChangeArrowheads="1"/>
          </p:cNvSpPr>
          <p:nvPr/>
        </p:nvSpPr>
        <p:spPr bwMode="auto">
          <a:xfrm>
            <a:off x="5922040" y="4064001"/>
            <a:ext cx="661988" cy="55562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43" name="Line 46">
            <a:extLst>
              <a:ext uri="{FF2B5EF4-FFF2-40B4-BE49-F238E27FC236}">
                <a16:creationId xmlns:a16="http://schemas.microsoft.com/office/drawing/2014/main" id="{E90BCF02-A614-34F1-75D7-468A4106B95E}"/>
              </a:ext>
            </a:extLst>
          </p:cNvPr>
          <p:cNvSpPr>
            <a:spLocks noChangeShapeType="1"/>
          </p:cNvSpPr>
          <p:nvPr/>
        </p:nvSpPr>
        <p:spPr bwMode="auto">
          <a:xfrm>
            <a:off x="5925215" y="4359276"/>
            <a:ext cx="652463" cy="1587"/>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44" name="Group 47">
            <a:extLst>
              <a:ext uri="{FF2B5EF4-FFF2-40B4-BE49-F238E27FC236}">
                <a16:creationId xmlns:a16="http://schemas.microsoft.com/office/drawing/2014/main" id="{4137940B-605D-DF31-B5A1-77B53F81E642}"/>
              </a:ext>
            </a:extLst>
          </p:cNvPr>
          <p:cNvGrpSpPr>
            <a:grpSpLocks/>
          </p:cNvGrpSpPr>
          <p:nvPr/>
        </p:nvGrpSpPr>
        <p:grpSpPr bwMode="auto">
          <a:xfrm flipV="1">
            <a:off x="6066503" y="4354513"/>
            <a:ext cx="146050" cy="171450"/>
            <a:chOff x="720" y="3354"/>
            <a:chExt cx="192" cy="198"/>
          </a:xfrm>
        </p:grpSpPr>
        <p:sp>
          <p:nvSpPr>
            <p:cNvPr id="45" name="Oval 48">
              <a:extLst>
                <a:ext uri="{FF2B5EF4-FFF2-40B4-BE49-F238E27FC236}">
                  <a16:creationId xmlns:a16="http://schemas.microsoft.com/office/drawing/2014/main" id="{9437D4F6-193E-E439-2E12-B93D72E23CC4}"/>
                </a:ext>
              </a:extLst>
            </p:cNvPr>
            <p:cNvSpPr>
              <a:spLocks noChangeArrowheads="1"/>
            </p:cNvSpPr>
            <p:nvPr/>
          </p:nvSpPr>
          <p:spPr bwMode="auto">
            <a:xfrm>
              <a:off x="768" y="3408"/>
              <a:ext cx="96" cy="9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46" name="AutoShape 49">
              <a:extLst>
                <a:ext uri="{FF2B5EF4-FFF2-40B4-BE49-F238E27FC236}">
                  <a16:creationId xmlns:a16="http://schemas.microsoft.com/office/drawing/2014/main" id="{A21BEB92-0CB2-C3FC-B592-78D1B7A1DB00}"/>
                </a:ext>
              </a:extLst>
            </p:cNvPr>
            <p:cNvSpPr>
              <a:spLocks noChangeArrowheads="1"/>
            </p:cNvSpPr>
            <p:nvPr/>
          </p:nvSpPr>
          <p:spPr bwMode="auto">
            <a:xfrm>
              <a:off x="720" y="3354"/>
              <a:ext cx="192" cy="198"/>
            </a:xfrm>
            <a:custGeom>
              <a:avLst/>
              <a:gdLst>
                <a:gd name="T0" fmla="*/ 1 w 21600"/>
                <a:gd name="T1" fmla="*/ 0 h 21600"/>
                <a:gd name="T2" fmla="*/ 0 w 21600"/>
                <a:gd name="T3" fmla="*/ 1 h 21600"/>
                <a:gd name="T4" fmla="*/ 1 w 21600"/>
                <a:gd name="T5" fmla="*/ 0 h 21600"/>
                <a:gd name="T6" fmla="*/ 1 w 21600"/>
                <a:gd name="T7" fmla="*/ 1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47" name="Text Box 50">
            <a:extLst>
              <a:ext uri="{FF2B5EF4-FFF2-40B4-BE49-F238E27FC236}">
                <a16:creationId xmlns:a16="http://schemas.microsoft.com/office/drawing/2014/main" id="{7D88FB79-8901-3F2E-676D-407D8F22E8B7}"/>
              </a:ext>
            </a:extLst>
          </p:cNvPr>
          <p:cNvSpPr txBox="1">
            <a:spLocks noChangeArrowheads="1"/>
          </p:cNvSpPr>
          <p:nvPr/>
        </p:nvSpPr>
        <p:spPr bwMode="auto">
          <a:xfrm>
            <a:off x="6201440" y="4376738"/>
            <a:ext cx="309563" cy="198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700" b="0"/>
              <a:t>= 4</a:t>
            </a:r>
          </a:p>
        </p:txBody>
      </p:sp>
      <p:sp>
        <p:nvSpPr>
          <p:cNvPr id="48" name="Text Box 51">
            <a:extLst>
              <a:ext uri="{FF2B5EF4-FFF2-40B4-BE49-F238E27FC236}">
                <a16:creationId xmlns:a16="http://schemas.microsoft.com/office/drawing/2014/main" id="{0BEFBD8C-3C4F-5AE3-014D-92085757A383}"/>
              </a:ext>
            </a:extLst>
          </p:cNvPr>
          <p:cNvSpPr txBox="1">
            <a:spLocks noChangeArrowheads="1"/>
          </p:cNvSpPr>
          <p:nvPr/>
        </p:nvSpPr>
        <p:spPr bwMode="auto">
          <a:xfrm>
            <a:off x="5901403" y="4025901"/>
            <a:ext cx="698500"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700" b="0"/>
              <a:t>Underwrite</a:t>
            </a:r>
          </a:p>
        </p:txBody>
      </p:sp>
      <p:grpSp>
        <p:nvGrpSpPr>
          <p:cNvPr id="49" name="Group 52">
            <a:extLst>
              <a:ext uri="{FF2B5EF4-FFF2-40B4-BE49-F238E27FC236}">
                <a16:creationId xmlns:a16="http://schemas.microsoft.com/office/drawing/2014/main" id="{4A8EDFE9-F28A-FD25-56CA-3929D311D5DF}"/>
              </a:ext>
            </a:extLst>
          </p:cNvPr>
          <p:cNvGrpSpPr>
            <a:grpSpLocks/>
          </p:cNvGrpSpPr>
          <p:nvPr/>
        </p:nvGrpSpPr>
        <p:grpSpPr bwMode="auto">
          <a:xfrm>
            <a:off x="1940590" y="4025901"/>
            <a:ext cx="657225" cy="593725"/>
            <a:chOff x="362" y="2972"/>
            <a:chExt cx="456" cy="390"/>
          </a:xfrm>
        </p:grpSpPr>
        <p:sp>
          <p:nvSpPr>
            <p:cNvPr id="50" name="Rectangle 53">
              <a:extLst>
                <a:ext uri="{FF2B5EF4-FFF2-40B4-BE49-F238E27FC236}">
                  <a16:creationId xmlns:a16="http://schemas.microsoft.com/office/drawing/2014/main" id="{BA21B776-76E1-3A42-FDD7-48CA13EEA129}"/>
                </a:ext>
              </a:extLst>
            </p:cNvPr>
            <p:cNvSpPr>
              <a:spLocks noChangeArrowheads="1"/>
            </p:cNvSpPr>
            <p:nvPr/>
          </p:nvSpPr>
          <p:spPr bwMode="auto">
            <a:xfrm>
              <a:off x="362" y="2997"/>
              <a:ext cx="456" cy="36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1" name="Line 54">
              <a:extLst>
                <a:ext uri="{FF2B5EF4-FFF2-40B4-BE49-F238E27FC236}">
                  <a16:creationId xmlns:a16="http://schemas.microsoft.com/office/drawing/2014/main" id="{226C1A42-2FC0-35D0-0434-9EFE46465B57}"/>
                </a:ext>
              </a:extLst>
            </p:cNvPr>
            <p:cNvSpPr>
              <a:spLocks noChangeShapeType="1"/>
            </p:cNvSpPr>
            <p:nvPr/>
          </p:nvSpPr>
          <p:spPr bwMode="auto">
            <a:xfrm>
              <a:off x="365" y="3189"/>
              <a:ext cx="449" cy="1"/>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52" name="Group 55">
              <a:extLst>
                <a:ext uri="{FF2B5EF4-FFF2-40B4-BE49-F238E27FC236}">
                  <a16:creationId xmlns:a16="http://schemas.microsoft.com/office/drawing/2014/main" id="{848D435A-34E8-E569-CFB2-F56A5A799134}"/>
                </a:ext>
              </a:extLst>
            </p:cNvPr>
            <p:cNvGrpSpPr>
              <a:grpSpLocks/>
            </p:cNvGrpSpPr>
            <p:nvPr/>
          </p:nvGrpSpPr>
          <p:grpSpPr bwMode="auto">
            <a:xfrm flipV="1">
              <a:off x="462" y="3188"/>
              <a:ext cx="101" cy="112"/>
              <a:chOff x="720" y="3354"/>
              <a:chExt cx="192" cy="198"/>
            </a:xfrm>
          </p:grpSpPr>
          <p:sp>
            <p:nvSpPr>
              <p:cNvPr id="55" name="Oval 56">
                <a:extLst>
                  <a:ext uri="{FF2B5EF4-FFF2-40B4-BE49-F238E27FC236}">
                    <a16:creationId xmlns:a16="http://schemas.microsoft.com/office/drawing/2014/main" id="{75048933-4DB7-B0C9-E968-835A8C377F53}"/>
                  </a:ext>
                </a:extLst>
              </p:cNvPr>
              <p:cNvSpPr>
                <a:spLocks noChangeArrowheads="1"/>
              </p:cNvSpPr>
              <p:nvPr/>
            </p:nvSpPr>
            <p:spPr bwMode="auto">
              <a:xfrm>
                <a:off x="768" y="3408"/>
                <a:ext cx="96" cy="9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6" name="AutoShape 57">
                <a:extLst>
                  <a:ext uri="{FF2B5EF4-FFF2-40B4-BE49-F238E27FC236}">
                    <a16:creationId xmlns:a16="http://schemas.microsoft.com/office/drawing/2014/main" id="{B3101DCA-A53F-43DE-23D2-8B999B9F901C}"/>
                  </a:ext>
                </a:extLst>
              </p:cNvPr>
              <p:cNvSpPr>
                <a:spLocks noChangeArrowheads="1"/>
              </p:cNvSpPr>
              <p:nvPr/>
            </p:nvSpPr>
            <p:spPr bwMode="auto">
              <a:xfrm>
                <a:off x="720" y="3354"/>
                <a:ext cx="192" cy="198"/>
              </a:xfrm>
              <a:custGeom>
                <a:avLst/>
                <a:gdLst>
                  <a:gd name="T0" fmla="*/ 1 w 21600"/>
                  <a:gd name="T1" fmla="*/ 0 h 21600"/>
                  <a:gd name="T2" fmla="*/ 0 w 21600"/>
                  <a:gd name="T3" fmla="*/ 1 h 21600"/>
                  <a:gd name="T4" fmla="*/ 1 w 21600"/>
                  <a:gd name="T5" fmla="*/ 0 h 21600"/>
                  <a:gd name="T6" fmla="*/ 1 w 21600"/>
                  <a:gd name="T7" fmla="*/ 1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53" name="Text Box 58">
              <a:extLst>
                <a:ext uri="{FF2B5EF4-FFF2-40B4-BE49-F238E27FC236}">
                  <a16:creationId xmlns:a16="http://schemas.microsoft.com/office/drawing/2014/main" id="{96471025-EAC2-B998-9E22-EFF38938FF16}"/>
                </a:ext>
              </a:extLst>
            </p:cNvPr>
            <p:cNvSpPr txBox="1">
              <a:spLocks noChangeArrowheads="1"/>
            </p:cNvSpPr>
            <p:nvPr/>
          </p:nvSpPr>
          <p:spPr bwMode="auto">
            <a:xfrm>
              <a:off x="554" y="3202"/>
              <a:ext cx="214" cy="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700" b="0"/>
                <a:t>= 2</a:t>
              </a:r>
            </a:p>
          </p:txBody>
        </p:sp>
        <p:sp>
          <p:nvSpPr>
            <p:cNvPr id="54" name="Text Box 59">
              <a:extLst>
                <a:ext uri="{FF2B5EF4-FFF2-40B4-BE49-F238E27FC236}">
                  <a16:creationId xmlns:a16="http://schemas.microsoft.com/office/drawing/2014/main" id="{EEF1290A-10B3-A630-B3B9-75EEBB88C9FB}"/>
                </a:ext>
              </a:extLst>
            </p:cNvPr>
            <p:cNvSpPr txBox="1">
              <a:spLocks noChangeArrowheads="1"/>
            </p:cNvSpPr>
            <p:nvPr/>
          </p:nvSpPr>
          <p:spPr bwMode="auto">
            <a:xfrm>
              <a:off x="378" y="2972"/>
              <a:ext cx="427"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t>Receipt</a:t>
              </a:r>
            </a:p>
          </p:txBody>
        </p:sp>
      </p:grpSp>
      <p:sp>
        <p:nvSpPr>
          <p:cNvPr id="57" name="Line 60">
            <a:extLst>
              <a:ext uri="{FF2B5EF4-FFF2-40B4-BE49-F238E27FC236}">
                <a16:creationId xmlns:a16="http://schemas.microsoft.com/office/drawing/2014/main" id="{19508701-4175-0EED-6861-DF16ED8E72D6}"/>
              </a:ext>
            </a:extLst>
          </p:cNvPr>
          <p:cNvSpPr>
            <a:spLocks noChangeShapeType="1"/>
          </p:cNvSpPr>
          <p:nvPr/>
        </p:nvSpPr>
        <p:spPr bwMode="auto">
          <a:xfrm flipV="1">
            <a:off x="2594640" y="4321176"/>
            <a:ext cx="344488"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58" name="Group 61">
            <a:extLst>
              <a:ext uri="{FF2B5EF4-FFF2-40B4-BE49-F238E27FC236}">
                <a16:creationId xmlns:a16="http://schemas.microsoft.com/office/drawing/2014/main" id="{7F345698-DCA2-DAA1-69B7-5F56933D76B9}"/>
              </a:ext>
            </a:extLst>
          </p:cNvPr>
          <p:cNvGrpSpPr>
            <a:grpSpLocks/>
          </p:cNvGrpSpPr>
          <p:nvPr/>
        </p:nvGrpSpPr>
        <p:grpSpPr bwMode="auto">
          <a:xfrm>
            <a:off x="2929603" y="4025901"/>
            <a:ext cx="657225" cy="593725"/>
            <a:chOff x="362" y="2972"/>
            <a:chExt cx="456" cy="390"/>
          </a:xfrm>
        </p:grpSpPr>
        <p:sp>
          <p:nvSpPr>
            <p:cNvPr id="59" name="Rectangle 62">
              <a:extLst>
                <a:ext uri="{FF2B5EF4-FFF2-40B4-BE49-F238E27FC236}">
                  <a16:creationId xmlns:a16="http://schemas.microsoft.com/office/drawing/2014/main" id="{13D05254-B6EC-1B65-50F9-3328762671B6}"/>
                </a:ext>
              </a:extLst>
            </p:cNvPr>
            <p:cNvSpPr>
              <a:spLocks noChangeArrowheads="1"/>
            </p:cNvSpPr>
            <p:nvPr/>
          </p:nvSpPr>
          <p:spPr bwMode="auto">
            <a:xfrm>
              <a:off x="362" y="2997"/>
              <a:ext cx="456" cy="36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0" name="Line 63">
              <a:extLst>
                <a:ext uri="{FF2B5EF4-FFF2-40B4-BE49-F238E27FC236}">
                  <a16:creationId xmlns:a16="http://schemas.microsoft.com/office/drawing/2014/main" id="{E595F8EA-FF66-F35B-6410-AE70EF8002EC}"/>
                </a:ext>
              </a:extLst>
            </p:cNvPr>
            <p:cNvSpPr>
              <a:spLocks noChangeShapeType="1"/>
            </p:cNvSpPr>
            <p:nvPr/>
          </p:nvSpPr>
          <p:spPr bwMode="auto">
            <a:xfrm>
              <a:off x="365" y="3189"/>
              <a:ext cx="449" cy="1"/>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61" name="Group 64">
              <a:extLst>
                <a:ext uri="{FF2B5EF4-FFF2-40B4-BE49-F238E27FC236}">
                  <a16:creationId xmlns:a16="http://schemas.microsoft.com/office/drawing/2014/main" id="{21970D22-8361-9E48-1C6C-D45D5BCB89E1}"/>
                </a:ext>
              </a:extLst>
            </p:cNvPr>
            <p:cNvGrpSpPr>
              <a:grpSpLocks/>
            </p:cNvGrpSpPr>
            <p:nvPr/>
          </p:nvGrpSpPr>
          <p:grpSpPr bwMode="auto">
            <a:xfrm flipV="1">
              <a:off x="462" y="3188"/>
              <a:ext cx="101" cy="112"/>
              <a:chOff x="720" y="3354"/>
              <a:chExt cx="192" cy="198"/>
            </a:xfrm>
          </p:grpSpPr>
          <p:sp>
            <p:nvSpPr>
              <p:cNvPr id="64" name="Oval 65">
                <a:extLst>
                  <a:ext uri="{FF2B5EF4-FFF2-40B4-BE49-F238E27FC236}">
                    <a16:creationId xmlns:a16="http://schemas.microsoft.com/office/drawing/2014/main" id="{BF81F628-E6D3-6CCC-4991-D9798B7E20CB}"/>
                  </a:ext>
                </a:extLst>
              </p:cNvPr>
              <p:cNvSpPr>
                <a:spLocks noChangeArrowheads="1"/>
              </p:cNvSpPr>
              <p:nvPr/>
            </p:nvSpPr>
            <p:spPr bwMode="auto">
              <a:xfrm>
                <a:off x="768" y="3408"/>
                <a:ext cx="96" cy="9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5" name="AutoShape 66">
                <a:extLst>
                  <a:ext uri="{FF2B5EF4-FFF2-40B4-BE49-F238E27FC236}">
                    <a16:creationId xmlns:a16="http://schemas.microsoft.com/office/drawing/2014/main" id="{6888A3CA-79E9-CFDD-4D92-DD0FDA092D67}"/>
                  </a:ext>
                </a:extLst>
              </p:cNvPr>
              <p:cNvSpPr>
                <a:spLocks noChangeArrowheads="1"/>
              </p:cNvSpPr>
              <p:nvPr/>
            </p:nvSpPr>
            <p:spPr bwMode="auto">
              <a:xfrm>
                <a:off x="720" y="3354"/>
                <a:ext cx="192" cy="198"/>
              </a:xfrm>
              <a:custGeom>
                <a:avLst/>
                <a:gdLst>
                  <a:gd name="T0" fmla="*/ 1 w 21600"/>
                  <a:gd name="T1" fmla="*/ 0 h 21600"/>
                  <a:gd name="T2" fmla="*/ 0 w 21600"/>
                  <a:gd name="T3" fmla="*/ 1 h 21600"/>
                  <a:gd name="T4" fmla="*/ 1 w 21600"/>
                  <a:gd name="T5" fmla="*/ 0 h 21600"/>
                  <a:gd name="T6" fmla="*/ 1 w 21600"/>
                  <a:gd name="T7" fmla="*/ 1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2" name="Text Box 67">
              <a:extLst>
                <a:ext uri="{FF2B5EF4-FFF2-40B4-BE49-F238E27FC236}">
                  <a16:creationId xmlns:a16="http://schemas.microsoft.com/office/drawing/2014/main" id="{CC38AD66-7504-2365-5E62-D11BD60704B5}"/>
                </a:ext>
              </a:extLst>
            </p:cNvPr>
            <p:cNvSpPr txBox="1">
              <a:spLocks noChangeArrowheads="1"/>
            </p:cNvSpPr>
            <p:nvPr/>
          </p:nvSpPr>
          <p:spPr bwMode="auto">
            <a:xfrm>
              <a:off x="554" y="3202"/>
              <a:ext cx="214" cy="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700" b="0"/>
                <a:t>= 1</a:t>
              </a:r>
            </a:p>
          </p:txBody>
        </p:sp>
        <p:sp>
          <p:nvSpPr>
            <p:cNvPr id="63" name="Text Box 68">
              <a:extLst>
                <a:ext uri="{FF2B5EF4-FFF2-40B4-BE49-F238E27FC236}">
                  <a16:creationId xmlns:a16="http://schemas.microsoft.com/office/drawing/2014/main" id="{E164D2EE-B513-D6B0-EDAB-00372726F4C1}"/>
                </a:ext>
              </a:extLst>
            </p:cNvPr>
            <p:cNvSpPr txBox="1">
              <a:spLocks noChangeArrowheads="1"/>
            </p:cNvSpPr>
            <p:nvPr/>
          </p:nvSpPr>
          <p:spPr bwMode="auto">
            <a:xfrm>
              <a:off x="378" y="2972"/>
              <a:ext cx="427" cy="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t>Signature</a:t>
              </a:r>
            </a:p>
            <a:p>
              <a:pPr algn="ctr">
                <a:lnSpc>
                  <a:spcPct val="100000"/>
                </a:lnSpc>
                <a:spcBef>
                  <a:spcPct val="0"/>
                </a:spcBef>
                <a:spcAft>
                  <a:spcPct val="0"/>
                </a:spcAft>
                <a:buClrTx/>
                <a:buSzTx/>
                <a:buFontTx/>
                <a:buNone/>
              </a:pPr>
              <a:r>
                <a:rPr lang="en-US" altLang="en-US" sz="700" b="0"/>
                <a:t>Check</a:t>
              </a:r>
            </a:p>
          </p:txBody>
        </p:sp>
      </p:grpSp>
      <p:grpSp>
        <p:nvGrpSpPr>
          <p:cNvPr id="66" name="Group 69">
            <a:extLst>
              <a:ext uri="{FF2B5EF4-FFF2-40B4-BE49-F238E27FC236}">
                <a16:creationId xmlns:a16="http://schemas.microsoft.com/office/drawing/2014/main" id="{109D7806-3958-3D20-9218-FAC46D4C3385}"/>
              </a:ext>
            </a:extLst>
          </p:cNvPr>
          <p:cNvGrpSpPr>
            <a:grpSpLocks/>
          </p:cNvGrpSpPr>
          <p:nvPr/>
        </p:nvGrpSpPr>
        <p:grpSpPr bwMode="auto">
          <a:xfrm>
            <a:off x="7898478" y="3543301"/>
            <a:ext cx="635000" cy="555625"/>
            <a:chOff x="3979" y="2536"/>
            <a:chExt cx="525" cy="365"/>
          </a:xfrm>
        </p:grpSpPr>
        <p:sp>
          <p:nvSpPr>
            <p:cNvPr id="67" name="Rectangle 70">
              <a:extLst>
                <a:ext uri="{FF2B5EF4-FFF2-40B4-BE49-F238E27FC236}">
                  <a16:creationId xmlns:a16="http://schemas.microsoft.com/office/drawing/2014/main" id="{42ABD541-0E9F-0BEA-E06F-498577013F7F}"/>
                </a:ext>
              </a:extLst>
            </p:cNvPr>
            <p:cNvSpPr>
              <a:spLocks noChangeArrowheads="1"/>
            </p:cNvSpPr>
            <p:nvPr/>
          </p:nvSpPr>
          <p:spPr bwMode="auto">
            <a:xfrm>
              <a:off x="3979" y="2536"/>
              <a:ext cx="525" cy="36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8" name="Line 71">
              <a:extLst>
                <a:ext uri="{FF2B5EF4-FFF2-40B4-BE49-F238E27FC236}">
                  <a16:creationId xmlns:a16="http://schemas.microsoft.com/office/drawing/2014/main" id="{7A29E44F-AAC3-BF5C-3D06-95288CFCE6EC}"/>
                </a:ext>
              </a:extLst>
            </p:cNvPr>
            <p:cNvSpPr>
              <a:spLocks noChangeShapeType="1"/>
            </p:cNvSpPr>
            <p:nvPr/>
          </p:nvSpPr>
          <p:spPr bwMode="auto">
            <a:xfrm>
              <a:off x="3982" y="2734"/>
              <a:ext cx="518" cy="1"/>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69" name="Text Box 72">
            <a:extLst>
              <a:ext uri="{FF2B5EF4-FFF2-40B4-BE49-F238E27FC236}">
                <a16:creationId xmlns:a16="http://schemas.microsoft.com/office/drawing/2014/main" id="{7F1CF0B7-80CE-DBA0-EB6F-D446F0BA7223}"/>
              </a:ext>
            </a:extLst>
          </p:cNvPr>
          <p:cNvSpPr txBox="1">
            <a:spLocks noChangeArrowheads="1"/>
          </p:cNvSpPr>
          <p:nvPr/>
        </p:nvSpPr>
        <p:spPr bwMode="auto">
          <a:xfrm>
            <a:off x="7915940" y="3503613"/>
            <a:ext cx="6111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t>Generate</a:t>
            </a:r>
          </a:p>
          <a:p>
            <a:pPr algn="ctr">
              <a:lnSpc>
                <a:spcPct val="100000"/>
              </a:lnSpc>
              <a:spcBef>
                <a:spcPct val="0"/>
              </a:spcBef>
              <a:spcAft>
                <a:spcPct val="0"/>
              </a:spcAft>
              <a:buClrTx/>
              <a:buSzTx/>
              <a:buFontTx/>
              <a:buNone/>
            </a:pPr>
            <a:r>
              <a:rPr lang="en-US" altLang="en-US" sz="700" b="0"/>
              <a:t>Card</a:t>
            </a:r>
          </a:p>
        </p:txBody>
      </p:sp>
      <p:sp>
        <p:nvSpPr>
          <p:cNvPr id="70" name="Line 74">
            <a:extLst>
              <a:ext uri="{FF2B5EF4-FFF2-40B4-BE49-F238E27FC236}">
                <a16:creationId xmlns:a16="http://schemas.microsoft.com/office/drawing/2014/main" id="{EC535F99-3026-6F36-9C05-0F18C2770A2B}"/>
              </a:ext>
            </a:extLst>
          </p:cNvPr>
          <p:cNvSpPr>
            <a:spLocks noChangeShapeType="1"/>
          </p:cNvSpPr>
          <p:nvPr/>
        </p:nvSpPr>
        <p:spPr bwMode="auto">
          <a:xfrm>
            <a:off x="8549353" y="3840163"/>
            <a:ext cx="458787" cy="65722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71" name="Line 76">
            <a:extLst>
              <a:ext uri="{FF2B5EF4-FFF2-40B4-BE49-F238E27FC236}">
                <a16:creationId xmlns:a16="http://schemas.microsoft.com/office/drawing/2014/main" id="{7A902959-BF14-FFD8-1084-1B5E0E68F859}"/>
              </a:ext>
            </a:extLst>
          </p:cNvPr>
          <p:cNvSpPr>
            <a:spLocks noChangeShapeType="1"/>
          </p:cNvSpPr>
          <p:nvPr/>
        </p:nvSpPr>
        <p:spPr bwMode="auto">
          <a:xfrm flipV="1">
            <a:off x="5593428" y="4321176"/>
            <a:ext cx="346075"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72" name="Line 78">
            <a:extLst>
              <a:ext uri="{FF2B5EF4-FFF2-40B4-BE49-F238E27FC236}">
                <a16:creationId xmlns:a16="http://schemas.microsoft.com/office/drawing/2014/main" id="{FE939A6C-6AE6-675A-FBDB-26DA27CF7C5D}"/>
              </a:ext>
            </a:extLst>
          </p:cNvPr>
          <p:cNvSpPr>
            <a:spLocks noChangeShapeType="1"/>
          </p:cNvSpPr>
          <p:nvPr/>
        </p:nvSpPr>
        <p:spPr bwMode="auto">
          <a:xfrm>
            <a:off x="6585615" y="4333876"/>
            <a:ext cx="336550" cy="595312"/>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cxnSp>
        <p:nvCxnSpPr>
          <p:cNvPr id="73" name="AutoShape 94">
            <a:extLst>
              <a:ext uri="{FF2B5EF4-FFF2-40B4-BE49-F238E27FC236}">
                <a16:creationId xmlns:a16="http://schemas.microsoft.com/office/drawing/2014/main" id="{3ACB04E0-A044-2184-283B-D27F1FD520D0}"/>
              </a:ext>
            </a:extLst>
          </p:cNvPr>
          <p:cNvCxnSpPr>
            <a:cxnSpLocks noChangeShapeType="1"/>
            <a:stCxn id="29" idx="0"/>
          </p:cNvCxnSpPr>
          <p:nvPr/>
        </p:nvCxnSpPr>
        <p:spPr bwMode="auto">
          <a:xfrm rot="5400000" flipH="1">
            <a:off x="7065040" y="1439864"/>
            <a:ext cx="1571625" cy="3600450"/>
          </a:xfrm>
          <a:prstGeom prst="bentConnector2">
            <a:avLst/>
          </a:prstGeom>
          <a:noFill/>
          <a:ln w="53975" cap="sq">
            <a:solidFill>
              <a:schemeClr val="tx1"/>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Text Box 106">
            <a:extLst>
              <a:ext uri="{FF2B5EF4-FFF2-40B4-BE49-F238E27FC236}">
                <a16:creationId xmlns:a16="http://schemas.microsoft.com/office/drawing/2014/main" id="{374A15ED-5257-7998-8A2F-96F6453D6249}"/>
              </a:ext>
            </a:extLst>
          </p:cNvPr>
          <p:cNvSpPr txBox="1">
            <a:spLocks noChangeArrowheads="1"/>
          </p:cNvSpPr>
          <p:nvPr/>
        </p:nvSpPr>
        <p:spPr bwMode="auto">
          <a:xfrm>
            <a:off x="2243803" y="3211513"/>
            <a:ext cx="1703387"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685800" indent="-22860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00000"/>
              </a:lnSpc>
              <a:spcBef>
                <a:spcPct val="0"/>
              </a:spcBef>
              <a:spcAft>
                <a:spcPct val="0"/>
              </a:spcAft>
              <a:buClrTx/>
              <a:buSzTx/>
              <a:buFontTx/>
              <a:buNone/>
            </a:pPr>
            <a:r>
              <a:rPr lang="en-US" altLang="en-US" sz="600" b="0"/>
              <a:t>Demand = 500 Electronic applications/day</a:t>
            </a:r>
          </a:p>
        </p:txBody>
      </p:sp>
      <p:sp>
        <p:nvSpPr>
          <p:cNvPr id="75" name="Rectangle 115">
            <a:extLst>
              <a:ext uri="{FF2B5EF4-FFF2-40B4-BE49-F238E27FC236}">
                <a16:creationId xmlns:a16="http://schemas.microsoft.com/office/drawing/2014/main" id="{ABE2E1BE-1391-159E-CFD4-C6ED9E547589}"/>
              </a:ext>
            </a:extLst>
          </p:cNvPr>
          <p:cNvSpPr>
            <a:spLocks noChangeArrowheads="1"/>
          </p:cNvSpPr>
          <p:nvPr/>
        </p:nvSpPr>
        <p:spPr bwMode="auto">
          <a:xfrm>
            <a:off x="5980778" y="3636963"/>
            <a:ext cx="515937" cy="369332"/>
          </a:xfrm>
          <a:prstGeom prst="rect">
            <a:avLst/>
          </a:prstGeom>
          <a:solidFill>
            <a:srgbClr val="FFFF00"/>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900" b="0" dirty="0"/>
              <a:t>20% loss</a:t>
            </a:r>
            <a:endParaRPr lang="en-US" altLang="en-US" sz="900" b="0" dirty="0">
              <a:solidFill>
                <a:srgbClr val="FF0000"/>
              </a:solidFill>
            </a:endParaRPr>
          </a:p>
        </p:txBody>
      </p:sp>
      <p:sp>
        <p:nvSpPr>
          <p:cNvPr id="76" name="Rectangle 116">
            <a:extLst>
              <a:ext uri="{FF2B5EF4-FFF2-40B4-BE49-F238E27FC236}">
                <a16:creationId xmlns:a16="http://schemas.microsoft.com/office/drawing/2014/main" id="{9A59F27D-CE4B-DFCD-6412-3EF3A6CE3FF7}"/>
              </a:ext>
            </a:extLst>
          </p:cNvPr>
          <p:cNvSpPr>
            <a:spLocks noChangeArrowheads="1"/>
          </p:cNvSpPr>
          <p:nvPr/>
        </p:nvSpPr>
        <p:spPr bwMode="auto">
          <a:xfrm>
            <a:off x="3012153" y="3651251"/>
            <a:ext cx="515937" cy="369332"/>
          </a:xfrm>
          <a:prstGeom prst="rect">
            <a:avLst/>
          </a:prstGeom>
          <a:solidFill>
            <a:srgbClr val="FFFF00"/>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900" b="0" dirty="0"/>
              <a:t>18% loss</a:t>
            </a:r>
            <a:endParaRPr lang="en-US" altLang="en-US" sz="900" b="0" dirty="0">
              <a:solidFill>
                <a:srgbClr val="FF0000"/>
              </a:solidFill>
            </a:endParaRPr>
          </a:p>
        </p:txBody>
      </p:sp>
      <p:sp>
        <p:nvSpPr>
          <p:cNvPr id="77" name="Rectangle 117">
            <a:extLst>
              <a:ext uri="{FF2B5EF4-FFF2-40B4-BE49-F238E27FC236}">
                <a16:creationId xmlns:a16="http://schemas.microsoft.com/office/drawing/2014/main" id="{41849A0A-283D-F203-14A3-1296EA51C69D}"/>
              </a:ext>
            </a:extLst>
          </p:cNvPr>
          <p:cNvSpPr>
            <a:spLocks noChangeArrowheads="1"/>
          </p:cNvSpPr>
          <p:nvPr/>
        </p:nvSpPr>
        <p:spPr bwMode="auto">
          <a:xfrm>
            <a:off x="4990178" y="3651251"/>
            <a:ext cx="515937" cy="369332"/>
          </a:xfrm>
          <a:prstGeom prst="rect">
            <a:avLst/>
          </a:prstGeom>
          <a:solidFill>
            <a:srgbClr val="FFFF00"/>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900" b="0" dirty="0"/>
              <a:t>13.5% loss</a:t>
            </a:r>
            <a:endParaRPr lang="en-US" altLang="en-US" sz="900" b="0" dirty="0">
              <a:solidFill>
                <a:srgbClr val="FF0000"/>
              </a:solidFill>
            </a:endParaRPr>
          </a:p>
        </p:txBody>
      </p:sp>
      <p:sp>
        <p:nvSpPr>
          <p:cNvPr id="78" name="Rectangle 118">
            <a:extLst>
              <a:ext uri="{FF2B5EF4-FFF2-40B4-BE49-F238E27FC236}">
                <a16:creationId xmlns:a16="http://schemas.microsoft.com/office/drawing/2014/main" id="{60DB38AA-725D-131B-59A6-D54313EC0B92}"/>
              </a:ext>
            </a:extLst>
          </p:cNvPr>
          <p:cNvSpPr>
            <a:spLocks noChangeArrowheads="1"/>
          </p:cNvSpPr>
          <p:nvPr/>
        </p:nvSpPr>
        <p:spPr bwMode="auto">
          <a:xfrm>
            <a:off x="6720553" y="3117851"/>
            <a:ext cx="663575" cy="646331"/>
          </a:xfrm>
          <a:prstGeom prst="rect">
            <a:avLst/>
          </a:prstGeom>
          <a:solidFill>
            <a:srgbClr val="FFFF00"/>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900" b="0" dirty="0"/>
              <a:t>65% go directly to Vendor</a:t>
            </a:r>
            <a:r>
              <a:rPr lang="en-US" altLang="en-US" sz="900" b="0" dirty="0">
                <a:solidFill>
                  <a:srgbClr val="FF0000"/>
                </a:solidFill>
              </a:rPr>
              <a:t> </a:t>
            </a:r>
          </a:p>
        </p:txBody>
      </p:sp>
      <p:cxnSp>
        <p:nvCxnSpPr>
          <p:cNvPr id="79" name="AutoShape 119">
            <a:extLst>
              <a:ext uri="{FF2B5EF4-FFF2-40B4-BE49-F238E27FC236}">
                <a16:creationId xmlns:a16="http://schemas.microsoft.com/office/drawing/2014/main" id="{6ADEB857-9653-E4A7-CB39-210BA7A74255}"/>
              </a:ext>
            </a:extLst>
          </p:cNvPr>
          <p:cNvCxnSpPr>
            <a:cxnSpLocks noChangeShapeType="1"/>
            <a:stCxn id="84" idx="1"/>
          </p:cNvCxnSpPr>
          <p:nvPr/>
        </p:nvCxnSpPr>
        <p:spPr bwMode="auto">
          <a:xfrm rot="10800000" flipV="1">
            <a:off x="1735803" y="2466976"/>
            <a:ext cx="2478087" cy="1708150"/>
          </a:xfrm>
          <a:prstGeom prst="bentConnector2">
            <a:avLst/>
          </a:prstGeom>
          <a:noFill/>
          <a:ln w="57150" cap="sq">
            <a:solidFill>
              <a:schemeClr val="tx1"/>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80" name="Group 120">
            <a:extLst>
              <a:ext uri="{FF2B5EF4-FFF2-40B4-BE49-F238E27FC236}">
                <a16:creationId xmlns:a16="http://schemas.microsoft.com/office/drawing/2014/main" id="{115F3705-58C1-D32D-A7A5-B7D9458821FA}"/>
              </a:ext>
            </a:extLst>
          </p:cNvPr>
          <p:cNvGrpSpPr>
            <a:grpSpLocks/>
          </p:cNvGrpSpPr>
          <p:nvPr/>
        </p:nvGrpSpPr>
        <p:grpSpPr bwMode="auto">
          <a:xfrm>
            <a:off x="4744115" y="2457451"/>
            <a:ext cx="487363" cy="1700212"/>
            <a:chOff x="1065" y="1628"/>
            <a:chExt cx="780" cy="1403"/>
          </a:xfrm>
        </p:grpSpPr>
        <p:cxnSp>
          <p:nvCxnSpPr>
            <p:cNvPr id="81" name="AutoShape 121">
              <a:extLst>
                <a:ext uri="{FF2B5EF4-FFF2-40B4-BE49-F238E27FC236}">
                  <a16:creationId xmlns:a16="http://schemas.microsoft.com/office/drawing/2014/main" id="{C0F7D644-E66B-92BB-A598-F33A72131F5A}"/>
                </a:ext>
              </a:extLst>
            </p:cNvPr>
            <p:cNvCxnSpPr>
              <a:cxnSpLocks noChangeShapeType="1"/>
            </p:cNvCxnSpPr>
            <p:nvPr/>
          </p:nvCxnSpPr>
          <p:spPr bwMode="auto">
            <a:xfrm flipH="1">
              <a:off x="1472" y="1628"/>
              <a:ext cx="373" cy="54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 name="AutoShape 122">
              <a:extLst>
                <a:ext uri="{FF2B5EF4-FFF2-40B4-BE49-F238E27FC236}">
                  <a16:creationId xmlns:a16="http://schemas.microsoft.com/office/drawing/2014/main" id="{A73AB882-2A3F-439D-B1E9-C601B652A18F}"/>
                </a:ext>
              </a:extLst>
            </p:cNvPr>
            <p:cNvCxnSpPr>
              <a:cxnSpLocks noChangeShapeType="1"/>
            </p:cNvCxnSpPr>
            <p:nvPr/>
          </p:nvCxnSpPr>
          <p:spPr bwMode="auto">
            <a:xfrm>
              <a:off x="1469" y="2172"/>
              <a:ext cx="144" cy="8"/>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 name="AutoShape 123">
              <a:extLst>
                <a:ext uri="{FF2B5EF4-FFF2-40B4-BE49-F238E27FC236}">
                  <a16:creationId xmlns:a16="http://schemas.microsoft.com/office/drawing/2014/main" id="{FBD9E7E1-0A53-6303-7BC2-61DB63390C7B}"/>
                </a:ext>
              </a:extLst>
            </p:cNvPr>
            <p:cNvCxnSpPr>
              <a:cxnSpLocks noChangeShapeType="1"/>
            </p:cNvCxnSpPr>
            <p:nvPr/>
          </p:nvCxnSpPr>
          <p:spPr bwMode="auto">
            <a:xfrm flipH="1">
              <a:off x="1065" y="2175"/>
              <a:ext cx="552" cy="856"/>
            </a:xfrm>
            <a:prstGeom prst="straightConnector1">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4" name="Text Box 131">
            <a:extLst>
              <a:ext uri="{FF2B5EF4-FFF2-40B4-BE49-F238E27FC236}">
                <a16:creationId xmlns:a16="http://schemas.microsoft.com/office/drawing/2014/main" id="{4C338E14-1766-4ED5-09AD-205468D61536}"/>
              </a:ext>
            </a:extLst>
          </p:cNvPr>
          <p:cNvSpPr txBox="1">
            <a:spLocks noChangeArrowheads="1"/>
          </p:cNvSpPr>
          <p:nvPr/>
        </p:nvSpPr>
        <p:spPr bwMode="auto">
          <a:xfrm>
            <a:off x="4213890" y="2244726"/>
            <a:ext cx="103187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685800" indent="-22860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00000"/>
              </a:lnSpc>
              <a:spcBef>
                <a:spcPct val="0"/>
              </a:spcBef>
              <a:spcAft>
                <a:spcPct val="0"/>
              </a:spcAft>
              <a:buClrTx/>
              <a:buSzTx/>
              <a:buFontTx/>
              <a:buChar char="•"/>
            </a:pPr>
            <a:r>
              <a:rPr lang="en-US" altLang="en-US" sz="600" b="0"/>
              <a:t>Demand = 40,000 Accounts/month</a:t>
            </a:r>
          </a:p>
          <a:p>
            <a:pPr>
              <a:lnSpc>
                <a:spcPct val="100000"/>
              </a:lnSpc>
              <a:spcBef>
                <a:spcPct val="0"/>
              </a:spcBef>
              <a:spcAft>
                <a:spcPct val="0"/>
              </a:spcAft>
              <a:buClrTx/>
              <a:buSzTx/>
              <a:buFontTx/>
              <a:buChar char="•"/>
            </a:pPr>
            <a:r>
              <a:rPr lang="en-US" altLang="en-US" sz="600" b="0"/>
              <a:t>24 Hours/Day</a:t>
            </a:r>
          </a:p>
        </p:txBody>
      </p:sp>
      <p:sp>
        <p:nvSpPr>
          <p:cNvPr id="85" name="Text Box 132">
            <a:extLst>
              <a:ext uri="{FF2B5EF4-FFF2-40B4-BE49-F238E27FC236}">
                <a16:creationId xmlns:a16="http://schemas.microsoft.com/office/drawing/2014/main" id="{65F21AC2-70D0-CCCA-9F9D-6B235D0A69AF}"/>
              </a:ext>
            </a:extLst>
          </p:cNvPr>
          <p:cNvSpPr txBox="1">
            <a:spLocks noChangeArrowheads="1"/>
          </p:cNvSpPr>
          <p:nvPr/>
        </p:nvSpPr>
        <p:spPr bwMode="auto">
          <a:xfrm>
            <a:off x="1751678" y="2598738"/>
            <a:ext cx="2081212"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685800" indent="-22860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00000"/>
              </a:lnSpc>
              <a:spcBef>
                <a:spcPct val="0"/>
              </a:spcBef>
              <a:spcAft>
                <a:spcPct val="0"/>
              </a:spcAft>
              <a:buClrTx/>
              <a:buSzTx/>
              <a:buFontTx/>
              <a:buNone/>
            </a:pPr>
            <a:r>
              <a:rPr lang="en-US" altLang="en-US" sz="600" b="0"/>
              <a:t>Demand = 1,500 Hardcopy applications/day</a:t>
            </a:r>
          </a:p>
        </p:txBody>
      </p:sp>
      <p:sp>
        <p:nvSpPr>
          <p:cNvPr id="86" name="Rectangle 134">
            <a:extLst>
              <a:ext uri="{FF2B5EF4-FFF2-40B4-BE49-F238E27FC236}">
                <a16:creationId xmlns:a16="http://schemas.microsoft.com/office/drawing/2014/main" id="{36222E9A-B4B2-A7ED-7477-CBEC172E835D}"/>
              </a:ext>
            </a:extLst>
          </p:cNvPr>
          <p:cNvSpPr>
            <a:spLocks noChangeArrowheads="1"/>
          </p:cNvSpPr>
          <p:nvPr/>
        </p:nvSpPr>
        <p:spPr bwMode="auto">
          <a:xfrm>
            <a:off x="9324053" y="4648201"/>
            <a:ext cx="647700" cy="546100"/>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87" name="Rectangle 140">
            <a:extLst>
              <a:ext uri="{FF2B5EF4-FFF2-40B4-BE49-F238E27FC236}">
                <a16:creationId xmlns:a16="http://schemas.microsoft.com/office/drawing/2014/main" id="{560A8D04-7C29-7F41-3918-3A21FB822976}"/>
              </a:ext>
            </a:extLst>
          </p:cNvPr>
          <p:cNvSpPr>
            <a:spLocks noChangeArrowheads="1"/>
          </p:cNvSpPr>
          <p:nvPr/>
        </p:nvSpPr>
        <p:spPr bwMode="auto">
          <a:xfrm>
            <a:off x="6930103" y="5214938"/>
            <a:ext cx="649287" cy="54927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88" name="Rectangle 146">
            <a:extLst>
              <a:ext uri="{FF2B5EF4-FFF2-40B4-BE49-F238E27FC236}">
                <a16:creationId xmlns:a16="http://schemas.microsoft.com/office/drawing/2014/main" id="{FE6E1199-0C01-A40D-C627-0906269DCE9C}"/>
              </a:ext>
            </a:extLst>
          </p:cNvPr>
          <p:cNvSpPr>
            <a:spLocks noChangeArrowheads="1"/>
          </p:cNvSpPr>
          <p:nvPr/>
        </p:nvSpPr>
        <p:spPr bwMode="auto">
          <a:xfrm>
            <a:off x="5931565" y="4641851"/>
            <a:ext cx="681038" cy="54927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89" name="Rectangle 152">
            <a:extLst>
              <a:ext uri="{FF2B5EF4-FFF2-40B4-BE49-F238E27FC236}">
                <a16:creationId xmlns:a16="http://schemas.microsoft.com/office/drawing/2014/main" id="{690CF78F-37D1-04A4-A059-9C5C5DE4B946}"/>
              </a:ext>
            </a:extLst>
          </p:cNvPr>
          <p:cNvSpPr>
            <a:spLocks noChangeArrowheads="1"/>
          </p:cNvSpPr>
          <p:nvPr/>
        </p:nvSpPr>
        <p:spPr bwMode="auto">
          <a:xfrm>
            <a:off x="4910803" y="4641851"/>
            <a:ext cx="674687" cy="54927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90" name="Rectangle 158">
            <a:extLst>
              <a:ext uri="{FF2B5EF4-FFF2-40B4-BE49-F238E27FC236}">
                <a16:creationId xmlns:a16="http://schemas.microsoft.com/office/drawing/2014/main" id="{8FE16CC1-69EE-2B2E-F8FD-FDA4E7DB4A0E}"/>
              </a:ext>
            </a:extLst>
          </p:cNvPr>
          <p:cNvSpPr>
            <a:spLocks noChangeArrowheads="1"/>
          </p:cNvSpPr>
          <p:nvPr/>
        </p:nvSpPr>
        <p:spPr bwMode="auto">
          <a:xfrm>
            <a:off x="3913853" y="4641851"/>
            <a:ext cx="649287" cy="54927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91" name="Rectangle 164">
            <a:extLst>
              <a:ext uri="{FF2B5EF4-FFF2-40B4-BE49-F238E27FC236}">
                <a16:creationId xmlns:a16="http://schemas.microsoft.com/office/drawing/2014/main" id="{03AA690A-0542-5543-2580-BC6E9E3D9CFB}"/>
              </a:ext>
            </a:extLst>
          </p:cNvPr>
          <p:cNvSpPr>
            <a:spLocks noChangeArrowheads="1"/>
          </p:cNvSpPr>
          <p:nvPr/>
        </p:nvSpPr>
        <p:spPr bwMode="auto">
          <a:xfrm>
            <a:off x="2926428" y="4641851"/>
            <a:ext cx="647700" cy="54927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92" name="Rectangle 167">
            <a:extLst>
              <a:ext uri="{FF2B5EF4-FFF2-40B4-BE49-F238E27FC236}">
                <a16:creationId xmlns:a16="http://schemas.microsoft.com/office/drawing/2014/main" id="{79C10B39-4C4C-2FED-4E53-ECC7523A585E}"/>
              </a:ext>
            </a:extLst>
          </p:cNvPr>
          <p:cNvSpPr>
            <a:spLocks noChangeArrowheads="1"/>
          </p:cNvSpPr>
          <p:nvPr/>
        </p:nvSpPr>
        <p:spPr bwMode="auto">
          <a:xfrm>
            <a:off x="3878928" y="4638676"/>
            <a:ext cx="693737" cy="56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25000"/>
              </a:lnSpc>
              <a:spcBef>
                <a:spcPct val="0"/>
              </a:spcBef>
              <a:spcAft>
                <a:spcPct val="0"/>
              </a:spcAft>
              <a:buClrTx/>
              <a:buSzTx/>
              <a:buFontTx/>
              <a:buNone/>
            </a:pPr>
            <a:r>
              <a:rPr lang="en-US" altLang="en-US" sz="500" b="0"/>
              <a:t>Volume = 1,230</a:t>
            </a:r>
          </a:p>
          <a:p>
            <a:pPr>
              <a:lnSpc>
                <a:spcPct val="125000"/>
              </a:lnSpc>
              <a:spcBef>
                <a:spcPct val="0"/>
              </a:spcBef>
              <a:spcAft>
                <a:spcPct val="0"/>
              </a:spcAft>
              <a:buClrTx/>
              <a:buSzTx/>
              <a:buFontTx/>
              <a:buNone/>
            </a:pPr>
            <a:r>
              <a:rPr lang="en-US" altLang="en-US" sz="500" b="0"/>
              <a:t>Processing Time = 5”</a:t>
            </a:r>
          </a:p>
          <a:p>
            <a:pPr>
              <a:lnSpc>
                <a:spcPct val="125000"/>
              </a:lnSpc>
              <a:spcBef>
                <a:spcPct val="0"/>
              </a:spcBef>
              <a:spcAft>
                <a:spcPct val="0"/>
              </a:spcAft>
              <a:buClrTx/>
              <a:buSzTx/>
              <a:buFontTx/>
              <a:buNone/>
            </a:pPr>
            <a:r>
              <a:rPr lang="en-US" altLang="en-US" sz="500" b="0"/>
              <a:t>DOI = 5”</a:t>
            </a:r>
          </a:p>
          <a:p>
            <a:pPr>
              <a:lnSpc>
                <a:spcPct val="125000"/>
              </a:lnSpc>
              <a:spcBef>
                <a:spcPct val="0"/>
              </a:spcBef>
              <a:spcAft>
                <a:spcPct val="0"/>
              </a:spcAft>
              <a:buClrTx/>
              <a:buSzTx/>
              <a:buFontTx/>
              <a:buNone/>
            </a:pPr>
            <a:r>
              <a:rPr lang="en-US" altLang="en-US" sz="500" b="0"/>
              <a:t>Quality = 95%</a:t>
            </a:r>
          </a:p>
          <a:p>
            <a:pPr>
              <a:lnSpc>
                <a:spcPct val="125000"/>
              </a:lnSpc>
              <a:spcBef>
                <a:spcPct val="0"/>
              </a:spcBef>
              <a:spcAft>
                <a:spcPct val="0"/>
              </a:spcAft>
              <a:buClrTx/>
              <a:buSzTx/>
              <a:buFontTx/>
              <a:buNone/>
            </a:pPr>
            <a:r>
              <a:rPr lang="en-US" altLang="en-US" sz="500" b="0"/>
              <a:t># Rework = 1</a:t>
            </a:r>
          </a:p>
        </p:txBody>
      </p:sp>
      <p:sp>
        <p:nvSpPr>
          <p:cNvPr id="93" name="Rectangle 170">
            <a:extLst>
              <a:ext uri="{FF2B5EF4-FFF2-40B4-BE49-F238E27FC236}">
                <a16:creationId xmlns:a16="http://schemas.microsoft.com/office/drawing/2014/main" id="{F42502F4-D715-DD76-7310-B85A3D33A0F7}"/>
              </a:ext>
            </a:extLst>
          </p:cNvPr>
          <p:cNvSpPr>
            <a:spLocks noChangeArrowheads="1"/>
          </p:cNvSpPr>
          <p:nvPr/>
        </p:nvSpPr>
        <p:spPr bwMode="auto">
          <a:xfrm>
            <a:off x="1940590" y="4641851"/>
            <a:ext cx="647700" cy="54927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94" name="Rectangle 173">
            <a:extLst>
              <a:ext uri="{FF2B5EF4-FFF2-40B4-BE49-F238E27FC236}">
                <a16:creationId xmlns:a16="http://schemas.microsoft.com/office/drawing/2014/main" id="{53B05834-FFDF-4346-D482-B4067F79DD54}"/>
              </a:ext>
            </a:extLst>
          </p:cNvPr>
          <p:cNvSpPr>
            <a:spLocks noChangeArrowheads="1"/>
          </p:cNvSpPr>
          <p:nvPr/>
        </p:nvSpPr>
        <p:spPr bwMode="auto">
          <a:xfrm>
            <a:off x="1902490" y="4638676"/>
            <a:ext cx="728663" cy="56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25000"/>
              </a:lnSpc>
              <a:spcBef>
                <a:spcPct val="0"/>
              </a:spcBef>
              <a:spcAft>
                <a:spcPct val="0"/>
              </a:spcAft>
              <a:buClrTx/>
              <a:buSzTx/>
              <a:buFontTx/>
              <a:buNone/>
            </a:pPr>
            <a:r>
              <a:rPr lang="en-US" altLang="en-US" sz="500" b="0"/>
              <a:t>Volume = 1,500</a:t>
            </a:r>
          </a:p>
          <a:p>
            <a:pPr>
              <a:lnSpc>
                <a:spcPct val="125000"/>
              </a:lnSpc>
              <a:spcBef>
                <a:spcPct val="0"/>
              </a:spcBef>
              <a:spcAft>
                <a:spcPct val="0"/>
              </a:spcAft>
              <a:buClrTx/>
              <a:buSzTx/>
              <a:buFontTx/>
              <a:buNone/>
            </a:pPr>
            <a:r>
              <a:rPr lang="en-US" altLang="en-US" sz="500" b="0"/>
              <a:t>Processing Time = 15”</a:t>
            </a:r>
          </a:p>
          <a:p>
            <a:pPr>
              <a:lnSpc>
                <a:spcPct val="125000"/>
              </a:lnSpc>
              <a:spcBef>
                <a:spcPct val="0"/>
              </a:spcBef>
              <a:spcAft>
                <a:spcPct val="0"/>
              </a:spcAft>
              <a:buClrTx/>
              <a:buSzTx/>
              <a:buFontTx/>
              <a:buNone/>
            </a:pPr>
            <a:r>
              <a:rPr lang="en-US" altLang="en-US" sz="500" b="0"/>
              <a:t>DOI = 10”</a:t>
            </a:r>
          </a:p>
          <a:p>
            <a:pPr>
              <a:lnSpc>
                <a:spcPct val="125000"/>
              </a:lnSpc>
              <a:spcBef>
                <a:spcPct val="0"/>
              </a:spcBef>
              <a:spcAft>
                <a:spcPct val="0"/>
              </a:spcAft>
              <a:buClrTx/>
              <a:buSzTx/>
              <a:buFontTx/>
              <a:buNone/>
            </a:pPr>
            <a:r>
              <a:rPr lang="en-US" altLang="en-US" sz="500" b="0"/>
              <a:t>Quality = 100%</a:t>
            </a:r>
          </a:p>
          <a:p>
            <a:pPr>
              <a:lnSpc>
                <a:spcPct val="125000"/>
              </a:lnSpc>
              <a:spcBef>
                <a:spcPct val="0"/>
              </a:spcBef>
              <a:spcAft>
                <a:spcPct val="0"/>
              </a:spcAft>
              <a:buClrTx/>
              <a:buSzTx/>
              <a:buFontTx/>
              <a:buNone/>
            </a:pPr>
            <a:r>
              <a:rPr lang="en-US" altLang="en-US" sz="500" b="0"/>
              <a:t># Rework = 0</a:t>
            </a:r>
          </a:p>
        </p:txBody>
      </p:sp>
      <p:sp>
        <p:nvSpPr>
          <p:cNvPr id="95" name="Line 176">
            <a:extLst>
              <a:ext uri="{FF2B5EF4-FFF2-40B4-BE49-F238E27FC236}">
                <a16:creationId xmlns:a16="http://schemas.microsoft.com/office/drawing/2014/main" id="{D68D5C7B-0C86-FFC8-F89D-8FF5A027FE7C}"/>
              </a:ext>
            </a:extLst>
          </p:cNvPr>
          <p:cNvSpPr>
            <a:spLocks noChangeShapeType="1"/>
          </p:cNvSpPr>
          <p:nvPr/>
        </p:nvSpPr>
        <p:spPr bwMode="auto">
          <a:xfrm flipV="1">
            <a:off x="8608090" y="5902326"/>
            <a:ext cx="736600" cy="635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96" name="Line 177">
            <a:extLst>
              <a:ext uri="{FF2B5EF4-FFF2-40B4-BE49-F238E27FC236}">
                <a16:creationId xmlns:a16="http://schemas.microsoft.com/office/drawing/2014/main" id="{B6C71F96-A6C7-9760-108F-E11BCD60360F}"/>
              </a:ext>
            </a:extLst>
          </p:cNvPr>
          <p:cNvSpPr>
            <a:spLocks noChangeShapeType="1"/>
          </p:cNvSpPr>
          <p:nvPr/>
        </p:nvSpPr>
        <p:spPr bwMode="auto">
          <a:xfrm>
            <a:off x="9351040" y="6175376"/>
            <a:ext cx="62865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97" name="Line 178">
            <a:extLst>
              <a:ext uri="{FF2B5EF4-FFF2-40B4-BE49-F238E27FC236}">
                <a16:creationId xmlns:a16="http://schemas.microsoft.com/office/drawing/2014/main" id="{1B7927F4-227F-7C16-7BAE-20F43BCCF2A5}"/>
              </a:ext>
            </a:extLst>
          </p:cNvPr>
          <p:cNvSpPr>
            <a:spLocks noChangeShapeType="1"/>
          </p:cNvSpPr>
          <p:nvPr/>
        </p:nvSpPr>
        <p:spPr bwMode="auto">
          <a:xfrm>
            <a:off x="7592090" y="5908676"/>
            <a:ext cx="2794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98" name="Line 179">
            <a:extLst>
              <a:ext uri="{FF2B5EF4-FFF2-40B4-BE49-F238E27FC236}">
                <a16:creationId xmlns:a16="http://schemas.microsoft.com/office/drawing/2014/main" id="{2BF68356-CE62-B24D-0B7E-9D79740B6A7B}"/>
              </a:ext>
            </a:extLst>
          </p:cNvPr>
          <p:cNvSpPr>
            <a:spLocks noChangeShapeType="1"/>
          </p:cNvSpPr>
          <p:nvPr/>
        </p:nvSpPr>
        <p:spPr bwMode="auto">
          <a:xfrm>
            <a:off x="6614190" y="5908676"/>
            <a:ext cx="29845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99" name="Line 180">
            <a:extLst>
              <a:ext uri="{FF2B5EF4-FFF2-40B4-BE49-F238E27FC236}">
                <a16:creationId xmlns:a16="http://schemas.microsoft.com/office/drawing/2014/main" id="{509A1453-B7D7-EECD-1AD3-06166E5D32B9}"/>
              </a:ext>
            </a:extLst>
          </p:cNvPr>
          <p:cNvSpPr>
            <a:spLocks noChangeShapeType="1"/>
          </p:cNvSpPr>
          <p:nvPr/>
        </p:nvSpPr>
        <p:spPr bwMode="auto">
          <a:xfrm>
            <a:off x="5572790" y="5908676"/>
            <a:ext cx="3683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0" name="Line 181">
            <a:extLst>
              <a:ext uri="{FF2B5EF4-FFF2-40B4-BE49-F238E27FC236}">
                <a16:creationId xmlns:a16="http://schemas.microsoft.com/office/drawing/2014/main" id="{71FB90A1-ACAE-3CA8-4D64-5A80640CCFC0}"/>
              </a:ext>
            </a:extLst>
          </p:cNvPr>
          <p:cNvSpPr>
            <a:spLocks noChangeShapeType="1"/>
          </p:cNvSpPr>
          <p:nvPr/>
        </p:nvSpPr>
        <p:spPr bwMode="auto">
          <a:xfrm>
            <a:off x="4582190" y="5908676"/>
            <a:ext cx="287338"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1" name="Line 182">
            <a:extLst>
              <a:ext uri="{FF2B5EF4-FFF2-40B4-BE49-F238E27FC236}">
                <a16:creationId xmlns:a16="http://schemas.microsoft.com/office/drawing/2014/main" id="{F2DAAF61-3DD9-5D4B-85AE-8BE22DC310D1}"/>
              </a:ext>
            </a:extLst>
          </p:cNvPr>
          <p:cNvSpPr>
            <a:spLocks noChangeShapeType="1"/>
          </p:cNvSpPr>
          <p:nvPr/>
        </p:nvSpPr>
        <p:spPr bwMode="auto">
          <a:xfrm>
            <a:off x="3570953" y="5903913"/>
            <a:ext cx="306387" cy="4763"/>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2" name="Line 183">
            <a:extLst>
              <a:ext uri="{FF2B5EF4-FFF2-40B4-BE49-F238E27FC236}">
                <a16:creationId xmlns:a16="http://schemas.microsoft.com/office/drawing/2014/main" id="{DBC32AC6-9051-A309-F6C0-C802536199D4}"/>
              </a:ext>
            </a:extLst>
          </p:cNvPr>
          <p:cNvSpPr>
            <a:spLocks noChangeShapeType="1"/>
          </p:cNvSpPr>
          <p:nvPr/>
        </p:nvSpPr>
        <p:spPr bwMode="auto">
          <a:xfrm>
            <a:off x="2586703" y="5908676"/>
            <a:ext cx="315912"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3" name="Line 184">
            <a:extLst>
              <a:ext uri="{FF2B5EF4-FFF2-40B4-BE49-F238E27FC236}">
                <a16:creationId xmlns:a16="http://schemas.microsoft.com/office/drawing/2014/main" id="{D3847582-810A-8E52-91AC-64D4A61A5158}"/>
              </a:ext>
            </a:extLst>
          </p:cNvPr>
          <p:cNvSpPr>
            <a:spLocks noChangeShapeType="1"/>
          </p:cNvSpPr>
          <p:nvPr/>
        </p:nvSpPr>
        <p:spPr bwMode="auto">
          <a:xfrm>
            <a:off x="1470690" y="5908676"/>
            <a:ext cx="473075"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4" name="Line 185">
            <a:extLst>
              <a:ext uri="{FF2B5EF4-FFF2-40B4-BE49-F238E27FC236}">
                <a16:creationId xmlns:a16="http://schemas.microsoft.com/office/drawing/2014/main" id="{799AB621-BAE4-180A-F1A3-F86B76355FC2}"/>
              </a:ext>
            </a:extLst>
          </p:cNvPr>
          <p:cNvSpPr>
            <a:spLocks noChangeShapeType="1"/>
          </p:cNvSpPr>
          <p:nvPr/>
        </p:nvSpPr>
        <p:spPr bwMode="auto">
          <a:xfrm>
            <a:off x="7874665" y="6175376"/>
            <a:ext cx="733425"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5" name="Line 186">
            <a:extLst>
              <a:ext uri="{FF2B5EF4-FFF2-40B4-BE49-F238E27FC236}">
                <a16:creationId xmlns:a16="http://schemas.microsoft.com/office/drawing/2014/main" id="{8AF7493A-7A0B-D5AF-9354-5AA5692FC58D}"/>
              </a:ext>
            </a:extLst>
          </p:cNvPr>
          <p:cNvSpPr>
            <a:spLocks noChangeShapeType="1"/>
          </p:cNvSpPr>
          <p:nvPr/>
        </p:nvSpPr>
        <p:spPr bwMode="auto">
          <a:xfrm>
            <a:off x="6925340" y="6175376"/>
            <a:ext cx="657225"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6" name="Line 187">
            <a:extLst>
              <a:ext uri="{FF2B5EF4-FFF2-40B4-BE49-F238E27FC236}">
                <a16:creationId xmlns:a16="http://schemas.microsoft.com/office/drawing/2014/main" id="{EA523851-EABC-54C0-0A19-794B6CAC1579}"/>
              </a:ext>
            </a:extLst>
          </p:cNvPr>
          <p:cNvSpPr>
            <a:spLocks noChangeShapeType="1"/>
          </p:cNvSpPr>
          <p:nvPr/>
        </p:nvSpPr>
        <p:spPr bwMode="auto">
          <a:xfrm>
            <a:off x="5966490" y="6175376"/>
            <a:ext cx="62865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7" name="Line 188">
            <a:extLst>
              <a:ext uri="{FF2B5EF4-FFF2-40B4-BE49-F238E27FC236}">
                <a16:creationId xmlns:a16="http://schemas.microsoft.com/office/drawing/2014/main" id="{5329FFC1-3E95-66F4-D652-18B36A4EC6D1}"/>
              </a:ext>
            </a:extLst>
          </p:cNvPr>
          <p:cNvSpPr>
            <a:spLocks noChangeShapeType="1"/>
          </p:cNvSpPr>
          <p:nvPr/>
        </p:nvSpPr>
        <p:spPr bwMode="auto">
          <a:xfrm>
            <a:off x="4879053" y="6175376"/>
            <a:ext cx="681037"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8" name="Line 189">
            <a:extLst>
              <a:ext uri="{FF2B5EF4-FFF2-40B4-BE49-F238E27FC236}">
                <a16:creationId xmlns:a16="http://schemas.microsoft.com/office/drawing/2014/main" id="{03040E98-4F10-47FF-42F1-9EBC744C67BF}"/>
              </a:ext>
            </a:extLst>
          </p:cNvPr>
          <p:cNvSpPr>
            <a:spLocks noChangeShapeType="1"/>
          </p:cNvSpPr>
          <p:nvPr/>
        </p:nvSpPr>
        <p:spPr bwMode="auto">
          <a:xfrm>
            <a:off x="3870990" y="6175376"/>
            <a:ext cx="69215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9" name="Line 190">
            <a:extLst>
              <a:ext uri="{FF2B5EF4-FFF2-40B4-BE49-F238E27FC236}">
                <a16:creationId xmlns:a16="http://schemas.microsoft.com/office/drawing/2014/main" id="{286ED51F-FB8C-7512-6089-49B3DB994CC4}"/>
              </a:ext>
            </a:extLst>
          </p:cNvPr>
          <p:cNvSpPr>
            <a:spLocks noChangeShapeType="1"/>
          </p:cNvSpPr>
          <p:nvPr/>
        </p:nvSpPr>
        <p:spPr bwMode="auto">
          <a:xfrm>
            <a:off x="2912140" y="6175376"/>
            <a:ext cx="638175"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10" name="Line 191">
            <a:extLst>
              <a:ext uri="{FF2B5EF4-FFF2-40B4-BE49-F238E27FC236}">
                <a16:creationId xmlns:a16="http://schemas.microsoft.com/office/drawing/2014/main" id="{68D5EC39-9E75-9196-4813-0D497C231929}"/>
              </a:ext>
            </a:extLst>
          </p:cNvPr>
          <p:cNvSpPr>
            <a:spLocks noChangeShapeType="1"/>
          </p:cNvSpPr>
          <p:nvPr/>
        </p:nvSpPr>
        <p:spPr bwMode="auto">
          <a:xfrm>
            <a:off x="1937415" y="6175376"/>
            <a:ext cx="638175"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cxnSp>
        <p:nvCxnSpPr>
          <p:cNvPr id="111" name="AutoShape 192">
            <a:extLst>
              <a:ext uri="{FF2B5EF4-FFF2-40B4-BE49-F238E27FC236}">
                <a16:creationId xmlns:a16="http://schemas.microsoft.com/office/drawing/2014/main" id="{FA8A37BC-8AA2-3D88-93F4-43D0B11E7FFE}"/>
              </a:ext>
            </a:extLst>
          </p:cNvPr>
          <p:cNvCxnSpPr>
            <a:cxnSpLocks noChangeShapeType="1"/>
          </p:cNvCxnSpPr>
          <p:nvPr/>
        </p:nvCxnSpPr>
        <p:spPr bwMode="auto">
          <a:xfrm>
            <a:off x="1939003" y="5908676"/>
            <a:ext cx="0" cy="26035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AutoShape 193">
            <a:extLst>
              <a:ext uri="{FF2B5EF4-FFF2-40B4-BE49-F238E27FC236}">
                <a16:creationId xmlns:a16="http://schemas.microsoft.com/office/drawing/2014/main" id="{E324E8F2-BCFA-5DF3-B258-589F2DEAD739}"/>
              </a:ext>
            </a:extLst>
          </p:cNvPr>
          <p:cNvCxnSpPr>
            <a:cxnSpLocks noChangeShapeType="1"/>
            <a:endCxn id="102" idx="0"/>
          </p:cNvCxnSpPr>
          <p:nvPr/>
        </p:nvCxnSpPr>
        <p:spPr bwMode="auto">
          <a:xfrm flipV="1">
            <a:off x="2585115" y="5908676"/>
            <a:ext cx="1588"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AutoShape 194">
            <a:extLst>
              <a:ext uri="{FF2B5EF4-FFF2-40B4-BE49-F238E27FC236}">
                <a16:creationId xmlns:a16="http://schemas.microsoft.com/office/drawing/2014/main" id="{03E07BF0-A35E-3BBF-4E07-DC51DD21A7BB}"/>
              </a:ext>
            </a:extLst>
          </p:cNvPr>
          <p:cNvCxnSpPr>
            <a:cxnSpLocks noChangeShapeType="1"/>
          </p:cNvCxnSpPr>
          <p:nvPr/>
        </p:nvCxnSpPr>
        <p:spPr bwMode="auto">
          <a:xfrm>
            <a:off x="2907378" y="5908676"/>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4" name="AutoShape 195">
            <a:extLst>
              <a:ext uri="{FF2B5EF4-FFF2-40B4-BE49-F238E27FC236}">
                <a16:creationId xmlns:a16="http://schemas.microsoft.com/office/drawing/2014/main" id="{BD9CC345-1E26-6A62-19C2-2D0F8F729A63}"/>
              </a:ext>
            </a:extLst>
          </p:cNvPr>
          <p:cNvCxnSpPr>
            <a:cxnSpLocks noChangeShapeType="1"/>
            <a:endCxn id="101" idx="0"/>
          </p:cNvCxnSpPr>
          <p:nvPr/>
        </p:nvCxnSpPr>
        <p:spPr bwMode="auto">
          <a:xfrm flipV="1">
            <a:off x="3564603" y="5903913"/>
            <a:ext cx="635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5" name="AutoShape 196">
            <a:extLst>
              <a:ext uri="{FF2B5EF4-FFF2-40B4-BE49-F238E27FC236}">
                <a16:creationId xmlns:a16="http://schemas.microsoft.com/office/drawing/2014/main" id="{D4DC9DA8-0D5B-5FD1-A326-E9CFE0BA546B}"/>
              </a:ext>
            </a:extLst>
          </p:cNvPr>
          <p:cNvCxnSpPr>
            <a:cxnSpLocks noChangeShapeType="1"/>
            <a:stCxn id="101" idx="1"/>
            <a:endCxn id="108" idx="0"/>
          </p:cNvCxnSpPr>
          <p:nvPr/>
        </p:nvCxnSpPr>
        <p:spPr bwMode="auto">
          <a:xfrm flipH="1">
            <a:off x="3870990" y="5908676"/>
            <a:ext cx="635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6" name="AutoShape 197">
            <a:extLst>
              <a:ext uri="{FF2B5EF4-FFF2-40B4-BE49-F238E27FC236}">
                <a16:creationId xmlns:a16="http://schemas.microsoft.com/office/drawing/2014/main" id="{16F5A299-B4CE-A47E-318A-B3B372D15958}"/>
              </a:ext>
            </a:extLst>
          </p:cNvPr>
          <p:cNvCxnSpPr>
            <a:cxnSpLocks noChangeShapeType="1"/>
          </p:cNvCxnSpPr>
          <p:nvPr/>
        </p:nvCxnSpPr>
        <p:spPr bwMode="auto">
          <a:xfrm flipV="1">
            <a:off x="6607840" y="5908676"/>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7" name="AutoShape 198">
            <a:extLst>
              <a:ext uri="{FF2B5EF4-FFF2-40B4-BE49-F238E27FC236}">
                <a16:creationId xmlns:a16="http://schemas.microsoft.com/office/drawing/2014/main" id="{DAF879C6-E416-D08F-47C7-DF4B13D58AF3}"/>
              </a:ext>
            </a:extLst>
          </p:cNvPr>
          <p:cNvCxnSpPr>
            <a:cxnSpLocks noChangeShapeType="1"/>
          </p:cNvCxnSpPr>
          <p:nvPr/>
        </p:nvCxnSpPr>
        <p:spPr bwMode="auto">
          <a:xfrm flipV="1">
            <a:off x="4567903" y="5908676"/>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8" name="AutoShape 199">
            <a:extLst>
              <a:ext uri="{FF2B5EF4-FFF2-40B4-BE49-F238E27FC236}">
                <a16:creationId xmlns:a16="http://schemas.microsoft.com/office/drawing/2014/main" id="{DB9C5FFE-A8E7-937A-424C-BCD8CC5896D8}"/>
              </a:ext>
            </a:extLst>
          </p:cNvPr>
          <p:cNvCxnSpPr>
            <a:cxnSpLocks noChangeShapeType="1"/>
          </p:cNvCxnSpPr>
          <p:nvPr/>
        </p:nvCxnSpPr>
        <p:spPr bwMode="auto">
          <a:xfrm flipV="1">
            <a:off x="9344690" y="5908676"/>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9" name="AutoShape 200">
            <a:extLst>
              <a:ext uri="{FF2B5EF4-FFF2-40B4-BE49-F238E27FC236}">
                <a16:creationId xmlns:a16="http://schemas.microsoft.com/office/drawing/2014/main" id="{249C4D29-B3EA-3868-AC6F-B9D33AAF8B1A}"/>
              </a:ext>
            </a:extLst>
          </p:cNvPr>
          <p:cNvCxnSpPr>
            <a:cxnSpLocks noChangeShapeType="1"/>
          </p:cNvCxnSpPr>
          <p:nvPr/>
        </p:nvCxnSpPr>
        <p:spPr bwMode="auto">
          <a:xfrm flipV="1">
            <a:off x="4882228" y="5908676"/>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AutoShape 201">
            <a:extLst>
              <a:ext uri="{FF2B5EF4-FFF2-40B4-BE49-F238E27FC236}">
                <a16:creationId xmlns:a16="http://schemas.microsoft.com/office/drawing/2014/main" id="{816313CF-08A7-5163-2F90-1FE59BA9DFDD}"/>
              </a:ext>
            </a:extLst>
          </p:cNvPr>
          <p:cNvCxnSpPr>
            <a:cxnSpLocks noChangeShapeType="1"/>
          </p:cNvCxnSpPr>
          <p:nvPr/>
        </p:nvCxnSpPr>
        <p:spPr bwMode="auto">
          <a:xfrm flipV="1">
            <a:off x="5560090" y="5908676"/>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1" name="AutoShape 202">
            <a:extLst>
              <a:ext uri="{FF2B5EF4-FFF2-40B4-BE49-F238E27FC236}">
                <a16:creationId xmlns:a16="http://schemas.microsoft.com/office/drawing/2014/main" id="{BFC4C906-1A15-8E76-ED01-1B40D5DF585D}"/>
              </a:ext>
            </a:extLst>
          </p:cNvPr>
          <p:cNvCxnSpPr>
            <a:cxnSpLocks noChangeShapeType="1"/>
          </p:cNvCxnSpPr>
          <p:nvPr/>
        </p:nvCxnSpPr>
        <p:spPr bwMode="auto">
          <a:xfrm flipV="1">
            <a:off x="5953790" y="5908676"/>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2" name="AutoShape 203">
            <a:extLst>
              <a:ext uri="{FF2B5EF4-FFF2-40B4-BE49-F238E27FC236}">
                <a16:creationId xmlns:a16="http://schemas.microsoft.com/office/drawing/2014/main" id="{43EC74F8-243B-561B-977D-EC7FE92A7843}"/>
              </a:ext>
            </a:extLst>
          </p:cNvPr>
          <p:cNvCxnSpPr>
            <a:cxnSpLocks noChangeShapeType="1"/>
          </p:cNvCxnSpPr>
          <p:nvPr/>
        </p:nvCxnSpPr>
        <p:spPr bwMode="auto">
          <a:xfrm flipV="1">
            <a:off x="6925340" y="5908676"/>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 name="AutoShape 204">
            <a:extLst>
              <a:ext uri="{FF2B5EF4-FFF2-40B4-BE49-F238E27FC236}">
                <a16:creationId xmlns:a16="http://schemas.microsoft.com/office/drawing/2014/main" id="{F5BD99BE-D1D9-0669-C72A-A4AA53971B76}"/>
              </a:ext>
            </a:extLst>
          </p:cNvPr>
          <p:cNvCxnSpPr>
            <a:cxnSpLocks noChangeShapeType="1"/>
          </p:cNvCxnSpPr>
          <p:nvPr/>
        </p:nvCxnSpPr>
        <p:spPr bwMode="auto">
          <a:xfrm flipV="1">
            <a:off x="7585740" y="5908676"/>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 name="AutoShape 205">
            <a:extLst>
              <a:ext uri="{FF2B5EF4-FFF2-40B4-BE49-F238E27FC236}">
                <a16:creationId xmlns:a16="http://schemas.microsoft.com/office/drawing/2014/main" id="{CA406515-61FC-75A5-19E0-0219965B48E8}"/>
              </a:ext>
            </a:extLst>
          </p:cNvPr>
          <p:cNvCxnSpPr>
            <a:cxnSpLocks noChangeShapeType="1"/>
          </p:cNvCxnSpPr>
          <p:nvPr/>
        </p:nvCxnSpPr>
        <p:spPr bwMode="auto">
          <a:xfrm flipV="1">
            <a:off x="7876253" y="5908676"/>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5" name="AutoShape 206">
            <a:extLst>
              <a:ext uri="{FF2B5EF4-FFF2-40B4-BE49-F238E27FC236}">
                <a16:creationId xmlns:a16="http://schemas.microsoft.com/office/drawing/2014/main" id="{05A1A9E0-AC9A-13C5-F2A9-00B64BB9CF35}"/>
              </a:ext>
            </a:extLst>
          </p:cNvPr>
          <p:cNvCxnSpPr>
            <a:cxnSpLocks noChangeShapeType="1"/>
          </p:cNvCxnSpPr>
          <p:nvPr/>
        </p:nvCxnSpPr>
        <p:spPr bwMode="auto">
          <a:xfrm flipV="1">
            <a:off x="8608090" y="5908676"/>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6" name="Text Box 207">
            <a:extLst>
              <a:ext uri="{FF2B5EF4-FFF2-40B4-BE49-F238E27FC236}">
                <a16:creationId xmlns:a16="http://schemas.microsoft.com/office/drawing/2014/main" id="{0559AE86-E6D2-8FFF-5486-21F28DAF6DFA}"/>
              </a:ext>
            </a:extLst>
          </p:cNvPr>
          <p:cNvSpPr txBox="1">
            <a:spLocks noChangeArrowheads="1"/>
          </p:cNvSpPr>
          <p:nvPr/>
        </p:nvSpPr>
        <p:spPr bwMode="auto">
          <a:xfrm>
            <a:off x="2524790" y="5648326"/>
            <a:ext cx="450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.50</a:t>
            </a:r>
          </a:p>
          <a:p>
            <a:pPr algn="ctr">
              <a:lnSpc>
                <a:spcPct val="100000"/>
              </a:lnSpc>
              <a:spcBef>
                <a:spcPct val="0"/>
              </a:spcBef>
              <a:spcAft>
                <a:spcPct val="0"/>
              </a:spcAft>
              <a:buClrTx/>
              <a:buSzTx/>
              <a:buFontTx/>
              <a:buNone/>
            </a:pPr>
            <a:r>
              <a:rPr lang="en-US" altLang="en-US" sz="700" b="0">
                <a:solidFill>
                  <a:srgbClr val="FF0000"/>
                </a:solidFill>
              </a:rPr>
              <a:t>Days</a:t>
            </a:r>
          </a:p>
        </p:txBody>
      </p:sp>
      <p:sp>
        <p:nvSpPr>
          <p:cNvPr id="127" name="Text Box 208">
            <a:extLst>
              <a:ext uri="{FF2B5EF4-FFF2-40B4-BE49-F238E27FC236}">
                <a16:creationId xmlns:a16="http://schemas.microsoft.com/office/drawing/2014/main" id="{587DAA95-56EA-A4EC-465B-4137251D941D}"/>
              </a:ext>
            </a:extLst>
          </p:cNvPr>
          <p:cNvSpPr txBox="1">
            <a:spLocks noChangeArrowheads="1"/>
          </p:cNvSpPr>
          <p:nvPr/>
        </p:nvSpPr>
        <p:spPr bwMode="auto">
          <a:xfrm>
            <a:off x="4505990" y="5648326"/>
            <a:ext cx="450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.58</a:t>
            </a:r>
          </a:p>
          <a:p>
            <a:pPr algn="ctr">
              <a:lnSpc>
                <a:spcPct val="100000"/>
              </a:lnSpc>
              <a:spcBef>
                <a:spcPct val="0"/>
              </a:spcBef>
              <a:spcAft>
                <a:spcPct val="0"/>
              </a:spcAft>
              <a:buClrTx/>
              <a:buSzTx/>
              <a:buFontTx/>
              <a:buNone/>
            </a:pPr>
            <a:r>
              <a:rPr lang="en-US" altLang="en-US" sz="700" b="0">
                <a:solidFill>
                  <a:srgbClr val="FF0000"/>
                </a:solidFill>
              </a:rPr>
              <a:t>Days</a:t>
            </a:r>
          </a:p>
        </p:txBody>
      </p:sp>
      <p:sp>
        <p:nvSpPr>
          <p:cNvPr id="128" name="Text Box 209">
            <a:extLst>
              <a:ext uri="{FF2B5EF4-FFF2-40B4-BE49-F238E27FC236}">
                <a16:creationId xmlns:a16="http://schemas.microsoft.com/office/drawing/2014/main" id="{94224BC9-F26B-85EE-F83F-25C6F8F53C1B}"/>
              </a:ext>
            </a:extLst>
          </p:cNvPr>
          <p:cNvSpPr txBox="1">
            <a:spLocks noChangeArrowheads="1"/>
          </p:cNvSpPr>
          <p:nvPr/>
        </p:nvSpPr>
        <p:spPr bwMode="auto">
          <a:xfrm>
            <a:off x="9408190" y="5978526"/>
            <a:ext cx="450850"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20”</a:t>
            </a:r>
          </a:p>
        </p:txBody>
      </p:sp>
      <p:sp>
        <p:nvSpPr>
          <p:cNvPr id="129" name="Text Box 210">
            <a:extLst>
              <a:ext uri="{FF2B5EF4-FFF2-40B4-BE49-F238E27FC236}">
                <a16:creationId xmlns:a16="http://schemas.microsoft.com/office/drawing/2014/main" id="{FC58FDFE-4093-4556-B83F-BE0A1028FC17}"/>
              </a:ext>
            </a:extLst>
          </p:cNvPr>
          <p:cNvSpPr txBox="1">
            <a:spLocks noChangeArrowheads="1"/>
          </p:cNvSpPr>
          <p:nvPr/>
        </p:nvSpPr>
        <p:spPr bwMode="auto">
          <a:xfrm>
            <a:off x="8709690" y="5648326"/>
            <a:ext cx="450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.50</a:t>
            </a:r>
          </a:p>
          <a:p>
            <a:pPr algn="ctr">
              <a:lnSpc>
                <a:spcPct val="100000"/>
              </a:lnSpc>
              <a:spcBef>
                <a:spcPct val="0"/>
              </a:spcBef>
              <a:spcAft>
                <a:spcPct val="0"/>
              </a:spcAft>
              <a:buClrTx/>
              <a:buSzTx/>
              <a:buFontTx/>
              <a:buNone/>
            </a:pPr>
            <a:r>
              <a:rPr lang="en-US" altLang="en-US" sz="700" b="0">
                <a:solidFill>
                  <a:srgbClr val="FF0000"/>
                </a:solidFill>
              </a:rPr>
              <a:t>Day</a:t>
            </a:r>
          </a:p>
        </p:txBody>
      </p:sp>
      <p:sp>
        <p:nvSpPr>
          <p:cNvPr id="130" name="Text Box 211">
            <a:extLst>
              <a:ext uri="{FF2B5EF4-FFF2-40B4-BE49-F238E27FC236}">
                <a16:creationId xmlns:a16="http://schemas.microsoft.com/office/drawing/2014/main" id="{5F77E85D-E8F2-8C5B-9434-B7B84E95AF1F}"/>
              </a:ext>
            </a:extLst>
          </p:cNvPr>
          <p:cNvSpPr txBox="1">
            <a:spLocks noChangeArrowheads="1"/>
          </p:cNvSpPr>
          <p:nvPr/>
        </p:nvSpPr>
        <p:spPr bwMode="auto">
          <a:xfrm>
            <a:off x="3458240" y="5648326"/>
            <a:ext cx="450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.41</a:t>
            </a:r>
          </a:p>
          <a:p>
            <a:pPr algn="ctr">
              <a:lnSpc>
                <a:spcPct val="100000"/>
              </a:lnSpc>
              <a:spcBef>
                <a:spcPct val="0"/>
              </a:spcBef>
              <a:spcAft>
                <a:spcPct val="0"/>
              </a:spcAft>
              <a:buClrTx/>
              <a:buSzTx/>
              <a:buFontTx/>
              <a:buNone/>
            </a:pPr>
            <a:r>
              <a:rPr lang="en-US" altLang="en-US" sz="700" b="0">
                <a:solidFill>
                  <a:srgbClr val="FF0000"/>
                </a:solidFill>
              </a:rPr>
              <a:t>Days</a:t>
            </a:r>
          </a:p>
        </p:txBody>
      </p:sp>
      <p:sp>
        <p:nvSpPr>
          <p:cNvPr id="131" name="Text Box 212">
            <a:extLst>
              <a:ext uri="{FF2B5EF4-FFF2-40B4-BE49-F238E27FC236}">
                <a16:creationId xmlns:a16="http://schemas.microsoft.com/office/drawing/2014/main" id="{0A959FCC-13E3-6FBA-12C1-F0538EA83331}"/>
              </a:ext>
            </a:extLst>
          </p:cNvPr>
          <p:cNvSpPr txBox="1">
            <a:spLocks noChangeArrowheads="1"/>
          </p:cNvSpPr>
          <p:nvPr/>
        </p:nvSpPr>
        <p:spPr bwMode="auto">
          <a:xfrm>
            <a:off x="5509290" y="5648326"/>
            <a:ext cx="450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.33</a:t>
            </a:r>
          </a:p>
          <a:p>
            <a:pPr algn="ctr">
              <a:lnSpc>
                <a:spcPct val="100000"/>
              </a:lnSpc>
              <a:spcBef>
                <a:spcPct val="0"/>
              </a:spcBef>
              <a:spcAft>
                <a:spcPct val="0"/>
              </a:spcAft>
              <a:buClrTx/>
              <a:buSzTx/>
              <a:buFontTx/>
              <a:buNone/>
            </a:pPr>
            <a:r>
              <a:rPr lang="en-US" altLang="en-US" sz="700" b="0">
                <a:solidFill>
                  <a:srgbClr val="FF0000"/>
                </a:solidFill>
              </a:rPr>
              <a:t>Days</a:t>
            </a:r>
          </a:p>
        </p:txBody>
      </p:sp>
      <p:sp>
        <p:nvSpPr>
          <p:cNvPr id="132" name="Text Box 213">
            <a:extLst>
              <a:ext uri="{FF2B5EF4-FFF2-40B4-BE49-F238E27FC236}">
                <a16:creationId xmlns:a16="http://schemas.microsoft.com/office/drawing/2014/main" id="{8D55C5B6-AEAD-361F-04E6-EAC4E2036651}"/>
              </a:ext>
            </a:extLst>
          </p:cNvPr>
          <p:cNvSpPr txBox="1">
            <a:spLocks noChangeArrowheads="1"/>
          </p:cNvSpPr>
          <p:nvPr/>
        </p:nvSpPr>
        <p:spPr bwMode="auto">
          <a:xfrm>
            <a:off x="7507953" y="5648326"/>
            <a:ext cx="450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2</a:t>
            </a:r>
          </a:p>
          <a:p>
            <a:pPr algn="ctr">
              <a:lnSpc>
                <a:spcPct val="100000"/>
              </a:lnSpc>
              <a:spcBef>
                <a:spcPct val="0"/>
              </a:spcBef>
              <a:spcAft>
                <a:spcPct val="0"/>
              </a:spcAft>
              <a:buClrTx/>
              <a:buSzTx/>
              <a:buFontTx/>
              <a:buNone/>
            </a:pPr>
            <a:r>
              <a:rPr lang="en-US" altLang="en-US" sz="700" b="0">
                <a:solidFill>
                  <a:srgbClr val="FF0000"/>
                </a:solidFill>
              </a:rPr>
              <a:t>Days</a:t>
            </a:r>
          </a:p>
        </p:txBody>
      </p:sp>
      <p:sp>
        <p:nvSpPr>
          <p:cNvPr id="133" name="Text Box 214">
            <a:extLst>
              <a:ext uri="{FF2B5EF4-FFF2-40B4-BE49-F238E27FC236}">
                <a16:creationId xmlns:a16="http://schemas.microsoft.com/office/drawing/2014/main" id="{952F757D-9A25-37CC-FBB9-015DE4FA9A17}"/>
              </a:ext>
            </a:extLst>
          </p:cNvPr>
          <p:cNvSpPr txBox="1">
            <a:spLocks noChangeArrowheads="1"/>
          </p:cNvSpPr>
          <p:nvPr/>
        </p:nvSpPr>
        <p:spPr bwMode="auto">
          <a:xfrm>
            <a:off x="114300" y="5703888"/>
            <a:ext cx="450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.50</a:t>
            </a:r>
          </a:p>
          <a:p>
            <a:pPr algn="ctr">
              <a:lnSpc>
                <a:spcPct val="100000"/>
              </a:lnSpc>
              <a:spcBef>
                <a:spcPct val="0"/>
              </a:spcBef>
              <a:spcAft>
                <a:spcPct val="0"/>
              </a:spcAft>
              <a:buClrTx/>
              <a:buSzTx/>
              <a:buFontTx/>
              <a:buNone/>
            </a:pPr>
            <a:r>
              <a:rPr lang="en-US" altLang="en-US" sz="700" b="0">
                <a:solidFill>
                  <a:srgbClr val="FF0000"/>
                </a:solidFill>
              </a:rPr>
              <a:t>Days</a:t>
            </a:r>
          </a:p>
        </p:txBody>
      </p:sp>
      <p:sp>
        <p:nvSpPr>
          <p:cNvPr id="134" name="Text Box 215">
            <a:extLst>
              <a:ext uri="{FF2B5EF4-FFF2-40B4-BE49-F238E27FC236}">
                <a16:creationId xmlns:a16="http://schemas.microsoft.com/office/drawing/2014/main" id="{F9E71B28-A09B-2FE8-153B-C183791B9281}"/>
              </a:ext>
            </a:extLst>
          </p:cNvPr>
          <p:cNvSpPr txBox="1">
            <a:spLocks noChangeArrowheads="1"/>
          </p:cNvSpPr>
          <p:nvPr/>
        </p:nvSpPr>
        <p:spPr bwMode="auto">
          <a:xfrm>
            <a:off x="4004340" y="5978526"/>
            <a:ext cx="450850"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5”</a:t>
            </a:r>
          </a:p>
        </p:txBody>
      </p:sp>
      <p:sp>
        <p:nvSpPr>
          <p:cNvPr id="135" name="Text Box 216">
            <a:extLst>
              <a:ext uri="{FF2B5EF4-FFF2-40B4-BE49-F238E27FC236}">
                <a16:creationId xmlns:a16="http://schemas.microsoft.com/office/drawing/2014/main" id="{E18B0937-F36C-2EEE-ED9D-59E57ABE0C17}"/>
              </a:ext>
            </a:extLst>
          </p:cNvPr>
          <p:cNvSpPr txBox="1">
            <a:spLocks noChangeArrowheads="1"/>
          </p:cNvSpPr>
          <p:nvPr/>
        </p:nvSpPr>
        <p:spPr bwMode="auto">
          <a:xfrm>
            <a:off x="2950240" y="5978526"/>
            <a:ext cx="450850"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10”</a:t>
            </a:r>
          </a:p>
        </p:txBody>
      </p:sp>
      <p:sp>
        <p:nvSpPr>
          <p:cNvPr id="136" name="Text Box 217">
            <a:extLst>
              <a:ext uri="{FF2B5EF4-FFF2-40B4-BE49-F238E27FC236}">
                <a16:creationId xmlns:a16="http://schemas.microsoft.com/office/drawing/2014/main" id="{C3233533-4CA5-E5A0-14F3-3A3657B3EAF9}"/>
              </a:ext>
            </a:extLst>
          </p:cNvPr>
          <p:cNvSpPr txBox="1">
            <a:spLocks noChangeArrowheads="1"/>
          </p:cNvSpPr>
          <p:nvPr/>
        </p:nvSpPr>
        <p:spPr bwMode="auto">
          <a:xfrm>
            <a:off x="1927890" y="5978526"/>
            <a:ext cx="450850"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15”</a:t>
            </a:r>
          </a:p>
        </p:txBody>
      </p:sp>
      <p:sp>
        <p:nvSpPr>
          <p:cNvPr id="137" name="Text Box 218">
            <a:extLst>
              <a:ext uri="{FF2B5EF4-FFF2-40B4-BE49-F238E27FC236}">
                <a16:creationId xmlns:a16="http://schemas.microsoft.com/office/drawing/2014/main" id="{D6D8365F-787D-4B37-18BD-9B1679485E52}"/>
              </a:ext>
            </a:extLst>
          </p:cNvPr>
          <p:cNvSpPr txBox="1">
            <a:spLocks noChangeArrowheads="1"/>
          </p:cNvSpPr>
          <p:nvPr/>
        </p:nvSpPr>
        <p:spPr bwMode="auto">
          <a:xfrm>
            <a:off x="5026690" y="5978526"/>
            <a:ext cx="450850"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180”</a:t>
            </a:r>
          </a:p>
        </p:txBody>
      </p:sp>
      <p:sp>
        <p:nvSpPr>
          <p:cNvPr id="138" name="Text Box 219">
            <a:extLst>
              <a:ext uri="{FF2B5EF4-FFF2-40B4-BE49-F238E27FC236}">
                <a16:creationId xmlns:a16="http://schemas.microsoft.com/office/drawing/2014/main" id="{01BA031A-D420-CB03-AEF4-A2EF5EEF9435}"/>
              </a:ext>
            </a:extLst>
          </p:cNvPr>
          <p:cNvSpPr txBox="1">
            <a:spLocks noChangeArrowheads="1"/>
          </p:cNvSpPr>
          <p:nvPr/>
        </p:nvSpPr>
        <p:spPr bwMode="auto">
          <a:xfrm>
            <a:off x="6061740" y="5978526"/>
            <a:ext cx="450850"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72”</a:t>
            </a:r>
          </a:p>
        </p:txBody>
      </p:sp>
      <p:sp>
        <p:nvSpPr>
          <p:cNvPr id="139" name="Text Box 220">
            <a:extLst>
              <a:ext uri="{FF2B5EF4-FFF2-40B4-BE49-F238E27FC236}">
                <a16:creationId xmlns:a16="http://schemas.microsoft.com/office/drawing/2014/main" id="{81EE7186-D2B6-B8B6-78FC-F8968EE6219B}"/>
              </a:ext>
            </a:extLst>
          </p:cNvPr>
          <p:cNvSpPr txBox="1">
            <a:spLocks noChangeArrowheads="1"/>
          </p:cNvSpPr>
          <p:nvPr/>
        </p:nvSpPr>
        <p:spPr bwMode="auto">
          <a:xfrm>
            <a:off x="7033290" y="5978526"/>
            <a:ext cx="450850"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72”</a:t>
            </a:r>
          </a:p>
        </p:txBody>
      </p:sp>
      <p:grpSp>
        <p:nvGrpSpPr>
          <p:cNvPr id="140" name="Group 474">
            <a:extLst>
              <a:ext uri="{FF2B5EF4-FFF2-40B4-BE49-F238E27FC236}">
                <a16:creationId xmlns:a16="http://schemas.microsoft.com/office/drawing/2014/main" id="{A190CD87-A1FE-3760-B614-ACBB73C1E2C0}"/>
              </a:ext>
            </a:extLst>
          </p:cNvPr>
          <p:cNvGrpSpPr>
            <a:grpSpLocks/>
          </p:cNvGrpSpPr>
          <p:nvPr/>
        </p:nvGrpSpPr>
        <p:grpSpPr bwMode="auto">
          <a:xfrm>
            <a:off x="9117678" y="5340351"/>
            <a:ext cx="1103312" cy="427037"/>
            <a:chOff x="4933" y="3507"/>
            <a:chExt cx="695" cy="269"/>
          </a:xfrm>
        </p:grpSpPr>
        <p:grpSp>
          <p:nvGrpSpPr>
            <p:cNvPr id="141" name="Group 221">
              <a:extLst>
                <a:ext uri="{FF2B5EF4-FFF2-40B4-BE49-F238E27FC236}">
                  <a16:creationId xmlns:a16="http://schemas.microsoft.com/office/drawing/2014/main" id="{9F37F33B-4697-86B6-2251-5CDF6787B193}"/>
                </a:ext>
              </a:extLst>
            </p:cNvPr>
            <p:cNvGrpSpPr>
              <a:grpSpLocks/>
            </p:cNvGrpSpPr>
            <p:nvPr/>
          </p:nvGrpSpPr>
          <p:grpSpPr bwMode="auto">
            <a:xfrm>
              <a:off x="4978" y="3530"/>
              <a:ext cx="646" cy="212"/>
              <a:chOff x="4550" y="3435"/>
              <a:chExt cx="962" cy="221"/>
            </a:xfrm>
          </p:grpSpPr>
          <p:sp>
            <p:nvSpPr>
              <p:cNvPr id="143" name="Text Box 222">
                <a:extLst>
                  <a:ext uri="{FF2B5EF4-FFF2-40B4-BE49-F238E27FC236}">
                    <a16:creationId xmlns:a16="http://schemas.microsoft.com/office/drawing/2014/main" id="{CB8B9F12-FD2B-EA6D-AEC5-1E9E8457D69E}"/>
                  </a:ext>
                </a:extLst>
              </p:cNvPr>
              <p:cNvSpPr txBox="1">
                <a:spLocks noChangeArrowheads="1"/>
              </p:cNvSpPr>
              <p:nvPr/>
            </p:nvSpPr>
            <p:spPr bwMode="auto">
              <a:xfrm>
                <a:off x="4595" y="3435"/>
                <a:ext cx="917" cy="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r">
                  <a:lnSpc>
                    <a:spcPct val="100000"/>
                  </a:lnSpc>
                  <a:spcBef>
                    <a:spcPct val="30000"/>
                  </a:spcBef>
                  <a:spcAft>
                    <a:spcPct val="0"/>
                  </a:spcAft>
                  <a:buClrTx/>
                  <a:buSzTx/>
                  <a:buFontTx/>
                  <a:buNone/>
                </a:pPr>
                <a:r>
                  <a:rPr lang="en-US" altLang="en-US" sz="700">
                    <a:solidFill>
                      <a:srgbClr val="FF0000"/>
                    </a:solidFill>
                  </a:rPr>
                  <a:t>P.T. =  4.82 days    </a:t>
                </a:r>
              </a:p>
              <a:p>
                <a:pPr algn="r">
                  <a:lnSpc>
                    <a:spcPct val="100000"/>
                  </a:lnSpc>
                  <a:spcBef>
                    <a:spcPct val="30000"/>
                  </a:spcBef>
                  <a:spcAft>
                    <a:spcPct val="0"/>
                  </a:spcAft>
                  <a:buClrTx/>
                  <a:buSzTx/>
                  <a:buFontTx/>
                  <a:buNone/>
                </a:pPr>
                <a:r>
                  <a:rPr lang="en-US" altLang="en-US" sz="700">
                    <a:solidFill>
                      <a:srgbClr val="FF0000"/>
                    </a:solidFill>
                  </a:rPr>
                  <a:t>T.T. = 374 seconds</a:t>
                </a:r>
              </a:p>
            </p:txBody>
          </p:sp>
          <p:sp>
            <p:nvSpPr>
              <p:cNvPr id="144" name="Line 223">
                <a:extLst>
                  <a:ext uri="{FF2B5EF4-FFF2-40B4-BE49-F238E27FC236}">
                    <a16:creationId xmlns:a16="http://schemas.microsoft.com/office/drawing/2014/main" id="{CAA13BC8-8B2F-1012-A012-7BAD2007BEB6}"/>
                  </a:ext>
                </a:extLst>
              </p:cNvPr>
              <p:cNvSpPr>
                <a:spLocks noChangeShapeType="1"/>
              </p:cNvSpPr>
              <p:nvPr/>
            </p:nvSpPr>
            <p:spPr bwMode="auto">
              <a:xfrm flipV="1">
                <a:off x="4550" y="3539"/>
                <a:ext cx="893" cy="3"/>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142" name="Rectangle 224">
              <a:extLst>
                <a:ext uri="{FF2B5EF4-FFF2-40B4-BE49-F238E27FC236}">
                  <a16:creationId xmlns:a16="http://schemas.microsoft.com/office/drawing/2014/main" id="{D90CD706-0548-8D08-F786-319A45EFCA98}"/>
                </a:ext>
              </a:extLst>
            </p:cNvPr>
            <p:cNvSpPr>
              <a:spLocks noChangeArrowheads="1"/>
            </p:cNvSpPr>
            <p:nvPr/>
          </p:nvSpPr>
          <p:spPr bwMode="auto">
            <a:xfrm>
              <a:off x="4933" y="3507"/>
              <a:ext cx="695" cy="269"/>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sp>
        <p:nvSpPr>
          <p:cNvPr id="145" name="Line 307">
            <a:extLst>
              <a:ext uri="{FF2B5EF4-FFF2-40B4-BE49-F238E27FC236}">
                <a16:creationId xmlns:a16="http://schemas.microsoft.com/office/drawing/2014/main" id="{0D516E4F-7405-FEB5-3F54-0CEE6F36195C}"/>
              </a:ext>
            </a:extLst>
          </p:cNvPr>
          <p:cNvSpPr>
            <a:spLocks noChangeShapeType="1"/>
          </p:cNvSpPr>
          <p:nvPr/>
        </p:nvSpPr>
        <p:spPr bwMode="auto">
          <a:xfrm flipV="1">
            <a:off x="2656553" y="4321176"/>
            <a:ext cx="217487"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146" name="Group 413">
            <a:extLst>
              <a:ext uri="{FF2B5EF4-FFF2-40B4-BE49-F238E27FC236}">
                <a16:creationId xmlns:a16="http://schemas.microsoft.com/office/drawing/2014/main" id="{411508E3-D1E4-22CB-98C5-F02F658E422B}"/>
              </a:ext>
            </a:extLst>
          </p:cNvPr>
          <p:cNvGrpSpPr>
            <a:grpSpLocks/>
          </p:cNvGrpSpPr>
          <p:nvPr/>
        </p:nvGrpSpPr>
        <p:grpSpPr bwMode="auto">
          <a:xfrm>
            <a:off x="2473990" y="4175126"/>
            <a:ext cx="561975" cy="903287"/>
            <a:chOff x="748" y="2665"/>
            <a:chExt cx="354" cy="569"/>
          </a:xfrm>
        </p:grpSpPr>
        <p:sp>
          <p:nvSpPr>
            <p:cNvPr id="147" name="Rectangle 308">
              <a:extLst>
                <a:ext uri="{FF2B5EF4-FFF2-40B4-BE49-F238E27FC236}">
                  <a16:creationId xmlns:a16="http://schemas.microsoft.com/office/drawing/2014/main" id="{BD22292F-D27C-F7AB-32F9-6B29074B0B84}"/>
                </a:ext>
              </a:extLst>
            </p:cNvPr>
            <p:cNvSpPr>
              <a:spLocks noChangeArrowheads="1"/>
            </p:cNvSpPr>
            <p:nvPr/>
          </p:nvSpPr>
          <p:spPr bwMode="auto">
            <a:xfrm>
              <a:off x="855" y="2709"/>
              <a:ext cx="151" cy="16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48" name="AutoShape 309">
              <a:extLst>
                <a:ext uri="{FF2B5EF4-FFF2-40B4-BE49-F238E27FC236}">
                  <a16:creationId xmlns:a16="http://schemas.microsoft.com/office/drawing/2014/main" id="{0ED492E8-3ED2-0884-D2CE-5CCE649A2265}"/>
                </a:ext>
              </a:extLst>
            </p:cNvPr>
            <p:cNvSpPr>
              <a:spLocks/>
            </p:cNvSpPr>
            <p:nvPr/>
          </p:nvSpPr>
          <p:spPr bwMode="auto">
            <a:xfrm rot="-5400000">
              <a:off x="922" y="2598"/>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49" name="AutoShape 310">
              <a:extLst>
                <a:ext uri="{FF2B5EF4-FFF2-40B4-BE49-F238E27FC236}">
                  <a16:creationId xmlns:a16="http://schemas.microsoft.com/office/drawing/2014/main" id="{CDFB7B73-9BBE-2B9C-3AE4-F5768F5A3A8C}"/>
                </a:ext>
              </a:extLst>
            </p:cNvPr>
            <p:cNvSpPr>
              <a:spLocks/>
            </p:cNvSpPr>
            <p:nvPr/>
          </p:nvSpPr>
          <p:spPr bwMode="auto">
            <a:xfrm rot="-5400000">
              <a:off x="922" y="2607"/>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50" name="AutoShape 311">
              <a:extLst>
                <a:ext uri="{FF2B5EF4-FFF2-40B4-BE49-F238E27FC236}">
                  <a16:creationId xmlns:a16="http://schemas.microsoft.com/office/drawing/2014/main" id="{6495BEC7-36E4-17FC-32CA-0A8536A93D54}"/>
                </a:ext>
              </a:extLst>
            </p:cNvPr>
            <p:cNvSpPr>
              <a:spLocks/>
            </p:cNvSpPr>
            <p:nvPr/>
          </p:nvSpPr>
          <p:spPr bwMode="auto">
            <a:xfrm rot="-5400000">
              <a:off x="922" y="2616"/>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151" name="Group 312">
              <a:extLst>
                <a:ext uri="{FF2B5EF4-FFF2-40B4-BE49-F238E27FC236}">
                  <a16:creationId xmlns:a16="http://schemas.microsoft.com/office/drawing/2014/main" id="{0639D527-22B4-C1F0-2029-8585246F6CA6}"/>
                </a:ext>
              </a:extLst>
            </p:cNvPr>
            <p:cNvGrpSpPr>
              <a:grpSpLocks/>
            </p:cNvGrpSpPr>
            <p:nvPr/>
          </p:nvGrpSpPr>
          <p:grpSpPr bwMode="auto">
            <a:xfrm>
              <a:off x="849" y="2898"/>
              <a:ext cx="151" cy="336"/>
              <a:chOff x="576" y="1200"/>
              <a:chExt cx="240" cy="336"/>
            </a:xfrm>
          </p:grpSpPr>
          <p:sp>
            <p:nvSpPr>
              <p:cNvPr id="154" name="Rectangle 313">
                <a:extLst>
                  <a:ext uri="{FF2B5EF4-FFF2-40B4-BE49-F238E27FC236}">
                    <a16:creationId xmlns:a16="http://schemas.microsoft.com/office/drawing/2014/main" id="{D9A63C01-912D-32B8-F913-DBF79B163008}"/>
                  </a:ext>
                </a:extLst>
              </p:cNvPr>
              <p:cNvSpPr>
                <a:spLocks noChangeArrowheads="1"/>
              </p:cNvSpPr>
              <p:nvPr/>
            </p:nvSpPr>
            <p:spPr bwMode="auto">
              <a:xfrm>
                <a:off x="576" y="1200"/>
                <a:ext cx="240"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55" name="Line 314">
                <a:extLst>
                  <a:ext uri="{FF2B5EF4-FFF2-40B4-BE49-F238E27FC236}">
                    <a16:creationId xmlns:a16="http://schemas.microsoft.com/office/drawing/2014/main" id="{D09D20EE-EF8C-0E36-4F1D-2F89FD6EF604}"/>
                  </a:ext>
                </a:extLst>
              </p:cNvPr>
              <p:cNvSpPr>
                <a:spLocks noChangeShapeType="1"/>
              </p:cNvSpPr>
              <p:nvPr/>
            </p:nvSpPr>
            <p:spPr bwMode="auto">
              <a:xfrm>
                <a:off x="576" y="139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6" name="Line 315">
                <a:extLst>
                  <a:ext uri="{FF2B5EF4-FFF2-40B4-BE49-F238E27FC236}">
                    <a16:creationId xmlns:a16="http://schemas.microsoft.com/office/drawing/2014/main" id="{11C9CA2E-1899-961F-54D0-25609EA83472}"/>
                  </a:ext>
                </a:extLst>
              </p:cNvPr>
              <p:cNvSpPr>
                <a:spLocks noChangeShapeType="1"/>
              </p:cNvSpPr>
              <p:nvPr/>
            </p:nvSpPr>
            <p:spPr bwMode="auto">
              <a:xfrm>
                <a:off x="576" y="129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52" name="Text Box 316">
              <a:extLst>
                <a:ext uri="{FF2B5EF4-FFF2-40B4-BE49-F238E27FC236}">
                  <a16:creationId xmlns:a16="http://schemas.microsoft.com/office/drawing/2014/main" id="{3E83BE6E-8D50-4BB0-CB00-AA3AA4DAD6CA}"/>
                </a:ext>
              </a:extLst>
            </p:cNvPr>
            <p:cNvSpPr txBox="1">
              <a:spLocks noChangeArrowheads="1"/>
            </p:cNvSpPr>
            <p:nvPr/>
          </p:nvSpPr>
          <p:spPr bwMode="auto">
            <a:xfrm>
              <a:off x="834" y="2736"/>
              <a:ext cx="168" cy="1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eaLnBrk="1" hangingPunct="1">
                <a:lnSpc>
                  <a:spcPct val="100000"/>
                </a:lnSpc>
                <a:spcBef>
                  <a:spcPct val="0"/>
                </a:spcBef>
                <a:spcAft>
                  <a:spcPct val="0"/>
                </a:spcAft>
                <a:buClrTx/>
                <a:buSzTx/>
                <a:buFontTx/>
                <a:buNone/>
              </a:pPr>
              <a:r>
                <a:rPr lang="en-US" altLang="en-US" sz="600" b="0"/>
                <a:t>IN</a:t>
              </a:r>
            </a:p>
          </p:txBody>
        </p:sp>
        <p:sp>
          <p:nvSpPr>
            <p:cNvPr id="153" name="Text Box 317">
              <a:extLst>
                <a:ext uri="{FF2B5EF4-FFF2-40B4-BE49-F238E27FC236}">
                  <a16:creationId xmlns:a16="http://schemas.microsoft.com/office/drawing/2014/main" id="{6247D101-E5A5-A9D7-DA49-B95CF26AD5CE}"/>
                </a:ext>
              </a:extLst>
            </p:cNvPr>
            <p:cNvSpPr txBox="1">
              <a:spLocks noChangeArrowheads="1"/>
            </p:cNvSpPr>
            <p:nvPr/>
          </p:nvSpPr>
          <p:spPr bwMode="auto">
            <a:xfrm>
              <a:off x="748" y="2918"/>
              <a:ext cx="35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Aft>
                  <a:spcPct val="0"/>
                </a:spcAft>
                <a:buClrTx/>
                <a:buSzTx/>
                <a:buFontTx/>
                <a:buNone/>
              </a:pPr>
              <a:r>
                <a:rPr lang="en-US" altLang="en-US" sz="500" b="0">
                  <a:solidFill>
                    <a:srgbClr val="FF0000"/>
                  </a:solidFill>
                </a:rPr>
                <a:t>In Box</a:t>
              </a:r>
            </a:p>
            <a:p>
              <a:pPr algn="ctr">
                <a:lnSpc>
                  <a:spcPct val="100000"/>
                </a:lnSpc>
                <a:spcAft>
                  <a:spcPct val="0"/>
                </a:spcAft>
                <a:buClrTx/>
                <a:buSzTx/>
                <a:buFontTx/>
                <a:buNone/>
              </a:pPr>
              <a:r>
                <a:rPr lang="en-US" altLang="en-US" sz="500" b="0">
                  <a:solidFill>
                    <a:srgbClr val="FF0000"/>
                  </a:solidFill>
                </a:rPr>
                <a:t>FIFO</a:t>
              </a:r>
            </a:p>
            <a:p>
              <a:pPr algn="ctr">
                <a:lnSpc>
                  <a:spcPct val="100000"/>
                </a:lnSpc>
                <a:spcAft>
                  <a:spcPct val="0"/>
                </a:spcAft>
                <a:buClrTx/>
                <a:buSzTx/>
                <a:buFontTx/>
                <a:buNone/>
              </a:pPr>
              <a:r>
                <a:rPr lang="en-US" altLang="en-US" sz="500" b="0">
                  <a:solidFill>
                    <a:srgbClr val="FF0000"/>
                  </a:solidFill>
                </a:rPr>
                <a:t>750   </a:t>
              </a:r>
              <a:r>
                <a:rPr lang="en-US" altLang="en-US" sz="400" b="0">
                  <a:solidFill>
                    <a:srgbClr val="FF0000"/>
                  </a:solidFill>
                </a:rPr>
                <a:t>Envelopes</a:t>
              </a:r>
            </a:p>
          </p:txBody>
        </p:sp>
      </p:grpSp>
      <p:sp>
        <p:nvSpPr>
          <p:cNvPr id="157" name="Line 318">
            <a:extLst>
              <a:ext uri="{FF2B5EF4-FFF2-40B4-BE49-F238E27FC236}">
                <a16:creationId xmlns:a16="http://schemas.microsoft.com/office/drawing/2014/main" id="{2B2A4859-8D6D-1105-CC67-83C17EBC6DC5}"/>
              </a:ext>
            </a:extLst>
          </p:cNvPr>
          <p:cNvSpPr>
            <a:spLocks noChangeShapeType="1"/>
          </p:cNvSpPr>
          <p:nvPr/>
        </p:nvSpPr>
        <p:spPr bwMode="auto">
          <a:xfrm flipV="1">
            <a:off x="1640553" y="4321176"/>
            <a:ext cx="217487"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158" name="Group 414">
            <a:extLst>
              <a:ext uri="{FF2B5EF4-FFF2-40B4-BE49-F238E27FC236}">
                <a16:creationId xmlns:a16="http://schemas.microsoft.com/office/drawing/2014/main" id="{180EAF78-1BB7-17EF-30B6-815419BA05FE}"/>
              </a:ext>
            </a:extLst>
          </p:cNvPr>
          <p:cNvGrpSpPr>
            <a:grpSpLocks/>
          </p:cNvGrpSpPr>
          <p:nvPr/>
        </p:nvGrpSpPr>
        <p:grpSpPr bwMode="auto">
          <a:xfrm>
            <a:off x="1508790" y="4175126"/>
            <a:ext cx="454025" cy="903287"/>
            <a:chOff x="140" y="2665"/>
            <a:chExt cx="286" cy="569"/>
          </a:xfrm>
        </p:grpSpPr>
        <p:sp>
          <p:nvSpPr>
            <p:cNvPr id="159" name="Text Box 319">
              <a:extLst>
                <a:ext uri="{FF2B5EF4-FFF2-40B4-BE49-F238E27FC236}">
                  <a16:creationId xmlns:a16="http://schemas.microsoft.com/office/drawing/2014/main" id="{055E88F1-95C6-191B-5FFE-3F0DC2A58958}"/>
                </a:ext>
              </a:extLst>
            </p:cNvPr>
            <p:cNvSpPr txBox="1">
              <a:spLocks noChangeArrowheads="1"/>
            </p:cNvSpPr>
            <p:nvPr/>
          </p:nvSpPr>
          <p:spPr bwMode="auto">
            <a:xfrm>
              <a:off x="140" y="2918"/>
              <a:ext cx="28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Aft>
                  <a:spcPct val="0"/>
                </a:spcAft>
                <a:buClrTx/>
                <a:buSzTx/>
                <a:buFontTx/>
                <a:buNone/>
              </a:pPr>
              <a:r>
                <a:rPr lang="en-US" altLang="en-US" sz="500" b="0">
                  <a:solidFill>
                    <a:srgbClr val="FF0000"/>
                  </a:solidFill>
                </a:rPr>
                <a:t>Mailbag</a:t>
              </a:r>
            </a:p>
            <a:p>
              <a:pPr algn="ctr">
                <a:lnSpc>
                  <a:spcPct val="100000"/>
                </a:lnSpc>
                <a:spcAft>
                  <a:spcPct val="0"/>
                </a:spcAft>
                <a:buClrTx/>
                <a:buSzTx/>
                <a:buFontTx/>
                <a:buNone/>
              </a:pPr>
              <a:r>
                <a:rPr lang="en-US" altLang="en-US" sz="500" b="0">
                  <a:solidFill>
                    <a:srgbClr val="FF0000"/>
                  </a:solidFill>
                </a:rPr>
                <a:t>FIFO</a:t>
              </a:r>
            </a:p>
            <a:p>
              <a:pPr algn="ctr">
                <a:lnSpc>
                  <a:spcPct val="100000"/>
                </a:lnSpc>
                <a:spcAft>
                  <a:spcPct val="0"/>
                </a:spcAft>
                <a:buClrTx/>
                <a:buSzTx/>
                <a:buFontTx/>
                <a:buNone/>
              </a:pPr>
              <a:r>
                <a:rPr lang="en-US" altLang="en-US" sz="500" b="0">
                  <a:solidFill>
                    <a:srgbClr val="FF0000"/>
                  </a:solidFill>
                </a:rPr>
                <a:t>750   </a:t>
              </a:r>
              <a:r>
                <a:rPr lang="en-US" altLang="en-US" sz="400" b="0">
                  <a:solidFill>
                    <a:srgbClr val="FF0000"/>
                  </a:solidFill>
                </a:rPr>
                <a:t>Envelopes</a:t>
              </a:r>
            </a:p>
          </p:txBody>
        </p:sp>
        <p:sp>
          <p:nvSpPr>
            <p:cNvPr id="160" name="Rectangle 320">
              <a:extLst>
                <a:ext uri="{FF2B5EF4-FFF2-40B4-BE49-F238E27FC236}">
                  <a16:creationId xmlns:a16="http://schemas.microsoft.com/office/drawing/2014/main" id="{68992567-8141-9B68-9F6A-9AB454B4EB76}"/>
                </a:ext>
              </a:extLst>
            </p:cNvPr>
            <p:cNvSpPr>
              <a:spLocks noChangeArrowheads="1"/>
            </p:cNvSpPr>
            <p:nvPr/>
          </p:nvSpPr>
          <p:spPr bwMode="auto">
            <a:xfrm>
              <a:off x="215" y="2709"/>
              <a:ext cx="151" cy="16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61" name="AutoShape 321">
              <a:extLst>
                <a:ext uri="{FF2B5EF4-FFF2-40B4-BE49-F238E27FC236}">
                  <a16:creationId xmlns:a16="http://schemas.microsoft.com/office/drawing/2014/main" id="{D811E0F8-B1E8-D93C-B69E-026AB748B4AA}"/>
                </a:ext>
              </a:extLst>
            </p:cNvPr>
            <p:cNvSpPr>
              <a:spLocks/>
            </p:cNvSpPr>
            <p:nvPr/>
          </p:nvSpPr>
          <p:spPr bwMode="auto">
            <a:xfrm rot="-5400000">
              <a:off x="282" y="2598"/>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62" name="AutoShape 322">
              <a:extLst>
                <a:ext uri="{FF2B5EF4-FFF2-40B4-BE49-F238E27FC236}">
                  <a16:creationId xmlns:a16="http://schemas.microsoft.com/office/drawing/2014/main" id="{CEDF1BAD-B0C3-2DA4-A629-5D32D744AF65}"/>
                </a:ext>
              </a:extLst>
            </p:cNvPr>
            <p:cNvSpPr>
              <a:spLocks/>
            </p:cNvSpPr>
            <p:nvPr/>
          </p:nvSpPr>
          <p:spPr bwMode="auto">
            <a:xfrm rot="-5400000">
              <a:off x="282" y="2607"/>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63" name="AutoShape 323">
              <a:extLst>
                <a:ext uri="{FF2B5EF4-FFF2-40B4-BE49-F238E27FC236}">
                  <a16:creationId xmlns:a16="http://schemas.microsoft.com/office/drawing/2014/main" id="{8E615206-F07E-F678-088F-4B387E84B8BA}"/>
                </a:ext>
              </a:extLst>
            </p:cNvPr>
            <p:cNvSpPr>
              <a:spLocks/>
            </p:cNvSpPr>
            <p:nvPr/>
          </p:nvSpPr>
          <p:spPr bwMode="auto">
            <a:xfrm rot="-5400000">
              <a:off x="282" y="2616"/>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164" name="Group 324">
              <a:extLst>
                <a:ext uri="{FF2B5EF4-FFF2-40B4-BE49-F238E27FC236}">
                  <a16:creationId xmlns:a16="http://schemas.microsoft.com/office/drawing/2014/main" id="{FD7B2595-2B16-D71A-F440-D06EEBE6B09B}"/>
                </a:ext>
              </a:extLst>
            </p:cNvPr>
            <p:cNvGrpSpPr>
              <a:grpSpLocks/>
            </p:cNvGrpSpPr>
            <p:nvPr/>
          </p:nvGrpSpPr>
          <p:grpSpPr bwMode="auto">
            <a:xfrm>
              <a:off x="209" y="2898"/>
              <a:ext cx="151" cy="336"/>
              <a:chOff x="576" y="1200"/>
              <a:chExt cx="240" cy="336"/>
            </a:xfrm>
          </p:grpSpPr>
          <p:sp>
            <p:nvSpPr>
              <p:cNvPr id="166" name="Rectangle 325">
                <a:extLst>
                  <a:ext uri="{FF2B5EF4-FFF2-40B4-BE49-F238E27FC236}">
                    <a16:creationId xmlns:a16="http://schemas.microsoft.com/office/drawing/2014/main" id="{967D714D-9339-7A2C-3644-A893488DFC71}"/>
                  </a:ext>
                </a:extLst>
              </p:cNvPr>
              <p:cNvSpPr>
                <a:spLocks noChangeArrowheads="1"/>
              </p:cNvSpPr>
              <p:nvPr/>
            </p:nvSpPr>
            <p:spPr bwMode="auto">
              <a:xfrm>
                <a:off x="576" y="1200"/>
                <a:ext cx="240"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67" name="Line 326">
                <a:extLst>
                  <a:ext uri="{FF2B5EF4-FFF2-40B4-BE49-F238E27FC236}">
                    <a16:creationId xmlns:a16="http://schemas.microsoft.com/office/drawing/2014/main" id="{7F5537EE-AB9F-60C6-3D53-F3FCC820DF69}"/>
                  </a:ext>
                </a:extLst>
              </p:cNvPr>
              <p:cNvSpPr>
                <a:spLocks noChangeShapeType="1"/>
              </p:cNvSpPr>
              <p:nvPr/>
            </p:nvSpPr>
            <p:spPr bwMode="auto">
              <a:xfrm>
                <a:off x="576" y="139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8" name="Line 327">
                <a:extLst>
                  <a:ext uri="{FF2B5EF4-FFF2-40B4-BE49-F238E27FC236}">
                    <a16:creationId xmlns:a16="http://schemas.microsoft.com/office/drawing/2014/main" id="{638E85A8-31A5-539C-2378-256DE983B5AF}"/>
                  </a:ext>
                </a:extLst>
              </p:cNvPr>
              <p:cNvSpPr>
                <a:spLocks noChangeShapeType="1"/>
              </p:cNvSpPr>
              <p:nvPr/>
            </p:nvSpPr>
            <p:spPr bwMode="auto">
              <a:xfrm>
                <a:off x="576" y="129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65" name="Text Box 328">
              <a:extLst>
                <a:ext uri="{FF2B5EF4-FFF2-40B4-BE49-F238E27FC236}">
                  <a16:creationId xmlns:a16="http://schemas.microsoft.com/office/drawing/2014/main" id="{8D21A070-E78C-C1E9-B7A0-A473CEA15D0E}"/>
                </a:ext>
              </a:extLst>
            </p:cNvPr>
            <p:cNvSpPr txBox="1">
              <a:spLocks noChangeArrowheads="1"/>
            </p:cNvSpPr>
            <p:nvPr/>
          </p:nvSpPr>
          <p:spPr bwMode="auto">
            <a:xfrm>
              <a:off x="194" y="2736"/>
              <a:ext cx="168" cy="1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eaLnBrk="1" hangingPunct="1">
                <a:lnSpc>
                  <a:spcPct val="100000"/>
                </a:lnSpc>
                <a:spcBef>
                  <a:spcPct val="0"/>
                </a:spcBef>
                <a:spcAft>
                  <a:spcPct val="0"/>
                </a:spcAft>
                <a:buClrTx/>
                <a:buSzTx/>
                <a:buFontTx/>
                <a:buNone/>
              </a:pPr>
              <a:r>
                <a:rPr lang="en-US" altLang="en-US" sz="600" b="0"/>
                <a:t>IN</a:t>
              </a:r>
            </a:p>
          </p:txBody>
        </p:sp>
      </p:grpSp>
      <p:grpSp>
        <p:nvGrpSpPr>
          <p:cNvPr id="169" name="Group 396">
            <a:extLst>
              <a:ext uri="{FF2B5EF4-FFF2-40B4-BE49-F238E27FC236}">
                <a16:creationId xmlns:a16="http://schemas.microsoft.com/office/drawing/2014/main" id="{F78E7F9C-DDD0-E483-A7D4-8BC0F98416BB}"/>
              </a:ext>
            </a:extLst>
          </p:cNvPr>
          <p:cNvGrpSpPr>
            <a:grpSpLocks/>
          </p:cNvGrpSpPr>
          <p:nvPr/>
        </p:nvGrpSpPr>
        <p:grpSpPr bwMode="auto">
          <a:xfrm>
            <a:off x="7503190" y="3482976"/>
            <a:ext cx="454025" cy="903287"/>
            <a:chOff x="3916" y="2229"/>
            <a:chExt cx="286" cy="569"/>
          </a:xfrm>
        </p:grpSpPr>
        <p:sp>
          <p:nvSpPr>
            <p:cNvPr id="170" name="Text Box 285">
              <a:extLst>
                <a:ext uri="{FF2B5EF4-FFF2-40B4-BE49-F238E27FC236}">
                  <a16:creationId xmlns:a16="http://schemas.microsoft.com/office/drawing/2014/main" id="{D867105A-706C-CA96-80F6-2D72433C331F}"/>
                </a:ext>
              </a:extLst>
            </p:cNvPr>
            <p:cNvSpPr txBox="1">
              <a:spLocks noChangeArrowheads="1"/>
            </p:cNvSpPr>
            <p:nvPr/>
          </p:nvSpPr>
          <p:spPr bwMode="auto">
            <a:xfrm>
              <a:off x="3916" y="2482"/>
              <a:ext cx="28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Aft>
                  <a:spcPct val="0"/>
                </a:spcAft>
                <a:buClrTx/>
                <a:buSzTx/>
                <a:buFontTx/>
                <a:buNone/>
              </a:pPr>
              <a:r>
                <a:rPr lang="en-US" altLang="en-US" sz="500" b="0">
                  <a:solidFill>
                    <a:srgbClr val="FF0000"/>
                  </a:solidFill>
                </a:rPr>
                <a:t>E-File</a:t>
              </a:r>
            </a:p>
            <a:p>
              <a:pPr algn="ctr">
                <a:lnSpc>
                  <a:spcPct val="100000"/>
                </a:lnSpc>
                <a:spcAft>
                  <a:spcPct val="0"/>
                </a:spcAft>
                <a:buClrTx/>
                <a:buSzTx/>
                <a:buFontTx/>
                <a:buNone/>
              </a:pPr>
              <a:r>
                <a:rPr lang="en-US" altLang="en-US" sz="500" b="0">
                  <a:solidFill>
                    <a:srgbClr val="FF0000"/>
                  </a:solidFill>
                </a:rPr>
                <a:t>Zip Code</a:t>
              </a:r>
            </a:p>
            <a:p>
              <a:pPr algn="ctr">
                <a:lnSpc>
                  <a:spcPct val="100000"/>
                </a:lnSpc>
                <a:spcAft>
                  <a:spcPct val="0"/>
                </a:spcAft>
                <a:buClrTx/>
                <a:buSzTx/>
                <a:buFontTx/>
                <a:buNone/>
              </a:pPr>
              <a:r>
                <a:rPr lang="en-US" altLang="en-US" sz="500" b="0">
                  <a:solidFill>
                    <a:srgbClr val="FF0000"/>
                  </a:solidFill>
                </a:rPr>
                <a:t>2000  </a:t>
              </a:r>
              <a:r>
                <a:rPr lang="en-US" altLang="en-US" sz="400" b="0">
                  <a:solidFill>
                    <a:srgbClr val="FF0000"/>
                  </a:solidFill>
                </a:rPr>
                <a:t>Application</a:t>
              </a:r>
            </a:p>
          </p:txBody>
        </p:sp>
        <p:sp>
          <p:nvSpPr>
            <p:cNvPr id="171" name="Line 342">
              <a:extLst>
                <a:ext uri="{FF2B5EF4-FFF2-40B4-BE49-F238E27FC236}">
                  <a16:creationId xmlns:a16="http://schemas.microsoft.com/office/drawing/2014/main" id="{381EB86F-B078-6ED1-F699-A33DFB4945FD}"/>
                </a:ext>
              </a:extLst>
            </p:cNvPr>
            <p:cNvSpPr>
              <a:spLocks noChangeShapeType="1"/>
            </p:cNvSpPr>
            <p:nvPr/>
          </p:nvSpPr>
          <p:spPr bwMode="auto">
            <a:xfrm flipV="1">
              <a:off x="3999" y="2321"/>
              <a:ext cx="137" cy="2"/>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72" name="Rectangle 345">
              <a:extLst>
                <a:ext uri="{FF2B5EF4-FFF2-40B4-BE49-F238E27FC236}">
                  <a16:creationId xmlns:a16="http://schemas.microsoft.com/office/drawing/2014/main" id="{4063270E-5D27-852A-8077-AB689EAABEAB}"/>
                </a:ext>
              </a:extLst>
            </p:cNvPr>
            <p:cNvSpPr>
              <a:spLocks noChangeArrowheads="1"/>
            </p:cNvSpPr>
            <p:nvPr/>
          </p:nvSpPr>
          <p:spPr bwMode="auto">
            <a:xfrm>
              <a:off x="3991" y="2273"/>
              <a:ext cx="151" cy="16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73" name="AutoShape 346">
              <a:extLst>
                <a:ext uri="{FF2B5EF4-FFF2-40B4-BE49-F238E27FC236}">
                  <a16:creationId xmlns:a16="http://schemas.microsoft.com/office/drawing/2014/main" id="{922EA256-F194-2281-E6E5-19442FCA722D}"/>
                </a:ext>
              </a:extLst>
            </p:cNvPr>
            <p:cNvSpPr>
              <a:spLocks/>
            </p:cNvSpPr>
            <p:nvPr/>
          </p:nvSpPr>
          <p:spPr bwMode="auto">
            <a:xfrm rot="-5400000">
              <a:off x="4058" y="2162"/>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74" name="AutoShape 347">
              <a:extLst>
                <a:ext uri="{FF2B5EF4-FFF2-40B4-BE49-F238E27FC236}">
                  <a16:creationId xmlns:a16="http://schemas.microsoft.com/office/drawing/2014/main" id="{4CE7DF0E-BA31-0826-E3BE-C0EEF978FD91}"/>
                </a:ext>
              </a:extLst>
            </p:cNvPr>
            <p:cNvSpPr>
              <a:spLocks/>
            </p:cNvSpPr>
            <p:nvPr/>
          </p:nvSpPr>
          <p:spPr bwMode="auto">
            <a:xfrm rot="-5400000">
              <a:off x="4058" y="2171"/>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75" name="AutoShape 348">
              <a:extLst>
                <a:ext uri="{FF2B5EF4-FFF2-40B4-BE49-F238E27FC236}">
                  <a16:creationId xmlns:a16="http://schemas.microsoft.com/office/drawing/2014/main" id="{B83B9341-EE31-C770-176D-A982000441E2}"/>
                </a:ext>
              </a:extLst>
            </p:cNvPr>
            <p:cNvSpPr>
              <a:spLocks/>
            </p:cNvSpPr>
            <p:nvPr/>
          </p:nvSpPr>
          <p:spPr bwMode="auto">
            <a:xfrm rot="-5400000">
              <a:off x="4058" y="2180"/>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176" name="Group 349">
              <a:extLst>
                <a:ext uri="{FF2B5EF4-FFF2-40B4-BE49-F238E27FC236}">
                  <a16:creationId xmlns:a16="http://schemas.microsoft.com/office/drawing/2014/main" id="{439FCA3A-3FD0-677F-1EEE-8316C4181A0C}"/>
                </a:ext>
              </a:extLst>
            </p:cNvPr>
            <p:cNvGrpSpPr>
              <a:grpSpLocks/>
            </p:cNvGrpSpPr>
            <p:nvPr/>
          </p:nvGrpSpPr>
          <p:grpSpPr bwMode="auto">
            <a:xfrm>
              <a:off x="3985" y="2462"/>
              <a:ext cx="151" cy="336"/>
              <a:chOff x="576" y="1200"/>
              <a:chExt cx="240" cy="336"/>
            </a:xfrm>
          </p:grpSpPr>
          <p:sp>
            <p:nvSpPr>
              <p:cNvPr id="178" name="Rectangle 350">
                <a:extLst>
                  <a:ext uri="{FF2B5EF4-FFF2-40B4-BE49-F238E27FC236}">
                    <a16:creationId xmlns:a16="http://schemas.microsoft.com/office/drawing/2014/main" id="{DA5C8FAB-1C07-E91E-D028-354175B551DD}"/>
                  </a:ext>
                </a:extLst>
              </p:cNvPr>
              <p:cNvSpPr>
                <a:spLocks noChangeArrowheads="1"/>
              </p:cNvSpPr>
              <p:nvPr/>
            </p:nvSpPr>
            <p:spPr bwMode="auto">
              <a:xfrm>
                <a:off x="576" y="1200"/>
                <a:ext cx="240"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79" name="Line 351">
                <a:extLst>
                  <a:ext uri="{FF2B5EF4-FFF2-40B4-BE49-F238E27FC236}">
                    <a16:creationId xmlns:a16="http://schemas.microsoft.com/office/drawing/2014/main" id="{E701A8FF-01AF-89A6-17FD-3B55F6D85878}"/>
                  </a:ext>
                </a:extLst>
              </p:cNvPr>
              <p:cNvSpPr>
                <a:spLocks noChangeShapeType="1"/>
              </p:cNvSpPr>
              <p:nvPr/>
            </p:nvSpPr>
            <p:spPr bwMode="auto">
              <a:xfrm>
                <a:off x="576" y="139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0" name="Line 352">
                <a:extLst>
                  <a:ext uri="{FF2B5EF4-FFF2-40B4-BE49-F238E27FC236}">
                    <a16:creationId xmlns:a16="http://schemas.microsoft.com/office/drawing/2014/main" id="{7D022E7C-A4E0-0016-DF1B-F19596E358CF}"/>
                  </a:ext>
                </a:extLst>
              </p:cNvPr>
              <p:cNvSpPr>
                <a:spLocks noChangeShapeType="1"/>
              </p:cNvSpPr>
              <p:nvPr/>
            </p:nvSpPr>
            <p:spPr bwMode="auto">
              <a:xfrm>
                <a:off x="576" y="129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77" name="Text Box 353">
              <a:extLst>
                <a:ext uri="{FF2B5EF4-FFF2-40B4-BE49-F238E27FC236}">
                  <a16:creationId xmlns:a16="http://schemas.microsoft.com/office/drawing/2014/main" id="{29AC90D1-0725-C7FF-821B-ED19F4E677F6}"/>
                </a:ext>
              </a:extLst>
            </p:cNvPr>
            <p:cNvSpPr txBox="1">
              <a:spLocks noChangeArrowheads="1"/>
            </p:cNvSpPr>
            <p:nvPr/>
          </p:nvSpPr>
          <p:spPr bwMode="auto">
            <a:xfrm>
              <a:off x="3970" y="2300"/>
              <a:ext cx="168" cy="1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eaLnBrk="1" hangingPunct="1">
                <a:lnSpc>
                  <a:spcPct val="100000"/>
                </a:lnSpc>
                <a:spcBef>
                  <a:spcPct val="0"/>
                </a:spcBef>
                <a:spcAft>
                  <a:spcPct val="0"/>
                </a:spcAft>
                <a:buClrTx/>
                <a:buSzTx/>
                <a:buFontTx/>
                <a:buNone/>
              </a:pPr>
              <a:r>
                <a:rPr lang="en-US" altLang="en-US" sz="600" b="0"/>
                <a:t>IN</a:t>
              </a:r>
            </a:p>
          </p:txBody>
        </p:sp>
      </p:grpSp>
      <p:sp>
        <p:nvSpPr>
          <p:cNvPr id="181" name="Line 354">
            <a:extLst>
              <a:ext uri="{FF2B5EF4-FFF2-40B4-BE49-F238E27FC236}">
                <a16:creationId xmlns:a16="http://schemas.microsoft.com/office/drawing/2014/main" id="{B471D591-FCDC-76AE-AE2A-864450FF8AA6}"/>
              </a:ext>
            </a:extLst>
          </p:cNvPr>
          <p:cNvSpPr>
            <a:spLocks noChangeShapeType="1"/>
          </p:cNvSpPr>
          <p:nvPr/>
        </p:nvSpPr>
        <p:spPr bwMode="auto">
          <a:xfrm flipV="1">
            <a:off x="5574378" y="4321176"/>
            <a:ext cx="346075"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82" name="Line 356">
            <a:extLst>
              <a:ext uri="{FF2B5EF4-FFF2-40B4-BE49-F238E27FC236}">
                <a16:creationId xmlns:a16="http://schemas.microsoft.com/office/drawing/2014/main" id="{7E860910-B063-1AAF-EE03-FB93C359D52D}"/>
              </a:ext>
            </a:extLst>
          </p:cNvPr>
          <p:cNvSpPr>
            <a:spLocks noChangeShapeType="1"/>
          </p:cNvSpPr>
          <p:nvPr/>
        </p:nvSpPr>
        <p:spPr bwMode="auto">
          <a:xfrm flipV="1">
            <a:off x="5634703" y="4321176"/>
            <a:ext cx="217487"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83" name="Line 357">
            <a:extLst>
              <a:ext uri="{FF2B5EF4-FFF2-40B4-BE49-F238E27FC236}">
                <a16:creationId xmlns:a16="http://schemas.microsoft.com/office/drawing/2014/main" id="{C124A7F3-BFD8-2BA2-E6FB-8B951F060C18}"/>
              </a:ext>
            </a:extLst>
          </p:cNvPr>
          <p:cNvSpPr>
            <a:spLocks noChangeShapeType="1"/>
          </p:cNvSpPr>
          <p:nvPr/>
        </p:nvSpPr>
        <p:spPr bwMode="auto">
          <a:xfrm flipV="1">
            <a:off x="5575965" y="4321176"/>
            <a:ext cx="344488"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184" name="Group 397">
            <a:extLst>
              <a:ext uri="{FF2B5EF4-FFF2-40B4-BE49-F238E27FC236}">
                <a16:creationId xmlns:a16="http://schemas.microsoft.com/office/drawing/2014/main" id="{8B76EAF9-8558-FA1A-3708-C891D97205D0}"/>
              </a:ext>
            </a:extLst>
          </p:cNvPr>
          <p:cNvGrpSpPr>
            <a:grpSpLocks/>
          </p:cNvGrpSpPr>
          <p:nvPr/>
        </p:nvGrpSpPr>
        <p:grpSpPr bwMode="auto">
          <a:xfrm>
            <a:off x="5502940" y="4175126"/>
            <a:ext cx="454025" cy="903287"/>
            <a:chOff x="2656" y="2665"/>
            <a:chExt cx="286" cy="569"/>
          </a:xfrm>
        </p:grpSpPr>
        <p:sp>
          <p:nvSpPr>
            <p:cNvPr id="185" name="Text Box 355">
              <a:extLst>
                <a:ext uri="{FF2B5EF4-FFF2-40B4-BE49-F238E27FC236}">
                  <a16:creationId xmlns:a16="http://schemas.microsoft.com/office/drawing/2014/main" id="{9DB4CB57-26C8-DF40-5592-D8E1E61D8D86}"/>
                </a:ext>
              </a:extLst>
            </p:cNvPr>
            <p:cNvSpPr txBox="1">
              <a:spLocks noChangeArrowheads="1"/>
            </p:cNvSpPr>
            <p:nvPr/>
          </p:nvSpPr>
          <p:spPr bwMode="auto">
            <a:xfrm>
              <a:off x="2656" y="2918"/>
              <a:ext cx="28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Aft>
                  <a:spcPct val="0"/>
                </a:spcAft>
                <a:buClrTx/>
                <a:buSzTx/>
                <a:buFontTx/>
                <a:buNone/>
              </a:pPr>
              <a:r>
                <a:rPr lang="en-US" altLang="en-US" sz="500" b="0">
                  <a:solidFill>
                    <a:srgbClr val="FF0000"/>
                  </a:solidFill>
                </a:rPr>
                <a:t>Outlook</a:t>
              </a:r>
            </a:p>
            <a:p>
              <a:pPr algn="ctr">
                <a:lnSpc>
                  <a:spcPct val="100000"/>
                </a:lnSpc>
                <a:spcAft>
                  <a:spcPct val="0"/>
                </a:spcAft>
                <a:buClrTx/>
                <a:buSzTx/>
                <a:buFontTx/>
                <a:buNone/>
              </a:pPr>
              <a:r>
                <a:rPr lang="en-US" altLang="en-US" sz="500" b="0">
                  <a:solidFill>
                    <a:srgbClr val="FF0000"/>
                  </a:solidFill>
                </a:rPr>
                <a:t>FIFO</a:t>
              </a:r>
            </a:p>
            <a:p>
              <a:pPr algn="ctr">
                <a:lnSpc>
                  <a:spcPct val="100000"/>
                </a:lnSpc>
                <a:spcAft>
                  <a:spcPct val="0"/>
                </a:spcAft>
                <a:buClrTx/>
                <a:buSzTx/>
                <a:buFontTx/>
                <a:buNone/>
              </a:pPr>
              <a:r>
                <a:rPr lang="en-US" altLang="en-US" sz="500" b="0">
                  <a:solidFill>
                    <a:srgbClr val="FF0000"/>
                  </a:solidFill>
                </a:rPr>
                <a:t>500   </a:t>
              </a:r>
              <a:r>
                <a:rPr lang="en-US" altLang="en-US" sz="400" b="0">
                  <a:solidFill>
                    <a:srgbClr val="FF0000"/>
                  </a:solidFill>
                </a:rPr>
                <a:t>Application</a:t>
              </a:r>
            </a:p>
          </p:txBody>
        </p:sp>
        <p:sp>
          <p:nvSpPr>
            <p:cNvPr id="186" name="Rectangle 359">
              <a:extLst>
                <a:ext uri="{FF2B5EF4-FFF2-40B4-BE49-F238E27FC236}">
                  <a16:creationId xmlns:a16="http://schemas.microsoft.com/office/drawing/2014/main" id="{7F5F0277-0647-AB9A-3B70-25AFBC0600DE}"/>
                </a:ext>
              </a:extLst>
            </p:cNvPr>
            <p:cNvSpPr>
              <a:spLocks noChangeArrowheads="1"/>
            </p:cNvSpPr>
            <p:nvPr/>
          </p:nvSpPr>
          <p:spPr bwMode="auto">
            <a:xfrm>
              <a:off x="2731" y="2709"/>
              <a:ext cx="151" cy="16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87" name="AutoShape 360">
              <a:extLst>
                <a:ext uri="{FF2B5EF4-FFF2-40B4-BE49-F238E27FC236}">
                  <a16:creationId xmlns:a16="http://schemas.microsoft.com/office/drawing/2014/main" id="{0ADB0C4B-DF68-AC33-FC7C-A924D7A8F3FB}"/>
                </a:ext>
              </a:extLst>
            </p:cNvPr>
            <p:cNvSpPr>
              <a:spLocks/>
            </p:cNvSpPr>
            <p:nvPr/>
          </p:nvSpPr>
          <p:spPr bwMode="auto">
            <a:xfrm rot="-5400000">
              <a:off x="2798" y="2598"/>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88" name="AutoShape 361">
              <a:extLst>
                <a:ext uri="{FF2B5EF4-FFF2-40B4-BE49-F238E27FC236}">
                  <a16:creationId xmlns:a16="http://schemas.microsoft.com/office/drawing/2014/main" id="{0E1AC1D0-411F-63B7-CBB5-783586D9DC22}"/>
                </a:ext>
              </a:extLst>
            </p:cNvPr>
            <p:cNvSpPr>
              <a:spLocks/>
            </p:cNvSpPr>
            <p:nvPr/>
          </p:nvSpPr>
          <p:spPr bwMode="auto">
            <a:xfrm rot="-5400000">
              <a:off x="2798" y="2607"/>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89" name="AutoShape 362">
              <a:extLst>
                <a:ext uri="{FF2B5EF4-FFF2-40B4-BE49-F238E27FC236}">
                  <a16:creationId xmlns:a16="http://schemas.microsoft.com/office/drawing/2014/main" id="{65319A9B-4CDD-F644-0ABD-F78EA304CDA5}"/>
                </a:ext>
              </a:extLst>
            </p:cNvPr>
            <p:cNvSpPr>
              <a:spLocks/>
            </p:cNvSpPr>
            <p:nvPr/>
          </p:nvSpPr>
          <p:spPr bwMode="auto">
            <a:xfrm rot="-5400000">
              <a:off x="2798" y="2616"/>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190" name="Group 363">
              <a:extLst>
                <a:ext uri="{FF2B5EF4-FFF2-40B4-BE49-F238E27FC236}">
                  <a16:creationId xmlns:a16="http://schemas.microsoft.com/office/drawing/2014/main" id="{E22B7F43-605E-4DC0-D0B1-110484856007}"/>
                </a:ext>
              </a:extLst>
            </p:cNvPr>
            <p:cNvGrpSpPr>
              <a:grpSpLocks/>
            </p:cNvGrpSpPr>
            <p:nvPr/>
          </p:nvGrpSpPr>
          <p:grpSpPr bwMode="auto">
            <a:xfrm>
              <a:off x="2725" y="2898"/>
              <a:ext cx="151" cy="336"/>
              <a:chOff x="576" y="1200"/>
              <a:chExt cx="240" cy="336"/>
            </a:xfrm>
          </p:grpSpPr>
          <p:sp>
            <p:nvSpPr>
              <p:cNvPr id="192" name="Rectangle 364">
                <a:extLst>
                  <a:ext uri="{FF2B5EF4-FFF2-40B4-BE49-F238E27FC236}">
                    <a16:creationId xmlns:a16="http://schemas.microsoft.com/office/drawing/2014/main" id="{503E9BF7-F78F-731D-C2FD-0A5D8E2918CF}"/>
                  </a:ext>
                </a:extLst>
              </p:cNvPr>
              <p:cNvSpPr>
                <a:spLocks noChangeArrowheads="1"/>
              </p:cNvSpPr>
              <p:nvPr/>
            </p:nvSpPr>
            <p:spPr bwMode="auto">
              <a:xfrm>
                <a:off x="576" y="1200"/>
                <a:ext cx="240"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93" name="Line 365">
                <a:extLst>
                  <a:ext uri="{FF2B5EF4-FFF2-40B4-BE49-F238E27FC236}">
                    <a16:creationId xmlns:a16="http://schemas.microsoft.com/office/drawing/2014/main" id="{27CA2482-AAC7-8955-7F67-CA8519A3D6AF}"/>
                  </a:ext>
                </a:extLst>
              </p:cNvPr>
              <p:cNvSpPr>
                <a:spLocks noChangeShapeType="1"/>
              </p:cNvSpPr>
              <p:nvPr/>
            </p:nvSpPr>
            <p:spPr bwMode="auto">
              <a:xfrm>
                <a:off x="576" y="139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 name="Line 366">
                <a:extLst>
                  <a:ext uri="{FF2B5EF4-FFF2-40B4-BE49-F238E27FC236}">
                    <a16:creationId xmlns:a16="http://schemas.microsoft.com/office/drawing/2014/main" id="{47158DC8-6786-F748-265E-EB0D6C496ADC}"/>
                  </a:ext>
                </a:extLst>
              </p:cNvPr>
              <p:cNvSpPr>
                <a:spLocks noChangeShapeType="1"/>
              </p:cNvSpPr>
              <p:nvPr/>
            </p:nvSpPr>
            <p:spPr bwMode="auto">
              <a:xfrm>
                <a:off x="576" y="129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91" name="Text Box 367">
              <a:extLst>
                <a:ext uri="{FF2B5EF4-FFF2-40B4-BE49-F238E27FC236}">
                  <a16:creationId xmlns:a16="http://schemas.microsoft.com/office/drawing/2014/main" id="{647A779F-A9D7-9C5B-3C5A-5F543D682183}"/>
                </a:ext>
              </a:extLst>
            </p:cNvPr>
            <p:cNvSpPr txBox="1">
              <a:spLocks noChangeArrowheads="1"/>
            </p:cNvSpPr>
            <p:nvPr/>
          </p:nvSpPr>
          <p:spPr bwMode="auto">
            <a:xfrm>
              <a:off x="2710" y="2736"/>
              <a:ext cx="168" cy="1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eaLnBrk="1" hangingPunct="1">
                <a:lnSpc>
                  <a:spcPct val="100000"/>
                </a:lnSpc>
                <a:spcBef>
                  <a:spcPct val="0"/>
                </a:spcBef>
                <a:spcAft>
                  <a:spcPct val="0"/>
                </a:spcAft>
                <a:buClrTx/>
                <a:buSzTx/>
                <a:buFontTx/>
                <a:buNone/>
              </a:pPr>
              <a:r>
                <a:rPr lang="en-US" altLang="en-US" sz="600" b="0"/>
                <a:t>IN</a:t>
              </a:r>
            </a:p>
          </p:txBody>
        </p:sp>
      </p:grpSp>
      <p:grpSp>
        <p:nvGrpSpPr>
          <p:cNvPr id="195" name="Group 395">
            <a:extLst>
              <a:ext uri="{FF2B5EF4-FFF2-40B4-BE49-F238E27FC236}">
                <a16:creationId xmlns:a16="http://schemas.microsoft.com/office/drawing/2014/main" id="{FF873AB5-F507-9DCD-38F2-2D5CC76EE959}"/>
              </a:ext>
            </a:extLst>
          </p:cNvPr>
          <p:cNvGrpSpPr>
            <a:grpSpLocks/>
          </p:cNvGrpSpPr>
          <p:nvPr/>
        </p:nvGrpSpPr>
        <p:grpSpPr bwMode="auto">
          <a:xfrm>
            <a:off x="8955753" y="4298951"/>
            <a:ext cx="454025" cy="903287"/>
            <a:chOff x="4528" y="2665"/>
            <a:chExt cx="286" cy="569"/>
          </a:xfrm>
        </p:grpSpPr>
        <p:sp>
          <p:nvSpPr>
            <p:cNvPr id="196" name="Text Box 369">
              <a:extLst>
                <a:ext uri="{FF2B5EF4-FFF2-40B4-BE49-F238E27FC236}">
                  <a16:creationId xmlns:a16="http://schemas.microsoft.com/office/drawing/2014/main" id="{F228D68E-9373-E85D-C2CA-1674C4426CD1}"/>
                </a:ext>
              </a:extLst>
            </p:cNvPr>
            <p:cNvSpPr txBox="1">
              <a:spLocks noChangeArrowheads="1"/>
            </p:cNvSpPr>
            <p:nvPr/>
          </p:nvSpPr>
          <p:spPr bwMode="auto">
            <a:xfrm>
              <a:off x="4528" y="2918"/>
              <a:ext cx="28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Aft>
                  <a:spcPct val="0"/>
                </a:spcAft>
                <a:buClrTx/>
                <a:buSzTx/>
                <a:buFontTx/>
                <a:buNone/>
              </a:pPr>
              <a:r>
                <a:rPr lang="en-US" altLang="en-US" sz="500" b="0">
                  <a:solidFill>
                    <a:srgbClr val="FF0000"/>
                  </a:solidFill>
                </a:rPr>
                <a:t>Mail Bag</a:t>
              </a:r>
            </a:p>
            <a:p>
              <a:pPr algn="ctr">
                <a:lnSpc>
                  <a:spcPct val="100000"/>
                </a:lnSpc>
                <a:spcAft>
                  <a:spcPct val="0"/>
                </a:spcAft>
                <a:buClrTx/>
                <a:buSzTx/>
                <a:buFontTx/>
                <a:buNone/>
              </a:pPr>
              <a:r>
                <a:rPr lang="en-US" altLang="en-US" sz="500" b="0">
                  <a:solidFill>
                    <a:srgbClr val="FF0000"/>
                  </a:solidFill>
                </a:rPr>
                <a:t>FIFO</a:t>
              </a:r>
            </a:p>
            <a:p>
              <a:pPr algn="ctr">
                <a:lnSpc>
                  <a:spcPct val="100000"/>
                </a:lnSpc>
                <a:spcAft>
                  <a:spcPct val="0"/>
                </a:spcAft>
                <a:buClrTx/>
                <a:buSzTx/>
                <a:buFontTx/>
                <a:buNone/>
              </a:pPr>
              <a:r>
                <a:rPr lang="en-US" altLang="en-US" sz="500" b="0">
                  <a:solidFill>
                    <a:srgbClr val="FF0000"/>
                  </a:solidFill>
                </a:rPr>
                <a:t>600   </a:t>
              </a:r>
              <a:r>
                <a:rPr lang="en-US" altLang="en-US" sz="400" b="0">
                  <a:solidFill>
                    <a:srgbClr val="FF0000"/>
                  </a:solidFill>
                </a:rPr>
                <a:t>Application</a:t>
              </a:r>
            </a:p>
          </p:txBody>
        </p:sp>
        <p:sp>
          <p:nvSpPr>
            <p:cNvPr id="197" name="Line 370">
              <a:extLst>
                <a:ext uri="{FF2B5EF4-FFF2-40B4-BE49-F238E27FC236}">
                  <a16:creationId xmlns:a16="http://schemas.microsoft.com/office/drawing/2014/main" id="{B7F7D508-0F1D-880E-AF2C-D1E2086F7821}"/>
                </a:ext>
              </a:extLst>
            </p:cNvPr>
            <p:cNvSpPr>
              <a:spLocks noChangeShapeType="1"/>
            </p:cNvSpPr>
            <p:nvPr/>
          </p:nvSpPr>
          <p:spPr bwMode="auto">
            <a:xfrm flipV="1">
              <a:off x="4611" y="2757"/>
              <a:ext cx="137" cy="2"/>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8" name="Rectangle 373">
              <a:extLst>
                <a:ext uri="{FF2B5EF4-FFF2-40B4-BE49-F238E27FC236}">
                  <a16:creationId xmlns:a16="http://schemas.microsoft.com/office/drawing/2014/main" id="{BFD42BFE-3E4C-701A-CB72-79AEF9E9595E}"/>
                </a:ext>
              </a:extLst>
            </p:cNvPr>
            <p:cNvSpPr>
              <a:spLocks noChangeArrowheads="1"/>
            </p:cNvSpPr>
            <p:nvPr/>
          </p:nvSpPr>
          <p:spPr bwMode="auto">
            <a:xfrm>
              <a:off x="4603" y="2709"/>
              <a:ext cx="151" cy="16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99" name="AutoShape 374">
              <a:extLst>
                <a:ext uri="{FF2B5EF4-FFF2-40B4-BE49-F238E27FC236}">
                  <a16:creationId xmlns:a16="http://schemas.microsoft.com/office/drawing/2014/main" id="{12FDC87D-425D-3566-6194-1EB3DEA5CDA6}"/>
                </a:ext>
              </a:extLst>
            </p:cNvPr>
            <p:cNvSpPr>
              <a:spLocks/>
            </p:cNvSpPr>
            <p:nvPr/>
          </p:nvSpPr>
          <p:spPr bwMode="auto">
            <a:xfrm rot="-5400000">
              <a:off x="4670" y="2598"/>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00" name="AutoShape 375">
              <a:extLst>
                <a:ext uri="{FF2B5EF4-FFF2-40B4-BE49-F238E27FC236}">
                  <a16:creationId xmlns:a16="http://schemas.microsoft.com/office/drawing/2014/main" id="{0037C5EA-5BB9-233E-DB96-37A4CB1592B9}"/>
                </a:ext>
              </a:extLst>
            </p:cNvPr>
            <p:cNvSpPr>
              <a:spLocks/>
            </p:cNvSpPr>
            <p:nvPr/>
          </p:nvSpPr>
          <p:spPr bwMode="auto">
            <a:xfrm rot="-5400000">
              <a:off x="4670" y="2607"/>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01" name="AutoShape 376">
              <a:extLst>
                <a:ext uri="{FF2B5EF4-FFF2-40B4-BE49-F238E27FC236}">
                  <a16:creationId xmlns:a16="http://schemas.microsoft.com/office/drawing/2014/main" id="{AFE687D9-3807-C829-AFC8-0C48C5F05FC7}"/>
                </a:ext>
              </a:extLst>
            </p:cNvPr>
            <p:cNvSpPr>
              <a:spLocks/>
            </p:cNvSpPr>
            <p:nvPr/>
          </p:nvSpPr>
          <p:spPr bwMode="auto">
            <a:xfrm rot="-5400000">
              <a:off x="4670" y="2616"/>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202" name="Group 377">
              <a:extLst>
                <a:ext uri="{FF2B5EF4-FFF2-40B4-BE49-F238E27FC236}">
                  <a16:creationId xmlns:a16="http://schemas.microsoft.com/office/drawing/2014/main" id="{3B0592A6-8D16-FF47-04AB-572A67100E81}"/>
                </a:ext>
              </a:extLst>
            </p:cNvPr>
            <p:cNvGrpSpPr>
              <a:grpSpLocks/>
            </p:cNvGrpSpPr>
            <p:nvPr/>
          </p:nvGrpSpPr>
          <p:grpSpPr bwMode="auto">
            <a:xfrm>
              <a:off x="4597" y="2898"/>
              <a:ext cx="151" cy="336"/>
              <a:chOff x="576" y="1200"/>
              <a:chExt cx="240" cy="336"/>
            </a:xfrm>
          </p:grpSpPr>
          <p:sp>
            <p:nvSpPr>
              <p:cNvPr id="204" name="Rectangle 378">
                <a:extLst>
                  <a:ext uri="{FF2B5EF4-FFF2-40B4-BE49-F238E27FC236}">
                    <a16:creationId xmlns:a16="http://schemas.microsoft.com/office/drawing/2014/main" id="{D84B1F8E-A03A-DD71-25EE-E7E059C9188E}"/>
                  </a:ext>
                </a:extLst>
              </p:cNvPr>
              <p:cNvSpPr>
                <a:spLocks noChangeArrowheads="1"/>
              </p:cNvSpPr>
              <p:nvPr/>
            </p:nvSpPr>
            <p:spPr bwMode="auto">
              <a:xfrm>
                <a:off x="576" y="1200"/>
                <a:ext cx="240"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05" name="Line 379">
                <a:extLst>
                  <a:ext uri="{FF2B5EF4-FFF2-40B4-BE49-F238E27FC236}">
                    <a16:creationId xmlns:a16="http://schemas.microsoft.com/office/drawing/2014/main" id="{737F80FE-9866-B9CF-0B3A-7004513E2F47}"/>
                  </a:ext>
                </a:extLst>
              </p:cNvPr>
              <p:cNvSpPr>
                <a:spLocks noChangeShapeType="1"/>
              </p:cNvSpPr>
              <p:nvPr/>
            </p:nvSpPr>
            <p:spPr bwMode="auto">
              <a:xfrm>
                <a:off x="576" y="139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6" name="Line 380">
                <a:extLst>
                  <a:ext uri="{FF2B5EF4-FFF2-40B4-BE49-F238E27FC236}">
                    <a16:creationId xmlns:a16="http://schemas.microsoft.com/office/drawing/2014/main" id="{63ED3226-16E7-235E-1A95-66638AD17657}"/>
                  </a:ext>
                </a:extLst>
              </p:cNvPr>
              <p:cNvSpPr>
                <a:spLocks noChangeShapeType="1"/>
              </p:cNvSpPr>
              <p:nvPr/>
            </p:nvSpPr>
            <p:spPr bwMode="auto">
              <a:xfrm>
                <a:off x="576" y="129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03" name="Text Box 381">
              <a:extLst>
                <a:ext uri="{FF2B5EF4-FFF2-40B4-BE49-F238E27FC236}">
                  <a16:creationId xmlns:a16="http://schemas.microsoft.com/office/drawing/2014/main" id="{B225DAFE-FCDD-7234-BDE7-5B86E8B05025}"/>
                </a:ext>
              </a:extLst>
            </p:cNvPr>
            <p:cNvSpPr txBox="1">
              <a:spLocks noChangeArrowheads="1"/>
            </p:cNvSpPr>
            <p:nvPr/>
          </p:nvSpPr>
          <p:spPr bwMode="auto">
            <a:xfrm>
              <a:off x="4582" y="2736"/>
              <a:ext cx="168" cy="1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eaLnBrk="1" hangingPunct="1">
                <a:lnSpc>
                  <a:spcPct val="100000"/>
                </a:lnSpc>
                <a:spcBef>
                  <a:spcPct val="0"/>
                </a:spcBef>
                <a:spcAft>
                  <a:spcPct val="0"/>
                </a:spcAft>
                <a:buClrTx/>
                <a:buSzTx/>
                <a:buFontTx/>
                <a:buNone/>
              </a:pPr>
              <a:r>
                <a:rPr lang="en-US" altLang="en-US" sz="600" b="0"/>
                <a:t>IN</a:t>
              </a:r>
            </a:p>
          </p:txBody>
        </p:sp>
      </p:grpSp>
      <p:sp>
        <p:nvSpPr>
          <p:cNvPr id="207" name="Line 382">
            <a:extLst>
              <a:ext uri="{FF2B5EF4-FFF2-40B4-BE49-F238E27FC236}">
                <a16:creationId xmlns:a16="http://schemas.microsoft.com/office/drawing/2014/main" id="{088217D0-E97B-7213-A975-256ABEEC8E88}"/>
              </a:ext>
            </a:extLst>
          </p:cNvPr>
          <p:cNvSpPr>
            <a:spLocks noChangeShapeType="1"/>
          </p:cNvSpPr>
          <p:nvPr/>
        </p:nvSpPr>
        <p:spPr bwMode="auto">
          <a:xfrm flipV="1">
            <a:off x="4566315" y="4321176"/>
            <a:ext cx="344488"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8" name="Line 384">
            <a:extLst>
              <a:ext uri="{FF2B5EF4-FFF2-40B4-BE49-F238E27FC236}">
                <a16:creationId xmlns:a16="http://schemas.microsoft.com/office/drawing/2014/main" id="{2EF24B58-6EF0-F0B8-3D41-2825494BCAE0}"/>
              </a:ext>
            </a:extLst>
          </p:cNvPr>
          <p:cNvSpPr>
            <a:spLocks noChangeShapeType="1"/>
          </p:cNvSpPr>
          <p:nvPr/>
        </p:nvSpPr>
        <p:spPr bwMode="auto">
          <a:xfrm flipV="1">
            <a:off x="4625053" y="4321176"/>
            <a:ext cx="217487"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9" name="Line 385">
            <a:extLst>
              <a:ext uri="{FF2B5EF4-FFF2-40B4-BE49-F238E27FC236}">
                <a16:creationId xmlns:a16="http://schemas.microsoft.com/office/drawing/2014/main" id="{E2973CF7-DFFF-5697-282F-0599C743580F}"/>
              </a:ext>
            </a:extLst>
          </p:cNvPr>
          <p:cNvSpPr>
            <a:spLocks noChangeShapeType="1"/>
          </p:cNvSpPr>
          <p:nvPr/>
        </p:nvSpPr>
        <p:spPr bwMode="auto">
          <a:xfrm flipV="1">
            <a:off x="4566315" y="4321176"/>
            <a:ext cx="344488"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210" name="Group 398">
            <a:extLst>
              <a:ext uri="{FF2B5EF4-FFF2-40B4-BE49-F238E27FC236}">
                <a16:creationId xmlns:a16="http://schemas.microsoft.com/office/drawing/2014/main" id="{67DCAE6B-578E-D3C0-B2DC-F81BA5910519}"/>
              </a:ext>
            </a:extLst>
          </p:cNvPr>
          <p:cNvGrpSpPr>
            <a:grpSpLocks/>
          </p:cNvGrpSpPr>
          <p:nvPr/>
        </p:nvGrpSpPr>
        <p:grpSpPr bwMode="auto">
          <a:xfrm>
            <a:off x="4493290" y="4175126"/>
            <a:ext cx="454025" cy="903287"/>
            <a:chOff x="2020" y="2665"/>
            <a:chExt cx="286" cy="569"/>
          </a:xfrm>
        </p:grpSpPr>
        <p:sp>
          <p:nvSpPr>
            <p:cNvPr id="211" name="Text Box 383">
              <a:extLst>
                <a:ext uri="{FF2B5EF4-FFF2-40B4-BE49-F238E27FC236}">
                  <a16:creationId xmlns:a16="http://schemas.microsoft.com/office/drawing/2014/main" id="{43A38350-E598-6D0D-392D-A9BF4A7E7445}"/>
                </a:ext>
              </a:extLst>
            </p:cNvPr>
            <p:cNvSpPr txBox="1">
              <a:spLocks noChangeArrowheads="1"/>
            </p:cNvSpPr>
            <p:nvPr/>
          </p:nvSpPr>
          <p:spPr bwMode="auto">
            <a:xfrm>
              <a:off x="2020" y="2918"/>
              <a:ext cx="28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Aft>
                  <a:spcPct val="0"/>
                </a:spcAft>
                <a:buClrTx/>
                <a:buSzTx/>
                <a:buFontTx/>
                <a:buNone/>
              </a:pPr>
              <a:r>
                <a:rPr lang="en-US" altLang="en-US" sz="500" b="0">
                  <a:solidFill>
                    <a:srgbClr val="FF0000"/>
                  </a:solidFill>
                </a:rPr>
                <a:t>Outlook</a:t>
              </a:r>
            </a:p>
            <a:p>
              <a:pPr algn="ctr">
                <a:lnSpc>
                  <a:spcPct val="100000"/>
                </a:lnSpc>
                <a:spcAft>
                  <a:spcPct val="0"/>
                </a:spcAft>
                <a:buClrTx/>
                <a:buSzTx/>
                <a:buFontTx/>
                <a:buNone/>
              </a:pPr>
              <a:r>
                <a:rPr lang="en-US" altLang="en-US" sz="500" b="0">
                  <a:solidFill>
                    <a:srgbClr val="FF0000"/>
                  </a:solidFill>
                </a:rPr>
                <a:t>FIFO</a:t>
              </a:r>
            </a:p>
            <a:p>
              <a:pPr algn="ctr">
                <a:lnSpc>
                  <a:spcPct val="100000"/>
                </a:lnSpc>
                <a:spcAft>
                  <a:spcPct val="0"/>
                </a:spcAft>
                <a:buClrTx/>
                <a:buSzTx/>
                <a:buFontTx/>
                <a:buNone/>
              </a:pPr>
              <a:r>
                <a:rPr lang="en-US" altLang="en-US" sz="500" b="0">
                  <a:solidFill>
                    <a:srgbClr val="FF0000"/>
                  </a:solidFill>
                </a:rPr>
                <a:t>1000  </a:t>
              </a:r>
              <a:r>
                <a:rPr lang="en-US" altLang="en-US" sz="400" b="0">
                  <a:solidFill>
                    <a:srgbClr val="FF0000"/>
                  </a:solidFill>
                </a:rPr>
                <a:t>Application</a:t>
              </a:r>
            </a:p>
          </p:txBody>
        </p:sp>
        <p:sp>
          <p:nvSpPr>
            <p:cNvPr id="212" name="Rectangle 386">
              <a:extLst>
                <a:ext uri="{FF2B5EF4-FFF2-40B4-BE49-F238E27FC236}">
                  <a16:creationId xmlns:a16="http://schemas.microsoft.com/office/drawing/2014/main" id="{59F46AE6-0A6E-43BF-30AC-09E939604099}"/>
                </a:ext>
              </a:extLst>
            </p:cNvPr>
            <p:cNvSpPr>
              <a:spLocks noChangeArrowheads="1"/>
            </p:cNvSpPr>
            <p:nvPr/>
          </p:nvSpPr>
          <p:spPr bwMode="auto">
            <a:xfrm>
              <a:off x="2095" y="2709"/>
              <a:ext cx="151" cy="16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13" name="AutoShape 387">
              <a:extLst>
                <a:ext uri="{FF2B5EF4-FFF2-40B4-BE49-F238E27FC236}">
                  <a16:creationId xmlns:a16="http://schemas.microsoft.com/office/drawing/2014/main" id="{DE37AD19-438F-E1F0-7680-5A6483052C65}"/>
                </a:ext>
              </a:extLst>
            </p:cNvPr>
            <p:cNvSpPr>
              <a:spLocks/>
            </p:cNvSpPr>
            <p:nvPr/>
          </p:nvSpPr>
          <p:spPr bwMode="auto">
            <a:xfrm rot="-5400000">
              <a:off x="2162" y="2598"/>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14" name="AutoShape 388">
              <a:extLst>
                <a:ext uri="{FF2B5EF4-FFF2-40B4-BE49-F238E27FC236}">
                  <a16:creationId xmlns:a16="http://schemas.microsoft.com/office/drawing/2014/main" id="{3F640E5B-0374-9034-3249-4154F3D99DD8}"/>
                </a:ext>
              </a:extLst>
            </p:cNvPr>
            <p:cNvSpPr>
              <a:spLocks/>
            </p:cNvSpPr>
            <p:nvPr/>
          </p:nvSpPr>
          <p:spPr bwMode="auto">
            <a:xfrm rot="-5400000">
              <a:off x="2162" y="2607"/>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15" name="AutoShape 389">
              <a:extLst>
                <a:ext uri="{FF2B5EF4-FFF2-40B4-BE49-F238E27FC236}">
                  <a16:creationId xmlns:a16="http://schemas.microsoft.com/office/drawing/2014/main" id="{8159F7B4-4F5F-16E1-CFAA-5A67A591E721}"/>
                </a:ext>
              </a:extLst>
            </p:cNvPr>
            <p:cNvSpPr>
              <a:spLocks/>
            </p:cNvSpPr>
            <p:nvPr/>
          </p:nvSpPr>
          <p:spPr bwMode="auto">
            <a:xfrm rot="-5400000">
              <a:off x="2162" y="2616"/>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216" name="Group 390">
              <a:extLst>
                <a:ext uri="{FF2B5EF4-FFF2-40B4-BE49-F238E27FC236}">
                  <a16:creationId xmlns:a16="http://schemas.microsoft.com/office/drawing/2014/main" id="{7D40B690-F076-18E9-4AB7-1AA2F940F941}"/>
                </a:ext>
              </a:extLst>
            </p:cNvPr>
            <p:cNvGrpSpPr>
              <a:grpSpLocks/>
            </p:cNvGrpSpPr>
            <p:nvPr/>
          </p:nvGrpSpPr>
          <p:grpSpPr bwMode="auto">
            <a:xfrm>
              <a:off x="2089" y="2898"/>
              <a:ext cx="151" cy="336"/>
              <a:chOff x="576" y="1200"/>
              <a:chExt cx="240" cy="336"/>
            </a:xfrm>
          </p:grpSpPr>
          <p:sp>
            <p:nvSpPr>
              <p:cNvPr id="218" name="Rectangle 391">
                <a:extLst>
                  <a:ext uri="{FF2B5EF4-FFF2-40B4-BE49-F238E27FC236}">
                    <a16:creationId xmlns:a16="http://schemas.microsoft.com/office/drawing/2014/main" id="{53E762A7-EDD6-1C56-78D4-9009B6671965}"/>
                  </a:ext>
                </a:extLst>
              </p:cNvPr>
              <p:cNvSpPr>
                <a:spLocks noChangeArrowheads="1"/>
              </p:cNvSpPr>
              <p:nvPr/>
            </p:nvSpPr>
            <p:spPr bwMode="auto">
              <a:xfrm>
                <a:off x="576" y="1200"/>
                <a:ext cx="240"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19" name="Line 392">
                <a:extLst>
                  <a:ext uri="{FF2B5EF4-FFF2-40B4-BE49-F238E27FC236}">
                    <a16:creationId xmlns:a16="http://schemas.microsoft.com/office/drawing/2014/main" id="{309FEE8E-02D2-FDAD-C289-DB8D43F7614D}"/>
                  </a:ext>
                </a:extLst>
              </p:cNvPr>
              <p:cNvSpPr>
                <a:spLocks noChangeShapeType="1"/>
              </p:cNvSpPr>
              <p:nvPr/>
            </p:nvSpPr>
            <p:spPr bwMode="auto">
              <a:xfrm>
                <a:off x="576" y="139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0" name="Line 393">
                <a:extLst>
                  <a:ext uri="{FF2B5EF4-FFF2-40B4-BE49-F238E27FC236}">
                    <a16:creationId xmlns:a16="http://schemas.microsoft.com/office/drawing/2014/main" id="{29CFDD39-570E-C896-305C-450CC05E422A}"/>
                  </a:ext>
                </a:extLst>
              </p:cNvPr>
              <p:cNvSpPr>
                <a:spLocks noChangeShapeType="1"/>
              </p:cNvSpPr>
              <p:nvPr/>
            </p:nvSpPr>
            <p:spPr bwMode="auto">
              <a:xfrm>
                <a:off x="576" y="129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17" name="Text Box 394">
              <a:extLst>
                <a:ext uri="{FF2B5EF4-FFF2-40B4-BE49-F238E27FC236}">
                  <a16:creationId xmlns:a16="http://schemas.microsoft.com/office/drawing/2014/main" id="{B520710D-3CB9-67DA-A0D7-40504EE51A20}"/>
                </a:ext>
              </a:extLst>
            </p:cNvPr>
            <p:cNvSpPr txBox="1">
              <a:spLocks noChangeArrowheads="1"/>
            </p:cNvSpPr>
            <p:nvPr/>
          </p:nvSpPr>
          <p:spPr bwMode="auto">
            <a:xfrm>
              <a:off x="2074" y="2736"/>
              <a:ext cx="168" cy="1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eaLnBrk="1" hangingPunct="1">
                <a:lnSpc>
                  <a:spcPct val="100000"/>
                </a:lnSpc>
                <a:spcBef>
                  <a:spcPct val="0"/>
                </a:spcBef>
                <a:spcAft>
                  <a:spcPct val="0"/>
                </a:spcAft>
                <a:buClrTx/>
                <a:buSzTx/>
                <a:buFontTx/>
                <a:buNone/>
              </a:pPr>
              <a:r>
                <a:rPr lang="en-US" altLang="en-US" sz="600" b="0"/>
                <a:t>IN</a:t>
              </a:r>
            </a:p>
          </p:txBody>
        </p:sp>
      </p:grpSp>
      <p:sp>
        <p:nvSpPr>
          <p:cNvPr id="221" name="Line 399">
            <a:extLst>
              <a:ext uri="{FF2B5EF4-FFF2-40B4-BE49-F238E27FC236}">
                <a16:creationId xmlns:a16="http://schemas.microsoft.com/office/drawing/2014/main" id="{BEFE0FD6-B31E-B6D1-DAF3-8FDF2BDAE7D2}"/>
              </a:ext>
            </a:extLst>
          </p:cNvPr>
          <p:cNvSpPr>
            <a:spLocks noChangeShapeType="1"/>
          </p:cNvSpPr>
          <p:nvPr/>
        </p:nvSpPr>
        <p:spPr bwMode="auto">
          <a:xfrm flipV="1">
            <a:off x="3582065" y="4321176"/>
            <a:ext cx="344488"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2" name="Line 401">
            <a:extLst>
              <a:ext uri="{FF2B5EF4-FFF2-40B4-BE49-F238E27FC236}">
                <a16:creationId xmlns:a16="http://schemas.microsoft.com/office/drawing/2014/main" id="{6E80CF55-C817-58D6-1ABA-EFAA929D5908}"/>
              </a:ext>
            </a:extLst>
          </p:cNvPr>
          <p:cNvSpPr>
            <a:spLocks noChangeShapeType="1"/>
          </p:cNvSpPr>
          <p:nvPr/>
        </p:nvSpPr>
        <p:spPr bwMode="auto">
          <a:xfrm flipV="1">
            <a:off x="3640803" y="4321176"/>
            <a:ext cx="217487"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3" name="Line 402">
            <a:extLst>
              <a:ext uri="{FF2B5EF4-FFF2-40B4-BE49-F238E27FC236}">
                <a16:creationId xmlns:a16="http://schemas.microsoft.com/office/drawing/2014/main" id="{579A3E53-5218-4D9F-9095-40E86BCA3ABA}"/>
              </a:ext>
            </a:extLst>
          </p:cNvPr>
          <p:cNvSpPr>
            <a:spLocks noChangeShapeType="1"/>
          </p:cNvSpPr>
          <p:nvPr/>
        </p:nvSpPr>
        <p:spPr bwMode="auto">
          <a:xfrm flipV="1">
            <a:off x="3582065" y="4321176"/>
            <a:ext cx="344488"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224" name="Group 412">
            <a:extLst>
              <a:ext uri="{FF2B5EF4-FFF2-40B4-BE49-F238E27FC236}">
                <a16:creationId xmlns:a16="http://schemas.microsoft.com/office/drawing/2014/main" id="{476524F4-5C02-7700-20BE-8B970DEB5347}"/>
              </a:ext>
            </a:extLst>
          </p:cNvPr>
          <p:cNvGrpSpPr>
            <a:grpSpLocks/>
          </p:cNvGrpSpPr>
          <p:nvPr/>
        </p:nvGrpSpPr>
        <p:grpSpPr bwMode="auto">
          <a:xfrm>
            <a:off x="3509040" y="4175126"/>
            <a:ext cx="454025" cy="903287"/>
            <a:chOff x="1400" y="2665"/>
            <a:chExt cx="286" cy="569"/>
          </a:xfrm>
        </p:grpSpPr>
        <p:sp>
          <p:nvSpPr>
            <p:cNvPr id="225" name="Text Box 400">
              <a:extLst>
                <a:ext uri="{FF2B5EF4-FFF2-40B4-BE49-F238E27FC236}">
                  <a16:creationId xmlns:a16="http://schemas.microsoft.com/office/drawing/2014/main" id="{2C5C3366-B90C-3F0C-50AA-5772C44E83B4}"/>
                </a:ext>
              </a:extLst>
            </p:cNvPr>
            <p:cNvSpPr txBox="1">
              <a:spLocks noChangeArrowheads="1"/>
            </p:cNvSpPr>
            <p:nvPr/>
          </p:nvSpPr>
          <p:spPr bwMode="auto">
            <a:xfrm>
              <a:off x="1400" y="2918"/>
              <a:ext cx="28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Aft>
                  <a:spcPct val="0"/>
                </a:spcAft>
                <a:buClrTx/>
                <a:buSzTx/>
                <a:buFontTx/>
                <a:buNone/>
              </a:pPr>
              <a:r>
                <a:rPr lang="en-US" altLang="en-US" sz="500" b="0">
                  <a:solidFill>
                    <a:srgbClr val="FF0000"/>
                  </a:solidFill>
                </a:rPr>
                <a:t>In Box</a:t>
              </a:r>
            </a:p>
            <a:p>
              <a:pPr algn="ctr">
                <a:lnSpc>
                  <a:spcPct val="100000"/>
                </a:lnSpc>
                <a:spcAft>
                  <a:spcPct val="0"/>
                </a:spcAft>
                <a:buClrTx/>
                <a:buSzTx/>
                <a:buFontTx/>
                <a:buNone/>
              </a:pPr>
              <a:r>
                <a:rPr lang="en-US" altLang="en-US" sz="500" b="0">
                  <a:solidFill>
                    <a:srgbClr val="FF0000"/>
                  </a:solidFill>
                </a:rPr>
                <a:t>FIFO</a:t>
              </a:r>
            </a:p>
            <a:p>
              <a:pPr algn="ctr">
                <a:lnSpc>
                  <a:spcPct val="100000"/>
                </a:lnSpc>
                <a:spcAft>
                  <a:spcPct val="0"/>
                </a:spcAft>
                <a:buClrTx/>
                <a:buSzTx/>
                <a:buFontTx/>
                <a:buNone/>
              </a:pPr>
              <a:r>
                <a:rPr lang="en-US" altLang="en-US" sz="500" b="0">
                  <a:solidFill>
                    <a:srgbClr val="FF0000"/>
                  </a:solidFill>
                </a:rPr>
                <a:t>500   </a:t>
              </a:r>
              <a:r>
                <a:rPr lang="en-US" altLang="en-US" sz="400" b="0">
                  <a:solidFill>
                    <a:srgbClr val="FF0000"/>
                  </a:solidFill>
                </a:rPr>
                <a:t>Application</a:t>
              </a:r>
            </a:p>
          </p:txBody>
        </p:sp>
        <p:sp>
          <p:nvSpPr>
            <p:cNvPr id="226" name="Rectangle 403">
              <a:extLst>
                <a:ext uri="{FF2B5EF4-FFF2-40B4-BE49-F238E27FC236}">
                  <a16:creationId xmlns:a16="http://schemas.microsoft.com/office/drawing/2014/main" id="{72C8397A-255A-46D8-924F-B54DB70A7D90}"/>
                </a:ext>
              </a:extLst>
            </p:cNvPr>
            <p:cNvSpPr>
              <a:spLocks noChangeArrowheads="1"/>
            </p:cNvSpPr>
            <p:nvPr/>
          </p:nvSpPr>
          <p:spPr bwMode="auto">
            <a:xfrm>
              <a:off x="1475" y="2709"/>
              <a:ext cx="151" cy="16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27" name="AutoShape 404">
              <a:extLst>
                <a:ext uri="{FF2B5EF4-FFF2-40B4-BE49-F238E27FC236}">
                  <a16:creationId xmlns:a16="http://schemas.microsoft.com/office/drawing/2014/main" id="{B36F07AF-B11E-1D4A-002C-AF19093CBAD4}"/>
                </a:ext>
              </a:extLst>
            </p:cNvPr>
            <p:cNvSpPr>
              <a:spLocks/>
            </p:cNvSpPr>
            <p:nvPr/>
          </p:nvSpPr>
          <p:spPr bwMode="auto">
            <a:xfrm rot="-5400000">
              <a:off x="1542" y="2598"/>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28" name="AutoShape 405">
              <a:extLst>
                <a:ext uri="{FF2B5EF4-FFF2-40B4-BE49-F238E27FC236}">
                  <a16:creationId xmlns:a16="http://schemas.microsoft.com/office/drawing/2014/main" id="{803BFF50-5984-9106-9603-6B42991C5E7B}"/>
                </a:ext>
              </a:extLst>
            </p:cNvPr>
            <p:cNvSpPr>
              <a:spLocks/>
            </p:cNvSpPr>
            <p:nvPr/>
          </p:nvSpPr>
          <p:spPr bwMode="auto">
            <a:xfrm rot="-5400000">
              <a:off x="1542" y="2607"/>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29" name="AutoShape 406">
              <a:extLst>
                <a:ext uri="{FF2B5EF4-FFF2-40B4-BE49-F238E27FC236}">
                  <a16:creationId xmlns:a16="http://schemas.microsoft.com/office/drawing/2014/main" id="{FC4DD8C4-0FF8-AA4E-2497-8F4B2AACE813}"/>
                </a:ext>
              </a:extLst>
            </p:cNvPr>
            <p:cNvSpPr>
              <a:spLocks/>
            </p:cNvSpPr>
            <p:nvPr/>
          </p:nvSpPr>
          <p:spPr bwMode="auto">
            <a:xfrm rot="-5400000">
              <a:off x="1542" y="2616"/>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230" name="Group 407">
              <a:extLst>
                <a:ext uri="{FF2B5EF4-FFF2-40B4-BE49-F238E27FC236}">
                  <a16:creationId xmlns:a16="http://schemas.microsoft.com/office/drawing/2014/main" id="{E6AA3D6C-A7DD-75B4-54B9-05448290F567}"/>
                </a:ext>
              </a:extLst>
            </p:cNvPr>
            <p:cNvGrpSpPr>
              <a:grpSpLocks/>
            </p:cNvGrpSpPr>
            <p:nvPr/>
          </p:nvGrpSpPr>
          <p:grpSpPr bwMode="auto">
            <a:xfrm>
              <a:off x="1469" y="2898"/>
              <a:ext cx="151" cy="336"/>
              <a:chOff x="576" y="1200"/>
              <a:chExt cx="240" cy="336"/>
            </a:xfrm>
          </p:grpSpPr>
          <p:sp>
            <p:nvSpPr>
              <p:cNvPr id="232" name="Rectangle 408">
                <a:extLst>
                  <a:ext uri="{FF2B5EF4-FFF2-40B4-BE49-F238E27FC236}">
                    <a16:creationId xmlns:a16="http://schemas.microsoft.com/office/drawing/2014/main" id="{ED3F6682-8C09-27C1-C310-6AF33D1BA129}"/>
                  </a:ext>
                </a:extLst>
              </p:cNvPr>
              <p:cNvSpPr>
                <a:spLocks noChangeArrowheads="1"/>
              </p:cNvSpPr>
              <p:nvPr/>
            </p:nvSpPr>
            <p:spPr bwMode="auto">
              <a:xfrm>
                <a:off x="576" y="1200"/>
                <a:ext cx="240"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33" name="Line 409">
                <a:extLst>
                  <a:ext uri="{FF2B5EF4-FFF2-40B4-BE49-F238E27FC236}">
                    <a16:creationId xmlns:a16="http://schemas.microsoft.com/office/drawing/2014/main" id="{92E1F69A-BD4E-7B96-CCD9-30936B713F6C}"/>
                  </a:ext>
                </a:extLst>
              </p:cNvPr>
              <p:cNvSpPr>
                <a:spLocks noChangeShapeType="1"/>
              </p:cNvSpPr>
              <p:nvPr/>
            </p:nvSpPr>
            <p:spPr bwMode="auto">
              <a:xfrm>
                <a:off x="576" y="139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4" name="Line 410">
                <a:extLst>
                  <a:ext uri="{FF2B5EF4-FFF2-40B4-BE49-F238E27FC236}">
                    <a16:creationId xmlns:a16="http://schemas.microsoft.com/office/drawing/2014/main" id="{D7A8A136-BAE7-670E-FF9B-6485D1E7DF7A}"/>
                  </a:ext>
                </a:extLst>
              </p:cNvPr>
              <p:cNvSpPr>
                <a:spLocks noChangeShapeType="1"/>
              </p:cNvSpPr>
              <p:nvPr/>
            </p:nvSpPr>
            <p:spPr bwMode="auto">
              <a:xfrm>
                <a:off x="576" y="129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31" name="Text Box 411">
              <a:extLst>
                <a:ext uri="{FF2B5EF4-FFF2-40B4-BE49-F238E27FC236}">
                  <a16:creationId xmlns:a16="http://schemas.microsoft.com/office/drawing/2014/main" id="{D4031BAA-B6E9-8639-2739-E84190D87335}"/>
                </a:ext>
              </a:extLst>
            </p:cNvPr>
            <p:cNvSpPr txBox="1">
              <a:spLocks noChangeArrowheads="1"/>
            </p:cNvSpPr>
            <p:nvPr/>
          </p:nvSpPr>
          <p:spPr bwMode="auto">
            <a:xfrm>
              <a:off x="1454" y="2736"/>
              <a:ext cx="168" cy="1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eaLnBrk="1" hangingPunct="1">
                <a:lnSpc>
                  <a:spcPct val="100000"/>
                </a:lnSpc>
                <a:spcBef>
                  <a:spcPct val="0"/>
                </a:spcBef>
                <a:spcAft>
                  <a:spcPct val="0"/>
                </a:spcAft>
                <a:buClrTx/>
                <a:buSzTx/>
                <a:buFontTx/>
                <a:buNone/>
              </a:pPr>
              <a:r>
                <a:rPr lang="en-US" altLang="en-US" sz="600" b="0"/>
                <a:t>IN</a:t>
              </a:r>
            </a:p>
          </p:txBody>
        </p:sp>
      </p:grpSp>
      <p:grpSp>
        <p:nvGrpSpPr>
          <p:cNvPr id="235" name="Group 415">
            <a:extLst>
              <a:ext uri="{FF2B5EF4-FFF2-40B4-BE49-F238E27FC236}">
                <a16:creationId xmlns:a16="http://schemas.microsoft.com/office/drawing/2014/main" id="{36D98943-0526-C68F-C647-8E9093247B2C}"/>
              </a:ext>
            </a:extLst>
          </p:cNvPr>
          <p:cNvGrpSpPr>
            <a:grpSpLocks/>
          </p:cNvGrpSpPr>
          <p:nvPr/>
        </p:nvGrpSpPr>
        <p:grpSpPr bwMode="auto">
          <a:xfrm>
            <a:off x="8479503" y="3887788"/>
            <a:ext cx="538162" cy="393700"/>
            <a:chOff x="513" y="2099"/>
            <a:chExt cx="374" cy="258"/>
          </a:xfrm>
        </p:grpSpPr>
        <p:grpSp>
          <p:nvGrpSpPr>
            <p:cNvPr id="236" name="Group 416">
              <a:extLst>
                <a:ext uri="{FF2B5EF4-FFF2-40B4-BE49-F238E27FC236}">
                  <a16:creationId xmlns:a16="http://schemas.microsoft.com/office/drawing/2014/main" id="{3935D935-EAF5-EB01-9789-9D7AA1163497}"/>
                </a:ext>
              </a:extLst>
            </p:cNvPr>
            <p:cNvGrpSpPr>
              <a:grpSpLocks/>
            </p:cNvGrpSpPr>
            <p:nvPr/>
          </p:nvGrpSpPr>
          <p:grpSpPr bwMode="auto">
            <a:xfrm>
              <a:off x="550" y="2121"/>
              <a:ext cx="337" cy="236"/>
              <a:chOff x="536" y="3744"/>
              <a:chExt cx="415" cy="261"/>
            </a:xfrm>
          </p:grpSpPr>
          <p:sp>
            <p:nvSpPr>
              <p:cNvPr id="238" name="Rectangle 417">
                <a:extLst>
                  <a:ext uri="{FF2B5EF4-FFF2-40B4-BE49-F238E27FC236}">
                    <a16:creationId xmlns:a16="http://schemas.microsoft.com/office/drawing/2014/main" id="{2F368BE2-22E1-7D47-9C8D-0F2D021E63A2}"/>
                  </a:ext>
                </a:extLst>
              </p:cNvPr>
              <p:cNvSpPr>
                <a:spLocks noChangeArrowheads="1"/>
              </p:cNvSpPr>
              <p:nvPr/>
            </p:nvSpPr>
            <p:spPr bwMode="auto">
              <a:xfrm>
                <a:off x="536" y="3744"/>
                <a:ext cx="286" cy="19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39" name="Rectangle 418">
                <a:extLst>
                  <a:ext uri="{FF2B5EF4-FFF2-40B4-BE49-F238E27FC236}">
                    <a16:creationId xmlns:a16="http://schemas.microsoft.com/office/drawing/2014/main" id="{54E5EC49-8CE5-01E3-F926-A82F946B6A25}"/>
                  </a:ext>
                </a:extLst>
              </p:cNvPr>
              <p:cNvSpPr>
                <a:spLocks noChangeArrowheads="1"/>
              </p:cNvSpPr>
              <p:nvPr/>
            </p:nvSpPr>
            <p:spPr bwMode="auto">
              <a:xfrm>
                <a:off x="824" y="3809"/>
                <a:ext cx="127" cy="131"/>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40" name="Oval 419">
                <a:extLst>
                  <a:ext uri="{FF2B5EF4-FFF2-40B4-BE49-F238E27FC236}">
                    <a16:creationId xmlns:a16="http://schemas.microsoft.com/office/drawing/2014/main" id="{D5238DE8-ED70-E5DA-B450-0DD8613E180F}"/>
                  </a:ext>
                </a:extLst>
              </p:cNvPr>
              <p:cNvSpPr>
                <a:spLocks noChangeArrowheads="1"/>
              </p:cNvSpPr>
              <p:nvPr/>
            </p:nvSpPr>
            <p:spPr bwMode="auto">
              <a:xfrm>
                <a:off x="854" y="3940"/>
                <a:ext cx="63" cy="6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41" name="Oval 420">
                <a:extLst>
                  <a:ext uri="{FF2B5EF4-FFF2-40B4-BE49-F238E27FC236}">
                    <a16:creationId xmlns:a16="http://schemas.microsoft.com/office/drawing/2014/main" id="{845127FC-A2A2-6419-F37C-E6BB5D0719E5}"/>
                  </a:ext>
                </a:extLst>
              </p:cNvPr>
              <p:cNvSpPr>
                <a:spLocks noChangeArrowheads="1"/>
              </p:cNvSpPr>
              <p:nvPr/>
            </p:nvSpPr>
            <p:spPr bwMode="auto">
              <a:xfrm>
                <a:off x="568" y="3940"/>
                <a:ext cx="63" cy="6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sp>
          <p:nvSpPr>
            <p:cNvPr id="237" name="Text Box 421">
              <a:extLst>
                <a:ext uri="{FF2B5EF4-FFF2-40B4-BE49-F238E27FC236}">
                  <a16:creationId xmlns:a16="http://schemas.microsoft.com/office/drawing/2014/main" id="{C5A23267-7D38-3D56-7D7B-8E37107DA5D8}"/>
                </a:ext>
              </a:extLst>
            </p:cNvPr>
            <p:cNvSpPr txBox="1">
              <a:spLocks noChangeArrowheads="1"/>
            </p:cNvSpPr>
            <p:nvPr/>
          </p:nvSpPr>
          <p:spPr bwMode="auto">
            <a:xfrm>
              <a:off x="513" y="2099"/>
              <a:ext cx="308" cy="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600" b="0"/>
                <a:t>1X Daily</a:t>
              </a:r>
            </a:p>
          </p:txBody>
        </p:sp>
      </p:grpSp>
      <p:sp>
        <p:nvSpPr>
          <p:cNvPr id="242" name="Rectangle 449">
            <a:extLst>
              <a:ext uri="{FF2B5EF4-FFF2-40B4-BE49-F238E27FC236}">
                <a16:creationId xmlns:a16="http://schemas.microsoft.com/office/drawing/2014/main" id="{B4979C60-7EE9-4CB3-AD24-E58DA3747342}"/>
              </a:ext>
            </a:extLst>
          </p:cNvPr>
          <p:cNvSpPr>
            <a:spLocks noChangeArrowheads="1"/>
          </p:cNvSpPr>
          <p:nvPr/>
        </p:nvSpPr>
        <p:spPr bwMode="auto">
          <a:xfrm>
            <a:off x="4874290" y="4619626"/>
            <a:ext cx="765175" cy="56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25000"/>
              </a:lnSpc>
              <a:spcBef>
                <a:spcPct val="0"/>
              </a:spcBef>
              <a:spcAft>
                <a:spcPct val="0"/>
              </a:spcAft>
              <a:buClrTx/>
              <a:buSzTx/>
              <a:buFontTx/>
              <a:buNone/>
            </a:pPr>
            <a:r>
              <a:rPr lang="en-US" altLang="en-US" sz="500" b="0"/>
              <a:t>Volume = 1,730</a:t>
            </a:r>
          </a:p>
          <a:p>
            <a:pPr>
              <a:lnSpc>
                <a:spcPct val="125000"/>
              </a:lnSpc>
              <a:spcBef>
                <a:spcPct val="0"/>
              </a:spcBef>
              <a:spcAft>
                <a:spcPct val="0"/>
              </a:spcAft>
              <a:buClrTx/>
              <a:buSzTx/>
              <a:buFontTx/>
              <a:buNone/>
            </a:pPr>
            <a:r>
              <a:rPr lang="en-US" altLang="en-US" sz="500" b="0"/>
              <a:t>Processing Time = 180”</a:t>
            </a:r>
          </a:p>
          <a:p>
            <a:pPr>
              <a:lnSpc>
                <a:spcPct val="125000"/>
              </a:lnSpc>
              <a:spcBef>
                <a:spcPct val="0"/>
              </a:spcBef>
              <a:spcAft>
                <a:spcPct val="0"/>
              </a:spcAft>
              <a:buClrTx/>
              <a:buSzTx/>
              <a:buFontTx/>
              <a:buNone/>
            </a:pPr>
            <a:r>
              <a:rPr lang="en-US" altLang="en-US" sz="500" b="0"/>
              <a:t>DOI = 20”</a:t>
            </a:r>
          </a:p>
          <a:p>
            <a:pPr>
              <a:lnSpc>
                <a:spcPct val="125000"/>
              </a:lnSpc>
              <a:spcBef>
                <a:spcPct val="0"/>
              </a:spcBef>
              <a:spcAft>
                <a:spcPct val="0"/>
              </a:spcAft>
              <a:buClrTx/>
              <a:buSzTx/>
              <a:buFontTx/>
              <a:buNone/>
            </a:pPr>
            <a:r>
              <a:rPr lang="en-US" altLang="en-US" sz="500" b="0"/>
              <a:t>Quality = 100%</a:t>
            </a:r>
          </a:p>
          <a:p>
            <a:pPr>
              <a:lnSpc>
                <a:spcPct val="125000"/>
              </a:lnSpc>
              <a:spcBef>
                <a:spcPct val="0"/>
              </a:spcBef>
              <a:spcAft>
                <a:spcPct val="0"/>
              </a:spcAft>
              <a:buClrTx/>
              <a:buSzTx/>
              <a:buFontTx/>
              <a:buNone/>
            </a:pPr>
            <a:r>
              <a:rPr lang="en-US" altLang="en-US" sz="500" b="0"/>
              <a:t># Rework = 0</a:t>
            </a:r>
          </a:p>
        </p:txBody>
      </p:sp>
      <p:sp>
        <p:nvSpPr>
          <p:cNvPr id="243" name="Rectangle 450">
            <a:extLst>
              <a:ext uri="{FF2B5EF4-FFF2-40B4-BE49-F238E27FC236}">
                <a16:creationId xmlns:a16="http://schemas.microsoft.com/office/drawing/2014/main" id="{A9D1E2EF-7D04-2CA0-3584-8808E09BA89E}"/>
              </a:ext>
            </a:extLst>
          </p:cNvPr>
          <p:cNvSpPr>
            <a:spLocks noChangeArrowheads="1"/>
          </p:cNvSpPr>
          <p:nvPr/>
        </p:nvSpPr>
        <p:spPr bwMode="auto">
          <a:xfrm>
            <a:off x="7860378" y="4105276"/>
            <a:ext cx="538162"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25000"/>
              </a:lnSpc>
              <a:spcBef>
                <a:spcPct val="0"/>
              </a:spcBef>
              <a:spcAft>
                <a:spcPct val="0"/>
              </a:spcAft>
              <a:buClrTx/>
              <a:buSzTx/>
              <a:buFontTx/>
              <a:buNone/>
            </a:pPr>
            <a:r>
              <a:rPr lang="en-US" altLang="en-US" sz="500" b="0"/>
              <a:t>Volume = 1,197</a:t>
            </a:r>
          </a:p>
        </p:txBody>
      </p:sp>
      <p:sp>
        <p:nvSpPr>
          <p:cNvPr id="244" name="Rectangle 451">
            <a:extLst>
              <a:ext uri="{FF2B5EF4-FFF2-40B4-BE49-F238E27FC236}">
                <a16:creationId xmlns:a16="http://schemas.microsoft.com/office/drawing/2014/main" id="{7996FFB6-614F-78AD-F6ED-0C8C3037047D}"/>
              </a:ext>
            </a:extLst>
          </p:cNvPr>
          <p:cNvSpPr>
            <a:spLocks noChangeArrowheads="1"/>
          </p:cNvSpPr>
          <p:nvPr/>
        </p:nvSpPr>
        <p:spPr bwMode="auto">
          <a:xfrm>
            <a:off x="2888328" y="4638676"/>
            <a:ext cx="728662" cy="56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25000"/>
              </a:lnSpc>
              <a:spcBef>
                <a:spcPct val="0"/>
              </a:spcBef>
              <a:spcAft>
                <a:spcPct val="0"/>
              </a:spcAft>
              <a:buClrTx/>
              <a:buSzTx/>
              <a:buFontTx/>
              <a:buNone/>
            </a:pPr>
            <a:r>
              <a:rPr lang="en-US" altLang="en-US" sz="500" b="0" dirty="0"/>
              <a:t>Volume = 1,500</a:t>
            </a:r>
          </a:p>
          <a:p>
            <a:pPr>
              <a:lnSpc>
                <a:spcPct val="125000"/>
              </a:lnSpc>
              <a:spcBef>
                <a:spcPct val="0"/>
              </a:spcBef>
              <a:spcAft>
                <a:spcPct val="0"/>
              </a:spcAft>
              <a:buClrTx/>
              <a:buSzTx/>
              <a:buFontTx/>
              <a:buNone/>
            </a:pPr>
            <a:r>
              <a:rPr lang="en-US" altLang="en-US" sz="500" b="0" dirty="0"/>
              <a:t>Processing Time = 10”</a:t>
            </a:r>
          </a:p>
          <a:p>
            <a:pPr>
              <a:lnSpc>
                <a:spcPct val="125000"/>
              </a:lnSpc>
              <a:spcBef>
                <a:spcPct val="0"/>
              </a:spcBef>
              <a:spcAft>
                <a:spcPct val="0"/>
              </a:spcAft>
              <a:buClrTx/>
              <a:buSzTx/>
              <a:buFontTx/>
              <a:buNone/>
            </a:pPr>
            <a:r>
              <a:rPr lang="en-US" altLang="en-US" sz="500" b="0" dirty="0"/>
              <a:t>DOI = 10”</a:t>
            </a:r>
          </a:p>
          <a:p>
            <a:pPr>
              <a:lnSpc>
                <a:spcPct val="125000"/>
              </a:lnSpc>
              <a:spcBef>
                <a:spcPct val="0"/>
              </a:spcBef>
              <a:spcAft>
                <a:spcPct val="0"/>
              </a:spcAft>
              <a:buClrTx/>
              <a:buSzTx/>
              <a:buFontTx/>
              <a:buNone/>
            </a:pPr>
            <a:r>
              <a:rPr lang="en-US" altLang="en-US" sz="500" b="0" dirty="0"/>
              <a:t>Quality = 82%</a:t>
            </a:r>
          </a:p>
          <a:p>
            <a:pPr>
              <a:lnSpc>
                <a:spcPct val="125000"/>
              </a:lnSpc>
              <a:spcBef>
                <a:spcPct val="0"/>
              </a:spcBef>
              <a:spcAft>
                <a:spcPct val="0"/>
              </a:spcAft>
              <a:buClrTx/>
              <a:buSzTx/>
              <a:buFontTx/>
              <a:buNone/>
            </a:pPr>
            <a:r>
              <a:rPr lang="en-US" altLang="en-US" sz="500" b="0" dirty="0"/>
              <a:t># Rework = 0</a:t>
            </a:r>
          </a:p>
        </p:txBody>
      </p:sp>
      <p:sp>
        <p:nvSpPr>
          <p:cNvPr id="245" name="Rectangle 452">
            <a:extLst>
              <a:ext uri="{FF2B5EF4-FFF2-40B4-BE49-F238E27FC236}">
                <a16:creationId xmlns:a16="http://schemas.microsoft.com/office/drawing/2014/main" id="{1782F480-9FD2-C1BD-BB78-DAD6ABE434CD}"/>
              </a:ext>
            </a:extLst>
          </p:cNvPr>
          <p:cNvSpPr>
            <a:spLocks noChangeArrowheads="1"/>
          </p:cNvSpPr>
          <p:nvPr/>
        </p:nvSpPr>
        <p:spPr bwMode="auto">
          <a:xfrm>
            <a:off x="5910928" y="4619626"/>
            <a:ext cx="728662" cy="56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25000"/>
              </a:lnSpc>
              <a:spcBef>
                <a:spcPct val="0"/>
              </a:spcBef>
              <a:spcAft>
                <a:spcPct val="0"/>
              </a:spcAft>
              <a:buClrTx/>
              <a:buSzTx/>
              <a:buFontTx/>
              <a:buNone/>
            </a:pPr>
            <a:r>
              <a:rPr lang="en-US" altLang="en-US" sz="500" b="0"/>
              <a:t>Volume = 1,496</a:t>
            </a:r>
          </a:p>
          <a:p>
            <a:pPr>
              <a:lnSpc>
                <a:spcPct val="125000"/>
              </a:lnSpc>
              <a:spcBef>
                <a:spcPct val="0"/>
              </a:spcBef>
              <a:spcAft>
                <a:spcPct val="0"/>
              </a:spcAft>
              <a:buClrTx/>
              <a:buSzTx/>
              <a:buFontTx/>
              <a:buNone/>
            </a:pPr>
            <a:r>
              <a:rPr lang="en-US" altLang="en-US" sz="500" b="0"/>
              <a:t>Processing Time = 72”</a:t>
            </a:r>
          </a:p>
          <a:p>
            <a:pPr>
              <a:lnSpc>
                <a:spcPct val="125000"/>
              </a:lnSpc>
              <a:spcBef>
                <a:spcPct val="0"/>
              </a:spcBef>
              <a:spcAft>
                <a:spcPct val="0"/>
              </a:spcAft>
              <a:buClrTx/>
              <a:buSzTx/>
              <a:buFontTx/>
              <a:buNone/>
            </a:pPr>
            <a:r>
              <a:rPr lang="en-US" altLang="en-US" sz="500" b="0"/>
              <a:t>DOI =18”</a:t>
            </a:r>
          </a:p>
          <a:p>
            <a:pPr>
              <a:lnSpc>
                <a:spcPct val="125000"/>
              </a:lnSpc>
              <a:spcBef>
                <a:spcPct val="0"/>
              </a:spcBef>
              <a:spcAft>
                <a:spcPct val="0"/>
              </a:spcAft>
              <a:buClrTx/>
              <a:buSzTx/>
              <a:buFontTx/>
              <a:buNone/>
            </a:pPr>
            <a:r>
              <a:rPr lang="en-US" altLang="en-US" sz="500" b="0"/>
              <a:t>Quality = 65%</a:t>
            </a:r>
          </a:p>
          <a:p>
            <a:pPr>
              <a:lnSpc>
                <a:spcPct val="125000"/>
              </a:lnSpc>
              <a:spcBef>
                <a:spcPct val="0"/>
              </a:spcBef>
              <a:spcAft>
                <a:spcPct val="0"/>
              </a:spcAft>
              <a:buClrTx/>
              <a:buSzTx/>
              <a:buFontTx/>
              <a:buNone/>
            </a:pPr>
            <a:r>
              <a:rPr lang="en-US" altLang="en-US" sz="500" b="0"/>
              <a:t># Rework = 0</a:t>
            </a:r>
          </a:p>
        </p:txBody>
      </p:sp>
      <p:sp>
        <p:nvSpPr>
          <p:cNvPr id="246" name="Rectangle 453">
            <a:extLst>
              <a:ext uri="{FF2B5EF4-FFF2-40B4-BE49-F238E27FC236}">
                <a16:creationId xmlns:a16="http://schemas.microsoft.com/office/drawing/2014/main" id="{BDD7140D-6EB9-2DE4-3BEE-DB9BC6BD892C}"/>
              </a:ext>
            </a:extLst>
          </p:cNvPr>
          <p:cNvSpPr>
            <a:spLocks noChangeArrowheads="1"/>
          </p:cNvSpPr>
          <p:nvPr/>
        </p:nvSpPr>
        <p:spPr bwMode="auto">
          <a:xfrm>
            <a:off x="9301828" y="4625976"/>
            <a:ext cx="728662" cy="56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25000"/>
              </a:lnSpc>
              <a:spcBef>
                <a:spcPct val="0"/>
              </a:spcBef>
              <a:spcAft>
                <a:spcPct val="0"/>
              </a:spcAft>
              <a:buClrTx/>
              <a:buSzTx/>
              <a:buFontTx/>
              <a:buNone/>
            </a:pPr>
            <a:r>
              <a:rPr lang="en-US" altLang="en-US" sz="500" b="0"/>
              <a:t>Volume = 1,197</a:t>
            </a:r>
          </a:p>
          <a:p>
            <a:pPr>
              <a:lnSpc>
                <a:spcPct val="125000"/>
              </a:lnSpc>
              <a:spcBef>
                <a:spcPct val="0"/>
              </a:spcBef>
              <a:spcAft>
                <a:spcPct val="0"/>
              </a:spcAft>
              <a:buClrTx/>
              <a:buSzTx/>
              <a:buFontTx/>
              <a:buNone/>
            </a:pPr>
            <a:r>
              <a:rPr lang="en-US" altLang="en-US" sz="500" b="0"/>
              <a:t>Processing Time = 20”</a:t>
            </a:r>
          </a:p>
          <a:p>
            <a:pPr>
              <a:lnSpc>
                <a:spcPct val="125000"/>
              </a:lnSpc>
              <a:spcBef>
                <a:spcPct val="0"/>
              </a:spcBef>
              <a:spcAft>
                <a:spcPct val="0"/>
              </a:spcAft>
              <a:buClrTx/>
              <a:buSzTx/>
              <a:buFontTx/>
              <a:buNone/>
            </a:pPr>
            <a:r>
              <a:rPr lang="en-US" altLang="en-US" sz="500" b="0"/>
              <a:t>DOI = 12”</a:t>
            </a:r>
          </a:p>
          <a:p>
            <a:pPr>
              <a:lnSpc>
                <a:spcPct val="125000"/>
              </a:lnSpc>
              <a:spcBef>
                <a:spcPct val="0"/>
              </a:spcBef>
              <a:spcAft>
                <a:spcPct val="0"/>
              </a:spcAft>
              <a:buClrTx/>
              <a:buSzTx/>
              <a:buFontTx/>
              <a:buNone/>
            </a:pPr>
            <a:r>
              <a:rPr lang="en-US" altLang="en-US" sz="500" b="0"/>
              <a:t>Quality = 100%</a:t>
            </a:r>
          </a:p>
          <a:p>
            <a:pPr>
              <a:lnSpc>
                <a:spcPct val="125000"/>
              </a:lnSpc>
              <a:spcBef>
                <a:spcPct val="0"/>
              </a:spcBef>
              <a:spcAft>
                <a:spcPct val="0"/>
              </a:spcAft>
              <a:buClrTx/>
              <a:buSzTx/>
              <a:buFontTx/>
              <a:buNone/>
            </a:pPr>
            <a:r>
              <a:rPr lang="en-US" altLang="en-US" sz="500" b="0"/>
              <a:t># Rework = 0</a:t>
            </a:r>
          </a:p>
        </p:txBody>
      </p:sp>
      <p:sp>
        <p:nvSpPr>
          <p:cNvPr id="247" name="Rectangle 455">
            <a:extLst>
              <a:ext uri="{FF2B5EF4-FFF2-40B4-BE49-F238E27FC236}">
                <a16:creationId xmlns:a16="http://schemas.microsoft.com/office/drawing/2014/main" id="{E6B4A077-8837-8F7D-0907-3B846C974F90}"/>
              </a:ext>
            </a:extLst>
          </p:cNvPr>
          <p:cNvSpPr>
            <a:spLocks noChangeArrowheads="1"/>
          </p:cNvSpPr>
          <p:nvPr/>
        </p:nvSpPr>
        <p:spPr bwMode="auto">
          <a:xfrm>
            <a:off x="6901528" y="5203826"/>
            <a:ext cx="728662" cy="56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25000"/>
              </a:lnSpc>
              <a:spcBef>
                <a:spcPct val="0"/>
              </a:spcBef>
              <a:spcAft>
                <a:spcPct val="0"/>
              </a:spcAft>
              <a:buClrTx/>
              <a:buSzTx/>
              <a:buFontTx/>
              <a:buNone/>
            </a:pPr>
            <a:r>
              <a:rPr lang="en-US" altLang="en-US" sz="500" b="0"/>
              <a:t>Volume = 524</a:t>
            </a:r>
          </a:p>
          <a:p>
            <a:pPr>
              <a:lnSpc>
                <a:spcPct val="125000"/>
              </a:lnSpc>
              <a:spcBef>
                <a:spcPct val="0"/>
              </a:spcBef>
              <a:spcAft>
                <a:spcPct val="0"/>
              </a:spcAft>
              <a:buClrTx/>
              <a:buSzTx/>
              <a:buFontTx/>
              <a:buNone/>
            </a:pPr>
            <a:r>
              <a:rPr lang="en-US" altLang="en-US" sz="500" b="0"/>
              <a:t>Processing Time = 72”</a:t>
            </a:r>
          </a:p>
          <a:p>
            <a:pPr>
              <a:lnSpc>
                <a:spcPct val="125000"/>
              </a:lnSpc>
              <a:spcBef>
                <a:spcPct val="0"/>
              </a:spcBef>
              <a:spcAft>
                <a:spcPct val="0"/>
              </a:spcAft>
              <a:buClrTx/>
              <a:buSzTx/>
              <a:buFontTx/>
              <a:buNone/>
            </a:pPr>
            <a:r>
              <a:rPr lang="en-US" altLang="en-US" sz="500" b="0"/>
              <a:t>DOI = 18”</a:t>
            </a:r>
          </a:p>
          <a:p>
            <a:pPr>
              <a:lnSpc>
                <a:spcPct val="125000"/>
              </a:lnSpc>
              <a:spcBef>
                <a:spcPct val="0"/>
              </a:spcBef>
              <a:spcAft>
                <a:spcPct val="0"/>
              </a:spcAft>
              <a:buClrTx/>
              <a:buSzTx/>
              <a:buFontTx/>
              <a:buNone/>
            </a:pPr>
            <a:r>
              <a:rPr lang="en-US" altLang="en-US" sz="500" b="0"/>
              <a:t>Quality = 43%</a:t>
            </a:r>
          </a:p>
          <a:p>
            <a:pPr>
              <a:lnSpc>
                <a:spcPct val="125000"/>
              </a:lnSpc>
              <a:spcBef>
                <a:spcPct val="0"/>
              </a:spcBef>
              <a:spcAft>
                <a:spcPct val="0"/>
              </a:spcAft>
              <a:buClrTx/>
              <a:buSzTx/>
              <a:buFontTx/>
              <a:buNone/>
            </a:pPr>
            <a:r>
              <a:rPr lang="en-US" altLang="en-US" sz="500" b="0"/>
              <a:t># Rework = 0</a:t>
            </a:r>
          </a:p>
        </p:txBody>
      </p:sp>
      <p:sp>
        <p:nvSpPr>
          <p:cNvPr id="248" name="Text Box 456">
            <a:extLst>
              <a:ext uri="{FF2B5EF4-FFF2-40B4-BE49-F238E27FC236}">
                <a16:creationId xmlns:a16="http://schemas.microsoft.com/office/drawing/2014/main" id="{B0ABCB13-A793-310C-5B8F-452310EFB12B}"/>
              </a:ext>
            </a:extLst>
          </p:cNvPr>
          <p:cNvSpPr txBox="1">
            <a:spLocks noChangeArrowheads="1"/>
          </p:cNvSpPr>
          <p:nvPr/>
        </p:nvSpPr>
        <p:spPr bwMode="auto">
          <a:xfrm>
            <a:off x="2867690" y="4230688"/>
            <a:ext cx="736600" cy="165100"/>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Aft>
                <a:spcPct val="0"/>
              </a:spcAft>
              <a:buClrTx/>
              <a:buSzTx/>
              <a:buFontTx/>
              <a:buNone/>
            </a:pPr>
            <a:r>
              <a:rPr lang="en-US" altLang="en-US" sz="600" b="0"/>
              <a:t>Takt Time = 18”</a:t>
            </a:r>
          </a:p>
        </p:txBody>
      </p:sp>
      <p:sp>
        <p:nvSpPr>
          <p:cNvPr id="249" name="Text Box 457">
            <a:extLst>
              <a:ext uri="{FF2B5EF4-FFF2-40B4-BE49-F238E27FC236}">
                <a16:creationId xmlns:a16="http://schemas.microsoft.com/office/drawing/2014/main" id="{62D48FA7-079C-A091-3CD7-9328226C6822}"/>
              </a:ext>
            </a:extLst>
          </p:cNvPr>
          <p:cNvSpPr txBox="1">
            <a:spLocks noChangeArrowheads="1"/>
          </p:cNvSpPr>
          <p:nvPr/>
        </p:nvSpPr>
        <p:spPr bwMode="auto">
          <a:xfrm>
            <a:off x="3870990" y="4230688"/>
            <a:ext cx="736600" cy="165100"/>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Aft>
                <a:spcPct val="0"/>
              </a:spcAft>
              <a:buClrTx/>
              <a:buSzTx/>
              <a:buFontTx/>
              <a:buNone/>
            </a:pPr>
            <a:r>
              <a:rPr lang="en-US" altLang="en-US" sz="600" b="0"/>
              <a:t>Takt Time = 22”</a:t>
            </a:r>
          </a:p>
        </p:txBody>
      </p:sp>
      <p:sp>
        <p:nvSpPr>
          <p:cNvPr id="250" name="Text Box 458">
            <a:extLst>
              <a:ext uri="{FF2B5EF4-FFF2-40B4-BE49-F238E27FC236}">
                <a16:creationId xmlns:a16="http://schemas.microsoft.com/office/drawing/2014/main" id="{059A92FA-C9EF-8C62-D4D4-0ABD2B3382F8}"/>
              </a:ext>
            </a:extLst>
          </p:cNvPr>
          <p:cNvSpPr txBox="1">
            <a:spLocks noChangeArrowheads="1"/>
          </p:cNvSpPr>
          <p:nvPr/>
        </p:nvSpPr>
        <p:spPr bwMode="auto">
          <a:xfrm>
            <a:off x="4893340" y="4230688"/>
            <a:ext cx="736600" cy="165100"/>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Aft>
                <a:spcPct val="0"/>
              </a:spcAft>
              <a:buClrTx/>
              <a:buSzTx/>
              <a:buFontTx/>
              <a:buNone/>
            </a:pPr>
            <a:r>
              <a:rPr lang="en-US" altLang="en-US" sz="600" b="0"/>
              <a:t>Takt Time = 16”</a:t>
            </a:r>
          </a:p>
        </p:txBody>
      </p:sp>
      <p:sp>
        <p:nvSpPr>
          <p:cNvPr id="251" name="Text Box 459">
            <a:extLst>
              <a:ext uri="{FF2B5EF4-FFF2-40B4-BE49-F238E27FC236}">
                <a16:creationId xmlns:a16="http://schemas.microsoft.com/office/drawing/2014/main" id="{0FC64FB4-3D08-B2C9-BA1E-7941717BAE7D}"/>
              </a:ext>
            </a:extLst>
          </p:cNvPr>
          <p:cNvSpPr txBox="1">
            <a:spLocks noChangeArrowheads="1"/>
          </p:cNvSpPr>
          <p:nvPr/>
        </p:nvSpPr>
        <p:spPr bwMode="auto">
          <a:xfrm>
            <a:off x="9268490" y="4230688"/>
            <a:ext cx="736600" cy="165100"/>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Aft>
                <a:spcPct val="0"/>
              </a:spcAft>
              <a:buClrTx/>
              <a:buSzTx/>
              <a:buFontTx/>
              <a:buNone/>
            </a:pPr>
            <a:r>
              <a:rPr lang="en-US" altLang="en-US" sz="600" b="0"/>
              <a:t>Takt Time = 23”</a:t>
            </a:r>
          </a:p>
        </p:txBody>
      </p:sp>
      <p:sp>
        <p:nvSpPr>
          <p:cNvPr id="252" name="Text Box 460">
            <a:extLst>
              <a:ext uri="{FF2B5EF4-FFF2-40B4-BE49-F238E27FC236}">
                <a16:creationId xmlns:a16="http://schemas.microsoft.com/office/drawing/2014/main" id="{39D81FA3-4EAE-7373-7917-0439A5B53379}"/>
              </a:ext>
            </a:extLst>
          </p:cNvPr>
          <p:cNvSpPr txBox="1">
            <a:spLocks noChangeArrowheads="1"/>
          </p:cNvSpPr>
          <p:nvPr/>
        </p:nvSpPr>
        <p:spPr bwMode="auto">
          <a:xfrm>
            <a:off x="1908840" y="4224338"/>
            <a:ext cx="736600" cy="165100"/>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Aft>
                <a:spcPct val="0"/>
              </a:spcAft>
              <a:buClrTx/>
              <a:buSzTx/>
              <a:buFontTx/>
              <a:buNone/>
            </a:pPr>
            <a:r>
              <a:rPr lang="en-US" altLang="en-US" sz="600" b="0"/>
              <a:t>Takt Time = 18”</a:t>
            </a:r>
          </a:p>
        </p:txBody>
      </p:sp>
      <p:sp>
        <p:nvSpPr>
          <p:cNvPr id="253" name="Text Box 461">
            <a:extLst>
              <a:ext uri="{FF2B5EF4-FFF2-40B4-BE49-F238E27FC236}">
                <a16:creationId xmlns:a16="http://schemas.microsoft.com/office/drawing/2014/main" id="{06DAB10A-1367-E400-6D89-435304CDEB13}"/>
              </a:ext>
            </a:extLst>
          </p:cNvPr>
          <p:cNvSpPr txBox="1">
            <a:spLocks noChangeArrowheads="1"/>
          </p:cNvSpPr>
          <p:nvPr/>
        </p:nvSpPr>
        <p:spPr bwMode="auto">
          <a:xfrm>
            <a:off x="6880890" y="4789488"/>
            <a:ext cx="736600" cy="165100"/>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Aft>
                <a:spcPct val="0"/>
              </a:spcAft>
              <a:buClrTx/>
              <a:buSzTx/>
              <a:buFontTx/>
              <a:buNone/>
            </a:pPr>
            <a:r>
              <a:rPr lang="en-US" altLang="en-US" sz="600" b="0"/>
              <a:t>Takt Time = 51”</a:t>
            </a:r>
          </a:p>
        </p:txBody>
      </p:sp>
      <p:sp>
        <p:nvSpPr>
          <p:cNvPr id="254" name="Text Box 462">
            <a:extLst>
              <a:ext uri="{FF2B5EF4-FFF2-40B4-BE49-F238E27FC236}">
                <a16:creationId xmlns:a16="http://schemas.microsoft.com/office/drawing/2014/main" id="{4D929992-1E20-815A-057D-A3A500B3CC25}"/>
              </a:ext>
            </a:extLst>
          </p:cNvPr>
          <p:cNvSpPr txBox="1">
            <a:spLocks noChangeArrowheads="1"/>
          </p:cNvSpPr>
          <p:nvPr/>
        </p:nvSpPr>
        <p:spPr bwMode="auto">
          <a:xfrm>
            <a:off x="5877590" y="4230688"/>
            <a:ext cx="736600" cy="165100"/>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Aft>
                <a:spcPct val="0"/>
              </a:spcAft>
              <a:buClrTx/>
              <a:buSzTx/>
              <a:buFontTx/>
              <a:buNone/>
            </a:pPr>
            <a:r>
              <a:rPr lang="en-US" altLang="en-US" sz="600" b="0"/>
              <a:t>Takt Time = 18”</a:t>
            </a:r>
          </a:p>
        </p:txBody>
      </p:sp>
      <p:grpSp>
        <p:nvGrpSpPr>
          <p:cNvPr id="255" name="Group 466">
            <a:extLst>
              <a:ext uri="{FF2B5EF4-FFF2-40B4-BE49-F238E27FC236}">
                <a16:creationId xmlns:a16="http://schemas.microsoft.com/office/drawing/2014/main" id="{5C986BB7-9E75-EBFC-64C3-411DE541A445}"/>
              </a:ext>
            </a:extLst>
          </p:cNvPr>
          <p:cNvGrpSpPr>
            <a:grpSpLocks/>
          </p:cNvGrpSpPr>
          <p:nvPr/>
        </p:nvGrpSpPr>
        <p:grpSpPr bwMode="auto">
          <a:xfrm>
            <a:off x="5280690" y="1998663"/>
            <a:ext cx="687388" cy="835025"/>
            <a:chOff x="2516" y="1294"/>
            <a:chExt cx="433" cy="526"/>
          </a:xfrm>
        </p:grpSpPr>
        <p:sp>
          <p:nvSpPr>
            <p:cNvPr id="256" name="Rectangle 464">
              <a:extLst>
                <a:ext uri="{FF2B5EF4-FFF2-40B4-BE49-F238E27FC236}">
                  <a16:creationId xmlns:a16="http://schemas.microsoft.com/office/drawing/2014/main" id="{656FD13E-A490-E3F1-A265-0F5739A44471}"/>
                </a:ext>
              </a:extLst>
            </p:cNvPr>
            <p:cNvSpPr>
              <a:spLocks noChangeArrowheads="1"/>
            </p:cNvSpPr>
            <p:nvPr/>
          </p:nvSpPr>
          <p:spPr bwMode="auto">
            <a:xfrm>
              <a:off x="2610" y="1666"/>
              <a:ext cx="26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eaLnBrk="1" hangingPunct="1">
                <a:lnSpc>
                  <a:spcPct val="100000"/>
                </a:lnSpc>
                <a:spcBef>
                  <a:spcPct val="0"/>
                </a:spcBef>
                <a:spcAft>
                  <a:spcPct val="0"/>
                </a:spcAft>
                <a:buClrTx/>
                <a:buSzTx/>
                <a:buFontTx/>
                <a:buNone/>
              </a:pPr>
              <a:r>
                <a:rPr lang="en-US" altLang="en-US" sz="800" b="0">
                  <a:cs typeface="Arial" panose="020B0604020202020204" pitchFamily="34" charset="0"/>
                </a:rPr>
                <a:t>Card</a:t>
              </a:r>
            </a:p>
            <a:p>
              <a:pPr algn="ctr" eaLnBrk="1" hangingPunct="1">
                <a:lnSpc>
                  <a:spcPct val="100000"/>
                </a:lnSpc>
                <a:spcBef>
                  <a:spcPct val="0"/>
                </a:spcBef>
                <a:spcAft>
                  <a:spcPct val="0"/>
                </a:spcAft>
                <a:buClrTx/>
                <a:buSzTx/>
                <a:buFontTx/>
                <a:buNone/>
              </a:pPr>
              <a:r>
                <a:rPr lang="en-US" altLang="en-US" sz="800" b="0">
                  <a:cs typeface="Arial" panose="020B0604020202020204" pitchFamily="34" charset="0"/>
                </a:rPr>
                <a:t>Applicant</a:t>
              </a:r>
            </a:p>
          </p:txBody>
        </p:sp>
        <p:graphicFrame>
          <p:nvGraphicFramePr>
            <p:cNvPr id="257" name="Object 465">
              <a:extLst>
                <a:ext uri="{FF2B5EF4-FFF2-40B4-BE49-F238E27FC236}">
                  <a16:creationId xmlns:a16="http://schemas.microsoft.com/office/drawing/2014/main" id="{0D1372F7-716A-25CA-C968-9A676B2E63C0}"/>
                </a:ext>
              </a:extLst>
            </p:cNvPr>
            <p:cNvGraphicFramePr>
              <a:graphicFrameLocks noChangeAspect="1"/>
            </p:cNvGraphicFramePr>
            <p:nvPr/>
          </p:nvGraphicFramePr>
          <p:xfrm>
            <a:off x="2516" y="1294"/>
            <a:ext cx="433" cy="492"/>
          </p:xfrm>
          <a:graphic>
            <a:graphicData uri="http://schemas.openxmlformats.org/presentationml/2006/ole">
              <mc:AlternateContent xmlns:mc="http://schemas.openxmlformats.org/markup-compatibility/2006">
                <mc:Choice xmlns:v="urn:schemas-microsoft-com:vml" Requires="v">
                  <p:oleObj name="Visio" r:id="rId3" imgW="698500" imgH="977900" progId="Visio.Drawing.11">
                    <p:embed/>
                  </p:oleObj>
                </mc:Choice>
                <mc:Fallback>
                  <p:oleObj name="Visio" r:id="rId3" imgW="698500" imgH="977900" progId="Visio.Drawing.11">
                    <p:embed/>
                    <p:pic>
                      <p:nvPicPr>
                        <p:cNvPr id="26795" name="Object 465">
                          <a:extLst>
                            <a:ext uri="{FF2B5EF4-FFF2-40B4-BE49-F238E27FC236}">
                              <a16:creationId xmlns:a16="http://schemas.microsoft.com/office/drawing/2014/main" id="{8DE59D88-6223-D940-6BD6-9DA50B094E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6" y="1294"/>
                          <a:ext cx="433" cy="4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258" name="Object 469">
            <a:extLst>
              <a:ext uri="{FF2B5EF4-FFF2-40B4-BE49-F238E27FC236}">
                <a16:creationId xmlns:a16="http://schemas.microsoft.com/office/drawing/2014/main" id="{238D7447-14F2-5B46-F2E6-C038E9E17F51}"/>
              </a:ext>
            </a:extLst>
          </p:cNvPr>
          <p:cNvGraphicFramePr>
            <a:graphicFrameLocks noChangeAspect="1"/>
          </p:cNvGraphicFramePr>
          <p:nvPr>
            <p:extLst>
              <p:ext uri="{D42A27DB-BD31-4B8C-83A1-F6EECF244321}">
                <p14:modId xmlns:p14="http://schemas.microsoft.com/office/powerpoint/2010/main" val="1068475095"/>
              </p:ext>
            </p:extLst>
          </p:nvPr>
        </p:nvGraphicFramePr>
        <p:xfrm>
          <a:off x="1510378" y="3273426"/>
          <a:ext cx="503237" cy="328612"/>
        </p:xfrm>
        <a:graphic>
          <a:graphicData uri="http://schemas.openxmlformats.org/presentationml/2006/ole">
            <mc:AlternateContent xmlns:mc="http://schemas.openxmlformats.org/markup-compatibility/2006">
              <mc:Choice xmlns:v="urn:schemas-microsoft-com:vml" Requires="v">
                <p:oleObj name="Visio" r:id="rId5" imgW="1435100" imgH="1765300" progId="Visio.Drawing.11">
                  <p:embed/>
                </p:oleObj>
              </mc:Choice>
              <mc:Fallback>
                <p:oleObj name="Visio" r:id="rId5" imgW="1435100" imgH="1765300" progId="Visio.Drawing.11">
                  <p:embed/>
                  <p:pic>
                    <p:nvPicPr>
                      <p:cNvPr id="26760" name="Object 469">
                        <a:extLst>
                          <a:ext uri="{FF2B5EF4-FFF2-40B4-BE49-F238E27FC236}">
                            <a16:creationId xmlns:a16="http://schemas.microsoft.com/office/drawing/2014/main" id="{89D0BCA7-6567-9957-7BF8-3EF1FFA793A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10378" y="3273426"/>
                        <a:ext cx="503237" cy="328612"/>
                      </a:xfrm>
                      <a:prstGeom prst="rect">
                        <a:avLst/>
                      </a:prstGeom>
                      <a:noFill/>
                      <a:ln>
                        <a:noFill/>
                      </a:ln>
                      <a:effectLst/>
                    </p:spPr>
                  </p:pic>
                </p:oleObj>
              </mc:Fallback>
            </mc:AlternateContent>
          </a:graphicData>
        </a:graphic>
      </p:graphicFrame>
      <p:sp>
        <p:nvSpPr>
          <p:cNvPr id="259" name="Text Box 470">
            <a:extLst>
              <a:ext uri="{FF2B5EF4-FFF2-40B4-BE49-F238E27FC236}">
                <a16:creationId xmlns:a16="http://schemas.microsoft.com/office/drawing/2014/main" id="{0BDEB12E-980C-4DEC-8748-0F58E5752013}"/>
              </a:ext>
            </a:extLst>
          </p:cNvPr>
          <p:cNvSpPr txBox="1">
            <a:spLocks noChangeArrowheads="1"/>
          </p:cNvSpPr>
          <p:nvPr/>
        </p:nvSpPr>
        <p:spPr bwMode="auto">
          <a:xfrm>
            <a:off x="1765965" y="3067051"/>
            <a:ext cx="630238"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685800" indent="-22860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00000"/>
              </a:lnSpc>
              <a:spcBef>
                <a:spcPct val="0"/>
              </a:spcBef>
              <a:spcAft>
                <a:spcPct val="0"/>
              </a:spcAft>
              <a:buClrTx/>
              <a:buSzTx/>
              <a:buFontTx/>
              <a:buNone/>
            </a:pPr>
            <a:r>
              <a:rPr lang="en-US" altLang="en-US" sz="600" b="0"/>
              <a:t>2X Daily</a:t>
            </a:r>
          </a:p>
        </p:txBody>
      </p:sp>
      <p:graphicFrame>
        <p:nvGraphicFramePr>
          <p:cNvPr id="260" name="Object 471">
            <a:extLst>
              <a:ext uri="{FF2B5EF4-FFF2-40B4-BE49-F238E27FC236}">
                <a16:creationId xmlns:a16="http://schemas.microsoft.com/office/drawing/2014/main" id="{ACBE7DE6-C2C9-6D04-34F2-6A6673260861}"/>
              </a:ext>
            </a:extLst>
          </p:cNvPr>
          <p:cNvGraphicFramePr>
            <a:graphicFrameLocks noChangeAspect="1"/>
          </p:cNvGraphicFramePr>
          <p:nvPr>
            <p:extLst>
              <p:ext uri="{D42A27DB-BD31-4B8C-83A1-F6EECF244321}">
                <p14:modId xmlns:p14="http://schemas.microsoft.com/office/powerpoint/2010/main" val="3279465238"/>
              </p:ext>
            </p:extLst>
          </p:nvPr>
        </p:nvGraphicFramePr>
        <p:xfrm>
          <a:off x="9368503" y="3367088"/>
          <a:ext cx="503237" cy="328613"/>
        </p:xfrm>
        <a:graphic>
          <a:graphicData uri="http://schemas.openxmlformats.org/presentationml/2006/ole">
            <mc:AlternateContent xmlns:mc="http://schemas.openxmlformats.org/markup-compatibility/2006">
              <mc:Choice xmlns:v="urn:schemas-microsoft-com:vml" Requires="v">
                <p:oleObj name="Visio" r:id="rId7" imgW="1435100" imgH="1765300" progId="Visio.Drawing.11">
                  <p:embed/>
                </p:oleObj>
              </mc:Choice>
              <mc:Fallback>
                <p:oleObj name="Visio" r:id="rId7" imgW="1435100" imgH="1765300" progId="Visio.Drawing.11">
                  <p:embed/>
                  <p:pic>
                    <p:nvPicPr>
                      <p:cNvPr id="26762" name="Object 471">
                        <a:extLst>
                          <a:ext uri="{FF2B5EF4-FFF2-40B4-BE49-F238E27FC236}">
                            <a16:creationId xmlns:a16="http://schemas.microsoft.com/office/drawing/2014/main" id="{368AEC14-82A5-983A-1E13-0AB0A7C86D4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68503" y="3367088"/>
                        <a:ext cx="503237" cy="328613"/>
                      </a:xfrm>
                      <a:prstGeom prst="rect">
                        <a:avLst/>
                      </a:prstGeom>
                      <a:noFill/>
                      <a:ln>
                        <a:noFill/>
                      </a:ln>
                      <a:effectLst/>
                    </p:spPr>
                  </p:pic>
                </p:oleObj>
              </mc:Fallback>
            </mc:AlternateContent>
          </a:graphicData>
        </a:graphic>
      </p:graphicFrame>
      <p:sp>
        <p:nvSpPr>
          <p:cNvPr id="261" name="Text Box 472">
            <a:extLst>
              <a:ext uri="{FF2B5EF4-FFF2-40B4-BE49-F238E27FC236}">
                <a16:creationId xmlns:a16="http://schemas.microsoft.com/office/drawing/2014/main" id="{8D428B0B-C7DD-BB44-4A37-C4FECD246F16}"/>
              </a:ext>
            </a:extLst>
          </p:cNvPr>
          <p:cNvSpPr txBox="1">
            <a:spLocks noChangeArrowheads="1"/>
          </p:cNvSpPr>
          <p:nvPr/>
        </p:nvSpPr>
        <p:spPr bwMode="auto">
          <a:xfrm>
            <a:off x="9152603" y="3160713"/>
            <a:ext cx="630237"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685800" indent="-22860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00000"/>
              </a:lnSpc>
              <a:spcBef>
                <a:spcPct val="0"/>
              </a:spcBef>
              <a:spcAft>
                <a:spcPct val="0"/>
              </a:spcAft>
              <a:buClrTx/>
              <a:buSzTx/>
              <a:buFontTx/>
              <a:buNone/>
            </a:pPr>
            <a:r>
              <a:rPr lang="en-US" altLang="en-US" sz="600" b="0"/>
              <a:t>2X Daily</a:t>
            </a:r>
          </a:p>
        </p:txBody>
      </p:sp>
      <p:sp>
        <p:nvSpPr>
          <p:cNvPr id="262" name="Text Box 499">
            <a:extLst>
              <a:ext uri="{FF2B5EF4-FFF2-40B4-BE49-F238E27FC236}">
                <a16:creationId xmlns:a16="http://schemas.microsoft.com/office/drawing/2014/main" id="{5396B426-A38F-287E-BE4F-E72E266C32B7}"/>
              </a:ext>
            </a:extLst>
          </p:cNvPr>
          <p:cNvSpPr txBox="1">
            <a:spLocks noChangeArrowheads="1"/>
          </p:cNvSpPr>
          <p:nvPr/>
        </p:nvSpPr>
        <p:spPr bwMode="auto">
          <a:xfrm>
            <a:off x="6831678" y="2798763"/>
            <a:ext cx="630237"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685800" indent="-22860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00000"/>
              </a:lnSpc>
              <a:spcBef>
                <a:spcPct val="0"/>
              </a:spcBef>
              <a:spcAft>
                <a:spcPct val="0"/>
              </a:spcAft>
              <a:buClrTx/>
              <a:buSzTx/>
              <a:buFontTx/>
              <a:buNone/>
            </a:pPr>
            <a:r>
              <a:rPr lang="en-US" altLang="en-US" sz="600" b="0"/>
              <a:t>Reject Letter</a:t>
            </a:r>
          </a:p>
        </p:txBody>
      </p:sp>
      <p:sp>
        <p:nvSpPr>
          <p:cNvPr id="263" name="Text Box 500">
            <a:extLst>
              <a:ext uri="{FF2B5EF4-FFF2-40B4-BE49-F238E27FC236}">
                <a16:creationId xmlns:a16="http://schemas.microsoft.com/office/drawing/2014/main" id="{D56558BD-4ACD-B4F3-1995-2ED3DCCB2D81}"/>
              </a:ext>
            </a:extLst>
          </p:cNvPr>
          <p:cNvSpPr txBox="1">
            <a:spLocks noChangeArrowheads="1"/>
          </p:cNvSpPr>
          <p:nvPr/>
        </p:nvSpPr>
        <p:spPr bwMode="auto">
          <a:xfrm>
            <a:off x="8249314" y="1384301"/>
            <a:ext cx="2236089" cy="313932"/>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r>
              <a:rPr lang="en-US" altLang="en-US" b="0" u="sng" dirty="0"/>
              <a:t>Information Flow</a:t>
            </a:r>
          </a:p>
        </p:txBody>
      </p:sp>
      <p:grpSp>
        <p:nvGrpSpPr>
          <p:cNvPr id="264" name="Group 503">
            <a:extLst>
              <a:ext uri="{FF2B5EF4-FFF2-40B4-BE49-F238E27FC236}">
                <a16:creationId xmlns:a16="http://schemas.microsoft.com/office/drawing/2014/main" id="{16125E48-E00E-600A-1299-E4945AC374CB}"/>
              </a:ext>
            </a:extLst>
          </p:cNvPr>
          <p:cNvGrpSpPr>
            <a:grpSpLocks/>
          </p:cNvGrpSpPr>
          <p:nvPr/>
        </p:nvGrpSpPr>
        <p:grpSpPr bwMode="auto">
          <a:xfrm flipH="1" flipV="1">
            <a:off x="6641178" y="3700463"/>
            <a:ext cx="941387" cy="519113"/>
            <a:chOff x="1065" y="1628"/>
            <a:chExt cx="780" cy="1403"/>
          </a:xfrm>
        </p:grpSpPr>
        <p:cxnSp>
          <p:nvCxnSpPr>
            <p:cNvPr id="265" name="AutoShape 504">
              <a:extLst>
                <a:ext uri="{FF2B5EF4-FFF2-40B4-BE49-F238E27FC236}">
                  <a16:creationId xmlns:a16="http://schemas.microsoft.com/office/drawing/2014/main" id="{A18F2286-C30E-197D-6FD5-D7DE9997FEB0}"/>
                </a:ext>
              </a:extLst>
            </p:cNvPr>
            <p:cNvCxnSpPr>
              <a:cxnSpLocks noChangeShapeType="1"/>
            </p:cNvCxnSpPr>
            <p:nvPr/>
          </p:nvCxnSpPr>
          <p:spPr bwMode="auto">
            <a:xfrm flipH="1">
              <a:off x="1472" y="1628"/>
              <a:ext cx="373" cy="54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 name="AutoShape 505">
              <a:extLst>
                <a:ext uri="{FF2B5EF4-FFF2-40B4-BE49-F238E27FC236}">
                  <a16:creationId xmlns:a16="http://schemas.microsoft.com/office/drawing/2014/main" id="{5B439DBF-68CB-7236-160B-93FA744DB63C}"/>
                </a:ext>
              </a:extLst>
            </p:cNvPr>
            <p:cNvCxnSpPr>
              <a:cxnSpLocks noChangeShapeType="1"/>
            </p:cNvCxnSpPr>
            <p:nvPr/>
          </p:nvCxnSpPr>
          <p:spPr bwMode="auto">
            <a:xfrm>
              <a:off x="1469" y="2172"/>
              <a:ext cx="144" cy="8"/>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7" name="AutoShape 506">
              <a:extLst>
                <a:ext uri="{FF2B5EF4-FFF2-40B4-BE49-F238E27FC236}">
                  <a16:creationId xmlns:a16="http://schemas.microsoft.com/office/drawing/2014/main" id="{60677283-8CE5-CA81-46DB-3F47538734F7}"/>
                </a:ext>
              </a:extLst>
            </p:cNvPr>
            <p:cNvCxnSpPr>
              <a:cxnSpLocks noChangeShapeType="1"/>
            </p:cNvCxnSpPr>
            <p:nvPr/>
          </p:nvCxnSpPr>
          <p:spPr bwMode="auto">
            <a:xfrm flipH="1">
              <a:off x="1065" y="2175"/>
              <a:ext cx="552" cy="856"/>
            </a:xfrm>
            <a:prstGeom prst="straightConnector1">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68" name="Group 507">
            <a:extLst>
              <a:ext uri="{FF2B5EF4-FFF2-40B4-BE49-F238E27FC236}">
                <a16:creationId xmlns:a16="http://schemas.microsoft.com/office/drawing/2014/main" id="{C074C138-BC09-2677-CDDC-8ADC1C953AEA}"/>
              </a:ext>
            </a:extLst>
          </p:cNvPr>
          <p:cNvGrpSpPr>
            <a:grpSpLocks/>
          </p:cNvGrpSpPr>
          <p:nvPr/>
        </p:nvGrpSpPr>
        <p:grpSpPr bwMode="auto">
          <a:xfrm flipH="1" flipV="1">
            <a:off x="7612728" y="4414838"/>
            <a:ext cx="103187" cy="385763"/>
            <a:chOff x="1065" y="1628"/>
            <a:chExt cx="780" cy="1403"/>
          </a:xfrm>
        </p:grpSpPr>
        <p:cxnSp>
          <p:nvCxnSpPr>
            <p:cNvPr id="269" name="AutoShape 508">
              <a:extLst>
                <a:ext uri="{FF2B5EF4-FFF2-40B4-BE49-F238E27FC236}">
                  <a16:creationId xmlns:a16="http://schemas.microsoft.com/office/drawing/2014/main" id="{C741D1B9-5C99-9E69-7258-254DF29ABC5C}"/>
                </a:ext>
              </a:extLst>
            </p:cNvPr>
            <p:cNvCxnSpPr>
              <a:cxnSpLocks noChangeShapeType="1"/>
            </p:cNvCxnSpPr>
            <p:nvPr/>
          </p:nvCxnSpPr>
          <p:spPr bwMode="auto">
            <a:xfrm flipH="1">
              <a:off x="1472" y="1628"/>
              <a:ext cx="373" cy="54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0" name="AutoShape 509">
              <a:extLst>
                <a:ext uri="{FF2B5EF4-FFF2-40B4-BE49-F238E27FC236}">
                  <a16:creationId xmlns:a16="http://schemas.microsoft.com/office/drawing/2014/main" id="{54133384-129D-FABB-92EC-4AEF27DA2414}"/>
                </a:ext>
              </a:extLst>
            </p:cNvPr>
            <p:cNvCxnSpPr>
              <a:cxnSpLocks noChangeShapeType="1"/>
            </p:cNvCxnSpPr>
            <p:nvPr/>
          </p:nvCxnSpPr>
          <p:spPr bwMode="auto">
            <a:xfrm>
              <a:off x="1469" y="2172"/>
              <a:ext cx="144" cy="8"/>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1" name="AutoShape 510">
              <a:extLst>
                <a:ext uri="{FF2B5EF4-FFF2-40B4-BE49-F238E27FC236}">
                  <a16:creationId xmlns:a16="http://schemas.microsoft.com/office/drawing/2014/main" id="{A3E08B58-22A3-D93E-2050-FD1C9562D816}"/>
                </a:ext>
              </a:extLst>
            </p:cNvPr>
            <p:cNvCxnSpPr>
              <a:cxnSpLocks noChangeShapeType="1"/>
            </p:cNvCxnSpPr>
            <p:nvPr/>
          </p:nvCxnSpPr>
          <p:spPr bwMode="auto">
            <a:xfrm flipH="1">
              <a:off x="1065" y="2175"/>
              <a:ext cx="552" cy="856"/>
            </a:xfrm>
            <a:prstGeom prst="straightConnector1">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72" name="Rectangle 511">
            <a:extLst>
              <a:ext uri="{FF2B5EF4-FFF2-40B4-BE49-F238E27FC236}">
                <a16:creationId xmlns:a16="http://schemas.microsoft.com/office/drawing/2014/main" id="{80BABC8B-ACD9-4CDF-E994-DA5C5097B064}"/>
              </a:ext>
            </a:extLst>
          </p:cNvPr>
          <p:cNvSpPr>
            <a:spLocks noChangeArrowheads="1"/>
          </p:cNvSpPr>
          <p:nvPr/>
        </p:nvSpPr>
        <p:spPr bwMode="auto">
          <a:xfrm>
            <a:off x="5244178" y="3057526"/>
            <a:ext cx="792162" cy="501650"/>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273" name="Group 512">
            <a:extLst>
              <a:ext uri="{FF2B5EF4-FFF2-40B4-BE49-F238E27FC236}">
                <a16:creationId xmlns:a16="http://schemas.microsoft.com/office/drawing/2014/main" id="{AFCE806E-39D3-7E62-9149-32E07CBE0948}"/>
              </a:ext>
            </a:extLst>
          </p:cNvPr>
          <p:cNvGrpSpPr>
            <a:grpSpLocks/>
          </p:cNvGrpSpPr>
          <p:nvPr/>
        </p:nvGrpSpPr>
        <p:grpSpPr bwMode="auto">
          <a:xfrm flipV="1">
            <a:off x="5747415" y="3557588"/>
            <a:ext cx="547688" cy="487363"/>
            <a:chOff x="636" y="2054"/>
            <a:chExt cx="200" cy="298"/>
          </a:xfrm>
        </p:grpSpPr>
        <p:sp>
          <p:nvSpPr>
            <p:cNvPr id="274" name="Line 513">
              <a:extLst>
                <a:ext uri="{FF2B5EF4-FFF2-40B4-BE49-F238E27FC236}">
                  <a16:creationId xmlns:a16="http://schemas.microsoft.com/office/drawing/2014/main" id="{D67DE334-8C3F-DC76-B846-3A56BE77B839}"/>
                </a:ext>
              </a:extLst>
            </p:cNvPr>
            <p:cNvSpPr>
              <a:spLocks noChangeShapeType="1"/>
            </p:cNvSpPr>
            <p:nvPr/>
          </p:nvSpPr>
          <p:spPr bwMode="auto">
            <a:xfrm flipV="1">
              <a:off x="740" y="2054"/>
              <a:ext cx="96" cy="192"/>
            </a:xfrm>
            <a:prstGeom prst="line">
              <a:avLst/>
            </a:prstGeom>
            <a:noFill/>
            <a:ln w="12700" cap="sq">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75" name="Line 514">
              <a:extLst>
                <a:ext uri="{FF2B5EF4-FFF2-40B4-BE49-F238E27FC236}">
                  <a16:creationId xmlns:a16="http://schemas.microsoft.com/office/drawing/2014/main" id="{CE363322-ED9F-F2E1-7A99-6F8BD7D2010B}"/>
                </a:ext>
              </a:extLst>
            </p:cNvPr>
            <p:cNvSpPr>
              <a:spLocks noChangeShapeType="1"/>
            </p:cNvSpPr>
            <p:nvPr/>
          </p:nvSpPr>
          <p:spPr bwMode="auto">
            <a:xfrm>
              <a:off x="732" y="2160"/>
              <a:ext cx="6" cy="90"/>
            </a:xfrm>
            <a:prstGeom prst="line">
              <a:avLst/>
            </a:prstGeom>
            <a:noFill/>
            <a:ln w="12700" cap="sq">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76" name="Line 515">
              <a:extLst>
                <a:ext uri="{FF2B5EF4-FFF2-40B4-BE49-F238E27FC236}">
                  <a16:creationId xmlns:a16="http://schemas.microsoft.com/office/drawing/2014/main" id="{23BEC748-7320-D8A9-5176-D23955DC065D}"/>
                </a:ext>
              </a:extLst>
            </p:cNvPr>
            <p:cNvSpPr>
              <a:spLocks noChangeShapeType="1"/>
            </p:cNvSpPr>
            <p:nvPr/>
          </p:nvSpPr>
          <p:spPr bwMode="auto">
            <a:xfrm flipV="1">
              <a:off x="636" y="2160"/>
              <a:ext cx="96" cy="192"/>
            </a:xfrm>
            <a:prstGeom prst="line">
              <a:avLst/>
            </a:prstGeom>
            <a:noFill/>
            <a:ln w="12700" cap="sq">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277" name="Rectangle 516">
            <a:extLst>
              <a:ext uri="{FF2B5EF4-FFF2-40B4-BE49-F238E27FC236}">
                <a16:creationId xmlns:a16="http://schemas.microsoft.com/office/drawing/2014/main" id="{BD3462CB-D570-D6FC-73FB-B3C8C0F72E40}"/>
              </a:ext>
            </a:extLst>
          </p:cNvPr>
          <p:cNvSpPr>
            <a:spLocks noChangeArrowheads="1"/>
          </p:cNvSpPr>
          <p:nvPr/>
        </p:nvSpPr>
        <p:spPr bwMode="auto">
          <a:xfrm>
            <a:off x="5009228" y="3071813"/>
            <a:ext cx="1249362"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600">
                <a:cs typeface="Arial" panose="020B0604020202020204" pitchFamily="34" charset="0"/>
              </a:rPr>
              <a:t>Central Data Base</a:t>
            </a:r>
          </a:p>
        </p:txBody>
      </p:sp>
      <p:grpSp>
        <p:nvGrpSpPr>
          <p:cNvPr id="278" name="Group 517">
            <a:extLst>
              <a:ext uri="{FF2B5EF4-FFF2-40B4-BE49-F238E27FC236}">
                <a16:creationId xmlns:a16="http://schemas.microsoft.com/office/drawing/2014/main" id="{E22DF4BE-C14B-B80A-2103-B8C2A8DE3188}"/>
              </a:ext>
            </a:extLst>
          </p:cNvPr>
          <p:cNvGrpSpPr>
            <a:grpSpLocks/>
          </p:cNvGrpSpPr>
          <p:nvPr/>
        </p:nvGrpSpPr>
        <p:grpSpPr bwMode="auto">
          <a:xfrm>
            <a:off x="5056853" y="3570288"/>
            <a:ext cx="509587" cy="487363"/>
            <a:chOff x="636" y="2054"/>
            <a:chExt cx="200" cy="298"/>
          </a:xfrm>
        </p:grpSpPr>
        <p:sp>
          <p:nvSpPr>
            <p:cNvPr id="279" name="Line 518">
              <a:extLst>
                <a:ext uri="{FF2B5EF4-FFF2-40B4-BE49-F238E27FC236}">
                  <a16:creationId xmlns:a16="http://schemas.microsoft.com/office/drawing/2014/main" id="{47CAA48F-23D9-3299-C4F6-08FF31A7B5A3}"/>
                </a:ext>
              </a:extLst>
            </p:cNvPr>
            <p:cNvSpPr>
              <a:spLocks noChangeShapeType="1"/>
            </p:cNvSpPr>
            <p:nvPr/>
          </p:nvSpPr>
          <p:spPr bwMode="auto">
            <a:xfrm flipV="1">
              <a:off x="740" y="2054"/>
              <a:ext cx="96" cy="192"/>
            </a:xfrm>
            <a:prstGeom prst="line">
              <a:avLst/>
            </a:prstGeom>
            <a:noFill/>
            <a:ln w="12700" cap="sq">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80" name="Line 519">
              <a:extLst>
                <a:ext uri="{FF2B5EF4-FFF2-40B4-BE49-F238E27FC236}">
                  <a16:creationId xmlns:a16="http://schemas.microsoft.com/office/drawing/2014/main" id="{837167E9-CB40-D155-5BFB-6828EFF4F1B8}"/>
                </a:ext>
              </a:extLst>
            </p:cNvPr>
            <p:cNvSpPr>
              <a:spLocks noChangeShapeType="1"/>
            </p:cNvSpPr>
            <p:nvPr/>
          </p:nvSpPr>
          <p:spPr bwMode="auto">
            <a:xfrm>
              <a:off x="732" y="2160"/>
              <a:ext cx="6" cy="90"/>
            </a:xfrm>
            <a:prstGeom prst="line">
              <a:avLst/>
            </a:prstGeom>
            <a:noFill/>
            <a:ln w="12700" cap="sq">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81" name="Line 520">
              <a:extLst>
                <a:ext uri="{FF2B5EF4-FFF2-40B4-BE49-F238E27FC236}">
                  <a16:creationId xmlns:a16="http://schemas.microsoft.com/office/drawing/2014/main" id="{A05DDB84-EEA6-C914-BE76-730235FE15E5}"/>
                </a:ext>
              </a:extLst>
            </p:cNvPr>
            <p:cNvSpPr>
              <a:spLocks noChangeShapeType="1"/>
            </p:cNvSpPr>
            <p:nvPr/>
          </p:nvSpPr>
          <p:spPr bwMode="auto">
            <a:xfrm flipV="1">
              <a:off x="636" y="2160"/>
              <a:ext cx="96" cy="192"/>
            </a:xfrm>
            <a:prstGeom prst="line">
              <a:avLst/>
            </a:prstGeom>
            <a:noFill/>
            <a:ln w="12700" cap="sq">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sp>
        <p:nvSpPr>
          <p:cNvPr id="282" name="Rectangle 521">
            <a:extLst>
              <a:ext uri="{FF2B5EF4-FFF2-40B4-BE49-F238E27FC236}">
                <a16:creationId xmlns:a16="http://schemas.microsoft.com/office/drawing/2014/main" id="{5247DE4C-6C26-64B8-E8B8-F50E40C5A640}"/>
              </a:ext>
            </a:extLst>
          </p:cNvPr>
          <p:cNvSpPr>
            <a:spLocks noChangeArrowheads="1"/>
          </p:cNvSpPr>
          <p:nvPr/>
        </p:nvSpPr>
        <p:spPr bwMode="auto">
          <a:xfrm>
            <a:off x="5047328" y="3363913"/>
            <a:ext cx="1173162"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600" b="0">
                <a:cs typeface="Arial" panose="020B0604020202020204" pitchFamily="34" charset="0"/>
              </a:rPr>
              <a:t>Credit Check</a:t>
            </a:r>
          </a:p>
        </p:txBody>
      </p:sp>
      <p:sp>
        <p:nvSpPr>
          <p:cNvPr id="283" name="Line 522">
            <a:extLst>
              <a:ext uri="{FF2B5EF4-FFF2-40B4-BE49-F238E27FC236}">
                <a16:creationId xmlns:a16="http://schemas.microsoft.com/office/drawing/2014/main" id="{5F7901E6-4EF2-2EC8-3573-267EE9EBEE63}"/>
              </a:ext>
            </a:extLst>
          </p:cNvPr>
          <p:cNvSpPr>
            <a:spLocks noChangeShapeType="1"/>
          </p:cNvSpPr>
          <p:nvPr/>
        </p:nvSpPr>
        <p:spPr bwMode="auto">
          <a:xfrm flipV="1">
            <a:off x="5234653" y="3232151"/>
            <a:ext cx="793750" cy="3175"/>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284" name="Group 523">
            <a:extLst>
              <a:ext uri="{FF2B5EF4-FFF2-40B4-BE49-F238E27FC236}">
                <a16:creationId xmlns:a16="http://schemas.microsoft.com/office/drawing/2014/main" id="{314D42D1-C634-11AF-D476-F1D20A6B6528}"/>
              </a:ext>
            </a:extLst>
          </p:cNvPr>
          <p:cNvGrpSpPr>
            <a:grpSpLocks/>
          </p:cNvGrpSpPr>
          <p:nvPr/>
        </p:nvGrpSpPr>
        <p:grpSpPr bwMode="auto">
          <a:xfrm>
            <a:off x="6052215" y="2879726"/>
            <a:ext cx="865188" cy="334962"/>
            <a:chOff x="636" y="2054"/>
            <a:chExt cx="200" cy="298"/>
          </a:xfrm>
        </p:grpSpPr>
        <p:sp>
          <p:nvSpPr>
            <p:cNvPr id="285" name="Line 524">
              <a:extLst>
                <a:ext uri="{FF2B5EF4-FFF2-40B4-BE49-F238E27FC236}">
                  <a16:creationId xmlns:a16="http://schemas.microsoft.com/office/drawing/2014/main" id="{27A0CB85-35D6-17FC-21B1-547C545D9E24}"/>
                </a:ext>
              </a:extLst>
            </p:cNvPr>
            <p:cNvSpPr>
              <a:spLocks noChangeShapeType="1"/>
            </p:cNvSpPr>
            <p:nvPr/>
          </p:nvSpPr>
          <p:spPr bwMode="auto">
            <a:xfrm flipV="1">
              <a:off x="740" y="2054"/>
              <a:ext cx="96" cy="192"/>
            </a:xfrm>
            <a:prstGeom prst="line">
              <a:avLst/>
            </a:prstGeom>
            <a:noFill/>
            <a:ln w="12700" cap="sq">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86" name="Line 525">
              <a:extLst>
                <a:ext uri="{FF2B5EF4-FFF2-40B4-BE49-F238E27FC236}">
                  <a16:creationId xmlns:a16="http://schemas.microsoft.com/office/drawing/2014/main" id="{74A46DA5-2621-4D56-BEE4-CD9FB1F3064E}"/>
                </a:ext>
              </a:extLst>
            </p:cNvPr>
            <p:cNvSpPr>
              <a:spLocks noChangeShapeType="1"/>
            </p:cNvSpPr>
            <p:nvPr/>
          </p:nvSpPr>
          <p:spPr bwMode="auto">
            <a:xfrm>
              <a:off x="732" y="2160"/>
              <a:ext cx="6" cy="90"/>
            </a:xfrm>
            <a:prstGeom prst="line">
              <a:avLst/>
            </a:prstGeom>
            <a:noFill/>
            <a:ln w="12700" cap="sq">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87" name="Line 526">
              <a:extLst>
                <a:ext uri="{FF2B5EF4-FFF2-40B4-BE49-F238E27FC236}">
                  <a16:creationId xmlns:a16="http://schemas.microsoft.com/office/drawing/2014/main" id="{9000E8BA-CD52-3ED4-2455-A56D2DB4BA56}"/>
                </a:ext>
              </a:extLst>
            </p:cNvPr>
            <p:cNvSpPr>
              <a:spLocks noChangeShapeType="1"/>
            </p:cNvSpPr>
            <p:nvPr/>
          </p:nvSpPr>
          <p:spPr bwMode="auto">
            <a:xfrm flipV="1">
              <a:off x="636" y="2160"/>
              <a:ext cx="96" cy="192"/>
            </a:xfrm>
            <a:prstGeom prst="line">
              <a:avLst/>
            </a:prstGeom>
            <a:noFill/>
            <a:ln w="12700" cap="sq">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288" name="Group 531">
            <a:extLst>
              <a:ext uri="{FF2B5EF4-FFF2-40B4-BE49-F238E27FC236}">
                <a16:creationId xmlns:a16="http://schemas.microsoft.com/office/drawing/2014/main" id="{DA60805C-817D-F8B0-BBD4-78E5AEB7405D}"/>
              </a:ext>
            </a:extLst>
          </p:cNvPr>
          <p:cNvGrpSpPr>
            <a:grpSpLocks/>
          </p:cNvGrpSpPr>
          <p:nvPr/>
        </p:nvGrpSpPr>
        <p:grpSpPr bwMode="auto">
          <a:xfrm>
            <a:off x="7398415" y="2892426"/>
            <a:ext cx="1963738" cy="1146175"/>
            <a:chOff x="3850" y="1857"/>
            <a:chExt cx="1237" cy="722"/>
          </a:xfrm>
        </p:grpSpPr>
        <p:sp>
          <p:nvSpPr>
            <p:cNvPr id="289" name="Line 528">
              <a:extLst>
                <a:ext uri="{FF2B5EF4-FFF2-40B4-BE49-F238E27FC236}">
                  <a16:creationId xmlns:a16="http://schemas.microsoft.com/office/drawing/2014/main" id="{1D0C2C65-43B5-AB72-6575-CEA018D25318}"/>
                </a:ext>
              </a:extLst>
            </p:cNvPr>
            <p:cNvSpPr>
              <a:spLocks noChangeShapeType="1"/>
            </p:cNvSpPr>
            <p:nvPr/>
          </p:nvSpPr>
          <p:spPr bwMode="auto">
            <a:xfrm>
              <a:off x="4469" y="2157"/>
              <a:ext cx="618" cy="422"/>
            </a:xfrm>
            <a:prstGeom prst="line">
              <a:avLst/>
            </a:prstGeom>
            <a:noFill/>
            <a:ln w="12700" cap="sq">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90" name="Line 529">
              <a:extLst>
                <a:ext uri="{FF2B5EF4-FFF2-40B4-BE49-F238E27FC236}">
                  <a16:creationId xmlns:a16="http://schemas.microsoft.com/office/drawing/2014/main" id="{50BB3382-FED2-D920-F1AA-5360E68A5520}"/>
                </a:ext>
              </a:extLst>
            </p:cNvPr>
            <p:cNvSpPr>
              <a:spLocks noChangeShapeType="1"/>
            </p:cNvSpPr>
            <p:nvPr/>
          </p:nvSpPr>
          <p:spPr bwMode="auto">
            <a:xfrm flipV="1">
              <a:off x="4472" y="2157"/>
              <a:ext cx="168" cy="0"/>
            </a:xfrm>
            <a:prstGeom prst="line">
              <a:avLst/>
            </a:prstGeom>
            <a:noFill/>
            <a:ln w="12700" cap="sq">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91" name="Line 530">
              <a:extLst>
                <a:ext uri="{FF2B5EF4-FFF2-40B4-BE49-F238E27FC236}">
                  <a16:creationId xmlns:a16="http://schemas.microsoft.com/office/drawing/2014/main" id="{8328C33B-32BB-D553-955D-1BBC1D9D195E}"/>
                </a:ext>
              </a:extLst>
            </p:cNvPr>
            <p:cNvSpPr>
              <a:spLocks noChangeShapeType="1"/>
            </p:cNvSpPr>
            <p:nvPr/>
          </p:nvSpPr>
          <p:spPr bwMode="auto">
            <a:xfrm>
              <a:off x="3850" y="1857"/>
              <a:ext cx="795" cy="300"/>
            </a:xfrm>
            <a:prstGeom prst="line">
              <a:avLst/>
            </a:prstGeom>
            <a:noFill/>
            <a:ln w="12700" cap="sq">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304" name="Title 1">
            <a:extLst>
              <a:ext uri="{FF2B5EF4-FFF2-40B4-BE49-F238E27FC236}">
                <a16:creationId xmlns:a16="http://schemas.microsoft.com/office/drawing/2014/main" id="{2E8D6FDF-A8F1-9773-8B7D-2855C7366FD8}"/>
              </a:ext>
            </a:extLst>
          </p:cNvPr>
          <p:cNvSpPr txBox="1">
            <a:spLocks/>
          </p:cNvSpPr>
          <p:nvPr/>
        </p:nvSpPr>
        <p:spPr>
          <a:xfrm>
            <a:off x="838200" y="681037"/>
            <a:ext cx="10515600" cy="1009651"/>
          </a:xfrm>
          <a:prstGeom prst="rect">
            <a:avLst/>
          </a:prstGeom>
        </p:spPr>
        <p:txBody>
          <a:bodyPr>
            <a:normAutofit/>
          </a:bodyPr>
          <a:lst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a:lstStyle>
          <a:p>
            <a:pPr>
              <a:lnSpc>
                <a:spcPct val="80000"/>
              </a:lnSpc>
              <a:spcAft>
                <a:spcPct val="0"/>
              </a:spcAft>
            </a:pPr>
            <a:r>
              <a:rPr lang="en-US" altLang="en-US" sz="3200" dirty="0"/>
              <a:t>Carl's Credit Cards Current State Map</a:t>
            </a:r>
          </a:p>
        </p:txBody>
      </p:sp>
      <p:sp>
        <p:nvSpPr>
          <p:cNvPr id="292" name="TextBox 291">
            <a:extLst>
              <a:ext uri="{FF2B5EF4-FFF2-40B4-BE49-F238E27FC236}">
                <a16:creationId xmlns:a16="http://schemas.microsoft.com/office/drawing/2014/main" id="{B7796488-0644-2519-F26D-1A27E5E8A8BD}"/>
              </a:ext>
            </a:extLst>
          </p:cNvPr>
          <p:cNvSpPr txBox="1"/>
          <p:nvPr/>
        </p:nvSpPr>
        <p:spPr>
          <a:xfrm>
            <a:off x="2592050" y="291161"/>
            <a:ext cx="2917371" cy="307777"/>
          </a:xfrm>
          <a:prstGeom prst="rect">
            <a:avLst/>
          </a:prstGeom>
          <a:noFill/>
        </p:spPr>
        <p:txBody>
          <a:bodyPr wrap="square" rtlCol="0">
            <a:spAutoFit/>
          </a:bodyPr>
          <a:lstStyle/>
          <a:p>
            <a:r>
              <a:rPr lang="en-US" sz="14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Create Current State Map</a:t>
            </a:r>
          </a:p>
        </p:txBody>
      </p:sp>
      <p:sp>
        <p:nvSpPr>
          <p:cNvPr id="294" name="AutoShape 9">
            <a:extLst>
              <a:ext uri="{FF2B5EF4-FFF2-40B4-BE49-F238E27FC236}">
                <a16:creationId xmlns:a16="http://schemas.microsoft.com/office/drawing/2014/main" id="{F49A7791-6E9D-54AB-DE06-EE968266C921}"/>
              </a:ext>
            </a:extLst>
          </p:cNvPr>
          <p:cNvSpPr>
            <a:spLocks noChangeArrowheads="1"/>
          </p:cNvSpPr>
          <p:nvPr/>
        </p:nvSpPr>
        <p:spPr bwMode="auto">
          <a:xfrm>
            <a:off x="2101274"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95" name="AutoShape 9">
            <a:extLst>
              <a:ext uri="{FF2B5EF4-FFF2-40B4-BE49-F238E27FC236}">
                <a16:creationId xmlns:a16="http://schemas.microsoft.com/office/drawing/2014/main" id="{72FEAB58-F765-253B-B0D4-B77CDE796AC2}"/>
              </a:ext>
            </a:extLst>
          </p:cNvPr>
          <p:cNvSpPr>
            <a:spLocks noChangeArrowheads="1"/>
          </p:cNvSpPr>
          <p:nvPr/>
        </p:nvSpPr>
        <p:spPr bwMode="auto">
          <a:xfrm>
            <a:off x="1796474"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96" name="AutoShape 9">
            <a:extLst>
              <a:ext uri="{FF2B5EF4-FFF2-40B4-BE49-F238E27FC236}">
                <a16:creationId xmlns:a16="http://schemas.microsoft.com/office/drawing/2014/main" id="{2D72E73B-1497-746C-085A-B56821766422}"/>
              </a:ext>
            </a:extLst>
          </p:cNvPr>
          <p:cNvSpPr>
            <a:spLocks noChangeArrowheads="1"/>
          </p:cNvSpPr>
          <p:nvPr/>
        </p:nvSpPr>
        <p:spPr bwMode="auto">
          <a:xfrm>
            <a:off x="1465549"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97" name="AutoShape 11">
            <a:extLst>
              <a:ext uri="{FF2B5EF4-FFF2-40B4-BE49-F238E27FC236}">
                <a16:creationId xmlns:a16="http://schemas.microsoft.com/office/drawing/2014/main" id="{AA613F3E-40FB-7B0C-A8EC-52BB4BC9A467}"/>
              </a:ext>
            </a:extLst>
          </p:cNvPr>
          <p:cNvSpPr>
            <a:spLocks noChangeArrowheads="1"/>
          </p:cNvSpPr>
          <p:nvPr/>
        </p:nvSpPr>
        <p:spPr bwMode="auto">
          <a:xfrm>
            <a:off x="1134084" y="291162"/>
            <a:ext cx="432817" cy="305738"/>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98" name="AutoShape 10">
            <a:extLst>
              <a:ext uri="{FF2B5EF4-FFF2-40B4-BE49-F238E27FC236}">
                <a16:creationId xmlns:a16="http://schemas.microsoft.com/office/drawing/2014/main" id="{F029027E-E8BB-8D78-E18D-86B9F4B7A927}"/>
              </a:ext>
            </a:extLst>
          </p:cNvPr>
          <p:cNvSpPr>
            <a:spLocks noChangeArrowheads="1"/>
          </p:cNvSpPr>
          <p:nvPr/>
        </p:nvSpPr>
        <p:spPr bwMode="auto">
          <a:xfrm>
            <a:off x="838199"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31403911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52992F-1E41-CEF5-67CE-D2E60DC42BF8}"/>
              </a:ext>
            </a:extLst>
          </p:cNvPr>
          <p:cNvSpPr>
            <a:spLocks noGrp="1"/>
          </p:cNvSpPr>
          <p:nvPr>
            <p:ph type="title"/>
          </p:nvPr>
        </p:nvSpPr>
        <p:spPr/>
        <p:txBody>
          <a:bodyPr/>
          <a:lstStyle/>
          <a:p>
            <a:r>
              <a:rPr lang="en-US" altLang="en-US" dirty="0"/>
              <a:t>Exercise: Carl’s Credit Cards</a:t>
            </a:r>
            <a:endParaRPr lang="en-US" dirty="0"/>
          </a:p>
        </p:txBody>
      </p:sp>
      <p:sp>
        <p:nvSpPr>
          <p:cNvPr id="4" name="Rectangle 3">
            <a:extLst>
              <a:ext uri="{FF2B5EF4-FFF2-40B4-BE49-F238E27FC236}">
                <a16:creationId xmlns:a16="http://schemas.microsoft.com/office/drawing/2014/main" id="{817E7460-1035-4C22-7769-B814F2BA6497}"/>
              </a:ext>
            </a:extLst>
          </p:cNvPr>
          <p:cNvSpPr>
            <a:spLocks noChangeArrowheads="1"/>
          </p:cNvSpPr>
          <p:nvPr/>
        </p:nvSpPr>
        <p:spPr bwMode="auto">
          <a:xfrm>
            <a:off x="6462712" y="4645026"/>
            <a:ext cx="4227096" cy="1676400"/>
          </a:xfrm>
          <a:prstGeom prst="rect">
            <a:avLst/>
          </a:prstGeom>
          <a:solidFill>
            <a:srgbClr val="EE3228"/>
          </a:solidFill>
          <a:ln w="19050" cap="rnd" algn="ctr">
            <a:solidFill>
              <a:schemeClr val="tx1"/>
            </a:solidFill>
            <a:prstDash val="sysDot"/>
            <a:miter lim="800000"/>
            <a:headEnd/>
            <a:tailEnd/>
          </a:ln>
          <a:effec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00000"/>
              </a:lnSpc>
              <a:spcBef>
                <a:spcPct val="30000"/>
              </a:spcBef>
              <a:spcAft>
                <a:spcPct val="0"/>
              </a:spcAft>
              <a:buClrTx/>
              <a:buSzTx/>
              <a:buFontTx/>
              <a:buNone/>
            </a:pPr>
            <a:r>
              <a:rPr lang="en-US" altLang="en-US" sz="1600" dirty="0">
                <a:solidFill>
                  <a:schemeClr val="bg1"/>
                </a:solidFill>
              </a:rPr>
              <a:t>One person from the </a:t>
            </a:r>
            <a:br>
              <a:rPr lang="en-US" altLang="en-US" sz="1600" dirty="0">
                <a:solidFill>
                  <a:schemeClr val="bg1"/>
                </a:solidFill>
              </a:rPr>
            </a:br>
            <a:r>
              <a:rPr lang="en-US" altLang="en-US" sz="1600" dirty="0">
                <a:solidFill>
                  <a:schemeClr val="bg1"/>
                </a:solidFill>
              </a:rPr>
              <a:t>team will present the </a:t>
            </a:r>
            <a:br>
              <a:rPr lang="en-US" altLang="en-US" sz="1600" dirty="0">
                <a:solidFill>
                  <a:schemeClr val="bg1"/>
                </a:solidFill>
              </a:rPr>
            </a:br>
            <a:r>
              <a:rPr lang="en-US" altLang="en-US" sz="1600" dirty="0">
                <a:solidFill>
                  <a:schemeClr val="bg1"/>
                </a:solidFill>
              </a:rPr>
              <a:t>map to the class. </a:t>
            </a:r>
          </a:p>
          <a:p>
            <a:pPr>
              <a:lnSpc>
                <a:spcPct val="100000"/>
              </a:lnSpc>
              <a:spcBef>
                <a:spcPct val="30000"/>
              </a:spcBef>
              <a:spcAft>
                <a:spcPct val="0"/>
              </a:spcAft>
              <a:buClrTx/>
              <a:buSzTx/>
              <a:buFontTx/>
              <a:buNone/>
            </a:pPr>
            <a:r>
              <a:rPr lang="en-US" altLang="en-US" sz="1600" dirty="0">
                <a:solidFill>
                  <a:schemeClr val="bg1"/>
                </a:solidFill>
              </a:rPr>
              <a:t>Comments and feedback </a:t>
            </a:r>
            <a:br>
              <a:rPr lang="en-US" altLang="en-US" sz="1600" dirty="0">
                <a:solidFill>
                  <a:schemeClr val="bg1"/>
                </a:solidFill>
              </a:rPr>
            </a:br>
            <a:r>
              <a:rPr lang="en-US" altLang="en-US" sz="1600" dirty="0">
                <a:solidFill>
                  <a:schemeClr val="bg1"/>
                </a:solidFill>
              </a:rPr>
              <a:t>will be encouraged.</a:t>
            </a:r>
          </a:p>
        </p:txBody>
      </p:sp>
      <p:sp>
        <p:nvSpPr>
          <p:cNvPr id="5" name="Rectangle 4">
            <a:extLst>
              <a:ext uri="{FF2B5EF4-FFF2-40B4-BE49-F238E27FC236}">
                <a16:creationId xmlns:a16="http://schemas.microsoft.com/office/drawing/2014/main" id="{B51FD39D-263A-552C-C0B6-A84EF31A044C}"/>
              </a:ext>
            </a:extLst>
          </p:cNvPr>
          <p:cNvSpPr>
            <a:spLocks noChangeArrowheads="1"/>
          </p:cNvSpPr>
          <p:nvPr/>
        </p:nvSpPr>
        <p:spPr bwMode="auto">
          <a:xfrm>
            <a:off x="6462712" y="3492501"/>
            <a:ext cx="4203712" cy="474662"/>
          </a:xfrm>
          <a:prstGeom prst="rect">
            <a:avLst/>
          </a:prstGeom>
          <a:solidFill>
            <a:srgbClr val="EE3228"/>
          </a:solidFill>
          <a:ln w="19050" cap="rnd" algn="ctr">
            <a:solidFill>
              <a:schemeClr val="tx1"/>
            </a:solidFill>
            <a:prstDash val="sysDot"/>
            <a:miter lim="800000"/>
            <a:headEnd/>
            <a:tailEnd/>
          </a:ln>
          <a:effec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80000"/>
              </a:lnSpc>
              <a:spcBef>
                <a:spcPct val="20000"/>
              </a:spcBef>
              <a:spcAft>
                <a:spcPct val="0"/>
              </a:spcAft>
              <a:buClrTx/>
              <a:buSzTx/>
              <a:buFontTx/>
              <a:buNone/>
            </a:pPr>
            <a:r>
              <a:rPr lang="en-US" altLang="en-US" sz="1600" dirty="0">
                <a:solidFill>
                  <a:schemeClr val="bg1"/>
                </a:solidFill>
              </a:rPr>
              <a:t>15 minutes</a:t>
            </a:r>
          </a:p>
        </p:txBody>
      </p:sp>
      <p:sp>
        <p:nvSpPr>
          <p:cNvPr id="6" name="Rectangle 5">
            <a:extLst>
              <a:ext uri="{FF2B5EF4-FFF2-40B4-BE49-F238E27FC236}">
                <a16:creationId xmlns:a16="http://schemas.microsoft.com/office/drawing/2014/main" id="{4BDB7BE8-E27F-04CF-1975-A8AD3D66A2B3}"/>
              </a:ext>
            </a:extLst>
          </p:cNvPr>
          <p:cNvSpPr>
            <a:spLocks noChangeArrowheads="1"/>
          </p:cNvSpPr>
          <p:nvPr/>
        </p:nvSpPr>
        <p:spPr bwMode="auto">
          <a:xfrm>
            <a:off x="844550" y="3468688"/>
            <a:ext cx="5251450" cy="2863850"/>
          </a:xfrm>
          <a:prstGeom prst="rect">
            <a:avLst/>
          </a:prstGeom>
          <a:solidFill>
            <a:srgbClr val="7F7F7F"/>
          </a:solidFill>
          <a:ln w="19050" cap="rnd" algn="ctr">
            <a:solidFill>
              <a:schemeClr val="tx1"/>
            </a:solidFill>
            <a:prstDash val="sysDot"/>
            <a:miter lim="800000"/>
            <a:headEnd/>
            <a:tailEnd/>
          </a:ln>
          <a:effectLst/>
        </p:spPr>
        <p:txBody>
          <a:bodyPr wrap="none" anchor="ctr"/>
          <a:lstStyle>
            <a:lvl1pPr marL="231775" indent="-231775">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685800" indent="-22860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00000"/>
              </a:lnSpc>
              <a:spcBef>
                <a:spcPct val="20000"/>
              </a:spcBef>
              <a:spcAft>
                <a:spcPct val="20000"/>
              </a:spcAft>
              <a:buClrTx/>
              <a:buSzTx/>
              <a:buFontTx/>
              <a:buNone/>
            </a:pPr>
            <a:r>
              <a:rPr lang="en-US" altLang="en-US" sz="1600" dirty="0">
                <a:solidFill>
                  <a:schemeClr val="bg1"/>
                </a:solidFill>
                <a:cs typeface="Arial" panose="020B0604020202020204" pitchFamily="34" charset="0"/>
              </a:rPr>
              <a:t>In teams, mark-up your Current State Map using </a:t>
            </a:r>
            <a:br>
              <a:rPr lang="en-US" altLang="en-US" sz="1600" dirty="0">
                <a:solidFill>
                  <a:schemeClr val="bg1"/>
                </a:solidFill>
                <a:cs typeface="Arial" panose="020B0604020202020204" pitchFamily="34" charset="0"/>
              </a:rPr>
            </a:br>
            <a:r>
              <a:rPr lang="en-US" altLang="en-US" sz="1600" dirty="0">
                <a:solidFill>
                  <a:srgbClr val="EE3228"/>
                </a:solidFill>
                <a:cs typeface="Arial" panose="020B0604020202020204" pitchFamily="34" charset="0"/>
              </a:rPr>
              <a:t>RED</a:t>
            </a:r>
            <a:r>
              <a:rPr lang="en-US" altLang="en-US" sz="1600" dirty="0">
                <a:solidFill>
                  <a:schemeClr val="bg1"/>
                </a:solidFill>
                <a:cs typeface="Arial" panose="020B0604020202020204" pitchFamily="34" charset="0"/>
              </a:rPr>
              <a:t> marker. Use the following questions:</a:t>
            </a:r>
          </a:p>
          <a:p>
            <a:pPr>
              <a:lnSpc>
                <a:spcPct val="100000"/>
              </a:lnSpc>
              <a:spcBef>
                <a:spcPct val="20000"/>
              </a:spcBef>
              <a:spcAft>
                <a:spcPct val="20000"/>
              </a:spcAft>
              <a:buClrTx/>
              <a:buSzTx/>
              <a:buFontTx/>
              <a:buNone/>
            </a:pPr>
            <a:r>
              <a:rPr lang="en-US" altLang="en-US" sz="1400" dirty="0">
                <a:solidFill>
                  <a:schemeClr val="bg1"/>
                </a:solidFill>
                <a:cs typeface="Arial" panose="020B0604020202020204" pitchFamily="34" charset="0"/>
              </a:rPr>
              <a:t>Is current process producing to takt time?</a:t>
            </a:r>
          </a:p>
          <a:p>
            <a:pPr>
              <a:lnSpc>
                <a:spcPct val="100000"/>
              </a:lnSpc>
              <a:spcBef>
                <a:spcPct val="20000"/>
              </a:spcBef>
              <a:spcAft>
                <a:spcPct val="20000"/>
              </a:spcAft>
              <a:buClrTx/>
              <a:buSzTx/>
              <a:buFontTx/>
              <a:buNone/>
            </a:pPr>
            <a:r>
              <a:rPr lang="en-US" altLang="en-US" sz="1400" dirty="0">
                <a:solidFill>
                  <a:schemeClr val="bg1"/>
                </a:solidFill>
                <a:cs typeface="Arial" panose="020B0604020202020204" pitchFamily="34" charset="0"/>
              </a:rPr>
              <a:t>Which processes can be coupled using continuous flow?</a:t>
            </a:r>
          </a:p>
          <a:p>
            <a:pPr>
              <a:lnSpc>
                <a:spcPct val="100000"/>
              </a:lnSpc>
              <a:spcBef>
                <a:spcPct val="20000"/>
              </a:spcBef>
              <a:spcAft>
                <a:spcPct val="20000"/>
              </a:spcAft>
              <a:buClrTx/>
              <a:buSzTx/>
              <a:buFontTx/>
              <a:buNone/>
            </a:pPr>
            <a:r>
              <a:rPr lang="en-US" altLang="en-US" sz="1400" dirty="0">
                <a:solidFill>
                  <a:schemeClr val="bg1"/>
                </a:solidFill>
                <a:cs typeface="Arial" panose="020B0604020202020204" pitchFamily="34" charset="0"/>
              </a:rPr>
              <a:t>Where can visually managed queues couple processes?</a:t>
            </a:r>
          </a:p>
          <a:p>
            <a:pPr>
              <a:lnSpc>
                <a:spcPct val="100000"/>
              </a:lnSpc>
              <a:spcBef>
                <a:spcPct val="20000"/>
              </a:spcBef>
              <a:spcAft>
                <a:spcPct val="20000"/>
              </a:spcAft>
              <a:buClrTx/>
              <a:buSzTx/>
              <a:buFontTx/>
              <a:buNone/>
            </a:pPr>
            <a:r>
              <a:rPr lang="en-US" altLang="en-US" sz="1400" dirty="0">
                <a:solidFill>
                  <a:schemeClr val="bg1"/>
                </a:solidFill>
                <a:cs typeface="Arial" panose="020B0604020202020204" pitchFamily="34" charset="0"/>
              </a:rPr>
              <a:t>Where are manpower improvement opportunities?</a:t>
            </a:r>
          </a:p>
          <a:p>
            <a:pPr>
              <a:lnSpc>
                <a:spcPct val="100000"/>
              </a:lnSpc>
              <a:spcBef>
                <a:spcPct val="20000"/>
              </a:spcBef>
              <a:spcAft>
                <a:spcPct val="20000"/>
              </a:spcAft>
              <a:buClrTx/>
              <a:buSzTx/>
              <a:buFontTx/>
              <a:buNone/>
            </a:pPr>
            <a:r>
              <a:rPr lang="en-US" altLang="en-US" sz="1400" dirty="0">
                <a:solidFill>
                  <a:schemeClr val="bg1"/>
                </a:solidFill>
                <a:cs typeface="Arial" panose="020B0604020202020204" pitchFamily="34" charset="0"/>
              </a:rPr>
              <a:t>Which processes need quality improvements</a:t>
            </a:r>
          </a:p>
          <a:p>
            <a:pPr>
              <a:lnSpc>
                <a:spcPct val="100000"/>
              </a:lnSpc>
              <a:spcBef>
                <a:spcPct val="20000"/>
              </a:spcBef>
              <a:spcAft>
                <a:spcPct val="20000"/>
              </a:spcAft>
              <a:buClrTx/>
              <a:buSzTx/>
              <a:buFontTx/>
              <a:buNone/>
            </a:pPr>
            <a:r>
              <a:rPr lang="en-US" altLang="en-US" sz="1400" dirty="0">
                <a:solidFill>
                  <a:schemeClr val="bg1"/>
                </a:solidFill>
                <a:cs typeface="Arial" panose="020B0604020202020204" pitchFamily="34" charset="0"/>
              </a:rPr>
              <a:t>What other information flow improvements are required?</a:t>
            </a:r>
          </a:p>
          <a:p>
            <a:pPr>
              <a:lnSpc>
                <a:spcPct val="100000"/>
              </a:lnSpc>
              <a:spcBef>
                <a:spcPct val="20000"/>
              </a:spcBef>
              <a:spcAft>
                <a:spcPct val="20000"/>
              </a:spcAft>
              <a:buClrTx/>
              <a:buSzTx/>
              <a:buFontTx/>
              <a:buNone/>
            </a:pPr>
            <a:r>
              <a:rPr lang="en-US" altLang="en-US" sz="1400" dirty="0">
                <a:solidFill>
                  <a:schemeClr val="bg1"/>
                </a:solidFill>
                <a:cs typeface="Arial" panose="020B0604020202020204" pitchFamily="34" charset="0"/>
              </a:rPr>
              <a:t>What other process improvements are required?</a:t>
            </a:r>
          </a:p>
        </p:txBody>
      </p:sp>
      <p:sp>
        <p:nvSpPr>
          <p:cNvPr id="7" name="Rectangle 6">
            <a:extLst>
              <a:ext uri="{FF2B5EF4-FFF2-40B4-BE49-F238E27FC236}">
                <a16:creationId xmlns:a16="http://schemas.microsoft.com/office/drawing/2014/main" id="{A63530FE-71DE-A1B7-FCDB-BA69328B5589}"/>
              </a:ext>
            </a:extLst>
          </p:cNvPr>
          <p:cNvSpPr>
            <a:spLocks noChangeArrowheads="1"/>
          </p:cNvSpPr>
          <p:nvPr/>
        </p:nvSpPr>
        <p:spPr bwMode="auto">
          <a:xfrm>
            <a:off x="838199" y="2149476"/>
            <a:ext cx="9851609" cy="723900"/>
          </a:xfrm>
          <a:prstGeom prst="rect">
            <a:avLst/>
          </a:prstGeom>
          <a:solidFill>
            <a:schemeClr val="accent1"/>
          </a:solidFill>
          <a:ln w="19050" cap="rnd" algn="ctr">
            <a:solidFill>
              <a:schemeClr val="tx1"/>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spcBef>
                <a:spcPct val="20000"/>
              </a:spcBef>
              <a:spcAft>
                <a:spcPct val="20000"/>
              </a:spcAft>
              <a:buClrTx/>
              <a:buSzTx/>
              <a:buFontTx/>
              <a:buNone/>
            </a:pPr>
            <a:r>
              <a:rPr lang="en-US" altLang="en-US" sz="1600" dirty="0">
                <a:solidFill>
                  <a:schemeClr val="bg1"/>
                </a:solidFill>
                <a:cs typeface="Arial" panose="020B0604020202020204" pitchFamily="34" charset="0"/>
              </a:rPr>
              <a:t>Create a marked-up Current State Map for Carl’s Credit Cards.  </a:t>
            </a:r>
          </a:p>
        </p:txBody>
      </p:sp>
      <p:sp>
        <p:nvSpPr>
          <p:cNvPr id="8" name="Text Box 7">
            <a:extLst>
              <a:ext uri="{FF2B5EF4-FFF2-40B4-BE49-F238E27FC236}">
                <a16:creationId xmlns:a16="http://schemas.microsoft.com/office/drawing/2014/main" id="{EF3BE886-338F-BFBE-77FF-982D0D084271}"/>
              </a:ext>
            </a:extLst>
          </p:cNvPr>
          <p:cNvSpPr txBox="1">
            <a:spLocks noChangeArrowheads="1"/>
          </p:cNvSpPr>
          <p:nvPr/>
        </p:nvSpPr>
        <p:spPr bwMode="auto">
          <a:xfrm>
            <a:off x="882650" y="1863726"/>
            <a:ext cx="1212850" cy="311150"/>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80000"/>
              </a:lnSpc>
              <a:spcBef>
                <a:spcPct val="20000"/>
              </a:spcBef>
              <a:spcAft>
                <a:spcPct val="0"/>
              </a:spcAft>
              <a:buClrTx/>
              <a:buSzTx/>
              <a:buFontTx/>
              <a:buNone/>
            </a:pPr>
            <a:r>
              <a:rPr lang="en-US" altLang="en-US" sz="1800" dirty="0"/>
              <a:t>Objective</a:t>
            </a:r>
          </a:p>
        </p:txBody>
      </p:sp>
      <p:sp>
        <p:nvSpPr>
          <p:cNvPr id="9" name="Text Box 8">
            <a:extLst>
              <a:ext uri="{FF2B5EF4-FFF2-40B4-BE49-F238E27FC236}">
                <a16:creationId xmlns:a16="http://schemas.microsoft.com/office/drawing/2014/main" id="{389DAB7E-FA3B-9841-EDB2-F26EB4D97428}"/>
              </a:ext>
            </a:extLst>
          </p:cNvPr>
          <p:cNvSpPr txBox="1">
            <a:spLocks noChangeArrowheads="1"/>
          </p:cNvSpPr>
          <p:nvPr/>
        </p:nvSpPr>
        <p:spPr bwMode="auto">
          <a:xfrm>
            <a:off x="892175" y="3003551"/>
            <a:ext cx="1492250" cy="311150"/>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80000"/>
              </a:lnSpc>
              <a:spcBef>
                <a:spcPct val="20000"/>
              </a:spcBef>
              <a:spcAft>
                <a:spcPct val="0"/>
              </a:spcAft>
              <a:buClrTx/>
              <a:buSzTx/>
              <a:buFontTx/>
              <a:buNone/>
            </a:pPr>
            <a:r>
              <a:rPr lang="en-US" altLang="en-US" sz="1800" dirty="0"/>
              <a:t>Instructions</a:t>
            </a:r>
          </a:p>
        </p:txBody>
      </p:sp>
      <p:sp>
        <p:nvSpPr>
          <p:cNvPr id="10" name="Text Box 9">
            <a:extLst>
              <a:ext uri="{FF2B5EF4-FFF2-40B4-BE49-F238E27FC236}">
                <a16:creationId xmlns:a16="http://schemas.microsoft.com/office/drawing/2014/main" id="{F33480A6-5E21-C381-FFB4-95170A7F6F16}"/>
              </a:ext>
            </a:extLst>
          </p:cNvPr>
          <p:cNvSpPr txBox="1">
            <a:spLocks noChangeArrowheads="1"/>
          </p:cNvSpPr>
          <p:nvPr/>
        </p:nvSpPr>
        <p:spPr bwMode="auto">
          <a:xfrm>
            <a:off x="6429375" y="3194051"/>
            <a:ext cx="2101850" cy="311150"/>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80000"/>
              </a:lnSpc>
              <a:spcBef>
                <a:spcPct val="20000"/>
              </a:spcBef>
              <a:spcAft>
                <a:spcPct val="0"/>
              </a:spcAft>
              <a:buClrTx/>
              <a:buSzTx/>
              <a:buFontTx/>
              <a:buNone/>
            </a:pPr>
            <a:r>
              <a:rPr lang="en-US" altLang="en-US" sz="1800"/>
              <a:t>Time to Complete</a:t>
            </a:r>
          </a:p>
        </p:txBody>
      </p:sp>
      <p:sp>
        <p:nvSpPr>
          <p:cNvPr id="11" name="Text Box 10">
            <a:extLst>
              <a:ext uri="{FF2B5EF4-FFF2-40B4-BE49-F238E27FC236}">
                <a16:creationId xmlns:a16="http://schemas.microsoft.com/office/drawing/2014/main" id="{799CFD03-552B-4F63-58FC-6598DCAAED83}"/>
              </a:ext>
            </a:extLst>
          </p:cNvPr>
          <p:cNvSpPr txBox="1">
            <a:spLocks noChangeArrowheads="1"/>
          </p:cNvSpPr>
          <p:nvPr/>
        </p:nvSpPr>
        <p:spPr bwMode="auto">
          <a:xfrm>
            <a:off x="6465887" y="4362451"/>
            <a:ext cx="1403350" cy="311150"/>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80000"/>
              </a:lnSpc>
              <a:spcBef>
                <a:spcPct val="20000"/>
              </a:spcBef>
              <a:spcAft>
                <a:spcPct val="0"/>
              </a:spcAft>
              <a:buClrTx/>
              <a:buSzTx/>
              <a:buFontTx/>
              <a:buNone/>
            </a:pPr>
            <a:r>
              <a:rPr lang="en-US" altLang="en-US" sz="1800"/>
              <a:t>Deliverable</a:t>
            </a:r>
          </a:p>
        </p:txBody>
      </p:sp>
      <p:sp>
        <p:nvSpPr>
          <p:cNvPr id="16" name="Slide Number Placeholder 2">
            <a:extLst>
              <a:ext uri="{FF2B5EF4-FFF2-40B4-BE49-F238E27FC236}">
                <a16:creationId xmlns:a16="http://schemas.microsoft.com/office/drawing/2014/main" id="{F1CB7895-ED15-680F-4B70-7E1281026865}"/>
              </a:ext>
            </a:extLst>
          </p:cNvPr>
          <p:cNvSpPr txBox="1">
            <a:spLocks/>
          </p:cNvSpPr>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10</a:t>
            </a:fld>
            <a:endParaRPr lang="en-US" dirty="0"/>
          </a:p>
        </p:txBody>
      </p:sp>
    </p:spTree>
    <p:extLst>
      <p:ext uri="{BB962C8B-B14F-4D97-AF65-F5344CB8AC3E}">
        <p14:creationId xmlns:p14="http://schemas.microsoft.com/office/powerpoint/2010/main" val="2931230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67ABF3-BDC0-76E8-17A2-6CB22DABDE47}"/>
              </a:ext>
            </a:extLst>
          </p:cNvPr>
          <p:cNvSpPr txBox="1">
            <a:spLocks/>
          </p:cNvSpPr>
          <p:nvPr/>
        </p:nvSpPr>
        <p:spPr>
          <a:xfrm>
            <a:off x="838200" y="819260"/>
            <a:ext cx="10515600" cy="424749"/>
          </a:xfrm>
          <a:prstGeom prst="rect">
            <a:avLst/>
          </a:prstGeom>
        </p:spPr>
        <p:txBody>
          <a:bodyPr>
            <a:normAutofit fontScale="92500" lnSpcReduction="20000"/>
          </a:bodyPr>
          <a:lst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a:lstStyle>
          <a:p>
            <a:pPr>
              <a:lnSpc>
                <a:spcPct val="80000"/>
              </a:lnSpc>
              <a:spcAft>
                <a:spcPct val="0"/>
              </a:spcAft>
            </a:pPr>
            <a:r>
              <a:rPr lang="en-US" altLang="en-US" sz="3200" dirty="0"/>
              <a:t>Carl's Credit Cards Current State Map</a:t>
            </a:r>
          </a:p>
        </p:txBody>
      </p:sp>
      <p:grpSp>
        <p:nvGrpSpPr>
          <p:cNvPr id="350" name="Group 349">
            <a:extLst>
              <a:ext uri="{FF2B5EF4-FFF2-40B4-BE49-F238E27FC236}">
                <a16:creationId xmlns:a16="http://schemas.microsoft.com/office/drawing/2014/main" id="{5AC09A89-87B7-DB06-2A2F-4F3916CE3B6D}"/>
              </a:ext>
            </a:extLst>
          </p:cNvPr>
          <p:cNvGrpSpPr/>
          <p:nvPr/>
        </p:nvGrpSpPr>
        <p:grpSpPr>
          <a:xfrm>
            <a:off x="1454003" y="1269129"/>
            <a:ext cx="9590319" cy="4927879"/>
            <a:chOff x="1454003" y="1658347"/>
            <a:chExt cx="8832850" cy="4538662"/>
          </a:xfrm>
        </p:grpSpPr>
        <p:sp>
          <p:nvSpPr>
            <p:cNvPr id="4" name="Rectangle 649">
              <a:extLst>
                <a:ext uri="{FF2B5EF4-FFF2-40B4-BE49-F238E27FC236}">
                  <a16:creationId xmlns:a16="http://schemas.microsoft.com/office/drawing/2014/main" id="{A2F0CC76-14E8-0DC2-5AAD-CF12472A88DB}"/>
                </a:ext>
              </a:extLst>
            </p:cNvPr>
            <p:cNvSpPr>
              <a:spLocks noChangeArrowheads="1"/>
            </p:cNvSpPr>
            <p:nvPr/>
          </p:nvSpPr>
          <p:spPr bwMode="auto">
            <a:xfrm>
              <a:off x="6759428" y="4339634"/>
              <a:ext cx="663575" cy="336550"/>
            </a:xfrm>
            <a:prstGeom prst="rect">
              <a:avLst/>
            </a:prstGeom>
            <a:solidFill>
              <a:srgbClr val="FFFF00"/>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800" b="0"/>
                <a:t>35% go to exception</a:t>
              </a:r>
              <a:r>
                <a:rPr lang="en-US" altLang="en-US" sz="800" b="0">
                  <a:solidFill>
                    <a:srgbClr val="FF0000"/>
                  </a:solidFill>
                </a:rPr>
                <a:t> </a:t>
              </a:r>
            </a:p>
          </p:txBody>
        </p:sp>
        <p:sp>
          <p:nvSpPr>
            <p:cNvPr id="5" name="Text Box 3">
              <a:extLst>
                <a:ext uri="{FF2B5EF4-FFF2-40B4-BE49-F238E27FC236}">
                  <a16:creationId xmlns:a16="http://schemas.microsoft.com/office/drawing/2014/main" id="{07CEB57E-FD3E-8C6B-100C-CEB2F820AD3E}"/>
                </a:ext>
              </a:extLst>
            </p:cNvPr>
            <p:cNvSpPr txBox="1">
              <a:spLocks noChangeArrowheads="1"/>
            </p:cNvSpPr>
            <p:nvPr/>
          </p:nvSpPr>
          <p:spPr bwMode="auto">
            <a:xfrm>
              <a:off x="6919429" y="1830195"/>
              <a:ext cx="23479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1400" dirty="0"/>
                <a:t>Carl’s Credit Cards (CCC)</a:t>
              </a:r>
            </a:p>
          </p:txBody>
        </p:sp>
        <p:grpSp>
          <p:nvGrpSpPr>
            <p:cNvPr id="6" name="Group 4">
              <a:extLst>
                <a:ext uri="{FF2B5EF4-FFF2-40B4-BE49-F238E27FC236}">
                  <a16:creationId xmlns:a16="http://schemas.microsoft.com/office/drawing/2014/main" id="{21407344-05F8-2D5F-02D3-B30DD4F900B9}"/>
                </a:ext>
              </a:extLst>
            </p:cNvPr>
            <p:cNvGrpSpPr>
              <a:grpSpLocks/>
            </p:cNvGrpSpPr>
            <p:nvPr/>
          </p:nvGrpSpPr>
          <p:grpSpPr bwMode="auto">
            <a:xfrm>
              <a:off x="2077892" y="1658347"/>
              <a:ext cx="1698626" cy="582612"/>
              <a:chOff x="2901" y="1664"/>
              <a:chExt cx="1070" cy="367"/>
            </a:xfrm>
          </p:grpSpPr>
          <p:sp>
            <p:nvSpPr>
              <p:cNvPr id="7" name="Rectangle 5">
                <a:extLst>
                  <a:ext uri="{FF2B5EF4-FFF2-40B4-BE49-F238E27FC236}">
                    <a16:creationId xmlns:a16="http://schemas.microsoft.com/office/drawing/2014/main" id="{B8D3053D-FB5A-17DA-ABEC-D22A8B8350A7}"/>
                  </a:ext>
                </a:extLst>
              </p:cNvPr>
              <p:cNvSpPr>
                <a:spLocks noChangeArrowheads="1"/>
              </p:cNvSpPr>
              <p:nvPr/>
            </p:nvSpPr>
            <p:spPr bwMode="auto">
              <a:xfrm>
                <a:off x="2960" y="1690"/>
                <a:ext cx="984" cy="341"/>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8" name="Text Box 6">
                <a:extLst>
                  <a:ext uri="{FF2B5EF4-FFF2-40B4-BE49-F238E27FC236}">
                    <a16:creationId xmlns:a16="http://schemas.microsoft.com/office/drawing/2014/main" id="{7BE24556-07A2-913A-4328-C21F5B343B5E}"/>
                  </a:ext>
                </a:extLst>
              </p:cNvPr>
              <p:cNvSpPr txBox="1">
                <a:spLocks noChangeArrowheads="1"/>
              </p:cNvSpPr>
              <p:nvPr/>
            </p:nvSpPr>
            <p:spPr bwMode="auto">
              <a:xfrm>
                <a:off x="2901" y="1775"/>
                <a:ext cx="632" cy="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5000"/>
                  </a:spcBef>
                  <a:spcAft>
                    <a:spcPct val="0"/>
                  </a:spcAft>
                  <a:buClrTx/>
                  <a:buSzTx/>
                  <a:buFontTx/>
                  <a:buNone/>
                </a:pPr>
                <a:r>
                  <a:rPr lang="en-US" altLang="en-US" sz="800" b="0"/>
                  <a:t>27,000 Seconds</a:t>
                </a:r>
              </a:p>
              <a:p>
                <a:pPr algn="ctr">
                  <a:lnSpc>
                    <a:spcPct val="100000"/>
                  </a:lnSpc>
                  <a:spcBef>
                    <a:spcPct val="35000"/>
                  </a:spcBef>
                  <a:spcAft>
                    <a:spcPct val="0"/>
                  </a:spcAft>
                  <a:buClrTx/>
                  <a:buSzTx/>
                  <a:buFontTx/>
                  <a:buNone/>
                </a:pPr>
                <a:r>
                  <a:rPr lang="en-US" altLang="en-US" sz="800" b="0"/>
                  <a:t>2,000 Pieces</a:t>
                </a:r>
              </a:p>
            </p:txBody>
          </p:sp>
          <p:sp>
            <p:nvSpPr>
              <p:cNvPr id="9" name="Line 7">
                <a:extLst>
                  <a:ext uri="{FF2B5EF4-FFF2-40B4-BE49-F238E27FC236}">
                    <a16:creationId xmlns:a16="http://schemas.microsoft.com/office/drawing/2014/main" id="{B1D3BA48-050C-6E16-56EC-BB21929714FA}"/>
                  </a:ext>
                </a:extLst>
              </p:cNvPr>
              <p:cNvSpPr>
                <a:spLocks noChangeShapeType="1"/>
              </p:cNvSpPr>
              <p:nvPr/>
            </p:nvSpPr>
            <p:spPr bwMode="auto">
              <a:xfrm>
                <a:off x="3526" y="1804"/>
                <a:ext cx="445" cy="3"/>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 name="Rectangle 8">
                <a:extLst>
                  <a:ext uri="{FF2B5EF4-FFF2-40B4-BE49-F238E27FC236}">
                    <a16:creationId xmlns:a16="http://schemas.microsoft.com/office/drawing/2014/main" id="{30F0412B-9783-87D4-8949-94FF79D89C86}"/>
                  </a:ext>
                </a:extLst>
              </p:cNvPr>
              <p:cNvSpPr>
                <a:spLocks noChangeArrowheads="1"/>
              </p:cNvSpPr>
              <p:nvPr/>
            </p:nvSpPr>
            <p:spPr bwMode="auto">
              <a:xfrm>
                <a:off x="3186" y="1664"/>
                <a:ext cx="524" cy="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1200" dirty="0"/>
                  <a:t>Takt Time</a:t>
                </a:r>
              </a:p>
            </p:txBody>
          </p:sp>
        </p:grpSp>
        <p:sp>
          <p:nvSpPr>
            <p:cNvPr id="11" name="Text Box 9">
              <a:extLst>
                <a:ext uri="{FF2B5EF4-FFF2-40B4-BE49-F238E27FC236}">
                  <a16:creationId xmlns:a16="http://schemas.microsoft.com/office/drawing/2014/main" id="{BC609D83-F1B6-2E11-4404-588A92B762BE}"/>
                </a:ext>
              </a:extLst>
            </p:cNvPr>
            <p:cNvSpPr txBox="1">
              <a:spLocks noChangeArrowheads="1"/>
            </p:cNvSpPr>
            <p:nvPr/>
          </p:nvSpPr>
          <p:spPr bwMode="auto">
            <a:xfrm>
              <a:off x="2879578" y="1911014"/>
              <a:ext cx="939800"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00000"/>
                </a:lnSpc>
                <a:spcBef>
                  <a:spcPct val="0"/>
                </a:spcBef>
                <a:spcAft>
                  <a:spcPct val="0"/>
                </a:spcAft>
                <a:buClrTx/>
                <a:buSzTx/>
                <a:buFontTx/>
                <a:buNone/>
              </a:pPr>
              <a:r>
                <a:rPr lang="en-US" altLang="en-US" sz="800" b="0"/>
                <a:t>= </a:t>
              </a:r>
              <a:r>
                <a:rPr lang="en-US" altLang="en-US" sz="800">
                  <a:solidFill>
                    <a:srgbClr val="FF0000"/>
                  </a:solidFill>
                </a:rPr>
                <a:t>13.5 seconds</a:t>
              </a:r>
            </a:p>
          </p:txBody>
        </p:sp>
        <p:sp>
          <p:nvSpPr>
            <p:cNvPr id="12" name="Rectangle 564">
              <a:extLst>
                <a:ext uri="{FF2B5EF4-FFF2-40B4-BE49-F238E27FC236}">
                  <a16:creationId xmlns:a16="http://schemas.microsoft.com/office/drawing/2014/main" id="{5D46E28E-7F13-E439-C628-DA5BC00E3822}"/>
                </a:ext>
              </a:extLst>
            </p:cNvPr>
            <p:cNvSpPr>
              <a:spLocks noChangeArrowheads="1"/>
            </p:cNvSpPr>
            <p:nvPr/>
          </p:nvSpPr>
          <p:spPr bwMode="auto">
            <a:xfrm>
              <a:off x="7942116" y="4142784"/>
              <a:ext cx="649287" cy="54927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3" name="Rectangle 565">
              <a:extLst>
                <a:ext uri="{FF2B5EF4-FFF2-40B4-BE49-F238E27FC236}">
                  <a16:creationId xmlns:a16="http://schemas.microsoft.com/office/drawing/2014/main" id="{F98196E6-5728-4271-A28A-8B97ED4A1931}"/>
                </a:ext>
              </a:extLst>
            </p:cNvPr>
            <p:cNvSpPr>
              <a:spLocks noChangeArrowheads="1"/>
            </p:cNvSpPr>
            <p:nvPr/>
          </p:nvSpPr>
          <p:spPr bwMode="auto">
            <a:xfrm>
              <a:off x="4960791" y="4084047"/>
              <a:ext cx="661987" cy="55562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4" name="Line 566">
              <a:extLst>
                <a:ext uri="{FF2B5EF4-FFF2-40B4-BE49-F238E27FC236}">
                  <a16:creationId xmlns:a16="http://schemas.microsoft.com/office/drawing/2014/main" id="{F3153A38-6530-799D-AD3D-D266E96835E4}"/>
                </a:ext>
              </a:extLst>
            </p:cNvPr>
            <p:cNvSpPr>
              <a:spLocks noChangeShapeType="1"/>
            </p:cNvSpPr>
            <p:nvPr/>
          </p:nvSpPr>
          <p:spPr bwMode="auto">
            <a:xfrm>
              <a:off x="4965553" y="4374559"/>
              <a:ext cx="650875" cy="158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15" name="Group 567">
              <a:extLst>
                <a:ext uri="{FF2B5EF4-FFF2-40B4-BE49-F238E27FC236}">
                  <a16:creationId xmlns:a16="http://schemas.microsoft.com/office/drawing/2014/main" id="{6FB4D04D-39F4-94D4-04AE-2A28E3D9F7D1}"/>
                </a:ext>
              </a:extLst>
            </p:cNvPr>
            <p:cNvGrpSpPr>
              <a:grpSpLocks/>
            </p:cNvGrpSpPr>
            <p:nvPr/>
          </p:nvGrpSpPr>
          <p:grpSpPr bwMode="auto">
            <a:xfrm flipV="1">
              <a:off x="5105253" y="4374559"/>
              <a:ext cx="147638" cy="171450"/>
              <a:chOff x="720" y="3354"/>
              <a:chExt cx="192" cy="198"/>
            </a:xfrm>
          </p:grpSpPr>
          <p:sp>
            <p:nvSpPr>
              <p:cNvPr id="16" name="Oval 568">
                <a:extLst>
                  <a:ext uri="{FF2B5EF4-FFF2-40B4-BE49-F238E27FC236}">
                    <a16:creationId xmlns:a16="http://schemas.microsoft.com/office/drawing/2014/main" id="{7377CF2F-0EEA-B804-8D58-2684A2AC3BCD}"/>
                  </a:ext>
                </a:extLst>
              </p:cNvPr>
              <p:cNvSpPr>
                <a:spLocks noChangeArrowheads="1"/>
              </p:cNvSpPr>
              <p:nvPr/>
            </p:nvSpPr>
            <p:spPr bwMode="auto">
              <a:xfrm>
                <a:off x="768" y="3408"/>
                <a:ext cx="96" cy="9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7" name="AutoShape 569">
                <a:extLst>
                  <a:ext uri="{FF2B5EF4-FFF2-40B4-BE49-F238E27FC236}">
                    <a16:creationId xmlns:a16="http://schemas.microsoft.com/office/drawing/2014/main" id="{12C3EF04-40ED-ED7A-513C-A7BC87F2A9CD}"/>
                  </a:ext>
                </a:extLst>
              </p:cNvPr>
              <p:cNvSpPr>
                <a:spLocks noChangeArrowheads="1"/>
              </p:cNvSpPr>
              <p:nvPr/>
            </p:nvSpPr>
            <p:spPr bwMode="auto">
              <a:xfrm>
                <a:off x="720" y="3354"/>
                <a:ext cx="192" cy="198"/>
              </a:xfrm>
              <a:custGeom>
                <a:avLst/>
                <a:gdLst>
                  <a:gd name="T0" fmla="*/ 1 w 21600"/>
                  <a:gd name="T1" fmla="*/ 0 h 21600"/>
                  <a:gd name="T2" fmla="*/ 0 w 21600"/>
                  <a:gd name="T3" fmla="*/ 1 h 21600"/>
                  <a:gd name="T4" fmla="*/ 1 w 21600"/>
                  <a:gd name="T5" fmla="*/ 0 h 21600"/>
                  <a:gd name="T6" fmla="*/ 1 w 21600"/>
                  <a:gd name="T7" fmla="*/ 1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8" name="Text Box 570">
              <a:extLst>
                <a:ext uri="{FF2B5EF4-FFF2-40B4-BE49-F238E27FC236}">
                  <a16:creationId xmlns:a16="http://schemas.microsoft.com/office/drawing/2014/main" id="{A3A6BDB8-A4ED-A51C-ADCC-FFE142E508C8}"/>
                </a:ext>
              </a:extLst>
            </p:cNvPr>
            <p:cNvSpPr txBox="1">
              <a:spLocks noChangeArrowheads="1"/>
            </p:cNvSpPr>
            <p:nvPr/>
          </p:nvSpPr>
          <p:spPr bwMode="auto">
            <a:xfrm>
              <a:off x="5217966" y="4396784"/>
              <a:ext cx="360362" cy="198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700" b="0"/>
                <a:t>= 10</a:t>
              </a:r>
            </a:p>
          </p:txBody>
        </p:sp>
        <p:sp>
          <p:nvSpPr>
            <p:cNvPr id="19" name="Text Box 571">
              <a:extLst>
                <a:ext uri="{FF2B5EF4-FFF2-40B4-BE49-F238E27FC236}">
                  <a16:creationId xmlns:a16="http://schemas.microsoft.com/office/drawing/2014/main" id="{65A50D7F-EF9E-1F58-8E21-6AB84464A90B}"/>
                </a:ext>
              </a:extLst>
            </p:cNvPr>
            <p:cNvSpPr txBox="1">
              <a:spLocks noChangeArrowheads="1"/>
            </p:cNvSpPr>
            <p:nvPr/>
          </p:nvSpPr>
          <p:spPr bwMode="auto">
            <a:xfrm>
              <a:off x="4986191" y="4045947"/>
              <a:ext cx="619125"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700" b="0"/>
                <a:t>Data Entry</a:t>
              </a:r>
            </a:p>
          </p:txBody>
        </p:sp>
        <p:grpSp>
          <p:nvGrpSpPr>
            <p:cNvPr id="20" name="Group 572">
              <a:extLst>
                <a:ext uri="{FF2B5EF4-FFF2-40B4-BE49-F238E27FC236}">
                  <a16:creationId xmlns:a16="http://schemas.microsoft.com/office/drawing/2014/main" id="{551397C0-9D33-B7D8-9CF1-2AC8ED00650A}"/>
                </a:ext>
              </a:extLst>
            </p:cNvPr>
            <p:cNvGrpSpPr>
              <a:grpSpLocks/>
            </p:cNvGrpSpPr>
            <p:nvPr/>
          </p:nvGrpSpPr>
          <p:grpSpPr bwMode="auto">
            <a:xfrm>
              <a:off x="3971778" y="4045947"/>
              <a:ext cx="657225" cy="593725"/>
              <a:chOff x="1223" y="2972"/>
              <a:chExt cx="456" cy="390"/>
            </a:xfrm>
          </p:grpSpPr>
          <p:sp>
            <p:nvSpPr>
              <p:cNvPr id="21" name="Rectangle 573">
                <a:extLst>
                  <a:ext uri="{FF2B5EF4-FFF2-40B4-BE49-F238E27FC236}">
                    <a16:creationId xmlns:a16="http://schemas.microsoft.com/office/drawing/2014/main" id="{AB0630AB-BB1B-4DDA-ACC1-4188CD92575E}"/>
                  </a:ext>
                </a:extLst>
              </p:cNvPr>
              <p:cNvSpPr>
                <a:spLocks noChangeArrowheads="1"/>
              </p:cNvSpPr>
              <p:nvPr/>
            </p:nvSpPr>
            <p:spPr bwMode="auto">
              <a:xfrm>
                <a:off x="1223" y="2997"/>
                <a:ext cx="456" cy="36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2" name="Line 574">
                <a:extLst>
                  <a:ext uri="{FF2B5EF4-FFF2-40B4-BE49-F238E27FC236}">
                    <a16:creationId xmlns:a16="http://schemas.microsoft.com/office/drawing/2014/main" id="{2A7516B9-39A6-66F2-0AFF-865A6FBA5B41}"/>
                  </a:ext>
                </a:extLst>
              </p:cNvPr>
              <p:cNvSpPr>
                <a:spLocks noChangeShapeType="1"/>
              </p:cNvSpPr>
              <p:nvPr/>
            </p:nvSpPr>
            <p:spPr bwMode="auto">
              <a:xfrm>
                <a:off x="1226" y="3189"/>
                <a:ext cx="449" cy="1"/>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23" name="Group 575">
                <a:extLst>
                  <a:ext uri="{FF2B5EF4-FFF2-40B4-BE49-F238E27FC236}">
                    <a16:creationId xmlns:a16="http://schemas.microsoft.com/office/drawing/2014/main" id="{94F33B6B-BCD8-3BD0-E42A-2D5589EC3D0A}"/>
                  </a:ext>
                </a:extLst>
              </p:cNvPr>
              <p:cNvGrpSpPr>
                <a:grpSpLocks/>
              </p:cNvGrpSpPr>
              <p:nvPr/>
            </p:nvGrpSpPr>
            <p:grpSpPr bwMode="auto">
              <a:xfrm flipV="1">
                <a:off x="1323" y="3188"/>
                <a:ext cx="101" cy="112"/>
                <a:chOff x="720" y="3354"/>
                <a:chExt cx="192" cy="198"/>
              </a:xfrm>
            </p:grpSpPr>
            <p:sp>
              <p:nvSpPr>
                <p:cNvPr id="26" name="Oval 576">
                  <a:extLst>
                    <a:ext uri="{FF2B5EF4-FFF2-40B4-BE49-F238E27FC236}">
                      <a16:creationId xmlns:a16="http://schemas.microsoft.com/office/drawing/2014/main" id="{09AD73EB-4809-EC8B-302B-6076316260BE}"/>
                    </a:ext>
                  </a:extLst>
                </p:cNvPr>
                <p:cNvSpPr>
                  <a:spLocks noChangeArrowheads="1"/>
                </p:cNvSpPr>
                <p:nvPr/>
              </p:nvSpPr>
              <p:spPr bwMode="auto">
                <a:xfrm>
                  <a:off x="768" y="3408"/>
                  <a:ext cx="96" cy="9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7" name="AutoShape 577">
                  <a:extLst>
                    <a:ext uri="{FF2B5EF4-FFF2-40B4-BE49-F238E27FC236}">
                      <a16:creationId xmlns:a16="http://schemas.microsoft.com/office/drawing/2014/main" id="{0AA7BE29-B32E-0636-9570-B46871ECF374}"/>
                    </a:ext>
                  </a:extLst>
                </p:cNvPr>
                <p:cNvSpPr>
                  <a:spLocks noChangeArrowheads="1"/>
                </p:cNvSpPr>
                <p:nvPr/>
              </p:nvSpPr>
              <p:spPr bwMode="auto">
                <a:xfrm>
                  <a:off x="720" y="3354"/>
                  <a:ext cx="192" cy="198"/>
                </a:xfrm>
                <a:custGeom>
                  <a:avLst/>
                  <a:gdLst>
                    <a:gd name="T0" fmla="*/ 1 w 21600"/>
                    <a:gd name="T1" fmla="*/ 0 h 21600"/>
                    <a:gd name="T2" fmla="*/ 0 w 21600"/>
                    <a:gd name="T3" fmla="*/ 1 h 21600"/>
                    <a:gd name="T4" fmla="*/ 1 w 21600"/>
                    <a:gd name="T5" fmla="*/ 0 h 21600"/>
                    <a:gd name="T6" fmla="*/ 1 w 21600"/>
                    <a:gd name="T7" fmla="*/ 1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4" name="Text Box 578">
                <a:extLst>
                  <a:ext uri="{FF2B5EF4-FFF2-40B4-BE49-F238E27FC236}">
                    <a16:creationId xmlns:a16="http://schemas.microsoft.com/office/drawing/2014/main" id="{35D65304-A97A-C1CB-7F92-0E2F28CD9B58}"/>
                  </a:ext>
                </a:extLst>
              </p:cNvPr>
              <p:cNvSpPr txBox="1">
                <a:spLocks noChangeArrowheads="1"/>
              </p:cNvSpPr>
              <p:nvPr/>
            </p:nvSpPr>
            <p:spPr bwMode="auto">
              <a:xfrm>
                <a:off x="1416" y="3202"/>
                <a:ext cx="215" cy="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700" b="0"/>
                  <a:t>= 1</a:t>
                </a:r>
              </a:p>
            </p:txBody>
          </p:sp>
          <p:sp>
            <p:nvSpPr>
              <p:cNvPr id="25" name="Text Box 579">
                <a:extLst>
                  <a:ext uri="{FF2B5EF4-FFF2-40B4-BE49-F238E27FC236}">
                    <a16:creationId xmlns:a16="http://schemas.microsoft.com/office/drawing/2014/main" id="{56B4D6BB-D5C2-944E-9E77-3535ED14F935}"/>
                  </a:ext>
                </a:extLst>
              </p:cNvPr>
              <p:cNvSpPr txBox="1">
                <a:spLocks noChangeArrowheads="1"/>
              </p:cNvSpPr>
              <p:nvPr/>
            </p:nvSpPr>
            <p:spPr bwMode="auto">
              <a:xfrm>
                <a:off x="1241" y="2972"/>
                <a:ext cx="425"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700" b="0"/>
                  <a:t>Scan</a:t>
                </a:r>
              </a:p>
            </p:txBody>
          </p:sp>
        </p:grpSp>
        <p:sp>
          <p:nvSpPr>
            <p:cNvPr id="28" name="Rectangle 580">
              <a:extLst>
                <a:ext uri="{FF2B5EF4-FFF2-40B4-BE49-F238E27FC236}">
                  <a16:creationId xmlns:a16="http://schemas.microsoft.com/office/drawing/2014/main" id="{55FF6C94-9E37-2908-61A0-D9777EC9F59B}"/>
                </a:ext>
              </a:extLst>
            </p:cNvPr>
            <p:cNvSpPr>
              <a:spLocks noChangeArrowheads="1"/>
            </p:cNvSpPr>
            <p:nvPr/>
          </p:nvSpPr>
          <p:spPr bwMode="auto">
            <a:xfrm>
              <a:off x="9377216" y="4084047"/>
              <a:ext cx="644525" cy="55562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endParaRPr lang="en-US" altLang="en-US" sz="1000" b="0">
                <a:solidFill>
                  <a:srgbClr val="FF0000"/>
                </a:solidFill>
              </a:endParaRPr>
            </a:p>
          </p:txBody>
        </p:sp>
        <p:sp>
          <p:nvSpPr>
            <p:cNvPr id="29" name="Line 581">
              <a:extLst>
                <a:ext uri="{FF2B5EF4-FFF2-40B4-BE49-F238E27FC236}">
                  <a16:creationId xmlns:a16="http://schemas.microsoft.com/office/drawing/2014/main" id="{54B0A6FA-806E-CD49-7826-578BC02A98B5}"/>
                </a:ext>
              </a:extLst>
            </p:cNvPr>
            <p:cNvSpPr>
              <a:spLocks noChangeShapeType="1"/>
            </p:cNvSpPr>
            <p:nvPr/>
          </p:nvSpPr>
          <p:spPr bwMode="auto">
            <a:xfrm>
              <a:off x="9381978" y="4379322"/>
              <a:ext cx="633413" cy="1587"/>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 name="Text Box 582">
              <a:extLst>
                <a:ext uri="{FF2B5EF4-FFF2-40B4-BE49-F238E27FC236}">
                  <a16:creationId xmlns:a16="http://schemas.microsoft.com/office/drawing/2014/main" id="{08919806-0B3E-ACC8-31DF-AC332F5E99EC}"/>
                </a:ext>
              </a:extLst>
            </p:cNvPr>
            <p:cNvSpPr txBox="1">
              <a:spLocks noChangeArrowheads="1"/>
            </p:cNvSpPr>
            <p:nvPr/>
          </p:nvSpPr>
          <p:spPr bwMode="auto">
            <a:xfrm>
              <a:off x="9401028" y="4045947"/>
              <a:ext cx="60483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700" b="0"/>
                <a:t>Mail Card</a:t>
              </a:r>
            </a:p>
          </p:txBody>
        </p:sp>
        <p:grpSp>
          <p:nvGrpSpPr>
            <p:cNvPr id="31" name="Group 583">
              <a:extLst>
                <a:ext uri="{FF2B5EF4-FFF2-40B4-BE49-F238E27FC236}">
                  <a16:creationId xmlns:a16="http://schemas.microsoft.com/office/drawing/2014/main" id="{FD865A22-989D-A993-C25F-A1052C37B286}"/>
                </a:ext>
              </a:extLst>
            </p:cNvPr>
            <p:cNvGrpSpPr>
              <a:grpSpLocks/>
            </p:cNvGrpSpPr>
            <p:nvPr/>
          </p:nvGrpSpPr>
          <p:grpSpPr bwMode="auto">
            <a:xfrm flipV="1">
              <a:off x="9485166" y="4374559"/>
              <a:ext cx="163512" cy="171450"/>
              <a:chOff x="720" y="3354"/>
              <a:chExt cx="192" cy="198"/>
            </a:xfrm>
          </p:grpSpPr>
          <p:sp>
            <p:nvSpPr>
              <p:cNvPr id="32" name="Oval 584">
                <a:extLst>
                  <a:ext uri="{FF2B5EF4-FFF2-40B4-BE49-F238E27FC236}">
                    <a16:creationId xmlns:a16="http://schemas.microsoft.com/office/drawing/2014/main" id="{F8921F05-E6E6-AED8-0BA7-1C92BF41D887}"/>
                  </a:ext>
                </a:extLst>
              </p:cNvPr>
              <p:cNvSpPr>
                <a:spLocks noChangeArrowheads="1"/>
              </p:cNvSpPr>
              <p:nvPr/>
            </p:nvSpPr>
            <p:spPr bwMode="auto">
              <a:xfrm>
                <a:off x="768" y="3408"/>
                <a:ext cx="96" cy="9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3" name="AutoShape 585">
                <a:extLst>
                  <a:ext uri="{FF2B5EF4-FFF2-40B4-BE49-F238E27FC236}">
                    <a16:creationId xmlns:a16="http://schemas.microsoft.com/office/drawing/2014/main" id="{BAB7A2EA-45DE-6D35-F1F4-50B4DB17E0A6}"/>
                  </a:ext>
                </a:extLst>
              </p:cNvPr>
              <p:cNvSpPr>
                <a:spLocks noChangeArrowheads="1"/>
              </p:cNvSpPr>
              <p:nvPr/>
            </p:nvSpPr>
            <p:spPr bwMode="auto">
              <a:xfrm>
                <a:off x="720" y="3354"/>
                <a:ext cx="192" cy="198"/>
              </a:xfrm>
              <a:custGeom>
                <a:avLst/>
                <a:gdLst>
                  <a:gd name="T0" fmla="*/ 1 w 21600"/>
                  <a:gd name="T1" fmla="*/ 0 h 21600"/>
                  <a:gd name="T2" fmla="*/ 0 w 21600"/>
                  <a:gd name="T3" fmla="*/ 1 h 21600"/>
                  <a:gd name="T4" fmla="*/ 1 w 21600"/>
                  <a:gd name="T5" fmla="*/ 0 h 21600"/>
                  <a:gd name="T6" fmla="*/ 1 w 21600"/>
                  <a:gd name="T7" fmla="*/ 1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4" name="Text Box 586">
              <a:extLst>
                <a:ext uri="{FF2B5EF4-FFF2-40B4-BE49-F238E27FC236}">
                  <a16:creationId xmlns:a16="http://schemas.microsoft.com/office/drawing/2014/main" id="{6D62FA12-8F38-B304-234F-D319DE07F44D}"/>
                </a:ext>
              </a:extLst>
            </p:cNvPr>
            <p:cNvSpPr txBox="1">
              <a:spLocks noChangeArrowheads="1"/>
            </p:cNvSpPr>
            <p:nvPr/>
          </p:nvSpPr>
          <p:spPr bwMode="auto">
            <a:xfrm>
              <a:off x="9655028" y="4374559"/>
              <a:ext cx="309563" cy="198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700" b="0"/>
                <a:t>= 2</a:t>
              </a:r>
            </a:p>
          </p:txBody>
        </p:sp>
        <p:grpSp>
          <p:nvGrpSpPr>
            <p:cNvPr id="35" name="Group 587">
              <a:extLst>
                <a:ext uri="{FF2B5EF4-FFF2-40B4-BE49-F238E27FC236}">
                  <a16:creationId xmlns:a16="http://schemas.microsoft.com/office/drawing/2014/main" id="{EC043723-07B1-EDC8-B8DB-AE1B880D3902}"/>
                </a:ext>
              </a:extLst>
            </p:cNvPr>
            <p:cNvGrpSpPr>
              <a:grpSpLocks/>
            </p:cNvGrpSpPr>
            <p:nvPr/>
          </p:nvGrpSpPr>
          <p:grpSpPr bwMode="auto">
            <a:xfrm>
              <a:off x="6968978" y="4603159"/>
              <a:ext cx="676275" cy="595313"/>
              <a:chOff x="3893" y="3427"/>
              <a:chExt cx="469" cy="390"/>
            </a:xfrm>
          </p:grpSpPr>
          <p:grpSp>
            <p:nvGrpSpPr>
              <p:cNvPr id="36" name="Group 588">
                <a:extLst>
                  <a:ext uri="{FF2B5EF4-FFF2-40B4-BE49-F238E27FC236}">
                    <a16:creationId xmlns:a16="http://schemas.microsoft.com/office/drawing/2014/main" id="{E7D2C6F5-A5BB-5457-587E-4064F5ED34F1}"/>
                  </a:ext>
                </a:extLst>
              </p:cNvPr>
              <p:cNvGrpSpPr>
                <a:grpSpLocks/>
              </p:cNvGrpSpPr>
              <p:nvPr/>
            </p:nvGrpSpPr>
            <p:grpSpPr bwMode="auto">
              <a:xfrm>
                <a:off x="3903" y="3452"/>
                <a:ext cx="441" cy="365"/>
                <a:chOff x="3979" y="2536"/>
                <a:chExt cx="525" cy="365"/>
              </a:xfrm>
            </p:grpSpPr>
            <p:sp>
              <p:nvSpPr>
                <p:cNvPr id="42" name="Rectangle 589">
                  <a:extLst>
                    <a:ext uri="{FF2B5EF4-FFF2-40B4-BE49-F238E27FC236}">
                      <a16:creationId xmlns:a16="http://schemas.microsoft.com/office/drawing/2014/main" id="{5F1A04DE-E2E7-010C-832C-85B45B3CCFF5}"/>
                    </a:ext>
                  </a:extLst>
                </p:cNvPr>
                <p:cNvSpPr>
                  <a:spLocks noChangeArrowheads="1"/>
                </p:cNvSpPr>
                <p:nvPr/>
              </p:nvSpPr>
              <p:spPr bwMode="auto">
                <a:xfrm>
                  <a:off x="3979" y="2536"/>
                  <a:ext cx="525" cy="36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43" name="Line 590">
                  <a:extLst>
                    <a:ext uri="{FF2B5EF4-FFF2-40B4-BE49-F238E27FC236}">
                      <a16:creationId xmlns:a16="http://schemas.microsoft.com/office/drawing/2014/main" id="{D3AF812C-CA9B-E2C3-A9D8-E143F047B2E0}"/>
                    </a:ext>
                  </a:extLst>
                </p:cNvPr>
                <p:cNvSpPr>
                  <a:spLocks noChangeShapeType="1"/>
                </p:cNvSpPr>
                <p:nvPr/>
              </p:nvSpPr>
              <p:spPr bwMode="auto">
                <a:xfrm>
                  <a:off x="3982" y="2734"/>
                  <a:ext cx="518" cy="1"/>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37" name="Text Box 591">
                <a:extLst>
                  <a:ext uri="{FF2B5EF4-FFF2-40B4-BE49-F238E27FC236}">
                    <a16:creationId xmlns:a16="http://schemas.microsoft.com/office/drawing/2014/main" id="{36A81224-59DE-96D9-BDBD-0A195CF9D1CE}"/>
                  </a:ext>
                </a:extLst>
              </p:cNvPr>
              <p:cNvSpPr txBox="1">
                <a:spLocks noChangeArrowheads="1"/>
              </p:cNvSpPr>
              <p:nvPr/>
            </p:nvSpPr>
            <p:spPr bwMode="auto">
              <a:xfrm>
                <a:off x="3893" y="3427"/>
                <a:ext cx="469" cy="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t>Re- Underwrite</a:t>
                </a:r>
              </a:p>
            </p:txBody>
          </p:sp>
          <p:grpSp>
            <p:nvGrpSpPr>
              <p:cNvPr id="38" name="Group 592">
                <a:extLst>
                  <a:ext uri="{FF2B5EF4-FFF2-40B4-BE49-F238E27FC236}">
                    <a16:creationId xmlns:a16="http://schemas.microsoft.com/office/drawing/2014/main" id="{369E1F6D-0205-4529-14BC-00746FF20C48}"/>
                  </a:ext>
                </a:extLst>
              </p:cNvPr>
              <p:cNvGrpSpPr>
                <a:grpSpLocks/>
              </p:cNvGrpSpPr>
              <p:nvPr/>
            </p:nvGrpSpPr>
            <p:grpSpPr bwMode="auto">
              <a:xfrm flipV="1">
                <a:off x="3988" y="3658"/>
                <a:ext cx="111" cy="112"/>
                <a:chOff x="720" y="3354"/>
                <a:chExt cx="192" cy="198"/>
              </a:xfrm>
            </p:grpSpPr>
            <p:sp>
              <p:nvSpPr>
                <p:cNvPr id="40" name="Oval 593">
                  <a:extLst>
                    <a:ext uri="{FF2B5EF4-FFF2-40B4-BE49-F238E27FC236}">
                      <a16:creationId xmlns:a16="http://schemas.microsoft.com/office/drawing/2014/main" id="{76153A1F-E3DB-0004-3075-D0C5A7F8196A}"/>
                    </a:ext>
                  </a:extLst>
                </p:cNvPr>
                <p:cNvSpPr>
                  <a:spLocks noChangeArrowheads="1"/>
                </p:cNvSpPr>
                <p:nvPr/>
              </p:nvSpPr>
              <p:spPr bwMode="auto">
                <a:xfrm>
                  <a:off x="768" y="3408"/>
                  <a:ext cx="96" cy="9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41" name="AutoShape 594">
                  <a:extLst>
                    <a:ext uri="{FF2B5EF4-FFF2-40B4-BE49-F238E27FC236}">
                      <a16:creationId xmlns:a16="http://schemas.microsoft.com/office/drawing/2014/main" id="{10579601-A40E-DA44-5D0F-966BD1633708}"/>
                    </a:ext>
                  </a:extLst>
                </p:cNvPr>
                <p:cNvSpPr>
                  <a:spLocks noChangeArrowheads="1"/>
                </p:cNvSpPr>
                <p:nvPr/>
              </p:nvSpPr>
              <p:spPr bwMode="auto">
                <a:xfrm>
                  <a:off x="720" y="3354"/>
                  <a:ext cx="192" cy="198"/>
                </a:xfrm>
                <a:custGeom>
                  <a:avLst/>
                  <a:gdLst>
                    <a:gd name="T0" fmla="*/ 1 w 21600"/>
                    <a:gd name="T1" fmla="*/ 0 h 21600"/>
                    <a:gd name="T2" fmla="*/ 0 w 21600"/>
                    <a:gd name="T3" fmla="*/ 1 h 21600"/>
                    <a:gd name="T4" fmla="*/ 1 w 21600"/>
                    <a:gd name="T5" fmla="*/ 0 h 21600"/>
                    <a:gd name="T6" fmla="*/ 1 w 21600"/>
                    <a:gd name="T7" fmla="*/ 1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9" name="Text Box 595">
                <a:extLst>
                  <a:ext uri="{FF2B5EF4-FFF2-40B4-BE49-F238E27FC236}">
                    <a16:creationId xmlns:a16="http://schemas.microsoft.com/office/drawing/2014/main" id="{5DD6A473-E213-7DE5-A5DC-D2933295C539}"/>
                  </a:ext>
                </a:extLst>
              </p:cNvPr>
              <p:cNvSpPr txBox="1">
                <a:spLocks noChangeArrowheads="1"/>
              </p:cNvSpPr>
              <p:nvPr/>
            </p:nvSpPr>
            <p:spPr bwMode="auto">
              <a:xfrm>
                <a:off x="4101" y="3659"/>
                <a:ext cx="215"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700" b="0"/>
                  <a:t>= 2</a:t>
                </a:r>
              </a:p>
            </p:txBody>
          </p:sp>
        </p:grpSp>
        <p:sp>
          <p:nvSpPr>
            <p:cNvPr id="44" name="Rectangle 596">
              <a:extLst>
                <a:ext uri="{FF2B5EF4-FFF2-40B4-BE49-F238E27FC236}">
                  <a16:creationId xmlns:a16="http://schemas.microsoft.com/office/drawing/2014/main" id="{82657662-CDC1-6516-5C52-B86790AC2C67}"/>
                </a:ext>
              </a:extLst>
            </p:cNvPr>
            <p:cNvSpPr>
              <a:spLocks noChangeArrowheads="1"/>
            </p:cNvSpPr>
            <p:nvPr/>
          </p:nvSpPr>
          <p:spPr bwMode="auto">
            <a:xfrm>
              <a:off x="5975203" y="4084047"/>
              <a:ext cx="661988" cy="55562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45" name="Line 597">
              <a:extLst>
                <a:ext uri="{FF2B5EF4-FFF2-40B4-BE49-F238E27FC236}">
                  <a16:creationId xmlns:a16="http://schemas.microsoft.com/office/drawing/2014/main" id="{9A1B9A6B-4D02-D0A0-DF17-FD5A0AEADB29}"/>
                </a:ext>
              </a:extLst>
            </p:cNvPr>
            <p:cNvSpPr>
              <a:spLocks noChangeShapeType="1"/>
            </p:cNvSpPr>
            <p:nvPr/>
          </p:nvSpPr>
          <p:spPr bwMode="auto">
            <a:xfrm>
              <a:off x="5978378" y="4379322"/>
              <a:ext cx="652463" cy="1587"/>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46" name="Group 598">
              <a:extLst>
                <a:ext uri="{FF2B5EF4-FFF2-40B4-BE49-F238E27FC236}">
                  <a16:creationId xmlns:a16="http://schemas.microsoft.com/office/drawing/2014/main" id="{978122ED-EF6C-2B76-9EF0-F1EE9619F7F1}"/>
                </a:ext>
              </a:extLst>
            </p:cNvPr>
            <p:cNvGrpSpPr>
              <a:grpSpLocks/>
            </p:cNvGrpSpPr>
            <p:nvPr/>
          </p:nvGrpSpPr>
          <p:grpSpPr bwMode="auto">
            <a:xfrm flipV="1">
              <a:off x="6119666" y="4374559"/>
              <a:ext cx="146050" cy="171450"/>
              <a:chOff x="720" y="3354"/>
              <a:chExt cx="192" cy="198"/>
            </a:xfrm>
          </p:grpSpPr>
          <p:sp>
            <p:nvSpPr>
              <p:cNvPr id="47" name="Oval 599">
                <a:extLst>
                  <a:ext uri="{FF2B5EF4-FFF2-40B4-BE49-F238E27FC236}">
                    <a16:creationId xmlns:a16="http://schemas.microsoft.com/office/drawing/2014/main" id="{87DDF9AC-962A-7913-44C2-800A61AB28D8}"/>
                  </a:ext>
                </a:extLst>
              </p:cNvPr>
              <p:cNvSpPr>
                <a:spLocks noChangeArrowheads="1"/>
              </p:cNvSpPr>
              <p:nvPr/>
            </p:nvSpPr>
            <p:spPr bwMode="auto">
              <a:xfrm>
                <a:off x="768" y="3408"/>
                <a:ext cx="96" cy="9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48" name="AutoShape 600">
                <a:extLst>
                  <a:ext uri="{FF2B5EF4-FFF2-40B4-BE49-F238E27FC236}">
                    <a16:creationId xmlns:a16="http://schemas.microsoft.com/office/drawing/2014/main" id="{B0421FA8-B394-4ACA-C192-1DF3592D2B7F}"/>
                  </a:ext>
                </a:extLst>
              </p:cNvPr>
              <p:cNvSpPr>
                <a:spLocks noChangeArrowheads="1"/>
              </p:cNvSpPr>
              <p:nvPr/>
            </p:nvSpPr>
            <p:spPr bwMode="auto">
              <a:xfrm>
                <a:off x="720" y="3354"/>
                <a:ext cx="192" cy="198"/>
              </a:xfrm>
              <a:custGeom>
                <a:avLst/>
                <a:gdLst>
                  <a:gd name="T0" fmla="*/ 1 w 21600"/>
                  <a:gd name="T1" fmla="*/ 0 h 21600"/>
                  <a:gd name="T2" fmla="*/ 0 w 21600"/>
                  <a:gd name="T3" fmla="*/ 1 h 21600"/>
                  <a:gd name="T4" fmla="*/ 1 w 21600"/>
                  <a:gd name="T5" fmla="*/ 0 h 21600"/>
                  <a:gd name="T6" fmla="*/ 1 w 21600"/>
                  <a:gd name="T7" fmla="*/ 1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49" name="Text Box 601">
              <a:extLst>
                <a:ext uri="{FF2B5EF4-FFF2-40B4-BE49-F238E27FC236}">
                  <a16:creationId xmlns:a16="http://schemas.microsoft.com/office/drawing/2014/main" id="{06CA6CCF-D362-D0E0-8DCB-AB940A0EA747}"/>
                </a:ext>
              </a:extLst>
            </p:cNvPr>
            <p:cNvSpPr txBox="1">
              <a:spLocks noChangeArrowheads="1"/>
            </p:cNvSpPr>
            <p:nvPr/>
          </p:nvSpPr>
          <p:spPr bwMode="auto">
            <a:xfrm>
              <a:off x="6254603" y="4396784"/>
              <a:ext cx="309563" cy="198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700" b="0"/>
                <a:t>= 4</a:t>
              </a:r>
            </a:p>
          </p:txBody>
        </p:sp>
        <p:sp>
          <p:nvSpPr>
            <p:cNvPr id="50" name="Text Box 602">
              <a:extLst>
                <a:ext uri="{FF2B5EF4-FFF2-40B4-BE49-F238E27FC236}">
                  <a16:creationId xmlns:a16="http://schemas.microsoft.com/office/drawing/2014/main" id="{ABF9E441-DCA8-18FE-82D6-7933E5746784}"/>
                </a:ext>
              </a:extLst>
            </p:cNvPr>
            <p:cNvSpPr txBox="1">
              <a:spLocks noChangeArrowheads="1"/>
            </p:cNvSpPr>
            <p:nvPr/>
          </p:nvSpPr>
          <p:spPr bwMode="auto">
            <a:xfrm>
              <a:off x="5954566" y="4045947"/>
              <a:ext cx="698500"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700" b="0"/>
                <a:t>Underwrite</a:t>
              </a:r>
            </a:p>
          </p:txBody>
        </p:sp>
        <p:grpSp>
          <p:nvGrpSpPr>
            <p:cNvPr id="51" name="Group 603">
              <a:extLst>
                <a:ext uri="{FF2B5EF4-FFF2-40B4-BE49-F238E27FC236}">
                  <a16:creationId xmlns:a16="http://schemas.microsoft.com/office/drawing/2014/main" id="{560EF714-029A-A253-A391-EFB0F0657362}"/>
                </a:ext>
              </a:extLst>
            </p:cNvPr>
            <p:cNvGrpSpPr>
              <a:grpSpLocks/>
            </p:cNvGrpSpPr>
            <p:nvPr/>
          </p:nvGrpSpPr>
          <p:grpSpPr bwMode="auto">
            <a:xfrm>
              <a:off x="1993753" y="4045947"/>
              <a:ext cx="657225" cy="593725"/>
              <a:chOff x="362" y="2972"/>
              <a:chExt cx="456" cy="390"/>
            </a:xfrm>
          </p:grpSpPr>
          <p:sp>
            <p:nvSpPr>
              <p:cNvPr id="52" name="Rectangle 604">
                <a:extLst>
                  <a:ext uri="{FF2B5EF4-FFF2-40B4-BE49-F238E27FC236}">
                    <a16:creationId xmlns:a16="http://schemas.microsoft.com/office/drawing/2014/main" id="{533828FF-433A-05C8-E32D-9A5C29A58AF3}"/>
                  </a:ext>
                </a:extLst>
              </p:cNvPr>
              <p:cNvSpPr>
                <a:spLocks noChangeArrowheads="1"/>
              </p:cNvSpPr>
              <p:nvPr/>
            </p:nvSpPr>
            <p:spPr bwMode="auto">
              <a:xfrm>
                <a:off x="362" y="2997"/>
                <a:ext cx="456" cy="36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3" name="Line 605">
                <a:extLst>
                  <a:ext uri="{FF2B5EF4-FFF2-40B4-BE49-F238E27FC236}">
                    <a16:creationId xmlns:a16="http://schemas.microsoft.com/office/drawing/2014/main" id="{2AC05BCD-CBF6-2E93-7238-62AD1BD7A4E0}"/>
                  </a:ext>
                </a:extLst>
              </p:cNvPr>
              <p:cNvSpPr>
                <a:spLocks noChangeShapeType="1"/>
              </p:cNvSpPr>
              <p:nvPr/>
            </p:nvSpPr>
            <p:spPr bwMode="auto">
              <a:xfrm>
                <a:off x="365" y="3189"/>
                <a:ext cx="449" cy="1"/>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54" name="Group 606">
                <a:extLst>
                  <a:ext uri="{FF2B5EF4-FFF2-40B4-BE49-F238E27FC236}">
                    <a16:creationId xmlns:a16="http://schemas.microsoft.com/office/drawing/2014/main" id="{3D900AE2-95A6-A624-674C-E7F8A19387B1}"/>
                  </a:ext>
                </a:extLst>
              </p:cNvPr>
              <p:cNvGrpSpPr>
                <a:grpSpLocks/>
              </p:cNvGrpSpPr>
              <p:nvPr/>
            </p:nvGrpSpPr>
            <p:grpSpPr bwMode="auto">
              <a:xfrm flipV="1">
                <a:off x="462" y="3188"/>
                <a:ext cx="101" cy="112"/>
                <a:chOff x="720" y="3354"/>
                <a:chExt cx="192" cy="198"/>
              </a:xfrm>
            </p:grpSpPr>
            <p:sp>
              <p:nvSpPr>
                <p:cNvPr id="57" name="Oval 607">
                  <a:extLst>
                    <a:ext uri="{FF2B5EF4-FFF2-40B4-BE49-F238E27FC236}">
                      <a16:creationId xmlns:a16="http://schemas.microsoft.com/office/drawing/2014/main" id="{12F0C773-020F-D038-1A15-376D24A7B5DA}"/>
                    </a:ext>
                  </a:extLst>
                </p:cNvPr>
                <p:cNvSpPr>
                  <a:spLocks noChangeArrowheads="1"/>
                </p:cNvSpPr>
                <p:nvPr/>
              </p:nvSpPr>
              <p:spPr bwMode="auto">
                <a:xfrm>
                  <a:off x="768" y="3408"/>
                  <a:ext cx="96" cy="9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8" name="AutoShape 608">
                  <a:extLst>
                    <a:ext uri="{FF2B5EF4-FFF2-40B4-BE49-F238E27FC236}">
                      <a16:creationId xmlns:a16="http://schemas.microsoft.com/office/drawing/2014/main" id="{F2C5C6F9-073B-BDFE-5BB8-8B177B67439A}"/>
                    </a:ext>
                  </a:extLst>
                </p:cNvPr>
                <p:cNvSpPr>
                  <a:spLocks noChangeArrowheads="1"/>
                </p:cNvSpPr>
                <p:nvPr/>
              </p:nvSpPr>
              <p:spPr bwMode="auto">
                <a:xfrm>
                  <a:off x="720" y="3354"/>
                  <a:ext cx="192" cy="198"/>
                </a:xfrm>
                <a:custGeom>
                  <a:avLst/>
                  <a:gdLst>
                    <a:gd name="T0" fmla="*/ 1 w 21600"/>
                    <a:gd name="T1" fmla="*/ 0 h 21600"/>
                    <a:gd name="T2" fmla="*/ 0 w 21600"/>
                    <a:gd name="T3" fmla="*/ 1 h 21600"/>
                    <a:gd name="T4" fmla="*/ 1 w 21600"/>
                    <a:gd name="T5" fmla="*/ 0 h 21600"/>
                    <a:gd name="T6" fmla="*/ 1 w 21600"/>
                    <a:gd name="T7" fmla="*/ 1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55" name="Text Box 609">
                <a:extLst>
                  <a:ext uri="{FF2B5EF4-FFF2-40B4-BE49-F238E27FC236}">
                    <a16:creationId xmlns:a16="http://schemas.microsoft.com/office/drawing/2014/main" id="{2B5BEF20-FE1E-5789-15B3-ADE677C57BF0}"/>
                  </a:ext>
                </a:extLst>
              </p:cNvPr>
              <p:cNvSpPr txBox="1">
                <a:spLocks noChangeArrowheads="1"/>
              </p:cNvSpPr>
              <p:nvPr/>
            </p:nvSpPr>
            <p:spPr bwMode="auto">
              <a:xfrm>
                <a:off x="554" y="3202"/>
                <a:ext cx="214" cy="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700" b="0"/>
                  <a:t>= 2</a:t>
                </a:r>
              </a:p>
            </p:txBody>
          </p:sp>
          <p:sp>
            <p:nvSpPr>
              <p:cNvPr id="56" name="Text Box 610">
                <a:extLst>
                  <a:ext uri="{FF2B5EF4-FFF2-40B4-BE49-F238E27FC236}">
                    <a16:creationId xmlns:a16="http://schemas.microsoft.com/office/drawing/2014/main" id="{9133156D-BCD1-3EEA-CDD3-65F8246341F0}"/>
                  </a:ext>
                </a:extLst>
              </p:cNvPr>
              <p:cNvSpPr txBox="1">
                <a:spLocks noChangeArrowheads="1"/>
              </p:cNvSpPr>
              <p:nvPr/>
            </p:nvSpPr>
            <p:spPr bwMode="auto">
              <a:xfrm>
                <a:off x="378" y="2972"/>
                <a:ext cx="427"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t>Receipt</a:t>
                </a:r>
              </a:p>
            </p:txBody>
          </p:sp>
        </p:grpSp>
        <p:sp>
          <p:nvSpPr>
            <p:cNvPr id="59" name="Line 611">
              <a:extLst>
                <a:ext uri="{FF2B5EF4-FFF2-40B4-BE49-F238E27FC236}">
                  <a16:creationId xmlns:a16="http://schemas.microsoft.com/office/drawing/2014/main" id="{FECBF43E-E198-F358-02CA-8C6527AF6D9E}"/>
                </a:ext>
              </a:extLst>
            </p:cNvPr>
            <p:cNvSpPr>
              <a:spLocks noChangeShapeType="1"/>
            </p:cNvSpPr>
            <p:nvPr/>
          </p:nvSpPr>
          <p:spPr bwMode="auto">
            <a:xfrm flipV="1">
              <a:off x="2647803" y="4341222"/>
              <a:ext cx="344488"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60" name="Group 612">
              <a:extLst>
                <a:ext uri="{FF2B5EF4-FFF2-40B4-BE49-F238E27FC236}">
                  <a16:creationId xmlns:a16="http://schemas.microsoft.com/office/drawing/2014/main" id="{47256C14-4335-E11C-391E-F315D1768F28}"/>
                </a:ext>
              </a:extLst>
            </p:cNvPr>
            <p:cNvGrpSpPr>
              <a:grpSpLocks/>
            </p:cNvGrpSpPr>
            <p:nvPr/>
          </p:nvGrpSpPr>
          <p:grpSpPr bwMode="auto">
            <a:xfrm>
              <a:off x="2982766" y="4045947"/>
              <a:ext cx="657225" cy="593725"/>
              <a:chOff x="362" y="2972"/>
              <a:chExt cx="456" cy="390"/>
            </a:xfrm>
          </p:grpSpPr>
          <p:sp>
            <p:nvSpPr>
              <p:cNvPr id="61" name="Rectangle 613">
                <a:extLst>
                  <a:ext uri="{FF2B5EF4-FFF2-40B4-BE49-F238E27FC236}">
                    <a16:creationId xmlns:a16="http://schemas.microsoft.com/office/drawing/2014/main" id="{91A232A7-AEF4-E9A4-301F-171D0CE0596D}"/>
                  </a:ext>
                </a:extLst>
              </p:cNvPr>
              <p:cNvSpPr>
                <a:spLocks noChangeArrowheads="1"/>
              </p:cNvSpPr>
              <p:nvPr/>
            </p:nvSpPr>
            <p:spPr bwMode="auto">
              <a:xfrm>
                <a:off x="362" y="2997"/>
                <a:ext cx="456" cy="36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2" name="Line 614">
                <a:extLst>
                  <a:ext uri="{FF2B5EF4-FFF2-40B4-BE49-F238E27FC236}">
                    <a16:creationId xmlns:a16="http://schemas.microsoft.com/office/drawing/2014/main" id="{D2190580-D221-0564-E4BA-F12B900DEA87}"/>
                  </a:ext>
                </a:extLst>
              </p:cNvPr>
              <p:cNvSpPr>
                <a:spLocks noChangeShapeType="1"/>
              </p:cNvSpPr>
              <p:nvPr/>
            </p:nvSpPr>
            <p:spPr bwMode="auto">
              <a:xfrm>
                <a:off x="365" y="3189"/>
                <a:ext cx="449" cy="1"/>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63" name="Group 615">
                <a:extLst>
                  <a:ext uri="{FF2B5EF4-FFF2-40B4-BE49-F238E27FC236}">
                    <a16:creationId xmlns:a16="http://schemas.microsoft.com/office/drawing/2014/main" id="{399CA192-ADB9-F8C7-FCEA-9716B15D13D6}"/>
                  </a:ext>
                </a:extLst>
              </p:cNvPr>
              <p:cNvGrpSpPr>
                <a:grpSpLocks/>
              </p:cNvGrpSpPr>
              <p:nvPr/>
            </p:nvGrpSpPr>
            <p:grpSpPr bwMode="auto">
              <a:xfrm flipV="1">
                <a:off x="462" y="3188"/>
                <a:ext cx="101" cy="112"/>
                <a:chOff x="720" y="3354"/>
                <a:chExt cx="192" cy="198"/>
              </a:xfrm>
            </p:grpSpPr>
            <p:sp>
              <p:nvSpPr>
                <p:cNvPr id="66" name="Oval 616">
                  <a:extLst>
                    <a:ext uri="{FF2B5EF4-FFF2-40B4-BE49-F238E27FC236}">
                      <a16:creationId xmlns:a16="http://schemas.microsoft.com/office/drawing/2014/main" id="{78672027-8D5A-A815-1231-105620CA07EE}"/>
                    </a:ext>
                  </a:extLst>
                </p:cNvPr>
                <p:cNvSpPr>
                  <a:spLocks noChangeArrowheads="1"/>
                </p:cNvSpPr>
                <p:nvPr/>
              </p:nvSpPr>
              <p:spPr bwMode="auto">
                <a:xfrm>
                  <a:off x="768" y="3408"/>
                  <a:ext cx="96" cy="9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7" name="AutoShape 617">
                  <a:extLst>
                    <a:ext uri="{FF2B5EF4-FFF2-40B4-BE49-F238E27FC236}">
                      <a16:creationId xmlns:a16="http://schemas.microsoft.com/office/drawing/2014/main" id="{5EF5A891-44B6-9BBE-9037-A013CB674B97}"/>
                    </a:ext>
                  </a:extLst>
                </p:cNvPr>
                <p:cNvSpPr>
                  <a:spLocks noChangeArrowheads="1"/>
                </p:cNvSpPr>
                <p:nvPr/>
              </p:nvSpPr>
              <p:spPr bwMode="auto">
                <a:xfrm>
                  <a:off x="720" y="3354"/>
                  <a:ext cx="192" cy="198"/>
                </a:xfrm>
                <a:custGeom>
                  <a:avLst/>
                  <a:gdLst>
                    <a:gd name="T0" fmla="*/ 1 w 21600"/>
                    <a:gd name="T1" fmla="*/ 0 h 21600"/>
                    <a:gd name="T2" fmla="*/ 0 w 21600"/>
                    <a:gd name="T3" fmla="*/ 1 h 21600"/>
                    <a:gd name="T4" fmla="*/ 1 w 21600"/>
                    <a:gd name="T5" fmla="*/ 0 h 21600"/>
                    <a:gd name="T6" fmla="*/ 1 w 21600"/>
                    <a:gd name="T7" fmla="*/ 1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4" name="Text Box 618">
                <a:extLst>
                  <a:ext uri="{FF2B5EF4-FFF2-40B4-BE49-F238E27FC236}">
                    <a16:creationId xmlns:a16="http://schemas.microsoft.com/office/drawing/2014/main" id="{F6D4A901-75FA-C2E9-318F-6628D0B15A32}"/>
                  </a:ext>
                </a:extLst>
              </p:cNvPr>
              <p:cNvSpPr txBox="1">
                <a:spLocks noChangeArrowheads="1"/>
              </p:cNvSpPr>
              <p:nvPr/>
            </p:nvSpPr>
            <p:spPr bwMode="auto">
              <a:xfrm>
                <a:off x="554" y="3202"/>
                <a:ext cx="214" cy="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700" b="0"/>
                  <a:t>= 1</a:t>
                </a:r>
              </a:p>
            </p:txBody>
          </p:sp>
          <p:sp>
            <p:nvSpPr>
              <p:cNvPr id="65" name="Text Box 619">
                <a:extLst>
                  <a:ext uri="{FF2B5EF4-FFF2-40B4-BE49-F238E27FC236}">
                    <a16:creationId xmlns:a16="http://schemas.microsoft.com/office/drawing/2014/main" id="{06A30D92-9310-71C5-236E-76581D336161}"/>
                  </a:ext>
                </a:extLst>
              </p:cNvPr>
              <p:cNvSpPr txBox="1">
                <a:spLocks noChangeArrowheads="1"/>
              </p:cNvSpPr>
              <p:nvPr/>
            </p:nvSpPr>
            <p:spPr bwMode="auto">
              <a:xfrm>
                <a:off x="378" y="2972"/>
                <a:ext cx="427" cy="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t>Signature</a:t>
                </a:r>
              </a:p>
              <a:p>
                <a:pPr algn="ctr">
                  <a:lnSpc>
                    <a:spcPct val="100000"/>
                  </a:lnSpc>
                  <a:spcBef>
                    <a:spcPct val="0"/>
                  </a:spcBef>
                  <a:spcAft>
                    <a:spcPct val="0"/>
                  </a:spcAft>
                  <a:buClrTx/>
                  <a:buSzTx/>
                  <a:buFontTx/>
                  <a:buNone/>
                </a:pPr>
                <a:r>
                  <a:rPr lang="en-US" altLang="en-US" sz="700" b="0"/>
                  <a:t>Check</a:t>
                </a:r>
              </a:p>
            </p:txBody>
          </p:sp>
        </p:grpSp>
        <p:grpSp>
          <p:nvGrpSpPr>
            <p:cNvPr id="68" name="Group 620">
              <a:extLst>
                <a:ext uri="{FF2B5EF4-FFF2-40B4-BE49-F238E27FC236}">
                  <a16:creationId xmlns:a16="http://schemas.microsoft.com/office/drawing/2014/main" id="{6029A238-CB6B-12E9-432B-52228C370381}"/>
                </a:ext>
              </a:extLst>
            </p:cNvPr>
            <p:cNvGrpSpPr>
              <a:grpSpLocks/>
            </p:cNvGrpSpPr>
            <p:nvPr/>
          </p:nvGrpSpPr>
          <p:grpSpPr bwMode="auto">
            <a:xfrm>
              <a:off x="7951641" y="3563347"/>
              <a:ext cx="635000" cy="555625"/>
              <a:chOff x="3979" y="2536"/>
              <a:chExt cx="525" cy="365"/>
            </a:xfrm>
          </p:grpSpPr>
          <p:sp>
            <p:nvSpPr>
              <p:cNvPr id="69" name="Rectangle 621">
                <a:extLst>
                  <a:ext uri="{FF2B5EF4-FFF2-40B4-BE49-F238E27FC236}">
                    <a16:creationId xmlns:a16="http://schemas.microsoft.com/office/drawing/2014/main" id="{8A2725E3-0DD9-40D8-45D7-36D70EBF5835}"/>
                  </a:ext>
                </a:extLst>
              </p:cNvPr>
              <p:cNvSpPr>
                <a:spLocks noChangeArrowheads="1"/>
              </p:cNvSpPr>
              <p:nvPr/>
            </p:nvSpPr>
            <p:spPr bwMode="auto">
              <a:xfrm>
                <a:off x="3979" y="2536"/>
                <a:ext cx="525" cy="36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0" name="Line 622">
                <a:extLst>
                  <a:ext uri="{FF2B5EF4-FFF2-40B4-BE49-F238E27FC236}">
                    <a16:creationId xmlns:a16="http://schemas.microsoft.com/office/drawing/2014/main" id="{BAFB6498-B800-F21F-A05C-6F1D50AAAEFF}"/>
                  </a:ext>
                </a:extLst>
              </p:cNvPr>
              <p:cNvSpPr>
                <a:spLocks noChangeShapeType="1"/>
              </p:cNvSpPr>
              <p:nvPr/>
            </p:nvSpPr>
            <p:spPr bwMode="auto">
              <a:xfrm>
                <a:off x="3982" y="2734"/>
                <a:ext cx="518" cy="1"/>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71" name="Text Box 623">
              <a:extLst>
                <a:ext uri="{FF2B5EF4-FFF2-40B4-BE49-F238E27FC236}">
                  <a16:creationId xmlns:a16="http://schemas.microsoft.com/office/drawing/2014/main" id="{8F725840-1703-D0B3-B7D2-4FB7801EF734}"/>
                </a:ext>
              </a:extLst>
            </p:cNvPr>
            <p:cNvSpPr txBox="1">
              <a:spLocks noChangeArrowheads="1"/>
            </p:cNvSpPr>
            <p:nvPr/>
          </p:nvSpPr>
          <p:spPr bwMode="auto">
            <a:xfrm>
              <a:off x="7969103" y="3523659"/>
              <a:ext cx="6111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t>Generate</a:t>
              </a:r>
            </a:p>
            <a:p>
              <a:pPr algn="ctr">
                <a:lnSpc>
                  <a:spcPct val="100000"/>
                </a:lnSpc>
                <a:spcBef>
                  <a:spcPct val="0"/>
                </a:spcBef>
                <a:spcAft>
                  <a:spcPct val="0"/>
                </a:spcAft>
                <a:buClrTx/>
                <a:buSzTx/>
                <a:buFontTx/>
                <a:buNone/>
              </a:pPr>
              <a:r>
                <a:rPr lang="en-US" altLang="en-US" sz="700" b="0"/>
                <a:t>Card</a:t>
              </a:r>
            </a:p>
          </p:txBody>
        </p:sp>
        <p:sp>
          <p:nvSpPr>
            <p:cNvPr id="72" name="Line 624">
              <a:extLst>
                <a:ext uri="{FF2B5EF4-FFF2-40B4-BE49-F238E27FC236}">
                  <a16:creationId xmlns:a16="http://schemas.microsoft.com/office/drawing/2014/main" id="{7863FE3D-C839-143E-2C46-3C87502BA401}"/>
                </a:ext>
              </a:extLst>
            </p:cNvPr>
            <p:cNvSpPr>
              <a:spLocks noChangeShapeType="1"/>
            </p:cNvSpPr>
            <p:nvPr/>
          </p:nvSpPr>
          <p:spPr bwMode="auto">
            <a:xfrm>
              <a:off x="8602516" y="3860209"/>
              <a:ext cx="296862" cy="4857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73" name="Line 625">
              <a:extLst>
                <a:ext uri="{FF2B5EF4-FFF2-40B4-BE49-F238E27FC236}">
                  <a16:creationId xmlns:a16="http://schemas.microsoft.com/office/drawing/2014/main" id="{C48B57EE-0EF4-A0CD-8A9C-11C9A9B9ED72}"/>
                </a:ext>
              </a:extLst>
            </p:cNvPr>
            <p:cNvSpPr>
              <a:spLocks noChangeShapeType="1"/>
            </p:cNvSpPr>
            <p:nvPr/>
          </p:nvSpPr>
          <p:spPr bwMode="auto">
            <a:xfrm flipV="1">
              <a:off x="5646591" y="4341222"/>
              <a:ext cx="346075"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74" name="Line 627">
              <a:extLst>
                <a:ext uri="{FF2B5EF4-FFF2-40B4-BE49-F238E27FC236}">
                  <a16:creationId xmlns:a16="http://schemas.microsoft.com/office/drawing/2014/main" id="{53002C06-5AEE-076B-A821-6FE696DD045B}"/>
                </a:ext>
              </a:extLst>
            </p:cNvPr>
            <p:cNvSpPr>
              <a:spLocks noChangeShapeType="1"/>
            </p:cNvSpPr>
            <p:nvPr/>
          </p:nvSpPr>
          <p:spPr bwMode="auto">
            <a:xfrm>
              <a:off x="6638778" y="4353922"/>
              <a:ext cx="336550" cy="595312"/>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cxnSp>
          <p:nvCxnSpPr>
            <p:cNvPr id="75" name="AutoShape 629">
              <a:extLst>
                <a:ext uri="{FF2B5EF4-FFF2-40B4-BE49-F238E27FC236}">
                  <a16:creationId xmlns:a16="http://schemas.microsoft.com/office/drawing/2014/main" id="{51615B8D-5711-9485-1B10-66A081905830}"/>
                </a:ext>
              </a:extLst>
            </p:cNvPr>
            <p:cNvCxnSpPr>
              <a:cxnSpLocks noChangeShapeType="1"/>
              <a:stCxn id="30" idx="0"/>
            </p:cNvCxnSpPr>
            <p:nvPr/>
          </p:nvCxnSpPr>
          <p:spPr bwMode="auto">
            <a:xfrm rot="5400000" flipH="1">
              <a:off x="7118203" y="1459910"/>
              <a:ext cx="1571625" cy="3600450"/>
            </a:xfrm>
            <a:prstGeom prst="bentConnector2">
              <a:avLst/>
            </a:prstGeom>
            <a:noFill/>
            <a:ln w="53975" cap="sq">
              <a:solidFill>
                <a:schemeClr val="tx1"/>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 name="Text Box 641">
              <a:extLst>
                <a:ext uri="{FF2B5EF4-FFF2-40B4-BE49-F238E27FC236}">
                  <a16:creationId xmlns:a16="http://schemas.microsoft.com/office/drawing/2014/main" id="{62FB0089-683E-EC86-2585-546BA3153DDB}"/>
                </a:ext>
              </a:extLst>
            </p:cNvPr>
            <p:cNvSpPr txBox="1">
              <a:spLocks noChangeArrowheads="1"/>
            </p:cNvSpPr>
            <p:nvPr/>
          </p:nvSpPr>
          <p:spPr bwMode="auto">
            <a:xfrm>
              <a:off x="2300141" y="3233147"/>
              <a:ext cx="2081212"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685800" indent="-22860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00000"/>
                </a:lnSpc>
                <a:spcBef>
                  <a:spcPct val="0"/>
                </a:spcBef>
                <a:spcAft>
                  <a:spcPct val="0"/>
                </a:spcAft>
                <a:buClrTx/>
                <a:buSzTx/>
                <a:buFontTx/>
                <a:buNone/>
              </a:pPr>
              <a:r>
                <a:rPr lang="en-US" altLang="en-US" sz="600" b="0"/>
                <a:t>Demand = 500 Electronic applications/day</a:t>
              </a:r>
            </a:p>
          </p:txBody>
        </p:sp>
        <p:sp>
          <p:nvSpPr>
            <p:cNvPr id="77" name="Rectangle 650">
              <a:extLst>
                <a:ext uri="{FF2B5EF4-FFF2-40B4-BE49-F238E27FC236}">
                  <a16:creationId xmlns:a16="http://schemas.microsoft.com/office/drawing/2014/main" id="{6C3B67F4-FEFA-65B0-1247-952399A68F8C}"/>
                </a:ext>
              </a:extLst>
            </p:cNvPr>
            <p:cNvSpPr>
              <a:spLocks noChangeArrowheads="1"/>
            </p:cNvSpPr>
            <p:nvPr/>
          </p:nvSpPr>
          <p:spPr bwMode="auto">
            <a:xfrm>
              <a:off x="6033941" y="3657009"/>
              <a:ext cx="515937" cy="340161"/>
            </a:xfrm>
            <a:prstGeom prst="rect">
              <a:avLst/>
            </a:prstGeom>
            <a:solidFill>
              <a:srgbClr val="FFFF00"/>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900" b="0" dirty="0"/>
                <a:t>20% loss</a:t>
              </a:r>
              <a:endParaRPr lang="en-US" altLang="en-US" sz="900" b="0" dirty="0">
                <a:solidFill>
                  <a:srgbClr val="FF0000"/>
                </a:solidFill>
              </a:endParaRPr>
            </a:p>
          </p:txBody>
        </p:sp>
        <p:sp>
          <p:nvSpPr>
            <p:cNvPr id="78" name="Rectangle 651">
              <a:extLst>
                <a:ext uri="{FF2B5EF4-FFF2-40B4-BE49-F238E27FC236}">
                  <a16:creationId xmlns:a16="http://schemas.microsoft.com/office/drawing/2014/main" id="{F808A32D-7A6A-8DF5-13DE-6322B7E93479}"/>
                </a:ext>
              </a:extLst>
            </p:cNvPr>
            <p:cNvSpPr>
              <a:spLocks noChangeArrowheads="1"/>
            </p:cNvSpPr>
            <p:nvPr/>
          </p:nvSpPr>
          <p:spPr bwMode="auto">
            <a:xfrm>
              <a:off x="3065316" y="3671297"/>
              <a:ext cx="515937" cy="340161"/>
            </a:xfrm>
            <a:prstGeom prst="rect">
              <a:avLst/>
            </a:prstGeom>
            <a:solidFill>
              <a:srgbClr val="FFFF00"/>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900" b="0" dirty="0"/>
                <a:t>18% loss</a:t>
              </a:r>
              <a:endParaRPr lang="en-US" altLang="en-US" sz="900" b="0" dirty="0">
                <a:solidFill>
                  <a:srgbClr val="FF0000"/>
                </a:solidFill>
              </a:endParaRPr>
            </a:p>
          </p:txBody>
        </p:sp>
        <p:sp>
          <p:nvSpPr>
            <p:cNvPr id="79" name="Rectangle 652">
              <a:extLst>
                <a:ext uri="{FF2B5EF4-FFF2-40B4-BE49-F238E27FC236}">
                  <a16:creationId xmlns:a16="http://schemas.microsoft.com/office/drawing/2014/main" id="{D7095DF4-0E6C-05B8-1296-19A804A14669}"/>
                </a:ext>
              </a:extLst>
            </p:cNvPr>
            <p:cNvSpPr>
              <a:spLocks noChangeArrowheads="1"/>
            </p:cNvSpPr>
            <p:nvPr/>
          </p:nvSpPr>
          <p:spPr bwMode="auto">
            <a:xfrm>
              <a:off x="5043341" y="3671297"/>
              <a:ext cx="515937" cy="340161"/>
            </a:xfrm>
            <a:prstGeom prst="rect">
              <a:avLst/>
            </a:prstGeom>
            <a:solidFill>
              <a:srgbClr val="FFFF00"/>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900" b="0" dirty="0"/>
                <a:t>13.5% loss</a:t>
              </a:r>
              <a:endParaRPr lang="en-US" altLang="en-US" sz="900" b="0" dirty="0">
                <a:solidFill>
                  <a:srgbClr val="FF0000"/>
                </a:solidFill>
              </a:endParaRPr>
            </a:p>
          </p:txBody>
        </p:sp>
        <p:sp>
          <p:nvSpPr>
            <p:cNvPr id="80" name="Rectangle 653">
              <a:extLst>
                <a:ext uri="{FF2B5EF4-FFF2-40B4-BE49-F238E27FC236}">
                  <a16:creationId xmlns:a16="http://schemas.microsoft.com/office/drawing/2014/main" id="{F9F18566-A91D-3BFA-EA52-136073F7A011}"/>
                </a:ext>
              </a:extLst>
            </p:cNvPr>
            <p:cNvSpPr>
              <a:spLocks noChangeArrowheads="1"/>
            </p:cNvSpPr>
            <p:nvPr/>
          </p:nvSpPr>
          <p:spPr bwMode="auto">
            <a:xfrm>
              <a:off x="6773716" y="3137897"/>
              <a:ext cx="663575" cy="467721"/>
            </a:xfrm>
            <a:prstGeom prst="rect">
              <a:avLst/>
            </a:prstGeom>
            <a:solidFill>
              <a:srgbClr val="FFFF00"/>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900" b="0" dirty="0"/>
                <a:t>65% go directly to Vendor</a:t>
              </a:r>
              <a:r>
                <a:rPr lang="en-US" altLang="en-US" sz="900" b="0" dirty="0">
                  <a:solidFill>
                    <a:srgbClr val="FF0000"/>
                  </a:solidFill>
                </a:rPr>
                <a:t> </a:t>
              </a:r>
            </a:p>
          </p:txBody>
        </p:sp>
        <p:cxnSp>
          <p:nvCxnSpPr>
            <p:cNvPr id="81" name="AutoShape 654">
              <a:extLst>
                <a:ext uri="{FF2B5EF4-FFF2-40B4-BE49-F238E27FC236}">
                  <a16:creationId xmlns:a16="http://schemas.microsoft.com/office/drawing/2014/main" id="{A8D6E2A2-25DE-5AB3-277D-7BFE20D53B10}"/>
                </a:ext>
              </a:extLst>
            </p:cNvPr>
            <p:cNvCxnSpPr>
              <a:cxnSpLocks noChangeShapeType="1"/>
              <a:stCxn id="86" idx="1"/>
            </p:cNvCxnSpPr>
            <p:nvPr/>
          </p:nvCxnSpPr>
          <p:spPr bwMode="auto">
            <a:xfrm rot="10800000" flipV="1">
              <a:off x="1788966" y="2487022"/>
              <a:ext cx="2478087" cy="1708150"/>
            </a:xfrm>
            <a:prstGeom prst="bentConnector2">
              <a:avLst/>
            </a:prstGeom>
            <a:noFill/>
            <a:ln w="57150" cap="sq">
              <a:solidFill>
                <a:schemeClr val="tx1"/>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82" name="Group 655">
              <a:extLst>
                <a:ext uri="{FF2B5EF4-FFF2-40B4-BE49-F238E27FC236}">
                  <a16:creationId xmlns:a16="http://schemas.microsoft.com/office/drawing/2014/main" id="{48FC73B1-8070-F339-AC9B-F488DCEC8377}"/>
                </a:ext>
              </a:extLst>
            </p:cNvPr>
            <p:cNvGrpSpPr>
              <a:grpSpLocks/>
            </p:cNvGrpSpPr>
            <p:nvPr/>
          </p:nvGrpSpPr>
          <p:grpSpPr bwMode="auto">
            <a:xfrm>
              <a:off x="4797278" y="2477497"/>
              <a:ext cx="487363" cy="1700212"/>
              <a:chOff x="1065" y="1628"/>
              <a:chExt cx="780" cy="1403"/>
            </a:xfrm>
          </p:grpSpPr>
          <p:cxnSp>
            <p:nvCxnSpPr>
              <p:cNvPr id="83" name="AutoShape 656">
                <a:extLst>
                  <a:ext uri="{FF2B5EF4-FFF2-40B4-BE49-F238E27FC236}">
                    <a16:creationId xmlns:a16="http://schemas.microsoft.com/office/drawing/2014/main" id="{67FA9DFF-06FD-2AA0-A924-213B244FD904}"/>
                  </a:ext>
                </a:extLst>
              </p:cNvPr>
              <p:cNvCxnSpPr>
                <a:cxnSpLocks noChangeShapeType="1"/>
              </p:cNvCxnSpPr>
              <p:nvPr/>
            </p:nvCxnSpPr>
            <p:spPr bwMode="auto">
              <a:xfrm flipH="1">
                <a:off x="1472" y="1628"/>
                <a:ext cx="373" cy="54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 name="AutoShape 657">
                <a:extLst>
                  <a:ext uri="{FF2B5EF4-FFF2-40B4-BE49-F238E27FC236}">
                    <a16:creationId xmlns:a16="http://schemas.microsoft.com/office/drawing/2014/main" id="{4A0CF67C-7166-89AD-C861-0C0581F115A2}"/>
                  </a:ext>
                </a:extLst>
              </p:cNvPr>
              <p:cNvCxnSpPr>
                <a:cxnSpLocks noChangeShapeType="1"/>
              </p:cNvCxnSpPr>
              <p:nvPr/>
            </p:nvCxnSpPr>
            <p:spPr bwMode="auto">
              <a:xfrm>
                <a:off x="1469" y="2172"/>
                <a:ext cx="144" cy="8"/>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 name="AutoShape 658">
                <a:extLst>
                  <a:ext uri="{FF2B5EF4-FFF2-40B4-BE49-F238E27FC236}">
                    <a16:creationId xmlns:a16="http://schemas.microsoft.com/office/drawing/2014/main" id="{32AD6D1A-60C8-28D5-4B20-EA268BB983D6}"/>
                  </a:ext>
                </a:extLst>
              </p:cNvPr>
              <p:cNvCxnSpPr>
                <a:cxnSpLocks noChangeShapeType="1"/>
              </p:cNvCxnSpPr>
              <p:nvPr/>
            </p:nvCxnSpPr>
            <p:spPr bwMode="auto">
              <a:xfrm flipH="1">
                <a:off x="1065" y="2175"/>
                <a:ext cx="552" cy="856"/>
              </a:xfrm>
              <a:prstGeom prst="straightConnector1">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6" name="Text Box 666">
              <a:extLst>
                <a:ext uri="{FF2B5EF4-FFF2-40B4-BE49-F238E27FC236}">
                  <a16:creationId xmlns:a16="http://schemas.microsoft.com/office/drawing/2014/main" id="{5907737C-025F-FC23-D28D-18CD6F74E886}"/>
                </a:ext>
              </a:extLst>
            </p:cNvPr>
            <p:cNvSpPr txBox="1">
              <a:spLocks noChangeArrowheads="1"/>
            </p:cNvSpPr>
            <p:nvPr/>
          </p:nvSpPr>
          <p:spPr bwMode="auto">
            <a:xfrm>
              <a:off x="4267053" y="2264772"/>
              <a:ext cx="103187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685800" indent="-22860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00000"/>
                </a:lnSpc>
                <a:spcBef>
                  <a:spcPct val="0"/>
                </a:spcBef>
                <a:spcAft>
                  <a:spcPct val="0"/>
                </a:spcAft>
                <a:buClrTx/>
                <a:buSzTx/>
                <a:buFontTx/>
                <a:buChar char="•"/>
              </a:pPr>
              <a:r>
                <a:rPr lang="en-US" altLang="en-US" sz="600" b="0"/>
                <a:t>Demand = 40,000 Accounts/month</a:t>
              </a:r>
            </a:p>
            <a:p>
              <a:pPr>
                <a:lnSpc>
                  <a:spcPct val="100000"/>
                </a:lnSpc>
                <a:spcBef>
                  <a:spcPct val="0"/>
                </a:spcBef>
                <a:spcAft>
                  <a:spcPct val="0"/>
                </a:spcAft>
                <a:buClrTx/>
                <a:buSzTx/>
                <a:buFontTx/>
                <a:buChar char="•"/>
              </a:pPr>
              <a:r>
                <a:rPr lang="en-US" altLang="en-US" sz="600" b="0"/>
                <a:t>24 Hours/Day</a:t>
              </a:r>
            </a:p>
          </p:txBody>
        </p:sp>
        <p:sp>
          <p:nvSpPr>
            <p:cNvPr id="87" name="Text Box 667">
              <a:extLst>
                <a:ext uri="{FF2B5EF4-FFF2-40B4-BE49-F238E27FC236}">
                  <a16:creationId xmlns:a16="http://schemas.microsoft.com/office/drawing/2014/main" id="{D6E49084-81CA-77D9-B29E-A9373271C0FD}"/>
                </a:ext>
              </a:extLst>
            </p:cNvPr>
            <p:cNvSpPr txBox="1">
              <a:spLocks noChangeArrowheads="1"/>
            </p:cNvSpPr>
            <p:nvPr/>
          </p:nvSpPr>
          <p:spPr bwMode="auto">
            <a:xfrm>
              <a:off x="1804841" y="2618784"/>
              <a:ext cx="2081212"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685800" indent="-22860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00000"/>
                </a:lnSpc>
                <a:spcBef>
                  <a:spcPct val="0"/>
                </a:spcBef>
                <a:spcAft>
                  <a:spcPct val="0"/>
                </a:spcAft>
                <a:buClrTx/>
                <a:buSzTx/>
                <a:buFontTx/>
                <a:buNone/>
              </a:pPr>
              <a:r>
                <a:rPr lang="en-US" altLang="en-US" sz="600" b="0"/>
                <a:t>Demand = 1,500 Hardcopy applications/day</a:t>
              </a:r>
            </a:p>
          </p:txBody>
        </p:sp>
        <p:sp>
          <p:nvSpPr>
            <p:cNvPr id="88" name="Rectangle 668">
              <a:extLst>
                <a:ext uri="{FF2B5EF4-FFF2-40B4-BE49-F238E27FC236}">
                  <a16:creationId xmlns:a16="http://schemas.microsoft.com/office/drawing/2014/main" id="{6ADB7B0C-E6D1-A7A4-DA95-AB2D250F9340}"/>
                </a:ext>
              </a:extLst>
            </p:cNvPr>
            <p:cNvSpPr>
              <a:spLocks noChangeArrowheads="1"/>
            </p:cNvSpPr>
            <p:nvPr/>
          </p:nvSpPr>
          <p:spPr bwMode="auto">
            <a:xfrm>
              <a:off x="9377216" y="4668247"/>
              <a:ext cx="647700" cy="546100"/>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89" name="Rectangle 669">
              <a:extLst>
                <a:ext uri="{FF2B5EF4-FFF2-40B4-BE49-F238E27FC236}">
                  <a16:creationId xmlns:a16="http://schemas.microsoft.com/office/drawing/2014/main" id="{805C82B8-429E-F4BA-DC83-6A0D3ED370B2}"/>
                </a:ext>
              </a:extLst>
            </p:cNvPr>
            <p:cNvSpPr>
              <a:spLocks noChangeArrowheads="1"/>
            </p:cNvSpPr>
            <p:nvPr/>
          </p:nvSpPr>
          <p:spPr bwMode="auto">
            <a:xfrm>
              <a:off x="6983266" y="5234984"/>
              <a:ext cx="687387" cy="54927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90" name="Rectangle 670">
              <a:extLst>
                <a:ext uri="{FF2B5EF4-FFF2-40B4-BE49-F238E27FC236}">
                  <a16:creationId xmlns:a16="http://schemas.microsoft.com/office/drawing/2014/main" id="{FA0346C6-CAA9-CC00-7A83-520C9DD811C0}"/>
                </a:ext>
              </a:extLst>
            </p:cNvPr>
            <p:cNvSpPr>
              <a:spLocks noChangeArrowheads="1"/>
            </p:cNvSpPr>
            <p:nvPr/>
          </p:nvSpPr>
          <p:spPr bwMode="auto">
            <a:xfrm>
              <a:off x="5984728" y="4661897"/>
              <a:ext cx="649288" cy="54927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91" name="Rectangle 671">
              <a:extLst>
                <a:ext uri="{FF2B5EF4-FFF2-40B4-BE49-F238E27FC236}">
                  <a16:creationId xmlns:a16="http://schemas.microsoft.com/office/drawing/2014/main" id="{AC88BFFA-2B96-CD0E-2B72-15684F34642A}"/>
                </a:ext>
              </a:extLst>
            </p:cNvPr>
            <p:cNvSpPr>
              <a:spLocks noChangeArrowheads="1"/>
            </p:cNvSpPr>
            <p:nvPr/>
          </p:nvSpPr>
          <p:spPr bwMode="auto">
            <a:xfrm>
              <a:off x="4963966" y="4661897"/>
              <a:ext cx="668337" cy="54927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92" name="Rectangle 672">
              <a:extLst>
                <a:ext uri="{FF2B5EF4-FFF2-40B4-BE49-F238E27FC236}">
                  <a16:creationId xmlns:a16="http://schemas.microsoft.com/office/drawing/2014/main" id="{CDEEE7BB-813D-5533-99FA-BED4F96BED74}"/>
                </a:ext>
              </a:extLst>
            </p:cNvPr>
            <p:cNvSpPr>
              <a:spLocks noChangeArrowheads="1"/>
            </p:cNvSpPr>
            <p:nvPr/>
          </p:nvSpPr>
          <p:spPr bwMode="auto">
            <a:xfrm>
              <a:off x="3967016" y="4661897"/>
              <a:ext cx="649287" cy="54927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93" name="Rectangle 673">
              <a:extLst>
                <a:ext uri="{FF2B5EF4-FFF2-40B4-BE49-F238E27FC236}">
                  <a16:creationId xmlns:a16="http://schemas.microsoft.com/office/drawing/2014/main" id="{DBAB5F49-2B8E-FA5A-4C59-5706DAA80D5B}"/>
                </a:ext>
              </a:extLst>
            </p:cNvPr>
            <p:cNvSpPr>
              <a:spLocks noChangeArrowheads="1"/>
            </p:cNvSpPr>
            <p:nvPr/>
          </p:nvSpPr>
          <p:spPr bwMode="auto">
            <a:xfrm>
              <a:off x="2979591" y="4661897"/>
              <a:ext cx="647700" cy="54927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94" name="Rectangle 674">
              <a:extLst>
                <a:ext uri="{FF2B5EF4-FFF2-40B4-BE49-F238E27FC236}">
                  <a16:creationId xmlns:a16="http://schemas.microsoft.com/office/drawing/2014/main" id="{CD637891-8152-6646-3737-4C9325708EB8}"/>
                </a:ext>
              </a:extLst>
            </p:cNvPr>
            <p:cNvSpPr>
              <a:spLocks noChangeArrowheads="1"/>
            </p:cNvSpPr>
            <p:nvPr/>
          </p:nvSpPr>
          <p:spPr bwMode="auto">
            <a:xfrm>
              <a:off x="3932091" y="4658722"/>
              <a:ext cx="693737" cy="56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25000"/>
                </a:lnSpc>
                <a:spcBef>
                  <a:spcPct val="0"/>
                </a:spcBef>
                <a:spcAft>
                  <a:spcPct val="0"/>
                </a:spcAft>
                <a:buClrTx/>
                <a:buSzTx/>
                <a:buFontTx/>
                <a:buNone/>
              </a:pPr>
              <a:r>
                <a:rPr lang="en-US" altLang="en-US" sz="500" b="0"/>
                <a:t>Volume = 1,230</a:t>
              </a:r>
            </a:p>
            <a:p>
              <a:pPr>
                <a:lnSpc>
                  <a:spcPct val="125000"/>
                </a:lnSpc>
                <a:spcBef>
                  <a:spcPct val="0"/>
                </a:spcBef>
                <a:spcAft>
                  <a:spcPct val="0"/>
                </a:spcAft>
                <a:buClrTx/>
                <a:buSzTx/>
                <a:buFontTx/>
                <a:buNone/>
              </a:pPr>
              <a:r>
                <a:rPr lang="en-US" altLang="en-US" sz="500" b="0"/>
                <a:t>Processing Time = 5”</a:t>
              </a:r>
            </a:p>
            <a:p>
              <a:pPr>
                <a:lnSpc>
                  <a:spcPct val="125000"/>
                </a:lnSpc>
                <a:spcBef>
                  <a:spcPct val="0"/>
                </a:spcBef>
                <a:spcAft>
                  <a:spcPct val="0"/>
                </a:spcAft>
                <a:buClrTx/>
                <a:buSzTx/>
                <a:buFontTx/>
                <a:buNone/>
              </a:pPr>
              <a:r>
                <a:rPr lang="en-US" altLang="en-US" sz="500" b="0"/>
                <a:t>DOI = 5”</a:t>
              </a:r>
            </a:p>
            <a:p>
              <a:pPr>
                <a:lnSpc>
                  <a:spcPct val="125000"/>
                </a:lnSpc>
                <a:spcBef>
                  <a:spcPct val="0"/>
                </a:spcBef>
                <a:spcAft>
                  <a:spcPct val="0"/>
                </a:spcAft>
                <a:buClrTx/>
                <a:buSzTx/>
                <a:buFontTx/>
                <a:buNone/>
              </a:pPr>
              <a:r>
                <a:rPr lang="en-US" altLang="en-US" sz="500" b="0"/>
                <a:t>Quality = 95%</a:t>
              </a:r>
            </a:p>
            <a:p>
              <a:pPr>
                <a:lnSpc>
                  <a:spcPct val="125000"/>
                </a:lnSpc>
                <a:spcBef>
                  <a:spcPct val="0"/>
                </a:spcBef>
                <a:spcAft>
                  <a:spcPct val="0"/>
                </a:spcAft>
                <a:buClrTx/>
                <a:buSzTx/>
                <a:buFontTx/>
                <a:buNone/>
              </a:pPr>
              <a:r>
                <a:rPr lang="en-US" altLang="en-US" sz="500" b="0"/>
                <a:t># Rework = 1</a:t>
              </a:r>
            </a:p>
          </p:txBody>
        </p:sp>
        <p:sp>
          <p:nvSpPr>
            <p:cNvPr id="95" name="Rectangle 675">
              <a:extLst>
                <a:ext uri="{FF2B5EF4-FFF2-40B4-BE49-F238E27FC236}">
                  <a16:creationId xmlns:a16="http://schemas.microsoft.com/office/drawing/2014/main" id="{6ECE7B2D-609F-A76B-04D3-C8E7A530E4CB}"/>
                </a:ext>
              </a:extLst>
            </p:cNvPr>
            <p:cNvSpPr>
              <a:spLocks noChangeArrowheads="1"/>
            </p:cNvSpPr>
            <p:nvPr/>
          </p:nvSpPr>
          <p:spPr bwMode="auto">
            <a:xfrm>
              <a:off x="1993753" y="4661897"/>
              <a:ext cx="647700" cy="54927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96" name="Rectangle 676">
              <a:extLst>
                <a:ext uri="{FF2B5EF4-FFF2-40B4-BE49-F238E27FC236}">
                  <a16:creationId xmlns:a16="http://schemas.microsoft.com/office/drawing/2014/main" id="{E2774199-89E9-F8BC-49D2-731A68C35CE2}"/>
                </a:ext>
              </a:extLst>
            </p:cNvPr>
            <p:cNvSpPr>
              <a:spLocks noChangeArrowheads="1"/>
            </p:cNvSpPr>
            <p:nvPr/>
          </p:nvSpPr>
          <p:spPr bwMode="auto">
            <a:xfrm>
              <a:off x="1955653" y="4658722"/>
              <a:ext cx="728663" cy="56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25000"/>
                </a:lnSpc>
                <a:spcBef>
                  <a:spcPct val="0"/>
                </a:spcBef>
                <a:spcAft>
                  <a:spcPct val="0"/>
                </a:spcAft>
                <a:buClrTx/>
                <a:buSzTx/>
                <a:buFontTx/>
                <a:buNone/>
              </a:pPr>
              <a:r>
                <a:rPr lang="en-US" altLang="en-US" sz="500" b="0"/>
                <a:t>Volume = 1,500</a:t>
              </a:r>
            </a:p>
            <a:p>
              <a:pPr>
                <a:lnSpc>
                  <a:spcPct val="125000"/>
                </a:lnSpc>
                <a:spcBef>
                  <a:spcPct val="0"/>
                </a:spcBef>
                <a:spcAft>
                  <a:spcPct val="0"/>
                </a:spcAft>
                <a:buClrTx/>
                <a:buSzTx/>
                <a:buFontTx/>
                <a:buNone/>
              </a:pPr>
              <a:r>
                <a:rPr lang="en-US" altLang="en-US" sz="500" b="0"/>
                <a:t>Processing Time = 15”</a:t>
              </a:r>
            </a:p>
            <a:p>
              <a:pPr>
                <a:lnSpc>
                  <a:spcPct val="125000"/>
                </a:lnSpc>
                <a:spcBef>
                  <a:spcPct val="0"/>
                </a:spcBef>
                <a:spcAft>
                  <a:spcPct val="0"/>
                </a:spcAft>
                <a:buClrTx/>
                <a:buSzTx/>
                <a:buFontTx/>
                <a:buNone/>
              </a:pPr>
              <a:r>
                <a:rPr lang="en-US" altLang="en-US" sz="500" b="0"/>
                <a:t>DOI = 10”</a:t>
              </a:r>
            </a:p>
            <a:p>
              <a:pPr>
                <a:lnSpc>
                  <a:spcPct val="125000"/>
                </a:lnSpc>
                <a:spcBef>
                  <a:spcPct val="0"/>
                </a:spcBef>
                <a:spcAft>
                  <a:spcPct val="0"/>
                </a:spcAft>
                <a:buClrTx/>
                <a:buSzTx/>
                <a:buFontTx/>
                <a:buNone/>
              </a:pPr>
              <a:r>
                <a:rPr lang="en-US" altLang="en-US" sz="500" b="0"/>
                <a:t>Quality = 100%</a:t>
              </a:r>
            </a:p>
            <a:p>
              <a:pPr>
                <a:lnSpc>
                  <a:spcPct val="125000"/>
                </a:lnSpc>
                <a:spcBef>
                  <a:spcPct val="0"/>
                </a:spcBef>
                <a:spcAft>
                  <a:spcPct val="0"/>
                </a:spcAft>
                <a:buClrTx/>
                <a:buSzTx/>
                <a:buFontTx/>
                <a:buNone/>
              </a:pPr>
              <a:r>
                <a:rPr lang="en-US" altLang="en-US" sz="500" b="0"/>
                <a:t># Rework = 0</a:t>
              </a:r>
            </a:p>
          </p:txBody>
        </p:sp>
        <p:sp>
          <p:nvSpPr>
            <p:cNvPr id="97" name="Line 678">
              <a:extLst>
                <a:ext uri="{FF2B5EF4-FFF2-40B4-BE49-F238E27FC236}">
                  <a16:creationId xmlns:a16="http://schemas.microsoft.com/office/drawing/2014/main" id="{4A3F1C3A-D787-2307-169E-2E867FDBEBC8}"/>
                </a:ext>
              </a:extLst>
            </p:cNvPr>
            <p:cNvSpPr>
              <a:spLocks noChangeShapeType="1"/>
            </p:cNvSpPr>
            <p:nvPr/>
          </p:nvSpPr>
          <p:spPr bwMode="auto">
            <a:xfrm flipV="1">
              <a:off x="8661253" y="5922372"/>
              <a:ext cx="679450" cy="635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98" name="Line 679">
              <a:extLst>
                <a:ext uri="{FF2B5EF4-FFF2-40B4-BE49-F238E27FC236}">
                  <a16:creationId xmlns:a16="http://schemas.microsoft.com/office/drawing/2014/main" id="{5B37789E-7F65-D829-1798-A693A606BAEC}"/>
                </a:ext>
              </a:extLst>
            </p:cNvPr>
            <p:cNvSpPr>
              <a:spLocks noChangeShapeType="1"/>
            </p:cNvSpPr>
            <p:nvPr/>
          </p:nvSpPr>
          <p:spPr bwMode="auto">
            <a:xfrm>
              <a:off x="9347053" y="6195422"/>
              <a:ext cx="62865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99" name="Line 680">
              <a:extLst>
                <a:ext uri="{FF2B5EF4-FFF2-40B4-BE49-F238E27FC236}">
                  <a16:creationId xmlns:a16="http://schemas.microsoft.com/office/drawing/2014/main" id="{C046C4E0-6544-7ED5-B805-A8B150EFDB77}"/>
                </a:ext>
              </a:extLst>
            </p:cNvPr>
            <p:cNvSpPr>
              <a:spLocks noChangeShapeType="1"/>
            </p:cNvSpPr>
            <p:nvPr/>
          </p:nvSpPr>
          <p:spPr bwMode="auto">
            <a:xfrm>
              <a:off x="7664303" y="5928722"/>
              <a:ext cx="31115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0" name="Line 681">
              <a:extLst>
                <a:ext uri="{FF2B5EF4-FFF2-40B4-BE49-F238E27FC236}">
                  <a16:creationId xmlns:a16="http://schemas.microsoft.com/office/drawing/2014/main" id="{2CB18FC8-0496-0ED4-14AA-2869F1F0F186}"/>
                </a:ext>
              </a:extLst>
            </p:cNvPr>
            <p:cNvSpPr>
              <a:spLocks noChangeShapeType="1"/>
            </p:cNvSpPr>
            <p:nvPr/>
          </p:nvSpPr>
          <p:spPr bwMode="auto">
            <a:xfrm>
              <a:off x="6667353" y="5928722"/>
              <a:ext cx="29845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1" name="Line 682">
              <a:extLst>
                <a:ext uri="{FF2B5EF4-FFF2-40B4-BE49-F238E27FC236}">
                  <a16:creationId xmlns:a16="http://schemas.microsoft.com/office/drawing/2014/main" id="{3CE75FE8-E138-129D-052B-F6F46E1995E4}"/>
                </a:ext>
              </a:extLst>
            </p:cNvPr>
            <p:cNvSpPr>
              <a:spLocks noChangeShapeType="1"/>
            </p:cNvSpPr>
            <p:nvPr/>
          </p:nvSpPr>
          <p:spPr bwMode="auto">
            <a:xfrm>
              <a:off x="5625953" y="5928722"/>
              <a:ext cx="3683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2" name="Line 683">
              <a:extLst>
                <a:ext uri="{FF2B5EF4-FFF2-40B4-BE49-F238E27FC236}">
                  <a16:creationId xmlns:a16="http://schemas.microsoft.com/office/drawing/2014/main" id="{C75FCF34-8AF5-4B41-EDAE-E6FFE5FBDD90}"/>
                </a:ext>
              </a:extLst>
            </p:cNvPr>
            <p:cNvSpPr>
              <a:spLocks noChangeShapeType="1"/>
            </p:cNvSpPr>
            <p:nvPr/>
          </p:nvSpPr>
          <p:spPr bwMode="auto">
            <a:xfrm>
              <a:off x="4635353" y="5928722"/>
              <a:ext cx="31115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3" name="Line 684">
              <a:extLst>
                <a:ext uri="{FF2B5EF4-FFF2-40B4-BE49-F238E27FC236}">
                  <a16:creationId xmlns:a16="http://schemas.microsoft.com/office/drawing/2014/main" id="{4CA2CBD5-BCAF-7A7E-7F7A-9B4FE6C6D001}"/>
                </a:ext>
              </a:extLst>
            </p:cNvPr>
            <p:cNvSpPr>
              <a:spLocks noChangeShapeType="1"/>
            </p:cNvSpPr>
            <p:nvPr/>
          </p:nvSpPr>
          <p:spPr bwMode="auto">
            <a:xfrm>
              <a:off x="3647928" y="5928722"/>
              <a:ext cx="31115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4" name="Line 685">
              <a:extLst>
                <a:ext uri="{FF2B5EF4-FFF2-40B4-BE49-F238E27FC236}">
                  <a16:creationId xmlns:a16="http://schemas.microsoft.com/office/drawing/2014/main" id="{F165A85F-0F83-AFD1-8C60-4FB144B1D762}"/>
                </a:ext>
              </a:extLst>
            </p:cNvPr>
            <p:cNvSpPr>
              <a:spLocks noChangeShapeType="1"/>
            </p:cNvSpPr>
            <p:nvPr/>
          </p:nvSpPr>
          <p:spPr bwMode="auto">
            <a:xfrm>
              <a:off x="2654153" y="5928722"/>
              <a:ext cx="301625" cy="4762"/>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5" name="Line 686">
              <a:extLst>
                <a:ext uri="{FF2B5EF4-FFF2-40B4-BE49-F238E27FC236}">
                  <a16:creationId xmlns:a16="http://schemas.microsoft.com/office/drawing/2014/main" id="{228B7D02-C19D-D97D-AF01-B228085C5159}"/>
                </a:ext>
              </a:extLst>
            </p:cNvPr>
            <p:cNvSpPr>
              <a:spLocks noChangeShapeType="1"/>
            </p:cNvSpPr>
            <p:nvPr/>
          </p:nvSpPr>
          <p:spPr bwMode="auto">
            <a:xfrm>
              <a:off x="1523853" y="5928722"/>
              <a:ext cx="3683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6" name="Line 687">
              <a:extLst>
                <a:ext uri="{FF2B5EF4-FFF2-40B4-BE49-F238E27FC236}">
                  <a16:creationId xmlns:a16="http://schemas.microsoft.com/office/drawing/2014/main" id="{D54875C9-73E4-0384-35F8-0B846A990B99}"/>
                </a:ext>
              </a:extLst>
            </p:cNvPr>
            <p:cNvSpPr>
              <a:spLocks noChangeShapeType="1"/>
            </p:cNvSpPr>
            <p:nvPr/>
          </p:nvSpPr>
          <p:spPr bwMode="auto">
            <a:xfrm>
              <a:off x="7975453" y="6195422"/>
              <a:ext cx="6858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7" name="Line 688">
              <a:extLst>
                <a:ext uri="{FF2B5EF4-FFF2-40B4-BE49-F238E27FC236}">
                  <a16:creationId xmlns:a16="http://schemas.microsoft.com/office/drawing/2014/main" id="{15FCC4BF-8470-826E-7A8C-BCD4712179E0}"/>
                </a:ext>
              </a:extLst>
            </p:cNvPr>
            <p:cNvSpPr>
              <a:spLocks noChangeShapeType="1"/>
            </p:cNvSpPr>
            <p:nvPr/>
          </p:nvSpPr>
          <p:spPr bwMode="auto">
            <a:xfrm>
              <a:off x="6978503" y="6195422"/>
              <a:ext cx="6858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8" name="Line 689">
              <a:extLst>
                <a:ext uri="{FF2B5EF4-FFF2-40B4-BE49-F238E27FC236}">
                  <a16:creationId xmlns:a16="http://schemas.microsoft.com/office/drawing/2014/main" id="{6E12F1BD-6247-080A-E85C-DA9ED674A2BF}"/>
                </a:ext>
              </a:extLst>
            </p:cNvPr>
            <p:cNvSpPr>
              <a:spLocks noChangeShapeType="1"/>
            </p:cNvSpPr>
            <p:nvPr/>
          </p:nvSpPr>
          <p:spPr bwMode="auto">
            <a:xfrm>
              <a:off x="6019653" y="6195422"/>
              <a:ext cx="62865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9" name="Line 690">
              <a:extLst>
                <a:ext uri="{FF2B5EF4-FFF2-40B4-BE49-F238E27FC236}">
                  <a16:creationId xmlns:a16="http://schemas.microsoft.com/office/drawing/2014/main" id="{765535F1-A921-E891-74F4-7F4B3CDFC73A}"/>
                </a:ext>
              </a:extLst>
            </p:cNvPr>
            <p:cNvSpPr>
              <a:spLocks noChangeShapeType="1"/>
            </p:cNvSpPr>
            <p:nvPr/>
          </p:nvSpPr>
          <p:spPr bwMode="auto">
            <a:xfrm>
              <a:off x="4951266" y="6190659"/>
              <a:ext cx="661987" cy="4763"/>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10" name="Line 691">
              <a:extLst>
                <a:ext uri="{FF2B5EF4-FFF2-40B4-BE49-F238E27FC236}">
                  <a16:creationId xmlns:a16="http://schemas.microsoft.com/office/drawing/2014/main" id="{2AB0D69F-B9DB-598A-BF57-8E4E9979F81C}"/>
                </a:ext>
              </a:extLst>
            </p:cNvPr>
            <p:cNvSpPr>
              <a:spLocks noChangeShapeType="1"/>
            </p:cNvSpPr>
            <p:nvPr/>
          </p:nvSpPr>
          <p:spPr bwMode="auto">
            <a:xfrm>
              <a:off x="3967016" y="6195422"/>
              <a:ext cx="649287"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11" name="Line 692">
              <a:extLst>
                <a:ext uri="{FF2B5EF4-FFF2-40B4-BE49-F238E27FC236}">
                  <a16:creationId xmlns:a16="http://schemas.microsoft.com/office/drawing/2014/main" id="{2C8A0150-7CEF-7B09-2843-EEA1A9266384}"/>
                </a:ext>
              </a:extLst>
            </p:cNvPr>
            <p:cNvSpPr>
              <a:spLocks noChangeShapeType="1"/>
            </p:cNvSpPr>
            <p:nvPr/>
          </p:nvSpPr>
          <p:spPr bwMode="auto">
            <a:xfrm>
              <a:off x="2960541" y="6195422"/>
              <a:ext cx="676275"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12" name="Line 693">
              <a:extLst>
                <a:ext uri="{FF2B5EF4-FFF2-40B4-BE49-F238E27FC236}">
                  <a16:creationId xmlns:a16="http://schemas.microsoft.com/office/drawing/2014/main" id="{B68CDBCE-EA8B-D400-32ED-405127691B57}"/>
                </a:ext>
              </a:extLst>
            </p:cNvPr>
            <p:cNvSpPr>
              <a:spLocks noChangeShapeType="1"/>
            </p:cNvSpPr>
            <p:nvPr/>
          </p:nvSpPr>
          <p:spPr bwMode="auto">
            <a:xfrm>
              <a:off x="1904853" y="6195422"/>
              <a:ext cx="738188"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cxnSp>
          <p:nvCxnSpPr>
            <p:cNvPr id="113" name="AutoShape 694">
              <a:extLst>
                <a:ext uri="{FF2B5EF4-FFF2-40B4-BE49-F238E27FC236}">
                  <a16:creationId xmlns:a16="http://schemas.microsoft.com/office/drawing/2014/main" id="{1D25DBFD-230B-08B6-CCB4-BC109BA0C2E7}"/>
                </a:ext>
              </a:extLst>
            </p:cNvPr>
            <p:cNvCxnSpPr>
              <a:cxnSpLocks noChangeShapeType="1"/>
              <a:stCxn id="105" idx="1"/>
            </p:cNvCxnSpPr>
            <p:nvPr/>
          </p:nvCxnSpPr>
          <p:spPr bwMode="auto">
            <a:xfrm>
              <a:off x="1892153" y="5928722"/>
              <a:ext cx="0" cy="26035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4" name="AutoShape 695">
              <a:extLst>
                <a:ext uri="{FF2B5EF4-FFF2-40B4-BE49-F238E27FC236}">
                  <a16:creationId xmlns:a16="http://schemas.microsoft.com/office/drawing/2014/main" id="{9D88F50F-8254-954B-115C-56FCED99A366}"/>
                </a:ext>
              </a:extLst>
            </p:cNvPr>
            <p:cNvCxnSpPr>
              <a:cxnSpLocks noChangeShapeType="1"/>
            </p:cNvCxnSpPr>
            <p:nvPr/>
          </p:nvCxnSpPr>
          <p:spPr bwMode="auto">
            <a:xfrm flipV="1">
              <a:off x="2647803" y="5928722"/>
              <a:ext cx="1588"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5" name="AutoShape 696">
              <a:extLst>
                <a:ext uri="{FF2B5EF4-FFF2-40B4-BE49-F238E27FC236}">
                  <a16:creationId xmlns:a16="http://schemas.microsoft.com/office/drawing/2014/main" id="{2C1EC280-99EA-210B-31F8-762004792D73}"/>
                </a:ext>
              </a:extLst>
            </p:cNvPr>
            <p:cNvCxnSpPr>
              <a:cxnSpLocks noChangeShapeType="1"/>
            </p:cNvCxnSpPr>
            <p:nvPr/>
          </p:nvCxnSpPr>
          <p:spPr bwMode="auto">
            <a:xfrm>
              <a:off x="2955778" y="5928722"/>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6" name="AutoShape 697">
              <a:extLst>
                <a:ext uri="{FF2B5EF4-FFF2-40B4-BE49-F238E27FC236}">
                  <a16:creationId xmlns:a16="http://schemas.microsoft.com/office/drawing/2014/main" id="{C48C986F-072A-9970-1B88-B6DC4FEE0BC3}"/>
                </a:ext>
              </a:extLst>
            </p:cNvPr>
            <p:cNvCxnSpPr>
              <a:cxnSpLocks noChangeShapeType="1"/>
            </p:cNvCxnSpPr>
            <p:nvPr/>
          </p:nvCxnSpPr>
          <p:spPr bwMode="auto">
            <a:xfrm flipV="1">
              <a:off x="3636816" y="5928722"/>
              <a:ext cx="635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7" name="AutoShape 698">
              <a:extLst>
                <a:ext uri="{FF2B5EF4-FFF2-40B4-BE49-F238E27FC236}">
                  <a16:creationId xmlns:a16="http://schemas.microsoft.com/office/drawing/2014/main" id="{559545B9-B674-B0A3-D86A-DD804B3E1495}"/>
                </a:ext>
              </a:extLst>
            </p:cNvPr>
            <p:cNvCxnSpPr>
              <a:cxnSpLocks noChangeShapeType="1"/>
            </p:cNvCxnSpPr>
            <p:nvPr/>
          </p:nvCxnSpPr>
          <p:spPr bwMode="auto">
            <a:xfrm flipH="1">
              <a:off x="3952728" y="5928722"/>
              <a:ext cx="635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8" name="AutoShape 699">
              <a:extLst>
                <a:ext uri="{FF2B5EF4-FFF2-40B4-BE49-F238E27FC236}">
                  <a16:creationId xmlns:a16="http://schemas.microsoft.com/office/drawing/2014/main" id="{FF9841DA-C7F9-8A35-BF24-76D19B352AEC}"/>
                </a:ext>
              </a:extLst>
            </p:cNvPr>
            <p:cNvCxnSpPr>
              <a:cxnSpLocks noChangeShapeType="1"/>
            </p:cNvCxnSpPr>
            <p:nvPr/>
          </p:nvCxnSpPr>
          <p:spPr bwMode="auto">
            <a:xfrm flipV="1">
              <a:off x="6661003" y="5928722"/>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9" name="AutoShape 700">
              <a:extLst>
                <a:ext uri="{FF2B5EF4-FFF2-40B4-BE49-F238E27FC236}">
                  <a16:creationId xmlns:a16="http://schemas.microsoft.com/office/drawing/2014/main" id="{72DC372D-AF53-DA3B-ACFC-680209A4AE20}"/>
                </a:ext>
              </a:extLst>
            </p:cNvPr>
            <p:cNvCxnSpPr>
              <a:cxnSpLocks noChangeShapeType="1"/>
            </p:cNvCxnSpPr>
            <p:nvPr/>
          </p:nvCxnSpPr>
          <p:spPr bwMode="auto">
            <a:xfrm flipV="1">
              <a:off x="4630591" y="5928722"/>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AutoShape 701">
              <a:extLst>
                <a:ext uri="{FF2B5EF4-FFF2-40B4-BE49-F238E27FC236}">
                  <a16:creationId xmlns:a16="http://schemas.microsoft.com/office/drawing/2014/main" id="{96A93305-8C5E-4603-C4CD-953ECA963F18}"/>
                </a:ext>
              </a:extLst>
            </p:cNvPr>
            <p:cNvCxnSpPr>
              <a:cxnSpLocks noChangeShapeType="1"/>
            </p:cNvCxnSpPr>
            <p:nvPr/>
          </p:nvCxnSpPr>
          <p:spPr bwMode="auto">
            <a:xfrm flipV="1">
              <a:off x="9340703" y="5928722"/>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1" name="AutoShape 702">
              <a:extLst>
                <a:ext uri="{FF2B5EF4-FFF2-40B4-BE49-F238E27FC236}">
                  <a16:creationId xmlns:a16="http://schemas.microsoft.com/office/drawing/2014/main" id="{23C5D80F-C625-B069-FD25-6A1F3590FEBE}"/>
                </a:ext>
              </a:extLst>
            </p:cNvPr>
            <p:cNvCxnSpPr>
              <a:cxnSpLocks noChangeShapeType="1"/>
            </p:cNvCxnSpPr>
            <p:nvPr/>
          </p:nvCxnSpPr>
          <p:spPr bwMode="auto">
            <a:xfrm flipV="1">
              <a:off x="4954441" y="5928722"/>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2" name="AutoShape 703">
              <a:extLst>
                <a:ext uri="{FF2B5EF4-FFF2-40B4-BE49-F238E27FC236}">
                  <a16:creationId xmlns:a16="http://schemas.microsoft.com/office/drawing/2014/main" id="{89921A4A-8D7C-A73B-B1BB-95F9A30BD7C3}"/>
                </a:ext>
              </a:extLst>
            </p:cNvPr>
            <p:cNvCxnSpPr>
              <a:cxnSpLocks noChangeShapeType="1"/>
            </p:cNvCxnSpPr>
            <p:nvPr/>
          </p:nvCxnSpPr>
          <p:spPr bwMode="auto">
            <a:xfrm flipV="1">
              <a:off x="5613253" y="5928722"/>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 name="AutoShape 704">
              <a:extLst>
                <a:ext uri="{FF2B5EF4-FFF2-40B4-BE49-F238E27FC236}">
                  <a16:creationId xmlns:a16="http://schemas.microsoft.com/office/drawing/2014/main" id="{70610EDE-BF83-D5D1-BF26-202D88B884F9}"/>
                </a:ext>
              </a:extLst>
            </p:cNvPr>
            <p:cNvCxnSpPr>
              <a:cxnSpLocks noChangeShapeType="1"/>
            </p:cNvCxnSpPr>
            <p:nvPr/>
          </p:nvCxnSpPr>
          <p:spPr bwMode="auto">
            <a:xfrm flipV="1">
              <a:off x="6006953" y="5928722"/>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 name="AutoShape 705">
              <a:extLst>
                <a:ext uri="{FF2B5EF4-FFF2-40B4-BE49-F238E27FC236}">
                  <a16:creationId xmlns:a16="http://schemas.microsoft.com/office/drawing/2014/main" id="{1374F5E1-C8BB-3E0F-9F02-B4A57011FC58}"/>
                </a:ext>
              </a:extLst>
            </p:cNvPr>
            <p:cNvCxnSpPr>
              <a:cxnSpLocks noChangeShapeType="1"/>
            </p:cNvCxnSpPr>
            <p:nvPr/>
          </p:nvCxnSpPr>
          <p:spPr bwMode="auto">
            <a:xfrm flipV="1">
              <a:off x="6978503" y="5928722"/>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5" name="AutoShape 706">
              <a:extLst>
                <a:ext uri="{FF2B5EF4-FFF2-40B4-BE49-F238E27FC236}">
                  <a16:creationId xmlns:a16="http://schemas.microsoft.com/office/drawing/2014/main" id="{6AF36FBD-0AE3-9EAD-8623-D3DBDADEE092}"/>
                </a:ext>
              </a:extLst>
            </p:cNvPr>
            <p:cNvCxnSpPr>
              <a:cxnSpLocks noChangeShapeType="1"/>
            </p:cNvCxnSpPr>
            <p:nvPr/>
          </p:nvCxnSpPr>
          <p:spPr bwMode="auto">
            <a:xfrm flipV="1">
              <a:off x="7657953" y="5928722"/>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6" name="AutoShape 707">
              <a:extLst>
                <a:ext uri="{FF2B5EF4-FFF2-40B4-BE49-F238E27FC236}">
                  <a16:creationId xmlns:a16="http://schemas.microsoft.com/office/drawing/2014/main" id="{B3959A39-2077-F3BD-103B-5AE5325A5665}"/>
                </a:ext>
              </a:extLst>
            </p:cNvPr>
            <p:cNvCxnSpPr>
              <a:cxnSpLocks noChangeShapeType="1"/>
            </p:cNvCxnSpPr>
            <p:nvPr/>
          </p:nvCxnSpPr>
          <p:spPr bwMode="auto">
            <a:xfrm flipV="1">
              <a:off x="7981803" y="5928722"/>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7" name="AutoShape 708">
              <a:extLst>
                <a:ext uri="{FF2B5EF4-FFF2-40B4-BE49-F238E27FC236}">
                  <a16:creationId xmlns:a16="http://schemas.microsoft.com/office/drawing/2014/main" id="{9B4D5DAE-C9EE-713A-B096-932213406496}"/>
                </a:ext>
              </a:extLst>
            </p:cNvPr>
            <p:cNvCxnSpPr>
              <a:cxnSpLocks noChangeShapeType="1"/>
            </p:cNvCxnSpPr>
            <p:nvPr/>
          </p:nvCxnSpPr>
          <p:spPr bwMode="auto">
            <a:xfrm flipV="1">
              <a:off x="8661253" y="5928722"/>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8" name="Text Box 709">
              <a:extLst>
                <a:ext uri="{FF2B5EF4-FFF2-40B4-BE49-F238E27FC236}">
                  <a16:creationId xmlns:a16="http://schemas.microsoft.com/office/drawing/2014/main" id="{6B1A74F2-FE97-08B4-1DBB-CD2562B67778}"/>
                </a:ext>
              </a:extLst>
            </p:cNvPr>
            <p:cNvSpPr txBox="1">
              <a:spLocks noChangeArrowheads="1"/>
            </p:cNvSpPr>
            <p:nvPr/>
          </p:nvSpPr>
          <p:spPr bwMode="auto">
            <a:xfrm>
              <a:off x="2573191" y="5668372"/>
              <a:ext cx="450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.50</a:t>
              </a:r>
            </a:p>
            <a:p>
              <a:pPr algn="ctr">
                <a:lnSpc>
                  <a:spcPct val="100000"/>
                </a:lnSpc>
                <a:spcBef>
                  <a:spcPct val="0"/>
                </a:spcBef>
                <a:spcAft>
                  <a:spcPct val="0"/>
                </a:spcAft>
                <a:buClrTx/>
                <a:buSzTx/>
                <a:buFontTx/>
                <a:buNone/>
              </a:pPr>
              <a:r>
                <a:rPr lang="en-US" altLang="en-US" sz="700" b="0">
                  <a:solidFill>
                    <a:srgbClr val="FF0000"/>
                  </a:solidFill>
                </a:rPr>
                <a:t>Days</a:t>
              </a:r>
            </a:p>
          </p:txBody>
        </p:sp>
        <p:sp>
          <p:nvSpPr>
            <p:cNvPr id="129" name="Text Box 710">
              <a:extLst>
                <a:ext uri="{FF2B5EF4-FFF2-40B4-BE49-F238E27FC236}">
                  <a16:creationId xmlns:a16="http://schemas.microsoft.com/office/drawing/2014/main" id="{DEBE48E8-6748-6948-19F8-E106C367A13F}"/>
                </a:ext>
              </a:extLst>
            </p:cNvPr>
            <p:cNvSpPr txBox="1">
              <a:spLocks noChangeArrowheads="1"/>
            </p:cNvSpPr>
            <p:nvPr/>
          </p:nvSpPr>
          <p:spPr bwMode="auto">
            <a:xfrm>
              <a:off x="4559153" y="5668372"/>
              <a:ext cx="450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 58</a:t>
              </a:r>
            </a:p>
            <a:p>
              <a:pPr algn="ctr">
                <a:lnSpc>
                  <a:spcPct val="100000"/>
                </a:lnSpc>
                <a:spcBef>
                  <a:spcPct val="0"/>
                </a:spcBef>
                <a:spcAft>
                  <a:spcPct val="0"/>
                </a:spcAft>
                <a:buClrTx/>
                <a:buSzTx/>
                <a:buFontTx/>
                <a:buNone/>
              </a:pPr>
              <a:r>
                <a:rPr lang="en-US" altLang="en-US" sz="700" b="0">
                  <a:solidFill>
                    <a:srgbClr val="FF0000"/>
                  </a:solidFill>
                </a:rPr>
                <a:t>Days</a:t>
              </a:r>
            </a:p>
          </p:txBody>
        </p:sp>
        <p:sp>
          <p:nvSpPr>
            <p:cNvPr id="130" name="Text Box 711">
              <a:extLst>
                <a:ext uri="{FF2B5EF4-FFF2-40B4-BE49-F238E27FC236}">
                  <a16:creationId xmlns:a16="http://schemas.microsoft.com/office/drawing/2014/main" id="{D9D43327-9457-6A79-158F-36D0F511BF9F}"/>
                </a:ext>
              </a:extLst>
            </p:cNvPr>
            <p:cNvSpPr txBox="1">
              <a:spLocks noChangeArrowheads="1"/>
            </p:cNvSpPr>
            <p:nvPr/>
          </p:nvSpPr>
          <p:spPr bwMode="auto">
            <a:xfrm>
              <a:off x="9372453" y="5998572"/>
              <a:ext cx="450850"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20”</a:t>
              </a:r>
            </a:p>
          </p:txBody>
        </p:sp>
        <p:sp>
          <p:nvSpPr>
            <p:cNvPr id="131" name="Text Box 712">
              <a:extLst>
                <a:ext uri="{FF2B5EF4-FFF2-40B4-BE49-F238E27FC236}">
                  <a16:creationId xmlns:a16="http://schemas.microsoft.com/office/drawing/2014/main" id="{43F307A6-21AF-5112-4FFE-6022778C5A98}"/>
                </a:ext>
              </a:extLst>
            </p:cNvPr>
            <p:cNvSpPr txBox="1">
              <a:spLocks noChangeArrowheads="1"/>
            </p:cNvSpPr>
            <p:nvPr/>
          </p:nvSpPr>
          <p:spPr bwMode="auto">
            <a:xfrm>
              <a:off x="8712053" y="5668372"/>
              <a:ext cx="450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.50</a:t>
              </a:r>
            </a:p>
            <a:p>
              <a:pPr algn="ctr">
                <a:lnSpc>
                  <a:spcPct val="100000"/>
                </a:lnSpc>
                <a:spcBef>
                  <a:spcPct val="0"/>
                </a:spcBef>
                <a:spcAft>
                  <a:spcPct val="0"/>
                </a:spcAft>
                <a:buClrTx/>
                <a:buSzTx/>
                <a:buFontTx/>
                <a:buNone/>
              </a:pPr>
              <a:r>
                <a:rPr lang="en-US" altLang="en-US" sz="700" b="0">
                  <a:solidFill>
                    <a:srgbClr val="FF0000"/>
                  </a:solidFill>
                </a:rPr>
                <a:t>Day</a:t>
              </a:r>
            </a:p>
          </p:txBody>
        </p:sp>
        <p:sp>
          <p:nvSpPr>
            <p:cNvPr id="132" name="Text Box 713">
              <a:extLst>
                <a:ext uri="{FF2B5EF4-FFF2-40B4-BE49-F238E27FC236}">
                  <a16:creationId xmlns:a16="http://schemas.microsoft.com/office/drawing/2014/main" id="{7FE1894B-C1F9-8C00-002B-8143F074BD8A}"/>
                </a:ext>
              </a:extLst>
            </p:cNvPr>
            <p:cNvSpPr txBox="1">
              <a:spLocks noChangeArrowheads="1"/>
            </p:cNvSpPr>
            <p:nvPr/>
          </p:nvSpPr>
          <p:spPr bwMode="auto">
            <a:xfrm>
              <a:off x="3554266" y="5668372"/>
              <a:ext cx="450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.41</a:t>
              </a:r>
            </a:p>
            <a:p>
              <a:pPr algn="ctr">
                <a:lnSpc>
                  <a:spcPct val="100000"/>
                </a:lnSpc>
                <a:spcBef>
                  <a:spcPct val="0"/>
                </a:spcBef>
                <a:spcAft>
                  <a:spcPct val="0"/>
                </a:spcAft>
                <a:buClrTx/>
                <a:buSzTx/>
                <a:buFontTx/>
                <a:buNone/>
              </a:pPr>
              <a:r>
                <a:rPr lang="en-US" altLang="en-US" sz="700" b="0">
                  <a:solidFill>
                    <a:srgbClr val="FF0000"/>
                  </a:solidFill>
                </a:rPr>
                <a:t>Days</a:t>
              </a:r>
            </a:p>
          </p:txBody>
        </p:sp>
        <p:sp>
          <p:nvSpPr>
            <p:cNvPr id="133" name="Text Box 714">
              <a:extLst>
                <a:ext uri="{FF2B5EF4-FFF2-40B4-BE49-F238E27FC236}">
                  <a16:creationId xmlns:a16="http://schemas.microsoft.com/office/drawing/2014/main" id="{7840F6C9-8908-B579-3426-26E588593D51}"/>
                </a:ext>
              </a:extLst>
            </p:cNvPr>
            <p:cNvSpPr txBox="1">
              <a:spLocks noChangeArrowheads="1"/>
            </p:cNvSpPr>
            <p:nvPr/>
          </p:nvSpPr>
          <p:spPr bwMode="auto">
            <a:xfrm>
              <a:off x="5562453" y="5668372"/>
              <a:ext cx="450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.33</a:t>
              </a:r>
            </a:p>
            <a:p>
              <a:pPr algn="ctr">
                <a:lnSpc>
                  <a:spcPct val="100000"/>
                </a:lnSpc>
                <a:spcBef>
                  <a:spcPct val="0"/>
                </a:spcBef>
                <a:spcAft>
                  <a:spcPct val="0"/>
                </a:spcAft>
                <a:buClrTx/>
                <a:buSzTx/>
                <a:buFontTx/>
                <a:buNone/>
              </a:pPr>
              <a:r>
                <a:rPr lang="en-US" altLang="en-US" sz="700" b="0">
                  <a:solidFill>
                    <a:srgbClr val="FF0000"/>
                  </a:solidFill>
                </a:rPr>
                <a:t>Days</a:t>
              </a:r>
            </a:p>
          </p:txBody>
        </p:sp>
        <p:sp>
          <p:nvSpPr>
            <p:cNvPr id="134" name="Text Box 716">
              <a:extLst>
                <a:ext uri="{FF2B5EF4-FFF2-40B4-BE49-F238E27FC236}">
                  <a16:creationId xmlns:a16="http://schemas.microsoft.com/office/drawing/2014/main" id="{6FF058CC-A45B-F371-2A14-F8502014844E}"/>
                </a:ext>
              </a:extLst>
            </p:cNvPr>
            <p:cNvSpPr txBox="1">
              <a:spLocks noChangeArrowheads="1"/>
            </p:cNvSpPr>
            <p:nvPr/>
          </p:nvSpPr>
          <p:spPr bwMode="auto">
            <a:xfrm>
              <a:off x="1454003" y="5668372"/>
              <a:ext cx="450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.50</a:t>
              </a:r>
            </a:p>
            <a:p>
              <a:pPr algn="ctr">
                <a:lnSpc>
                  <a:spcPct val="100000"/>
                </a:lnSpc>
                <a:spcBef>
                  <a:spcPct val="0"/>
                </a:spcBef>
                <a:spcAft>
                  <a:spcPct val="0"/>
                </a:spcAft>
                <a:buClrTx/>
                <a:buSzTx/>
                <a:buFontTx/>
                <a:buNone/>
              </a:pPr>
              <a:r>
                <a:rPr lang="en-US" altLang="en-US" sz="700" b="0">
                  <a:solidFill>
                    <a:srgbClr val="FF0000"/>
                  </a:solidFill>
                </a:rPr>
                <a:t>Days</a:t>
              </a:r>
            </a:p>
          </p:txBody>
        </p:sp>
        <p:sp>
          <p:nvSpPr>
            <p:cNvPr id="135" name="Text Box 717">
              <a:extLst>
                <a:ext uri="{FF2B5EF4-FFF2-40B4-BE49-F238E27FC236}">
                  <a16:creationId xmlns:a16="http://schemas.microsoft.com/office/drawing/2014/main" id="{479E03D1-D5C9-4650-1055-57AD6BF28D66}"/>
                </a:ext>
              </a:extLst>
            </p:cNvPr>
            <p:cNvSpPr txBox="1">
              <a:spLocks noChangeArrowheads="1"/>
            </p:cNvSpPr>
            <p:nvPr/>
          </p:nvSpPr>
          <p:spPr bwMode="auto">
            <a:xfrm>
              <a:off x="4057503" y="5998572"/>
              <a:ext cx="450850"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5”</a:t>
              </a:r>
            </a:p>
          </p:txBody>
        </p:sp>
        <p:sp>
          <p:nvSpPr>
            <p:cNvPr id="136" name="Text Box 718">
              <a:extLst>
                <a:ext uri="{FF2B5EF4-FFF2-40B4-BE49-F238E27FC236}">
                  <a16:creationId xmlns:a16="http://schemas.microsoft.com/office/drawing/2014/main" id="{8A133B6E-7F01-A61A-9E5D-1ADC320E0640}"/>
                </a:ext>
              </a:extLst>
            </p:cNvPr>
            <p:cNvSpPr txBox="1">
              <a:spLocks noChangeArrowheads="1"/>
            </p:cNvSpPr>
            <p:nvPr/>
          </p:nvSpPr>
          <p:spPr bwMode="auto">
            <a:xfrm>
              <a:off x="3003403" y="5998572"/>
              <a:ext cx="450850"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10”</a:t>
              </a:r>
            </a:p>
          </p:txBody>
        </p:sp>
        <p:sp>
          <p:nvSpPr>
            <p:cNvPr id="137" name="Text Box 719">
              <a:extLst>
                <a:ext uri="{FF2B5EF4-FFF2-40B4-BE49-F238E27FC236}">
                  <a16:creationId xmlns:a16="http://schemas.microsoft.com/office/drawing/2014/main" id="{6132E9B7-4BCD-16DB-0FB3-2AC4F329C68A}"/>
                </a:ext>
              </a:extLst>
            </p:cNvPr>
            <p:cNvSpPr txBox="1">
              <a:spLocks noChangeArrowheads="1"/>
            </p:cNvSpPr>
            <p:nvPr/>
          </p:nvSpPr>
          <p:spPr bwMode="auto">
            <a:xfrm>
              <a:off x="1981053" y="5998572"/>
              <a:ext cx="450850"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15”</a:t>
              </a:r>
            </a:p>
          </p:txBody>
        </p:sp>
        <p:sp>
          <p:nvSpPr>
            <p:cNvPr id="138" name="Text Box 720">
              <a:extLst>
                <a:ext uri="{FF2B5EF4-FFF2-40B4-BE49-F238E27FC236}">
                  <a16:creationId xmlns:a16="http://schemas.microsoft.com/office/drawing/2014/main" id="{FD8EF2B4-6D5F-8096-7132-B0097124A07B}"/>
                </a:ext>
              </a:extLst>
            </p:cNvPr>
            <p:cNvSpPr txBox="1">
              <a:spLocks noChangeArrowheads="1"/>
            </p:cNvSpPr>
            <p:nvPr/>
          </p:nvSpPr>
          <p:spPr bwMode="auto">
            <a:xfrm>
              <a:off x="5079853" y="5998572"/>
              <a:ext cx="450850"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180”</a:t>
              </a:r>
            </a:p>
          </p:txBody>
        </p:sp>
        <p:sp>
          <p:nvSpPr>
            <p:cNvPr id="139" name="Text Box 721">
              <a:extLst>
                <a:ext uri="{FF2B5EF4-FFF2-40B4-BE49-F238E27FC236}">
                  <a16:creationId xmlns:a16="http://schemas.microsoft.com/office/drawing/2014/main" id="{82CD5788-EA1D-D7A1-4156-936B622299AF}"/>
                </a:ext>
              </a:extLst>
            </p:cNvPr>
            <p:cNvSpPr txBox="1">
              <a:spLocks noChangeArrowheads="1"/>
            </p:cNvSpPr>
            <p:nvPr/>
          </p:nvSpPr>
          <p:spPr bwMode="auto">
            <a:xfrm>
              <a:off x="6114903" y="5998572"/>
              <a:ext cx="450850"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72”</a:t>
              </a:r>
            </a:p>
          </p:txBody>
        </p:sp>
        <p:sp>
          <p:nvSpPr>
            <p:cNvPr id="140" name="Text Box 722">
              <a:extLst>
                <a:ext uri="{FF2B5EF4-FFF2-40B4-BE49-F238E27FC236}">
                  <a16:creationId xmlns:a16="http://schemas.microsoft.com/office/drawing/2014/main" id="{93DB0D1B-A09F-396F-56DD-8E665EE6C3FF}"/>
                </a:ext>
              </a:extLst>
            </p:cNvPr>
            <p:cNvSpPr txBox="1">
              <a:spLocks noChangeArrowheads="1"/>
            </p:cNvSpPr>
            <p:nvPr/>
          </p:nvSpPr>
          <p:spPr bwMode="auto">
            <a:xfrm>
              <a:off x="7086453" y="5998572"/>
              <a:ext cx="450850"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72”</a:t>
              </a:r>
            </a:p>
          </p:txBody>
        </p:sp>
        <p:grpSp>
          <p:nvGrpSpPr>
            <p:cNvPr id="141" name="Group 863">
              <a:extLst>
                <a:ext uri="{FF2B5EF4-FFF2-40B4-BE49-F238E27FC236}">
                  <a16:creationId xmlns:a16="http://schemas.microsoft.com/office/drawing/2014/main" id="{9735EE9C-070B-F256-CE5C-41F10415D0D2}"/>
                </a:ext>
              </a:extLst>
            </p:cNvPr>
            <p:cNvGrpSpPr>
              <a:grpSpLocks/>
            </p:cNvGrpSpPr>
            <p:nvPr/>
          </p:nvGrpSpPr>
          <p:grpSpPr bwMode="auto">
            <a:xfrm>
              <a:off x="9183541" y="5404847"/>
              <a:ext cx="1103312" cy="427037"/>
              <a:chOff x="4941" y="3427"/>
              <a:chExt cx="695" cy="269"/>
            </a:xfrm>
          </p:grpSpPr>
          <p:grpSp>
            <p:nvGrpSpPr>
              <p:cNvPr id="142" name="Group 723">
                <a:extLst>
                  <a:ext uri="{FF2B5EF4-FFF2-40B4-BE49-F238E27FC236}">
                    <a16:creationId xmlns:a16="http://schemas.microsoft.com/office/drawing/2014/main" id="{FD3DB869-9944-F0CE-C136-BECA45563603}"/>
                  </a:ext>
                </a:extLst>
              </p:cNvPr>
              <p:cNvGrpSpPr>
                <a:grpSpLocks/>
              </p:cNvGrpSpPr>
              <p:nvPr/>
            </p:nvGrpSpPr>
            <p:grpSpPr bwMode="auto">
              <a:xfrm>
                <a:off x="4973" y="3458"/>
                <a:ext cx="649" cy="212"/>
                <a:chOff x="4550" y="3435"/>
                <a:chExt cx="964" cy="221"/>
              </a:xfrm>
            </p:grpSpPr>
            <p:sp>
              <p:nvSpPr>
                <p:cNvPr id="144" name="Text Box 724">
                  <a:extLst>
                    <a:ext uri="{FF2B5EF4-FFF2-40B4-BE49-F238E27FC236}">
                      <a16:creationId xmlns:a16="http://schemas.microsoft.com/office/drawing/2014/main" id="{B44CC0D7-C531-9BD4-64F8-25D28CA7ABDD}"/>
                    </a:ext>
                  </a:extLst>
                </p:cNvPr>
                <p:cNvSpPr txBox="1">
                  <a:spLocks noChangeArrowheads="1"/>
                </p:cNvSpPr>
                <p:nvPr/>
              </p:nvSpPr>
              <p:spPr bwMode="auto">
                <a:xfrm>
                  <a:off x="4599" y="3435"/>
                  <a:ext cx="915" cy="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r">
                    <a:lnSpc>
                      <a:spcPct val="100000"/>
                    </a:lnSpc>
                    <a:spcBef>
                      <a:spcPct val="30000"/>
                    </a:spcBef>
                    <a:spcAft>
                      <a:spcPct val="0"/>
                    </a:spcAft>
                    <a:buClrTx/>
                    <a:buSzTx/>
                    <a:buFontTx/>
                    <a:buNone/>
                  </a:pPr>
                  <a:r>
                    <a:rPr lang="en-US" altLang="en-US" sz="700">
                      <a:solidFill>
                        <a:srgbClr val="FF0000"/>
                      </a:solidFill>
                    </a:rPr>
                    <a:t>P.T. =  4.82 days    </a:t>
                  </a:r>
                </a:p>
                <a:p>
                  <a:pPr algn="r">
                    <a:lnSpc>
                      <a:spcPct val="100000"/>
                    </a:lnSpc>
                    <a:spcBef>
                      <a:spcPct val="30000"/>
                    </a:spcBef>
                    <a:spcAft>
                      <a:spcPct val="0"/>
                    </a:spcAft>
                    <a:buClrTx/>
                    <a:buSzTx/>
                    <a:buFontTx/>
                    <a:buNone/>
                  </a:pPr>
                  <a:r>
                    <a:rPr lang="en-US" altLang="en-US" sz="700">
                      <a:solidFill>
                        <a:srgbClr val="FF0000"/>
                      </a:solidFill>
                    </a:rPr>
                    <a:t>T.T. = 374 seconds</a:t>
                  </a:r>
                </a:p>
              </p:txBody>
            </p:sp>
            <p:sp>
              <p:nvSpPr>
                <p:cNvPr id="145" name="Line 725">
                  <a:extLst>
                    <a:ext uri="{FF2B5EF4-FFF2-40B4-BE49-F238E27FC236}">
                      <a16:creationId xmlns:a16="http://schemas.microsoft.com/office/drawing/2014/main" id="{9FB95A72-6B92-A9C5-7B60-382B0B203518}"/>
                    </a:ext>
                  </a:extLst>
                </p:cNvPr>
                <p:cNvSpPr>
                  <a:spLocks noChangeShapeType="1"/>
                </p:cNvSpPr>
                <p:nvPr/>
              </p:nvSpPr>
              <p:spPr bwMode="auto">
                <a:xfrm flipV="1">
                  <a:off x="4550" y="3539"/>
                  <a:ext cx="893" cy="3"/>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143" name="Rectangle 726">
                <a:extLst>
                  <a:ext uri="{FF2B5EF4-FFF2-40B4-BE49-F238E27FC236}">
                    <a16:creationId xmlns:a16="http://schemas.microsoft.com/office/drawing/2014/main" id="{A4B04211-96C1-0D1B-2F2B-0546628BA5E0}"/>
                  </a:ext>
                </a:extLst>
              </p:cNvPr>
              <p:cNvSpPr>
                <a:spLocks noChangeArrowheads="1"/>
              </p:cNvSpPr>
              <p:nvPr/>
            </p:nvSpPr>
            <p:spPr bwMode="auto">
              <a:xfrm>
                <a:off x="4941" y="3427"/>
                <a:ext cx="695" cy="269"/>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sp>
          <p:nvSpPr>
            <p:cNvPr id="146" name="Line 727">
              <a:extLst>
                <a:ext uri="{FF2B5EF4-FFF2-40B4-BE49-F238E27FC236}">
                  <a16:creationId xmlns:a16="http://schemas.microsoft.com/office/drawing/2014/main" id="{C8D0FB79-EFC4-C622-94C2-F72EA8E6E5E9}"/>
                </a:ext>
              </a:extLst>
            </p:cNvPr>
            <p:cNvSpPr>
              <a:spLocks noChangeShapeType="1"/>
            </p:cNvSpPr>
            <p:nvPr/>
          </p:nvSpPr>
          <p:spPr bwMode="auto">
            <a:xfrm flipV="1">
              <a:off x="2709716" y="4341222"/>
              <a:ext cx="217487"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147" name="Group 728">
              <a:extLst>
                <a:ext uri="{FF2B5EF4-FFF2-40B4-BE49-F238E27FC236}">
                  <a16:creationId xmlns:a16="http://schemas.microsoft.com/office/drawing/2014/main" id="{DA29EB88-E9B4-5E9F-712C-F95CEDED8BA6}"/>
                </a:ext>
              </a:extLst>
            </p:cNvPr>
            <p:cNvGrpSpPr>
              <a:grpSpLocks/>
            </p:cNvGrpSpPr>
            <p:nvPr/>
          </p:nvGrpSpPr>
          <p:grpSpPr bwMode="auto">
            <a:xfrm>
              <a:off x="2527153" y="4195172"/>
              <a:ext cx="561975" cy="903287"/>
              <a:chOff x="748" y="2665"/>
              <a:chExt cx="354" cy="569"/>
            </a:xfrm>
          </p:grpSpPr>
          <p:sp>
            <p:nvSpPr>
              <p:cNvPr id="148" name="Rectangle 729">
                <a:extLst>
                  <a:ext uri="{FF2B5EF4-FFF2-40B4-BE49-F238E27FC236}">
                    <a16:creationId xmlns:a16="http://schemas.microsoft.com/office/drawing/2014/main" id="{382BB7B6-6F8B-60A3-D8FF-54D1638B503F}"/>
                  </a:ext>
                </a:extLst>
              </p:cNvPr>
              <p:cNvSpPr>
                <a:spLocks noChangeArrowheads="1"/>
              </p:cNvSpPr>
              <p:nvPr/>
            </p:nvSpPr>
            <p:spPr bwMode="auto">
              <a:xfrm>
                <a:off x="855" y="2709"/>
                <a:ext cx="151" cy="16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49" name="AutoShape 730">
                <a:extLst>
                  <a:ext uri="{FF2B5EF4-FFF2-40B4-BE49-F238E27FC236}">
                    <a16:creationId xmlns:a16="http://schemas.microsoft.com/office/drawing/2014/main" id="{A7875709-5237-0EB8-B266-B28374FD3AD7}"/>
                  </a:ext>
                </a:extLst>
              </p:cNvPr>
              <p:cNvSpPr>
                <a:spLocks/>
              </p:cNvSpPr>
              <p:nvPr/>
            </p:nvSpPr>
            <p:spPr bwMode="auto">
              <a:xfrm rot="-5400000">
                <a:off x="922" y="2598"/>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50" name="AutoShape 731">
                <a:extLst>
                  <a:ext uri="{FF2B5EF4-FFF2-40B4-BE49-F238E27FC236}">
                    <a16:creationId xmlns:a16="http://schemas.microsoft.com/office/drawing/2014/main" id="{0E0AF745-14E7-EFDC-4D4E-9701871CEAD3}"/>
                  </a:ext>
                </a:extLst>
              </p:cNvPr>
              <p:cNvSpPr>
                <a:spLocks/>
              </p:cNvSpPr>
              <p:nvPr/>
            </p:nvSpPr>
            <p:spPr bwMode="auto">
              <a:xfrm rot="-5400000">
                <a:off x="922" y="2607"/>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51" name="AutoShape 732">
                <a:extLst>
                  <a:ext uri="{FF2B5EF4-FFF2-40B4-BE49-F238E27FC236}">
                    <a16:creationId xmlns:a16="http://schemas.microsoft.com/office/drawing/2014/main" id="{722C692B-9A7B-F240-91BD-3492F3EB0EB0}"/>
                  </a:ext>
                </a:extLst>
              </p:cNvPr>
              <p:cNvSpPr>
                <a:spLocks/>
              </p:cNvSpPr>
              <p:nvPr/>
            </p:nvSpPr>
            <p:spPr bwMode="auto">
              <a:xfrm rot="-5400000">
                <a:off x="922" y="2616"/>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152" name="Group 733">
                <a:extLst>
                  <a:ext uri="{FF2B5EF4-FFF2-40B4-BE49-F238E27FC236}">
                    <a16:creationId xmlns:a16="http://schemas.microsoft.com/office/drawing/2014/main" id="{03A1A05A-614C-8F8B-EB20-B92E7F4BCFBB}"/>
                  </a:ext>
                </a:extLst>
              </p:cNvPr>
              <p:cNvGrpSpPr>
                <a:grpSpLocks/>
              </p:cNvGrpSpPr>
              <p:nvPr/>
            </p:nvGrpSpPr>
            <p:grpSpPr bwMode="auto">
              <a:xfrm>
                <a:off x="849" y="2898"/>
                <a:ext cx="151" cy="336"/>
                <a:chOff x="576" y="1200"/>
                <a:chExt cx="240" cy="336"/>
              </a:xfrm>
            </p:grpSpPr>
            <p:sp>
              <p:nvSpPr>
                <p:cNvPr id="155" name="Rectangle 734">
                  <a:extLst>
                    <a:ext uri="{FF2B5EF4-FFF2-40B4-BE49-F238E27FC236}">
                      <a16:creationId xmlns:a16="http://schemas.microsoft.com/office/drawing/2014/main" id="{1E79F44D-DF20-8BF4-7E18-5C06B275416B}"/>
                    </a:ext>
                  </a:extLst>
                </p:cNvPr>
                <p:cNvSpPr>
                  <a:spLocks noChangeArrowheads="1"/>
                </p:cNvSpPr>
                <p:nvPr/>
              </p:nvSpPr>
              <p:spPr bwMode="auto">
                <a:xfrm>
                  <a:off x="576" y="1200"/>
                  <a:ext cx="240"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56" name="Line 735">
                  <a:extLst>
                    <a:ext uri="{FF2B5EF4-FFF2-40B4-BE49-F238E27FC236}">
                      <a16:creationId xmlns:a16="http://schemas.microsoft.com/office/drawing/2014/main" id="{9FD9FE78-2F28-FC91-249D-C1AF40A673E0}"/>
                    </a:ext>
                  </a:extLst>
                </p:cNvPr>
                <p:cNvSpPr>
                  <a:spLocks noChangeShapeType="1"/>
                </p:cNvSpPr>
                <p:nvPr/>
              </p:nvSpPr>
              <p:spPr bwMode="auto">
                <a:xfrm>
                  <a:off x="576" y="139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7" name="Line 736">
                  <a:extLst>
                    <a:ext uri="{FF2B5EF4-FFF2-40B4-BE49-F238E27FC236}">
                      <a16:creationId xmlns:a16="http://schemas.microsoft.com/office/drawing/2014/main" id="{8CCE4F93-C570-AAEC-2AE4-E3F746B57AF3}"/>
                    </a:ext>
                  </a:extLst>
                </p:cNvPr>
                <p:cNvSpPr>
                  <a:spLocks noChangeShapeType="1"/>
                </p:cNvSpPr>
                <p:nvPr/>
              </p:nvSpPr>
              <p:spPr bwMode="auto">
                <a:xfrm>
                  <a:off x="576" y="129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53" name="Text Box 737">
                <a:extLst>
                  <a:ext uri="{FF2B5EF4-FFF2-40B4-BE49-F238E27FC236}">
                    <a16:creationId xmlns:a16="http://schemas.microsoft.com/office/drawing/2014/main" id="{CFCB3B76-803D-F264-AE47-0FDD27A1B1A0}"/>
                  </a:ext>
                </a:extLst>
              </p:cNvPr>
              <p:cNvSpPr txBox="1">
                <a:spLocks noChangeArrowheads="1"/>
              </p:cNvSpPr>
              <p:nvPr/>
            </p:nvSpPr>
            <p:spPr bwMode="auto">
              <a:xfrm>
                <a:off x="834" y="2736"/>
                <a:ext cx="168" cy="1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eaLnBrk="1" hangingPunct="1">
                  <a:lnSpc>
                    <a:spcPct val="100000"/>
                  </a:lnSpc>
                  <a:spcBef>
                    <a:spcPct val="0"/>
                  </a:spcBef>
                  <a:spcAft>
                    <a:spcPct val="0"/>
                  </a:spcAft>
                  <a:buClrTx/>
                  <a:buSzTx/>
                  <a:buFontTx/>
                  <a:buNone/>
                </a:pPr>
                <a:r>
                  <a:rPr lang="en-US" altLang="en-US" sz="600" b="0"/>
                  <a:t>IN</a:t>
                </a:r>
              </a:p>
            </p:txBody>
          </p:sp>
          <p:sp>
            <p:nvSpPr>
              <p:cNvPr id="154" name="Text Box 738">
                <a:extLst>
                  <a:ext uri="{FF2B5EF4-FFF2-40B4-BE49-F238E27FC236}">
                    <a16:creationId xmlns:a16="http://schemas.microsoft.com/office/drawing/2014/main" id="{9945979C-3A39-E3A3-6FE2-EA862D5C3BAE}"/>
                  </a:ext>
                </a:extLst>
              </p:cNvPr>
              <p:cNvSpPr txBox="1">
                <a:spLocks noChangeArrowheads="1"/>
              </p:cNvSpPr>
              <p:nvPr/>
            </p:nvSpPr>
            <p:spPr bwMode="auto">
              <a:xfrm>
                <a:off x="748" y="2918"/>
                <a:ext cx="35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Aft>
                    <a:spcPct val="0"/>
                  </a:spcAft>
                  <a:buClrTx/>
                  <a:buSzTx/>
                  <a:buFontTx/>
                  <a:buNone/>
                </a:pPr>
                <a:r>
                  <a:rPr lang="en-US" altLang="en-US" sz="500" b="0">
                    <a:solidFill>
                      <a:srgbClr val="FF0000"/>
                    </a:solidFill>
                  </a:rPr>
                  <a:t>In Box</a:t>
                </a:r>
              </a:p>
              <a:p>
                <a:pPr algn="ctr">
                  <a:lnSpc>
                    <a:spcPct val="100000"/>
                  </a:lnSpc>
                  <a:spcAft>
                    <a:spcPct val="0"/>
                  </a:spcAft>
                  <a:buClrTx/>
                  <a:buSzTx/>
                  <a:buFontTx/>
                  <a:buNone/>
                </a:pPr>
                <a:r>
                  <a:rPr lang="en-US" altLang="en-US" sz="500" b="0">
                    <a:solidFill>
                      <a:srgbClr val="FF0000"/>
                    </a:solidFill>
                  </a:rPr>
                  <a:t>FIFO</a:t>
                </a:r>
              </a:p>
              <a:p>
                <a:pPr algn="ctr">
                  <a:lnSpc>
                    <a:spcPct val="100000"/>
                  </a:lnSpc>
                  <a:spcAft>
                    <a:spcPct val="0"/>
                  </a:spcAft>
                  <a:buClrTx/>
                  <a:buSzTx/>
                  <a:buFontTx/>
                  <a:buNone/>
                </a:pPr>
                <a:r>
                  <a:rPr lang="en-US" altLang="en-US" sz="500" b="0">
                    <a:solidFill>
                      <a:srgbClr val="FF0000"/>
                    </a:solidFill>
                  </a:rPr>
                  <a:t>750   </a:t>
                </a:r>
                <a:r>
                  <a:rPr lang="en-US" altLang="en-US" sz="400" b="0">
                    <a:solidFill>
                      <a:srgbClr val="FF0000"/>
                    </a:solidFill>
                  </a:rPr>
                  <a:t>Envelopes</a:t>
                </a:r>
              </a:p>
            </p:txBody>
          </p:sp>
        </p:grpSp>
        <p:sp>
          <p:nvSpPr>
            <p:cNvPr id="158" name="Line 739">
              <a:extLst>
                <a:ext uri="{FF2B5EF4-FFF2-40B4-BE49-F238E27FC236}">
                  <a16:creationId xmlns:a16="http://schemas.microsoft.com/office/drawing/2014/main" id="{0B3611B9-FE86-12AF-07F6-B3AAE01C84AE}"/>
                </a:ext>
              </a:extLst>
            </p:cNvPr>
            <p:cNvSpPr>
              <a:spLocks noChangeShapeType="1"/>
            </p:cNvSpPr>
            <p:nvPr/>
          </p:nvSpPr>
          <p:spPr bwMode="auto">
            <a:xfrm flipV="1">
              <a:off x="1693716" y="4341222"/>
              <a:ext cx="217487"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159" name="Group 740">
              <a:extLst>
                <a:ext uri="{FF2B5EF4-FFF2-40B4-BE49-F238E27FC236}">
                  <a16:creationId xmlns:a16="http://schemas.microsoft.com/office/drawing/2014/main" id="{4792B9BE-5B8A-0028-629A-B30246617091}"/>
                </a:ext>
              </a:extLst>
            </p:cNvPr>
            <p:cNvGrpSpPr>
              <a:grpSpLocks/>
            </p:cNvGrpSpPr>
            <p:nvPr/>
          </p:nvGrpSpPr>
          <p:grpSpPr bwMode="auto">
            <a:xfrm>
              <a:off x="1561953" y="4195172"/>
              <a:ext cx="454025" cy="903287"/>
              <a:chOff x="140" y="2665"/>
              <a:chExt cx="286" cy="569"/>
            </a:xfrm>
          </p:grpSpPr>
          <p:sp>
            <p:nvSpPr>
              <p:cNvPr id="160" name="Text Box 741">
                <a:extLst>
                  <a:ext uri="{FF2B5EF4-FFF2-40B4-BE49-F238E27FC236}">
                    <a16:creationId xmlns:a16="http://schemas.microsoft.com/office/drawing/2014/main" id="{9AA6F4D0-7712-3618-11BA-206CDF87F109}"/>
                  </a:ext>
                </a:extLst>
              </p:cNvPr>
              <p:cNvSpPr txBox="1">
                <a:spLocks noChangeArrowheads="1"/>
              </p:cNvSpPr>
              <p:nvPr/>
            </p:nvSpPr>
            <p:spPr bwMode="auto">
              <a:xfrm>
                <a:off x="140" y="2918"/>
                <a:ext cx="28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Aft>
                    <a:spcPct val="0"/>
                  </a:spcAft>
                  <a:buClrTx/>
                  <a:buSzTx/>
                  <a:buFontTx/>
                  <a:buNone/>
                </a:pPr>
                <a:r>
                  <a:rPr lang="en-US" altLang="en-US" sz="500" b="0">
                    <a:solidFill>
                      <a:srgbClr val="FF0000"/>
                    </a:solidFill>
                  </a:rPr>
                  <a:t>Mailbag</a:t>
                </a:r>
              </a:p>
              <a:p>
                <a:pPr algn="ctr">
                  <a:lnSpc>
                    <a:spcPct val="100000"/>
                  </a:lnSpc>
                  <a:spcAft>
                    <a:spcPct val="0"/>
                  </a:spcAft>
                  <a:buClrTx/>
                  <a:buSzTx/>
                  <a:buFontTx/>
                  <a:buNone/>
                </a:pPr>
                <a:r>
                  <a:rPr lang="en-US" altLang="en-US" sz="500" b="0">
                    <a:solidFill>
                      <a:srgbClr val="FF0000"/>
                    </a:solidFill>
                  </a:rPr>
                  <a:t>FIFO</a:t>
                </a:r>
              </a:p>
              <a:p>
                <a:pPr algn="ctr">
                  <a:lnSpc>
                    <a:spcPct val="100000"/>
                  </a:lnSpc>
                  <a:spcAft>
                    <a:spcPct val="0"/>
                  </a:spcAft>
                  <a:buClrTx/>
                  <a:buSzTx/>
                  <a:buFontTx/>
                  <a:buNone/>
                </a:pPr>
                <a:r>
                  <a:rPr lang="en-US" altLang="en-US" sz="500" b="0">
                    <a:solidFill>
                      <a:srgbClr val="FF0000"/>
                    </a:solidFill>
                  </a:rPr>
                  <a:t>750   </a:t>
                </a:r>
                <a:r>
                  <a:rPr lang="en-US" altLang="en-US" sz="400" b="0">
                    <a:solidFill>
                      <a:srgbClr val="FF0000"/>
                    </a:solidFill>
                  </a:rPr>
                  <a:t>Envelopes</a:t>
                </a:r>
              </a:p>
            </p:txBody>
          </p:sp>
          <p:sp>
            <p:nvSpPr>
              <p:cNvPr id="161" name="Rectangle 742">
                <a:extLst>
                  <a:ext uri="{FF2B5EF4-FFF2-40B4-BE49-F238E27FC236}">
                    <a16:creationId xmlns:a16="http://schemas.microsoft.com/office/drawing/2014/main" id="{8B711FF6-C9E6-0AF4-976A-1ED3C009E9A5}"/>
                  </a:ext>
                </a:extLst>
              </p:cNvPr>
              <p:cNvSpPr>
                <a:spLocks noChangeArrowheads="1"/>
              </p:cNvSpPr>
              <p:nvPr/>
            </p:nvSpPr>
            <p:spPr bwMode="auto">
              <a:xfrm>
                <a:off x="215" y="2709"/>
                <a:ext cx="151" cy="16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62" name="AutoShape 743">
                <a:extLst>
                  <a:ext uri="{FF2B5EF4-FFF2-40B4-BE49-F238E27FC236}">
                    <a16:creationId xmlns:a16="http://schemas.microsoft.com/office/drawing/2014/main" id="{859A7763-C632-7565-0DF5-261EF1B07AD0}"/>
                  </a:ext>
                </a:extLst>
              </p:cNvPr>
              <p:cNvSpPr>
                <a:spLocks/>
              </p:cNvSpPr>
              <p:nvPr/>
            </p:nvSpPr>
            <p:spPr bwMode="auto">
              <a:xfrm rot="-5400000">
                <a:off x="282" y="2598"/>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63" name="AutoShape 744">
                <a:extLst>
                  <a:ext uri="{FF2B5EF4-FFF2-40B4-BE49-F238E27FC236}">
                    <a16:creationId xmlns:a16="http://schemas.microsoft.com/office/drawing/2014/main" id="{4889F730-4E33-1DE0-D3FC-63DB0F127786}"/>
                  </a:ext>
                </a:extLst>
              </p:cNvPr>
              <p:cNvSpPr>
                <a:spLocks/>
              </p:cNvSpPr>
              <p:nvPr/>
            </p:nvSpPr>
            <p:spPr bwMode="auto">
              <a:xfrm rot="-5400000">
                <a:off x="282" y="2607"/>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64" name="AutoShape 745">
                <a:extLst>
                  <a:ext uri="{FF2B5EF4-FFF2-40B4-BE49-F238E27FC236}">
                    <a16:creationId xmlns:a16="http://schemas.microsoft.com/office/drawing/2014/main" id="{8A1AF2C7-FA5A-B01F-B030-06086C18976F}"/>
                  </a:ext>
                </a:extLst>
              </p:cNvPr>
              <p:cNvSpPr>
                <a:spLocks/>
              </p:cNvSpPr>
              <p:nvPr/>
            </p:nvSpPr>
            <p:spPr bwMode="auto">
              <a:xfrm rot="-5400000">
                <a:off x="282" y="2616"/>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165" name="Group 746">
                <a:extLst>
                  <a:ext uri="{FF2B5EF4-FFF2-40B4-BE49-F238E27FC236}">
                    <a16:creationId xmlns:a16="http://schemas.microsoft.com/office/drawing/2014/main" id="{8A9CD8CF-7366-8B47-8F4D-ABEFB2AF00D3}"/>
                  </a:ext>
                </a:extLst>
              </p:cNvPr>
              <p:cNvGrpSpPr>
                <a:grpSpLocks/>
              </p:cNvGrpSpPr>
              <p:nvPr/>
            </p:nvGrpSpPr>
            <p:grpSpPr bwMode="auto">
              <a:xfrm>
                <a:off x="209" y="2898"/>
                <a:ext cx="151" cy="336"/>
                <a:chOff x="576" y="1200"/>
                <a:chExt cx="240" cy="336"/>
              </a:xfrm>
            </p:grpSpPr>
            <p:sp>
              <p:nvSpPr>
                <p:cNvPr id="167" name="Rectangle 747">
                  <a:extLst>
                    <a:ext uri="{FF2B5EF4-FFF2-40B4-BE49-F238E27FC236}">
                      <a16:creationId xmlns:a16="http://schemas.microsoft.com/office/drawing/2014/main" id="{F51E50D4-2E39-3F18-C28D-52BBA65B2FED}"/>
                    </a:ext>
                  </a:extLst>
                </p:cNvPr>
                <p:cNvSpPr>
                  <a:spLocks noChangeArrowheads="1"/>
                </p:cNvSpPr>
                <p:nvPr/>
              </p:nvSpPr>
              <p:spPr bwMode="auto">
                <a:xfrm>
                  <a:off x="576" y="1200"/>
                  <a:ext cx="240"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68" name="Line 748">
                  <a:extLst>
                    <a:ext uri="{FF2B5EF4-FFF2-40B4-BE49-F238E27FC236}">
                      <a16:creationId xmlns:a16="http://schemas.microsoft.com/office/drawing/2014/main" id="{C1B424AA-1FD4-C3E6-E255-858792F8A795}"/>
                    </a:ext>
                  </a:extLst>
                </p:cNvPr>
                <p:cNvSpPr>
                  <a:spLocks noChangeShapeType="1"/>
                </p:cNvSpPr>
                <p:nvPr/>
              </p:nvSpPr>
              <p:spPr bwMode="auto">
                <a:xfrm>
                  <a:off x="576" y="139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 name="Line 749">
                  <a:extLst>
                    <a:ext uri="{FF2B5EF4-FFF2-40B4-BE49-F238E27FC236}">
                      <a16:creationId xmlns:a16="http://schemas.microsoft.com/office/drawing/2014/main" id="{71DCF0F1-EBCF-7A2D-104C-9ED40CD30A15}"/>
                    </a:ext>
                  </a:extLst>
                </p:cNvPr>
                <p:cNvSpPr>
                  <a:spLocks noChangeShapeType="1"/>
                </p:cNvSpPr>
                <p:nvPr/>
              </p:nvSpPr>
              <p:spPr bwMode="auto">
                <a:xfrm>
                  <a:off x="576" y="129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66" name="Text Box 750">
                <a:extLst>
                  <a:ext uri="{FF2B5EF4-FFF2-40B4-BE49-F238E27FC236}">
                    <a16:creationId xmlns:a16="http://schemas.microsoft.com/office/drawing/2014/main" id="{C9D23BFA-D43E-B5A2-427F-0A274F3FC2A7}"/>
                  </a:ext>
                </a:extLst>
              </p:cNvPr>
              <p:cNvSpPr txBox="1">
                <a:spLocks noChangeArrowheads="1"/>
              </p:cNvSpPr>
              <p:nvPr/>
            </p:nvSpPr>
            <p:spPr bwMode="auto">
              <a:xfrm>
                <a:off x="194" y="2736"/>
                <a:ext cx="168" cy="1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eaLnBrk="1" hangingPunct="1">
                  <a:lnSpc>
                    <a:spcPct val="100000"/>
                  </a:lnSpc>
                  <a:spcBef>
                    <a:spcPct val="0"/>
                  </a:spcBef>
                  <a:spcAft>
                    <a:spcPct val="0"/>
                  </a:spcAft>
                  <a:buClrTx/>
                  <a:buSzTx/>
                  <a:buFontTx/>
                  <a:buNone/>
                </a:pPr>
                <a:r>
                  <a:rPr lang="en-US" altLang="en-US" sz="600" b="0"/>
                  <a:t>IN</a:t>
                </a:r>
              </a:p>
            </p:txBody>
          </p:sp>
        </p:grpSp>
        <p:sp>
          <p:nvSpPr>
            <p:cNvPr id="170" name="Line 763">
              <a:extLst>
                <a:ext uri="{FF2B5EF4-FFF2-40B4-BE49-F238E27FC236}">
                  <a16:creationId xmlns:a16="http://schemas.microsoft.com/office/drawing/2014/main" id="{7F764878-BF89-3E06-D4E4-1C692F2596A3}"/>
                </a:ext>
              </a:extLst>
            </p:cNvPr>
            <p:cNvSpPr>
              <a:spLocks noChangeShapeType="1"/>
            </p:cNvSpPr>
            <p:nvPr/>
          </p:nvSpPr>
          <p:spPr bwMode="auto">
            <a:xfrm flipV="1">
              <a:off x="5627541" y="4341222"/>
              <a:ext cx="346075"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71" name="Line 764">
              <a:extLst>
                <a:ext uri="{FF2B5EF4-FFF2-40B4-BE49-F238E27FC236}">
                  <a16:creationId xmlns:a16="http://schemas.microsoft.com/office/drawing/2014/main" id="{967CDCD7-59FE-D87B-A18F-D64E5FDC5A24}"/>
                </a:ext>
              </a:extLst>
            </p:cNvPr>
            <p:cNvSpPr>
              <a:spLocks noChangeShapeType="1"/>
            </p:cNvSpPr>
            <p:nvPr/>
          </p:nvSpPr>
          <p:spPr bwMode="auto">
            <a:xfrm flipV="1">
              <a:off x="5687866" y="4341222"/>
              <a:ext cx="217487"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72" name="Line 765">
              <a:extLst>
                <a:ext uri="{FF2B5EF4-FFF2-40B4-BE49-F238E27FC236}">
                  <a16:creationId xmlns:a16="http://schemas.microsoft.com/office/drawing/2014/main" id="{076CE912-80CC-B60A-1BE2-E237B4594EFF}"/>
                </a:ext>
              </a:extLst>
            </p:cNvPr>
            <p:cNvSpPr>
              <a:spLocks noChangeShapeType="1"/>
            </p:cNvSpPr>
            <p:nvPr/>
          </p:nvSpPr>
          <p:spPr bwMode="auto">
            <a:xfrm flipV="1">
              <a:off x="5629128" y="4341222"/>
              <a:ext cx="344488"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173" name="Group 766">
              <a:extLst>
                <a:ext uri="{FF2B5EF4-FFF2-40B4-BE49-F238E27FC236}">
                  <a16:creationId xmlns:a16="http://schemas.microsoft.com/office/drawing/2014/main" id="{509670D7-1B92-EFC8-5A65-60013827A9C1}"/>
                </a:ext>
              </a:extLst>
            </p:cNvPr>
            <p:cNvGrpSpPr>
              <a:grpSpLocks/>
            </p:cNvGrpSpPr>
            <p:nvPr/>
          </p:nvGrpSpPr>
          <p:grpSpPr bwMode="auto">
            <a:xfrm>
              <a:off x="5556103" y="4195172"/>
              <a:ext cx="454025" cy="903287"/>
              <a:chOff x="2656" y="2665"/>
              <a:chExt cx="286" cy="569"/>
            </a:xfrm>
          </p:grpSpPr>
          <p:sp>
            <p:nvSpPr>
              <p:cNvPr id="174" name="Text Box 767">
                <a:extLst>
                  <a:ext uri="{FF2B5EF4-FFF2-40B4-BE49-F238E27FC236}">
                    <a16:creationId xmlns:a16="http://schemas.microsoft.com/office/drawing/2014/main" id="{1715D065-423C-17C0-0C5D-1D295A7386BC}"/>
                  </a:ext>
                </a:extLst>
              </p:cNvPr>
              <p:cNvSpPr txBox="1">
                <a:spLocks noChangeArrowheads="1"/>
              </p:cNvSpPr>
              <p:nvPr/>
            </p:nvSpPr>
            <p:spPr bwMode="auto">
              <a:xfrm>
                <a:off x="2656" y="2918"/>
                <a:ext cx="28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Aft>
                    <a:spcPct val="0"/>
                  </a:spcAft>
                  <a:buClrTx/>
                  <a:buSzTx/>
                  <a:buFontTx/>
                  <a:buNone/>
                </a:pPr>
                <a:r>
                  <a:rPr lang="en-US" altLang="en-US" sz="500" b="0">
                    <a:solidFill>
                      <a:srgbClr val="FF0000"/>
                    </a:solidFill>
                  </a:rPr>
                  <a:t>Outlook</a:t>
                </a:r>
              </a:p>
              <a:p>
                <a:pPr algn="ctr">
                  <a:lnSpc>
                    <a:spcPct val="100000"/>
                  </a:lnSpc>
                  <a:spcAft>
                    <a:spcPct val="0"/>
                  </a:spcAft>
                  <a:buClrTx/>
                  <a:buSzTx/>
                  <a:buFontTx/>
                  <a:buNone/>
                </a:pPr>
                <a:r>
                  <a:rPr lang="en-US" altLang="en-US" sz="500" b="0">
                    <a:solidFill>
                      <a:srgbClr val="FF0000"/>
                    </a:solidFill>
                  </a:rPr>
                  <a:t>FIFO</a:t>
                </a:r>
              </a:p>
              <a:p>
                <a:pPr algn="ctr">
                  <a:lnSpc>
                    <a:spcPct val="100000"/>
                  </a:lnSpc>
                  <a:spcAft>
                    <a:spcPct val="0"/>
                  </a:spcAft>
                  <a:buClrTx/>
                  <a:buSzTx/>
                  <a:buFontTx/>
                  <a:buNone/>
                </a:pPr>
                <a:r>
                  <a:rPr lang="en-US" altLang="en-US" sz="500" b="0">
                    <a:solidFill>
                      <a:srgbClr val="FF0000"/>
                    </a:solidFill>
                  </a:rPr>
                  <a:t>500   </a:t>
                </a:r>
                <a:r>
                  <a:rPr lang="en-US" altLang="en-US" sz="400" b="0">
                    <a:solidFill>
                      <a:srgbClr val="FF0000"/>
                    </a:solidFill>
                  </a:rPr>
                  <a:t>Application</a:t>
                </a:r>
              </a:p>
            </p:txBody>
          </p:sp>
          <p:sp>
            <p:nvSpPr>
              <p:cNvPr id="175" name="Rectangle 768">
                <a:extLst>
                  <a:ext uri="{FF2B5EF4-FFF2-40B4-BE49-F238E27FC236}">
                    <a16:creationId xmlns:a16="http://schemas.microsoft.com/office/drawing/2014/main" id="{7950A784-1C6A-5C36-D31A-09A58999C947}"/>
                  </a:ext>
                </a:extLst>
              </p:cNvPr>
              <p:cNvSpPr>
                <a:spLocks noChangeArrowheads="1"/>
              </p:cNvSpPr>
              <p:nvPr/>
            </p:nvSpPr>
            <p:spPr bwMode="auto">
              <a:xfrm>
                <a:off x="2731" y="2709"/>
                <a:ext cx="151" cy="16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76" name="AutoShape 769">
                <a:extLst>
                  <a:ext uri="{FF2B5EF4-FFF2-40B4-BE49-F238E27FC236}">
                    <a16:creationId xmlns:a16="http://schemas.microsoft.com/office/drawing/2014/main" id="{E0B3AA7D-4BAB-8DD2-E698-CF6BE73B2183}"/>
                  </a:ext>
                </a:extLst>
              </p:cNvPr>
              <p:cNvSpPr>
                <a:spLocks/>
              </p:cNvSpPr>
              <p:nvPr/>
            </p:nvSpPr>
            <p:spPr bwMode="auto">
              <a:xfrm rot="-5400000">
                <a:off x="2798" y="2598"/>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77" name="AutoShape 770">
                <a:extLst>
                  <a:ext uri="{FF2B5EF4-FFF2-40B4-BE49-F238E27FC236}">
                    <a16:creationId xmlns:a16="http://schemas.microsoft.com/office/drawing/2014/main" id="{80005915-180D-AE83-FE44-7BFC60E059D5}"/>
                  </a:ext>
                </a:extLst>
              </p:cNvPr>
              <p:cNvSpPr>
                <a:spLocks/>
              </p:cNvSpPr>
              <p:nvPr/>
            </p:nvSpPr>
            <p:spPr bwMode="auto">
              <a:xfrm rot="-5400000">
                <a:off x="2798" y="2607"/>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78" name="AutoShape 771">
                <a:extLst>
                  <a:ext uri="{FF2B5EF4-FFF2-40B4-BE49-F238E27FC236}">
                    <a16:creationId xmlns:a16="http://schemas.microsoft.com/office/drawing/2014/main" id="{FDBB06B9-D0FA-2876-131B-4AE970EBA436}"/>
                  </a:ext>
                </a:extLst>
              </p:cNvPr>
              <p:cNvSpPr>
                <a:spLocks/>
              </p:cNvSpPr>
              <p:nvPr/>
            </p:nvSpPr>
            <p:spPr bwMode="auto">
              <a:xfrm rot="-5400000">
                <a:off x="2798" y="2616"/>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179" name="Group 772">
                <a:extLst>
                  <a:ext uri="{FF2B5EF4-FFF2-40B4-BE49-F238E27FC236}">
                    <a16:creationId xmlns:a16="http://schemas.microsoft.com/office/drawing/2014/main" id="{E73D7C58-A15D-7F62-3CD6-D64E219F7EA2}"/>
                  </a:ext>
                </a:extLst>
              </p:cNvPr>
              <p:cNvGrpSpPr>
                <a:grpSpLocks/>
              </p:cNvGrpSpPr>
              <p:nvPr/>
            </p:nvGrpSpPr>
            <p:grpSpPr bwMode="auto">
              <a:xfrm>
                <a:off x="2725" y="2898"/>
                <a:ext cx="151" cy="336"/>
                <a:chOff x="576" y="1200"/>
                <a:chExt cx="240" cy="336"/>
              </a:xfrm>
            </p:grpSpPr>
            <p:sp>
              <p:nvSpPr>
                <p:cNvPr id="181" name="Rectangle 773">
                  <a:extLst>
                    <a:ext uri="{FF2B5EF4-FFF2-40B4-BE49-F238E27FC236}">
                      <a16:creationId xmlns:a16="http://schemas.microsoft.com/office/drawing/2014/main" id="{EC37EC8B-0C0A-FFD5-300E-5126F269CC69}"/>
                    </a:ext>
                  </a:extLst>
                </p:cNvPr>
                <p:cNvSpPr>
                  <a:spLocks noChangeArrowheads="1"/>
                </p:cNvSpPr>
                <p:nvPr/>
              </p:nvSpPr>
              <p:spPr bwMode="auto">
                <a:xfrm>
                  <a:off x="576" y="1200"/>
                  <a:ext cx="240"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82" name="Line 774">
                  <a:extLst>
                    <a:ext uri="{FF2B5EF4-FFF2-40B4-BE49-F238E27FC236}">
                      <a16:creationId xmlns:a16="http://schemas.microsoft.com/office/drawing/2014/main" id="{E55B7702-59CC-C59F-18C2-AA8A04AC80DD}"/>
                    </a:ext>
                  </a:extLst>
                </p:cNvPr>
                <p:cNvSpPr>
                  <a:spLocks noChangeShapeType="1"/>
                </p:cNvSpPr>
                <p:nvPr/>
              </p:nvSpPr>
              <p:spPr bwMode="auto">
                <a:xfrm>
                  <a:off x="576" y="139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3" name="Line 775">
                  <a:extLst>
                    <a:ext uri="{FF2B5EF4-FFF2-40B4-BE49-F238E27FC236}">
                      <a16:creationId xmlns:a16="http://schemas.microsoft.com/office/drawing/2014/main" id="{EF86D626-8C9D-2BAD-A945-B11CEECE728E}"/>
                    </a:ext>
                  </a:extLst>
                </p:cNvPr>
                <p:cNvSpPr>
                  <a:spLocks noChangeShapeType="1"/>
                </p:cNvSpPr>
                <p:nvPr/>
              </p:nvSpPr>
              <p:spPr bwMode="auto">
                <a:xfrm>
                  <a:off x="576" y="129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80" name="Text Box 776">
                <a:extLst>
                  <a:ext uri="{FF2B5EF4-FFF2-40B4-BE49-F238E27FC236}">
                    <a16:creationId xmlns:a16="http://schemas.microsoft.com/office/drawing/2014/main" id="{D7293F8E-E316-9571-A0BF-0974F0F8296C}"/>
                  </a:ext>
                </a:extLst>
              </p:cNvPr>
              <p:cNvSpPr txBox="1">
                <a:spLocks noChangeArrowheads="1"/>
              </p:cNvSpPr>
              <p:nvPr/>
            </p:nvSpPr>
            <p:spPr bwMode="auto">
              <a:xfrm>
                <a:off x="2710" y="2736"/>
                <a:ext cx="168" cy="1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eaLnBrk="1" hangingPunct="1">
                  <a:lnSpc>
                    <a:spcPct val="100000"/>
                  </a:lnSpc>
                  <a:spcBef>
                    <a:spcPct val="0"/>
                  </a:spcBef>
                  <a:spcAft>
                    <a:spcPct val="0"/>
                  </a:spcAft>
                  <a:buClrTx/>
                  <a:buSzTx/>
                  <a:buFontTx/>
                  <a:buNone/>
                </a:pPr>
                <a:r>
                  <a:rPr lang="en-US" altLang="en-US" sz="600" b="0"/>
                  <a:t>IN</a:t>
                </a:r>
              </a:p>
            </p:txBody>
          </p:sp>
        </p:grpSp>
        <p:grpSp>
          <p:nvGrpSpPr>
            <p:cNvPr id="184" name="Group 777">
              <a:extLst>
                <a:ext uri="{FF2B5EF4-FFF2-40B4-BE49-F238E27FC236}">
                  <a16:creationId xmlns:a16="http://schemas.microsoft.com/office/drawing/2014/main" id="{559EBC17-D31E-E675-90CF-0B607F925181}"/>
                </a:ext>
              </a:extLst>
            </p:cNvPr>
            <p:cNvGrpSpPr>
              <a:grpSpLocks/>
            </p:cNvGrpSpPr>
            <p:nvPr/>
          </p:nvGrpSpPr>
          <p:grpSpPr bwMode="auto">
            <a:xfrm>
              <a:off x="8856516" y="4195172"/>
              <a:ext cx="454025" cy="903287"/>
              <a:chOff x="4528" y="2665"/>
              <a:chExt cx="286" cy="569"/>
            </a:xfrm>
          </p:grpSpPr>
          <p:sp>
            <p:nvSpPr>
              <p:cNvPr id="185" name="Text Box 778">
                <a:extLst>
                  <a:ext uri="{FF2B5EF4-FFF2-40B4-BE49-F238E27FC236}">
                    <a16:creationId xmlns:a16="http://schemas.microsoft.com/office/drawing/2014/main" id="{F0173D5C-0D0F-90A2-152E-E094324CC5B6}"/>
                  </a:ext>
                </a:extLst>
              </p:cNvPr>
              <p:cNvSpPr txBox="1">
                <a:spLocks noChangeArrowheads="1"/>
              </p:cNvSpPr>
              <p:nvPr/>
            </p:nvSpPr>
            <p:spPr bwMode="auto">
              <a:xfrm>
                <a:off x="4528" y="2918"/>
                <a:ext cx="28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Aft>
                    <a:spcPct val="0"/>
                  </a:spcAft>
                  <a:buClrTx/>
                  <a:buSzTx/>
                  <a:buFontTx/>
                  <a:buNone/>
                </a:pPr>
                <a:r>
                  <a:rPr lang="en-US" altLang="en-US" sz="500" b="0">
                    <a:solidFill>
                      <a:srgbClr val="FF0000"/>
                    </a:solidFill>
                  </a:rPr>
                  <a:t>Mail Bag</a:t>
                </a:r>
              </a:p>
              <a:p>
                <a:pPr algn="ctr">
                  <a:lnSpc>
                    <a:spcPct val="100000"/>
                  </a:lnSpc>
                  <a:spcAft>
                    <a:spcPct val="0"/>
                  </a:spcAft>
                  <a:buClrTx/>
                  <a:buSzTx/>
                  <a:buFontTx/>
                  <a:buNone/>
                </a:pPr>
                <a:r>
                  <a:rPr lang="en-US" altLang="en-US" sz="500" b="0">
                    <a:solidFill>
                      <a:srgbClr val="FF0000"/>
                    </a:solidFill>
                  </a:rPr>
                  <a:t>FIFO</a:t>
                </a:r>
              </a:p>
              <a:p>
                <a:pPr algn="ctr">
                  <a:lnSpc>
                    <a:spcPct val="100000"/>
                  </a:lnSpc>
                  <a:spcAft>
                    <a:spcPct val="0"/>
                  </a:spcAft>
                  <a:buClrTx/>
                  <a:buSzTx/>
                  <a:buFontTx/>
                  <a:buNone/>
                </a:pPr>
                <a:r>
                  <a:rPr lang="en-US" altLang="en-US" sz="500" b="0">
                    <a:solidFill>
                      <a:srgbClr val="FF0000"/>
                    </a:solidFill>
                  </a:rPr>
                  <a:t>600   </a:t>
                </a:r>
                <a:r>
                  <a:rPr lang="en-US" altLang="en-US" sz="400" b="0">
                    <a:solidFill>
                      <a:srgbClr val="FF0000"/>
                    </a:solidFill>
                  </a:rPr>
                  <a:t>Application</a:t>
                </a:r>
              </a:p>
            </p:txBody>
          </p:sp>
          <p:sp>
            <p:nvSpPr>
              <p:cNvPr id="186" name="Line 779">
                <a:extLst>
                  <a:ext uri="{FF2B5EF4-FFF2-40B4-BE49-F238E27FC236}">
                    <a16:creationId xmlns:a16="http://schemas.microsoft.com/office/drawing/2014/main" id="{1FC15C0D-7452-A157-7F6A-04ECAF5D0F05}"/>
                  </a:ext>
                </a:extLst>
              </p:cNvPr>
              <p:cNvSpPr>
                <a:spLocks noChangeShapeType="1"/>
              </p:cNvSpPr>
              <p:nvPr/>
            </p:nvSpPr>
            <p:spPr bwMode="auto">
              <a:xfrm flipV="1">
                <a:off x="4611" y="2757"/>
                <a:ext cx="137" cy="2"/>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87" name="Rectangle 780">
                <a:extLst>
                  <a:ext uri="{FF2B5EF4-FFF2-40B4-BE49-F238E27FC236}">
                    <a16:creationId xmlns:a16="http://schemas.microsoft.com/office/drawing/2014/main" id="{8249594D-4843-972B-7E08-00179365F4D5}"/>
                  </a:ext>
                </a:extLst>
              </p:cNvPr>
              <p:cNvSpPr>
                <a:spLocks noChangeArrowheads="1"/>
              </p:cNvSpPr>
              <p:nvPr/>
            </p:nvSpPr>
            <p:spPr bwMode="auto">
              <a:xfrm>
                <a:off x="4603" y="2709"/>
                <a:ext cx="151" cy="16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88" name="AutoShape 781">
                <a:extLst>
                  <a:ext uri="{FF2B5EF4-FFF2-40B4-BE49-F238E27FC236}">
                    <a16:creationId xmlns:a16="http://schemas.microsoft.com/office/drawing/2014/main" id="{97823401-4A1F-E4C4-4BCD-9AA9C87D2A4B}"/>
                  </a:ext>
                </a:extLst>
              </p:cNvPr>
              <p:cNvSpPr>
                <a:spLocks/>
              </p:cNvSpPr>
              <p:nvPr/>
            </p:nvSpPr>
            <p:spPr bwMode="auto">
              <a:xfrm rot="-5400000">
                <a:off x="4670" y="2598"/>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89" name="AutoShape 782">
                <a:extLst>
                  <a:ext uri="{FF2B5EF4-FFF2-40B4-BE49-F238E27FC236}">
                    <a16:creationId xmlns:a16="http://schemas.microsoft.com/office/drawing/2014/main" id="{7B374BF8-5021-91BE-8A8A-9FE0E3335D78}"/>
                  </a:ext>
                </a:extLst>
              </p:cNvPr>
              <p:cNvSpPr>
                <a:spLocks/>
              </p:cNvSpPr>
              <p:nvPr/>
            </p:nvSpPr>
            <p:spPr bwMode="auto">
              <a:xfrm rot="-5400000">
                <a:off x="4670" y="2607"/>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90" name="AutoShape 783">
                <a:extLst>
                  <a:ext uri="{FF2B5EF4-FFF2-40B4-BE49-F238E27FC236}">
                    <a16:creationId xmlns:a16="http://schemas.microsoft.com/office/drawing/2014/main" id="{011C10E8-FBE4-2025-398F-2B8E3B2EDD37}"/>
                  </a:ext>
                </a:extLst>
              </p:cNvPr>
              <p:cNvSpPr>
                <a:spLocks/>
              </p:cNvSpPr>
              <p:nvPr/>
            </p:nvSpPr>
            <p:spPr bwMode="auto">
              <a:xfrm rot="-5400000">
                <a:off x="4670" y="2616"/>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191" name="Group 784">
                <a:extLst>
                  <a:ext uri="{FF2B5EF4-FFF2-40B4-BE49-F238E27FC236}">
                    <a16:creationId xmlns:a16="http://schemas.microsoft.com/office/drawing/2014/main" id="{848437F2-BC8A-F629-2B89-AD09A01CF1C9}"/>
                  </a:ext>
                </a:extLst>
              </p:cNvPr>
              <p:cNvGrpSpPr>
                <a:grpSpLocks/>
              </p:cNvGrpSpPr>
              <p:nvPr/>
            </p:nvGrpSpPr>
            <p:grpSpPr bwMode="auto">
              <a:xfrm>
                <a:off x="4597" y="2898"/>
                <a:ext cx="151" cy="336"/>
                <a:chOff x="576" y="1200"/>
                <a:chExt cx="240" cy="336"/>
              </a:xfrm>
            </p:grpSpPr>
            <p:sp>
              <p:nvSpPr>
                <p:cNvPr id="193" name="Rectangle 785">
                  <a:extLst>
                    <a:ext uri="{FF2B5EF4-FFF2-40B4-BE49-F238E27FC236}">
                      <a16:creationId xmlns:a16="http://schemas.microsoft.com/office/drawing/2014/main" id="{C2491CEA-7F8F-9480-57AD-B372F1C0F524}"/>
                    </a:ext>
                  </a:extLst>
                </p:cNvPr>
                <p:cNvSpPr>
                  <a:spLocks noChangeArrowheads="1"/>
                </p:cNvSpPr>
                <p:nvPr/>
              </p:nvSpPr>
              <p:spPr bwMode="auto">
                <a:xfrm>
                  <a:off x="576" y="1200"/>
                  <a:ext cx="240"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94" name="Line 786">
                  <a:extLst>
                    <a:ext uri="{FF2B5EF4-FFF2-40B4-BE49-F238E27FC236}">
                      <a16:creationId xmlns:a16="http://schemas.microsoft.com/office/drawing/2014/main" id="{F551F93E-1E74-8D7F-9257-0E4B1DD917EC}"/>
                    </a:ext>
                  </a:extLst>
                </p:cNvPr>
                <p:cNvSpPr>
                  <a:spLocks noChangeShapeType="1"/>
                </p:cNvSpPr>
                <p:nvPr/>
              </p:nvSpPr>
              <p:spPr bwMode="auto">
                <a:xfrm>
                  <a:off x="576" y="139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5" name="Line 787">
                  <a:extLst>
                    <a:ext uri="{FF2B5EF4-FFF2-40B4-BE49-F238E27FC236}">
                      <a16:creationId xmlns:a16="http://schemas.microsoft.com/office/drawing/2014/main" id="{46D77847-DE44-CCAD-D1B6-06492D5FE352}"/>
                    </a:ext>
                  </a:extLst>
                </p:cNvPr>
                <p:cNvSpPr>
                  <a:spLocks noChangeShapeType="1"/>
                </p:cNvSpPr>
                <p:nvPr/>
              </p:nvSpPr>
              <p:spPr bwMode="auto">
                <a:xfrm>
                  <a:off x="576" y="129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92" name="Text Box 788">
                <a:extLst>
                  <a:ext uri="{FF2B5EF4-FFF2-40B4-BE49-F238E27FC236}">
                    <a16:creationId xmlns:a16="http://schemas.microsoft.com/office/drawing/2014/main" id="{09324D1E-F80F-A691-5664-545CC5E7AB6C}"/>
                  </a:ext>
                </a:extLst>
              </p:cNvPr>
              <p:cNvSpPr txBox="1">
                <a:spLocks noChangeArrowheads="1"/>
              </p:cNvSpPr>
              <p:nvPr/>
            </p:nvSpPr>
            <p:spPr bwMode="auto">
              <a:xfrm>
                <a:off x="4582" y="2736"/>
                <a:ext cx="168" cy="1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eaLnBrk="1" hangingPunct="1">
                  <a:lnSpc>
                    <a:spcPct val="100000"/>
                  </a:lnSpc>
                  <a:spcBef>
                    <a:spcPct val="0"/>
                  </a:spcBef>
                  <a:spcAft>
                    <a:spcPct val="0"/>
                  </a:spcAft>
                  <a:buClrTx/>
                  <a:buSzTx/>
                  <a:buFontTx/>
                  <a:buNone/>
                </a:pPr>
                <a:r>
                  <a:rPr lang="en-US" altLang="en-US" sz="600" b="0"/>
                  <a:t>IN</a:t>
                </a:r>
              </a:p>
            </p:txBody>
          </p:sp>
        </p:grpSp>
        <p:sp>
          <p:nvSpPr>
            <p:cNvPr id="196" name="Line 789">
              <a:extLst>
                <a:ext uri="{FF2B5EF4-FFF2-40B4-BE49-F238E27FC236}">
                  <a16:creationId xmlns:a16="http://schemas.microsoft.com/office/drawing/2014/main" id="{E3B962DA-E5FC-E9F2-EB37-7E166DDC5FA9}"/>
                </a:ext>
              </a:extLst>
            </p:cNvPr>
            <p:cNvSpPr>
              <a:spLocks noChangeShapeType="1"/>
            </p:cNvSpPr>
            <p:nvPr/>
          </p:nvSpPr>
          <p:spPr bwMode="auto">
            <a:xfrm flipV="1">
              <a:off x="4619478" y="4341222"/>
              <a:ext cx="344488"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7" name="Line 790">
              <a:extLst>
                <a:ext uri="{FF2B5EF4-FFF2-40B4-BE49-F238E27FC236}">
                  <a16:creationId xmlns:a16="http://schemas.microsoft.com/office/drawing/2014/main" id="{60704217-8160-ED4E-7061-26E1DC049452}"/>
                </a:ext>
              </a:extLst>
            </p:cNvPr>
            <p:cNvSpPr>
              <a:spLocks noChangeShapeType="1"/>
            </p:cNvSpPr>
            <p:nvPr/>
          </p:nvSpPr>
          <p:spPr bwMode="auto">
            <a:xfrm flipV="1">
              <a:off x="4678216" y="4341222"/>
              <a:ext cx="217487"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8" name="Line 791">
              <a:extLst>
                <a:ext uri="{FF2B5EF4-FFF2-40B4-BE49-F238E27FC236}">
                  <a16:creationId xmlns:a16="http://schemas.microsoft.com/office/drawing/2014/main" id="{4732C061-32C3-C700-5D52-A2281771463D}"/>
                </a:ext>
              </a:extLst>
            </p:cNvPr>
            <p:cNvSpPr>
              <a:spLocks noChangeShapeType="1"/>
            </p:cNvSpPr>
            <p:nvPr/>
          </p:nvSpPr>
          <p:spPr bwMode="auto">
            <a:xfrm flipV="1">
              <a:off x="4619478" y="4341222"/>
              <a:ext cx="344488"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199" name="Group 792">
              <a:extLst>
                <a:ext uri="{FF2B5EF4-FFF2-40B4-BE49-F238E27FC236}">
                  <a16:creationId xmlns:a16="http://schemas.microsoft.com/office/drawing/2014/main" id="{752D2F8E-F921-3FE6-DB50-0D04259D86E1}"/>
                </a:ext>
              </a:extLst>
            </p:cNvPr>
            <p:cNvGrpSpPr>
              <a:grpSpLocks/>
            </p:cNvGrpSpPr>
            <p:nvPr/>
          </p:nvGrpSpPr>
          <p:grpSpPr bwMode="auto">
            <a:xfrm>
              <a:off x="4546453" y="4195172"/>
              <a:ext cx="454025" cy="903287"/>
              <a:chOff x="2020" y="2665"/>
              <a:chExt cx="286" cy="569"/>
            </a:xfrm>
          </p:grpSpPr>
          <p:sp>
            <p:nvSpPr>
              <p:cNvPr id="200" name="Text Box 793">
                <a:extLst>
                  <a:ext uri="{FF2B5EF4-FFF2-40B4-BE49-F238E27FC236}">
                    <a16:creationId xmlns:a16="http://schemas.microsoft.com/office/drawing/2014/main" id="{AB7A170D-CF8D-12DF-0DD5-8AE92A967176}"/>
                  </a:ext>
                </a:extLst>
              </p:cNvPr>
              <p:cNvSpPr txBox="1">
                <a:spLocks noChangeArrowheads="1"/>
              </p:cNvSpPr>
              <p:nvPr/>
            </p:nvSpPr>
            <p:spPr bwMode="auto">
              <a:xfrm>
                <a:off x="2020" y="2918"/>
                <a:ext cx="28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Aft>
                    <a:spcPct val="0"/>
                  </a:spcAft>
                  <a:buClrTx/>
                  <a:buSzTx/>
                  <a:buFontTx/>
                  <a:buNone/>
                </a:pPr>
                <a:r>
                  <a:rPr lang="en-US" altLang="en-US" sz="500" b="0">
                    <a:solidFill>
                      <a:srgbClr val="FF0000"/>
                    </a:solidFill>
                  </a:rPr>
                  <a:t>Outlook</a:t>
                </a:r>
              </a:p>
              <a:p>
                <a:pPr algn="ctr">
                  <a:lnSpc>
                    <a:spcPct val="100000"/>
                  </a:lnSpc>
                  <a:spcAft>
                    <a:spcPct val="0"/>
                  </a:spcAft>
                  <a:buClrTx/>
                  <a:buSzTx/>
                  <a:buFontTx/>
                  <a:buNone/>
                </a:pPr>
                <a:r>
                  <a:rPr lang="en-US" altLang="en-US" sz="500" b="0">
                    <a:solidFill>
                      <a:srgbClr val="FF0000"/>
                    </a:solidFill>
                  </a:rPr>
                  <a:t>FIFO</a:t>
                </a:r>
              </a:p>
              <a:p>
                <a:pPr algn="ctr">
                  <a:lnSpc>
                    <a:spcPct val="100000"/>
                  </a:lnSpc>
                  <a:spcAft>
                    <a:spcPct val="0"/>
                  </a:spcAft>
                  <a:buClrTx/>
                  <a:buSzTx/>
                  <a:buFontTx/>
                  <a:buNone/>
                </a:pPr>
                <a:r>
                  <a:rPr lang="en-US" altLang="en-US" sz="500" b="0">
                    <a:solidFill>
                      <a:srgbClr val="FF0000"/>
                    </a:solidFill>
                  </a:rPr>
                  <a:t>1000  </a:t>
                </a:r>
                <a:r>
                  <a:rPr lang="en-US" altLang="en-US" sz="400" b="0">
                    <a:solidFill>
                      <a:srgbClr val="FF0000"/>
                    </a:solidFill>
                  </a:rPr>
                  <a:t>Application</a:t>
                </a:r>
              </a:p>
            </p:txBody>
          </p:sp>
          <p:sp>
            <p:nvSpPr>
              <p:cNvPr id="201" name="Rectangle 794">
                <a:extLst>
                  <a:ext uri="{FF2B5EF4-FFF2-40B4-BE49-F238E27FC236}">
                    <a16:creationId xmlns:a16="http://schemas.microsoft.com/office/drawing/2014/main" id="{BE765596-5A6F-0C8F-6C4B-A9474C278CD1}"/>
                  </a:ext>
                </a:extLst>
              </p:cNvPr>
              <p:cNvSpPr>
                <a:spLocks noChangeArrowheads="1"/>
              </p:cNvSpPr>
              <p:nvPr/>
            </p:nvSpPr>
            <p:spPr bwMode="auto">
              <a:xfrm>
                <a:off x="2095" y="2709"/>
                <a:ext cx="151" cy="16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02" name="AutoShape 795">
                <a:extLst>
                  <a:ext uri="{FF2B5EF4-FFF2-40B4-BE49-F238E27FC236}">
                    <a16:creationId xmlns:a16="http://schemas.microsoft.com/office/drawing/2014/main" id="{36261623-05F3-A158-9F94-78291B5CED73}"/>
                  </a:ext>
                </a:extLst>
              </p:cNvPr>
              <p:cNvSpPr>
                <a:spLocks/>
              </p:cNvSpPr>
              <p:nvPr/>
            </p:nvSpPr>
            <p:spPr bwMode="auto">
              <a:xfrm rot="-5400000">
                <a:off x="2162" y="2598"/>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03" name="AutoShape 796">
                <a:extLst>
                  <a:ext uri="{FF2B5EF4-FFF2-40B4-BE49-F238E27FC236}">
                    <a16:creationId xmlns:a16="http://schemas.microsoft.com/office/drawing/2014/main" id="{33C89023-F171-79DA-CD53-578351019881}"/>
                  </a:ext>
                </a:extLst>
              </p:cNvPr>
              <p:cNvSpPr>
                <a:spLocks/>
              </p:cNvSpPr>
              <p:nvPr/>
            </p:nvSpPr>
            <p:spPr bwMode="auto">
              <a:xfrm rot="-5400000">
                <a:off x="2162" y="2607"/>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04" name="AutoShape 797">
                <a:extLst>
                  <a:ext uri="{FF2B5EF4-FFF2-40B4-BE49-F238E27FC236}">
                    <a16:creationId xmlns:a16="http://schemas.microsoft.com/office/drawing/2014/main" id="{C17EE951-F6EA-F350-2505-2EF92C92BE5B}"/>
                  </a:ext>
                </a:extLst>
              </p:cNvPr>
              <p:cNvSpPr>
                <a:spLocks/>
              </p:cNvSpPr>
              <p:nvPr/>
            </p:nvSpPr>
            <p:spPr bwMode="auto">
              <a:xfrm rot="-5400000">
                <a:off x="2162" y="2616"/>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205" name="Group 798">
                <a:extLst>
                  <a:ext uri="{FF2B5EF4-FFF2-40B4-BE49-F238E27FC236}">
                    <a16:creationId xmlns:a16="http://schemas.microsoft.com/office/drawing/2014/main" id="{CB5DF7C3-41EE-054D-8FFF-489191D2B940}"/>
                  </a:ext>
                </a:extLst>
              </p:cNvPr>
              <p:cNvGrpSpPr>
                <a:grpSpLocks/>
              </p:cNvGrpSpPr>
              <p:nvPr/>
            </p:nvGrpSpPr>
            <p:grpSpPr bwMode="auto">
              <a:xfrm>
                <a:off x="2089" y="2898"/>
                <a:ext cx="151" cy="336"/>
                <a:chOff x="576" y="1200"/>
                <a:chExt cx="240" cy="336"/>
              </a:xfrm>
            </p:grpSpPr>
            <p:sp>
              <p:nvSpPr>
                <p:cNvPr id="207" name="Rectangle 799">
                  <a:extLst>
                    <a:ext uri="{FF2B5EF4-FFF2-40B4-BE49-F238E27FC236}">
                      <a16:creationId xmlns:a16="http://schemas.microsoft.com/office/drawing/2014/main" id="{C618A3A1-B554-FCE2-D036-A81D54D36DB3}"/>
                    </a:ext>
                  </a:extLst>
                </p:cNvPr>
                <p:cNvSpPr>
                  <a:spLocks noChangeArrowheads="1"/>
                </p:cNvSpPr>
                <p:nvPr/>
              </p:nvSpPr>
              <p:spPr bwMode="auto">
                <a:xfrm>
                  <a:off x="576" y="1200"/>
                  <a:ext cx="240"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08" name="Line 800">
                  <a:extLst>
                    <a:ext uri="{FF2B5EF4-FFF2-40B4-BE49-F238E27FC236}">
                      <a16:creationId xmlns:a16="http://schemas.microsoft.com/office/drawing/2014/main" id="{8C7D1003-32A9-C718-24A7-1503D51A647B}"/>
                    </a:ext>
                  </a:extLst>
                </p:cNvPr>
                <p:cNvSpPr>
                  <a:spLocks noChangeShapeType="1"/>
                </p:cNvSpPr>
                <p:nvPr/>
              </p:nvSpPr>
              <p:spPr bwMode="auto">
                <a:xfrm>
                  <a:off x="576" y="139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9" name="Line 801">
                  <a:extLst>
                    <a:ext uri="{FF2B5EF4-FFF2-40B4-BE49-F238E27FC236}">
                      <a16:creationId xmlns:a16="http://schemas.microsoft.com/office/drawing/2014/main" id="{3FC91350-1FCE-2C80-0368-467006C73A6A}"/>
                    </a:ext>
                  </a:extLst>
                </p:cNvPr>
                <p:cNvSpPr>
                  <a:spLocks noChangeShapeType="1"/>
                </p:cNvSpPr>
                <p:nvPr/>
              </p:nvSpPr>
              <p:spPr bwMode="auto">
                <a:xfrm>
                  <a:off x="576" y="129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06" name="Text Box 802">
                <a:extLst>
                  <a:ext uri="{FF2B5EF4-FFF2-40B4-BE49-F238E27FC236}">
                    <a16:creationId xmlns:a16="http://schemas.microsoft.com/office/drawing/2014/main" id="{30248F84-B836-6137-A9D5-878F5B0E1E50}"/>
                  </a:ext>
                </a:extLst>
              </p:cNvPr>
              <p:cNvSpPr txBox="1">
                <a:spLocks noChangeArrowheads="1"/>
              </p:cNvSpPr>
              <p:nvPr/>
            </p:nvSpPr>
            <p:spPr bwMode="auto">
              <a:xfrm>
                <a:off x="2074" y="2736"/>
                <a:ext cx="168" cy="1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eaLnBrk="1" hangingPunct="1">
                  <a:lnSpc>
                    <a:spcPct val="100000"/>
                  </a:lnSpc>
                  <a:spcBef>
                    <a:spcPct val="0"/>
                  </a:spcBef>
                  <a:spcAft>
                    <a:spcPct val="0"/>
                  </a:spcAft>
                  <a:buClrTx/>
                  <a:buSzTx/>
                  <a:buFontTx/>
                  <a:buNone/>
                </a:pPr>
                <a:r>
                  <a:rPr lang="en-US" altLang="en-US" sz="600" b="0"/>
                  <a:t>IN</a:t>
                </a:r>
              </a:p>
            </p:txBody>
          </p:sp>
        </p:grpSp>
        <p:sp>
          <p:nvSpPr>
            <p:cNvPr id="210" name="Line 803">
              <a:extLst>
                <a:ext uri="{FF2B5EF4-FFF2-40B4-BE49-F238E27FC236}">
                  <a16:creationId xmlns:a16="http://schemas.microsoft.com/office/drawing/2014/main" id="{09B3428A-5E20-1FDD-B950-854CCF03CCB3}"/>
                </a:ext>
              </a:extLst>
            </p:cNvPr>
            <p:cNvSpPr>
              <a:spLocks noChangeShapeType="1"/>
            </p:cNvSpPr>
            <p:nvPr/>
          </p:nvSpPr>
          <p:spPr bwMode="auto">
            <a:xfrm flipV="1">
              <a:off x="3635228" y="4341222"/>
              <a:ext cx="344488"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11" name="Line 804">
              <a:extLst>
                <a:ext uri="{FF2B5EF4-FFF2-40B4-BE49-F238E27FC236}">
                  <a16:creationId xmlns:a16="http://schemas.microsoft.com/office/drawing/2014/main" id="{03580430-2E1E-F8CD-939D-54474DFBBF53}"/>
                </a:ext>
              </a:extLst>
            </p:cNvPr>
            <p:cNvSpPr>
              <a:spLocks noChangeShapeType="1"/>
            </p:cNvSpPr>
            <p:nvPr/>
          </p:nvSpPr>
          <p:spPr bwMode="auto">
            <a:xfrm flipV="1">
              <a:off x="3693966" y="4341222"/>
              <a:ext cx="217487"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12" name="Line 805">
              <a:extLst>
                <a:ext uri="{FF2B5EF4-FFF2-40B4-BE49-F238E27FC236}">
                  <a16:creationId xmlns:a16="http://schemas.microsoft.com/office/drawing/2014/main" id="{D18A9633-1359-2582-5983-46A1AF7746FF}"/>
                </a:ext>
              </a:extLst>
            </p:cNvPr>
            <p:cNvSpPr>
              <a:spLocks noChangeShapeType="1"/>
            </p:cNvSpPr>
            <p:nvPr/>
          </p:nvSpPr>
          <p:spPr bwMode="auto">
            <a:xfrm flipV="1">
              <a:off x="3635228" y="4341222"/>
              <a:ext cx="344488"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213" name="Group 806">
              <a:extLst>
                <a:ext uri="{FF2B5EF4-FFF2-40B4-BE49-F238E27FC236}">
                  <a16:creationId xmlns:a16="http://schemas.microsoft.com/office/drawing/2014/main" id="{1EE69DFB-AE49-8295-33C6-A1B07D9B8B7E}"/>
                </a:ext>
              </a:extLst>
            </p:cNvPr>
            <p:cNvGrpSpPr>
              <a:grpSpLocks/>
            </p:cNvGrpSpPr>
            <p:nvPr/>
          </p:nvGrpSpPr>
          <p:grpSpPr bwMode="auto">
            <a:xfrm>
              <a:off x="3562203" y="4195172"/>
              <a:ext cx="454025" cy="903287"/>
              <a:chOff x="1400" y="2665"/>
              <a:chExt cx="286" cy="569"/>
            </a:xfrm>
          </p:grpSpPr>
          <p:sp>
            <p:nvSpPr>
              <p:cNvPr id="214" name="Text Box 807">
                <a:extLst>
                  <a:ext uri="{FF2B5EF4-FFF2-40B4-BE49-F238E27FC236}">
                    <a16:creationId xmlns:a16="http://schemas.microsoft.com/office/drawing/2014/main" id="{24A9979C-3756-1B98-9143-E41DF65A80DF}"/>
                  </a:ext>
                </a:extLst>
              </p:cNvPr>
              <p:cNvSpPr txBox="1">
                <a:spLocks noChangeArrowheads="1"/>
              </p:cNvSpPr>
              <p:nvPr/>
            </p:nvSpPr>
            <p:spPr bwMode="auto">
              <a:xfrm>
                <a:off x="1400" y="2918"/>
                <a:ext cx="28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Aft>
                    <a:spcPct val="0"/>
                  </a:spcAft>
                  <a:buClrTx/>
                  <a:buSzTx/>
                  <a:buFontTx/>
                  <a:buNone/>
                </a:pPr>
                <a:r>
                  <a:rPr lang="en-US" altLang="en-US" sz="500" b="0">
                    <a:solidFill>
                      <a:srgbClr val="FF0000"/>
                    </a:solidFill>
                  </a:rPr>
                  <a:t>In Box</a:t>
                </a:r>
              </a:p>
              <a:p>
                <a:pPr algn="ctr">
                  <a:lnSpc>
                    <a:spcPct val="100000"/>
                  </a:lnSpc>
                  <a:spcAft>
                    <a:spcPct val="0"/>
                  </a:spcAft>
                  <a:buClrTx/>
                  <a:buSzTx/>
                  <a:buFontTx/>
                  <a:buNone/>
                </a:pPr>
                <a:r>
                  <a:rPr lang="en-US" altLang="en-US" sz="500" b="0">
                    <a:solidFill>
                      <a:srgbClr val="FF0000"/>
                    </a:solidFill>
                  </a:rPr>
                  <a:t>FIFO</a:t>
                </a:r>
              </a:p>
              <a:p>
                <a:pPr algn="ctr">
                  <a:lnSpc>
                    <a:spcPct val="100000"/>
                  </a:lnSpc>
                  <a:spcAft>
                    <a:spcPct val="0"/>
                  </a:spcAft>
                  <a:buClrTx/>
                  <a:buSzTx/>
                  <a:buFontTx/>
                  <a:buNone/>
                </a:pPr>
                <a:r>
                  <a:rPr lang="en-US" altLang="en-US" sz="500" b="0">
                    <a:solidFill>
                      <a:srgbClr val="FF0000"/>
                    </a:solidFill>
                  </a:rPr>
                  <a:t>500   </a:t>
                </a:r>
                <a:r>
                  <a:rPr lang="en-US" altLang="en-US" sz="400" b="0">
                    <a:solidFill>
                      <a:srgbClr val="FF0000"/>
                    </a:solidFill>
                  </a:rPr>
                  <a:t>Application</a:t>
                </a:r>
              </a:p>
            </p:txBody>
          </p:sp>
          <p:sp>
            <p:nvSpPr>
              <p:cNvPr id="215" name="Rectangle 808">
                <a:extLst>
                  <a:ext uri="{FF2B5EF4-FFF2-40B4-BE49-F238E27FC236}">
                    <a16:creationId xmlns:a16="http://schemas.microsoft.com/office/drawing/2014/main" id="{CF329918-5F2B-FD03-6C93-DE83AE4E2499}"/>
                  </a:ext>
                </a:extLst>
              </p:cNvPr>
              <p:cNvSpPr>
                <a:spLocks noChangeArrowheads="1"/>
              </p:cNvSpPr>
              <p:nvPr/>
            </p:nvSpPr>
            <p:spPr bwMode="auto">
              <a:xfrm>
                <a:off x="1475" y="2709"/>
                <a:ext cx="151" cy="16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16" name="AutoShape 809">
                <a:extLst>
                  <a:ext uri="{FF2B5EF4-FFF2-40B4-BE49-F238E27FC236}">
                    <a16:creationId xmlns:a16="http://schemas.microsoft.com/office/drawing/2014/main" id="{29C4D1F2-251F-2126-5156-3BE1752786F8}"/>
                  </a:ext>
                </a:extLst>
              </p:cNvPr>
              <p:cNvSpPr>
                <a:spLocks/>
              </p:cNvSpPr>
              <p:nvPr/>
            </p:nvSpPr>
            <p:spPr bwMode="auto">
              <a:xfrm rot="-5400000">
                <a:off x="1542" y="2598"/>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17" name="AutoShape 810">
                <a:extLst>
                  <a:ext uri="{FF2B5EF4-FFF2-40B4-BE49-F238E27FC236}">
                    <a16:creationId xmlns:a16="http://schemas.microsoft.com/office/drawing/2014/main" id="{7D4D1CA0-3024-6388-0E0B-24FC2C3AC8A3}"/>
                  </a:ext>
                </a:extLst>
              </p:cNvPr>
              <p:cNvSpPr>
                <a:spLocks/>
              </p:cNvSpPr>
              <p:nvPr/>
            </p:nvSpPr>
            <p:spPr bwMode="auto">
              <a:xfrm rot="-5400000">
                <a:off x="1542" y="2607"/>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18" name="AutoShape 811">
                <a:extLst>
                  <a:ext uri="{FF2B5EF4-FFF2-40B4-BE49-F238E27FC236}">
                    <a16:creationId xmlns:a16="http://schemas.microsoft.com/office/drawing/2014/main" id="{D72E8E03-E5B1-A363-6CF6-F2403C1E7C08}"/>
                  </a:ext>
                </a:extLst>
              </p:cNvPr>
              <p:cNvSpPr>
                <a:spLocks/>
              </p:cNvSpPr>
              <p:nvPr/>
            </p:nvSpPr>
            <p:spPr bwMode="auto">
              <a:xfrm rot="-5400000">
                <a:off x="1542" y="2616"/>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219" name="Group 812">
                <a:extLst>
                  <a:ext uri="{FF2B5EF4-FFF2-40B4-BE49-F238E27FC236}">
                    <a16:creationId xmlns:a16="http://schemas.microsoft.com/office/drawing/2014/main" id="{67746CE0-324D-89D7-1150-145E7DBC7BCA}"/>
                  </a:ext>
                </a:extLst>
              </p:cNvPr>
              <p:cNvGrpSpPr>
                <a:grpSpLocks/>
              </p:cNvGrpSpPr>
              <p:nvPr/>
            </p:nvGrpSpPr>
            <p:grpSpPr bwMode="auto">
              <a:xfrm>
                <a:off x="1469" y="2898"/>
                <a:ext cx="151" cy="336"/>
                <a:chOff x="576" y="1200"/>
                <a:chExt cx="240" cy="336"/>
              </a:xfrm>
            </p:grpSpPr>
            <p:sp>
              <p:nvSpPr>
                <p:cNvPr id="221" name="Rectangle 813">
                  <a:extLst>
                    <a:ext uri="{FF2B5EF4-FFF2-40B4-BE49-F238E27FC236}">
                      <a16:creationId xmlns:a16="http://schemas.microsoft.com/office/drawing/2014/main" id="{CF34A2DE-D985-C287-1932-B2D9CFA8FEFA}"/>
                    </a:ext>
                  </a:extLst>
                </p:cNvPr>
                <p:cNvSpPr>
                  <a:spLocks noChangeArrowheads="1"/>
                </p:cNvSpPr>
                <p:nvPr/>
              </p:nvSpPr>
              <p:spPr bwMode="auto">
                <a:xfrm>
                  <a:off x="576" y="1200"/>
                  <a:ext cx="240"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22" name="Line 814">
                  <a:extLst>
                    <a:ext uri="{FF2B5EF4-FFF2-40B4-BE49-F238E27FC236}">
                      <a16:creationId xmlns:a16="http://schemas.microsoft.com/office/drawing/2014/main" id="{E4863D15-0BE1-94B0-7951-F43101D5408A}"/>
                    </a:ext>
                  </a:extLst>
                </p:cNvPr>
                <p:cNvSpPr>
                  <a:spLocks noChangeShapeType="1"/>
                </p:cNvSpPr>
                <p:nvPr/>
              </p:nvSpPr>
              <p:spPr bwMode="auto">
                <a:xfrm>
                  <a:off x="576" y="139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3" name="Line 815">
                  <a:extLst>
                    <a:ext uri="{FF2B5EF4-FFF2-40B4-BE49-F238E27FC236}">
                      <a16:creationId xmlns:a16="http://schemas.microsoft.com/office/drawing/2014/main" id="{FEC12829-2139-B7E2-BC68-F40BDD692057}"/>
                    </a:ext>
                  </a:extLst>
                </p:cNvPr>
                <p:cNvSpPr>
                  <a:spLocks noChangeShapeType="1"/>
                </p:cNvSpPr>
                <p:nvPr/>
              </p:nvSpPr>
              <p:spPr bwMode="auto">
                <a:xfrm>
                  <a:off x="576" y="129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20" name="Text Box 816">
                <a:extLst>
                  <a:ext uri="{FF2B5EF4-FFF2-40B4-BE49-F238E27FC236}">
                    <a16:creationId xmlns:a16="http://schemas.microsoft.com/office/drawing/2014/main" id="{E9053774-5CCA-F9B5-C209-88605CC57146}"/>
                  </a:ext>
                </a:extLst>
              </p:cNvPr>
              <p:cNvSpPr txBox="1">
                <a:spLocks noChangeArrowheads="1"/>
              </p:cNvSpPr>
              <p:nvPr/>
            </p:nvSpPr>
            <p:spPr bwMode="auto">
              <a:xfrm>
                <a:off x="1454" y="2736"/>
                <a:ext cx="168" cy="1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eaLnBrk="1" hangingPunct="1">
                  <a:lnSpc>
                    <a:spcPct val="100000"/>
                  </a:lnSpc>
                  <a:spcBef>
                    <a:spcPct val="0"/>
                  </a:spcBef>
                  <a:spcAft>
                    <a:spcPct val="0"/>
                  </a:spcAft>
                  <a:buClrTx/>
                  <a:buSzTx/>
                  <a:buFontTx/>
                  <a:buNone/>
                </a:pPr>
                <a:r>
                  <a:rPr lang="en-US" altLang="en-US" sz="600" b="0"/>
                  <a:t>IN</a:t>
                </a:r>
              </a:p>
            </p:txBody>
          </p:sp>
        </p:grpSp>
        <p:grpSp>
          <p:nvGrpSpPr>
            <p:cNvPr id="224" name="Group 817">
              <a:extLst>
                <a:ext uri="{FF2B5EF4-FFF2-40B4-BE49-F238E27FC236}">
                  <a16:creationId xmlns:a16="http://schemas.microsoft.com/office/drawing/2014/main" id="{D6EF147D-71B0-24CE-33DB-085DC011B29C}"/>
                </a:ext>
              </a:extLst>
            </p:cNvPr>
            <p:cNvGrpSpPr>
              <a:grpSpLocks/>
            </p:cNvGrpSpPr>
            <p:nvPr/>
          </p:nvGrpSpPr>
          <p:grpSpPr bwMode="auto">
            <a:xfrm>
              <a:off x="8532666" y="3907834"/>
              <a:ext cx="538162" cy="393700"/>
              <a:chOff x="513" y="2099"/>
              <a:chExt cx="374" cy="258"/>
            </a:xfrm>
          </p:grpSpPr>
          <p:grpSp>
            <p:nvGrpSpPr>
              <p:cNvPr id="225" name="Group 818">
                <a:extLst>
                  <a:ext uri="{FF2B5EF4-FFF2-40B4-BE49-F238E27FC236}">
                    <a16:creationId xmlns:a16="http://schemas.microsoft.com/office/drawing/2014/main" id="{1BF41117-5EBE-25F2-9DDC-FB09A5A61AD8}"/>
                  </a:ext>
                </a:extLst>
              </p:cNvPr>
              <p:cNvGrpSpPr>
                <a:grpSpLocks/>
              </p:cNvGrpSpPr>
              <p:nvPr/>
            </p:nvGrpSpPr>
            <p:grpSpPr bwMode="auto">
              <a:xfrm>
                <a:off x="550" y="2121"/>
                <a:ext cx="337" cy="236"/>
                <a:chOff x="536" y="3744"/>
                <a:chExt cx="415" cy="261"/>
              </a:xfrm>
            </p:grpSpPr>
            <p:sp>
              <p:nvSpPr>
                <p:cNvPr id="227" name="Rectangle 819">
                  <a:extLst>
                    <a:ext uri="{FF2B5EF4-FFF2-40B4-BE49-F238E27FC236}">
                      <a16:creationId xmlns:a16="http://schemas.microsoft.com/office/drawing/2014/main" id="{BBAECD67-72A7-7291-EBC2-DA10E85E49A7}"/>
                    </a:ext>
                  </a:extLst>
                </p:cNvPr>
                <p:cNvSpPr>
                  <a:spLocks noChangeArrowheads="1"/>
                </p:cNvSpPr>
                <p:nvPr/>
              </p:nvSpPr>
              <p:spPr bwMode="auto">
                <a:xfrm>
                  <a:off x="536" y="3744"/>
                  <a:ext cx="286" cy="19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28" name="Rectangle 820">
                  <a:extLst>
                    <a:ext uri="{FF2B5EF4-FFF2-40B4-BE49-F238E27FC236}">
                      <a16:creationId xmlns:a16="http://schemas.microsoft.com/office/drawing/2014/main" id="{BCCBCD8F-13AB-9228-7DDF-6A142292B922}"/>
                    </a:ext>
                  </a:extLst>
                </p:cNvPr>
                <p:cNvSpPr>
                  <a:spLocks noChangeArrowheads="1"/>
                </p:cNvSpPr>
                <p:nvPr/>
              </p:nvSpPr>
              <p:spPr bwMode="auto">
                <a:xfrm>
                  <a:off x="824" y="3809"/>
                  <a:ext cx="127" cy="131"/>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29" name="Oval 821">
                  <a:extLst>
                    <a:ext uri="{FF2B5EF4-FFF2-40B4-BE49-F238E27FC236}">
                      <a16:creationId xmlns:a16="http://schemas.microsoft.com/office/drawing/2014/main" id="{4704D7B0-33CE-479D-AAA3-C73F68C9C6DD}"/>
                    </a:ext>
                  </a:extLst>
                </p:cNvPr>
                <p:cNvSpPr>
                  <a:spLocks noChangeArrowheads="1"/>
                </p:cNvSpPr>
                <p:nvPr/>
              </p:nvSpPr>
              <p:spPr bwMode="auto">
                <a:xfrm>
                  <a:off x="854" y="3940"/>
                  <a:ext cx="63" cy="6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30" name="Oval 822">
                  <a:extLst>
                    <a:ext uri="{FF2B5EF4-FFF2-40B4-BE49-F238E27FC236}">
                      <a16:creationId xmlns:a16="http://schemas.microsoft.com/office/drawing/2014/main" id="{B822B962-C4B5-A85F-CD15-BC957FDFCEDD}"/>
                    </a:ext>
                  </a:extLst>
                </p:cNvPr>
                <p:cNvSpPr>
                  <a:spLocks noChangeArrowheads="1"/>
                </p:cNvSpPr>
                <p:nvPr/>
              </p:nvSpPr>
              <p:spPr bwMode="auto">
                <a:xfrm>
                  <a:off x="568" y="3940"/>
                  <a:ext cx="63" cy="6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sp>
            <p:nvSpPr>
              <p:cNvPr id="226" name="Text Box 823">
                <a:extLst>
                  <a:ext uri="{FF2B5EF4-FFF2-40B4-BE49-F238E27FC236}">
                    <a16:creationId xmlns:a16="http://schemas.microsoft.com/office/drawing/2014/main" id="{A393191E-A954-E7A9-84AD-EC34BD06AE0B}"/>
                  </a:ext>
                </a:extLst>
              </p:cNvPr>
              <p:cNvSpPr txBox="1">
                <a:spLocks noChangeArrowheads="1"/>
              </p:cNvSpPr>
              <p:nvPr/>
            </p:nvSpPr>
            <p:spPr bwMode="auto">
              <a:xfrm>
                <a:off x="513" y="2099"/>
                <a:ext cx="308" cy="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600" b="0"/>
                  <a:t>1X Daily</a:t>
                </a:r>
              </a:p>
            </p:txBody>
          </p:sp>
        </p:grpSp>
        <p:sp>
          <p:nvSpPr>
            <p:cNvPr id="231" name="Rectangle 824">
              <a:extLst>
                <a:ext uri="{FF2B5EF4-FFF2-40B4-BE49-F238E27FC236}">
                  <a16:creationId xmlns:a16="http://schemas.microsoft.com/office/drawing/2014/main" id="{A3905912-1B98-9CB6-E7AA-4A38B79E6D0B}"/>
                </a:ext>
              </a:extLst>
            </p:cNvPr>
            <p:cNvSpPr>
              <a:spLocks noChangeArrowheads="1"/>
            </p:cNvSpPr>
            <p:nvPr/>
          </p:nvSpPr>
          <p:spPr bwMode="auto">
            <a:xfrm>
              <a:off x="4933803" y="4607922"/>
              <a:ext cx="771525" cy="56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45720">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25000"/>
                </a:lnSpc>
                <a:spcBef>
                  <a:spcPct val="0"/>
                </a:spcBef>
                <a:spcAft>
                  <a:spcPct val="0"/>
                </a:spcAft>
                <a:buClrTx/>
                <a:buSzTx/>
                <a:buFontTx/>
                <a:buNone/>
              </a:pPr>
              <a:r>
                <a:rPr lang="en-US" altLang="en-US" sz="500" b="0"/>
                <a:t>Volume = 1,730</a:t>
              </a:r>
            </a:p>
            <a:p>
              <a:pPr>
                <a:lnSpc>
                  <a:spcPct val="125000"/>
                </a:lnSpc>
                <a:spcBef>
                  <a:spcPct val="0"/>
                </a:spcBef>
                <a:spcAft>
                  <a:spcPct val="0"/>
                </a:spcAft>
                <a:buClrTx/>
                <a:buSzTx/>
                <a:buFontTx/>
                <a:buNone/>
              </a:pPr>
              <a:r>
                <a:rPr lang="en-US" altLang="en-US" sz="500" b="0"/>
                <a:t>Processing Time = 180”</a:t>
              </a:r>
            </a:p>
            <a:p>
              <a:pPr>
                <a:lnSpc>
                  <a:spcPct val="125000"/>
                </a:lnSpc>
                <a:spcBef>
                  <a:spcPct val="0"/>
                </a:spcBef>
                <a:spcAft>
                  <a:spcPct val="0"/>
                </a:spcAft>
                <a:buClrTx/>
                <a:buSzTx/>
                <a:buFontTx/>
                <a:buNone/>
              </a:pPr>
              <a:r>
                <a:rPr lang="en-US" altLang="en-US" sz="500" b="0"/>
                <a:t>DOI = 20”</a:t>
              </a:r>
            </a:p>
            <a:p>
              <a:pPr>
                <a:lnSpc>
                  <a:spcPct val="125000"/>
                </a:lnSpc>
                <a:spcBef>
                  <a:spcPct val="0"/>
                </a:spcBef>
                <a:spcAft>
                  <a:spcPct val="0"/>
                </a:spcAft>
                <a:buClrTx/>
                <a:buSzTx/>
                <a:buFontTx/>
                <a:buNone/>
              </a:pPr>
              <a:r>
                <a:rPr lang="en-US" altLang="en-US" sz="500" b="0"/>
                <a:t>Quality = 100%</a:t>
              </a:r>
            </a:p>
            <a:p>
              <a:pPr>
                <a:lnSpc>
                  <a:spcPct val="125000"/>
                </a:lnSpc>
                <a:spcBef>
                  <a:spcPct val="0"/>
                </a:spcBef>
                <a:spcAft>
                  <a:spcPct val="0"/>
                </a:spcAft>
                <a:buClrTx/>
                <a:buSzTx/>
                <a:buFontTx/>
                <a:buNone/>
              </a:pPr>
              <a:r>
                <a:rPr lang="en-US" altLang="en-US" sz="500" b="0"/>
                <a:t># Rework = 0</a:t>
              </a:r>
            </a:p>
          </p:txBody>
        </p:sp>
        <p:sp>
          <p:nvSpPr>
            <p:cNvPr id="232" name="Rectangle 825">
              <a:extLst>
                <a:ext uri="{FF2B5EF4-FFF2-40B4-BE49-F238E27FC236}">
                  <a16:creationId xmlns:a16="http://schemas.microsoft.com/office/drawing/2014/main" id="{7682815E-652A-627A-4C84-5D6A4C4B5BA6}"/>
                </a:ext>
              </a:extLst>
            </p:cNvPr>
            <p:cNvSpPr>
              <a:spLocks noChangeArrowheads="1"/>
            </p:cNvSpPr>
            <p:nvPr/>
          </p:nvSpPr>
          <p:spPr bwMode="auto">
            <a:xfrm>
              <a:off x="7913541" y="4125322"/>
              <a:ext cx="538162"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25000"/>
                </a:lnSpc>
                <a:spcBef>
                  <a:spcPct val="0"/>
                </a:spcBef>
                <a:spcAft>
                  <a:spcPct val="0"/>
                </a:spcAft>
                <a:buClrTx/>
                <a:buSzTx/>
                <a:buFontTx/>
                <a:buNone/>
              </a:pPr>
              <a:r>
                <a:rPr lang="en-US" altLang="en-US" sz="500" b="0"/>
                <a:t>Volume = 1,197</a:t>
              </a:r>
            </a:p>
          </p:txBody>
        </p:sp>
        <p:sp>
          <p:nvSpPr>
            <p:cNvPr id="233" name="Rectangle 826">
              <a:extLst>
                <a:ext uri="{FF2B5EF4-FFF2-40B4-BE49-F238E27FC236}">
                  <a16:creationId xmlns:a16="http://schemas.microsoft.com/office/drawing/2014/main" id="{DB80CFC7-63C7-7956-B6B7-1B88BAE42AB5}"/>
                </a:ext>
              </a:extLst>
            </p:cNvPr>
            <p:cNvSpPr>
              <a:spLocks noChangeArrowheads="1"/>
            </p:cNvSpPr>
            <p:nvPr/>
          </p:nvSpPr>
          <p:spPr bwMode="auto">
            <a:xfrm>
              <a:off x="2941491" y="4658722"/>
              <a:ext cx="728662" cy="56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25000"/>
                </a:lnSpc>
                <a:spcBef>
                  <a:spcPct val="0"/>
                </a:spcBef>
                <a:spcAft>
                  <a:spcPct val="0"/>
                </a:spcAft>
                <a:buClrTx/>
                <a:buSzTx/>
                <a:buFontTx/>
                <a:buNone/>
              </a:pPr>
              <a:r>
                <a:rPr lang="en-US" altLang="en-US" sz="500" b="0"/>
                <a:t>Volume = 1,500</a:t>
              </a:r>
            </a:p>
            <a:p>
              <a:pPr>
                <a:lnSpc>
                  <a:spcPct val="125000"/>
                </a:lnSpc>
                <a:spcBef>
                  <a:spcPct val="0"/>
                </a:spcBef>
                <a:spcAft>
                  <a:spcPct val="0"/>
                </a:spcAft>
                <a:buClrTx/>
                <a:buSzTx/>
                <a:buFontTx/>
                <a:buNone/>
              </a:pPr>
              <a:r>
                <a:rPr lang="en-US" altLang="en-US" sz="500" b="0"/>
                <a:t>Processing Time = 10”</a:t>
              </a:r>
            </a:p>
            <a:p>
              <a:pPr>
                <a:lnSpc>
                  <a:spcPct val="125000"/>
                </a:lnSpc>
                <a:spcBef>
                  <a:spcPct val="0"/>
                </a:spcBef>
                <a:spcAft>
                  <a:spcPct val="0"/>
                </a:spcAft>
                <a:buClrTx/>
                <a:buSzTx/>
                <a:buFontTx/>
                <a:buNone/>
              </a:pPr>
              <a:r>
                <a:rPr lang="en-US" altLang="en-US" sz="500" b="0"/>
                <a:t>DOI = 10”</a:t>
              </a:r>
            </a:p>
            <a:p>
              <a:pPr>
                <a:lnSpc>
                  <a:spcPct val="125000"/>
                </a:lnSpc>
                <a:spcBef>
                  <a:spcPct val="0"/>
                </a:spcBef>
                <a:spcAft>
                  <a:spcPct val="0"/>
                </a:spcAft>
                <a:buClrTx/>
                <a:buSzTx/>
                <a:buFontTx/>
                <a:buNone/>
              </a:pPr>
              <a:r>
                <a:rPr lang="en-US" altLang="en-US" sz="500" b="0"/>
                <a:t>Quality = 82%</a:t>
              </a:r>
            </a:p>
            <a:p>
              <a:pPr>
                <a:lnSpc>
                  <a:spcPct val="125000"/>
                </a:lnSpc>
                <a:spcBef>
                  <a:spcPct val="0"/>
                </a:spcBef>
                <a:spcAft>
                  <a:spcPct val="0"/>
                </a:spcAft>
                <a:buClrTx/>
                <a:buSzTx/>
                <a:buFontTx/>
                <a:buNone/>
              </a:pPr>
              <a:r>
                <a:rPr lang="en-US" altLang="en-US" sz="500" b="0"/>
                <a:t># Rework = 0</a:t>
              </a:r>
            </a:p>
          </p:txBody>
        </p:sp>
        <p:sp>
          <p:nvSpPr>
            <p:cNvPr id="234" name="Rectangle 827">
              <a:extLst>
                <a:ext uri="{FF2B5EF4-FFF2-40B4-BE49-F238E27FC236}">
                  <a16:creationId xmlns:a16="http://schemas.microsoft.com/office/drawing/2014/main" id="{55051F95-3361-C83E-2B0D-81749F91D990}"/>
                </a:ext>
              </a:extLst>
            </p:cNvPr>
            <p:cNvSpPr>
              <a:spLocks noChangeArrowheads="1"/>
            </p:cNvSpPr>
            <p:nvPr/>
          </p:nvSpPr>
          <p:spPr bwMode="auto">
            <a:xfrm>
              <a:off x="5951391" y="4665072"/>
              <a:ext cx="728662" cy="56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25000"/>
                </a:lnSpc>
                <a:spcBef>
                  <a:spcPct val="0"/>
                </a:spcBef>
                <a:spcAft>
                  <a:spcPct val="0"/>
                </a:spcAft>
                <a:buClrTx/>
                <a:buSzTx/>
                <a:buFontTx/>
                <a:buNone/>
              </a:pPr>
              <a:r>
                <a:rPr lang="en-US" altLang="en-US" sz="500" b="0"/>
                <a:t>Volume = 1,496</a:t>
              </a:r>
            </a:p>
            <a:p>
              <a:pPr>
                <a:lnSpc>
                  <a:spcPct val="125000"/>
                </a:lnSpc>
                <a:spcBef>
                  <a:spcPct val="0"/>
                </a:spcBef>
                <a:spcAft>
                  <a:spcPct val="0"/>
                </a:spcAft>
                <a:buClrTx/>
                <a:buSzTx/>
                <a:buFontTx/>
                <a:buNone/>
              </a:pPr>
              <a:r>
                <a:rPr lang="en-US" altLang="en-US" sz="500" b="0"/>
                <a:t>Processing Time = 72”</a:t>
              </a:r>
            </a:p>
            <a:p>
              <a:pPr>
                <a:lnSpc>
                  <a:spcPct val="125000"/>
                </a:lnSpc>
                <a:spcBef>
                  <a:spcPct val="0"/>
                </a:spcBef>
                <a:spcAft>
                  <a:spcPct val="0"/>
                </a:spcAft>
                <a:buClrTx/>
                <a:buSzTx/>
                <a:buFontTx/>
                <a:buNone/>
              </a:pPr>
              <a:r>
                <a:rPr lang="en-US" altLang="en-US" sz="500" b="0"/>
                <a:t>DOI = 18”</a:t>
              </a:r>
            </a:p>
            <a:p>
              <a:pPr>
                <a:lnSpc>
                  <a:spcPct val="125000"/>
                </a:lnSpc>
                <a:spcBef>
                  <a:spcPct val="0"/>
                </a:spcBef>
                <a:spcAft>
                  <a:spcPct val="0"/>
                </a:spcAft>
                <a:buClrTx/>
                <a:buSzTx/>
                <a:buFontTx/>
                <a:buNone/>
              </a:pPr>
              <a:r>
                <a:rPr lang="en-US" altLang="en-US" sz="500" b="0"/>
                <a:t>Quality = 65%</a:t>
              </a:r>
            </a:p>
            <a:p>
              <a:pPr>
                <a:lnSpc>
                  <a:spcPct val="125000"/>
                </a:lnSpc>
                <a:spcBef>
                  <a:spcPct val="0"/>
                </a:spcBef>
                <a:spcAft>
                  <a:spcPct val="0"/>
                </a:spcAft>
                <a:buClrTx/>
                <a:buSzTx/>
                <a:buFontTx/>
                <a:buNone/>
              </a:pPr>
              <a:r>
                <a:rPr lang="en-US" altLang="en-US" sz="500" b="0"/>
                <a:t># Rework = 0</a:t>
              </a:r>
            </a:p>
          </p:txBody>
        </p:sp>
        <p:sp>
          <p:nvSpPr>
            <p:cNvPr id="235" name="Rectangle 828">
              <a:extLst>
                <a:ext uri="{FF2B5EF4-FFF2-40B4-BE49-F238E27FC236}">
                  <a16:creationId xmlns:a16="http://schemas.microsoft.com/office/drawing/2014/main" id="{15C519EC-6B54-7928-5484-A13C2E274435}"/>
                </a:ext>
              </a:extLst>
            </p:cNvPr>
            <p:cNvSpPr>
              <a:spLocks noChangeArrowheads="1"/>
            </p:cNvSpPr>
            <p:nvPr/>
          </p:nvSpPr>
          <p:spPr bwMode="auto">
            <a:xfrm>
              <a:off x="9354991" y="4646022"/>
              <a:ext cx="728662" cy="56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25000"/>
                </a:lnSpc>
                <a:spcBef>
                  <a:spcPct val="0"/>
                </a:spcBef>
                <a:spcAft>
                  <a:spcPct val="0"/>
                </a:spcAft>
                <a:buClrTx/>
                <a:buSzTx/>
                <a:buFontTx/>
                <a:buNone/>
              </a:pPr>
              <a:r>
                <a:rPr lang="en-US" altLang="en-US" sz="500" b="0"/>
                <a:t>Volume = 1,197</a:t>
              </a:r>
            </a:p>
            <a:p>
              <a:pPr>
                <a:lnSpc>
                  <a:spcPct val="125000"/>
                </a:lnSpc>
                <a:spcBef>
                  <a:spcPct val="0"/>
                </a:spcBef>
                <a:spcAft>
                  <a:spcPct val="0"/>
                </a:spcAft>
                <a:buClrTx/>
                <a:buSzTx/>
                <a:buFontTx/>
                <a:buNone/>
              </a:pPr>
              <a:r>
                <a:rPr lang="en-US" altLang="en-US" sz="500" b="0"/>
                <a:t>Processing Time = 20”</a:t>
              </a:r>
            </a:p>
            <a:p>
              <a:pPr>
                <a:lnSpc>
                  <a:spcPct val="125000"/>
                </a:lnSpc>
                <a:spcBef>
                  <a:spcPct val="0"/>
                </a:spcBef>
                <a:spcAft>
                  <a:spcPct val="0"/>
                </a:spcAft>
                <a:buClrTx/>
                <a:buSzTx/>
                <a:buFontTx/>
                <a:buNone/>
              </a:pPr>
              <a:r>
                <a:rPr lang="en-US" altLang="en-US" sz="500" b="0"/>
                <a:t>DOI = 12”</a:t>
              </a:r>
            </a:p>
            <a:p>
              <a:pPr>
                <a:lnSpc>
                  <a:spcPct val="125000"/>
                </a:lnSpc>
                <a:spcBef>
                  <a:spcPct val="0"/>
                </a:spcBef>
                <a:spcAft>
                  <a:spcPct val="0"/>
                </a:spcAft>
                <a:buClrTx/>
                <a:buSzTx/>
                <a:buFontTx/>
                <a:buNone/>
              </a:pPr>
              <a:r>
                <a:rPr lang="en-US" altLang="en-US" sz="500" b="0"/>
                <a:t>Quality = 100%</a:t>
              </a:r>
            </a:p>
            <a:p>
              <a:pPr>
                <a:lnSpc>
                  <a:spcPct val="125000"/>
                </a:lnSpc>
                <a:spcBef>
                  <a:spcPct val="0"/>
                </a:spcBef>
                <a:spcAft>
                  <a:spcPct val="0"/>
                </a:spcAft>
                <a:buClrTx/>
                <a:buSzTx/>
                <a:buFontTx/>
                <a:buNone/>
              </a:pPr>
              <a:r>
                <a:rPr lang="en-US" altLang="en-US" sz="500" b="0"/>
                <a:t># Rework = 0</a:t>
              </a:r>
            </a:p>
          </p:txBody>
        </p:sp>
        <p:sp>
          <p:nvSpPr>
            <p:cNvPr id="236" name="Rectangle 829">
              <a:extLst>
                <a:ext uri="{FF2B5EF4-FFF2-40B4-BE49-F238E27FC236}">
                  <a16:creationId xmlns:a16="http://schemas.microsoft.com/office/drawing/2014/main" id="{86502C8D-7737-0662-FBA6-33D535B3AE67}"/>
                </a:ext>
              </a:extLst>
            </p:cNvPr>
            <p:cNvSpPr>
              <a:spLocks noChangeArrowheads="1"/>
            </p:cNvSpPr>
            <p:nvPr/>
          </p:nvSpPr>
          <p:spPr bwMode="auto">
            <a:xfrm>
              <a:off x="6954691" y="5211172"/>
              <a:ext cx="728662" cy="56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25000"/>
                </a:lnSpc>
                <a:spcBef>
                  <a:spcPct val="0"/>
                </a:spcBef>
                <a:spcAft>
                  <a:spcPct val="0"/>
                </a:spcAft>
                <a:buClrTx/>
                <a:buSzTx/>
                <a:buFontTx/>
                <a:buNone/>
              </a:pPr>
              <a:r>
                <a:rPr lang="en-US" altLang="en-US" sz="500" b="0"/>
                <a:t>Volume = 524</a:t>
              </a:r>
            </a:p>
            <a:p>
              <a:pPr>
                <a:lnSpc>
                  <a:spcPct val="125000"/>
                </a:lnSpc>
                <a:spcBef>
                  <a:spcPct val="0"/>
                </a:spcBef>
                <a:spcAft>
                  <a:spcPct val="0"/>
                </a:spcAft>
                <a:buClrTx/>
                <a:buSzTx/>
                <a:buFontTx/>
                <a:buNone/>
              </a:pPr>
              <a:r>
                <a:rPr lang="en-US" altLang="en-US" sz="500" b="0"/>
                <a:t>Processing Time = 72”</a:t>
              </a:r>
            </a:p>
            <a:p>
              <a:pPr>
                <a:lnSpc>
                  <a:spcPct val="125000"/>
                </a:lnSpc>
                <a:spcBef>
                  <a:spcPct val="0"/>
                </a:spcBef>
                <a:spcAft>
                  <a:spcPct val="0"/>
                </a:spcAft>
                <a:buClrTx/>
                <a:buSzTx/>
                <a:buFontTx/>
                <a:buNone/>
              </a:pPr>
              <a:r>
                <a:rPr lang="en-US" altLang="en-US" sz="500" b="0"/>
                <a:t>DOI = 36”</a:t>
              </a:r>
            </a:p>
            <a:p>
              <a:pPr>
                <a:lnSpc>
                  <a:spcPct val="125000"/>
                </a:lnSpc>
                <a:spcBef>
                  <a:spcPct val="0"/>
                </a:spcBef>
                <a:spcAft>
                  <a:spcPct val="0"/>
                </a:spcAft>
                <a:buClrTx/>
                <a:buSzTx/>
                <a:buFontTx/>
                <a:buNone/>
              </a:pPr>
              <a:r>
                <a:rPr lang="en-US" altLang="en-US" sz="500" b="0"/>
                <a:t>Quality = 43%</a:t>
              </a:r>
            </a:p>
            <a:p>
              <a:pPr>
                <a:lnSpc>
                  <a:spcPct val="125000"/>
                </a:lnSpc>
                <a:spcBef>
                  <a:spcPct val="0"/>
                </a:spcBef>
                <a:spcAft>
                  <a:spcPct val="0"/>
                </a:spcAft>
                <a:buClrTx/>
                <a:buSzTx/>
                <a:buFontTx/>
                <a:buNone/>
              </a:pPr>
              <a:r>
                <a:rPr lang="en-US" altLang="en-US" sz="500" b="0"/>
                <a:t># Rework = 0</a:t>
              </a:r>
            </a:p>
          </p:txBody>
        </p:sp>
        <p:sp>
          <p:nvSpPr>
            <p:cNvPr id="237" name="Text Box 830">
              <a:extLst>
                <a:ext uri="{FF2B5EF4-FFF2-40B4-BE49-F238E27FC236}">
                  <a16:creationId xmlns:a16="http://schemas.microsoft.com/office/drawing/2014/main" id="{B67C069B-3431-5A98-45C4-EBD2E97DCFB6}"/>
                </a:ext>
              </a:extLst>
            </p:cNvPr>
            <p:cNvSpPr txBox="1">
              <a:spLocks noChangeArrowheads="1"/>
            </p:cNvSpPr>
            <p:nvPr/>
          </p:nvSpPr>
          <p:spPr bwMode="auto">
            <a:xfrm>
              <a:off x="2920853" y="4250734"/>
              <a:ext cx="736600" cy="165100"/>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Aft>
                  <a:spcPct val="0"/>
                </a:spcAft>
                <a:buClrTx/>
                <a:buSzTx/>
                <a:buFontTx/>
                <a:buNone/>
              </a:pPr>
              <a:r>
                <a:rPr lang="en-US" altLang="en-US" sz="600" b="0"/>
                <a:t>Takt Time = 18”</a:t>
              </a:r>
            </a:p>
          </p:txBody>
        </p:sp>
        <p:sp>
          <p:nvSpPr>
            <p:cNvPr id="238" name="Text Box 831">
              <a:extLst>
                <a:ext uri="{FF2B5EF4-FFF2-40B4-BE49-F238E27FC236}">
                  <a16:creationId xmlns:a16="http://schemas.microsoft.com/office/drawing/2014/main" id="{05244F4B-84EC-F0F8-AA1F-6C232FF79715}"/>
                </a:ext>
              </a:extLst>
            </p:cNvPr>
            <p:cNvSpPr txBox="1">
              <a:spLocks noChangeArrowheads="1"/>
            </p:cNvSpPr>
            <p:nvPr/>
          </p:nvSpPr>
          <p:spPr bwMode="auto">
            <a:xfrm>
              <a:off x="3924153" y="4250734"/>
              <a:ext cx="736600" cy="165100"/>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Aft>
                  <a:spcPct val="0"/>
                </a:spcAft>
                <a:buClrTx/>
                <a:buSzTx/>
                <a:buFontTx/>
                <a:buNone/>
              </a:pPr>
              <a:r>
                <a:rPr lang="en-US" altLang="en-US" sz="600" b="0"/>
                <a:t>Takt Time = 22”</a:t>
              </a:r>
            </a:p>
          </p:txBody>
        </p:sp>
        <p:sp>
          <p:nvSpPr>
            <p:cNvPr id="239" name="Text Box 832">
              <a:extLst>
                <a:ext uri="{FF2B5EF4-FFF2-40B4-BE49-F238E27FC236}">
                  <a16:creationId xmlns:a16="http://schemas.microsoft.com/office/drawing/2014/main" id="{B9D6EDC5-6C8E-BD64-6C15-1714B56F88DA}"/>
                </a:ext>
              </a:extLst>
            </p:cNvPr>
            <p:cNvSpPr txBox="1">
              <a:spLocks noChangeArrowheads="1"/>
            </p:cNvSpPr>
            <p:nvPr/>
          </p:nvSpPr>
          <p:spPr bwMode="auto">
            <a:xfrm>
              <a:off x="4946503" y="4250734"/>
              <a:ext cx="736600" cy="165100"/>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Aft>
                  <a:spcPct val="0"/>
                </a:spcAft>
                <a:buClrTx/>
                <a:buSzTx/>
                <a:buFontTx/>
                <a:buNone/>
              </a:pPr>
              <a:r>
                <a:rPr lang="en-US" altLang="en-US" sz="600" b="0"/>
                <a:t>Takt Time = 16”</a:t>
              </a:r>
            </a:p>
          </p:txBody>
        </p:sp>
        <p:sp>
          <p:nvSpPr>
            <p:cNvPr id="240" name="Text Box 833">
              <a:extLst>
                <a:ext uri="{FF2B5EF4-FFF2-40B4-BE49-F238E27FC236}">
                  <a16:creationId xmlns:a16="http://schemas.microsoft.com/office/drawing/2014/main" id="{CE1D01F2-A75C-F9AA-816A-44C2C2225701}"/>
                </a:ext>
              </a:extLst>
            </p:cNvPr>
            <p:cNvSpPr txBox="1">
              <a:spLocks noChangeArrowheads="1"/>
            </p:cNvSpPr>
            <p:nvPr/>
          </p:nvSpPr>
          <p:spPr bwMode="auto">
            <a:xfrm>
              <a:off x="9321653" y="4250734"/>
              <a:ext cx="736600" cy="165100"/>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Aft>
                  <a:spcPct val="0"/>
                </a:spcAft>
                <a:buClrTx/>
                <a:buSzTx/>
                <a:buFontTx/>
                <a:buNone/>
              </a:pPr>
              <a:r>
                <a:rPr lang="en-US" altLang="en-US" sz="600" b="0"/>
                <a:t>Takt Time = 23”</a:t>
              </a:r>
            </a:p>
          </p:txBody>
        </p:sp>
        <p:sp>
          <p:nvSpPr>
            <p:cNvPr id="241" name="Text Box 834">
              <a:extLst>
                <a:ext uri="{FF2B5EF4-FFF2-40B4-BE49-F238E27FC236}">
                  <a16:creationId xmlns:a16="http://schemas.microsoft.com/office/drawing/2014/main" id="{13D8157F-972F-D274-BBD0-3C4AF3A285E7}"/>
                </a:ext>
              </a:extLst>
            </p:cNvPr>
            <p:cNvSpPr txBox="1">
              <a:spLocks noChangeArrowheads="1"/>
            </p:cNvSpPr>
            <p:nvPr/>
          </p:nvSpPr>
          <p:spPr bwMode="auto">
            <a:xfrm>
              <a:off x="1962003" y="4244384"/>
              <a:ext cx="736600" cy="165100"/>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Aft>
                  <a:spcPct val="0"/>
                </a:spcAft>
                <a:buClrTx/>
                <a:buSzTx/>
                <a:buFontTx/>
                <a:buNone/>
              </a:pPr>
              <a:r>
                <a:rPr lang="en-US" altLang="en-US" sz="600" b="0"/>
                <a:t>Takt Time = 18”</a:t>
              </a:r>
            </a:p>
          </p:txBody>
        </p:sp>
        <p:sp>
          <p:nvSpPr>
            <p:cNvPr id="242" name="Text Box 835">
              <a:extLst>
                <a:ext uri="{FF2B5EF4-FFF2-40B4-BE49-F238E27FC236}">
                  <a16:creationId xmlns:a16="http://schemas.microsoft.com/office/drawing/2014/main" id="{CDEF2609-3B93-5F06-3E6B-4865AA8680CF}"/>
                </a:ext>
              </a:extLst>
            </p:cNvPr>
            <p:cNvSpPr txBox="1">
              <a:spLocks noChangeArrowheads="1"/>
            </p:cNvSpPr>
            <p:nvPr/>
          </p:nvSpPr>
          <p:spPr bwMode="auto">
            <a:xfrm>
              <a:off x="6934053" y="4809534"/>
              <a:ext cx="736600" cy="165100"/>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Aft>
                  <a:spcPct val="0"/>
                </a:spcAft>
                <a:buClrTx/>
                <a:buSzTx/>
                <a:buFontTx/>
                <a:buNone/>
              </a:pPr>
              <a:r>
                <a:rPr lang="en-US" altLang="en-US" sz="600" b="0"/>
                <a:t>Takt Time = 52”</a:t>
              </a:r>
            </a:p>
          </p:txBody>
        </p:sp>
        <p:sp>
          <p:nvSpPr>
            <p:cNvPr id="243" name="Text Box 836">
              <a:extLst>
                <a:ext uri="{FF2B5EF4-FFF2-40B4-BE49-F238E27FC236}">
                  <a16:creationId xmlns:a16="http://schemas.microsoft.com/office/drawing/2014/main" id="{4F29846C-949C-AF47-6C2F-EE32BBB84A43}"/>
                </a:ext>
              </a:extLst>
            </p:cNvPr>
            <p:cNvSpPr txBox="1">
              <a:spLocks noChangeArrowheads="1"/>
            </p:cNvSpPr>
            <p:nvPr/>
          </p:nvSpPr>
          <p:spPr bwMode="auto">
            <a:xfrm>
              <a:off x="5930753" y="4250734"/>
              <a:ext cx="736600" cy="165100"/>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Aft>
                  <a:spcPct val="0"/>
                </a:spcAft>
                <a:buClrTx/>
                <a:buSzTx/>
                <a:buFontTx/>
                <a:buNone/>
              </a:pPr>
              <a:r>
                <a:rPr lang="en-US" altLang="en-US" sz="600" b="0"/>
                <a:t>Takt Time = 18”</a:t>
              </a:r>
            </a:p>
          </p:txBody>
        </p:sp>
        <p:sp>
          <p:nvSpPr>
            <p:cNvPr id="244" name="Rectangle 225">
              <a:extLst>
                <a:ext uri="{FF2B5EF4-FFF2-40B4-BE49-F238E27FC236}">
                  <a16:creationId xmlns:a16="http://schemas.microsoft.com/office/drawing/2014/main" id="{504F92E8-1F1E-67B4-FBE7-E32D1B7E8CF0}"/>
                </a:ext>
              </a:extLst>
            </p:cNvPr>
            <p:cNvSpPr>
              <a:spLocks noChangeArrowheads="1"/>
            </p:cNvSpPr>
            <p:nvPr/>
          </p:nvSpPr>
          <p:spPr bwMode="auto">
            <a:xfrm>
              <a:off x="1920728" y="4093572"/>
              <a:ext cx="2752725" cy="1209675"/>
            </a:xfrm>
            <a:prstGeom prst="rect">
              <a:avLst/>
            </a:prstGeom>
            <a:noFill/>
            <a:ln w="28575">
              <a:solidFill>
                <a:srgbClr val="FF0000"/>
              </a:solidFill>
              <a:prstDash val="dash"/>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245" name="Group 226">
              <a:extLst>
                <a:ext uri="{FF2B5EF4-FFF2-40B4-BE49-F238E27FC236}">
                  <a16:creationId xmlns:a16="http://schemas.microsoft.com/office/drawing/2014/main" id="{153FFB15-85EB-1F51-EABE-BC44D7CE9210}"/>
                </a:ext>
              </a:extLst>
            </p:cNvPr>
            <p:cNvGrpSpPr>
              <a:grpSpLocks/>
            </p:cNvGrpSpPr>
            <p:nvPr/>
          </p:nvGrpSpPr>
          <p:grpSpPr bwMode="auto">
            <a:xfrm>
              <a:off x="2679553" y="4280897"/>
              <a:ext cx="273050" cy="288925"/>
              <a:chOff x="4896" y="3312"/>
              <a:chExt cx="240" cy="240"/>
            </a:xfrm>
          </p:grpSpPr>
          <p:sp>
            <p:nvSpPr>
              <p:cNvPr id="246" name="Oval 227">
                <a:extLst>
                  <a:ext uri="{FF2B5EF4-FFF2-40B4-BE49-F238E27FC236}">
                    <a16:creationId xmlns:a16="http://schemas.microsoft.com/office/drawing/2014/main" id="{71820BD4-4CD0-0C22-0ECC-D002EEAE360A}"/>
                  </a:ext>
                </a:extLst>
              </p:cNvPr>
              <p:cNvSpPr>
                <a:spLocks noChangeArrowheads="1"/>
              </p:cNvSpPr>
              <p:nvPr/>
            </p:nvSpPr>
            <p:spPr bwMode="auto">
              <a:xfrm>
                <a:off x="4896" y="3312"/>
                <a:ext cx="240" cy="240"/>
              </a:xfrm>
              <a:prstGeom prst="ellipse">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47" name="Line 228">
                <a:extLst>
                  <a:ext uri="{FF2B5EF4-FFF2-40B4-BE49-F238E27FC236}">
                    <a16:creationId xmlns:a16="http://schemas.microsoft.com/office/drawing/2014/main" id="{0A8F4DB1-9E49-71F1-1A58-33EEC551F990}"/>
                  </a:ext>
                </a:extLst>
              </p:cNvPr>
              <p:cNvSpPr>
                <a:spLocks noChangeShapeType="1"/>
              </p:cNvSpPr>
              <p:nvPr/>
            </p:nvSpPr>
            <p:spPr bwMode="auto">
              <a:xfrm flipH="1">
                <a:off x="4950" y="3330"/>
                <a:ext cx="144" cy="192"/>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48" name="Group 229">
              <a:extLst>
                <a:ext uri="{FF2B5EF4-FFF2-40B4-BE49-F238E27FC236}">
                  <a16:creationId xmlns:a16="http://schemas.microsoft.com/office/drawing/2014/main" id="{6F6176D4-14D5-E9FF-D58D-28D45108B9E2}"/>
                </a:ext>
              </a:extLst>
            </p:cNvPr>
            <p:cNvGrpSpPr>
              <a:grpSpLocks/>
            </p:cNvGrpSpPr>
            <p:nvPr/>
          </p:nvGrpSpPr>
          <p:grpSpPr bwMode="auto">
            <a:xfrm>
              <a:off x="3663803" y="4280897"/>
              <a:ext cx="273050" cy="288925"/>
              <a:chOff x="4896" y="3312"/>
              <a:chExt cx="240" cy="240"/>
            </a:xfrm>
          </p:grpSpPr>
          <p:sp>
            <p:nvSpPr>
              <p:cNvPr id="249" name="Oval 230">
                <a:extLst>
                  <a:ext uri="{FF2B5EF4-FFF2-40B4-BE49-F238E27FC236}">
                    <a16:creationId xmlns:a16="http://schemas.microsoft.com/office/drawing/2014/main" id="{EC45E634-C7E2-EDE1-CDB9-46F6C6AD1F14}"/>
                  </a:ext>
                </a:extLst>
              </p:cNvPr>
              <p:cNvSpPr>
                <a:spLocks noChangeArrowheads="1"/>
              </p:cNvSpPr>
              <p:nvPr/>
            </p:nvSpPr>
            <p:spPr bwMode="auto">
              <a:xfrm>
                <a:off x="4896" y="3312"/>
                <a:ext cx="240" cy="240"/>
              </a:xfrm>
              <a:prstGeom prst="ellipse">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50" name="Line 231">
                <a:extLst>
                  <a:ext uri="{FF2B5EF4-FFF2-40B4-BE49-F238E27FC236}">
                    <a16:creationId xmlns:a16="http://schemas.microsoft.com/office/drawing/2014/main" id="{5EB02305-7461-5C6A-4D12-FE844FC7B027}"/>
                  </a:ext>
                </a:extLst>
              </p:cNvPr>
              <p:cNvSpPr>
                <a:spLocks noChangeShapeType="1"/>
              </p:cNvSpPr>
              <p:nvPr/>
            </p:nvSpPr>
            <p:spPr bwMode="auto">
              <a:xfrm flipH="1">
                <a:off x="4950" y="3330"/>
                <a:ext cx="144" cy="192"/>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51" name="Group 862">
              <a:extLst>
                <a:ext uri="{FF2B5EF4-FFF2-40B4-BE49-F238E27FC236}">
                  <a16:creationId xmlns:a16="http://schemas.microsoft.com/office/drawing/2014/main" id="{2C0EA009-2ECB-BABA-64FB-0B598443ACAC}"/>
                </a:ext>
              </a:extLst>
            </p:cNvPr>
            <p:cNvGrpSpPr>
              <a:grpSpLocks/>
            </p:cNvGrpSpPr>
            <p:nvPr/>
          </p:nvGrpSpPr>
          <p:grpSpPr bwMode="auto">
            <a:xfrm>
              <a:off x="6972153" y="5117509"/>
              <a:ext cx="738188" cy="723900"/>
              <a:chOff x="4072" y="3094"/>
              <a:chExt cx="465" cy="456"/>
            </a:xfrm>
          </p:grpSpPr>
          <p:sp>
            <p:nvSpPr>
              <p:cNvPr id="252" name="Oval 233">
                <a:extLst>
                  <a:ext uri="{FF2B5EF4-FFF2-40B4-BE49-F238E27FC236}">
                    <a16:creationId xmlns:a16="http://schemas.microsoft.com/office/drawing/2014/main" id="{40844149-AEED-EFEB-21DA-F7BFC92588FE}"/>
                  </a:ext>
                </a:extLst>
              </p:cNvPr>
              <p:cNvSpPr>
                <a:spLocks noChangeArrowheads="1"/>
              </p:cNvSpPr>
              <p:nvPr/>
            </p:nvSpPr>
            <p:spPr bwMode="auto">
              <a:xfrm>
                <a:off x="4072" y="3094"/>
                <a:ext cx="465" cy="456"/>
              </a:xfrm>
              <a:prstGeom prst="ellipse">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53" name="Line 234">
                <a:extLst>
                  <a:ext uri="{FF2B5EF4-FFF2-40B4-BE49-F238E27FC236}">
                    <a16:creationId xmlns:a16="http://schemas.microsoft.com/office/drawing/2014/main" id="{62AEA1F1-29DE-7E40-CBD2-CE8A02EC56BA}"/>
                  </a:ext>
                </a:extLst>
              </p:cNvPr>
              <p:cNvSpPr>
                <a:spLocks noChangeShapeType="1"/>
              </p:cNvSpPr>
              <p:nvPr/>
            </p:nvSpPr>
            <p:spPr bwMode="auto">
              <a:xfrm flipH="1">
                <a:off x="4165" y="3136"/>
                <a:ext cx="279" cy="365"/>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54" name="AutoShape 241">
              <a:extLst>
                <a:ext uri="{FF2B5EF4-FFF2-40B4-BE49-F238E27FC236}">
                  <a16:creationId xmlns:a16="http://schemas.microsoft.com/office/drawing/2014/main" id="{D145F0ED-6BF6-7A11-070A-E3D9018E66A7}"/>
                </a:ext>
              </a:extLst>
            </p:cNvPr>
            <p:cNvSpPr>
              <a:spLocks noChangeArrowheads="1"/>
            </p:cNvSpPr>
            <p:nvPr/>
          </p:nvSpPr>
          <p:spPr bwMode="auto">
            <a:xfrm>
              <a:off x="3841603" y="4893672"/>
              <a:ext cx="650875" cy="307975"/>
            </a:xfrm>
            <a:prstGeom prst="irregularSeal1">
              <a:avLst/>
            </a:prstGeom>
            <a:noFill/>
            <a:ln w="28575">
              <a:solidFill>
                <a:srgbClr val="FF0000"/>
              </a:solidFill>
              <a:miter lim="800000"/>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55" name="AutoShape 242">
              <a:extLst>
                <a:ext uri="{FF2B5EF4-FFF2-40B4-BE49-F238E27FC236}">
                  <a16:creationId xmlns:a16="http://schemas.microsoft.com/office/drawing/2014/main" id="{B0055D23-907D-9AE5-052D-7E97BB4317C8}"/>
                </a:ext>
              </a:extLst>
            </p:cNvPr>
            <p:cNvSpPr>
              <a:spLocks noChangeArrowheads="1"/>
            </p:cNvSpPr>
            <p:nvPr/>
          </p:nvSpPr>
          <p:spPr bwMode="auto">
            <a:xfrm>
              <a:off x="5870428" y="4804772"/>
              <a:ext cx="746125" cy="533400"/>
            </a:xfrm>
            <a:prstGeom prst="irregularSeal1">
              <a:avLst/>
            </a:prstGeom>
            <a:noFill/>
            <a:ln w="28575">
              <a:solidFill>
                <a:srgbClr val="FF0000"/>
              </a:solidFill>
              <a:miter lim="800000"/>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56" name="AutoShape 243">
              <a:extLst>
                <a:ext uri="{FF2B5EF4-FFF2-40B4-BE49-F238E27FC236}">
                  <a16:creationId xmlns:a16="http://schemas.microsoft.com/office/drawing/2014/main" id="{2D200260-2B7B-A2C2-5750-1498A5620D5A}"/>
                </a:ext>
              </a:extLst>
            </p:cNvPr>
            <p:cNvSpPr>
              <a:spLocks noChangeArrowheads="1"/>
            </p:cNvSpPr>
            <p:nvPr/>
          </p:nvSpPr>
          <p:spPr bwMode="auto">
            <a:xfrm>
              <a:off x="4765528" y="4665072"/>
              <a:ext cx="746125" cy="533400"/>
            </a:xfrm>
            <a:prstGeom prst="irregularSeal1">
              <a:avLst/>
            </a:prstGeom>
            <a:noFill/>
            <a:ln w="28575">
              <a:solidFill>
                <a:srgbClr val="FF0000"/>
              </a:solidFill>
              <a:miter lim="800000"/>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57" name="AutoShape 244">
              <a:extLst>
                <a:ext uri="{FF2B5EF4-FFF2-40B4-BE49-F238E27FC236}">
                  <a16:creationId xmlns:a16="http://schemas.microsoft.com/office/drawing/2014/main" id="{AE6A5A85-6C52-097B-C906-43221D62C763}"/>
                </a:ext>
              </a:extLst>
            </p:cNvPr>
            <p:cNvSpPr>
              <a:spLocks noChangeArrowheads="1"/>
            </p:cNvSpPr>
            <p:nvPr/>
          </p:nvSpPr>
          <p:spPr bwMode="auto">
            <a:xfrm>
              <a:off x="2650978" y="3083922"/>
              <a:ext cx="746125" cy="533400"/>
            </a:xfrm>
            <a:prstGeom prst="irregularSeal1">
              <a:avLst/>
            </a:prstGeom>
            <a:noFill/>
            <a:ln w="28575">
              <a:solidFill>
                <a:srgbClr val="FF0000"/>
              </a:solidFill>
              <a:miter lim="800000"/>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258" name="Group 519">
              <a:extLst>
                <a:ext uri="{FF2B5EF4-FFF2-40B4-BE49-F238E27FC236}">
                  <a16:creationId xmlns:a16="http://schemas.microsoft.com/office/drawing/2014/main" id="{210C0790-129B-DCD1-61AA-3B5F5929AA8A}"/>
                </a:ext>
              </a:extLst>
            </p:cNvPr>
            <p:cNvGrpSpPr>
              <a:grpSpLocks/>
            </p:cNvGrpSpPr>
            <p:nvPr/>
          </p:nvGrpSpPr>
          <p:grpSpPr bwMode="auto">
            <a:xfrm>
              <a:off x="4635353" y="4260259"/>
              <a:ext cx="285750" cy="323850"/>
              <a:chOff x="2112" y="892"/>
              <a:chExt cx="240" cy="212"/>
            </a:xfrm>
          </p:grpSpPr>
          <p:sp>
            <p:nvSpPr>
              <p:cNvPr id="259" name="AutoShape 520">
                <a:extLst>
                  <a:ext uri="{FF2B5EF4-FFF2-40B4-BE49-F238E27FC236}">
                    <a16:creationId xmlns:a16="http://schemas.microsoft.com/office/drawing/2014/main" id="{FF714349-59D2-00B5-99FB-13E146A59FAF}"/>
                  </a:ext>
                </a:extLst>
              </p:cNvPr>
              <p:cNvSpPr>
                <a:spLocks/>
              </p:cNvSpPr>
              <p:nvPr/>
            </p:nvSpPr>
            <p:spPr bwMode="auto">
              <a:xfrm rot="-5400000">
                <a:off x="2223" y="781"/>
                <a:ext cx="18" cy="240"/>
              </a:xfrm>
              <a:prstGeom prst="leftBracket">
                <a:avLst>
                  <a:gd name="adj" fmla="val 111111"/>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60" name="AutoShape 521">
                <a:extLst>
                  <a:ext uri="{FF2B5EF4-FFF2-40B4-BE49-F238E27FC236}">
                    <a16:creationId xmlns:a16="http://schemas.microsoft.com/office/drawing/2014/main" id="{0070EFC3-E6D5-E5E6-F414-E2ED76A110D6}"/>
                  </a:ext>
                </a:extLst>
              </p:cNvPr>
              <p:cNvSpPr>
                <a:spLocks/>
              </p:cNvSpPr>
              <p:nvPr/>
            </p:nvSpPr>
            <p:spPr bwMode="auto">
              <a:xfrm rot="-5400000">
                <a:off x="2223" y="790"/>
                <a:ext cx="18" cy="240"/>
              </a:xfrm>
              <a:prstGeom prst="leftBracket">
                <a:avLst>
                  <a:gd name="adj" fmla="val 111111"/>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61" name="AutoShape 522">
                <a:extLst>
                  <a:ext uri="{FF2B5EF4-FFF2-40B4-BE49-F238E27FC236}">
                    <a16:creationId xmlns:a16="http://schemas.microsoft.com/office/drawing/2014/main" id="{8EEA564D-6676-72CE-3A16-0D8FB9F3E85A}"/>
                  </a:ext>
                </a:extLst>
              </p:cNvPr>
              <p:cNvSpPr>
                <a:spLocks/>
              </p:cNvSpPr>
              <p:nvPr/>
            </p:nvSpPr>
            <p:spPr bwMode="auto">
              <a:xfrm rot="-5400000">
                <a:off x="2223" y="799"/>
                <a:ext cx="18" cy="240"/>
              </a:xfrm>
              <a:prstGeom prst="leftBracket">
                <a:avLst>
                  <a:gd name="adj" fmla="val 111111"/>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62" name="AutoShape 523">
                <a:extLst>
                  <a:ext uri="{FF2B5EF4-FFF2-40B4-BE49-F238E27FC236}">
                    <a16:creationId xmlns:a16="http://schemas.microsoft.com/office/drawing/2014/main" id="{8120507B-8EC9-E2FC-B5A1-70515E762035}"/>
                  </a:ext>
                </a:extLst>
              </p:cNvPr>
              <p:cNvSpPr>
                <a:spLocks noChangeArrowheads="1"/>
              </p:cNvSpPr>
              <p:nvPr/>
            </p:nvSpPr>
            <p:spPr bwMode="auto">
              <a:xfrm>
                <a:off x="2112" y="939"/>
                <a:ext cx="240" cy="165"/>
              </a:xfrm>
              <a:prstGeom prst="flowChartMerge">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263" name="Group 524">
                <a:extLst>
                  <a:ext uri="{FF2B5EF4-FFF2-40B4-BE49-F238E27FC236}">
                    <a16:creationId xmlns:a16="http://schemas.microsoft.com/office/drawing/2014/main" id="{315D3519-B5CD-212A-C618-28AEE97A2F06}"/>
                  </a:ext>
                </a:extLst>
              </p:cNvPr>
              <p:cNvGrpSpPr>
                <a:grpSpLocks/>
              </p:cNvGrpSpPr>
              <p:nvPr/>
            </p:nvGrpSpPr>
            <p:grpSpPr bwMode="auto">
              <a:xfrm>
                <a:off x="2174" y="948"/>
                <a:ext cx="156" cy="64"/>
                <a:chOff x="1440" y="1520"/>
                <a:chExt cx="156" cy="64"/>
              </a:xfrm>
            </p:grpSpPr>
            <p:sp>
              <p:nvSpPr>
                <p:cNvPr id="264" name="Line 525">
                  <a:extLst>
                    <a:ext uri="{FF2B5EF4-FFF2-40B4-BE49-F238E27FC236}">
                      <a16:creationId xmlns:a16="http://schemas.microsoft.com/office/drawing/2014/main" id="{B7D9A0A8-24F4-049C-A0F7-7C008DB82BC5}"/>
                    </a:ext>
                  </a:extLst>
                </p:cNvPr>
                <p:cNvSpPr>
                  <a:spLocks noChangeShapeType="1"/>
                </p:cNvSpPr>
                <p:nvPr/>
              </p:nvSpPr>
              <p:spPr bwMode="auto">
                <a:xfrm flipV="1">
                  <a:off x="1440" y="1536"/>
                  <a:ext cx="78" cy="48"/>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5" name="Line 526">
                  <a:extLst>
                    <a:ext uri="{FF2B5EF4-FFF2-40B4-BE49-F238E27FC236}">
                      <a16:creationId xmlns:a16="http://schemas.microsoft.com/office/drawing/2014/main" id="{5E49BECC-0F89-89F8-64E1-2BDC34EA5B66}"/>
                    </a:ext>
                  </a:extLst>
                </p:cNvPr>
                <p:cNvSpPr>
                  <a:spLocks noChangeShapeType="1"/>
                </p:cNvSpPr>
                <p:nvPr/>
              </p:nvSpPr>
              <p:spPr bwMode="auto">
                <a:xfrm flipV="1">
                  <a:off x="1518" y="1520"/>
                  <a:ext cx="78" cy="48"/>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cxnSp>
              <p:nvCxnSpPr>
                <p:cNvPr id="266" name="AutoShape 527">
                  <a:extLst>
                    <a:ext uri="{FF2B5EF4-FFF2-40B4-BE49-F238E27FC236}">
                      <a16:creationId xmlns:a16="http://schemas.microsoft.com/office/drawing/2014/main" id="{E5163590-C7C3-47D4-C3D6-92F119294BAD}"/>
                    </a:ext>
                  </a:extLst>
                </p:cNvPr>
                <p:cNvCxnSpPr>
                  <a:cxnSpLocks noChangeShapeType="1"/>
                  <a:stCxn id="264" idx="1"/>
                  <a:endCxn id="265" idx="0"/>
                </p:cNvCxnSpPr>
                <p:nvPr/>
              </p:nvCxnSpPr>
              <p:spPr bwMode="auto">
                <a:xfrm>
                  <a:off x="1518" y="1536"/>
                  <a:ext cx="0" cy="32"/>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nvGrpSpPr>
            <p:cNvPr id="267" name="Group 528">
              <a:extLst>
                <a:ext uri="{FF2B5EF4-FFF2-40B4-BE49-F238E27FC236}">
                  <a16:creationId xmlns:a16="http://schemas.microsoft.com/office/drawing/2014/main" id="{BE4BE434-D450-82BB-AD09-AF5D7FB0E11B}"/>
                </a:ext>
              </a:extLst>
            </p:cNvPr>
            <p:cNvGrpSpPr>
              <a:grpSpLocks/>
            </p:cNvGrpSpPr>
            <p:nvPr/>
          </p:nvGrpSpPr>
          <p:grpSpPr bwMode="auto">
            <a:xfrm>
              <a:off x="8950178" y="4241209"/>
              <a:ext cx="285750" cy="323850"/>
              <a:chOff x="2112" y="892"/>
              <a:chExt cx="240" cy="212"/>
            </a:xfrm>
          </p:grpSpPr>
          <p:sp>
            <p:nvSpPr>
              <p:cNvPr id="268" name="AutoShape 529">
                <a:extLst>
                  <a:ext uri="{FF2B5EF4-FFF2-40B4-BE49-F238E27FC236}">
                    <a16:creationId xmlns:a16="http://schemas.microsoft.com/office/drawing/2014/main" id="{142FD3AB-E819-630E-61C0-B09468ED095B}"/>
                  </a:ext>
                </a:extLst>
              </p:cNvPr>
              <p:cNvSpPr>
                <a:spLocks/>
              </p:cNvSpPr>
              <p:nvPr/>
            </p:nvSpPr>
            <p:spPr bwMode="auto">
              <a:xfrm rot="-5400000">
                <a:off x="2223" y="781"/>
                <a:ext cx="18" cy="240"/>
              </a:xfrm>
              <a:prstGeom prst="leftBracket">
                <a:avLst>
                  <a:gd name="adj" fmla="val 111111"/>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69" name="AutoShape 530">
                <a:extLst>
                  <a:ext uri="{FF2B5EF4-FFF2-40B4-BE49-F238E27FC236}">
                    <a16:creationId xmlns:a16="http://schemas.microsoft.com/office/drawing/2014/main" id="{70423072-5BA3-C8CC-8FF8-19D9CCF30B01}"/>
                  </a:ext>
                </a:extLst>
              </p:cNvPr>
              <p:cNvSpPr>
                <a:spLocks/>
              </p:cNvSpPr>
              <p:nvPr/>
            </p:nvSpPr>
            <p:spPr bwMode="auto">
              <a:xfrm rot="-5400000">
                <a:off x="2223" y="790"/>
                <a:ext cx="18" cy="240"/>
              </a:xfrm>
              <a:prstGeom prst="leftBracket">
                <a:avLst>
                  <a:gd name="adj" fmla="val 111111"/>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70" name="AutoShape 531">
                <a:extLst>
                  <a:ext uri="{FF2B5EF4-FFF2-40B4-BE49-F238E27FC236}">
                    <a16:creationId xmlns:a16="http://schemas.microsoft.com/office/drawing/2014/main" id="{6F7EEA18-21EA-9DBA-EEBC-28854217AB4F}"/>
                  </a:ext>
                </a:extLst>
              </p:cNvPr>
              <p:cNvSpPr>
                <a:spLocks/>
              </p:cNvSpPr>
              <p:nvPr/>
            </p:nvSpPr>
            <p:spPr bwMode="auto">
              <a:xfrm rot="-5400000">
                <a:off x="2223" y="799"/>
                <a:ext cx="18" cy="240"/>
              </a:xfrm>
              <a:prstGeom prst="leftBracket">
                <a:avLst>
                  <a:gd name="adj" fmla="val 111111"/>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71" name="AutoShape 532">
                <a:extLst>
                  <a:ext uri="{FF2B5EF4-FFF2-40B4-BE49-F238E27FC236}">
                    <a16:creationId xmlns:a16="http://schemas.microsoft.com/office/drawing/2014/main" id="{F520D5D6-5B9F-58B7-AE2A-D8D6D4FA993C}"/>
                  </a:ext>
                </a:extLst>
              </p:cNvPr>
              <p:cNvSpPr>
                <a:spLocks noChangeArrowheads="1"/>
              </p:cNvSpPr>
              <p:nvPr/>
            </p:nvSpPr>
            <p:spPr bwMode="auto">
              <a:xfrm>
                <a:off x="2112" y="939"/>
                <a:ext cx="240" cy="165"/>
              </a:xfrm>
              <a:prstGeom prst="flowChartMerge">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272" name="Group 533">
                <a:extLst>
                  <a:ext uri="{FF2B5EF4-FFF2-40B4-BE49-F238E27FC236}">
                    <a16:creationId xmlns:a16="http://schemas.microsoft.com/office/drawing/2014/main" id="{8C02AA39-D18B-8D47-1FB1-61320AF5D957}"/>
                  </a:ext>
                </a:extLst>
              </p:cNvPr>
              <p:cNvGrpSpPr>
                <a:grpSpLocks/>
              </p:cNvGrpSpPr>
              <p:nvPr/>
            </p:nvGrpSpPr>
            <p:grpSpPr bwMode="auto">
              <a:xfrm>
                <a:off x="2174" y="948"/>
                <a:ext cx="156" cy="64"/>
                <a:chOff x="1440" y="1520"/>
                <a:chExt cx="156" cy="64"/>
              </a:xfrm>
            </p:grpSpPr>
            <p:sp>
              <p:nvSpPr>
                <p:cNvPr id="273" name="Line 534">
                  <a:extLst>
                    <a:ext uri="{FF2B5EF4-FFF2-40B4-BE49-F238E27FC236}">
                      <a16:creationId xmlns:a16="http://schemas.microsoft.com/office/drawing/2014/main" id="{4831B0DC-D207-4C1B-A127-8F20C6940117}"/>
                    </a:ext>
                  </a:extLst>
                </p:cNvPr>
                <p:cNvSpPr>
                  <a:spLocks noChangeShapeType="1"/>
                </p:cNvSpPr>
                <p:nvPr/>
              </p:nvSpPr>
              <p:spPr bwMode="auto">
                <a:xfrm flipV="1">
                  <a:off x="1440" y="1536"/>
                  <a:ext cx="78" cy="48"/>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4" name="Line 535">
                  <a:extLst>
                    <a:ext uri="{FF2B5EF4-FFF2-40B4-BE49-F238E27FC236}">
                      <a16:creationId xmlns:a16="http://schemas.microsoft.com/office/drawing/2014/main" id="{5F5476D9-A858-278D-D2BB-CBCB0DB02AAC}"/>
                    </a:ext>
                  </a:extLst>
                </p:cNvPr>
                <p:cNvSpPr>
                  <a:spLocks noChangeShapeType="1"/>
                </p:cNvSpPr>
                <p:nvPr/>
              </p:nvSpPr>
              <p:spPr bwMode="auto">
                <a:xfrm flipV="1">
                  <a:off x="1518" y="1520"/>
                  <a:ext cx="78" cy="48"/>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cxnSp>
              <p:nvCxnSpPr>
                <p:cNvPr id="275" name="AutoShape 536">
                  <a:extLst>
                    <a:ext uri="{FF2B5EF4-FFF2-40B4-BE49-F238E27FC236}">
                      <a16:creationId xmlns:a16="http://schemas.microsoft.com/office/drawing/2014/main" id="{1777554E-DFB4-C4D0-4ECE-E03D31B4DA66}"/>
                    </a:ext>
                  </a:extLst>
                </p:cNvPr>
                <p:cNvCxnSpPr>
                  <a:cxnSpLocks noChangeShapeType="1"/>
                  <a:stCxn id="273" idx="1"/>
                  <a:endCxn id="274" idx="0"/>
                </p:cNvCxnSpPr>
                <p:nvPr/>
              </p:nvCxnSpPr>
              <p:spPr bwMode="auto">
                <a:xfrm>
                  <a:off x="1518" y="1536"/>
                  <a:ext cx="0" cy="32"/>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nvGrpSpPr>
            <p:cNvPr id="276" name="Group 537">
              <a:extLst>
                <a:ext uri="{FF2B5EF4-FFF2-40B4-BE49-F238E27FC236}">
                  <a16:creationId xmlns:a16="http://schemas.microsoft.com/office/drawing/2014/main" id="{227BE7CB-A1BE-74BB-7346-7B811672834C}"/>
                </a:ext>
              </a:extLst>
            </p:cNvPr>
            <p:cNvGrpSpPr>
              <a:grpSpLocks/>
            </p:cNvGrpSpPr>
            <p:nvPr/>
          </p:nvGrpSpPr>
          <p:grpSpPr bwMode="auto">
            <a:xfrm>
              <a:off x="1657203" y="4260259"/>
              <a:ext cx="285750" cy="323850"/>
              <a:chOff x="2112" y="892"/>
              <a:chExt cx="240" cy="212"/>
            </a:xfrm>
          </p:grpSpPr>
          <p:sp>
            <p:nvSpPr>
              <p:cNvPr id="277" name="AutoShape 538">
                <a:extLst>
                  <a:ext uri="{FF2B5EF4-FFF2-40B4-BE49-F238E27FC236}">
                    <a16:creationId xmlns:a16="http://schemas.microsoft.com/office/drawing/2014/main" id="{DD3F2CFE-0427-C3B7-16F9-5C92EF79F12F}"/>
                  </a:ext>
                </a:extLst>
              </p:cNvPr>
              <p:cNvSpPr>
                <a:spLocks/>
              </p:cNvSpPr>
              <p:nvPr/>
            </p:nvSpPr>
            <p:spPr bwMode="auto">
              <a:xfrm rot="-5400000">
                <a:off x="2223" y="781"/>
                <a:ext cx="18" cy="240"/>
              </a:xfrm>
              <a:prstGeom prst="leftBracket">
                <a:avLst>
                  <a:gd name="adj" fmla="val 111111"/>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78" name="AutoShape 539">
                <a:extLst>
                  <a:ext uri="{FF2B5EF4-FFF2-40B4-BE49-F238E27FC236}">
                    <a16:creationId xmlns:a16="http://schemas.microsoft.com/office/drawing/2014/main" id="{ADBC0B87-9652-DAAE-09EF-35A47FFDD460}"/>
                  </a:ext>
                </a:extLst>
              </p:cNvPr>
              <p:cNvSpPr>
                <a:spLocks/>
              </p:cNvSpPr>
              <p:nvPr/>
            </p:nvSpPr>
            <p:spPr bwMode="auto">
              <a:xfrm rot="-5400000">
                <a:off x="2223" y="790"/>
                <a:ext cx="18" cy="240"/>
              </a:xfrm>
              <a:prstGeom prst="leftBracket">
                <a:avLst>
                  <a:gd name="adj" fmla="val 111111"/>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79" name="AutoShape 540">
                <a:extLst>
                  <a:ext uri="{FF2B5EF4-FFF2-40B4-BE49-F238E27FC236}">
                    <a16:creationId xmlns:a16="http://schemas.microsoft.com/office/drawing/2014/main" id="{30CB99A1-B70A-2C09-4A9D-51997C01CBE5}"/>
                  </a:ext>
                </a:extLst>
              </p:cNvPr>
              <p:cNvSpPr>
                <a:spLocks/>
              </p:cNvSpPr>
              <p:nvPr/>
            </p:nvSpPr>
            <p:spPr bwMode="auto">
              <a:xfrm rot="-5400000">
                <a:off x="2223" y="799"/>
                <a:ext cx="18" cy="240"/>
              </a:xfrm>
              <a:prstGeom prst="leftBracket">
                <a:avLst>
                  <a:gd name="adj" fmla="val 111111"/>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80" name="AutoShape 541">
                <a:extLst>
                  <a:ext uri="{FF2B5EF4-FFF2-40B4-BE49-F238E27FC236}">
                    <a16:creationId xmlns:a16="http://schemas.microsoft.com/office/drawing/2014/main" id="{D08225E7-2FA2-B36A-BC9B-7A346E77305A}"/>
                  </a:ext>
                </a:extLst>
              </p:cNvPr>
              <p:cNvSpPr>
                <a:spLocks noChangeArrowheads="1"/>
              </p:cNvSpPr>
              <p:nvPr/>
            </p:nvSpPr>
            <p:spPr bwMode="auto">
              <a:xfrm>
                <a:off x="2112" y="939"/>
                <a:ext cx="240" cy="165"/>
              </a:xfrm>
              <a:prstGeom prst="flowChartMerge">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281" name="Group 542">
                <a:extLst>
                  <a:ext uri="{FF2B5EF4-FFF2-40B4-BE49-F238E27FC236}">
                    <a16:creationId xmlns:a16="http://schemas.microsoft.com/office/drawing/2014/main" id="{3E4D310B-6297-DC00-D789-FF538003838F}"/>
                  </a:ext>
                </a:extLst>
              </p:cNvPr>
              <p:cNvGrpSpPr>
                <a:grpSpLocks/>
              </p:cNvGrpSpPr>
              <p:nvPr/>
            </p:nvGrpSpPr>
            <p:grpSpPr bwMode="auto">
              <a:xfrm>
                <a:off x="2174" y="948"/>
                <a:ext cx="156" cy="64"/>
                <a:chOff x="1440" y="1520"/>
                <a:chExt cx="156" cy="64"/>
              </a:xfrm>
            </p:grpSpPr>
            <p:sp>
              <p:nvSpPr>
                <p:cNvPr id="282" name="Line 543">
                  <a:extLst>
                    <a:ext uri="{FF2B5EF4-FFF2-40B4-BE49-F238E27FC236}">
                      <a16:creationId xmlns:a16="http://schemas.microsoft.com/office/drawing/2014/main" id="{37679B5D-A1FC-8F8B-3E2D-A773951A616E}"/>
                    </a:ext>
                  </a:extLst>
                </p:cNvPr>
                <p:cNvSpPr>
                  <a:spLocks noChangeShapeType="1"/>
                </p:cNvSpPr>
                <p:nvPr/>
              </p:nvSpPr>
              <p:spPr bwMode="auto">
                <a:xfrm flipV="1">
                  <a:off x="1440" y="1536"/>
                  <a:ext cx="78" cy="48"/>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3" name="Line 544">
                  <a:extLst>
                    <a:ext uri="{FF2B5EF4-FFF2-40B4-BE49-F238E27FC236}">
                      <a16:creationId xmlns:a16="http://schemas.microsoft.com/office/drawing/2014/main" id="{FDA07035-C454-8594-7180-743DE6530292}"/>
                    </a:ext>
                  </a:extLst>
                </p:cNvPr>
                <p:cNvSpPr>
                  <a:spLocks noChangeShapeType="1"/>
                </p:cNvSpPr>
                <p:nvPr/>
              </p:nvSpPr>
              <p:spPr bwMode="auto">
                <a:xfrm flipV="1">
                  <a:off x="1518" y="1520"/>
                  <a:ext cx="78" cy="48"/>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cxnSp>
              <p:nvCxnSpPr>
                <p:cNvPr id="284" name="AutoShape 545">
                  <a:extLst>
                    <a:ext uri="{FF2B5EF4-FFF2-40B4-BE49-F238E27FC236}">
                      <a16:creationId xmlns:a16="http://schemas.microsoft.com/office/drawing/2014/main" id="{442956AA-E065-BE78-EA96-A8B52DB9982E}"/>
                    </a:ext>
                  </a:extLst>
                </p:cNvPr>
                <p:cNvCxnSpPr>
                  <a:cxnSpLocks noChangeShapeType="1"/>
                  <a:stCxn id="282" idx="1"/>
                  <a:endCxn id="283" idx="0"/>
                </p:cNvCxnSpPr>
                <p:nvPr/>
              </p:nvCxnSpPr>
              <p:spPr bwMode="auto">
                <a:xfrm>
                  <a:off x="1518" y="1536"/>
                  <a:ext cx="0" cy="32"/>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nvGrpSpPr>
            <p:cNvPr id="285" name="Group 546">
              <a:extLst>
                <a:ext uri="{FF2B5EF4-FFF2-40B4-BE49-F238E27FC236}">
                  <a16:creationId xmlns:a16="http://schemas.microsoft.com/office/drawing/2014/main" id="{C51356A3-FB75-AAC8-CFFF-E7AEE2D8A877}"/>
                </a:ext>
              </a:extLst>
            </p:cNvPr>
            <p:cNvGrpSpPr>
              <a:grpSpLocks/>
            </p:cNvGrpSpPr>
            <p:nvPr/>
          </p:nvGrpSpPr>
          <p:grpSpPr bwMode="auto">
            <a:xfrm>
              <a:off x="5651353" y="4241209"/>
              <a:ext cx="285750" cy="323850"/>
              <a:chOff x="2112" y="892"/>
              <a:chExt cx="240" cy="212"/>
            </a:xfrm>
          </p:grpSpPr>
          <p:sp>
            <p:nvSpPr>
              <p:cNvPr id="286" name="AutoShape 547">
                <a:extLst>
                  <a:ext uri="{FF2B5EF4-FFF2-40B4-BE49-F238E27FC236}">
                    <a16:creationId xmlns:a16="http://schemas.microsoft.com/office/drawing/2014/main" id="{B37378F0-D7FC-F999-0544-A20A96C49548}"/>
                  </a:ext>
                </a:extLst>
              </p:cNvPr>
              <p:cNvSpPr>
                <a:spLocks/>
              </p:cNvSpPr>
              <p:nvPr/>
            </p:nvSpPr>
            <p:spPr bwMode="auto">
              <a:xfrm rot="-5400000">
                <a:off x="2223" y="781"/>
                <a:ext cx="18" cy="240"/>
              </a:xfrm>
              <a:prstGeom prst="leftBracket">
                <a:avLst>
                  <a:gd name="adj" fmla="val 111111"/>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87" name="AutoShape 548">
                <a:extLst>
                  <a:ext uri="{FF2B5EF4-FFF2-40B4-BE49-F238E27FC236}">
                    <a16:creationId xmlns:a16="http://schemas.microsoft.com/office/drawing/2014/main" id="{34338CAC-F5AE-C3FF-2D89-DEA8D4F47D16}"/>
                  </a:ext>
                </a:extLst>
              </p:cNvPr>
              <p:cNvSpPr>
                <a:spLocks/>
              </p:cNvSpPr>
              <p:nvPr/>
            </p:nvSpPr>
            <p:spPr bwMode="auto">
              <a:xfrm rot="-5400000">
                <a:off x="2223" y="790"/>
                <a:ext cx="18" cy="240"/>
              </a:xfrm>
              <a:prstGeom prst="leftBracket">
                <a:avLst>
                  <a:gd name="adj" fmla="val 111111"/>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88" name="AutoShape 549">
                <a:extLst>
                  <a:ext uri="{FF2B5EF4-FFF2-40B4-BE49-F238E27FC236}">
                    <a16:creationId xmlns:a16="http://schemas.microsoft.com/office/drawing/2014/main" id="{8B3416F3-CEDE-C872-24C6-F46C407377CA}"/>
                  </a:ext>
                </a:extLst>
              </p:cNvPr>
              <p:cNvSpPr>
                <a:spLocks/>
              </p:cNvSpPr>
              <p:nvPr/>
            </p:nvSpPr>
            <p:spPr bwMode="auto">
              <a:xfrm rot="-5400000">
                <a:off x="2223" y="799"/>
                <a:ext cx="18" cy="240"/>
              </a:xfrm>
              <a:prstGeom prst="leftBracket">
                <a:avLst>
                  <a:gd name="adj" fmla="val 111111"/>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89" name="AutoShape 550">
                <a:extLst>
                  <a:ext uri="{FF2B5EF4-FFF2-40B4-BE49-F238E27FC236}">
                    <a16:creationId xmlns:a16="http://schemas.microsoft.com/office/drawing/2014/main" id="{A0B68210-EEDB-A5A4-25C7-DA8DAEA64232}"/>
                  </a:ext>
                </a:extLst>
              </p:cNvPr>
              <p:cNvSpPr>
                <a:spLocks noChangeArrowheads="1"/>
              </p:cNvSpPr>
              <p:nvPr/>
            </p:nvSpPr>
            <p:spPr bwMode="auto">
              <a:xfrm>
                <a:off x="2112" y="939"/>
                <a:ext cx="240" cy="165"/>
              </a:xfrm>
              <a:prstGeom prst="flowChartMerge">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290" name="Group 551">
                <a:extLst>
                  <a:ext uri="{FF2B5EF4-FFF2-40B4-BE49-F238E27FC236}">
                    <a16:creationId xmlns:a16="http://schemas.microsoft.com/office/drawing/2014/main" id="{9D1E65EB-0873-29FE-871E-6E323DED01F3}"/>
                  </a:ext>
                </a:extLst>
              </p:cNvPr>
              <p:cNvGrpSpPr>
                <a:grpSpLocks/>
              </p:cNvGrpSpPr>
              <p:nvPr/>
            </p:nvGrpSpPr>
            <p:grpSpPr bwMode="auto">
              <a:xfrm>
                <a:off x="2174" y="948"/>
                <a:ext cx="156" cy="64"/>
                <a:chOff x="1440" y="1520"/>
                <a:chExt cx="156" cy="64"/>
              </a:xfrm>
            </p:grpSpPr>
            <p:sp>
              <p:nvSpPr>
                <p:cNvPr id="291" name="Line 552">
                  <a:extLst>
                    <a:ext uri="{FF2B5EF4-FFF2-40B4-BE49-F238E27FC236}">
                      <a16:creationId xmlns:a16="http://schemas.microsoft.com/office/drawing/2014/main" id="{55E0C385-4038-EB96-7D5E-2CF611BF573F}"/>
                    </a:ext>
                  </a:extLst>
                </p:cNvPr>
                <p:cNvSpPr>
                  <a:spLocks noChangeShapeType="1"/>
                </p:cNvSpPr>
                <p:nvPr/>
              </p:nvSpPr>
              <p:spPr bwMode="auto">
                <a:xfrm flipV="1">
                  <a:off x="1440" y="1536"/>
                  <a:ext cx="78" cy="48"/>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2" name="Line 553">
                  <a:extLst>
                    <a:ext uri="{FF2B5EF4-FFF2-40B4-BE49-F238E27FC236}">
                      <a16:creationId xmlns:a16="http://schemas.microsoft.com/office/drawing/2014/main" id="{94852FF3-245D-93E5-FB05-AC820963B1B4}"/>
                    </a:ext>
                  </a:extLst>
                </p:cNvPr>
                <p:cNvSpPr>
                  <a:spLocks noChangeShapeType="1"/>
                </p:cNvSpPr>
                <p:nvPr/>
              </p:nvSpPr>
              <p:spPr bwMode="auto">
                <a:xfrm flipV="1">
                  <a:off x="1518" y="1520"/>
                  <a:ext cx="78" cy="48"/>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cxnSp>
              <p:nvCxnSpPr>
                <p:cNvPr id="293" name="AutoShape 554">
                  <a:extLst>
                    <a:ext uri="{FF2B5EF4-FFF2-40B4-BE49-F238E27FC236}">
                      <a16:creationId xmlns:a16="http://schemas.microsoft.com/office/drawing/2014/main" id="{0E706652-0492-FC4F-CC5A-5202062A156F}"/>
                    </a:ext>
                  </a:extLst>
                </p:cNvPr>
                <p:cNvCxnSpPr>
                  <a:cxnSpLocks noChangeShapeType="1"/>
                  <a:stCxn id="291" idx="1"/>
                  <a:endCxn id="292" idx="0"/>
                </p:cNvCxnSpPr>
                <p:nvPr/>
              </p:nvCxnSpPr>
              <p:spPr bwMode="auto">
                <a:xfrm>
                  <a:off x="1518" y="1536"/>
                  <a:ext cx="0" cy="32"/>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sp>
          <p:nvSpPr>
            <p:cNvPr id="294" name="AutoShape 555">
              <a:extLst>
                <a:ext uri="{FF2B5EF4-FFF2-40B4-BE49-F238E27FC236}">
                  <a16:creationId xmlns:a16="http://schemas.microsoft.com/office/drawing/2014/main" id="{47094FCC-799F-0FF5-9BFC-0C388813B5BB}"/>
                </a:ext>
              </a:extLst>
            </p:cNvPr>
            <p:cNvSpPr>
              <a:spLocks noChangeArrowheads="1"/>
            </p:cNvSpPr>
            <p:nvPr/>
          </p:nvSpPr>
          <p:spPr bwMode="auto">
            <a:xfrm>
              <a:off x="2885928" y="4779372"/>
              <a:ext cx="746125" cy="533400"/>
            </a:xfrm>
            <a:prstGeom prst="irregularSeal1">
              <a:avLst/>
            </a:prstGeom>
            <a:noFill/>
            <a:ln w="28575">
              <a:solidFill>
                <a:srgbClr val="FF0000"/>
              </a:solidFill>
              <a:miter lim="800000"/>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95" name="Text Box 838">
              <a:extLst>
                <a:ext uri="{FF2B5EF4-FFF2-40B4-BE49-F238E27FC236}">
                  <a16:creationId xmlns:a16="http://schemas.microsoft.com/office/drawing/2014/main" id="{03DF87F3-9499-42C3-1038-629976D1BE93}"/>
                </a:ext>
              </a:extLst>
            </p:cNvPr>
            <p:cNvSpPr txBox="1">
              <a:spLocks noChangeArrowheads="1"/>
            </p:cNvSpPr>
            <p:nvPr/>
          </p:nvSpPr>
          <p:spPr bwMode="auto">
            <a:xfrm>
              <a:off x="7600803" y="5662022"/>
              <a:ext cx="450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2</a:t>
              </a:r>
            </a:p>
            <a:p>
              <a:pPr algn="ctr">
                <a:lnSpc>
                  <a:spcPct val="100000"/>
                </a:lnSpc>
                <a:spcBef>
                  <a:spcPct val="0"/>
                </a:spcBef>
                <a:spcAft>
                  <a:spcPct val="0"/>
                </a:spcAft>
                <a:buClrTx/>
                <a:buSzTx/>
                <a:buFontTx/>
                <a:buNone/>
              </a:pPr>
              <a:r>
                <a:rPr lang="en-US" altLang="en-US" sz="700" b="0">
                  <a:solidFill>
                    <a:srgbClr val="FF0000"/>
                  </a:solidFill>
                </a:rPr>
                <a:t>Days</a:t>
              </a:r>
            </a:p>
          </p:txBody>
        </p:sp>
        <p:grpSp>
          <p:nvGrpSpPr>
            <p:cNvPr id="296" name="Group 839">
              <a:extLst>
                <a:ext uri="{FF2B5EF4-FFF2-40B4-BE49-F238E27FC236}">
                  <a16:creationId xmlns:a16="http://schemas.microsoft.com/office/drawing/2014/main" id="{4ADBEB49-9C10-6005-73AB-2C21D212B4A6}"/>
                </a:ext>
              </a:extLst>
            </p:cNvPr>
            <p:cNvGrpSpPr>
              <a:grpSpLocks/>
            </p:cNvGrpSpPr>
            <p:nvPr/>
          </p:nvGrpSpPr>
          <p:grpSpPr bwMode="auto">
            <a:xfrm>
              <a:off x="7550003" y="3528422"/>
              <a:ext cx="454025" cy="903287"/>
              <a:chOff x="3916" y="2229"/>
              <a:chExt cx="286" cy="569"/>
            </a:xfrm>
          </p:grpSpPr>
          <p:sp>
            <p:nvSpPr>
              <p:cNvPr id="297" name="Text Box 840">
                <a:extLst>
                  <a:ext uri="{FF2B5EF4-FFF2-40B4-BE49-F238E27FC236}">
                    <a16:creationId xmlns:a16="http://schemas.microsoft.com/office/drawing/2014/main" id="{9710D411-B54C-C961-0433-31CD77060856}"/>
                  </a:ext>
                </a:extLst>
              </p:cNvPr>
              <p:cNvSpPr txBox="1">
                <a:spLocks noChangeArrowheads="1"/>
              </p:cNvSpPr>
              <p:nvPr/>
            </p:nvSpPr>
            <p:spPr bwMode="auto">
              <a:xfrm>
                <a:off x="3916" y="2482"/>
                <a:ext cx="28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Aft>
                    <a:spcPct val="0"/>
                  </a:spcAft>
                  <a:buClrTx/>
                  <a:buSzTx/>
                  <a:buFontTx/>
                  <a:buNone/>
                </a:pPr>
                <a:r>
                  <a:rPr lang="en-US" altLang="en-US" sz="500" b="0">
                    <a:solidFill>
                      <a:srgbClr val="FF0000"/>
                    </a:solidFill>
                  </a:rPr>
                  <a:t>E-File</a:t>
                </a:r>
              </a:p>
              <a:p>
                <a:pPr algn="ctr">
                  <a:lnSpc>
                    <a:spcPct val="100000"/>
                  </a:lnSpc>
                  <a:spcAft>
                    <a:spcPct val="0"/>
                  </a:spcAft>
                  <a:buClrTx/>
                  <a:buSzTx/>
                  <a:buFontTx/>
                  <a:buNone/>
                </a:pPr>
                <a:r>
                  <a:rPr lang="en-US" altLang="en-US" sz="500" b="0">
                    <a:solidFill>
                      <a:srgbClr val="FF0000"/>
                    </a:solidFill>
                  </a:rPr>
                  <a:t>Zip Code</a:t>
                </a:r>
              </a:p>
              <a:p>
                <a:pPr algn="ctr">
                  <a:lnSpc>
                    <a:spcPct val="100000"/>
                  </a:lnSpc>
                  <a:spcAft>
                    <a:spcPct val="0"/>
                  </a:spcAft>
                  <a:buClrTx/>
                  <a:buSzTx/>
                  <a:buFontTx/>
                  <a:buNone/>
                </a:pPr>
                <a:r>
                  <a:rPr lang="en-US" altLang="en-US" sz="500" b="0">
                    <a:solidFill>
                      <a:srgbClr val="FF0000"/>
                    </a:solidFill>
                  </a:rPr>
                  <a:t>2000  </a:t>
                </a:r>
                <a:r>
                  <a:rPr lang="en-US" altLang="en-US" sz="400" b="0">
                    <a:solidFill>
                      <a:srgbClr val="FF0000"/>
                    </a:solidFill>
                  </a:rPr>
                  <a:t>Application</a:t>
                </a:r>
              </a:p>
            </p:txBody>
          </p:sp>
          <p:sp>
            <p:nvSpPr>
              <p:cNvPr id="298" name="Line 841">
                <a:extLst>
                  <a:ext uri="{FF2B5EF4-FFF2-40B4-BE49-F238E27FC236}">
                    <a16:creationId xmlns:a16="http://schemas.microsoft.com/office/drawing/2014/main" id="{CE64DEE9-60A7-725E-63BF-64BFDF67EE04}"/>
                  </a:ext>
                </a:extLst>
              </p:cNvPr>
              <p:cNvSpPr>
                <a:spLocks noChangeShapeType="1"/>
              </p:cNvSpPr>
              <p:nvPr/>
            </p:nvSpPr>
            <p:spPr bwMode="auto">
              <a:xfrm flipV="1">
                <a:off x="3999" y="2321"/>
                <a:ext cx="137" cy="2"/>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99" name="Rectangle 842">
                <a:extLst>
                  <a:ext uri="{FF2B5EF4-FFF2-40B4-BE49-F238E27FC236}">
                    <a16:creationId xmlns:a16="http://schemas.microsoft.com/office/drawing/2014/main" id="{B40F3571-4542-47E8-8159-EFD160222495}"/>
                  </a:ext>
                </a:extLst>
              </p:cNvPr>
              <p:cNvSpPr>
                <a:spLocks noChangeArrowheads="1"/>
              </p:cNvSpPr>
              <p:nvPr/>
            </p:nvSpPr>
            <p:spPr bwMode="auto">
              <a:xfrm>
                <a:off x="3991" y="2273"/>
                <a:ext cx="151" cy="16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00" name="AutoShape 843">
                <a:extLst>
                  <a:ext uri="{FF2B5EF4-FFF2-40B4-BE49-F238E27FC236}">
                    <a16:creationId xmlns:a16="http://schemas.microsoft.com/office/drawing/2014/main" id="{AC10CD46-3983-80F1-2EB3-0797C222BE6D}"/>
                  </a:ext>
                </a:extLst>
              </p:cNvPr>
              <p:cNvSpPr>
                <a:spLocks/>
              </p:cNvSpPr>
              <p:nvPr/>
            </p:nvSpPr>
            <p:spPr bwMode="auto">
              <a:xfrm rot="-5400000">
                <a:off x="4058" y="2162"/>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01" name="AutoShape 844">
                <a:extLst>
                  <a:ext uri="{FF2B5EF4-FFF2-40B4-BE49-F238E27FC236}">
                    <a16:creationId xmlns:a16="http://schemas.microsoft.com/office/drawing/2014/main" id="{21522D95-B8D1-B177-3713-8EB9191CD77E}"/>
                  </a:ext>
                </a:extLst>
              </p:cNvPr>
              <p:cNvSpPr>
                <a:spLocks/>
              </p:cNvSpPr>
              <p:nvPr/>
            </p:nvSpPr>
            <p:spPr bwMode="auto">
              <a:xfrm rot="-5400000">
                <a:off x="4058" y="2171"/>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02" name="AutoShape 845">
                <a:extLst>
                  <a:ext uri="{FF2B5EF4-FFF2-40B4-BE49-F238E27FC236}">
                    <a16:creationId xmlns:a16="http://schemas.microsoft.com/office/drawing/2014/main" id="{DDA2D581-9A86-B5FD-0AC6-A0B6F96A1423}"/>
                  </a:ext>
                </a:extLst>
              </p:cNvPr>
              <p:cNvSpPr>
                <a:spLocks/>
              </p:cNvSpPr>
              <p:nvPr/>
            </p:nvSpPr>
            <p:spPr bwMode="auto">
              <a:xfrm rot="-5400000">
                <a:off x="4058" y="2180"/>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303" name="Group 846">
                <a:extLst>
                  <a:ext uri="{FF2B5EF4-FFF2-40B4-BE49-F238E27FC236}">
                    <a16:creationId xmlns:a16="http://schemas.microsoft.com/office/drawing/2014/main" id="{EAB142C0-763D-3732-7480-4A0B4876FDE7}"/>
                  </a:ext>
                </a:extLst>
              </p:cNvPr>
              <p:cNvGrpSpPr>
                <a:grpSpLocks/>
              </p:cNvGrpSpPr>
              <p:nvPr/>
            </p:nvGrpSpPr>
            <p:grpSpPr bwMode="auto">
              <a:xfrm>
                <a:off x="3985" y="2462"/>
                <a:ext cx="151" cy="336"/>
                <a:chOff x="576" y="1200"/>
                <a:chExt cx="240" cy="336"/>
              </a:xfrm>
            </p:grpSpPr>
            <p:sp>
              <p:nvSpPr>
                <p:cNvPr id="305" name="Rectangle 847">
                  <a:extLst>
                    <a:ext uri="{FF2B5EF4-FFF2-40B4-BE49-F238E27FC236}">
                      <a16:creationId xmlns:a16="http://schemas.microsoft.com/office/drawing/2014/main" id="{62299109-7CE7-E4BB-B4CD-A85F3BA075DF}"/>
                    </a:ext>
                  </a:extLst>
                </p:cNvPr>
                <p:cNvSpPr>
                  <a:spLocks noChangeArrowheads="1"/>
                </p:cNvSpPr>
                <p:nvPr/>
              </p:nvSpPr>
              <p:spPr bwMode="auto">
                <a:xfrm>
                  <a:off x="576" y="1200"/>
                  <a:ext cx="240"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06" name="Line 848">
                  <a:extLst>
                    <a:ext uri="{FF2B5EF4-FFF2-40B4-BE49-F238E27FC236}">
                      <a16:creationId xmlns:a16="http://schemas.microsoft.com/office/drawing/2014/main" id="{48BE1528-5F5E-C078-5B8E-EB0B787A491C}"/>
                    </a:ext>
                  </a:extLst>
                </p:cNvPr>
                <p:cNvSpPr>
                  <a:spLocks noChangeShapeType="1"/>
                </p:cNvSpPr>
                <p:nvPr/>
              </p:nvSpPr>
              <p:spPr bwMode="auto">
                <a:xfrm>
                  <a:off x="576" y="139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 name="Line 849">
                  <a:extLst>
                    <a:ext uri="{FF2B5EF4-FFF2-40B4-BE49-F238E27FC236}">
                      <a16:creationId xmlns:a16="http://schemas.microsoft.com/office/drawing/2014/main" id="{65AB31CD-797F-665C-5E6B-6581F93B3515}"/>
                    </a:ext>
                  </a:extLst>
                </p:cNvPr>
                <p:cNvSpPr>
                  <a:spLocks noChangeShapeType="1"/>
                </p:cNvSpPr>
                <p:nvPr/>
              </p:nvSpPr>
              <p:spPr bwMode="auto">
                <a:xfrm>
                  <a:off x="576" y="129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04" name="Text Box 850">
                <a:extLst>
                  <a:ext uri="{FF2B5EF4-FFF2-40B4-BE49-F238E27FC236}">
                    <a16:creationId xmlns:a16="http://schemas.microsoft.com/office/drawing/2014/main" id="{1D8914DA-840F-D5DF-2191-6BE510869647}"/>
                  </a:ext>
                </a:extLst>
              </p:cNvPr>
              <p:cNvSpPr txBox="1">
                <a:spLocks noChangeArrowheads="1"/>
              </p:cNvSpPr>
              <p:nvPr/>
            </p:nvSpPr>
            <p:spPr bwMode="auto">
              <a:xfrm>
                <a:off x="3970" y="2300"/>
                <a:ext cx="168" cy="1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eaLnBrk="1" hangingPunct="1">
                  <a:lnSpc>
                    <a:spcPct val="100000"/>
                  </a:lnSpc>
                  <a:spcBef>
                    <a:spcPct val="0"/>
                  </a:spcBef>
                  <a:spcAft>
                    <a:spcPct val="0"/>
                  </a:spcAft>
                  <a:buClrTx/>
                  <a:buSzTx/>
                  <a:buFontTx/>
                  <a:buNone/>
                </a:pPr>
                <a:r>
                  <a:rPr lang="en-US" altLang="en-US" sz="600" b="0"/>
                  <a:t>IN</a:t>
                </a:r>
              </a:p>
            </p:txBody>
          </p:sp>
        </p:grpSp>
        <p:grpSp>
          <p:nvGrpSpPr>
            <p:cNvPr id="308" name="Group 852">
              <a:extLst>
                <a:ext uri="{FF2B5EF4-FFF2-40B4-BE49-F238E27FC236}">
                  <a16:creationId xmlns:a16="http://schemas.microsoft.com/office/drawing/2014/main" id="{3AF88841-DA71-C651-E9EE-95F3CE74BE8D}"/>
                </a:ext>
              </a:extLst>
            </p:cNvPr>
            <p:cNvGrpSpPr>
              <a:grpSpLocks/>
            </p:cNvGrpSpPr>
            <p:nvPr/>
          </p:nvGrpSpPr>
          <p:grpSpPr bwMode="auto">
            <a:xfrm>
              <a:off x="5333853" y="2018709"/>
              <a:ext cx="687388" cy="835025"/>
              <a:chOff x="2516" y="1294"/>
              <a:chExt cx="433" cy="526"/>
            </a:xfrm>
          </p:grpSpPr>
          <p:sp>
            <p:nvSpPr>
              <p:cNvPr id="309" name="Rectangle 853">
                <a:extLst>
                  <a:ext uri="{FF2B5EF4-FFF2-40B4-BE49-F238E27FC236}">
                    <a16:creationId xmlns:a16="http://schemas.microsoft.com/office/drawing/2014/main" id="{AEA795F7-3469-B19A-418F-0607096F31F4}"/>
                  </a:ext>
                </a:extLst>
              </p:cNvPr>
              <p:cNvSpPr>
                <a:spLocks noChangeArrowheads="1"/>
              </p:cNvSpPr>
              <p:nvPr/>
            </p:nvSpPr>
            <p:spPr bwMode="auto">
              <a:xfrm>
                <a:off x="2610" y="1666"/>
                <a:ext cx="26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eaLnBrk="1" hangingPunct="1">
                  <a:lnSpc>
                    <a:spcPct val="100000"/>
                  </a:lnSpc>
                  <a:spcBef>
                    <a:spcPct val="0"/>
                  </a:spcBef>
                  <a:spcAft>
                    <a:spcPct val="0"/>
                  </a:spcAft>
                  <a:buClrTx/>
                  <a:buSzTx/>
                  <a:buFontTx/>
                  <a:buNone/>
                </a:pPr>
                <a:r>
                  <a:rPr lang="en-US" altLang="en-US" sz="800" b="0">
                    <a:cs typeface="Arial" panose="020B0604020202020204" pitchFamily="34" charset="0"/>
                  </a:rPr>
                  <a:t>Card</a:t>
                </a:r>
              </a:p>
              <a:p>
                <a:pPr algn="ctr" eaLnBrk="1" hangingPunct="1">
                  <a:lnSpc>
                    <a:spcPct val="100000"/>
                  </a:lnSpc>
                  <a:spcBef>
                    <a:spcPct val="0"/>
                  </a:spcBef>
                  <a:spcAft>
                    <a:spcPct val="0"/>
                  </a:spcAft>
                  <a:buClrTx/>
                  <a:buSzTx/>
                  <a:buFontTx/>
                  <a:buNone/>
                </a:pPr>
                <a:r>
                  <a:rPr lang="en-US" altLang="en-US" sz="800" b="0">
                    <a:cs typeface="Arial" panose="020B0604020202020204" pitchFamily="34" charset="0"/>
                  </a:rPr>
                  <a:t>Applicant</a:t>
                </a:r>
              </a:p>
            </p:txBody>
          </p:sp>
          <p:graphicFrame>
            <p:nvGraphicFramePr>
              <p:cNvPr id="310" name="Object 854">
                <a:extLst>
                  <a:ext uri="{FF2B5EF4-FFF2-40B4-BE49-F238E27FC236}">
                    <a16:creationId xmlns:a16="http://schemas.microsoft.com/office/drawing/2014/main" id="{949FF7BA-309A-F950-64C0-A90CB4E70A0D}"/>
                  </a:ext>
                </a:extLst>
              </p:cNvPr>
              <p:cNvGraphicFramePr>
                <a:graphicFrameLocks noChangeAspect="1"/>
              </p:cNvGraphicFramePr>
              <p:nvPr/>
            </p:nvGraphicFramePr>
            <p:xfrm>
              <a:off x="2516" y="1294"/>
              <a:ext cx="433" cy="492"/>
            </p:xfrm>
            <a:graphic>
              <a:graphicData uri="http://schemas.openxmlformats.org/presentationml/2006/ole">
                <mc:AlternateContent xmlns:mc="http://schemas.openxmlformats.org/markup-compatibility/2006">
                  <mc:Choice xmlns:v="urn:schemas-microsoft-com:vml" Requires="v">
                    <p:oleObj name="Visio" r:id="rId2" imgW="698500" imgH="977900" progId="Visio.Drawing.11">
                      <p:embed/>
                    </p:oleObj>
                  </mc:Choice>
                  <mc:Fallback>
                    <p:oleObj name="Visio" r:id="rId2" imgW="698500" imgH="977900" progId="Visio.Drawing.11">
                      <p:embed/>
                      <p:pic>
                        <p:nvPicPr>
                          <p:cNvPr id="30906" name="Object 854">
                            <a:extLst>
                              <a:ext uri="{FF2B5EF4-FFF2-40B4-BE49-F238E27FC236}">
                                <a16:creationId xmlns:a16="http://schemas.microsoft.com/office/drawing/2014/main" id="{E192C43A-4EFF-3ADC-96F6-BF84B3F335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6" y="1294"/>
                            <a:ext cx="433" cy="4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311" name="Text Box 859">
              <a:extLst>
                <a:ext uri="{FF2B5EF4-FFF2-40B4-BE49-F238E27FC236}">
                  <a16:creationId xmlns:a16="http://schemas.microsoft.com/office/drawing/2014/main" id="{24AFD5EC-717C-A9FF-BDB2-D00FB071851E}"/>
                </a:ext>
              </a:extLst>
            </p:cNvPr>
            <p:cNvSpPr txBox="1">
              <a:spLocks noChangeArrowheads="1"/>
            </p:cNvSpPr>
            <p:nvPr/>
          </p:nvSpPr>
          <p:spPr bwMode="auto">
            <a:xfrm>
              <a:off x="1819128" y="3087097"/>
              <a:ext cx="630238"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685800" indent="-22860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00000"/>
                </a:lnSpc>
                <a:spcBef>
                  <a:spcPct val="0"/>
                </a:spcBef>
                <a:spcAft>
                  <a:spcPct val="0"/>
                </a:spcAft>
                <a:buClrTx/>
                <a:buSzTx/>
                <a:buFontTx/>
                <a:buNone/>
              </a:pPr>
              <a:r>
                <a:rPr lang="en-US" altLang="en-US" sz="600" b="0"/>
                <a:t>2X Daily</a:t>
              </a:r>
            </a:p>
          </p:txBody>
        </p:sp>
        <p:graphicFrame>
          <p:nvGraphicFramePr>
            <p:cNvPr id="312" name="Object 860">
              <a:extLst>
                <a:ext uri="{FF2B5EF4-FFF2-40B4-BE49-F238E27FC236}">
                  <a16:creationId xmlns:a16="http://schemas.microsoft.com/office/drawing/2014/main" id="{51A80DB7-D78B-6D44-34FE-9EF6CF0162A7}"/>
                </a:ext>
              </a:extLst>
            </p:cNvPr>
            <p:cNvGraphicFramePr>
              <a:graphicFrameLocks noChangeAspect="1"/>
            </p:cNvGraphicFramePr>
            <p:nvPr>
              <p:extLst>
                <p:ext uri="{D42A27DB-BD31-4B8C-83A1-F6EECF244321}">
                  <p14:modId xmlns:p14="http://schemas.microsoft.com/office/powerpoint/2010/main" val="3231964521"/>
                </p:ext>
              </p:extLst>
            </p:nvPr>
          </p:nvGraphicFramePr>
          <p:xfrm>
            <a:off x="9421666" y="3387134"/>
            <a:ext cx="503237" cy="328613"/>
          </p:xfrm>
          <a:graphic>
            <a:graphicData uri="http://schemas.openxmlformats.org/presentationml/2006/ole">
              <mc:AlternateContent xmlns:mc="http://schemas.openxmlformats.org/markup-compatibility/2006">
                <mc:Choice xmlns:v="urn:schemas-microsoft-com:vml" Requires="v">
                  <p:oleObj name="Visio" r:id="rId4" imgW="1435100" imgH="1765300" progId="Visio.Drawing.11">
                    <p:embed/>
                  </p:oleObj>
                </mc:Choice>
                <mc:Fallback>
                  <p:oleObj name="Visio" r:id="rId4" imgW="1435100" imgH="1765300" progId="Visio.Drawing.11">
                    <p:embed/>
                    <p:pic>
                      <p:nvPicPr>
                        <p:cNvPr id="30867" name="Object 860">
                          <a:extLst>
                            <a:ext uri="{FF2B5EF4-FFF2-40B4-BE49-F238E27FC236}">
                              <a16:creationId xmlns:a16="http://schemas.microsoft.com/office/drawing/2014/main" id="{E914C753-AC6C-D5A1-A44C-6EE21106062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21666" y="3387134"/>
                          <a:ext cx="503237" cy="32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3" name="Text Box 861">
              <a:extLst>
                <a:ext uri="{FF2B5EF4-FFF2-40B4-BE49-F238E27FC236}">
                  <a16:creationId xmlns:a16="http://schemas.microsoft.com/office/drawing/2014/main" id="{4380D872-07C4-B436-0A51-152CAD5D1B27}"/>
                </a:ext>
              </a:extLst>
            </p:cNvPr>
            <p:cNvSpPr txBox="1">
              <a:spLocks noChangeArrowheads="1"/>
            </p:cNvSpPr>
            <p:nvPr/>
          </p:nvSpPr>
          <p:spPr bwMode="auto">
            <a:xfrm>
              <a:off x="9205766" y="3180759"/>
              <a:ext cx="630237"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685800" indent="-22860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00000"/>
                </a:lnSpc>
                <a:spcBef>
                  <a:spcPct val="0"/>
                </a:spcBef>
                <a:spcAft>
                  <a:spcPct val="0"/>
                </a:spcAft>
                <a:buClrTx/>
                <a:buSzTx/>
                <a:buFontTx/>
                <a:buNone/>
              </a:pPr>
              <a:r>
                <a:rPr lang="en-US" altLang="en-US" sz="600" b="0"/>
                <a:t>2X Daily</a:t>
              </a:r>
            </a:p>
          </p:txBody>
        </p:sp>
        <p:sp>
          <p:nvSpPr>
            <p:cNvPr id="314" name="AutoShape 865">
              <a:extLst>
                <a:ext uri="{FF2B5EF4-FFF2-40B4-BE49-F238E27FC236}">
                  <a16:creationId xmlns:a16="http://schemas.microsoft.com/office/drawing/2014/main" id="{5003E4CF-8DE5-7FFD-EF07-B9B666A7B6A8}"/>
                </a:ext>
              </a:extLst>
            </p:cNvPr>
            <p:cNvSpPr>
              <a:spLocks noChangeArrowheads="1"/>
            </p:cNvSpPr>
            <p:nvPr/>
          </p:nvSpPr>
          <p:spPr bwMode="auto">
            <a:xfrm>
              <a:off x="1812778" y="5217522"/>
              <a:ext cx="422275" cy="250825"/>
            </a:xfrm>
            <a:prstGeom prst="irregularSeal1">
              <a:avLst/>
            </a:prstGeom>
            <a:noFill/>
            <a:ln w="28575">
              <a:solidFill>
                <a:srgbClr val="FF0000"/>
              </a:solidFill>
              <a:miter lim="800000"/>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315" name="Group 871">
              <a:extLst>
                <a:ext uri="{FF2B5EF4-FFF2-40B4-BE49-F238E27FC236}">
                  <a16:creationId xmlns:a16="http://schemas.microsoft.com/office/drawing/2014/main" id="{4359CE30-AE2D-4A6A-AF69-A32E66C684A4}"/>
                </a:ext>
              </a:extLst>
            </p:cNvPr>
            <p:cNvGrpSpPr>
              <a:grpSpLocks noChangeAspect="1"/>
            </p:cNvGrpSpPr>
            <p:nvPr/>
          </p:nvGrpSpPr>
          <p:grpSpPr bwMode="auto">
            <a:xfrm>
              <a:off x="1563541" y="3293472"/>
              <a:ext cx="503237" cy="328612"/>
              <a:chOff x="141" y="2097"/>
              <a:chExt cx="317" cy="207"/>
            </a:xfrm>
          </p:grpSpPr>
          <p:sp>
            <p:nvSpPr>
              <p:cNvPr id="316" name="AutoShape 870">
                <a:extLst>
                  <a:ext uri="{FF2B5EF4-FFF2-40B4-BE49-F238E27FC236}">
                    <a16:creationId xmlns:a16="http://schemas.microsoft.com/office/drawing/2014/main" id="{41D43A7F-74AA-3086-C617-B4E6574314A0}"/>
                  </a:ext>
                </a:extLst>
              </p:cNvPr>
              <p:cNvSpPr>
                <a:spLocks noChangeAspect="1" noChangeArrowheads="1" noTextEdit="1"/>
              </p:cNvSpPr>
              <p:nvPr/>
            </p:nvSpPr>
            <p:spPr bwMode="auto">
              <a:xfrm>
                <a:off x="141" y="2097"/>
                <a:ext cx="31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17" name="Freeform 872">
                <a:extLst>
                  <a:ext uri="{FF2B5EF4-FFF2-40B4-BE49-F238E27FC236}">
                    <a16:creationId xmlns:a16="http://schemas.microsoft.com/office/drawing/2014/main" id="{9D59CC0B-7434-9FEA-0A25-635153F45047}"/>
                  </a:ext>
                </a:extLst>
              </p:cNvPr>
              <p:cNvSpPr>
                <a:spLocks/>
              </p:cNvSpPr>
              <p:nvPr/>
            </p:nvSpPr>
            <p:spPr bwMode="auto">
              <a:xfrm>
                <a:off x="146" y="2100"/>
                <a:ext cx="307" cy="162"/>
              </a:xfrm>
              <a:custGeom>
                <a:avLst/>
                <a:gdLst>
                  <a:gd name="T0" fmla="*/ 37 w 2304"/>
                  <a:gd name="T1" fmla="*/ 11 h 2304"/>
                  <a:gd name="T2" fmla="*/ 41 w 2304"/>
                  <a:gd name="T3" fmla="*/ 10 h 2304"/>
                  <a:gd name="T4" fmla="*/ 41 w 2304"/>
                  <a:gd name="T5" fmla="*/ 10 h 2304"/>
                  <a:gd name="T6" fmla="*/ 41 w 2304"/>
                  <a:gd name="T7" fmla="*/ 1 h 2304"/>
                  <a:gd name="T8" fmla="*/ 37 w 2304"/>
                  <a:gd name="T9" fmla="*/ 0 h 2304"/>
                  <a:gd name="T10" fmla="*/ 37 w 2304"/>
                  <a:gd name="T11" fmla="*/ 0 h 2304"/>
                  <a:gd name="T12" fmla="*/ 4 w 2304"/>
                  <a:gd name="T13" fmla="*/ 0 h 2304"/>
                  <a:gd name="T14" fmla="*/ 0 w 2304"/>
                  <a:gd name="T15" fmla="*/ 1 h 2304"/>
                  <a:gd name="T16" fmla="*/ 0 w 2304"/>
                  <a:gd name="T17" fmla="*/ 1 h 2304"/>
                  <a:gd name="T18" fmla="*/ 0 w 2304"/>
                  <a:gd name="T19" fmla="*/ 10 h 2304"/>
                  <a:gd name="T20" fmla="*/ 4 w 2304"/>
                  <a:gd name="T21" fmla="*/ 11 h 2304"/>
                  <a:gd name="T22" fmla="*/ 4 w 2304"/>
                  <a:gd name="T23" fmla="*/ 11 h 2304"/>
                  <a:gd name="T24" fmla="*/ 37 w 2304"/>
                  <a:gd name="T25" fmla="*/ 11 h 230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304" h="2304">
                    <a:moveTo>
                      <a:pt x="2073" y="2304"/>
                    </a:moveTo>
                    <a:cubicBezTo>
                      <a:pt x="2201" y="2304"/>
                      <a:pt x="2304" y="2201"/>
                      <a:pt x="2304" y="2073"/>
                    </a:cubicBezTo>
                    <a:cubicBezTo>
                      <a:pt x="2304" y="2073"/>
                      <a:pt x="2304" y="2073"/>
                      <a:pt x="2304" y="2073"/>
                    </a:cubicBezTo>
                    <a:lnTo>
                      <a:pt x="2304" y="230"/>
                    </a:lnTo>
                    <a:cubicBezTo>
                      <a:pt x="2304" y="103"/>
                      <a:pt x="2201" y="0"/>
                      <a:pt x="2073" y="0"/>
                    </a:cubicBezTo>
                    <a:lnTo>
                      <a:pt x="230" y="0"/>
                    </a:lnTo>
                    <a:cubicBezTo>
                      <a:pt x="103" y="0"/>
                      <a:pt x="0" y="103"/>
                      <a:pt x="0" y="230"/>
                    </a:cubicBezTo>
                    <a:lnTo>
                      <a:pt x="0" y="2073"/>
                    </a:lnTo>
                    <a:cubicBezTo>
                      <a:pt x="0" y="2201"/>
                      <a:pt x="103" y="2304"/>
                      <a:pt x="230" y="2304"/>
                    </a:cubicBezTo>
                    <a:lnTo>
                      <a:pt x="2073" y="2304"/>
                    </a:lnTo>
                    <a:close/>
                  </a:path>
                </a:pathLst>
              </a:custGeom>
              <a:solidFill>
                <a:srgbClr val="FFFFFF"/>
              </a:solidFill>
              <a:ln w="0">
                <a:solidFill>
                  <a:srgbClr val="000000"/>
                </a:solidFill>
                <a:prstDash val="solid"/>
                <a:round/>
                <a:headEnd/>
                <a:tailEnd/>
              </a:ln>
            </p:spPr>
            <p:txBody>
              <a:bodyPr/>
              <a:lstStyle/>
              <a:p>
                <a:endParaRPr lang="en-US"/>
              </a:p>
            </p:txBody>
          </p:sp>
          <p:sp>
            <p:nvSpPr>
              <p:cNvPr id="318" name="Freeform 873">
                <a:extLst>
                  <a:ext uri="{FF2B5EF4-FFF2-40B4-BE49-F238E27FC236}">
                    <a16:creationId xmlns:a16="http://schemas.microsoft.com/office/drawing/2014/main" id="{D28EFA05-C6FB-3757-4F16-A7C8F092FB46}"/>
                  </a:ext>
                </a:extLst>
              </p:cNvPr>
              <p:cNvSpPr>
                <a:spLocks/>
              </p:cNvSpPr>
              <p:nvPr/>
            </p:nvSpPr>
            <p:spPr bwMode="auto">
              <a:xfrm>
                <a:off x="146" y="2100"/>
                <a:ext cx="307" cy="162"/>
              </a:xfrm>
              <a:custGeom>
                <a:avLst/>
                <a:gdLst>
                  <a:gd name="T0" fmla="*/ 37 w 2304"/>
                  <a:gd name="T1" fmla="*/ 11 h 2304"/>
                  <a:gd name="T2" fmla="*/ 41 w 2304"/>
                  <a:gd name="T3" fmla="*/ 10 h 2304"/>
                  <a:gd name="T4" fmla="*/ 41 w 2304"/>
                  <a:gd name="T5" fmla="*/ 10 h 2304"/>
                  <a:gd name="T6" fmla="*/ 41 w 2304"/>
                  <a:gd name="T7" fmla="*/ 1 h 2304"/>
                  <a:gd name="T8" fmla="*/ 37 w 2304"/>
                  <a:gd name="T9" fmla="*/ 0 h 2304"/>
                  <a:gd name="T10" fmla="*/ 37 w 2304"/>
                  <a:gd name="T11" fmla="*/ 0 h 2304"/>
                  <a:gd name="T12" fmla="*/ 4 w 2304"/>
                  <a:gd name="T13" fmla="*/ 0 h 2304"/>
                  <a:gd name="T14" fmla="*/ 0 w 2304"/>
                  <a:gd name="T15" fmla="*/ 1 h 2304"/>
                  <a:gd name="T16" fmla="*/ 0 w 2304"/>
                  <a:gd name="T17" fmla="*/ 1 h 2304"/>
                  <a:gd name="T18" fmla="*/ 0 w 2304"/>
                  <a:gd name="T19" fmla="*/ 10 h 2304"/>
                  <a:gd name="T20" fmla="*/ 4 w 2304"/>
                  <a:gd name="T21" fmla="*/ 11 h 2304"/>
                  <a:gd name="T22" fmla="*/ 4 w 2304"/>
                  <a:gd name="T23" fmla="*/ 11 h 2304"/>
                  <a:gd name="T24" fmla="*/ 37 w 2304"/>
                  <a:gd name="T25" fmla="*/ 11 h 230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304" h="2304">
                    <a:moveTo>
                      <a:pt x="2073" y="2304"/>
                    </a:moveTo>
                    <a:cubicBezTo>
                      <a:pt x="2201" y="2304"/>
                      <a:pt x="2304" y="2201"/>
                      <a:pt x="2304" y="2073"/>
                    </a:cubicBezTo>
                    <a:cubicBezTo>
                      <a:pt x="2304" y="2073"/>
                      <a:pt x="2304" y="2073"/>
                      <a:pt x="2304" y="2073"/>
                    </a:cubicBezTo>
                    <a:lnTo>
                      <a:pt x="2304" y="230"/>
                    </a:lnTo>
                    <a:cubicBezTo>
                      <a:pt x="2304" y="103"/>
                      <a:pt x="2201" y="0"/>
                      <a:pt x="2073" y="0"/>
                    </a:cubicBezTo>
                    <a:lnTo>
                      <a:pt x="230" y="0"/>
                    </a:lnTo>
                    <a:cubicBezTo>
                      <a:pt x="103" y="0"/>
                      <a:pt x="0" y="103"/>
                      <a:pt x="0" y="230"/>
                    </a:cubicBezTo>
                    <a:lnTo>
                      <a:pt x="0" y="2073"/>
                    </a:lnTo>
                    <a:cubicBezTo>
                      <a:pt x="0" y="2201"/>
                      <a:pt x="103" y="2304"/>
                      <a:pt x="230" y="2304"/>
                    </a:cubicBezTo>
                    <a:lnTo>
                      <a:pt x="2073" y="2304"/>
                    </a:lnTo>
                    <a:close/>
                  </a:path>
                </a:pathLst>
              </a:custGeom>
              <a:noFill/>
              <a:ln w="31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19" name="Rectangle 874">
                <a:extLst>
                  <a:ext uri="{FF2B5EF4-FFF2-40B4-BE49-F238E27FC236}">
                    <a16:creationId xmlns:a16="http://schemas.microsoft.com/office/drawing/2014/main" id="{02944EC6-AB92-9344-E9E4-4B771DD2CF96}"/>
                  </a:ext>
                </a:extLst>
              </p:cNvPr>
              <p:cNvSpPr>
                <a:spLocks noChangeArrowheads="1"/>
              </p:cNvSpPr>
              <p:nvPr/>
            </p:nvSpPr>
            <p:spPr bwMode="auto">
              <a:xfrm>
                <a:off x="179" y="2136"/>
                <a:ext cx="241" cy="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20" name="Rectangle 875">
                <a:extLst>
                  <a:ext uri="{FF2B5EF4-FFF2-40B4-BE49-F238E27FC236}">
                    <a16:creationId xmlns:a16="http://schemas.microsoft.com/office/drawing/2014/main" id="{CDDE372C-B7FC-8CF8-86E6-EF58CB76FA2B}"/>
                  </a:ext>
                </a:extLst>
              </p:cNvPr>
              <p:cNvSpPr>
                <a:spLocks noChangeArrowheads="1"/>
              </p:cNvSpPr>
              <p:nvPr/>
            </p:nvSpPr>
            <p:spPr bwMode="auto">
              <a:xfrm>
                <a:off x="179" y="2136"/>
                <a:ext cx="241" cy="85"/>
              </a:xfrm>
              <a:prstGeom prst="rect">
                <a:avLst/>
              </a:prstGeom>
              <a:noFill/>
              <a:ln w="952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21" name="Freeform 876">
                <a:extLst>
                  <a:ext uri="{FF2B5EF4-FFF2-40B4-BE49-F238E27FC236}">
                    <a16:creationId xmlns:a16="http://schemas.microsoft.com/office/drawing/2014/main" id="{0050B4A1-2AE3-8460-3289-C96F8278899F}"/>
                  </a:ext>
                </a:extLst>
              </p:cNvPr>
              <p:cNvSpPr>
                <a:spLocks noEditPoints="1"/>
              </p:cNvSpPr>
              <p:nvPr/>
            </p:nvSpPr>
            <p:spPr bwMode="auto">
              <a:xfrm>
                <a:off x="179" y="2136"/>
                <a:ext cx="241" cy="85"/>
              </a:xfrm>
              <a:custGeom>
                <a:avLst/>
                <a:gdLst>
                  <a:gd name="T0" fmla="*/ 0 w 1814"/>
                  <a:gd name="T1" fmla="*/ 0 h 1210"/>
                  <a:gd name="T2" fmla="*/ 13 w 1814"/>
                  <a:gd name="T3" fmla="*/ 3 h 1210"/>
                  <a:gd name="T4" fmla="*/ 19 w 1814"/>
                  <a:gd name="T5" fmla="*/ 3 h 1210"/>
                  <a:gd name="T6" fmla="*/ 19 w 1814"/>
                  <a:gd name="T7" fmla="*/ 3 h 1210"/>
                  <a:gd name="T8" fmla="*/ 32 w 1814"/>
                  <a:gd name="T9" fmla="*/ 0 h 1210"/>
                  <a:gd name="T10" fmla="*/ 32 w 1814"/>
                  <a:gd name="T11" fmla="*/ 6 h 1210"/>
                  <a:gd name="T12" fmla="*/ 19 w 1814"/>
                  <a:gd name="T13" fmla="*/ 3 h 1210"/>
                  <a:gd name="T14" fmla="*/ 0 w 1814"/>
                  <a:gd name="T15" fmla="*/ 6 h 1210"/>
                  <a:gd name="T16" fmla="*/ 13 w 1814"/>
                  <a:gd name="T17" fmla="*/ 3 h 12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14" h="1210">
                    <a:moveTo>
                      <a:pt x="0" y="0"/>
                    </a:moveTo>
                    <a:lnTo>
                      <a:pt x="756" y="605"/>
                    </a:lnTo>
                    <a:cubicBezTo>
                      <a:pt x="843" y="686"/>
                      <a:pt x="977" y="686"/>
                      <a:pt x="1064" y="605"/>
                    </a:cubicBezTo>
                    <a:lnTo>
                      <a:pt x="1814" y="0"/>
                    </a:lnTo>
                    <a:moveTo>
                      <a:pt x="1814" y="1210"/>
                    </a:moveTo>
                    <a:lnTo>
                      <a:pt x="1058" y="605"/>
                    </a:lnTo>
                    <a:moveTo>
                      <a:pt x="0" y="1210"/>
                    </a:moveTo>
                    <a:lnTo>
                      <a:pt x="756" y="605"/>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22" name="Group 896">
              <a:extLst>
                <a:ext uri="{FF2B5EF4-FFF2-40B4-BE49-F238E27FC236}">
                  <a16:creationId xmlns:a16="http://schemas.microsoft.com/office/drawing/2014/main" id="{E9E221F1-3240-B7B9-9B70-E851C298F457}"/>
                </a:ext>
              </a:extLst>
            </p:cNvPr>
            <p:cNvGrpSpPr>
              <a:grpSpLocks/>
            </p:cNvGrpSpPr>
            <p:nvPr/>
          </p:nvGrpSpPr>
          <p:grpSpPr bwMode="auto">
            <a:xfrm flipH="1" flipV="1">
              <a:off x="6694341" y="3720509"/>
              <a:ext cx="941387" cy="519113"/>
              <a:chOff x="1065" y="1628"/>
              <a:chExt cx="780" cy="1403"/>
            </a:xfrm>
          </p:grpSpPr>
          <p:cxnSp>
            <p:nvCxnSpPr>
              <p:cNvPr id="323" name="AutoShape 897">
                <a:extLst>
                  <a:ext uri="{FF2B5EF4-FFF2-40B4-BE49-F238E27FC236}">
                    <a16:creationId xmlns:a16="http://schemas.microsoft.com/office/drawing/2014/main" id="{F5496F61-9568-6ABA-3759-1C29FA839E6E}"/>
                  </a:ext>
                </a:extLst>
              </p:cNvPr>
              <p:cNvCxnSpPr>
                <a:cxnSpLocks noChangeShapeType="1"/>
              </p:cNvCxnSpPr>
              <p:nvPr/>
            </p:nvCxnSpPr>
            <p:spPr bwMode="auto">
              <a:xfrm flipH="1">
                <a:off x="1472" y="1628"/>
                <a:ext cx="373" cy="54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4" name="AutoShape 898">
                <a:extLst>
                  <a:ext uri="{FF2B5EF4-FFF2-40B4-BE49-F238E27FC236}">
                    <a16:creationId xmlns:a16="http://schemas.microsoft.com/office/drawing/2014/main" id="{A57E5806-19CA-E560-B2FD-C62B82FB48C6}"/>
                  </a:ext>
                </a:extLst>
              </p:cNvPr>
              <p:cNvCxnSpPr>
                <a:cxnSpLocks noChangeShapeType="1"/>
              </p:cNvCxnSpPr>
              <p:nvPr/>
            </p:nvCxnSpPr>
            <p:spPr bwMode="auto">
              <a:xfrm>
                <a:off x="1469" y="2172"/>
                <a:ext cx="144" cy="8"/>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5" name="AutoShape 899">
                <a:extLst>
                  <a:ext uri="{FF2B5EF4-FFF2-40B4-BE49-F238E27FC236}">
                    <a16:creationId xmlns:a16="http://schemas.microsoft.com/office/drawing/2014/main" id="{F2F69814-8E67-507D-36E3-278AF8834C41}"/>
                  </a:ext>
                </a:extLst>
              </p:cNvPr>
              <p:cNvCxnSpPr>
                <a:cxnSpLocks noChangeShapeType="1"/>
              </p:cNvCxnSpPr>
              <p:nvPr/>
            </p:nvCxnSpPr>
            <p:spPr bwMode="auto">
              <a:xfrm flipH="1">
                <a:off x="1065" y="2175"/>
                <a:ext cx="552" cy="856"/>
              </a:xfrm>
              <a:prstGeom prst="straightConnector1">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26" name="Group 900">
              <a:extLst>
                <a:ext uri="{FF2B5EF4-FFF2-40B4-BE49-F238E27FC236}">
                  <a16:creationId xmlns:a16="http://schemas.microsoft.com/office/drawing/2014/main" id="{CB16C1F8-DFBF-CE7A-1435-DA942388E94E}"/>
                </a:ext>
              </a:extLst>
            </p:cNvPr>
            <p:cNvGrpSpPr>
              <a:grpSpLocks/>
            </p:cNvGrpSpPr>
            <p:nvPr/>
          </p:nvGrpSpPr>
          <p:grpSpPr bwMode="auto">
            <a:xfrm flipH="1" flipV="1">
              <a:off x="7665891" y="4434884"/>
              <a:ext cx="103187" cy="385763"/>
              <a:chOff x="1065" y="1628"/>
              <a:chExt cx="780" cy="1403"/>
            </a:xfrm>
          </p:grpSpPr>
          <p:cxnSp>
            <p:nvCxnSpPr>
              <p:cNvPr id="327" name="AutoShape 901">
                <a:extLst>
                  <a:ext uri="{FF2B5EF4-FFF2-40B4-BE49-F238E27FC236}">
                    <a16:creationId xmlns:a16="http://schemas.microsoft.com/office/drawing/2014/main" id="{1B8FA691-32E7-1E7C-C9F9-A5F16C8C1DC8}"/>
                  </a:ext>
                </a:extLst>
              </p:cNvPr>
              <p:cNvCxnSpPr>
                <a:cxnSpLocks noChangeShapeType="1"/>
              </p:cNvCxnSpPr>
              <p:nvPr/>
            </p:nvCxnSpPr>
            <p:spPr bwMode="auto">
              <a:xfrm flipH="1">
                <a:off x="1472" y="1628"/>
                <a:ext cx="373" cy="54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 name="AutoShape 902">
                <a:extLst>
                  <a:ext uri="{FF2B5EF4-FFF2-40B4-BE49-F238E27FC236}">
                    <a16:creationId xmlns:a16="http://schemas.microsoft.com/office/drawing/2014/main" id="{0E718A3E-C6CE-086B-6C8D-30C380AB2A3D}"/>
                  </a:ext>
                </a:extLst>
              </p:cNvPr>
              <p:cNvCxnSpPr>
                <a:cxnSpLocks noChangeShapeType="1"/>
              </p:cNvCxnSpPr>
              <p:nvPr/>
            </p:nvCxnSpPr>
            <p:spPr bwMode="auto">
              <a:xfrm>
                <a:off x="1469" y="2172"/>
                <a:ext cx="144" cy="8"/>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9" name="AutoShape 903">
                <a:extLst>
                  <a:ext uri="{FF2B5EF4-FFF2-40B4-BE49-F238E27FC236}">
                    <a16:creationId xmlns:a16="http://schemas.microsoft.com/office/drawing/2014/main" id="{BF6E0A8E-332B-42EB-FAED-FB12E97F08F2}"/>
                  </a:ext>
                </a:extLst>
              </p:cNvPr>
              <p:cNvCxnSpPr>
                <a:cxnSpLocks noChangeShapeType="1"/>
              </p:cNvCxnSpPr>
              <p:nvPr/>
            </p:nvCxnSpPr>
            <p:spPr bwMode="auto">
              <a:xfrm flipH="1">
                <a:off x="1065" y="2175"/>
                <a:ext cx="552" cy="856"/>
              </a:xfrm>
              <a:prstGeom prst="straightConnector1">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30" name="Text Box 922">
              <a:extLst>
                <a:ext uri="{FF2B5EF4-FFF2-40B4-BE49-F238E27FC236}">
                  <a16:creationId xmlns:a16="http://schemas.microsoft.com/office/drawing/2014/main" id="{3F657476-7CCD-915B-EA51-E1E0FF00403C}"/>
                </a:ext>
              </a:extLst>
            </p:cNvPr>
            <p:cNvSpPr txBox="1">
              <a:spLocks noChangeArrowheads="1"/>
            </p:cNvSpPr>
            <p:nvPr/>
          </p:nvSpPr>
          <p:spPr bwMode="auto">
            <a:xfrm>
              <a:off x="6884841" y="2818809"/>
              <a:ext cx="630237"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685800" indent="-22860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00000"/>
                </a:lnSpc>
                <a:spcBef>
                  <a:spcPct val="0"/>
                </a:spcBef>
                <a:spcAft>
                  <a:spcPct val="0"/>
                </a:spcAft>
                <a:buClrTx/>
                <a:buSzTx/>
                <a:buFontTx/>
                <a:buNone/>
              </a:pPr>
              <a:r>
                <a:rPr lang="en-US" altLang="en-US" sz="600" b="0"/>
                <a:t>Reject Letter</a:t>
              </a:r>
            </a:p>
          </p:txBody>
        </p:sp>
        <p:sp>
          <p:nvSpPr>
            <p:cNvPr id="331" name="Rectangle 923">
              <a:extLst>
                <a:ext uri="{FF2B5EF4-FFF2-40B4-BE49-F238E27FC236}">
                  <a16:creationId xmlns:a16="http://schemas.microsoft.com/office/drawing/2014/main" id="{0CBD4F8C-9422-3391-4F1A-91FC227D54F4}"/>
                </a:ext>
              </a:extLst>
            </p:cNvPr>
            <p:cNvSpPr>
              <a:spLocks noChangeArrowheads="1"/>
            </p:cNvSpPr>
            <p:nvPr/>
          </p:nvSpPr>
          <p:spPr bwMode="auto">
            <a:xfrm>
              <a:off x="5297341" y="3077572"/>
              <a:ext cx="792162" cy="501650"/>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332" name="Group 924">
              <a:extLst>
                <a:ext uri="{FF2B5EF4-FFF2-40B4-BE49-F238E27FC236}">
                  <a16:creationId xmlns:a16="http://schemas.microsoft.com/office/drawing/2014/main" id="{20EDE18B-8CB6-868D-68BB-A719D2857D38}"/>
                </a:ext>
              </a:extLst>
            </p:cNvPr>
            <p:cNvGrpSpPr>
              <a:grpSpLocks/>
            </p:cNvGrpSpPr>
            <p:nvPr/>
          </p:nvGrpSpPr>
          <p:grpSpPr bwMode="auto">
            <a:xfrm flipV="1">
              <a:off x="5800578" y="3577634"/>
              <a:ext cx="547688" cy="487363"/>
              <a:chOff x="636" y="2054"/>
              <a:chExt cx="200" cy="298"/>
            </a:xfrm>
          </p:grpSpPr>
          <p:sp>
            <p:nvSpPr>
              <p:cNvPr id="333" name="Line 925">
                <a:extLst>
                  <a:ext uri="{FF2B5EF4-FFF2-40B4-BE49-F238E27FC236}">
                    <a16:creationId xmlns:a16="http://schemas.microsoft.com/office/drawing/2014/main" id="{9475A52D-7869-BB0F-2DA8-C3EEE9BF72EB}"/>
                  </a:ext>
                </a:extLst>
              </p:cNvPr>
              <p:cNvSpPr>
                <a:spLocks noChangeShapeType="1"/>
              </p:cNvSpPr>
              <p:nvPr/>
            </p:nvSpPr>
            <p:spPr bwMode="auto">
              <a:xfrm flipV="1">
                <a:off x="740" y="2054"/>
                <a:ext cx="96" cy="192"/>
              </a:xfrm>
              <a:prstGeom prst="line">
                <a:avLst/>
              </a:prstGeom>
              <a:noFill/>
              <a:ln w="12700" cap="sq">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34" name="Line 926">
                <a:extLst>
                  <a:ext uri="{FF2B5EF4-FFF2-40B4-BE49-F238E27FC236}">
                    <a16:creationId xmlns:a16="http://schemas.microsoft.com/office/drawing/2014/main" id="{D08C6BAE-0BD5-E251-F941-CF9C082D77B0}"/>
                  </a:ext>
                </a:extLst>
              </p:cNvPr>
              <p:cNvSpPr>
                <a:spLocks noChangeShapeType="1"/>
              </p:cNvSpPr>
              <p:nvPr/>
            </p:nvSpPr>
            <p:spPr bwMode="auto">
              <a:xfrm>
                <a:off x="732" y="2160"/>
                <a:ext cx="6" cy="90"/>
              </a:xfrm>
              <a:prstGeom prst="line">
                <a:avLst/>
              </a:prstGeom>
              <a:noFill/>
              <a:ln w="12700" cap="sq">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35" name="Line 927">
                <a:extLst>
                  <a:ext uri="{FF2B5EF4-FFF2-40B4-BE49-F238E27FC236}">
                    <a16:creationId xmlns:a16="http://schemas.microsoft.com/office/drawing/2014/main" id="{8238D6C3-9391-C6F6-4FE3-05466D791EA2}"/>
                  </a:ext>
                </a:extLst>
              </p:cNvPr>
              <p:cNvSpPr>
                <a:spLocks noChangeShapeType="1"/>
              </p:cNvSpPr>
              <p:nvPr/>
            </p:nvSpPr>
            <p:spPr bwMode="auto">
              <a:xfrm flipV="1">
                <a:off x="636" y="2160"/>
                <a:ext cx="96" cy="192"/>
              </a:xfrm>
              <a:prstGeom prst="line">
                <a:avLst/>
              </a:prstGeom>
              <a:noFill/>
              <a:ln w="12700" cap="sq">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336" name="Rectangle 928">
              <a:extLst>
                <a:ext uri="{FF2B5EF4-FFF2-40B4-BE49-F238E27FC236}">
                  <a16:creationId xmlns:a16="http://schemas.microsoft.com/office/drawing/2014/main" id="{10B3C5CE-099F-7403-5969-D763D5E61949}"/>
                </a:ext>
              </a:extLst>
            </p:cNvPr>
            <p:cNvSpPr>
              <a:spLocks noChangeArrowheads="1"/>
            </p:cNvSpPr>
            <p:nvPr/>
          </p:nvSpPr>
          <p:spPr bwMode="auto">
            <a:xfrm>
              <a:off x="5062391" y="3091859"/>
              <a:ext cx="1249362"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600">
                  <a:cs typeface="Arial" panose="020B0604020202020204" pitchFamily="34" charset="0"/>
                </a:rPr>
                <a:t>Central Data Base</a:t>
              </a:r>
            </a:p>
          </p:txBody>
        </p:sp>
        <p:grpSp>
          <p:nvGrpSpPr>
            <p:cNvPr id="337" name="Group 929">
              <a:extLst>
                <a:ext uri="{FF2B5EF4-FFF2-40B4-BE49-F238E27FC236}">
                  <a16:creationId xmlns:a16="http://schemas.microsoft.com/office/drawing/2014/main" id="{6CE911AD-814B-8DAE-FCE0-11CFEE691FDC}"/>
                </a:ext>
              </a:extLst>
            </p:cNvPr>
            <p:cNvGrpSpPr>
              <a:grpSpLocks/>
            </p:cNvGrpSpPr>
            <p:nvPr/>
          </p:nvGrpSpPr>
          <p:grpSpPr bwMode="auto">
            <a:xfrm>
              <a:off x="5110016" y="3590334"/>
              <a:ext cx="509587" cy="487363"/>
              <a:chOff x="636" y="2054"/>
              <a:chExt cx="200" cy="298"/>
            </a:xfrm>
          </p:grpSpPr>
          <p:sp>
            <p:nvSpPr>
              <p:cNvPr id="338" name="Line 930">
                <a:extLst>
                  <a:ext uri="{FF2B5EF4-FFF2-40B4-BE49-F238E27FC236}">
                    <a16:creationId xmlns:a16="http://schemas.microsoft.com/office/drawing/2014/main" id="{325BF7C1-B2D2-6F10-89EF-10BC99841A7E}"/>
                  </a:ext>
                </a:extLst>
              </p:cNvPr>
              <p:cNvSpPr>
                <a:spLocks noChangeShapeType="1"/>
              </p:cNvSpPr>
              <p:nvPr/>
            </p:nvSpPr>
            <p:spPr bwMode="auto">
              <a:xfrm flipV="1">
                <a:off x="740" y="2054"/>
                <a:ext cx="96" cy="192"/>
              </a:xfrm>
              <a:prstGeom prst="line">
                <a:avLst/>
              </a:prstGeom>
              <a:noFill/>
              <a:ln w="12700" cap="sq">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39" name="Line 931">
                <a:extLst>
                  <a:ext uri="{FF2B5EF4-FFF2-40B4-BE49-F238E27FC236}">
                    <a16:creationId xmlns:a16="http://schemas.microsoft.com/office/drawing/2014/main" id="{C5748169-EE5B-BC37-63D2-1222561425E7}"/>
                  </a:ext>
                </a:extLst>
              </p:cNvPr>
              <p:cNvSpPr>
                <a:spLocks noChangeShapeType="1"/>
              </p:cNvSpPr>
              <p:nvPr/>
            </p:nvSpPr>
            <p:spPr bwMode="auto">
              <a:xfrm>
                <a:off x="732" y="2160"/>
                <a:ext cx="6" cy="90"/>
              </a:xfrm>
              <a:prstGeom prst="line">
                <a:avLst/>
              </a:prstGeom>
              <a:noFill/>
              <a:ln w="12700" cap="sq">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40" name="Line 932">
                <a:extLst>
                  <a:ext uri="{FF2B5EF4-FFF2-40B4-BE49-F238E27FC236}">
                    <a16:creationId xmlns:a16="http://schemas.microsoft.com/office/drawing/2014/main" id="{CB4E4C33-FCDB-3392-5A13-4F936E7B0ECC}"/>
                  </a:ext>
                </a:extLst>
              </p:cNvPr>
              <p:cNvSpPr>
                <a:spLocks noChangeShapeType="1"/>
              </p:cNvSpPr>
              <p:nvPr/>
            </p:nvSpPr>
            <p:spPr bwMode="auto">
              <a:xfrm flipV="1">
                <a:off x="636" y="2160"/>
                <a:ext cx="96" cy="192"/>
              </a:xfrm>
              <a:prstGeom prst="line">
                <a:avLst/>
              </a:prstGeom>
              <a:noFill/>
              <a:ln w="12700" cap="sq">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341" name="Rectangle 933">
              <a:extLst>
                <a:ext uri="{FF2B5EF4-FFF2-40B4-BE49-F238E27FC236}">
                  <a16:creationId xmlns:a16="http://schemas.microsoft.com/office/drawing/2014/main" id="{23474039-46AF-EC8E-FAD2-53CA7A4A7C19}"/>
                </a:ext>
              </a:extLst>
            </p:cNvPr>
            <p:cNvSpPr>
              <a:spLocks noChangeArrowheads="1"/>
            </p:cNvSpPr>
            <p:nvPr/>
          </p:nvSpPr>
          <p:spPr bwMode="auto">
            <a:xfrm>
              <a:off x="5100491" y="3383959"/>
              <a:ext cx="1173162"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600" b="0">
                  <a:cs typeface="Arial" panose="020B0604020202020204" pitchFamily="34" charset="0"/>
                </a:rPr>
                <a:t>Credit Check</a:t>
              </a:r>
            </a:p>
          </p:txBody>
        </p:sp>
        <p:grpSp>
          <p:nvGrpSpPr>
            <p:cNvPr id="342" name="Group 934">
              <a:extLst>
                <a:ext uri="{FF2B5EF4-FFF2-40B4-BE49-F238E27FC236}">
                  <a16:creationId xmlns:a16="http://schemas.microsoft.com/office/drawing/2014/main" id="{90D5954B-6C43-ADB4-EA05-D050176F3243}"/>
                </a:ext>
              </a:extLst>
            </p:cNvPr>
            <p:cNvGrpSpPr>
              <a:grpSpLocks/>
            </p:cNvGrpSpPr>
            <p:nvPr/>
          </p:nvGrpSpPr>
          <p:grpSpPr bwMode="auto">
            <a:xfrm>
              <a:off x="6105378" y="2899772"/>
              <a:ext cx="865188" cy="334962"/>
              <a:chOff x="636" y="2054"/>
              <a:chExt cx="200" cy="298"/>
            </a:xfrm>
          </p:grpSpPr>
          <p:sp>
            <p:nvSpPr>
              <p:cNvPr id="343" name="Line 935">
                <a:extLst>
                  <a:ext uri="{FF2B5EF4-FFF2-40B4-BE49-F238E27FC236}">
                    <a16:creationId xmlns:a16="http://schemas.microsoft.com/office/drawing/2014/main" id="{BE0E0FDA-2AF2-ECBC-71A7-D868A7494891}"/>
                  </a:ext>
                </a:extLst>
              </p:cNvPr>
              <p:cNvSpPr>
                <a:spLocks noChangeShapeType="1"/>
              </p:cNvSpPr>
              <p:nvPr/>
            </p:nvSpPr>
            <p:spPr bwMode="auto">
              <a:xfrm flipV="1">
                <a:off x="740" y="2054"/>
                <a:ext cx="96" cy="192"/>
              </a:xfrm>
              <a:prstGeom prst="line">
                <a:avLst/>
              </a:prstGeom>
              <a:noFill/>
              <a:ln w="12700" cap="sq">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44" name="Line 936">
                <a:extLst>
                  <a:ext uri="{FF2B5EF4-FFF2-40B4-BE49-F238E27FC236}">
                    <a16:creationId xmlns:a16="http://schemas.microsoft.com/office/drawing/2014/main" id="{ABA7F72A-E04D-102C-FFDB-B48D1CBF0F89}"/>
                  </a:ext>
                </a:extLst>
              </p:cNvPr>
              <p:cNvSpPr>
                <a:spLocks noChangeShapeType="1"/>
              </p:cNvSpPr>
              <p:nvPr/>
            </p:nvSpPr>
            <p:spPr bwMode="auto">
              <a:xfrm>
                <a:off x="732" y="2160"/>
                <a:ext cx="6" cy="90"/>
              </a:xfrm>
              <a:prstGeom prst="line">
                <a:avLst/>
              </a:prstGeom>
              <a:noFill/>
              <a:ln w="12700" cap="sq">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45" name="Line 937">
                <a:extLst>
                  <a:ext uri="{FF2B5EF4-FFF2-40B4-BE49-F238E27FC236}">
                    <a16:creationId xmlns:a16="http://schemas.microsoft.com/office/drawing/2014/main" id="{541BBA90-D71F-EE43-AC4F-030229B63636}"/>
                  </a:ext>
                </a:extLst>
              </p:cNvPr>
              <p:cNvSpPr>
                <a:spLocks noChangeShapeType="1"/>
              </p:cNvSpPr>
              <p:nvPr/>
            </p:nvSpPr>
            <p:spPr bwMode="auto">
              <a:xfrm flipV="1">
                <a:off x="636" y="2160"/>
                <a:ext cx="96" cy="192"/>
              </a:xfrm>
              <a:prstGeom prst="line">
                <a:avLst/>
              </a:prstGeom>
              <a:noFill/>
              <a:ln w="12700" cap="sq">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346" name="Group 938">
              <a:extLst>
                <a:ext uri="{FF2B5EF4-FFF2-40B4-BE49-F238E27FC236}">
                  <a16:creationId xmlns:a16="http://schemas.microsoft.com/office/drawing/2014/main" id="{B5D6BC8A-C7DA-C16C-159B-671E501EBEF6}"/>
                </a:ext>
              </a:extLst>
            </p:cNvPr>
            <p:cNvGrpSpPr>
              <a:grpSpLocks/>
            </p:cNvGrpSpPr>
            <p:nvPr/>
          </p:nvGrpSpPr>
          <p:grpSpPr bwMode="auto">
            <a:xfrm>
              <a:off x="7451578" y="2912472"/>
              <a:ext cx="1963738" cy="1146175"/>
              <a:chOff x="3850" y="1857"/>
              <a:chExt cx="1237" cy="722"/>
            </a:xfrm>
          </p:grpSpPr>
          <p:sp>
            <p:nvSpPr>
              <p:cNvPr id="347" name="Line 939">
                <a:extLst>
                  <a:ext uri="{FF2B5EF4-FFF2-40B4-BE49-F238E27FC236}">
                    <a16:creationId xmlns:a16="http://schemas.microsoft.com/office/drawing/2014/main" id="{C611D7EC-1FF3-C843-7231-A1744226E1A2}"/>
                  </a:ext>
                </a:extLst>
              </p:cNvPr>
              <p:cNvSpPr>
                <a:spLocks noChangeShapeType="1"/>
              </p:cNvSpPr>
              <p:nvPr/>
            </p:nvSpPr>
            <p:spPr bwMode="auto">
              <a:xfrm>
                <a:off x="4469" y="2157"/>
                <a:ext cx="618" cy="422"/>
              </a:xfrm>
              <a:prstGeom prst="line">
                <a:avLst/>
              </a:prstGeom>
              <a:noFill/>
              <a:ln w="12700" cap="sq">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48" name="Line 940">
                <a:extLst>
                  <a:ext uri="{FF2B5EF4-FFF2-40B4-BE49-F238E27FC236}">
                    <a16:creationId xmlns:a16="http://schemas.microsoft.com/office/drawing/2014/main" id="{8F1AEEBC-AD0F-8D5E-11C0-558DBA638B82}"/>
                  </a:ext>
                </a:extLst>
              </p:cNvPr>
              <p:cNvSpPr>
                <a:spLocks noChangeShapeType="1"/>
              </p:cNvSpPr>
              <p:nvPr/>
            </p:nvSpPr>
            <p:spPr bwMode="auto">
              <a:xfrm flipV="1">
                <a:off x="4472" y="2157"/>
                <a:ext cx="168" cy="0"/>
              </a:xfrm>
              <a:prstGeom prst="line">
                <a:avLst/>
              </a:prstGeom>
              <a:noFill/>
              <a:ln w="12700" cap="sq">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49" name="Line 941">
                <a:extLst>
                  <a:ext uri="{FF2B5EF4-FFF2-40B4-BE49-F238E27FC236}">
                    <a16:creationId xmlns:a16="http://schemas.microsoft.com/office/drawing/2014/main" id="{E18307E7-C503-F2AB-D85B-8041B9E22459}"/>
                  </a:ext>
                </a:extLst>
              </p:cNvPr>
              <p:cNvSpPr>
                <a:spLocks noChangeShapeType="1"/>
              </p:cNvSpPr>
              <p:nvPr/>
            </p:nvSpPr>
            <p:spPr bwMode="auto">
              <a:xfrm>
                <a:off x="3850" y="1857"/>
                <a:ext cx="795" cy="300"/>
              </a:xfrm>
              <a:prstGeom prst="line">
                <a:avLst/>
              </a:prstGeom>
              <a:noFill/>
              <a:ln w="12700" cap="sq">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sp>
        <p:nvSpPr>
          <p:cNvPr id="2" name="TextBox 1">
            <a:extLst>
              <a:ext uri="{FF2B5EF4-FFF2-40B4-BE49-F238E27FC236}">
                <a16:creationId xmlns:a16="http://schemas.microsoft.com/office/drawing/2014/main" id="{AF0866F9-0836-606E-5F69-06C1561C105D}"/>
              </a:ext>
            </a:extLst>
          </p:cNvPr>
          <p:cNvSpPr txBox="1"/>
          <p:nvPr/>
        </p:nvSpPr>
        <p:spPr>
          <a:xfrm>
            <a:off x="2603143" y="291161"/>
            <a:ext cx="2917371" cy="307777"/>
          </a:xfrm>
          <a:prstGeom prst="rect">
            <a:avLst/>
          </a:prstGeom>
          <a:noFill/>
        </p:spPr>
        <p:txBody>
          <a:bodyPr wrap="square" rtlCol="0">
            <a:spAutoFit/>
          </a:bodyPr>
          <a:lstStyle/>
          <a:p>
            <a:r>
              <a:rPr lang="en-US" sz="14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Interrogating the Current State</a:t>
            </a:r>
          </a:p>
        </p:txBody>
      </p:sp>
      <p:sp>
        <p:nvSpPr>
          <p:cNvPr id="352" name="AutoShape 9">
            <a:extLst>
              <a:ext uri="{FF2B5EF4-FFF2-40B4-BE49-F238E27FC236}">
                <a16:creationId xmlns:a16="http://schemas.microsoft.com/office/drawing/2014/main" id="{67FCF89C-9B4F-0563-23BA-B7C4CF705A27}"/>
              </a:ext>
            </a:extLst>
          </p:cNvPr>
          <p:cNvSpPr>
            <a:spLocks noChangeArrowheads="1"/>
          </p:cNvSpPr>
          <p:nvPr/>
        </p:nvSpPr>
        <p:spPr bwMode="auto">
          <a:xfrm>
            <a:off x="2101274"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53" name="AutoShape 9">
            <a:extLst>
              <a:ext uri="{FF2B5EF4-FFF2-40B4-BE49-F238E27FC236}">
                <a16:creationId xmlns:a16="http://schemas.microsoft.com/office/drawing/2014/main" id="{DBF516D1-E56A-D666-D720-8990470E44C3}"/>
              </a:ext>
            </a:extLst>
          </p:cNvPr>
          <p:cNvSpPr>
            <a:spLocks noChangeArrowheads="1"/>
          </p:cNvSpPr>
          <p:nvPr/>
        </p:nvSpPr>
        <p:spPr bwMode="auto">
          <a:xfrm>
            <a:off x="1796474"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54" name="AutoShape 9">
            <a:extLst>
              <a:ext uri="{FF2B5EF4-FFF2-40B4-BE49-F238E27FC236}">
                <a16:creationId xmlns:a16="http://schemas.microsoft.com/office/drawing/2014/main" id="{090ABE1D-2B05-269E-363C-C7BF24BA69E0}"/>
              </a:ext>
            </a:extLst>
          </p:cNvPr>
          <p:cNvSpPr>
            <a:spLocks noChangeArrowheads="1"/>
          </p:cNvSpPr>
          <p:nvPr/>
        </p:nvSpPr>
        <p:spPr bwMode="auto">
          <a:xfrm>
            <a:off x="1465549" y="291161"/>
            <a:ext cx="432817" cy="305738"/>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55" name="AutoShape 11">
            <a:extLst>
              <a:ext uri="{FF2B5EF4-FFF2-40B4-BE49-F238E27FC236}">
                <a16:creationId xmlns:a16="http://schemas.microsoft.com/office/drawing/2014/main" id="{86190800-00AC-557C-7A66-EE10C1B3B694}"/>
              </a:ext>
            </a:extLst>
          </p:cNvPr>
          <p:cNvSpPr>
            <a:spLocks noChangeArrowheads="1"/>
          </p:cNvSpPr>
          <p:nvPr/>
        </p:nvSpPr>
        <p:spPr bwMode="auto">
          <a:xfrm>
            <a:off x="1134084" y="291162"/>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56" name="AutoShape 10">
            <a:extLst>
              <a:ext uri="{FF2B5EF4-FFF2-40B4-BE49-F238E27FC236}">
                <a16:creationId xmlns:a16="http://schemas.microsoft.com/office/drawing/2014/main" id="{9FE5F15F-67DF-981E-5E5B-3005239BA873}"/>
              </a:ext>
            </a:extLst>
          </p:cNvPr>
          <p:cNvSpPr>
            <a:spLocks noChangeArrowheads="1"/>
          </p:cNvSpPr>
          <p:nvPr/>
        </p:nvSpPr>
        <p:spPr bwMode="auto">
          <a:xfrm>
            <a:off x="838199"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57" name="Slide Number Placeholder 2">
            <a:extLst>
              <a:ext uri="{FF2B5EF4-FFF2-40B4-BE49-F238E27FC236}">
                <a16:creationId xmlns:a16="http://schemas.microsoft.com/office/drawing/2014/main" id="{73CD7E39-79D0-FA30-60E5-72C6681CE336}"/>
              </a:ext>
            </a:extLst>
          </p:cNvPr>
          <p:cNvSpPr txBox="1">
            <a:spLocks/>
          </p:cNvSpPr>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11</a:t>
            </a:fld>
            <a:endParaRPr lang="en-US" dirty="0"/>
          </a:p>
        </p:txBody>
      </p:sp>
    </p:spTree>
    <p:extLst>
      <p:ext uri="{BB962C8B-B14F-4D97-AF65-F5344CB8AC3E}">
        <p14:creationId xmlns:p14="http://schemas.microsoft.com/office/powerpoint/2010/main" val="19630588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52992F-1E41-CEF5-67CE-D2E60DC42BF8}"/>
              </a:ext>
            </a:extLst>
          </p:cNvPr>
          <p:cNvSpPr>
            <a:spLocks noGrp="1"/>
          </p:cNvSpPr>
          <p:nvPr>
            <p:ph type="title"/>
          </p:nvPr>
        </p:nvSpPr>
        <p:spPr/>
        <p:txBody>
          <a:bodyPr/>
          <a:lstStyle/>
          <a:p>
            <a:r>
              <a:rPr lang="en-US" altLang="en-US" dirty="0"/>
              <a:t>Exercise: Carl’s Credit Cards</a:t>
            </a:r>
            <a:endParaRPr lang="en-US" dirty="0"/>
          </a:p>
        </p:txBody>
      </p:sp>
      <p:sp>
        <p:nvSpPr>
          <p:cNvPr id="4" name="Rectangle 3">
            <a:extLst>
              <a:ext uri="{FF2B5EF4-FFF2-40B4-BE49-F238E27FC236}">
                <a16:creationId xmlns:a16="http://schemas.microsoft.com/office/drawing/2014/main" id="{817E7460-1035-4C22-7769-B814F2BA6497}"/>
              </a:ext>
            </a:extLst>
          </p:cNvPr>
          <p:cNvSpPr>
            <a:spLocks noChangeArrowheads="1"/>
          </p:cNvSpPr>
          <p:nvPr/>
        </p:nvSpPr>
        <p:spPr bwMode="auto">
          <a:xfrm>
            <a:off x="6462712" y="4645026"/>
            <a:ext cx="4227096" cy="1676400"/>
          </a:xfrm>
          <a:prstGeom prst="rect">
            <a:avLst/>
          </a:prstGeom>
          <a:solidFill>
            <a:srgbClr val="EE3228"/>
          </a:solidFill>
          <a:ln w="19050" cap="rnd" algn="ctr">
            <a:solidFill>
              <a:schemeClr val="tx1"/>
            </a:solidFill>
            <a:prstDash val="sysDot"/>
            <a:miter lim="800000"/>
            <a:headEnd/>
            <a:tailEnd/>
          </a:ln>
          <a:effec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00000"/>
              </a:lnSpc>
              <a:spcBef>
                <a:spcPct val="30000"/>
              </a:spcBef>
              <a:spcAft>
                <a:spcPct val="0"/>
              </a:spcAft>
              <a:buClrTx/>
              <a:buSzTx/>
              <a:buFontTx/>
              <a:buNone/>
            </a:pPr>
            <a:r>
              <a:rPr lang="en-US" altLang="en-US" sz="1600" dirty="0">
                <a:solidFill>
                  <a:schemeClr val="bg1"/>
                </a:solidFill>
              </a:rPr>
              <a:t>One person from the </a:t>
            </a:r>
            <a:br>
              <a:rPr lang="en-US" altLang="en-US" sz="1600" dirty="0">
                <a:solidFill>
                  <a:schemeClr val="bg1"/>
                </a:solidFill>
              </a:rPr>
            </a:br>
            <a:r>
              <a:rPr lang="en-US" altLang="en-US" sz="1600" dirty="0">
                <a:solidFill>
                  <a:schemeClr val="bg1"/>
                </a:solidFill>
              </a:rPr>
              <a:t>team will present the </a:t>
            </a:r>
            <a:br>
              <a:rPr lang="en-US" altLang="en-US" sz="1600" dirty="0">
                <a:solidFill>
                  <a:schemeClr val="bg1"/>
                </a:solidFill>
              </a:rPr>
            </a:br>
            <a:r>
              <a:rPr lang="en-US" altLang="en-US" sz="1600" dirty="0">
                <a:solidFill>
                  <a:schemeClr val="bg1"/>
                </a:solidFill>
              </a:rPr>
              <a:t>map to the class. </a:t>
            </a:r>
          </a:p>
          <a:p>
            <a:pPr>
              <a:lnSpc>
                <a:spcPct val="100000"/>
              </a:lnSpc>
              <a:spcBef>
                <a:spcPct val="30000"/>
              </a:spcBef>
              <a:spcAft>
                <a:spcPct val="0"/>
              </a:spcAft>
              <a:buClrTx/>
              <a:buSzTx/>
              <a:buFontTx/>
              <a:buNone/>
            </a:pPr>
            <a:r>
              <a:rPr lang="en-US" altLang="en-US" sz="1600" dirty="0">
                <a:solidFill>
                  <a:schemeClr val="bg1"/>
                </a:solidFill>
              </a:rPr>
              <a:t>Comments and feedback </a:t>
            </a:r>
            <a:br>
              <a:rPr lang="en-US" altLang="en-US" sz="1600" dirty="0">
                <a:solidFill>
                  <a:schemeClr val="bg1"/>
                </a:solidFill>
              </a:rPr>
            </a:br>
            <a:r>
              <a:rPr lang="en-US" altLang="en-US" sz="1600" dirty="0">
                <a:solidFill>
                  <a:schemeClr val="bg1"/>
                </a:solidFill>
              </a:rPr>
              <a:t>will be encouraged.</a:t>
            </a:r>
          </a:p>
        </p:txBody>
      </p:sp>
      <p:sp>
        <p:nvSpPr>
          <p:cNvPr id="5" name="Rectangle 4">
            <a:extLst>
              <a:ext uri="{FF2B5EF4-FFF2-40B4-BE49-F238E27FC236}">
                <a16:creationId xmlns:a16="http://schemas.microsoft.com/office/drawing/2014/main" id="{B51FD39D-263A-552C-C0B6-A84EF31A044C}"/>
              </a:ext>
            </a:extLst>
          </p:cNvPr>
          <p:cNvSpPr>
            <a:spLocks noChangeArrowheads="1"/>
          </p:cNvSpPr>
          <p:nvPr/>
        </p:nvSpPr>
        <p:spPr bwMode="auto">
          <a:xfrm>
            <a:off x="6462712" y="3492501"/>
            <a:ext cx="4203712" cy="474662"/>
          </a:xfrm>
          <a:prstGeom prst="rect">
            <a:avLst/>
          </a:prstGeom>
          <a:solidFill>
            <a:srgbClr val="EE3228"/>
          </a:solidFill>
          <a:ln w="19050" cap="rnd" algn="ctr">
            <a:solidFill>
              <a:schemeClr val="tx1"/>
            </a:solidFill>
            <a:prstDash val="sysDot"/>
            <a:miter lim="800000"/>
            <a:headEnd/>
            <a:tailEnd/>
          </a:ln>
          <a:effec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80000"/>
              </a:lnSpc>
              <a:spcBef>
                <a:spcPct val="20000"/>
              </a:spcBef>
              <a:spcAft>
                <a:spcPct val="0"/>
              </a:spcAft>
              <a:buClrTx/>
              <a:buSzTx/>
              <a:buFontTx/>
              <a:buNone/>
            </a:pPr>
            <a:r>
              <a:rPr lang="en-US" altLang="en-US" sz="1600" dirty="0">
                <a:solidFill>
                  <a:schemeClr val="bg1"/>
                </a:solidFill>
              </a:rPr>
              <a:t>40 minutes</a:t>
            </a:r>
          </a:p>
        </p:txBody>
      </p:sp>
      <p:sp>
        <p:nvSpPr>
          <p:cNvPr id="6" name="Rectangle 5">
            <a:extLst>
              <a:ext uri="{FF2B5EF4-FFF2-40B4-BE49-F238E27FC236}">
                <a16:creationId xmlns:a16="http://schemas.microsoft.com/office/drawing/2014/main" id="{4BDB7BE8-E27F-04CF-1975-A8AD3D66A2B3}"/>
              </a:ext>
            </a:extLst>
          </p:cNvPr>
          <p:cNvSpPr>
            <a:spLocks noChangeArrowheads="1"/>
          </p:cNvSpPr>
          <p:nvPr/>
        </p:nvSpPr>
        <p:spPr bwMode="auto">
          <a:xfrm>
            <a:off x="844550" y="3468688"/>
            <a:ext cx="5251450" cy="2863850"/>
          </a:xfrm>
          <a:prstGeom prst="rect">
            <a:avLst/>
          </a:prstGeom>
          <a:solidFill>
            <a:srgbClr val="7F7F7F"/>
          </a:solidFill>
          <a:ln w="19050" cap="rnd" algn="ctr">
            <a:solidFill>
              <a:schemeClr val="tx1"/>
            </a:solidFill>
            <a:prstDash val="sysDot"/>
            <a:miter lim="800000"/>
            <a:headEnd/>
            <a:tailEnd/>
          </a:ln>
          <a:effectLst/>
        </p:spPr>
        <p:txBody>
          <a:bodyPr wrap="none" anchor="ctr"/>
          <a:lstStyle>
            <a:lvl1pPr marL="231775" indent="-231775">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685800" indent="-22860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00000"/>
              </a:lnSpc>
              <a:spcBef>
                <a:spcPct val="20000"/>
              </a:spcBef>
              <a:spcAft>
                <a:spcPct val="20000"/>
              </a:spcAft>
              <a:buClrTx/>
              <a:buSzTx/>
              <a:buFontTx/>
              <a:buNone/>
            </a:pP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Break into your designated groups.</a:t>
            </a:r>
          </a:p>
          <a:p>
            <a:pPr>
              <a:lnSpc>
                <a:spcPct val="100000"/>
              </a:lnSpc>
              <a:spcBef>
                <a:spcPct val="20000"/>
              </a:spcBef>
              <a:spcAft>
                <a:spcPct val="20000"/>
              </a:spcAft>
              <a:buClrTx/>
              <a:buSzTx/>
              <a:buFontTx/>
              <a:buNone/>
            </a:pPr>
            <a:endPar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endParaRPr>
          </a:p>
          <a:p>
            <a:pPr>
              <a:lnSpc>
                <a:spcPct val="100000"/>
              </a:lnSpc>
              <a:spcBef>
                <a:spcPct val="20000"/>
              </a:spcBef>
              <a:spcAft>
                <a:spcPct val="20000"/>
              </a:spcAft>
              <a:buClrTx/>
              <a:buSzTx/>
              <a:buFontTx/>
              <a:buNone/>
            </a:pP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Following the steps required to create a Future State</a:t>
            </a:r>
            <a:b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Map, create a Future State Map for Carl’s Credit Cards.</a:t>
            </a:r>
          </a:p>
          <a:p>
            <a:pPr>
              <a:lnSpc>
                <a:spcPct val="100000"/>
              </a:lnSpc>
              <a:spcBef>
                <a:spcPct val="20000"/>
              </a:spcBef>
              <a:spcAft>
                <a:spcPct val="20000"/>
              </a:spcAft>
              <a:buClrTx/>
              <a:buSzTx/>
              <a:buFontTx/>
              <a:buNone/>
            </a:pP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Also, develop a Value Stream implementation plan. </a:t>
            </a:r>
          </a:p>
          <a:p>
            <a:pPr>
              <a:lnSpc>
                <a:spcPct val="100000"/>
              </a:lnSpc>
              <a:spcBef>
                <a:spcPct val="20000"/>
              </a:spcBef>
              <a:spcAft>
                <a:spcPct val="20000"/>
              </a:spcAft>
              <a:buClrTx/>
              <a:buSzTx/>
              <a:buFontTx/>
              <a:buNone/>
            </a:pPr>
            <a:endPar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endParaRPr>
          </a:p>
          <a:p>
            <a:pPr>
              <a:lnSpc>
                <a:spcPct val="100000"/>
              </a:lnSpc>
              <a:spcBef>
                <a:spcPct val="20000"/>
              </a:spcBef>
              <a:spcAft>
                <a:spcPct val="20000"/>
              </a:spcAft>
              <a:buClrTx/>
              <a:buSzTx/>
              <a:buFontTx/>
              <a:buNone/>
            </a:pP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Be prepared to discuss the though process used to create your</a:t>
            </a:r>
            <a:b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chosen Future State model and the representative</a:t>
            </a:r>
            <a:b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implementation plan. </a:t>
            </a:r>
            <a:endPar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 name="Rectangle 6">
            <a:extLst>
              <a:ext uri="{FF2B5EF4-FFF2-40B4-BE49-F238E27FC236}">
                <a16:creationId xmlns:a16="http://schemas.microsoft.com/office/drawing/2014/main" id="{A63530FE-71DE-A1B7-FCDB-BA69328B5589}"/>
              </a:ext>
            </a:extLst>
          </p:cNvPr>
          <p:cNvSpPr>
            <a:spLocks noChangeArrowheads="1"/>
          </p:cNvSpPr>
          <p:nvPr/>
        </p:nvSpPr>
        <p:spPr bwMode="auto">
          <a:xfrm>
            <a:off x="838199" y="2149476"/>
            <a:ext cx="9851609" cy="723900"/>
          </a:xfrm>
          <a:prstGeom prst="rect">
            <a:avLst/>
          </a:prstGeom>
          <a:solidFill>
            <a:schemeClr val="accent1"/>
          </a:solidFill>
          <a:ln w="19050" cap="rnd" algn="ctr">
            <a:solidFill>
              <a:schemeClr val="tx1"/>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spcBef>
                <a:spcPct val="20000"/>
              </a:spcBef>
              <a:spcAft>
                <a:spcPct val="20000"/>
              </a:spcAft>
              <a:buClrTx/>
              <a:buSzTx/>
              <a:buFontTx/>
              <a:buNone/>
            </a:pPr>
            <a:r>
              <a:rPr lang="en-US" altLang="en-US" sz="1600" dirty="0">
                <a:solidFill>
                  <a:schemeClr val="bg1"/>
                </a:solidFill>
              </a:rPr>
              <a:t>Create a Future State Map and Implementation Plan for Carl’s Credit Cards.</a:t>
            </a:r>
          </a:p>
        </p:txBody>
      </p:sp>
      <p:sp>
        <p:nvSpPr>
          <p:cNvPr id="8" name="Text Box 7">
            <a:extLst>
              <a:ext uri="{FF2B5EF4-FFF2-40B4-BE49-F238E27FC236}">
                <a16:creationId xmlns:a16="http://schemas.microsoft.com/office/drawing/2014/main" id="{EF3BE886-338F-BFBE-77FF-982D0D084271}"/>
              </a:ext>
            </a:extLst>
          </p:cNvPr>
          <p:cNvSpPr txBox="1">
            <a:spLocks noChangeArrowheads="1"/>
          </p:cNvSpPr>
          <p:nvPr/>
        </p:nvSpPr>
        <p:spPr bwMode="auto">
          <a:xfrm>
            <a:off x="882650" y="1863726"/>
            <a:ext cx="1212850" cy="311150"/>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80000"/>
              </a:lnSpc>
              <a:spcBef>
                <a:spcPct val="20000"/>
              </a:spcBef>
              <a:spcAft>
                <a:spcPct val="0"/>
              </a:spcAft>
              <a:buClrTx/>
              <a:buSzTx/>
              <a:buFontTx/>
              <a:buNone/>
            </a:pPr>
            <a:r>
              <a:rPr lang="en-US" altLang="en-US" sz="1800" dirty="0"/>
              <a:t>Objective</a:t>
            </a:r>
          </a:p>
        </p:txBody>
      </p:sp>
      <p:sp>
        <p:nvSpPr>
          <p:cNvPr id="9" name="Text Box 8">
            <a:extLst>
              <a:ext uri="{FF2B5EF4-FFF2-40B4-BE49-F238E27FC236}">
                <a16:creationId xmlns:a16="http://schemas.microsoft.com/office/drawing/2014/main" id="{389DAB7E-FA3B-9841-EDB2-F26EB4D97428}"/>
              </a:ext>
            </a:extLst>
          </p:cNvPr>
          <p:cNvSpPr txBox="1">
            <a:spLocks noChangeArrowheads="1"/>
          </p:cNvSpPr>
          <p:nvPr/>
        </p:nvSpPr>
        <p:spPr bwMode="auto">
          <a:xfrm>
            <a:off x="892175" y="3003551"/>
            <a:ext cx="1492250" cy="311150"/>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80000"/>
              </a:lnSpc>
              <a:spcBef>
                <a:spcPct val="20000"/>
              </a:spcBef>
              <a:spcAft>
                <a:spcPct val="0"/>
              </a:spcAft>
              <a:buClrTx/>
              <a:buSzTx/>
              <a:buFontTx/>
              <a:buNone/>
            </a:pPr>
            <a:r>
              <a:rPr lang="en-US" altLang="en-US" sz="1800" dirty="0"/>
              <a:t>Instructions</a:t>
            </a:r>
          </a:p>
        </p:txBody>
      </p:sp>
      <p:sp>
        <p:nvSpPr>
          <p:cNvPr id="10" name="Text Box 9">
            <a:extLst>
              <a:ext uri="{FF2B5EF4-FFF2-40B4-BE49-F238E27FC236}">
                <a16:creationId xmlns:a16="http://schemas.microsoft.com/office/drawing/2014/main" id="{F33480A6-5E21-C381-FFB4-95170A7F6F16}"/>
              </a:ext>
            </a:extLst>
          </p:cNvPr>
          <p:cNvSpPr txBox="1">
            <a:spLocks noChangeArrowheads="1"/>
          </p:cNvSpPr>
          <p:nvPr/>
        </p:nvSpPr>
        <p:spPr bwMode="auto">
          <a:xfrm>
            <a:off x="6429375" y="3194051"/>
            <a:ext cx="2101850" cy="311150"/>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80000"/>
              </a:lnSpc>
              <a:spcBef>
                <a:spcPct val="20000"/>
              </a:spcBef>
              <a:spcAft>
                <a:spcPct val="0"/>
              </a:spcAft>
              <a:buClrTx/>
              <a:buSzTx/>
              <a:buFontTx/>
              <a:buNone/>
            </a:pPr>
            <a:r>
              <a:rPr lang="en-US" altLang="en-US" sz="1800"/>
              <a:t>Time to Complete</a:t>
            </a:r>
          </a:p>
        </p:txBody>
      </p:sp>
      <p:sp>
        <p:nvSpPr>
          <p:cNvPr id="11" name="Text Box 10">
            <a:extLst>
              <a:ext uri="{FF2B5EF4-FFF2-40B4-BE49-F238E27FC236}">
                <a16:creationId xmlns:a16="http://schemas.microsoft.com/office/drawing/2014/main" id="{799CFD03-552B-4F63-58FC-6598DCAAED83}"/>
              </a:ext>
            </a:extLst>
          </p:cNvPr>
          <p:cNvSpPr txBox="1">
            <a:spLocks noChangeArrowheads="1"/>
          </p:cNvSpPr>
          <p:nvPr/>
        </p:nvSpPr>
        <p:spPr bwMode="auto">
          <a:xfrm>
            <a:off x="6465887" y="4362451"/>
            <a:ext cx="1403350" cy="311150"/>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80000"/>
              </a:lnSpc>
              <a:spcBef>
                <a:spcPct val="20000"/>
              </a:spcBef>
              <a:spcAft>
                <a:spcPct val="0"/>
              </a:spcAft>
              <a:buClrTx/>
              <a:buSzTx/>
              <a:buFontTx/>
              <a:buNone/>
            </a:pPr>
            <a:r>
              <a:rPr lang="en-US" altLang="en-US" sz="1800"/>
              <a:t>Deliverable</a:t>
            </a:r>
          </a:p>
        </p:txBody>
      </p:sp>
      <p:sp>
        <p:nvSpPr>
          <p:cNvPr id="16" name="TextBox 15">
            <a:extLst>
              <a:ext uri="{FF2B5EF4-FFF2-40B4-BE49-F238E27FC236}">
                <a16:creationId xmlns:a16="http://schemas.microsoft.com/office/drawing/2014/main" id="{4CF8141D-5815-5CC0-DE88-94D8B5B5127D}"/>
              </a:ext>
            </a:extLst>
          </p:cNvPr>
          <p:cNvSpPr txBox="1"/>
          <p:nvPr/>
        </p:nvSpPr>
        <p:spPr>
          <a:xfrm>
            <a:off x="2603143" y="291161"/>
            <a:ext cx="2917371" cy="307777"/>
          </a:xfrm>
          <a:prstGeom prst="rect">
            <a:avLst/>
          </a:prstGeom>
          <a:noFill/>
        </p:spPr>
        <p:txBody>
          <a:bodyPr wrap="square" rtlCol="0">
            <a:spAutoFit/>
          </a:bodyPr>
          <a:lstStyle/>
          <a:p>
            <a:r>
              <a:rPr lang="en-US" sz="14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Mapping the Future State </a:t>
            </a:r>
          </a:p>
        </p:txBody>
      </p:sp>
      <p:sp>
        <p:nvSpPr>
          <p:cNvPr id="17" name="AutoShape 9">
            <a:extLst>
              <a:ext uri="{FF2B5EF4-FFF2-40B4-BE49-F238E27FC236}">
                <a16:creationId xmlns:a16="http://schemas.microsoft.com/office/drawing/2014/main" id="{221FD8B7-9459-3CE4-AFAF-93FF0B89D1AF}"/>
              </a:ext>
            </a:extLst>
          </p:cNvPr>
          <p:cNvSpPr>
            <a:spLocks noChangeArrowheads="1"/>
          </p:cNvSpPr>
          <p:nvPr/>
        </p:nvSpPr>
        <p:spPr bwMode="auto">
          <a:xfrm>
            <a:off x="2101274"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7FBAACB1-7769-DE7F-8263-396EB0C7353E}"/>
              </a:ext>
            </a:extLst>
          </p:cNvPr>
          <p:cNvSpPr>
            <a:spLocks noChangeArrowheads="1"/>
          </p:cNvSpPr>
          <p:nvPr/>
        </p:nvSpPr>
        <p:spPr bwMode="auto">
          <a:xfrm>
            <a:off x="1796474" y="291161"/>
            <a:ext cx="432817" cy="305738"/>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41F37361-F4E3-DC5B-85E2-88532854EAEC}"/>
              </a:ext>
            </a:extLst>
          </p:cNvPr>
          <p:cNvSpPr>
            <a:spLocks noChangeArrowheads="1"/>
          </p:cNvSpPr>
          <p:nvPr/>
        </p:nvSpPr>
        <p:spPr bwMode="auto">
          <a:xfrm>
            <a:off x="1465549"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11">
            <a:extLst>
              <a:ext uri="{FF2B5EF4-FFF2-40B4-BE49-F238E27FC236}">
                <a16:creationId xmlns:a16="http://schemas.microsoft.com/office/drawing/2014/main" id="{5D3A2C52-7330-2231-29E0-29B9DF0B1608}"/>
              </a:ext>
            </a:extLst>
          </p:cNvPr>
          <p:cNvSpPr>
            <a:spLocks noChangeArrowheads="1"/>
          </p:cNvSpPr>
          <p:nvPr/>
        </p:nvSpPr>
        <p:spPr bwMode="auto">
          <a:xfrm>
            <a:off x="1134084" y="291162"/>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0">
            <a:extLst>
              <a:ext uri="{FF2B5EF4-FFF2-40B4-BE49-F238E27FC236}">
                <a16:creationId xmlns:a16="http://schemas.microsoft.com/office/drawing/2014/main" id="{2CD00AFE-7529-BD93-26A2-21A36ADB3CC5}"/>
              </a:ext>
            </a:extLst>
          </p:cNvPr>
          <p:cNvSpPr>
            <a:spLocks noChangeArrowheads="1"/>
          </p:cNvSpPr>
          <p:nvPr/>
        </p:nvSpPr>
        <p:spPr bwMode="auto">
          <a:xfrm>
            <a:off x="838199"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Slide Number Placeholder 2">
            <a:extLst>
              <a:ext uri="{FF2B5EF4-FFF2-40B4-BE49-F238E27FC236}">
                <a16:creationId xmlns:a16="http://schemas.microsoft.com/office/drawing/2014/main" id="{A0FF2230-0204-9166-CF80-A6CDA6174B06}"/>
              </a:ext>
            </a:extLst>
          </p:cNvPr>
          <p:cNvSpPr txBox="1">
            <a:spLocks/>
          </p:cNvSpPr>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12</a:t>
            </a:fld>
            <a:endParaRPr lang="en-US" dirty="0"/>
          </a:p>
        </p:txBody>
      </p:sp>
    </p:spTree>
    <p:extLst>
      <p:ext uri="{BB962C8B-B14F-4D97-AF65-F5344CB8AC3E}">
        <p14:creationId xmlns:p14="http://schemas.microsoft.com/office/powerpoint/2010/main" val="794692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 name="Title 1">
            <a:extLst>
              <a:ext uri="{FF2B5EF4-FFF2-40B4-BE49-F238E27FC236}">
                <a16:creationId xmlns:a16="http://schemas.microsoft.com/office/drawing/2014/main" id="{A0C5D59D-F909-F465-7375-DCD2721D7875}"/>
              </a:ext>
            </a:extLst>
          </p:cNvPr>
          <p:cNvSpPr txBox="1">
            <a:spLocks/>
          </p:cNvSpPr>
          <p:nvPr/>
        </p:nvSpPr>
        <p:spPr>
          <a:xfrm>
            <a:off x="838200" y="819260"/>
            <a:ext cx="10515600" cy="424749"/>
          </a:xfrm>
          <a:prstGeom prst="rect">
            <a:avLst/>
          </a:prstGeom>
        </p:spPr>
        <p:txBody>
          <a:bodyPr>
            <a:normAutofit fontScale="92500" lnSpcReduction="20000"/>
          </a:bodyPr>
          <a:lst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a:lstStyle>
          <a:p>
            <a:pPr>
              <a:lnSpc>
                <a:spcPct val="80000"/>
              </a:lnSpc>
              <a:spcAft>
                <a:spcPct val="0"/>
              </a:spcAft>
            </a:pPr>
            <a:r>
              <a:rPr lang="en-US" altLang="en-US" sz="3200" dirty="0"/>
              <a:t>Carl's Credit Cards Future State Map</a:t>
            </a:r>
          </a:p>
        </p:txBody>
      </p:sp>
      <p:grpSp>
        <p:nvGrpSpPr>
          <p:cNvPr id="819" name="Group 818">
            <a:extLst>
              <a:ext uri="{FF2B5EF4-FFF2-40B4-BE49-F238E27FC236}">
                <a16:creationId xmlns:a16="http://schemas.microsoft.com/office/drawing/2014/main" id="{4711D143-6152-61DA-AC12-1C79A227A1AC}"/>
              </a:ext>
            </a:extLst>
          </p:cNvPr>
          <p:cNvGrpSpPr/>
          <p:nvPr/>
        </p:nvGrpSpPr>
        <p:grpSpPr>
          <a:xfrm>
            <a:off x="838200" y="1327172"/>
            <a:ext cx="10007895" cy="4820293"/>
            <a:chOff x="114300" y="1716088"/>
            <a:chExt cx="8629650" cy="4516437"/>
          </a:xfrm>
        </p:grpSpPr>
        <p:sp>
          <p:nvSpPr>
            <p:cNvPr id="578" name="Line 238">
              <a:extLst>
                <a:ext uri="{FF2B5EF4-FFF2-40B4-BE49-F238E27FC236}">
                  <a16:creationId xmlns:a16="http://schemas.microsoft.com/office/drawing/2014/main" id="{F0985972-3438-EF4B-DEDA-661303A563EF}"/>
                </a:ext>
              </a:extLst>
            </p:cNvPr>
            <p:cNvSpPr>
              <a:spLocks noChangeShapeType="1"/>
            </p:cNvSpPr>
            <p:nvPr/>
          </p:nvSpPr>
          <p:spPr bwMode="auto">
            <a:xfrm flipV="1">
              <a:off x="3298825" y="4616450"/>
              <a:ext cx="641350" cy="1588"/>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79" name="Line 236">
              <a:extLst>
                <a:ext uri="{FF2B5EF4-FFF2-40B4-BE49-F238E27FC236}">
                  <a16:creationId xmlns:a16="http://schemas.microsoft.com/office/drawing/2014/main" id="{93B6CC4C-0864-D496-5CB1-FD351BA61461}"/>
                </a:ext>
              </a:extLst>
            </p:cNvPr>
            <p:cNvSpPr>
              <a:spLocks noChangeShapeType="1"/>
            </p:cNvSpPr>
            <p:nvPr/>
          </p:nvSpPr>
          <p:spPr bwMode="auto">
            <a:xfrm flipV="1">
              <a:off x="1660525" y="4597400"/>
              <a:ext cx="641350" cy="1588"/>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0" name="AutoShape 2">
              <a:extLst>
                <a:ext uri="{FF2B5EF4-FFF2-40B4-BE49-F238E27FC236}">
                  <a16:creationId xmlns:a16="http://schemas.microsoft.com/office/drawing/2014/main" id="{F5DE3629-C59E-DA71-DFC8-01EF46BD9C9E}"/>
                </a:ext>
              </a:extLst>
            </p:cNvPr>
            <p:cNvSpPr>
              <a:spLocks noChangeArrowheads="1"/>
            </p:cNvSpPr>
            <p:nvPr/>
          </p:nvSpPr>
          <p:spPr bwMode="auto">
            <a:xfrm>
              <a:off x="536575" y="3690938"/>
              <a:ext cx="542925" cy="438150"/>
            </a:xfrm>
            <a:prstGeom prst="irregularSeal1">
              <a:avLst/>
            </a:prstGeom>
            <a:noFill/>
            <a:ln w="28575">
              <a:solidFill>
                <a:srgbClr val="FF0000"/>
              </a:solidFill>
              <a:miter lim="800000"/>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r>
                <a:rPr lang="en-US" altLang="en-US" sz="600"/>
                <a:t>Std Wk</a:t>
              </a:r>
            </a:p>
          </p:txBody>
        </p:sp>
        <p:sp>
          <p:nvSpPr>
            <p:cNvPr id="581" name="Rectangle 3">
              <a:extLst>
                <a:ext uri="{FF2B5EF4-FFF2-40B4-BE49-F238E27FC236}">
                  <a16:creationId xmlns:a16="http://schemas.microsoft.com/office/drawing/2014/main" id="{7F17CF10-FBFC-53AB-E6E5-2E32BF6B7C7F}"/>
                </a:ext>
              </a:extLst>
            </p:cNvPr>
            <p:cNvSpPr>
              <a:spLocks noChangeArrowheads="1"/>
            </p:cNvSpPr>
            <p:nvPr/>
          </p:nvSpPr>
          <p:spPr bwMode="auto">
            <a:xfrm>
              <a:off x="6602413" y="4178300"/>
              <a:ext cx="649287" cy="54927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82" name="Text Box 5">
              <a:extLst>
                <a:ext uri="{FF2B5EF4-FFF2-40B4-BE49-F238E27FC236}">
                  <a16:creationId xmlns:a16="http://schemas.microsoft.com/office/drawing/2014/main" id="{5EB55B2E-D8F7-6142-0A3F-D78BFD8E407A}"/>
                </a:ext>
              </a:extLst>
            </p:cNvPr>
            <p:cNvSpPr txBox="1">
              <a:spLocks noChangeArrowheads="1"/>
            </p:cNvSpPr>
            <p:nvPr/>
          </p:nvSpPr>
          <p:spPr bwMode="auto">
            <a:xfrm>
              <a:off x="5214540" y="1916550"/>
              <a:ext cx="23479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1400" dirty="0"/>
                <a:t>Carl’s Credit Cards (CCC)</a:t>
              </a:r>
            </a:p>
          </p:txBody>
        </p:sp>
        <p:grpSp>
          <p:nvGrpSpPr>
            <p:cNvPr id="583" name="Group 6">
              <a:extLst>
                <a:ext uri="{FF2B5EF4-FFF2-40B4-BE49-F238E27FC236}">
                  <a16:creationId xmlns:a16="http://schemas.microsoft.com/office/drawing/2014/main" id="{EB625D43-BAD0-5B61-858F-33BBD9FEB6D8}"/>
                </a:ext>
              </a:extLst>
            </p:cNvPr>
            <p:cNvGrpSpPr>
              <a:grpSpLocks/>
            </p:cNvGrpSpPr>
            <p:nvPr/>
          </p:nvGrpSpPr>
          <p:grpSpPr bwMode="auto">
            <a:xfrm>
              <a:off x="738187" y="1716088"/>
              <a:ext cx="1827213" cy="573087"/>
              <a:chOff x="2901" y="1678"/>
              <a:chExt cx="1151" cy="361"/>
            </a:xfrm>
          </p:grpSpPr>
          <p:sp>
            <p:nvSpPr>
              <p:cNvPr id="584" name="Rectangle 7">
                <a:extLst>
                  <a:ext uri="{FF2B5EF4-FFF2-40B4-BE49-F238E27FC236}">
                    <a16:creationId xmlns:a16="http://schemas.microsoft.com/office/drawing/2014/main" id="{378DF075-D151-F689-6A46-59F83485DDBC}"/>
                  </a:ext>
                </a:extLst>
              </p:cNvPr>
              <p:cNvSpPr>
                <a:spLocks noChangeArrowheads="1"/>
              </p:cNvSpPr>
              <p:nvPr/>
            </p:nvSpPr>
            <p:spPr bwMode="auto">
              <a:xfrm>
                <a:off x="2919" y="1698"/>
                <a:ext cx="1133" cy="341"/>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85" name="Text Box 8">
                <a:extLst>
                  <a:ext uri="{FF2B5EF4-FFF2-40B4-BE49-F238E27FC236}">
                    <a16:creationId xmlns:a16="http://schemas.microsoft.com/office/drawing/2014/main" id="{5132E124-3F2B-E4C8-A448-32D80D687DD1}"/>
                  </a:ext>
                </a:extLst>
              </p:cNvPr>
              <p:cNvSpPr txBox="1">
                <a:spLocks noChangeArrowheads="1"/>
              </p:cNvSpPr>
              <p:nvPr/>
            </p:nvSpPr>
            <p:spPr bwMode="auto">
              <a:xfrm>
                <a:off x="2901" y="1796"/>
                <a:ext cx="632" cy="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5000"/>
                  </a:spcBef>
                  <a:spcAft>
                    <a:spcPct val="0"/>
                  </a:spcAft>
                  <a:buClrTx/>
                  <a:buSzTx/>
                  <a:buFontTx/>
                  <a:buNone/>
                </a:pPr>
                <a:r>
                  <a:rPr lang="en-US" altLang="en-US" sz="800" b="0" dirty="0"/>
                  <a:t>27,000 Seconds</a:t>
                </a:r>
              </a:p>
              <a:p>
                <a:pPr algn="ctr">
                  <a:lnSpc>
                    <a:spcPct val="100000"/>
                  </a:lnSpc>
                  <a:spcBef>
                    <a:spcPct val="35000"/>
                  </a:spcBef>
                  <a:spcAft>
                    <a:spcPct val="0"/>
                  </a:spcAft>
                  <a:buClrTx/>
                  <a:buSzTx/>
                  <a:buFontTx/>
                  <a:buNone/>
                </a:pPr>
                <a:r>
                  <a:rPr lang="en-US" altLang="en-US" sz="800" b="0" dirty="0"/>
                  <a:t>2,000 Pieces</a:t>
                </a:r>
              </a:p>
            </p:txBody>
          </p:sp>
          <p:sp>
            <p:nvSpPr>
              <p:cNvPr id="586" name="Line 9">
                <a:extLst>
                  <a:ext uri="{FF2B5EF4-FFF2-40B4-BE49-F238E27FC236}">
                    <a16:creationId xmlns:a16="http://schemas.microsoft.com/office/drawing/2014/main" id="{F14C2D22-B738-2E14-CA8E-D8373FFE6102}"/>
                  </a:ext>
                </a:extLst>
              </p:cNvPr>
              <p:cNvSpPr>
                <a:spLocks noChangeShapeType="1"/>
              </p:cNvSpPr>
              <p:nvPr/>
            </p:nvSpPr>
            <p:spPr bwMode="auto">
              <a:xfrm>
                <a:off x="2983" y="1911"/>
                <a:ext cx="445" cy="3"/>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7" name="Rectangle 10">
                <a:extLst>
                  <a:ext uri="{FF2B5EF4-FFF2-40B4-BE49-F238E27FC236}">
                    <a16:creationId xmlns:a16="http://schemas.microsoft.com/office/drawing/2014/main" id="{F758B413-6604-7BBF-8466-D0718A302D81}"/>
                  </a:ext>
                </a:extLst>
              </p:cNvPr>
              <p:cNvSpPr>
                <a:spLocks noChangeArrowheads="1"/>
              </p:cNvSpPr>
              <p:nvPr/>
            </p:nvSpPr>
            <p:spPr bwMode="auto">
              <a:xfrm>
                <a:off x="3219" y="1678"/>
                <a:ext cx="524" cy="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1200" dirty="0"/>
                  <a:t>Takt Time</a:t>
                </a:r>
              </a:p>
            </p:txBody>
          </p:sp>
        </p:grpSp>
        <p:sp>
          <p:nvSpPr>
            <p:cNvPr id="588" name="Text Box 11">
              <a:extLst>
                <a:ext uri="{FF2B5EF4-FFF2-40B4-BE49-F238E27FC236}">
                  <a16:creationId xmlns:a16="http://schemas.microsoft.com/office/drawing/2014/main" id="{58C9B77B-A4D5-B397-6A3E-046050797C03}"/>
                </a:ext>
              </a:extLst>
            </p:cNvPr>
            <p:cNvSpPr txBox="1">
              <a:spLocks noChangeArrowheads="1"/>
            </p:cNvSpPr>
            <p:nvPr/>
          </p:nvSpPr>
          <p:spPr bwMode="auto">
            <a:xfrm>
              <a:off x="1646558" y="1979156"/>
              <a:ext cx="939800"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00000"/>
                </a:lnSpc>
                <a:spcBef>
                  <a:spcPct val="0"/>
                </a:spcBef>
                <a:spcAft>
                  <a:spcPct val="0"/>
                </a:spcAft>
                <a:buClrTx/>
                <a:buSzTx/>
                <a:buFontTx/>
                <a:buNone/>
              </a:pPr>
              <a:r>
                <a:rPr lang="en-US" altLang="en-US" sz="800" b="0" dirty="0"/>
                <a:t>= </a:t>
              </a:r>
              <a:r>
                <a:rPr lang="en-US" altLang="en-US" sz="800" dirty="0">
                  <a:solidFill>
                    <a:srgbClr val="FF0000"/>
                  </a:solidFill>
                </a:rPr>
                <a:t>13.5 seconds</a:t>
              </a:r>
            </a:p>
          </p:txBody>
        </p:sp>
        <p:sp>
          <p:nvSpPr>
            <p:cNvPr id="589" name="Rectangle 12">
              <a:extLst>
                <a:ext uri="{FF2B5EF4-FFF2-40B4-BE49-F238E27FC236}">
                  <a16:creationId xmlns:a16="http://schemas.microsoft.com/office/drawing/2014/main" id="{B8044F34-69F6-1708-F8D3-3205E7257F8F}"/>
                </a:ext>
              </a:extLst>
            </p:cNvPr>
            <p:cNvSpPr>
              <a:spLocks noChangeArrowheads="1"/>
            </p:cNvSpPr>
            <p:nvPr/>
          </p:nvSpPr>
          <p:spPr bwMode="auto">
            <a:xfrm>
              <a:off x="8037513" y="4119563"/>
              <a:ext cx="644525" cy="55562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endParaRPr lang="en-US" altLang="en-US" sz="1000" b="0">
                <a:solidFill>
                  <a:srgbClr val="FF0000"/>
                </a:solidFill>
              </a:endParaRPr>
            </a:p>
          </p:txBody>
        </p:sp>
        <p:sp>
          <p:nvSpPr>
            <p:cNvPr id="590" name="Line 13">
              <a:extLst>
                <a:ext uri="{FF2B5EF4-FFF2-40B4-BE49-F238E27FC236}">
                  <a16:creationId xmlns:a16="http://schemas.microsoft.com/office/drawing/2014/main" id="{169FB631-D139-7CBF-3F62-7BBEB748558F}"/>
                </a:ext>
              </a:extLst>
            </p:cNvPr>
            <p:cNvSpPr>
              <a:spLocks noChangeShapeType="1"/>
            </p:cNvSpPr>
            <p:nvPr/>
          </p:nvSpPr>
          <p:spPr bwMode="auto">
            <a:xfrm>
              <a:off x="8042275" y="4414838"/>
              <a:ext cx="633413" cy="1587"/>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91" name="Text Box 14">
              <a:extLst>
                <a:ext uri="{FF2B5EF4-FFF2-40B4-BE49-F238E27FC236}">
                  <a16:creationId xmlns:a16="http://schemas.microsoft.com/office/drawing/2014/main" id="{AA555B53-E7BD-C1CC-2110-CA1F60302EFF}"/>
                </a:ext>
              </a:extLst>
            </p:cNvPr>
            <p:cNvSpPr txBox="1">
              <a:spLocks noChangeArrowheads="1"/>
            </p:cNvSpPr>
            <p:nvPr/>
          </p:nvSpPr>
          <p:spPr bwMode="auto">
            <a:xfrm>
              <a:off x="8061325" y="4081463"/>
              <a:ext cx="60483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700" b="0"/>
                <a:t>Mail Card</a:t>
              </a:r>
            </a:p>
          </p:txBody>
        </p:sp>
        <p:grpSp>
          <p:nvGrpSpPr>
            <p:cNvPr id="592" name="Group 15">
              <a:extLst>
                <a:ext uri="{FF2B5EF4-FFF2-40B4-BE49-F238E27FC236}">
                  <a16:creationId xmlns:a16="http://schemas.microsoft.com/office/drawing/2014/main" id="{84F97DB0-008B-E27A-7C11-D0CED6A47A70}"/>
                </a:ext>
              </a:extLst>
            </p:cNvPr>
            <p:cNvGrpSpPr>
              <a:grpSpLocks/>
            </p:cNvGrpSpPr>
            <p:nvPr/>
          </p:nvGrpSpPr>
          <p:grpSpPr bwMode="auto">
            <a:xfrm flipV="1">
              <a:off x="8145463" y="4410075"/>
              <a:ext cx="163512" cy="171450"/>
              <a:chOff x="720" y="3354"/>
              <a:chExt cx="192" cy="198"/>
            </a:xfrm>
          </p:grpSpPr>
          <p:sp>
            <p:nvSpPr>
              <p:cNvPr id="593" name="Oval 16">
                <a:extLst>
                  <a:ext uri="{FF2B5EF4-FFF2-40B4-BE49-F238E27FC236}">
                    <a16:creationId xmlns:a16="http://schemas.microsoft.com/office/drawing/2014/main" id="{342DDFD3-AF91-DDA8-6B51-2B4F8DFD1859}"/>
                  </a:ext>
                </a:extLst>
              </p:cNvPr>
              <p:cNvSpPr>
                <a:spLocks noChangeArrowheads="1"/>
              </p:cNvSpPr>
              <p:nvPr/>
            </p:nvSpPr>
            <p:spPr bwMode="auto">
              <a:xfrm>
                <a:off x="768" y="3408"/>
                <a:ext cx="96" cy="9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94" name="AutoShape 17">
                <a:extLst>
                  <a:ext uri="{FF2B5EF4-FFF2-40B4-BE49-F238E27FC236}">
                    <a16:creationId xmlns:a16="http://schemas.microsoft.com/office/drawing/2014/main" id="{2F1FF4B2-0B4D-4A8B-C4F9-A1BDF859FB1F}"/>
                  </a:ext>
                </a:extLst>
              </p:cNvPr>
              <p:cNvSpPr>
                <a:spLocks noChangeArrowheads="1"/>
              </p:cNvSpPr>
              <p:nvPr/>
            </p:nvSpPr>
            <p:spPr bwMode="auto">
              <a:xfrm>
                <a:off x="720" y="3354"/>
                <a:ext cx="192" cy="198"/>
              </a:xfrm>
              <a:custGeom>
                <a:avLst/>
                <a:gdLst>
                  <a:gd name="T0" fmla="*/ 1 w 21600"/>
                  <a:gd name="T1" fmla="*/ 0 h 21600"/>
                  <a:gd name="T2" fmla="*/ 0 w 21600"/>
                  <a:gd name="T3" fmla="*/ 1 h 21600"/>
                  <a:gd name="T4" fmla="*/ 1 w 21600"/>
                  <a:gd name="T5" fmla="*/ 0 h 21600"/>
                  <a:gd name="T6" fmla="*/ 1 w 21600"/>
                  <a:gd name="T7" fmla="*/ 1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595" name="Text Box 18">
              <a:extLst>
                <a:ext uri="{FF2B5EF4-FFF2-40B4-BE49-F238E27FC236}">
                  <a16:creationId xmlns:a16="http://schemas.microsoft.com/office/drawing/2014/main" id="{4CC365EB-90B3-58D0-507E-950187E33694}"/>
                </a:ext>
              </a:extLst>
            </p:cNvPr>
            <p:cNvSpPr txBox="1">
              <a:spLocks noChangeArrowheads="1"/>
            </p:cNvSpPr>
            <p:nvPr/>
          </p:nvSpPr>
          <p:spPr bwMode="auto">
            <a:xfrm>
              <a:off x="8315325" y="4410075"/>
              <a:ext cx="309563" cy="198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700" b="0"/>
                <a:t>= 2</a:t>
              </a:r>
            </a:p>
          </p:txBody>
        </p:sp>
        <p:grpSp>
          <p:nvGrpSpPr>
            <p:cNvPr id="596" name="Group 19">
              <a:extLst>
                <a:ext uri="{FF2B5EF4-FFF2-40B4-BE49-F238E27FC236}">
                  <a16:creationId xmlns:a16="http://schemas.microsoft.com/office/drawing/2014/main" id="{481230EC-F775-8D49-E39C-CFF7183AF775}"/>
                </a:ext>
              </a:extLst>
            </p:cNvPr>
            <p:cNvGrpSpPr>
              <a:grpSpLocks/>
            </p:cNvGrpSpPr>
            <p:nvPr/>
          </p:nvGrpSpPr>
          <p:grpSpPr bwMode="auto">
            <a:xfrm>
              <a:off x="6611938" y="3598863"/>
              <a:ext cx="635000" cy="555625"/>
              <a:chOff x="3979" y="2536"/>
              <a:chExt cx="525" cy="365"/>
            </a:xfrm>
          </p:grpSpPr>
          <p:sp>
            <p:nvSpPr>
              <p:cNvPr id="597" name="Rectangle 20">
                <a:extLst>
                  <a:ext uri="{FF2B5EF4-FFF2-40B4-BE49-F238E27FC236}">
                    <a16:creationId xmlns:a16="http://schemas.microsoft.com/office/drawing/2014/main" id="{056F9D87-3209-BF8B-4773-F147C6C029FB}"/>
                  </a:ext>
                </a:extLst>
              </p:cNvPr>
              <p:cNvSpPr>
                <a:spLocks noChangeArrowheads="1"/>
              </p:cNvSpPr>
              <p:nvPr/>
            </p:nvSpPr>
            <p:spPr bwMode="auto">
              <a:xfrm>
                <a:off x="3979" y="2536"/>
                <a:ext cx="525" cy="36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98" name="Line 21">
                <a:extLst>
                  <a:ext uri="{FF2B5EF4-FFF2-40B4-BE49-F238E27FC236}">
                    <a16:creationId xmlns:a16="http://schemas.microsoft.com/office/drawing/2014/main" id="{140EA5A8-040C-F65D-5C76-E1A5129B9FE4}"/>
                  </a:ext>
                </a:extLst>
              </p:cNvPr>
              <p:cNvSpPr>
                <a:spLocks noChangeShapeType="1"/>
              </p:cNvSpPr>
              <p:nvPr/>
            </p:nvSpPr>
            <p:spPr bwMode="auto">
              <a:xfrm>
                <a:off x="3982" y="2734"/>
                <a:ext cx="518" cy="1"/>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599" name="Text Box 22">
              <a:extLst>
                <a:ext uri="{FF2B5EF4-FFF2-40B4-BE49-F238E27FC236}">
                  <a16:creationId xmlns:a16="http://schemas.microsoft.com/office/drawing/2014/main" id="{73B7D708-CD28-0E48-028A-3327F1106C7A}"/>
                </a:ext>
              </a:extLst>
            </p:cNvPr>
            <p:cNvSpPr txBox="1">
              <a:spLocks noChangeArrowheads="1"/>
            </p:cNvSpPr>
            <p:nvPr/>
          </p:nvSpPr>
          <p:spPr bwMode="auto">
            <a:xfrm>
              <a:off x="6629400" y="3559175"/>
              <a:ext cx="6111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t>Generate</a:t>
              </a:r>
            </a:p>
            <a:p>
              <a:pPr algn="ctr">
                <a:lnSpc>
                  <a:spcPct val="100000"/>
                </a:lnSpc>
                <a:spcBef>
                  <a:spcPct val="0"/>
                </a:spcBef>
                <a:spcAft>
                  <a:spcPct val="0"/>
                </a:spcAft>
                <a:buClrTx/>
                <a:buSzTx/>
                <a:buFontTx/>
                <a:buNone/>
              </a:pPr>
              <a:r>
                <a:rPr lang="en-US" altLang="en-US" sz="700" b="0"/>
                <a:t>Card</a:t>
              </a:r>
            </a:p>
          </p:txBody>
        </p:sp>
        <p:sp>
          <p:nvSpPr>
            <p:cNvPr id="600" name="Line 23">
              <a:extLst>
                <a:ext uri="{FF2B5EF4-FFF2-40B4-BE49-F238E27FC236}">
                  <a16:creationId xmlns:a16="http://schemas.microsoft.com/office/drawing/2014/main" id="{1F48F818-4792-3E5A-BE2D-A3EAD6FEB5EE}"/>
                </a:ext>
              </a:extLst>
            </p:cNvPr>
            <p:cNvSpPr>
              <a:spLocks noChangeShapeType="1"/>
            </p:cNvSpPr>
            <p:nvPr/>
          </p:nvSpPr>
          <p:spPr bwMode="auto">
            <a:xfrm>
              <a:off x="7262813" y="3895725"/>
              <a:ext cx="296862" cy="4857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cxnSp>
          <p:nvCxnSpPr>
            <p:cNvPr id="601" name="AutoShape 24">
              <a:extLst>
                <a:ext uri="{FF2B5EF4-FFF2-40B4-BE49-F238E27FC236}">
                  <a16:creationId xmlns:a16="http://schemas.microsoft.com/office/drawing/2014/main" id="{C1DC8EC2-22EF-0AE0-FE55-67156BCE791D}"/>
                </a:ext>
              </a:extLst>
            </p:cNvPr>
            <p:cNvCxnSpPr>
              <a:cxnSpLocks noChangeShapeType="1"/>
              <a:stCxn id="591" idx="0"/>
            </p:cNvCxnSpPr>
            <p:nvPr/>
          </p:nvCxnSpPr>
          <p:spPr bwMode="auto">
            <a:xfrm rot="5400000" flipH="1">
              <a:off x="5778500" y="1495426"/>
              <a:ext cx="1571625" cy="3600450"/>
            </a:xfrm>
            <a:prstGeom prst="bentConnector2">
              <a:avLst/>
            </a:prstGeom>
            <a:noFill/>
            <a:ln w="53975" cap="sq">
              <a:solidFill>
                <a:schemeClr val="tx1"/>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2" name="Text Box 25">
              <a:extLst>
                <a:ext uri="{FF2B5EF4-FFF2-40B4-BE49-F238E27FC236}">
                  <a16:creationId xmlns:a16="http://schemas.microsoft.com/office/drawing/2014/main" id="{F14F1A7A-F5A5-993E-F95C-2F47A570831F}"/>
                </a:ext>
              </a:extLst>
            </p:cNvPr>
            <p:cNvSpPr txBox="1">
              <a:spLocks noChangeArrowheads="1"/>
            </p:cNvSpPr>
            <p:nvPr/>
          </p:nvSpPr>
          <p:spPr bwMode="auto">
            <a:xfrm>
              <a:off x="1855788" y="3268663"/>
              <a:ext cx="2081212"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685800" indent="-22860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00000"/>
                </a:lnSpc>
                <a:spcBef>
                  <a:spcPct val="0"/>
                </a:spcBef>
                <a:spcAft>
                  <a:spcPct val="0"/>
                </a:spcAft>
                <a:buClrTx/>
                <a:buSzTx/>
                <a:buFontTx/>
                <a:buNone/>
              </a:pPr>
              <a:r>
                <a:rPr lang="en-US" altLang="en-US" sz="600" b="0"/>
                <a:t>Demand = 500 Electronic applications/day</a:t>
              </a:r>
            </a:p>
          </p:txBody>
        </p:sp>
        <p:cxnSp>
          <p:nvCxnSpPr>
            <p:cNvPr id="603" name="AutoShape 26">
              <a:extLst>
                <a:ext uri="{FF2B5EF4-FFF2-40B4-BE49-F238E27FC236}">
                  <a16:creationId xmlns:a16="http://schemas.microsoft.com/office/drawing/2014/main" id="{660BC48A-5CE8-94B5-FFE6-3E6286A52138}"/>
                </a:ext>
              </a:extLst>
            </p:cNvPr>
            <p:cNvCxnSpPr>
              <a:cxnSpLocks noChangeShapeType="1"/>
              <a:stCxn id="608" idx="1"/>
            </p:cNvCxnSpPr>
            <p:nvPr/>
          </p:nvCxnSpPr>
          <p:spPr bwMode="auto">
            <a:xfrm rot="10800000" flipV="1">
              <a:off x="449263" y="2522538"/>
              <a:ext cx="2478087" cy="1708150"/>
            </a:xfrm>
            <a:prstGeom prst="bentConnector2">
              <a:avLst/>
            </a:prstGeom>
            <a:noFill/>
            <a:ln w="57150" cap="sq">
              <a:solidFill>
                <a:schemeClr val="tx1"/>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04" name="Group 27">
              <a:extLst>
                <a:ext uri="{FF2B5EF4-FFF2-40B4-BE49-F238E27FC236}">
                  <a16:creationId xmlns:a16="http://schemas.microsoft.com/office/drawing/2014/main" id="{E5F12CA5-B13D-E3D4-C6EF-B7F96224BDF3}"/>
                </a:ext>
              </a:extLst>
            </p:cNvPr>
            <p:cNvGrpSpPr>
              <a:grpSpLocks/>
            </p:cNvGrpSpPr>
            <p:nvPr/>
          </p:nvGrpSpPr>
          <p:grpSpPr bwMode="auto">
            <a:xfrm>
              <a:off x="2000250" y="2513013"/>
              <a:ext cx="1944688" cy="1576387"/>
              <a:chOff x="1065" y="1628"/>
              <a:chExt cx="780" cy="1403"/>
            </a:xfrm>
          </p:grpSpPr>
          <p:cxnSp>
            <p:nvCxnSpPr>
              <p:cNvPr id="605" name="AutoShape 28">
                <a:extLst>
                  <a:ext uri="{FF2B5EF4-FFF2-40B4-BE49-F238E27FC236}">
                    <a16:creationId xmlns:a16="http://schemas.microsoft.com/office/drawing/2014/main" id="{B49A894A-7D58-8D64-C535-205E838B68B9}"/>
                  </a:ext>
                </a:extLst>
              </p:cNvPr>
              <p:cNvCxnSpPr>
                <a:cxnSpLocks noChangeShapeType="1"/>
              </p:cNvCxnSpPr>
              <p:nvPr/>
            </p:nvCxnSpPr>
            <p:spPr bwMode="auto">
              <a:xfrm flipH="1">
                <a:off x="1472" y="1628"/>
                <a:ext cx="373" cy="54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6" name="AutoShape 29">
                <a:extLst>
                  <a:ext uri="{FF2B5EF4-FFF2-40B4-BE49-F238E27FC236}">
                    <a16:creationId xmlns:a16="http://schemas.microsoft.com/office/drawing/2014/main" id="{B047D166-981C-1093-5C1B-F96866730594}"/>
                  </a:ext>
                </a:extLst>
              </p:cNvPr>
              <p:cNvCxnSpPr>
                <a:cxnSpLocks noChangeShapeType="1"/>
              </p:cNvCxnSpPr>
              <p:nvPr/>
            </p:nvCxnSpPr>
            <p:spPr bwMode="auto">
              <a:xfrm>
                <a:off x="1469" y="2172"/>
                <a:ext cx="144" cy="8"/>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7" name="AutoShape 30">
                <a:extLst>
                  <a:ext uri="{FF2B5EF4-FFF2-40B4-BE49-F238E27FC236}">
                    <a16:creationId xmlns:a16="http://schemas.microsoft.com/office/drawing/2014/main" id="{7F6A3056-AB29-4767-77DA-41FE05166DDD}"/>
                  </a:ext>
                </a:extLst>
              </p:cNvPr>
              <p:cNvCxnSpPr>
                <a:cxnSpLocks noChangeShapeType="1"/>
              </p:cNvCxnSpPr>
              <p:nvPr/>
            </p:nvCxnSpPr>
            <p:spPr bwMode="auto">
              <a:xfrm flipH="1">
                <a:off x="1065" y="2175"/>
                <a:ext cx="552" cy="856"/>
              </a:xfrm>
              <a:prstGeom prst="straightConnector1">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08" name="Text Box 31">
              <a:extLst>
                <a:ext uri="{FF2B5EF4-FFF2-40B4-BE49-F238E27FC236}">
                  <a16:creationId xmlns:a16="http://schemas.microsoft.com/office/drawing/2014/main" id="{F9C8B054-0807-1B1C-1F68-43DACBDC5215}"/>
                </a:ext>
              </a:extLst>
            </p:cNvPr>
            <p:cNvSpPr txBox="1">
              <a:spLocks noChangeArrowheads="1"/>
            </p:cNvSpPr>
            <p:nvPr/>
          </p:nvSpPr>
          <p:spPr bwMode="auto">
            <a:xfrm>
              <a:off x="2927350" y="2300288"/>
              <a:ext cx="103187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685800" indent="-22860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00000"/>
                </a:lnSpc>
                <a:spcBef>
                  <a:spcPct val="0"/>
                </a:spcBef>
                <a:spcAft>
                  <a:spcPct val="0"/>
                </a:spcAft>
                <a:buClrTx/>
                <a:buSzTx/>
                <a:buFontTx/>
                <a:buChar char="•"/>
              </a:pPr>
              <a:r>
                <a:rPr lang="en-US" altLang="en-US" sz="600" b="0"/>
                <a:t>Demand = 40,000 Accounts/month</a:t>
              </a:r>
            </a:p>
            <a:p>
              <a:pPr>
                <a:lnSpc>
                  <a:spcPct val="100000"/>
                </a:lnSpc>
                <a:spcBef>
                  <a:spcPct val="0"/>
                </a:spcBef>
                <a:spcAft>
                  <a:spcPct val="0"/>
                </a:spcAft>
                <a:buClrTx/>
                <a:buSzTx/>
                <a:buFontTx/>
                <a:buChar char="•"/>
              </a:pPr>
              <a:r>
                <a:rPr lang="en-US" altLang="en-US" sz="600" b="0"/>
                <a:t>24 Hours/Day</a:t>
              </a:r>
            </a:p>
          </p:txBody>
        </p:sp>
        <p:sp>
          <p:nvSpPr>
            <p:cNvPr id="609" name="Text Box 32">
              <a:extLst>
                <a:ext uri="{FF2B5EF4-FFF2-40B4-BE49-F238E27FC236}">
                  <a16:creationId xmlns:a16="http://schemas.microsoft.com/office/drawing/2014/main" id="{CF0A5162-56FC-B030-96FE-49356A0A9E10}"/>
                </a:ext>
              </a:extLst>
            </p:cNvPr>
            <p:cNvSpPr txBox="1">
              <a:spLocks noChangeArrowheads="1"/>
            </p:cNvSpPr>
            <p:nvPr/>
          </p:nvSpPr>
          <p:spPr bwMode="auto">
            <a:xfrm>
              <a:off x="465138" y="2654300"/>
              <a:ext cx="2081212"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685800" indent="-22860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00000"/>
                </a:lnSpc>
                <a:spcBef>
                  <a:spcPct val="0"/>
                </a:spcBef>
                <a:spcAft>
                  <a:spcPct val="0"/>
                </a:spcAft>
                <a:buClrTx/>
                <a:buSzTx/>
                <a:buFontTx/>
                <a:buNone/>
              </a:pPr>
              <a:r>
                <a:rPr lang="en-US" altLang="en-US" sz="600" b="0"/>
                <a:t>Demand = 1,500 Hardcopy applications/day</a:t>
              </a:r>
            </a:p>
          </p:txBody>
        </p:sp>
        <p:sp>
          <p:nvSpPr>
            <p:cNvPr id="610" name="Rectangle 33">
              <a:extLst>
                <a:ext uri="{FF2B5EF4-FFF2-40B4-BE49-F238E27FC236}">
                  <a16:creationId xmlns:a16="http://schemas.microsoft.com/office/drawing/2014/main" id="{D91741C2-AB24-86B1-69F9-68A632A34551}"/>
                </a:ext>
              </a:extLst>
            </p:cNvPr>
            <p:cNvSpPr>
              <a:spLocks noChangeArrowheads="1"/>
            </p:cNvSpPr>
            <p:nvPr/>
          </p:nvSpPr>
          <p:spPr bwMode="auto">
            <a:xfrm>
              <a:off x="8037513" y="4703763"/>
              <a:ext cx="647700" cy="546100"/>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611" name="Group 34">
              <a:extLst>
                <a:ext uri="{FF2B5EF4-FFF2-40B4-BE49-F238E27FC236}">
                  <a16:creationId xmlns:a16="http://schemas.microsoft.com/office/drawing/2014/main" id="{5499EA56-73DB-B414-4167-16C38BEEF50B}"/>
                </a:ext>
              </a:extLst>
            </p:cNvPr>
            <p:cNvGrpSpPr>
              <a:grpSpLocks/>
            </p:cNvGrpSpPr>
            <p:nvPr/>
          </p:nvGrpSpPr>
          <p:grpSpPr bwMode="auto">
            <a:xfrm>
              <a:off x="730250" y="4081463"/>
              <a:ext cx="933450" cy="1304925"/>
              <a:chOff x="404" y="2571"/>
              <a:chExt cx="588" cy="822"/>
            </a:xfrm>
          </p:grpSpPr>
          <p:grpSp>
            <p:nvGrpSpPr>
              <p:cNvPr id="612" name="Group 35">
                <a:extLst>
                  <a:ext uri="{FF2B5EF4-FFF2-40B4-BE49-F238E27FC236}">
                    <a16:creationId xmlns:a16="http://schemas.microsoft.com/office/drawing/2014/main" id="{A65F28C2-DA88-54D9-E932-4C8B8D8FEF43}"/>
                  </a:ext>
                </a:extLst>
              </p:cNvPr>
              <p:cNvGrpSpPr>
                <a:grpSpLocks/>
              </p:cNvGrpSpPr>
              <p:nvPr/>
            </p:nvGrpSpPr>
            <p:grpSpPr bwMode="auto">
              <a:xfrm>
                <a:off x="412" y="2571"/>
                <a:ext cx="574" cy="450"/>
                <a:chOff x="362" y="2972"/>
                <a:chExt cx="456" cy="390"/>
              </a:xfrm>
            </p:grpSpPr>
            <p:sp>
              <p:nvSpPr>
                <p:cNvPr id="615" name="Rectangle 36">
                  <a:extLst>
                    <a:ext uri="{FF2B5EF4-FFF2-40B4-BE49-F238E27FC236}">
                      <a16:creationId xmlns:a16="http://schemas.microsoft.com/office/drawing/2014/main" id="{7BA4D8C0-C43A-85A0-FDCE-3695820A6A1E}"/>
                    </a:ext>
                  </a:extLst>
                </p:cNvPr>
                <p:cNvSpPr>
                  <a:spLocks noChangeArrowheads="1"/>
                </p:cNvSpPr>
                <p:nvPr/>
              </p:nvSpPr>
              <p:spPr bwMode="auto">
                <a:xfrm>
                  <a:off x="362" y="2997"/>
                  <a:ext cx="456" cy="36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16" name="Line 37">
                  <a:extLst>
                    <a:ext uri="{FF2B5EF4-FFF2-40B4-BE49-F238E27FC236}">
                      <a16:creationId xmlns:a16="http://schemas.microsoft.com/office/drawing/2014/main" id="{27593D1E-AF5B-981C-6796-3880239796AE}"/>
                    </a:ext>
                  </a:extLst>
                </p:cNvPr>
                <p:cNvSpPr>
                  <a:spLocks noChangeShapeType="1"/>
                </p:cNvSpPr>
                <p:nvPr/>
              </p:nvSpPr>
              <p:spPr bwMode="auto">
                <a:xfrm>
                  <a:off x="365" y="3189"/>
                  <a:ext cx="449" cy="1"/>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617" name="Group 38">
                  <a:extLst>
                    <a:ext uri="{FF2B5EF4-FFF2-40B4-BE49-F238E27FC236}">
                      <a16:creationId xmlns:a16="http://schemas.microsoft.com/office/drawing/2014/main" id="{7F83FD4F-D4B9-9687-4E3D-88B4AC38576F}"/>
                    </a:ext>
                  </a:extLst>
                </p:cNvPr>
                <p:cNvGrpSpPr>
                  <a:grpSpLocks/>
                </p:cNvGrpSpPr>
                <p:nvPr/>
              </p:nvGrpSpPr>
              <p:grpSpPr bwMode="auto">
                <a:xfrm flipV="1">
                  <a:off x="462" y="3188"/>
                  <a:ext cx="101" cy="112"/>
                  <a:chOff x="720" y="3354"/>
                  <a:chExt cx="192" cy="198"/>
                </a:xfrm>
              </p:grpSpPr>
              <p:sp>
                <p:nvSpPr>
                  <p:cNvPr id="620" name="Oval 39">
                    <a:extLst>
                      <a:ext uri="{FF2B5EF4-FFF2-40B4-BE49-F238E27FC236}">
                        <a16:creationId xmlns:a16="http://schemas.microsoft.com/office/drawing/2014/main" id="{677F8667-E560-FB8C-BBAF-CE770B9287D0}"/>
                      </a:ext>
                    </a:extLst>
                  </p:cNvPr>
                  <p:cNvSpPr>
                    <a:spLocks noChangeArrowheads="1"/>
                  </p:cNvSpPr>
                  <p:nvPr/>
                </p:nvSpPr>
                <p:spPr bwMode="auto">
                  <a:xfrm>
                    <a:off x="768" y="3408"/>
                    <a:ext cx="96" cy="9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21" name="AutoShape 40">
                    <a:extLst>
                      <a:ext uri="{FF2B5EF4-FFF2-40B4-BE49-F238E27FC236}">
                        <a16:creationId xmlns:a16="http://schemas.microsoft.com/office/drawing/2014/main" id="{5E817066-54E0-9F0C-886F-FBA375C8CC03}"/>
                      </a:ext>
                    </a:extLst>
                  </p:cNvPr>
                  <p:cNvSpPr>
                    <a:spLocks noChangeArrowheads="1"/>
                  </p:cNvSpPr>
                  <p:nvPr/>
                </p:nvSpPr>
                <p:spPr bwMode="auto">
                  <a:xfrm>
                    <a:off x="720" y="3354"/>
                    <a:ext cx="192" cy="198"/>
                  </a:xfrm>
                  <a:custGeom>
                    <a:avLst/>
                    <a:gdLst>
                      <a:gd name="T0" fmla="*/ 1 w 21600"/>
                      <a:gd name="T1" fmla="*/ 0 h 21600"/>
                      <a:gd name="T2" fmla="*/ 0 w 21600"/>
                      <a:gd name="T3" fmla="*/ 1 h 21600"/>
                      <a:gd name="T4" fmla="*/ 1 w 21600"/>
                      <a:gd name="T5" fmla="*/ 0 h 21600"/>
                      <a:gd name="T6" fmla="*/ 1 w 21600"/>
                      <a:gd name="T7" fmla="*/ 1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18" name="Text Box 41">
                  <a:extLst>
                    <a:ext uri="{FF2B5EF4-FFF2-40B4-BE49-F238E27FC236}">
                      <a16:creationId xmlns:a16="http://schemas.microsoft.com/office/drawing/2014/main" id="{5B131972-E232-6472-1EB5-7BA6D44563F7}"/>
                    </a:ext>
                  </a:extLst>
                </p:cNvPr>
                <p:cNvSpPr txBox="1">
                  <a:spLocks noChangeArrowheads="1"/>
                </p:cNvSpPr>
                <p:nvPr/>
              </p:nvSpPr>
              <p:spPr bwMode="auto">
                <a:xfrm>
                  <a:off x="584" y="3202"/>
                  <a:ext cx="155" cy="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700" b="0"/>
                    <a:t>= 3</a:t>
                  </a:r>
                </a:p>
              </p:txBody>
            </p:sp>
            <p:sp>
              <p:nvSpPr>
                <p:cNvPr id="619" name="Text Box 42">
                  <a:extLst>
                    <a:ext uri="{FF2B5EF4-FFF2-40B4-BE49-F238E27FC236}">
                      <a16:creationId xmlns:a16="http://schemas.microsoft.com/office/drawing/2014/main" id="{DE8E38A4-1D5A-69BA-DA2B-6A4C5271636A}"/>
                    </a:ext>
                  </a:extLst>
                </p:cNvPr>
                <p:cNvSpPr txBox="1">
                  <a:spLocks noChangeArrowheads="1"/>
                </p:cNvSpPr>
                <p:nvPr/>
              </p:nvSpPr>
              <p:spPr bwMode="auto">
                <a:xfrm>
                  <a:off x="379" y="2972"/>
                  <a:ext cx="426" cy="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t>Receipt and Scan Cell</a:t>
                  </a:r>
                </a:p>
                <a:p>
                  <a:pPr algn="ctr">
                    <a:lnSpc>
                      <a:spcPct val="100000"/>
                    </a:lnSpc>
                    <a:spcBef>
                      <a:spcPct val="0"/>
                    </a:spcBef>
                    <a:spcAft>
                      <a:spcPct val="0"/>
                    </a:spcAft>
                    <a:buClrTx/>
                    <a:buSzTx/>
                    <a:buFontTx/>
                    <a:buNone/>
                  </a:pPr>
                  <a:r>
                    <a:rPr lang="en-US" altLang="en-US" sz="700" b="0"/>
                    <a:t>Takt Time = 18”</a:t>
                  </a:r>
                </a:p>
              </p:txBody>
            </p:sp>
          </p:grpSp>
          <p:sp>
            <p:nvSpPr>
              <p:cNvPr id="613" name="Rectangle 43">
                <a:extLst>
                  <a:ext uri="{FF2B5EF4-FFF2-40B4-BE49-F238E27FC236}">
                    <a16:creationId xmlns:a16="http://schemas.microsoft.com/office/drawing/2014/main" id="{C2CD974A-4CB4-567B-5EC3-6B3901788B51}"/>
                  </a:ext>
                </a:extLst>
              </p:cNvPr>
              <p:cNvSpPr>
                <a:spLocks noChangeArrowheads="1"/>
              </p:cNvSpPr>
              <p:nvPr/>
            </p:nvSpPr>
            <p:spPr bwMode="auto">
              <a:xfrm>
                <a:off x="416" y="3047"/>
                <a:ext cx="576" cy="346"/>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14" name="Rectangle 44">
                <a:extLst>
                  <a:ext uri="{FF2B5EF4-FFF2-40B4-BE49-F238E27FC236}">
                    <a16:creationId xmlns:a16="http://schemas.microsoft.com/office/drawing/2014/main" id="{B7BCE3A9-C80E-862B-DFC7-418432B42987}"/>
                  </a:ext>
                </a:extLst>
              </p:cNvPr>
              <p:cNvSpPr>
                <a:spLocks noChangeArrowheads="1"/>
              </p:cNvSpPr>
              <p:nvPr/>
            </p:nvSpPr>
            <p:spPr bwMode="auto">
              <a:xfrm>
                <a:off x="404" y="3033"/>
                <a:ext cx="580" cy="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45720">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25000"/>
                  </a:lnSpc>
                  <a:spcBef>
                    <a:spcPct val="0"/>
                  </a:spcBef>
                  <a:spcAft>
                    <a:spcPct val="0"/>
                  </a:spcAft>
                  <a:buClrTx/>
                  <a:buSzTx/>
                  <a:buFontTx/>
                  <a:buNone/>
                </a:pPr>
                <a:r>
                  <a:rPr lang="en-US" altLang="en-US" sz="500" b="0"/>
                  <a:t>Volume = 1,500</a:t>
                </a:r>
              </a:p>
              <a:p>
                <a:pPr>
                  <a:lnSpc>
                    <a:spcPct val="125000"/>
                  </a:lnSpc>
                  <a:spcBef>
                    <a:spcPct val="0"/>
                  </a:spcBef>
                  <a:spcAft>
                    <a:spcPct val="0"/>
                  </a:spcAft>
                  <a:buClrTx/>
                  <a:buSzTx/>
                  <a:buFontTx/>
                  <a:buNone/>
                </a:pPr>
                <a:r>
                  <a:rPr lang="en-US" altLang="en-US" sz="500" b="0"/>
                  <a:t>Processing Time = 45”</a:t>
                </a:r>
              </a:p>
              <a:p>
                <a:pPr>
                  <a:lnSpc>
                    <a:spcPct val="125000"/>
                  </a:lnSpc>
                  <a:spcBef>
                    <a:spcPct val="0"/>
                  </a:spcBef>
                  <a:spcAft>
                    <a:spcPct val="0"/>
                  </a:spcAft>
                  <a:buClrTx/>
                  <a:buSzTx/>
                  <a:buFontTx/>
                  <a:buNone/>
                </a:pPr>
                <a:r>
                  <a:rPr lang="en-US" altLang="en-US" sz="500" b="0"/>
                  <a:t>DOI = 15”</a:t>
                </a:r>
              </a:p>
              <a:p>
                <a:pPr>
                  <a:lnSpc>
                    <a:spcPct val="125000"/>
                  </a:lnSpc>
                  <a:spcBef>
                    <a:spcPct val="0"/>
                  </a:spcBef>
                  <a:spcAft>
                    <a:spcPct val="0"/>
                  </a:spcAft>
                  <a:buClrTx/>
                  <a:buSzTx/>
                  <a:buFontTx/>
                  <a:buNone/>
                </a:pPr>
                <a:r>
                  <a:rPr lang="en-US" altLang="en-US" sz="500" b="0"/>
                  <a:t>Quality = 99%</a:t>
                </a:r>
              </a:p>
              <a:p>
                <a:pPr>
                  <a:lnSpc>
                    <a:spcPct val="125000"/>
                  </a:lnSpc>
                  <a:spcBef>
                    <a:spcPct val="0"/>
                  </a:spcBef>
                  <a:spcAft>
                    <a:spcPct val="0"/>
                  </a:spcAft>
                  <a:buClrTx/>
                  <a:buSzTx/>
                  <a:buFontTx/>
                  <a:buNone/>
                </a:pPr>
                <a:r>
                  <a:rPr lang="en-US" altLang="en-US" sz="500" b="0"/>
                  <a:t># Rework = 0</a:t>
                </a:r>
              </a:p>
            </p:txBody>
          </p:sp>
        </p:grpSp>
        <p:sp>
          <p:nvSpPr>
            <p:cNvPr id="622" name="Line 45">
              <a:extLst>
                <a:ext uri="{FF2B5EF4-FFF2-40B4-BE49-F238E27FC236}">
                  <a16:creationId xmlns:a16="http://schemas.microsoft.com/office/drawing/2014/main" id="{6CAB3938-73CE-AC8D-858E-D3BBBD759FFE}"/>
                </a:ext>
              </a:extLst>
            </p:cNvPr>
            <p:cNvSpPr>
              <a:spLocks noChangeShapeType="1"/>
            </p:cNvSpPr>
            <p:nvPr/>
          </p:nvSpPr>
          <p:spPr bwMode="auto">
            <a:xfrm flipV="1">
              <a:off x="7321550" y="5957888"/>
              <a:ext cx="692150" cy="635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23" name="Line 46">
              <a:extLst>
                <a:ext uri="{FF2B5EF4-FFF2-40B4-BE49-F238E27FC236}">
                  <a16:creationId xmlns:a16="http://schemas.microsoft.com/office/drawing/2014/main" id="{2EA0207A-B939-23E3-41DD-866D0519AB52}"/>
                </a:ext>
              </a:extLst>
            </p:cNvPr>
            <p:cNvSpPr>
              <a:spLocks noChangeShapeType="1"/>
            </p:cNvSpPr>
            <p:nvPr/>
          </p:nvSpPr>
          <p:spPr bwMode="auto">
            <a:xfrm>
              <a:off x="8032750" y="6230938"/>
              <a:ext cx="62865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24" name="Line 47">
              <a:extLst>
                <a:ext uri="{FF2B5EF4-FFF2-40B4-BE49-F238E27FC236}">
                  <a16:creationId xmlns:a16="http://schemas.microsoft.com/office/drawing/2014/main" id="{A1B55E2C-838A-2DD4-172D-CF6EF4FB3366}"/>
                </a:ext>
              </a:extLst>
            </p:cNvPr>
            <p:cNvSpPr>
              <a:spLocks noChangeShapeType="1"/>
            </p:cNvSpPr>
            <p:nvPr/>
          </p:nvSpPr>
          <p:spPr bwMode="auto">
            <a:xfrm>
              <a:off x="4775200" y="5957888"/>
              <a:ext cx="1816100" cy="635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25" name="Line 48">
              <a:extLst>
                <a:ext uri="{FF2B5EF4-FFF2-40B4-BE49-F238E27FC236}">
                  <a16:creationId xmlns:a16="http://schemas.microsoft.com/office/drawing/2014/main" id="{C9B9DEF8-1330-4903-8F80-0E9BA88E212F}"/>
                </a:ext>
              </a:extLst>
            </p:cNvPr>
            <p:cNvSpPr>
              <a:spLocks noChangeShapeType="1"/>
            </p:cNvSpPr>
            <p:nvPr/>
          </p:nvSpPr>
          <p:spPr bwMode="auto">
            <a:xfrm>
              <a:off x="3981450" y="6218238"/>
              <a:ext cx="7747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26" name="Line 49">
              <a:extLst>
                <a:ext uri="{FF2B5EF4-FFF2-40B4-BE49-F238E27FC236}">
                  <a16:creationId xmlns:a16="http://schemas.microsoft.com/office/drawing/2014/main" id="{371DAA47-A367-DAC6-CE1C-DDCA4C6A0FDC}"/>
                </a:ext>
              </a:extLst>
            </p:cNvPr>
            <p:cNvSpPr>
              <a:spLocks noChangeShapeType="1"/>
            </p:cNvSpPr>
            <p:nvPr/>
          </p:nvSpPr>
          <p:spPr bwMode="auto">
            <a:xfrm>
              <a:off x="3276600" y="5964238"/>
              <a:ext cx="6858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27" name="Line 50">
              <a:extLst>
                <a:ext uri="{FF2B5EF4-FFF2-40B4-BE49-F238E27FC236}">
                  <a16:creationId xmlns:a16="http://schemas.microsoft.com/office/drawing/2014/main" id="{77DEDFB2-C442-3C46-3501-EE6530756B24}"/>
                </a:ext>
              </a:extLst>
            </p:cNvPr>
            <p:cNvSpPr>
              <a:spLocks noChangeShapeType="1"/>
            </p:cNvSpPr>
            <p:nvPr/>
          </p:nvSpPr>
          <p:spPr bwMode="auto">
            <a:xfrm flipV="1">
              <a:off x="1651000" y="5964238"/>
              <a:ext cx="679450" cy="635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28" name="Line 51">
              <a:extLst>
                <a:ext uri="{FF2B5EF4-FFF2-40B4-BE49-F238E27FC236}">
                  <a16:creationId xmlns:a16="http://schemas.microsoft.com/office/drawing/2014/main" id="{29223B78-522E-51AD-4E9A-004DAE539469}"/>
                </a:ext>
              </a:extLst>
            </p:cNvPr>
            <p:cNvSpPr>
              <a:spLocks noChangeShapeType="1"/>
            </p:cNvSpPr>
            <p:nvPr/>
          </p:nvSpPr>
          <p:spPr bwMode="auto">
            <a:xfrm flipV="1">
              <a:off x="184150" y="5957888"/>
              <a:ext cx="565150" cy="635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29" name="Line 52">
              <a:extLst>
                <a:ext uri="{FF2B5EF4-FFF2-40B4-BE49-F238E27FC236}">
                  <a16:creationId xmlns:a16="http://schemas.microsoft.com/office/drawing/2014/main" id="{79A75E70-11C2-565D-BE12-6E484EE0A786}"/>
                </a:ext>
              </a:extLst>
            </p:cNvPr>
            <p:cNvSpPr>
              <a:spLocks noChangeShapeType="1"/>
            </p:cNvSpPr>
            <p:nvPr/>
          </p:nvSpPr>
          <p:spPr bwMode="auto">
            <a:xfrm>
              <a:off x="6604000" y="6230938"/>
              <a:ext cx="71755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30" name="Line 53">
              <a:extLst>
                <a:ext uri="{FF2B5EF4-FFF2-40B4-BE49-F238E27FC236}">
                  <a16:creationId xmlns:a16="http://schemas.microsoft.com/office/drawing/2014/main" id="{C87F4CD5-6221-E063-5286-3B2913E93905}"/>
                </a:ext>
              </a:extLst>
            </p:cNvPr>
            <p:cNvSpPr>
              <a:spLocks noChangeShapeType="1"/>
            </p:cNvSpPr>
            <p:nvPr/>
          </p:nvSpPr>
          <p:spPr bwMode="auto">
            <a:xfrm>
              <a:off x="2324100" y="6230938"/>
              <a:ext cx="9525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31" name="Line 54">
              <a:extLst>
                <a:ext uri="{FF2B5EF4-FFF2-40B4-BE49-F238E27FC236}">
                  <a16:creationId xmlns:a16="http://schemas.microsoft.com/office/drawing/2014/main" id="{88831889-33CA-85DA-D1E0-FBDBA4E3482E}"/>
                </a:ext>
              </a:extLst>
            </p:cNvPr>
            <p:cNvSpPr>
              <a:spLocks noChangeShapeType="1"/>
            </p:cNvSpPr>
            <p:nvPr/>
          </p:nvSpPr>
          <p:spPr bwMode="auto">
            <a:xfrm>
              <a:off x="746125" y="6230938"/>
              <a:ext cx="892175"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cxnSp>
          <p:nvCxnSpPr>
            <p:cNvPr id="632" name="AutoShape 55">
              <a:extLst>
                <a:ext uri="{FF2B5EF4-FFF2-40B4-BE49-F238E27FC236}">
                  <a16:creationId xmlns:a16="http://schemas.microsoft.com/office/drawing/2014/main" id="{64D1510F-0415-2AAD-ACF0-68D38919FA6D}"/>
                </a:ext>
              </a:extLst>
            </p:cNvPr>
            <p:cNvCxnSpPr>
              <a:cxnSpLocks noChangeShapeType="1"/>
              <a:stCxn id="628" idx="1"/>
            </p:cNvCxnSpPr>
            <p:nvPr/>
          </p:nvCxnSpPr>
          <p:spPr bwMode="auto">
            <a:xfrm>
              <a:off x="749300" y="5957888"/>
              <a:ext cx="0" cy="26035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3" name="AutoShape 56">
              <a:extLst>
                <a:ext uri="{FF2B5EF4-FFF2-40B4-BE49-F238E27FC236}">
                  <a16:creationId xmlns:a16="http://schemas.microsoft.com/office/drawing/2014/main" id="{427D8BA8-E07B-19B5-4AB2-9F8B94E58C81}"/>
                </a:ext>
              </a:extLst>
            </p:cNvPr>
            <p:cNvCxnSpPr>
              <a:cxnSpLocks noChangeShapeType="1"/>
            </p:cNvCxnSpPr>
            <p:nvPr/>
          </p:nvCxnSpPr>
          <p:spPr bwMode="auto">
            <a:xfrm>
              <a:off x="1644650" y="5964238"/>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4" name="AutoShape 57">
              <a:extLst>
                <a:ext uri="{FF2B5EF4-FFF2-40B4-BE49-F238E27FC236}">
                  <a16:creationId xmlns:a16="http://schemas.microsoft.com/office/drawing/2014/main" id="{49A64450-A0D8-8A5F-6E02-AC2D94874F1D}"/>
                </a:ext>
              </a:extLst>
            </p:cNvPr>
            <p:cNvCxnSpPr>
              <a:cxnSpLocks noChangeShapeType="1"/>
            </p:cNvCxnSpPr>
            <p:nvPr/>
          </p:nvCxnSpPr>
          <p:spPr bwMode="auto">
            <a:xfrm flipV="1">
              <a:off x="2330450" y="5964238"/>
              <a:ext cx="635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5" name="AutoShape 58">
              <a:extLst>
                <a:ext uri="{FF2B5EF4-FFF2-40B4-BE49-F238E27FC236}">
                  <a16:creationId xmlns:a16="http://schemas.microsoft.com/office/drawing/2014/main" id="{1945AE56-1955-6528-FF68-58BA677E66EA}"/>
                </a:ext>
              </a:extLst>
            </p:cNvPr>
            <p:cNvCxnSpPr>
              <a:cxnSpLocks noChangeShapeType="1"/>
            </p:cNvCxnSpPr>
            <p:nvPr/>
          </p:nvCxnSpPr>
          <p:spPr bwMode="auto">
            <a:xfrm flipV="1">
              <a:off x="4775200" y="5951538"/>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6" name="AutoShape 59">
              <a:extLst>
                <a:ext uri="{FF2B5EF4-FFF2-40B4-BE49-F238E27FC236}">
                  <a16:creationId xmlns:a16="http://schemas.microsoft.com/office/drawing/2014/main" id="{161B33D5-35F3-873D-53E5-A6B263EA1E5D}"/>
                </a:ext>
              </a:extLst>
            </p:cNvPr>
            <p:cNvCxnSpPr>
              <a:cxnSpLocks noChangeShapeType="1"/>
            </p:cNvCxnSpPr>
            <p:nvPr/>
          </p:nvCxnSpPr>
          <p:spPr bwMode="auto">
            <a:xfrm flipV="1">
              <a:off x="3276600" y="5964238"/>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7" name="AutoShape 60">
              <a:extLst>
                <a:ext uri="{FF2B5EF4-FFF2-40B4-BE49-F238E27FC236}">
                  <a16:creationId xmlns:a16="http://schemas.microsoft.com/office/drawing/2014/main" id="{E8A996AA-B82D-F780-22D8-C1497ACBB4AA}"/>
                </a:ext>
              </a:extLst>
            </p:cNvPr>
            <p:cNvCxnSpPr>
              <a:cxnSpLocks noChangeShapeType="1"/>
            </p:cNvCxnSpPr>
            <p:nvPr/>
          </p:nvCxnSpPr>
          <p:spPr bwMode="auto">
            <a:xfrm flipV="1">
              <a:off x="8026400" y="5964238"/>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8" name="AutoShape 61">
              <a:extLst>
                <a:ext uri="{FF2B5EF4-FFF2-40B4-BE49-F238E27FC236}">
                  <a16:creationId xmlns:a16="http://schemas.microsoft.com/office/drawing/2014/main" id="{24EFF08E-CAD7-40BF-B4D7-9C6B05716BD1}"/>
                </a:ext>
              </a:extLst>
            </p:cNvPr>
            <p:cNvCxnSpPr>
              <a:cxnSpLocks noChangeShapeType="1"/>
            </p:cNvCxnSpPr>
            <p:nvPr/>
          </p:nvCxnSpPr>
          <p:spPr bwMode="auto">
            <a:xfrm flipV="1">
              <a:off x="3968750" y="5964238"/>
              <a:ext cx="1588" cy="26035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9" name="AutoShape 62">
              <a:extLst>
                <a:ext uri="{FF2B5EF4-FFF2-40B4-BE49-F238E27FC236}">
                  <a16:creationId xmlns:a16="http://schemas.microsoft.com/office/drawing/2014/main" id="{7117C629-DB59-3F88-9A0F-F437F105DBF9}"/>
                </a:ext>
              </a:extLst>
            </p:cNvPr>
            <p:cNvCxnSpPr>
              <a:cxnSpLocks noChangeShapeType="1"/>
            </p:cNvCxnSpPr>
            <p:nvPr/>
          </p:nvCxnSpPr>
          <p:spPr bwMode="auto">
            <a:xfrm flipV="1">
              <a:off x="6604000" y="5964238"/>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0" name="AutoShape 63">
              <a:extLst>
                <a:ext uri="{FF2B5EF4-FFF2-40B4-BE49-F238E27FC236}">
                  <a16:creationId xmlns:a16="http://schemas.microsoft.com/office/drawing/2014/main" id="{D53DB224-21C4-B2B0-E363-EFD7265982E5}"/>
                </a:ext>
              </a:extLst>
            </p:cNvPr>
            <p:cNvCxnSpPr>
              <a:cxnSpLocks noChangeShapeType="1"/>
            </p:cNvCxnSpPr>
            <p:nvPr/>
          </p:nvCxnSpPr>
          <p:spPr bwMode="auto">
            <a:xfrm flipV="1">
              <a:off x="7321550" y="5964238"/>
              <a:ext cx="0" cy="26670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1" name="Text Box 64">
              <a:extLst>
                <a:ext uri="{FF2B5EF4-FFF2-40B4-BE49-F238E27FC236}">
                  <a16:creationId xmlns:a16="http://schemas.microsoft.com/office/drawing/2014/main" id="{F0FE8EAC-7FB4-A4AD-1920-3F03DAD14EAB}"/>
                </a:ext>
              </a:extLst>
            </p:cNvPr>
            <p:cNvSpPr txBox="1">
              <a:spLocks noChangeArrowheads="1"/>
            </p:cNvSpPr>
            <p:nvPr/>
          </p:nvSpPr>
          <p:spPr bwMode="auto">
            <a:xfrm>
              <a:off x="1765300" y="5703888"/>
              <a:ext cx="450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0.20</a:t>
              </a:r>
            </a:p>
            <a:p>
              <a:pPr algn="ctr">
                <a:lnSpc>
                  <a:spcPct val="100000"/>
                </a:lnSpc>
                <a:spcBef>
                  <a:spcPct val="0"/>
                </a:spcBef>
                <a:spcAft>
                  <a:spcPct val="0"/>
                </a:spcAft>
                <a:buClrTx/>
                <a:buSzTx/>
                <a:buFontTx/>
                <a:buNone/>
              </a:pPr>
              <a:r>
                <a:rPr lang="en-US" altLang="en-US" sz="700" b="0">
                  <a:solidFill>
                    <a:srgbClr val="FF0000"/>
                  </a:solidFill>
                </a:rPr>
                <a:t>Days</a:t>
              </a:r>
            </a:p>
          </p:txBody>
        </p:sp>
        <p:sp>
          <p:nvSpPr>
            <p:cNvPr id="642" name="Text Box 65">
              <a:extLst>
                <a:ext uri="{FF2B5EF4-FFF2-40B4-BE49-F238E27FC236}">
                  <a16:creationId xmlns:a16="http://schemas.microsoft.com/office/drawing/2014/main" id="{28D30631-3E5E-DD8A-B5FD-D937F8CD79FF}"/>
                </a:ext>
              </a:extLst>
            </p:cNvPr>
            <p:cNvSpPr txBox="1">
              <a:spLocks noChangeArrowheads="1"/>
            </p:cNvSpPr>
            <p:nvPr/>
          </p:nvSpPr>
          <p:spPr bwMode="auto">
            <a:xfrm>
              <a:off x="3390900" y="5703888"/>
              <a:ext cx="450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0.20</a:t>
              </a:r>
            </a:p>
            <a:p>
              <a:pPr algn="ctr">
                <a:lnSpc>
                  <a:spcPct val="100000"/>
                </a:lnSpc>
                <a:spcBef>
                  <a:spcPct val="0"/>
                </a:spcBef>
                <a:spcAft>
                  <a:spcPct val="0"/>
                </a:spcAft>
                <a:buClrTx/>
                <a:buSzTx/>
                <a:buFontTx/>
                <a:buNone/>
              </a:pPr>
              <a:r>
                <a:rPr lang="en-US" altLang="en-US" sz="700" b="0">
                  <a:solidFill>
                    <a:srgbClr val="FF0000"/>
                  </a:solidFill>
                </a:rPr>
                <a:t>Days</a:t>
              </a:r>
            </a:p>
          </p:txBody>
        </p:sp>
        <p:sp>
          <p:nvSpPr>
            <p:cNvPr id="643" name="Text Box 66">
              <a:extLst>
                <a:ext uri="{FF2B5EF4-FFF2-40B4-BE49-F238E27FC236}">
                  <a16:creationId xmlns:a16="http://schemas.microsoft.com/office/drawing/2014/main" id="{FB2C1920-91DF-8713-02E4-232A94848347}"/>
                </a:ext>
              </a:extLst>
            </p:cNvPr>
            <p:cNvSpPr txBox="1">
              <a:spLocks noChangeArrowheads="1"/>
            </p:cNvSpPr>
            <p:nvPr/>
          </p:nvSpPr>
          <p:spPr bwMode="auto">
            <a:xfrm>
              <a:off x="8089900" y="6034088"/>
              <a:ext cx="450850"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20”</a:t>
              </a:r>
            </a:p>
          </p:txBody>
        </p:sp>
        <p:sp>
          <p:nvSpPr>
            <p:cNvPr id="644" name="Text Box 67">
              <a:extLst>
                <a:ext uri="{FF2B5EF4-FFF2-40B4-BE49-F238E27FC236}">
                  <a16:creationId xmlns:a16="http://schemas.microsoft.com/office/drawing/2014/main" id="{A2BA5367-9D01-48C0-C3D6-C601D2227EBE}"/>
                </a:ext>
              </a:extLst>
            </p:cNvPr>
            <p:cNvSpPr txBox="1">
              <a:spLocks noChangeArrowheads="1"/>
            </p:cNvSpPr>
            <p:nvPr/>
          </p:nvSpPr>
          <p:spPr bwMode="auto">
            <a:xfrm>
              <a:off x="7426325" y="5637213"/>
              <a:ext cx="450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.5</a:t>
              </a:r>
            </a:p>
            <a:p>
              <a:pPr algn="ctr">
                <a:lnSpc>
                  <a:spcPct val="100000"/>
                </a:lnSpc>
                <a:spcBef>
                  <a:spcPct val="0"/>
                </a:spcBef>
                <a:spcAft>
                  <a:spcPct val="0"/>
                </a:spcAft>
                <a:buClrTx/>
                <a:buSzTx/>
                <a:buFontTx/>
                <a:buNone/>
              </a:pPr>
              <a:r>
                <a:rPr lang="en-US" altLang="en-US" sz="700" b="0">
                  <a:solidFill>
                    <a:srgbClr val="FF0000"/>
                  </a:solidFill>
                </a:rPr>
                <a:t>Day</a:t>
              </a:r>
            </a:p>
          </p:txBody>
        </p:sp>
        <p:sp>
          <p:nvSpPr>
            <p:cNvPr id="645" name="Text Box 68">
              <a:extLst>
                <a:ext uri="{FF2B5EF4-FFF2-40B4-BE49-F238E27FC236}">
                  <a16:creationId xmlns:a16="http://schemas.microsoft.com/office/drawing/2014/main" id="{3A47A63D-E3D1-9DCF-8427-9228B749C0C2}"/>
                </a:ext>
              </a:extLst>
            </p:cNvPr>
            <p:cNvSpPr txBox="1">
              <a:spLocks noChangeArrowheads="1"/>
            </p:cNvSpPr>
            <p:nvPr/>
          </p:nvSpPr>
          <p:spPr bwMode="auto">
            <a:xfrm>
              <a:off x="114300" y="5703888"/>
              <a:ext cx="450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0.50</a:t>
              </a:r>
            </a:p>
            <a:p>
              <a:pPr algn="ctr">
                <a:lnSpc>
                  <a:spcPct val="100000"/>
                </a:lnSpc>
                <a:spcBef>
                  <a:spcPct val="0"/>
                </a:spcBef>
                <a:spcAft>
                  <a:spcPct val="0"/>
                </a:spcAft>
                <a:buClrTx/>
                <a:buSzTx/>
                <a:buFontTx/>
                <a:buNone/>
              </a:pPr>
              <a:r>
                <a:rPr lang="en-US" altLang="en-US" sz="700" b="0">
                  <a:solidFill>
                    <a:srgbClr val="FF0000"/>
                  </a:solidFill>
                </a:rPr>
                <a:t>Days</a:t>
              </a:r>
            </a:p>
          </p:txBody>
        </p:sp>
        <p:sp>
          <p:nvSpPr>
            <p:cNvPr id="646" name="Text Box 69">
              <a:extLst>
                <a:ext uri="{FF2B5EF4-FFF2-40B4-BE49-F238E27FC236}">
                  <a16:creationId xmlns:a16="http://schemas.microsoft.com/office/drawing/2014/main" id="{D2647371-D9DC-2B1B-1223-A95C2DB13089}"/>
                </a:ext>
              </a:extLst>
            </p:cNvPr>
            <p:cNvSpPr txBox="1">
              <a:spLocks noChangeArrowheads="1"/>
            </p:cNvSpPr>
            <p:nvPr/>
          </p:nvSpPr>
          <p:spPr bwMode="auto">
            <a:xfrm>
              <a:off x="2603500" y="6034088"/>
              <a:ext cx="450850"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180”</a:t>
              </a:r>
            </a:p>
          </p:txBody>
        </p:sp>
        <p:sp>
          <p:nvSpPr>
            <p:cNvPr id="647" name="Text Box 70">
              <a:extLst>
                <a:ext uri="{FF2B5EF4-FFF2-40B4-BE49-F238E27FC236}">
                  <a16:creationId xmlns:a16="http://schemas.microsoft.com/office/drawing/2014/main" id="{E6B5323B-F6F8-AA44-6B24-1CCB3D3E21A4}"/>
                </a:ext>
              </a:extLst>
            </p:cNvPr>
            <p:cNvSpPr txBox="1">
              <a:spLocks noChangeArrowheads="1"/>
            </p:cNvSpPr>
            <p:nvPr/>
          </p:nvSpPr>
          <p:spPr bwMode="auto">
            <a:xfrm>
              <a:off x="1009650" y="6034088"/>
              <a:ext cx="450850"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30”</a:t>
              </a:r>
            </a:p>
          </p:txBody>
        </p:sp>
        <p:sp>
          <p:nvSpPr>
            <p:cNvPr id="648" name="Text Box 71">
              <a:extLst>
                <a:ext uri="{FF2B5EF4-FFF2-40B4-BE49-F238E27FC236}">
                  <a16:creationId xmlns:a16="http://schemas.microsoft.com/office/drawing/2014/main" id="{B8D73C37-4891-3357-9999-78FAC90154D6}"/>
                </a:ext>
              </a:extLst>
            </p:cNvPr>
            <p:cNvSpPr txBox="1">
              <a:spLocks noChangeArrowheads="1"/>
            </p:cNvSpPr>
            <p:nvPr/>
          </p:nvSpPr>
          <p:spPr bwMode="auto">
            <a:xfrm>
              <a:off x="4133850" y="6002338"/>
              <a:ext cx="450850"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72”</a:t>
              </a:r>
            </a:p>
          </p:txBody>
        </p:sp>
        <p:sp>
          <p:nvSpPr>
            <p:cNvPr id="649" name="Line 83">
              <a:extLst>
                <a:ext uri="{FF2B5EF4-FFF2-40B4-BE49-F238E27FC236}">
                  <a16:creationId xmlns:a16="http://schemas.microsoft.com/office/drawing/2014/main" id="{4A8D0AC6-4A45-C925-325F-52901C2A49C3}"/>
                </a:ext>
              </a:extLst>
            </p:cNvPr>
            <p:cNvSpPr>
              <a:spLocks noChangeShapeType="1"/>
            </p:cNvSpPr>
            <p:nvPr/>
          </p:nvSpPr>
          <p:spPr bwMode="auto">
            <a:xfrm flipV="1">
              <a:off x="354013" y="4376738"/>
              <a:ext cx="217487" cy="3175"/>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650" name="Group 84">
              <a:extLst>
                <a:ext uri="{FF2B5EF4-FFF2-40B4-BE49-F238E27FC236}">
                  <a16:creationId xmlns:a16="http://schemas.microsoft.com/office/drawing/2014/main" id="{DEC3E4AC-1BE0-8147-4B6C-ED914625DD47}"/>
                </a:ext>
              </a:extLst>
            </p:cNvPr>
            <p:cNvGrpSpPr>
              <a:grpSpLocks/>
            </p:cNvGrpSpPr>
            <p:nvPr/>
          </p:nvGrpSpPr>
          <p:grpSpPr bwMode="auto">
            <a:xfrm>
              <a:off x="222250" y="4230688"/>
              <a:ext cx="454025" cy="903287"/>
              <a:chOff x="140" y="2665"/>
              <a:chExt cx="286" cy="569"/>
            </a:xfrm>
          </p:grpSpPr>
          <p:sp>
            <p:nvSpPr>
              <p:cNvPr id="651" name="Text Box 85">
                <a:extLst>
                  <a:ext uri="{FF2B5EF4-FFF2-40B4-BE49-F238E27FC236}">
                    <a16:creationId xmlns:a16="http://schemas.microsoft.com/office/drawing/2014/main" id="{7E955937-365A-22CB-03BC-B689EFB43445}"/>
                  </a:ext>
                </a:extLst>
              </p:cNvPr>
              <p:cNvSpPr txBox="1">
                <a:spLocks noChangeArrowheads="1"/>
              </p:cNvSpPr>
              <p:nvPr/>
            </p:nvSpPr>
            <p:spPr bwMode="auto">
              <a:xfrm>
                <a:off x="140" y="2918"/>
                <a:ext cx="28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Aft>
                    <a:spcPct val="0"/>
                  </a:spcAft>
                  <a:buClrTx/>
                  <a:buSzTx/>
                  <a:buFontTx/>
                  <a:buNone/>
                </a:pPr>
                <a:r>
                  <a:rPr lang="en-US" altLang="en-US" sz="500" b="0">
                    <a:solidFill>
                      <a:srgbClr val="FF0000"/>
                    </a:solidFill>
                  </a:rPr>
                  <a:t>Mailbag</a:t>
                </a:r>
              </a:p>
              <a:p>
                <a:pPr algn="ctr">
                  <a:lnSpc>
                    <a:spcPct val="100000"/>
                  </a:lnSpc>
                  <a:spcAft>
                    <a:spcPct val="0"/>
                  </a:spcAft>
                  <a:buClrTx/>
                  <a:buSzTx/>
                  <a:buFontTx/>
                  <a:buNone/>
                </a:pPr>
                <a:r>
                  <a:rPr lang="en-US" altLang="en-US" sz="500" b="0">
                    <a:solidFill>
                      <a:srgbClr val="FF0000"/>
                    </a:solidFill>
                  </a:rPr>
                  <a:t>FIFO</a:t>
                </a:r>
              </a:p>
              <a:p>
                <a:pPr algn="ctr">
                  <a:lnSpc>
                    <a:spcPct val="100000"/>
                  </a:lnSpc>
                  <a:spcAft>
                    <a:spcPct val="0"/>
                  </a:spcAft>
                  <a:buClrTx/>
                  <a:buSzTx/>
                  <a:buFontTx/>
                  <a:buNone/>
                </a:pPr>
                <a:r>
                  <a:rPr lang="en-US" altLang="en-US" sz="500" b="0">
                    <a:solidFill>
                      <a:srgbClr val="FF0000"/>
                    </a:solidFill>
                  </a:rPr>
                  <a:t>750   </a:t>
                </a:r>
                <a:r>
                  <a:rPr lang="en-US" altLang="en-US" sz="400" b="0">
                    <a:solidFill>
                      <a:srgbClr val="FF0000"/>
                    </a:solidFill>
                  </a:rPr>
                  <a:t>Envelopes</a:t>
                </a:r>
              </a:p>
            </p:txBody>
          </p:sp>
          <p:sp>
            <p:nvSpPr>
              <p:cNvPr id="652" name="Rectangle 86">
                <a:extLst>
                  <a:ext uri="{FF2B5EF4-FFF2-40B4-BE49-F238E27FC236}">
                    <a16:creationId xmlns:a16="http://schemas.microsoft.com/office/drawing/2014/main" id="{749E0538-5D16-F55F-11CE-A23FFD626199}"/>
                  </a:ext>
                </a:extLst>
              </p:cNvPr>
              <p:cNvSpPr>
                <a:spLocks noChangeArrowheads="1"/>
              </p:cNvSpPr>
              <p:nvPr/>
            </p:nvSpPr>
            <p:spPr bwMode="auto">
              <a:xfrm>
                <a:off x="215" y="2709"/>
                <a:ext cx="151" cy="16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53" name="AutoShape 87">
                <a:extLst>
                  <a:ext uri="{FF2B5EF4-FFF2-40B4-BE49-F238E27FC236}">
                    <a16:creationId xmlns:a16="http://schemas.microsoft.com/office/drawing/2014/main" id="{67F4A387-D89E-B0D0-82D8-438368ABF44C}"/>
                  </a:ext>
                </a:extLst>
              </p:cNvPr>
              <p:cNvSpPr>
                <a:spLocks/>
              </p:cNvSpPr>
              <p:nvPr/>
            </p:nvSpPr>
            <p:spPr bwMode="auto">
              <a:xfrm rot="-5400000">
                <a:off x="282" y="2598"/>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54" name="AutoShape 88">
                <a:extLst>
                  <a:ext uri="{FF2B5EF4-FFF2-40B4-BE49-F238E27FC236}">
                    <a16:creationId xmlns:a16="http://schemas.microsoft.com/office/drawing/2014/main" id="{111CE7CD-245C-5EF2-0157-F5CD4B516516}"/>
                  </a:ext>
                </a:extLst>
              </p:cNvPr>
              <p:cNvSpPr>
                <a:spLocks/>
              </p:cNvSpPr>
              <p:nvPr/>
            </p:nvSpPr>
            <p:spPr bwMode="auto">
              <a:xfrm rot="-5400000">
                <a:off x="282" y="2607"/>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55" name="AutoShape 89">
                <a:extLst>
                  <a:ext uri="{FF2B5EF4-FFF2-40B4-BE49-F238E27FC236}">
                    <a16:creationId xmlns:a16="http://schemas.microsoft.com/office/drawing/2014/main" id="{8CD39403-861D-2EBA-FD8C-84849F5F3D0F}"/>
                  </a:ext>
                </a:extLst>
              </p:cNvPr>
              <p:cNvSpPr>
                <a:spLocks/>
              </p:cNvSpPr>
              <p:nvPr/>
            </p:nvSpPr>
            <p:spPr bwMode="auto">
              <a:xfrm rot="-5400000">
                <a:off x="282" y="2616"/>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656" name="Group 90">
                <a:extLst>
                  <a:ext uri="{FF2B5EF4-FFF2-40B4-BE49-F238E27FC236}">
                    <a16:creationId xmlns:a16="http://schemas.microsoft.com/office/drawing/2014/main" id="{D34C04E5-3BF0-BBD6-C2E8-25B63AFA30BC}"/>
                  </a:ext>
                </a:extLst>
              </p:cNvPr>
              <p:cNvGrpSpPr>
                <a:grpSpLocks/>
              </p:cNvGrpSpPr>
              <p:nvPr/>
            </p:nvGrpSpPr>
            <p:grpSpPr bwMode="auto">
              <a:xfrm>
                <a:off x="209" y="2898"/>
                <a:ext cx="151" cy="336"/>
                <a:chOff x="576" y="1200"/>
                <a:chExt cx="240" cy="336"/>
              </a:xfrm>
            </p:grpSpPr>
            <p:sp>
              <p:nvSpPr>
                <p:cNvPr id="658" name="Rectangle 91">
                  <a:extLst>
                    <a:ext uri="{FF2B5EF4-FFF2-40B4-BE49-F238E27FC236}">
                      <a16:creationId xmlns:a16="http://schemas.microsoft.com/office/drawing/2014/main" id="{A43671EE-56DE-938A-FA9B-61911EDF4F80}"/>
                    </a:ext>
                  </a:extLst>
                </p:cNvPr>
                <p:cNvSpPr>
                  <a:spLocks noChangeArrowheads="1"/>
                </p:cNvSpPr>
                <p:nvPr/>
              </p:nvSpPr>
              <p:spPr bwMode="auto">
                <a:xfrm>
                  <a:off x="576" y="1200"/>
                  <a:ext cx="240"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59" name="Line 92">
                  <a:extLst>
                    <a:ext uri="{FF2B5EF4-FFF2-40B4-BE49-F238E27FC236}">
                      <a16:creationId xmlns:a16="http://schemas.microsoft.com/office/drawing/2014/main" id="{CA12DF89-D889-566D-6BBE-AF2E5E052AB8}"/>
                    </a:ext>
                  </a:extLst>
                </p:cNvPr>
                <p:cNvSpPr>
                  <a:spLocks noChangeShapeType="1"/>
                </p:cNvSpPr>
                <p:nvPr/>
              </p:nvSpPr>
              <p:spPr bwMode="auto">
                <a:xfrm>
                  <a:off x="576" y="139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0" name="Line 93">
                  <a:extLst>
                    <a:ext uri="{FF2B5EF4-FFF2-40B4-BE49-F238E27FC236}">
                      <a16:creationId xmlns:a16="http://schemas.microsoft.com/office/drawing/2014/main" id="{A8761D34-901D-D2D7-2CA5-0FE382492AEB}"/>
                    </a:ext>
                  </a:extLst>
                </p:cNvPr>
                <p:cNvSpPr>
                  <a:spLocks noChangeShapeType="1"/>
                </p:cNvSpPr>
                <p:nvPr/>
              </p:nvSpPr>
              <p:spPr bwMode="auto">
                <a:xfrm>
                  <a:off x="576" y="129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657" name="Text Box 94">
                <a:extLst>
                  <a:ext uri="{FF2B5EF4-FFF2-40B4-BE49-F238E27FC236}">
                    <a16:creationId xmlns:a16="http://schemas.microsoft.com/office/drawing/2014/main" id="{337100C7-109C-3EF7-DAE5-FB7D38F5FC9B}"/>
                  </a:ext>
                </a:extLst>
              </p:cNvPr>
              <p:cNvSpPr txBox="1">
                <a:spLocks noChangeArrowheads="1"/>
              </p:cNvSpPr>
              <p:nvPr/>
            </p:nvSpPr>
            <p:spPr bwMode="auto">
              <a:xfrm>
                <a:off x="194" y="2736"/>
                <a:ext cx="168" cy="1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eaLnBrk="1" hangingPunct="1">
                  <a:lnSpc>
                    <a:spcPct val="100000"/>
                  </a:lnSpc>
                  <a:spcBef>
                    <a:spcPct val="0"/>
                  </a:spcBef>
                  <a:spcAft>
                    <a:spcPct val="0"/>
                  </a:spcAft>
                  <a:buClrTx/>
                  <a:buSzTx/>
                  <a:buFontTx/>
                  <a:buNone/>
                </a:pPr>
                <a:r>
                  <a:rPr lang="en-US" altLang="en-US" sz="600" b="0"/>
                  <a:t>IN</a:t>
                </a:r>
              </a:p>
            </p:txBody>
          </p:sp>
        </p:grpSp>
        <p:grpSp>
          <p:nvGrpSpPr>
            <p:cNvPr id="661" name="Group 95">
              <a:extLst>
                <a:ext uri="{FF2B5EF4-FFF2-40B4-BE49-F238E27FC236}">
                  <a16:creationId xmlns:a16="http://schemas.microsoft.com/office/drawing/2014/main" id="{ECE50C8F-ED95-F8D1-15AF-8E2BCEF18157}"/>
                </a:ext>
              </a:extLst>
            </p:cNvPr>
            <p:cNvGrpSpPr>
              <a:grpSpLocks/>
            </p:cNvGrpSpPr>
            <p:nvPr/>
          </p:nvGrpSpPr>
          <p:grpSpPr bwMode="auto">
            <a:xfrm>
              <a:off x="6070600" y="3890963"/>
              <a:ext cx="454025" cy="903287"/>
              <a:chOff x="3916" y="2229"/>
              <a:chExt cx="286" cy="569"/>
            </a:xfrm>
          </p:grpSpPr>
          <p:sp>
            <p:nvSpPr>
              <p:cNvPr id="662" name="Text Box 96">
                <a:extLst>
                  <a:ext uri="{FF2B5EF4-FFF2-40B4-BE49-F238E27FC236}">
                    <a16:creationId xmlns:a16="http://schemas.microsoft.com/office/drawing/2014/main" id="{D909E20D-2EFA-7862-5912-8353556C3C99}"/>
                  </a:ext>
                </a:extLst>
              </p:cNvPr>
              <p:cNvSpPr txBox="1">
                <a:spLocks noChangeArrowheads="1"/>
              </p:cNvSpPr>
              <p:nvPr/>
            </p:nvSpPr>
            <p:spPr bwMode="auto">
              <a:xfrm>
                <a:off x="3916" y="2482"/>
                <a:ext cx="28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Aft>
                    <a:spcPct val="0"/>
                  </a:spcAft>
                  <a:buClrTx/>
                  <a:buSzTx/>
                  <a:buFontTx/>
                  <a:buNone/>
                </a:pPr>
                <a:r>
                  <a:rPr lang="en-US" altLang="en-US" sz="500" b="0">
                    <a:solidFill>
                      <a:srgbClr val="FF0000"/>
                    </a:solidFill>
                  </a:rPr>
                  <a:t>E-File</a:t>
                </a:r>
              </a:p>
              <a:p>
                <a:pPr algn="ctr">
                  <a:lnSpc>
                    <a:spcPct val="100000"/>
                  </a:lnSpc>
                  <a:spcAft>
                    <a:spcPct val="0"/>
                  </a:spcAft>
                  <a:buClrTx/>
                  <a:buSzTx/>
                  <a:buFontTx/>
                  <a:buNone/>
                </a:pPr>
                <a:r>
                  <a:rPr lang="en-US" altLang="en-US" sz="500" b="0">
                    <a:solidFill>
                      <a:srgbClr val="FF0000"/>
                    </a:solidFill>
                  </a:rPr>
                  <a:t>Zip Code</a:t>
                </a:r>
              </a:p>
              <a:p>
                <a:pPr algn="ctr">
                  <a:lnSpc>
                    <a:spcPct val="100000"/>
                  </a:lnSpc>
                  <a:spcAft>
                    <a:spcPct val="0"/>
                  </a:spcAft>
                  <a:buClrTx/>
                  <a:buSzTx/>
                  <a:buFontTx/>
                  <a:buNone/>
                </a:pPr>
                <a:r>
                  <a:rPr lang="en-US" altLang="en-US" sz="500" b="0">
                    <a:solidFill>
                      <a:srgbClr val="FF0000"/>
                    </a:solidFill>
                  </a:rPr>
                  <a:t>1000  </a:t>
                </a:r>
                <a:r>
                  <a:rPr lang="en-US" altLang="en-US" sz="400" b="0">
                    <a:solidFill>
                      <a:srgbClr val="FF0000"/>
                    </a:solidFill>
                  </a:rPr>
                  <a:t>Application</a:t>
                </a:r>
              </a:p>
            </p:txBody>
          </p:sp>
          <p:sp>
            <p:nvSpPr>
              <p:cNvPr id="663" name="Line 97">
                <a:extLst>
                  <a:ext uri="{FF2B5EF4-FFF2-40B4-BE49-F238E27FC236}">
                    <a16:creationId xmlns:a16="http://schemas.microsoft.com/office/drawing/2014/main" id="{25388E45-082F-4027-42E7-3FE32B4A9DAF}"/>
                  </a:ext>
                </a:extLst>
              </p:cNvPr>
              <p:cNvSpPr>
                <a:spLocks noChangeShapeType="1"/>
              </p:cNvSpPr>
              <p:nvPr/>
            </p:nvSpPr>
            <p:spPr bwMode="auto">
              <a:xfrm flipV="1">
                <a:off x="3999" y="2321"/>
                <a:ext cx="137" cy="2"/>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64" name="Rectangle 98">
                <a:extLst>
                  <a:ext uri="{FF2B5EF4-FFF2-40B4-BE49-F238E27FC236}">
                    <a16:creationId xmlns:a16="http://schemas.microsoft.com/office/drawing/2014/main" id="{B8873BC9-9543-4380-63F8-B7F21EE912D8}"/>
                  </a:ext>
                </a:extLst>
              </p:cNvPr>
              <p:cNvSpPr>
                <a:spLocks noChangeArrowheads="1"/>
              </p:cNvSpPr>
              <p:nvPr/>
            </p:nvSpPr>
            <p:spPr bwMode="auto">
              <a:xfrm>
                <a:off x="3991" y="2273"/>
                <a:ext cx="151" cy="16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65" name="AutoShape 99">
                <a:extLst>
                  <a:ext uri="{FF2B5EF4-FFF2-40B4-BE49-F238E27FC236}">
                    <a16:creationId xmlns:a16="http://schemas.microsoft.com/office/drawing/2014/main" id="{198A3DE7-FBDC-7E98-6E6C-6503FBDBE161}"/>
                  </a:ext>
                </a:extLst>
              </p:cNvPr>
              <p:cNvSpPr>
                <a:spLocks/>
              </p:cNvSpPr>
              <p:nvPr/>
            </p:nvSpPr>
            <p:spPr bwMode="auto">
              <a:xfrm rot="-5400000">
                <a:off x="4058" y="2162"/>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66" name="AutoShape 100">
                <a:extLst>
                  <a:ext uri="{FF2B5EF4-FFF2-40B4-BE49-F238E27FC236}">
                    <a16:creationId xmlns:a16="http://schemas.microsoft.com/office/drawing/2014/main" id="{BE92BEA3-75B0-677F-FFF6-DD25C28F7DD7}"/>
                  </a:ext>
                </a:extLst>
              </p:cNvPr>
              <p:cNvSpPr>
                <a:spLocks/>
              </p:cNvSpPr>
              <p:nvPr/>
            </p:nvSpPr>
            <p:spPr bwMode="auto">
              <a:xfrm rot="-5400000">
                <a:off x="4058" y="2171"/>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67" name="AutoShape 101">
                <a:extLst>
                  <a:ext uri="{FF2B5EF4-FFF2-40B4-BE49-F238E27FC236}">
                    <a16:creationId xmlns:a16="http://schemas.microsoft.com/office/drawing/2014/main" id="{FEFFC470-58AA-084B-63CE-008DE83832EA}"/>
                  </a:ext>
                </a:extLst>
              </p:cNvPr>
              <p:cNvSpPr>
                <a:spLocks/>
              </p:cNvSpPr>
              <p:nvPr/>
            </p:nvSpPr>
            <p:spPr bwMode="auto">
              <a:xfrm rot="-5400000">
                <a:off x="4058" y="2180"/>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668" name="Group 102">
                <a:extLst>
                  <a:ext uri="{FF2B5EF4-FFF2-40B4-BE49-F238E27FC236}">
                    <a16:creationId xmlns:a16="http://schemas.microsoft.com/office/drawing/2014/main" id="{F27336CB-AEF6-4AC5-F4B1-4DE718A5DE30}"/>
                  </a:ext>
                </a:extLst>
              </p:cNvPr>
              <p:cNvGrpSpPr>
                <a:grpSpLocks/>
              </p:cNvGrpSpPr>
              <p:nvPr/>
            </p:nvGrpSpPr>
            <p:grpSpPr bwMode="auto">
              <a:xfrm>
                <a:off x="3985" y="2462"/>
                <a:ext cx="151" cy="336"/>
                <a:chOff x="576" y="1200"/>
                <a:chExt cx="240" cy="336"/>
              </a:xfrm>
            </p:grpSpPr>
            <p:sp>
              <p:nvSpPr>
                <p:cNvPr id="670" name="Rectangle 103">
                  <a:extLst>
                    <a:ext uri="{FF2B5EF4-FFF2-40B4-BE49-F238E27FC236}">
                      <a16:creationId xmlns:a16="http://schemas.microsoft.com/office/drawing/2014/main" id="{5360048B-D12A-86BD-7D7C-95ACD3B6029A}"/>
                    </a:ext>
                  </a:extLst>
                </p:cNvPr>
                <p:cNvSpPr>
                  <a:spLocks noChangeArrowheads="1"/>
                </p:cNvSpPr>
                <p:nvPr/>
              </p:nvSpPr>
              <p:spPr bwMode="auto">
                <a:xfrm>
                  <a:off x="576" y="1200"/>
                  <a:ext cx="240"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71" name="Line 104">
                  <a:extLst>
                    <a:ext uri="{FF2B5EF4-FFF2-40B4-BE49-F238E27FC236}">
                      <a16:creationId xmlns:a16="http://schemas.microsoft.com/office/drawing/2014/main" id="{320C49B1-CBFA-9E76-C8A6-F13B463D7C06}"/>
                    </a:ext>
                  </a:extLst>
                </p:cNvPr>
                <p:cNvSpPr>
                  <a:spLocks noChangeShapeType="1"/>
                </p:cNvSpPr>
                <p:nvPr/>
              </p:nvSpPr>
              <p:spPr bwMode="auto">
                <a:xfrm>
                  <a:off x="576" y="139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2" name="Line 105">
                  <a:extLst>
                    <a:ext uri="{FF2B5EF4-FFF2-40B4-BE49-F238E27FC236}">
                      <a16:creationId xmlns:a16="http://schemas.microsoft.com/office/drawing/2014/main" id="{79991609-09C3-CE67-6B79-C92D58350981}"/>
                    </a:ext>
                  </a:extLst>
                </p:cNvPr>
                <p:cNvSpPr>
                  <a:spLocks noChangeShapeType="1"/>
                </p:cNvSpPr>
                <p:nvPr/>
              </p:nvSpPr>
              <p:spPr bwMode="auto">
                <a:xfrm>
                  <a:off x="576" y="129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669" name="Text Box 106">
                <a:extLst>
                  <a:ext uri="{FF2B5EF4-FFF2-40B4-BE49-F238E27FC236}">
                    <a16:creationId xmlns:a16="http://schemas.microsoft.com/office/drawing/2014/main" id="{55BF1B9C-DC0D-CABA-FD6F-30C38D416339}"/>
                  </a:ext>
                </a:extLst>
              </p:cNvPr>
              <p:cNvSpPr txBox="1">
                <a:spLocks noChangeArrowheads="1"/>
              </p:cNvSpPr>
              <p:nvPr/>
            </p:nvSpPr>
            <p:spPr bwMode="auto">
              <a:xfrm>
                <a:off x="3970" y="2300"/>
                <a:ext cx="168" cy="1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eaLnBrk="1" hangingPunct="1">
                  <a:lnSpc>
                    <a:spcPct val="100000"/>
                  </a:lnSpc>
                  <a:spcBef>
                    <a:spcPct val="0"/>
                  </a:spcBef>
                  <a:spcAft>
                    <a:spcPct val="0"/>
                  </a:spcAft>
                  <a:buClrTx/>
                  <a:buSzTx/>
                  <a:buFontTx/>
                  <a:buNone/>
                </a:pPr>
                <a:r>
                  <a:rPr lang="en-US" altLang="en-US" sz="600" b="0"/>
                  <a:t>IN</a:t>
                </a:r>
              </a:p>
            </p:txBody>
          </p:sp>
        </p:grpSp>
        <p:grpSp>
          <p:nvGrpSpPr>
            <p:cNvPr id="673" name="Group 107">
              <a:extLst>
                <a:ext uri="{FF2B5EF4-FFF2-40B4-BE49-F238E27FC236}">
                  <a16:creationId xmlns:a16="http://schemas.microsoft.com/office/drawing/2014/main" id="{D468E945-3B6D-143C-1FA8-BA750ACF5327}"/>
                </a:ext>
              </a:extLst>
            </p:cNvPr>
            <p:cNvGrpSpPr>
              <a:grpSpLocks/>
            </p:cNvGrpSpPr>
            <p:nvPr/>
          </p:nvGrpSpPr>
          <p:grpSpPr bwMode="auto">
            <a:xfrm>
              <a:off x="3308350" y="4408488"/>
              <a:ext cx="454025" cy="903287"/>
              <a:chOff x="2656" y="2665"/>
              <a:chExt cx="286" cy="569"/>
            </a:xfrm>
          </p:grpSpPr>
          <p:sp>
            <p:nvSpPr>
              <p:cNvPr id="674" name="Text Box 108">
                <a:extLst>
                  <a:ext uri="{FF2B5EF4-FFF2-40B4-BE49-F238E27FC236}">
                    <a16:creationId xmlns:a16="http://schemas.microsoft.com/office/drawing/2014/main" id="{4FE69FFE-BC7C-EAF8-5758-B7468D9D2C77}"/>
                  </a:ext>
                </a:extLst>
              </p:cNvPr>
              <p:cNvSpPr txBox="1">
                <a:spLocks noChangeArrowheads="1"/>
              </p:cNvSpPr>
              <p:nvPr/>
            </p:nvSpPr>
            <p:spPr bwMode="auto">
              <a:xfrm>
                <a:off x="2656" y="2918"/>
                <a:ext cx="28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Aft>
                    <a:spcPct val="0"/>
                  </a:spcAft>
                  <a:buClrTx/>
                  <a:buSzTx/>
                  <a:buFontTx/>
                  <a:buNone/>
                </a:pPr>
                <a:r>
                  <a:rPr lang="en-US" altLang="en-US" sz="500" b="0">
                    <a:solidFill>
                      <a:srgbClr val="FF0000"/>
                    </a:solidFill>
                  </a:rPr>
                  <a:t>Outlook</a:t>
                </a:r>
              </a:p>
              <a:p>
                <a:pPr algn="ctr">
                  <a:lnSpc>
                    <a:spcPct val="100000"/>
                  </a:lnSpc>
                  <a:spcAft>
                    <a:spcPct val="0"/>
                  </a:spcAft>
                  <a:buClrTx/>
                  <a:buSzTx/>
                  <a:buFontTx/>
                  <a:buNone/>
                </a:pPr>
                <a:r>
                  <a:rPr lang="en-US" altLang="en-US" sz="500" b="0">
                    <a:solidFill>
                      <a:srgbClr val="FF0000"/>
                    </a:solidFill>
                  </a:rPr>
                  <a:t>FIFO</a:t>
                </a:r>
              </a:p>
              <a:p>
                <a:pPr algn="ctr">
                  <a:lnSpc>
                    <a:spcPct val="100000"/>
                  </a:lnSpc>
                  <a:spcAft>
                    <a:spcPct val="0"/>
                  </a:spcAft>
                  <a:buClrTx/>
                  <a:buSzTx/>
                  <a:buFontTx/>
                  <a:buNone/>
                </a:pPr>
                <a:r>
                  <a:rPr lang="en-US" altLang="en-US" sz="500" b="0">
                    <a:solidFill>
                      <a:srgbClr val="FF0000"/>
                    </a:solidFill>
                  </a:rPr>
                  <a:t>300   </a:t>
                </a:r>
                <a:r>
                  <a:rPr lang="en-US" altLang="en-US" sz="400" b="0">
                    <a:solidFill>
                      <a:srgbClr val="FF0000"/>
                    </a:solidFill>
                  </a:rPr>
                  <a:t>Application</a:t>
                </a:r>
              </a:p>
            </p:txBody>
          </p:sp>
          <p:sp>
            <p:nvSpPr>
              <p:cNvPr id="675" name="Rectangle 109">
                <a:extLst>
                  <a:ext uri="{FF2B5EF4-FFF2-40B4-BE49-F238E27FC236}">
                    <a16:creationId xmlns:a16="http://schemas.microsoft.com/office/drawing/2014/main" id="{DEE8046A-1325-DD0A-766A-9B3B6488E7D2}"/>
                  </a:ext>
                </a:extLst>
              </p:cNvPr>
              <p:cNvSpPr>
                <a:spLocks noChangeArrowheads="1"/>
              </p:cNvSpPr>
              <p:nvPr/>
            </p:nvSpPr>
            <p:spPr bwMode="auto">
              <a:xfrm>
                <a:off x="2731" y="2709"/>
                <a:ext cx="151" cy="16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76" name="AutoShape 110">
                <a:extLst>
                  <a:ext uri="{FF2B5EF4-FFF2-40B4-BE49-F238E27FC236}">
                    <a16:creationId xmlns:a16="http://schemas.microsoft.com/office/drawing/2014/main" id="{F2347125-E77B-440D-9B7B-2140EEBE409C}"/>
                  </a:ext>
                </a:extLst>
              </p:cNvPr>
              <p:cNvSpPr>
                <a:spLocks/>
              </p:cNvSpPr>
              <p:nvPr/>
            </p:nvSpPr>
            <p:spPr bwMode="auto">
              <a:xfrm rot="-5400000">
                <a:off x="2798" y="2598"/>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77" name="AutoShape 111">
                <a:extLst>
                  <a:ext uri="{FF2B5EF4-FFF2-40B4-BE49-F238E27FC236}">
                    <a16:creationId xmlns:a16="http://schemas.microsoft.com/office/drawing/2014/main" id="{51957F6E-B0D5-0FD7-2CAC-FE37CA8F8029}"/>
                  </a:ext>
                </a:extLst>
              </p:cNvPr>
              <p:cNvSpPr>
                <a:spLocks/>
              </p:cNvSpPr>
              <p:nvPr/>
            </p:nvSpPr>
            <p:spPr bwMode="auto">
              <a:xfrm rot="-5400000">
                <a:off x="2798" y="2607"/>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78" name="AutoShape 112">
                <a:extLst>
                  <a:ext uri="{FF2B5EF4-FFF2-40B4-BE49-F238E27FC236}">
                    <a16:creationId xmlns:a16="http://schemas.microsoft.com/office/drawing/2014/main" id="{937507F7-9A44-13D4-B4A6-DA2D1511182C}"/>
                  </a:ext>
                </a:extLst>
              </p:cNvPr>
              <p:cNvSpPr>
                <a:spLocks/>
              </p:cNvSpPr>
              <p:nvPr/>
            </p:nvSpPr>
            <p:spPr bwMode="auto">
              <a:xfrm rot="-5400000">
                <a:off x="2798" y="2616"/>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679" name="Group 113">
                <a:extLst>
                  <a:ext uri="{FF2B5EF4-FFF2-40B4-BE49-F238E27FC236}">
                    <a16:creationId xmlns:a16="http://schemas.microsoft.com/office/drawing/2014/main" id="{3D330539-4C03-5FCB-13B6-9CC543A521F3}"/>
                  </a:ext>
                </a:extLst>
              </p:cNvPr>
              <p:cNvGrpSpPr>
                <a:grpSpLocks/>
              </p:cNvGrpSpPr>
              <p:nvPr/>
            </p:nvGrpSpPr>
            <p:grpSpPr bwMode="auto">
              <a:xfrm>
                <a:off x="2725" y="2898"/>
                <a:ext cx="151" cy="336"/>
                <a:chOff x="576" y="1200"/>
                <a:chExt cx="240" cy="336"/>
              </a:xfrm>
            </p:grpSpPr>
            <p:sp>
              <p:nvSpPr>
                <p:cNvPr id="681" name="Rectangle 114">
                  <a:extLst>
                    <a:ext uri="{FF2B5EF4-FFF2-40B4-BE49-F238E27FC236}">
                      <a16:creationId xmlns:a16="http://schemas.microsoft.com/office/drawing/2014/main" id="{3807E41D-A76F-4EDA-794B-6BA2D4A96DFC}"/>
                    </a:ext>
                  </a:extLst>
                </p:cNvPr>
                <p:cNvSpPr>
                  <a:spLocks noChangeArrowheads="1"/>
                </p:cNvSpPr>
                <p:nvPr/>
              </p:nvSpPr>
              <p:spPr bwMode="auto">
                <a:xfrm>
                  <a:off x="576" y="1200"/>
                  <a:ext cx="240"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82" name="Line 115">
                  <a:extLst>
                    <a:ext uri="{FF2B5EF4-FFF2-40B4-BE49-F238E27FC236}">
                      <a16:creationId xmlns:a16="http://schemas.microsoft.com/office/drawing/2014/main" id="{E00A0891-FC32-53AE-900B-4A3053B2E327}"/>
                    </a:ext>
                  </a:extLst>
                </p:cNvPr>
                <p:cNvSpPr>
                  <a:spLocks noChangeShapeType="1"/>
                </p:cNvSpPr>
                <p:nvPr/>
              </p:nvSpPr>
              <p:spPr bwMode="auto">
                <a:xfrm>
                  <a:off x="576" y="139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3" name="Line 116">
                  <a:extLst>
                    <a:ext uri="{FF2B5EF4-FFF2-40B4-BE49-F238E27FC236}">
                      <a16:creationId xmlns:a16="http://schemas.microsoft.com/office/drawing/2014/main" id="{46053DA0-2F88-310C-7FC3-0D4BF2E73B4F}"/>
                    </a:ext>
                  </a:extLst>
                </p:cNvPr>
                <p:cNvSpPr>
                  <a:spLocks noChangeShapeType="1"/>
                </p:cNvSpPr>
                <p:nvPr/>
              </p:nvSpPr>
              <p:spPr bwMode="auto">
                <a:xfrm>
                  <a:off x="576" y="129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680" name="Text Box 117">
                <a:extLst>
                  <a:ext uri="{FF2B5EF4-FFF2-40B4-BE49-F238E27FC236}">
                    <a16:creationId xmlns:a16="http://schemas.microsoft.com/office/drawing/2014/main" id="{A5A5BE1C-B794-78D7-0448-D3E90D57CF54}"/>
                  </a:ext>
                </a:extLst>
              </p:cNvPr>
              <p:cNvSpPr txBox="1">
                <a:spLocks noChangeArrowheads="1"/>
              </p:cNvSpPr>
              <p:nvPr/>
            </p:nvSpPr>
            <p:spPr bwMode="auto">
              <a:xfrm>
                <a:off x="2710" y="2736"/>
                <a:ext cx="168" cy="1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eaLnBrk="1" hangingPunct="1">
                  <a:lnSpc>
                    <a:spcPct val="100000"/>
                  </a:lnSpc>
                  <a:spcBef>
                    <a:spcPct val="0"/>
                  </a:spcBef>
                  <a:spcAft>
                    <a:spcPct val="0"/>
                  </a:spcAft>
                  <a:buClrTx/>
                  <a:buSzTx/>
                  <a:buFontTx/>
                  <a:buNone/>
                </a:pPr>
                <a:r>
                  <a:rPr lang="en-US" altLang="en-US" sz="600" b="0"/>
                  <a:t>IN</a:t>
                </a:r>
              </a:p>
            </p:txBody>
          </p:sp>
        </p:grpSp>
        <p:grpSp>
          <p:nvGrpSpPr>
            <p:cNvPr id="684" name="Group 118">
              <a:extLst>
                <a:ext uri="{FF2B5EF4-FFF2-40B4-BE49-F238E27FC236}">
                  <a16:creationId xmlns:a16="http://schemas.microsoft.com/office/drawing/2014/main" id="{3B13BC2C-0226-8DCD-D4ED-059F94A81888}"/>
                </a:ext>
              </a:extLst>
            </p:cNvPr>
            <p:cNvGrpSpPr>
              <a:grpSpLocks/>
            </p:cNvGrpSpPr>
            <p:nvPr/>
          </p:nvGrpSpPr>
          <p:grpSpPr bwMode="auto">
            <a:xfrm>
              <a:off x="7516813" y="4230688"/>
              <a:ext cx="454025" cy="903287"/>
              <a:chOff x="4528" y="2665"/>
              <a:chExt cx="286" cy="569"/>
            </a:xfrm>
          </p:grpSpPr>
          <p:sp>
            <p:nvSpPr>
              <p:cNvPr id="685" name="Text Box 119">
                <a:extLst>
                  <a:ext uri="{FF2B5EF4-FFF2-40B4-BE49-F238E27FC236}">
                    <a16:creationId xmlns:a16="http://schemas.microsoft.com/office/drawing/2014/main" id="{B1CC190B-9C53-92D9-FC4A-6DA74AF20F59}"/>
                  </a:ext>
                </a:extLst>
              </p:cNvPr>
              <p:cNvSpPr txBox="1">
                <a:spLocks noChangeArrowheads="1"/>
              </p:cNvSpPr>
              <p:nvPr/>
            </p:nvSpPr>
            <p:spPr bwMode="auto">
              <a:xfrm>
                <a:off x="4528" y="2918"/>
                <a:ext cx="28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Aft>
                    <a:spcPct val="0"/>
                  </a:spcAft>
                  <a:buClrTx/>
                  <a:buSzTx/>
                  <a:buFontTx/>
                  <a:buNone/>
                </a:pPr>
                <a:r>
                  <a:rPr lang="en-US" altLang="en-US" sz="500" b="0">
                    <a:solidFill>
                      <a:srgbClr val="FF0000"/>
                    </a:solidFill>
                  </a:rPr>
                  <a:t>Mail Bag</a:t>
                </a:r>
              </a:p>
              <a:p>
                <a:pPr algn="ctr">
                  <a:lnSpc>
                    <a:spcPct val="100000"/>
                  </a:lnSpc>
                  <a:spcAft>
                    <a:spcPct val="0"/>
                  </a:spcAft>
                  <a:buClrTx/>
                  <a:buSzTx/>
                  <a:buFontTx/>
                  <a:buNone/>
                </a:pPr>
                <a:r>
                  <a:rPr lang="en-US" altLang="en-US" sz="500" b="0">
                    <a:solidFill>
                      <a:srgbClr val="FF0000"/>
                    </a:solidFill>
                  </a:rPr>
                  <a:t>FIFO</a:t>
                </a:r>
              </a:p>
              <a:p>
                <a:pPr algn="ctr">
                  <a:lnSpc>
                    <a:spcPct val="100000"/>
                  </a:lnSpc>
                  <a:spcAft>
                    <a:spcPct val="0"/>
                  </a:spcAft>
                  <a:buClrTx/>
                  <a:buSzTx/>
                  <a:buFontTx/>
                  <a:buNone/>
                </a:pPr>
                <a:r>
                  <a:rPr lang="en-US" altLang="en-US" sz="500" b="0">
                    <a:solidFill>
                      <a:srgbClr val="FF0000"/>
                    </a:solidFill>
                  </a:rPr>
                  <a:t>600   </a:t>
                </a:r>
                <a:r>
                  <a:rPr lang="en-US" altLang="en-US" sz="400" b="0">
                    <a:solidFill>
                      <a:srgbClr val="FF0000"/>
                    </a:solidFill>
                  </a:rPr>
                  <a:t>Application</a:t>
                </a:r>
              </a:p>
            </p:txBody>
          </p:sp>
          <p:sp>
            <p:nvSpPr>
              <p:cNvPr id="686" name="Line 120">
                <a:extLst>
                  <a:ext uri="{FF2B5EF4-FFF2-40B4-BE49-F238E27FC236}">
                    <a16:creationId xmlns:a16="http://schemas.microsoft.com/office/drawing/2014/main" id="{106B12BA-E6C1-00C9-497C-82FCE204C511}"/>
                  </a:ext>
                </a:extLst>
              </p:cNvPr>
              <p:cNvSpPr>
                <a:spLocks noChangeShapeType="1"/>
              </p:cNvSpPr>
              <p:nvPr/>
            </p:nvSpPr>
            <p:spPr bwMode="auto">
              <a:xfrm flipV="1">
                <a:off x="4611" y="2757"/>
                <a:ext cx="137" cy="2"/>
              </a:xfrm>
              <a:prstGeom prst="line">
                <a:avLst/>
              </a:prstGeom>
              <a:noFill/>
              <a:ln w="5715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87" name="Rectangle 121">
                <a:extLst>
                  <a:ext uri="{FF2B5EF4-FFF2-40B4-BE49-F238E27FC236}">
                    <a16:creationId xmlns:a16="http://schemas.microsoft.com/office/drawing/2014/main" id="{A295762E-E75E-733C-4A1B-944017503DE2}"/>
                  </a:ext>
                </a:extLst>
              </p:cNvPr>
              <p:cNvSpPr>
                <a:spLocks noChangeArrowheads="1"/>
              </p:cNvSpPr>
              <p:nvPr/>
            </p:nvSpPr>
            <p:spPr bwMode="auto">
              <a:xfrm>
                <a:off x="4603" y="2709"/>
                <a:ext cx="151" cy="16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88" name="AutoShape 122">
                <a:extLst>
                  <a:ext uri="{FF2B5EF4-FFF2-40B4-BE49-F238E27FC236}">
                    <a16:creationId xmlns:a16="http://schemas.microsoft.com/office/drawing/2014/main" id="{FC934B9E-012A-6F24-58DF-C65B331F494F}"/>
                  </a:ext>
                </a:extLst>
              </p:cNvPr>
              <p:cNvSpPr>
                <a:spLocks/>
              </p:cNvSpPr>
              <p:nvPr/>
            </p:nvSpPr>
            <p:spPr bwMode="auto">
              <a:xfrm rot="-5400000">
                <a:off x="4670" y="2598"/>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89" name="AutoShape 123">
                <a:extLst>
                  <a:ext uri="{FF2B5EF4-FFF2-40B4-BE49-F238E27FC236}">
                    <a16:creationId xmlns:a16="http://schemas.microsoft.com/office/drawing/2014/main" id="{749F4D56-B9B3-E0C5-9C93-24849CF4EC90}"/>
                  </a:ext>
                </a:extLst>
              </p:cNvPr>
              <p:cNvSpPr>
                <a:spLocks/>
              </p:cNvSpPr>
              <p:nvPr/>
            </p:nvSpPr>
            <p:spPr bwMode="auto">
              <a:xfrm rot="-5400000">
                <a:off x="4670" y="2607"/>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90" name="AutoShape 124">
                <a:extLst>
                  <a:ext uri="{FF2B5EF4-FFF2-40B4-BE49-F238E27FC236}">
                    <a16:creationId xmlns:a16="http://schemas.microsoft.com/office/drawing/2014/main" id="{D2BBAAB6-3173-8949-AB29-3065F4ED21E9}"/>
                  </a:ext>
                </a:extLst>
              </p:cNvPr>
              <p:cNvSpPr>
                <a:spLocks/>
              </p:cNvSpPr>
              <p:nvPr/>
            </p:nvSpPr>
            <p:spPr bwMode="auto">
              <a:xfrm rot="-5400000">
                <a:off x="4670" y="2616"/>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691" name="Group 125">
                <a:extLst>
                  <a:ext uri="{FF2B5EF4-FFF2-40B4-BE49-F238E27FC236}">
                    <a16:creationId xmlns:a16="http://schemas.microsoft.com/office/drawing/2014/main" id="{24D468E1-0B34-F870-AA7A-23F0012AB7EE}"/>
                  </a:ext>
                </a:extLst>
              </p:cNvPr>
              <p:cNvGrpSpPr>
                <a:grpSpLocks/>
              </p:cNvGrpSpPr>
              <p:nvPr/>
            </p:nvGrpSpPr>
            <p:grpSpPr bwMode="auto">
              <a:xfrm>
                <a:off x="4597" y="2898"/>
                <a:ext cx="151" cy="336"/>
                <a:chOff x="576" y="1200"/>
                <a:chExt cx="240" cy="336"/>
              </a:xfrm>
            </p:grpSpPr>
            <p:sp>
              <p:nvSpPr>
                <p:cNvPr id="693" name="Rectangle 126">
                  <a:extLst>
                    <a:ext uri="{FF2B5EF4-FFF2-40B4-BE49-F238E27FC236}">
                      <a16:creationId xmlns:a16="http://schemas.microsoft.com/office/drawing/2014/main" id="{06C471D0-7B81-14F5-B63D-42675C448628}"/>
                    </a:ext>
                  </a:extLst>
                </p:cNvPr>
                <p:cNvSpPr>
                  <a:spLocks noChangeArrowheads="1"/>
                </p:cNvSpPr>
                <p:nvPr/>
              </p:nvSpPr>
              <p:spPr bwMode="auto">
                <a:xfrm>
                  <a:off x="576" y="1200"/>
                  <a:ext cx="240"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94" name="Line 127">
                  <a:extLst>
                    <a:ext uri="{FF2B5EF4-FFF2-40B4-BE49-F238E27FC236}">
                      <a16:creationId xmlns:a16="http://schemas.microsoft.com/office/drawing/2014/main" id="{DAF0C251-4EEA-4AC5-1BC4-52623ACC7B53}"/>
                    </a:ext>
                  </a:extLst>
                </p:cNvPr>
                <p:cNvSpPr>
                  <a:spLocks noChangeShapeType="1"/>
                </p:cNvSpPr>
                <p:nvPr/>
              </p:nvSpPr>
              <p:spPr bwMode="auto">
                <a:xfrm>
                  <a:off x="576" y="139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5" name="Line 128">
                  <a:extLst>
                    <a:ext uri="{FF2B5EF4-FFF2-40B4-BE49-F238E27FC236}">
                      <a16:creationId xmlns:a16="http://schemas.microsoft.com/office/drawing/2014/main" id="{AF912BD7-D047-9F65-3F7A-29930FF35912}"/>
                    </a:ext>
                  </a:extLst>
                </p:cNvPr>
                <p:cNvSpPr>
                  <a:spLocks noChangeShapeType="1"/>
                </p:cNvSpPr>
                <p:nvPr/>
              </p:nvSpPr>
              <p:spPr bwMode="auto">
                <a:xfrm>
                  <a:off x="576" y="129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692" name="Text Box 129">
                <a:extLst>
                  <a:ext uri="{FF2B5EF4-FFF2-40B4-BE49-F238E27FC236}">
                    <a16:creationId xmlns:a16="http://schemas.microsoft.com/office/drawing/2014/main" id="{D6A70BCC-C947-28B5-3D87-9AECA939A0A9}"/>
                  </a:ext>
                </a:extLst>
              </p:cNvPr>
              <p:cNvSpPr txBox="1">
                <a:spLocks noChangeArrowheads="1"/>
              </p:cNvSpPr>
              <p:nvPr/>
            </p:nvSpPr>
            <p:spPr bwMode="auto">
              <a:xfrm>
                <a:off x="4582" y="2736"/>
                <a:ext cx="168" cy="1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eaLnBrk="1" hangingPunct="1">
                  <a:lnSpc>
                    <a:spcPct val="100000"/>
                  </a:lnSpc>
                  <a:spcBef>
                    <a:spcPct val="0"/>
                  </a:spcBef>
                  <a:spcAft>
                    <a:spcPct val="0"/>
                  </a:spcAft>
                  <a:buClrTx/>
                  <a:buSzTx/>
                  <a:buFontTx/>
                  <a:buNone/>
                </a:pPr>
                <a:r>
                  <a:rPr lang="en-US" altLang="en-US" sz="600" b="0"/>
                  <a:t>IN</a:t>
                </a:r>
              </a:p>
            </p:txBody>
          </p:sp>
        </p:grpSp>
        <p:grpSp>
          <p:nvGrpSpPr>
            <p:cNvPr id="696" name="Group 130">
              <a:extLst>
                <a:ext uri="{FF2B5EF4-FFF2-40B4-BE49-F238E27FC236}">
                  <a16:creationId xmlns:a16="http://schemas.microsoft.com/office/drawing/2014/main" id="{DE34F3ED-6CE7-3D68-103C-6A3333A43E8A}"/>
                </a:ext>
              </a:extLst>
            </p:cNvPr>
            <p:cNvGrpSpPr>
              <a:grpSpLocks/>
            </p:cNvGrpSpPr>
            <p:nvPr/>
          </p:nvGrpSpPr>
          <p:grpSpPr bwMode="auto">
            <a:xfrm>
              <a:off x="7192963" y="3943350"/>
              <a:ext cx="538162" cy="393700"/>
              <a:chOff x="513" y="2099"/>
              <a:chExt cx="374" cy="258"/>
            </a:xfrm>
          </p:grpSpPr>
          <p:grpSp>
            <p:nvGrpSpPr>
              <p:cNvPr id="697" name="Group 131">
                <a:extLst>
                  <a:ext uri="{FF2B5EF4-FFF2-40B4-BE49-F238E27FC236}">
                    <a16:creationId xmlns:a16="http://schemas.microsoft.com/office/drawing/2014/main" id="{C1C64148-FCC2-AE50-DB60-EFE5C1C4BCF9}"/>
                  </a:ext>
                </a:extLst>
              </p:cNvPr>
              <p:cNvGrpSpPr>
                <a:grpSpLocks/>
              </p:cNvGrpSpPr>
              <p:nvPr/>
            </p:nvGrpSpPr>
            <p:grpSpPr bwMode="auto">
              <a:xfrm>
                <a:off x="550" y="2121"/>
                <a:ext cx="337" cy="236"/>
                <a:chOff x="536" y="3744"/>
                <a:chExt cx="415" cy="261"/>
              </a:xfrm>
            </p:grpSpPr>
            <p:sp>
              <p:nvSpPr>
                <p:cNvPr id="699" name="Rectangle 132">
                  <a:extLst>
                    <a:ext uri="{FF2B5EF4-FFF2-40B4-BE49-F238E27FC236}">
                      <a16:creationId xmlns:a16="http://schemas.microsoft.com/office/drawing/2014/main" id="{57962DEA-B6FF-F44B-2D01-74F7840461F1}"/>
                    </a:ext>
                  </a:extLst>
                </p:cNvPr>
                <p:cNvSpPr>
                  <a:spLocks noChangeArrowheads="1"/>
                </p:cNvSpPr>
                <p:nvPr/>
              </p:nvSpPr>
              <p:spPr bwMode="auto">
                <a:xfrm>
                  <a:off x="536" y="3744"/>
                  <a:ext cx="286" cy="19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00" name="Rectangle 133">
                  <a:extLst>
                    <a:ext uri="{FF2B5EF4-FFF2-40B4-BE49-F238E27FC236}">
                      <a16:creationId xmlns:a16="http://schemas.microsoft.com/office/drawing/2014/main" id="{5305AC87-EB08-A70B-72EF-DB3100E0DEBE}"/>
                    </a:ext>
                  </a:extLst>
                </p:cNvPr>
                <p:cNvSpPr>
                  <a:spLocks noChangeArrowheads="1"/>
                </p:cNvSpPr>
                <p:nvPr/>
              </p:nvSpPr>
              <p:spPr bwMode="auto">
                <a:xfrm>
                  <a:off x="824" y="3809"/>
                  <a:ext cx="127" cy="131"/>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01" name="Oval 134">
                  <a:extLst>
                    <a:ext uri="{FF2B5EF4-FFF2-40B4-BE49-F238E27FC236}">
                      <a16:creationId xmlns:a16="http://schemas.microsoft.com/office/drawing/2014/main" id="{710B0A14-A053-C8A4-4F0F-5E404E3D5CC3}"/>
                    </a:ext>
                  </a:extLst>
                </p:cNvPr>
                <p:cNvSpPr>
                  <a:spLocks noChangeArrowheads="1"/>
                </p:cNvSpPr>
                <p:nvPr/>
              </p:nvSpPr>
              <p:spPr bwMode="auto">
                <a:xfrm>
                  <a:off x="854" y="3940"/>
                  <a:ext cx="63" cy="6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02" name="Oval 135">
                  <a:extLst>
                    <a:ext uri="{FF2B5EF4-FFF2-40B4-BE49-F238E27FC236}">
                      <a16:creationId xmlns:a16="http://schemas.microsoft.com/office/drawing/2014/main" id="{A4BFF32A-03F3-88F4-DB97-3147C76ACF53}"/>
                    </a:ext>
                  </a:extLst>
                </p:cNvPr>
                <p:cNvSpPr>
                  <a:spLocks noChangeArrowheads="1"/>
                </p:cNvSpPr>
                <p:nvPr/>
              </p:nvSpPr>
              <p:spPr bwMode="auto">
                <a:xfrm>
                  <a:off x="568" y="3940"/>
                  <a:ext cx="63" cy="6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sp>
            <p:nvSpPr>
              <p:cNvPr id="698" name="Text Box 136">
                <a:extLst>
                  <a:ext uri="{FF2B5EF4-FFF2-40B4-BE49-F238E27FC236}">
                    <a16:creationId xmlns:a16="http://schemas.microsoft.com/office/drawing/2014/main" id="{62D8F57B-4A1D-4BB2-95ED-FD19A2BD014F}"/>
                  </a:ext>
                </a:extLst>
              </p:cNvPr>
              <p:cNvSpPr txBox="1">
                <a:spLocks noChangeArrowheads="1"/>
              </p:cNvSpPr>
              <p:nvPr/>
            </p:nvSpPr>
            <p:spPr bwMode="auto">
              <a:xfrm>
                <a:off x="513" y="2099"/>
                <a:ext cx="308" cy="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600" b="0"/>
                  <a:t>1X Daily</a:t>
                </a:r>
              </a:p>
            </p:txBody>
          </p:sp>
        </p:grpSp>
        <p:sp>
          <p:nvSpPr>
            <p:cNvPr id="703" name="Rectangle 137">
              <a:extLst>
                <a:ext uri="{FF2B5EF4-FFF2-40B4-BE49-F238E27FC236}">
                  <a16:creationId xmlns:a16="http://schemas.microsoft.com/office/drawing/2014/main" id="{6BEC7AD5-F93B-B352-1D17-CD49438A0593}"/>
                </a:ext>
              </a:extLst>
            </p:cNvPr>
            <p:cNvSpPr>
              <a:spLocks noChangeArrowheads="1"/>
            </p:cNvSpPr>
            <p:nvPr/>
          </p:nvSpPr>
          <p:spPr bwMode="auto">
            <a:xfrm>
              <a:off x="6573838" y="4160838"/>
              <a:ext cx="538162"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25000"/>
                </a:lnSpc>
                <a:spcBef>
                  <a:spcPct val="0"/>
                </a:spcBef>
                <a:spcAft>
                  <a:spcPct val="0"/>
                </a:spcAft>
                <a:buClrTx/>
                <a:buSzTx/>
                <a:buFontTx/>
                <a:buNone/>
              </a:pPr>
              <a:r>
                <a:rPr lang="en-US" altLang="en-US" sz="500" b="0"/>
                <a:t>Volume = 1,197</a:t>
              </a:r>
            </a:p>
          </p:txBody>
        </p:sp>
        <p:sp>
          <p:nvSpPr>
            <p:cNvPr id="704" name="Rectangle 138">
              <a:extLst>
                <a:ext uri="{FF2B5EF4-FFF2-40B4-BE49-F238E27FC236}">
                  <a16:creationId xmlns:a16="http://schemas.microsoft.com/office/drawing/2014/main" id="{2286745D-DC44-BB70-66F5-06903035B29D}"/>
                </a:ext>
              </a:extLst>
            </p:cNvPr>
            <p:cNvSpPr>
              <a:spLocks noChangeArrowheads="1"/>
            </p:cNvSpPr>
            <p:nvPr/>
          </p:nvSpPr>
          <p:spPr bwMode="auto">
            <a:xfrm>
              <a:off x="8015288" y="4681538"/>
              <a:ext cx="728662" cy="56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25000"/>
                </a:lnSpc>
                <a:spcBef>
                  <a:spcPct val="0"/>
                </a:spcBef>
                <a:spcAft>
                  <a:spcPct val="0"/>
                </a:spcAft>
                <a:buClrTx/>
                <a:buSzTx/>
                <a:buFontTx/>
                <a:buNone/>
              </a:pPr>
              <a:r>
                <a:rPr lang="en-US" altLang="en-US" sz="500" b="0"/>
                <a:t>Volume = 1,197</a:t>
              </a:r>
            </a:p>
            <a:p>
              <a:pPr>
                <a:lnSpc>
                  <a:spcPct val="125000"/>
                </a:lnSpc>
                <a:spcBef>
                  <a:spcPct val="0"/>
                </a:spcBef>
                <a:spcAft>
                  <a:spcPct val="0"/>
                </a:spcAft>
                <a:buClrTx/>
                <a:buSzTx/>
                <a:buFontTx/>
                <a:buNone/>
              </a:pPr>
              <a:r>
                <a:rPr lang="en-US" altLang="en-US" sz="500" b="0"/>
                <a:t>Processing Time = 20”</a:t>
              </a:r>
            </a:p>
            <a:p>
              <a:pPr>
                <a:lnSpc>
                  <a:spcPct val="125000"/>
                </a:lnSpc>
                <a:spcBef>
                  <a:spcPct val="0"/>
                </a:spcBef>
                <a:spcAft>
                  <a:spcPct val="0"/>
                </a:spcAft>
                <a:buClrTx/>
                <a:buSzTx/>
                <a:buFontTx/>
                <a:buNone/>
              </a:pPr>
              <a:r>
                <a:rPr lang="en-US" altLang="en-US" sz="500" b="0"/>
                <a:t>DOI = 12”</a:t>
              </a:r>
            </a:p>
            <a:p>
              <a:pPr>
                <a:lnSpc>
                  <a:spcPct val="125000"/>
                </a:lnSpc>
                <a:spcBef>
                  <a:spcPct val="0"/>
                </a:spcBef>
                <a:spcAft>
                  <a:spcPct val="0"/>
                </a:spcAft>
                <a:buClrTx/>
                <a:buSzTx/>
                <a:buFontTx/>
                <a:buNone/>
              </a:pPr>
              <a:r>
                <a:rPr lang="en-US" altLang="en-US" sz="500" b="0"/>
                <a:t>Quality = 100%</a:t>
              </a:r>
            </a:p>
            <a:p>
              <a:pPr>
                <a:lnSpc>
                  <a:spcPct val="125000"/>
                </a:lnSpc>
                <a:spcBef>
                  <a:spcPct val="0"/>
                </a:spcBef>
                <a:spcAft>
                  <a:spcPct val="0"/>
                </a:spcAft>
                <a:buClrTx/>
                <a:buSzTx/>
                <a:buFontTx/>
                <a:buNone/>
              </a:pPr>
              <a:r>
                <a:rPr lang="en-US" altLang="en-US" sz="500" b="0"/>
                <a:t># Rework = 0</a:t>
              </a:r>
            </a:p>
          </p:txBody>
        </p:sp>
        <p:sp>
          <p:nvSpPr>
            <p:cNvPr id="705" name="Text Box 139">
              <a:extLst>
                <a:ext uri="{FF2B5EF4-FFF2-40B4-BE49-F238E27FC236}">
                  <a16:creationId xmlns:a16="http://schemas.microsoft.com/office/drawing/2014/main" id="{DA120452-2B6D-C5FE-3F4A-5289669E9B99}"/>
                </a:ext>
              </a:extLst>
            </p:cNvPr>
            <p:cNvSpPr txBox="1">
              <a:spLocks noChangeArrowheads="1"/>
            </p:cNvSpPr>
            <p:nvPr/>
          </p:nvSpPr>
          <p:spPr bwMode="auto">
            <a:xfrm>
              <a:off x="7981950" y="4286250"/>
              <a:ext cx="736600" cy="165100"/>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Aft>
                  <a:spcPct val="0"/>
                </a:spcAft>
                <a:buClrTx/>
                <a:buSzTx/>
                <a:buFontTx/>
                <a:buNone/>
              </a:pPr>
              <a:r>
                <a:rPr lang="en-US" altLang="en-US" sz="600" b="0"/>
                <a:t>Takt Time = 23”</a:t>
              </a:r>
            </a:p>
          </p:txBody>
        </p:sp>
        <p:sp>
          <p:nvSpPr>
            <p:cNvPr id="706" name="Rectangle 140">
              <a:extLst>
                <a:ext uri="{FF2B5EF4-FFF2-40B4-BE49-F238E27FC236}">
                  <a16:creationId xmlns:a16="http://schemas.microsoft.com/office/drawing/2014/main" id="{846B6DE8-75AD-C0C0-F825-9503F277782F}"/>
                </a:ext>
              </a:extLst>
            </p:cNvPr>
            <p:cNvSpPr>
              <a:spLocks noChangeArrowheads="1"/>
            </p:cNvSpPr>
            <p:nvPr/>
          </p:nvSpPr>
          <p:spPr bwMode="auto">
            <a:xfrm>
              <a:off x="3962400" y="4132263"/>
              <a:ext cx="808038" cy="65722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07" name="Line 141">
              <a:extLst>
                <a:ext uri="{FF2B5EF4-FFF2-40B4-BE49-F238E27FC236}">
                  <a16:creationId xmlns:a16="http://schemas.microsoft.com/office/drawing/2014/main" id="{C0F56B90-A50D-CE96-5F4C-6538BA23ADB2}"/>
                </a:ext>
              </a:extLst>
            </p:cNvPr>
            <p:cNvSpPr>
              <a:spLocks noChangeShapeType="1"/>
            </p:cNvSpPr>
            <p:nvPr/>
          </p:nvSpPr>
          <p:spPr bwMode="auto">
            <a:xfrm>
              <a:off x="3959225" y="4478338"/>
              <a:ext cx="804863" cy="1587"/>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708" name="Group 142">
              <a:extLst>
                <a:ext uri="{FF2B5EF4-FFF2-40B4-BE49-F238E27FC236}">
                  <a16:creationId xmlns:a16="http://schemas.microsoft.com/office/drawing/2014/main" id="{DADFBC89-EB0B-A79A-18EE-DF1D7560F33F}"/>
                </a:ext>
              </a:extLst>
            </p:cNvPr>
            <p:cNvGrpSpPr>
              <a:grpSpLocks/>
            </p:cNvGrpSpPr>
            <p:nvPr/>
          </p:nvGrpSpPr>
          <p:grpSpPr bwMode="auto">
            <a:xfrm flipV="1">
              <a:off x="4119563" y="4511675"/>
              <a:ext cx="146050" cy="171450"/>
              <a:chOff x="720" y="3354"/>
              <a:chExt cx="192" cy="198"/>
            </a:xfrm>
          </p:grpSpPr>
          <p:sp>
            <p:nvSpPr>
              <p:cNvPr id="709" name="Oval 143">
                <a:extLst>
                  <a:ext uri="{FF2B5EF4-FFF2-40B4-BE49-F238E27FC236}">
                    <a16:creationId xmlns:a16="http://schemas.microsoft.com/office/drawing/2014/main" id="{6077A126-242C-7747-0B57-BA93AE83CAC9}"/>
                  </a:ext>
                </a:extLst>
              </p:cNvPr>
              <p:cNvSpPr>
                <a:spLocks noChangeArrowheads="1"/>
              </p:cNvSpPr>
              <p:nvPr/>
            </p:nvSpPr>
            <p:spPr bwMode="auto">
              <a:xfrm>
                <a:off x="768" y="3408"/>
                <a:ext cx="96" cy="9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10" name="AutoShape 144">
                <a:extLst>
                  <a:ext uri="{FF2B5EF4-FFF2-40B4-BE49-F238E27FC236}">
                    <a16:creationId xmlns:a16="http://schemas.microsoft.com/office/drawing/2014/main" id="{8BFF282E-5A78-2354-D6C5-45EB3B1C8603}"/>
                  </a:ext>
                </a:extLst>
              </p:cNvPr>
              <p:cNvSpPr>
                <a:spLocks noChangeArrowheads="1"/>
              </p:cNvSpPr>
              <p:nvPr/>
            </p:nvSpPr>
            <p:spPr bwMode="auto">
              <a:xfrm>
                <a:off x="720" y="3354"/>
                <a:ext cx="192" cy="198"/>
              </a:xfrm>
              <a:custGeom>
                <a:avLst/>
                <a:gdLst>
                  <a:gd name="T0" fmla="*/ 1 w 21600"/>
                  <a:gd name="T1" fmla="*/ 0 h 21600"/>
                  <a:gd name="T2" fmla="*/ 0 w 21600"/>
                  <a:gd name="T3" fmla="*/ 1 h 21600"/>
                  <a:gd name="T4" fmla="*/ 1 w 21600"/>
                  <a:gd name="T5" fmla="*/ 0 h 21600"/>
                  <a:gd name="T6" fmla="*/ 1 w 21600"/>
                  <a:gd name="T7" fmla="*/ 1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711" name="Text Box 145">
              <a:extLst>
                <a:ext uri="{FF2B5EF4-FFF2-40B4-BE49-F238E27FC236}">
                  <a16:creationId xmlns:a16="http://schemas.microsoft.com/office/drawing/2014/main" id="{70D231E4-4557-E5EE-A9EE-EDE2B6D9BC67}"/>
                </a:ext>
              </a:extLst>
            </p:cNvPr>
            <p:cNvSpPr txBox="1">
              <a:spLocks noChangeArrowheads="1"/>
            </p:cNvSpPr>
            <p:nvPr/>
          </p:nvSpPr>
          <p:spPr bwMode="auto">
            <a:xfrm>
              <a:off x="4254500" y="4533900"/>
              <a:ext cx="309563" cy="198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700" b="0"/>
                <a:t>= 4</a:t>
              </a:r>
            </a:p>
          </p:txBody>
        </p:sp>
        <p:sp>
          <p:nvSpPr>
            <p:cNvPr id="712" name="Text Box 146">
              <a:extLst>
                <a:ext uri="{FF2B5EF4-FFF2-40B4-BE49-F238E27FC236}">
                  <a16:creationId xmlns:a16="http://schemas.microsoft.com/office/drawing/2014/main" id="{3BCFD751-2950-0ED6-70E7-E87AADCA1ABF}"/>
                </a:ext>
              </a:extLst>
            </p:cNvPr>
            <p:cNvSpPr txBox="1">
              <a:spLocks noChangeArrowheads="1"/>
            </p:cNvSpPr>
            <p:nvPr/>
          </p:nvSpPr>
          <p:spPr bwMode="auto">
            <a:xfrm>
              <a:off x="3935413" y="4144963"/>
              <a:ext cx="698500"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700" b="0"/>
                <a:t>Underwrite</a:t>
              </a:r>
            </a:p>
          </p:txBody>
        </p:sp>
        <p:sp>
          <p:nvSpPr>
            <p:cNvPr id="713" name="Rectangle 147">
              <a:extLst>
                <a:ext uri="{FF2B5EF4-FFF2-40B4-BE49-F238E27FC236}">
                  <a16:creationId xmlns:a16="http://schemas.microsoft.com/office/drawing/2014/main" id="{1001A1D9-D2DF-744F-5679-DE97429B2408}"/>
                </a:ext>
              </a:extLst>
            </p:cNvPr>
            <p:cNvSpPr>
              <a:spLocks noChangeArrowheads="1"/>
            </p:cNvSpPr>
            <p:nvPr/>
          </p:nvSpPr>
          <p:spPr bwMode="auto">
            <a:xfrm>
              <a:off x="3965575" y="4818063"/>
              <a:ext cx="808038" cy="51117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14" name="Rectangle 148">
              <a:extLst>
                <a:ext uri="{FF2B5EF4-FFF2-40B4-BE49-F238E27FC236}">
                  <a16:creationId xmlns:a16="http://schemas.microsoft.com/office/drawing/2014/main" id="{D66F3D36-550F-6236-2C0F-80ADB00254F5}"/>
                </a:ext>
              </a:extLst>
            </p:cNvPr>
            <p:cNvSpPr>
              <a:spLocks noChangeArrowheads="1"/>
            </p:cNvSpPr>
            <p:nvPr/>
          </p:nvSpPr>
          <p:spPr bwMode="auto">
            <a:xfrm>
              <a:off x="3983038" y="4783138"/>
              <a:ext cx="728662" cy="56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25000"/>
                </a:lnSpc>
                <a:spcBef>
                  <a:spcPct val="0"/>
                </a:spcBef>
                <a:spcAft>
                  <a:spcPct val="0"/>
                </a:spcAft>
                <a:buClrTx/>
                <a:buSzTx/>
                <a:buFontTx/>
                <a:buNone/>
              </a:pPr>
              <a:r>
                <a:rPr lang="en-US" altLang="en-US" sz="500" b="0"/>
                <a:t>Volume = 1,496</a:t>
              </a:r>
            </a:p>
            <a:p>
              <a:pPr>
                <a:lnSpc>
                  <a:spcPct val="125000"/>
                </a:lnSpc>
                <a:spcBef>
                  <a:spcPct val="0"/>
                </a:spcBef>
                <a:spcAft>
                  <a:spcPct val="0"/>
                </a:spcAft>
                <a:buClrTx/>
                <a:buSzTx/>
                <a:buFontTx/>
                <a:buNone/>
              </a:pPr>
              <a:r>
                <a:rPr lang="en-US" altLang="en-US" sz="500" b="0"/>
                <a:t>Processing Time = 72”</a:t>
              </a:r>
            </a:p>
            <a:p>
              <a:pPr>
                <a:lnSpc>
                  <a:spcPct val="125000"/>
                </a:lnSpc>
                <a:spcBef>
                  <a:spcPct val="0"/>
                </a:spcBef>
                <a:spcAft>
                  <a:spcPct val="0"/>
                </a:spcAft>
                <a:buClrTx/>
                <a:buSzTx/>
                <a:buFontTx/>
                <a:buNone/>
              </a:pPr>
              <a:r>
                <a:rPr lang="en-US" altLang="en-US" sz="500" b="0"/>
                <a:t>DOI = 18”</a:t>
              </a:r>
            </a:p>
            <a:p>
              <a:pPr>
                <a:lnSpc>
                  <a:spcPct val="125000"/>
                </a:lnSpc>
                <a:spcBef>
                  <a:spcPct val="0"/>
                </a:spcBef>
                <a:spcAft>
                  <a:spcPct val="0"/>
                </a:spcAft>
                <a:buClrTx/>
                <a:buSzTx/>
                <a:buFontTx/>
                <a:buNone/>
              </a:pPr>
              <a:r>
                <a:rPr lang="en-US" altLang="en-US" sz="500" b="0"/>
                <a:t>Quality = 100%</a:t>
              </a:r>
            </a:p>
            <a:p>
              <a:pPr>
                <a:lnSpc>
                  <a:spcPct val="125000"/>
                </a:lnSpc>
                <a:spcBef>
                  <a:spcPct val="0"/>
                </a:spcBef>
                <a:spcAft>
                  <a:spcPct val="0"/>
                </a:spcAft>
                <a:buClrTx/>
                <a:buSzTx/>
                <a:buFontTx/>
                <a:buNone/>
              </a:pPr>
              <a:r>
                <a:rPr lang="en-US" altLang="en-US" sz="500" b="0"/>
                <a:t># Rework = 0</a:t>
              </a:r>
            </a:p>
          </p:txBody>
        </p:sp>
        <p:sp>
          <p:nvSpPr>
            <p:cNvPr id="715" name="Text Box 149">
              <a:extLst>
                <a:ext uri="{FF2B5EF4-FFF2-40B4-BE49-F238E27FC236}">
                  <a16:creationId xmlns:a16="http://schemas.microsoft.com/office/drawing/2014/main" id="{1CDD45F0-5A3B-74B6-ABF5-5B1DE99D2D96}"/>
                </a:ext>
              </a:extLst>
            </p:cNvPr>
            <p:cNvSpPr txBox="1">
              <a:spLocks noChangeArrowheads="1"/>
            </p:cNvSpPr>
            <p:nvPr/>
          </p:nvSpPr>
          <p:spPr bwMode="auto">
            <a:xfrm>
              <a:off x="3911600" y="4298950"/>
              <a:ext cx="736600" cy="165100"/>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Aft>
                  <a:spcPct val="0"/>
                </a:spcAft>
                <a:buClrTx/>
                <a:buSzTx/>
                <a:buFontTx/>
                <a:buNone/>
              </a:pPr>
              <a:r>
                <a:rPr lang="en-US" altLang="en-US" sz="600" b="0"/>
                <a:t>Takt Time = 18”</a:t>
              </a:r>
            </a:p>
          </p:txBody>
        </p:sp>
        <p:sp>
          <p:nvSpPr>
            <p:cNvPr id="716" name="AutoShape 150">
              <a:extLst>
                <a:ext uri="{FF2B5EF4-FFF2-40B4-BE49-F238E27FC236}">
                  <a16:creationId xmlns:a16="http://schemas.microsoft.com/office/drawing/2014/main" id="{D8697AE0-D122-FD93-8D7B-9DBFA5CA7A1B}"/>
                </a:ext>
              </a:extLst>
            </p:cNvPr>
            <p:cNvSpPr>
              <a:spLocks noChangeArrowheads="1"/>
            </p:cNvSpPr>
            <p:nvPr/>
          </p:nvSpPr>
          <p:spPr bwMode="auto">
            <a:xfrm>
              <a:off x="1019175" y="3659188"/>
              <a:ext cx="542925" cy="438150"/>
            </a:xfrm>
            <a:prstGeom prst="irregularSeal1">
              <a:avLst/>
            </a:prstGeom>
            <a:noFill/>
            <a:ln w="28575">
              <a:solidFill>
                <a:srgbClr val="FF0000"/>
              </a:solidFill>
              <a:miter lim="800000"/>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r>
                <a:rPr lang="en-US" altLang="en-US" sz="600"/>
                <a:t>Cell</a:t>
              </a:r>
            </a:p>
          </p:txBody>
        </p:sp>
        <p:grpSp>
          <p:nvGrpSpPr>
            <p:cNvPr id="717" name="Group 151">
              <a:extLst>
                <a:ext uri="{FF2B5EF4-FFF2-40B4-BE49-F238E27FC236}">
                  <a16:creationId xmlns:a16="http://schemas.microsoft.com/office/drawing/2014/main" id="{51912E5E-B992-DF22-C231-269A6F7DC699}"/>
                </a:ext>
              </a:extLst>
            </p:cNvPr>
            <p:cNvGrpSpPr>
              <a:grpSpLocks/>
            </p:cNvGrpSpPr>
            <p:nvPr/>
          </p:nvGrpSpPr>
          <p:grpSpPr bwMode="auto">
            <a:xfrm>
              <a:off x="2343150" y="4068763"/>
              <a:ext cx="933450" cy="1314450"/>
              <a:chOff x="1360" y="2567"/>
              <a:chExt cx="588" cy="828"/>
            </a:xfrm>
          </p:grpSpPr>
          <p:grpSp>
            <p:nvGrpSpPr>
              <p:cNvPr id="718" name="Group 152">
                <a:extLst>
                  <a:ext uri="{FF2B5EF4-FFF2-40B4-BE49-F238E27FC236}">
                    <a16:creationId xmlns:a16="http://schemas.microsoft.com/office/drawing/2014/main" id="{12170779-45C6-7AFA-DC40-2F60A5F8701B}"/>
                  </a:ext>
                </a:extLst>
              </p:cNvPr>
              <p:cNvGrpSpPr>
                <a:grpSpLocks/>
              </p:cNvGrpSpPr>
              <p:nvPr/>
            </p:nvGrpSpPr>
            <p:grpSpPr bwMode="auto">
              <a:xfrm>
                <a:off x="1360" y="2567"/>
                <a:ext cx="578" cy="814"/>
                <a:chOff x="1360" y="2567"/>
                <a:chExt cx="578" cy="814"/>
              </a:xfrm>
            </p:grpSpPr>
            <p:grpSp>
              <p:nvGrpSpPr>
                <p:cNvPr id="720" name="Group 153">
                  <a:extLst>
                    <a:ext uri="{FF2B5EF4-FFF2-40B4-BE49-F238E27FC236}">
                      <a16:creationId xmlns:a16="http://schemas.microsoft.com/office/drawing/2014/main" id="{75B77787-D9C7-0FF7-6060-3BED0B0BDC38}"/>
                    </a:ext>
                  </a:extLst>
                </p:cNvPr>
                <p:cNvGrpSpPr>
                  <a:grpSpLocks/>
                </p:cNvGrpSpPr>
                <p:nvPr/>
              </p:nvGrpSpPr>
              <p:grpSpPr bwMode="auto">
                <a:xfrm>
                  <a:off x="1364" y="2567"/>
                  <a:ext cx="574" cy="450"/>
                  <a:chOff x="362" y="2972"/>
                  <a:chExt cx="456" cy="390"/>
                </a:xfrm>
              </p:grpSpPr>
              <p:sp>
                <p:nvSpPr>
                  <p:cNvPr id="722" name="Rectangle 154">
                    <a:extLst>
                      <a:ext uri="{FF2B5EF4-FFF2-40B4-BE49-F238E27FC236}">
                        <a16:creationId xmlns:a16="http://schemas.microsoft.com/office/drawing/2014/main" id="{39EC8CFD-1373-1B05-1AA7-9528FEF23FEA}"/>
                      </a:ext>
                    </a:extLst>
                  </p:cNvPr>
                  <p:cNvSpPr>
                    <a:spLocks noChangeArrowheads="1"/>
                  </p:cNvSpPr>
                  <p:nvPr/>
                </p:nvSpPr>
                <p:spPr bwMode="auto">
                  <a:xfrm>
                    <a:off x="362" y="2997"/>
                    <a:ext cx="456" cy="365"/>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23" name="Line 155">
                    <a:extLst>
                      <a:ext uri="{FF2B5EF4-FFF2-40B4-BE49-F238E27FC236}">
                        <a16:creationId xmlns:a16="http://schemas.microsoft.com/office/drawing/2014/main" id="{16D923C0-1AB0-64E1-87D5-2493C1091C32}"/>
                      </a:ext>
                    </a:extLst>
                  </p:cNvPr>
                  <p:cNvSpPr>
                    <a:spLocks noChangeShapeType="1"/>
                  </p:cNvSpPr>
                  <p:nvPr/>
                </p:nvSpPr>
                <p:spPr bwMode="auto">
                  <a:xfrm>
                    <a:off x="365" y="3189"/>
                    <a:ext cx="449" cy="1"/>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724" name="Group 156">
                    <a:extLst>
                      <a:ext uri="{FF2B5EF4-FFF2-40B4-BE49-F238E27FC236}">
                        <a16:creationId xmlns:a16="http://schemas.microsoft.com/office/drawing/2014/main" id="{4AC8E6E9-F8D3-ED93-B57B-AEEC8A6A7BEC}"/>
                      </a:ext>
                    </a:extLst>
                  </p:cNvPr>
                  <p:cNvGrpSpPr>
                    <a:grpSpLocks/>
                  </p:cNvGrpSpPr>
                  <p:nvPr/>
                </p:nvGrpSpPr>
                <p:grpSpPr bwMode="auto">
                  <a:xfrm flipV="1">
                    <a:off x="462" y="3188"/>
                    <a:ext cx="101" cy="112"/>
                    <a:chOff x="720" y="3354"/>
                    <a:chExt cx="192" cy="198"/>
                  </a:xfrm>
                </p:grpSpPr>
                <p:sp>
                  <p:nvSpPr>
                    <p:cNvPr id="727" name="Oval 157">
                      <a:extLst>
                        <a:ext uri="{FF2B5EF4-FFF2-40B4-BE49-F238E27FC236}">
                          <a16:creationId xmlns:a16="http://schemas.microsoft.com/office/drawing/2014/main" id="{1CC32C3C-9ED5-681D-77ED-A00C1B702D6F}"/>
                        </a:ext>
                      </a:extLst>
                    </p:cNvPr>
                    <p:cNvSpPr>
                      <a:spLocks noChangeArrowheads="1"/>
                    </p:cNvSpPr>
                    <p:nvPr/>
                  </p:nvSpPr>
                  <p:spPr bwMode="auto">
                    <a:xfrm>
                      <a:off x="768" y="3408"/>
                      <a:ext cx="96" cy="9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28" name="AutoShape 158">
                      <a:extLst>
                        <a:ext uri="{FF2B5EF4-FFF2-40B4-BE49-F238E27FC236}">
                          <a16:creationId xmlns:a16="http://schemas.microsoft.com/office/drawing/2014/main" id="{329968F3-3972-0228-230B-ADE6973642C1}"/>
                        </a:ext>
                      </a:extLst>
                    </p:cNvPr>
                    <p:cNvSpPr>
                      <a:spLocks noChangeArrowheads="1"/>
                    </p:cNvSpPr>
                    <p:nvPr/>
                  </p:nvSpPr>
                  <p:spPr bwMode="auto">
                    <a:xfrm>
                      <a:off x="720" y="3354"/>
                      <a:ext cx="192" cy="198"/>
                    </a:xfrm>
                    <a:custGeom>
                      <a:avLst/>
                      <a:gdLst>
                        <a:gd name="T0" fmla="*/ 1 w 21600"/>
                        <a:gd name="T1" fmla="*/ 0 h 21600"/>
                        <a:gd name="T2" fmla="*/ 0 w 21600"/>
                        <a:gd name="T3" fmla="*/ 1 h 21600"/>
                        <a:gd name="T4" fmla="*/ 1 w 21600"/>
                        <a:gd name="T5" fmla="*/ 0 h 21600"/>
                        <a:gd name="T6" fmla="*/ 1 w 21600"/>
                        <a:gd name="T7" fmla="*/ 1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725" name="Text Box 159">
                    <a:extLst>
                      <a:ext uri="{FF2B5EF4-FFF2-40B4-BE49-F238E27FC236}">
                        <a16:creationId xmlns:a16="http://schemas.microsoft.com/office/drawing/2014/main" id="{AA065701-D568-8410-EC22-BCDC21649CBC}"/>
                      </a:ext>
                    </a:extLst>
                  </p:cNvPr>
                  <p:cNvSpPr txBox="1">
                    <a:spLocks noChangeArrowheads="1"/>
                  </p:cNvSpPr>
                  <p:nvPr/>
                </p:nvSpPr>
                <p:spPr bwMode="auto">
                  <a:xfrm>
                    <a:off x="572" y="3202"/>
                    <a:ext cx="180" cy="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700" b="0"/>
                      <a:t>= 20</a:t>
                    </a:r>
                  </a:p>
                </p:txBody>
              </p:sp>
              <p:sp>
                <p:nvSpPr>
                  <p:cNvPr id="726" name="Text Box 160">
                    <a:extLst>
                      <a:ext uri="{FF2B5EF4-FFF2-40B4-BE49-F238E27FC236}">
                        <a16:creationId xmlns:a16="http://schemas.microsoft.com/office/drawing/2014/main" id="{38A63988-4AB2-2961-D537-24C3584E2031}"/>
                      </a:ext>
                    </a:extLst>
                  </p:cNvPr>
                  <p:cNvSpPr txBox="1">
                    <a:spLocks noChangeArrowheads="1"/>
                  </p:cNvSpPr>
                  <p:nvPr/>
                </p:nvSpPr>
                <p:spPr bwMode="auto">
                  <a:xfrm>
                    <a:off x="379" y="2972"/>
                    <a:ext cx="426" cy="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t>Data Entry</a:t>
                    </a:r>
                  </a:p>
                  <a:p>
                    <a:pPr algn="ctr">
                      <a:lnSpc>
                        <a:spcPct val="100000"/>
                      </a:lnSpc>
                      <a:spcBef>
                        <a:spcPct val="0"/>
                      </a:spcBef>
                      <a:spcAft>
                        <a:spcPct val="0"/>
                      </a:spcAft>
                      <a:buClrTx/>
                      <a:buSzTx/>
                      <a:buFontTx/>
                      <a:buNone/>
                    </a:pPr>
                    <a:r>
                      <a:rPr lang="en-US" altLang="en-US" sz="700" b="0"/>
                      <a:t>Takt Time = 16”</a:t>
                    </a:r>
                  </a:p>
                </p:txBody>
              </p:sp>
            </p:grpSp>
            <p:sp>
              <p:nvSpPr>
                <p:cNvPr id="721" name="Rectangle 161">
                  <a:extLst>
                    <a:ext uri="{FF2B5EF4-FFF2-40B4-BE49-F238E27FC236}">
                      <a16:creationId xmlns:a16="http://schemas.microsoft.com/office/drawing/2014/main" id="{8A79413D-5763-F5EB-7807-C3AD498A0DC7}"/>
                    </a:ext>
                  </a:extLst>
                </p:cNvPr>
                <p:cNvSpPr>
                  <a:spLocks noChangeArrowheads="1"/>
                </p:cNvSpPr>
                <p:nvPr/>
              </p:nvSpPr>
              <p:spPr bwMode="auto">
                <a:xfrm>
                  <a:off x="1360" y="3035"/>
                  <a:ext cx="576" cy="346"/>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sp>
            <p:nvSpPr>
              <p:cNvPr id="719" name="Rectangle 162">
                <a:extLst>
                  <a:ext uri="{FF2B5EF4-FFF2-40B4-BE49-F238E27FC236}">
                    <a16:creationId xmlns:a16="http://schemas.microsoft.com/office/drawing/2014/main" id="{0EF8DE6E-449B-278D-6773-EA3C6838B18D}"/>
                  </a:ext>
                </a:extLst>
              </p:cNvPr>
              <p:cNvSpPr>
                <a:spLocks noChangeArrowheads="1"/>
              </p:cNvSpPr>
              <p:nvPr/>
            </p:nvSpPr>
            <p:spPr bwMode="auto">
              <a:xfrm>
                <a:off x="1368" y="3037"/>
                <a:ext cx="580" cy="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45720">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25000"/>
                  </a:lnSpc>
                  <a:spcBef>
                    <a:spcPct val="0"/>
                  </a:spcBef>
                  <a:spcAft>
                    <a:spcPct val="0"/>
                  </a:spcAft>
                  <a:buClrTx/>
                  <a:buSzTx/>
                  <a:buFontTx/>
                  <a:buNone/>
                </a:pPr>
                <a:r>
                  <a:rPr lang="en-US" altLang="en-US" sz="500" b="0"/>
                  <a:t>Volume = 1,730</a:t>
                </a:r>
              </a:p>
              <a:p>
                <a:pPr>
                  <a:lnSpc>
                    <a:spcPct val="125000"/>
                  </a:lnSpc>
                  <a:spcBef>
                    <a:spcPct val="0"/>
                  </a:spcBef>
                  <a:spcAft>
                    <a:spcPct val="0"/>
                  </a:spcAft>
                  <a:buClrTx/>
                  <a:buSzTx/>
                  <a:buFontTx/>
                  <a:buNone/>
                </a:pPr>
                <a:r>
                  <a:rPr lang="en-US" altLang="en-US" sz="500" b="0"/>
                  <a:t>Processing Time = 16”</a:t>
                </a:r>
              </a:p>
              <a:p>
                <a:pPr>
                  <a:lnSpc>
                    <a:spcPct val="125000"/>
                  </a:lnSpc>
                  <a:spcBef>
                    <a:spcPct val="0"/>
                  </a:spcBef>
                  <a:spcAft>
                    <a:spcPct val="0"/>
                  </a:spcAft>
                  <a:buClrTx/>
                  <a:buSzTx/>
                  <a:buFontTx/>
                  <a:buNone/>
                </a:pPr>
                <a:r>
                  <a:rPr lang="en-US" altLang="en-US" sz="500" b="0"/>
                  <a:t>DOI = 16”</a:t>
                </a:r>
              </a:p>
              <a:p>
                <a:pPr>
                  <a:lnSpc>
                    <a:spcPct val="125000"/>
                  </a:lnSpc>
                  <a:spcBef>
                    <a:spcPct val="0"/>
                  </a:spcBef>
                  <a:spcAft>
                    <a:spcPct val="0"/>
                  </a:spcAft>
                  <a:buClrTx/>
                  <a:buSzTx/>
                  <a:buFontTx/>
                  <a:buNone/>
                </a:pPr>
                <a:r>
                  <a:rPr lang="en-US" altLang="en-US" sz="500" b="0"/>
                  <a:t>Quality = 100%</a:t>
                </a:r>
              </a:p>
              <a:p>
                <a:pPr>
                  <a:lnSpc>
                    <a:spcPct val="125000"/>
                  </a:lnSpc>
                  <a:spcBef>
                    <a:spcPct val="0"/>
                  </a:spcBef>
                  <a:spcAft>
                    <a:spcPct val="0"/>
                  </a:spcAft>
                  <a:buClrTx/>
                  <a:buSzTx/>
                  <a:buFontTx/>
                  <a:buNone/>
                </a:pPr>
                <a:r>
                  <a:rPr lang="en-US" altLang="en-US" sz="500" b="0"/>
                  <a:t># Rework = 0</a:t>
                </a:r>
              </a:p>
            </p:txBody>
          </p:sp>
        </p:grpSp>
        <p:sp>
          <p:nvSpPr>
            <p:cNvPr id="729" name="AutoShape 163">
              <a:extLst>
                <a:ext uri="{FF2B5EF4-FFF2-40B4-BE49-F238E27FC236}">
                  <a16:creationId xmlns:a16="http://schemas.microsoft.com/office/drawing/2014/main" id="{4A8F51F3-C931-75B1-CA59-F1217C643A33}"/>
                </a:ext>
              </a:extLst>
            </p:cNvPr>
            <p:cNvSpPr>
              <a:spLocks noChangeArrowheads="1"/>
            </p:cNvSpPr>
            <p:nvPr/>
          </p:nvSpPr>
          <p:spPr bwMode="auto">
            <a:xfrm>
              <a:off x="2174875" y="3481388"/>
              <a:ext cx="542925" cy="438150"/>
            </a:xfrm>
            <a:prstGeom prst="irregularSeal1">
              <a:avLst/>
            </a:prstGeom>
            <a:noFill/>
            <a:ln w="28575">
              <a:solidFill>
                <a:srgbClr val="FF0000"/>
              </a:solidFill>
              <a:miter lim="800000"/>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r>
                <a:rPr lang="en-US" altLang="en-US" sz="600"/>
                <a:t>Std Wk</a:t>
              </a:r>
            </a:p>
          </p:txBody>
        </p:sp>
        <p:sp>
          <p:nvSpPr>
            <p:cNvPr id="730" name="AutoShape 164">
              <a:extLst>
                <a:ext uri="{FF2B5EF4-FFF2-40B4-BE49-F238E27FC236}">
                  <a16:creationId xmlns:a16="http://schemas.microsoft.com/office/drawing/2014/main" id="{A38EDF6C-CDB4-6C71-A9A9-1C8B87A7D38A}"/>
                </a:ext>
              </a:extLst>
            </p:cNvPr>
            <p:cNvSpPr>
              <a:spLocks noChangeArrowheads="1"/>
            </p:cNvSpPr>
            <p:nvPr/>
          </p:nvSpPr>
          <p:spPr bwMode="auto">
            <a:xfrm>
              <a:off x="523875" y="5392738"/>
              <a:ext cx="542925" cy="438150"/>
            </a:xfrm>
            <a:prstGeom prst="irregularSeal1">
              <a:avLst/>
            </a:prstGeom>
            <a:noFill/>
            <a:ln w="28575">
              <a:solidFill>
                <a:srgbClr val="FF0000"/>
              </a:solidFill>
              <a:miter lim="800000"/>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r>
                <a:rPr lang="en-US" altLang="en-US" sz="600"/>
                <a:t>CEDAC</a:t>
              </a:r>
            </a:p>
          </p:txBody>
        </p:sp>
        <p:sp>
          <p:nvSpPr>
            <p:cNvPr id="731" name="AutoShape 165">
              <a:extLst>
                <a:ext uri="{FF2B5EF4-FFF2-40B4-BE49-F238E27FC236}">
                  <a16:creationId xmlns:a16="http://schemas.microsoft.com/office/drawing/2014/main" id="{04CA9D75-22C8-A659-6EC7-2B1D3C110BF1}"/>
                </a:ext>
              </a:extLst>
            </p:cNvPr>
            <p:cNvSpPr>
              <a:spLocks noChangeArrowheads="1"/>
            </p:cNvSpPr>
            <p:nvPr/>
          </p:nvSpPr>
          <p:spPr bwMode="auto">
            <a:xfrm>
              <a:off x="1457325" y="3646488"/>
              <a:ext cx="561975" cy="463550"/>
            </a:xfrm>
            <a:prstGeom prst="irregularSeal1">
              <a:avLst/>
            </a:prstGeom>
            <a:noFill/>
            <a:ln w="28575">
              <a:solidFill>
                <a:srgbClr val="FF0000"/>
              </a:solidFill>
              <a:miter lim="800000"/>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r>
                <a:rPr lang="en-US" altLang="en-US" sz="600"/>
                <a:t>One Piece</a:t>
              </a:r>
            </a:p>
            <a:p>
              <a:pPr algn="ctr">
                <a:lnSpc>
                  <a:spcPct val="80000"/>
                </a:lnSpc>
                <a:spcBef>
                  <a:spcPct val="20000"/>
                </a:spcBef>
                <a:spcAft>
                  <a:spcPct val="0"/>
                </a:spcAft>
                <a:buClrTx/>
                <a:buSzTx/>
                <a:buFontTx/>
                <a:buNone/>
              </a:pPr>
              <a:r>
                <a:rPr lang="en-US" altLang="en-US" sz="600"/>
                <a:t>Flow</a:t>
              </a:r>
            </a:p>
          </p:txBody>
        </p:sp>
        <p:sp>
          <p:nvSpPr>
            <p:cNvPr id="732" name="AutoShape 166">
              <a:extLst>
                <a:ext uri="{FF2B5EF4-FFF2-40B4-BE49-F238E27FC236}">
                  <a16:creationId xmlns:a16="http://schemas.microsoft.com/office/drawing/2014/main" id="{3DA9AF5C-E42A-4603-DBB5-8017D510AB91}"/>
                </a:ext>
              </a:extLst>
            </p:cNvPr>
            <p:cNvSpPr>
              <a:spLocks noChangeArrowheads="1"/>
            </p:cNvSpPr>
            <p:nvPr/>
          </p:nvSpPr>
          <p:spPr bwMode="auto">
            <a:xfrm>
              <a:off x="3063875" y="3589338"/>
              <a:ext cx="517525" cy="406400"/>
            </a:xfrm>
            <a:prstGeom prst="irregularSeal1">
              <a:avLst/>
            </a:prstGeom>
            <a:noFill/>
            <a:ln w="28575">
              <a:solidFill>
                <a:srgbClr val="FF0000"/>
              </a:solidFill>
              <a:miter lim="800000"/>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r>
                <a:rPr lang="en-US" altLang="en-US" sz="600"/>
                <a:t>Visual</a:t>
              </a:r>
            </a:p>
            <a:p>
              <a:pPr algn="ctr">
                <a:lnSpc>
                  <a:spcPct val="80000"/>
                </a:lnSpc>
                <a:spcBef>
                  <a:spcPct val="20000"/>
                </a:spcBef>
                <a:spcAft>
                  <a:spcPct val="0"/>
                </a:spcAft>
                <a:buClrTx/>
                <a:buSzTx/>
                <a:buFontTx/>
                <a:buNone/>
              </a:pPr>
              <a:r>
                <a:rPr lang="en-US" altLang="en-US" sz="600"/>
                <a:t>Mgt</a:t>
              </a:r>
            </a:p>
          </p:txBody>
        </p:sp>
        <p:grpSp>
          <p:nvGrpSpPr>
            <p:cNvPr id="733" name="Group 167">
              <a:extLst>
                <a:ext uri="{FF2B5EF4-FFF2-40B4-BE49-F238E27FC236}">
                  <a16:creationId xmlns:a16="http://schemas.microsoft.com/office/drawing/2014/main" id="{9E10433C-AFE3-0B37-A289-68C4C4B0F429}"/>
                </a:ext>
              </a:extLst>
            </p:cNvPr>
            <p:cNvGrpSpPr>
              <a:grpSpLocks/>
            </p:cNvGrpSpPr>
            <p:nvPr/>
          </p:nvGrpSpPr>
          <p:grpSpPr bwMode="auto">
            <a:xfrm>
              <a:off x="1720850" y="4370388"/>
              <a:ext cx="454025" cy="903287"/>
              <a:chOff x="2020" y="2665"/>
              <a:chExt cx="286" cy="569"/>
            </a:xfrm>
          </p:grpSpPr>
          <p:sp>
            <p:nvSpPr>
              <p:cNvPr id="734" name="Text Box 168">
                <a:extLst>
                  <a:ext uri="{FF2B5EF4-FFF2-40B4-BE49-F238E27FC236}">
                    <a16:creationId xmlns:a16="http://schemas.microsoft.com/office/drawing/2014/main" id="{93E296F4-EE43-BB44-9BCB-2B2D650B53E1}"/>
                  </a:ext>
                </a:extLst>
              </p:cNvPr>
              <p:cNvSpPr txBox="1">
                <a:spLocks noChangeArrowheads="1"/>
              </p:cNvSpPr>
              <p:nvPr/>
            </p:nvSpPr>
            <p:spPr bwMode="auto">
              <a:xfrm>
                <a:off x="2020" y="2918"/>
                <a:ext cx="28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Aft>
                    <a:spcPct val="0"/>
                  </a:spcAft>
                  <a:buClrTx/>
                  <a:buSzTx/>
                  <a:buFontTx/>
                  <a:buNone/>
                </a:pPr>
                <a:r>
                  <a:rPr lang="en-US" altLang="en-US" sz="500" b="0">
                    <a:solidFill>
                      <a:srgbClr val="FF0000"/>
                    </a:solidFill>
                  </a:rPr>
                  <a:t>Outlook</a:t>
                </a:r>
              </a:p>
              <a:p>
                <a:pPr algn="ctr">
                  <a:lnSpc>
                    <a:spcPct val="100000"/>
                  </a:lnSpc>
                  <a:spcAft>
                    <a:spcPct val="0"/>
                  </a:spcAft>
                  <a:buClrTx/>
                  <a:buSzTx/>
                  <a:buFontTx/>
                  <a:buNone/>
                </a:pPr>
                <a:r>
                  <a:rPr lang="en-US" altLang="en-US" sz="500" b="0">
                    <a:solidFill>
                      <a:srgbClr val="FF0000"/>
                    </a:solidFill>
                  </a:rPr>
                  <a:t>FIFO</a:t>
                </a:r>
              </a:p>
              <a:p>
                <a:pPr algn="ctr">
                  <a:lnSpc>
                    <a:spcPct val="100000"/>
                  </a:lnSpc>
                  <a:spcAft>
                    <a:spcPct val="0"/>
                  </a:spcAft>
                  <a:buClrTx/>
                  <a:buSzTx/>
                  <a:buFontTx/>
                  <a:buNone/>
                </a:pPr>
                <a:r>
                  <a:rPr lang="en-US" altLang="en-US" sz="500" b="0">
                    <a:solidFill>
                      <a:srgbClr val="FF0000"/>
                    </a:solidFill>
                  </a:rPr>
                  <a:t>350  </a:t>
                </a:r>
                <a:r>
                  <a:rPr lang="en-US" altLang="en-US" sz="400" b="0">
                    <a:solidFill>
                      <a:srgbClr val="FF0000"/>
                    </a:solidFill>
                  </a:rPr>
                  <a:t>Application</a:t>
                </a:r>
              </a:p>
            </p:txBody>
          </p:sp>
          <p:sp>
            <p:nvSpPr>
              <p:cNvPr id="735" name="Rectangle 169">
                <a:extLst>
                  <a:ext uri="{FF2B5EF4-FFF2-40B4-BE49-F238E27FC236}">
                    <a16:creationId xmlns:a16="http://schemas.microsoft.com/office/drawing/2014/main" id="{6062A766-3713-28AD-AD98-C01F3F438115}"/>
                  </a:ext>
                </a:extLst>
              </p:cNvPr>
              <p:cNvSpPr>
                <a:spLocks noChangeArrowheads="1"/>
              </p:cNvSpPr>
              <p:nvPr/>
            </p:nvSpPr>
            <p:spPr bwMode="auto">
              <a:xfrm>
                <a:off x="2095" y="2709"/>
                <a:ext cx="151" cy="16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36" name="AutoShape 170">
                <a:extLst>
                  <a:ext uri="{FF2B5EF4-FFF2-40B4-BE49-F238E27FC236}">
                    <a16:creationId xmlns:a16="http://schemas.microsoft.com/office/drawing/2014/main" id="{06CFC4E0-F6EB-7C9C-CB5E-9661DDC69A6E}"/>
                  </a:ext>
                </a:extLst>
              </p:cNvPr>
              <p:cNvSpPr>
                <a:spLocks/>
              </p:cNvSpPr>
              <p:nvPr/>
            </p:nvSpPr>
            <p:spPr bwMode="auto">
              <a:xfrm rot="-5400000">
                <a:off x="2162" y="2598"/>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37" name="AutoShape 171">
                <a:extLst>
                  <a:ext uri="{FF2B5EF4-FFF2-40B4-BE49-F238E27FC236}">
                    <a16:creationId xmlns:a16="http://schemas.microsoft.com/office/drawing/2014/main" id="{3B324689-7F02-C9A0-DE1E-8B5095A7CA12}"/>
                  </a:ext>
                </a:extLst>
              </p:cNvPr>
              <p:cNvSpPr>
                <a:spLocks/>
              </p:cNvSpPr>
              <p:nvPr/>
            </p:nvSpPr>
            <p:spPr bwMode="auto">
              <a:xfrm rot="-5400000">
                <a:off x="2162" y="2607"/>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38" name="AutoShape 172">
                <a:extLst>
                  <a:ext uri="{FF2B5EF4-FFF2-40B4-BE49-F238E27FC236}">
                    <a16:creationId xmlns:a16="http://schemas.microsoft.com/office/drawing/2014/main" id="{E6BC3403-8187-858E-A493-ABFC332A4DF2}"/>
                  </a:ext>
                </a:extLst>
              </p:cNvPr>
              <p:cNvSpPr>
                <a:spLocks/>
              </p:cNvSpPr>
              <p:nvPr/>
            </p:nvSpPr>
            <p:spPr bwMode="auto">
              <a:xfrm rot="-5400000">
                <a:off x="2162" y="2616"/>
                <a:ext cx="18" cy="151"/>
              </a:xfrm>
              <a:prstGeom prst="leftBracket">
                <a:avLst>
                  <a:gd name="adj" fmla="val 6990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739" name="Group 173">
                <a:extLst>
                  <a:ext uri="{FF2B5EF4-FFF2-40B4-BE49-F238E27FC236}">
                    <a16:creationId xmlns:a16="http://schemas.microsoft.com/office/drawing/2014/main" id="{8FF88E59-BC1B-87CA-C3F4-88C41401115D}"/>
                  </a:ext>
                </a:extLst>
              </p:cNvPr>
              <p:cNvGrpSpPr>
                <a:grpSpLocks/>
              </p:cNvGrpSpPr>
              <p:nvPr/>
            </p:nvGrpSpPr>
            <p:grpSpPr bwMode="auto">
              <a:xfrm>
                <a:off x="2089" y="2898"/>
                <a:ext cx="151" cy="336"/>
                <a:chOff x="576" y="1200"/>
                <a:chExt cx="240" cy="336"/>
              </a:xfrm>
            </p:grpSpPr>
            <p:sp>
              <p:nvSpPr>
                <p:cNvPr id="741" name="Rectangle 174">
                  <a:extLst>
                    <a:ext uri="{FF2B5EF4-FFF2-40B4-BE49-F238E27FC236}">
                      <a16:creationId xmlns:a16="http://schemas.microsoft.com/office/drawing/2014/main" id="{9D8763E7-A8A2-35CB-4CCE-4E82277FF088}"/>
                    </a:ext>
                  </a:extLst>
                </p:cNvPr>
                <p:cNvSpPr>
                  <a:spLocks noChangeArrowheads="1"/>
                </p:cNvSpPr>
                <p:nvPr/>
              </p:nvSpPr>
              <p:spPr bwMode="auto">
                <a:xfrm>
                  <a:off x="576" y="1200"/>
                  <a:ext cx="240"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42" name="Line 175">
                  <a:extLst>
                    <a:ext uri="{FF2B5EF4-FFF2-40B4-BE49-F238E27FC236}">
                      <a16:creationId xmlns:a16="http://schemas.microsoft.com/office/drawing/2014/main" id="{615CA81C-E9D8-C9D8-2AAB-42745595EC1E}"/>
                    </a:ext>
                  </a:extLst>
                </p:cNvPr>
                <p:cNvSpPr>
                  <a:spLocks noChangeShapeType="1"/>
                </p:cNvSpPr>
                <p:nvPr/>
              </p:nvSpPr>
              <p:spPr bwMode="auto">
                <a:xfrm>
                  <a:off x="576" y="139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3" name="Line 176">
                  <a:extLst>
                    <a:ext uri="{FF2B5EF4-FFF2-40B4-BE49-F238E27FC236}">
                      <a16:creationId xmlns:a16="http://schemas.microsoft.com/office/drawing/2014/main" id="{2751A8E8-2436-F0AD-FB92-AD117F93E7C2}"/>
                    </a:ext>
                  </a:extLst>
                </p:cNvPr>
                <p:cNvSpPr>
                  <a:spLocks noChangeShapeType="1"/>
                </p:cNvSpPr>
                <p:nvPr/>
              </p:nvSpPr>
              <p:spPr bwMode="auto">
                <a:xfrm>
                  <a:off x="576" y="129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740" name="Text Box 177">
                <a:extLst>
                  <a:ext uri="{FF2B5EF4-FFF2-40B4-BE49-F238E27FC236}">
                    <a16:creationId xmlns:a16="http://schemas.microsoft.com/office/drawing/2014/main" id="{5859A6B5-7211-670B-2592-1C5D35E8A9C7}"/>
                  </a:ext>
                </a:extLst>
              </p:cNvPr>
              <p:cNvSpPr txBox="1">
                <a:spLocks noChangeArrowheads="1"/>
              </p:cNvSpPr>
              <p:nvPr/>
            </p:nvSpPr>
            <p:spPr bwMode="auto">
              <a:xfrm>
                <a:off x="2074" y="2736"/>
                <a:ext cx="168" cy="1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eaLnBrk="1" hangingPunct="1">
                  <a:lnSpc>
                    <a:spcPct val="100000"/>
                  </a:lnSpc>
                  <a:spcBef>
                    <a:spcPct val="0"/>
                  </a:spcBef>
                  <a:spcAft>
                    <a:spcPct val="0"/>
                  </a:spcAft>
                  <a:buClrTx/>
                  <a:buSzTx/>
                  <a:buFontTx/>
                  <a:buNone/>
                </a:pPr>
                <a:r>
                  <a:rPr lang="en-US" altLang="en-US" sz="600" b="0"/>
                  <a:t>IN</a:t>
                </a:r>
              </a:p>
            </p:txBody>
          </p:sp>
        </p:grpSp>
        <p:sp>
          <p:nvSpPr>
            <p:cNvPr id="744" name="AutoShape 178">
              <a:extLst>
                <a:ext uri="{FF2B5EF4-FFF2-40B4-BE49-F238E27FC236}">
                  <a16:creationId xmlns:a16="http://schemas.microsoft.com/office/drawing/2014/main" id="{C30393C9-228E-0694-DAFA-8F561DB5203D}"/>
                </a:ext>
              </a:extLst>
            </p:cNvPr>
            <p:cNvSpPr>
              <a:spLocks noChangeArrowheads="1"/>
            </p:cNvSpPr>
            <p:nvPr/>
          </p:nvSpPr>
          <p:spPr bwMode="auto">
            <a:xfrm>
              <a:off x="4225925" y="3703638"/>
              <a:ext cx="517525" cy="406400"/>
            </a:xfrm>
            <a:prstGeom prst="irregularSeal1">
              <a:avLst/>
            </a:prstGeom>
            <a:noFill/>
            <a:ln w="28575">
              <a:solidFill>
                <a:srgbClr val="FF0000"/>
              </a:solidFill>
              <a:miter lim="800000"/>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r>
                <a:rPr lang="en-US" altLang="en-US" sz="600"/>
                <a:t>Mistake</a:t>
              </a:r>
            </a:p>
            <a:p>
              <a:pPr algn="ctr">
                <a:lnSpc>
                  <a:spcPct val="80000"/>
                </a:lnSpc>
                <a:spcBef>
                  <a:spcPct val="20000"/>
                </a:spcBef>
                <a:spcAft>
                  <a:spcPct val="0"/>
                </a:spcAft>
                <a:buClrTx/>
                <a:buSzTx/>
                <a:buFontTx/>
                <a:buNone/>
              </a:pPr>
              <a:r>
                <a:rPr lang="en-US" altLang="en-US" sz="600"/>
                <a:t>Proof</a:t>
              </a:r>
            </a:p>
          </p:txBody>
        </p:sp>
        <p:sp>
          <p:nvSpPr>
            <p:cNvPr id="745" name="AutoShape 179">
              <a:extLst>
                <a:ext uri="{FF2B5EF4-FFF2-40B4-BE49-F238E27FC236}">
                  <a16:creationId xmlns:a16="http://schemas.microsoft.com/office/drawing/2014/main" id="{0C7AA74E-DE1D-B157-66D8-15270F007DC8}"/>
                </a:ext>
              </a:extLst>
            </p:cNvPr>
            <p:cNvSpPr>
              <a:spLocks noChangeArrowheads="1"/>
            </p:cNvSpPr>
            <p:nvPr/>
          </p:nvSpPr>
          <p:spPr bwMode="auto">
            <a:xfrm>
              <a:off x="2536825" y="3729038"/>
              <a:ext cx="517525" cy="406400"/>
            </a:xfrm>
            <a:prstGeom prst="irregularSeal1">
              <a:avLst/>
            </a:prstGeom>
            <a:noFill/>
            <a:ln w="28575">
              <a:solidFill>
                <a:srgbClr val="FF0000"/>
              </a:solidFill>
              <a:miter lim="800000"/>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r>
                <a:rPr lang="en-US" altLang="en-US" sz="600"/>
                <a:t>Mistake</a:t>
              </a:r>
            </a:p>
            <a:p>
              <a:pPr algn="ctr">
                <a:lnSpc>
                  <a:spcPct val="80000"/>
                </a:lnSpc>
                <a:spcBef>
                  <a:spcPct val="20000"/>
                </a:spcBef>
                <a:spcAft>
                  <a:spcPct val="0"/>
                </a:spcAft>
                <a:buClrTx/>
                <a:buSzTx/>
                <a:buFontTx/>
                <a:buNone/>
              </a:pPr>
              <a:r>
                <a:rPr lang="en-US" altLang="en-US" sz="600"/>
                <a:t>Proof</a:t>
              </a:r>
            </a:p>
          </p:txBody>
        </p:sp>
        <p:sp>
          <p:nvSpPr>
            <p:cNvPr id="746" name="Text Box 180">
              <a:extLst>
                <a:ext uri="{FF2B5EF4-FFF2-40B4-BE49-F238E27FC236}">
                  <a16:creationId xmlns:a16="http://schemas.microsoft.com/office/drawing/2014/main" id="{59D75442-5906-030E-B0DF-AE8F8FD343D1}"/>
                </a:ext>
              </a:extLst>
            </p:cNvPr>
            <p:cNvSpPr txBox="1">
              <a:spLocks noChangeArrowheads="1"/>
            </p:cNvSpPr>
            <p:nvPr/>
          </p:nvSpPr>
          <p:spPr bwMode="auto">
            <a:xfrm>
              <a:off x="5568950" y="5675313"/>
              <a:ext cx="450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0"/>
                </a:spcBef>
                <a:spcAft>
                  <a:spcPct val="0"/>
                </a:spcAft>
                <a:buClrTx/>
                <a:buSzTx/>
                <a:buFontTx/>
                <a:buNone/>
              </a:pPr>
              <a:r>
                <a:rPr lang="en-US" altLang="en-US" sz="700" b="0">
                  <a:solidFill>
                    <a:srgbClr val="FF0000"/>
                  </a:solidFill>
                </a:rPr>
                <a:t>.5</a:t>
              </a:r>
            </a:p>
            <a:p>
              <a:pPr algn="ctr">
                <a:lnSpc>
                  <a:spcPct val="100000"/>
                </a:lnSpc>
                <a:spcBef>
                  <a:spcPct val="0"/>
                </a:spcBef>
                <a:spcAft>
                  <a:spcPct val="0"/>
                </a:spcAft>
                <a:buClrTx/>
                <a:buSzTx/>
                <a:buFontTx/>
                <a:buNone/>
              </a:pPr>
              <a:r>
                <a:rPr lang="en-US" altLang="en-US" sz="700" b="0">
                  <a:solidFill>
                    <a:srgbClr val="FF0000"/>
                  </a:solidFill>
                </a:rPr>
                <a:t>Days</a:t>
              </a:r>
            </a:p>
          </p:txBody>
        </p:sp>
        <p:sp>
          <p:nvSpPr>
            <p:cNvPr id="747" name="Rectangle 181">
              <a:extLst>
                <a:ext uri="{FF2B5EF4-FFF2-40B4-BE49-F238E27FC236}">
                  <a16:creationId xmlns:a16="http://schemas.microsoft.com/office/drawing/2014/main" id="{C916F6F4-3412-0EF4-0F7D-D395E933E9D6}"/>
                </a:ext>
              </a:extLst>
            </p:cNvPr>
            <p:cNvSpPr>
              <a:spLocks noChangeArrowheads="1"/>
            </p:cNvSpPr>
            <p:nvPr/>
          </p:nvSpPr>
          <p:spPr bwMode="auto">
            <a:xfrm>
              <a:off x="504825" y="3629025"/>
              <a:ext cx="1628775" cy="2076450"/>
            </a:xfrm>
            <a:prstGeom prst="rect">
              <a:avLst/>
            </a:prstGeom>
            <a:noFill/>
            <a:ln w="38100" algn="ctr">
              <a:solidFill>
                <a:srgbClr val="FF0000"/>
              </a:solidFill>
              <a:prstDash val="dash"/>
              <a:miter lim="800000"/>
              <a:headEnd/>
              <a:tailEnd/>
            </a:ln>
            <a:effectLst/>
            <a:extLst>
              <a:ext uri="{909E8E84-426E-40DD-AFC4-6F175D3DCCD1}">
                <a14:hiddenFill xmlns:a14="http://schemas.microsoft.com/office/drawing/2010/main">
                  <a:solidFill>
                    <a:srgbClr val="80808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48" name="Rectangle 182">
              <a:extLst>
                <a:ext uri="{FF2B5EF4-FFF2-40B4-BE49-F238E27FC236}">
                  <a16:creationId xmlns:a16="http://schemas.microsoft.com/office/drawing/2014/main" id="{E9C1D0A8-D5D9-771F-DD5A-BE43AB03BA37}"/>
                </a:ext>
              </a:extLst>
            </p:cNvPr>
            <p:cNvSpPr>
              <a:spLocks noChangeArrowheads="1"/>
            </p:cNvSpPr>
            <p:nvPr/>
          </p:nvSpPr>
          <p:spPr bwMode="auto">
            <a:xfrm>
              <a:off x="2228850" y="3609975"/>
              <a:ext cx="1628775" cy="2076450"/>
            </a:xfrm>
            <a:prstGeom prst="rect">
              <a:avLst/>
            </a:prstGeom>
            <a:noFill/>
            <a:ln w="38100" algn="ctr">
              <a:solidFill>
                <a:srgbClr val="FF0000"/>
              </a:solidFill>
              <a:prstDash val="dash"/>
              <a:miter lim="800000"/>
              <a:headEnd/>
              <a:tailEnd/>
            </a:ln>
            <a:effectLst/>
            <a:extLst>
              <a:ext uri="{909E8E84-426E-40DD-AFC4-6F175D3DCCD1}">
                <a14:hiddenFill xmlns:a14="http://schemas.microsoft.com/office/drawing/2010/main">
                  <a:solidFill>
                    <a:srgbClr val="80808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49" name="Rectangle 183">
              <a:extLst>
                <a:ext uri="{FF2B5EF4-FFF2-40B4-BE49-F238E27FC236}">
                  <a16:creationId xmlns:a16="http://schemas.microsoft.com/office/drawing/2014/main" id="{5080D1EA-F216-E4E9-116E-4C79D679E2A3}"/>
                </a:ext>
              </a:extLst>
            </p:cNvPr>
            <p:cNvSpPr>
              <a:spLocks noChangeArrowheads="1"/>
            </p:cNvSpPr>
            <p:nvPr/>
          </p:nvSpPr>
          <p:spPr bwMode="auto">
            <a:xfrm>
              <a:off x="3914775" y="3609975"/>
              <a:ext cx="2628900" cy="2076450"/>
            </a:xfrm>
            <a:prstGeom prst="rect">
              <a:avLst/>
            </a:prstGeom>
            <a:noFill/>
            <a:ln w="38100" algn="ctr">
              <a:solidFill>
                <a:srgbClr val="FF0000"/>
              </a:solidFill>
              <a:prstDash val="dash"/>
              <a:miter lim="800000"/>
              <a:headEnd/>
              <a:tailEnd/>
            </a:ln>
            <a:effectLst/>
            <a:extLst>
              <a:ext uri="{909E8E84-426E-40DD-AFC4-6F175D3DCCD1}">
                <a14:hiddenFill xmlns:a14="http://schemas.microsoft.com/office/drawing/2010/main">
                  <a:solidFill>
                    <a:srgbClr val="80808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50" name="Text Box 184">
              <a:extLst>
                <a:ext uri="{FF2B5EF4-FFF2-40B4-BE49-F238E27FC236}">
                  <a16:creationId xmlns:a16="http://schemas.microsoft.com/office/drawing/2014/main" id="{91F5631D-F200-ED43-1277-8DBC6ACE19C6}"/>
                </a:ext>
              </a:extLst>
            </p:cNvPr>
            <p:cNvSpPr txBox="1">
              <a:spLocks noChangeArrowheads="1"/>
            </p:cNvSpPr>
            <p:nvPr/>
          </p:nvSpPr>
          <p:spPr bwMode="auto">
            <a:xfrm>
              <a:off x="957932" y="3389313"/>
              <a:ext cx="770186" cy="201863"/>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r>
                <a:rPr lang="en-US" altLang="en-US" sz="1000" b="0" dirty="0"/>
                <a:t>Receipt loop</a:t>
              </a:r>
            </a:p>
          </p:txBody>
        </p:sp>
        <p:sp>
          <p:nvSpPr>
            <p:cNvPr id="751" name="Text Box 185">
              <a:extLst>
                <a:ext uri="{FF2B5EF4-FFF2-40B4-BE49-F238E27FC236}">
                  <a16:creationId xmlns:a16="http://schemas.microsoft.com/office/drawing/2014/main" id="{815A465D-978E-6713-CCD0-A1009A4AD978}"/>
                </a:ext>
              </a:extLst>
            </p:cNvPr>
            <p:cNvSpPr txBox="1">
              <a:spLocks noChangeArrowheads="1"/>
            </p:cNvSpPr>
            <p:nvPr/>
          </p:nvSpPr>
          <p:spPr bwMode="auto">
            <a:xfrm>
              <a:off x="2646798" y="3389313"/>
              <a:ext cx="916705" cy="201863"/>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r>
                <a:rPr lang="en-US" altLang="en-US" sz="1000" b="0" dirty="0"/>
                <a:t>Data Entry loop</a:t>
              </a:r>
            </a:p>
          </p:txBody>
        </p:sp>
        <p:sp>
          <p:nvSpPr>
            <p:cNvPr id="752" name="Text Box 186">
              <a:extLst>
                <a:ext uri="{FF2B5EF4-FFF2-40B4-BE49-F238E27FC236}">
                  <a16:creationId xmlns:a16="http://schemas.microsoft.com/office/drawing/2014/main" id="{82B83F96-AE47-74D8-8D20-A5EE4EA54E7B}"/>
                </a:ext>
              </a:extLst>
            </p:cNvPr>
            <p:cNvSpPr txBox="1">
              <a:spLocks noChangeArrowheads="1"/>
            </p:cNvSpPr>
            <p:nvPr/>
          </p:nvSpPr>
          <p:spPr bwMode="auto">
            <a:xfrm>
              <a:off x="4486275" y="3370263"/>
              <a:ext cx="1962150" cy="201612"/>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r>
                <a:rPr lang="en-US" altLang="en-US" sz="1000" b="0" dirty="0"/>
                <a:t>Underwriting loop</a:t>
              </a:r>
            </a:p>
          </p:txBody>
        </p:sp>
        <p:grpSp>
          <p:nvGrpSpPr>
            <p:cNvPr id="753" name="Group 187">
              <a:extLst>
                <a:ext uri="{FF2B5EF4-FFF2-40B4-BE49-F238E27FC236}">
                  <a16:creationId xmlns:a16="http://schemas.microsoft.com/office/drawing/2014/main" id="{3DE74EB5-B2FF-A2D0-35F5-3C1DF6803318}"/>
                </a:ext>
              </a:extLst>
            </p:cNvPr>
            <p:cNvGrpSpPr>
              <a:grpSpLocks/>
            </p:cNvGrpSpPr>
            <p:nvPr/>
          </p:nvGrpSpPr>
          <p:grpSpPr bwMode="auto">
            <a:xfrm>
              <a:off x="1784350" y="4095750"/>
              <a:ext cx="285750" cy="323850"/>
              <a:chOff x="2112" y="892"/>
              <a:chExt cx="240" cy="212"/>
            </a:xfrm>
          </p:grpSpPr>
          <p:sp>
            <p:nvSpPr>
              <p:cNvPr id="754" name="AutoShape 188">
                <a:extLst>
                  <a:ext uri="{FF2B5EF4-FFF2-40B4-BE49-F238E27FC236}">
                    <a16:creationId xmlns:a16="http://schemas.microsoft.com/office/drawing/2014/main" id="{01906F9E-BE48-48B9-DE8F-787A1872083D}"/>
                  </a:ext>
                </a:extLst>
              </p:cNvPr>
              <p:cNvSpPr>
                <a:spLocks/>
              </p:cNvSpPr>
              <p:nvPr/>
            </p:nvSpPr>
            <p:spPr bwMode="auto">
              <a:xfrm rot="-5400000">
                <a:off x="2223" y="781"/>
                <a:ext cx="18" cy="240"/>
              </a:xfrm>
              <a:prstGeom prst="leftBracket">
                <a:avLst>
                  <a:gd name="adj" fmla="val 111111"/>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55" name="AutoShape 189">
                <a:extLst>
                  <a:ext uri="{FF2B5EF4-FFF2-40B4-BE49-F238E27FC236}">
                    <a16:creationId xmlns:a16="http://schemas.microsoft.com/office/drawing/2014/main" id="{9264EAA4-22A9-D576-15CF-75D2DDE119A5}"/>
                  </a:ext>
                </a:extLst>
              </p:cNvPr>
              <p:cNvSpPr>
                <a:spLocks/>
              </p:cNvSpPr>
              <p:nvPr/>
            </p:nvSpPr>
            <p:spPr bwMode="auto">
              <a:xfrm rot="-5400000">
                <a:off x="2223" y="790"/>
                <a:ext cx="18" cy="240"/>
              </a:xfrm>
              <a:prstGeom prst="leftBracket">
                <a:avLst>
                  <a:gd name="adj" fmla="val 111111"/>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56" name="AutoShape 190">
                <a:extLst>
                  <a:ext uri="{FF2B5EF4-FFF2-40B4-BE49-F238E27FC236}">
                    <a16:creationId xmlns:a16="http://schemas.microsoft.com/office/drawing/2014/main" id="{221C0574-FDC3-E9CE-DA78-F8013E6907E7}"/>
                  </a:ext>
                </a:extLst>
              </p:cNvPr>
              <p:cNvSpPr>
                <a:spLocks/>
              </p:cNvSpPr>
              <p:nvPr/>
            </p:nvSpPr>
            <p:spPr bwMode="auto">
              <a:xfrm rot="-5400000">
                <a:off x="2223" y="799"/>
                <a:ext cx="18" cy="240"/>
              </a:xfrm>
              <a:prstGeom prst="leftBracket">
                <a:avLst>
                  <a:gd name="adj" fmla="val 111111"/>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57" name="AutoShape 191">
                <a:extLst>
                  <a:ext uri="{FF2B5EF4-FFF2-40B4-BE49-F238E27FC236}">
                    <a16:creationId xmlns:a16="http://schemas.microsoft.com/office/drawing/2014/main" id="{0AADD6E6-12A8-2CD7-3A4E-29BB458A5A59}"/>
                  </a:ext>
                </a:extLst>
              </p:cNvPr>
              <p:cNvSpPr>
                <a:spLocks noChangeArrowheads="1"/>
              </p:cNvSpPr>
              <p:nvPr/>
            </p:nvSpPr>
            <p:spPr bwMode="auto">
              <a:xfrm>
                <a:off x="2112" y="939"/>
                <a:ext cx="240" cy="165"/>
              </a:xfrm>
              <a:prstGeom prst="flowChartMerge">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758" name="Group 192">
                <a:extLst>
                  <a:ext uri="{FF2B5EF4-FFF2-40B4-BE49-F238E27FC236}">
                    <a16:creationId xmlns:a16="http://schemas.microsoft.com/office/drawing/2014/main" id="{C21DB0C2-42B7-D9B9-FD24-0D0DF59D75EE}"/>
                  </a:ext>
                </a:extLst>
              </p:cNvPr>
              <p:cNvGrpSpPr>
                <a:grpSpLocks/>
              </p:cNvGrpSpPr>
              <p:nvPr/>
            </p:nvGrpSpPr>
            <p:grpSpPr bwMode="auto">
              <a:xfrm>
                <a:off x="2174" y="948"/>
                <a:ext cx="156" cy="64"/>
                <a:chOff x="1440" y="1520"/>
                <a:chExt cx="156" cy="64"/>
              </a:xfrm>
            </p:grpSpPr>
            <p:sp>
              <p:nvSpPr>
                <p:cNvPr id="759" name="Line 193">
                  <a:extLst>
                    <a:ext uri="{FF2B5EF4-FFF2-40B4-BE49-F238E27FC236}">
                      <a16:creationId xmlns:a16="http://schemas.microsoft.com/office/drawing/2014/main" id="{B0BC96A3-E3F8-DEE5-B211-BDABAC4AA550}"/>
                    </a:ext>
                  </a:extLst>
                </p:cNvPr>
                <p:cNvSpPr>
                  <a:spLocks noChangeShapeType="1"/>
                </p:cNvSpPr>
                <p:nvPr/>
              </p:nvSpPr>
              <p:spPr bwMode="auto">
                <a:xfrm flipV="1">
                  <a:off x="1440" y="1536"/>
                  <a:ext cx="78" cy="48"/>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0" name="Line 194">
                  <a:extLst>
                    <a:ext uri="{FF2B5EF4-FFF2-40B4-BE49-F238E27FC236}">
                      <a16:creationId xmlns:a16="http://schemas.microsoft.com/office/drawing/2014/main" id="{32DE733F-CEF8-7B59-4081-A74B0EC20207}"/>
                    </a:ext>
                  </a:extLst>
                </p:cNvPr>
                <p:cNvSpPr>
                  <a:spLocks noChangeShapeType="1"/>
                </p:cNvSpPr>
                <p:nvPr/>
              </p:nvSpPr>
              <p:spPr bwMode="auto">
                <a:xfrm flipV="1">
                  <a:off x="1518" y="1520"/>
                  <a:ext cx="78" cy="48"/>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cxnSp>
              <p:nvCxnSpPr>
                <p:cNvPr id="761" name="AutoShape 195">
                  <a:extLst>
                    <a:ext uri="{FF2B5EF4-FFF2-40B4-BE49-F238E27FC236}">
                      <a16:creationId xmlns:a16="http://schemas.microsoft.com/office/drawing/2014/main" id="{F09953D9-DE21-CEA7-FC9C-18FB5FD83462}"/>
                    </a:ext>
                  </a:extLst>
                </p:cNvPr>
                <p:cNvCxnSpPr>
                  <a:cxnSpLocks noChangeShapeType="1"/>
                  <a:stCxn id="759" idx="1"/>
                  <a:endCxn id="760" idx="0"/>
                </p:cNvCxnSpPr>
                <p:nvPr/>
              </p:nvCxnSpPr>
              <p:spPr bwMode="auto">
                <a:xfrm>
                  <a:off x="1518" y="1536"/>
                  <a:ext cx="0" cy="32"/>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nvGrpSpPr>
            <p:cNvPr id="762" name="Group 196">
              <a:extLst>
                <a:ext uri="{FF2B5EF4-FFF2-40B4-BE49-F238E27FC236}">
                  <a16:creationId xmlns:a16="http://schemas.microsoft.com/office/drawing/2014/main" id="{74C3D99C-7EEB-9309-C2FD-278A73EFA923}"/>
                </a:ext>
              </a:extLst>
            </p:cNvPr>
            <p:cNvGrpSpPr>
              <a:grpSpLocks/>
            </p:cNvGrpSpPr>
            <p:nvPr/>
          </p:nvGrpSpPr>
          <p:grpSpPr bwMode="auto">
            <a:xfrm>
              <a:off x="3413125" y="4114800"/>
              <a:ext cx="285750" cy="323850"/>
              <a:chOff x="2112" y="892"/>
              <a:chExt cx="240" cy="212"/>
            </a:xfrm>
          </p:grpSpPr>
          <p:sp>
            <p:nvSpPr>
              <p:cNvPr id="763" name="AutoShape 197">
                <a:extLst>
                  <a:ext uri="{FF2B5EF4-FFF2-40B4-BE49-F238E27FC236}">
                    <a16:creationId xmlns:a16="http://schemas.microsoft.com/office/drawing/2014/main" id="{5D0028E9-14DD-5BBF-AA81-15F566CF82D1}"/>
                  </a:ext>
                </a:extLst>
              </p:cNvPr>
              <p:cNvSpPr>
                <a:spLocks/>
              </p:cNvSpPr>
              <p:nvPr/>
            </p:nvSpPr>
            <p:spPr bwMode="auto">
              <a:xfrm rot="-5400000">
                <a:off x="2223" y="781"/>
                <a:ext cx="18" cy="240"/>
              </a:xfrm>
              <a:prstGeom prst="leftBracket">
                <a:avLst>
                  <a:gd name="adj" fmla="val 111111"/>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64" name="AutoShape 198">
                <a:extLst>
                  <a:ext uri="{FF2B5EF4-FFF2-40B4-BE49-F238E27FC236}">
                    <a16:creationId xmlns:a16="http://schemas.microsoft.com/office/drawing/2014/main" id="{B85339C5-1159-374D-62ED-F5957EE20F72}"/>
                  </a:ext>
                </a:extLst>
              </p:cNvPr>
              <p:cNvSpPr>
                <a:spLocks/>
              </p:cNvSpPr>
              <p:nvPr/>
            </p:nvSpPr>
            <p:spPr bwMode="auto">
              <a:xfrm rot="-5400000">
                <a:off x="2223" y="790"/>
                <a:ext cx="18" cy="240"/>
              </a:xfrm>
              <a:prstGeom prst="leftBracket">
                <a:avLst>
                  <a:gd name="adj" fmla="val 111111"/>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65" name="AutoShape 199">
                <a:extLst>
                  <a:ext uri="{FF2B5EF4-FFF2-40B4-BE49-F238E27FC236}">
                    <a16:creationId xmlns:a16="http://schemas.microsoft.com/office/drawing/2014/main" id="{1895FF33-1CC0-C455-6F14-BAB20D11CB18}"/>
                  </a:ext>
                </a:extLst>
              </p:cNvPr>
              <p:cNvSpPr>
                <a:spLocks/>
              </p:cNvSpPr>
              <p:nvPr/>
            </p:nvSpPr>
            <p:spPr bwMode="auto">
              <a:xfrm rot="-5400000">
                <a:off x="2223" y="799"/>
                <a:ext cx="18" cy="240"/>
              </a:xfrm>
              <a:prstGeom prst="leftBracket">
                <a:avLst>
                  <a:gd name="adj" fmla="val 111111"/>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66" name="AutoShape 200">
                <a:extLst>
                  <a:ext uri="{FF2B5EF4-FFF2-40B4-BE49-F238E27FC236}">
                    <a16:creationId xmlns:a16="http://schemas.microsoft.com/office/drawing/2014/main" id="{54BEBEFB-D02A-EA66-88C2-E05BFAEE04C1}"/>
                  </a:ext>
                </a:extLst>
              </p:cNvPr>
              <p:cNvSpPr>
                <a:spLocks noChangeArrowheads="1"/>
              </p:cNvSpPr>
              <p:nvPr/>
            </p:nvSpPr>
            <p:spPr bwMode="auto">
              <a:xfrm>
                <a:off x="2112" y="939"/>
                <a:ext cx="240" cy="165"/>
              </a:xfrm>
              <a:prstGeom prst="flowChartMerge">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767" name="Group 201">
                <a:extLst>
                  <a:ext uri="{FF2B5EF4-FFF2-40B4-BE49-F238E27FC236}">
                    <a16:creationId xmlns:a16="http://schemas.microsoft.com/office/drawing/2014/main" id="{86AC0175-36A4-512B-0E02-4EA647452384}"/>
                  </a:ext>
                </a:extLst>
              </p:cNvPr>
              <p:cNvGrpSpPr>
                <a:grpSpLocks/>
              </p:cNvGrpSpPr>
              <p:nvPr/>
            </p:nvGrpSpPr>
            <p:grpSpPr bwMode="auto">
              <a:xfrm>
                <a:off x="2174" y="948"/>
                <a:ext cx="156" cy="64"/>
                <a:chOff x="1440" y="1520"/>
                <a:chExt cx="156" cy="64"/>
              </a:xfrm>
            </p:grpSpPr>
            <p:sp>
              <p:nvSpPr>
                <p:cNvPr id="768" name="Line 202">
                  <a:extLst>
                    <a:ext uri="{FF2B5EF4-FFF2-40B4-BE49-F238E27FC236}">
                      <a16:creationId xmlns:a16="http://schemas.microsoft.com/office/drawing/2014/main" id="{A7EBE840-979D-A079-01FB-DAC77E7162AE}"/>
                    </a:ext>
                  </a:extLst>
                </p:cNvPr>
                <p:cNvSpPr>
                  <a:spLocks noChangeShapeType="1"/>
                </p:cNvSpPr>
                <p:nvPr/>
              </p:nvSpPr>
              <p:spPr bwMode="auto">
                <a:xfrm flipV="1">
                  <a:off x="1440" y="1536"/>
                  <a:ext cx="78" cy="48"/>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9" name="Line 203">
                  <a:extLst>
                    <a:ext uri="{FF2B5EF4-FFF2-40B4-BE49-F238E27FC236}">
                      <a16:creationId xmlns:a16="http://schemas.microsoft.com/office/drawing/2014/main" id="{CE0C3AE0-5CCC-8B61-6B27-B5B8F4DFE135}"/>
                    </a:ext>
                  </a:extLst>
                </p:cNvPr>
                <p:cNvSpPr>
                  <a:spLocks noChangeShapeType="1"/>
                </p:cNvSpPr>
                <p:nvPr/>
              </p:nvSpPr>
              <p:spPr bwMode="auto">
                <a:xfrm flipV="1">
                  <a:off x="1518" y="1520"/>
                  <a:ext cx="78" cy="48"/>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cxnSp>
              <p:nvCxnSpPr>
                <p:cNvPr id="770" name="AutoShape 204">
                  <a:extLst>
                    <a:ext uri="{FF2B5EF4-FFF2-40B4-BE49-F238E27FC236}">
                      <a16:creationId xmlns:a16="http://schemas.microsoft.com/office/drawing/2014/main" id="{BE35934D-B05E-D816-B89A-669D4AFD6392}"/>
                    </a:ext>
                  </a:extLst>
                </p:cNvPr>
                <p:cNvCxnSpPr>
                  <a:cxnSpLocks noChangeShapeType="1"/>
                  <a:stCxn id="768" idx="1"/>
                  <a:endCxn id="769" idx="0"/>
                </p:cNvCxnSpPr>
                <p:nvPr/>
              </p:nvCxnSpPr>
              <p:spPr bwMode="auto">
                <a:xfrm>
                  <a:off x="1518" y="1536"/>
                  <a:ext cx="0" cy="32"/>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nvGrpSpPr>
            <p:cNvPr id="771" name="Group 205">
              <a:extLst>
                <a:ext uri="{FF2B5EF4-FFF2-40B4-BE49-F238E27FC236}">
                  <a16:creationId xmlns:a16="http://schemas.microsoft.com/office/drawing/2014/main" id="{B054EA0B-26CD-F52E-7E6B-282E2ED1532B}"/>
                </a:ext>
              </a:extLst>
            </p:cNvPr>
            <p:cNvGrpSpPr>
              <a:grpSpLocks/>
            </p:cNvGrpSpPr>
            <p:nvPr/>
          </p:nvGrpSpPr>
          <p:grpSpPr bwMode="auto">
            <a:xfrm flipH="1" flipV="1">
              <a:off x="4811713" y="4051300"/>
              <a:ext cx="1303337" cy="347663"/>
              <a:chOff x="1065" y="1628"/>
              <a:chExt cx="780" cy="1403"/>
            </a:xfrm>
          </p:grpSpPr>
          <p:cxnSp>
            <p:nvCxnSpPr>
              <p:cNvPr id="772" name="AutoShape 206">
                <a:extLst>
                  <a:ext uri="{FF2B5EF4-FFF2-40B4-BE49-F238E27FC236}">
                    <a16:creationId xmlns:a16="http://schemas.microsoft.com/office/drawing/2014/main" id="{BD94849F-D2CD-5DEB-F925-99007EAF42A6}"/>
                  </a:ext>
                </a:extLst>
              </p:cNvPr>
              <p:cNvCxnSpPr>
                <a:cxnSpLocks noChangeShapeType="1"/>
              </p:cNvCxnSpPr>
              <p:nvPr/>
            </p:nvCxnSpPr>
            <p:spPr bwMode="auto">
              <a:xfrm flipH="1">
                <a:off x="1472" y="1628"/>
                <a:ext cx="373" cy="540"/>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3" name="AutoShape 207">
                <a:extLst>
                  <a:ext uri="{FF2B5EF4-FFF2-40B4-BE49-F238E27FC236}">
                    <a16:creationId xmlns:a16="http://schemas.microsoft.com/office/drawing/2014/main" id="{4C74CA2E-C7EA-AD82-2DAA-77FB084FF774}"/>
                  </a:ext>
                </a:extLst>
              </p:cNvPr>
              <p:cNvCxnSpPr>
                <a:cxnSpLocks noChangeShapeType="1"/>
              </p:cNvCxnSpPr>
              <p:nvPr/>
            </p:nvCxnSpPr>
            <p:spPr bwMode="auto">
              <a:xfrm>
                <a:off x="1469" y="2172"/>
                <a:ext cx="144" cy="8"/>
              </a:xfrm>
              <a:prstGeom prst="straightConnector1">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4" name="AutoShape 208">
                <a:extLst>
                  <a:ext uri="{FF2B5EF4-FFF2-40B4-BE49-F238E27FC236}">
                    <a16:creationId xmlns:a16="http://schemas.microsoft.com/office/drawing/2014/main" id="{E34FCD95-00AA-5ECB-8EA2-118FF5CEFA98}"/>
                  </a:ext>
                </a:extLst>
              </p:cNvPr>
              <p:cNvCxnSpPr>
                <a:cxnSpLocks noChangeShapeType="1"/>
              </p:cNvCxnSpPr>
              <p:nvPr/>
            </p:nvCxnSpPr>
            <p:spPr bwMode="auto">
              <a:xfrm flipH="1">
                <a:off x="1065" y="2175"/>
                <a:ext cx="552" cy="856"/>
              </a:xfrm>
              <a:prstGeom prst="straightConnector1">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775" name="Group 209">
              <a:extLst>
                <a:ext uri="{FF2B5EF4-FFF2-40B4-BE49-F238E27FC236}">
                  <a16:creationId xmlns:a16="http://schemas.microsoft.com/office/drawing/2014/main" id="{3C8BDF11-FC83-EFAE-7692-467CD62E82F6}"/>
                </a:ext>
              </a:extLst>
            </p:cNvPr>
            <p:cNvGrpSpPr>
              <a:grpSpLocks/>
            </p:cNvGrpSpPr>
            <p:nvPr/>
          </p:nvGrpSpPr>
          <p:grpSpPr bwMode="auto">
            <a:xfrm>
              <a:off x="6175375" y="3619500"/>
              <a:ext cx="285750" cy="323850"/>
              <a:chOff x="2112" y="892"/>
              <a:chExt cx="240" cy="212"/>
            </a:xfrm>
          </p:grpSpPr>
          <p:sp>
            <p:nvSpPr>
              <p:cNvPr id="776" name="AutoShape 210">
                <a:extLst>
                  <a:ext uri="{FF2B5EF4-FFF2-40B4-BE49-F238E27FC236}">
                    <a16:creationId xmlns:a16="http://schemas.microsoft.com/office/drawing/2014/main" id="{B9CFF292-8B0C-0F18-0044-75EED4EBB542}"/>
                  </a:ext>
                </a:extLst>
              </p:cNvPr>
              <p:cNvSpPr>
                <a:spLocks/>
              </p:cNvSpPr>
              <p:nvPr/>
            </p:nvSpPr>
            <p:spPr bwMode="auto">
              <a:xfrm rot="-5400000">
                <a:off x="2223" y="781"/>
                <a:ext cx="18" cy="240"/>
              </a:xfrm>
              <a:prstGeom prst="leftBracket">
                <a:avLst>
                  <a:gd name="adj" fmla="val 111111"/>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77" name="AutoShape 211">
                <a:extLst>
                  <a:ext uri="{FF2B5EF4-FFF2-40B4-BE49-F238E27FC236}">
                    <a16:creationId xmlns:a16="http://schemas.microsoft.com/office/drawing/2014/main" id="{476FB6C7-51B6-5AE7-5BA6-C169CB636C4A}"/>
                  </a:ext>
                </a:extLst>
              </p:cNvPr>
              <p:cNvSpPr>
                <a:spLocks/>
              </p:cNvSpPr>
              <p:nvPr/>
            </p:nvSpPr>
            <p:spPr bwMode="auto">
              <a:xfrm rot="-5400000">
                <a:off x="2223" y="790"/>
                <a:ext cx="18" cy="240"/>
              </a:xfrm>
              <a:prstGeom prst="leftBracket">
                <a:avLst>
                  <a:gd name="adj" fmla="val 111111"/>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78" name="AutoShape 212">
                <a:extLst>
                  <a:ext uri="{FF2B5EF4-FFF2-40B4-BE49-F238E27FC236}">
                    <a16:creationId xmlns:a16="http://schemas.microsoft.com/office/drawing/2014/main" id="{64B9876C-84E2-CD62-7E60-1AF59588B2D7}"/>
                  </a:ext>
                </a:extLst>
              </p:cNvPr>
              <p:cNvSpPr>
                <a:spLocks/>
              </p:cNvSpPr>
              <p:nvPr/>
            </p:nvSpPr>
            <p:spPr bwMode="auto">
              <a:xfrm rot="-5400000">
                <a:off x="2223" y="799"/>
                <a:ext cx="18" cy="240"/>
              </a:xfrm>
              <a:prstGeom prst="leftBracket">
                <a:avLst>
                  <a:gd name="adj" fmla="val 111111"/>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79" name="AutoShape 213">
                <a:extLst>
                  <a:ext uri="{FF2B5EF4-FFF2-40B4-BE49-F238E27FC236}">
                    <a16:creationId xmlns:a16="http://schemas.microsoft.com/office/drawing/2014/main" id="{6CCB61DB-AE3C-AD64-4AD6-A1D2636FB4DD}"/>
                  </a:ext>
                </a:extLst>
              </p:cNvPr>
              <p:cNvSpPr>
                <a:spLocks noChangeArrowheads="1"/>
              </p:cNvSpPr>
              <p:nvPr/>
            </p:nvSpPr>
            <p:spPr bwMode="auto">
              <a:xfrm>
                <a:off x="2112" y="939"/>
                <a:ext cx="240" cy="165"/>
              </a:xfrm>
              <a:prstGeom prst="flowChartMerge">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780" name="Group 214">
                <a:extLst>
                  <a:ext uri="{FF2B5EF4-FFF2-40B4-BE49-F238E27FC236}">
                    <a16:creationId xmlns:a16="http://schemas.microsoft.com/office/drawing/2014/main" id="{45642633-2D1F-9878-AD62-3100120D7D88}"/>
                  </a:ext>
                </a:extLst>
              </p:cNvPr>
              <p:cNvGrpSpPr>
                <a:grpSpLocks/>
              </p:cNvGrpSpPr>
              <p:nvPr/>
            </p:nvGrpSpPr>
            <p:grpSpPr bwMode="auto">
              <a:xfrm>
                <a:off x="2174" y="948"/>
                <a:ext cx="156" cy="64"/>
                <a:chOff x="1440" y="1520"/>
                <a:chExt cx="156" cy="64"/>
              </a:xfrm>
            </p:grpSpPr>
            <p:sp>
              <p:nvSpPr>
                <p:cNvPr id="781" name="Line 215">
                  <a:extLst>
                    <a:ext uri="{FF2B5EF4-FFF2-40B4-BE49-F238E27FC236}">
                      <a16:creationId xmlns:a16="http://schemas.microsoft.com/office/drawing/2014/main" id="{7B10A260-4BA4-AAEA-F692-703882740371}"/>
                    </a:ext>
                  </a:extLst>
                </p:cNvPr>
                <p:cNvSpPr>
                  <a:spLocks noChangeShapeType="1"/>
                </p:cNvSpPr>
                <p:nvPr/>
              </p:nvSpPr>
              <p:spPr bwMode="auto">
                <a:xfrm flipV="1">
                  <a:off x="1440" y="1536"/>
                  <a:ext cx="78" cy="48"/>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2" name="Line 216">
                  <a:extLst>
                    <a:ext uri="{FF2B5EF4-FFF2-40B4-BE49-F238E27FC236}">
                      <a16:creationId xmlns:a16="http://schemas.microsoft.com/office/drawing/2014/main" id="{78A1E5EB-608A-316A-F69E-76BCB30C7AF7}"/>
                    </a:ext>
                  </a:extLst>
                </p:cNvPr>
                <p:cNvSpPr>
                  <a:spLocks noChangeShapeType="1"/>
                </p:cNvSpPr>
                <p:nvPr/>
              </p:nvSpPr>
              <p:spPr bwMode="auto">
                <a:xfrm flipV="1">
                  <a:off x="1518" y="1520"/>
                  <a:ext cx="78" cy="48"/>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cxnSp>
              <p:nvCxnSpPr>
                <p:cNvPr id="783" name="AutoShape 217">
                  <a:extLst>
                    <a:ext uri="{FF2B5EF4-FFF2-40B4-BE49-F238E27FC236}">
                      <a16:creationId xmlns:a16="http://schemas.microsoft.com/office/drawing/2014/main" id="{61AC0F5E-1F35-A3E7-F065-9CDE8E629BF5}"/>
                    </a:ext>
                  </a:extLst>
                </p:cNvPr>
                <p:cNvCxnSpPr>
                  <a:cxnSpLocks noChangeShapeType="1"/>
                  <a:stCxn id="781" idx="1"/>
                  <a:endCxn id="782" idx="0"/>
                </p:cNvCxnSpPr>
                <p:nvPr/>
              </p:nvCxnSpPr>
              <p:spPr bwMode="auto">
                <a:xfrm>
                  <a:off x="1518" y="1536"/>
                  <a:ext cx="0" cy="32"/>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nvGrpSpPr>
            <p:cNvPr id="784" name="Group 221">
              <a:extLst>
                <a:ext uri="{FF2B5EF4-FFF2-40B4-BE49-F238E27FC236}">
                  <a16:creationId xmlns:a16="http://schemas.microsoft.com/office/drawing/2014/main" id="{5F60583A-4400-DAF8-6F9D-A7363F7AA394}"/>
                </a:ext>
              </a:extLst>
            </p:cNvPr>
            <p:cNvGrpSpPr>
              <a:grpSpLocks/>
            </p:cNvGrpSpPr>
            <p:nvPr/>
          </p:nvGrpSpPr>
          <p:grpSpPr bwMode="auto">
            <a:xfrm>
              <a:off x="4146550" y="2206625"/>
              <a:ext cx="687388" cy="835025"/>
              <a:chOff x="2516" y="1294"/>
              <a:chExt cx="433" cy="526"/>
            </a:xfrm>
          </p:grpSpPr>
          <p:sp>
            <p:nvSpPr>
              <p:cNvPr id="785" name="Rectangle 222">
                <a:extLst>
                  <a:ext uri="{FF2B5EF4-FFF2-40B4-BE49-F238E27FC236}">
                    <a16:creationId xmlns:a16="http://schemas.microsoft.com/office/drawing/2014/main" id="{80F23A37-D9EA-885A-B226-CF7992DC5686}"/>
                  </a:ext>
                </a:extLst>
              </p:cNvPr>
              <p:cNvSpPr>
                <a:spLocks noChangeArrowheads="1"/>
              </p:cNvSpPr>
              <p:nvPr/>
            </p:nvSpPr>
            <p:spPr bwMode="auto">
              <a:xfrm>
                <a:off x="2610" y="1666"/>
                <a:ext cx="26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eaLnBrk="1" hangingPunct="1">
                  <a:lnSpc>
                    <a:spcPct val="100000"/>
                  </a:lnSpc>
                  <a:spcBef>
                    <a:spcPct val="0"/>
                  </a:spcBef>
                  <a:spcAft>
                    <a:spcPct val="0"/>
                  </a:spcAft>
                  <a:buClrTx/>
                  <a:buSzTx/>
                  <a:buFontTx/>
                  <a:buNone/>
                </a:pPr>
                <a:r>
                  <a:rPr lang="en-US" altLang="en-US" sz="800" b="0">
                    <a:cs typeface="Arial" panose="020B0604020202020204" pitchFamily="34" charset="0"/>
                  </a:rPr>
                  <a:t>Card</a:t>
                </a:r>
              </a:p>
              <a:p>
                <a:pPr algn="ctr" eaLnBrk="1" hangingPunct="1">
                  <a:lnSpc>
                    <a:spcPct val="100000"/>
                  </a:lnSpc>
                  <a:spcBef>
                    <a:spcPct val="0"/>
                  </a:spcBef>
                  <a:spcAft>
                    <a:spcPct val="0"/>
                  </a:spcAft>
                  <a:buClrTx/>
                  <a:buSzTx/>
                  <a:buFontTx/>
                  <a:buNone/>
                </a:pPr>
                <a:r>
                  <a:rPr lang="en-US" altLang="en-US" sz="800" b="0">
                    <a:cs typeface="Arial" panose="020B0604020202020204" pitchFamily="34" charset="0"/>
                  </a:rPr>
                  <a:t>Applicant</a:t>
                </a:r>
              </a:p>
            </p:txBody>
          </p:sp>
          <p:graphicFrame>
            <p:nvGraphicFramePr>
              <p:cNvPr id="786" name="Object 223">
                <a:extLst>
                  <a:ext uri="{FF2B5EF4-FFF2-40B4-BE49-F238E27FC236}">
                    <a16:creationId xmlns:a16="http://schemas.microsoft.com/office/drawing/2014/main" id="{AA2145F4-5BDE-C44C-6D24-065ED4804244}"/>
                  </a:ext>
                </a:extLst>
              </p:cNvPr>
              <p:cNvGraphicFramePr>
                <a:graphicFrameLocks noChangeAspect="1"/>
              </p:cNvGraphicFramePr>
              <p:nvPr/>
            </p:nvGraphicFramePr>
            <p:xfrm>
              <a:off x="2516" y="1294"/>
              <a:ext cx="433" cy="492"/>
            </p:xfrm>
            <a:graphic>
              <a:graphicData uri="http://schemas.openxmlformats.org/presentationml/2006/ole">
                <mc:AlternateContent xmlns:mc="http://schemas.openxmlformats.org/markup-compatibility/2006">
                  <mc:Choice xmlns:v="urn:schemas-microsoft-com:vml" Requires="v">
                    <p:oleObj name="Visio" r:id="rId2" imgW="698500" imgH="977900" progId="Visio.Drawing.11">
                      <p:embed/>
                    </p:oleObj>
                  </mc:Choice>
                  <mc:Fallback>
                    <p:oleObj name="Visio" r:id="rId2" imgW="698500" imgH="977900" progId="Visio.Drawing.11">
                      <p:embed/>
                      <p:pic>
                        <p:nvPicPr>
                          <p:cNvPr id="34949" name="Object 223">
                            <a:extLst>
                              <a:ext uri="{FF2B5EF4-FFF2-40B4-BE49-F238E27FC236}">
                                <a16:creationId xmlns:a16="http://schemas.microsoft.com/office/drawing/2014/main" id="{D99D9FCC-ED76-3B65-7DE3-25F382B4EE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6" y="1294"/>
                            <a:ext cx="433" cy="4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787" name="Object 224">
              <a:extLst>
                <a:ext uri="{FF2B5EF4-FFF2-40B4-BE49-F238E27FC236}">
                  <a16:creationId xmlns:a16="http://schemas.microsoft.com/office/drawing/2014/main" id="{C5369E68-F64B-FF5B-F6E8-1FC529021ECD}"/>
                </a:ext>
              </a:extLst>
            </p:cNvPr>
            <p:cNvGraphicFramePr>
              <a:graphicFrameLocks noChangeAspect="1"/>
            </p:cNvGraphicFramePr>
            <p:nvPr>
              <p:extLst>
                <p:ext uri="{D42A27DB-BD31-4B8C-83A1-F6EECF244321}">
                  <p14:modId xmlns:p14="http://schemas.microsoft.com/office/powerpoint/2010/main" val="1045802570"/>
                </p:ext>
              </p:extLst>
            </p:nvPr>
          </p:nvGraphicFramePr>
          <p:xfrm>
            <a:off x="204788" y="3109913"/>
            <a:ext cx="503237" cy="328612"/>
          </p:xfrm>
          <a:graphic>
            <a:graphicData uri="http://schemas.openxmlformats.org/presentationml/2006/ole">
              <mc:AlternateContent xmlns:mc="http://schemas.openxmlformats.org/markup-compatibility/2006">
                <mc:Choice xmlns:v="urn:schemas-microsoft-com:vml" Requires="v">
                  <p:oleObj name="Visio" r:id="rId4" imgW="1435100" imgH="1765300" progId="Visio.Drawing.11">
                    <p:embed/>
                  </p:oleObj>
                </mc:Choice>
                <mc:Fallback>
                  <p:oleObj name="Visio" r:id="rId4" imgW="1435100" imgH="1765300" progId="Visio.Drawing.11">
                    <p:embed/>
                    <p:pic>
                      <p:nvPicPr>
                        <p:cNvPr id="34913" name="Object 224">
                          <a:extLst>
                            <a:ext uri="{FF2B5EF4-FFF2-40B4-BE49-F238E27FC236}">
                              <a16:creationId xmlns:a16="http://schemas.microsoft.com/office/drawing/2014/main" id="{B87B7903-982E-83B1-34B1-31CE41CC928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4788" y="3109913"/>
                          <a:ext cx="503237" cy="328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88" name="Object 225">
              <a:extLst>
                <a:ext uri="{FF2B5EF4-FFF2-40B4-BE49-F238E27FC236}">
                  <a16:creationId xmlns:a16="http://schemas.microsoft.com/office/drawing/2014/main" id="{EC3D23D0-0A06-5EC3-8EAE-D21291333041}"/>
                </a:ext>
              </a:extLst>
            </p:cNvPr>
            <p:cNvGraphicFramePr>
              <a:graphicFrameLocks noChangeAspect="1"/>
            </p:cNvGraphicFramePr>
            <p:nvPr>
              <p:extLst>
                <p:ext uri="{D42A27DB-BD31-4B8C-83A1-F6EECF244321}">
                  <p14:modId xmlns:p14="http://schemas.microsoft.com/office/powerpoint/2010/main" val="1267289006"/>
                </p:ext>
              </p:extLst>
            </p:nvPr>
          </p:nvGraphicFramePr>
          <p:xfrm>
            <a:off x="8129588" y="3346450"/>
            <a:ext cx="503237" cy="328613"/>
          </p:xfrm>
          <a:graphic>
            <a:graphicData uri="http://schemas.openxmlformats.org/presentationml/2006/ole">
              <mc:AlternateContent xmlns:mc="http://schemas.openxmlformats.org/markup-compatibility/2006">
                <mc:Choice xmlns:v="urn:schemas-microsoft-com:vml" Requires="v">
                  <p:oleObj name="Visio" r:id="rId6" imgW="1435100" imgH="1765300" progId="Visio.Drawing.11">
                    <p:embed/>
                  </p:oleObj>
                </mc:Choice>
                <mc:Fallback>
                  <p:oleObj name="Visio" r:id="rId6" imgW="1435100" imgH="1765300" progId="Visio.Drawing.11">
                    <p:embed/>
                    <p:pic>
                      <p:nvPicPr>
                        <p:cNvPr id="34914" name="Object 225">
                          <a:extLst>
                            <a:ext uri="{FF2B5EF4-FFF2-40B4-BE49-F238E27FC236}">
                              <a16:creationId xmlns:a16="http://schemas.microsoft.com/office/drawing/2014/main" id="{0C45DDF4-B890-90EE-A827-34B982A3B12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29588" y="3346450"/>
                          <a:ext cx="503237" cy="32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89" name="AutoShape 226">
              <a:extLst>
                <a:ext uri="{FF2B5EF4-FFF2-40B4-BE49-F238E27FC236}">
                  <a16:creationId xmlns:a16="http://schemas.microsoft.com/office/drawing/2014/main" id="{63BE5696-7B37-3685-BF7D-371C88CF863D}"/>
                </a:ext>
              </a:extLst>
            </p:cNvPr>
            <p:cNvSpPr>
              <a:spLocks noChangeArrowheads="1"/>
            </p:cNvSpPr>
            <p:nvPr/>
          </p:nvSpPr>
          <p:spPr bwMode="auto">
            <a:xfrm>
              <a:off x="6045200" y="4418013"/>
              <a:ext cx="517525" cy="406400"/>
            </a:xfrm>
            <a:prstGeom prst="irregularSeal1">
              <a:avLst/>
            </a:prstGeom>
            <a:noFill/>
            <a:ln w="28575">
              <a:solidFill>
                <a:srgbClr val="FF0000"/>
              </a:solidFill>
              <a:miter lim="800000"/>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sz="600"/>
            </a:p>
          </p:txBody>
        </p:sp>
        <p:grpSp>
          <p:nvGrpSpPr>
            <p:cNvPr id="790" name="Group 227">
              <a:extLst>
                <a:ext uri="{FF2B5EF4-FFF2-40B4-BE49-F238E27FC236}">
                  <a16:creationId xmlns:a16="http://schemas.microsoft.com/office/drawing/2014/main" id="{CF07095D-623C-0D7F-18D5-E950CC2A4D68}"/>
                </a:ext>
              </a:extLst>
            </p:cNvPr>
            <p:cNvGrpSpPr>
              <a:grpSpLocks/>
            </p:cNvGrpSpPr>
            <p:nvPr/>
          </p:nvGrpSpPr>
          <p:grpSpPr bwMode="auto">
            <a:xfrm>
              <a:off x="288925" y="3933825"/>
              <a:ext cx="285750" cy="323850"/>
              <a:chOff x="2112" y="892"/>
              <a:chExt cx="240" cy="212"/>
            </a:xfrm>
          </p:grpSpPr>
          <p:sp>
            <p:nvSpPr>
              <p:cNvPr id="791" name="AutoShape 228">
                <a:extLst>
                  <a:ext uri="{FF2B5EF4-FFF2-40B4-BE49-F238E27FC236}">
                    <a16:creationId xmlns:a16="http://schemas.microsoft.com/office/drawing/2014/main" id="{478AF75E-DF2F-77C0-FF14-AFAC4B8A26FE}"/>
                  </a:ext>
                </a:extLst>
              </p:cNvPr>
              <p:cNvSpPr>
                <a:spLocks/>
              </p:cNvSpPr>
              <p:nvPr/>
            </p:nvSpPr>
            <p:spPr bwMode="auto">
              <a:xfrm rot="-5400000">
                <a:off x="2223" y="781"/>
                <a:ext cx="18" cy="240"/>
              </a:xfrm>
              <a:prstGeom prst="leftBracket">
                <a:avLst>
                  <a:gd name="adj" fmla="val 111111"/>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92" name="AutoShape 229">
                <a:extLst>
                  <a:ext uri="{FF2B5EF4-FFF2-40B4-BE49-F238E27FC236}">
                    <a16:creationId xmlns:a16="http://schemas.microsoft.com/office/drawing/2014/main" id="{EF8C6644-C547-8EFC-32FB-6C64AD2B87C8}"/>
                  </a:ext>
                </a:extLst>
              </p:cNvPr>
              <p:cNvSpPr>
                <a:spLocks/>
              </p:cNvSpPr>
              <p:nvPr/>
            </p:nvSpPr>
            <p:spPr bwMode="auto">
              <a:xfrm rot="-5400000">
                <a:off x="2223" y="790"/>
                <a:ext cx="18" cy="240"/>
              </a:xfrm>
              <a:prstGeom prst="leftBracket">
                <a:avLst>
                  <a:gd name="adj" fmla="val 111111"/>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93" name="AutoShape 230">
                <a:extLst>
                  <a:ext uri="{FF2B5EF4-FFF2-40B4-BE49-F238E27FC236}">
                    <a16:creationId xmlns:a16="http://schemas.microsoft.com/office/drawing/2014/main" id="{76AEC598-E19E-C7E2-E4A5-13C383738A94}"/>
                  </a:ext>
                </a:extLst>
              </p:cNvPr>
              <p:cNvSpPr>
                <a:spLocks/>
              </p:cNvSpPr>
              <p:nvPr/>
            </p:nvSpPr>
            <p:spPr bwMode="auto">
              <a:xfrm rot="-5400000">
                <a:off x="2223" y="799"/>
                <a:ext cx="18" cy="240"/>
              </a:xfrm>
              <a:prstGeom prst="leftBracket">
                <a:avLst>
                  <a:gd name="adj" fmla="val 111111"/>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94" name="AutoShape 231">
                <a:extLst>
                  <a:ext uri="{FF2B5EF4-FFF2-40B4-BE49-F238E27FC236}">
                    <a16:creationId xmlns:a16="http://schemas.microsoft.com/office/drawing/2014/main" id="{F91F1B1C-BD9B-3ED7-326E-1933ED6F4547}"/>
                  </a:ext>
                </a:extLst>
              </p:cNvPr>
              <p:cNvSpPr>
                <a:spLocks noChangeArrowheads="1"/>
              </p:cNvSpPr>
              <p:nvPr/>
            </p:nvSpPr>
            <p:spPr bwMode="auto">
              <a:xfrm>
                <a:off x="2112" y="939"/>
                <a:ext cx="240" cy="165"/>
              </a:xfrm>
              <a:prstGeom prst="flowChartMerge">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795" name="Group 232">
                <a:extLst>
                  <a:ext uri="{FF2B5EF4-FFF2-40B4-BE49-F238E27FC236}">
                    <a16:creationId xmlns:a16="http://schemas.microsoft.com/office/drawing/2014/main" id="{1C284EC8-5A60-BFDA-FA15-2069DFC279DC}"/>
                  </a:ext>
                </a:extLst>
              </p:cNvPr>
              <p:cNvGrpSpPr>
                <a:grpSpLocks/>
              </p:cNvGrpSpPr>
              <p:nvPr/>
            </p:nvGrpSpPr>
            <p:grpSpPr bwMode="auto">
              <a:xfrm>
                <a:off x="2174" y="948"/>
                <a:ext cx="156" cy="64"/>
                <a:chOff x="1440" y="1520"/>
                <a:chExt cx="156" cy="64"/>
              </a:xfrm>
            </p:grpSpPr>
            <p:sp>
              <p:nvSpPr>
                <p:cNvPr id="796" name="Line 233">
                  <a:extLst>
                    <a:ext uri="{FF2B5EF4-FFF2-40B4-BE49-F238E27FC236}">
                      <a16:creationId xmlns:a16="http://schemas.microsoft.com/office/drawing/2014/main" id="{1D3BCDF2-5E1B-67A8-B4B2-3583002F3346}"/>
                    </a:ext>
                  </a:extLst>
                </p:cNvPr>
                <p:cNvSpPr>
                  <a:spLocks noChangeShapeType="1"/>
                </p:cNvSpPr>
                <p:nvPr/>
              </p:nvSpPr>
              <p:spPr bwMode="auto">
                <a:xfrm flipV="1">
                  <a:off x="1440" y="1536"/>
                  <a:ext cx="78" cy="48"/>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7" name="Line 234">
                  <a:extLst>
                    <a:ext uri="{FF2B5EF4-FFF2-40B4-BE49-F238E27FC236}">
                      <a16:creationId xmlns:a16="http://schemas.microsoft.com/office/drawing/2014/main" id="{45AC5414-A75C-E0B5-E215-8E774CA6A6C9}"/>
                    </a:ext>
                  </a:extLst>
                </p:cNvPr>
                <p:cNvSpPr>
                  <a:spLocks noChangeShapeType="1"/>
                </p:cNvSpPr>
                <p:nvPr/>
              </p:nvSpPr>
              <p:spPr bwMode="auto">
                <a:xfrm flipV="1">
                  <a:off x="1518" y="1520"/>
                  <a:ext cx="78" cy="48"/>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cxnSp>
              <p:nvCxnSpPr>
                <p:cNvPr id="798" name="AutoShape 235">
                  <a:extLst>
                    <a:ext uri="{FF2B5EF4-FFF2-40B4-BE49-F238E27FC236}">
                      <a16:creationId xmlns:a16="http://schemas.microsoft.com/office/drawing/2014/main" id="{355E4056-471E-F208-0C5D-0771DE9A8510}"/>
                    </a:ext>
                  </a:extLst>
                </p:cNvPr>
                <p:cNvCxnSpPr>
                  <a:cxnSpLocks noChangeShapeType="1"/>
                  <a:stCxn id="796" idx="1"/>
                  <a:endCxn id="797" idx="0"/>
                </p:cNvCxnSpPr>
                <p:nvPr/>
              </p:nvCxnSpPr>
              <p:spPr bwMode="auto">
                <a:xfrm>
                  <a:off x="1518" y="1536"/>
                  <a:ext cx="0" cy="32"/>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sp>
          <p:nvSpPr>
            <p:cNvPr id="799" name="Rectangle 268">
              <a:extLst>
                <a:ext uri="{FF2B5EF4-FFF2-40B4-BE49-F238E27FC236}">
                  <a16:creationId xmlns:a16="http://schemas.microsoft.com/office/drawing/2014/main" id="{160521C2-606B-9511-7EAF-B354E23A8C87}"/>
                </a:ext>
              </a:extLst>
            </p:cNvPr>
            <p:cNvSpPr>
              <a:spLocks noChangeArrowheads="1"/>
            </p:cNvSpPr>
            <p:nvPr/>
          </p:nvSpPr>
          <p:spPr bwMode="auto">
            <a:xfrm>
              <a:off x="3414713" y="2808288"/>
              <a:ext cx="792162" cy="501650"/>
            </a:xfrm>
            <a:prstGeom prst="rec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800" name="Group 269">
              <a:extLst>
                <a:ext uri="{FF2B5EF4-FFF2-40B4-BE49-F238E27FC236}">
                  <a16:creationId xmlns:a16="http://schemas.microsoft.com/office/drawing/2014/main" id="{3CBF194B-1392-B851-CB18-B7F2CC40BE87}"/>
                </a:ext>
              </a:extLst>
            </p:cNvPr>
            <p:cNvGrpSpPr>
              <a:grpSpLocks/>
            </p:cNvGrpSpPr>
            <p:nvPr/>
          </p:nvGrpSpPr>
          <p:grpSpPr bwMode="auto">
            <a:xfrm flipV="1">
              <a:off x="3917950" y="3308350"/>
              <a:ext cx="303213" cy="792163"/>
              <a:chOff x="636" y="2054"/>
              <a:chExt cx="200" cy="298"/>
            </a:xfrm>
          </p:grpSpPr>
          <p:sp>
            <p:nvSpPr>
              <p:cNvPr id="801" name="Line 270">
                <a:extLst>
                  <a:ext uri="{FF2B5EF4-FFF2-40B4-BE49-F238E27FC236}">
                    <a16:creationId xmlns:a16="http://schemas.microsoft.com/office/drawing/2014/main" id="{8B815C2E-A5F6-50D6-ABE7-F6E77E4325AA}"/>
                  </a:ext>
                </a:extLst>
              </p:cNvPr>
              <p:cNvSpPr>
                <a:spLocks noChangeShapeType="1"/>
              </p:cNvSpPr>
              <p:nvPr/>
            </p:nvSpPr>
            <p:spPr bwMode="auto">
              <a:xfrm flipV="1">
                <a:off x="740" y="2054"/>
                <a:ext cx="96" cy="192"/>
              </a:xfrm>
              <a:prstGeom prst="line">
                <a:avLst/>
              </a:prstGeom>
              <a:noFill/>
              <a:ln w="12700" cap="sq">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802" name="Line 271">
                <a:extLst>
                  <a:ext uri="{FF2B5EF4-FFF2-40B4-BE49-F238E27FC236}">
                    <a16:creationId xmlns:a16="http://schemas.microsoft.com/office/drawing/2014/main" id="{6C7EBA9D-27E7-FC90-DC1A-67E920D4110B}"/>
                  </a:ext>
                </a:extLst>
              </p:cNvPr>
              <p:cNvSpPr>
                <a:spLocks noChangeShapeType="1"/>
              </p:cNvSpPr>
              <p:nvPr/>
            </p:nvSpPr>
            <p:spPr bwMode="auto">
              <a:xfrm>
                <a:off x="732" y="2160"/>
                <a:ext cx="6" cy="90"/>
              </a:xfrm>
              <a:prstGeom prst="line">
                <a:avLst/>
              </a:prstGeom>
              <a:noFill/>
              <a:ln w="12700" cap="sq">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803" name="Line 272">
                <a:extLst>
                  <a:ext uri="{FF2B5EF4-FFF2-40B4-BE49-F238E27FC236}">
                    <a16:creationId xmlns:a16="http://schemas.microsoft.com/office/drawing/2014/main" id="{A659D774-6672-A16A-3AA5-02DFBE4DDA14}"/>
                  </a:ext>
                </a:extLst>
              </p:cNvPr>
              <p:cNvSpPr>
                <a:spLocks noChangeShapeType="1"/>
              </p:cNvSpPr>
              <p:nvPr/>
            </p:nvSpPr>
            <p:spPr bwMode="auto">
              <a:xfrm flipV="1">
                <a:off x="636" y="2160"/>
                <a:ext cx="96" cy="192"/>
              </a:xfrm>
              <a:prstGeom prst="line">
                <a:avLst/>
              </a:prstGeom>
              <a:noFill/>
              <a:ln w="12700" cap="sq">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804" name="Rectangle 273">
              <a:extLst>
                <a:ext uri="{FF2B5EF4-FFF2-40B4-BE49-F238E27FC236}">
                  <a16:creationId xmlns:a16="http://schemas.microsoft.com/office/drawing/2014/main" id="{FC74B455-0978-52EF-EEA4-543D12B4C85C}"/>
                </a:ext>
              </a:extLst>
            </p:cNvPr>
            <p:cNvSpPr>
              <a:spLocks noChangeArrowheads="1"/>
            </p:cNvSpPr>
            <p:nvPr/>
          </p:nvSpPr>
          <p:spPr bwMode="auto">
            <a:xfrm>
              <a:off x="3179763" y="2822575"/>
              <a:ext cx="1249362"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600">
                  <a:cs typeface="Arial" panose="020B0604020202020204" pitchFamily="34" charset="0"/>
                </a:rPr>
                <a:t>Central Data Base</a:t>
              </a:r>
            </a:p>
          </p:txBody>
        </p:sp>
        <p:grpSp>
          <p:nvGrpSpPr>
            <p:cNvPr id="805" name="Group 274">
              <a:extLst>
                <a:ext uri="{FF2B5EF4-FFF2-40B4-BE49-F238E27FC236}">
                  <a16:creationId xmlns:a16="http://schemas.microsoft.com/office/drawing/2014/main" id="{0FD8FFD8-F1CC-1A9F-015D-EA4AB4D372C2}"/>
                </a:ext>
              </a:extLst>
            </p:cNvPr>
            <p:cNvGrpSpPr>
              <a:grpSpLocks/>
            </p:cNvGrpSpPr>
            <p:nvPr/>
          </p:nvGrpSpPr>
          <p:grpSpPr bwMode="auto">
            <a:xfrm>
              <a:off x="3054350" y="3321050"/>
              <a:ext cx="682625" cy="750888"/>
              <a:chOff x="636" y="2054"/>
              <a:chExt cx="200" cy="298"/>
            </a:xfrm>
          </p:grpSpPr>
          <p:sp>
            <p:nvSpPr>
              <p:cNvPr id="806" name="Line 275">
                <a:extLst>
                  <a:ext uri="{FF2B5EF4-FFF2-40B4-BE49-F238E27FC236}">
                    <a16:creationId xmlns:a16="http://schemas.microsoft.com/office/drawing/2014/main" id="{D57F7599-9D62-1F4C-B2D4-76B0E334A454}"/>
                  </a:ext>
                </a:extLst>
              </p:cNvPr>
              <p:cNvSpPr>
                <a:spLocks noChangeShapeType="1"/>
              </p:cNvSpPr>
              <p:nvPr/>
            </p:nvSpPr>
            <p:spPr bwMode="auto">
              <a:xfrm flipV="1">
                <a:off x="740" y="2054"/>
                <a:ext cx="96" cy="192"/>
              </a:xfrm>
              <a:prstGeom prst="line">
                <a:avLst/>
              </a:prstGeom>
              <a:noFill/>
              <a:ln w="12700" cap="sq">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807" name="Line 276">
                <a:extLst>
                  <a:ext uri="{FF2B5EF4-FFF2-40B4-BE49-F238E27FC236}">
                    <a16:creationId xmlns:a16="http://schemas.microsoft.com/office/drawing/2014/main" id="{928B1251-BB4B-5E8B-1728-A417B4996C29}"/>
                  </a:ext>
                </a:extLst>
              </p:cNvPr>
              <p:cNvSpPr>
                <a:spLocks noChangeShapeType="1"/>
              </p:cNvSpPr>
              <p:nvPr/>
            </p:nvSpPr>
            <p:spPr bwMode="auto">
              <a:xfrm>
                <a:off x="732" y="2160"/>
                <a:ext cx="6" cy="90"/>
              </a:xfrm>
              <a:prstGeom prst="line">
                <a:avLst/>
              </a:prstGeom>
              <a:noFill/>
              <a:ln w="12700" cap="sq">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808" name="Line 277">
                <a:extLst>
                  <a:ext uri="{FF2B5EF4-FFF2-40B4-BE49-F238E27FC236}">
                    <a16:creationId xmlns:a16="http://schemas.microsoft.com/office/drawing/2014/main" id="{F262A038-6C81-2095-1538-D1D349129855}"/>
                  </a:ext>
                </a:extLst>
              </p:cNvPr>
              <p:cNvSpPr>
                <a:spLocks noChangeShapeType="1"/>
              </p:cNvSpPr>
              <p:nvPr/>
            </p:nvSpPr>
            <p:spPr bwMode="auto">
              <a:xfrm flipV="1">
                <a:off x="636" y="2160"/>
                <a:ext cx="96" cy="192"/>
              </a:xfrm>
              <a:prstGeom prst="line">
                <a:avLst/>
              </a:prstGeom>
              <a:noFill/>
              <a:ln w="12700" cap="sq">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809" name="Rectangle 278">
              <a:extLst>
                <a:ext uri="{FF2B5EF4-FFF2-40B4-BE49-F238E27FC236}">
                  <a16:creationId xmlns:a16="http://schemas.microsoft.com/office/drawing/2014/main" id="{4D473352-3C40-548B-564D-60F71EC71EFD}"/>
                </a:ext>
              </a:extLst>
            </p:cNvPr>
            <p:cNvSpPr>
              <a:spLocks noChangeArrowheads="1"/>
            </p:cNvSpPr>
            <p:nvPr/>
          </p:nvSpPr>
          <p:spPr bwMode="auto">
            <a:xfrm>
              <a:off x="3217863" y="3114675"/>
              <a:ext cx="1173162"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gn="ctr">
                <a:lnSpc>
                  <a:spcPct val="100000"/>
                </a:lnSpc>
                <a:spcBef>
                  <a:spcPct val="30000"/>
                </a:spcBef>
                <a:spcAft>
                  <a:spcPct val="0"/>
                </a:spcAft>
                <a:buClrTx/>
                <a:buSzTx/>
                <a:buFontTx/>
                <a:buNone/>
              </a:pPr>
              <a:r>
                <a:rPr lang="en-US" altLang="en-US" sz="600" b="0">
                  <a:cs typeface="Arial" panose="020B0604020202020204" pitchFamily="34" charset="0"/>
                </a:rPr>
                <a:t>Credit Check</a:t>
              </a:r>
            </a:p>
          </p:txBody>
        </p:sp>
        <p:sp>
          <p:nvSpPr>
            <p:cNvPr id="810" name="Text Box 279">
              <a:extLst>
                <a:ext uri="{FF2B5EF4-FFF2-40B4-BE49-F238E27FC236}">
                  <a16:creationId xmlns:a16="http://schemas.microsoft.com/office/drawing/2014/main" id="{1F041732-9309-6CBE-2DF8-12730B9D85B8}"/>
                </a:ext>
              </a:extLst>
            </p:cNvPr>
            <p:cNvSpPr txBox="1">
              <a:spLocks noChangeArrowheads="1"/>
            </p:cNvSpPr>
            <p:nvPr/>
          </p:nvSpPr>
          <p:spPr bwMode="auto">
            <a:xfrm>
              <a:off x="5545138" y="2854325"/>
              <a:ext cx="630237"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defRPr>
              </a:lvl1pPr>
              <a:lvl2pPr marL="685800" indent="-22860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lnSpc>
                  <a:spcPct val="100000"/>
                </a:lnSpc>
                <a:spcBef>
                  <a:spcPct val="0"/>
                </a:spcBef>
                <a:spcAft>
                  <a:spcPct val="0"/>
                </a:spcAft>
                <a:buClrTx/>
                <a:buSzTx/>
                <a:buFontTx/>
                <a:buNone/>
              </a:pPr>
              <a:r>
                <a:rPr lang="en-US" altLang="en-US" sz="600" b="0"/>
                <a:t>Reject Letter</a:t>
              </a:r>
            </a:p>
          </p:txBody>
        </p:sp>
        <p:grpSp>
          <p:nvGrpSpPr>
            <p:cNvPr id="811" name="Group 280">
              <a:extLst>
                <a:ext uri="{FF2B5EF4-FFF2-40B4-BE49-F238E27FC236}">
                  <a16:creationId xmlns:a16="http://schemas.microsoft.com/office/drawing/2014/main" id="{A72D8EB6-E0DA-35C4-F49C-32CEB0536CD6}"/>
                </a:ext>
              </a:extLst>
            </p:cNvPr>
            <p:cNvGrpSpPr>
              <a:grpSpLocks/>
            </p:cNvGrpSpPr>
            <p:nvPr/>
          </p:nvGrpSpPr>
          <p:grpSpPr bwMode="auto">
            <a:xfrm>
              <a:off x="4278313" y="2935288"/>
              <a:ext cx="1352550" cy="263525"/>
              <a:chOff x="636" y="2054"/>
              <a:chExt cx="200" cy="298"/>
            </a:xfrm>
          </p:grpSpPr>
          <p:sp>
            <p:nvSpPr>
              <p:cNvPr id="812" name="Line 281">
                <a:extLst>
                  <a:ext uri="{FF2B5EF4-FFF2-40B4-BE49-F238E27FC236}">
                    <a16:creationId xmlns:a16="http://schemas.microsoft.com/office/drawing/2014/main" id="{1F7EBF83-0F96-0EFC-9E41-37D3259DB92C}"/>
                  </a:ext>
                </a:extLst>
              </p:cNvPr>
              <p:cNvSpPr>
                <a:spLocks noChangeShapeType="1"/>
              </p:cNvSpPr>
              <p:nvPr/>
            </p:nvSpPr>
            <p:spPr bwMode="auto">
              <a:xfrm flipV="1">
                <a:off x="740" y="2054"/>
                <a:ext cx="96" cy="192"/>
              </a:xfrm>
              <a:prstGeom prst="line">
                <a:avLst/>
              </a:prstGeom>
              <a:noFill/>
              <a:ln w="12700" cap="sq">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813" name="Line 282">
                <a:extLst>
                  <a:ext uri="{FF2B5EF4-FFF2-40B4-BE49-F238E27FC236}">
                    <a16:creationId xmlns:a16="http://schemas.microsoft.com/office/drawing/2014/main" id="{A501D9AD-5893-59E3-B78B-AD5860FA1E73}"/>
                  </a:ext>
                </a:extLst>
              </p:cNvPr>
              <p:cNvSpPr>
                <a:spLocks noChangeShapeType="1"/>
              </p:cNvSpPr>
              <p:nvPr/>
            </p:nvSpPr>
            <p:spPr bwMode="auto">
              <a:xfrm>
                <a:off x="732" y="2160"/>
                <a:ext cx="6" cy="90"/>
              </a:xfrm>
              <a:prstGeom prst="line">
                <a:avLst/>
              </a:prstGeom>
              <a:noFill/>
              <a:ln w="12700" cap="sq">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814" name="Line 283">
                <a:extLst>
                  <a:ext uri="{FF2B5EF4-FFF2-40B4-BE49-F238E27FC236}">
                    <a16:creationId xmlns:a16="http://schemas.microsoft.com/office/drawing/2014/main" id="{93FC6D7C-5FC5-A169-B7EF-CECBC9579D92}"/>
                  </a:ext>
                </a:extLst>
              </p:cNvPr>
              <p:cNvSpPr>
                <a:spLocks noChangeShapeType="1"/>
              </p:cNvSpPr>
              <p:nvPr/>
            </p:nvSpPr>
            <p:spPr bwMode="auto">
              <a:xfrm flipV="1">
                <a:off x="636" y="2160"/>
                <a:ext cx="96" cy="192"/>
              </a:xfrm>
              <a:prstGeom prst="line">
                <a:avLst/>
              </a:prstGeom>
              <a:noFill/>
              <a:ln w="12700" cap="sq">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815" name="Group 284">
              <a:extLst>
                <a:ext uri="{FF2B5EF4-FFF2-40B4-BE49-F238E27FC236}">
                  <a16:creationId xmlns:a16="http://schemas.microsoft.com/office/drawing/2014/main" id="{0520E659-23BE-9936-FD1D-284C573EB00F}"/>
                </a:ext>
              </a:extLst>
            </p:cNvPr>
            <p:cNvGrpSpPr>
              <a:grpSpLocks/>
            </p:cNvGrpSpPr>
            <p:nvPr/>
          </p:nvGrpSpPr>
          <p:grpSpPr bwMode="auto">
            <a:xfrm>
              <a:off x="6111875" y="2947988"/>
              <a:ext cx="1963738" cy="1146175"/>
              <a:chOff x="3850" y="1857"/>
              <a:chExt cx="1237" cy="722"/>
            </a:xfrm>
          </p:grpSpPr>
          <p:sp>
            <p:nvSpPr>
              <p:cNvPr id="816" name="Line 285">
                <a:extLst>
                  <a:ext uri="{FF2B5EF4-FFF2-40B4-BE49-F238E27FC236}">
                    <a16:creationId xmlns:a16="http://schemas.microsoft.com/office/drawing/2014/main" id="{AB4F8D3E-776F-D3E2-AA0C-47B66F58CF81}"/>
                  </a:ext>
                </a:extLst>
              </p:cNvPr>
              <p:cNvSpPr>
                <a:spLocks noChangeShapeType="1"/>
              </p:cNvSpPr>
              <p:nvPr/>
            </p:nvSpPr>
            <p:spPr bwMode="auto">
              <a:xfrm>
                <a:off x="4469" y="2157"/>
                <a:ext cx="618" cy="422"/>
              </a:xfrm>
              <a:prstGeom prst="line">
                <a:avLst/>
              </a:prstGeom>
              <a:noFill/>
              <a:ln w="12700" cap="sq">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817" name="Line 286">
                <a:extLst>
                  <a:ext uri="{FF2B5EF4-FFF2-40B4-BE49-F238E27FC236}">
                    <a16:creationId xmlns:a16="http://schemas.microsoft.com/office/drawing/2014/main" id="{32AEDB57-5CDF-7371-3AF9-E2357045B577}"/>
                  </a:ext>
                </a:extLst>
              </p:cNvPr>
              <p:cNvSpPr>
                <a:spLocks noChangeShapeType="1"/>
              </p:cNvSpPr>
              <p:nvPr/>
            </p:nvSpPr>
            <p:spPr bwMode="auto">
              <a:xfrm flipV="1">
                <a:off x="4472" y="2157"/>
                <a:ext cx="168" cy="0"/>
              </a:xfrm>
              <a:prstGeom prst="line">
                <a:avLst/>
              </a:prstGeom>
              <a:noFill/>
              <a:ln w="12700" cap="sq">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818" name="Line 287">
                <a:extLst>
                  <a:ext uri="{FF2B5EF4-FFF2-40B4-BE49-F238E27FC236}">
                    <a16:creationId xmlns:a16="http://schemas.microsoft.com/office/drawing/2014/main" id="{06C692D8-5AC6-7C0A-72A4-2390E61C1406}"/>
                  </a:ext>
                </a:extLst>
              </p:cNvPr>
              <p:cNvSpPr>
                <a:spLocks noChangeShapeType="1"/>
              </p:cNvSpPr>
              <p:nvPr/>
            </p:nvSpPr>
            <p:spPr bwMode="auto">
              <a:xfrm>
                <a:off x="3850" y="1857"/>
                <a:ext cx="795" cy="300"/>
              </a:xfrm>
              <a:prstGeom prst="line">
                <a:avLst/>
              </a:prstGeom>
              <a:noFill/>
              <a:ln w="12700" cap="sq">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sp>
        <p:nvSpPr>
          <p:cNvPr id="2" name="TextBox 1">
            <a:extLst>
              <a:ext uri="{FF2B5EF4-FFF2-40B4-BE49-F238E27FC236}">
                <a16:creationId xmlns:a16="http://schemas.microsoft.com/office/drawing/2014/main" id="{7E1A937F-83D9-D146-BE4A-96DACF435ADF}"/>
              </a:ext>
            </a:extLst>
          </p:cNvPr>
          <p:cNvSpPr txBox="1"/>
          <p:nvPr/>
        </p:nvSpPr>
        <p:spPr>
          <a:xfrm>
            <a:off x="2603143" y="291161"/>
            <a:ext cx="2917371" cy="307777"/>
          </a:xfrm>
          <a:prstGeom prst="rect">
            <a:avLst/>
          </a:prstGeom>
          <a:noFill/>
        </p:spPr>
        <p:txBody>
          <a:bodyPr wrap="square" rtlCol="0">
            <a:spAutoFit/>
          </a:bodyPr>
          <a:lstStyle/>
          <a:p>
            <a:r>
              <a:rPr lang="en-US" sz="14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Create Future State Map</a:t>
            </a:r>
          </a:p>
        </p:txBody>
      </p:sp>
      <p:sp>
        <p:nvSpPr>
          <p:cNvPr id="3" name="AutoShape 9">
            <a:extLst>
              <a:ext uri="{FF2B5EF4-FFF2-40B4-BE49-F238E27FC236}">
                <a16:creationId xmlns:a16="http://schemas.microsoft.com/office/drawing/2014/main" id="{2F4628A8-A6A1-0A56-9679-ACCBBEB3525C}"/>
              </a:ext>
            </a:extLst>
          </p:cNvPr>
          <p:cNvSpPr>
            <a:spLocks noChangeArrowheads="1"/>
          </p:cNvSpPr>
          <p:nvPr/>
        </p:nvSpPr>
        <p:spPr bwMode="auto">
          <a:xfrm>
            <a:off x="2101274"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4" name="AutoShape 9">
            <a:extLst>
              <a:ext uri="{FF2B5EF4-FFF2-40B4-BE49-F238E27FC236}">
                <a16:creationId xmlns:a16="http://schemas.microsoft.com/office/drawing/2014/main" id="{8AA465A9-D348-0FE0-5DE2-4CE00DCE3840}"/>
              </a:ext>
            </a:extLst>
          </p:cNvPr>
          <p:cNvSpPr>
            <a:spLocks noChangeArrowheads="1"/>
          </p:cNvSpPr>
          <p:nvPr/>
        </p:nvSpPr>
        <p:spPr bwMode="auto">
          <a:xfrm>
            <a:off x="1796474" y="291161"/>
            <a:ext cx="432817" cy="305738"/>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A0CEC2F3-BAC3-5376-FED3-011A0BC8E0E8}"/>
              </a:ext>
            </a:extLst>
          </p:cNvPr>
          <p:cNvSpPr>
            <a:spLocks noChangeArrowheads="1"/>
          </p:cNvSpPr>
          <p:nvPr/>
        </p:nvSpPr>
        <p:spPr bwMode="auto">
          <a:xfrm>
            <a:off x="1465549"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1">
            <a:extLst>
              <a:ext uri="{FF2B5EF4-FFF2-40B4-BE49-F238E27FC236}">
                <a16:creationId xmlns:a16="http://schemas.microsoft.com/office/drawing/2014/main" id="{EE5178C4-5815-B128-39EC-208ED67DA4C3}"/>
              </a:ext>
            </a:extLst>
          </p:cNvPr>
          <p:cNvSpPr>
            <a:spLocks noChangeArrowheads="1"/>
          </p:cNvSpPr>
          <p:nvPr/>
        </p:nvSpPr>
        <p:spPr bwMode="auto">
          <a:xfrm>
            <a:off x="1134084" y="291162"/>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0">
            <a:extLst>
              <a:ext uri="{FF2B5EF4-FFF2-40B4-BE49-F238E27FC236}">
                <a16:creationId xmlns:a16="http://schemas.microsoft.com/office/drawing/2014/main" id="{519D876C-67E0-7C25-4491-12D226C1937D}"/>
              </a:ext>
            </a:extLst>
          </p:cNvPr>
          <p:cNvSpPr>
            <a:spLocks noChangeArrowheads="1"/>
          </p:cNvSpPr>
          <p:nvPr/>
        </p:nvSpPr>
        <p:spPr bwMode="auto">
          <a:xfrm>
            <a:off x="838199" y="291161"/>
            <a:ext cx="432817" cy="305738"/>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Slide Number Placeholder 2">
            <a:extLst>
              <a:ext uri="{FF2B5EF4-FFF2-40B4-BE49-F238E27FC236}">
                <a16:creationId xmlns:a16="http://schemas.microsoft.com/office/drawing/2014/main" id="{0A097766-F716-FE4A-5DED-7726DB0D37AF}"/>
              </a:ext>
            </a:extLst>
          </p:cNvPr>
          <p:cNvSpPr txBox="1">
            <a:spLocks/>
          </p:cNvSpPr>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13</a:t>
            </a:fld>
            <a:endParaRPr lang="en-US" dirty="0"/>
          </a:p>
        </p:txBody>
      </p:sp>
    </p:spTree>
    <p:extLst>
      <p:ext uri="{BB962C8B-B14F-4D97-AF65-F5344CB8AC3E}">
        <p14:creationId xmlns:p14="http://schemas.microsoft.com/office/powerpoint/2010/main" val="3951834136"/>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15151</TotalTime>
  <Words>2444</Words>
  <Application>Microsoft Macintosh PowerPoint</Application>
  <PresentationFormat>Widescreen</PresentationFormat>
  <Paragraphs>572</Paragraphs>
  <Slides>13</Slides>
  <Notes>7</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19" baseType="lpstr">
      <vt:lpstr>Arial</vt:lpstr>
      <vt:lpstr>Calibri</vt:lpstr>
      <vt:lpstr>Roboto</vt:lpstr>
      <vt:lpstr>Roboto Medium</vt:lpstr>
      <vt:lpstr>Office Theme</vt:lpstr>
      <vt:lpstr>Visio</vt:lpstr>
      <vt:lpstr>PowerPoint Presentation</vt:lpstr>
      <vt:lpstr>Carl's Credit Cards Value Stream Mapping Exercise</vt:lpstr>
      <vt:lpstr>Exercise: Carl’s Credit Cards</vt:lpstr>
      <vt:lpstr>Case Study: Carl’s Credit Cards</vt:lpstr>
      <vt:lpstr>Case Study: Carl’s Credit Cards</vt:lpstr>
      <vt:lpstr>Case Study: Carl’s Credit Cards</vt:lpstr>
      <vt:lpstr>Case Study: Carl’s Credit Cards</vt:lpstr>
      <vt:lpstr>Case Study: Carl’s Credit Cards</vt:lpstr>
      <vt:lpstr>PowerPoint Presentation</vt:lpstr>
      <vt:lpstr>Exercise: Carl’s Credit Cards</vt:lpstr>
      <vt:lpstr>PowerPoint Presentation</vt:lpstr>
      <vt:lpstr>Exercise: Carl’s Credit Cards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Justin Santiago</cp:lastModifiedBy>
  <cp:revision>376</cp:revision>
  <dcterms:created xsi:type="dcterms:W3CDTF">2023-02-08T22:10:20Z</dcterms:created>
  <dcterms:modified xsi:type="dcterms:W3CDTF">2023-08-09T17:32:18Z</dcterms:modified>
</cp:coreProperties>
</file>