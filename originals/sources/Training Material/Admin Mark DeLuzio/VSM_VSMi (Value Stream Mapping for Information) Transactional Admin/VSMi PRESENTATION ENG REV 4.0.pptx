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Lst>
  <p:notesMasterIdLst>
    <p:notesMasterId r:id="rId149"/>
  </p:notesMasterIdLst>
  <p:sldIdLst>
    <p:sldId id="258" r:id="rId2"/>
    <p:sldId id="326" r:id="rId3"/>
    <p:sldId id="327" r:id="rId4"/>
    <p:sldId id="328" r:id="rId5"/>
    <p:sldId id="329" r:id="rId6"/>
    <p:sldId id="330" r:id="rId7"/>
    <p:sldId id="331" r:id="rId8"/>
    <p:sldId id="332" r:id="rId9"/>
    <p:sldId id="333" r:id="rId10"/>
    <p:sldId id="334" r:id="rId11"/>
    <p:sldId id="335" r:id="rId12"/>
    <p:sldId id="336" r:id="rId13"/>
    <p:sldId id="337" r:id="rId14"/>
    <p:sldId id="315" r:id="rId15"/>
    <p:sldId id="339" r:id="rId16"/>
    <p:sldId id="340" r:id="rId17"/>
    <p:sldId id="341" r:id="rId18"/>
    <p:sldId id="342" r:id="rId19"/>
    <p:sldId id="343" r:id="rId20"/>
    <p:sldId id="344" r:id="rId21"/>
    <p:sldId id="345" r:id="rId22"/>
    <p:sldId id="346" r:id="rId23"/>
    <p:sldId id="347" r:id="rId24"/>
    <p:sldId id="474" r:id="rId25"/>
    <p:sldId id="349" r:id="rId26"/>
    <p:sldId id="350" r:id="rId27"/>
    <p:sldId id="351" r:id="rId28"/>
    <p:sldId id="352" r:id="rId29"/>
    <p:sldId id="353" r:id="rId30"/>
    <p:sldId id="354" r:id="rId31"/>
    <p:sldId id="355" r:id="rId32"/>
    <p:sldId id="356" r:id="rId33"/>
    <p:sldId id="357" r:id="rId34"/>
    <p:sldId id="358" r:id="rId35"/>
    <p:sldId id="359" r:id="rId36"/>
    <p:sldId id="360" r:id="rId37"/>
    <p:sldId id="361" r:id="rId38"/>
    <p:sldId id="362" r:id="rId39"/>
    <p:sldId id="363" r:id="rId40"/>
    <p:sldId id="364" r:id="rId41"/>
    <p:sldId id="365" r:id="rId42"/>
    <p:sldId id="366" r:id="rId43"/>
    <p:sldId id="368" r:id="rId44"/>
    <p:sldId id="367" r:id="rId45"/>
    <p:sldId id="369" r:id="rId46"/>
    <p:sldId id="370" r:id="rId47"/>
    <p:sldId id="371" r:id="rId48"/>
    <p:sldId id="372" r:id="rId49"/>
    <p:sldId id="373" r:id="rId50"/>
    <p:sldId id="374" r:id="rId51"/>
    <p:sldId id="376" r:id="rId52"/>
    <p:sldId id="377" r:id="rId53"/>
    <p:sldId id="378" r:id="rId54"/>
    <p:sldId id="379" r:id="rId55"/>
    <p:sldId id="380" r:id="rId56"/>
    <p:sldId id="381" r:id="rId57"/>
    <p:sldId id="382" r:id="rId58"/>
    <p:sldId id="383" r:id="rId59"/>
    <p:sldId id="384" r:id="rId60"/>
    <p:sldId id="385" r:id="rId61"/>
    <p:sldId id="386" r:id="rId62"/>
    <p:sldId id="387" r:id="rId63"/>
    <p:sldId id="396" r:id="rId64"/>
    <p:sldId id="388" r:id="rId65"/>
    <p:sldId id="389" r:id="rId66"/>
    <p:sldId id="390" r:id="rId67"/>
    <p:sldId id="391" r:id="rId68"/>
    <p:sldId id="392" r:id="rId69"/>
    <p:sldId id="393" r:id="rId70"/>
    <p:sldId id="394" r:id="rId71"/>
    <p:sldId id="395" r:id="rId72"/>
    <p:sldId id="397" r:id="rId73"/>
    <p:sldId id="398" r:id="rId74"/>
    <p:sldId id="399" r:id="rId75"/>
    <p:sldId id="400" r:id="rId76"/>
    <p:sldId id="401" r:id="rId77"/>
    <p:sldId id="402" r:id="rId78"/>
    <p:sldId id="403" r:id="rId79"/>
    <p:sldId id="404" r:id="rId80"/>
    <p:sldId id="405" r:id="rId81"/>
    <p:sldId id="406" r:id="rId82"/>
    <p:sldId id="407" r:id="rId83"/>
    <p:sldId id="475" r:id="rId84"/>
    <p:sldId id="409" r:id="rId85"/>
    <p:sldId id="410" r:id="rId86"/>
    <p:sldId id="411" r:id="rId87"/>
    <p:sldId id="412" r:id="rId88"/>
    <p:sldId id="413" r:id="rId89"/>
    <p:sldId id="414" r:id="rId90"/>
    <p:sldId id="415" r:id="rId91"/>
    <p:sldId id="416" r:id="rId92"/>
    <p:sldId id="417" r:id="rId93"/>
    <p:sldId id="418" r:id="rId94"/>
    <p:sldId id="419" r:id="rId95"/>
    <p:sldId id="420" r:id="rId96"/>
    <p:sldId id="421" r:id="rId97"/>
    <p:sldId id="422" r:id="rId98"/>
    <p:sldId id="423" r:id="rId99"/>
    <p:sldId id="424" r:id="rId100"/>
    <p:sldId id="425" r:id="rId101"/>
    <p:sldId id="426" r:id="rId102"/>
    <p:sldId id="427" r:id="rId103"/>
    <p:sldId id="428" r:id="rId104"/>
    <p:sldId id="429" r:id="rId105"/>
    <p:sldId id="430" r:id="rId106"/>
    <p:sldId id="431" r:id="rId107"/>
    <p:sldId id="432" r:id="rId108"/>
    <p:sldId id="433" r:id="rId109"/>
    <p:sldId id="434" r:id="rId110"/>
    <p:sldId id="435" r:id="rId111"/>
    <p:sldId id="436" r:id="rId112"/>
    <p:sldId id="476" r:id="rId113"/>
    <p:sldId id="438" r:id="rId114"/>
    <p:sldId id="477" r:id="rId115"/>
    <p:sldId id="483" r:id="rId116"/>
    <p:sldId id="478" r:id="rId117"/>
    <p:sldId id="442" r:id="rId118"/>
    <p:sldId id="479" r:id="rId119"/>
    <p:sldId id="444" r:id="rId120"/>
    <p:sldId id="480" r:id="rId121"/>
    <p:sldId id="446" r:id="rId122"/>
    <p:sldId id="481" r:id="rId123"/>
    <p:sldId id="448" r:id="rId124"/>
    <p:sldId id="482" r:id="rId125"/>
    <p:sldId id="450" r:id="rId126"/>
    <p:sldId id="451" r:id="rId127"/>
    <p:sldId id="452" r:id="rId128"/>
    <p:sldId id="484" r:id="rId129"/>
    <p:sldId id="454" r:id="rId130"/>
    <p:sldId id="455" r:id="rId131"/>
    <p:sldId id="456" r:id="rId132"/>
    <p:sldId id="457" r:id="rId133"/>
    <p:sldId id="458" r:id="rId134"/>
    <p:sldId id="459" r:id="rId135"/>
    <p:sldId id="460" r:id="rId136"/>
    <p:sldId id="461" r:id="rId137"/>
    <p:sldId id="462" r:id="rId138"/>
    <p:sldId id="463" r:id="rId139"/>
    <p:sldId id="464" r:id="rId140"/>
    <p:sldId id="465" r:id="rId141"/>
    <p:sldId id="466" r:id="rId142"/>
    <p:sldId id="473" r:id="rId143"/>
    <p:sldId id="468" r:id="rId144"/>
    <p:sldId id="469" r:id="rId145"/>
    <p:sldId id="471" r:id="rId146"/>
    <p:sldId id="472" r:id="rId147"/>
    <p:sldId id="470" r:id="rId1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7B6AAEF-3415-5D22-AFDC-F31A005CEED7}" name="Joe Rutz" initials="JR" userId="S::joe.rutz@leancoachingllc.com::74172d3c-f68f-4a41-af3d-37d02d9c966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E3228"/>
    <a:srgbClr val="FFB627"/>
    <a:srgbClr val="7F7F7F"/>
    <a:srgbClr val="222222"/>
    <a:srgbClr val="177E89"/>
    <a:srgbClr val="8EDCE6"/>
    <a:srgbClr val="F1BF98"/>
    <a:srgbClr val="2EC4B6"/>
    <a:srgbClr val="BDDBD0"/>
    <a:srgbClr val="2D7DD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20" autoAdjust="0"/>
    <p:restoredTop sz="69935" autoAdjust="0"/>
  </p:normalViewPr>
  <p:slideViewPr>
    <p:cSldViewPr snapToGrid="0">
      <p:cViewPr varScale="1">
        <p:scale>
          <a:sx n="56" d="100"/>
          <a:sy n="56" d="100"/>
        </p:scale>
        <p:origin x="96" y="468"/>
      </p:cViewPr>
      <p:guideLst/>
    </p:cSldViewPr>
  </p:slideViewPr>
  <p:notesTextViewPr>
    <p:cViewPr>
      <p:scale>
        <a:sx n="125" d="100"/>
        <a:sy n="125" d="100"/>
      </p:scale>
      <p:origin x="0" y="0"/>
    </p:cViewPr>
  </p:notesTextViewPr>
  <p:sorterViewPr>
    <p:cViewPr>
      <p:scale>
        <a:sx n="125" d="100"/>
        <a:sy n="125" d="100"/>
      </p:scale>
      <p:origin x="0" y="-3245"/>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notesMaster" Target="notesMasters/notesMaster1.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presProps" Target="pres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viewProps" Target="viewProp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theme" Target="theme/theme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tableStyles" Target="tableStyle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microsoft.com/office/2018/10/relationships/authors" Target="author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F86C400-5EB2-4620-B71B-A7454A7EC846}" type="datetimeFigureOut">
              <a:rPr lang="en-US" smtClean="0"/>
              <a:t>7/23/2024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ECD8548-F1A2-4EDF-A416-5F2BB6B8F64C}" type="slidenum">
              <a:rPr lang="en-US" smtClean="0"/>
              <a:t>‹#›</a:t>
            </a:fld>
            <a:endParaRPr lang="en-US"/>
          </a:p>
        </p:txBody>
      </p:sp>
    </p:spTree>
    <p:extLst>
      <p:ext uri="{BB962C8B-B14F-4D97-AF65-F5344CB8AC3E}">
        <p14:creationId xmlns:p14="http://schemas.microsoft.com/office/powerpoint/2010/main" val="19732378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Welcome class to the VSM Event. Introduce yourself as well as the team leader of the event. Have the Process Owner/Team Leader display the event charter for the purpose that everyone has gathered here today. </a:t>
            </a:r>
          </a:p>
          <a:p>
            <a:pPr eaLnBrk="1" hangingPunct="1"/>
            <a:r>
              <a:rPr lang="en-US" altLang="en-US" b="1" dirty="0">
                <a:latin typeface="Arial" panose="020B0604020202020204" pitchFamily="34" charset="0"/>
                <a:cs typeface="Arial" panose="020B0604020202020204" pitchFamily="34" charset="0"/>
              </a:rPr>
              <a:t>SET-UP NOTE</a:t>
            </a:r>
            <a:r>
              <a:rPr lang="en-US" altLang="en-US" dirty="0">
                <a:latin typeface="Arial" panose="020B0604020202020204" pitchFamily="34" charset="0"/>
                <a:cs typeface="Arial" panose="020B0604020202020204" pitchFamily="34" charset="0"/>
              </a:rPr>
              <a:t>: It is a best practice to have a flip-chart of the day</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agenda hanging. Draw open squares next to each item, and check off when complete. You can refer back to this as you start each segment of the training material – it makes it very nice for reviewing what they have already learned/accomplished and where they are headed.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This material is best suited for the value stream mapping of transactional administrative processes.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a:t>
            </a:fld>
            <a:endParaRPr lang="en-US"/>
          </a:p>
        </p:txBody>
      </p:sp>
    </p:spTree>
    <p:extLst>
      <p:ext uri="{BB962C8B-B14F-4D97-AF65-F5344CB8AC3E}">
        <p14:creationId xmlns:p14="http://schemas.microsoft.com/office/powerpoint/2010/main" val="41932460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 </a:t>
            </a:r>
            <a:r>
              <a:rPr lang="en-US" altLang="en-US" dirty="0">
                <a:latin typeface="Arial" panose="020B0604020202020204" pitchFamily="34" charset="0"/>
                <a:cs typeface="Arial" panose="020B0604020202020204" pitchFamily="34" charset="0"/>
              </a:rPr>
              <a:t>Perform Group Introductions. Pick an ice-breaker or exercise to warm the team up to the event. (Icebreaker Example: Everyone uses their name tent and writes a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Personal License Plate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in which they have 2 minutes to creatively use a total of 7 letters or numbers to tell us something about themselves. Examples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LV2SAIL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OR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DADOV5</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Event Ground Rules. </a:t>
            </a: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Does anyone have any rules they would like to see added?</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Does everyone agree to these?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a:t>
            </a:fld>
            <a:endParaRPr lang="en-US"/>
          </a:p>
        </p:txBody>
      </p:sp>
    </p:spTree>
    <p:extLst>
      <p:ext uri="{BB962C8B-B14F-4D97-AF65-F5344CB8AC3E}">
        <p14:creationId xmlns:p14="http://schemas.microsoft.com/office/powerpoint/2010/main" val="16879530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cs typeface="Arial" panose="020B0604020202020204" pitchFamily="34" charset="0"/>
              </a:rPr>
              <a:t>DO: Read through important points on the slide and identify the basic components of VSM.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It is important to note that our event this week will not yield any realized improvements or results. This tool simply gives the picture of what the improved process could be if the business completes the identified actions and kaizen to get there.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dirty="0">
                <a:latin typeface="Arial" panose="020B0604020202020204" pitchFamily="34" charset="0"/>
                <a:cs typeface="Arial" panose="020B0604020202020204" pitchFamily="34" charset="0"/>
              </a:rPr>
              <a:t>SAY: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 For more information on this, please read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Seeing the Whole,</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by Dan Jones and Jim Womack. In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Seeing the Whole,</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the mapping process is somewhat different than value stream mapping within the 4 walls of your business. In mapping the extended value stream, the process involves (1) Developing the Current State Map, (2) Developing of Future State Map 1, (3) Developing of Future State Map 2, (4) Creation of Ideal State Map, (5) Development of Value Stream Plan.</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a:t>
            </a:r>
          </a:p>
          <a:p>
            <a:pPr eaLnBrk="1" hangingPunct="1"/>
            <a:endParaRPr lang="en-US" altLang="en-US" b="1"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a:t>
            </a:fld>
            <a:endParaRPr lang="en-US"/>
          </a:p>
        </p:txBody>
      </p:sp>
    </p:spTree>
    <p:extLst>
      <p:ext uri="{BB962C8B-B14F-4D97-AF65-F5344CB8AC3E}">
        <p14:creationId xmlns:p14="http://schemas.microsoft.com/office/powerpoint/2010/main" val="36345972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With discreet information flow, we still add to, subtract from, interpret and reformat information, but we create information along the way as well.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a:t>
            </a:fld>
            <a:endParaRPr lang="en-US"/>
          </a:p>
        </p:txBody>
      </p:sp>
    </p:spTree>
    <p:extLst>
      <p:ext uri="{BB962C8B-B14F-4D97-AF65-F5344CB8AC3E}">
        <p14:creationId xmlns:p14="http://schemas.microsoft.com/office/powerpoint/2010/main" val="28135837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cs typeface="Arial" panose="020B0604020202020204" pitchFamily="34" charset="0"/>
              </a:rPr>
              <a:t>SAY</a:t>
            </a:r>
            <a:r>
              <a:rPr lang="en-US" altLang="en-US" b="1" dirty="0">
                <a:latin typeface="Arial" panose="020B0604020202020204" pitchFamily="34" charset="0"/>
                <a:cs typeface="Arial" panose="020B0604020202020204" pitchFamily="34" charset="0"/>
              </a:rPr>
              <a:t>: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A Value Stream Map is the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30,000-foot</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view of the process. A Process Map is a tool that would take just one process box from a Value Stream Map, and explode that process into it</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s detailed steps.</a:t>
            </a:r>
          </a:p>
          <a:p>
            <a:pPr eaLnBrk="1" hangingPunct="1"/>
            <a:r>
              <a:rPr lang="en-US" altLang="en-US" dirty="0">
                <a:latin typeface="Arial" panose="020B0604020202020204" pitchFamily="34" charset="0"/>
                <a:cs typeface="Arial" panose="020B0604020202020204" pitchFamily="34" charset="0"/>
              </a:rPr>
              <a:t>SAY (regarding differences between Process Mapping and VSM):</a:t>
            </a:r>
            <a:r>
              <a:rPr lang="en-US" altLang="en-US" b="1" dirty="0">
                <a:latin typeface="Arial" panose="020B0604020202020204" pitchFamily="34" charset="0"/>
                <a:cs typeface="Arial" panose="020B0604020202020204" pitchFamily="34" charset="0"/>
              </a:rPr>
              <a:t>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Process Maps do not show information flow nor do they look at people. Process Maps are focused more on settings and/or materials. Value Stream Maps look at the people in the process. With VSM there is a heavy emphasis on identifying and removing waste. In VSM we ultimately want to reduce Lead Time. Process Mapping does not look at Lead Time.</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a:t>
            </a:r>
            <a:endParaRPr lang="en-US" altLang="ja-JP"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a:t>
            </a:fld>
            <a:endParaRPr lang="en-US"/>
          </a:p>
        </p:txBody>
      </p:sp>
    </p:spTree>
    <p:extLst>
      <p:ext uri="{BB962C8B-B14F-4D97-AF65-F5344CB8AC3E}">
        <p14:creationId xmlns:p14="http://schemas.microsoft.com/office/powerpoint/2010/main" val="61648279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So why are we here? What do we want to accomplish?</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If I am going to improve the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&lt;fill in with your event&gt; Process, what do I do first? VSM gives you the focus.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the slide.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a:t>
            </a:fld>
            <a:endParaRPr lang="en-US"/>
          </a:p>
        </p:txBody>
      </p:sp>
    </p:spTree>
    <p:extLst>
      <p:ext uri="{BB962C8B-B14F-4D97-AF65-F5344CB8AC3E}">
        <p14:creationId xmlns:p14="http://schemas.microsoft.com/office/powerpoint/2010/main" val="32556440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It is critical to understand that Value Stream Mapping is a tool that is used to execute our Key Business Imperatives for Business Strategy. VSM helps identify the waste so that improvements can be made to eliminate the waste.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a:t>
            </a:fld>
            <a:endParaRPr lang="en-US"/>
          </a:p>
        </p:txBody>
      </p:sp>
    </p:spTree>
    <p:extLst>
      <p:ext uri="{BB962C8B-B14F-4D97-AF65-F5344CB8AC3E}">
        <p14:creationId xmlns:p14="http://schemas.microsoft.com/office/powerpoint/2010/main" val="3550862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These would be examples of business cases that </a:t>
            </a:r>
            <a:r>
              <a:rPr lang="en-US" altLang="en-US" dirty="0" err="1">
                <a:latin typeface="Arial" panose="020B0604020202020204" pitchFamily="34" charset="0"/>
                <a:cs typeface="Arial" panose="020B0604020202020204" pitchFamily="34" charset="0"/>
              </a:rPr>
              <a:t>VSMi</a:t>
            </a:r>
            <a:r>
              <a:rPr lang="en-US" altLang="en-US" dirty="0">
                <a:latin typeface="Arial" panose="020B0604020202020204" pitchFamily="34" charset="0"/>
                <a:cs typeface="Arial" panose="020B0604020202020204" pitchFamily="34" charset="0"/>
              </a:rPr>
              <a:t> would support.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a:t>
            </a:fld>
            <a:endParaRPr lang="en-US"/>
          </a:p>
        </p:txBody>
      </p:sp>
    </p:spTree>
    <p:extLst>
      <p:ext uri="{BB962C8B-B14F-4D97-AF65-F5344CB8AC3E}">
        <p14:creationId xmlns:p14="http://schemas.microsoft.com/office/powerpoint/2010/main" val="39603272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VSM Roadmap. Cover what has taken place already, where we are in the process, and where we will go from here.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Stress that this is an iterative process. VSM is typically a 6 month cycle… then when your future state becomes your new current state, you begin again.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Stress that each of these process steps are not equal in length. They are separate, necessary steps. Step 4 is a 6 month cycle that is filled with kaizen events and other improvement activities that target achieving the future state.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The personnel in Step 2 in most cases will be different or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addition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to those in Step 1, this is why the Intro to Lean will be conducted at both steps.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a:t>
            </a:fld>
            <a:endParaRPr lang="en-US"/>
          </a:p>
        </p:txBody>
      </p:sp>
    </p:spTree>
    <p:extLst>
      <p:ext uri="{BB962C8B-B14F-4D97-AF65-F5344CB8AC3E}">
        <p14:creationId xmlns:p14="http://schemas.microsoft.com/office/powerpoint/2010/main" val="129028044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week we are at Process Step 3. The steps to conducting a VSM Event are:</a:t>
            </a:r>
          </a:p>
          <a:p>
            <a:pPr eaLnBrk="1" hangingPunct="1"/>
            <a:r>
              <a:rPr lang="en-US" altLang="en-US" dirty="0">
                <a:latin typeface="Arial" panose="020B0604020202020204" pitchFamily="34" charset="0"/>
                <a:cs typeface="Arial" panose="020B0604020202020204" pitchFamily="34" charset="0"/>
              </a:rPr>
              <a:t>1 – Select Product or Service Family (this has been done)</a:t>
            </a:r>
          </a:p>
          <a:p>
            <a:pPr eaLnBrk="1" hangingPunct="1"/>
            <a:r>
              <a:rPr lang="en-US" altLang="en-US" dirty="0">
                <a:latin typeface="Arial" panose="020B0604020202020204" pitchFamily="34" charset="0"/>
                <a:cs typeface="Arial" panose="020B0604020202020204" pitchFamily="34" charset="0"/>
              </a:rPr>
              <a:t>2 – Create the Current State Map – again, the snapshot of the process today</a:t>
            </a:r>
          </a:p>
          <a:p>
            <a:pPr eaLnBrk="1" hangingPunct="1"/>
            <a:r>
              <a:rPr lang="en-US" altLang="en-US" dirty="0">
                <a:latin typeface="Arial" panose="020B0604020202020204" pitchFamily="34" charset="0"/>
                <a:cs typeface="Arial" panose="020B0604020202020204" pitchFamily="34" charset="0"/>
              </a:rPr>
              <a:t>3 – Interrogate the Current State – here we will analyze the Current State for improvement opportunities</a:t>
            </a:r>
          </a:p>
          <a:p>
            <a:pPr eaLnBrk="1" hangingPunct="1"/>
            <a:r>
              <a:rPr lang="en-US" altLang="en-US" dirty="0">
                <a:latin typeface="Arial" panose="020B0604020202020204" pitchFamily="34" charset="0"/>
                <a:cs typeface="Arial" panose="020B0604020202020204" pitchFamily="34" charset="0"/>
              </a:rPr>
              <a:t>4 – Create Future State Map – based on the improvements we want to make – what will the future process look like</a:t>
            </a:r>
          </a:p>
          <a:p>
            <a:pPr eaLnBrk="1" hangingPunct="1"/>
            <a:r>
              <a:rPr lang="en-US" altLang="en-US" dirty="0">
                <a:latin typeface="Arial" panose="020B0604020202020204" pitchFamily="34" charset="0"/>
                <a:cs typeface="Arial" panose="020B0604020202020204" pitchFamily="34" charset="0"/>
              </a:rPr>
              <a:t>5 – Develop the Value Stream Plan – here is where we detail what specific objectives need to be accomplished in order for the Future State to be achieved. </a:t>
            </a:r>
          </a:p>
          <a:p>
            <a:pPr eaLnBrk="1" hangingPunct="1"/>
            <a:r>
              <a:rPr lang="en-US" altLang="en-US" dirty="0">
                <a:latin typeface="Arial" panose="020B0604020202020204" pitchFamily="34" charset="0"/>
                <a:cs typeface="Arial" panose="020B0604020202020204" pitchFamily="34" charset="0"/>
              </a:rPr>
              <a:t>Realize that when we are complete this week</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event – no improvements will actually be made… it is not until the action plan gets implemented that we will see results. </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a:t>
            </a:fld>
            <a:endParaRPr lang="en-US"/>
          </a:p>
        </p:txBody>
      </p:sp>
    </p:spTree>
    <p:extLst>
      <p:ext uri="{BB962C8B-B14F-4D97-AF65-F5344CB8AC3E}">
        <p14:creationId xmlns:p14="http://schemas.microsoft.com/office/powerpoint/2010/main" val="415645434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is the typical 5 day agenda for what we will accomplish this week.</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Deliverable dates can be adjusted as needed depending on the event.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a:t>
            </a:fld>
            <a:endParaRPr lang="en-US"/>
          </a:p>
        </p:txBody>
      </p:sp>
    </p:spTree>
    <p:extLst>
      <p:ext uri="{BB962C8B-B14F-4D97-AF65-F5344CB8AC3E}">
        <p14:creationId xmlns:p14="http://schemas.microsoft.com/office/powerpoint/2010/main" val="124824661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first step of the VSM process which is to Select the Product or Service Family. Note that although this has actually been done prior to this event, this is an important part to the overall VSM process. The purpose for reviewing this now is so that we can all see where the information for this event originated.</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section objectives.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a:t>
            </a:fld>
            <a:endParaRPr lang="en-US"/>
          </a:p>
        </p:txBody>
      </p:sp>
    </p:spTree>
    <p:extLst>
      <p:ext uri="{BB962C8B-B14F-4D97-AF65-F5344CB8AC3E}">
        <p14:creationId xmlns:p14="http://schemas.microsoft.com/office/powerpoint/2010/main" val="287661191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all of the points that feed into the overall definition.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week we will clearly define all of the Value Added and Non-Value Added Processes, the Product and Information Flow, we</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ll</a:t>
            </a:r>
            <a:r>
              <a:rPr lang="en-US" altLang="ja-JP" dirty="0">
                <a:latin typeface="Arial" panose="020B0604020202020204" pitchFamily="34" charset="0"/>
                <a:cs typeface="Arial" panose="020B0604020202020204" pitchFamily="34" charset="0"/>
              </a:rPr>
              <a:t> identify who are all the functions represented in this project, and we</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ll</a:t>
            </a:r>
            <a:r>
              <a:rPr lang="en-US" altLang="ja-JP" dirty="0">
                <a:latin typeface="Arial" panose="020B0604020202020204" pitchFamily="34" charset="0"/>
                <a:cs typeface="Arial" panose="020B0604020202020204" pitchFamily="34" charset="0"/>
              </a:rPr>
              <a:t> clearly understand who is the customer.</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15</a:t>
            </a:fld>
            <a:endParaRPr lang="en-US"/>
          </a:p>
        </p:txBody>
      </p:sp>
    </p:spTree>
    <p:extLst>
      <p:ext uri="{BB962C8B-B14F-4D97-AF65-F5344CB8AC3E}">
        <p14:creationId xmlns:p14="http://schemas.microsoft.com/office/powerpoint/2010/main" val="95093858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VALUE OBJECT is defined as a single (main) component that is contained within the product that follows all of the process steps within the value stream.</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VALUE OBJECT is a representative part that is used to follow the value stream as it is mapped and to calculate the inventory levels at each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If we don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focus on an object, we</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ll</a:t>
            </a:r>
            <a:r>
              <a:rPr lang="en-US" altLang="ja-JP" dirty="0">
                <a:latin typeface="Arial" panose="020B0604020202020204" pitchFamily="34" charset="0"/>
                <a:cs typeface="Arial" panose="020B0604020202020204" pitchFamily="34" charset="0"/>
              </a:rPr>
              <a:t> focus on every piece of e-mail, </a:t>
            </a:r>
            <a:r>
              <a:rPr lang="en-US" altLang="ja-JP" dirty="0" err="1">
                <a:latin typeface="Arial" panose="020B0604020202020204" pitchFamily="34" charset="0"/>
                <a:cs typeface="Arial" panose="020B0604020202020204" pitchFamily="34" charset="0"/>
              </a:rPr>
              <a:t>etc</a:t>
            </a:r>
            <a:r>
              <a:rPr lang="en-US" altLang="ja-JP" dirty="0">
                <a:latin typeface="Arial" panose="020B0604020202020204" pitchFamily="34" charset="0"/>
                <a:cs typeface="Arial" panose="020B0604020202020204" pitchFamily="34" charset="0"/>
              </a:rPr>
              <a:t>, and miss the bigger picture.</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examples on the slide. They will have a brief exercise with these examples on an upcoming slide. </a:t>
            </a: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16</a:t>
            </a:fld>
            <a:endParaRPr lang="en-US"/>
          </a:p>
        </p:txBody>
      </p:sp>
    </p:spTree>
    <p:extLst>
      <p:ext uri="{BB962C8B-B14F-4D97-AF65-F5344CB8AC3E}">
        <p14:creationId xmlns:p14="http://schemas.microsoft.com/office/powerpoint/2010/main" val="37183774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are not doing a deep dive here and completing this analysis… this is what has been done already to arrive at where we are today.</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17</a:t>
            </a:fld>
            <a:endParaRPr lang="en-US"/>
          </a:p>
        </p:txBody>
      </p:sp>
    </p:spTree>
    <p:extLst>
      <p:ext uri="{BB962C8B-B14F-4D97-AF65-F5344CB8AC3E}">
        <p14:creationId xmlns:p14="http://schemas.microsoft.com/office/powerpoint/2010/main" val="242217565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try to do end-to-end as much as possible. When mapping manufacturing processes we typically are mapping from shipping to receiving. This module is focused on mapping within the 4 walls of your business. After all value streams within your business have been analyzed and improved through VSM, you can extend beyond the 4 walls with macro Value Stream Mapping.</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18</a:t>
            </a:fld>
            <a:endParaRPr lang="en-US"/>
          </a:p>
        </p:txBody>
      </p:sp>
    </p:spTree>
    <p:extLst>
      <p:ext uri="{BB962C8B-B14F-4D97-AF65-F5344CB8AC3E}">
        <p14:creationId xmlns:p14="http://schemas.microsoft.com/office/powerpoint/2010/main" val="24158968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do you think the boundaries are for these 3 examples?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ANSWERS:</a:t>
            </a:r>
          </a:p>
          <a:p>
            <a:pPr eaLnBrk="1" hangingPunct="1"/>
            <a:r>
              <a:rPr lang="en-US" altLang="en-US" dirty="0">
                <a:latin typeface="Arial" panose="020B0604020202020204" pitchFamily="34" charset="0"/>
                <a:cs typeface="Arial" panose="020B0604020202020204" pitchFamily="34" charset="0"/>
              </a:rPr>
              <a:t>Credit Card Application: Starting Point: Application Submitted…Ending Point: First Customer Spend</a:t>
            </a:r>
          </a:p>
          <a:p>
            <a:pPr eaLnBrk="1" hangingPunct="1"/>
            <a:r>
              <a:rPr lang="en-US" altLang="en-US" dirty="0">
                <a:latin typeface="Arial" panose="020B0604020202020204" pitchFamily="34" charset="0"/>
                <a:cs typeface="Arial" panose="020B0604020202020204" pitchFamily="34" charset="0"/>
              </a:rPr>
              <a:t>RFP</a:t>
            </a:r>
            <a:r>
              <a:rPr lang="en-US" altLang="en-US" dirty="0">
                <a:latin typeface="Arial" panose="020B0604020202020204" pitchFamily="34" charset="0"/>
                <a:cs typeface="Arial" panose="020B0604020202020204" pitchFamily="34" charset="0"/>
                <a:sym typeface="Wingdings" panose="05000000000000000000" pitchFamily="2" charset="2"/>
              </a:rPr>
              <a:t> Quote Document: Starting Point: RFP Received…Ending Point: Proposal Submitted</a:t>
            </a:r>
          </a:p>
          <a:p>
            <a:pPr eaLnBrk="1" hangingPunct="1"/>
            <a:r>
              <a:rPr lang="en-US" altLang="en-US" dirty="0">
                <a:latin typeface="Arial" panose="020B0604020202020204" pitchFamily="34" charset="0"/>
                <a:cs typeface="Arial" panose="020B0604020202020204" pitchFamily="34" charset="0"/>
                <a:sym typeface="Wingdings" panose="05000000000000000000" pitchFamily="2" charset="2"/>
              </a:rPr>
              <a:t>ECR ECO: Starting Point: Initiator Prepares Request… Ending Point: Notification Sent and Request Closed</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19</a:t>
            </a:fld>
            <a:endParaRPr lang="en-US"/>
          </a:p>
        </p:txBody>
      </p:sp>
    </p:spTree>
    <p:extLst>
      <p:ext uri="{BB962C8B-B14F-4D97-AF65-F5344CB8AC3E}">
        <p14:creationId xmlns:p14="http://schemas.microsoft.com/office/powerpoint/2010/main" val="399937208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If the customer </a:t>
            </a:r>
            <a:r>
              <a:rPr lang="en-US" altLang="ja-JP" dirty="0" err="1">
                <a:latin typeface="Arial" panose="020B0604020202020204" pitchFamily="34" charset="0"/>
                <a:cs typeface="Arial" panose="020B0604020202020204" pitchFamily="34" charset="0"/>
              </a:rPr>
              <a:t>isn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benefiting, we want to make sure we identify it.</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Caution people away from thinking the next process is the customer. People can optimize the process that the end customer </a:t>
            </a:r>
            <a:r>
              <a:rPr lang="en-US" altLang="en-US" dirty="0" err="1">
                <a:latin typeface="Arial" panose="020B0604020202020204" pitchFamily="34" charset="0"/>
                <a:cs typeface="Arial" panose="020B0604020202020204" pitchFamily="34" charset="0"/>
              </a:rPr>
              <a:t>doesn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care about.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Introduce the concept customer vs. stakeholders.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20</a:t>
            </a:fld>
            <a:endParaRPr lang="en-US"/>
          </a:p>
        </p:txBody>
      </p:sp>
    </p:spTree>
    <p:extLst>
      <p:ext uri="{BB962C8B-B14F-4D97-AF65-F5344CB8AC3E}">
        <p14:creationId xmlns:p14="http://schemas.microsoft.com/office/powerpoint/2010/main" val="11735345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will complete this chart for our process as group.</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what the chart is asking for and transition to the next slide for the exercise instructions. Complete this chart on flipchart.</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21</a:t>
            </a:fld>
            <a:endParaRPr lang="en-US"/>
          </a:p>
        </p:txBody>
      </p:sp>
    </p:spTree>
    <p:extLst>
      <p:ext uri="{BB962C8B-B14F-4D97-AF65-F5344CB8AC3E}">
        <p14:creationId xmlns:p14="http://schemas.microsoft.com/office/powerpoint/2010/main" val="419248931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Facilitate this as a group discussion. Have one person document answers on a chart paper.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22</a:t>
            </a:fld>
            <a:endParaRPr lang="en-US"/>
          </a:p>
        </p:txBody>
      </p:sp>
    </p:spTree>
    <p:extLst>
      <p:ext uri="{BB962C8B-B14F-4D97-AF65-F5344CB8AC3E}">
        <p14:creationId xmlns:p14="http://schemas.microsoft.com/office/powerpoint/2010/main" val="187575280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Facilitate this as a group discussion. Have the kaizen charter display on the projector for everyone to review.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23</a:t>
            </a:fld>
            <a:endParaRPr lang="en-US"/>
          </a:p>
        </p:txBody>
      </p:sp>
    </p:spTree>
    <p:extLst>
      <p:ext uri="{BB962C8B-B14F-4D97-AF65-F5344CB8AC3E}">
        <p14:creationId xmlns:p14="http://schemas.microsoft.com/office/powerpoint/2010/main" val="319332842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about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a value stream</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value stream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and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do we keep in mind when selecting value streams to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creating the Current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Calculators</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11x17 paper – one sheet per participant</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3-4 Packs of Post-It Notes</a:t>
            </a:r>
          </a:p>
        </p:txBody>
      </p:sp>
      <p:sp>
        <p:nvSpPr>
          <p:cNvPr id="4" name="Slide Number Placeholder 3"/>
          <p:cNvSpPr>
            <a:spLocks noGrp="1"/>
          </p:cNvSpPr>
          <p:nvPr>
            <p:ph type="sldNum" sz="quarter" idx="5"/>
          </p:nvPr>
        </p:nvSpPr>
        <p:spPr/>
        <p:txBody>
          <a:bodyPr/>
          <a:lstStyle/>
          <a:p>
            <a:fld id="{AECD8548-F1A2-4EDF-A416-5F2BB6B8F64C}" type="slidenum">
              <a:rPr lang="en-US" smtClean="0"/>
              <a:t>24</a:t>
            </a:fld>
            <a:endParaRPr lang="en-US"/>
          </a:p>
        </p:txBody>
      </p:sp>
    </p:spTree>
    <p:extLst>
      <p:ext uri="{BB962C8B-B14F-4D97-AF65-F5344CB8AC3E}">
        <p14:creationId xmlns:p14="http://schemas.microsoft.com/office/powerpoint/2010/main" val="31956404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There are three major steps to creating the Current State Map, and we will follow these steps when we map our process. First, we walk the entire value stream as a team from end to beginning. The purpose here is to get an understanding of the flow and primary processes that the VALUE OBJECT flows through.</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do you think we walk the process backwards?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(answer: we start with the customer and walk backwards so that we always are viewing the current state from the customer</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perspective. Also when you walk backwards you see the waste more clearly. When you walk the process from beginning to end – you run the danger of mapping how the process should be – not how it really is.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Next we return and create a large map of just the processes. Then we identify what data we will need to get, where the data is, and how we will need to get it. This is Team Walk #2.</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(note: depending on size of the group – the group may need to sub-divide and go collect the data).</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return to our common area and create the full Current State Map with all of our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25</a:t>
            </a:fld>
            <a:endParaRPr lang="en-US"/>
          </a:p>
        </p:txBody>
      </p:sp>
    </p:spTree>
    <p:extLst>
      <p:ext uri="{BB962C8B-B14F-4D97-AF65-F5344CB8AC3E}">
        <p14:creationId xmlns:p14="http://schemas.microsoft.com/office/powerpoint/2010/main" val="9793769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was mentioned on the previous slide, the team walks the process from end to beginning. This allows the team to process as it is, not what it is supposed to be. Think of walking in a stream with the current. The current pushes you forward in the direction it wants you to go. You move along quickly and may not notice the details of your surrounds. Now if you turn in that stream and walk against the current, you are going to notice every rock and branch that you can hold on to in order to pull you ahead. You are much more aware of what is around you. The same holds true for Value Stream Mapping.</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26</a:t>
            </a:fld>
            <a:endParaRPr lang="en-US"/>
          </a:p>
        </p:txBody>
      </p:sp>
    </p:spTree>
    <p:extLst>
      <p:ext uri="{BB962C8B-B14F-4D97-AF65-F5344CB8AC3E}">
        <p14:creationId xmlns:p14="http://schemas.microsoft.com/office/powerpoint/2010/main" val="286042444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purpose of this slide is to show the general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real estate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layout of a Value Stream Map. When you create your map – you will need to budget space accordingly.</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general areas and what gets drawn where.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Customer – could be one unique customer benefiting from both the input and the output or it could be a separate supplier and customer.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27</a:t>
            </a:fld>
            <a:endParaRPr lang="en-US"/>
          </a:p>
        </p:txBody>
      </p:sp>
    </p:spTree>
    <p:extLst>
      <p:ext uri="{BB962C8B-B14F-4D97-AF65-F5344CB8AC3E}">
        <p14:creationId xmlns:p14="http://schemas.microsoft.com/office/powerpoint/2010/main" val="39080544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Pass out the 11x17</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paper, markers, calculators. Read the instructions of the exercise. Emphasize that they are to draw exactly what they see during the process. Make sure you tell the class then when they are complete this exercise, they are to hold on to their maps for we will use them again in a later section of the material.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28</a:t>
            </a:fld>
            <a:endParaRPr lang="en-US"/>
          </a:p>
        </p:txBody>
      </p:sp>
    </p:spTree>
    <p:extLst>
      <p:ext uri="{BB962C8B-B14F-4D97-AF65-F5344CB8AC3E}">
        <p14:creationId xmlns:p14="http://schemas.microsoft.com/office/powerpoint/2010/main" val="4894870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Briefly review NHC Charter.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29</a:t>
            </a:fld>
            <a:endParaRPr lang="en-US"/>
          </a:p>
        </p:txBody>
      </p:sp>
    </p:spTree>
    <p:extLst>
      <p:ext uri="{BB962C8B-B14F-4D97-AF65-F5344CB8AC3E}">
        <p14:creationId xmlns:p14="http://schemas.microsoft.com/office/powerpoint/2010/main" val="18157199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Read the case study aloud to the class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30</a:t>
            </a:fld>
            <a:endParaRPr lang="en-US"/>
          </a:p>
        </p:txBody>
      </p:sp>
    </p:spTree>
    <p:extLst>
      <p:ext uri="{BB962C8B-B14F-4D97-AF65-F5344CB8AC3E}">
        <p14:creationId xmlns:p14="http://schemas.microsoft.com/office/powerpoint/2010/main" val="3767205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Read the case study aloud to the class.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31</a:t>
            </a:fld>
            <a:endParaRPr lang="en-US"/>
          </a:p>
        </p:txBody>
      </p:sp>
    </p:spTree>
    <p:extLst>
      <p:ext uri="{BB962C8B-B14F-4D97-AF65-F5344CB8AC3E}">
        <p14:creationId xmlns:p14="http://schemas.microsoft.com/office/powerpoint/2010/main" val="22896343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Read the case study aloud to the class.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32</a:t>
            </a:fld>
            <a:endParaRPr lang="en-US"/>
          </a:p>
        </p:txBody>
      </p:sp>
    </p:spTree>
    <p:extLst>
      <p:ext uri="{BB962C8B-B14F-4D97-AF65-F5344CB8AC3E}">
        <p14:creationId xmlns:p14="http://schemas.microsoft.com/office/powerpoint/2010/main" val="308874673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Read case study aloud to class.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Pass out 1-page data sheet handout for Northern Home Credit now to each participant. They can then reference the data sheet as they build the map instead of flipping back through pages of their workbooks.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33</a:t>
            </a:fld>
            <a:endParaRPr lang="en-US"/>
          </a:p>
        </p:txBody>
      </p:sp>
    </p:spTree>
    <p:extLst>
      <p:ext uri="{BB962C8B-B14F-4D97-AF65-F5344CB8AC3E}">
        <p14:creationId xmlns:p14="http://schemas.microsoft.com/office/powerpoint/2010/main" val="188175757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steps to drawing a Value Stream Map on the slide. Click to animate the first step,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Map Customer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34</a:t>
            </a:fld>
            <a:endParaRPr lang="en-US"/>
          </a:p>
        </p:txBody>
      </p:sp>
    </p:spTree>
    <p:extLst>
      <p:ext uri="{BB962C8B-B14F-4D97-AF65-F5344CB8AC3E}">
        <p14:creationId xmlns:p14="http://schemas.microsoft.com/office/powerpoint/2010/main" val="231287701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First we map customer data – so let</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take a look at the customer data for Northern Home Credit (NHC).</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35</a:t>
            </a:fld>
            <a:endParaRPr lang="en-US"/>
          </a:p>
        </p:txBody>
      </p:sp>
    </p:spTree>
    <p:extLst>
      <p:ext uri="{BB962C8B-B14F-4D97-AF65-F5344CB8AC3E}">
        <p14:creationId xmlns:p14="http://schemas.microsoft.com/office/powerpoint/2010/main" val="23653489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Read through the Customer Requirements and click to animate the important information we extract from this for our maps.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want to determine what is our customer demand, and how is the end result of the process getting to the customer (method, frequency).</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36</a:t>
            </a:fld>
            <a:endParaRPr lang="en-US"/>
          </a:p>
        </p:txBody>
      </p:sp>
    </p:spTree>
    <p:extLst>
      <p:ext uri="{BB962C8B-B14F-4D97-AF65-F5344CB8AC3E}">
        <p14:creationId xmlns:p14="http://schemas.microsoft.com/office/powerpoint/2010/main" val="89955740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time to draw. Each time you see a slide in this presentation that shows the map on a sheet a paper (as you see here) – that is an indicator of what is to be drawn on your map. </a:t>
            </a:r>
          </a:p>
          <a:p>
            <a:pPr eaLnBrk="1" hangingPunct="1"/>
            <a:r>
              <a:rPr lang="en-US" altLang="en-US" dirty="0">
                <a:latin typeface="Arial" panose="020B0604020202020204" pitchFamily="34" charset="0"/>
                <a:cs typeface="Arial" panose="020B0604020202020204" pitchFamily="34" charset="0"/>
              </a:rPr>
              <a:t>For right now we are going to draw exactly what we see here. The purpose of this is to get you comfortable with mapping, with the layout, with the icons, and with the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37</a:t>
            </a:fld>
            <a:endParaRPr lang="en-US"/>
          </a:p>
        </p:txBody>
      </p:sp>
    </p:spTree>
    <p:extLst>
      <p:ext uri="{BB962C8B-B14F-4D97-AF65-F5344CB8AC3E}">
        <p14:creationId xmlns:p14="http://schemas.microsoft.com/office/powerpoint/2010/main" val="282043328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Next we calculate takt time.</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Does anyone know what takt time is? How about where takt time came from?</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(takt time is the daily customer demand expressed in units of time – </a:t>
            </a:r>
            <a:r>
              <a:rPr lang="en-US" altLang="ja-JP" dirty="0" err="1">
                <a:latin typeface="Arial" panose="020B0604020202020204" pitchFamily="34" charset="0"/>
                <a:cs typeface="Arial" panose="020B0604020202020204" pitchFamily="34" charset="0"/>
              </a:rPr>
              <a:t>ie</a:t>
            </a:r>
            <a:r>
              <a:rPr lang="en-US" altLang="ja-JP" dirty="0">
                <a:latin typeface="Arial" panose="020B0604020202020204" pitchFamily="34" charset="0"/>
                <a:cs typeface="Arial" panose="020B0604020202020204" pitchFamily="34" charset="0"/>
              </a:rPr>
              <a:t>: the customer requires 1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completed process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every x seconds. Takt is a German word that translates to the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beat of the baton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 in the tool a conductor uses to direct a orchestra) – we are to be moving to the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beat of the customer</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baton.</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38</a:t>
            </a:fld>
            <a:endParaRPr lang="en-US"/>
          </a:p>
        </p:txBody>
      </p:sp>
    </p:spTree>
    <p:extLst>
      <p:ext uri="{BB962C8B-B14F-4D97-AF65-F5344CB8AC3E}">
        <p14:creationId xmlns:p14="http://schemas.microsoft.com/office/powerpoint/2010/main" val="11011492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definition for takt time here and the exact calculation. Review the example for NHC to calculate takt time.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39</a:t>
            </a:fld>
            <a:endParaRPr lang="en-US"/>
          </a:p>
        </p:txBody>
      </p:sp>
    </p:spTree>
    <p:extLst>
      <p:ext uri="{BB962C8B-B14F-4D97-AF65-F5344CB8AC3E}">
        <p14:creationId xmlns:p14="http://schemas.microsoft.com/office/powerpoint/2010/main" val="388857786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enter the takt time in a data box just below the customer icon.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40</a:t>
            </a:fld>
            <a:endParaRPr lang="en-US"/>
          </a:p>
        </p:txBody>
      </p:sp>
    </p:spTree>
    <p:extLst>
      <p:ext uri="{BB962C8B-B14F-4D97-AF65-F5344CB8AC3E}">
        <p14:creationId xmlns:p14="http://schemas.microsoft.com/office/powerpoint/2010/main" val="71016226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41</a:t>
            </a:fld>
            <a:endParaRPr lang="en-US"/>
          </a:p>
        </p:txBody>
      </p:sp>
    </p:spTree>
    <p:extLst>
      <p:ext uri="{BB962C8B-B14F-4D97-AF65-F5344CB8AC3E}">
        <p14:creationId xmlns:p14="http://schemas.microsoft.com/office/powerpoint/2010/main" val="218229557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Before we begin to map, there are a few definitions we need to cover: Drop Off Interval and Processing Time.</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 </a:t>
            </a:r>
            <a:r>
              <a:rPr lang="en-US" altLang="en-US" dirty="0">
                <a:latin typeface="Arial" panose="020B0604020202020204" pitchFamily="34" charset="0"/>
                <a:cs typeface="Arial" panose="020B0604020202020204" pitchFamily="34" charset="0"/>
              </a:rPr>
              <a:t>Review definition for Drop Off Interval</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DOI should be ideally observed, however there are some times when the DOI times are too long to observe in the event and you have a defined time to gather your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42</a:t>
            </a:fld>
            <a:endParaRPr lang="en-US"/>
          </a:p>
        </p:txBody>
      </p:sp>
    </p:spTree>
    <p:extLst>
      <p:ext uri="{BB962C8B-B14F-4D97-AF65-F5344CB8AC3E}">
        <p14:creationId xmlns:p14="http://schemas.microsoft.com/office/powerpoint/2010/main" val="162078568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eaLnBrk="1" hangingPunct="1"/>
            <a:r>
              <a:rPr lang="en-US" altLang="en-US" sz="1400" b="1" dirty="0">
                <a:latin typeface="Arial" panose="020B0604020202020204" pitchFamily="34" charset="0"/>
                <a:cs typeface="Arial" panose="020B0604020202020204" pitchFamily="34" charset="0"/>
              </a:rPr>
              <a:t>DO:</a:t>
            </a:r>
            <a:r>
              <a:rPr lang="en-US" altLang="en-US" sz="1400" dirty="0">
                <a:latin typeface="Arial" panose="020B0604020202020204" pitchFamily="34" charset="0"/>
                <a:cs typeface="Arial" panose="020B0604020202020204" pitchFamily="34" charset="0"/>
              </a:rPr>
              <a:t> Review definition of Processing Time and the difference between Processing Time and Drop-Off Interval. </a:t>
            </a:r>
          </a:p>
          <a:p>
            <a:pPr marL="228600" indent="-228600" eaLnBrk="1" hangingPunct="1"/>
            <a:r>
              <a:rPr lang="en-US" altLang="en-US" dirty="0">
                <a:latin typeface="Arial" panose="020B0604020202020204" pitchFamily="34" charset="0"/>
                <a:cs typeface="Arial" panose="020B0604020202020204" pitchFamily="34" charset="0"/>
              </a:rPr>
              <a:t>OPTIONAL EXERCISE TO DEMONSTRATE DIFFERENCE BETWEEN DOI AND PROCESSING TIME</a:t>
            </a:r>
            <a:r>
              <a:rPr lang="en-US" altLang="en-US" b="1" dirty="0">
                <a:latin typeface="Arial" panose="020B0604020202020204" pitchFamily="34" charset="0"/>
                <a:cs typeface="Arial" panose="020B0604020202020204" pitchFamily="34" charset="0"/>
              </a:rPr>
              <a:t> (you can facilitate this with several small groups simultaneously, or have one group demonstrate with the rest of the class watching):</a:t>
            </a:r>
          </a:p>
          <a:p>
            <a:pPr marL="228600" indent="-228600" eaLnBrk="1" hangingPunct="1"/>
            <a:r>
              <a:rPr lang="en-US" altLang="en-US" b="1" dirty="0">
                <a:latin typeface="Arial" panose="020B0604020202020204" pitchFamily="34" charset="0"/>
                <a:cs typeface="Arial" panose="020B0604020202020204" pitchFamily="34" charset="0"/>
              </a:rPr>
              <a:t>Number of Participants needed: 7 (1 timer, 6 operators)</a:t>
            </a:r>
          </a:p>
          <a:p>
            <a:pPr marL="228600" indent="-228600" eaLnBrk="1" hangingPunct="1"/>
            <a:r>
              <a:rPr lang="en-US" altLang="en-US" b="1" dirty="0">
                <a:latin typeface="Arial" panose="020B0604020202020204" pitchFamily="34" charset="0"/>
                <a:cs typeface="Arial" panose="020B0604020202020204" pitchFamily="34" charset="0"/>
              </a:rPr>
              <a:t>Prep: 10 blank post-it notes on a sheet of paper labeled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Raw Material</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one sheet of paper labeled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Finished Goods</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a:t>
            </a:r>
          </a:p>
          <a:p>
            <a:pPr marL="228600" indent="-228600" eaLnBrk="1" hangingPunct="1">
              <a:buFontTx/>
              <a:buAutoNum type="arabicPeriod"/>
            </a:pPr>
            <a:r>
              <a:rPr lang="en-US" altLang="en-US" b="1" dirty="0">
                <a:latin typeface="Arial" panose="020B0604020202020204" pitchFamily="34" charset="0"/>
                <a:cs typeface="Arial" panose="020B0604020202020204" pitchFamily="34" charset="0"/>
              </a:rPr>
              <a:t>Create a u-shaped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cell</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of 6 people.</a:t>
            </a:r>
          </a:p>
          <a:p>
            <a:pPr marL="228600" indent="-228600" eaLnBrk="1" hangingPunct="1">
              <a:buFontTx/>
              <a:buAutoNum type="arabicPeriod"/>
            </a:pPr>
            <a:r>
              <a:rPr lang="en-US" altLang="en-US" b="1" dirty="0">
                <a:latin typeface="Arial" panose="020B0604020202020204" pitchFamily="34" charset="0"/>
                <a:cs typeface="Arial" panose="020B0604020202020204" pitchFamily="34" charset="0"/>
              </a:rPr>
              <a:t>Place the sheet of raw material next to Operator #1. The exercise starts with Operator #1 taking the first post-it note. He/she is to sign her first name and pass to the second operator. Each operator then repeats – signing only their first name and passing the post-it note to the next operator in sequence (only when the next operator is ready to receive it). This process continues thru to Operator #6. The process ends when Operator #6 moves the post-it note to the finished goods paper. </a:t>
            </a:r>
          </a:p>
          <a:p>
            <a:pPr marL="228600" indent="-228600" eaLnBrk="1" hangingPunct="1">
              <a:buFontTx/>
              <a:buAutoNum type="arabicPeriod"/>
            </a:pPr>
            <a:r>
              <a:rPr lang="en-US" altLang="en-US" b="1" dirty="0">
                <a:latin typeface="Arial" panose="020B0604020202020204" pitchFamily="34" charset="0"/>
                <a:cs typeface="Arial" panose="020B0604020202020204" pitchFamily="34" charset="0"/>
              </a:rPr>
              <a:t>The timer must time (1) the amount of time for operator #1 to start the process until operator #6 completes the process (this is the processing time) and (2) the frequency with which a post-it note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drops off</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the end of the process (every ___ seconds 1 post-it note drops off the end of the process (this is the DOI)</a:t>
            </a:r>
          </a:p>
          <a:p>
            <a:pPr marL="228600" indent="-228600" eaLnBrk="1" hangingPunct="1"/>
            <a:r>
              <a:rPr lang="en-US" altLang="en-US" dirty="0">
                <a:latin typeface="Arial" panose="020B0604020202020204" pitchFamily="34" charset="0"/>
                <a:cs typeface="Arial" panose="020B0604020202020204" pitchFamily="34" charset="0"/>
              </a:rPr>
              <a:t>NOTE:</a:t>
            </a:r>
            <a:r>
              <a:rPr lang="en-US" altLang="en-US" b="1" dirty="0">
                <a:latin typeface="Arial" panose="020B0604020202020204" pitchFamily="34" charset="0"/>
                <a:cs typeface="Arial" panose="020B0604020202020204" pitchFamily="34" charset="0"/>
              </a:rPr>
              <a:t> DOI is calculated </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when the line is wet</a:t>
            </a:r>
            <a:r>
              <a:rPr lang="ja-JP" altLang="en-US" b="1"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 – so for purposes of this exercise, this time may be observed after the 1</a:t>
            </a:r>
            <a:r>
              <a:rPr lang="en-US" altLang="ja-JP" b="1" baseline="30000" dirty="0">
                <a:latin typeface="Arial" panose="020B0604020202020204" pitchFamily="34" charset="0"/>
                <a:cs typeface="Arial" panose="020B0604020202020204" pitchFamily="34" charset="0"/>
              </a:rPr>
              <a:t>st</a:t>
            </a:r>
            <a:r>
              <a:rPr lang="en-US" altLang="ja-JP" b="1" dirty="0">
                <a:latin typeface="Arial" panose="020B0604020202020204" pitchFamily="34" charset="0"/>
                <a:cs typeface="Arial" panose="020B0604020202020204" pitchFamily="34" charset="0"/>
              </a:rPr>
              <a:t> post-it note completes the exercise. </a:t>
            </a:r>
          </a:p>
          <a:p>
            <a:pPr marL="228600" indent="-228600" eaLnBrk="1" hangingPunct="1"/>
            <a:r>
              <a:rPr lang="en-US" altLang="en-US" dirty="0">
                <a:latin typeface="Arial" panose="020B0604020202020204" pitchFamily="34" charset="0"/>
                <a:cs typeface="Arial" panose="020B0604020202020204" pitchFamily="34" charset="0"/>
              </a:rPr>
              <a:t>KEY Take-away:</a:t>
            </a:r>
            <a:r>
              <a:rPr lang="en-US" altLang="en-US" b="1" dirty="0">
                <a:latin typeface="Arial" panose="020B0604020202020204" pitchFamily="34" charset="0"/>
                <a:cs typeface="Arial" panose="020B0604020202020204" pitchFamily="34" charset="0"/>
              </a:rPr>
              <a:t> DOI tells us if our process is capable of meeting TAKT time. When there is only 1 operator, the processing time equals the DOI. When there are several operators handling one piece, the processing time and DOI are different because there are more than one people working processes. </a:t>
            </a:r>
          </a:p>
          <a:p>
            <a:pPr marL="228600" indent="-228600" eaLnBrk="1" hangingPunct="1"/>
            <a:endParaRPr lang="en-US" altLang="en-US" dirty="0">
              <a:latin typeface="Arial" panose="020B0604020202020204" pitchFamily="34" charset="0"/>
              <a:cs typeface="Arial" panose="020B0604020202020204" pitchFamily="34" charset="0"/>
            </a:endParaRPr>
          </a:p>
          <a:p>
            <a:pPr marL="228600" indent="-228600" eaLnBrk="1" hangingPunct="1"/>
            <a:endParaRPr lang="en-US" altLang="en-US" sz="1400"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43</a:t>
            </a:fld>
            <a:endParaRPr lang="en-US"/>
          </a:p>
        </p:txBody>
      </p:sp>
    </p:spTree>
    <p:extLst>
      <p:ext uri="{BB962C8B-B14F-4D97-AF65-F5344CB8AC3E}">
        <p14:creationId xmlns:p14="http://schemas.microsoft.com/office/powerpoint/2010/main" val="230836098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44</a:t>
            </a:fld>
            <a:endParaRPr lang="en-US"/>
          </a:p>
        </p:txBody>
      </p:sp>
    </p:spTree>
    <p:extLst>
      <p:ext uri="{BB962C8B-B14F-4D97-AF65-F5344CB8AC3E}">
        <p14:creationId xmlns:p14="http://schemas.microsoft.com/office/powerpoint/2010/main" val="315501071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Remind class not to draw anything just yet.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mapping processes there are three icons we start with: Process Box, Data Box, and # of Workers/Processors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icons on slide for each.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begin to walk the processes backwards. The last process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Mail Package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Lets review what the data is telling us.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data on the slide. Click to animate what gets populated where in the Process and Data Box.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45</a:t>
            </a:fld>
            <a:endParaRPr lang="en-US"/>
          </a:p>
        </p:txBody>
      </p:sp>
    </p:spTree>
    <p:extLst>
      <p:ext uri="{BB962C8B-B14F-4D97-AF65-F5344CB8AC3E}">
        <p14:creationId xmlns:p14="http://schemas.microsoft.com/office/powerpoint/2010/main" val="3944014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Generate Package.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46</a:t>
            </a:fld>
            <a:endParaRPr lang="en-US"/>
          </a:p>
        </p:txBody>
      </p:sp>
    </p:spTree>
    <p:extLst>
      <p:ext uri="{BB962C8B-B14F-4D97-AF65-F5344CB8AC3E}">
        <p14:creationId xmlns:p14="http://schemas.microsoft.com/office/powerpoint/2010/main" val="205627585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Underwriting.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Drop Off Interval is greater than 720</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/2 because it is OBSERVED.</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47</a:t>
            </a:fld>
            <a:endParaRPr lang="en-US"/>
          </a:p>
        </p:txBody>
      </p:sp>
    </p:spTree>
    <p:extLst>
      <p:ext uri="{BB962C8B-B14F-4D97-AF65-F5344CB8AC3E}">
        <p14:creationId xmlns:p14="http://schemas.microsoft.com/office/powerpoint/2010/main" val="360065129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Data Entry.</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48</a:t>
            </a:fld>
            <a:endParaRPr lang="en-US"/>
          </a:p>
        </p:txBody>
      </p:sp>
    </p:spTree>
    <p:extLst>
      <p:ext uri="{BB962C8B-B14F-4D97-AF65-F5344CB8AC3E}">
        <p14:creationId xmlns:p14="http://schemas.microsoft.com/office/powerpoint/2010/main" val="187686802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Receipt.</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49</a:t>
            </a:fld>
            <a:endParaRPr lang="en-US"/>
          </a:p>
        </p:txBody>
      </p:sp>
    </p:spTree>
    <p:extLst>
      <p:ext uri="{BB962C8B-B14F-4D97-AF65-F5344CB8AC3E}">
        <p14:creationId xmlns:p14="http://schemas.microsoft.com/office/powerpoint/2010/main" val="70817044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Emphasize that the process boxes are drawn starting from the customer end.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50</a:t>
            </a:fld>
            <a:endParaRPr lang="en-US"/>
          </a:p>
        </p:txBody>
      </p:sp>
    </p:spTree>
    <p:extLst>
      <p:ext uri="{BB962C8B-B14F-4D97-AF65-F5344CB8AC3E}">
        <p14:creationId xmlns:p14="http://schemas.microsoft.com/office/powerpoint/2010/main" val="218465625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time to map the Process Boxes and Data Boxes for NHC.</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Drawing the Process Boxes and Data Boxes is the most time consuming part of this exercise. Allow sufficient time for this.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51</a:t>
            </a:fld>
            <a:endParaRPr lang="en-US"/>
          </a:p>
        </p:txBody>
      </p:sp>
    </p:spTree>
    <p:extLst>
      <p:ext uri="{BB962C8B-B14F-4D97-AF65-F5344CB8AC3E}">
        <p14:creationId xmlns:p14="http://schemas.microsoft.com/office/powerpoint/2010/main" val="28622206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Now we will map the inventory that is queued between each process.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inventory icon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in-box</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and the push arrow. Note the data that we record about the inventory.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52</a:t>
            </a:fld>
            <a:endParaRPr lang="en-US"/>
          </a:p>
        </p:txBody>
      </p:sp>
    </p:spTree>
    <p:extLst>
      <p:ext uri="{BB962C8B-B14F-4D97-AF65-F5344CB8AC3E}">
        <p14:creationId xmlns:p14="http://schemas.microsoft.com/office/powerpoint/2010/main" val="116159294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inventory data for NHC.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53</a:t>
            </a:fld>
            <a:endParaRPr lang="en-US"/>
          </a:p>
        </p:txBody>
      </p:sp>
    </p:spTree>
    <p:extLst>
      <p:ext uri="{BB962C8B-B14F-4D97-AF65-F5344CB8AC3E}">
        <p14:creationId xmlns:p14="http://schemas.microsoft.com/office/powerpoint/2010/main" val="231381420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inventory queues and inventory information on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54</a:t>
            </a:fld>
            <a:endParaRPr lang="en-US"/>
          </a:p>
        </p:txBody>
      </p:sp>
    </p:spTree>
    <p:extLst>
      <p:ext uri="{BB962C8B-B14F-4D97-AF65-F5344CB8AC3E}">
        <p14:creationId xmlns:p14="http://schemas.microsoft.com/office/powerpoint/2010/main" val="351723723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we keep working upstream, the next step is to map our incoming customer demand.</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55</a:t>
            </a:fld>
            <a:endParaRPr lang="en-US"/>
          </a:p>
        </p:txBody>
      </p:sp>
    </p:spTree>
    <p:extLst>
      <p:ext uri="{BB962C8B-B14F-4D97-AF65-F5344CB8AC3E}">
        <p14:creationId xmlns:p14="http://schemas.microsoft.com/office/powerpoint/2010/main" val="230845757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NHC data and what data is important to extract for our map.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56</a:t>
            </a:fld>
            <a:endParaRPr lang="en-US"/>
          </a:p>
        </p:txBody>
      </p:sp>
    </p:spTree>
    <p:extLst>
      <p:ext uri="{BB962C8B-B14F-4D97-AF65-F5344CB8AC3E}">
        <p14:creationId xmlns:p14="http://schemas.microsoft.com/office/powerpoint/2010/main" val="123006381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incoming customer demand on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57</a:t>
            </a:fld>
            <a:endParaRPr lang="en-US"/>
          </a:p>
        </p:txBody>
      </p:sp>
    </p:spTree>
    <p:extLst>
      <p:ext uri="{BB962C8B-B14F-4D97-AF65-F5344CB8AC3E}">
        <p14:creationId xmlns:p14="http://schemas.microsoft.com/office/powerpoint/2010/main" val="81043829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total up our Processing Time and Lead Time.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58</a:t>
            </a:fld>
            <a:endParaRPr lang="en-US"/>
          </a:p>
        </p:txBody>
      </p:sp>
    </p:spTree>
    <p:extLst>
      <p:ext uri="{BB962C8B-B14F-4D97-AF65-F5344CB8AC3E}">
        <p14:creationId xmlns:p14="http://schemas.microsoft.com/office/powerpoint/2010/main" val="307542405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the slide and review NHC examples.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59</a:t>
            </a:fld>
            <a:endParaRPr lang="en-US"/>
          </a:p>
        </p:txBody>
      </p:sp>
    </p:spTree>
    <p:extLst>
      <p:ext uri="{BB962C8B-B14F-4D97-AF65-F5344CB8AC3E}">
        <p14:creationId xmlns:p14="http://schemas.microsoft.com/office/powerpoint/2010/main" val="427287316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the slide and review NHC examples.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60</a:t>
            </a:fld>
            <a:endParaRPr lang="en-US"/>
          </a:p>
        </p:txBody>
      </p:sp>
    </p:spTree>
    <p:extLst>
      <p:ext uri="{BB962C8B-B14F-4D97-AF65-F5344CB8AC3E}">
        <p14:creationId xmlns:p14="http://schemas.microsoft.com/office/powerpoint/2010/main" val="277622559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61</a:t>
            </a:fld>
            <a:endParaRPr lang="en-US"/>
          </a:p>
        </p:txBody>
      </p:sp>
    </p:spTree>
    <p:extLst>
      <p:ext uri="{BB962C8B-B14F-4D97-AF65-F5344CB8AC3E}">
        <p14:creationId xmlns:p14="http://schemas.microsoft.com/office/powerpoint/2010/main" val="18628866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calculation to determine lead-time from queued inventory. Make sure the class understands how the lead time is calculated for each queue.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62</a:t>
            </a:fld>
            <a:endParaRPr lang="en-US"/>
          </a:p>
        </p:txBody>
      </p:sp>
    </p:spTree>
    <p:extLst>
      <p:ext uri="{BB962C8B-B14F-4D97-AF65-F5344CB8AC3E}">
        <p14:creationId xmlns:p14="http://schemas.microsoft.com/office/powerpoint/2010/main" val="3096712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where to total Processing Time and Lead Time.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this means is that if I am the last transaction in the bunch, it takes me 6.8 days and 1,980 seconds to complete this process. The 1,980 seconds is the amount of time work is actually being done on the transaction, the rest is time spent in queues waiting for the next step.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63</a:t>
            </a:fld>
            <a:endParaRPr lang="en-US"/>
          </a:p>
        </p:txBody>
      </p:sp>
    </p:spTree>
    <p:extLst>
      <p:ext uri="{BB962C8B-B14F-4D97-AF65-F5344CB8AC3E}">
        <p14:creationId xmlns:p14="http://schemas.microsoft.com/office/powerpoint/2010/main" val="295074613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square wave with the Processing Time and Lead Time filled in on the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64</a:t>
            </a:fld>
            <a:endParaRPr lang="en-US"/>
          </a:p>
        </p:txBody>
      </p:sp>
    </p:spTree>
    <p:extLst>
      <p:ext uri="{BB962C8B-B14F-4D97-AF65-F5344CB8AC3E}">
        <p14:creationId xmlns:p14="http://schemas.microsoft.com/office/powerpoint/2010/main" val="51388438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map our Information Flow.</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65</a:t>
            </a:fld>
            <a:endParaRPr lang="en-US"/>
          </a:p>
        </p:txBody>
      </p:sp>
    </p:spTree>
    <p:extLst>
      <p:ext uri="{BB962C8B-B14F-4D97-AF65-F5344CB8AC3E}">
        <p14:creationId xmlns:p14="http://schemas.microsoft.com/office/powerpoint/2010/main" val="217572255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data set to determine what to extract for information flow.</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66</a:t>
            </a:fld>
            <a:endParaRPr lang="en-US"/>
          </a:p>
        </p:txBody>
      </p:sp>
    </p:spTree>
    <p:extLst>
      <p:ext uri="{BB962C8B-B14F-4D97-AF65-F5344CB8AC3E}">
        <p14:creationId xmlns:p14="http://schemas.microsoft.com/office/powerpoint/2010/main" val="34743058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Complete your map.</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Notice the differences in the lines and arrows that are used. The lightening arrow is used to indicate electronic information flow. The solid black arrow is used to indicate physical information flow. Incoming raw material and outgoing finished goods are indicated with a thick arrow. Processes separated by inventory that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pushed</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from one process to the next – the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push</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action is indicated with a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zebra stripe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arrow (to make the waste of push visible).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It is good practice to label your map as the Current State with today</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date.</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a:p>
            <a:pPr eaLnBrk="1" hangingPunct="1"/>
            <a:endParaRPr lang="en-US" alt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67</a:t>
            </a:fld>
            <a:endParaRPr lang="en-US"/>
          </a:p>
        </p:txBody>
      </p:sp>
    </p:spTree>
    <p:extLst>
      <p:ext uri="{BB962C8B-B14F-4D97-AF65-F5344CB8AC3E}">
        <p14:creationId xmlns:p14="http://schemas.microsoft.com/office/powerpoint/2010/main" val="375493861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Pass out flip chart paper, markers, calculators, and post-it notes. Pass out the Data Sheet Handout for Carl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Credit Cards. Read the instructions of the exercise. They are to complete the Current State Map in small groups.</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Emphasize after the exercise that they will need these maps for a later exercise – do not discard or erase.  </a:t>
            </a: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68</a:t>
            </a:fld>
            <a:endParaRPr lang="en-US"/>
          </a:p>
        </p:txBody>
      </p:sp>
    </p:spTree>
    <p:extLst>
      <p:ext uri="{BB962C8B-B14F-4D97-AF65-F5344CB8AC3E}">
        <p14:creationId xmlns:p14="http://schemas.microsoft.com/office/powerpoint/2010/main" val="98150816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This is not applicable to our case.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69</a:t>
            </a:fld>
            <a:endParaRPr lang="en-US"/>
          </a:p>
        </p:txBody>
      </p:sp>
    </p:spTree>
    <p:extLst>
      <p:ext uri="{BB962C8B-B14F-4D97-AF65-F5344CB8AC3E}">
        <p14:creationId xmlns:p14="http://schemas.microsoft.com/office/powerpoint/2010/main" val="214452259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This review is meant to be fast-paced. Best practice is to set a timer for 2 minutes so the time does not run long. Be sure to only have one member from each pair or small group report back only one thing that they discussed. If any of the groups miss something that was very important, be sure to cover it at this time.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70</a:t>
            </a:fld>
            <a:endParaRPr lang="en-US"/>
          </a:p>
        </p:txBody>
      </p:sp>
    </p:spTree>
    <p:extLst>
      <p:ext uri="{BB962C8B-B14F-4D97-AF65-F5344CB8AC3E}">
        <p14:creationId xmlns:p14="http://schemas.microsoft.com/office/powerpoint/2010/main" val="384530041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71</a:t>
            </a:fld>
            <a:endParaRPr lang="en-US"/>
          </a:p>
        </p:txBody>
      </p:sp>
    </p:spTree>
    <p:extLst>
      <p:ext uri="{BB962C8B-B14F-4D97-AF65-F5344CB8AC3E}">
        <p14:creationId xmlns:p14="http://schemas.microsoft.com/office/powerpoint/2010/main" val="162389467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72</a:t>
            </a:fld>
            <a:endParaRPr lang="en-US"/>
          </a:p>
        </p:txBody>
      </p:sp>
    </p:spTree>
    <p:extLst>
      <p:ext uri="{BB962C8B-B14F-4D97-AF65-F5344CB8AC3E}">
        <p14:creationId xmlns:p14="http://schemas.microsoft.com/office/powerpoint/2010/main" val="263351095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There are slides that explain each process step. They are not intended to be reviewed all at once, but rather as each team is just about to complete that step. </a:t>
            </a:r>
          </a:p>
          <a:p>
            <a:pPr eaLnBrk="1" hangingPunct="1"/>
            <a:r>
              <a:rPr lang="en-US" altLang="en-US" dirty="0">
                <a:latin typeface="Arial" panose="020B0604020202020204" pitchFamily="34" charset="0"/>
                <a:cs typeface="Arial" panose="020B0604020202020204" pitchFamily="34" charset="0"/>
              </a:rPr>
              <a:t>If it is not feasible to have the projector running for each of these short segments, you may have the participants refer only to their workbooks as you review the method for mapping.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73</a:t>
            </a:fld>
            <a:endParaRPr lang="en-US"/>
          </a:p>
        </p:txBody>
      </p:sp>
    </p:spTree>
    <p:extLst>
      <p:ext uri="{BB962C8B-B14F-4D97-AF65-F5344CB8AC3E}">
        <p14:creationId xmlns:p14="http://schemas.microsoft.com/office/powerpoint/2010/main" val="304786057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return from this exercise so that they budget their time wisely.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74</a:t>
            </a:fld>
            <a:endParaRPr lang="en-US"/>
          </a:p>
        </p:txBody>
      </p:sp>
    </p:spTree>
    <p:extLst>
      <p:ext uri="{BB962C8B-B14F-4D97-AF65-F5344CB8AC3E}">
        <p14:creationId xmlns:p14="http://schemas.microsoft.com/office/powerpoint/2010/main" val="13092446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buSzPct val="90000"/>
              <a:buFont typeface="Wingdings" panose="05000000000000000000" pitchFamily="2" charset="2"/>
              <a:buNone/>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gathering data, your first preference in is to go to the workplace (</a:t>
            </a:r>
            <a:r>
              <a:rPr lang="en-US" altLang="ja-JP" dirty="0" err="1">
                <a:latin typeface="Arial" panose="020B0604020202020204" pitchFamily="34" charset="0"/>
                <a:cs typeface="Arial" panose="020B0604020202020204" pitchFamily="34" charset="0"/>
              </a:rPr>
              <a:t>gemba</a:t>
            </a:r>
            <a:r>
              <a:rPr lang="en-US" altLang="ja-JP" dirty="0">
                <a:latin typeface="Arial" panose="020B0604020202020204" pitchFamily="34" charset="0"/>
                <a:cs typeface="Arial" panose="020B0604020202020204" pitchFamily="34" charset="0"/>
              </a:rPr>
              <a:t>) and observe the process directly.</a:t>
            </a:r>
          </a:p>
          <a:p>
            <a:pPr eaLnBrk="1" hangingPunct="1">
              <a:buSzPct val="90000"/>
              <a:buFont typeface="Wingdings" panose="05000000000000000000" pitchFamily="2" charset="2"/>
              <a:buNone/>
            </a:pPr>
            <a:r>
              <a:rPr lang="en-US" altLang="en-US" dirty="0">
                <a:latin typeface="Arial" panose="020B0604020202020204" pitchFamily="34" charset="0"/>
                <a:cs typeface="Arial" panose="020B0604020202020204" pitchFamily="34" charset="0"/>
              </a:rPr>
              <a:t>When it is not possible to go to the workplace you should use the following data sources in the following order.</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System Generated Report or Workflow Documents</a:t>
            </a:r>
            <a:r>
              <a:rPr lang="en-US" altLang="en-US" dirty="0">
                <a:latin typeface="Arial" panose="020B0604020202020204" pitchFamily="34" charset="0"/>
                <a:ea typeface="Arial" panose="020B0604020202020204" pitchFamily="34" charset="0"/>
                <a:cs typeface="Arial" panose="020B0604020202020204" pitchFamily="34" charset="0"/>
              </a:rPr>
              <a:t> - These may be used to identify activities, frequency of occurrence, and volumes</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Historical Performance Reports</a:t>
            </a:r>
            <a:r>
              <a:rPr lang="en-US" altLang="en-US" dirty="0">
                <a:latin typeface="Arial" panose="020B0604020202020204" pitchFamily="34" charset="0"/>
                <a:ea typeface="Arial" panose="020B0604020202020204" pitchFamily="34" charset="0"/>
                <a:cs typeface="Arial" panose="020B0604020202020204" pitchFamily="34" charset="0"/>
              </a:rPr>
              <a:t> - These can be either system or manually generated and serve to provide the same data as above</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Staff Interviews</a:t>
            </a:r>
            <a:r>
              <a:rPr lang="en-US" altLang="en-US" dirty="0">
                <a:latin typeface="Arial" panose="020B0604020202020204" pitchFamily="34" charset="0"/>
                <a:ea typeface="Arial" panose="020B0604020202020204" pitchFamily="34" charset="0"/>
                <a:cs typeface="Arial" panose="020B0604020202020204" pitchFamily="34" charset="0"/>
              </a:rPr>
              <a:t> - These should be conducted carefully starting at the end of the value stream and working to the front.  They should be posed such in a manner that identifies how the thing of value arrives, from where, who provides it, how many arrive, how often, and in what condition.  Be cautious when using this data as it tends to be highly inaccurate in terms of process time, inventory and quality yield.</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Management Interviews</a:t>
            </a:r>
            <a:r>
              <a:rPr lang="en-US" altLang="en-US" dirty="0">
                <a:latin typeface="Arial" panose="020B0604020202020204" pitchFamily="34" charset="0"/>
                <a:ea typeface="Arial" panose="020B0604020202020204" pitchFamily="34" charset="0"/>
                <a:cs typeface="Arial" panose="020B0604020202020204" pitchFamily="34" charset="0"/>
              </a:rPr>
              <a:t> - These can be the least accurate as they will generally tell you what is supposed to happen not what really takes place.</a:t>
            </a:r>
          </a:p>
          <a:p>
            <a:pPr eaLnBrk="1" hangingPunct="1"/>
            <a:endParaRPr lang="en-US" altLang="en-US" sz="1000"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76</a:t>
            </a:fld>
            <a:endParaRPr lang="en-US"/>
          </a:p>
        </p:txBody>
      </p:sp>
    </p:spTree>
    <p:extLst>
      <p:ext uri="{BB962C8B-B14F-4D97-AF65-F5344CB8AC3E}">
        <p14:creationId xmlns:p14="http://schemas.microsoft.com/office/powerpoint/2010/main" val="39079152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 Work with interviewer and lean coordinator with the fine points of interviewing and extracting information from operators in shop floor-relevant terminology.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does this step in the process do?</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do you know what to work on?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do you get your schedule from and how often?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long does this process typically take? (ask only if can</a:t>
            </a:r>
            <a:r>
              <a:rPr lang="ja-JP" altLang="en-US" dirty="0">
                <a:latin typeface="Arial" panose="020B0604020202020204" pitchFamily="34" charset="0"/>
                <a:ea typeface="MS PGothic" panose="020B0600070205080204" pitchFamily="34" charset="-128"/>
                <a:cs typeface="Arial" panose="020B0604020202020204" pitchFamily="34" charset="0"/>
              </a:rPr>
              <a:t>’</a:t>
            </a:r>
            <a:r>
              <a:rPr lang="en-US" altLang="ja-JP" dirty="0">
                <a:latin typeface="Arial" panose="020B0604020202020204" pitchFamily="34" charset="0"/>
                <a:ea typeface="MS PGothic" panose="020B0600070205080204" pitchFamily="34" charset="-128"/>
                <a:cs typeface="Arial" panose="020B0604020202020204" pitchFamily="34" charset="0"/>
              </a:rPr>
              <a:t>t be observed)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are the parts that you need to build today?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is this machine down?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are machines down for maintenance?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often do you do changeovers and how long do changeovers take?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many rejects or scrap parts do you have today?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else would cause a delay in this process?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If you could make any improvements to this process what would they be?</a:t>
            </a:r>
          </a:p>
          <a:p>
            <a:pPr lvl="1" eaLnBrk="1" hangingPunct="1">
              <a:buFontTx/>
              <a:buNone/>
            </a:pPr>
            <a:r>
              <a:rPr lang="en-US" altLang="en-US" b="1" dirty="0">
                <a:latin typeface="Arial" panose="020B0604020202020204" pitchFamily="34" charset="0"/>
                <a:ea typeface="Arial" panose="020B0604020202020204" pitchFamily="34" charset="0"/>
                <a:cs typeface="Arial" panose="020B0604020202020204" pitchFamily="34" charset="0"/>
              </a:rPr>
              <a:t>Not an exhaustive list… not every question has to be asked.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78</a:t>
            </a:fld>
            <a:endParaRPr lang="en-US"/>
          </a:p>
        </p:txBody>
      </p:sp>
    </p:spTree>
    <p:extLst>
      <p:ext uri="{BB962C8B-B14F-4D97-AF65-F5344CB8AC3E}">
        <p14:creationId xmlns:p14="http://schemas.microsoft.com/office/powerpoint/2010/main" val="100187847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Here are some best practices for map drawing:</a:t>
            </a:r>
            <a:br>
              <a:rPr lang="en-US" altLang="en-US" dirty="0">
                <a:latin typeface="Arial" panose="020B0604020202020204" pitchFamily="34" charset="0"/>
                <a:cs typeface="Arial" panose="020B0604020202020204" pitchFamily="34" charset="0"/>
              </a:rPr>
            </a:br>
            <a:endParaRPr lang="en-US" altLang="en-US" dirty="0">
              <a:latin typeface="Arial" panose="020B0604020202020204" pitchFamily="34" charset="0"/>
              <a:cs typeface="Arial" panose="020B0604020202020204" pitchFamily="34" charset="0"/>
            </a:endParaRPr>
          </a:p>
          <a:p>
            <a:pPr eaLnBrk="1" hangingPunct="1"/>
            <a:r>
              <a:rPr lang="en-US" altLang="en-US" dirty="0">
                <a:latin typeface="Arial" panose="020B0604020202020204" pitchFamily="34" charset="0"/>
                <a:cs typeface="Arial" panose="020B0604020202020204" pitchFamily="34" charset="0"/>
              </a:rPr>
              <a:t>When writing data on post-it notes, it is best to start in pencil and then trace with black marker</a:t>
            </a:r>
          </a:p>
          <a:p>
            <a:pPr eaLnBrk="1" hangingPunct="1"/>
            <a:r>
              <a:rPr lang="en-US" altLang="en-US" dirty="0">
                <a:latin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cs typeface="Arial" panose="020B0604020202020204" pitchFamily="34" charset="0"/>
              </a:rPr>
            </a:br>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79</a:t>
            </a:fld>
            <a:endParaRPr lang="en-US"/>
          </a:p>
        </p:txBody>
      </p:sp>
    </p:spTree>
    <p:extLst>
      <p:ext uri="{BB962C8B-B14F-4D97-AF65-F5344CB8AC3E}">
        <p14:creationId xmlns:p14="http://schemas.microsoft.com/office/powerpoint/2010/main" val="152877047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return from this exercise so that they budget their time wisely. </a:t>
            </a: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80</a:t>
            </a:fld>
            <a:endParaRPr lang="en-US"/>
          </a:p>
        </p:txBody>
      </p:sp>
    </p:spTree>
    <p:extLst>
      <p:ext uri="{BB962C8B-B14F-4D97-AF65-F5344CB8AC3E}">
        <p14:creationId xmlns:p14="http://schemas.microsoft.com/office/powerpoint/2010/main" val="27613877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have this exercise complete so that they budget their time wisely. </a:t>
            </a: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82</a:t>
            </a:fld>
            <a:endParaRPr lang="en-US"/>
          </a:p>
        </p:txBody>
      </p:sp>
    </p:spTree>
    <p:extLst>
      <p:ext uri="{BB962C8B-B14F-4D97-AF65-F5344CB8AC3E}">
        <p14:creationId xmlns:p14="http://schemas.microsoft.com/office/powerpoint/2010/main" val="306294018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about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a value stream</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value stream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and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our method for Current State Mapping?</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Interrogating the Current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NHC Current State Maps from previous exercise</a:t>
            </a:r>
          </a:p>
          <a:p>
            <a:pPr eaLnBrk="1" hangingPunct="1"/>
            <a:r>
              <a:rPr lang="en-US" altLang="en-US" dirty="0">
                <a:latin typeface="Arial" panose="020B0604020202020204" pitchFamily="34" charset="0"/>
                <a:cs typeface="Arial" panose="020B0604020202020204" pitchFamily="34" charset="0"/>
              </a:rPr>
              <a:t>CCC Current State Map from previous exercise</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Red thin markers</a:t>
            </a:r>
          </a:p>
          <a:p>
            <a:pPr eaLnBrk="1" hangingPunct="1"/>
            <a:r>
              <a:rPr lang="en-US" altLang="en-US" dirty="0">
                <a:latin typeface="Arial" panose="020B0604020202020204" pitchFamily="34" charset="0"/>
                <a:cs typeface="Arial" panose="020B0604020202020204" pitchFamily="34" charset="0"/>
              </a:rPr>
              <a:t>3-4 Packs of Post-It Notes</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83</a:t>
            </a:fld>
            <a:endParaRPr lang="en-US"/>
          </a:p>
        </p:txBody>
      </p:sp>
    </p:spTree>
    <p:extLst>
      <p:ext uri="{BB962C8B-B14F-4D97-AF65-F5344CB8AC3E}">
        <p14:creationId xmlns:p14="http://schemas.microsoft.com/office/powerpoint/2010/main" val="410719498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You will need to pull out your NHC Current State Maps from the previous exercise. Please also take a red marker for we will be marking up our Current State Maps during our analysis.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84</a:t>
            </a:fld>
            <a:endParaRPr lang="en-US"/>
          </a:p>
        </p:txBody>
      </p:sp>
    </p:spTree>
    <p:extLst>
      <p:ext uri="{BB962C8B-B14F-4D97-AF65-F5344CB8AC3E}">
        <p14:creationId xmlns:p14="http://schemas.microsoft.com/office/powerpoint/2010/main" val="158029850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questions that we use to interrogate or analyze the Current State.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will answer each one in more detail on the upcoming slides.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85</a:t>
            </a:fld>
            <a:endParaRPr lang="en-US"/>
          </a:p>
        </p:txBody>
      </p:sp>
    </p:spTree>
    <p:extLst>
      <p:ext uri="{BB962C8B-B14F-4D97-AF65-F5344CB8AC3E}">
        <p14:creationId xmlns:p14="http://schemas.microsoft.com/office/powerpoint/2010/main" val="160679069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First we look to see if the current process is producing to takt time?</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would we start here?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(answer: because we always start with the customer)</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86</a:t>
            </a:fld>
            <a:endParaRPr lang="en-US"/>
          </a:p>
        </p:txBody>
      </p:sp>
    </p:spTree>
    <p:extLst>
      <p:ext uri="{BB962C8B-B14F-4D97-AF65-F5344CB8AC3E}">
        <p14:creationId xmlns:p14="http://schemas.microsoft.com/office/powerpoint/2010/main" val="128780514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Review current output data to see if the process is producing at takt time. Identify each process not achieving takt time. Remember all Drop Off Intervals must be below takt time.</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NHC</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case, both Underwrite and Generate Package both have DOIs that exceed takt time. We will want to implement Standard Work here to identify and eliminate non-value added processes to implement a process that achieves takt time.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87</a:t>
            </a:fld>
            <a:endParaRPr lang="en-US"/>
          </a:p>
        </p:txBody>
      </p:sp>
    </p:spTree>
    <p:extLst>
      <p:ext uri="{BB962C8B-B14F-4D97-AF65-F5344CB8AC3E}">
        <p14:creationId xmlns:p14="http://schemas.microsoft.com/office/powerpoint/2010/main" val="290181097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Take your red marker and make your kaizen burst around these 2 areas. It is a best practice to label each burst with one word or a short phrase that refers to the improvement to be made there.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88</a:t>
            </a:fld>
            <a:endParaRPr lang="en-US"/>
          </a:p>
        </p:txBody>
      </p:sp>
    </p:spTree>
    <p:extLst>
      <p:ext uri="{BB962C8B-B14F-4D97-AF65-F5344CB8AC3E}">
        <p14:creationId xmlns:p14="http://schemas.microsoft.com/office/powerpoint/2010/main" val="208760490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Next we look at which processes can be coupled using continuous flow.</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89</a:t>
            </a:fld>
            <a:endParaRPr lang="en-US"/>
          </a:p>
        </p:txBody>
      </p:sp>
    </p:spTree>
    <p:extLst>
      <p:ext uri="{BB962C8B-B14F-4D97-AF65-F5344CB8AC3E}">
        <p14:creationId xmlns:p14="http://schemas.microsoft.com/office/powerpoint/2010/main" val="270093224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Since flow is our ultimate goal, we want to look for flow opportunities early in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color green on the slide is used to distinguish changes made per the question on this slide versus changes we added previously.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the case of NHC, Data Entry and Underwrite have similar </a:t>
            </a:r>
            <a:br>
              <a:rPr lang="en-US" altLang="ja-JP" dirty="0">
                <a:latin typeface="Arial" panose="020B0604020202020204" pitchFamily="34" charset="0"/>
                <a:cs typeface="Arial" panose="020B0604020202020204" pitchFamily="34" charset="0"/>
              </a:rPr>
            </a:br>
            <a:r>
              <a:rPr lang="en-US" altLang="ja-JP" dirty="0">
                <a:latin typeface="Arial" panose="020B0604020202020204" pitchFamily="34" charset="0"/>
                <a:cs typeface="Arial" panose="020B0604020202020204" pitchFamily="34" charset="0"/>
              </a:rPr>
              <a:t>processing times and each has a multiple operators. Combining them eliminates the inventory between them.</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spcBef>
                <a:spcPct val="0"/>
              </a:spcBef>
              <a:spcAft>
                <a:spcPct val="50000"/>
              </a:spcAft>
            </a:pP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90</a:t>
            </a:fld>
            <a:endParaRPr lang="en-US"/>
          </a:p>
        </p:txBody>
      </p:sp>
    </p:spTree>
    <p:extLst>
      <p:ext uri="{BB962C8B-B14F-4D97-AF65-F5344CB8AC3E}">
        <p14:creationId xmlns:p14="http://schemas.microsoft.com/office/powerpoint/2010/main" val="356556277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your turn to mark up your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91</a:t>
            </a:fld>
            <a:endParaRPr lang="en-US"/>
          </a:p>
        </p:txBody>
      </p:sp>
    </p:spTree>
    <p:extLst>
      <p:ext uri="{BB962C8B-B14F-4D97-AF65-F5344CB8AC3E}">
        <p14:creationId xmlns:p14="http://schemas.microsoft.com/office/powerpoint/2010/main" val="392521484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are going to talk about an improvement for managing inventory in transactional processes. We are going to call this Visual Queue Management.</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92</a:t>
            </a:fld>
            <a:endParaRPr lang="en-US"/>
          </a:p>
        </p:txBody>
      </p:sp>
    </p:spTree>
    <p:extLst>
      <p:ext uri="{BB962C8B-B14F-4D97-AF65-F5344CB8AC3E}">
        <p14:creationId xmlns:p14="http://schemas.microsoft.com/office/powerpoint/2010/main" val="188622190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cs typeface="Arial" panose="020B0604020202020204" pitchFamily="34" charset="0"/>
              </a:rPr>
              <a:t>1 - Flow in administrative processes – flow through sequential process </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steps without the </a:t>
            </a:r>
            <a:r>
              <a:rPr lang="en-US" altLang="en-US" dirty="0" err="1">
                <a:latin typeface="Arial" panose="020B0604020202020204" pitchFamily="34" charset="0"/>
                <a:cs typeface="Arial" panose="020B0604020202020204" pitchFamily="34" charset="0"/>
              </a:rPr>
              <a:t>oppty</a:t>
            </a:r>
            <a:r>
              <a:rPr lang="en-US" altLang="en-US" dirty="0">
                <a:latin typeface="Arial" panose="020B0604020202020204" pitchFamily="34" charset="0"/>
                <a:cs typeface="Arial" panose="020B0604020202020204" pitchFamily="34" charset="0"/>
              </a:rPr>
              <a:t> to accumulate a queue in between</a:t>
            </a:r>
          </a:p>
          <a:p>
            <a:pPr eaLnBrk="1" hangingPunct="1"/>
            <a:r>
              <a:rPr lang="en-US" altLang="en-US" dirty="0">
                <a:latin typeface="Arial" panose="020B0604020202020204" pitchFamily="34" charset="0"/>
                <a:cs typeface="Arial" panose="020B0604020202020204" pitchFamily="34" charset="0"/>
              </a:rPr>
              <a:t>2 - Where you can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flow – pull is almost never possible due to the nature of the process and because customer</a:t>
            </a:r>
            <a:br>
              <a:rPr lang="en-US" altLang="ja-JP" dirty="0">
                <a:latin typeface="Arial" panose="020B0604020202020204" pitchFamily="34" charset="0"/>
                <a:cs typeface="Arial" panose="020B0604020202020204" pitchFamily="34" charset="0"/>
              </a:rPr>
            </a:br>
            <a:r>
              <a:rPr lang="en-US" altLang="ja-JP" dirty="0">
                <a:latin typeface="Arial" panose="020B0604020202020204" pitchFamily="34" charset="0"/>
                <a:cs typeface="Arial" panose="020B0604020202020204" pitchFamily="34" charset="0"/>
              </a:rPr>
              <a:t>transactions are customer specific.</a:t>
            </a:r>
          </a:p>
          <a:p>
            <a:pPr eaLnBrk="1" hangingPunct="1"/>
            <a:r>
              <a:rPr lang="en-US" altLang="en-US" dirty="0">
                <a:latin typeface="Arial" panose="020B0604020202020204" pitchFamily="34" charset="0"/>
                <a:cs typeface="Arial" panose="020B0604020202020204" pitchFamily="34" charset="0"/>
              </a:rPr>
              <a:t>3 - Then we talk about batch – what is our objective. We want to push as</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 fast and as hard as we can and do</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queue management. If I have visual queue </a:t>
            </a:r>
            <a:r>
              <a:rPr lang="en-US" altLang="en-US" dirty="0" err="1">
                <a:latin typeface="Arial" panose="020B0604020202020204" pitchFamily="34" charset="0"/>
                <a:cs typeface="Arial" panose="020B0604020202020204" pitchFamily="34" charset="0"/>
              </a:rPr>
              <a:t>mgmt</a:t>
            </a:r>
            <a:r>
              <a:rPr lang="en-US" altLang="en-US" dirty="0">
                <a:latin typeface="Arial" panose="020B0604020202020204" pitchFamily="34" charset="0"/>
                <a:cs typeface="Arial" panose="020B0604020202020204" pitchFamily="34" charset="0"/>
              </a:rPr>
              <a:t> over all the queues </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in the process. I can accelerate the process</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Then talk about techniques to manage queues (adding resources, </a:t>
            </a:r>
            <a:r>
              <a:rPr lang="en-US" altLang="en-US" dirty="0" err="1">
                <a:latin typeface="Arial" panose="020B0604020202020204" pitchFamily="34" charset="0"/>
                <a:cs typeface="Arial" panose="020B0604020202020204" pitchFamily="34" charset="0"/>
              </a:rPr>
              <a:t>etc</a:t>
            </a:r>
            <a:r>
              <a:rPr lang="en-US" altLang="en-US" dirty="0">
                <a:latin typeface="Arial" panose="020B0604020202020204" pitchFamily="34" charset="0"/>
                <a:cs typeface="Arial" panose="020B0604020202020204" pitchFamily="34" charset="0"/>
              </a:rPr>
              <a:t>)</a:t>
            </a:r>
          </a:p>
          <a:p>
            <a:pPr eaLnBrk="1" hangingPunct="1"/>
            <a:r>
              <a:rPr lang="en-US" altLang="en-US" dirty="0">
                <a:latin typeface="Arial" panose="020B0604020202020204" pitchFamily="34" charset="0"/>
                <a:cs typeface="Arial" panose="020B0604020202020204" pitchFamily="34" charset="0"/>
              </a:rPr>
              <a:t>Talk about techniques to manage queues (</a:t>
            </a:r>
            <a:r>
              <a:rPr lang="en-US" altLang="en-US" dirty="0" err="1">
                <a:latin typeface="Arial" panose="020B0604020202020204" pitchFamily="34" charset="0"/>
                <a:cs typeface="Arial" panose="020B0604020202020204" pitchFamily="34" charset="0"/>
              </a:rPr>
              <a:t>ie</a:t>
            </a:r>
            <a:r>
              <a:rPr lang="en-US" altLang="en-US" dirty="0">
                <a:latin typeface="Arial" panose="020B0604020202020204" pitchFamily="34" charset="0"/>
                <a:cs typeface="Arial" panose="020B0604020202020204" pitchFamily="34" charset="0"/>
              </a:rPr>
              <a:t>: adding resources, etc.)</a:t>
            </a: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93</a:t>
            </a:fld>
            <a:endParaRPr lang="en-US"/>
          </a:p>
        </p:txBody>
      </p:sp>
    </p:spTree>
    <p:extLst>
      <p:ext uri="{BB962C8B-B14F-4D97-AF65-F5344CB8AC3E}">
        <p14:creationId xmlns:p14="http://schemas.microsoft.com/office/powerpoint/2010/main" val="144180070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Some point on visually managing queues: </a:t>
            </a:r>
          </a:p>
          <a:p>
            <a:pPr eaLnBrk="1" hangingPunct="1"/>
            <a:r>
              <a:rPr lang="en-US" altLang="en-US" dirty="0">
                <a:latin typeface="Arial" panose="020B0604020202020204" pitchFamily="34" charset="0"/>
                <a:cs typeface="Arial" panose="020B0604020202020204" pitchFamily="34" charset="0"/>
              </a:rPr>
              <a:t>(1) Visually managed queues are created at the point of production (not consumption).</a:t>
            </a:r>
          </a:p>
          <a:p>
            <a:pPr eaLnBrk="1" hangingPunct="1"/>
            <a:r>
              <a:rPr lang="en-US" altLang="en-US" dirty="0">
                <a:latin typeface="Arial" panose="020B0604020202020204" pitchFamily="34" charset="0"/>
                <a:cs typeface="Arial" panose="020B0604020202020204" pitchFamily="34" charset="0"/>
              </a:rPr>
              <a:t>(2) Items are dispatched by the consuming downstream process.</a:t>
            </a:r>
          </a:p>
          <a:p>
            <a:pPr eaLnBrk="1" hangingPunct="1"/>
            <a:r>
              <a:rPr lang="en-US" altLang="en-US" dirty="0">
                <a:latin typeface="Arial" panose="020B0604020202020204" pitchFamily="34" charset="0"/>
                <a:cs typeface="Arial" panose="020B0604020202020204" pitchFamily="34" charset="0"/>
              </a:rPr>
              <a:t>(3) Queues are replenished by the upstream department</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 as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VALUE OBJECTs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are completed.</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lnSpc>
                <a:spcPct val="115000"/>
              </a:lnSpc>
              <a:spcBef>
                <a:spcPct val="0"/>
              </a:spcBef>
              <a:spcAft>
                <a:spcPct val="50000"/>
              </a:spcAft>
            </a:pPr>
            <a:endParaRPr lang="en-US" altLang="en-US" dirty="0">
              <a:latin typeface="Arial" panose="020B0604020202020204" pitchFamily="34" charset="0"/>
              <a:cs typeface="Arial" panose="020B0604020202020204" pitchFamily="34" charset="0"/>
            </a:endParaRPr>
          </a:p>
          <a:p>
            <a:pPr eaLnBrk="1" hangingPunct="1">
              <a:lnSpc>
                <a:spcPct val="115000"/>
              </a:lnSpc>
              <a:spcBef>
                <a:spcPct val="0"/>
              </a:spcBef>
              <a:spcAft>
                <a:spcPct val="50000"/>
              </a:spcAft>
            </a:pPr>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Reason for adding Visual Controls for inventory before Receipt is so that you can staff accordingly depending on demand.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94</a:t>
            </a:fld>
            <a:endParaRPr lang="en-US"/>
          </a:p>
        </p:txBody>
      </p:sp>
    </p:spTree>
    <p:extLst>
      <p:ext uri="{BB962C8B-B14F-4D97-AF65-F5344CB8AC3E}">
        <p14:creationId xmlns:p14="http://schemas.microsoft.com/office/powerpoint/2010/main" val="344001042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Now add your visually managed queues to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95</a:t>
            </a:fld>
            <a:endParaRPr lang="en-US"/>
          </a:p>
        </p:txBody>
      </p:sp>
    </p:spTree>
    <p:extLst>
      <p:ext uri="{BB962C8B-B14F-4D97-AF65-F5344CB8AC3E}">
        <p14:creationId xmlns:p14="http://schemas.microsoft.com/office/powerpoint/2010/main" val="284143266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Next we look for manpower improvement opportunities.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96</a:t>
            </a:fld>
            <a:endParaRPr lang="en-US"/>
          </a:p>
        </p:txBody>
      </p:sp>
    </p:spTree>
    <p:extLst>
      <p:ext uri="{BB962C8B-B14F-4D97-AF65-F5344CB8AC3E}">
        <p14:creationId xmlns:p14="http://schemas.microsoft.com/office/powerpoint/2010/main" val="186688581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It is important to note that we should never make any manpower decisions based on a Value Stream Map. Improvement ideas should surface – but then get proven in a later kaizen event.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the case of NHC, it appears that staffing can be reduced by one in Receipt due to the very low processing/DOI vs. Takt Time. There also may be opportunities further downstream in the Underwrite and Package Generation processes.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97</a:t>
            </a:fld>
            <a:endParaRPr lang="en-US"/>
          </a:p>
        </p:txBody>
      </p:sp>
    </p:spTree>
    <p:extLst>
      <p:ext uri="{BB962C8B-B14F-4D97-AF65-F5344CB8AC3E}">
        <p14:creationId xmlns:p14="http://schemas.microsoft.com/office/powerpoint/2010/main" val="320763748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Draw your manpower improvement opportunities on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98</a:t>
            </a:fld>
            <a:endParaRPr lang="en-US"/>
          </a:p>
        </p:txBody>
      </p:sp>
    </p:spTree>
    <p:extLst>
      <p:ext uri="{BB962C8B-B14F-4D97-AF65-F5344CB8AC3E}">
        <p14:creationId xmlns:p14="http://schemas.microsoft.com/office/powerpoint/2010/main" val="208606634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take a look at which processes need quality improvements.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99</a:t>
            </a:fld>
            <a:endParaRPr lang="en-US"/>
          </a:p>
        </p:txBody>
      </p:sp>
    </p:spTree>
    <p:extLst>
      <p:ext uri="{BB962C8B-B14F-4D97-AF65-F5344CB8AC3E}">
        <p14:creationId xmlns:p14="http://schemas.microsoft.com/office/powerpoint/2010/main" val="211074095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Quality is measured by First-Pass Yield (%) for every process.</a:t>
            </a:r>
          </a:p>
          <a:p>
            <a:pPr eaLnBrk="1" hangingPunct="1"/>
            <a:r>
              <a:rPr lang="en-US" altLang="en-US" dirty="0">
                <a:latin typeface="Arial" panose="020B0604020202020204" pitchFamily="34" charset="0"/>
                <a:cs typeface="Arial" panose="020B0604020202020204" pitchFamily="34" charset="0"/>
              </a:rPr>
              <a:t>All defects are waste which:</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Consume materials (scrap) and people (rework)</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Reduce process capacity</a:t>
            </a:r>
            <a:br>
              <a:rPr lang="en-US" altLang="en-US" dirty="0">
                <a:latin typeface="Arial" panose="020B0604020202020204" pitchFamily="34" charset="0"/>
                <a:cs typeface="Arial" panose="020B0604020202020204" pitchFamily="34" charset="0"/>
              </a:rPr>
            </a:br>
            <a:r>
              <a:rPr lang="en-US" altLang="en-US" dirty="0">
                <a:latin typeface="Arial" panose="020B0604020202020204" pitchFamily="34" charset="0"/>
                <a:cs typeface="Arial" panose="020B0604020202020204" pitchFamily="34" charset="0"/>
              </a:rPr>
              <a:t>Inhibit Continuous Flow</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the case of NHC, the quality issue in Data Entry, if not </a:t>
            </a:r>
            <a:br>
              <a:rPr lang="en-US" altLang="ja-JP" dirty="0">
                <a:latin typeface="Arial" panose="020B0604020202020204" pitchFamily="34" charset="0"/>
                <a:cs typeface="Arial" panose="020B0604020202020204" pitchFamily="34" charset="0"/>
              </a:rPr>
            </a:br>
            <a:r>
              <a:rPr lang="en-US" altLang="ja-JP" dirty="0">
                <a:latin typeface="Arial" panose="020B0604020202020204" pitchFamily="34" charset="0"/>
                <a:cs typeface="Arial" panose="020B0604020202020204" pitchFamily="34" charset="0"/>
              </a:rPr>
              <a:t>addressed, will prevent successful continuous flow.</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Define </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poka</a:t>
            </a:r>
            <a:r>
              <a:rPr lang="en-US" altLang="ja-JP" dirty="0">
                <a:latin typeface="Arial" panose="020B0604020202020204" pitchFamily="34" charset="0"/>
                <a:cs typeface="Arial" panose="020B0604020202020204" pitchFamily="34" charset="0"/>
              </a:rPr>
              <a:t> yoke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 means to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mistake proof</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the process so that a defect is not able to be passed on to the next step. </a:t>
            </a:r>
          </a:p>
          <a:p>
            <a:pPr lvl="1" eaLnBrk="1" hangingPunct="1">
              <a:spcBef>
                <a:spcPct val="0"/>
              </a:spcBef>
              <a:spcAft>
                <a:spcPct val="50000"/>
              </a:spcAft>
              <a:buFontTx/>
              <a:buNone/>
            </a:pPr>
            <a:endParaRPr lang="en-US" altLang="en-US" dirty="0">
              <a:latin typeface="Arial" panose="020B0604020202020204" pitchFamily="34" charset="0"/>
              <a:ea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100</a:t>
            </a:fld>
            <a:endParaRPr lang="en-US" dirty="0"/>
          </a:p>
        </p:txBody>
      </p:sp>
    </p:spTree>
    <p:extLst>
      <p:ext uri="{BB962C8B-B14F-4D97-AF65-F5344CB8AC3E}">
        <p14:creationId xmlns:p14="http://schemas.microsoft.com/office/powerpoint/2010/main" val="242566234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Draw the quality improvement on your maps.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Who can define poka-yoke?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(answer: means to mistake-proof, not allowing the process to pass on a defect to the next step)</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101</a:t>
            </a:fld>
            <a:endParaRPr lang="en-US" dirty="0"/>
          </a:p>
        </p:txBody>
      </p:sp>
    </p:spTree>
    <p:extLst>
      <p:ext uri="{BB962C8B-B14F-4D97-AF65-F5344CB8AC3E}">
        <p14:creationId xmlns:p14="http://schemas.microsoft.com/office/powerpoint/2010/main" val="216297583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Next we look for other information flow improvements we can make.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102</a:t>
            </a:fld>
            <a:endParaRPr lang="en-US" dirty="0"/>
          </a:p>
        </p:txBody>
      </p:sp>
    </p:spTree>
    <p:extLst>
      <p:ext uri="{BB962C8B-B14F-4D97-AF65-F5344CB8AC3E}">
        <p14:creationId xmlns:p14="http://schemas.microsoft.com/office/powerpoint/2010/main" val="248257654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103</a:t>
            </a:fld>
            <a:endParaRPr lang="en-US" dirty="0"/>
          </a:p>
        </p:txBody>
      </p:sp>
    </p:spTree>
    <p:extLst>
      <p:ext uri="{BB962C8B-B14F-4D97-AF65-F5344CB8AC3E}">
        <p14:creationId xmlns:p14="http://schemas.microsoft.com/office/powerpoint/2010/main" val="428494562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have a catch-all question for anything else that might be remaining.</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104</a:t>
            </a:fld>
            <a:endParaRPr lang="en-US" dirty="0"/>
          </a:p>
        </p:txBody>
      </p:sp>
    </p:spTree>
    <p:extLst>
      <p:ext uri="{BB962C8B-B14F-4D97-AF65-F5344CB8AC3E}">
        <p14:creationId xmlns:p14="http://schemas.microsoft.com/office/powerpoint/2010/main" val="170443554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improvement on slide.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105</a:t>
            </a:fld>
            <a:endParaRPr lang="en-US" dirty="0"/>
          </a:p>
        </p:txBody>
      </p:sp>
    </p:spTree>
    <p:extLst>
      <p:ext uri="{BB962C8B-B14F-4D97-AF65-F5344CB8AC3E}">
        <p14:creationId xmlns:p14="http://schemas.microsoft.com/office/powerpoint/2010/main" val="138683014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Make final mark-up to your maps. Now you have a completed, marked-up Current State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106</a:t>
            </a:fld>
            <a:endParaRPr lang="en-US" dirty="0"/>
          </a:p>
        </p:txBody>
      </p:sp>
    </p:spTree>
    <p:extLst>
      <p:ext uri="{BB962C8B-B14F-4D97-AF65-F5344CB8AC3E}">
        <p14:creationId xmlns:p14="http://schemas.microsoft.com/office/powerpoint/2010/main" val="427553968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mapping long value streams, it is also acceptable to label each burst with a number and then separately detail on a </a:t>
            </a:r>
            <a:r>
              <a:rPr lang="en-US" altLang="ja-JP" dirty="0" err="1">
                <a:latin typeface="Arial" panose="020B0604020202020204" pitchFamily="34" charset="0"/>
                <a:cs typeface="Arial" panose="020B0604020202020204" pitchFamily="34" charset="0"/>
              </a:rPr>
              <a:t>chartpaper</a:t>
            </a:r>
            <a:r>
              <a:rPr lang="en-US" altLang="ja-JP" dirty="0">
                <a:latin typeface="Arial" panose="020B0604020202020204" pitchFamily="34" charset="0"/>
                <a:cs typeface="Arial" panose="020B0604020202020204" pitchFamily="34" charset="0"/>
              </a:rPr>
              <a:t> or poster each number with its description. You can later transfer this to your Value Stream Plan.</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107</a:t>
            </a:fld>
            <a:endParaRPr lang="en-US" dirty="0"/>
          </a:p>
        </p:txBody>
      </p:sp>
    </p:spTree>
    <p:extLst>
      <p:ext uri="{BB962C8B-B14F-4D97-AF65-F5344CB8AC3E}">
        <p14:creationId xmlns:p14="http://schemas.microsoft.com/office/powerpoint/2010/main" val="364724893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repeat this exercise again in your small groups for Carl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Credit Cards. Please take 10 minutes to review your current state maps and mark up with improvement opportunities. Use the Interrogation Questions (in order) on the slide as your guide.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108</a:t>
            </a:fld>
            <a:endParaRPr lang="en-US" dirty="0"/>
          </a:p>
        </p:txBody>
      </p:sp>
    </p:spTree>
    <p:extLst>
      <p:ext uri="{BB962C8B-B14F-4D97-AF65-F5344CB8AC3E}">
        <p14:creationId xmlns:p14="http://schemas.microsoft.com/office/powerpoint/2010/main" val="146357942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dirty="0">
                <a:latin typeface="Arial" panose="020B0604020202020204" pitchFamily="34" charset="0"/>
                <a:cs typeface="Arial" panose="020B0604020202020204" pitchFamily="34" charset="0"/>
              </a:rPr>
              <a:t>NOTE: Some best practices include: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When writing data on post-it notes, it is best to start in pencil and then trace with black marker</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ea typeface="Arial" panose="020B0604020202020204" pitchFamily="34" charset="0"/>
                <a:cs typeface="Arial" panose="020B0604020202020204" pitchFamily="34" charset="0"/>
              </a:rPr>
            </a:br>
            <a:endParaRPr lang="en-US" altLang="en-US" dirty="0">
              <a:latin typeface="Arial" panose="020B0604020202020204" pitchFamily="34" charset="0"/>
              <a:ea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109</a:t>
            </a:fld>
            <a:endParaRPr lang="en-US"/>
          </a:p>
        </p:txBody>
      </p:sp>
    </p:spTree>
    <p:extLst>
      <p:ext uri="{BB962C8B-B14F-4D97-AF65-F5344CB8AC3E}">
        <p14:creationId xmlns:p14="http://schemas.microsoft.com/office/powerpoint/2010/main" val="122178320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slide.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110</a:t>
            </a:fld>
            <a:endParaRPr lang="en-US"/>
          </a:p>
        </p:txBody>
      </p:sp>
    </p:spTree>
    <p:extLst>
      <p:ext uri="{BB962C8B-B14F-4D97-AF65-F5344CB8AC3E}">
        <p14:creationId xmlns:p14="http://schemas.microsoft.com/office/powerpoint/2010/main" val="124813250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slide.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111</a:t>
            </a:fld>
            <a:endParaRPr lang="en-US" dirty="0"/>
          </a:p>
        </p:txBody>
      </p:sp>
    </p:spTree>
    <p:extLst>
      <p:ext uri="{BB962C8B-B14F-4D97-AF65-F5344CB8AC3E}">
        <p14:creationId xmlns:p14="http://schemas.microsoft.com/office/powerpoint/2010/main" val="164358313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about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so what is the value in identifying improvements in the manner that we have – with Value Stream Mapping?</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Creating the Future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3-4 Packs of Post-It Notes</a:t>
            </a: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112</a:t>
            </a:fld>
            <a:endParaRPr lang="en-US"/>
          </a:p>
        </p:txBody>
      </p:sp>
    </p:spTree>
    <p:extLst>
      <p:ext uri="{BB962C8B-B14F-4D97-AF65-F5344CB8AC3E}">
        <p14:creationId xmlns:p14="http://schemas.microsoft.com/office/powerpoint/2010/main" val="408212213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steps to creating the Future State Map.</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participants will NOT continue the drawing exercise for NHC on 11x17</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paper.</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113</a:t>
            </a:fld>
            <a:endParaRPr lang="en-US" dirty="0"/>
          </a:p>
        </p:txBody>
      </p:sp>
    </p:spTree>
    <p:extLst>
      <p:ext uri="{BB962C8B-B14F-4D97-AF65-F5344CB8AC3E}">
        <p14:creationId xmlns:p14="http://schemas.microsoft.com/office/powerpoint/2010/main" val="294566202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First we start with our marked up Current State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114</a:t>
            </a:fld>
            <a:endParaRPr lang="en-US" dirty="0"/>
          </a:p>
        </p:txBody>
      </p:sp>
    </p:spTree>
    <p:extLst>
      <p:ext uri="{BB962C8B-B14F-4D97-AF65-F5344CB8AC3E}">
        <p14:creationId xmlns:p14="http://schemas.microsoft.com/office/powerpoint/2010/main" val="247157010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115</a:t>
            </a:fld>
            <a:endParaRPr lang="en-US" dirty="0"/>
          </a:p>
        </p:txBody>
      </p:sp>
    </p:spTree>
    <p:extLst>
      <p:ext uri="{BB962C8B-B14F-4D97-AF65-F5344CB8AC3E}">
        <p14:creationId xmlns:p14="http://schemas.microsoft.com/office/powerpoint/2010/main" val="172891833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Then we draw the pieces of the map that are still the same.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116</a:t>
            </a:fld>
            <a:endParaRPr lang="en-US" dirty="0"/>
          </a:p>
        </p:txBody>
      </p:sp>
    </p:spTree>
    <p:extLst>
      <p:ext uri="{BB962C8B-B14F-4D97-AF65-F5344CB8AC3E}">
        <p14:creationId xmlns:p14="http://schemas.microsoft.com/office/powerpoint/2010/main" val="2638860084"/>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117</a:t>
            </a:fld>
            <a:endParaRPr lang="en-US" dirty="0"/>
          </a:p>
        </p:txBody>
      </p:sp>
    </p:spTree>
    <p:extLst>
      <p:ext uri="{BB962C8B-B14F-4D97-AF65-F5344CB8AC3E}">
        <p14:creationId xmlns:p14="http://schemas.microsoft.com/office/powerpoint/2010/main" val="175136519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the next few steps really just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fall out</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of the Current State Map that we just marked up.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118</a:t>
            </a:fld>
            <a:endParaRPr lang="en-US" dirty="0"/>
          </a:p>
        </p:txBody>
      </p:sp>
    </p:spTree>
    <p:extLst>
      <p:ext uri="{BB962C8B-B14F-4D97-AF65-F5344CB8AC3E}">
        <p14:creationId xmlns:p14="http://schemas.microsoft.com/office/powerpoint/2010/main" val="272333156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the points on the slide to create the new process box from combination of previous process boxes.</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Quality reflects the expected percentage after the completed Poka Yoke kaizens to the Data Entry and Underwriting processes.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119</a:t>
            </a:fld>
            <a:endParaRPr lang="en-US" dirty="0"/>
          </a:p>
        </p:txBody>
      </p:sp>
    </p:spTree>
    <p:extLst>
      <p:ext uri="{BB962C8B-B14F-4D97-AF65-F5344CB8AC3E}">
        <p14:creationId xmlns:p14="http://schemas.microsoft.com/office/powerpoint/2010/main" val="164358256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add in our Visual Queue Management areas.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120</a:t>
            </a:fld>
            <a:endParaRPr lang="en-US" dirty="0"/>
          </a:p>
        </p:txBody>
      </p:sp>
    </p:spTree>
    <p:extLst>
      <p:ext uri="{BB962C8B-B14F-4D97-AF65-F5344CB8AC3E}">
        <p14:creationId xmlns:p14="http://schemas.microsoft.com/office/powerpoint/2010/main" val="130497202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Point out to the class the changes in lead-time by adding the Visual </a:t>
            </a:r>
            <a:r>
              <a:rPr lang="en-US" altLang="en-US" dirty="0" err="1">
                <a:latin typeface="Arial" panose="020B0604020202020204" pitchFamily="34" charset="0"/>
                <a:cs typeface="Arial" panose="020B0604020202020204" pitchFamily="34" charset="0"/>
              </a:rPr>
              <a:t>Mgmt</a:t>
            </a:r>
            <a:r>
              <a:rPr lang="en-US" altLang="en-US" dirty="0">
                <a:latin typeface="Arial" panose="020B0604020202020204" pitchFamily="34" charset="0"/>
                <a:cs typeface="Arial" panose="020B0604020202020204" pitchFamily="34" charset="0"/>
              </a:rPr>
              <a:t> queue areas as well as explain where the set numbers in queue came from.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121</a:t>
            </a:fld>
            <a:endParaRPr lang="en-US" dirty="0"/>
          </a:p>
        </p:txBody>
      </p:sp>
    </p:spTree>
    <p:extLst>
      <p:ext uri="{BB962C8B-B14F-4D97-AF65-F5344CB8AC3E}">
        <p14:creationId xmlns:p14="http://schemas.microsoft.com/office/powerpoint/2010/main" val="40394230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Now we total our new Lead Time and Processing Time.</a:t>
            </a:r>
          </a:p>
        </p:txBody>
      </p:sp>
      <p:sp>
        <p:nvSpPr>
          <p:cNvPr id="4" name="Slide Number Placeholder 3"/>
          <p:cNvSpPr>
            <a:spLocks noGrp="1"/>
          </p:cNvSpPr>
          <p:nvPr>
            <p:ph type="sldNum" sz="quarter" idx="5"/>
          </p:nvPr>
        </p:nvSpPr>
        <p:spPr/>
        <p:txBody>
          <a:bodyPr/>
          <a:lstStyle/>
          <a:p>
            <a:fld id="{AECD8548-F1A2-4EDF-A416-5F2BB6B8F64C}" type="slidenum">
              <a:rPr lang="en-US" smtClean="0"/>
              <a:t>122</a:t>
            </a:fld>
            <a:endParaRPr lang="en-US" dirty="0"/>
          </a:p>
        </p:txBody>
      </p:sp>
    </p:spTree>
    <p:extLst>
      <p:ext uri="{BB962C8B-B14F-4D97-AF65-F5344CB8AC3E}">
        <p14:creationId xmlns:p14="http://schemas.microsoft.com/office/powerpoint/2010/main" val="214897096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123</a:t>
            </a:fld>
            <a:endParaRPr lang="en-US" dirty="0"/>
          </a:p>
        </p:txBody>
      </p:sp>
    </p:spTree>
    <p:extLst>
      <p:ext uri="{BB962C8B-B14F-4D97-AF65-F5344CB8AC3E}">
        <p14:creationId xmlns:p14="http://schemas.microsoft.com/office/powerpoint/2010/main" val="17730546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identify loops on the map. Let</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define what we mean by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loops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124</a:t>
            </a:fld>
            <a:endParaRPr lang="en-US" dirty="0"/>
          </a:p>
        </p:txBody>
      </p:sp>
    </p:spTree>
    <p:extLst>
      <p:ext uri="{BB962C8B-B14F-4D97-AF65-F5344CB8AC3E}">
        <p14:creationId xmlns:p14="http://schemas.microsoft.com/office/powerpoint/2010/main" val="387719721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points on the slide defining loops.</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Loops, or logical groupings of improvements,  are identified on the map on the next slide.  A key is to recognize that the order in which we attack the loops should be driven by the question which order helps the customer soonest/biggest?  Thinking that way should automatically benefit our internal interests such as ROI, etc.</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125</a:t>
            </a:fld>
            <a:endParaRPr lang="en-US"/>
          </a:p>
        </p:txBody>
      </p:sp>
    </p:spTree>
    <p:extLst>
      <p:ext uri="{BB962C8B-B14F-4D97-AF65-F5344CB8AC3E}">
        <p14:creationId xmlns:p14="http://schemas.microsoft.com/office/powerpoint/2010/main" val="191210438"/>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NHC chose the loops of Application, Decision, and Communication – because they were the most logical combinations of improvements needing to be made. Now when they plan their actions, they will be able to prioritize by loop and then further prioritize and sequence the needed actions within the loop.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126</a:t>
            </a:fld>
            <a:endParaRPr lang="en-US" dirty="0"/>
          </a:p>
        </p:txBody>
      </p:sp>
    </p:spTree>
    <p:extLst>
      <p:ext uri="{BB962C8B-B14F-4D97-AF65-F5344CB8AC3E}">
        <p14:creationId xmlns:p14="http://schemas.microsoft.com/office/powerpoint/2010/main" val="167512449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And now you have a completed Future State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127</a:t>
            </a:fld>
            <a:endParaRPr lang="en-US" dirty="0"/>
          </a:p>
        </p:txBody>
      </p:sp>
    </p:spTree>
    <p:extLst>
      <p:ext uri="{BB962C8B-B14F-4D97-AF65-F5344CB8AC3E}">
        <p14:creationId xmlns:p14="http://schemas.microsoft.com/office/powerpoint/2010/main" val="19741793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Developing the Value Stream Plan.</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Value Stream Plan Excel File</a:t>
            </a: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128</a:t>
            </a:fld>
            <a:endParaRPr lang="en-US"/>
          </a:p>
        </p:txBody>
      </p:sp>
    </p:spTree>
    <p:extLst>
      <p:ext uri="{BB962C8B-B14F-4D97-AF65-F5344CB8AC3E}">
        <p14:creationId xmlns:p14="http://schemas.microsoft.com/office/powerpoint/2010/main" val="23729727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Without the Value Stream Plan there is no improvement to the business. The Future State Map is only a guide… it is with the fulfillment of the Value Stream Plan that actual business improvements are realized.</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129</a:t>
            </a:fld>
            <a:endParaRPr lang="en-US"/>
          </a:p>
        </p:txBody>
      </p:sp>
    </p:spTree>
    <p:extLst>
      <p:ext uri="{BB962C8B-B14F-4D97-AF65-F5344CB8AC3E}">
        <p14:creationId xmlns:p14="http://schemas.microsoft.com/office/powerpoint/2010/main" val="409615225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Remember the Future State timeline in the charter – should not go out further than the dates of targets set by your companies strategic planning process.  In the case of new Lean Transformation efforts it frequently does not go out more than one year.</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130</a:t>
            </a:fld>
            <a:endParaRPr lang="en-US"/>
          </a:p>
        </p:txBody>
      </p:sp>
    </p:spTree>
    <p:extLst>
      <p:ext uri="{BB962C8B-B14F-4D97-AF65-F5344CB8AC3E}">
        <p14:creationId xmlns:p14="http://schemas.microsoft.com/office/powerpoint/2010/main" val="352554363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 </a:t>
            </a:r>
            <a:r>
              <a:rPr lang="ja-JP" altLang="en-US" b="1"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Here is where we take both our Future State Map and our Marked Up Current State Map and identify the priority and sequence of Loops to be worked on as well as the specific activities inside each loop. Note that there many not always be a one-to-one correspondence for each burst. One burst may have several objectives.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131</a:t>
            </a:fld>
            <a:endParaRPr lang="en-US"/>
          </a:p>
        </p:txBody>
      </p:sp>
    </p:spTree>
    <p:extLst>
      <p:ext uri="{BB962C8B-B14F-4D97-AF65-F5344CB8AC3E}">
        <p14:creationId xmlns:p14="http://schemas.microsoft.com/office/powerpoint/2010/main" val="34496113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80000"/>
              </a:lnSpc>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fields of the Value Stream Plan.</a:t>
            </a:r>
          </a:p>
          <a:p>
            <a:pPr eaLnBrk="1" hangingPunct="1">
              <a:lnSpc>
                <a:spcPct val="80000"/>
              </a:lnSpc>
            </a:pPr>
            <a:r>
              <a:rPr lang="en-US" altLang="en-US" sz="1200" dirty="0">
                <a:latin typeface="Arial" panose="020B0604020202020204" pitchFamily="34" charset="0"/>
                <a:cs typeface="Arial" panose="020B0604020202020204" pitchFamily="34" charset="0"/>
              </a:rPr>
              <a:t>Document Product Family and Value Stream – this clearly identifies which products are included in the VS Plan and specifies the scope.</a:t>
            </a:r>
          </a:p>
          <a:p>
            <a:pPr eaLnBrk="1" hangingPunct="1">
              <a:lnSpc>
                <a:spcPct val="80000"/>
              </a:lnSpc>
            </a:pPr>
            <a:r>
              <a:rPr lang="en-US" altLang="en-US" sz="1200" dirty="0">
                <a:latin typeface="Arial" panose="020B0604020202020204" pitchFamily="34" charset="0"/>
                <a:cs typeface="Arial" panose="020B0604020202020204" pitchFamily="34" charset="0"/>
              </a:rPr>
              <a:t>Dates: Identify the date the plan was established and the date the improvement efforts will kick off.</a:t>
            </a:r>
          </a:p>
          <a:p>
            <a:pPr eaLnBrk="1" hangingPunct="1">
              <a:lnSpc>
                <a:spcPct val="80000"/>
              </a:lnSpc>
            </a:pPr>
            <a:r>
              <a:rPr lang="en-US" altLang="en-US" sz="1200" dirty="0">
                <a:latin typeface="Arial" panose="020B0604020202020204" pitchFamily="34" charset="0"/>
                <a:cs typeface="Arial" panose="020B0604020202020204" pitchFamily="34" charset="0"/>
              </a:rPr>
              <a:t>Business Objective: Succinctly state the objective of moving to the Future State</a:t>
            </a:r>
          </a:p>
          <a:p>
            <a:pPr eaLnBrk="1" hangingPunct="1">
              <a:lnSpc>
                <a:spcPct val="80000"/>
              </a:lnSpc>
            </a:pPr>
            <a:r>
              <a:rPr lang="en-US" altLang="en-US" sz="1200" dirty="0">
                <a:latin typeface="Arial" panose="020B0604020202020204" pitchFamily="34" charset="0"/>
                <a:cs typeface="Arial" panose="020B0604020202020204" pitchFamily="34" charset="0"/>
              </a:rPr>
              <a:t>Value Stream </a:t>
            </a:r>
            <a:r>
              <a:rPr lang="en-US" altLang="en-US" sz="1200" dirty="0" err="1">
                <a:latin typeface="Arial" panose="020B0604020202020204" pitchFamily="34" charset="0"/>
                <a:cs typeface="Arial" panose="020B0604020202020204" pitchFamily="34" charset="0"/>
              </a:rPr>
              <a:t>Mgr</a:t>
            </a:r>
            <a:r>
              <a:rPr lang="en-US" altLang="en-US" sz="1200" dirty="0">
                <a:latin typeface="Arial" panose="020B0604020202020204" pitchFamily="34" charset="0"/>
                <a:cs typeface="Arial" panose="020B0604020202020204" pitchFamily="34" charset="0"/>
              </a:rPr>
              <a:t> and Business Unit Owner – The VS </a:t>
            </a:r>
            <a:r>
              <a:rPr lang="en-US" altLang="en-US" sz="1200" dirty="0" err="1">
                <a:latin typeface="Arial" panose="020B0604020202020204" pitchFamily="34" charset="0"/>
                <a:cs typeface="Arial" panose="020B0604020202020204" pitchFamily="34" charset="0"/>
              </a:rPr>
              <a:t>Mgr</a:t>
            </a:r>
            <a:r>
              <a:rPr lang="en-US" altLang="en-US" sz="1200" dirty="0">
                <a:latin typeface="Arial" panose="020B0604020202020204" pitchFamily="34" charset="0"/>
                <a:cs typeface="Arial" panose="020B0604020202020204" pitchFamily="34" charset="0"/>
              </a:rPr>
              <a:t> is responsible for the value stream and insuring that the necessary improvements are made in accordance to the schedule.</a:t>
            </a:r>
          </a:p>
          <a:p>
            <a:pPr eaLnBrk="1" hangingPunct="1">
              <a:lnSpc>
                <a:spcPct val="80000"/>
              </a:lnSpc>
            </a:pPr>
            <a:r>
              <a:rPr lang="en-US" altLang="en-US" sz="1200" dirty="0">
                <a:latin typeface="Arial" panose="020B0604020202020204" pitchFamily="34" charset="0"/>
                <a:cs typeface="Arial" panose="020B0604020202020204" pitchFamily="34" charset="0"/>
              </a:rPr>
              <a:t>The Business Unit Owner – Is the person responsible for the overall business unit the contains the value stream.</a:t>
            </a:r>
          </a:p>
          <a:p>
            <a:pPr eaLnBrk="1" hangingPunct="1">
              <a:lnSpc>
                <a:spcPct val="80000"/>
              </a:lnSpc>
            </a:pPr>
            <a:r>
              <a:rPr lang="en-US" altLang="en-US" sz="1200" dirty="0">
                <a:latin typeface="Arial" panose="020B0604020202020204" pitchFamily="34" charset="0"/>
                <a:cs typeface="Arial" panose="020B0604020202020204" pitchFamily="34" charset="0"/>
              </a:rPr>
              <a:t>VS Loop- Specify loops on the Value Stream Plan – this should come directly from the Future State Map. </a:t>
            </a:r>
          </a:p>
          <a:p>
            <a:pPr eaLnBrk="1" hangingPunct="1">
              <a:lnSpc>
                <a:spcPct val="80000"/>
              </a:lnSpc>
            </a:pPr>
            <a:r>
              <a:rPr lang="en-US" altLang="en-US" sz="1200" dirty="0">
                <a:latin typeface="Arial" panose="020B0604020202020204" pitchFamily="34" charset="0"/>
                <a:cs typeface="Arial" panose="020B0604020202020204" pitchFamily="34" charset="0"/>
              </a:rPr>
              <a:t>Value Stream Objective – Identify what needs to be done to move from the current state to the future state. The emphasis should be on what, not how this will be accomplished. The objective should describe what the end state looks like</a:t>
            </a:r>
          </a:p>
          <a:p>
            <a:pPr eaLnBrk="1" hangingPunct="1">
              <a:lnSpc>
                <a:spcPct val="80000"/>
              </a:lnSpc>
            </a:pPr>
            <a:r>
              <a:rPr lang="en-US" altLang="en-US" sz="1200" dirty="0">
                <a:latin typeface="Arial" panose="020B0604020202020204" pitchFamily="34" charset="0"/>
                <a:cs typeface="Arial" panose="020B0604020202020204" pitchFamily="34" charset="0"/>
              </a:rPr>
              <a:t>Goal – Develop goals that will allow you to identify when the VS Objective has been achieved. Consistent performance at the goal level indicates that the objective has been satisfied.</a:t>
            </a:r>
          </a:p>
          <a:p>
            <a:pPr eaLnBrk="1" hangingPunct="1">
              <a:lnSpc>
                <a:spcPct val="80000"/>
              </a:lnSpc>
            </a:pPr>
            <a:r>
              <a:rPr lang="en-US" altLang="en-US" sz="1200" dirty="0">
                <a:latin typeface="Arial" panose="020B0604020202020204" pitchFamily="34" charset="0"/>
                <a:cs typeface="Arial" panose="020B0604020202020204" pitchFamily="34" charset="0"/>
              </a:rPr>
              <a:t>Target Completion Dates – Identify the date to achieve the VS Objective/Goal. Keep in mind the interrelationships that exist between the objectives and prioritize appropriately. There is not always a 1 to 1 relationship between kaizen activities and objectives. A single objective may require multiple kaizens to reach the goal. </a:t>
            </a:r>
          </a:p>
          <a:p>
            <a:pPr eaLnBrk="1" hangingPunct="1">
              <a:lnSpc>
                <a:spcPct val="80000"/>
              </a:lnSpc>
            </a:pPr>
            <a:r>
              <a:rPr lang="en-US" altLang="en-US" sz="1200" dirty="0">
                <a:latin typeface="Arial" panose="020B0604020202020204" pitchFamily="34" charset="0"/>
                <a:cs typeface="Arial" panose="020B0604020202020204" pitchFamily="34" charset="0"/>
              </a:rPr>
              <a:t>Owners of the Value Stream – High enough in the organization to effectively prioritize the objective. Insures that sufficient resources are invested to reach the goal. Eliminates any obstacles and follows up with the team to ensure timeline is maintained.</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132</a:t>
            </a:fld>
            <a:endParaRPr lang="en-US" dirty="0"/>
          </a:p>
        </p:txBody>
      </p:sp>
    </p:spTree>
    <p:extLst>
      <p:ext uri="{BB962C8B-B14F-4D97-AF65-F5344CB8AC3E}">
        <p14:creationId xmlns:p14="http://schemas.microsoft.com/office/powerpoint/2010/main" val="3804065917"/>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background for Value Stream Loops will turn green when a date is applied to any one of the objectives.</a:t>
            </a:r>
          </a:p>
          <a:p>
            <a:pPr eaLnBrk="1" hangingPunct="1"/>
            <a:r>
              <a:rPr lang="en-US" altLang="en-US" dirty="0">
                <a:latin typeface="Arial" panose="020B0604020202020204" pitchFamily="34" charset="0"/>
                <a:cs typeface="Arial" panose="020B0604020202020204" pitchFamily="34" charset="0"/>
              </a:rPr>
              <a:t>Applying a date will automatically create a Gantt chart for the objective.</a:t>
            </a:r>
          </a:p>
          <a:p>
            <a:pPr eaLnBrk="1" hangingPunct="1"/>
            <a:r>
              <a:rPr lang="en-US" altLang="en-US" dirty="0">
                <a:latin typeface="Arial" panose="020B0604020202020204" pitchFamily="34" charset="0"/>
                <a:cs typeface="Arial" panose="020B0604020202020204" pitchFamily="34" charset="0"/>
              </a:rPr>
              <a:t>The current month will highlight in red.</a:t>
            </a:r>
          </a:p>
          <a:p>
            <a:pPr eaLnBrk="1" hangingPunct="1"/>
            <a:r>
              <a:rPr lang="en-US" altLang="en-US" dirty="0">
                <a:latin typeface="Arial" panose="020B0604020202020204" pitchFamily="34" charset="0"/>
                <a:cs typeface="Arial" panose="020B0604020202020204" pitchFamily="34" charset="0"/>
              </a:rPr>
              <a:t>When the date for any objective has passed the background will turn orange.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133</a:t>
            </a:fld>
            <a:endParaRPr lang="en-US" dirty="0"/>
          </a:p>
        </p:txBody>
      </p:sp>
    </p:spTree>
    <p:extLst>
      <p:ext uri="{BB962C8B-B14F-4D97-AF65-F5344CB8AC3E}">
        <p14:creationId xmlns:p14="http://schemas.microsoft.com/office/powerpoint/2010/main" val="242391195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Monitoring of progress on the Value Stream Plan is crucial to success.  If the plan </a:t>
            </a:r>
            <a:r>
              <a:rPr lang="en-US" altLang="ja-JP" dirty="0" err="1">
                <a:latin typeface="Arial" panose="020B0604020202020204" pitchFamily="34" charset="0"/>
                <a:cs typeface="Arial" panose="020B0604020202020204" pitchFamily="34" charset="0"/>
              </a:rPr>
              <a:t>isn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monitored and followed up on it will not get done.</a:t>
            </a:r>
          </a:p>
          <a:p>
            <a:pPr eaLnBrk="1" hangingPunct="1"/>
            <a:r>
              <a:rPr lang="en-US" altLang="en-US" dirty="0">
                <a:latin typeface="Arial" panose="020B0604020202020204" pitchFamily="34" charset="0"/>
                <a:cs typeface="Arial" panose="020B0604020202020204" pitchFamily="34" charset="0"/>
              </a:rPr>
              <a:t>The Value Stream Objective Owner (person in charge) should meet with the team and review the status of the objective weekly</a:t>
            </a:r>
          </a:p>
          <a:p>
            <a:pPr eaLnBrk="1" hangingPunct="1"/>
            <a:r>
              <a:rPr lang="en-US" altLang="en-US" dirty="0">
                <a:latin typeface="Arial" panose="020B0604020202020204" pitchFamily="34" charset="0"/>
                <a:cs typeface="Arial" panose="020B0604020202020204" pitchFamily="34" charset="0"/>
              </a:rPr>
              <a:t>The Value Stream Manager should review the progress of each of the objectives at least every two weeks</a:t>
            </a:r>
          </a:p>
          <a:p>
            <a:pPr eaLnBrk="1" hangingPunct="1"/>
            <a:r>
              <a:rPr lang="en-US" altLang="en-US" dirty="0">
                <a:latin typeface="Arial" panose="020B0604020202020204" pitchFamily="34" charset="0"/>
                <a:cs typeface="Arial" panose="020B0604020202020204" pitchFamily="34" charset="0"/>
              </a:rPr>
              <a:t>The Value Stream Manager reviews should be conducted by walking through the flow of the value stream plan</a:t>
            </a:r>
          </a:p>
          <a:p>
            <a:pPr eaLnBrk="1" hangingPunct="1"/>
            <a:r>
              <a:rPr lang="en-US" altLang="en-US" dirty="0">
                <a:latin typeface="Arial" panose="020B0604020202020204" pitchFamily="34" charset="0"/>
                <a:cs typeface="Arial" panose="020B0604020202020204" pitchFamily="34" charset="0"/>
              </a:rPr>
              <a:t>Reviews should be conducted on-site in the workplace and the focus needs to be on items not yet completed</a:t>
            </a:r>
          </a:p>
          <a:p>
            <a:pPr eaLnBrk="1" hangingPunct="1"/>
            <a:r>
              <a:rPr lang="en-US" altLang="en-US" dirty="0">
                <a:latin typeface="Arial" panose="020B0604020202020204" pitchFamily="34" charset="0"/>
                <a:cs typeface="Arial" panose="020B0604020202020204" pitchFamily="34" charset="0"/>
              </a:rPr>
              <a:t>Progress should be reviewed with the business unit owner at least monthly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These reviews should be informational in nature and not problem solving meetings</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 focus needs to remain on items not yet completed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Senior management should be made aware of any obstacles and be given the opportunity to provide additional resources to overcome the obstacles.</a:t>
            </a:r>
            <a:r>
              <a:rPr lang="ja-JP" altLang="en-US" dirty="0">
                <a:latin typeface="Arial" panose="020B0604020202020204" pitchFamily="34" charset="0"/>
                <a:ea typeface="MS PGothic" panose="020B0600070205080204" pitchFamily="34" charset="-128"/>
                <a:cs typeface="Arial" panose="020B0604020202020204" pitchFamily="34" charset="0"/>
              </a:rPr>
              <a:t>”</a:t>
            </a:r>
            <a:endParaRPr lang="en-US" altLang="en-US" dirty="0">
              <a:latin typeface="Arial" panose="020B0604020202020204" pitchFamily="34" charset="0"/>
              <a:ea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134</a:t>
            </a:fld>
            <a:endParaRPr lang="en-US"/>
          </a:p>
        </p:txBody>
      </p:sp>
    </p:spTree>
    <p:extLst>
      <p:ext uri="{BB962C8B-B14F-4D97-AF65-F5344CB8AC3E}">
        <p14:creationId xmlns:p14="http://schemas.microsoft.com/office/powerpoint/2010/main" val="402227566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VSM is an incremental and repeatable cycle. Full optimization of the value stream sometimes </a:t>
            </a:r>
            <a:r>
              <a:rPr lang="en-US" altLang="ja-JP" dirty="0" err="1">
                <a:latin typeface="Arial" panose="020B0604020202020204" pitchFamily="34" charset="0"/>
                <a:cs typeface="Arial" panose="020B0604020202020204" pitchFamily="34" charset="0"/>
              </a:rPr>
              <a:t>isn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realized until the third or fourth iteration.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For companies early on their journey it is common to reset the Current State Map and Future State Map and the VS Plan at the ½ way point – that is – if you set the Future State at one year out – you would reset at the 6 month point.</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135</a:t>
            </a:fld>
            <a:endParaRPr lang="en-US"/>
          </a:p>
        </p:txBody>
      </p:sp>
    </p:spTree>
    <p:extLst>
      <p:ext uri="{BB962C8B-B14F-4D97-AF65-F5344CB8AC3E}">
        <p14:creationId xmlns:p14="http://schemas.microsoft.com/office/powerpoint/2010/main" val="22042837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136</a:t>
            </a:fld>
            <a:endParaRPr lang="en-US"/>
          </a:p>
        </p:txBody>
      </p:sp>
    </p:spTree>
    <p:extLst>
      <p:ext uri="{BB962C8B-B14F-4D97-AF65-F5344CB8AC3E}">
        <p14:creationId xmlns:p14="http://schemas.microsoft.com/office/powerpoint/2010/main" val="131363104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137</a:t>
            </a:fld>
            <a:endParaRPr lang="en-US" dirty="0"/>
          </a:p>
        </p:txBody>
      </p:sp>
    </p:spTree>
    <p:extLst>
      <p:ext uri="{BB962C8B-B14F-4D97-AF65-F5344CB8AC3E}">
        <p14:creationId xmlns:p14="http://schemas.microsoft.com/office/powerpoint/2010/main" val="340778771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138</a:t>
            </a:fld>
            <a:endParaRPr lang="en-US" dirty="0"/>
          </a:p>
        </p:txBody>
      </p:sp>
    </p:spTree>
    <p:extLst>
      <p:ext uri="{BB962C8B-B14F-4D97-AF65-F5344CB8AC3E}">
        <p14:creationId xmlns:p14="http://schemas.microsoft.com/office/powerpoint/2010/main" val="4198735800"/>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you will recall from the introduction to the session, the final deliverable from this event will be an updated Site Plan.</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Click to transition to the next slide. </a:t>
            </a:r>
          </a:p>
        </p:txBody>
      </p:sp>
      <p:sp>
        <p:nvSpPr>
          <p:cNvPr id="4" name="Slide Number Placeholder 3"/>
          <p:cNvSpPr>
            <a:spLocks noGrp="1"/>
          </p:cNvSpPr>
          <p:nvPr>
            <p:ph type="sldNum" sz="quarter" idx="5"/>
          </p:nvPr>
        </p:nvSpPr>
        <p:spPr/>
        <p:txBody>
          <a:bodyPr/>
          <a:lstStyle/>
          <a:p>
            <a:fld id="{AECD8548-F1A2-4EDF-A416-5F2BB6B8F64C}" type="slidenum">
              <a:rPr lang="en-US" smtClean="0"/>
              <a:t>139</a:t>
            </a:fld>
            <a:endParaRPr lang="en-US" dirty="0"/>
          </a:p>
        </p:txBody>
      </p:sp>
    </p:spTree>
    <p:extLst>
      <p:ext uri="{BB962C8B-B14F-4D97-AF65-F5344CB8AC3E}">
        <p14:creationId xmlns:p14="http://schemas.microsoft.com/office/powerpoint/2010/main" val="245385006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is a sample of an excerpt from a site plan showing scheduled events from two different Value Streams (New Mortgage and Debt Consolidation).</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140</a:t>
            </a:fld>
            <a:endParaRPr lang="en-US"/>
          </a:p>
        </p:txBody>
      </p:sp>
    </p:spTree>
    <p:extLst>
      <p:ext uri="{BB962C8B-B14F-4D97-AF65-F5344CB8AC3E}">
        <p14:creationId xmlns:p14="http://schemas.microsoft.com/office/powerpoint/2010/main" val="259290236"/>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Now we will break and the team will create their Future State Map and Value Stream Plan.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 time deadline for when this should be complete.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141</a:t>
            </a:fld>
            <a:endParaRPr lang="en-US"/>
          </a:p>
        </p:txBody>
      </p:sp>
    </p:spTree>
    <p:extLst>
      <p:ext uri="{BB962C8B-B14F-4D97-AF65-F5344CB8AC3E}">
        <p14:creationId xmlns:p14="http://schemas.microsoft.com/office/powerpoint/2010/main" val="1189974596"/>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report-out guidelines.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142</a:t>
            </a:fld>
            <a:endParaRPr lang="en-US"/>
          </a:p>
        </p:txBody>
      </p:sp>
    </p:spTree>
    <p:extLst>
      <p:ext uri="{BB962C8B-B14F-4D97-AF65-F5344CB8AC3E}">
        <p14:creationId xmlns:p14="http://schemas.microsoft.com/office/powerpoint/2010/main" val="2084219646"/>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143</a:t>
            </a:fld>
            <a:endParaRPr lang="en-US"/>
          </a:p>
        </p:txBody>
      </p:sp>
    </p:spTree>
    <p:extLst>
      <p:ext uri="{BB962C8B-B14F-4D97-AF65-F5344CB8AC3E}">
        <p14:creationId xmlns:p14="http://schemas.microsoft.com/office/powerpoint/2010/main" val="3612407684"/>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147</a:t>
            </a:fld>
            <a:endParaRPr lang="en-US"/>
          </a:p>
        </p:txBody>
      </p:sp>
    </p:spTree>
    <p:extLst>
      <p:ext uri="{BB962C8B-B14F-4D97-AF65-F5344CB8AC3E}">
        <p14:creationId xmlns:p14="http://schemas.microsoft.com/office/powerpoint/2010/main" val="102285623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7B85E90D-7DD7-92B5-E387-8C0441E41AC3}"/>
              </a:ext>
            </a:extLst>
          </p:cNvPr>
          <p:cNvPicPr>
            <a:picLocks noChangeAspect="1"/>
          </p:cNvPicPr>
          <p:nvPr userDrawn="1"/>
        </p:nvPicPr>
        <p:blipFill>
          <a:blip r:embed="rId2"/>
          <a:stretch>
            <a:fillRect/>
          </a:stretch>
        </p:blipFill>
        <p:spPr>
          <a:xfrm>
            <a:off x="2385391" y="1950112"/>
            <a:ext cx="7772400" cy="2590800"/>
          </a:xfrm>
          <a:prstGeom prst="rect">
            <a:avLst/>
          </a:prstGeom>
        </p:spPr>
      </p:pic>
      <p:sp>
        <p:nvSpPr>
          <p:cNvPr id="2" name="Slide Number Placeholder 2">
            <a:extLst>
              <a:ext uri="{FF2B5EF4-FFF2-40B4-BE49-F238E27FC236}">
                <a16:creationId xmlns:a16="http://schemas.microsoft.com/office/drawing/2014/main" id="{68ED424F-63A6-B0EB-9172-EC170ADB2C43}"/>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1856233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DECAAD20-D973-BA53-5451-4ADA765CF578}"/>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68536043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2" name="Picture 1" descr="Logo&#10;&#10;Description automatically generated">
            <a:extLst>
              <a:ext uri="{FF2B5EF4-FFF2-40B4-BE49-F238E27FC236}">
                <a16:creationId xmlns:a16="http://schemas.microsoft.com/office/drawing/2014/main" id="{DFA04139-8C44-65B7-CCE0-3C7273396743}"/>
              </a:ext>
            </a:extLst>
          </p:cNvPr>
          <p:cNvPicPr>
            <a:picLocks noChangeAspect="1"/>
          </p:cNvPicPr>
          <p:nvPr userDrawn="1"/>
        </p:nvPicPr>
        <p:blipFill>
          <a:blip r:embed="rId2"/>
          <a:stretch>
            <a:fillRect/>
          </a:stretch>
        </p:blipFill>
        <p:spPr>
          <a:xfrm>
            <a:off x="10041954" y="6012921"/>
            <a:ext cx="1825625" cy="365125"/>
          </a:xfrm>
          <a:prstGeom prst="rect">
            <a:avLst/>
          </a:prstGeom>
        </p:spPr>
      </p:pic>
      <p:sp>
        <p:nvSpPr>
          <p:cNvPr id="3" name="Slide Number Placeholder 2">
            <a:extLst>
              <a:ext uri="{FF2B5EF4-FFF2-40B4-BE49-F238E27FC236}">
                <a16:creationId xmlns:a16="http://schemas.microsoft.com/office/drawing/2014/main" id="{140DCE53-036B-BD4C-39F8-A6134679CC57}"/>
              </a:ext>
            </a:extLst>
          </p:cNvPr>
          <p:cNvSpPr>
            <a:spLocks noGrp="1"/>
          </p:cNvSpPr>
          <p:nvPr>
            <p:ph type="sldNum" sz="quarter" idx="4"/>
          </p:nvPr>
        </p:nvSpPr>
        <p:spPr>
          <a:xfrm>
            <a:off x="8585934"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13405463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B640B0-16F5-BFBE-E22F-812ED893EE4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A30DE2FD-1979-A3D6-90A4-45D744A02739}"/>
              </a:ext>
            </a:extLst>
          </p:cNvPr>
          <p:cNvSpPr>
            <a:spLocks noGrp="1"/>
          </p:cNvSpPr>
          <p:nvPr>
            <p:ph type="subTitle" idx="1"/>
          </p:nvPr>
        </p:nvSpPr>
        <p:spPr>
          <a:xfrm>
            <a:off x="1524000" y="3800722"/>
            <a:ext cx="9144000" cy="1457077"/>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pic>
        <p:nvPicPr>
          <p:cNvPr id="7" name="Picture 6">
            <a:extLst>
              <a:ext uri="{FF2B5EF4-FFF2-40B4-BE49-F238E27FC236}">
                <a16:creationId xmlns:a16="http://schemas.microsoft.com/office/drawing/2014/main" id="{79394B0F-E5B4-CFAF-7473-46BB2646C463}"/>
              </a:ext>
            </a:extLst>
          </p:cNvPr>
          <p:cNvPicPr>
            <a:picLocks noChangeAspect="1"/>
          </p:cNvPicPr>
          <p:nvPr userDrawn="1"/>
        </p:nvPicPr>
        <p:blipFill>
          <a:blip r:embed="rId2"/>
          <a:stretch>
            <a:fillRect/>
          </a:stretch>
        </p:blipFill>
        <p:spPr>
          <a:xfrm>
            <a:off x="4126380" y="3556319"/>
            <a:ext cx="3939240" cy="45719"/>
          </a:xfrm>
          <a:prstGeom prst="rect">
            <a:avLst/>
          </a:prstGeom>
        </p:spPr>
      </p:pic>
      <p:sp>
        <p:nvSpPr>
          <p:cNvPr id="4" name="Slide Number Placeholder 2">
            <a:extLst>
              <a:ext uri="{FF2B5EF4-FFF2-40B4-BE49-F238E27FC236}">
                <a16:creationId xmlns:a16="http://schemas.microsoft.com/office/drawing/2014/main" id="{80D816C9-D211-3389-9A93-CBB79EB80D10}"/>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26260657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E36242-F70A-0032-2B4B-BCCF0734FAF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D039E81F-378B-8CF2-E1C3-1D9054EF712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EDBCBB7B-054A-FE83-5F7C-FE4A1CDFEEBA}"/>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4" name="Slide Number Placeholder 2">
            <a:extLst>
              <a:ext uri="{FF2B5EF4-FFF2-40B4-BE49-F238E27FC236}">
                <a16:creationId xmlns:a16="http://schemas.microsoft.com/office/drawing/2014/main" id="{AE259B9E-247D-7894-A1BB-7DCA2F0BE403}"/>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401161152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EA9C9-FDCA-934D-785B-BFD907843AD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7695437-1877-C6A2-EE04-3EF98092E16F}"/>
              </a:ext>
            </a:extLst>
          </p:cNvPr>
          <p:cNvSpPr>
            <a:spLocks noGrp="1"/>
          </p:cNvSpPr>
          <p:nvPr>
            <p:ph type="body" idx="1"/>
          </p:nvPr>
        </p:nvSpPr>
        <p:spPr>
          <a:xfrm>
            <a:off x="831850" y="4715123"/>
            <a:ext cx="10515600" cy="137452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2">
            <a:extLst>
              <a:ext uri="{FF2B5EF4-FFF2-40B4-BE49-F238E27FC236}">
                <a16:creationId xmlns:a16="http://schemas.microsoft.com/office/drawing/2014/main" id="{F44EE718-9267-FA26-4919-034EE8FD0383}"/>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142872085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A8C054-8592-E116-8DB0-D7814A8CDB6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B35C802A-EC64-E4D9-44D3-54E728E3E9B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1EA5B75-CA16-4AC3-A34C-C3C4FF82FD7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23186D81-5D29-FE58-C442-6A6A0689DB5B}"/>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5" name="Slide Number Placeholder 2">
            <a:extLst>
              <a:ext uri="{FF2B5EF4-FFF2-40B4-BE49-F238E27FC236}">
                <a16:creationId xmlns:a16="http://schemas.microsoft.com/office/drawing/2014/main" id="{C102F44E-D22E-26CC-24AD-9F87448A1916}"/>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7705941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362F87-A7AE-9269-55EC-7B1C8A4D2FA0}"/>
              </a:ext>
            </a:extLst>
          </p:cNvPr>
          <p:cNvSpPr>
            <a:spLocks noGrp="1"/>
          </p:cNvSpPr>
          <p:nvPr>
            <p:ph type="title"/>
          </p:nvPr>
        </p:nvSpPr>
        <p:spPr>
          <a:xfrm>
            <a:off x="839788" y="668337"/>
            <a:ext cx="10515600" cy="1022351"/>
          </a:xfrm>
        </p:spPr>
        <p:txBody>
          <a:bodyPr/>
          <a:lstStyle/>
          <a:p>
            <a:r>
              <a:rPr lang="en-US" dirty="0"/>
              <a:t>Click to edit Master title style</a:t>
            </a:r>
          </a:p>
        </p:txBody>
      </p:sp>
      <p:sp>
        <p:nvSpPr>
          <p:cNvPr id="3" name="Text Placeholder 2">
            <a:extLst>
              <a:ext uri="{FF2B5EF4-FFF2-40B4-BE49-F238E27FC236}">
                <a16:creationId xmlns:a16="http://schemas.microsoft.com/office/drawing/2014/main" id="{23727D69-EB01-A889-0CC3-A64B4F7DAB1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1F1EC85-625B-CEAA-F97D-EF024B15F27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3D5D1D7-7D1D-2F5D-8D5E-152CC8269A9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9D830EE-92A6-15ED-D99F-35788F37AD9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CBFE9C-CE1B-ED6E-1745-391F9496BE1D}"/>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7" name="Slide Number Placeholder 2">
            <a:extLst>
              <a:ext uri="{FF2B5EF4-FFF2-40B4-BE49-F238E27FC236}">
                <a16:creationId xmlns:a16="http://schemas.microsoft.com/office/drawing/2014/main" id="{715BF7E9-55B5-8415-BAA4-A72C07E217E8}"/>
              </a:ext>
            </a:extLst>
          </p:cNvPr>
          <p:cNvSpPr>
            <a:spLocks noGrp="1"/>
          </p:cNvSpPr>
          <p:nvPr>
            <p:ph type="sldNum" sz="quarter" idx="10"/>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21035150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CD9D87-BBC7-C5DC-191E-E5E1CA2BC2BE}"/>
              </a:ext>
            </a:extLst>
          </p:cNvPr>
          <p:cNvSpPr>
            <a:spLocks noGrp="1"/>
          </p:cNvSpPr>
          <p:nvPr>
            <p:ph type="title"/>
          </p:nvPr>
        </p:nvSpPr>
        <p:spPr/>
        <p:txBody>
          <a:bodyPr/>
          <a:lstStyle/>
          <a:p>
            <a:r>
              <a:rPr lang="en-US" dirty="0"/>
              <a:t>Click to edit Master title style</a:t>
            </a:r>
          </a:p>
        </p:txBody>
      </p:sp>
      <p:cxnSp>
        <p:nvCxnSpPr>
          <p:cNvPr id="6" name="Straight Connector 5">
            <a:extLst>
              <a:ext uri="{FF2B5EF4-FFF2-40B4-BE49-F238E27FC236}">
                <a16:creationId xmlns:a16="http://schemas.microsoft.com/office/drawing/2014/main" id="{7E55C65A-BA96-51C7-B6FE-07AB4FB9C96C}"/>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3" name="Slide Number Placeholder 2">
            <a:extLst>
              <a:ext uri="{FF2B5EF4-FFF2-40B4-BE49-F238E27FC236}">
                <a16:creationId xmlns:a16="http://schemas.microsoft.com/office/drawing/2014/main" id="{56CDE7A3-A7EE-4C43-5A77-882A6A4D7E3E}"/>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39153027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FC6C847F-0B94-F947-B172-F99DB133759E}"/>
              </a:ext>
            </a:extLst>
          </p:cNvPr>
          <p:cNvSpPr>
            <a:spLocks noGrp="1"/>
          </p:cNvSpPr>
          <p:nvPr>
            <p:ph type="sldNum" sz="quarter" idx="11"/>
          </p:nvPr>
        </p:nvSpPr>
        <p:spPr/>
        <p:txBody>
          <a:bodyPr/>
          <a:lstStyle/>
          <a:p>
            <a:fld id="{CC6D4273-7FC1-0947-B9FE-19CB3C0D1FB6}" type="slidenum">
              <a:rPr lang="en-US" smtClean="0"/>
              <a:pPr/>
              <a:t>‹#›</a:t>
            </a:fld>
            <a:endParaRPr lang="en-US" dirty="0"/>
          </a:p>
        </p:txBody>
      </p:sp>
      <p:sp>
        <p:nvSpPr>
          <p:cNvPr id="7" name="TextBox 6">
            <a:extLst>
              <a:ext uri="{FF2B5EF4-FFF2-40B4-BE49-F238E27FC236}">
                <a16:creationId xmlns:a16="http://schemas.microsoft.com/office/drawing/2014/main" id="{5C21B1ED-B2E3-19AE-DDFC-B157A0140513}"/>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
        <p:nvSpPr>
          <p:cNvPr id="8" name="TextBox 7">
            <a:extLst>
              <a:ext uri="{FF2B5EF4-FFF2-40B4-BE49-F238E27FC236}">
                <a16:creationId xmlns:a16="http://schemas.microsoft.com/office/drawing/2014/main" id="{2F45EA47-4246-F41D-5958-D5160317BC17}"/>
              </a:ext>
            </a:extLst>
          </p:cNvPr>
          <p:cNvSpPr txBox="1"/>
          <p:nvPr userDrawn="1"/>
        </p:nvSpPr>
        <p:spPr>
          <a:xfrm>
            <a:off x="838200" y="6389310"/>
            <a:ext cx="4171934" cy="400110"/>
          </a:xfrm>
          <a:prstGeom prst="rect">
            <a:avLst/>
          </a:prstGeom>
          <a:noFill/>
        </p:spPr>
        <p:txBody>
          <a:bodyPr wrap="square" rtlCol="0">
            <a:spAutoFit/>
          </a:bodyPr>
          <a:lstStyle/>
          <a:p>
            <a:r>
              <a:rPr lang="en-US" sz="1000" dirty="0"/>
              <a:t>PRESENTATION TITLE GOES HERE</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0677971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5009C-FECA-9E9B-9F45-5710762AEB4B}"/>
              </a:ext>
            </a:extLst>
          </p:cNvPr>
          <p:cNvSpPr>
            <a:spLocks noGrp="1"/>
          </p:cNvSpPr>
          <p:nvPr>
            <p:ph type="title"/>
          </p:nvPr>
        </p:nvSpPr>
        <p:spPr>
          <a:xfrm>
            <a:off x="839788" y="457200"/>
            <a:ext cx="3932237" cy="1465029"/>
          </a:xfrm>
        </p:spPr>
        <p:txBody>
          <a:bodyPr anchor="b"/>
          <a:lstStyle>
            <a:lvl1pPr>
              <a:defRPr sz="3200"/>
            </a:lvl1pPr>
          </a:lstStyle>
          <a:p>
            <a:r>
              <a:rPr lang="en-US" dirty="0"/>
              <a:t>Click to edit Master title style</a:t>
            </a:r>
          </a:p>
        </p:txBody>
      </p:sp>
      <p:sp>
        <p:nvSpPr>
          <p:cNvPr id="3" name="Content Placeholder 2">
            <a:extLst>
              <a:ext uri="{FF2B5EF4-FFF2-40B4-BE49-F238E27FC236}">
                <a16:creationId xmlns:a16="http://schemas.microsoft.com/office/drawing/2014/main" id="{925B4662-A656-519F-E5DC-FEF8051A04B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C555F82-CA62-EC30-181A-37223E01FDD3}"/>
              </a:ext>
            </a:extLst>
          </p:cNvPr>
          <p:cNvSpPr>
            <a:spLocks noGrp="1"/>
          </p:cNvSpPr>
          <p:nvPr>
            <p:ph type="body" sz="half" idx="2"/>
          </p:nvPr>
        </p:nvSpPr>
        <p:spPr>
          <a:xfrm>
            <a:off x="839788" y="2146852"/>
            <a:ext cx="3932237" cy="3722136"/>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EB026B9A-5C7E-C150-5C07-A68A167F0F67}"/>
              </a:ext>
            </a:extLst>
          </p:cNvPr>
          <p:cNvCxnSpPr>
            <a:cxnSpLocks/>
          </p:cNvCxnSpPr>
          <p:nvPr userDrawn="1"/>
        </p:nvCxnSpPr>
        <p:spPr>
          <a:xfrm>
            <a:off x="838200" y="1922229"/>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5" name="Slide Number Placeholder 2">
            <a:extLst>
              <a:ext uri="{FF2B5EF4-FFF2-40B4-BE49-F238E27FC236}">
                <a16:creationId xmlns:a16="http://schemas.microsoft.com/office/drawing/2014/main" id="{1C0CB912-1637-96F4-0E36-B2197AEEC027}"/>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127922591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C35D53-C186-1B2C-FD72-2AC470B82098}"/>
              </a:ext>
            </a:extLst>
          </p:cNvPr>
          <p:cNvSpPr>
            <a:spLocks noGrp="1"/>
          </p:cNvSpPr>
          <p:nvPr>
            <p:ph type="title"/>
          </p:nvPr>
        </p:nvSpPr>
        <p:spPr>
          <a:xfrm>
            <a:off x="839788" y="457200"/>
            <a:ext cx="3932237" cy="1463045"/>
          </a:xfrm>
        </p:spPr>
        <p:txBody>
          <a:bodyPr anchor="b"/>
          <a:lstStyle>
            <a:lvl1pPr>
              <a:defRPr sz="3200"/>
            </a:lvl1pPr>
          </a:lstStyle>
          <a:p>
            <a:r>
              <a:rPr lang="en-US" dirty="0"/>
              <a:t>Click to edit Master title style</a:t>
            </a:r>
          </a:p>
        </p:txBody>
      </p:sp>
      <p:sp>
        <p:nvSpPr>
          <p:cNvPr id="3" name="Picture Placeholder 2">
            <a:extLst>
              <a:ext uri="{FF2B5EF4-FFF2-40B4-BE49-F238E27FC236}">
                <a16:creationId xmlns:a16="http://schemas.microsoft.com/office/drawing/2014/main" id="{8C7372F6-C6B1-D2F4-8DED-EF3C3DBEAA4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566E1FE-9DAE-4781-C70A-CF8F68AAFDD6}"/>
              </a:ext>
            </a:extLst>
          </p:cNvPr>
          <p:cNvSpPr>
            <a:spLocks noGrp="1"/>
          </p:cNvSpPr>
          <p:nvPr>
            <p:ph type="body" sz="half" idx="2"/>
          </p:nvPr>
        </p:nvSpPr>
        <p:spPr>
          <a:xfrm>
            <a:off x="839788" y="2148836"/>
            <a:ext cx="3932237" cy="372015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6BBD52B6-C25E-E933-F2B7-D40B2BFDF83D}"/>
              </a:ext>
            </a:extLst>
          </p:cNvPr>
          <p:cNvCxnSpPr>
            <a:cxnSpLocks/>
          </p:cNvCxnSpPr>
          <p:nvPr userDrawn="1"/>
        </p:nvCxnSpPr>
        <p:spPr>
          <a:xfrm>
            <a:off x="838200" y="1920245"/>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5" name="Slide Number Placeholder 2">
            <a:extLst>
              <a:ext uri="{FF2B5EF4-FFF2-40B4-BE49-F238E27FC236}">
                <a16:creationId xmlns:a16="http://schemas.microsoft.com/office/drawing/2014/main" id="{CF699C67-2C45-1767-11DE-544EAD515FD8}"/>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288019482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F5CEA-F0B2-6EAB-4435-59D188AF388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32B515F-CCC6-5F3D-26FA-AF419F9D87C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7" name="Straight Connector 6">
            <a:extLst>
              <a:ext uri="{FF2B5EF4-FFF2-40B4-BE49-F238E27FC236}">
                <a16:creationId xmlns:a16="http://schemas.microsoft.com/office/drawing/2014/main" id="{E155FD7A-35A4-E3BB-30E7-93993A9F2FCF}"/>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
        <p:nvSpPr>
          <p:cNvPr id="4" name="Slide Number Placeholder 2">
            <a:extLst>
              <a:ext uri="{FF2B5EF4-FFF2-40B4-BE49-F238E27FC236}">
                <a16:creationId xmlns:a16="http://schemas.microsoft.com/office/drawing/2014/main" id="{0217752B-D08F-DAD5-6073-68F06F083644}"/>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30228601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6EEA24E-3139-367F-63CD-6BE14639C42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2D504B8-9AC5-F3B2-2873-A2C23446016F}"/>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2">
            <a:extLst>
              <a:ext uri="{FF2B5EF4-FFF2-40B4-BE49-F238E27FC236}">
                <a16:creationId xmlns:a16="http://schemas.microsoft.com/office/drawing/2014/main" id="{CDFB064F-73EA-8D56-3B26-42F6E7EFDFDD}"/>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a:t>
            </a:fld>
            <a:endParaRPr lang="en-US"/>
          </a:p>
        </p:txBody>
      </p:sp>
    </p:spTree>
    <p:extLst>
      <p:ext uri="{BB962C8B-B14F-4D97-AF65-F5344CB8AC3E}">
        <p14:creationId xmlns:p14="http://schemas.microsoft.com/office/powerpoint/2010/main" val="29732899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jp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FC7573B6-84E2-B075-59F6-13B735C1EA0C}"/>
              </a:ext>
            </a:extLst>
          </p:cNvPr>
          <p:cNvPicPr>
            <a:picLocks noChangeAspect="1"/>
          </p:cNvPicPr>
          <p:nvPr userDrawn="1"/>
        </p:nvPicPr>
        <p:blipFill>
          <a:blip r:embed="rId16"/>
          <a:srcRect/>
          <a:stretch/>
        </p:blipFill>
        <p:spPr>
          <a:xfrm>
            <a:off x="0" y="0"/>
            <a:ext cx="12192000" cy="6858000"/>
          </a:xfrm>
          <a:prstGeom prst="rect">
            <a:avLst/>
          </a:prstGeom>
        </p:spPr>
      </p:pic>
      <p:sp>
        <p:nvSpPr>
          <p:cNvPr id="2" name="Title Placeholder 1">
            <a:extLst>
              <a:ext uri="{FF2B5EF4-FFF2-40B4-BE49-F238E27FC236}">
                <a16:creationId xmlns:a16="http://schemas.microsoft.com/office/drawing/2014/main" id="{AF899C9A-A2FC-CD4A-1E66-538BA9DCD182}"/>
              </a:ext>
            </a:extLst>
          </p:cNvPr>
          <p:cNvSpPr>
            <a:spLocks noGrp="1"/>
          </p:cNvSpPr>
          <p:nvPr>
            <p:ph type="title"/>
          </p:nvPr>
        </p:nvSpPr>
        <p:spPr>
          <a:xfrm>
            <a:off x="838200" y="681037"/>
            <a:ext cx="10515600" cy="1009651"/>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5BEC040-D756-ECEA-9BEA-816A77F6A3E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0655B500-689F-3416-FFFA-6EFE369BF707}"/>
              </a:ext>
            </a:extLst>
          </p:cNvPr>
          <p:cNvSpPr>
            <a:spLocks noGrp="1"/>
          </p:cNvSpPr>
          <p:nvPr>
            <p:ph type="sldNum" sz="quarter" idx="4"/>
          </p:nvPr>
        </p:nvSpPr>
        <p:spPr>
          <a:xfrm>
            <a:off x="8595078" y="6333148"/>
            <a:ext cx="2743200" cy="365125"/>
          </a:xfrm>
          <a:prstGeom prst="rect">
            <a:avLst/>
          </a:prstGeom>
        </p:spPr>
        <p:txBody>
          <a:bodyPr vert="horz" lIns="91440" tIns="45720" rIns="91440" bIns="45720" rtlCol="0" anchor="ctr"/>
          <a:lstStyle>
            <a:lvl1pPr algn="r">
              <a:defRPr sz="1200">
                <a:solidFill>
                  <a:schemeClr val="tx1"/>
                </a:solidFill>
              </a:defRPr>
            </a:lvl1pPr>
          </a:lstStyle>
          <a:p>
            <a:fld id="{CC6D4273-7FC1-0947-B9FE-19CB3C0D1FB6}" type="slidenum">
              <a:rPr lang="en-US" smtClean="0"/>
              <a:pPr/>
              <a:t>‹#›</a:t>
            </a:fld>
            <a:endParaRPr lang="en-US" dirty="0"/>
          </a:p>
        </p:txBody>
      </p:sp>
      <p:pic>
        <p:nvPicPr>
          <p:cNvPr id="10" name="Picture 9" descr="Logo&#10;&#10;Description automatically generated">
            <a:extLst>
              <a:ext uri="{FF2B5EF4-FFF2-40B4-BE49-F238E27FC236}">
                <a16:creationId xmlns:a16="http://schemas.microsoft.com/office/drawing/2014/main" id="{83AB58F5-18C5-C368-94F4-CC4D543C8982}"/>
              </a:ext>
            </a:extLst>
          </p:cNvPr>
          <p:cNvPicPr>
            <a:picLocks noChangeAspect="1"/>
          </p:cNvPicPr>
          <p:nvPr userDrawn="1"/>
        </p:nvPicPr>
        <p:blipFill>
          <a:blip r:embed="rId17"/>
          <a:stretch>
            <a:fillRect/>
          </a:stretch>
        </p:blipFill>
        <p:spPr>
          <a:xfrm>
            <a:off x="10650147" y="311856"/>
            <a:ext cx="1376262" cy="275252"/>
          </a:xfrm>
          <a:prstGeom prst="rect">
            <a:avLst/>
          </a:prstGeom>
        </p:spPr>
      </p:pic>
      <p:cxnSp>
        <p:nvCxnSpPr>
          <p:cNvPr id="16" name="Straight Connector 15">
            <a:extLst>
              <a:ext uri="{FF2B5EF4-FFF2-40B4-BE49-F238E27FC236}">
                <a16:creationId xmlns:a16="http://schemas.microsoft.com/office/drawing/2014/main" id="{BFFEF531-ADF4-AB70-CB0F-227DD4FA1B4F}"/>
              </a:ext>
            </a:extLst>
          </p:cNvPr>
          <p:cNvCxnSpPr/>
          <p:nvPr userDrawn="1"/>
        </p:nvCxnSpPr>
        <p:spPr>
          <a:xfrm>
            <a:off x="838200" y="6382347"/>
            <a:ext cx="10515599"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47AF5F83-88DF-460F-82C5-C2709D4DF5D2}"/>
              </a:ext>
            </a:extLst>
          </p:cNvPr>
          <p:cNvSpPr txBox="1"/>
          <p:nvPr userDrawn="1"/>
        </p:nvSpPr>
        <p:spPr>
          <a:xfrm>
            <a:off x="838200" y="6389310"/>
            <a:ext cx="4171934" cy="246221"/>
          </a:xfrm>
          <a:prstGeom prst="rect">
            <a:avLst/>
          </a:prstGeom>
          <a:noFill/>
        </p:spPr>
        <p:txBody>
          <a:bodyPr wrap="square" rtlCol="0">
            <a:spAutoFit/>
          </a:bodyPr>
          <a:lstStyle/>
          <a:p>
            <a:r>
              <a:rPr lang="en-US" sz="1000" dirty="0" err="1"/>
              <a:t>VSMi</a:t>
            </a:r>
            <a:r>
              <a:rPr lang="en-US" sz="1000" dirty="0"/>
              <a:t>® PRESENTATION ENG REV 4.0	</a:t>
            </a: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
        <p:nvSpPr>
          <p:cNvPr id="8" name="TextBox 7">
            <a:extLst>
              <a:ext uri="{FF2B5EF4-FFF2-40B4-BE49-F238E27FC236}">
                <a16:creationId xmlns:a16="http://schemas.microsoft.com/office/drawing/2014/main" id="{76B0F1ED-1C44-DFD6-E7DA-038409D9167D}"/>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092232385"/>
      </p:ext>
    </p:extLst>
  </p:cSld>
  <p:clrMap bg1="lt1" tx1="dk1" bg2="lt2" tx2="dk2" accent1="accent1" accent2="accent2" accent3="accent3" accent4="accent4" accent5="accent5" accent6="accent6" hlink="hlink" folHlink="folHlink"/>
  <p:sldLayoutIdLst>
    <p:sldLayoutId id="2147483660" r:id="rId1"/>
    <p:sldLayoutId id="2147483661" r:id="rId2"/>
    <p:sldLayoutId id="2147483662" r:id="rId3"/>
    <p:sldLayoutId id="2147483649" r:id="rId4"/>
    <p:sldLayoutId id="2147483650" r:id="rId5"/>
    <p:sldLayoutId id="2147483651" r:id="rId6"/>
    <p:sldLayoutId id="2147483652" r:id="rId7"/>
    <p:sldLayoutId id="2147483653" r:id="rId8"/>
    <p:sldLayoutId id="2147483654" r:id="rId9"/>
    <p:sldLayoutId id="2147483655" r:id="rId10"/>
    <p:sldLayoutId id="2147483656" r:id="rId11"/>
    <p:sldLayoutId id="2147483657" r:id="rId12"/>
    <p:sldLayoutId id="2147483658" r:id="rId13"/>
    <p:sldLayoutId id="2147483659" r:id="rId14"/>
  </p:sldLayoutIdLst>
  <p:hf hdr="0" ftr="0" dt="0"/>
  <p:txStyles>
    <p:title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5.gif"/><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58.xml"/><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0.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0.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0.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0.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0.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0.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0.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0.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0.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0.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0.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0.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0.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0.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0.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9.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9.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9.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9.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9.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9.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26.xml"/><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27.xml"/><Relationship Id="rId1" Type="http://schemas.openxmlformats.org/officeDocument/2006/relationships/slideLayout" Target="../slideLayouts/slideLayout9.xml"/></Relationships>
</file>

<file path=ppt/slides/_rels/slide133.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28.xml"/><Relationship Id="rId1" Type="http://schemas.openxmlformats.org/officeDocument/2006/relationships/slideLayout" Target="../slideLayouts/slideLayout9.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9.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5.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39.xml"/><Relationship Id="rId1" Type="http://schemas.openxmlformats.org/officeDocument/2006/relationships/slideLayout" Target="../slideLayouts/slideLayout3.xml"/><Relationship Id="rId4" Type="http://schemas.openxmlformats.org/officeDocument/2006/relationships/image" Target="../media/image5.gi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9B60FA6-6E24-C6E2-C35D-A4139BCE2E8B}"/>
              </a:ext>
            </a:extLst>
          </p:cNvPr>
          <p:cNvPicPr>
            <a:picLocks noChangeAspect="1"/>
          </p:cNvPicPr>
          <p:nvPr/>
        </p:nvPicPr>
        <p:blipFill>
          <a:blip r:embed="rId3"/>
          <a:stretch>
            <a:fillRect/>
          </a:stretch>
        </p:blipFill>
        <p:spPr>
          <a:xfrm>
            <a:off x="4747929" y="4846192"/>
            <a:ext cx="2696138" cy="45719"/>
          </a:xfrm>
          <a:prstGeom prst="rect">
            <a:avLst/>
          </a:prstGeom>
        </p:spPr>
      </p:pic>
      <p:sp>
        <p:nvSpPr>
          <p:cNvPr id="5" name="TextBox 4">
            <a:extLst>
              <a:ext uri="{FF2B5EF4-FFF2-40B4-BE49-F238E27FC236}">
                <a16:creationId xmlns:a16="http://schemas.microsoft.com/office/drawing/2014/main" id="{0BF4BEED-3D12-D343-768A-9E83F9558AE0}"/>
              </a:ext>
            </a:extLst>
          </p:cNvPr>
          <p:cNvSpPr txBox="1"/>
          <p:nvPr/>
        </p:nvSpPr>
        <p:spPr>
          <a:xfrm>
            <a:off x="668594" y="4138306"/>
            <a:ext cx="10746658" cy="646331"/>
          </a:xfrm>
          <a:prstGeom prst="rect">
            <a:avLst/>
          </a:prstGeom>
          <a:noFill/>
        </p:spPr>
        <p:txBody>
          <a:bodyPr wrap="square" rtlCol="0">
            <a:spAutoFit/>
          </a:bodyPr>
          <a:lstStyle/>
          <a:p>
            <a:pPr algn="ctr"/>
            <a:r>
              <a:rPr lang="en-US" sz="3600" dirty="0">
                <a:latin typeface="Roboto" panose="02000000000000000000" pitchFamily="2" charset="0"/>
                <a:ea typeface="Roboto" panose="02000000000000000000" pitchFamily="2" charset="0"/>
                <a:cs typeface="Roboto" panose="02000000000000000000" pitchFamily="2" charset="0"/>
              </a:rPr>
              <a:t>Value Stream Mapping of Information Flow </a:t>
            </a:r>
            <a:r>
              <a:rPr lang="en-US" sz="3600" dirty="0" err="1">
                <a:latin typeface="Roboto" panose="02000000000000000000" pitchFamily="2" charset="0"/>
                <a:ea typeface="Roboto" panose="02000000000000000000" pitchFamily="2" charset="0"/>
                <a:cs typeface="Roboto" panose="02000000000000000000" pitchFamily="2" charset="0"/>
              </a:rPr>
              <a:t>VSMi</a:t>
            </a:r>
            <a:r>
              <a:rPr lang="en-US" sz="3600" dirty="0">
                <a:latin typeface="Roboto" panose="02000000000000000000" pitchFamily="2" charset="0"/>
                <a:ea typeface="Roboto" panose="02000000000000000000" pitchFamily="2" charset="0"/>
                <a:cs typeface="Roboto" panose="02000000000000000000" pitchFamily="2" charset="0"/>
              </a:rPr>
              <a:t>®</a:t>
            </a:r>
          </a:p>
        </p:txBody>
      </p:sp>
      <p:sp>
        <p:nvSpPr>
          <p:cNvPr id="3" name="Slide Number Placeholder 2">
            <a:extLst>
              <a:ext uri="{FF2B5EF4-FFF2-40B4-BE49-F238E27FC236}">
                <a16:creationId xmlns:a16="http://schemas.microsoft.com/office/drawing/2014/main" id="{DCEF716D-CC64-6765-89C4-B03733484518}"/>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a:t>
            </a:fld>
            <a:endParaRPr lang="en-US"/>
          </a:p>
        </p:txBody>
      </p:sp>
    </p:spTree>
    <p:extLst>
      <p:ext uri="{BB962C8B-B14F-4D97-AF65-F5344CB8AC3E}">
        <p14:creationId xmlns:p14="http://schemas.microsoft.com/office/powerpoint/2010/main" val="5527953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92DCF-BAB1-5F2B-601F-3334D8ECE687}"/>
              </a:ext>
            </a:extLst>
          </p:cNvPr>
          <p:cNvSpPr>
            <a:spLocks noGrp="1"/>
          </p:cNvSpPr>
          <p:nvPr>
            <p:ph type="title"/>
          </p:nvPr>
        </p:nvSpPr>
        <p:spPr/>
        <p:txBody>
          <a:bodyPr/>
          <a:lstStyle/>
          <a:p>
            <a:r>
              <a:rPr lang="en-US" dirty="0"/>
              <a:t>Other Modules In This Series</a:t>
            </a:r>
          </a:p>
        </p:txBody>
      </p:sp>
      <p:sp>
        <p:nvSpPr>
          <p:cNvPr id="3" name="Content Placeholder 3">
            <a:extLst>
              <a:ext uri="{FF2B5EF4-FFF2-40B4-BE49-F238E27FC236}">
                <a16:creationId xmlns:a16="http://schemas.microsoft.com/office/drawing/2014/main" id="{2DE22F5B-0ED7-9B1A-A260-C714A06F6D8D}"/>
              </a:ext>
            </a:extLst>
          </p:cNvPr>
          <p:cNvSpPr txBox="1">
            <a:spLocks/>
          </p:cNvSpPr>
          <p:nvPr/>
        </p:nvSpPr>
        <p:spPr>
          <a:xfrm>
            <a:off x="5964518" y="1684208"/>
            <a:ext cx="5157787" cy="3684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Intro to Lean</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Process Mapping</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Value Stream Mapping (</a:t>
            </a:r>
            <a:r>
              <a:rPr lang="en-US" sz="1400" dirty="0" err="1">
                <a:solidFill>
                  <a:schemeClr val="tx1"/>
                </a:solidFill>
              </a:rPr>
              <a:t>VSMi</a:t>
            </a:r>
            <a:r>
              <a:rPr lang="en-US" sz="1400" dirty="0">
                <a:solidFill>
                  <a:schemeClr val="tx1"/>
                </a:solidFill>
              </a:rPr>
              <a:t>®)</a:t>
            </a:r>
          </a:p>
          <a:p>
            <a:pPr marL="0" indent="0" algn="r">
              <a:buNone/>
            </a:pPr>
            <a:r>
              <a:rPr lang="en-US" sz="1400" dirty="0">
                <a:solidFill>
                  <a:schemeClr val="tx1"/>
                </a:solidFill>
              </a:rPr>
              <a:t>Visual Management</a:t>
            </a:r>
          </a:p>
        </p:txBody>
      </p:sp>
      <p:sp>
        <p:nvSpPr>
          <p:cNvPr id="4" name="Steve Jones">
            <a:extLst>
              <a:ext uri="{FF2B5EF4-FFF2-40B4-BE49-F238E27FC236}">
                <a16:creationId xmlns:a16="http://schemas.microsoft.com/office/drawing/2014/main" id="{B6676899-EC75-8920-F33D-CCD7B872A3C8}"/>
              </a:ext>
            </a:extLst>
          </p:cNvPr>
          <p:cNvSpPr/>
          <p:nvPr/>
        </p:nvSpPr>
        <p:spPr>
          <a:xfrm>
            <a:off x="1069695" y="4201690"/>
            <a:ext cx="3475310" cy="19902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5" name="Head of Management Dept.">
            <a:extLst>
              <a:ext uri="{FF2B5EF4-FFF2-40B4-BE49-F238E27FC236}">
                <a16:creationId xmlns:a16="http://schemas.microsoft.com/office/drawing/2014/main" id="{FED8FB5A-94EA-4A6F-1D86-3986B231E3C4}"/>
              </a:ext>
            </a:extLst>
          </p:cNvPr>
          <p:cNvSpPr/>
          <p:nvPr/>
        </p:nvSpPr>
        <p:spPr>
          <a:xfrm>
            <a:off x="1367375" y="4590893"/>
            <a:ext cx="2879948" cy="838178"/>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6" name="TextBox 5">
            <a:extLst>
              <a:ext uri="{FF2B5EF4-FFF2-40B4-BE49-F238E27FC236}">
                <a16:creationId xmlns:a16="http://schemas.microsoft.com/office/drawing/2014/main" id="{527FEA71-DF2A-69B2-6339-1972E08AA96C}"/>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pic>
        <p:nvPicPr>
          <p:cNvPr id="7" name="Picture 6">
            <a:extLst>
              <a:ext uri="{FF2B5EF4-FFF2-40B4-BE49-F238E27FC236}">
                <a16:creationId xmlns:a16="http://schemas.microsoft.com/office/drawing/2014/main" id="{D567D265-DBA4-640B-F70C-E345C903584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9" name="Slide Number Placeholder 2">
            <a:extLst>
              <a:ext uri="{FF2B5EF4-FFF2-40B4-BE49-F238E27FC236}">
                <a16:creationId xmlns:a16="http://schemas.microsoft.com/office/drawing/2014/main" id="{FB743B8F-8573-6203-575B-F671C499E71F}"/>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a:t>
            </a:fld>
            <a:endParaRPr lang="en-US"/>
          </a:p>
        </p:txBody>
      </p:sp>
    </p:spTree>
    <p:extLst>
      <p:ext uri="{BB962C8B-B14F-4D97-AF65-F5344CB8AC3E}">
        <p14:creationId xmlns:p14="http://schemas.microsoft.com/office/powerpoint/2010/main" val="366177265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DE9536E-A3E9-9AC3-2CF5-E5110EFBF049}"/>
              </a:ext>
            </a:extLst>
          </p:cNvPr>
          <p:cNvSpPr>
            <a:spLocks noGrp="1"/>
          </p:cNvSpPr>
          <p:nvPr>
            <p:ph type="sldNum" sz="quarter" idx="11"/>
          </p:nvPr>
        </p:nvSpPr>
        <p:spPr/>
        <p:txBody>
          <a:bodyPr/>
          <a:lstStyle/>
          <a:p>
            <a:fld id="{CC6D4273-7FC1-0947-B9FE-19CB3C0D1FB6}" type="slidenum">
              <a:rPr lang="en-US" smtClean="0"/>
              <a:pPr/>
              <a:t>3</a:t>
            </a:fld>
            <a:endParaRPr lang="en-US" dirty="0"/>
          </a:p>
        </p:txBody>
      </p:sp>
      <p:sp>
        <p:nvSpPr>
          <p:cNvPr id="4" name="TextBox 3">
            <a:extLst>
              <a:ext uri="{FF2B5EF4-FFF2-40B4-BE49-F238E27FC236}">
                <a16:creationId xmlns:a16="http://schemas.microsoft.com/office/drawing/2014/main" id="{1A4AE373-0611-EB19-BB19-9C1E2B3420FE}"/>
              </a:ext>
            </a:extLst>
          </p:cNvPr>
          <p:cNvSpPr txBox="1"/>
          <p:nvPr/>
        </p:nvSpPr>
        <p:spPr>
          <a:xfrm>
            <a:off x="3046810" y="2413338"/>
            <a:ext cx="5868590" cy="2554545"/>
          </a:xfrm>
          <a:prstGeom prst="rect">
            <a:avLst/>
          </a:prstGeom>
          <a:noFill/>
        </p:spPr>
        <p:txBody>
          <a:bodyPr wrap="square">
            <a:spAutoFit/>
          </a:bodyPr>
          <a:lstStyle/>
          <a:p>
            <a:pPr marL="0" indent="0" algn="ctr">
              <a:buNone/>
            </a:pPr>
            <a: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t>This document contains confidential</a:t>
            </a:r>
            <a:b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t>and proprietary information owned</a:t>
            </a:r>
            <a:b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t> by Lean Horizons Consulting, LLC.</a:t>
            </a:r>
            <a:b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br>
            <a:b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t>Any disclosure, use, copying or</a:t>
            </a:r>
            <a:b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2000" dirty="0">
                <a:solidFill>
                  <a:schemeClr val="tx1"/>
                </a:solidFill>
                <a:latin typeface="Roboto" panose="02000000000000000000" pitchFamily="2" charset="0"/>
                <a:ea typeface="Roboto" panose="02000000000000000000" pitchFamily="2" charset="0"/>
                <a:cs typeface="Roboto" panose="02000000000000000000" pitchFamily="2" charset="0"/>
              </a:rPr>
              <a:t>distribution of this information without the express written consent of Lean Horizons Consulting is strictly prohibited.</a:t>
            </a:r>
          </a:p>
        </p:txBody>
      </p:sp>
    </p:spTree>
    <p:extLst>
      <p:ext uri="{BB962C8B-B14F-4D97-AF65-F5344CB8AC3E}">
        <p14:creationId xmlns:p14="http://schemas.microsoft.com/office/powerpoint/2010/main" val="24386373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797C3-5998-9BA5-DE9C-B0C2BDAC4386}"/>
              </a:ext>
            </a:extLst>
          </p:cNvPr>
          <p:cNvSpPr>
            <a:spLocks noGrp="1"/>
          </p:cNvSpPr>
          <p:nvPr>
            <p:ph type="title"/>
          </p:nvPr>
        </p:nvSpPr>
        <p:spPr/>
        <p:txBody>
          <a:bodyPr/>
          <a:lstStyle/>
          <a:p>
            <a:r>
              <a:rPr lang="en-US" dirty="0"/>
              <a:t>Ground Rules for Event</a:t>
            </a:r>
          </a:p>
        </p:txBody>
      </p:sp>
      <p:sp>
        <p:nvSpPr>
          <p:cNvPr id="3" name="Content Placeholder 2">
            <a:extLst>
              <a:ext uri="{FF2B5EF4-FFF2-40B4-BE49-F238E27FC236}">
                <a16:creationId xmlns:a16="http://schemas.microsoft.com/office/drawing/2014/main" id="{A51F593B-1086-0371-9F3E-9B8A17BFFF59}"/>
              </a:ext>
            </a:extLst>
          </p:cNvPr>
          <p:cNvSpPr>
            <a:spLocks noGrp="1"/>
          </p:cNvSpPr>
          <p:nvPr>
            <p:ph idx="1"/>
          </p:nvPr>
        </p:nvSpPr>
        <p:spPr/>
        <p:txBody>
          <a:bodyPr>
            <a:normAutofit/>
          </a:bodyPr>
          <a:lstStyle/>
          <a:p>
            <a:r>
              <a:rPr lang="en-US" dirty="0"/>
              <a:t>Safety first (use personal protective equipment)</a:t>
            </a:r>
          </a:p>
          <a:p>
            <a:r>
              <a:rPr lang="en-US" dirty="0"/>
              <a:t>Active participation by all</a:t>
            </a:r>
          </a:p>
          <a:p>
            <a:r>
              <a:rPr lang="en-US" dirty="0"/>
              <a:t>Start and end on time</a:t>
            </a:r>
          </a:p>
          <a:p>
            <a:r>
              <a:rPr lang="en-US" dirty="0"/>
              <a:t>All electronic gadgets (phones, pagers, </a:t>
            </a:r>
            <a:r>
              <a:rPr lang="en-US" dirty="0" err="1"/>
              <a:t>etc</a:t>
            </a:r>
            <a:r>
              <a:rPr lang="en-US" dirty="0"/>
              <a:t>) turned to “off” or “silent”</a:t>
            </a:r>
          </a:p>
          <a:p>
            <a:r>
              <a:rPr lang="en-US" dirty="0"/>
              <a:t>Computers to be used only when instructed</a:t>
            </a:r>
          </a:p>
          <a:p>
            <a:r>
              <a:rPr lang="en-US" dirty="0"/>
              <a:t>Keep an open mind to change</a:t>
            </a:r>
          </a:p>
          <a:p>
            <a:r>
              <a:rPr lang="en-US" dirty="0"/>
              <a:t>Don’t let “perfect” get in the way of “better”</a:t>
            </a:r>
          </a:p>
          <a:p>
            <a:endParaRPr lang="en-US" dirty="0"/>
          </a:p>
          <a:p>
            <a:endParaRPr lang="en-US" dirty="0"/>
          </a:p>
        </p:txBody>
      </p:sp>
      <p:sp>
        <p:nvSpPr>
          <p:cNvPr id="4" name="Slide Number Placeholder 2">
            <a:extLst>
              <a:ext uri="{FF2B5EF4-FFF2-40B4-BE49-F238E27FC236}">
                <a16:creationId xmlns:a16="http://schemas.microsoft.com/office/drawing/2014/main" id="{EBDBB87B-8CD1-9E38-D851-65361D79CA18}"/>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a:t>
            </a:fld>
            <a:endParaRPr lang="en-US"/>
          </a:p>
        </p:txBody>
      </p:sp>
    </p:spTree>
    <p:extLst>
      <p:ext uri="{BB962C8B-B14F-4D97-AF65-F5344CB8AC3E}">
        <p14:creationId xmlns:p14="http://schemas.microsoft.com/office/powerpoint/2010/main" val="258959466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lstStyle/>
          <a:p>
            <a:r>
              <a:rPr lang="en-US" dirty="0"/>
              <a:t>Value Stream Mapping Defined</a:t>
            </a:r>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5" y="2217738"/>
            <a:ext cx="8212138" cy="1435100"/>
          </a:xfrm>
          <a:prstGeom prst="rect">
            <a:avLst/>
          </a:prstGeom>
          <a:solidFill>
            <a:srgbClr val="7F7F7F"/>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buFont typeface="Wingdings" pitchFamily="2" charset="2"/>
              <a:buNone/>
            </a:pPr>
            <a:r>
              <a:rPr lang="en-US" altLang="en-US" sz="1800" b="0" dirty="0">
                <a:solidFill>
                  <a:schemeClr val="bg1"/>
                </a:solidFill>
              </a:rPr>
              <a:t>VSM is a snapshot of all actions both value added and non-value added </a:t>
            </a:r>
            <a:br>
              <a:rPr lang="en-US" altLang="en-US" sz="1800" b="0" dirty="0">
                <a:solidFill>
                  <a:schemeClr val="bg1"/>
                </a:solidFill>
              </a:rPr>
            </a:br>
            <a:r>
              <a:rPr lang="en-US" altLang="en-US" sz="1800" b="0" dirty="0">
                <a:solidFill>
                  <a:schemeClr val="bg1"/>
                </a:solidFill>
              </a:rPr>
              <a:t>required to bring a product or service through the main material </a:t>
            </a:r>
            <a:br>
              <a:rPr lang="en-US" altLang="en-US" sz="1800" b="0" dirty="0">
                <a:solidFill>
                  <a:schemeClr val="bg1"/>
                </a:solidFill>
              </a:rPr>
            </a:br>
            <a:r>
              <a:rPr lang="en-US" altLang="en-US" sz="1800" b="0" dirty="0">
                <a:solidFill>
                  <a:schemeClr val="bg1"/>
                </a:solidFill>
              </a:rPr>
              <a:t>and information flows</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933450" y="1863725"/>
            <a:ext cx="2076450" cy="31115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Definition of VSM</a:t>
            </a:r>
          </a:p>
        </p:txBody>
      </p:sp>
      <p:sp>
        <p:nvSpPr>
          <p:cNvPr id="5" name="Rectangle 5">
            <a:extLst>
              <a:ext uri="{FF2B5EF4-FFF2-40B4-BE49-F238E27FC236}">
                <a16:creationId xmlns:a16="http://schemas.microsoft.com/office/drawing/2014/main" id="{E7D14904-2E4E-65EC-470B-CA59594F5C68}"/>
              </a:ext>
            </a:extLst>
          </p:cNvPr>
          <p:cNvSpPr>
            <a:spLocks noChangeArrowheads="1"/>
          </p:cNvSpPr>
          <p:nvPr/>
        </p:nvSpPr>
        <p:spPr bwMode="auto">
          <a:xfrm>
            <a:off x="6130885" y="3976688"/>
            <a:ext cx="4586328"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Components of VSM</a:t>
            </a:r>
          </a:p>
        </p:txBody>
      </p:sp>
      <p:sp>
        <p:nvSpPr>
          <p:cNvPr id="6" name="Rectangle 6">
            <a:extLst>
              <a:ext uri="{FF2B5EF4-FFF2-40B4-BE49-F238E27FC236}">
                <a16:creationId xmlns:a16="http://schemas.microsoft.com/office/drawing/2014/main" id="{F0695F8F-4A17-DEA2-8553-C5BD67A09D11}"/>
              </a:ext>
            </a:extLst>
          </p:cNvPr>
          <p:cNvSpPr>
            <a:spLocks noChangeArrowheads="1"/>
          </p:cNvSpPr>
          <p:nvPr/>
        </p:nvSpPr>
        <p:spPr bwMode="auto">
          <a:xfrm>
            <a:off x="6096000" y="4416426"/>
            <a:ext cx="4622801" cy="188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
                <a:schemeClr val="tx1"/>
              </a:buClr>
              <a:buSzPct val="90000"/>
              <a:buFont typeface="Wingdings" pitchFamily="2" charset="2"/>
              <a:buChar char="§"/>
            </a:pPr>
            <a:r>
              <a:rPr lang="en-US" altLang="en-US" sz="1400" dirty="0"/>
              <a:t>Current State Value Stream Map</a:t>
            </a:r>
          </a:p>
          <a:p>
            <a:pPr>
              <a:spcBef>
                <a:spcPct val="20000"/>
              </a:spcBef>
              <a:spcAft>
                <a:spcPct val="20000"/>
              </a:spcAft>
              <a:buClr>
                <a:schemeClr val="tx1"/>
              </a:buClr>
              <a:buSzPct val="90000"/>
              <a:buFont typeface="Wingdings" pitchFamily="2" charset="2"/>
              <a:buChar char="§"/>
            </a:pPr>
            <a:r>
              <a:rPr lang="en-US" altLang="en-US" sz="1400" dirty="0"/>
              <a:t>Mark-Up of Current State </a:t>
            </a:r>
            <a:br>
              <a:rPr lang="en-US" altLang="en-US" sz="1400" dirty="0"/>
            </a:br>
            <a:r>
              <a:rPr lang="en-US" altLang="en-US" sz="1400" dirty="0"/>
              <a:t>Value Stream Map</a:t>
            </a:r>
          </a:p>
          <a:p>
            <a:pPr>
              <a:spcBef>
                <a:spcPct val="20000"/>
              </a:spcBef>
              <a:spcAft>
                <a:spcPct val="20000"/>
              </a:spcAft>
              <a:buClr>
                <a:schemeClr val="tx1"/>
              </a:buClr>
              <a:buSzPct val="90000"/>
              <a:buFont typeface="Wingdings" pitchFamily="2" charset="2"/>
              <a:buChar char="§"/>
            </a:pPr>
            <a:r>
              <a:rPr lang="en-US" altLang="en-US" sz="1400" dirty="0"/>
              <a:t>Future State Value Stream Map</a:t>
            </a:r>
          </a:p>
          <a:p>
            <a:pPr>
              <a:spcBef>
                <a:spcPct val="20000"/>
              </a:spcBef>
              <a:spcAft>
                <a:spcPct val="20000"/>
              </a:spcAft>
              <a:buClr>
                <a:schemeClr val="tx1"/>
              </a:buClr>
              <a:buSzPct val="90000"/>
              <a:buFont typeface="Wingdings" pitchFamily="2" charset="2"/>
              <a:buChar char="§"/>
            </a:pPr>
            <a:r>
              <a:rPr lang="en-US" altLang="en-US" sz="1400" dirty="0"/>
              <a:t>Value Stream Plan</a:t>
            </a:r>
          </a:p>
          <a:p>
            <a:pPr>
              <a:spcBef>
                <a:spcPct val="20000"/>
              </a:spcBef>
              <a:spcAft>
                <a:spcPct val="20000"/>
              </a:spcAft>
              <a:buClr>
                <a:schemeClr val="tx1"/>
              </a:buClr>
              <a:buSzPct val="90000"/>
              <a:buFont typeface="Wingdings" pitchFamily="2" charset="2"/>
              <a:buChar char="§"/>
            </a:pPr>
            <a:endParaRPr lang="en-US" altLang="en-US" sz="1400" dirty="0"/>
          </a:p>
        </p:txBody>
      </p:sp>
      <p:sp>
        <p:nvSpPr>
          <p:cNvPr id="7" name="Rectangle 8">
            <a:extLst>
              <a:ext uri="{FF2B5EF4-FFF2-40B4-BE49-F238E27FC236}">
                <a16:creationId xmlns:a16="http://schemas.microsoft.com/office/drawing/2014/main" id="{A2CC8B2B-98A9-38C2-4461-D1F30BF0511B}"/>
              </a:ext>
            </a:extLst>
          </p:cNvPr>
          <p:cNvSpPr>
            <a:spLocks noChangeArrowheads="1"/>
          </p:cNvSpPr>
          <p:nvPr/>
        </p:nvSpPr>
        <p:spPr bwMode="auto">
          <a:xfrm>
            <a:off x="931863" y="3986213"/>
            <a:ext cx="4703578"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Key Characteristics</a:t>
            </a:r>
          </a:p>
        </p:txBody>
      </p:sp>
      <p:sp>
        <p:nvSpPr>
          <p:cNvPr id="8" name="Rectangle 9">
            <a:extLst>
              <a:ext uri="{FF2B5EF4-FFF2-40B4-BE49-F238E27FC236}">
                <a16:creationId xmlns:a16="http://schemas.microsoft.com/office/drawing/2014/main" id="{43B15214-E453-71BC-1471-FB87A59BD243}"/>
              </a:ext>
            </a:extLst>
          </p:cNvPr>
          <p:cNvSpPr>
            <a:spLocks noChangeArrowheads="1"/>
          </p:cNvSpPr>
          <p:nvPr/>
        </p:nvSpPr>
        <p:spPr bwMode="auto">
          <a:xfrm>
            <a:off x="838200" y="4492626"/>
            <a:ext cx="48053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t>VSM is a graphical representation that uses a common mapping language</a:t>
            </a:r>
          </a:p>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t>VSM provides the basis and direction for identifying improvement opportunities</a:t>
            </a:r>
          </a:p>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t>The power is in the plan! </a:t>
            </a:r>
          </a:p>
          <a:p>
            <a:pPr eaLnBrk="1" hangingPunct="1">
              <a:lnSpc>
                <a:spcPct val="100000"/>
              </a:lnSpc>
              <a:spcBef>
                <a:spcPct val="20000"/>
              </a:spcBef>
              <a:spcAft>
                <a:spcPct val="20000"/>
              </a:spcAft>
              <a:buClr>
                <a:schemeClr val="tx1"/>
              </a:buClr>
              <a:buSzPct val="90000"/>
              <a:buFont typeface="Wingdings" pitchFamily="2" charset="2"/>
              <a:buChar char="§"/>
            </a:pPr>
            <a:endParaRPr lang="en-US" altLang="en-US" sz="1400" dirty="0"/>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5</a:t>
            </a:fld>
            <a:endParaRPr lang="en-US"/>
          </a:p>
        </p:txBody>
      </p:sp>
    </p:spTree>
    <p:extLst>
      <p:ext uri="{BB962C8B-B14F-4D97-AF65-F5344CB8AC3E}">
        <p14:creationId xmlns:p14="http://schemas.microsoft.com/office/powerpoint/2010/main" val="404643461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CCFBF5-BE46-AABD-533B-B6608C526F67}"/>
              </a:ext>
            </a:extLst>
          </p:cNvPr>
          <p:cNvSpPr>
            <a:spLocks noGrp="1"/>
          </p:cNvSpPr>
          <p:nvPr>
            <p:ph type="title"/>
          </p:nvPr>
        </p:nvSpPr>
        <p:spPr/>
        <p:txBody>
          <a:bodyPr/>
          <a:lstStyle/>
          <a:p>
            <a:r>
              <a:rPr lang="en-US" dirty="0"/>
              <a:t>The “</a:t>
            </a:r>
            <a:r>
              <a:rPr lang="en-US" dirty="0" err="1"/>
              <a:t>i</a:t>
            </a:r>
            <a:r>
              <a:rPr lang="en-US" dirty="0"/>
              <a:t>” in </a:t>
            </a:r>
            <a:r>
              <a:rPr lang="en-US" dirty="0" err="1"/>
              <a:t>VSMi</a:t>
            </a:r>
            <a:endParaRPr lang="en-US" dirty="0"/>
          </a:p>
        </p:txBody>
      </p:sp>
      <p:sp>
        <p:nvSpPr>
          <p:cNvPr id="3" name="Content Placeholder 2">
            <a:extLst>
              <a:ext uri="{FF2B5EF4-FFF2-40B4-BE49-F238E27FC236}">
                <a16:creationId xmlns:a16="http://schemas.microsoft.com/office/drawing/2014/main" id="{2A5359E6-E7DF-F709-E081-2E4CA8D5F0B8}"/>
              </a:ext>
            </a:extLst>
          </p:cNvPr>
          <p:cNvSpPr>
            <a:spLocks noGrp="1"/>
          </p:cNvSpPr>
          <p:nvPr>
            <p:ph idx="1"/>
          </p:nvPr>
        </p:nvSpPr>
        <p:spPr/>
        <p:txBody>
          <a:bodyPr>
            <a:normAutofit/>
          </a:bodyPr>
          <a:lstStyle/>
          <a:p>
            <a:r>
              <a:rPr lang="en-US" dirty="0" err="1"/>
              <a:t>VSMi</a:t>
            </a:r>
            <a:r>
              <a:rPr lang="en-US" dirty="0"/>
              <a:t> is about identifying and eliminating waste associated with the flow of information</a:t>
            </a:r>
          </a:p>
          <a:p>
            <a:r>
              <a:rPr lang="en-US" dirty="0"/>
              <a:t>Information flow is defined as adding to, subtracting from, interpreting, or reformatting information</a:t>
            </a:r>
          </a:p>
          <a:p>
            <a:r>
              <a:rPr lang="en-US" dirty="0"/>
              <a:t>Information must arrive at the to the right place, at the right time, and to the right person</a:t>
            </a:r>
          </a:p>
          <a:p>
            <a:r>
              <a:rPr lang="en-US" dirty="0"/>
              <a:t>Processes today are not designed around information flow</a:t>
            </a:r>
          </a:p>
          <a:p>
            <a:endParaRPr lang="en-US" dirty="0"/>
          </a:p>
          <a:p>
            <a:endParaRPr lang="en-US" dirty="0"/>
          </a:p>
        </p:txBody>
      </p:sp>
      <p:sp>
        <p:nvSpPr>
          <p:cNvPr id="4" name="Slide Number Placeholder 2">
            <a:extLst>
              <a:ext uri="{FF2B5EF4-FFF2-40B4-BE49-F238E27FC236}">
                <a16:creationId xmlns:a16="http://schemas.microsoft.com/office/drawing/2014/main" id="{FC881313-AE65-B2E5-D09D-C434715FC0D4}"/>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a:t>
            </a:fld>
            <a:endParaRPr lang="en-US"/>
          </a:p>
        </p:txBody>
      </p:sp>
    </p:spTree>
    <p:extLst>
      <p:ext uri="{BB962C8B-B14F-4D97-AF65-F5344CB8AC3E}">
        <p14:creationId xmlns:p14="http://schemas.microsoft.com/office/powerpoint/2010/main" val="187872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 Box 64">
            <a:extLst>
              <a:ext uri="{FF2B5EF4-FFF2-40B4-BE49-F238E27FC236}">
                <a16:creationId xmlns:a16="http://schemas.microsoft.com/office/drawing/2014/main" id="{EF5B73C7-0A33-DA9A-A466-635D3BAB648D}"/>
              </a:ext>
            </a:extLst>
          </p:cNvPr>
          <p:cNvSpPr txBox="1">
            <a:spLocks noChangeArrowheads="1"/>
          </p:cNvSpPr>
          <p:nvPr/>
        </p:nvSpPr>
        <p:spPr bwMode="auto">
          <a:xfrm>
            <a:off x="2485898" y="1945259"/>
            <a:ext cx="2063438"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VALUE STREAM MAP</a:t>
            </a:r>
          </a:p>
        </p:txBody>
      </p:sp>
      <p:sp>
        <p:nvSpPr>
          <p:cNvPr id="136" name="AutoShape 2">
            <a:extLst>
              <a:ext uri="{FF2B5EF4-FFF2-40B4-BE49-F238E27FC236}">
                <a16:creationId xmlns:a16="http://schemas.microsoft.com/office/drawing/2014/main" id="{6E5A8F6A-2B0E-303F-D0FB-21150291FBFB}"/>
              </a:ext>
            </a:extLst>
          </p:cNvPr>
          <p:cNvSpPr>
            <a:spLocks noChangeArrowheads="1"/>
          </p:cNvSpPr>
          <p:nvPr/>
        </p:nvSpPr>
        <p:spPr bwMode="auto">
          <a:xfrm>
            <a:off x="237057" y="4421121"/>
            <a:ext cx="5287384" cy="1537940"/>
          </a:xfrm>
          <a:prstGeom prst="upArrow">
            <a:avLst>
              <a:gd name="adj1" fmla="val 83704"/>
              <a:gd name="adj2" fmla="val 30343"/>
            </a:avLst>
          </a:prstGeom>
          <a:solidFill>
            <a:srgbClr val="EE3228"/>
          </a:solidFill>
          <a:ln w="12700" cap="sq">
            <a:solidFill>
              <a:schemeClr val="tx1"/>
            </a:solidFill>
            <a:miter lim="800000"/>
            <a:headEnd/>
            <a:tailEnd/>
          </a:ln>
        </p:spPr>
        <p:txBody>
          <a:bodyPr wrap="non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High-level snapshot of end-to-end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business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Used to identify where opportunities for improvement exist</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Does not incorporate decision loops</a:t>
            </a:r>
          </a:p>
        </p:txBody>
      </p:sp>
      <p:sp>
        <p:nvSpPr>
          <p:cNvPr id="137" name="Rectangle 4">
            <a:extLst>
              <a:ext uri="{FF2B5EF4-FFF2-40B4-BE49-F238E27FC236}">
                <a16:creationId xmlns:a16="http://schemas.microsoft.com/office/drawing/2014/main" id="{2044EB11-58B4-B1DA-3E1C-89B52AEFA593}"/>
              </a:ext>
            </a:extLst>
          </p:cNvPr>
          <p:cNvSpPr>
            <a:spLocks noChangeArrowheads="1"/>
          </p:cNvSpPr>
          <p:nvPr/>
        </p:nvSpPr>
        <p:spPr bwMode="auto">
          <a:xfrm>
            <a:off x="505988" y="1535113"/>
            <a:ext cx="5086645" cy="2653240"/>
          </a:xfrm>
          <a:prstGeom prst="rect">
            <a:avLst/>
          </a:prstGeom>
          <a:solidFill>
            <a:srgbClr val="F8F8F8"/>
          </a:solidFill>
          <a:ln w="12700" cap="sq">
            <a:solidFill>
              <a:srgbClr val="7F7F7F"/>
            </a:solidFill>
            <a:miter lim="800000"/>
            <a:headEnd type="none" w="sm" len="sm"/>
            <a:tailEnd type="none" w="sm" len="sm"/>
          </a:ln>
          <a:effectLst>
            <a:outerShdw blurRad="63500" dist="63500" dir="3187806" algn="ctr" rotWithShape="0">
              <a:schemeClr val="tx1">
                <a:alpha val="74998"/>
              </a:schemeClr>
            </a:outerShdw>
          </a:effectLst>
        </p:spPr>
        <p:txBody>
          <a:bodyPr wrap="none" anchor="ctr"/>
          <a:lstStyle/>
          <a:p>
            <a:pPr algn="ctr">
              <a:lnSpc>
                <a:spcPct val="80000"/>
              </a:lnSpc>
              <a:spcBef>
                <a:spcPct val="20000"/>
              </a:spcBef>
              <a:defRPr/>
            </a:pPr>
            <a:endParaRPr lang="en-US">
              <a:latin typeface="Arial" charset="0"/>
              <a:ea typeface="ＭＳ Ｐゴシック" charset="0"/>
            </a:endParaRPr>
          </a:p>
        </p:txBody>
      </p:sp>
      <p:grpSp>
        <p:nvGrpSpPr>
          <p:cNvPr id="138" name="Group 5">
            <a:extLst>
              <a:ext uri="{FF2B5EF4-FFF2-40B4-BE49-F238E27FC236}">
                <a16:creationId xmlns:a16="http://schemas.microsoft.com/office/drawing/2014/main" id="{E0A6DA4B-DE88-2B14-086A-131648665F40}"/>
              </a:ext>
            </a:extLst>
          </p:cNvPr>
          <p:cNvGrpSpPr>
            <a:grpSpLocks/>
          </p:cNvGrpSpPr>
          <p:nvPr/>
        </p:nvGrpSpPr>
        <p:grpSpPr bwMode="auto">
          <a:xfrm>
            <a:off x="625157" y="1718670"/>
            <a:ext cx="911017" cy="510345"/>
            <a:chOff x="933" y="2179"/>
            <a:chExt cx="658" cy="463"/>
          </a:xfrm>
        </p:grpSpPr>
        <p:sp>
          <p:nvSpPr>
            <p:cNvPr id="139" name="Rectangle 6">
              <a:extLst>
                <a:ext uri="{FF2B5EF4-FFF2-40B4-BE49-F238E27FC236}">
                  <a16:creationId xmlns:a16="http://schemas.microsoft.com/office/drawing/2014/main" id="{5ABB4686-29A4-E32B-5BDB-41DE05C00907}"/>
                </a:ext>
              </a:extLst>
            </p:cNvPr>
            <p:cNvSpPr>
              <a:spLocks noChangeArrowheads="1"/>
            </p:cNvSpPr>
            <p:nvPr/>
          </p:nvSpPr>
          <p:spPr bwMode="auto">
            <a:xfrm>
              <a:off x="1545" y="2179"/>
              <a:ext cx="41" cy="250"/>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0" name="Rectangle 7">
              <a:extLst>
                <a:ext uri="{FF2B5EF4-FFF2-40B4-BE49-F238E27FC236}">
                  <a16:creationId xmlns:a16="http://schemas.microsoft.com/office/drawing/2014/main" id="{CA3EEC29-DF09-E2C7-6D17-B77757623E12}"/>
                </a:ext>
              </a:extLst>
            </p:cNvPr>
            <p:cNvSpPr>
              <a:spLocks noChangeArrowheads="1"/>
            </p:cNvSpPr>
            <p:nvPr/>
          </p:nvSpPr>
          <p:spPr bwMode="auto">
            <a:xfrm>
              <a:off x="933" y="2435"/>
              <a:ext cx="658" cy="209"/>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1" name="AutoShape 8">
              <a:extLst>
                <a:ext uri="{FF2B5EF4-FFF2-40B4-BE49-F238E27FC236}">
                  <a16:creationId xmlns:a16="http://schemas.microsoft.com/office/drawing/2014/main" id="{032E2FE8-E410-FFBA-88EE-0732A00D1603}"/>
                </a:ext>
              </a:extLst>
            </p:cNvPr>
            <p:cNvSpPr>
              <a:spLocks noChangeArrowheads="1"/>
            </p:cNvSpPr>
            <p:nvPr/>
          </p:nvSpPr>
          <p:spPr bwMode="auto">
            <a:xfrm>
              <a:off x="1342"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2" name="AutoShape 9">
              <a:extLst>
                <a:ext uri="{FF2B5EF4-FFF2-40B4-BE49-F238E27FC236}">
                  <a16:creationId xmlns:a16="http://schemas.microsoft.com/office/drawing/2014/main" id="{E59B9C47-05EC-DB4A-2EDE-A9DC7BF81E56}"/>
                </a:ext>
              </a:extLst>
            </p:cNvPr>
            <p:cNvSpPr>
              <a:spLocks noChangeArrowheads="1"/>
            </p:cNvSpPr>
            <p:nvPr/>
          </p:nvSpPr>
          <p:spPr bwMode="auto">
            <a:xfrm>
              <a:off x="1138"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3" name="AutoShape 10">
              <a:extLst>
                <a:ext uri="{FF2B5EF4-FFF2-40B4-BE49-F238E27FC236}">
                  <a16:creationId xmlns:a16="http://schemas.microsoft.com/office/drawing/2014/main" id="{8266856E-8BBF-2D7D-D509-4018CD426FF0}"/>
                </a:ext>
              </a:extLst>
            </p:cNvPr>
            <p:cNvSpPr>
              <a:spLocks noChangeArrowheads="1"/>
            </p:cNvSpPr>
            <p:nvPr/>
          </p:nvSpPr>
          <p:spPr bwMode="auto">
            <a:xfrm>
              <a:off x="934" y="2245"/>
              <a:ext cx="201"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4" name="Rectangle 11">
              <a:extLst>
                <a:ext uri="{FF2B5EF4-FFF2-40B4-BE49-F238E27FC236}">
                  <a16:creationId xmlns:a16="http://schemas.microsoft.com/office/drawing/2014/main" id="{19B04492-6F2F-530D-9707-56423151471C}"/>
                </a:ext>
              </a:extLst>
            </p:cNvPr>
            <p:cNvSpPr>
              <a:spLocks noChangeArrowheads="1"/>
            </p:cNvSpPr>
            <p:nvPr/>
          </p:nvSpPr>
          <p:spPr bwMode="auto">
            <a:xfrm>
              <a:off x="974"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5" name="Rectangle 12">
              <a:extLst>
                <a:ext uri="{FF2B5EF4-FFF2-40B4-BE49-F238E27FC236}">
                  <a16:creationId xmlns:a16="http://schemas.microsoft.com/office/drawing/2014/main" id="{A9A0A43B-EF2D-A382-66CA-ECCC5067BF1A}"/>
                </a:ext>
              </a:extLst>
            </p:cNvPr>
            <p:cNvSpPr>
              <a:spLocks noChangeArrowheads="1"/>
            </p:cNvSpPr>
            <p:nvPr/>
          </p:nvSpPr>
          <p:spPr bwMode="auto">
            <a:xfrm>
              <a:off x="1185"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6" name="Rectangle 13">
              <a:extLst>
                <a:ext uri="{FF2B5EF4-FFF2-40B4-BE49-F238E27FC236}">
                  <a16:creationId xmlns:a16="http://schemas.microsoft.com/office/drawing/2014/main" id="{B4D349A7-CA12-0F08-3FB8-B953F989FDD5}"/>
                </a:ext>
              </a:extLst>
            </p:cNvPr>
            <p:cNvSpPr>
              <a:spLocks noChangeArrowheads="1"/>
            </p:cNvSpPr>
            <p:nvPr/>
          </p:nvSpPr>
          <p:spPr bwMode="auto">
            <a:xfrm>
              <a:off x="1395" y="2355"/>
              <a:ext cx="26"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grpSp>
        <p:nvGrpSpPr>
          <p:cNvPr id="147" name="Group 14">
            <a:extLst>
              <a:ext uri="{FF2B5EF4-FFF2-40B4-BE49-F238E27FC236}">
                <a16:creationId xmlns:a16="http://schemas.microsoft.com/office/drawing/2014/main" id="{591AABF8-4799-C0C0-E5DB-CD62E5A531B2}"/>
              </a:ext>
            </a:extLst>
          </p:cNvPr>
          <p:cNvGrpSpPr>
            <a:grpSpLocks/>
          </p:cNvGrpSpPr>
          <p:nvPr/>
        </p:nvGrpSpPr>
        <p:grpSpPr bwMode="auto">
          <a:xfrm>
            <a:off x="4463661" y="1718670"/>
            <a:ext cx="911017" cy="510345"/>
            <a:chOff x="933" y="2179"/>
            <a:chExt cx="658" cy="463"/>
          </a:xfrm>
        </p:grpSpPr>
        <p:sp>
          <p:nvSpPr>
            <p:cNvPr id="148" name="Rectangle 15">
              <a:extLst>
                <a:ext uri="{FF2B5EF4-FFF2-40B4-BE49-F238E27FC236}">
                  <a16:creationId xmlns:a16="http://schemas.microsoft.com/office/drawing/2014/main" id="{73E75A92-741C-F456-F510-442CA1DAC008}"/>
                </a:ext>
              </a:extLst>
            </p:cNvPr>
            <p:cNvSpPr>
              <a:spLocks noChangeArrowheads="1"/>
            </p:cNvSpPr>
            <p:nvPr/>
          </p:nvSpPr>
          <p:spPr bwMode="auto">
            <a:xfrm>
              <a:off x="1545" y="2179"/>
              <a:ext cx="41" cy="250"/>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49" name="Rectangle 16">
              <a:extLst>
                <a:ext uri="{FF2B5EF4-FFF2-40B4-BE49-F238E27FC236}">
                  <a16:creationId xmlns:a16="http://schemas.microsoft.com/office/drawing/2014/main" id="{5C352CDA-E359-1CA5-ECAE-C24148017918}"/>
                </a:ext>
              </a:extLst>
            </p:cNvPr>
            <p:cNvSpPr>
              <a:spLocks noChangeArrowheads="1"/>
            </p:cNvSpPr>
            <p:nvPr/>
          </p:nvSpPr>
          <p:spPr bwMode="auto">
            <a:xfrm>
              <a:off x="933" y="2435"/>
              <a:ext cx="658" cy="209"/>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0" name="AutoShape 17">
              <a:extLst>
                <a:ext uri="{FF2B5EF4-FFF2-40B4-BE49-F238E27FC236}">
                  <a16:creationId xmlns:a16="http://schemas.microsoft.com/office/drawing/2014/main" id="{97A8EE4C-5ACC-552F-2DE6-C987E8E5BB5A}"/>
                </a:ext>
              </a:extLst>
            </p:cNvPr>
            <p:cNvSpPr>
              <a:spLocks noChangeArrowheads="1"/>
            </p:cNvSpPr>
            <p:nvPr/>
          </p:nvSpPr>
          <p:spPr bwMode="auto">
            <a:xfrm>
              <a:off x="1342"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1" name="AutoShape 18">
              <a:extLst>
                <a:ext uri="{FF2B5EF4-FFF2-40B4-BE49-F238E27FC236}">
                  <a16:creationId xmlns:a16="http://schemas.microsoft.com/office/drawing/2014/main" id="{EE9B007C-1B65-709F-8D31-F32FD13C8559}"/>
                </a:ext>
              </a:extLst>
            </p:cNvPr>
            <p:cNvSpPr>
              <a:spLocks noChangeArrowheads="1"/>
            </p:cNvSpPr>
            <p:nvPr/>
          </p:nvSpPr>
          <p:spPr bwMode="auto">
            <a:xfrm>
              <a:off x="1138" y="2245"/>
              <a:ext cx="202"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2" name="AutoShape 19">
              <a:extLst>
                <a:ext uri="{FF2B5EF4-FFF2-40B4-BE49-F238E27FC236}">
                  <a16:creationId xmlns:a16="http://schemas.microsoft.com/office/drawing/2014/main" id="{ED5352A4-9A4A-B168-293B-22AACE0E48D7}"/>
                </a:ext>
              </a:extLst>
            </p:cNvPr>
            <p:cNvSpPr>
              <a:spLocks noChangeArrowheads="1"/>
            </p:cNvSpPr>
            <p:nvPr/>
          </p:nvSpPr>
          <p:spPr bwMode="auto">
            <a:xfrm>
              <a:off x="935" y="2245"/>
              <a:ext cx="201" cy="189"/>
            </a:xfrm>
            <a:prstGeom prst="rtTriangle">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3" name="Rectangle 20">
              <a:extLst>
                <a:ext uri="{FF2B5EF4-FFF2-40B4-BE49-F238E27FC236}">
                  <a16:creationId xmlns:a16="http://schemas.microsoft.com/office/drawing/2014/main" id="{1B086993-1A99-AB18-3317-5D48B0A14CEB}"/>
                </a:ext>
              </a:extLst>
            </p:cNvPr>
            <p:cNvSpPr>
              <a:spLocks noChangeArrowheads="1"/>
            </p:cNvSpPr>
            <p:nvPr/>
          </p:nvSpPr>
          <p:spPr bwMode="auto">
            <a:xfrm>
              <a:off x="974"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4" name="Rectangle 21">
              <a:extLst>
                <a:ext uri="{FF2B5EF4-FFF2-40B4-BE49-F238E27FC236}">
                  <a16:creationId xmlns:a16="http://schemas.microsoft.com/office/drawing/2014/main" id="{60366C27-C346-BF96-A9B8-35BC83440849}"/>
                </a:ext>
              </a:extLst>
            </p:cNvPr>
            <p:cNvSpPr>
              <a:spLocks noChangeArrowheads="1"/>
            </p:cNvSpPr>
            <p:nvPr/>
          </p:nvSpPr>
          <p:spPr bwMode="auto">
            <a:xfrm>
              <a:off x="1185"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5" name="Rectangle 22">
              <a:extLst>
                <a:ext uri="{FF2B5EF4-FFF2-40B4-BE49-F238E27FC236}">
                  <a16:creationId xmlns:a16="http://schemas.microsoft.com/office/drawing/2014/main" id="{C6AE5EE4-16A8-A8F8-2534-B8BD07B97AE0}"/>
                </a:ext>
              </a:extLst>
            </p:cNvPr>
            <p:cNvSpPr>
              <a:spLocks noChangeArrowheads="1"/>
            </p:cNvSpPr>
            <p:nvPr/>
          </p:nvSpPr>
          <p:spPr bwMode="auto">
            <a:xfrm>
              <a:off x="1396" y="2355"/>
              <a:ext cx="27" cy="52"/>
            </a:xfrm>
            <a:prstGeom prst="rect">
              <a:avLst/>
            </a:prstGeom>
            <a:solidFill>
              <a:srgbClr val="F8F8F8"/>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grpSp>
      <p:sp>
        <p:nvSpPr>
          <p:cNvPr id="156" name="Rectangle 23">
            <a:extLst>
              <a:ext uri="{FF2B5EF4-FFF2-40B4-BE49-F238E27FC236}">
                <a16:creationId xmlns:a16="http://schemas.microsoft.com/office/drawing/2014/main" id="{D9A4DABF-A4EE-89D5-4232-945D3CAAC7D8}"/>
              </a:ext>
            </a:extLst>
          </p:cNvPr>
          <p:cNvSpPr>
            <a:spLocks noChangeArrowheads="1"/>
          </p:cNvSpPr>
          <p:nvPr/>
        </p:nvSpPr>
        <p:spPr bwMode="auto">
          <a:xfrm>
            <a:off x="1528335" y="2845046"/>
            <a:ext cx="421796" cy="506174"/>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7" name="Rectangle 24">
            <a:extLst>
              <a:ext uri="{FF2B5EF4-FFF2-40B4-BE49-F238E27FC236}">
                <a16:creationId xmlns:a16="http://schemas.microsoft.com/office/drawing/2014/main" id="{56F0DAB9-8F7E-8E33-B301-6C7A83788E07}"/>
              </a:ext>
            </a:extLst>
          </p:cNvPr>
          <p:cNvSpPr>
            <a:spLocks noChangeArrowheads="1"/>
          </p:cNvSpPr>
          <p:nvPr/>
        </p:nvSpPr>
        <p:spPr bwMode="auto">
          <a:xfrm>
            <a:off x="2679259" y="2845046"/>
            <a:ext cx="418660" cy="506174"/>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8" name="Rectangle 25">
            <a:extLst>
              <a:ext uri="{FF2B5EF4-FFF2-40B4-BE49-F238E27FC236}">
                <a16:creationId xmlns:a16="http://schemas.microsoft.com/office/drawing/2014/main" id="{962B6A62-D869-B957-B74A-0040DF1E6CF0}"/>
              </a:ext>
            </a:extLst>
          </p:cNvPr>
          <p:cNvSpPr>
            <a:spLocks noChangeArrowheads="1"/>
          </p:cNvSpPr>
          <p:nvPr/>
        </p:nvSpPr>
        <p:spPr bwMode="auto">
          <a:xfrm>
            <a:off x="3800390" y="2845046"/>
            <a:ext cx="420228" cy="506174"/>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59" name="Line 26">
            <a:extLst>
              <a:ext uri="{FF2B5EF4-FFF2-40B4-BE49-F238E27FC236}">
                <a16:creationId xmlns:a16="http://schemas.microsoft.com/office/drawing/2014/main" id="{48DF1538-7934-E0FE-8555-5E5668EF3DAC}"/>
              </a:ext>
            </a:extLst>
          </p:cNvPr>
          <p:cNvSpPr>
            <a:spLocks noChangeShapeType="1"/>
          </p:cNvSpPr>
          <p:nvPr/>
        </p:nvSpPr>
        <p:spPr bwMode="auto">
          <a:xfrm>
            <a:off x="1537743" y="2978542"/>
            <a:ext cx="42022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0" name="Line 27">
            <a:extLst>
              <a:ext uri="{FF2B5EF4-FFF2-40B4-BE49-F238E27FC236}">
                <a16:creationId xmlns:a16="http://schemas.microsoft.com/office/drawing/2014/main" id="{CB4AE8C8-3C40-CB75-70BC-D6401CB3178E}"/>
              </a:ext>
            </a:extLst>
          </p:cNvPr>
          <p:cNvSpPr>
            <a:spLocks noChangeShapeType="1"/>
          </p:cNvSpPr>
          <p:nvPr/>
        </p:nvSpPr>
        <p:spPr bwMode="auto">
          <a:xfrm>
            <a:off x="2676123" y="2970199"/>
            <a:ext cx="42022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1" name="Line 28">
            <a:extLst>
              <a:ext uri="{FF2B5EF4-FFF2-40B4-BE49-F238E27FC236}">
                <a16:creationId xmlns:a16="http://schemas.microsoft.com/office/drawing/2014/main" id="{0A5B966D-B3F8-B983-9F7A-C4A05998A44E}"/>
              </a:ext>
            </a:extLst>
          </p:cNvPr>
          <p:cNvSpPr>
            <a:spLocks noChangeShapeType="1"/>
          </p:cNvSpPr>
          <p:nvPr/>
        </p:nvSpPr>
        <p:spPr bwMode="auto">
          <a:xfrm>
            <a:off x="3805094" y="2961855"/>
            <a:ext cx="42022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162" name="Group 29">
            <a:extLst>
              <a:ext uri="{FF2B5EF4-FFF2-40B4-BE49-F238E27FC236}">
                <a16:creationId xmlns:a16="http://schemas.microsoft.com/office/drawing/2014/main" id="{5688C2AB-E004-281F-9435-8293F84F9CED}"/>
              </a:ext>
            </a:extLst>
          </p:cNvPr>
          <p:cNvGrpSpPr>
            <a:grpSpLocks/>
          </p:cNvGrpSpPr>
          <p:nvPr/>
        </p:nvGrpSpPr>
        <p:grpSpPr bwMode="auto">
          <a:xfrm>
            <a:off x="1537743" y="3474982"/>
            <a:ext cx="421796" cy="418567"/>
            <a:chOff x="1702" y="2990"/>
            <a:chExt cx="269" cy="301"/>
          </a:xfrm>
        </p:grpSpPr>
        <p:sp>
          <p:nvSpPr>
            <p:cNvPr id="163" name="Rectangle 30">
              <a:extLst>
                <a:ext uri="{FF2B5EF4-FFF2-40B4-BE49-F238E27FC236}">
                  <a16:creationId xmlns:a16="http://schemas.microsoft.com/office/drawing/2014/main" id="{BBFFDBE0-24A3-B95A-11D9-CA88FCC4B060}"/>
                </a:ext>
              </a:extLst>
            </p:cNvPr>
            <p:cNvSpPr>
              <a:spLocks noChangeArrowheads="1"/>
            </p:cNvSpPr>
            <p:nvPr/>
          </p:nvSpPr>
          <p:spPr bwMode="auto">
            <a:xfrm>
              <a:off x="1702" y="2990"/>
              <a:ext cx="269" cy="301"/>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64" name="Line 31">
              <a:extLst>
                <a:ext uri="{FF2B5EF4-FFF2-40B4-BE49-F238E27FC236}">
                  <a16:creationId xmlns:a16="http://schemas.microsoft.com/office/drawing/2014/main" id="{34661C19-8FF3-775C-906F-8461C6B6967D}"/>
                </a:ext>
              </a:extLst>
            </p:cNvPr>
            <p:cNvSpPr>
              <a:spLocks noChangeShapeType="1"/>
            </p:cNvSpPr>
            <p:nvPr/>
          </p:nvSpPr>
          <p:spPr bwMode="auto">
            <a:xfrm>
              <a:off x="1741" y="3046"/>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5" name="Line 32">
              <a:extLst>
                <a:ext uri="{FF2B5EF4-FFF2-40B4-BE49-F238E27FC236}">
                  <a16:creationId xmlns:a16="http://schemas.microsoft.com/office/drawing/2014/main" id="{3C40A61E-8133-1D12-3246-7DD8AD3A8E2E}"/>
                </a:ext>
              </a:extLst>
            </p:cNvPr>
            <p:cNvSpPr>
              <a:spLocks noChangeShapeType="1"/>
            </p:cNvSpPr>
            <p:nvPr/>
          </p:nvSpPr>
          <p:spPr bwMode="auto">
            <a:xfrm>
              <a:off x="1741" y="3088"/>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6" name="Line 33">
              <a:extLst>
                <a:ext uri="{FF2B5EF4-FFF2-40B4-BE49-F238E27FC236}">
                  <a16:creationId xmlns:a16="http://schemas.microsoft.com/office/drawing/2014/main" id="{B301F743-7480-9E1D-CE79-FB129957655F}"/>
                </a:ext>
              </a:extLst>
            </p:cNvPr>
            <p:cNvSpPr>
              <a:spLocks noChangeShapeType="1"/>
            </p:cNvSpPr>
            <p:nvPr/>
          </p:nvSpPr>
          <p:spPr bwMode="auto">
            <a:xfrm>
              <a:off x="1741" y="3130"/>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7" name="Line 34">
              <a:extLst>
                <a:ext uri="{FF2B5EF4-FFF2-40B4-BE49-F238E27FC236}">
                  <a16:creationId xmlns:a16="http://schemas.microsoft.com/office/drawing/2014/main" id="{74A22F68-6668-33FC-ECD0-2BDBA500F36A}"/>
                </a:ext>
              </a:extLst>
            </p:cNvPr>
            <p:cNvSpPr>
              <a:spLocks noChangeShapeType="1"/>
            </p:cNvSpPr>
            <p:nvPr/>
          </p:nvSpPr>
          <p:spPr bwMode="auto">
            <a:xfrm>
              <a:off x="1741" y="3172"/>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8" name="Line 35">
              <a:extLst>
                <a:ext uri="{FF2B5EF4-FFF2-40B4-BE49-F238E27FC236}">
                  <a16:creationId xmlns:a16="http://schemas.microsoft.com/office/drawing/2014/main" id="{2A71E7C3-FD06-38AB-5E16-945C1CFEDC1E}"/>
                </a:ext>
              </a:extLst>
            </p:cNvPr>
            <p:cNvSpPr>
              <a:spLocks noChangeShapeType="1"/>
            </p:cNvSpPr>
            <p:nvPr/>
          </p:nvSpPr>
          <p:spPr bwMode="auto">
            <a:xfrm>
              <a:off x="1741" y="3214"/>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69" name="Line 36">
              <a:extLst>
                <a:ext uri="{FF2B5EF4-FFF2-40B4-BE49-F238E27FC236}">
                  <a16:creationId xmlns:a16="http://schemas.microsoft.com/office/drawing/2014/main" id="{AB41FEE2-445F-7002-2B4E-84E8B752FEB4}"/>
                </a:ext>
              </a:extLst>
            </p:cNvPr>
            <p:cNvSpPr>
              <a:spLocks noChangeShapeType="1"/>
            </p:cNvSpPr>
            <p:nvPr/>
          </p:nvSpPr>
          <p:spPr bwMode="auto">
            <a:xfrm>
              <a:off x="1741" y="3256"/>
              <a:ext cx="181"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70" name="Group 37">
            <a:extLst>
              <a:ext uri="{FF2B5EF4-FFF2-40B4-BE49-F238E27FC236}">
                <a16:creationId xmlns:a16="http://schemas.microsoft.com/office/drawing/2014/main" id="{A2908456-A27B-C4FB-7BD5-14AF9DA47168}"/>
              </a:ext>
            </a:extLst>
          </p:cNvPr>
          <p:cNvGrpSpPr>
            <a:grpSpLocks/>
          </p:cNvGrpSpPr>
          <p:nvPr/>
        </p:nvGrpSpPr>
        <p:grpSpPr bwMode="auto">
          <a:xfrm>
            <a:off x="2679259" y="3502794"/>
            <a:ext cx="421796" cy="418567"/>
            <a:chOff x="1702" y="2990"/>
            <a:chExt cx="269" cy="301"/>
          </a:xfrm>
        </p:grpSpPr>
        <p:sp>
          <p:nvSpPr>
            <p:cNvPr id="171" name="Rectangle 38">
              <a:extLst>
                <a:ext uri="{FF2B5EF4-FFF2-40B4-BE49-F238E27FC236}">
                  <a16:creationId xmlns:a16="http://schemas.microsoft.com/office/drawing/2014/main" id="{91E16E76-DEF5-7CA4-46D2-01535BAA9FAC}"/>
                </a:ext>
              </a:extLst>
            </p:cNvPr>
            <p:cNvSpPr>
              <a:spLocks noChangeArrowheads="1"/>
            </p:cNvSpPr>
            <p:nvPr/>
          </p:nvSpPr>
          <p:spPr bwMode="auto">
            <a:xfrm>
              <a:off x="1702" y="2990"/>
              <a:ext cx="267" cy="301"/>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72" name="Line 39">
              <a:extLst>
                <a:ext uri="{FF2B5EF4-FFF2-40B4-BE49-F238E27FC236}">
                  <a16:creationId xmlns:a16="http://schemas.microsoft.com/office/drawing/2014/main" id="{5CD10AFA-D9D1-8974-11AB-58501BDC224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3" name="Line 40">
              <a:extLst>
                <a:ext uri="{FF2B5EF4-FFF2-40B4-BE49-F238E27FC236}">
                  <a16:creationId xmlns:a16="http://schemas.microsoft.com/office/drawing/2014/main" id="{14AE8357-525B-3F4C-73DA-10C84C6D403B}"/>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4" name="Line 41">
              <a:extLst>
                <a:ext uri="{FF2B5EF4-FFF2-40B4-BE49-F238E27FC236}">
                  <a16:creationId xmlns:a16="http://schemas.microsoft.com/office/drawing/2014/main" id="{3A79380C-0DF8-8CDD-2CE7-FA4A762BD9EA}"/>
                </a:ext>
              </a:extLst>
            </p:cNvPr>
            <p:cNvSpPr>
              <a:spLocks noChangeShapeType="1"/>
            </p:cNvSpPr>
            <p:nvPr/>
          </p:nvSpPr>
          <p:spPr bwMode="auto">
            <a:xfrm>
              <a:off x="1741" y="313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5" name="Line 42">
              <a:extLst>
                <a:ext uri="{FF2B5EF4-FFF2-40B4-BE49-F238E27FC236}">
                  <a16:creationId xmlns:a16="http://schemas.microsoft.com/office/drawing/2014/main" id="{1B2982DD-92B4-2122-70BE-26E18C3ED0E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6" name="Line 43">
              <a:extLst>
                <a:ext uri="{FF2B5EF4-FFF2-40B4-BE49-F238E27FC236}">
                  <a16:creationId xmlns:a16="http://schemas.microsoft.com/office/drawing/2014/main" id="{E0951CC3-13EF-7195-753A-53BFA8A197F9}"/>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7" name="Line 44">
              <a:extLst>
                <a:ext uri="{FF2B5EF4-FFF2-40B4-BE49-F238E27FC236}">
                  <a16:creationId xmlns:a16="http://schemas.microsoft.com/office/drawing/2014/main" id="{F2D9DCAC-4CD1-DC71-CFB6-15677F2836FD}"/>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78" name="Group 45">
            <a:extLst>
              <a:ext uri="{FF2B5EF4-FFF2-40B4-BE49-F238E27FC236}">
                <a16:creationId xmlns:a16="http://schemas.microsoft.com/office/drawing/2014/main" id="{D0136434-4CDA-B547-0019-D4C1A40A36A9}"/>
              </a:ext>
            </a:extLst>
          </p:cNvPr>
          <p:cNvGrpSpPr>
            <a:grpSpLocks/>
          </p:cNvGrpSpPr>
          <p:nvPr/>
        </p:nvGrpSpPr>
        <p:grpSpPr bwMode="auto">
          <a:xfrm>
            <a:off x="3803526" y="3487497"/>
            <a:ext cx="421796" cy="418567"/>
            <a:chOff x="1702" y="2990"/>
            <a:chExt cx="269" cy="301"/>
          </a:xfrm>
        </p:grpSpPr>
        <p:sp>
          <p:nvSpPr>
            <p:cNvPr id="179" name="Rectangle 46">
              <a:extLst>
                <a:ext uri="{FF2B5EF4-FFF2-40B4-BE49-F238E27FC236}">
                  <a16:creationId xmlns:a16="http://schemas.microsoft.com/office/drawing/2014/main" id="{54FC4F42-9350-5532-15DA-0FEE9D0A7143}"/>
                </a:ext>
              </a:extLst>
            </p:cNvPr>
            <p:cNvSpPr>
              <a:spLocks noChangeArrowheads="1"/>
            </p:cNvSpPr>
            <p:nvPr/>
          </p:nvSpPr>
          <p:spPr bwMode="auto">
            <a:xfrm>
              <a:off x="1702" y="2990"/>
              <a:ext cx="269" cy="303"/>
            </a:xfrm>
            <a:prstGeom prst="rect">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80" name="Line 47">
              <a:extLst>
                <a:ext uri="{FF2B5EF4-FFF2-40B4-BE49-F238E27FC236}">
                  <a16:creationId xmlns:a16="http://schemas.microsoft.com/office/drawing/2014/main" id="{B6A42487-FF02-1D31-5595-13D917201869}"/>
                </a:ext>
              </a:extLst>
            </p:cNvPr>
            <p:cNvSpPr>
              <a:spLocks noChangeShapeType="1"/>
            </p:cNvSpPr>
            <p:nvPr/>
          </p:nvSpPr>
          <p:spPr bwMode="auto">
            <a:xfrm>
              <a:off x="1740" y="304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1" name="Line 48">
              <a:extLst>
                <a:ext uri="{FF2B5EF4-FFF2-40B4-BE49-F238E27FC236}">
                  <a16:creationId xmlns:a16="http://schemas.microsoft.com/office/drawing/2014/main" id="{4CAD42B1-4B97-02F6-C97A-775519A2EB68}"/>
                </a:ext>
              </a:extLst>
            </p:cNvPr>
            <p:cNvSpPr>
              <a:spLocks noChangeShapeType="1"/>
            </p:cNvSpPr>
            <p:nvPr/>
          </p:nvSpPr>
          <p:spPr bwMode="auto">
            <a:xfrm>
              <a:off x="1740"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2" name="Line 49">
              <a:extLst>
                <a:ext uri="{FF2B5EF4-FFF2-40B4-BE49-F238E27FC236}">
                  <a16:creationId xmlns:a16="http://schemas.microsoft.com/office/drawing/2014/main" id="{7C10DC5D-1138-F540-13EA-AB30F066624B}"/>
                </a:ext>
              </a:extLst>
            </p:cNvPr>
            <p:cNvSpPr>
              <a:spLocks noChangeShapeType="1"/>
            </p:cNvSpPr>
            <p:nvPr/>
          </p:nvSpPr>
          <p:spPr bwMode="auto">
            <a:xfrm>
              <a:off x="1740"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3" name="Line 50">
              <a:extLst>
                <a:ext uri="{FF2B5EF4-FFF2-40B4-BE49-F238E27FC236}">
                  <a16:creationId xmlns:a16="http://schemas.microsoft.com/office/drawing/2014/main" id="{C1335911-BC4B-A142-CF44-4FE25051D3B3}"/>
                </a:ext>
              </a:extLst>
            </p:cNvPr>
            <p:cNvSpPr>
              <a:spLocks noChangeShapeType="1"/>
            </p:cNvSpPr>
            <p:nvPr/>
          </p:nvSpPr>
          <p:spPr bwMode="auto">
            <a:xfrm>
              <a:off x="1740"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51">
              <a:extLst>
                <a:ext uri="{FF2B5EF4-FFF2-40B4-BE49-F238E27FC236}">
                  <a16:creationId xmlns:a16="http://schemas.microsoft.com/office/drawing/2014/main" id="{9C16688C-5058-534A-6659-A6552A27495C}"/>
                </a:ext>
              </a:extLst>
            </p:cNvPr>
            <p:cNvSpPr>
              <a:spLocks noChangeShapeType="1"/>
            </p:cNvSpPr>
            <p:nvPr/>
          </p:nvSpPr>
          <p:spPr bwMode="auto">
            <a:xfrm>
              <a:off x="1740"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5" name="Line 52">
              <a:extLst>
                <a:ext uri="{FF2B5EF4-FFF2-40B4-BE49-F238E27FC236}">
                  <a16:creationId xmlns:a16="http://schemas.microsoft.com/office/drawing/2014/main" id="{2FA6AF7F-993D-9C21-D464-AE6334D1AC83}"/>
                </a:ext>
              </a:extLst>
            </p:cNvPr>
            <p:cNvSpPr>
              <a:spLocks noChangeShapeType="1"/>
            </p:cNvSpPr>
            <p:nvPr/>
          </p:nvSpPr>
          <p:spPr bwMode="auto">
            <a:xfrm>
              <a:off x="1740" y="325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6" name="Line 53">
            <a:extLst>
              <a:ext uri="{FF2B5EF4-FFF2-40B4-BE49-F238E27FC236}">
                <a16:creationId xmlns:a16="http://schemas.microsoft.com/office/drawing/2014/main" id="{19D74E46-0B5A-D37D-7E1A-49D1980E6651}"/>
              </a:ext>
            </a:extLst>
          </p:cNvPr>
          <p:cNvSpPr>
            <a:spLocks noChangeShapeType="1"/>
          </p:cNvSpPr>
          <p:nvPr/>
        </p:nvSpPr>
        <p:spPr bwMode="auto">
          <a:xfrm flipV="1">
            <a:off x="1961107" y="3099523"/>
            <a:ext cx="719719" cy="1807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7" name="AutoShape 54">
            <a:extLst>
              <a:ext uri="{FF2B5EF4-FFF2-40B4-BE49-F238E27FC236}">
                <a16:creationId xmlns:a16="http://schemas.microsoft.com/office/drawing/2014/main" id="{B0D09765-F57C-53F9-2DB3-7500490399AA}"/>
              </a:ext>
            </a:extLst>
          </p:cNvPr>
          <p:cNvSpPr>
            <a:spLocks noChangeArrowheads="1"/>
          </p:cNvSpPr>
          <p:nvPr/>
        </p:nvSpPr>
        <p:spPr bwMode="auto">
          <a:xfrm>
            <a:off x="2190038" y="2985495"/>
            <a:ext cx="230498" cy="222494"/>
          </a:xfrm>
          <a:prstGeom prst="triangle">
            <a:avLst>
              <a:gd name="adj" fmla="val 5000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cs typeface="Arial" panose="020B0604020202020204" pitchFamily="34" charset="0"/>
              </a:rPr>
              <a:t>I</a:t>
            </a:r>
          </a:p>
        </p:txBody>
      </p:sp>
      <p:sp>
        <p:nvSpPr>
          <p:cNvPr id="188" name="Line 55">
            <a:extLst>
              <a:ext uri="{FF2B5EF4-FFF2-40B4-BE49-F238E27FC236}">
                <a16:creationId xmlns:a16="http://schemas.microsoft.com/office/drawing/2014/main" id="{08E0A148-0C9A-3EA5-E20A-4B0F00FE6089}"/>
              </a:ext>
            </a:extLst>
          </p:cNvPr>
          <p:cNvSpPr>
            <a:spLocks noChangeShapeType="1"/>
          </p:cNvSpPr>
          <p:nvPr/>
        </p:nvSpPr>
        <p:spPr bwMode="auto">
          <a:xfrm flipV="1">
            <a:off x="3132415" y="3099523"/>
            <a:ext cx="721288" cy="1807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9" name="AutoShape 56">
            <a:extLst>
              <a:ext uri="{FF2B5EF4-FFF2-40B4-BE49-F238E27FC236}">
                <a16:creationId xmlns:a16="http://schemas.microsoft.com/office/drawing/2014/main" id="{3E01C723-DEDD-5FD7-2384-9070302F2DFF}"/>
              </a:ext>
            </a:extLst>
          </p:cNvPr>
          <p:cNvSpPr>
            <a:spLocks noChangeArrowheads="1"/>
          </p:cNvSpPr>
          <p:nvPr/>
        </p:nvSpPr>
        <p:spPr bwMode="auto">
          <a:xfrm>
            <a:off x="3334689" y="2985495"/>
            <a:ext cx="228930" cy="222494"/>
          </a:xfrm>
          <a:prstGeom prst="triangle">
            <a:avLst>
              <a:gd name="adj" fmla="val 5000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Times New Roman" panose="02020603050405020304" pitchFamily="18" charset="0"/>
                <a:cs typeface="Arial" panose="020B0604020202020204" pitchFamily="34" charset="0"/>
              </a:rPr>
              <a:t>I</a:t>
            </a:r>
          </a:p>
        </p:txBody>
      </p:sp>
      <p:sp>
        <p:nvSpPr>
          <p:cNvPr id="190" name="AutoShape 57">
            <a:extLst>
              <a:ext uri="{FF2B5EF4-FFF2-40B4-BE49-F238E27FC236}">
                <a16:creationId xmlns:a16="http://schemas.microsoft.com/office/drawing/2014/main" id="{0DDFAD87-B076-7562-7C32-CDAC0FAF97C7}"/>
              </a:ext>
            </a:extLst>
          </p:cNvPr>
          <p:cNvSpPr>
            <a:spLocks noChangeArrowheads="1"/>
          </p:cNvSpPr>
          <p:nvPr/>
        </p:nvSpPr>
        <p:spPr bwMode="auto">
          <a:xfrm rot="18900000">
            <a:off x="4162602" y="2452900"/>
            <a:ext cx="978442" cy="266993"/>
          </a:xfrm>
          <a:prstGeom prst="rightArrow">
            <a:avLst>
              <a:gd name="adj1" fmla="val 50000"/>
              <a:gd name="adj2" fmla="val 81250"/>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1" name="AutoShape 58">
            <a:extLst>
              <a:ext uri="{FF2B5EF4-FFF2-40B4-BE49-F238E27FC236}">
                <a16:creationId xmlns:a16="http://schemas.microsoft.com/office/drawing/2014/main" id="{22BEC763-EEC9-7654-0E93-921EB0E013A2}"/>
              </a:ext>
            </a:extLst>
          </p:cNvPr>
          <p:cNvSpPr>
            <a:spLocks noChangeArrowheads="1"/>
          </p:cNvSpPr>
          <p:nvPr/>
        </p:nvSpPr>
        <p:spPr bwMode="auto">
          <a:xfrm rot="2772363">
            <a:off x="718236" y="2469241"/>
            <a:ext cx="869117" cy="301059"/>
          </a:xfrm>
          <a:prstGeom prst="rightArrow">
            <a:avLst>
              <a:gd name="adj1" fmla="val 50000"/>
              <a:gd name="adj2" fmla="val 81245"/>
            </a:avLst>
          </a:prstGeom>
          <a:solidFill>
            <a:srgbClr val="F8F8F8"/>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2" name="AutoShape 59">
            <a:extLst>
              <a:ext uri="{FF2B5EF4-FFF2-40B4-BE49-F238E27FC236}">
                <a16:creationId xmlns:a16="http://schemas.microsoft.com/office/drawing/2014/main" id="{378C64B4-1AC3-CCE9-BB22-BA4C671872B9}"/>
              </a:ext>
            </a:extLst>
          </p:cNvPr>
          <p:cNvSpPr>
            <a:spLocks noChangeArrowheads="1"/>
          </p:cNvSpPr>
          <p:nvPr/>
        </p:nvSpPr>
        <p:spPr bwMode="auto">
          <a:xfrm>
            <a:off x="1302540" y="3387375"/>
            <a:ext cx="749512" cy="470018"/>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3" name="AutoShape 60">
            <a:extLst>
              <a:ext uri="{FF2B5EF4-FFF2-40B4-BE49-F238E27FC236}">
                <a16:creationId xmlns:a16="http://schemas.microsoft.com/office/drawing/2014/main" id="{CB05E455-1E9F-01CF-90FB-9C62DE848943}"/>
              </a:ext>
            </a:extLst>
          </p:cNvPr>
          <p:cNvSpPr>
            <a:spLocks noChangeArrowheads="1"/>
          </p:cNvSpPr>
          <p:nvPr/>
        </p:nvSpPr>
        <p:spPr bwMode="auto">
          <a:xfrm>
            <a:off x="2280982" y="2653145"/>
            <a:ext cx="755784" cy="467237"/>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4" name="AutoShape 61">
            <a:extLst>
              <a:ext uri="{FF2B5EF4-FFF2-40B4-BE49-F238E27FC236}">
                <a16:creationId xmlns:a16="http://schemas.microsoft.com/office/drawing/2014/main" id="{36089471-A2F4-7121-3BA9-B22C255447E0}"/>
              </a:ext>
            </a:extLst>
          </p:cNvPr>
          <p:cNvSpPr>
            <a:spLocks noChangeArrowheads="1"/>
          </p:cNvSpPr>
          <p:nvPr/>
        </p:nvSpPr>
        <p:spPr bwMode="auto">
          <a:xfrm>
            <a:off x="3485219" y="3120382"/>
            <a:ext cx="754216" cy="470018"/>
          </a:xfrm>
          <a:prstGeom prst="irregularSeal1">
            <a:avLst/>
          </a:prstGeom>
          <a:solidFill>
            <a:srgbClr val="F8F8F8"/>
          </a:solidFill>
          <a:ln w="38100" cap="sq">
            <a:solidFill>
              <a:srgbClr val="EE3228"/>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pic>
        <p:nvPicPr>
          <p:cNvPr id="195" name="Picture 65" descr="image001">
            <a:extLst>
              <a:ext uri="{FF2B5EF4-FFF2-40B4-BE49-F238E27FC236}">
                <a16:creationId xmlns:a16="http://schemas.microsoft.com/office/drawing/2014/main" id="{4B85EB7F-8EFE-8C28-AC22-B8303540B2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2410" y="3287441"/>
            <a:ext cx="5079070" cy="267525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grpSp>
        <p:nvGrpSpPr>
          <p:cNvPr id="196" name="Group 66">
            <a:extLst>
              <a:ext uri="{FF2B5EF4-FFF2-40B4-BE49-F238E27FC236}">
                <a16:creationId xmlns:a16="http://schemas.microsoft.com/office/drawing/2014/main" id="{5EC232B9-DB68-F4B8-0FD2-89825B0936B8}"/>
              </a:ext>
            </a:extLst>
          </p:cNvPr>
          <p:cNvGrpSpPr>
            <a:grpSpLocks/>
          </p:cNvGrpSpPr>
          <p:nvPr/>
        </p:nvGrpSpPr>
        <p:grpSpPr bwMode="auto">
          <a:xfrm>
            <a:off x="3322013" y="2767813"/>
            <a:ext cx="1272608" cy="2324520"/>
            <a:chOff x="1968" y="1728"/>
            <a:chExt cx="672" cy="1584"/>
          </a:xfrm>
        </p:grpSpPr>
        <p:sp>
          <p:nvSpPr>
            <p:cNvPr id="197" name="Rectangle 67">
              <a:extLst>
                <a:ext uri="{FF2B5EF4-FFF2-40B4-BE49-F238E27FC236}">
                  <a16:creationId xmlns:a16="http://schemas.microsoft.com/office/drawing/2014/main" id="{3715ADF8-C1A3-71DF-3CF8-80EBECACBC88}"/>
                </a:ext>
              </a:extLst>
            </p:cNvPr>
            <p:cNvSpPr>
              <a:spLocks noChangeArrowheads="1"/>
            </p:cNvSpPr>
            <p:nvPr/>
          </p:nvSpPr>
          <p:spPr bwMode="auto">
            <a:xfrm>
              <a:off x="1968" y="1728"/>
              <a:ext cx="672" cy="864"/>
            </a:xfrm>
            <a:prstGeom prst="rect">
              <a:avLst/>
            </a:prstGeom>
            <a:noFill/>
            <a:ln w="76200" cap="sq">
              <a:solidFill>
                <a:srgbClr val="FFB627"/>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198" name="Line 68">
              <a:extLst>
                <a:ext uri="{FF2B5EF4-FFF2-40B4-BE49-F238E27FC236}">
                  <a16:creationId xmlns:a16="http://schemas.microsoft.com/office/drawing/2014/main" id="{C7C07D95-A1D6-772D-75E4-F02FE80447F0}"/>
                </a:ext>
              </a:extLst>
            </p:cNvPr>
            <p:cNvSpPr>
              <a:spLocks noChangeShapeType="1"/>
            </p:cNvSpPr>
            <p:nvPr/>
          </p:nvSpPr>
          <p:spPr bwMode="auto">
            <a:xfrm>
              <a:off x="2304" y="2592"/>
              <a:ext cx="0" cy="720"/>
            </a:xfrm>
            <a:prstGeom prst="line">
              <a:avLst/>
            </a:prstGeom>
            <a:noFill/>
            <a:ln w="76200" cap="sq">
              <a:solidFill>
                <a:srgbClr val="FFB627"/>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99" name="Line 69">
            <a:extLst>
              <a:ext uri="{FF2B5EF4-FFF2-40B4-BE49-F238E27FC236}">
                <a16:creationId xmlns:a16="http://schemas.microsoft.com/office/drawing/2014/main" id="{8D8297FD-A5B9-35AF-B8F7-B75E87575522}"/>
              </a:ext>
            </a:extLst>
          </p:cNvPr>
          <p:cNvSpPr>
            <a:spLocks noChangeShapeType="1"/>
          </p:cNvSpPr>
          <p:nvPr/>
        </p:nvSpPr>
        <p:spPr bwMode="auto">
          <a:xfrm>
            <a:off x="3958317" y="5092333"/>
            <a:ext cx="2332755" cy="0"/>
          </a:xfrm>
          <a:prstGeom prst="line">
            <a:avLst/>
          </a:prstGeom>
          <a:noFill/>
          <a:ln w="76200" cap="sq">
            <a:solidFill>
              <a:srgbClr val="FFB627"/>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00" name="Title 1">
            <a:extLst>
              <a:ext uri="{FF2B5EF4-FFF2-40B4-BE49-F238E27FC236}">
                <a16:creationId xmlns:a16="http://schemas.microsoft.com/office/drawing/2014/main" id="{0EB5D760-F838-1888-C0FA-D5B3F90E73F3}"/>
              </a:ext>
            </a:extLst>
          </p:cNvPr>
          <p:cNvSpPr txBox="1">
            <a:spLocks/>
          </p:cNvSpPr>
          <p:nvPr/>
        </p:nvSpPr>
        <p:spPr>
          <a:xfrm>
            <a:off x="505988" y="716744"/>
            <a:ext cx="10515600" cy="1009651"/>
          </a:xfrm>
          <a:prstGeom prst="rect">
            <a:avLst/>
          </a:prstGeom>
        </p:spPr>
        <p:txBody>
          <a:bodyPr>
            <a:noAutofit/>
          </a:bodyPr>
          <a:lst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sz="3600" dirty="0"/>
              <a:t>Value Stream Map and Process Map Distinction</a:t>
            </a:r>
          </a:p>
        </p:txBody>
      </p:sp>
      <p:sp>
        <p:nvSpPr>
          <p:cNvPr id="201" name="AutoShape 70">
            <a:extLst>
              <a:ext uri="{FF2B5EF4-FFF2-40B4-BE49-F238E27FC236}">
                <a16:creationId xmlns:a16="http://schemas.microsoft.com/office/drawing/2014/main" id="{0322056A-3C50-7034-2274-D8CAB2194FE5}"/>
              </a:ext>
            </a:extLst>
          </p:cNvPr>
          <p:cNvSpPr>
            <a:spLocks noChangeArrowheads="1"/>
          </p:cNvSpPr>
          <p:nvPr/>
        </p:nvSpPr>
        <p:spPr bwMode="auto">
          <a:xfrm rot="16200000">
            <a:off x="8077955" y="-202340"/>
            <a:ext cx="1584900" cy="4863181"/>
          </a:xfrm>
          <a:prstGeom prst="leftArrow">
            <a:avLst>
              <a:gd name="adj1" fmla="val 78509"/>
              <a:gd name="adj2" fmla="val 30565"/>
            </a:avLst>
          </a:prstGeom>
          <a:solidFill>
            <a:srgbClr val="EE3228"/>
          </a:solidFill>
          <a:ln w="12700" cap="sq">
            <a:solidFill>
              <a:schemeClr val="tx1"/>
            </a:solidFill>
            <a:miter lim="800000"/>
            <a:headEnd/>
            <a:tailEnd/>
          </a:ln>
        </p:spPr>
        <p:txBody>
          <a:bodyPr vert="eaVert" wrap="squar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Detailed graphical depiction of a manufacturing or business process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Used to identify specific improvements</a:t>
            </a:r>
            <a:br>
              <a:rPr lang="en-US" altLang="en-US" sz="1200" dirty="0">
                <a:latin typeface="Roboto" panose="02000000000000000000" pitchFamily="2" charset="0"/>
                <a:ea typeface="Roboto" panose="02000000000000000000" pitchFamily="2" charset="0"/>
                <a:cs typeface="Roboto" panose="02000000000000000000" pitchFamily="2" charset="0"/>
              </a:rPr>
            </a:br>
            <a:endParaRPr lang="en-US" altLang="en-US" sz="1200" dirty="0">
              <a:latin typeface="Roboto" panose="02000000000000000000" pitchFamily="2" charset="0"/>
              <a:ea typeface="Roboto" panose="02000000000000000000" pitchFamily="2" charset="0"/>
              <a:cs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cs typeface="Roboto" panose="02000000000000000000" pitchFamily="2" charset="0"/>
              </a:rPr>
              <a:t>Incorporates decision loops within the process </a:t>
            </a:r>
          </a:p>
        </p:txBody>
      </p:sp>
      <p:sp>
        <p:nvSpPr>
          <p:cNvPr id="202" name="TextBox 201">
            <a:extLst>
              <a:ext uri="{FF2B5EF4-FFF2-40B4-BE49-F238E27FC236}">
                <a16:creationId xmlns:a16="http://schemas.microsoft.com/office/drawing/2014/main" id="{CBB3CF5C-FDDC-6013-2004-BE55FCED8716}"/>
              </a:ext>
            </a:extLst>
          </p:cNvPr>
          <p:cNvSpPr txBox="1"/>
          <p:nvPr/>
        </p:nvSpPr>
        <p:spPr>
          <a:xfrm>
            <a:off x="1882707" y="1680334"/>
            <a:ext cx="2297127" cy="369332"/>
          </a:xfrm>
          <a:prstGeom prst="rect">
            <a:avLst/>
          </a:prstGeom>
          <a:noFill/>
        </p:spPr>
        <p:txBody>
          <a:bodyPr wrap="square" rtlCol="0">
            <a:spAutoFit/>
          </a:bodyPr>
          <a:lstStyle/>
          <a:p>
            <a:pPr algn="ctr"/>
            <a:r>
              <a:rPr lang="en-US" b="1" dirty="0">
                <a:latin typeface="Roboto" panose="02000000000000000000" pitchFamily="2" charset="0"/>
                <a:ea typeface="Roboto" panose="02000000000000000000" pitchFamily="2" charset="0"/>
                <a:cs typeface="Roboto" panose="02000000000000000000" pitchFamily="2" charset="0"/>
              </a:rPr>
              <a:t>Value Stream Map</a:t>
            </a:r>
          </a:p>
        </p:txBody>
      </p:sp>
      <p:sp>
        <p:nvSpPr>
          <p:cNvPr id="203" name="Slide Number Placeholder 2">
            <a:extLst>
              <a:ext uri="{FF2B5EF4-FFF2-40B4-BE49-F238E27FC236}">
                <a16:creationId xmlns:a16="http://schemas.microsoft.com/office/drawing/2014/main" id="{EF4A9DB6-D35C-21C3-AE9C-9CE7299F160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a:t>
            </a:fld>
            <a:endParaRPr lang="en-US" dirty="0"/>
          </a:p>
        </p:txBody>
      </p:sp>
    </p:spTree>
    <p:extLst>
      <p:ext uri="{BB962C8B-B14F-4D97-AF65-F5344CB8AC3E}">
        <p14:creationId xmlns:p14="http://schemas.microsoft.com/office/powerpoint/2010/main" val="10903850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lstStyle/>
          <a:p>
            <a:r>
              <a:rPr lang="en-US" dirty="0"/>
              <a:t>When to Use Value Stream Mapping</a:t>
            </a:r>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5" y="2217738"/>
            <a:ext cx="8212138" cy="1435100"/>
          </a:xfrm>
          <a:prstGeom prst="rect">
            <a:avLst/>
          </a:prstGeom>
          <a:solidFill>
            <a:srgbClr val="7F7F7F"/>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buClrTx/>
              <a:buSzTx/>
              <a:buFontTx/>
              <a:buNone/>
            </a:pPr>
            <a:r>
              <a:rPr lang="en-US" altLang="en-US" sz="1800" b="0" dirty="0">
                <a:solidFill>
                  <a:schemeClr val="bg1"/>
                </a:solidFill>
                <a:latin typeface="Roboto" panose="02000000000000000000" pitchFamily="2" charset="0"/>
                <a:ea typeface="Roboto" panose="02000000000000000000" pitchFamily="2" charset="0"/>
              </a:rPr>
              <a:t>To effectively use the Value Stream Mapping Tool and Method to clearly </a:t>
            </a:r>
            <a:br>
              <a:rPr lang="en-US" altLang="en-US" sz="1800" b="0" dirty="0">
                <a:solidFill>
                  <a:schemeClr val="bg1"/>
                </a:solidFill>
                <a:latin typeface="Roboto" panose="02000000000000000000" pitchFamily="2" charset="0"/>
                <a:ea typeface="Roboto" panose="02000000000000000000" pitchFamily="2" charset="0"/>
              </a:rPr>
            </a:br>
            <a:r>
              <a:rPr lang="en-US" altLang="en-US" sz="1800" b="0" dirty="0">
                <a:solidFill>
                  <a:schemeClr val="bg1"/>
                </a:solidFill>
                <a:latin typeface="Roboto" panose="02000000000000000000" pitchFamily="2" charset="0"/>
                <a:ea typeface="Roboto" panose="02000000000000000000" pitchFamily="2" charset="0"/>
              </a:rPr>
              <a:t>identify waste in key end-to-end manufacturing and business processes,</a:t>
            </a:r>
            <a:br>
              <a:rPr lang="en-US" altLang="en-US" sz="1800" b="0" dirty="0">
                <a:solidFill>
                  <a:schemeClr val="bg1"/>
                </a:solidFill>
                <a:latin typeface="Roboto" panose="02000000000000000000" pitchFamily="2" charset="0"/>
                <a:ea typeface="Roboto" panose="02000000000000000000" pitchFamily="2" charset="0"/>
              </a:rPr>
            </a:br>
            <a:r>
              <a:rPr lang="en-US" altLang="en-US" sz="1800" b="0" dirty="0">
                <a:solidFill>
                  <a:schemeClr val="bg1"/>
                </a:solidFill>
                <a:latin typeface="Roboto" panose="02000000000000000000" pitchFamily="2" charset="0"/>
                <a:ea typeface="Roboto" panose="02000000000000000000" pitchFamily="2" charset="0"/>
              </a:rPr>
              <a:t>and create an executable transformation plan</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1231731" y="1863725"/>
            <a:ext cx="1479892"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Goal of VSM</a:t>
            </a:r>
          </a:p>
        </p:txBody>
      </p:sp>
      <p:sp>
        <p:nvSpPr>
          <p:cNvPr id="5" name="Rectangle 5">
            <a:extLst>
              <a:ext uri="{FF2B5EF4-FFF2-40B4-BE49-F238E27FC236}">
                <a16:creationId xmlns:a16="http://schemas.microsoft.com/office/drawing/2014/main" id="{E7D14904-2E4E-65EC-470B-CA59594F5C68}"/>
              </a:ext>
            </a:extLst>
          </p:cNvPr>
          <p:cNvSpPr>
            <a:spLocks noChangeArrowheads="1"/>
          </p:cNvSpPr>
          <p:nvPr/>
        </p:nvSpPr>
        <p:spPr bwMode="auto">
          <a:xfrm>
            <a:off x="6130885" y="3976688"/>
            <a:ext cx="4586328"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When to Use</a:t>
            </a:r>
          </a:p>
        </p:txBody>
      </p:sp>
      <p:sp>
        <p:nvSpPr>
          <p:cNvPr id="6" name="Rectangle 6">
            <a:extLst>
              <a:ext uri="{FF2B5EF4-FFF2-40B4-BE49-F238E27FC236}">
                <a16:creationId xmlns:a16="http://schemas.microsoft.com/office/drawing/2014/main" id="{F0695F8F-4A17-DEA2-8553-C5BD67A09D11}"/>
              </a:ext>
            </a:extLst>
          </p:cNvPr>
          <p:cNvSpPr>
            <a:spLocks noChangeArrowheads="1"/>
          </p:cNvSpPr>
          <p:nvPr/>
        </p:nvSpPr>
        <p:spPr bwMode="auto">
          <a:xfrm>
            <a:off x="6096000" y="4416426"/>
            <a:ext cx="4622801" cy="188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To provide direction for getting started on the Lean journey</a:t>
            </a:r>
          </a:p>
          <a:p>
            <a:pPr>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To execute improvements driven by Strategy Deployment and Key Business Imperatives</a:t>
            </a:r>
          </a:p>
          <a:p>
            <a:pPr>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To gain a true cross-functional understanding of the end-to-end process</a:t>
            </a:r>
          </a:p>
          <a:p>
            <a:pPr>
              <a:spcBef>
                <a:spcPct val="20000"/>
              </a:spcBef>
              <a:spcAft>
                <a:spcPct val="20000"/>
              </a:spcAft>
              <a:buClr>
                <a:schemeClr val="tx1"/>
              </a:buClr>
              <a:buSzPct val="90000"/>
              <a:buFont typeface="Wingdings" pitchFamily="2" charset="2"/>
              <a:buChar char="§"/>
            </a:pPr>
            <a:endParaRPr lang="en-US" altLang="en-US" sz="1400" dirty="0">
              <a:latin typeface="Roboto" panose="02000000000000000000" pitchFamily="2" charset="0"/>
              <a:ea typeface="Roboto" panose="02000000000000000000" pitchFamily="2" charset="0"/>
            </a:endParaRPr>
          </a:p>
        </p:txBody>
      </p:sp>
      <p:sp>
        <p:nvSpPr>
          <p:cNvPr id="7" name="Rectangle 8">
            <a:extLst>
              <a:ext uri="{FF2B5EF4-FFF2-40B4-BE49-F238E27FC236}">
                <a16:creationId xmlns:a16="http://schemas.microsoft.com/office/drawing/2014/main" id="{A2CC8B2B-98A9-38C2-4461-D1F30BF0511B}"/>
              </a:ext>
            </a:extLst>
          </p:cNvPr>
          <p:cNvSpPr>
            <a:spLocks noChangeArrowheads="1"/>
          </p:cNvSpPr>
          <p:nvPr/>
        </p:nvSpPr>
        <p:spPr bwMode="auto">
          <a:xfrm>
            <a:off x="931863" y="3986213"/>
            <a:ext cx="4703578"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Benefits</a:t>
            </a:r>
          </a:p>
        </p:txBody>
      </p:sp>
      <p:sp>
        <p:nvSpPr>
          <p:cNvPr id="8" name="Rectangle 9">
            <a:extLst>
              <a:ext uri="{FF2B5EF4-FFF2-40B4-BE49-F238E27FC236}">
                <a16:creationId xmlns:a16="http://schemas.microsoft.com/office/drawing/2014/main" id="{43B15214-E453-71BC-1471-FB87A59BD243}"/>
              </a:ext>
            </a:extLst>
          </p:cNvPr>
          <p:cNvSpPr>
            <a:spLocks noChangeArrowheads="1"/>
          </p:cNvSpPr>
          <p:nvPr/>
        </p:nvSpPr>
        <p:spPr bwMode="auto">
          <a:xfrm>
            <a:off x="838200" y="4492626"/>
            <a:ext cx="48053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Focuses limited resources</a:t>
            </a:r>
          </a:p>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Establishes timeline for expected performance improvements </a:t>
            </a:r>
          </a:p>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Avoids creating islands of success in a sea of waste</a:t>
            </a:r>
          </a:p>
          <a:p>
            <a:pPr eaLnBrk="1" hangingPunct="1">
              <a:lnSpc>
                <a:spcPct val="100000"/>
              </a:lnSpc>
              <a:spcBef>
                <a:spcPct val="20000"/>
              </a:spcBef>
              <a:spcAft>
                <a:spcPct val="20000"/>
              </a:spcAft>
              <a:buClr>
                <a:schemeClr val="tx1"/>
              </a:buClr>
              <a:buSzPct val="90000"/>
              <a:buFont typeface="Wingdings" pitchFamily="2" charset="2"/>
              <a:buChar char="§"/>
            </a:pPr>
            <a:r>
              <a:rPr lang="en-US" altLang="en-US" sz="1400" dirty="0">
                <a:latin typeface="Roboto" panose="02000000000000000000" pitchFamily="2" charset="0"/>
                <a:ea typeface="Roboto" panose="02000000000000000000" pitchFamily="2" charset="0"/>
              </a:rPr>
              <a:t>Allows everyone to gain a common understanding of the current state and the future vision </a:t>
            </a:r>
          </a:p>
          <a:p>
            <a:pPr eaLnBrk="1" hangingPunct="1">
              <a:lnSpc>
                <a:spcPct val="100000"/>
              </a:lnSpc>
              <a:spcBef>
                <a:spcPct val="20000"/>
              </a:spcBef>
              <a:spcAft>
                <a:spcPct val="20000"/>
              </a:spcAft>
              <a:buClr>
                <a:schemeClr val="tx1"/>
              </a:buClr>
              <a:buSzPct val="90000"/>
              <a:buFont typeface="Wingdings" pitchFamily="2" charset="2"/>
              <a:buChar char="§"/>
            </a:pPr>
            <a:endParaRPr lang="en-US" altLang="en-US" sz="1400" dirty="0">
              <a:latin typeface="Roboto" panose="02000000000000000000" pitchFamily="2" charset="0"/>
              <a:ea typeface="Roboto" panose="02000000000000000000" pitchFamily="2" charset="0"/>
            </a:endParaRPr>
          </a:p>
        </p:txBody>
      </p:sp>
      <p:sp>
        <p:nvSpPr>
          <p:cNvPr id="9" name="Slide Number Placeholder 2">
            <a:extLst>
              <a:ext uri="{FF2B5EF4-FFF2-40B4-BE49-F238E27FC236}">
                <a16:creationId xmlns:a16="http://schemas.microsoft.com/office/drawing/2014/main" id="{D7F6FD62-802A-F2C5-332D-CAD4AC296570}"/>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a:t>
            </a:fld>
            <a:endParaRPr lang="en-US"/>
          </a:p>
        </p:txBody>
      </p:sp>
    </p:spTree>
    <p:extLst>
      <p:ext uri="{BB962C8B-B14F-4D97-AF65-F5344CB8AC3E}">
        <p14:creationId xmlns:p14="http://schemas.microsoft.com/office/powerpoint/2010/main" val="19094609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8C8DCBD4-A1B0-96D8-ACFB-55C6AEDEDD76}"/>
              </a:ext>
            </a:extLst>
          </p:cNvPr>
          <p:cNvSpPr>
            <a:spLocks noGrp="1"/>
          </p:cNvSpPr>
          <p:nvPr>
            <p:ph type="title"/>
          </p:nvPr>
        </p:nvSpPr>
        <p:spPr/>
        <p:txBody>
          <a:bodyPr>
            <a:normAutofit fontScale="90000"/>
          </a:bodyPr>
          <a:lstStyle/>
          <a:p>
            <a:r>
              <a:rPr lang="en-US" dirty="0"/>
              <a:t>Value Stream Mapping Linkage to Strategy</a:t>
            </a:r>
          </a:p>
        </p:txBody>
      </p:sp>
      <p:sp>
        <p:nvSpPr>
          <p:cNvPr id="3" name="Rectangle 4">
            <a:extLst>
              <a:ext uri="{FF2B5EF4-FFF2-40B4-BE49-F238E27FC236}">
                <a16:creationId xmlns:a16="http://schemas.microsoft.com/office/drawing/2014/main" id="{18E12515-2421-8E86-8221-0C78C06585E8}"/>
              </a:ext>
            </a:extLst>
          </p:cNvPr>
          <p:cNvSpPr>
            <a:spLocks noChangeArrowheads="1"/>
          </p:cNvSpPr>
          <p:nvPr/>
        </p:nvSpPr>
        <p:spPr bwMode="auto">
          <a:xfrm>
            <a:off x="3734024" y="2691572"/>
            <a:ext cx="2686050" cy="2208213"/>
          </a:xfrm>
          <a:prstGeom prst="rect">
            <a:avLst/>
          </a:prstGeom>
          <a:solidFill>
            <a:schemeClr val="accent3"/>
          </a:solidFill>
          <a:ln w="6350">
            <a:solidFill>
              <a:schemeClr val="tx1"/>
            </a:solidFill>
            <a:miter lim="800000"/>
            <a:headEnd/>
            <a:tailEnd/>
          </a:ln>
          <a:effectLst/>
        </p:spPr>
        <p:txBody>
          <a:bodyPr wrap="none" lIns="45720" rIns="45720" anchor="ctr"/>
          <a:lstStyle/>
          <a:p>
            <a:pPr algn="ctr">
              <a:spcBef>
                <a:spcPct val="30000"/>
              </a:spcBef>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Identify</a:t>
            </a:r>
          </a:p>
          <a:p>
            <a:pPr algn="ctr">
              <a:spcBef>
                <a:spcPct val="30000"/>
              </a:spcBef>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and Map</a:t>
            </a:r>
          </a:p>
          <a:p>
            <a:pPr algn="ctr">
              <a:spcBef>
                <a:spcPct val="30000"/>
              </a:spcBef>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Value Streams</a:t>
            </a:r>
          </a:p>
        </p:txBody>
      </p:sp>
      <p:sp>
        <p:nvSpPr>
          <p:cNvPr id="5" name="Text Box 7">
            <a:extLst>
              <a:ext uri="{FF2B5EF4-FFF2-40B4-BE49-F238E27FC236}">
                <a16:creationId xmlns:a16="http://schemas.microsoft.com/office/drawing/2014/main" id="{A1A3B453-24EA-C4B7-28B7-7996BE7DA346}"/>
              </a:ext>
            </a:extLst>
          </p:cNvPr>
          <p:cNvSpPr txBox="1">
            <a:spLocks noChangeArrowheads="1"/>
          </p:cNvSpPr>
          <p:nvPr/>
        </p:nvSpPr>
        <p:spPr bwMode="auto">
          <a:xfrm>
            <a:off x="5976209" y="5883275"/>
            <a:ext cx="1128712" cy="29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GB" altLang="en-US" sz="1800" dirty="0">
                <a:solidFill>
                  <a:schemeClr val="tx1"/>
                </a:solidFill>
                <a:latin typeface="Roboto" panose="02000000000000000000" pitchFamily="2" charset="0"/>
                <a:ea typeface="Roboto" panose="02000000000000000000" pitchFamily="2" charset="0"/>
                <a:cs typeface="Roboto" panose="02000000000000000000" pitchFamily="2" charset="0"/>
              </a:rPr>
              <a:t>WASTE</a:t>
            </a:r>
          </a:p>
        </p:txBody>
      </p:sp>
      <p:sp>
        <p:nvSpPr>
          <p:cNvPr id="6" name="Rectangle 9">
            <a:extLst>
              <a:ext uri="{FF2B5EF4-FFF2-40B4-BE49-F238E27FC236}">
                <a16:creationId xmlns:a16="http://schemas.microsoft.com/office/drawing/2014/main" id="{7B445EAC-6313-F8C6-9084-407B07BF1460}"/>
              </a:ext>
            </a:extLst>
          </p:cNvPr>
          <p:cNvSpPr>
            <a:spLocks noChangeArrowheads="1"/>
          </p:cNvSpPr>
          <p:nvPr/>
        </p:nvSpPr>
        <p:spPr bwMode="auto">
          <a:xfrm>
            <a:off x="1182624" y="4193347"/>
            <a:ext cx="2437100" cy="1983616"/>
          </a:xfrm>
          <a:prstGeom prst="rect">
            <a:avLst/>
          </a:prstGeom>
          <a:solidFill>
            <a:schemeClr val="accent5"/>
          </a:solidFill>
          <a:ln w="6350">
            <a:solidFill>
              <a:schemeClr val="bg2"/>
            </a:solidFill>
            <a:miter lim="800000"/>
            <a:headEnd/>
            <a:tailEnd/>
          </a:ln>
          <a:effectLst/>
        </p:spPr>
        <p:txBody>
          <a:bodyPr wrap="none" lIns="45720" rIns="45720" anchor="ctr"/>
          <a:lstStyle>
            <a:lvl1pPr marL="101600" indent="-101600">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buClr>
                <a:schemeClr val="folHlink"/>
              </a:buClr>
              <a:defRPr/>
            </a:pPr>
            <a:r>
              <a:rPr lang="en-US" altLang="en-US" sz="1800" dirty="0">
                <a:latin typeface="Roboto" panose="02000000000000000000" pitchFamily="2" charset="0"/>
                <a:ea typeface="Roboto" panose="02000000000000000000" pitchFamily="2" charset="0"/>
                <a:cs typeface="Roboto" panose="02000000000000000000" pitchFamily="2" charset="0"/>
              </a:rPr>
              <a:t>Identify strategic</a:t>
            </a:r>
          </a:p>
          <a:p>
            <a:pPr algn="ctr">
              <a:buClr>
                <a:schemeClr val="folHlink"/>
              </a:buClr>
              <a:defRPr/>
            </a:pPr>
            <a:r>
              <a:rPr lang="en-US" altLang="en-US" sz="1800" dirty="0">
                <a:latin typeface="Roboto" panose="02000000000000000000" pitchFamily="2" charset="0"/>
                <a:ea typeface="Roboto" panose="02000000000000000000" pitchFamily="2" charset="0"/>
                <a:cs typeface="Roboto" panose="02000000000000000000" pitchFamily="2" charset="0"/>
              </a:rPr>
              <a:t>objectives and major</a:t>
            </a:r>
            <a:br>
              <a:rPr lang="en-US" altLang="en-US" sz="1800" dirty="0">
                <a:latin typeface="Roboto" panose="02000000000000000000" pitchFamily="2" charset="0"/>
                <a:ea typeface="Roboto" panose="02000000000000000000" pitchFamily="2" charset="0"/>
                <a:cs typeface="Roboto" panose="02000000000000000000" pitchFamily="2" charset="0"/>
              </a:rPr>
            </a:br>
            <a:r>
              <a:rPr lang="en-US" altLang="en-US" sz="1800" dirty="0">
                <a:latin typeface="Roboto" panose="02000000000000000000" pitchFamily="2" charset="0"/>
                <a:ea typeface="Roboto" panose="02000000000000000000" pitchFamily="2" charset="0"/>
                <a:cs typeface="Roboto" panose="02000000000000000000" pitchFamily="2" charset="0"/>
              </a:rPr>
              <a:t>business improvement</a:t>
            </a:r>
            <a:br>
              <a:rPr lang="en-US" altLang="en-US" sz="1800" dirty="0">
                <a:latin typeface="Roboto" panose="02000000000000000000" pitchFamily="2" charset="0"/>
                <a:ea typeface="Roboto" panose="02000000000000000000" pitchFamily="2" charset="0"/>
                <a:cs typeface="Roboto" panose="02000000000000000000" pitchFamily="2" charset="0"/>
              </a:rPr>
            </a:br>
            <a:r>
              <a:rPr lang="en-US" altLang="en-US" sz="1800" dirty="0">
                <a:latin typeface="Roboto" panose="02000000000000000000" pitchFamily="2" charset="0"/>
                <a:ea typeface="Roboto" panose="02000000000000000000" pitchFamily="2" charset="0"/>
                <a:cs typeface="Roboto" panose="02000000000000000000" pitchFamily="2" charset="0"/>
              </a:rPr>
              <a:t>opportunities</a:t>
            </a:r>
          </a:p>
        </p:txBody>
      </p:sp>
      <p:sp>
        <p:nvSpPr>
          <p:cNvPr id="8" name="Oval 2">
            <a:extLst>
              <a:ext uri="{FF2B5EF4-FFF2-40B4-BE49-F238E27FC236}">
                <a16:creationId xmlns:a16="http://schemas.microsoft.com/office/drawing/2014/main" id="{763B7E0D-3862-4172-2209-41AA85728EE8}"/>
              </a:ext>
            </a:extLst>
          </p:cNvPr>
          <p:cNvSpPr>
            <a:spLocks noChangeArrowheads="1"/>
          </p:cNvSpPr>
          <p:nvPr/>
        </p:nvSpPr>
        <p:spPr bwMode="auto">
          <a:xfrm>
            <a:off x="1290718" y="1893060"/>
            <a:ext cx="2220912" cy="2189162"/>
          </a:xfrm>
          <a:prstGeom prst="ellipse">
            <a:avLst/>
          </a:prstGeom>
          <a:solidFill>
            <a:schemeClr val="accent5"/>
          </a:solidFill>
          <a:ln w="6350">
            <a:solidFill>
              <a:schemeClr val="bg2"/>
            </a:solidFill>
            <a:round/>
            <a:headEnd/>
            <a:tailEnd/>
          </a:ln>
          <a:effectLst/>
        </p:spPr>
        <p:txBody>
          <a:bodyPr wrap="none" lIns="45720" rIns="45720" anchor="ctr"/>
          <a:lstStyle/>
          <a:p>
            <a:pPr marL="101600" indent="-101600" algn="ctr">
              <a:spcBef>
                <a:spcPct val="30000"/>
              </a:spcBef>
              <a:buClr>
                <a:schemeClr val="folHlink"/>
              </a:buClr>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Key</a:t>
            </a:r>
          </a:p>
          <a:p>
            <a:pPr marL="101600" indent="-101600" algn="ctr">
              <a:spcBef>
                <a:spcPct val="30000"/>
              </a:spcBef>
              <a:buClr>
                <a:schemeClr val="folHlink"/>
              </a:buClr>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Business</a:t>
            </a:r>
          </a:p>
          <a:p>
            <a:pPr marL="101600" indent="-101600" algn="ctr">
              <a:spcBef>
                <a:spcPct val="30000"/>
              </a:spcBef>
              <a:buClr>
                <a:schemeClr val="folHlink"/>
              </a:buClr>
              <a:defRPr/>
            </a:pPr>
            <a:r>
              <a:rPr lang="en-GB" sz="2400" dirty="0">
                <a:solidFill>
                  <a:schemeClr val="bg1"/>
                </a:solidFill>
                <a:latin typeface="Roboto" panose="02000000000000000000" pitchFamily="2" charset="0"/>
                <a:ea typeface="Roboto" panose="02000000000000000000" pitchFamily="2" charset="0"/>
                <a:cs typeface="Roboto" panose="02000000000000000000" pitchFamily="2" charset="0"/>
              </a:rPr>
              <a:t>Imperatives</a:t>
            </a:r>
            <a:endParaRPr lang="en-GB" sz="2400" b="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 name="AutoShape 5">
            <a:extLst>
              <a:ext uri="{FF2B5EF4-FFF2-40B4-BE49-F238E27FC236}">
                <a16:creationId xmlns:a16="http://schemas.microsoft.com/office/drawing/2014/main" id="{5779DDA3-BB3E-6BC7-CC38-CBCD98B94324}"/>
              </a:ext>
            </a:extLst>
          </p:cNvPr>
          <p:cNvSpPr>
            <a:spLocks noChangeArrowheads="1"/>
          </p:cNvSpPr>
          <p:nvPr/>
        </p:nvSpPr>
        <p:spPr bwMode="auto">
          <a:xfrm>
            <a:off x="6434362" y="1539047"/>
            <a:ext cx="792162" cy="4276725"/>
          </a:xfrm>
          <a:prstGeom prst="cube">
            <a:avLst>
              <a:gd name="adj" fmla="val 78426"/>
            </a:avLst>
          </a:prstGeom>
          <a:solidFill>
            <a:schemeClr val="bg2"/>
          </a:solidFill>
          <a:ln w="6350">
            <a:solidFill>
              <a:schemeClr val="tx1"/>
            </a:solidFill>
            <a:miter lim="800000"/>
            <a:headEnd/>
            <a:tailEnd/>
          </a:ln>
        </p:spPr>
        <p:txBody>
          <a:bodyPr wrap="none"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p>
        </p:txBody>
      </p:sp>
      <p:sp>
        <p:nvSpPr>
          <p:cNvPr id="4" name="Freeform 6">
            <a:extLst>
              <a:ext uri="{FF2B5EF4-FFF2-40B4-BE49-F238E27FC236}">
                <a16:creationId xmlns:a16="http://schemas.microsoft.com/office/drawing/2014/main" id="{83E3B08B-09D8-4DB5-39E3-8111CD8D06CA}"/>
              </a:ext>
            </a:extLst>
          </p:cNvPr>
          <p:cNvSpPr>
            <a:spLocks/>
          </p:cNvSpPr>
          <p:nvPr/>
        </p:nvSpPr>
        <p:spPr bwMode="auto">
          <a:xfrm>
            <a:off x="6931249" y="1634297"/>
            <a:ext cx="3627023" cy="4327525"/>
          </a:xfrm>
          <a:custGeom>
            <a:avLst/>
            <a:gdLst>
              <a:gd name="T0" fmla="*/ 12865 w 1621"/>
              <a:gd name="T1" fmla="*/ 1061790 h 1777"/>
              <a:gd name="T2" fmla="*/ 1498718 w 1621"/>
              <a:gd name="T3" fmla="*/ 1061790 h 1777"/>
              <a:gd name="T4" fmla="*/ 1498718 w 1621"/>
              <a:gd name="T5" fmla="*/ 0 h 1777"/>
              <a:gd name="T6" fmla="*/ 2605067 w 1621"/>
              <a:gd name="T7" fmla="*/ 2172286 h 1777"/>
              <a:gd name="T8" fmla="*/ 1505150 w 1621"/>
              <a:gd name="T9" fmla="*/ 4325090 h 1777"/>
              <a:gd name="T10" fmla="*/ 1505150 w 1621"/>
              <a:gd name="T11" fmla="*/ 3273041 h 1777"/>
              <a:gd name="T12" fmla="*/ 6432 w 1621"/>
              <a:gd name="T13" fmla="*/ 3273041 h 1777"/>
              <a:gd name="T14" fmla="*/ 32161 w 1621"/>
              <a:gd name="T15" fmla="*/ 3107441 h 1777"/>
              <a:gd name="T16" fmla="*/ 0 w 1621"/>
              <a:gd name="T17" fmla="*/ 2932099 h 1777"/>
              <a:gd name="T18" fmla="*/ 64323 w 1621"/>
              <a:gd name="T19" fmla="*/ 2747016 h 1777"/>
              <a:gd name="T20" fmla="*/ 19297 w 1621"/>
              <a:gd name="T21" fmla="*/ 2630122 h 1777"/>
              <a:gd name="T22" fmla="*/ 51458 w 1621"/>
              <a:gd name="T23" fmla="*/ 2357369 h 1777"/>
              <a:gd name="T24" fmla="*/ 12865 w 1621"/>
              <a:gd name="T25" fmla="*/ 2220992 h 1777"/>
              <a:gd name="T26" fmla="*/ 45026 w 1621"/>
              <a:gd name="T27" fmla="*/ 2045651 h 1777"/>
              <a:gd name="T28" fmla="*/ 12865 w 1621"/>
              <a:gd name="T29" fmla="*/ 1850827 h 1777"/>
              <a:gd name="T30" fmla="*/ 51458 w 1621"/>
              <a:gd name="T31" fmla="*/ 1733932 h 1777"/>
              <a:gd name="T32" fmla="*/ 12865 w 1621"/>
              <a:gd name="T33" fmla="*/ 1568332 h 1777"/>
              <a:gd name="T34" fmla="*/ 45026 w 1621"/>
              <a:gd name="T35" fmla="*/ 1246873 h 1777"/>
              <a:gd name="T36" fmla="*/ 12865 w 1621"/>
              <a:gd name="T37" fmla="*/ 1168943 h 1777"/>
              <a:gd name="T38" fmla="*/ 12865 w 1621"/>
              <a:gd name="T39" fmla="*/ 1061790 h 17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21" h="1777">
                <a:moveTo>
                  <a:pt x="8" y="436"/>
                </a:moveTo>
                <a:lnTo>
                  <a:pt x="932" y="436"/>
                </a:lnTo>
                <a:lnTo>
                  <a:pt x="932" y="0"/>
                </a:lnTo>
                <a:lnTo>
                  <a:pt x="1620" y="892"/>
                </a:lnTo>
                <a:lnTo>
                  <a:pt x="936" y="1776"/>
                </a:lnTo>
                <a:lnTo>
                  <a:pt x="936" y="1344"/>
                </a:lnTo>
                <a:lnTo>
                  <a:pt x="4" y="1344"/>
                </a:lnTo>
                <a:lnTo>
                  <a:pt x="20" y="1276"/>
                </a:lnTo>
                <a:lnTo>
                  <a:pt x="0" y="1204"/>
                </a:lnTo>
                <a:lnTo>
                  <a:pt x="40" y="1128"/>
                </a:lnTo>
                <a:lnTo>
                  <a:pt x="12" y="1080"/>
                </a:lnTo>
                <a:lnTo>
                  <a:pt x="32" y="968"/>
                </a:lnTo>
                <a:lnTo>
                  <a:pt x="8" y="912"/>
                </a:lnTo>
                <a:lnTo>
                  <a:pt x="28" y="840"/>
                </a:lnTo>
                <a:lnTo>
                  <a:pt x="8" y="760"/>
                </a:lnTo>
                <a:lnTo>
                  <a:pt x="32" y="712"/>
                </a:lnTo>
                <a:lnTo>
                  <a:pt x="8" y="644"/>
                </a:lnTo>
                <a:lnTo>
                  <a:pt x="28" y="512"/>
                </a:lnTo>
                <a:lnTo>
                  <a:pt x="8" y="480"/>
                </a:lnTo>
                <a:lnTo>
                  <a:pt x="8" y="436"/>
                </a:lnTo>
              </a:path>
            </a:pathLst>
          </a:custGeom>
          <a:solidFill>
            <a:schemeClr val="accent3"/>
          </a:solidFill>
          <a:ln w="6350" cap="rnd" cmpd="sng">
            <a:solidFill>
              <a:schemeClr val="tx1"/>
            </a:solidFill>
            <a:prstDash val="solid"/>
            <a:round/>
            <a:headEnd type="none" w="med" len="med"/>
            <a:tailEnd type="none" w="med" len="med"/>
          </a:ln>
          <a:effectLst/>
        </p:spPr>
        <p:txBody>
          <a:bodyPr lIns="45720" rIns="45720" anchor="ctr"/>
          <a:lstStyle/>
          <a:p>
            <a:pPr algn="ctr">
              <a:spcBef>
                <a:spcPct val="20000"/>
              </a:spcBef>
              <a:defRPr/>
            </a:pPr>
            <a:r>
              <a:rPr lang="en-US" sz="2400" dirty="0">
                <a:solidFill>
                  <a:schemeClr val="bg1"/>
                </a:solidFill>
                <a:latin typeface="Roboto" panose="02000000000000000000" pitchFamily="2" charset="0"/>
                <a:ea typeface="Roboto" panose="02000000000000000000" pitchFamily="2" charset="0"/>
                <a:cs typeface="Roboto" panose="02000000000000000000" pitchFamily="2" charset="0"/>
              </a:rPr>
              <a:t>Make Improvements </a:t>
            </a:r>
            <a:br>
              <a:rPr lang="en-US" sz="24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sz="2400" dirty="0">
                <a:solidFill>
                  <a:schemeClr val="bg1"/>
                </a:solidFill>
                <a:latin typeface="Roboto" panose="02000000000000000000" pitchFamily="2" charset="0"/>
                <a:ea typeface="Roboto" panose="02000000000000000000" pitchFamily="2" charset="0"/>
                <a:cs typeface="Roboto" panose="02000000000000000000" pitchFamily="2" charset="0"/>
              </a:rPr>
              <a:t>that </a:t>
            </a:r>
            <a:br>
              <a:rPr lang="en-US" sz="24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sz="2400" dirty="0">
                <a:solidFill>
                  <a:schemeClr val="bg1"/>
                </a:solidFill>
                <a:latin typeface="Roboto" panose="02000000000000000000" pitchFamily="2" charset="0"/>
                <a:ea typeface="Roboto" panose="02000000000000000000" pitchFamily="2" charset="0"/>
                <a:cs typeface="Roboto" panose="02000000000000000000" pitchFamily="2" charset="0"/>
              </a:rPr>
              <a:t>Eliminate Waste:</a:t>
            </a:r>
          </a:p>
        </p:txBody>
      </p:sp>
      <p:sp>
        <p:nvSpPr>
          <p:cNvPr id="14" name="Slide Number Placeholder 2">
            <a:extLst>
              <a:ext uri="{FF2B5EF4-FFF2-40B4-BE49-F238E27FC236}">
                <a16:creationId xmlns:a16="http://schemas.microsoft.com/office/drawing/2014/main" id="{F6D55855-9E7A-126D-9527-49E25D0D888A}"/>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a:t>
            </a:fld>
            <a:endParaRPr lang="en-US"/>
          </a:p>
        </p:txBody>
      </p:sp>
    </p:spTree>
    <p:extLst>
      <p:ext uri="{BB962C8B-B14F-4D97-AF65-F5344CB8AC3E}">
        <p14:creationId xmlns:p14="http://schemas.microsoft.com/office/powerpoint/2010/main" val="205167385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6A6389-D2DC-6F1A-D470-EEB147808CC7}"/>
              </a:ext>
            </a:extLst>
          </p:cNvPr>
          <p:cNvSpPr>
            <a:spLocks noGrp="1"/>
          </p:cNvSpPr>
          <p:nvPr>
            <p:ph type="title"/>
          </p:nvPr>
        </p:nvSpPr>
        <p:spPr/>
        <p:txBody>
          <a:bodyPr>
            <a:noAutofit/>
          </a:bodyPr>
          <a:lstStyle/>
          <a:p>
            <a:r>
              <a:rPr lang="en-US" sz="3600" dirty="0"/>
              <a:t>Business Case Examples that Support Key Business Imperatives</a:t>
            </a:r>
          </a:p>
        </p:txBody>
      </p:sp>
      <p:graphicFrame>
        <p:nvGraphicFramePr>
          <p:cNvPr id="3" name="Group 79">
            <a:extLst>
              <a:ext uri="{FF2B5EF4-FFF2-40B4-BE49-F238E27FC236}">
                <a16:creationId xmlns:a16="http://schemas.microsoft.com/office/drawing/2014/main" id="{086A6050-BB77-9D71-DA47-84843A7CE1F4}"/>
              </a:ext>
            </a:extLst>
          </p:cNvPr>
          <p:cNvGraphicFramePr>
            <a:graphicFrameLocks noGrp="1"/>
          </p:cNvGraphicFramePr>
          <p:nvPr>
            <p:extLst>
              <p:ext uri="{D42A27DB-BD31-4B8C-83A1-F6EECF244321}">
                <p14:modId xmlns:p14="http://schemas.microsoft.com/office/powerpoint/2010/main" val="1215483394"/>
              </p:ext>
            </p:extLst>
          </p:nvPr>
        </p:nvGraphicFramePr>
        <p:xfrm>
          <a:off x="838200" y="2047929"/>
          <a:ext cx="10378440" cy="3990033"/>
        </p:xfrm>
        <a:graphic>
          <a:graphicData uri="http://schemas.openxmlformats.org/drawingml/2006/table">
            <a:tbl>
              <a:tblPr/>
              <a:tblGrid>
                <a:gridCol w="2126697">
                  <a:extLst>
                    <a:ext uri="{9D8B030D-6E8A-4147-A177-3AD203B41FA5}">
                      <a16:colId xmlns:a16="http://schemas.microsoft.com/office/drawing/2014/main" val="20000"/>
                    </a:ext>
                  </a:extLst>
                </a:gridCol>
                <a:gridCol w="8251743">
                  <a:extLst>
                    <a:ext uri="{9D8B030D-6E8A-4147-A177-3AD203B41FA5}">
                      <a16:colId xmlns:a16="http://schemas.microsoft.com/office/drawing/2014/main" val="20001"/>
                    </a:ext>
                  </a:extLst>
                </a:gridCol>
              </a:tblGrid>
              <a:tr h="34796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Problem</a:t>
                      </a:r>
                    </a:p>
                  </a:txBody>
                  <a:tcPr marT="45712" marB="4571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Description</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56125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Capacity</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Overtime problem, Employee frustration, Need more people/ equipment/offices</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521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Response Time</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Too much time </a:t>
                      </a:r>
                      <a:r>
                        <a:rPr kumimoji="0" lang="en-US" altLang="en-US" sz="1400" b="1" i="0" u="none" strike="noStrike" cap="none" normalizeH="0" baseline="0" dirty="0" err="1">
                          <a:ln>
                            <a:noFill/>
                          </a:ln>
                          <a:solidFill>
                            <a:schemeClr val="tx1"/>
                          </a:solidFill>
                          <a:effectLst/>
                          <a:latin typeface="Roboto" panose="02000000000000000000" pitchFamily="2" charset="0"/>
                          <a:ea typeface="Roboto" panose="02000000000000000000" pitchFamily="2" charset="0"/>
                        </a:rPr>
                        <a:t>statusing</a:t>
                      </a: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orders, too many meetings</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25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Quality</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First Pass Yield of Information, Product Launch ineffectiveness, </a:t>
                      </a:r>
                      <a:b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b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chasing information</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1267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Inventory</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In boxes, In process orders, Waiting rooms</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505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Lead Time</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Information </a:t>
                      </a:r>
                      <a:r>
                        <a:rPr kumimoji="0" lang="ja-JP" altLang="en-US" sz="14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rPr>
                        <a:t>“</a:t>
                      </a:r>
                      <a:r>
                        <a:rPr kumimoji="0" lang="en-US" altLang="ja-JP"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throughput</a:t>
                      </a:r>
                      <a:r>
                        <a:rPr kumimoji="0" lang="ja-JP" altLang="en-US" sz="14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rPr>
                        <a:t>”</a:t>
                      </a:r>
                      <a:r>
                        <a:rPr kumimoji="0" lang="en-US" altLang="ja-JP"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time</a:t>
                      </a: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1267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Productivity</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Costs are too high, they keep throwing more onto our department</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1267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Technology Shift</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New MRP system, Integration of New Technology</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1267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Cash Flow</a:t>
                      </a:r>
                    </a:p>
                  </a:txBody>
                  <a:tcPr marT="45712" marB="45712"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Receivables are too high, over-budget, not enough resources</a:t>
                      </a:r>
                    </a:p>
                  </a:txBody>
                  <a:tcPr marT="45712" marB="4571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4" name="Slide Number Placeholder 2">
            <a:extLst>
              <a:ext uri="{FF2B5EF4-FFF2-40B4-BE49-F238E27FC236}">
                <a16:creationId xmlns:a16="http://schemas.microsoft.com/office/drawing/2014/main" id="{D93E8A21-4203-CA1B-0772-C1EFF6399CE8}"/>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a:t>
            </a:fld>
            <a:endParaRPr lang="en-US"/>
          </a:p>
        </p:txBody>
      </p:sp>
    </p:spTree>
    <p:extLst>
      <p:ext uri="{BB962C8B-B14F-4D97-AF65-F5344CB8AC3E}">
        <p14:creationId xmlns:p14="http://schemas.microsoft.com/office/powerpoint/2010/main" val="101873027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8BA158-ED47-6961-97F4-68EE874326C5}"/>
              </a:ext>
            </a:extLst>
          </p:cNvPr>
          <p:cNvSpPr>
            <a:spLocks noGrp="1"/>
          </p:cNvSpPr>
          <p:nvPr>
            <p:ph type="title"/>
          </p:nvPr>
        </p:nvSpPr>
        <p:spPr/>
        <p:txBody>
          <a:bodyPr>
            <a:normAutofit/>
          </a:bodyPr>
          <a:lstStyle/>
          <a:p>
            <a:r>
              <a:rPr lang="en-US" sz="3600" dirty="0"/>
              <a:t>Value Stream Mapping Roadmap to Success</a:t>
            </a:r>
          </a:p>
        </p:txBody>
      </p:sp>
      <p:sp>
        <p:nvSpPr>
          <p:cNvPr id="4" name="Rectangle 2">
            <a:extLst>
              <a:ext uri="{FF2B5EF4-FFF2-40B4-BE49-F238E27FC236}">
                <a16:creationId xmlns:a16="http://schemas.microsoft.com/office/drawing/2014/main" id="{44F98848-5B7A-394A-4D47-4A3109CD6A78}"/>
              </a:ext>
            </a:extLst>
          </p:cNvPr>
          <p:cNvSpPr>
            <a:spLocks noChangeArrowheads="1"/>
          </p:cNvSpPr>
          <p:nvPr/>
        </p:nvSpPr>
        <p:spPr bwMode="auto">
          <a:xfrm>
            <a:off x="3448622" y="1855661"/>
            <a:ext cx="6534150" cy="2776537"/>
          </a:xfrm>
          <a:prstGeom prst="rect">
            <a:avLst/>
          </a:prstGeom>
          <a:solidFill>
            <a:srgbClr val="7F7F7F"/>
          </a:solidFill>
          <a:ln w="12700" cap="sq">
            <a:solidFill>
              <a:srgbClr val="0033CC"/>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 name="Text Box 31">
            <a:extLst>
              <a:ext uri="{FF2B5EF4-FFF2-40B4-BE49-F238E27FC236}">
                <a16:creationId xmlns:a16="http://schemas.microsoft.com/office/drawing/2014/main" id="{50D1BC17-2653-390F-277B-1082EF5A8A95}"/>
              </a:ext>
            </a:extLst>
          </p:cNvPr>
          <p:cNvSpPr txBox="1">
            <a:spLocks noChangeArrowheads="1"/>
          </p:cNvSpPr>
          <p:nvPr/>
        </p:nvSpPr>
        <p:spPr bwMode="auto">
          <a:xfrm>
            <a:off x="4834220" y="2005702"/>
            <a:ext cx="3802643" cy="338554"/>
          </a:xfrm>
          <a:prstGeom prst="rect">
            <a:avLst/>
          </a:prstGeom>
          <a:solidFill>
            <a:srgbClr val="7F7F7F"/>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b="0" dirty="0">
                <a:solidFill>
                  <a:schemeClr val="bg1">
                    <a:lumMod val="95000"/>
                  </a:schemeClr>
                </a:solidFill>
                <a:latin typeface="Roboto" panose="02000000000000000000" pitchFamily="2" charset="0"/>
                <a:ea typeface="Roboto" panose="02000000000000000000" pitchFamily="2" charset="0"/>
                <a:cs typeface="Roboto" panose="02000000000000000000" pitchFamily="2" charset="0"/>
              </a:rPr>
              <a:t>Repeat for each identified Value Stream</a:t>
            </a:r>
          </a:p>
        </p:txBody>
      </p:sp>
      <p:sp>
        <p:nvSpPr>
          <p:cNvPr id="6" name="Oval 21">
            <a:extLst>
              <a:ext uri="{FF2B5EF4-FFF2-40B4-BE49-F238E27FC236}">
                <a16:creationId xmlns:a16="http://schemas.microsoft.com/office/drawing/2014/main" id="{D95A922C-F956-0315-BF43-CD91F7BC9192}"/>
              </a:ext>
            </a:extLst>
          </p:cNvPr>
          <p:cNvSpPr>
            <a:spLocks noChangeArrowheads="1"/>
          </p:cNvSpPr>
          <p:nvPr/>
        </p:nvSpPr>
        <p:spPr bwMode="auto">
          <a:xfrm>
            <a:off x="8906447" y="3301873"/>
            <a:ext cx="976312" cy="1052513"/>
          </a:xfrm>
          <a:prstGeom prst="ellipse">
            <a:avLst/>
          </a:prstGeom>
          <a:solidFill>
            <a:schemeClr val="accent1"/>
          </a:solidFill>
          <a:ln w="6350">
            <a:solidFill>
              <a:schemeClr val="tx1"/>
            </a:solidFill>
            <a:round/>
            <a:headEnd/>
            <a:tailEnd/>
          </a:ln>
        </p:spPr>
        <p:txBody>
          <a:bodyPr wrap="none" lIns="45720" rIns="45720" anchor="ctr"/>
          <a:lstStyle>
            <a:lvl1pPr marL="101600" indent="-1016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panose="02000000000000000000" pitchFamily="2" charset="0"/>
                <a:ea typeface="Roboto" panose="02000000000000000000" pitchFamily="2" charset="0"/>
                <a:cs typeface="Roboto" panose="02000000000000000000" pitchFamily="2" charset="0"/>
              </a:rPr>
              <a:t>Repeat</a:t>
            </a:r>
          </a:p>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panose="02000000000000000000" pitchFamily="2" charset="0"/>
                <a:ea typeface="Roboto" panose="02000000000000000000" pitchFamily="2" charset="0"/>
                <a:cs typeface="Roboto" panose="02000000000000000000" pitchFamily="2" charset="0"/>
              </a:rPr>
              <a:t>Cycle</a:t>
            </a:r>
          </a:p>
        </p:txBody>
      </p:sp>
      <p:sp>
        <p:nvSpPr>
          <p:cNvPr id="7" name="Rectangle 33">
            <a:extLst>
              <a:ext uri="{FF2B5EF4-FFF2-40B4-BE49-F238E27FC236}">
                <a16:creationId xmlns:a16="http://schemas.microsoft.com/office/drawing/2014/main" id="{F6531B55-90FC-095C-5C0B-69FFD7604E76}"/>
              </a:ext>
            </a:extLst>
          </p:cNvPr>
          <p:cNvSpPr>
            <a:spLocks noChangeArrowheads="1"/>
          </p:cNvSpPr>
          <p:nvPr/>
        </p:nvSpPr>
        <p:spPr bwMode="auto">
          <a:xfrm>
            <a:off x="1756347" y="3293936"/>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panose="02000000000000000000" pitchFamily="2" charset="0"/>
                <a:ea typeface="Roboto" panose="02000000000000000000" pitchFamily="2" charset="0"/>
                <a:cs typeface="Roboto" panose="02000000000000000000" pitchFamily="2" charset="0"/>
              </a:rPr>
            </a:br>
            <a:r>
              <a:rPr lang="en-US" altLang="en-US" sz="1400" b="0">
                <a:latin typeface="Roboto" panose="02000000000000000000" pitchFamily="2" charset="0"/>
                <a:ea typeface="Roboto" panose="02000000000000000000" pitchFamily="2" charset="0"/>
                <a:cs typeface="Roboto" panose="02000000000000000000" pitchFamily="2" charset="0"/>
              </a:rPr>
              <a:t>Site Assessment</a:t>
            </a:r>
          </a:p>
        </p:txBody>
      </p:sp>
      <p:sp>
        <p:nvSpPr>
          <p:cNvPr id="8" name="Rectangle 34">
            <a:extLst>
              <a:ext uri="{FF2B5EF4-FFF2-40B4-BE49-F238E27FC236}">
                <a16:creationId xmlns:a16="http://schemas.microsoft.com/office/drawing/2014/main" id="{1FD3C569-3E69-6D25-FBED-4E7CE2725235}"/>
              </a:ext>
            </a:extLst>
          </p:cNvPr>
          <p:cNvSpPr>
            <a:spLocks noChangeArrowheads="1"/>
          </p:cNvSpPr>
          <p:nvPr/>
        </p:nvSpPr>
        <p:spPr bwMode="auto">
          <a:xfrm>
            <a:off x="1756347" y="3031998"/>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PROCESS STEP 1</a:t>
            </a:r>
          </a:p>
        </p:txBody>
      </p:sp>
      <p:sp>
        <p:nvSpPr>
          <p:cNvPr id="9" name="Rectangle 35">
            <a:extLst>
              <a:ext uri="{FF2B5EF4-FFF2-40B4-BE49-F238E27FC236}">
                <a16:creationId xmlns:a16="http://schemas.microsoft.com/office/drawing/2014/main" id="{16D8C825-98EB-03E0-7264-1A38DF32C1D4}"/>
              </a:ext>
            </a:extLst>
          </p:cNvPr>
          <p:cNvSpPr>
            <a:spLocks noChangeArrowheads="1"/>
          </p:cNvSpPr>
          <p:nvPr/>
        </p:nvSpPr>
        <p:spPr bwMode="auto">
          <a:xfrm>
            <a:off x="3551809" y="328917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panose="02000000000000000000" pitchFamily="2" charset="0"/>
                <a:ea typeface="Roboto" panose="02000000000000000000" pitchFamily="2" charset="0"/>
                <a:cs typeface="Roboto" panose="02000000000000000000" pitchFamily="2" charset="0"/>
              </a:rPr>
            </a:br>
            <a:r>
              <a:rPr lang="en-US" altLang="en-US" sz="1400" b="0">
                <a:latin typeface="Roboto" panose="02000000000000000000" pitchFamily="2" charset="0"/>
                <a:ea typeface="Roboto" panose="02000000000000000000" pitchFamily="2" charset="0"/>
                <a:cs typeface="Roboto" panose="02000000000000000000" pitchFamily="2" charset="0"/>
              </a:rPr>
              <a:t>VSM Event</a:t>
            </a:r>
            <a:br>
              <a:rPr lang="en-US" altLang="en-US" sz="1400" b="0">
                <a:latin typeface="Roboto" panose="02000000000000000000" pitchFamily="2" charset="0"/>
                <a:ea typeface="Roboto" panose="02000000000000000000" pitchFamily="2" charset="0"/>
                <a:cs typeface="Roboto" panose="02000000000000000000" pitchFamily="2" charset="0"/>
              </a:rPr>
            </a:br>
            <a:r>
              <a:rPr lang="en-US" altLang="en-US" sz="1400" b="0">
                <a:latin typeface="Roboto" panose="02000000000000000000" pitchFamily="2" charset="0"/>
                <a:ea typeface="Roboto" panose="02000000000000000000" pitchFamily="2" charset="0"/>
                <a:cs typeface="Roboto" panose="02000000000000000000" pitchFamily="2" charset="0"/>
              </a:rPr>
              <a:t>Preparation</a:t>
            </a:r>
          </a:p>
        </p:txBody>
      </p:sp>
      <p:sp>
        <p:nvSpPr>
          <p:cNvPr id="10" name="Rectangle 36">
            <a:extLst>
              <a:ext uri="{FF2B5EF4-FFF2-40B4-BE49-F238E27FC236}">
                <a16:creationId xmlns:a16="http://schemas.microsoft.com/office/drawing/2014/main" id="{98AAF313-46E4-7DA3-6959-760B9E8BB409}"/>
              </a:ext>
            </a:extLst>
          </p:cNvPr>
          <p:cNvSpPr>
            <a:spLocks noChangeArrowheads="1"/>
          </p:cNvSpPr>
          <p:nvPr/>
        </p:nvSpPr>
        <p:spPr bwMode="auto">
          <a:xfrm>
            <a:off x="3551809" y="3027236"/>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a:solidFill>
                  <a:schemeClr val="bg1"/>
                </a:solidFill>
                <a:latin typeface="Roboto" panose="02000000000000000000" pitchFamily="2" charset="0"/>
                <a:ea typeface="Roboto" panose="02000000000000000000" pitchFamily="2" charset="0"/>
                <a:cs typeface="Roboto" panose="02000000000000000000" pitchFamily="2" charset="0"/>
              </a:rPr>
              <a:t>PROCESS STEP 2</a:t>
            </a:r>
          </a:p>
        </p:txBody>
      </p:sp>
      <p:sp>
        <p:nvSpPr>
          <p:cNvPr id="11" name="Rectangle 37">
            <a:extLst>
              <a:ext uri="{FF2B5EF4-FFF2-40B4-BE49-F238E27FC236}">
                <a16:creationId xmlns:a16="http://schemas.microsoft.com/office/drawing/2014/main" id="{473AEF0F-160E-6219-BB47-596C2E791582}"/>
              </a:ext>
            </a:extLst>
          </p:cNvPr>
          <p:cNvSpPr>
            <a:spLocks noChangeArrowheads="1"/>
          </p:cNvSpPr>
          <p:nvPr/>
        </p:nvSpPr>
        <p:spPr bwMode="auto">
          <a:xfrm>
            <a:off x="5366322" y="328917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panose="02000000000000000000" pitchFamily="2" charset="0"/>
                <a:ea typeface="Roboto" panose="02000000000000000000" pitchFamily="2" charset="0"/>
                <a:cs typeface="Roboto" panose="02000000000000000000" pitchFamily="2" charset="0"/>
              </a:rPr>
            </a:br>
            <a:r>
              <a:rPr lang="en-US" altLang="en-US" sz="1400" b="0">
                <a:latin typeface="Roboto" panose="02000000000000000000" pitchFamily="2" charset="0"/>
                <a:ea typeface="Roboto" panose="02000000000000000000" pitchFamily="2" charset="0"/>
                <a:cs typeface="Roboto" panose="02000000000000000000" pitchFamily="2" charset="0"/>
              </a:rPr>
              <a:t>Conduct</a:t>
            </a:r>
            <a:br>
              <a:rPr lang="en-US" altLang="en-US" sz="1400" b="0">
                <a:latin typeface="Roboto" panose="02000000000000000000" pitchFamily="2" charset="0"/>
                <a:ea typeface="Roboto" panose="02000000000000000000" pitchFamily="2" charset="0"/>
                <a:cs typeface="Roboto" panose="02000000000000000000" pitchFamily="2" charset="0"/>
              </a:rPr>
            </a:br>
            <a:r>
              <a:rPr lang="en-US" altLang="en-US" sz="1400" b="0">
                <a:latin typeface="Roboto" panose="02000000000000000000" pitchFamily="2" charset="0"/>
                <a:ea typeface="Roboto" panose="02000000000000000000" pitchFamily="2" charset="0"/>
                <a:cs typeface="Roboto" panose="02000000000000000000" pitchFamily="2" charset="0"/>
              </a:rPr>
              <a:t>VSM Event</a:t>
            </a:r>
          </a:p>
        </p:txBody>
      </p:sp>
      <p:sp>
        <p:nvSpPr>
          <p:cNvPr id="12" name="Rectangle 38">
            <a:extLst>
              <a:ext uri="{FF2B5EF4-FFF2-40B4-BE49-F238E27FC236}">
                <a16:creationId xmlns:a16="http://schemas.microsoft.com/office/drawing/2014/main" id="{CD8C55EB-7BCB-0612-3168-B9A68E38409E}"/>
              </a:ext>
            </a:extLst>
          </p:cNvPr>
          <p:cNvSpPr>
            <a:spLocks noChangeArrowheads="1"/>
          </p:cNvSpPr>
          <p:nvPr/>
        </p:nvSpPr>
        <p:spPr bwMode="auto">
          <a:xfrm>
            <a:off x="5366322" y="3027236"/>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a:solidFill>
                  <a:schemeClr val="bg1"/>
                </a:solidFill>
                <a:latin typeface="Roboto" panose="02000000000000000000" pitchFamily="2" charset="0"/>
                <a:ea typeface="Roboto" panose="02000000000000000000" pitchFamily="2" charset="0"/>
                <a:cs typeface="Roboto" panose="02000000000000000000" pitchFamily="2" charset="0"/>
              </a:rPr>
              <a:t>PROCESS STEP 3</a:t>
            </a:r>
          </a:p>
        </p:txBody>
      </p:sp>
      <p:sp>
        <p:nvSpPr>
          <p:cNvPr id="13" name="Rectangle 39">
            <a:extLst>
              <a:ext uri="{FF2B5EF4-FFF2-40B4-BE49-F238E27FC236}">
                <a16:creationId xmlns:a16="http://schemas.microsoft.com/office/drawing/2014/main" id="{FB37C5C5-0871-66C4-7F14-A6630E8B49E4}"/>
              </a:ext>
            </a:extLst>
          </p:cNvPr>
          <p:cNvSpPr>
            <a:spLocks noChangeArrowheads="1"/>
          </p:cNvSpPr>
          <p:nvPr/>
        </p:nvSpPr>
        <p:spPr bwMode="auto">
          <a:xfrm>
            <a:off x="7180834" y="328917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Implement</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VS Plan</a:t>
            </a:r>
          </a:p>
        </p:txBody>
      </p:sp>
      <p:sp>
        <p:nvSpPr>
          <p:cNvPr id="14" name="Rectangle 40">
            <a:extLst>
              <a:ext uri="{FF2B5EF4-FFF2-40B4-BE49-F238E27FC236}">
                <a16:creationId xmlns:a16="http://schemas.microsoft.com/office/drawing/2014/main" id="{F3815DF7-1098-DF3D-BFE2-0C87170C61EC}"/>
              </a:ext>
            </a:extLst>
          </p:cNvPr>
          <p:cNvSpPr>
            <a:spLocks noChangeArrowheads="1"/>
          </p:cNvSpPr>
          <p:nvPr/>
        </p:nvSpPr>
        <p:spPr bwMode="auto">
          <a:xfrm>
            <a:off x="7180834" y="3027236"/>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a:solidFill>
                  <a:schemeClr val="bg1"/>
                </a:solidFill>
                <a:latin typeface="Roboto" panose="02000000000000000000" pitchFamily="2" charset="0"/>
                <a:ea typeface="Roboto" panose="02000000000000000000" pitchFamily="2" charset="0"/>
                <a:cs typeface="Roboto" panose="02000000000000000000" pitchFamily="2" charset="0"/>
              </a:rPr>
              <a:t>PROCESS STEP 4</a:t>
            </a:r>
          </a:p>
        </p:txBody>
      </p:sp>
      <p:cxnSp>
        <p:nvCxnSpPr>
          <p:cNvPr id="15" name="AutoShape 41">
            <a:extLst>
              <a:ext uri="{FF2B5EF4-FFF2-40B4-BE49-F238E27FC236}">
                <a16:creationId xmlns:a16="http://schemas.microsoft.com/office/drawing/2014/main" id="{B0343BD5-E2F9-B6FC-7A62-EF84A418783A}"/>
              </a:ext>
            </a:extLst>
          </p:cNvPr>
          <p:cNvCxnSpPr>
            <a:cxnSpLocks noChangeShapeType="1"/>
            <a:stCxn id="7" idx="3"/>
            <a:endCxn id="9" idx="1"/>
          </p:cNvCxnSpPr>
          <p:nvPr/>
        </p:nvCxnSpPr>
        <p:spPr bwMode="auto">
          <a:xfrm flipV="1">
            <a:off x="3277172" y="3828923"/>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6" name="AutoShape 42">
            <a:extLst>
              <a:ext uri="{FF2B5EF4-FFF2-40B4-BE49-F238E27FC236}">
                <a16:creationId xmlns:a16="http://schemas.microsoft.com/office/drawing/2014/main" id="{0C17F2A3-5AE2-B98C-9C30-5202758E613B}"/>
              </a:ext>
            </a:extLst>
          </p:cNvPr>
          <p:cNvCxnSpPr>
            <a:cxnSpLocks noChangeShapeType="1"/>
            <a:stCxn id="9" idx="3"/>
            <a:endCxn id="11" idx="1"/>
          </p:cNvCxnSpPr>
          <p:nvPr/>
        </p:nvCxnSpPr>
        <p:spPr bwMode="auto">
          <a:xfrm>
            <a:off x="5072634" y="3828923"/>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43">
            <a:extLst>
              <a:ext uri="{FF2B5EF4-FFF2-40B4-BE49-F238E27FC236}">
                <a16:creationId xmlns:a16="http://schemas.microsoft.com/office/drawing/2014/main" id="{3034BB9A-0693-6A53-28A2-8FD62E4CB972}"/>
              </a:ext>
            </a:extLst>
          </p:cNvPr>
          <p:cNvCxnSpPr>
            <a:cxnSpLocks noChangeShapeType="1"/>
            <a:stCxn id="11" idx="3"/>
            <a:endCxn id="13" idx="1"/>
          </p:cNvCxnSpPr>
          <p:nvPr/>
        </p:nvCxnSpPr>
        <p:spPr bwMode="auto">
          <a:xfrm>
            <a:off x="6887147" y="3828923"/>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44">
            <a:extLst>
              <a:ext uri="{FF2B5EF4-FFF2-40B4-BE49-F238E27FC236}">
                <a16:creationId xmlns:a16="http://schemas.microsoft.com/office/drawing/2014/main" id="{90708395-2494-ADFF-C13C-1E9ABD61E9B9}"/>
              </a:ext>
            </a:extLst>
          </p:cNvPr>
          <p:cNvCxnSpPr>
            <a:cxnSpLocks noChangeShapeType="1"/>
            <a:stCxn id="13" idx="3"/>
            <a:endCxn id="6" idx="2"/>
          </p:cNvCxnSpPr>
          <p:nvPr/>
        </p:nvCxnSpPr>
        <p:spPr bwMode="auto">
          <a:xfrm>
            <a:off x="8701659" y="3828923"/>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45">
            <a:extLst>
              <a:ext uri="{FF2B5EF4-FFF2-40B4-BE49-F238E27FC236}">
                <a16:creationId xmlns:a16="http://schemas.microsoft.com/office/drawing/2014/main" id="{01E743C4-A387-F484-CCD6-9DB3FAF4CCEA}"/>
              </a:ext>
            </a:extLst>
          </p:cNvPr>
          <p:cNvCxnSpPr>
            <a:cxnSpLocks noChangeShapeType="1"/>
            <a:stCxn id="6" idx="0"/>
            <a:endCxn id="10" idx="0"/>
          </p:cNvCxnSpPr>
          <p:nvPr/>
        </p:nvCxnSpPr>
        <p:spPr bwMode="auto">
          <a:xfrm rot="5400000" flipH="1">
            <a:off x="6717284" y="623761"/>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0" name="Rectangle 57">
            <a:extLst>
              <a:ext uri="{FF2B5EF4-FFF2-40B4-BE49-F238E27FC236}">
                <a16:creationId xmlns:a16="http://schemas.microsoft.com/office/drawing/2014/main" id="{16AF8E3E-E277-9C1D-E023-A289A9C5AC98}"/>
              </a:ext>
            </a:extLst>
          </p:cNvPr>
          <p:cNvSpPr>
            <a:spLocks noChangeArrowheads="1"/>
          </p:cNvSpPr>
          <p:nvPr/>
        </p:nvSpPr>
        <p:spPr bwMode="auto">
          <a:xfrm>
            <a:off x="1657922" y="4609973"/>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Complete Intro to Lean</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Identify Strategic Value Streams and Product Families</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Plan VSM Events</a:t>
            </a:r>
          </a:p>
        </p:txBody>
      </p:sp>
      <p:sp>
        <p:nvSpPr>
          <p:cNvPr id="21" name="Rectangle 58">
            <a:extLst>
              <a:ext uri="{FF2B5EF4-FFF2-40B4-BE49-F238E27FC236}">
                <a16:creationId xmlns:a16="http://schemas.microsoft.com/office/drawing/2014/main" id="{3351945C-FE3C-1E08-11C1-05E004B59A74}"/>
              </a:ext>
            </a:extLst>
          </p:cNvPr>
          <p:cNvSpPr>
            <a:spLocks noChangeArrowheads="1"/>
          </p:cNvSpPr>
          <p:nvPr/>
        </p:nvSpPr>
        <p:spPr bwMode="auto">
          <a:xfrm>
            <a:off x="3486722" y="4609973"/>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Complete Intro to Lean</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Select Value Stream and Product Family</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Confirm VSM Team</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Plan logistics for VSM Event</a:t>
            </a:r>
          </a:p>
        </p:txBody>
      </p:sp>
      <p:sp>
        <p:nvSpPr>
          <p:cNvPr id="22" name="Rectangle 60">
            <a:extLst>
              <a:ext uri="{FF2B5EF4-FFF2-40B4-BE49-F238E27FC236}">
                <a16:creationId xmlns:a16="http://schemas.microsoft.com/office/drawing/2014/main" id="{6AF1AFD6-96F4-0BAA-8C25-E394F690EC09}"/>
              </a:ext>
            </a:extLst>
          </p:cNvPr>
          <p:cNvSpPr>
            <a:spLocks noChangeArrowheads="1"/>
          </p:cNvSpPr>
          <p:nvPr/>
        </p:nvSpPr>
        <p:spPr bwMode="auto">
          <a:xfrm>
            <a:off x="5252022" y="4609973"/>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Current State VSM</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Future State VSM</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Value stream Plan complete</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a:latin typeface="Roboto" panose="02000000000000000000" pitchFamily="2" charset="0"/>
                <a:ea typeface="Roboto" panose="02000000000000000000" pitchFamily="2" charset="0"/>
                <a:cs typeface="Roboto" panose="02000000000000000000" pitchFamily="2" charset="0"/>
              </a:rPr>
              <a:t>Site Plan updated</a:t>
            </a:r>
          </a:p>
        </p:txBody>
      </p:sp>
      <p:sp>
        <p:nvSpPr>
          <p:cNvPr id="23" name="Rectangle 62">
            <a:extLst>
              <a:ext uri="{FF2B5EF4-FFF2-40B4-BE49-F238E27FC236}">
                <a16:creationId xmlns:a16="http://schemas.microsoft.com/office/drawing/2014/main" id="{3A30A23C-977C-2DCA-A650-791431829200}"/>
              </a:ext>
            </a:extLst>
          </p:cNvPr>
          <p:cNvSpPr>
            <a:spLocks noChangeArrowheads="1"/>
          </p:cNvSpPr>
          <p:nvPr/>
        </p:nvSpPr>
        <p:spPr bwMode="auto">
          <a:xfrm>
            <a:off x="7093522" y="4609973"/>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Plan kaizen events that link to VS Plan</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Train Kaizen Teams</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Conduct kaizen events and measure results</a:t>
            </a:r>
          </a:p>
          <a:p>
            <a:pPr eaLnBrk="1" hangingPunct="1">
              <a:lnSpc>
                <a:spcPct val="100000"/>
              </a:lnSpc>
              <a:spcBef>
                <a:spcPct val="30000"/>
              </a:spcBef>
              <a:spcAft>
                <a:spcPct val="0"/>
              </a:spcAft>
              <a:buClr>
                <a:schemeClr val="accent1"/>
              </a:buClr>
              <a:buSzPct val="90000"/>
              <a:buFont typeface="Wingdings" pitchFamily="2" charset="2"/>
              <a:buChar char="§"/>
            </a:pPr>
            <a:r>
              <a:rPr lang="en-US" altLang="en-US" sz="1200" b="0" dirty="0">
                <a:latin typeface="Roboto" panose="02000000000000000000" pitchFamily="2" charset="0"/>
                <a:ea typeface="Roboto" panose="02000000000000000000" pitchFamily="2" charset="0"/>
                <a:cs typeface="Roboto" panose="02000000000000000000" pitchFamily="2" charset="0"/>
              </a:rPr>
              <a:t>Manage VS Plan to completion</a:t>
            </a:r>
          </a:p>
        </p:txBody>
      </p:sp>
      <p:sp>
        <p:nvSpPr>
          <p:cNvPr id="24" name="Slide Number Placeholder 2">
            <a:extLst>
              <a:ext uri="{FF2B5EF4-FFF2-40B4-BE49-F238E27FC236}">
                <a16:creationId xmlns:a16="http://schemas.microsoft.com/office/drawing/2014/main" id="{E7E79D41-BB9D-801E-ACB3-4449F38A7812}"/>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a:t>
            </a:fld>
            <a:endParaRPr lang="en-US"/>
          </a:p>
        </p:txBody>
      </p:sp>
    </p:spTree>
    <p:extLst>
      <p:ext uri="{BB962C8B-B14F-4D97-AF65-F5344CB8AC3E}">
        <p14:creationId xmlns:p14="http://schemas.microsoft.com/office/powerpoint/2010/main" val="212099249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11A7AA-191E-B3F8-D23D-A1F2C587DDAE}"/>
              </a:ext>
            </a:extLst>
          </p:cNvPr>
          <p:cNvSpPr>
            <a:spLocks noGrp="1"/>
          </p:cNvSpPr>
          <p:nvPr>
            <p:ph type="title"/>
          </p:nvPr>
        </p:nvSpPr>
        <p:spPr/>
        <p:txBody>
          <a:bodyPr/>
          <a:lstStyle/>
          <a:p>
            <a:r>
              <a:rPr lang="en-US" dirty="0"/>
              <a:t>Value Stream Mapping Process</a:t>
            </a:r>
          </a:p>
        </p:txBody>
      </p:sp>
      <p:grpSp>
        <p:nvGrpSpPr>
          <p:cNvPr id="20" name="Group 2">
            <a:extLst>
              <a:ext uri="{FF2B5EF4-FFF2-40B4-BE49-F238E27FC236}">
                <a16:creationId xmlns:a16="http://schemas.microsoft.com/office/drawing/2014/main" id="{EBABB2CD-0D66-A789-6CFA-AF71ADF35159}"/>
              </a:ext>
            </a:extLst>
          </p:cNvPr>
          <p:cNvGrpSpPr>
            <a:grpSpLocks/>
          </p:cNvGrpSpPr>
          <p:nvPr/>
        </p:nvGrpSpPr>
        <p:grpSpPr bwMode="auto">
          <a:xfrm>
            <a:off x="3302318" y="1782509"/>
            <a:ext cx="6534150" cy="2776537"/>
            <a:chOff x="1389" y="1410"/>
            <a:chExt cx="4116" cy="1795"/>
          </a:xfrm>
        </p:grpSpPr>
        <p:sp>
          <p:nvSpPr>
            <p:cNvPr id="21" name="Rectangle 3">
              <a:extLst>
                <a:ext uri="{FF2B5EF4-FFF2-40B4-BE49-F238E27FC236}">
                  <a16:creationId xmlns:a16="http://schemas.microsoft.com/office/drawing/2014/main" id="{DFD96AC8-805C-D43B-57A6-33FFA0B429C7}"/>
                </a:ext>
              </a:extLst>
            </p:cNvPr>
            <p:cNvSpPr>
              <a:spLocks noChangeArrowheads="1"/>
            </p:cNvSpPr>
            <p:nvPr/>
          </p:nvSpPr>
          <p:spPr bwMode="auto">
            <a:xfrm>
              <a:off x="1389" y="1410"/>
              <a:ext cx="4116" cy="1795"/>
            </a:xfrm>
            <a:prstGeom prst="rect">
              <a:avLst/>
            </a:prstGeom>
            <a:solidFill>
              <a:srgbClr val="7F7F7F"/>
            </a:solidFill>
            <a:ln w="12700" cap="sq">
              <a:solidFill>
                <a:srgbClr val="0033CC"/>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b="0">
                <a:solidFill>
                  <a:schemeClr val="bg1"/>
                </a:solidFill>
                <a:latin typeface="Roboto Medium" panose="02000000000000000000" pitchFamily="2" charset="0"/>
                <a:ea typeface="Roboto Medium" panose="02000000000000000000" pitchFamily="2" charset="0"/>
                <a:cs typeface="Roboto Medium" panose="02000000000000000000" pitchFamily="2" charset="0"/>
              </a:endParaRPr>
            </a:p>
          </p:txBody>
        </p:sp>
        <p:sp>
          <p:nvSpPr>
            <p:cNvPr id="22" name="Text Box 4">
              <a:extLst>
                <a:ext uri="{FF2B5EF4-FFF2-40B4-BE49-F238E27FC236}">
                  <a16:creationId xmlns:a16="http://schemas.microsoft.com/office/drawing/2014/main" id="{45324079-DF95-6092-1DAE-885D5204D940}"/>
                </a:ext>
              </a:extLst>
            </p:cNvPr>
            <p:cNvSpPr txBox="1">
              <a:spLocks noChangeArrowheads="1"/>
            </p:cNvSpPr>
            <p:nvPr/>
          </p:nvSpPr>
          <p:spPr bwMode="auto">
            <a:xfrm>
              <a:off x="2250" y="1507"/>
              <a:ext cx="2419" cy="219"/>
            </a:xfrm>
            <a:prstGeom prst="rect">
              <a:avLst/>
            </a:prstGeom>
            <a:no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Repeat for each identified Value Stream</a:t>
              </a:r>
            </a:p>
          </p:txBody>
        </p:sp>
      </p:grpSp>
      <p:sp>
        <p:nvSpPr>
          <p:cNvPr id="23" name="Oval 6">
            <a:extLst>
              <a:ext uri="{FF2B5EF4-FFF2-40B4-BE49-F238E27FC236}">
                <a16:creationId xmlns:a16="http://schemas.microsoft.com/office/drawing/2014/main" id="{371CADE7-723F-8CD9-9CDC-36B26FCBDFF8}"/>
              </a:ext>
            </a:extLst>
          </p:cNvPr>
          <p:cNvSpPr>
            <a:spLocks noChangeArrowheads="1"/>
          </p:cNvSpPr>
          <p:nvPr/>
        </p:nvSpPr>
        <p:spPr bwMode="auto">
          <a:xfrm>
            <a:off x="8760143" y="3228721"/>
            <a:ext cx="976312" cy="1052513"/>
          </a:xfrm>
          <a:prstGeom prst="ellipse">
            <a:avLst/>
          </a:prstGeom>
          <a:solidFill>
            <a:schemeClr val="accent1"/>
          </a:solidFill>
          <a:ln w="6350">
            <a:solidFill>
              <a:schemeClr val="tx1"/>
            </a:solidFill>
            <a:round/>
            <a:headEnd/>
            <a:tailEnd/>
          </a:ln>
        </p:spPr>
        <p:txBody>
          <a:bodyPr wrap="none" lIns="45720" rIns="45720" anchor="ctr"/>
          <a:lstStyle>
            <a:lvl1pPr marL="101600" indent="-1016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Repeat</a:t>
            </a:r>
          </a:p>
          <a:p>
            <a:pPr algn="ctr">
              <a:lnSpc>
                <a:spcPct val="100000"/>
              </a:lnSpc>
              <a:spcBef>
                <a:spcPct val="30000"/>
              </a:spcBef>
              <a:spcAft>
                <a:spcPct val="0"/>
              </a:spcAft>
              <a:buClr>
                <a:schemeClr val="folHlink"/>
              </a:buClr>
              <a:buSzTx/>
              <a:buFontTx/>
              <a:buNone/>
            </a:pPr>
            <a:r>
              <a:rPr lang="en-GB" altLang="en-US" sz="1200" b="0" dirty="0">
                <a:solidFill>
                  <a:schemeClr val="bg1">
                    <a:lumMod val="95000"/>
                  </a:schemeClr>
                </a:solidFill>
                <a:latin typeface="Roboto Medium" panose="02000000000000000000" pitchFamily="2" charset="0"/>
                <a:ea typeface="Roboto Medium" panose="02000000000000000000" pitchFamily="2" charset="0"/>
                <a:cs typeface="Roboto Medium" panose="02000000000000000000" pitchFamily="2" charset="0"/>
              </a:rPr>
              <a:t>Cycle</a:t>
            </a:r>
          </a:p>
        </p:txBody>
      </p:sp>
      <p:sp>
        <p:nvSpPr>
          <p:cNvPr id="24" name="Rectangle 8">
            <a:extLst>
              <a:ext uri="{FF2B5EF4-FFF2-40B4-BE49-F238E27FC236}">
                <a16:creationId xmlns:a16="http://schemas.microsoft.com/office/drawing/2014/main" id="{6FD23167-0EF1-43A3-AE75-E28E903E81D3}"/>
              </a:ext>
            </a:extLst>
          </p:cNvPr>
          <p:cNvSpPr>
            <a:spLocks noChangeArrowheads="1"/>
          </p:cNvSpPr>
          <p:nvPr/>
        </p:nvSpPr>
        <p:spPr bwMode="auto">
          <a:xfrm>
            <a:off x="1610043" y="3220784"/>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Site Assessment</a:t>
            </a:r>
          </a:p>
        </p:txBody>
      </p:sp>
      <p:sp>
        <p:nvSpPr>
          <p:cNvPr id="25" name="Rectangle 9">
            <a:extLst>
              <a:ext uri="{FF2B5EF4-FFF2-40B4-BE49-F238E27FC236}">
                <a16:creationId xmlns:a16="http://schemas.microsoft.com/office/drawing/2014/main" id="{F9A39AE5-6B6C-AAE6-03AB-38C99D1E7E27}"/>
              </a:ext>
            </a:extLst>
          </p:cNvPr>
          <p:cNvSpPr>
            <a:spLocks noChangeArrowheads="1"/>
          </p:cNvSpPr>
          <p:nvPr/>
        </p:nvSpPr>
        <p:spPr bwMode="auto">
          <a:xfrm>
            <a:off x="1610043" y="2958846"/>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1</a:t>
            </a:r>
          </a:p>
        </p:txBody>
      </p:sp>
      <p:sp>
        <p:nvSpPr>
          <p:cNvPr id="26" name="Rectangle 10">
            <a:extLst>
              <a:ext uri="{FF2B5EF4-FFF2-40B4-BE49-F238E27FC236}">
                <a16:creationId xmlns:a16="http://schemas.microsoft.com/office/drawing/2014/main" id="{DA0880C4-BB0E-5E96-CF97-1C97BB47B9E7}"/>
              </a:ext>
            </a:extLst>
          </p:cNvPr>
          <p:cNvSpPr>
            <a:spLocks noChangeArrowheads="1"/>
          </p:cNvSpPr>
          <p:nvPr/>
        </p:nvSpPr>
        <p:spPr bwMode="auto">
          <a:xfrm>
            <a:off x="3405505" y="3216021"/>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VSM Event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Preparation</a:t>
            </a:r>
          </a:p>
        </p:txBody>
      </p:sp>
      <p:sp>
        <p:nvSpPr>
          <p:cNvPr id="27" name="Rectangle 11">
            <a:extLst>
              <a:ext uri="{FF2B5EF4-FFF2-40B4-BE49-F238E27FC236}">
                <a16:creationId xmlns:a16="http://schemas.microsoft.com/office/drawing/2014/main" id="{9005F5D8-F677-B5A9-E48D-A50A962EABD3}"/>
              </a:ext>
            </a:extLst>
          </p:cNvPr>
          <p:cNvSpPr>
            <a:spLocks noChangeArrowheads="1"/>
          </p:cNvSpPr>
          <p:nvPr/>
        </p:nvSpPr>
        <p:spPr bwMode="auto">
          <a:xfrm>
            <a:off x="3405505" y="2954084"/>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2</a:t>
            </a:r>
          </a:p>
        </p:txBody>
      </p:sp>
      <p:sp>
        <p:nvSpPr>
          <p:cNvPr id="28" name="Rectangle 12">
            <a:extLst>
              <a:ext uri="{FF2B5EF4-FFF2-40B4-BE49-F238E27FC236}">
                <a16:creationId xmlns:a16="http://schemas.microsoft.com/office/drawing/2014/main" id="{BAB2A3B5-C07A-BA05-C73B-2D957DBAD6CA}"/>
              </a:ext>
            </a:extLst>
          </p:cNvPr>
          <p:cNvSpPr>
            <a:spLocks noChangeArrowheads="1"/>
          </p:cNvSpPr>
          <p:nvPr/>
        </p:nvSpPr>
        <p:spPr bwMode="auto">
          <a:xfrm>
            <a:off x="5220018" y="3216021"/>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Conduct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VSM Event</a:t>
            </a:r>
          </a:p>
        </p:txBody>
      </p:sp>
      <p:sp>
        <p:nvSpPr>
          <p:cNvPr id="29" name="Rectangle 13">
            <a:extLst>
              <a:ext uri="{FF2B5EF4-FFF2-40B4-BE49-F238E27FC236}">
                <a16:creationId xmlns:a16="http://schemas.microsoft.com/office/drawing/2014/main" id="{27AE00CF-8388-2148-563E-76A0C1AB4E98}"/>
              </a:ext>
            </a:extLst>
          </p:cNvPr>
          <p:cNvSpPr>
            <a:spLocks noChangeArrowheads="1"/>
          </p:cNvSpPr>
          <p:nvPr/>
        </p:nvSpPr>
        <p:spPr bwMode="auto">
          <a:xfrm>
            <a:off x="5220018" y="2954084"/>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3</a:t>
            </a:r>
          </a:p>
        </p:txBody>
      </p:sp>
      <p:sp>
        <p:nvSpPr>
          <p:cNvPr id="30" name="Rectangle 14">
            <a:extLst>
              <a:ext uri="{FF2B5EF4-FFF2-40B4-BE49-F238E27FC236}">
                <a16:creationId xmlns:a16="http://schemas.microsoft.com/office/drawing/2014/main" id="{B80724C0-5CAF-EAA5-952C-E46FAFF86AA0}"/>
              </a:ext>
            </a:extLst>
          </p:cNvPr>
          <p:cNvSpPr>
            <a:spLocks noChangeArrowheads="1"/>
          </p:cNvSpPr>
          <p:nvPr/>
        </p:nvSpPr>
        <p:spPr bwMode="auto">
          <a:xfrm>
            <a:off x="7034530" y="3216021"/>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Implement</a:t>
            </a:r>
            <a:br>
              <a:rPr lang="en-US" altLang="en-US" sz="1400" b="0">
                <a:latin typeface="Roboto Medium" panose="02000000000000000000" pitchFamily="2" charset="0"/>
                <a:ea typeface="Roboto Medium" panose="02000000000000000000" pitchFamily="2" charset="0"/>
                <a:cs typeface="Roboto Medium" panose="02000000000000000000" pitchFamily="2" charset="0"/>
              </a:rPr>
            </a:br>
            <a:r>
              <a:rPr lang="en-US" altLang="en-US" sz="1400" b="0">
                <a:latin typeface="Roboto Medium" panose="02000000000000000000" pitchFamily="2" charset="0"/>
                <a:ea typeface="Roboto Medium" panose="02000000000000000000" pitchFamily="2" charset="0"/>
                <a:cs typeface="Roboto Medium" panose="02000000000000000000" pitchFamily="2" charset="0"/>
              </a:rPr>
              <a:t>VS Plan</a:t>
            </a:r>
          </a:p>
        </p:txBody>
      </p:sp>
      <p:sp>
        <p:nvSpPr>
          <p:cNvPr id="31" name="Rectangle 15">
            <a:extLst>
              <a:ext uri="{FF2B5EF4-FFF2-40B4-BE49-F238E27FC236}">
                <a16:creationId xmlns:a16="http://schemas.microsoft.com/office/drawing/2014/main" id="{E88DEA62-0A6F-57CD-AA53-6332DD913859}"/>
              </a:ext>
            </a:extLst>
          </p:cNvPr>
          <p:cNvSpPr>
            <a:spLocks noChangeArrowheads="1"/>
          </p:cNvSpPr>
          <p:nvPr/>
        </p:nvSpPr>
        <p:spPr bwMode="auto">
          <a:xfrm>
            <a:off x="7034530" y="2954084"/>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PROCESS STEP 4</a:t>
            </a:r>
          </a:p>
        </p:txBody>
      </p:sp>
      <p:cxnSp>
        <p:nvCxnSpPr>
          <p:cNvPr id="32" name="AutoShape 16">
            <a:extLst>
              <a:ext uri="{FF2B5EF4-FFF2-40B4-BE49-F238E27FC236}">
                <a16:creationId xmlns:a16="http://schemas.microsoft.com/office/drawing/2014/main" id="{E8F56AEC-76BE-1239-EBC5-2C82A9105A8D}"/>
              </a:ext>
            </a:extLst>
          </p:cNvPr>
          <p:cNvCxnSpPr>
            <a:cxnSpLocks noChangeShapeType="1"/>
            <a:stCxn id="24" idx="3"/>
            <a:endCxn id="26" idx="1"/>
          </p:cNvCxnSpPr>
          <p:nvPr/>
        </p:nvCxnSpPr>
        <p:spPr bwMode="auto">
          <a:xfrm flipV="1">
            <a:off x="3130868" y="3755771"/>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3" name="AutoShape 17">
            <a:extLst>
              <a:ext uri="{FF2B5EF4-FFF2-40B4-BE49-F238E27FC236}">
                <a16:creationId xmlns:a16="http://schemas.microsoft.com/office/drawing/2014/main" id="{6D3810A5-5089-C202-1318-4B75AE54A521}"/>
              </a:ext>
            </a:extLst>
          </p:cNvPr>
          <p:cNvCxnSpPr>
            <a:cxnSpLocks noChangeShapeType="1"/>
            <a:stCxn id="26" idx="3"/>
            <a:endCxn id="28" idx="1"/>
          </p:cNvCxnSpPr>
          <p:nvPr/>
        </p:nvCxnSpPr>
        <p:spPr bwMode="auto">
          <a:xfrm>
            <a:off x="4926330" y="3755771"/>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4" name="AutoShape 18">
            <a:extLst>
              <a:ext uri="{FF2B5EF4-FFF2-40B4-BE49-F238E27FC236}">
                <a16:creationId xmlns:a16="http://schemas.microsoft.com/office/drawing/2014/main" id="{757B9DF9-1316-C33E-89D8-59647DF64CFD}"/>
              </a:ext>
            </a:extLst>
          </p:cNvPr>
          <p:cNvCxnSpPr>
            <a:cxnSpLocks noChangeShapeType="1"/>
            <a:stCxn id="28" idx="3"/>
            <a:endCxn id="30" idx="1"/>
          </p:cNvCxnSpPr>
          <p:nvPr/>
        </p:nvCxnSpPr>
        <p:spPr bwMode="auto">
          <a:xfrm>
            <a:off x="6740843" y="3755771"/>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5" name="AutoShape 19">
            <a:extLst>
              <a:ext uri="{FF2B5EF4-FFF2-40B4-BE49-F238E27FC236}">
                <a16:creationId xmlns:a16="http://schemas.microsoft.com/office/drawing/2014/main" id="{58C13A99-1BF5-D0FD-FBE2-B85050E7FD71}"/>
              </a:ext>
            </a:extLst>
          </p:cNvPr>
          <p:cNvCxnSpPr>
            <a:cxnSpLocks noChangeShapeType="1"/>
            <a:stCxn id="30" idx="3"/>
            <a:endCxn id="23" idx="2"/>
          </p:cNvCxnSpPr>
          <p:nvPr/>
        </p:nvCxnSpPr>
        <p:spPr bwMode="auto">
          <a:xfrm>
            <a:off x="8555355" y="3755771"/>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6" name="AutoShape 20">
            <a:extLst>
              <a:ext uri="{FF2B5EF4-FFF2-40B4-BE49-F238E27FC236}">
                <a16:creationId xmlns:a16="http://schemas.microsoft.com/office/drawing/2014/main" id="{59BB6DBB-705A-CF2F-34FF-F511EC2C4E39}"/>
              </a:ext>
            </a:extLst>
          </p:cNvPr>
          <p:cNvCxnSpPr>
            <a:cxnSpLocks noChangeShapeType="1"/>
            <a:stCxn id="23" idx="0"/>
            <a:endCxn id="27" idx="0"/>
          </p:cNvCxnSpPr>
          <p:nvPr/>
        </p:nvCxnSpPr>
        <p:spPr bwMode="auto">
          <a:xfrm rot="5400000" flipH="1">
            <a:off x="6570980" y="550609"/>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7" name="Group 22">
            <a:extLst>
              <a:ext uri="{FF2B5EF4-FFF2-40B4-BE49-F238E27FC236}">
                <a16:creationId xmlns:a16="http://schemas.microsoft.com/office/drawing/2014/main" id="{E03DB43F-4E63-B854-74A4-2710C4C9A599}"/>
              </a:ext>
            </a:extLst>
          </p:cNvPr>
          <p:cNvGrpSpPr>
            <a:grpSpLocks/>
          </p:cNvGrpSpPr>
          <p:nvPr/>
        </p:nvGrpSpPr>
        <p:grpSpPr bwMode="auto">
          <a:xfrm>
            <a:off x="1517968" y="4265359"/>
            <a:ext cx="8359775" cy="2012950"/>
            <a:chOff x="265" y="2587"/>
            <a:chExt cx="5266" cy="1268"/>
          </a:xfrm>
        </p:grpSpPr>
        <p:grpSp>
          <p:nvGrpSpPr>
            <p:cNvPr id="38" name="Group 23">
              <a:extLst>
                <a:ext uri="{FF2B5EF4-FFF2-40B4-BE49-F238E27FC236}">
                  <a16:creationId xmlns:a16="http://schemas.microsoft.com/office/drawing/2014/main" id="{4B8DEA3E-E1B3-A6AB-24C5-E6609DFD1C86}"/>
                </a:ext>
              </a:extLst>
            </p:cNvPr>
            <p:cNvGrpSpPr>
              <a:grpSpLocks/>
            </p:cNvGrpSpPr>
            <p:nvPr/>
          </p:nvGrpSpPr>
          <p:grpSpPr bwMode="auto">
            <a:xfrm>
              <a:off x="308" y="2969"/>
              <a:ext cx="5223" cy="886"/>
              <a:chOff x="1350" y="2060"/>
              <a:chExt cx="3035" cy="208"/>
            </a:xfrm>
          </p:grpSpPr>
          <p:sp>
            <p:nvSpPr>
              <p:cNvPr id="41" name="AutoShape 24">
                <a:extLst>
                  <a:ext uri="{FF2B5EF4-FFF2-40B4-BE49-F238E27FC236}">
                    <a16:creationId xmlns:a16="http://schemas.microsoft.com/office/drawing/2014/main" id="{BC2EC0A5-E5A9-7AD9-C255-5271F2B2B408}"/>
                  </a:ext>
                </a:extLst>
              </p:cNvPr>
              <p:cNvSpPr>
                <a:spLocks noChangeArrowheads="1"/>
              </p:cNvSpPr>
              <p:nvPr/>
            </p:nvSpPr>
            <p:spPr bwMode="auto">
              <a:xfrm>
                <a:off x="3722"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Develop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Value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Stream Plan</a:t>
                </a:r>
              </a:p>
            </p:txBody>
          </p:sp>
          <p:sp>
            <p:nvSpPr>
              <p:cNvPr id="42" name="AutoShape 25">
                <a:extLst>
                  <a:ext uri="{FF2B5EF4-FFF2-40B4-BE49-F238E27FC236}">
                    <a16:creationId xmlns:a16="http://schemas.microsoft.com/office/drawing/2014/main" id="{3EE46E44-894D-CB9B-1455-AEB515F218F0}"/>
                  </a:ext>
                </a:extLst>
              </p:cNvPr>
              <p:cNvSpPr>
                <a:spLocks noChangeArrowheads="1"/>
              </p:cNvSpPr>
              <p:nvPr/>
            </p:nvSpPr>
            <p:spPr bwMode="auto">
              <a:xfrm>
                <a:off x="3128"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Create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Future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 Map</a:t>
                </a:r>
              </a:p>
            </p:txBody>
          </p:sp>
          <p:sp>
            <p:nvSpPr>
              <p:cNvPr id="43" name="AutoShape 26">
                <a:extLst>
                  <a:ext uri="{FF2B5EF4-FFF2-40B4-BE49-F238E27FC236}">
                    <a16:creationId xmlns:a16="http://schemas.microsoft.com/office/drawing/2014/main" id="{F5E78B1E-FE13-046E-E8B0-A8B4B77AA23E}"/>
                  </a:ext>
                </a:extLst>
              </p:cNvPr>
              <p:cNvSpPr>
                <a:spLocks noChangeArrowheads="1"/>
              </p:cNvSpPr>
              <p:nvPr/>
            </p:nvSpPr>
            <p:spPr bwMode="auto">
              <a:xfrm>
                <a:off x="254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Interrogate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the</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Current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a:t>
                </a:r>
              </a:p>
            </p:txBody>
          </p:sp>
          <p:sp>
            <p:nvSpPr>
              <p:cNvPr id="44" name="AutoShape 27">
                <a:extLst>
                  <a:ext uri="{FF2B5EF4-FFF2-40B4-BE49-F238E27FC236}">
                    <a16:creationId xmlns:a16="http://schemas.microsoft.com/office/drawing/2014/main" id="{D7BB9A4C-9850-2D86-A04D-60A7573EC11E}"/>
                  </a:ext>
                </a:extLst>
              </p:cNvPr>
              <p:cNvSpPr>
                <a:spLocks noChangeArrowheads="1"/>
              </p:cNvSpPr>
              <p:nvPr/>
            </p:nvSpPr>
            <p:spPr bwMode="auto">
              <a:xfrm>
                <a:off x="195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Create </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Current</a:t>
                </a:r>
                <a:b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a:solidFill>
                      <a:schemeClr val="bg1"/>
                    </a:solidFill>
                    <a:latin typeface="Roboto Medium" panose="02000000000000000000" pitchFamily="2" charset="0"/>
                    <a:ea typeface="Roboto Medium" panose="02000000000000000000" pitchFamily="2" charset="0"/>
                    <a:cs typeface="Roboto Medium" panose="02000000000000000000" pitchFamily="2" charset="0"/>
                  </a:rPr>
                  <a:t>State Map </a:t>
                </a:r>
              </a:p>
            </p:txBody>
          </p:sp>
          <p:sp>
            <p:nvSpPr>
              <p:cNvPr id="45" name="AutoShape 28">
                <a:extLst>
                  <a:ext uri="{FF2B5EF4-FFF2-40B4-BE49-F238E27FC236}">
                    <a16:creationId xmlns:a16="http://schemas.microsoft.com/office/drawing/2014/main" id="{B39716D0-8735-BE6D-F158-63F11A10B146}"/>
                  </a:ext>
                </a:extLst>
              </p:cNvPr>
              <p:cNvSpPr>
                <a:spLocks noChangeArrowheads="1"/>
              </p:cNvSpPr>
              <p:nvPr/>
            </p:nvSpPr>
            <p:spPr bwMode="auto">
              <a:xfrm>
                <a:off x="1350"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Select Product </a:t>
                </a:r>
                <a:b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or</a:t>
                </a:r>
                <a:b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br>
                <a:r>
                  <a:rPr lang="en-US" altLang="en-US" sz="1600" b="0" dirty="0">
                    <a:solidFill>
                      <a:schemeClr val="bg1"/>
                    </a:solidFill>
                    <a:latin typeface="Roboto Medium" panose="02000000000000000000" pitchFamily="2" charset="0"/>
                    <a:ea typeface="Roboto Medium" panose="02000000000000000000" pitchFamily="2" charset="0"/>
                    <a:cs typeface="Roboto Medium" panose="02000000000000000000" pitchFamily="2" charset="0"/>
                  </a:rPr>
                  <a:t>Service Family</a:t>
                </a:r>
              </a:p>
            </p:txBody>
          </p:sp>
        </p:grpSp>
        <p:sp>
          <p:nvSpPr>
            <p:cNvPr id="39" name="Line 29">
              <a:extLst>
                <a:ext uri="{FF2B5EF4-FFF2-40B4-BE49-F238E27FC236}">
                  <a16:creationId xmlns:a16="http://schemas.microsoft.com/office/drawing/2014/main" id="{9259D539-4DF7-762C-9959-DA274264FC40}"/>
                </a:ext>
              </a:extLst>
            </p:cNvPr>
            <p:cNvSpPr>
              <a:spLocks noChangeShapeType="1"/>
            </p:cNvSpPr>
            <p:nvPr/>
          </p:nvSpPr>
          <p:spPr bwMode="auto">
            <a:xfrm flipH="1">
              <a:off x="265" y="2606"/>
              <a:ext cx="2332" cy="356"/>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Medium" panose="02000000000000000000" pitchFamily="2" charset="0"/>
                <a:ea typeface="Roboto Medium" panose="02000000000000000000" pitchFamily="2" charset="0"/>
                <a:cs typeface="Roboto Medium" panose="02000000000000000000" pitchFamily="2" charset="0"/>
              </a:endParaRPr>
            </a:p>
          </p:txBody>
        </p:sp>
        <p:sp>
          <p:nvSpPr>
            <p:cNvPr id="40" name="Line 30">
              <a:extLst>
                <a:ext uri="{FF2B5EF4-FFF2-40B4-BE49-F238E27FC236}">
                  <a16:creationId xmlns:a16="http://schemas.microsoft.com/office/drawing/2014/main" id="{C949FEA0-04CE-694F-F0F8-69C916FE10BE}"/>
                </a:ext>
              </a:extLst>
            </p:cNvPr>
            <p:cNvSpPr>
              <a:spLocks noChangeShapeType="1"/>
            </p:cNvSpPr>
            <p:nvPr/>
          </p:nvSpPr>
          <p:spPr bwMode="auto">
            <a:xfrm>
              <a:off x="3547" y="2587"/>
              <a:ext cx="1856" cy="348"/>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Medium" panose="02000000000000000000" pitchFamily="2" charset="0"/>
                <a:ea typeface="Roboto Medium" panose="02000000000000000000" pitchFamily="2" charset="0"/>
                <a:cs typeface="Roboto Medium" panose="02000000000000000000" pitchFamily="2" charset="0"/>
              </a:endParaRPr>
            </a:p>
          </p:txBody>
        </p:sp>
      </p:grpSp>
      <p:sp>
        <p:nvSpPr>
          <p:cNvPr id="46" name="Slide Number Placeholder 2">
            <a:extLst>
              <a:ext uri="{FF2B5EF4-FFF2-40B4-BE49-F238E27FC236}">
                <a16:creationId xmlns:a16="http://schemas.microsoft.com/office/drawing/2014/main" id="{D12C36DF-77AA-CDFE-2528-047C01FFB02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a:t>
            </a:fld>
            <a:endParaRPr lang="en-US"/>
          </a:p>
        </p:txBody>
      </p:sp>
    </p:spTree>
    <p:extLst>
      <p:ext uri="{BB962C8B-B14F-4D97-AF65-F5344CB8AC3E}">
        <p14:creationId xmlns:p14="http://schemas.microsoft.com/office/powerpoint/2010/main" val="2394000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4D6EE9-D5F8-4584-22C8-B9E879BBE640}"/>
              </a:ext>
            </a:extLst>
          </p:cNvPr>
          <p:cNvSpPr>
            <a:spLocks noGrp="1"/>
          </p:cNvSpPr>
          <p:nvPr>
            <p:ph type="title"/>
          </p:nvPr>
        </p:nvSpPr>
        <p:spPr/>
        <p:txBody>
          <a:bodyPr/>
          <a:lstStyle/>
          <a:p>
            <a:r>
              <a:rPr lang="en-US" dirty="0"/>
              <a:t>Value Stream Mapping Session Agenda</a:t>
            </a:r>
          </a:p>
        </p:txBody>
      </p:sp>
      <p:graphicFrame>
        <p:nvGraphicFramePr>
          <p:cNvPr id="3" name="Group 2">
            <a:extLst>
              <a:ext uri="{FF2B5EF4-FFF2-40B4-BE49-F238E27FC236}">
                <a16:creationId xmlns:a16="http://schemas.microsoft.com/office/drawing/2014/main" id="{FB2506EC-0047-88BD-5A9E-3D9B306075C6}"/>
              </a:ext>
            </a:extLst>
          </p:cNvPr>
          <p:cNvGraphicFramePr>
            <a:graphicFrameLocks noGrp="1"/>
          </p:cNvGraphicFramePr>
          <p:nvPr>
            <p:extLst>
              <p:ext uri="{D42A27DB-BD31-4B8C-83A1-F6EECF244321}">
                <p14:modId xmlns:p14="http://schemas.microsoft.com/office/powerpoint/2010/main" val="702885892"/>
              </p:ext>
            </p:extLst>
          </p:nvPr>
        </p:nvGraphicFramePr>
        <p:xfrm>
          <a:off x="838200" y="1601343"/>
          <a:ext cx="10073640" cy="4476752"/>
        </p:xfrm>
        <a:graphic>
          <a:graphicData uri="http://schemas.openxmlformats.org/drawingml/2006/table">
            <a:tbl>
              <a:tblPr/>
              <a:tblGrid>
                <a:gridCol w="1080705">
                  <a:extLst>
                    <a:ext uri="{9D8B030D-6E8A-4147-A177-3AD203B41FA5}">
                      <a16:colId xmlns:a16="http://schemas.microsoft.com/office/drawing/2014/main" val="20000"/>
                    </a:ext>
                  </a:extLst>
                </a:gridCol>
                <a:gridCol w="4169540">
                  <a:extLst>
                    <a:ext uri="{9D8B030D-6E8A-4147-A177-3AD203B41FA5}">
                      <a16:colId xmlns:a16="http://schemas.microsoft.com/office/drawing/2014/main" val="20001"/>
                    </a:ext>
                  </a:extLst>
                </a:gridCol>
                <a:gridCol w="4823395">
                  <a:extLst>
                    <a:ext uri="{9D8B030D-6E8A-4147-A177-3AD203B41FA5}">
                      <a16:colId xmlns:a16="http://schemas.microsoft.com/office/drawing/2014/main" val="20002"/>
                    </a:ext>
                  </a:extLst>
                </a:gridCol>
              </a:tblGrid>
              <a:tr h="406914">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1800" b="1" i="0" u="none" strike="noStrike" cap="none" normalizeH="0" baseline="0">
                          <a:ln>
                            <a:noFill/>
                          </a:ln>
                          <a:solidFill>
                            <a:schemeClr val="bg1"/>
                          </a:solidFill>
                          <a:effectLst/>
                          <a:latin typeface="Arial" charset="0"/>
                        </a:rPr>
                        <a:t>Day</a:t>
                      </a:r>
                    </a:p>
                  </a:txBody>
                  <a:tcPr marT="45721" marB="45721" anchor="b"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solidFill>
                      <a:srgbClr val="EE3228"/>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1800" b="1" i="0" u="none" strike="noStrike" cap="none" normalizeH="0" baseline="0" dirty="0">
                          <a:ln>
                            <a:noFill/>
                          </a:ln>
                          <a:solidFill>
                            <a:schemeClr val="bg1"/>
                          </a:solidFill>
                          <a:effectLst/>
                          <a:latin typeface="Arial" charset="0"/>
                        </a:rPr>
                        <a:t>Key Learnings</a:t>
                      </a:r>
                    </a:p>
                  </a:txBody>
                  <a:tcPr marT="45721" marB="45721" anchor="b"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solidFill>
                      <a:srgbClr val="EE3228"/>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1800" b="1" i="0" u="none" strike="noStrike" cap="none" normalizeH="0" baseline="0" dirty="0">
                          <a:ln>
                            <a:noFill/>
                          </a:ln>
                          <a:solidFill>
                            <a:schemeClr val="bg1"/>
                          </a:solidFill>
                          <a:effectLst/>
                          <a:latin typeface="Arial" charset="0"/>
                        </a:rPr>
                        <a:t>Daily Deliverables</a:t>
                      </a:r>
                    </a:p>
                  </a:txBody>
                  <a:tcPr marT="45721" marB="45721" anchor="b"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solidFill>
                      <a:srgbClr val="EE3228"/>
                    </a:solidFill>
                  </a:tcPr>
                </a:tc>
                <a:extLst>
                  <a:ext uri="{0D108BD9-81ED-4DB2-BD59-A6C34878D82A}">
                    <a16:rowId xmlns:a16="http://schemas.microsoft.com/office/drawing/2014/main" val="10000"/>
                  </a:ext>
                </a:extLst>
              </a:tr>
              <a:tr h="90222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Arial" charset="0"/>
                        </a:rPr>
                        <a:t>Day 1</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dirty="0">
                          <a:ln>
                            <a:noFill/>
                          </a:ln>
                          <a:solidFill>
                            <a:schemeClr val="tx1"/>
                          </a:solidFill>
                          <a:effectLst/>
                          <a:latin typeface="Arial" charset="0"/>
                        </a:rPr>
                        <a:t> Introduction</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dirty="0">
                          <a:ln>
                            <a:noFill/>
                          </a:ln>
                          <a:solidFill>
                            <a:schemeClr val="tx1"/>
                          </a:solidFill>
                          <a:effectLst/>
                          <a:latin typeface="Arial" charset="0"/>
                        </a:rPr>
                        <a:t> Identifying Value Streams</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dirty="0">
                          <a:ln>
                            <a:noFill/>
                          </a:ln>
                          <a:solidFill>
                            <a:schemeClr val="tx1"/>
                          </a:solidFill>
                          <a:effectLst/>
                          <a:latin typeface="Arial" charset="0"/>
                        </a:rPr>
                        <a:t> Current State Mapping</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Current State Process Walk</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Labeling of Process Boxes on Current State Map</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54074">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Arial" charset="0"/>
                        </a:rPr>
                        <a:t>Day 2</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Conduct Data Gathering for Current State Map for Business</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dirty="0">
                          <a:ln>
                            <a:noFill/>
                          </a:ln>
                          <a:solidFill>
                            <a:schemeClr val="tx1"/>
                          </a:solidFill>
                          <a:effectLst/>
                          <a:latin typeface="Arial" charset="0"/>
                        </a:rPr>
                        <a:t>Current State Map with Complete Data</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66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Arial" charset="0"/>
                        </a:rPr>
                        <a:t>Day 3</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Interrogate the Current State</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Current State Report-Out to Management</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Completed Marked-Up Current State Map</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0222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Arial" charset="0"/>
                        </a:rPr>
                        <a:t>Day 4</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Future State Mapping</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Completing the Value Stream Plan</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Beyond the Future State</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Completed Future State Map and Value Stream Plan</a:t>
                      </a:r>
                    </a:p>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endParaRPr kumimoji="0" lang="en-US" sz="1400" b="1" i="0" u="none" strike="noStrike" cap="none" normalizeH="0" baseline="0">
                        <a:ln>
                          <a:noFill/>
                        </a:ln>
                        <a:solidFill>
                          <a:schemeClr val="tx1"/>
                        </a:solidFill>
                        <a:effectLst/>
                        <a:latin typeface="Arial" charset="0"/>
                      </a:endParaRP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5566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Arial" charset="0"/>
                        </a:rPr>
                        <a:t>Day 5</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a:ln>
                            <a:noFill/>
                          </a:ln>
                          <a:solidFill>
                            <a:schemeClr val="tx1"/>
                          </a:solidFill>
                          <a:effectLst/>
                          <a:latin typeface="Arial" charset="0"/>
                        </a:rPr>
                        <a:t>Prepare for Team Final Report-Out</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tc>
                  <a:txBody>
                    <a:bodyPr/>
                    <a:lstStyle/>
                    <a:p>
                      <a:pPr marL="231775" marR="0" lvl="0" indent="-231775" algn="l" defTabSz="914400" rtl="0" eaLnBrk="0" fontAlgn="base" latinLnBrk="0" hangingPunct="0">
                        <a:lnSpc>
                          <a:spcPct val="100000"/>
                        </a:lnSpc>
                        <a:spcBef>
                          <a:spcPct val="20000"/>
                        </a:spcBef>
                        <a:spcAft>
                          <a:spcPct val="20000"/>
                        </a:spcAft>
                        <a:buClr>
                          <a:srgbClr val="006699"/>
                        </a:buClr>
                        <a:buSzPct val="90000"/>
                        <a:buFont typeface="Wingdings" pitchFamily="2" charset="2"/>
                        <a:buChar char="§"/>
                        <a:tabLst/>
                      </a:pPr>
                      <a:r>
                        <a:rPr kumimoji="0" lang="en-US" sz="1400" b="1" i="0" u="none" strike="noStrike" cap="none" normalizeH="0" baseline="0" dirty="0">
                          <a:ln>
                            <a:noFill/>
                          </a:ln>
                          <a:solidFill>
                            <a:schemeClr val="tx1"/>
                          </a:solidFill>
                          <a:effectLst/>
                          <a:latin typeface="Arial" charset="0"/>
                        </a:rPr>
                        <a:t>Final Report-Out to Management</a:t>
                      </a:r>
                    </a:p>
                  </a:txBody>
                  <a:tcPr marT="45721" marB="45721" horzOverflow="overflow">
                    <a:lnL w="12700" cap="flat" cmpd="sng" algn="ctr">
                      <a:solidFill>
                        <a:srgbClr val="7F7F7F"/>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423637582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a:bodyPr>
          <a:lstStyle/>
          <a:p>
            <a:r>
              <a:rPr lang="en-US" sz="4000" dirty="0">
                <a:latin typeface="Roboto Medium"/>
                <a:ea typeface="Roboto Medium"/>
                <a:cs typeface="Roboto Medium"/>
              </a:rPr>
              <a:t>Select Product or Service Family</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“value stream”</a:t>
            </a:r>
          </a:p>
          <a:p>
            <a:r>
              <a:rPr lang="en-US" sz="2400" dirty="0"/>
              <a:t>Identify the VALUE OBJECT that goes through the process</a:t>
            </a:r>
          </a:p>
          <a:p>
            <a:r>
              <a:rPr lang="en-US" sz="2400" dirty="0"/>
              <a:t>Complete the VALUE OBJECT volume analysis</a:t>
            </a:r>
          </a:p>
          <a:p>
            <a:r>
              <a:rPr lang="en-US" sz="2400" dirty="0"/>
              <a:t>Determine Value Stream Map boundaries</a:t>
            </a:r>
          </a:p>
          <a:p>
            <a:r>
              <a:rPr lang="en-US" sz="2400" dirty="0"/>
              <a:t>Identify the customer</a:t>
            </a:r>
          </a:p>
          <a:p>
            <a:r>
              <a:rPr lang="en-US" sz="2400" dirty="0"/>
              <a:t>Collect relevant information to begin VSM process</a:t>
            </a:r>
          </a:p>
          <a:p>
            <a:r>
              <a:rPr lang="en-US" sz="2400" dirty="0"/>
              <a:t>Validate VSM Charter for process and scope</a:t>
            </a:r>
          </a:p>
          <a:p>
            <a:endParaRPr lang="en-US" dirty="0"/>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Select Product or</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Service Family</a:t>
                </a:r>
              </a:p>
            </p:txBody>
          </p:sp>
        </p:grpSp>
      </p:grpSp>
    </p:spTree>
    <p:extLst>
      <p:ext uri="{BB962C8B-B14F-4D97-AF65-F5344CB8AC3E}">
        <p14:creationId xmlns:p14="http://schemas.microsoft.com/office/powerpoint/2010/main" val="9583006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B4C991-6710-0D0A-18E2-EA07B3631B03}"/>
              </a:ext>
            </a:extLst>
          </p:cNvPr>
          <p:cNvSpPr>
            <a:spLocks noGrp="1"/>
          </p:cNvSpPr>
          <p:nvPr>
            <p:ph type="title"/>
          </p:nvPr>
        </p:nvSpPr>
        <p:spPr/>
        <p:txBody>
          <a:bodyPr>
            <a:normAutofit/>
          </a:bodyPr>
          <a:lstStyle/>
          <a:p>
            <a:r>
              <a:rPr lang="en-US" sz="4000" dirty="0"/>
              <a:t>The Administrative Value Stream Defined</a:t>
            </a:r>
          </a:p>
        </p:txBody>
      </p:sp>
      <p:sp>
        <p:nvSpPr>
          <p:cNvPr id="4" name="Slide Number Placeholder 2">
            <a:extLst>
              <a:ext uri="{FF2B5EF4-FFF2-40B4-BE49-F238E27FC236}">
                <a16:creationId xmlns:a16="http://schemas.microsoft.com/office/drawing/2014/main" id="{D2D510AD-ABE3-7220-C4FE-D673FF9F0CCE}"/>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15</a:t>
            </a:fld>
            <a:endParaRPr lang="en-US"/>
          </a:p>
        </p:txBody>
      </p:sp>
      <p:sp>
        <p:nvSpPr>
          <p:cNvPr id="12" name="Rectangle 2">
            <a:extLst>
              <a:ext uri="{FF2B5EF4-FFF2-40B4-BE49-F238E27FC236}">
                <a16:creationId xmlns:a16="http://schemas.microsoft.com/office/drawing/2014/main" id="{436676EF-50CF-BAAC-9753-7989FAC276B1}"/>
              </a:ext>
            </a:extLst>
          </p:cNvPr>
          <p:cNvSpPr>
            <a:spLocks noChangeArrowheads="1"/>
          </p:cNvSpPr>
          <p:nvPr/>
        </p:nvSpPr>
        <p:spPr bwMode="auto">
          <a:xfrm>
            <a:off x="2630488" y="4932422"/>
            <a:ext cx="6303962" cy="965200"/>
          </a:xfrm>
          <a:prstGeom prst="rect">
            <a:avLst/>
          </a:prstGeom>
          <a:solidFill>
            <a:srgbClr val="FFB627"/>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latin typeface="Roboto" panose="02000000000000000000" pitchFamily="2" charset="0"/>
                <a:ea typeface="Roboto" panose="02000000000000000000" pitchFamily="2" charset="0"/>
                <a:cs typeface="Roboto" panose="02000000000000000000" pitchFamily="2" charset="0"/>
              </a:rPr>
              <a:t>All of the actions required to bring a product or service</a:t>
            </a:r>
            <a:br>
              <a:rPr lang="en-US" altLang="en-US" sz="1600" dirty="0">
                <a:latin typeface="Roboto" panose="02000000000000000000" pitchFamily="2" charset="0"/>
                <a:ea typeface="Roboto" panose="02000000000000000000" pitchFamily="2" charset="0"/>
                <a:cs typeface="Roboto" panose="02000000000000000000" pitchFamily="2" charset="0"/>
              </a:rPr>
            </a:br>
            <a:r>
              <a:rPr lang="en-US" altLang="en-US" sz="1600" dirty="0">
                <a:latin typeface="Roboto" panose="02000000000000000000" pitchFamily="2" charset="0"/>
                <a:ea typeface="Roboto" panose="02000000000000000000" pitchFamily="2" charset="0"/>
                <a:cs typeface="Roboto" panose="02000000000000000000" pitchFamily="2" charset="0"/>
              </a:rPr>
              <a:t>through the main flows essential to providing that product </a:t>
            </a:r>
            <a:br>
              <a:rPr lang="en-US" altLang="en-US" sz="1600" dirty="0">
                <a:latin typeface="Roboto" panose="02000000000000000000" pitchFamily="2" charset="0"/>
                <a:ea typeface="Roboto" panose="02000000000000000000" pitchFamily="2" charset="0"/>
                <a:cs typeface="Roboto" panose="02000000000000000000" pitchFamily="2" charset="0"/>
              </a:rPr>
            </a:br>
            <a:r>
              <a:rPr lang="en-US" altLang="en-US" sz="1600" dirty="0">
                <a:latin typeface="Roboto" panose="02000000000000000000" pitchFamily="2" charset="0"/>
                <a:ea typeface="Roboto" panose="02000000000000000000" pitchFamily="2" charset="0"/>
                <a:cs typeface="Roboto" panose="02000000000000000000" pitchFamily="2" charset="0"/>
              </a:rPr>
              <a:t>or service from inception point to receipt by customer</a:t>
            </a:r>
          </a:p>
        </p:txBody>
      </p:sp>
      <p:sp>
        <p:nvSpPr>
          <p:cNvPr id="13" name="Rectangle 3">
            <a:extLst>
              <a:ext uri="{FF2B5EF4-FFF2-40B4-BE49-F238E27FC236}">
                <a16:creationId xmlns:a16="http://schemas.microsoft.com/office/drawing/2014/main" id="{E01A17D4-1DBD-9E8D-9924-6166C7E1089F}"/>
              </a:ext>
            </a:extLst>
          </p:cNvPr>
          <p:cNvSpPr>
            <a:spLocks noChangeArrowheads="1"/>
          </p:cNvSpPr>
          <p:nvPr/>
        </p:nvSpPr>
        <p:spPr bwMode="auto">
          <a:xfrm>
            <a:off x="1844675" y="2179697"/>
            <a:ext cx="1719263" cy="66992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Value Added</a:t>
            </a:r>
            <a:b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and Non-Value</a:t>
            </a:r>
            <a:b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Added Processes</a:t>
            </a:r>
          </a:p>
        </p:txBody>
      </p:sp>
      <p:sp>
        <p:nvSpPr>
          <p:cNvPr id="14" name="Rectangle 4">
            <a:extLst>
              <a:ext uri="{FF2B5EF4-FFF2-40B4-BE49-F238E27FC236}">
                <a16:creationId xmlns:a16="http://schemas.microsoft.com/office/drawing/2014/main" id="{644C926C-61D1-4C56-23E6-2E93187A502F}"/>
              </a:ext>
            </a:extLst>
          </p:cNvPr>
          <p:cNvSpPr>
            <a:spLocks noChangeArrowheads="1"/>
          </p:cNvSpPr>
          <p:nvPr/>
        </p:nvSpPr>
        <p:spPr bwMode="auto">
          <a:xfrm>
            <a:off x="3832225" y="2193985"/>
            <a:ext cx="1719263"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Product and</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Information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Flow</a:t>
            </a:r>
          </a:p>
        </p:txBody>
      </p:sp>
      <p:sp>
        <p:nvSpPr>
          <p:cNvPr id="15" name="Rectangle 5">
            <a:extLst>
              <a:ext uri="{FF2B5EF4-FFF2-40B4-BE49-F238E27FC236}">
                <a16:creationId xmlns:a16="http://schemas.microsoft.com/office/drawing/2014/main" id="{81A5C77B-A8BE-6024-AE92-238ABB9791DD}"/>
              </a:ext>
            </a:extLst>
          </p:cNvPr>
          <p:cNvSpPr>
            <a:spLocks noChangeArrowheads="1"/>
          </p:cNvSpPr>
          <p:nvPr/>
        </p:nvSpPr>
        <p:spPr bwMode="auto">
          <a:xfrm>
            <a:off x="5878513" y="2193985"/>
            <a:ext cx="1719262"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Cross function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and organization</a:t>
            </a:r>
            <a:b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boundaries</a:t>
            </a:r>
          </a:p>
        </p:txBody>
      </p:sp>
      <p:sp>
        <p:nvSpPr>
          <p:cNvPr id="16" name="Rectangle 6">
            <a:extLst>
              <a:ext uri="{FF2B5EF4-FFF2-40B4-BE49-F238E27FC236}">
                <a16:creationId xmlns:a16="http://schemas.microsoft.com/office/drawing/2014/main" id="{8266184D-7841-6EF4-9A4F-78ECCF1AD12A}"/>
              </a:ext>
            </a:extLst>
          </p:cNvPr>
          <p:cNvSpPr>
            <a:spLocks noChangeArrowheads="1"/>
          </p:cNvSpPr>
          <p:nvPr/>
        </p:nvSpPr>
        <p:spPr bwMode="auto">
          <a:xfrm>
            <a:off x="7897813" y="2208272"/>
            <a:ext cx="1719262" cy="641350"/>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From Initiation to </a:t>
            </a:r>
          </a:p>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the Customer</a:t>
            </a:r>
          </a:p>
        </p:txBody>
      </p:sp>
      <p:cxnSp>
        <p:nvCxnSpPr>
          <p:cNvPr id="17" name="AutoShape 11">
            <a:extLst>
              <a:ext uri="{FF2B5EF4-FFF2-40B4-BE49-F238E27FC236}">
                <a16:creationId xmlns:a16="http://schemas.microsoft.com/office/drawing/2014/main" id="{3614926F-0713-2C90-2458-E43BB584FB9D}"/>
              </a:ext>
            </a:extLst>
          </p:cNvPr>
          <p:cNvCxnSpPr>
            <a:cxnSpLocks noChangeShapeType="1"/>
            <a:stCxn id="13" idx="3"/>
            <a:endCxn id="14" idx="1"/>
          </p:cNvCxnSpPr>
          <p:nvPr/>
        </p:nvCxnSpPr>
        <p:spPr bwMode="auto">
          <a:xfrm>
            <a:off x="3563938" y="2514660"/>
            <a:ext cx="268287" cy="7144"/>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8" name="AutoShape 12">
            <a:extLst>
              <a:ext uri="{FF2B5EF4-FFF2-40B4-BE49-F238E27FC236}">
                <a16:creationId xmlns:a16="http://schemas.microsoft.com/office/drawing/2014/main" id="{7CCC0468-D6AC-7D69-1160-0D9A9BD785E4}"/>
              </a:ext>
            </a:extLst>
          </p:cNvPr>
          <p:cNvCxnSpPr>
            <a:cxnSpLocks noChangeShapeType="1"/>
            <a:stCxn id="14" idx="3"/>
            <a:endCxn id="15" idx="1"/>
          </p:cNvCxnSpPr>
          <p:nvPr/>
        </p:nvCxnSpPr>
        <p:spPr bwMode="auto">
          <a:xfrm>
            <a:off x="5551488" y="2521804"/>
            <a:ext cx="327025" cy="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9" name="AutoShape 13">
            <a:extLst>
              <a:ext uri="{FF2B5EF4-FFF2-40B4-BE49-F238E27FC236}">
                <a16:creationId xmlns:a16="http://schemas.microsoft.com/office/drawing/2014/main" id="{6D06A62A-EF7F-613C-71A6-8C7E0C4C8D52}"/>
              </a:ext>
            </a:extLst>
          </p:cNvPr>
          <p:cNvCxnSpPr>
            <a:cxnSpLocks noChangeShapeType="1"/>
            <a:stCxn id="15" idx="3"/>
            <a:endCxn id="16" idx="1"/>
          </p:cNvCxnSpPr>
          <p:nvPr/>
        </p:nvCxnSpPr>
        <p:spPr bwMode="auto">
          <a:xfrm>
            <a:off x="7597775" y="2521804"/>
            <a:ext cx="300038" cy="7143"/>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0" name="AutoShape 14">
            <a:extLst>
              <a:ext uri="{FF2B5EF4-FFF2-40B4-BE49-F238E27FC236}">
                <a16:creationId xmlns:a16="http://schemas.microsoft.com/office/drawing/2014/main" id="{19AFC22B-79DD-0856-94AD-B12F7BA72F91}"/>
              </a:ext>
            </a:extLst>
          </p:cNvPr>
          <p:cNvCxnSpPr>
            <a:cxnSpLocks noChangeShapeType="1"/>
            <a:stCxn id="13" idx="1"/>
            <a:endCxn id="12" idx="1"/>
          </p:cNvCxnSpPr>
          <p:nvPr/>
        </p:nvCxnSpPr>
        <p:spPr bwMode="auto">
          <a:xfrm rot="10800000" flipH="1" flipV="1">
            <a:off x="1844675" y="2514660"/>
            <a:ext cx="776288" cy="2900362"/>
          </a:xfrm>
          <a:prstGeom prst="bentConnector3">
            <a:avLst>
              <a:gd name="adj1" fmla="val -2944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1" name="AutoShape 15">
            <a:extLst>
              <a:ext uri="{FF2B5EF4-FFF2-40B4-BE49-F238E27FC236}">
                <a16:creationId xmlns:a16="http://schemas.microsoft.com/office/drawing/2014/main" id="{BF086CF1-6637-C410-C411-5A4C9F679463}"/>
              </a:ext>
            </a:extLst>
          </p:cNvPr>
          <p:cNvCxnSpPr>
            <a:cxnSpLocks noChangeShapeType="1"/>
            <a:stCxn id="16" idx="3"/>
            <a:endCxn id="12" idx="3"/>
          </p:cNvCxnSpPr>
          <p:nvPr/>
        </p:nvCxnSpPr>
        <p:spPr bwMode="auto">
          <a:xfrm flipH="1">
            <a:off x="8934450" y="2528947"/>
            <a:ext cx="682625" cy="2886075"/>
          </a:xfrm>
          <a:prstGeom prst="bentConnector3">
            <a:avLst>
              <a:gd name="adj1" fmla="val -33488"/>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26" name="Group 25">
            <a:extLst>
              <a:ext uri="{FF2B5EF4-FFF2-40B4-BE49-F238E27FC236}">
                <a16:creationId xmlns:a16="http://schemas.microsoft.com/office/drawing/2014/main" id="{465F5DA0-318A-668D-E034-69A17E3A2167}"/>
              </a:ext>
            </a:extLst>
          </p:cNvPr>
          <p:cNvGrpSpPr/>
          <p:nvPr/>
        </p:nvGrpSpPr>
        <p:grpSpPr>
          <a:xfrm>
            <a:off x="940249" y="302538"/>
            <a:ext cx="6219503" cy="311932"/>
            <a:chOff x="940249" y="302538"/>
            <a:chExt cx="6219503" cy="311932"/>
          </a:xfrm>
        </p:grpSpPr>
        <p:sp>
          <p:nvSpPr>
            <p:cNvPr id="27" name="TextBox 26">
              <a:extLst>
                <a:ext uri="{FF2B5EF4-FFF2-40B4-BE49-F238E27FC236}">
                  <a16:creationId xmlns:a16="http://schemas.microsoft.com/office/drawing/2014/main" id="{A776C353-DE07-3EBE-9001-36B8A93A529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8" name="AutoShape 9">
              <a:extLst>
                <a:ext uri="{FF2B5EF4-FFF2-40B4-BE49-F238E27FC236}">
                  <a16:creationId xmlns:a16="http://schemas.microsoft.com/office/drawing/2014/main" id="{81529D95-DFF3-A4A2-E22F-7D1E4E3624F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E218DA90-3666-D743-32F8-ACB38C13CB0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9">
              <a:extLst>
                <a:ext uri="{FF2B5EF4-FFF2-40B4-BE49-F238E27FC236}">
                  <a16:creationId xmlns:a16="http://schemas.microsoft.com/office/drawing/2014/main" id="{0BEABFE9-C792-78B1-D5B5-7E6876C6667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1" name="AutoShape 9">
              <a:extLst>
                <a:ext uri="{FF2B5EF4-FFF2-40B4-BE49-F238E27FC236}">
                  <a16:creationId xmlns:a16="http://schemas.microsoft.com/office/drawing/2014/main" id="{9E279987-BEA1-6A19-7AEB-BBC6DA1DE58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2" name="AutoShape 11">
              <a:extLst>
                <a:ext uri="{FF2B5EF4-FFF2-40B4-BE49-F238E27FC236}">
                  <a16:creationId xmlns:a16="http://schemas.microsoft.com/office/drawing/2014/main" id="{28FEBC53-F5F2-5630-80C1-9917FA8F4D8B}"/>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08562988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73C5CA-1092-3A3F-E498-3EBCFF1675CF}"/>
              </a:ext>
            </a:extLst>
          </p:cNvPr>
          <p:cNvSpPr>
            <a:spLocks noGrp="1"/>
          </p:cNvSpPr>
          <p:nvPr>
            <p:ph type="title"/>
          </p:nvPr>
        </p:nvSpPr>
        <p:spPr/>
        <p:txBody>
          <a:bodyPr>
            <a:noAutofit/>
          </a:bodyPr>
          <a:lstStyle/>
          <a:p>
            <a:r>
              <a:rPr lang="en-US" sz="3600" dirty="0"/>
              <a:t>Identify the </a:t>
            </a:r>
            <a:r>
              <a:rPr lang="en-US" sz="3600" i="1" dirty="0"/>
              <a:t>Value Object </a:t>
            </a:r>
            <a:r>
              <a:rPr lang="en-US" sz="3600" dirty="0"/>
              <a:t>within the Value System</a:t>
            </a:r>
          </a:p>
        </p:txBody>
      </p:sp>
      <p:sp>
        <p:nvSpPr>
          <p:cNvPr id="3" name="Rectangle 3">
            <a:extLst>
              <a:ext uri="{FF2B5EF4-FFF2-40B4-BE49-F238E27FC236}">
                <a16:creationId xmlns:a16="http://schemas.microsoft.com/office/drawing/2014/main" id="{C86E96B7-89BC-C2EC-E33F-9E487BD5CEA9}"/>
              </a:ext>
            </a:extLst>
          </p:cNvPr>
          <p:cNvSpPr txBox="1">
            <a:spLocks noChangeArrowheads="1"/>
          </p:cNvSpPr>
          <p:nvPr/>
        </p:nvSpPr>
        <p:spPr>
          <a:xfrm>
            <a:off x="6743259" y="2184400"/>
            <a:ext cx="3703638" cy="44323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90000"/>
              <a:buFont typeface="Wingdings" pitchFamily="2" charset="2"/>
              <a:buChar char="§"/>
            </a:pPr>
            <a:r>
              <a:rPr lang="en-US" altLang="en-US" sz="1800" dirty="0"/>
              <a:t>The </a:t>
            </a:r>
            <a:r>
              <a:rPr lang="en-US" altLang="en-US" sz="1800" i="1" dirty="0"/>
              <a:t>VALUE OBJECT </a:t>
            </a:r>
            <a:r>
              <a:rPr lang="en-US" altLang="en-US" sz="1800" dirty="0"/>
              <a:t>is:</a:t>
            </a:r>
          </a:p>
          <a:p>
            <a:pPr lvl="1">
              <a:buSzPct val="90000"/>
              <a:buFont typeface="Wingdings" pitchFamily="2" charset="2"/>
              <a:buChar char="§"/>
            </a:pPr>
            <a:r>
              <a:rPr lang="en-US" altLang="en-US" sz="1400" dirty="0"/>
              <a:t>a single physical or informational object that follows all of the process steps within the value stream from inception to receipt by customer</a:t>
            </a:r>
          </a:p>
          <a:p>
            <a:pPr lvl="1">
              <a:buSzPct val="90000"/>
              <a:buFont typeface="Wingdings" pitchFamily="2" charset="2"/>
              <a:buChar char="§"/>
            </a:pPr>
            <a:r>
              <a:rPr lang="en-US" altLang="en-US" sz="1400" dirty="0"/>
              <a:t>used to follow the value stream as it is mapped and to calculate the inventory levels at each process</a:t>
            </a:r>
          </a:p>
          <a:p>
            <a:pPr lvl="1">
              <a:buSzPct val="90000"/>
              <a:buFont typeface="Wingdings" pitchFamily="2" charset="2"/>
              <a:buChar char="§"/>
            </a:pPr>
            <a:r>
              <a:rPr lang="en-US" altLang="en-US" sz="1400" dirty="0"/>
              <a:t>used to demonstrate how value is added as it moves through its processes to the customer</a:t>
            </a:r>
          </a:p>
          <a:p>
            <a:pPr>
              <a:buSzPct val="90000"/>
              <a:buFont typeface="Wingdings" pitchFamily="2" charset="2"/>
              <a:buChar char="§"/>
            </a:pPr>
            <a:endParaRPr lang="en-US" altLang="en-US" sz="1600" dirty="0"/>
          </a:p>
        </p:txBody>
      </p:sp>
      <p:graphicFrame>
        <p:nvGraphicFramePr>
          <p:cNvPr id="4" name="Group 33">
            <a:extLst>
              <a:ext uri="{FF2B5EF4-FFF2-40B4-BE49-F238E27FC236}">
                <a16:creationId xmlns:a16="http://schemas.microsoft.com/office/drawing/2014/main" id="{DF875CDC-835A-ED89-3442-255CB3908B74}"/>
              </a:ext>
            </a:extLst>
          </p:cNvPr>
          <p:cNvGraphicFramePr>
            <a:graphicFrameLocks noGrp="1"/>
          </p:cNvGraphicFramePr>
          <p:nvPr>
            <p:extLst>
              <p:ext uri="{D42A27DB-BD31-4B8C-83A1-F6EECF244321}">
                <p14:modId xmlns:p14="http://schemas.microsoft.com/office/powerpoint/2010/main" val="844312094"/>
              </p:ext>
            </p:extLst>
          </p:nvPr>
        </p:nvGraphicFramePr>
        <p:xfrm>
          <a:off x="965200" y="2184400"/>
          <a:ext cx="4038600" cy="3411875"/>
        </p:xfrm>
        <a:graphic>
          <a:graphicData uri="http://schemas.openxmlformats.org/drawingml/2006/table">
            <a:tbl>
              <a:tblPr/>
              <a:tblGrid>
                <a:gridCol w="2019300">
                  <a:extLst>
                    <a:ext uri="{9D8B030D-6E8A-4147-A177-3AD203B41FA5}">
                      <a16:colId xmlns:a16="http://schemas.microsoft.com/office/drawing/2014/main" val="20000"/>
                    </a:ext>
                  </a:extLst>
                </a:gridCol>
                <a:gridCol w="2019300">
                  <a:extLst>
                    <a:ext uri="{9D8B030D-6E8A-4147-A177-3AD203B41FA5}">
                      <a16:colId xmlns:a16="http://schemas.microsoft.com/office/drawing/2014/main" val="20001"/>
                    </a:ext>
                  </a:extLst>
                </a:gridCol>
              </a:tblGrid>
              <a:tr h="68580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PRODUCT or</a:t>
                      </a:r>
                      <a:br>
                        <a:rPr kumimoji="0" lang="en-US" altLang="en-US" sz="16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br>
                      <a:r>
                        <a:rPr kumimoji="0" lang="en-US" altLang="en-US" sz="16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SERVICE</a:t>
                      </a:r>
                    </a:p>
                  </a:txBody>
                  <a:tcPr marT="45713" marB="45713"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TYPICAL </a:t>
                      </a:r>
                      <a:r>
                        <a:rPr kumimoji="0" lang="en-US" altLang="en-US" sz="1600" b="1" i="1" u="none" strike="noStrike" cap="none" normalizeH="0" baseline="0" dirty="0">
                          <a:ln>
                            <a:noFill/>
                          </a:ln>
                          <a:solidFill>
                            <a:schemeClr val="bg1"/>
                          </a:solidFill>
                          <a:effectLst>
                            <a:outerShdw blurRad="38100" dist="38100" dir="2700000" sx="1000" sy="1000" algn="tl">
                              <a:srgbClr val="000000"/>
                            </a:outerShdw>
                          </a:effectLst>
                          <a:latin typeface="Roboto" panose="02000000000000000000" pitchFamily="2" charset="0"/>
                          <a:ea typeface="Roboto" panose="02000000000000000000" pitchFamily="2" charset="0"/>
                          <a:cs typeface="Roboto" panose="02000000000000000000" pitchFamily="2" charset="0"/>
                        </a:rPr>
                        <a:t>VALUE OBJECT</a:t>
                      </a:r>
                    </a:p>
                  </a:txBody>
                  <a:tcPr marT="45713" marB="45713"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extLst>
                  <a:ext uri="{0D108BD9-81ED-4DB2-BD59-A6C34878D82A}">
                    <a16:rowId xmlns:a16="http://schemas.microsoft.com/office/drawing/2014/main" val="10000"/>
                  </a:ext>
                </a:extLst>
              </a:tr>
              <a:tr h="90314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Consumer Credit</a:t>
                      </a:r>
                    </a:p>
                  </a:txBody>
                  <a:tcPr marT="45713" marB="45713"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Credit Card Application</a:t>
                      </a:r>
                    </a:p>
                  </a:txBody>
                  <a:tcPr marT="45713" marB="45713"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90473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Proposal</a:t>
                      </a:r>
                    </a:p>
                  </a:txBody>
                  <a:tcPr marT="45713" marB="45713"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Request for Proposal (RFP)</a:t>
                      </a: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t></a:t>
                      </a:r>
                      <a:b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b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t>Quote Document</a:t>
                      </a:r>
                      <a:endPar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13" marB="45713"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91482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Engineering</a:t>
                      </a:r>
                      <a:b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br>
                      <a:r>
                        <a:rPr kumimoji="0" lang="en-US" altLang="en-US" sz="12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Change</a:t>
                      </a:r>
                    </a:p>
                  </a:txBody>
                  <a:tcPr marT="45713" marB="45713"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Engineering Change Request (ECR) </a:t>
                      </a: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t></a:t>
                      </a:r>
                      <a:b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b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sym typeface="Wingdings" panose="05000000000000000000" pitchFamily="2" charset="2"/>
                        </a:rPr>
                        <a:t>Engineering Change Order (ECO)</a:t>
                      </a: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13" marB="45713"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rrow">
            <a:extLst>
              <a:ext uri="{FF2B5EF4-FFF2-40B4-BE49-F238E27FC236}">
                <a16:creationId xmlns:a16="http://schemas.microsoft.com/office/drawing/2014/main" id="{B8099042-D435-851A-9598-A04577B577E4}"/>
              </a:ext>
            </a:extLst>
          </p:cNvPr>
          <p:cNvSpPr/>
          <p:nvPr/>
        </p:nvSpPr>
        <p:spPr>
          <a:xfrm>
            <a:off x="5427411" y="3342414"/>
            <a:ext cx="1034491" cy="770341"/>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
        <p:nvSpPr>
          <p:cNvPr id="7" name="Slide Number Placeholder 2">
            <a:extLst>
              <a:ext uri="{FF2B5EF4-FFF2-40B4-BE49-F238E27FC236}">
                <a16:creationId xmlns:a16="http://schemas.microsoft.com/office/drawing/2014/main" id="{CABF7F50-1CF4-AA18-CEC5-8E24C669C73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16</a:t>
            </a:fld>
            <a:endParaRPr lang="en-US"/>
          </a:p>
        </p:txBody>
      </p:sp>
      <p:grpSp>
        <p:nvGrpSpPr>
          <p:cNvPr id="8" name="Group 7">
            <a:extLst>
              <a:ext uri="{FF2B5EF4-FFF2-40B4-BE49-F238E27FC236}">
                <a16:creationId xmlns:a16="http://schemas.microsoft.com/office/drawing/2014/main" id="{51ACF002-EECE-6C0F-90BB-07723A6DB751}"/>
              </a:ext>
            </a:extLst>
          </p:cNvPr>
          <p:cNvGrpSpPr/>
          <p:nvPr/>
        </p:nvGrpSpPr>
        <p:grpSpPr>
          <a:xfrm>
            <a:off x="940249" y="302538"/>
            <a:ext cx="6219503" cy="311932"/>
            <a:chOff x="940249" y="302538"/>
            <a:chExt cx="6219503" cy="311932"/>
          </a:xfrm>
        </p:grpSpPr>
        <p:sp>
          <p:nvSpPr>
            <p:cNvPr id="9" name="TextBox 8">
              <a:extLst>
                <a:ext uri="{FF2B5EF4-FFF2-40B4-BE49-F238E27FC236}">
                  <a16:creationId xmlns:a16="http://schemas.microsoft.com/office/drawing/2014/main" id="{2DDA11EB-0FB8-AE90-1B11-C55BE10FB31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0" name="AutoShape 9">
              <a:extLst>
                <a:ext uri="{FF2B5EF4-FFF2-40B4-BE49-F238E27FC236}">
                  <a16:creationId xmlns:a16="http://schemas.microsoft.com/office/drawing/2014/main" id="{01E117FC-6412-2B4E-91D8-BA349ED4F36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9">
              <a:extLst>
                <a:ext uri="{FF2B5EF4-FFF2-40B4-BE49-F238E27FC236}">
                  <a16:creationId xmlns:a16="http://schemas.microsoft.com/office/drawing/2014/main" id="{9FE58ED9-2114-4CE0-B09A-A310FF1521D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9">
              <a:extLst>
                <a:ext uri="{FF2B5EF4-FFF2-40B4-BE49-F238E27FC236}">
                  <a16:creationId xmlns:a16="http://schemas.microsoft.com/office/drawing/2014/main" id="{17B6BECC-E868-7279-43AE-A1FE8CA623E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9">
              <a:extLst>
                <a:ext uri="{FF2B5EF4-FFF2-40B4-BE49-F238E27FC236}">
                  <a16:creationId xmlns:a16="http://schemas.microsoft.com/office/drawing/2014/main" id="{27483318-E733-D3F0-D6A6-344CF394235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11">
              <a:extLst>
                <a:ext uri="{FF2B5EF4-FFF2-40B4-BE49-F238E27FC236}">
                  <a16:creationId xmlns:a16="http://schemas.microsoft.com/office/drawing/2014/main" id="{AB4FE4FF-9873-008D-0A36-1110C0A78D6A}"/>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367325688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3635E8-8B85-AD33-D75B-3CE04466D3C3}"/>
              </a:ext>
            </a:extLst>
          </p:cNvPr>
          <p:cNvSpPr>
            <a:spLocks noGrp="1"/>
          </p:cNvSpPr>
          <p:nvPr>
            <p:ph type="title"/>
          </p:nvPr>
        </p:nvSpPr>
        <p:spPr/>
        <p:txBody>
          <a:bodyPr/>
          <a:lstStyle/>
          <a:p>
            <a:r>
              <a:rPr lang="en-US" dirty="0"/>
              <a:t>The Value Object Volume Analysis</a:t>
            </a:r>
          </a:p>
        </p:txBody>
      </p:sp>
      <p:pic>
        <p:nvPicPr>
          <p:cNvPr id="3" name="Picture 50" descr="PQPR">
            <a:extLst>
              <a:ext uri="{FF2B5EF4-FFF2-40B4-BE49-F238E27FC236}">
                <a16:creationId xmlns:a16="http://schemas.microsoft.com/office/drawing/2014/main" id="{F1CC984B-71E0-1C51-F3F5-20333F88FE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8149" y="1971675"/>
            <a:ext cx="11298579" cy="3983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a:extLst>
              <a:ext uri="{FF2B5EF4-FFF2-40B4-BE49-F238E27FC236}">
                <a16:creationId xmlns:a16="http://schemas.microsoft.com/office/drawing/2014/main" id="{33F4BA1D-4C27-1C41-804A-F3B1BCCCAA06}"/>
              </a:ext>
            </a:extLst>
          </p:cNvPr>
          <p:cNvGrpSpPr/>
          <p:nvPr/>
        </p:nvGrpSpPr>
        <p:grpSpPr>
          <a:xfrm>
            <a:off x="940249" y="302538"/>
            <a:ext cx="6219503" cy="311932"/>
            <a:chOff x="940249" y="302538"/>
            <a:chExt cx="6219503" cy="311932"/>
          </a:xfrm>
        </p:grpSpPr>
        <p:sp>
          <p:nvSpPr>
            <p:cNvPr id="5" name="TextBox 4">
              <a:extLst>
                <a:ext uri="{FF2B5EF4-FFF2-40B4-BE49-F238E27FC236}">
                  <a16:creationId xmlns:a16="http://schemas.microsoft.com/office/drawing/2014/main" id="{21361F69-3F99-6705-9F77-5D4C6136B28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6" name="AutoShape 9">
              <a:extLst>
                <a:ext uri="{FF2B5EF4-FFF2-40B4-BE49-F238E27FC236}">
                  <a16:creationId xmlns:a16="http://schemas.microsoft.com/office/drawing/2014/main" id="{AED84654-9F8F-2058-1A1C-CD391462FDE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33B9A53-57B8-0F99-E146-F171882334C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2B6E757-43F1-10C6-0472-F1E5E9960E3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3EB4605F-7EFC-80CA-CD39-52EA761000F2}"/>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826D12B3-D280-FE37-EE78-464280B48BAD}"/>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 name="Slide Number Placeholder 2">
            <a:extLst>
              <a:ext uri="{FF2B5EF4-FFF2-40B4-BE49-F238E27FC236}">
                <a16:creationId xmlns:a16="http://schemas.microsoft.com/office/drawing/2014/main" id="{3AB48CBD-E8F3-E9EA-7908-5D6B621E166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17</a:t>
            </a:fld>
            <a:endParaRPr lang="en-US" dirty="0"/>
          </a:p>
        </p:txBody>
      </p:sp>
    </p:spTree>
    <p:extLst>
      <p:ext uri="{BB962C8B-B14F-4D97-AF65-F5344CB8AC3E}">
        <p14:creationId xmlns:p14="http://schemas.microsoft.com/office/powerpoint/2010/main" val="270876992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A03B43-879E-00EB-435C-D5BF626DD62F}"/>
              </a:ext>
            </a:extLst>
          </p:cNvPr>
          <p:cNvSpPr>
            <a:spLocks noGrp="1"/>
          </p:cNvSpPr>
          <p:nvPr>
            <p:ph type="title"/>
          </p:nvPr>
        </p:nvSpPr>
        <p:spPr/>
        <p:txBody>
          <a:bodyPr>
            <a:noAutofit/>
          </a:bodyPr>
          <a:lstStyle/>
          <a:p>
            <a:r>
              <a:rPr lang="en-US" sz="3600" dirty="0"/>
              <a:t>Determine the Boundaries of the Value Stream</a:t>
            </a:r>
          </a:p>
        </p:txBody>
      </p:sp>
      <p:sp>
        <p:nvSpPr>
          <p:cNvPr id="3" name="Freeform 3">
            <a:extLst>
              <a:ext uri="{FF2B5EF4-FFF2-40B4-BE49-F238E27FC236}">
                <a16:creationId xmlns:a16="http://schemas.microsoft.com/office/drawing/2014/main" id="{535E769F-5951-FD8F-8481-94480394D309}"/>
              </a:ext>
            </a:extLst>
          </p:cNvPr>
          <p:cNvSpPr>
            <a:spLocks/>
          </p:cNvSpPr>
          <p:nvPr/>
        </p:nvSpPr>
        <p:spPr bwMode="auto">
          <a:xfrm>
            <a:off x="2971800" y="1998663"/>
            <a:ext cx="7117305" cy="4365981"/>
          </a:xfrm>
          <a:custGeom>
            <a:avLst/>
            <a:gdLst>
              <a:gd name="T0" fmla="*/ 2147483646 w 2092"/>
              <a:gd name="T1" fmla="*/ 2147483646 h 1668"/>
              <a:gd name="T2" fmla="*/ 2147483646 w 2092"/>
              <a:gd name="T3" fmla="*/ 2147483646 h 1668"/>
              <a:gd name="T4" fmla="*/ 2147483646 w 2092"/>
              <a:gd name="T5" fmla="*/ 2147483646 h 1668"/>
              <a:gd name="T6" fmla="*/ 2147483646 w 2092"/>
              <a:gd name="T7" fmla="*/ 2147483646 h 1668"/>
              <a:gd name="T8" fmla="*/ 2147483646 w 2092"/>
              <a:gd name="T9" fmla="*/ 2147483646 h 1668"/>
              <a:gd name="T10" fmla="*/ 2147483646 w 2092"/>
              <a:gd name="T11" fmla="*/ 2147483646 h 1668"/>
              <a:gd name="T12" fmla="*/ 2147483646 w 2092"/>
              <a:gd name="T13" fmla="*/ 2147483646 h 1668"/>
              <a:gd name="T14" fmla="*/ 2147483646 w 2092"/>
              <a:gd name="T15" fmla="*/ 2147483646 h 1668"/>
              <a:gd name="T16" fmla="*/ 2147483646 w 2092"/>
              <a:gd name="T17" fmla="*/ 2147483646 h 1668"/>
              <a:gd name="T18" fmla="*/ 2147483646 w 2092"/>
              <a:gd name="T19" fmla="*/ 2147483646 h 1668"/>
              <a:gd name="T20" fmla="*/ 2147483646 w 2092"/>
              <a:gd name="T21" fmla="*/ 2147483646 h 1668"/>
              <a:gd name="T22" fmla="*/ 2147483646 w 2092"/>
              <a:gd name="T23" fmla="*/ 2147483646 h 1668"/>
              <a:gd name="T24" fmla="*/ 2147483646 w 2092"/>
              <a:gd name="T25" fmla="*/ 2147483646 h 1668"/>
              <a:gd name="T26" fmla="*/ 2147483646 w 2092"/>
              <a:gd name="T27" fmla="*/ 2147483646 h 1668"/>
              <a:gd name="T28" fmla="*/ 2147483646 w 2092"/>
              <a:gd name="T29" fmla="*/ 2147483646 h 1668"/>
              <a:gd name="T30" fmla="*/ 2147483646 w 2092"/>
              <a:gd name="T31" fmla="*/ 2147483646 h 1668"/>
              <a:gd name="T32" fmla="*/ 2147483646 w 2092"/>
              <a:gd name="T33" fmla="*/ 2147483646 h 1668"/>
              <a:gd name="T34" fmla="*/ 2147483646 w 2092"/>
              <a:gd name="T35" fmla="*/ 2147483646 h 1668"/>
              <a:gd name="T36" fmla="*/ 2147483646 w 2092"/>
              <a:gd name="T37" fmla="*/ 2147483646 h 1668"/>
              <a:gd name="T38" fmla="*/ 2147483646 w 2092"/>
              <a:gd name="T39" fmla="*/ 2147483646 h 1668"/>
              <a:gd name="T40" fmla="*/ 2147483646 w 2092"/>
              <a:gd name="T41" fmla="*/ 2147483646 h 1668"/>
              <a:gd name="T42" fmla="*/ 2147483646 w 2092"/>
              <a:gd name="T43" fmla="*/ 2147483646 h 1668"/>
              <a:gd name="T44" fmla="*/ 2147483646 w 2092"/>
              <a:gd name="T45" fmla="*/ 2147483646 h 1668"/>
              <a:gd name="T46" fmla="*/ 2147483646 w 2092"/>
              <a:gd name="T47" fmla="*/ 2147483646 h 1668"/>
              <a:gd name="T48" fmla="*/ 2147483646 w 2092"/>
              <a:gd name="T49" fmla="*/ 2147483646 h 1668"/>
              <a:gd name="T50" fmla="*/ 2147483646 w 2092"/>
              <a:gd name="T51" fmla="*/ 2147483646 h 1668"/>
              <a:gd name="T52" fmla="*/ 2147483646 w 2092"/>
              <a:gd name="T53" fmla="*/ 0 h 1668"/>
              <a:gd name="T54" fmla="*/ 2147483646 w 2092"/>
              <a:gd name="T55" fmla="*/ 0 h 1668"/>
              <a:gd name="T56" fmla="*/ 0 w 2092"/>
              <a:gd name="T57" fmla="*/ 0 h 1668"/>
              <a:gd name="T58" fmla="*/ 2147483646 w 2092"/>
              <a:gd name="T59" fmla="*/ 2147483646 h 1668"/>
              <a:gd name="T60" fmla="*/ 2147483646 w 2092"/>
              <a:gd name="T61" fmla="*/ 2147483646 h 1668"/>
              <a:gd name="T62" fmla="*/ 2147483646 w 2092"/>
              <a:gd name="T63" fmla="*/ 2147483646 h 1668"/>
              <a:gd name="T64" fmla="*/ 2147483646 w 2092"/>
              <a:gd name="T65" fmla="*/ 2147483646 h 1668"/>
              <a:gd name="T66" fmla="*/ 2147483646 w 2092"/>
              <a:gd name="T67" fmla="*/ 2147483646 h 1668"/>
              <a:gd name="T68" fmla="*/ 2147483646 w 2092"/>
              <a:gd name="T69" fmla="*/ 2147483646 h 1668"/>
              <a:gd name="T70" fmla="*/ 2147483646 w 2092"/>
              <a:gd name="T71" fmla="*/ 2147483646 h 1668"/>
              <a:gd name="T72" fmla="*/ 2147483646 w 2092"/>
              <a:gd name="T73" fmla="*/ 2147483646 h 1668"/>
              <a:gd name="T74" fmla="*/ 2147483646 w 2092"/>
              <a:gd name="T75" fmla="*/ 2147483646 h 1668"/>
              <a:gd name="T76" fmla="*/ 2147483646 w 2092"/>
              <a:gd name="T77" fmla="*/ 2147483646 h 1668"/>
              <a:gd name="T78" fmla="*/ 2147483646 w 2092"/>
              <a:gd name="T79" fmla="*/ 2147483646 h 1668"/>
              <a:gd name="T80" fmla="*/ 2147483646 w 2092"/>
              <a:gd name="T81" fmla="*/ 2147483646 h 1668"/>
              <a:gd name="T82" fmla="*/ 2147483646 w 2092"/>
              <a:gd name="T83" fmla="*/ 2147483646 h 1668"/>
              <a:gd name="T84" fmla="*/ 2147483646 w 2092"/>
              <a:gd name="T85" fmla="*/ 2147483646 h 1668"/>
              <a:gd name="T86" fmla="*/ 2147483646 w 2092"/>
              <a:gd name="T87" fmla="*/ 2147483646 h 1668"/>
              <a:gd name="T88" fmla="*/ 2147483646 w 2092"/>
              <a:gd name="T89" fmla="*/ 2147483646 h 1668"/>
              <a:gd name="T90" fmla="*/ 2147483646 w 2092"/>
              <a:gd name="T91" fmla="*/ 2147483646 h 1668"/>
              <a:gd name="T92" fmla="*/ 2147483646 w 2092"/>
              <a:gd name="T93" fmla="*/ 2147483646 h 1668"/>
              <a:gd name="T94" fmla="*/ 2147483646 w 2092"/>
              <a:gd name="T95" fmla="*/ 2147483646 h 1668"/>
              <a:gd name="T96" fmla="*/ 2147483646 w 2092"/>
              <a:gd name="T97" fmla="*/ 2147483646 h 1668"/>
              <a:gd name="T98" fmla="*/ 2147483646 w 2092"/>
              <a:gd name="T99" fmla="*/ 2147483646 h 1668"/>
              <a:gd name="T100" fmla="*/ 2147483646 w 2092"/>
              <a:gd name="T101" fmla="*/ 2147483646 h 16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2"/>
              <a:gd name="T154" fmla="*/ 0 h 1668"/>
              <a:gd name="T155" fmla="*/ 2092 w 2092"/>
              <a:gd name="T156" fmla="*/ 1668 h 16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2" h="1668">
                <a:moveTo>
                  <a:pt x="1892" y="1296"/>
                </a:moveTo>
                <a:lnTo>
                  <a:pt x="1892" y="705"/>
                </a:lnTo>
                <a:lnTo>
                  <a:pt x="1889" y="647"/>
                </a:lnTo>
                <a:lnTo>
                  <a:pt x="1881" y="589"/>
                </a:lnTo>
                <a:lnTo>
                  <a:pt x="1867" y="522"/>
                </a:lnTo>
                <a:lnTo>
                  <a:pt x="1843" y="453"/>
                </a:lnTo>
                <a:lnTo>
                  <a:pt x="1824" y="400"/>
                </a:lnTo>
                <a:lnTo>
                  <a:pt x="1790" y="331"/>
                </a:lnTo>
                <a:lnTo>
                  <a:pt x="1764" y="289"/>
                </a:lnTo>
                <a:lnTo>
                  <a:pt x="1727" y="240"/>
                </a:lnTo>
                <a:lnTo>
                  <a:pt x="1694" y="204"/>
                </a:lnTo>
                <a:lnTo>
                  <a:pt x="1656" y="169"/>
                </a:lnTo>
                <a:lnTo>
                  <a:pt x="1627" y="147"/>
                </a:lnTo>
                <a:lnTo>
                  <a:pt x="1590" y="119"/>
                </a:lnTo>
                <a:lnTo>
                  <a:pt x="1558" y="99"/>
                </a:lnTo>
                <a:lnTo>
                  <a:pt x="1525" y="81"/>
                </a:lnTo>
                <a:lnTo>
                  <a:pt x="1496" y="67"/>
                </a:lnTo>
                <a:lnTo>
                  <a:pt x="1457" y="52"/>
                </a:lnTo>
                <a:lnTo>
                  <a:pt x="1425" y="39"/>
                </a:lnTo>
                <a:lnTo>
                  <a:pt x="1384" y="28"/>
                </a:lnTo>
                <a:lnTo>
                  <a:pt x="1346" y="18"/>
                </a:lnTo>
                <a:lnTo>
                  <a:pt x="1306" y="13"/>
                </a:lnTo>
                <a:lnTo>
                  <a:pt x="1266" y="7"/>
                </a:lnTo>
                <a:lnTo>
                  <a:pt x="1216" y="4"/>
                </a:lnTo>
                <a:lnTo>
                  <a:pt x="1177" y="3"/>
                </a:lnTo>
                <a:lnTo>
                  <a:pt x="1133" y="1"/>
                </a:lnTo>
                <a:lnTo>
                  <a:pt x="1091" y="0"/>
                </a:lnTo>
                <a:lnTo>
                  <a:pt x="1046" y="0"/>
                </a:lnTo>
                <a:lnTo>
                  <a:pt x="0" y="0"/>
                </a:lnTo>
                <a:lnTo>
                  <a:pt x="365" y="353"/>
                </a:lnTo>
                <a:lnTo>
                  <a:pt x="1049" y="354"/>
                </a:lnTo>
                <a:lnTo>
                  <a:pt x="1091" y="356"/>
                </a:lnTo>
                <a:lnTo>
                  <a:pt x="1135" y="360"/>
                </a:lnTo>
                <a:lnTo>
                  <a:pt x="1179" y="368"/>
                </a:lnTo>
                <a:lnTo>
                  <a:pt x="1221" y="380"/>
                </a:lnTo>
                <a:lnTo>
                  <a:pt x="1261" y="396"/>
                </a:lnTo>
                <a:lnTo>
                  <a:pt x="1300" y="417"/>
                </a:lnTo>
                <a:lnTo>
                  <a:pt x="1334" y="442"/>
                </a:lnTo>
                <a:lnTo>
                  <a:pt x="1367" y="470"/>
                </a:lnTo>
                <a:lnTo>
                  <a:pt x="1394" y="501"/>
                </a:lnTo>
                <a:lnTo>
                  <a:pt x="1418" y="535"/>
                </a:lnTo>
                <a:lnTo>
                  <a:pt x="1437" y="570"/>
                </a:lnTo>
                <a:lnTo>
                  <a:pt x="1450" y="608"/>
                </a:lnTo>
                <a:lnTo>
                  <a:pt x="1459" y="647"/>
                </a:lnTo>
                <a:lnTo>
                  <a:pt x="1464" y="687"/>
                </a:lnTo>
                <a:lnTo>
                  <a:pt x="1464" y="729"/>
                </a:lnTo>
                <a:lnTo>
                  <a:pt x="1464" y="1298"/>
                </a:lnTo>
                <a:lnTo>
                  <a:pt x="1275" y="1298"/>
                </a:lnTo>
                <a:lnTo>
                  <a:pt x="1671" y="1667"/>
                </a:lnTo>
                <a:lnTo>
                  <a:pt x="2091" y="1296"/>
                </a:lnTo>
                <a:lnTo>
                  <a:pt x="1892" y="1296"/>
                </a:lnTo>
              </a:path>
            </a:pathLst>
          </a:custGeom>
          <a:solidFill>
            <a:srgbClr val="FFB627"/>
          </a:solidFill>
          <a:ln w="12700" cap="sq">
            <a:solidFill>
              <a:schemeClr val="tx1"/>
            </a:solidFill>
            <a:miter lim="800000"/>
            <a:headEnd/>
            <a:tailEnd/>
          </a:ln>
        </p:spPr>
        <p:txBody>
          <a:bodyPr wrap="none" anchor="ctr"/>
          <a:lstStyle/>
          <a:p>
            <a:endParaRPr lang="en-US"/>
          </a:p>
        </p:txBody>
      </p:sp>
      <p:sp>
        <p:nvSpPr>
          <p:cNvPr id="4" name="Freeform 4">
            <a:extLst>
              <a:ext uri="{FF2B5EF4-FFF2-40B4-BE49-F238E27FC236}">
                <a16:creationId xmlns:a16="http://schemas.microsoft.com/office/drawing/2014/main" id="{6144DC4B-ACE6-9D0E-25D6-EC2DAFFFB713}"/>
              </a:ext>
            </a:extLst>
          </p:cNvPr>
          <p:cNvSpPr>
            <a:spLocks/>
          </p:cNvSpPr>
          <p:nvPr/>
        </p:nvSpPr>
        <p:spPr bwMode="auto">
          <a:xfrm>
            <a:off x="872153" y="1998663"/>
            <a:ext cx="7069496" cy="4365981"/>
          </a:xfrm>
          <a:custGeom>
            <a:avLst/>
            <a:gdLst>
              <a:gd name="T0" fmla="*/ 2147483646 w 2072"/>
              <a:gd name="T1" fmla="*/ 2147483646 h 1663"/>
              <a:gd name="T2" fmla="*/ 2147483646 w 2072"/>
              <a:gd name="T3" fmla="*/ 2147483646 h 1663"/>
              <a:gd name="T4" fmla="*/ 2147483646 w 2072"/>
              <a:gd name="T5" fmla="*/ 2147483646 h 1663"/>
              <a:gd name="T6" fmla="*/ 2147483646 w 2072"/>
              <a:gd name="T7" fmla="*/ 2147483646 h 1663"/>
              <a:gd name="T8" fmla="*/ 2147483646 w 2072"/>
              <a:gd name="T9" fmla="*/ 2147483646 h 1663"/>
              <a:gd name="T10" fmla="*/ 2147483646 w 2072"/>
              <a:gd name="T11" fmla="*/ 2147483646 h 1663"/>
              <a:gd name="T12" fmla="*/ 2147483646 w 2072"/>
              <a:gd name="T13" fmla="*/ 2147483646 h 1663"/>
              <a:gd name="T14" fmla="*/ 2147483646 w 2072"/>
              <a:gd name="T15" fmla="*/ 2147483646 h 1663"/>
              <a:gd name="T16" fmla="*/ 2147483646 w 2072"/>
              <a:gd name="T17" fmla="*/ 2147483646 h 1663"/>
              <a:gd name="T18" fmla="*/ 2147483646 w 2072"/>
              <a:gd name="T19" fmla="*/ 2147483646 h 1663"/>
              <a:gd name="T20" fmla="*/ 2147483646 w 2072"/>
              <a:gd name="T21" fmla="*/ 2147483646 h 1663"/>
              <a:gd name="T22" fmla="*/ 2147483646 w 2072"/>
              <a:gd name="T23" fmla="*/ 2147483646 h 1663"/>
              <a:gd name="T24" fmla="*/ 2147483646 w 2072"/>
              <a:gd name="T25" fmla="*/ 2147483646 h 1663"/>
              <a:gd name="T26" fmla="*/ 2147483646 w 2072"/>
              <a:gd name="T27" fmla="*/ 2147483646 h 1663"/>
              <a:gd name="T28" fmla="*/ 2147483646 w 2072"/>
              <a:gd name="T29" fmla="*/ 2147483646 h 1663"/>
              <a:gd name="T30" fmla="*/ 2147483646 w 2072"/>
              <a:gd name="T31" fmla="*/ 2147483646 h 1663"/>
              <a:gd name="T32" fmla="*/ 2147483646 w 2072"/>
              <a:gd name="T33" fmla="*/ 2147483646 h 1663"/>
              <a:gd name="T34" fmla="*/ 2147483646 w 2072"/>
              <a:gd name="T35" fmla="*/ 2147483646 h 1663"/>
              <a:gd name="T36" fmla="*/ 2147483646 w 2072"/>
              <a:gd name="T37" fmla="*/ 2147483646 h 1663"/>
              <a:gd name="T38" fmla="*/ 2147483646 w 2072"/>
              <a:gd name="T39" fmla="*/ 2147483646 h 1663"/>
              <a:gd name="T40" fmla="*/ 2147483646 w 2072"/>
              <a:gd name="T41" fmla="*/ 2147483646 h 1663"/>
              <a:gd name="T42" fmla="*/ 2147483646 w 2072"/>
              <a:gd name="T43" fmla="*/ 2147483646 h 1663"/>
              <a:gd name="T44" fmla="*/ 2147483646 w 2072"/>
              <a:gd name="T45" fmla="*/ 2147483646 h 1663"/>
              <a:gd name="T46" fmla="*/ 2147483646 w 2072"/>
              <a:gd name="T47" fmla="*/ 2147483646 h 1663"/>
              <a:gd name="T48" fmla="*/ 2147483646 w 2072"/>
              <a:gd name="T49" fmla="*/ 2147483646 h 1663"/>
              <a:gd name="T50" fmla="*/ 2147483646 w 2072"/>
              <a:gd name="T51" fmla="*/ 2147483646 h 1663"/>
              <a:gd name="T52" fmla="*/ 2147483646 w 2072"/>
              <a:gd name="T53" fmla="*/ 2147483646 h 1663"/>
              <a:gd name="T54" fmla="*/ 2147483646 w 2072"/>
              <a:gd name="T55" fmla="*/ 2147483646 h 1663"/>
              <a:gd name="T56" fmla="*/ 2147483646 w 2072"/>
              <a:gd name="T57" fmla="*/ 2147483646 h 1663"/>
              <a:gd name="T58" fmla="*/ 2147483646 w 2072"/>
              <a:gd name="T59" fmla="*/ 2147483646 h 1663"/>
              <a:gd name="T60" fmla="*/ 2147483646 w 2072"/>
              <a:gd name="T61" fmla="*/ 2147483646 h 1663"/>
              <a:gd name="T62" fmla="*/ 2147483646 w 2072"/>
              <a:gd name="T63" fmla="*/ 2147483646 h 1663"/>
              <a:gd name="T64" fmla="*/ 2147483646 w 2072"/>
              <a:gd name="T65" fmla="*/ 2147483646 h 1663"/>
              <a:gd name="T66" fmla="*/ 2147483646 w 2072"/>
              <a:gd name="T67" fmla="*/ 2147483646 h 1663"/>
              <a:gd name="T68" fmla="*/ 2147483646 w 2072"/>
              <a:gd name="T69" fmla="*/ 2147483646 h 1663"/>
              <a:gd name="T70" fmla="*/ 2147483646 w 2072"/>
              <a:gd name="T71" fmla="*/ 2147483646 h 1663"/>
              <a:gd name="T72" fmla="*/ 2147483646 w 2072"/>
              <a:gd name="T73" fmla="*/ 2147483646 h 1663"/>
              <a:gd name="T74" fmla="*/ 2147483646 w 2072"/>
              <a:gd name="T75" fmla="*/ 2147483646 h 1663"/>
              <a:gd name="T76" fmla="*/ 2147483646 w 2072"/>
              <a:gd name="T77" fmla="*/ 2147483646 h 1663"/>
              <a:gd name="T78" fmla="*/ 2147483646 w 2072"/>
              <a:gd name="T79" fmla="*/ 2147483646 h 1663"/>
              <a:gd name="T80" fmla="*/ 2147483646 w 2072"/>
              <a:gd name="T81" fmla="*/ 2147483646 h 1663"/>
              <a:gd name="T82" fmla="*/ 2147483646 w 2072"/>
              <a:gd name="T83" fmla="*/ 2147483646 h 1663"/>
              <a:gd name="T84" fmla="*/ 2147483646 w 2072"/>
              <a:gd name="T85" fmla="*/ 2147483646 h 1663"/>
              <a:gd name="T86" fmla="*/ 2147483646 w 2072"/>
              <a:gd name="T87" fmla="*/ 2147483646 h 1663"/>
              <a:gd name="T88" fmla="*/ 2147483646 w 2072"/>
              <a:gd name="T89" fmla="*/ 2147483646 h 1663"/>
              <a:gd name="T90" fmla="*/ 2147483646 w 2072"/>
              <a:gd name="T91" fmla="*/ 2147483646 h 1663"/>
              <a:gd name="T92" fmla="*/ 2147483646 w 2072"/>
              <a:gd name="T93" fmla="*/ 2147483646 h 1663"/>
              <a:gd name="T94" fmla="*/ 2147483646 w 2072"/>
              <a:gd name="T95" fmla="*/ 2147483646 h 1663"/>
              <a:gd name="T96" fmla="*/ 2147483646 w 2072"/>
              <a:gd name="T97" fmla="*/ 0 h 1663"/>
              <a:gd name="T98" fmla="*/ 0 w 2072"/>
              <a:gd name="T99" fmla="*/ 2147483646 h 1663"/>
              <a:gd name="T100" fmla="*/ 2147483646 w 2072"/>
              <a:gd name="T101" fmla="*/ 2147483646 h 16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72"/>
              <a:gd name="T154" fmla="*/ 0 h 1663"/>
              <a:gd name="T155" fmla="*/ 2072 w 2072"/>
              <a:gd name="T156" fmla="*/ 1663 h 16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72" h="1663">
                <a:moveTo>
                  <a:pt x="179" y="363"/>
                </a:moveTo>
                <a:lnTo>
                  <a:pt x="179" y="957"/>
                </a:lnTo>
                <a:lnTo>
                  <a:pt x="180" y="1016"/>
                </a:lnTo>
                <a:lnTo>
                  <a:pt x="188" y="1072"/>
                </a:lnTo>
                <a:lnTo>
                  <a:pt x="200" y="1130"/>
                </a:lnTo>
                <a:lnTo>
                  <a:pt x="217" y="1186"/>
                </a:lnTo>
                <a:lnTo>
                  <a:pt x="239" y="1241"/>
                </a:lnTo>
                <a:lnTo>
                  <a:pt x="265" y="1294"/>
                </a:lnTo>
                <a:lnTo>
                  <a:pt x="296" y="1345"/>
                </a:lnTo>
                <a:lnTo>
                  <a:pt x="333" y="1392"/>
                </a:lnTo>
                <a:lnTo>
                  <a:pt x="372" y="1439"/>
                </a:lnTo>
                <a:lnTo>
                  <a:pt x="416" y="1482"/>
                </a:lnTo>
                <a:lnTo>
                  <a:pt x="464" y="1521"/>
                </a:lnTo>
                <a:lnTo>
                  <a:pt x="509" y="1553"/>
                </a:lnTo>
                <a:lnTo>
                  <a:pt x="552" y="1579"/>
                </a:lnTo>
                <a:lnTo>
                  <a:pt x="589" y="1597"/>
                </a:lnTo>
                <a:lnTo>
                  <a:pt x="618" y="1609"/>
                </a:lnTo>
                <a:lnTo>
                  <a:pt x="657" y="1624"/>
                </a:lnTo>
                <a:lnTo>
                  <a:pt x="691" y="1632"/>
                </a:lnTo>
                <a:lnTo>
                  <a:pt x="730" y="1642"/>
                </a:lnTo>
                <a:lnTo>
                  <a:pt x="772" y="1650"/>
                </a:lnTo>
                <a:lnTo>
                  <a:pt x="813" y="1655"/>
                </a:lnTo>
                <a:lnTo>
                  <a:pt x="852" y="1658"/>
                </a:lnTo>
                <a:lnTo>
                  <a:pt x="893" y="1661"/>
                </a:lnTo>
                <a:lnTo>
                  <a:pt x="935" y="1660"/>
                </a:lnTo>
                <a:lnTo>
                  <a:pt x="980" y="1662"/>
                </a:lnTo>
                <a:lnTo>
                  <a:pt x="1023" y="1662"/>
                </a:lnTo>
                <a:lnTo>
                  <a:pt x="2071" y="1662"/>
                </a:lnTo>
                <a:lnTo>
                  <a:pt x="1704" y="1306"/>
                </a:lnTo>
                <a:lnTo>
                  <a:pt x="1008" y="1306"/>
                </a:lnTo>
                <a:lnTo>
                  <a:pt x="966" y="1306"/>
                </a:lnTo>
                <a:lnTo>
                  <a:pt x="935" y="1302"/>
                </a:lnTo>
                <a:lnTo>
                  <a:pt x="891" y="1294"/>
                </a:lnTo>
                <a:lnTo>
                  <a:pt x="849" y="1282"/>
                </a:lnTo>
                <a:lnTo>
                  <a:pt x="808" y="1265"/>
                </a:lnTo>
                <a:lnTo>
                  <a:pt x="770" y="1244"/>
                </a:lnTo>
                <a:lnTo>
                  <a:pt x="734" y="1220"/>
                </a:lnTo>
                <a:lnTo>
                  <a:pt x="704" y="1192"/>
                </a:lnTo>
                <a:lnTo>
                  <a:pt x="674" y="1161"/>
                </a:lnTo>
                <a:lnTo>
                  <a:pt x="652" y="1128"/>
                </a:lnTo>
                <a:lnTo>
                  <a:pt x="638" y="1105"/>
                </a:lnTo>
                <a:lnTo>
                  <a:pt x="626" y="1077"/>
                </a:lnTo>
                <a:lnTo>
                  <a:pt x="615" y="1045"/>
                </a:lnTo>
                <a:lnTo>
                  <a:pt x="609" y="1014"/>
                </a:lnTo>
                <a:lnTo>
                  <a:pt x="605" y="974"/>
                </a:lnTo>
                <a:lnTo>
                  <a:pt x="602" y="936"/>
                </a:lnTo>
                <a:lnTo>
                  <a:pt x="602" y="363"/>
                </a:lnTo>
                <a:lnTo>
                  <a:pt x="793" y="363"/>
                </a:lnTo>
                <a:lnTo>
                  <a:pt x="404" y="0"/>
                </a:lnTo>
                <a:lnTo>
                  <a:pt x="0" y="363"/>
                </a:lnTo>
                <a:lnTo>
                  <a:pt x="179" y="363"/>
                </a:lnTo>
              </a:path>
            </a:pathLst>
          </a:custGeom>
          <a:solidFill>
            <a:schemeClr val="accent1"/>
          </a:solidFill>
          <a:ln w="6350" cap="rnd">
            <a:solidFill>
              <a:schemeClr val="folHlink"/>
            </a:solidFill>
            <a:round/>
            <a:headEnd/>
            <a:tailEnd/>
          </a:ln>
        </p:spPr>
        <p:txBody>
          <a:bodyPr/>
          <a:lstStyle/>
          <a:p>
            <a:endParaRPr lang="en-US"/>
          </a:p>
        </p:txBody>
      </p:sp>
      <p:sp>
        <p:nvSpPr>
          <p:cNvPr id="5" name="Text Box 5">
            <a:extLst>
              <a:ext uri="{FF2B5EF4-FFF2-40B4-BE49-F238E27FC236}">
                <a16:creationId xmlns:a16="http://schemas.microsoft.com/office/drawing/2014/main" id="{619C82F1-E0BB-2D02-83A1-941A486B95FD}"/>
              </a:ext>
            </a:extLst>
          </p:cNvPr>
          <p:cNvSpPr txBox="1">
            <a:spLocks noChangeArrowheads="1"/>
          </p:cNvSpPr>
          <p:nvPr/>
        </p:nvSpPr>
        <p:spPr bwMode="auto">
          <a:xfrm>
            <a:off x="3183819" y="5683171"/>
            <a:ext cx="2912181" cy="330200"/>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dirty="0"/>
              <a:t>Receipt by Customer</a:t>
            </a:r>
          </a:p>
        </p:txBody>
      </p:sp>
      <p:sp>
        <p:nvSpPr>
          <p:cNvPr id="6" name="Text Box 6">
            <a:extLst>
              <a:ext uri="{FF2B5EF4-FFF2-40B4-BE49-F238E27FC236}">
                <a16:creationId xmlns:a16="http://schemas.microsoft.com/office/drawing/2014/main" id="{CEECCD34-67D6-5BDE-C5D9-E05BAA4ADD12}"/>
              </a:ext>
            </a:extLst>
          </p:cNvPr>
          <p:cNvSpPr txBox="1">
            <a:spLocks noChangeArrowheads="1"/>
          </p:cNvSpPr>
          <p:nvPr/>
        </p:nvSpPr>
        <p:spPr bwMode="auto">
          <a:xfrm>
            <a:off x="4406901" y="2190750"/>
            <a:ext cx="2634684" cy="450550"/>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dirty="0">
                <a:solidFill>
                  <a:schemeClr val="tx1"/>
                </a:solidFill>
                <a:effectLst>
                  <a:outerShdw blurRad="38100" dist="38100" dir="2700000" algn="tl">
                    <a:srgbClr val="C0C0C0"/>
                  </a:outerShdw>
                </a:effectLst>
              </a:rPr>
              <a:t>Inception Point</a:t>
            </a:r>
          </a:p>
        </p:txBody>
      </p:sp>
      <p:sp>
        <p:nvSpPr>
          <p:cNvPr id="7" name="Text Box 7">
            <a:extLst>
              <a:ext uri="{FF2B5EF4-FFF2-40B4-BE49-F238E27FC236}">
                <a16:creationId xmlns:a16="http://schemas.microsoft.com/office/drawing/2014/main" id="{A279F657-91E8-7D45-5912-8B5B8592E874}"/>
              </a:ext>
            </a:extLst>
          </p:cNvPr>
          <p:cNvSpPr txBox="1">
            <a:spLocks noChangeArrowheads="1"/>
          </p:cNvSpPr>
          <p:nvPr/>
        </p:nvSpPr>
        <p:spPr bwMode="auto">
          <a:xfrm>
            <a:off x="3308591" y="3431871"/>
            <a:ext cx="422652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2400" dirty="0"/>
              <a:t>Typically the boundaries span the processes over which the team can influence</a:t>
            </a:r>
          </a:p>
        </p:txBody>
      </p:sp>
      <p:grpSp>
        <p:nvGrpSpPr>
          <p:cNvPr id="8" name="Group 7">
            <a:extLst>
              <a:ext uri="{FF2B5EF4-FFF2-40B4-BE49-F238E27FC236}">
                <a16:creationId xmlns:a16="http://schemas.microsoft.com/office/drawing/2014/main" id="{FA8E1A00-AF96-7ACE-B485-9D4EB44D118B}"/>
              </a:ext>
            </a:extLst>
          </p:cNvPr>
          <p:cNvGrpSpPr/>
          <p:nvPr/>
        </p:nvGrpSpPr>
        <p:grpSpPr>
          <a:xfrm>
            <a:off x="940249" y="302538"/>
            <a:ext cx="6219503" cy="311932"/>
            <a:chOff x="940249" y="302538"/>
            <a:chExt cx="6219503" cy="311932"/>
          </a:xfrm>
        </p:grpSpPr>
        <p:sp>
          <p:nvSpPr>
            <p:cNvPr id="9" name="TextBox 8">
              <a:extLst>
                <a:ext uri="{FF2B5EF4-FFF2-40B4-BE49-F238E27FC236}">
                  <a16:creationId xmlns:a16="http://schemas.microsoft.com/office/drawing/2014/main" id="{C9AD156A-6363-0E70-F6AA-F14AFE4A421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0" name="AutoShape 9">
              <a:extLst>
                <a:ext uri="{FF2B5EF4-FFF2-40B4-BE49-F238E27FC236}">
                  <a16:creationId xmlns:a16="http://schemas.microsoft.com/office/drawing/2014/main" id="{D14F8EC4-9178-C55D-FA00-0EE1B09DF259}"/>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9">
              <a:extLst>
                <a:ext uri="{FF2B5EF4-FFF2-40B4-BE49-F238E27FC236}">
                  <a16:creationId xmlns:a16="http://schemas.microsoft.com/office/drawing/2014/main" id="{2186B167-773E-549C-C7D5-8F0A5462F0B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9">
              <a:extLst>
                <a:ext uri="{FF2B5EF4-FFF2-40B4-BE49-F238E27FC236}">
                  <a16:creationId xmlns:a16="http://schemas.microsoft.com/office/drawing/2014/main" id="{35AB28A8-44A1-73BF-08C6-39E2411B36B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9">
              <a:extLst>
                <a:ext uri="{FF2B5EF4-FFF2-40B4-BE49-F238E27FC236}">
                  <a16:creationId xmlns:a16="http://schemas.microsoft.com/office/drawing/2014/main" id="{FB9F32C1-8F40-9F59-7BEC-167B85129596}"/>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11">
              <a:extLst>
                <a:ext uri="{FF2B5EF4-FFF2-40B4-BE49-F238E27FC236}">
                  <a16:creationId xmlns:a16="http://schemas.microsoft.com/office/drawing/2014/main" id="{EBB7BE27-C525-2DBA-ACA7-8B152C69E526}"/>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5" name="Slide Number Placeholder 2">
            <a:extLst>
              <a:ext uri="{FF2B5EF4-FFF2-40B4-BE49-F238E27FC236}">
                <a16:creationId xmlns:a16="http://schemas.microsoft.com/office/drawing/2014/main" id="{055F4FA3-A965-D4D4-7F0B-0243030DA0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18</a:t>
            </a:fld>
            <a:endParaRPr lang="en-US" dirty="0"/>
          </a:p>
        </p:txBody>
      </p:sp>
    </p:spTree>
    <p:extLst>
      <p:ext uri="{BB962C8B-B14F-4D97-AF65-F5344CB8AC3E}">
        <p14:creationId xmlns:p14="http://schemas.microsoft.com/office/powerpoint/2010/main" val="197585287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7ACFDB-21EA-5B10-DFBC-4F7B6D084FA7}"/>
              </a:ext>
            </a:extLst>
          </p:cNvPr>
          <p:cNvSpPr>
            <a:spLocks noGrp="1"/>
          </p:cNvSpPr>
          <p:nvPr>
            <p:ph type="title"/>
          </p:nvPr>
        </p:nvSpPr>
        <p:spPr/>
        <p:txBody>
          <a:bodyPr/>
          <a:lstStyle/>
          <a:p>
            <a:r>
              <a:rPr lang="en-US" dirty="0"/>
              <a:t>VSM Boundary Examples</a:t>
            </a:r>
          </a:p>
        </p:txBody>
      </p:sp>
      <p:graphicFrame>
        <p:nvGraphicFramePr>
          <p:cNvPr id="3" name="Group 38">
            <a:extLst>
              <a:ext uri="{FF2B5EF4-FFF2-40B4-BE49-F238E27FC236}">
                <a16:creationId xmlns:a16="http://schemas.microsoft.com/office/drawing/2014/main" id="{F5D4D69E-DFEA-3E90-51B4-A3831E1EFD48}"/>
              </a:ext>
            </a:extLst>
          </p:cNvPr>
          <p:cNvGraphicFramePr>
            <a:graphicFrameLocks noGrp="1"/>
          </p:cNvGraphicFramePr>
          <p:nvPr>
            <p:extLst>
              <p:ext uri="{D42A27DB-BD31-4B8C-83A1-F6EECF244321}">
                <p14:modId xmlns:p14="http://schemas.microsoft.com/office/powerpoint/2010/main" val="547524531"/>
              </p:ext>
            </p:extLst>
          </p:nvPr>
        </p:nvGraphicFramePr>
        <p:xfrm>
          <a:off x="838200" y="2280212"/>
          <a:ext cx="10515601" cy="3727047"/>
        </p:xfrm>
        <a:graphic>
          <a:graphicData uri="http://schemas.openxmlformats.org/drawingml/2006/table">
            <a:tbl>
              <a:tblPr/>
              <a:tblGrid>
                <a:gridCol w="3833093">
                  <a:extLst>
                    <a:ext uri="{9D8B030D-6E8A-4147-A177-3AD203B41FA5}">
                      <a16:colId xmlns:a16="http://schemas.microsoft.com/office/drawing/2014/main" val="20000"/>
                    </a:ext>
                  </a:extLst>
                </a:gridCol>
                <a:gridCol w="3286380">
                  <a:extLst>
                    <a:ext uri="{9D8B030D-6E8A-4147-A177-3AD203B41FA5}">
                      <a16:colId xmlns:a16="http://schemas.microsoft.com/office/drawing/2014/main" val="20001"/>
                    </a:ext>
                  </a:extLst>
                </a:gridCol>
                <a:gridCol w="3396128">
                  <a:extLst>
                    <a:ext uri="{9D8B030D-6E8A-4147-A177-3AD203B41FA5}">
                      <a16:colId xmlns:a16="http://schemas.microsoft.com/office/drawing/2014/main" val="20002"/>
                    </a:ext>
                  </a:extLst>
                </a:gridCol>
              </a:tblGrid>
              <a:tr h="88088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VALUE OBJECT</a:t>
                      </a:r>
                    </a:p>
                  </a:txBody>
                  <a:tcPr anchor="ctr" anchorCtr="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Starting Point</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Ending Point</a:t>
                      </a: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4"/>
                    </a:solidFill>
                  </a:tcPr>
                </a:tc>
                <a:extLst>
                  <a:ext uri="{0D108BD9-81ED-4DB2-BD59-A6C34878D82A}">
                    <a16:rowId xmlns:a16="http://schemas.microsoft.com/office/drawing/2014/main" val="10000"/>
                  </a:ext>
                </a:extLst>
              </a:tr>
              <a:tr h="94699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Credit Card Application</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94958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Request for Proposal </a:t>
                      </a: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sym typeface="Wingdings" panose="05000000000000000000" pitchFamily="2" charset="2"/>
                        </a:rPr>
                        <a:t> Quote Document</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94958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Engineering Change Request </a:t>
                      </a: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sym typeface="Wingdings" panose="05000000000000000000" pitchFamily="2" charset="2"/>
                        </a:rPr>
                        <a:t> Engineering Change Order</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accent3"/>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bl>
          </a:graphicData>
        </a:graphic>
      </p:graphicFrame>
      <p:grpSp>
        <p:nvGrpSpPr>
          <p:cNvPr id="11" name="Group 10">
            <a:extLst>
              <a:ext uri="{FF2B5EF4-FFF2-40B4-BE49-F238E27FC236}">
                <a16:creationId xmlns:a16="http://schemas.microsoft.com/office/drawing/2014/main" id="{B8ECC1E3-239E-F6DD-1F4E-A8FF3D47F415}"/>
              </a:ext>
            </a:extLst>
          </p:cNvPr>
          <p:cNvGrpSpPr/>
          <p:nvPr/>
        </p:nvGrpSpPr>
        <p:grpSpPr>
          <a:xfrm>
            <a:off x="940249" y="302538"/>
            <a:ext cx="6219503" cy="311932"/>
            <a:chOff x="940249" y="302538"/>
            <a:chExt cx="6219503" cy="311932"/>
          </a:xfrm>
        </p:grpSpPr>
        <p:sp>
          <p:nvSpPr>
            <p:cNvPr id="12" name="TextBox 11">
              <a:extLst>
                <a:ext uri="{FF2B5EF4-FFF2-40B4-BE49-F238E27FC236}">
                  <a16:creationId xmlns:a16="http://schemas.microsoft.com/office/drawing/2014/main" id="{7E87BB1E-2B41-175E-93B0-3261255F63B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3" name="AutoShape 9">
              <a:extLst>
                <a:ext uri="{FF2B5EF4-FFF2-40B4-BE49-F238E27FC236}">
                  <a16:creationId xmlns:a16="http://schemas.microsoft.com/office/drawing/2014/main" id="{F6FBC4CF-70C2-2C9D-D2A9-A1247ECC143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3C5C33F9-C08D-EADC-8D15-85FA51F01C4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9D75B088-F0EC-12EB-BB3A-E4A9C7F364C7}"/>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13E331B6-30E5-F1DB-DB65-E166A187CBB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11">
              <a:extLst>
                <a:ext uri="{FF2B5EF4-FFF2-40B4-BE49-F238E27FC236}">
                  <a16:creationId xmlns:a16="http://schemas.microsoft.com/office/drawing/2014/main" id="{F879314B-7F00-EE95-CEBF-14FAC45828DC}"/>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8" name="Slide Number Placeholder 2">
            <a:extLst>
              <a:ext uri="{FF2B5EF4-FFF2-40B4-BE49-F238E27FC236}">
                <a16:creationId xmlns:a16="http://schemas.microsoft.com/office/drawing/2014/main" id="{A4BE8D21-E76F-199E-C5F9-B4FD3D11378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19</a:t>
            </a:fld>
            <a:endParaRPr lang="en-US" dirty="0"/>
          </a:p>
        </p:txBody>
      </p:sp>
    </p:spTree>
    <p:extLst>
      <p:ext uri="{BB962C8B-B14F-4D97-AF65-F5344CB8AC3E}">
        <p14:creationId xmlns:p14="http://schemas.microsoft.com/office/powerpoint/2010/main" val="25726340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7ACFDB-21EA-5B10-DFBC-4F7B6D084FA7}"/>
              </a:ext>
            </a:extLst>
          </p:cNvPr>
          <p:cNvSpPr>
            <a:spLocks noGrp="1"/>
          </p:cNvSpPr>
          <p:nvPr>
            <p:ph type="title"/>
          </p:nvPr>
        </p:nvSpPr>
        <p:spPr/>
        <p:txBody>
          <a:bodyPr/>
          <a:lstStyle/>
          <a:p>
            <a:r>
              <a:rPr lang="en-US" dirty="0"/>
              <a:t>Identify “Who is the Customer”</a:t>
            </a:r>
          </a:p>
        </p:txBody>
      </p:sp>
      <p:sp>
        <p:nvSpPr>
          <p:cNvPr id="4" name="Content Placeholder 3">
            <a:extLst>
              <a:ext uri="{FF2B5EF4-FFF2-40B4-BE49-F238E27FC236}">
                <a16:creationId xmlns:a16="http://schemas.microsoft.com/office/drawing/2014/main" id="{ABD77A3E-72EF-D221-76B7-62F97E8307FE}"/>
              </a:ext>
            </a:extLst>
          </p:cNvPr>
          <p:cNvSpPr>
            <a:spLocks noGrp="1"/>
          </p:cNvSpPr>
          <p:nvPr>
            <p:ph idx="1"/>
          </p:nvPr>
        </p:nvSpPr>
        <p:spPr/>
        <p:txBody>
          <a:bodyPr>
            <a:normAutofit/>
          </a:bodyPr>
          <a:lstStyle/>
          <a:p>
            <a:r>
              <a:rPr lang="en-US" dirty="0"/>
              <a:t>When mapping transactional processes there are many times that the end customer is not the actual “purchaser” of the final product or service</a:t>
            </a:r>
          </a:p>
          <a:p>
            <a:r>
              <a:rPr lang="en-US" dirty="0"/>
              <a:t>The customer would be defined in this case as the individual, function, team, or organization “receiving or getting the benefit from” the output of the process to be mapped</a:t>
            </a:r>
          </a:p>
          <a:p>
            <a:r>
              <a:rPr lang="en-US" dirty="0"/>
              <a:t>It is important to know who our customer is so that we can identify what they consider to be value-added activity in this process</a:t>
            </a:r>
          </a:p>
          <a:p>
            <a:endParaRPr lang="en-US" dirty="0"/>
          </a:p>
          <a:p>
            <a:endParaRPr lang="en-US" dirty="0"/>
          </a:p>
        </p:txBody>
      </p:sp>
      <p:grpSp>
        <p:nvGrpSpPr>
          <p:cNvPr id="11" name="Group 10">
            <a:extLst>
              <a:ext uri="{FF2B5EF4-FFF2-40B4-BE49-F238E27FC236}">
                <a16:creationId xmlns:a16="http://schemas.microsoft.com/office/drawing/2014/main" id="{524EB8A4-5BB9-7460-0679-D6AA42F35182}"/>
              </a:ext>
            </a:extLst>
          </p:cNvPr>
          <p:cNvGrpSpPr/>
          <p:nvPr/>
        </p:nvGrpSpPr>
        <p:grpSpPr>
          <a:xfrm>
            <a:off x="940249" y="302538"/>
            <a:ext cx="6219503" cy="311932"/>
            <a:chOff x="940249" y="302538"/>
            <a:chExt cx="6219503" cy="311932"/>
          </a:xfrm>
        </p:grpSpPr>
        <p:sp>
          <p:nvSpPr>
            <p:cNvPr id="12" name="TextBox 11">
              <a:extLst>
                <a:ext uri="{FF2B5EF4-FFF2-40B4-BE49-F238E27FC236}">
                  <a16:creationId xmlns:a16="http://schemas.microsoft.com/office/drawing/2014/main" id="{3E92A62B-08E5-8242-9907-DA9341BF1FC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3" name="AutoShape 9">
              <a:extLst>
                <a:ext uri="{FF2B5EF4-FFF2-40B4-BE49-F238E27FC236}">
                  <a16:creationId xmlns:a16="http://schemas.microsoft.com/office/drawing/2014/main" id="{2C3720AE-4B6C-282A-FF98-F709C9E85C1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AE8ACAB3-C8CF-A3EC-BAED-C13B1714C9C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B0740D5D-7F58-D85A-4CCD-CD0B232A12D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176E1794-C51A-409D-B322-B4CAF193F472}"/>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11">
              <a:extLst>
                <a:ext uri="{FF2B5EF4-FFF2-40B4-BE49-F238E27FC236}">
                  <a16:creationId xmlns:a16="http://schemas.microsoft.com/office/drawing/2014/main" id="{A1B3060F-7DC4-D740-A732-0D1F1637510F}"/>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8" name="Slide Number Placeholder 2">
            <a:extLst>
              <a:ext uri="{FF2B5EF4-FFF2-40B4-BE49-F238E27FC236}">
                <a16:creationId xmlns:a16="http://schemas.microsoft.com/office/drawing/2014/main" id="{DF498109-AB3B-A3E0-A9B5-16051280B0E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20</a:t>
            </a:fld>
            <a:endParaRPr lang="en-US" dirty="0"/>
          </a:p>
        </p:txBody>
      </p:sp>
    </p:spTree>
    <p:extLst>
      <p:ext uri="{BB962C8B-B14F-4D97-AF65-F5344CB8AC3E}">
        <p14:creationId xmlns:p14="http://schemas.microsoft.com/office/powerpoint/2010/main" val="104878426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7ACFDB-21EA-5B10-DFBC-4F7B6D084FA7}"/>
              </a:ext>
            </a:extLst>
          </p:cNvPr>
          <p:cNvSpPr>
            <a:spLocks noGrp="1"/>
          </p:cNvSpPr>
          <p:nvPr>
            <p:ph type="title"/>
          </p:nvPr>
        </p:nvSpPr>
        <p:spPr/>
        <p:txBody>
          <a:bodyPr/>
          <a:lstStyle/>
          <a:p>
            <a:r>
              <a:rPr lang="en-US" dirty="0"/>
              <a:t>Completing Customer Analysis</a:t>
            </a:r>
          </a:p>
        </p:txBody>
      </p:sp>
      <p:graphicFrame>
        <p:nvGraphicFramePr>
          <p:cNvPr id="12" name="Group 81">
            <a:extLst>
              <a:ext uri="{FF2B5EF4-FFF2-40B4-BE49-F238E27FC236}">
                <a16:creationId xmlns:a16="http://schemas.microsoft.com/office/drawing/2014/main" id="{1C483BCA-1582-B7FD-3438-C617583510E0}"/>
              </a:ext>
            </a:extLst>
          </p:cNvPr>
          <p:cNvGraphicFramePr>
            <a:graphicFrameLocks noGrp="1"/>
          </p:cNvGraphicFramePr>
          <p:nvPr>
            <p:extLst>
              <p:ext uri="{D42A27DB-BD31-4B8C-83A1-F6EECF244321}">
                <p14:modId xmlns:p14="http://schemas.microsoft.com/office/powerpoint/2010/main" val="4291941672"/>
              </p:ext>
            </p:extLst>
          </p:nvPr>
        </p:nvGraphicFramePr>
        <p:xfrm>
          <a:off x="940248" y="1841587"/>
          <a:ext cx="10005120" cy="4263435"/>
        </p:xfrm>
        <a:graphic>
          <a:graphicData uri="http://schemas.openxmlformats.org/drawingml/2006/table">
            <a:tbl>
              <a:tblPr/>
              <a:tblGrid>
                <a:gridCol w="2874591">
                  <a:extLst>
                    <a:ext uri="{9D8B030D-6E8A-4147-A177-3AD203B41FA5}">
                      <a16:colId xmlns:a16="http://schemas.microsoft.com/office/drawing/2014/main" val="20000"/>
                    </a:ext>
                  </a:extLst>
                </a:gridCol>
                <a:gridCol w="3225716">
                  <a:extLst>
                    <a:ext uri="{9D8B030D-6E8A-4147-A177-3AD203B41FA5}">
                      <a16:colId xmlns:a16="http://schemas.microsoft.com/office/drawing/2014/main" val="20001"/>
                    </a:ext>
                  </a:extLst>
                </a:gridCol>
                <a:gridCol w="2623788">
                  <a:extLst>
                    <a:ext uri="{9D8B030D-6E8A-4147-A177-3AD203B41FA5}">
                      <a16:colId xmlns:a16="http://schemas.microsoft.com/office/drawing/2014/main" val="20002"/>
                    </a:ext>
                  </a:extLst>
                </a:gridCol>
                <a:gridCol w="1281025">
                  <a:extLst>
                    <a:ext uri="{9D8B030D-6E8A-4147-A177-3AD203B41FA5}">
                      <a16:colId xmlns:a16="http://schemas.microsoft.com/office/drawing/2014/main" val="20003"/>
                    </a:ext>
                  </a:extLst>
                </a:gridCol>
              </a:tblGrid>
              <a:tr h="7987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Customer/</a:t>
                      </a:r>
                      <a:b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br>
                      <a: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Stakeholder</a:t>
                      </a: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Reason they are a customer/stakeholder</a:t>
                      </a: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What they value from the process</a:t>
                      </a: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 Primary Customer </a:t>
                      </a:r>
                      <a:r>
                        <a:rPr kumimoji="0" lang="ja-JP"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a:t>
                      </a:r>
                      <a:r>
                        <a:rPr kumimoji="0" lang="en-US" altLang="ja-JP"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X</a:t>
                      </a:r>
                      <a:r>
                        <a:rPr kumimoji="0" lang="ja-JP"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rPr>
                        <a:t>”</a:t>
                      </a:r>
                      <a:endPar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EE3228"/>
                    </a:solidFill>
                  </a:tcPr>
                </a:tc>
                <a:extLst>
                  <a:ext uri="{0D108BD9-81ED-4DB2-BD59-A6C34878D82A}">
                    <a16:rowId xmlns:a16="http://schemas.microsoft.com/office/drawing/2014/main" val="10000"/>
                  </a:ext>
                </a:extLst>
              </a:tr>
              <a:tr h="57513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767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767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767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767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767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marT="45721" marB="45721"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21" marB="4572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bl>
          </a:graphicData>
        </a:graphic>
      </p:graphicFrame>
      <p:grpSp>
        <p:nvGrpSpPr>
          <p:cNvPr id="13" name="Group 12">
            <a:extLst>
              <a:ext uri="{FF2B5EF4-FFF2-40B4-BE49-F238E27FC236}">
                <a16:creationId xmlns:a16="http://schemas.microsoft.com/office/drawing/2014/main" id="{7F1E6AB7-3A45-083E-7C36-CD7DB30759E1}"/>
              </a:ext>
            </a:extLst>
          </p:cNvPr>
          <p:cNvGrpSpPr/>
          <p:nvPr/>
        </p:nvGrpSpPr>
        <p:grpSpPr>
          <a:xfrm>
            <a:off x="940249" y="302538"/>
            <a:ext cx="6219503" cy="311932"/>
            <a:chOff x="940249" y="302538"/>
            <a:chExt cx="6219503" cy="311932"/>
          </a:xfrm>
        </p:grpSpPr>
        <p:sp>
          <p:nvSpPr>
            <p:cNvPr id="14" name="TextBox 13">
              <a:extLst>
                <a:ext uri="{FF2B5EF4-FFF2-40B4-BE49-F238E27FC236}">
                  <a16:creationId xmlns:a16="http://schemas.microsoft.com/office/drawing/2014/main" id="{6366E7FE-E42C-171F-C889-0CA58C8DE88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15" name="AutoShape 9">
              <a:extLst>
                <a:ext uri="{FF2B5EF4-FFF2-40B4-BE49-F238E27FC236}">
                  <a16:creationId xmlns:a16="http://schemas.microsoft.com/office/drawing/2014/main" id="{F25D303D-222B-22A0-EE80-CC4EB457FFB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02E052B5-1ECA-96D3-C712-D94949CD9B1C}"/>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9">
              <a:extLst>
                <a:ext uri="{FF2B5EF4-FFF2-40B4-BE49-F238E27FC236}">
                  <a16:creationId xmlns:a16="http://schemas.microsoft.com/office/drawing/2014/main" id="{E6C1200D-EA6E-1EC0-01ED-FFA7D0CBB92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9">
              <a:extLst>
                <a:ext uri="{FF2B5EF4-FFF2-40B4-BE49-F238E27FC236}">
                  <a16:creationId xmlns:a16="http://schemas.microsoft.com/office/drawing/2014/main" id="{68EE3D15-AB6F-CD28-D8EA-C2F14B3D148C}"/>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D5FCF5EB-7DB4-A3EF-61A6-85EA9D6FC8A9}"/>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0" name="Slide Number Placeholder 2">
            <a:extLst>
              <a:ext uri="{FF2B5EF4-FFF2-40B4-BE49-F238E27FC236}">
                <a16:creationId xmlns:a16="http://schemas.microsoft.com/office/drawing/2014/main" id="{D987EB8E-4C35-246A-9AA2-D8ECC69079A8}"/>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21</a:t>
            </a:fld>
            <a:endParaRPr lang="en-US" dirty="0"/>
          </a:p>
        </p:txBody>
      </p:sp>
    </p:spTree>
    <p:extLst>
      <p:ext uri="{BB962C8B-B14F-4D97-AF65-F5344CB8AC3E}">
        <p14:creationId xmlns:p14="http://schemas.microsoft.com/office/powerpoint/2010/main" val="378523245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rmAutofit fontScale="90000"/>
          </a:bodyPr>
          <a:lstStyle/>
          <a:p>
            <a:r>
              <a:rPr lang="en-US" dirty="0"/>
              <a:t>Complete Customer/Stakeholder Analysis</a:t>
            </a:r>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5" y="2217738"/>
            <a:ext cx="8212138"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30000"/>
              </a:spcBef>
              <a:spcAft>
                <a:spcPct val="0"/>
              </a:spcAft>
              <a:buClrTx/>
              <a:buSzTx/>
              <a:buFontTx/>
              <a:buNone/>
            </a:pPr>
            <a:r>
              <a:rPr lang="en-US" altLang="en-US" sz="1800" dirty="0">
                <a:solidFill>
                  <a:schemeClr val="bg1"/>
                </a:solidFill>
              </a:rPr>
              <a:t>Complete customer/stakeholder analysis of the process to be mapped.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22</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600" dirty="0">
                <a:solidFill>
                  <a:schemeClr val="bg1"/>
                </a:solidFill>
              </a:rPr>
              <a:t>Completed listing. </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30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62324"/>
            <a:ext cx="5211762" cy="2863850"/>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As a team, use the chart on the previous slide to</a:t>
            </a:r>
            <a:br>
              <a:rPr lang="en-US" altLang="en-US" sz="1600" dirty="0">
                <a:solidFill>
                  <a:schemeClr val="bg1"/>
                </a:solidFill>
              </a:rPr>
            </a:br>
            <a:r>
              <a:rPr lang="en-US" altLang="en-US" sz="1600" dirty="0">
                <a:solidFill>
                  <a:schemeClr val="bg1"/>
                </a:solidFill>
              </a:rPr>
              <a:t>make a list of :</a:t>
            </a:r>
          </a:p>
          <a:p>
            <a:pPr>
              <a:spcBef>
                <a:spcPct val="20000"/>
              </a:spcBef>
              <a:spcAft>
                <a:spcPct val="20000"/>
              </a:spcAft>
              <a:buClrTx/>
              <a:buSzTx/>
              <a:buFontTx/>
              <a:buAutoNum type="arabicParenBoth"/>
            </a:pPr>
            <a:r>
              <a:rPr lang="en-US" altLang="en-US" sz="1600" dirty="0">
                <a:solidFill>
                  <a:schemeClr val="bg1"/>
                </a:solidFill>
              </a:rPr>
              <a:t>the customers and stakeholders of this process</a:t>
            </a:r>
          </a:p>
          <a:p>
            <a:pPr>
              <a:spcBef>
                <a:spcPct val="20000"/>
              </a:spcBef>
              <a:spcAft>
                <a:spcPct val="20000"/>
              </a:spcAft>
              <a:buClrTx/>
              <a:buSzTx/>
              <a:buFontTx/>
              <a:buAutoNum type="arabicParenBoth"/>
            </a:pPr>
            <a:r>
              <a:rPr lang="en-US" altLang="en-US" sz="1600" dirty="0">
                <a:solidFill>
                  <a:schemeClr val="bg1"/>
                </a:solidFill>
              </a:rPr>
              <a:t>Why they are a customer or stakeholder</a:t>
            </a:r>
          </a:p>
          <a:p>
            <a:pPr>
              <a:spcBef>
                <a:spcPct val="20000"/>
              </a:spcBef>
              <a:spcAft>
                <a:spcPct val="20000"/>
              </a:spcAft>
              <a:buClrTx/>
              <a:buSzTx/>
              <a:buFontTx/>
              <a:buAutoNum type="arabicParenBoth"/>
            </a:pPr>
            <a:r>
              <a:rPr lang="en-US" altLang="en-US" sz="1600" dirty="0">
                <a:solidFill>
                  <a:schemeClr val="bg1"/>
                </a:solidFill>
              </a:rPr>
              <a:t>What is the value they are looking for</a:t>
            </a:r>
          </a:p>
          <a:p>
            <a:pPr>
              <a:spcBef>
                <a:spcPct val="20000"/>
              </a:spcBef>
              <a:spcAft>
                <a:spcPct val="20000"/>
              </a:spcAft>
              <a:buClrTx/>
              <a:buSzTx/>
              <a:buFontTx/>
              <a:buAutoNum type="arabicParenBoth"/>
            </a:pPr>
            <a:r>
              <a:rPr lang="en-US" altLang="en-US" sz="1600" dirty="0">
                <a:solidFill>
                  <a:schemeClr val="bg1"/>
                </a:solidFill>
              </a:rPr>
              <a:t>Determine who is the primary customer</a:t>
            </a:r>
          </a:p>
          <a:p>
            <a:pPr>
              <a:spcBef>
                <a:spcPct val="20000"/>
              </a:spcBef>
              <a:spcAft>
                <a:spcPct val="20000"/>
              </a:spcAft>
              <a:buClrTx/>
              <a:buSzTx/>
              <a:buFontTx/>
              <a:buNone/>
            </a:pPr>
            <a:r>
              <a:rPr lang="en-US" altLang="en-US" sz="1600" dirty="0">
                <a:solidFill>
                  <a:schemeClr val="bg1"/>
                </a:solidFill>
              </a:rPr>
              <a:t>Put answers on a flip chart</a:t>
            </a:r>
          </a:p>
          <a:p>
            <a:pPr>
              <a:spcBef>
                <a:spcPct val="20000"/>
              </a:spcBef>
              <a:spcAft>
                <a:spcPct val="20000"/>
              </a:spcAft>
              <a:buClrTx/>
              <a:buSzTx/>
              <a:buFontTx/>
              <a:buAutoNum type="arabicParenBoth"/>
            </a:pPr>
            <a:endParaRPr lang="en-US" altLang="en-US" sz="1400" dirty="0">
              <a:solidFill>
                <a:schemeClr val="bg1"/>
              </a:solidFill>
            </a:endParaRP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0F12DE8A-DAD3-A24E-C655-4F080D7009B4}"/>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BA85BF7C-0084-47B0-F68E-F4A3490F68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6" name="AutoShape 9">
              <a:extLst>
                <a:ext uri="{FF2B5EF4-FFF2-40B4-BE49-F238E27FC236}">
                  <a16:creationId xmlns:a16="http://schemas.microsoft.com/office/drawing/2014/main" id="{CF0D51D2-645C-C1C0-96C8-3F916A00174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9E4E1C43-F635-342F-32A7-2D22EF8CEE6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7CC5FE31-C6FB-0A8D-6BD9-C718C42E2DD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B0105CBF-D75F-41BF-F0FE-82B255A2383F}"/>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8F43D188-399E-A150-8AEC-C20DB3A5F486}"/>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95743512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rmAutofit/>
          </a:bodyPr>
          <a:lstStyle/>
          <a:p>
            <a:r>
              <a:rPr lang="en-US" dirty="0"/>
              <a:t>Kaizen Charter Validation</a:t>
            </a:r>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5" y="2217738"/>
            <a:ext cx="8212138"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30000"/>
              </a:spcBef>
              <a:spcAft>
                <a:spcPct val="0"/>
              </a:spcAft>
              <a:buClrTx/>
              <a:buSzTx/>
              <a:buFontTx/>
              <a:buNone/>
            </a:pPr>
            <a:r>
              <a:rPr lang="en-US" altLang="en-US" sz="1800" dirty="0">
                <a:solidFill>
                  <a:schemeClr val="bg1"/>
                </a:solidFill>
              </a:rPr>
              <a:t>Evaluate the Event Charter.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23</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600" dirty="0">
                <a:solidFill>
                  <a:schemeClr val="bg1"/>
                </a:solidFill>
              </a:rPr>
              <a:t>Completed listing. </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30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62324"/>
            <a:ext cx="5211762" cy="2863850"/>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As a team answer on chart paper:</a:t>
            </a:r>
          </a:p>
          <a:p>
            <a:pPr>
              <a:spcBef>
                <a:spcPct val="20000"/>
              </a:spcBef>
              <a:spcAft>
                <a:spcPct val="20000"/>
              </a:spcAft>
              <a:buClrTx/>
              <a:buSzTx/>
            </a:pPr>
            <a:r>
              <a:rPr lang="en-US" altLang="en-US" sz="1400" dirty="0">
                <a:solidFill>
                  <a:schemeClr val="bg1"/>
                </a:solidFill>
              </a:rPr>
              <a:t>Why are we doing this event?</a:t>
            </a:r>
          </a:p>
          <a:p>
            <a:pPr>
              <a:spcBef>
                <a:spcPct val="20000"/>
              </a:spcBef>
              <a:spcAft>
                <a:spcPct val="20000"/>
              </a:spcAft>
              <a:buClrTx/>
              <a:buSzTx/>
            </a:pPr>
            <a:r>
              <a:rPr lang="en-US" altLang="en-US" sz="1400" dirty="0">
                <a:solidFill>
                  <a:schemeClr val="bg1"/>
                </a:solidFill>
              </a:rPr>
              <a:t>Has the product or service family been clearly identified?</a:t>
            </a:r>
          </a:p>
          <a:p>
            <a:pPr>
              <a:spcBef>
                <a:spcPct val="20000"/>
              </a:spcBef>
              <a:spcAft>
                <a:spcPct val="20000"/>
              </a:spcAft>
              <a:buClrTx/>
              <a:buSzTx/>
            </a:pPr>
            <a:r>
              <a:rPr lang="en-US" altLang="en-US" sz="1400" dirty="0">
                <a:solidFill>
                  <a:schemeClr val="bg1"/>
                </a:solidFill>
              </a:rPr>
              <a:t>Have the boundaries been validated?</a:t>
            </a:r>
          </a:p>
          <a:p>
            <a:pPr>
              <a:spcBef>
                <a:spcPct val="20000"/>
              </a:spcBef>
              <a:spcAft>
                <a:spcPct val="20000"/>
              </a:spcAft>
              <a:buClrTx/>
              <a:buSzTx/>
            </a:pPr>
            <a:r>
              <a:rPr lang="en-US" altLang="en-US" sz="1400" dirty="0">
                <a:solidFill>
                  <a:schemeClr val="bg1"/>
                </a:solidFill>
              </a:rPr>
              <a:t>What are the sources of information that support</a:t>
            </a:r>
            <a:br>
              <a:rPr lang="en-US" altLang="en-US" sz="1400" dirty="0">
                <a:solidFill>
                  <a:schemeClr val="bg1"/>
                </a:solidFill>
              </a:rPr>
            </a:br>
            <a:r>
              <a:rPr lang="en-US" altLang="en-US" sz="1400" dirty="0">
                <a:solidFill>
                  <a:schemeClr val="bg1"/>
                </a:solidFill>
              </a:rPr>
              <a:t>the </a:t>
            </a:r>
            <a:r>
              <a:rPr lang="en-US" altLang="en-US" sz="1400" i="1" dirty="0">
                <a:solidFill>
                  <a:schemeClr val="bg1"/>
                </a:solidFill>
              </a:rPr>
              <a:t>VALUE OBJECT </a:t>
            </a:r>
            <a:r>
              <a:rPr lang="en-US" altLang="en-US" sz="1400" dirty="0">
                <a:solidFill>
                  <a:schemeClr val="bg1"/>
                </a:solidFill>
              </a:rPr>
              <a:t>as it moves through the stream?</a:t>
            </a:r>
          </a:p>
          <a:p>
            <a:pPr>
              <a:spcBef>
                <a:spcPct val="20000"/>
              </a:spcBef>
              <a:spcAft>
                <a:spcPct val="20000"/>
              </a:spcAft>
              <a:buClrTx/>
              <a:buSzTx/>
            </a:pPr>
            <a:r>
              <a:rPr lang="en-US" altLang="en-US" sz="1400" dirty="0">
                <a:solidFill>
                  <a:schemeClr val="bg1"/>
                </a:solidFill>
              </a:rPr>
              <a:t>What is the demand for each product or service</a:t>
            </a:r>
            <a:br>
              <a:rPr lang="en-US" altLang="en-US" sz="1400" dirty="0">
                <a:solidFill>
                  <a:schemeClr val="bg1"/>
                </a:solidFill>
              </a:rPr>
            </a:br>
            <a:r>
              <a:rPr lang="en-US" altLang="en-US" sz="1400" dirty="0">
                <a:solidFill>
                  <a:schemeClr val="bg1"/>
                </a:solidFill>
              </a:rPr>
              <a:t>and for the product family as a whole?</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18" name="Group 17">
            <a:extLst>
              <a:ext uri="{FF2B5EF4-FFF2-40B4-BE49-F238E27FC236}">
                <a16:creationId xmlns:a16="http://schemas.microsoft.com/office/drawing/2014/main" id="{2AFD8EA2-864E-4850-2BE0-4257736FB2F7}"/>
              </a:ext>
            </a:extLst>
          </p:cNvPr>
          <p:cNvGrpSpPr/>
          <p:nvPr/>
        </p:nvGrpSpPr>
        <p:grpSpPr>
          <a:xfrm>
            <a:off x="940249" y="302538"/>
            <a:ext cx="6219503" cy="311932"/>
            <a:chOff x="940249" y="302538"/>
            <a:chExt cx="6219503" cy="311932"/>
          </a:xfrm>
        </p:grpSpPr>
        <p:sp>
          <p:nvSpPr>
            <p:cNvPr id="19" name="TextBox 18">
              <a:extLst>
                <a:ext uri="{FF2B5EF4-FFF2-40B4-BE49-F238E27FC236}">
                  <a16:creationId xmlns:a16="http://schemas.microsoft.com/office/drawing/2014/main" id="{74D4D8E4-7C54-7887-70D8-36BF77F2D43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sp>
          <p:nvSpPr>
            <p:cNvPr id="20" name="AutoShape 9">
              <a:extLst>
                <a:ext uri="{FF2B5EF4-FFF2-40B4-BE49-F238E27FC236}">
                  <a16:creationId xmlns:a16="http://schemas.microsoft.com/office/drawing/2014/main" id="{716C687D-6747-6AC2-8B06-5E00A531713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1" name="AutoShape 9">
              <a:extLst>
                <a:ext uri="{FF2B5EF4-FFF2-40B4-BE49-F238E27FC236}">
                  <a16:creationId xmlns:a16="http://schemas.microsoft.com/office/drawing/2014/main" id="{3F4286B9-8E97-1494-D61C-EF13517F218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2" name="AutoShape 9">
              <a:extLst>
                <a:ext uri="{FF2B5EF4-FFF2-40B4-BE49-F238E27FC236}">
                  <a16:creationId xmlns:a16="http://schemas.microsoft.com/office/drawing/2014/main" id="{3E2A8D25-FE34-514A-4A86-3F20F3DE032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3" name="AutoShape 9">
              <a:extLst>
                <a:ext uri="{FF2B5EF4-FFF2-40B4-BE49-F238E27FC236}">
                  <a16:creationId xmlns:a16="http://schemas.microsoft.com/office/drawing/2014/main" id="{13C8E35B-78B9-0CBD-19D2-4CAAE1A8FBF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4" name="AutoShape 11">
              <a:extLst>
                <a:ext uri="{FF2B5EF4-FFF2-40B4-BE49-F238E27FC236}">
                  <a16:creationId xmlns:a16="http://schemas.microsoft.com/office/drawing/2014/main" id="{1A3D118B-DFF1-7F50-4888-D222ECF51AE8}"/>
                </a:ext>
              </a:extLst>
            </p:cNvPr>
            <p:cNvSpPr>
              <a:spLocks noChangeArrowheads="1"/>
            </p:cNvSpPr>
            <p:nvPr/>
          </p:nvSpPr>
          <p:spPr bwMode="auto">
            <a:xfrm>
              <a:off x="940249" y="3025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65330368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fontScale="90000"/>
          </a:bodyPr>
          <a:lstStyle/>
          <a:p>
            <a:r>
              <a:rPr lang="en-US" sz="4000" dirty="0">
                <a:latin typeface="Roboto Medium"/>
                <a:ea typeface="Roboto Medium"/>
                <a:cs typeface="Roboto Medium"/>
              </a:rPr>
              <a:t>Creating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Identify method to create the Current State Map</a:t>
            </a:r>
          </a:p>
          <a:p>
            <a:r>
              <a:rPr lang="en-US" sz="2400" dirty="0"/>
              <a:t>Define general layout of a Value Stream Map</a:t>
            </a:r>
          </a:p>
          <a:p>
            <a:r>
              <a:rPr lang="en-US" sz="2400" dirty="0"/>
              <a:t>Review Case Study Example</a:t>
            </a:r>
          </a:p>
          <a:p>
            <a:r>
              <a:rPr lang="en-US" sz="2400" dirty="0"/>
              <a:t>Complete the steps to draw a Current State Map</a:t>
            </a:r>
          </a:p>
          <a:p>
            <a:r>
              <a:rPr lang="en-US" sz="2400" dirty="0"/>
              <a:t>Perform Current State Map Exercise</a:t>
            </a:r>
          </a:p>
          <a:p>
            <a:r>
              <a:rPr lang="en-US" sz="2400" dirty="0"/>
              <a:t>Complete Current State Map for Business</a:t>
            </a:r>
          </a:p>
          <a:p>
            <a:pPr marL="0" indent="0">
              <a:buNone/>
            </a:pPr>
            <a:endParaRPr lang="en-US" dirty="0"/>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Current</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351688215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rmAutofit/>
          </a:bodyPr>
          <a:lstStyle/>
          <a:p>
            <a:r>
              <a:rPr lang="en-US" sz="4000" dirty="0"/>
              <a:t>Method to Create the Current State Map</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1013333" y="2112963"/>
            <a:ext cx="2916238" cy="838200"/>
          </a:xfrm>
          <a:prstGeom prst="rect">
            <a:avLst/>
          </a:prstGeom>
          <a:solidFill>
            <a:srgbClr val="7F7F7F"/>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Team Walk #1:</a:t>
            </a:r>
          </a:p>
          <a:p>
            <a:pPr algn="ctr" eaLnBrk="1" hangingPunct="1">
              <a:lnSpc>
                <a:spcPct val="100000"/>
              </a:lnSpc>
              <a:spcBef>
                <a:spcPct val="0"/>
              </a:spcBef>
              <a:spcAft>
                <a:spcPct val="0"/>
              </a:spcAft>
              <a:buClrTx/>
              <a:buSzTx/>
              <a:buFontTx/>
              <a:buNone/>
            </a:pPr>
            <a:r>
              <a:rPr lang="en-US" altLang="en-US" sz="1600" dirty="0">
                <a:solidFill>
                  <a:schemeClr val="bg1"/>
                </a:solidFill>
              </a:rPr>
              <a:t>Process Identification</a:t>
            </a:r>
          </a:p>
        </p:txBody>
      </p:sp>
      <p:sp>
        <p:nvSpPr>
          <p:cNvPr id="16" name="Rectangle 3">
            <a:extLst>
              <a:ext uri="{FF2B5EF4-FFF2-40B4-BE49-F238E27FC236}">
                <a16:creationId xmlns:a16="http://schemas.microsoft.com/office/drawing/2014/main" id="{056510E5-3119-AD2A-B848-847CF24DD44B}"/>
              </a:ext>
            </a:extLst>
          </p:cNvPr>
          <p:cNvSpPr>
            <a:spLocks noChangeArrowheads="1"/>
          </p:cNvSpPr>
          <p:nvPr/>
        </p:nvSpPr>
        <p:spPr bwMode="auto">
          <a:xfrm>
            <a:off x="1013333" y="3541713"/>
            <a:ext cx="2916238" cy="841375"/>
          </a:xfrm>
          <a:prstGeom prst="rect">
            <a:avLst/>
          </a:prstGeom>
          <a:solidFill>
            <a:srgbClr val="FFB627"/>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rgbClr val="222222"/>
                </a:solidFill>
              </a:rPr>
              <a:t>Team Walk #2:</a:t>
            </a:r>
          </a:p>
          <a:p>
            <a:pPr algn="ctr" eaLnBrk="1" hangingPunct="1">
              <a:lnSpc>
                <a:spcPct val="100000"/>
              </a:lnSpc>
              <a:spcBef>
                <a:spcPct val="0"/>
              </a:spcBef>
              <a:spcAft>
                <a:spcPct val="0"/>
              </a:spcAft>
              <a:buClrTx/>
              <a:buSzTx/>
              <a:buFontTx/>
              <a:buNone/>
            </a:pPr>
            <a:r>
              <a:rPr lang="en-US" altLang="en-US" sz="1600" dirty="0">
                <a:solidFill>
                  <a:srgbClr val="222222"/>
                </a:solidFill>
              </a:rPr>
              <a:t>Data Gathering</a:t>
            </a:r>
          </a:p>
        </p:txBody>
      </p:sp>
      <p:sp>
        <p:nvSpPr>
          <p:cNvPr id="17" name="Rectangle 4">
            <a:extLst>
              <a:ext uri="{FF2B5EF4-FFF2-40B4-BE49-F238E27FC236}">
                <a16:creationId xmlns:a16="http://schemas.microsoft.com/office/drawing/2014/main" id="{9D38BCD3-3C4E-CDAD-6EF0-E21187975717}"/>
              </a:ext>
            </a:extLst>
          </p:cNvPr>
          <p:cNvSpPr>
            <a:spLocks noChangeArrowheads="1"/>
          </p:cNvSpPr>
          <p:nvPr/>
        </p:nvSpPr>
        <p:spPr bwMode="auto">
          <a:xfrm>
            <a:off x="1013333" y="5151438"/>
            <a:ext cx="2916238" cy="838200"/>
          </a:xfrm>
          <a:prstGeom prst="rect">
            <a:avLst/>
          </a:prstGeom>
          <a:solidFill>
            <a:srgbClr val="EE3228"/>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Map Creation</a:t>
            </a:r>
          </a:p>
        </p:txBody>
      </p:sp>
      <p:cxnSp>
        <p:nvCxnSpPr>
          <p:cNvPr id="18" name="AutoShape 6">
            <a:extLst>
              <a:ext uri="{FF2B5EF4-FFF2-40B4-BE49-F238E27FC236}">
                <a16:creationId xmlns:a16="http://schemas.microsoft.com/office/drawing/2014/main" id="{B6487E52-6F1B-57D3-74ED-22BB854DD28F}"/>
              </a:ext>
            </a:extLst>
          </p:cNvPr>
          <p:cNvCxnSpPr>
            <a:cxnSpLocks noChangeShapeType="1"/>
            <a:stCxn id="15" idx="2"/>
            <a:endCxn id="16" idx="0"/>
          </p:cNvCxnSpPr>
          <p:nvPr/>
        </p:nvCxnSpPr>
        <p:spPr bwMode="auto">
          <a:xfrm>
            <a:off x="2471452" y="2951163"/>
            <a:ext cx="0" cy="5905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7">
            <a:extLst>
              <a:ext uri="{FF2B5EF4-FFF2-40B4-BE49-F238E27FC236}">
                <a16:creationId xmlns:a16="http://schemas.microsoft.com/office/drawing/2014/main" id="{5F264A94-9007-38F1-F621-16CB96E2ED39}"/>
              </a:ext>
            </a:extLst>
          </p:cNvPr>
          <p:cNvCxnSpPr>
            <a:cxnSpLocks noChangeShapeType="1"/>
            <a:stCxn id="16" idx="2"/>
            <a:endCxn id="17" idx="0"/>
          </p:cNvCxnSpPr>
          <p:nvPr/>
        </p:nvCxnSpPr>
        <p:spPr bwMode="auto">
          <a:xfrm>
            <a:off x="2472246" y="43830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3" name="Text Box 18">
            <a:extLst>
              <a:ext uri="{FF2B5EF4-FFF2-40B4-BE49-F238E27FC236}">
                <a16:creationId xmlns:a16="http://schemas.microsoft.com/office/drawing/2014/main" id="{0DDB5226-099F-2DA1-EF28-973B6B075730}"/>
              </a:ext>
            </a:extLst>
          </p:cNvPr>
          <p:cNvSpPr txBox="1">
            <a:spLocks noChangeArrowheads="1"/>
          </p:cNvSpPr>
          <p:nvPr/>
        </p:nvSpPr>
        <p:spPr bwMode="auto">
          <a:xfrm>
            <a:off x="5430552" y="1827213"/>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t>Key Characteristics</a:t>
            </a:r>
          </a:p>
        </p:txBody>
      </p:sp>
      <p:sp>
        <p:nvSpPr>
          <p:cNvPr id="24" name="AutoShape 36">
            <a:extLst>
              <a:ext uri="{FF2B5EF4-FFF2-40B4-BE49-F238E27FC236}">
                <a16:creationId xmlns:a16="http://schemas.microsoft.com/office/drawing/2014/main" id="{5D3E76DB-BDE7-7254-2193-80BFB1FB431B}"/>
              </a:ext>
            </a:extLst>
          </p:cNvPr>
          <p:cNvSpPr>
            <a:spLocks noChangeArrowheads="1"/>
          </p:cNvSpPr>
          <p:nvPr/>
        </p:nvSpPr>
        <p:spPr bwMode="auto">
          <a:xfrm>
            <a:off x="5389277" y="20478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5" name="AutoShape 37">
            <a:extLst>
              <a:ext uri="{FF2B5EF4-FFF2-40B4-BE49-F238E27FC236}">
                <a16:creationId xmlns:a16="http://schemas.microsoft.com/office/drawing/2014/main" id="{2C57A5F4-38CA-2E62-4DB6-E4F67FF1F3D1}"/>
              </a:ext>
            </a:extLst>
          </p:cNvPr>
          <p:cNvSpPr>
            <a:spLocks noChangeArrowheads="1"/>
          </p:cNvSpPr>
          <p:nvPr/>
        </p:nvSpPr>
        <p:spPr bwMode="auto">
          <a:xfrm>
            <a:off x="5387690" y="346392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reverse flow again and collect data and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smallest time units whenever possible –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be consistent</a:t>
            </a:r>
          </a:p>
        </p:txBody>
      </p:sp>
      <p:sp>
        <p:nvSpPr>
          <p:cNvPr id="26" name="AutoShape 38">
            <a:extLst>
              <a:ext uri="{FF2B5EF4-FFF2-40B4-BE49-F238E27FC236}">
                <a16:creationId xmlns:a16="http://schemas.microsoft.com/office/drawing/2014/main" id="{FF1BF6A0-A3AA-9724-A274-06EB02560F3C}"/>
              </a:ext>
            </a:extLst>
          </p:cNvPr>
          <p:cNvSpPr>
            <a:spLocks noChangeArrowheads="1"/>
          </p:cNvSpPr>
          <p:nvPr/>
        </p:nvSpPr>
        <p:spPr bwMode="auto">
          <a:xfrm>
            <a:off x="5387690" y="5008563"/>
            <a:ext cx="4745037"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Consolidate individual maps into a single map by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consensus of the team </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post-it notes to facilitate any necessary changes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Review map as a team to ensure accuracy and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validate flow</a:t>
            </a:r>
          </a:p>
        </p:txBody>
      </p:sp>
      <p:sp>
        <p:nvSpPr>
          <p:cNvPr id="28" name="Arrow">
            <a:extLst>
              <a:ext uri="{FF2B5EF4-FFF2-40B4-BE49-F238E27FC236}">
                <a16:creationId xmlns:a16="http://schemas.microsoft.com/office/drawing/2014/main" id="{2AB74B7E-D450-306C-1200-1FF7D51139AA}"/>
              </a:ext>
            </a:extLst>
          </p:cNvPr>
          <p:cNvSpPr/>
          <p:nvPr/>
        </p:nvSpPr>
        <p:spPr>
          <a:xfrm>
            <a:off x="4452280" y="2102443"/>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
        <p:nvSpPr>
          <p:cNvPr id="30" name="Arrow">
            <a:extLst>
              <a:ext uri="{FF2B5EF4-FFF2-40B4-BE49-F238E27FC236}">
                <a16:creationId xmlns:a16="http://schemas.microsoft.com/office/drawing/2014/main" id="{C5EAA0A9-E7EF-7938-A79A-C6FD58809561}"/>
              </a:ext>
            </a:extLst>
          </p:cNvPr>
          <p:cNvSpPr/>
          <p:nvPr/>
        </p:nvSpPr>
        <p:spPr>
          <a:xfrm>
            <a:off x="4452280" y="3675211"/>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
        <p:nvSpPr>
          <p:cNvPr id="31" name="Arrow">
            <a:extLst>
              <a:ext uri="{FF2B5EF4-FFF2-40B4-BE49-F238E27FC236}">
                <a16:creationId xmlns:a16="http://schemas.microsoft.com/office/drawing/2014/main" id="{21DD466B-B196-0D9B-E3F2-4E85CC6C556D}"/>
              </a:ext>
            </a:extLst>
          </p:cNvPr>
          <p:cNvSpPr/>
          <p:nvPr/>
        </p:nvSpPr>
        <p:spPr>
          <a:xfrm>
            <a:off x="4452280" y="5348563"/>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25</a:t>
            </a:fld>
            <a:endParaRPr lang="en-US" dirty="0"/>
          </a:p>
        </p:txBody>
      </p:sp>
    </p:spTree>
    <p:extLst>
      <p:ext uri="{BB962C8B-B14F-4D97-AF65-F5344CB8AC3E}">
        <p14:creationId xmlns:p14="http://schemas.microsoft.com/office/powerpoint/2010/main" val="328877072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2">
            <a:extLst>
              <a:ext uri="{FF2B5EF4-FFF2-40B4-BE49-F238E27FC236}">
                <a16:creationId xmlns:a16="http://schemas.microsoft.com/office/drawing/2014/main" id="{E74C1B98-BF06-4A7B-2411-E56782C9458F}"/>
              </a:ext>
            </a:extLst>
          </p:cNvPr>
          <p:cNvSpPr>
            <a:spLocks noChangeArrowheads="1"/>
          </p:cNvSpPr>
          <p:nvPr/>
        </p:nvSpPr>
        <p:spPr bwMode="auto">
          <a:xfrm>
            <a:off x="1107821" y="1838896"/>
            <a:ext cx="7670419" cy="3986658"/>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673F559E-A105-E85D-C707-CBDFB6B4A73D}"/>
              </a:ext>
            </a:extLst>
          </p:cNvPr>
          <p:cNvSpPr>
            <a:spLocks noGrp="1"/>
          </p:cNvSpPr>
          <p:nvPr>
            <p:ph type="title"/>
          </p:nvPr>
        </p:nvSpPr>
        <p:spPr/>
        <p:txBody>
          <a:bodyPr>
            <a:normAutofit/>
          </a:bodyPr>
          <a:lstStyle/>
          <a:p>
            <a:r>
              <a:rPr lang="en-US" sz="4000" dirty="0"/>
              <a:t>Method to Create the Current State Map</a:t>
            </a:r>
          </a:p>
        </p:txBody>
      </p:sp>
      <p:grpSp>
        <p:nvGrpSpPr>
          <p:cNvPr id="64" name="Group 4">
            <a:extLst>
              <a:ext uri="{FF2B5EF4-FFF2-40B4-BE49-F238E27FC236}">
                <a16:creationId xmlns:a16="http://schemas.microsoft.com/office/drawing/2014/main" id="{B310ECC5-B25B-4CBC-6992-5FAA03FE81B5}"/>
              </a:ext>
            </a:extLst>
          </p:cNvPr>
          <p:cNvGrpSpPr>
            <a:grpSpLocks/>
          </p:cNvGrpSpPr>
          <p:nvPr/>
        </p:nvGrpSpPr>
        <p:grpSpPr bwMode="auto">
          <a:xfrm>
            <a:off x="1825382" y="2187010"/>
            <a:ext cx="1044575" cy="608012"/>
            <a:chOff x="933" y="2179"/>
            <a:chExt cx="658" cy="463"/>
          </a:xfrm>
        </p:grpSpPr>
        <p:sp>
          <p:nvSpPr>
            <p:cNvPr id="65" name="Rectangle 5">
              <a:extLst>
                <a:ext uri="{FF2B5EF4-FFF2-40B4-BE49-F238E27FC236}">
                  <a16:creationId xmlns:a16="http://schemas.microsoft.com/office/drawing/2014/main" id="{EDDBD655-18BA-3C80-758A-739D6BCDDF58}"/>
                </a:ext>
              </a:extLst>
            </p:cNvPr>
            <p:cNvSpPr>
              <a:spLocks noChangeArrowheads="1"/>
            </p:cNvSpPr>
            <p:nvPr/>
          </p:nvSpPr>
          <p:spPr bwMode="auto">
            <a:xfrm>
              <a:off x="1544" y="2179"/>
              <a:ext cx="42" cy="250"/>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6" name="Rectangle 6">
              <a:extLst>
                <a:ext uri="{FF2B5EF4-FFF2-40B4-BE49-F238E27FC236}">
                  <a16:creationId xmlns:a16="http://schemas.microsoft.com/office/drawing/2014/main" id="{912FFD3A-C331-3C73-4F2C-B6C35B25898F}"/>
                </a:ext>
              </a:extLst>
            </p:cNvPr>
            <p:cNvSpPr>
              <a:spLocks noChangeArrowheads="1"/>
            </p:cNvSpPr>
            <p:nvPr/>
          </p:nvSpPr>
          <p:spPr bwMode="auto">
            <a:xfrm>
              <a:off x="933" y="2435"/>
              <a:ext cx="658" cy="207"/>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7" name="AutoShape 7">
              <a:extLst>
                <a:ext uri="{FF2B5EF4-FFF2-40B4-BE49-F238E27FC236}">
                  <a16:creationId xmlns:a16="http://schemas.microsoft.com/office/drawing/2014/main" id="{F0089704-6493-E029-C596-3D534AF5D4F2}"/>
                </a:ext>
              </a:extLst>
            </p:cNvPr>
            <p:cNvSpPr>
              <a:spLocks noChangeArrowheads="1"/>
            </p:cNvSpPr>
            <p:nvPr/>
          </p:nvSpPr>
          <p:spPr bwMode="auto">
            <a:xfrm>
              <a:off x="1342"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8" name="AutoShape 8">
              <a:extLst>
                <a:ext uri="{FF2B5EF4-FFF2-40B4-BE49-F238E27FC236}">
                  <a16:creationId xmlns:a16="http://schemas.microsoft.com/office/drawing/2014/main" id="{02D3C4AF-B97D-6078-1B71-DFE4BAC8B856}"/>
                </a:ext>
              </a:extLst>
            </p:cNvPr>
            <p:cNvSpPr>
              <a:spLocks noChangeArrowheads="1"/>
            </p:cNvSpPr>
            <p:nvPr/>
          </p:nvSpPr>
          <p:spPr bwMode="auto">
            <a:xfrm>
              <a:off x="1138"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9" name="AutoShape 9">
              <a:extLst>
                <a:ext uri="{FF2B5EF4-FFF2-40B4-BE49-F238E27FC236}">
                  <a16:creationId xmlns:a16="http://schemas.microsoft.com/office/drawing/2014/main" id="{171D6F7C-2E69-CE27-D378-82E13ADBA93C}"/>
                </a:ext>
              </a:extLst>
            </p:cNvPr>
            <p:cNvSpPr>
              <a:spLocks noChangeArrowheads="1"/>
            </p:cNvSpPr>
            <p:nvPr/>
          </p:nvSpPr>
          <p:spPr bwMode="auto">
            <a:xfrm>
              <a:off x="934"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0" name="Rectangle 10">
              <a:extLst>
                <a:ext uri="{FF2B5EF4-FFF2-40B4-BE49-F238E27FC236}">
                  <a16:creationId xmlns:a16="http://schemas.microsoft.com/office/drawing/2014/main" id="{86FE32DD-5158-8A89-F937-E42C43F05082}"/>
                </a:ext>
              </a:extLst>
            </p:cNvPr>
            <p:cNvSpPr>
              <a:spLocks noChangeArrowheads="1"/>
            </p:cNvSpPr>
            <p:nvPr/>
          </p:nvSpPr>
          <p:spPr bwMode="auto">
            <a:xfrm>
              <a:off x="974"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1" name="Rectangle 11">
              <a:extLst>
                <a:ext uri="{FF2B5EF4-FFF2-40B4-BE49-F238E27FC236}">
                  <a16:creationId xmlns:a16="http://schemas.microsoft.com/office/drawing/2014/main" id="{3168EDF9-2A40-58E6-C681-75F3B7BC4E3A}"/>
                </a:ext>
              </a:extLst>
            </p:cNvPr>
            <p:cNvSpPr>
              <a:spLocks noChangeArrowheads="1"/>
            </p:cNvSpPr>
            <p:nvPr/>
          </p:nvSpPr>
          <p:spPr bwMode="auto">
            <a:xfrm>
              <a:off x="1185"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2" name="Rectangle 12">
              <a:extLst>
                <a:ext uri="{FF2B5EF4-FFF2-40B4-BE49-F238E27FC236}">
                  <a16:creationId xmlns:a16="http://schemas.microsoft.com/office/drawing/2014/main" id="{12BA6EEA-7313-3862-4FD3-15411E4E6CB2}"/>
                </a:ext>
              </a:extLst>
            </p:cNvPr>
            <p:cNvSpPr>
              <a:spLocks noChangeArrowheads="1"/>
            </p:cNvSpPr>
            <p:nvPr/>
          </p:nvSpPr>
          <p:spPr bwMode="auto">
            <a:xfrm>
              <a:off x="1396"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grpSp>
        <p:nvGrpSpPr>
          <p:cNvPr id="73" name="Group 13">
            <a:extLst>
              <a:ext uri="{FF2B5EF4-FFF2-40B4-BE49-F238E27FC236}">
                <a16:creationId xmlns:a16="http://schemas.microsoft.com/office/drawing/2014/main" id="{AF408DC4-EA29-D996-A593-EABCE43134E4}"/>
              </a:ext>
            </a:extLst>
          </p:cNvPr>
          <p:cNvGrpSpPr>
            <a:grpSpLocks/>
          </p:cNvGrpSpPr>
          <p:nvPr/>
        </p:nvGrpSpPr>
        <p:grpSpPr bwMode="auto">
          <a:xfrm>
            <a:off x="6611277" y="2202461"/>
            <a:ext cx="1044575" cy="608012"/>
            <a:chOff x="933" y="2179"/>
            <a:chExt cx="658" cy="463"/>
          </a:xfrm>
        </p:grpSpPr>
        <p:sp>
          <p:nvSpPr>
            <p:cNvPr id="74" name="Rectangle 14">
              <a:extLst>
                <a:ext uri="{FF2B5EF4-FFF2-40B4-BE49-F238E27FC236}">
                  <a16:creationId xmlns:a16="http://schemas.microsoft.com/office/drawing/2014/main" id="{185E7954-D356-56CD-3388-8090DD5A2092}"/>
                </a:ext>
              </a:extLst>
            </p:cNvPr>
            <p:cNvSpPr>
              <a:spLocks noChangeArrowheads="1"/>
            </p:cNvSpPr>
            <p:nvPr/>
          </p:nvSpPr>
          <p:spPr bwMode="auto">
            <a:xfrm>
              <a:off x="1544" y="2179"/>
              <a:ext cx="42" cy="250"/>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5" name="Rectangle 15">
              <a:extLst>
                <a:ext uri="{FF2B5EF4-FFF2-40B4-BE49-F238E27FC236}">
                  <a16:creationId xmlns:a16="http://schemas.microsoft.com/office/drawing/2014/main" id="{8EFB2571-1709-E654-8634-4980D6FC43DB}"/>
                </a:ext>
              </a:extLst>
            </p:cNvPr>
            <p:cNvSpPr>
              <a:spLocks noChangeArrowheads="1"/>
            </p:cNvSpPr>
            <p:nvPr/>
          </p:nvSpPr>
          <p:spPr bwMode="auto">
            <a:xfrm>
              <a:off x="933" y="2435"/>
              <a:ext cx="658" cy="207"/>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6" name="AutoShape 16">
              <a:extLst>
                <a:ext uri="{FF2B5EF4-FFF2-40B4-BE49-F238E27FC236}">
                  <a16:creationId xmlns:a16="http://schemas.microsoft.com/office/drawing/2014/main" id="{4B659EB1-227A-3A66-CA9E-2B4C0D0CE224}"/>
                </a:ext>
              </a:extLst>
            </p:cNvPr>
            <p:cNvSpPr>
              <a:spLocks noChangeArrowheads="1"/>
            </p:cNvSpPr>
            <p:nvPr/>
          </p:nvSpPr>
          <p:spPr bwMode="auto">
            <a:xfrm>
              <a:off x="1342"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7" name="AutoShape 17">
              <a:extLst>
                <a:ext uri="{FF2B5EF4-FFF2-40B4-BE49-F238E27FC236}">
                  <a16:creationId xmlns:a16="http://schemas.microsoft.com/office/drawing/2014/main" id="{42202D0A-499D-27F8-E6A0-9EDCA4E5B7C4}"/>
                </a:ext>
              </a:extLst>
            </p:cNvPr>
            <p:cNvSpPr>
              <a:spLocks noChangeArrowheads="1"/>
            </p:cNvSpPr>
            <p:nvPr/>
          </p:nvSpPr>
          <p:spPr bwMode="auto">
            <a:xfrm>
              <a:off x="1138"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8" name="AutoShape 18">
              <a:extLst>
                <a:ext uri="{FF2B5EF4-FFF2-40B4-BE49-F238E27FC236}">
                  <a16:creationId xmlns:a16="http://schemas.microsoft.com/office/drawing/2014/main" id="{D82B160C-1CB5-80D5-57B2-D7FD01754B61}"/>
                </a:ext>
              </a:extLst>
            </p:cNvPr>
            <p:cNvSpPr>
              <a:spLocks noChangeArrowheads="1"/>
            </p:cNvSpPr>
            <p:nvPr/>
          </p:nvSpPr>
          <p:spPr bwMode="auto">
            <a:xfrm>
              <a:off x="934" y="2245"/>
              <a:ext cx="202" cy="190"/>
            </a:xfrm>
            <a:prstGeom prst="rtTriangle">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9" name="Rectangle 19">
              <a:extLst>
                <a:ext uri="{FF2B5EF4-FFF2-40B4-BE49-F238E27FC236}">
                  <a16:creationId xmlns:a16="http://schemas.microsoft.com/office/drawing/2014/main" id="{45F5D423-D22F-A3C8-7556-5C75360C78E8}"/>
                </a:ext>
              </a:extLst>
            </p:cNvPr>
            <p:cNvSpPr>
              <a:spLocks noChangeArrowheads="1"/>
            </p:cNvSpPr>
            <p:nvPr/>
          </p:nvSpPr>
          <p:spPr bwMode="auto">
            <a:xfrm>
              <a:off x="974"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0" name="Rectangle 20">
              <a:extLst>
                <a:ext uri="{FF2B5EF4-FFF2-40B4-BE49-F238E27FC236}">
                  <a16:creationId xmlns:a16="http://schemas.microsoft.com/office/drawing/2014/main" id="{656C5087-D13C-640F-CF30-A4E05580FD73}"/>
                </a:ext>
              </a:extLst>
            </p:cNvPr>
            <p:cNvSpPr>
              <a:spLocks noChangeArrowheads="1"/>
            </p:cNvSpPr>
            <p:nvPr/>
          </p:nvSpPr>
          <p:spPr bwMode="auto">
            <a:xfrm>
              <a:off x="1185"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1" name="Rectangle 21">
              <a:extLst>
                <a:ext uri="{FF2B5EF4-FFF2-40B4-BE49-F238E27FC236}">
                  <a16:creationId xmlns:a16="http://schemas.microsoft.com/office/drawing/2014/main" id="{CD82C94D-7F50-3B0C-A26B-D7B74CAE79D7}"/>
                </a:ext>
              </a:extLst>
            </p:cNvPr>
            <p:cNvSpPr>
              <a:spLocks noChangeArrowheads="1"/>
            </p:cNvSpPr>
            <p:nvPr/>
          </p:nvSpPr>
          <p:spPr bwMode="auto">
            <a:xfrm>
              <a:off x="1396" y="2354"/>
              <a:ext cx="27" cy="51"/>
            </a:xfrm>
            <a:prstGeom prst="rect">
              <a:avLst/>
            </a:prstGeom>
            <a:solidFill>
              <a:schemeClr val="accent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grpSp>
        <p:nvGrpSpPr>
          <p:cNvPr id="82" name="Group 22">
            <a:extLst>
              <a:ext uri="{FF2B5EF4-FFF2-40B4-BE49-F238E27FC236}">
                <a16:creationId xmlns:a16="http://schemas.microsoft.com/office/drawing/2014/main" id="{C522369A-27B7-8838-2223-767243D62EA8}"/>
              </a:ext>
            </a:extLst>
          </p:cNvPr>
          <p:cNvGrpSpPr>
            <a:grpSpLocks/>
          </p:cNvGrpSpPr>
          <p:nvPr/>
        </p:nvGrpSpPr>
        <p:grpSpPr bwMode="auto">
          <a:xfrm>
            <a:off x="5901072" y="3817586"/>
            <a:ext cx="485775" cy="1263650"/>
            <a:chOff x="3422" y="2069"/>
            <a:chExt cx="306" cy="796"/>
          </a:xfrm>
        </p:grpSpPr>
        <p:grpSp>
          <p:nvGrpSpPr>
            <p:cNvPr id="83" name="Group 23">
              <a:extLst>
                <a:ext uri="{FF2B5EF4-FFF2-40B4-BE49-F238E27FC236}">
                  <a16:creationId xmlns:a16="http://schemas.microsoft.com/office/drawing/2014/main" id="{25387030-7068-FFF6-5E83-9EFCA81FECB6}"/>
                </a:ext>
              </a:extLst>
            </p:cNvPr>
            <p:cNvGrpSpPr>
              <a:grpSpLocks/>
            </p:cNvGrpSpPr>
            <p:nvPr/>
          </p:nvGrpSpPr>
          <p:grpSpPr bwMode="auto">
            <a:xfrm>
              <a:off x="3422" y="2069"/>
              <a:ext cx="306" cy="796"/>
              <a:chOff x="3422" y="2069"/>
              <a:chExt cx="306" cy="796"/>
            </a:xfrm>
          </p:grpSpPr>
          <p:sp>
            <p:nvSpPr>
              <p:cNvPr id="85" name="Rectangle 24">
                <a:extLst>
                  <a:ext uri="{FF2B5EF4-FFF2-40B4-BE49-F238E27FC236}">
                    <a16:creationId xmlns:a16="http://schemas.microsoft.com/office/drawing/2014/main" id="{9E0807EB-3C24-3BFD-ECB1-4CD41A030AFD}"/>
                  </a:ext>
                </a:extLst>
              </p:cNvPr>
              <p:cNvSpPr>
                <a:spLocks noChangeArrowheads="1"/>
              </p:cNvSpPr>
              <p:nvPr/>
            </p:nvSpPr>
            <p:spPr bwMode="auto">
              <a:xfrm>
                <a:off x="3422" y="2069"/>
                <a:ext cx="305" cy="38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6" name="Group 44">
                <a:extLst>
                  <a:ext uri="{FF2B5EF4-FFF2-40B4-BE49-F238E27FC236}">
                    <a16:creationId xmlns:a16="http://schemas.microsoft.com/office/drawing/2014/main" id="{FE9ACC23-EBE1-BD1F-E815-5377C9A09399}"/>
                  </a:ext>
                </a:extLst>
              </p:cNvPr>
              <p:cNvGrpSpPr>
                <a:grpSpLocks/>
              </p:cNvGrpSpPr>
              <p:nvPr/>
            </p:nvGrpSpPr>
            <p:grpSpPr bwMode="auto">
              <a:xfrm>
                <a:off x="3423" y="2551"/>
                <a:ext cx="305" cy="314"/>
                <a:chOff x="1702" y="2990"/>
                <a:chExt cx="269" cy="301"/>
              </a:xfrm>
            </p:grpSpPr>
            <p:sp>
              <p:nvSpPr>
                <p:cNvPr id="87" name="Rectangle 45">
                  <a:extLst>
                    <a:ext uri="{FF2B5EF4-FFF2-40B4-BE49-F238E27FC236}">
                      <a16:creationId xmlns:a16="http://schemas.microsoft.com/office/drawing/2014/main" id="{F758A59F-00FF-EF4B-CD29-6555406F1209}"/>
                    </a:ext>
                  </a:extLst>
                </p:cNvPr>
                <p:cNvSpPr>
                  <a:spLocks noChangeArrowheads="1"/>
                </p:cNvSpPr>
                <p:nvPr/>
              </p:nvSpPr>
              <p:spPr bwMode="auto">
                <a:xfrm>
                  <a:off x="1702" y="2990"/>
                  <a:ext cx="269" cy="30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8" name="Line 46">
                  <a:extLst>
                    <a:ext uri="{FF2B5EF4-FFF2-40B4-BE49-F238E27FC236}">
                      <a16:creationId xmlns:a16="http://schemas.microsoft.com/office/drawing/2014/main" id="{1F512894-4BB9-38D8-8D3A-1FBF8F442E26}"/>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89" name="Line 47">
                  <a:extLst>
                    <a:ext uri="{FF2B5EF4-FFF2-40B4-BE49-F238E27FC236}">
                      <a16:creationId xmlns:a16="http://schemas.microsoft.com/office/drawing/2014/main" id="{04336E43-1B40-84DD-1E7A-E65DC84CA4C6}"/>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0" name="Line 48">
                  <a:extLst>
                    <a:ext uri="{FF2B5EF4-FFF2-40B4-BE49-F238E27FC236}">
                      <a16:creationId xmlns:a16="http://schemas.microsoft.com/office/drawing/2014/main" id="{CF1E5341-BF87-337D-AF4F-50D2AF3D903E}"/>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1" name="Line 49">
                  <a:extLst>
                    <a:ext uri="{FF2B5EF4-FFF2-40B4-BE49-F238E27FC236}">
                      <a16:creationId xmlns:a16="http://schemas.microsoft.com/office/drawing/2014/main" id="{3649979D-4A70-C726-22CE-0D933D91B29A}"/>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2" name="Line 50">
                  <a:extLst>
                    <a:ext uri="{FF2B5EF4-FFF2-40B4-BE49-F238E27FC236}">
                      <a16:creationId xmlns:a16="http://schemas.microsoft.com/office/drawing/2014/main" id="{3B990696-46DA-5C3C-68DF-0A0C6ADB564A}"/>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3" name="Line 51">
                  <a:extLst>
                    <a:ext uri="{FF2B5EF4-FFF2-40B4-BE49-F238E27FC236}">
                      <a16:creationId xmlns:a16="http://schemas.microsoft.com/office/drawing/2014/main" id="{1033566E-B482-D59E-9917-0C1F998C3439}"/>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sp>
          <p:nvSpPr>
            <p:cNvPr id="84" name="Line 27">
              <a:extLst>
                <a:ext uri="{FF2B5EF4-FFF2-40B4-BE49-F238E27FC236}">
                  <a16:creationId xmlns:a16="http://schemas.microsoft.com/office/drawing/2014/main" id="{34AF2C91-EFF2-F3EA-CDCD-47DA1A8BAD3C}"/>
                </a:ext>
              </a:extLst>
            </p:cNvPr>
            <p:cNvSpPr>
              <a:spLocks noChangeShapeType="1"/>
            </p:cNvSpPr>
            <p:nvPr/>
          </p:nvSpPr>
          <p:spPr bwMode="auto">
            <a:xfrm>
              <a:off x="3424" y="2157"/>
              <a:ext cx="304"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94" name="Group 34">
            <a:extLst>
              <a:ext uri="{FF2B5EF4-FFF2-40B4-BE49-F238E27FC236}">
                <a16:creationId xmlns:a16="http://schemas.microsoft.com/office/drawing/2014/main" id="{F531D856-9A27-49BD-CD1E-A7BEA6CF79FD}"/>
              </a:ext>
            </a:extLst>
          </p:cNvPr>
          <p:cNvGrpSpPr>
            <a:grpSpLocks/>
          </p:cNvGrpSpPr>
          <p:nvPr/>
        </p:nvGrpSpPr>
        <p:grpSpPr bwMode="auto">
          <a:xfrm>
            <a:off x="2921932" y="3805014"/>
            <a:ext cx="495300" cy="1249363"/>
            <a:chOff x="1780" y="2069"/>
            <a:chExt cx="312" cy="787"/>
          </a:xfrm>
        </p:grpSpPr>
        <p:sp>
          <p:nvSpPr>
            <p:cNvPr id="95" name="Rectangle 22">
              <a:extLst>
                <a:ext uri="{FF2B5EF4-FFF2-40B4-BE49-F238E27FC236}">
                  <a16:creationId xmlns:a16="http://schemas.microsoft.com/office/drawing/2014/main" id="{9E3DE3E0-334C-B568-378A-D136E2D115BF}"/>
                </a:ext>
              </a:extLst>
            </p:cNvPr>
            <p:cNvSpPr>
              <a:spLocks noChangeArrowheads="1"/>
            </p:cNvSpPr>
            <p:nvPr/>
          </p:nvSpPr>
          <p:spPr bwMode="auto">
            <a:xfrm>
              <a:off x="1780" y="2069"/>
              <a:ext cx="305" cy="38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6" name="Line 25">
              <a:extLst>
                <a:ext uri="{FF2B5EF4-FFF2-40B4-BE49-F238E27FC236}">
                  <a16:creationId xmlns:a16="http://schemas.microsoft.com/office/drawing/2014/main" id="{B3095335-5782-F897-071B-3B7F2DA74690}"/>
                </a:ext>
              </a:extLst>
            </p:cNvPr>
            <p:cNvSpPr>
              <a:spLocks noChangeShapeType="1"/>
            </p:cNvSpPr>
            <p:nvPr/>
          </p:nvSpPr>
          <p:spPr bwMode="auto">
            <a:xfrm>
              <a:off x="1787" y="2169"/>
              <a:ext cx="303"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97" name="Group 28">
              <a:extLst>
                <a:ext uri="{FF2B5EF4-FFF2-40B4-BE49-F238E27FC236}">
                  <a16:creationId xmlns:a16="http://schemas.microsoft.com/office/drawing/2014/main" id="{7C011C5F-9063-F981-8628-678094459D51}"/>
                </a:ext>
              </a:extLst>
            </p:cNvPr>
            <p:cNvGrpSpPr>
              <a:grpSpLocks/>
            </p:cNvGrpSpPr>
            <p:nvPr/>
          </p:nvGrpSpPr>
          <p:grpSpPr bwMode="auto">
            <a:xfrm>
              <a:off x="1787" y="2542"/>
              <a:ext cx="305" cy="314"/>
              <a:chOff x="1702" y="2990"/>
              <a:chExt cx="269" cy="301"/>
            </a:xfrm>
          </p:grpSpPr>
          <p:sp>
            <p:nvSpPr>
              <p:cNvPr id="98" name="Rectangle 29">
                <a:extLst>
                  <a:ext uri="{FF2B5EF4-FFF2-40B4-BE49-F238E27FC236}">
                    <a16:creationId xmlns:a16="http://schemas.microsoft.com/office/drawing/2014/main" id="{BA20A03A-8418-D1ED-ED94-1861D12BE8D9}"/>
                  </a:ext>
                </a:extLst>
              </p:cNvPr>
              <p:cNvSpPr>
                <a:spLocks noChangeArrowheads="1"/>
              </p:cNvSpPr>
              <p:nvPr/>
            </p:nvSpPr>
            <p:spPr bwMode="auto">
              <a:xfrm>
                <a:off x="1702" y="2990"/>
                <a:ext cx="269" cy="30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9" name="Line 30">
                <a:extLst>
                  <a:ext uri="{FF2B5EF4-FFF2-40B4-BE49-F238E27FC236}">
                    <a16:creationId xmlns:a16="http://schemas.microsoft.com/office/drawing/2014/main" id="{DC511498-8355-CFC3-8539-F60C84F12D01}"/>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0" name="Line 31">
                <a:extLst>
                  <a:ext uri="{FF2B5EF4-FFF2-40B4-BE49-F238E27FC236}">
                    <a16:creationId xmlns:a16="http://schemas.microsoft.com/office/drawing/2014/main" id="{B0A1C27F-B7EC-E35B-A6FB-249EC17F17F8}"/>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1" name="Line 32">
                <a:extLst>
                  <a:ext uri="{FF2B5EF4-FFF2-40B4-BE49-F238E27FC236}">
                    <a16:creationId xmlns:a16="http://schemas.microsoft.com/office/drawing/2014/main" id="{2DC295F5-BC9D-41C9-0B6B-46D97946DB72}"/>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2" name="Line 33">
                <a:extLst>
                  <a:ext uri="{FF2B5EF4-FFF2-40B4-BE49-F238E27FC236}">
                    <a16:creationId xmlns:a16="http://schemas.microsoft.com/office/drawing/2014/main" id="{1F93023F-B0B6-DB73-5EE8-E4642B016887}"/>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3" name="Line 34">
                <a:extLst>
                  <a:ext uri="{FF2B5EF4-FFF2-40B4-BE49-F238E27FC236}">
                    <a16:creationId xmlns:a16="http://schemas.microsoft.com/office/drawing/2014/main" id="{2669CB11-8A40-AA51-0687-0FFB1E838D5B}"/>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04" name="Line 35">
                <a:extLst>
                  <a:ext uri="{FF2B5EF4-FFF2-40B4-BE49-F238E27FC236}">
                    <a16:creationId xmlns:a16="http://schemas.microsoft.com/office/drawing/2014/main" id="{E1E12631-2813-7E7D-ACBA-E46CBEB0CE0A}"/>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grpSp>
        <p:nvGrpSpPr>
          <p:cNvPr id="105" name="Group 45">
            <a:extLst>
              <a:ext uri="{FF2B5EF4-FFF2-40B4-BE49-F238E27FC236}">
                <a16:creationId xmlns:a16="http://schemas.microsoft.com/office/drawing/2014/main" id="{AFB25A63-5ECF-A523-25E5-9C7251730711}"/>
              </a:ext>
            </a:extLst>
          </p:cNvPr>
          <p:cNvGrpSpPr>
            <a:grpSpLocks/>
          </p:cNvGrpSpPr>
          <p:nvPr/>
        </p:nvGrpSpPr>
        <p:grpSpPr bwMode="auto">
          <a:xfrm>
            <a:off x="4432590" y="3824858"/>
            <a:ext cx="487362" cy="1282700"/>
            <a:chOff x="2609" y="2069"/>
            <a:chExt cx="307" cy="808"/>
          </a:xfrm>
        </p:grpSpPr>
        <p:sp>
          <p:nvSpPr>
            <p:cNvPr id="106" name="Rectangle 23">
              <a:extLst>
                <a:ext uri="{FF2B5EF4-FFF2-40B4-BE49-F238E27FC236}">
                  <a16:creationId xmlns:a16="http://schemas.microsoft.com/office/drawing/2014/main" id="{D94CF3D2-78BE-F41E-5687-6FC40CCB67D9}"/>
                </a:ext>
              </a:extLst>
            </p:cNvPr>
            <p:cNvSpPr>
              <a:spLocks noChangeArrowheads="1"/>
            </p:cNvSpPr>
            <p:nvPr/>
          </p:nvSpPr>
          <p:spPr bwMode="auto">
            <a:xfrm>
              <a:off x="2611" y="2069"/>
              <a:ext cx="305" cy="38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7" name="Line 26">
              <a:extLst>
                <a:ext uri="{FF2B5EF4-FFF2-40B4-BE49-F238E27FC236}">
                  <a16:creationId xmlns:a16="http://schemas.microsoft.com/office/drawing/2014/main" id="{B8DEE235-A2C2-ED01-8E09-83F1268E5CC7}"/>
                </a:ext>
              </a:extLst>
            </p:cNvPr>
            <p:cNvSpPr>
              <a:spLocks noChangeShapeType="1"/>
            </p:cNvSpPr>
            <p:nvPr/>
          </p:nvSpPr>
          <p:spPr bwMode="auto">
            <a:xfrm>
              <a:off x="2609" y="2163"/>
              <a:ext cx="303"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108" name="Group 36">
              <a:extLst>
                <a:ext uri="{FF2B5EF4-FFF2-40B4-BE49-F238E27FC236}">
                  <a16:creationId xmlns:a16="http://schemas.microsoft.com/office/drawing/2014/main" id="{53A5CE20-484D-0616-ABB7-0B132C70AC82}"/>
                </a:ext>
              </a:extLst>
            </p:cNvPr>
            <p:cNvGrpSpPr>
              <a:grpSpLocks/>
            </p:cNvGrpSpPr>
            <p:nvPr/>
          </p:nvGrpSpPr>
          <p:grpSpPr bwMode="auto">
            <a:xfrm>
              <a:off x="2611" y="2563"/>
              <a:ext cx="305" cy="314"/>
              <a:chOff x="1702" y="2990"/>
              <a:chExt cx="269" cy="301"/>
            </a:xfrm>
          </p:grpSpPr>
          <p:sp>
            <p:nvSpPr>
              <p:cNvPr id="109" name="Rectangle 37">
                <a:extLst>
                  <a:ext uri="{FF2B5EF4-FFF2-40B4-BE49-F238E27FC236}">
                    <a16:creationId xmlns:a16="http://schemas.microsoft.com/office/drawing/2014/main" id="{B1F0F5EA-5F6F-F2A8-003B-8AF9699724CF}"/>
                  </a:ext>
                </a:extLst>
              </p:cNvPr>
              <p:cNvSpPr>
                <a:spLocks noChangeArrowheads="1"/>
              </p:cNvSpPr>
              <p:nvPr/>
            </p:nvSpPr>
            <p:spPr bwMode="auto">
              <a:xfrm>
                <a:off x="1702" y="2990"/>
                <a:ext cx="269" cy="301"/>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0" name="Line 38">
                <a:extLst>
                  <a:ext uri="{FF2B5EF4-FFF2-40B4-BE49-F238E27FC236}">
                    <a16:creationId xmlns:a16="http://schemas.microsoft.com/office/drawing/2014/main" id="{78F7104C-6F1A-B9F1-0534-A44BC1E9D293}"/>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1" name="Line 39">
                <a:extLst>
                  <a:ext uri="{FF2B5EF4-FFF2-40B4-BE49-F238E27FC236}">
                    <a16:creationId xmlns:a16="http://schemas.microsoft.com/office/drawing/2014/main" id="{A2BF7D93-6B02-59E8-B91B-7935659FAA3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2" name="Line 40">
                <a:extLst>
                  <a:ext uri="{FF2B5EF4-FFF2-40B4-BE49-F238E27FC236}">
                    <a16:creationId xmlns:a16="http://schemas.microsoft.com/office/drawing/2014/main" id="{A91A1FD9-99CD-1CF5-DCA4-36AAD085AF60}"/>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3" name="Line 41">
                <a:extLst>
                  <a:ext uri="{FF2B5EF4-FFF2-40B4-BE49-F238E27FC236}">
                    <a16:creationId xmlns:a16="http://schemas.microsoft.com/office/drawing/2014/main" id="{05825DFB-AF0B-1DC1-A426-525A0C3FBA83}"/>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4" name="Line 42">
                <a:extLst>
                  <a:ext uri="{FF2B5EF4-FFF2-40B4-BE49-F238E27FC236}">
                    <a16:creationId xmlns:a16="http://schemas.microsoft.com/office/drawing/2014/main" id="{B3F86B34-AF80-9DD9-12B2-2A03643502D7}"/>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15" name="Line 43">
                <a:extLst>
                  <a:ext uri="{FF2B5EF4-FFF2-40B4-BE49-F238E27FC236}">
                    <a16:creationId xmlns:a16="http://schemas.microsoft.com/office/drawing/2014/main" id="{DD45EE22-6662-7F8B-3C0B-2E52A08CB001}"/>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grpSp>
        <p:nvGrpSpPr>
          <p:cNvPr id="116" name="Group 56">
            <a:extLst>
              <a:ext uri="{FF2B5EF4-FFF2-40B4-BE49-F238E27FC236}">
                <a16:creationId xmlns:a16="http://schemas.microsoft.com/office/drawing/2014/main" id="{F9468DB2-539E-104D-757E-5F2FD76BE7FC}"/>
              </a:ext>
            </a:extLst>
          </p:cNvPr>
          <p:cNvGrpSpPr>
            <a:grpSpLocks/>
          </p:cNvGrpSpPr>
          <p:nvPr/>
        </p:nvGrpSpPr>
        <p:grpSpPr bwMode="auto">
          <a:xfrm>
            <a:off x="3547420" y="3971925"/>
            <a:ext cx="825500" cy="265112"/>
            <a:chOff x="2092" y="2174"/>
            <a:chExt cx="520" cy="167"/>
          </a:xfrm>
        </p:grpSpPr>
        <p:sp>
          <p:nvSpPr>
            <p:cNvPr id="117" name="Line 52">
              <a:extLst>
                <a:ext uri="{FF2B5EF4-FFF2-40B4-BE49-F238E27FC236}">
                  <a16:creationId xmlns:a16="http://schemas.microsoft.com/office/drawing/2014/main" id="{472A7E10-81C3-229B-109E-73A7E48A0125}"/>
                </a:ext>
              </a:extLst>
            </p:cNvPr>
            <p:cNvSpPr>
              <a:spLocks noChangeShapeType="1"/>
            </p:cNvSpPr>
            <p:nvPr/>
          </p:nvSpPr>
          <p:spPr bwMode="auto">
            <a:xfrm flipV="1">
              <a:off x="2092" y="2260"/>
              <a:ext cx="520" cy="1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18" name="AutoShape 53">
              <a:extLst>
                <a:ext uri="{FF2B5EF4-FFF2-40B4-BE49-F238E27FC236}">
                  <a16:creationId xmlns:a16="http://schemas.microsoft.com/office/drawing/2014/main" id="{8DB0FFFA-0FC9-0005-F3BD-DD34BD250A8B}"/>
                </a:ext>
              </a:extLst>
            </p:cNvPr>
            <p:cNvSpPr>
              <a:spLocks noChangeArrowheads="1"/>
            </p:cNvSpPr>
            <p:nvPr/>
          </p:nvSpPr>
          <p:spPr bwMode="auto">
            <a:xfrm>
              <a:off x="2258" y="2174"/>
              <a:ext cx="166" cy="167"/>
            </a:xfrm>
            <a:prstGeom prst="triangle">
              <a:avLst>
                <a:gd name="adj" fmla="val 50000"/>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grpSp>
      <p:grpSp>
        <p:nvGrpSpPr>
          <p:cNvPr id="119" name="Group 59">
            <a:extLst>
              <a:ext uri="{FF2B5EF4-FFF2-40B4-BE49-F238E27FC236}">
                <a16:creationId xmlns:a16="http://schemas.microsoft.com/office/drawing/2014/main" id="{DB480056-6526-1217-2E74-3309E060655D}"/>
              </a:ext>
            </a:extLst>
          </p:cNvPr>
          <p:cNvGrpSpPr>
            <a:grpSpLocks/>
          </p:cNvGrpSpPr>
          <p:nvPr/>
        </p:nvGrpSpPr>
        <p:grpSpPr bwMode="auto">
          <a:xfrm>
            <a:off x="5039292" y="3997102"/>
            <a:ext cx="825500" cy="265112"/>
            <a:chOff x="2939" y="2174"/>
            <a:chExt cx="520" cy="167"/>
          </a:xfrm>
        </p:grpSpPr>
        <p:sp>
          <p:nvSpPr>
            <p:cNvPr id="120" name="Line 54">
              <a:extLst>
                <a:ext uri="{FF2B5EF4-FFF2-40B4-BE49-F238E27FC236}">
                  <a16:creationId xmlns:a16="http://schemas.microsoft.com/office/drawing/2014/main" id="{DDC4D59D-C479-5BAC-EF6A-476E6CD50F51}"/>
                </a:ext>
              </a:extLst>
            </p:cNvPr>
            <p:cNvSpPr>
              <a:spLocks noChangeShapeType="1"/>
            </p:cNvSpPr>
            <p:nvPr/>
          </p:nvSpPr>
          <p:spPr bwMode="auto">
            <a:xfrm flipV="1">
              <a:off x="2939" y="2260"/>
              <a:ext cx="520" cy="1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1" name="AutoShape 55">
              <a:extLst>
                <a:ext uri="{FF2B5EF4-FFF2-40B4-BE49-F238E27FC236}">
                  <a16:creationId xmlns:a16="http://schemas.microsoft.com/office/drawing/2014/main" id="{9AA4173A-0334-AEAA-D185-66966295093A}"/>
                </a:ext>
              </a:extLst>
            </p:cNvPr>
            <p:cNvSpPr>
              <a:spLocks noChangeArrowheads="1"/>
            </p:cNvSpPr>
            <p:nvPr/>
          </p:nvSpPr>
          <p:spPr bwMode="auto">
            <a:xfrm>
              <a:off x="3085" y="2174"/>
              <a:ext cx="166" cy="167"/>
            </a:xfrm>
            <a:prstGeom prst="triangle">
              <a:avLst>
                <a:gd name="adj" fmla="val 50000"/>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grpSp>
      <p:sp>
        <p:nvSpPr>
          <p:cNvPr id="122" name="AutoShape 56">
            <a:extLst>
              <a:ext uri="{FF2B5EF4-FFF2-40B4-BE49-F238E27FC236}">
                <a16:creationId xmlns:a16="http://schemas.microsoft.com/office/drawing/2014/main" id="{4F7A24EC-E3B4-76FB-CCE5-E2F04EE6DA30}"/>
              </a:ext>
            </a:extLst>
          </p:cNvPr>
          <p:cNvSpPr>
            <a:spLocks noChangeArrowheads="1"/>
          </p:cNvSpPr>
          <p:nvPr/>
        </p:nvSpPr>
        <p:spPr bwMode="auto">
          <a:xfrm rot="18900000">
            <a:off x="6318719" y="3187259"/>
            <a:ext cx="1122363" cy="317500"/>
          </a:xfrm>
          <a:prstGeom prst="rightArrow">
            <a:avLst>
              <a:gd name="adj1" fmla="val 50000"/>
              <a:gd name="adj2" fmla="val 88375"/>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3" name="AutoShape 57">
            <a:extLst>
              <a:ext uri="{FF2B5EF4-FFF2-40B4-BE49-F238E27FC236}">
                <a16:creationId xmlns:a16="http://schemas.microsoft.com/office/drawing/2014/main" id="{253F4F7B-16FE-0C93-6838-15C3CE7D15E5}"/>
              </a:ext>
            </a:extLst>
          </p:cNvPr>
          <p:cNvSpPr>
            <a:spLocks noChangeArrowheads="1"/>
          </p:cNvSpPr>
          <p:nvPr/>
        </p:nvSpPr>
        <p:spPr bwMode="auto">
          <a:xfrm rot="2772363">
            <a:off x="2042869" y="3190060"/>
            <a:ext cx="1035050" cy="344488"/>
          </a:xfrm>
          <a:prstGeom prst="rightArrow">
            <a:avLst>
              <a:gd name="adj1" fmla="val 50000"/>
              <a:gd name="adj2" fmla="val 75115"/>
            </a:avLst>
          </a:prstGeom>
          <a:solidFill>
            <a:schemeClr val="accent1"/>
          </a:solidFill>
          <a:ln w="12700" cap="sq">
            <a:solidFill>
              <a:schemeClr val="tx1"/>
            </a:solidFill>
            <a:miter lim="800000"/>
            <a:headEnd type="none" w="sm" len="sm"/>
            <a:tailEnd type="none" w="sm" len="sm"/>
          </a:ln>
        </p:spPr>
        <p:txBody>
          <a:bodyPr rot="10800000" vert="eaVert"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4" name="Text Box 115">
            <a:extLst>
              <a:ext uri="{FF2B5EF4-FFF2-40B4-BE49-F238E27FC236}">
                <a16:creationId xmlns:a16="http://schemas.microsoft.com/office/drawing/2014/main" id="{1E1E584F-F1B3-F47A-DF07-EB714D99EEF9}"/>
              </a:ext>
            </a:extLst>
          </p:cNvPr>
          <p:cNvSpPr txBox="1">
            <a:spLocks noChangeArrowheads="1"/>
          </p:cNvSpPr>
          <p:nvPr/>
        </p:nvSpPr>
        <p:spPr bwMode="auto">
          <a:xfrm>
            <a:off x="3472401" y="2289344"/>
            <a:ext cx="2370856" cy="28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t>VALUE STREAM MAP</a:t>
            </a:r>
          </a:p>
        </p:txBody>
      </p:sp>
      <p:sp>
        <p:nvSpPr>
          <p:cNvPr id="126" name="TextBox 125">
            <a:extLst>
              <a:ext uri="{FF2B5EF4-FFF2-40B4-BE49-F238E27FC236}">
                <a16:creationId xmlns:a16="http://schemas.microsoft.com/office/drawing/2014/main" id="{D054B3CA-EA18-66D9-807C-2404CF7B8044}"/>
              </a:ext>
            </a:extLst>
          </p:cNvPr>
          <p:cNvSpPr txBox="1"/>
          <p:nvPr/>
        </p:nvSpPr>
        <p:spPr>
          <a:xfrm>
            <a:off x="9004707" y="1857437"/>
            <a:ext cx="2313432" cy="3970318"/>
          </a:xfrm>
          <a:prstGeom prst="rect">
            <a:avLst/>
          </a:prstGeom>
          <a:noFill/>
        </p:spPr>
        <p:txBody>
          <a:bodyPr wrap="square" rtlCol="0">
            <a:spAutoFit/>
          </a:bodyPr>
          <a:lstStyle/>
          <a:p>
            <a:pPr marL="285750" indent="-285750">
              <a:spcAft>
                <a:spcPct val="0"/>
              </a:spcAft>
              <a:buClr>
                <a:schemeClr val="tx1"/>
              </a:buClr>
              <a:buSzPct val="90000"/>
              <a:buFont typeface="Arial" panose="020B0604020202020204" pitchFamily="34" charset="0"/>
              <a:buChar char="•"/>
            </a:pPr>
            <a:r>
              <a:rPr lang="en-US" altLang="en-US" sz="1800" dirty="0"/>
              <a:t>When creating the Current State Map the team walks the process in reverse</a:t>
            </a:r>
          </a:p>
          <a:p>
            <a:pPr marL="285750" indent="-285750">
              <a:spcAft>
                <a:spcPct val="0"/>
              </a:spcAft>
              <a:buClr>
                <a:schemeClr val="tx1"/>
              </a:buClr>
              <a:buSzPct val="90000"/>
              <a:buFont typeface="Arial" panose="020B0604020202020204" pitchFamily="34" charset="0"/>
              <a:buChar char="•"/>
            </a:pPr>
            <a:r>
              <a:rPr lang="en-US" altLang="en-US" sz="1800" dirty="0"/>
              <a:t>We see the process from the customer</a:t>
            </a:r>
            <a:r>
              <a:rPr lang="ja-JP" altLang="en-US" sz="1800"/>
              <a:t>’</a:t>
            </a:r>
            <a:r>
              <a:rPr lang="en-US" altLang="ja-JP" sz="1800" dirty="0"/>
              <a:t>s perspective</a:t>
            </a:r>
          </a:p>
          <a:p>
            <a:pPr marL="285750" indent="-285750">
              <a:spcAft>
                <a:spcPct val="0"/>
              </a:spcAft>
              <a:buClr>
                <a:schemeClr val="tx1"/>
              </a:buClr>
              <a:buSzPct val="90000"/>
              <a:buFont typeface="Arial" panose="020B0604020202020204" pitchFamily="34" charset="0"/>
              <a:buChar char="•"/>
            </a:pPr>
            <a:r>
              <a:rPr lang="en-US" altLang="en-US" sz="1800" dirty="0"/>
              <a:t>Walking from the end to the beginning allows the team to SEE the waste!</a:t>
            </a:r>
          </a:p>
          <a:p>
            <a:endParaRPr lang="en-US" dirty="0"/>
          </a:p>
        </p:txBody>
      </p:sp>
      <p:grpSp>
        <p:nvGrpSpPr>
          <p:cNvPr id="133" name="Group 132">
            <a:extLst>
              <a:ext uri="{FF2B5EF4-FFF2-40B4-BE49-F238E27FC236}">
                <a16:creationId xmlns:a16="http://schemas.microsoft.com/office/drawing/2014/main" id="{71B3619A-FA77-A022-E82F-4D43C505E39E}"/>
              </a:ext>
            </a:extLst>
          </p:cNvPr>
          <p:cNvGrpSpPr/>
          <p:nvPr/>
        </p:nvGrpSpPr>
        <p:grpSpPr>
          <a:xfrm>
            <a:off x="940249" y="302538"/>
            <a:ext cx="6219503" cy="311932"/>
            <a:chOff x="940249" y="302538"/>
            <a:chExt cx="6219503" cy="311932"/>
          </a:xfrm>
        </p:grpSpPr>
        <p:sp>
          <p:nvSpPr>
            <p:cNvPr id="134" name="TextBox 133">
              <a:extLst>
                <a:ext uri="{FF2B5EF4-FFF2-40B4-BE49-F238E27FC236}">
                  <a16:creationId xmlns:a16="http://schemas.microsoft.com/office/drawing/2014/main" id="{F6E56FC5-D8AE-5EC1-B476-BC95016E442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35" name="AutoShape 9">
              <a:extLst>
                <a:ext uri="{FF2B5EF4-FFF2-40B4-BE49-F238E27FC236}">
                  <a16:creationId xmlns:a16="http://schemas.microsoft.com/office/drawing/2014/main" id="{3A8BD064-BAF0-B761-D498-C57FBBB3B69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6" name="AutoShape 9">
              <a:extLst>
                <a:ext uri="{FF2B5EF4-FFF2-40B4-BE49-F238E27FC236}">
                  <a16:creationId xmlns:a16="http://schemas.microsoft.com/office/drawing/2014/main" id="{2CAA91DC-C1EC-4E72-21BE-98E6B616B46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7" name="AutoShape 9">
              <a:extLst>
                <a:ext uri="{FF2B5EF4-FFF2-40B4-BE49-F238E27FC236}">
                  <a16:creationId xmlns:a16="http://schemas.microsoft.com/office/drawing/2014/main" id="{06B5909F-6A3D-E9B8-1FB0-A807B3F078B8}"/>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8" name="AutoShape 9">
              <a:extLst>
                <a:ext uri="{FF2B5EF4-FFF2-40B4-BE49-F238E27FC236}">
                  <a16:creationId xmlns:a16="http://schemas.microsoft.com/office/drawing/2014/main" id="{4455E976-FB9F-F2FC-D38A-47191E06FD61}"/>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9" name="AutoShape 11">
              <a:extLst>
                <a:ext uri="{FF2B5EF4-FFF2-40B4-BE49-F238E27FC236}">
                  <a16:creationId xmlns:a16="http://schemas.microsoft.com/office/drawing/2014/main" id="{6EFB3967-0BB1-8F7A-9A36-FEC849E672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40" name="Slide Number Placeholder 2">
            <a:extLst>
              <a:ext uri="{FF2B5EF4-FFF2-40B4-BE49-F238E27FC236}">
                <a16:creationId xmlns:a16="http://schemas.microsoft.com/office/drawing/2014/main" id="{FA8EBAAC-B8C9-0EC6-C445-35980C724ADD}"/>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26</a:t>
            </a:fld>
            <a:endParaRPr lang="en-US" dirty="0"/>
          </a:p>
        </p:txBody>
      </p:sp>
    </p:spTree>
    <p:extLst>
      <p:ext uri="{BB962C8B-B14F-4D97-AF65-F5344CB8AC3E}">
        <p14:creationId xmlns:p14="http://schemas.microsoft.com/office/powerpoint/2010/main" val="3220797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1000"/>
                                  </p:stCondLst>
                                  <p:childTnLst>
                                    <p:set>
                                      <p:cBhvr>
                                        <p:cTn id="6" dur="1" fill="hold">
                                          <p:stCondLst>
                                            <p:cond delay="0"/>
                                          </p:stCondLst>
                                        </p:cTn>
                                        <p:tgtEl>
                                          <p:spTgt spid="73"/>
                                        </p:tgtEl>
                                        <p:attrNameLst>
                                          <p:attrName>style.visibility</p:attrName>
                                        </p:attrNameLst>
                                      </p:cBhvr>
                                      <p:to>
                                        <p:strVal val="visible"/>
                                      </p:to>
                                    </p:set>
                                    <p:animEffect transition="in" filter="dissolve">
                                      <p:cBhvr>
                                        <p:cTn id="7" dur="500"/>
                                        <p:tgtEl>
                                          <p:spTgt spid="73"/>
                                        </p:tgtEl>
                                      </p:cBhvr>
                                    </p:animEffect>
                                  </p:childTnLst>
                                </p:cTn>
                              </p:par>
                            </p:childTnLst>
                          </p:cTn>
                        </p:par>
                        <p:par>
                          <p:cTn id="8" fill="hold">
                            <p:stCondLst>
                              <p:cond delay="1500"/>
                            </p:stCondLst>
                            <p:childTnLst>
                              <p:par>
                                <p:cTn id="9" presetID="22" presetClass="entr" presetSubtype="2"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wipe(right)">
                                      <p:cBhvr>
                                        <p:cTn id="11" dur="500"/>
                                        <p:tgtEl>
                                          <p:spTgt spid="122"/>
                                        </p:tgtEl>
                                      </p:cBhvr>
                                    </p:animEffect>
                                  </p:childTnLst>
                                </p:cTn>
                              </p:par>
                            </p:childTnLst>
                          </p:cTn>
                        </p:par>
                        <p:par>
                          <p:cTn id="12" fill="hold">
                            <p:stCondLst>
                              <p:cond delay="2000"/>
                            </p:stCondLst>
                            <p:childTnLst>
                              <p:par>
                                <p:cTn id="13" presetID="22" presetClass="entr" presetSubtype="2" fill="hold" nodeType="afterEffect">
                                  <p:stCondLst>
                                    <p:cond delay="0"/>
                                  </p:stCondLst>
                                  <p:childTnLst>
                                    <p:set>
                                      <p:cBhvr>
                                        <p:cTn id="14" dur="1" fill="hold">
                                          <p:stCondLst>
                                            <p:cond delay="0"/>
                                          </p:stCondLst>
                                        </p:cTn>
                                        <p:tgtEl>
                                          <p:spTgt spid="82"/>
                                        </p:tgtEl>
                                        <p:attrNameLst>
                                          <p:attrName>style.visibility</p:attrName>
                                        </p:attrNameLst>
                                      </p:cBhvr>
                                      <p:to>
                                        <p:strVal val="visible"/>
                                      </p:to>
                                    </p:set>
                                    <p:animEffect transition="in" filter="wipe(right)">
                                      <p:cBhvr>
                                        <p:cTn id="15" dur="500"/>
                                        <p:tgtEl>
                                          <p:spTgt spid="82"/>
                                        </p:tgtEl>
                                      </p:cBhvr>
                                    </p:animEffect>
                                  </p:childTnLst>
                                </p:cTn>
                              </p:par>
                            </p:childTnLst>
                          </p:cTn>
                        </p:par>
                        <p:par>
                          <p:cTn id="16" fill="hold">
                            <p:stCondLst>
                              <p:cond delay="2500"/>
                            </p:stCondLst>
                            <p:childTnLst>
                              <p:par>
                                <p:cTn id="17" presetID="22" presetClass="entr" presetSubtype="2" fill="hold" nodeType="after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wipe(right)">
                                      <p:cBhvr>
                                        <p:cTn id="19" dur="500"/>
                                        <p:tgtEl>
                                          <p:spTgt spid="119"/>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500"/>
                                        <p:tgtEl>
                                          <p:spTgt spid="105"/>
                                        </p:tgtEl>
                                      </p:cBhvr>
                                    </p:animEffect>
                                  </p:childTnLst>
                                </p:cTn>
                              </p:par>
                            </p:childTnLst>
                          </p:cTn>
                        </p:par>
                        <p:par>
                          <p:cTn id="24" fill="hold">
                            <p:stCondLst>
                              <p:cond delay="3500"/>
                            </p:stCondLst>
                            <p:childTnLst>
                              <p:par>
                                <p:cTn id="25" presetID="22" presetClass="entr" presetSubtype="2" fill="hold" nodeType="afterEffect">
                                  <p:stCondLst>
                                    <p:cond delay="0"/>
                                  </p:stCondLst>
                                  <p:childTnLst>
                                    <p:set>
                                      <p:cBhvr>
                                        <p:cTn id="26" dur="1" fill="hold">
                                          <p:stCondLst>
                                            <p:cond delay="0"/>
                                          </p:stCondLst>
                                        </p:cTn>
                                        <p:tgtEl>
                                          <p:spTgt spid="116"/>
                                        </p:tgtEl>
                                        <p:attrNameLst>
                                          <p:attrName>style.visibility</p:attrName>
                                        </p:attrNameLst>
                                      </p:cBhvr>
                                      <p:to>
                                        <p:strVal val="visible"/>
                                      </p:to>
                                    </p:set>
                                    <p:animEffect transition="in" filter="wipe(right)">
                                      <p:cBhvr>
                                        <p:cTn id="27" dur="500"/>
                                        <p:tgtEl>
                                          <p:spTgt spid="116"/>
                                        </p:tgtEl>
                                      </p:cBhvr>
                                    </p:animEffect>
                                  </p:childTnLst>
                                </p:cTn>
                              </p:par>
                            </p:childTnLst>
                          </p:cTn>
                        </p:par>
                        <p:par>
                          <p:cTn id="28" fill="hold">
                            <p:stCondLst>
                              <p:cond delay="4000"/>
                            </p:stCondLst>
                            <p:childTnLst>
                              <p:par>
                                <p:cTn id="29" presetID="22" presetClass="entr" presetSubtype="2" fill="hold" nodeType="afterEffect">
                                  <p:stCondLst>
                                    <p:cond delay="0"/>
                                  </p:stCondLst>
                                  <p:childTnLst>
                                    <p:set>
                                      <p:cBhvr>
                                        <p:cTn id="30" dur="1" fill="hold">
                                          <p:stCondLst>
                                            <p:cond delay="0"/>
                                          </p:stCondLst>
                                        </p:cTn>
                                        <p:tgtEl>
                                          <p:spTgt spid="94"/>
                                        </p:tgtEl>
                                        <p:attrNameLst>
                                          <p:attrName>style.visibility</p:attrName>
                                        </p:attrNameLst>
                                      </p:cBhvr>
                                      <p:to>
                                        <p:strVal val="visible"/>
                                      </p:to>
                                    </p:set>
                                    <p:animEffect transition="in" filter="wipe(right)">
                                      <p:cBhvr>
                                        <p:cTn id="31" dur="500"/>
                                        <p:tgtEl>
                                          <p:spTgt spid="94"/>
                                        </p:tgtEl>
                                      </p:cBhvr>
                                    </p:animEffect>
                                  </p:childTnLst>
                                </p:cTn>
                              </p:par>
                            </p:childTnLst>
                          </p:cTn>
                        </p:par>
                        <p:par>
                          <p:cTn id="32" fill="hold">
                            <p:stCondLst>
                              <p:cond delay="4500"/>
                            </p:stCondLst>
                            <p:childTnLst>
                              <p:par>
                                <p:cTn id="33" presetID="22" presetClass="entr" presetSubtype="2" fill="hold" grpId="0" nodeType="afterEffect">
                                  <p:stCondLst>
                                    <p:cond delay="0"/>
                                  </p:stCondLst>
                                  <p:childTnLst>
                                    <p:set>
                                      <p:cBhvr>
                                        <p:cTn id="34" dur="1" fill="hold">
                                          <p:stCondLst>
                                            <p:cond delay="0"/>
                                          </p:stCondLst>
                                        </p:cTn>
                                        <p:tgtEl>
                                          <p:spTgt spid="123"/>
                                        </p:tgtEl>
                                        <p:attrNameLst>
                                          <p:attrName>style.visibility</p:attrName>
                                        </p:attrNameLst>
                                      </p:cBhvr>
                                      <p:to>
                                        <p:strVal val="visible"/>
                                      </p:to>
                                    </p:set>
                                    <p:animEffect transition="in" filter="wipe(right)">
                                      <p:cBhvr>
                                        <p:cTn id="35" dur="500"/>
                                        <p:tgtEl>
                                          <p:spTgt spid="123"/>
                                        </p:tgtEl>
                                      </p:cBhvr>
                                    </p:animEffect>
                                  </p:childTnLst>
                                </p:cTn>
                              </p:par>
                            </p:childTnLst>
                          </p:cTn>
                        </p:par>
                        <p:par>
                          <p:cTn id="36" fill="hold">
                            <p:stCondLst>
                              <p:cond delay="5000"/>
                            </p:stCondLst>
                            <p:childTnLst>
                              <p:par>
                                <p:cTn id="37" presetID="9" presetClass="entr" presetSubtype="0" fill="hold" nodeType="after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dissolve">
                                      <p:cBhvr>
                                        <p:cTn id="39"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Rectangle 2">
            <a:extLst>
              <a:ext uri="{FF2B5EF4-FFF2-40B4-BE49-F238E27FC236}">
                <a16:creationId xmlns:a16="http://schemas.microsoft.com/office/drawing/2014/main" id="{C589F25D-417A-019C-69C6-590D4E096D16}"/>
              </a:ext>
            </a:extLst>
          </p:cNvPr>
          <p:cNvSpPr>
            <a:spLocks noChangeArrowheads="1"/>
          </p:cNvSpPr>
          <p:nvPr/>
        </p:nvSpPr>
        <p:spPr bwMode="auto">
          <a:xfrm>
            <a:off x="940249" y="1615248"/>
            <a:ext cx="8886885" cy="456171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9C0B3723-D994-4335-5C2C-C6E6C1C8A024}"/>
              </a:ext>
            </a:extLst>
          </p:cNvPr>
          <p:cNvSpPr>
            <a:spLocks noGrp="1"/>
          </p:cNvSpPr>
          <p:nvPr>
            <p:ph type="title" idx="4294967295"/>
          </p:nvPr>
        </p:nvSpPr>
        <p:spPr>
          <a:xfrm>
            <a:off x="870155" y="681038"/>
            <a:ext cx="9654589" cy="1009650"/>
          </a:xfrm>
        </p:spPr>
        <p:txBody>
          <a:bodyPr>
            <a:noAutofit/>
          </a:bodyPr>
          <a:lstStyle/>
          <a:p>
            <a:r>
              <a:rPr lang="en-US" sz="3200" dirty="0"/>
              <a:t>Layout of Current State Map </a:t>
            </a:r>
            <a:br>
              <a:rPr lang="en-US" sz="3200" dirty="0"/>
            </a:br>
            <a:r>
              <a:rPr lang="en-US" sz="3200" dirty="0"/>
              <a:t>for Transactional Processes</a:t>
            </a:r>
          </a:p>
        </p:txBody>
      </p:sp>
      <p:sp>
        <p:nvSpPr>
          <p:cNvPr id="153" name="AutoShape 3">
            <a:extLst>
              <a:ext uri="{FF2B5EF4-FFF2-40B4-BE49-F238E27FC236}">
                <a16:creationId xmlns:a16="http://schemas.microsoft.com/office/drawing/2014/main" id="{C0E30E56-0948-9197-3A9C-BCD0A0F46806}"/>
              </a:ext>
            </a:extLst>
          </p:cNvPr>
          <p:cNvSpPr>
            <a:spLocks noChangeArrowheads="1"/>
          </p:cNvSpPr>
          <p:nvPr/>
        </p:nvSpPr>
        <p:spPr bwMode="auto">
          <a:xfrm>
            <a:off x="2110866" y="3776395"/>
            <a:ext cx="6603080" cy="1471921"/>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54" name="Group 5">
            <a:extLst>
              <a:ext uri="{FF2B5EF4-FFF2-40B4-BE49-F238E27FC236}">
                <a16:creationId xmlns:a16="http://schemas.microsoft.com/office/drawing/2014/main" id="{B9FE36EC-F9C9-BA79-616E-ED5D3A4AC236}"/>
              </a:ext>
            </a:extLst>
          </p:cNvPr>
          <p:cNvGrpSpPr>
            <a:grpSpLocks/>
          </p:cNvGrpSpPr>
          <p:nvPr/>
        </p:nvGrpSpPr>
        <p:grpSpPr bwMode="auto">
          <a:xfrm>
            <a:off x="2231516" y="5457111"/>
            <a:ext cx="5945188" cy="194830"/>
            <a:chOff x="788" y="3649"/>
            <a:chExt cx="3845" cy="146"/>
          </a:xfrm>
        </p:grpSpPr>
        <p:sp>
          <p:nvSpPr>
            <p:cNvPr id="155" name="Line 6">
              <a:extLst>
                <a:ext uri="{FF2B5EF4-FFF2-40B4-BE49-F238E27FC236}">
                  <a16:creationId xmlns:a16="http://schemas.microsoft.com/office/drawing/2014/main" id="{1B322D92-EC6B-84EF-C97E-740B4796790D}"/>
                </a:ext>
              </a:extLst>
            </p:cNvPr>
            <p:cNvSpPr>
              <a:spLocks noChangeShapeType="1"/>
            </p:cNvSpPr>
            <p:nvPr/>
          </p:nvSpPr>
          <p:spPr bwMode="auto">
            <a:xfrm>
              <a:off x="788" y="3658"/>
              <a:ext cx="701" cy="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6" name="Line 7">
              <a:extLst>
                <a:ext uri="{FF2B5EF4-FFF2-40B4-BE49-F238E27FC236}">
                  <a16:creationId xmlns:a16="http://schemas.microsoft.com/office/drawing/2014/main" id="{024E832B-A93A-A8E9-3130-659E398F7CCB}"/>
                </a:ext>
              </a:extLst>
            </p:cNvPr>
            <p:cNvSpPr>
              <a:spLocks noChangeShapeType="1"/>
            </p:cNvSpPr>
            <p:nvPr/>
          </p:nvSpPr>
          <p:spPr bwMode="auto">
            <a:xfrm>
              <a:off x="1486"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7" name="Line 8">
              <a:extLst>
                <a:ext uri="{FF2B5EF4-FFF2-40B4-BE49-F238E27FC236}">
                  <a16:creationId xmlns:a16="http://schemas.microsoft.com/office/drawing/2014/main" id="{CD56B2AA-5BA3-EBAD-441C-DCD7375FE195}"/>
                </a:ext>
              </a:extLst>
            </p:cNvPr>
            <p:cNvSpPr>
              <a:spLocks noChangeShapeType="1"/>
            </p:cNvSpPr>
            <p:nvPr/>
          </p:nvSpPr>
          <p:spPr bwMode="auto">
            <a:xfrm>
              <a:off x="1479"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8" name="Line 9">
              <a:extLst>
                <a:ext uri="{FF2B5EF4-FFF2-40B4-BE49-F238E27FC236}">
                  <a16:creationId xmlns:a16="http://schemas.microsoft.com/office/drawing/2014/main" id="{0695D9BB-EDDD-DDAA-4595-3E40C3E81064}"/>
                </a:ext>
              </a:extLst>
            </p:cNvPr>
            <p:cNvSpPr>
              <a:spLocks noChangeShapeType="1"/>
            </p:cNvSpPr>
            <p:nvPr/>
          </p:nvSpPr>
          <p:spPr bwMode="auto">
            <a:xfrm>
              <a:off x="1795"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 name="Line 10">
              <a:extLst>
                <a:ext uri="{FF2B5EF4-FFF2-40B4-BE49-F238E27FC236}">
                  <a16:creationId xmlns:a16="http://schemas.microsoft.com/office/drawing/2014/main" id="{E3330A76-EF62-1A2E-6423-EC9B4AF7DEAD}"/>
                </a:ext>
              </a:extLst>
            </p:cNvPr>
            <p:cNvSpPr>
              <a:spLocks noChangeShapeType="1"/>
            </p:cNvSpPr>
            <p:nvPr/>
          </p:nvSpPr>
          <p:spPr bwMode="auto">
            <a:xfrm>
              <a:off x="1795"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 name="Line 11">
              <a:extLst>
                <a:ext uri="{FF2B5EF4-FFF2-40B4-BE49-F238E27FC236}">
                  <a16:creationId xmlns:a16="http://schemas.microsoft.com/office/drawing/2014/main" id="{CB30B9E7-5F10-2723-5722-F27B13B27A54}"/>
                </a:ext>
              </a:extLst>
            </p:cNvPr>
            <p:cNvSpPr>
              <a:spLocks noChangeShapeType="1"/>
            </p:cNvSpPr>
            <p:nvPr/>
          </p:nvSpPr>
          <p:spPr bwMode="auto">
            <a:xfrm>
              <a:off x="2234"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 name="Line 12">
              <a:extLst>
                <a:ext uri="{FF2B5EF4-FFF2-40B4-BE49-F238E27FC236}">
                  <a16:creationId xmlns:a16="http://schemas.microsoft.com/office/drawing/2014/main" id="{1A16E802-3A7E-1876-6618-F77AF37E5C17}"/>
                </a:ext>
              </a:extLst>
            </p:cNvPr>
            <p:cNvSpPr>
              <a:spLocks noChangeShapeType="1"/>
            </p:cNvSpPr>
            <p:nvPr/>
          </p:nvSpPr>
          <p:spPr bwMode="auto">
            <a:xfrm>
              <a:off x="250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 name="Line 13">
              <a:extLst>
                <a:ext uri="{FF2B5EF4-FFF2-40B4-BE49-F238E27FC236}">
                  <a16:creationId xmlns:a16="http://schemas.microsoft.com/office/drawing/2014/main" id="{C973EB78-C064-0ED3-B65F-A83B04CFFB00}"/>
                </a:ext>
              </a:extLst>
            </p:cNvPr>
            <p:cNvSpPr>
              <a:spLocks noChangeShapeType="1"/>
            </p:cNvSpPr>
            <p:nvPr/>
          </p:nvSpPr>
          <p:spPr bwMode="auto">
            <a:xfrm>
              <a:off x="2503"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 name="Line 14">
              <a:extLst>
                <a:ext uri="{FF2B5EF4-FFF2-40B4-BE49-F238E27FC236}">
                  <a16:creationId xmlns:a16="http://schemas.microsoft.com/office/drawing/2014/main" id="{F68AD1E2-AFEC-44F8-6A77-8F6D8B6A1139}"/>
                </a:ext>
              </a:extLst>
            </p:cNvPr>
            <p:cNvSpPr>
              <a:spLocks noChangeShapeType="1"/>
            </p:cNvSpPr>
            <p:nvPr/>
          </p:nvSpPr>
          <p:spPr bwMode="auto">
            <a:xfrm>
              <a:off x="2943"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4" name="Line 15">
              <a:extLst>
                <a:ext uri="{FF2B5EF4-FFF2-40B4-BE49-F238E27FC236}">
                  <a16:creationId xmlns:a16="http://schemas.microsoft.com/office/drawing/2014/main" id="{AFA2A52F-DA16-554B-743E-D6EDF4B3EA89}"/>
                </a:ext>
              </a:extLst>
            </p:cNvPr>
            <p:cNvSpPr>
              <a:spLocks noChangeShapeType="1"/>
            </p:cNvSpPr>
            <p:nvPr/>
          </p:nvSpPr>
          <p:spPr bwMode="auto">
            <a:xfrm>
              <a:off x="2238" y="3792"/>
              <a:ext cx="2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5" name="Line 16">
              <a:extLst>
                <a:ext uri="{FF2B5EF4-FFF2-40B4-BE49-F238E27FC236}">
                  <a16:creationId xmlns:a16="http://schemas.microsoft.com/office/drawing/2014/main" id="{80A175B3-E00F-E2BD-6EFE-6E9C27C5CBF4}"/>
                </a:ext>
              </a:extLst>
            </p:cNvPr>
            <p:cNvSpPr>
              <a:spLocks noChangeShapeType="1"/>
            </p:cNvSpPr>
            <p:nvPr/>
          </p:nvSpPr>
          <p:spPr bwMode="auto">
            <a:xfrm>
              <a:off x="2943"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6" name="Line 17">
              <a:extLst>
                <a:ext uri="{FF2B5EF4-FFF2-40B4-BE49-F238E27FC236}">
                  <a16:creationId xmlns:a16="http://schemas.microsoft.com/office/drawing/2014/main" id="{7E4CC510-C5E4-AB63-AF21-E4EE7B35B0A1}"/>
                </a:ext>
              </a:extLst>
            </p:cNvPr>
            <p:cNvSpPr>
              <a:spLocks noChangeShapeType="1"/>
            </p:cNvSpPr>
            <p:nvPr/>
          </p:nvSpPr>
          <p:spPr bwMode="auto">
            <a:xfrm>
              <a:off x="3258"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 name="Line 18">
              <a:extLst>
                <a:ext uri="{FF2B5EF4-FFF2-40B4-BE49-F238E27FC236}">
                  <a16:creationId xmlns:a16="http://schemas.microsoft.com/office/drawing/2014/main" id="{820F34E5-761A-00D8-6391-81AADA33878A}"/>
                </a:ext>
              </a:extLst>
            </p:cNvPr>
            <p:cNvSpPr>
              <a:spLocks noChangeShapeType="1"/>
            </p:cNvSpPr>
            <p:nvPr/>
          </p:nvSpPr>
          <p:spPr bwMode="auto">
            <a:xfrm>
              <a:off x="3258" y="3652"/>
              <a:ext cx="386" cy="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 name="Line 19">
              <a:extLst>
                <a:ext uri="{FF2B5EF4-FFF2-40B4-BE49-F238E27FC236}">
                  <a16:creationId xmlns:a16="http://schemas.microsoft.com/office/drawing/2014/main" id="{2635A748-436D-E7A0-4F88-0A5AF7AB830E}"/>
                </a:ext>
              </a:extLst>
            </p:cNvPr>
            <p:cNvSpPr>
              <a:spLocks noChangeShapeType="1"/>
            </p:cNvSpPr>
            <p:nvPr/>
          </p:nvSpPr>
          <p:spPr bwMode="auto">
            <a:xfrm>
              <a:off x="3638"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 name="Line 20">
              <a:extLst>
                <a:ext uri="{FF2B5EF4-FFF2-40B4-BE49-F238E27FC236}">
                  <a16:creationId xmlns:a16="http://schemas.microsoft.com/office/drawing/2014/main" id="{EADDF96E-EA1E-A1B1-738D-AAA3BC9CCB66}"/>
                </a:ext>
              </a:extLst>
            </p:cNvPr>
            <p:cNvSpPr>
              <a:spLocks noChangeShapeType="1"/>
            </p:cNvSpPr>
            <p:nvPr/>
          </p:nvSpPr>
          <p:spPr bwMode="auto">
            <a:xfrm>
              <a:off x="3638"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 name="Line 21">
              <a:extLst>
                <a:ext uri="{FF2B5EF4-FFF2-40B4-BE49-F238E27FC236}">
                  <a16:creationId xmlns:a16="http://schemas.microsoft.com/office/drawing/2014/main" id="{D7717C5D-9590-CE6E-BA83-AE4529E1EF5D}"/>
                </a:ext>
              </a:extLst>
            </p:cNvPr>
            <p:cNvSpPr>
              <a:spLocks noChangeShapeType="1"/>
            </p:cNvSpPr>
            <p:nvPr/>
          </p:nvSpPr>
          <p:spPr bwMode="auto">
            <a:xfrm>
              <a:off x="395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 name="Line 22">
              <a:extLst>
                <a:ext uri="{FF2B5EF4-FFF2-40B4-BE49-F238E27FC236}">
                  <a16:creationId xmlns:a16="http://schemas.microsoft.com/office/drawing/2014/main" id="{6AD7BD44-5116-A938-66E8-6853F9EFA462}"/>
                </a:ext>
              </a:extLst>
            </p:cNvPr>
            <p:cNvSpPr>
              <a:spLocks noChangeShapeType="1"/>
            </p:cNvSpPr>
            <p:nvPr/>
          </p:nvSpPr>
          <p:spPr bwMode="auto">
            <a:xfrm flipV="1">
              <a:off x="3953" y="3651"/>
              <a:ext cx="680"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2" name="Rectangle 23">
            <a:extLst>
              <a:ext uri="{FF2B5EF4-FFF2-40B4-BE49-F238E27FC236}">
                <a16:creationId xmlns:a16="http://schemas.microsoft.com/office/drawing/2014/main" id="{A027A7E6-4FDC-7FC2-E4DA-C292326D4D05}"/>
              </a:ext>
            </a:extLst>
          </p:cNvPr>
          <p:cNvSpPr>
            <a:spLocks noChangeArrowheads="1"/>
          </p:cNvSpPr>
          <p:nvPr/>
        </p:nvSpPr>
        <p:spPr bwMode="auto">
          <a:xfrm>
            <a:off x="3347529" y="3857273"/>
            <a:ext cx="415925" cy="48779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Rectangle 24">
            <a:extLst>
              <a:ext uri="{FF2B5EF4-FFF2-40B4-BE49-F238E27FC236}">
                <a16:creationId xmlns:a16="http://schemas.microsoft.com/office/drawing/2014/main" id="{6BE69F87-EFD7-476E-3C8E-999060111EBF}"/>
              </a:ext>
            </a:extLst>
          </p:cNvPr>
          <p:cNvSpPr>
            <a:spLocks noChangeArrowheads="1"/>
          </p:cNvSpPr>
          <p:nvPr/>
        </p:nvSpPr>
        <p:spPr bwMode="auto">
          <a:xfrm>
            <a:off x="4482591" y="3857273"/>
            <a:ext cx="415925" cy="48779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4" name="Rectangle 25">
            <a:extLst>
              <a:ext uri="{FF2B5EF4-FFF2-40B4-BE49-F238E27FC236}">
                <a16:creationId xmlns:a16="http://schemas.microsoft.com/office/drawing/2014/main" id="{EA1A8C74-AE9F-84D1-D76E-6ABC6E770BDA}"/>
              </a:ext>
            </a:extLst>
          </p:cNvPr>
          <p:cNvSpPr>
            <a:spLocks noChangeArrowheads="1"/>
          </p:cNvSpPr>
          <p:nvPr/>
        </p:nvSpPr>
        <p:spPr bwMode="auto">
          <a:xfrm>
            <a:off x="5590666" y="3857273"/>
            <a:ext cx="415925" cy="48779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5" name="Rectangle 26">
            <a:extLst>
              <a:ext uri="{FF2B5EF4-FFF2-40B4-BE49-F238E27FC236}">
                <a16:creationId xmlns:a16="http://schemas.microsoft.com/office/drawing/2014/main" id="{BA194748-B4CF-343B-E1A3-702AAE8EB524}"/>
              </a:ext>
            </a:extLst>
          </p:cNvPr>
          <p:cNvSpPr>
            <a:spLocks noChangeArrowheads="1"/>
          </p:cNvSpPr>
          <p:nvPr/>
        </p:nvSpPr>
        <p:spPr bwMode="auto">
          <a:xfrm>
            <a:off x="6670166" y="3857273"/>
            <a:ext cx="415925" cy="48779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6" name="Line 27">
            <a:extLst>
              <a:ext uri="{FF2B5EF4-FFF2-40B4-BE49-F238E27FC236}">
                <a16:creationId xmlns:a16="http://schemas.microsoft.com/office/drawing/2014/main" id="{05758170-E837-5235-8CA5-EBE2B68F5E2D}"/>
              </a:ext>
            </a:extLst>
          </p:cNvPr>
          <p:cNvSpPr>
            <a:spLocks noChangeShapeType="1"/>
          </p:cNvSpPr>
          <p:nvPr/>
        </p:nvSpPr>
        <p:spPr bwMode="auto">
          <a:xfrm>
            <a:off x="3357054" y="3974170"/>
            <a:ext cx="414337"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7" name="Line 28">
            <a:extLst>
              <a:ext uri="{FF2B5EF4-FFF2-40B4-BE49-F238E27FC236}">
                <a16:creationId xmlns:a16="http://schemas.microsoft.com/office/drawing/2014/main" id="{13D7FF73-6DC4-3674-0F2E-0475B7405AB4}"/>
              </a:ext>
            </a:extLst>
          </p:cNvPr>
          <p:cNvSpPr>
            <a:spLocks noChangeShapeType="1"/>
          </p:cNvSpPr>
          <p:nvPr/>
        </p:nvSpPr>
        <p:spPr bwMode="auto">
          <a:xfrm>
            <a:off x="4479416" y="3966233"/>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8" name="Line 29">
            <a:extLst>
              <a:ext uri="{FF2B5EF4-FFF2-40B4-BE49-F238E27FC236}">
                <a16:creationId xmlns:a16="http://schemas.microsoft.com/office/drawing/2014/main" id="{9F375913-BCBD-73DF-6981-302BAC6C5E27}"/>
              </a:ext>
            </a:extLst>
          </p:cNvPr>
          <p:cNvSpPr>
            <a:spLocks noChangeShapeType="1"/>
          </p:cNvSpPr>
          <p:nvPr/>
        </p:nvSpPr>
        <p:spPr bwMode="auto">
          <a:xfrm>
            <a:off x="5593841" y="3956708"/>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79" name="Line 30">
            <a:extLst>
              <a:ext uri="{FF2B5EF4-FFF2-40B4-BE49-F238E27FC236}">
                <a16:creationId xmlns:a16="http://schemas.microsoft.com/office/drawing/2014/main" id="{3027AF0A-3183-2338-D35D-176439CEE027}"/>
              </a:ext>
            </a:extLst>
          </p:cNvPr>
          <p:cNvSpPr>
            <a:spLocks noChangeShapeType="1"/>
          </p:cNvSpPr>
          <p:nvPr/>
        </p:nvSpPr>
        <p:spPr bwMode="auto">
          <a:xfrm>
            <a:off x="6660641" y="3948770"/>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180" name="Group 31">
            <a:extLst>
              <a:ext uri="{FF2B5EF4-FFF2-40B4-BE49-F238E27FC236}">
                <a16:creationId xmlns:a16="http://schemas.microsoft.com/office/drawing/2014/main" id="{8E5B4BF9-7EFF-F4C7-05EF-4E322E9D5B6F}"/>
              </a:ext>
            </a:extLst>
          </p:cNvPr>
          <p:cNvGrpSpPr>
            <a:grpSpLocks/>
          </p:cNvGrpSpPr>
          <p:nvPr/>
        </p:nvGrpSpPr>
        <p:grpSpPr bwMode="auto">
          <a:xfrm>
            <a:off x="3357054" y="4518177"/>
            <a:ext cx="415925" cy="402648"/>
            <a:chOff x="1702" y="2990"/>
            <a:chExt cx="269" cy="301"/>
          </a:xfrm>
        </p:grpSpPr>
        <p:sp>
          <p:nvSpPr>
            <p:cNvPr id="181" name="Rectangle 32">
              <a:extLst>
                <a:ext uri="{FF2B5EF4-FFF2-40B4-BE49-F238E27FC236}">
                  <a16:creationId xmlns:a16="http://schemas.microsoft.com/office/drawing/2014/main" id="{D1B37B4F-90A1-41FB-863D-C525FEA5F981}"/>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2" name="Line 33">
              <a:extLst>
                <a:ext uri="{FF2B5EF4-FFF2-40B4-BE49-F238E27FC236}">
                  <a16:creationId xmlns:a16="http://schemas.microsoft.com/office/drawing/2014/main" id="{4142FF29-75D9-6B9C-8F37-AD6EAEEC43D0}"/>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3" name="Line 34">
              <a:extLst>
                <a:ext uri="{FF2B5EF4-FFF2-40B4-BE49-F238E27FC236}">
                  <a16:creationId xmlns:a16="http://schemas.microsoft.com/office/drawing/2014/main" id="{F3470EF4-A819-B0B0-8FCB-7536AF772B55}"/>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35">
              <a:extLst>
                <a:ext uri="{FF2B5EF4-FFF2-40B4-BE49-F238E27FC236}">
                  <a16:creationId xmlns:a16="http://schemas.microsoft.com/office/drawing/2014/main" id="{8B6A53F8-FE82-4121-BA76-085AEC563643}"/>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5" name="Line 36">
              <a:extLst>
                <a:ext uri="{FF2B5EF4-FFF2-40B4-BE49-F238E27FC236}">
                  <a16:creationId xmlns:a16="http://schemas.microsoft.com/office/drawing/2014/main" id="{4E17C0AA-92CC-9E7A-D2A7-88435DE10869}"/>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6" name="Line 37">
              <a:extLst>
                <a:ext uri="{FF2B5EF4-FFF2-40B4-BE49-F238E27FC236}">
                  <a16:creationId xmlns:a16="http://schemas.microsoft.com/office/drawing/2014/main" id="{0F87012F-C3E1-5F29-6AED-70AA6B0346F5}"/>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7" name="Line 38">
              <a:extLst>
                <a:ext uri="{FF2B5EF4-FFF2-40B4-BE49-F238E27FC236}">
                  <a16:creationId xmlns:a16="http://schemas.microsoft.com/office/drawing/2014/main" id="{B5F9FDB4-00EB-948D-36EE-720600739B4B}"/>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8" name="Group 39">
            <a:extLst>
              <a:ext uri="{FF2B5EF4-FFF2-40B4-BE49-F238E27FC236}">
                <a16:creationId xmlns:a16="http://schemas.microsoft.com/office/drawing/2014/main" id="{328B7661-E075-3A77-D0EC-B3809BB1A893}"/>
              </a:ext>
            </a:extLst>
          </p:cNvPr>
          <p:cNvGrpSpPr>
            <a:grpSpLocks/>
          </p:cNvGrpSpPr>
          <p:nvPr/>
        </p:nvGrpSpPr>
        <p:grpSpPr bwMode="auto">
          <a:xfrm>
            <a:off x="4482591" y="4548268"/>
            <a:ext cx="415925" cy="401205"/>
            <a:chOff x="1702" y="2990"/>
            <a:chExt cx="269" cy="301"/>
          </a:xfrm>
        </p:grpSpPr>
        <p:sp>
          <p:nvSpPr>
            <p:cNvPr id="189" name="Rectangle 40">
              <a:extLst>
                <a:ext uri="{FF2B5EF4-FFF2-40B4-BE49-F238E27FC236}">
                  <a16:creationId xmlns:a16="http://schemas.microsoft.com/office/drawing/2014/main" id="{0E4DFB90-4598-DA69-763A-DA2A934DF43A}"/>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0" name="Line 41">
              <a:extLst>
                <a:ext uri="{FF2B5EF4-FFF2-40B4-BE49-F238E27FC236}">
                  <a16:creationId xmlns:a16="http://schemas.microsoft.com/office/drawing/2014/main" id="{18A9A24E-716D-011F-779A-8ED713BBB2F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1" name="Line 42">
              <a:extLst>
                <a:ext uri="{FF2B5EF4-FFF2-40B4-BE49-F238E27FC236}">
                  <a16:creationId xmlns:a16="http://schemas.microsoft.com/office/drawing/2014/main" id="{FB4A0123-206B-89F3-C051-2147C76E1782}"/>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2" name="Line 43">
              <a:extLst>
                <a:ext uri="{FF2B5EF4-FFF2-40B4-BE49-F238E27FC236}">
                  <a16:creationId xmlns:a16="http://schemas.microsoft.com/office/drawing/2014/main" id="{6F8995B9-49FB-F859-F43D-7296B546BE83}"/>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3" name="Line 44">
              <a:extLst>
                <a:ext uri="{FF2B5EF4-FFF2-40B4-BE49-F238E27FC236}">
                  <a16:creationId xmlns:a16="http://schemas.microsoft.com/office/drawing/2014/main" id="{8AA2D579-0AF0-835C-2DE1-60A01B94023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4" name="Line 45">
              <a:extLst>
                <a:ext uri="{FF2B5EF4-FFF2-40B4-BE49-F238E27FC236}">
                  <a16:creationId xmlns:a16="http://schemas.microsoft.com/office/drawing/2014/main" id="{847C49E2-E2BB-CAA0-25D0-4DD839BE1EAC}"/>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5" name="Line 46">
              <a:extLst>
                <a:ext uri="{FF2B5EF4-FFF2-40B4-BE49-F238E27FC236}">
                  <a16:creationId xmlns:a16="http://schemas.microsoft.com/office/drawing/2014/main" id="{D3B1DBC9-3ECF-3912-4CB6-697E649DF70F}"/>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96" name="Group 47">
            <a:extLst>
              <a:ext uri="{FF2B5EF4-FFF2-40B4-BE49-F238E27FC236}">
                <a16:creationId xmlns:a16="http://schemas.microsoft.com/office/drawing/2014/main" id="{7A69F416-8F0E-14D8-6845-7043338927CE}"/>
              </a:ext>
            </a:extLst>
          </p:cNvPr>
          <p:cNvGrpSpPr>
            <a:grpSpLocks/>
          </p:cNvGrpSpPr>
          <p:nvPr/>
        </p:nvGrpSpPr>
        <p:grpSpPr bwMode="auto">
          <a:xfrm>
            <a:off x="5592254" y="4532393"/>
            <a:ext cx="415925" cy="401205"/>
            <a:chOff x="1702" y="2990"/>
            <a:chExt cx="269" cy="301"/>
          </a:xfrm>
        </p:grpSpPr>
        <p:sp>
          <p:nvSpPr>
            <p:cNvPr id="197" name="Rectangle 48">
              <a:extLst>
                <a:ext uri="{FF2B5EF4-FFF2-40B4-BE49-F238E27FC236}">
                  <a16:creationId xmlns:a16="http://schemas.microsoft.com/office/drawing/2014/main" id="{CF9A058B-79F6-EDA3-3F5C-69C629CA4102}"/>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8" name="Line 49">
              <a:extLst>
                <a:ext uri="{FF2B5EF4-FFF2-40B4-BE49-F238E27FC236}">
                  <a16:creationId xmlns:a16="http://schemas.microsoft.com/office/drawing/2014/main" id="{CF666047-33FA-ED7B-6E04-192E178934FA}"/>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99" name="Line 50">
              <a:extLst>
                <a:ext uri="{FF2B5EF4-FFF2-40B4-BE49-F238E27FC236}">
                  <a16:creationId xmlns:a16="http://schemas.microsoft.com/office/drawing/2014/main" id="{F028DCB4-B90B-CF44-BB7B-ABE2CF081E67}"/>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0" name="Line 51">
              <a:extLst>
                <a:ext uri="{FF2B5EF4-FFF2-40B4-BE49-F238E27FC236}">
                  <a16:creationId xmlns:a16="http://schemas.microsoft.com/office/drawing/2014/main" id="{8C7A14BC-671D-C842-36EC-B83EADB35325}"/>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1" name="Line 52">
              <a:extLst>
                <a:ext uri="{FF2B5EF4-FFF2-40B4-BE49-F238E27FC236}">
                  <a16:creationId xmlns:a16="http://schemas.microsoft.com/office/drawing/2014/main" id="{EFFA8499-CF75-2F72-74A5-A2FE835C0EA0}"/>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2" name="Line 53">
              <a:extLst>
                <a:ext uri="{FF2B5EF4-FFF2-40B4-BE49-F238E27FC236}">
                  <a16:creationId xmlns:a16="http://schemas.microsoft.com/office/drawing/2014/main" id="{55EC9327-14AB-7E5C-4B5C-A7E142191C8C}"/>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3" name="Line 54">
              <a:extLst>
                <a:ext uri="{FF2B5EF4-FFF2-40B4-BE49-F238E27FC236}">
                  <a16:creationId xmlns:a16="http://schemas.microsoft.com/office/drawing/2014/main" id="{BB67D4D7-2390-FF46-3ACB-F619A9341DE3}"/>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4" name="Group 55">
            <a:extLst>
              <a:ext uri="{FF2B5EF4-FFF2-40B4-BE49-F238E27FC236}">
                <a16:creationId xmlns:a16="http://schemas.microsoft.com/office/drawing/2014/main" id="{9A528724-8C6C-4C59-1874-9AC3655F6837}"/>
              </a:ext>
            </a:extLst>
          </p:cNvPr>
          <p:cNvGrpSpPr>
            <a:grpSpLocks/>
          </p:cNvGrpSpPr>
          <p:nvPr/>
        </p:nvGrpSpPr>
        <p:grpSpPr bwMode="auto">
          <a:xfrm>
            <a:off x="6640004" y="4551443"/>
            <a:ext cx="415925" cy="401205"/>
            <a:chOff x="1702" y="2990"/>
            <a:chExt cx="269" cy="301"/>
          </a:xfrm>
        </p:grpSpPr>
        <p:sp>
          <p:nvSpPr>
            <p:cNvPr id="205" name="Rectangle 56">
              <a:extLst>
                <a:ext uri="{FF2B5EF4-FFF2-40B4-BE49-F238E27FC236}">
                  <a16:creationId xmlns:a16="http://schemas.microsoft.com/office/drawing/2014/main" id="{CFA9FB76-A3B7-10F1-7AB6-4F9166C76A64}"/>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6" name="Line 57">
              <a:extLst>
                <a:ext uri="{FF2B5EF4-FFF2-40B4-BE49-F238E27FC236}">
                  <a16:creationId xmlns:a16="http://schemas.microsoft.com/office/drawing/2014/main" id="{3BB6C09B-EC22-F230-432B-36CAC0AADB36}"/>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7" name="Line 58">
              <a:extLst>
                <a:ext uri="{FF2B5EF4-FFF2-40B4-BE49-F238E27FC236}">
                  <a16:creationId xmlns:a16="http://schemas.microsoft.com/office/drawing/2014/main" id="{30780957-B152-3C66-2E03-9F48C27B0577}"/>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8" name="Line 59">
              <a:extLst>
                <a:ext uri="{FF2B5EF4-FFF2-40B4-BE49-F238E27FC236}">
                  <a16:creationId xmlns:a16="http://schemas.microsoft.com/office/drawing/2014/main" id="{B1B21627-5CF4-D5F3-B265-DE8CABADD009}"/>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09" name="Line 60">
              <a:extLst>
                <a:ext uri="{FF2B5EF4-FFF2-40B4-BE49-F238E27FC236}">
                  <a16:creationId xmlns:a16="http://schemas.microsoft.com/office/drawing/2014/main" id="{BD6FB8EF-32C1-CA8C-3222-71161A499BD7}"/>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10" name="Line 61">
              <a:extLst>
                <a:ext uri="{FF2B5EF4-FFF2-40B4-BE49-F238E27FC236}">
                  <a16:creationId xmlns:a16="http://schemas.microsoft.com/office/drawing/2014/main" id="{FC782ADE-BD83-606B-34F4-2DAB2460F483}"/>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11" name="Line 62">
              <a:extLst>
                <a:ext uri="{FF2B5EF4-FFF2-40B4-BE49-F238E27FC236}">
                  <a16:creationId xmlns:a16="http://schemas.microsoft.com/office/drawing/2014/main" id="{B7927BF8-6811-82E3-3925-B809BDC9F606}"/>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212" name="Line 63">
            <a:extLst>
              <a:ext uri="{FF2B5EF4-FFF2-40B4-BE49-F238E27FC236}">
                <a16:creationId xmlns:a16="http://schemas.microsoft.com/office/drawing/2014/main" id="{D53D9002-BC65-A18D-4456-2C4FC2C01722}"/>
              </a:ext>
            </a:extLst>
          </p:cNvPr>
          <p:cNvSpPr>
            <a:spLocks noChangeShapeType="1"/>
          </p:cNvSpPr>
          <p:nvPr/>
        </p:nvSpPr>
        <p:spPr bwMode="auto">
          <a:xfrm flipV="1">
            <a:off x="3772979" y="4103624"/>
            <a:ext cx="711200" cy="1731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13" name="AutoShape 64">
            <a:extLst>
              <a:ext uri="{FF2B5EF4-FFF2-40B4-BE49-F238E27FC236}">
                <a16:creationId xmlns:a16="http://schemas.microsoft.com/office/drawing/2014/main" id="{B5D605E5-6952-263B-1038-3255D78BBBC9}"/>
              </a:ext>
            </a:extLst>
          </p:cNvPr>
          <p:cNvSpPr>
            <a:spLocks noChangeArrowheads="1"/>
          </p:cNvSpPr>
          <p:nvPr/>
        </p:nvSpPr>
        <p:spPr bwMode="auto">
          <a:xfrm>
            <a:off x="3999991" y="3992788"/>
            <a:ext cx="228600" cy="21359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214" name="Line 65">
            <a:extLst>
              <a:ext uri="{FF2B5EF4-FFF2-40B4-BE49-F238E27FC236}">
                <a16:creationId xmlns:a16="http://schemas.microsoft.com/office/drawing/2014/main" id="{DC093E5E-7FC0-629B-7D3B-0DB60F301A93}"/>
              </a:ext>
            </a:extLst>
          </p:cNvPr>
          <p:cNvSpPr>
            <a:spLocks noChangeShapeType="1"/>
          </p:cNvSpPr>
          <p:nvPr/>
        </p:nvSpPr>
        <p:spPr bwMode="auto">
          <a:xfrm flipV="1">
            <a:off x="4930266" y="4103624"/>
            <a:ext cx="711200" cy="1731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15" name="AutoShape 66">
            <a:extLst>
              <a:ext uri="{FF2B5EF4-FFF2-40B4-BE49-F238E27FC236}">
                <a16:creationId xmlns:a16="http://schemas.microsoft.com/office/drawing/2014/main" id="{85E3D49C-1ED8-DE74-0952-7FF1CE38E678}"/>
              </a:ext>
            </a:extLst>
          </p:cNvPr>
          <p:cNvSpPr>
            <a:spLocks noChangeArrowheads="1"/>
          </p:cNvSpPr>
          <p:nvPr/>
        </p:nvSpPr>
        <p:spPr bwMode="auto">
          <a:xfrm>
            <a:off x="5128704" y="3992788"/>
            <a:ext cx="228600" cy="21359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216" name="Line 67">
            <a:extLst>
              <a:ext uri="{FF2B5EF4-FFF2-40B4-BE49-F238E27FC236}">
                <a16:creationId xmlns:a16="http://schemas.microsoft.com/office/drawing/2014/main" id="{16CE5B63-260F-368E-3C9B-5CCE9326A513}"/>
              </a:ext>
            </a:extLst>
          </p:cNvPr>
          <p:cNvSpPr>
            <a:spLocks noChangeShapeType="1"/>
          </p:cNvSpPr>
          <p:nvPr/>
        </p:nvSpPr>
        <p:spPr bwMode="auto">
          <a:xfrm flipV="1">
            <a:off x="6020879" y="4111200"/>
            <a:ext cx="633412" cy="1010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17" name="AutoShape 68">
            <a:extLst>
              <a:ext uri="{FF2B5EF4-FFF2-40B4-BE49-F238E27FC236}">
                <a16:creationId xmlns:a16="http://schemas.microsoft.com/office/drawing/2014/main" id="{6410C64C-8FE8-682B-EE30-FCED0CF3D4D6}"/>
              </a:ext>
            </a:extLst>
          </p:cNvPr>
          <p:cNvSpPr>
            <a:spLocks noChangeArrowheads="1"/>
          </p:cNvSpPr>
          <p:nvPr/>
        </p:nvSpPr>
        <p:spPr bwMode="auto">
          <a:xfrm>
            <a:off x="6220904" y="3992788"/>
            <a:ext cx="227012" cy="21359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218" name="Rectangle 69">
            <a:extLst>
              <a:ext uri="{FF2B5EF4-FFF2-40B4-BE49-F238E27FC236}">
                <a16:creationId xmlns:a16="http://schemas.microsoft.com/office/drawing/2014/main" id="{3D63A1FB-8D78-1990-A071-BF955D881EDC}"/>
              </a:ext>
            </a:extLst>
          </p:cNvPr>
          <p:cNvSpPr>
            <a:spLocks noChangeArrowheads="1"/>
          </p:cNvSpPr>
          <p:nvPr/>
        </p:nvSpPr>
        <p:spPr bwMode="auto">
          <a:xfrm>
            <a:off x="7736966" y="3849263"/>
            <a:ext cx="415925" cy="486353"/>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9" name="Line 70">
            <a:extLst>
              <a:ext uri="{FF2B5EF4-FFF2-40B4-BE49-F238E27FC236}">
                <a16:creationId xmlns:a16="http://schemas.microsoft.com/office/drawing/2014/main" id="{F466E730-E6FA-66B6-7151-05D555FB9316}"/>
              </a:ext>
            </a:extLst>
          </p:cNvPr>
          <p:cNvSpPr>
            <a:spLocks noChangeShapeType="1"/>
          </p:cNvSpPr>
          <p:nvPr/>
        </p:nvSpPr>
        <p:spPr bwMode="auto">
          <a:xfrm>
            <a:off x="7727441" y="3939245"/>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nvGrpSpPr>
          <p:cNvPr id="220" name="Group 71">
            <a:extLst>
              <a:ext uri="{FF2B5EF4-FFF2-40B4-BE49-F238E27FC236}">
                <a16:creationId xmlns:a16="http://schemas.microsoft.com/office/drawing/2014/main" id="{5D561B61-0533-6D16-BD14-1220612A609A}"/>
              </a:ext>
            </a:extLst>
          </p:cNvPr>
          <p:cNvGrpSpPr>
            <a:grpSpLocks/>
          </p:cNvGrpSpPr>
          <p:nvPr/>
        </p:nvGrpSpPr>
        <p:grpSpPr bwMode="auto">
          <a:xfrm>
            <a:off x="7706804" y="4541918"/>
            <a:ext cx="415925" cy="401205"/>
            <a:chOff x="1702" y="2990"/>
            <a:chExt cx="269" cy="301"/>
          </a:xfrm>
        </p:grpSpPr>
        <p:sp>
          <p:nvSpPr>
            <p:cNvPr id="221" name="Rectangle 72">
              <a:extLst>
                <a:ext uri="{FF2B5EF4-FFF2-40B4-BE49-F238E27FC236}">
                  <a16:creationId xmlns:a16="http://schemas.microsoft.com/office/drawing/2014/main" id="{2F473440-791E-3208-6F9A-A6E76A57C450}"/>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2" name="Line 73">
              <a:extLst>
                <a:ext uri="{FF2B5EF4-FFF2-40B4-BE49-F238E27FC236}">
                  <a16:creationId xmlns:a16="http://schemas.microsoft.com/office/drawing/2014/main" id="{E9620732-7CCF-5DD9-EDB5-7DB0FF262CF8}"/>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3" name="Line 74">
              <a:extLst>
                <a:ext uri="{FF2B5EF4-FFF2-40B4-BE49-F238E27FC236}">
                  <a16:creationId xmlns:a16="http://schemas.microsoft.com/office/drawing/2014/main" id="{2F5E7A3F-4988-9008-D7BD-0EB1EE046B26}"/>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4" name="Line 75">
              <a:extLst>
                <a:ext uri="{FF2B5EF4-FFF2-40B4-BE49-F238E27FC236}">
                  <a16:creationId xmlns:a16="http://schemas.microsoft.com/office/drawing/2014/main" id="{C370231B-E934-C2DB-8CF3-4DFFFD38F61A}"/>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5" name="Line 76">
              <a:extLst>
                <a:ext uri="{FF2B5EF4-FFF2-40B4-BE49-F238E27FC236}">
                  <a16:creationId xmlns:a16="http://schemas.microsoft.com/office/drawing/2014/main" id="{45D2F333-CC00-29E3-73BF-7E7481122FE5}"/>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6" name="Line 77">
              <a:extLst>
                <a:ext uri="{FF2B5EF4-FFF2-40B4-BE49-F238E27FC236}">
                  <a16:creationId xmlns:a16="http://schemas.microsoft.com/office/drawing/2014/main" id="{C1D7A788-154B-B38A-5F72-650924D6B513}"/>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27" name="Line 78">
              <a:extLst>
                <a:ext uri="{FF2B5EF4-FFF2-40B4-BE49-F238E27FC236}">
                  <a16:creationId xmlns:a16="http://schemas.microsoft.com/office/drawing/2014/main" id="{165B1117-4591-8DA6-7E7D-E6E008F01C67}"/>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228" name="Line 79">
            <a:extLst>
              <a:ext uri="{FF2B5EF4-FFF2-40B4-BE49-F238E27FC236}">
                <a16:creationId xmlns:a16="http://schemas.microsoft.com/office/drawing/2014/main" id="{8788ABED-1150-E285-E20D-78033982A38B}"/>
              </a:ext>
            </a:extLst>
          </p:cNvPr>
          <p:cNvSpPr>
            <a:spLocks noChangeShapeType="1"/>
          </p:cNvSpPr>
          <p:nvPr/>
        </p:nvSpPr>
        <p:spPr bwMode="auto">
          <a:xfrm flipV="1">
            <a:off x="7089266" y="4103191"/>
            <a:ext cx="631825" cy="8659"/>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29" name="AutoShape 80">
            <a:extLst>
              <a:ext uri="{FF2B5EF4-FFF2-40B4-BE49-F238E27FC236}">
                <a16:creationId xmlns:a16="http://schemas.microsoft.com/office/drawing/2014/main" id="{C1D1EFDA-3A65-1390-4589-EE4392D0E7FC}"/>
              </a:ext>
            </a:extLst>
          </p:cNvPr>
          <p:cNvSpPr>
            <a:spLocks noChangeArrowheads="1"/>
          </p:cNvSpPr>
          <p:nvPr/>
        </p:nvSpPr>
        <p:spPr bwMode="auto">
          <a:xfrm>
            <a:off x="7287704" y="3983263"/>
            <a:ext cx="227012" cy="21359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230" name="Line 81">
            <a:extLst>
              <a:ext uri="{FF2B5EF4-FFF2-40B4-BE49-F238E27FC236}">
                <a16:creationId xmlns:a16="http://schemas.microsoft.com/office/drawing/2014/main" id="{92496665-7A09-BAD4-E806-E2E86920F1B7}"/>
              </a:ext>
            </a:extLst>
          </p:cNvPr>
          <p:cNvSpPr>
            <a:spLocks noChangeShapeType="1"/>
          </p:cNvSpPr>
          <p:nvPr/>
        </p:nvSpPr>
        <p:spPr bwMode="auto">
          <a:xfrm flipV="1">
            <a:off x="2526791" y="4120292"/>
            <a:ext cx="869950" cy="1444"/>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31" name="Text Box 82">
            <a:extLst>
              <a:ext uri="{FF2B5EF4-FFF2-40B4-BE49-F238E27FC236}">
                <a16:creationId xmlns:a16="http://schemas.microsoft.com/office/drawing/2014/main" id="{DF828162-E0E2-85FB-1A5E-1827AA73C0AC}"/>
              </a:ext>
            </a:extLst>
          </p:cNvPr>
          <p:cNvSpPr txBox="1">
            <a:spLocks noChangeArrowheads="1"/>
          </p:cNvSpPr>
          <p:nvPr/>
        </p:nvSpPr>
        <p:spPr bwMode="auto">
          <a:xfrm>
            <a:off x="4979479" y="1636938"/>
            <a:ext cx="954087" cy="277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rPr>
              <a:t>Customer</a:t>
            </a:r>
          </a:p>
        </p:txBody>
      </p:sp>
      <p:sp>
        <p:nvSpPr>
          <p:cNvPr id="232" name="Text Box 83">
            <a:extLst>
              <a:ext uri="{FF2B5EF4-FFF2-40B4-BE49-F238E27FC236}">
                <a16:creationId xmlns:a16="http://schemas.microsoft.com/office/drawing/2014/main" id="{6F4E7D64-1A9C-672F-257A-928EE89AA81F}"/>
              </a:ext>
            </a:extLst>
          </p:cNvPr>
          <p:cNvSpPr txBox="1">
            <a:spLocks noChangeArrowheads="1"/>
          </p:cNvSpPr>
          <p:nvPr/>
        </p:nvSpPr>
        <p:spPr bwMode="auto">
          <a:xfrm>
            <a:off x="4547679" y="3053132"/>
            <a:ext cx="1804987" cy="470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b="0">
                <a:solidFill>
                  <a:srgbClr val="FF0000"/>
                </a:solidFill>
              </a:rPr>
              <a:t>Information Systems</a:t>
            </a:r>
          </a:p>
          <a:p>
            <a:pPr algn="ctr">
              <a:lnSpc>
                <a:spcPct val="100000"/>
              </a:lnSpc>
              <a:spcBef>
                <a:spcPct val="0"/>
              </a:spcBef>
              <a:spcAft>
                <a:spcPct val="0"/>
              </a:spcAft>
              <a:buClrTx/>
              <a:buSzTx/>
              <a:buFontTx/>
              <a:buNone/>
            </a:pPr>
            <a:r>
              <a:rPr lang="en-US" altLang="en-US" sz="1400" b="0">
                <a:solidFill>
                  <a:srgbClr val="FF0000"/>
                </a:solidFill>
              </a:rPr>
              <a:t>&amp; Flow</a:t>
            </a:r>
          </a:p>
        </p:txBody>
      </p:sp>
      <p:sp>
        <p:nvSpPr>
          <p:cNvPr id="233" name="AutoShape 84">
            <a:extLst>
              <a:ext uri="{FF2B5EF4-FFF2-40B4-BE49-F238E27FC236}">
                <a16:creationId xmlns:a16="http://schemas.microsoft.com/office/drawing/2014/main" id="{47EBAD94-5040-7B84-37D7-099B388872FD}"/>
              </a:ext>
            </a:extLst>
          </p:cNvPr>
          <p:cNvSpPr>
            <a:spLocks noChangeArrowheads="1"/>
          </p:cNvSpPr>
          <p:nvPr/>
        </p:nvSpPr>
        <p:spPr bwMode="auto">
          <a:xfrm>
            <a:off x="1866391" y="1707509"/>
            <a:ext cx="7551738" cy="1117023"/>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4" name="AutoShape 85">
            <a:extLst>
              <a:ext uri="{FF2B5EF4-FFF2-40B4-BE49-F238E27FC236}">
                <a16:creationId xmlns:a16="http://schemas.microsoft.com/office/drawing/2014/main" id="{4FAD636A-B61F-42D9-1ABE-807D4BA3F579}"/>
              </a:ext>
            </a:extLst>
          </p:cNvPr>
          <p:cNvSpPr>
            <a:spLocks noChangeArrowheads="1"/>
          </p:cNvSpPr>
          <p:nvPr/>
        </p:nvSpPr>
        <p:spPr bwMode="auto">
          <a:xfrm>
            <a:off x="4253991" y="3087191"/>
            <a:ext cx="2406650" cy="484909"/>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35" name="Group 86">
            <a:extLst>
              <a:ext uri="{FF2B5EF4-FFF2-40B4-BE49-F238E27FC236}">
                <a16:creationId xmlns:a16="http://schemas.microsoft.com/office/drawing/2014/main" id="{85AE19C0-06DD-B587-6E27-9D9220C55CE2}"/>
              </a:ext>
            </a:extLst>
          </p:cNvPr>
          <p:cNvGrpSpPr>
            <a:grpSpLocks/>
          </p:cNvGrpSpPr>
          <p:nvPr/>
        </p:nvGrpSpPr>
        <p:grpSpPr bwMode="auto">
          <a:xfrm>
            <a:off x="8305291" y="5434166"/>
            <a:ext cx="1130300" cy="402647"/>
            <a:chOff x="4992" y="3566"/>
            <a:chExt cx="731" cy="302"/>
          </a:xfrm>
        </p:grpSpPr>
        <p:sp>
          <p:nvSpPr>
            <p:cNvPr id="236" name="Text Box 87">
              <a:extLst>
                <a:ext uri="{FF2B5EF4-FFF2-40B4-BE49-F238E27FC236}">
                  <a16:creationId xmlns:a16="http://schemas.microsoft.com/office/drawing/2014/main" id="{F9122DF6-52F3-F084-E89C-388269B7631D}"/>
                </a:ext>
              </a:extLst>
            </p:cNvPr>
            <p:cNvSpPr txBox="1">
              <a:spLocks noChangeArrowheads="1"/>
            </p:cNvSpPr>
            <p:nvPr/>
          </p:nvSpPr>
          <p:spPr bwMode="auto">
            <a:xfrm>
              <a:off x="4992" y="3566"/>
              <a:ext cx="731"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 L.T.</a:t>
              </a:r>
            </a:p>
            <a:p>
              <a:pPr algn="ctr">
                <a:lnSpc>
                  <a:spcPct val="100000"/>
                </a:lnSpc>
                <a:spcBef>
                  <a:spcPct val="30000"/>
                </a:spcBef>
                <a:spcAft>
                  <a:spcPct val="0"/>
                </a:spcAft>
                <a:buClrTx/>
                <a:buSzTx/>
                <a:buFontTx/>
                <a:buNone/>
              </a:pPr>
              <a:r>
                <a:rPr lang="en-US" altLang="en-US" sz="1000" b="0" dirty="0"/>
                <a:t>Processing Time</a:t>
              </a:r>
            </a:p>
          </p:txBody>
        </p:sp>
        <p:sp>
          <p:nvSpPr>
            <p:cNvPr id="237" name="Line 88">
              <a:extLst>
                <a:ext uri="{FF2B5EF4-FFF2-40B4-BE49-F238E27FC236}">
                  <a16:creationId xmlns:a16="http://schemas.microsoft.com/office/drawing/2014/main" id="{2694E7A2-53DF-4330-90D6-E9AA2E73170E}"/>
                </a:ext>
              </a:extLst>
            </p:cNvPr>
            <p:cNvSpPr>
              <a:spLocks noChangeShapeType="1"/>
            </p:cNvSpPr>
            <p:nvPr/>
          </p:nvSpPr>
          <p:spPr bwMode="auto">
            <a:xfrm>
              <a:off x="5072" y="3693"/>
              <a:ext cx="544" cy="6"/>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238" name="AutoShape 89">
            <a:extLst>
              <a:ext uri="{FF2B5EF4-FFF2-40B4-BE49-F238E27FC236}">
                <a16:creationId xmlns:a16="http://schemas.microsoft.com/office/drawing/2014/main" id="{91480271-0A26-5399-0C32-92283A83096C}"/>
              </a:ext>
            </a:extLst>
          </p:cNvPr>
          <p:cNvSpPr>
            <a:spLocks noChangeArrowheads="1"/>
          </p:cNvSpPr>
          <p:nvPr/>
        </p:nvSpPr>
        <p:spPr bwMode="auto">
          <a:xfrm>
            <a:off x="1880679" y="5353996"/>
            <a:ext cx="7664450" cy="545523"/>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9" name="Text Box 90">
            <a:extLst>
              <a:ext uri="{FF2B5EF4-FFF2-40B4-BE49-F238E27FC236}">
                <a16:creationId xmlns:a16="http://schemas.microsoft.com/office/drawing/2014/main" id="{C7E0537F-364C-AE15-80F9-BC4DC76533A4}"/>
              </a:ext>
            </a:extLst>
          </p:cNvPr>
          <p:cNvSpPr txBox="1">
            <a:spLocks noChangeArrowheads="1"/>
          </p:cNvSpPr>
          <p:nvPr/>
        </p:nvSpPr>
        <p:spPr bwMode="auto">
          <a:xfrm>
            <a:off x="4146041" y="4975450"/>
            <a:ext cx="2359025" cy="277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dirty="0">
                <a:solidFill>
                  <a:srgbClr val="FF0000"/>
                </a:solidFill>
              </a:rPr>
              <a:t>Processes and Data Blocks</a:t>
            </a:r>
          </a:p>
        </p:txBody>
      </p:sp>
      <p:sp>
        <p:nvSpPr>
          <p:cNvPr id="240" name="Text Box 91">
            <a:extLst>
              <a:ext uri="{FF2B5EF4-FFF2-40B4-BE49-F238E27FC236}">
                <a16:creationId xmlns:a16="http://schemas.microsoft.com/office/drawing/2014/main" id="{6210FD6C-6B57-6CE4-DF8E-FA2393D1E0F1}"/>
              </a:ext>
            </a:extLst>
          </p:cNvPr>
          <p:cNvSpPr txBox="1">
            <a:spLocks noChangeArrowheads="1"/>
          </p:cNvSpPr>
          <p:nvPr/>
        </p:nvSpPr>
        <p:spPr bwMode="auto">
          <a:xfrm>
            <a:off x="3720591" y="5646963"/>
            <a:ext cx="3762375" cy="277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dirty="0">
                <a:solidFill>
                  <a:srgbClr val="FF0000"/>
                </a:solidFill>
              </a:rPr>
              <a:t>Lead Time and Processing Time Calculations</a:t>
            </a:r>
          </a:p>
        </p:txBody>
      </p:sp>
      <p:sp>
        <p:nvSpPr>
          <p:cNvPr id="241" name="Rectangle 92">
            <a:extLst>
              <a:ext uri="{FF2B5EF4-FFF2-40B4-BE49-F238E27FC236}">
                <a16:creationId xmlns:a16="http://schemas.microsoft.com/office/drawing/2014/main" id="{D351D71C-C25B-CA10-B6CA-E93FD0D55160}"/>
              </a:ext>
            </a:extLst>
          </p:cNvPr>
          <p:cNvSpPr>
            <a:spLocks noChangeArrowheads="1"/>
          </p:cNvSpPr>
          <p:nvPr/>
        </p:nvSpPr>
        <p:spPr bwMode="auto">
          <a:xfrm>
            <a:off x="4312729" y="2328943"/>
            <a:ext cx="812800" cy="401205"/>
          </a:xfrm>
          <a:prstGeom prst="rect">
            <a:avLst/>
          </a:prstGeom>
          <a:solidFill>
            <a:schemeClr val="bg1"/>
          </a:solidFill>
          <a:ln w="12700" cap="sq">
            <a:solidFill>
              <a:schemeClr val="tx1"/>
            </a:solidFill>
            <a:miter lim="800000"/>
            <a:headEnd type="none" w="sm" len="sm"/>
            <a:tailEnd type="none" w="sm" len="sm"/>
          </a:ln>
          <a:effectLst>
            <a:outerShdw dist="45791" dir="2021404" algn="ctr" rotWithShape="0">
              <a:schemeClr val="tx1">
                <a:alpha val="50000"/>
              </a:schemeClr>
            </a:outerShdw>
          </a:effectLst>
        </p:spPr>
        <p:txBody>
          <a:bodyPr wrap="none" anchor="ctr"/>
          <a:lstStyle/>
          <a:p>
            <a:pPr algn="ctr">
              <a:defRPr/>
            </a:pPr>
            <a:r>
              <a:rPr lang="en-US" sz="1200" b="0">
                <a:solidFill>
                  <a:schemeClr val="tx1"/>
                </a:solidFill>
                <a:latin typeface="Arial" charset="0"/>
                <a:ea typeface="+mn-ea"/>
              </a:rPr>
              <a:t>Takt</a:t>
            </a:r>
          </a:p>
          <a:p>
            <a:pPr algn="ctr">
              <a:defRPr/>
            </a:pPr>
            <a:r>
              <a:rPr lang="en-US" sz="1200" b="0">
                <a:solidFill>
                  <a:schemeClr val="tx1"/>
                </a:solidFill>
                <a:latin typeface="Arial" charset="0"/>
                <a:ea typeface="+mn-ea"/>
              </a:rPr>
              <a:t>Time</a:t>
            </a:r>
          </a:p>
        </p:txBody>
      </p:sp>
      <p:grpSp>
        <p:nvGrpSpPr>
          <p:cNvPr id="242" name="Group 93">
            <a:extLst>
              <a:ext uri="{FF2B5EF4-FFF2-40B4-BE49-F238E27FC236}">
                <a16:creationId xmlns:a16="http://schemas.microsoft.com/office/drawing/2014/main" id="{E80475AD-9119-5600-4BC4-010F81D8C5D0}"/>
              </a:ext>
            </a:extLst>
          </p:cNvPr>
          <p:cNvGrpSpPr>
            <a:grpSpLocks/>
          </p:cNvGrpSpPr>
          <p:nvPr/>
        </p:nvGrpSpPr>
        <p:grpSpPr bwMode="auto">
          <a:xfrm>
            <a:off x="5643054" y="2414741"/>
            <a:ext cx="415925" cy="402647"/>
            <a:chOff x="1702" y="2990"/>
            <a:chExt cx="269" cy="301"/>
          </a:xfrm>
        </p:grpSpPr>
        <p:sp>
          <p:nvSpPr>
            <p:cNvPr id="243" name="Rectangle 94">
              <a:extLst>
                <a:ext uri="{FF2B5EF4-FFF2-40B4-BE49-F238E27FC236}">
                  <a16:creationId xmlns:a16="http://schemas.microsoft.com/office/drawing/2014/main" id="{C54FFB16-001F-CB34-3409-CE942DD5EFA6}"/>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44" name="Line 95">
              <a:extLst>
                <a:ext uri="{FF2B5EF4-FFF2-40B4-BE49-F238E27FC236}">
                  <a16:creationId xmlns:a16="http://schemas.microsoft.com/office/drawing/2014/main" id="{0FA91C5D-468D-C3D6-C140-5AB2E0B6D1FB}"/>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45" name="Line 96">
              <a:extLst>
                <a:ext uri="{FF2B5EF4-FFF2-40B4-BE49-F238E27FC236}">
                  <a16:creationId xmlns:a16="http://schemas.microsoft.com/office/drawing/2014/main" id="{8713B68F-ED2A-DF4F-69D4-71DCBBF625E3}"/>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46" name="Line 97">
              <a:extLst>
                <a:ext uri="{FF2B5EF4-FFF2-40B4-BE49-F238E27FC236}">
                  <a16:creationId xmlns:a16="http://schemas.microsoft.com/office/drawing/2014/main" id="{7E0D8BCE-2E19-6572-7CBD-D2BDC1D96C13}"/>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47" name="Line 98">
              <a:extLst>
                <a:ext uri="{FF2B5EF4-FFF2-40B4-BE49-F238E27FC236}">
                  <a16:creationId xmlns:a16="http://schemas.microsoft.com/office/drawing/2014/main" id="{4533B213-3A50-5F18-8461-844245C90B4A}"/>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48" name="Line 99">
              <a:extLst>
                <a:ext uri="{FF2B5EF4-FFF2-40B4-BE49-F238E27FC236}">
                  <a16:creationId xmlns:a16="http://schemas.microsoft.com/office/drawing/2014/main" id="{5B4C09DA-CFF7-A3EF-C2D0-ED324A0B4786}"/>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49" name="Line 100">
              <a:extLst>
                <a:ext uri="{FF2B5EF4-FFF2-40B4-BE49-F238E27FC236}">
                  <a16:creationId xmlns:a16="http://schemas.microsoft.com/office/drawing/2014/main" id="{48D284E5-72B9-E5DC-8402-CAF82CC58276}"/>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cxnSp>
        <p:nvCxnSpPr>
          <p:cNvPr id="250" name="AutoShape 101">
            <a:extLst>
              <a:ext uri="{FF2B5EF4-FFF2-40B4-BE49-F238E27FC236}">
                <a16:creationId xmlns:a16="http://schemas.microsoft.com/office/drawing/2014/main" id="{77CA37FB-5C14-8A2C-B074-0200803587F6}"/>
              </a:ext>
            </a:extLst>
          </p:cNvPr>
          <p:cNvCxnSpPr>
            <a:cxnSpLocks noChangeShapeType="1"/>
            <a:stCxn id="218" idx="0"/>
            <a:endCxn id="253" idx="3"/>
          </p:cNvCxnSpPr>
          <p:nvPr/>
        </p:nvCxnSpPr>
        <p:spPr bwMode="auto">
          <a:xfrm rot="16200000" flipV="1">
            <a:off x="6142428" y="2046762"/>
            <a:ext cx="1653965" cy="1951038"/>
          </a:xfrm>
          <a:prstGeom prst="bentConnector2">
            <a:avLst/>
          </a:prstGeom>
          <a:noFill/>
          <a:ln w="381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51" name="Group 107">
            <a:extLst>
              <a:ext uri="{FF2B5EF4-FFF2-40B4-BE49-F238E27FC236}">
                <a16:creationId xmlns:a16="http://schemas.microsoft.com/office/drawing/2014/main" id="{077B5E53-4146-8EC4-4900-70BE12C39940}"/>
              </a:ext>
            </a:extLst>
          </p:cNvPr>
          <p:cNvGrpSpPr>
            <a:grpSpLocks/>
          </p:cNvGrpSpPr>
          <p:nvPr/>
        </p:nvGrpSpPr>
        <p:grpSpPr bwMode="auto">
          <a:xfrm>
            <a:off x="5095366" y="1814304"/>
            <a:ext cx="898525" cy="490682"/>
            <a:chOff x="933" y="2179"/>
            <a:chExt cx="658" cy="463"/>
          </a:xfrm>
        </p:grpSpPr>
        <p:sp>
          <p:nvSpPr>
            <p:cNvPr id="252" name="Rectangle 108">
              <a:extLst>
                <a:ext uri="{FF2B5EF4-FFF2-40B4-BE49-F238E27FC236}">
                  <a16:creationId xmlns:a16="http://schemas.microsoft.com/office/drawing/2014/main" id="{DAA51B14-6DC1-4C52-1950-95E6CD5943EA}"/>
                </a:ext>
              </a:extLst>
            </p:cNvPr>
            <p:cNvSpPr>
              <a:spLocks noChangeArrowheads="1"/>
            </p:cNvSpPr>
            <p:nvPr/>
          </p:nvSpPr>
          <p:spPr bwMode="auto">
            <a:xfrm>
              <a:off x="1544" y="2179"/>
              <a:ext cx="42" cy="250"/>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3" name="Rectangle 109">
              <a:extLst>
                <a:ext uri="{FF2B5EF4-FFF2-40B4-BE49-F238E27FC236}">
                  <a16:creationId xmlns:a16="http://schemas.microsoft.com/office/drawing/2014/main" id="{2A84F776-E824-2BCB-D795-5D9F7CABD522}"/>
                </a:ext>
              </a:extLst>
            </p:cNvPr>
            <p:cNvSpPr>
              <a:spLocks noChangeArrowheads="1"/>
            </p:cNvSpPr>
            <p:nvPr/>
          </p:nvSpPr>
          <p:spPr bwMode="auto">
            <a:xfrm>
              <a:off x="933" y="2435"/>
              <a:ext cx="658" cy="207"/>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4" name="AutoShape 110">
              <a:extLst>
                <a:ext uri="{FF2B5EF4-FFF2-40B4-BE49-F238E27FC236}">
                  <a16:creationId xmlns:a16="http://schemas.microsoft.com/office/drawing/2014/main" id="{C03BC8A3-FD7A-4748-4767-7830B1B08C0D}"/>
                </a:ext>
              </a:extLst>
            </p:cNvPr>
            <p:cNvSpPr>
              <a:spLocks noChangeArrowheads="1"/>
            </p:cNvSpPr>
            <p:nvPr/>
          </p:nvSpPr>
          <p:spPr bwMode="auto">
            <a:xfrm>
              <a:off x="1342"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5" name="AutoShape 111">
              <a:extLst>
                <a:ext uri="{FF2B5EF4-FFF2-40B4-BE49-F238E27FC236}">
                  <a16:creationId xmlns:a16="http://schemas.microsoft.com/office/drawing/2014/main" id="{7B509A7D-1401-599A-E954-ECD36D5BF65E}"/>
                </a:ext>
              </a:extLst>
            </p:cNvPr>
            <p:cNvSpPr>
              <a:spLocks noChangeArrowheads="1"/>
            </p:cNvSpPr>
            <p:nvPr/>
          </p:nvSpPr>
          <p:spPr bwMode="auto">
            <a:xfrm>
              <a:off x="1138"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6" name="AutoShape 112">
              <a:extLst>
                <a:ext uri="{FF2B5EF4-FFF2-40B4-BE49-F238E27FC236}">
                  <a16:creationId xmlns:a16="http://schemas.microsoft.com/office/drawing/2014/main" id="{3AD3AE87-A317-1B5B-F845-84694FCD0222}"/>
                </a:ext>
              </a:extLst>
            </p:cNvPr>
            <p:cNvSpPr>
              <a:spLocks noChangeArrowheads="1"/>
            </p:cNvSpPr>
            <p:nvPr/>
          </p:nvSpPr>
          <p:spPr bwMode="auto">
            <a:xfrm>
              <a:off x="934" y="2245"/>
              <a:ext cx="202" cy="190"/>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7" name="Rectangle 113">
              <a:extLst>
                <a:ext uri="{FF2B5EF4-FFF2-40B4-BE49-F238E27FC236}">
                  <a16:creationId xmlns:a16="http://schemas.microsoft.com/office/drawing/2014/main" id="{5FE148C5-FEC3-2978-A514-12280B1BE3C7}"/>
                </a:ext>
              </a:extLst>
            </p:cNvPr>
            <p:cNvSpPr>
              <a:spLocks noChangeArrowheads="1"/>
            </p:cNvSpPr>
            <p:nvPr/>
          </p:nvSpPr>
          <p:spPr bwMode="auto">
            <a:xfrm>
              <a:off x="974"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8" name="Rectangle 114">
              <a:extLst>
                <a:ext uri="{FF2B5EF4-FFF2-40B4-BE49-F238E27FC236}">
                  <a16:creationId xmlns:a16="http://schemas.microsoft.com/office/drawing/2014/main" id="{E4DEBC84-E796-3DCD-518A-08F4CA422A1F}"/>
                </a:ext>
              </a:extLst>
            </p:cNvPr>
            <p:cNvSpPr>
              <a:spLocks noChangeArrowheads="1"/>
            </p:cNvSpPr>
            <p:nvPr/>
          </p:nvSpPr>
          <p:spPr bwMode="auto">
            <a:xfrm>
              <a:off x="1185"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59" name="Rectangle 115">
              <a:extLst>
                <a:ext uri="{FF2B5EF4-FFF2-40B4-BE49-F238E27FC236}">
                  <a16:creationId xmlns:a16="http://schemas.microsoft.com/office/drawing/2014/main" id="{F4832B1E-2F2D-E79F-0902-4299664FEE4F}"/>
                </a:ext>
              </a:extLst>
            </p:cNvPr>
            <p:cNvSpPr>
              <a:spLocks noChangeArrowheads="1"/>
            </p:cNvSpPr>
            <p:nvPr/>
          </p:nvSpPr>
          <p:spPr bwMode="auto">
            <a:xfrm>
              <a:off x="1396" y="2354"/>
              <a:ext cx="27" cy="51"/>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260" name="AutoShape 116">
            <a:extLst>
              <a:ext uri="{FF2B5EF4-FFF2-40B4-BE49-F238E27FC236}">
                <a16:creationId xmlns:a16="http://schemas.microsoft.com/office/drawing/2014/main" id="{1CA35720-9701-FFC3-898D-42995343113A}"/>
              </a:ext>
            </a:extLst>
          </p:cNvPr>
          <p:cNvSpPr>
            <a:spLocks noChangeArrowheads="1"/>
          </p:cNvSpPr>
          <p:nvPr/>
        </p:nvSpPr>
        <p:spPr bwMode="auto">
          <a:xfrm>
            <a:off x="2364866" y="4003900"/>
            <a:ext cx="227013" cy="213591"/>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cxnSp>
        <p:nvCxnSpPr>
          <p:cNvPr id="261" name="AutoShape 117">
            <a:extLst>
              <a:ext uri="{FF2B5EF4-FFF2-40B4-BE49-F238E27FC236}">
                <a16:creationId xmlns:a16="http://schemas.microsoft.com/office/drawing/2014/main" id="{7B0C72F0-4A6B-4EE9-7FCF-69E4343A2362}"/>
              </a:ext>
            </a:extLst>
          </p:cNvPr>
          <p:cNvCxnSpPr>
            <a:cxnSpLocks noChangeShapeType="1"/>
            <a:stCxn id="253" idx="1"/>
          </p:cNvCxnSpPr>
          <p:nvPr/>
        </p:nvCxnSpPr>
        <p:spPr bwMode="auto">
          <a:xfrm rot="10800000" flipV="1">
            <a:off x="2498230" y="2195297"/>
            <a:ext cx="2597137" cy="1730395"/>
          </a:xfrm>
          <a:prstGeom prst="bentConnector3">
            <a:avLst>
              <a:gd name="adj1" fmla="val 99995"/>
            </a:avLst>
          </a:prstGeom>
          <a:noFill/>
          <a:ln w="381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2" name="Group 118">
            <a:extLst>
              <a:ext uri="{FF2B5EF4-FFF2-40B4-BE49-F238E27FC236}">
                <a16:creationId xmlns:a16="http://schemas.microsoft.com/office/drawing/2014/main" id="{43681D56-CE0B-BD86-9F24-4E59E844FF9B}"/>
              </a:ext>
            </a:extLst>
          </p:cNvPr>
          <p:cNvGrpSpPr>
            <a:grpSpLocks/>
          </p:cNvGrpSpPr>
          <p:nvPr/>
        </p:nvGrpSpPr>
        <p:grpSpPr bwMode="auto">
          <a:xfrm flipV="1">
            <a:off x="5346191" y="3525341"/>
            <a:ext cx="261938" cy="389659"/>
            <a:chOff x="636" y="2054"/>
            <a:chExt cx="200" cy="298"/>
          </a:xfrm>
        </p:grpSpPr>
        <p:sp>
          <p:nvSpPr>
            <p:cNvPr id="263" name="Line 119">
              <a:extLst>
                <a:ext uri="{FF2B5EF4-FFF2-40B4-BE49-F238E27FC236}">
                  <a16:creationId xmlns:a16="http://schemas.microsoft.com/office/drawing/2014/main" id="{BFCA2F4A-8364-8486-1979-A30C33D2D337}"/>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64" name="Line 120">
              <a:extLst>
                <a:ext uri="{FF2B5EF4-FFF2-40B4-BE49-F238E27FC236}">
                  <a16:creationId xmlns:a16="http://schemas.microsoft.com/office/drawing/2014/main" id="{FED9B2C0-CF5E-3360-0672-0B9523637C74}"/>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65" name="Line 121">
              <a:extLst>
                <a:ext uri="{FF2B5EF4-FFF2-40B4-BE49-F238E27FC236}">
                  <a16:creationId xmlns:a16="http://schemas.microsoft.com/office/drawing/2014/main" id="{2F0F7FFD-240F-676A-5B3E-9D0712D35BC6}"/>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66" name="Group 122">
            <a:extLst>
              <a:ext uri="{FF2B5EF4-FFF2-40B4-BE49-F238E27FC236}">
                <a16:creationId xmlns:a16="http://schemas.microsoft.com/office/drawing/2014/main" id="{8EFABEA0-33FB-7CA4-3807-4359B4EBD595}"/>
              </a:ext>
            </a:extLst>
          </p:cNvPr>
          <p:cNvGrpSpPr>
            <a:grpSpLocks/>
          </p:cNvGrpSpPr>
          <p:nvPr/>
        </p:nvGrpSpPr>
        <p:grpSpPr bwMode="auto">
          <a:xfrm>
            <a:off x="3765041" y="3499941"/>
            <a:ext cx="652463" cy="389659"/>
            <a:chOff x="636" y="2054"/>
            <a:chExt cx="200" cy="298"/>
          </a:xfrm>
        </p:grpSpPr>
        <p:sp>
          <p:nvSpPr>
            <p:cNvPr id="267" name="Line 123">
              <a:extLst>
                <a:ext uri="{FF2B5EF4-FFF2-40B4-BE49-F238E27FC236}">
                  <a16:creationId xmlns:a16="http://schemas.microsoft.com/office/drawing/2014/main" id="{5E3C4A90-F3D3-3D3C-A30D-2706279E2D3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68" name="Line 124">
              <a:extLst>
                <a:ext uri="{FF2B5EF4-FFF2-40B4-BE49-F238E27FC236}">
                  <a16:creationId xmlns:a16="http://schemas.microsoft.com/office/drawing/2014/main" id="{3198EC74-3A56-EAF3-74C2-CD94DDAF7BE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69" name="Line 125">
              <a:extLst>
                <a:ext uri="{FF2B5EF4-FFF2-40B4-BE49-F238E27FC236}">
                  <a16:creationId xmlns:a16="http://schemas.microsoft.com/office/drawing/2014/main" id="{41ACF145-ED4B-DD95-E6BF-3EB648CFD06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70" name="Group 126">
            <a:extLst>
              <a:ext uri="{FF2B5EF4-FFF2-40B4-BE49-F238E27FC236}">
                <a16:creationId xmlns:a16="http://schemas.microsoft.com/office/drawing/2014/main" id="{A2EEC130-141A-3D08-99FB-24A6DEEFA83E}"/>
              </a:ext>
            </a:extLst>
          </p:cNvPr>
          <p:cNvGrpSpPr>
            <a:grpSpLocks/>
          </p:cNvGrpSpPr>
          <p:nvPr/>
        </p:nvGrpSpPr>
        <p:grpSpPr bwMode="auto">
          <a:xfrm flipH="1">
            <a:off x="6419341" y="3490849"/>
            <a:ext cx="661988" cy="398318"/>
            <a:chOff x="636" y="2054"/>
            <a:chExt cx="200" cy="298"/>
          </a:xfrm>
        </p:grpSpPr>
        <p:sp>
          <p:nvSpPr>
            <p:cNvPr id="271" name="Line 127">
              <a:extLst>
                <a:ext uri="{FF2B5EF4-FFF2-40B4-BE49-F238E27FC236}">
                  <a16:creationId xmlns:a16="http://schemas.microsoft.com/office/drawing/2014/main" id="{3EEC5604-D4C4-0B94-E703-FE2E6D14EF1F}"/>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72" name="Line 128">
              <a:extLst>
                <a:ext uri="{FF2B5EF4-FFF2-40B4-BE49-F238E27FC236}">
                  <a16:creationId xmlns:a16="http://schemas.microsoft.com/office/drawing/2014/main" id="{BF952477-95A3-E4B7-C336-A7D00DDE9DB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73" name="Line 129">
              <a:extLst>
                <a:ext uri="{FF2B5EF4-FFF2-40B4-BE49-F238E27FC236}">
                  <a16:creationId xmlns:a16="http://schemas.microsoft.com/office/drawing/2014/main" id="{0F1AD44C-0CA7-1CE5-1528-B9C00E0A2AF7}"/>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74" name="Group 130">
            <a:extLst>
              <a:ext uri="{FF2B5EF4-FFF2-40B4-BE49-F238E27FC236}">
                <a16:creationId xmlns:a16="http://schemas.microsoft.com/office/drawing/2014/main" id="{557826E7-6014-8BE8-987D-3E7F74179A30}"/>
              </a:ext>
            </a:extLst>
          </p:cNvPr>
          <p:cNvGrpSpPr>
            <a:grpSpLocks/>
          </p:cNvGrpSpPr>
          <p:nvPr/>
        </p:nvGrpSpPr>
        <p:grpSpPr bwMode="auto">
          <a:xfrm flipH="1">
            <a:off x="5714491" y="3490849"/>
            <a:ext cx="307975" cy="398318"/>
            <a:chOff x="636" y="2054"/>
            <a:chExt cx="200" cy="298"/>
          </a:xfrm>
        </p:grpSpPr>
        <p:sp>
          <p:nvSpPr>
            <p:cNvPr id="275" name="Line 131">
              <a:extLst>
                <a:ext uri="{FF2B5EF4-FFF2-40B4-BE49-F238E27FC236}">
                  <a16:creationId xmlns:a16="http://schemas.microsoft.com/office/drawing/2014/main" id="{9F282924-70FB-BACD-C8F3-452F2E5F4F7B}"/>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76" name="Line 132">
              <a:extLst>
                <a:ext uri="{FF2B5EF4-FFF2-40B4-BE49-F238E27FC236}">
                  <a16:creationId xmlns:a16="http://schemas.microsoft.com/office/drawing/2014/main" id="{43E22C46-C9D5-2141-6CDD-3364906A8EE7}"/>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77" name="Line 133">
              <a:extLst>
                <a:ext uri="{FF2B5EF4-FFF2-40B4-BE49-F238E27FC236}">
                  <a16:creationId xmlns:a16="http://schemas.microsoft.com/office/drawing/2014/main" id="{9F7FDF78-AA6C-D2FB-4DC3-816CC8BBDFE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78" name="Group 134">
            <a:extLst>
              <a:ext uri="{FF2B5EF4-FFF2-40B4-BE49-F238E27FC236}">
                <a16:creationId xmlns:a16="http://schemas.microsoft.com/office/drawing/2014/main" id="{9D415DEC-5DE5-957D-E2C6-038310C471E9}"/>
              </a:ext>
            </a:extLst>
          </p:cNvPr>
          <p:cNvGrpSpPr>
            <a:grpSpLocks/>
          </p:cNvGrpSpPr>
          <p:nvPr/>
        </p:nvGrpSpPr>
        <p:grpSpPr bwMode="auto">
          <a:xfrm>
            <a:off x="4909629" y="3490849"/>
            <a:ext cx="309562" cy="398318"/>
            <a:chOff x="636" y="2054"/>
            <a:chExt cx="200" cy="298"/>
          </a:xfrm>
        </p:grpSpPr>
        <p:sp>
          <p:nvSpPr>
            <p:cNvPr id="279" name="Line 135">
              <a:extLst>
                <a:ext uri="{FF2B5EF4-FFF2-40B4-BE49-F238E27FC236}">
                  <a16:creationId xmlns:a16="http://schemas.microsoft.com/office/drawing/2014/main" id="{FD8EF6C3-003B-D8A3-3352-EAF1006CFBAF}"/>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80" name="Line 136">
              <a:extLst>
                <a:ext uri="{FF2B5EF4-FFF2-40B4-BE49-F238E27FC236}">
                  <a16:creationId xmlns:a16="http://schemas.microsoft.com/office/drawing/2014/main" id="{0AC2EACD-E84D-B276-8DC7-534861C19E0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1" name="Line 137">
              <a:extLst>
                <a:ext uri="{FF2B5EF4-FFF2-40B4-BE49-F238E27FC236}">
                  <a16:creationId xmlns:a16="http://schemas.microsoft.com/office/drawing/2014/main" id="{74FD952C-6151-20EA-EA1A-47333328B974}"/>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82" name="Group 138">
            <a:extLst>
              <a:ext uri="{FF2B5EF4-FFF2-40B4-BE49-F238E27FC236}">
                <a16:creationId xmlns:a16="http://schemas.microsoft.com/office/drawing/2014/main" id="{2D2D1C48-0D97-10F4-5588-FC6079028D11}"/>
              </a:ext>
            </a:extLst>
          </p:cNvPr>
          <p:cNvGrpSpPr>
            <a:grpSpLocks/>
          </p:cNvGrpSpPr>
          <p:nvPr/>
        </p:nvGrpSpPr>
        <p:grpSpPr bwMode="auto">
          <a:xfrm flipH="1" flipV="1">
            <a:off x="4476241" y="3482911"/>
            <a:ext cx="276225" cy="430068"/>
            <a:chOff x="636" y="2054"/>
            <a:chExt cx="200" cy="298"/>
          </a:xfrm>
        </p:grpSpPr>
        <p:sp>
          <p:nvSpPr>
            <p:cNvPr id="283" name="Line 139">
              <a:extLst>
                <a:ext uri="{FF2B5EF4-FFF2-40B4-BE49-F238E27FC236}">
                  <a16:creationId xmlns:a16="http://schemas.microsoft.com/office/drawing/2014/main" id="{76FEDEAA-3B88-7889-19E1-897359D1F5C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84" name="Line 140">
              <a:extLst>
                <a:ext uri="{FF2B5EF4-FFF2-40B4-BE49-F238E27FC236}">
                  <a16:creationId xmlns:a16="http://schemas.microsoft.com/office/drawing/2014/main" id="{00936A75-20DF-7680-A2C4-7CAEADC6F669}"/>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5" name="Line 141">
              <a:extLst>
                <a:ext uri="{FF2B5EF4-FFF2-40B4-BE49-F238E27FC236}">
                  <a16:creationId xmlns:a16="http://schemas.microsoft.com/office/drawing/2014/main" id="{827E3371-C303-0E77-272A-3A2F9104545B}"/>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86" name="Group 142">
            <a:extLst>
              <a:ext uri="{FF2B5EF4-FFF2-40B4-BE49-F238E27FC236}">
                <a16:creationId xmlns:a16="http://schemas.microsoft.com/office/drawing/2014/main" id="{48840E72-F286-41B6-650D-0A7DECA2BB15}"/>
              </a:ext>
            </a:extLst>
          </p:cNvPr>
          <p:cNvGrpSpPr>
            <a:grpSpLocks/>
          </p:cNvGrpSpPr>
          <p:nvPr/>
        </p:nvGrpSpPr>
        <p:grpSpPr bwMode="auto">
          <a:xfrm flipV="1">
            <a:off x="6174866" y="3517403"/>
            <a:ext cx="544513" cy="389659"/>
            <a:chOff x="636" y="2054"/>
            <a:chExt cx="200" cy="298"/>
          </a:xfrm>
        </p:grpSpPr>
        <p:sp>
          <p:nvSpPr>
            <p:cNvPr id="287" name="Line 143">
              <a:extLst>
                <a:ext uri="{FF2B5EF4-FFF2-40B4-BE49-F238E27FC236}">
                  <a16:creationId xmlns:a16="http://schemas.microsoft.com/office/drawing/2014/main" id="{7E90A93F-466B-EBA2-D660-4AA82401A02A}"/>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88" name="Line 144">
              <a:extLst>
                <a:ext uri="{FF2B5EF4-FFF2-40B4-BE49-F238E27FC236}">
                  <a16:creationId xmlns:a16="http://schemas.microsoft.com/office/drawing/2014/main" id="{956D9308-B8C7-0F9E-626C-64E4244A06A6}"/>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89" name="Line 145">
              <a:extLst>
                <a:ext uri="{FF2B5EF4-FFF2-40B4-BE49-F238E27FC236}">
                  <a16:creationId xmlns:a16="http://schemas.microsoft.com/office/drawing/2014/main" id="{1F1399DE-AA90-B571-A651-1294F5823E8B}"/>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90" name="Group 146">
            <a:extLst>
              <a:ext uri="{FF2B5EF4-FFF2-40B4-BE49-F238E27FC236}">
                <a16:creationId xmlns:a16="http://schemas.microsoft.com/office/drawing/2014/main" id="{03AEA0FC-F676-C47F-BF08-E9FCB1B042BA}"/>
              </a:ext>
            </a:extLst>
          </p:cNvPr>
          <p:cNvGrpSpPr>
            <a:grpSpLocks/>
          </p:cNvGrpSpPr>
          <p:nvPr/>
        </p:nvGrpSpPr>
        <p:grpSpPr bwMode="auto">
          <a:xfrm flipV="1">
            <a:off x="6625716" y="3463861"/>
            <a:ext cx="1125538" cy="398318"/>
            <a:chOff x="636" y="2054"/>
            <a:chExt cx="200" cy="298"/>
          </a:xfrm>
        </p:grpSpPr>
        <p:sp>
          <p:nvSpPr>
            <p:cNvPr id="291" name="Line 147">
              <a:extLst>
                <a:ext uri="{FF2B5EF4-FFF2-40B4-BE49-F238E27FC236}">
                  <a16:creationId xmlns:a16="http://schemas.microsoft.com/office/drawing/2014/main" id="{338DB978-0CC6-0996-48C1-192B08A4173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92" name="Line 148">
              <a:extLst>
                <a:ext uri="{FF2B5EF4-FFF2-40B4-BE49-F238E27FC236}">
                  <a16:creationId xmlns:a16="http://schemas.microsoft.com/office/drawing/2014/main" id="{16F35C1E-F4FF-63CB-CE13-C35F4FA929B3}"/>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293" name="Line 149">
              <a:extLst>
                <a:ext uri="{FF2B5EF4-FFF2-40B4-BE49-F238E27FC236}">
                  <a16:creationId xmlns:a16="http://schemas.microsoft.com/office/drawing/2014/main" id="{0CDAEAB8-9812-4E0C-3D5D-048B79460EEF}"/>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96" name="Group 295">
            <a:extLst>
              <a:ext uri="{FF2B5EF4-FFF2-40B4-BE49-F238E27FC236}">
                <a16:creationId xmlns:a16="http://schemas.microsoft.com/office/drawing/2014/main" id="{E6CF9E4C-DAA0-25F8-E7D0-AAE19A4AC45A}"/>
              </a:ext>
            </a:extLst>
          </p:cNvPr>
          <p:cNvGrpSpPr/>
          <p:nvPr/>
        </p:nvGrpSpPr>
        <p:grpSpPr>
          <a:xfrm>
            <a:off x="940249" y="302538"/>
            <a:ext cx="6219503" cy="311932"/>
            <a:chOff x="940249" y="302538"/>
            <a:chExt cx="6219503" cy="311932"/>
          </a:xfrm>
        </p:grpSpPr>
        <p:sp>
          <p:nvSpPr>
            <p:cNvPr id="297" name="TextBox 296">
              <a:extLst>
                <a:ext uri="{FF2B5EF4-FFF2-40B4-BE49-F238E27FC236}">
                  <a16:creationId xmlns:a16="http://schemas.microsoft.com/office/drawing/2014/main" id="{8D8CEE24-1E61-2A39-910B-CA2324F4FF6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98" name="AutoShape 9">
              <a:extLst>
                <a:ext uri="{FF2B5EF4-FFF2-40B4-BE49-F238E27FC236}">
                  <a16:creationId xmlns:a16="http://schemas.microsoft.com/office/drawing/2014/main" id="{7FD315D1-892E-6DF5-00C9-BC22A3C8E53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9" name="AutoShape 9">
              <a:extLst>
                <a:ext uri="{FF2B5EF4-FFF2-40B4-BE49-F238E27FC236}">
                  <a16:creationId xmlns:a16="http://schemas.microsoft.com/office/drawing/2014/main" id="{CEB92F29-0AAE-DD7B-D9DD-FD372E0A1F0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0" name="AutoShape 9">
              <a:extLst>
                <a:ext uri="{FF2B5EF4-FFF2-40B4-BE49-F238E27FC236}">
                  <a16:creationId xmlns:a16="http://schemas.microsoft.com/office/drawing/2014/main" id="{ADC8562F-9460-E77D-47B7-92DC9DC25EF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1" name="AutoShape 9">
              <a:extLst>
                <a:ext uri="{FF2B5EF4-FFF2-40B4-BE49-F238E27FC236}">
                  <a16:creationId xmlns:a16="http://schemas.microsoft.com/office/drawing/2014/main" id="{A86F0F20-B248-3A45-02B5-B989F3B868DD}"/>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2" name="AutoShape 11">
              <a:extLst>
                <a:ext uri="{FF2B5EF4-FFF2-40B4-BE49-F238E27FC236}">
                  <a16:creationId xmlns:a16="http://schemas.microsoft.com/office/drawing/2014/main" id="{73E2BF01-8694-A97D-DA46-3C2FB9451CA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303" name="Slide Number Placeholder 2">
            <a:extLst>
              <a:ext uri="{FF2B5EF4-FFF2-40B4-BE49-F238E27FC236}">
                <a16:creationId xmlns:a16="http://schemas.microsoft.com/office/drawing/2014/main" id="{E10C8BA7-CA0B-E0EA-DECF-6173E8571F5D}"/>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27</a:t>
            </a:fld>
            <a:endParaRPr lang="en-US" dirty="0"/>
          </a:p>
        </p:txBody>
      </p:sp>
    </p:spTree>
    <p:extLst>
      <p:ext uri="{BB962C8B-B14F-4D97-AF65-F5344CB8AC3E}">
        <p14:creationId xmlns:p14="http://schemas.microsoft.com/office/powerpoint/2010/main" val="415475665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rmAutofit/>
          </a:bodyPr>
          <a:lstStyle/>
          <a:p>
            <a:r>
              <a:rPr lang="en-US" dirty="0"/>
              <a:t>Current State Map Drawing Exercises</a:t>
            </a:r>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30000"/>
              </a:spcBef>
              <a:spcAft>
                <a:spcPct val="0"/>
              </a:spcAft>
              <a:buClrTx/>
              <a:buSzTx/>
              <a:buFontTx/>
              <a:buNone/>
            </a:pPr>
            <a:r>
              <a:rPr lang="en-US" altLang="en-US" sz="1800" dirty="0">
                <a:solidFill>
                  <a:schemeClr val="bg1"/>
                </a:solidFill>
              </a:rPr>
              <a:t>Draw an accurate Current State Value Stream Map from case study example data.</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28</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600" dirty="0">
                <a:solidFill>
                  <a:schemeClr val="bg1"/>
                </a:solidFill>
              </a:rPr>
              <a:t>Completed listing. </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30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62324"/>
            <a:ext cx="5211762" cy="2863850"/>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Read through the case study data handout for </a:t>
            </a:r>
            <a:br>
              <a:rPr lang="en-US" altLang="en-US" sz="1600" dirty="0">
                <a:solidFill>
                  <a:schemeClr val="bg1"/>
                </a:solidFill>
              </a:rPr>
            </a:br>
            <a:r>
              <a:rPr lang="en-US" altLang="en-US" sz="1600" dirty="0">
                <a:solidFill>
                  <a:schemeClr val="bg1"/>
                </a:solidFill>
              </a:rPr>
              <a:t>Northern Home Credit. Make notes where needed.</a:t>
            </a:r>
          </a:p>
          <a:p>
            <a:pPr>
              <a:spcBef>
                <a:spcPct val="20000"/>
              </a:spcBef>
              <a:spcAft>
                <a:spcPct val="20000"/>
              </a:spcAft>
              <a:buClrTx/>
              <a:buSzTx/>
              <a:buFontTx/>
              <a:buNone/>
            </a:pPr>
            <a:r>
              <a:rPr lang="en-US" altLang="en-US" sz="1600" dirty="0">
                <a:solidFill>
                  <a:schemeClr val="bg1"/>
                </a:solidFill>
              </a:rPr>
              <a:t>The instructor will lead a step-by-step discussion </a:t>
            </a:r>
            <a:br>
              <a:rPr lang="en-US" altLang="en-US" sz="1600" dirty="0">
                <a:solidFill>
                  <a:schemeClr val="bg1"/>
                </a:solidFill>
              </a:rPr>
            </a:br>
            <a:r>
              <a:rPr lang="en-US" altLang="en-US" sz="1600" dirty="0">
                <a:solidFill>
                  <a:schemeClr val="bg1"/>
                </a:solidFill>
              </a:rPr>
              <a:t>of translating the case study data into a Current</a:t>
            </a:r>
            <a:br>
              <a:rPr lang="en-US" altLang="en-US" sz="1600" dirty="0">
                <a:solidFill>
                  <a:schemeClr val="bg1"/>
                </a:solidFill>
              </a:rPr>
            </a:br>
            <a:r>
              <a:rPr lang="en-US" altLang="en-US" sz="1600" dirty="0">
                <a:solidFill>
                  <a:schemeClr val="bg1"/>
                </a:solidFill>
              </a:rPr>
              <a:t>State Map.</a:t>
            </a:r>
          </a:p>
          <a:p>
            <a:pPr>
              <a:spcBef>
                <a:spcPct val="20000"/>
              </a:spcBef>
              <a:spcAft>
                <a:spcPct val="20000"/>
              </a:spcAft>
              <a:buClrTx/>
              <a:buSzTx/>
              <a:buFontTx/>
              <a:buNone/>
            </a:pPr>
            <a:r>
              <a:rPr lang="en-US" altLang="en-US" sz="1600" dirty="0">
                <a:solidFill>
                  <a:schemeClr val="bg1"/>
                </a:solidFill>
              </a:rPr>
              <a:t>Use 11x17</a:t>
            </a:r>
            <a:r>
              <a:rPr lang="ja-JP" altLang="en-US" sz="1600">
                <a:solidFill>
                  <a:schemeClr val="bg1"/>
                </a:solidFill>
              </a:rPr>
              <a:t>”</a:t>
            </a:r>
            <a:r>
              <a:rPr lang="en-US" altLang="ja-JP" sz="1600" dirty="0">
                <a:solidFill>
                  <a:schemeClr val="bg1"/>
                </a:solidFill>
              </a:rPr>
              <a:t> paper and pencil to draw the Current </a:t>
            </a:r>
            <a:br>
              <a:rPr lang="en-US" altLang="ja-JP" sz="1600" dirty="0">
                <a:solidFill>
                  <a:schemeClr val="bg1"/>
                </a:solidFill>
              </a:rPr>
            </a:br>
            <a:r>
              <a:rPr lang="en-US" altLang="ja-JP" sz="1600" dirty="0">
                <a:solidFill>
                  <a:schemeClr val="bg1"/>
                </a:solidFill>
              </a:rPr>
              <a:t>State Map along with the instructor. </a:t>
            </a:r>
          </a:p>
          <a:p>
            <a:pPr>
              <a:spcBef>
                <a:spcPct val="20000"/>
              </a:spcBef>
              <a:spcAft>
                <a:spcPct val="20000"/>
              </a:spcAft>
              <a:buClrTx/>
              <a:buSzTx/>
              <a:buFontTx/>
              <a:buNone/>
            </a:pPr>
            <a:r>
              <a:rPr lang="en-US" altLang="en-US" sz="1600" dirty="0">
                <a:solidFill>
                  <a:srgbClr val="FFB627"/>
                </a:solidFill>
              </a:rPr>
              <a:t>NOTE: KEEP YOUR COMPLETED MAP FOR </a:t>
            </a:r>
            <a:br>
              <a:rPr lang="en-US" altLang="en-US" sz="1600" dirty="0">
                <a:solidFill>
                  <a:srgbClr val="FFB627"/>
                </a:solidFill>
              </a:rPr>
            </a:br>
            <a:r>
              <a:rPr lang="en-US" altLang="en-US" sz="1600" dirty="0">
                <a:solidFill>
                  <a:srgbClr val="FFB627"/>
                </a:solidFill>
              </a:rPr>
              <a:t>LATER EXERCISE</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05467191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5456DF-32BB-7C3B-4944-79C5573D8113}"/>
              </a:ext>
            </a:extLst>
          </p:cNvPr>
          <p:cNvSpPr>
            <a:spLocks noGrp="1"/>
          </p:cNvSpPr>
          <p:nvPr>
            <p:ph type="title"/>
          </p:nvPr>
        </p:nvSpPr>
        <p:spPr/>
        <p:txBody>
          <a:bodyPr>
            <a:noAutofit/>
          </a:bodyPr>
          <a:lstStyle/>
          <a:p>
            <a:r>
              <a:rPr lang="en-US" sz="3600" dirty="0"/>
              <a:t>Case Study Example: </a:t>
            </a:r>
            <a:br>
              <a:rPr lang="en-US" sz="3600" dirty="0"/>
            </a:br>
            <a:r>
              <a:rPr lang="en-US" sz="3600" dirty="0"/>
              <a:t>Northern Home Credit (NHC) Charter</a:t>
            </a:r>
          </a:p>
        </p:txBody>
      </p:sp>
      <p:sp>
        <p:nvSpPr>
          <p:cNvPr id="13" name="Rectangle 6">
            <a:extLst>
              <a:ext uri="{FF2B5EF4-FFF2-40B4-BE49-F238E27FC236}">
                <a16:creationId xmlns:a16="http://schemas.microsoft.com/office/drawing/2014/main" id="{95036C29-5315-CE03-BE7B-E96D91040344}"/>
              </a:ext>
            </a:extLst>
          </p:cNvPr>
          <p:cNvSpPr>
            <a:spLocks noChangeArrowheads="1"/>
          </p:cNvSpPr>
          <p:nvPr/>
        </p:nvSpPr>
        <p:spPr bwMode="auto">
          <a:xfrm>
            <a:off x="1272604" y="4502150"/>
            <a:ext cx="19476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solidFill>
                  <a:srgbClr val="222222"/>
                </a:solidFill>
                <a:latin typeface="Roboto" panose="02000000000000000000" pitchFamily="2" charset="0"/>
                <a:ea typeface="Roboto" panose="02000000000000000000" pitchFamily="2" charset="0"/>
                <a:cs typeface="Roboto" panose="02000000000000000000" pitchFamily="2" charset="0"/>
              </a:rPr>
              <a:t>TEAM &amp; BENEFITS</a:t>
            </a:r>
            <a:endParaRPr lang="en-US" altLang="en-US" sz="1800" b="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4" name="Rectangle 7">
            <a:extLst>
              <a:ext uri="{FF2B5EF4-FFF2-40B4-BE49-F238E27FC236}">
                <a16:creationId xmlns:a16="http://schemas.microsoft.com/office/drawing/2014/main" id="{D39DD7A5-399E-CFCE-EC47-DD7BA5382A3D}"/>
              </a:ext>
            </a:extLst>
          </p:cNvPr>
          <p:cNvSpPr>
            <a:spLocks noChangeArrowheads="1"/>
          </p:cNvSpPr>
          <p:nvPr/>
        </p:nvSpPr>
        <p:spPr bwMode="auto">
          <a:xfrm>
            <a:off x="1288479" y="2141537"/>
            <a:ext cx="4332287" cy="2163763"/>
          </a:xfrm>
          <a:prstGeom prst="rect">
            <a:avLst/>
          </a:prstGeom>
          <a:noFill/>
          <a:ln w="19050" cap="rnd">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5" name="Rectangle 11">
            <a:extLst>
              <a:ext uri="{FF2B5EF4-FFF2-40B4-BE49-F238E27FC236}">
                <a16:creationId xmlns:a16="http://schemas.microsoft.com/office/drawing/2014/main" id="{5133D0F7-C480-E48A-6CBC-CAE1A8DBAA1C}"/>
              </a:ext>
            </a:extLst>
          </p:cNvPr>
          <p:cNvSpPr>
            <a:spLocks noChangeArrowheads="1"/>
          </p:cNvSpPr>
          <p:nvPr/>
        </p:nvSpPr>
        <p:spPr bwMode="auto">
          <a:xfrm>
            <a:off x="6631561" y="3140075"/>
            <a:ext cx="10740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900">
                <a:solidFill>
                  <a:srgbClr val="222222"/>
                </a:solidFill>
                <a:latin typeface="Roboto" panose="02000000000000000000" pitchFamily="2" charset="0"/>
                <a:ea typeface="Roboto" panose="02000000000000000000" pitchFamily="2" charset="0"/>
                <a:cs typeface="Roboto" panose="02000000000000000000" pitchFamily="2" charset="0"/>
              </a:rPr>
              <a:t>IN SCOPE</a:t>
            </a:r>
            <a:endParaRPr lang="en-US" altLang="en-US" sz="1800" b="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12">
            <a:extLst>
              <a:ext uri="{FF2B5EF4-FFF2-40B4-BE49-F238E27FC236}">
                <a16:creationId xmlns:a16="http://schemas.microsoft.com/office/drawing/2014/main" id="{76A9A38B-C6F4-3886-9BD3-C4A2EFF91393}"/>
              </a:ext>
            </a:extLst>
          </p:cNvPr>
          <p:cNvSpPr>
            <a:spLocks noChangeArrowheads="1"/>
          </p:cNvSpPr>
          <p:nvPr/>
        </p:nvSpPr>
        <p:spPr bwMode="auto">
          <a:xfrm>
            <a:off x="6602986" y="1816100"/>
            <a:ext cx="62998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900" dirty="0">
                <a:solidFill>
                  <a:srgbClr val="222222"/>
                </a:solidFill>
                <a:latin typeface="Roboto" panose="02000000000000000000" pitchFamily="2" charset="0"/>
                <a:ea typeface="Roboto" panose="02000000000000000000" pitchFamily="2" charset="0"/>
                <a:cs typeface="Roboto" panose="02000000000000000000" pitchFamily="2" charset="0"/>
              </a:rPr>
              <a:t>GOAL</a:t>
            </a:r>
            <a:endParaRPr lang="en-US" altLang="en-US" sz="1800" b="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13">
            <a:extLst>
              <a:ext uri="{FF2B5EF4-FFF2-40B4-BE49-F238E27FC236}">
                <a16:creationId xmlns:a16="http://schemas.microsoft.com/office/drawing/2014/main" id="{B48D2D13-E34C-9751-BF76-F67109B8E59A}"/>
              </a:ext>
            </a:extLst>
          </p:cNvPr>
          <p:cNvSpPr>
            <a:spLocks noChangeArrowheads="1"/>
          </p:cNvSpPr>
          <p:nvPr/>
        </p:nvSpPr>
        <p:spPr bwMode="auto">
          <a:xfrm>
            <a:off x="1294627" y="1803400"/>
            <a:ext cx="111889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900" dirty="0">
                <a:solidFill>
                  <a:srgbClr val="222222"/>
                </a:solidFill>
                <a:latin typeface="Roboto" panose="02000000000000000000" pitchFamily="2" charset="0"/>
                <a:ea typeface="Roboto" panose="02000000000000000000" pitchFamily="2" charset="0"/>
                <a:cs typeface="Roboto" panose="02000000000000000000" pitchFamily="2" charset="0"/>
              </a:rPr>
              <a:t>PROBLEM</a:t>
            </a:r>
            <a:endParaRPr lang="en-US" altLang="en-US" sz="1800" b="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8" name="Rectangle 14">
            <a:extLst>
              <a:ext uri="{FF2B5EF4-FFF2-40B4-BE49-F238E27FC236}">
                <a16:creationId xmlns:a16="http://schemas.microsoft.com/office/drawing/2014/main" id="{C55F6BC5-C938-C5A5-A926-06C0A5B61139}"/>
              </a:ext>
            </a:extLst>
          </p:cNvPr>
          <p:cNvSpPr>
            <a:spLocks noChangeArrowheads="1"/>
          </p:cNvSpPr>
          <p:nvPr/>
        </p:nvSpPr>
        <p:spPr bwMode="auto">
          <a:xfrm>
            <a:off x="1432941" y="2200275"/>
            <a:ext cx="396240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20000"/>
              </a:spcBef>
              <a:spcAft>
                <a:spcPct val="20000"/>
              </a:spcAft>
              <a:buClrTx/>
              <a:buSzTx/>
              <a:buFontTx/>
              <a:buNone/>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Applications for mortgages have steadily  decreased in the past year.</a:t>
            </a:r>
          </a:p>
          <a:p>
            <a:pPr eaLnBrk="1" hangingPunct="1">
              <a:lnSpc>
                <a:spcPct val="100000"/>
              </a:lnSpc>
              <a:spcBef>
                <a:spcPct val="20000"/>
              </a:spcBef>
              <a:spcAft>
                <a:spcPct val="20000"/>
              </a:spcAft>
              <a:buClrTx/>
              <a:buSzTx/>
              <a:buFontTx/>
              <a:buNone/>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This is leading to a drop in revenue from a strategic service offering.  The drop in revenue is as a result of an inability to provide loans in a timely manner.  </a:t>
            </a:r>
          </a:p>
          <a:p>
            <a:pPr eaLnBrk="1" hangingPunct="1">
              <a:lnSpc>
                <a:spcPct val="100000"/>
              </a:lnSpc>
              <a:spcBef>
                <a:spcPct val="20000"/>
              </a:spcBef>
              <a:spcAft>
                <a:spcPct val="20000"/>
              </a:spcAft>
              <a:buClrTx/>
              <a:buSzTx/>
              <a:buFontTx/>
              <a:buNone/>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There is a need for significant improvement in lead time and control of the application process within the next six months.</a:t>
            </a:r>
            <a:endParaRPr lang="en-US" altLang="en-US" sz="1400" b="0" dirty="0">
              <a:latin typeface="Roboto" panose="02000000000000000000" pitchFamily="2" charset="0"/>
              <a:ea typeface="Roboto" panose="02000000000000000000" pitchFamily="2" charset="0"/>
              <a:cs typeface="Roboto" panose="02000000000000000000" pitchFamily="2" charset="0"/>
            </a:endParaRPr>
          </a:p>
        </p:txBody>
      </p:sp>
      <p:sp>
        <p:nvSpPr>
          <p:cNvPr id="19" name="Rectangle 20">
            <a:extLst>
              <a:ext uri="{FF2B5EF4-FFF2-40B4-BE49-F238E27FC236}">
                <a16:creationId xmlns:a16="http://schemas.microsoft.com/office/drawing/2014/main" id="{A5A2F2C5-5E2F-7AD5-CC58-2FBA4FFFD6FB}"/>
              </a:ext>
            </a:extLst>
          </p:cNvPr>
          <p:cNvSpPr>
            <a:spLocks noChangeArrowheads="1"/>
          </p:cNvSpPr>
          <p:nvPr/>
        </p:nvSpPr>
        <p:spPr bwMode="auto">
          <a:xfrm>
            <a:off x="1293241" y="4787900"/>
            <a:ext cx="4383088" cy="1475740"/>
          </a:xfrm>
          <a:prstGeom prst="rect">
            <a:avLst/>
          </a:prstGeom>
          <a:noFill/>
          <a:ln w="12700" cap="sq">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John Henry, Team Leader</a:t>
            </a: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Sue Garvey</a:t>
            </a: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Tim Lemmon</a:t>
            </a: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Joe Cusick</a:t>
            </a: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Harvey </a:t>
            </a:r>
            <a:r>
              <a:rPr lang="en-US" altLang="en-US" sz="1400" b="0" dirty="0" err="1">
                <a:latin typeface="Roboto" panose="02000000000000000000" pitchFamily="2" charset="0"/>
                <a:ea typeface="Roboto" panose="02000000000000000000" pitchFamily="2" charset="0"/>
                <a:cs typeface="Roboto" panose="02000000000000000000" pitchFamily="2" charset="0"/>
              </a:rPr>
              <a:t>Barbo</a:t>
            </a:r>
            <a:endParaRPr lang="en-US" altLang="en-US" sz="1400" b="0" dirty="0">
              <a:latin typeface="Roboto" panose="02000000000000000000" pitchFamily="2" charset="0"/>
              <a:ea typeface="Roboto" panose="02000000000000000000" pitchFamily="2" charset="0"/>
              <a:cs typeface="Roboto" panose="02000000000000000000" pitchFamily="2" charset="0"/>
            </a:endParaRP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Tonya Raines</a:t>
            </a:r>
          </a:p>
          <a:p>
            <a:pP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cs typeface="Roboto" panose="02000000000000000000" pitchFamily="2" charset="0"/>
              </a:rPr>
              <a:t>Jack </a:t>
            </a:r>
            <a:r>
              <a:rPr lang="en-US" altLang="en-US" sz="1400" b="0" dirty="0" err="1">
                <a:latin typeface="Roboto" panose="02000000000000000000" pitchFamily="2" charset="0"/>
                <a:ea typeface="Roboto" panose="02000000000000000000" pitchFamily="2" charset="0"/>
                <a:cs typeface="Roboto" panose="02000000000000000000" pitchFamily="2" charset="0"/>
              </a:rPr>
              <a:t>Prueblo</a:t>
            </a:r>
            <a:endParaRPr lang="en-US" altLang="en-US" sz="1400" b="0" dirty="0">
              <a:latin typeface="Roboto" panose="02000000000000000000" pitchFamily="2" charset="0"/>
              <a:ea typeface="Roboto" panose="02000000000000000000" pitchFamily="2" charset="0"/>
              <a:cs typeface="Roboto" panose="02000000000000000000" pitchFamily="2" charset="0"/>
            </a:endParaRPr>
          </a:p>
        </p:txBody>
      </p:sp>
      <p:sp>
        <p:nvSpPr>
          <p:cNvPr id="20" name="Rectangle 21">
            <a:extLst>
              <a:ext uri="{FF2B5EF4-FFF2-40B4-BE49-F238E27FC236}">
                <a16:creationId xmlns:a16="http://schemas.microsoft.com/office/drawing/2014/main" id="{F00D1951-F58F-360A-81CD-144493965A47}"/>
              </a:ext>
            </a:extLst>
          </p:cNvPr>
          <p:cNvSpPr>
            <a:spLocks noChangeArrowheads="1"/>
          </p:cNvSpPr>
          <p:nvPr/>
        </p:nvSpPr>
        <p:spPr bwMode="auto">
          <a:xfrm>
            <a:off x="6641086" y="4498686"/>
            <a:ext cx="110607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900" dirty="0">
                <a:solidFill>
                  <a:srgbClr val="222222"/>
                </a:solidFill>
                <a:latin typeface="Roboto" panose="02000000000000000000" pitchFamily="2" charset="0"/>
                <a:ea typeface="Roboto" panose="02000000000000000000" pitchFamily="2" charset="0"/>
                <a:cs typeface="Roboto" panose="02000000000000000000" pitchFamily="2" charset="0"/>
              </a:rPr>
              <a:t>BENEFITS</a:t>
            </a:r>
            <a:endParaRPr lang="en-US" altLang="en-US" sz="1800" b="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
            <a:extLst>
              <a:ext uri="{FF2B5EF4-FFF2-40B4-BE49-F238E27FC236}">
                <a16:creationId xmlns:a16="http://schemas.microsoft.com/office/drawing/2014/main" id="{7D007D73-6CF8-45E8-9660-6B892C12562E}"/>
              </a:ext>
            </a:extLst>
          </p:cNvPr>
          <p:cNvSpPr>
            <a:spLocks noChangeArrowheads="1"/>
          </p:cNvSpPr>
          <p:nvPr/>
        </p:nvSpPr>
        <p:spPr bwMode="auto">
          <a:xfrm>
            <a:off x="6626798" y="2303462"/>
            <a:ext cx="3413125" cy="609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Reduce lead time by at least 50% within six months.</a:t>
            </a:r>
          </a:p>
          <a:p>
            <a:pPr eaLnBrk="1" hangingPunct="1">
              <a:lnSpc>
                <a:spcPct val="100000"/>
              </a:lnSpc>
              <a:spcBef>
                <a:spcPct val="0"/>
              </a:spcBef>
              <a:spcAft>
                <a:spcPct val="0"/>
              </a:spcAft>
              <a:buClrTx/>
              <a:buSzTx/>
              <a:buFontTx/>
              <a:buNone/>
            </a:pPr>
            <a:endPar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8">
            <a:extLst>
              <a:ext uri="{FF2B5EF4-FFF2-40B4-BE49-F238E27FC236}">
                <a16:creationId xmlns:a16="http://schemas.microsoft.com/office/drawing/2014/main" id="{81F14A2F-A92C-12E3-484B-284937B00D7A}"/>
              </a:ext>
            </a:extLst>
          </p:cNvPr>
          <p:cNvSpPr>
            <a:spLocks noChangeArrowheads="1"/>
          </p:cNvSpPr>
          <p:nvPr/>
        </p:nvSpPr>
        <p:spPr bwMode="auto">
          <a:xfrm>
            <a:off x="6571236" y="2230437"/>
            <a:ext cx="3621087" cy="661987"/>
          </a:xfrm>
          <a:prstGeom prst="rect">
            <a:avLst/>
          </a:prstGeom>
          <a:noFill/>
          <a:ln w="19050" cap="rnd">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 name="Rectangle 17">
            <a:extLst>
              <a:ext uri="{FF2B5EF4-FFF2-40B4-BE49-F238E27FC236}">
                <a16:creationId xmlns:a16="http://schemas.microsoft.com/office/drawing/2014/main" id="{46E9161F-4267-4FDE-C891-04CBF992AF54}"/>
              </a:ext>
            </a:extLst>
          </p:cNvPr>
          <p:cNvSpPr>
            <a:spLocks noChangeArrowheads="1"/>
          </p:cNvSpPr>
          <p:nvPr/>
        </p:nvSpPr>
        <p:spPr bwMode="auto">
          <a:xfrm>
            <a:off x="6641086" y="3598862"/>
            <a:ext cx="3427412" cy="609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231775" indent="-231775">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Char char="•"/>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Receipt of application through Mailing of the package to the applicant</a:t>
            </a:r>
          </a:p>
          <a:p>
            <a:pPr eaLnBrk="1" hangingPunct="1">
              <a:lnSpc>
                <a:spcPct val="100000"/>
              </a:lnSpc>
              <a:spcBef>
                <a:spcPct val="0"/>
              </a:spcBef>
              <a:spcAft>
                <a:spcPct val="0"/>
              </a:spcAft>
              <a:buClrTx/>
              <a:buSzTx/>
              <a:buFontTx/>
              <a:buNone/>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  </a:t>
            </a:r>
          </a:p>
        </p:txBody>
      </p:sp>
      <p:sp>
        <p:nvSpPr>
          <p:cNvPr id="24" name="Rectangle 18">
            <a:extLst>
              <a:ext uri="{FF2B5EF4-FFF2-40B4-BE49-F238E27FC236}">
                <a16:creationId xmlns:a16="http://schemas.microsoft.com/office/drawing/2014/main" id="{43D53A62-ED3F-3A87-FC6A-192914ED9DAF}"/>
              </a:ext>
            </a:extLst>
          </p:cNvPr>
          <p:cNvSpPr>
            <a:spLocks noChangeArrowheads="1"/>
          </p:cNvSpPr>
          <p:nvPr/>
        </p:nvSpPr>
        <p:spPr bwMode="auto">
          <a:xfrm>
            <a:off x="6642673" y="4868862"/>
            <a:ext cx="3581400" cy="838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234950" indent="-23495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Char char="•"/>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Improved response time to the applicant</a:t>
            </a:r>
          </a:p>
          <a:p>
            <a:pPr eaLnBrk="1" hangingPunct="1">
              <a:lnSpc>
                <a:spcPct val="100000"/>
              </a:lnSpc>
              <a:spcBef>
                <a:spcPct val="0"/>
              </a:spcBef>
              <a:spcAft>
                <a:spcPct val="0"/>
              </a:spcAft>
              <a:buClrTx/>
              <a:buSzTx/>
              <a:buFontTx/>
              <a:buChar char="•"/>
            </a:pPr>
            <a:r>
              <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rPr>
              <a:t>Improved quality of the application process</a:t>
            </a:r>
          </a:p>
          <a:p>
            <a:pPr eaLnBrk="1" hangingPunct="1">
              <a:lnSpc>
                <a:spcPct val="100000"/>
              </a:lnSpc>
              <a:spcBef>
                <a:spcPct val="0"/>
              </a:spcBef>
              <a:spcAft>
                <a:spcPct val="0"/>
              </a:spcAft>
              <a:buClrTx/>
              <a:buSzTx/>
              <a:buFontTx/>
              <a:buNone/>
            </a:pPr>
            <a:endPar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endParaRPr>
          </a:p>
          <a:p>
            <a:pPr eaLnBrk="1" hangingPunct="1">
              <a:lnSpc>
                <a:spcPct val="100000"/>
              </a:lnSpc>
              <a:spcBef>
                <a:spcPct val="0"/>
              </a:spcBef>
              <a:spcAft>
                <a:spcPct val="0"/>
              </a:spcAft>
              <a:buClrTx/>
              <a:buSzTx/>
              <a:buFontTx/>
              <a:buChar char="•"/>
            </a:pPr>
            <a:endParaRPr lang="en-US" altLang="en-US" sz="1400" b="0" dirty="0">
              <a:solidFill>
                <a:srgbClr val="000000"/>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9">
            <a:extLst>
              <a:ext uri="{FF2B5EF4-FFF2-40B4-BE49-F238E27FC236}">
                <a16:creationId xmlns:a16="http://schemas.microsoft.com/office/drawing/2014/main" id="{CA450E27-91DD-729E-6870-CD6EE9B41A6F}"/>
              </a:ext>
            </a:extLst>
          </p:cNvPr>
          <p:cNvSpPr>
            <a:spLocks noChangeArrowheads="1"/>
          </p:cNvSpPr>
          <p:nvPr/>
        </p:nvSpPr>
        <p:spPr bwMode="auto">
          <a:xfrm>
            <a:off x="6593461" y="3548062"/>
            <a:ext cx="3621087" cy="835025"/>
          </a:xfrm>
          <a:prstGeom prst="rect">
            <a:avLst/>
          </a:prstGeom>
          <a:noFill/>
          <a:ln w="19050" cap="rnd">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Rectangle 22">
            <a:extLst>
              <a:ext uri="{FF2B5EF4-FFF2-40B4-BE49-F238E27FC236}">
                <a16:creationId xmlns:a16="http://schemas.microsoft.com/office/drawing/2014/main" id="{784FBEA9-05AF-01DC-CED7-370495A3A7CD}"/>
              </a:ext>
            </a:extLst>
          </p:cNvPr>
          <p:cNvSpPr>
            <a:spLocks noChangeArrowheads="1"/>
          </p:cNvSpPr>
          <p:nvPr/>
        </p:nvSpPr>
        <p:spPr bwMode="auto">
          <a:xfrm>
            <a:off x="6602986" y="4872037"/>
            <a:ext cx="3621087" cy="995362"/>
          </a:xfrm>
          <a:prstGeom prst="rect">
            <a:avLst/>
          </a:prstGeom>
          <a:noFill/>
          <a:ln w="19050" cap="rnd">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40" name="Group 39">
            <a:extLst>
              <a:ext uri="{FF2B5EF4-FFF2-40B4-BE49-F238E27FC236}">
                <a16:creationId xmlns:a16="http://schemas.microsoft.com/office/drawing/2014/main" id="{E5D652D8-2374-3C17-3378-6B128BF235EF}"/>
              </a:ext>
            </a:extLst>
          </p:cNvPr>
          <p:cNvGrpSpPr/>
          <p:nvPr/>
        </p:nvGrpSpPr>
        <p:grpSpPr>
          <a:xfrm>
            <a:off x="940249" y="302538"/>
            <a:ext cx="6219503" cy="311932"/>
            <a:chOff x="940249" y="302538"/>
            <a:chExt cx="6219503" cy="311932"/>
          </a:xfrm>
        </p:grpSpPr>
        <p:sp>
          <p:nvSpPr>
            <p:cNvPr id="41" name="TextBox 40">
              <a:extLst>
                <a:ext uri="{FF2B5EF4-FFF2-40B4-BE49-F238E27FC236}">
                  <a16:creationId xmlns:a16="http://schemas.microsoft.com/office/drawing/2014/main" id="{FBFECB05-72B0-8DD1-D9DC-E512CD7115E9}"/>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2" name="AutoShape 9">
              <a:extLst>
                <a:ext uri="{FF2B5EF4-FFF2-40B4-BE49-F238E27FC236}">
                  <a16:creationId xmlns:a16="http://schemas.microsoft.com/office/drawing/2014/main" id="{427DAC10-257A-86C2-E282-142AA5E5320E}"/>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563E4FB4-A082-5A21-50EE-ABD9B55C27F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B806D384-15C3-6284-334B-C2104B1FC4F3}"/>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9">
              <a:extLst>
                <a:ext uri="{FF2B5EF4-FFF2-40B4-BE49-F238E27FC236}">
                  <a16:creationId xmlns:a16="http://schemas.microsoft.com/office/drawing/2014/main" id="{FE6233ED-F8F9-20A7-6150-87FB7FDA9A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6" name="AutoShape 11">
              <a:extLst>
                <a:ext uri="{FF2B5EF4-FFF2-40B4-BE49-F238E27FC236}">
                  <a16:creationId xmlns:a16="http://schemas.microsoft.com/office/drawing/2014/main" id="{3681F1C2-6009-1C2D-61D1-024AFF460156}"/>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7" name="Slide Number Placeholder 2">
            <a:extLst>
              <a:ext uri="{FF2B5EF4-FFF2-40B4-BE49-F238E27FC236}">
                <a16:creationId xmlns:a16="http://schemas.microsoft.com/office/drawing/2014/main" id="{169D098E-6F5C-32BB-5263-60B6F590E9D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29</a:t>
            </a:fld>
            <a:endParaRPr lang="en-US" dirty="0"/>
          </a:p>
        </p:txBody>
      </p:sp>
    </p:spTree>
    <p:extLst>
      <p:ext uri="{BB962C8B-B14F-4D97-AF65-F5344CB8AC3E}">
        <p14:creationId xmlns:p14="http://schemas.microsoft.com/office/powerpoint/2010/main" val="90085891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fontScale="90000"/>
          </a:bodyPr>
          <a:lstStyle/>
          <a:p>
            <a:r>
              <a:rPr lang="en-US" altLang="en-US" dirty="0"/>
              <a:t>Case Study Example: </a:t>
            </a:r>
            <a:br>
              <a:rPr lang="en-US" altLang="en-US" dirty="0"/>
            </a:br>
            <a:r>
              <a:rPr lang="en-US" altLang="en-US" dirty="0"/>
              <a:t>Northern Home Credit (NHC)</a:t>
            </a:r>
            <a:endParaRPr lang="en-US" dirty="0"/>
          </a:p>
        </p:txBody>
      </p:sp>
      <p:sp>
        <p:nvSpPr>
          <p:cNvPr id="3" name="Content Placeholder 2">
            <a:extLst>
              <a:ext uri="{FF2B5EF4-FFF2-40B4-BE49-F238E27FC236}">
                <a16:creationId xmlns:a16="http://schemas.microsoft.com/office/drawing/2014/main" id="{00CCFE48-FD79-F207-530B-D287362D3610}"/>
              </a:ext>
            </a:extLst>
          </p:cNvPr>
          <p:cNvSpPr>
            <a:spLocks noGrp="1"/>
          </p:cNvSpPr>
          <p:nvPr>
            <p:ph idx="1"/>
          </p:nvPr>
        </p:nvSpPr>
        <p:spPr/>
        <p:txBody>
          <a:bodyPr>
            <a:normAutofit fontScale="92500" lnSpcReduction="10000"/>
          </a:bodyPr>
          <a:lstStyle/>
          <a:p>
            <a:pPr>
              <a:lnSpc>
                <a:spcPct val="120000"/>
              </a:lnSpc>
            </a:pPr>
            <a:r>
              <a:rPr lang="en-US" sz="1600" b="1" dirty="0"/>
              <a:t>Background</a:t>
            </a:r>
          </a:p>
          <a:p>
            <a:pPr lvl="1">
              <a:lnSpc>
                <a:spcPct val="120000"/>
              </a:lnSpc>
            </a:pPr>
            <a:r>
              <a:rPr lang="en-US" sz="1400" dirty="0"/>
              <a:t>Northern Home Credit provides mortgages and dept consolidation loans for a wide variety of homeowners and purchasers.  These loans are regionally available in the Northeast US and are directed at customers with strong credit standings. Northern Home Credit has made a name for itself by providing quick turnaround on applications for customers who want a simple, no hassle loan process.  As of late Northern has been losing customers because they have not been able to provide loans on a timely basis.</a:t>
            </a:r>
          </a:p>
          <a:p>
            <a:pPr>
              <a:lnSpc>
                <a:spcPct val="120000"/>
              </a:lnSpc>
            </a:pPr>
            <a:r>
              <a:rPr lang="en-US" sz="1600" b="1" dirty="0"/>
              <a:t> Customer Requirements</a:t>
            </a:r>
          </a:p>
          <a:p>
            <a:pPr lvl="1">
              <a:lnSpc>
                <a:spcPct val="120000"/>
              </a:lnSpc>
            </a:pPr>
            <a:r>
              <a:rPr lang="en-US" sz="1400" dirty="0"/>
              <a:t>Customers send NHC an average of 2,500 applications a month.</a:t>
            </a:r>
          </a:p>
          <a:p>
            <a:pPr lvl="1">
              <a:lnSpc>
                <a:spcPct val="120000"/>
              </a:lnSpc>
            </a:pPr>
            <a:r>
              <a:rPr lang="en-US" sz="1400" dirty="0"/>
              <a:t>Applications are completed jointly by the potential borrower and one of Northern representatives at their current residence or at an NHC office. </a:t>
            </a:r>
          </a:p>
          <a:p>
            <a:pPr lvl="1">
              <a:lnSpc>
                <a:spcPct val="120000"/>
              </a:lnSpc>
            </a:pPr>
            <a:r>
              <a:rPr lang="en-US" sz="1400" dirty="0"/>
              <a:t>All applications are submitted by mail to the central office by a NHC representative.</a:t>
            </a:r>
          </a:p>
          <a:p>
            <a:pPr lvl="1">
              <a:lnSpc>
                <a:spcPct val="120000"/>
              </a:lnSpc>
            </a:pPr>
            <a:r>
              <a:rPr lang="en-US" sz="1400" dirty="0"/>
              <a:t>Customers are notified of their approval or rejection via registered mail.</a:t>
            </a:r>
          </a:p>
          <a:p>
            <a:pPr>
              <a:lnSpc>
                <a:spcPct val="120000"/>
              </a:lnSpc>
            </a:pPr>
            <a:r>
              <a:rPr lang="en-US" sz="1600" b="1" dirty="0"/>
              <a:t>NHC Central Office Work Time</a:t>
            </a:r>
          </a:p>
          <a:p>
            <a:pPr lvl="1">
              <a:lnSpc>
                <a:spcPct val="120000"/>
              </a:lnSpc>
            </a:pPr>
            <a:r>
              <a:rPr lang="en-US" sz="1400" dirty="0"/>
              <a:t>20 days in a month</a:t>
            </a:r>
          </a:p>
          <a:p>
            <a:pPr lvl="1">
              <a:lnSpc>
                <a:spcPct val="120000"/>
              </a:lnSpc>
            </a:pPr>
            <a:r>
              <a:rPr lang="en-US" sz="1400" dirty="0"/>
              <a:t>One 8 hour shift operation in all departments</a:t>
            </a:r>
          </a:p>
          <a:p>
            <a:pPr lvl="1">
              <a:lnSpc>
                <a:spcPct val="120000"/>
              </a:lnSpc>
            </a:pPr>
            <a:r>
              <a:rPr lang="en-US" sz="1400" dirty="0"/>
              <a:t>Two 15-minute breaks, unpaid lunch</a:t>
            </a:r>
          </a:p>
        </p:txBody>
      </p:sp>
      <p:grpSp>
        <p:nvGrpSpPr>
          <p:cNvPr id="10" name="Group 9">
            <a:extLst>
              <a:ext uri="{FF2B5EF4-FFF2-40B4-BE49-F238E27FC236}">
                <a16:creationId xmlns:a16="http://schemas.microsoft.com/office/drawing/2014/main" id="{79F77F3E-F30B-1FBF-153C-654D7D211AAB}"/>
              </a:ext>
            </a:extLst>
          </p:cNvPr>
          <p:cNvGrpSpPr/>
          <p:nvPr/>
        </p:nvGrpSpPr>
        <p:grpSpPr>
          <a:xfrm>
            <a:off x="940249" y="302538"/>
            <a:ext cx="6219503" cy="311932"/>
            <a:chOff x="940249" y="302538"/>
            <a:chExt cx="6219503" cy="311932"/>
          </a:xfrm>
        </p:grpSpPr>
        <p:sp>
          <p:nvSpPr>
            <p:cNvPr id="11" name="TextBox 10">
              <a:extLst>
                <a:ext uri="{FF2B5EF4-FFF2-40B4-BE49-F238E27FC236}">
                  <a16:creationId xmlns:a16="http://schemas.microsoft.com/office/drawing/2014/main" id="{F6E65534-B051-704E-D56F-417C8C3F4B9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941A3A08-CB62-CB31-82A7-AD3CE6FE033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9">
              <a:extLst>
                <a:ext uri="{FF2B5EF4-FFF2-40B4-BE49-F238E27FC236}">
                  <a16:creationId xmlns:a16="http://schemas.microsoft.com/office/drawing/2014/main" id="{266DC4FF-C127-4FC6-8DCC-194967D3153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93CDECE8-98AF-5F8E-355A-1F7C495C8FB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9E400DBD-99C2-870F-1B9D-E68AD02B7DFE}"/>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11">
              <a:extLst>
                <a:ext uri="{FF2B5EF4-FFF2-40B4-BE49-F238E27FC236}">
                  <a16:creationId xmlns:a16="http://schemas.microsoft.com/office/drawing/2014/main" id="{7D7DA65C-C0E9-1964-4F79-677023F7A50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7" name="Slide Number Placeholder 2">
            <a:extLst>
              <a:ext uri="{FF2B5EF4-FFF2-40B4-BE49-F238E27FC236}">
                <a16:creationId xmlns:a16="http://schemas.microsoft.com/office/drawing/2014/main" id="{CA5CB0F3-2FF3-5D34-EC76-8E9278B4FC26}"/>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30</a:t>
            </a:fld>
            <a:endParaRPr lang="en-US" dirty="0"/>
          </a:p>
        </p:txBody>
      </p:sp>
    </p:spTree>
    <p:extLst>
      <p:ext uri="{BB962C8B-B14F-4D97-AF65-F5344CB8AC3E}">
        <p14:creationId xmlns:p14="http://schemas.microsoft.com/office/powerpoint/2010/main" val="43684609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fontScale="90000"/>
          </a:bodyPr>
          <a:lstStyle/>
          <a:p>
            <a:r>
              <a:rPr lang="en-US" altLang="en-US" dirty="0"/>
              <a:t>Case Study Example: </a:t>
            </a:r>
            <a:br>
              <a:rPr lang="en-US" altLang="en-US" dirty="0"/>
            </a:br>
            <a:r>
              <a:rPr lang="en-US" altLang="en-US" dirty="0"/>
              <a:t>Northern Home Credit (NHC)</a:t>
            </a:r>
            <a:endParaRPr lang="en-US" dirty="0"/>
          </a:p>
        </p:txBody>
      </p:sp>
      <p:sp>
        <p:nvSpPr>
          <p:cNvPr id="3" name="Content Placeholder 2">
            <a:extLst>
              <a:ext uri="{FF2B5EF4-FFF2-40B4-BE49-F238E27FC236}">
                <a16:creationId xmlns:a16="http://schemas.microsoft.com/office/drawing/2014/main" id="{00CCFE48-FD79-F207-530B-D287362D3610}"/>
              </a:ext>
            </a:extLst>
          </p:cNvPr>
          <p:cNvSpPr>
            <a:spLocks noGrp="1"/>
          </p:cNvSpPr>
          <p:nvPr>
            <p:ph idx="1"/>
          </p:nvPr>
        </p:nvSpPr>
        <p:spPr/>
        <p:txBody>
          <a:bodyPr>
            <a:normAutofit/>
          </a:bodyPr>
          <a:lstStyle/>
          <a:p>
            <a:pPr>
              <a:lnSpc>
                <a:spcPct val="120000"/>
              </a:lnSpc>
            </a:pPr>
            <a:r>
              <a:rPr lang="en-US" sz="1800" b="1" dirty="0"/>
              <a:t>Application Processing - Receipt</a:t>
            </a:r>
          </a:p>
          <a:p>
            <a:pPr lvl="1">
              <a:lnSpc>
                <a:spcPct val="120000"/>
              </a:lnSpc>
            </a:pPr>
            <a:r>
              <a:rPr lang="en-US" sz="1600" dirty="0"/>
              <a:t>All mailed applications are received in the mailroom where they are opened and sorted by city by two mailroom employees. </a:t>
            </a:r>
            <a:endParaRPr lang="en-US" sz="2000" dirty="0"/>
          </a:p>
          <a:p>
            <a:pPr lvl="1">
              <a:lnSpc>
                <a:spcPct val="120000"/>
              </a:lnSpc>
            </a:pPr>
            <a:r>
              <a:rPr lang="en-US" sz="1600" dirty="0"/>
              <a:t>It takes an average of 15 seconds to open and sort an envelope. </a:t>
            </a:r>
            <a:endParaRPr lang="en-US" sz="2000" dirty="0"/>
          </a:p>
          <a:p>
            <a:pPr lvl="1">
              <a:lnSpc>
                <a:spcPct val="120000"/>
              </a:lnSpc>
            </a:pPr>
            <a:r>
              <a:rPr lang="en-US" sz="1600" dirty="0"/>
              <a:t>All applications are opened and sorted correctly</a:t>
            </a:r>
            <a:endParaRPr lang="en-US" sz="2000" dirty="0"/>
          </a:p>
          <a:p>
            <a:pPr lvl="1">
              <a:lnSpc>
                <a:spcPct val="120000"/>
              </a:lnSpc>
            </a:pPr>
            <a:r>
              <a:rPr lang="en-US" sz="1600" dirty="0"/>
              <a:t>The two mailroom employees are responsible for all incoming and outgoing mail and courier services at NHC.  </a:t>
            </a:r>
            <a:endParaRPr lang="en-US" sz="2000" dirty="0"/>
          </a:p>
          <a:p>
            <a:pPr>
              <a:lnSpc>
                <a:spcPct val="120000"/>
              </a:lnSpc>
            </a:pPr>
            <a:r>
              <a:rPr lang="en-US" sz="1800" b="1" dirty="0"/>
              <a:t>Application Processing - Data Entry &amp; Credit Check </a:t>
            </a:r>
          </a:p>
          <a:p>
            <a:pPr lvl="1">
              <a:lnSpc>
                <a:spcPct val="120000"/>
              </a:lnSpc>
            </a:pPr>
            <a:r>
              <a:rPr lang="en-US" sz="1600" dirty="0"/>
              <a:t>The application information is entered into the central data base by one of five data entry clerks.</a:t>
            </a:r>
          </a:p>
          <a:p>
            <a:pPr lvl="1">
              <a:lnSpc>
                <a:spcPct val="120000"/>
              </a:lnSpc>
            </a:pPr>
            <a:r>
              <a:rPr lang="en-US" sz="1600" dirty="0"/>
              <a:t>It takes the clerks 13 minutes to enter the data and they do so with 98% accuracy.</a:t>
            </a:r>
            <a:endParaRPr lang="en-US" sz="2000" dirty="0"/>
          </a:p>
          <a:p>
            <a:pPr lvl="1">
              <a:lnSpc>
                <a:spcPct val="120000"/>
              </a:lnSpc>
            </a:pPr>
            <a:r>
              <a:rPr lang="en-US" sz="1600" dirty="0"/>
              <a:t>Once entered into the central data base it is submitted for an automated credit check and scoring  </a:t>
            </a:r>
            <a:endParaRPr lang="en-US" sz="2000" dirty="0"/>
          </a:p>
          <a:p>
            <a:pPr lvl="1">
              <a:lnSpc>
                <a:spcPct val="120000"/>
              </a:lnSpc>
            </a:pPr>
            <a:r>
              <a:rPr lang="en-US" sz="1600" dirty="0"/>
              <a:t>Completed applications are forwarded to underwriting in a file created at data entry.</a:t>
            </a:r>
          </a:p>
        </p:txBody>
      </p:sp>
      <p:grpSp>
        <p:nvGrpSpPr>
          <p:cNvPr id="11" name="Group 10">
            <a:extLst>
              <a:ext uri="{FF2B5EF4-FFF2-40B4-BE49-F238E27FC236}">
                <a16:creationId xmlns:a16="http://schemas.microsoft.com/office/drawing/2014/main" id="{844F5AB0-A4BC-5279-235E-B8A495E26F12}"/>
              </a:ext>
            </a:extLst>
          </p:cNvPr>
          <p:cNvGrpSpPr/>
          <p:nvPr/>
        </p:nvGrpSpPr>
        <p:grpSpPr>
          <a:xfrm>
            <a:off x="940249" y="302538"/>
            <a:ext cx="6219503" cy="311932"/>
            <a:chOff x="940249" y="302538"/>
            <a:chExt cx="6219503" cy="311932"/>
          </a:xfrm>
        </p:grpSpPr>
        <p:sp>
          <p:nvSpPr>
            <p:cNvPr id="12" name="TextBox 11">
              <a:extLst>
                <a:ext uri="{FF2B5EF4-FFF2-40B4-BE49-F238E27FC236}">
                  <a16:creationId xmlns:a16="http://schemas.microsoft.com/office/drawing/2014/main" id="{473D95F5-22B8-D2E3-AB56-897D6C9C040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3" name="AutoShape 9">
              <a:extLst>
                <a:ext uri="{FF2B5EF4-FFF2-40B4-BE49-F238E27FC236}">
                  <a16:creationId xmlns:a16="http://schemas.microsoft.com/office/drawing/2014/main" id="{FF4C7734-49FD-D250-31E7-582D98DE154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033F2D6F-EE91-1FBC-8909-EF0DB019ECD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664AEE94-6444-A8AA-CCE1-221AC0ADECC2}"/>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6656CDFF-4F55-FD26-0D77-B6C072B73C3F}"/>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11">
              <a:extLst>
                <a:ext uri="{FF2B5EF4-FFF2-40B4-BE49-F238E27FC236}">
                  <a16:creationId xmlns:a16="http://schemas.microsoft.com/office/drawing/2014/main" id="{C66A4ED3-290A-6592-CF23-273F358D8B9E}"/>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8" name="Slide Number Placeholder 2">
            <a:extLst>
              <a:ext uri="{FF2B5EF4-FFF2-40B4-BE49-F238E27FC236}">
                <a16:creationId xmlns:a16="http://schemas.microsoft.com/office/drawing/2014/main" id="{6E732716-9199-2567-4CDA-56D083EE6AD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31</a:t>
            </a:fld>
            <a:endParaRPr lang="en-US" dirty="0"/>
          </a:p>
        </p:txBody>
      </p:sp>
    </p:spTree>
    <p:extLst>
      <p:ext uri="{BB962C8B-B14F-4D97-AF65-F5344CB8AC3E}">
        <p14:creationId xmlns:p14="http://schemas.microsoft.com/office/powerpoint/2010/main" val="384700836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fontScale="90000"/>
          </a:bodyPr>
          <a:lstStyle/>
          <a:p>
            <a:r>
              <a:rPr lang="en-US" altLang="en-US" dirty="0"/>
              <a:t>Case Study Example: </a:t>
            </a:r>
            <a:br>
              <a:rPr lang="en-US" altLang="en-US" dirty="0"/>
            </a:br>
            <a:r>
              <a:rPr lang="en-US" altLang="en-US" dirty="0"/>
              <a:t>Northern Home Credit (NHC)</a:t>
            </a:r>
            <a:endParaRPr lang="en-US" dirty="0"/>
          </a:p>
        </p:txBody>
      </p:sp>
      <p:sp>
        <p:nvSpPr>
          <p:cNvPr id="3" name="Content Placeholder 2">
            <a:extLst>
              <a:ext uri="{FF2B5EF4-FFF2-40B4-BE49-F238E27FC236}">
                <a16:creationId xmlns:a16="http://schemas.microsoft.com/office/drawing/2014/main" id="{00CCFE48-FD79-F207-530B-D287362D3610}"/>
              </a:ext>
            </a:extLst>
          </p:cNvPr>
          <p:cNvSpPr>
            <a:spLocks noGrp="1"/>
          </p:cNvSpPr>
          <p:nvPr>
            <p:ph idx="1"/>
          </p:nvPr>
        </p:nvSpPr>
        <p:spPr/>
        <p:txBody>
          <a:bodyPr>
            <a:normAutofit fontScale="85000" lnSpcReduction="20000"/>
          </a:bodyPr>
          <a:lstStyle/>
          <a:p>
            <a:pPr>
              <a:lnSpc>
                <a:spcPct val="120000"/>
              </a:lnSpc>
            </a:pPr>
            <a:r>
              <a:rPr lang="en-US" sz="2000" b="1" dirty="0"/>
              <a:t>Application Processing - Underwriting </a:t>
            </a:r>
          </a:p>
          <a:p>
            <a:pPr lvl="1">
              <a:lnSpc>
                <a:spcPct val="120000"/>
              </a:lnSpc>
            </a:pPr>
            <a:r>
              <a:rPr lang="en-US" sz="1600" dirty="0"/>
              <a:t>All applications that successfully go through credit check are sent to one of two senior underwriters who determine the credit worthiness and limit for the customer based on credit capacity and the value of the property.  </a:t>
            </a:r>
            <a:endParaRPr lang="en-US" sz="2000" dirty="0"/>
          </a:p>
          <a:p>
            <a:pPr lvl="1">
              <a:lnSpc>
                <a:spcPct val="120000"/>
              </a:lnSpc>
            </a:pPr>
            <a:r>
              <a:rPr lang="en-US" sz="1600" dirty="0"/>
              <a:t>It takes an average of 12 minutes to review the file and come to a credit decision.</a:t>
            </a:r>
            <a:endParaRPr lang="en-US" sz="2000" dirty="0"/>
          </a:p>
          <a:p>
            <a:pPr lvl="1">
              <a:lnSpc>
                <a:spcPct val="120000"/>
              </a:lnSpc>
            </a:pPr>
            <a:r>
              <a:rPr lang="en-US" sz="1600" dirty="0"/>
              <a:t>65% of the time the application cannot receive a credit decision during its first review due to inaccurate, incorrect, or incomplete information.  </a:t>
            </a:r>
            <a:endParaRPr lang="en-US" sz="2000" dirty="0"/>
          </a:p>
          <a:p>
            <a:pPr>
              <a:lnSpc>
                <a:spcPct val="120000"/>
              </a:lnSpc>
            </a:pPr>
            <a:r>
              <a:rPr lang="en-US" sz="2000" b="1" dirty="0"/>
              <a:t>Application Processing – Approval or Rejection Notification</a:t>
            </a:r>
          </a:p>
          <a:p>
            <a:pPr lvl="1">
              <a:lnSpc>
                <a:spcPct val="120000"/>
              </a:lnSpc>
            </a:pPr>
            <a:r>
              <a:rPr lang="en-US" sz="1600" dirty="0"/>
              <a:t>Once the credit decision has been reached a personalized package is prepared by a clerk outlining either the acceptance or rejection. </a:t>
            </a:r>
            <a:endParaRPr lang="en-US" sz="2000" dirty="0"/>
          </a:p>
          <a:p>
            <a:pPr lvl="1">
              <a:lnSpc>
                <a:spcPct val="120000"/>
              </a:lnSpc>
            </a:pPr>
            <a:r>
              <a:rPr lang="en-US" sz="1600" dirty="0"/>
              <a:t>The clerk has a 97% accuracy level in matching the credit information to the customer information and completing the package.</a:t>
            </a:r>
            <a:endParaRPr lang="en-US" sz="2000" dirty="0"/>
          </a:p>
          <a:p>
            <a:pPr lvl="1">
              <a:lnSpc>
                <a:spcPct val="120000"/>
              </a:lnSpc>
            </a:pPr>
            <a:r>
              <a:rPr lang="en-US" sz="1600" dirty="0"/>
              <a:t>It takes 7 minutes to prepare the package.</a:t>
            </a:r>
            <a:endParaRPr lang="en-US" sz="2000" dirty="0"/>
          </a:p>
          <a:p>
            <a:pPr>
              <a:lnSpc>
                <a:spcPct val="120000"/>
              </a:lnSpc>
            </a:pPr>
            <a:r>
              <a:rPr lang="en-US" sz="2000" b="1" dirty="0"/>
              <a:t>Application Process – Package Mailing</a:t>
            </a:r>
          </a:p>
          <a:p>
            <a:pPr lvl="1">
              <a:lnSpc>
                <a:spcPct val="120000"/>
              </a:lnSpc>
            </a:pPr>
            <a:r>
              <a:rPr lang="en-US" sz="1600" dirty="0"/>
              <a:t>These packages are put in envelopes and sent via registered mail daily to the applicants. One mailroom employee is dedicated to processing outgoing mail. The process takes 45 seconds and is done with 100% accuracy.</a:t>
            </a:r>
          </a:p>
        </p:txBody>
      </p:sp>
      <p:grpSp>
        <p:nvGrpSpPr>
          <p:cNvPr id="10" name="Group 9">
            <a:extLst>
              <a:ext uri="{FF2B5EF4-FFF2-40B4-BE49-F238E27FC236}">
                <a16:creationId xmlns:a16="http://schemas.microsoft.com/office/drawing/2014/main" id="{CD7D351B-1040-0E2C-9612-2F206B1C085A}"/>
              </a:ext>
            </a:extLst>
          </p:cNvPr>
          <p:cNvGrpSpPr/>
          <p:nvPr/>
        </p:nvGrpSpPr>
        <p:grpSpPr>
          <a:xfrm>
            <a:off x="940249" y="302538"/>
            <a:ext cx="6219503" cy="311932"/>
            <a:chOff x="940249" y="302538"/>
            <a:chExt cx="6219503" cy="311932"/>
          </a:xfrm>
        </p:grpSpPr>
        <p:sp>
          <p:nvSpPr>
            <p:cNvPr id="11" name="TextBox 10">
              <a:extLst>
                <a:ext uri="{FF2B5EF4-FFF2-40B4-BE49-F238E27FC236}">
                  <a16:creationId xmlns:a16="http://schemas.microsoft.com/office/drawing/2014/main" id="{BC1D985D-4A07-F7F5-276F-9C06495224FB}"/>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14679A53-8665-E3F0-3BE5-47E5D5A0653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9">
              <a:extLst>
                <a:ext uri="{FF2B5EF4-FFF2-40B4-BE49-F238E27FC236}">
                  <a16:creationId xmlns:a16="http://schemas.microsoft.com/office/drawing/2014/main" id="{88F12F10-F783-57FD-6B5A-23AFDCDC0EB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8ED1B66B-994F-D73F-3634-9DFBFA30A22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FAACDD38-8959-CB4B-82B4-82EA2DB943B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11">
              <a:extLst>
                <a:ext uri="{FF2B5EF4-FFF2-40B4-BE49-F238E27FC236}">
                  <a16:creationId xmlns:a16="http://schemas.microsoft.com/office/drawing/2014/main" id="{39737905-FDE6-BBEF-ED0B-A8483CE650D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7" name="Slide Number Placeholder 2">
            <a:extLst>
              <a:ext uri="{FF2B5EF4-FFF2-40B4-BE49-F238E27FC236}">
                <a16:creationId xmlns:a16="http://schemas.microsoft.com/office/drawing/2014/main" id="{35A6A6F2-A466-4A86-A129-E7EE248B155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32</a:t>
            </a:fld>
            <a:endParaRPr lang="en-US" dirty="0"/>
          </a:p>
        </p:txBody>
      </p:sp>
    </p:spTree>
    <p:extLst>
      <p:ext uri="{BB962C8B-B14F-4D97-AF65-F5344CB8AC3E}">
        <p14:creationId xmlns:p14="http://schemas.microsoft.com/office/powerpoint/2010/main" val="274597853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fontScale="90000"/>
          </a:bodyPr>
          <a:lstStyle/>
          <a:p>
            <a:r>
              <a:rPr lang="en-US" altLang="en-US" dirty="0"/>
              <a:t>Case Study Example: </a:t>
            </a:r>
            <a:br>
              <a:rPr lang="en-US" altLang="en-US" dirty="0"/>
            </a:br>
            <a:r>
              <a:rPr lang="en-US" altLang="en-US" dirty="0"/>
              <a:t>Northern Home Credit (NHC)</a:t>
            </a:r>
            <a:endParaRPr lang="en-US" dirty="0"/>
          </a:p>
        </p:txBody>
      </p:sp>
      <p:sp>
        <p:nvSpPr>
          <p:cNvPr id="3" name="Content Placeholder 2">
            <a:extLst>
              <a:ext uri="{FF2B5EF4-FFF2-40B4-BE49-F238E27FC236}">
                <a16:creationId xmlns:a16="http://schemas.microsoft.com/office/drawing/2014/main" id="{00CCFE48-FD79-F207-530B-D287362D3610}"/>
              </a:ext>
            </a:extLst>
          </p:cNvPr>
          <p:cNvSpPr>
            <a:spLocks noGrp="1"/>
          </p:cNvSpPr>
          <p:nvPr>
            <p:ph idx="1"/>
          </p:nvPr>
        </p:nvSpPr>
        <p:spPr/>
        <p:txBody>
          <a:bodyPr>
            <a:normAutofit/>
          </a:bodyPr>
          <a:lstStyle/>
          <a:p>
            <a:pPr>
              <a:lnSpc>
                <a:spcPct val="120000"/>
              </a:lnSpc>
            </a:pPr>
            <a:r>
              <a:rPr lang="en-US" sz="2000" b="1" dirty="0"/>
              <a:t>Inventory</a:t>
            </a:r>
          </a:p>
          <a:p>
            <a:pPr lvl="1">
              <a:lnSpc>
                <a:spcPct val="120000"/>
              </a:lnSpc>
            </a:pPr>
            <a:r>
              <a:rPr lang="en-US" sz="1600" dirty="0"/>
              <a:t>There are 75 mailed envelopes in the mailroom waiting to be opened and sorted.</a:t>
            </a:r>
            <a:endParaRPr lang="en-US" sz="2000" dirty="0"/>
          </a:p>
          <a:p>
            <a:pPr lvl="1">
              <a:lnSpc>
                <a:spcPct val="120000"/>
              </a:lnSpc>
            </a:pPr>
            <a:r>
              <a:rPr lang="en-US" sz="1600" dirty="0"/>
              <a:t>There are 200 applications waiting for data entry.</a:t>
            </a:r>
            <a:endParaRPr lang="en-US" sz="2000" dirty="0"/>
          </a:p>
          <a:p>
            <a:pPr lvl="1">
              <a:lnSpc>
                <a:spcPct val="120000"/>
              </a:lnSpc>
            </a:pPr>
            <a:r>
              <a:rPr lang="en-US" sz="1600" dirty="0"/>
              <a:t>There are 500 files waiting for underwriting.</a:t>
            </a:r>
            <a:endParaRPr lang="en-US" sz="2000" dirty="0"/>
          </a:p>
          <a:p>
            <a:pPr lvl="1">
              <a:lnSpc>
                <a:spcPct val="120000"/>
              </a:lnSpc>
            </a:pPr>
            <a:r>
              <a:rPr lang="en-US" sz="1600" dirty="0"/>
              <a:t>There are 0 files waiting for package generation.</a:t>
            </a:r>
            <a:endParaRPr lang="en-US" sz="2000" dirty="0"/>
          </a:p>
          <a:p>
            <a:pPr lvl="1">
              <a:lnSpc>
                <a:spcPct val="120000"/>
              </a:lnSpc>
            </a:pPr>
            <a:r>
              <a:rPr lang="en-US" sz="1600" dirty="0"/>
              <a:t>There are 75 welcome packages waiting to be sent.</a:t>
            </a:r>
            <a:endParaRPr lang="en-US" sz="2000" b="1" dirty="0"/>
          </a:p>
          <a:p>
            <a:pPr>
              <a:lnSpc>
                <a:spcPct val="120000"/>
              </a:lnSpc>
            </a:pPr>
            <a:r>
              <a:rPr lang="en-US" sz="2000" b="1" dirty="0"/>
              <a:t>Scheduling</a:t>
            </a:r>
          </a:p>
          <a:p>
            <a:pPr lvl="1">
              <a:lnSpc>
                <a:spcPct val="120000"/>
              </a:lnSpc>
            </a:pPr>
            <a:r>
              <a:rPr lang="en-US" sz="1600" dirty="0"/>
              <a:t>All applications are processed on a FIFO basis.</a:t>
            </a:r>
          </a:p>
          <a:p>
            <a:pPr>
              <a:lnSpc>
                <a:spcPct val="120000"/>
              </a:lnSpc>
            </a:pPr>
            <a:endParaRPr lang="en-US" sz="2000" b="1" dirty="0"/>
          </a:p>
        </p:txBody>
      </p:sp>
      <p:grpSp>
        <p:nvGrpSpPr>
          <p:cNvPr id="10" name="Group 9">
            <a:extLst>
              <a:ext uri="{FF2B5EF4-FFF2-40B4-BE49-F238E27FC236}">
                <a16:creationId xmlns:a16="http://schemas.microsoft.com/office/drawing/2014/main" id="{A53EEF38-60B4-0943-F5BD-F939EA596FBF}"/>
              </a:ext>
            </a:extLst>
          </p:cNvPr>
          <p:cNvGrpSpPr/>
          <p:nvPr/>
        </p:nvGrpSpPr>
        <p:grpSpPr>
          <a:xfrm>
            <a:off x="940249" y="302538"/>
            <a:ext cx="6219503" cy="311932"/>
            <a:chOff x="940249" y="302538"/>
            <a:chExt cx="6219503" cy="311932"/>
          </a:xfrm>
        </p:grpSpPr>
        <p:sp>
          <p:nvSpPr>
            <p:cNvPr id="11" name="TextBox 10">
              <a:extLst>
                <a:ext uri="{FF2B5EF4-FFF2-40B4-BE49-F238E27FC236}">
                  <a16:creationId xmlns:a16="http://schemas.microsoft.com/office/drawing/2014/main" id="{0F6BECB2-E382-0544-D82C-37B9B19946C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2" name="AutoShape 9">
              <a:extLst>
                <a:ext uri="{FF2B5EF4-FFF2-40B4-BE49-F238E27FC236}">
                  <a16:creationId xmlns:a16="http://schemas.microsoft.com/office/drawing/2014/main" id="{021CAE25-563A-EC19-39C8-35291CBE0EA6}"/>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9">
              <a:extLst>
                <a:ext uri="{FF2B5EF4-FFF2-40B4-BE49-F238E27FC236}">
                  <a16:creationId xmlns:a16="http://schemas.microsoft.com/office/drawing/2014/main" id="{0AD5C482-EBC2-4474-3780-871B049A5A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4" name="AutoShape 9">
              <a:extLst>
                <a:ext uri="{FF2B5EF4-FFF2-40B4-BE49-F238E27FC236}">
                  <a16:creationId xmlns:a16="http://schemas.microsoft.com/office/drawing/2014/main" id="{0BAA5297-9D6F-CDF9-2E3B-54D24F1C157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F047D9D4-6D57-0BDC-9FE9-5712651E217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11">
              <a:extLst>
                <a:ext uri="{FF2B5EF4-FFF2-40B4-BE49-F238E27FC236}">
                  <a16:creationId xmlns:a16="http://schemas.microsoft.com/office/drawing/2014/main" id="{CB34517C-2DC3-B493-53EF-EA19EA0152C5}"/>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7" name="Slide Number Placeholder 2">
            <a:extLst>
              <a:ext uri="{FF2B5EF4-FFF2-40B4-BE49-F238E27FC236}">
                <a16:creationId xmlns:a16="http://schemas.microsoft.com/office/drawing/2014/main" id="{1609DA37-7755-9A10-6523-83B0BF1BB71D}"/>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33</a:t>
            </a:fld>
            <a:endParaRPr lang="en-US" dirty="0"/>
          </a:p>
        </p:txBody>
      </p:sp>
    </p:spTree>
    <p:extLst>
      <p:ext uri="{BB962C8B-B14F-4D97-AF65-F5344CB8AC3E}">
        <p14:creationId xmlns:p14="http://schemas.microsoft.com/office/powerpoint/2010/main" val="413657995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and Map Processing Time and Lead Time</a:t>
            </a:r>
          </a:p>
        </p:txBody>
      </p:sp>
      <p:grpSp>
        <p:nvGrpSpPr>
          <p:cNvPr id="18" name="Group 17">
            <a:extLst>
              <a:ext uri="{FF2B5EF4-FFF2-40B4-BE49-F238E27FC236}">
                <a16:creationId xmlns:a16="http://schemas.microsoft.com/office/drawing/2014/main" id="{20DB1380-DB0A-68EA-17DB-EF6B352070BE}"/>
              </a:ext>
            </a:extLst>
          </p:cNvPr>
          <p:cNvGrpSpPr/>
          <p:nvPr/>
        </p:nvGrpSpPr>
        <p:grpSpPr>
          <a:xfrm>
            <a:off x="940249" y="302538"/>
            <a:ext cx="6219503" cy="311932"/>
            <a:chOff x="940249" y="302538"/>
            <a:chExt cx="6219503" cy="311932"/>
          </a:xfrm>
        </p:grpSpPr>
        <p:sp>
          <p:nvSpPr>
            <p:cNvPr id="19" name="TextBox 18">
              <a:extLst>
                <a:ext uri="{FF2B5EF4-FFF2-40B4-BE49-F238E27FC236}">
                  <a16:creationId xmlns:a16="http://schemas.microsoft.com/office/drawing/2014/main" id="{5B7FCDDA-056E-E28A-4E64-AB692E4C203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0" name="AutoShape 9">
              <a:extLst>
                <a:ext uri="{FF2B5EF4-FFF2-40B4-BE49-F238E27FC236}">
                  <a16:creationId xmlns:a16="http://schemas.microsoft.com/office/drawing/2014/main" id="{5F12B3DE-A3A4-077A-F13A-5EF48DE3B61B}"/>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1" name="AutoShape 9">
              <a:extLst>
                <a:ext uri="{FF2B5EF4-FFF2-40B4-BE49-F238E27FC236}">
                  <a16:creationId xmlns:a16="http://schemas.microsoft.com/office/drawing/2014/main" id="{653E727D-4371-4ACE-40A1-2FF194946DFB}"/>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2" name="AutoShape 9">
              <a:extLst>
                <a:ext uri="{FF2B5EF4-FFF2-40B4-BE49-F238E27FC236}">
                  <a16:creationId xmlns:a16="http://schemas.microsoft.com/office/drawing/2014/main" id="{1320AA6D-325C-6757-A37C-7A4970BE2CC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3" name="AutoShape 9">
              <a:extLst>
                <a:ext uri="{FF2B5EF4-FFF2-40B4-BE49-F238E27FC236}">
                  <a16:creationId xmlns:a16="http://schemas.microsoft.com/office/drawing/2014/main" id="{D5B70184-4EBE-6CDF-A8FD-64CA07F4547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4" name="AutoShape 11">
              <a:extLst>
                <a:ext uri="{FF2B5EF4-FFF2-40B4-BE49-F238E27FC236}">
                  <a16:creationId xmlns:a16="http://schemas.microsoft.com/office/drawing/2014/main" id="{3C5FC694-E0C3-F0B5-E855-824394C3A0C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5" name="Slide Number Placeholder 2">
            <a:extLst>
              <a:ext uri="{FF2B5EF4-FFF2-40B4-BE49-F238E27FC236}">
                <a16:creationId xmlns:a16="http://schemas.microsoft.com/office/drawing/2014/main" id="{D1A76777-3AE3-8BF3-D659-363F0F011B5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34</a:t>
            </a:fld>
            <a:endParaRPr lang="en-US" dirty="0"/>
          </a:p>
        </p:txBody>
      </p:sp>
    </p:spTree>
    <p:extLst>
      <p:ext uri="{BB962C8B-B14F-4D97-AF65-F5344CB8AC3E}">
        <p14:creationId xmlns:p14="http://schemas.microsoft.com/office/powerpoint/2010/main" val="25959028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rgbClr val="EE3228"/>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and Map Processing Time and Lead Time</a:t>
            </a:r>
          </a:p>
        </p:txBody>
      </p:sp>
      <p:grpSp>
        <p:nvGrpSpPr>
          <p:cNvPr id="3" name="Group 2">
            <a:extLst>
              <a:ext uri="{FF2B5EF4-FFF2-40B4-BE49-F238E27FC236}">
                <a16:creationId xmlns:a16="http://schemas.microsoft.com/office/drawing/2014/main" id="{F17D2E2C-2B01-37EF-65DC-98EB2A133068}"/>
              </a:ext>
            </a:extLst>
          </p:cNvPr>
          <p:cNvGrpSpPr/>
          <p:nvPr/>
        </p:nvGrpSpPr>
        <p:grpSpPr>
          <a:xfrm>
            <a:off x="940249" y="302538"/>
            <a:ext cx="6219503" cy="311932"/>
            <a:chOff x="940249" y="302538"/>
            <a:chExt cx="6219503" cy="311932"/>
          </a:xfrm>
        </p:grpSpPr>
        <p:sp>
          <p:nvSpPr>
            <p:cNvPr id="10" name="TextBox 9">
              <a:extLst>
                <a:ext uri="{FF2B5EF4-FFF2-40B4-BE49-F238E27FC236}">
                  <a16:creationId xmlns:a16="http://schemas.microsoft.com/office/drawing/2014/main" id="{ACF50456-1BFE-FC76-7CF3-9A5937A1E0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042A199C-FD9D-8E1D-777E-0CF9438E230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9">
              <a:extLst>
                <a:ext uri="{FF2B5EF4-FFF2-40B4-BE49-F238E27FC236}">
                  <a16:creationId xmlns:a16="http://schemas.microsoft.com/office/drawing/2014/main" id="{00BA0E8B-40B2-CDA7-F8FE-3BC1767F826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9">
              <a:extLst>
                <a:ext uri="{FF2B5EF4-FFF2-40B4-BE49-F238E27FC236}">
                  <a16:creationId xmlns:a16="http://schemas.microsoft.com/office/drawing/2014/main" id="{B022B928-9343-3C02-B90C-DA5C8C194602}"/>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9F5B3B69-0182-58E0-4E8E-B98F217215B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1" name="AutoShape 11">
              <a:extLst>
                <a:ext uri="{FF2B5EF4-FFF2-40B4-BE49-F238E27FC236}">
                  <a16:creationId xmlns:a16="http://schemas.microsoft.com/office/drawing/2014/main" id="{21C8BB92-A104-4904-33A8-752434820C6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2" name="Slide Number Placeholder 2">
            <a:extLst>
              <a:ext uri="{FF2B5EF4-FFF2-40B4-BE49-F238E27FC236}">
                <a16:creationId xmlns:a16="http://schemas.microsoft.com/office/drawing/2014/main" id="{5A578538-0A20-849E-8190-BCBB28DAB292}"/>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35</a:t>
            </a:fld>
            <a:endParaRPr lang="en-US" dirty="0"/>
          </a:p>
        </p:txBody>
      </p:sp>
    </p:spTree>
    <p:extLst>
      <p:ext uri="{BB962C8B-B14F-4D97-AF65-F5344CB8AC3E}">
        <p14:creationId xmlns:p14="http://schemas.microsoft.com/office/powerpoint/2010/main" val="35046973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3" name="Content Placeholder 2">
            <a:extLst>
              <a:ext uri="{FF2B5EF4-FFF2-40B4-BE49-F238E27FC236}">
                <a16:creationId xmlns:a16="http://schemas.microsoft.com/office/drawing/2014/main" id="{DAA46380-EF2E-191C-0FF1-EB195D32A297}"/>
              </a:ext>
            </a:extLst>
          </p:cNvPr>
          <p:cNvSpPr>
            <a:spLocks noGrp="1"/>
          </p:cNvSpPr>
          <p:nvPr>
            <p:ph idx="1"/>
          </p:nvPr>
        </p:nvSpPr>
        <p:spPr>
          <a:xfrm>
            <a:off x="838200" y="1825625"/>
            <a:ext cx="5983224" cy="4351338"/>
          </a:xfrm>
        </p:spPr>
        <p:txBody>
          <a:bodyPr>
            <a:normAutofit/>
          </a:bodyPr>
          <a:lstStyle/>
          <a:p>
            <a:pPr>
              <a:lnSpc>
                <a:spcPct val="100000"/>
              </a:lnSpc>
            </a:pPr>
            <a:r>
              <a:rPr lang="en-US" b="1" dirty="0"/>
              <a:t>Customer Requirements</a:t>
            </a:r>
          </a:p>
          <a:p>
            <a:pPr lvl="1">
              <a:lnSpc>
                <a:spcPct val="100000"/>
              </a:lnSpc>
            </a:pPr>
            <a:r>
              <a:rPr lang="en-US" sz="1900" dirty="0"/>
              <a:t>Customers send NHC an average of 2,500 applications a month </a:t>
            </a:r>
          </a:p>
          <a:p>
            <a:pPr lvl="1">
              <a:lnSpc>
                <a:spcPct val="100000"/>
              </a:lnSpc>
            </a:pPr>
            <a:r>
              <a:rPr lang="en-US" sz="1900" dirty="0"/>
              <a:t>All applications are submitted by mail to the central office by a NHC representative.</a:t>
            </a:r>
          </a:p>
          <a:p>
            <a:pPr lvl="1">
              <a:lnSpc>
                <a:spcPct val="100000"/>
              </a:lnSpc>
            </a:pPr>
            <a:r>
              <a:rPr lang="en-US" sz="1900" dirty="0"/>
              <a:t>Packages are put in envelopes and sent via registered mail daily</a:t>
            </a:r>
          </a:p>
          <a:p>
            <a:pPr>
              <a:lnSpc>
                <a:spcPct val="100000"/>
              </a:lnSpc>
            </a:pPr>
            <a:r>
              <a:rPr lang="en-US" b="1" dirty="0"/>
              <a:t>NHC Work Time</a:t>
            </a:r>
          </a:p>
          <a:p>
            <a:pPr lvl="1">
              <a:lnSpc>
                <a:spcPct val="100000"/>
              </a:lnSpc>
            </a:pPr>
            <a:r>
              <a:rPr lang="en-US" sz="1900" dirty="0"/>
              <a:t>20 days in a month</a:t>
            </a:r>
          </a:p>
          <a:p>
            <a:pPr lvl="1">
              <a:lnSpc>
                <a:spcPct val="100000"/>
              </a:lnSpc>
            </a:pPr>
            <a:r>
              <a:rPr lang="en-US" sz="1900" dirty="0"/>
              <a:t>One 8 hour shift operation in all departments</a:t>
            </a:r>
          </a:p>
          <a:p>
            <a:pPr lvl="1">
              <a:lnSpc>
                <a:spcPct val="100000"/>
              </a:lnSpc>
            </a:pPr>
            <a:r>
              <a:rPr lang="en-US" sz="1900" dirty="0"/>
              <a:t>Two 15-minute breaks, unpaid lunch</a:t>
            </a:r>
          </a:p>
        </p:txBody>
      </p:sp>
      <p:grpSp>
        <p:nvGrpSpPr>
          <p:cNvPr id="30" name="Group 41">
            <a:extLst>
              <a:ext uri="{FF2B5EF4-FFF2-40B4-BE49-F238E27FC236}">
                <a16:creationId xmlns:a16="http://schemas.microsoft.com/office/drawing/2014/main" id="{FFB94F1C-5E1E-C225-97DB-27FA0C06F11F}"/>
              </a:ext>
            </a:extLst>
          </p:cNvPr>
          <p:cNvGrpSpPr>
            <a:grpSpLocks/>
          </p:cNvGrpSpPr>
          <p:nvPr/>
        </p:nvGrpSpPr>
        <p:grpSpPr bwMode="auto">
          <a:xfrm>
            <a:off x="1536192" y="1929384"/>
            <a:ext cx="10515600" cy="3201416"/>
            <a:chOff x="765" y="1040"/>
            <a:chExt cx="4808" cy="2082"/>
          </a:xfrm>
        </p:grpSpPr>
        <p:grpSp>
          <p:nvGrpSpPr>
            <p:cNvPr id="31" name="Group 39">
              <a:extLst>
                <a:ext uri="{FF2B5EF4-FFF2-40B4-BE49-F238E27FC236}">
                  <a16:creationId xmlns:a16="http://schemas.microsoft.com/office/drawing/2014/main" id="{8376EC8A-0DD9-7B54-CD65-3E35D368FD7F}"/>
                </a:ext>
              </a:extLst>
            </p:cNvPr>
            <p:cNvGrpSpPr>
              <a:grpSpLocks/>
            </p:cNvGrpSpPr>
            <p:nvPr/>
          </p:nvGrpSpPr>
          <p:grpSpPr bwMode="auto">
            <a:xfrm>
              <a:off x="765" y="1040"/>
              <a:ext cx="4808" cy="2082"/>
              <a:chOff x="765" y="1040"/>
              <a:chExt cx="4808" cy="2082"/>
            </a:xfrm>
          </p:grpSpPr>
          <p:grpSp>
            <p:nvGrpSpPr>
              <p:cNvPr id="33" name="Group 38">
                <a:extLst>
                  <a:ext uri="{FF2B5EF4-FFF2-40B4-BE49-F238E27FC236}">
                    <a16:creationId xmlns:a16="http://schemas.microsoft.com/office/drawing/2014/main" id="{205D1C51-8083-150D-047F-DD699E39A4B8}"/>
                  </a:ext>
                </a:extLst>
              </p:cNvPr>
              <p:cNvGrpSpPr>
                <a:grpSpLocks/>
              </p:cNvGrpSpPr>
              <p:nvPr/>
            </p:nvGrpSpPr>
            <p:grpSpPr bwMode="auto">
              <a:xfrm>
                <a:off x="778" y="1040"/>
                <a:ext cx="4795" cy="725"/>
                <a:chOff x="778" y="1040"/>
                <a:chExt cx="4795" cy="725"/>
              </a:xfrm>
            </p:grpSpPr>
            <p:sp>
              <p:nvSpPr>
                <p:cNvPr id="36" name="Text Box 4">
                  <a:extLst>
                    <a:ext uri="{FF2B5EF4-FFF2-40B4-BE49-F238E27FC236}">
                      <a16:creationId xmlns:a16="http://schemas.microsoft.com/office/drawing/2014/main" id="{DDDECA5B-EEE7-F58F-64A6-1F4AC355C0A6}"/>
                    </a:ext>
                  </a:extLst>
                </p:cNvPr>
                <p:cNvSpPr txBox="1">
                  <a:spLocks noChangeArrowheads="1"/>
                </p:cNvSpPr>
                <p:nvPr/>
              </p:nvSpPr>
              <p:spPr bwMode="auto">
                <a:xfrm>
                  <a:off x="4339" y="1483"/>
                  <a:ext cx="123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b="0">
                      <a:solidFill>
                        <a:srgbClr val="FF0000"/>
                      </a:solidFill>
                    </a:rPr>
                    <a:t>= 125 applications/day</a:t>
                  </a:r>
                </a:p>
              </p:txBody>
            </p:sp>
            <p:sp>
              <p:nvSpPr>
                <p:cNvPr id="37" name="Rectangle 5">
                  <a:extLst>
                    <a:ext uri="{FF2B5EF4-FFF2-40B4-BE49-F238E27FC236}">
                      <a16:creationId xmlns:a16="http://schemas.microsoft.com/office/drawing/2014/main" id="{8FC1E3D6-F997-CD12-00F0-984DC408EFBD}"/>
                    </a:ext>
                  </a:extLst>
                </p:cNvPr>
                <p:cNvSpPr>
                  <a:spLocks noChangeArrowheads="1"/>
                </p:cNvSpPr>
                <p:nvPr/>
              </p:nvSpPr>
              <p:spPr bwMode="auto">
                <a:xfrm>
                  <a:off x="3481" y="1040"/>
                  <a:ext cx="17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rgbClr val="FF0000"/>
                      </a:solidFill>
                    </a:rPr>
                    <a:t>Daily Customer Demand</a:t>
                  </a:r>
                </a:p>
              </p:txBody>
            </p:sp>
            <p:sp>
              <p:nvSpPr>
                <p:cNvPr id="38" name="Text Box 9">
                  <a:extLst>
                    <a:ext uri="{FF2B5EF4-FFF2-40B4-BE49-F238E27FC236}">
                      <a16:creationId xmlns:a16="http://schemas.microsoft.com/office/drawing/2014/main" id="{8D0248A3-6C28-788F-3BD8-FE570557F153}"/>
                    </a:ext>
                  </a:extLst>
                </p:cNvPr>
                <p:cNvSpPr txBox="1">
                  <a:spLocks noChangeArrowheads="1"/>
                </p:cNvSpPr>
                <p:nvPr/>
              </p:nvSpPr>
              <p:spPr bwMode="auto">
                <a:xfrm>
                  <a:off x="3045" y="1399"/>
                  <a:ext cx="136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rPr>
                    <a:t>2,500 applications/month</a:t>
                  </a:r>
                </a:p>
              </p:txBody>
            </p:sp>
            <p:sp>
              <p:nvSpPr>
                <p:cNvPr id="39" name="AutoShape 10">
                  <a:extLst>
                    <a:ext uri="{FF2B5EF4-FFF2-40B4-BE49-F238E27FC236}">
                      <a16:creationId xmlns:a16="http://schemas.microsoft.com/office/drawing/2014/main" id="{223FEF7E-55B8-F9EA-2CDA-68DA6851D99C}"/>
                    </a:ext>
                  </a:extLst>
                </p:cNvPr>
                <p:cNvSpPr>
                  <a:spLocks noChangeArrowheads="1"/>
                </p:cNvSpPr>
                <p:nvPr/>
              </p:nvSpPr>
              <p:spPr bwMode="auto">
                <a:xfrm>
                  <a:off x="778" y="1261"/>
                  <a:ext cx="2170" cy="299"/>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cxnSp>
              <p:nvCxnSpPr>
                <p:cNvPr id="40" name="AutoShape 11">
                  <a:extLst>
                    <a:ext uri="{FF2B5EF4-FFF2-40B4-BE49-F238E27FC236}">
                      <a16:creationId xmlns:a16="http://schemas.microsoft.com/office/drawing/2014/main" id="{4D3DE4F2-F421-3214-0239-6FC4C262809B}"/>
                    </a:ext>
                  </a:extLst>
                </p:cNvPr>
                <p:cNvCxnSpPr>
                  <a:cxnSpLocks noChangeShapeType="1"/>
                  <a:stCxn id="39" idx="3"/>
                  <a:endCxn id="38" idx="1"/>
                </p:cNvCxnSpPr>
                <p:nvPr/>
              </p:nvCxnSpPr>
              <p:spPr bwMode="auto">
                <a:xfrm>
                  <a:off x="2948" y="1411"/>
                  <a:ext cx="97" cy="84"/>
                </a:xfrm>
                <a:prstGeom prst="straightConnector1">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cxnSp>
            <p:sp>
              <p:nvSpPr>
                <p:cNvPr id="41" name="Rectangle 18">
                  <a:extLst>
                    <a:ext uri="{FF2B5EF4-FFF2-40B4-BE49-F238E27FC236}">
                      <a16:creationId xmlns:a16="http://schemas.microsoft.com/office/drawing/2014/main" id="{7ACF6102-B03B-82AC-1393-EEE8E03A002C}"/>
                    </a:ext>
                  </a:extLst>
                </p:cNvPr>
                <p:cNvSpPr>
                  <a:spLocks noChangeArrowheads="1"/>
                </p:cNvSpPr>
                <p:nvPr/>
              </p:nvSpPr>
              <p:spPr bwMode="auto">
                <a:xfrm>
                  <a:off x="3378" y="1573"/>
                  <a:ext cx="8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rPr>
                    <a:t>20 days/month</a:t>
                  </a:r>
                </a:p>
              </p:txBody>
            </p:sp>
          </p:grpSp>
          <p:sp>
            <p:nvSpPr>
              <p:cNvPr id="34" name="AutoShape 19">
                <a:extLst>
                  <a:ext uri="{FF2B5EF4-FFF2-40B4-BE49-F238E27FC236}">
                    <a16:creationId xmlns:a16="http://schemas.microsoft.com/office/drawing/2014/main" id="{C6F3DAD0-1DC9-8684-8CEC-4F9F049C5671}"/>
                  </a:ext>
                </a:extLst>
              </p:cNvPr>
              <p:cNvSpPr>
                <a:spLocks noChangeArrowheads="1"/>
              </p:cNvSpPr>
              <p:nvPr/>
            </p:nvSpPr>
            <p:spPr bwMode="auto">
              <a:xfrm>
                <a:off x="765" y="2887"/>
                <a:ext cx="1315" cy="235"/>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cxnSp>
            <p:nvCxnSpPr>
              <p:cNvPr id="35" name="AutoShape 21">
                <a:extLst>
                  <a:ext uri="{FF2B5EF4-FFF2-40B4-BE49-F238E27FC236}">
                    <a16:creationId xmlns:a16="http://schemas.microsoft.com/office/drawing/2014/main" id="{E6EF7B8B-B778-C14A-5422-1463FE67439A}"/>
                  </a:ext>
                </a:extLst>
              </p:cNvPr>
              <p:cNvCxnSpPr>
                <a:cxnSpLocks noChangeShapeType="1"/>
                <a:stCxn id="34" idx="3"/>
                <a:endCxn id="41" idx="1"/>
              </p:cNvCxnSpPr>
              <p:nvPr/>
            </p:nvCxnSpPr>
            <p:spPr bwMode="auto">
              <a:xfrm flipV="1">
                <a:off x="2080" y="1669"/>
                <a:ext cx="1299" cy="1336"/>
              </a:xfrm>
              <a:prstGeom prst="straightConnector1">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cxnSp>
        </p:grpSp>
        <p:sp>
          <p:nvSpPr>
            <p:cNvPr id="32" name="Line 7">
              <a:extLst>
                <a:ext uri="{FF2B5EF4-FFF2-40B4-BE49-F238E27FC236}">
                  <a16:creationId xmlns:a16="http://schemas.microsoft.com/office/drawing/2014/main" id="{C64C2214-8978-EE34-4F18-5B5D6646D679}"/>
                </a:ext>
              </a:extLst>
            </p:cNvPr>
            <p:cNvSpPr>
              <a:spLocks noChangeShapeType="1"/>
            </p:cNvSpPr>
            <p:nvPr/>
          </p:nvSpPr>
          <p:spPr bwMode="auto">
            <a:xfrm>
              <a:off x="3047" y="1581"/>
              <a:ext cx="1299" cy="0"/>
            </a:xfrm>
            <a:prstGeom prst="line">
              <a:avLst/>
            </a:prstGeom>
            <a:noFill/>
            <a:ln w="28575"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54" name="Group 40">
            <a:extLst>
              <a:ext uri="{FF2B5EF4-FFF2-40B4-BE49-F238E27FC236}">
                <a16:creationId xmlns:a16="http://schemas.microsoft.com/office/drawing/2014/main" id="{2A1E62EE-0E8D-FDA2-EC63-D76A18A0658B}"/>
              </a:ext>
            </a:extLst>
          </p:cNvPr>
          <p:cNvGrpSpPr>
            <a:grpSpLocks/>
          </p:cNvGrpSpPr>
          <p:nvPr/>
        </p:nvGrpSpPr>
        <p:grpSpPr bwMode="auto">
          <a:xfrm>
            <a:off x="1564624" y="3656946"/>
            <a:ext cx="9292094" cy="1035050"/>
            <a:chOff x="760" y="2156"/>
            <a:chExt cx="4241" cy="652"/>
          </a:xfrm>
        </p:grpSpPr>
        <p:sp>
          <p:nvSpPr>
            <p:cNvPr id="55" name="Rectangle 12">
              <a:extLst>
                <a:ext uri="{FF2B5EF4-FFF2-40B4-BE49-F238E27FC236}">
                  <a16:creationId xmlns:a16="http://schemas.microsoft.com/office/drawing/2014/main" id="{B3A15E22-99E5-028C-99BE-08108FB8441B}"/>
                </a:ext>
              </a:extLst>
            </p:cNvPr>
            <p:cNvSpPr>
              <a:spLocks noChangeArrowheads="1"/>
            </p:cNvSpPr>
            <p:nvPr/>
          </p:nvSpPr>
          <p:spPr bwMode="auto">
            <a:xfrm>
              <a:off x="3729" y="2237"/>
              <a:ext cx="127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222222"/>
                  </a:solidFill>
                </a:rPr>
                <a:t>Shipments to Customer</a:t>
              </a:r>
            </a:p>
          </p:txBody>
        </p:sp>
        <p:sp>
          <p:nvSpPr>
            <p:cNvPr id="56" name="Text Box 14">
              <a:extLst>
                <a:ext uri="{FF2B5EF4-FFF2-40B4-BE49-F238E27FC236}">
                  <a16:creationId xmlns:a16="http://schemas.microsoft.com/office/drawing/2014/main" id="{17581BEB-59A6-BCAA-A623-3707F637C7AF}"/>
                </a:ext>
              </a:extLst>
            </p:cNvPr>
            <p:cNvSpPr txBox="1">
              <a:spLocks noChangeArrowheads="1"/>
            </p:cNvSpPr>
            <p:nvPr/>
          </p:nvSpPr>
          <p:spPr bwMode="auto">
            <a:xfrm>
              <a:off x="3710" y="2478"/>
              <a:ext cx="87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173038" indent="-17303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400" b="0" dirty="0">
                  <a:solidFill>
                    <a:srgbClr val="222222"/>
                  </a:solidFill>
                </a:rPr>
                <a:t>1X Daily Shipments</a:t>
              </a:r>
            </a:p>
            <a:p>
              <a:pPr>
                <a:lnSpc>
                  <a:spcPct val="100000"/>
                </a:lnSpc>
                <a:spcBef>
                  <a:spcPct val="0"/>
                </a:spcBef>
                <a:spcAft>
                  <a:spcPct val="0"/>
                </a:spcAft>
                <a:buClrTx/>
                <a:buSzTx/>
                <a:buFontTx/>
                <a:buChar char="•"/>
              </a:pPr>
              <a:r>
                <a:rPr lang="en-US" altLang="en-US" sz="1400" b="0" dirty="0">
                  <a:solidFill>
                    <a:srgbClr val="222222"/>
                  </a:solidFill>
                </a:rPr>
                <a:t>Via Registered Mail</a:t>
              </a:r>
            </a:p>
          </p:txBody>
        </p:sp>
        <p:sp>
          <p:nvSpPr>
            <p:cNvPr id="57" name="AutoShape 15">
              <a:extLst>
                <a:ext uri="{FF2B5EF4-FFF2-40B4-BE49-F238E27FC236}">
                  <a16:creationId xmlns:a16="http://schemas.microsoft.com/office/drawing/2014/main" id="{ED943704-3521-A451-EAC7-2483677EEBD7}"/>
                </a:ext>
              </a:extLst>
            </p:cNvPr>
            <p:cNvSpPr>
              <a:spLocks noChangeArrowheads="1"/>
            </p:cNvSpPr>
            <p:nvPr/>
          </p:nvSpPr>
          <p:spPr bwMode="auto">
            <a:xfrm>
              <a:off x="760" y="2156"/>
              <a:ext cx="2166" cy="342"/>
            </a:xfrm>
            <a:prstGeom prst="roundRect">
              <a:avLst>
                <a:gd name="adj" fmla="val 16667"/>
              </a:avLst>
            </a:prstGeom>
            <a:noFill/>
            <a:ln w="12700">
              <a:solidFill>
                <a:srgbClr val="222222"/>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cxnSp>
          <p:nvCxnSpPr>
            <p:cNvPr id="58" name="AutoShape 16">
              <a:extLst>
                <a:ext uri="{FF2B5EF4-FFF2-40B4-BE49-F238E27FC236}">
                  <a16:creationId xmlns:a16="http://schemas.microsoft.com/office/drawing/2014/main" id="{64FFF38A-4805-1688-0AAD-AB2DD7D7BB35}"/>
                </a:ext>
              </a:extLst>
            </p:cNvPr>
            <p:cNvCxnSpPr>
              <a:cxnSpLocks noChangeShapeType="1"/>
              <a:stCxn id="57" idx="3"/>
              <a:endCxn id="56" idx="1"/>
            </p:cNvCxnSpPr>
            <p:nvPr/>
          </p:nvCxnSpPr>
          <p:spPr bwMode="auto">
            <a:xfrm>
              <a:off x="2926" y="2327"/>
              <a:ext cx="784" cy="316"/>
            </a:xfrm>
            <a:prstGeom prst="straightConnector1">
              <a:avLst/>
            </a:prstGeom>
            <a:noFill/>
            <a:ln w="12700" cap="sq">
              <a:solidFill>
                <a:srgbClr val="22222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62" name="Group 61">
            <a:extLst>
              <a:ext uri="{FF2B5EF4-FFF2-40B4-BE49-F238E27FC236}">
                <a16:creationId xmlns:a16="http://schemas.microsoft.com/office/drawing/2014/main" id="{82F470D7-CDFA-45E6-4B28-07A09F086945}"/>
              </a:ext>
            </a:extLst>
          </p:cNvPr>
          <p:cNvGrpSpPr/>
          <p:nvPr/>
        </p:nvGrpSpPr>
        <p:grpSpPr>
          <a:xfrm>
            <a:off x="940249" y="302538"/>
            <a:ext cx="6219503" cy="311932"/>
            <a:chOff x="940249" y="302538"/>
            <a:chExt cx="6219503" cy="311932"/>
          </a:xfrm>
        </p:grpSpPr>
        <p:sp>
          <p:nvSpPr>
            <p:cNvPr id="63" name="TextBox 62">
              <a:extLst>
                <a:ext uri="{FF2B5EF4-FFF2-40B4-BE49-F238E27FC236}">
                  <a16:creationId xmlns:a16="http://schemas.microsoft.com/office/drawing/2014/main" id="{4DDCCAB8-FFEA-D93E-73BB-600FC8A6E93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4" name="AutoShape 9">
              <a:extLst>
                <a:ext uri="{FF2B5EF4-FFF2-40B4-BE49-F238E27FC236}">
                  <a16:creationId xmlns:a16="http://schemas.microsoft.com/office/drawing/2014/main" id="{0E83B560-11BD-2D71-5F88-F3D8B8A94ED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5" name="AutoShape 9">
              <a:extLst>
                <a:ext uri="{FF2B5EF4-FFF2-40B4-BE49-F238E27FC236}">
                  <a16:creationId xmlns:a16="http://schemas.microsoft.com/office/drawing/2014/main" id="{F7994316-986D-4C14-1A46-5AE8E86A0F0F}"/>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6" name="AutoShape 9">
              <a:extLst>
                <a:ext uri="{FF2B5EF4-FFF2-40B4-BE49-F238E27FC236}">
                  <a16:creationId xmlns:a16="http://schemas.microsoft.com/office/drawing/2014/main" id="{4082F378-AB13-2F10-9235-43F28EB110E1}"/>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7" name="AutoShape 9">
              <a:extLst>
                <a:ext uri="{FF2B5EF4-FFF2-40B4-BE49-F238E27FC236}">
                  <a16:creationId xmlns:a16="http://schemas.microsoft.com/office/drawing/2014/main" id="{9E26A84B-AF4F-92C1-A593-DD766F27300E}"/>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8" name="AutoShape 11">
              <a:extLst>
                <a:ext uri="{FF2B5EF4-FFF2-40B4-BE49-F238E27FC236}">
                  <a16:creationId xmlns:a16="http://schemas.microsoft.com/office/drawing/2014/main" id="{706C86D3-D18A-33B2-C00D-8BC4A260DE6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69" name="Slide Number Placeholder 2">
            <a:extLst>
              <a:ext uri="{FF2B5EF4-FFF2-40B4-BE49-F238E27FC236}">
                <a16:creationId xmlns:a16="http://schemas.microsoft.com/office/drawing/2014/main" id="{BB760B55-C134-079D-1214-045AF5B4127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36</a:t>
            </a:fld>
            <a:endParaRPr lang="en-US" dirty="0"/>
          </a:p>
        </p:txBody>
      </p:sp>
    </p:spTree>
    <p:extLst>
      <p:ext uri="{BB962C8B-B14F-4D97-AF65-F5344CB8AC3E}">
        <p14:creationId xmlns:p14="http://schemas.microsoft.com/office/powerpoint/2010/main" val="4220444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wipe(left)">
                                      <p:cBhvr>
                                        <p:cTn id="12"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6"/>
            <a:ext cx="9738423" cy="415442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t>Loan</a:t>
              </a:r>
            </a:p>
            <a:p>
              <a:pPr algn="ctr">
                <a:lnSpc>
                  <a:spcPct val="90000"/>
                </a:lnSpc>
                <a:spcBef>
                  <a:spcPct val="0"/>
                </a:spcBef>
                <a:spcAft>
                  <a:spcPct val="0"/>
                </a:spcAft>
                <a:buClrTx/>
                <a:buSzTx/>
                <a:buFontTx/>
                <a:buNone/>
              </a:pPr>
              <a:r>
                <a:rPr lang="en-US" altLang="en-US" sz="1100" b="0" dirty="0"/>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t>Demand = 2,500 Accounts/month</a:t>
            </a:r>
          </a:p>
          <a:p>
            <a:pPr>
              <a:lnSpc>
                <a:spcPct val="100000"/>
              </a:lnSpc>
              <a:spcBef>
                <a:spcPct val="0"/>
              </a:spcBef>
              <a:spcAft>
                <a:spcPct val="0"/>
              </a:spcAft>
              <a:buClrTx/>
              <a:buSzTx/>
              <a:buFontTx/>
              <a:buChar char="•"/>
            </a:pPr>
            <a:r>
              <a:rPr lang="en-US" altLang="en-US" sz="1200" b="0" dirty="0"/>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0"/>
            <a:ext cx="1066100" cy="735438"/>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600" b="0" dirty="0"/>
                <a:t>USPS Daily</a:t>
              </a:r>
            </a:p>
          </p:txBody>
        </p:sp>
      </p:grpSp>
      <p:grpSp>
        <p:nvGrpSpPr>
          <p:cNvPr id="27" name="Group 68">
            <a:extLst>
              <a:ext uri="{FF2B5EF4-FFF2-40B4-BE49-F238E27FC236}">
                <a16:creationId xmlns:a16="http://schemas.microsoft.com/office/drawing/2014/main" id="{23333C1F-A48C-1D08-FFDE-B34624010D4D}"/>
              </a:ext>
            </a:extLst>
          </p:cNvPr>
          <p:cNvGrpSpPr>
            <a:grpSpLocks/>
          </p:cNvGrpSpPr>
          <p:nvPr/>
        </p:nvGrpSpPr>
        <p:grpSpPr bwMode="auto">
          <a:xfrm>
            <a:off x="8424260" y="4707827"/>
            <a:ext cx="1066101" cy="1034605"/>
            <a:chOff x="4920" y="2982"/>
            <a:chExt cx="459" cy="407"/>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4920" y="3007"/>
              <a:ext cx="459"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4936" y="2982"/>
              <a:ext cx="43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b="0" dirty="0"/>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4997" y="3198"/>
              <a:ext cx="116" cy="112"/>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5118" y="3182"/>
              <a:ext cx="21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1</a:t>
              </a:r>
            </a:p>
          </p:txBody>
        </p:sp>
      </p:grpSp>
      <p:grpSp>
        <p:nvGrpSpPr>
          <p:cNvPr id="63" name="Group 62">
            <a:extLst>
              <a:ext uri="{FF2B5EF4-FFF2-40B4-BE49-F238E27FC236}">
                <a16:creationId xmlns:a16="http://schemas.microsoft.com/office/drawing/2014/main" id="{C847B17B-F93A-4081-E667-558EC4042B99}"/>
              </a:ext>
            </a:extLst>
          </p:cNvPr>
          <p:cNvGrpSpPr/>
          <p:nvPr/>
        </p:nvGrpSpPr>
        <p:grpSpPr>
          <a:xfrm>
            <a:off x="940249" y="302538"/>
            <a:ext cx="6219503" cy="311932"/>
            <a:chOff x="940249" y="302538"/>
            <a:chExt cx="6219503" cy="311932"/>
          </a:xfrm>
        </p:grpSpPr>
        <p:sp>
          <p:nvSpPr>
            <p:cNvPr id="64" name="TextBox 63">
              <a:extLst>
                <a:ext uri="{FF2B5EF4-FFF2-40B4-BE49-F238E27FC236}">
                  <a16:creationId xmlns:a16="http://schemas.microsoft.com/office/drawing/2014/main" id="{C9EDB441-2A1C-6BF6-961C-B85541F77EF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65" name="AutoShape 9">
              <a:extLst>
                <a:ext uri="{FF2B5EF4-FFF2-40B4-BE49-F238E27FC236}">
                  <a16:creationId xmlns:a16="http://schemas.microsoft.com/office/drawing/2014/main" id="{971277B1-7C39-6258-75C8-5E61FEF5DFD9}"/>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6" name="AutoShape 9">
              <a:extLst>
                <a:ext uri="{FF2B5EF4-FFF2-40B4-BE49-F238E27FC236}">
                  <a16:creationId xmlns:a16="http://schemas.microsoft.com/office/drawing/2014/main" id="{3917E64D-6DAD-6478-7C90-08BBDEB5166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7" name="AutoShape 9">
              <a:extLst>
                <a:ext uri="{FF2B5EF4-FFF2-40B4-BE49-F238E27FC236}">
                  <a16:creationId xmlns:a16="http://schemas.microsoft.com/office/drawing/2014/main" id="{BCAC84C6-6C41-E99E-7524-51CAD0687C8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8" name="AutoShape 9">
              <a:extLst>
                <a:ext uri="{FF2B5EF4-FFF2-40B4-BE49-F238E27FC236}">
                  <a16:creationId xmlns:a16="http://schemas.microsoft.com/office/drawing/2014/main" id="{5F511CD8-8ED5-0B1D-C735-455AD74EDA5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9" name="AutoShape 11">
              <a:extLst>
                <a:ext uri="{FF2B5EF4-FFF2-40B4-BE49-F238E27FC236}">
                  <a16:creationId xmlns:a16="http://schemas.microsoft.com/office/drawing/2014/main" id="{490C5E90-6DD9-3C6E-1D04-3733591ED8D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70" name="Slide Number Placeholder 2">
            <a:extLst>
              <a:ext uri="{FF2B5EF4-FFF2-40B4-BE49-F238E27FC236}">
                <a16:creationId xmlns:a16="http://schemas.microsoft.com/office/drawing/2014/main" id="{B9EC9C4C-3C33-48AC-104D-A9139FFED091}"/>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37</a:t>
            </a:fld>
            <a:endParaRPr lang="en-US" dirty="0"/>
          </a:p>
        </p:txBody>
      </p:sp>
    </p:spTree>
    <p:extLst>
      <p:ext uri="{BB962C8B-B14F-4D97-AF65-F5344CB8AC3E}">
        <p14:creationId xmlns:p14="http://schemas.microsoft.com/office/powerpoint/2010/main" val="429174166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rgbClr val="EE3228"/>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and Map Processing Time and Lead Time</a:t>
            </a:r>
          </a:p>
        </p:txBody>
      </p:sp>
      <p:grpSp>
        <p:nvGrpSpPr>
          <p:cNvPr id="3" name="Group 2">
            <a:extLst>
              <a:ext uri="{FF2B5EF4-FFF2-40B4-BE49-F238E27FC236}">
                <a16:creationId xmlns:a16="http://schemas.microsoft.com/office/drawing/2014/main" id="{948B900D-4DD2-45A7-0FA4-90E6890C29C8}"/>
              </a:ext>
            </a:extLst>
          </p:cNvPr>
          <p:cNvGrpSpPr/>
          <p:nvPr/>
        </p:nvGrpSpPr>
        <p:grpSpPr>
          <a:xfrm>
            <a:off x="940249" y="302538"/>
            <a:ext cx="6219503" cy="311932"/>
            <a:chOff x="940249" y="302538"/>
            <a:chExt cx="6219503" cy="311932"/>
          </a:xfrm>
        </p:grpSpPr>
        <p:sp>
          <p:nvSpPr>
            <p:cNvPr id="10" name="TextBox 9">
              <a:extLst>
                <a:ext uri="{FF2B5EF4-FFF2-40B4-BE49-F238E27FC236}">
                  <a16:creationId xmlns:a16="http://schemas.microsoft.com/office/drawing/2014/main" id="{FDF403B7-0EF0-8E21-08D8-A88A54F083C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1" name="AutoShape 9">
              <a:extLst>
                <a:ext uri="{FF2B5EF4-FFF2-40B4-BE49-F238E27FC236}">
                  <a16:creationId xmlns:a16="http://schemas.microsoft.com/office/drawing/2014/main" id="{FE9EC921-A319-E989-329F-BAA2B3179E1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8" name="AutoShape 9">
              <a:extLst>
                <a:ext uri="{FF2B5EF4-FFF2-40B4-BE49-F238E27FC236}">
                  <a16:creationId xmlns:a16="http://schemas.microsoft.com/office/drawing/2014/main" id="{D706BE42-2DB6-D092-97F5-32BD06DA91D9}"/>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9">
              <a:extLst>
                <a:ext uri="{FF2B5EF4-FFF2-40B4-BE49-F238E27FC236}">
                  <a16:creationId xmlns:a16="http://schemas.microsoft.com/office/drawing/2014/main" id="{DAACAEE7-45AB-E993-E133-F6EE5CF7E63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A8D8A963-CBA0-F194-6B25-5C882FF10D0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1" name="AutoShape 11">
              <a:extLst>
                <a:ext uri="{FF2B5EF4-FFF2-40B4-BE49-F238E27FC236}">
                  <a16:creationId xmlns:a16="http://schemas.microsoft.com/office/drawing/2014/main" id="{BE9C8F10-3729-24CA-9DF8-60071B074AE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2" name="Slide Number Placeholder 2">
            <a:extLst>
              <a:ext uri="{FF2B5EF4-FFF2-40B4-BE49-F238E27FC236}">
                <a16:creationId xmlns:a16="http://schemas.microsoft.com/office/drawing/2014/main" id="{B526391A-43B4-EEAD-3799-48F60801FF1B}"/>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38</a:t>
            </a:fld>
            <a:endParaRPr lang="en-US" dirty="0"/>
          </a:p>
        </p:txBody>
      </p:sp>
    </p:spTree>
    <p:extLst>
      <p:ext uri="{BB962C8B-B14F-4D97-AF65-F5344CB8AC3E}">
        <p14:creationId xmlns:p14="http://schemas.microsoft.com/office/powerpoint/2010/main" val="36402480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3" name="Rectangle 2">
            <a:extLst>
              <a:ext uri="{FF2B5EF4-FFF2-40B4-BE49-F238E27FC236}">
                <a16:creationId xmlns:a16="http://schemas.microsoft.com/office/drawing/2014/main" id="{B6D63365-B0C6-95B2-F195-4462E9701E1A}"/>
              </a:ext>
            </a:extLst>
          </p:cNvPr>
          <p:cNvSpPr>
            <a:spLocks noChangeArrowheads="1"/>
          </p:cNvSpPr>
          <p:nvPr/>
        </p:nvSpPr>
        <p:spPr bwMode="auto">
          <a:xfrm>
            <a:off x="1055497" y="2218944"/>
            <a:ext cx="4414838" cy="3506788"/>
          </a:xfrm>
          <a:prstGeom prst="rect">
            <a:avLst/>
          </a:prstGeom>
          <a:solidFill>
            <a:srgbClr val="7F7F7F"/>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spcBef>
                <a:spcPct val="20000"/>
              </a:spcBef>
              <a:spcAft>
                <a:spcPct val="0"/>
              </a:spcAft>
              <a:buSzPct val="80000"/>
              <a:buFont typeface="Wingdings" pitchFamily="2" charset="2"/>
              <a:buNone/>
            </a:pPr>
            <a:r>
              <a:rPr lang="en-US" altLang="en-US" sz="1800" b="0" dirty="0">
                <a:solidFill>
                  <a:schemeClr val="bg1"/>
                </a:solidFill>
                <a:latin typeface="Roboto" panose="02000000000000000000" pitchFamily="2" charset="0"/>
                <a:ea typeface="Roboto" panose="02000000000000000000" pitchFamily="2" charset="0"/>
                <a:cs typeface="Roboto" panose="02000000000000000000" pitchFamily="2" charset="0"/>
              </a:rPr>
              <a:t>How often should one product be </a:t>
            </a:r>
            <a:br>
              <a:rPr lang="en-US" altLang="en-US" sz="18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800" b="0" dirty="0">
                <a:solidFill>
                  <a:schemeClr val="bg1"/>
                </a:solidFill>
                <a:latin typeface="Roboto" panose="02000000000000000000" pitchFamily="2" charset="0"/>
                <a:ea typeface="Roboto" panose="02000000000000000000" pitchFamily="2" charset="0"/>
                <a:cs typeface="Roboto" panose="02000000000000000000" pitchFamily="2" charset="0"/>
              </a:rPr>
              <a:t>produced, based on the rate of sales </a:t>
            </a:r>
            <a:br>
              <a:rPr lang="en-US" altLang="en-US" sz="18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800" b="0" dirty="0">
                <a:solidFill>
                  <a:schemeClr val="bg1"/>
                </a:solidFill>
                <a:latin typeface="Roboto" panose="02000000000000000000" pitchFamily="2" charset="0"/>
                <a:ea typeface="Roboto" panose="02000000000000000000" pitchFamily="2" charset="0"/>
                <a:cs typeface="Roboto" panose="02000000000000000000" pitchFamily="2" charset="0"/>
              </a:rPr>
              <a:t>to meet customer requirements.</a:t>
            </a:r>
          </a:p>
          <a:p>
            <a:pPr algn="ctr">
              <a:lnSpc>
                <a:spcPct val="80000"/>
              </a:lnSpc>
              <a:spcBef>
                <a:spcPct val="20000"/>
              </a:spcBef>
              <a:spcAft>
                <a:spcPct val="0"/>
              </a:spcAft>
              <a:buClrTx/>
              <a:buSzTx/>
              <a:buFontTx/>
              <a:buNone/>
            </a:pPr>
            <a:endParaRPr lang="en-US" altLang="en-US" sz="180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 name="Text Box 3">
            <a:extLst>
              <a:ext uri="{FF2B5EF4-FFF2-40B4-BE49-F238E27FC236}">
                <a16:creationId xmlns:a16="http://schemas.microsoft.com/office/drawing/2014/main" id="{B3C9562A-8816-CFA2-F47C-B333F3DF0E31}"/>
              </a:ext>
            </a:extLst>
          </p:cNvPr>
          <p:cNvSpPr txBox="1">
            <a:spLocks noChangeArrowheads="1"/>
          </p:cNvSpPr>
          <p:nvPr/>
        </p:nvSpPr>
        <p:spPr bwMode="auto">
          <a:xfrm>
            <a:off x="1219028" y="1907794"/>
            <a:ext cx="2425664" cy="315407"/>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cs typeface="Roboto" panose="02000000000000000000" pitchFamily="2" charset="0"/>
              </a:rPr>
              <a:t>TAKT Time Definition</a:t>
            </a:r>
          </a:p>
        </p:txBody>
      </p:sp>
      <p:sp>
        <p:nvSpPr>
          <p:cNvPr id="11" name="Rectangle 4">
            <a:extLst>
              <a:ext uri="{FF2B5EF4-FFF2-40B4-BE49-F238E27FC236}">
                <a16:creationId xmlns:a16="http://schemas.microsoft.com/office/drawing/2014/main" id="{45615A51-9C13-BF96-81D9-8378C15C703D}"/>
              </a:ext>
            </a:extLst>
          </p:cNvPr>
          <p:cNvSpPr>
            <a:spLocks noChangeArrowheads="1"/>
          </p:cNvSpPr>
          <p:nvPr/>
        </p:nvSpPr>
        <p:spPr bwMode="auto">
          <a:xfrm>
            <a:off x="6010085" y="2171319"/>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Calculation</a:t>
            </a:r>
          </a:p>
        </p:txBody>
      </p:sp>
      <p:sp>
        <p:nvSpPr>
          <p:cNvPr id="18" name="Rectangle 5">
            <a:extLst>
              <a:ext uri="{FF2B5EF4-FFF2-40B4-BE49-F238E27FC236}">
                <a16:creationId xmlns:a16="http://schemas.microsoft.com/office/drawing/2014/main" id="{2F4203D1-FB3E-CDC2-CE93-D436BF3878F0}"/>
              </a:ext>
            </a:extLst>
          </p:cNvPr>
          <p:cNvSpPr>
            <a:spLocks noChangeArrowheads="1"/>
          </p:cNvSpPr>
          <p:nvPr/>
        </p:nvSpPr>
        <p:spPr bwMode="auto">
          <a:xfrm>
            <a:off x="6010085" y="4319207"/>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cs typeface="Roboto" panose="02000000000000000000" pitchFamily="2" charset="0"/>
              </a:rPr>
              <a:t>Northern Home Credit Example </a:t>
            </a:r>
          </a:p>
        </p:txBody>
      </p:sp>
      <p:sp>
        <p:nvSpPr>
          <p:cNvPr id="19" name="Rectangle 6">
            <a:extLst>
              <a:ext uri="{FF2B5EF4-FFF2-40B4-BE49-F238E27FC236}">
                <a16:creationId xmlns:a16="http://schemas.microsoft.com/office/drawing/2014/main" id="{16E95920-2EE5-236B-2496-E7B8430DD5EC}"/>
              </a:ext>
            </a:extLst>
          </p:cNvPr>
          <p:cNvSpPr>
            <a:spLocks noChangeArrowheads="1"/>
          </p:cNvSpPr>
          <p:nvPr/>
        </p:nvSpPr>
        <p:spPr bwMode="auto">
          <a:xfrm>
            <a:off x="5916422" y="2525332"/>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Font typeface="Wingdings" pitchFamily="2" charset="2"/>
              <a:buNone/>
            </a:pPr>
            <a:r>
              <a:rPr lang="en-US" altLang="en-US" sz="1600">
                <a:latin typeface="Roboto" panose="02000000000000000000" pitchFamily="2" charset="0"/>
                <a:ea typeface="Roboto" panose="02000000000000000000" pitchFamily="2" charset="0"/>
                <a:cs typeface="Roboto" panose="02000000000000000000" pitchFamily="2" charset="0"/>
              </a:rPr>
              <a:t>Available Working Time</a:t>
            </a:r>
          </a:p>
          <a:p>
            <a:pPr eaLnBrk="1" hangingPunct="1">
              <a:lnSpc>
                <a:spcPct val="100000"/>
              </a:lnSpc>
              <a:spcBef>
                <a:spcPct val="30000"/>
              </a:spcBef>
              <a:spcAft>
                <a:spcPct val="0"/>
              </a:spcAft>
              <a:buClr>
                <a:schemeClr val="accent1"/>
              </a:buClr>
              <a:buFont typeface="Wingdings" pitchFamily="2" charset="2"/>
              <a:buNone/>
            </a:pPr>
            <a:r>
              <a:rPr lang="en-US" altLang="en-US" sz="1600">
                <a:latin typeface="Roboto" panose="02000000000000000000" pitchFamily="2" charset="0"/>
                <a:ea typeface="Roboto" panose="02000000000000000000" pitchFamily="2" charset="0"/>
                <a:cs typeface="Roboto" panose="02000000000000000000" pitchFamily="2" charset="0"/>
              </a:rPr>
              <a:t>Customer Demand</a:t>
            </a:r>
          </a:p>
        </p:txBody>
      </p:sp>
      <p:cxnSp>
        <p:nvCxnSpPr>
          <p:cNvPr id="20" name="AutoShape 8">
            <a:extLst>
              <a:ext uri="{FF2B5EF4-FFF2-40B4-BE49-F238E27FC236}">
                <a16:creationId xmlns:a16="http://schemas.microsoft.com/office/drawing/2014/main" id="{64B49019-BBBD-6ECD-CE81-BEE1CC5EA270}"/>
              </a:ext>
            </a:extLst>
          </p:cNvPr>
          <p:cNvCxnSpPr>
            <a:cxnSpLocks noChangeShapeType="1"/>
            <a:stCxn id="3" idx="3"/>
            <a:endCxn id="18" idx="1"/>
          </p:cNvCxnSpPr>
          <p:nvPr/>
        </p:nvCxnSpPr>
        <p:spPr bwMode="auto">
          <a:xfrm>
            <a:off x="5479860" y="3973132"/>
            <a:ext cx="530225" cy="5000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9">
            <a:extLst>
              <a:ext uri="{FF2B5EF4-FFF2-40B4-BE49-F238E27FC236}">
                <a16:creationId xmlns:a16="http://schemas.microsoft.com/office/drawing/2014/main" id="{3432F9DA-CA7F-9E4A-262B-CA823D13D96F}"/>
              </a:ext>
            </a:extLst>
          </p:cNvPr>
          <p:cNvSpPr>
            <a:spLocks noChangeArrowheads="1"/>
          </p:cNvSpPr>
          <p:nvPr/>
        </p:nvSpPr>
        <p:spPr bwMode="auto">
          <a:xfrm>
            <a:off x="5918010" y="4654169"/>
            <a:ext cx="3478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1 shift x 8 hours = 28,800 seconds</a:t>
            </a:r>
          </a:p>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2 15 min breaks/shift = -1,800 seconds</a:t>
            </a:r>
          </a:p>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Available Working Time = </a:t>
            </a:r>
            <a:r>
              <a:rPr lang="en-US" altLang="en-US" sz="1200" dirty="0">
                <a:solidFill>
                  <a:srgbClr val="FF3300"/>
                </a:solidFill>
                <a:latin typeface="Roboto" panose="02000000000000000000" pitchFamily="2" charset="0"/>
                <a:ea typeface="Roboto" panose="02000000000000000000" pitchFamily="2" charset="0"/>
                <a:cs typeface="Roboto" panose="02000000000000000000" pitchFamily="2" charset="0"/>
              </a:rPr>
              <a:t>27,000 seconds</a:t>
            </a:r>
          </a:p>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Customer Demand/Month = 2,500 app/month</a:t>
            </a:r>
          </a:p>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20 days/month x 1 shift = 20 </a:t>
            </a:r>
          </a:p>
          <a:p>
            <a:pPr eaLnBrk="1" hangingPunct="1">
              <a:lnSpc>
                <a:spcPct val="100000"/>
              </a:lnSpc>
              <a:spcBef>
                <a:spcPct val="30000"/>
              </a:spcBef>
              <a:spcAft>
                <a:spcPct val="0"/>
              </a:spcAft>
              <a:buClr>
                <a:schemeClr val="accent1"/>
              </a:buClr>
              <a:buFont typeface="Wingdings" pitchFamily="2" charset="2"/>
              <a:buNone/>
            </a:pPr>
            <a:r>
              <a:rPr lang="en-US" altLang="en-US" sz="1200" dirty="0">
                <a:latin typeface="Roboto" panose="02000000000000000000" pitchFamily="2" charset="0"/>
                <a:ea typeface="Roboto" panose="02000000000000000000" pitchFamily="2" charset="0"/>
                <a:cs typeface="Roboto" panose="02000000000000000000" pitchFamily="2" charset="0"/>
              </a:rPr>
              <a:t>Applications per day = </a:t>
            </a:r>
            <a:r>
              <a:rPr lang="en-US" altLang="en-US" sz="1200" dirty="0">
                <a:solidFill>
                  <a:srgbClr val="FF3300"/>
                </a:solidFill>
                <a:latin typeface="Roboto" panose="02000000000000000000" pitchFamily="2" charset="0"/>
                <a:ea typeface="Roboto" panose="02000000000000000000" pitchFamily="2" charset="0"/>
                <a:cs typeface="Roboto" panose="02000000000000000000" pitchFamily="2" charset="0"/>
              </a:rPr>
              <a:t>125 applications</a:t>
            </a:r>
          </a:p>
        </p:txBody>
      </p:sp>
      <p:sp>
        <p:nvSpPr>
          <p:cNvPr id="22" name="Line 24">
            <a:extLst>
              <a:ext uri="{FF2B5EF4-FFF2-40B4-BE49-F238E27FC236}">
                <a16:creationId xmlns:a16="http://schemas.microsoft.com/office/drawing/2014/main" id="{640474FB-80E9-237C-E3AC-252F6180A511}"/>
              </a:ext>
            </a:extLst>
          </p:cNvPr>
          <p:cNvSpPr>
            <a:spLocks noChangeShapeType="1"/>
          </p:cNvSpPr>
          <p:nvPr/>
        </p:nvSpPr>
        <p:spPr bwMode="auto">
          <a:xfrm>
            <a:off x="5989447" y="2876169"/>
            <a:ext cx="2409825" cy="0"/>
          </a:xfrm>
          <a:prstGeom prst="line">
            <a:avLst/>
          </a:prstGeom>
          <a:noFill/>
          <a:ln w="28575"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23" name="Group 26">
            <a:extLst>
              <a:ext uri="{FF2B5EF4-FFF2-40B4-BE49-F238E27FC236}">
                <a16:creationId xmlns:a16="http://schemas.microsoft.com/office/drawing/2014/main" id="{E271FB5F-2B2D-0206-D9CA-3991766D88AD}"/>
              </a:ext>
            </a:extLst>
          </p:cNvPr>
          <p:cNvGrpSpPr>
            <a:grpSpLocks/>
          </p:cNvGrpSpPr>
          <p:nvPr/>
        </p:nvGrpSpPr>
        <p:grpSpPr bwMode="auto">
          <a:xfrm>
            <a:off x="5952935" y="3390519"/>
            <a:ext cx="3130550" cy="665163"/>
            <a:chOff x="3387" y="1842"/>
            <a:chExt cx="1972" cy="419"/>
          </a:xfrm>
        </p:grpSpPr>
        <p:sp>
          <p:nvSpPr>
            <p:cNvPr id="24" name="Text Box 20">
              <a:extLst>
                <a:ext uri="{FF2B5EF4-FFF2-40B4-BE49-F238E27FC236}">
                  <a16:creationId xmlns:a16="http://schemas.microsoft.com/office/drawing/2014/main" id="{304290FC-7844-8058-5DBE-127590589044}"/>
                </a:ext>
              </a:extLst>
            </p:cNvPr>
            <p:cNvSpPr txBox="1">
              <a:spLocks noChangeArrowheads="1"/>
            </p:cNvSpPr>
            <p:nvPr/>
          </p:nvSpPr>
          <p:spPr bwMode="auto">
            <a:xfrm>
              <a:off x="3387" y="1842"/>
              <a:ext cx="100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20000"/>
                </a:spcBef>
                <a:spcAft>
                  <a:spcPct val="0"/>
                </a:spcAft>
                <a:buClrTx/>
                <a:buSzTx/>
                <a:buFontTx/>
                <a:buNone/>
              </a:pPr>
              <a:r>
                <a:rPr lang="en-US" altLang="en-US" sz="1400" i="1">
                  <a:solidFill>
                    <a:srgbClr val="FF0000"/>
                  </a:solidFill>
                  <a:latin typeface="Roboto" panose="02000000000000000000" pitchFamily="2" charset="0"/>
                  <a:ea typeface="Roboto" panose="02000000000000000000" pitchFamily="2" charset="0"/>
                  <a:cs typeface="Roboto" panose="02000000000000000000" pitchFamily="2" charset="0"/>
                </a:rPr>
                <a:t>27,000 seconds</a:t>
              </a:r>
            </a:p>
          </p:txBody>
        </p:sp>
        <p:sp>
          <p:nvSpPr>
            <p:cNvPr id="25" name="Rectangle 21">
              <a:extLst>
                <a:ext uri="{FF2B5EF4-FFF2-40B4-BE49-F238E27FC236}">
                  <a16:creationId xmlns:a16="http://schemas.microsoft.com/office/drawing/2014/main" id="{20C24F1F-021E-F926-23CC-28F51B05B169}"/>
                </a:ext>
              </a:extLst>
            </p:cNvPr>
            <p:cNvSpPr>
              <a:spLocks noChangeArrowheads="1"/>
            </p:cNvSpPr>
            <p:nvPr/>
          </p:nvSpPr>
          <p:spPr bwMode="auto">
            <a:xfrm>
              <a:off x="3409" y="1958"/>
              <a:ext cx="11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endParaRPr lang="en-US" altLang="en-US" sz="12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Text Box 22">
              <a:extLst>
                <a:ext uri="{FF2B5EF4-FFF2-40B4-BE49-F238E27FC236}">
                  <a16:creationId xmlns:a16="http://schemas.microsoft.com/office/drawing/2014/main" id="{98E58967-EF70-0245-D200-E401ACFB1901}"/>
                </a:ext>
              </a:extLst>
            </p:cNvPr>
            <p:cNvSpPr txBox="1">
              <a:spLocks noChangeArrowheads="1"/>
            </p:cNvSpPr>
            <p:nvPr/>
          </p:nvSpPr>
          <p:spPr bwMode="auto">
            <a:xfrm>
              <a:off x="3397" y="2067"/>
              <a:ext cx="9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20000"/>
                </a:spcBef>
                <a:spcAft>
                  <a:spcPct val="0"/>
                </a:spcAft>
                <a:buClrTx/>
                <a:buSzTx/>
                <a:buFontTx/>
                <a:buNone/>
              </a:pPr>
              <a:r>
                <a:rPr lang="en-US" altLang="en-US" sz="1400" i="1">
                  <a:solidFill>
                    <a:srgbClr val="FF0000"/>
                  </a:solidFill>
                  <a:latin typeface="Roboto" panose="02000000000000000000" pitchFamily="2" charset="0"/>
                  <a:ea typeface="Roboto" panose="02000000000000000000" pitchFamily="2" charset="0"/>
                  <a:cs typeface="Roboto" panose="02000000000000000000" pitchFamily="2" charset="0"/>
                </a:rPr>
                <a:t>125 applications</a:t>
              </a: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7" name="Line 23">
              <a:extLst>
                <a:ext uri="{FF2B5EF4-FFF2-40B4-BE49-F238E27FC236}">
                  <a16:creationId xmlns:a16="http://schemas.microsoft.com/office/drawing/2014/main" id="{223D6CC1-EBA4-5342-2AF4-35B8AABB1450}"/>
                </a:ext>
              </a:extLst>
            </p:cNvPr>
            <p:cNvSpPr>
              <a:spLocks noChangeShapeType="1"/>
            </p:cNvSpPr>
            <p:nvPr/>
          </p:nvSpPr>
          <p:spPr bwMode="auto">
            <a:xfrm>
              <a:off x="3457" y="2033"/>
              <a:ext cx="959" cy="0"/>
            </a:xfrm>
            <a:prstGeom prst="line">
              <a:avLst/>
            </a:prstGeom>
            <a:noFill/>
            <a:ln w="381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 name="Rectangle 25">
              <a:extLst>
                <a:ext uri="{FF2B5EF4-FFF2-40B4-BE49-F238E27FC236}">
                  <a16:creationId xmlns:a16="http://schemas.microsoft.com/office/drawing/2014/main" id="{3360C741-8344-59F9-6017-75E2C40EF1AA}"/>
                </a:ext>
              </a:extLst>
            </p:cNvPr>
            <p:cNvSpPr>
              <a:spLocks noChangeArrowheads="1"/>
            </p:cNvSpPr>
            <p:nvPr/>
          </p:nvSpPr>
          <p:spPr bwMode="auto">
            <a:xfrm>
              <a:off x="4474" y="1927"/>
              <a:ext cx="88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solidFill>
                    <a:srgbClr val="FF0000"/>
                  </a:solidFill>
                  <a:latin typeface="Roboto" panose="02000000000000000000" pitchFamily="2" charset="0"/>
                  <a:ea typeface="Roboto" panose="02000000000000000000" pitchFamily="2" charset="0"/>
                  <a:cs typeface="Roboto" panose="02000000000000000000" pitchFamily="2" charset="0"/>
                </a:rPr>
                <a:t>= 216 seconds</a:t>
              </a: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grpSp>
      <p:cxnSp>
        <p:nvCxnSpPr>
          <p:cNvPr id="29" name="AutoShape 7">
            <a:extLst>
              <a:ext uri="{FF2B5EF4-FFF2-40B4-BE49-F238E27FC236}">
                <a16:creationId xmlns:a16="http://schemas.microsoft.com/office/drawing/2014/main" id="{A69232F1-0A55-AD0A-8FCA-6467B51BCDE3}"/>
              </a:ext>
            </a:extLst>
          </p:cNvPr>
          <p:cNvCxnSpPr>
            <a:cxnSpLocks noChangeShapeType="1"/>
          </p:cNvCxnSpPr>
          <p:nvPr/>
        </p:nvCxnSpPr>
        <p:spPr bwMode="auto">
          <a:xfrm flipV="1">
            <a:off x="5489385" y="2334006"/>
            <a:ext cx="530225" cy="16478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0" name="Group 29">
            <a:extLst>
              <a:ext uri="{FF2B5EF4-FFF2-40B4-BE49-F238E27FC236}">
                <a16:creationId xmlns:a16="http://schemas.microsoft.com/office/drawing/2014/main" id="{C2A30791-DF6D-ADA2-070B-25E832902051}"/>
              </a:ext>
            </a:extLst>
          </p:cNvPr>
          <p:cNvGrpSpPr/>
          <p:nvPr/>
        </p:nvGrpSpPr>
        <p:grpSpPr>
          <a:xfrm>
            <a:off x="940249" y="302538"/>
            <a:ext cx="6219503" cy="311932"/>
            <a:chOff x="940249" y="302538"/>
            <a:chExt cx="6219503" cy="311932"/>
          </a:xfrm>
        </p:grpSpPr>
        <p:sp>
          <p:nvSpPr>
            <p:cNvPr id="31" name="TextBox 30">
              <a:extLst>
                <a:ext uri="{FF2B5EF4-FFF2-40B4-BE49-F238E27FC236}">
                  <a16:creationId xmlns:a16="http://schemas.microsoft.com/office/drawing/2014/main" id="{B19FB183-B3F2-E608-C56A-845A5EBBD788}"/>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2" name="AutoShape 9">
              <a:extLst>
                <a:ext uri="{FF2B5EF4-FFF2-40B4-BE49-F238E27FC236}">
                  <a16:creationId xmlns:a16="http://schemas.microsoft.com/office/drawing/2014/main" id="{8687E35E-57F9-43D2-3576-7A65861F16B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3" name="AutoShape 9">
              <a:extLst>
                <a:ext uri="{FF2B5EF4-FFF2-40B4-BE49-F238E27FC236}">
                  <a16:creationId xmlns:a16="http://schemas.microsoft.com/office/drawing/2014/main" id="{47EEF1D4-9916-C1F1-A72B-E24B4CC7FB9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4" name="AutoShape 9">
              <a:extLst>
                <a:ext uri="{FF2B5EF4-FFF2-40B4-BE49-F238E27FC236}">
                  <a16:creationId xmlns:a16="http://schemas.microsoft.com/office/drawing/2014/main" id="{38CBC023-D352-256E-6143-3E01F43CDFF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5" name="AutoShape 9">
              <a:extLst>
                <a:ext uri="{FF2B5EF4-FFF2-40B4-BE49-F238E27FC236}">
                  <a16:creationId xmlns:a16="http://schemas.microsoft.com/office/drawing/2014/main" id="{AFED51D4-85BA-1A40-132B-20E28F7214C1}"/>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6" name="AutoShape 11">
              <a:extLst>
                <a:ext uri="{FF2B5EF4-FFF2-40B4-BE49-F238E27FC236}">
                  <a16:creationId xmlns:a16="http://schemas.microsoft.com/office/drawing/2014/main" id="{4E83F9DD-4070-AB05-D38F-2B44F1683573}"/>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37" name="Slide Number Placeholder 2">
            <a:extLst>
              <a:ext uri="{FF2B5EF4-FFF2-40B4-BE49-F238E27FC236}">
                <a16:creationId xmlns:a16="http://schemas.microsoft.com/office/drawing/2014/main" id="{1BA50AEB-14D5-E968-C145-EA06A5BA5A8C}"/>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39</a:t>
            </a:fld>
            <a:endParaRPr lang="en-US" dirty="0"/>
          </a:p>
        </p:txBody>
      </p:sp>
    </p:spTree>
    <p:extLst>
      <p:ext uri="{BB962C8B-B14F-4D97-AF65-F5344CB8AC3E}">
        <p14:creationId xmlns:p14="http://schemas.microsoft.com/office/powerpoint/2010/main" val="64480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6"/>
            <a:ext cx="9738423" cy="415442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t>Loan</a:t>
              </a:r>
            </a:p>
            <a:p>
              <a:pPr algn="ctr">
                <a:lnSpc>
                  <a:spcPct val="90000"/>
                </a:lnSpc>
                <a:spcBef>
                  <a:spcPct val="0"/>
                </a:spcBef>
                <a:spcAft>
                  <a:spcPct val="0"/>
                </a:spcAft>
                <a:buClrTx/>
                <a:buSzTx/>
                <a:buFontTx/>
                <a:buNone/>
              </a:pPr>
              <a:r>
                <a:rPr lang="en-US" altLang="en-US" sz="1100" b="0" dirty="0"/>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t>Demand = 2,500 Accounts/month</a:t>
            </a:r>
          </a:p>
          <a:p>
            <a:pPr>
              <a:lnSpc>
                <a:spcPct val="100000"/>
              </a:lnSpc>
              <a:spcBef>
                <a:spcPct val="0"/>
              </a:spcBef>
              <a:spcAft>
                <a:spcPct val="0"/>
              </a:spcAft>
              <a:buClrTx/>
              <a:buSzTx/>
              <a:buFontTx/>
              <a:buChar char="•"/>
            </a:pPr>
            <a:r>
              <a:rPr lang="en-US" altLang="en-US" sz="1200" b="0" dirty="0"/>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0"/>
            <a:ext cx="1066100" cy="735438"/>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600" b="0" dirty="0"/>
                <a:t>USPS Daily</a:t>
              </a:r>
            </a:p>
          </p:txBody>
        </p:sp>
      </p:grpSp>
      <p:grpSp>
        <p:nvGrpSpPr>
          <p:cNvPr id="27" name="Group 68">
            <a:extLst>
              <a:ext uri="{FF2B5EF4-FFF2-40B4-BE49-F238E27FC236}">
                <a16:creationId xmlns:a16="http://schemas.microsoft.com/office/drawing/2014/main" id="{23333C1F-A48C-1D08-FFDE-B34624010D4D}"/>
              </a:ext>
            </a:extLst>
          </p:cNvPr>
          <p:cNvGrpSpPr>
            <a:grpSpLocks/>
          </p:cNvGrpSpPr>
          <p:nvPr/>
        </p:nvGrpSpPr>
        <p:grpSpPr bwMode="auto">
          <a:xfrm>
            <a:off x="8424260" y="4707827"/>
            <a:ext cx="1066101" cy="1034605"/>
            <a:chOff x="4920" y="2982"/>
            <a:chExt cx="459" cy="407"/>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4920" y="3007"/>
              <a:ext cx="459"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4936" y="2982"/>
              <a:ext cx="43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b="0" dirty="0"/>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4997" y="3198"/>
              <a:ext cx="116" cy="112"/>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5118" y="3182"/>
              <a:ext cx="21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1</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3465577" y="33981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043" cy="367"/>
              <a:chOff x="3444" y="1578"/>
              <a:chExt cx="1043"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t>27,000 Seconds</a:t>
                </a:r>
              </a:p>
              <a:p>
                <a:pPr algn="ctr">
                  <a:lnSpc>
                    <a:spcPct val="100000"/>
                  </a:lnSpc>
                  <a:spcBef>
                    <a:spcPct val="35000"/>
                  </a:spcBef>
                  <a:spcAft>
                    <a:spcPct val="0"/>
                  </a:spcAft>
                  <a:buClrTx/>
                  <a:buSzTx/>
                  <a:buFontTx/>
                  <a:buNone/>
                </a:pPr>
                <a:r>
                  <a:rPr lang="en-US" altLang="en-US" sz="800" b="0"/>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t>= </a:t>
              </a:r>
              <a:r>
                <a:rPr lang="en-US" altLang="en-US" sz="1000" dirty="0">
                  <a:solidFill>
                    <a:srgbClr val="FF0000"/>
                  </a:solidFill>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883942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and Map Processing Time and Lead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41</a:t>
            </a:fld>
            <a:endParaRPr lang="en-US" dirty="0"/>
          </a:p>
        </p:txBody>
      </p:sp>
    </p:spTree>
    <p:extLst>
      <p:ext uri="{BB962C8B-B14F-4D97-AF65-F5344CB8AC3E}">
        <p14:creationId xmlns:p14="http://schemas.microsoft.com/office/powerpoint/2010/main" val="141377923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3" name="Rectangle 2">
            <a:extLst>
              <a:ext uri="{FF2B5EF4-FFF2-40B4-BE49-F238E27FC236}">
                <a16:creationId xmlns:a16="http://schemas.microsoft.com/office/drawing/2014/main" id="{665880BC-3B5C-2E68-37AF-49090491BA47}"/>
              </a:ext>
            </a:extLst>
          </p:cNvPr>
          <p:cNvSpPr>
            <a:spLocks noChangeArrowheads="1"/>
          </p:cNvSpPr>
          <p:nvPr/>
        </p:nvSpPr>
        <p:spPr bwMode="auto">
          <a:xfrm>
            <a:off x="877824" y="2494789"/>
            <a:ext cx="5013135" cy="3201988"/>
          </a:xfrm>
          <a:prstGeom prst="rect">
            <a:avLst/>
          </a:prstGeom>
          <a:solidFill>
            <a:srgbClr val="7F7F7F"/>
          </a:solidFill>
          <a:ln w="19050">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 name="Text Box 3">
            <a:extLst>
              <a:ext uri="{FF2B5EF4-FFF2-40B4-BE49-F238E27FC236}">
                <a16:creationId xmlns:a16="http://schemas.microsoft.com/office/drawing/2014/main" id="{C31E9291-2751-3271-0762-46E1B8DB2AF1}"/>
              </a:ext>
            </a:extLst>
          </p:cNvPr>
          <p:cNvSpPr txBox="1">
            <a:spLocks noChangeArrowheads="1"/>
          </p:cNvSpPr>
          <p:nvPr/>
        </p:nvSpPr>
        <p:spPr bwMode="auto">
          <a:xfrm>
            <a:off x="866140" y="2109097"/>
            <a:ext cx="1987550" cy="31115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DOI Observation</a:t>
            </a:r>
          </a:p>
        </p:txBody>
      </p:sp>
      <p:cxnSp>
        <p:nvCxnSpPr>
          <p:cNvPr id="11" name="AutoShape 7">
            <a:extLst>
              <a:ext uri="{FF2B5EF4-FFF2-40B4-BE49-F238E27FC236}">
                <a16:creationId xmlns:a16="http://schemas.microsoft.com/office/drawing/2014/main" id="{73CF78B9-BA63-4147-674B-FD1103040527}"/>
              </a:ext>
            </a:extLst>
          </p:cNvPr>
          <p:cNvCxnSpPr>
            <a:cxnSpLocks noChangeShapeType="1"/>
            <a:stCxn id="3" idx="3"/>
            <a:endCxn id="31" idx="1"/>
          </p:cNvCxnSpPr>
          <p:nvPr/>
        </p:nvCxnSpPr>
        <p:spPr bwMode="auto">
          <a:xfrm flipV="1">
            <a:off x="5890959" y="2636077"/>
            <a:ext cx="1235869" cy="1459706"/>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 name="AutoShape 8">
            <a:extLst>
              <a:ext uri="{FF2B5EF4-FFF2-40B4-BE49-F238E27FC236}">
                <a16:creationId xmlns:a16="http://schemas.microsoft.com/office/drawing/2014/main" id="{DBF7235D-BB55-4831-046D-1FFB552D29A5}"/>
              </a:ext>
            </a:extLst>
          </p:cNvPr>
          <p:cNvCxnSpPr>
            <a:cxnSpLocks noChangeShapeType="1"/>
            <a:stCxn id="3" idx="3"/>
          </p:cNvCxnSpPr>
          <p:nvPr/>
        </p:nvCxnSpPr>
        <p:spPr bwMode="auto">
          <a:xfrm>
            <a:off x="5890959" y="4095783"/>
            <a:ext cx="1219454" cy="473869"/>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Text Box 86">
            <a:extLst>
              <a:ext uri="{FF2B5EF4-FFF2-40B4-BE49-F238E27FC236}">
                <a16:creationId xmlns:a16="http://schemas.microsoft.com/office/drawing/2014/main" id="{9519C110-61CE-F704-8829-9A54229F2D19}"/>
              </a:ext>
            </a:extLst>
          </p:cNvPr>
          <p:cNvSpPr txBox="1">
            <a:spLocks noChangeArrowheads="1"/>
          </p:cNvSpPr>
          <p:nvPr/>
        </p:nvSpPr>
        <p:spPr bwMode="auto">
          <a:xfrm>
            <a:off x="1596907" y="4591735"/>
            <a:ext cx="33797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800" dirty="0">
                <a:solidFill>
                  <a:schemeClr val="bg1"/>
                </a:solidFill>
              </a:rPr>
              <a:t>Claims Processing = 5 Clerks</a:t>
            </a:r>
          </a:p>
          <a:p>
            <a:pPr algn="ctr">
              <a:lnSpc>
                <a:spcPct val="100000"/>
              </a:lnSpc>
              <a:spcBef>
                <a:spcPct val="0"/>
              </a:spcBef>
              <a:spcAft>
                <a:spcPct val="0"/>
              </a:spcAft>
              <a:buClrTx/>
              <a:buSzTx/>
              <a:buFontTx/>
              <a:buNone/>
            </a:pPr>
            <a:r>
              <a:rPr lang="en-US" altLang="en-US" sz="1800" dirty="0">
                <a:solidFill>
                  <a:schemeClr val="bg1"/>
                </a:solidFill>
              </a:rPr>
              <a:t>Process Time = 45 minutes</a:t>
            </a:r>
          </a:p>
        </p:txBody>
      </p:sp>
      <p:sp>
        <p:nvSpPr>
          <p:cNvPr id="23" name="Text Box 129">
            <a:extLst>
              <a:ext uri="{FF2B5EF4-FFF2-40B4-BE49-F238E27FC236}">
                <a16:creationId xmlns:a16="http://schemas.microsoft.com/office/drawing/2014/main" id="{FC7CB176-D10F-A72A-DDFF-2E18FAE10C86}"/>
              </a:ext>
            </a:extLst>
          </p:cNvPr>
          <p:cNvSpPr txBox="1">
            <a:spLocks noChangeArrowheads="1"/>
          </p:cNvSpPr>
          <p:nvPr/>
        </p:nvSpPr>
        <p:spPr bwMode="auto">
          <a:xfrm>
            <a:off x="1059812" y="5184603"/>
            <a:ext cx="464261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solidFill>
                  <a:srgbClr val="FFB627"/>
                </a:solidFill>
              </a:rPr>
              <a:t>DOI = 45 min. cycle </a:t>
            </a:r>
            <a:r>
              <a:rPr lang="en-US" altLang="en-US" sz="1600" dirty="0">
                <a:solidFill>
                  <a:srgbClr val="FFB627"/>
                </a:solidFill>
                <a:cs typeface="Arial" panose="020B0604020202020204" pitchFamily="34" charset="0"/>
              </a:rPr>
              <a:t>÷ 5 clerks x 60 = 540 sec.</a:t>
            </a:r>
          </a:p>
        </p:txBody>
      </p:sp>
      <p:sp>
        <p:nvSpPr>
          <p:cNvPr id="20" name="AutoShape 85">
            <a:extLst>
              <a:ext uri="{FF2B5EF4-FFF2-40B4-BE49-F238E27FC236}">
                <a16:creationId xmlns:a16="http://schemas.microsoft.com/office/drawing/2014/main" id="{16E9A5F6-D2F1-C317-7C0D-814E6DB3DF35}"/>
              </a:ext>
            </a:extLst>
          </p:cNvPr>
          <p:cNvSpPr>
            <a:spLocks noChangeArrowheads="1"/>
          </p:cNvSpPr>
          <p:nvPr/>
        </p:nvSpPr>
        <p:spPr bwMode="auto">
          <a:xfrm>
            <a:off x="2345817" y="3625088"/>
            <a:ext cx="277813" cy="266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22" name="AutoShape 87">
            <a:extLst>
              <a:ext uri="{FF2B5EF4-FFF2-40B4-BE49-F238E27FC236}">
                <a16:creationId xmlns:a16="http://schemas.microsoft.com/office/drawing/2014/main" id="{5A3C8AA5-1101-FFAF-86EF-1BE903DF5EB4}"/>
              </a:ext>
            </a:extLst>
          </p:cNvPr>
          <p:cNvSpPr>
            <a:spLocks noChangeArrowheads="1"/>
          </p:cNvSpPr>
          <p:nvPr/>
        </p:nvSpPr>
        <p:spPr bwMode="auto">
          <a:xfrm>
            <a:off x="3868230" y="3617150"/>
            <a:ext cx="277812" cy="266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24" name="phone3">
            <a:extLst>
              <a:ext uri="{FF2B5EF4-FFF2-40B4-BE49-F238E27FC236}">
                <a16:creationId xmlns:a16="http://schemas.microsoft.com/office/drawing/2014/main" id="{4B8A5E9A-7C81-DBEC-A44D-D3302C7DD722}"/>
              </a:ext>
            </a:extLst>
          </p:cNvPr>
          <p:cNvSpPr>
            <a:spLocks noEditPoints="1" noChangeArrowheads="1"/>
          </p:cNvSpPr>
          <p:nvPr/>
        </p:nvSpPr>
        <p:spPr bwMode="auto">
          <a:xfrm>
            <a:off x="2590292" y="2910713"/>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5" name="phone3">
            <a:extLst>
              <a:ext uri="{FF2B5EF4-FFF2-40B4-BE49-F238E27FC236}">
                <a16:creationId xmlns:a16="http://schemas.microsoft.com/office/drawing/2014/main" id="{B79A68D5-6EB5-F4BF-AECA-A72775ED8E3E}"/>
              </a:ext>
            </a:extLst>
          </p:cNvPr>
          <p:cNvSpPr>
            <a:spLocks noEditPoints="1" noChangeArrowheads="1"/>
          </p:cNvSpPr>
          <p:nvPr/>
        </p:nvSpPr>
        <p:spPr bwMode="auto">
          <a:xfrm>
            <a:off x="3388805" y="2910713"/>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6" name="phone3">
            <a:extLst>
              <a:ext uri="{FF2B5EF4-FFF2-40B4-BE49-F238E27FC236}">
                <a16:creationId xmlns:a16="http://schemas.microsoft.com/office/drawing/2014/main" id="{4362910B-849D-B2E4-1E8F-6C2175108272}"/>
              </a:ext>
            </a:extLst>
          </p:cNvPr>
          <p:cNvSpPr>
            <a:spLocks noEditPoints="1" noChangeArrowheads="1"/>
          </p:cNvSpPr>
          <p:nvPr/>
        </p:nvSpPr>
        <p:spPr bwMode="auto">
          <a:xfrm>
            <a:off x="3025267" y="3461575"/>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7" name="phone3">
            <a:extLst>
              <a:ext uri="{FF2B5EF4-FFF2-40B4-BE49-F238E27FC236}">
                <a16:creationId xmlns:a16="http://schemas.microsoft.com/office/drawing/2014/main" id="{9066764F-3781-03FB-2A91-7C120D5E91BC}"/>
              </a:ext>
            </a:extLst>
          </p:cNvPr>
          <p:cNvSpPr>
            <a:spLocks noEditPoints="1" noChangeArrowheads="1"/>
          </p:cNvSpPr>
          <p:nvPr/>
        </p:nvSpPr>
        <p:spPr bwMode="auto">
          <a:xfrm>
            <a:off x="2588705" y="3983863"/>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8" name="phone3">
            <a:extLst>
              <a:ext uri="{FF2B5EF4-FFF2-40B4-BE49-F238E27FC236}">
                <a16:creationId xmlns:a16="http://schemas.microsoft.com/office/drawing/2014/main" id="{5BD41072-21F8-6142-5FE6-ACCE6EA0AFEE}"/>
              </a:ext>
            </a:extLst>
          </p:cNvPr>
          <p:cNvSpPr>
            <a:spLocks noEditPoints="1" noChangeArrowheads="1"/>
          </p:cNvSpPr>
          <p:nvPr/>
        </p:nvSpPr>
        <p:spPr bwMode="auto">
          <a:xfrm>
            <a:off x="3431667" y="3983863"/>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9" name="Document">
            <a:extLst>
              <a:ext uri="{FF2B5EF4-FFF2-40B4-BE49-F238E27FC236}">
                <a16:creationId xmlns:a16="http://schemas.microsoft.com/office/drawing/2014/main" id="{3D5375DA-AE0C-3BBA-968C-160F5762CEF4}"/>
              </a:ext>
            </a:extLst>
          </p:cNvPr>
          <p:cNvSpPr>
            <a:spLocks noEditPoints="1" noChangeArrowheads="1"/>
          </p:cNvSpPr>
          <p:nvPr/>
        </p:nvSpPr>
        <p:spPr bwMode="auto">
          <a:xfrm>
            <a:off x="1590167" y="3469513"/>
            <a:ext cx="568325" cy="661987"/>
          </a:xfrm>
          <a:custGeom>
            <a:avLst/>
            <a:gdLst>
              <a:gd name="T0" fmla="*/ 2147483646 w 21600"/>
              <a:gd name="T1" fmla="*/ 2147483646 h 21600"/>
              <a:gd name="T2" fmla="*/ 40728616 w 21600"/>
              <a:gd name="T3" fmla="*/ 2147483646 h 21600"/>
              <a:gd name="T4" fmla="*/ 2147483646 w 21600"/>
              <a:gd name="T5" fmla="*/ 71447613 h 21600"/>
              <a:gd name="T6" fmla="*/ 2147483646 w 21600"/>
              <a:gd name="T7" fmla="*/ 2147483646 h 21600"/>
              <a:gd name="T8" fmla="*/ 2147483646 w 21600"/>
              <a:gd name="T9" fmla="*/ 2147483646 h 21600"/>
              <a:gd name="T10" fmla="*/ 0 w 21600"/>
              <a:gd name="T11" fmla="*/ 0 h 21600"/>
              <a:gd name="T12" fmla="*/ 2147483646 w 21600"/>
              <a:gd name="T13" fmla="*/ 0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977 w 21600"/>
              <a:gd name="T25" fmla="*/ 818 h 21600"/>
              <a:gd name="T26" fmla="*/ 20622 w 21600"/>
              <a:gd name="T27" fmla="*/ 16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0757" y="21632"/>
                </a:moveTo>
                <a:lnTo>
                  <a:pt x="5187" y="21632"/>
                </a:lnTo>
                <a:lnTo>
                  <a:pt x="85" y="17509"/>
                </a:lnTo>
                <a:lnTo>
                  <a:pt x="85" y="10849"/>
                </a:lnTo>
                <a:lnTo>
                  <a:pt x="85" y="81"/>
                </a:lnTo>
                <a:lnTo>
                  <a:pt x="10757" y="81"/>
                </a:lnTo>
                <a:lnTo>
                  <a:pt x="21706" y="81"/>
                </a:lnTo>
                <a:lnTo>
                  <a:pt x="21706" y="10652"/>
                </a:lnTo>
                <a:lnTo>
                  <a:pt x="21706" y="21632"/>
                </a:lnTo>
                <a:lnTo>
                  <a:pt x="10757" y="21632"/>
                </a:lnTo>
                <a:close/>
              </a:path>
              <a:path w="21600" h="21600">
                <a:moveTo>
                  <a:pt x="85" y="17509"/>
                </a:moveTo>
                <a:lnTo>
                  <a:pt x="5187" y="17509"/>
                </a:lnTo>
                <a:lnTo>
                  <a:pt x="5187" y="21632"/>
                </a:lnTo>
                <a:lnTo>
                  <a:pt x="85" y="17509"/>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sp>
        <p:nvSpPr>
          <p:cNvPr id="30" name="Documents">
            <a:extLst>
              <a:ext uri="{FF2B5EF4-FFF2-40B4-BE49-F238E27FC236}">
                <a16:creationId xmlns:a16="http://schemas.microsoft.com/office/drawing/2014/main" id="{92CEA14F-4D21-430D-4064-77F9C80F4479}"/>
              </a:ext>
            </a:extLst>
          </p:cNvPr>
          <p:cNvSpPr>
            <a:spLocks noEditPoints="1" noChangeArrowheads="1"/>
          </p:cNvSpPr>
          <p:nvPr/>
        </p:nvSpPr>
        <p:spPr bwMode="auto">
          <a:xfrm>
            <a:off x="4406392" y="3342513"/>
            <a:ext cx="712788" cy="911225"/>
          </a:xfrm>
          <a:custGeom>
            <a:avLst/>
            <a:gdLst>
              <a:gd name="T0" fmla="*/ 0 w 21600"/>
              <a:gd name="T1" fmla="*/ 2147483646 h 21600"/>
              <a:gd name="T2" fmla="*/ 2147483646 w 21600"/>
              <a:gd name="T3" fmla="*/ 0 h 21600"/>
              <a:gd name="T4" fmla="*/ 2147483646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1950705762 w 21600"/>
              <a:gd name="T15" fmla="*/ 2147483646 h 21600"/>
              <a:gd name="T16" fmla="*/ 2147483646 w 21600"/>
              <a:gd name="T17" fmla="*/ 0 h 21600"/>
              <a:gd name="T18" fmla="*/ 2147483646 w 21600"/>
              <a:gd name="T19" fmla="*/ 0 h 21600"/>
              <a:gd name="T20" fmla="*/ 0 w 21600"/>
              <a:gd name="T21" fmla="*/ 2147483646 h 21600"/>
              <a:gd name="T22" fmla="*/ 2147483646 w 21600"/>
              <a:gd name="T23" fmla="*/ 2147483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sp>
        <p:nvSpPr>
          <p:cNvPr id="31" name="Rectangle 4">
            <a:extLst>
              <a:ext uri="{FF2B5EF4-FFF2-40B4-BE49-F238E27FC236}">
                <a16:creationId xmlns:a16="http://schemas.microsoft.com/office/drawing/2014/main" id="{8D60AA17-515B-B56F-D3FD-A75A9518DE4A}"/>
              </a:ext>
            </a:extLst>
          </p:cNvPr>
          <p:cNvSpPr>
            <a:spLocks noChangeArrowheads="1"/>
          </p:cNvSpPr>
          <p:nvPr/>
        </p:nvSpPr>
        <p:spPr bwMode="auto">
          <a:xfrm>
            <a:off x="7126828" y="2482089"/>
            <a:ext cx="422697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rPr>
              <a:t>DOI Definition</a:t>
            </a:r>
          </a:p>
        </p:txBody>
      </p:sp>
      <p:sp>
        <p:nvSpPr>
          <p:cNvPr id="32" name="Rectangle 5">
            <a:extLst>
              <a:ext uri="{FF2B5EF4-FFF2-40B4-BE49-F238E27FC236}">
                <a16:creationId xmlns:a16="http://schemas.microsoft.com/office/drawing/2014/main" id="{A4C786E5-FFBE-1674-347F-7BE6EA3F2DE6}"/>
              </a:ext>
            </a:extLst>
          </p:cNvPr>
          <p:cNvSpPr>
            <a:spLocks noChangeArrowheads="1"/>
          </p:cNvSpPr>
          <p:nvPr/>
        </p:nvSpPr>
        <p:spPr bwMode="auto">
          <a:xfrm>
            <a:off x="7202488" y="4415664"/>
            <a:ext cx="415131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rPr>
              <a:t>Note on DOI</a:t>
            </a:r>
          </a:p>
        </p:txBody>
      </p:sp>
      <p:sp>
        <p:nvSpPr>
          <p:cNvPr id="33" name="Rectangle 6">
            <a:extLst>
              <a:ext uri="{FF2B5EF4-FFF2-40B4-BE49-F238E27FC236}">
                <a16:creationId xmlns:a16="http://schemas.microsoft.com/office/drawing/2014/main" id="{B4A2CB22-56FF-11C9-A880-9F093B5B9FE8}"/>
              </a:ext>
            </a:extLst>
          </p:cNvPr>
          <p:cNvSpPr>
            <a:spLocks noChangeArrowheads="1"/>
          </p:cNvSpPr>
          <p:nvPr/>
        </p:nvSpPr>
        <p:spPr bwMode="auto">
          <a:xfrm>
            <a:off x="7033164" y="2836102"/>
            <a:ext cx="4320635"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The frequency with which a single product or service  </a:t>
            </a:r>
            <a:r>
              <a:rPr lang="ja-JP" altLang="en-US" sz="1600" b="0"/>
              <a:t>“</a:t>
            </a:r>
            <a:r>
              <a:rPr lang="en-US" altLang="ja-JP" sz="1600" b="0" dirty="0"/>
              <a:t>drops off</a:t>
            </a:r>
            <a:r>
              <a:rPr lang="ja-JP" altLang="en-US" sz="1600" b="0"/>
              <a:t>”</a:t>
            </a:r>
            <a:r>
              <a:rPr lang="en-US" altLang="ja-JP" sz="1600" b="0" dirty="0"/>
              <a:t> from the end of a process</a:t>
            </a:r>
          </a:p>
        </p:txBody>
      </p:sp>
      <p:sp>
        <p:nvSpPr>
          <p:cNvPr id="34" name="Rectangle 9">
            <a:extLst>
              <a:ext uri="{FF2B5EF4-FFF2-40B4-BE49-F238E27FC236}">
                <a16:creationId xmlns:a16="http://schemas.microsoft.com/office/drawing/2014/main" id="{D02500FD-C024-3494-D11D-10C14B7AFCC0}"/>
              </a:ext>
            </a:extLst>
          </p:cNvPr>
          <p:cNvSpPr>
            <a:spLocks noChangeArrowheads="1"/>
          </p:cNvSpPr>
          <p:nvPr/>
        </p:nvSpPr>
        <p:spPr bwMode="auto">
          <a:xfrm>
            <a:off x="7110412" y="4750626"/>
            <a:ext cx="4475035"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DOI is ideally </a:t>
            </a:r>
            <a:r>
              <a:rPr lang="en-US" altLang="en-US" sz="1600" b="0" u="sng" dirty="0"/>
              <a:t>observed</a:t>
            </a:r>
            <a:r>
              <a:rPr lang="en-US" altLang="en-US" sz="1600" b="0" dirty="0"/>
              <a:t>, not calculated</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If DOI can</a:t>
            </a:r>
            <a:r>
              <a:rPr lang="ja-JP" altLang="en-US" sz="1600" b="0"/>
              <a:t>’</a:t>
            </a:r>
            <a:r>
              <a:rPr lang="en-US" altLang="ja-JP" sz="1600" b="0" dirty="0"/>
              <a:t>t be observed in the workplace other sources of data need to be identified</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DOI should be less than takt time</a:t>
            </a:r>
          </a:p>
          <a:p>
            <a:pPr eaLnBrk="1" hangingPunct="1">
              <a:lnSpc>
                <a:spcPct val="100000"/>
              </a:lnSpc>
              <a:spcBef>
                <a:spcPct val="30000"/>
              </a:spcBef>
              <a:spcAft>
                <a:spcPct val="0"/>
              </a:spcAft>
              <a:buClr>
                <a:schemeClr val="tx1"/>
              </a:buClr>
              <a:buSzPct val="90000"/>
              <a:buFont typeface="Arial" panose="020B0604020202020204" pitchFamily="34" charset="0"/>
              <a:buChar char="•"/>
            </a:pPr>
            <a:endParaRPr lang="en-US" altLang="en-US" sz="1600" b="0" dirty="0"/>
          </a:p>
        </p:txBody>
      </p:sp>
      <p:grpSp>
        <p:nvGrpSpPr>
          <p:cNvPr id="46" name="Group 45">
            <a:extLst>
              <a:ext uri="{FF2B5EF4-FFF2-40B4-BE49-F238E27FC236}">
                <a16:creationId xmlns:a16="http://schemas.microsoft.com/office/drawing/2014/main" id="{4C44DEDC-4D35-650B-A947-9BF332ABE2D0}"/>
              </a:ext>
            </a:extLst>
          </p:cNvPr>
          <p:cNvGrpSpPr/>
          <p:nvPr/>
        </p:nvGrpSpPr>
        <p:grpSpPr>
          <a:xfrm>
            <a:off x="940249" y="302538"/>
            <a:ext cx="6219503" cy="311932"/>
            <a:chOff x="940249" y="302538"/>
            <a:chExt cx="6219503" cy="311932"/>
          </a:xfrm>
        </p:grpSpPr>
        <p:sp>
          <p:nvSpPr>
            <p:cNvPr id="47" name="TextBox 46">
              <a:extLst>
                <a:ext uri="{FF2B5EF4-FFF2-40B4-BE49-F238E27FC236}">
                  <a16:creationId xmlns:a16="http://schemas.microsoft.com/office/drawing/2014/main" id="{FB1AA954-EC35-E82A-641C-CBD2B5519984}"/>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8" name="AutoShape 9">
              <a:extLst>
                <a:ext uri="{FF2B5EF4-FFF2-40B4-BE49-F238E27FC236}">
                  <a16:creationId xmlns:a16="http://schemas.microsoft.com/office/drawing/2014/main" id="{2D68D66C-98C0-9E70-9DF9-402D2E9ED794}"/>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9" name="AutoShape 9">
              <a:extLst>
                <a:ext uri="{FF2B5EF4-FFF2-40B4-BE49-F238E27FC236}">
                  <a16:creationId xmlns:a16="http://schemas.microsoft.com/office/drawing/2014/main" id="{B3F952A7-61C4-3E7A-3903-13E9506E96C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50" name="AutoShape 9">
              <a:extLst>
                <a:ext uri="{FF2B5EF4-FFF2-40B4-BE49-F238E27FC236}">
                  <a16:creationId xmlns:a16="http://schemas.microsoft.com/office/drawing/2014/main" id="{2D38D965-BA40-CAD8-D732-24F78284C9C8}"/>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51" name="AutoShape 9">
              <a:extLst>
                <a:ext uri="{FF2B5EF4-FFF2-40B4-BE49-F238E27FC236}">
                  <a16:creationId xmlns:a16="http://schemas.microsoft.com/office/drawing/2014/main" id="{4A91170D-8124-75D1-5C72-CFAABF067C73}"/>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52" name="AutoShape 11">
              <a:extLst>
                <a:ext uri="{FF2B5EF4-FFF2-40B4-BE49-F238E27FC236}">
                  <a16:creationId xmlns:a16="http://schemas.microsoft.com/office/drawing/2014/main" id="{7173B2F1-4A7B-59FC-0F91-9F7664623F3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53" name="Slide Number Placeholder 2">
            <a:extLst>
              <a:ext uri="{FF2B5EF4-FFF2-40B4-BE49-F238E27FC236}">
                <a16:creationId xmlns:a16="http://schemas.microsoft.com/office/drawing/2014/main" id="{D4AB28C0-6D49-2BC3-5646-069FF88C192D}"/>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42</a:t>
            </a:fld>
            <a:endParaRPr lang="en-US" dirty="0"/>
          </a:p>
        </p:txBody>
      </p:sp>
    </p:spTree>
    <p:extLst>
      <p:ext uri="{BB962C8B-B14F-4D97-AF65-F5344CB8AC3E}">
        <p14:creationId xmlns:p14="http://schemas.microsoft.com/office/powerpoint/2010/main" val="88727771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Processing Time</a:t>
            </a:r>
            <a:endParaRPr lang="en-US" dirty="0"/>
          </a:p>
        </p:txBody>
      </p:sp>
      <p:sp>
        <p:nvSpPr>
          <p:cNvPr id="3" name="Rectangle 2">
            <a:extLst>
              <a:ext uri="{FF2B5EF4-FFF2-40B4-BE49-F238E27FC236}">
                <a16:creationId xmlns:a16="http://schemas.microsoft.com/office/drawing/2014/main" id="{665880BC-3B5C-2E68-37AF-49090491BA47}"/>
              </a:ext>
            </a:extLst>
          </p:cNvPr>
          <p:cNvSpPr>
            <a:spLocks noChangeArrowheads="1"/>
          </p:cNvSpPr>
          <p:nvPr/>
        </p:nvSpPr>
        <p:spPr bwMode="auto">
          <a:xfrm>
            <a:off x="877824" y="2494789"/>
            <a:ext cx="5013135" cy="3201988"/>
          </a:xfrm>
          <a:prstGeom prst="rect">
            <a:avLst/>
          </a:prstGeom>
          <a:solidFill>
            <a:srgbClr val="7F7F7F"/>
          </a:solidFill>
          <a:ln w="19050">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 name="Text Box 3">
            <a:extLst>
              <a:ext uri="{FF2B5EF4-FFF2-40B4-BE49-F238E27FC236}">
                <a16:creationId xmlns:a16="http://schemas.microsoft.com/office/drawing/2014/main" id="{C31E9291-2751-3271-0762-46E1B8DB2AF1}"/>
              </a:ext>
            </a:extLst>
          </p:cNvPr>
          <p:cNvSpPr txBox="1">
            <a:spLocks noChangeArrowheads="1"/>
          </p:cNvSpPr>
          <p:nvPr/>
        </p:nvSpPr>
        <p:spPr bwMode="auto">
          <a:xfrm>
            <a:off x="817119" y="2134026"/>
            <a:ext cx="3335208"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Processing Time Calculation</a:t>
            </a:r>
          </a:p>
        </p:txBody>
      </p:sp>
      <p:cxnSp>
        <p:nvCxnSpPr>
          <p:cNvPr id="11" name="AutoShape 7">
            <a:extLst>
              <a:ext uri="{FF2B5EF4-FFF2-40B4-BE49-F238E27FC236}">
                <a16:creationId xmlns:a16="http://schemas.microsoft.com/office/drawing/2014/main" id="{73CF78B9-BA63-4147-674B-FD1103040527}"/>
              </a:ext>
            </a:extLst>
          </p:cNvPr>
          <p:cNvCxnSpPr>
            <a:cxnSpLocks noChangeShapeType="1"/>
            <a:stCxn id="3" idx="3"/>
            <a:endCxn id="31" idx="1"/>
          </p:cNvCxnSpPr>
          <p:nvPr/>
        </p:nvCxnSpPr>
        <p:spPr bwMode="auto">
          <a:xfrm flipV="1">
            <a:off x="5890959" y="2636077"/>
            <a:ext cx="1235869" cy="1459706"/>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 name="AutoShape 8">
            <a:extLst>
              <a:ext uri="{FF2B5EF4-FFF2-40B4-BE49-F238E27FC236}">
                <a16:creationId xmlns:a16="http://schemas.microsoft.com/office/drawing/2014/main" id="{DBF7235D-BB55-4831-046D-1FFB552D29A5}"/>
              </a:ext>
            </a:extLst>
          </p:cNvPr>
          <p:cNvCxnSpPr>
            <a:cxnSpLocks noChangeShapeType="1"/>
            <a:stCxn id="3" idx="3"/>
          </p:cNvCxnSpPr>
          <p:nvPr/>
        </p:nvCxnSpPr>
        <p:spPr bwMode="auto">
          <a:xfrm>
            <a:off x="5890959" y="4095783"/>
            <a:ext cx="1219454" cy="473869"/>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Text Box 86">
            <a:extLst>
              <a:ext uri="{FF2B5EF4-FFF2-40B4-BE49-F238E27FC236}">
                <a16:creationId xmlns:a16="http://schemas.microsoft.com/office/drawing/2014/main" id="{9519C110-61CE-F704-8829-9A54229F2D19}"/>
              </a:ext>
            </a:extLst>
          </p:cNvPr>
          <p:cNvSpPr txBox="1">
            <a:spLocks noChangeArrowheads="1"/>
          </p:cNvSpPr>
          <p:nvPr/>
        </p:nvSpPr>
        <p:spPr bwMode="auto">
          <a:xfrm>
            <a:off x="1596907" y="4591735"/>
            <a:ext cx="33797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800" dirty="0">
                <a:solidFill>
                  <a:schemeClr val="bg1"/>
                </a:solidFill>
              </a:rPr>
              <a:t>Claims Processing = 5 Clerks</a:t>
            </a:r>
          </a:p>
          <a:p>
            <a:pPr algn="ctr">
              <a:lnSpc>
                <a:spcPct val="100000"/>
              </a:lnSpc>
              <a:spcBef>
                <a:spcPct val="0"/>
              </a:spcBef>
              <a:spcAft>
                <a:spcPct val="0"/>
              </a:spcAft>
              <a:buClrTx/>
              <a:buSzTx/>
              <a:buFontTx/>
              <a:buNone/>
            </a:pPr>
            <a:r>
              <a:rPr lang="en-US" altLang="en-US" sz="1800" dirty="0">
                <a:solidFill>
                  <a:schemeClr val="bg1"/>
                </a:solidFill>
              </a:rPr>
              <a:t>Process Time = 45 minutes</a:t>
            </a:r>
          </a:p>
        </p:txBody>
      </p:sp>
      <p:sp>
        <p:nvSpPr>
          <p:cNvPr id="23" name="Text Box 129">
            <a:extLst>
              <a:ext uri="{FF2B5EF4-FFF2-40B4-BE49-F238E27FC236}">
                <a16:creationId xmlns:a16="http://schemas.microsoft.com/office/drawing/2014/main" id="{FC7CB176-D10F-A72A-DDFF-2E18FAE10C86}"/>
              </a:ext>
            </a:extLst>
          </p:cNvPr>
          <p:cNvSpPr txBox="1">
            <a:spLocks noChangeArrowheads="1"/>
          </p:cNvSpPr>
          <p:nvPr/>
        </p:nvSpPr>
        <p:spPr bwMode="auto">
          <a:xfrm>
            <a:off x="1059812" y="5184603"/>
            <a:ext cx="464261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solidFill>
                  <a:srgbClr val="FFB627"/>
                </a:solidFill>
              </a:rPr>
              <a:t>DOI = 45 min. cycle </a:t>
            </a:r>
            <a:r>
              <a:rPr lang="en-US" altLang="en-US" sz="1600" dirty="0">
                <a:solidFill>
                  <a:srgbClr val="FFB627"/>
                </a:solidFill>
                <a:cs typeface="Arial" panose="020B0604020202020204" pitchFamily="34" charset="0"/>
              </a:rPr>
              <a:t>÷ 5 clerks x 60 = 540 sec.</a:t>
            </a:r>
          </a:p>
        </p:txBody>
      </p:sp>
      <p:grpSp>
        <p:nvGrpSpPr>
          <p:cNvPr id="42" name="Group 41">
            <a:extLst>
              <a:ext uri="{FF2B5EF4-FFF2-40B4-BE49-F238E27FC236}">
                <a16:creationId xmlns:a16="http://schemas.microsoft.com/office/drawing/2014/main" id="{AEB1EFAA-98B4-1D14-B089-8657F0C1B537}"/>
              </a:ext>
            </a:extLst>
          </p:cNvPr>
          <p:cNvGrpSpPr/>
          <p:nvPr/>
        </p:nvGrpSpPr>
        <p:grpSpPr>
          <a:xfrm>
            <a:off x="1590167" y="2910713"/>
            <a:ext cx="3529013" cy="1530350"/>
            <a:chOff x="1620870" y="2570164"/>
            <a:chExt cx="3529013" cy="1530350"/>
          </a:xfrm>
        </p:grpSpPr>
        <p:sp>
          <p:nvSpPr>
            <p:cNvPr id="20" name="AutoShape 85">
              <a:extLst>
                <a:ext uri="{FF2B5EF4-FFF2-40B4-BE49-F238E27FC236}">
                  <a16:creationId xmlns:a16="http://schemas.microsoft.com/office/drawing/2014/main" id="{16E9A5F6-D2F1-C317-7C0D-814E6DB3DF35}"/>
                </a:ext>
              </a:extLst>
            </p:cNvPr>
            <p:cNvSpPr>
              <a:spLocks noChangeArrowheads="1"/>
            </p:cNvSpPr>
            <p:nvPr/>
          </p:nvSpPr>
          <p:spPr bwMode="auto">
            <a:xfrm>
              <a:off x="2376520" y="3284539"/>
              <a:ext cx="277813" cy="266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22" name="AutoShape 87">
              <a:extLst>
                <a:ext uri="{FF2B5EF4-FFF2-40B4-BE49-F238E27FC236}">
                  <a16:creationId xmlns:a16="http://schemas.microsoft.com/office/drawing/2014/main" id="{5A3C8AA5-1101-FFAF-86EF-1BE903DF5EB4}"/>
                </a:ext>
              </a:extLst>
            </p:cNvPr>
            <p:cNvSpPr>
              <a:spLocks noChangeArrowheads="1"/>
            </p:cNvSpPr>
            <p:nvPr/>
          </p:nvSpPr>
          <p:spPr bwMode="auto">
            <a:xfrm>
              <a:off x="3898933" y="3276601"/>
              <a:ext cx="277812" cy="266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24" name="phone3">
              <a:extLst>
                <a:ext uri="{FF2B5EF4-FFF2-40B4-BE49-F238E27FC236}">
                  <a16:creationId xmlns:a16="http://schemas.microsoft.com/office/drawing/2014/main" id="{4B8A5E9A-7C81-DBEC-A44D-D3302C7DD722}"/>
                </a:ext>
              </a:extLst>
            </p:cNvPr>
            <p:cNvSpPr>
              <a:spLocks noEditPoints="1" noChangeArrowheads="1"/>
            </p:cNvSpPr>
            <p:nvPr/>
          </p:nvSpPr>
          <p:spPr bwMode="auto">
            <a:xfrm>
              <a:off x="2620995" y="2570164"/>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5" name="phone3">
              <a:extLst>
                <a:ext uri="{FF2B5EF4-FFF2-40B4-BE49-F238E27FC236}">
                  <a16:creationId xmlns:a16="http://schemas.microsoft.com/office/drawing/2014/main" id="{B79A68D5-6EB5-F4BF-AECA-A72775ED8E3E}"/>
                </a:ext>
              </a:extLst>
            </p:cNvPr>
            <p:cNvSpPr>
              <a:spLocks noEditPoints="1" noChangeArrowheads="1"/>
            </p:cNvSpPr>
            <p:nvPr/>
          </p:nvSpPr>
          <p:spPr bwMode="auto">
            <a:xfrm>
              <a:off x="3419508" y="2570164"/>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6" name="phone3">
              <a:extLst>
                <a:ext uri="{FF2B5EF4-FFF2-40B4-BE49-F238E27FC236}">
                  <a16:creationId xmlns:a16="http://schemas.microsoft.com/office/drawing/2014/main" id="{4362910B-849D-B2E4-1E8F-6C2175108272}"/>
                </a:ext>
              </a:extLst>
            </p:cNvPr>
            <p:cNvSpPr>
              <a:spLocks noEditPoints="1" noChangeArrowheads="1"/>
            </p:cNvSpPr>
            <p:nvPr/>
          </p:nvSpPr>
          <p:spPr bwMode="auto">
            <a:xfrm>
              <a:off x="3055970" y="3121026"/>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7" name="phone3">
              <a:extLst>
                <a:ext uri="{FF2B5EF4-FFF2-40B4-BE49-F238E27FC236}">
                  <a16:creationId xmlns:a16="http://schemas.microsoft.com/office/drawing/2014/main" id="{9066764F-3781-03FB-2A91-7C120D5E91BC}"/>
                </a:ext>
              </a:extLst>
            </p:cNvPr>
            <p:cNvSpPr>
              <a:spLocks noEditPoints="1" noChangeArrowheads="1"/>
            </p:cNvSpPr>
            <p:nvPr/>
          </p:nvSpPr>
          <p:spPr bwMode="auto">
            <a:xfrm>
              <a:off x="2619408" y="3643314"/>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8" name="phone3">
              <a:extLst>
                <a:ext uri="{FF2B5EF4-FFF2-40B4-BE49-F238E27FC236}">
                  <a16:creationId xmlns:a16="http://schemas.microsoft.com/office/drawing/2014/main" id="{5BD41072-21F8-6142-5FE6-ACCE6EA0AFEE}"/>
                </a:ext>
              </a:extLst>
            </p:cNvPr>
            <p:cNvSpPr>
              <a:spLocks noEditPoints="1" noChangeArrowheads="1"/>
            </p:cNvSpPr>
            <p:nvPr/>
          </p:nvSpPr>
          <p:spPr bwMode="auto">
            <a:xfrm>
              <a:off x="3462370" y="3643314"/>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29" name="Document">
              <a:extLst>
                <a:ext uri="{FF2B5EF4-FFF2-40B4-BE49-F238E27FC236}">
                  <a16:creationId xmlns:a16="http://schemas.microsoft.com/office/drawing/2014/main" id="{3D5375DA-AE0C-3BBA-968C-160F5762CEF4}"/>
                </a:ext>
              </a:extLst>
            </p:cNvPr>
            <p:cNvSpPr>
              <a:spLocks noEditPoints="1" noChangeArrowheads="1"/>
            </p:cNvSpPr>
            <p:nvPr/>
          </p:nvSpPr>
          <p:spPr bwMode="auto">
            <a:xfrm>
              <a:off x="1620870" y="3128964"/>
              <a:ext cx="568325" cy="661987"/>
            </a:xfrm>
            <a:custGeom>
              <a:avLst/>
              <a:gdLst>
                <a:gd name="T0" fmla="*/ 2147483646 w 21600"/>
                <a:gd name="T1" fmla="*/ 2147483646 h 21600"/>
                <a:gd name="T2" fmla="*/ 40728616 w 21600"/>
                <a:gd name="T3" fmla="*/ 2147483646 h 21600"/>
                <a:gd name="T4" fmla="*/ 2147483646 w 21600"/>
                <a:gd name="T5" fmla="*/ 71447613 h 21600"/>
                <a:gd name="T6" fmla="*/ 2147483646 w 21600"/>
                <a:gd name="T7" fmla="*/ 2147483646 h 21600"/>
                <a:gd name="T8" fmla="*/ 2147483646 w 21600"/>
                <a:gd name="T9" fmla="*/ 2147483646 h 21600"/>
                <a:gd name="T10" fmla="*/ 0 w 21600"/>
                <a:gd name="T11" fmla="*/ 0 h 21600"/>
                <a:gd name="T12" fmla="*/ 2147483646 w 21600"/>
                <a:gd name="T13" fmla="*/ 0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977 w 21600"/>
                <a:gd name="T25" fmla="*/ 818 h 21600"/>
                <a:gd name="T26" fmla="*/ 20622 w 21600"/>
                <a:gd name="T27" fmla="*/ 16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0757" y="21632"/>
                  </a:moveTo>
                  <a:lnTo>
                    <a:pt x="5187" y="21632"/>
                  </a:lnTo>
                  <a:lnTo>
                    <a:pt x="85" y="17509"/>
                  </a:lnTo>
                  <a:lnTo>
                    <a:pt x="85" y="10849"/>
                  </a:lnTo>
                  <a:lnTo>
                    <a:pt x="85" y="81"/>
                  </a:lnTo>
                  <a:lnTo>
                    <a:pt x="10757" y="81"/>
                  </a:lnTo>
                  <a:lnTo>
                    <a:pt x="21706" y="81"/>
                  </a:lnTo>
                  <a:lnTo>
                    <a:pt x="21706" y="10652"/>
                  </a:lnTo>
                  <a:lnTo>
                    <a:pt x="21706" y="21632"/>
                  </a:lnTo>
                  <a:lnTo>
                    <a:pt x="10757" y="21632"/>
                  </a:lnTo>
                  <a:close/>
                </a:path>
                <a:path w="21600" h="21600">
                  <a:moveTo>
                    <a:pt x="85" y="17509"/>
                  </a:moveTo>
                  <a:lnTo>
                    <a:pt x="5187" y="17509"/>
                  </a:lnTo>
                  <a:lnTo>
                    <a:pt x="5187" y="21632"/>
                  </a:lnTo>
                  <a:lnTo>
                    <a:pt x="85" y="17509"/>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sp>
          <p:nvSpPr>
            <p:cNvPr id="30" name="Documents">
              <a:extLst>
                <a:ext uri="{FF2B5EF4-FFF2-40B4-BE49-F238E27FC236}">
                  <a16:creationId xmlns:a16="http://schemas.microsoft.com/office/drawing/2014/main" id="{92CEA14F-4D21-430D-4064-77F9C80F4479}"/>
                </a:ext>
              </a:extLst>
            </p:cNvPr>
            <p:cNvSpPr>
              <a:spLocks noEditPoints="1" noChangeArrowheads="1"/>
            </p:cNvSpPr>
            <p:nvPr/>
          </p:nvSpPr>
          <p:spPr bwMode="auto">
            <a:xfrm>
              <a:off x="4437095" y="3001964"/>
              <a:ext cx="712788" cy="911225"/>
            </a:xfrm>
            <a:custGeom>
              <a:avLst/>
              <a:gdLst>
                <a:gd name="T0" fmla="*/ 0 w 21600"/>
                <a:gd name="T1" fmla="*/ 2147483646 h 21600"/>
                <a:gd name="T2" fmla="*/ 2147483646 w 21600"/>
                <a:gd name="T3" fmla="*/ 0 h 21600"/>
                <a:gd name="T4" fmla="*/ 2147483646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1950705762 w 21600"/>
                <a:gd name="T15" fmla="*/ 2147483646 h 21600"/>
                <a:gd name="T16" fmla="*/ 2147483646 w 21600"/>
                <a:gd name="T17" fmla="*/ 0 h 21600"/>
                <a:gd name="T18" fmla="*/ 2147483646 w 21600"/>
                <a:gd name="T19" fmla="*/ 0 h 21600"/>
                <a:gd name="T20" fmla="*/ 0 w 21600"/>
                <a:gd name="T21" fmla="*/ 2147483646 h 21600"/>
                <a:gd name="T22" fmla="*/ 2147483646 w 21600"/>
                <a:gd name="T23" fmla="*/ 2147483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grpSp>
      <p:sp>
        <p:nvSpPr>
          <p:cNvPr id="31" name="Rectangle 4">
            <a:extLst>
              <a:ext uri="{FF2B5EF4-FFF2-40B4-BE49-F238E27FC236}">
                <a16:creationId xmlns:a16="http://schemas.microsoft.com/office/drawing/2014/main" id="{8D60AA17-515B-B56F-D3FD-A75A9518DE4A}"/>
              </a:ext>
            </a:extLst>
          </p:cNvPr>
          <p:cNvSpPr>
            <a:spLocks noChangeArrowheads="1"/>
          </p:cNvSpPr>
          <p:nvPr/>
        </p:nvSpPr>
        <p:spPr bwMode="auto">
          <a:xfrm>
            <a:off x="7126828" y="2482089"/>
            <a:ext cx="422697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Processing Time Definition</a:t>
            </a:r>
          </a:p>
        </p:txBody>
      </p:sp>
      <p:sp>
        <p:nvSpPr>
          <p:cNvPr id="32" name="Rectangle 5">
            <a:extLst>
              <a:ext uri="{FF2B5EF4-FFF2-40B4-BE49-F238E27FC236}">
                <a16:creationId xmlns:a16="http://schemas.microsoft.com/office/drawing/2014/main" id="{A4C786E5-FFBE-1674-347F-7BE6EA3F2DE6}"/>
              </a:ext>
            </a:extLst>
          </p:cNvPr>
          <p:cNvSpPr>
            <a:spLocks noChangeArrowheads="1"/>
          </p:cNvSpPr>
          <p:nvPr/>
        </p:nvSpPr>
        <p:spPr bwMode="auto">
          <a:xfrm>
            <a:off x="7202488" y="4415664"/>
            <a:ext cx="415131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Note on Processing </a:t>
            </a:r>
            <a:r>
              <a:rPr lang="en-US" altLang="en-US" sz="1600" dirty="0" err="1">
                <a:solidFill>
                  <a:schemeClr val="bg1"/>
                </a:solidFill>
              </a:rPr>
              <a:t>TIme</a:t>
            </a:r>
            <a:endParaRPr lang="en-US" altLang="en-US" sz="1600" dirty="0">
              <a:solidFill>
                <a:schemeClr val="bg1"/>
              </a:solidFill>
            </a:endParaRPr>
          </a:p>
        </p:txBody>
      </p:sp>
      <p:sp>
        <p:nvSpPr>
          <p:cNvPr id="33" name="Rectangle 6">
            <a:extLst>
              <a:ext uri="{FF2B5EF4-FFF2-40B4-BE49-F238E27FC236}">
                <a16:creationId xmlns:a16="http://schemas.microsoft.com/office/drawing/2014/main" id="{B4A2CB22-56FF-11C9-A880-9F093B5B9FE8}"/>
              </a:ext>
            </a:extLst>
          </p:cNvPr>
          <p:cNvSpPr>
            <a:spLocks noChangeArrowheads="1"/>
          </p:cNvSpPr>
          <p:nvPr/>
        </p:nvSpPr>
        <p:spPr bwMode="auto">
          <a:xfrm>
            <a:off x="7033164" y="2836102"/>
            <a:ext cx="4320635"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The time it takes for a single product or service to go completely through a process</a:t>
            </a:r>
          </a:p>
        </p:txBody>
      </p:sp>
      <p:sp>
        <p:nvSpPr>
          <p:cNvPr id="34" name="Rectangle 9">
            <a:extLst>
              <a:ext uri="{FF2B5EF4-FFF2-40B4-BE49-F238E27FC236}">
                <a16:creationId xmlns:a16="http://schemas.microsoft.com/office/drawing/2014/main" id="{D02500FD-C024-3494-D11D-10C14B7AFCC0}"/>
              </a:ext>
            </a:extLst>
          </p:cNvPr>
          <p:cNvSpPr>
            <a:spLocks noChangeArrowheads="1"/>
          </p:cNvSpPr>
          <p:nvPr/>
        </p:nvSpPr>
        <p:spPr bwMode="auto">
          <a:xfrm>
            <a:off x="7110412" y="4750626"/>
            <a:ext cx="4475035"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Processing Time for one unit is independent of how many are processed simultaneously</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Processing Time ideally is observed, not calculated</a:t>
            </a:r>
          </a:p>
          <a:p>
            <a:pPr eaLnBrk="1" hangingPunct="1">
              <a:lnSpc>
                <a:spcPct val="100000"/>
              </a:lnSpc>
              <a:spcBef>
                <a:spcPct val="30000"/>
              </a:spcBef>
              <a:spcAft>
                <a:spcPct val="0"/>
              </a:spcAft>
              <a:buClr>
                <a:schemeClr val="tx1"/>
              </a:buClr>
              <a:buSzPct val="90000"/>
              <a:buFont typeface="Arial" panose="020B0604020202020204" pitchFamily="34" charset="0"/>
              <a:buChar char="•"/>
            </a:pPr>
            <a:endParaRPr lang="en-US" altLang="en-US" sz="1600" b="0" dirty="0"/>
          </a:p>
        </p:txBody>
      </p:sp>
      <p:grpSp>
        <p:nvGrpSpPr>
          <p:cNvPr id="12" name="Group 11">
            <a:extLst>
              <a:ext uri="{FF2B5EF4-FFF2-40B4-BE49-F238E27FC236}">
                <a16:creationId xmlns:a16="http://schemas.microsoft.com/office/drawing/2014/main" id="{19CA63FF-FF79-8C74-DAA7-2B2597989754}"/>
              </a:ext>
            </a:extLst>
          </p:cNvPr>
          <p:cNvGrpSpPr/>
          <p:nvPr/>
        </p:nvGrpSpPr>
        <p:grpSpPr>
          <a:xfrm>
            <a:off x="940249" y="302538"/>
            <a:ext cx="6219503" cy="311932"/>
            <a:chOff x="940249" y="302538"/>
            <a:chExt cx="6219503" cy="311932"/>
          </a:xfrm>
        </p:grpSpPr>
        <p:sp>
          <p:nvSpPr>
            <p:cNvPr id="13" name="TextBox 12">
              <a:extLst>
                <a:ext uri="{FF2B5EF4-FFF2-40B4-BE49-F238E27FC236}">
                  <a16:creationId xmlns:a16="http://schemas.microsoft.com/office/drawing/2014/main" id="{C50A1F46-3342-E71D-5001-8758A511768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14" name="AutoShape 9">
              <a:extLst>
                <a:ext uri="{FF2B5EF4-FFF2-40B4-BE49-F238E27FC236}">
                  <a16:creationId xmlns:a16="http://schemas.microsoft.com/office/drawing/2014/main" id="{D71021E5-808F-BE26-F933-83D885B97DF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 name="AutoShape 9">
              <a:extLst>
                <a:ext uri="{FF2B5EF4-FFF2-40B4-BE49-F238E27FC236}">
                  <a16:creationId xmlns:a16="http://schemas.microsoft.com/office/drawing/2014/main" id="{0D30BB73-0659-BB05-5C66-AC261E70C9F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FAF5431C-9A3F-6F2E-1767-5BA97049D779}"/>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7" name="AutoShape 9">
              <a:extLst>
                <a:ext uri="{FF2B5EF4-FFF2-40B4-BE49-F238E27FC236}">
                  <a16:creationId xmlns:a16="http://schemas.microsoft.com/office/drawing/2014/main" id="{EC2FBF56-41D7-5A68-302A-3C6AFB1EE17E}"/>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78A3C9B-FC6F-CA94-06CF-739E3306EEA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35" name="Slide Number Placeholder 2">
            <a:extLst>
              <a:ext uri="{FF2B5EF4-FFF2-40B4-BE49-F238E27FC236}">
                <a16:creationId xmlns:a16="http://schemas.microsoft.com/office/drawing/2014/main" id="{C470312D-8750-1C93-A420-AE5413C96A9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43</a:t>
            </a:fld>
            <a:endParaRPr lang="en-US" dirty="0"/>
          </a:p>
        </p:txBody>
      </p:sp>
    </p:spTree>
    <p:extLst>
      <p:ext uri="{BB962C8B-B14F-4D97-AF65-F5344CB8AC3E}">
        <p14:creationId xmlns:p14="http://schemas.microsoft.com/office/powerpoint/2010/main" val="238590697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Quality: First-Pass Yield of Information</a:t>
            </a:r>
            <a:endParaRPr lang="en-US" dirty="0"/>
          </a:p>
        </p:txBody>
      </p:sp>
      <p:sp>
        <p:nvSpPr>
          <p:cNvPr id="3" name="Rectangle 2">
            <a:extLst>
              <a:ext uri="{FF2B5EF4-FFF2-40B4-BE49-F238E27FC236}">
                <a16:creationId xmlns:a16="http://schemas.microsoft.com/office/drawing/2014/main" id="{665880BC-3B5C-2E68-37AF-49090491BA47}"/>
              </a:ext>
            </a:extLst>
          </p:cNvPr>
          <p:cNvSpPr>
            <a:spLocks noChangeArrowheads="1"/>
          </p:cNvSpPr>
          <p:nvPr/>
        </p:nvSpPr>
        <p:spPr bwMode="auto">
          <a:xfrm>
            <a:off x="877824" y="2494789"/>
            <a:ext cx="5013135" cy="3201988"/>
          </a:xfrm>
          <a:prstGeom prst="rect">
            <a:avLst/>
          </a:prstGeom>
          <a:solidFill>
            <a:srgbClr val="7F7F7F"/>
          </a:solidFill>
          <a:ln w="19050">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 name="Text Box 3">
            <a:extLst>
              <a:ext uri="{FF2B5EF4-FFF2-40B4-BE49-F238E27FC236}">
                <a16:creationId xmlns:a16="http://schemas.microsoft.com/office/drawing/2014/main" id="{C31E9291-2751-3271-0762-46E1B8DB2AF1}"/>
              </a:ext>
            </a:extLst>
          </p:cNvPr>
          <p:cNvSpPr txBox="1">
            <a:spLocks noChangeArrowheads="1"/>
          </p:cNvSpPr>
          <p:nvPr/>
        </p:nvSpPr>
        <p:spPr bwMode="auto">
          <a:xfrm>
            <a:off x="908343" y="2109097"/>
            <a:ext cx="1903150"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First-Pass Yield</a:t>
            </a:r>
          </a:p>
        </p:txBody>
      </p:sp>
      <p:cxnSp>
        <p:nvCxnSpPr>
          <p:cNvPr id="11" name="AutoShape 7">
            <a:extLst>
              <a:ext uri="{FF2B5EF4-FFF2-40B4-BE49-F238E27FC236}">
                <a16:creationId xmlns:a16="http://schemas.microsoft.com/office/drawing/2014/main" id="{73CF78B9-BA63-4147-674B-FD1103040527}"/>
              </a:ext>
            </a:extLst>
          </p:cNvPr>
          <p:cNvCxnSpPr>
            <a:cxnSpLocks noChangeShapeType="1"/>
            <a:stCxn id="3" idx="3"/>
            <a:endCxn id="31" idx="1"/>
          </p:cNvCxnSpPr>
          <p:nvPr/>
        </p:nvCxnSpPr>
        <p:spPr bwMode="auto">
          <a:xfrm flipV="1">
            <a:off x="5890959" y="2636077"/>
            <a:ext cx="1235869" cy="1459706"/>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8" name="AutoShape 8">
            <a:extLst>
              <a:ext uri="{FF2B5EF4-FFF2-40B4-BE49-F238E27FC236}">
                <a16:creationId xmlns:a16="http://schemas.microsoft.com/office/drawing/2014/main" id="{DBF7235D-BB55-4831-046D-1FFB552D29A5}"/>
              </a:ext>
            </a:extLst>
          </p:cNvPr>
          <p:cNvCxnSpPr>
            <a:cxnSpLocks noChangeShapeType="1"/>
            <a:stCxn id="3" idx="3"/>
          </p:cNvCxnSpPr>
          <p:nvPr/>
        </p:nvCxnSpPr>
        <p:spPr bwMode="auto">
          <a:xfrm>
            <a:off x="5890959" y="4095783"/>
            <a:ext cx="1219454" cy="473869"/>
          </a:xfrm>
          <a:prstGeom prst="bentConnector3">
            <a:avLst>
              <a:gd name="adj1" fmla="val 50000"/>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Text Box 86">
            <a:extLst>
              <a:ext uri="{FF2B5EF4-FFF2-40B4-BE49-F238E27FC236}">
                <a16:creationId xmlns:a16="http://schemas.microsoft.com/office/drawing/2014/main" id="{9519C110-61CE-F704-8829-9A54229F2D19}"/>
              </a:ext>
            </a:extLst>
          </p:cNvPr>
          <p:cNvSpPr txBox="1">
            <a:spLocks noChangeArrowheads="1"/>
          </p:cNvSpPr>
          <p:nvPr/>
        </p:nvSpPr>
        <p:spPr bwMode="auto">
          <a:xfrm>
            <a:off x="1419655" y="4294810"/>
            <a:ext cx="39116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600" dirty="0">
                <a:solidFill>
                  <a:schemeClr val="bg1"/>
                </a:solidFill>
              </a:rPr>
              <a:t> Claims Processing = 6 claims per day</a:t>
            </a:r>
          </a:p>
          <a:p>
            <a:pPr algn="ctr">
              <a:lnSpc>
                <a:spcPct val="100000"/>
              </a:lnSpc>
              <a:spcBef>
                <a:spcPct val="0"/>
              </a:spcBef>
              <a:spcAft>
                <a:spcPct val="0"/>
              </a:spcAft>
              <a:buClrTx/>
              <a:buSzTx/>
              <a:buFontTx/>
              <a:buNone/>
            </a:pPr>
            <a:r>
              <a:rPr lang="en-US" altLang="en-US" sz="1600" dirty="0">
                <a:solidFill>
                  <a:schemeClr val="bg1"/>
                </a:solidFill>
              </a:rPr>
              <a:t>Quality = 3 claims need re-work </a:t>
            </a:r>
            <a:br>
              <a:rPr lang="en-US" altLang="en-US" sz="1600" dirty="0">
                <a:solidFill>
                  <a:schemeClr val="bg1"/>
                </a:solidFill>
              </a:rPr>
            </a:br>
            <a:r>
              <a:rPr lang="en-US" altLang="en-US" sz="1600" dirty="0">
                <a:solidFill>
                  <a:schemeClr val="bg1"/>
                </a:solidFill>
              </a:rPr>
              <a:t>before they can complete process</a:t>
            </a:r>
          </a:p>
        </p:txBody>
      </p:sp>
      <p:sp>
        <p:nvSpPr>
          <p:cNvPr id="23" name="Text Box 129">
            <a:extLst>
              <a:ext uri="{FF2B5EF4-FFF2-40B4-BE49-F238E27FC236}">
                <a16:creationId xmlns:a16="http://schemas.microsoft.com/office/drawing/2014/main" id="{FC7CB176-D10F-A72A-DDFF-2E18FAE10C86}"/>
              </a:ext>
            </a:extLst>
          </p:cNvPr>
          <p:cNvSpPr txBox="1">
            <a:spLocks noChangeArrowheads="1"/>
          </p:cNvSpPr>
          <p:nvPr/>
        </p:nvSpPr>
        <p:spPr bwMode="auto">
          <a:xfrm>
            <a:off x="928366" y="5184603"/>
            <a:ext cx="4905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dirty="0">
                <a:solidFill>
                  <a:srgbClr val="FFB627"/>
                </a:solidFill>
              </a:rPr>
              <a:t>Quality = 3 claims reworked/6 total claims = 50%</a:t>
            </a:r>
          </a:p>
        </p:txBody>
      </p:sp>
      <p:sp>
        <p:nvSpPr>
          <p:cNvPr id="31" name="Rectangle 4">
            <a:extLst>
              <a:ext uri="{FF2B5EF4-FFF2-40B4-BE49-F238E27FC236}">
                <a16:creationId xmlns:a16="http://schemas.microsoft.com/office/drawing/2014/main" id="{8D60AA17-515B-B56F-D3FD-A75A9518DE4A}"/>
              </a:ext>
            </a:extLst>
          </p:cNvPr>
          <p:cNvSpPr>
            <a:spLocks noChangeArrowheads="1"/>
          </p:cNvSpPr>
          <p:nvPr/>
        </p:nvSpPr>
        <p:spPr bwMode="auto">
          <a:xfrm>
            <a:off x="7126828" y="2482089"/>
            <a:ext cx="422697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First-Pass Yield Definition</a:t>
            </a:r>
          </a:p>
        </p:txBody>
      </p:sp>
      <p:sp>
        <p:nvSpPr>
          <p:cNvPr id="32" name="Rectangle 5">
            <a:extLst>
              <a:ext uri="{FF2B5EF4-FFF2-40B4-BE49-F238E27FC236}">
                <a16:creationId xmlns:a16="http://schemas.microsoft.com/office/drawing/2014/main" id="{A4C786E5-FFBE-1674-347F-7BE6EA3F2DE6}"/>
              </a:ext>
            </a:extLst>
          </p:cNvPr>
          <p:cNvSpPr>
            <a:spLocks noChangeArrowheads="1"/>
          </p:cNvSpPr>
          <p:nvPr/>
        </p:nvSpPr>
        <p:spPr bwMode="auto">
          <a:xfrm>
            <a:off x="7202488" y="4415664"/>
            <a:ext cx="415131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solidFill>
                  <a:schemeClr val="bg1"/>
                </a:solidFill>
              </a:rPr>
              <a:t>Note on Quality Metric</a:t>
            </a:r>
          </a:p>
        </p:txBody>
      </p:sp>
      <p:sp>
        <p:nvSpPr>
          <p:cNvPr id="33" name="Rectangle 6">
            <a:extLst>
              <a:ext uri="{FF2B5EF4-FFF2-40B4-BE49-F238E27FC236}">
                <a16:creationId xmlns:a16="http://schemas.microsoft.com/office/drawing/2014/main" id="{B4A2CB22-56FF-11C9-A880-9F093B5B9FE8}"/>
              </a:ext>
            </a:extLst>
          </p:cNvPr>
          <p:cNvSpPr>
            <a:spLocks noChangeArrowheads="1"/>
          </p:cNvSpPr>
          <p:nvPr/>
        </p:nvSpPr>
        <p:spPr bwMode="auto">
          <a:xfrm>
            <a:off x="7033164" y="2836102"/>
            <a:ext cx="4320635"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The percentage of time that the process can be successfully completed on the first attempt using the standard process, tools, personnel, and information all at the right time and in the right place </a:t>
            </a:r>
          </a:p>
          <a:p>
            <a:pPr eaLnBrk="1" hangingPunct="1">
              <a:lnSpc>
                <a:spcPct val="100000"/>
              </a:lnSpc>
              <a:spcBef>
                <a:spcPct val="30000"/>
              </a:spcBef>
              <a:spcAft>
                <a:spcPct val="0"/>
              </a:spcAft>
              <a:buClr>
                <a:schemeClr val="tx1"/>
              </a:buClr>
              <a:buSzPct val="90000"/>
              <a:buFont typeface="Arial" panose="020B0604020202020204" pitchFamily="34" charset="0"/>
              <a:buChar char="•"/>
            </a:pPr>
            <a:endParaRPr lang="en-US" altLang="en-US" sz="1600" b="0" dirty="0"/>
          </a:p>
        </p:txBody>
      </p:sp>
      <p:sp>
        <p:nvSpPr>
          <p:cNvPr id="34" name="Rectangle 9">
            <a:extLst>
              <a:ext uri="{FF2B5EF4-FFF2-40B4-BE49-F238E27FC236}">
                <a16:creationId xmlns:a16="http://schemas.microsoft.com/office/drawing/2014/main" id="{D02500FD-C024-3494-D11D-10C14B7AFCC0}"/>
              </a:ext>
            </a:extLst>
          </p:cNvPr>
          <p:cNvSpPr>
            <a:spLocks noChangeArrowheads="1"/>
          </p:cNvSpPr>
          <p:nvPr/>
        </p:nvSpPr>
        <p:spPr bwMode="auto">
          <a:xfrm>
            <a:off x="7202488" y="4750626"/>
            <a:ext cx="4382959"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b="0" dirty="0"/>
              <a:t>The Quality percentage in </a:t>
            </a:r>
            <a:r>
              <a:rPr lang="en-US" altLang="en-US" sz="1600" b="0" dirty="0" err="1"/>
              <a:t>VSMi</a:t>
            </a:r>
            <a:r>
              <a:rPr lang="en-US" altLang="en-US" sz="1600" b="0" dirty="0"/>
              <a:t> is measuring First-Pass Yield only</a:t>
            </a:r>
          </a:p>
        </p:txBody>
      </p:sp>
      <p:sp>
        <p:nvSpPr>
          <p:cNvPr id="12" name="AutoShape 12">
            <a:extLst>
              <a:ext uri="{FF2B5EF4-FFF2-40B4-BE49-F238E27FC236}">
                <a16:creationId xmlns:a16="http://schemas.microsoft.com/office/drawing/2014/main" id="{3EA7665F-A844-75E3-1C15-A1856CEED82A}"/>
              </a:ext>
            </a:extLst>
          </p:cNvPr>
          <p:cNvSpPr>
            <a:spLocks noChangeArrowheads="1"/>
          </p:cNvSpPr>
          <p:nvPr/>
        </p:nvSpPr>
        <p:spPr bwMode="auto">
          <a:xfrm>
            <a:off x="3131226" y="3525342"/>
            <a:ext cx="276225" cy="27305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13" name="AutoShape 13">
            <a:extLst>
              <a:ext uri="{FF2B5EF4-FFF2-40B4-BE49-F238E27FC236}">
                <a16:creationId xmlns:a16="http://schemas.microsoft.com/office/drawing/2014/main" id="{CBA36563-C5B5-7405-7CDA-04C46D23C62C}"/>
              </a:ext>
            </a:extLst>
          </p:cNvPr>
          <p:cNvSpPr>
            <a:spLocks noChangeArrowheads="1"/>
          </p:cNvSpPr>
          <p:nvPr/>
        </p:nvSpPr>
        <p:spPr bwMode="auto">
          <a:xfrm>
            <a:off x="4142463" y="3517404"/>
            <a:ext cx="276225" cy="27305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p>
        </p:txBody>
      </p:sp>
      <p:sp>
        <p:nvSpPr>
          <p:cNvPr id="14" name="phone3">
            <a:extLst>
              <a:ext uri="{FF2B5EF4-FFF2-40B4-BE49-F238E27FC236}">
                <a16:creationId xmlns:a16="http://schemas.microsoft.com/office/drawing/2014/main" id="{5CEAC276-4B58-1EA4-62D5-67AC38A3FC99}"/>
              </a:ext>
            </a:extLst>
          </p:cNvPr>
          <p:cNvSpPr>
            <a:spLocks noEditPoints="1" noChangeArrowheads="1"/>
          </p:cNvSpPr>
          <p:nvPr/>
        </p:nvSpPr>
        <p:spPr bwMode="auto">
          <a:xfrm>
            <a:off x="3505876" y="3414217"/>
            <a:ext cx="457200" cy="457200"/>
          </a:xfrm>
          <a:custGeom>
            <a:avLst/>
            <a:gdLst>
              <a:gd name="T0" fmla="*/ 0 w 21600"/>
              <a:gd name="T1" fmla="*/ 0 h 21600"/>
              <a:gd name="T2" fmla="*/ 2147483646 w 21600"/>
              <a:gd name="T3" fmla="*/ 0 h 21600"/>
              <a:gd name="T4" fmla="*/ 2147483646 w 21600"/>
              <a:gd name="T5" fmla="*/ 0 h 21600"/>
              <a:gd name="T6" fmla="*/ 2147483646 w 21600"/>
              <a:gd name="T7" fmla="*/ 2147483646 h 21600"/>
              <a:gd name="T8" fmla="*/ 2147483646 w 21600"/>
              <a:gd name="T9" fmla="*/ 2147483646 h 21600"/>
              <a:gd name="T10" fmla="*/ 2147483646 w 21600"/>
              <a:gd name="T11" fmla="*/ 2147483646 h 21600"/>
              <a:gd name="T12" fmla="*/ 0 w 21600"/>
              <a:gd name="T13" fmla="*/ 2147483646 h 21600"/>
              <a:gd name="T14" fmla="*/ 0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200 w 21600"/>
              <a:gd name="T25" fmla="*/ 23516 h 21600"/>
              <a:gd name="T26" fmla="*/ 21400 w 21600"/>
              <a:gd name="T27" fmla="*/ 4048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extrusionOk="0">
                <a:moveTo>
                  <a:pt x="10692" y="21600"/>
                </a:moveTo>
                <a:lnTo>
                  <a:pt x="21600" y="21600"/>
                </a:lnTo>
                <a:lnTo>
                  <a:pt x="21600" y="10684"/>
                </a:lnTo>
                <a:lnTo>
                  <a:pt x="21600" y="0"/>
                </a:lnTo>
                <a:lnTo>
                  <a:pt x="10190" y="0"/>
                </a:lnTo>
                <a:lnTo>
                  <a:pt x="0" y="0"/>
                </a:lnTo>
                <a:lnTo>
                  <a:pt x="0" y="10916"/>
                </a:lnTo>
                <a:lnTo>
                  <a:pt x="0" y="21600"/>
                </a:lnTo>
                <a:lnTo>
                  <a:pt x="10692" y="21600"/>
                </a:lnTo>
                <a:close/>
              </a:path>
              <a:path w="21600" h="21600" extrusionOk="0">
                <a:moveTo>
                  <a:pt x="3552" y="13565"/>
                </a:moveTo>
                <a:lnTo>
                  <a:pt x="3552" y="14206"/>
                </a:lnTo>
                <a:lnTo>
                  <a:pt x="3409" y="14584"/>
                </a:lnTo>
                <a:lnTo>
                  <a:pt x="3050" y="15021"/>
                </a:lnTo>
                <a:lnTo>
                  <a:pt x="2619" y="15429"/>
                </a:lnTo>
                <a:lnTo>
                  <a:pt x="2296" y="15836"/>
                </a:lnTo>
                <a:lnTo>
                  <a:pt x="2045" y="16244"/>
                </a:lnTo>
                <a:lnTo>
                  <a:pt x="1902" y="16564"/>
                </a:lnTo>
                <a:lnTo>
                  <a:pt x="1794" y="17001"/>
                </a:lnTo>
                <a:lnTo>
                  <a:pt x="1830" y="17466"/>
                </a:lnTo>
                <a:lnTo>
                  <a:pt x="2009" y="17932"/>
                </a:lnTo>
                <a:lnTo>
                  <a:pt x="2260" y="18311"/>
                </a:lnTo>
                <a:lnTo>
                  <a:pt x="2548" y="18718"/>
                </a:lnTo>
                <a:lnTo>
                  <a:pt x="3050" y="19126"/>
                </a:lnTo>
                <a:lnTo>
                  <a:pt x="3552" y="19533"/>
                </a:lnTo>
                <a:lnTo>
                  <a:pt x="4342" y="19737"/>
                </a:lnTo>
                <a:lnTo>
                  <a:pt x="5095" y="19737"/>
                </a:lnTo>
                <a:lnTo>
                  <a:pt x="5849" y="19737"/>
                </a:lnTo>
                <a:lnTo>
                  <a:pt x="6351" y="19533"/>
                </a:lnTo>
                <a:lnTo>
                  <a:pt x="7140" y="19126"/>
                </a:lnTo>
                <a:lnTo>
                  <a:pt x="7535" y="18747"/>
                </a:lnTo>
                <a:lnTo>
                  <a:pt x="7894" y="18311"/>
                </a:lnTo>
                <a:lnTo>
                  <a:pt x="8145" y="17903"/>
                </a:lnTo>
                <a:lnTo>
                  <a:pt x="8324" y="17408"/>
                </a:lnTo>
                <a:lnTo>
                  <a:pt x="8324" y="16942"/>
                </a:lnTo>
                <a:lnTo>
                  <a:pt x="8252" y="16593"/>
                </a:lnTo>
                <a:lnTo>
                  <a:pt x="8145" y="16244"/>
                </a:lnTo>
                <a:lnTo>
                  <a:pt x="7894" y="15836"/>
                </a:lnTo>
                <a:lnTo>
                  <a:pt x="7571" y="15429"/>
                </a:lnTo>
                <a:lnTo>
                  <a:pt x="7140" y="15021"/>
                </a:lnTo>
                <a:lnTo>
                  <a:pt x="6853" y="14613"/>
                </a:lnTo>
                <a:lnTo>
                  <a:pt x="6602" y="14206"/>
                </a:lnTo>
                <a:lnTo>
                  <a:pt x="6602" y="13565"/>
                </a:lnTo>
                <a:lnTo>
                  <a:pt x="6602" y="8035"/>
                </a:lnTo>
                <a:lnTo>
                  <a:pt x="6602" y="7598"/>
                </a:lnTo>
                <a:lnTo>
                  <a:pt x="6853" y="6987"/>
                </a:lnTo>
                <a:lnTo>
                  <a:pt x="7212" y="6579"/>
                </a:lnTo>
                <a:lnTo>
                  <a:pt x="7643" y="6171"/>
                </a:lnTo>
                <a:lnTo>
                  <a:pt x="7894" y="5764"/>
                </a:lnTo>
                <a:lnTo>
                  <a:pt x="8037" y="5531"/>
                </a:lnTo>
                <a:lnTo>
                  <a:pt x="8252" y="5153"/>
                </a:lnTo>
                <a:lnTo>
                  <a:pt x="8360" y="4599"/>
                </a:lnTo>
                <a:lnTo>
                  <a:pt x="8288" y="4134"/>
                </a:lnTo>
                <a:lnTo>
                  <a:pt x="8145" y="3697"/>
                </a:lnTo>
                <a:lnTo>
                  <a:pt x="7894" y="3289"/>
                </a:lnTo>
                <a:lnTo>
                  <a:pt x="7499" y="2853"/>
                </a:lnTo>
                <a:lnTo>
                  <a:pt x="7033" y="2533"/>
                </a:lnTo>
                <a:lnTo>
                  <a:pt x="6387" y="2242"/>
                </a:lnTo>
                <a:lnTo>
                  <a:pt x="5849" y="2067"/>
                </a:lnTo>
                <a:lnTo>
                  <a:pt x="5095" y="1950"/>
                </a:lnTo>
                <a:lnTo>
                  <a:pt x="4234" y="2038"/>
                </a:lnTo>
                <a:lnTo>
                  <a:pt x="3552" y="2271"/>
                </a:lnTo>
                <a:lnTo>
                  <a:pt x="3050" y="2504"/>
                </a:lnTo>
                <a:lnTo>
                  <a:pt x="2548" y="2882"/>
                </a:lnTo>
                <a:lnTo>
                  <a:pt x="2225" y="3231"/>
                </a:lnTo>
                <a:lnTo>
                  <a:pt x="1973" y="3697"/>
                </a:lnTo>
                <a:lnTo>
                  <a:pt x="1794" y="4308"/>
                </a:lnTo>
                <a:lnTo>
                  <a:pt x="1794" y="4745"/>
                </a:lnTo>
                <a:lnTo>
                  <a:pt x="1866" y="5123"/>
                </a:lnTo>
                <a:lnTo>
                  <a:pt x="2045" y="5560"/>
                </a:lnTo>
                <a:lnTo>
                  <a:pt x="2296" y="5851"/>
                </a:lnTo>
                <a:lnTo>
                  <a:pt x="2548" y="6171"/>
                </a:lnTo>
                <a:lnTo>
                  <a:pt x="3014" y="6608"/>
                </a:lnTo>
                <a:lnTo>
                  <a:pt x="3301" y="6987"/>
                </a:lnTo>
                <a:lnTo>
                  <a:pt x="3552" y="7598"/>
                </a:lnTo>
                <a:lnTo>
                  <a:pt x="3552" y="8035"/>
                </a:lnTo>
                <a:lnTo>
                  <a:pt x="3552" y="13565"/>
                </a:lnTo>
                <a:close/>
              </a:path>
              <a:path w="21600" h="21600" extrusionOk="0">
                <a:moveTo>
                  <a:pt x="10154" y="1863"/>
                </a:moveTo>
                <a:lnTo>
                  <a:pt x="19088" y="1863"/>
                </a:lnTo>
                <a:lnTo>
                  <a:pt x="19088" y="8238"/>
                </a:lnTo>
                <a:lnTo>
                  <a:pt x="10154" y="8238"/>
                </a:lnTo>
                <a:lnTo>
                  <a:pt x="10154" y="1863"/>
                </a:lnTo>
                <a:moveTo>
                  <a:pt x="10441" y="10101"/>
                </a:moveTo>
                <a:lnTo>
                  <a:pt x="10441" y="9461"/>
                </a:lnTo>
                <a:lnTo>
                  <a:pt x="18837" y="9461"/>
                </a:lnTo>
                <a:lnTo>
                  <a:pt x="18837" y="10101"/>
                </a:lnTo>
                <a:lnTo>
                  <a:pt x="10441" y="10101"/>
                </a:lnTo>
                <a:moveTo>
                  <a:pt x="11374" y="11004"/>
                </a:moveTo>
                <a:lnTo>
                  <a:pt x="12630" y="11004"/>
                </a:lnTo>
                <a:lnTo>
                  <a:pt x="12630" y="12226"/>
                </a:lnTo>
                <a:lnTo>
                  <a:pt x="11374" y="12226"/>
                </a:lnTo>
                <a:lnTo>
                  <a:pt x="11374" y="11004"/>
                </a:lnTo>
                <a:moveTo>
                  <a:pt x="13993" y="11004"/>
                </a:moveTo>
                <a:lnTo>
                  <a:pt x="15249" y="11004"/>
                </a:lnTo>
                <a:lnTo>
                  <a:pt x="15249" y="12226"/>
                </a:lnTo>
                <a:lnTo>
                  <a:pt x="13993" y="12226"/>
                </a:lnTo>
                <a:lnTo>
                  <a:pt x="13993" y="11004"/>
                </a:lnTo>
                <a:moveTo>
                  <a:pt x="16649" y="11004"/>
                </a:moveTo>
                <a:lnTo>
                  <a:pt x="17904" y="11004"/>
                </a:lnTo>
                <a:lnTo>
                  <a:pt x="17904" y="12226"/>
                </a:lnTo>
                <a:lnTo>
                  <a:pt x="16649" y="12226"/>
                </a:lnTo>
                <a:lnTo>
                  <a:pt x="16649" y="11004"/>
                </a:lnTo>
                <a:moveTo>
                  <a:pt x="11374" y="12954"/>
                </a:moveTo>
                <a:lnTo>
                  <a:pt x="12630" y="12954"/>
                </a:lnTo>
                <a:lnTo>
                  <a:pt x="12630" y="14177"/>
                </a:lnTo>
                <a:lnTo>
                  <a:pt x="11374" y="14177"/>
                </a:lnTo>
                <a:lnTo>
                  <a:pt x="11374" y="12954"/>
                </a:lnTo>
                <a:moveTo>
                  <a:pt x="13993" y="12954"/>
                </a:moveTo>
                <a:lnTo>
                  <a:pt x="15249" y="12954"/>
                </a:lnTo>
                <a:lnTo>
                  <a:pt x="15249" y="14177"/>
                </a:lnTo>
                <a:lnTo>
                  <a:pt x="13993" y="14177"/>
                </a:lnTo>
                <a:lnTo>
                  <a:pt x="13993" y="12954"/>
                </a:lnTo>
                <a:moveTo>
                  <a:pt x="16649" y="12954"/>
                </a:moveTo>
                <a:lnTo>
                  <a:pt x="17904" y="12954"/>
                </a:lnTo>
                <a:lnTo>
                  <a:pt x="17904" y="14177"/>
                </a:lnTo>
                <a:lnTo>
                  <a:pt x="16649" y="14177"/>
                </a:lnTo>
                <a:lnTo>
                  <a:pt x="16649" y="12954"/>
                </a:lnTo>
                <a:moveTo>
                  <a:pt x="11374" y="14905"/>
                </a:moveTo>
                <a:lnTo>
                  <a:pt x="12630" y="14905"/>
                </a:lnTo>
                <a:lnTo>
                  <a:pt x="12630" y="16127"/>
                </a:lnTo>
                <a:lnTo>
                  <a:pt x="11374" y="16127"/>
                </a:lnTo>
                <a:lnTo>
                  <a:pt x="11374" y="14905"/>
                </a:lnTo>
                <a:moveTo>
                  <a:pt x="13993" y="14905"/>
                </a:moveTo>
                <a:lnTo>
                  <a:pt x="15249" y="14905"/>
                </a:lnTo>
                <a:lnTo>
                  <a:pt x="15249" y="16127"/>
                </a:lnTo>
                <a:lnTo>
                  <a:pt x="13993" y="16127"/>
                </a:lnTo>
                <a:lnTo>
                  <a:pt x="13993" y="14905"/>
                </a:lnTo>
                <a:moveTo>
                  <a:pt x="16649" y="14905"/>
                </a:moveTo>
                <a:lnTo>
                  <a:pt x="17904" y="14905"/>
                </a:lnTo>
                <a:lnTo>
                  <a:pt x="17904" y="16127"/>
                </a:lnTo>
                <a:lnTo>
                  <a:pt x="16649" y="16127"/>
                </a:lnTo>
                <a:lnTo>
                  <a:pt x="16649" y="14905"/>
                </a:lnTo>
                <a:moveTo>
                  <a:pt x="11374" y="16855"/>
                </a:moveTo>
                <a:lnTo>
                  <a:pt x="12630" y="16855"/>
                </a:lnTo>
                <a:lnTo>
                  <a:pt x="12630" y="18078"/>
                </a:lnTo>
                <a:lnTo>
                  <a:pt x="11374" y="18078"/>
                </a:lnTo>
                <a:lnTo>
                  <a:pt x="11374" y="16855"/>
                </a:lnTo>
                <a:moveTo>
                  <a:pt x="13993" y="16855"/>
                </a:moveTo>
                <a:lnTo>
                  <a:pt x="15249" y="16855"/>
                </a:lnTo>
                <a:lnTo>
                  <a:pt x="15249" y="18078"/>
                </a:lnTo>
                <a:lnTo>
                  <a:pt x="13993" y="18078"/>
                </a:lnTo>
                <a:lnTo>
                  <a:pt x="13993" y="16855"/>
                </a:lnTo>
                <a:moveTo>
                  <a:pt x="16649" y="16855"/>
                </a:moveTo>
                <a:lnTo>
                  <a:pt x="17904" y="16855"/>
                </a:lnTo>
                <a:lnTo>
                  <a:pt x="17904" y="18078"/>
                </a:lnTo>
                <a:lnTo>
                  <a:pt x="16649" y="18078"/>
                </a:lnTo>
                <a:lnTo>
                  <a:pt x="16649" y="16855"/>
                </a:lnTo>
              </a:path>
            </a:pathLst>
          </a:custGeom>
          <a:solidFill>
            <a:srgbClr val="FFB627"/>
          </a:solidFill>
          <a:ln w="9525">
            <a:solidFill>
              <a:srgbClr val="000000"/>
            </a:solidFill>
            <a:miter lim="800000"/>
            <a:headEnd/>
            <a:tailEnd/>
          </a:ln>
        </p:spPr>
        <p:txBody>
          <a:bodyPr/>
          <a:lstStyle/>
          <a:p>
            <a:endParaRPr lang="en-US"/>
          </a:p>
        </p:txBody>
      </p:sp>
      <p:sp>
        <p:nvSpPr>
          <p:cNvPr id="15" name="Documents">
            <a:extLst>
              <a:ext uri="{FF2B5EF4-FFF2-40B4-BE49-F238E27FC236}">
                <a16:creationId xmlns:a16="http://schemas.microsoft.com/office/drawing/2014/main" id="{D731931B-0A16-E577-06BC-F14D04444354}"/>
              </a:ext>
            </a:extLst>
          </p:cNvPr>
          <p:cNvSpPr>
            <a:spLocks noEditPoints="1" noChangeArrowheads="1"/>
          </p:cNvSpPr>
          <p:nvPr/>
        </p:nvSpPr>
        <p:spPr bwMode="auto">
          <a:xfrm>
            <a:off x="1235751" y="3191967"/>
            <a:ext cx="712787" cy="911225"/>
          </a:xfrm>
          <a:custGeom>
            <a:avLst/>
            <a:gdLst>
              <a:gd name="T0" fmla="*/ 0 w 21600"/>
              <a:gd name="T1" fmla="*/ 2147483646 h 21600"/>
              <a:gd name="T2" fmla="*/ 2147483646 w 21600"/>
              <a:gd name="T3" fmla="*/ 0 h 21600"/>
              <a:gd name="T4" fmla="*/ 2147483646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1950697020 w 21600"/>
              <a:gd name="T15" fmla="*/ 2147483646 h 21600"/>
              <a:gd name="T16" fmla="*/ 2147483646 w 21600"/>
              <a:gd name="T17" fmla="*/ 0 h 21600"/>
              <a:gd name="T18" fmla="*/ 2147483646 w 21600"/>
              <a:gd name="T19" fmla="*/ 0 h 21600"/>
              <a:gd name="T20" fmla="*/ 0 w 21600"/>
              <a:gd name="T21" fmla="*/ 2147483646 h 21600"/>
              <a:gd name="T22" fmla="*/ 2147483646 w 21600"/>
              <a:gd name="T23" fmla="*/ 2147483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sp>
        <p:nvSpPr>
          <p:cNvPr id="16" name="Documents">
            <a:extLst>
              <a:ext uri="{FF2B5EF4-FFF2-40B4-BE49-F238E27FC236}">
                <a16:creationId xmlns:a16="http://schemas.microsoft.com/office/drawing/2014/main" id="{5829B691-D494-F548-CADE-8BDE4F2418D6}"/>
              </a:ext>
            </a:extLst>
          </p:cNvPr>
          <p:cNvSpPr>
            <a:spLocks noEditPoints="1" noChangeArrowheads="1"/>
          </p:cNvSpPr>
          <p:nvPr/>
        </p:nvSpPr>
        <p:spPr bwMode="auto">
          <a:xfrm>
            <a:off x="4625063" y="3169742"/>
            <a:ext cx="712788" cy="911225"/>
          </a:xfrm>
          <a:custGeom>
            <a:avLst/>
            <a:gdLst>
              <a:gd name="T0" fmla="*/ 0 w 21600"/>
              <a:gd name="T1" fmla="*/ 2147483646 h 21600"/>
              <a:gd name="T2" fmla="*/ 2147483646 w 21600"/>
              <a:gd name="T3" fmla="*/ 0 h 21600"/>
              <a:gd name="T4" fmla="*/ 2147483646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1950705762 w 21600"/>
              <a:gd name="T15" fmla="*/ 2147483646 h 21600"/>
              <a:gd name="T16" fmla="*/ 2147483646 w 21600"/>
              <a:gd name="T17" fmla="*/ 0 h 21600"/>
              <a:gd name="T18" fmla="*/ 2147483646 w 21600"/>
              <a:gd name="T19" fmla="*/ 0 h 21600"/>
              <a:gd name="T20" fmla="*/ 0 w 21600"/>
              <a:gd name="T21" fmla="*/ 2147483646 h 21600"/>
              <a:gd name="T22" fmla="*/ 2147483646 w 21600"/>
              <a:gd name="T23" fmla="*/ 2147483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sp>
        <p:nvSpPr>
          <p:cNvPr id="17" name="Documents">
            <a:extLst>
              <a:ext uri="{FF2B5EF4-FFF2-40B4-BE49-F238E27FC236}">
                <a16:creationId xmlns:a16="http://schemas.microsoft.com/office/drawing/2014/main" id="{8E5678B4-E938-C96C-45E9-148C9F44F7AB}"/>
              </a:ext>
            </a:extLst>
          </p:cNvPr>
          <p:cNvSpPr>
            <a:spLocks noEditPoints="1" noChangeArrowheads="1"/>
          </p:cNvSpPr>
          <p:nvPr/>
        </p:nvSpPr>
        <p:spPr bwMode="auto">
          <a:xfrm>
            <a:off x="2121576" y="3166567"/>
            <a:ext cx="712787" cy="911225"/>
          </a:xfrm>
          <a:custGeom>
            <a:avLst/>
            <a:gdLst>
              <a:gd name="T0" fmla="*/ 0 w 21600"/>
              <a:gd name="T1" fmla="*/ 2147483646 h 21600"/>
              <a:gd name="T2" fmla="*/ 2147483646 w 21600"/>
              <a:gd name="T3" fmla="*/ 0 h 21600"/>
              <a:gd name="T4" fmla="*/ 2147483646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1950697020 w 21600"/>
              <a:gd name="T15" fmla="*/ 2147483646 h 21600"/>
              <a:gd name="T16" fmla="*/ 2147483646 w 21600"/>
              <a:gd name="T17" fmla="*/ 0 h 21600"/>
              <a:gd name="T18" fmla="*/ 2147483646 w 21600"/>
              <a:gd name="T19" fmla="*/ 0 h 21600"/>
              <a:gd name="T20" fmla="*/ 0 w 21600"/>
              <a:gd name="T21" fmla="*/ 2147483646 h 21600"/>
              <a:gd name="T22" fmla="*/ 2147483646 w 21600"/>
              <a:gd name="T23" fmla="*/ 2147483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FFB627"/>
          </a:solidFill>
          <a:ln w="9525">
            <a:solidFill>
              <a:srgbClr val="000000"/>
            </a:solidFill>
            <a:miter lim="800000"/>
            <a:headEnd/>
            <a:tailEnd/>
          </a:ln>
          <a:effectLst>
            <a:outerShdw dist="107763" dir="2700000" algn="ctr" rotWithShape="0">
              <a:srgbClr val="808080"/>
            </a:outerShdw>
          </a:effectLst>
        </p:spPr>
        <p:txBody>
          <a:bodyPr/>
          <a:lstStyle/>
          <a:p>
            <a:endParaRPr lang="en-US"/>
          </a:p>
        </p:txBody>
      </p:sp>
      <p:grpSp>
        <p:nvGrpSpPr>
          <p:cNvPr id="35" name="Group 34">
            <a:extLst>
              <a:ext uri="{FF2B5EF4-FFF2-40B4-BE49-F238E27FC236}">
                <a16:creationId xmlns:a16="http://schemas.microsoft.com/office/drawing/2014/main" id="{68DE371E-D3A5-9857-FBAC-6A5606B3A815}"/>
              </a:ext>
            </a:extLst>
          </p:cNvPr>
          <p:cNvGrpSpPr/>
          <p:nvPr/>
        </p:nvGrpSpPr>
        <p:grpSpPr>
          <a:xfrm>
            <a:off x="940249" y="302538"/>
            <a:ext cx="6219503" cy="311932"/>
            <a:chOff x="940249" y="302538"/>
            <a:chExt cx="6219503" cy="311932"/>
          </a:xfrm>
        </p:grpSpPr>
        <p:sp>
          <p:nvSpPr>
            <p:cNvPr id="36" name="TextBox 35">
              <a:extLst>
                <a:ext uri="{FF2B5EF4-FFF2-40B4-BE49-F238E27FC236}">
                  <a16:creationId xmlns:a16="http://schemas.microsoft.com/office/drawing/2014/main" id="{E71032D0-CA99-D668-3737-387DAED80B4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7" name="AutoShape 9">
              <a:extLst>
                <a:ext uri="{FF2B5EF4-FFF2-40B4-BE49-F238E27FC236}">
                  <a16:creationId xmlns:a16="http://schemas.microsoft.com/office/drawing/2014/main" id="{44CE29AB-54AE-97FA-E442-E2E23C6C256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36FD3E2F-FFF9-F070-6F44-83A83F4127C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B421F0AC-C94E-B411-C36A-69502595FB2C}"/>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9">
              <a:extLst>
                <a:ext uri="{FF2B5EF4-FFF2-40B4-BE49-F238E27FC236}">
                  <a16:creationId xmlns:a16="http://schemas.microsoft.com/office/drawing/2014/main" id="{5BBC0B04-800C-3589-3F04-70D3044FEFC7}"/>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1" name="AutoShape 11">
              <a:extLst>
                <a:ext uri="{FF2B5EF4-FFF2-40B4-BE49-F238E27FC236}">
                  <a16:creationId xmlns:a16="http://schemas.microsoft.com/office/drawing/2014/main" id="{C8B6B799-0039-141E-86C9-2C9E99B635F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3" name="Slide Number Placeholder 2">
            <a:extLst>
              <a:ext uri="{FF2B5EF4-FFF2-40B4-BE49-F238E27FC236}">
                <a16:creationId xmlns:a16="http://schemas.microsoft.com/office/drawing/2014/main" id="{11FC6651-FFE2-2919-0FCD-26164F9E8021}"/>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44</a:t>
            </a:fld>
            <a:endParaRPr lang="en-US" dirty="0"/>
          </a:p>
        </p:txBody>
      </p:sp>
    </p:spTree>
    <p:extLst>
      <p:ext uri="{BB962C8B-B14F-4D97-AF65-F5344CB8AC3E}">
        <p14:creationId xmlns:p14="http://schemas.microsoft.com/office/powerpoint/2010/main" val="199345738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5013960" cy="4351338"/>
          </a:xfrm>
        </p:spPr>
        <p:txBody>
          <a:bodyPr>
            <a:normAutofit/>
          </a:bodyPr>
          <a:lstStyle/>
          <a:p>
            <a:pPr>
              <a:lnSpc>
                <a:spcPct val="100000"/>
              </a:lnSpc>
            </a:pPr>
            <a:r>
              <a:rPr lang="en-US" sz="2400" b="1" dirty="0"/>
              <a:t>Application Processing – </a:t>
            </a:r>
            <a:br>
              <a:rPr lang="en-US" sz="2400" b="1" dirty="0"/>
            </a:br>
            <a:r>
              <a:rPr lang="en-US" sz="2400" b="1" dirty="0"/>
              <a:t>Mail Package</a:t>
            </a:r>
          </a:p>
          <a:p>
            <a:pPr lvl="1">
              <a:lnSpc>
                <a:spcPct val="100000"/>
              </a:lnSpc>
            </a:pPr>
            <a:r>
              <a:rPr lang="en-US" sz="2000" dirty="0"/>
              <a:t>These packages are put in envelopes and sent via registered mail daily to the applicants.  One of the mailroom employees is dedicated to processing outgoing mail.  The process takes </a:t>
            </a:r>
            <a:r>
              <a:rPr lang="en-US" sz="2000" b="1" dirty="0">
                <a:solidFill>
                  <a:srgbClr val="EE3228"/>
                </a:solidFill>
              </a:rPr>
              <a:t>45 seconds</a:t>
            </a:r>
            <a:r>
              <a:rPr lang="en-US" sz="2000" dirty="0"/>
              <a:t> and is done with </a:t>
            </a:r>
            <a:r>
              <a:rPr lang="en-US" sz="2000" b="1" dirty="0">
                <a:solidFill>
                  <a:srgbClr val="EE3228"/>
                </a:solidFill>
              </a:rPr>
              <a:t>100% accuracy. </a:t>
            </a:r>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8116690"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7" name="Text Box 8">
            <a:extLst>
              <a:ext uri="{FF2B5EF4-FFF2-40B4-BE49-F238E27FC236}">
                <a16:creationId xmlns:a16="http://schemas.microsoft.com/office/drawing/2014/main" id="{0A19107D-4D39-2AC7-C3C3-85549D9A8E29}"/>
              </a:ext>
            </a:extLst>
          </p:cNvPr>
          <p:cNvSpPr txBox="1">
            <a:spLocks noChangeArrowheads="1"/>
          </p:cNvSpPr>
          <p:nvPr/>
        </p:nvSpPr>
        <p:spPr bwMode="auto">
          <a:xfrm>
            <a:off x="8180189" y="1825625"/>
            <a:ext cx="2166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Process Box</a:t>
            </a:r>
          </a:p>
        </p:txBody>
      </p:sp>
      <p:sp>
        <p:nvSpPr>
          <p:cNvPr id="8" name="Rectangle 9">
            <a:extLst>
              <a:ext uri="{FF2B5EF4-FFF2-40B4-BE49-F238E27FC236}">
                <a16:creationId xmlns:a16="http://schemas.microsoft.com/office/drawing/2014/main" id="{7F4ED96C-F00A-8061-668E-4914CBA28E55}"/>
              </a:ext>
            </a:extLst>
          </p:cNvPr>
          <p:cNvSpPr>
            <a:spLocks noChangeArrowheads="1"/>
          </p:cNvSpPr>
          <p:nvPr/>
        </p:nvSpPr>
        <p:spPr bwMode="auto">
          <a:xfrm>
            <a:off x="8113254" y="4240041"/>
            <a:ext cx="2418207" cy="128293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Text Box 10">
            <a:extLst>
              <a:ext uri="{FF2B5EF4-FFF2-40B4-BE49-F238E27FC236}">
                <a16:creationId xmlns:a16="http://schemas.microsoft.com/office/drawing/2014/main" id="{6B1635D1-A4D5-754D-8C78-197860AEA498}"/>
              </a:ext>
            </a:extLst>
          </p:cNvPr>
          <p:cNvSpPr txBox="1">
            <a:spLocks noChangeArrowheads="1"/>
          </p:cNvSpPr>
          <p:nvPr/>
        </p:nvSpPr>
        <p:spPr bwMode="auto">
          <a:xfrm>
            <a:off x="8435647" y="3910226"/>
            <a:ext cx="1622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Data Box</a:t>
            </a:r>
          </a:p>
        </p:txBody>
      </p:sp>
      <p:sp>
        <p:nvSpPr>
          <p:cNvPr id="11" name="Line 18">
            <a:extLst>
              <a:ext uri="{FF2B5EF4-FFF2-40B4-BE49-F238E27FC236}">
                <a16:creationId xmlns:a16="http://schemas.microsoft.com/office/drawing/2014/main" id="{DC92621F-AA78-ADB5-DC9B-6AFADB16FFEC}"/>
              </a:ext>
            </a:extLst>
          </p:cNvPr>
          <p:cNvSpPr>
            <a:spLocks noChangeShapeType="1"/>
          </p:cNvSpPr>
          <p:nvPr/>
        </p:nvSpPr>
        <p:spPr bwMode="auto">
          <a:xfrm>
            <a:off x="3474720" y="2396380"/>
            <a:ext cx="4571624" cy="62753"/>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8157288" y="2313899"/>
            <a:ext cx="2317356" cy="32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Mail Package</a:t>
            </a:r>
          </a:p>
        </p:txBody>
      </p:sp>
      <p:sp>
        <p:nvSpPr>
          <p:cNvPr id="14" name="Line 22">
            <a:extLst>
              <a:ext uri="{FF2B5EF4-FFF2-40B4-BE49-F238E27FC236}">
                <a16:creationId xmlns:a16="http://schemas.microsoft.com/office/drawing/2014/main" id="{180A5B0C-6179-8161-4D41-C2B3E464421E}"/>
              </a:ext>
            </a:extLst>
          </p:cNvPr>
          <p:cNvSpPr>
            <a:spLocks noChangeShapeType="1"/>
          </p:cNvSpPr>
          <p:nvPr/>
        </p:nvSpPr>
        <p:spPr bwMode="auto">
          <a:xfrm>
            <a:off x="5404103" y="4723322"/>
            <a:ext cx="2642241" cy="392292"/>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Text Box 23">
            <a:extLst>
              <a:ext uri="{FF2B5EF4-FFF2-40B4-BE49-F238E27FC236}">
                <a16:creationId xmlns:a16="http://schemas.microsoft.com/office/drawing/2014/main" id="{9DDB2C5D-ECC4-977F-5114-B7517E0D89AF}"/>
              </a:ext>
            </a:extLst>
          </p:cNvPr>
          <p:cNvSpPr txBox="1">
            <a:spLocks noChangeArrowheads="1"/>
          </p:cNvSpPr>
          <p:nvPr/>
        </p:nvSpPr>
        <p:spPr bwMode="auto">
          <a:xfrm>
            <a:off x="8298027" y="5011788"/>
            <a:ext cx="2150735" cy="379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dirty="0"/>
              <a:t>Quality = 100%</a:t>
            </a:r>
          </a:p>
        </p:txBody>
      </p:sp>
      <p:sp>
        <p:nvSpPr>
          <p:cNvPr id="17" name="Line 25">
            <a:extLst>
              <a:ext uri="{FF2B5EF4-FFF2-40B4-BE49-F238E27FC236}">
                <a16:creationId xmlns:a16="http://schemas.microsoft.com/office/drawing/2014/main" id="{ADF57F78-77DF-FEEF-4A74-7F646F08373A}"/>
              </a:ext>
            </a:extLst>
          </p:cNvPr>
          <p:cNvSpPr>
            <a:spLocks noChangeShapeType="1"/>
          </p:cNvSpPr>
          <p:nvPr/>
        </p:nvSpPr>
        <p:spPr bwMode="auto">
          <a:xfrm>
            <a:off x="5687568" y="4398867"/>
            <a:ext cx="2358776" cy="202713"/>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Rectangle 26">
            <a:extLst>
              <a:ext uri="{FF2B5EF4-FFF2-40B4-BE49-F238E27FC236}">
                <a16:creationId xmlns:a16="http://schemas.microsoft.com/office/drawing/2014/main" id="{F4594B16-F120-1456-1285-436D9F6B7E29}"/>
              </a:ext>
            </a:extLst>
          </p:cNvPr>
          <p:cNvSpPr>
            <a:spLocks noChangeArrowheads="1"/>
          </p:cNvSpPr>
          <p:nvPr/>
        </p:nvSpPr>
        <p:spPr bwMode="auto">
          <a:xfrm>
            <a:off x="7915379" y="4444746"/>
            <a:ext cx="2365589" cy="379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Processing Time = 45</a:t>
            </a:r>
            <a:r>
              <a:rPr lang="ja-JP" altLang="en-US" sz="1200" b="0"/>
              <a:t>”</a:t>
            </a:r>
            <a:endParaRPr lang="en-US" altLang="en-US" sz="1200" b="0" dirty="0"/>
          </a:p>
        </p:txBody>
      </p:sp>
      <p:sp>
        <p:nvSpPr>
          <p:cNvPr id="19" name="Rectangle 27">
            <a:extLst>
              <a:ext uri="{FF2B5EF4-FFF2-40B4-BE49-F238E27FC236}">
                <a16:creationId xmlns:a16="http://schemas.microsoft.com/office/drawing/2014/main" id="{DDD88058-C667-F7AD-A969-1B9BF3672CA4}"/>
              </a:ext>
            </a:extLst>
          </p:cNvPr>
          <p:cNvSpPr>
            <a:spLocks noChangeArrowheads="1"/>
          </p:cNvSpPr>
          <p:nvPr/>
        </p:nvSpPr>
        <p:spPr bwMode="auto">
          <a:xfrm>
            <a:off x="8110170" y="4728267"/>
            <a:ext cx="1172929" cy="379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DOI = 45</a:t>
            </a:r>
            <a:r>
              <a:rPr lang="ja-JP" altLang="en-US" sz="1200" b="0"/>
              <a:t>”</a:t>
            </a:r>
            <a:endParaRPr lang="en-US" altLang="en-US" sz="1200" b="0" dirty="0"/>
          </a:p>
        </p:txBody>
      </p:sp>
      <p:sp>
        <p:nvSpPr>
          <p:cNvPr id="21" name="Line 16">
            <a:extLst>
              <a:ext uri="{FF2B5EF4-FFF2-40B4-BE49-F238E27FC236}">
                <a16:creationId xmlns:a16="http://schemas.microsoft.com/office/drawing/2014/main" id="{EB9B9462-7B2F-05E2-1C6D-E703AB2621DA}"/>
              </a:ext>
            </a:extLst>
          </p:cNvPr>
          <p:cNvSpPr>
            <a:spLocks noChangeShapeType="1"/>
          </p:cNvSpPr>
          <p:nvPr/>
        </p:nvSpPr>
        <p:spPr bwMode="auto">
          <a:xfrm flipV="1">
            <a:off x="5687568" y="3216854"/>
            <a:ext cx="2614838" cy="202713"/>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8435647" y="2832413"/>
            <a:ext cx="1327078" cy="652407"/>
            <a:chOff x="4739" y="1684"/>
            <a:chExt cx="498"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45" y="1719"/>
              <a:ext cx="192"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1</a:t>
              </a:r>
            </a:p>
          </p:txBody>
        </p:sp>
      </p:grpSp>
      <p:grpSp>
        <p:nvGrpSpPr>
          <p:cNvPr id="33" name="Group 32">
            <a:extLst>
              <a:ext uri="{FF2B5EF4-FFF2-40B4-BE49-F238E27FC236}">
                <a16:creationId xmlns:a16="http://schemas.microsoft.com/office/drawing/2014/main" id="{E8A884D7-42AF-AC1B-E6D3-7CF650ADB637}"/>
              </a:ext>
            </a:extLst>
          </p:cNvPr>
          <p:cNvGrpSpPr/>
          <p:nvPr/>
        </p:nvGrpSpPr>
        <p:grpSpPr>
          <a:xfrm>
            <a:off x="940249" y="302538"/>
            <a:ext cx="6219503" cy="311932"/>
            <a:chOff x="940249" y="302538"/>
            <a:chExt cx="6219503" cy="311932"/>
          </a:xfrm>
        </p:grpSpPr>
        <p:sp>
          <p:nvSpPr>
            <p:cNvPr id="34" name="TextBox 33">
              <a:extLst>
                <a:ext uri="{FF2B5EF4-FFF2-40B4-BE49-F238E27FC236}">
                  <a16:creationId xmlns:a16="http://schemas.microsoft.com/office/drawing/2014/main" id="{8CBD9E03-A2A1-5BE7-EFFB-0A213646D54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5" name="AutoShape 9">
              <a:extLst>
                <a:ext uri="{FF2B5EF4-FFF2-40B4-BE49-F238E27FC236}">
                  <a16:creationId xmlns:a16="http://schemas.microsoft.com/office/drawing/2014/main" id="{45438122-B083-419F-9B2A-FE6712A5110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6" name="AutoShape 9">
              <a:extLst>
                <a:ext uri="{FF2B5EF4-FFF2-40B4-BE49-F238E27FC236}">
                  <a16:creationId xmlns:a16="http://schemas.microsoft.com/office/drawing/2014/main" id="{DCC446CF-7D8E-0B28-3216-058496DC4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FF1108F7-C565-F1EC-943B-3DFB9C41AA82}"/>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845D3DA3-499F-0269-BCE5-839FCA777CD9}"/>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11">
              <a:extLst>
                <a:ext uri="{FF2B5EF4-FFF2-40B4-BE49-F238E27FC236}">
                  <a16:creationId xmlns:a16="http://schemas.microsoft.com/office/drawing/2014/main" id="{E285F693-EF57-F5E9-C2A3-627F5994A3AD}"/>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0" name="Slide Number Placeholder 2">
            <a:extLst>
              <a:ext uri="{FF2B5EF4-FFF2-40B4-BE49-F238E27FC236}">
                <a16:creationId xmlns:a16="http://schemas.microsoft.com/office/drawing/2014/main" id="{93594C1D-41FA-872C-D4BD-D7B23A2C065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45</a:t>
            </a:fld>
            <a:endParaRPr lang="en-US" dirty="0"/>
          </a:p>
        </p:txBody>
      </p:sp>
    </p:spTree>
    <p:extLst>
      <p:ext uri="{BB962C8B-B14F-4D97-AF65-F5344CB8AC3E}">
        <p14:creationId xmlns:p14="http://schemas.microsoft.com/office/powerpoint/2010/main" val="153555447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5033688" cy="4351338"/>
          </a:xfrm>
        </p:spPr>
        <p:txBody>
          <a:bodyPr>
            <a:normAutofit lnSpcReduction="10000"/>
          </a:bodyPr>
          <a:lstStyle/>
          <a:p>
            <a:pPr>
              <a:lnSpc>
                <a:spcPct val="100000"/>
              </a:lnSpc>
            </a:pPr>
            <a:r>
              <a:rPr lang="en-US" sz="2400" b="1" dirty="0"/>
              <a:t>Application Processing - Generate Package</a:t>
            </a:r>
          </a:p>
          <a:p>
            <a:pPr lvl="1">
              <a:lnSpc>
                <a:spcPct val="100000"/>
              </a:lnSpc>
            </a:pPr>
            <a:r>
              <a:rPr lang="en-US" sz="2000" dirty="0"/>
              <a:t>Once the credit decision has </a:t>
            </a:r>
            <a:br>
              <a:rPr lang="en-US" sz="2000" dirty="0"/>
            </a:br>
            <a:r>
              <a:rPr lang="en-US" sz="2000" dirty="0"/>
              <a:t>been reached a personalized package is prepared by </a:t>
            </a:r>
            <a:r>
              <a:rPr lang="en-US" sz="2000" b="1" dirty="0">
                <a:solidFill>
                  <a:srgbClr val="EE3228"/>
                </a:solidFill>
              </a:rPr>
              <a:t>a clerk </a:t>
            </a:r>
            <a:r>
              <a:rPr lang="en-US" sz="2000" dirty="0"/>
              <a:t>outlining either the acceptance or rejection. </a:t>
            </a:r>
          </a:p>
          <a:p>
            <a:pPr lvl="1">
              <a:lnSpc>
                <a:spcPct val="100000"/>
              </a:lnSpc>
            </a:pPr>
            <a:r>
              <a:rPr lang="en-US" sz="2000" dirty="0"/>
              <a:t>It takes </a:t>
            </a:r>
            <a:r>
              <a:rPr lang="en-US" sz="2000" b="1" dirty="0">
                <a:solidFill>
                  <a:srgbClr val="EE3228"/>
                </a:solidFill>
              </a:rPr>
              <a:t>7 minutes </a:t>
            </a:r>
            <a:r>
              <a:rPr lang="en-US" sz="2000" dirty="0"/>
              <a:t>to prepare the package.</a:t>
            </a:r>
          </a:p>
          <a:p>
            <a:pPr lvl="1">
              <a:lnSpc>
                <a:spcPct val="100000"/>
              </a:lnSpc>
            </a:pPr>
            <a:r>
              <a:rPr lang="en-US" sz="2000" dirty="0"/>
              <a:t>The clerk has a </a:t>
            </a:r>
            <a:r>
              <a:rPr lang="en-US" sz="2000" b="1" dirty="0">
                <a:solidFill>
                  <a:srgbClr val="EE3228"/>
                </a:solidFill>
              </a:rPr>
              <a:t>97% accuracy </a:t>
            </a:r>
            <a:br>
              <a:rPr lang="en-US" sz="2000" b="1" dirty="0">
                <a:solidFill>
                  <a:srgbClr val="EE3228"/>
                </a:solidFill>
              </a:rPr>
            </a:br>
            <a:r>
              <a:rPr lang="en-US" sz="2000" dirty="0"/>
              <a:t>level in matching the credit information to the customer information and completing the package.</a:t>
            </a:r>
          </a:p>
          <a:p>
            <a:pPr>
              <a:lnSpc>
                <a:spcPct val="100000"/>
              </a:lnSpc>
            </a:pPr>
            <a:endParaRPr lang="en-US" sz="2400" dirty="0"/>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8116690"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7" name="Text Box 8">
            <a:extLst>
              <a:ext uri="{FF2B5EF4-FFF2-40B4-BE49-F238E27FC236}">
                <a16:creationId xmlns:a16="http://schemas.microsoft.com/office/drawing/2014/main" id="{0A19107D-4D39-2AC7-C3C3-85549D9A8E29}"/>
              </a:ext>
            </a:extLst>
          </p:cNvPr>
          <p:cNvSpPr txBox="1">
            <a:spLocks noChangeArrowheads="1"/>
          </p:cNvSpPr>
          <p:nvPr/>
        </p:nvSpPr>
        <p:spPr bwMode="auto">
          <a:xfrm>
            <a:off x="8180189" y="1825625"/>
            <a:ext cx="2166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Process Box</a:t>
            </a:r>
          </a:p>
        </p:txBody>
      </p:sp>
      <p:sp>
        <p:nvSpPr>
          <p:cNvPr id="8" name="Rectangle 9">
            <a:extLst>
              <a:ext uri="{FF2B5EF4-FFF2-40B4-BE49-F238E27FC236}">
                <a16:creationId xmlns:a16="http://schemas.microsoft.com/office/drawing/2014/main" id="{7F4ED96C-F00A-8061-668E-4914CBA28E55}"/>
              </a:ext>
            </a:extLst>
          </p:cNvPr>
          <p:cNvSpPr>
            <a:spLocks noChangeArrowheads="1"/>
          </p:cNvSpPr>
          <p:nvPr/>
        </p:nvSpPr>
        <p:spPr bwMode="auto">
          <a:xfrm>
            <a:off x="8113254" y="4240041"/>
            <a:ext cx="2418207" cy="128293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Text Box 10">
            <a:extLst>
              <a:ext uri="{FF2B5EF4-FFF2-40B4-BE49-F238E27FC236}">
                <a16:creationId xmlns:a16="http://schemas.microsoft.com/office/drawing/2014/main" id="{6B1635D1-A4D5-754D-8C78-197860AEA498}"/>
              </a:ext>
            </a:extLst>
          </p:cNvPr>
          <p:cNvSpPr txBox="1">
            <a:spLocks noChangeArrowheads="1"/>
          </p:cNvSpPr>
          <p:nvPr/>
        </p:nvSpPr>
        <p:spPr bwMode="auto">
          <a:xfrm>
            <a:off x="8435647" y="3910226"/>
            <a:ext cx="1622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Data Box</a:t>
            </a:r>
          </a:p>
        </p:txBody>
      </p:sp>
      <p:sp>
        <p:nvSpPr>
          <p:cNvPr id="11" name="Line 18">
            <a:extLst>
              <a:ext uri="{FF2B5EF4-FFF2-40B4-BE49-F238E27FC236}">
                <a16:creationId xmlns:a16="http://schemas.microsoft.com/office/drawing/2014/main" id="{DC92621F-AA78-ADB5-DC9B-6AFADB16FFEC}"/>
              </a:ext>
            </a:extLst>
          </p:cNvPr>
          <p:cNvSpPr>
            <a:spLocks noChangeShapeType="1"/>
          </p:cNvSpPr>
          <p:nvPr/>
        </p:nvSpPr>
        <p:spPr bwMode="auto">
          <a:xfrm>
            <a:off x="4075310" y="2382466"/>
            <a:ext cx="3971033" cy="76668"/>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8157288"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Generate Package</a:t>
            </a:r>
          </a:p>
        </p:txBody>
      </p:sp>
      <p:sp>
        <p:nvSpPr>
          <p:cNvPr id="14" name="Line 22">
            <a:extLst>
              <a:ext uri="{FF2B5EF4-FFF2-40B4-BE49-F238E27FC236}">
                <a16:creationId xmlns:a16="http://schemas.microsoft.com/office/drawing/2014/main" id="{180A5B0C-6179-8161-4D41-C2B3E464421E}"/>
              </a:ext>
            </a:extLst>
          </p:cNvPr>
          <p:cNvSpPr>
            <a:spLocks noChangeShapeType="1"/>
          </p:cNvSpPr>
          <p:nvPr/>
        </p:nvSpPr>
        <p:spPr bwMode="auto">
          <a:xfrm>
            <a:off x="5404103" y="4723322"/>
            <a:ext cx="2642241" cy="392292"/>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Text Box 23">
            <a:extLst>
              <a:ext uri="{FF2B5EF4-FFF2-40B4-BE49-F238E27FC236}">
                <a16:creationId xmlns:a16="http://schemas.microsoft.com/office/drawing/2014/main" id="{9DDB2C5D-ECC4-977F-5114-B7517E0D89AF}"/>
              </a:ext>
            </a:extLst>
          </p:cNvPr>
          <p:cNvSpPr txBox="1">
            <a:spLocks noChangeArrowheads="1"/>
          </p:cNvSpPr>
          <p:nvPr/>
        </p:nvSpPr>
        <p:spPr bwMode="auto">
          <a:xfrm>
            <a:off x="8213169" y="5035947"/>
            <a:ext cx="2150735" cy="300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dirty="0"/>
              <a:t>Quality = 97%</a:t>
            </a:r>
          </a:p>
        </p:txBody>
      </p:sp>
      <p:sp>
        <p:nvSpPr>
          <p:cNvPr id="17" name="Line 25">
            <a:extLst>
              <a:ext uri="{FF2B5EF4-FFF2-40B4-BE49-F238E27FC236}">
                <a16:creationId xmlns:a16="http://schemas.microsoft.com/office/drawing/2014/main" id="{ADF57F78-77DF-FEEF-4A74-7F646F08373A}"/>
              </a:ext>
            </a:extLst>
          </p:cNvPr>
          <p:cNvSpPr>
            <a:spLocks noChangeShapeType="1"/>
          </p:cNvSpPr>
          <p:nvPr/>
        </p:nvSpPr>
        <p:spPr bwMode="auto">
          <a:xfrm>
            <a:off x="5687568" y="4398867"/>
            <a:ext cx="2358776" cy="202713"/>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Rectangle 26">
            <a:extLst>
              <a:ext uri="{FF2B5EF4-FFF2-40B4-BE49-F238E27FC236}">
                <a16:creationId xmlns:a16="http://schemas.microsoft.com/office/drawing/2014/main" id="{F4594B16-F120-1456-1285-436D9F6B7E29}"/>
              </a:ext>
            </a:extLst>
          </p:cNvPr>
          <p:cNvSpPr>
            <a:spLocks noChangeArrowheads="1"/>
          </p:cNvSpPr>
          <p:nvPr/>
        </p:nvSpPr>
        <p:spPr bwMode="auto">
          <a:xfrm>
            <a:off x="8184527" y="4444746"/>
            <a:ext cx="1827295"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Processing Time = 420</a:t>
            </a:r>
            <a:r>
              <a:rPr lang="ja-JP" altLang="en-US" sz="1200" b="0"/>
              <a:t>”</a:t>
            </a:r>
            <a:endParaRPr lang="en-US" altLang="en-US" sz="1200" b="0" dirty="0"/>
          </a:p>
        </p:txBody>
      </p:sp>
      <p:sp>
        <p:nvSpPr>
          <p:cNvPr id="19" name="Rectangle 27">
            <a:extLst>
              <a:ext uri="{FF2B5EF4-FFF2-40B4-BE49-F238E27FC236}">
                <a16:creationId xmlns:a16="http://schemas.microsoft.com/office/drawing/2014/main" id="{DDD88058-C667-F7AD-A969-1B9BF3672CA4}"/>
              </a:ext>
            </a:extLst>
          </p:cNvPr>
          <p:cNvSpPr>
            <a:spLocks noChangeArrowheads="1"/>
          </p:cNvSpPr>
          <p:nvPr/>
        </p:nvSpPr>
        <p:spPr bwMode="auto">
          <a:xfrm>
            <a:off x="8213169" y="4728267"/>
            <a:ext cx="966931"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DOI = 420</a:t>
            </a:r>
            <a:r>
              <a:rPr lang="ja-JP" altLang="en-US" sz="1200" b="0"/>
              <a:t>”</a:t>
            </a:r>
            <a:endParaRPr lang="en-US" altLang="en-US" sz="1200" b="0" dirty="0"/>
          </a:p>
        </p:txBody>
      </p:sp>
      <p:sp>
        <p:nvSpPr>
          <p:cNvPr id="21" name="Line 16">
            <a:extLst>
              <a:ext uri="{FF2B5EF4-FFF2-40B4-BE49-F238E27FC236}">
                <a16:creationId xmlns:a16="http://schemas.microsoft.com/office/drawing/2014/main" id="{EB9B9462-7B2F-05E2-1C6D-E703AB2621DA}"/>
              </a:ext>
            </a:extLst>
          </p:cNvPr>
          <p:cNvSpPr>
            <a:spLocks noChangeShapeType="1"/>
          </p:cNvSpPr>
          <p:nvPr/>
        </p:nvSpPr>
        <p:spPr bwMode="auto">
          <a:xfrm flipV="1">
            <a:off x="5166360" y="3216854"/>
            <a:ext cx="3136046" cy="76668"/>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8435647" y="2832413"/>
            <a:ext cx="1327078" cy="652407"/>
            <a:chOff x="4739" y="1684"/>
            <a:chExt cx="498"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45" y="1719"/>
              <a:ext cx="192"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1</a:t>
              </a:r>
            </a:p>
          </p:txBody>
        </p:sp>
      </p:grpSp>
      <p:sp>
        <p:nvSpPr>
          <p:cNvPr id="10" name="Text Box 58">
            <a:extLst>
              <a:ext uri="{FF2B5EF4-FFF2-40B4-BE49-F238E27FC236}">
                <a16:creationId xmlns:a16="http://schemas.microsoft.com/office/drawing/2014/main" id="{3F476614-F48F-6F62-2E6B-D12FB1665A3D}"/>
              </a:ext>
            </a:extLst>
          </p:cNvPr>
          <p:cNvSpPr txBox="1">
            <a:spLocks noChangeArrowheads="1"/>
          </p:cNvSpPr>
          <p:nvPr/>
        </p:nvSpPr>
        <p:spPr bwMode="auto">
          <a:xfrm>
            <a:off x="6703610" y="5857681"/>
            <a:ext cx="38227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200">
                <a:latin typeface="Roboto" panose="02000000000000000000" pitchFamily="2" charset="0"/>
                <a:ea typeface="Roboto" panose="02000000000000000000" pitchFamily="2" charset="0"/>
                <a:cs typeface="Roboto" panose="02000000000000000000" pitchFamily="2" charset="0"/>
              </a:rPr>
              <a:t>Drop Off Interval (DOI) is an observed value</a:t>
            </a:r>
          </a:p>
        </p:txBody>
      </p:sp>
      <p:grpSp>
        <p:nvGrpSpPr>
          <p:cNvPr id="30" name="Group 29">
            <a:extLst>
              <a:ext uri="{FF2B5EF4-FFF2-40B4-BE49-F238E27FC236}">
                <a16:creationId xmlns:a16="http://schemas.microsoft.com/office/drawing/2014/main" id="{43B80E13-9234-5CE8-0667-E31D3D839AA9}"/>
              </a:ext>
            </a:extLst>
          </p:cNvPr>
          <p:cNvGrpSpPr/>
          <p:nvPr/>
        </p:nvGrpSpPr>
        <p:grpSpPr>
          <a:xfrm>
            <a:off x="940249" y="302538"/>
            <a:ext cx="6219503" cy="311932"/>
            <a:chOff x="940249" y="302538"/>
            <a:chExt cx="6219503" cy="311932"/>
          </a:xfrm>
        </p:grpSpPr>
        <p:sp>
          <p:nvSpPr>
            <p:cNvPr id="31" name="TextBox 30">
              <a:extLst>
                <a:ext uri="{FF2B5EF4-FFF2-40B4-BE49-F238E27FC236}">
                  <a16:creationId xmlns:a16="http://schemas.microsoft.com/office/drawing/2014/main" id="{6CA62373-A7A7-0191-F4A4-9175235200A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2" name="AutoShape 9">
              <a:extLst>
                <a:ext uri="{FF2B5EF4-FFF2-40B4-BE49-F238E27FC236}">
                  <a16:creationId xmlns:a16="http://schemas.microsoft.com/office/drawing/2014/main" id="{21FBF411-D8AB-662D-F82B-94DF06861F5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3" name="AutoShape 9">
              <a:extLst>
                <a:ext uri="{FF2B5EF4-FFF2-40B4-BE49-F238E27FC236}">
                  <a16:creationId xmlns:a16="http://schemas.microsoft.com/office/drawing/2014/main" id="{C284F013-9299-EE00-1E56-500DA0B0DDAD}"/>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4" name="AutoShape 9">
              <a:extLst>
                <a:ext uri="{FF2B5EF4-FFF2-40B4-BE49-F238E27FC236}">
                  <a16:creationId xmlns:a16="http://schemas.microsoft.com/office/drawing/2014/main" id="{3799EFDE-DABC-9438-7705-7DB45946861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5" name="AutoShape 9">
              <a:extLst>
                <a:ext uri="{FF2B5EF4-FFF2-40B4-BE49-F238E27FC236}">
                  <a16:creationId xmlns:a16="http://schemas.microsoft.com/office/drawing/2014/main" id="{A3E2925A-F01F-8D68-0A40-44C8E0FF6EB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6" name="AutoShape 11">
              <a:extLst>
                <a:ext uri="{FF2B5EF4-FFF2-40B4-BE49-F238E27FC236}">
                  <a16:creationId xmlns:a16="http://schemas.microsoft.com/office/drawing/2014/main" id="{B77CF141-0216-B701-95FA-E46E60719F6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37" name="Slide Number Placeholder 2">
            <a:extLst>
              <a:ext uri="{FF2B5EF4-FFF2-40B4-BE49-F238E27FC236}">
                <a16:creationId xmlns:a16="http://schemas.microsoft.com/office/drawing/2014/main" id="{BCE576F1-E1BF-896F-0BA0-9BB2F8B253BE}"/>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46</a:t>
            </a:fld>
            <a:endParaRPr lang="en-US" dirty="0"/>
          </a:p>
        </p:txBody>
      </p:sp>
    </p:spTree>
    <p:extLst>
      <p:ext uri="{BB962C8B-B14F-4D97-AF65-F5344CB8AC3E}">
        <p14:creationId xmlns:p14="http://schemas.microsoft.com/office/powerpoint/2010/main" val="76173514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4849368" cy="4351338"/>
          </a:xfrm>
        </p:spPr>
        <p:txBody>
          <a:bodyPr>
            <a:normAutofit fontScale="92500" lnSpcReduction="10000"/>
          </a:bodyPr>
          <a:lstStyle/>
          <a:p>
            <a:pPr>
              <a:lnSpc>
                <a:spcPct val="110000"/>
              </a:lnSpc>
            </a:pPr>
            <a:r>
              <a:rPr lang="en-US" sz="2400" b="1" dirty="0"/>
              <a:t>Application Processing - Underwriting</a:t>
            </a:r>
          </a:p>
          <a:p>
            <a:pPr lvl="1">
              <a:lnSpc>
                <a:spcPct val="110000"/>
              </a:lnSpc>
            </a:pPr>
            <a:r>
              <a:rPr lang="en-US" sz="1900" dirty="0"/>
              <a:t>All applications that successfully go through credit check are sent to </a:t>
            </a:r>
            <a:br>
              <a:rPr lang="en-US" sz="1900" dirty="0"/>
            </a:br>
            <a:r>
              <a:rPr lang="en-US" sz="1900" b="1" dirty="0">
                <a:solidFill>
                  <a:srgbClr val="EE3228"/>
                </a:solidFill>
              </a:rPr>
              <a:t>one of two senior underwriters</a:t>
            </a:r>
            <a:r>
              <a:rPr lang="en-US" sz="1900" dirty="0"/>
              <a:t> who determine the credit worthiness and limit </a:t>
            </a:r>
          </a:p>
          <a:p>
            <a:pPr lvl="1">
              <a:lnSpc>
                <a:spcPct val="110000"/>
              </a:lnSpc>
            </a:pPr>
            <a:r>
              <a:rPr lang="en-US" sz="1900" dirty="0"/>
              <a:t>It takes an average of </a:t>
            </a:r>
            <a:r>
              <a:rPr lang="en-US" sz="1900" b="1" dirty="0">
                <a:solidFill>
                  <a:srgbClr val="EE3228"/>
                </a:solidFill>
              </a:rPr>
              <a:t>12 minutes</a:t>
            </a:r>
            <a:r>
              <a:rPr lang="en-US" sz="1900" dirty="0"/>
              <a:t> </a:t>
            </a:r>
            <a:br>
              <a:rPr lang="en-US" sz="1900" dirty="0"/>
            </a:br>
            <a:r>
              <a:rPr lang="en-US" sz="1900" dirty="0"/>
              <a:t>to review the file and come to a credit decision.</a:t>
            </a:r>
          </a:p>
          <a:p>
            <a:pPr lvl="1">
              <a:lnSpc>
                <a:spcPct val="110000"/>
              </a:lnSpc>
            </a:pPr>
            <a:r>
              <a:rPr lang="en-US" sz="1900" b="1" dirty="0">
                <a:solidFill>
                  <a:srgbClr val="EE3228"/>
                </a:solidFill>
              </a:rPr>
              <a:t>65% of the time the application cannot receive a credit decision during its first review due </a:t>
            </a:r>
            <a:r>
              <a:rPr lang="en-US" sz="1900" dirty="0"/>
              <a:t>to inaccurate, incorrect, or incomplete information. </a:t>
            </a:r>
          </a:p>
          <a:p>
            <a:pPr lvl="1">
              <a:lnSpc>
                <a:spcPct val="110000"/>
              </a:lnSpc>
            </a:pPr>
            <a:endParaRPr lang="en-US" sz="2000" dirty="0"/>
          </a:p>
          <a:p>
            <a:pPr>
              <a:lnSpc>
                <a:spcPct val="110000"/>
              </a:lnSpc>
            </a:pPr>
            <a:endParaRPr lang="en-US" sz="2400" dirty="0"/>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8116690"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7" name="Text Box 8">
            <a:extLst>
              <a:ext uri="{FF2B5EF4-FFF2-40B4-BE49-F238E27FC236}">
                <a16:creationId xmlns:a16="http://schemas.microsoft.com/office/drawing/2014/main" id="{0A19107D-4D39-2AC7-C3C3-85549D9A8E29}"/>
              </a:ext>
            </a:extLst>
          </p:cNvPr>
          <p:cNvSpPr txBox="1">
            <a:spLocks noChangeArrowheads="1"/>
          </p:cNvSpPr>
          <p:nvPr/>
        </p:nvSpPr>
        <p:spPr bwMode="auto">
          <a:xfrm>
            <a:off x="8180189" y="1825625"/>
            <a:ext cx="2166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Process Box</a:t>
            </a:r>
          </a:p>
        </p:txBody>
      </p:sp>
      <p:sp>
        <p:nvSpPr>
          <p:cNvPr id="8" name="Rectangle 9">
            <a:extLst>
              <a:ext uri="{FF2B5EF4-FFF2-40B4-BE49-F238E27FC236}">
                <a16:creationId xmlns:a16="http://schemas.microsoft.com/office/drawing/2014/main" id="{7F4ED96C-F00A-8061-668E-4914CBA28E55}"/>
              </a:ext>
            </a:extLst>
          </p:cNvPr>
          <p:cNvSpPr>
            <a:spLocks noChangeArrowheads="1"/>
          </p:cNvSpPr>
          <p:nvPr/>
        </p:nvSpPr>
        <p:spPr bwMode="auto">
          <a:xfrm>
            <a:off x="8113254" y="4240041"/>
            <a:ext cx="2418207" cy="128293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Text Box 10">
            <a:extLst>
              <a:ext uri="{FF2B5EF4-FFF2-40B4-BE49-F238E27FC236}">
                <a16:creationId xmlns:a16="http://schemas.microsoft.com/office/drawing/2014/main" id="{6B1635D1-A4D5-754D-8C78-197860AEA498}"/>
              </a:ext>
            </a:extLst>
          </p:cNvPr>
          <p:cNvSpPr txBox="1">
            <a:spLocks noChangeArrowheads="1"/>
          </p:cNvSpPr>
          <p:nvPr/>
        </p:nvSpPr>
        <p:spPr bwMode="auto">
          <a:xfrm>
            <a:off x="8435647" y="3910226"/>
            <a:ext cx="1622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Data Box</a:t>
            </a:r>
          </a:p>
        </p:txBody>
      </p:sp>
      <p:sp>
        <p:nvSpPr>
          <p:cNvPr id="11" name="Line 18">
            <a:extLst>
              <a:ext uri="{FF2B5EF4-FFF2-40B4-BE49-F238E27FC236}">
                <a16:creationId xmlns:a16="http://schemas.microsoft.com/office/drawing/2014/main" id="{DC92621F-AA78-ADB5-DC9B-6AFADB16FFEC}"/>
              </a:ext>
            </a:extLst>
          </p:cNvPr>
          <p:cNvSpPr>
            <a:spLocks noChangeShapeType="1"/>
          </p:cNvSpPr>
          <p:nvPr/>
        </p:nvSpPr>
        <p:spPr bwMode="auto">
          <a:xfrm>
            <a:off x="4617720" y="2204722"/>
            <a:ext cx="3428623" cy="254412"/>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8157288"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Underwriting</a:t>
            </a:r>
          </a:p>
        </p:txBody>
      </p:sp>
      <p:sp>
        <p:nvSpPr>
          <p:cNvPr id="14" name="Line 22">
            <a:extLst>
              <a:ext uri="{FF2B5EF4-FFF2-40B4-BE49-F238E27FC236}">
                <a16:creationId xmlns:a16="http://schemas.microsoft.com/office/drawing/2014/main" id="{180A5B0C-6179-8161-4D41-C2B3E464421E}"/>
              </a:ext>
            </a:extLst>
          </p:cNvPr>
          <p:cNvSpPr>
            <a:spLocks noChangeShapeType="1"/>
          </p:cNvSpPr>
          <p:nvPr/>
        </p:nvSpPr>
        <p:spPr bwMode="auto">
          <a:xfrm>
            <a:off x="5340097" y="5115614"/>
            <a:ext cx="2706248" cy="0"/>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Text Box 23">
            <a:extLst>
              <a:ext uri="{FF2B5EF4-FFF2-40B4-BE49-F238E27FC236}">
                <a16:creationId xmlns:a16="http://schemas.microsoft.com/office/drawing/2014/main" id="{9DDB2C5D-ECC4-977F-5114-B7517E0D89AF}"/>
              </a:ext>
            </a:extLst>
          </p:cNvPr>
          <p:cNvSpPr txBox="1">
            <a:spLocks noChangeArrowheads="1"/>
          </p:cNvSpPr>
          <p:nvPr/>
        </p:nvSpPr>
        <p:spPr bwMode="auto">
          <a:xfrm>
            <a:off x="8213169" y="5035947"/>
            <a:ext cx="2150735" cy="300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dirty="0"/>
              <a:t>Quality = 35%</a:t>
            </a:r>
          </a:p>
        </p:txBody>
      </p:sp>
      <p:sp>
        <p:nvSpPr>
          <p:cNvPr id="17" name="Line 25">
            <a:extLst>
              <a:ext uri="{FF2B5EF4-FFF2-40B4-BE49-F238E27FC236}">
                <a16:creationId xmlns:a16="http://schemas.microsoft.com/office/drawing/2014/main" id="{ADF57F78-77DF-FEEF-4A74-7F646F08373A}"/>
              </a:ext>
            </a:extLst>
          </p:cNvPr>
          <p:cNvSpPr>
            <a:spLocks noChangeShapeType="1"/>
          </p:cNvSpPr>
          <p:nvPr/>
        </p:nvSpPr>
        <p:spPr bwMode="auto">
          <a:xfrm>
            <a:off x="5193792" y="4180192"/>
            <a:ext cx="2852553" cy="421388"/>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Rectangle 26">
            <a:extLst>
              <a:ext uri="{FF2B5EF4-FFF2-40B4-BE49-F238E27FC236}">
                <a16:creationId xmlns:a16="http://schemas.microsoft.com/office/drawing/2014/main" id="{F4594B16-F120-1456-1285-436D9F6B7E29}"/>
              </a:ext>
            </a:extLst>
          </p:cNvPr>
          <p:cNvSpPr>
            <a:spLocks noChangeArrowheads="1"/>
          </p:cNvSpPr>
          <p:nvPr/>
        </p:nvSpPr>
        <p:spPr bwMode="auto">
          <a:xfrm>
            <a:off x="8184527" y="4444746"/>
            <a:ext cx="1827295"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Processing Time = 720</a:t>
            </a:r>
            <a:r>
              <a:rPr lang="ja-JP" altLang="en-US" sz="1200" b="0"/>
              <a:t>”</a:t>
            </a:r>
            <a:endParaRPr lang="en-US" altLang="en-US" sz="1200" b="0" dirty="0"/>
          </a:p>
        </p:txBody>
      </p:sp>
      <p:sp>
        <p:nvSpPr>
          <p:cNvPr id="19" name="Rectangle 27">
            <a:extLst>
              <a:ext uri="{FF2B5EF4-FFF2-40B4-BE49-F238E27FC236}">
                <a16:creationId xmlns:a16="http://schemas.microsoft.com/office/drawing/2014/main" id="{DDD88058-C667-F7AD-A969-1B9BF3672CA4}"/>
              </a:ext>
            </a:extLst>
          </p:cNvPr>
          <p:cNvSpPr>
            <a:spLocks noChangeArrowheads="1"/>
          </p:cNvSpPr>
          <p:nvPr/>
        </p:nvSpPr>
        <p:spPr bwMode="auto">
          <a:xfrm>
            <a:off x="8213169" y="4728267"/>
            <a:ext cx="966931"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DOI = 365</a:t>
            </a:r>
            <a:r>
              <a:rPr lang="ja-JP" altLang="en-US" sz="1200" b="0"/>
              <a:t>”</a:t>
            </a:r>
            <a:endParaRPr lang="en-US" altLang="en-US" sz="1200" b="0" dirty="0"/>
          </a:p>
        </p:txBody>
      </p:sp>
      <p:sp>
        <p:nvSpPr>
          <p:cNvPr id="21" name="Line 16">
            <a:extLst>
              <a:ext uri="{FF2B5EF4-FFF2-40B4-BE49-F238E27FC236}">
                <a16:creationId xmlns:a16="http://schemas.microsoft.com/office/drawing/2014/main" id="{EB9B9462-7B2F-05E2-1C6D-E703AB2621DA}"/>
              </a:ext>
            </a:extLst>
          </p:cNvPr>
          <p:cNvSpPr>
            <a:spLocks noChangeShapeType="1"/>
          </p:cNvSpPr>
          <p:nvPr/>
        </p:nvSpPr>
        <p:spPr bwMode="auto">
          <a:xfrm>
            <a:off x="5596158" y="3147738"/>
            <a:ext cx="2706248" cy="69115"/>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8435651" y="2832413"/>
            <a:ext cx="1289771" cy="652407"/>
            <a:chOff x="4739" y="1684"/>
            <a:chExt cx="484"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31" y="1757"/>
              <a:ext cx="192"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2</a:t>
              </a:r>
            </a:p>
          </p:txBody>
        </p:sp>
      </p:grpSp>
      <p:sp>
        <p:nvSpPr>
          <p:cNvPr id="10" name="Text Box 58">
            <a:extLst>
              <a:ext uri="{FF2B5EF4-FFF2-40B4-BE49-F238E27FC236}">
                <a16:creationId xmlns:a16="http://schemas.microsoft.com/office/drawing/2014/main" id="{3F476614-F48F-6F62-2E6B-D12FB1665A3D}"/>
              </a:ext>
            </a:extLst>
          </p:cNvPr>
          <p:cNvSpPr txBox="1">
            <a:spLocks noChangeArrowheads="1"/>
          </p:cNvSpPr>
          <p:nvPr/>
        </p:nvSpPr>
        <p:spPr bwMode="auto">
          <a:xfrm>
            <a:off x="6703610" y="5857681"/>
            <a:ext cx="38227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Drop Off Interval (DOI) is an observed value</a:t>
            </a:r>
          </a:p>
        </p:txBody>
      </p:sp>
      <p:grpSp>
        <p:nvGrpSpPr>
          <p:cNvPr id="32" name="Group 31">
            <a:extLst>
              <a:ext uri="{FF2B5EF4-FFF2-40B4-BE49-F238E27FC236}">
                <a16:creationId xmlns:a16="http://schemas.microsoft.com/office/drawing/2014/main" id="{8866424F-5920-0A7C-28A6-8FCC410C03B3}"/>
              </a:ext>
            </a:extLst>
          </p:cNvPr>
          <p:cNvGrpSpPr/>
          <p:nvPr/>
        </p:nvGrpSpPr>
        <p:grpSpPr>
          <a:xfrm>
            <a:off x="940249" y="302538"/>
            <a:ext cx="6219503" cy="311932"/>
            <a:chOff x="940249" y="302538"/>
            <a:chExt cx="6219503" cy="311932"/>
          </a:xfrm>
        </p:grpSpPr>
        <p:sp>
          <p:nvSpPr>
            <p:cNvPr id="30" name="TextBox 29">
              <a:extLst>
                <a:ext uri="{FF2B5EF4-FFF2-40B4-BE49-F238E27FC236}">
                  <a16:creationId xmlns:a16="http://schemas.microsoft.com/office/drawing/2014/main" id="{D664D085-7CB7-C1B6-B603-4DA2D2982CB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1" name="AutoShape 9">
              <a:extLst>
                <a:ext uri="{FF2B5EF4-FFF2-40B4-BE49-F238E27FC236}">
                  <a16:creationId xmlns:a16="http://schemas.microsoft.com/office/drawing/2014/main" id="{9E458E12-5759-3432-3209-D189CADB269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E0B9FE56-991D-C7C8-D645-25F08508953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C4CA64A1-183D-ECDE-A2FF-17DEA8BBD25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494C6594-FBCD-ED1D-4692-1E599D9E529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11">
              <a:extLst>
                <a:ext uri="{FF2B5EF4-FFF2-40B4-BE49-F238E27FC236}">
                  <a16:creationId xmlns:a16="http://schemas.microsoft.com/office/drawing/2014/main" id="{ABEF1BD1-F39B-FEF3-B7AC-AFF044052FA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33" name="Slide Number Placeholder 2">
            <a:extLst>
              <a:ext uri="{FF2B5EF4-FFF2-40B4-BE49-F238E27FC236}">
                <a16:creationId xmlns:a16="http://schemas.microsoft.com/office/drawing/2014/main" id="{44BB2466-309E-C345-FF91-B7D9023C1208}"/>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47</a:t>
            </a:fld>
            <a:endParaRPr lang="en-US"/>
          </a:p>
        </p:txBody>
      </p:sp>
      <p:sp>
        <p:nvSpPr>
          <p:cNvPr id="34" name="Slide Number Placeholder 2">
            <a:extLst>
              <a:ext uri="{FF2B5EF4-FFF2-40B4-BE49-F238E27FC236}">
                <a16:creationId xmlns:a16="http://schemas.microsoft.com/office/drawing/2014/main" id="{0B2731FE-6DD0-825B-CD6D-13B4AE62D5F5}"/>
              </a:ext>
            </a:extLst>
          </p:cNvPr>
          <p:cNvSpPr txBox="1">
            <a:spLocks/>
          </p:cNvSpPr>
          <p:nvPr/>
        </p:nvSpPr>
        <p:spPr>
          <a:xfrm>
            <a:off x="8747478" y="65390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47</a:t>
            </a:fld>
            <a:endParaRPr lang="en-US" dirty="0"/>
          </a:p>
        </p:txBody>
      </p:sp>
    </p:spTree>
    <p:extLst>
      <p:ext uri="{BB962C8B-B14F-4D97-AF65-F5344CB8AC3E}">
        <p14:creationId xmlns:p14="http://schemas.microsoft.com/office/powerpoint/2010/main" val="104671908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4849368" cy="4351338"/>
          </a:xfrm>
        </p:spPr>
        <p:txBody>
          <a:bodyPr>
            <a:normAutofit/>
          </a:bodyPr>
          <a:lstStyle/>
          <a:p>
            <a:pPr>
              <a:lnSpc>
                <a:spcPct val="110000"/>
              </a:lnSpc>
            </a:pPr>
            <a:r>
              <a:rPr lang="en-US" sz="2400" b="1" dirty="0"/>
              <a:t>Application Processing – </a:t>
            </a:r>
            <a:br>
              <a:rPr lang="en-US" sz="2400" b="1" dirty="0"/>
            </a:br>
            <a:r>
              <a:rPr lang="en-US" sz="2400" b="1" dirty="0"/>
              <a:t>Data Entry</a:t>
            </a:r>
          </a:p>
          <a:p>
            <a:pPr lvl="1">
              <a:lnSpc>
                <a:spcPct val="110000"/>
              </a:lnSpc>
            </a:pPr>
            <a:r>
              <a:rPr lang="en-US" sz="1900" dirty="0"/>
              <a:t>The application information is entered into a central data base by </a:t>
            </a:r>
            <a:r>
              <a:rPr lang="en-US" sz="1900" b="1" dirty="0">
                <a:solidFill>
                  <a:srgbClr val="EE3228"/>
                </a:solidFill>
              </a:rPr>
              <a:t>one of five data entry clerks.</a:t>
            </a:r>
          </a:p>
          <a:p>
            <a:pPr lvl="1">
              <a:lnSpc>
                <a:spcPct val="110000"/>
              </a:lnSpc>
            </a:pPr>
            <a:r>
              <a:rPr lang="en-US" sz="1900" dirty="0"/>
              <a:t>It takes the clerks </a:t>
            </a:r>
            <a:r>
              <a:rPr lang="en-US" sz="1900" b="1" dirty="0">
                <a:solidFill>
                  <a:srgbClr val="EE3228"/>
                </a:solidFill>
              </a:rPr>
              <a:t>13 minutes </a:t>
            </a:r>
            <a:r>
              <a:rPr lang="en-US" sz="1900" dirty="0"/>
              <a:t>to enter the data and they do so with </a:t>
            </a:r>
            <a:r>
              <a:rPr lang="en-US" sz="1900" b="1" dirty="0">
                <a:solidFill>
                  <a:srgbClr val="EE3228"/>
                </a:solidFill>
              </a:rPr>
              <a:t>98% accuracy</a:t>
            </a:r>
            <a:r>
              <a:rPr lang="en-US" sz="1900" dirty="0"/>
              <a:t>.</a:t>
            </a:r>
          </a:p>
          <a:p>
            <a:pPr lvl="1">
              <a:lnSpc>
                <a:spcPct val="110000"/>
              </a:lnSpc>
            </a:pPr>
            <a:r>
              <a:rPr lang="en-US" sz="1900" dirty="0"/>
              <a:t>Once entered into the central data base it is submitted for automated credit check and scoring.  </a:t>
            </a:r>
          </a:p>
          <a:p>
            <a:pPr lvl="1">
              <a:lnSpc>
                <a:spcPct val="110000"/>
              </a:lnSpc>
            </a:pPr>
            <a:endParaRPr lang="en-US" sz="1900" dirty="0"/>
          </a:p>
          <a:p>
            <a:pPr lvl="1">
              <a:lnSpc>
                <a:spcPct val="110000"/>
              </a:lnSpc>
            </a:pPr>
            <a:endParaRPr lang="en-US" sz="2000" dirty="0"/>
          </a:p>
          <a:p>
            <a:pPr>
              <a:lnSpc>
                <a:spcPct val="110000"/>
              </a:lnSpc>
            </a:pPr>
            <a:endParaRPr lang="en-US" sz="2400" dirty="0"/>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8116690"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7" name="Text Box 8">
            <a:extLst>
              <a:ext uri="{FF2B5EF4-FFF2-40B4-BE49-F238E27FC236}">
                <a16:creationId xmlns:a16="http://schemas.microsoft.com/office/drawing/2014/main" id="{0A19107D-4D39-2AC7-C3C3-85549D9A8E29}"/>
              </a:ext>
            </a:extLst>
          </p:cNvPr>
          <p:cNvSpPr txBox="1">
            <a:spLocks noChangeArrowheads="1"/>
          </p:cNvSpPr>
          <p:nvPr/>
        </p:nvSpPr>
        <p:spPr bwMode="auto">
          <a:xfrm>
            <a:off x="8180189" y="1825625"/>
            <a:ext cx="2166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Process Box</a:t>
            </a:r>
          </a:p>
        </p:txBody>
      </p:sp>
      <p:sp>
        <p:nvSpPr>
          <p:cNvPr id="8" name="Rectangle 9">
            <a:extLst>
              <a:ext uri="{FF2B5EF4-FFF2-40B4-BE49-F238E27FC236}">
                <a16:creationId xmlns:a16="http://schemas.microsoft.com/office/drawing/2014/main" id="{7F4ED96C-F00A-8061-668E-4914CBA28E55}"/>
              </a:ext>
            </a:extLst>
          </p:cNvPr>
          <p:cNvSpPr>
            <a:spLocks noChangeArrowheads="1"/>
          </p:cNvSpPr>
          <p:nvPr/>
        </p:nvSpPr>
        <p:spPr bwMode="auto">
          <a:xfrm>
            <a:off x="8113254" y="4240041"/>
            <a:ext cx="2418207" cy="128293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Text Box 10">
            <a:extLst>
              <a:ext uri="{FF2B5EF4-FFF2-40B4-BE49-F238E27FC236}">
                <a16:creationId xmlns:a16="http://schemas.microsoft.com/office/drawing/2014/main" id="{6B1635D1-A4D5-754D-8C78-197860AEA498}"/>
              </a:ext>
            </a:extLst>
          </p:cNvPr>
          <p:cNvSpPr txBox="1">
            <a:spLocks noChangeArrowheads="1"/>
          </p:cNvSpPr>
          <p:nvPr/>
        </p:nvSpPr>
        <p:spPr bwMode="auto">
          <a:xfrm>
            <a:off x="8435647" y="3910226"/>
            <a:ext cx="1622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Data Box</a:t>
            </a:r>
          </a:p>
        </p:txBody>
      </p:sp>
      <p:sp>
        <p:nvSpPr>
          <p:cNvPr id="11" name="Line 18">
            <a:extLst>
              <a:ext uri="{FF2B5EF4-FFF2-40B4-BE49-F238E27FC236}">
                <a16:creationId xmlns:a16="http://schemas.microsoft.com/office/drawing/2014/main" id="{DC92621F-AA78-ADB5-DC9B-6AFADB16FFEC}"/>
              </a:ext>
            </a:extLst>
          </p:cNvPr>
          <p:cNvSpPr>
            <a:spLocks noChangeShapeType="1"/>
          </p:cNvSpPr>
          <p:nvPr/>
        </p:nvSpPr>
        <p:spPr bwMode="auto">
          <a:xfrm>
            <a:off x="4535424" y="2432754"/>
            <a:ext cx="3510919" cy="26379"/>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8157288"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Data Entry</a:t>
            </a:r>
          </a:p>
        </p:txBody>
      </p:sp>
      <p:sp>
        <p:nvSpPr>
          <p:cNvPr id="14" name="Line 22">
            <a:extLst>
              <a:ext uri="{FF2B5EF4-FFF2-40B4-BE49-F238E27FC236}">
                <a16:creationId xmlns:a16="http://schemas.microsoft.com/office/drawing/2014/main" id="{180A5B0C-6179-8161-4D41-C2B3E464421E}"/>
              </a:ext>
            </a:extLst>
          </p:cNvPr>
          <p:cNvSpPr>
            <a:spLocks noChangeShapeType="1"/>
          </p:cNvSpPr>
          <p:nvPr/>
        </p:nvSpPr>
        <p:spPr bwMode="auto">
          <a:xfrm>
            <a:off x="3968496" y="4601580"/>
            <a:ext cx="4077849" cy="514034"/>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Text Box 23">
            <a:extLst>
              <a:ext uri="{FF2B5EF4-FFF2-40B4-BE49-F238E27FC236}">
                <a16:creationId xmlns:a16="http://schemas.microsoft.com/office/drawing/2014/main" id="{9DDB2C5D-ECC4-977F-5114-B7517E0D89AF}"/>
              </a:ext>
            </a:extLst>
          </p:cNvPr>
          <p:cNvSpPr txBox="1">
            <a:spLocks noChangeArrowheads="1"/>
          </p:cNvSpPr>
          <p:nvPr/>
        </p:nvSpPr>
        <p:spPr bwMode="auto">
          <a:xfrm>
            <a:off x="8213169" y="5035947"/>
            <a:ext cx="2150735" cy="300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dirty="0"/>
              <a:t>Quality = 98%</a:t>
            </a:r>
          </a:p>
        </p:txBody>
      </p:sp>
      <p:sp>
        <p:nvSpPr>
          <p:cNvPr id="17" name="Line 25">
            <a:extLst>
              <a:ext uri="{FF2B5EF4-FFF2-40B4-BE49-F238E27FC236}">
                <a16:creationId xmlns:a16="http://schemas.microsoft.com/office/drawing/2014/main" id="{ADF57F78-77DF-FEEF-4A74-7F646F08373A}"/>
              </a:ext>
            </a:extLst>
          </p:cNvPr>
          <p:cNvSpPr>
            <a:spLocks noChangeShapeType="1"/>
          </p:cNvSpPr>
          <p:nvPr/>
        </p:nvSpPr>
        <p:spPr bwMode="auto">
          <a:xfrm>
            <a:off x="5221224" y="3916184"/>
            <a:ext cx="2825121" cy="685396"/>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Rectangle 26">
            <a:extLst>
              <a:ext uri="{FF2B5EF4-FFF2-40B4-BE49-F238E27FC236}">
                <a16:creationId xmlns:a16="http://schemas.microsoft.com/office/drawing/2014/main" id="{F4594B16-F120-1456-1285-436D9F6B7E29}"/>
              </a:ext>
            </a:extLst>
          </p:cNvPr>
          <p:cNvSpPr>
            <a:spLocks noChangeArrowheads="1"/>
          </p:cNvSpPr>
          <p:nvPr/>
        </p:nvSpPr>
        <p:spPr bwMode="auto">
          <a:xfrm>
            <a:off x="8184527" y="4444746"/>
            <a:ext cx="1827295"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Processing Time = 780</a:t>
            </a:r>
            <a:r>
              <a:rPr lang="ja-JP" altLang="en-US" sz="1200" b="0"/>
              <a:t>”</a:t>
            </a:r>
            <a:endParaRPr lang="en-US" altLang="en-US" sz="1200" b="0" dirty="0"/>
          </a:p>
        </p:txBody>
      </p:sp>
      <p:sp>
        <p:nvSpPr>
          <p:cNvPr id="19" name="Rectangle 27">
            <a:extLst>
              <a:ext uri="{FF2B5EF4-FFF2-40B4-BE49-F238E27FC236}">
                <a16:creationId xmlns:a16="http://schemas.microsoft.com/office/drawing/2014/main" id="{DDD88058-C667-F7AD-A969-1B9BF3672CA4}"/>
              </a:ext>
            </a:extLst>
          </p:cNvPr>
          <p:cNvSpPr>
            <a:spLocks noChangeArrowheads="1"/>
          </p:cNvSpPr>
          <p:nvPr/>
        </p:nvSpPr>
        <p:spPr bwMode="auto">
          <a:xfrm>
            <a:off x="8213169" y="4728267"/>
            <a:ext cx="966931"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DOI = 184</a:t>
            </a:r>
            <a:r>
              <a:rPr lang="ja-JP" altLang="en-US" sz="1200" b="0"/>
              <a:t>”</a:t>
            </a:r>
            <a:endParaRPr lang="en-US" altLang="en-US" sz="1200" b="0" dirty="0"/>
          </a:p>
        </p:txBody>
      </p:sp>
      <p:sp>
        <p:nvSpPr>
          <p:cNvPr id="21" name="Line 16">
            <a:extLst>
              <a:ext uri="{FF2B5EF4-FFF2-40B4-BE49-F238E27FC236}">
                <a16:creationId xmlns:a16="http://schemas.microsoft.com/office/drawing/2014/main" id="{EB9B9462-7B2F-05E2-1C6D-E703AB2621DA}"/>
              </a:ext>
            </a:extLst>
          </p:cNvPr>
          <p:cNvSpPr>
            <a:spLocks noChangeShapeType="1"/>
          </p:cNvSpPr>
          <p:nvPr/>
        </p:nvSpPr>
        <p:spPr bwMode="auto">
          <a:xfrm flipV="1">
            <a:off x="4956048" y="3216853"/>
            <a:ext cx="3346358" cy="304518"/>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8435651" y="2832413"/>
            <a:ext cx="1289771" cy="652407"/>
            <a:chOff x="4739" y="1684"/>
            <a:chExt cx="484"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31" y="1757"/>
              <a:ext cx="192"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5</a:t>
              </a:r>
            </a:p>
          </p:txBody>
        </p:sp>
      </p:grpSp>
      <p:sp>
        <p:nvSpPr>
          <p:cNvPr id="10" name="Text Box 58">
            <a:extLst>
              <a:ext uri="{FF2B5EF4-FFF2-40B4-BE49-F238E27FC236}">
                <a16:creationId xmlns:a16="http://schemas.microsoft.com/office/drawing/2014/main" id="{3F476614-F48F-6F62-2E6B-D12FB1665A3D}"/>
              </a:ext>
            </a:extLst>
          </p:cNvPr>
          <p:cNvSpPr txBox="1">
            <a:spLocks noChangeArrowheads="1"/>
          </p:cNvSpPr>
          <p:nvPr/>
        </p:nvSpPr>
        <p:spPr bwMode="auto">
          <a:xfrm>
            <a:off x="6703610" y="5857681"/>
            <a:ext cx="38227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Drop Off Interval (DOI) is an observed value</a:t>
            </a:r>
          </a:p>
        </p:txBody>
      </p:sp>
      <p:grpSp>
        <p:nvGrpSpPr>
          <p:cNvPr id="32" name="Group 31">
            <a:extLst>
              <a:ext uri="{FF2B5EF4-FFF2-40B4-BE49-F238E27FC236}">
                <a16:creationId xmlns:a16="http://schemas.microsoft.com/office/drawing/2014/main" id="{8866424F-5920-0A7C-28A6-8FCC410C03B3}"/>
              </a:ext>
            </a:extLst>
          </p:cNvPr>
          <p:cNvGrpSpPr/>
          <p:nvPr/>
        </p:nvGrpSpPr>
        <p:grpSpPr>
          <a:xfrm>
            <a:off x="940249" y="302538"/>
            <a:ext cx="6219503" cy="311932"/>
            <a:chOff x="940249" y="302538"/>
            <a:chExt cx="6219503" cy="311932"/>
          </a:xfrm>
        </p:grpSpPr>
        <p:sp>
          <p:nvSpPr>
            <p:cNvPr id="30" name="TextBox 29">
              <a:extLst>
                <a:ext uri="{FF2B5EF4-FFF2-40B4-BE49-F238E27FC236}">
                  <a16:creationId xmlns:a16="http://schemas.microsoft.com/office/drawing/2014/main" id="{D664D085-7CB7-C1B6-B603-4DA2D2982CB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1" name="AutoShape 9">
              <a:extLst>
                <a:ext uri="{FF2B5EF4-FFF2-40B4-BE49-F238E27FC236}">
                  <a16:creationId xmlns:a16="http://schemas.microsoft.com/office/drawing/2014/main" id="{9E458E12-5759-3432-3209-D189CADB269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E0B9FE56-991D-C7C8-D645-25F08508953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C4CA64A1-183D-ECDE-A2FF-17DEA8BBD25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494C6594-FBCD-ED1D-4692-1E599D9E529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11">
              <a:extLst>
                <a:ext uri="{FF2B5EF4-FFF2-40B4-BE49-F238E27FC236}">
                  <a16:creationId xmlns:a16="http://schemas.microsoft.com/office/drawing/2014/main" id="{ABEF1BD1-F39B-FEF3-B7AC-AFF044052FA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3" name="Slide Number Placeholder 2">
            <a:extLst>
              <a:ext uri="{FF2B5EF4-FFF2-40B4-BE49-F238E27FC236}">
                <a16:creationId xmlns:a16="http://schemas.microsoft.com/office/drawing/2014/main" id="{90D96BAB-9098-0EEA-B062-56C39A4BA86F}"/>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48</a:t>
            </a:fld>
            <a:endParaRPr lang="en-US"/>
          </a:p>
        </p:txBody>
      </p:sp>
    </p:spTree>
    <p:extLst>
      <p:ext uri="{BB962C8B-B14F-4D97-AF65-F5344CB8AC3E}">
        <p14:creationId xmlns:p14="http://schemas.microsoft.com/office/powerpoint/2010/main" val="11361219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4849368" cy="4351338"/>
          </a:xfrm>
        </p:spPr>
        <p:txBody>
          <a:bodyPr>
            <a:normAutofit/>
          </a:bodyPr>
          <a:lstStyle/>
          <a:p>
            <a:pPr>
              <a:lnSpc>
                <a:spcPct val="110000"/>
              </a:lnSpc>
            </a:pPr>
            <a:r>
              <a:rPr lang="en-US" sz="2400" b="1" dirty="0"/>
              <a:t>Application Processing – </a:t>
            </a:r>
            <a:br>
              <a:rPr lang="en-US" sz="2400" b="1" dirty="0"/>
            </a:br>
            <a:r>
              <a:rPr lang="en-US" sz="2400" b="1" dirty="0"/>
              <a:t>Receipt</a:t>
            </a:r>
          </a:p>
          <a:p>
            <a:pPr lvl="1">
              <a:lnSpc>
                <a:spcPct val="110000"/>
              </a:lnSpc>
            </a:pPr>
            <a:r>
              <a:rPr lang="en-US" sz="1900" dirty="0"/>
              <a:t>All mailed applications are received in the mailroom where they are opened and sorted by city by </a:t>
            </a:r>
            <a:br>
              <a:rPr lang="en-US" sz="1900" dirty="0"/>
            </a:br>
            <a:r>
              <a:rPr lang="en-US" sz="1900" b="1" dirty="0">
                <a:solidFill>
                  <a:srgbClr val="EE3228"/>
                </a:solidFill>
              </a:rPr>
              <a:t>two mailroom employees. </a:t>
            </a:r>
          </a:p>
          <a:p>
            <a:pPr lvl="1">
              <a:lnSpc>
                <a:spcPct val="110000"/>
              </a:lnSpc>
            </a:pPr>
            <a:r>
              <a:rPr lang="en-US" sz="1900" dirty="0"/>
              <a:t>It takes an average of </a:t>
            </a:r>
            <a:r>
              <a:rPr lang="en-US" sz="1900" b="1" dirty="0">
                <a:solidFill>
                  <a:srgbClr val="EE3228"/>
                </a:solidFill>
              </a:rPr>
              <a:t>15 seconds </a:t>
            </a:r>
            <a:br>
              <a:rPr lang="en-US" sz="1900" b="1" dirty="0">
                <a:solidFill>
                  <a:srgbClr val="EE3228"/>
                </a:solidFill>
              </a:rPr>
            </a:br>
            <a:r>
              <a:rPr lang="en-US" sz="1900" dirty="0"/>
              <a:t>to open and sort an envelope. </a:t>
            </a:r>
          </a:p>
          <a:p>
            <a:pPr lvl="1">
              <a:lnSpc>
                <a:spcPct val="110000"/>
              </a:lnSpc>
            </a:pPr>
            <a:r>
              <a:rPr lang="en-US" sz="1900" b="1" dirty="0">
                <a:solidFill>
                  <a:srgbClr val="EE3228"/>
                </a:solidFill>
              </a:rPr>
              <a:t>All applications are opened and sorted correctly</a:t>
            </a:r>
          </a:p>
          <a:p>
            <a:pPr lvl="1">
              <a:lnSpc>
                <a:spcPct val="110000"/>
              </a:lnSpc>
            </a:pPr>
            <a:endParaRPr lang="en-US" sz="1900" dirty="0"/>
          </a:p>
          <a:p>
            <a:pPr lvl="1">
              <a:lnSpc>
                <a:spcPct val="110000"/>
              </a:lnSpc>
            </a:pPr>
            <a:endParaRPr lang="en-US" sz="1900" dirty="0"/>
          </a:p>
          <a:p>
            <a:pPr lvl="1">
              <a:lnSpc>
                <a:spcPct val="110000"/>
              </a:lnSpc>
            </a:pPr>
            <a:endParaRPr lang="en-US" sz="2000" dirty="0"/>
          </a:p>
          <a:p>
            <a:pPr>
              <a:lnSpc>
                <a:spcPct val="110000"/>
              </a:lnSpc>
            </a:pPr>
            <a:endParaRPr lang="en-US" sz="2400" dirty="0"/>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8116690"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7" name="Text Box 8">
            <a:extLst>
              <a:ext uri="{FF2B5EF4-FFF2-40B4-BE49-F238E27FC236}">
                <a16:creationId xmlns:a16="http://schemas.microsoft.com/office/drawing/2014/main" id="{0A19107D-4D39-2AC7-C3C3-85549D9A8E29}"/>
              </a:ext>
            </a:extLst>
          </p:cNvPr>
          <p:cNvSpPr txBox="1">
            <a:spLocks noChangeArrowheads="1"/>
          </p:cNvSpPr>
          <p:nvPr/>
        </p:nvSpPr>
        <p:spPr bwMode="auto">
          <a:xfrm>
            <a:off x="8180189" y="1825625"/>
            <a:ext cx="2166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Process Box</a:t>
            </a:r>
          </a:p>
        </p:txBody>
      </p:sp>
      <p:sp>
        <p:nvSpPr>
          <p:cNvPr id="8" name="Rectangle 9">
            <a:extLst>
              <a:ext uri="{FF2B5EF4-FFF2-40B4-BE49-F238E27FC236}">
                <a16:creationId xmlns:a16="http://schemas.microsoft.com/office/drawing/2014/main" id="{7F4ED96C-F00A-8061-668E-4914CBA28E55}"/>
              </a:ext>
            </a:extLst>
          </p:cNvPr>
          <p:cNvSpPr>
            <a:spLocks noChangeArrowheads="1"/>
          </p:cNvSpPr>
          <p:nvPr/>
        </p:nvSpPr>
        <p:spPr bwMode="auto">
          <a:xfrm>
            <a:off x="8113254" y="4240041"/>
            <a:ext cx="2418207" cy="128293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Text Box 10">
            <a:extLst>
              <a:ext uri="{FF2B5EF4-FFF2-40B4-BE49-F238E27FC236}">
                <a16:creationId xmlns:a16="http://schemas.microsoft.com/office/drawing/2014/main" id="{6B1635D1-A4D5-754D-8C78-197860AEA498}"/>
              </a:ext>
            </a:extLst>
          </p:cNvPr>
          <p:cNvSpPr txBox="1">
            <a:spLocks noChangeArrowheads="1"/>
          </p:cNvSpPr>
          <p:nvPr/>
        </p:nvSpPr>
        <p:spPr bwMode="auto">
          <a:xfrm>
            <a:off x="8435647" y="3910226"/>
            <a:ext cx="1622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rgbClr val="FF0000"/>
                </a:solidFill>
              </a:rPr>
              <a:t>Data Box</a:t>
            </a:r>
          </a:p>
        </p:txBody>
      </p:sp>
      <p:sp>
        <p:nvSpPr>
          <p:cNvPr id="11" name="Line 18">
            <a:extLst>
              <a:ext uri="{FF2B5EF4-FFF2-40B4-BE49-F238E27FC236}">
                <a16:creationId xmlns:a16="http://schemas.microsoft.com/office/drawing/2014/main" id="{DC92621F-AA78-ADB5-DC9B-6AFADB16FFEC}"/>
              </a:ext>
            </a:extLst>
          </p:cNvPr>
          <p:cNvSpPr>
            <a:spLocks noChangeShapeType="1"/>
          </p:cNvSpPr>
          <p:nvPr/>
        </p:nvSpPr>
        <p:spPr bwMode="auto">
          <a:xfrm>
            <a:off x="4535424" y="2432754"/>
            <a:ext cx="3510919" cy="26379"/>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8157288"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Receipt</a:t>
            </a:r>
          </a:p>
        </p:txBody>
      </p:sp>
      <p:sp>
        <p:nvSpPr>
          <p:cNvPr id="14" name="Line 22">
            <a:extLst>
              <a:ext uri="{FF2B5EF4-FFF2-40B4-BE49-F238E27FC236}">
                <a16:creationId xmlns:a16="http://schemas.microsoft.com/office/drawing/2014/main" id="{180A5B0C-6179-8161-4D41-C2B3E464421E}"/>
              </a:ext>
            </a:extLst>
          </p:cNvPr>
          <p:cNvSpPr>
            <a:spLocks noChangeShapeType="1"/>
          </p:cNvSpPr>
          <p:nvPr/>
        </p:nvSpPr>
        <p:spPr bwMode="auto">
          <a:xfrm>
            <a:off x="5138928" y="4936284"/>
            <a:ext cx="2907417" cy="179329"/>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Text Box 23">
            <a:extLst>
              <a:ext uri="{FF2B5EF4-FFF2-40B4-BE49-F238E27FC236}">
                <a16:creationId xmlns:a16="http://schemas.microsoft.com/office/drawing/2014/main" id="{9DDB2C5D-ECC4-977F-5114-B7517E0D89AF}"/>
              </a:ext>
            </a:extLst>
          </p:cNvPr>
          <p:cNvSpPr txBox="1">
            <a:spLocks noChangeArrowheads="1"/>
          </p:cNvSpPr>
          <p:nvPr/>
        </p:nvSpPr>
        <p:spPr bwMode="auto">
          <a:xfrm>
            <a:off x="8213169" y="5035947"/>
            <a:ext cx="2150735" cy="300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dirty="0"/>
              <a:t>Quality = 100%</a:t>
            </a:r>
          </a:p>
        </p:txBody>
      </p:sp>
      <p:sp>
        <p:nvSpPr>
          <p:cNvPr id="17" name="Line 25">
            <a:extLst>
              <a:ext uri="{FF2B5EF4-FFF2-40B4-BE49-F238E27FC236}">
                <a16:creationId xmlns:a16="http://schemas.microsoft.com/office/drawing/2014/main" id="{ADF57F78-77DF-FEEF-4A74-7F646F08373A}"/>
              </a:ext>
            </a:extLst>
          </p:cNvPr>
          <p:cNvSpPr>
            <a:spLocks noChangeShapeType="1"/>
          </p:cNvSpPr>
          <p:nvPr/>
        </p:nvSpPr>
        <p:spPr bwMode="auto">
          <a:xfrm>
            <a:off x="5358384" y="4263438"/>
            <a:ext cx="2687961" cy="338141"/>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Rectangle 26">
            <a:extLst>
              <a:ext uri="{FF2B5EF4-FFF2-40B4-BE49-F238E27FC236}">
                <a16:creationId xmlns:a16="http://schemas.microsoft.com/office/drawing/2014/main" id="{F4594B16-F120-1456-1285-436D9F6B7E29}"/>
              </a:ext>
            </a:extLst>
          </p:cNvPr>
          <p:cNvSpPr>
            <a:spLocks noChangeArrowheads="1"/>
          </p:cNvSpPr>
          <p:nvPr/>
        </p:nvSpPr>
        <p:spPr bwMode="auto">
          <a:xfrm>
            <a:off x="8227007" y="4444746"/>
            <a:ext cx="1742336"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Processing Time = 15</a:t>
            </a:r>
            <a:r>
              <a:rPr lang="ja-JP" altLang="en-US" sz="1200" b="0"/>
              <a:t>”</a:t>
            </a:r>
            <a:endParaRPr lang="en-US" altLang="en-US" sz="1200" b="0" dirty="0"/>
          </a:p>
        </p:txBody>
      </p:sp>
      <p:sp>
        <p:nvSpPr>
          <p:cNvPr id="19" name="Rectangle 27">
            <a:extLst>
              <a:ext uri="{FF2B5EF4-FFF2-40B4-BE49-F238E27FC236}">
                <a16:creationId xmlns:a16="http://schemas.microsoft.com/office/drawing/2014/main" id="{DDD88058-C667-F7AD-A969-1B9BF3672CA4}"/>
              </a:ext>
            </a:extLst>
          </p:cNvPr>
          <p:cNvSpPr>
            <a:spLocks noChangeArrowheads="1"/>
          </p:cNvSpPr>
          <p:nvPr/>
        </p:nvSpPr>
        <p:spPr bwMode="auto">
          <a:xfrm>
            <a:off x="8234008" y="4728267"/>
            <a:ext cx="925253" cy="29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dirty="0"/>
              <a:t>DOI = 7.5</a:t>
            </a:r>
            <a:r>
              <a:rPr lang="ja-JP" altLang="en-US" sz="1200" b="0"/>
              <a:t>”</a:t>
            </a:r>
            <a:endParaRPr lang="en-US" altLang="en-US" sz="1200" b="0" dirty="0"/>
          </a:p>
        </p:txBody>
      </p:sp>
      <p:sp>
        <p:nvSpPr>
          <p:cNvPr id="21" name="Line 16">
            <a:extLst>
              <a:ext uri="{FF2B5EF4-FFF2-40B4-BE49-F238E27FC236}">
                <a16:creationId xmlns:a16="http://schemas.microsoft.com/office/drawing/2014/main" id="{EB9B9462-7B2F-05E2-1C6D-E703AB2621DA}"/>
              </a:ext>
            </a:extLst>
          </p:cNvPr>
          <p:cNvSpPr>
            <a:spLocks noChangeShapeType="1"/>
          </p:cNvSpPr>
          <p:nvPr/>
        </p:nvSpPr>
        <p:spPr bwMode="auto">
          <a:xfrm flipV="1">
            <a:off x="4791487" y="3216853"/>
            <a:ext cx="3510919" cy="498382"/>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8435651" y="2832413"/>
            <a:ext cx="1289771" cy="652407"/>
            <a:chOff x="4739" y="1684"/>
            <a:chExt cx="484"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31" y="1757"/>
              <a:ext cx="192"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2</a:t>
              </a:r>
            </a:p>
          </p:txBody>
        </p:sp>
      </p:grpSp>
      <p:sp>
        <p:nvSpPr>
          <p:cNvPr id="10" name="Text Box 58">
            <a:extLst>
              <a:ext uri="{FF2B5EF4-FFF2-40B4-BE49-F238E27FC236}">
                <a16:creationId xmlns:a16="http://schemas.microsoft.com/office/drawing/2014/main" id="{3F476614-F48F-6F62-2E6B-D12FB1665A3D}"/>
              </a:ext>
            </a:extLst>
          </p:cNvPr>
          <p:cNvSpPr txBox="1">
            <a:spLocks noChangeArrowheads="1"/>
          </p:cNvSpPr>
          <p:nvPr/>
        </p:nvSpPr>
        <p:spPr bwMode="auto">
          <a:xfrm>
            <a:off x="6703610" y="5857681"/>
            <a:ext cx="382270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Drop Off Interval (DOI) is an observed value</a:t>
            </a:r>
          </a:p>
        </p:txBody>
      </p:sp>
      <p:grpSp>
        <p:nvGrpSpPr>
          <p:cNvPr id="32" name="Group 31">
            <a:extLst>
              <a:ext uri="{FF2B5EF4-FFF2-40B4-BE49-F238E27FC236}">
                <a16:creationId xmlns:a16="http://schemas.microsoft.com/office/drawing/2014/main" id="{8866424F-5920-0A7C-28A6-8FCC410C03B3}"/>
              </a:ext>
            </a:extLst>
          </p:cNvPr>
          <p:cNvGrpSpPr/>
          <p:nvPr/>
        </p:nvGrpSpPr>
        <p:grpSpPr>
          <a:xfrm>
            <a:off x="940249" y="302538"/>
            <a:ext cx="6219503" cy="311932"/>
            <a:chOff x="940249" y="302538"/>
            <a:chExt cx="6219503" cy="311932"/>
          </a:xfrm>
        </p:grpSpPr>
        <p:sp>
          <p:nvSpPr>
            <p:cNvPr id="30" name="TextBox 29">
              <a:extLst>
                <a:ext uri="{FF2B5EF4-FFF2-40B4-BE49-F238E27FC236}">
                  <a16:creationId xmlns:a16="http://schemas.microsoft.com/office/drawing/2014/main" id="{D664D085-7CB7-C1B6-B603-4DA2D2982CB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1" name="AutoShape 9">
              <a:extLst>
                <a:ext uri="{FF2B5EF4-FFF2-40B4-BE49-F238E27FC236}">
                  <a16:creationId xmlns:a16="http://schemas.microsoft.com/office/drawing/2014/main" id="{9E458E12-5759-3432-3209-D189CADB269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E0B9FE56-991D-C7C8-D645-25F08508953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C4CA64A1-183D-ECDE-A2FF-17DEA8BBD25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494C6594-FBCD-ED1D-4692-1E599D9E529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11">
              <a:extLst>
                <a:ext uri="{FF2B5EF4-FFF2-40B4-BE49-F238E27FC236}">
                  <a16:creationId xmlns:a16="http://schemas.microsoft.com/office/drawing/2014/main" id="{ABEF1BD1-F39B-FEF3-B7AC-AFF044052FA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3" name="Slide Number Placeholder 2">
            <a:extLst>
              <a:ext uri="{FF2B5EF4-FFF2-40B4-BE49-F238E27FC236}">
                <a16:creationId xmlns:a16="http://schemas.microsoft.com/office/drawing/2014/main" id="{880CCFCF-4A0B-1798-73FC-21595D6021E6}"/>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49</a:t>
            </a:fld>
            <a:endParaRPr lang="en-US"/>
          </a:p>
        </p:txBody>
      </p:sp>
    </p:spTree>
    <p:extLst>
      <p:ext uri="{BB962C8B-B14F-4D97-AF65-F5344CB8AC3E}">
        <p14:creationId xmlns:p14="http://schemas.microsoft.com/office/powerpoint/2010/main" val="313326647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5EA98-CC6E-36CA-A88E-222327D0699D}"/>
              </a:ext>
            </a:extLst>
          </p:cNvPr>
          <p:cNvSpPr>
            <a:spLocks noGrp="1"/>
          </p:cNvSpPr>
          <p:nvPr>
            <p:ph type="title"/>
          </p:nvPr>
        </p:nvSpPr>
        <p:spPr/>
        <p:txBody>
          <a:bodyPr/>
          <a:lstStyle/>
          <a:p>
            <a:r>
              <a:rPr lang="en-US" altLang="en-US" dirty="0"/>
              <a:t>Mapping Processes</a:t>
            </a:r>
            <a:endParaRPr lang="en-US" dirty="0"/>
          </a:p>
        </p:txBody>
      </p:sp>
      <p:sp>
        <p:nvSpPr>
          <p:cNvPr id="3" name="Content Placeholder 2">
            <a:extLst>
              <a:ext uri="{FF2B5EF4-FFF2-40B4-BE49-F238E27FC236}">
                <a16:creationId xmlns:a16="http://schemas.microsoft.com/office/drawing/2014/main" id="{CDF927D6-20AB-5769-4F8D-05BA0A240A7A}"/>
              </a:ext>
            </a:extLst>
          </p:cNvPr>
          <p:cNvSpPr>
            <a:spLocks noGrp="1"/>
          </p:cNvSpPr>
          <p:nvPr>
            <p:ph idx="1"/>
          </p:nvPr>
        </p:nvSpPr>
        <p:spPr>
          <a:xfrm>
            <a:off x="838200" y="1825625"/>
            <a:ext cx="4849368" cy="4351338"/>
          </a:xfrm>
        </p:spPr>
        <p:txBody>
          <a:bodyPr>
            <a:normAutofit/>
          </a:bodyPr>
          <a:lstStyle/>
          <a:p>
            <a:pPr>
              <a:lnSpc>
                <a:spcPct val="110000"/>
              </a:lnSpc>
            </a:pPr>
            <a:r>
              <a:rPr lang="en-US" sz="2400" b="1" dirty="0"/>
              <a:t>Compiling the map</a:t>
            </a:r>
          </a:p>
          <a:p>
            <a:pPr lvl="1">
              <a:lnSpc>
                <a:spcPct val="110000"/>
              </a:lnSpc>
            </a:pPr>
            <a:r>
              <a:rPr lang="en-US" sz="1900" dirty="0"/>
              <a:t>Start with the customer and work backward.</a:t>
            </a:r>
          </a:p>
          <a:p>
            <a:pPr lvl="1">
              <a:lnSpc>
                <a:spcPct val="110000"/>
              </a:lnSpc>
            </a:pPr>
            <a:r>
              <a:rPr lang="en-US" sz="1900" dirty="0"/>
              <a:t>Represent each process box of the value stream as it relates to the other process boxes.</a:t>
            </a:r>
          </a:p>
          <a:p>
            <a:pPr lvl="1">
              <a:lnSpc>
                <a:spcPct val="110000"/>
              </a:lnSpc>
            </a:pPr>
            <a:r>
              <a:rPr lang="en-US" sz="1900" dirty="0"/>
              <a:t>Note that not all process boxes are internal to our organization and that some may occur on an exception basis.</a:t>
            </a:r>
          </a:p>
          <a:p>
            <a:pPr lvl="1">
              <a:lnSpc>
                <a:spcPct val="110000"/>
              </a:lnSpc>
            </a:pPr>
            <a:endParaRPr lang="en-US" sz="1900" dirty="0"/>
          </a:p>
          <a:p>
            <a:pPr lvl="1">
              <a:lnSpc>
                <a:spcPct val="110000"/>
              </a:lnSpc>
            </a:pPr>
            <a:endParaRPr lang="en-US" sz="1900" dirty="0"/>
          </a:p>
          <a:p>
            <a:pPr lvl="1">
              <a:lnSpc>
                <a:spcPct val="110000"/>
              </a:lnSpc>
            </a:pPr>
            <a:endParaRPr lang="en-US" sz="1900" dirty="0"/>
          </a:p>
          <a:p>
            <a:pPr lvl="1">
              <a:lnSpc>
                <a:spcPct val="110000"/>
              </a:lnSpc>
            </a:pPr>
            <a:endParaRPr lang="en-US" sz="2000" dirty="0"/>
          </a:p>
          <a:p>
            <a:pPr>
              <a:lnSpc>
                <a:spcPct val="110000"/>
              </a:lnSpc>
            </a:pPr>
            <a:endParaRPr lang="en-US" sz="2400" dirty="0"/>
          </a:p>
        </p:txBody>
      </p:sp>
      <p:grpSp>
        <p:nvGrpSpPr>
          <p:cNvPr id="4" name="Group 5">
            <a:extLst>
              <a:ext uri="{FF2B5EF4-FFF2-40B4-BE49-F238E27FC236}">
                <a16:creationId xmlns:a16="http://schemas.microsoft.com/office/drawing/2014/main" id="{E95643B0-08E6-2E20-66E5-E04527AD680B}"/>
              </a:ext>
            </a:extLst>
          </p:cNvPr>
          <p:cNvGrpSpPr>
            <a:grpSpLocks/>
          </p:cNvGrpSpPr>
          <p:nvPr/>
        </p:nvGrpSpPr>
        <p:grpSpPr bwMode="auto">
          <a:xfrm>
            <a:off x="9131674" y="2184399"/>
            <a:ext cx="2418207" cy="1720937"/>
            <a:chOff x="418" y="2981"/>
            <a:chExt cx="352" cy="365"/>
          </a:xfrm>
        </p:grpSpPr>
        <p:sp>
          <p:nvSpPr>
            <p:cNvPr id="5" name="Rectangle 6">
              <a:extLst>
                <a:ext uri="{FF2B5EF4-FFF2-40B4-BE49-F238E27FC236}">
                  <a16:creationId xmlns:a16="http://schemas.microsoft.com/office/drawing/2014/main" id="{D2C07EBE-C92F-2C97-35BB-5FE7FB5F8688}"/>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7">
              <a:extLst>
                <a:ext uri="{FF2B5EF4-FFF2-40B4-BE49-F238E27FC236}">
                  <a16:creationId xmlns:a16="http://schemas.microsoft.com/office/drawing/2014/main" id="{5E318702-F111-4592-206A-FD3475DE612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2" name="Text Box 19">
            <a:extLst>
              <a:ext uri="{FF2B5EF4-FFF2-40B4-BE49-F238E27FC236}">
                <a16:creationId xmlns:a16="http://schemas.microsoft.com/office/drawing/2014/main" id="{5ADCFF91-92C7-4EED-D8A1-B85E10421C17}"/>
              </a:ext>
            </a:extLst>
          </p:cNvPr>
          <p:cNvSpPr txBox="1">
            <a:spLocks noChangeArrowheads="1"/>
          </p:cNvSpPr>
          <p:nvPr/>
        </p:nvSpPr>
        <p:spPr bwMode="auto">
          <a:xfrm>
            <a:off x="9172272"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Process</a:t>
            </a:r>
          </a:p>
        </p:txBody>
      </p:sp>
      <p:grpSp>
        <p:nvGrpSpPr>
          <p:cNvPr id="22" name="Group 51">
            <a:extLst>
              <a:ext uri="{FF2B5EF4-FFF2-40B4-BE49-F238E27FC236}">
                <a16:creationId xmlns:a16="http://schemas.microsoft.com/office/drawing/2014/main" id="{D1D1C8D3-DA1F-BDDF-845F-5C7B6B8F6561}"/>
              </a:ext>
            </a:extLst>
          </p:cNvPr>
          <p:cNvGrpSpPr>
            <a:grpSpLocks/>
          </p:cNvGrpSpPr>
          <p:nvPr/>
        </p:nvGrpSpPr>
        <p:grpSpPr bwMode="auto">
          <a:xfrm>
            <a:off x="9450631" y="2832413"/>
            <a:ext cx="1225815" cy="652407"/>
            <a:chOff x="4739" y="1684"/>
            <a:chExt cx="460" cy="226"/>
          </a:xfrm>
        </p:grpSpPr>
        <p:grpSp>
          <p:nvGrpSpPr>
            <p:cNvPr id="23" name="Group 52">
              <a:extLst>
                <a:ext uri="{FF2B5EF4-FFF2-40B4-BE49-F238E27FC236}">
                  <a16:creationId xmlns:a16="http://schemas.microsoft.com/office/drawing/2014/main" id="{EEABB706-CE12-8E2C-8594-BBE3D178E78B}"/>
                </a:ext>
              </a:extLst>
            </p:cNvPr>
            <p:cNvGrpSpPr>
              <a:grpSpLocks/>
            </p:cNvGrpSpPr>
            <p:nvPr/>
          </p:nvGrpSpPr>
          <p:grpSpPr bwMode="auto">
            <a:xfrm flipV="1">
              <a:off x="4739" y="1684"/>
              <a:ext cx="206" cy="226"/>
              <a:chOff x="720" y="3354"/>
              <a:chExt cx="192" cy="198"/>
            </a:xfrm>
          </p:grpSpPr>
          <p:sp>
            <p:nvSpPr>
              <p:cNvPr id="25" name="Oval 53">
                <a:extLst>
                  <a:ext uri="{FF2B5EF4-FFF2-40B4-BE49-F238E27FC236}">
                    <a16:creationId xmlns:a16="http://schemas.microsoft.com/office/drawing/2014/main" id="{40CA8853-DD39-3AE0-C3CB-BCF386E7AA4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AutoShape 54">
                <a:extLst>
                  <a:ext uri="{FF2B5EF4-FFF2-40B4-BE49-F238E27FC236}">
                    <a16:creationId xmlns:a16="http://schemas.microsoft.com/office/drawing/2014/main" id="{30BC0972-1DA3-F78B-0B36-CB54AECD4C1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4" name="Text Box 55">
              <a:extLst>
                <a:ext uri="{FF2B5EF4-FFF2-40B4-BE49-F238E27FC236}">
                  <a16:creationId xmlns:a16="http://schemas.microsoft.com/office/drawing/2014/main" id="{CB4E9C2C-B173-26AD-D817-E7090040D86D}"/>
                </a:ext>
              </a:extLst>
            </p:cNvPr>
            <p:cNvSpPr txBox="1">
              <a:spLocks noChangeArrowheads="1"/>
            </p:cNvSpPr>
            <p:nvPr/>
          </p:nvSpPr>
          <p:spPr bwMode="auto">
            <a:xfrm>
              <a:off x="5055" y="1757"/>
              <a:ext cx="144"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a:t>
              </a:r>
            </a:p>
          </p:txBody>
        </p:sp>
      </p:grpSp>
      <p:grpSp>
        <p:nvGrpSpPr>
          <p:cNvPr id="32" name="Group 31">
            <a:extLst>
              <a:ext uri="{FF2B5EF4-FFF2-40B4-BE49-F238E27FC236}">
                <a16:creationId xmlns:a16="http://schemas.microsoft.com/office/drawing/2014/main" id="{8866424F-5920-0A7C-28A6-8FCC410C03B3}"/>
              </a:ext>
            </a:extLst>
          </p:cNvPr>
          <p:cNvGrpSpPr/>
          <p:nvPr/>
        </p:nvGrpSpPr>
        <p:grpSpPr>
          <a:xfrm>
            <a:off x="940249" y="302538"/>
            <a:ext cx="6219503" cy="311932"/>
            <a:chOff x="940249" y="302538"/>
            <a:chExt cx="6219503" cy="311932"/>
          </a:xfrm>
        </p:grpSpPr>
        <p:sp>
          <p:nvSpPr>
            <p:cNvPr id="30" name="TextBox 29">
              <a:extLst>
                <a:ext uri="{FF2B5EF4-FFF2-40B4-BE49-F238E27FC236}">
                  <a16:creationId xmlns:a16="http://schemas.microsoft.com/office/drawing/2014/main" id="{D664D085-7CB7-C1B6-B603-4DA2D2982CBC}"/>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1" name="AutoShape 9">
              <a:extLst>
                <a:ext uri="{FF2B5EF4-FFF2-40B4-BE49-F238E27FC236}">
                  <a16:creationId xmlns:a16="http://schemas.microsoft.com/office/drawing/2014/main" id="{9E458E12-5759-3432-3209-D189CADB269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6" name="AutoShape 9">
              <a:extLst>
                <a:ext uri="{FF2B5EF4-FFF2-40B4-BE49-F238E27FC236}">
                  <a16:creationId xmlns:a16="http://schemas.microsoft.com/office/drawing/2014/main" id="{E0B9FE56-991D-C7C8-D645-25F085089530}"/>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9">
              <a:extLst>
                <a:ext uri="{FF2B5EF4-FFF2-40B4-BE49-F238E27FC236}">
                  <a16:creationId xmlns:a16="http://schemas.microsoft.com/office/drawing/2014/main" id="{C4CA64A1-183D-ECDE-A2FF-17DEA8BBD25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494C6594-FBCD-ED1D-4692-1E599D9E5294}"/>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11">
              <a:extLst>
                <a:ext uri="{FF2B5EF4-FFF2-40B4-BE49-F238E27FC236}">
                  <a16:creationId xmlns:a16="http://schemas.microsoft.com/office/drawing/2014/main" id="{ABEF1BD1-F39B-FEF3-B7AC-AFF044052FA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40" name="Group 5">
            <a:extLst>
              <a:ext uri="{FF2B5EF4-FFF2-40B4-BE49-F238E27FC236}">
                <a16:creationId xmlns:a16="http://schemas.microsoft.com/office/drawing/2014/main" id="{F77F7119-C7C4-C418-5C46-13C5C331520D}"/>
              </a:ext>
            </a:extLst>
          </p:cNvPr>
          <p:cNvGrpSpPr>
            <a:grpSpLocks/>
          </p:cNvGrpSpPr>
          <p:nvPr/>
        </p:nvGrpSpPr>
        <p:grpSpPr bwMode="auto">
          <a:xfrm>
            <a:off x="6315322" y="2184399"/>
            <a:ext cx="2418207" cy="1720937"/>
            <a:chOff x="418" y="2981"/>
            <a:chExt cx="352" cy="365"/>
          </a:xfrm>
        </p:grpSpPr>
        <p:sp>
          <p:nvSpPr>
            <p:cNvPr id="41" name="Rectangle 6">
              <a:extLst>
                <a:ext uri="{FF2B5EF4-FFF2-40B4-BE49-F238E27FC236}">
                  <a16:creationId xmlns:a16="http://schemas.microsoft.com/office/drawing/2014/main" id="{DD825B52-9FD9-BBDB-DF18-17B5A3A2930B}"/>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2" name="Line 7">
              <a:extLst>
                <a:ext uri="{FF2B5EF4-FFF2-40B4-BE49-F238E27FC236}">
                  <a16:creationId xmlns:a16="http://schemas.microsoft.com/office/drawing/2014/main" id="{513C5DE5-83B3-23B3-DFCF-7A091EB818AD}"/>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43" name="Text Box 19">
            <a:extLst>
              <a:ext uri="{FF2B5EF4-FFF2-40B4-BE49-F238E27FC236}">
                <a16:creationId xmlns:a16="http://schemas.microsoft.com/office/drawing/2014/main" id="{C60B09FD-3FD9-101C-55BA-0398A946821B}"/>
              </a:ext>
            </a:extLst>
          </p:cNvPr>
          <p:cNvSpPr txBox="1">
            <a:spLocks noChangeArrowheads="1"/>
          </p:cNvSpPr>
          <p:nvPr/>
        </p:nvSpPr>
        <p:spPr bwMode="auto">
          <a:xfrm>
            <a:off x="6355920" y="2313899"/>
            <a:ext cx="2317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t>Process</a:t>
            </a:r>
          </a:p>
        </p:txBody>
      </p:sp>
      <p:grpSp>
        <p:nvGrpSpPr>
          <p:cNvPr id="44" name="Group 51">
            <a:extLst>
              <a:ext uri="{FF2B5EF4-FFF2-40B4-BE49-F238E27FC236}">
                <a16:creationId xmlns:a16="http://schemas.microsoft.com/office/drawing/2014/main" id="{989AA2B7-5A01-1695-B4F9-5E5FA0B5A75D}"/>
              </a:ext>
            </a:extLst>
          </p:cNvPr>
          <p:cNvGrpSpPr>
            <a:grpSpLocks/>
          </p:cNvGrpSpPr>
          <p:nvPr/>
        </p:nvGrpSpPr>
        <p:grpSpPr bwMode="auto">
          <a:xfrm>
            <a:off x="6634279" y="2832413"/>
            <a:ext cx="1225815" cy="652407"/>
            <a:chOff x="4739" y="1684"/>
            <a:chExt cx="460" cy="226"/>
          </a:xfrm>
        </p:grpSpPr>
        <p:grpSp>
          <p:nvGrpSpPr>
            <p:cNvPr id="45" name="Group 52">
              <a:extLst>
                <a:ext uri="{FF2B5EF4-FFF2-40B4-BE49-F238E27FC236}">
                  <a16:creationId xmlns:a16="http://schemas.microsoft.com/office/drawing/2014/main" id="{04B28394-26FC-E4E1-0FC1-C73811FCAA09}"/>
                </a:ext>
              </a:extLst>
            </p:cNvPr>
            <p:cNvGrpSpPr>
              <a:grpSpLocks/>
            </p:cNvGrpSpPr>
            <p:nvPr/>
          </p:nvGrpSpPr>
          <p:grpSpPr bwMode="auto">
            <a:xfrm flipV="1">
              <a:off x="4739" y="1684"/>
              <a:ext cx="206" cy="226"/>
              <a:chOff x="720" y="3354"/>
              <a:chExt cx="192" cy="198"/>
            </a:xfrm>
          </p:grpSpPr>
          <p:sp>
            <p:nvSpPr>
              <p:cNvPr id="47" name="Oval 53">
                <a:extLst>
                  <a:ext uri="{FF2B5EF4-FFF2-40B4-BE49-F238E27FC236}">
                    <a16:creationId xmlns:a16="http://schemas.microsoft.com/office/drawing/2014/main" id="{6682F612-283F-38C4-E97F-7FB8044415C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8" name="AutoShape 54">
                <a:extLst>
                  <a:ext uri="{FF2B5EF4-FFF2-40B4-BE49-F238E27FC236}">
                    <a16:creationId xmlns:a16="http://schemas.microsoft.com/office/drawing/2014/main" id="{33F1BC16-509D-B897-ED43-52393B358CB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6" name="Text Box 55">
              <a:extLst>
                <a:ext uri="{FF2B5EF4-FFF2-40B4-BE49-F238E27FC236}">
                  <a16:creationId xmlns:a16="http://schemas.microsoft.com/office/drawing/2014/main" id="{520ACF98-3263-DF2C-016B-6F3DEE5678E9}"/>
                </a:ext>
              </a:extLst>
            </p:cNvPr>
            <p:cNvSpPr txBox="1">
              <a:spLocks noChangeArrowheads="1"/>
            </p:cNvSpPr>
            <p:nvPr/>
          </p:nvSpPr>
          <p:spPr bwMode="auto">
            <a:xfrm>
              <a:off x="5055" y="1757"/>
              <a:ext cx="144"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t>= </a:t>
              </a:r>
            </a:p>
          </p:txBody>
        </p:sp>
      </p:grpSp>
      <p:grpSp>
        <p:nvGrpSpPr>
          <p:cNvPr id="49" name="Group 184">
            <a:extLst>
              <a:ext uri="{FF2B5EF4-FFF2-40B4-BE49-F238E27FC236}">
                <a16:creationId xmlns:a16="http://schemas.microsoft.com/office/drawing/2014/main" id="{B3814C98-7187-3E55-0981-B553A1AF8F4F}"/>
              </a:ext>
            </a:extLst>
          </p:cNvPr>
          <p:cNvGrpSpPr>
            <a:grpSpLocks/>
          </p:cNvGrpSpPr>
          <p:nvPr/>
        </p:nvGrpSpPr>
        <p:grpSpPr bwMode="auto">
          <a:xfrm>
            <a:off x="8362399" y="4063495"/>
            <a:ext cx="2176463" cy="525463"/>
            <a:chOff x="3584" y="2156"/>
            <a:chExt cx="1371" cy="331"/>
          </a:xfrm>
        </p:grpSpPr>
        <p:sp>
          <p:nvSpPr>
            <p:cNvPr id="50" name="Line 182">
              <a:extLst>
                <a:ext uri="{FF2B5EF4-FFF2-40B4-BE49-F238E27FC236}">
                  <a16:creationId xmlns:a16="http://schemas.microsoft.com/office/drawing/2014/main" id="{FB60230C-2B86-F81E-0AC5-7BB56BA33A40}"/>
                </a:ext>
              </a:extLst>
            </p:cNvPr>
            <p:cNvSpPr>
              <a:spLocks noChangeShapeType="1"/>
            </p:cNvSpPr>
            <p:nvPr/>
          </p:nvSpPr>
          <p:spPr bwMode="auto">
            <a:xfrm>
              <a:off x="4955" y="2156"/>
              <a:ext cx="0" cy="322"/>
            </a:xfrm>
            <a:prstGeom prst="line">
              <a:avLst/>
            </a:prstGeom>
            <a:noFill/>
            <a:ln w="38100" cap="sq">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1" name="Line 183">
              <a:extLst>
                <a:ext uri="{FF2B5EF4-FFF2-40B4-BE49-F238E27FC236}">
                  <a16:creationId xmlns:a16="http://schemas.microsoft.com/office/drawing/2014/main" id="{009B5722-0FF9-1DA6-4271-2EA339CE0754}"/>
                </a:ext>
              </a:extLst>
            </p:cNvPr>
            <p:cNvSpPr>
              <a:spLocks noChangeShapeType="1"/>
            </p:cNvSpPr>
            <p:nvPr/>
          </p:nvSpPr>
          <p:spPr bwMode="auto">
            <a:xfrm flipH="1">
              <a:off x="3584" y="2487"/>
              <a:ext cx="1371" cy="0"/>
            </a:xfrm>
            <a:prstGeom prst="line">
              <a:avLst/>
            </a:prstGeom>
            <a:noFill/>
            <a:ln w="381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52" name="Slide Number Placeholder 2">
            <a:extLst>
              <a:ext uri="{FF2B5EF4-FFF2-40B4-BE49-F238E27FC236}">
                <a16:creationId xmlns:a16="http://schemas.microsoft.com/office/drawing/2014/main" id="{1BE7A59E-1A02-25B9-FA19-C854358DDBC4}"/>
              </a:ext>
            </a:extLst>
          </p:cNvPr>
          <p:cNvSpPr>
            <a:spLocks noGrp="1"/>
          </p:cNvSpPr>
          <p:nvPr>
            <p:ph type="sldNum" sz="quarter" idx="4"/>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50</a:t>
            </a:fld>
            <a:endParaRPr lang="en-US"/>
          </a:p>
        </p:txBody>
      </p:sp>
    </p:spTree>
    <p:extLst>
      <p:ext uri="{BB962C8B-B14F-4D97-AF65-F5344CB8AC3E}">
        <p14:creationId xmlns:p14="http://schemas.microsoft.com/office/powerpoint/2010/main" val="22262101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right)">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6"/>
            <a:ext cx="9738423" cy="415442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1"/>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3465577" y="33981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7166506" y="4228532"/>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5685178"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436844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2951122"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spTree>
    <p:extLst>
      <p:ext uri="{BB962C8B-B14F-4D97-AF65-F5344CB8AC3E}">
        <p14:creationId xmlns:p14="http://schemas.microsoft.com/office/powerpoint/2010/main" val="2670285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B6976-B063-C8F6-D24A-F8EE865AFC9F}"/>
              </a:ext>
            </a:extLst>
          </p:cNvPr>
          <p:cNvSpPr>
            <a:spLocks noGrp="1"/>
          </p:cNvSpPr>
          <p:nvPr>
            <p:ph type="title"/>
          </p:nvPr>
        </p:nvSpPr>
        <p:spPr/>
        <p:txBody>
          <a:bodyPr/>
          <a:lstStyle/>
          <a:p>
            <a:r>
              <a:rPr lang="en-US" dirty="0"/>
              <a:t>Mapping Inventory</a:t>
            </a:r>
          </a:p>
        </p:txBody>
      </p:sp>
      <p:sp>
        <p:nvSpPr>
          <p:cNvPr id="3" name="Content Placeholder 2">
            <a:extLst>
              <a:ext uri="{FF2B5EF4-FFF2-40B4-BE49-F238E27FC236}">
                <a16:creationId xmlns:a16="http://schemas.microsoft.com/office/drawing/2014/main" id="{AF615597-F36D-D40D-B4C6-9395F5E6D336}"/>
              </a:ext>
            </a:extLst>
          </p:cNvPr>
          <p:cNvSpPr>
            <a:spLocks noGrp="1"/>
          </p:cNvSpPr>
          <p:nvPr>
            <p:ph idx="1"/>
          </p:nvPr>
        </p:nvSpPr>
        <p:spPr>
          <a:xfrm>
            <a:off x="838200" y="1825625"/>
            <a:ext cx="5526024" cy="4351338"/>
          </a:xfrm>
        </p:spPr>
        <p:txBody>
          <a:bodyPr>
            <a:normAutofit fontScale="70000" lnSpcReduction="20000"/>
          </a:bodyPr>
          <a:lstStyle/>
          <a:p>
            <a:pPr>
              <a:lnSpc>
                <a:spcPct val="120000"/>
              </a:lnSpc>
            </a:pPr>
            <a:r>
              <a:rPr lang="en-US" b="1" dirty="0"/>
              <a:t>PUSH Arrow with Inventory Icon</a:t>
            </a:r>
          </a:p>
          <a:p>
            <a:pPr lvl="1">
              <a:lnSpc>
                <a:spcPct val="120000"/>
              </a:lnSpc>
            </a:pPr>
            <a:r>
              <a:rPr lang="en-US" dirty="0"/>
              <a:t>Indicates an accumulation of unprocessed transactions that are waiting to be processed</a:t>
            </a:r>
          </a:p>
          <a:p>
            <a:pPr lvl="1">
              <a:lnSpc>
                <a:spcPct val="120000"/>
              </a:lnSpc>
            </a:pPr>
            <a:r>
              <a:rPr lang="en-US" dirty="0"/>
              <a:t>Physical location is irrelevant</a:t>
            </a:r>
          </a:p>
          <a:p>
            <a:pPr lvl="1">
              <a:lnSpc>
                <a:spcPct val="120000"/>
              </a:lnSpc>
            </a:pPr>
            <a:r>
              <a:rPr lang="en-US" dirty="0"/>
              <a:t>Denotes that there is no pull system in place to regulate production</a:t>
            </a:r>
          </a:p>
          <a:p>
            <a:pPr lvl="1">
              <a:lnSpc>
                <a:spcPct val="120000"/>
              </a:lnSpc>
            </a:pPr>
            <a:r>
              <a:rPr lang="en-US" dirty="0"/>
              <a:t>A transaction can only be inventory in one spot at a time</a:t>
            </a:r>
          </a:p>
          <a:p>
            <a:pPr>
              <a:lnSpc>
                <a:spcPct val="120000"/>
              </a:lnSpc>
            </a:pPr>
            <a:r>
              <a:rPr lang="en-US" b="1" dirty="0"/>
              <a:t>Inventory Data Box:</a:t>
            </a:r>
          </a:p>
          <a:p>
            <a:pPr lvl="1">
              <a:lnSpc>
                <a:spcPct val="120000"/>
              </a:lnSpc>
            </a:pPr>
            <a:r>
              <a:rPr lang="en-US" dirty="0"/>
              <a:t>Format of inventory (</a:t>
            </a:r>
            <a:r>
              <a:rPr lang="en-US" dirty="0" err="1"/>
              <a:t>ie</a:t>
            </a:r>
            <a:r>
              <a:rPr lang="en-US" dirty="0"/>
              <a:t>: In-box, E-mail)</a:t>
            </a:r>
          </a:p>
          <a:p>
            <a:pPr lvl="1">
              <a:lnSpc>
                <a:spcPct val="120000"/>
              </a:lnSpc>
            </a:pPr>
            <a:r>
              <a:rPr lang="en-US" dirty="0"/>
              <a:t>Method for withdrawal (</a:t>
            </a:r>
            <a:r>
              <a:rPr lang="en-US" dirty="0" err="1"/>
              <a:t>ie</a:t>
            </a:r>
            <a:r>
              <a:rPr lang="en-US" dirty="0"/>
              <a:t>: FIFO)</a:t>
            </a:r>
          </a:p>
          <a:p>
            <a:pPr lvl="1">
              <a:lnSpc>
                <a:spcPct val="120000"/>
              </a:lnSpc>
            </a:pPr>
            <a:r>
              <a:rPr lang="en-US" dirty="0"/>
              <a:t>Number of items</a:t>
            </a:r>
          </a:p>
          <a:p>
            <a:pPr>
              <a:lnSpc>
                <a:spcPct val="120000"/>
              </a:lnSpc>
            </a:pPr>
            <a:endParaRPr lang="en-US" dirty="0"/>
          </a:p>
          <a:p>
            <a:pPr>
              <a:lnSpc>
                <a:spcPct val="120000"/>
              </a:lnSpc>
            </a:pPr>
            <a:endParaRPr lang="en-US" dirty="0"/>
          </a:p>
        </p:txBody>
      </p:sp>
      <p:sp>
        <p:nvSpPr>
          <p:cNvPr id="4" name="Slide Number Placeholder 3">
            <a:extLst>
              <a:ext uri="{FF2B5EF4-FFF2-40B4-BE49-F238E27FC236}">
                <a16:creationId xmlns:a16="http://schemas.microsoft.com/office/drawing/2014/main" id="{3F4765DD-EEB3-03F4-A096-265D31B1FC44}"/>
              </a:ext>
            </a:extLst>
          </p:cNvPr>
          <p:cNvSpPr>
            <a:spLocks noGrp="1"/>
          </p:cNvSpPr>
          <p:nvPr>
            <p:ph type="sldNum" sz="quarter" idx="4"/>
          </p:nvPr>
        </p:nvSpPr>
        <p:spPr/>
        <p:txBody>
          <a:bodyPr/>
          <a:lstStyle/>
          <a:p>
            <a:fld id="{CC6D4273-7FC1-0947-B9FE-19CB3C0D1FB6}" type="slidenum">
              <a:rPr lang="en-US" smtClean="0"/>
              <a:pPr/>
              <a:t>52</a:t>
            </a:fld>
            <a:endParaRPr lang="en-US"/>
          </a:p>
        </p:txBody>
      </p:sp>
      <p:grpSp>
        <p:nvGrpSpPr>
          <p:cNvPr id="6" name="Group 5">
            <a:extLst>
              <a:ext uri="{FF2B5EF4-FFF2-40B4-BE49-F238E27FC236}">
                <a16:creationId xmlns:a16="http://schemas.microsoft.com/office/drawing/2014/main" id="{C38405B8-0B60-14BB-38F6-E1F28AE3BA6D}"/>
              </a:ext>
            </a:extLst>
          </p:cNvPr>
          <p:cNvGrpSpPr/>
          <p:nvPr/>
        </p:nvGrpSpPr>
        <p:grpSpPr>
          <a:xfrm>
            <a:off x="940249" y="302538"/>
            <a:ext cx="6219503" cy="311932"/>
            <a:chOff x="940249" y="302538"/>
            <a:chExt cx="6219503" cy="311932"/>
          </a:xfrm>
        </p:grpSpPr>
        <p:sp>
          <p:nvSpPr>
            <p:cNvPr id="7" name="TextBox 6">
              <a:extLst>
                <a:ext uri="{FF2B5EF4-FFF2-40B4-BE49-F238E27FC236}">
                  <a16:creationId xmlns:a16="http://schemas.microsoft.com/office/drawing/2014/main" id="{E6C46C75-90FC-E9EB-B79E-80A5FB9B6A2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8" name="AutoShape 9">
              <a:extLst>
                <a:ext uri="{FF2B5EF4-FFF2-40B4-BE49-F238E27FC236}">
                  <a16:creationId xmlns:a16="http://schemas.microsoft.com/office/drawing/2014/main" id="{542FE8E5-D855-B543-4B7C-9A57E9BBC56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8A8B76A8-9EEB-DB2E-06AD-438D6DB4105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E204E06C-205D-3950-11BF-A22A08B1478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9">
              <a:extLst>
                <a:ext uri="{FF2B5EF4-FFF2-40B4-BE49-F238E27FC236}">
                  <a16:creationId xmlns:a16="http://schemas.microsoft.com/office/drawing/2014/main" id="{4002AB09-372D-DE4B-8AF5-7AF25E5675DA}"/>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110BA2F-8BB6-F4C2-02D5-259AD7464F8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3" name="Line 13">
            <a:extLst>
              <a:ext uri="{FF2B5EF4-FFF2-40B4-BE49-F238E27FC236}">
                <a16:creationId xmlns:a16="http://schemas.microsoft.com/office/drawing/2014/main" id="{D01CFC0B-6DA0-C8AA-A36B-7C48013DDFA0}"/>
              </a:ext>
            </a:extLst>
          </p:cNvPr>
          <p:cNvSpPr>
            <a:spLocks noChangeShapeType="1"/>
          </p:cNvSpPr>
          <p:nvPr/>
        </p:nvSpPr>
        <p:spPr bwMode="auto">
          <a:xfrm flipV="1">
            <a:off x="7629144" y="2715768"/>
            <a:ext cx="2428875" cy="0"/>
          </a:xfrm>
          <a:prstGeom prst="line">
            <a:avLst/>
          </a:prstGeom>
          <a:noFill/>
          <a:ln w="762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grpSp>
        <p:nvGrpSpPr>
          <p:cNvPr id="14" name="Group 21">
            <a:extLst>
              <a:ext uri="{FF2B5EF4-FFF2-40B4-BE49-F238E27FC236}">
                <a16:creationId xmlns:a16="http://schemas.microsoft.com/office/drawing/2014/main" id="{FA62D842-B6A4-041C-C077-D4D921DED126}"/>
              </a:ext>
            </a:extLst>
          </p:cNvPr>
          <p:cNvGrpSpPr>
            <a:grpSpLocks/>
          </p:cNvGrpSpPr>
          <p:nvPr/>
        </p:nvGrpSpPr>
        <p:grpSpPr bwMode="auto">
          <a:xfrm>
            <a:off x="7997444" y="2214118"/>
            <a:ext cx="1570038" cy="930275"/>
            <a:chOff x="4122" y="797"/>
            <a:chExt cx="989" cy="586"/>
          </a:xfrm>
        </p:grpSpPr>
        <p:sp>
          <p:nvSpPr>
            <p:cNvPr id="15" name="Rectangle 15">
              <a:extLst>
                <a:ext uri="{FF2B5EF4-FFF2-40B4-BE49-F238E27FC236}">
                  <a16:creationId xmlns:a16="http://schemas.microsoft.com/office/drawing/2014/main" id="{CBCA7189-1281-49D5-E29F-BEC1136A4EEB}"/>
                </a:ext>
              </a:extLst>
            </p:cNvPr>
            <p:cNvSpPr>
              <a:spLocks noChangeArrowheads="1"/>
            </p:cNvSpPr>
            <p:nvPr/>
          </p:nvSpPr>
          <p:spPr bwMode="auto">
            <a:xfrm>
              <a:off x="4122" y="919"/>
              <a:ext cx="989" cy="464"/>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Text Box 16">
              <a:extLst>
                <a:ext uri="{FF2B5EF4-FFF2-40B4-BE49-F238E27FC236}">
                  <a16:creationId xmlns:a16="http://schemas.microsoft.com/office/drawing/2014/main" id="{8635ED7B-0BD7-69BC-C701-C057E196D226}"/>
                </a:ext>
              </a:extLst>
            </p:cNvPr>
            <p:cNvSpPr txBox="1">
              <a:spLocks noChangeArrowheads="1"/>
            </p:cNvSpPr>
            <p:nvPr/>
          </p:nvSpPr>
          <p:spPr bwMode="auto">
            <a:xfrm>
              <a:off x="4483" y="1037"/>
              <a:ext cx="308"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2400" b="0" dirty="0">
                  <a:latin typeface="Roboto" panose="02000000000000000000" pitchFamily="2" charset="0"/>
                  <a:ea typeface="Roboto" panose="02000000000000000000" pitchFamily="2" charset="0"/>
                  <a:cs typeface="Roboto" panose="02000000000000000000" pitchFamily="2" charset="0"/>
                </a:rPr>
                <a:t>IN</a:t>
              </a:r>
            </a:p>
          </p:txBody>
        </p:sp>
        <p:sp>
          <p:nvSpPr>
            <p:cNvPr id="17" name="AutoShape 17">
              <a:extLst>
                <a:ext uri="{FF2B5EF4-FFF2-40B4-BE49-F238E27FC236}">
                  <a16:creationId xmlns:a16="http://schemas.microsoft.com/office/drawing/2014/main" id="{C56EF6D5-B9AB-EF08-27DA-2B3BCAA2FEC2}"/>
                </a:ext>
              </a:extLst>
            </p:cNvPr>
            <p:cNvSpPr>
              <a:spLocks/>
            </p:cNvSpPr>
            <p:nvPr/>
          </p:nvSpPr>
          <p:spPr bwMode="auto">
            <a:xfrm rot="-5400000">
              <a:off x="4592" y="327"/>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18">
              <a:extLst>
                <a:ext uri="{FF2B5EF4-FFF2-40B4-BE49-F238E27FC236}">
                  <a16:creationId xmlns:a16="http://schemas.microsoft.com/office/drawing/2014/main" id="{D4C8907E-FCB0-3199-118E-15BBBA089EDF}"/>
                </a:ext>
              </a:extLst>
            </p:cNvPr>
            <p:cNvSpPr>
              <a:spLocks/>
            </p:cNvSpPr>
            <p:nvPr/>
          </p:nvSpPr>
          <p:spPr bwMode="auto">
            <a:xfrm rot="-5400000">
              <a:off x="4592" y="352"/>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19">
              <a:extLst>
                <a:ext uri="{FF2B5EF4-FFF2-40B4-BE49-F238E27FC236}">
                  <a16:creationId xmlns:a16="http://schemas.microsoft.com/office/drawing/2014/main" id="{1CD2C139-AE00-CFF1-CE33-F293B3C51137}"/>
                </a:ext>
              </a:extLst>
            </p:cNvPr>
            <p:cNvSpPr>
              <a:spLocks/>
            </p:cNvSpPr>
            <p:nvPr/>
          </p:nvSpPr>
          <p:spPr bwMode="auto">
            <a:xfrm rot="-5400000">
              <a:off x="4592" y="377"/>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0" name="Rectangle 22">
            <a:extLst>
              <a:ext uri="{FF2B5EF4-FFF2-40B4-BE49-F238E27FC236}">
                <a16:creationId xmlns:a16="http://schemas.microsoft.com/office/drawing/2014/main" id="{C0681532-AB67-014C-625E-8E0474FC3234}"/>
              </a:ext>
            </a:extLst>
          </p:cNvPr>
          <p:cNvSpPr>
            <a:spLocks noChangeArrowheads="1"/>
          </p:cNvSpPr>
          <p:nvPr/>
        </p:nvSpPr>
        <p:spPr bwMode="auto">
          <a:xfrm>
            <a:off x="7999032" y="3503168"/>
            <a:ext cx="1582737" cy="1538288"/>
          </a:xfrm>
          <a:prstGeom prst="rect">
            <a:avLst/>
          </a:prstGeom>
          <a:noFill/>
          <a:ln w="12700" cap="sq">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cs typeface="Roboto" panose="02000000000000000000" pitchFamily="2" charset="0"/>
              </a:rPr>
              <a:t>In-box</a:t>
            </a:r>
          </a:p>
          <a:p>
            <a:pPr algn="ctr">
              <a:lnSpc>
                <a:spcPct val="80000"/>
              </a:lnSpc>
              <a:spcBef>
                <a:spcPct val="20000"/>
              </a:spcBef>
              <a:spcAft>
                <a:spcPct val="0"/>
              </a:spcAft>
              <a:buClrTx/>
              <a:buSzTx/>
              <a:buFontTx/>
              <a:buNone/>
            </a:pPr>
            <a:endParaRPr lang="en-US" altLang="en-US" sz="1400">
              <a:latin typeface="Roboto" panose="02000000000000000000" pitchFamily="2" charset="0"/>
              <a:ea typeface="Roboto" panose="02000000000000000000" pitchFamily="2" charset="0"/>
              <a:cs typeface="Roboto" panose="02000000000000000000" pitchFamily="2" charset="0"/>
            </a:endParaRPr>
          </a:p>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cs typeface="Roboto" panose="02000000000000000000" pitchFamily="2" charset="0"/>
              </a:rPr>
              <a:t>FIFO</a:t>
            </a:r>
          </a:p>
          <a:p>
            <a:pPr algn="ctr">
              <a:lnSpc>
                <a:spcPct val="80000"/>
              </a:lnSpc>
              <a:spcBef>
                <a:spcPct val="20000"/>
              </a:spcBef>
              <a:spcAft>
                <a:spcPct val="0"/>
              </a:spcAft>
              <a:buClrTx/>
              <a:buSzTx/>
              <a:buFontTx/>
              <a:buNone/>
            </a:pPr>
            <a:endParaRPr lang="en-US" altLang="en-US" sz="1400">
              <a:latin typeface="Roboto" panose="02000000000000000000" pitchFamily="2" charset="0"/>
              <a:ea typeface="Roboto" panose="02000000000000000000" pitchFamily="2" charset="0"/>
              <a:cs typeface="Roboto" panose="02000000000000000000" pitchFamily="2" charset="0"/>
            </a:endParaRPr>
          </a:p>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cs typeface="Roboto" panose="02000000000000000000" pitchFamily="2" charset="0"/>
              </a:rPr>
              <a:t>200 Applications</a:t>
            </a:r>
          </a:p>
        </p:txBody>
      </p:sp>
      <p:sp>
        <p:nvSpPr>
          <p:cNvPr id="21" name="Line 23">
            <a:extLst>
              <a:ext uri="{FF2B5EF4-FFF2-40B4-BE49-F238E27FC236}">
                <a16:creationId xmlns:a16="http://schemas.microsoft.com/office/drawing/2014/main" id="{3EC0B55D-A2A8-FB28-39F0-71FB8D590BFC}"/>
              </a:ext>
            </a:extLst>
          </p:cNvPr>
          <p:cNvSpPr>
            <a:spLocks noChangeShapeType="1"/>
          </p:cNvSpPr>
          <p:nvPr/>
        </p:nvSpPr>
        <p:spPr bwMode="auto">
          <a:xfrm>
            <a:off x="7984744" y="4068318"/>
            <a:ext cx="161131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2" name="Line 25">
            <a:extLst>
              <a:ext uri="{FF2B5EF4-FFF2-40B4-BE49-F238E27FC236}">
                <a16:creationId xmlns:a16="http://schemas.microsoft.com/office/drawing/2014/main" id="{F8C93904-B627-403A-1916-C41BE2D56AD1}"/>
              </a:ext>
            </a:extLst>
          </p:cNvPr>
          <p:cNvSpPr>
            <a:spLocks noChangeShapeType="1"/>
          </p:cNvSpPr>
          <p:nvPr/>
        </p:nvSpPr>
        <p:spPr bwMode="auto">
          <a:xfrm>
            <a:off x="7999032" y="4446142"/>
            <a:ext cx="1568450" cy="1612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88518247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B6976-B063-C8F6-D24A-F8EE865AFC9F}"/>
              </a:ext>
            </a:extLst>
          </p:cNvPr>
          <p:cNvSpPr>
            <a:spLocks noGrp="1"/>
          </p:cNvSpPr>
          <p:nvPr>
            <p:ph type="title"/>
          </p:nvPr>
        </p:nvSpPr>
        <p:spPr/>
        <p:txBody>
          <a:bodyPr/>
          <a:lstStyle/>
          <a:p>
            <a:r>
              <a:rPr lang="en-US" dirty="0"/>
              <a:t>Mapping Inventory</a:t>
            </a:r>
          </a:p>
        </p:txBody>
      </p:sp>
      <p:sp>
        <p:nvSpPr>
          <p:cNvPr id="3" name="Content Placeholder 2">
            <a:extLst>
              <a:ext uri="{FF2B5EF4-FFF2-40B4-BE49-F238E27FC236}">
                <a16:creationId xmlns:a16="http://schemas.microsoft.com/office/drawing/2014/main" id="{AF615597-F36D-D40D-B4C6-9395F5E6D336}"/>
              </a:ext>
            </a:extLst>
          </p:cNvPr>
          <p:cNvSpPr>
            <a:spLocks noGrp="1"/>
          </p:cNvSpPr>
          <p:nvPr>
            <p:ph idx="1"/>
          </p:nvPr>
        </p:nvSpPr>
        <p:spPr>
          <a:xfrm>
            <a:off x="838200" y="1825625"/>
            <a:ext cx="5257800" cy="2142871"/>
          </a:xfrm>
        </p:spPr>
        <p:txBody>
          <a:bodyPr>
            <a:normAutofit fontScale="77500" lnSpcReduction="20000"/>
          </a:bodyPr>
          <a:lstStyle/>
          <a:p>
            <a:pPr>
              <a:lnSpc>
                <a:spcPct val="120000"/>
              </a:lnSpc>
            </a:pPr>
            <a:endParaRPr lang="en-US" sz="2000" dirty="0"/>
          </a:p>
          <a:p>
            <a:pPr>
              <a:lnSpc>
                <a:spcPct val="120000"/>
              </a:lnSpc>
            </a:pPr>
            <a:r>
              <a:rPr lang="en-US" sz="2000" dirty="0"/>
              <a:t>Inventory are the observed queued transactions waiting to complete the process</a:t>
            </a:r>
          </a:p>
          <a:p>
            <a:pPr>
              <a:lnSpc>
                <a:spcPct val="120000"/>
              </a:lnSpc>
            </a:pPr>
            <a:r>
              <a:rPr lang="en-US" sz="2000" b="1" dirty="0"/>
              <a:t>Inventory</a:t>
            </a:r>
          </a:p>
          <a:p>
            <a:pPr lvl="1">
              <a:lnSpc>
                <a:spcPct val="120000"/>
              </a:lnSpc>
              <a:buClr>
                <a:schemeClr val="tx1"/>
              </a:buClr>
            </a:pPr>
            <a:r>
              <a:rPr lang="en-US" sz="1600" b="1" dirty="0">
                <a:solidFill>
                  <a:srgbClr val="EE3228"/>
                </a:solidFill>
              </a:rPr>
              <a:t>75</a:t>
            </a:r>
            <a:r>
              <a:rPr lang="en-US" sz="1600" dirty="0"/>
              <a:t> mailed envelopes in the mailroom to be opened and sorted</a:t>
            </a:r>
          </a:p>
          <a:p>
            <a:pPr lvl="1">
              <a:lnSpc>
                <a:spcPct val="120000"/>
              </a:lnSpc>
              <a:buClr>
                <a:schemeClr val="tx1"/>
              </a:buClr>
            </a:pPr>
            <a:r>
              <a:rPr lang="en-US" sz="1600" b="1" dirty="0">
                <a:solidFill>
                  <a:srgbClr val="EE3228"/>
                </a:solidFill>
              </a:rPr>
              <a:t>200</a:t>
            </a:r>
            <a:r>
              <a:rPr lang="en-US" sz="1600" dirty="0"/>
              <a:t> applications for data entry</a:t>
            </a:r>
          </a:p>
          <a:p>
            <a:pPr>
              <a:lnSpc>
                <a:spcPct val="120000"/>
              </a:lnSpc>
            </a:pPr>
            <a:endParaRPr lang="en-US" sz="2000" dirty="0"/>
          </a:p>
        </p:txBody>
      </p:sp>
      <p:sp>
        <p:nvSpPr>
          <p:cNvPr id="4" name="Slide Number Placeholder 3">
            <a:extLst>
              <a:ext uri="{FF2B5EF4-FFF2-40B4-BE49-F238E27FC236}">
                <a16:creationId xmlns:a16="http://schemas.microsoft.com/office/drawing/2014/main" id="{3F4765DD-EEB3-03F4-A096-265D31B1FC44}"/>
              </a:ext>
            </a:extLst>
          </p:cNvPr>
          <p:cNvSpPr>
            <a:spLocks noGrp="1"/>
          </p:cNvSpPr>
          <p:nvPr>
            <p:ph type="sldNum" sz="quarter" idx="4"/>
          </p:nvPr>
        </p:nvSpPr>
        <p:spPr/>
        <p:txBody>
          <a:bodyPr/>
          <a:lstStyle/>
          <a:p>
            <a:fld id="{CC6D4273-7FC1-0947-B9FE-19CB3C0D1FB6}" type="slidenum">
              <a:rPr lang="en-US" smtClean="0"/>
              <a:pPr/>
              <a:t>53</a:t>
            </a:fld>
            <a:endParaRPr lang="en-US"/>
          </a:p>
        </p:txBody>
      </p:sp>
      <p:grpSp>
        <p:nvGrpSpPr>
          <p:cNvPr id="6" name="Group 5">
            <a:extLst>
              <a:ext uri="{FF2B5EF4-FFF2-40B4-BE49-F238E27FC236}">
                <a16:creationId xmlns:a16="http://schemas.microsoft.com/office/drawing/2014/main" id="{C38405B8-0B60-14BB-38F6-E1F28AE3BA6D}"/>
              </a:ext>
            </a:extLst>
          </p:cNvPr>
          <p:cNvGrpSpPr/>
          <p:nvPr/>
        </p:nvGrpSpPr>
        <p:grpSpPr>
          <a:xfrm>
            <a:off x="940249" y="302538"/>
            <a:ext cx="6219503" cy="311932"/>
            <a:chOff x="940249" y="302538"/>
            <a:chExt cx="6219503" cy="311932"/>
          </a:xfrm>
        </p:grpSpPr>
        <p:sp>
          <p:nvSpPr>
            <p:cNvPr id="7" name="TextBox 6">
              <a:extLst>
                <a:ext uri="{FF2B5EF4-FFF2-40B4-BE49-F238E27FC236}">
                  <a16:creationId xmlns:a16="http://schemas.microsoft.com/office/drawing/2014/main" id="{E6C46C75-90FC-E9EB-B79E-80A5FB9B6A2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8" name="AutoShape 9">
              <a:extLst>
                <a:ext uri="{FF2B5EF4-FFF2-40B4-BE49-F238E27FC236}">
                  <a16:creationId xmlns:a16="http://schemas.microsoft.com/office/drawing/2014/main" id="{542FE8E5-D855-B543-4B7C-9A57E9BBC56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8A8B76A8-9EEB-DB2E-06AD-438D6DB4105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E204E06C-205D-3950-11BF-A22A08B1478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9">
              <a:extLst>
                <a:ext uri="{FF2B5EF4-FFF2-40B4-BE49-F238E27FC236}">
                  <a16:creationId xmlns:a16="http://schemas.microsoft.com/office/drawing/2014/main" id="{4002AB09-372D-DE4B-8AF5-7AF25E5675DA}"/>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110BA2F-8BB6-F4C2-02D5-259AD7464F8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3" name="Content Placeholder 2">
            <a:extLst>
              <a:ext uri="{FF2B5EF4-FFF2-40B4-BE49-F238E27FC236}">
                <a16:creationId xmlns:a16="http://schemas.microsoft.com/office/drawing/2014/main" id="{8DF85E2F-3229-03B3-BFB8-46E8A181FEC2}"/>
              </a:ext>
            </a:extLst>
          </p:cNvPr>
          <p:cNvSpPr txBox="1">
            <a:spLocks/>
          </p:cNvSpPr>
          <p:nvPr/>
        </p:nvSpPr>
        <p:spPr>
          <a:xfrm>
            <a:off x="5966178" y="2932048"/>
            <a:ext cx="5257800" cy="124358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lnSpc>
                <a:spcPct val="120000"/>
              </a:lnSpc>
              <a:buClr>
                <a:schemeClr val="tx1"/>
              </a:buClr>
            </a:pPr>
            <a:r>
              <a:rPr lang="en-US" sz="1600" b="1" dirty="0">
                <a:solidFill>
                  <a:srgbClr val="EE3228"/>
                </a:solidFill>
              </a:rPr>
              <a:t>500</a:t>
            </a:r>
            <a:r>
              <a:rPr lang="en-US" sz="1600" dirty="0"/>
              <a:t> files waiting for underwriting</a:t>
            </a:r>
          </a:p>
          <a:p>
            <a:pPr lvl="1">
              <a:lnSpc>
                <a:spcPct val="120000"/>
              </a:lnSpc>
              <a:buClr>
                <a:schemeClr val="tx1"/>
              </a:buClr>
            </a:pPr>
            <a:r>
              <a:rPr lang="en-US" sz="1600" b="1" dirty="0">
                <a:solidFill>
                  <a:srgbClr val="EE3228"/>
                </a:solidFill>
              </a:rPr>
              <a:t>0</a:t>
            </a:r>
            <a:r>
              <a:rPr lang="en-US" sz="1600" dirty="0"/>
              <a:t> files for package generation</a:t>
            </a:r>
          </a:p>
          <a:p>
            <a:pPr lvl="1">
              <a:lnSpc>
                <a:spcPct val="120000"/>
              </a:lnSpc>
              <a:buClr>
                <a:schemeClr val="tx1"/>
              </a:buClr>
            </a:pPr>
            <a:r>
              <a:rPr lang="en-US" sz="1600" b="1" dirty="0">
                <a:solidFill>
                  <a:srgbClr val="EE3228"/>
                </a:solidFill>
              </a:rPr>
              <a:t>75 </a:t>
            </a:r>
            <a:r>
              <a:rPr lang="en-US" sz="1600" dirty="0"/>
              <a:t>welcome packages to be sent</a:t>
            </a:r>
          </a:p>
          <a:p>
            <a:pPr marL="457200" lvl="1" indent="0">
              <a:lnSpc>
                <a:spcPct val="120000"/>
              </a:lnSpc>
              <a:buNone/>
            </a:pPr>
            <a:endParaRPr lang="en-US" sz="1600" dirty="0"/>
          </a:p>
        </p:txBody>
      </p:sp>
      <p:grpSp>
        <p:nvGrpSpPr>
          <p:cNvPr id="228" name="Group 227">
            <a:extLst>
              <a:ext uri="{FF2B5EF4-FFF2-40B4-BE49-F238E27FC236}">
                <a16:creationId xmlns:a16="http://schemas.microsoft.com/office/drawing/2014/main" id="{54F56239-A75B-DBF5-C87E-A0C8F8B160B1}"/>
              </a:ext>
            </a:extLst>
          </p:cNvPr>
          <p:cNvGrpSpPr/>
          <p:nvPr/>
        </p:nvGrpSpPr>
        <p:grpSpPr>
          <a:xfrm>
            <a:off x="2787298" y="4657598"/>
            <a:ext cx="1186548" cy="925512"/>
            <a:chOff x="2588968" y="4639120"/>
            <a:chExt cx="685800" cy="925512"/>
          </a:xfrm>
        </p:grpSpPr>
        <p:sp>
          <p:nvSpPr>
            <p:cNvPr id="27" name="Line 266">
              <a:extLst>
                <a:ext uri="{FF2B5EF4-FFF2-40B4-BE49-F238E27FC236}">
                  <a16:creationId xmlns:a16="http://schemas.microsoft.com/office/drawing/2014/main" id="{8B64D291-816D-DF70-5E63-472C14F09DB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1" name="Text Box 270">
              <a:extLst>
                <a:ext uri="{FF2B5EF4-FFF2-40B4-BE49-F238E27FC236}">
                  <a16:creationId xmlns:a16="http://schemas.microsoft.com/office/drawing/2014/main" id="{C955B4B2-CC85-FC06-067E-7A22F17CAE21}"/>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115" name="Group 361">
              <a:extLst>
                <a:ext uri="{FF2B5EF4-FFF2-40B4-BE49-F238E27FC236}">
                  <a16:creationId xmlns:a16="http://schemas.microsoft.com/office/drawing/2014/main" id="{0770431F-F029-9BDA-2980-22CD910BF9A1}"/>
                </a:ext>
              </a:extLst>
            </p:cNvPr>
            <p:cNvGrpSpPr>
              <a:grpSpLocks/>
            </p:cNvGrpSpPr>
            <p:nvPr/>
          </p:nvGrpSpPr>
          <p:grpSpPr bwMode="auto">
            <a:xfrm>
              <a:off x="2725493" y="4639120"/>
              <a:ext cx="381000" cy="336550"/>
              <a:chOff x="4122" y="1171"/>
              <a:chExt cx="240" cy="212"/>
            </a:xfrm>
          </p:grpSpPr>
          <p:sp>
            <p:nvSpPr>
              <p:cNvPr id="116" name="Rectangle 362">
                <a:extLst>
                  <a:ext uri="{FF2B5EF4-FFF2-40B4-BE49-F238E27FC236}">
                    <a16:creationId xmlns:a16="http://schemas.microsoft.com/office/drawing/2014/main" id="{69874529-1970-7BE7-35DF-7972135AB82D}"/>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7" name="Text Box 363">
                <a:extLst>
                  <a:ext uri="{FF2B5EF4-FFF2-40B4-BE49-F238E27FC236}">
                    <a16:creationId xmlns:a16="http://schemas.microsoft.com/office/drawing/2014/main" id="{56BBBFEE-7A95-5D8C-6EF8-DCBE48243CC1}"/>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18" name="AutoShape 364">
                <a:extLst>
                  <a:ext uri="{FF2B5EF4-FFF2-40B4-BE49-F238E27FC236}">
                    <a16:creationId xmlns:a16="http://schemas.microsoft.com/office/drawing/2014/main" id="{C8960F8B-3BB0-2F9B-8698-7060FE2C8A09}"/>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9" name="AutoShape 365">
                <a:extLst>
                  <a:ext uri="{FF2B5EF4-FFF2-40B4-BE49-F238E27FC236}">
                    <a16:creationId xmlns:a16="http://schemas.microsoft.com/office/drawing/2014/main" id="{D3CC356F-2F75-3E39-28F5-F604D56B9C0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0" name="AutoShape 366">
                <a:extLst>
                  <a:ext uri="{FF2B5EF4-FFF2-40B4-BE49-F238E27FC236}">
                    <a16:creationId xmlns:a16="http://schemas.microsoft.com/office/drawing/2014/main" id="{9D327701-4577-A4A9-62CF-B918DD4EFF6D}"/>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39" name="Group 391">
              <a:extLst>
                <a:ext uri="{FF2B5EF4-FFF2-40B4-BE49-F238E27FC236}">
                  <a16:creationId xmlns:a16="http://schemas.microsoft.com/office/drawing/2014/main" id="{546301F1-DBB3-B37D-0247-E1EB767B8CE2}"/>
                </a:ext>
              </a:extLst>
            </p:cNvPr>
            <p:cNvGrpSpPr>
              <a:grpSpLocks/>
            </p:cNvGrpSpPr>
            <p:nvPr/>
          </p:nvGrpSpPr>
          <p:grpSpPr bwMode="auto">
            <a:xfrm>
              <a:off x="2725493" y="5009007"/>
              <a:ext cx="381000" cy="533400"/>
              <a:chOff x="576" y="1200"/>
              <a:chExt cx="240" cy="336"/>
            </a:xfrm>
          </p:grpSpPr>
          <p:sp>
            <p:nvSpPr>
              <p:cNvPr id="140" name="Rectangle 392">
                <a:extLst>
                  <a:ext uri="{FF2B5EF4-FFF2-40B4-BE49-F238E27FC236}">
                    <a16:creationId xmlns:a16="http://schemas.microsoft.com/office/drawing/2014/main" id="{82EB5A5F-877E-5577-450C-F66CE22E592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1" name="Line 393">
                <a:extLst>
                  <a:ext uri="{FF2B5EF4-FFF2-40B4-BE49-F238E27FC236}">
                    <a16:creationId xmlns:a16="http://schemas.microsoft.com/office/drawing/2014/main" id="{123F6FFE-067F-C665-E836-195A5537CF0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42" name="Line 394">
                <a:extLst>
                  <a:ext uri="{FF2B5EF4-FFF2-40B4-BE49-F238E27FC236}">
                    <a16:creationId xmlns:a16="http://schemas.microsoft.com/office/drawing/2014/main" id="{61E790DC-D14A-DAE4-E440-1EE0FEBB2346}"/>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27" name="Group 226">
            <a:extLst>
              <a:ext uri="{FF2B5EF4-FFF2-40B4-BE49-F238E27FC236}">
                <a16:creationId xmlns:a16="http://schemas.microsoft.com/office/drawing/2014/main" id="{E410AB2D-D1F8-12E9-6E18-4C805A194E18}"/>
              </a:ext>
            </a:extLst>
          </p:cNvPr>
          <p:cNvGrpSpPr/>
          <p:nvPr/>
        </p:nvGrpSpPr>
        <p:grpSpPr>
          <a:xfrm>
            <a:off x="5030705" y="4710173"/>
            <a:ext cx="1005270" cy="931862"/>
            <a:chOff x="4046293" y="4639120"/>
            <a:chExt cx="581025" cy="931862"/>
          </a:xfrm>
        </p:grpSpPr>
        <p:sp>
          <p:nvSpPr>
            <p:cNvPr id="26" name="Line 265">
              <a:extLst>
                <a:ext uri="{FF2B5EF4-FFF2-40B4-BE49-F238E27FC236}">
                  <a16:creationId xmlns:a16="http://schemas.microsoft.com/office/drawing/2014/main" id="{B2D44E92-85C1-5506-E548-83166FF4A25D}"/>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Text Box 277">
              <a:extLst>
                <a:ext uri="{FF2B5EF4-FFF2-40B4-BE49-F238E27FC236}">
                  <a16:creationId xmlns:a16="http://schemas.microsoft.com/office/drawing/2014/main" id="{34FC2FD5-2930-6A74-3F53-5ED6775D93CB}"/>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121" name="Group 367">
              <a:extLst>
                <a:ext uri="{FF2B5EF4-FFF2-40B4-BE49-F238E27FC236}">
                  <a16:creationId xmlns:a16="http://schemas.microsoft.com/office/drawing/2014/main" id="{7E8D64EC-5E3E-9B34-8DEE-3802A6FDD8AA}"/>
                </a:ext>
              </a:extLst>
            </p:cNvPr>
            <p:cNvGrpSpPr>
              <a:grpSpLocks/>
            </p:cNvGrpSpPr>
            <p:nvPr/>
          </p:nvGrpSpPr>
          <p:grpSpPr bwMode="auto">
            <a:xfrm>
              <a:off x="4078043" y="4639120"/>
              <a:ext cx="381000" cy="336550"/>
              <a:chOff x="4122" y="1171"/>
              <a:chExt cx="240" cy="212"/>
            </a:xfrm>
          </p:grpSpPr>
          <p:sp>
            <p:nvSpPr>
              <p:cNvPr id="122" name="Rectangle 368">
                <a:extLst>
                  <a:ext uri="{FF2B5EF4-FFF2-40B4-BE49-F238E27FC236}">
                    <a16:creationId xmlns:a16="http://schemas.microsoft.com/office/drawing/2014/main" id="{EEED53A0-CB2F-74CD-EAF0-9DE2F32B367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3" name="Text Box 369">
                <a:extLst>
                  <a:ext uri="{FF2B5EF4-FFF2-40B4-BE49-F238E27FC236}">
                    <a16:creationId xmlns:a16="http://schemas.microsoft.com/office/drawing/2014/main" id="{9D493A28-8F88-C4B7-F43E-84091E3B221F}"/>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24" name="AutoShape 370">
                <a:extLst>
                  <a:ext uri="{FF2B5EF4-FFF2-40B4-BE49-F238E27FC236}">
                    <a16:creationId xmlns:a16="http://schemas.microsoft.com/office/drawing/2014/main" id="{4350C374-E01B-5F6E-4A22-F7BCEA9A65D5}"/>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5" name="AutoShape 371">
                <a:extLst>
                  <a:ext uri="{FF2B5EF4-FFF2-40B4-BE49-F238E27FC236}">
                    <a16:creationId xmlns:a16="http://schemas.microsoft.com/office/drawing/2014/main" id="{2FA9C8B4-3B9E-5D64-502E-8278E48C3CE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6" name="AutoShape 372">
                <a:extLst>
                  <a:ext uri="{FF2B5EF4-FFF2-40B4-BE49-F238E27FC236}">
                    <a16:creationId xmlns:a16="http://schemas.microsoft.com/office/drawing/2014/main" id="{510091CB-424B-E1A6-CC7C-DAC080EE49DA}"/>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43" name="Group 395">
              <a:extLst>
                <a:ext uri="{FF2B5EF4-FFF2-40B4-BE49-F238E27FC236}">
                  <a16:creationId xmlns:a16="http://schemas.microsoft.com/office/drawing/2014/main" id="{4B4E5045-6A3C-2CF6-B099-1F69CDDA71F3}"/>
                </a:ext>
              </a:extLst>
            </p:cNvPr>
            <p:cNvGrpSpPr>
              <a:grpSpLocks/>
            </p:cNvGrpSpPr>
            <p:nvPr/>
          </p:nvGrpSpPr>
          <p:grpSpPr bwMode="auto">
            <a:xfrm>
              <a:off x="4078043" y="5009007"/>
              <a:ext cx="381000" cy="533400"/>
              <a:chOff x="576" y="1200"/>
              <a:chExt cx="240" cy="336"/>
            </a:xfrm>
          </p:grpSpPr>
          <p:sp>
            <p:nvSpPr>
              <p:cNvPr id="144" name="Rectangle 396">
                <a:extLst>
                  <a:ext uri="{FF2B5EF4-FFF2-40B4-BE49-F238E27FC236}">
                    <a16:creationId xmlns:a16="http://schemas.microsoft.com/office/drawing/2014/main" id="{F53326BD-7FB0-596D-4C61-7D42002549C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5" name="Line 397">
                <a:extLst>
                  <a:ext uri="{FF2B5EF4-FFF2-40B4-BE49-F238E27FC236}">
                    <a16:creationId xmlns:a16="http://schemas.microsoft.com/office/drawing/2014/main" id="{7C55797C-39C7-C95C-6E73-4064AC4CF741}"/>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46" name="Line 398">
                <a:extLst>
                  <a:ext uri="{FF2B5EF4-FFF2-40B4-BE49-F238E27FC236}">
                    <a16:creationId xmlns:a16="http://schemas.microsoft.com/office/drawing/2014/main" id="{072D975F-2149-1DFF-B719-4B196AE56EAA}"/>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25" name="Group 224">
            <a:extLst>
              <a:ext uri="{FF2B5EF4-FFF2-40B4-BE49-F238E27FC236}">
                <a16:creationId xmlns:a16="http://schemas.microsoft.com/office/drawing/2014/main" id="{FF75F6A5-DD6B-C050-51D0-F85FCED8A373}"/>
              </a:ext>
            </a:extLst>
          </p:cNvPr>
          <p:cNvGrpSpPr/>
          <p:nvPr/>
        </p:nvGrpSpPr>
        <p:grpSpPr>
          <a:xfrm>
            <a:off x="7124358" y="4668305"/>
            <a:ext cx="1008017" cy="903287"/>
            <a:chOff x="6585196" y="4639120"/>
            <a:chExt cx="582613" cy="903287"/>
          </a:xfrm>
        </p:grpSpPr>
        <p:sp>
          <p:nvSpPr>
            <p:cNvPr id="25" name="Line 264">
              <a:extLst>
                <a:ext uri="{FF2B5EF4-FFF2-40B4-BE49-F238E27FC236}">
                  <a16:creationId xmlns:a16="http://schemas.microsoft.com/office/drawing/2014/main" id="{A74D89BB-8481-B5B3-32D2-AB0FC41CEC39}"/>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2" name="Text Box 271">
              <a:extLst>
                <a:ext uri="{FF2B5EF4-FFF2-40B4-BE49-F238E27FC236}">
                  <a16:creationId xmlns:a16="http://schemas.microsoft.com/office/drawing/2014/main" id="{4D072920-15A0-F324-6E63-DFBDDF64171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127" name="Group 373">
              <a:extLst>
                <a:ext uri="{FF2B5EF4-FFF2-40B4-BE49-F238E27FC236}">
                  <a16:creationId xmlns:a16="http://schemas.microsoft.com/office/drawing/2014/main" id="{26456B59-00AF-EED4-F56E-3CE49B077FEC}"/>
                </a:ext>
              </a:extLst>
            </p:cNvPr>
            <p:cNvGrpSpPr>
              <a:grpSpLocks/>
            </p:cNvGrpSpPr>
            <p:nvPr/>
          </p:nvGrpSpPr>
          <p:grpSpPr bwMode="auto">
            <a:xfrm>
              <a:off x="6632821" y="4639120"/>
              <a:ext cx="381000" cy="336550"/>
              <a:chOff x="4122" y="1171"/>
              <a:chExt cx="240" cy="212"/>
            </a:xfrm>
          </p:grpSpPr>
          <p:sp>
            <p:nvSpPr>
              <p:cNvPr id="128" name="Rectangle 374">
                <a:extLst>
                  <a:ext uri="{FF2B5EF4-FFF2-40B4-BE49-F238E27FC236}">
                    <a16:creationId xmlns:a16="http://schemas.microsoft.com/office/drawing/2014/main" id="{CEC39F16-1246-BC39-C1B3-9E6FD2C1E655}"/>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9" name="Text Box 375">
                <a:extLst>
                  <a:ext uri="{FF2B5EF4-FFF2-40B4-BE49-F238E27FC236}">
                    <a16:creationId xmlns:a16="http://schemas.microsoft.com/office/drawing/2014/main" id="{736E8984-8D49-8109-3996-5B79C150B3E7}"/>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30" name="AutoShape 376">
                <a:extLst>
                  <a:ext uri="{FF2B5EF4-FFF2-40B4-BE49-F238E27FC236}">
                    <a16:creationId xmlns:a16="http://schemas.microsoft.com/office/drawing/2014/main" id="{08F9A781-C9FF-E06B-61BC-0B2571B6296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1" name="AutoShape 377">
                <a:extLst>
                  <a:ext uri="{FF2B5EF4-FFF2-40B4-BE49-F238E27FC236}">
                    <a16:creationId xmlns:a16="http://schemas.microsoft.com/office/drawing/2014/main" id="{3E1C630D-51BB-91AF-D5FF-2AD40E215222}"/>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2" name="AutoShape 378">
                <a:extLst>
                  <a:ext uri="{FF2B5EF4-FFF2-40B4-BE49-F238E27FC236}">
                    <a16:creationId xmlns:a16="http://schemas.microsoft.com/office/drawing/2014/main" id="{5F137387-83DF-B913-08D2-F4517D0842B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47" name="Group 399">
              <a:extLst>
                <a:ext uri="{FF2B5EF4-FFF2-40B4-BE49-F238E27FC236}">
                  <a16:creationId xmlns:a16="http://schemas.microsoft.com/office/drawing/2014/main" id="{B85782E7-AC5E-620F-FE25-3AE2699D9486}"/>
                </a:ext>
              </a:extLst>
            </p:cNvPr>
            <p:cNvGrpSpPr>
              <a:grpSpLocks/>
            </p:cNvGrpSpPr>
            <p:nvPr/>
          </p:nvGrpSpPr>
          <p:grpSpPr bwMode="auto">
            <a:xfrm>
              <a:off x="6632821" y="5009007"/>
              <a:ext cx="381000" cy="533400"/>
              <a:chOff x="576" y="1200"/>
              <a:chExt cx="240" cy="336"/>
            </a:xfrm>
          </p:grpSpPr>
          <p:sp>
            <p:nvSpPr>
              <p:cNvPr id="148" name="Rectangle 400">
                <a:extLst>
                  <a:ext uri="{FF2B5EF4-FFF2-40B4-BE49-F238E27FC236}">
                    <a16:creationId xmlns:a16="http://schemas.microsoft.com/office/drawing/2014/main" id="{2B0F167C-278E-A105-F713-F55FC1D48928}"/>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9" name="Line 401">
                <a:extLst>
                  <a:ext uri="{FF2B5EF4-FFF2-40B4-BE49-F238E27FC236}">
                    <a16:creationId xmlns:a16="http://schemas.microsoft.com/office/drawing/2014/main" id="{32952DA8-AA7C-F1AA-9B7F-E8F1C13FA078}"/>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0" name="Line 402">
                <a:extLst>
                  <a:ext uri="{FF2B5EF4-FFF2-40B4-BE49-F238E27FC236}">
                    <a16:creationId xmlns:a16="http://schemas.microsoft.com/office/drawing/2014/main" id="{E6BBAEEF-24A9-6DD7-04B5-7DD8BA83D5B9}"/>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26" name="Group 225">
            <a:extLst>
              <a:ext uri="{FF2B5EF4-FFF2-40B4-BE49-F238E27FC236}">
                <a16:creationId xmlns:a16="http://schemas.microsoft.com/office/drawing/2014/main" id="{62B5EA1B-B547-1C84-491C-7B628AE739C0}"/>
              </a:ext>
            </a:extLst>
          </p:cNvPr>
          <p:cNvGrpSpPr/>
          <p:nvPr/>
        </p:nvGrpSpPr>
        <p:grpSpPr>
          <a:xfrm>
            <a:off x="9287484" y="4656179"/>
            <a:ext cx="1071189" cy="938212"/>
            <a:chOff x="8456859" y="4639120"/>
            <a:chExt cx="619125" cy="938212"/>
          </a:xfrm>
        </p:grpSpPr>
        <p:sp>
          <p:nvSpPr>
            <p:cNvPr id="24" name="Line 263">
              <a:extLst>
                <a:ext uri="{FF2B5EF4-FFF2-40B4-BE49-F238E27FC236}">
                  <a16:creationId xmlns:a16="http://schemas.microsoft.com/office/drawing/2014/main" id="{B10AF7ED-DEF3-60C6-4455-622367AA3D30}"/>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 name="Text Box 268">
              <a:extLst>
                <a:ext uri="{FF2B5EF4-FFF2-40B4-BE49-F238E27FC236}">
                  <a16:creationId xmlns:a16="http://schemas.microsoft.com/office/drawing/2014/main" id="{B3309650-8735-B0B4-AF98-966CF765EBF3}"/>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133" name="Group 379">
              <a:extLst>
                <a:ext uri="{FF2B5EF4-FFF2-40B4-BE49-F238E27FC236}">
                  <a16:creationId xmlns:a16="http://schemas.microsoft.com/office/drawing/2014/main" id="{A3CAC4C9-6A16-6A22-EFA3-494303A215B3}"/>
                </a:ext>
              </a:extLst>
            </p:cNvPr>
            <p:cNvGrpSpPr>
              <a:grpSpLocks/>
            </p:cNvGrpSpPr>
            <p:nvPr/>
          </p:nvGrpSpPr>
          <p:grpSpPr bwMode="auto">
            <a:xfrm>
              <a:off x="8536234" y="4639120"/>
              <a:ext cx="381000" cy="336550"/>
              <a:chOff x="4122" y="1171"/>
              <a:chExt cx="240" cy="212"/>
            </a:xfrm>
          </p:grpSpPr>
          <p:sp>
            <p:nvSpPr>
              <p:cNvPr id="134" name="Rectangle 380">
                <a:extLst>
                  <a:ext uri="{FF2B5EF4-FFF2-40B4-BE49-F238E27FC236}">
                    <a16:creationId xmlns:a16="http://schemas.microsoft.com/office/drawing/2014/main" id="{43596332-6247-324B-65F6-B52CE9A0C38C}"/>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5" name="Text Box 381">
                <a:extLst>
                  <a:ext uri="{FF2B5EF4-FFF2-40B4-BE49-F238E27FC236}">
                    <a16:creationId xmlns:a16="http://schemas.microsoft.com/office/drawing/2014/main" id="{0754CD26-5659-1F48-457E-85C093EE6540}"/>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36" name="AutoShape 382">
                <a:extLst>
                  <a:ext uri="{FF2B5EF4-FFF2-40B4-BE49-F238E27FC236}">
                    <a16:creationId xmlns:a16="http://schemas.microsoft.com/office/drawing/2014/main" id="{9E4316B6-17CC-7262-82E6-709A9A9097B9}"/>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7" name="AutoShape 383">
                <a:extLst>
                  <a:ext uri="{FF2B5EF4-FFF2-40B4-BE49-F238E27FC236}">
                    <a16:creationId xmlns:a16="http://schemas.microsoft.com/office/drawing/2014/main" id="{8AB37291-D414-C84A-E6DA-87BDED483630}"/>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AutoShape 384">
                <a:extLst>
                  <a:ext uri="{FF2B5EF4-FFF2-40B4-BE49-F238E27FC236}">
                    <a16:creationId xmlns:a16="http://schemas.microsoft.com/office/drawing/2014/main" id="{7FFDE58F-F208-1921-960D-B80233491A54}"/>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51" name="Group 403">
              <a:extLst>
                <a:ext uri="{FF2B5EF4-FFF2-40B4-BE49-F238E27FC236}">
                  <a16:creationId xmlns:a16="http://schemas.microsoft.com/office/drawing/2014/main" id="{846A3FA0-C558-9C37-E9CA-2C03F9C4ECEC}"/>
                </a:ext>
              </a:extLst>
            </p:cNvPr>
            <p:cNvGrpSpPr>
              <a:grpSpLocks/>
            </p:cNvGrpSpPr>
            <p:nvPr/>
          </p:nvGrpSpPr>
          <p:grpSpPr bwMode="auto">
            <a:xfrm>
              <a:off x="8536234" y="5009007"/>
              <a:ext cx="381000" cy="533400"/>
              <a:chOff x="576" y="1200"/>
              <a:chExt cx="240" cy="336"/>
            </a:xfrm>
          </p:grpSpPr>
          <p:sp>
            <p:nvSpPr>
              <p:cNvPr id="152" name="Rectangle 404">
                <a:extLst>
                  <a:ext uri="{FF2B5EF4-FFF2-40B4-BE49-F238E27FC236}">
                    <a16:creationId xmlns:a16="http://schemas.microsoft.com/office/drawing/2014/main" id="{95ED438A-98D8-80C7-6373-E98B58CCFEDB}"/>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3" name="Line 405">
                <a:extLst>
                  <a:ext uri="{FF2B5EF4-FFF2-40B4-BE49-F238E27FC236}">
                    <a16:creationId xmlns:a16="http://schemas.microsoft.com/office/drawing/2014/main" id="{28BAD681-ADAD-7D81-0282-EC9F2BBAA777}"/>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4" name="Line 406">
                <a:extLst>
                  <a:ext uri="{FF2B5EF4-FFF2-40B4-BE49-F238E27FC236}">
                    <a16:creationId xmlns:a16="http://schemas.microsoft.com/office/drawing/2014/main" id="{BCC25F7B-2230-A71C-9862-FF0A3A456B25}"/>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29" name="Group 228">
            <a:extLst>
              <a:ext uri="{FF2B5EF4-FFF2-40B4-BE49-F238E27FC236}">
                <a16:creationId xmlns:a16="http://schemas.microsoft.com/office/drawing/2014/main" id="{FC24F8EA-1356-DE43-714E-237CEE7CFEB4}"/>
              </a:ext>
            </a:extLst>
          </p:cNvPr>
          <p:cNvGrpSpPr/>
          <p:nvPr/>
        </p:nvGrpSpPr>
        <p:grpSpPr>
          <a:xfrm>
            <a:off x="654726" y="4628642"/>
            <a:ext cx="1079428" cy="935037"/>
            <a:chOff x="1231656" y="4639120"/>
            <a:chExt cx="623887" cy="935037"/>
          </a:xfrm>
        </p:grpSpPr>
        <p:sp>
          <p:nvSpPr>
            <p:cNvPr id="28" name="Line 267">
              <a:extLst>
                <a:ext uri="{FF2B5EF4-FFF2-40B4-BE49-F238E27FC236}">
                  <a16:creationId xmlns:a16="http://schemas.microsoft.com/office/drawing/2014/main" id="{1A4B1B9E-6DD6-8EC9-79A1-7D0E84542247}"/>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0" name="Text Box 269">
              <a:extLst>
                <a:ext uri="{FF2B5EF4-FFF2-40B4-BE49-F238E27FC236}">
                  <a16:creationId xmlns:a16="http://schemas.microsoft.com/office/drawing/2014/main" id="{64CDF1FA-81E0-4A93-23A7-561A00D6F5D3}"/>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109" name="Group 360">
              <a:extLst>
                <a:ext uri="{FF2B5EF4-FFF2-40B4-BE49-F238E27FC236}">
                  <a16:creationId xmlns:a16="http://schemas.microsoft.com/office/drawing/2014/main" id="{8EEDA7A6-4449-4B8E-BAE6-5C70818DD305}"/>
                </a:ext>
              </a:extLst>
            </p:cNvPr>
            <p:cNvGrpSpPr>
              <a:grpSpLocks/>
            </p:cNvGrpSpPr>
            <p:nvPr/>
          </p:nvGrpSpPr>
          <p:grpSpPr bwMode="auto">
            <a:xfrm>
              <a:off x="1325318" y="4639120"/>
              <a:ext cx="381000" cy="336550"/>
              <a:chOff x="4122" y="1171"/>
              <a:chExt cx="240" cy="212"/>
            </a:xfrm>
          </p:grpSpPr>
          <p:sp>
            <p:nvSpPr>
              <p:cNvPr id="110" name="Rectangle 355">
                <a:extLst>
                  <a:ext uri="{FF2B5EF4-FFF2-40B4-BE49-F238E27FC236}">
                    <a16:creationId xmlns:a16="http://schemas.microsoft.com/office/drawing/2014/main" id="{C30B721C-21C7-123E-9AB8-7C43E7B59959}"/>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1" name="Text Box 356">
                <a:extLst>
                  <a:ext uri="{FF2B5EF4-FFF2-40B4-BE49-F238E27FC236}">
                    <a16:creationId xmlns:a16="http://schemas.microsoft.com/office/drawing/2014/main" id="{3626A29E-5B7F-415A-C9A3-6E68B09B8E3C}"/>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12" name="AutoShape 357">
                <a:extLst>
                  <a:ext uri="{FF2B5EF4-FFF2-40B4-BE49-F238E27FC236}">
                    <a16:creationId xmlns:a16="http://schemas.microsoft.com/office/drawing/2014/main" id="{65BE3681-9B92-0576-BA00-08D7C9D3DFC3}"/>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3" name="AutoShape 358">
                <a:extLst>
                  <a:ext uri="{FF2B5EF4-FFF2-40B4-BE49-F238E27FC236}">
                    <a16:creationId xmlns:a16="http://schemas.microsoft.com/office/drawing/2014/main" id="{470B70DB-5F6A-1423-24BE-2CCB0B54BD7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4" name="AutoShape 359">
                <a:extLst>
                  <a:ext uri="{FF2B5EF4-FFF2-40B4-BE49-F238E27FC236}">
                    <a16:creationId xmlns:a16="http://schemas.microsoft.com/office/drawing/2014/main" id="{96E9139F-FA29-F9C3-1A36-EF16F3BB321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55" name="Group 407">
              <a:extLst>
                <a:ext uri="{FF2B5EF4-FFF2-40B4-BE49-F238E27FC236}">
                  <a16:creationId xmlns:a16="http://schemas.microsoft.com/office/drawing/2014/main" id="{42177F2D-952B-18C8-AE54-30027718BB3C}"/>
                </a:ext>
              </a:extLst>
            </p:cNvPr>
            <p:cNvGrpSpPr>
              <a:grpSpLocks/>
            </p:cNvGrpSpPr>
            <p:nvPr/>
          </p:nvGrpSpPr>
          <p:grpSpPr bwMode="auto">
            <a:xfrm>
              <a:off x="1315793" y="5009007"/>
              <a:ext cx="381000" cy="533400"/>
              <a:chOff x="576" y="1200"/>
              <a:chExt cx="240" cy="336"/>
            </a:xfrm>
          </p:grpSpPr>
          <p:sp>
            <p:nvSpPr>
              <p:cNvPr id="156" name="Rectangle 408">
                <a:extLst>
                  <a:ext uri="{FF2B5EF4-FFF2-40B4-BE49-F238E27FC236}">
                    <a16:creationId xmlns:a16="http://schemas.microsoft.com/office/drawing/2014/main" id="{03B5798A-64DE-B40C-E69D-FB85FA343DFF}"/>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7" name="Line 409">
                <a:extLst>
                  <a:ext uri="{FF2B5EF4-FFF2-40B4-BE49-F238E27FC236}">
                    <a16:creationId xmlns:a16="http://schemas.microsoft.com/office/drawing/2014/main" id="{E4C5839C-F53D-5EA9-9348-83454E2A0D7C}"/>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8" name="Line 410">
                <a:extLst>
                  <a:ext uri="{FF2B5EF4-FFF2-40B4-BE49-F238E27FC236}">
                    <a16:creationId xmlns:a16="http://schemas.microsoft.com/office/drawing/2014/main" id="{6054B217-5F1C-43D5-9501-AEFE0479E0C9}"/>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31" name="Group 230">
            <a:extLst>
              <a:ext uri="{FF2B5EF4-FFF2-40B4-BE49-F238E27FC236}">
                <a16:creationId xmlns:a16="http://schemas.microsoft.com/office/drawing/2014/main" id="{26B0FF30-4054-01E4-13C1-F0DE2C0E6706}"/>
              </a:ext>
            </a:extLst>
          </p:cNvPr>
          <p:cNvGrpSpPr/>
          <p:nvPr/>
        </p:nvGrpSpPr>
        <p:grpSpPr>
          <a:xfrm>
            <a:off x="10383188" y="4308041"/>
            <a:ext cx="1292924" cy="1389995"/>
            <a:chOff x="8538106" y="4228532"/>
            <a:chExt cx="1292924" cy="1389995"/>
          </a:xfrm>
        </p:grpSpPr>
        <p:grpSp>
          <p:nvGrpSpPr>
            <p:cNvPr id="232" name="Group 231">
              <a:extLst>
                <a:ext uri="{FF2B5EF4-FFF2-40B4-BE49-F238E27FC236}">
                  <a16:creationId xmlns:a16="http://schemas.microsoft.com/office/drawing/2014/main" id="{E41A6939-351E-8296-4003-4A662311937B}"/>
                </a:ext>
              </a:extLst>
            </p:cNvPr>
            <p:cNvGrpSpPr/>
            <p:nvPr/>
          </p:nvGrpSpPr>
          <p:grpSpPr>
            <a:xfrm>
              <a:off x="8550974" y="4228532"/>
              <a:ext cx="1066101" cy="811908"/>
              <a:chOff x="8550974" y="4228532"/>
              <a:chExt cx="1066101" cy="811908"/>
            </a:xfrm>
          </p:grpSpPr>
          <p:sp>
            <p:nvSpPr>
              <p:cNvPr id="237" name="Rectangle 69">
                <a:extLst>
                  <a:ext uri="{FF2B5EF4-FFF2-40B4-BE49-F238E27FC236}">
                    <a16:creationId xmlns:a16="http://schemas.microsoft.com/office/drawing/2014/main" id="{96C5B5BE-A9D6-34BE-C0DC-E58643B6D71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8" name="Line 70">
                <a:extLst>
                  <a:ext uri="{FF2B5EF4-FFF2-40B4-BE49-F238E27FC236}">
                    <a16:creationId xmlns:a16="http://schemas.microsoft.com/office/drawing/2014/main" id="{201E88B2-A67C-5EA3-711F-D38746025C97}"/>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9" name="Text Box 71">
                <a:extLst>
                  <a:ext uri="{FF2B5EF4-FFF2-40B4-BE49-F238E27FC236}">
                    <a16:creationId xmlns:a16="http://schemas.microsoft.com/office/drawing/2014/main" id="{46F2AFAF-06E0-B91B-92A0-45527B80E8F3}"/>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240" name="Group 72">
                <a:extLst>
                  <a:ext uri="{FF2B5EF4-FFF2-40B4-BE49-F238E27FC236}">
                    <a16:creationId xmlns:a16="http://schemas.microsoft.com/office/drawing/2014/main" id="{F3F96CE9-1952-33DC-84A3-050D69FFF1DB}"/>
                  </a:ext>
                </a:extLst>
              </p:cNvPr>
              <p:cNvGrpSpPr>
                <a:grpSpLocks/>
              </p:cNvGrpSpPr>
              <p:nvPr/>
            </p:nvGrpSpPr>
            <p:grpSpPr bwMode="auto">
              <a:xfrm flipV="1">
                <a:off x="8729819" y="4659836"/>
                <a:ext cx="269429" cy="284707"/>
                <a:chOff x="720" y="3354"/>
                <a:chExt cx="192" cy="198"/>
              </a:xfrm>
            </p:grpSpPr>
            <p:sp>
              <p:nvSpPr>
                <p:cNvPr id="242" name="Oval 73">
                  <a:extLst>
                    <a:ext uri="{FF2B5EF4-FFF2-40B4-BE49-F238E27FC236}">
                      <a16:creationId xmlns:a16="http://schemas.microsoft.com/office/drawing/2014/main" id="{46A0D94F-18BD-B183-E028-3718BFF7755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3" name="AutoShape 74">
                  <a:extLst>
                    <a:ext uri="{FF2B5EF4-FFF2-40B4-BE49-F238E27FC236}">
                      <a16:creationId xmlns:a16="http://schemas.microsoft.com/office/drawing/2014/main" id="{7DC705D5-5BA5-13A3-4937-F59C02661AF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241" name="Text Box 75">
                <a:extLst>
                  <a:ext uri="{FF2B5EF4-FFF2-40B4-BE49-F238E27FC236}">
                    <a16:creationId xmlns:a16="http://schemas.microsoft.com/office/drawing/2014/main" id="{AB479324-7C65-8FF9-1FB9-515577AE8A32}"/>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233" name="Rectangle 348">
              <a:extLst>
                <a:ext uri="{FF2B5EF4-FFF2-40B4-BE49-F238E27FC236}">
                  <a16:creationId xmlns:a16="http://schemas.microsoft.com/office/drawing/2014/main" id="{85C68ACF-427F-598B-64FD-15C90C21C0EA}"/>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4" name="Text Box 351">
              <a:extLst>
                <a:ext uri="{FF2B5EF4-FFF2-40B4-BE49-F238E27FC236}">
                  <a16:creationId xmlns:a16="http://schemas.microsoft.com/office/drawing/2014/main" id="{1CD3CF9F-07C1-C51B-F00B-8775A6F65383}"/>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235" name="Rectangle 352">
              <a:extLst>
                <a:ext uri="{FF2B5EF4-FFF2-40B4-BE49-F238E27FC236}">
                  <a16:creationId xmlns:a16="http://schemas.microsoft.com/office/drawing/2014/main" id="{5165ADE0-47CF-34E9-94AA-6220B4492790}"/>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236" name="Rectangle 353">
              <a:extLst>
                <a:ext uri="{FF2B5EF4-FFF2-40B4-BE49-F238E27FC236}">
                  <a16:creationId xmlns:a16="http://schemas.microsoft.com/office/drawing/2014/main" id="{D5B99652-2BDA-A7A0-EC2C-D6CB3C6C36A2}"/>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244" name="Group 243">
            <a:extLst>
              <a:ext uri="{FF2B5EF4-FFF2-40B4-BE49-F238E27FC236}">
                <a16:creationId xmlns:a16="http://schemas.microsoft.com/office/drawing/2014/main" id="{252CC962-C68E-6270-62CF-235573BAEA8E}"/>
              </a:ext>
            </a:extLst>
          </p:cNvPr>
          <p:cNvGrpSpPr/>
          <p:nvPr/>
        </p:nvGrpSpPr>
        <p:grpSpPr>
          <a:xfrm>
            <a:off x="8171767" y="4329054"/>
            <a:ext cx="1292924" cy="1389995"/>
            <a:chOff x="8538106" y="4228532"/>
            <a:chExt cx="1292924" cy="1389995"/>
          </a:xfrm>
        </p:grpSpPr>
        <p:grpSp>
          <p:nvGrpSpPr>
            <p:cNvPr id="245" name="Group 244">
              <a:extLst>
                <a:ext uri="{FF2B5EF4-FFF2-40B4-BE49-F238E27FC236}">
                  <a16:creationId xmlns:a16="http://schemas.microsoft.com/office/drawing/2014/main" id="{EF2AF52A-2943-7FAE-1219-FAB0BB64C5DE}"/>
                </a:ext>
              </a:extLst>
            </p:cNvPr>
            <p:cNvGrpSpPr/>
            <p:nvPr/>
          </p:nvGrpSpPr>
          <p:grpSpPr>
            <a:xfrm>
              <a:off x="8550974" y="4228532"/>
              <a:ext cx="1066101" cy="811908"/>
              <a:chOff x="8550974" y="4228532"/>
              <a:chExt cx="1066101" cy="811908"/>
            </a:xfrm>
          </p:grpSpPr>
          <p:sp>
            <p:nvSpPr>
              <p:cNvPr id="250" name="Rectangle 69">
                <a:extLst>
                  <a:ext uri="{FF2B5EF4-FFF2-40B4-BE49-F238E27FC236}">
                    <a16:creationId xmlns:a16="http://schemas.microsoft.com/office/drawing/2014/main" id="{24EC7345-7A55-5ADC-F704-750D642E320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1" name="Line 70">
                <a:extLst>
                  <a:ext uri="{FF2B5EF4-FFF2-40B4-BE49-F238E27FC236}">
                    <a16:creationId xmlns:a16="http://schemas.microsoft.com/office/drawing/2014/main" id="{9C3E0117-B08E-D4FA-93E6-D9BACCBDC7B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2" name="Text Box 71">
                <a:extLst>
                  <a:ext uri="{FF2B5EF4-FFF2-40B4-BE49-F238E27FC236}">
                    <a16:creationId xmlns:a16="http://schemas.microsoft.com/office/drawing/2014/main" id="{F74B09C1-3105-C306-AE4A-92B3CBC59EFE}"/>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253" name="Group 72">
                <a:extLst>
                  <a:ext uri="{FF2B5EF4-FFF2-40B4-BE49-F238E27FC236}">
                    <a16:creationId xmlns:a16="http://schemas.microsoft.com/office/drawing/2014/main" id="{BD1E8CE9-3584-B67C-A10A-54DE0EBBA8CC}"/>
                  </a:ext>
                </a:extLst>
              </p:cNvPr>
              <p:cNvGrpSpPr>
                <a:grpSpLocks/>
              </p:cNvGrpSpPr>
              <p:nvPr/>
            </p:nvGrpSpPr>
            <p:grpSpPr bwMode="auto">
              <a:xfrm flipV="1">
                <a:off x="8729819" y="4659836"/>
                <a:ext cx="269429" cy="284707"/>
                <a:chOff x="720" y="3354"/>
                <a:chExt cx="192" cy="198"/>
              </a:xfrm>
            </p:grpSpPr>
            <p:sp>
              <p:nvSpPr>
                <p:cNvPr id="255" name="Oval 73">
                  <a:extLst>
                    <a:ext uri="{FF2B5EF4-FFF2-40B4-BE49-F238E27FC236}">
                      <a16:creationId xmlns:a16="http://schemas.microsoft.com/office/drawing/2014/main" id="{AA3AD51E-223F-8C4B-DA86-4F50EC23513E}"/>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6" name="AutoShape 74">
                  <a:extLst>
                    <a:ext uri="{FF2B5EF4-FFF2-40B4-BE49-F238E27FC236}">
                      <a16:creationId xmlns:a16="http://schemas.microsoft.com/office/drawing/2014/main" id="{15B1FA09-557F-6205-D1D9-B9404EC323C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254" name="Text Box 75">
                <a:extLst>
                  <a:ext uri="{FF2B5EF4-FFF2-40B4-BE49-F238E27FC236}">
                    <a16:creationId xmlns:a16="http://schemas.microsoft.com/office/drawing/2014/main" id="{98827B20-6650-0DE0-C655-D4EC48E1316A}"/>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246" name="Rectangle 348">
              <a:extLst>
                <a:ext uri="{FF2B5EF4-FFF2-40B4-BE49-F238E27FC236}">
                  <a16:creationId xmlns:a16="http://schemas.microsoft.com/office/drawing/2014/main" id="{5DB85394-75C7-CD91-019C-7199FAF480B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47" name="Text Box 351">
              <a:extLst>
                <a:ext uri="{FF2B5EF4-FFF2-40B4-BE49-F238E27FC236}">
                  <a16:creationId xmlns:a16="http://schemas.microsoft.com/office/drawing/2014/main" id="{DF7E38C3-6740-BE18-4361-7F5F83E9BB1D}"/>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248" name="Rectangle 352">
              <a:extLst>
                <a:ext uri="{FF2B5EF4-FFF2-40B4-BE49-F238E27FC236}">
                  <a16:creationId xmlns:a16="http://schemas.microsoft.com/office/drawing/2014/main" id="{C313782F-F1E5-9A8E-B7B9-8493E94BBEAC}"/>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249" name="Rectangle 353">
              <a:extLst>
                <a:ext uri="{FF2B5EF4-FFF2-40B4-BE49-F238E27FC236}">
                  <a16:creationId xmlns:a16="http://schemas.microsoft.com/office/drawing/2014/main" id="{4AD3ADEE-53FE-47CB-7C21-058782F187E4}"/>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257" name="Group 256">
            <a:extLst>
              <a:ext uri="{FF2B5EF4-FFF2-40B4-BE49-F238E27FC236}">
                <a16:creationId xmlns:a16="http://schemas.microsoft.com/office/drawing/2014/main" id="{5D2AE1AE-C138-8A52-A9BB-2684EF007BE8}"/>
              </a:ext>
            </a:extLst>
          </p:cNvPr>
          <p:cNvGrpSpPr/>
          <p:nvPr/>
        </p:nvGrpSpPr>
        <p:grpSpPr>
          <a:xfrm>
            <a:off x="6023913" y="4308041"/>
            <a:ext cx="1292924" cy="1389995"/>
            <a:chOff x="8538106" y="4228532"/>
            <a:chExt cx="1292924" cy="1389995"/>
          </a:xfrm>
        </p:grpSpPr>
        <p:grpSp>
          <p:nvGrpSpPr>
            <p:cNvPr id="258" name="Group 257">
              <a:extLst>
                <a:ext uri="{FF2B5EF4-FFF2-40B4-BE49-F238E27FC236}">
                  <a16:creationId xmlns:a16="http://schemas.microsoft.com/office/drawing/2014/main" id="{DFC9C11F-31E5-8297-E693-06FA5B6B35CE}"/>
                </a:ext>
              </a:extLst>
            </p:cNvPr>
            <p:cNvGrpSpPr/>
            <p:nvPr/>
          </p:nvGrpSpPr>
          <p:grpSpPr>
            <a:xfrm>
              <a:off x="8550974" y="4228532"/>
              <a:ext cx="1066101" cy="811908"/>
              <a:chOff x="8550974" y="4228532"/>
              <a:chExt cx="1066101" cy="811908"/>
            </a:xfrm>
          </p:grpSpPr>
          <p:sp>
            <p:nvSpPr>
              <p:cNvPr id="263" name="Rectangle 69">
                <a:extLst>
                  <a:ext uri="{FF2B5EF4-FFF2-40B4-BE49-F238E27FC236}">
                    <a16:creationId xmlns:a16="http://schemas.microsoft.com/office/drawing/2014/main" id="{427C4FBE-7D91-B55B-2C4F-2FE575BFF5C9}"/>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4" name="Line 70">
                <a:extLst>
                  <a:ext uri="{FF2B5EF4-FFF2-40B4-BE49-F238E27FC236}">
                    <a16:creationId xmlns:a16="http://schemas.microsoft.com/office/drawing/2014/main" id="{91B2A7A8-7929-BDF1-DA9D-9FEC1B5A7C3C}"/>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5" name="Text Box 71">
                <a:extLst>
                  <a:ext uri="{FF2B5EF4-FFF2-40B4-BE49-F238E27FC236}">
                    <a16:creationId xmlns:a16="http://schemas.microsoft.com/office/drawing/2014/main" id="{90C33CDB-2EAA-3C98-752F-8AF17776541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266" name="Group 72">
                <a:extLst>
                  <a:ext uri="{FF2B5EF4-FFF2-40B4-BE49-F238E27FC236}">
                    <a16:creationId xmlns:a16="http://schemas.microsoft.com/office/drawing/2014/main" id="{9CC46AA0-BDE8-32E3-DCEB-92DCE931CF4E}"/>
                  </a:ext>
                </a:extLst>
              </p:cNvPr>
              <p:cNvGrpSpPr>
                <a:grpSpLocks/>
              </p:cNvGrpSpPr>
              <p:nvPr/>
            </p:nvGrpSpPr>
            <p:grpSpPr bwMode="auto">
              <a:xfrm flipV="1">
                <a:off x="8729819" y="4659836"/>
                <a:ext cx="269429" cy="284707"/>
                <a:chOff x="720" y="3354"/>
                <a:chExt cx="192" cy="198"/>
              </a:xfrm>
            </p:grpSpPr>
            <p:sp>
              <p:nvSpPr>
                <p:cNvPr id="268" name="Oval 73">
                  <a:extLst>
                    <a:ext uri="{FF2B5EF4-FFF2-40B4-BE49-F238E27FC236}">
                      <a16:creationId xmlns:a16="http://schemas.microsoft.com/office/drawing/2014/main" id="{89578157-95DF-15F4-C1E4-392AEEC6DFD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9" name="AutoShape 74">
                  <a:extLst>
                    <a:ext uri="{FF2B5EF4-FFF2-40B4-BE49-F238E27FC236}">
                      <a16:creationId xmlns:a16="http://schemas.microsoft.com/office/drawing/2014/main" id="{74CF8C45-E3BA-E4E7-2B8E-FD7F263693E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267" name="Text Box 75">
                <a:extLst>
                  <a:ext uri="{FF2B5EF4-FFF2-40B4-BE49-F238E27FC236}">
                    <a16:creationId xmlns:a16="http://schemas.microsoft.com/office/drawing/2014/main" id="{4B37A243-32E7-82C2-434B-EBB87DAD1465}"/>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259" name="Rectangle 348">
              <a:extLst>
                <a:ext uri="{FF2B5EF4-FFF2-40B4-BE49-F238E27FC236}">
                  <a16:creationId xmlns:a16="http://schemas.microsoft.com/office/drawing/2014/main" id="{8FA3E247-1449-1EB4-ECD2-B568321A48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0" name="Text Box 351">
              <a:extLst>
                <a:ext uri="{FF2B5EF4-FFF2-40B4-BE49-F238E27FC236}">
                  <a16:creationId xmlns:a16="http://schemas.microsoft.com/office/drawing/2014/main" id="{0B86BF8F-6F51-A606-81C6-0D463D5A3EB8}"/>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261" name="Rectangle 352">
              <a:extLst>
                <a:ext uri="{FF2B5EF4-FFF2-40B4-BE49-F238E27FC236}">
                  <a16:creationId xmlns:a16="http://schemas.microsoft.com/office/drawing/2014/main" id="{30983FCA-CB8D-818B-5A75-8C0CECDFC509}"/>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262" name="Rectangle 353">
              <a:extLst>
                <a:ext uri="{FF2B5EF4-FFF2-40B4-BE49-F238E27FC236}">
                  <a16:creationId xmlns:a16="http://schemas.microsoft.com/office/drawing/2014/main" id="{ABE38CAA-74FF-5FBB-7DFB-6A978891F6AB}"/>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270" name="Group 269">
            <a:extLst>
              <a:ext uri="{FF2B5EF4-FFF2-40B4-BE49-F238E27FC236}">
                <a16:creationId xmlns:a16="http://schemas.microsoft.com/office/drawing/2014/main" id="{6F067213-7E0A-3124-3A27-3AEA702B2BA0}"/>
              </a:ext>
            </a:extLst>
          </p:cNvPr>
          <p:cNvGrpSpPr/>
          <p:nvPr/>
        </p:nvGrpSpPr>
        <p:grpSpPr>
          <a:xfrm>
            <a:off x="3939332" y="4306798"/>
            <a:ext cx="1292924" cy="1389995"/>
            <a:chOff x="8538106" y="4228532"/>
            <a:chExt cx="1292924" cy="1389995"/>
          </a:xfrm>
        </p:grpSpPr>
        <p:grpSp>
          <p:nvGrpSpPr>
            <p:cNvPr id="271" name="Group 270">
              <a:extLst>
                <a:ext uri="{FF2B5EF4-FFF2-40B4-BE49-F238E27FC236}">
                  <a16:creationId xmlns:a16="http://schemas.microsoft.com/office/drawing/2014/main" id="{95061E4F-25D1-3969-2A54-8791FC68E1C7}"/>
                </a:ext>
              </a:extLst>
            </p:cNvPr>
            <p:cNvGrpSpPr/>
            <p:nvPr/>
          </p:nvGrpSpPr>
          <p:grpSpPr>
            <a:xfrm>
              <a:off x="8550974" y="4228532"/>
              <a:ext cx="1066101" cy="811908"/>
              <a:chOff x="8550974" y="4228532"/>
              <a:chExt cx="1066101" cy="811908"/>
            </a:xfrm>
          </p:grpSpPr>
          <p:sp>
            <p:nvSpPr>
              <p:cNvPr id="276" name="Rectangle 69">
                <a:extLst>
                  <a:ext uri="{FF2B5EF4-FFF2-40B4-BE49-F238E27FC236}">
                    <a16:creationId xmlns:a16="http://schemas.microsoft.com/office/drawing/2014/main" id="{FE079474-6953-7844-E204-5A7D6F1F8078}"/>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7" name="Line 70">
                <a:extLst>
                  <a:ext uri="{FF2B5EF4-FFF2-40B4-BE49-F238E27FC236}">
                    <a16:creationId xmlns:a16="http://schemas.microsoft.com/office/drawing/2014/main" id="{000C0A2B-1287-6816-3E55-12F9935595BD}"/>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8" name="Text Box 71">
                <a:extLst>
                  <a:ext uri="{FF2B5EF4-FFF2-40B4-BE49-F238E27FC236}">
                    <a16:creationId xmlns:a16="http://schemas.microsoft.com/office/drawing/2014/main" id="{77511595-4AE6-BF1A-5369-7F99EA06D5BF}"/>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279" name="Group 72">
                <a:extLst>
                  <a:ext uri="{FF2B5EF4-FFF2-40B4-BE49-F238E27FC236}">
                    <a16:creationId xmlns:a16="http://schemas.microsoft.com/office/drawing/2014/main" id="{13A6EFC4-46EC-4F6B-865B-9689E33A79AD}"/>
                  </a:ext>
                </a:extLst>
              </p:cNvPr>
              <p:cNvGrpSpPr>
                <a:grpSpLocks/>
              </p:cNvGrpSpPr>
              <p:nvPr/>
            </p:nvGrpSpPr>
            <p:grpSpPr bwMode="auto">
              <a:xfrm flipV="1">
                <a:off x="8729819" y="4659836"/>
                <a:ext cx="269429" cy="284707"/>
                <a:chOff x="720" y="3354"/>
                <a:chExt cx="192" cy="198"/>
              </a:xfrm>
            </p:grpSpPr>
            <p:sp>
              <p:nvSpPr>
                <p:cNvPr id="281" name="Oval 73">
                  <a:extLst>
                    <a:ext uri="{FF2B5EF4-FFF2-40B4-BE49-F238E27FC236}">
                      <a16:creationId xmlns:a16="http://schemas.microsoft.com/office/drawing/2014/main" id="{3D2B4FFD-9C13-9889-76D2-7AB8AC898F0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2" name="AutoShape 74">
                  <a:extLst>
                    <a:ext uri="{FF2B5EF4-FFF2-40B4-BE49-F238E27FC236}">
                      <a16:creationId xmlns:a16="http://schemas.microsoft.com/office/drawing/2014/main" id="{FAAC807C-3E57-2DB3-9924-18401CB43C8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280" name="Text Box 75">
                <a:extLst>
                  <a:ext uri="{FF2B5EF4-FFF2-40B4-BE49-F238E27FC236}">
                    <a16:creationId xmlns:a16="http://schemas.microsoft.com/office/drawing/2014/main" id="{7A836606-22FF-DCF4-6C6F-725F19C815E1}"/>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272" name="Rectangle 348">
              <a:extLst>
                <a:ext uri="{FF2B5EF4-FFF2-40B4-BE49-F238E27FC236}">
                  <a16:creationId xmlns:a16="http://schemas.microsoft.com/office/drawing/2014/main" id="{015AC4D2-6A83-293B-F152-CD855E387D03}"/>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73" name="Text Box 351">
              <a:extLst>
                <a:ext uri="{FF2B5EF4-FFF2-40B4-BE49-F238E27FC236}">
                  <a16:creationId xmlns:a16="http://schemas.microsoft.com/office/drawing/2014/main" id="{DDC0D414-992C-D6BE-4F44-FEA596F2458A}"/>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274" name="Rectangle 352">
              <a:extLst>
                <a:ext uri="{FF2B5EF4-FFF2-40B4-BE49-F238E27FC236}">
                  <a16:creationId xmlns:a16="http://schemas.microsoft.com/office/drawing/2014/main" id="{5A17625C-1E10-347F-6380-9FBE46757841}"/>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275" name="Rectangle 353">
              <a:extLst>
                <a:ext uri="{FF2B5EF4-FFF2-40B4-BE49-F238E27FC236}">
                  <a16:creationId xmlns:a16="http://schemas.microsoft.com/office/drawing/2014/main" id="{E9E1FC30-0991-DDE1-943F-C519B93B6540}"/>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283" name="Group 282">
            <a:extLst>
              <a:ext uri="{FF2B5EF4-FFF2-40B4-BE49-F238E27FC236}">
                <a16:creationId xmlns:a16="http://schemas.microsoft.com/office/drawing/2014/main" id="{C6291426-6C0B-CDDF-2941-9630E4604920}"/>
              </a:ext>
            </a:extLst>
          </p:cNvPr>
          <p:cNvGrpSpPr/>
          <p:nvPr/>
        </p:nvGrpSpPr>
        <p:grpSpPr>
          <a:xfrm>
            <a:off x="1800531" y="4272420"/>
            <a:ext cx="1292924" cy="1389995"/>
            <a:chOff x="8538106" y="4228532"/>
            <a:chExt cx="1292924" cy="1389995"/>
          </a:xfrm>
        </p:grpSpPr>
        <p:grpSp>
          <p:nvGrpSpPr>
            <p:cNvPr id="284" name="Group 283">
              <a:extLst>
                <a:ext uri="{FF2B5EF4-FFF2-40B4-BE49-F238E27FC236}">
                  <a16:creationId xmlns:a16="http://schemas.microsoft.com/office/drawing/2014/main" id="{34C4E729-6DBB-263A-25A0-443191901BD6}"/>
                </a:ext>
              </a:extLst>
            </p:cNvPr>
            <p:cNvGrpSpPr/>
            <p:nvPr/>
          </p:nvGrpSpPr>
          <p:grpSpPr>
            <a:xfrm>
              <a:off x="8550974" y="4228532"/>
              <a:ext cx="1066101" cy="811908"/>
              <a:chOff x="8550974" y="4228532"/>
              <a:chExt cx="1066101" cy="811908"/>
            </a:xfrm>
          </p:grpSpPr>
          <p:sp>
            <p:nvSpPr>
              <p:cNvPr id="289" name="Rectangle 69">
                <a:extLst>
                  <a:ext uri="{FF2B5EF4-FFF2-40B4-BE49-F238E27FC236}">
                    <a16:creationId xmlns:a16="http://schemas.microsoft.com/office/drawing/2014/main" id="{08ADC87E-0B27-A0A9-D2D2-2E1E4EFB70E8}"/>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0" name="Line 70">
                <a:extLst>
                  <a:ext uri="{FF2B5EF4-FFF2-40B4-BE49-F238E27FC236}">
                    <a16:creationId xmlns:a16="http://schemas.microsoft.com/office/drawing/2014/main" id="{785667A8-FA66-5D53-54AE-AE5603C02AC9}"/>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1" name="Text Box 71">
                <a:extLst>
                  <a:ext uri="{FF2B5EF4-FFF2-40B4-BE49-F238E27FC236}">
                    <a16:creationId xmlns:a16="http://schemas.microsoft.com/office/drawing/2014/main" id="{4F5CF218-EEAB-E05E-CAE0-85585A4F214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292" name="Group 72">
                <a:extLst>
                  <a:ext uri="{FF2B5EF4-FFF2-40B4-BE49-F238E27FC236}">
                    <a16:creationId xmlns:a16="http://schemas.microsoft.com/office/drawing/2014/main" id="{40D76D44-07F1-9C50-8BEA-C198AC4C156C}"/>
                  </a:ext>
                </a:extLst>
              </p:cNvPr>
              <p:cNvGrpSpPr>
                <a:grpSpLocks/>
              </p:cNvGrpSpPr>
              <p:nvPr/>
            </p:nvGrpSpPr>
            <p:grpSpPr bwMode="auto">
              <a:xfrm flipV="1">
                <a:off x="8729819" y="4659836"/>
                <a:ext cx="269429" cy="284707"/>
                <a:chOff x="720" y="3354"/>
                <a:chExt cx="192" cy="198"/>
              </a:xfrm>
            </p:grpSpPr>
            <p:sp>
              <p:nvSpPr>
                <p:cNvPr id="294" name="Oval 73">
                  <a:extLst>
                    <a:ext uri="{FF2B5EF4-FFF2-40B4-BE49-F238E27FC236}">
                      <a16:creationId xmlns:a16="http://schemas.microsoft.com/office/drawing/2014/main" id="{65369588-9F9B-2870-5E23-7F0870179ADE}"/>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5" name="AutoShape 74">
                  <a:extLst>
                    <a:ext uri="{FF2B5EF4-FFF2-40B4-BE49-F238E27FC236}">
                      <a16:creationId xmlns:a16="http://schemas.microsoft.com/office/drawing/2014/main" id="{22E709C7-B3B1-8CFA-2496-B317A009700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293" name="Text Box 75">
                <a:extLst>
                  <a:ext uri="{FF2B5EF4-FFF2-40B4-BE49-F238E27FC236}">
                    <a16:creationId xmlns:a16="http://schemas.microsoft.com/office/drawing/2014/main" id="{6FA8E20F-5327-6A71-8004-546EDDA4BDA4}"/>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285" name="Rectangle 348">
              <a:extLst>
                <a:ext uri="{FF2B5EF4-FFF2-40B4-BE49-F238E27FC236}">
                  <a16:creationId xmlns:a16="http://schemas.microsoft.com/office/drawing/2014/main" id="{2BDD0B52-CFDA-5B51-E257-9A13CFC51566}"/>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86" name="Text Box 351">
              <a:extLst>
                <a:ext uri="{FF2B5EF4-FFF2-40B4-BE49-F238E27FC236}">
                  <a16:creationId xmlns:a16="http://schemas.microsoft.com/office/drawing/2014/main" id="{737259A3-FF0B-6E46-1312-9909CEA480B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287" name="Rectangle 352">
              <a:extLst>
                <a:ext uri="{FF2B5EF4-FFF2-40B4-BE49-F238E27FC236}">
                  <a16:creationId xmlns:a16="http://schemas.microsoft.com/office/drawing/2014/main" id="{8773E13A-D145-3BBF-780E-AAA374FC75F7}"/>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288" name="Rectangle 353">
              <a:extLst>
                <a:ext uri="{FF2B5EF4-FFF2-40B4-BE49-F238E27FC236}">
                  <a16:creationId xmlns:a16="http://schemas.microsoft.com/office/drawing/2014/main" id="{77DDE1A9-8001-5260-6598-3ACF1604E2EB}"/>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spTree>
    <p:extLst>
      <p:ext uri="{BB962C8B-B14F-4D97-AF65-F5344CB8AC3E}">
        <p14:creationId xmlns:p14="http://schemas.microsoft.com/office/powerpoint/2010/main" val="336766496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6"/>
            <a:ext cx="9738423" cy="415442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1"/>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3465577" y="33981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31862"/>
            <a:chOff x="4046293" y="4639120"/>
            <a:chExt cx="581025" cy="931862"/>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38212"/>
            <a:chOff x="8456859" y="4639120"/>
            <a:chExt cx="619125" cy="938212"/>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spTree>
    <p:extLst>
      <p:ext uri="{BB962C8B-B14F-4D97-AF65-F5344CB8AC3E}">
        <p14:creationId xmlns:p14="http://schemas.microsoft.com/office/powerpoint/2010/main" val="3189473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Calculate and Map Processing Time and Lead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55</a:t>
            </a:fld>
            <a:endParaRPr lang="en-US" dirty="0"/>
          </a:p>
        </p:txBody>
      </p:sp>
    </p:spTree>
    <p:extLst>
      <p:ext uri="{BB962C8B-B14F-4D97-AF65-F5344CB8AC3E}">
        <p14:creationId xmlns:p14="http://schemas.microsoft.com/office/powerpoint/2010/main" val="106271708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B6976-B063-C8F6-D24A-F8EE865AFC9F}"/>
              </a:ext>
            </a:extLst>
          </p:cNvPr>
          <p:cNvSpPr>
            <a:spLocks noGrp="1"/>
          </p:cNvSpPr>
          <p:nvPr>
            <p:ph type="title"/>
          </p:nvPr>
        </p:nvSpPr>
        <p:spPr/>
        <p:txBody>
          <a:bodyPr/>
          <a:lstStyle/>
          <a:p>
            <a:r>
              <a:rPr lang="en-US" dirty="0"/>
              <a:t>Mapping Processes</a:t>
            </a:r>
          </a:p>
        </p:txBody>
      </p:sp>
      <p:sp>
        <p:nvSpPr>
          <p:cNvPr id="3" name="Content Placeholder 2">
            <a:extLst>
              <a:ext uri="{FF2B5EF4-FFF2-40B4-BE49-F238E27FC236}">
                <a16:creationId xmlns:a16="http://schemas.microsoft.com/office/drawing/2014/main" id="{AF615597-F36D-D40D-B4C6-9395F5E6D336}"/>
              </a:ext>
            </a:extLst>
          </p:cNvPr>
          <p:cNvSpPr>
            <a:spLocks noGrp="1"/>
          </p:cNvSpPr>
          <p:nvPr>
            <p:ph idx="1"/>
          </p:nvPr>
        </p:nvSpPr>
        <p:spPr>
          <a:xfrm>
            <a:off x="838200" y="1825625"/>
            <a:ext cx="5526024" cy="4351338"/>
          </a:xfrm>
        </p:spPr>
        <p:txBody>
          <a:bodyPr>
            <a:normAutofit fontScale="85000" lnSpcReduction="20000"/>
          </a:bodyPr>
          <a:lstStyle/>
          <a:p>
            <a:pPr>
              <a:lnSpc>
                <a:spcPct val="120000"/>
              </a:lnSpc>
            </a:pPr>
            <a:r>
              <a:rPr lang="en-US" b="1" dirty="0"/>
              <a:t>Incoming Customer Demand</a:t>
            </a:r>
          </a:p>
          <a:p>
            <a:pPr lvl="1">
              <a:lnSpc>
                <a:spcPct val="120000"/>
              </a:lnSpc>
            </a:pPr>
            <a:r>
              <a:rPr lang="en-US" dirty="0"/>
              <a:t>Customers send NHC an average of </a:t>
            </a:r>
            <a:r>
              <a:rPr lang="en-US" b="1" dirty="0">
                <a:solidFill>
                  <a:srgbClr val="EE3228"/>
                </a:solidFill>
              </a:rPr>
              <a:t>2,500 applications a month</a:t>
            </a:r>
            <a:r>
              <a:rPr lang="en-US" dirty="0"/>
              <a:t>.</a:t>
            </a:r>
          </a:p>
          <a:p>
            <a:pPr lvl="1">
              <a:lnSpc>
                <a:spcPct val="120000"/>
              </a:lnSpc>
            </a:pPr>
            <a:r>
              <a:rPr lang="en-US" dirty="0"/>
              <a:t>Applications are completed jointly by the potential borrower and one of Northern representatives at their current residence or at a NHC office. </a:t>
            </a:r>
          </a:p>
          <a:p>
            <a:pPr lvl="1">
              <a:lnSpc>
                <a:spcPct val="120000"/>
              </a:lnSpc>
            </a:pPr>
            <a:r>
              <a:rPr lang="en-US" dirty="0"/>
              <a:t>All applications are </a:t>
            </a:r>
            <a:r>
              <a:rPr lang="en-US" b="1" dirty="0">
                <a:solidFill>
                  <a:srgbClr val="EE3228"/>
                </a:solidFill>
              </a:rPr>
              <a:t>submitted by mail </a:t>
            </a:r>
            <a:br>
              <a:rPr lang="en-US" b="1" dirty="0">
                <a:solidFill>
                  <a:srgbClr val="EE3228"/>
                </a:solidFill>
              </a:rPr>
            </a:br>
            <a:r>
              <a:rPr lang="en-US" dirty="0"/>
              <a:t>to the central office by a NHC representative.</a:t>
            </a:r>
          </a:p>
          <a:p>
            <a:pPr lvl="1">
              <a:lnSpc>
                <a:spcPct val="120000"/>
              </a:lnSpc>
            </a:pPr>
            <a:r>
              <a:rPr lang="en-US" dirty="0"/>
              <a:t>Customers are notified of their approval or rejection via registered mail</a:t>
            </a:r>
          </a:p>
        </p:txBody>
      </p:sp>
      <p:sp>
        <p:nvSpPr>
          <p:cNvPr id="4" name="Slide Number Placeholder 3">
            <a:extLst>
              <a:ext uri="{FF2B5EF4-FFF2-40B4-BE49-F238E27FC236}">
                <a16:creationId xmlns:a16="http://schemas.microsoft.com/office/drawing/2014/main" id="{3F4765DD-EEB3-03F4-A096-265D31B1FC44}"/>
              </a:ext>
            </a:extLst>
          </p:cNvPr>
          <p:cNvSpPr>
            <a:spLocks noGrp="1"/>
          </p:cNvSpPr>
          <p:nvPr>
            <p:ph type="sldNum" sz="quarter" idx="4"/>
          </p:nvPr>
        </p:nvSpPr>
        <p:spPr/>
        <p:txBody>
          <a:bodyPr/>
          <a:lstStyle/>
          <a:p>
            <a:fld id="{CC6D4273-7FC1-0947-B9FE-19CB3C0D1FB6}" type="slidenum">
              <a:rPr lang="en-US" smtClean="0"/>
              <a:pPr/>
              <a:t>56</a:t>
            </a:fld>
            <a:endParaRPr lang="en-US"/>
          </a:p>
        </p:txBody>
      </p:sp>
      <p:grpSp>
        <p:nvGrpSpPr>
          <p:cNvPr id="6" name="Group 5">
            <a:extLst>
              <a:ext uri="{FF2B5EF4-FFF2-40B4-BE49-F238E27FC236}">
                <a16:creationId xmlns:a16="http://schemas.microsoft.com/office/drawing/2014/main" id="{C38405B8-0B60-14BB-38F6-E1F28AE3BA6D}"/>
              </a:ext>
            </a:extLst>
          </p:cNvPr>
          <p:cNvGrpSpPr/>
          <p:nvPr/>
        </p:nvGrpSpPr>
        <p:grpSpPr>
          <a:xfrm>
            <a:off x="940249" y="302538"/>
            <a:ext cx="6219503" cy="311932"/>
            <a:chOff x="940249" y="302538"/>
            <a:chExt cx="6219503" cy="311932"/>
          </a:xfrm>
        </p:grpSpPr>
        <p:sp>
          <p:nvSpPr>
            <p:cNvPr id="7" name="TextBox 6">
              <a:extLst>
                <a:ext uri="{FF2B5EF4-FFF2-40B4-BE49-F238E27FC236}">
                  <a16:creationId xmlns:a16="http://schemas.microsoft.com/office/drawing/2014/main" id="{E6C46C75-90FC-E9EB-B79E-80A5FB9B6A2E}"/>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8" name="AutoShape 9">
              <a:extLst>
                <a:ext uri="{FF2B5EF4-FFF2-40B4-BE49-F238E27FC236}">
                  <a16:creationId xmlns:a16="http://schemas.microsoft.com/office/drawing/2014/main" id="{542FE8E5-D855-B543-4B7C-9A57E9BBC568}"/>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8A8B76A8-9EEB-DB2E-06AD-438D6DB4105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E204E06C-205D-3950-11BF-A22A08B14784}"/>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9">
              <a:extLst>
                <a:ext uri="{FF2B5EF4-FFF2-40B4-BE49-F238E27FC236}">
                  <a16:creationId xmlns:a16="http://schemas.microsoft.com/office/drawing/2014/main" id="{4002AB09-372D-DE4B-8AF5-7AF25E5675DA}"/>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110BA2F-8BB6-F4C2-02D5-259AD7464F8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5" name="Group 4">
            <a:extLst>
              <a:ext uri="{FF2B5EF4-FFF2-40B4-BE49-F238E27FC236}">
                <a16:creationId xmlns:a16="http://schemas.microsoft.com/office/drawing/2014/main" id="{E334F11E-3A7B-E994-0B0C-CE08C128DB76}"/>
              </a:ext>
            </a:extLst>
          </p:cNvPr>
          <p:cNvGrpSpPr>
            <a:grpSpLocks/>
          </p:cNvGrpSpPr>
          <p:nvPr/>
        </p:nvGrpSpPr>
        <p:grpSpPr bwMode="auto">
          <a:xfrm>
            <a:off x="10191623" y="2913122"/>
            <a:ext cx="925513" cy="584200"/>
            <a:chOff x="435" y="1322"/>
            <a:chExt cx="583" cy="368"/>
          </a:xfrm>
        </p:grpSpPr>
        <p:grpSp>
          <p:nvGrpSpPr>
            <p:cNvPr id="23" name="Group 5">
              <a:extLst>
                <a:ext uri="{FF2B5EF4-FFF2-40B4-BE49-F238E27FC236}">
                  <a16:creationId xmlns:a16="http://schemas.microsoft.com/office/drawing/2014/main" id="{734D4AFC-9034-428F-5DB0-D6685010C6B0}"/>
                </a:ext>
              </a:extLst>
            </p:cNvPr>
            <p:cNvGrpSpPr>
              <a:grpSpLocks/>
            </p:cNvGrpSpPr>
            <p:nvPr/>
          </p:nvGrpSpPr>
          <p:grpSpPr bwMode="auto">
            <a:xfrm>
              <a:off x="474" y="1322"/>
              <a:ext cx="508" cy="348"/>
              <a:chOff x="536" y="1322"/>
              <a:chExt cx="446" cy="348"/>
            </a:xfrm>
          </p:grpSpPr>
          <p:sp>
            <p:nvSpPr>
              <p:cNvPr id="25" name="Rectangle 6">
                <a:extLst>
                  <a:ext uri="{FF2B5EF4-FFF2-40B4-BE49-F238E27FC236}">
                    <a16:creationId xmlns:a16="http://schemas.microsoft.com/office/drawing/2014/main" id="{DDFF134D-7820-993B-F6B5-31263DC75E63}"/>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6" name="Rectangle 7">
                <a:extLst>
                  <a:ext uri="{FF2B5EF4-FFF2-40B4-BE49-F238E27FC236}">
                    <a16:creationId xmlns:a16="http://schemas.microsoft.com/office/drawing/2014/main" id="{962551A4-8CA5-4EB9-6976-A87CCDCDF525}"/>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endParaRPr>
              </a:p>
            </p:txBody>
          </p:sp>
          <p:sp>
            <p:nvSpPr>
              <p:cNvPr id="27" name="AutoShape 8">
                <a:extLst>
                  <a:ext uri="{FF2B5EF4-FFF2-40B4-BE49-F238E27FC236}">
                    <a16:creationId xmlns:a16="http://schemas.microsoft.com/office/drawing/2014/main" id="{9E30C15A-3B2C-777B-77A0-A972A6BEBBF5}"/>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8" name="AutoShape 9">
                <a:extLst>
                  <a:ext uri="{FF2B5EF4-FFF2-40B4-BE49-F238E27FC236}">
                    <a16:creationId xmlns:a16="http://schemas.microsoft.com/office/drawing/2014/main" id="{BEC56FDC-EBE6-FD0E-077C-30DD14785FAF}"/>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9" name="AutoShape 10">
                <a:extLst>
                  <a:ext uri="{FF2B5EF4-FFF2-40B4-BE49-F238E27FC236}">
                    <a16:creationId xmlns:a16="http://schemas.microsoft.com/office/drawing/2014/main" id="{6F26FEEF-0B90-0B9F-9830-47B3D23E87E2}"/>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0" name="Rectangle 11">
                <a:extLst>
                  <a:ext uri="{FF2B5EF4-FFF2-40B4-BE49-F238E27FC236}">
                    <a16:creationId xmlns:a16="http://schemas.microsoft.com/office/drawing/2014/main" id="{8DA9450B-9DCA-B68A-E26E-FE899D5D1842}"/>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1" name="Rectangle 12">
                <a:extLst>
                  <a:ext uri="{FF2B5EF4-FFF2-40B4-BE49-F238E27FC236}">
                    <a16:creationId xmlns:a16="http://schemas.microsoft.com/office/drawing/2014/main" id="{28D9FBE7-1BD7-175C-0465-EBA964736357}"/>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2" name="Rectangle 13">
                <a:extLst>
                  <a:ext uri="{FF2B5EF4-FFF2-40B4-BE49-F238E27FC236}">
                    <a16:creationId xmlns:a16="http://schemas.microsoft.com/office/drawing/2014/main" id="{B9D3C625-7B5E-D1B3-3869-C945AC8BA76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24" name="Text Box 14">
              <a:extLst>
                <a:ext uri="{FF2B5EF4-FFF2-40B4-BE49-F238E27FC236}">
                  <a16:creationId xmlns:a16="http://schemas.microsoft.com/office/drawing/2014/main" id="{19646965-ABB6-017C-1FCA-78680A8D00AB}"/>
                </a:ext>
              </a:extLst>
            </p:cNvPr>
            <p:cNvSpPr txBox="1">
              <a:spLocks noChangeArrowheads="1"/>
            </p:cNvSpPr>
            <p:nvPr/>
          </p:nvSpPr>
          <p:spPr bwMode="auto">
            <a:xfrm>
              <a:off x="435" y="1494"/>
              <a:ext cx="583" cy="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a:t>Loan</a:t>
              </a:r>
            </a:p>
            <a:p>
              <a:pPr algn="ctr">
                <a:lnSpc>
                  <a:spcPct val="90000"/>
                </a:lnSpc>
                <a:spcBef>
                  <a:spcPct val="0"/>
                </a:spcBef>
                <a:spcAft>
                  <a:spcPct val="0"/>
                </a:spcAft>
                <a:buClrTx/>
                <a:buSzTx/>
                <a:buFontTx/>
                <a:buNone/>
              </a:pPr>
              <a:r>
                <a:rPr lang="en-US" altLang="en-US" sz="800" b="0"/>
                <a:t>Applicant</a:t>
              </a:r>
            </a:p>
          </p:txBody>
        </p:sp>
      </p:grpSp>
      <p:cxnSp>
        <p:nvCxnSpPr>
          <p:cNvPr id="33" name="AutoShape 15">
            <a:extLst>
              <a:ext uri="{FF2B5EF4-FFF2-40B4-BE49-F238E27FC236}">
                <a16:creationId xmlns:a16="http://schemas.microsoft.com/office/drawing/2014/main" id="{1EEABA20-8934-FE70-79ED-8E4F87D87386}"/>
              </a:ext>
            </a:extLst>
          </p:cNvPr>
          <p:cNvCxnSpPr>
            <a:cxnSpLocks noChangeShapeType="1"/>
            <a:stCxn id="24" idx="1"/>
          </p:cNvCxnSpPr>
          <p:nvPr/>
        </p:nvCxnSpPr>
        <p:spPr bwMode="auto">
          <a:xfrm rot="10800000" flipV="1">
            <a:off x="7761161" y="3341747"/>
            <a:ext cx="2430462" cy="1822450"/>
          </a:xfrm>
          <a:prstGeom prst="bentConnector3">
            <a:avLst>
              <a:gd name="adj1" fmla="val 100653"/>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34" name="Group 16">
            <a:extLst>
              <a:ext uri="{FF2B5EF4-FFF2-40B4-BE49-F238E27FC236}">
                <a16:creationId xmlns:a16="http://schemas.microsoft.com/office/drawing/2014/main" id="{C466C4D4-62B2-DC0C-CF0C-8E01A0F3C284}"/>
              </a:ext>
            </a:extLst>
          </p:cNvPr>
          <p:cNvGrpSpPr>
            <a:grpSpLocks/>
          </p:cNvGrpSpPr>
          <p:nvPr/>
        </p:nvGrpSpPr>
        <p:grpSpPr bwMode="auto">
          <a:xfrm>
            <a:off x="7464298" y="4008497"/>
            <a:ext cx="593725" cy="409575"/>
            <a:chOff x="513" y="2099"/>
            <a:chExt cx="374" cy="258"/>
          </a:xfrm>
        </p:grpSpPr>
        <p:grpSp>
          <p:nvGrpSpPr>
            <p:cNvPr id="35" name="Group 17">
              <a:extLst>
                <a:ext uri="{FF2B5EF4-FFF2-40B4-BE49-F238E27FC236}">
                  <a16:creationId xmlns:a16="http://schemas.microsoft.com/office/drawing/2014/main" id="{C657B2A7-0AFE-2334-7553-0F1B5F7984EC}"/>
                </a:ext>
              </a:extLst>
            </p:cNvPr>
            <p:cNvGrpSpPr>
              <a:grpSpLocks/>
            </p:cNvGrpSpPr>
            <p:nvPr/>
          </p:nvGrpSpPr>
          <p:grpSpPr bwMode="auto">
            <a:xfrm>
              <a:off x="550" y="2121"/>
              <a:ext cx="337" cy="236"/>
              <a:chOff x="536" y="3744"/>
              <a:chExt cx="415" cy="261"/>
            </a:xfrm>
          </p:grpSpPr>
          <p:sp>
            <p:nvSpPr>
              <p:cNvPr id="37" name="Rectangle 18">
                <a:extLst>
                  <a:ext uri="{FF2B5EF4-FFF2-40B4-BE49-F238E27FC236}">
                    <a16:creationId xmlns:a16="http://schemas.microsoft.com/office/drawing/2014/main" id="{E3CCAC4B-84AF-DFAC-CDE0-655437503E7B}"/>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8" name="Rectangle 19">
                <a:extLst>
                  <a:ext uri="{FF2B5EF4-FFF2-40B4-BE49-F238E27FC236}">
                    <a16:creationId xmlns:a16="http://schemas.microsoft.com/office/drawing/2014/main" id="{A524AABF-37A4-C13C-46DB-F472A35C772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9" name="Oval 20">
                <a:extLst>
                  <a:ext uri="{FF2B5EF4-FFF2-40B4-BE49-F238E27FC236}">
                    <a16:creationId xmlns:a16="http://schemas.microsoft.com/office/drawing/2014/main" id="{5201F2D4-E622-A025-3E3A-483BC1EB3EF6}"/>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0" name="Oval 21">
                <a:extLst>
                  <a:ext uri="{FF2B5EF4-FFF2-40B4-BE49-F238E27FC236}">
                    <a16:creationId xmlns:a16="http://schemas.microsoft.com/office/drawing/2014/main" id="{39AA59E0-49B7-5AAE-F8CA-B74151DAD5C9}"/>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36" name="Text Box 22">
              <a:extLst>
                <a:ext uri="{FF2B5EF4-FFF2-40B4-BE49-F238E27FC236}">
                  <a16:creationId xmlns:a16="http://schemas.microsoft.com/office/drawing/2014/main" id="{6BA484B5-A3E6-AC36-7630-14AC7AE7D6E1}"/>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41" name="Line 23">
            <a:extLst>
              <a:ext uri="{FF2B5EF4-FFF2-40B4-BE49-F238E27FC236}">
                <a16:creationId xmlns:a16="http://schemas.microsoft.com/office/drawing/2014/main" id="{E6054B59-6C7A-4CEF-CA1C-792C330A5873}"/>
              </a:ext>
            </a:extLst>
          </p:cNvPr>
          <p:cNvSpPr>
            <a:spLocks noChangeShapeType="1"/>
          </p:cNvSpPr>
          <p:nvPr/>
        </p:nvSpPr>
        <p:spPr bwMode="auto">
          <a:xfrm>
            <a:off x="4873753" y="2742188"/>
            <a:ext cx="5264060" cy="387953"/>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42" name="Line 24">
            <a:extLst>
              <a:ext uri="{FF2B5EF4-FFF2-40B4-BE49-F238E27FC236}">
                <a16:creationId xmlns:a16="http://schemas.microsoft.com/office/drawing/2014/main" id="{5A8FEB28-671E-B652-20DC-9677D3670FE6}"/>
              </a:ext>
            </a:extLst>
          </p:cNvPr>
          <p:cNvSpPr>
            <a:spLocks noChangeShapeType="1"/>
          </p:cNvSpPr>
          <p:nvPr/>
        </p:nvSpPr>
        <p:spPr bwMode="auto">
          <a:xfrm flipV="1">
            <a:off x="6101186" y="4345047"/>
            <a:ext cx="1313117" cy="62996"/>
          </a:xfrm>
          <a:prstGeom prst="line">
            <a:avLst/>
          </a:prstGeom>
          <a:noFill/>
          <a:ln w="12700"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Tree>
    <p:extLst>
      <p:ext uri="{BB962C8B-B14F-4D97-AF65-F5344CB8AC3E}">
        <p14:creationId xmlns:p14="http://schemas.microsoft.com/office/powerpoint/2010/main" val="29835961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6"/>
            <a:ext cx="9738423" cy="4154424"/>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Customer Data</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1"/>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3465577" y="33981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31862"/>
            <a:chOff x="4046293" y="4639120"/>
            <a:chExt cx="581025" cy="931862"/>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38212"/>
            <a:chOff x="8456859" y="4639120"/>
            <a:chExt cx="619125" cy="938212"/>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958889" y="2904083"/>
            <a:ext cx="3528561" cy="1640196"/>
          </a:xfrm>
          <a:prstGeom prst="bentConnector3">
            <a:avLst>
              <a:gd name="adj1" fmla="val 100274"/>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Tree>
    <p:extLst>
      <p:ext uri="{BB962C8B-B14F-4D97-AF65-F5344CB8AC3E}">
        <p14:creationId xmlns:p14="http://schemas.microsoft.com/office/powerpoint/2010/main" val="2729955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Calculate and Map Processing Time and Lead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58</a:t>
            </a:fld>
            <a:endParaRPr lang="en-US" dirty="0"/>
          </a:p>
        </p:txBody>
      </p:sp>
    </p:spTree>
    <p:extLst>
      <p:ext uri="{BB962C8B-B14F-4D97-AF65-F5344CB8AC3E}">
        <p14:creationId xmlns:p14="http://schemas.microsoft.com/office/powerpoint/2010/main" val="332612213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Calculating Processing Time for Each Process</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200" y="1825625"/>
            <a:ext cx="5379720" cy="4351338"/>
          </a:xfrm>
        </p:spPr>
        <p:txBody>
          <a:bodyPr/>
          <a:lstStyle/>
          <a:p>
            <a:pPr>
              <a:lnSpc>
                <a:spcPct val="100000"/>
              </a:lnSpc>
            </a:pPr>
            <a:r>
              <a:rPr lang="en-US" b="1" dirty="0"/>
              <a:t>When Processing Time and DOI are equal:</a:t>
            </a:r>
          </a:p>
          <a:p>
            <a:pPr lvl="1">
              <a:lnSpc>
                <a:spcPct val="100000"/>
              </a:lnSpc>
            </a:pPr>
            <a:r>
              <a:rPr lang="en-US" dirty="0"/>
              <a:t>When there are no parallel operations (e.g. multiple operators) and there is only 1 “VALUE OBJECT” in the process at any one time</a:t>
            </a:r>
          </a:p>
          <a:p>
            <a:pPr lvl="1">
              <a:lnSpc>
                <a:spcPct val="100000"/>
              </a:lnSpc>
            </a:pPr>
            <a:r>
              <a:rPr lang="en-US" dirty="0"/>
              <a:t>Mail Package: </a:t>
            </a:r>
            <a:r>
              <a:rPr lang="en-US" b="1" dirty="0">
                <a:solidFill>
                  <a:srgbClr val="EE3228"/>
                </a:solidFill>
              </a:rPr>
              <a:t>45 seconds</a:t>
            </a:r>
          </a:p>
          <a:p>
            <a:pPr lvl="1">
              <a:lnSpc>
                <a:spcPct val="100000"/>
              </a:lnSpc>
            </a:pPr>
            <a:r>
              <a:rPr lang="en-US" dirty="0"/>
              <a:t>Generate Package: </a:t>
            </a:r>
            <a:r>
              <a:rPr lang="en-US" b="1" dirty="0">
                <a:solidFill>
                  <a:srgbClr val="EE3228"/>
                </a:solidFill>
              </a:rPr>
              <a:t>420 seconds</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59</a:t>
            </a:fld>
            <a:endParaRPr lang="en-US" dirty="0"/>
          </a:p>
        </p:txBody>
      </p:sp>
      <p:sp>
        <p:nvSpPr>
          <p:cNvPr id="4" name="Line 113">
            <a:extLst>
              <a:ext uri="{FF2B5EF4-FFF2-40B4-BE49-F238E27FC236}">
                <a16:creationId xmlns:a16="http://schemas.microsoft.com/office/drawing/2014/main" id="{E22CF14B-7F4A-F407-10C2-7F09778C8F87}"/>
              </a:ext>
            </a:extLst>
          </p:cNvPr>
          <p:cNvSpPr>
            <a:spLocks noChangeShapeType="1"/>
          </p:cNvSpPr>
          <p:nvPr/>
        </p:nvSpPr>
        <p:spPr bwMode="auto">
          <a:xfrm>
            <a:off x="7248589" y="5187121"/>
            <a:ext cx="620712" cy="3175"/>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5" name="AutoShape 115">
            <a:extLst>
              <a:ext uri="{FF2B5EF4-FFF2-40B4-BE49-F238E27FC236}">
                <a16:creationId xmlns:a16="http://schemas.microsoft.com/office/drawing/2014/main" id="{51C118F8-F85B-4579-6907-83B317C08CB1}"/>
              </a:ext>
            </a:extLst>
          </p:cNvPr>
          <p:cNvSpPr>
            <a:spLocks noChangeArrowheads="1"/>
          </p:cNvSpPr>
          <p:nvPr/>
        </p:nvSpPr>
        <p:spPr bwMode="auto">
          <a:xfrm>
            <a:off x="7432739" y="5028371"/>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6" name="Rectangle 125">
            <a:extLst>
              <a:ext uri="{FF2B5EF4-FFF2-40B4-BE49-F238E27FC236}">
                <a16:creationId xmlns:a16="http://schemas.microsoft.com/office/drawing/2014/main" id="{8551A81D-3EE6-7CFF-4829-97BB8FA41407}"/>
              </a:ext>
            </a:extLst>
          </p:cNvPr>
          <p:cNvSpPr>
            <a:spLocks noChangeArrowheads="1"/>
          </p:cNvSpPr>
          <p:nvPr/>
        </p:nvSpPr>
        <p:spPr bwMode="auto">
          <a:xfrm>
            <a:off x="8847201" y="4080634"/>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7" name="Group 126">
            <a:extLst>
              <a:ext uri="{FF2B5EF4-FFF2-40B4-BE49-F238E27FC236}">
                <a16:creationId xmlns:a16="http://schemas.microsoft.com/office/drawing/2014/main" id="{0DEA7F44-7210-58DE-3A65-A041EB638640}"/>
              </a:ext>
            </a:extLst>
          </p:cNvPr>
          <p:cNvGrpSpPr>
            <a:grpSpLocks/>
          </p:cNvGrpSpPr>
          <p:nvPr/>
        </p:nvGrpSpPr>
        <p:grpSpPr bwMode="auto">
          <a:xfrm>
            <a:off x="8850376" y="2143884"/>
            <a:ext cx="1751013" cy="1452562"/>
            <a:chOff x="418" y="2981"/>
            <a:chExt cx="352" cy="365"/>
          </a:xfrm>
        </p:grpSpPr>
        <p:sp>
          <p:nvSpPr>
            <p:cNvPr id="8" name="Rectangle 127">
              <a:extLst>
                <a:ext uri="{FF2B5EF4-FFF2-40B4-BE49-F238E27FC236}">
                  <a16:creationId xmlns:a16="http://schemas.microsoft.com/office/drawing/2014/main" id="{AAB14F2F-190D-D177-43B7-50B3CD3E3CD0}"/>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Line 128">
              <a:extLst>
                <a:ext uri="{FF2B5EF4-FFF2-40B4-BE49-F238E27FC236}">
                  <a16:creationId xmlns:a16="http://schemas.microsoft.com/office/drawing/2014/main" id="{AE0CEC1B-8022-4B58-49ED-58816F98717F}"/>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0" name="Text Box 131">
            <a:extLst>
              <a:ext uri="{FF2B5EF4-FFF2-40B4-BE49-F238E27FC236}">
                <a16:creationId xmlns:a16="http://schemas.microsoft.com/office/drawing/2014/main" id="{12A788F1-5585-4C5E-0E2D-9914D54F51B3}"/>
              </a:ext>
            </a:extLst>
          </p:cNvPr>
          <p:cNvSpPr txBox="1">
            <a:spLocks noChangeArrowheads="1"/>
          </p:cNvSpPr>
          <p:nvPr/>
        </p:nvSpPr>
        <p:spPr bwMode="auto">
          <a:xfrm>
            <a:off x="8891651" y="2191509"/>
            <a:ext cx="16779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t>Generate Package</a:t>
            </a:r>
          </a:p>
        </p:txBody>
      </p:sp>
      <p:grpSp>
        <p:nvGrpSpPr>
          <p:cNvPr id="11" name="Group 132">
            <a:extLst>
              <a:ext uri="{FF2B5EF4-FFF2-40B4-BE49-F238E27FC236}">
                <a16:creationId xmlns:a16="http://schemas.microsoft.com/office/drawing/2014/main" id="{2A75800C-6288-9FBE-4F4C-5BC6EB002C52}"/>
              </a:ext>
            </a:extLst>
          </p:cNvPr>
          <p:cNvGrpSpPr>
            <a:grpSpLocks/>
          </p:cNvGrpSpPr>
          <p:nvPr/>
        </p:nvGrpSpPr>
        <p:grpSpPr bwMode="auto">
          <a:xfrm>
            <a:off x="9388539" y="2920171"/>
            <a:ext cx="857250" cy="360363"/>
            <a:chOff x="4739" y="1684"/>
            <a:chExt cx="540" cy="227"/>
          </a:xfrm>
        </p:grpSpPr>
        <p:grpSp>
          <p:nvGrpSpPr>
            <p:cNvPr id="18" name="Group 133">
              <a:extLst>
                <a:ext uri="{FF2B5EF4-FFF2-40B4-BE49-F238E27FC236}">
                  <a16:creationId xmlns:a16="http://schemas.microsoft.com/office/drawing/2014/main" id="{B2E676F0-77D6-A854-44CD-AFED5329F5F7}"/>
                </a:ext>
              </a:extLst>
            </p:cNvPr>
            <p:cNvGrpSpPr>
              <a:grpSpLocks/>
            </p:cNvGrpSpPr>
            <p:nvPr/>
          </p:nvGrpSpPr>
          <p:grpSpPr bwMode="auto">
            <a:xfrm flipV="1">
              <a:off x="4739" y="1684"/>
              <a:ext cx="206" cy="226"/>
              <a:chOff x="720" y="3354"/>
              <a:chExt cx="192" cy="198"/>
            </a:xfrm>
          </p:grpSpPr>
          <p:sp>
            <p:nvSpPr>
              <p:cNvPr id="20" name="Oval 134">
                <a:extLst>
                  <a:ext uri="{FF2B5EF4-FFF2-40B4-BE49-F238E27FC236}">
                    <a16:creationId xmlns:a16="http://schemas.microsoft.com/office/drawing/2014/main" id="{A950FCE7-B002-8BC8-0CE8-847854B215B6}"/>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 name="AutoShape 135">
                <a:extLst>
                  <a:ext uri="{FF2B5EF4-FFF2-40B4-BE49-F238E27FC236}">
                    <a16:creationId xmlns:a16="http://schemas.microsoft.com/office/drawing/2014/main" id="{7EF53A2D-75CF-20A6-EEE6-0FB6EF866F7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9" name="Text Box 136">
              <a:extLst>
                <a:ext uri="{FF2B5EF4-FFF2-40B4-BE49-F238E27FC236}">
                  <a16:creationId xmlns:a16="http://schemas.microsoft.com/office/drawing/2014/main" id="{8293FDC9-EA5D-93C6-7FDE-839A2E0950AC}"/>
                </a:ext>
              </a:extLst>
            </p:cNvPr>
            <p:cNvSpPr txBox="1">
              <a:spLocks noChangeArrowheads="1"/>
            </p:cNvSpPr>
            <p:nvPr/>
          </p:nvSpPr>
          <p:spPr bwMode="auto">
            <a:xfrm>
              <a:off x="5004" y="1719"/>
              <a:ext cx="27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t>= 1</a:t>
              </a:r>
            </a:p>
          </p:txBody>
        </p:sp>
      </p:grpSp>
      <p:sp>
        <p:nvSpPr>
          <p:cNvPr id="30" name="Text Box 138">
            <a:extLst>
              <a:ext uri="{FF2B5EF4-FFF2-40B4-BE49-F238E27FC236}">
                <a16:creationId xmlns:a16="http://schemas.microsoft.com/office/drawing/2014/main" id="{F4A9016C-7373-D826-A0E6-9512982CE208}"/>
              </a:ext>
            </a:extLst>
          </p:cNvPr>
          <p:cNvSpPr txBox="1">
            <a:spLocks noChangeArrowheads="1"/>
          </p:cNvSpPr>
          <p:nvPr/>
        </p:nvSpPr>
        <p:spPr bwMode="auto">
          <a:xfrm>
            <a:off x="8824976" y="4718809"/>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Quality = 97%</a:t>
            </a:r>
          </a:p>
        </p:txBody>
      </p:sp>
      <p:sp>
        <p:nvSpPr>
          <p:cNvPr id="31" name="Rectangle 139">
            <a:extLst>
              <a:ext uri="{FF2B5EF4-FFF2-40B4-BE49-F238E27FC236}">
                <a16:creationId xmlns:a16="http://schemas.microsoft.com/office/drawing/2014/main" id="{164FBC7F-EB75-53FF-3AA6-208E9E84457A}"/>
              </a:ext>
            </a:extLst>
          </p:cNvPr>
          <p:cNvSpPr>
            <a:spLocks noChangeArrowheads="1"/>
          </p:cNvSpPr>
          <p:nvPr/>
        </p:nvSpPr>
        <p:spPr bwMode="auto">
          <a:xfrm>
            <a:off x="8832914" y="4167946"/>
            <a:ext cx="17970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Processing Time = 420</a:t>
            </a:r>
            <a:r>
              <a:rPr lang="ja-JP" altLang="en-US" sz="1200" b="0"/>
              <a:t>”</a:t>
            </a:r>
            <a:endParaRPr lang="en-US" altLang="en-US" sz="1200" b="0"/>
          </a:p>
        </p:txBody>
      </p:sp>
      <p:sp>
        <p:nvSpPr>
          <p:cNvPr id="32" name="Rectangle 140">
            <a:extLst>
              <a:ext uri="{FF2B5EF4-FFF2-40B4-BE49-F238E27FC236}">
                <a16:creationId xmlns:a16="http://schemas.microsoft.com/office/drawing/2014/main" id="{2C9E8A8E-C737-6E58-71CD-7F00B6FA15C8}"/>
              </a:ext>
            </a:extLst>
          </p:cNvPr>
          <p:cNvSpPr>
            <a:spLocks noChangeArrowheads="1"/>
          </p:cNvSpPr>
          <p:nvPr/>
        </p:nvSpPr>
        <p:spPr bwMode="auto">
          <a:xfrm>
            <a:off x="8840851" y="4456871"/>
            <a:ext cx="9334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DOI = 420</a:t>
            </a:r>
            <a:r>
              <a:rPr lang="ja-JP" altLang="en-US" sz="1200" b="0"/>
              <a:t>”</a:t>
            </a:r>
            <a:endParaRPr lang="en-US" altLang="en-US" sz="1200" b="0"/>
          </a:p>
        </p:txBody>
      </p:sp>
      <p:grpSp>
        <p:nvGrpSpPr>
          <p:cNvPr id="33" name="Group 141">
            <a:extLst>
              <a:ext uri="{FF2B5EF4-FFF2-40B4-BE49-F238E27FC236}">
                <a16:creationId xmlns:a16="http://schemas.microsoft.com/office/drawing/2014/main" id="{F672A1D9-FE65-3A2B-2368-1A87A12E192D}"/>
              </a:ext>
            </a:extLst>
          </p:cNvPr>
          <p:cNvGrpSpPr>
            <a:grpSpLocks/>
          </p:cNvGrpSpPr>
          <p:nvPr/>
        </p:nvGrpSpPr>
        <p:grpSpPr bwMode="auto">
          <a:xfrm>
            <a:off x="6873939" y="2139121"/>
            <a:ext cx="1751012" cy="1452563"/>
            <a:chOff x="418" y="2981"/>
            <a:chExt cx="352" cy="365"/>
          </a:xfrm>
        </p:grpSpPr>
        <p:sp>
          <p:nvSpPr>
            <p:cNvPr id="34" name="Rectangle 142">
              <a:extLst>
                <a:ext uri="{FF2B5EF4-FFF2-40B4-BE49-F238E27FC236}">
                  <a16:creationId xmlns:a16="http://schemas.microsoft.com/office/drawing/2014/main" id="{7D4A6FC1-DE71-7F2B-C6C0-EE3208891754}"/>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5" name="Line 143">
              <a:extLst>
                <a:ext uri="{FF2B5EF4-FFF2-40B4-BE49-F238E27FC236}">
                  <a16:creationId xmlns:a16="http://schemas.microsoft.com/office/drawing/2014/main" id="{4051581A-A467-20B2-213D-EF710D8C0D45}"/>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6" name="Rectangle 145">
            <a:extLst>
              <a:ext uri="{FF2B5EF4-FFF2-40B4-BE49-F238E27FC236}">
                <a16:creationId xmlns:a16="http://schemas.microsoft.com/office/drawing/2014/main" id="{D102ADA3-1E59-4428-3B9D-05FA1EF46617}"/>
              </a:ext>
            </a:extLst>
          </p:cNvPr>
          <p:cNvSpPr>
            <a:spLocks noChangeArrowheads="1"/>
          </p:cNvSpPr>
          <p:nvPr/>
        </p:nvSpPr>
        <p:spPr bwMode="auto">
          <a:xfrm>
            <a:off x="6870764" y="4075871"/>
            <a:ext cx="1751012" cy="1487488"/>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7" name="Text Box 147">
            <a:extLst>
              <a:ext uri="{FF2B5EF4-FFF2-40B4-BE49-F238E27FC236}">
                <a16:creationId xmlns:a16="http://schemas.microsoft.com/office/drawing/2014/main" id="{61981EE9-65B2-B1B3-0F86-8122209FE8CE}"/>
              </a:ext>
            </a:extLst>
          </p:cNvPr>
          <p:cNvSpPr txBox="1">
            <a:spLocks noChangeArrowheads="1"/>
          </p:cNvSpPr>
          <p:nvPr/>
        </p:nvSpPr>
        <p:spPr bwMode="auto">
          <a:xfrm>
            <a:off x="6915214" y="2186746"/>
            <a:ext cx="167798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t>Mail Package</a:t>
            </a:r>
          </a:p>
        </p:txBody>
      </p:sp>
      <p:sp>
        <p:nvSpPr>
          <p:cNvPr id="38" name="Text Box 148">
            <a:extLst>
              <a:ext uri="{FF2B5EF4-FFF2-40B4-BE49-F238E27FC236}">
                <a16:creationId xmlns:a16="http://schemas.microsoft.com/office/drawing/2014/main" id="{70BB00F3-257C-AEDA-9603-CADF18EDC9E8}"/>
              </a:ext>
            </a:extLst>
          </p:cNvPr>
          <p:cNvSpPr txBox="1">
            <a:spLocks noChangeArrowheads="1"/>
          </p:cNvSpPr>
          <p:nvPr/>
        </p:nvSpPr>
        <p:spPr bwMode="auto">
          <a:xfrm>
            <a:off x="6848539" y="5007734"/>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1200" b="0"/>
          </a:p>
        </p:txBody>
      </p:sp>
      <p:sp>
        <p:nvSpPr>
          <p:cNvPr id="39" name="Text Box 149">
            <a:extLst>
              <a:ext uri="{FF2B5EF4-FFF2-40B4-BE49-F238E27FC236}">
                <a16:creationId xmlns:a16="http://schemas.microsoft.com/office/drawing/2014/main" id="{67816C6C-96E8-4D43-99D1-E3A7F89C6451}"/>
              </a:ext>
            </a:extLst>
          </p:cNvPr>
          <p:cNvSpPr txBox="1">
            <a:spLocks noChangeArrowheads="1"/>
          </p:cNvSpPr>
          <p:nvPr/>
        </p:nvSpPr>
        <p:spPr bwMode="auto">
          <a:xfrm>
            <a:off x="6848539" y="4714046"/>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Quality = 100%</a:t>
            </a:r>
          </a:p>
        </p:txBody>
      </p:sp>
      <p:sp>
        <p:nvSpPr>
          <p:cNvPr id="40" name="Rectangle 150">
            <a:extLst>
              <a:ext uri="{FF2B5EF4-FFF2-40B4-BE49-F238E27FC236}">
                <a16:creationId xmlns:a16="http://schemas.microsoft.com/office/drawing/2014/main" id="{81A39F3E-5EFB-D05D-B9CC-4B0F4FE69AAB}"/>
              </a:ext>
            </a:extLst>
          </p:cNvPr>
          <p:cNvSpPr>
            <a:spLocks noChangeArrowheads="1"/>
          </p:cNvSpPr>
          <p:nvPr/>
        </p:nvSpPr>
        <p:spPr bwMode="auto">
          <a:xfrm>
            <a:off x="6853301" y="4163184"/>
            <a:ext cx="1712913"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a:t>Processing Time = 45</a:t>
            </a:r>
            <a:r>
              <a:rPr lang="ja-JP" altLang="en-US" sz="1200" b="0"/>
              <a:t>”</a:t>
            </a:r>
            <a:endParaRPr lang="en-US" altLang="en-US" sz="1200" b="0"/>
          </a:p>
        </p:txBody>
      </p:sp>
      <p:sp>
        <p:nvSpPr>
          <p:cNvPr id="41" name="Rectangle 151">
            <a:extLst>
              <a:ext uri="{FF2B5EF4-FFF2-40B4-BE49-F238E27FC236}">
                <a16:creationId xmlns:a16="http://schemas.microsoft.com/office/drawing/2014/main" id="{6A086B37-769D-2864-F5B4-A0FA9CB22C34}"/>
              </a:ext>
            </a:extLst>
          </p:cNvPr>
          <p:cNvSpPr>
            <a:spLocks noChangeArrowheads="1"/>
          </p:cNvSpPr>
          <p:nvPr/>
        </p:nvSpPr>
        <p:spPr bwMode="auto">
          <a:xfrm>
            <a:off x="6862826" y="4452109"/>
            <a:ext cx="849313"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25000"/>
              </a:lnSpc>
              <a:spcBef>
                <a:spcPct val="0"/>
              </a:spcBef>
              <a:spcAft>
                <a:spcPct val="0"/>
              </a:spcAft>
              <a:buClrTx/>
              <a:buSzTx/>
              <a:buFontTx/>
              <a:buNone/>
            </a:pPr>
            <a:r>
              <a:rPr lang="en-US" altLang="en-US" sz="1200" b="0"/>
              <a:t>DOI = 45</a:t>
            </a:r>
            <a:r>
              <a:rPr lang="ja-JP" altLang="en-US" sz="1200" b="0"/>
              <a:t>”</a:t>
            </a:r>
            <a:endParaRPr lang="en-US" altLang="en-US" sz="1200" b="0"/>
          </a:p>
        </p:txBody>
      </p:sp>
      <p:grpSp>
        <p:nvGrpSpPr>
          <p:cNvPr id="42" name="Group 152">
            <a:extLst>
              <a:ext uri="{FF2B5EF4-FFF2-40B4-BE49-F238E27FC236}">
                <a16:creationId xmlns:a16="http://schemas.microsoft.com/office/drawing/2014/main" id="{46C01D6F-F6F3-8F72-5FA2-C122C1E6DF97}"/>
              </a:ext>
            </a:extLst>
          </p:cNvPr>
          <p:cNvGrpSpPr>
            <a:grpSpLocks/>
          </p:cNvGrpSpPr>
          <p:nvPr/>
        </p:nvGrpSpPr>
        <p:grpSpPr bwMode="auto">
          <a:xfrm>
            <a:off x="7412101" y="2915409"/>
            <a:ext cx="857250" cy="360362"/>
            <a:chOff x="4739" y="1684"/>
            <a:chExt cx="540" cy="227"/>
          </a:xfrm>
        </p:grpSpPr>
        <p:grpSp>
          <p:nvGrpSpPr>
            <p:cNvPr id="43" name="Group 153">
              <a:extLst>
                <a:ext uri="{FF2B5EF4-FFF2-40B4-BE49-F238E27FC236}">
                  <a16:creationId xmlns:a16="http://schemas.microsoft.com/office/drawing/2014/main" id="{346419C1-E41A-09FF-8449-1C348951CEFC}"/>
                </a:ext>
              </a:extLst>
            </p:cNvPr>
            <p:cNvGrpSpPr>
              <a:grpSpLocks/>
            </p:cNvGrpSpPr>
            <p:nvPr/>
          </p:nvGrpSpPr>
          <p:grpSpPr bwMode="auto">
            <a:xfrm flipV="1">
              <a:off x="4739" y="1684"/>
              <a:ext cx="206" cy="226"/>
              <a:chOff x="720" y="3354"/>
              <a:chExt cx="192" cy="198"/>
            </a:xfrm>
          </p:grpSpPr>
          <p:sp>
            <p:nvSpPr>
              <p:cNvPr id="45" name="Oval 154">
                <a:extLst>
                  <a:ext uri="{FF2B5EF4-FFF2-40B4-BE49-F238E27FC236}">
                    <a16:creationId xmlns:a16="http://schemas.microsoft.com/office/drawing/2014/main" id="{663B33F0-C0EC-F47A-0C17-5C290EA9E8F3}"/>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6" name="AutoShape 155">
                <a:extLst>
                  <a:ext uri="{FF2B5EF4-FFF2-40B4-BE49-F238E27FC236}">
                    <a16:creationId xmlns:a16="http://schemas.microsoft.com/office/drawing/2014/main" id="{2CEE3A55-943D-57D4-C3E9-18318125B1D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44" name="Text Box 156">
              <a:extLst>
                <a:ext uri="{FF2B5EF4-FFF2-40B4-BE49-F238E27FC236}">
                  <a16:creationId xmlns:a16="http://schemas.microsoft.com/office/drawing/2014/main" id="{61ABE0AD-327D-FF27-076C-456B32B40335}"/>
                </a:ext>
              </a:extLst>
            </p:cNvPr>
            <p:cNvSpPr txBox="1">
              <a:spLocks noChangeArrowheads="1"/>
            </p:cNvSpPr>
            <p:nvPr/>
          </p:nvSpPr>
          <p:spPr bwMode="auto">
            <a:xfrm>
              <a:off x="5004" y="1719"/>
              <a:ext cx="27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t>= 1</a:t>
              </a:r>
            </a:p>
          </p:txBody>
        </p:sp>
      </p:grpSp>
      <p:grpSp>
        <p:nvGrpSpPr>
          <p:cNvPr id="47" name="Group 161">
            <a:extLst>
              <a:ext uri="{FF2B5EF4-FFF2-40B4-BE49-F238E27FC236}">
                <a16:creationId xmlns:a16="http://schemas.microsoft.com/office/drawing/2014/main" id="{B513505E-A9FD-F16F-0148-BD6A1FD1302F}"/>
              </a:ext>
            </a:extLst>
          </p:cNvPr>
          <p:cNvGrpSpPr>
            <a:grpSpLocks/>
          </p:cNvGrpSpPr>
          <p:nvPr/>
        </p:nvGrpSpPr>
        <p:grpSpPr bwMode="auto">
          <a:xfrm>
            <a:off x="6872351" y="5704646"/>
            <a:ext cx="1793875" cy="304800"/>
            <a:chOff x="3154" y="3438"/>
            <a:chExt cx="1130" cy="192"/>
          </a:xfrm>
        </p:grpSpPr>
        <p:sp>
          <p:nvSpPr>
            <p:cNvPr id="48" name="Line 157">
              <a:extLst>
                <a:ext uri="{FF2B5EF4-FFF2-40B4-BE49-F238E27FC236}">
                  <a16:creationId xmlns:a16="http://schemas.microsoft.com/office/drawing/2014/main" id="{9A7BB300-5929-7857-FB95-CD0F110BACF3}"/>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49" name="Line 158">
              <a:extLst>
                <a:ext uri="{FF2B5EF4-FFF2-40B4-BE49-F238E27FC236}">
                  <a16:creationId xmlns:a16="http://schemas.microsoft.com/office/drawing/2014/main" id="{98F54039-A05B-2A8C-75A7-019023D2C29D}"/>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0" name="Line 160">
              <a:extLst>
                <a:ext uri="{FF2B5EF4-FFF2-40B4-BE49-F238E27FC236}">
                  <a16:creationId xmlns:a16="http://schemas.microsoft.com/office/drawing/2014/main" id="{05354E19-BCC4-5F1E-BF5E-1F8146896B51}"/>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51" name="Group 162">
            <a:extLst>
              <a:ext uri="{FF2B5EF4-FFF2-40B4-BE49-F238E27FC236}">
                <a16:creationId xmlns:a16="http://schemas.microsoft.com/office/drawing/2014/main" id="{3A93581E-38FF-0B52-4309-9BFC7727AF3F}"/>
              </a:ext>
            </a:extLst>
          </p:cNvPr>
          <p:cNvGrpSpPr>
            <a:grpSpLocks/>
          </p:cNvGrpSpPr>
          <p:nvPr/>
        </p:nvGrpSpPr>
        <p:grpSpPr bwMode="auto">
          <a:xfrm>
            <a:off x="8844026" y="5704646"/>
            <a:ext cx="1793875" cy="304800"/>
            <a:chOff x="3154" y="3438"/>
            <a:chExt cx="1130" cy="192"/>
          </a:xfrm>
        </p:grpSpPr>
        <p:sp>
          <p:nvSpPr>
            <p:cNvPr id="52" name="Line 163">
              <a:extLst>
                <a:ext uri="{FF2B5EF4-FFF2-40B4-BE49-F238E27FC236}">
                  <a16:creationId xmlns:a16="http://schemas.microsoft.com/office/drawing/2014/main" id="{86534761-B07A-639C-896C-C139170C51DE}"/>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 name="Line 164">
              <a:extLst>
                <a:ext uri="{FF2B5EF4-FFF2-40B4-BE49-F238E27FC236}">
                  <a16:creationId xmlns:a16="http://schemas.microsoft.com/office/drawing/2014/main" id="{CA9AE6AC-5842-D44A-D24A-0D042B8751C7}"/>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65">
              <a:extLst>
                <a:ext uri="{FF2B5EF4-FFF2-40B4-BE49-F238E27FC236}">
                  <a16:creationId xmlns:a16="http://schemas.microsoft.com/office/drawing/2014/main" id="{7B6848FE-D54B-EF7A-05C6-B268A0CCCCD1}"/>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55" name="Text Box 166">
            <a:extLst>
              <a:ext uri="{FF2B5EF4-FFF2-40B4-BE49-F238E27FC236}">
                <a16:creationId xmlns:a16="http://schemas.microsoft.com/office/drawing/2014/main" id="{31CE95B6-F6FE-213C-6FD1-344AEA5DC844}"/>
              </a:ext>
            </a:extLst>
          </p:cNvPr>
          <p:cNvSpPr txBox="1">
            <a:spLocks noChangeArrowheads="1"/>
          </p:cNvSpPr>
          <p:nvPr/>
        </p:nvSpPr>
        <p:spPr bwMode="auto">
          <a:xfrm>
            <a:off x="7424801" y="5788784"/>
            <a:ext cx="806450"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a:solidFill>
                  <a:srgbClr val="FF0000"/>
                </a:solidFill>
              </a:rPr>
              <a:t>45 seconds</a:t>
            </a:r>
          </a:p>
        </p:txBody>
      </p:sp>
      <p:sp>
        <p:nvSpPr>
          <p:cNvPr id="56" name="Text Box 167">
            <a:extLst>
              <a:ext uri="{FF2B5EF4-FFF2-40B4-BE49-F238E27FC236}">
                <a16:creationId xmlns:a16="http://schemas.microsoft.com/office/drawing/2014/main" id="{A20C62C6-34E7-F154-6BAA-E9D1C1E0B3EA}"/>
              </a:ext>
            </a:extLst>
          </p:cNvPr>
          <p:cNvSpPr txBox="1">
            <a:spLocks noChangeArrowheads="1"/>
          </p:cNvSpPr>
          <p:nvPr/>
        </p:nvSpPr>
        <p:spPr bwMode="auto">
          <a:xfrm>
            <a:off x="9221851" y="5788784"/>
            <a:ext cx="869950"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a:solidFill>
                  <a:srgbClr val="FF0000"/>
                </a:solidFill>
              </a:rPr>
              <a:t>420 seconds</a:t>
            </a:r>
          </a:p>
        </p:txBody>
      </p:sp>
    </p:spTree>
    <p:extLst>
      <p:ext uri="{BB962C8B-B14F-4D97-AF65-F5344CB8AC3E}">
        <p14:creationId xmlns:p14="http://schemas.microsoft.com/office/powerpoint/2010/main" val="333041291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Calculating Processing Time for Each Process</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200" y="1825625"/>
            <a:ext cx="5379720" cy="4351338"/>
          </a:xfrm>
        </p:spPr>
        <p:txBody>
          <a:bodyPr>
            <a:normAutofit/>
          </a:bodyPr>
          <a:lstStyle/>
          <a:p>
            <a:pPr>
              <a:lnSpc>
                <a:spcPct val="100000"/>
              </a:lnSpc>
            </a:pPr>
            <a:r>
              <a:rPr lang="en-US" sz="2400" dirty="0"/>
              <a:t>When Processing Time and DOI are different:</a:t>
            </a:r>
          </a:p>
          <a:p>
            <a:pPr lvl="1">
              <a:lnSpc>
                <a:spcPct val="100000"/>
              </a:lnSpc>
            </a:pPr>
            <a:r>
              <a:rPr lang="en-US" sz="2000" dirty="0"/>
              <a:t>if there are multiple operators performing identical (or similar) functions on multiple, </a:t>
            </a:r>
          </a:p>
          <a:p>
            <a:pPr lvl="1">
              <a:lnSpc>
                <a:spcPct val="100000"/>
              </a:lnSpc>
            </a:pPr>
            <a:r>
              <a:rPr lang="en-US" sz="2000" dirty="0"/>
              <a:t>multiple </a:t>
            </a:r>
            <a:r>
              <a:rPr lang="en-US" sz="2000" b="1" dirty="0"/>
              <a:t>“VALUE OBJECTs” </a:t>
            </a:r>
            <a:r>
              <a:rPr lang="en-US" sz="2000" dirty="0"/>
              <a:t>going through the value stream concurrently.</a:t>
            </a:r>
          </a:p>
          <a:p>
            <a:pPr>
              <a:lnSpc>
                <a:spcPct val="100000"/>
              </a:lnSpc>
            </a:pPr>
            <a:r>
              <a:rPr lang="en-US" sz="2400" dirty="0"/>
              <a:t>The amount of time required for </a:t>
            </a:r>
            <a:br>
              <a:rPr lang="en-US" sz="2400" dirty="0"/>
            </a:br>
            <a:r>
              <a:rPr lang="en-US" sz="2400" dirty="0"/>
              <a:t>a single operator to process the </a:t>
            </a:r>
            <a:r>
              <a:rPr lang="en-US" sz="2400" b="1" dirty="0"/>
              <a:t>“VALUE OBJECT”</a:t>
            </a:r>
            <a:r>
              <a:rPr lang="en-US" sz="2400" dirty="0"/>
              <a:t> is what is reflected in the map</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60</a:t>
            </a:fld>
            <a:endParaRPr lang="en-US" dirty="0"/>
          </a:p>
        </p:txBody>
      </p:sp>
      <p:pic>
        <p:nvPicPr>
          <p:cNvPr id="12" name="Picture 163" descr="process boxes">
            <a:extLst>
              <a:ext uri="{FF2B5EF4-FFF2-40B4-BE49-F238E27FC236}">
                <a16:creationId xmlns:a16="http://schemas.microsoft.com/office/drawing/2014/main" id="{74A53175-55B6-F024-651B-7CEF92652A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9944" y="2239582"/>
            <a:ext cx="5094288" cy="3547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384380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Calculating Processing Time for Each Process</a:t>
            </a:r>
            <a:endParaRPr lang="en-US" sz="3600" dirty="0"/>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61</a:t>
            </a:fld>
            <a:endParaRPr lang="en-US" dirty="0"/>
          </a:p>
        </p:txBody>
      </p:sp>
      <p:sp>
        <p:nvSpPr>
          <p:cNvPr id="7" name="Text Box 53">
            <a:extLst>
              <a:ext uri="{FF2B5EF4-FFF2-40B4-BE49-F238E27FC236}">
                <a16:creationId xmlns:a16="http://schemas.microsoft.com/office/drawing/2014/main" id="{ED39520A-4598-D8C2-408E-BCE32C80BC60}"/>
              </a:ext>
            </a:extLst>
          </p:cNvPr>
          <p:cNvSpPr txBox="1">
            <a:spLocks noChangeArrowheads="1"/>
          </p:cNvSpPr>
          <p:nvPr/>
        </p:nvSpPr>
        <p:spPr bwMode="auto">
          <a:xfrm>
            <a:off x="4509978" y="1836760"/>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8" name="Group 42">
            <a:extLst>
              <a:ext uri="{FF2B5EF4-FFF2-40B4-BE49-F238E27FC236}">
                <a16:creationId xmlns:a16="http://schemas.microsoft.com/office/drawing/2014/main" id="{39FB7BCF-AADA-648E-3DE8-99094B9EF3D2}"/>
              </a:ext>
            </a:extLst>
          </p:cNvPr>
          <p:cNvGrpSpPr>
            <a:grpSpLocks/>
          </p:cNvGrpSpPr>
          <p:nvPr/>
        </p:nvGrpSpPr>
        <p:grpSpPr bwMode="auto">
          <a:xfrm>
            <a:off x="5353614" y="2262741"/>
            <a:ext cx="1608270" cy="959997"/>
            <a:chOff x="437" y="1322"/>
            <a:chExt cx="583" cy="348"/>
          </a:xfrm>
        </p:grpSpPr>
        <p:grpSp>
          <p:nvGrpSpPr>
            <p:cNvPr id="9" name="Group 43">
              <a:extLst>
                <a:ext uri="{FF2B5EF4-FFF2-40B4-BE49-F238E27FC236}">
                  <a16:creationId xmlns:a16="http://schemas.microsoft.com/office/drawing/2014/main" id="{043F0649-9DD0-4AB5-9384-B7E65C573D49}"/>
                </a:ext>
              </a:extLst>
            </p:cNvPr>
            <p:cNvGrpSpPr>
              <a:grpSpLocks/>
            </p:cNvGrpSpPr>
            <p:nvPr/>
          </p:nvGrpSpPr>
          <p:grpSpPr bwMode="auto">
            <a:xfrm>
              <a:off x="474" y="1322"/>
              <a:ext cx="508" cy="348"/>
              <a:chOff x="536" y="1322"/>
              <a:chExt cx="446" cy="348"/>
            </a:xfrm>
          </p:grpSpPr>
          <p:sp>
            <p:nvSpPr>
              <p:cNvPr id="11" name="Rectangle 44">
                <a:extLst>
                  <a:ext uri="{FF2B5EF4-FFF2-40B4-BE49-F238E27FC236}">
                    <a16:creationId xmlns:a16="http://schemas.microsoft.com/office/drawing/2014/main" id="{75DBA3E6-560C-5EA2-7809-7C2F2C25007D}"/>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 name="Rectangle 45">
                <a:extLst>
                  <a:ext uri="{FF2B5EF4-FFF2-40B4-BE49-F238E27FC236}">
                    <a16:creationId xmlns:a16="http://schemas.microsoft.com/office/drawing/2014/main" id="{6C462FE5-A1E4-E6F9-F2D7-2D1D2C7AE140}"/>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4" name="AutoShape 46">
                <a:extLst>
                  <a:ext uri="{FF2B5EF4-FFF2-40B4-BE49-F238E27FC236}">
                    <a16:creationId xmlns:a16="http://schemas.microsoft.com/office/drawing/2014/main" id="{05C52FF5-D8D8-9E6D-C1ED-26D74DDB65F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AutoShape 47">
                <a:extLst>
                  <a:ext uri="{FF2B5EF4-FFF2-40B4-BE49-F238E27FC236}">
                    <a16:creationId xmlns:a16="http://schemas.microsoft.com/office/drawing/2014/main" id="{BEBA957C-87D2-4D26-1DB4-7CA94AF82E53}"/>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AutoShape 48">
                <a:extLst>
                  <a:ext uri="{FF2B5EF4-FFF2-40B4-BE49-F238E27FC236}">
                    <a16:creationId xmlns:a16="http://schemas.microsoft.com/office/drawing/2014/main" id="{40752731-CB87-0E6A-9BA1-42A83D3237A9}"/>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9">
                <a:extLst>
                  <a:ext uri="{FF2B5EF4-FFF2-40B4-BE49-F238E27FC236}">
                    <a16:creationId xmlns:a16="http://schemas.microsoft.com/office/drawing/2014/main" id="{600B1AEB-121B-D393-A60D-B98A0E8486AD}"/>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Rectangle 50">
                <a:extLst>
                  <a:ext uri="{FF2B5EF4-FFF2-40B4-BE49-F238E27FC236}">
                    <a16:creationId xmlns:a16="http://schemas.microsoft.com/office/drawing/2014/main" id="{4FD615DA-6E33-04CA-CBAD-8B6C9396F28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Rectangle 51">
                <a:extLst>
                  <a:ext uri="{FF2B5EF4-FFF2-40B4-BE49-F238E27FC236}">
                    <a16:creationId xmlns:a16="http://schemas.microsoft.com/office/drawing/2014/main" id="{D07CD801-4E72-A95F-8B70-C7884FDD27E4}"/>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0" name="Text Box 52">
              <a:extLst>
                <a:ext uri="{FF2B5EF4-FFF2-40B4-BE49-F238E27FC236}">
                  <a16:creationId xmlns:a16="http://schemas.microsoft.com/office/drawing/2014/main" id="{63BEC295-11D6-8039-0BF4-FB8E941BFC5D}"/>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0" name="Text Box 54">
            <a:extLst>
              <a:ext uri="{FF2B5EF4-FFF2-40B4-BE49-F238E27FC236}">
                <a16:creationId xmlns:a16="http://schemas.microsoft.com/office/drawing/2014/main" id="{C4AD7D41-1824-4FFF-A6D9-4C4444FEDEBA}"/>
              </a:ext>
            </a:extLst>
          </p:cNvPr>
          <p:cNvSpPr txBox="1">
            <a:spLocks noChangeArrowheads="1"/>
          </p:cNvSpPr>
          <p:nvPr/>
        </p:nvSpPr>
        <p:spPr bwMode="auto">
          <a:xfrm>
            <a:off x="6887402" y="2524809"/>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1" name="AutoShape 41">
            <a:extLst>
              <a:ext uri="{FF2B5EF4-FFF2-40B4-BE49-F238E27FC236}">
                <a16:creationId xmlns:a16="http://schemas.microsoft.com/office/drawing/2014/main" id="{43E68480-75C0-C751-12C2-4E6D5774D5BC}"/>
              </a:ext>
            </a:extLst>
          </p:cNvPr>
          <p:cNvCxnSpPr>
            <a:cxnSpLocks noChangeShapeType="1"/>
          </p:cNvCxnSpPr>
          <p:nvPr/>
        </p:nvCxnSpPr>
        <p:spPr bwMode="auto">
          <a:xfrm rot="16200000" flipV="1">
            <a:off x="8044967" y="3194671"/>
            <a:ext cx="2224735" cy="1376044"/>
          </a:xfrm>
          <a:prstGeom prst="bentConnector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30" name="Group 55">
            <a:extLst>
              <a:ext uri="{FF2B5EF4-FFF2-40B4-BE49-F238E27FC236}">
                <a16:creationId xmlns:a16="http://schemas.microsoft.com/office/drawing/2014/main" id="{375E2CDB-CD07-AFB4-8CA8-643A07F421AD}"/>
              </a:ext>
            </a:extLst>
          </p:cNvPr>
          <p:cNvGrpSpPr>
            <a:grpSpLocks/>
          </p:cNvGrpSpPr>
          <p:nvPr/>
        </p:nvGrpSpPr>
        <p:grpSpPr bwMode="auto">
          <a:xfrm>
            <a:off x="9336180" y="3342155"/>
            <a:ext cx="677868" cy="467620"/>
            <a:chOff x="513" y="2099"/>
            <a:chExt cx="374" cy="258"/>
          </a:xfrm>
        </p:grpSpPr>
        <p:grpSp>
          <p:nvGrpSpPr>
            <p:cNvPr id="31" name="Group 56">
              <a:extLst>
                <a:ext uri="{FF2B5EF4-FFF2-40B4-BE49-F238E27FC236}">
                  <a16:creationId xmlns:a16="http://schemas.microsoft.com/office/drawing/2014/main" id="{4B4FD924-1D35-C9B7-745D-876CC67CA2E5}"/>
                </a:ext>
              </a:extLst>
            </p:cNvPr>
            <p:cNvGrpSpPr>
              <a:grpSpLocks/>
            </p:cNvGrpSpPr>
            <p:nvPr/>
          </p:nvGrpSpPr>
          <p:grpSpPr bwMode="auto">
            <a:xfrm>
              <a:off x="550" y="2121"/>
              <a:ext cx="337" cy="236"/>
              <a:chOff x="536" y="3744"/>
              <a:chExt cx="415" cy="261"/>
            </a:xfrm>
          </p:grpSpPr>
          <p:sp>
            <p:nvSpPr>
              <p:cNvPr id="33" name="Rectangle 57">
                <a:extLst>
                  <a:ext uri="{FF2B5EF4-FFF2-40B4-BE49-F238E27FC236}">
                    <a16:creationId xmlns:a16="http://schemas.microsoft.com/office/drawing/2014/main" id="{8ED31C84-0BD9-12AD-A242-8F8D2FB38118}"/>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4" name="Rectangle 58">
                <a:extLst>
                  <a:ext uri="{FF2B5EF4-FFF2-40B4-BE49-F238E27FC236}">
                    <a16:creationId xmlns:a16="http://schemas.microsoft.com/office/drawing/2014/main" id="{D330F600-A46D-D33E-CD23-7046DE9706CA}"/>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Oval 59">
                <a:extLst>
                  <a:ext uri="{FF2B5EF4-FFF2-40B4-BE49-F238E27FC236}">
                    <a16:creationId xmlns:a16="http://schemas.microsoft.com/office/drawing/2014/main" id="{F2F49345-3DF5-3B2E-F68F-3EA97B4C0B7C}"/>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6" name="Oval 60">
                <a:extLst>
                  <a:ext uri="{FF2B5EF4-FFF2-40B4-BE49-F238E27FC236}">
                    <a16:creationId xmlns:a16="http://schemas.microsoft.com/office/drawing/2014/main" id="{4E29266F-5CE7-99A6-EBD8-2A3666A9FF05}"/>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2" name="Text Box 61">
              <a:extLst>
                <a:ext uri="{FF2B5EF4-FFF2-40B4-BE49-F238E27FC236}">
                  <a16:creationId xmlns:a16="http://schemas.microsoft.com/office/drawing/2014/main" id="{E81F4778-14CB-5946-4C7B-0AABF4D57C34}"/>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7" name="Group 81">
            <a:extLst>
              <a:ext uri="{FF2B5EF4-FFF2-40B4-BE49-F238E27FC236}">
                <a16:creationId xmlns:a16="http://schemas.microsoft.com/office/drawing/2014/main" id="{58C77B4B-B787-9568-9E18-C75EA0B3638F}"/>
              </a:ext>
            </a:extLst>
          </p:cNvPr>
          <p:cNvGrpSpPr>
            <a:grpSpLocks/>
          </p:cNvGrpSpPr>
          <p:nvPr/>
        </p:nvGrpSpPr>
        <p:grpSpPr bwMode="auto">
          <a:xfrm>
            <a:off x="4198652" y="3311298"/>
            <a:ext cx="1882776" cy="582614"/>
            <a:chOff x="1728" y="1674"/>
            <a:chExt cx="1186" cy="367"/>
          </a:xfrm>
        </p:grpSpPr>
        <p:grpSp>
          <p:nvGrpSpPr>
            <p:cNvPr id="38" name="Group 66">
              <a:extLst>
                <a:ext uri="{FF2B5EF4-FFF2-40B4-BE49-F238E27FC236}">
                  <a16:creationId xmlns:a16="http://schemas.microsoft.com/office/drawing/2014/main" id="{4D681839-0479-8D44-1D5D-6BCBCB8B4D7E}"/>
                </a:ext>
              </a:extLst>
            </p:cNvPr>
            <p:cNvGrpSpPr>
              <a:grpSpLocks/>
            </p:cNvGrpSpPr>
            <p:nvPr/>
          </p:nvGrpSpPr>
          <p:grpSpPr bwMode="auto">
            <a:xfrm>
              <a:off x="1728" y="1674"/>
              <a:ext cx="1166" cy="367"/>
              <a:chOff x="3444" y="1578"/>
              <a:chExt cx="1166" cy="367"/>
            </a:xfrm>
          </p:grpSpPr>
          <p:sp>
            <p:nvSpPr>
              <p:cNvPr id="40" name="Rectangle 67">
                <a:extLst>
                  <a:ext uri="{FF2B5EF4-FFF2-40B4-BE49-F238E27FC236}">
                    <a16:creationId xmlns:a16="http://schemas.microsoft.com/office/drawing/2014/main" id="{0ADED231-E890-805F-F9BA-B4375FFAB4AE}"/>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1" name="Text Box 68">
                <a:extLst>
                  <a:ext uri="{FF2B5EF4-FFF2-40B4-BE49-F238E27FC236}">
                    <a16:creationId xmlns:a16="http://schemas.microsoft.com/office/drawing/2014/main" id="{484E5E47-29E4-0F23-A191-81B47E047502}"/>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42" name="Line 69">
                <a:extLst>
                  <a:ext uri="{FF2B5EF4-FFF2-40B4-BE49-F238E27FC236}">
                    <a16:creationId xmlns:a16="http://schemas.microsoft.com/office/drawing/2014/main" id="{0875AA73-59BC-EA58-5654-0D446211FE30}"/>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3" name="Rectangle 70">
                <a:extLst>
                  <a:ext uri="{FF2B5EF4-FFF2-40B4-BE49-F238E27FC236}">
                    <a16:creationId xmlns:a16="http://schemas.microsoft.com/office/drawing/2014/main" id="{9C341F81-2DF8-B175-3B7C-A3BC14DCC1F5}"/>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39" name="Text Box 71">
              <a:extLst>
                <a:ext uri="{FF2B5EF4-FFF2-40B4-BE49-F238E27FC236}">
                  <a16:creationId xmlns:a16="http://schemas.microsoft.com/office/drawing/2014/main" id="{BCDB10A7-CB8C-8D71-955E-3871CB01BF6F}"/>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44" name="Text Box 350">
            <a:extLst>
              <a:ext uri="{FF2B5EF4-FFF2-40B4-BE49-F238E27FC236}">
                <a16:creationId xmlns:a16="http://schemas.microsoft.com/office/drawing/2014/main" id="{F40B5327-25B7-8BBE-0A4F-4434AB9BE0F8}"/>
              </a:ext>
            </a:extLst>
          </p:cNvPr>
          <p:cNvSpPr txBox="1">
            <a:spLocks noChangeArrowheads="1"/>
          </p:cNvSpPr>
          <p:nvPr/>
        </p:nvSpPr>
        <p:spPr bwMode="auto">
          <a:xfrm>
            <a:off x="7660925" y="5220167"/>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45" name="Group 44">
            <a:extLst>
              <a:ext uri="{FF2B5EF4-FFF2-40B4-BE49-F238E27FC236}">
                <a16:creationId xmlns:a16="http://schemas.microsoft.com/office/drawing/2014/main" id="{EF17C342-E6FA-D43A-DAB0-60356F8C434F}"/>
              </a:ext>
            </a:extLst>
          </p:cNvPr>
          <p:cNvGrpSpPr/>
          <p:nvPr/>
        </p:nvGrpSpPr>
        <p:grpSpPr>
          <a:xfrm>
            <a:off x="9271181" y="4141686"/>
            <a:ext cx="1292924" cy="1389995"/>
            <a:chOff x="8538106" y="4228532"/>
            <a:chExt cx="1292924" cy="1389995"/>
          </a:xfrm>
        </p:grpSpPr>
        <p:grpSp>
          <p:nvGrpSpPr>
            <p:cNvPr id="46" name="Group 45">
              <a:extLst>
                <a:ext uri="{FF2B5EF4-FFF2-40B4-BE49-F238E27FC236}">
                  <a16:creationId xmlns:a16="http://schemas.microsoft.com/office/drawing/2014/main" id="{4F353E75-541C-DC88-477B-5B3BA71C7A11}"/>
                </a:ext>
              </a:extLst>
            </p:cNvPr>
            <p:cNvGrpSpPr/>
            <p:nvPr/>
          </p:nvGrpSpPr>
          <p:grpSpPr>
            <a:xfrm>
              <a:off x="8550974" y="4228532"/>
              <a:ext cx="1066101" cy="811908"/>
              <a:chOff x="8550974" y="4228532"/>
              <a:chExt cx="1066101" cy="811908"/>
            </a:xfrm>
          </p:grpSpPr>
          <p:sp>
            <p:nvSpPr>
              <p:cNvPr id="51" name="Rectangle 69">
                <a:extLst>
                  <a:ext uri="{FF2B5EF4-FFF2-40B4-BE49-F238E27FC236}">
                    <a16:creationId xmlns:a16="http://schemas.microsoft.com/office/drawing/2014/main" id="{DA493ED0-91ED-78E8-DE5B-5410F028CF4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Line 70">
                <a:extLst>
                  <a:ext uri="{FF2B5EF4-FFF2-40B4-BE49-F238E27FC236}">
                    <a16:creationId xmlns:a16="http://schemas.microsoft.com/office/drawing/2014/main" id="{189750C7-2274-D0DE-FF99-E830DC851CA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53" name="Text Box 71">
                <a:extLst>
                  <a:ext uri="{FF2B5EF4-FFF2-40B4-BE49-F238E27FC236}">
                    <a16:creationId xmlns:a16="http://schemas.microsoft.com/office/drawing/2014/main" id="{AFCDC874-2CA6-23B2-28CA-BEEBB3FE017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54" name="Group 72">
                <a:extLst>
                  <a:ext uri="{FF2B5EF4-FFF2-40B4-BE49-F238E27FC236}">
                    <a16:creationId xmlns:a16="http://schemas.microsoft.com/office/drawing/2014/main" id="{DF955C16-E428-0CBC-0532-8B0C9927DB9D}"/>
                  </a:ext>
                </a:extLst>
              </p:cNvPr>
              <p:cNvGrpSpPr>
                <a:grpSpLocks/>
              </p:cNvGrpSpPr>
              <p:nvPr/>
            </p:nvGrpSpPr>
            <p:grpSpPr bwMode="auto">
              <a:xfrm flipV="1">
                <a:off x="8729819" y="4659836"/>
                <a:ext cx="269429" cy="284707"/>
                <a:chOff x="720" y="3354"/>
                <a:chExt cx="192" cy="198"/>
              </a:xfrm>
            </p:grpSpPr>
            <p:sp>
              <p:nvSpPr>
                <p:cNvPr id="56" name="Oval 73">
                  <a:extLst>
                    <a:ext uri="{FF2B5EF4-FFF2-40B4-BE49-F238E27FC236}">
                      <a16:creationId xmlns:a16="http://schemas.microsoft.com/office/drawing/2014/main" id="{B22D1881-EA8E-200A-D274-C1F3350007D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7" name="AutoShape 74">
                  <a:extLst>
                    <a:ext uri="{FF2B5EF4-FFF2-40B4-BE49-F238E27FC236}">
                      <a16:creationId xmlns:a16="http://schemas.microsoft.com/office/drawing/2014/main" id="{9AEACBF1-89E9-DB3F-B7BF-B4A73BC9ED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55" name="Text Box 75">
                <a:extLst>
                  <a:ext uri="{FF2B5EF4-FFF2-40B4-BE49-F238E27FC236}">
                    <a16:creationId xmlns:a16="http://schemas.microsoft.com/office/drawing/2014/main" id="{E900C887-ADC2-3B6D-229D-6822144822AC}"/>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47" name="Rectangle 348">
              <a:extLst>
                <a:ext uri="{FF2B5EF4-FFF2-40B4-BE49-F238E27FC236}">
                  <a16:creationId xmlns:a16="http://schemas.microsoft.com/office/drawing/2014/main" id="{9B263240-1E05-1EDE-584D-10D85765C4C7}"/>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8" name="Text Box 351">
              <a:extLst>
                <a:ext uri="{FF2B5EF4-FFF2-40B4-BE49-F238E27FC236}">
                  <a16:creationId xmlns:a16="http://schemas.microsoft.com/office/drawing/2014/main" id="{E91EA8D6-A8DA-5AD0-2543-7BAD1F0C077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49" name="Rectangle 352">
              <a:extLst>
                <a:ext uri="{FF2B5EF4-FFF2-40B4-BE49-F238E27FC236}">
                  <a16:creationId xmlns:a16="http://schemas.microsoft.com/office/drawing/2014/main" id="{7AA6132B-73F1-31B8-3EF0-B682DE03CFA3}"/>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50" name="Rectangle 353">
              <a:extLst>
                <a:ext uri="{FF2B5EF4-FFF2-40B4-BE49-F238E27FC236}">
                  <a16:creationId xmlns:a16="http://schemas.microsoft.com/office/drawing/2014/main" id="{9CF24BBC-A952-998C-B559-120D6386A9F5}"/>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58" name="Group 57">
            <a:extLst>
              <a:ext uri="{FF2B5EF4-FFF2-40B4-BE49-F238E27FC236}">
                <a16:creationId xmlns:a16="http://schemas.microsoft.com/office/drawing/2014/main" id="{431AA0F9-6AE2-9798-BEDA-87B4E10EEE14}"/>
              </a:ext>
            </a:extLst>
          </p:cNvPr>
          <p:cNvGrpSpPr/>
          <p:nvPr/>
        </p:nvGrpSpPr>
        <p:grpSpPr>
          <a:xfrm>
            <a:off x="7487369" y="4162119"/>
            <a:ext cx="1292924" cy="1389995"/>
            <a:chOff x="8538106" y="4228532"/>
            <a:chExt cx="1292924" cy="1389995"/>
          </a:xfrm>
        </p:grpSpPr>
        <p:grpSp>
          <p:nvGrpSpPr>
            <p:cNvPr id="59" name="Group 58">
              <a:extLst>
                <a:ext uri="{FF2B5EF4-FFF2-40B4-BE49-F238E27FC236}">
                  <a16:creationId xmlns:a16="http://schemas.microsoft.com/office/drawing/2014/main" id="{A915CB4F-0660-011C-6E42-9CA0F4740C37}"/>
                </a:ext>
              </a:extLst>
            </p:cNvPr>
            <p:cNvGrpSpPr/>
            <p:nvPr/>
          </p:nvGrpSpPr>
          <p:grpSpPr>
            <a:xfrm>
              <a:off x="8550974" y="4228532"/>
              <a:ext cx="1066101" cy="811908"/>
              <a:chOff x="8550974" y="4228532"/>
              <a:chExt cx="1066101" cy="811908"/>
            </a:xfrm>
          </p:grpSpPr>
          <p:sp>
            <p:nvSpPr>
              <p:cNvPr id="64" name="Rectangle 69">
                <a:extLst>
                  <a:ext uri="{FF2B5EF4-FFF2-40B4-BE49-F238E27FC236}">
                    <a16:creationId xmlns:a16="http://schemas.microsoft.com/office/drawing/2014/main" id="{3747C4F5-6496-1BF2-3386-0754B2832320}"/>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5" name="Line 70">
                <a:extLst>
                  <a:ext uri="{FF2B5EF4-FFF2-40B4-BE49-F238E27FC236}">
                    <a16:creationId xmlns:a16="http://schemas.microsoft.com/office/drawing/2014/main" id="{65470CEA-10F3-FFF3-8C4C-701D5B475691}"/>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66" name="Text Box 71">
                <a:extLst>
                  <a:ext uri="{FF2B5EF4-FFF2-40B4-BE49-F238E27FC236}">
                    <a16:creationId xmlns:a16="http://schemas.microsoft.com/office/drawing/2014/main" id="{7445D19F-EA9E-2D49-BC7C-78E52F1A3906}"/>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67" name="Group 72">
                <a:extLst>
                  <a:ext uri="{FF2B5EF4-FFF2-40B4-BE49-F238E27FC236}">
                    <a16:creationId xmlns:a16="http://schemas.microsoft.com/office/drawing/2014/main" id="{8A6C4571-BFE4-6E84-CA4C-6C2FC97DE72A}"/>
                  </a:ext>
                </a:extLst>
              </p:cNvPr>
              <p:cNvGrpSpPr>
                <a:grpSpLocks/>
              </p:cNvGrpSpPr>
              <p:nvPr/>
            </p:nvGrpSpPr>
            <p:grpSpPr bwMode="auto">
              <a:xfrm flipV="1">
                <a:off x="8729819" y="4659836"/>
                <a:ext cx="269429" cy="284707"/>
                <a:chOff x="720" y="3354"/>
                <a:chExt cx="192" cy="198"/>
              </a:xfrm>
            </p:grpSpPr>
            <p:sp>
              <p:nvSpPr>
                <p:cNvPr id="69" name="Oval 73">
                  <a:extLst>
                    <a:ext uri="{FF2B5EF4-FFF2-40B4-BE49-F238E27FC236}">
                      <a16:creationId xmlns:a16="http://schemas.microsoft.com/office/drawing/2014/main" id="{6EAB43E1-6313-9E6F-562F-576B877E467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AutoShape 74">
                  <a:extLst>
                    <a:ext uri="{FF2B5EF4-FFF2-40B4-BE49-F238E27FC236}">
                      <a16:creationId xmlns:a16="http://schemas.microsoft.com/office/drawing/2014/main" id="{6FCDF024-7E00-6774-8632-0EB44E8A79A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68" name="Text Box 75">
                <a:extLst>
                  <a:ext uri="{FF2B5EF4-FFF2-40B4-BE49-F238E27FC236}">
                    <a16:creationId xmlns:a16="http://schemas.microsoft.com/office/drawing/2014/main" id="{B73C484B-D70B-25E5-7560-5A8120EACD5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60" name="Rectangle 348">
              <a:extLst>
                <a:ext uri="{FF2B5EF4-FFF2-40B4-BE49-F238E27FC236}">
                  <a16:creationId xmlns:a16="http://schemas.microsoft.com/office/drawing/2014/main" id="{AE6C46C5-1556-AFAF-8091-D603614D09A9}"/>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1" name="Text Box 351">
              <a:extLst>
                <a:ext uri="{FF2B5EF4-FFF2-40B4-BE49-F238E27FC236}">
                  <a16:creationId xmlns:a16="http://schemas.microsoft.com/office/drawing/2014/main" id="{100D0CBB-0E42-B08D-B0D5-F097E533A7EA}"/>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62" name="Rectangle 352">
              <a:extLst>
                <a:ext uri="{FF2B5EF4-FFF2-40B4-BE49-F238E27FC236}">
                  <a16:creationId xmlns:a16="http://schemas.microsoft.com/office/drawing/2014/main" id="{2CD0A15C-9BC8-FF78-4AE3-EDF15DC1303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63" name="Rectangle 353">
              <a:extLst>
                <a:ext uri="{FF2B5EF4-FFF2-40B4-BE49-F238E27FC236}">
                  <a16:creationId xmlns:a16="http://schemas.microsoft.com/office/drawing/2014/main" id="{779C1FA6-F1C6-F8BC-2CDB-CA0655B267D1}"/>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71" name="Group 70">
            <a:extLst>
              <a:ext uri="{FF2B5EF4-FFF2-40B4-BE49-F238E27FC236}">
                <a16:creationId xmlns:a16="http://schemas.microsoft.com/office/drawing/2014/main" id="{E70F5879-7459-08D1-9BB3-81E99A7E502B}"/>
              </a:ext>
            </a:extLst>
          </p:cNvPr>
          <p:cNvGrpSpPr/>
          <p:nvPr/>
        </p:nvGrpSpPr>
        <p:grpSpPr>
          <a:xfrm>
            <a:off x="5641091" y="4141686"/>
            <a:ext cx="1292924" cy="1389995"/>
            <a:chOff x="8538106" y="4228532"/>
            <a:chExt cx="1292924" cy="1389995"/>
          </a:xfrm>
        </p:grpSpPr>
        <p:grpSp>
          <p:nvGrpSpPr>
            <p:cNvPr id="72" name="Group 71">
              <a:extLst>
                <a:ext uri="{FF2B5EF4-FFF2-40B4-BE49-F238E27FC236}">
                  <a16:creationId xmlns:a16="http://schemas.microsoft.com/office/drawing/2014/main" id="{180C4721-170C-A810-E136-CA8A58101CD1}"/>
                </a:ext>
              </a:extLst>
            </p:cNvPr>
            <p:cNvGrpSpPr/>
            <p:nvPr/>
          </p:nvGrpSpPr>
          <p:grpSpPr>
            <a:xfrm>
              <a:off x="8550974" y="4228532"/>
              <a:ext cx="1066101" cy="811908"/>
              <a:chOff x="8550974" y="4228532"/>
              <a:chExt cx="1066101" cy="811908"/>
            </a:xfrm>
          </p:grpSpPr>
          <p:sp>
            <p:nvSpPr>
              <p:cNvPr id="77" name="Rectangle 69">
                <a:extLst>
                  <a:ext uri="{FF2B5EF4-FFF2-40B4-BE49-F238E27FC236}">
                    <a16:creationId xmlns:a16="http://schemas.microsoft.com/office/drawing/2014/main" id="{32E7AF6F-CD53-6EFC-38E8-342B99BEF877}"/>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8" name="Line 70">
                <a:extLst>
                  <a:ext uri="{FF2B5EF4-FFF2-40B4-BE49-F238E27FC236}">
                    <a16:creationId xmlns:a16="http://schemas.microsoft.com/office/drawing/2014/main" id="{90A9B878-8FC8-4E37-BE14-A48692DF8E4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79" name="Text Box 71">
                <a:extLst>
                  <a:ext uri="{FF2B5EF4-FFF2-40B4-BE49-F238E27FC236}">
                    <a16:creationId xmlns:a16="http://schemas.microsoft.com/office/drawing/2014/main" id="{5FE30E67-214B-9B7E-95C0-0201126D259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80" name="Group 72">
                <a:extLst>
                  <a:ext uri="{FF2B5EF4-FFF2-40B4-BE49-F238E27FC236}">
                    <a16:creationId xmlns:a16="http://schemas.microsoft.com/office/drawing/2014/main" id="{F4E27293-127A-B2EB-36A0-E3C7D32220E1}"/>
                  </a:ext>
                </a:extLst>
              </p:cNvPr>
              <p:cNvGrpSpPr>
                <a:grpSpLocks/>
              </p:cNvGrpSpPr>
              <p:nvPr/>
            </p:nvGrpSpPr>
            <p:grpSpPr bwMode="auto">
              <a:xfrm flipV="1">
                <a:off x="8729819" y="4659836"/>
                <a:ext cx="269429" cy="284707"/>
                <a:chOff x="720" y="3354"/>
                <a:chExt cx="192" cy="198"/>
              </a:xfrm>
            </p:grpSpPr>
            <p:sp>
              <p:nvSpPr>
                <p:cNvPr id="82" name="Oval 73">
                  <a:extLst>
                    <a:ext uri="{FF2B5EF4-FFF2-40B4-BE49-F238E27FC236}">
                      <a16:creationId xmlns:a16="http://schemas.microsoft.com/office/drawing/2014/main" id="{7B429B55-8292-0E42-8725-C67E1205C2C8}"/>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3" name="AutoShape 74">
                  <a:extLst>
                    <a:ext uri="{FF2B5EF4-FFF2-40B4-BE49-F238E27FC236}">
                      <a16:creationId xmlns:a16="http://schemas.microsoft.com/office/drawing/2014/main" id="{5879D584-B6D9-5B7A-93FF-3D7B21A1B5C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81" name="Text Box 75">
                <a:extLst>
                  <a:ext uri="{FF2B5EF4-FFF2-40B4-BE49-F238E27FC236}">
                    <a16:creationId xmlns:a16="http://schemas.microsoft.com/office/drawing/2014/main" id="{C984A34C-75D5-4E01-1871-16E33421F1D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73" name="Rectangle 348">
              <a:extLst>
                <a:ext uri="{FF2B5EF4-FFF2-40B4-BE49-F238E27FC236}">
                  <a16:creationId xmlns:a16="http://schemas.microsoft.com/office/drawing/2014/main" id="{8B606053-E5ED-24FC-F66F-FE7D5DAA24A3}"/>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4" name="Text Box 351">
              <a:extLst>
                <a:ext uri="{FF2B5EF4-FFF2-40B4-BE49-F238E27FC236}">
                  <a16:creationId xmlns:a16="http://schemas.microsoft.com/office/drawing/2014/main" id="{783E8EE8-4400-1494-6AA6-360974FE57CD}"/>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75" name="Rectangle 352">
              <a:extLst>
                <a:ext uri="{FF2B5EF4-FFF2-40B4-BE49-F238E27FC236}">
                  <a16:creationId xmlns:a16="http://schemas.microsoft.com/office/drawing/2014/main" id="{5D27A861-6912-2AE2-9A6E-66E5BCAECBE8}"/>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76" name="Rectangle 353">
              <a:extLst>
                <a:ext uri="{FF2B5EF4-FFF2-40B4-BE49-F238E27FC236}">
                  <a16:creationId xmlns:a16="http://schemas.microsoft.com/office/drawing/2014/main" id="{1A671BF4-3E9F-CD7F-AB2D-DB9E372BBCFE}"/>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84" name="Group 83">
            <a:extLst>
              <a:ext uri="{FF2B5EF4-FFF2-40B4-BE49-F238E27FC236}">
                <a16:creationId xmlns:a16="http://schemas.microsoft.com/office/drawing/2014/main" id="{4F4D006C-4755-E50A-49AF-AAE0A094B928}"/>
              </a:ext>
            </a:extLst>
          </p:cNvPr>
          <p:cNvGrpSpPr/>
          <p:nvPr/>
        </p:nvGrpSpPr>
        <p:grpSpPr>
          <a:xfrm>
            <a:off x="3931387" y="4141686"/>
            <a:ext cx="1292924" cy="1389995"/>
            <a:chOff x="8538106" y="4228532"/>
            <a:chExt cx="1292924" cy="1389995"/>
          </a:xfrm>
        </p:grpSpPr>
        <p:grpSp>
          <p:nvGrpSpPr>
            <p:cNvPr id="85" name="Group 84">
              <a:extLst>
                <a:ext uri="{FF2B5EF4-FFF2-40B4-BE49-F238E27FC236}">
                  <a16:creationId xmlns:a16="http://schemas.microsoft.com/office/drawing/2014/main" id="{B04EF189-AB84-8461-368D-D884B394E0F0}"/>
                </a:ext>
              </a:extLst>
            </p:cNvPr>
            <p:cNvGrpSpPr/>
            <p:nvPr/>
          </p:nvGrpSpPr>
          <p:grpSpPr>
            <a:xfrm>
              <a:off x="8550974" y="4228532"/>
              <a:ext cx="1066101" cy="811908"/>
              <a:chOff x="8550974" y="4228532"/>
              <a:chExt cx="1066101" cy="811908"/>
            </a:xfrm>
          </p:grpSpPr>
          <p:sp>
            <p:nvSpPr>
              <p:cNvPr id="90" name="Rectangle 69">
                <a:extLst>
                  <a:ext uri="{FF2B5EF4-FFF2-40B4-BE49-F238E27FC236}">
                    <a16:creationId xmlns:a16="http://schemas.microsoft.com/office/drawing/2014/main" id="{11A4C2DE-2BE8-F835-FD18-5EEB71F62D5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1" name="Line 70">
                <a:extLst>
                  <a:ext uri="{FF2B5EF4-FFF2-40B4-BE49-F238E27FC236}">
                    <a16:creationId xmlns:a16="http://schemas.microsoft.com/office/drawing/2014/main" id="{3C29E8E5-F204-D5C2-FE82-A5B3AF72A60D}"/>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92" name="Text Box 71">
                <a:extLst>
                  <a:ext uri="{FF2B5EF4-FFF2-40B4-BE49-F238E27FC236}">
                    <a16:creationId xmlns:a16="http://schemas.microsoft.com/office/drawing/2014/main" id="{6EE9C6F6-EA45-5CB8-A06D-8F0AABC7D1F7}"/>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93" name="Group 72">
                <a:extLst>
                  <a:ext uri="{FF2B5EF4-FFF2-40B4-BE49-F238E27FC236}">
                    <a16:creationId xmlns:a16="http://schemas.microsoft.com/office/drawing/2014/main" id="{0A725583-0AED-0340-2062-B4025624FE2C}"/>
                  </a:ext>
                </a:extLst>
              </p:cNvPr>
              <p:cNvGrpSpPr>
                <a:grpSpLocks/>
              </p:cNvGrpSpPr>
              <p:nvPr/>
            </p:nvGrpSpPr>
            <p:grpSpPr bwMode="auto">
              <a:xfrm flipV="1">
                <a:off x="8729819" y="4659836"/>
                <a:ext cx="269429" cy="284707"/>
                <a:chOff x="720" y="3354"/>
                <a:chExt cx="192" cy="198"/>
              </a:xfrm>
            </p:grpSpPr>
            <p:sp>
              <p:nvSpPr>
                <p:cNvPr id="95" name="Oval 73">
                  <a:extLst>
                    <a:ext uri="{FF2B5EF4-FFF2-40B4-BE49-F238E27FC236}">
                      <a16:creationId xmlns:a16="http://schemas.microsoft.com/office/drawing/2014/main" id="{E637F862-EEAC-8B0E-7101-1DFEAC49FD0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6" name="AutoShape 74">
                  <a:extLst>
                    <a:ext uri="{FF2B5EF4-FFF2-40B4-BE49-F238E27FC236}">
                      <a16:creationId xmlns:a16="http://schemas.microsoft.com/office/drawing/2014/main" id="{81000134-CDD7-48AA-5A18-8CC913A4266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94" name="Text Box 75">
                <a:extLst>
                  <a:ext uri="{FF2B5EF4-FFF2-40B4-BE49-F238E27FC236}">
                    <a16:creationId xmlns:a16="http://schemas.microsoft.com/office/drawing/2014/main" id="{B8C43A48-2864-2EC3-3F08-0B7F2EC1052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86" name="Rectangle 348">
              <a:extLst>
                <a:ext uri="{FF2B5EF4-FFF2-40B4-BE49-F238E27FC236}">
                  <a16:creationId xmlns:a16="http://schemas.microsoft.com/office/drawing/2014/main" id="{F867715C-A9D5-D4B6-F562-8147510C9B4D}"/>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7" name="Text Box 351">
              <a:extLst>
                <a:ext uri="{FF2B5EF4-FFF2-40B4-BE49-F238E27FC236}">
                  <a16:creationId xmlns:a16="http://schemas.microsoft.com/office/drawing/2014/main" id="{1A45F6B1-0FFC-9DED-AB07-BDF985ADF086}"/>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88" name="Rectangle 352">
              <a:extLst>
                <a:ext uri="{FF2B5EF4-FFF2-40B4-BE49-F238E27FC236}">
                  <a16:creationId xmlns:a16="http://schemas.microsoft.com/office/drawing/2014/main" id="{F40FE0D3-1FF4-56E4-E4CE-5FDD44E7F8A3}"/>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89" name="Rectangle 353">
              <a:extLst>
                <a:ext uri="{FF2B5EF4-FFF2-40B4-BE49-F238E27FC236}">
                  <a16:creationId xmlns:a16="http://schemas.microsoft.com/office/drawing/2014/main" id="{BE7AD41A-ECFE-F0E5-0985-406AE9288BEF}"/>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97" name="Group 96">
            <a:extLst>
              <a:ext uri="{FF2B5EF4-FFF2-40B4-BE49-F238E27FC236}">
                <a16:creationId xmlns:a16="http://schemas.microsoft.com/office/drawing/2014/main" id="{23ADF497-C63D-E163-D0AD-053BD0BE44BB}"/>
              </a:ext>
            </a:extLst>
          </p:cNvPr>
          <p:cNvGrpSpPr/>
          <p:nvPr/>
        </p:nvGrpSpPr>
        <p:grpSpPr>
          <a:xfrm>
            <a:off x="2104685" y="4141686"/>
            <a:ext cx="1292924" cy="1389995"/>
            <a:chOff x="8538106" y="4228532"/>
            <a:chExt cx="1292924" cy="1389995"/>
          </a:xfrm>
        </p:grpSpPr>
        <p:grpSp>
          <p:nvGrpSpPr>
            <p:cNvPr id="98" name="Group 97">
              <a:extLst>
                <a:ext uri="{FF2B5EF4-FFF2-40B4-BE49-F238E27FC236}">
                  <a16:creationId xmlns:a16="http://schemas.microsoft.com/office/drawing/2014/main" id="{7D85C07B-4B8F-127A-7290-10190ABD7038}"/>
                </a:ext>
              </a:extLst>
            </p:cNvPr>
            <p:cNvGrpSpPr/>
            <p:nvPr/>
          </p:nvGrpSpPr>
          <p:grpSpPr>
            <a:xfrm>
              <a:off x="8550974" y="4228532"/>
              <a:ext cx="1066101" cy="811908"/>
              <a:chOff x="8550974" y="4228532"/>
              <a:chExt cx="1066101" cy="811908"/>
            </a:xfrm>
          </p:grpSpPr>
          <p:sp>
            <p:nvSpPr>
              <p:cNvPr id="103" name="Rectangle 69">
                <a:extLst>
                  <a:ext uri="{FF2B5EF4-FFF2-40B4-BE49-F238E27FC236}">
                    <a16:creationId xmlns:a16="http://schemas.microsoft.com/office/drawing/2014/main" id="{A45CABDD-DAF3-FFB4-77D1-C16FC7E4B149}"/>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4" name="Line 70">
                <a:extLst>
                  <a:ext uri="{FF2B5EF4-FFF2-40B4-BE49-F238E27FC236}">
                    <a16:creationId xmlns:a16="http://schemas.microsoft.com/office/drawing/2014/main" id="{C45B0192-7055-93DB-9F12-821A27F3AFD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05" name="Text Box 71">
                <a:extLst>
                  <a:ext uri="{FF2B5EF4-FFF2-40B4-BE49-F238E27FC236}">
                    <a16:creationId xmlns:a16="http://schemas.microsoft.com/office/drawing/2014/main" id="{0C7B08EB-7E82-A5E1-FC5A-4F06708337E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06" name="Group 72">
                <a:extLst>
                  <a:ext uri="{FF2B5EF4-FFF2-40B4-BE49-F238E27FC236}">
                    <a16:creationId xmlns:a16="http://schemas.microsoft.com/office/drawing/2014/main" id="{40C1D66D-F64B-2252-C7CE-8D016B9A7F89}"/>
                  </a:ext>
                </a:extLst>
              </p:cNvPr>
              <p:cNvGrpSpPr>
                <a:grpSpLocks/>
              </p:cNvGrpSpPr>
              <p:nvPr/>
            </p:nvGrpSpPr>
            <p:grpSpPr bwMode="auto">
              <a:xfrm flipV="1">
                <a:off x="8729819" y="4659836"/>
                <a:ext cx="269429" cy="284707"/>
                <a:chOff x="720" y="3354"/>
                <a:chExt cx="192" cy="198"/>
              </a:xfrm>
            </p:grpSpPr>
            <p:sp>
              <p:nvSpPr>
                <p:cNvPr id="108" name="Oval 73">
                  <a:extLst>
                    <a:ext uri="{FF2B5EF4-FFF2-40B4-BE49-F238E27FC236}">
                      <a16:creationId xmlns:a16="http://schemas.microsoft.com/office/drawing/2014/main" id="{8FF10D12-AD43-3822-C7C0-CFDFC5B418B6}"/>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9" name="AutoShape 74">
                  <a:extLst>
                    <a:ext uri="{FF2B5EF4-FFF2-40B4-BE49-F238E27FC236}">
                      <a16:creationId xmlns:a16="http://schemas.microsoft.com/office/drawing/2014/main" id="{11BF39DC-4B30-96F6-458B-65570EC8FF2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07" name="Text Box 75">
                <a:extLst>
                  <a:ext uri="{FF2B5EF4-FFF2-40B4-BE49-F238E27FC236}">
                    <a16:creationId xmlns:a16="http://schemas.microsoft.com/office/drawing/2014/main" id="{B806CCD6-C870-3E7D-ED0A-E2FACD45F24A}"/>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99" name="Rectangle 348">
              <a:extLst>
                <a:ext uri="{FF2B5EF4-FFF2-40B4-BE49-F238E27FC236}">
                  <a16:creationId xmlns:a16="http://schemas.microsoft.com/office/drawing/2014/main" id="{557C7A40-C94B-8644-6371-D6B90716E410}"/>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Text Box 351">
              <a:extLst>
                <a:ext uri="{FF2B5EF4-FFF2-40B4-BE49-F238E27FC236}">
                  <a16:creationId xmlns:a16="http://schemas.microsoft.com/office/drawing/2014/main" id="{40C1F2B4-33DE-B136-8C3A-0602EF6CFFBD}"/>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01" name="Rectangle 352">
              <a:extLst>
                <a:ext uri="{FF2B5EF4-FFF2-40B4-BE49-F238E27FC236}">
                  <a16:creationId xmlns:a16="http://schemas.microsoft.com/office/drawing/2014/main" id="{535A73AD-3609-EC8E-0F1E-BDD6FD88372F}"/>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2" name="Rectangle 353">
              <a:extLst>
                <a:ext uri="{FF2B5EF4-FFF2-40B4-BE49-F238E27FC236}">
                  <a16:creationId xmlns:a16="http://schemas.microsoft.com/office/drawing/2014/main" id="{681ED7B8-3251-7EDE-CF63-7551D16DE863}"/>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10" name="Group 109">
            <a:extLst>
              <a:ext uri="{FF2B5EF4-FFF2-40B4-BE49-F238E27FC236}">
                <a16:creationId xmlns:a16="http://schemas.microsoft.com/office/drawing/2014/main" id="{529FCCCF-E158-CF19-BA00-0CD4ED98535F}"/>
              </a:ext>
            </a:extLst>
          </p:cNvPr>
          <p:cNvGrpSpPr/>
          <p:nvPr/>
        </p:nvGrpSpPr>
        <p:grpSpPr>
          <a:xfrm>
            <a:off x="3118106" y="4570752"/>
            <a:ext cx="846864" cy="903287"/>
            <a:chOff x="2588968" y="4639120"/>
            <a:chExt cx="685800" cy="903287"/>
          </a:xfrm>
        </p:grpSpPr>
        <p:sp>
          <p:nvSpPr>
            <p:cNvPr id="111" name="Line 266">
              <a:extLst>
                <a:ext uri="{FF2B5EF4-FFF2-40B4-BE49-F238E27FC236}">
                  <a16:creationId xmlns:a16="http://schemas.microsoft.com/office/drawing/2014/main" id="{F19A03F2-E14D-59BB-8B22-981CB3DB9CFA}"/>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2" name="Text Box 270">
              <a:extLst>
                <a:ext uri="{FF2B5EF4-FFF2-40B4-BE49-F238E27FC236}">
                  <a16:creationId xmlns:a16="http://schemas.microsoft.com/office/drawing/2014/main" id="{7C1E4211-9250-EE19-1079-58D78ABB853F}"/>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113" name="Group 361">
              <a:extLst>
                <a:ext uri="{FF2B5EF4-FFF2-40B4-BE49-F238E27FC236}">
                  <a16:creationId xmlns:a16="http://schemas.microsoft.com/office/drawing/2014/main" id="{10960F2A-580F-9AF1-3534-13D29146A237}"/>
                </a:ext>
              </a:extLst>
            </p:cNvPr>
            <p:cNvGrpSpPr>
              <a:grpSpLocks/>
            </p:cNvGrpSpPr>
            <p:nvPr/>
          </p:nvGrpSpPr>
          <p:grpSpPr bwMode="auto">
            <a:xfrm>
              <a:off x="2725493" y="4639120"/>
              <a:ext cx="381000" cy="336550"/>
              <a:chOff x="4122" y="1171"/>
              <a:chExt cx="240" cy="212"/>
            </a:xfrm>
          </p:grpSpPr>
          <p:sp>
            <p:nvSpPr>
              <p:cNvPr id="118" name="Rectangle 362">
                <a:extLst>
                  <a:ext uri="{FF2B5EF4-FFF2-40B4-BE49-F238E27FC236}">
                    <a16:creationId xmlns:a16="http://schemas.microsoft.com/office/drawing/2014/main" id="{C17E9A1A-4BDF-8DFE-39E1-D83A33005A5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19" name="Text Box 363">
                <a:extLst>
                  <a:ext uri="{FF2B5EF4-FFF2-40B4-BE49-F238E27FC236}">
                    <a16:creationId xmlns:a16="http://schemas.microsoft.com/office/drawing/2014/main" id="{C78B11AD-50D2-120F-966D-E348ADEF3F3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20" name="AutoShape 364">
                <a:extLst>
                  <a:ext uri="{FF2B5EF4-FFF2-40B4-BE49-F238E27FC236}">
                    <a16:creationId xmlns:a16="http://schemas.microsoft.com/office/drawing/2014/main" id="{12DE3974-A1C4-479A-F4B3-328E8F46532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1" name="AutoShape 365">
                <a:extLst>
                  <a:ext uri="{FF2B5EF4-FFF2-40B4-BE49-F238E27FC236}">
                    <a16:creationId xmlns:a16="http://schemas.microsoft.com/office/drawing/2014/main" id="{AAED1478-4F01-1777-20B6-53C692266AE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2" name="AutoShape 366">
                <a:extLst>
                  <a:ext uri="{FF2B5EF4-FFF2-40B4-BE49-F238E27FC236}">
                    <a16:creationId xmlns:a16="http://schemas.microsoft.com/office/drawing/2014/main" id="{7C0B7E65-31D5-9D68-1B33-117F80DFE1C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14" name="Group 391">
              <a:extLst>
                <a:ext uri="{FF2B5EF4-FFF2-40B4-BE49-F238E27FC236}">
                  <a16:creationId xmlns:a16="http://schemas.microsoft.com/office/drawing/2014/main" id="{E12B0F96-A97E-1242-0B89-07760C634D83}"/>
                </a:ext>
              </a:extLst>
            </p:cNvPr>
            <p:cNvGrpSpPr>
              <a:grpSpLocks/>
            </p:cNvGrpSpPr>
            <p:nvPr/>
          </p:nvGrpSpPr>
          <p:grpSpPr bwMode="auto">
            <a:xfrm>
              <a:off x="2725493" y="5009007"/>
              <a:ext cx="381000" cy="533400"/>
              <a:chOff x="576" y="1200"/>
              <a:chExt cx="240" cy="336"/>
            </a:xfrm>
          </p:grpSpPr>
          <p:sp>
            <p:nvSpPr>
              <p:cNvPr id="115" name="Rectangle 392">
                <a:extLst>
                  <a:ext uri="{FF2B5EF4-FFF2-40B4-BE49-F238E27FC236}">
                    <a16:creationId xmlns:a16="http://schemas.microsoft.com/office/drawing/2014/main" id="{734DFAE6-0D8B-2434-EAB2-872B8C0799D8}"/>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16" name="Line 393">
                <a:extLst>
                  <a:ext uri="{FF2B5EF4-FFF2-40B4-BE49-F238E27FC236}">
                    <a16:creationId xmlns:a16="http://schemas.microsoft.com/office/drawing/2014/main" id="{A561DCB0-BFE3-3857-4B9E-F634CDE09CFE}"/>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7" name="Line 394">
                <a:extLst>
                  <a:ext uri="{FF2B5EF4-FFF2-40B4-BE49-F238E27FC236}">
                    <a16:creationId xmlns:a16="http://schemas.microsoft.com/office/drawing/2014/main" id="{B2BB2E98-54E2-B80B-D7C0-5CD70350DEE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23" name="Group 122">
            <a:extLst>
              <a:ext uri="{FF2B5EF4-FFF2-40B4-BE49-F238E27FC236}">
                <a16:creationId xmlns:a16="http://schemas.microsoft.com/office/drawing/2014/main" id="{5F33E7CC-DF6A-DF3B-47CD-84B6EDB2FEEF}"/>
              </a:ext>
            </a:extLst>
          </p:cNvPr>
          <p:cNvGrpSpPr/>
          <p:nvPr/>
        </p:nvGrpSpPr>
        <p:grpSpPr>
          <a:xfrm>
            <a:off x="5051250" y="4577329"/>
            <a:ext cx="717482" cy="903287"/>
            <a:chOff x="4046293" y="4639120"/>
            <a:chExt cx="581025" cy="903287"/>
          </a:xfrm>
        </p:grpSpPr>
        <p:sp>
          <p:nvSpPr>
            <p:cNvPr id="124" name="Line 265">
              <a:extLst>
                <a:ext uri="{FF2B5EF4-FFF2-40B4-BE49-F238E27FC236}">
                  <a16:creationId xmlns:a16="http://schemas.microsoft.com/office/drawing/2014/main" id="{56795B62-F5AE-05B1-9D40-5B1C7506E6FC}"/>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25" name="Text Box 277">
              <a:extLst>
                <a:ext uri="{FF2B5EF4-FFF2-40B4-BE49-F238E27FC236}">
                  <a16:creationId xmlns:a16="http://schemas.microsoft.com/office/drawing/2014/main" id="{463A480C-4F10-585C-E7E0-6E4DF9010704}"/>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126" name="Group 367">
              <a:extLst>
                <a:ext uri="{FF2B5EF4-FFF2-40B4-BE49-F238E27FC236}">
                  <a16:creationId xmlns:a16="http://schemas.microsoft.com/office/drawing/2014/main" id="{C44CA709-EC5F-3E26-0D31-9D16C60220FD}"/>
                </a:ext>
              </a:extLst>
            </p:cNvPr>
            <p:cNvGrpSpPr>
              <a:grpSpLocks/>
            </p:cNvGrpSpPr>
            <p:nvPr/>
          </p:nvGrpSpPr>
          <p:grpSpPr bwMode="auto">
            <a:xfrm>
              <a:off x="4078043" y="4639120"/>
              <a:ext cx="381000" cy="336550"/>
              <a:chOff x="4122" y="1171"/>
              <a:chExt cx="240" cy="212"/>
            </a:xfrm>
          </p:grpSpPr>
          <p:sp>
            <p:nvSpPr>
              <p:cNvPr id="131" name="Rectangle 368">
                <a:extLst>
                  <a:ext uri="{FF2B5EF4-FFF2-40B4-BE49-F238E27FC236}">
                    <a16:creationId xmlns:a16="http://schemas.microsoft.com/office/drawing/2014/main" id="{EC1F882A-A2BC-A833-DE9E-D4132492E425}"/>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2" name="Text Box 369">
                <a:extLst>
                  <a:ext uri="{FF2B5EF4-FFF2-40B4-BE49-F238E27FC236}">
                    <a16:creationId xmlns:a16="http://schemas.microsoft.com/office/drawing/2014/main" id="{D45072F4-CC89-90E2-A261-74099150838F}"/>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33" name="AutoShape 370">
                <a:extLst>
                  <a:ext uri="{FF2B5EF4-FFF2-40B4-BE49-F238E27FC236}">
                    <a16:creationId xmlns:a16="http://schemas.microsoft.com/office/drawing/2014/main" id="{810D369F-DF83-A3EF-E53E-F07654A671EB}"/>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4" name="AutoShape 371">
                <a:extLst>
                  <a:ext uri="{FF2B5EF4-FFF2-40B4-BE49-F238E27FC236}">
                    <a16:creationId xmlns:a16="http://schemas.microsoft.com/office/drawing/2014/main" id="{00D69573-5866-AB2D-143D-ACA159C1185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5" name="AutoShape 372">
                <a:extLst>
                  <a:ext uri="{FF2B5EF4-FFF2-40B4-BE49-F238E27FC236}">
                    <a16:creationId xmlns:a16="http://schemas.microsoft.com/office/drawing/2014/main" id="{FD52C466-7FC4-A2AD-F2E3-CCC621EA8C1C}"/>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27" name="Group 395">
              <a:extLst>
                <a:ext uri="{FF2B5EF4-FFF2-40B4-BE49-F238E27FC236}">
                  <a16:creationId xmlns:a16="http://schemas.microsoft.com/office/drawing/2014/main" id="{CC486251-E5B4-712C-A4D8-A2CFCED8F82C}"/>
                </a:ext>
              </a:extLst>
            </p:cNvPr>
            <p:cNvGrpSpPr>
              <a:grpSpLocks/>
            </p:cNvGrpSpPr>
            <p:nvPr/>
          </p:nvGrpSpPr>
          <p:grpSpPr bwMode="auto">
            <a:xfrm>
              <a:off x="4078043" y="5009007"/>
              <a:ext cx="381000" cy="533400"/>
              <a:chOff x="576" y="1200"/>
              <a:chExt cx="240" cy="336"/>
            </a:xfrm>
          </p:grpSpPr>
          <p:sp>
            <p:nvSpPr>
              <p:cNvPr id="128" name="Rectangle 396">
                <a:extLst>
                  <a:ext uri="{FF2B5EF4-FFF2-40B4-BE49-F238E27FC236}">
                    <a16:creationId xmlns:a16="http://schemas.microsoft.com/office/drawing/2014/main" id="{10CB8B73-9A1B-2DC9-845E-84DEE6A24B7B}"/>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9" name="Line 397">
                <a:extLst>
                  <a:ext uri="{FF2B5EF4-FFF2-40B4-BE49-F238E27FC236}">
                    <a16:creationId xmlns:a16="http://schemas.microsoft.com/office/drawing/2014/main" id="{E5B657F8-D24D-BCDB-6A94-5F58C0064242}"/>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0" name="Line 398">
                <a:extLst>
                  <a:ext uri="{FF2B5EF4-FFF2-40B4-BE49-F238E27FC236}">
                    <a16:creationId xmlns:a16="http://schemas.microsoft.com/office/drawing/2014/main" id="{F40864E2-BEDE-EC5A-922F-7730D06E14F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36" name="Group 135">
            <a:extLst>
              <a:ext uri="{FF2B5EF4-FFF2-40B4-BE49-F238E27FC236}">
                <a16:creationId xmlns:a16="http://schemas.microsoft.com/office/drawing/2014/main" id="{70E88972-F40F-DFC3-45F8-C2960B4DDEE5}"/>
              </a:ext>
            </a:extLst>
          </p:cNvPr>
          <p:cNvGrpSpPr/>
          <p:nvPr/>
        </p:nvGrpSpPr>
        <p:grpSpPr>
          <a:xfrm>
            <a:off x="6759608" y="4525695"/>
            <a:ext cx="719443" cy="903287"/>
            <a:chOff x="6585196" y="4639120"/>
            <a:chExt cx="582613" cy="903287"/>
          </a:xfrm>
        </p:grpSpPr>
        <p:sp>
          <p:nvSpPr>
            <p:cNvPr id="137" name="Line 264">
              <a:extLst>
                <a:ext uri="{FF2B5EF4-FFF2-40B4-BE49-F238E27FC236}">
                  <a16:creationId xmlns:a16="http://schemas.microsoft.com/office/drawing/2014/main" id="{A467A91A-0EA9-B587-27D9-F19EFD1A3256}"/>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8" name="Text Box 271">
              <a:extLst>
                <a:ext uri="{FF2B5EF4-FFF2-40B4-BE49-F238E27FC236}">
                  <a16:creationId xmlns:a16="http://schemas.microsoft.com/office/drawing/2014/main" id="{EAC6D14C-D268-C622-9D8C-7F77796FB92B}"/>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139" name="Group 373">
              <a:extLst>
                <a:ext uri="{FF2B5EF4-FFF2-40B4-BE49-F238E27FC236}">
                  <a16:creationId xmlns:a16="http://schemas.microsoft.com/office/drawing/2014/main" id="{A9C0C473-0FED-2F00-0A18-E8A1B4E75942}"/>
                </a:ext>
              </a:extLst>
            </p:cNvPr>
            <p:cNvGrpSpPr>
              <a:grpSpLocks/>
            </p:cNvGrpSpPr>
            <p:nvPr/>
          </p:nvGrpSpPr>
          <p:grpSpPr bwMode="auto">
            <a:xfrm>
              <a:off x="6632821" y="4639120"/>
              <a:ext cx="381000" cy="336550"/>
              <a:chOff x="4122" y="1171"/>
              <a:chExt cx="240" cy="212"/>
            </a:xfrm>
          </p:grpSpPr>
          <p:sp>
            <p:nvSpPr>
              <p:cNvPr id="144" name="Rectangle 374">
                <a:extLst>
                  <a:ext uri="{FF2B5EF4-FFF2-40B4-BE49-F238E27FC236}">
                    <a16:creationId xmlns:a16="http://schemas.microsoft.com/office/drawing/2014/main" id="{5B8A46D3-5556-161F-C10A-DC1E73C8CE69}"/>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5" name="Text Box 375">
                <a:extLst>
                  <a:ext uri="{FF2B5EF4-FFF2-40B4-BE49-F238E27FC236}">
                    <a16:creationId xmlns:a16="http://schemas.microsoft.com/office/drawing/2014/main" id="{82935845-0425-50BE-5075-90A1B03C13B0}"/>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46" name="AutoShape 376">
                <a:extLst>
                  <a:ext uri="{FF2B5EF4-FFF2-40B4-BE49-F238E27FC236}">
                    <a16:creationId xmlns:a16="http://schemas.microsoft.com/office/drawing/2014/main" id="{48A456CC-4060-BD3B-A16C-942C1FDE0BB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7" name="AutoShape 377">
                <a:extLst>
                  <a:ext uri="{FF2B5EF4-FFF2-40B4-BE49-F238E27FC236}">
                    <a16:creationId xmlns:a16="http://schemas.microsoft.com/office/drawing/2014/main" id="{76CE6BDA-5934-5604-9CF0-C9A16DDD1EA4}"/>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8" name="AutoShape 378">
                <a:extLst>
                  <a:ext uri="{FF2B5EF4-FFF2-40B4-BE49-F238E27FC236}">
                    <a16:creationId xmlns:a16="http://schemas.microsoft.com/office/drawing/2014/main" id="{B321AEA6-74BA-F1B1-5968-8F2724AED88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40" name="Group 399">
              <a:extLst>
                <a:ext uri="{FF2B5EF4-FFF2-40B4-BE49-F238E27FC236}">
                  <a16:creationId xmlns:a16="http://schemas.microsoft.com/office/drawing/2014/main" id="{F0057245-EFC3-CEC7-86EF-63A69A50B533}"/>
                </a:ext>
              </a:extLst>
            </p:cNvPr>
            <p:cNvGrpSpPr>
              <a:grpSpLocks/>
            </p:cNvGrpSpPr>
            <p:nvPr/>
          </p:nvGrpSpPr>
          <p:grpSpPr bwMode="auto">
            <a:xfrm>
              <a:off x="6632821" y="5009007"/>
              <a:ext cx="381000" cy="533400"/>
              <a:chOff x="576" y="1200"/>
              <a:chExt cx="240" cy="336"/>
            </a:xfrm>
          </p:grpSpPr>
          <p:sp>
            <p:nvSpPr>
              <p:cNvPr id="141" name="Rectangle 400">
                <a:extLst>
                  <a:ext uri="{FF2B5EF4-FFF2-40B4-BE49-F238E27FC236}">
                    <a16:creationId xmlns:a16="http://schemas.microsoft.com/office/drawing/2014/main" id="{766AC24D-C543-44B9-F418-626D1B56395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2" name="Line 401">
                <a:extLst>
                  <a:ext uri="{FF2B5EF4-FFF2-40B4-BE49-F238E27FC236}">
                    <a16:creationId xmlns:a16="http://schemas.microsoft.com/office/drawing/2014/main" id="{9B6CCF94-6BA4-C8B2-A945-5468A5B7CA2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43" name="Line 402">
                <a:extLst>
                  <a:ext uri="{FF2B5EF4-FFF2-40B4-BE49-F238E27FC236}">
                    <a16:creationId xmlns:a16="http://schemas.microsoft.com/office/drawing/2014/main" id="{69B23C2E-9B9C-8EB0-486E-258A8953FA3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49" name="Group 148">
            <a:extLst>
              <a:ext uri="{FF2B5EF4-FFF2-40B4-BE49-F238E27FC236}">
                <a16:creationId xmlns:a16="http://schemas.microsoft.com/office/drawing/2014/main" id="{82A9F170-A9B8-619E-52FB-F2F2389BBBE8}"/>
              </a:ext>
            </a:extLst>
          </p:cNvPr>
          <p:cNvGrpSpPr/>
          <p:nvPr/>
        </p:nvGrpSpPr>
        <p:grpSpPr>
          <a:xfrm>
            <a:off x="8539553" y="4504949"/>
            <a:ext cx="764530" cy="903287"/>
            <a:chOff x="8456859" y="4639120"/>
            <a:chExt cx="619125" cy="903287"/>
          </a:xfrm>
        </p:grpSpPr>
        <p:sp>
          <p:nvSpPr>
            <p:cNvPr id="150" name="Line 263">
              <a:extLst>
                <a:ext uri="{FF2B5EF4-FFF2-40B4-BE49-F238E27FC236}">
                  <a16:creationId xmlns:a16="http://schemas.microsoft.com/office/drawing/2014/main" id="{0FC9A3CD-CD8B-CB3C-3360-D1F36756B9DD}"/>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1" name="Text Box 268">
              <a:extLst>
                <a:ext uri="{FF2B5EF4-FFF2-40B4-BE49-F238E27FC236}">
                  <a16:creationId xmlns:a16="http://schemas.microsoft.com/office/drawing/2014/main" id="{2C36D2F6-4C8B-382C-F293-1CDE8AE6FD9E}"/>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152" name="Group 379">
              <a:extLst>
                <a:ext uri="{FF2B5EF4-FFF2-40B4-BE49-F238E27FC236}">
                  <a16:creationId xmlns:a16="http://schemas.microsoft.com/office/drawing/2014/main" id="{C9259B0D-6B5E-EA32-672E-DD4CED7FFF39}"/>
                </a:ext>
              </a:extLst>
            </p:cNvPr>
            <p:cNvGrpSpPr>
              <a:grpSpLocks/>
            </p:cNvGrpSpPr>
            <p:nvPr/>
          </p:nvGrpSpPr>
          <p:grpSpPr bwMode="auto">
            <a:xfrm>
              <a:off x="8536234" y="4639120"/>
              <a:ext cx="381000" cy="336550"/>
              <a:chOff x="4122" y="1171"/>
              <a:chExt cx="240" cy="212"/>
            </a:xfrm>
          </p:grpSpPr>
          <p:sp>
            <p:nvSpPr>
              <p:cNvPr id="157" name="Rectangle 380">
                <a:extLst>
                  <a:ext uri="{FF2B5EF4-FFF2-40B4-BE49-F238E27FC236}">
                    <a16:creationId xmlns:a16="http://schemas.microsoft.com/office/drawing/2014/main" id="{F59461B4-9336-0C18-C3CC-6BDE7E5A95C3}"/>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58" name="Text Box 381">
                <a:extLst>
                  <a:ext uri="{FF2B5EF4-FFF2-40B4-BE49-F238E27FC236}">
                    <a16:creationId xmlns:a16="http://schemas.microsoft.com/office/drawing/2014/main" id="{D8A76296-D7BF-1BCA-2181-6C1108672F2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59" name="AutoShape 382">
                <a:extLst>
                  <a:ext uri="{FF2B5EF4-FFF2-40B4-BE49-F238E27FC236}">
                    <a16:creationId xmlns:a16="http://schemas.microsoft.com/office/drawing/2014/main" id="{9D4CE479-0D97-A255-8421-DD3C3862ABD3}"/>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60" name="AutoShape 383">
                <a:extLst>
                  <a:ext uri="{FF2B5EF4-FFF2-40B4-BE49-F238E27FC236}">
                    <a16:creationId xmlns:a16="http://schemas.microsoft.com/office/drawing/2014/main" id="{35A23AF6-0E86-E535-BBCC-792CAB9310A2}"/>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61" name="AutoShape 384">
                <a:extLst>
                  <a:ext uri="{FF2B5EF4-FFF2-40B4-BE49-F238E27FC236}">
                    <a16:creationId xmlns:a16="http://schemas.microsoft.com/office/drawing/2014/main" id="{0253C8E2-0D00-C4D1-12AF-DEAECEAE1E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53" name="Group 403">
              <a:extLst>
                <a:ext uri="{FF2B5EF4-FFF2-40B4-BE49-F238E27FC236}">
                  <a16:creationId xmlns:a16="http://schemas.microsoft.com/office/drawing/2014/main" id="{FE328443-E9BA-9DD7-CC32-6E6A5BE8AD16}"/>
                </a:ext>
              </a:extLst>
            </p:cNvPr>
            <p:cNvGrpSpPr>
              <a:grpSpLocks/>
            </p:cNvGrpSpPr>
            <p:nvPr/>
          </p:nvGrpSpPr>
          <p:grpSpPr bwMode="auto">
            <a:xfrm>
              <a:off x="8536234" y="5009007"/>
              <a:ext cx="381000" cy="533400"/>
              <a:chOff x="576" y="1200"/>
              <a:chExt cx="240" cy="336"/>
            </a:xfrm>
          </p:grpSpPr>
          <p:sp>
            <p:nvSpPr>
              <p:cNvPr id="154" name="Rectangle 404">
                <a:extLst>
                  <a:ext uri="{FF2B5EF4-FFF2-40B4-BE49-F238E27FC236}">
                    <a16:creationId xmlns:a16="http://schemas.microsoft.com/office/drawing/2014/main" id="{CC731A7F-D618-4FBD-E69C-685845B563A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55" name="Line 405">
                <a:extLst>
                  <a:ext uri="{FF2B5EF4-FFF2-40B4-BE49-F238E27FC236}">
                    <a16:creationId xmlns:a16="http://schemas.microsoft.com/office/drawing/2014/main" id="{BBA2B7B5-106D-4DD6-DB61-589AD7810E6A}"/>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6" name="Line 406">
                <a:extLst>
                  <a:ext uri="{FF2B5EF4-FFF2-40B4-BE49-F238E27FC236}">
                    <a16:creationId xmlns:a16="http://schemas.microsoft.com/office/drawing/2014/main" id="{AC542A9F-C50A-D6F3-36A6-65EB08FF370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62" name="Group 161">
            <a:extLst>
              <a:ext uri="{FF2B5EF4-FFF2-40B4-BE49-F238E27FC236}">
                <a16:creationId xmlns:a16="http://schemas.microsoft.com/office/drawing/2014/main" id="{60B9F661-B569-B40D-734F-E61CCE50CB8B}"/>
              </a:ext>
            </a:extLst>
          </p:cNvPr>
          <p:cNvGrpSpPr/>
          <p:nvPr/>
        </p:nvGrpSpPr>
        <p:grpSpPr>
          <a:xfrm>
            <a:off x="1324922" y="4525695"/>
            <a:ext cx="770410" cy="903287"/>
            <a:chOff x="1231656" y="4639120"/>
            <a:chExt cx="623887" cy="903287"/>
          </a:xfrm>
        </p:grpSpPr>
        <p:sp>
          <p:nvSpPr>
            <p:cNvPr id="163" name="Line 267">
              <a:extLst>
                <a:ext uri="{FF2B5EF4-FFF2-40B4-BE49-F238E27FC236}">
                  <a16:creationId xmlns:a16="http://schemas.microsoft.com/office/drawing/2014/main" id="{9DC8F749-3868-2F38-53D6-13BEEDA5D900}"/>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4" name="Text Box 269">
              <a:extLst>
                <a:ext uri="{FF2B5EF4-FFF2-40B4-BE49-F238E27FC236}">
                  <a16:creationId xmlns:a16="http://schemas.microsoft.com/office/drawing/2014/main" id="{8BEA62A3-D7EC-9836-A348-0F0F0047E01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165" name="Group 360">
              <a:extLst>
                <a:ext uri="{FF2B5EF4-FFF2-40B4-BE49-F238E27FC236}">
                  <a16:creationId xmlns:a16="http://schemas.microsoft.com/office/drawing/2014/main" id="{B9714003-116A-3C41-0FFF-B6C7D1B7EEBD}"/>
                </a:ext>
              </a:extLst>
            </p:cNvPr>
            <p:cNvGrpSpPr>
              <a:grpSpLocks/>
            </p:cNvGrpSpPr>
            <p:nvPr/>
          </p:nvGrpSpPr>
          <p:grpSpPr bwMode="auto">
            <a:xfrm>
              <a:off x="1325318" y="4639120"/>
              <a:ext cx="381000" cy="336550"/>
              <a:chOff x="4122" y="1171"/>
              <a:chExt cx="240" cy="212"/>
            </a:xfrm>
          </p:grpSpPr>
          <p:sp>
            <p:nvSpPr>
              <p:cNvPr id="170" name="Rectangle 355">
                <a:extLst>
                  <a:ext uri="{FF2B5EF4-FFF2-40B4-BE49-F238E27FC236}">
                    <a16:creationId xmlns:a16="http://schemas.microsoft.com/office/drawing/2014/main" id="{6385ED8C-4044-4C5C-8424-9C3D74A21B86}"/>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1" name="Text Box 356">
                <a:extLst>
                  <a:ext uri="{FF2B5EF4-FFF2-40B4-BE49-F238E27FC236}">
                    <a16:creationId xmlns:a16="http://schemas.microsoft.com/office/drawing/2014/main" id="{8ACDB65F-E25E-69FC-6D37-85262C481BCF}"/>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72" name="AutoShape 357">
                <a:extLst>
                  <a:ext uri="{FF2B5EF4-FFF2-40B4-BE49-F238E27FC236}">
                    <a16:creationId xmlns:a16="http://schemas.microsoft.com/office/drawing/2014/main" id="{0BD465BF-8F0A-F67E-4C20-C678565019D6}"/>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3" name="AutoShape 358">
                <a:extLst>
                  <a:ext uri="{FF2B5EF4-FFF2-40B4-BE49-F238E27FC236}">
                    <a16:creationId xmlns:a16="http://schemas.microsoft.com/office/drawing/2014/main" id="{D33B76AC-5938-AD02-CBBE-6B328F17952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4" name="AutoShape 359">
                <a:extLst>
                  <a:ext uri="{FF2B5EF4-FFF2-40B4-BE49-F238E27FC236}">
                    <a16:creationId xmlns:a16="http://schemas.microsoft.com/office/drawing/2014/main" id="{9A31C3E1-AFD9-B65E-BFB6-2A739607994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66" name="Group 407">
              <a:extLst>
                <a:ext uri="{FF2B5EF4-FFF2-40B4-BE49-F238E27FC236}">
                  <a16:creationId xmlns:a16="http://schemas.microsoft.com/office/drawing/2014/main" id="{FEAEA609-AF9C-A2CF-BC3C-E8FE1AFC97CC}"/>
                </a:ext>
              </a:extLst>
            </p:cNvPr>
            <p:cNvGrpSpPr>
              <a:grpSpLocks/>
            </p:cNvGrpSpPr>
            <p:nvPr/>
          </p:nvGrpSpPr>
          <p:grpSpPr bwMode="auto">
            <a:xfrm>
              <a:off x="1315793" y="5009007"/>
              <a:ext cx="381000" cy="533400"/>
              <a:chOff x="576" y="1200"/>
              <a:chExt cx="240" cy="336"/>
            </a:xfrm>
          </p:grpSpPr>
          <p:sp>
            <p:nvSpPr>
              <p:cNvPr id="167" name="Rectangle 408">
                <a:extLst>
                  <a:ext uri="{FF2B5EF4-FFF2-40B4-BE49-F238E27FC236}">
                    <a16:creationId xmlns:a16="http://schemas.microsoft.com/office/drawing/2014/main" id="{7E72F648-D2B7-37D5-F541-4681AD03F66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8" name="Line 409">
                <a:extLst>
                  <a:ext uri="{FF2B5EF4-FFF2-40B4-BE49-F238E27FC236}">
                    <a16:creationId xmlns:a16="http://schemas.microsoft.com/office/drawing/2014/main" id="{0B4A3764-11E5-23E3-FD84-CAAEF84212F3}"/>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9" name="Line 410">
                <a:extLst>
                  <a:ext uri="{FF2B5EF4-FFF2-40B4-BE49-F238E27FC236}">
                    <a16:creationId xmlns:a16="http://schemas.microsoft.com/office/drawing/2014/main" id="{27435632-AF9F-84DF-7071-7A37C60B7204}"/>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175" name="AutoShape 105">
            <a:extLst>
              <a:ext uri="{FF2B5EF4-FFF2-40B4-BE49-F238E27FC236}">
                <a16:creationId xmlns:a16="http://schemas.microsoft.com/office/drawing/2014/main" id="{CD473DAA-2BB9-C923-729F-BD88C44EF2A0}"/>
              </a:ext>
            </a:extLst>
          </p:cNvPr>
          <p:cNvCxnSpPr>
            <a:cxnSpLocks noChangeShapeType="1"/>
          </p:cNvCxnSpPr>
          <p:nvPr/>
        </p:nvCxnSpPr>
        <p:spPr bwMode="auto">
          <a:xfrm rot="10800000" flipV="1">
            <a:off x="1691964" y="2817237"/>
            <a:ext cx="3528561" cy="1640196"/>
          </a:xfrm>
          <a:prstGeom prst="bentConnector3">
            <a:avLst>
              <a:gd name="adj1" fmla="val 100274"/>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176" name="Group 106">
            <a:extLst>
              <a:ext uri="{FF2B5EF4-FFF2-40B4-BE49-F238E27FC236}">
                <a16:creationId xmlns:a16="http://schemas.microsoft.com/office/drawing/2014/main" id="{6C7ADFD0-2134-D7F0-B7DB-3E2082663813}"/>
              </a:ext>
            </a:extLst>
          </p:cNvPr>
          <p:cNvGrpSpPr>
            <a:grpSpLocks/>
          </p:cNvGrpSpPr>
          <p:nvPr/>
        </p:nvGrpSpPr>
        <p:grpSpPr bwMode="auto">
          <a:xfrm>
            <a:off x="1389671" y="3323356"/>
            <a:ext cx="593725" cy="409575"/>
            <a:chOff x="513" y="2099"/>
            <a:chExt cx="374" cy="258"/>
          </a:xfrm>
        </p:grpSpPr>
        <p:grpSp>
          <p:nvGrpSpPr>
            <p:cNvPr id="177" name="Group 107">
              <a:extLst>
                <a:ext uri="{FF2B5EF4-FFF2-40B4-BE49-F238E27FC236}">
                  <a16:creationId xmlns:a16="http://schemas.microsoft.com/office/drawing/2014/main" id="{7DB33D1B-14D1-76A8-92A6-64B4344B157B}"/>
                </a:ext>
              </a:extLst>
            </p:cNvPr>
            <p:cNvGrpSpPr>
              <a:grpSpLocks/>
            </p:cNvGrpSpPr>
            <p:nvPr/>
          </p:nvGrpSpPr>
          <p:grpSpPr bwMode="auto">
            <a:xfrm>
              <a:off x="550" y="2121"/>
              <a:ext cx="337" cy="236"/>
              <a:chOff x="536" y="3744"/>
              <a:chExt cx="415" cy="261"/>
            </a:xfrm>
          </p:grpSpPr>
          <p:sp>
            <p:nvSpPr>
              <p:cNvPr id="179" name="Rectangle 108">
                <a:extLst>
                  <a:ext uri="{FF2B5EF4-FFF2-40B4-BE49-F238E27FC236}">
                    <a16:creationId xmlns:a16="http://schemas.microsoft.com/office/drawing/2014/main" id="{B007CD8A-4143-1FA3-BCDF-6D23C0D2DC49}"/>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0" name="Rectangle 109">
                <a:extLst>
                  <a:ext uri="{FF2B5EF4-FFF2-40B4-BE49-F238E27FC236}">
                    <a16:creationId xmlns:a16="http://schemas.microsoft.com/office/drawing/2014/main" id="{45FA2E49-B1C5-7D12-1B75-26D4646366AC}"/>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1" name="Oval 110">
                <a:extLst>
                  <a:ext uri="{FF2B5EF4-FFF2-40B4-BE49-F238E27FC236}">
                    <a16:creationId xmlns:a16="http://schemas.microsoft.com/office/drawing/2014/main" id="{AD51F9E6-F3FC-16FD-DADA-D6521D400989}"/>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2" name="Oval 111">
                <a:extLst>
                  <a:ext uri="{FF2B5EF4-FFF2-40B4-BE49-F238E27FC236}">
                    <a16:creationId xmlns:a16="http://schemas.microsoft.com/office/drawing/2014/main" id="{31DC000C-9683-CABB-D28A-FC053672C4A6}"/>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178" name="Text Box 112">
              <a:extLst>
                <a:ext uri="{FF2B5EF4-FFF2-40B4-BE49-F238E27FC236}">
                  <a16:creationId xmlns:a16="http://schemas.microsoft.com/office/drawing/2014/main" id="{EAB5B3EC-AD80-3AA1-6353-DE2D7ED6B6DE}"/>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184" name="Line 129">
            <a:extLst>
              <a:ext uri="{FF2B5EF4-FFF2-40B4-BE49-F238E27FC236}">
                <a16:creationId xmlns:a16="http://schemas.microsoft.com/office/drawing/2014/main" id="{0446C84D-A5FD-7AFA-31AE-6722536DF849}"/>
              </a:ext>
            </a:extLst>
          </p:cNvPr>
          <p:cNvSpPr>
            <a:spLocks noChangeShapeType="1"/>
          </p:cNvSpPr>
          <p:nvPr/>
        </p:nvSpPr>
        <p:spPr bwMode="auto">
          <a:xfrm>
            <a:off x="1324922" y="5619750"/>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5" name="Line 130">
            <a:extLst>
              <a:ext uri="{FF2B5EF4-FFF2-40B4-BE49-F238E27FC236}">
                <a16:creationId xmlns:a16="http://schemas.microsoft.com/office/drawing/2014/main" id="{8B6B9745-5CE0-EFDC-8B39-B7147B679D8A}"/>
              </a:ext>
            </a:extLst>
          </p:cNvPr>
          <p:cNvSpPr>
            <a:spLocks noChangeShapeType="1"/>
          </p:cNvSpPr>
          <p:nvPr/>
        </p:nvSpPr>
        <p:spPr bwMode="auto">
          <a:xfrm>
            <a:off x="2133013" y="5644092"/>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86" name="Line 131">
            <a:extLst>
              <a:ext uri="{FF2B5EF4-FFF2-40B4-BE49-F238E27FC236}">
                <a16:creationId xmlns:a16="http://schemas.microsoft.com/office/drawing/2014/main" id="{374AE39B-9DBF-8340-7D97-9CBB6BAC73F9}"/>
              </a:ext>
            </a:extLst>
          </p:cNvPr>
          <p:cNvSpPr>
            <a:spLocks noChangeShapeType="1"/>
          </p:cNvSpPr>
          <p:nvPr/>
        </p:nvSpPr>
        <p:spPr bwMode="auto">
          <a:xfrm flipV="1">
            <a:off x="2139245" y="5800724"/>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7" name="Line 132">
            <a:extLst>
              <a:ext uri="{FF2B5EF4-FFF2-40B4-BE49-F238E27FC236}">
                <a16:creationId xmlns:a16="http://schemas.microsoft.com/office/drawing/2014/main" id="{3CA73C82-CE88-038C-6CB4-63A7885A5B02}"/>
              </a:ext>
            </a:extLst>
          </p:cNvPr>
          <p:cNvSpPr>
            <a:spLocks noChangeShapeType="1"/>
          </p:cNvSpPr>
          <p:nvPr/>
        </p:nvSpPr>
        <p:spPr bwMode="auto">
          <a:xfrm flipV="1">
            <a:off x="3179578" y="5629275"/>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8" name="Line 133">
            <a:extLst>
              <a:ext uri="{FF2B5EF4-FFF2-40B4-BE49-F238E27FC236}">
                <a16:creationId xmlns:a16="http://schemas.microsoft.com/office/drawing/2014/main" id="{3CCE1231-3C78-620A-B132-DA88F94EEC23}"/>
              </a:ext>
            </a:extLst>
          </p:cNvPr>
          <p:cNvSpPr>
            <a:spLocks noChangeShapeType="1"/>
          </p:cNvSpPr>
          <p:nvPr/>
        </p:nvSpPr>
        <p:spPr bwMode="auto">
          <a:xfrm>
            <a:off x="3183654" y="5629275"/>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9" name="Line 134">
            <a:extLst>
              <a:ext uri="{FF2B5EF4-FFF2-40B4-BE49-F238E27FC236}">
                <a16:creationId xmlns:a16="http://schemas.microsoft.com/office/drawing/2014/main" id="{A779B45D-36C0-3617-9F73-99871BE177D1}"/>
              </a:ext>
            </a:extLst>
          </p:cNvPr>
          <p:cNvSpPr>
            <a:spLocks noChangeShapeType="1"/>
          </p:cNvSpPr>
          <p:nvPr/>
        </p:nvSpPr>
        <p:spPr bwMode="auto">
          <a:xfrm>
            <a:off x="3951223" y="5638800"/>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 name="Line 135">
            <a:extLst>
              <a:ext uri="{FF2B5EF4-FFF2-40B4-BE49-F238E27FC236}">
                <a16:creationId xmlns:a16="http://schemas.microsoft.com/office/drawing/2014/main" id="{3F17270D-3019-0A19-3FCE-F9ABF54D4AEA}"/>
              </a:ext>
            </a:extLst>
          </p:cNvPr>
          <p:cNvSpPr>
            <a:spLocks noChangeShapeType="1"/>
          </p:cNvSpPr>
          <p:nvPr/>
        </p:nvSpPr>
        <p:spPr bwMode="auto">
          <a:xfrm>
            <a:off x="3945198" y="5804965"/>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1" name="Line 136">
            <a:extLst>
              <a:ext uri="{FF2B5EF4-FFF2-40B4-BE49-F238E27FC236}">
                <a16:creationId xmlns:a16="http://schemas.microsoft.com/office/drawing/2014/main" id="{A189EB73-67EF-F029-0DC8-AECE88FA2E0C}"/>
              </a:ext>
            </a:extLst>
          </p:cNvPr>
          <p:cNvSpPr>
            <a:spLocks noChangeShapeType="1"/>
          </p:cNvSpPr>
          <p:nvPr/>
        </p:nvSpPr>
        <p:spPr bwMode="auto">
          <a:xfrm flipV="1">
            <a:off x="5035264" y="5648325"/>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2" name="Line 137">
            <a:extLst>
              <a:ext uri="{FF2B5EF4-FFF2-40B4-BE49-F238E27FC236}">
                <a16:creationId xmlns:a16="http://schemas.microsoft.com/office/drawing/2014/main" id="{29719221-98DA-3D8A-1A7C-DCE6D974F808}"/>
              </a:ext>
            </a:extLst>
          </p:cNvPr>
          <p:cNvSpPr>
            <a:spLocks noChangeShapeType="1"/>
          </p:cNvSpPr>
          <p:nvPr/>
        </p:nvSpPr>
        <p:spPr bwMode="auto">
          <a:xfrm flipV="1">
            <a:off x="5035265" y="5644081"/>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3" name="Line 138">
            <a:extLst>
              <a:ext uri="{FF2B5EF4-FFF2-40B4-BE49-F238E27FC236}">
                <a16:creationId xmlns:a16="http://schemas.microsoft.com/office/drawing/2014/main" id="{908DE6B8-0B77-E17E-8FFA-C518715565E4}"/>
              </a:ext>
            </a:extLst>
          </p:cNvPr>
          <p:cNvSpPr>
            <a:spLocks noChangeShapeType="1"/>
          </p:cNvSpPr>
          <p:nvPr/>
        </p:nvSpPr>
        <p:spPr bwMode="auto">
          <a:xfrm>
            <a:off x="5651733" y="5638800"/>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 name="Line 139">
            <a:extLst>
              <a:ext uri="{FF2B5EF4-FFF2-40B4-BE49-F238E27FC236}">
                <a16:creationId xmlns:a16="http://schemas.microsoft.com/office/drawing/2014/main" id="{194255DB-B77B-1A0D-850F-23106A0E7D35}"/>
              </a:ext>
            </a:extLst>
          </p:cNvPr>
          <p:cNvSpPr>
            <a:spLocks noChangeShapeType="1"/>
          </p:cNvSpPr>
          <p:nvPr/>
        </p:nvSpPr>
        <p:spPr bwMode="auto">
          <a:xfrm>
            <a:off x="5648326" y="5811348"/>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95" name="Line 140">
            <a:extLst>
              <a:ext uri="{FF2B5EF4-FFF2-40B4-BE49-F238E27FC236}">
                <a16:creationId xmlns:a16="http://schemas.microsoft.com/office/drawing/2014/main" id="{32A6D30B-4FFF-46A7-B394-B1D82120417A}"/>
              </a:ext>
            </a:extLst>
          </p:cNvPr>
          <p:cNvSpPr>
            <a:spLocks noChangeShapeType="1"/>
          </p:cNvSpPr>
          <p:nvPr/>
        </p:nvSpPr>
        <p:spPr bwMode="auto">
          <a:xfrm flipV="1">
            <a:off x="6718112" y="5667375"/>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6" name="Line 142">
            <a:extLst>
              <a:ext uri="{FF2B5EF4-FFF2-40B4-BE49-F238E27FC236}">
                <a16:creationId xmlns:a16="http://schemas.microsoft.com/office/drawing/2014/main" id="{9E6C18C7-5D7C-927D-5833-D24882026A64}"/>
              </a:ext>
            </a:extLst>
          </p:cNvPr>
          <p:cNvSpPr>
            <a:spLocks noChangeShapeType="1"/>
          </p:cNvSpPr>
          <p:nvPr/>
        </p:nvSpPr>
        <p:spPr bwMode="auto">
          <a:xfrm>
            <a:off x="6722312" y="5657850"/>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7" name="Line 143">
            <a:extLst>
              <a:ext uri="{FF2B5EF4-FFF2-40B4-BE49-F238E27FC236}">
                <a16:creationId xmlns:a16="http://schemas.microsoft.com/office/drawing/2014/main" id="{4A8369E6-43B9-3E35-5345-B20C98A04E07}"/>
              </a:ext>
            </a:extLst>
          </p:cNvPr>
          <p:cNvSpPr>
            <a:spLocks noChangeShapeType="1"/>
          </p:cNvSpPr>
          <p:nvPr/>
        </p:nvSpPr>
        <p:spPr bwMode="auto">
          <a:xfrm>
            <a:off x="7549772" y="5657850"/>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8" name="Line 144">
            <a:extLst>
              <a:ext uri="{FF2B5EF4-FFF2-40B4-BE49-F238E27FC236}">
                <a16:creationId xmlns:a16="http://schemas.microsoft.com/office/drawing/2014/main" id="{474ED335-5CFF-5F55-DCCF-C353B4C9DDA0}"/>
              </a:ext>
            </a:extLst>
          </p:cNvPr>
          <p:cNvSpPr>
            <a:spLocks noChangeShapeType="1"/>
          </p:cNvSpPr>
          <p:nvPr/>
        </p:nvSpPr>
        <p:spPr bwMode="auto">
          <a:xfrm>
            <a:off x="7562373" y="5829300"/>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9" name="Line 146">
            <a:extLst>
              <a:ext uri="{FF2B5EF4-FFF2-40B4-BE49-F238E27FC236}">
                <a16:creationId xmlns:a16="http://schemas.microsoft.com/office/drawing/2014/main" id="{187A991F-7947-B1F7-D42C-EFFE137D69CA}"/>
              </a:ext>
            </a:extLst>
          </p:cNvPr>
          <p:cNvSpPr>
            <a:spLocks noChangeShapeType="1"/>
          </p:cNvSpPr>
          <p:nvPr/>
        </p:nvSpPr>
        <p:spPr bwMode="auto">
          <a:xfrm flipV="1">
            <a:off x="8507441" y="5676900"/>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0" name="Line 147">
            <a:extLst>
              <a:ext uri="{FF2B5EF4-FFF2-40B4-BE49-F238E27FC236}">
                <a16:creationId xmlns:a16="http://schemas.microsoft.com/office/drawing/2014/main" id="{72CB1F48-B30A-BB90-7A97-B60006DB53D1}"/>
              </a:ext>
            </a:extLst>
          </p:cNvPr>
          <p:cNvSpPr>
            <a:spLocks noChangeShapeType="1"/>
          </p:cNvSpPr>
          <p:nvPr/>
        </p:nvSpPr>
        <p:spPr bwMode="auto">
          <a:xfrm>
            <a:off x="8503242" y="5667374"/>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1" name="Line 148">
            <a:extLst>
              <a:ext uri="{FF2B5EF4-FFF2-40B4-BE49-F238E27FC236}">
                <a16:creationId xmlns:a16="http://schemas.microsoft.com/office/drawing/2014/main" id="{2FBCCE63-E276-23F4-6DE4-8544188AB797}"/>
              </a:ext>
            </a:extLst>
          </p:cNvPr>
          <p:cNvSpPr>
            <a:spLocks noChangeShapeType="1"/>
          </p:cNvSpPr>
          <p:nvPr/>
        </p:nvSpPr>
        <p:spPr bwMode="auto">
          <a:xfrm>
            <a:off x="9286556" y="5667375"/>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2" name="Line 149">
            <a:extLst>
              <a:ext uri="{FF2B5EF4-FFF2-40B4-BE49-F238E27FC236}">
                <a16:creationId xmlns:a16="http://schemas.microsoft.com/office/drawing/2014/main" id="{F20F9A1C-7329-2E83-60C7-30AD7788F6E4}"/>
              </a:ext>
            </a:extLst>
          </p:cNvPr>
          <p:cNvSpPr>
            <a:spLocks noChangeShapeType="1"/>
          </p:cNvSpPr>
          <p:nvPr/>
        </p:nvSpPr>
        <p:spPr bwMode="auto">
          <a:xfrm>
            <a:off x="9286557" y="5848350"/>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4" name="Text Box 151">
            <a:extLst>
              <a:ext uri="{FF2B5EF4-FFF2-40B4-BE49-F238E27FC236}">
                <a16:creationId xmlns:a16="http://schemas.microsoft.com/office/drawing/2014/main" id="{9E3BFF6A-AD6B-2166-E3DD-61E801E1408B}"/>
              </a:ext>
            </a:extLst>
          </p:cNvPr>
          <p:cNvSpPr txBox="1">
            <a:spLocks noChangeArrowheads="1"/>
          </p:cNvSpPr>
          <p:nvPr/>
        </p:nvSpPr>
        <p:spPr bwMode="auto">
          <a:xfrm>
            <a:off x="9336180" y="5665788"/>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45 seconds</a:t>
            </a:r>
          </a:p>
        </p:txBody>
      </p:sp>
      <p:sp>
        <p:nvSpPr>
          <p:cNvPr id="205" name="Text Box 152">
            <a:extLst>
              <a:ext uri="{FF2B5EF4-FFF2-40B4-BE49-F238E27FC236}">
                <a16:creationId xmlns:a16="http://schemas.microsoft.com/office/drawing/2014/main" id="{16386FF7-9570-9861-9F28-DFD177C8E217}"/>
              </a:ext>
            </a:extLst>
          </p:cNvPr>
          <p:cNvSpPr txBox="1">
            <a:spLocks noChangeArrowheads="1"/>
          </p:cNvSpPr>
          <p:nvPr/>
        </p:nvSpPr>
        <p:spPr bwMode="auto">
          <a:xfrm>
            <a:off x="7546290" y="5659437"/>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420 seconds</a:t>
            </a:r>
          </a:p>
        </p:txBody>
      </p:sp>
      <p:sp>
        <p:nvSpPr>
          <p:cNvPr id="206" name="Text Box 153">
            <a:extLst>
              <a:ext uri="{FF2B5EF4-FFF2-40B4-BE49-F238E27FC236}">
                <a16:creationId xmlns:a16="http://schemas.microsoft.com/office/drawing/2014/main" id="{DF4C80FA-5B6B-3D71-0975-56C4D3B58ED6}"/>
              </a:ext>
            </a:extLst>
          </p:cNvPr>
          <p:cNvSpPr txBox="1">
            <a:spLocks noChangeArrowheads="1"/>
          </p:cNvSpPr>
          <p:nvPr/>
        </p:nvSpPr>
        <p:spPr bwMode="auto">
          <a:xfrm>
            <a:off x="5702356" y="5641828"/>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720 seconds</a:t>
            </a:r>
          </a:p>
        </p:txBody>
      </p:sp>
      <p:sp>
        <p:nvSpPr>
          <p:cNvPr id="207" name="Text Box 154">
            <a:extLst>
              <a:ext uri="{FF2B5EF4-FFF2-40B4-BE49-F238E27FC236}">
                <a16:creationId xmlns:a16="http://schemas.microsoft.com/office/drawing/2014/main" id="{910FA726-A56D-EF28-7265-112943A0F0E8}"/>
              </a:ext>
            </a:extLst>
          </p:cNvPr>
          <p:cNvSpPr txBox="1">
            <a:spLocks noChangeArrowheads="1"/>
          </p:cNvSpPr>
          <p:nvPr/>
        </p:nvSpPr>
        <p:spPr bwMode="auto">
          <a:xfrm>
            <a:off x="3966376" y="5631392"/>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780 seconds</a:t>
            </a:r>
          </a:p>
        </p:txBody>
      </p:sp>
      <p:sp>
        <p:nvSpPr>
          <p:cNvPr id="208" name="Text Box 155">
            <a:extLst>
              <a:ext uri="{FF2B5EF4-FFF2-40B4-BE49-F238E27FC236}">
                <a16:creationId xmlns:a16="http://schemas.microsoft.com/office/drawing/2014/main" id="{38D18E92-77DB-727B-50E0-0EC186F96808}"/>
              </a:ext>
            </a:extLst>
          </p:cNvPr>
          <p:cNvSpPr txBox="1">
            <a:spLocks noChangeArrowheads="1"/>
          </p:cNvSpPr>
          <p:nvPr/>
        </p:nvSpPr>
        <p:spPr bwMode="auto">
          <a:xfrm>
            <a:off x="2194452" y="5638800"/>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15 seconds</a:t>
            </a:r>
          </a:p>
        </p:txBody>
      </p:sp>
    </p:spTree>
    <p:extLst>
      <p:ext uri="{BB962C8B-B14F-4D97-AF65-F5344CB8AC3E}">
        <p14:creationId xmlns:p14="http://schemas.microsoft.com/office/powerpoint/2010/main" val="1604183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dissolve">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Calculating Processing Time for Each Process</a:t>
            </a:r>
            <a:endParaRPr lang="en-US" sz="3600" dirty="0"/>
          </a:p>
        </p:txBody>
      </p:sp>
      <p:sp>
        <p:nvSpPr>
          <p:cNvPr id="3" name="Content Placeholder 2">
            <a:extLst>
              <a:ext uri="{FF2B5EF4-FFF2-40B4-BE49-F238E27FC236}">
                <a16:creationId xmlns:a16="http://schemas.microsoft.com/office/drawing/2014/main" id="{CCAAB2AD-E1DC-217C-24B0-125A734A40CA}"/>
              </a:ext>
            </a:extLst>
          </p:cNvPr>
          <p:cNvSpPr>
            <a:spLocks noGrp="1"/>
          </p:cNvSpPr>
          <p:nvPr>
            <p:ph idx="1"/>
          </p:nvPr>
        </p:nvSpPr>
        <p:spPr>
          <a:xfrm>
            <a:off x="838200" y="1825625"/>
            <a:ext cx="4386111" cy="1602575"/>
          </a:xfrm>
        </p:spPr>
        <p:txBody>
          <a:bodyPr>
            <a:normAutofit/>
          </a:bodyPr>
          <a:lstStyle/>
          <a:p>
            <a:r>
              <a:rPr lang="en-US" altLang="en-US" sz="1800" dirty="0"/>
              <a:t>Divide the amount of inventory by the daily demand to derive lead time for that process</a:t>
            </a:r>
            <a:endParaRPr lang="en-US" altLang="en-US" sz="1800" dirty="0">
              <a:solidFill>
                <a:srgbClr val="FF0000"/>
              </a:solidFill>
            </a:endParaRPr>
          </a:p>
          <a:p>
            <a:endParaRPr lang="en-US" dirty="0"/>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62</a:t>
            </a:fld>
            <a:endParaRPr lang="en-US" dirty="0"/>
          </a:p>
        </p:txBody>
      </p:sp>
      <p:sp>
        <p:nvSpPr>
          <p:cNvPr id="7" name="Text Box 53">
            <a:extLst>
              <a:ext uri="{FF2B5EF4-FFF2-40B4-BE49-F238E27FC236}">
                <a16:creationId xmlns:a16="http://schemas.microsoft.com/office/drawing/2014/main" id="{ED39520A-4598-D8C2-408E-BCE32C80BC60}"/>
              </a:ext>
            </a:extLst>
          </p:cNvPr>
          <p:cNvSpPr txBox="1">
            <a:spLocks noChangeArrowheads="1"/>
          </p:cNvSpPr>
          <p:nvPr/>
        </p:nvSpPr>
        <p:spPr bwMode="auto">
          <a:xfrm>
            <a:off x="3243464" y="3113162"/>
            <a:ext cx="1826149"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400" dirty="0">
                <a:solidFill>
                  <a:srgbClr val="FF0000"/>
                </a:solidFill>
              </a:rPr>
              <a:t>Daily Demand = 125 applications</a:t>
            </a:r>
          </a:p>
        </p:txBody>
      </p:sp>
      <p:grpSp>
        <p:nvGrpSpPr>
          <p:cNvPr id="37" name="Group 81">
            <a:extLst>
              <a:ext uri="{FF2B5EF4-FFF2-40B4-BE49-F238E27FC236}">
                <a16:creationId xmlns:a16="http://schemas.microsoft.com/office/drawing/2014/main" id="{58C77B4B-B787-9568-9E18-C75EA0B3638F}"/>
              </a:ext>
            </a:extLst>
          </p:cNvPr>
          <p:cNvGrpSpPr>
            <a:grpSpLocks/>
          </p:cNvGrpSpPr>
          <p:nvPr/>
        </p:nvGrpSpPr>
        <p:grpSpPr bwMode="auto">
          <a:xfrm>
            <a:off x="939106" y="3015207"/>
            <a:ext cx="1882776" cy="582614"/>
            <a:chOff x="1728" y="1674"/>
            <a:chExt cx="1186" cy="367"/>
          </a:xfrm>
        </p:grpSpPr>
        <p:grpSp>
          <p:nvGrpSpPr>
            <p:cNvPr id="38" name="Group 66">
              <a:extLst>
                <a:ext uri="{FF2B5EF4-FFF2-40B4-BE49-F238E27FC236}">
                  <a16:creationId xmlns:a16="http://schemas.microsoft.com/office/drawing/2014/main" id="{4D681839-0479-8D44-1D5D-6BCBCB8B4D7E}"/>
                </a:ext>
              </a:extLst>
            </p:cNvPr>
            <p:cNvGrpSpPr>
              <a:grpSpLocks/>
            </p:cNvGrpSpPr>
            <p:nvPr/>
          </p:nvGrpSpPr>
          <p:grpSpPr bwMode="auto">
            <a:xfrm>
              <a:off x="1728" y="1674"/>
              <a:ext cx="1166" cy="367"/>
              <a:chOff x="3444" y="1578"/>
              <a:chExt cx="1166" cy="367"/>
            </a:xfrm>
          </p:grpSpPr>
          <p:sp>
            <p:nvSpPr>
              <p:cNvPr id="40" name="Rectangle 67">
                <a:extLst>
                  <a:ext uri="{FF2B5EF4-FFF2-40B4-BE49-F238E27FC236}">
                    <a16:creationId xmlns:a16="http://schemas.microsoft.com/office/drawing/2014/main" id="{0ADED231-E890-805F-F9BA-B4375FFAB4AE}"/>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1" name="Text Box 68">
                <a:extLst>
                  <a:ext uri="{FF2B5EF4-FFF2-40B4-BE49-F238E27FC236}">
                    <a16:creationId xmlns:a16="http://schemas.microsoft.com/office/drawing/2014/main" id="{484E5E47-29E4-0F23-A191-81B47E047502}"/>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42" name="Line 69">
                <a:extLst>
                  <a:ext uri="{FF2B5EF4-FFF2-40B4-BE49-F238E27FC236}">
                    <a16:creationId xmlns:a16="http://schemas.microsoft.com/office/drawing/2014/main" id="{0875AA73-59BC-EA58-5654-0D446211FE30}"/>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3" name="Rectangle 70">
                <a:extLst>
                  <a:ext uri="{FF2B5EF4-FFF2-40B4-BE49-F238E27FC236}">
                    <a16:creationId xmlns:a16="http://schemas.microsoft.com/office/drawing/2014/main" id="{9C341F81-2DF8-B175-3B7C-A3BC14DCC1F5}"/>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39" name="Text Box 71">
              <a:extLst>
                <a:ext uri="{FF2B5EF4-FFF2-40B4-BE49-F238E27FC236}">
                  <a16:creationId xmlns:a16="http://schemas.microsoft.com/office/drawing/2014/main" id="{BCDB10A7-CB8C-8D71-955E-3871CB01BF6F}"/>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44" name="Text Box 350">
            <a:extLst>
              <a:ext uri="{FF2B5EF4-FFF2-40B4-BE49-F238E27FC236}">
                <a16:creationId xmlns:a16="http://schemas.microsoft.com/office/drawing/2014/main" id="{F40B5327-25B7-8BBE-0A4F-4434AB9BE0F8}"/>
              </a:ext>
            </a:extLst>
          </p:cNvPr>
          <p:cNvSpPr txBox="1">
            <a:spLocks noChangeArrowheads="1"/>
          </p:cNvSpPr>
          <p:nvPr/>
        </p:nvSpPr>
        <p:spPr bwMode="auto">
          <a:xfrm>
            <a:off x="7660925" y="5220167"/>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45" name="Group 44">
            <a:extLst>
              <a:ext uri="{FF2B5EF4-FFF2-40B4-BE49-F238E27FC236}">
                <a16:creationId xmlns:a16="http://schemas.microsoft.com/office/drawing/2014/main" id="{EF17C342-E6FA-D43A-DAB0-60356F8C434F}"/>
              </a:ext>
            </a:extLst>
          </p:cNvPr>
          <p:cNvGrpSpPr/>
          <p:nvPr/>
        </p:nvGrpSpPr>
        <p:grpSpPr>
          <a:xfrm>
            <a:off x="9271181" y="4141686"/>
            <a:ext cx="1292924" cy="1389995"/>
            <a:chOff x="8538106" y="4228532"/>
            <a:chExt cx="1292924" cy="1389995"/>
          </a:xfrm>
        </p:grpSpPr>
        <p:grpSp>
          <p:nvGrpSpPr>
            <p:cNvPr id="46" name="Group 45">
              <a:extLst>
                <a:ext uri="{FF2B5EF4-FFF2-40B4-BE49-F238E27FC236}">
                  <a16:creationId xmlns:a16="http://schemas.microsoft.com/office/drawing/2014/main" id="{4F353E75-541C-DC88-477B-5B3BA71C7A11}"/>
                </a:ext>
              </a:extLst>
            </p:cNvPr>
            <p:cNvGrpSpPr/>
            <p:nvPr/>
          </p:nvGrpSpPr>
          <p:grpSpPr>
            <a:xfrm>
              <a:off x="8550974" y="4228532"/>
              <a:ext cx="1066101" cy="811908"/>
              <a:chOff x="8550974" y="4228532"/>
              <a:chExt cx="1066101" cy="811908"/>
            </a:xfrm>
          </p:grpSpPr>
          <p:sp>
            <p:nvSpPr>
              <p:cNvPr id="51" name="Rectangle 69">
                <a:extLst>
                  <a:ext uri="{FF2B5EF4-FFF2-40B4-BE49-F238E27FC236}">
                    <a16:creationId xmlns:a16="http://schemas.microsoft.com/office/drawing/2014/main" id="{DA493ED0-91ED-78E8-DE5B-5410F028CF4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Line 70">
                <a:extLst>
                  <a:ext uri="{FF2B5EF4-FFF2-40B4-BE49-F238E27FC236}">
                    <a16:creationId xmlns:a16="http://schemas.microsoft.com/office/drawing/2014/main" id="{189750C7-2274-D0DE-FF99-E830DC851CA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53" name="Text Box 71">
                <a:extLst>
                  <a:ext uri="{FF2B5EF4-FFF2-40B4-BE49-F238E27FC236}">
                    <a16:creationId xmlns:a16="http://schemas.microsoft.com/office/drawing/2014/main" id="{AFCDC874-2CA6-23B2-28CA-BEEBB3FE017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54" name="Group 72">
                <a:extLst>
                  <a:ext uri="{FF2B5EF4-FFF2-40B4-BE49-F238E27FC236}">
                    <a16:creationId xmlns:a16="http://schemas.microsoft.com/office/drawing/2014/main" id="{DF955C16-E428-0CBC-0532-8B0C9927DB9D}"/>
                  </a:ext>
                </a:extLst>
              </p:cNvPr>
              <p:cNvGrpSpPr>
                <a:grpSpLocks/>
              </p:cNvGrpSpPr>
              <p:nvPr/>
            </p:nvGrpSpPr>
            <p:grpSpPr bwMode="auto">
              <a:xfrm flipV="1">
                <a:off x="8729819" y="4659836"/>
                <a:ext cx="269429" cy="284707"/>
                <a:chOff x="720" y="3354"/>
                <a:chExt cx="192" cy="198"/>
              </a:xfrm>
            </p:grpSpPr>
            <p:sp>
              <p:nvSpPr>
                <p:cNvPr id="56" name="Oval 73">
                  <a:extLst>
                    <a:ext uri="{FF2B5EF4-FFF2-40B4-BE49-F238E27FC236}">
                      <a16:creationId xmlns:a16="http://schemas.microsoft.com/office/drawing/2014/main" id="{B22D1881-EA8E-200A-D274-C1F3350007D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7" name="AutoShape 74">
                  <a:extLst>
                    <a:ext uri="{FF2B5EF4-FFF2-40B4-BE49-F238E27FC236}">
                      <a16:creationId xmlns:a16="http://schemas.microsoft.com/office/drawing/2014/main" id="{9AEACBF1-89E9-DB3F-B7BF-B4A73BC9ED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55" name="Text Box 75">
                <a:extLst>
                  <a:ext uri="{FF2B5EF4-FFF2-40B4-BE49-F238E27FC236}">
                    <a16:creationId xmlns:a16="http://schemas.microsoft.com/office/drawing/2014/main" id="{E900C887-ADC2-3B6D-229D-6822144822AC}"/>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47" name="Rectangle 348">
              <a:extLst>
                <a:ext uri="{FF2B5EF4-FFF2-40B4-BE49-F238E27FC236}">
                  <a16:creationId xmlns:a16="http://schemas.microsoft.com/office/drawing/2014/main" id="{9B263240-1E05-1EDE-584D-10D85765C4C7}"/>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8" name="Text Box 351">
              <a:extLst>
                <a:ext uri="{FF2B5EF4-FFF2-40B4-BE49-F238E27FC236}">
                  <a16:creationId xmlns:a16="http://schemas.microsoft.com/office/drawing/2014/main" id="{E91EA8D6-A8DA-5AD0-2543-7BAD1F0C077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49" name="Rectangle 352">
              <a:extLst>
                <a:ext uri="{FF2B5EF4-FFF2-40B4-BE49-F238E27FC236}">
                  <a16:creationId xmlns:a16="http://schemas.microsoft.com/office/drawing/2014/main" id="{7AA6132B-73F1-31B8-3EF0-B682DE03CFA3}"/>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50" name="Rectangle 353">
              <a:extLst>
                <a:ext uri="{FF2B5EF4-FFF2-40B4-BE49-F238E27FC236}">
                  <a16:creationId xmlns:a16="http://schemas.microsoft.com/office/drawing/2014/main" id="{9CF24BBC-A952-998C-B559-120D6386A9F5}"/>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58" name="Group 57">
            <a:extLst>
              <a:ext uri="{FF2B5EF4-FFF2-40B4-BE49-F238E27FC236}">
                <a16:creationId xmlns:a16="http://schemas.microsoft.com/office/drawing/2014/main" id="{431AA0F9-6AE2-9798-BEDA-87B4E10EEE14}"/>
              </a:ext>
            </a:extLst>
          </p:cNvPr>
          <p:cNvGrpSpPr/>
          <p:nvPr/>
        </p:nvGrpSpPr>
        <p:grpSpPr>
          <a:xfrm>
            <a:off x="7487369" y="4162119"/>
            <a:ext cx="1292924" cy="1389995"/>
            <a:chOff x="8538106" y="4228532"/>
            <a:chExt cx="1292924" cy="1389995"/>
          </a:xfrm>
        </p:grpSpPr>
        <p:grpSp>
          <p:nvGrpSpPr>
            <p:cNvPr id="59" name="Group 58">
              <a:extLst>
                <a:ext uri="{FF2B5EF4-FFF2-40B4-BE49-F238E27FC236}">
                  <a16:creationId xmlns:a16="http://schemas.microsoft.com/office/drawing/2014/main" id="{A915CB4F-0660-011C-6E42-9CA0F4740C37}"/>
                </a:ext>
              </a:extLst>
            </p:cNvPr>
            <p:cNvGrpSpPr/>
            <p:nvPr/>
          </p:nvGrpSpPr>
          <p:grpSpPr>
            <a:xfrm>
              <a:off x="8550974" y="4228532"/>
              <a:ext cx="1066101" cy="811908"/>
              <a:chOff x="8550974" y="4228532"/>
              <a:chExt cx="1066101" cy="811908"/>
            </a:xfrm>
          </p:grpSpPr>
          <p:sp>
            <p:nvSpPr>
              <p:cNvPr id="64" name="Rectangle 69">
                <a:extLst>
                  <a:ext uri="{FF2B5EF4-FFF2-40B4-BE49-F238E27FC236}">
                    <a16:creationId xmlns:a16="http://schemas.microsoft.com/office/drawing/2014/main" id="{3747C4F5-6496-1BF2-3386-0754B2832320}"/>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5" name="Line 70">
                <a:extLst>
                  <a:ext uri="{FF2B5EF4-FFF2-40B4-BE49-F238E27FC236}">
                    <a16:creationId xmlns:a16="http://schemas.microsoft.com/office/drawing/2014/main" id="{65470CEA-10F3-FFF3-8C4C-701D5B475691}"/>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66" name="Text Box 71">
                <a:extLst>
                  <a:ext uri="{FF2B5EF4-FFF2-40B4-BE49-F238E27FC236}">
                    <a16:creationId xmlns:a16="http://schemas.microsoft.com/office/drawing/2014/main" id="{7445D19F-EA9E-2D49-BC7C-78E52F1A3906}"/>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67" name="Group 72">
                <a:extLst>
                  <a:ext uri="{FF2B5EF4-FFF2-40B4-BE49-F238E27FC236}">
                    <a16:creationId xmlns:a16="http://schemas.microsoft.com/office/drawing/2014/main" id="{8A6C4571-BFE4-6E84-CA4C-6C2FC97DE72A}"/>
                  </a:ext>
                </a:extLst>
              </p:cNvPr>
              <p:cNvGrpSpPr>
                <a:grpSpLocks/>
              </p:cNvGrpSpPr>
              <p:nvPr/>
            </p:nvGrpSpPr>
            <p:grpSpPr bwMode="auto">
              <a:xfrm flipV="1">
                <a:off x="8729819" y="4659836"/>
                <a:ext cx="269429" cy="284707"/>
                <a:chOff x="720" y="3354"/>
                <a:chExt cx="192" cy="198"/>
              </a:xfrm>
            </p:grpSpPr>
            <p:sp>
              <p:nvSpPr>
                <p:cNvPr id="69" name="Oval 73">
                  <a:extLst>
                    <a:ext uri="{FF2B5EF4-FFF2-40B4-BE49-F238E27FC236}">
                      <a16:creationId xmlns:a16="http://schemas.microsoft.com/office/drawing/2014/main" id="{6EAB43E1-6313-9E6F-562F-576B877E467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AutoShape 74">
                  <a:extLst>
                    <a:ext uri="{FF2B5EF4-FFF2-40B4-BE49-F238E27FC236}">
                      <a16:creationId xmlns:a16="http://schemas.microsoft.com/office/drawing/2014/main" id="{6FCDF024-7E00-6774-8632-0EB44E8A79A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68" name="Text Box 75">
                <a:extLst>
                  <a:ext uri="{FF2B5EF4-FFF2-40B4-BE49-F238E27FC236}">
                    <a16:creationId xmlns:a16="http://schemas.microsoft.com/office/drawing/2014/main" id="{B73C484B-D70B-25E5-7560-5A8120EACD5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60" name="Rectangle 348">
              <a:extLst>
                <a:ext uri="{FF2B5EF4-FFF2-40B4-BE49-F238E27FC236}">
                  <a16:creationId xmlns:a16="http://schemas.microsoft.com/office/drawing/2014/main" id="{AE6C46C5-1556-AFAF-8091-D603614D09A9}"/>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1" name="Text Box 351">
              <a:extLst>
                <a:ext uri="{FF2B5EF4-FFF2-40B4-BE49-F238E27FC236}">
                  <a16:creationId xmlns:a16="http://schemas.microsoft.com/office/drawing/2014/main" id="{100D0CBB-0E42-B08D-B0D5-F097E533A7EA}"/>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62" name="Rectangle 352">
              <a:extLst>
                <a:ext uri="{FF2B5EF4-FFF2-40B4-BE49-F238E27FC236}">
                  <a16:creationId xmlns:a16="http://schemas.microsoft.com/office/drawing/2014/main" id="{2CD0A15C-9BC8-FF78-4AE3-EDF15DC1303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63" name="Rectangle 353">
              <a:extLst>
                <a:ext uri="{FF2B5EF4-FFF2-40B4-BE49-F238E27FC236}">
                  <a16:creationId xmlns:a16="http://schemas.microsoft.com/office/drawing/2014/main" id="{779C1FA6-F1C6-F8BC-2CDB-CA0655B267D1}"/>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71" name="Group 70">
            <a:extLst>
              <a:ext uri="{FF2B5EF4-FFF2-40B4-BE49-F238E27FC236}">
                <a16:creationId xmlns:a16="http://schemas.microsoft.com/office/drawing/2014/main" id="{E70F5879-7459-08D1-9BB3-81E99A7E502B}"/>
              </a:ext>
            </a:extLst>
          </p:cNvPr>
          <p:cNvGrpSpPr/>
          <p:nvPr/>
        </p:nvGrpSpPr>
        <p:grpSpPr>
          <a:xfrm>
            <a:off x="5641091" y="4141686"/>
            <a:ext cx="1292924" cy="1389995"/>
            <a:chOff x="8538106" y="4228532"/>
            <a:chExt cx="1292924" cy="1389995"/>
          </a:xfrm>
        </p:grpSpPr>
        <p:grpSp>
          <p:nvGrpSpPr>
            <p:cNvPr id="72" name="Group 71">
              <a:extLst>
                <a:ext uri="{FF2B5EF4-FFF2-40B4-BE49-F238E27FC236}">
                  <a16:creationId xmlns:a16="http://schemas.microsoft.com/office/drawing/2014/main" id="{180C4721-170C-A810-E136-CA8A58101CD1}"/>
                </a:ext>
              </a:extLst>
            </p:cNvPr>
            <p:cNvGrpSpPr/>
            <p:nvPr/>
          </p:nvGrpSpPr>
          <p:grpSpPr>
            <a:xfrm>
              <a:off x="8550974" y="4228532"/>
              <a:ext cx="1066101" cy="811908"/>
              <a:chOff x="8550974" y="4228532"/>
              <a:chExt cx="1066101" cy="811908"/>
            </a:xfrm>
          </p:grpSpPr>
          <p:sp>
            <p:nvSpPr>
              <p:cNvPr id="77" name="Rectangle 69">
                <a:extLst>
                  <a:ext uri="{FF2B5EF4-FFF2-40B4-BE49-F238E27FC236}">
                    <a16:creationId xmlns:a16="http://schemas.microsoft.com/office/drawing/2014/main" id="{32E7AF6F-CD53-6EFC-38E8-342B99BEF877}"/>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8" name="Line 70">
                <a:extLst>
                  <a:ext uri="{FF2B5EF4-FFF2-40B4-BE49-F238E27FC236}">
                    <a16:creationId xmlns:a16="http://schemas.microsoft.com/office/drawing/2014/main" id="{90A9B878-8FC8-4E37-BE14-A48692DF8E4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79" name="Text Box 71">
                <a:extLst>
                  <a:ext uri="{FF2B5EF4-FFF2-40B4-BE49-F238E27FC236}">
                    <a16:creationId xmlns:a16="http://schemas.microsoft.com/office/drawing/2014/main" id="{5FE30E67-214B-9B7E-95C0-0201126D259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80" name="Group 72">
                <a:extLst>
                  <a:ext uri="{FF2B5EF4-FFF2-40B4-BE49-F238E27FC236}">
                    <a16:creationId xmlns:a16="http://schemas.microsoft.com/office/drawing/2014/main" id="{F4E27293-127A-B2EB-36A0-E3C7D32220E1}"/>
                  </a:ext>
                </a:extLst>
              </p:cNvPr>
              <p:cNvGrpSpPr>
                <a:grpSpLocks/>
              </p:cNvGrpSpPr>
              <p:nvPr/>
            </p:nvGrpSpPr>
            <p:grpSpPr bwMode="auto">
              <a:xfrm flipV="1">
                <a:off x="8729819" y="4659836"/>
                <a:ext cx="269429" cy="284707"/>
                <a:chOff x="720" y="3354"/>
                <a:chExt cx="192" cy="198"/>
              </a:xfrm>
            </p:grpSpPr>
            <p:sp>
              <p:nvSpPr>
                <p:cNvPr id="82" name="Oval 73">
                  <a:extLst>
                    <a:ext uri="{FF2B5EF4-FFF2-40B4-BE49-F238E27FC236}">
                      <a16:creationId xmlns:a16="http://schemas.microsoft.com/office/drawing/2014/main" id="{7B429B55-8292-0E42-8725-C67E1205C2C8}"/>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3" name="AutoShape 74">
                  <a:extLst>
                    <a:ext uri="{FF2B5EF4-FFF2-40B4-BE49-F238E27FC236}">
                      <a16:creationId xmlns:a16="http://schemas.microsoft.com/office/drawing/2014/main" id="{5879D584-B6D9-5B7A-93FF-3D7B21A1B5C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81" name="Text Box 75">
                <a:extLst>
                  <a:ext uri="{FF2B5EF4-FFF2-40B4-BE49-F238E27FC236}">
                    <a16:creationId xmlns:a16="http://schemas.microsoft.com/office/drawing/2014/main" id="{C984A34C-75D5-4E01-1871-16E33421F1D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73" name="Rectangle 348">
              <a:extLst>
                <a:ext uri="{FF2B5EF4-FFF2-40B4-BE49-F238E27FC236}">
                  <a16:creationId xmlns:a16="http://schemas.microsoft.com/office/drawing/2014/main" id="{8B606053-E5ED-24FC-F66F-FE7D5DAA24A3}"/>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4" name="Text Box 351">
              <a:extLst>
                <a:ext uri="{FF2B5EF4-FFF2-40B4-BE49-F238E27FC236}">
                  <a16:creationId xmlns:a16="http://schemas.microsoft.com/office/drawing/2014/main" id="{783E8EE8-4400-1494-6AA6-360974FE57CD}"/>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75" name="Rectangle 352">
              <a:extLst>
                <a:ext uri="{FF2B5EF4-FFF2-40B4-BE49-F238E27FC236}">
                  <a16:creationId xmlns:a16="http://schemas.microsoft.com/office/drawing/2014/main" id="{5D27A861-6912-2AE2-9A6E-66E5BCAECBE8}"/>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76" name="Rectangle 353">
              <a:extLst>
                <a:ext uri="{FF2B5EF4-FFF2-40B4-BE49-F238E27FC236}">
                  <a16:creationId xmlns:a16="http://schemas.microsoft.com/office/drawing/2014/main" id="{1A671BF4-3E9F-CD7F-AB2D-DB9E372BBCFE}"/>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84" name="Group 83">
            <a:extLst>
              <a:ext uri="{FF2B5EF4-FFF2-40B4-BE49-F238E27FC236}">
                <a16:creationId xmlns:a16="http://schemas.microsoft.com/office/drawing/2014/main" id="{4F4D006C-4755-E50A-49AF-AAE0A094B928}"/>
              </a:ext>
            </a:extLst>
          </p:cNvPr>
          <p:cNvGrpSpPr/>
          <p:nvPr/>
        </p:nvGrpSpPr>
        <p:grpSpPr>
          <a:xfrm>
            <a:off x="3931387" y="4141686"/>
            <a:ext cx="1292924" cy="1389995"/>
            <a:chOff x="8538106" y="4228532"/>
            <a:chExt cx="1292924" cy="1389995"/>
          </a:xfrm>
        </p:grpSpPr>
        <p:grpSp>
          <p:nvGrpSpPr>
            <p:cNvPr id="85" name="Group 84">
              <a:extLst>
                <a:ext uri="{FF2B5EF4-FFF2-40B4-BE49-F238E27FC236}">
                  <a16:creationId xmlns:a16="http://schemas.microsoft.com/office/drawing/2014/main" id="{B04EF189-AB84-8461-368D-D884B394E0F0}"/>
                </a:ext>
              </a:extLst>
            </p:cNvPr>
            <p:cNvGrpSpPr/>
            <p:nvPr/>
          </p:nvGrpSpPr>
          <p:grpSpPr>
            <a:xfrm>
              <a:off x="8550974" y="4228532"/>
              <a:ext cx="1066101" cy="811908"/>
              <a:chOff x="8550974" y="4228532"/>
              <a:chExt cx="1066101" cy="811908"/>
            </a:xfrm>
          </p:grpSpPr>
          <p:sp>
            <p:nvSpPr>
              <p:cNvPr id="90" name="Rectangle 69">
                <a:extLst>
                  <a:ext uri="{FF2B5EF4-FFF2-40B4-BE49-F238E27FC236}">
                    <a16:creationId xmlns:a16="http://schemas.microsoft.com/office/drawing/2014/main" id="{11A4C2DE-2BE8-F835-FD18-5EEB71F62D5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1" name="Line 70">
                <a:extLst>
                  <a:ext uri="{FF2B5EF4-FFF2-40B4-BE49-F238E27FC236}">
                    <a16:creationId xmlns:a16="http://schemas.microsoft.com/office/drawing/2014/main" id="{3C29E8E5-F204-D5C2-FE82-A5B3AF72A60D}"/>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92" name="Text Box 71">
                <a:extLst>
                  <a:ext uri="{FF2B5EF4-FFF2-40B4-BE49-F238E27FC236}">
                    <a16:creationId xmlns:a16="http://schemas.microsoft.com/office/drawing/2014/main" id="{6EE9C6F6-EA45-5CB8-A06D-8F0AABC7D1F7}"/>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93" name="Group 72">
                <a:extLst>
                  <a:ext uri="{FF2B5EF4-FFF2-40B4-BE49-F238E27FC236}">
                    <a16:creationId xmlns:a16="http://schemas.microsoft.com/office/drawing/2014/main" id="{0A725583-0AED-0340-2062-B4025624FE2C}"/>
                  </a:ext>
                </a:extLst>
              </p:cNvPr>
              <p:cNvGrpSpPr>
                <a:grpSpLocks/>
              </p:cNvGrpSpPr>
              <p:nvPr/>
            </p:nvGrpSpPr>
            <p:grpSpPr bwMode="auto">
              <a:xfrm flipV="1">
                <a:off x="8729819" y="4659836"/>
                <a:ext cx="269429" cy="284707"/>
                <a:chOff x="720" y="3354"/>
                <a:chExt cx="192" cy="198"/>
              </a:xfrm>
            </p:grpSpPr>
            <p:sp>
              <p:nvSpPr>
                <p:cNvPr id="95" name="Oval 73">
                  <a:extLst>
                    <a:ext uri="{FF2B5EF4-FFF2-40B4-BE49-F238E27FC236}">
                      <a16:creationId xmlns:a16="http://schemas.microsoft.com/office/drawing/2014/main" id="{E637F862-EEAC-8B0E-7101-1DFEAC49FD0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6" name="AutoShape 74">
                  <a:extLst>
                    <a:ext uri="{FF2B5EF4-FFF2-40B4-BE49-F238E27FC236}">
                      <a16:creationId xmlns:a16="http://schemas.microsoft.com/office/drawing/2014/main" id="{81000134-CDD7-48AA-5A18-8CC913A4266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94" name="Text Box 75">
                <a:extLst>
                  <a:ext uri="{FF2B5EF4-FFF2-40B4-BE49-F238E27FC236}">
                    <a16:creationId xmlns:a16="http://schemas.microsoft.com/office/drawing/2014/main" id="{B8C43A48-2864-2EC3-3F08-0B7F2EC1052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86" name="Rectangle 348">
              <a:extLst>
                <a:ext uri="{FF2B5EF4-FFF2-40B4-BE49-F238E27FC236}">
                  <a16:creationId xmlns:a16="http://schemas.microsoft.com/office/drawing/2014/main" id="{F867715C-A9D5-D4B6-F562-8147510C9B4D}"/>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7" name="Text Box 351">
              <a:extLst>
                <a:ext uri="{FF2B5EF4-FFF2-40B4-BE49-F238E27FC236}">
                  <a16:creationId xmlns:a16="http://schemas.microsoft.com/office/drawing/2014/main" id="{1A45F6B1-0FFC-9DED-AB07-BDF985ADF086}"/>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88" name="Rectangle 352">
              <a:extLst>
                <a:ext uri="{FF2B5EF4-FFF2-40B4-BE49-F238E27FC236}">
                  <a16:creationId xmlns:a16="http://schemas.microsoft.com/office/drawing/2014/main" id="{F40FE0D3-1FF4-56E4-E4CE-5FDD44E7F8A3}"/>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89" name="Rectangle 353">
              <a:extLst>
                <a:ext uri="{FF2B5EF4-FFF2-40B4-BE49-F238E27FC236}">
                  <a16:creationId xmlns:a16="http://schemas.microsoft.com/office/drawing/2014/main" id="{BE7AD41A-ECFE-F0E5-0985-406AE9288BEF}"/>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97" name="Group 96">
            <a:extLst>
              <a:ext uri="{FF2B5EF4-FFF2-40B4-BE49-F238E27FC236}">
                <a16:creationId xmlns:a16="http://schemas.microsoft.com/office/drawing/2014/main" id="{23ADF497-C63D-E163-D0AD-053BD0BE44BB}"/>
              </a:ext>
            </a:extLst>
          </p:cNvPr>
          <p:cNvGrpSpPr/>
          <p:nvPr/>
        </p:nvGrpSpPr>
        <p:grpSpPr>
          <a:xfrm>
            <a:off x="2104685" y="4141686"/>
            <a:ext cx="1292924" cy="1389995"/>
            <a:chOff x="8538106" y="4228532"/>
            <a:chExt cx="1292924" cy="1389995"/>
          </a:xfrm>
        </p:grpSpPr>
        <p:grpSp>
          <p:nvGrpSpPr>
            <p:cNvPr id="98" name="Group 97">
              <a:extLst>
                <a:ext uri="{FF2B5EF4-FFF2-40B4-BE49-F238E27FC236}">
                  <a16:creationId xmlns:a16="http://schemas.microsoft.com/office/drawing/2014/main" id="{7D85C07B-4B8F-127A-7290-10190ABD7038}"/>
                </a:ext>
              </a:extLst>
            </p:cNvPr>
            <p:cNvGrpSpPr/>
            <p:nvPr/>
          </p:nvGrpSpPr>
          <p:grpSpPr>
            <a:xfrm>
              <a:off x="8550974" y="4228532"/>
              <a:ext cx="1066101" cy="811908"/>
              <a:chOff x="8550974" y="4228532"/>
              <a:chExt cx="1066101" cy="811908"/>
            </a:xfrm>
          </p:grpSpPr>
          <p:sp>
            <p:nvSpPr>
              <p:cNvPr id="103" name="Rectangle 69">
                <a:extLst>
                  <a:ext uri="{FF2B5EF4-FFF2-40B4-BE49-F238E27FC236}">
                    <a16:creationId xmlns:a16="http://schemas.microsoft.com/office/drawing/2014/main" id="{A45CABDD-DAF3-FFB4-77D1-C16FC7E4B149}"/>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4" name="Line 70">
                <a:extLst>
                  <a:ext uri="{FF2B5EF4-FFF2-40B4-BE49-F238E27FC236}">
                    <a16:creationId xmlns:a16="http://schemas.microsoft.com/office/drawing/2014/main" id="{C45B0192-7055-93DB-9F12-821A27F3AFD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05" name="Text Box 71">
                <a:extLst>
                  <a:ext uri="{FF2B5EF4-FFF2-40B4-BE49-F238E27FC236}">
                    <a16:creationId xmlns:a16="http://schemas.microsoft.com/office/drawing/2014/main" id="{0C7B08EB-7E82-A5E1-FC5A-4F06708337E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06" name="Group 72">
                <a:extLst>
                  <a:ext uri="{FF2B5EF4-FFF2-40B4-BE49-F238E27FC236}">
                    <a16:creationId xmlns:a16="http://schemas.microsoft.com/office/drawing/2014/main" id="{40C1D66D-F64B-2252-C7CE-8D016B9A7F89}"/>
                  </a:ext>
                </a:extLst>
              </p:cNvPr>
              <p:cNvGrpSpPr>
                <a:grpSpLocks/>
              </p:cNvGrpSpPr>
              <p:nvPr/>
            </p:nvGrpSpPr>
            <p:grpSpPr bwMode="auto">
              <a:xfrm flipV="1">
                <a:off x="8729819" y="4659836"/>
                <a:ext cx="269429" cy="284707"/>
                <a:chOff x="720" y="3354"/>
                <a:chExt cx="192" cy="198"/>
              </a:xfrm>
            </p:grpSpPr>
            <p:sp>
              <p:nvSpPr>
                <p:cNvPr id="108" name="Oval 73">
                  <a:extLst>
                    <a:ext uri="{FF2B5EF4-FFF2-40B4-BE49-F238E27FC236}">
                      <a16:creationId xmlns:a16="http://schemas.microsoft.com/office/drawing/2014/main" id="{8FF10D12-AD43-3822-C7C0-CFDFC5B418B6}"/>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9" name="AutoShape 74">
                  <a:extLst>
                    <a:ext uri="{FF2B5EF4-FFF2-40B4-BE49-F238E27FC236}">
                      <a16:creationId xmlns:a16="http://schemas.microsoft.com/office/drawing/2014/main" id="{11BF39DC-4B30-96F6-458B-65570EC8FF2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07" name="Text Box 75">
                <a:extLst>
                  <a:ext uri="{FF2B5EF4-FFF2-40B4-BE49-F238E27FC236}">
                    <a16:creationId xmlns:a16="http://schemas.microsoft.com/office/drawing/2014/main" id="{B806CCD6-C870-3E7D-ED0A-E2FACD45F24A}"/>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99" name="Rectangle 348">
              <a:extLst>
                <a:ext uri="{FF2B5EF4-FFF2-40B4-BE49-F238E27FC236}">
                  <a16:creationId xmlns:a16="http://schemas.microsoft.com/office/drawing/2014/main" id="{557C7A40-C94B-8644-6371-D6B90716E410}"/>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Text Box 351">
              <a:extLst>
                <a:ext uri="{FF2B5EF4-FFF2-40B4-BE49-F238E27FC236}">
                  <a16:creationId xmlns:a16="http://schemas.microsoft.com/office/drawing/2014/main" id="{40C1F2B4-33DE-B136-8C3A-0602EF6CFFBD}"/>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01" name="Rectangle 352">
              <a:extLst>
                <a:ext uri="{FF2B5EF4-FFF2-40B4-BE49-F238E27FC236}">
                  <a16:creationId xmlns:a16="http://schemas.microsoft.com/office/drawing/2014/main" id="{535A73AD-3609-EC8E-0F1E-BDD6FD88372F}"/>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2" name="Rectangle 353">
              <a:extLst>
                <a:ext uri="{FF2B5EF4-FFF2-40B4-BE49-F238E27FC236}">
                  <a16:creationId xmlns:a16="http://schemas.microsoft.com/office/drawing/2014/main" id="{681ED7B8-3251-7EDE-CF63-7551D16DE863}"/>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10" name="Group 109">
            <a:extLst>
              <a:ext uri="{FF2B5EF4-FFF2-40B4-BE49-F238E27FC236}">
                <a16:creationId xmlns:a16="http://schemas.microsoft.com/office/drawing/2014/main" id="{529FCCCF-E158-CF19-BA00-0CD4ED98535F}"/>
              </a:ext>
            </a:extLst>
          </p:cNvPr>
          <p:cNvGrpSpPr/>
          <p:nvPr/>
        </p:nvGrpSpPr>
        <p:grpSpPr>
          <a:xfrm>
            <a:off x="3118106" y="4570752"/>
            <a:ext cx="846864" cy="925512"/>
            <a:chOff x="2588968" y="4639120"/>
            <a:chExt cx="685800" cy="925512"/>
          </a:xfrm>
        </p:grpSpPr>
        <p:sp>
          <p:nvSpPr>
            <p:cNvPr id="111" name="Line 266">
              <a:extLst>
                <a:ext uri="{FF2B5EF4-FFF2-40B4-BE49-F238E27FC236}">
                  <a16:creationId xmlns:a16="http://schemas.microsoft.com/office/drawing/2014/main" id="{F19A03F2-E14D-59BB-8B22-981CB3DB9CFA}"/>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2" name="Text Box 270">
              <a:extLst>
                <a:ext uri="{FF2B5EF4-FFF2-40B4-BE49-F238E27FC236}">
                  <a16:creationId xmlns:a16="http://schemas.microsoft.com/office/drawing/2014/main" id="{7C1E4211-9250-EE19-1079-58D78ABB853F}"/>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113" name="Group 361">
              <a:extLst>
                <a:ext uri="{FF2B5EF4-FFF2-40B4-BE49-F238E27FC236}">
                  <a16:creationId xmlns:a16="http://schemas.microsoft.com/office/drawing/2014/main" id="{10960F2A-580F-9AF1-3534-13D29146A237}"/>
                </a:ext>
              </a:extLst>
            </p:cNvPr>
            <p:cNvGrpSpPr>
              <a:grpSpLocks/>
            </p:cNvGrpSpPr>
            <p:nvPr/>
          </p:nvGrpSpPr>
          <p:grpSpPr bwMode="auto">
            <a:xfrm>
              <a:off x="2725493" y="4639120"/>
              <a:ext cx="381000" cy="336550"/>
              <a:chOff x="4122" y="1171"/>
              <a:chExt cx="240" cy="212"/>
            </a:xfrm>
          </p:grpSpPr>
          <p:sp>
            <p:nvSpPr>
              <p:cNvPr id="118" name="Rectangle 362">
                <a:extLst>
                  <a:ext uri="{FF2B5EF4-FFF2-40B4-BE49-F238E27FC236}">
                    <a16:creationId xmlns:a16="http://schemas.microsoft.com/office/drawing/2014/main" id="{C17E9A1A-4BDF-8DFE-39E1-D83A33005A5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9" name="Text Box 363">
                <a:extLst>
                  <a:ext uri="{FF2B5EF4-FFF2-40B4-BE49-F238E27FC236}">
                    <a16:creationId xmlns:a16="http://schemas.microsoft.com/office/drawing/2014/main" id="{C78B11AD-50D2-120F-966D-E348ADEF3F3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20" name="AutoShape 364">
                <a:extLst>
                  <a:ext uri="{FF2B5EF4-FFF2-40B4-BE49-F238E27FC236}">
                    <a16:creationId xmlns:a16="http://schemas.microsoft.com/office/drawing/2014/main" id="{12DE3974-A1C4-479A-F4B3-328E8F46532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1" name="AutoShape 365">
                <a:extLst>
                  <a:ext uri="{FF2B5EF4-FFF2-40B4-BE49-F238E27FC236}">
                    <a16:creationId xmlns:a16="http://schemas.microsoft.com/office/drawing/2014/main" id="{AAED1478-4F01-1777-20B6-53C692266AE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2" name="AutoShape 366">
                <a:extLst>
                  <a:ext uri="{FF2B5EF4-FFF2-40B4-BE49-F238E27FC236}">
                    <a16:creationId xmlns:a16="http://schemas.microsoft.com/office/drawing/2014/main" id="{7C0B7E65-31D5-9D68-1B33-117F80DFE1C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14" name="Group 391">
              <a:extLst>
                <a:ext uri="{FF2B5EF4-FFF2-40B4-BE49-F238E27FC236}">
                  <a16:creationId xmlns:a16="http://schemas.microsoft.com/office/drawing/2014/main" id="{E12B0F96-A97E-1242-0B89-07760C634D83}"/>
                </a:ext>
              </a:extLst>
            </p:cNvPr>
            <p:cNvGrpSpPr>
              <a:grpSpLocks/>
            </p:cNvGrpSpPr>
            <p:nvPr/>
          </p:nvGrpSpPr>
          <p:grpSpPr bwMode="auto">
            <a:xfrm>
              <a:off x="2725493" y="5009007"/>
              <a:ext cx="381000" cy="533400"/>
              <a:chOff x="576" y="1200"/>
              <a:chExt cx="240" cy="336"/>
            </a:xfrm>
          </p:grpSpPr>
          <p:sp>
            <p:nvSpPr>
              <p:cNvPr id="115" name="Rectangle 392">
                <a:extLst>
                  <a:ext uri="{FF2B5EF4-FFF2-40B4-BE49-F238E27FC236}">
                    <a16:creationId xmlns:a16="http://schemas.microsoft.com/office/drawing/2014/main" id="{734DFAE6-0D8B-2434-EAB2-872B8C0799D8}"/>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6" name="Line 393">
                <a:extLst>
                  <a:ext uri="{FF2B5EF4-FFF2-40B4-BE49-F238E27FC236}">
                    <a16:creationId xmlns:a16="http://schemas.microsoft.com/office/drawing/2014/main" id="{A561DCB0-BFE3-3857-4B9E-F634CDE09CFE}"/>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7" name="Line 394">
                <a:extLst>
                  <a:ext uri="{FF2B5EF4-FFF2-40B4-BE49-F238E27FC236}">
                    <a16:creationId xmlns:a16="http://schemas.microsoft.com/office/drawing/2014/main" id="{B2BB2E98-54E2-B80B-D7C0-5CD70350DEE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23" name="Group 122">
            <a:extLst>
              <a:ext uri="{FF2B5EF4-FFF2-40B4-BE49-F238E27FC236}">
                <a16:creationId xmlns:a16="http://schemas.microsoft.com/office/drawing/2014/main" id="{5F33E7CC-DF6A-DF3B-47CD-84B6EDB2FEEF}"/>
              </a:ext>
            </a:extLst>
          </p:cNvPr>
          <p:cNvGrpSpPr/>
          <p:nvPr/>
        </p:nvGrpSpPr>
        <p:grpSpPr>
          <a:xfrm>
            <a:off x="5051250" y="4577329"/>
            <a:ext cx="717482" cy="931862"/>
            <a:chOff x="4046293" y="4639120"/>
            <a:chExt cx="581025" cy="931862"/>
          </a:xfrm>
        </p:grpSpPr>
        <p:sp>
          <p:nvSpPr>
            <p:cNvPr id="124" name="Line 265">
              <a:extLst>
                <a:ext uri="{FF2B5EF4-FFF2-40B4-BE49-F238E27FC236}">
                  <a16:creationId xmlns:a16="http://schemas.microsoft.com/office/drawing/2014/main" id="{56795B62-F5AE-05B1-9D40-5B1C7506E6FC}"/>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25" name="Text Box 277">
              <a:extLst>
                <a:ext uri="{FF2B5EF4-FFF2-40B4-BE49-F238E27FC236}">
                  <a16:creationId xmlns:a16="http://schemas.microsoft.com/office/drawing/2014/main" id="{463A480C-4F10-585C-E7E0-6E4DF9010704}"/>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126" name="Group 367">
              <a:extLst>
                <a:ext uri="{FF2B5EF4-FFF2-40B4-BE49-F238E27FC236}">
                  <a16:creationId xmlns:a16="http://schemas.microsoft.com/office/drawing/2014/main" id="{C44CA709-EC5F-3E26-0D31-9D16C60220FD}"/>
                </a:ext>
              </a:extLst>
            </p:cNvPr>
            <p:cNvGrpSpPr>
              <a:grpSpLocks/>
            </p:cNvGrpSpPr>
            <p:nvPr/>
          </p:nvGrpSpPr>
          <p:grpSpPr bwMode="auto">
            <a:xfrm>
              <a:off x="4078043" y="4639120"/>
              <a:ext cx="381000" cy="336550"/>
              <a:chOff x="4122" y="1171"/>
              <a:chExt cx="240" cy="212"/>
            </a:xfrm>
          </p:grpSpPr>
          <p:sp>
            <p:nvSpPr>
              <p:cNvPr id="131" name="Rectangle 368">
                <a:extLst>
                  <a:ext uri="{FF2B5EF4-FFF2-40B4-BE49-F238E27FC236}">
                    <a16:creationId xmlns:a16="http://schemas.microsoft.com/office/drawing/2014/main" id="{EC1F882A-A2BC-A833-DE9E-D4132492E425}"/>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2" name="Text Box 369">
                <a:extLst>
                  <a:ext uri="{FF2B5EF4-FFF2-40B4-BE49-F238E27FC236}">
                    <a16:creationId xmlns:a16="http://schemas.microsoft.com/office/drawing/2014/main" id="{D45072F4-CC89-90E2-A261-74099150838F}"/>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33" name="AutoShape 370">
                <a:extLst>
                  <a:ext uri="{FF2B5EF4-FFF2-40B4-BE49-F238E27FC236}">
                    <a16:creationId xmlns:a16="http://schemas.microsoft.com/office/drawing/2014/main" id="{810D369F-DF83-A3EF-E53E-F07654A671EB}"/>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4" name="AutoShape 371">
                <a:extLst>
                  <a:ext uri="{FF2B5EF4-FFF2-40B4-BE49-F238E27FC236}">
                    <a16:creationId xmlns:a16="http://schemas.microsoft.com/office/drawing/2014/main" id="{00D69573-5866-AB2D-143D-ACA159C1185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5" name="AutoShape 372">
                <a:extLst>
                  <a:ext uri="{FF2B5EF4-FFF2-40B4-BE49-F238E27FC236}">
                    <a16:creationId xmlns:a16="http://schemas.microsoft.com/office/drawing/2014/main" id="{FD52C466-7FC4-A2AD-F2E3-CCC621EA8C1C}"/>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27" name="Group 395">
              <a:extLst>
                <a:ext uri="{FF2B5EF4-FFF2-40B4-BE49-F238E27FC236}">
                  <a16:creationId xmlns:a16="http://schemas.microsoft.com/office/drawing/2014/main" id="{CC486251-E5B4-712C-A4D8-A2CFCED8F82C}"/>
                </a:ext>
              </a:extLst>
            </p:cNvPr>
            <p:cNvGrpSpPr>
              <a:grpSpLocks/>
            </p:cNvGrpSpPr>
            <p:nvPr/>
          </p:nvGrpSpPr>
          <p:grpSpPr bwMode="auto">
            <a:xfrm>
              <a:off x="4078043" y="5009007"/>
              <a:ext cx="381000" cy="533400"/>
              <a:chOff x="576" y="1200"/>
              <a:chExt cx="240" cy="336"/>
            </a:xfrm>
          </p:grpSpPr>
          <p:sp>
            <p:nvSpPr>
              <p:cNvPr id="128" name="Rectangle 396">
                <a:extLst>
                  <a:ext uri="{FF2B5EF4-FFF2-40B4-BE49-F238E27FC236}">
                    <a16:creationId xmlns:a16="http://schemas.microsoft.com/office/drawing/2014/main" id="{10CB8B73-9A1B-2DC9-845E-84DEE6A24B7B}"/>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9" name="Line 397">
                <a:extLst>
                  <a:ext uri="{FF2B5EF4-FFF2-40B4-BE49-F238E27FC236}">
                    <a16:creationId xmlns:a16="http://schemas.microsoft.com/office/drawing/2014/main" id="{E5B657F8-D24D-BCDB-6A94-5F58C0064242}"/>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0" name="Line 398">
                <a:extLst>
                  <a:ext uri="{FF2B5EF4-FFF2-40B4-BE49-F238E27FC236}">
                    <a16:creationId xmlns:a16="http://schemas.microsoft.com/office/drawing/2014/main" id="{F40864E2-BEDE-EC5A-922F-7730D06E14F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36" name="Group 135">
            <a:extLst>
              <a:ext uri="{FF2B5EF4-FFF2-40B4-BE49-F238E27FC236}">
                <a16:creationId xmlns:a16="http://schemas.microsoft.com/office/drawing/2014/main" id="{70E88972-F40F-DFC3-45F8-C2960B4DDEE5}"/>
              </a:ext>
            </a:extLst>
          </p:cNvPr>
          <p:cNvGrpSpPr/>
          <p:nvPr/>
        </p:nvGrpSpPr>
        <p:grpSpPr>
          <a:xfrm>
            <a:off x="6759608" y="4525695"/>
            <a:ext cx="719443" cy="903287"/>
            <a:chOff x="6585196" y="4639120"/>
            <a:chExt cx="582613" cy="903287"/>
          </a:xfrm>
        </p:grpSpPr>
        <p:sp>
          <p:nvSpPr>
            <p:cNvPr id="137" name="Line 264">
              <a:extLst>
                <a:ext uri="{FF2B5EF4-FFF2-40B4-BE49-F238E27FC236}">
                  <a16:creationId xmlns:a16="http://schemas.microsoft.com/office/drawing/2014/main" id="{A467A91A-0EA9-B587-27D9-F19EFD1A3256}"/>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8" name="Text Box 271">
              <a:extLst>
                <a:ext uri="{FF2B5EF4-FFF2-40B4-BE49-F238E27FC236}">
                  <a16:creationId xmlns:a16="http://schemas.microsoft.com/office/drawing/2014/main" id="{EAC6D14C-D268-C622-9D8C-7F77796FB92B}"/>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139" name="Group 373">
              <a:extLst>
                <a:ext uri="{FF2B5EF4-FFF2-40B4-BE49-F238E27FC236}">
                  <a16:creationId xmlns:a16="http://schemas.microsoft.com/office/drawing/2014/main" id="{A9C0C473-0FED-2F00-0A18-E8A1B4E75942}"/>
                </a:ext>
              </a:extLst>
            </p:cNvPr>
            <p:cNvGrpSpPr>
              <a:grpSpLocks/>
            </p:cNvGrpSpPr>
            <p:nvPr/>
          </p:nvGrpSpPr>
          <p:grpSpPr bwMode="auto">
            <a:xfrm>
              <a:off x="6632821" y="4639120"/>
              <a:ext cx="381000" cy="336550"/>
              <a:chOff x="4122" y="1171"/>
              <a:chExt cx="240" cy="212"/>
            </a:xfrm>
          </p:grpSpPr>
          <p:sp>
            <p:nvSpPr>
              <p:cNvPr id="144" name="Rectangle 374">
                <a:extLst>
                  <a:ext uri="{FF2B5EF4-FFF2-40B4-BE49-F238E27FC236}">
                    <a16:creationId xmlns:a16="http://schemas.microsoft.com/office/drawing/2014/main" id="{5B8A46D3-5556-161F-C10A-DC1E73C8CE69}"/>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5" name="Text Box 375">
                <a:extLst>
                  <a:ext uri="{FF2B5EF4-FFF2-40B4-BE49-F238E27FC236}">
                    <a16:creationId xmlns:a16="http://schemas.microsoft.com/office/drawing/2014/main" id="{82935845-0425-50BE-5075-90A1B03C13B0}"/>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46" name="AutoShape 376">
                <a:extLst>
                  <a:ext uri="{FF2B5EF4-FFF2-40B4-BE49-F238E27FC236}">
                    <a16:creationId xmlns:a16="http://schemas.microsoft.com/office/drawing/2014/main" id="{48A456CC-4060-BD3B-A16C-942C1FDE0BB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7" name="AutoShape 377">
                <a:extLst>
                  <a:ext uri="{FF2B5EF4-FFF2-40B4-BE49-F238E27FC236}">
                    <a16:creationId xmlns:a16="http://schemas.microsoft.com/office/drawing/2014/main" id="{76CE6BDA-5934-5604-9CF0-C9A16DDD1EA4}"/>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8" name="AutoShape 378">
                <a:extLst>
                  <a:ext uri="{FF2B5EF4-FFF2-40B4-BE49-F238E27FC236}">
                    <a16:creationId xmlns:a16="http://schemas.microsoft.com/office/drawing/2014/main" id="{B321AEA6-74BA-F1B1-5968-8F2724AED88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40" name="Group 399">
              <a:extLst>
                <a:ext uri="{FF2B5EF4-FFF2-40B4-BE49-F238E27FC236}">
                  <a16:creationId xmlns:a16="http://schemas.microsoft.com/office/drawing/2014/main" id="{F0057245-EFC3-CEC7-86EF-63A69A50B533}"/>
                </a:ext>
              </a:extLst>
            </p:cNvPr>
            <p:cNvGrpSpPr>
              <a:grpSpLocks/>
            </p:cNvGrpSpPr>
            <p:nvPr/>
          </p:nvGrpSpPr>
          <p:grpSpPr bwMode="auto">
            <a:xfrm>
              <a:off x="6632821" y="5009007"/>
              <a:ext cx="381000" cy="533400"/>
              <a:chOff x="576" y="1200"/>
              <a:chExt cx="240" cy="336"/>
            </a:xfrm>
          </p:grpSpPr>
          <p:sp>
            <p:nvSpPr>
              <p:cNvPr id="141" name="Rectangle 400">
                <a:extLst>
                  <a:ext uri="{FF2B5EF4-FFF2-40B4-BE49-F238E27FC236}">
                    <a16:creationId xmlns:a16="http://schemas.microsoft.com/office/drawing/2014/main" id="{766AC24D-C543-44B9-F418-626D1B56395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2" name="Line 401">
                <a:extLst>
                  <a:ext uri="{FF2B5EF4-FFF2-40B4-BE49-F238E27FC236}">
                    <a16:creationId xmlns:a16="http://schemas.microsoft.com/office/drawing/2014/main" id="{9B6CCF94-6BA4-C8B2-A945-5468A5B7CA2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43" name="Line 402">
                <a:extLst>
                  <a:ext uri="{FF2B5EF4-FFF2-40B4-BE49-F238E27FC236}">
                    <a16:creationId xmlns:a16="http://schemas.microsoft.com/office/drawing/2014/main" id="{69B23C2E-9B9C-8EB0-486E-258A8953FA3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49" name="Group 148">
            <a:extLst>
              <a:ext uri="{FF2B5EF4-FFF2-40B4-BE49-F238E27FC236}">
                <a16:creationId xmlns:a16="http://schemas.microsoft.com/office/drawing/2014/main" id="{82A9F170-A9B8-619E-52FB-F2F2389BBBE8}"/>
              </a:ext>
            </a:extLst>
          </p:cNvPr>
          <p:cNvGrpSpPr/>
          <p:nvPr/>
        </p:nvGrpSpPr>
        <p:grpSpPr>
          <a:xfrm>
            <a:off x="8539553" y="4504949"/>
            <a:ext cx="764530" cy="938212"/>
            <a:chOff x="8456859" y="4639120"/>
            <a:chExt cx="619125" cy="938212"/>
          </a:xfrm>
        </p:grpSpPr>
        <p:sp>
          <p:nvSpPr>
            <p:cNvPr id="150" name="Line 263">
              <a:extLst>
                <a:ext uri="{FF2B5EF4-FFF2-40B4-BE49-F238E27FC236}">
                  <a16:creationId xmlns:a16="http://schemas.microsoft.com/office/drawing/2014/main" id="{0FC9A3CD-CD8B-CB3C-3360-D1F36756B9DD}"/>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1" name="Text Box 268">
              <a:extLst>
                <a:ext uri="{FF2B5EF4-FFF2-40B4-BE49-F238E27FC236}">
                  <a16:creationId xmlns:a16="http://schemas.microsoft.com/office/drawing/2014/main" id="{2C36D2F6-4C8B-382C-F293-1CDE8AE6FD9E}"/>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152" name="Group 379">
              <a:extLst>
                <a:ext uri="{FF2B5EF4-FFF2-40B4-BE49-F238E27FC236}">
                  <a16:creationId xmlns:a16="http://schemas.microsoft.com/office/drawing/2014/main" id="{C9259B0D-6B5E-EA32-672E-DD4CED7FFF39}"/>
                </a:ext>
              </a:extLst>
            </p:cNvPr>
            <p:cNvGrpSpPr>
              <a:grpSpLocks/>
            </p:cNvGrpSpPr>
            <p:nvPr/>
          </p:nvGrpSpPr>
          <p:grpSpPr bwMode="auto">
            <a:xfrm>
              <a:off x="8536234" y="4639120"/>
              <a:ext cx="381000" cy="336550"/>
              <a:chOff x="4122" y="1171"/>
              <a:chExt cx="240" cy="212"/>
            </a:xfrm>
          </p:grpSpPr>
          <p:sp>
            <p:nvSpPr>
              <p:cNvPr id="157" name="Rectangle 380">
                <a:extLst>
                  <a:ext uri="{FF2B5EF4-FFF2-40B4-BE49-F238E27FC236}">
                    <a16:creationId xmlns:a16="http://schemas.microsoft.com/office/drawing/2014/main" id="{F59461B4-9336-0C18-C3CC-6BDE7E5A95C3}"/>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8" name="Text Box 381">
                <a:extLst>
                  <a:ext uri="{FF2B5EF4-FFF2-40B4-BE49-F238E27FC236}">
                    <a16:creationId xmlns:a16="http://schemas.microsoft.com/office/drawing/2014/main" id="{D8A76296-D7BF-1BCA-2181-6C1108672F2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59" name="AutoShape 382">
                <a:extLst>
                  <a:ext uri="{FF2B5EF4-FFF2-40B4-BE49-F238E27FC236}">
                    <a16:creationId xmlns:a16="http://schemas.microsoft.com/office/drawing/2014/main" id="{9D4CE479-0D97-A255-8421-DD3C3862ABD3}"/>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0" name="AutoShape 383">
                <a:extLst>
                  <a:ext uri="{FF2B5EF4-FFF2-40B4-BE49-F238E27FC236}">
                    <a16:creationId xmlns:a16="http://schemas.microsoft.com/office/drawing/2014/main" id="{35A23AF6-0E86-E535-BBCC-792CAB9310A2}"/>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1" name="AutoShape 384">
                <a:extLst>
                  <a:ext uri="{FF2B5EF4-FFF2-40B4-BE49-F238E27FC236}">
                    <a16:creationId xmlns:a16="http://schemas.microsoft.com/office/drawing/2014/main" id="{0253C8E2-0D00-C4D1-12AF-DEAECEAE1E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53" name="Group 403">
              <a:extLst>
                <a:ext uri="{FF2B5EF4-FFF2-40B4-BE49-F238E27FC236}">
                  <a16:creationId xmlns:a16="http://schemas.microsoft.com/office/drawing/2014/main" id="{FE328443-E9BA-9DD7-CC32-6E6A5BE8AD16}"/>
                </a:ext>
              </a:extLst>
            </p:cNvPr>
            <p:cNvGrpSpPr>
              <a:grpSpLocks/>
            </p:cNvGrpSpPr>
            <p:nvPr/>
          </p:nvGrpSpPr>
          <p:grpSpPr bwMode="auto">
            <a:xfrm>
              <a:off x="8536234" y="5009007"/>
              <a:ext cx="381000" cy="533400"/>
              <a:chOff x="576" y="1200"/>
              <a:chExt cx="240" cy="336"/>
            </a:xfrm>
          </p:grpSpPr>
          <p:sp>
            <p:nvSpPr>
              <p:cNvPr id="154" name="Rectangle 404">
                <a:extLst>
                  <a:ext uri="{FF2B5EF4-FFF2-40B4-BE49-F238E27FC236}">
                    <a16:creationId xmlns:a16="http://schemas.microsoft.com/office/drawing/2014/main" id="{CC731A7F-D618-4FBD-E69C-685845B563A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5" name="Line 405">
                <a:extLst>
                  <a:ext uri="{FF2B5EF4-FFF2-40B4-BE49-F238E27FC236}">
                    <a16:creationId xmlns:a16="http://schemas.microsoft.com/office/drawing/2014/main" id="{BBA2B7B5-106D-4DD6-DB61-589AD7810E6A}"/>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6" name="Line 406">
                <a:extLst>
                  <a:ext uri="{FF2B5EF4-FFF2-40B4-BE49-F238E27FC236}">
                    <a16:creationId xmlns:a16="http://schemas.microsoft.com/office/drawing/2014/main" id="{AC542A9F-C50A-D6F3-36A6-65EB08FF370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62" name="Group 161">
            <a:extLst>
              <a:ext uri="{FF2B5EF4-FFF2-40B4-BE49-F238E27FC236}">
                <a16:creationId xmlns:a16="http://schemas.microsoft.com/office/drawing/2014/main" id="{60B9F661-B569-B40D-734F-E61CCE50CB8B}"/>
              </a:ext>
            </a:extLst>
          </p:cNvPr>
          <p:cNvGrpSpPr/>
          <p:nvPr/>
        </p:nvGrpSpPr>
        <p:grpSpPr>
          <a:xfrm>
            <a:off x="1324922" y="4525695"/>
            <a:ext cx="770410" cy="935037"/>
            <a:chOff x="1231656" y="4639120"/>
            <a:chExt cx="623887" cy="935037"/>
          </a:xfrm>
        </p:grpSpPr>
        <p:sp>
          <p:nvSpPr>
            <p:cNvPr id="163" name="Line 267">
              <a:extLst>
                <a:ext uri="{FF2B5EF4-FFF2-40B4-BE49-F238E27FC236}">
                  <a16:creationId xmlns:a16="http://schemas.microsoft.com/office/drawing/2014/main" id="{9DC8F749-3868-2F38-53D6-13BEEDA5D900}"/>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4" name="Text Box 269">
              <a:extLst>
                <a:ext uri="{FF2B5EF4-FFF2-40B4-BE49-F238E27FC236}">
                  <a16:creationId xmlns:a16="http://schemas.microsoft.com/office/drawing/2014/main" id="{8BEA62A3-D7EC-9836-A348-0F0F0047E01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165" name="Group 360">
              <a:extLst>
                <a:ext uri="{FF2B5EF4-FFF2-40B4-BE49-F238E27FC236}">
                  <a16:creationId xmlns:a16="http://schemas.microsoft.com/office/drawing/2014/main" id="{B9714003-116A-3C41-0FFF-B6C7D1B7EEBD}"/>
                </a:ext>
              </a:extLst>
            </p:cNvPr>
            <p:cNvGrpSpPr>
              <a:grpSpLocks/>
            </p:cNvGrpSpPr>
            <p:nvPr/>
          </p:nvGrpSpPr>
          <p:grpSpPr bwMode="auto">
            <a:xfrm>
              <a:off x="1325318" y="4639120"/>
              <a:ext cx="381000" cy="336550"/>
              <a:chOff x="4122" y="1171"/>
              <a:chExt cx="240" cy="212"/>
            </a:xfrm>
          </p:grpSpPr>
          <p:sp>
            <p:nvSpPr>
              <p:cNvPr id="170" name="Rectangle 355">
                <a:extLst>
                  <a:ext uri="{FF2B5EF4-FFF2-40B4-BE49-F238E27FC236}">
                    <a16:creationId xmlns:a16="http://schemas.microsoft.com/office/drawing/2014/main" id="{6385ED8C-4044-4C5C-8424-9C3D74A21B86}"/>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1" name="Text Box 356">
                <a:extLst>
                  <a:ext uri="{FF2B5EF4-FFF2-40B4-BE49-F238E27FC236}">
                    <a16:creationId xmlns:a16="http://schemas.microsoft.com/office/drawing/2014/main" id="{8ACDB65F-E25E-69FC-6D37-85262C481BCF}"/>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72" name="AutoShape 357">
                <a:extLst>
                  <a:ext uri="{FF2B5EF4-FFF2-40B4-BE49-F238E27FC236}">
                    <a16:creationId xmlns:a16="http://schemas.microsoft.com/office/drawing/2014/main" id="{0BD465BF-8F0A-F67E-4C20-C678565019D6}"/>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3" name="AutoShape 358">
                <a:extLst>
                  <a:ext uri="{FF2B5EF4-FFF2-40B4-BE49-F238E27FC236}">
                    <a16:creationId xmlns:a16="http://schemas.microsoft.com/office/drawing/2014/main" id="{D33B76AC-5938-AD02-CBBE-6B328F17952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4" name="AutoShape 359">
                <a:extLst>
                  <a:ext uri="{FF2B5EF4-FFF2-40B4-BE49-F238E27FC236}">
                    <a16:creationId xmlns:a16="http://schemas.microsoft.com/office/drawing/2014/main" id="{9A31C3E1-AFD9-B65E-BFB6-2A739607994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166" name="Group 407">
              <a:extLst>
                <a:ext uri="{FF2B5EF4-FFF2-40B4-BE49-F238E27FC236}">
                  <a16:creationId xmlns:a16="http://schemas.microsoft.com/office/drawing/2014/main" id="{FEAEA609-AF9C-A2CF-BC3C-E8FE1AFC97CC}"/>
                </a:ext>
              </a:extLst>
            </p:cNvPr>
            <p:cNvGrpSpPr>
              <a:grpSpLocks/>
            </p:cNvGrpSpPr>
            <p:nvPr/>
          </p:nvGrpSpPr>
          <p:grpSpPr bwMode="auto">
            <a:xfrm>
              <a:off x="1315793" y="5009007"/>
              <a:ext cx="381000" cy="533400"/>
              <a:chOff x="576" y="1200"/>
              <a:chExt cx="240" cy="336"/>
            </a:xfrm>
          </p:grpSpPr>
          <p:sp>
            <p:nvSpPr>
              <p:cNvPr id="167" name="Rectangle 408">
                <a:extLst>
                  <a:ext uri="{FF2B5EF4-FFF2-40B4-BE49-F238E27FC236}">
                    <a16:creationId xmlns:a16="http://schemas.microsoft.com/office/drawing/2014/main" id="{7E72F648-D2B7-37D5-F541-4681AD03F66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8" name="Line 409">
                <a:extLst>
                  <a:ext uri="{FF2B5EF4-FFF2-40B4-BE49-F238E27FC236}">
                    <a16:creationId xmlns:a16="http://schemas.microsoft.com/office/drawing/2014/main" id="{0B4A3764-11E5-23E3-FD84-CAAEF84212F3}"/>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9" name="Line 410">
                <a:extLst>
                  <a:ext uri="{FF2B5EF4-FFF2-40B4-BE49-F238E27FC236}">
                    <a16:creationId xmlns:a16="http://schemas.microsoft.com/office/drawing/2014/main" id="{27435632-AF9F-84DF-7071-7A37C60B7204}"/>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sp>
        <p:nvSpPr>
          <p:cNvPr id="184" name="Line 129">
            <a:extLst>
              <a:ext uri="{FF2B5EF4-FFF2-40B4-BE49-F238E27FC236}">
                <a16:creationId xmlns:a16="http://schemas.microsoft.com/office/drawing/2014/main" id="{0446C84D-A5FD-7AFA-31AE-6722536DF849}"/>
              </a:ext>
            </a:extLst>
          </p:cNvPr>
          <p:cNvSpPr>
            <a:spLocks noChangeShapeType="1"/>
          </p:cNvSpPr>
          <p:nvPr/>
        </p:nvSpPr>
        <p:spPr bwMode="auto">
          <a:xfrm>
            <a:off x="1324922" y="5619750"/>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5" name="Line 130">
            <a:extLst>
              <a:ext uri="{FF2B5EF4-FFF2-40B4-BE49-F238E27FC236}">
                <a16:creationId xmlns:a16="http://schemas.microsoft.com/office/drawing/2014/main" id="{8B6B9745-5CE0-EFDC-8B39-B7147B679D8A}"/>
              </a:ext>
            </a:extLst>
          </p:cNvPr>
          <p:cNvSpPr>
            <a:spLocks noChangeShapeType="1"/>
          </p:cNvSpPr>
          <p:nvPr/>
        </p:nvSpPr>
        <p:spPr bwMode="auto">
          <a:xfrm>
            <a:off x="2133013" y="5644092"/>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86" name="Line 131">
            <a:extLst>
              <a:ext uri="{FF2B5EF4-FFF2-40B4-BE49-F238E27FC236}">
                <a16:creationId xmlns:a16="http://schemas.microsoft.com/office/drawing/2014/main" id="{374AE39B-9DBF-8340-7D97-9CBB6BAC73F9}"/>
              </a:ext>
            </a:extLst>
          </p:cNvPr>
          <p:cNvSpPr>
            <a:spLocks noChangeShapeType="1"/>
          </p:cNvSpPr>
          <p:nvPr/>
        </p:nvSpPr>
        <p:spPr bwMode="auto">
          <a:xfrm flipV="1">
            <a:off x="2139245" y="5800724"/>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7" name="Line 132">
            <a:extLst>
              <a:ext uri="{FF2B5EF4-FFF2-40B4-BE49-F238E27FC236}">
                <a16:creationId xmlns:a16="http://schemas.microsoft.com/office/drawing/2014/main" id="{3CA73C82-CE88-038C-6CB4-63A7885A5B02}"/>
              </a:ext>
            </a:extLst>
          </p:cNvPr>
          <p:cNvSpPr>
            <a:spLocks noChangeShapeType="1"/>
          </p:cNvSpPr>
          <p:nvPr/>
        </p:nvSpPr>
        <p:spPr bwMode="auto">
          <a:xfrm flipV="1">
            <a:off x="3179578" y="5629275"/>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8" name="Line 133">
            <a:extLst>
              <a:ext uri="{FF2B5EF4-FFF2-40B4-BE49-F238E27FC236}">
                <a16:creationId xmlns:a16="http://schemas.microsoft.com/office/drawing/2014/main" id="{3CCE1231-3C78-620A-B132-DA88F94EEC23}"/>
              </a:ext>
            </a:extLst>
          </p:cNvPr>
          <p:cNvSpPr>
            <a:spLocks noChangeShapeType="1"/>
          </p:cNvSpPr>
          <p:nvPr/>
        </p:nvSpPr>
        <p:spPr bwMode="auto">
          <a:xfrm>
            <a:off x="3183654" y="5629275"/>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9" name="Line 134">
            <a:extLst>
              <a:ext uri="{FF2B5EF4-FFF2-40B4-BE49-F238E27FC236}">
                <a16:creationId xmlns:a16="http://schemas.microsoft.com/office/drawing/2014/main" id="{A779B45D-36C0-3617-9F73-99871BE177D1}"/>
              </a:ext>
            </a:extLst>
          </p:cNvPr>
          <p:cNvSpPr>
            <a:spLocks noChangeShapeType="1"/>
          </p:cNvSpPr>
          <p:nvPr/>
        </p:nvSpPr>
        <p:spPr bwMode="auto">
          <a:xfrm>
            <a:off x="3951223" y="5638800"/>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 name="Line 135">
            <a:extLst>
              <a:ext uri="{FF2B5EF4-FFF2-40B4-BE49-F238E27FC236}">
                <a16:creationId xmlns:a16="http://schemas.microsoft.com/office/drawing/2014/main" id="{3F17270D-3019-0A19-3FCE-F9ABF54D4AEA}"/>
              </a:ext>
            </a:extLst>
          </p:cNvPr>
          <p:cNvSpPr>
            <a:spLocks noChangeShapeType="1"/>
          </p:cNvSpPr>
          <p:nvPr/>
        </p:nvSpPr>
        <p:spPr bwMode="auto">
          <a:xfrm>
            <a:off x="3945198" y="5804965"/>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1" name="Line 136">
            <a:extLst>
              <a:ext uri="{FF2B5EF4-FFF2-40B4-BE49-F238E27FC236}">
                <a16:creationId xmlns:a16="http://schemas.microsoft.com/office/drawing/2014/main" id="{A189EB73-67EF-F029-0DC8-AECE88FA2E0C}"/>
              </a:ext>
            </a:extLst>
          </p:cNvPr>
          <p:cNvSpPr>
            <a:spLocks noChangeShapeType="1"/>
          </p:cNvSpPr>
          <p:nvPr/>
        </p:nvSpPr>
        <p:spPr bwMode="auto">
          <a:xfrm flipV="1">
            <a:off x="5035264" y="5648325"/>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2" name="Line 137">
            <a:extLst>
              <a:ext uri="{FF2B5EF4-FFF2-40B4-BE49-F238E27FC236}">
                <a16:creationId xmlns:a16="http://schemas.microsoft.com/office/drawing/2014/main" id="{29719221-98DA-3D8A-1A7C-DCE6D974F808}"/>
              </a:ext>
            </a:extLst>
          </p:cNvPr>
          <p:cNvSpPr>
            <a:spLocks noChangeShapeType="1"/>
          </p:cNvSpPr>
          <p:nvPr/>
        </p:nvSpPr>
        <p:spPr bwMode="auto">
          <a:xfrm flipV="1">
            <a:off x="5035265" y="5644081"/>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3" name="Line 138">
            <a:extLst>
              <a:ext uri="{FF2B5EF4-FFF2-40B4-BE49-F238E27FC236}">
                <a16:creationId xmlns:a16="http://schemas.microsoft.com/office/drawing/2014/main" id="{908DE6B8-0B77-E17E-8FFA-C518715565E4}"/>
              </a:ext>
            </a:extLst>
          </p:cNvPr>
          <p:cNvSpPr>
            <a:spLocks noChangeShapeType="1"/>
          </p:cNvSpPr>
          <p:nvPr/>
        </p:nvSpPr>
        <p:spPr bwMode="auto">
          <a:xfrm>
            <a:off x="5651733" y="5638800"/>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 name="Line 139">
            <a:extLst>
              <a:ext uri="{FF2B5EF4-FFF2-40B4-BE49-F238E27FC236}">
                <a16:creationId xmlns:a16="http://schemas.microsoft.com/office/drawing/2014/main" id="{194255DB-B77B-1A0D-850F-23106A0E7D35}"/>
              </a:ext>
            </a:extLst>
          </p:cNvPr>
          <p:cNvSpPr>
            <a:spLocks noChangeShapeType="1"/>
          </p:cNvSpPr>
          <p:nvPr/>
        </p:nvSpPr>
        <p:spPr bwMode="auto">
          <a:xfrm>
            <a:off x="5648326" y="5811348"/>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95" name="Line 140">
            <a:extLst>
              <a:ext uri="{FF2B5EF4-FFF2-40B4-BE49-F238E27FC236}">
                <a16:creationId xmlns:a16="http://schemas.microsoft.com/office/drawing/2014/main" id="{32A6D30B-4FFF-46A7-B394-B1D82120417A}"/>
              </a:ext>
            </a:extLst>
          </p:cNvPr>
          <p:cNvSpPr>
            <a:spLocks noChangeShapeType="1"/>
          </p:cNvSpPr>
          <p:nvPr/>
        </p:nvSpPr>
        <p:spPr bwMode="auto">
          <a:xfrm flipV="1">
            <a:off x="6718112" y="5667375"/>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6" name="Line 142">
            <a:extLst>
              <a:ext uri="{FF2B5EF4-FFF2-40B4-BE49-F238E27FC236}">
                <a16:creationId xmlns:a16="http://schemas.microsoft.com/office/drawing/2014/main" id="{9E6C18C7-5D7C-927D-5833-D24882026A64}"/>
              </a:ext>
            </a:extLst>
          </p:cNvPr>
          <p:cNvSpPr>
            <a:spLocks noChangeShapeType="1"/>
          </p:cNvSpPr>
          <p:nvPr/>
        </p:nvSpPr>
        <p:spPr bwMode="auto">
          <a:xfrm>
            <a:off x="6722312" y="5657850"/>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7" name="Line 143">
            <a:extLst>
              <a:ext uri="{FF2B5EF4-FFF2-40B4-BE49-F238E27FC236}">
                <a16:creationId xmlns:a16="http://schemas.microsoft.com/office/drawing/2014/main" id="{4A8369E6-43B9-3E35-5345-B20C98A04E07}"/>
              </a:ext>
            </a:extLst>
          </p:cNvPr>
          <p:cNvSpPr>
            <a:spLocks noChangeShapeType="1"/>
          </p:cNvSpPr>
          <p:nvPr/>
        </p:nvSpPr>
        <p:spPr bwMode="auto">
          <a:xfrm>
            <a:off x="7549772" y="5657850"/>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8" name="Line 144">
            <a:extLst>
              <a:ext uri="{FF2B5EF4-FFF2-40B4-BE49-F238E27FC236}">
                <a16:creationId xmlns:a16="http://schemas.microsoft.com/office/drawing/2014/main" id="{474ED335-5CFF-5F55-DCCF-C353B4C9DDA0}"/>
              </a:ext>
            </a:extLst>
          </p:cNvPr>
          <p:cNvSpPr>
            <a:spLocks noChangeShapeType="1"/>
          </p:cNvSpPr>
          <p:nvPr/>
        </p:nvSpPr>
        <p:spPr bwMode="auto">
          <a:xfrm>
            <a:off x="7562373" y="5829300"/>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9" name="Line 146">
            <a:extLst>
              <a:ext uri="{FF2B5EF4-FFF2-40B4-BE49-F238E27FC236}">
                <a16:creationId xmlns:a16="http://schemas.microsoft.com/office/drawing/2014/main" id="{187A991F-7947-B1F7-D42C-EFFE137D69CA}"/>
              </a:ext>
            </a:extLst>
          </p:cNvPr>
          <p:cNvSpPr>
            <a:spLocks noChangeShapeType="1"/>
          </p:cNvSpPr>
          <p:nvPr/>
        </p:nvSpPr>
        <p:spPr bwMode="auto">
          <a:xfrm flipV="1">
            <a:off x="8507441" y="5676900"/>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0" name="Line 147">
            <a:extLst>
              <a:ext uri="{FF2B5EF4-FFF2-40B4-BE49-F238E27FC236}">
                <a16:creationId xmlns:a16="http://schemas.microsoft.com/office/drawing/2014/main" id="{72CB1F48-B30A-BB90-7A97-B60006DB53D1}"/>
              </a:ext>
            </a:extLst>
          </p:cNvPr>
          <p:cNvSpPr>
            <a:spLocks noChangeShapeType="1"/>
          </p:cNvSpPr>
          <p:nvPr/>
        </p:nvSpPr>
        <p:spPr bwMode="auto">
          <a:xfrm>
            <a:off x="8503242" y="5667374"/>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1" name="Line 148">
            <a:extLst>
              <a:ext uri="{FF2B5EF4-FFF2-40B4-BE49-F238E27FC236}">
                <a16:creationId xmlns:a16="http://schemas.microsoft.com/office/drawing/2014/main" id="{2FBCCE63-E276-23F4-6DE4-8544188AB797}"/>
              </a:ext>
            </a:extLst>
          </p:cNvPr>
          <p:cNvSpPr>
            <a:spLocks noChangeShapeType="1"/>
          </p:cNvSpPr>
          <p:nvPr/>
        </p:nvSpPr>
        <p:spPr bwMode="auto">
          <a:xfrm>
            <a:off x="9286556" y="5667375"/>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2" name="Line 149">
            <a:extLst>
              <a:ext uri="{FF2B5EF4-FFF2-40B4-BE49-F238E27FC236}">
                <a16:creationId xmlns:a16="http://schemas.microsoft.com/office/drawing/2014/main" id="{F20F9A1C-7329-2E83-60C7-30AD7788F6E4}"/>
              </a:ext>
            </a:extLst>
          </p:cNvPr>
          <p:cNvSpPr>
            <a:spLocks noChangeShapeType="1"/>
          </p:cNvSpPr>
          <p:nvPr/>
        </p:nvSpPr>
        <p:spPr bwMode="auto">
          <a:xfrm>
            <a:off x="9286557" y="5848350"/>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4" name="Text Box 151">
            <a:extLst>
              <a:ext uri="{FF2B5EF4-FFF2-40B4-BE49-F238E27FC236}">
                <a16:creationId xmlns:a16="http://schemas.microsoft.com/office/drawing/2014/main" id="{9E3BFF6A-AD6B-2166-E3DD-61E801E1408B}"/>
              </a:ext>
            </a:extLst>
          </p:cNvPr>
          <p:cNvSpPr txBox="1">
            <a:spLocks noChangeArrowheads="1"/>
          </p:cNvSpPr>
          <p:nvPr/>
        </p:nvSpPr>
        <p:spPr bwMode="auto">
          <a:xfrm>
            <a:off x="9336180" y="5665788"/>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45 seconds</a:t>
            </a:r>
          </a:p>
        </p:txBody>
      </p:sp>
      <p:sp>
        <p:nvSpPr>
          <p:cNvPr id="205" name="Text Box 152">
            <a:extLst>
              <a:ext uri="{FF2B5EF4-FFF2-40B4-BE49-F238E27FC236}">
                <a16:creationId xmlns:a16="http://schemas.microsoft.com/office/drawing/2014/main" id="{16386FF7-9570-9861-9F28-DFD177C8E217}"/>
              </a:ext>
            </a:extLst>
          </p:cNvPr>
          <p:cNvSpPr txBox="1">
            <a:spLocks noChangeArrowheads="1"/>
          </p:cNvSpPr>
          <p:nvPr/>
        </p:nvSpPr>
        <p:spPr bwMode="auto">
          <a:xfrm>
            <a:off x="7546290" y="5659437"/>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420 seconds</a:t>
            </a:r>
          </a:p>
        </p:txBody>
      </p:sp>
      <p:sp>
        <p:nvSpPr>
          <p:cNvPr id="206" name="Text Box 153">
            <a:extLst>
              <a:ext uri="{FF2B5EF4-FFF2-40B4-BE49-F238E27FC236}">
                <a16:creationId xmlns:a16="http://schemas.microsoft.com/office/drawing/2014/main" id="{DF4C80FA-5B6B-3D71-0975-56C4D3B58ED6}"/>
              </a:ext>
            </a:extLst>
          </p:cNvPr>
          <p:cNvSpPr txBox="1">
            <a:spLocks noChangeArrowheads="1"/>
          </p:cNvSpPr>
          <p:nvPr/>
        </p:nvSpPr>
        <p:spPr bwMode="auto">
          <a:xfrm>
            <a:off x="5702356" y="5641828"/>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720 seconds</a:t>
            </a:r>
          </a:p>
        </p:txBody>
      </p:sp>
      <p:sp>
        <p:nvSpPr>
          <p:cNvPr id="207" name="Text Box 154">
            <a:extLst>
              <a:ext uri="{FF2B5EF4-FFF2-40B4-BE49-F238E27FC236}">
                <a16:creationId xmlns:a16="http://schemas.microsoft.com/office/drawing/2014/main" id="{910FA726-A56D-EF28-7265-112943A0F0E8}"/>
              </a:ext>
            </a:extLst>
          </p:cNvPr>
          <p:cNvSpPr txBox="1">
            <a:spLocks noChangeArrowheads="1"/>
          </p:cNvSpPr>
          <p:nvPr/>
        </p:nvSpPr>
        <p:spPr bwMode="auto">
          <a:xfrm>
            <a:off x="3966376" y="5631392"/>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780 seconds</a:t>
            </a:r>
          </a:p>
        </p:txBody>
      </p:sp>
      <p:sp>
        <p:nvSpPr>
          <p:cNvPr id="208" name="Text Box 155">
            <a:extLst>
              <a:ext uri="{FF2B5EF4-FFF2-40B4-BE49-F238E27FC236}">
                <a16:creationId xmlns:a16="http://schemas.microsoft.com/office/drawing/2014/main" id="{38D18E92-77DB-727B-50E0-0EC186F96808}"/>
              </a:ext>
            </a:extLst>
          </p:cNvPr>
          <p:cNvSpPr txBox="1">
            <a:spLocks noChangeArrowheads="1"/>
          </p:cNvSpPr>
          <p:nvPr/>
        </p:nvSpPr>
        <p:spPr bwMode="auto">
          <a:xfrm>
            <a:off x="2194452" y="5638800"/>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15 seconds</a:t>
            </a:r>
          </a:p>
        </p:txBody>
      </p:sp>
      <p:sp>
        <p:nvSpPr>
          <p:cNvPr id="4" name="Content Placeholder 2">
            <a:extLst>
              <a:ext uri="{FF2B5EF4-FFF2-40B4-BE49-F238E27FC236}">
                <a16:creationId xmlns:a16="http://schemas.microsoft.com/office/drawing/2014/main" id="{DB0C3199-0383-5746-E995-C688EE318937}"/>
              </a:ext>
            </a:extLst>
          </p:cNvPr>
          <p:cNvSpPr txBox="1">
            <a:spLocks/>
          </p:cNvSpPr>
          <p:nvPr/>
        </p:nvSpPr>
        <p:spPr>
          <a:xfrm>
            <a:off x="6363991" y="2034386"/>
            <a:ext cx="4386111" cy="187461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sz="1600" dirty="0"/>
              <a:t>Receipt: 75/125 = </a:t>
            </a:r>
            <a:r>
              <a:rPr lang="en-US" altLang="en-US" sz="1600" b="1" dirty="0">
                <a:solidFill>
                  <a:srgbClr val="EE3228"/>
                </a:solidFill>
              </a:rPr>
              <a:t>.6 days</a:t>
            </a:r>
          </a:p>
          <a:p>
            <a:r>
              <a:rPr lang="en-US" altLang="en-US" sz="1600" dirty="0"/>
              <a:t>Data Entry: 200/125 = </a:t>
            </a:r>
            <a:r>
              <a:rPr lang="en-US" altLang="en-US" sz="1600" b="1" dirty="0">
                <a:solidFill>
                  <a:srgbClr val="EE3228"/>
                </a:solidFill>
              </a:rPr>
              <a:t>1.6 days</a:t>
            </a:r>
          </a:p>
          <a:p>
            <a:r>
              <a:rPr lang="en-US" altLang="en-US" sz="1600" dirty="0"/>
              <a:t>Underwrite: 500/125 = </a:t>
            </a:r>
            <a:r>
              <a:rPr lang="en-US" altLang="en-US" sz="1600" b="1" dirty="0">
                <a:solidFill>
                  <a:srgbClr val="EE3228"/>
                </a:solidFill>
              </a:rPr>
              <a:t>4 days</a:t>
            </a:r>
          </a:p>
          <a:p>
            <a:r>
              <a:rPr lang="en-US" altLang="en-US" sz="1600" dirty="0"/>
              <a:t>Generate Package: 0/125 = </a:t>
            </a:r>
            <a:r>
              <a:rPr lang="en-US" altLang="en-US" sz="1600" b="1" dirty="0">
                <a:solidFill>
                  <a:srgbClr val="EE3228"/>
                </a:solidFill>
              </a:rPr>
              <a:t>0 days</a:t>
            </a:r>
          </a:p>
          <a:p>
            <a:r>
              <a:rPr lang="en-US" altLang="en-US" sz="1600" dirty="0"/>
              <a:t>Mail Package: 75/125 = </a:t>
            </a:r>
            <a:r>
              <a:rPr lang="en-US" altLang="en-US" sz="1600" b="1" dirty="0">
                <a:solidFill>
                  <a:srgbClr val="EE3228"/>
                </a:solidFill>
              </a:rPr>
              <a:t>.6 days</a:t>
            </a:r>
          </a:p>
        </p:txBody>
      </p:sp>
    </p:spTree>
    <p:extLst>
      <p:ext uri="{BB962C8B-B14F-4D97-AF65-F5344CB8AC3E}">
        <p14:creationId xmlns:p14="http://schemas.microsoft.com/office/powerpoint/2010/main" val="3042812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dissolve">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sz="3600" dirty="0"/>
              <a:t>Calculating Totals</a:t>
            </a:r>
          </a:p>
        </p:txBody>
      </p:sp>
      <p:sp>
        <p:nvSpPr>
          <p:cNvPr id="3" name="Content Placeholder 2">
            <a:extLst>
              <a:ext uri="{FF2B5EF4-FFF2-40B4-BE49-F238E27FC236}">
                <a16:creationId xmlns:a16="http://schemas.microsoft.com/office/drawing/2014/main" id="{CCAAB2AD-E1DC-217C-24B0-125A734A40CA}"/>
              </a:ext>
            </a:extLst>
          </p:cNvPr>
          <p:cNvSpPr>
            <a:spLocks noGrp="1"/>
          </p:cNvSpPr>
          <p:nvPr>
            <p:ph idx="1"/>
          </p:nvPr>
        </p:nvSpPr>
        <p:spPr>
          <a:xfrm>
            <a:off x="838200" y="1825625"/>
            <a:ext cx="4386111" cy="1602575"/>
          </a:xfrm>
        </p:spPr>
        <p:txBody>
          <a:bodyPr>
            <a:normAutofit/>
          </a:bodyPr>
          <a:lstStyle/>
          <a:p>
            <a:r>
              <a:rPr lang="en-US" altLang="en-US" sz="1800" dirty="0"/>
              <a:t>Add Processing Times and Lead Times for each process to derive the totals for the Value Stream</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63</a:t>
            </a:fld>
            <a:endParaRPr lang="en-US" dirty="0"/>
          </a:p>
        </p:txBody>
      </p:sp>
      <p:sp>
        <p:nvSpPr>
          <p:cNvPr id="44" name="Text Box 350">
            <a:extLst>
              <a:ext uri="{FF2B5EF4-FFF2-40B4-BE49-F238E27FC236}">
                <a16:creationId xmlns:a16="http://schemas.microsoft.com/office/drawing/2014/main" id="{F40B5327-25B7-8BBE-0A4F-4434AB9BE0F8}"/>
              </a:ext>
            </a:extLst>
          </p:cNvPr>
          <p:cNvSpPr txBox="1">
            <a:spLocks noChangeArrowheads="1"/>
          </p:cNvSpPr>
          <p:nvPr/>
        </p:nvSpPr>
        <p:spPr bwMode="auto">
          <a:xfrm>
            <a:off x="7660925" y="5220167"/>
            <a:ext cx="690563" cy="17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latin typeface="Roboto" panose="02000000000000000000" pitchFamily="2" charset="0"/>
              <a:ea typeface="Roboto" panose="02000000000000000000" pitchFamily="2" charset="0"/>
            </a:endParaRPr>
          </a:p>
        </p:txBody>
      </p:sp>
      <p:grpSp>
        <p:nvGrpSpPr>
          <p:cNvPr id="45" name="Group 44">
            <a:extLst>
              <a:ext uri="{FF2B5EF4-FFF2-40B4-BE49-F238E27FC236}">
                <a16:creationId xmlns:a16="http://schemas.microsoft.com/office/drawing/2014/main" id="{EF17C342-E6FA-D43A-DAB0-60356F8C434F}"/>
              </a:ext>
            </a:extLst>
          </p:cNvPr>
          <p:cNvGrpSpPr/>
          <p:nvPr/>
        </p:nvGrpSpPr>
        <p:grpSpPr>
          <a:xfrm>
            <a:off x="9271181" y="4141686"/>
            <a:ext cx="1292924" cy="1392303"/>
            <a:chOff x="8538106" y="4228532"/>
            <a:chExt cx="1292924" cy="1392303"/>
          </a:xfrm>
        </p:grpSpPr>
        <p:grpSp>
          <p:nvGrpSpPr>
            <p:cNvPr id="46" name="Group 45">
              <a:extLst>
                <a:ext uri="{FF2B5EF4-FFF2-40B4-BE49-F238E27FC236}">
                  <a16:creationId xmlns:a16="http://schemas.microsoft.com/office/drawing/2014/main" id="{4F353E75-541C-DC88-477B-5B3BA71C7A11}"/>
                </a:ext>
              </a:extLst>
            </p:cNvPr>
            <p:cNvGrpSpPr/>
            <p:nvPr/>
          </p:nvGrpSpPr>
          <p:grpSpPr>
            <a:xfrm>
              <a:off x="8550974" y="4228532"/>
              <a:ext cx="1066101" cy="811908"/>
              <a:chOff x="8550974" y="4228532"/>
              <a:chExt cx="1066101" cy="811908"/>
            </a:xfrm>
          </p:grpSpPr>
          <p:sp>
            <p:nvSpPr>
              <p:cNvPr id="51" name="Rectangle 69">
                <a:extLst>
                  <a:ext uri="{FF2B5EF4-FFF2-40B4-BE49-F238E27FC236}">
                    <a16:creationId xmlns:a16="http://schemas.microsoft.com/office/drawing/2014/main" id="{DA493ED0-91ED-78E8-DE5B-5410F028CF4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52" name="Line 70">
                <a:extLst>
                  <a:ext uri="{FF2B5EF4-FFF2-40B4-BE49-F238E27FC236}">
                    <a16:creationId xmlns:a16="http://schemas.microsoft.com/office/drawing/2014/main" id="{189750C7-2274-D0DE-FF99-E830DC851CA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53" name="Text Box 71">
                <a:extLst>
                  <a:ext uri="{FF2B5EF4-FFF2-40B4-BE49-F238E27FC236}">
                    <a16:creationId xmlns:a16="http://schemas.microsoft.com/office/drawing/2014/main" id="{AFCDC874-2CA6-23B2-28CA-BEEBB3FE017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54" name="Group 72">
                <a:extLst>
                  <a:ext uri="{FF2B5EF4-FFF2-40B4-BE49-F238E27FC236}">
                    <a16:creationId xmlns:a16="http://schemas.microsoft.com/office/drawing/2014/main" id="{DF955C16-E428-0CBC-0532-8B0C9927DB9D}"/>
                  </a:ext>
                </a:extLst>
              </p:cNvPr>
              <p:cNvGrpSpPr>
                <a:grpSpLocks/>
              </p:cNvGrpSpPr>
              <p:nvPr/>
            </p:nvGrpSpPr>
            <p:grpSpPr bwMode="auto">
              <a:xfrm flipV="1">
                <a:off x="8729819" y="4659836"/>
                <a:ext cx="269429" cy="284707"/>
                <a:chOff x="720" y="3354"/>
                <a:chExt cx="192" cy="198"/>
              </a:xfrm>
            </p:grpSpPr>
            <p:sp>
              <p:nvSpPr>
                <p:cNvPr id="56" name="Oval 73">
                  <a:extLst>
                    <a:ext uri="{FF2B5EF4-FFF2-40B4-BE49-F238E27FC236}">
                      <a16:creationId xmlns:a16="http://schemas.microsoft.com/office/drawing/2014/main" id="{B22D1881-EA8E-200A-D274-C1F3350007D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57" name="AutoShape 74">
                  <a:extLst>
                    <a:ext uri="{FF2B5EF4-FFF2-40B4-BE49-F238E27FC236}">
                      <a16:creationId xmlns:a16="http://schemas.microsoft.com/office/drawing/2014/main" id="{9AEACBF1-89E9-DB3F-B7BF-B4A73BC9ED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55" name="Text Box 75">
                <a:extLst>
                  <a:ext uri="{FF2B5EF4-FFF2-40B4-BE49-F238E27FC236}">
                    <a16:creationId xmlns:a16="http://schemas.microsoft.com/office/drawing/2014/main" id="{E900C887-ADC2-3B6D-229D-6822144822AC}"/>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47" name="Rectangle 348">
              <a:extLst>
                <a:ext uri="{FF2B5EF4-FFF2-40B4-BE49-F238E27FC236}">
                  <a16:creationId xmlns:a16="http://schemas.microsoft.com/office/drawing/2014/main" id="{9B263240-1E05-1EDE-584D-10D85765C4C7}"/>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endParaRPr>
            </a:p>
          </p:txBody>
        </p:sp>
        <p:sp>
          <p:nvSpPr>
            <p:cNvPr id="48" name="Text Box 351">
              <a:extLst>
                <a:ext uri="{FF2B5EF4-FFF2-40B4-BE49-F238E27FC236}">
                  <a16:creationId xmlns:a16="http://schemas.microsoft.com/office/drawing/2014/main" id="{E91EA8D6-A8DA-5AD0-2543-7BAD1F0C077C}"/>
                </a:ext>
              </a:extLst>
            </p:cNvPr>
            <p:cNvSpPr txBox="1">
              <a:spLocks noChangeArrowheads="1"/>
            </p:cNvSpPr>
            <p:nvPr/>
          </p:nvSpPr>
          <p:spPr bwMode="auto">
            <a:xfrm>
              <a:off x="8538106" y="5387438"/>
              <a:ext cx="1292924" cy="2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49" name="Rectangle 352">
              <a:extLst>
                <a:ext uri="{FF2B5EF4-FFF2-40B4-BE49-F238E27FC236}">
                  <a16:creationId xmlns:a16="http://schemas.microsoft.com/office/drawing/2014/main" id="{7AA6132B-73F1-31B8-3EF0-B682DE03CFA3}"/>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50" name="Rectangle 353">
              <a:extLst>
                <a:ext uri="{FF2B5EF4-FFF2-40B4-BE49-F238E27FC236}">
                  <a16:creationId xmlns:a16="http://schemas.microsoft.com/office/drawing/2014/main" id="{9CF24BBC-A952-998C-B559-120D6386A9F5}"/>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58" name="Group 57">
            <a:extLst>
              <a:ext uri="{FF2B5EF4-FFF2-40B4-BE49-F238E27FC236}">
                <a16:creationId xmlns:a16="http://schemas.microsoft.com/office/drawing/2014/main" id="{431AA0F9-6AE2-9798-BEDA-87B4E10EEE14}"/>
              </a:ext>
            </a:extLst>
          </p:cNvPr>
          <p:cNvGrpSpPr/>
          <p:nvPr/>
        </p:nvGrpSpPr>
        <p:grpSpPr>
          <a:xfrm>
            <a:off x="7487369" y="4162119"/>
            <a:ext cx="1292924" cy="1392303"/>
            <a:chOff x="8538106" y="4228532"/>
            <a:chExt cx="1292924" cy="1392303"/>
          </a:xfrm>
        </p:grpSpPr>
        <p:grpSp>
          <p:nvGrpSpPr>
            <p:cNvPr id="59" name="Group 58">
              <a:extLst>
                <a:ext uri="{FF2B5EF4-FFF2-40B4-BE49-F238E27FC236}">
                  <a16:creationId xmlns:a16="http://schemas.microsoft.com/office/drawing/2014/main" id="{A915CB4F-0660-011C-6E42-9CA0F4740C37}"/>
                </a:ext>
              </a:extLst>
            </p:cNvPr>
            <p:cNvGrpSpPr/>
            <p:nvPr/>
          </p:nvGrpSpPr>
          <p:grpSpPr>
            <a:xfrm>
              <a:off x="8550974" y="4228532"/>
              <a:ext cx="1066101" cy="811908"/>
              <a:chOff x="8550974" y="4228532"/>
              <a:chExt cx="1066101" cy="811908"/>
            </a:xfrm>
          </p:grpSpPr>
          <p:sp>
            <p:nvSpPr>
              <p:cNvPr id="64" name="Rectangle 69">
                <a:extLst>
                  <a:ext uri="{FF2B5EF4-FFF2-40B4-BE49-F238E27FC236}">
                    <a16:creationId xmlns:a16="http://schemas.microsoft.com/office/drawing/2014/main" id="{3747C4F5-6496-1BF2-3386-0754B2832320}"/>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65" name="Line 70">
                <a:extLst>
                  <a:ext uri="{FF2B5EF4-FFF2-40B4-BE49-F238E27FC236}">
                    <a16:creationId xmlns:a16="http://schemas.microsoft.com/office/drawing/2014/main" id="{65470CEA-10F3-FFF3-8C4C-701D5B475691}"/>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66" name="Text Box 71">
                <a:extLst>
                  <a:ext uri="{FF2B5EF4-FFF2-40B4-BE49-F238E27FC236}">
                    <a16:creationId xmlns:a16="http://schemas.microsoft.com/office/drawing/2014/main" id="{7445D19F-EA9E-2D49-BC7C-78E52F1A3906}"/>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67" name="Group 72">
                <a:extLst>
                  <a:ext uri="{FF2B5EF4-FFF2-40B4-BE49-F238E27FC236}">
                    <a16:creationId xmlns:a16="http://schemas.microsoft.com/office/drawing/2014/main" id="{8A6C4571-BFE4-6E84-CA4C-6C2FC97DE72A}"/>
                  </a:ext>
                </a:extLst>
              </p:cNvPr>
              <p:cNvGrpSpPr>
                <a:grpSpLocks/>
              </p:cNvGrpSpPr>
              <p:nvPr/>
            </p:nvGrpSpPr>
            <p:grpSpPr bwMode="auto">
              <a:xfrm flipV="1">
                <a:off x="8729819" y="4659836"/>
                <a:ext cx="269429" cy="284707"/>
                <a:chOff x="720" y="3354"/>
                <a:chExt cx="192" cy="198"/>
              </a:xfrm>
            </p:grpSpPr>
            <p:sp>
              <p:nvSpPr>
                <p:cNvPr id="69" name="Oval 73">
                  <a:extLst>
                    <a:ext uri="{FF2B5EF4-FFF2-40B4-BE49-F238E27FC236}">
                      <a16:creationId xmlns:a16="http://schemas.microsoft.com/office/drawing/2014/main" id="{6EAB43E1-6313-9E6F-562F-576B877E467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70" name="AutoShape 74">
                  <a:extLst>
                    <a:ext uri="{FF2B5EF4-FFF2-40B4-BE49-F238E27FC236}">
                      <a16:creationId xmlns:a16="http://schemas.microsoft.com/office/drawing/2014/main" id="{6FCDF024-7E00-6774-8632-0EB44E8A79A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68" name="Text Box 75">
                <a:extLst>
                  <a:ext uri="{FF2B5EF4-FFF2-40B4-BE49-F238E27FC236}">
                    <a16:creationId xmlns:a16="http://schemas.microsoft.com/office/drawing/2014/main" id="{B73C484B-D70B-25E5-7560-5A8120EACD5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60" name="Rectangle 348">
              <a:extLst>
                <a:ext uri="{FF2B5EF4-FFF2-40B4-BE49-F238E27FC236}">
                  <a16:creationId xmlns:a16="http://schemas.microsoft.com/office/drawing/2014/main" id="{AE6C46C5-1556-AFAF-8091-D603614D09A9}"/>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endParaRPr>
            </a:p>
          </p:txBody>
        </p:sp>
        <p:sp>
          <p:nvSpPr>
            <p:cNvPr id="61" name="Text Box 351">
              <a:extLst>
                <a:ext uri="{FF2B5EF4-FFF2-40B4-BE49-F238E27FC236}">
                  <a16:creationId xmlns:a16="http://schemas.microsoft.com/office/drawing/2014/main" id="{100D0CBB-0E42-B08D-B0D5-F097E533A7EA}"/>
                </a:ext>
              </a:extLst>
            </p:cNvPr>
            <p:cNvSpPr txBox="1">
              <a:spLocks noChangeArrowheads="1"/>
            </p:cNvSpPr>
            <p:nvPr/>
          </p:nvSpPr>
          <p:spPr bwMode="auto">
            <a:xfrm>
              <a:off x="8538106" y="5387438"/>
              <a:ext cx="1292924" cy="2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62" name="Rectangle 352">
              <a:extLst>
                <a:ext uri="{FF2B5EF4-FFF2-40B4-BE49-F238E27FC236}">
                  <a16:creationId xmlns:a16="http://schemas.microsoft.com/office/drawing/2014/main" id="{2CD0A15C-9BC8-FF78-4AE3-EDF15DC1303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63" name="Rectangle 353">
              <a:extLst>
                <a:ext uri="{FF2B5EF4-FFF2-40B4-BE49-F238E27FC236}">
                  <a16:creationId xmlns:a16="http://schemas.microsoft.com/office/drawing/2014/main" id="{779C1FA6-F1C6-F8BC-2CDB-CA0655B267D1}"/>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71" name="Group 70">
            <a:extLst>
              <a:ext uri="{FF2B5EF4-FFF2-40B4-BE49-F238E27FC236}">
                <a16:creationId xmlns:a16="http://schemas.microsoft.com/office/drawing/2014/main" id="{E70F5879-7459-08D1-9BB3-81E99A7E502B}"/>
              </a:ext>
            </a:extLst>
          </p:cNvPr>
          <p:cNvGrpSpPr/>
          <p:nvPr/>
        </p:nvGrpSpPr>
        <p:grpSpPr>
          <a:xfrm>
            <a:off x="5641091" y="4141686"/>
            <a:ext cx="1292924" cy="1392303"/>
            <a:chOff x="8538106" y="4228532"/>
            <a:chExt cx="1292924" cy="1392303"/>
          </a:xfrm>
        </p:grpSpPr>
        <p:grpSp>
          <p:nvGrpSpPr>
            <p:cNvPr id="72" name="Group 71">
              <a:extLst>
                <a:ext uri="{FF2B5EF4-FFF2-40B4-BE49-F238E27FC236}">
                  <a16:creationId xmlns:a16="http://schemas.microsoft.com/office/drawing/2014/main" id="{180C4721-170C-A810-E136-CA8A58101CD1}"/>
                </a:ext>
              </a:extLst>
            </p:cNvPr>
            <p:cNvGrpSpPr/>
            <p:nvPr/>
          </p:nvGrpSpPr>
          <p:grpSpPr>
            <a:xfrm>
              <a:off x="8550974" y="4228532"/>
              <a:ext cx="1066101" cy="811908"/>
              <a:chOff x="8550974" y="4228532"/>
              <a:chExt cx="1066101" cy="811908"/>
            </a:xfrm>
          </p:grpSpPr>
          <p:sp>
            <p:nvSpPr>
              <p:cNvPr id="77" name="Rectangle 69">
                <a:extLst>
                  <a:ext uri="{FF2B5EF4-FFF2-40B4-BE49-F238E27FC236}">
                    <a16:creationId xmlns:a16="http://schemas.microsoft.com/office/drawing/2014/main" id="{32E7AF6F-CD53-6EFC-38E8-342B99BEF877}"/>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78" name="Line 70">
                <a:extLst>
                  <a:ext uri="{FF2B5EF4-FFF2-40B4-BE49-F238E27FC236}">
                    <a16:creationId xmlns:a16="http://schemas.microsoft.com/office/drawing/2014/main" id="{90A9B878-8FC8-4E37-BE14-A48692DF8E4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79" name="Text Box 71">
                <a:extLst>
                  <a:ext uri="{FF2B5EF4-FFF2-40B4-BE49-F238E27FC236}">
                    <a16:creationId xmlns:a16="http://schemas.microsoft.com/office/drawing/2014/main" id="{5FE30E67-214B-9B7E-95C0-0201126D259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80" name="Group 72">
                <a:extLst>
                  <a:ext uri="{FF2B5EF4-FFF2-40B4-BE49-F238E27FC236}">
                    <a16:creationId xmlns:a16="http://schemas.microsoft.com/office/drawing/2014/main" id="{F4E27293-127A-B2EB-36A0-E3C7D32220E1}"/>
                  </a:ext>
                </a:extLst>
              </p:cNvPr>
              <p:cNvGrpSpPr>
                <a:grpSpLocks/>
              </p:cNvGrpSpPr>
              <p:nvPr/>
            </p:nvGrpSpPr>
            <p:grpSpPr bwMode="auto">
              <a:xfrm flipV="1">
                <a:off x="8729819" y="4659836"/>
                <a:ext cx="269429" cy="284707"/>
                <a:chOff x="720" y="3354"/>
                <a:chExt cx="192" cy="198"/>
              </a:xfrm>
            </p:grpSpPr>
            <p:sp>
              <p:nvSpPr>
                <p:cNvPr id="82" name="Oval 73">
                  <a:extLst>
                    <a:ext uri="{FF2B5EF4-FFF2-40B4-BE49-F238E27FC236}">
                      <a16:creationId xmlns:a16="http://schemas.microsoft.com/office/drawing/2014/main" id="{7B429B55-8292-0E42-8725-C67E1205C2C8}"/>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83" name="AutoShape 74">
                  <a:extLst>
                    <a:ext uri="{FF2B5EF4-FFF2-40B4-BE49-F238E27FC236}">
                      <a16:creationId xmlns:a16="http://schemas.microsoft.com/office/drawing/2014/main" id="{5879D584-B6D9-5B7A-93FF-3D7B21A1B5C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81" name="Text Box 75">
                <a:extLst>
                  <a:ext uri="{FF2B5EF4-FFF2-40B4-BE49-F238E27FC236}">
                    <a16:creationId xmlns:a16="http://schemas.microsoft.com/office/drawing/2014/main" id="{C984A34C-75D5-4E01-1871-16E33421F1D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73" name="Rectangle 348">
              <a:extLst>
                <a:ext uri="{FF2B5EF4-FFF2-40B4-BE49-F238E27FC236}">
                  <a16:creationId xmlns:a16="http://schemas.microsoft.com/office/drawing/2014/main" id="{8B606053-E5ED-24FC-F66F-FE7D5DAA24A3}"/>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endParaRPr>
            </a:p>
          </p:txBody>
        </p:sp>
        <p:sp>
          <p:nvSpPr>
            <p:cNvPr id="74" name="Text Box 351">
              <a:extLst>
                <a:ext uri="{FF2B5EF4-FFF2-40B4-BE49-F238E27FC236}">
                  <a16:creationId xmlns:a16="http://schemas.microsoft.com/office/drawing/2014/main" id="{783E8EE8-4400-1494-6AA6-360974FE57CD}"/>
                </a:ext>
              </a:extLst>
            </p:cNvPr>
            <p:cNvSpPr txBox="1">
              <a:spLocks noChangeArrowheads="1"/>
            </p:cNvSpPr>
            <p:nvPr/>
          </p:nvSpPr>
          <p:spPr bwMode="auto">
            <a:xfrm>
              <a:off x="8538106" y="5387438"/>
              <a:ext cx="1292924" cy="2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75" name="Rectangle 352">
              <a:extLst>
                <a:ext uri="{FF2B5EF4-FFF2-40B4-BE49-F238E27FC236}">
                  <a16:creationId xmlns:a16="http://schemas.microsoft.com/office/drawing/2014/main" id="{5D27A861-6912-2AE2-9A6E-66E5BCAECBE8}"/>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76" name="Rectangle 353">
              <a:extLst>
                <a:ext uri="{FF2B5EF4-FFF2-40B4-BE49-F238E27FC236}">
                  <a16:creationId xmlns:a16="http://schemas.microsoft.com/office/drawing/2014/main" id="{1A671BF4-3E9F-CD7F-AB2D-DB9E372BBCFE}"/>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84" name="Group 83">
            <a:extLst>
              <a:ext uri="{FF2B5EF4-FFF2-40B4-BE49-F238E27FC236}">
                <a16:creationId xmlns:a16="http://schemas.microsoft.com/office/drawing/2014/main" id="{4F4D006C-4755-E50A-49AF-AAE0A094B928}"/>
              </a:ext>
            </a:extLst>
          </p:cNvPr>
          <p:cNvGrpSpPr/>
          <p:nvPr/>
        </p:nvGrpSpPr>
        <p:grpSpPr>
          <a:xfrm>
            <a:off x="3931387" y="4141686"/>
            <a:ext cx="1292924" cy="1392303"/>
            <a:chOff x="8538106" y="4228532"/>
            <a:chExt cx="1292924" cy="1392303"/>
          </a:xfrm>
        </p:grpSpPr>
        <p:grpSp>
          <p:nvGrpSpPr>
            <p:cNvPr id="85" name="Group 84">
              <a:extLst>
                <a:ext uri="{FF2B5EF4-FFF2-40B4-BE49-F238E27FC236}">
                  <a16:creationId xmlns:a16="http://schemas.microsoft.com/office/drawing/2014/main" id="{B04EF189-AB84-8461-368D-D884B394E0F0}"/>
                </a:ext>
              </a:extLst>
            </p:cNvPr>
            <p:cNvGrpSpPr/>
            <p:nvPr/>
          </p:nvGrpSpPr>
          <p:grpSpPr>
            <a:xfrm>
              <a:off x="8550974" y="4228532"/>
              <a:ext cx="1066101" cy="811908"/>
              <a:chOff x="8550974" y="4228532"/>
              <a:chExt cx="1066101" cy="811908"/>
            </a:xfrm>
          </p:grpSpPr>
          <p:sp>
            <p:nvSpPr>
              <p:cNvPr id="90" name="Rectangle 69">
                <a:extLst>
                  <a:ext uri="{FF2B5EF4-FFF2-40B4-BE49-F238E27FC236}">
                    <a16:creationId xmlns:a16="http://schemas.microsoft.com/office/drawing/2014/main" id="{11A4C2DE-2BE8-F835-FD18-5EEB71F62D5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91" name="Line 70">
                <a:extLst>
                  <a:ext uri="{FF2B5EF4-FFF2-40B4-BE49-F238E27FC236}">
                    <a16:creationId xmlns:a16="http://schemas.microsoft.com/office/drawing/2014/main" id="{3C29E8E5-F204-D5C2-FE82-A5B3AF72A60D}"/>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92" name="Text Box 71">
                <a:extLst>
                  <a:ext uri="{FF2B5EF4-FFF2-40B4-BE49-F238E27FC236}">
                    <a16:creationId xmlns:a16="http://schemas.microsoft.com/office/drawing/2014/main" id="{6EE9C6F6-EA45-5CB8-A06D-8F0AABC7D1F7}"/>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93" name="Group 72">
                <a:extLst>
                  <a:ext uri="{FF2B5EF4-FFF2-40B4-BE49-F238E27FC236}">
                    <a16:creationId xmlns:a16="http://schemas.microsoft.com/office/drawing/2014/main" id="{0A725583-0AED-0340-2062-B4025624FE2C}"/>
                  </a:ext>
                </a:extLst>
              </p:cNvPr>
              <p:cNvGrpSpPr>
                <a:grpSpLocks/>
              </p:cNvGrpSpPr>
              <p:nvPr/>
            </p:nvGrpSpPr>
            <p:grpSpPr bwMode="auto">
              <a:xfrm flipV="1">
                <a:off x="8729819" y="4659836"/>
                <a:ext cx="269429" cy="284707"/>
                <a:chOff x="720" y="3354"/>
                <a:chExt cx="192" cy="198"/>
              </a:xfrm>
            </p:grpSpPr>
            <p:sp>
              <p:nvSpPr>
                <p:cNvPr id="95" name="Oval 73">
                  <a:extLst>
                    <a:ext uri="{FF2B5EF4-FFF2-40B4-BE49-F238E27FC236}">
                      <a16:creationId xmlns:a16="http://schemas.microsoft.com/office/drawing/2014/main" id="{E637F862-EEAC-8B0E-7101-1DFEAC49FD00}"/>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96" name="AutoShape 74">
                  <a:extLst>
                    <a:ext uri="{FF2B5EF4-FFF2-40B4-BE49-F238E27FC236}">
                      <a16:creationId xmlns:a16="http://schemas.microsoft.com/office/drawing/2014/main" id="{81000134-CDD7-48AA-5A18-8CC913A4266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94" name="Text Box 75">
                <a:extLst>
                  <a:ext uri="{FF2B5EF4-FFF2-40B4-BE49-F238E27FC236}">
                    <a16:creationId xmlns:a16="http://schemas.microsoft.com/office/drawing/2014/main" id="{B8C43A48-2864-2EC3-3F08-0B7F2EC10522}"/>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86" name="Rectangle 348">
              <a:extLst>
                <a:ext uri="{FF2B5EF4-FFF2-40B4-BE49-F238E27FC236}">
                  <a16:creationId xmlns:a16="http://schemas.microsoft.com/office/drawing/2014/main" id="{F867715C-A9D5-D4B6-F562-8147510C9B4D}"/>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endParaRPr>
            </a:p>
          </p:txBody>
        </p:sp>
        <p:sp>
          <p:nvSpPr>
            <p:cNvPr id="87" name="Text Box 351">
              <a:extLst>
                <a:ext uri="{FF2B5EF4-FFF2-40B4-BE49-F238E27FC236}">
                  <a16:creationId xmlns:a16="http://schemas.microsoft.com/office/drawing/2014/main" id="{1A45F6B1-0FFC-9DED-AB07-BDF985ADF086}"/>
                </a:ext>
              </a:extLst>
            </p:cNvPr>
            <p:cNvSpPr txBox="1">
              <a:spLocks noChangeArrowheads="1"/>
            </p:cNvSpPr>
            <p:nvPr/>
          </p:nvSpPr>
          <p:spPr bwMode="auto">
            <a:xfrm>
              <a:off x="8538106" y="5387438"/>
              <a:ext cx="1292924" cy="2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88" name="Rectangle 352">
              <a:extLst>
                <a:ext uri="{FF2B5EF4-FFF2-40B4-BE49-F238E27FC236}">
                  <a16:creationId xmlns:a16="http://schemas.microsoft.com/office/drawing/2014/main" id="{F40FE0D3-1FF4-56E4-E4CE-5FDD44E7F8A3}"/>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89" name="Rectangle 353">
              <a:extLst>
                <a:ext uri="{FF2B5EF4-FFF2-40B4-BE49-F238E27FC236}">
                  <a16:creationId xmlns:a16="http://schemas.microsoft.com/office/drawing/2014/main" id="{BE7AD41A-ECFE-F0E5-0985-406AE9288BEF}"/>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97" name="Group 96">
            <a:extLst>
              <a:ext uri="{FF2B5EF4-FFF2-40B4-BE49-F238E27FC236}">
                <a16:creationId xmlns:a16="http://schemas.microsoft.com/office/drawing/2014/main" id="{23ADF497-C63D-E163-D0AD-053BD0BE44BB}"/>
              </a:ext>
            </a:extLst>
          </p:cNvPr>
          <p:cNvGrpSpPr/>
          <p:nvPr/>
        </p:nvGrpSpPr>
        <p:grpSpPr>
          <a:xfrm>
            <a:off x="2104685" y="4141686"/>
            <a:ext cx="1292924" cy="1392303"/>
            <a:chOff x="8538106" y="4228532"/>
            <a:chExt cx="1292924" cy="1392303"/>
          </a:xfrm>
        </p:grpSpPr>
        <p:grpSp>
          <p:nvGrpSpPr>
            <p:cNvPr id="98" name="Group 97">
              <a:extLst>
                <a:ext uri="{FF2B5EF4-FFF2-40B4-BE49-F238E27FC236}">
                  <a16:creationId xmlns:a16="http://schemas.microsoft.com/office/drawing/2014/main" id="{7D85C07B-4B8F-127A-7290-10190ABD7038}"/>
                </a:ext>
              </a:extLst>
            </p:cNvPr>
            <p:cNvGrpSpPr/>
            <p:nvPr/>
          </p:nvGrpSpPr>
          <p:grpSpPr>
            <a:xfrm>
              <a:off x="8550974" y="4228532"/>
              <a:ext cx="1066101" cy="811908"/>
              <a:chOff x="8550974" y="4228532"/>
              <a:chExt cx="1066101" cy="811908"/>
            </a:xfrm>
          </p:grpSpPr>
          <p:sp>
            <p:nvSpPr>
              <p:cNvPr id="103" name="Rectangle 69">
                <a:extLst>
                  <a:ext uri="{FF2B5EF4-FFF2-40B4-BE49-F238E27FC236}">
                    <a16:creationId xmlns:a16="http://schemas.microsoft.com/office/drawing/2014/main" id="{A45CABDD-DAF3-FFB4-77D1-C16FC7E4B149}"/>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04" name="Line 70">
                <a:extLst>
                  <a:ext uri="{FF2B5EF4-FFF2-40B4-BE49-F238E27FC236}">
                    <a16:creationId xmlns:a16="http://schemas.microsoft.com/office/drawing/2014/main" id="{C45B0192-7055-93DB-9F12-821A27F3AFDB}"/>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05" name="Text Box 71">
                <a:extLst>
                  <a:ext uri="{FF2B5EF4-FFF2-40B4-BE49-F238E27FC236}">
                    <a16:creationId xmlns:a16="http://schemas.microsoft.com/office/drawing/2014/main" id="{0C7B08EB-7E82-A5E1-FC5A-4F06708337E1}"/>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06" name="Group 72">
                <a:extLst>
                  <a:ext uri="{FF2B5EF4-FFF2-40B4-BE49-F238E27FC236}">
                    <a16:creationId xmlns:a16="http://schemas.microsoft.com/office/drawing/2014/main" id="{40C1D66D-F64B-2252-C7CE-8D016B9A7F89}"/>
                  </a:ext>
                </a:extLst>
              </p:cNvPr>
              <p:cNvGrpSpPr>
                <a:grpSpLocks/>
              </p:cNvGrpSpPr>
              <p:nvPr/>
            </p:nvGrpSpPr>
            <p:grpSpPr bwMode="auto">
              <a:xfrm flipV="1">
                <a:off x="8729819" y="4659836"/>
                <a:ext cx="269429" cy="284707"/>
                <a:chOff x="720" y="3354"/>
                <a:chExt cx="192" cy="198"/>
              </a:xfrm>
            </p:grpSpPr>
            <p:sp>
              <p:nvSpPr>
                <p:cNvPr id="108" name="Oval 73">
                  <a:extLst>
                    <a:ext uri="{FF2B5EF4-FFF2-40B4-BE49-F238E27FC236}">
                      <a16:creationId xmlns:a16="http://schemas.microsoft.com/office/drawing/2014/main" id="{8FF10D12-AD43-3822-C7C0-CFDFC5B418B6}"/>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09" name="AutoShape 74">
                  <a:extLst>
                    <a:ext uri="{FF2B5EF4-FFF2-40B4-BE49-F238E27FC236}">
                      <a16:creationId xmlns:a16="http://schemas.microsoft.com/office/drawing/2014/main" id="{11BF39DC-4B30-96F6-458B-65570EC8FF2D}"/>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07" name="Text Box 75">
                <a:extLst>
                  <a:ext uri="{FF2B5EF4-FFF2-40B4-BE49-F238E27FC236}">
                    <a16:creationId xmlns:a16="http://schemas.microsoft.com/office/drawing/2014/main" id="{B806CCD6-C870-3E7D-ED0A-E2FACD45F24A}"/>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99" name="Rectangle 348">
              <a:extLst>
                <a:ext uri="{FF2B5EF4-FFF2-40B4-BE49-F238E27FC236}">
                  <a16:creationId xmlns:a16="http://schemas.microsoft.com/office/drawing/2014/main" id="{557C7A40-C94B-8644-6371-D6B90716E410}"/>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endParaRPr>
            </a:p>
          </p:txBody>
        </p:sp>
        <p:sp>
          <p:nvSpPr>
            <p:cNvPr id="100" name="Text Box 351">
              <a:extLst>
                <a:ext uri="{FF2B5EF4-FFF2-40B4-BE49-F238E27FC236}">
                  <a16:creationId xmlns:a16="http://schemas.microsoft.com/office/drawing/2014/main" id="{40C1F2B4-33DE-B136-8C3A-0602EF6CFFBD}"/>
                </a:ext>
              </a:extLst>
            </p:cNvPr>
            <p:cNvSpPr txBox="1">
              <a:spLocks noChangeArrowheads="1"/>
            </p:cNvSpPr>
            <p:nvPr/>
          </p:nvSpPr>
          <p:spPr bwMode="auto">
            <a:xfrm>
              <a:off x="8538106" y="5387438"/>
              <a:ext cx="1292924" cy="2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01" name="Rectangle 352">
              <a:extLst>
                <a:ext uri="{FF2B5EF4-FFF2-40B4-BE49-F238E27FC236}">
                  <a16:creationId xmlns:a16="http://schemas.microsoft.com/office/drawing/2014/main" id="{535A73AD-3609-EC8E-0F1E-BDD6FD88372F}"/>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2" name="Rectangle 353">
              <a:extLst>
                <a:ext uri="{FF2B5EF4-FFF2-40B4-BE49-F238E27FC236}">
                  <a16:creationId xmlns:a16="http://schemas.microsoft.com/office/drawing/2014/main" id="{681ED7B8-3251-7EDE-CF63-7551D16DE863}"/>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10" name="Group 109">
            <a:extLst>
              <a:ext uri="{FF2B5EF4-FFF2-40B4-BE49-F238E27FC236}">
                <a16:creationId xmlns:a16="http://schemas.microsoft.com/office/drawing/2014/main" id="{529FCCCF-E158-CF19-BA00-0CD4ED98535F}"/>
              </a:ext>
            </a:extLst>
          </p:cNvPr>
          <p:cNvGrpSpPr/>
          <p:nvPr/>
        </p:nvGrpSpPr>
        <p:grpSpPr>
          <a:xfrm>
            <a:off x="3118106" y="4570752"/>
            <a:ext cx="846864" cy="903287"/>
            <a:chOff x="2588968" y="4639120"/>
            <a:chExt cx="685800" cy="903287"/>
          </a:xfrm>
        </p:grpSpPr>
        <p:sp>
          <p:nvSpPr>
            <p:cNvPr id="111" name="Line 266">
              <a:extLst>
                <a:ext uri="{FF2B5EF4-FFF2-40B4-BE49-F238E27FC236}">
                  <a16:creationId xmlns:a16="http://schemas.microsoft.com/office/drawing/2014/main" id="{F19A03F2-E14D-59BB-8B22-981CB3DB9CFA}"/>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2" name="Text Box 270">
              <a:extLst>
                <a:ext uri="{FF2B5EF4-FFF2-40B4-BE49-F238E27FC236}">
                  <a16:creationId xmlns:a16="http://schemas.microsoft.com/office/drawing/2014/main" id="{7C1E4211-9250-EE19-1079-58D78ABB853F}"/>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113" name="Group 361">
              <a:extLst>
                <a:ext uri="{FF2B5EF4-FFF2-40B4-BE49-F238E27FC236}">
                  <a16:creationId xmlns:a16="http://schemas.microsoft.com/office/drawing/2014/main" id="{10960F2A-580F-9AF1-3534-13D29146A237}"/>
                </a:ext>
              </a:extLst>
            </p:cNvPr>
            <p:cNvGrpSpPr>
              <a:grpSpLocks/>
            </p:cNvGrpSpPr>
            <p:nvPr/>
          </p:nvGrpSpPr>
          <p:grpSpPr bwMode="auto">
            <a:xfrm>
              <a:off x="2725493" y="4639120"/>
              <a:ext cx="381000" cy="336550"/>
              <a:chOff x="4122" y="1171"/>
              <a:chExt cx="240" cy="212"/>
            </a:xfrm>
          </p:grpSpPr>
          <p:sp>
            <p:nvSpPr>
              <p:cNvPr id="118" name="Rectangle 362">
                <a:extLst>
                  <a:ext uri="{FF2B5EF4-FFF2-40B4-BE49-F238E27FC236}">
                    <a16:creationId xmlns:a16="http://schemas.microsoft.com/office/drawing/2014/main" id="{C17E9A1A-4BDF-8DFE-39E1-D83A33005A5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19" name="Text Box 363">
                <a:extLst>
                  <a:ext uri="{FF2B5EF4-FFF2-40B4-BE49-F238E27FC236}">
                    <a16:creationId xmlns:a16="http://schemas.microsoft.com/office/drawing/2014/main" id="{C78B11AD-50D2-120F-966D-E348ADEF3F3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20" name="AutoShape 364">
                <a:extLst>
                  <a:ext uri="{FF2B5EF4-FFF2-40B4-BE49-F238E27FC236}">
                    <a16:creationId xmlns:a16="http://schemas.microsoft.com/office/drawing/2014/main" id="{12DE3974-A1C4-479A-F4B3-328E8F46532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1" name="AutoShape 365">
                <a:extLst>
                  <a:ext uri="{FF2B5EF4-FFF2-40B4-BE49-F238E27FC236}">
                    <a16:creationId xmlns:a16="http://schemas.microsoft.com/office/drawing/2014/main" id="{AAED1478-4F01-1777-20B6-53C692266AE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2" name="AutoShape 366">
                <a:extLst>
                  <a:ext uri="{FF2B5EF4-FFF2-40B4-BE49-F238E27FC236}">
                    <a16:creationId xmlns:a16="http://schemas.microsoft.com/office/drawing/2014/main" id="{7C0B7E65-31D5-9D68-1B33-117F80DFE1C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14" name="Group 391">
              <a:extLst>
                <a:ext uri="{FF2B5EF4-FFF2-40B4-BE49-F238E27FC236}">
                  <a16:creationId xmlns:a16="http://schemas.microsoft.com/office/drawing/2014/main" id="{E12B0F96-A97E-1242-0B89-07760C634D83}"/>
                </a:ext>
              </a:extLst>
            </p:cNvPr>
            <p:cNvGrpSpPr>
              <a:grpSpLocks/>
            </p:cNvGrpSpPr>
            <p:nvPr/>
          </p:nvGrpSpPr>
          <p:grpSpPr bwMode="auto">
            <a:xfrm>
              <a:off x="2725493" y="5009007"/>
              <a:ext cx="381000" cy="533400"/>
              <a:chOff x="576" y="1200"/>
              <a:chExt cx="240" cy="336"/>
            </a:xfrm>
          </p:grpSpPr>
          <p:sp>
            <p:nvSpPr>
              <p:cNvPr id="115" name="Rectangle 392">
                <a:extLst>
                  <a:ext uri="{FF2B5EF4-FFF2-40B4-BE49-F238E27FC236}">
                    <a16:creationId xmlns:a16="http://schemas.microsoft.com/office/drawing/2014/main" id="{734DFAE6-0D8B-2434-EAB2-872B8C0799D8}"/>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16" name="Line 393">
                <a:extLst>
                  <a:ext uri="{FF2B5EF4-FFF2-40B4-BE49-F238E27FC236}">
                    <a16:creationId xmlns:a16="http://schemas.microsoft.com/office/drawing/2014/main" id="{A561DCB0-BFE3-3857-4B9E-F634CDE09CFE}"/>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17" name="Line 394">
                <a:extLst>
                  <a:ext uri="{FF2B5EF4-FFF2-40B4-BE49-F238E27FC236}">
                    <a16:creationId xmlns:a16="http://schemas.microsoft.com/office/drawing/2014/main" id="{B2BB2E98-54E2-B80B-D7C0-5CD70350DEE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23" name="Group 122">
            <a:extLst>
              <a:ext uri="{FF2B5EF4-FFF2-40B4-BE49-F238E27FC236}">
                <a16:creationId xmlns:a16="http://schemas.microsoft.com/office/drawing/2014/main" id="{5F33E7CC-DF6A-DF3B-47CD-84B6EDB2FEEF}"/>
              </a:ext>
            </a:extLst>
          </p:cNvPr>
          <p:cNvGrpSpPr/>
          <p:nvPr/>
        </p:nvGrpSpPr>
        <p:grpSpPr>
          <a:xfrm>
            <a:off x="5051250" y="4577329"/>
            <a:ext cx="717482" cy="903287"/>
            <a:chOff x="4046293" y="4639120"/>
            <a:chExt cx="581025" cy="903287"/>
          </a:xfrm>
        </p:grpSpPr>
        <p:sp>
          <p:nvSpPr>
            <p:cNvPr id="124" name="Line 265">
              <a:extLst>
                <a:ext uri="{FF2B5EF4-FFF2-40B4-BE49-F238E27FC236}">
                  <a16:creationId xmlns:a16="http://schemas.microsoft.com/office/drawing/2014/main" id="{56795B62-F5AE-05B1-9D40-5B1C7506E6FC}"/>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25" name="Text Box 277">
              <a:extLst>
                <a:ext uri="{FF2B5EF4-FFF2-40B4-BE49-F238E27FC236}">
                  <a16:creationId xmlns:a16="http://schemas.microsoft.com/office/drawing/2014/main" id="{463A480C-4F10-585C-E7E0-6E4DF9010704}"/>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126" name="Group 367">
              <a:extLst>
                <a:ext uri="{FF2B5EF4-FFF2-40B4-BE49-F238E27FC236}">
                  <a16:creationId xmlns:a16="http://schemas.microsoft.com/office/drawing/2014/main" id="{C44CA709-EC5F-3E26-0D31-9D16C60220FD}"/>
                </a:ext>
              </a:extLst>
            </p:cNvPr>
            <p:cNvGrpSpPr>
              <a:grpSpLocks/>
            </p:cNvGrpSpPr>
            <p:nvPr/>
          </p:nvGrpSpPr>
          <p:grpSpPr bwMode="auto">
            <a:xfrm>
              <a:off x="4078043" y="4639120"/>
              <a:ext cx="381000" cy="336550"/>
              <a:chOff x="4122" y="1171"/>
              <a:chExt cx="240" cy="212"/>
            </a:xfrm>
          </p:grpSpPr>
          <p:sp>
            <p:nvSpPr>
              <p:cNvPr id="131" name="Rectangle 368">
                <a:extLst>
                  <a:ext uri="{FF2B5EF4-FFF2-40B4-BE49-F238E27FC236}">
                    <a16:creationId xmlns:a16="http://schemas.microsoft.com/office/drawing/2014/main" id="{EC1F882A-A2BC-A833-DE9E-D4132492E425}"/>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2" name="Text Box 369">
                <a:extLst>
                  <a:ext uri="{FF2B5EF4-FFF2-40B4-BE49-F238E27FC236}">
                    <a16:creationId xmlns:a16="http://schemas.microsoft.com/office/drawing/2014/main" id="{D45072F4-CC89-90E2-A261-74099150838F}"/>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33" name="AutoShape 370">
                <a:extLst>
                  <a:ext uri="{FF2B5EF4-FFF2-40B4-BE49-F238E27FC236}">
                    <a16:creationId xmlns:a16="http://schemas.microsoft.com/office/drawing/2014/main" id="{810D369F-DF83-A3EF-E53E-F07654A671EB}"/>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4" name="AutoShape 371">
                <a:extLst>
                  <a:ext uri="{FF2B5EF4-FFF2-40B4-BE49-F238E27FC236}">
                    <a16:creationId xmlns:a16="http://schemas.microsoft.com/office/drawing/2014/main" id="{00D69573-5866-AB2D-143D-ACA159C1185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35" name="AutoShape 372">
                <a:extLst>
                  <a:ext uri="{FF2B5EF4-FFF2-40B4-BE49-F238E27FC236}">
                    <a16:creationId xmlns:a16="http://schemas.microsoft.com/office/drawing/2014/main" id="{FD52C466-7FC4-A2AD-F2E3-CCC621EA8C1C}"/>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27" name="Group 395">
              <a:extLst>
                <a:ext uri="{FF2B5EF4-FFF2-40B4-BE49-F238E27FC236}">
                  <a16:creationId xmlns:a16="http://schemas.microsoft.com/office/drawing/2014/main" id="{CC486251-E5B4-712C-A4D8-A2CFCED8F82C}"/>
                </a:ext>
              </a:extLst>
            </p:cNvPr>
            <p:cNvGrpSpPr>
              <a:grpSpLocks/>
            </p:cNvGrpSpPr>
            <p:nvPr/>
          </p:nvGrpSpPr>
          <p:grpSpPr bwMode="auto">
            <a:xfrm>
              <a:off x="4078043" y="5009007"/>
              <a:ext cx="381000" cy="533400"/>
              <a:chOff x="576" y="1200"/>
              <a:chExt cx="240" cy="336"/>
            </a:xfrm>
          </p:grpSpPr>
          <p:sp>
            <p:nvSpPr>
              <p:cNvPr id="128" name="Rectangle 396">
                <a:extLst>
                  <a:ext uri="{FF2B5EF4-FFF2-40B4-BE49-F238E27FC236}">
                    <a16:creationId xmlns:a16="http://schemas.microsoft.com/office/drawing/2014/main" id="{10CB8B73-9A1B-2DC9-845E-84DEE6A24B7B}"/>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29" name="Line 397">
                <a:extLst>
                  <a:ext uri="{FF2B5EF4-FFF2-40B4-BE49-F238E27FC236}">
                    <a16:creationId xmlns:a16="http://schemas.microsoft.com/office/drawing/2014/main" id="{E5B657F8-D24D-BCDB-6A94-5F58C0064242}"/>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0" name="Line 398">
                <a:extLst>
                  <a:ext uri="{FF2B5EF4-FFF2-40B4-BE49-F238E27FC236}">
                    <a16:creationId xmlns:a16="http://schemas.microsoft.com/office/drawing/2014/main" id="{F40864E2-BEDE-EC5A-922F-7730D06E14F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36" name="Group 135">
            <a:extLst>
              <a:ext uri="{FF2B5EF4-FFF2-40B4-BE49-F238E27FC236}">
                <a16:creationId xmlns:a16="http://schemas.microsoft.com/office/drawing/2014/main" id="{70E88972-F40F-DFC3-45F8-C2960B4DDEE5}"/>
              </a:ext>
            </a:extLst>
          </p:cNvPr>
          <p:cNvGrpSpPr/>
          <p:nvPr/>
        </p:nvGrpSpPr>
        <p:grpSpPr>
          <a:xfrm>
            <a:off x="6759608" y="4525695"/>
            <a:ext cx="719443" cy="903287"/>
            <a:chOff x="6585196" y="4639120"/>
            <a:chExt cx="582613" cy="903287"/>
          </a:xfrm>
        </p:grpSpPr>
        <p:sp>
          <p:nvSpPr>
            <p:cNvPr id="137" name="Line 264">
              <a:extLst>
                <a:ext uri="{FF2B5EF4-FFF2-40B4-BE49-F238E27FC236}">
                  <a16:creationId xmlns:a16="http://schemas.microsoft.com/office/drawing/2014/main" id="{A467A91A-0EA9-B587-27D9-F19EFD1A3256}"/>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8" name="Text Box 271">
              <a:extLst>
                <a:ext uri="{FF2B5EF4-FFF2-40B4-BE49-F238E27FC236}">
                  <a16:creationId xmlns:a16="http://schemas.microsoft.com/office/drawing/2014/main" id="{EAC6D14C-D268-C622-9D8C-7F77796FB92B}"/>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139" name="Group 373">
              <a:extLst>
                <a:ext uri="{FF2B5EF4-FFF2-40B4-BE49-F238E27FC236}">
                  <a16:creationId xmlns:a16="http://schemas.microsoft.com/office/drawing/2014/main" id="{A9C0C473-0FED-2F00-0A18-E8A1B4E75942}"/>
                </a:ext>
              </a:extLst>
            </p:cNvPr>
            <p:cNvGrpSpPr>
              <a:grpSpLocks/>
            </p:cNvGrpSpPr>
            <p:nvPr/>
          </p:nvGrpSpPr>
          <p:grpSpPr bwMode="auto">
            <a:xfrm>
              <a:off x="6632821" y="4639120"/>
              <a:ext cx="381000" cy="336550"/>
              <a:chOff x="4122" y="1171"/>
              <a:chExt cx="240" cy="212"/>
            </a:xfrm>
          </p:grpSpPr>
          <p:sp>
            <p:nvSpPr>
              <p:cNvPr id="144" name="Rectangle 374">
                <a:extLst>
                  <a:ext uri="{FF2B5EF4-FFF2-40B4-BE49-F238E27FC236}">
                    <a16:creationId xmlns:a16="http://schemas.microsoft.com/office/drawing/2014/main" id="{5B8A46D3-5556-161F-C10A-DC1E73C8CE69}"/>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5" name="Text Box 375">
                <a:extLst>
                  <a:ext uri="{FF2B5EF4-FFF2-40B4-BE49-F238E27FC236}">
                    <a16:creationId xmlns:a16="http://schemas.microsoft.com/office/drawing/2014/main" id="{82935845-0425-50BE-5075-90A1B03C13B0}"/>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46" name="AutoShape 376">
                <a:extLst>
                  <a:ext uri="{FF2B5EF4-FFF2-40B4-BE49-F238E27FC236}">
                    <a16:creationId xmlns:a16="http://schemas.microsoft.com/office/drawing/2014/main" id="{48A456CC-4060-BD3B-A16C-942C1FDE0BB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7" name="AutoShape 377">
                <a:extLst>
                  <a:ext uri="{FF2B5EF4-FFF2-40B4-BE49-F238E27FC236}">
                    <a16:creationId xmlns:a16="http://schemas.microsoft.com/office/drawing/2014/main" id="{76CE6BDA-5934-5604-9CF0-C9A16DDD1EA4}"/>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8" name="AutoShape 378">
                <a:extLst>
                  <a:ext uri="{FF2B5EF4-FFF2-40B4-BE49-F238E27FC236}">
                    <a16:creationId xmlns:a16="http://schemas.microsoft.com/office/drawing/2014/main" id="{B321AEA6-74BA-F1B1-5968-8F2724AED88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40" name="Group 399">
              <a:extLst>
                <a:ext uri="{FF2B5EF4-FFF2-40B4-BE49-F238E27FC236}">
                  <a16:creationId xmlns:a16="http://schemas.microsoft.com/office/drawing/2014/main" id="{F0057245-EFC3-CEC7-86EF-63A69A50B533}"/>
                </a:ext>
              </a:extLst>
            </p:cNvPr>
            <p:cNvGrpSpPr>
              <a:grpSpLocks/>
            </p:cNvGrpSpPr>
            <p:nvPr/>
          </p:nvGrpSpPr>
          <p:grpSpPr bwMode="auto">
            <a:xfrm>
              <a:off x="6632821" y="5009007"/>
              <a:ext cx="381000" cy="533400"/>
              <a:chOff x="576" y="1200"/>
              <a:chExt cx="240" cy="336"/>
            </a:xfrm>
          </p:grpSpPr>
          <p:sp>
            <p:nvSpPr>
              <p:cNvPr id="141" name="Rectangle 400">
                <a:extLst>
                  <a:ext uri="{FF2B5EF4-FFF2-40B4-BE49-F238E27FC236}">
                    <a16:creationId xmlns:a16="http://schemas.microsoft.com/office/drawing/2014/main" id="{766AC24D-C543-44B9-F418-626D1B56395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42" name="Line 401">
                <a:extLst>
                  <a:ext uri="{FF2B5EF4-FFF2-40B4-BE49-F238E27FC236}">
                    <a16:creationId xmlns:a16="http://schemas.microsoft.com/office/drawing/2014/main" id="{9B6CCF94-6BA4-C8B2-A945-5468A5B7CA2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43" name="Line 402">
                <a:extLst>
                  <a:ext uri="{FF2B5EF4-FFF2-40B4-BE49-F238E27FC236}">
                    <a16:creationId xmlns:a16="http://schemas.microsoft.com/office/drawing/2014/main" id="{69B23C2E-9B9C-8EB0-486E-258A8953FA3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49" name="Group 148">
            <a:extLst>
              <a:ext uri="{FF2B5EF4-FFF2-40B4-BE49-F238E27FC236}">
                <a16:creationId xmlns:a16="http://schemas.microsoft.com/office/drawing/2014/main" id="{82A9F170-A9B8-619E-52FB-F2F2389BBBE8}"/>
              </a:ext>
            </a:extLst>
          </p:cNvPr>
          <p:cNvGrpSpPr/>
          <p:nvPr/>
        </p:nvGrpSpPr>
        <p:grpSpPr>
          <a:xfrm>
            <a:off x="8539553" y="4504949"/>
            <a:ext cx="764530" cy="903287"/>
            <a:chOff x="8456859" y="4639120"/>
            <a:chExt cx="619125" cy="903287"/>
          </a:xfrm>
        </p:grpSpPr>
        <p:sp>
          <p:nvSpPr>
            <p:cNvPr id="150" name="Line 263">
              <a:extLst>
                <a:ext uri="{FF2B5EF4-FFF2-40B4-BE49-F238E27FC236}">
                  <a16:creationId xmlns:a16="http://schemas.microsoft.com/office/drawing/2014/main" id="{0FC9A3CD-CD8B-CB3C-3360-D1F36756B9DD}"/>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1" name="Text Box 268">
              <a:extLst>
                <a:ext uri="{FF2B5EF4-FFF2-40B4-BE49-F238E27FC236}">
                  <a16:creationId xmlns:a16="http://schemas.microsoft.com/office/drawing/2014/main" id="{2C36D2F6-4C8B-382C-F293-1CDE8AE6FD9E}"/>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152" name="Group 379">
              <a:extLst>
                <a:ext uri="{FF2B5EF4-FFF2-40B4-BE49-F238E27FC236}">
                  <a16:creationId xmlns:a16="http://schemas.microsoft.com/office/drawing/2014/main" id="{C9259B0D-6B5E-EA32-672E-DD4CED7FFF39}"/>
                </a:ext>
              </a:extLst>
            </p:cNvPr>
            <p:cNvGrpSpPr>
              <a:grpSpLocks/>
            </p:cNvGrpSpPr>
            <p:nvPr/>
          </p:nvGrpSpPr>
          <p:grpSpPr bwMode="auto">
            <a:xfrm>
              <a:off x="8536234" y="4639120"/>
              <a:ext cx="381000" cy="336550"/>
              <a:chOff x="4122" y="1171"/>
              <a:chExt cx="240" cy="212"/>
            </a:xfrm>
          </p:grpSpPr>
          <p:sp>
            <p:nvSpPr>
              <p:cNvPr id="157" name="Rectangle 380">
                <a:extLst>
                  <a:ext uri="{FF2B5EF4-FFF2-40B4-BE49-F238E27FC236}">
                    <a16:creationId xmlns:a16="http://schemas.microsoft.com/office/drawing/2014/main" id="{F59461B4-9336-0C18-C3CC-6BDE7E5A95C3}"/>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58" name="Text Box 381">
                <a:extLst>
                  <a:ext uri="{FF2B5EF4-FFF2-40B4-BE49-F238E27FC236}">
                    <a16:creationId xmlns:a16="http://schemas.microsoft.com/office/drawing/2014/main" id="{D8A76296-D7BF-1BCA-2181-6C1108672F2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59" name="AutoShape 382">
                <a:extLst>
                  <a:ext uri="{FF2B5EF4-FFF2-40B4-BE49-F238E27FC236}">
                    <a16:creationId xmlns:a16="http://schemas.microsoft.com/office/drawing/2014/main" id="{9D4CE479-0D97-A255-8421-DD3C3862ABD3}"/>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60" name="AutoShape 383">
                <a:extLst>
                  <a:ext uri="{FF2B5EF4-FFF2-40B4-BE49-F238E27FC236}">
                    <a16:creationId xmlns:a16="http://schemas.microsoft.com/office/drawing/2014/main" id="{35A23AF6-0E86-E535-BBCC-792CAB9310A2}"/>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61" name="AutoShape 384">
                <a:extLst>
                  <a:ext uri="{FF2B5EF4-FFF2-40B4-BE49-F238E27FC236}">
                    <a16:creationId xmlns:a16="http://schemas.microsoft.com/office/drawing/2014/main" id="{0253C8E2-0D00-C4D1-12AF-DEAECEAE1E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53" name="Group 403">
              <a:extLst>
                <a:ext uri="{FF2B5EF4-FFF2-40B4-BE49-F238E27FC236}">
                  <a16:creationId xmlns:a16="http://schemas.microsoft.com/office/drawing/2014/main" id="{FE328443-E9BA-9DD7-CC32-6E6A5BE8AD16}"/>
                </a:ext>
              </a:extLst>
            </p:cNvPr>
            <p:cNvGrpSpPr>
              <a:grpSpLocks/>
            </p:cNvGrpSpPr>
            <p:nvPr/>
          </p:nvGrpSpPr>
          <p:grpSpPr bwMode="auto">
            <a:xfrm>
              <a:off x="8536234" y="5009007"/>
              <a:ext cx="381000" cy="533400"/>
              <a:chOff x="576" y="1200"/>
              <a:chExt cx="240" cy="336"/>
            </a:xfrm>
          </p:grpSpPr>
          <p:sp>
            <p:nvSpPr>
              <p:cNvPr id="154" name="Rectangle 404">
                <a:extLst>
                  <a:ext uri="{FF2B5EF4-FFF2-40B4-BE49-F238E27FC236}">
                    <a16:creationId xmlns:a16="http://schemas.microsoft.com/office/drawing/2014/main" id="{CC731A7F-D618-4FBD-E69C-685845B563A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55" name="Line 405">
                <a:extLst>
                  <a:ext uri="{FF2B5EF4-FFF2-40B4-BE49-F238E27FC236}">
                    <a16:creationId xmlns:a16="http://schemas.microsoft.com/office/drawing/2014/main" id="{BBA2B7B5-106D-4DD6-DB61-589AD7810E6A}"/>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6" name="Line 406">
                <a:extLst>
                  <a:ext uri="{FF2B5EF4-FFF2-40B4-BE49-F238E27FC236}">
                    <a16:creationId xmlns:a16="http://schemas.microsoft.com/office/drawing/2014/main" id="{AC542A9F-C50A-D6F3-36A6-65EB08FF370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162" name="Group 161">
            <a:extLst>
              <a:ext uri="{FF2B5EF4-FFF2-40B4-BE49-F238E27FC236}">
                <a16:creationId xmlns:a16="http://schemas.microsoft.com/office/drawing/2014/main" id="{60B9F661-B569-B40D-734F-E61CCE50CB8B}"/>
              </a:ext>
            </a:extLst>
          </p:cNvPr>
          <p:cNvGrpSpPr/>
          <p:nvPr/>
        </p:nvGrpSpPr>
        <p:grpSpPr>
          <a:xfrm>
            <a:off x="1324922" y="4525695"/>
            <a:ext cx="770410" cy="903287"/>
            <a:chOff x="1231656" y="4639120"/>
            <a:chExt cx="623887" cy="903287"/>
          </a:xfrm>
        </p:grpSpPr>
        <p:sp>
          <p:nvSpPr>
            <p:cNvPr id="163" name="Line 267">
              <a:extLst>
                <a:ext uri="{FF2B5EF4-FFF2-40B4-BE49-F238E27FC236}">
                  <a16:creationId xmlns:a16="http://schemas.microsoft.com/office/drawing/2014/main" id="{9DC8F749-3868-2F38-53D6-13BEEDA5D900}"/>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4" name="Text Box 269">
              <a:extLst>
                <a:ext uri="{FF2B5EF4-FFF2-40B4-BE49-F238E27FC236}">
                  <a16:creationId xmlns:a16="http://schemas.microsoft.com/office/drawing/2014/main" id="{8BEA62A3-D7EC-9836-A348-0F0F0047E01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165" name="Group 360">
              <a:extLst>
                <a:ext uri="{FF2B5EF4-FFF2-40B4-BE49-F238E27FC236}">
                  <a16:creationId xmlns:a16="http://schemas.microsoft.com/office/drawing/2014/main" id="{B9714003-116A-3C41-0FFF-B6C7D1B7EEBD}"/>
                </a:ext>
              </a:extLst>
            </p:cNvPr>
            <p:cNvGrpSpPr>
              <a:grpSpLocks/>
            </p:cNvGrpSpPr>
            <p:nvPr/>
          </p:nvGrpSpPr>
          <p:grpSpPr bwMode="auto">
            <a:xfrm>
              <a:off x="1325318" y="4639120"/>
              <a:ext cx="381000" cy="336550"/>
              <a:chOff x="4122" y="1171"/>
              <a:chExt cx="240" cy="212"/>
            </a:xfrm>
          </p:grpSpPr>
          <p:sp>
            <p:nvSpPr>
              <p:cNvPr id="170" name="Rectangle 355">
                <a:extLst>
                  <a:ext uri="{FF2B5EF4-FFF2-40B4-BE49-F238E27FC236}">
                    <a16:creationId xmlns:a16="http://schemas.microsoft.com/office/drawing/2014/main" id="{6385ED8C-4044-4C5C-8424-9C3D74A21B86}"/>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71" name="Text Box 356">
                <a:extLst>
                  <a:ext uri="{FF2B5EF4-FFF2-40B4-BE49-F238E27FC236}">
                    <a16:creationId xmlns:a16="http://schemas.microsoft.com/office/drawing/2014/main" id="{8ACDB65F-E25E-69FC-6D37-85262C481BCF}"/>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172" name="AutoShape 357">
                <a:extLst>
                  <a:ext uri="{FF2B5EF4-FFF2-40B4-BE49-F238E27FC236}">
                    <a16:creationId xmlns:a16="http://schemas.microsoft.com/office/drawing/2014/main" id="{0BD465BF-8F0A-F67E-4C20-C678565019D6}"/>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73" name="AutoShape 358">
                <a:extLst>
                  <a:ext uri="{FF2B5EF4-FFF2-40B4-BE49-F238E27FC236}">
                    <a16:creationId xmlns:a16="http://schemas.microsoft.com/office/drawing/2014/main" id="{D33B76AC-5938-AD02-CBBE-6B328F179523}"/>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74" name="AutoShape 359">
                <a:extLst>
                  <a:ext uri="{FF2B5EF4-FFF2-40B4-BE49-F238E27FC236}">
                    <a16:creationId xmlns:a16="http://schemas.microsoft.com/office/drawing/2014/main" id="{9A31C3E1-AFD9-B65E-BFB6-2A7396079945}"/>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166" name="Group 407">
              <a:extLst>
                <a:ext uri="{FF2B5EF4-FFF2-40B4-BE49-F238E27FC236}">
                  <a16:creationId xmlns:a16="http://schemas.microsoft.com/office/drawing/2014/main" id="{FEAEA609-AF9C-A2CF-BC3C-E8FE1AFC97CC}"/>
                </a:ext>
              </a:extLst>
            </p:cNvPr>
            <p:cNvGrpSpPr>
              <a:grpSpLocks/>
            </p:cNvGrpSpPr>
            <p:nvPr/>
          </p:nvGrpSpPr>
          <p:grpSpPr bwMode="auto">
            <a:xfrm>
              <a:off x="1315793" y="5009007"/>
              <a:ext cx="381000" cy="533400"/>
              <a:chOff x="576" y="1200"/>
              <a:chExt cx="240" cy="336"/>
            </a:xfrm>
          </p:grpSpPr>
          <p:sp>
            <p:nvSpPr>
              <p:cNvPr id="167" name="Rectangle 408">
                <a:extLst>
                  <a:ext uri="{FF2B5EF4-FFF2-40B4-BE49-F238E27FC236}">
                    <a16:creationId xmlns:a16="http://schemas.microsoft.com/office/drawing/2014/main" id="{7E72F648-D2B7-37D5-F541-4681AD03F66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168" name="Line 409">
                <a:extLst>
                  <a:ext uri="{FF2B5EF4-FFF2-40B4-BE49-F238E27FC236}">
                    <a16:creationId xmlns:a16="http://schemas.microsoft.com/office/drawing/2014/main" id="{0B4A3764-11E5-23E3-FD84-CAAEF84212F3}"/>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9" name="Line 410">
                <a:extLst>
                  <a:ext uri="{FF2B5EF4-FFF2-40B4-BE49-F238E27FC236}">
                    <a16:creationId xmlns:a16="http://schemas.microsoft.com/office/drawing/2014/main" id="{27435632-AF9F-84DF-7071-7A37C60B7204}"/>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sp>
        <p:nvSpPr>
          <p:cNvPr id="184" name="Line 129">
            <a:extLst>
              <a:ext uri="{FF2B5EF4-FFF2-40B4-BE49-F238E27FC236}">
                <a16:creationId xmlns:a16="http://schemas.microsoft.com/office/drawing/2014/main" id="{0446C84D-A5FD-7AFA-31AE-6722536DF849}"/>
              </a:ext>
            </a:extLst>
          </p:cNvPr>
          <p:cNvSpPr>
            <a:spLocks noChangeShapeType="1"/>
          </p:cNvSpPr>
          <p:nvPr/>
        </p:nvSpPr>
        <p:spPr bwMode="auto">
          <a:xfrm>
            <a:off x="1316758" y="5856322"/>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5" name="Line 130">
            <a:extLst>
              <a:ext uri="{FF2B5EF4-FFF2-40B4-BE49-F238E27FC236}">
                <a16:creationId xmlns:a16="http://schemas.microsoft.com/office/drawing/2014/main" id="{8B6B9745-5CE0-EFDC-8B39-B7147B679D8A}"/>
              </a:ext>
            </a:extLst>
          </p:cNvPr>
          <p:cNvSpPr>
            <a:spLocks noChangeShapeType="1"/>
          </p:cNvSpPr>
          <p:nvPr/>
        </p:nvSpPr>
        <p:spPr bwMode="auto">
          <a:xfrm>
            <a:off x="2124849" y="5880664"/>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latin typeface="Roboto" panose="02000000000000000000" pitchFamily="2" charset="0"/>
              <a:ea typeface="Roboto" panose="02000000000000000000" pitchFamily="2" charset="0"/>
            </a:endParaRPr>
          </a:p>
        </p:txBody>
      </p:sp>
      <p:sp>
        <p:nvSpPr>
          <p:cNvPr id="186" name="Line 131">
            <a:extLst>
              <a:ext uri="{FF2B5EF4-FFF2-40B4-BE49-F238E27FC236}">
                <a16:creationId xmlns:a16="http://schemas.microsoft.com/office/drawing/2014/main" id="{374AE39B-9DBF-8340-7D97-9CBB6BAC73F9}"/>
              </a:ext>
            </a:extLst>
          </p:cNvPr>
          <p:cNvSpPr>
            <a:spLocks noChangeShapeType="1"/>
          </p:cNvSpPr>
          <p:nvPr/>
        </p:nvSpPr>
        <p:spPr bwMode="auto">
          <a:xfrm flipV="1">
            <a:off x="2131081" y="6037296"/>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7" name="Line 132">
            <a:extLst>
              <a:ext uri="{FF2B5EF4-FFF2-40B4-BE49-F238E27FC236}">
                <a16:creationId xmlns:a16="http://schemas.microsoft.com/office/drawing/2014/main" id="{3CA73C82-CE88-038C-6CB4-63A7885A5B02}"/>
              </a:ext>
            </a:extLst>
          </p:cNvPr>
          <p:cNvSpPr>
            <a:spLocks noChangeShapeType="1"/>
          </p:cNvSpPr>
          <p:nvPr/>
        </p:nvSpPr>
        <p:spPr bwMode="auto">
          <a:xfrm flipV="1">
            <a:off x="3171414" y="5865847"/>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8" name="Line 133">
            <a:extLst>
              <a:ext uri="{FF2B5EF4-FFF2-40B4-BE49-F238E27FC236}">
                <a16:creationId xmlns:a16="http://schemas.microsoft.com/office/drawing/2014/main" id="{3CCE1231-3C78-620A-B132-DA88F94EEC23}"/>
              </a:ext>
            </a:extLst>
          </p:cNvPr>
          <p:cNvSpPr>
            <a:spLocks noChangeShapeType="1"/>
          </p:cNvSpPr>
          <p:nvPr/>
        </p:nvSpPr>
        <p:spPr bwMode="auto">
          <a:xfrm>
            <a:off x="3175490" y="5865847"/>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9" name="Line 134">
            <a:extLst>
              <a:ext uri="{FF2B5EF4-FFF2-40B4-BE49-F238E27FC236}">
                <a16:creationId xmlns:a16="http://schemas.microsoft.com/office/drawing/2014/main" id="{A779B45D-36C0-3617-9F73-99871BE177D1}"/>
              </a:ext>
            </a:extLst>
          </p:cNvPr>
          <p:cNvSpPr>
            <a:spLocks noChangeShapeType="1"/>
          </p:cNvSpPr>
          <p:nvPr/>
        </p:nvSpPr>
        <p:spPr bwMode="auto">
          <a:xfrm>
            <a:off x="3943059" y="5875372"/>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0" name="Line 135">
            <a:extLst>
              <a:ext uri="{FF2B5EF4-FFF2-40B4-BE49-F238E27FC236}">
                <a16:creationId xmlns:a16="http://schemas.microsoft.com/office/drawing/2014/main" id="{3F17270D-3019-0A19-3FCE-F9ABF54D4AEA}"/>
              </a:ext>
            </a:extLst>
          </p:cNvPr>
          <p:cNvSpPr>
            <a:spLocks noChangeShapeType="1"/>
          </p:cNvSpPr>
          <p:nvPr/>
        </p:nvSpPr>
        <p:spPr bwMode="auto">
          <a:xfrm>
            <a:off x="3937034" y="6041537"/>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1" name="Line 136">
            <a:extLst>
              <a:ext uri="{FF2B5EF4-FFF2-40B4-BE49-F238E27FC236}">
                <a16:creationId xmlns:a16="http://schemas.microsoft.com/office/drawing/2014/main" id="{A189EB73-67EF-F029-0DC8-AECE88FA2E0C}"/>
              </a:ext>
            </a:extLst>
          </p:cNvPr>
          <p:cNvSpPr>
            <a:spLocks noChangeShapeType="1"/>
          </p:cNvSpPr>
          <p:nvPr/>
        </p:nvSpPr>
        <p:spPr bwMode="auto">
          <a:xfrm flipV="1">
            <a:off x="5027100" y="5884897"/>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2" name="Line 137">
            <a:extLst>
              <a:ext uri="{FF2B5EF4-FFF2-40B4-BE49-F238E27FC236}">
                <a16:creationId xmlns:a16="http://schemas.microsoft.com/office/drawing/2014/main" id="{29719221-98DA-3D8A-1A7C-DCE6D974F808}"/>
              </a:ext>
            </a:extLst>
          </p:cNvPr>
          <p:cNvSpPr>
            <a:spLocks noChangeShapeType="1"/>
          </p:cNvSpPr>
          <p:nvPr/>
        </p:nvSpPr>
        <p:spPr bwMode="auto">
          <a:xfrm flipV="1">
            <a:off x="5027101" y="5880653"/>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3" name="Line 138">
            <a:extLst>
              <a:ext uri="{FF2B5EF4-FFF2-40B4-BE49-F238E27FC236}">
                <a16:creationId xmlns:a16="http://schemas.microsoft.com/office/drawing/2014/main" id="{908DE6B8-0B77-E17E-8FFA-C518715565E4}"/>
              </a:ext>
            </a:extLst>
          </p:cNvPr>
          <p:cNvSpPr>
            <a:spLocks noChangeShapeType="1"/>
          </p:cNvSpPr>
          <p:nvPr/>
        </p:nvSpPr>
        <p:spPr bwMode="auto">
          <a:xfrm>
            <a:off x="5643569" y="5875372"/>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4" name="Line 139">
            <a:extLst>
              <a:ext uri="{FF2B5EF4-FFF2-40B4-BE49-F238E27FC236}">
                <a16:creationId xmlns:a16="http://schemas.microsoft.com/office/drawing/2014/main" id="{194255DB-B77B-1A0D-850F-23106A0E7D35}"/>
              </a:ext>
            </a:extLst>
          </p:cNvPr>
          <p:cNvSpPr>
            <a:spLocks noChangeShapeType="1"/>
          </p:cNvSpPr>
          <p:nvPr/>
        </p:nvSpPr>
        <p:spPr bwMode="auto">
          <a:xfrm>
            <a:off x="5640162" y="6047920"/>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latin typeface="Roboto" panose="02000000000000000000" pitchFamily="2" charset="0"/>
              <a:ea typeface="Roboto" panose="02000000000000000000" pitchFamily="2" charset="0"/>
            </a:endParaRPr>
          </a:p>
        </p:txBody>
      </p:sp>
      <p:sp>
        <p:nvSpPr>
          <p:cNvPr id="195" name="Line 140">
            <a:extLst>
              <a:ext uri="{FF2B5EF4-FFF2-40B4-BE49-F238E27FC236}">
                <a16:creationId xmlns:a16="http://schemas.microsoft.com/office/drawing/2014/main" id="{32A6D30B-4FFF-46A7-B394-B1D82120417A}"/>
              </a:ext>
            </a:extLst>
          </p:cNvPr>
          <p:cNvSpPr>
            <a:spLocks noChangeShapeType="1"/>
          </p:cNvSpPr>
          <p:nvPr/>
        </p:nvSpPr>
        <p:spPr bwMode="auto">
          <a:xfrm flipV="1">
            <a:off x="6709948" y="5903947"/>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6" name="Line 142">
            <a:extLst>
              <a:ext uri="{FF2B5EF4-FFF2-40B4-BE49-F238E27FC236}">
                <a16:creationId xmlns:a16="http://schemas.microsoft.com/office/drawing/2014/main" id="{9E6C18C7-5D7C-927D-5833-D24882026A64}"/>
              </a:ext>
            </a:extLst>
          </p:cNvPr>
          <p:cNvSpPr>
            <a:spLocks noChangeShapeType="1"/>
          </p:cNvSpPr>
          <p:nvPr/>
        </p:nvSpPr>
        <p:spPr bwMode="auto">
          <a:xfrm>
            <a:off x="6714148" y="5894422"/>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7" name="Line 143">
            <a:extLst>
              <a:ext uri="{FF2B5EF4-FFF2-40B4-BE49-F238E27FC236}">
                <a16:creationId xmlns:a16="http://schemas.microsoft.com/office/drawing/2014/main" id="{4A8369E6-43B9-3E35-5345-B20C98A04E07}"/>
              </a:ext>
            </a:extLst>
          </p:cNvPr>
          <p:cNvSpPr>
            <a:spLocks noChangeShapeType="1"/>
          </p:cNvSpPr>
          <p:nvPr/>
        </p:nvSpPr>
        <p:spPr bwMode="auto">
          <a:xfrm>
            <a:off x="7541608" y="5894422"/>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8" name="Line 144">
            <a:extLst>
              <a:ext uri="{FF2B5EF4-FFF2-40B4-BE49-F238E27FC236}">
                <a16:creationId xmlns:a16="http://schemas.microsoft.com/office/drawing/2014/main" id="{474ED335-5CFF-5F55-DCCF-C353B4C9DDA0}"/>
              </a:ext>
            </a:extLst>
          </p:cNvPr>
          <p:cNvSpPr>
            <a:spLocks noChangeShapeType="1"/>
          </p:cNvSpPr>
          <p:nvPr/>
        </p:nvSpPr>
        <p:spPr bwMode="auto">
          <a:xfrm>
            <a:off x="7554209" y="6065872"/>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99" name="Line 146">
            <a:extLst>
              <a:ext uri="{FF2B5EF4-FFF2-40B4-BE49-F238E27FC236}">
                <a16:creationId xmlns:a16="http://schemas.microsoft.com/office/drawing/2014/main" id="{187A991F-7947-B1F7-D42C-EFFE137D69CA}"/>
              </a:ext>
            </a:extLst>
          </p:cNvPr>
          <p:cNvSpPr>
            <a:spLocks noChangeShapeType="1"/>
          </p:cNvSpPr>
          <p:nvPr/>
        </p:nvSpPr>
        <p:spPr bwMode="auto">
          <a:xfrm flipV="1">
            <a:off x="8499277" y="5913472"/>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00" name="Line 147">
            <a:extLst>
              <a:ext uri="{FF2B5EF4-FFF2-40B4-BE49-F238E27FC236}">
                <a16:creationId xmlns:a16="http://schemas.microsoft.com/office/drawing/2014/main" id="{72CB1F48-B30A-BB90-7A97-B60006DB53D1}"/>
              </a:ext>
            </a:extLst>
          </p:cNvPr>
          <p:cNvSpPr>
            <a:spLocks noChangeShapeType="1"/>
          </p:cNvSpPr>
          <p:nvPr/>
        </p:nvSpPr>
        <p:spPr bwMode="auto">
          <a:xfrm>
            <a:off x="8495078" y="5903946"/>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01" name="Line 148">
            <a:extLst>
              <a:ext uri="{FF2B5EF4-FFF2-40B4-BE49-F238E27FC236}">
                <a16:creationId xmlns:a16="http://schemas.microsoft.com/office/drawing/2014/main" id="{2FBCCE63-E276-23F4-6DE4-8544188AB797}"/>
              </a:ext>
            </a:extLst>
          </p:cNvPr>
          <p:cNvSpPr>
            <a:spLocks noChangeShapeType="1"/>
          </p:cNvSpPr>
          <p:nvPr/>
        </p:nvSpPr>
        <p:spPr bwMode="auto">
          <a:xfrm>
            <a:off x="9278392" y="5903947"/>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02" name="Line 149">
            <a:extLst>
              <a:ext uri="{FF2B5EF4-FFF2-40B4-BE49-F238E27FC236}">
                <a16:creationId xmlns:a16="http://schemas.microsoft.com/office/drawing/2014/main" id="{F20F9A1C-7329-2E83-60C7-30AD7788F6E4}"/>
              </a:ext>
            </a:extLst>
          </p:cNvPr>
          <p:cNvSpPr>
            <a:spLocks noChangeShapeType="1"/>
          </p:cNvSpPr>
          <p:nvPr/>
        </p:nvSpPr>
        <p:spPr bwMode="auto">
          <a:xfrm>
            <a:off x="9278393" y="6084922"/>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04" name="Text Box 151">
            <a:extLst>
              <a:ext uri="{FF2B5EF4-FFF2-40B4-BE49-F238E27FC236}">
                <a16:creationId xmlns:a16="http://schemas.microsoft.com/office/drawing/2014/main" id="{9E3BFF6A-AD6B-2166-E3DD-61E801E1408B}"/>
              </a:ext>
            </a:extLst>
          </p:cNvPr>
          <p:cNvSpPr txBox="1">
            <a:spLocks noChangeArrowheads="1"/>
          </p:cNvSpPr>
          <p:nvPr/>
        </p:nvSpPr>
        <p:spPr bwMode="auto">
          <a:xfrm>
            <a:off x="9445329" y="5902360"/>
            <a:ext cx="64953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45 seconds</a:t>
            </a:r>
          </a:p>
        </p:txBody>
      </p:sp>
      <p:sp>
        <p:nvSpPr>
          <p:cNvPr id="205" name="Text Box 152">
            <a:extLst>
              <a:ext uri="{FF2B5EF4-FFF2-40B4-BE49-F238E27FC236}">
                <a16:creationId xmlns:a16="http://schemas.microsoft.com/office/drawing/2014/main" id="{16386FF7-9570-9861-9F28-DFD177C8E217}"/>
              </a:ext>
            </a:extLst>
          </p:cNvPr>
          <p:cNvSpPr txBox="1">
            <a:spLocks noChangeArrowheads="1"/>
          </p:cNvSpPr>
          <p:nvPr/>
        </p:nvSpPr>
        <p:spPr bwMode="auto">
          <a:xfrm>
            <a:off x="7662344" y="5896009"/>
            <a:ext cx="700833"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420 seconds</a:t>
            </a:r>
          </a:p>
        </p:txBody>
      </p:sp>
      <p:sp>
        <p:nvSpPr>
          <p:cNvPr id="206" name="Text Box 153">
            <a:extLst>
              <a:ext uri="{FF2B5EF4-FFF2-40B4-BE49-F238E27FC236}">
                <a16:creationId xmlns:a16="http://schemas.microsoft.com/office/drawing/2014/main" id="{DF4C80FA-5B6B-3D71-0975-56C4D3B58ED6}"/>
              </a:ext>
            </a:extLst>
          </p:cNvPr>
          <p:cNvSpPr txBox="1">
            <a:spLocks noChangeArrowheads="1"/>
          </p:cNvSpPr>
          <p:nvPr/>
        </p:nvSpPr>
        <p:spPr bwMode="auto">
          <a:xfrm>
            <a:off x="5818410" y="5878400"/>
            <a:ext cx="700833"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720 seconds</a:t>
            </a:r>
          </a:p>
        </p:txBody>
      </p:sp>
      <p:sp>
        <p:nvSpPr>
          <p:cNvPr id="207" name="Text Box 154">
            <a:extLst>
              <a:ext uri="{FF2B5EF4-FFF2-40B4-BE49-F238E27FC236}">
                <a16:creationId xmlns:a16="http://schemas.microsoft.com/office/drawing/2014/main" id="{910FA726-A56D-EF28-7265-112943A0F0E8}"/>
              </a:ext>
            </a:extLst>
          </p:cNvPr>
          <p:cNvSpPr txBox="1">
            <a:spLocks noChangeArrowheads="1"/>
          </p:cNvSpPr>
          <p:nvPr/>
        </p:nvSpPr>
        <p:spPr bwMode="auto">
          <a:xfrm>
            <a:off x="4082430" y="5867964"/>
            <a:ext cx="700833"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780 seconds</a:t>
            </a:r>
          </a:p>
        </p:txBody>
      </p:sp>
      <p:sp>
        <p:nvSpPr>
          <p:cNvPr id="208" name="Text Box 155">
            <a:extLst>
              <a:ext uri="{FF2B5EF4-FFF2-40B4-BE49-F238E27FC236}">
                <a16:creationId xmlns:a16="http://schemas.microsoft.com/office/drawing/2014/main" id="{38D18E92-77DB-727B-50E0-0EC186F96808}"/>
              </a:ext>
            </a:extLst>
          </p:cNvPr>
          <p:cNvSpPr txBox="1">
            <a:spLocks noChangeArrowheads="1"/>
          </p:cNvSpPr>
          <p:nvPr/>
        </p:nvSpPr>
        <p:spPr bwMode="auto">
          <a:xfrm>
            <a:off x="2303601" y="5875372"/>
            <a:ext cx="64953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15 seconds</a:t>
            </a:r>
          </a:p>
        </p:txBody>
      </p:sp>
      <p:grpSp>
        <p:nvGrpSpPr>
          <p:cNvPr id="5" name="Group 311">
            <a:extLst>
              <a:ext uri="{FF2B5EF4-FFF2-40B4-BE49-F238E27FC236}">
                <a16:creationId xmlns:a16="http://schemas.microsoft.com/office/drawing/2014/main" id="{E03E780F-4A46-DAAF-0402-691DD5A6454C}"/>
              </a:ext>
            </a:extLst>
          </p:cNvPr>
          <p:cNvGrpSpPr>
            <a:grpSpLocks/>
          </p:cNvGrpSpPr>
          <p:nvPr/>
        </p:nvGrpSpPr>
        <p:grpSpPr bwMode="auto">
          <a:xfrm>
            <a:off x="10319956" y="5815693"/>
            <a:ext cx="963612" cy="481013"/>
            <a:chOff x="4895" y="3444"/>
            <a:chExt cx="607" cy="303"/>
          </a:xfrm>
        </p:grpSpPr>
        <p:sp>
          <p:nvSpPr>
            <p:cNvPr id="6" name="Text Box 170">
              <a:extLst>
                <a:ext uri="{FF2B5EF4-FFF2-40B4-BE49-F238E27FC236}">
                  <a16:creationId xmlns:a16="http://schemas.microsoft.com/office/drawing/2014/main" id="{54706A86-8CE6-A2A7-35BE-A017214DF64B}"/>
                </a:ext>
              </a:extLst>
            </p:cNvPr>
            <p:cNvSpPr txBox="1">
              <a:spLocks noChangeArrowheads="1"/>
            </p:cNvSpPr>
            <p:nvPr/>
          </p:nvSpPr>
          <p:spPr bwMode="auto">
            <a:xfrm>
              <a:off x="4936" y="3501"/>
              <a:ext cx="511"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latin typeface="Roboto" panose="02000000000000000000" pitchFamily="2" charset="0"/>
                <a:ea typeface="Roboto" panose="02000000000000000000" pitchFamily="2" charset="0"/>
              </a:endParaRPr>
            </a:p>
            <a:p>
              <a:pPr algn="r">
                <a:lnSpc>
                  <a:spcPct val="100000"/>
                </a:lnSpc>
                <a:spcBef>
                  <a:spcPct val="30000"/>
                </a:spcBef>
                <a:spcAft>
                  <a:spcPct val="0"/>
                </a:spcAft>
                <a:buClrTx/>
                <a:buSzTx/>
                <a:buFontTx/>
                <a:buNone/>
              </a:pPr>
              <a:r>
                <a:rPr lang="en-US" altLang="en-US" sz="700">
                  <a:latin typeface="Roboto" panose="02000000000000000000" pitchFamily="2" charset="0"/>
                  <a:ea typeface="Roboto" panose="02000000000000000000" pitchFamily="2" charset="0"/>
                </a:rPr>
                <a:t>P.T = 1,980 sec</a:t>
              </a:r>
            </a:p>
          </p:txBody>
        </p:sp>
        <p:sp>
          <p:nvSpPr>
            <p:cNvPr id="8" name="Line 171">
              <a:extLst>
                <a:ext uri="{FF2B5EF4-FFF2-40B4-BE49-F238E27FC236}">
                  <a16:creationId xmlns:a16="http://schemas.microsoft.com/office/drawing/2014/main" id="{625EEA46-CE5D-3CF6-C1A6-A2983B64E022}"/>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 name="Rectangle 172">
              <a:extLst>
                <a:ext uri="{FF2B5EF4-FFF2-40B4-BE49-F238E27FC236}">
                  <a16:creationId xmlns:a16="http://schemas.microsoft.com/office/drawing/2014/main" id="{F09AC9D2-1875-F477-F2D0-445F1F737497}"/>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endParaRPr>
            </a:p>
          </p:txBody>
        </p:sp>
        <p:sp>
          <p:nvSpPr>
            <p:cNvPr id="10" name="Text Box 173">
              <a:extLst>
                <a:ext uri="{FF2B5EF4-FFF2-40B4-BE49-F238E27FC236}">
                  <a16:creationId xmlns:a16="http://schemas.microsoft.com/office/drawing/2014/main" id="{02D54728-39F2-4494-0260-45ADBC0AC617}"/>
                </a:ext>
              </a:extLst>
            </p:cNvPr>
            <p:cNvSpPr txBox="1">
              <a:spLocks noChangeArrowheads="1"/>
            </p:cNvSpPr>
            <p:nvPr/>
          </p:nvSpPr>
          <p:spPr bwMode="auto">
            <a:xfrm>
              <a:off x="4932" y="3444"/>
              <a:ext cx="57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L.T. =  6.8 days</a:t>
              </a:r>
              <a:r>
                <a:rPr lang="en-US" altLang="en-US" sz="1400" dirty="0">
                  <a:solidFill>
                    <a:srgbClr val="FF0000"/>
                  </a:solidFill>
                  <a:latin typeface="Roboto" panose="02000000000000000000" pitchFamily="2" charset="0"/>
                  <a:ea typeface="Roboto" panose="02000000000000000000" pitchFamily="2" charset="0"/>
                </a:rPr>
                <a:t> </a:t>
              </a:r>
              <a:endParaRPr lang="en-US" altLang="en-US" sz="1400" b="0" dirty="0">
                <a:solidFill>
                  <a:srgbClr val="FF0000"/>
                </a:solidFill>
                <a:latin typeface="Roboto" panose="02000000000000000000" pitchFamily="2" charset="0"/>
                <a:ea typeface="Roboto" panose="02000000000000000000" pitchFamily="2" charset="0"/>
              </a:endParaRPr>
            </a:p>
          </p:txBody>
        </p:sp>
      </p:grpSp>
      <p:sp>
        <p:nvSpPr>
          <p:cNvPr id="4" name="Text Box 155">
            <a:extLst>
              <a:ext uri="{FF2B5EF4-FFF2-40B4-BE49-F238E27FC236}">
                <a16:creationId xmlns:a16="http://schemas.microsoft.com/office/drawing/2014/main" id="{B06A84A2-2661-4F6A-5849-89FE41347E31}"/>
              </a:ext>
            </a:extLst>
          </p:cNvPr>
          <p:cNvSpPr txBox="1">
            <a:spLocks noChangeArrowheads="1"/>
          </p:cNvSpPr>
          <p:nvPr/>
        </p:nvSpPr>
        <p:spPr bwMode="auto">
          <a:xfrm>
            <a:off x="1455878" y="5685316"/>
            <a:ext cx="474810"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.6 days</a:t>
            </a:r>
          </a:p>
        </p:txBody>
      </p:sp>
      <p:sp>
        <p:nvSpPr>
          <p:cNvPr id="7" name="Text Box 155">
            <a:extLst>
              <a:ext uri="{FF2B5EF4-FFF2-40B4-BE49-F238E27FC236}">
                <a16:creationId xmlns:a16="http://schemas.microsoft.com/office/drawing/2014/main" id="{5B18A550-748B-2C94-0BD1-B36A425198C2}"/>
              </a:ext>
            </a:extLst>
          </p:cNvPr>
          <p:cNvSpPr txBox="1">
            <a:spLocks noChangeArrowheads="1"/>
          </p:cNvSpPr>
          <p:nvPr/>
        </p:nvSpPr>
        <p:spPr bwMode="auto">
          <a:xfrm>
            <a:off x="3278485" y="5670950"/>
            <a:ext cx="526106"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1.6 days</a:t>
            </a:r>
          </a:p>
        </p:txBody>
      </p:sp>
      <p:sp>
        <p:nvSpPr>
          <p:cNvPr id="11" name="Text Box 155">
            <a:extLst>
              <a:ext uri="{FF2B5EF4-FFF2-40B4-BE49-F238E27FC236}">
                <a16:creationId xmlns:a16="http://schemas.microsoft.com/office/drawing/2014/main" id="{F9634D99-712B-ED05-5B28-6DAC9AC83D72}"/>
              </a:ext>
            </a:extLst>
          </p:cNvPr>
          <p:cNvSpPr txBox="1">
            <a:spLocks noChangeArrowheads="1"/>
          </p:cNvSpPr>
          <p:nvPr/>
        </p:nvSpPr>
        <p:spPr bwMode="auto">
          <a:xfrm>
            <a:off x="5103281" y="5700065"/>
            <a:ext cx="449161"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4 days</a:t>
            </a:r>
          </a:p>
        </p:txBody>
      </p:sp>
      <p:sp>
        <p:nvSpPr>
          <p:cNvPr id="12" name="Text Box 155">
            <a:extLst>
              <a:ext uri="{FF2B5EF4-FFF2-40B4-BE49-F238E27FC236}">
                <a16:creationId xmlns:a16="http://schemas.microsoft.com/office/drawing/2014/main" id="{F8358119-3A1C-831F-F1F7-3AF021816DE4}"/>
              </a:ext>
            </a:extLst>
          </p:cNvPr>
          <p:cNvSpPr txBox="1">
            <a:spLocks noChangeArrowheads="1"/>
          </p:cNvSpPr>
          <p:nvPr/>
        </p:nvSpPr>
        <p:spPr bwMode="auto">
          <a:xfrm>
            <a:off x="6881587" y="5700065"/>
            <a:ext cx="449162"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0 days</a:t>
            </a:r>
          </a:p>
        </p:txBody>
      </p:sp>
      <p:sp>
        <p:nvSpPr>
          <p:cNvPr id="13" name="Text Box 155">
            <a:extLst>
              <a:ext uri="{FF2B5EF4-FFF2-40B4-BE49-F238E27FC236}">
                <a16:creationId xmlns:a16="http://schemas.microsoft.com/office/drawing/2014/main" id="{2AD13FC6-DCE6-2DB8-A5AE-D37E98A38E4F}"/>
              </a:ext>
            </a:extLst>
          </p:cNvPr>
          <p:cNvSpPr txBox="1">
            <a:spLocks noChangeArrowheads="1"/>
          </p:cNvSpPr>
          <p:nvPr/>
        </p:nvSpPr>
        <p:spPr bwMode="auto">
          <a:xfrm>
            <a:off x="8634031" y="5736718"/>
            <a:ext cx="474810"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.6 days</a:t>
            </a:r>
          </a:p>
        </p:txBody>
      </p:sp>
    </p:spTree>
    <p:extLst>
      <p:ext uri="{BB962C8B-B14F-4D97-AF65-F5344CB8AC3E}">
        <p14:creationId xmlns:p14="http://schemas.microsoft.com/office/powerpoint/2010/main" val="1501459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865375"/>
            <a:ext cx="10301007" cy="4380783"/>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Calculating Totals</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20539" y="2349587"/>
            <a:ext cx="1608270" cy="959997"/>
            <a:chOff x="437" y="1322"/>
            <a:chExt cx="583" cy="348"/>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6154327" y="2611655"/>
            <a:ext cx="1972407" cy="645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2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7311892" y="3281517"/>
            <a:ext cx="2224735" cy="1376044"/>
          </a:xfrm>
          <a:prstGeom prst="bentConnector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603105" y="3429001"/>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3465577" y="33981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7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958889" y="2904083"/>
            <a:ext cx="3528561" cy="1640196"/>
          </a:xfrm>
          <a:prstGeom prst="bentConnector3">
            <a:avLst>
              <a:gd name="adj1" fmla="val 100274"/>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720185" y="5702052"/>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607318" y="5920083"/>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415409" y="5944425"/>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421641" y="6101057"/>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61974" y="5929608"/>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66050" y="5929608"/>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33619" y="5939133"/>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27594" y="6105298"/>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317660" y="5948658"/>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317661" y="5944414"/>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34129" y="593913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30722" y="6111681"/>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6000508" y="596770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6004708" y="5958183"/>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32168" y="595818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44769" y="6129633"/>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89837" y="597723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85638" y="5967707"/>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68952" y="596770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68953" y="6148683"/>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618576" y="5966121"/>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828686" y="5959770"/>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4984752" y="5942161"/>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248772" y="5931725"/>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476848" y="5939133"/>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15 seconds</a:t>
            </a:r>
          </a:p>
        </p:txBody>
      </p:sp>
      <p:sp>
        <p:nvSpPr>
          <p:cNvPr id="75" name="Text Box 155">
            <a:extLst>
              <a:ext uri="{FF2B5EF4-FFF2-40B4-BE49-F238E27FC236}">
                <a16:creationId xmlns:a16="http://schemas.microsoft.com/office/drawing/2014/main" id="{3933DECC-EB00-6117-1C42-1CCCFD585B34}"/>
              </a:ext>
            </a:extLst>
          </p:cNvPr>
          <p:cNvSpPr txBox="1">
            <a:spLocks noChangeArrowheads="1"/>
          </p:cNvSpPr>
          <p:nvPr/>
        </p:nvSpPr>
        <p:spPr bwMode="auto">
          <a:xfrm>
            <a:off x="758363" y="5758492"/>
            <a:ext cx="474810"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.6 days</a:t>
            </a:r>
          </a:p>
        </p:txBody>
      </p:sp>
      <p:sp>
        <p:nvSpPr>
          <p:cNvPr id="76" name="Text Box 155">
            <a:extLst>
              <a:ext uri="{FF2B5EF4-FFF2-40B4-BE49-F238E27FC236}">
                <a16:creationId xmlns:a16="http://schemas.microsoft.com/office/drawing/2014/main" id="{EE0F59F3-216E-2278-7899-0CED5DE04A4F}"/>
              </a:ext>
            </a:extLst>
          </p:cNvPr>
          <p:cNvSpPr txBox="1">
            <a:spLocks noChangeArrowheads="1"/>
          </p:cNvSpPr>
          <p:nvPr/>
        </p:nvSpPr>
        <p:spPr bwMode="auto">
          <a:xfrm>
            <a:off x="2580970" y="5744126"/>
            <a:ext cx="526106"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1.6 days</a:t>
            </a:r>
          </a:p>
        </p:txBody>
      </p:sp>
      <p:sp>
        <p:nvSpPr>
          <p:cNvPr id="77" name="Text Box 155">
            <a:extLst>
              <a:ext uri="{FF2B5EF4-FFF2-40B4-BE49-F238E27FC236}">
                <a16:creationId xmlns:a16="http://schemas.microsoft.com/office/drawing/2014/main" id="{DC71E41F-35B6-0E67-7E17-B56344FE73D6}"/>
              </a:ext>
            </a:extLst>
          </p:cNvPr>
          <p:cNvSpPr txBox="1">
            <a:spLocks noChangeArrowheads="1"/>
          </p:cNvSpPr>
          <p:nvPr/>
        </p:nvSpPr>
        <p:spPr bwMode="auto">
          <a:xfrm>
            <a:off x="4405766" y="5773241"/>
            <a:ext cx="449161"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4 days</a:t>
            </a:r>
          </a:p>
        </p:txBody>
      </p:sp>
      <p:sp>
        <p:nvSpPr>
          <p:cNvPr id="78" name="Text Box 155">
            <a:extLst>
              <a:ext uri="{FF2B5EF4-FFF2-40B4-BE49-F238E27FC236}">
                <a16:creationId xmlns:a16="http://schemas.microsoft.com/office/drawing/2014/main" id="{1AF86D29-7C22-C6F4-5C4E-10B2436037B1}"/>
              </a:ext>
            </a:extLst>
          </p:cNvPr>
          <p:cNvSpPr txBox="1">
            <a:spLocks noChangeArrowheads="1"/>
          </p:cNvSpPr>
          <p:nvPr/>
        </p:nvSpPr>
        <p:spPr bwMode="auto">
          <a:xfrm>
            <a:off x="6184072" y="5773241"/>
            <a:ext cx="449162"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0 days</a:t>
            </a:r>
          </a:p>
        </p:txBody>
      </p:sp>
      <p:sp>
        <p:nvSpPr>
          <p:cNvPr id="79" name="Text Box 155">
            <a:extLst>
              <a:ext uri="{FF2B5EF4-FFF2-40B4-BE49-F238E27FC236}">
                <a16:creationId xmlns:a16="http://schemas.microsoft.com/office/drawing/2014/main" id="{8CEE0657-9178-F67F-612B-12B00497BE7C}"/>
              </a:ext>
            </a:extLst>
          </p:cNvPr>
          <p:cNvSpPr txBox="1">
            <a:spLocks noChangeArrowheads="1"/>
          </p:cNvSpPr>
          <p:nvPr/>
        </p:nvSpPr>
        <p:spPr bwMode="auto">
          <a:xfrm>
            <a:off x="7936516" y="5809894"/>
            <a:ext cx="474810"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latin typeface="Roboto" panose="02000000000000000000" pitchFamily="2" charset="0"/>
                <a:ea typeface="Roboto" panose="02000000000000000000" pitchFamily="2" charset="0"/>
              </a:rPr>
              <a:t>.6 days</a:t>
            </a:r>
          </a:p>
        </p:txBody>
      </p:sp>
    </p:spTree>
    <p:extLst>
      <p:ext uri="{BB962C8B-B14F-4D97-AF65-F5344CB8AC3E}">
        <p14:creationId xmlns:p14="http://schemas.microsoft.com/office/powerpoint/2010/main" val="2541622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Steps to Draw a Value Stream Map</a:t>
            </a:r>
            <a:endParaRPr lang="en-US" dirty="0"/>
          </a:p>
        </p:txBody>
      </p:sp>
      <p:sp>
        <p:nvSpPr>
          <p:cNvPr id="12" name="Rectangle 2">
            <a:extLst>
              <a:ext uri="{FF2B5EF4-FFF2-40B4-BE49-F238E27FC236}">
                <a16:creationId xmlns:a16="http://schemas.microsoft.com/office/drawing/2014/main" id="{F15D8299-EA47-133F-838D-AB12991BC053}"/>
              </a:ext>
            </a:extLst>
          </p:cNvPr>
          <p:cNvSpPr>
            <a:spLocks noChangeArrowheads="1"/>
          </p:cNvSpPr>
          <p:nvPr/>
        </p:nvSpPr>
        <p:spPr bwMode="auto">
          <a:xfrm>
            <a:off x="940249" y="2416683"/>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Map Customer Data</a:t>
            </a:r>
          </a:p>
        </p:txBody>
      </p:sp>
      <p:sp>
        <p:nvSpPr>
          <p:cNvPr id="13" name="Rectangle 3">
            <a:extLst>
              <a:ext uri="{FF2B5EF4-FFF2-40B4-BE49-F238E27FC236}">
                <a16:creationId xmlns:a16="http://schemas.microsoft.com/office/drawing/2014/main" id="{52DDBC21-D78F-96D5-50FC-D98289D5D62C}"/>
              </a:ext>
            </a:extLst>
          </p:cNvPr>
          <p:cNvSpPr>
            <a:spLocks noChangeArrowheads="1"/>
          </p:cNvSpPr>
          <p:nvPr/>
        </p:nvSpPr>
        <p:spPr bwMode="auto">
          <a:xfrm>
            <a:off x="940249" y="2923096"/>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Takt Time</a:t>
            </a:r>
          </a:p>
        </p:txBody>
      </p:sp>
      <p:sp>
        <p:nvSpPr>
          <p:cNvPr id="14" name="Rectangle 4">
            <a:extLst>
              <a:ext uri="{FF2B5EF4-FFF2-40B4-BE49-F238E27FC236}">
                <a16:creationId xmlns:a16="http://schemas.microsoft.com/office/drawing/2014/main" id="{0EB148E6-BAB1-00AA-5B74-3940E3647736}"/>
              </a:ext>
            </a:extLst>
          </p:cNvPr>
          <p:cNvSpPr>
            <a:spLocks noChangeArrowheads="1"/>
          </p:cNvSpPr>
          <p:nvPr/>
        </p:nvSpPr>
        <p:spPr bwMode="auto">
          <a:xfrm>
            <a:off x="940249" y="3423158"/>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Process Steps and Inventory Levels</a:t>
            </a:r>
          </a:p>
        </p:txBody>
      </p:sp>
      <p:sp>
        <p:nvSpPr>
          <p:cNvPr id="15" name="Rectangle 5">
            <a:extLst>
              <a:ext uri="{FF2B5EF4-FFF2-40B4-BE49-F238E27FC236}">
                <a16:creationId xmlns:a16="http://schemas.microsoft.com/office/drawing/2014/main" id="{B26B8B01-7A52-AD69-C538-5754CDED14DA}"/>
              </a:ext>
            </a:extLst>
          </p:cNvPr>
          <p:cNvSpPr>
            <a:spLocks noChangeArrowheads="1"/>
          </p:cNvSpPr>
          <p:nvPr/>
        </p:nvSpPr>
        <p:spPr bwMode="auto">
          <a:xfrm>
            <a:off x="940249" y="3926396"/>
            <a:ext cx="8205787"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Incoming Customer Demand</a:t>
            </a:r>
          </a:p>
        </p:txBody>
      </p:sp>
      <p:sp>
        <p:nvSpPr>
          <p:cNvPr id="16" name="Rectangle 6">
            <a:extLst>
              <a:ext uri="{FF2B5EF4-FFF2-40B4-BE49-F238E27FC236}">
                <a16:creationId xmlns:a16="http://schemas.microsoft.com/office/drawing/2014/main" id="{F38CB6E1-AF44-8943-73D0-BDAF53E012E8}"/>
              </a:ext>
            </a:extLst>
          </p:cNvPr>
          <p:cNvSpPr>
            <a:spLocks noChangeArrowheads="1"/>
          </p:cNvSpPr>
          <p:nvPr/>
        </p:nvSpPr>
        <p:spPr bwMode="auto">
          <a:xfrm>
            <a:off x="940249" y="4932871"/>
            <a:ext cx="8215312" cy="344487"/>
          </a:xfrm>
          <a:prstGeom prst="rect">
            <a:avLst/>
          </a:prstGeom>
          <a:solidFill>
            <a:srgbClr val="EE3228"/>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Map Information Flow</a:t>
            </a:r>
          </a:p>
        </p:txBody>
      </p:sp>
      <p:sp>
        <p:nvSpPr>
          <p:cNvPr id="17" name="Rectangle 7">
            <a:extLst>
              <a:ext uri="{FF2B5EF4-FFF2-40B4-BE49-F238E27FC236}">
                <a16:creationId xmlns:a16="http://schemas.microsoft.com/office/drawing/2014/main" id="{BF84D1A6-B598-B71B-5147-0436C65BE19B}"/>
              </a:ext>
            </a:extLst>
          </p:cNvPr>
          <p:cNvSpPr>
            <a:spLocks noChangeArrowheads="1"/>
          </p:cNvSpPr>
          <p:nvPr/>
        </p:nvSpPr>
        <p:spPr bwMode="auto">
          <a:xfrm>
            <a:off x="940249" y="4429633"/>
            <a:ext cx="8213725"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Calculate and Map Processing Time and Lead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65</a:t>
            </a:fld>
            <a:endParaRPr lang="en-US" dirty="0"/>
          </a:p>
        </p:txBody>
      </p:sp>
    </p:spTree>
    <p:extLst>
      <p:ext uri="{BB962C8B-B14F-4D97-AF65-F5344CB8AC3E}">
        <p14:creationId xmlns:p14="http://schemas.microsoft.com/office/powerpoint/2010/main" val="386596813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Mapping Information Flow</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200" y="1825625"/>
            <a:ext cx="5051757" cy="4351338"/>
          </a:xfrm>
        </p:spPr>
        <p:txBody>
          <a:bodyPr>
            <a:normAutofit/>
          </a:bodyPr>
          <a:lstStyle/>
          <a:p>
            <a:pPr>
              <a:lnSpc>
                <a:spcPct val="100000"/>
              </a:lnSpc>
            </a:pPr>
            <a:r>
              <a:rPr lang="en-US" sz="2400" b="1" dirty="0"/>
              <a:t>Information Flow</a:t>
            </a:r>
          </a:p>
          <a:p>
            <a:pPr lvl="1">
              <a:lnSpc>
                <a:spcPct val="100000"/>
              </a:lnSpc>
            </a:pPr>
            <a:r>
              <a:rPr lang="en-US" sz="2000" dirty="0"/>
              <a:t>The application information is entered into the </a:t>
            </a:r>
            <a:r>
              <a:rPr lang="en-US" sz="2000" b="1" dirty="0">
                <a:solidFill>
                  <a:srgbClr val="EE3228"/>
                </a:solidFill>
              </a:rPr>
              <a:t>central data base </a:t>
            </a:r>
            <a:br>
              <a:rPr lang="en-US" sz="2000" b="1" dirty="0">
                <a:solidFill>
                  <a:srgbClr val="EE3228"/>
                </a:solidFill>
              </a:rPr>
            </a:br>
            <a:r>
              <a:rPr lang="en-US" sz="2000" dirty="0"/>
              <a:t>by one of five data entry clerks.</a:t>
            </a:r>
          </a:p>
          <a:p>
            <a:pPr lvl="1">
              <a:lnSpc>
                <a:spcPct val="100000"/>
              </a:lnSpc>
            </a:pPr>
            <a:r>
              <a:rPr lang="en-US" sz="2000" dirty="0"/>
              <a:t>It takes the clerks 13 minutes to enter the data and they do so with 98% accuracy.</a:t>
            </a:r>
          </a:p>
          <a:p>
            <a:pPr lvl="1">
              <a:lnSpc>
                <a:spcPct val="100000"/>
              </a:lnSpc>
            </a:pPr>
            <a:r>
              <a:rPr lang="en-US" sz="2000" dirty="0"/>
              <a:t>Once the application information has been entered into the central data base it is submitted for an </a:t>
            </a:r>
            <a:r>
              <a:rPr lang="en-US" sz="2000" b="1" dirty="0">
                <a:solidFill>
                  <a:srgbClr val="EE3228"/>
                </a:solidFill>
              </a:rPr>
              <a:t>automated credit check.</a:t>
            </a:r>
          </a:p>
          <a:p>
            <a:pPr>
              <a:lnSpc>
                <a:spcPct val="100000"/>
              </a:lnSpc>
            </a:pPr>
            <a:endParaRPr lang="en-US" sz="2400" dirty="0"/>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66</a:t>
            </a:fld>
            <a:endParaRPr lang="en-US" dirty="0"/>
          </a:p>
        </p:txBody>
      </p:sp>
      <p:grpSp>
        <p:nvGrpSpPr>
          <p:cNvPr id="4" name="Group 4">
            <a:extLst>
              <a:ext uri="{FF2B5EF4-FFF2-40B4-BE49-F238E27FC236}">
                <a16:creationId xmlns:a16="http://schemas.microsoft.com/office/drawing/2014/main" id="{68CA5C9C-8B3B-3598-727C-16A83A27E2CA}"/>
              </a:ext>
            </a:extLst>
          </p:cNvPr>
          <p:cNvGrpSpPr>
            <a:grpSpLocks/>
          </p:cNvGrpSpPr>
          <p:nvPr/>
        </p:nvGrpSpPr>
        <p:grpSpPr bwMode="auto">
          <a:xfrm>
            <a:off x="8168621" y="2401727"/>
            <a:ext cx="1843776" cy="876300"/>
            <a:chOff x="2695" y="1751"/>
            <a:chExt cx="645" cy="552"/>
          </a:xfrm>
        </p:grpSpPr>
        <p:sp>
          <p:nvSpPr>
            <p:cNvPr id="5" name="Rectangle 5">
              <a:extLst>
                <a:ext uri="{FF2B5EF4-FFF2-40B4-BE49-F238E27FC236}">
                  <a16:creationId xmlns:a16="http://schemas.microsoft.com/office/drawing/2014/main" id="{FCE730CD-6A44-8303-B9A0-63F43F50E4AA}"/>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 name="Line 6">
              <a:extLst>
                <a:ext uri="{FF2B5EF4-FFF2-40B4-BE49-F238E27FC236}">
                  <a16:creationId xmlns:a16="http://schemas.microsoft.com/office/drawing/2014/main" id="{6CF69B78-24D0-74A6-2574-2939A0DD1CE1}"/>
                </a:ext>
              </a:extLst>
            </p:cNvPr>
            <p:cNvSpPr>
              <a:spLocks noChangeShapeType="1"/>
            </p:cNvSpPr>
            <p:nvPr/>
          </p:nvSpPr>
          <p:spPr bwMode="auto">
            <a:xfrm>
              <a:off x="2695" y="2017"/>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46" name="Group 45">
            <a:extLst>
              <a:ext uri="{FF2B5EF4-FFF2-40B4-BE49-F238E27FC236}">
                <a16:creationId xmlns:a16="http://schemas.microsoft.com/office/drawing/2014/main" id="{AEF21077-F7E3-F01F-2658-24B6A77CEF77}"/>
              </a:ext>
            </a:extLst>
          </p:cNvPr>
          <p:cNvGrpSpPr/>
          <p:nvPr/>
        </p:nvGrpSpPr>
        <p:grpSpPr>
          <a:xfrm>
            <a:off x="6841914" y="4016427"/>
            <a:ext cx="1047750" cy="876300"/>
            <a:chOff x="7574710" y="4429406"/>
            <a:chExt cx="1047750" cy="876300"/>
          </a:xfrm>
        </p:grpSpPr>
        <p:sp>
          <p:nvSpPr>
            <p:cNvPr id="7" name="Text Box 7">
              <a:extLst>
                <a:ext uri="{FF2B5EF4-FFF2-40B4-BE49-F238E27FC236}">
                  <a16:creationId xmlns:a16="http://schemas.microsoft.com/office/drawing/2014/main" id="{A66A6C8C-7185-A8E7-B221-3D8D2EE7E26B}"/>
                </a:ext>
              </a:extLst>
            </p:cNvPr>
            <p:cNvSpPr txBox="1">
              <a:spLocks noChangeArrowheads="1"/>
            </p:cNvSpPr>
            <p:nvPr/>
          </p:nvSpPr>
          <p:spPr bwMode="auto">
            <a:xfrm>
              <a:off x="7666785" y="4464331"/>
              <a:ext cx="86518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t>xxx</a:t>
              </a:r>
            </a:p>
          </p:txBody>
        </p:sp>
        <p:grpSp>
          <p:nvGrpSpPr>
            <p:cNvPr id="8" name="Group 11">
              <a:extLst>
                <a:ext uri="{FF2B5EF4-FFF2-40B4-BE49-F238E27FC236}">
                  <a16:creationId xmlns:a16="http://schemas.microsoft.com/office/drawing/2014/main" id="{73767627-FFA4-42E4-32A2-4EF35498A7DA}"/>
                </a:ext>
              </a:extLst>
            </p:cNvPr>
            <p:cNvGrpSpPr>
              <a:grpSpLocks/>
            </p:cNvGrpSpPr>
            <p:nvPr/>
          </p:nvGrpSpPr>
          <p:grpSpPr bwMode="auto">
            <a:xfrm>
              <a:off x="7574710" y="4429406"/>
              <a:ext cx="1023937" cy="876300"/>
              <a:chOff x="2695" y="1751"/>
              <a:chExt cx="645" cy="552"/>
            </a:xfrm>
          </p:grpSpPr>
          <p:sp>
            <p:nvSpPr>
              <p:cNvPr id="9" name="Rectangle 12">
                <a:extLst>
                  <a:ext uri="{FF2B5EF4-FFF2-40B4-BE49-F238E27FC236}">
                    <a16:creationId xmlns:a16="http://schemas.microsoft.com/office/drawing/2014/main" id="{68B234B7-F009-6266-D3CC-9A3410CDF515}"/>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 name="Line 13">
                <a:extLst>
                  <a:ext uri="{FF2B5EF4-FFF2-40B4-BE49-F238E27FC236}">
                    <a16:creationId xmlns:a16="http://schemas.microsoft.com/office/drawing/2014/main" id="{2B461A3B-473A-EA00-C167-0AD303C9D087}"/>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3" name="Rectangle 15">
              <a:extLst>
                <a:ext uri="{FF2B5EF4-FFF2-40B4-BE49-F238E27FC236}">
                  <a16:creationId xmlns:a16="http://schemas.microsoft.com/office/drawing/2014/main" id="{690830D1-6703-B4EC-8B71-1A6329450D7E}"/>
                </a:ext>
              </a:extLst>
            </p:cNvPr>
            <p:cNvSpPr>
              <a:spLocks noChangeArrowheads="1"/>
            </p:cNvSpPr>
            <p:nvPr/>
          </p:nvSpPr>
          <p:spPr bwMode="auto">
            <a:xfrm>
              <a:off x="7598522" y="4494493"/>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t>Data Entry</a:t>
              </a:r>
            </a:p>
          </p:txBody>
        </p:sp>
      </p:grpSp>
      <p:sp>
        <p:nvSpPr>
          <p:cNvPr id="14" name="Rectangle 16">
            <a:extLst>
              <a:ext uri="{FF2B5EF4-FFF2-40B4-BE49-F238E27FC236}">
                <a16:creationId xmlns:a16="http://schemas.microsoft.com/office/drawing/2014/main" id="{35DC6E9E-14CD-70B1-5B34-3273BE4032B5}"/>
              </a:ext>
            </a:extLst>
          </p:cNvPr>
          <p:cNvSpPr>
            <a:spLocks noChangeArrowheads="1"/>
          </p:cNvSpPr>
          <p:nvPr/>
        </p:nvSpPr>
        <p:spPr bwMode="auto">
          <a:xfrm>
            <a:off x="8063845" y="2873926"/>
            <a:ext cx="2112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dirty="0"/>
              <a:t>Credit Check</a:t>
            </a:r>
          </a:p>
        </p:txBody>
      </p:sp>
      <p:grpSp>
        <p:nvGrpSpPr>
          <p:cNvPr id="15" name="Group 17">
            <a:extLst>
              <a:ext uri="{FF2B5EF4-FFF2-40B4-BE49-F238E27FC236}">
                <a16:creationId xmlns:a16="http://schemas.microsoft.com/office/drawing/2014/main" id="{880ED5C8-454B-9D94-9209-06729F367365}"/>
              </a:ext>
            </a:extLst>
          </p:cNvPr>
          <p:cNvGrpSpPr>
            <a:grpSpLocks/>
          </p:cNvGrpSpPr>
          <p:nvPr/>
        </p:nvGrpSpPr>
        <p:grpSpPr bwMode="auto">
          <a:xfrm flipV="1">
            <a:off x="9690052" y="3324776"/>
            <a:ext cx="1434575" cy="665883"/>
            <a:chOff x="636" y="2054"/>
            <a:chExt cx="200" cy="298"/>
          </a:xfrm>
        </p:grpSpPr>
        <p:sp>
          <p:nvSpPr>
            <p:cNvPr id="16" name="Line 18">
              <a:extLst>
                <a:ext uri="{FF2B5EF4-FFF2-40B4-BE49-F238E27FC236}">
                  <a16:creationId xmlns:a16="http://schemas.microsoft.com/office/drawing/2014/main" id="{BC457638-ECEF-B99D-4A4C-1F141184AE09}"/>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7" name="Line 19">
              <a:extLst>
                <a:ext uri="{FF2B5EF4-FFF2-40B4-BE49-F238E27FC236}">
                  <a16:creationId xmlns:a16="http://schemas.microsoft.com/office/drawing/2014/main" id="{712DCEE4-BECF-1FC5-30BC-364B7E997617}"/>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 name="Line 20">
              <a:extLst>
                <a:ext uri="{FF2B5EF4-FFF2-40B4-BE49-F238E27FC236}">
                  <a16:creationId xmlns:a16="http://schemas.microsoft.com/office/drawing/2014/main" id="{E16CBE29-F650-1C1F-3B44-FED80D4932E9}"/>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9" name="Group 21">
            <a:extLst>
              <a:ext uri="{FF2B5EF4-FFF2-40B4-BE49-F238E27FC236}">
                <a16:creationId xmlns:a16="http://schemas.microsoft.com/office/drawing/2014/main" id="{E0EBCFFE-26BE-AD29-D89B-95FB627E9982}"/>
              </a:ext>
            </a:extLst>
          </p:cNvPr>
          <p:cNvGrpSpPr>
            <a:grpSpLocks/>
          </p:cNvGrpSpPr>
          <p:nvPr/>
        </p:nvGrpSpPr>
        <p:grpSpPr bwMode="auto">
          <a:xfrm>
            <a:off x="7563282" y="3375378"/>
            <a:ext cx="835526" cy="615279"/>
            <a:chOff x="636" y="2054"/>
            <a:chExt cx="200" cy="298"/>
          </a:xfrm>
        </p:grpSpPr>
        <p:sp>
          <p:nvSpPr>
            <p:cNvPr id="20" name="Line 22">
              <a:extLst>
                <a:ext uri="{FF2B5EF4-FFF2-40B4-BE49-F238E27FC236}">
                  <a16:creationId xmlns:a16="http://schemas.microsoft.com/office/drawing/2014/main" id="{9692D019-6F05-2366-B911-58FD42069856}"/>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1" name="Line 23">
              <a:extLst>
                <a:ext uri="{FF2B5EF4-FFF2-40B4-BE49-F238E27FC236}">
                  <a16:creationId xmlns:a16="http://schemas.microsoft.com/office/drawing/2014/main" id="{FBBE61E5-8676-0709-5DED-97682AB0AA17}"/>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0" name="Line 24">
              <a:extLst>
                <a:ext uri="{FF2B5EF4-FFF2-40B4-BE49-F238E27FC236}">
                  <a16:creationId xmlns:a16="http://schemas.microsoft.com/office/drawing/2014/main" id="{45CE6B8F-C298-2515-92F7-33C97D24723F}"/>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1" name="Rectangle 25">
            <a:extLst>
              <a:ext uri="{FF2B5EF4-FFF2-40B4-BE49-F238E27FC236}">
                <a16:creationId xmlns:a16="http://schemas.microsoft.com/office/drawing/2014/main" id="{ABFA53BA-F29D-B2DF-6FA1-4D95AFA5E4C8}"/>
              </a:ext>
            </a:extLst>
          </p:cNvPr>
          <p:cNvSpPr>
            <a:spLocks noChangeArrowheads="1"/>
          </p:cNvSpPr>
          <p:nvPr/>
        </p:nvSpPr>
        <p:spPr bwMode="auto">
          <a:xfrm>
            <a:off x="8042917" y="2441440"/>
            <a:ext cx="224969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dirty="0"/>
              <a:t>Central Data Base</a:t>
            </a:r>
          </a:p>
        </p:txBody>
      </p:sp>
      <p:grpSp>
        <p:nvGrpSpPr>
          <p:cNvPr id="45" name="Group 44">
            <a:extLst>
              <a:ext uri="{FF2B5EF4-FFF2-40B4-BE49-F238E27FC236}">
                <a16:creationId xmlns:a16="http://schemas.microsoft.com/office/drawing/2014/main" id="{A34D67EB-9B0B-F4B9-EF19-EE021F1BAC59}"/>
              </a:ext>
            </a:extLst>
          </p:cNvPr>
          <p:cNvGrpSpPr/>
          <p:nvPr/>
        </p:nvGrpSpPr>
        <p:grpSpPr>
          <a:xfrm>
            <a:off x="9167764" y="4012890"/>
            <a:ext cx="1044575" cy="876300"/>
            <a:chOff x="9349535" y="4419881"/>
            <a:chExt cx="1044575" cy="876300"/>
          </a:xfrm>
        </p:grpSpPr>
        <p:grpSp>
          <p:nvGrpSpPr>
            <p:cNvPr id="32" name="Group 26">
              <a:extLst>
                <a:ext uri="{FF2B5EF4-FFF2-40B4-BE49-F238E27FC236}">
                  <a16:creationId xmlns:a16="http://schemas.microsoft.com/office/drawing/2014/main" id="{36DE4CD1-32B6-302E-7C41-72C0F7FE67A9}"/>
                </a:ext>
              </a:extLst>
            </p:cNvPr>
            <p:cNvGrpSpPr>
              <a:grpSpLocks/>
            </p:cNvGrpSpPr>
            <p:nvPr/>
          </p:nvGrpSpPr>
          <p:grpSpPr bwMode="auto">
            <a:xfrm>
              <a:off x="9359060" y="4419881"/>
              <a:ext cx="1023937" cy="876300"/>
              <a:chOff x="2695" y="1751"/>
              <a:chExt cx="645" cy="552"/>
            </a:xfrm>
          </p:grpSpPr>
          <p:sp>
            <p:nvSpPr>
              <p:cNvPr id="33" name="Rectangle 27">
                <a:extLst>
                  <a:ext uri="{FF2B5EF4-FFF2-40B4-BE49-F238E27FC236}">
                    <a16:creationId xmlns:a16="http://schemas.microsoft.com/office/drawing/2014/main" id="{3AE2E22D-89FB-FDB9-7F58-AEB72A6BCFD5}"/>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 name="Line 28">
                <a:extLst>
                  <a:ext uri="{FF2B5EF4-FFF2-40B4-BE49-F238E27FC236}">
                    <a16:creationId xmlns:a16="http://schemas.microsoft.com/office/drawing/2014/main" id="{4BCE566A-6A1B-AE61-91A2-D69A4CFA6628}"/>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35" name="Rectangle 29">
              <a:extLst>
                <a:ext uri="{FF2B5EF4-FFF2-40B4-BE49-F238E27FC236}">
                  <a16:creationId xmlns:a16="http://schemas.microsoft.com/office/drawing/2014/main" id="{51798256-0E4F-66DB-A51D-38488FDDF4B3}"/>
                </a:ext>
              </a:extLst>
            </p:cNvPr>
            <p:cNvSpPr>
              <a:spLocks noChangeArrowheads="1"/>
            </p:cNvSpPr>
            <p:nvPr/>
          </p:nvSpPr>
          <p:spPr bwMode="auto">
            <a:xfrm>
              <a:off x="9349535" y="4484968"/>
              <a:ext cx="1044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t>Underwrite</a:t>
              </a:r>
            </a:p>
          </p:txBody>
        </p:sp>
      </p:grpSp>
      <p:grpSp>
        <p:nvGrpSpPr>
          <p:cNvPr id="36" name="Group 30">
            <a:extLst>
              <a:ext uri="{FF2B5EF4-FFF2-40B4-BE49-F238E27FC236}">
                <a16:creationId xmlns:a16="http://schemas.microsoft.com/office/drawing/2014/main" id="{9A45EA60-413C-3154-3280-6009C480A611}"/>
              </a:ext>
            </a:extLst>
          </p:cNvPr>
          <p:cNvGrpSpPr>
            <a:grpSpLocks/>
          </p:cNvGrpSpPr>
          <p:nvPr/>
        </p:nvGrpSpPr>
        <p:grpSpPr bwMode="auto">
          <a:xfrm flipV="1">
            <a:off x="8937257" y="3294139"/>
            <a:ext cx="772893" cy="696519"/>
            <a:chOff x="636" y="2054"/>
            <a:chExt cx="200" cy="298"/>
          </a:xfrm>
        </p:grpSpPr>
        <p:sp>
          <p:nvSpPr>
            <p:cNvPr id="37" name="Line 31">
              <a:extLst>
                <a:ext uri="{FF2B5EF4-FFF2-40B4-BE49-F238E27FC236}">
                  <a16:creationId xmlns:a16="http://schemas.microsoft.com/office/drawing/2014/main" id="{11EC7EED-DE1A-829D-4EE9-F1EB90795FB2}"/>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38" name="Line 32">
              <a:extLst>
                <a:ext uri="{FF2B5EF4-FFF2-40B4-BE49-F238E27FC236}">
                  <a16:creationId xmlns:a16="http://schemas.microsoft.com/office/drawing/2014/main" id="{12BA0769-AF86-25C8-6018-6545FE56BC90}"/>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39" name="Line 33">
              <a:extLst>
                <a:ext uri="{FF2B5EF4-FFF2-40B4-BE49-F238E27FC236}">
                  <a16:creationId xmlns:a16="http://schemas.microsoft.com/office/drawing/2014/main" id="{7A42CA2B-5B55-5093-11DA-EBAAC6642328}"/>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44" name="Group 43">
            <a:extLst>
              <a:ext uri="{FF2B5EF4-FFF2-40B4-BE49-F238E27FC236}">
                <a16:creationId xmlns:a16="http://schemas.microsoft.com/office/drawing/2014/main" id="{3CF1D019-F9A2-DDA4-1A64-1E61A299810E}"/>
              </a:ext>
            </a:extLst>
          </p:cNvPr>
          <p:cNvGrpSpPr/>
          <p:nvPr/>
        </p:nvGrpSpPr>
        <p:grpSpPr>
          <a:xfrm>
            <a:off x="10714372" y="3941252"/>
            <a:ext cx="1023938" cy="954088"/>
            <a:chOff x="10609216" y="4342093"/>
            <a:chExt cx="1023938" cy="954088"/>
          </a:xfrm>
        </p:grpSpPr>
        <p:grpSp>
          <p:nvGrpSpPr>
            <p:cNvPr id="40" name="Group 8">
              <a:extLst>
                <a:ext uri="{FF2B5EF4-FFF2-40B4-BE49-F238E27FC236}">
                  <a16:creationId xmlns:a16="http://schemas.microsoft.com/office/drawing/2014/main" id="{3DBD792E-CC57-BE4B-7304-D911D3ACBF28}"/>
                </a:ext>
              </a:extLst>
            </p:cNvPr>
            <p:cNvGrpSpPr>
              <a:grpSpLocks/>
            </p:cNvGrpSpPr>
            <p:nvPr/>
          </p:nvGrpSpPr>
          <p:grpSpPr bwMode="auto">
            <a:xfrm>
              <a:off x="10609216" y="4419881"/>
              <a:ext cx="1023938" cy="876300"/>
              <a:chOff x="2695" y="1751"/>
              <a:chExt cx="645" cy="552"/>
            </a:xfrm>
          </p:grpSpPr>
          <p:sp>
            <p:nvSpPr>
              <p:cNvPr id="41" name="Rectangle 9">
                <a:extLst>
                  <a:ext uri="{FF2B5EF4-FFF2-40B4-BE49-F238E27FC236}">
                    <a16:creationId xmlns:a16="http://schemas.microsoft.com/office/drawing/2014/main" id="{B45BE8AE-F9C7-F643-B39D-AB1689E80395}"/>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2" name="Line 10">
                <a:extLst>
                  <a:ext uri="{FF2B5EF4-FFF2-40B4-BE49-F238E27FC236}">
                    <a16:creationId xmlns:a16="http://schemas.microsoft.com/office/drawing/2014/main" id="{69F9C753-EE32-80FE-0D66-9E4B4F56CC0E}"/>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43" name="Rectangle 14">
              <a:extLst>
                <a:ext uri="{FF2B5EF4-FFF2-40B4-BE49-F238E27FC236}">
                  <a16:creationId xmlns:a16="http://schemas.microsoft.com/office/drawing/2014/main" id="{634911AC-2A12-BB25-69D9-34BCDFD71615}"/>
                </a:ext>
              </a:extLst>
            </p:cNvPr>
            <p:cNvSpPr>
              <a:spLocks noChangeArrowheads="1"/>
            </p:cNvSpPr>
            <p:nvPr/>
          </p:nvSpPr>
          <p:spPr bwMode="auto">
            <a:xfrm>
              <a:off x="10645729" y="4342093"/>
              <a:ext cx="938212"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dirty="0"/>
                <a:t>Generate Package</a:t>
              </a:r>
            </a:p>
          </p:txBody>
        </p:sp>
      </p:grpSp>
    </p:spTree>
    <p:extLst>
      <p:ext uri="{BB962C8B-B14F-4D97-AF65-F5344CB8AC3E}">
        <p14:creationId xmlns:p14="http://schemas.microsoft.com/office/powerpoint/2010/main" val="134310358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690688"/>
            <a:ext cx="10301007" cy="4555471"/>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rmAutofit/>
          </a:bodyPr>
          <a:lstStyle/>
          <a:p>
            <a:r>
              <a:rPr lang="en-US" altLang="en-US" dirty="0"/>
              <a:t>Mapping Information Flow</a:t>
            </a:r>
            <a:endParaRPr lang="en-US" dirty="0"/>
          </a:p>
        </p:txBody>
      </p:sp>
      <p:sp>
        <p:nvSpPr>
          <p:cNvPr id="10" name="Text Box 53">
            <a:extLst>
              <a:ext uri="{FF2B5EF4-FFF2-40B4-BE49-F238E27FC236}">
                <a16:creationId xmlns:a16="http://schemas.microsoft.com/office/drawing/2014/main" id="{A76D5FEA-27BA-CD10-C3CB-AFAEF12D2BBB}"/>
              </a:ext>
            </a:extLst>
          </p:cNvPr>
          <p:cNvSpPr txBox="1">
            <a:spLocks noChangeArrowheads="1"/>
          </p:cNvSpPr>
          <p:nvPr/>
        </p:nvSpPr>
        <p:spPr bwMode="auto">
          <a:xfrm>
            <a:off x="3776903" y="1923606"/>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D54CF1BF-B026-A4E4-F057-EC4BB8192D8E}"/>
              </a:ext>
            </a:extLst>
          </p:cNvPr>
          <p:cNvGrpSpPr>
            <a:grpSpLocks/>
          </p:cNvGrpSpPr>
          <p:nvPr/>
        </p:nvGrpSpPr>
        <p:grpSpPr bwMode="auto">
          <a:xfrm>
            <a:off x="4642270" y="2208379"/>
            <a:ext cx="933578" cy="739841"/>
            <a:chOff x="437" y="1322"/>
            <a:chExt cx="583" cy="351"/>
          </a:xfrm>
        </p:grpSpPr>
        <p:grpSp>
          <p:nvGrpSpPr>
            <p:cNvPr id="14" name="Group 43">
              <a:extLst>
                <a:ext uri="{FF2B5EF4-FFF2-40B4-BE49-F238E27FC236}">
                  <a16:creationId xmlns:a16="http://schemas.microsoft.com/office/drawing/2014/main" id="{20D90461-ACF3-5508-CB80-9CE3F08DBADA}"/>
                </a:ext>
              </a:extLst>
            </p:cNvPr>
            <p:cNvGrpSpPr>
              <a:grpSpLocks/>
            </p:cNvGrpSpPr>
            <p:nvPr/>
          </p:nvGrpSpPr>
          <p:grpSpPr bwMode="auto">
            <a:xfrm>
              <a:off x="474" y="1322"/>
              <a:ext cx="508" cy="348"/>
              <a:chOff x="536" y="1322"/>
              <a:chExt cx="446" cy="348"/>
            </a:xfrm>
          </p:grpSpPr>
          <p:sp>
            <p:nvSpPr>
              <p:cNvPr id="16" name="Rectangle 44">
                <a:extLst>
                  <a:ext uri="{FF2B5EF4-FFF2-40B4-BE49-F238E27FC236}">
                    <a16:creationId xmlns:a16="http://schemas.microsoft.com/office/drawing/2014/main" id="{BD4C3D18-C155-9668-E7F1-6B8D975D09A7}"/>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45">
                <a:extLst>
                  <a:ext uri="{FF2B5EF4-FFF2-40B4-BE49-F238E27FC236}">
                    <a16:creationId xmlns:a16="http://schemas.microsoft.com/office/drawing/2014/main" id="{AA1D60F7-A147-034D-53EF-FB426DA0EAFB}"/>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6">
                <a:extLst>
                  <a:ext uri="{FF2B5EF4-FFF2-40B4-BE49-F238E27FC236}">
                    <a16:creationId xmlns:a16="http://schemas.microsoft.com/office/drawing/2014/main" id="{541CBF7B-6A18-0493-E5BF-7692B318CAF3}"/>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7">
                <a:extLst>
                  <a:ext uri="{FF2B5EF4-FFF2-40B4-BE49-F238E27FC236}">
                    <a16:creationId xmlns:a16="http://schemas.microsoft.com/office/drawing/2014/main" id="{CD0146CB-5630-1B9B-F1CB-750E7B6CC050}"/>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AutoShape 48">
                <a:extLst>
                  <a:ext uri="{FF2B5EF4-FFF2-40B4-BE49-F238E27FC236}">
                    <a16:creationId xmlns:a16="http://schemas.microsoft.com/office/drawing/2014/main" id="{BAB5C0D8-65C1-948C-5D21-AF7AF3223418}"/>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49">
                <a:extLst>
                  <a:ext uri="{FF2B5EF4-FFF2-40B4-BE49-F238E27FC236}">
                    <a16:creationId xmlns:a16="http://schemas.microsoft.com/office/drawing/2014/main" id="{C5EC00D8-BD1C-E824-F1E0-00E3FBAC7A2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0">
                <a:extLst>
                  <a:ext uri="{FF2B5EF4-FFF2-40B4-BE49-F238E27FC236}">
                    <a16:creationId xmlns:a16="http://schemas.microsoft.com/office/drawing/2014/main" id="{D83BCF57-8DFC-EF4F-2B2C-827F7C1014B5}"/>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3" name="Rectangle 51">
                <a:extLst>
                  <a:ext uri="{FF2B5EF4-FFF2-40B4-BE49-F238E27FC236}">
                    <a16:creationId xmlns:a16="http://schemas.microsoft.com/office/drawing/2014/main" id="{359A6EEC-02F3-5D53-4259-5396FA1F0302}"/>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5" name="Text Box 52">
              <a:extLst>
                <a:ext uri="{FF2B5EF4-FFF2-40B4-BE49-F238E27FC236}">
                  <a16:creationId xmlns:a16="http://schemas.microsoft.com/office/drawing/2014/main" id="{731A04FF-D0B0-E0CB-8B68-3A24AFC563CB}"/>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13" name="Text Box 54">
            <a:extLst>
              <a:ext uri="{FF2B5EF4-FFF2-40B4-BE49-F238E27FC236}">
                <a16:creationId xmlns:a16="http://schemas.microsoft.com/office/drawing/2014/main" id="{F6EF1471-C753-8674-446B-C30117925CA9}"/>
              </a:ext>
            </a:extLst>
          </p:cNvPr>
          <p:cNvSpPr txBox="1">
            <a:spLocks noChangeArrowheads="1"/>
          </p:cNvSpPr>
          <p:nvPr/>
        </p:nvSpPr>
        <p:spPr bwMode="auto">
          <a:xfrm>
            <a:off x="5719258" y="2268380"/>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696895" y="2666520"/>
            <a:ext cx="2675394" cy="2155380"/>
          </a:xfrm>
          <a:prstGeom prst="bentConnector3">
            <a:avLst>
              <a:gd name="adj1" fmla="val 100262"/>
            </a:avLst>
          </a:prstGeom>
          <a:noFill/>
          <a:ln w="53975" cap="sq">
            <a:solidFill>
              <a:srgbClr val="EE3228"/>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1428500" y="3088325"/>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34" name="Group 33">
            <a:extLst>
              <a:ext uri="{FF2B5EF4-FFF2-40B4-BE49-F238E27FC236}">
                <a16:creationId xmlns:a16="http://schemas.microsoft.com/office/drawing/2014/main" id="{58DA599D-1658-AA00-0B1E-A6FB5BBCB3B7}"/>
              </a:ext>
            </a:extLst>
          </p:cNvPr>
          <p:cNvGrpSpPr/>
          <p:nvPr/>
        </p:nvGrpSpPr>
        <p:grpSpPr>
          <a:xfrm>
            <a:off x="940249" y="302538"/>
            <a:ext cx="6219503" cy="311932"/>
            <a:chOff x="940249" y="302538"/>
            <a:chExt cx="6219503" cy="311932"/>
          </a:xfrm>
        </p:grpSpPr>
        <p:sp>
          <p:nvSpPr>
            <p:cNvPr id="35" name="TextBox 34">
              <a:extLst>
                <a:ext uri="{FF2B5EF4-FFF2-40B4-BE49-F238E27FC236}">
                  <a16:creationId xmlns:a16="http://schemas.microsoft.com/office/drawing/2014/main" id="{C33AD226-39BC-0904-361A-9A4FBB18FD4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36" name="AutoShape 9">
              <a:extLst>
                <a:ext uri="{FF2B5EF4-FFF2-40B4-BE49-F238E27FC236}">
                  <a16:creationId xmlns:a16="http://schemas.microsoft.com/office/drawing/2014/main" id="{0DF9962B-6883-5D03-11E9-D4B534590BC0}"/>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7" name="AutoShape 9">
              <a:extLst>
                <a:ext uri="{FF2B5EF4-FFF2-40B4-BE49-F238E27FC236}">
                  <a16:creationId xmlns:a16="http://schemas.microsoft.com/office/drawing/2014/main" id="{B1C40BE5-EAAC-7BF3-E7F5-94BEA495429E}"/>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8" name="AutoShape 9">
              <a:extLst>
                <a:ext uri="{FF2B5EF4-FFF2-40B4-BE49-F238E27FC236}">
                  <a16:creationId xmlns:a16="http://schemas.microsoft.com/office/drawing/2014/main" id="{B0A4E97D-FF94-D7BD-921C-23D8E466EF40}"/>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9" name="AutoShape 9">
              <a:extLst>
                <a:ext uri="{FF2B5EF4-FFF2-40B4-BE49-F238E27FC236}">
                  <a16:creationId xmlns:a16="http://schemas.microsoft.com/office/drawing/2014/main" id="{26506E89-58EE-866B-431D-AAECD403588B}"/>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0" name="AutoShape 11">
              <a:extLst>
                <a:ext uri="{FF2B5EF4-FFF2-40B4-BE49-F238E27FC236}">
                  <a16:creationId xmlns:a16="http://schemas.microsoft.com/office/drawing/2014/main" id="{4E4D289E-D8DA-DDC0-6066-394E9A19D1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31862"/>
            <a:chOff x="4046293" y="4639120"/>
            <a:chExt cx="581025" cy="931862"/>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38212"/>
            <a:chOff x="8456859" y="4639120"/>
            <a:chExt cx="619125" cy="938212"/>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837801" y="2602316"/>
            <a:ext cx="3751576" cy="1934859"/>
          </a:xfrm>
          <a:prstGeom prst="bentConnector3">
            <a:avLst>
              <a:gd name="adj1" fmla="val 99823"/>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695824" y="5530007"/>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594215" y="5794076"/>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804325" y="5787725"/>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4960391" y="5770116"/>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224411" y="5759680"/>
            <a:ext cx="949269"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452487" y="5767088"/>
            <a:ext cx="884164" cy="17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FF0000"/>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75" name="Slide Number Placeholder 2">
            <a:extLst>
              <a:ext uri="{FF2B5EF4-FFF2-40B4-BE49-F238E27FC236}">
                <a16:creationId xmlns:a16="http://schemas.microsoft.com/office/drawing/2014/main" id="{F4D68334-CA58-765C-AA9A-43B3B6906B2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67</a:t>
            </a:fld>
            <a:endParaRPr lang="en-US" dirty="0"/>
          </a:p>
        </p:txBody>
      </p:sp>
    </p:spTree>
    <p:extLst>
      <p:ext uri="{BB962C8B-B14F-4D97-AF65-F5344CB8AC3E}">
        <p14:creationId xmlns:p14="http://schemas.microsoft.com/office/powerpoint/2010/main" val="4379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7"/>
                                        </p:tgtEl>
                                        <p:attrNameLst>
                                          <p:attrName>style.visibility</p:attrName>
                                        </p:attrNameLst>
                                      </p:cBhvr>
                                      <p:to>
                                        <p:strVal val="visible"/>
                                      </p:to>
                                    </p:set>
                                    <p:animEffect transition="in" filter="wipe(left)">
                                      <p:cBhvr>
                                        <p:cTn id="17" dur="500"/>
                                        <p:tgtEl>
                                          <p:spTgt spid="127"/>
                                        </p:tgtEl>
                                      </p:cBhvr>
                                    </p:animEffect>
                                  </p:childTnLst>
                                </p:cTn>
                              </p:par>
                              <p:par>
                                <p:cTn id="18" presetID="22" presetClass="entr" presetSubtype="8"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Effect transition="in" filter="wipe(left)">
                                      <p:cBhvr>
                                        <p:cTn id="20" dur="500"/>
                                        <p:tgtEl>
                                          <p:spTgt spid="186"/>
                                        </p:tgtEl>
                                      </p:cBhvr>
                                    </p:animEffect>
                                  </p:childTnLst>
                                </p:cTn>
                              </p:par>
                              <p:par>
                                <p:cTn id="21" presetID="22" presetClass="entr" presetSubtype="8" fill="hold" nodeType="withEffect">
                                  <p:stCondLst>
                                    <p:cond delay="0"/>
                                  </p:stCondLst>
                                  <p:childTnLst>
                                    <p:set>
                                      <p:cBhvr>
                                        <p:cTn id="22" dur="1" fill="hold">
                                          <p:stCondLst>
                                            <p:cond delay="0"/>
                                          </p:stCondLst>
                                        </p:cTn>
                                        <p:tgtEl>
                                          <p:spTgt spid="123"/>
                                        </p:tgtEl>
                                        <p:attrNameLst>
                                          <p:attrName>style.visibility</p:attrName>
                                        </p:attrNameLst>
                                      </p:cBhvr>
                                      <p:to>
                                        <p:strVal val="visible"/>
                                      </p:to>
                                    </p:set>
                                    <p:animEffect transition="in" filter="wipe(left)">
                                      <p:cBhvr>
                                        <p:cTn id="23"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rmAutofit/>
          </a:bodyPr>
          <a:lstStyle/>
          <a:p>
            <a:r>
              <a:rPr lang="en-US" altLang="en-US" dirty="0"/>
              <a:t>Exercise: Carl</a:t>
            </a:r>
            <a:r>
              <a:rPr lang="ja-JP" altLang="en-US"/>
              <a:t>’</a:t>
            </a:r>
            <a:r>
              <a:rPr lang="en-US" altLang="ja-JP" dirty="0"/>
              <a:t>s Credit Cards</a:t>
            </a:r>
            <a:endParaRPr lang="en-US"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30000"/>
              </a:spcBef>
              <a:spcAft>
                <a:spcPct val="0"/>
              </a:spcAft>
              <a:buClrTx/>
              <a:buSzTx/>
              <a:buFontTx/>
              <a:buNone/>
            </a:pPr>
            <a:r>
              <a:rPr lang="en-US" altLang="en-US" sz="1800" dirty="0">
                <a:solidFill>
                  <a:schemeClr val="bg1"/>
                </a:solidFill>
              </a:rPr>
              <a:t>Create an accurate Current State Value Stream Map from case study example data.</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68</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600" b="0" dirty="0">
                <a:solidFill>
                  <a:schemeClr val="bg1"/>
                </a:solidFill>
              </a:rPr>
              <a:t>One person from each </a:t>
            </a:r>
            <a:br>
              <a:rPr lang="en-US" altLang="en-US" sz="1600" b="0" dirty="0">
                <a:solidFill>
                  <a:schemeClr val="bg1"/>
                </a:solidFill>
              </a:rPr>
            </a:br>
            <a:r>
              <a:rPr lang="en-US" altLang="en-US" sz="1600" b="0" dirty="0">
                <a:solidFill>
                  <a:schemeClr val="bg1"/>
                </a:solidFill>
              </a:rPr>
              <a:t>group will present map </a:t>
            </a:r>
            <a:br>
              <a:rPr lang="en-US" altLang="en-US" sz="1600" b="0" dirty="0">
                <a:solidFill>
                  <a:schemeClr val="bg1"/>
                </a:solidFill>
              </a:rPr>
            </a:br>
            <a:r>
              <a:rPr lang="en-US" altLang="en-US" sz="1600" b="0" dirty="0">
                <a:solidFill>
                  <a:schemeClr val="bg1"/>
                </a:solidFill>
              </a:rPr>
              <a:t>to the class. </a:t>
            </a:r>
          </a:p>
          <a:p>
            <a:pPr>
              <a:lnSpc>
                <a:spcPct val="100000"/>
              </a:lnSpc>
              <a:spcBef>
                <a:spcPct val="30000"/>
              </a:spcBef>
              <a:spcAft>
                <a:spcPct val="0"/>
              </a:spcAft>
              <a:buClrTx/>
              <a:buSzTx/>
              <a:buFontTx/>
              <a:buNone/>
            </a:pPr>
            <a:r>
              <a:rPr lang="en-US" altLang="en-US" sz="1600" b="0" dirty="0">
                <a:solidFill>
                  <a:schemeClr val="bg1"/>
                </a:solidFill>
              </a:rPr>
              <a:t>Comments and feedback </a:t>
            </a:r>
            <a:br>
              <a:rPr lang="en-US" altLang="en-US" sz="1600" b="0" dirty="0">
                <a:solidFill>
                  <a:schemeClr val="bg1"/>
                </a:solidFill>
              </a:rPr>
            </a:br>
            <a:r>
              <a:rPr lang="en-US" altLang="en-US" sz="1600" b="0" dirty="0">
                <a:solidFill>
                  <a:schemeClr val="bg1"/>
                </a:solidFill>
              </a:rPr>
              <a:t>encouraged. </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40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b="0" dirty="0">
                <a:solidFill>
                  <a:schemeClr val="bg1"/>
                </a:solidFill>
              </a:rPr>
              <a:t>Read through the case study data handout for Carl’s </a:t>
            </a:r>
            <a:br>
              <a:rPr lang="en-US" altLang="en-US" sz="1600" b="0" dirty="0">
                <a:solidFill>
                  <a:schemeClr val="bg1"/>
                </a:solidFill>
              </a:rPr>
            </a:br>
            <a:r>
              <a:rPr lang="en-US" altLang="en-US" sz="1600" b="0" dirty="0">
                <a:solidFill>
                  <a:schemeClr val="bg1"/>
                </a:solidFill>
              </a:rPr>
              <a:t>Credit Cards. Make notes where needed.</a:t>
            </a:r>
          </a:p>
          <a:p>
            <a:pPr>
              <a:spcBef>
                <a:spcPct val="20000"/>
              </a:spcBef>
              <a:spcAft>
                <a:spcPct val="20000"/>
              </a:spcAft>
              <a:buClrTx/>
              <a:buSzTx/>
              <a:buFontTx/>
              <a:buNone/>
            </a:pPr>
            <a:r>
              <a:rPr lang="en-US" altLang="en-US" sz="1600" b="0" dirty="0">
                <a:solidFill>
                  <a:schemeClr val="bg1"/>
                </a:solidFill>
              </a:rPr>
              <a:t>In small groups, create the Current State Map using</a:t>
            </a:r>
            <a:br>
              <a:rPr lang="en-US" altLang="en-US" sz="1600" b="0" dirty="0">
                <a:solidFill>
                  <a:schemeClr val="bg1"/>
                </a:solidFill>
              </a:rPr>
            </a:br>
            <a:r>
              <a:rPr lang="en-US" altLang="en-US" sz="1600" b="0" dirty="0">
                <a:solidFill>
                  <a:schemeClr val="bg1"/>
                </a:solidFill>
              </a:rPr>
              <a:t>chart paper and post-it notes. </a:t>
            </a:r>
          </a:p>
          <a:p>
            <a:pPr>
              <a:spcBef>
                <a:spcPct val="20000"/>
              </a:spcBef>
              <a:spcAft>
                <a:spcPct val="20000"/>
              </a:spcAft>
              <a:buClrTx/>
              <a:buSzTx/>
              <a:buFontTx/>
              <a:buNone/>
            </a:pPr>
            <a:r>
              <a:rPr lang="en-US" altLang="en-US" sz="1600" dirty="0">
                <a:solidFill>
                  <a:srgbClr val="FFB627"/>
                </a:solidFill>
              </a:rPr>
              <a:t>NOTE: KEEP YOUR COMPLETED MAP FOR</a:t>
            </a:r>
            <a:br>
              <a:rPr lang="en-US" altLang="en-US" sz="1600" dirty="0">
                <a:solidFill>
                  <a:srgbClr val="FFB627"/>
                </a:solidFill>
              </a:rPr>
            </a:br>
            <a:r>
              <a:rPr lang="en-US" altLang="en-US" sz="1600" dirty="0">
                <a:solidFill>
                  <a:srgbClr val="FFB627"/>
                </a:solidFill>
              </a:rPr>
              <a:t>LATER EXERCISE</a:t>
            </a:r>
          </a:p>
          <a:p>
            <a:pPr>
              <a:spcBef>
                <a:spcPct val="20000"/>
              </a:spcBef>
              <a:spcAft>
                <a:spcPct val="20000"/>
              </a:spcAft>
              <a:buClrTx/>
              <a:buSzTx/>
              <a:buFontTx/>
              <a:buNone/>
            </a:pPr>
            <a:endParaRPr lang="en-US" altLang="en-US" sz="1600" dirty="0">
              <a:solidFill>
                <a:schemeClr val="bg1"/>
              </a:solidFill>
            </a:endParaRP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62946871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When You Encounter Batch Processes</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200" y="1825625"/>
            <a:ext cx="5094288" cy="4351338"/>
          </a:xfrm>
        </p:spPr>
        <p:txBody>
          <a:bodyPr>
            <a:normAutofit/>
          </a:bodyPr>
          <a:lstStyle/>
          <a:p>
            <a:pPr>
              <a:lnSpc>
                <a:spcPct val="100000"/>
              </a:lnSpc>
            </a:pPr>
            <a:r>
              <a:rPr lang="en-US" sz="2400" b="1" dirty="0"/>
              <a:t>Batch Process</a:t>
            </a:r>
          </a:p>
          <a:p>
            <a:pPr lvl="1">
              <a:lnSpc>
                <a:spcPct val="100000"/>
              </a:lnSpc>
            </a:pPr>
            <a:r>
              <a:rPr lang="en-US" sz="2000" dirty="0"/>
              <a:t>Instances where “VALUE OBJECTs” (orders, applications, reports, etc.) will be queued until a certain prescribed quantity is accumulated </a:t>
            </a:r>
          </a:p>
          <a:p>
            <a:pPr lvl="1">
              <a:lnSpc>
                <a:spcPct val="100000"/>
              </a:lnSpc>
            </a:pPr>
            <a:r>
              <a:rPr lang="en-US" sz="2000" dirty="0"/>
              <a:t>Once the prescribed quantity is obtained the entire quantity is released for the next process</a:t>
            </a:r>
          </a:p>
          <a:p>
            <a:pPr lvl="1">
              <a:lnSpc>
                <a:spcPct val="100000"/>
              </a:lnSpc>
            </a:pPr>
            <a:r>
              <a:rPr lang="en-US" sz="2000" dirty="0"/>
              <a:t>The amount of time it takes to process the entire quantity is divided by the batch size to determine the individual process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69</a:t>
            </a:fld>
            <a:endParaRPr lang="en-US" dirty="0"/>
          </a:p>
        </p:txBody>
      </p:sp>
      <p:sp>
        <p:nvSpPr>
          <p:cNvPr id="4" name="Text Box 37">
            <a:extLst>
              <a:ext uri="{FF2B5EF4-FFF2-40B4-BE49-F238E27FC236}">
                <a16:creationId xmlns:a16="http://schemas.microsoft.com/office/drawing/2014/main" id="{5BB90688-40ED-A5EF-4909-CB88445916F5}"/>
              </a:ext>
            </a:extLst>
          </p:cNvPr>
          <p:cNvSpPr txBox="1">
            <a:spLocks noChangeArrowheads="1"/>
          </p:cNvSpPr>
          <p:nvPr/>
        </p:nvSpPr>
        <p:spPr bwMode="auto">
          <a:xfrm>
            <a:off x="7268279" y="5029410"/>
            <a:ext cx="122555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dirty="0"/>
              <a:t>= 780</a:t>
            </a:r>
            <a:r>
              <a:rPr lang="ja-JP" altLang="en-US"/>
              <a:t>”</a:t>
            </a:r>
            <a:endParaRPr lang="en-US" altLang="en-US" dirty="0">
              <a:solidFill>
                <a:schemeClr val="bg1"/>
              </a:solidFill>
            </a:endParaRPr>
          </a:p>
        </p:txBody>
      </p:sp>
      <p:sp>
        <p:nvSpPr>
          <p:cNvPr id="5" name="AutoShape 3">
            <a:extLst>
              <a:ext uri="{FF2B5EF4-FFF2-40B4-BE49-F238E27FC236}">
                <a16:creationId xmlns:a16="http://schemas.microsoft.com/office/drawing/2014/main" id="{B5F4C090-5AA1-FC6B-52DB-36410A89B60D}"/>
              </a:ext>
            </a:extLst>
          </p:cNvPr>
          <p:cNvSpPr>
            <a:spLocks noChangeArrowheads="1"/>
          </p:cNvSpPr>
          <p:nvPr/>
        </p:nvSpPr>
        <p:spPr bwMode="auto">
          <a:xfrm>
            <a:off x="8311216" y="2371725"/>
            <a:ext cx="333375" cy="307975"/>
          </a:xfrm>
          <a:prstGeom prst="triangle">
            <a:avLst>
              <a:gd name="adj" fmla="val 50000"/>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Times New Roman" panose="02020603050405020304" pitchFamily="18" charset="0"/>
              </a:rPr>
              <a:t>I</a:t>
            </a:r>
          </a:p>
        </p:txBody>
      </p:sp>
      <p:sp>
        <p:nvSpPr>
          <p:cNvPr id="6" name="Rectangle 4">
            <a:extLst>
              <a:ext uri="{FF2B5EF4-FFF2-40B4-BE49-F238E27FC236}">
                <a16:creationId xmlns:a16="http://schemas.microsoft.com/office/drawing/2014/main" id="{852D25A4-AEE5-914D-95A2-48C41717CAC9}"/>
              </a:ext>
            </a:extLst>
          </p:cNvPr>
          <p:cNvSpPr>
            <a:spLocks noChangeArrowheads="1"/>
          </p:cNvSpPr>
          <p:nvPr/>
        </p:nvSpPr>
        <p:spPr bwMode="auto">
          <a:xfrm>
            <a:off x="8860491" y="3833813"/>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7" name="Group 5">
            <a:extLst>
              <a:ext uri="{FF2B5EF4-FFF2-40B4-BE49-F238E27FC236}">
                <a16:creationId xmlns:a16="http://schemas.microsoft.com/office/drawing/2014/main" id="{74BCEA2F-1EC3-B92F-96B8-1165CB9EBA73}"/>
              </a:ext>
            </a:extLst>
          </p:cNvPr>
          <p:cNvGrpSpPr>
            <a:grpSpLocks/>
          </p:cNvGrpSpPr>
          <p:nvPr/>
        </p:nvGrpSpPr>
        <p:grpSpPr bwMode="auto">
          <a:xfrm>
            <a:off x="8863666" y="1897063"/>
            <a:ext cx="1751013" cy="1452562"/>
            <a:chOff x="418" y="2981"/>
            <a:chExt cx="352" cy="365"/>
          </a:xfrm>
        </p:grpSpPr>
        <p:sp>
          <p:nvSpPr>
            <p:cNvPr id="8" name="Rectangle 6">
              <a:extLst>
                <a:ext uri="{FF2B5EF4-FFF2-40B4-BE49-F238E27FC236}">
                  <a16:creationId xmlns:a16="http://schemas.microsoft.com/office/drawing/2014/main" id="{5ED7C247-466F-4E42-A956-13C09E6FC0B2}"/>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 name="Line 7">
              <a:extLst>
                <a:ext uri="{FF2B5EF4-FFF2-40B4-BE49-F238E27FC236}">
                  <a16:creationId xmlns:a16="http://schemas.microsoft.com/office/drawing/2014/main" id="{8C0DEC99-2952-3EB6-CACA-21F12A0883C7}"/>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0" name="Text Box 8">
            <a:extLst>
              <a:ext uri="{FF2B5EF4-FFF2-40B4-BE49-F238E27FC236}">
                <a16:creationId xmlns:a16="http://schemas.microsoft.com/office/drawing/2014/main" id="{40653ACA-C289-A725-B74B-38B83C23FC11}"/>
              </a:ext>
            </a:extLst>
          </p:cNvPr>
          <p:cNvSpPr txBox="1">
            <a:spLocks noChangeArrowheads="1"/>
          </p:cNvSpPr>
          <p:nvPr/>
        </p:nvSpPr>
        <p:spPr bwMode="auto">
          <a:xfrm>
            <a:off x="8904941" y="1944688"/>
            <a:ext cx="16779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t>Signature Check</a:t>
            </a:r>
          </a:p>
        </p:txBody>
      </p:sp>
      <p:grpSp>
        <p:nvGrpSpPr>
          <p:cNvPr id="11" name="Group 9">
            <a:extLst>
              <a:ext uri="{FF2B5EF4-FFF2-40B4-BE49-F238E27FC236}">
                <a16:creationId xmlns:a16="http://schemas.microsoft.com/office/drawing/2014/main" id="{F11C9C96-9E67-F2D5-BD1F-6FCC4F009585}"/>
              </a:ext>
            </a:extLst>
          </p:cNvPr>
          <p:cNvGrpSpPr>
            <a:grpSpLocks/>
          </p:cNvGrpSpPr>
          <p:nvPr/>
        </p:nvGrpSpPr>
        <p:grpSpPr bwMode="auto">
          <a:xfrm>
            <a:off x="9401829" y="2673350"/>
            <a:ext cx="857250" cy="360363"/>
            <a:chOff x="4739" y="1684"/>
            <a:chExt cx="540" cy="227"/>
          </a:xfrm>
        </p:grpSpPr>
        <p:grpSp>
          <p:nvGrpSpPr>
            <p:cNvPr id="13" name="Group 10">
              <a:extLst>
                <a:ext uri="{FF2B5EF4-FFF2-40B4-BE49-F238E27FC236}">
                  <a16:creationId xmlns:a16="http://schemas.microsoft.com/office/drawing/2014/main" id="{8788E9E0-4DCE-7AC1-3116-5FEE6F77C6C3}"/>
                </a:ext>
              </a:extLst>
            </p:cNvPr>
            <p:cNvGrpSpPr>
              <a:grpSpLocks/>
            </p:cNvGrpSpPr>
            <p:nvPr/>
          </p:nvGrpSpPr>
          <p:grpSpPr bwMode="auto">
            <a:xfrm flipV="1">
              <a:off x="4739" y="1684"/>
              <a:ext cx="206" cy="226"/>
              <a:chOff x="720" y="3354"/>
              <a:chExt cx="192" cy="198"/>
            </a:xfrm>
          </p:grpSpPr>
          <p:sp>
            <p:nvSpPr>
              <p:cNvPr id="15" name="Oval 11">
                <a:extLst>
                  <a:ext uri="{FF2B5EF4-FFF2-40B4-BE49-F238E27FC236}">
                    <a16:creationId xmlns:a16="http://schemas.microsoft.com/office/drawing/2014/main" id="{98CB442A-8242-1455-C11F-3C5CB03939FE}"/>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 name="AutoShape 12">
                <a:extLst>
                  <a:ext uri="{FF2B5EF4-FFF2-40B4-BE49-F238E27FC236}">
                    <a16:creationId xmlns:a16="http://schemas.microsoft.com/office/drawing/2014/main" id="{80A7C88C-79B2-1970-D995-E4CA471EF25C}"/>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 name="Text Box 13">
              <a:extLst>
                <a:ext uri="{FF2B5EF4-FFF2-40B4-BE49-F238E27FC236}">
                  <a16:creationId xmlns:a16="http://schemas.microsoft.com/office/drawing/2014/main" id="{CCE3D95C-0BEA-C115-D2B2-6C4E4D5FB284}"/>
                </a:ext>
              </a:extLst>
            </p:cNvPr>
            <p:cNvSpPr txBox="1">
              <a:spLocks noChangeArrowheads="1"/>
            </p:cNvSpPr>
            <p:nvPr/>
          </p:nvSpPr>
          <p:spPr bwMode="auto">
            <a:xfrm>
              <a:off x="5004" y="1719"/>
              <a:ext cx="27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t>= 1</a:t>
              </a:r>
            </a:p>
          </p:txBody>
        </p:sp>
      </p:grpSp>
      <p:sp>
        <p:nvSpPr>
          <p:cNvPr id="17" name="Text Box 14">
            <a:extLst>
              <a:ext uri="{FF2B5EF4-FFF2-40B4-BE49-F238E27FC236}">
                <a16:creationId xmlns:a16="http://schemas.microsoft.com/office/drawing/2014/main" id="{B418731B-049E-9D2B-C517-838918C16952}"/>
              </a:ext>
            </a:extLst>
          </p:cNvPr>
          <p:cNvSpPr txBox="1">
            <a:spLocks noChangeArrowheads="1"/>
          </p:cNvSpPr>
          <p:nvPr/>
        </p:nvSpPr>
        <p:spPr bwMode="auto">
          <a:xfrm>
            <a:off x="8838266" y="4806950"/>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Quality = 96%</a:t>
            </a:r>
          </a:p>
        </p:txBody>
      </p:sp>
      <p:sp>
        <p:nvSpPr>
          <p:cNvPr id="18" name="Rectangle 15">
            <a:extLst>
              <a:ext uri="{FF2B5EF4-FFF2-40B4-BE49-F238E27FC236}">
                <a16:creationId xmlns:a16="http://schemas.microsoft.com/office/drawing/2014/main" id="{A56BB082-454F-1BF3-36DF-4FE8E0DD69C2}"/>
              </a:ext>
            </a:extLst>
          </p:cNvPr>
          <p:cNvSpPr>
            <a:spLocks noChangeArrowheads="1"/>
          </p:cNvSpPr>
          <p:nvPr/>
        </p:nvSpPr>
        <p:spPr bwMode="auto">
          <a:xfrm>
            <a:off x="8846204" y="3821113"/>
            <a:ext cx="14097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Batch Processing </a:t>
            </a:r>
            <a:br>
              <a:rPr lang="en-US" altLang="en-US" sz="1200" b="0"/>
            </a:br>
            <a:r>
              <a:rPr lang="en-US" altLang="en-US" sz="1200" b="0"/>
              <a:t>Time = 3900</a:t>
            </a:r>
            <a:r>
              <a:rPr lang="ja-JP" altLang="en-US" sz="1200" b="0"/>
              <a:t>”</a:t>
            </a:r>
            <a:endParaRPr lang="en-US" altLang="en-US" sz="1200" b="0"/>
          </a:p>
        </p:txBody>
      </p:sp>
      <p:sp>
        <p:nvSpPr>
          <p:cNvPr id="19" name="Rectangle 16">
            <a:extLst>
              <a:ext uri="{FF2B5EF4-FFF2-40B4-BE49-F238E27FC236}">
                <a16:creationId xmlns:a16="http://schemas.microsoft.com/office/drawing/2014/main" id="{4FDF9320-2280-9B14-5718-65086562D6A7}"/>
              </a:ext>
            </a:extLst>
          </p:cNvPr>
          <p:cNvSpPr>
            <a:spLocks noChangeArrowheads="1"/>
          </p:cNvSpPr>
          <p:nvPr/>
        </p:nvSpPr>
        <p:spPr bwMode="auto">
          <a:xfrm>
            <a:off x="8868429" y="4568825"/>
            <a:ext cx="9334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DOI = 780</a:t>
            </a:r>
            <a:r>
              <a:rPr lang="ja-JP" altLang="en-US" sz="1200" b="0"/>
              <a:t>”</a:t>
            </a:r>
            <a:endParaRPr lang="en-US" altLang="en-US" sz="1200" b="0"/>
          </a:p>
        </p:txBody>
      </p:sp>
      <p:grpSp>
        <p:nvGrpSpPr>
          <p:cNvPr id="20" name="Group 17">
            <a:extLst>
              <a:ext uri="{FF2B5EF4-FFF2-40B4-BE49-F238E27FC236}">
                <a16:creationId xmlns:a16="http://schemas.microsoft.com/office/drawing/2014/main" id="{CC88CB31-7404-8EEB-1C20-D2D75DFF2148}"/>
              </a:ext>
            </a:extLst>
          </p:cNvPr>
          <p:cNvGrpSpPr>
            <a:grpSpLocks/>
          </p:cNvGrpSpPr>
          <p:nvPr/>
        </p:nvGrpSpPr>
        <p:grpSpPr bwMode="auto">
          <a:xfrm>
            <a:off x="8857316" y="5457825"/>
            <a:ext cx="1793875" cy="304800"/>
            <a:chOff x="3154" y="3438"/>
            <a:chExt cx="1130" cy="192"/>
          </a:xfrm>
        </p:grpSpPr>
        <p:sp>
          <p:nvSpPr>
            <p:cNvPr id="21" name="Line 18">
              <a:extLst>
                <a:ext uri="{FF2B5EF4-FFF2-40B4-BE49-F238E27FC236}">
                  <a16:creationId xmlns:a16="http://schemas.microsoft.com/office/drawing/2014/main" id="{48E26056-A233-0EB5-A73A-5F21C8904296}"/>
                </a:ext>
              </a:extLst>
            </p:cNvPr>
            <p:cNvSpPr>
              <a:spLocks noChangeShapeType="1"/>
            </p:cNvSpPr>
            <p:nvPr/>
          </p:nvSpPr>
          <p:spPr bwMode="auto">
            <a:xfrm>
              <a:off x="3154"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0" name="Line 19">
              <a:extLst>
                <a:ext uri="{FF2B5EF4-FFF2-40B4-BE49-F238E27FC236}">
                  <a16:creationId xmlns:a16="http://schemas.microsoft.com/office/drawing/2014/main" id="{B614F275-8C54-72E4-D54C-844E29D73E23}"/>
                </a:ext>
              </a:extLst>
            </p:cNvPr>
            <p:cNvSpPr>
              <a:spLocks noChangeShapeType="1"/>
            </p:cNvSpPr>
            <p:nvPr/>
          </p:nvSpPr>
          <p:spPr bwMode="auto">
            <a:xfrm>
              <a:off x="3162" y="3630"/>
              <a:ext cx="112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1" name="Line 20">
              <a:extLst>
                <a:ext uri="{FF2B5EF4-FFF2-40B4-BE49-F238E27FC236}">
                  <a16:creationId xmlns:a16="http://schemas.microsoft.com/office/drawing/2014/main" id="{1407FA5A-11D0-D91B-30C6-961539D450BC}"/>
                </a:ext>
              </a:extLst>
            </p:cNvPr>
            <p:cNvSpPr>
              <a:spLocks noChangeShapeType="1"/>
            </p:cNvSpPr>
            <p:nvPr/>
          </p:nvSpPr>
          <p:spPr bwMode="auto">
            <a:xfrm>
              <a:off x="4282" y="3438"/>
              <a:ext cx="0" cy="19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32" name="Text Box 21">
            <a:extLst>
              <a:ext uri="{FF2B5EF4-FFF2-40B4-BE49-F238E27FC236}">
                <a16:creationId xmlns:a16="http://schemas.microsoft.com/office/drawing/2014/main" id="{97E6483D-FC34-54B1-8CDA-D526453EB0DD}"/>
              </a:ext>
            </a:extLst>
          </p:cNvPr>
          <p:cNvSpPr txBox="1">
            <a:spLocks noChangeArrowheads="1"/>
          </p:cNvSpPr>
          <p:nvPr/>
        </p:nvSpPr>
        <p:spPr bwMode="auto">
          <a:xfrm>
            <a:off x="9235141" y="5541963"/>
            <a:ext cx="869950"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a:solidFill>
                  <a:srgbClr val="FF0000"/>
                </a:solidFill>
              </a:rPr>
              <a:t>780 seconds</a:t>
            </a:r>
          </a:p>
        </p:txBody>
      </p:sp>
      <p:sp>
        <p:nvSpPr>
          <p:cNvPr id="33" name="Text Box 22">
            <a:extLst>
              <a:ext uri="{FF2B5EF4-FFF2-40B4-BE49-F238E27FC236}">
                <a16:creationId xmlns:a16="http://schemas.microsoft.com/office/drawing/2014/main" id="{DBCCF27C-DF57-C5A6-FCA7-F3DCEDBB4790}"/>
              </a:ext>
            </a:extLst>
          </p:cNvPr>
          <p:cNvSpPr txBox="1">
            <a:spLocks noChangeArrowheads="1"/>
          </p:cNvSpPr>
          <p:nvPr/>
        </p:nvSpPr>
        <p:spPr bwMode="auto">
          <a:xfrm>
            <a:off x="8838266" y="4968875"/>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1200" b="0"/>
          </a:p>
        </p:txBody>
      </p:sp>
      <p:sp>
        <p:nvSpPr>
          <p:cNvPr id="34" name="Text Box 32">
            <a:extLst>
              <a:ext uri="{FF2B5EF4-FFF2-40B4-BE49-F238E27FC236}">
                <a16:creationId xmlns:a16="http://schemas.microsoft.com/office/drawing/2014/main" id="{E6D11245-72D7-153B-0943-1B5C8DF06FE4}"/>
              </a:ext>
            </a:extLst>
          </p:cNvPr>
          <p:cNvSpPr txBox="1">
            <a:spLocks noChangeArrowheads="1"/>
          </p:cNvSpPr>
          <p:nvPr/>
        </p:nvSpPr>
        <p:spPr bwMode="auto">
          <a:xfrm>
            <a:off x="8865254" y="4344988"/>
            <a:ext cx="15716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200" b="0"/>
              <a:t>Batch Size = 5</a:t>
            </a:r>
          </a:p>
        </p:txBody>
      </p:sp>
      <p:sp>
        <p:nvSpPr>
          <p:cNvPr id="35" name="Text Box 33">
            <a:extLst>
              <a:ext uri="{FF2B5EF4-FFF2-40B4-BE49-F238E27FC236}">
                <a16:creationId xmlns:a16="http://schemas.microsoft.com/office/drawing/2014/main" id="{5636D84D-A2CC-58B0-2B6E-65CC50DBE9D0}"/>
              </a:ext>
            </a:extLst>
          </p:cNvPr>
          <p:cNvSpPr txBox="1">
            <a:spLocks noChangeArrowheads="1"/>
          </p:cNvSpPr>
          <p:nvPr/>
        </p:nvSpPr>
        <p:spPr bwMode="auto">
          <a:xfrm>
            <a:off x="6096000" y="3835400"/>
            <a:ext cx="20675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200" dirty="0"/>
              <a:t>Batch Process Time/Batch size = DOI &amp; per Piece Process Time</a:t>
            </a:r>
          </a:p>
        </p:txBody>
      </p:sp>
      <p:sp>
        <p:nvSpPr>
          <p:cNvPr id="36" name="Line 34">
            <a:extLst>
              <a:ext uri="{FF2B5EF4-FFF2-40B4-BE49-F238E27FC236}">
                <a16:creationId xmlns:a16="http://schemas.microsoft.com/office/drawing/2014/main" id="{B97E573B-89C9-1898-1704-CACB2C36ADE1}"/>
              </a:ext>
            </a:extLst>
          </p:cNvPr>
          <p:cNvSpPr>
            <a:spLocks noChangeShapeType="1"/>
          </p:cNvSpPr>
          <p:nvPr/>
        </p:nvSpPr>
        <p:spPr bwMode="auto">
          <a:xfrm flipV="1">
            <a:off x="7389673" y="4310063"/>
            <a:ext cx="1626393" cy="553846"/>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7" name="Line 35">
            <a:extLst>
              <a:ext uri="{FF2B5EF4-FFF2-40B4-BE49-F238E27FC236}">
                <a16:creationId xmlns:a16="http://schemas.microsoft.com/office/drawing/2014/main" id="{A4013F28-C181-2E8A-59DB-29C59291A0F8}"/>
              </a:ext>
            </a:extLst>
          </p:cNvPr>
          <p:cNvSpPr>
            <a:spLocks noChangeShapeType="1"/>
          </p:cNvSpPr>
          <p:nvPr/>
        </p:nvSpPr>
        <p:spPr bwMode="auto">
          <a:xfrm flipV="1">
            <a:off x="7188060" y="4549774"/>
            <a:ext cx="1721644" cy="771525"/>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 name="Line 36">
            <a:extLst>
              <a:ext uri="{FF2B5EF4-FFF2-40B4-BE49-F238E27FC236}">
                <a16:creationId xmlns:a16="http://schemas.microsoft.com/office/drawing/2014/main" id="{9AEC9FAD-95C8-EFAC-963B-27FC4A939701}"/>
              </a:ext>
            </a:extLst>
          </p:cNvPr>
          <p:cNvSpPr>
            <a:spLocks noChangeShapeType="1"/>
          </p:cNvSpPr>
          <p:nvPr/>
        </p:nvSpPr>
        <p:spPr bwMode="auto">
          <a:xfrm flipV="1">
            <a:off x="8311216" y="4791073"/>
            <a:ext cx="625475" cy="301625"/>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9" name="Line 47">
            <a:extLst>
              <a:ext uri="{FF2B5EF4-FFF2-40B4-BE49-F238E27FC236}">
                <a16:creationId xmlns:a16="http://schemas.microsoft.com/office/drawing/2014/main" id="{7B785F5E-D63A-6D57-491C-BBDCD6DED5C3}"/>
              </a:ext>
            </a:extLst>
          </p:cNvPr>
          <p:cNvSpPr>
            <a:spLocks noChangeShapeType="1"/>
          </p:cNvSpPr>
          <p:nvPr/>
        </p:nvSpPr>
        <p:spPr bwMode="auto">
          <a:xfrm>
            <a:off x="8311217" y="5092700"/>
            <a:ext cx="757254" cy="441323"/>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2" name="Rectangle 38">
            <a:extLst>
              <a:ext uri="{FF2B5EF4-FFF2-40B4-BE49-F238E27FC236}">
                <a16:creationId xmlns:a16="http://schemas.microsoft.com/office/drawing/2014/main" id="{6717D8A9-1F55-AB40-E978-E931AEA19071}"/>
              </a:ext>
            </a:extLst>
          </p:cNvPr>
          <p:cNvSpPr>
            <a:spLocks noChangeArrowheads="1"/>
          </p:cNvSpPr>
          <p:nvPr/>
        </p:nvSpPr>
        <p:spPr bwMode="auto">
          <a:xfrm>
            <a:off x="6374569" y="4872444"/>
            <a:ext cx="134773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dirty="0"/>
              <a:t>3900</a:t>
            </a:r>
            <a:r>
              <a:rPr lang="ja-JP" altLang="en-US"/>
              <a:t>”</a:t>
            </a:r>
            <a:endParaRPr lang="en-US" altLang="en-US" dirty="0"/>
          </a:p>
        </p:txBody>
      </p:sp>
      <p:sp>
        <p:nvSpPr>
          <p:cNvPr id="43" name="Rectangle 39">
            <a:extLst>
              <a:ext uri="{FF2B5EF4-FFF2-40B4-BE49-F238E27FC236}">
                <a16:creationId xmlns:a16="http://schemas.microsoft.com/office/drawing/2014/main" id="{BD045740-A6DA-CE34-39EF-EB9E0195D23D}"/>
              </a:ext>
            </a:extLst>
          </p:cNvPr>
          <p:cNvSpPr>
            <a:spLocks noChangeArrowheads="1"/>
          </p:cNvSpPr>
          <p:nvPr/>
        </p:nvSpPr>
        <p:spPr bwMode="auto">
          <a:xfrm>
            <a:off x="6220372" y="5025834"/>
            <a:ext cx="1516203"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dirty="0"/>
              <a:t>———</a:t>
            </a:r>
          </a:p>
          <a:p>
            <a:pPr algn="ctr">
              <a:lnSpc>
                <a:spcPct val="80000"/>
              </a:lnSpc>
              <a:spcBef>
                <a:spcPct val="20000"/>
              </a:spcBef>
              <a:spcAft>
                <a:spcPct val="0"/>
              </a:spcAft>
              <a:buClrTx/>
              <a:buSzTx/>
              <a:buFontTx/>
              <a:buNone/>
            </a:pPr>
            <a:r>
              <a:rPr lang="en-US" altLang="en-US" dirty="0"/>
              <a:t>5</a:t>
            </a:r>
            <a:r>
              <a:rPr lang="en-US" altLang="en-US" dirty="0">
                <a:solidFill>
                  <a:schemeClr val="bg1"/>
                </a:solidFill>
              </a:rPr>
              <a:t> </a:t>
            </a:r>
          </a:p>
        </p:txBody>
      </p:sp>
    </p:spTree>
    <p:extLst>
      <p:ext uri="{BB962C8B-B14F-4D97-AF65-F5344CB8AC3E}">
        <p14:creationId xmlns:p14="http://schemas.microsoft.com/office/powerpoint/2010/main" val="3022439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5" grpId="0"/>
      <p:bldP spid="42" grpId="0"/>
      <p:bldP spid="4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Review Exercise</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199" y="1825625"/>
            <a:ext cx="10500079" cy="4351338"/>
          </a:xfrm>
        </p:spPr>
        <p:txBody>
          <a:bodyPr>
            <a:normAutofit/>
          </a:bodyPr>
          <a:lstStyle/>
          <a:p>
            <a:pPr>
              <a:lnSpc>
                <a:spcPct val="100000"/>
              </a:lnSpc>
            </a:pPr>
            <a:r>
              <a:rPr lang="en-US" sz="2400" b="1" dirty="0"/>
              <a:t>2 Minute Review</a:t>
            </a:r>
          </a:p>
          <a:p>
            <a:pPr>
              <a:lnSpc>
                <a:spcPct val="100000"/>
              </a:lnSpc>
            </a:pPr>
            <a:r>
              <a:rPr lang="en-US" sz="2400" dirty="0"/>
              <a:t>In pairs, or in small groups, spend 2 minutes discussing key learnings and take-aways from this Value Stream Mapping Event thus far</a:t>
            </a:r>
          </a:p>
          <a:p>
            <a:pPr>
              <a:lnSpc>
                <a:spcPct val="100000"/>
              </a:lnSpc>
            </a:pPr>
            <a:r>
              <a:rPr lang="en-US" sz="2400" dirty="0"/>
              <a:t>One person from each group will share one learning that was discussed with the rest of the class</a:t>
            </a:r>
          </a:p>
          <a:p>
            <a:pPr>
              <a:lnSpc>
                <a:spcPct val="100000"/>
              </a:lnSpc>
            </a:pPr>
            <a:endParaRPr lang="en-US" sz="2400" b="1" dirty="0"/>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70</a:t>
            </a:fld>
            <a:endParaRPr lang="en-US" dirty="0"/>
          </a:p>
        </p:txBody>
      </p:sp>
    </p:spTree>
    <p:extLst>
      <p:ext uri="{BB962C8B-B14F-4D97-AF65-F5344CB8AC3E}">
        <p14:creationId xmlns:p14="http://schemas.microsoft.com/office/powerpoint/2010/main" val="410327518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Your Turn…</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199" y="1825625"/>
            <a:ext cx="10500079" cy="4351338"/>
          </a:xfrm>
        </p:spPr>
        <p:txBody>
          <a:bodyPr>
            <a:normAutofit/>
          </a:bodyPr>
          <a:lstStyle/>
          <a:p>
            <a:pPr>
              <a:lnSpc>
                <a:spcPct val="100000"/>
              </a:lnSpc>
            </a:pPr>
            <a:r>
              <a:rPr lang="en-US" sz="2400" dirty="0"/>
              <a:t>The following pages review the process for your team to start creating the current state map for your business</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71</a:t>
            </a:fld>
            <a:endParaRPr lang="en-US" dirty="0"/>
          </a:p>
        </p:txBody>
      </p:sp>
    </p:spTree>
    <p:extLst>
      <p:ext uri="{BB962C8B-B14F-4D97-AF65-F5344CB8AC3E}">
        <p14:creationId xmlns:p14="http://schemas.microsoft.com/office/powerpoint/2010/main" val="217611041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Supplies for the Current State Process Walk</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199" y="1825625"/>
            <a:ext cx="10500079" cy="4351338"/>
          </a:xfrm>
        </p:spPr>
        <p:txBody>
          <a:bodyPr>
            <a:normAutofit/>
          </a:bodyPr>
          <a:lstStyle/>
          <a:p>
            <a:pPr>
              <a:lnSpc>
                <a:spcPct val="100000"/>
              </a:lnSpc>
            </a:pPr>
            <a:r>
              <a:rPr lang="en-US" sz="2400" b="1" dirty="0"/>
              <a:t>All team members will require: </a:t>
            </a:r>
          </a:p>
          <a:p>
            <a:pPr lvl="1">
              <a:lnSpc>
                <a:spcPct val="100000"/>
              </a:lnSpc>
            </a:pPr>
            <a:r>
              <a:rPr lang="en-US" sz="2000" dirty="0"/>
              <a:t>Personal Protective Equipment (PPE) required by facility</a:t>
            </a:r>
            <a:endParaRPr lang="en-US" sz="2400" dirty="0"/>
          </a:p>
          <a:p>
            <a:pPr lvl="2">
              <a:lnSpc>
                <a:spcPct val="100000"/>
              </a:lnSpc>
            </a:pPr>
            <a:r>
              <a:rPr lang="en-US" sz="1600" dirty="0" err="1"/>
              <a:t>Ie</a:t>
            </a:r>
            <a:r>
              <a:rPr lang="en-US" sz="1600" dirty="0"/>
              <a:t>: safety glasses, earplugs, steel-toed shoes, etc. </a:t>
            </a:r>
            <a:endParaRPr lang="en-US" sz="2400" dirty="0"/>
          </a:p>
          <a:p>
            <a:pPr lvl="1">
              <a:lnSpc>
                <a:spcPct val="100000"/>
              </a:lnSpc>
            </a:pPr>
            <a:r>
              <a:rPr lang="en-US" sz="2000" dirty="0"/>
              <a:t>11x17” paper </a:t>
            </a:r>
            <a:endParaRPr lang="en-US" sz="2400" dirty="0"/>
          </a:p>
          <a:p>
            <a:pPr lvl="1">
              <a:lnSpc>
                <a:spcPct val="100000"/>
              </a:lnSpc>
            </a:pPr>
            <a:r>
              <a:rPr lang="en-US" sz="2000" dirty="0"/>
              <a:t>clipboard </a:t>
            </a:r>
            <a:endParaRPr lang="en-US" sz="2400" dirty="0"/>
          </a:p>
          <a:p>
            <a:pPr lvl="1">
              <a:lnSpc>
                <a:spcPct val="100000"/>
              </a:lnSpc>
            </a:pPr>
            <a:r>
              <a:rPr lang="en-US" sz="2000" dirty="0"/>
              <a:t>icon sheet  </a:t>
            </a:r>
            <a:endParaRPr lang="en-US" dirty="0"/>
          </a:p>
          <a:p>
            <a:pPr lvl="1">
              <a:lnSpc>
                <a:spcPct val="100000"/>
              </a:lnSpc>
            </a:pPr>
            <a:r>
              <a:rPr lang="en-US" sz="2000" dirty="0"/>
              <a:t>completed Current State Map example drawn in class </a:t>
            </a:r>
            <a:endParaRPr lang="en-US" sz="2400" dirty="0"/>
          </a:p>
          <a:p>
            <a:pPr lvl="1">
              <a:lnSpc>
                <a:spcPct val="100000"/>
              </a:lnSpc>
            </a:pPr>
            <a:r>
              <a:rPr lang="en-US" sz="2000" dirty="0"/>
              <a:t>pencil</a:t>
            </a:r>
            <a:endParaRPr lang="en-US" sz="2400" dirty="0"/>
          </a:p>
          <a:p>
            <a:pPr lvl="1">
              <a:lnSpc>
                <a:spcPct val="100000"/>
              </a:lnSpc>
            </a:pPr>
            <a:r>
              <a:rPr lang="en-US" sz="2000" dirty="0"/>
              <a:t>two stopwatches needed per team</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72</a:t>
            </a:fld>
            <a:endParaRPr lang="en-US" dirty="0"/>
          </a:p>
        </p:txBody>
      </p:sp>
    </p:spTree>
    <p:extLst>
      <p:ext uri="{BB962C8B-B14F-4D97-AF65-F5344CB8AC3E}">
        <p14:creationId xmlns:p14="http://schemas.microsoft.com/office/powerpoint/2010/main" val="31158724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Autofit/>
          </a:bodyPr>
          <a:lstStyle/>
          <a:p>
            <a:r>
              <a:rPr lang="en-US" sz="3200" dirty="0"/>
              <a:t>Method to Create the Current State Map: </a:t>
            </a:r>
            <a:br>
              <a:rPr lang="en-US" sz="3200" dirty="0"/>
            </a:br>
            <a:r>
              <a:rPr lang="en-US" sz="3200" dirty="0"/>
              <a:t>Team Walk #1</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1013333" y="2112963"/>
            <a:ext cx="2916238" cy="838200"/>
          </a:xfrm>
          <a:prstGeom prst="rect">
            <a:avLst/>
          </a:prstGeom>
          <a:solidFill>
            <a:srgbClr val="7F7F7F"/>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Team Walk #1:</a:t>
            </a:r>
          </a:p>
          <a:p>
            <a:pPr algn="ctr" eaLnBrk="1" hangingPunct="1">
              <a:lnSpc>
                <a:spcPct val="100000"/>
              </a:lnSpc>
              <a:spcBef>
                <a:spcPct val="0"/>
              </a:spcBef>
              <a:spcAft>
                <a:spcPct val="0"/>
              </a:spcAft>
              <a:buClrTx/>
              <a:buSzTx/>
              <a:buFontTx/>
              <a:buNone/>
            </a:pPr>
            <a:r>
              <a:rPr lang="en-US" altLang="en-US" sz="1600" dirty="0">
                <a:solidFill>
                  <a:schemeClr val="bg1"/>
                </a:solidFill>
              </a:rPr>
              <a:t>Process Identification</a:t>
            </a:r>
          </a:p>
        </p:txBody>
      </p:sp>
      <p:sp>
        <p:nvSpPr>
          <p:cNvPr id="16" name="Rectangle 3">
            <a:extLst>
              <a:ext uri="{FF2B5EF4-FFF2-40B4-BE49-F238E27FC236}">
                <a16:creationId xmlns:a16="http://schemas.microsoft.com/office/drawing/2014/main" id="{056510E5-3119-AD2A-B848-847CF24DD44B}"/>
              </a:ext>
            </a:extLst>
          </p:cNvPr>
          <p:cNvSpPr>
            <a:spLocks noChangeArrowheads="1"/>
          </p:cNvSpPr>
          <p:nvPr/>
        </p:nvSpPr>
        <p:spPr bwMode="auto">
          <a:xfrm>
            <a:off x="1013333" y="3541713"/>
            <a:ext cx="2916238" cy="841375"/>
          </a:xfrm>
          <a:prstGeom prst="rect">
            <a:avLst/>
          </a:prstGeom>
          <a:solidFill>
            <a:srgbClr val="FFB627"/>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rgbClr val="222222"/>
                </a:solidFill>
              </a:rPr>
              <a:t>Team Walk #2:</a:t>
            </a:r>
          </a:p>
          <a:p>
            <a:pPr algn="ctr" eaLnBrk="1" hangingPunct="1">
              <a:lnSpc>
                <a:spcPct val="100000"/>
              </a:lnSpc>
              <a:spcBef>
                <a:spcPct val="0"/>
              </a:spcBef>
              <a:spcAft>
                <a:spcPct val="0"/>
              </a:spcAft>
              <a:buClrTx/>
              <a:buSzTx/>
              <a:buFontTx/>
              <a:buNone/>
            </a:pPr>
            <a:r>
              <a:rPr lang="en-US" altLang="en-US" sz="1600" dirty="0">
                <a:solidFill>
                  <a:srgbClr val="222222"/>
                </a:solidFill>
              </a:rPr>
              <a:t>Data Gathering</a:t>
            </a:r>
          </a:p>
        </p:txBody>
      </p:sp>
      <p:sp>
        <p:nvSpPr>
          <p:cNvPr id="17" name="Rectangle 4">
            <a:extLst>
              <a:ext uri="{FF2B5EF4-FFF2-40B4-BE49-F238E27FC236}">
                <a16:creationId xmlns:a16="http://schemas.microsoft.com/office/drawing/2014/main" id="{9D38BCD3-3C4E-CDAD-6EF0-E21187975717}"/>
              </a:ext>
            </a:extLst>
          </p:cNvPr>
          <p:cNvSpPr>
            <a:spLocks noChangeArrowheads="1"/>
          </p:cNvSpPr>
          <p:nvPr/>
        </p:nvSpPr>
        <p:spPr bwMode="auto">
          <a:xfrm>
            <a:off x="1013333" y="5151438"/>
            <a:ext cx="2916238" cy="838200"/>
          </a:xfrm>
          <a:prstGeom prst="rect">
            <a:avLst/>
          </a:prstGeom>
          <a:solidFill>
            <a:srgbClr val="EE3228"/>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Map Creation</a:t>
            </a:r>
          </a:p>
        </p:txBody>
      </p:sp>
      <p:cxnSp>
        <p:nvCxnSpPr>
          <p:cNvPr id="18" name="AutoShape 6">
            <a:extLst>
              <a:ext uri="{FF2B5EF4-FFF2-40B4-BE49-F238E27FC236}">
                <a16:creationId xmlns:a16="http://schemas.microsoft.com/office/drawing/2014/main" id="{B6487E52-6F1B-57D3-74ED-22BB854DD28F}"/>
              </a:ext>
            </a:extLst>
          </p:cNvPr>
          <p:cNvCxnSpPr>
            <a:cxnSpLocks noChangeShapeType="1"/>
            <a:stCxn id="15" idx="2"/>
            <a:endCxn id="16" idx="0"/>
          </p:cNvCxnSpPr>
          <p:nvPr/>
        </p:nvCxnSpPr>
        <p:spPr bwMode="auto">
          <a:xfrm>
            <a:off x="2471452" y="2951163"/>
            <a:ext cx="0" cy="5905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7">
            <a:extLst>
              <a:ext uri="{FF2B5EF4-FFF2-40B4-BE49-F238E27FC236}">
                <a16:creationId xmlns:a16="http://schemas.microsoft.com/office/drawing/2014/main" id="{5F264A94-9007-38F1-F621-16CB96E2ED39}"/>
              </a:ext>
            </a:extLst>
          </p:cNvPr>
          <p:cNvCxnSpPr>
            <a:cxnSpLocks noChangeShapeType="1"/>
            <a:stCxn id="16" idx="2"/>
            <a:endCxn id="17" idx="0"/>
          </p:cNvCxnSpPr>
          <p:nvPr/>
        </p:nvCxnSpPr>
        <p:spPr bwMode="auto">
          <a:xfrm>
            <a:off x="2472246" y="43830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3" name="Text Box 18">
            <a:extLst>
              <a:ext uri="{FF2B5EF4-FFF2-40B4-BE49-F238E27FC236}">
                <a16:creationId xmlns:a16="http://schemas.microsoft.com/office/drawing/2014/main" id="{0DDB5226-099F-2DA1-EF28-973B6B075730}"/>
              </a:ext>
            </a:extLst>
          </p:cNvPr>
          <p:cNvSpPr txBox="1">
            <a:spLocks noChangeArrowheads="1"/>
          </p:cNvSpPr>
          <p:nvPr/>
        </p:nvSpPr>
        <p:spPr bwMode="auto">
          <a:xfrm>
            <a:off x="5430552" y="1827213"/>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t>Key Characteristics</a:t>
            </a:r>
          </a:p>
        </p:txBody>
      </p:sp>
      <p:sp>
        <p:nvSpPr>
          <p:cNvPr id="24" name="AutoShape 36">
            <a:extLst>
              <a:ext uri="{FF2B5EF4-FFF2-40B4-BE49-F238E27FC236}">
                <a16:creationId xmlns:a16="http://schemas.microsoft.com/office/drawing/2014/main" id="{5D3E76DB-BDE7-7254-2193-80BFB1FB431B}"/>
              </a:ext>
            </a:extLst>
          </p:cNvPr>
          <p:cNvSpPr>
            <a:spLocks noChangeArrowheads="1"/>
          </p:cNvSpPr>
          <p:nvPr/>
        </p:nvSpPr>
        <p:spPr bwMode="auto">
          <a:xfrm>
            <a:off x="5389277" y="20478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8" name="Arrow">
            <a:extLst>
              <a:ext uri="{FF2B5EF4-FFF2-40B4-BE49-F238E27FC236}">
                <a16:creationId xmlns:a16="http://schemas.microsoft.com/office/drawing/2014/main" id="{2AB74B7E-D450-306C-1200-1FF7D51139AA}"/>
              </a:ext>
            </a:extLst>
          </p:cNvPr>
          <p:cNvSpPr/>
          <p:nvPr/>
        </p:nvSpPr>
        <p:spPr>
          <a:xfrm>
            <a:off x="4452280" y="2102443"/>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73</a:t>
            </a:fld>
            <a:endParaRPr lang="en-US" dirty="0"/>
          </a:p>
        </p:txBody>
      </p:sp>
    </p:spTree>
    <p:extLst>
      <p:ext uri="{BB962C8B-B14F-4D97-AF65-F5344CB8AC3E}">
        <p14:creationId xmlns:p14="http://schemas.microsoft.com/office/powerpoint/2010/main" val="374313910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Current State Mapping for Business: </a:t>
            </a:r>
            <a:br>
              <a:rPr lang="en-US" altLang="en-US" sz="3600" dirty="0"/>
            </a:br>
            <a:r>
              <a:rPr lang="en-US" altLang="en-US" sz="3600" dirty="0"/>
              <a:t>Team Walk #1</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Complete Current State Team Walk #1 for your business.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74</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Completed process</a:t>
            </a:r>
            <a:br>
              <a:rPr lang="en-US" altLang="en-US" sz="1600" dirty="0">
                <a:solidFill>
                  <a:schemeClr val="bg1"/>
                </a:solidFill>
              </a:rPr>
            </a:br>
            <a:r>
              <a:rPr lang="en-US" altLang="en-US" sz="1600" dirty="0">
                <a:solidFill>
                  <a:schemeClr val="bg1"/>
                </a:solidFill>
              </a:rPr>
              <a:t>boxes of the Current</a:t>
            </a:r>
            <a:br>
              <a:rPr lang="en-US" altLang="en-US" sz="1600" dirty="0">
                <a:solidFill>
                  <a:schemeClr val="bg1"/>
                </a:solidFill>
              </a:rPr>
            </a:br>
            <a:r>
              <a:rPr lang="en-US" altLang="en-US" sz="1600" dirty="0">
                <a:solidFill>
                  <a:schemeClr val="bg1"/>
                </a:solidFill>
              </a:rPr>
              <a:t>State map identified</a:t>
            </a:r>
            <a:br>
              <a:rPr lang="en-US" altLang="en-US" sz="1600" dirty="0">
                <a:solidFill>
                  <a:schemeClr val="bg1"/>
                </a:solidFill>
              </a:rPr>
            </a:br>
            <a:r>
              <a:rPr lang="en-US" altLang="en-US" sz="1600" dirty="0">
                <a:solidFill>
                  <a:schemeClr val="bg1"/>
                </a:solidFill>
              </a:rPr>
              <a:t>and drawn.</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endParaRPr lang="en-US" altLang="en-US" sz="1600" dirty="0">
              <a:solidFill>
                <a:schemeClr val="bg1"/>
              </a:solidFill>
            </a:endParaRP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Follow the guidelines on the previous pages to</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complete Team Walk #1. </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The purpose for this walk is to gain an</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understanding of the process and overall flow. </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Return to the room and begin to draw the Current</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State Map with only the process boxes identified. </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266601739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Autofit/>
          </a:bodyPr>
          <a:lstStyle/>
          <a:p>
            <a:r>
              <a:rPr lang="en-US" sz="3200" dirty="0"/>
              <a:t>Method to Create the Current State Map: </a:t>
            </a:r>
            <a:br>
              <a:rPr lang="en-US" sz="3200" dirty="0"/>
            </a:br>
            <a:r>
              <a:rPr lang="en-US" sz="3200" dirty="0"/>
              <a:t>Team Walk #2</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1013333" y="2112963"/>
            <a:ext cx="2916238" cy="838200"/>
          </a:xfrm>
          <a:prstGeom prst="rect">
            <a:avLst/>
          </a:prstGeom>
          <a:solidFill>
            <a:srgbClr val="7F7F7F"/>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Team Walk #1:</a:t>
            </a:r>
          </a:p>
          <a:p>
            <a:pPr algn="ctr" eaLnBrk="1" hangingPunct="1">
              <a:lnSpc>
                <a:spcPct val="100000"/>
              </a:lnSpc>
              <a:spcBef>
                <a:spcPct val="0"/>
              </a:spcBef>
              <a:spcAft>
                <a:spcPct val="0"/>
              </a:spcAft>
              <a:buClrTx/>
              <a:buSzTx/>
              <a:buFontTx/>
              <a:buNone/>
            </a:pPr>
            <a:r>
              <a:rPr lang="en-US" altLang="en-US" sz="1600" dirty="0">
                <a:solidFill>
                  <a:schemeClr val="bg1"/>
                </a:solidFill>
              </a:rPr>
              <a:t>Process Identification</a:t>
            </a:r>
          </a:p>
        </p:txBody>
      </p:sp>
      <p:sp>
        <p:nvSpPr>
          <p:cNvPr id="16" name="Rectangle 3">
            <a:extLst>
              <a:ext uri="{FF2B5EF4-FFF2-40B4-BE49-F238E27FC236}">
                <a16:creationId xmlns:a16="http://schemas.microsoft.com/office/drawing/2014/main" id="{056510E5-3119-AD2A-B848-847CF24DD44B}"/>
              </a:ext>
            </a:extLst>
          </p:cNvPr>
          <p:cNvSpPr>
            <a:spLocks noChangeArrowheads="1"/>
          </p:cNvSpPr>
          <p:nvPr/>
        </p:nvSpPr>
        <p:spPr bwMode="auto">
          <a:xfrm>
            <a:off x="1013333" y="3541713"/>
            <a:ext cx="2916238" cy="841375"/>
          </a:xfrm>
          <a:prstGeom prst="rect">
            <a:avLst/>
          </a:prstGeom>
          <a:solidFill>
            <a:srgbClr val="FFB627"/>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rgbClr val="222222"/>
                </a:solidFill>
              </a:rPr>
              <a:t>Team Walk #2:</a:t>
            </a:r>
          </a:p>
          <a:p>
            <a:pPr algn="ctr" eaLnBrk="1" hangingPunct="1">
              <a:lnSpc>
                <a:spcPct val="100000"/>
              </a:lnSpc>
              <a:spcBef>
                <a:spcPct val="0"/>
              </a:spcBef>
              <a:spcAft>
                <a:spcPct val="0"/>
              </a:spcAft>
              <a:buClrTx/>
              <a:buSzTx/>
              <a:buFontTx/>
              <a:buNone/>
            </a:pPr>
            <a:r>
              <a:rPr lang="en-US" altLang="en-US" sz="1600" dirty="0">
                <a:solidFill>
                  <a:srgbClr val="222222"/>
                </a:solidFill>
              </a:rPr>
              <a:t>Data Gathering</a:t>
            </a:r>
          </a:p>
        </p:txBody>
      </p:sp>
      <p:sp>
        <p:nvSpPr>
          <p:cNvPr id="17" name="Rectangle 4">
            <a:extLst>
              <a:ext uri="{FF2B5EF4-FFF2-40B4-BE49-F238E27FC236}">
                <a16:creationId xmlns:a16="http://schemas.microsoft.com/office/drawing/2014/main" id="{9D38BCD3-3C4E-CDAD-6EF0-E21187975717}"/>
              </a:ext>
            </a:extLst>
          </p:cNvPr>
          <p:cNvSpPr>
            <a:spLocks noChangeArrowheads="1"/>
          </p:cNvSpPr>
          <p:nvPr/>
        </p:nvSpPr>
        <p:spPr bwMode="auto">
          <a:xfrm>
            <a:off x="1013333" y="5151438"/>
            <a:ext cx="2916238" cy="838200"/>
          </a:xfrm>
          <a:prstGeom prst="rect">
            <a:avLst/>
          </a:prstGeom>
          <a:solidFill>
            <a:srgbClr val="EE3228"/>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Map Creation</a:t>
            </a:r>
          </a:p>
        </p:txBody>
      </p:sp>
      <p:cxnSp>
        <p:nvCxnSpPr>
          <p:cNvPr id="18" name="AutoShape 6">
            <a:extLst>
              <a:ext uri="{FF2B5EF4-FFF2-40B4-BE49-F238E27FC236}">
                <a16:creationId xmlns:a16="http://schemas.microsoft.com/office/drawing/2014/main" id="{B6487E52-6F1B-57D3-74ED-22BB854DD28F}"/>
              </a:ext>
            </a:extLst>
          </p:cNvPr>
          <p:cNvCxnSpPr>
            <a:cxnSpLocks noChangeShapeType="1"/>
            <a:stCxn id="15" idx="2"/>
            <a:endCxn id="16" idx="0"/>
          </p:cNvCxnSpPr>
          <p:nvPr/>
        </p:nvCxnSpPr>
        <p:spPr bwMode="auto">
          <a:xfrm>
            <a:off x="2471452" y="2951163"/>
            <a:ext cx="0" cy="5905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7">
            <a:extLst>
              <a:ext uri="{FF2B5EF4-FFF2-40B4-BE49-F238E27FC236}">
                <a16:creationId xmlns:a16="http://schemas.microsoft.com/office/drawing/2014/main" id="{5F264A94-9007-38F1-F621-16CB96E2ED39}"/>
              </a:ext>
            </a:extLst>
          </p:cNvPr>
          <p:cNvCxnSpPr>
            <a:cxnSpLocks noChangeShapeType="1"/>
            <a:stCxn id="16" idx="2"/>
            <a:endCxn id="17" idx="0"/>
          </p:cNvCxnSpPr>
          <p:nvPr/>
        </p:nvCxnSpPr>
        <p:spPr bwMode="auto">
          <a:xfrm>
            <a:off x="2472246" y="43830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3" name="Text Box 18">
            <a:extLst>
              <a:ext uri="{FF2B5EF4-FFF2-40B4-BE49-F238E27FC236}">
                <a16:creationId xmlns:a16="http://schemas.microsoft.com/office/drawing/2014/main" id="{0DDB5226-099F-2DA1-EF28-973B6B075730}"/>
              </a:ext>
            </a:extLst>
          </p:cNvPr>
          <p:cNvSpPr txBox="1">
            <a:spLocks noChangeArrowheads="1"/>
          </p:cNvSpPr>
          <p:nvPr/>
        </p:nvSpPr>
        <p:spPr bwMode="auto">
          <a:xfrm>
            <a:off x="5430552" y="1827213"/>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t>Key Characteristics</a:t>
            </a:r>
          </a:p>
        </p:txBody>
      </p:sp>
      <p:sp>
        <p:nvSpPr>
          <p:cNvPr id="24" name="AutoShape 36">
            <a:extLst>
              <a:ext uri="{FF2B5EF4-FFF2-40B4-BE49-F238E27FC236}">
                <a16:creationId xmlns:a16="http://schemas.microsoft.com/office/drawing/2014/main" id="{5D3E76DB-BDE7-7254-2193-80BFB1FB431B}"/>
              </a:ext>
            </a:extLst>
          </p:cNvPr>
          <p:cNvSpPr>
            <a:spLocks noChangeArrowheads="1"/>
          </p:cNvSpPr>
          <p:nvPr/>
        </p:nvSpPr>
        <p:spPr bwMode="auto">
          <a:xfrm>
            <a:off x="5389277" y="20478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8" name="Arrow">
            <a:extLst>
              <a:ext uri="{FF2B5EF4-FFF2-40B4-BE49-F238E27FC236}">
                <a16:creationId xmlns:a16="http://schemas.microsoft.com/office/drawing/2014/main" id="{2AB74B7E-D450-306C-1200-1FF7D51139AA}"/>
              </a:ext>
            </a:extLst>
          </p:cNvPr>
          <p:cNvSpPr/>
          <p:nvPr/>
        </p:nvSpPr>
        <p:spPr>
          <a:xfrm>
            <a:off x="4452280" y="2102443"/>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75</a:t>
            </a:fld>
            <a:endParaRPr lang="en-US" dirty="0"/>
          </a:p>
        </p:txBody>
      </p:sp>
      <p:sp>
        <p:nvSpPr>
          <p:cNvPr id="3" name="AutoShape 36">
            <a:extLst>
              <a:ext uri="{FF2B5EF4-FFF2-40B4-BE49-F238E27FC236}">
                <a16:creationId xmlns:a16="http://schemas.microsoft.com/office/drawing/2014/main" id="{574F4BF0-4BBB-3FD9-2517-B9D73E244A81}"/>
              </a:ext>
            </a:extLst>
          </p:cNvPr>
          <p:cNvSpPr>
            <a:spLocks noChangeArrowheads="1"/>
          </p:cNvSpPr>
          <p:nvPr/>
        </p:nvSpPr>
        <p:spPr bwMode="auto">
          <a:xfrm>
            <a:off x="5389277" y="3429000"/>
            <a:ext cx="5351172"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reverse flow again and collect data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and 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smallest time units whenever possible –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be consistent</a:t>
            </a:r>
          </a:p>
          <a:p>
            <a:pPr>
              <a:lnSpc>
                <a:spcPct val="100000"/>
              </a:lnSpc>
              <a:spcBef>
                <a:spcPct val="0"/>
              </a:spcBef>
              <a:spcAft>
                <a:spcPct val="0"/>
              </a:spcAft>
              <a:buClr>
                <a:schemeClr val="tx1"/>
              </a:buClr>
              <a:buSzPct val="90000"/>
              <a:buFont typeface="Arial" panose="020B0604020202020204" pitchFamily="34" charset="0"/>
              <a:buChar char="•"/>
            </a:pPr>
            <a:endParaRPr lang="en-US" altLang="en-US" sz="1400" b="0" dirty="0">
              <a:latin typeface="Roboto" panose="02000000000000000000" pitchFamily="2" charset="0"/>
              <a:ea typeface="Roboto" panose="02000000000000000000" pitchFamily="2" charset="0"/>
              <a:cs typeface="Roboto" panose="02000000000000000000" pitchFamily="2" charset="0"/>
            </a:endParaRPr>
          </a:p>
        </p:txBody>
      </p:sp>
      <p:sp>
        <p:nvSpPr>
          <p:cNvPr id="4" name="Arrow">
            <a:extLst>
              <a:ext uri="{FF2B5EF4-FFF2-40B4-BE49-F238E27FC236}">
                <a16:creationId xmlns:a16="http://schemas.microsoft.com/office/drawing/2014/main" id="{DFBE433D-062C-0B2F-12F2-6FAC4275B002}"/>
              </a:ext>
            </a:extLst>
          </p:cNvPr>
          <p:cNvSpPr/>
          <p:nvPr/>
        </p:nvSpPr>
        <p:spPr>
          <a:xfrm>
            <a:off x="4452280" y="3706390"/>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Tree>
    <p:extLst>
      <p:ext uri="{BB962C8B-B14F-4D97-AF65-F5344CB8AC3E}">
        <p14:creationId xmlns:p14="http://schemas.microsoft.com/office/powerpoint/2010/main" val="153486250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13">
            <a:extLst>
              <a:ext uri="{FF2B5EF4-FFF2-40B4-BE49-F238E27FC236}">
                <a16:creationId xmlns:a16="http://schemas.microsoft.com/office/drawing/2014/main" id="{EFAA42FC-4AE4-13CB-B906-C4F91C1544EC}"/>
              </a:ext>
            </a:extLst>
          </p:cNvPr>
          <p:cNvSpPr>
            <a:spLocks noChangeArrowheads="1"/>
          </p:cNvSpPr>
          <p:nvPr/>
        </p:nvSpPr>
        <p:spPr bwMode="auto">
          <a:xfrm>
            <a:off x="5737752" y="2286834"/>
            <a:ext cx="5317490" cy="3551238"/>
          </a:xfrm>
          <a:prstGeom prst="rect">
            <a:avLst/>
          </a:prstGeom>
          <a:solidFill>
            <a:srgbClr val="EE3228"/>
          </a:solidFill>
          <a:ln w="19050">
            <a:noFill/>
            <a:prstDash val="sysDot"/>
            <a:miter lim="800000"/>
            <a:headEnd/>
            <a:tailEnd/>
          </a:ln>
        </p:spPr>
        <p:txBody>
          <a:bodyPr wrap="squar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285750" indent="-285750">
              <a:lnSpc>
                <a:spcPct val="80000"/>
              </a:lnSpc>
              <a:spcBef>
                <a:spcPct val="20000"/>
              </a:spcBef>
              <a:spcAft>
                <a:spcPct val="0"/>
              </a:spcAft>
              <a:buClr>
                <a:schemeClr val="bg1"/>
              </a:buClr>
              <a:buSzPct val="90000"/>
              <a:buFont typeface="Arial" panose="020B0604020202020204" pitchFamily="34" charset="0"/>
              <a:buChar char="•"/>
            </a:pPr>
            <a:r>
              <a:rPr lang="en-US" altLang="en-US" dirty="0">
                <a:solidFill>
                  <a:schemeClr val="bg1"/>
                </a:solidFill>
                <a:latin typeface="Roboto" panose="02000000000000000000" pitchFamily="2" charset="0"/>
                <a:ea typeface="Roboto" panose="02000000000000000000" pitchFamily="2" charset="0"/>
              </a:rPr>
              <a:t>First try to observe the process firsthand in the workplace</a:t>
            </a:r>
          </a:p>
          <a:p>
            <a:pPr marL="285750" indent="-285750">
              <a:lnSpc>
                <a:spcPct val="80000"/>
              </a:lnSpc>
              <a:spcBef>
                <a:spcPct val="20000"/>
              </a:spcBef>
              <a:spcAft>
                <a:spcPct val="0"/>
              </a:spcAft>
              <a:buClr>
                <a:schemeClr val="bg1"/>
              </a:buClr>
              <a:buSzPct val="90000"/>
              <a:buFont typeface="Arial" panose="020B0604020202020204" pitchFamily="34" charset="0"/>
              <a:buChar char="•"/>
            </a:pPr>
            <a:r>
              <a:rPr lang="en-US" altLang="en-US" dirty="0">
                <a:solidFill>
                  <a:schemeClr val="bg1"/>
                </a:solidFill>
                <a:latin typeface="Roboto" panose="02000000000000000000" pitchFamily="2" charset="0"/>
                <a:ea typeface="Roboto" panose="02000000000000000000" pitchFamily="2" charset="0"/>
              </a:rPr>
              <a:t>When that is not possible, continue to follow this sequence in order to obtain necessary data</a:t>
            </a:r>
          </a:p>
          <a:p>
            <a:pPr marL="285750" indent="-285750">
              <a:lnSpc>
                <a:spcPct val="80000"/>
              </a:lnSpc>
              <a:spcBef>
                <a:spcPct val="20000"/>
              </a:spcBef>
              <a:spcAft>
                <a:spcPct val="0"/>
              </a:spcAft>
              <a:buClr>
                <a:schemeClr val="bg1"/>
              </a:buClr>
              <a:buSzPct val="90000"/>
              <a:buFont typeface="Arial" panose="020B0604020202020204" pitchFamily="34" charset="0"/>
              <a:buChar char="•"/>
            </a:pPr>
            <a:r>
              <a:rPr lang="en-US" altLang="en-US" dirty="0">
                <a:solidFill>
                  <a:schemeClr val="bg1"/>
                </a:solidFill>
                <a:latin typeface="Roboto" panose="02000000000000000000" pitchFamily="2" charset="0"/>
                <a:ea typeface="Roboto" panose="02000000000000000000" pitchFamily="2" charset="0"/>
              </a:rPr>
              <a:t>Always want to start with data first </a:t>
            </a:r>
          </a:p>
          <a:p>
            <a:pPr marL="285750" indent="-285750">
              <a:lnSpc>
                <a:spcPct val="80000"/>
              </a:lnSpc>
              <a:spcBef>
                <a:spcPct val="20000"/>
              </a:spcBef>
              <a:spcAft>
                <a:spcPct val="0"/>
              </a:spcAft>
              <a:buClr>
                <a:schemeClr val="bg1"/>
              </a:buClr>
              <a:buSzPct val="90000"/>
              <a:buFont typeface="Arial" panose="020B0604020202020204" pitchFamily="34" charset="0"/>
              <a:buChar char="•"/>
            </a:pPr>
            <a:r>
              <a:rPr lang="en-US" altLang="en-US" dirty="0">
                <a:solidFill>
                  <a:schemeClr val="bg1"/>
                </a:solidFill>
                <a:latin typeface="Roboto" panose="02000000000000000000" pitchFamily="2" charset="0"/>
                <a:ea typeface="Roboto" panose="02000000000000000000" pitchFamily="2" charset="0"/>
              </a:rPr>
              <a:t>Be cautious when using the interview method as it tends to yield highly inaccurate data</a:t>
            </a:r>
          </a:p>
        </p:txBody>
      </p:sp>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Autofit/>
          </a:bodyPr>
          <a:lstStyle/>
          <a:p>
            <a:r>
              <a:rPr lang="en-US" sz="3200" dirty="0"/>
              <a:t>Data Gathering Hierarchy</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940249" y="2286834"/>
            <a:ext cx="2916238" cy="485021"/>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400" dirty="0">
                <a:latin typeface="Roboto" panose="02000000000000000000" pitchFamily="2" charset="0"/>
                <a:ea typeface="Roboto" panose="02000000000000000000" pitchFamily="2" charset="0"/>
              </a:rPr>
              <a:t>1. Go To Gemba</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(the actual workplace)</a:t>
            </a:r>
          </a:p>
        </p:txBody>
      </p:sp>
      <p:cxnSp>
        <p:nvCxnSpPr>
          <p:cNvPr id="19" name="AutoShape 7">
            <a:extLst>
              <a:ext uri="{FF2B5EF4-FFF2-40B4-BE49-F238E27FC236}">
                <a16:creationId xmlns:a16="http://schemas.microsoft.com/office/drawing/2014/main" id="{5F264A94-9007-38F1-F621-16CB96E2ED39}"/>
              </a:ext>
            </a:extLst>
          </p:cNvPr>
          <p:cNvCxnSpPr>
            <a:cxnSpLocks noChangeShapeType="1"/>
          </p:cNvCxnSpPr>
          <p:nvPr/>
        </p:nvCxnSpPr>
        <p:spPr bwMode="auto">
          <a:xfrm>
            <a:off x="2398368" y="2771855"/>
            <a:ext cx="0" cy="260402"/>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76</a:t>
            </a:fld>
            <a:endParaRPr lang="en-US" dirty="0"/>
          </a:p>
        </p:txBody>
      </p:sp>
      <p:sp>
        <p:nvSpPr>
          <p:cNvPr id="4" name="Arrow">
            <a:extLst>
              <a:ext uri="{FF2B5EF4-FFF2-40B4-BE49-F238E27FC236}">
                <a16:creationId xmlns:a16="http://schemas.microsoft.com/office/drawing/2014/main" id="{DFBE433D-062C-0B2F-12F2-6FAC4275B002}"/>
              </a:ext>
            </a:extLst>
          </p:cNvPr>
          <p:cNvSpPr/>
          <p:nvPr/>
        </p:nvSpPr>
        <p:spPr>
          <a:xfrm>
            <a:off x="4390955" y="3585278"/>
            <a:ext cx="1086582" cy="809132"/>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
        <p:nvSpPr>
          <p:cNvPr id="9" name="Rectangle 2">
            <a:extLst>
              <a:ext uri="{FF2B5EF4-FFF2-40B4-BE49-F238E27FC236}">
                <a16:creationId xmlns:a16="http://schemas.microsoft.com/office/drawing/2014/main" id="{106EB58D-CD9E-FA5D-4E89-9868A196079A}"/>
              </a:ext>
            </a:extLst>
          </p:cNvPr>
          <p:cNvSpPr>
            <a:spLocks noChangeArrowheads="1"/>
          </p:cNvSpPr>
          <p:nvPr/>
        </p:nvSpPr>
        <p:spPr bwMode="auto">
          <a:xfrm>
            <a:off x="940249" y="3051332"/>
            <a:ext cx="2916238" cy="485021"/>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400" dirty="0">
                <a:latin typeface="Roboto" panose="02000000000000000000" pitchFamily="2" charset="0"/>
                <a:ea typeface="Roboto" panose="02000000000000000000" pitchFamily="2" charset="0"/>
              </a:rPr>
              <a:t>2. System Generated Report</a:t>
            </a:r>
            <a:br>
              <a:rPr lang="en-US" altLang="en-US" sz="1400" dirty="0">
                <a:latin typeface="Roboto" panose="02000000000000000000" pitchFamily="2" charset="0"/>
                <a:ea typeface="Roboto" panose="02000000000000000000" pitchFamily="2" charset="0"/>
              </a:rPr>
            </a:br>
            <a:r>
              <a:rPr lang="en-US" altLang="en-US" sz="1400" dirty="0">
                <a:latin typeface="Roboto" panose="02000000000000000000" pitchFamily="2" charset="0"/>
                <a:ea typeface="Roboto" panose="02000000000000000000" pitchFamily="2" charset="0"/>
              </a:rPr>
              <a:t>or Work Flow Documents</a:t>
            </a:r>
          </a:p>
        </p:txBody>
      </p:sp>
      <p:cxnSp>
        <p:nvCxnSpPr>
          <p:cNvPr id="10" name="AutoShape 7">
            <a:extLst>
              <a:ext uri="{FF2B5EF4-FFF2-40B4-BE49-F238E27FC236}">
                <a16:creationId xmlns:a16="http://schemas.microsoft.com/office/drawing/2014/main" id="{DD443AC4-2EDF-DED7-5B38-0DAAE00607C5}"/>
              </a:ext>
            </a:extLst>
          </p:cNvPr>
          <p:cNvCxnSpPr>
            <a:cxnSpLocks noChangeShapeType="1"/>
          </p:cNvCxnSpPr>
          <p:nvPr/>
        </p:nvCxnSpPr>
        <p:spPr bwMode="auto">
          <a:xfrm>
            <a:off x="2398368" y="3536353"/>
            <a:ext cx="0" cy="260402"/>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1" name="Rectangle 2">
            <a:extLst>
              <a:ext uri="{FF2B5EF4-FFF2-40B4-BE49-F238E27FC236}">
                <a16:creationId xmlns:a16="http://schemas.microsoft.com/office/drawing/2014/main" id="{14CDEFA0-626B-B5FC-7528-661C833DB10D}"/>
              </a:ext>
            </a:extLst>
          </p:cNvPr>
          <p:cNvSpPr>
            <a:spLocks noChangeArrowheads="1"/>
          </p:cNvSpPr>
          <p:nvPr/>
        </p:nvSpPr>
        <p:spPr bwMode="auto">
          <a:xfrm>
            <a:off x="940249" y="3793345"/>
            <a:ext cx="2916238" cy="485021"/>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400" dirty="0">
                <a:solidFill>
                  <a:schemeClr val="bg1"/>
                </a:solidFill>
                <a:latin typeface="Roboto" panose="02000000000000000000" pitchFamily="2" charset="0"/>
                <a:ea typeface="Roboto" panose="02000000000000000000" pitchFamily="2" charset="0"/>
              </a:rPr>
              <a:t>3. Historical Performance </a:t>
            </a:r>
            <a:br>
              <a:rPr lang="en-US" altLang="en-US" sz="1400" dirty="0">
                <a:solidFill>
                  <a:schemeClr val="bg1"/>
                </a:solidFill>
                <a:latin typeface="Roboto" panose="02000000000000000000" pitchFamily="2" charset="0"/>
                <a:ea typeface="Roboto" panose="02000000000000000000" pitchFamily="2" charset="0"/>
              </a:rPr>
            </a:br>
            <a:r>
              <a:rPr lang="en-US" altLang="en-US" sz="1400" dirty="0">
                <a:solidFill>
                  <a:schemeClr val="bg1"/>
                </a:solidFill>
                <a:latin typeface="Roboto" panose="02000000000000000000" pitchFamily="2" charset="0"/>
                <a:ea typeface="Roboto" panose="02000000000000000000" pitchFamily="2" charset="0"/>
              </a:rPr>
              <a:t>Reports</a:t>
            </a:r>
          </a:p>
        </p:txBody>
      </p:sp>
      <p:cxnSp>
        <p:nvCxnSpPr>
          <p:cNvPr id="12" name="AutoShape 7">
            <a:extLst>
              <a:ext uri="{FF2B5EF4-FFF2-40B4-BE49-F238E27FC236}">
                <a16:creationId xmlns:a16="http://schemas.microsoft.com/office/drawing/2014/main" id="{0E0541D7-C78E-D032-A194-88B42556B702}"/>
              </a:ext>
            </a:extLst>
          </p:cNvPr>
          <p:cNvCxnSpPr>
            <a:cxnSpLocks noChangeShapeType="1"/>
          </p:cNvCxnSpPr>
          <p:nvPr/>
        </p:nvCxnSpPr>
        <p:spPr bwMode="auto">
          <a:xfrm>
            <a:off x="2398368" y="4278366"/>
            <a:ext cx="0" cy="260402"/>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3" name="Rectangle 2">
            <a:extLst>
              <a:ext uri="{FF2B5EF4-FFF2-40B4-BE49-F238E27FC236}">
                <a16:creationId xmlns:a16="http://schemas.microsoft.com/office/drawing/2014/main" id="{FF588EB7-EA7E-7A04-3548-6771FB01C3E0}"/>
              </a:ext>
            </a:extLst>
          </p:cNvPr>
          <p:cNvSpPr>
            <a:spLocks noChangeArrowheads="1"/>
          </p:cNvSpPr>
          <p:nvPr/>
        </p:nvSpPr>
        <p:spPr bwMode="auto">
          <a:xfrm>
            <a:off x="940249" y="4535358"/>
            <a:ext cx="2916238" cy="485021"/>
          </a:xfrm>
          <a:prstGeom prst="rect">
            <a:avLst/>
          </a:prstGeom>
          <a:solidFill>
            <a:schemeClr val="accent5"/>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400" dirty="0">
                <a:solidFill>
                  <a:schemeClr val="bg1"/>
                </a:solidFill>
                <a:latin typeface="Roboto" panose="02000000000000000000" pitchFamily="2" charset="0"/>
                <a:ea typeface="Roboto" panose="02000000000000000000" pitchFamily="2" charset="0"/>
              </a:rPr>
              <a:t>4. Staff Interviews</a:t>
            </a:r>
          </a:p>
        </p:txBody>
      </p:sp>
      <p:cxnSp>
        <p:nvCxnSpPr>
          <p:cNvPr id="14" name="AutoShape 7">
            <a:extLst>
              <a:ext uri="{FF2B5EF4-FFF2-40B4-BE49-F238E27FC236}">
                <a16:creationId xmlns:a16="http://schemas.microsoft.com/office/drawing/2014/main" id="{915197F7-D1FF-A71A-CB5F-A7221ABA8FDE}"/>
              </a:ext>
            </a:extLst>
          </p:cNvPr>
          <p:cNvCxnSpPr>
            <a:cxnSpLocks noChangeShapeType="1"/>
          </p:cNvCxnSpPr>
          <p:nvPr/>
        </p:nvCxnSpPr>
        <p:spPr bwMode="auto">
          <a:xfrm>
            <a:off x="2398368" y="5020379"/>
            <a:ext cx="0" cy="260402"/>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0" name="Rectangle 2">
            <a:extLst>
              <a:ext uri="{FF2B5EF4-FFF2-40B4-BE49-F238E27FC236}">
                <a16:creationId xmlns:a16="http://schemas.microsoft.com/office/drawing/2014/main" id="{19D310C2-68EC-7535-7347-8F7B38794AFF}"/>
              </a:ext>
            </a:extLst>
          </p:cNvPr>
          <p:cNvSpPr>
            <a:spLocks noChangeArrowheads="1"/>
          </p:cNvSpPr>
          <p:nvPr/>
        </p:nvSpPr>
        <p:spPr bwMode="auto">
          <a:xfrm>
            <a:off x="940249" y="5292361"/>
            <a:ext cx="2916238" cy="485021"/>
          </a:xfrm>
          <a:prstGeom prst="rect">
            <a:avLst/>
          </a:prstGeom>
          <a:solidFill>
            <a:schemeClr val="accent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400" dirty="0">
                <a:latin typeface="Roboto" panose="02000000000000000000" pitchFamily="2" charset="0"/>
                <a:ea typeface="Roboto" panose="02000000000000000000" pitchFamily="2" charset="0"/>
              </a:rPr>
              <a:t>5. Management Interviews</a:t>
            </a:r>
          </a:p>
        </p:txBody>
      </p:sp>
      <p:sp>
        <p:nvSpPr>
          <p:cNvPr id="26" name="Text Box 14">
            <a:extLst>
              <a:ext uri="{FF2B5EF4-FFF2-40B4-BE49-F238E27FC236}">
                <a16:creationId xmlns:a16="http://schemas.microsoft.com/office/drawing/2014/main" id="{E6D81708-08DF-1D9A-1699-57D0C388AFAB}"/>
              </a:ext>
            </a:extLst>
          </p:cNvPr>
          <p:cNvSpPr txBox="1">
            <a:spLocks noChangeArrowheads="1"/>
          </p:cNvSpPr>
          <p:nvPr/>
        </p:nvSpPr>
        <p:spPr bwMode="auto">
          <a:xfrm>
            <a:off x="5687394" y="1894520"/>
            <a:ext cx="4044950" cy="31115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Important Points on Gathering Data</a:t>
            </a:r>
          </a:p>
        </p:txBody>
      </p:sp>
    </p:spTree>
    <p:extLst>
      <p:ext uri="{BB962C8B-B14F-4D97-AF65-F5344CB8AC3E}">
        <p14:creationId xmlns:p14="http://schemas.microsoft.com/office/powerpoint/2010/main" val="40366408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Autofit/>
          </a:bodyPr>
          <a:lstStyle/>
          <a:p>
            <a:r>
              <a:rPr lang="en-US" sz="3200" dirty="0"/>
              <a:t>Group Roles and Assignments for Team Walk #2</a:t>
            </a:r>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77</a:t>
            </a:fld>
            <a:endParaRPr lang="en-US" dirty="0"/>
          </a:p>
        </p:txBody>
      </p:sp>
      <p:sp>
        <p:nvSpPr>
          <p:cNvPr id="3" name="Rectangle 4">
            <a:extLst>
              <a:ext uri="{FF2B5EF4-FFF2-40B4-BE49-F238E27FC236}">
                <a16:creationId xmlns:a16="http://schemas.microsoft.com/office/drawing/2014/main" id="{344B6D7A-6AF8-70BA-632D-64D87433B181}"/>
              </a:ext>
            </a:extLst>
          </p:cNvPr>
          <p:cNvSpPr>
            <a:spLocks noChangeArrowheads="1"/>
          </p:cNvSpPr>
          <p:nvPr/>
        </p:nvSpPr>
        <p:spPr bwMode="auto">
          <a:xfrm>
            <a:off x="1665736" y="2440841"/>
            <a:ext cx="1908175" cy="5683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rgbClr val="000066"/>
                </a:solidFill>
              </a:rPr>
              <a:t>Process Walk</a:t>
            </a:r>
            <a:br>
              <a:rPr lang="en-US" altLang="en-US" sz="1400">
                <a:solidFill>
                  <a:srgbClr val="000066"/>
                </a:solidFill>
              </a:rPr>
            </a:br>
            <a:r>
              <a:rPr lang="en-US" altLang="en-US" sz="1400">
                <a:solidFill>
                  <a:srgbClr val="000066"/>
                </a:solidFill>
              </a:rPr>
              <a:t>Guide</a:t>
            </a:r>
          </a:p>
        </p:txBody>
      </p:sp>
      <p:sp>
        <p:nvSpPr>
          <p:cNvPr id="5" name="Rectangle 5">
            <a:extLst>
              <a:ext uri="{FF2B5EF4-FFF2-40B4-BE49-F238E27FC236}">
                <a16:creationId xmlns:a16="http://schemas.microsoft.com/office/drawing/2014/main" id="{2915D968-193C-EE4D-5C0A-62709AB034D5}"/>
              </a:ext>
            </a:extLst>
          </p:cNvPr>
          <p:cNvSpPr>
            <a:spLocks noChangeArrowheads="1"/>
          </p:cNvSpPr>
          <p:nvPr/>
        </p:nvSpPr>
        <p:spPr bwMode="auto">
          <a:xfrm>
            <a:off x="1665736" y="3363179"/>
            <a:ext cx="1908175" cy="568325"/>
          </a:xfrm>
          <a:prstGeom prst="rect">
            <a:avLst/>
          </a:prstGeom>
          <a:solidFill>
            <a:srgbClr val="DDDDDD"/>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rgbClr val="000066"/>
                </a:solidFill>
              </a:rPr>
              <a:t>Interviewer</a:t>
            </a:r>
          </a:p>
        </p:txBody>
      </p:sp>
      <p:sp>
        <p:nvSpPr>
          <p:cNvPr id="6" name="Rectangle 6">
            <a:extLst>
              <a:ext uri="{FF2B5EF4-FFF2-40B4-BE49-F238E27FC236}">
                <a16:creationId xmlns:a16="http://schemas.microsoft.com/office/drawing/2014/main" id="{B94FCBD1-26D6-5A17-8134-A27C3A079FFB}"/>
              </a:ext>
            </a:extLst>
          </p:cNvPr>
          <p:cNvSpPr>
            <a:spLocks noChangeArrowheads="1"/>
          </p:cNvSpPr>
          <p:nvPr/>
        </p:nvSpPr>
        <p:spPr bwMode="auto">
          <a:xfrm>
            <a:off x="1665736" y="4255354"/>
            <a:ext cx="1908175" cy="568325"/>
          </a:xfrm>
          <a:prstGeom prst="rect">
            <a:avLst/>
          </a:prstGeom>
          <a:solidFill>
            <a:srgbClr val="808080"/>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Timer(s)</a:t>
            </a:r>
          </a:p>
        </p:txBody>
      </p:sp>
      <p:sp>
        <p:nvSpPr>
          <p:cNvPr id="7" name="Rectangle 7">
            <a:extLst>
              <a:ext uri="{FF2B5EF4-FFF2-40B4-BE49-F238E27FC236}">
                <a16:creationId xmlns:a16="http://schemas.microsoft.com/office/drawing/2014/main" id="{E3843502-C11A-A6DF-507D-F476AF14A7EC}"/>
              </a:ext>
            </a:extLst>
          </p:cNvPr>
          <p:cNvSpPr>
            <a:spLocks noChangeArrowheads="1"/>
          </p:cNvSpPr>
          <p:nvPr/>
        </p:nvSpPr>
        <p:spPr bwMode="auto">
          <a:xfrm>
            <a:off x="1665736" y="5191979"/>
            <a:ext cx="1908175" cy="56832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Inventory Counters</a:t>
            </a:r>
          </a:p>
        </p:txBody>
      </p:sp>
      <p:sp>
        <p:nvSpPr>
          <p:cNvPr id="8" name="Line 8">
            <a:extLst>
              <a:ext uri="{FF2B5EF4-FFF2-40B4-BE49-F238E27FC236}">
                <a16:creationId xmlns:a16="http://schemas.microsoft.com/office/drawing/2014/main" id="{251774E7-288B-B82C-CB19-8260EE03CF73}"/>
              </a:ext>
            </a:extLst>
          </p:cNvPr>
          <p:cNvSpPr>
            <a:spLocks noChangeShapeType="1"/>
          </p:cNvSpPr>
          <p:nvPr/>
        </p:nvSpPr>
        <p:spPr bwMode="auto">
          <a:xfrm>
            <a:off x="940249" y="3261579"/>
            <a:ext cx="8250237" cy="0"/>
          </a:xfrm>
          <a:prstGeom prst="line">
            <a:avLst/>
          </a:prstGeom>
          <a:noFill/>
          <a:ln w="19050">
            <a:solidFill>
              <a:srgbClr val="7F7F7F"/>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9">
            <a:extLst>
              <a:ext uri="{FF2B5EF4-FFF2-40B4-BE49-F238E27FC236}">
                <a16:creationId xmlns:a16="http://schemas.microsoft.com/office/drawing/2014/main" id="{A1CEC33B-9C0D-FA40-9557-E55CD0AFE340}"/>
              </a:ext>
            </a:extLst>
          </p:cNvPr>
          <p:cNvSpPr>
            <a:spLocks noChangeShapeType="1"/>
          </p:cNvSpPr>
          <p:nvPr/>
        </p:nvSpPr>
        <p:spPr bwMode="auto">
          <a:xfrm>
            <a:off x="956124" y="4166454"/>
            <a:ext cx="8205787" cy="0"/>
          </a:xfrm>
          <a:prstGeom prst="line">
            <a:avLst/>
          </a:prstGeom>
          <a:noFill/>
          <a:ln w="19050">
            <a:solidFill>
              <a:srgbClr val="7F7F7F"/>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10">
            <a:extLst>
              <a:ext uri="{FF2B5EF4-FFF2-40B4-BE49-F238E27FC236}">
                <a16:creationId xmlns:a16="http://schemas.microsoft.com/office/drawing/2014/main" id="{4CD3478A-F2E0-345E-0021-31CD746488DA}"/>
              </a:ext>
            </a:extLst>
          </p:cNvPr>
          <p:cNvSpPr>
            <a:spLocks noChangeShapeType="1"/>
          </p:cNvSpPr>
          <p:nvPr/>
        </p:nvSpPr>
        <p:spPr bwMode="auto">
          <a:xfrm>
            <a:off x="925961" y="5114191"/>
            <a:ext cx="8235950" cy="0"/>
          </a:xfrm>
          <a:prstGeom prst="line">
            <a:avLst/>
          </a:prstGeom>
          <a:noFill/>
          <a:ln w="19050">
            <a:solidFill>
              <a:srgbClr val="7F7F7F"/>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11">
            <a:extLst>
              <a:ext uri="{FF2B5EF4-FFF2-40B4-BE49-F238E27FC236}">
                <a16:creationId xmlns:a16="http://schemas.microsoft.com/office/drawing/2014/main" id="{668C1045-BFB5-1452-2BC6-6D7243E8E66B}"/>
              </a:ext>
            </a:extLst>
          </p:cNvPr>
          <p:cNvSpPr>
            <a:spLocks noChangeShapeType="1"/>
          </p:cNvSpPr>
          <p:nvPr/>
        </p:nvSpPr>
        <p:spPr bwMode="auto">
          <a:xfrm>
            <a:off x="941836" y="6004779"/>
            <a:ext cx="8220075" cy="0"/>
          </a:xfrm>
          <a:prstGeom prst="line">
            <a:avLst/>
          </a:prstGeom>
          <a:noFill/>
          <a:ln w="19050">
            <a:solidFill>
              <a:srgbClr val="7F7F7F"/>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Rectangle 12">
            <a:extLst>
              <a:ext uri="{FF2B5EF4-FFF2-40B4-BE49-F238E27FC236}">
                <a16:creationId xmlns:a16="http://schemas.microsoft.com/office/drawing/2014/main" id="{D126C51C-BD53-7B89-BFF0-7D23DC3F2057}"/>
              </a:ext>
            </a:extLst>
          </p:cNvPr>
          <p:cNvSpPr>
            <a:spLocks noChangeArrowheads="1"/>
          </p:cNvSpPr>
          <p:nvPr/>
        </p:nvSpPr>
        <p:spPr bwMode="auto">
          <a:xfrm>
            <a:off x="4107311" y="2423379"/>
            <a:ext cx="4970463"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45000"/>
              </a:spcBef>
              <a:spcAft>
                <a:spcPct val="0"/>
              </a:spcAft>
              <a:buClr>
                <a:schemeClr val="accent1"/>
              </a:buClr>
              <a:buSzPct val="90000"/>
              <a:buFont typeface="Wingdings" pitchFamily="2" charset="2"/>
              <a:buChar char="§"/>
            </a:pPr>
            <a:r>
              <a:rPr lang="en-US" altLang="en-US" sz="1400"/>
              <a:t>Leads the team through the correct sequence of processes</a:t>
            </a:r>
            <a:endParaRPr lang="en-US" altLang="en-US" sz="1400" b="0"/>
          </a:p>
        </p:txBody>
      </p:sp>
      <p:sp>
        <p:nvSpPr>
          <p:cNvPr id="23" name="Rectangle 13">
            <a:extLst>
              <a:ext uri="{FF2B5EF4-FFF2-40B4-BE49-F238E27FC236}">
                <a16:creationId xmlns:a16="http://schemas.microsoft.com/office/drawing/2014/main" id="{0B5E414C-7A25-0EC1-637D-A29282F51C19}"/>
              </a:ext>
            </a:extLst>
          </p:cNvPr>
          <p:cNvSpPr>
            <a:spLocks noChangeArrowheads="1"/>
          </p:cNvSpPr>
          <p:nvPr/>
        </p:nvSpPr>
        <p:spPr bwMode="auto">
          <a:xfrm>
            <a:off x="4110486" y="3367941"/>
            <a:ext cx="4981575"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45000"/>
              </a:spcBef>
              <a:spcAft>
                <a:spcPct val="0"/>
              </a:spcAft>
              <a:buClr>
                <a:schemeClr val="accent1"/>
              </a:buClr>
              <a:buSzPct val="90000"/>
              <a:buFont typeface="Wingdings" pitchFamily="2" charset="2"/>
              <a:buChar char="§"/>
            </a:pPr>
            <a:r>
              <a:rPr lang="en-US" altLang="en-US" sz="1400"/>
              <a:t>Leads the interview with the operators/process participants </a:t>
            </a:r>
            <a:endParaRPr lang="en-US" altLang="en-US" sz="1400" b="0"/>
          </a:p>
        </p:txBody>
      </p:sp>
      <p:sp>
        <p:nvSpPr>
          <p:cNvPr id="24" name="Rectangle 14">
            <a:extLst>
              <a:ext uri="{FF2B5EF4-FFF2-40B4-BE49-F238E27FC236}">
                <a16:creationId xmlns:a16="http://schemas.microsoft.com/office/drawing/2014/main" id="{DD7B3076-3AA1-BD21-7856-D20C39656D61}"/>
              </a:ext>
            </a:extLst>
          </p:cNvPr>
          <p:cNvSpPr>
            <a:spLocks noChangeArrowheads="1"/>
          </p:cNvSpPr>
          <p:nvPr/>
        </p:nvSpPr>
        <p:spPr bwMode="auto">
          <a:xfrm>
            <a:off x="4110486" y="4260116"/>
            <a:ext cx="4970463"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45000"/>
              </a:spcBef>
              <a:spcAft>
                <a:spcPct val="0"/>
              </a:spcAft>
              <a:buClr>
                <a:schemeClr val="accent1"/>
              </a:buClr>
              <a:buSzPct val="90000"/>
              <a:buFont typeface="Wingdings" pitchFamily="2" charset="2"/>
              <a:buChar char="§"/>
            </a:pPr>
            <a:r>
              <a:rPr lang="en-US" altLang="en-US" sz="1400"/>
              <a:t>Records all actual operator cycle times, machine cycle times, and drop off intervals </a:t>
            </a:r>
            <a:endParaRPr lang="en-US" altLang="en-US" sz="1400" b="0"/>
          </a:p>
        </p:txBody>
      </p:sp>
      <p:sp>
        <p:nvSpPr>
          <p:cNvPr id="27" name="Rectangle 15">
            <a:extLst>
              <a:ext uri="{FF2B5EF4-FFF2-40B4-BE49-F238E27FC236}">
                <a16:creationId xmlns:a16="http://schemas.microsoft.com/office/drawing/2014/main" id="{96A32FAB-618C-185B-38B8-941453AA3805}"/>
              </a:ext>
            </a:extLst>
          </p:cNvPr>
          <p:cNvSpPr>
            <a:spLocks noChangeArrowheads="1"/>
          </p:cNvSpPr>
          <p:nvPr/>
        </p:nvSpPr>
        <p:spPr bwMode="auto">
          <a:xfrm>
            <a:off x="4110486" y="5198329"/>
            <a:ext cx="49704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45000"/>
              </a:spcBef>
              <a:spcAft>
                <a:spcPct val="0"/>
              </a:spcAft>
              <a:buClr>
                <a:schemeClr val="accent1"/>
              </a:buClr>
              <a:buSzPct val="90000"/>
              <a:buFont typeface="Wingdings" pitchFamily="2" charset="2"/>
              <a:buChar char="§"/>
            </a:pPr>
            <a:r>
              <a:rPr lang="en-US" altLang="en-US" sz="1400"/>
              <a:t>Counts number of pieces queued at each process</a:t>
            </a:r>
            <a:endParaRPr lang="en-US" altLang="en-US" sz="1400" b="0"/>
          </a:p>
        </p:txBody>
      </p:sp>
      <p:sp>
        <p:nvSpPr>
          <p:cNvPr id="28" name="Line 16">
            <a:extLst>
              <a:ext uri="{FF2B5EF4-FFF2-40B4-BE49-F238E27FC236}">
                <a16:creationId xmlns:a16="http://schemas.microsoft.com/office/drawing/2014/main" id="{185E7893-147A-A0AA-106C-2A3F03A95A5F}"/>
              </a:ext>
            </a:extLst>
          </p:cNvPr>
          <p:cNvSpPr>
            <a:spLocks noChangeShapeType="1"/>
          </p:cNvSpPr>
          <p:nvPr/>
        </p:nvSpPr>
        <p:spPr bwMode="auto">
          <a:xfrm flipV="1">
            <a:off x="930724" y="2293204"/>
            <a:ext cx="8250237" cy="15875"/>
          </a:xfrm>
          <a:prstGeom prst="line">
            <a:avLst/>
          </a:prstGeom>
          <a:noFill/>
          <a:ln w="38100">
            <a:solidFill>
              <a:srgbClr val="7F7F7F"/>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9" name="Text Box 17">
            <a:extLst>
              <a:ext uri="{FF2B5EF4-FFF2-40B4-BE49-F238E27FC236}">
                <a16:creationId xmlns:a16="http://schemas.microsoft.com/office/drawing/2014/main" id="{F3769BCB-EFB0-1399-48CC-677E90390D18}"/>
              </a:ext>
            </a:extLst>
          </p:cNvPr>
          <p:cNvSpPr txBox="1">
            <a:spLocks noChangeArrowheads="1"/>
          </p:cNvSpPr>
          <p:nvPr/>
        </p:nvSpPr>
        <p:spPr bwMode="auto">
          <a:xfrm>
            <a:off x="940249" y="2005866"/>
            <a:ext cx="46926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Group Roles		      Descriptions</a:t>
            </a:r>
          </a:p>
        </p:txBody>
      </p:sp>
      <p:sp>
        <p:nvSpPr>
          <p:cNvPr id="30" name="Oval 18">
            <a:extLst>
              <a:ext uri="{FF2B5EF4-FFF2-40B4-BE49-F238E27FC236}">
                <a16:creationId xmlns:a16="http://schemas.microsoft.com/office/drawing/2014/main" id="{63F2361D-5006-D6E0-EFBE-743C8433584A}"/>
              </a:ext>
            </a:extLst>
          </p:cNvPr>
          <p:cNvSpPr>
            <a:spLocks noChangeArrowheads="1"/>
          </p:cNvSpPr>
          <p:nvPr/>
        </p:nvSpPr>
        <p:spPr bwMode="auto">
          <a:xfrm>
            <a:off x="987874" y="2548791"/>
            <a:ext cx="400050" cy="366713"/>
          </a:xfrm>
          <a:prstGeom prst="ellipse">
            <a:avLst/>
          </a:prstGeom>
          <a:solidFill>
            <a:schemeClr val="accent1"/>
          </a:solidFill>
          <a:ln w="12700" cap="sq">
            <a:solidFill>
              <a:srgbClr val="800000"/>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1</a:t>
            </a:r>
          </a:p>
        </p:txBody>
      </p:sp>
      <p:sp>
        <p:nvSpPr>
          <p:cNvPr id="31" name="Oval 19">
            <a:extLst>
              <a:ext uri="{FF2B5EF4-FFF2-40B4-BE49-F238E27FC236}">
                <a16:creationId xmlns:a16="http://schemas.microsoft.com/office/drawing/2014/main" id="{DB7AFCB0-6866-A24D-C3CE-F6DA5649E66D}"/>
              </a:ext>
            </a:extLst>
          </p:cNvPr>
          <p:cNvSpPr>
            <a:spLocks noChangeArrowheads="1"/>
          </p:cNvSpPr>
          <p:nvPr/>
        </p:nvSpPr>
        <p:spPr bwMode="auto">
          <a:xfrm>
            <a:off x="987874" y="3474304"/>
            <a:ext cx="400050" cy="366712"/>
          </a:xfrm>
          <a:prstGeom prst="ellipse">
            <a:avLst/>
          </a:prstGeom>
          <a:solidFill>
            <a:schemeClr val="accent1"/>
          </a:solidFill>
          <a:ln w="12700" cap="sq">
            <a:solidFill>
              <a:srgbClr val="800000"/>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2</a:t>
            </a:r>
          </a:p>
        </p:txBody>
      </p:sp>
      <p:sp>
        <p:nvSpPr>
          <p:cNvPr id="32" name="Oval 20">
            <a:extLst>
              <a:ext uri="{FF2B5EF4-FFF2-40B4-BE49-F238E27FC236}">
                <a16:creationId xmlns:a16="http://schemas.microsoft.com/office/drawing/2014/main" id="{9FA265F8-15BD-1220-E343-288888FBB051}"/>
              </a:ext>
            </a:extLst>
          </p:cNvPr>
          <p:cNvSpPr>
            <a:spLocks noChangeArrowheads="1"/>
          </p:cNvSpPr>
          <p:nvPr/>
        </p:nvSpPr>
        <p:spPr bwMode="auto">
          <a:xfrm>
            <a:off x="987874" y="4363304"/>
            <a:ext cx="400050" cy="366712"/>
          </a:xfrm>
          <a:prstGeom prst="ellipse">
            <a:avLst/>
          </a:prstGeom>
          <a:solidFill>
            <a:schemeClr val="accent1"/>
          </a:solidFill>
          <a:ln w="12700" cap="sq">
            <a:solidFill>
              <a:srgbClr val="800000"/>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3</a:t>
            </a:r>
          </a:p>
        </p:txBody>
      </p:sp>
      <p:sp>
        <p:nvSpPr>
          <p:cNvPr id="33" name="Oval 21">
            <a:extLst>
              <a:ext uri="{FF2B5EF4-FFF2-40B4-BE49-F238E27FC236}">
                <a16:creationId xmlns:a16="http://schemas.microsoft.com/office/drawing/2014/main" id="{26D32AD4-2918-3EB1-B76D-B75DA610A34A}"/>
              </a:ext>
            </a:extLst>
          </p:cNvPr>
          <p:cNvSpPr>
            <a:spLocks noChangeArrowheads="1"/>
          </p:cNvSpPr>
          <p:nvPr/>
        </p:nvSpPr>
        <p:spPr bwMode="auto">
          <a:xfrm>
            <a:off x="987874" y="5303104"/>
            <a:ext cx="400050" cy="366712"/>
          </a:xfrm>
          <a:prstGeom prst="ellipse">
            <a:avLst/>
          </a:prstGeom>
          <a:solidFill>
            <a:schemeClr val="accent1"/>
          </a:solidFill>
          <a:ln w="12700" cap="sq">
            <a:solidFill>
              <a:srgbClr val="800000"/>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rPr>
              <a:t>4</a:t>
            </a:r>
          </a:p>
        </p:txBody>
      </p:sp>
    </p:spTree>
    <p:extLst>
      <p:ext uri="{BB962C8B-B14F-4D97-AF65-F5344CB8AC3E}">
        <p14:creationId xmlns:p14="http://schemas.microsoft.com/office/powerpoint/2010/main" val="135105345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Key Interviewer Guideline Questions</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199" y="1825625"/>
            <a:ext cx="10500079" cy="4351338"/>
          </a:xfrm>
        </p:spPr>
        <p:txBody>
          <a:bodyPr>
            <a:normAutofit/>
          </a:bodyPr>
          <a:lstStyle/>
          <a:p>
            <a:pPr>
              <a:lnSpc>
                <a:spcPct val="150000"/>
              </a:lnSpc>
            </a:pPr>
            <a:r>
              <a:rPr lang="en-US" sz="2400" dirty="0"/>
              <a:t>Introduce the team and remind the operator about the exercise we are performing</a:t>
            </a:r>
          </a:p>
          <a:p>
            <a:pPr>
              <a:lnSpc>
                <a:spcPct val="150000"/>
              </a:lnSpc>
            </a:pPr>
            <a:r>
              <a:rPr lang="en-US" sz="2400" dirty="0"/>
              <a:t>Determine which scripted questions are appropriate for process observed</a:t>
            </a:r>
          </a:p>
          <a:p>
            <a:pPr>
              <a:lnSpc>
                <a:spcPct val="150000"/>
              </a:lnSpc>
            </a:pPr>
            <a:r>
              <a:rPr lang="en-US" sz="2400" dirty="0"/>
              <a:t>Determine if there are any other relevant questions that need to be asked</a:t>
            </a:r>
          </a:p>
          <a:p>
            <a:pPr>
              <a:lnSpc>
                <a:spcPct val="150000"/>
              </a:lnSpc>
            </a:pPr>
            <a:r>
              <a:rPr lang="en-US" sz="2400" dirty="0"/>
              <a:t>Thank the operator for his/her time</a:t>
            </a:r>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78</a:t>
            </a:fld>
            <a:endParaRPr lang="en-US" dirty="0"/>
          </a:p>
        </p:txBody>
      </p:sp>
    </p:spTree>
    <p:extLst>
      <p:ext uri="{BB962C8B-B14F-4D97-AF65-F5344CB8AC3E}">
        <p14:creationId xmlns:p14="http://schemas.microsoft.com/office/powerpoint/2010/main" val="245994970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p:txBody>
          <a:bodyPr>
            <a:noAutofit/>
          </a:bodyPr>
          <a:lstStyle/>
          <a:p>
            <a:r>
              <a:rPr lang="en-US" altLang="en-US" sz="3600" dirty="0"/>
              <a:t>After Data Gathering</a:t>
            </a:r>
            <a:endParaRPr lang="en-US" sz="3600" dirty="0"/>
          </a:p>
        </p:txBody>
      </p:sp>
      <p:sp>
        <p:nvSpPr>
          <p:cNvPr id="3" name="Content Placeholder 2">
            <a:extLst>
              <a:ext uri="{FF2B5EF4-FFF2-40B4-BE49-F238E27FC236}">
                <a16:creationId xmlns:a16="http://schemas.microsoft.com/office/drawing/2014/main" id="{0E9E31AD-C014-89C1-340D-6AA09822D40E}"/>
              </a:ext>
            </a:extLst>
          </p:cNvPr>
          <p:cNvSpPr>
            <a:spLocks noGrp="1"/>
          </p:cNvSpPr>
          <p:nvPr>
            <p:ph idx="1"/>
          </p:nvPr>
        </p:nvSpPr>
        <p:spPr>
          <a:xfrm>
            <a:off x="838199" y="1825625"/>
            <a:ext cx="10500079" cy="4351338"/>
          </a:xfrm>
        </p:spPr>
        <p:txBody>
          <a:bodyPr>
            <a:normAutofit fontScale="92500"/>
          </a:bodyPr>
          <a:lstStyle/>
          <a:p>
            <a:pPr>
              <a:lnSpc>
                <a:spcPct val="150000"/>
              </a:lnSpc>
            </a:pPr>
            <a:r>
              <a:rPr lang="en-US" sz="2400" dirty="0"/>
              <a:t>Return to common area to jointly create Master Current State Map</a:t>
            </a:r>
          </a:p>
          <a:p>
            <a:pPr>
              <a:lnSpc>
                <a:spcPct val="150000"/>
              </a:lnSpc>
            </a:pPr>
            <a:r>
              <a:rPr lang="en-US" sz="2400" dirty="0"/>
              <a:t>For drawing Master Current State map, team will require Easel Pad Chart Paper, light colored post-it notes, black markers with thin tip, and calculators</a:t>
            </a:r>
          </a:p>
          <a:p>
            <a:pPr>
              <a:lnSpc>
                <a:spcPct val="150000"/>
              </a:lnSpc>
            </a:pPr>
            <a:r>
              <a:rPr lang="en-US" sz="2400" dirty="0"/>
              <a:t>All team members will be engaged in the drawing of the map	</a:t>
            </a:r>
          </a:p>
          <a:p>
            <a:pPr>
              <a:lnSpc>
                <a:spcPct val="150000"/>
              </a:lnSpc>
            </a:pPr>
            <a:r>
              <a:rPr lang="en-US" sz="2400" dirty="0"/>
              <a:t>The Current State Map will be reviewed by management – make the map large and write clearly </a:t>
            </a:r>
          </a:p>
          <a:p>
            <a:pPr>
              <a:lnSpc>
                <a:spcPct val="150000"/>
              </a:lnSpc>
            </a:pPr>
            <a:r>
              <a:rPr lang="en-US" sz="2400" dirty="0"/>
              <a:t>After Current State is drawn, convert to electronic file “off-line”</a:t>
            </a:r>
          </a:p>
          <a:p>
            <a:pPr>
              <a:lnSpc>
                <a:spcPct val="150000"/>
              </a:lnSpc>
            </a:pPr>
            <a:endParaRPr lang="en-US" sz="2400" dirty="0"/>
          </a:p>
        </p:txBody>
      </p:sp>
      <p:grpSp>
        <p:nvGrpSpPr>
          <p:cNvPr id="22" name="Group 21">
            <a:extLst>
              <a:ext uri="{FF2B5EF4-FFF2-40B4-BE49-F238E27FC236}">
                <a16:creationId xmlns:a16="http://schemas.microsoft.com/office/drawing/2014/main" id="{EFD5FB77-3AD6-9B04-B60A-743725648630}"/>
              </a:ext>
            </a:extLst>
          </p:cNvPr>
          <p:cNvGrpSpPr/>
          <p:nvPr/>
        </p:nvGrpSpPr>
        <p:grpSpPr>
          <a:xfrm>
            <a:off x="940249" y="302538"/>
            <a:ext cx="6219503" cy="311932"/>
            <a:chOff x="940249" y="302538"/>
            <a:chExt cx="6219503" cy="311932"/>
          </a:xfrm>
        </p:grpSpPr>
        <p:sp>
          <p:nvSpPr>
            <p:cNvPr id="23" name="TextBox 22">
              <a:extLst>
                <a:ext uri="{FF2B5EF4-FFF2-40B4-BE49-F238E27FC236}">
                  <a16:creationId xmlns:a16="http://schemas.microsoft.com/office/drawing/2014/main" id="{40FF4B40-3400-5ECC-1069-9A674A4E267F}"/>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4" name="AutoShape 9">
              <a:extLst>
                <a:ext uri="{FF2B5EF4-FFF2-40B4-BE49-F238E27FC236}">
                  <a16:creationId xmlns:a16="http://schemas.microsoft.com/office/drawing/2014/main" id="{95F656DC-D405-9728-CF8C-92863018A06A}"/>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0ECDAD23-2BD9-B3A5-341E-B944BF3422B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6" name="AutoShape 9">
              <a:extLst>
                <a:ext uri="{FF2B5EF4-FFF2-40B4-BE49-F238E27FC236}">
                  <a16:creationId xmlns:a16="http://schemas.microsoft.com/office/drawing/2014/main" id="{ED3DA966-4720-7EBE-84E6-12EF50321E2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4A3EEA2-9FB8-9E79-F207-3D0A4750D0F2}"/>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A2A1056B-6289-38AF-0F63-D232CF1742DF}"/>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79</a:t>
            </a:fld>
            <a:endParaRPr lang="en-US" dirty="0"/>
          </a:p>
        </p:txBody>
      </p:sp>
    </p:spTree>
    <p:extLst>
      <p:ext uri="{BB962C8B-B14F-4D97-AF65-F5344CB8AC3E}">
        <p14:creationId xmlns:p14="http://schemas.microsoft.com/office/powerpoint/2010/main" val="398588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Current State Mapping for Business: </a:t>
            </a:r>
            <a:br>
              <a:rPr lang="en-US" altLang="en-US" sz="3600" dirty="0"/>
            </a:br>
            <a:r>
              <a:rPr lang="en-US" altLang="en-US" sz="3600" dirty="0"/>
              <a:t>Team Walk #2</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Complete Current State Team Walk #2 for your business.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80</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Data Collection </a:t>
            </a:r>
            <a:br>
              <a:rPr lang="en-US" altLang="en-US" sz="1600" dirty="0">
                <a:solidFill>
                  <a:schemeClr val="bg1"/>
                </a:solidFill>
              </a:rPr>
            </a:br>
            <a:r>
              <a:rPr lang="en-US" altLang="en-US" sz="1600" dirty="0">
                <a:solidFill>
                  <a:schemeClr val="bg1"/>
                </a:solidFill>
              </a:rPr>
              <a:t>Complete</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endParaRPr lang="en-US" altLang="en-US" sz="1600" dirty="0">
              <a:solidFill>
                <a:schemeClr val="bg1"/>
              </a:solidFill>
            </a:endParaRP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As facilitated by the instructor, identify:</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(1) What data is needed</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(2) Where and how to get the data</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After, complete all of the data gathering and </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collection necessary to populate the </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Current State Map.  </a:t>
            </a:r>
          </a:p>
          <a:p>
            <a:pPr marL="0" indent="0">
              <a:spcBef>
                <a:spcPct val="20000"/>
              </a:spcBef>
              <a:spcAft>
                <a:spcPct val="20000"/>
              </a:spcAft>
              <a:buClrTx/>
              <a:buSzTx/>
              <a:buNone/>
            </a:pPr>
            <a:endPar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56477141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CDB661-D221-4DD6-66D0-9D69376CE7BD}"/>
              </a:ext>
            </a:extLst>
          </p:cNvPr>
          <p:cNvSpPr>
            <a:spLocks noGrp="1"/>
          </p:cNvSpPr>
          <p:nvPr>
            <p:ph type="title"/>
          </p:nvPr>
        </p:nvSpPr>
        <p:spPr/>
        <p:txBody>
          <a:bodyPr>
            <a:noAutofit/>
          </a:bodyPr>
          <a:lstStyle/>
          <a:p>
            <a:r>
              <a:rPr lang="en-US" sz="3200" dirty="0"/>
              <a:t>Method to Create the Current State Map: </a:t>
            </a:r>
            <a:br>
              <a:rPr lang="en-US" sz="3200" dirty="0"/>
            </a:br>
            <a:r>
              <a:rPr lang="en-US" sz="3200" dirty="0"/>
              <a:t>Team Walk #2</a:t>
            </a:r>
          </a:p>
        </p:txBody>
      </p:sp>
      <p:sp>
        <p:nvSpPr>
          <p:cNvPr id="15" name="Rectangle 2">
            <a:extLst>
              <a:ext uri="{FF2B5EF4-FFF2-40B4-BE49-F238E27FC236}">
                <a16:creationId xmlns:a16="http://schemas.microsoft.com/office/drawing/2014/main" id="{62D5DD48-F8BA-45BA-90AE-90C966EE3298}"/>
              </a:ext>
            </a:extLst>
          </p:cNvPr>
          <p:cNvSpPr>
            <a:spLocks noChangeArrowheads="1"/>
          </p:cNvSpPr>
          <p:nvPr/>
        </p:nvSpPr>
        <p:spPr bwMode="auto">
          <a:xfrm>
            <a:off x="1013333" y="2112963"/>
            <a:ext cx="2916238" cy="838200"/>
          </a:xfrm>
          <a:prstGeom prst="rect">
            <a:avLst/>
          </a:prstGeom>
          <a:solidFill>
            <a:srgbClr val="7F7F7F"/>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Team Walk #1:</a:t>
            </a:r>
          </a:p>
          <a:p>
            <a:pPr algn="ctr" eaLnBrk="1" hangingPunct="1">
              <a:lnSpc>
                <a:spcPct val="100000"/>
              </a:lnSpc>
              <a:spcBef>
                <a:spcPct val="0"/>
              </a:spcBef>
              <a:spcAft>
                <a:spcPct val="0"/>
              </a:spcAft>
              <a:buClrTx/>
              <a:buSzTx/>
              <a:buFontTx/>
              <a:buNone/>
            </a:pPr>
            <a:r>
              <a:rPr lang="en-US" altLang="en-US" sz="1600" dirty="0">
                <a:solidFill>
                  <a:schemeClr val="bg1"/>
                </a:solidFill>
              </a:rPr>
              <a:t>Process Identification</a:t>
            </a:r>
          </a:p>
        </p:txBody>
      </p:sp>
      <p:sp>
        <p:nvSpPr>
          <p:cNvPr id="16" name="Rectangle 3">
            <a:extLst>
              <a:ext uri="{FF2B5EF4-FFF2-40B4-BE49-F238E27FC236}">
                <a16:creationId xmlns:a16="http://schemas.microsoft.com/office/drawing/2014/main" id="{056510E5-3119-AD2A-B848-847CF24DD44B}"/>
              </a:ext>
            </a:extLst>
          </p:cNvPr>
          <p:cNvSpPr>
            <a:spLocks noChangeArrowheads="1"/>
          </p:cNvSpPr>
          <p:nvPr/>
        </p:nvSpPr>
        <p:spPr bwMode="auto">
          <a:xfrm>
            <a:off x="1013333" y="3541713"/>
            <a:ext cx="2916238" cy="841375"/>
          </a:xfrm>
          <a:prstGeom prst="rect">
            <a:avLst/>
          </a:prstGeom>
          <a:solidFill>
            <a:srgbClr val="FFB627"/>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rgbClr val="222222"/>
                </a:solidFill>
              </a:rPr>
              <a:t>Team Walk #2:</a:t>
            </a:r>
          </a:p>
          <a:p>
            <a:pPr algn="ctr" eaLnBrk="1" hangingPunct="1">
              <a:lnSpc>
                <a:spcPct val="100000"/>
              </a:lnSpc>
              <a:spcBef>
                <a:spcPct val="0"/>
              </a:spcBef>
              <a:spcAft>
                <a:spcPct val="0"/>
              </a:spcAft>
              <a:buClrTx/>
              <a:buSzTx/>
              <a:buFontTx/>
              <a:buNone/>
            </a:pPr>
            <a:r>
              <a:rPr lang="en-US" altLang="en-US" sz="1600" dirty="0">
                <a:solidFill>
                  <a:srgbClr val="222222"/>
                </a:solidFill>
              </a:rPr>
              <a:t>Data Gathering</a:t>
            </a:r>
          </a:p>
        </p:txBody>
      </p:sp>
      <p:sp>
        <p:nvSpPr>
          <p:cNvPr id="17" name="Rectangle 4">
            <a:extLst>
              <a:ext uri="{FF2B5EF4-FFF2-40B4-BE49-F238E27FC236}">
                <a16:creationId xmlns:a16="http://schemas.microsoft.com/office/drawing/2014/main" id="{9D38BCD3-3C4E-CDAD-6EF0-E21187975717}"/>
              </a:ext>
            </a:extLst>
          </p:cNvPr>
          <p:cNvSpPr>
            <a:spLocks noChangeArrowheads="1"/>
          </p:cNvSpPr>
          <p:nvPr/>
        </p:nvSpPr>
        <p:spPr bwMode="auto">
          <a:xfrm>
            <a:off x="1013333" y="5151438"/>
            <a:ext cx="2916238" cy="838200"/>
          </a:xfrm>
          <a:prstGeom prst="rect">
            <a:avLst/>
          </a:prstGeom>
          <a:solidFill>
            <a:srgbClr val="EE3228"/>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rPr>
              <a:t>Map Creation</a:t>
            </a:r>
          </a:p>
        </p:txBody>
      </p:sp>
      <p:cxnSp>
        <p:nvCxnSpPr>
          <p:cNvPr id="18" name="AutoShape 6">
            <a:extLst>
              <a:ext uri="{FF2B5EF4-FFF2-40B4-BE49-F238E27FC236}">
                <a16:creationId xmlns:a16="http://schemas.microsoft.com/office/drawing/2014/main" id="{B6487E52-6F1B-57D3-74ED-22BB854DD28F}"/>
              </a:ext>
            </a:extLst>
          </p:cNvPr>
          <p:cNvCxnSpPr>
            <a:cxnSpLocks noChangeShapeType="1"/>
            <a:stCxn id="15" idx="2"/>
            <a:endCxn id="16" idx="0"/>
          </p:cNvCxnSpPr>
          <p:nvPr/>
        </p:nvCxnSpPr>
        <p:spPr bwMode="auto">
          <a:xfrm>
            <a:off x="2471452" y="2951163"/>
            <a:ext cx="0" cy="5905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7">
            <a:extLst>
              <a:ext uri="{FF2B5EF4-FFF2-40B4-BE49-F238E27FC236}">
                <a16:creationId xmlns:a16="http://schemas.microsoft.com/office/drawing/2014/main" id="{5F264A94-9007-38F1-F621-16CB96E2ED39}"/>
              </a:ext>
            </a:extLst>
          </p:cNvPr>
          <p:cNvCxnSpPr>
            <a:cxnSpLocks noChangeShapeType="1"/>
            <a:stCxn id="16" idx="2"/>
            <a:endCxn id="17" idx="0"/>
          </p:cNvCxnSpPr>
          <p:nvPr/>
        </p:nvCxnSpPr>
        <p:spPr bwMode="auto">
          <a:xfrm>
            <a:off x="2472246" y="43830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3" name="Text Box 18">
            <a:extLst>
              <a:ext uri="{FF2B5EF4-FFF2-40B4-BE49-F238E27FC236}">
                <a16:creationId xmlns:a16="http://schemas.microsoft.com/office/drawing/2014/main" id="{0DDB5226-099F-2DA1-EF28-973B6B075730}"/>
              </a:ext>
            </a:extLst>
          </p:cNvPr>
          <p:cNvSpPr txBox="1">
            <a:spLocks noChangeArrowheads="1"/>
          </p:cNvSpPr>
          <p:nvPr/>
        </p:nvSpPr>
        <p:spPr bwMode="auto">
          <a:xfrm>
            <a:off x="5430552" y="1827213"/>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t>Key Characteristics</a:t>
            </a:r>
          </a:p>
        </p:txBody>
      </p:sp>
      <p:sp>
        <p:nvSpPr>
          <p:cNvPr id="24" name="AutoShape 36">
            <a:extLst>
              <a:ext uri="{FF2B5EF4-FFF2-40B4-BE49-F238E27FC236}">
                <a16:creationId xmlns:a16="http://schemas.microsoft.com/office/drawing/2014/main" id="{5D3E76DB-BDE7-7254-2193-80BFB1FB431B}"/>
              </a:ext>
            </a:extLst>
          </p:cNvPr>
          <p:cNvSpPr>
            <a:spLocks noChangeArrowheads="1"/>
          </p:cNvSpPr>
          <p:nvPr/>
        </p:nvSpPr>
        <p:spPr bwMode="auto">
          <a:xfrm>
            <a:off x="5389277" y="2047875"/>
            <a:ext cx="47593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Everyone initially should create their OWN map</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the entire process first to record process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Begin at end point and proceed in reverse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Draw map of process using pencil and paper</a:t>
            </a:r>
          </a:p>
        </p:txBody>
      </p:sp>
      <p:sp>
        <p:nvSpPr>
          <p:cNvPr id="28" name="Arrow">
            <a:extLst>
              <a:ext uri="{FF2B5EF4-FFF2-40B4-BE49-F238E27FC236}">
                <a16:creationId xmlns:a16="http://schemas.microsoft.com/office/drawing/2014/main" id="{2AB74B7E-D450-306C-1200-1FF7D51139AA}"/>
              </a:ext>
            </a:extLst>
          </p:cNvPr>
          <p:cNvSpPr/>
          <p:nvPr/>
        </p:nvSpPr>
        <p:spPr>
          <a:xfrm>
            <a:off x="4452280" y="2102443"/>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grpSp>
        <p:nvGrpSpPr>
          <p:cNvPr id="39" name="Group 38">
            <a:extLst>
              <a:ext uri="{FF2B5EF4-FFF2-40B4-BE49-F238E27FC236}">
                <a16:creationId xmlns:a16="http://schemas.microsoft.com/office/drawing/2014/main" id="{37D391A2-6533-9F3F-3BCD-69C040FF0916}"/>
              </a:ext>
            </a:extLst>
          </p:cNvPr>
          <p:cNvGrpSpPr/>
          <p:nvPr/>
        </p:nvGrpSpPr>
        <p:grpSpPr>
          <a:xfrm>
            <a:off x="940249" y="302538"/>
            <a:ext cx="6219503" cy="311932"/>
            <a:chOff x="940249" y="302538"/>
            <a:chExt cx="6219503" cy="311932"/>
          </a:xfrm>
        </p:grpSpPr>
        <p:sp>
          <p:nvSpPr>
            <p:cNvPr id="40" name="TextBox 39">
              <a:extLst>
                <a:ext uri="{FF2B5EF4-FFF2-40B4-BE49-F238E27FC236}">
                  <a16:creationId xmlns:a16="http://schemas.microsoft.com/office/drawing/2014/main" id="{5DA11DEC-FEF4-C840-7D3F-F258D579056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41" name="AutoShape 9">
              <a:extLst>
                <a:ext uri="{FF2B5EF4-FFF2-40B4-BE49-F238E27FC236}">
                  <a16:creationId xmlns:a16="http://schemas.microsoft.com/office/drawing/2014/main" id="{4B267D4A-7D3A-2CDA-9A40-499BE6DAFF82}"/>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2" name="AutoShape 9">
              <a:extLst>
                <a:ext uri="{FF2B5EF4-FFF2-40B4-BE49-F238E27FC236}">
                  <a16:creationId xmlns:a16="http://schemas.microsoft.com/office/drawing/2014/main" id="{CE453F25-2C9A-DE5D-CE56-00C47A7E92E1}"/>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3" name="AutoShape 9">
              <a:extLst>
                <a:ext uri="{FF2B5EF4-FFF2-40B4-BE49-F238E27FC236}">
                  <a16:creationId xmlns:a16="http://schemas.microsoft.com/office/drawing/2014/main" id="{92546692-FA99-7954-3B11-8DC202AA2EDD}"/>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4" name="AutoShape 9">
              <a:extLst>
                <a:ext uri="{FF2B5EF4-FFF2-40B4-BE49-F238E27FC236}">
                  <a16:creationId xmlns:a16="http://schemas.microsoft.com/office/drawing/2014/main" id="{425A0D82-EA35-D405-8F2C-477F823F5C96}"/>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45" name="AutoShape 11">
              <a:extLst>
                <a:ext uri="{FF2B5EF4-FFF2-40B4-BE49-F238E27FC236}">
                  <a16:creationId xmlns:a16="http://schemas.microsoft.com/office/drawing/2014/main" id="{E6695A41-60FD-6D29-FD76-98A69DCA9EC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6" name="Slide Number Placeholder 2">
            <a:extLst>
              <a:ext uri="{FF2B5EF4-FFF2-40B4-BE49-F238E27FC236}">
                <a16:creationId xmlns:a16="http://schemas.microsoft.com/office/drawing/2014/main" id="{D55D44A6-4B02-3229-98A1-05A865F528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81</a:t>
            </a:fld>
            <a:endParaRPr lang="en-US" dirty="0"/>
          </a:p>
        </p:txBody>
      </p:sp>
      <p:sp>
        <p:nvSpPr>
          <p:cNvPr id="3" name="AutoShape 36">
            <a:extLst>
              <a:ext uri="{FF2B5EF4-FFF2-40B4-BE49-F238E27FC236}">
                <a16:creationId xmlns:a16="http://schemas.microsoft.com/office/drawing/2014/main" id="{574F4BF0-4BBB-3FD9-2517-B9D73E244A81}"/>
              </a:ext>
            </a:extLst>
          </p:cNvPr>
          <p:cNvSpPr>
            <a:spLocks noChangeArrowheads="1"/>
          </p:cNvSpPr>
          <p:nvPr/>
        </p:nvSpPr>
        <p:spPr bwMode="auto">
          <a:xfrm>
            <a:off x="5389277" y="3429000"/>
            <a:ext cx="5351172"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Walk reverse flow again and collect data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and information flow</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smallest time units whenever possible –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be consistent</a:t>
            </a:r>
          </a:p>
          <a:p>
            <a:pPr>
              <a:lnSpc>
                <a:spcPct val="100000"/>
              </a:lnSpc>
              <a:spcBef>
                <a:spcPct val="0"/>
              </a:spcBef>
              <a:spcAft>
                <a:spcPct val="0"/>
              </a:spcAft>
              <a:buClr>
                <a:schemeClr val="tx1"/>
              </a:buClr>
              <a:buSzPct val="90000"/>
              <a:buFont typeface="Arial" panose="020B0604020202020204" pitchFamily="34" charset="0"/>
              <a:buChar char="•"/>
            </a:pPr>
            <a:endParaRPr lang="en-US" altLang="en-US" sz="1400" b="0" dirty="0">
              <a:latin typeface="Roboto" panose="02000000000000000000" pitchFamily="2" charset="0"/>
              <a:ea typeface="Roboto" panose="02000000000000000000" pitchFamily="2" charset="0"/>
              <a:cs typeface="Roboto" panose="02000000000000000000" pitchFamily="2" charset="0"/>
            </a:endParaRPr>
          </a:p>
        </p:txBody>
      </p:sp>
      <p:sp>
        <p:nvSpPr>
          <p:cNvPr id="4" name="Arrow">
            <a:extLst>
              <a:ext uri="{FF2B5EF4-FFF2-40B4-BE49-F238E27FC236}">
                <a16:creationId xmlns:a16="http://schemas.microsoft.com/office/drawing/2014/main" id="{DFBE433D-062C-0B2F-12F2-6FAC4275B002}"/>
              </a:ext>
            </a:extLst>
          </p:cNvPr>
          <p:cNvSpPr/>
          <p:nvPr/>
        </p:nvSpPr>
        <p:spPr>
          <a:xfrm>
            <a:off x="4452280" y="3706390"/>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
        <p:nvSpPr>
          <p:cNvPr id="5" name="AutoShape 36">
            <a:extLst>
              <a:ext uri="{FF2B5EF4-FFF2-40B4-BE49-F238E27FC236}">
                <a16:creationId xmlns:a16="http://schemas.microsoft.com/office/drawing/2014/main" id="{94003957-24F7-B286-164E-2F3925E99C23}"/>
              </a:ext>
            </a:extLst>
          </p:cNvPr>
          <p:cNvSpPr>
            <a:spLocks noChangeArrowheads="1"/>
          </p:cNvSpPr>
          <p:nvPr/>
        </p:nvSpPr>
        <p:spPr bwMode="auto">
          <a:xfrm>
            <a:off x="5389277" y="5002968"/>
            <a:ext cx="5351172"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wrap="none" anchor="ctr"/>
          <a:lstStyle>
            <a:lvl1pPr marL="115888" indent="-115888">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Consolidate individual maps into a single map by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consensus of the team </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Use post-it notes to facilitate any necessary changes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b="0" dirty="0">
                <a:latin typeface="Roboto" panose="02000000000000000000" pitchFamily="2" charset="0"/>
                <a:ea typeface="Roboto" panose="02000000000000000000" pitchFamily="2" charset="0"/>
                <a:cs typeface="Roboto" panose="02000000000000000000" pitchFamily="2" charset="0"/>
              </a:rPr>
              <a:t>Review map as a team to ensure accuracy and </a:t>
            </a:r>
            <a:br>
              <a:rPr lang="en-US" altLang="en-US" sz="1400" b="0" dirty="0">
                <a:latin typeface="Roboto" panose="02000000000000000000" pitchFamily="2" charset="0"/>
                <a:ea typeface="Roboto" panose="02000000000000000000" pitchFamily="2" charset="0"/>
                <a:cs typeface="Roboto" panose="02000000000000000000" pitchFamily="2" charset="0"/>
              </a:rPr>
            </a:br>
            <a:r>
              <a:rPr lang="en-US" altLang="en-US" sz="1400" b="0" dirty="0">
                <a:latin typeface="Roboto" panose="02000000000000000000" pitchFamily="2" charset="0"/>
                <a:ea typeface="Roboto" panose="02000000000000000000" pitchFamily="2" charset="0"/>
                <a:cs typeface="Roboto" panose="02000000000000000000" pitchFamily="2" charset="0"/>
              </a:rPr>
              <a:t>validate flow</a:t>
            </a:r>
          </a:p>
          <a:p>
            <a:pPr>
              <a:lnSpc>
                <a:spcPct val="100000"/>
              </a:lnSpc>
              <a:spcBef>
                <a:spcPct val="0"/>
              </a:spcBef>
              <a:spcAft>
                <a:spcPct val="0"/>
              </a:spcAft>
              <a:buClr>
                <a:schemeClr val="tx1"/>
              </a:buClr>
              <a:buSzPct val="90000"/>
              <a:buFont typeface="Arial" panose="020B0604020202020204" pitchFamily="34" charset="0"/>
              <a:buChar char="•"/>
            </a:pPr>
            <a:endParaRPr lang="en-US" altLang="en-US" sz="1400" b="0" dirty="0">
              <a:latin typeface="Roboto" panose="02000000000000000000" pitchFamily="2" charset="0"/>
              <a:ea typeface="Roboto" panose="02000000000000000000" pitchFamily="2" charset="0"/>
              <a:cs typeface="Roboto" panose="02000000000000000000" pitchFamily="2" charset="0"/>
            </a:endParaRPr>
          </a:p>
        </p:txBody>
      </p:sp>
      <p:sp>
        <p:nvSpPr>
          <p:cNvPr id="6" name="Arrow">
            <a:extLst>
              <a:ext uri="{FF2B5EF4-FFF2-40B4-BE49-F238E27FC236}">
                <a16:creationId xmlns:a16="http://schemas.microsoft.com/office/drawing/2014/main" id="{6CC80431-5B2C-99D5-927A-B663E0EACAC3}"/>
              </a:ext>
            </a:extLst>
          </p:cNvPr>
          <p:cNvSpPr/>
          <p:nvPr/>
        </p:nvSpPr>
        <p:spPr>
          <a:xfrm>
            <a:off x="4452280" y="5280358"/>
            <a:ext cx="599591" cy="446490"/>
          </a:xfrm>
          <a:prstGeom prst="rightArrow">
            <a:avLst>
              <a:gd name="adj1" fmla="val 54641"/>
              <a:gd name="adj2" fmla="val 68352"/>
            </a:avLst>
          </a:prstGeom>
          <a:solidFill>
            <a:srgbClr val="EE3228"/>
          </a:solidFill>
          <a:ln w="12700">
            <a:miter lim="400000"/>
          </a:ln>
        </p:spPr>
        <p:txBody>
          <a:bodyPr lIns="50800" tIns="50800" rIns="50800" bIns="50800" anchor="ctr"/>
          <a:lstStyle/>
          <a:p>
            <a:pPr defTabSz="584200">
              <a:defRPr sz="4000">
                <a:solidFill>
                  <a:srgbClr val="A9AFC3"/>
                </a:solidFill>
                <a:effectLst>
                  <a:outerShdw blurRad="38100" dist="12700" dir="5400000" rotWithShape="0">
                    <a:srgbClr val="000000">
                      <a:alpha val="50000"/>
                    </a:srgbClr>
                  </a:outerShdw>
                </a:effectLst>
              </a:defRPr>
            </a:pPr>
            <a:endParaRPr/>
          </a:p>
        </p:txBody>
      </p:sp>
    </p:spTree>
    <p:extLst>
      <p:ext uri="{BB962C8B-B14F-4D97-AF65-F5344CB8AC3E}">
        <p14:creationId xmlns:p14="http://schemas.microsoft.com/office/powerpoint/2010/main" val="107123419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Current State Mapping for Business: </a:t>
            </a:r>
            <a:br>
              <a:rPr lang="en-US" altLang="en-US" sz="3600" dirty="0"/>
            </a:br>
            <a:r>
              <a:rPr lang="en-US" altLang="en-US" sz="3600" dirty="0"/>
              <a:t>Team Walk #2</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Complete Current State Value Stream Map for your business.</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82</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dirty="0">
                <a:solidFill>
                  <a:schemeClr val="bg1"/>
                </a:solidFill>
              </a:rPr>
              <a:t>Completed Current State</a:t>
            </a:r>
            <a:br>
              <a:rPr lang="en-US" altLang="en-US" sz="1600" dirty="0">
                <a:solidFill>
                  <a:schemeClr val="bg1"/>
                </a:solidFill>
              </a:rPr>
            </a:br>
            <a:r>
              <a:rPr lang="en-US" altLang="en-US" sz="1600" dirty="0">
                <a:solidFill>
                  <a:schemeClr val="bg1"/>
                </a:solidFill>
              </a:rPr>
              <a:t>Map of the process.</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endParaRPr lang="en-US" altLang="en-US" sz="1600" dirty="0">
              <a:solidFill>
                <a:schemeClr val="bg1"/>
              </a:solidFill>
            </a:endParaRP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solidFill>
              <a:schemeClr val="tx1"/>
            </a:solid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Follow the guidelines on the previous pages to</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complete the current state Value Stream Map.</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When complete, revisit the customer’s expectations</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(identified earlier in exercise on </a:t>
            </a:r>
            <a:r>
              <a:rPr lang="en-US" altLang="en-US" sz="1600" b="0" dirty="0" err="1">
                <a:solidFill>
                  <a:schemeClr val="bg1"/>
                </a:solidFill>
                <a:latin typeface="Roboto" panose="02000000000000000000" pitchFamily="2" charset="0"/>
                <a:ea typeface="Roboto" panose="02000000000000000000" pitchFamily="2" charset="0"/>
                <a:cs typeface="Roboto" panose="02000000000000000000" pitchFamily="2" charset="0"/>
              </a:rPr>
              <a:t>pgs</a:t>
            </a: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 19-20) and </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answer: “How well are we currently aligned to</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our customer’s expectations?”</a:t>
            </a:r>
          </a:p>
          <a:p>
            <a:pPr marL="0" indent="0">
              <a:spcBef>
                <a:spcPct val="20000"/>
              </a:spcBef>
              <a:spcAft>
                <a:spcPct val="20000"/>
              </a:spcAft>
              <a:buClrTx/>
              <a:buSzTx/>
              <a:buNone/>
            </a:pPr>
            <a:endPar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400740963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fontScale="90000"/>
          </a:bodyPr>
          <a:lstStyle/>
          <a:p>
            <a:r>
              <a:rPr lang="en-US" sz="4000" dirty="0">
                <a:latin typeface="Roboto Medium"/>
                <a:ea typeface="Roboto Medium"/>
                <a:cs typeface="Roboto Medium"/>
              </a:rPr>
              <a:t>Interrogating the Current State</a:t>
            </a:r>
            <a:br>
              <a:rPr lang="en-US" sz="4000" dirty="0">
                <a:latin typeface="Roboto Medium"/>
                <a:ea typeface="Roboto Medium"/>
                <a:cs typeface="Roboto Medium"/>
              </a:rPr>
            </a:br>
            <a:r>
              <a:rPr lang="en-US" sz="4000" dirty="0">
                <a:latin typeface="Roboto Medium"/>
                <a:ea typeface="Roboto Medium"/>
                <a:cs typeface="Roboto Medium"/>
              </a:rPr>
              <a:t>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Identify steps to analyze or “interrogate” a Current State Map for improvement opportunities</a:t>
            </a:r>
          </a:p>
          <a:p>
            <a:r>
              <a:rPr lang="en-US" sz="2400" dirty="0"/>
              <a:t>Perform Current State Interrogation Exercise</a:t>
            </a:r>
          </a:p>
          <a:p>
            <a:r>
              <a:rPr lang="en-US" sz="2400" dirty="0"/>
              <a:t>Complete Current State Interrogation for Business Current State Map</a:t>
            </a:r>
          </a:p>
          <a:p>
            <a:r>
              <a:rPr lang="en-US" sz="2400" dirty="0"/>
              <a:t>Report-out Current State Map with identified improvements to Leadership</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Interrogate the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36179601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Exercise</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Apply lean thinking to the Current State Map to identify opportunities</a:t>
            </a:r>
            <a:br>
              <a:rPr lang="en-US" altLang="en-US" sz="1800" dirty="0">
                <a:solidFill>
                  <a:schemeClr val="bg1"/>
                </a:solidFill>
              </a:rPr>
            </a:br>
            <a:r>
              <a:rPr lang="en-US" altLang="en-US" sz="1800" dirty="0">
                <a:solidFill>
                  <a:schemeClr val="bg1"/>
                </a:solidFill>
              </a:rPr>
              <a:t>to remove waste from the Value Stream.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84</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600" b="0" dirty="0">
                <a:solidFill>
                  <a:schemeClr val="bg1"/>
                </a:solidFill>
              </a:rPr>
              <a:t>Review your map for </a:t>
            </a:r>
            <a:br>
              <a:rPr lang="en-US" altLang="en-US" sz="1600" b="0" dirty="0">
                <a:solidFill>
                  <a:schemeClr val="bg1"/>
                </a:solidFill>
              </a:rPr>
            </a:br>
            <a:r>
              <a:rPr lang="en-US" altLang="en-US" sz="1600" b="0" dirty="0">
                <a:solidFill>
                  <a:schemeClr val="bg1"/>
                </a:solidFill>
              </a:rPr>
              <a:t>completeness, proper </a:t>
            </a:r>
            <a:br>
              <a:rPr lang="en-US" altLang="en-US" sz="1600" b="0" dirty="0">
                <a:solidFill>
                  <a:schemeClr val="bg1"/>
                </a:solidFill>
              </a:rPr>
            </a:br>
            <a:r>
              <a:rPr lang="en-US" altLang="en-US" sz="1600" b="0" dirty="0">
                <a:solidFill>
                  <a:schemeClr val="bg1"/>
                </a:solidFill>
              </a:rPr>
              <a:t>form, use and </a:t>
            </a:r>
            <a:br>
              <a:rPr lang="en-US" altLang="en-US" sz="1600" b="0" dirty="0">
                <a:solidFill>
                  <a:schemeClr val="bg1"/>
                </a:solidFill>
              </a:rPr>
            </a:br>
            <a:r>
              <a:rPr lang="en-US" altLang="en-US" sz="1600" b="0" dirty="0">
                <a:solidFill>
                  <a:schemeClr val="bg1"/>
                </a:solidFill>
              </a:rPr>
              <a:t>placement of VSM Icons.  </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60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no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Use the NHC case study Current State Map on </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11x17”paper.</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Follow along as the instructor leads a step-by-step</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discussion of how to interrogate a Current </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a:p>
            <a:pPr marL="0" indent="0">
              <a:spcBef>
                <a:spcPct val="20000"/>
              </a:spcBef>
              <a:spcAft>
                <a:spcPct val="20000"/>
              </a:spcAft>
              <a:buClrTx/>
              <a:buSzTx/>
              <a:buNone/>
            </a:pP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When instructed, mark your NHC Current State Map</a:t>
            </a:r>
            <a:b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600" b="0" dirty="0">
                <a:solidFill>
                  <a:schemeClr val="bg1"/>
                </a:solidFill>
                <a:latin typeface="Roboto" panose="02000000000000000000" pitchFamily="2" charset="0"/>
                <a:ea typeface="Roboto" panose="02000000000000000000" pitchFamily="2" charset="0"/>
                <a:cs typeface="Roboto" panose="02000000000000000000" pitchFamily="2" charset="0"/>
              </a:rPr>
              <a:t>using red pen/marker. Don’t work ahead </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9263644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85</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256391303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86</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19541548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1428500" y="3088325"/>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695824" y="5530007"/>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76" name="Rectangle 181">
            <a:extLst>
              <a:ext uri="{FF2B5EF4-FFF2-40B4-BE49-F238E27FC236}">
                <a16:creationId xmlns:a16="http://schemas.microsoft.com/office/drawing/2014/main" id="{AC2B25D3-C212-6991-F1FC-2BCBA583A2FA}"/>
              </a:ext>
            </a:extLst>
          </p:cNvPr>
          <p:cNvSpPr>
            <a:spLocks noChangeArrowheads="1"/>
          </p:cNvSpPr>
          <p:nvPr/>
        </p:nvSpPr>
        <p:spPr bwMode="auto">
          <a:xfrm>
            <a:off x="2739756" y="1600367"/>
            <a:ext cx="5021263" cy="938231"/>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spcBef>
                <a:spcPct val="0"/>
              </a:spcBef>
              <a:buClrTx/>
              <a:buSzTx/>
              <a:buFontTx/>
              <a:buNone/>
            </a:pPr>
            <a:r>
              <a:rPr lang="en-US" altLang="en-US" sz="1400" dirty="0"/>
              <a:t>Review current output data to see if the process </a:t>
            </a:r>
            <a:br>
              <a:rPr lang="en-US" altLang="en-US" sz="1400" dirty="0"/>
            </a:br>
            <a:r>
              <a:rPr lang="en-US" altLang="en-US" sz="1400" dirty="0"/>
              <a:t>is producing at takt time</a:t>
            </a:r>
          </a:p>
          <a:p>
            <a:pPr algn="ctr">
              <a:spcBef>
                <a:spcPct val="0"/>
              </a:spcBef>
              <a:buClrTx/>
              <a:buSzTx/>
              <a:buFontTx/>
              <a:buNone/>
            </a:pPr>
            <a:r>
              <a:rPr lang="en-US" altLang="en-US" sz="1400" dirty="0"/>
              <a:t>Identify each process not achieving takt time</a:t>
            </a:r>
          </a:p>
        </p:txBody>
      </p:sp>
      <p:sp>
        <p:nvSpPr>
          <p:cNvPr id="82" name="Oval 182">
            <a:extLst>
              <a:ext uri="{FF2B5EF4-FFF2-40B4-BE49-F238E27FC236}">
                <a16:creationId xmlns:a16="http://schemas.microsoft.com/office/drawing/2014/main" id="{BAE10746-52E1-1D65-772F-5F4B7E30B6C6}"/>
              </a:ext>
            </a:extLst>
          </p:cNvPr>
          <p:cNvSpPr>
            <a:spLocks noChangeArrowheads="1"/>
          </p:cNvSpPr>
          <p:nvPr/>
        </p:nvSpPr>
        <p:spPr bwMode="auto">
          <a:xfrm>
            <a:off x="1530201" y="3011360"/>
            <a:ext cx="1711325" cy="811213"/>
          </a:xfrm>
          <a:prstGeom prst="ellipse">
            <a:avLst/>
          </a:prstGeom>
          <a:noFill/>
          <a:ln w="28575" cap="sq">
            <a:solidFill>
              <a:schemeClr val="accent6"/>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4" name="Line 184">
            <a:extLst>
              <a:ext uri="{FF2B5EF4-FFF2-40B4-BE49-F238E27FC236}">
                <a16:creationId xmlns:a16="http://schemas.microsoft.com/office/drawing/2014/main" id="{D2141795-87AC-2359-1B9D-493B48B897D1}"/>
              </a:ext>
            </a:extLst>
          </p:cNvPr>
          <p:cNvSpPr>
            <a:spLocks noChangeShapeType="1"/>
          </p:cNvSpPr>
          <p:nvPr/>
        </p:nvSpPr>
        <p:spPr bwMode="auto">
          <a:xfrm>
            <a:off x="2581126" y="3801935"/>
            <a:ext cx="4134194" cy="1287419"/>
          </a:xfrm>
          <a:prstGeom prst="line">
            <a:avLst/>
          </a:prstGeom>
          <a:noFill/>
          <a:ln w="28575" cap="sq">
            <a:solidFill>
              <a:schemeClr val="accent6"/>
            </a:solidFill>
            <a:round/>
            <a:headEnd type="none" w="sm" len="sm"/>
            <a:tailEnd type="arrow" w="sm" len="sm"/>
          </a:ln>
          <a:extLst>
            <a:ext uri="{909E8E84-426E-40DD-AFC4-6F175D3DCCD1}">
              <a14:hiddenFill xmlns:a14="http://schemas.microsoft.com/office/drawing/2010/main">
                <a:noFill/>
              </a14:hiddenFill>
            </a:ext>
          </a:extLst>
        </p:spPr>
        <p:txBody>
          <a:bodyPr wrap="none"/>
          <a:lstStyle/>
          <a:p>
            <a:endParaRPr lang="en-US"/>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6" name="Line 186">
            <a:extLst>
              <a:ext uri="{FF2B5EF4-FFF2-40B4-BE49-F238E27FC236}">
                <a16:creationId xmlns:a16="http://schemas.microsoft.com/office/drawing/2014/main" id="{1842A588-9793-7DFD-F0AB-D637B319719D}"/>
              </a:ext>
            </a:extLst>
          </p:cNvPr>
          <p:cNvSpPr>
            <a:spLocks noChangeShapeType="1"/>
          </p:cNvSpPr>
          <p:nvPr/>
        </p:nvSpPr>
        <p:spPr bwMode="auto">
          <a:xfrm>
            <a:off x="2570014" y="3820985"/>
            <a:ext cx="2367130" cy="1302543"/>
          </a:xfrm>
          <a:prstGeom prst="line">
            <a:avLst/>
          </a:prstGeom>
          <a:noFill/>
          <a:ln w="28575" cap="sq">
            <a:solidFill>
              <a:schemeClr val="accent6"/>
            </a:solidFill>
            <a:round/>
            <a:headEnd type="none" w="sm" len="sm"/>
            <a:tailEnd type="arrow" w="sm" len="sm"/>
          </a:ln>
          <a:extLst>
            <a:ext uri="{909E8E84-426E-40DD-AFC4-6F175D3DCCD1}">
              <a14:hiddenFill xmlns:a14="http://schemas.microsoft.com/office/drawing/2010/main">
                <a:noFill/>
              </a14:hiddenFill>
            </a:ext>
          </a:extLst>
        </p:spPr>
        <p:txBody>
          <a:bodyPr wrap="none"/>
          <a:lstStyle/>
          <a:p>
            <a:endParaRPr lang="en-US"/>
          </a:p>
        </p:txBody>
      </p:sp>
      <p:sp>
        <p:nvSpPr>
          <p:cNvPr id="79" name="Text Box 330">
            <a:extLst>
              <a:ext uri="{FF2B5EF4-FFF2-40B4-BE49-F238E27FC236}">
                <a16:creationId xmlns:a16="http://schemas.microsoft.com/office/drawing/2014/main" id="{70F12639-A3AC-0D63-3C27-46A2BA559E3F}"/>
              </a:ext>
            </a:extLst>
          </p:cNvPr>
          <p:cNvSpPr txBox="1">
            <a:spLocks noChangeArrowheads="1"/>
          </p:cNvSpPr>
          <p:nvPr/>
        </p:nvSpPr>
        <p:spPr bwMode="auto">
          <a:xfrm>
            <a:off x="2819715" y="5971085"/>
            <a:ext cx="2357492" cy="318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solidFill>
                  <a:schemeClr val="accent6"/>
                </a:solidFill>
                <a:latin typeface="Roboto" panose="02000000000000000000" pitchFamily="2" charset="0"/>
                <a:ea typeface="Roboto" panose="02000000000000000000" pitchFamily="2" charset="0"/>
              </a:rPr>
              <a:t>Process time &gt; than Takt Time</a:t>
            </a:r>
          </a:p>
          <a:p>
            <a:pPr algn="ctr">
              <a:lnSpc>
                <a:spcPct val="80000"/>
              </a:lnSpc>
              <a:spcAft>
                <a:spcPct val="0"/>
              </a:spcAft>
              <a:buClrTx/>
              <a:buSzTx/>
              <a:buFontTx/>
              <a:buNone/>
            </a:pPr>
            <a:r>
              <a:rPr lang="en-US" altLang="en-US" sz="700" dirty="0">
                <a:solidFill>
                  <a:schemeClr val="accent6"/>
                </a:solidFill>
                <a:latin typeface="Roboto" panose="02000000000000000000" pitchFamily="2" charset="0"/>
                <a:ea typeface="Roboto" panose="02000000000000000000" pitchFamily="2" charset="0"/>
              </a:rPr>
              <a:t>Implement Standard Work</a:t>
            </a:r>
          </a:p>
        </p:txBody>
      </p:sp>
      <p:sp>
        <p:nvSpPr>
          <p:cNvPr id="80" name="Line 331">
            <a:extLst>
              <a:ext uri="{FF2B5EF4-FFF2-40B4-BE49-F238E27FC236}">
                <a16:creationId xmlns:a16="http://schemas.microsoft.com/office/drawing/2014/main" id="{4A662C0A-4D47-F1DE-6CA6-B21AB2F145A0}"/>
              </a:ext>
            </a:extLst>
          </p:cNvPr>
          <p:cNvSpPr>
            <a:spLocks noChangeShapeType="1"/>
          </p:cNvSpPr>
          <p:nvPr/>
        </p:nvSpPr>
        <p:spPr bwMode="auto">
          <a:xfrm flipV="1">
            <a:off x="4831012" y="5790538"/>
            <a:ext cx="336550" cy="40640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1" name="Line 332">
            <a:extLst>
              <a:ext uri="{FF2B5EF4-FFF2-40B4-BE49-F238E27FC236}">
                <a16:creationId xmlns:a16="http://schemas.microsoft.com/office/drawing/2014/main" id="{82A6DE59-8E3A-86E9-7FE2-B4C85F91F165}"/>
              </a:ext>
            </a:extLst>
          </p:cNvPr>
          <p:cNvSpPr>
            <a:spLocks noChangeShapeType="1"/>
          </p:cNvSpPr>
          <p:nvPr/>
        </p:nvSpPr>
        <p:spPr bwMode="auto">
          <a:xfrm flipV="1">
            <a:off x="4831012" y="5658703"/>
            <a:ext cx="1914964" cy="538235"/>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grpSp>
        <p:nvGrpSpPr>
          <p:cNvPr id="105" name="Group 104">
            <a:extLst>
              <a:ext uri="{FF2B5EF4-FFF2-40B4-BE49-F238E27FC236}">
                <a16:creationId xmlns:a16="http://schemas.microsoft.com/office/drawing/2014/main" id="{B360634B-8682-C30C-457D-1AE81EC63E01}"/>
              </a:ext>
            </a:extLst>
          </p:cNvPr>
          <p:cNvGrpSpPr/>
          <p:nvPr/>
        </p:nvGrpSpPr>
        <p:grpSpPr>
          <a:xfrm>
            <a:off x="940249" y="302538"/>
            <a:ext cx="6219503" cy="311932"/>
            <a:chOff x="940249" y="302538"/>
            <a:chExt cx="6219503" cy="311932"/>
          </a:xfrm>
        </p:grpSpPr>
        <p:sp>
          <p:nvSpPr>
            <p:cNvPr id="106" name="TextBox 105">
              <a:extLst>
                <a:ext uri="{FF2B5EF4-FFF2-40B4-BE49-F238E27FC236}">
                  <a16:creationId xmlns:a16="http://schemas.microsoft.com/office/drawing/2014/main" id="{0AE5A022-FB70-D3CE-D8FA-5302C4E9171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07" name="AutoShape 9">
              <a:extLst>
                <a:ext uri="{FF2B5EF4-FFF2-40B4-BE49-F238E27FC236}">
                  <a16:creationId xmlns:a16="http://schemas.microsoft.com/office/drawing/2014/main" id="{40797104-6AEB-CFD2-CDB6-853DD5FDFBD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8" name="AutoShape 9">
              <a:extLst>
                <a:ext uri="{FF2B5EF4-FFF2-40B4-BE49-F238E27FC236}">
                  <a16:creationId xmlns:a16="http://schemas.microsoft.com/office/drawing/2014/main" id="{482EA149-742B-A05A-9632-4D676BDE184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9" name="AutoShape 9">
              <a:extLst>
                <a:ext uri="{FF2B5EF4-FFF2-40B4-BE49-F238E27FC236}">
                  <a16:creationId xmlns:a16="http://schemas.microsoft.com/office/drawing/2014/main" id="{798310CD-58FA-20EE-6425-C2B49BEF980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0" name="AutoShape 9">
              <a:extLst>
                <a:ext uri="{FF2B5EF4-FFF2-40B4-BE49-F238E27FC236}">
                  <a16:creationId xmlns:a16="http://schemas.microsoft.com/office/drawing/2014/main" id="{871C8694-711B-EEFC-2875-8C06AB8D77A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1" name="AutoShape 11">
              <a:extLst>
                <a:ext uri="{FF2B5EF4-FFF2-40B4-BE49-F238E27FC236}">
                  <a16:creationId xmlns:a16="http://schemas.microsoft.com/office/drawing/2014/main" id="{6D5E3087-6EBB-6E7C-6A04-F3E9A96D268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Slide Number Placeholder 2">
            <a:extLst>
              <a:ext uri="{FF2B5EF4-FFF2-40B4-BE49-F238E27FC236}">
                <a16:creationId xmlns:a16="http://schemas.microsoft.com/office/drawing/2014/main" id="{480971C9-5352-CD20-93C1-1599FFCB514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87</a:t>
            </a:fld>
            <a:endParaRPr lang="en-US" dirty="0"/>
          </a:p>
        </p:txBody>
      </p:sp>
    </p:spTree>
    <p:extLst>
      <p:ext uri="{BB962C8B-B14F-4D97-AF65-F5344CB8AC3E}">
        <p14:creationId xmlns:p14="http://schemas.microsoft.com/office/powerpoint/2010/main" val="3094310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7"/>
                                        </p:tgtEl>
                                        <p:attrNameLst>
                                          <p:attrName>style.visibility</p:attrName>
                                        </p:attrNameLst>
                                      </p:cBhvr>
                                      <p:to>
                                        <p:strVal val="visible"/>
                                      </p:to>
                                    </p:set>
                                    <p:animEffect transition="in" filter="wipe(left)">
                                      <p:cBhvr>
                                        <p:cTn id="17" dur="500"/>
                                        <p:tgtEl>
                                          <p:spTgt spid="127"/>
                                        </p:tgtEl>
                                      </p:cBhvr>
                                    </p:animEffect>
                                  </p:childTnLst>
                                </p:cTn>
                              </p:par>
                              <p:par>
                                <p:cTn id="18" presetID="22" presetClass="entr" presetSubtype="8"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Effect transition="in" filter="wipe(left)">
                                      <p:cBhvr>
                                        <p:cTn id="20" dur="500"/>
                                        <p:tgtEl>
                                          <p:spTgt spid="186"/>
                                        </p:tgtEl>
                                      </p:cBhvr>
                                    </p:animEffect>
                                  </p:childTnLst>
                                </p:cTn>
                              </p:par>
                              <p:par>
                                <p:cTn id="21" presetID="22" presetClass="entr" presetSubtype="8" fill="hold" nodeType="withEffect">
                                  <p:stCondLst>
                                    <p:cond delay="0"/>
                                  </p:stCondLst>
                                  <p:childTnLst>
                                    <p:set>
                                      <p:cBhvr>
                                        <p:cTn id="22" dur="1" fill="hold">
                                          <p:stCondLst>
                                            <p:cond delay="0"/>
                                          </p:stCondLst>
                                        </p:cTn>
                                        <p:tgtEl>
                                          <p:spTgt spid="123"/>
                                        </p:tgtEl>
                                        <p:attrNameLst>
                                          <p:attrName>style.visibility</p:attrName>
                                        </p:attrNameLst>
                                      </p:cBhvr>
                                      <p:to>
                                        <p:strVal val="visible"/>
                                      </p:to>
                                    </p:set>
                                    <p:animEffect transition="in" filter="wipe(left)">
                                      <p:cBhvr>
                                        <p:cTn id="23"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2276760" y="24824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4" name="Slide Number Placeholder 2">
            <a:extLst>
              <a:ext uri="{FF2B5EF4-FFF2-40B4-BE49-F238E27FC236}">
                <a16:creationId xmlns:a16="http://schemas.microsoft.com/office/drawing/2014/main" id="{90544A4C-1640-DBE0-3078-605E66C5325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88</a:t>
            </a:fld>
            <a:endParaRPr lang="en-US" dirty="0"/>
          </a:p>
        </p:txBody>
      </p:sp>
    </p:spTree>
    <p:extLst>
      <p:ext uri="{BB962C8B-B14F-4D97-AF65-F5344CB8AC3E}">
        <p14:creationId xmlns:p14="http://schemas.microsoft.com/office/powerpoint/2010/main" val="2319433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89</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76679018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t>
              </a:r>
              <a:br>
                <a:rPr lang="en-US" altLang="en-US" sz="600" b="0" dirty="0">
                  <a:latin typeface="Roboto" panose="02000000000000000000" pitchFamily="2" charset="0"/>
                  <a:ea typeface="Roboto" panose="02000000000000000000" pitchFamily="2" charset="0"/>
                  <a:cs typeface="Roboto" panose="02000000000000000000" pitchFamily="2" charset="0"/>
                </a:rPr>
              </a:br>
              <a:r>
                <a:rPr lang="en-US" altLang="en-US" sz="600" b="0" dirty="0">
                  <a:latin typeface="Roboto" panose="02000000000000000000" pitchFamily="2" charset="0"/>
                  <a:ea typeface="Roboto" panose="02000000000000000000" pitchFamily="2" charset="0"/>
                  <a:cs typeface="Roboto" panose="02000000000000000000" pitchFamily="2" charset="0"/>
                </a:rPr>
                <a:t>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695824" y="5530007"/>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76" name="Rectangle 181">
            <a:extLst>
              <a:ext uri="{FF2B5EF4-FFF2-40B4-BE49-F238E27FC236}">
                <a16:creationId xmlns:a16="http://schemas.microsoft.com/office/drawing/2014/main" id="{AC2B25D3-C212-6991-F1FC-2BCBA583A2FA}"/>
              </a:ext>
            </a:extLst>
          </p:cNvPr>
          <p:cNvSpPr>
            <a:spLocks noChangeArrowheads="1"/>
          </p:cNvSpPr>
          <p:nvPr/>
        </p:nvSpPr>
        <p:spPr bwMode="auto">
          <a:xfrm>
            <a:off x="2739756" y="1600367"/>
            <a:ext cx="5482349" cy="1458061"/>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buClrTx/>
              <a:buSzTx/>
              <a:buFontTx/>
              <a:buNone/>
            </a:pPr>
            <a:r>
              <a:rPr lang="en-US" altLang="en-US" sz="1200" dirty="0"/>
              <a:t>Assess the processes for opportunities to implement continuous flow</a:t>
            </a:r>
          </a:p>
          <a:p>
            <a:pPr>
              <a:lnSpc>
                <a:spcPct val="100000"/>
              </a:lnSpc>
              <a:spcBef>
                <a:spcPct val="0"/>
              </a:spcBef>
              <a:buClrTx/>
              <a:buSzTx/>
              <a:buFontTx/>
              <a:buNone/>
            </a:pPr>
            <a:r>
              <a:rPr lang="en-US" altLang="en-US" sz="1200" dirty="0"/>
              <a:t>Data Entry and Underwrite have similar processing times </a:t>
            </a:r>
            <a:br>
              <a:rPr lang="en-US" altLang="en-US" sz="1200" dirty="0"/>
            </a:br>
            <a:r>
              <a:rPr lang="en-US" altLang="en-US" sz="1200" dirty="0"/>
              <a:t>and each has a multiple operators</a:t>
            </a:r>
          </a:p>
          <a:p>
            <a:pPr>
              <a:lnSpc>
                <a:spcPct val="100000"/>
              </a:lnSpc>
              <a:spcBef>
                <a:spcPct val="0"/>
              </a:spcBef>
              <a:buClrTx/>
              <a:buSzTx/>
              <a:buFontTx/>
              <a:buNone/>
            </a:pPr>
            <a:r>
              <a:rPr lang="en-US" altLang="en-US" sz="1200" dirty="0"/>
              <a:t>Combining them eliminates the inventory between them</a:t>
            </a:r>
          </a:p>
        </p:txBody>
      </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grpSp>
        <p:nvGrpSpPr>
          <p:cNvPr id="105" name="Group 104">
            <a:extLst>
              <a:ext uri="{FF2B5EF4-FFF2-40B4-BE49-F238E27FC236}">
                <a16:creationId xmlns:a16="http://schemas.microsoft.com/office/drawing/2014/main" id="{B360634B-8682-C30C-457D-1AE81EC63E01}"/>
              </a:ext>
            </a:extLst>
          </p:cNvPr>
          <p:cNvGrpSpPr/>
          <p:nvPr/>
        </p:nvGrpSpPr>
        <p:grpSpPr>
          <a:xfrm>
            <a:off x="940249" y="302538"/>
            <a:ext cx="6219503" cy="311932"/>
            <a:chOff x="940249" y="302538"/>
            <a:chExt cx="6219503" cy="311932"/>
          </a:xfrm>
        </p:grpSpPr>
        <p:sp>
          <p:nvSpPr>
            <p:cNvPr id="106" name="TextBox 105">
              <a:extLst>
                <a:ext uri="{FF2B5EF4-FFF2-40B4-BE49-F238E27FC236}">
                  <a16:creationId xmlns:a16="http://schemas.microsoft.com/office/drawing/2014/main" id="{0AE5A022-FB70-D3CE-D8FA-5302C4E9171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07" name="AutoShape 9">
              <a:extLst>
                <a:ext uri="{FF2B5EF4-FFF2-40B4-BE49-F238E27FC236}">
                  <a16:creationId xmlns:a16="http://schemas.microsoft.com/office/drawing/2014/main" id="{40797104-6AEB-CFD2-CDB6-853DD5FDFBD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8" name="AutoShape 9">
              <a:extLst>
                <a:ext uri="{FF2B5EF4-FFF2-40B4-BE49-F238E27FC236}">
                  <a16:creationId xmlns:a16="http://schemas.microsoft.com/office/drawing/2014/main" id="{482EA149-742B-A05A-9632-4D676BDE184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9" name="AutoShape 9">
              <a:extLst>
                <a:ext uri="{FF2B5EF4-FFF2-40B4-BE49-F238E27FC236}">
                  <a16:creationId xmlns:a16="http://schemas.microsoft.com/office/drawing/2014/main" id="{798310CD-58FA-20EE-6425-C2B49BEF980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0" name="AutoShape 9">
              <a:extLst>
                <a:ext uri="{FF2B5EF4-FFF2-40B4-BE49-F238E27FC236}">
                  <a16:creationId xmlns:a16="http://schemas.microsoft.com/office/drawing/2014/main" id="{871C8694-711B-EEFC-2875-8C06AB8D77A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1" name="AutoShape 11">
              <a:extLst>
                <a:ext uri="{FF2B5EF4-FFF2-40B4-BE49-F238E27FC236}">
                  <a16:creationId xmlns:a16="http://schemas.microsoft.com/office/drawing/2014/main" id="{6D5E3087-6EBB-6E7C-6A04-F3E9A96D268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235">
            <a:extLst>
              <a:ext uri="{FF2B5EF4-FFF2-40B4-BE49-F238E27FC236}">
                <a16:creationId xmlns:a16="http://schemas.microsoft.com/office/drawing/2014/main" id="{F1CB8CB1-57BD-6827-4A42-70F13B002A5C}"/>
              </a:ext>
            </a:extLst>
          </p:cNvPr>
          <p:cNvGrpSpPr>
            <a:grpSpLocks/>
          </p:cNvGrpSpPr>
          <p:nvPr/>
        </p:nvGrpSpPr>
        <p:grpSpPr bwMode="auto">
          <a:xfrm>
            <a:off x="2349477" y="4341500"/>
            <a:ext cx="3300413" cy="1963738"/>
            <a:chOff x="1102" y="2719"/>
            <a:chExt cx="2079" cy="1237"/>
          </a:xfrm>
        </p:grpSpPr>
        <p:grpSp>
          <p:nvGrpSpPr>
            <p:cNvPr id="12" name="Group 236">
              <a:extLst>
                <a:ext uri="{FF2B5EF4-FFF2-40B4-BE49-F238E27FC236}">
                  <a16:creationId xmlns:a16="http://schemas.microsoft.com/office/drawing/2014/main" id="{CF8FC307-3498-5D38-25ED-8CD3946A8D43}"/>
                </a:ext>
              </a:extLst>
            </p:cNvPr>
            <p:cNvGrpSpPr>
              <a:grpSpLocks/>
            </p:cNvGrpSpPr>
            <p:nvPr/>
          </p:nvGrpSpPr>
          <p:grpSpPr bwMode="auto">
            <a:xfrm>
              <a:off x="1569" y="2719"/>
              <a:ext cx="1612" cy="902"/>
              <a:chOff x="1569" y="2719"/>
              <a:chExt cx="1612" cy="902"/>
            </a:xfrm>
          </p:grpSpPr>
          <p:sp>
            <p:nvSpPr>
              <p:cNvPr id="14" name="Rectangle 237">
                <a:extLst>
                  <a:ext uri="{FF2B5EF4-FFF2-40B4-BE49-F238E27FC236}">
                    <a16:creationId xmlns:a16="http://schemas.microsoft.com/office/drawing/2014/main" id="{D36326E9-D1AF-4E04-CA17-894C215B5BED}"/>
                  </a:ext>
                </a:extLst>
              </p:cNvPr>
              <p:cNvSpPr>
                <a:spLocks noChangeArrowheads="1"/>
              </p:cNvSpPr>
              <p:nvPr/>
            </p:nvSpPr>
            <p:spPr bwMode="auto">
              <a:xfrm>
                <a:off x="1722" y="2719"/>
                <a:ext cx="1459" cy="795"/>
              </a:xfrm>
              <a:prstGeom prst="rect">
                <a:avLst/>
              </a:prstGeom>
              <a:noFill/>
              <a:ln w="28575">
                <a:solidFill>
                  <a:schemeClr val="accent6"/>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5" name="AutoShape 238">
                <a:extLst>
                  <a:ext uri="{FF2B5EF4-FFF2-40B4-BE49-F238E27FC236}">
                    <a16:creationId xmlns:a16="http://schemas.microsoft.com/office/drawing/2014/main" id="{D41F235F-45A2-0903-26AC-BB130D7A6134}"/>
                  </a:ext>
                </a:extLst>
              </p:cNvPr>
              <p:cNvSpPr>
                <a:spLocks noChangeArrowheads="1"/>
              </p:cNvSpPr>
              <p:nvPr/>
            </p:nvSpPr>
            <p:spPr bwMode="auto">
              <a:xfrm>
                <a:off x="1569" y="3285"/>
                <a:ext cx="370" cy="336"/>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6" name="Group 239">
                <a:extLst>
                  <a:ext uri="{FF2B5EF4-FFF2-40B4-BE49-F238E27FC236}">
                    <a16:creationId xmlns:a16="http://schemas.microsoft.com/office/drawing/2014/main" id="{A6F4C89D-3BCA-2E27-62D1-BF623078EDCF}"/>
                  </a:ext>
                </a:extLst>
              </p:cNvPr>
              <p:cNvGrpSpPr>
                <a:grpSpLocks/>
              </p:cNvGrpSpPr>
              <p:nvPr/>
            </p:nvGrpSpPr>
            <p:grpSpPr bwMode="auto">
              <a:xfrm>
                <a:off x="2364" y="2903"/>
                <a:ext cx="215" cy="240"/>
                <a:chOff x="4918" y="3424"/>
                <a:chExt cx="240" cy="240"/>
              </a:xfrm>
            </p:grpSpPr>
            <p:sp>
              <p:nvSpPr>
                <p:cNvPr id="17" name="Oval 240">
                  <a:extLst>
                    <a:ext uri="{FF2B5EF4-FFF2-40B4-BE49-F238E27FC236}">
                      <a16:creationId xmlns:a16="http://schemas.microsoft.com/office/drawing/2014/main" id="{382AF13D-7A1F-35BE-13EA-DB3CBB7EDFC4}"/>
                    </a:ext>
                  </a:extLst>
                </p:cNvPr>
                <p:cNvSpPr>
                  <a:spLocks noChangeArrowheads="1"/>
                </p:cNvSpPr>
                <p:nvPr/>
              </p:nvSpPr>
              <p:spPr bwMode="auto">
                <a:xfrm>
                  <a:off x="4918" y="3424"/>
                  <a:ext cx="240" cy="240"/>
                </a:xfrm>
                <a:prstGeom prst="ellipse">
                  <a:avLst/>
                </a:prstGeom>
                <a:noFill/>
                <a:ln w="3810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 name="Line 241">
                  <a:extLst>
                    <a:ext uri="{FF2B5EF4-FFF2-40B4-BE49-F238E27FC236}">
                      <a16:creationId xmlns:a16="http://schemas.microsoft.com/office/drawing/2014/main" id="{DDBD5977-E2B1-0AEC-28C1-76780987B645}"/>
                    </a:ext>
                  </a:extLst>
                </p:cNvPr>
                <p:cNvSpPr>
                  <a:spLocks noChangeShapeType="1"/>
                </p:cNvSpPr>
                <p:nvPr/>
              </p:nvSpPr>
              <p:spPr bwMode="auto">
                <a:xfrm flipH="1">
                  <a:off x="4964" y="3442"/>
                  <a:ext cx="144" cy="192"/>
                </a:xfrm>
                <a:prstGeom prst="line">
                  <a:avLst/>
                </a:prstGeom>
                <a:noFill/>
                <a:ln w="3810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3" name="Text Box 242">
              <a:extLst>
                <a:ext uri="{FF2B5EF4-FFF2-40B4-BE49-F238E27FC236}">
                  <a16:creationId xmlns:a16="http://schemas.microsoft.com/office/drawing/2014/main" id="{A0FDE461-C663-F543-1A33-1D48D72FE5D1}"/>
                </a:ext>
              </a:extLst>
            </p:cNvPr>
            <p:cNvSpPr txBox="1">
              <a:spLocks noChangeArrowheads="1"/>
            </p:cNvSpPr>
            <p:nvPr/>
          </p:nvSpPr>
          <p:spPr bwMode="auto">
            <a:xfrm>
              <a:off x="1102" y="3735"/>
              <a:ext cx="1037" cy="221"/>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Implement Flow</a:t>
              </a:r>
            </a:p>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Establish Cell</a:t>
              </a:r>
            </a:p>
          </p:txBody>
        </p:sp>
      </p:grpSp>
      <p:sp>
        <p:nvSpPr>
          <p:cNvPr id="3" name="Slide Number Placeholder 2">
            <a:extLst>
              <a:ext uri="{FF2B5EF4-FFF2-40B4-BE49-F238E27FC236}">
                <a16:creationId xmlns:a16="http://schemas.microsoft.com/office/drawing/2014/main" id="{7C86A284-FAFE-9906-4266-32AC1F5491FF}"/>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90</a:t>
            </a:fld>
            <a:endParaRPr lang="en-US" dirty="0"/>
          </a:p>
        </p:txBody>
      </p:sp>
      <p:sp>
        <p:nvSpPr>
          <p:cNvPr id="11" name="Text Box 173">
            <a:extLst>
              <a:ext uri="{FF2B5EF4-FFF2-40B4-BE49-F238E27FC236}">
                <a16:creationId xmlns:a16="http://schemas.microsoft.com/office/drawing/2014/main" id="{6019F1D2-C4E9-B079-87AF-15F0073E2874}"/>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9" name="Text Box 173">
            <a:extLst>
              <a:ext uri="{FF2B5EF4-FFF2-40B4-BE49-F238E27FC236}">
                <a16:creationId xmlns:a16="http://schemas.microsoft.com/office/drawing/2014/main" id="{44CB887B-388E-5FAC-74D2-5227746172E2}"/>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Tree>
    <p:extLst>
      <p:ext uri="{BB962C8B-B14F-4D97-AF65-F5344CB8AC3E}">
        <p14:creationId xmlns:p14="http://schemas.microsoft.com/office/powerpoint/2010/main" val="861892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2276760" y="24824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540979" y="5634380"/>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sp>
        <p:nvSpPr>
          <p:cNvPr id="4" name="Slide Number Placeholder 2">
            <a:extLst>
              <a:ext uri="{FF2B5EF4-FFF2-40B4-BE49-F238E27FC236}">
                <a16:creationId xmlns:a16="http://schemas.microsoft.com/office/drawing/2014/main" id="{7EFF30C1-7EB4-083B-01B5-03ECB102864A}"/>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91</a:t>
            </a:fld>
            <a:endParaRPr lang="en-US" dirty="0"/>
          </a:p>
        </p:txBody>
      </p:sp>
    </p:spTree>
    <p:extLst>
      <p:ext uri="{BB962C8B-B14F-4D97-AF65-F5344CB8AC3E}">
        <p14:creationId xmlns:p14="http://schemas.microsoft.com/office/powerpoint/2010/main" val="3108540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92</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140899745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Queue Management</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93</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pic>
        <p:nvPicPr>
          <p:cNvPr id="13" name="Picture 37">
            <a:extLst>
              <a:ext uri="{FF2B5EF4-FFF2-40B4-BE49-F238E27FC236}">
                <a16:creationId xmlns:a16="http://schemas.microsoft.com/office/drawing/2014/main" id="{8E65FCFE-A8FE-9A8C-874D-5EE7385304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0249" y="2018415"/>
            <a:ext cx="3724275" cy="279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 name="Group 43">
            <a:extLst>
              <a:ext uri="{FF2B5EF4-FFF2-40B4-BE49-F238E27FC236}">
                <a16:creationId xmlns:a16="http://schemas.microsoft.com/office/drawing/2014/main" id="{E4ED8921-6F1F-B85A-5DAD-976680CF8284}"/>
              </a:ext>
            </a:extLst>
          </p:cNvPr>
          <p:cNvGrpSpPr>
            <a:grpSpLocks/>
          </p:cNvGrpSpPr>
          <p:nvPr/>
        </p:nvGrpSpPr>
        <p:grpSpPr bwMode="auto">
          <a:xfrm>
            <a:off x="2288036" y="4212340"/>
            <a:ext cx="2830513" cy="1684338"/>
            <a:chOff x="1006" y="2761"/>
            <a:chExt cx="1783" cy="1061"/>
          </a:xfrm>
        </p:grpSpPr>
        <p:sp>
          <p:nvSpPr>
            <p:cNvPr id="15" name="Rectangle 41">
              <a:extLst>
                <a:ext uri="{FF2B5EF4-FFF2-40B4-BE49-F238E27FC236}">
                  <a16:creationId xmlns:a16="http://schemas.microsoft.com/office/drawing/2014/main" id="{74739B53-CBAD-8886-663C-9F7863C30461}"/>
                </a:ext>
              </a:extLst>
            </p:cNvPr>
            <p:cNvSpPr>
              <a:spLocks noChangeArrowheads="1"/>
            </p:cNvSpPr>
            <p:nvPr/>
          </p:nvSpPr>
          <p:spPr bwMode="auto">
            <a:xfrm>
              <a:off x="1006" y="2761"/>
              <a:ext cx="1783" cy="1061"/>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solidFill>
                    <a:schemeClr val="bg1"/>
                  </a:solidFill>
                </a:rPr>
                <a:t>   VMQ Icon</a:t>
              </a:r>
            </a:p>
          </p:txBody>
        </p:sp>
        <p:grpSp>
          <p:nvGrpSpPr>
            <p:cNvPr id="16" name="Group 11">
              <a:extLst>
                <a:ext uri="{FF2B5EF4-FFF2-40B4-BE49-F238E27FC236}">
                  <a16:creationId xmlns:a16="http://schemas.microsoft.com/office/drawing/2014/main" id="{6371993C-0B69-0984-96EE-DC906C78EDA7}"/>
                </a:ext>
              </a:extLst>
            </p:cNvPr>
            <p:cNvGrpSpPr>
              <a:grpSpLocks/>
            </p:cNvGrpSpPr>
            <p:nvPr/>
          </p:nvGrpSpPr>
          <p:grpSpPr bwMode="auto">
            <a:xfrm>
              <a:off x="2087" y="2812"/>
              <a:ext cx="376" cy="936"/>
              <a:chOff x="4984" y="1212"/>
              <a:chExt cx="376" cy="936"/>
            </a:xfrm>
          </p:grpSpPr>
          <p:sp>
            <p:nvSpPr>
              <p:cNvPr id="17" name="AutoShape 12">
                <a:extLst>
                  <a:ext uri="{FF2B5EF4-FFF2-40B4-BE49-F238E27FC236}">
                    <a16:creationId xmlns:a16="http://schemas.microsoft.com/office/drawing/2014/main" id="{E9BCFB57-0673-0E40-1843-5E4738D3BCAB}"/>
                  </a:ext>
                </a:extLst>
              </p:cNvPr>
              <p:cNvSpPr>
                <a:spLocks/>
              </p:cNvSpPr>
              <p:nvPr/>
            </p:nvSpPr>
            <p:spPr bwMode="auto">
              <a:xfrm rot="-5400000">
                <a:off x="5157" y="1039"/>
                <a:ext cx="29" cy="376"/>
              </a:xfrm>
              <a:prstGeom prst="leftBracket">
                <a:avLst>
                  <a:gd name="adj" fmla="val 108046"/>
                </a:avLst>
              </a:prstGeom>
              <a:solidFill>
                <a:schemeClr val="bg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 name="AutoShape 13">
                <a:extLst>
                  <a:ext uri="{FF2B5EF4-FFF2-40B4-BE49-F238E27FC236}">
                    <a16:creationId xmlns:a16="http://schemas.microsoft.com/office/drawing/2014/main" id="{C27DE376-3C5A-1022-F9BA-0CFB35A2E837}"/>
                  </a:ext>
                </a:extLst>
              </p:cNvPr>
              <p:cNvSpPr>
                <a:spLocks/>
              </p:cNvSpPr>
              <p:nvPr/>
            </p:nvSpPr>
            <p:spPr bwMode="auto">
              <a:xfrm rot="-5400000">
                <a:off x="5157" y="1054"/>
                <a:ext cx="29" cy="376"/>
              </a:xfrm>
              <a:prstGeom prst="leftBracket">
                <a:avLst>
                  <a:gd name="adj" fmla="val 108046"/>
                </a:avLst>
              </a:prstGeom>
              <a:solidFill>
                <a:schemeClr val="bg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 name="AutoShape 14">
                <a:extLst>
                  <a:ext uri="{FF2B5EF4-FFF2-40B4-BE49-F238E27FC236}">
                    <a16:creationId xmlns:a16="http://schemas.microsoft.com/office/drawing/2014/main" id="{2AFDC821-8A33-0071-660D-F9C9A59DAD00}"/>
                  </a:ext>
                </a:extLst>
              </p:cNvPr>
              <p:cNvSpPr>
                <a:spLocks/>
              </p:cNvSpPr>
              <p:nvPr/>
            </p:nvSpPr>
            <p:spPr bwMode="auto">
              <a:xfrm rot="-5400000">
                <a:off x="5157" y="1068"/>
                <a:ext cx="30" cy="376"/>
              </a:xfrm>
              <a:prstGeom prst="leftBracket">
                <a:avLst>
                  <a:gd name="adj" fmla="val 104444"/>
                </a:avLst>
              </a:prstGeom>
              <a:solidFill>
                <a:schemeClr val="bg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4" name="Group 15">
                <a:extLst>
                  <a:ext uri="{FF2B5EF4-FFF2-40B4-BE49-F238E27FC236}">
                    <a16:creationId xmlns:a16="http://schemas.microsoft.com/office/drawing/2014/main" id="{355B7FC0-1CC1-0F49-077A-1C5C2B878B2F}"/>
                  </a:ext>
                </a:extLst>
              </p:cNvPr>
              <p:cNvGrpSpPr>
                <a:grpSpLocks/>
              </p:cNvGrpSpPr>
              <p:nvPr/>
            </p:nvGrpSpPr>
            <p:grpSpPr bwMode="auto">
              <a:xfrm>
                <a:off x="4984" y="1602"/>
                <a:ext cx="376" cy="546"/>
                <a:chOff x="576" y="1200"/>
                <a:chExt cx="240" cy="336"/>
              </a:xfrm>
            </p:grpSpPr>
            <p:sp>
              <p:nvSpPr>
                <p:cNvPr id="32" name="Rectangle 16">
                  <a:extLst>
                    <a:ext uri="{FF2B5EF4-FFF2-40B4-BE49-F238E27FC236}">
                      <a16:creationId xmlns:a16="http://schemas.microsoft.com/office/drawing/2014/main" id="{54CBFF24-F3DB-E073-8AD5-E396E6688B26}"/>
                    </a:ext>
                  </a:extLst>
                </p:cNvPr>
                <p:cNvSpPr>
                  <a:spLocks noChangeArrowheads="1"/>
                </p:cNvSpPr>
                <p:nvPr/>
              </p:nvSpPr>
              <p:spPr bwMode="auto">
                <a:xfrm>
                  <a:off x="576" y="1200"/>
                  <a:ext cx="240" cy="33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3" name="Line 17">
                  <a:extLst>
                    <a:ext uri="{FF2B5EF4-FFF2-40B4-BE49-F238E27FC236}">
                      <a16:creationId xmlns:a16="http://schemas.microsoft.com/office/drawing/2014/main" id="{75913DA9-02E2-5298-4ABA-154F2342E26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 name="Line 18">
                  <a:extLst>
                    <a:ext uri="{FF2B5EF4-FFF2-40B4-BE49-F238E27FC236}">
                      <a16:creationId xmlns:a16="http://schemas.microsoft.com/office/drawing/2014/main" id="{D4067926-6FBA-E357-3458-AE279581F46B}"/>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 name="AutoShape 19">
                <a:extLst>
                  <a:ext uri="{FF2B5EF4-FFF2-40B4-BE49-F238E27FC236}">
                    <a16:creationId xmlns:a16="http://schemas.microsoft.com/office/drawing/2014/main" id="{AA8619DB-DDE6-8467-2217-FECEA802E932}"/>
                  </a:ext>
                </a:extLst>
              </p:cNvPr>
              <p:cNvSpPr>
                <a:spLocks noChangeArrowheads="1"/>
              </p:cNvSpPr>
              <p:nvPr/>
            </p:nvSpPr>
            <p:spPr bwMode="auto">
              <a:xfrm>
                <a:off x="4984" y="1288"/>
                <a:ext cx="376" cy="269"/>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6" name="Group 20">
                <a:extLst>
                  <a:ext uri="{FF2B5EF4-FFF2-40B4-BE49-F238E27FC236}">
                    <a16:creationId xmlns:a16="http://schemas.microsoft.com/office/drawing/2014/main" id="{F1FCE48F-250E-65F6-114E-BC4FF006717D}"/>
                  </a:ext>
                </a:extLst>
              </p:cNvPr>
              <p:cNvGrpSpPr>
                <a:grpSpLocks/>
              </p:cNvGrpSpPr>
              <p:nvPr/>
            </p:nvGrpSpPr>
            <p:grpSpPr bwMode="auto">
              <a:xfrm>
                <a:off x="5090" y="1303"/>
                <a:ext cx="246" cy="104"/>
                <a:chOff x="1440" y="1520"/>
                <a:chExt cx="156" cy="64"/>
              </a:xfrm>
            </p:grpSpPr>
            <p:sp>
              <p:nvSpPr>
                <p:cNvPr id="27" name="Line 21">
                  <a:extLst>
                    <a:ext uri="{FF2B5EF4-FFF2-40B4-BE49-F238E27FC236}">
                      <a16:creationId xmlns:a16="http://schemas.microsoft.com/office/drawing/2014/main" id="{58F5EED5-BE6A-F32F-85AC-0C775C2104AB}"/>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22">
                  <a:extLst>
                    <a:ext uri="{FF2B5EF4-FFF2-40B4-BE49-F238E27FC236}">
                      <a16:creationId xmlns:a16="http://schemas.microsoft.com/office/drawing/2014/main" id="{959B64A0-FF09-16BE-F452-2524F1C4AB1D}"/>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31" name="AutoShape 23">
                  <a:extLst>
                    <a:ext uri="{FF2B5EF4-FFF2-40B4-BE49-F238E27FC236}">
                      <a16:creationId xmlns:a16="http://schemas.microsoft.com/office/drawing/2014/main" id="{89820083-D908-9D38-7015-75D7B7AF9EB6}"/>
                    </a:ext>
                  </a:extLst>
                </p:cNvPr>
                <p:cNvCxnSpPr>
                  <a:cxnSpLocks noChangeShapeType="1"/>
                  <a:stCxn id="27" idx="1"/>
                  <a:endCxn id="28"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sp>
        <p:nvSpPr>
          <p:cNvPr id="35" name="Content Placeholder 2">
            <a:extLst>
              <a:ext uri="{FF2B5EF4-FFF2-40B4-BE49-F238E27FC236}">
                <a16:creationId xmlns:a16="http://schemas.microsoft.com/office/drawing/2014/main" id="{A05BEF34-E6AE-4CD2-8D12-0D0AB1CC4273}"/>
              </a:ext>
            </a:extLst>
          </p:cNvPr>
          <p:cNvSpPr txBox="1">
            <a:spLocks/>
          </p:cNvSpPr>
          <p:nvPr/>
        </p:nvSpPr>
        <p:spPr>
          <a:xfrm>
            <a:off x="6012311" y="1825625"/>
            <a:ext cx="5325967" cy="4351338"/>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sz="2000" dirty="0"/>
              <a:t>The optimal scenario is to establish flow through sequential process steps without the opportunity to accumulate a queue in between</a:t>
            </a:r>
          </a:p>
          <a:p>
            <a:pPr>
              <a:lnSpc>
                <a:spcPct val="110000"/>
              </a:lnSpc>
            </a:pPr>
            <a:r>
              <a:rPr lang="en-US" sz="2000" dirty="0"/>
              <a:t>In administrative processes, where you can’t flow – pull may not be possible due to the nature of the process in these cases we want to do visual queue management</a:t>
            </a:r>
          </a:p>
          <a:p>
            <a:pPr>
              <a:lnSpc>
                <a:spcPct val="110000"/>
              </a:lnSpc>
            </a:pPr>
            <a:r>
              <a:rPr lang="en-US" sz="2000" dirty="0"/>
              <a:t>If there is visual queue </a:t>
            </a:r>
            <a:r>
              <a:rPr lang="en-US" sz="2000" dirty="0" err="1"/>
              <a:t>mgmt</a:t>
            </a:r>
            <a:r>
              <a:rPr lang="en-US" sz="2000" dirty="0"/>
              <a:t> over all the queues in the process, the process can be accelerated</a:t>
            </a:r>
          </a:p>
        </p:txBody>
      </p:sp>
    </p:spTree>
    <p:extLst>
      <p:ext uri="{BB962C8B-B14F-4D97-AF65-F5344CB8AC3E}">
        <p14:creationId xmlns:p14="http://schemas.microsoft.com/office/powerpoint/2010/main" val="203052630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t>
              </a:r>
              <a:b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b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31862"/>
            <a:chOff x="4046293" y="4639120"/>
            <a:chExt cx="581025" cy="931862"/>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38212"/>
            <a:chOff x="8456859" y="4639120"/>
            <a:chExt cx="619125" cy="938212"/>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695824" y="5530007"/>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76" name="Rectangle 181">
            <a:extLst>
              <a:ext uri="{FF2B5EF4-FFF2-40B4-BE49-F238E27FC236}">
                <a16:creationId xmlns:a16="http://schemas.microsoft.com/office/drawing/2014/main" id="{AC2B25D3-C212-6991-F1FC-2BCBA583A2FA}"/>
              </a:ext>
            </a:extLst>
          </p:cNvPr>
          <p:cNvSpPr>
            <a:spLocks noChangeArrowheads="1"/>
          </p:cNvSpPr>
          <p:nvPr/>
        </p:nvSpPr>
        <p:spPr bwMode="auto">
          <a:xfrm>
            <a:off x="2739756" y="1600367"/>
            <a:ext cx="5482349" cy="1458061"/>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buClrTx/>
              <a:buSzTx/>
              <a:buFontTx/>
              <a:buNone/>
            </a:pPr>
            <a:r>
              <a:rPr lang="en-US" altLang="en-US" sz="1200" dirty="0"/>
              <a:t>Visually managed queues are created at the point </a:t>
            </a:r>
            <a:br>
              <a:rPr lang="en-US" altLang="en-US" sz="1200" dirty="0"/>
            </a:br>
            <a:r>
              <a:rPr lang="en-US" altLang="en-US" sz="1200" dirty="0"/>
              <a:t>of production (not consumption)</a:t>
            </a:r>
          </a:p>
          <a:p>
            <a:pPr>
              <a:lnSpc>
                <a:spcPct val="100000"/>
              </a:lnSpc>
              <a:spcBef>
                <a:spcPct val="0"/>
              </a:spcBef>
              <a:buClrTx/>
              <a:buSzTx/>
              <a:buFontTx/>
              <a:buNone/>
            </a:pPr>
            <a:r>
              <a:rPr lang="en-US" altLang="en-US" sz="1200" dirty="0"/>
              <a:t>Items are dispatched by the consuming downstream process</a:t>
            </a:r>
          </a:p>
          <a:p>
            <a:pPr>
              <a:lnSpc>
                <a:spcPct val="100000"/>
              </a:lnSpc>
              <a:spcBef>
                <a:spcPct val="0"/>
              </a:spcBef>
              <a:buClrTx/>
              <a:buSzTx/>
              <a:buFontTx/>
              <a:buNone/>
            </a:pPr>
            <a:r>
              <a:rPr lang="en-US" altLang="en-US" sz="1200" dirty="0"/>
              <a:t>Queues are replenished by the upstream department</a:t>
            </a:r>
            <a:br>
              <a:rPr lang="en-US" altLang="en-US" sz="1200" dirty="0"/>
            </a:br>
            <a:r>
              <a:rPr lang="en-US" altLang="en-US" sz="1200" dirty="0"/>
              <a:t> as “VALUE OBJECTs” are completed</a:t>
            </a:r>
          </a:p>
        </p:txBody>
      </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grpSp>
        <p:nvGrpSpPr>
          <p:cNvPr id="105" name="Group 104">
            <a:extLst>
              <a:ext uri="{FF2B5EF4-FFF2-40B4-BE49-F238E27FC236}">
                <a16:creationId xmlns:a16="http://schemas.microsoft.com/office/drawing/2014/main" id="{B360634B-8682-C30C-457D-1AE81EC63E01}"/>
              </a:ext>
            </a:extLst>
          </p:cNvPr>
          <p:cNvGrpSpPr/>
          <p:nvPr/>
        </p:nvGrpSpPr>
        <p:grpSpPr>
          <a:xfrm>
            <a:off x="940249" y="302538"/>
            <a:ext cx="6219503" cy="311932"/>
            <a:chOff x="940249" y="302538"/>
            <a:chExt cx="6219503" cy="311932"/>
          </a:xfrm>
        </p:grpSpPr>
        <p:sp>
          <p:nvSpPr>
            <p:cNvPr id="106" name="TextBox 105">
              <a:extLst>
                <a:ext uri="{FF2B5EF4-FFF2-40B4-BE49-F238E27FC236}">
                  <a16:creationId xmlns:a16="http://schemas.microsoft.com/office/drawing/2014/main" id="{0AE5A022-FB70-D3CE-D8FA-5302C4E9171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07" name="AutoShape 9">
              <a:extLst>
                <a:ext uri="{FF2B5EF4-FFF2-40B4-BE49-F238E27FC236}">
                  <a16:creationId xmlns:a16="http://schemas.microsoft.com/office/drawing/2014/main" id="{40797104-6AEB-CFD2-CDB6-853DD5FDFBD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8" name="AutoShape 9">
              <a:extLst>
                <a:ext uri="{FF2B5EF4-FFF2-40B4-BE49-F238E27FC236}">
                  <a16:creationId xmlns:a16="http://schemas.microsoft.com/office/drawing/2014/main" id="{482EA149-742B-A05A-9632-4D676BDE184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9" name="AutoShape 9">
              <a:extLst>
                <a:ext uri="{FF2B5EF4-FFF2-40B4-BE49-F238E27FC236}">
                  <a16:creationId xmlns:a16="http://schemas.microsoft.com/office/drawing/2014/main" id="{798310CD-58FA-20EE-6425-C2B49BEF980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0" name="AutoShape 9">
              <a:extLst>
                <a:ext uri="{FF2B5EF4-FFF2-40B4-BE49-F238E27FC236}">
                  <a16:creationId xmlns:a16="http://schemas.microsoft.com/office/drawing/2014/main" id="{871C8694-711B-EEFC-2875-8C06AB8D77A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1" name="AutoShape 11">
              <a:extLst>
                <a:ext uri="{FF2B5EF4-FFF2-40B4-BE49-F238E27FC236}">
                  <a16:creationId xmlns:a16="http://schemas.microsoft.com/office/drawing/2014/main" id="{6D5E3087-6EBB-6E7C-6A04-F3E9A96D268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2" name="Group 236">
            <a:extLst>
              <a:ext uri="{FF2B5EF4-FFF2-40B4-BE49-F238E27FC236}">
                <a16:creationId xmlns:a16="http://schemas.microsoft.com/office/drawing/2014/main" id="{CF8FC307-3498-5D38-25ED-8CD3946A8D43}"/>
              </a:ext>
            </a:extLst>
          </p:cNvPr>
          <p:cNvGrpSpPr>
            <a:grpSpLocks/>
          </p:cNvGrpSpPr>
          <p:nvPr/>
        </p:nvGrpSpPr>
        <p:grpSpPr bwMode="auto">
          <a:xfrm>
            <a:off x="3090839" y="4341499"/>
            <a:ext cx="2559050" cy="1431925"/>
            <a:chOff x="1569" y="2719"/>
            <a:chExt cx="1612" cy="902"/>
          </a:xfrm>
        </p:grpSpPr>
        <p:sp>
          <p:nvSpPr>
            <p:cNvPr id="14" name="Rectangle 237">
              <a:extLst>
                <a:ext uri="{FF2B5EF4-FFF2-40B4-BE49-F238E27FC236}">
                  <a16:creationId xmlns:a16="http://schemas.microsoft.com/office/drawing/2014/main" id="{D36326E9-D1AF-4E04-CA17-894C215B5BED}"/>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5" name="AutoShape 238">
              <a:extLst>
                <a:ext uri="{FF2B5EF4-FFF2-40B4-BE49-F238E27FC236}">
                  <a16:creationId xmlns:a16="http://schemas.microsoft.com/office/drawing/2014/main" id="{D41F235F-45A2-0903-26AC-BB130D7A6134}"/>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6" name="Group 239">
              <a:extLst>
                <a:ext uri="{FF2B5EF4-FFF2-40B4-BE49-F238E27FC236}">
                  <a16:creationId xmlns:a16="http://schemas.microsoft.com/office/drawing/2014/main" id="{A6F4C89D-3BCA-2E27-62D1-BF623078EDCF}"/>
                </a:ext>
              </a:extLst>
            </p:cNvPr>
            <p:cNvGrpSpPr>
              <a:grpSpLocks/>
            </p:cNvGrpSpPr>
            <p:nvPr/>
          </p:nvGrpSpPr>
          <p:grpSpPr bwMode="auto">
            <a:xfrm>
              <a:off x="2364" y="2903"/>
              <a:ext cx="215" cy="240"/>
              <a:chOff x="4918" y="3424"/>
              <a:chExt cx="240" cy="240"/>
            </a:xfrm>
          </p:grpSpPr>
          <p:sp>
            <p:nvSpPr>
              <p:cNvPr id="17" name="Oval 240">
                <a:extLst>
                  <a:ext uri="{FF2B5EF4-FFF2-40B4-BE49-F238E27FC236}">
                    <a16:creationId xmlns:a16="http://schemas.microsoft.com/office/drawing/2014/main" id="{382AF13D-7A1F-35BE-13EA-DB3CBB7EDFC4}"/>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 name="Line 241">
                <a:extLst>
                  <a:ext uri="{FF2B5EF4-FFF2-40B4-BE49-F238E27FC236}">
                    <a16:creationId xmlns:a16="http://schemas.microsoft.com/office/drawing/2014/main" id="{DDBD5977-E2B1-0AEC-28C1-76780987B645}"/>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99" name="Group 198">
            <a:extLst>
              <a:ext uri="{FF2B5EF4-FFF2-40B4-BE49-F238E27FC236}">
                <a16:creationId xmlns:a16="http://schemas.microsoft.com/office/drawing/2014/main" id="{73AA1766-8E71-5F4D-AFF8-FF1929D51EEE}"/>
              </a:ext>
            </a:extLst>
          </p:cNvPr>
          <p:cNvGrpSpPr/>
          <p:nvPr/>
        </p:nvGrpSpPr>
        <p:grpSpPr>
          <a:xfrm>
            <a:off x="6046078" y="3837130"/>
            <a:ext cx="2378744" cy="1189410"/>
            <a:chOff x="6104109" y="3086335"/>
            <a:chExt cx="1752600" cy="876328"/>
          </a:xfrm>
        </p:grpSpPr>
        <p:grpSp>
          <p:nvGrpSpPr>
            <p:cNvPr id="19" name="Group 397">
              <a:extLst>
                <a:ext uri="{FF2B5EF4-FFF2-40B4-BE49-F238E27FC236}">
                  <a16:creationId xmlns:a16="http://schemas.microsoft.com/office/drawing/2014/main" id="{B27BE8CC-B97E-F064-0249-7CB7E0479760}"/>
                </a:ext>
              </a:extLst>
            </p:cNvPr>
            <p:cNvGrpSpPr>
              <a:grpSpLocks/>
            </p:cNvGrpSpPr>
            <p:nvPr/>
          </p:nvGrpSpPr>
          <p:grpSpPr bwMode="auto">
            <a:xfrm>
              <a:off x="6104109" y="3626111"/>
              <a:ext cx="381000" cy="336552"/>
              <a:chOff x="104" y="2740"/>
              <a:chExt cx="240" cy="212"/>
            </a:xfrm>
          </p:grpSpPr>
          <p:sp>
            <p:nvSpPr>
              <p:cNvPr id="86" name="AutoShape 398">
                <a:extLst>
                  <a:ext uri="{FF2B5EF4-FFF2-40B4-BE49-F238E27FC236}">
                    <a16:creationId xmlns:a16="http://schemas.microsoft.com/office/drawing/2014/main" id="{2F1BD9DA-CE6C-636E-AE30-82B6A999AD4B}"/>
                  </a:ext>
                </a:extLst>
              </p:cNvPr>
              <p:cNvSpPr>
                <a:spLocks/>
              </p:cNvSpPr>
              <p:nvPr/>
            </p:nvSpPr>
            <p:spPr bwMode="auto">
              <a:xfrm rot="16200000">
                <a:off x="215" y="2629"/>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7" name="AutoShape 399">
                <a:extLst>
                  <a:ext uri="{FF2B5EF4-FFF2-40B4-BE49-F238E27FC236}">
                    <a16:creationId xmlns:a16="http://schemas.microsoft.com/office/drawing/2014/main" id="{1164253C-84F8-E060-3517-FFFECB96B814}"/>
                  </a:ext>
                </a:extLst>
              </p:cNvPr>
              <p:cNvSpPr>
                <a:spLocks/>
              </p:cNvSpPr>
              <p:nvPr/>
            </p:nvSpPr>
            <p:spPr bwMode="auto">
              <a:xfrm rot="16200000">
                <a:off x="215" y="2638"/>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8" name="AutoShape 400">
                <a:extLst>
                  <a:ext uri="{FF2B5EF4-FFF2-40B4-BE49-F238E27FC236}">
                    <a16:creationId xmlns:a16="http://schemas.microsoft.com/office/drawing/2014/main" id="{9D28C81A-C89A-20A1-4A50-BF9798E23498}"/>
                  </a:ext>
                </a:extLst>
              </p:cNvPr>
              <p:cNvSpPr>
                <a:spLocks/>
              </p:cNvSpPr>
              <p:nvPr/>
            </p:nvSpPr>
            <p:spPr bwMode="auto">
              <a:xfrm rot="16200000">
                <a:off x="215" y="2647"/>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9" name="AutoShape 401">
                <a:extLst>
                  <a:ext uri="{FF2B5EF4-FFF2-40B4-BE49-F238E27FC236}">
                    <a16:creationId xmlns:a16="http://schemas.microsoft.com/office/drawing/2014/main" id="{353C27D0-AA24-7EE3-C418-34695A16047D}"/>
                  </a:ext>
                </a:extLst>
              </p:cNvPr>
              <p:cNvSpPr>
                <a:spLocks noChangeArrowheads="1"/>
              </p:cNvSpPr>
              <p:nvPr/>
            </p:nvSpPr>
            <p:spPr bwMode="auto">
              <a:xfrm>
                <a:off x="104" y="2787"/>
                <a:ext cx="240" cy="165"/>
              </a:xfrm>
              <a:prstGeom prst="flowChartMerge">
                <a:avLst/>
              </a:prstGeom>
              <a:noFill/>
              <a:ln w="952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90" name="Group 402">
                <a:extLst>
                  <a:ext uri="{FF2B5EF4-FFF2-40B4-BE49-F238E27FC236}">
                    <a16:creationId xmlns:a16="http://schemas.microsoft.com/office/drawing/2014/main" id="{4D2C2E70-2480-AC54-6E7D-926A391E0EC9}"/>
                  </a:ext>
                </a:extLst>
              </p:cNvPr>
              <p:cNvGrpSpPr>
                <a:grpSpLocks/>
              </p:cNvGrpSpPr>
              <p:nvPr/>
            </p:nvGrpSpPr>
            <p:grpSpPr bwMode="auto">
              <a:xfrm>
                <a:off x="166" y="2796"/>
                <a:ext cx="156" cy="64"/>
                <a:chOff x="1440" y="1520"/>
                <a:chExt cx="156" cy="64"/>
              </a:xfrm>
            </p:grpSpPr>
            <p:sp>
              <p:nvSpPr>
                <p:cNvPr id="103" name="Line 403">
                  <a:extLst>
                    <a:ext uri="{FF2B5EF4-FFF2-40B4-BE49-F238E27FC236}">
                      <a16:creationId xmlns:a16="http://schemas.microsoft.com/office/drawing/2014/main" id="{F89FEFEC-DD94-E20F-2661-9150A2588E88}"/>
                    </a:ext>
                  </a:extLst>
                </p:cNvPr>
                <p:cNvSpPr>
                  <a:spLocks noChangeShapeType="1"/>
                </p:cNvSpPr>
                <p:nvPr/>
              </p:nvSpPr>
              <p:spPr bwMode="auto">
                <a:xfrm flipV="1">
                  <a:off x="1440" y="1536"/>
                  <a:ext cx="78" cy="48"/>
                </a:xfrm>
                <a:prstGeom prst="line">
                  <a:avLst/>
                </a:prstGeom>
                <a:noFill/>
                <a:ln w="9525">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 name="Line 404">
                  <a:extLst>
                    <a:ext uri="{FF2B5EF4-FFF2-40B4-BE49-F238E27FC236}">
                      <a16:creationId xmlns:a16="http://schemas.microsoft.com/office/drawing/2014/main" id="{26C04190-35D6-69A0-0BDA-50596EB3F146}"/>
                    </a:ext>
                  </a:extLst>
                </p:cNvPr>
                <p:cNvSpPr>
                  <a:spLocks noChangeShapeType="1"/>
                </p:cNvSpPr>
                <p:nvPr/>
              </p:nvSpPr>
              <p:spPr bwMode="auto">
                <a:xfrm flipV="1">
                  <a:off x="1518" y="1520"/>
                  <a:ext cx="78" cy="48"/>
                </a:xfrm>
                <a:prstGeom prst="line">
                  <a:avLst/>
                </a:prstGeom>
                <a:noFill/>
                <a:ln w="9525">
                  <a:solidFill>
                    <a:schemeClr val="accent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13" name="AutoShape 405">
                  <a:extLst>
                    <a:ext uri="{FF2B5EF4-FFF2-40B4-BE49-F238E27FC236}">
                      <a16:creationId xmlns:a16="http://schemas.microsoft.com/office/drawing/2014/main" id="{351CD816-DA62-E8FE-85BA-EF3C3F44C247}"/>
                    </a:ext>
                  </a:extLst>
                </p:cNvPr>
                <p:cNvCxnSpPr>
                  <a:cxnSpLocks noChangeShapeType="1"/>
                  <a:stCxn id="103" idx="1"/>
                  <a:endCxn id="112" idx="0"/>
                </p:cNvCxnSpPr>
                <p:nvPr/>
              </p:nvCxnSpPr>
              <p:spPr bwMode="auto">
                <a:xfrm>
                  <a:off x="1518" y="1536"/>
                  <a:ext cx="0" cy="32"/>
                </a:xfrm>
                <a:prstGeom prst="straightConnector1">
                  <a:avLst/>
                </a:prstGeom>
                <a:noFill/>
                <a:ln w="9525">
                  <a:solidFill>
                    <a:schemeClr val="accent6"/>
                  </a:solidFill>
                  <a:round/>
                  <a:headEnd/>
                  <a:tailEnd/>
                </a:ln>
                <a:extLst>
                  <a:ext uri="{909E8E84-426E-40DD-AFC4-6F175D3DCCD1}">
                    <a14:hiddenFill xmlns:a14="http://schemas.microsoft.com/office/drawing/2010/main">
                      <a:noFill/>
                    </a14:hiddenFill>
                  </a:ext>
                </a:extLst>
              </p:spPr>
            </p:cxnSp>
          </p:grpSp>
        </p:grpSp>
        <p:grpSp>
          <p:nvGrpSpPr>
            <p:cNvPr id="21" name="Group 417">
              <a:extLst>
                <a:ext uri="{FF2B5EF4-FFF2-40B4-BE49-F238E27FC236}">
                  <a16:creationId xmlns:a16="http://schemas.microsoft.com/office/drawing/2014/main" id="{6D80F80D-2A36-67EB-20D7-36A1C6523016}"/>
                </a:ext>
              </a:extLst>
            </p:cNvPr>
            <p:cNvGrpSpPr>
              <a:grpSpLocks/>
            </p:cNvGrpSpPr>
            <p:nvPr/>
          </p:nvGrpSpPr>
          <p:grpSpPr bwMode="auto">
            <a:xfrm>
              <a:off x="7475709" y="3626111"/>
              <a:ext cx="381000" cy="336552"/>
              <a:chOff x="104" y="2740"/>
              <a:chExt cx="240" cy="212"/>
            </a:xfrm>
          </p:grpSpPr>
          <p:sp>
            <p:nvSpPr>
              <p:cNvPr id="33" name="AutoShape 418">
                <a:extLst>
                  <a:ext uri="{FF2B5EF4-FFF2-40B4-BE49-F238E27FC236}">
                    <a16:creationId xmlns:a16="http://schemas.microsoft.com/office/drawing/2014/main" id="{384097F8-A6AB-7D07-CB01-3E43981CD0A3}"/>
                  </a:ext>
                </a:extLst>
              </p:cNvPr>
              <p:cNvSpPr>
                <a:spLocks/>
              </p:cNvSpPr>
              <p:nvPr/>
            </p:nvSpPr>
            <p:spPr bwMode="auto">
              <a:xfrm rot="16200000">
                <a:off x="215" y="2629"/>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 name="AutoShape 419">
                <a:extLst>
                  <a:ext uri="{FF2B5EF4-FFF2-40B4-BE49-F238E27FC236}">
                    <a16:creationId xmlns:a16="http://schemas.microsoft.com/office/drawing/2014/main" id="{F732FFCF-C407-9AA1-FF7A-FBF44AB56D39}"/>
                  </a:ext>
                </a:extLst>
              </p:cNvPr>
              <p:cNvSpPr>
                <a:spLocks/>
              </p:cNvSpPr>
              <p:nvPr/>
            </p:nvSpPr>
            <p:spPr bwMode="auto">
              <a:xfrm rot="16200000">
                <a:off x="215" y="2638"/>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5" name="AutoShape 420">
                <a:extLst>
                  <a:ext uri="{FF2B5EF4-FFF2-40B4-BE49-F238E27FC236}">
                    <a16:creationId xmlns:a16="http://schemas.microsoft.com/office/drawing/2014/main" id="{B9918116-E883-CE4C-6184-E48EB6F8A64B}"/>
                  </a:ext>
                </a:extLst>
              </p:cNvPr>
              <p:cNvSpPr>
                <a:spLocks/>
              </p:cNvSpPr>
              <p:nvPr/>
            </p:nvSpPr>
            <p:spPr bwMode="auto">
              <a:xfrm rot="16200000">
                <a:off x="215" y="2647"/>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6" name="AutoShape 421">
                <a:extLst>
                  <a:ext uri="{FF2B5EF4-FFF2-40B4-BE49-F238E27FC236}">
                    <a16:creationId xmlns:a16="http://schemas.microsoft.com/office/drawing/2014/main" id="{119653C4-316E-AC6B-8E19-5DB6D4F7C39A}"/>
                  </a:ext>
                </a:extLst>
              </p:cNvPr>
              <p:cNvSpPr>
                <a:spLocks noChangeArrowheads="1"/>
              </p:cNvSpPr>
              <p:nvPr/>
            </p:nvSpPr>
            <p:spPr bwMode="auto">
              <a:xfrm>
                <a:off x="104" y="2787"/>
                <a:ext cx="240" cy="165"/>
              </a:xfrm>
              <a:prstGeom prst="flowChartMerge">
                <a:avLst/>
              </a:prstGeom>
              <a:noFill/>
              <a:ln w="952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7" name="Group 422">
                <a:extLst>
                  <a:ext uri="{FF2B5EF4-FFF2-40B4-BE49-F238E27FC236}">
                    <a16:creationId xmlns:a16="http://schemas.microsoft.com/office/drawing/2014/main" id="{195DC8DF-B881-1E65-FB06-5D7DAAD794A9}"/>
                  </a:ext>
                </a:extLst>
              </p:cNvPr>
              <p:cNvGrpSpPr>
                <a:grpSpLocks/>
              </p:cNvGrpSpPr>
              <p:nvPr/>
            </p:nvGrpSpPr>
            <p:grpSpPr bwMode="auto">
              <a:xfrm>
                <a:off x="166" y="2796"/>
                <a:ext cx="156" cy="64"/>
                <a:chOff x="1440" y="1520"/>
                <a:chExt cx="156" cy="64"/>
              </a:xfrm>
            </p:grpSpPr>
            <p:sp>
              <p:nvSpPr>
                <p:cNvPr id="38" name="Line 423">
                  <a:extLst>
                    <a:ext uri="{FF2B5EF4-FFF2-40B4-BE49-F238E27FC236}">
                      <a16:creationId xmlns:a16="http://schemas.microsoft.com/office/drawing/2014/main" id="{983CE8D9-BD9A-CDE5-79DF-12FEAF89C65D}"/>
                    </a:ext>
                  </a:extLst>
                </p:cNvPr>
                <p:cNvSpPr>
                  <a:spLocks noChangeShapeType="1"/>
                </p:cNvSpPr>
                <p:nvPr/>
              </p:nvSpPr>
              <p:spPr bwMode="auto">
                <a:xfrm flipV="1">
                  <a:off x="1440" y="1536"/>
                  <a:ext cx="78" cy="48"/>
                </a:xfrm>
                <a:prstGeom prst="line">
                  <a:avLst/>
                </a:prstGeom>
                <a:noFill/>
                <a:ln w="9525">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24">
                  <a:extLst>
                    <a:ext uri="{FF2B5EF4-FFF2-40B4-BE49-F238E27FC236}">
                      <a16:creationId xmlns:a16="http://schemas.microsoft.com/office/drawing/2014/main" id="{21FAB5AB-AA59-519F-2080-F7EB8EAB2BB9}"/>
                    </a:ext>
                  </a:extLst>
                </p:cNvPr>
                <p:cNvSpPr>
                  <a:spLocks noChangeShapeType="1"/>
                </p:cNvSpPr>
                <p:nvPr/>
              </p:nvSpPr>
              <p:spPr bwMode="auto">
                <a:xfrm flipV="1">
                  <a:off x="1518" y="1520"/>
                  <a:ext cx="78" cy="48"/>
                </a:xfrm>
                <a:prstGeom prst="line">
                  <a:avLst/>
                </a:prstGeom>
                <a:noFill/>
                <a:ln w="9525">
                  <a:solidFill>
                    <a:schemeClr val="accent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40" name="AutoShape 425">
                  <a:extLst>
                    <a:ext uri="{FF2B5EF4-FFF2-40B4-BE49-F238E27FC236}">
                      <a16:creationId xmlns:a16="http://schemas.microsoft.com/office/drawing/2014/main" id="{724583CB-79F1-BB46-4CD2-F9A441DBB2C1}"/>
                    </a:ext>
                  </a:extLst>
                </p:cNvPr>
                <p:cNvCxnSpPr>
                  <a:cxnSpLocks noChangeShapeType="1"/>
                  <a:stCxn id="38" idx="1"/>
                  <a:endCxn id="39" idx="0"/>
                </p:cNvCxnSpPr>
                <p:nvPr/>
              </p:nvCxnSpPr>
              <p:spPr bwMode="auto">
                <a:xfrm>
                  <a:off x="1518" y="1536"/>
                  <a:ext cx="0" cy="32"/>
                </a:xfrm>
                <a:prstGeom prst="straightConnector1">
                  <a:avLst/>
                </a:prstGeom>
                <a:noFill/>
                <a:ln w="9525">
                  <a:solidFill>
                    <a:schemeClr val="accent6"/>
                  </a:solidFill>
                  <a:round/>
                  <a:headEnd/>
                  <a:tailEnd/>
                </a:ln>
                <a:extLst>
                  <a:ext uri="{909E8E84-426E-40DD-AFC4-6F175D3DCCD1}">
                    <a14:hiddenFill xmlns:a14="http://schemas.microsoft.com/office/drawing/2010/main">
                      <a:noFill/>
                    </a14:hiddenFill>
                  </a:ext>
                </a:extLst>
              </p:spPr>
            </p:cxnSp>
          </p:grpSp>
        </p:grpSp>
        <p:sp>
          <p:nvSpPr>
            <p:cNvPr id="22" name="Text Box 426">
              <a:extLst>
                <a:ext uri="{FF2B5EF4-FFF2-40B4-BE49-F238E27FC236}">
                  <a16:creationId xmlns:a16="http://schemas.microsoft.com/office/drawing/2014/main" id="{4223878F-56EB-9688-6F92-C997F57AEE0C}"/>
                </a:ext>
              </a:extLst>
            </p:cNvPr>
            <p:cNvSpPr txBox="1">
              <a:spLocks noChangeArrowheads="1"/>
            </p:cNvSpPr>
            <p:nvPr/>
          </p:nvSpPr>
          <p:spPr bwMode="auto">
            <a:xfrm>
              <a:off x="6688309" y="3086335"/>
              <a:ext cx="679450" cy="285720"/>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Visually Managed Queue</a:t>
              </a:r>
            </a:p>
          </p:txBody>
        </p:sp>
        <p:sp>
          <p:nvSpPr>
            <p:cNvPr id="23" name="Line 428">
              <a:extLst>
                <a:ext uri="{FF2B5EF4-FFF2-40B4-BE49-F238E27FC236}">
                  <a16:creationId xmlns:a16="http://schemas.microsoft.com/office/drawing/2014/main" id="{AC69189A-12D4-DEBF-AAAA-827851CF86E4}"/>
                </a:ext>
              </a:extLst>
            </p:cNvPr>
            <p:cNvSpPr>
              <a:spLocks noChangeShapeType="1"/>
            </p:cNvSpPr>
            <p:nvPr/>
          </p:nvSpPr>
          <p:spPr bwMode="auto">
            <a:xfrm>
              <a:off x="7266159" y="3372085"/>
              <a:ext cx="279400" cy="1841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29">
              <a:extLst>
                <a:ext uri="{FF2B5EF4-FFF2-40B4-BE49-F238E27FC236}">
                  <a16:creationId xmlns:a16="http://schemas.microsoft.com/office/drawing/2014/main" id="{3E95D2B3-D5AA-6EF6-172C-8E0902233220}"/>
                </a:ext>
              </a:extLst>
            </p:cNvPr>
            <p:cNvSpPr>
              <a:spLocks noChangeShapeType="1"/>
            </p:cNvSpPr>
            <p:nvPr/>
          </p:nvSpPr>
          <p:spPr bwMode="auto">
            <a:xfrm flipH="1">
              <a:off x="6497809" y="3372085"/>
              <a:ext cx="273050" cy="2095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98" name="Group 197">
            <a:extLst>
              <a:ext uri="{FF2B5EF4-FFF2-40B4-BE49-F238E27FC236}">
                <a16:creationId xmlns:a16="http://schemas.microsoft.com/office/drawing/2014/main" id="{ECCB51E4-7C4C-3904-4669-EEF34E1749D5}"/>
              </a:ext>
            </a:extLst>
          </p:cNvPr>
          <p:cNvGrpSpPr/>
          <p:nvPr/>
        </p:nvGrpSpPr>
        <p:grpSpPr>
          <a:xfrm>
            <a:off x="683789" y="3787500"/>
            <a:ext cx="2348137" cy="1165622"/>
            <a:chOff x="1951209" y="3086335"/>
            <a:chExt cx="1765300" cy="876300"/>
          </a:xfrm>
        </p:grpSpPr>
        <p:grpSp>
          <p:nvGrpSpPr>
            <p:cNvPr id="11" name="Group 383">
              <a:extLst>
                <a:ext uri="{FF2B5EF4-FFF2-40B4-BE49-F238E27FC236}">
                  <a16:creationId xmlns:a16="http://schemas.microsoft.com/office/drawing/2014/main" id="{780F9ED5-9799-F250-2E07-B87FAE17DBF6}"/>
                </a:ext>
              </a:extLst>
            </p:cNvPr>
            <p:cNvGrpSpPr>
              <a:grpSpLocks/>
            </p:cNvGrpSpPr>
            <p:nvPr/>
          </p:nvGrpSpPr>
          <p:grpSpPr bwMode="auto">
            <a:xfrm>
              <a:off x="3335509" y="3626085"/>
              <a:ext cx="381000" cy="336550"/>
              <a:chOff x="104" y="2740"/>
              <a:chExt cx="240" cy="212"/>
            </a:xfrm>
          </p:grpSpPr>
          <p:sp>
            <p:nvSpPr>
              <p:cNvPr id="115" name="AutoShape 371">
                <a:extLst>
                  <a:ext uri="{FF2B5EF4-FFF2-40B4-BE49-F238E27FC236}">
                    <a16:creationId xmlns:a16="http://schemas.microsoft.com/office/drawing/2014/main" id="{1E9127EF-801F-A5A8-42DB-B536D4112793}"/>
                  </a:ext>
                </a:extLst>
              </p:cNvPr>
              <p:cNvSpPr>
                <a:spLocks/>
              </p:cNvSpPr>
              <p:nvPr/>
            </p:nvSpPr>
            <p:spPr bwMode="auto">
              <a:xfrm rot="-5400000">
                <a:off x="215" y="2629"/>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1" name="AutoShape 372">
                <a:extLst>
                  <a:ext uri="{FF2B5EF4-FFF2-40B4-BE49-F238E27FC236}">
                    <a16:creationId xmlns:a16="http://schemas.microsoft.com/office/drawing/2014/main" id="{FA30E707-D5F7-4DCD-3028-D9D36E3EEA90}"/>
                  </a:ext>
                </a:extLst>
              </p:cNvPr>
              <p:cNvSpPr>
                <a:spLocks/>
              </p:cNvSpPr>
              <p:nvPr/>
            </p:nvSpPr>
            <p:spPr bwMode="auto">
              <a:xfrm rot="-5400000">
                <a:off x="215" y="2638"/>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2" name="AutoShape 373">
                <a:extLst>
                  <a:ext uri="{FF2B5EF4-FFF2-40B4-BE49-F238E27FC236}">
                    <a16:creationId xmlns:a16="http://schemas.microsoft.com/office/drawing/2014/main" id="{F68D4D57-4FBE-AC17-455E-C04D0F2EF3F1}"/>
                  </a:ext>
                </a:extLst>
              </p:cNvPr>
              <p:cNvSpPr>
                <a:spLocks/>
              </p:cNvSpPr>
              <p:nvPr/>
            </p:nvSpPr>
            <p:spPr bwMode="auto">
              <a:xfrm rot="-5400000">
                <a:off x="215" y="2647"/>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3" name="AutoShape 378">
                <a:extLst>
                  <a:ext uri="{FF2B5EF4-FFF2-40B4-BE49-F238E27FC236}">
                    <a16:creationId xmlns:a16="http://schemas.microsoft.com/office/drawing/2014/main" id="{3396952F-C0CC-652F-B5DB-E52029A00345}"/>
                  </a:ext>
                </a:extLst>
              </p:cNvPr>
              <p:cNvSpPr>
                <a:spLocks noChangeArrowheads="1"/>
              </p:cNvSpPr>
              <p:nvPr/>
            </p:nvSpPr>
            <p:spPr bwMode="auto">
              <a:xfrm>
                <a:off x="104" y="2787"/>
                <a:ext cx="240" cy="165"/>
              </a:xfrm>
              <a:prstGeom prst="flowChartMerge">
                <a:avLst/>
              </a:prstGeom>
              <a:noFill/>
              <a:ln w="952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94" name="Group 379">
                <a:extLst>
                  <a:ext uri="{FF2B5EF4-FFF2-40B4-BE49-F238E27FC236}">
                    <a16:creationId xmlns:a16="http://schemas.microsoft.com/office/drawing/2014/main" id="{C10786E1-5C6B-5655-D9DF-C9B7614D5BB8}"/>
                  </a:ext>
                </a:extLst>
              </p:cNvPr>
              <p:cNvGrpSpPr>
                <a:grpSpLocks/>
              </p:cNvGrpSpPr>
              <p:nvPr/>
            </p:nvGrpSpPr>
            <p:grpSpPr bwMode="auto">
              <a:xfrm>
                <a:off x="166" y="2796"/>
                <a:ext cx="156" cy="64"/>
                <a:chOff x="1440" y="1520"/>
                <a:chExt cx="156" cy="64"/>
              </a:xfrm>
            </p:grpSpPr>
            <p:sp>
              <p:nvSpPr>
                <p:cNvPr id="195" name="Line 380">
                  <a:extLst>
                    <a:ext uri="{FF2B5EF4-FFF2-40B4-BE49-F238E27FC236}">
                      <a16:creationId xmlns:a16="http://schemas.microsoft.com/office/drawing/2014/main" id="{ADFA5C4A-158A-52A3-450B-68496D30AE7C}"/>
                    </a:ext>
                  </a:extLst>
                </p:cNvPr>
                <p:cNvSpPr>
                  <a:spLocks noChangeShapeType="1"/>
                </p:cNvSpPr>
                <p:nvPr/>
              </p:nvSpPr>
              <p:spPr bwMode="auto">
                <a:xfrm flipV="1">
                  <a:off x="1440" y="1536"/>
                  <a:ext cx="78" cy="48"/>
                </a:xfrm>
                <a:prstGeom prst="line">
                  <a:avLst/>
                </a:prstGeom>
                <a:noFill/>
                <a:ln w="9525">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 name="Line 381">
                  <a:extLst>
                    <a:ext uri="{FF2B5EF4-FFF2-40B4-BE49-F238E27FC236}">
                      <a16:creationId xmlns:a16="http://schemas.microsoft.com/office/drawing/2014/main" id="{2B9843DF-52BC-6EB7-2380-61CC25B33C9A}"/>
                    </a:ext>
                  </a:extLst>
                </p:cNvPr>
                <p:cNvSpPr>
                  <a:spLocks noChangeShapeType="1"/>
                </p:cNvSpPr>
                <p:nvPr/>
              </p:nvSpPr>
              <p:spPr bwMode="auto">
                <a:xfrm flipV="1">
                  <a:off x="1518" y="1520"/>
                  <a:ext cx="78" cy="48"/>
                </a:xfrm>
                <a:prstGeom prst="line">
                  <a:avLst/>
                </a:prstGeom>
                <a:noFill/>
                <a:ln w="9525">
                  <a:solidFill>
                    <a:schemeClr val="accent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97" name="AutoShape 382">
                  <a:extLst>
                    <a:ext uri="{FF2B5EF4-FFF2-40B4-BE49-F238E27FC236}">
                      <a16:creationId xmlns:a16="http://schemas.microsoft.com/office/drawing/2014/main" id="{02AAB8EE-4B5F-6CA3-E529-39E6CF50571B}"/>
                    </a:ext>
                  </a:extLst>
                </p:cNvPr>
                <p:cNvCxnSpPr>
                  <a:cxnSpLocks noChangeShapeType="1"/>
                  <a:stCxn id="195" idx="1"/>
                  <a:endCxn id="196" idx="0"/>
                </p:cNvCxnSpPr>
                <p:nvPr/>
              </p:nvCxnSpPr>
              <p:spPr bwMode="auto">
                <a:xfrm>
                  <a:off x="1518" y="1536"/>
                  <a:ext cx="0" cy="32"/>
                </a:xfrm>
                <a:prstGeom prst="straightConnector1">
                  <a:avLst/>
                </a:prstGeom>
                <a:noFill/>
                <a:ln w="9525">
                  <a:solidFill>
                    <a:schemeClr val="accent6"/>
                  </a:solidFill>
                  <a:round/>
                  <a:headEnd/>
                  <a:tailEnd/>
                </a:ln>
                <a:extLst>
                  <a:ext uri="{909E8E84-426E-40DD-AFC4-6F175D3DCCD1}">
                    <a14:hiddenFill xmlns:a14="http://schemas.microsoft.com/office/drawing/2010/main">
                      <a:noFill/>
                    </a14:hiddenFill>
                  </a:ext>
                </a:extLst>
              </p:spPr>
            </p:cxnSp>
          </p:grpSp>
        </p:grpSp>
        <p:grpSp>
          <p:nvGrpSpPr>
            <p:cNvPr id="20" name="Group 406">
              <a:extLst>
                <a:ext uri="{FF2B5EF4-FFF2-40B4-BE49-F238E27FC236}">
                  <a16:creationId xmlns:a16="http://schemas.microsoft.com/office/drawing/2014/main" id="{D6A30B69-F220-B965-5CEE-420E726554E6}"/>
                </a:ext>
              </a:extLst>
            </p:cNvPr>
            <p:cNvGrpSpPr>
              <a:grpSpLocks/>
            </p:cNvGrpSpPr>
            <p:nvPr/>
          </p:nvGrpSpPr>
          <p:grpSpPr bwMode="auto">
            <a:xfrm>
              <a:off x="1951209" y="3626085"/>
              <a:ext cx="381000" cy="336550"/>
              <a:chOff x="104" y="2740"/>
              <a:chExt cx="240" cy="212"/>
            </a:xfrm>
          </p:grpSpPr>
          <p:sp>
            <p:nvSpPr>
              <p:cNvPr id="75" name="AutoShape 407">
                <a:extLst>
                  <a:ext uri="{FF2B5EF4-FFF2-40B4-BE49-F238E27FC236}">
                    <a16:creationId xmlns:a16="http://schemas.microsoft.com/office/drawing/2014/main" id="{ACD23D91-3653-3FFB-2750-5A4236D4EF8F}"/>
                  </a:ext>
                </a:extLst>
              </p:cNvPr>
              <p:cNvSpPr>
                <a:spLocks/>
              </p:cNvSpPr>
              <p:nvPr/>
            </p:nvSpPr>
            <p:spPr bwMode="auto">
              <a:xfrm rot="-5400000">
                <a:off x="215" y="2629"/>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7" name="AutoShape 408">
                <a:extLst>
                  <a:ext uri="{FF2B5EF4-FFF2-40B4-BE49-F238E27FC236}">
                    <a16:creationId xmlns:a16="http://schemas.microsoft.com/office/drawing/2014/main" id="{2494E3D0-2A82-7237-F867-41468C81BC90}"/>
                  </a:ext>
                </a:extLst>
              </p:cNvPr>
              <p:cNvSpPr>
                <a:spLocks/>
              </p:cNvSpPr>
              <p:nvPr/>
            </p:nvSpPr>
            <p:spPr bwMode="auto">
              <a:xfrm rot="-5400000">
                <a:off x="215" y="2638"/>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8" name="AutoShape 409">
                <a:extLst>
                  <a:ext uri="{FF2B5EF4-FFF2-40B4-BE49-F238E27FC236}">
                    <a16:creationId xmlns:a16="http://schemas.microsoft.com/office/drawing/2014/main" id="{D7042640-1031-AE2F-AE99-067D7E2216B1}"/>
                  </a:ext>
                </a:extLst>
              </p:cNvPr>
              <p:cNvSpPr>
                <a:spLocks/>
              </p:cNvSpPr>
              <p:nvPr/>
            </p:nvSpPr>
            <p:spPr bwMode="auto">
              <a:xfrm rot="-5400000">
                <a:off x="215" y="2647"/>
                <a:ext cx="18" cy="240"/>
              </a:xfrm>
              <a:prstGeom prst="leftBracket">
                <a:avLst>
                  <a:gd name="adj" fmla="val 111111"/>
                </a:avLst>
              </a:prstGeom>
              <a:noFill/>
              <a:ln w="9525">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9" name="AutoShape 410">
                <a:extLst>
                  <a:ext uri="{FF2B5EF4-FFF2-40B4-BE49-F238E27FC236}">
                    <a16:creationId xmlns:a16="http://schemas.microsoft.com/office/drawing/2014/main" id="{A85A8FD8-6F53-0EBA-B33E-8672ED0579AF}"/>
                  </a:ext>
                </a:extLst>
              </p:cNvPr>
              <p:cNvSpPr>
                <a:spLocks noChangeArrowheads="1"/>
              </p:cNvSpPr>
              <p:nvPr/>
            </p:nvSpPr>
            <p:spPr bwMode="auto">
              <a:xfrm>
                <a:off x="104" y="2787"/>
                <a:ext cx="240" cy="165"/>
              </a:xfrm>
              <a:prstGeom prst="flowChartMerge">
                <a:avLst/>
              </a:prstGeom>
              <a:noFill/>
              <a:ln w="952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0" name="Group 411">
                <a:extLst>
                  <a:ext uri="{FF2B5EF4-FFF2-40B4-BE49-F238E27FC236}">
                    <a16:creationId xmlns:a16="http://schemas.microsoft.com/office/drawing/2014/main" id="{194A1131-3832-0D7D-90D9-8DE15E133AFE}"/>
                  </a:ext>
                </a:extLst>
              </p:cNvPr>
              <p:cNvGrpSpPr>
                <a:grpSpLocks/>
              </p:cNvGrpSpPr>
              <p:nvPr/>
            </p:nvGrpSpPr>
            <p:grpSpPr bwMode="auto">
              <a:xfrm>
                <a:off x="166" y="2796"/>
                <a:ext cx="156" cy="64"/>
                <a:chOff x="1440" y="1520"/>
                <a:chExt cx="156" cy="64"/>
              </a:xfrm>
            </p:grpSpPr>
            <p:sp>
              <p:nvSpPr>
                <p:cNvPr id="81" name="Line 412">
                  <a:extLst>
                    <a:ext uri="{FF2B5EF4-FFF2-40B4-BE49-F238E27FC236}">
                      <a16:creationId xmlns:a16="http://schemas.microsoft.com/office/drawing/2014/main" id="{278055D9-3057-769C-25BF-C6A7C23D10C7}"/>
                    </a:ext>
                  </a:extLst>
                </p:cNvPr>
                <p:cNvSpPr>
                  <a:spLocks noChangeShapeType="1"/>
                </p:cNvSpPr>
                <p:nvPr/>
              </p:nvSpPr>
              <p:spPr bwMode="auto">
                <a:xfrm flipV="1">
                  <a:off x="1440" y="1536"/>
                  <a:ext cx="78" cy="48"/>
                </a:xfrm>
                <a:prstGeom prst="line">
                  <a:avLst/>
                </a:prstGeom>
                <a:noFill/>
                <a:ln w="9525">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 name="Line 413">
                  <a:extLst>
                    <a:ext uri="{FF2B5EF4-FFF2-40B4-BE49-F238E27FC236}">
                      <a16:creationId xmlns:a16="http://schemas.microsoft.com/office/drawing/2014/main" id="{7563865B-AE1D-8744-D2F9-D7FDF2159B67}"/>
                    </a:ext>
                  </a:extLst>
                </p:cNvPr>
                <p:cNvSpPr>
                  <a:spLocks noChangeShapeType="1"/>
                </p:cNvSpPr>
                <p:nvPr/>
              </p:nvSpPr>
              <p:spPr bwMode="auto">
                <a:xfrm flipV="1">
                  <a:off x="1518" y="1520"/>
                  <a:ext cx="78" cy="48"/>
                </a:xfrm>
                <a:prstGeom prst="line">
                  <a:avLst/>
                </a:prstGeom>
                <a:noFill/>
                <a:ln w="9525">
                  <a:solidFill>
                    <a:schemeClr val="accent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84" name="AutoShape 414">
                  <a:extLst>
                    <a:ext uri="{FF2B5EF4-FFF2-40B4-BE49-F238E27FC236}">
                      <a16:creationId xmlns:a16="http://schemas.microsoft.com/office/drawing/2014/main" id="{F31816B4-8C00-A220-4E48-3B94A29AD963}"/>
                    </a:ext>
                  </a:extLst>
                </p:cNvPr>
                <p:cNvCxnSpPr>
                  <a:cxnSpLocks noChangeShapeType="1"/>
                  <a:stCxn id="81" idx="1"/>
                  <a:endCxn id="82" idx="0"/>
                </p:cNvCxnSpPr>
                <p:nvPr/>
              </p:nvCxnSpPr>
              <p:spPr bwMode="auto">
                <a:xfrm>
                  <a:off x="1518" y="1536"/>
                  <a:ext cx="0" cy="32"/>
                </a:xfrm>
                <a:prstGeom prst="straightConnector1">
                  <a:avLst/>
                </a:prstGeom>
                <a:noFill/>
                <a:ln w="9525">
                  <a:solidFill>
                    <a:schemeClr val="accent6"/>
                  </a:solidFill>
                  <a:round/>
                  <a:headEnd/>
                  <a:tailEnd/>
                </a:ln>
                <a:extLst>
                  <a:ext uri="{909E8E84-426E-40DD-AFC4-6F175D3DCCD1}">
                    <a14:hiddenFill xmlns:a14="http://schemas.microsoft.com/office/drawing/2010/main">
                      <a:noFill/>
                    </a14:hiddenFill>
                  </a:ext>
                </a:extLst>
              </p:spPr>
            </p:cxnSp>
          </p:grpSp>
        </p:grpSp>
        <p:sp>
          <p:nvSpPr>
            <p:cNvPr id="30" name="Text Box 430">
              <a:extLst>
                <a:ext uri="{FF2B5EF4-FFF2-40B4-BE49-F238E27FC236}">
                  <a16:creationId xmlns:a16="http://schemas.microsoft.com/office/drawing/2014/main" id="{D940666C-56B9-CBC6-47AB-1C0E988E5F4C}"/>
                </a:ext>
              </a:extLst>
            </p:cNvPr>
            <p:cNvSpPr txBox="1">
              <a:spLocks noChangeArrowheads="1"/>
            </p:cNvSpPr>
            <p:nvPr/>
          </p:nvSpPr>
          <p:spPr bwMode="auto">
            <a:xfrm>
              <a:off x="2579859" y="3086335"/>
              <a:ext cx="679450" cy="29154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Visually Managed Queue</a:t>
              </a:r>
            </a:p>
          </p:txBody>
        </p:sp>
        <p:sp>
          <p:nvSpPr>
            <p:cNvPr id="31" name="Line 431">
              <a:extLst>
                <a:ext uri="{FF2B5EF4-FFF2-40B4-BE49-F238E27FC236}">
                  <a16:creationId xmlns:a16="http://schemas.microsoft.com/office/drawing/2014/main" id="{070219AE-F9A2-0EDA-FD67-E3052EA5FAD6}"/>
                </a:ext>
              </a:extLst>
            </p:cNvPr>
            <p:cNvSpPr>
              <a:spLocks noChangeShapeType="1"/>
            </p:cNvSpPr>
            <p:nvPr/>
          </p:nvSpPr>
          <p:spPr bwMode="auto">
            <a:xfrm>
              <a:off x="3157709" y="3372085"/>
              <a:ext cx="279400" cy="1841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 name="Line 432">
              <a:extLst>
                <a:ext uri="{FF2B5EF4-FFF2-40B4-BE49-F238E27FC236}">
                  <a16:creationId xmlns:a16="http://schemas.microsoft.com/office/drawing/2014/main" id="{82DF7DCB-0275-7B6F-2990-EFC2747D14B7}"/>
                </a:ext>
              </a:extLst>
            </p:cNvPr>
            <p:cNvSpPr>
              <a:spLocks noChangeShapeType="1"/>
            </p:cNvSpPr>
            <p:nvPr/>
          </p:nvSpPr>
          <p:spPr bwMode="auto">
            <a:xfrm flipH="1">
              <a:off x="2389359" y="3372085"/>
              <a:ext cx="273050" cy="2095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3" name="Slide Number Placeholder 2">
            <a:extLst>
              <a:ext uri="{FF2B5EF4-FFF2-40B4-BE49-F238E27FC236}">
                <a16:creationId xmlns:a16="http://schemas.microsoft.com/office/drawing/2014/main" id="{E6815F2C-3E2A-703F-9895-9ECB1880085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94</a:t>
            </a:fld>
            <a:endParaRPr lang="en-US" dirty="0"/>
          </a:p>
        </p:txBody>
      </p:sp>
      <p:sp>
        <p:nvSpPr>
          <p:cNvPr id="204" name="Text Box 155">
            <a:extLst>
              <a:ext uri="{FF2B5EF4-FFF2-40B4-BE49-F238E27FC236}">
                <a16:creationId xmlns:a16="http://schemas.microsoft.com/office/drawing/2014/main" id="{0C351641-96F8-5774-0365-D9EF9CAEBBDF}"/>
              </a:ext>
            </a:extLst>
          </p:cNvPr>
          <p:cNvSpPr txBox="1">
            <a:spLocks noChangeArrowheads="1"/>
          </p:cNvSpPr>
          <p:nvPr/>
        </p:nvSpPr>
        <p:spPr bwMode="auto">
          <a:xfrm>
            <a:off x="3531702" y="5645444"/>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spTree>
    <p:extLst>
      <p:ext uri="{BB962C8B-B14F-4D97-AF65-F5344CB8AC3E}">
        <p14:creationId xmlns:p14="http://schemas.microsoft.com/office/powerpoint/2010/main" val="305551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2276760" y="24824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531702" y="5645444"/>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77" name="Slide Number Placeholder 2">
            <a:extLst>
              <a:ext uri="{FF2B5EF4-FFF2-40B4-BE49-F238E27FC236}">
                <a16:creationId xmlns:a16="http://schemas.microsoft.com/office/drawing/2014/main" id="{6B8CDE40-39BB-ED75-47A5-68FE6F04E67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95</a:t>
            </a:fld>
            <a:endParaRPr lang="en-US" dirty="0"/>
          </a:p>
        </p:txBody>
      </p:sp>
    </p:spTree>
    <p:extLst>
      <p:ext uri="{BB962C8B-B14F-4D97-AF65-F5344CB8AC3E}">
        <p14:creationId xmlns:p14="http://schemas.microsoft.com/office/powerpoint/2010/main" val="2710139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96</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101989265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32">
            <a:extLst>
              <a:ext uri="{FF2B5EF4-FFF2-40B4-BE49-F238E27FC236}">
                <a16:creationId xmlns:a16="http://schemas.microsoft.com/office/drawing/2014/main" id="{4542BCBC-9563-CE26-23C9-D212057EBB6C}"/>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t>
              </a:r>
              <a:br>
                <a:rPr lang="en-US" altLang="en-US" sz="600" b="0" dirty="0">
                  <a:latin typeface="Roboto" panose="02000000000000000000" pitchFamily="2" charset="0"/>
                  <a:ea typeface="Roboto" panose="02000000000000000000" pitchFamily="2" charset="0"/>
                  <a:cs typeface="Roboto" panose="02000000000000000000" pitchFamily="2" charset="0"/>
                </a:rPr>
              </a:br>
              <a:r>
                <a:rPr lang="en-US" altLang="en-US" sz="600" b="0" dirty="0">
                  <a:latin typeface="Roboto" panose="02000000000000000000" pitchFamily="2" charset="0"/>
                  <a:ea typeface="Roboto" panose="02000000000000000000" pitchFamily="2" charset="0"/>
                  <a:cs typeface="Roboto" panose="02000000000000000000" pitchFamily="2" charset="0"/>
                </a:rPr>
                <a:t>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grpSp>
        <p:nvGrpSpPr>
          <p:cNvPr id="4" name="Group 311">
            <a:extLst>
              <a:ext uri="{FF2B5EF4-FFF2-40B4-BE49-F238E27FC236}">
                <a16:creationId xmlns:a16="http://schemas.microsoft.com/office/drawing/2014/main" id="{62CD052E-8C38-230D-0F52-666764D88FDD}"/>
              </a:ext>
            </a:extLst>
          </p:cNvPr>
          <p:cNvGrpSpPr>
            <a:grpSpLocks/>
          </p:cNvGrpSpPr>
          <p:nvPr/>
        </p:nvGrpSpPr>
        <p:grpSpPr bwMode="auto">
          <a:xfrm>
            <a:off x="9695824" y="5530007"/>
            <a:ext cx="963612" cy="481013"/>
            <a:chOff x="4895" y="3444"/>
            <a:chExt cx="607" cy="303"/>
          </a:xfrm>
        </p:grpSpPr>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4930" y="3501"/>
              <a:ext cx="51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a:p>
            <a:p>
              <a:pPr algn="r">
                <a:lnSpc>
                  <a:spcPct val="100000"/>
                </a:lnSpc>
                <a:spcBef>
                  <a:spcPct val="30000"/>
                </a:spcBef>
                <a:spcAft>
                  <a:spcPct val="0"/>
                </a:spcAft>
                <a:buClrTx/>
                <a:buSzTx/>
                <a:buFontTx/>
                <a:buNone/>
              </a:pPr>
              <a:r>
                <a:rPr lang="en-US" altLang="en-US" sz="70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4907" y="3602"/>
              <a:ext cx="496"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4895" y="3478"/>
              <a:ext cx="533" cy="269"/>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a:off x="4932" y="3444"/>
              <a:ext cx="570"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L.T. =  6.8 days</a:t>
              </a:r>
              <a:r>
                <a:rPr lang="en-US" altLang="en-US" sz="1400" dirty="0">
                  <a:solidFill>
                    <a:srgbClr val="FF0000"/>
                  </a:solidFill>
                </a:rPr>
                <a:t> </a:t>
              </a:r>
              <a:endParaRPr lang="en-US" altLang="en-US" sz="1400" b="0" dirty="0">
                <a:solidFill>
                  <a:srgbClr val="FF0000"/>
                </a:solidFill>
              </a:endParaRPr>
            </a:p>
          </p:txBody>
        </p:sp>
      </p:gr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76" name="Rectangle 181">
            <a:extLst>
              <a:ext uri="{FF2B5EF4-FFF2-40B4-BE49-F238E27FC236}">
                <a16:creationId xmlns:a16="http://schemas.microsoft.com/office/drawing/2014/main" id="{AC2B25D3-C212-6991-F1FC-2BCBA583A2FA}"/>
              </a:ext>
            </a:extLst>
          </p:cNvPr>
          <p:cNvSpPr>
            <a:spLocks noChangeArrowheads="1"/>
          </p:cNvSpPr>
          <p:nvPr/>
        </p:nvSpPr>
        <p:spPr bwMode="auto">
          <a:xfrm>
            <a:off x="2739756" y="1434289"/>
            <a:ext cx="5482349" cy="1624139"/>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buClrTx/>
              <a:buSzTx/>
              <a:buFontTx/>
              <a:buNone/>
            </a:pPr>
            <a:r>
              <a:rPr lang="en-US" altLang="en-US" sz="1200" dirty="0"/>
              <a:t>Re-assess manpower requirements (against Takt time) </a:t>
            </a:r>
            <a:br>
              <a:rPr lang="en-US" altLang="en-US" sz="1200" dirty="0"/>
            </a:br>
            <a:r>
              <a:rPr lang="en-US" altLang="en-US" sz="1200" dirty="0"/>
              <a:t>where operations are combined</a:t>
            </a:r>
          </a:p>
          <a:p>
            <a:pPr>
              <a:lnSpc>
                <a:spcPct val="100000"/>
              </a:lnSpc>
              <a:spcBef>
                <a:spcPct val="0"/>
              </a:spcBef>
              <a:buClrTx/>
              <a:buSzTx/>
              <a:buFontTx/>
              <a:buNone/>
            </a:pPr>
            <a:r>
              <a:rPr lang="en-US" altLang="en-US" sz="1200" dirty="0"/>
              <a:t>Assess other process capacity vs. Takt time to identify </a:t>
            </a:r>
            <a:br>
              <a:rPr lang="en-US" altLang="en-US" sz="1200" dirty="0"/>
            </a:br>
            <a:r>
              <a:rPr lang="en-US" altLang="en-US" sz="1200" dirty="0"/>
              <a:t>potential* changes to manpower</a:t>
            </a:r>
          </a:p>
          <a:p>
            <a:pPr>
              <a:lnSpc>
                <a:spcPct val="100000"/>
              </a:lnSpc>
              <a:spcBef>
                <a:spcPct val="0"/>
              </a:spcBef>
              <a:buClrTx/>
              <a:buSzTx/>
              <a:buFontTx/>
              <a:buNone/>
            </a:pPr>
            <a:r>
              <a:rPr lang="en-US" altLang="en-US" sz="1200" dirty="0"/>
              <a:t>For NHC, the Receipt process can be reduced by 1 person</a:t>
            </a:r>
          </a:p>
          <a:p>
            <a:pPr>
              <a:lnSpc>
                <a:spcPct val="100000"/>
              </a:lnSpc>
              <a:spcBef>
                <a:spcPct val="0"/>
              </a:spcBef>
              <a:buClrTx/>
              <a:buSzTx/>
              <a:buFontTx/>
              <a:buNone/>
            </a:pPr>
            <a:r>
              <a:rPr lang="en-US" altLang="en-US" sz="1200" dirty="0"/>
              <a:t>Both Underwrite and Package Generation may require </a:t>
            </a:r>
            <a:br>
              <a:rPr lang="en-US" altLang="en-US" sz="1200" dirty="0"/>
            </a:br>
            <a:r>
              <a:rPr lang="en-US" altLang="en-US" sz="1200" dirty="0"/>
              <a:t>additional resources</a:t>
            </a:r>
          </a:p>
        </p:txBody>
      </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1337653" y="4427664"/>
            <a:ext cx="1333500" cy="774700"/>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grpSp>
        <p:nvGrpSpPr>
          <p:cNvPr id="105" name="Group 104">
            <a:extLst>
              <a:ext uri="{FF2B5EF4-FFF2-40B4-BE49-F238E27FC236}">
                <a16:creationId xmlns:a16="http://schemas.microsoft.com/office/drawing/2014/main" id="{B360634B-8682-C30C-457D-1AE81EC63E01}"/>
              </a:ext>
            </a:extLst>
          </p:cNvPr>
          <p:cNvGrpSpPr/>
          <p:nvPr/>
        </p:nvGrpSpPr>
        <p:grpSpPr>
          <a:xfrm>
            <a:off x="940249" y="302538"/>
            <a:ext cx="6219503" cy="311932"/>
            <a:chOff x="940249" y="302538"/>
            <a:chExt cx="6219503" cy="311932"/>
          </a:xfrm>
        </p:grpSpPr>
        <p:sp>
          <p:nvSpPr>
            <p:cNvPr id="106" name="TextBox 105">
              <a:extLst>
                <a:ext uri="{FF2B5EF4-FFF2-40B4-BE49-F238E27FC236}">
                  <a16:creationId xmlns:a16="http://schemas.microsoft.com/office/drawing/2014/main" id="{0AE5A022-FB70-D3CE-D8FA-5302C4E91713}"/>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07" name="AutoShape 9">
              <a:extLst>
                <a:ext uri="{FF2B5EF4-FFF2-40B4-BE49-F238E27FC236}">
                  <a16:creationId xmlns:a16="http://schemas.microsoft.com/office/drawing/2014/main" id="{40797104-6AEB-CFD2-CDB6-853DD5FDFBD7}"/>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8" name="AutoShape 9">
              <a:extLst>
                <a:ext uri="{FF2B5EF4-FFF2-40B4-BE49-F238E27FC236}">
                  <a16:creationId xmlns:a16="http://schemas.microsoft.com/office/drawing/2014/main" id="{482EA149-742B-A05A-9632-4D676BDE184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9" name="AutoShape 9">
              <a:extLst>
                <a:ext uri="{FF2B5EF4-FFF2-40B4-BE49-F238E27FC236}">
                  <a16:creationId xmlns:a16="http://schemas.microsoft.com/office/drawing/2014/main" id="{798310CD-58FA-20EE-6425-C2B49BEF9809}"/>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0" name="AutoShape 9">
              <a:extLst>
                <a:ext uri="{FF2B5EF4-FFF2-40B4-BE49-F238E27FC236}">
                  <a16:creationId xmlns:a16="http://schemas.microsoft.com/office/drawing/2014/main" id="{871C8694-711B-EEFC-2875-8C06AB8D77A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1" name="AutoShape 11">
              <a:extLst>
                <a:ext uri="{FF2B5EF4-FFF2-40B4-BE49-F238E27FC236}">
                  <a16:creationId xmlns:a16="http://schemas.microsoft.com/office/drawing/2014/main" id="{6D5E3087-6EBB-6E7C-6A04-F3E9A96D2689}"/>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2" name="Group 236">
            <a:extLst>
              <a:ext uri="{FF2B5EF4-FFF2-40B4-BE49-F238E27FC236}">
                <a16:creationId xmlns:a16="http://schemas.microsoft.com/office/drawing/2014/main" id="{CF8FC307-3498-5D38-25ED-8CD3946A8D43}"/>
              </a:ext>
            </a:extLst>
          </p:cNvPr>
          <p:cNvGrpSpPr>
            <a:grpSpLocks/>
          </p:cNvGrpSpPr>
          <p:nvPr/>
        </p:nvGrpSpPr>
        <p:grpSpPr bwMode="auto">
          <a:xfrm>
            <a:off x="3090839" y="4341499"/>
            <a:ext cx="2559050" cy="1431925"/>
            <a:chOff x="1569" y="2719"/>
            <a:chExt cx="1612" cy="902"/>
          </a:xfrm>
        </p:grpSpPr>
        <p:sp>
          <p:nvSpPr>
            <p:cNvPr id="14" name="Rectangle 237">
              <a:extLst>
                <a:ext uri="{FF2B5EF4-FFF2-40B4-BE49-F238E27FC236}">
                  <a16:creationId xmlns:a16="http://schemas.microsoft.com/office/drawing/2014/main" id="{D36326E9-D1AF-4E04-CA17-894C215B5BED}"/>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5" name="AutoShape 238">
              <a:extLst>
                <a:ext uri="{FF2B5EF4-FFF2-40B4-BE49-F238E27FC236}">
                  <a16:creationId xmlns:a16="http://schemas.microsoft.com/office/drawing/2014/main" id="{D41F235F-45A2-0903-26AC-BB130D7A6134}"/>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6" name="Group 239">
              <a:extLst>
                <a:ext uri="{FF2B5EF4-FFF2-40B4-BE49-F238E27FC236}">
                  <a16:creationId xmlns:a16="http://schemas.microsoft.com/office/drawing/2014/main" id="{A6F4C89D-3BCA-2E27-62D1-BF623078EDCF}"/>
                </a:ext>
              </a:extLst>
            </p:cNvPr>
            <p:cNvGrpSpPr>
              <a:grpSpLocks/>
            </p:cNvGrpSpPr>
            <p:nvPr/>
          </p:nvGrpSpPr>
          <p:grpSpPr bwMode="auto">
            <a:xfrm>
              <a:off x="2364" y="2903"/>
              <a:ext cx="215" cy="240"/>
              <a:chOff x="4918" y="3424"/>
              <a:chExt cx="240" cy="240"/>
            </a:xfrm>
          </p:grpSpPr>
          <p:sp>
            <p:nvSpPr>
              <p:cNvPr id="17" name="Oval 240">
                <a:extLst>
                  <a:ext uri="{FF2B5EF4-FFF2-40B4-BE49-F238E27FC236}">
                    <a16:creationId xmlns:a16="http://schemas.microsoft.com/office/drawing/2014/main" id="{382AF13D-7A1F-35BE-13EA-DB3CBB7EDFC4}"/>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 name="Line 241">
                <a:extLst>
                  <a:ext uri="{FF2B5EF4-FFF2-40B4-BE49-F238E27FC236}">
                    <a16:creationId xmlns:a16="http://schemas.microsoft.com/office/drawing/2014/main" id="{DDBD5977-E2B1-0AEC-28C1-76780987B645}"/>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99" name="Group 198">
            <a:extLst>
              <a:ext uri="{FF2B5EF4-FFF2-40B4-BE49-F238E27FC236}">
                <a16:creationId xmlns:a16="http://schemas.microsoft.com/office/drawing/2014/main" id="{73AA1766-8E71-5F4D-AFF8-FF1929D51EEE}"/>
              </a:ext>
            </a:extLst>
          </p:cNvPr>
          <p:cNvGrpSpPr/>
          <p:nvPr/>
        </p:nvGrpSpPr>
        <p:grpSpPr>
          <a:xfrm>
            <a:off x="6046078" y="4569755"/>
            <a:ext cx="2378744" cy="456791"/>
            <a:chOff x="6104109" y="3626111"/>
            <a:chExt cx="1752600" cy="336552"/>
          </a:xfrm>
        </p:grpSpPr>
        <p:grpSp>
          <p:nvGrpSpPr>
            <p:cNvPr id="19" name="Group 397">
              <a:extLst>
                <a:ext uri="{FF2B5EF4-FFF2-40B4-BE49-F238E27FC236}">
                  <a16:creationId xmlns:a16="http://schemas.microsoft.com/office/drawing/2014/main" id="{B27BE8CC-B97E-F064-0249-7CB7E0479760}"/>
                </a:ext>
              </a:extLst>
            </p:cNvPr>
            <p:cNvGrpSpPr>
              <a:grpSpLocks/>
            </p:cNvGrpSpPr>
            <p:nvPr/>
          </p:nvGrpSpPr>
          <p:grpSpPr bwMode="auto">
            <a:xfrm>
              <a:off x="6104109" y="3626111"/>
              <a:ext cx="381000" cy="336552"/>
              <a:chOff x="104" y="2740"/>
              <a:chExt cx="240" cy="212"/>
            </a:xfrm>
          </p:grpSpPr>
          <p:sp>
            <p:nvSpPr>
              <p:cNvPr id="86" name="AutoShape 398">
                <a:extLst>
                  <a:ext uri="{FF2B5EF4-FFF2-40B4-BE49-F238E27FC236}">
                    <a16:creationId xmlns:a16="http://schemas.microsoft.com/office/drawing/2014/main" id="{2F1BD9DA-CE6C-636E-AE30-82B6A999AD4B}"/>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7" name="AutoShape 399">
                <a:extLst>
                  <a:ext uri="{FF2B5EF4-FFF2-40B4-BE49-F238E27FC236}">
                    <a16:creationId xmlns:a16="http://schemas.microsoft.com/office/drawing/2014/main" id="{1164253C-84F8-E060-3517-FFFECB96B814}"/>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8" name="AutoShape 400">
                <a:extLst>
                  <a:ext uri="{FF2B5EF4-FFF2-40B4-BE49-F238E27FC236}">
                    <a16:creationId xmlns:a16="http://schemas.microsoft.com/office/drawing/2014/main" id="{9D28C81A-C89A-20A1-4A50-BF9798E23498}"/>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9" name="AutoShape 401">
                <a:extLst>
                  <a:ext uri="{FF2B5EF4-FFF2-40B4-BE49-F238E27FC236}">
                    <a16:creationId xmlns:a16="http://schemas.microsoft.com/office/drawing/2014/main" id="{353C27D0-AA24-7EE3-C418-34695A16047D}"/>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90" name="Group 402">
                <a:extLst>
                  <a:ext uri="{FF2B5EF4-FFF2-40B4-BE49-F238E27FC236}">
                    <a16:creationId xmlns:a16="http://schemas.microsoft.com/office/drawing/2014/main" id="{4D2C2E70-2480-AC54-6E7D-926A391E0EC9}"/>
                  </a:ext>
                </a:extLst>
              </p:cNvPr>
              <p:cNvGrpSpPr>
                <a:grpSpLocks/>
              </p:cNvGrpSpPr>
              <p:nvPr/>
            </p:nvGrpSpPr>
            <p:grpSpPr bwMode="auto">
              <a:xfrm>
                <a:off x="166" y="2796"/>
                <a:ext cx="156" cy="64"/>
                <a:chOff x="1440" y="1520"/>
                <a:chExt cx="156" cy="64"/>
              </a:xfrm>
            </p:grpSpPr>
            <p:sp>
              <p:nvSpPr>
                <p:cNvPr id="103" name="Line 403">
                  <a:extLst>
                    <a:ext uri="{FF2B5EF4-FFF2-40B4-BE49-F238E27FC236}">
                      <a16:creationId xmlns:a16="http://schemas.microsoft.com/office/drawing/2014/main" id="{F89FEFEC-DD94-E20F-2661-9150A2588E88}"/>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 name="Line 404">
                  <a:extLst>
                    <a:ext uri="{FF2B5EF4-FFF2-40B4-BE49-F238E27FC236}">
                      <a16:creationId xmlns:a16="http://schemas.microsoft.com/office/drawing/2014/main" id="{26C04190-35D6-69A0-0BDA-50596EB3F14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13" name="AutoShape 405">
                  <a:extLst>
                    <a:ext uri="{FF2B5EF4-FFF2-40B4-BE49-F238E27FC236}">
                      <a16:creationId xmlns:a16="http://schemas.microsoft.com/office/drawing/2014/main" id="{351CD816-DA62-E8FE-85BA-EF3C3F44C247}"/>
                    </a:ext>
                  </a:extLst>
                </p:cNvPr>
                <p:cNvCxnSpPr>
                  <a:cxnSpLocks noChangeShapeType="1"/>
                  <a:stCxn id="103" idx="1"/>
                  <a:endCxn id="112"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21" name="Group 417">
              <a:extLst>
                <a:ext uri="{FF2B5EF4-FFF2-40B4-BE49-F238E27FC236}">
                  <a16:creationId xmlns:a16="http://schemas.microsoft.com/office/drawing/2014/main" id="{6D80F80D-2A36-67EB-20D7-36A1C6523016}"/>
                </a:ext>
              </a:extLst>
            </p:cNvPr>
            <p:cNvGrpSpPr>
              <a:grpSpLocks/>
            </p:cNvGrpSpPr>
            <p:nvPr/>
          </p:nvGrpSpPr>
          <p:grpSpPr bwMode="auto">
            <a:xfrm>
              <a:off x="7475709" y="3626111"/>
              <a:ext cx="381000" cy="336552"/>
              <a:chOff x="104" y="2740"/>
              <a:chExt cx="240" cy="212"/>
            </a:xfrm>
          </p:grpSpPr>
          <p:sp>
            <p:nvSpPr>
              <p:cNvPr id="33" name="AutoShape 418">
                <a:extLst>
                  <a:ext uri="{FF2B5EF4-FFF2-40B4-BE49-F238E27FC236}">
                    <a16:creationId xmlns:a16="http://schemas.microsoft.com/office/drawing/2014/main" id="{384097F8-A6AB-7D07-CB01-3E43981CD0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 name="AutoShape 419">
                <a:extLst>
                  <a:ext uri="{FF2B5EF4-FFF2-40B4-BE49-F238E27FC236}">
                    <a16:creationId xmlns:a16="http://schemas.microsoft.com/office/drawing/2014/main" id="{F732FFCF-C407-9AA1-FF7A-FBF44AB56D39}"/>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5" name="AutoShape 420">
                <a:extLst>
                  <a:ext uri="{FF2B5EF4-FFF2-40B4-BE49-F238E27FC236}">
                    <a16:creationId xmlns:a16="http://schemas.microsoft.com/office/drawing/2014/main" id="{B9918116-E883-CE4C-6184-E48EB6F8A64B}"/>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6" name="AutoShape 421">
                <a:extLst>
                  <a:ext uri="{FF2B5EF4-FFF2-40B4-BE49-F238E27FC236}">
                    <a16:creationId xmlns:a16="http://schemas.microsoft.com/office/drawing/2014/main" id="{119653C4-316E-AC6B-8E19-5DB6D4F7C39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7" name="Group 422">
                <a:extLst>
                  <a:ext uri="{FF2B5EF4-FFF2-40B4-BE49-F238E27FC236}">
                    <a16:creationId xmlns:a16="http://schemas.microsoft.com/office/drawing/2014/main" id="{195DC8DF-B881-1E65-FB06-5D7DAAD794A9}"/>
                  </a:ext>
                </a:extLst>
              </p:cNvPr>
              <p:cNvGrpSpPr>
                <a:grpSpLocks/>
              </p:cNvGrpSpPr>
              <p:nvPr/>
            </p:nvGrpSpPr>
            <p:grpSpPr bwMode="auto">
              <a:xfrm>
                <a:off x="166" y="2796"/>
                <a:ext cx="156" cy="64"/>
                <a:chOff x="1440" y="1520"/>
                <a:chExt cx="156" cy="64"/>
              </a:xfrm>
            </p:grpSpPr>
            <p:sp>
              <p:nvSpPr>
                <p:cNvPr id="38" name="Line 423">
                  <a:extLst>
                    <a:ext uri="{FF2B5EF4-FFF2-40B4-BE49-F238E27FC236}">
                      <a16:creationId xmlns:a16="http://schemas.microsoft.com/office/drawing/2014/main" id="{983CE8D9-BD9A-CDE5-79DF-12FEAF89C65D}"/>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24">
                  <a:extLst>
                    <a:ext uri="{FF2B5EF4-FFF2-40B4-BE49-F238E27FC236}">
                      <a16:creationId xmlns:a16="http://schemas.microsoft.com/office/drawing/2014/main" id="{21FAB5AB-AA59-519F-2080-F7EB8EAB2BB9}"/>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40" name="AutoShape 425">
                  <a:extLst>
                    <a:ext uri="{FF2B5EF4-FFF2-40B4-BE49-F238E27FC236}">
                      <a16:creationId xmlns:a16="http://schemas.microsoft.com/office/drawing/2014/main" id="{724583CB-79F1-BB46-4CD2-F9A441DBB2C1}"/>
                    </a:ext>
                  </a:extLst>
                </p:cNvPr>
                <p:cNvCxnSpPr>
                  <a:cxnSpLocks noChangeShapeType="1"/>
                  <a:stCxn id="38" idx="1"/>
                  <a:endCxn id="3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8" name="Group 197">
            <a:extLst>
              <a:ext uri="{FF2B5EF4-FFF2-40B4-BE49-F238E27FC236}">
                <a16:creationId xmlns:a16="http://schemas.microsoft.com/office/drawing/2014/main" id="{ECCB51E4-7C4C-3904-4669-EEF34E1749D5}"/>
              </a:ext>
            </a:extLst>
          </p:cNvPr>
          <p:cNvGrpSpPr/>
          <p:nvPr/>
        </p:nvGrpSpPr>
        <p:grpSpPr>
          <a:xfrm>
            <a:off x="683789" y="4505451"/>
            <a:ext cx="2348137" cy="447666"/>
            <a:chOff x="1951209" y="3626085"/>
            <a:chExt cx="1765300" cy="336550"/>
          </a:xfrm>
        </p:grpSpPr>
        <p:grpSp>
          <p:nvGrpSpPr>
            <p:cNvPr id="11" name="Group 383">
              <a:extLst>
                <a:ext uri="{FF2B5EF4-FFF2-40B4-BE49-F238E27FC236}">
                  <a16:creationId xmlns:a16="http://schemas.microsoft.com/office/drawing/2014/main" id="{780F9ED5-9799-F250-2E07-B87FAE17DBF6}"/>
                </a:ext>
              </a:extLst>
            </p:cNvPr>
            <p:cNvGrpSpPr>
              <a:grpSpLocks/>
            </p:cNvGrpSpPr>
            <p:nvPr/>
          </p:nvGrpSpPr>
          <p:grpSpPr bwMode="auto">
            <a:xfrm>
              <a:off x="3335509" y="3626085"/>
              <a:ext cx="381000" cy="336550"/>
              <a:chOff x="104" y="2740"/>
              <a:chExt cx="240" cy="212"/>
            </a:xfrm>
          </p:grpSpPr>
          <p:sp>
            <p:nvSpPr>
              <p:cNvPr id="115" name="AutoShape 371">
                <a:extLst>
                  <a:ext uri="{FF2B5EF4-FFF2-40B4-BE49-F238E27FC236}">
                    <a16:creationId xmlns:a16="http://schemas.microsoft.com/office/drawing/2014/main" id="{1E9127EF-801F-A5A8-42DB-B536D411279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1" name="AutoShape 372">
                <a:extLst>
                  <a:ext uri="{FF2B5EF4-FFF2-40B4-BE49-F238E27FC236}">
                    <a16:creationId xmlns:a16="http://schemas.microsoft.com/office/drawing/2014/main" id="{FA30E707-D5F7-4DCD-3028-D9D36E3EEA9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2" name="AutoShape 373">
                <a:extLst>
                  <a:ext uri="{FF2B5EF4-FFF2-40B4-BE49-F238E27FC236}">
                    <a16:creationId xmlns:a16="http://schemas.microsoft.com/office/drawing/2014/main" id="{F68D4D57-4FBE-AC17-455E-C04D0F2EF3F1}"/>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3" name="AutoShape 378">
                <a:extLst>
                  <a:ext uri="{FF2B5EF4-FFF2-40B4-BE49-F238E27FC236}">
                    <a16:creationId xmlns:a16="http://schemas.microsoft.com/office/drawing/2014/main" id="{3396952F-C0CC-652F-B5DB-E52029A00345}"/>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94" name="Group 379">
                <a:extLst>
                  <a:ext uri="{FF2B5EF4-FFF2-40B4-BE49-F238E27FC236}">
                    <a16:creationId xmlns:a16="http://schemas.microsoft.com/office/drawing/2014/main" id="{C10786E1-5C6B-5655-D9DF-C9B7614D5BB8}"/>
                  </a:ext>
                </a:extLst>
              </p:cNvPr>
              <p:cNvGrpSpPr>
                <a:grpSpLocks/>
              </p:cNvGrpSpPr>
              <p:nvPr/>
            </p:nvGrpSpPr>
            <p:grpSpPr bwMode="auto">
              <a:xfrm>
                <a:off x="166" y="2796"/>
                <a:ext cx="156" cy="64"/>
                <a:chOff x="1440" y="1520"/>
                <a:chExt cx="156" cy="64"/>
              </a:xfrm>
            </p:grpSpPr>
            <p:sp>
              <p:nvSpPr>
                <p:cNvPr id="195" name="Line 380">
                  <a:extLst>
                    <a:ext uri="{FF2B5EF4-FFF2-40B4-BE49-F238E27FC236}">
                      <a16:creationId xmlns:a16="http://schemas.microsoft.com/office/drawing/2014/main" id="{ADFA5C4A-158A-52A3-450B-68496D30AE7C}"/>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 name="Line 381">
                  <a:extLst>
                    <a:ext uri="{FF2B5EF4-FFF2-40B4-BE49-F238E27FC236}">
                      <a16:creationId xmlns:a16="http://schemas.microsoft.com/office/drawing/2014/main" id="{2B9843DF-52BC-6EB7-2380-61CC25B33C9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97" name="AutoShape 382">
                  <a:extLst>
                    <a:ext uri="{FF2B5EF4-FFF2-40B4-BE49-F238E27FC236}">
                      <a16:creationId xmlns:a16="http://schemas.microsoft.com/office/drawing/2014/main" id="{02AAB8EE-4B5F-6CA3-E529-39E6CF50571B}"/>
                    </a:ext>
                  </a:extLst>
                </p:cNvPr>
                <p:cNvCxnSpPr>
                  <a:cxnSpLocks noChangeShapeType="1"/>
                  <a:stCxn id="195" idx="1"/>
                  <a:endCxn id="196"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20" name="Group 406">
              <a:extLst>
                <a:ext uri="{FF2B5EF4-FFF2-40B4-BE49-F238E27FC236}">
                  <a16:creationId xmlns:a16="http://schemas.microsoft.com/office/drawing/2014/main" id="{D6A30B69-F220-B965-5CEE-420E726554E6}"/>
                </a:ext>
              </a:extLst>
            </p:cNvPr>
            <p:cNvGrpSpPr>
              <a:grpSpLocks/>
            </p:cNvGrpSpPr>
            <p:nvPr/>
          </p:nvGrpSpPr>
          <p:grpSpPr bwMode="auto">
            <a:xfrm>
              <a:off x="1951209" y="3626085"/>
              <a:ext cx="381000" cy="336550"/>
              <a:chOff x="104" y="2740"/>
              <a:chExt cx="240" cy="212"/>
            </a:xfrm>
          </p:grpSpPr>
          <p:sp>
            <p:nvSpPr>
              <p:cNvPr id="75" name="AutoShape 407">
                <a:extLst>
                  <a:ext uri="{FF2B5EF4-FFF2-40B4-BE49-F238E27FC236}">
                    <a16:creationId xmlns:a16="http://schemas.microsoft.com/office/drawing/2014/main" id="{ACD23D91-3653-3FFB-2750-5A4236D4EF8F}"/>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7" name="AutoShape 408">
                <a:extLst>
                  <a:ext uri="{FF2B5EF4-FFF2-40B4-BE49-F238E27FC236}">
                    <a16:creationId xmlns:a16="http://schemas.microsoft.com/office/drawing/2014/main" id="{2494E3D0-2A82-7237-F867-41468C81BC9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8" name="AutoShape 409">
                <a:extLst>
                  <a:ext uri="{FF2B5EF4-FFF2-40B4-BE49-F238E27FC236}">
                    <a16:creationId xmlns:a16="http://schemas.microsoft.com/office/drawing/2014/main" id="{D7042640-1031-AE2F-AE99-067D7E2216B1}"/>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9" name="AutoShape 410">
                <a:extLst>
                  <a:ext uri="{FF2B5EF4-FFF2-40B4-BE49-F238E27FC236}">
                    <a16:creationId xmlns:a16="http://schemas.microsoft.com/office/drawing/2014/main" id="{A85A8FD8-6F53-0EBA-B33E-8672ED0579AF}"/>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0" name="Group 411">
                <a:extLst>
                  <a:ext uri="{FF2B5EF4-FFF2-40B4-BE49-F238E27FC236}">
                    <a16:creationId xmlns:a16="http://schemas.microsoft.com/office/drawing/2014/main" id="{194A1131-3832-0D7D-90D9-8DE15E133AFE}"/>
                  </a:ext>
                </a:extLst>
              </p:cNvPr>
              <p:cNvGrpSpPr>
                <a:grpSpLocks/>
              </p:cNvGrpSpPr>
              <p:nvPr/>
            </p:nvGrpSpPr>
            <p:grpSpPr bwMode="auto">
              <a:xfrm>
                <a:off x="166" y="2796"/>
                <a:ext cx="156" cy="64"/>
                <a:chOff x="1440" y="1520"/>
                <a:chExt cx="156" cy="64"/>
              </a:xfrm>
            </p:grpSpPr>
            <p:sp>
              <p:nvSpPr>
                <p:cNvPr id="81" name="Line 412">
                  <a:extLst>
                    <a:ext uri="{FF2B5EF4-FFF2-40B4-BE49-F238E27FC236}">
                      <a16:creationId xmlns:a16="http://schemas.microsoft.com/office/drawing/2014/main" id="{278055D9-3057-769C-25BF-C6A7C23D10C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 name="Line 413">
                  <a:extLst>
                    <a:ext uri="{FF2B5EF4-FFF2-40B4-BE49-F238E27FC236}">
                      <a16:creationId xmlns:a16="http://schemas.microsoft.com/office/drawing/2014/main" id="{7563865B-AE1D-8744-D2F9-D7FDF2159B67}"/>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84" name="AutoShape 414">
                  <a:extLst>
                    <a:ext uri="{FF2B5EF4-FFF2-40B4-BE49-F238E27FC236}">
                      <a16:creationId xmlns:a16="http://schemas.microsoft.com/office/drawing/2014/main" id="{F31816B4-8C00-A220-4E48-3B94A29AD963}"/>
                    </a:ext>
                  </a:extLst>
                </p:cNvPr>
                <p:cNvCxnSpPr>
                  <a:cxnSpLocks noChangeShapeType="1"/>
                  <a:stCxn id="81" idx="1"/>
                  <a:endCxn id="82"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229" name="Group 228">
            <a:extLst>
              <a:ext uri="{FF2B5EF4-FFF2-40B4-BE49-F238E27FC236}">
                <a16:creationId xmlns:a16="http://schemas.microsoft.com/office/drawing/2014/main" id="{9DEB7C1A-A267-1BD4-7D26-44A966F86D8A}"/>
              </a:ext>
            </a:extLst>
          </p:cNvPr>
          <p:cNvGrpSpPr/>
          <p:nvPr/>
        </p:nvGrpSpPr>
        <p:grpSpPr>
          <a:xfrm>
            <a:off x="1477614" y="3464508"/>
            <a:ext cx="1085850" cy="704850"/>
            <a:chOff x="6692025" y="3044534"/>
            <a:chExt cx="1085850" cy="704850"/>
          </a:xfrm>
        </p:grpSpPr>
        <p:sp>
          <p:nvSpPr>
            <p:cNvPr id="225" name="Line 432">
              <a:extLst>
                <a:ext uri="{FF2B5EF4-FFF2-40B4-BE49-F238E27FC236}">
                  <a16:creationId xmlns:a16="http://schemas.microsoft.com/office/drawing/2014/main" id="{84623E67-3952-8E69-565F-BC81826EE429}"/>
                </a:ext>
              </a:extLst>
            </p:cNvPr>
            <p:cNvSpPr>
              <a:spLocks noChangeShapeType="1"/>
            </p:cNvSpPr>
            <p:nvPr/>
          </p:nvSpPr>
          <p:spPr bwMode="auto">
            <a:xfrm flipH="1">
              <a:off x="7206375" y="3463634"/>
              <a:ext cx="6350" cy="2857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6" name="Text Box 433">
              <a:extLst>
                <a:ext uri="{FF2B5EF4-FFF2-40B4-BE49-F238E27FC236}">
                  <a16:creationId xmlns:a16="http://schemas.microsoft.com/office/drawing/2014/main" id="{3B316FAF-5BE4-3B7D-1AE3-AE473B11B60C}"/>
                </a:ext>
              </a:extLst>
            </p:cNvPr>
            <p:cNvSpPr txBox="1">
              <a:spLocks noChangeArrowheads="1"/>
            </p:cNvSpPr>
            <p:nvPr/>
          </p:nvSpPr>
          <p:spPr bwMode="auto">
            <a:xfrm>
              <a:off x="6692025" y="3044534"/>
              <a:ext cx="1085850" cy="44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Reduce Staffing</a:t>
              </a:r>
            </a:p>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Implement Standard Work</a:t>
              </a:r>
            </a:p>
          </p:txBody>
        </p:sp>
      </p:grpSp>
      <p:grpSp>
        <p:nvGrpSpPr>
          <p:cNvPr id="230" name="Group 229">
            <a:extLst>
              <a:ext uri="{FF2B5EF4-FFF2-40B4-BE49-F238E27FC236}">
                <a16:creationId xmlns:a16="http://schemas.microsoft.com/office/drawing/2014/main" id="{39C6A6E5-E7D1-4D03-8052-F1ED6E2667CA}"/>
              </a:ext>
            </a:extLst>
          </p:cNvPr>
          <p:cNvGrpSpPr/>
          <p:nvPr/>
        </p:nvGrpSpPr>
        <p:grpSpPr>
          <a:xfrm>
            <a:off x="5717957" y="3398522"/>
            <a:ext cx="1085850" cy="1016000"/>
            <a:chOff x="10057525" y="2784184"/>
            <a:chExt cx="1085850" cy="1016000"/>
          </a:xfrm>
        </p:grpSpPr>
        <p:sp>
          <p:nvSpPr>
            <p:cNvPr id="224" name="Text Box 431">
              <a:extLst>
                <a:ext uri="{FF2B5EF4-FFF2-40B4-BE49-F238E27FC236}">
                  <a16:creationId xmlns:a16="http://schemas.microsoft.com/office/drawing/2014/main" id="{0560E62A-C217-B09D-D154-E64D81671664}"/>
                </a:ext>
              </a:extLst>
            </p:cNvPr>
            <p:cNvSpPr txBox="1">
              <a:spLocks noChangeArrowheads="1"/>
            </p:cNvSpPr>
            <p:nvPr/>
          </p:nvSpPr>
          <p:spPr bwMode="auto">
            <a:xfrm>
              <a:off x="10057525" y="2784184"/>
              <a:ext cx="1085850" cy="44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Evaluate Staffing</a:t>
              </a:r>
            </a:p>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Implement Standard Work</a:t>
              </a:r>
            </a:p>
          </p:txBody>
        </p:sp>
        <p:sp>
          <p:nvSpPr>
            <p:cNvPr id="227" name="Line 434">
              <a:extLst>
                <a:ext uri="{FF2B5EF4-FFF2-40B4-BE49-F238E27FC236}">
                  <a16:creationId xmlns:a16="http://schemas.microsoft.com/office/drawing/2014/main" id="{8547E97F-6737-18BA-4ED6-18962D1ECA93}"/>
                </a:ext>
              </a:extLst>
            </p:cNvPr>
            <p:cNvSpPr>
              <a:spLocks noChangeShapeType="1"/>
            </p:cNvSpPr>
            <p:nvPr/>
          </p:nvSpPr>
          <p:spPr bwMode="auto">
            <a:xfrm flipH="1">
              <a:off x="10203575" y="3215984"/>
              <a:ext cx="304800" cy="57150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8" name="Line 435">
              <a:extLst>
                <a:ext uri="{FF2B5EF4-FFF2-40B4-BE49-F238E27FC236}">
                  <a16:creationId xmlns:a16="http://schemas.microsoft.com/office/drawing/2014/main" id="{C79C70D3-80FC-C75E-F9C6-9E632E73A83B}"/>
                </a:ext>
              </a:extLst>
            </p:cNvPr>
            <p:cNvSpPr>
              <a:spLocks noChangeShapeType="1"/>
            </p:cNvSpPr>
            <p:nvPr/>
          </p:nvSpPr>
          <p:spPr bwMode="auto">
            <a:xfrm>
              <a:off x="10514725" y="3222334"/>
              <a:ext cx="558800" cy="577850"/>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231" name="Text Box 155">
            <a:extLst>
              <a:ext uri="{FF2B5EF4-FFF2-40B4-BE49-F238E27FC236}">
                <a16:creationId xmlns:a16="http://schemas.microsoft.com/office/drawing/2014/main" id="{9D6AEE8D-DFB3-814D-981B-04162A6908BB}"/>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32" name="Text Box 155">
            <a:extLst>
              <a:ext uri="{FF2B5EF4-FFF2-40B4-BE49-F238E27FC236}">
                <a16:creationId xmlns:a16="http://schemas.microsoft.com/office/drawing/2014/main" id="{614AAAF3-70DE-9194-6DBE-C1BE5AF75D24}"/>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33" name="Text Box 155">
            <a:extLst>
              <a:ext uri="{FF2B5EF4-FFF2-40B4-BE49-F238E27FC236}">
                <a16:creationId xmlns:a16="http://schemas.microsoft.com/office/drawing/2014/main" id="{EFAD4F1F-411A-76E2-EA86-0EE28C01AF6E}"/>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07" name="AutoShape 183">
            <a:extLst>
              <a:ext uri="{FF2B5EF4-FFF2-40B4-BE49-F238E27FC236}">
                <a16:creationId xmlns:a16="http://schemas.microsoft.com/office/drawing/2014/main" id="{B5285A0A-0D5D-1A23-5CD4-E2CB822D7BFB}"/>
              </a:ext>
            </a:extLst>
          </p:cNvPr>
          <p:cNvSpPr>
            <a:spLocks noChangeArrowheads="1"/>
          </p:cNvSpPr>
          <p:nvPr/>
        </p:nvSpPr>
        <p:spPr bwMode="auto">
          <a:xfrm>
            <a:off x="4867836" y="4472635"/>
            <a:ext cx="1333500" cy="774700"/>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21" name="AutoShape 183">
            <a:extLst>
              <a:ext uri="{FF2B5EF4-FFF2-40B4-BE49-F238E27FC236}">
                <a16:creationId xmlns:a16="http://schemas.microsoft.com/office/drawing/2014/main" id="{FBFF421D-FD5D-A9D2-BF7B-AD22F0C2E0DE}"/>
              </a:ext>
            </a:extLst>
          </p:cNvPr>
          <p:cNvSpPr>
            <a:spLocks noChangeArrowheads="1"/>
          </p:cNvSpPr>
          <p:nvPr/>
        </p:nvSpPr>
        <p:spPr bwMode="auto">
          <a:xfrm>
            <a:off x="6676146" y="4445244"/>
            <a:ext cx="1333500" cy="774700"/>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 name="Slide Number Placeholder 2">
            <a:extLst>
              <a:ext uri="{FF2B5EF4-FFF2-40B4-BE49-F238E27FC236}">
                <a16:creationId xmlns:a16="http://schemas.microsoft.com/office/drawing/2014/main" id="{C22CAF78-2C0A-791C-7A12-5B8143E7860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97</a:t>
            </a:fld>
            <a:endParaRPr lang="en-US" dirty="0"/>
          </a:p>
        </p:txBody>
      </p:sp>
      <p:sp>
        <p:nvSpPr>
          <p:cNvPr id="22" name="Text Box 155">
            <a:extLst>
              <a:ext uri="{FF2B5EF4-FFF2-40B4-BE49-F238E27FC236}">
                <a16:creationId xmlns:a16="http://schemas.microsoft.com/office/drawing/2014/main" id="{835A29B2-2625-F0C3-E312-B42D64521FCF}"/>
              </a:ext>
            </a:extLst>
          </p:cNvPr>
          <p:cNvSpPr txBox="1">
            <a:spLocks noChangeArrowheads="1"/>
          </p:cNvSpPr>
          <p:nvPr/>
        </p:nvSpPr>
        <p:spPr bwMode="auto">
          <a:xfrm>
            <a:off x="3531702" y="5645444"/>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spTree>
    <p:extLst>
      <p:ext uri="{BB962C8B-B14F-4D97-AF65-F5344CB8AC3E}">
        <p14:creationId xmlns:p14="http://schemas.microsoft.com/office/powerpoint/2010/main" val="2563469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 name="Rectangle 32">
            <a:extLst>
              <a:ext uri="{FF2B5EF4-FFF2-40B4-BE49-F238E27FC236}">
                <a16:creationId xmlns:a16="http://schemas.microsoft.com/office/drawing/2014/main" id="{88A13309-6CF4-D1AC-095D-BEB97FF6BBFD}"/>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3" name="Group 81">
            <a:extLst>
              <a:ext uri="{FF2B5EF4-FFF2-40B4-BE49-F238E27FC236}">
                <a16:creationId xmlns:a16="http://schemas.microsoft.com/office/drawing/2014/main" id="{3E48ACDC-9EFD-BA65-0DEA-04D64198CE75}"/>
              </a:ext>
            </a:extLst>
          </p:cNvPr>
          <p:cNvGrpSpPr>
            <a:grpSpLocks/>
          </p:cNvGrpSpPr>
          <p:nvPr/>
        </p:nvGrpSpPr>
        <p:grpSpPr bwMode="auto">
          <a:xfrm>
            <a:off x="2276760" y="2482444"/>
            <a:ext cx="1882776" cy="582614"/>
            <a:chOff x="1728" y="1674"/>
            <a:chExt cx="1186" cy="367"/>
          </a:xfrm>
        </p:grpSpPr>
        <p:grpSp>
          <p:nvGrpSpPr>
            <p:cNvPr id="11" name="Group 66">
              <a:extLst>
                <a:ext uri="{FF2B5EF4-FFF2-40B4-BE49-F238E27FC236}">
                  <a16:creationId xmlns:a16="http://schemas.microsoft.com/office/drawing/2014/main" id="{0A423DB7-62CA-5B90-1B71-A8C19791D52A}"/>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305C326E-9FBC-B50B-22C5-7B7C42AA4AC6}"/>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ECD180E1-268C-E3CC-DCF6-E8B66D189FCF}"/>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2E46A74-7A7E-01EE-3C3C-76F1110DBDBD}"/>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0BDF7D3E-1754-EC3D-6620-C862952E7CAA}"/>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90E58121-4F09-BFDC-8904-9A96A8A40F85}"/>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553064" y="5618527"/>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3" name="Slide Number Placeholder 2">
            <a:extLst>
              <a:ext uri="{FF2B5EF4-FFF2-40B4-BE49-F238E27FC236}">
                <a16:creationId xmlns:a16="http://schemas.microsoft.com/office/drawing/2014/main" id="{B80AF7FD-3EA9-A8EE-48B8-95D3F352B89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98</a:t>
            </a:fld>
            <a:endParaRPr lang="en-US" dirty="0"/>
          </a:p>
        </p:txBody>
      </p:sp>
    </p:spTree>
    <p:extLst>
      <p:ext uri="{BB962C8B-B14F-4D97-AF65-F5344CB8AC3E}">
        <p14:creationId xmlns:p14="http://schemas.microsoft.com/office/powerpoint/2010/main" val="163598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wipe(left)">
                                      <p:cBhvr>
                                        <p:cTn id="12" dur="500"/>
                                        <p:tgtEl>
                                          <p:spTgt spid="127"/>
                                        </p:tgtEl>
                                      </p:cBhvr>
                                    </p:animEffect>
                                  </p:childTnLst>
                                </p:cTn>
                              </p:par>
                              <p:par>
                                <p:cTn id="13" presetID="22" presetClass="entr" presetSubtype="8" fill="hold" nodeType="with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left)">
                                      <p:cBhvr>
                                        <p:cTn id="15" dur="500"/>
                                        <p:tgtEl>
                                          <p:spTgt spid="186"/>
                                        </p:tgtEl>
                                      </p:cBhvr>
                                    </p:animEffect>
                                  </p:childTnLst>
                                </p:cTn>
                              </p:par>
                              <p:par>
                                <p:cTn id="16" presetID="22" presetClass="entr" presetSubtype="8" fill="hold" nodeType="withEffect">
                                  <p:stCondLst>
                                    <p:cond delay="0"/>
                                  </p:stCondLst>
                                  <p:childTnLst>
                                    <p:set>
                                      <p:cBhvr>
                                        <p:cTn id="17" dur="1" fill="hold">
                                          <p:stCondLst>
                                            <p:cond delay="0"/>
                                          </p:stCondLst>
                                        </p:cTn>
                                        <p:tgtEl>
                                          <p:spTgt spid="123"/>
                                        </p:tgtEl>
                                        <p:attrNameLst>
                                          <p:attrName>style.visibility</p:attrName>
                                        </p:attrNameLst>
                                      </p:cBhvr>
                                      <p:to>
                                        <p:strVal val="visible"/>
                                      </p:to>
                                    </p:set>
                                    <p:animEffect transition="in" filter="wipe(left)">
                                      <p:cBhvr>
                                        <p:cTn id="18"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99</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125376291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405106" y="5675458"/>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3" name="Rectangle 181">
            <a:extLst>
              <a:ext uri="{FF2B5EF4-FFF2-40B4-BE49-F238E27FC236}">
                <a16:creationId xmlns:a16="http://schemas.microsoft.com/office/drawing/2014/main" id="{47D36535-8A92-3347-837A-BCA074BF9910}"/>
              </a:ext>
            </a:extLst>
          </p:cNvPr>
          <p:cNvSpPr>
            <a:spLocks noChangeArrowheads="1"/>
          </p:cNvSpPr>
          <p:nvPr/>
        </p:nvSpPr>
        <p:spPr bwMode="auto">
          <a:xfrm>
            <a:off x="2739756" y="1261963"/>
            <a:ext cx="5482349" cy="1796465"/>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buClrTx/>
              <a:buSzTx/>
              <a:buFontTx/>
              <a:buNone/>
            </a:pPr>
            <a:r>
              <a:rPr lang="en-US" altLang="en-US" sz="1200" dirty="0"/>
              <a:t>Quality is measured by First-Pass Yield (%) for every process</a:t>
            </a:r>
          </a:p>
          <a:p>
            <a:pPr>
              <a:lnSpc>
                <a:spcPct val="100000"/>
              </a:lnSpc>
              <a:spcBef>
                <a:spcPct val="0"/>
              </a:spcBef>
              <a:buClrTx/>
              <a:buSzTx/>
              <a:buFontTx/>
              <a:buNone/>
            </a:pPr>
            <a:r>
              <a:rPr lang="en-US" altLang="en-US" sz="1200" dirty="0"/>
              <a:t>All defects are waste which:</a:t>
            </a:r>
            <a:br>
              <a:rPr lang="en-US" altLang="en-US" sz="1200" dirty="0"/>
            </a:br>
            <a:r>
              <a:rPr lang="en-US" altLang="en-US" sz="1200" dirty="0"/>
              <a:t>Consume materials (scrap) and people (rework)</a:t>
            </a:r>
            <a:br>
              <a:rPr lang="en-US" altLang="en-US" sz="1200" dirty="0"/>
            </a:br>
            <a:r>
              <a:rPr lang="en-US" altLang="en-US" sz="1200" dirty="0"/>
              <a:t>Reduce process capacity</a:t>
            </a:r>
            <a:br>
              <a:rPr lang="en-US" altLang="en-US" sz="1200" dirty="0"/>
            </a:br>
            <a:r>
              <a:rPr lang="en-US" altLang="en-US" sz="1200" dirty="0"/>
              <a:t>Inhibit Continuous Flow</a:t>
            </a:r>
          </a:p>
          <a:p>
            <a:pPr>
              <a:lnSpc>
                <a:spcPct val="100000"/>
              </a:lnSpc>
              <a:spcBef>
                <a:spcPct val="0"/>
              </a:spcBef>
              <a:buClrTx/>
              <a:buSzTx/>
              <a:buFontTx/>
              <a:buNone/>
            </a:pPr>
            <a:r>
              <a:rPr lang="en-US" altLang="en-US" sz="1200" dirty="0"/>
              <a:t>For NHC, the quality issues in Data Entry (97%) and Underwrite (15%), </a:t>
            </a:r>
            <a:br>
              <a:rPr lang="en-US" altLang="en-US" sz="1200" dirty="0"/>
            </a:br>
            <a:r>
              <a:rPr lang="en-US" altLang="en-US" sz="1200" dirty="0"/>
              <a:t>if not addressed, will prevent successful continuous flow</a:t>
            </a:r>
          </a:p>
        </p:txBody>
      </p:sp>
      <p:grpSp>
        <p:nvGrpSpPr>
          <p:cNvPr id="199" name="Group 800">
            <a:extLst>
              <a:ext uri="{FF2B5EF4-FFF2-40B4-BE49-F238E27FC236}">
                <a16:creationId xmlns:a16="http://schemas.microsoft.com/office/drawing/2014/main" id="{06C712FE-F6F6-A2AB-F48A-4C0E917940DF}"/>
              </a:ext>
            </a:extLst>
          </p:cNvPr>
          <p:cNvGrpSpPr>
            <a:grpSpLocks/>
          </p:cNvGrpSpPr>
          <p:nvPr/>
        </p:nvGrpSpPr>
        <p:grpSpPr bwMode="auto">
          <a:xfrm>
            <a:off x="3520727" y="5203060"/>
            <a:ext cx="2003425" cy="915987"/>
            <a:chOff x="1765" y="3153"/>
            <a:chExt cx="1262" cy="577"/>
          </a:xfrm>
        </p:grpSpPr>
        <p:sp>
          <p:nvSpPr>
            <p:cNvPr id="201" name="AutoShape 225">
              <a:extLst>
                <a:ext uri="{FF2B5EF4-FFF2-40B4-BE49-F238E27FC236}">
                  <a16:creationId xmlns:a16="http://schemas.microsoft.com/office/drawing/2014/main" id="{42C98534-B6C1-B910-D5EE-AF7CB646691E}"/>
                </a:ext>
              </a:extLst>
            </p:cNvPr>
            <p:cNvSpPr>
              <a:spLocks noChangeArrowheads="1"/>
            </p:cNvSpPr>
            <p:nvPr/>
          </p:nvSpPr>
          <p:spPr bwMode="auto">
            <a:xfrm>
              <a:off x="1765" y="3153"/>
              <a:ext cx="470" cy="336"/>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02" name="Text Box 778">
              <a:extLst>
                <a:ext uri="{FF2B5EF4-FFF2-40B4-BE49-F238E27FC236}">
                  <a16:creationId xmlns:a16="http://schemas.microsoft.com/office/drawing/2014/main" id="{4711D364-2F36-C327-1619-202A1461FF31}"/>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chemeClr val="accent6"/>
                  </a:solidFill>
                  <a:latin typeface="Roboto" panose="02000000000000000000" pitchFamily="2" charset="0"/>
                  <a:ea typeface="Roboto" panose="02000000000000000000" pitchFamily="2" charset="0"/>
                </a:rPr>
                <a:t>Implement Poke Yoke</a:t>
              </a:r>
            </a:p>
          </p:txBody>
        </p:sp>
        <p:sp>
          <p:nvSpPr>
            <p:cNvPr id="222" name="Line 779">
              <a:extLst>
                <a:ext uri="{FF2B5EF4-FFF2-40B4-BE49-F238E27FC236}">
                  <a16:creationId xmlns:a16="http://schemas.microsoft.com/office/drawing/2014/main" id="{18E688CE-0ED5-9ACF-03EC-032E63A60693}"/>
                </a:ext>
              </a:extLst>
            </p:cNvPr>
            <p:cNvSpPr>
              <a:spLocks noChangeShapeType="1"/>
            </p:cNvSpPr>
            <p:nvPr/>
          </p:nvSpPr>
          <p:spPr bwMode="auto">
            <a:xfrm flipH="1" flipV="1">
              <a:off x="2192" y="3408"/>
              <a:ext cx="88" cy="172"/>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3" name="AutoShape 798">
              <a:extLst>
                <a:ext uri="{FF2B5EF4-FFF2-40B4-BE49-F238E27FC236}">
                  <a16:creationId xmlns:a16="http://schemas.microsoft.com/office/drawing/2014/main" id="{098047F1-0214-D81A-AE45-6FD75156C6A6}"/>
                </a:ext>
              </a:extLst>
            </p:cNvPr>
            <p:cNvSpPr>
              <a:spLocks noChangeArrowheads="1"/>
            </p:cNvSpPr>
            <p:nvPr/>
          </p:nvSpPr>
          <p:spPr bwMode="auto">
            <a:xfrm>
              <a:off x="2557" y="3201"/>
              <a:ext cx="470" cy="336"/>
            </a:xfrm>
            <a:prstGeom prst="irregularSeal1">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4" name="Line 799">
              <a:extLst>
                <a:ext uri="{FF2B5EF4-FFF2-40B4-BE49-F238E27FC236}">
                  <a16:creationId xmlns:a16="http://schemas.microsoft.com/office/drawing/2014/main" id="{6D582A6B-9B47-FE60-9A9E-468474C7FBE5}"/>
                </a:ext>
              </a:extLst>
            </p:cNvPr>
            <p:cNvSpPr>
              <a:spLocks noChangeShapeType="1"/>
            </p:cNvSpPr>
            <p:nvPr/>
          </p:nvSpPr>
          <p:spPr bwMode="auto">
            <a:xfrm flipV="1">
              <a:off x="2616" y="3480"/>
              <a:ext cx="92" cy="154"/>
            </a:xfrm>
            <a:prstGeom prst="line">
              <a:avLst/>
            </a:prstGeom>
            <a:noFill/>
            <a:ln w="12700" cap="sq">
              <a:solidFill>
                <a:schemeClr val="accent6"/>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3" name="Slide Number Placeholder 2">
            <a:extLst>
              <a:ext uri="{FF2B5EF4-FFF2-40B4-BE49-F238E27FC236}">
                <a16:creationId xmlns:a16="http://schemas.microsoft.com/office/drawing/2014/main" id="{43766650-8FFD-12E4-9CA7-C76E906594EC}"/>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100</a:t>
            </a:fld>
            <a:endParaRPr lang="en-US" dirty="0"/>
          </a:p>
        </p:txBody>
      </p:sp>
    </p:spTree>
    <p:extLst>
      <p:ext uri="{BB962C8B-B14F-4D97-AF65-F5344CB8AC3E}">
        <p14:creationId xmlns:p14="http://schemas.microsoft.com/office/powerpoint/2010/main" val="2698456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99"/>
                                        </p:tgtEl>
                                        <p:attrNameLst>
                                          <p:attrName>style.visibility</p:attrName>
                                        </p:attrNameLst>
                                      </p:cBhvr>
                                      <p:to>
                                        <p:strVal val="visible"/>
                                      </p:to>
                                    </p:set>
                                    <p:animEffect transition="in" filter="dissolve">
                                      <p:cBhvr>
                                        <p:cTn id="18"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25512"/>
            <a:chOff x="2588968" y="4639120"/>
            <a:chExt cx="685800" cy="925512"/>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31862"/>
            <a:chOff x="4046293" y="4639120"/>
            <a:chExt cx="581025" cy="931862"/>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38212"/>
            <a:chOff x="8456859" y="4639120"/>
            <a:chExt cx="619125" cy="938212"/>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35037"/>
            <a:chOff x="1231656" y="4639120"/>
            <a:chExt cx="623887" cy="93503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solidFill>
                    <a:srgbClr val="FF0000"/>
                  </a:solidFill>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3777202" y="1572463"/>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2511175" y="5797068"/>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9" name="Group 800">
            <a:extLst>
              <a:ext uri="{FF2B5EF4-FFF2-40B4-BE49-F238E27FC236}">
                <a16:creationId xmlns:a16="http://schemas.microsoft.com/office/drawing/2014/main" id="{06C712FE-F6F6-A2AB-F48A-4C0E917940DF}"/>
              </a:ext>
            </a:extLst>
          </p:cNvPr>
          <p:cNvGrpSpPr>
            <a:grpSpLocks/>
          </p:cNvGrpSpPr>
          <p:nvPr/>
        </p:nvGrpSpPr>
        <p:grpSpPr bwMode="auto">
          <a:xfrm>
            <a:off x="3520727" y="5203060"/>
            <a:ext cx="2003425" cy="915987"/>
            <a:chOff x="1765" y="3153"/>
            <a:chExt cx="1262" cy="577"/>
          </a:xfrm>
        </p:grpSpPr>
        <p:sp>
          <p:nvSpPr>
            <p:cNvPr id="201" name="AutoShape 225">
              <a:extLst>
                <a:ext uri="{FF2B5EF4-FFF2-40B4-BE49-F238E27FC236}">
                  <a16:creationId xmlns:a16="http://schemas.microsoft.com/office/drawing/2014/main" id="{42C98534-B6C1-B910-D5EE-AF7CB646691E}"/>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2" name="Text Box 778">
              <a:extLst>
                <a:ext uri="{FF2B5EF4-FFF2-40B4-BE49-F238E27FC236}">
                  <a16:creationId xmlns:a16="http://schemas.microsoft.com/office/drawing/2014/main" id="{4711D364-2F36-C327-1619-202A1461FF31}"/>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22" name="Line 779">
              <a:extLst>
                <a:ext uri="{FF2B5EF4-FFF2-40B4-BE49-F238E27FC236}">
                  <a16:creationId xmlns:a16="http://schemas.microsoft.com/office/drawing/2014/main" id="{18E688CE-0ED5-9ACF-03EC-032E63A60693}"/>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3" name="AutoShape 798">
              <a:extLst>
                <a:ext uri="{FF2B5EF4-FFF2-40B4-BE49-F238E27FC236}">
                  <a16:creationId xmlns:a16="http://schemas.microsoft.com/office/drawing/2014/main" id="{098047F1-0214-D81A-AE45-6FD75156C6A6}"/>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4" name="Line 799">
              <a:extLst>
                <a:ext uri="{FF2B5EF4-FFF2-40B4-BE49-F238E27FC236}">
                  <a16:creationId xmlns:a16="http://schemas.microsoft.com/office/drawing/2014/main" id="{6D582A6B-9B47-FE60-9A9E-468474C7FBE5}"/>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grpSp>
        <p:nvGrpSpPr>
          <p:cNvPr id="3" name="Group 81">
            <a:extLst>
              <a:ext uri="{FF2B5EF4-FFF2-40B4-BE49-F238E27FC236}">
                <a16:creationId xmlns:a16="http://schemas.microsoft.com/office/drawing/2014/main" id="{C13990CD-8958-17B8-1E59-308616B8C366}"/>
              </a:ext>
            </a:extLst>
          </p:cNvPr>
          <p:cNvGrpSpPr>
            <a:grpSpLocks/>
          </p:cNvGrpSpPr>
          <p:nvPr/>
        </p:nvGrpSpPr>
        <p:grpSpPr bwMode="auto">
          <a:xfrm>
            <a:off x="2276760" y="2482444"/>
            <a:ext cx="1882776" cy="582614"/>
            <a:chOff x="1728" y="1674"/>
            <a:chExt cx="1186" cy="367"/>
          </a:xfrm>
        </p:grpSpPr>
        <p:grpSp>
          <p:nvGrpSpPr>
            <p:cNvPr id="11" name="Group 66">
              <a:extLst>
                <a:ext uri="{FF2B5EF4-FFF2-40B4-BE49-F238E27FC236}">
                  <a16:creationId xmlns:a16="http://schemas.microsoft.com/office/drawing/2014/main" id="{E7FD296F-4B6D-474E-0A5D-8305DE0ACCCF}"/>
                </a:ext>
              </a:extLst>
            </p:cNvPr>
            <p:cNvGrpSpPr>
              <a:grpSpLocks/>
            </p:cNvGrpSpPr>
            <p:nvPr/>
          </p:nvGrpSpPr>
          <p:grpSpPr bwMode="auto">
            <a:xfrm>
              <a:off x="1728" y="1674"/>
              <a:ext cx="1166" cy="367"/>
              <a:chOff x="3444" y="1578"/>
              <a:chExt cx="1166" cy="367"/>
            </a:xfrm>
          </p:grpSpPr>
          <p:sp>
            <p:nvSpPr>
              <p:cNvPr id="30" name="Rectangle 67">
                <a:extLst>
                  <a:ext uri="{FF2B5EF4-FFF2-40B4-BE49-F238E27FC236}">
                    <a16:creationId xmlns:a16="http://schemas.microsoft.com/office/drawing/2014/main" id="{22315352-4F92-B2B1-FEA8-4419C3183DA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Text Box 68">
                <a:extLst>
                  <a:ext uri="{FF2B5EF4-FFF2-40B4-BE49-F238E27FC236}">
                    <a16:creationId xmlns:a16="http://schemas.microsoft.com/office/drawing/2014/main" id="{5D0A85C6-72C0-CE47-E556-3EF251403062}"/>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32" name="Line 69">
                <a:extLst>
                  <a:ext uri="{FF2B5EF4-FFF2-40B4-BE49-F238E27FC236}">
                    <a16:creationId xmlns:a16="http://schemas.microsoft.com/office/drawing/2014/main" id="{C522DF3F-DB2A-782E-D539-09A52EFA5CFC}"/>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33" name="Rectangle 70">
                <a:extLst>
                  <a:ext uri="{FF2B5EF4-FFF2-40B4-BE49-F238E27FC236}">
                    <a16:creationId xmlns:a16="http://schemas.microsoft.com/office/drawing/2014/main" id="{D1251D73-61C4-B3AF-073F-4DD35CFBDAB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4" name="Text Box 71">
              <a:extLst>
                <a:ext uri="{FF2B5EF4-FFF2-40B4-BE49-F238E27FC236}">
                  <a16:creationId xmlns:a16="http://schemas.microsoft.com/office/drawing/2014/main" id="{0B73DFF0-02F8-6B8E-C1EC-4FA15522792F}"/>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53" name="Slide Number Placeholder 2">
            <a:extLst>
              <a:ext uri="{FF2B5EF4-FFF2-40B4-BE49-F238E27FC236}">
                <a16:creationId xmlns:a16="http://schemas.microsoft.com/office/drawing/2014/main" id="{0C53FBBE-738B-DDDF-D456-2EDA1D7F3617}"/>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101</a:t>
            </a:fld>
            <a:endParaRPr lang="en-US" dirty="0"/>
          </a:p>
        </p:txBody>
      </p:sp>
    </p:spTree>
    <p:extLst>
      <p:ext uri="{BB962C8B-B14F-4D97-AF65-F5344CB8AC3E}">
        <p14:creationId xmlns:p14="http://schemas.microsoft.com/office/powerpoint/2010/main" val="3545612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99"/>
                                        </p:tgtEl>
                                        <p:attrNameLst>
                                          <p:attrName>style.visibility</p:attrName>
                                        </p:attrNameLst>
                                      </p:cBhvr>
                                      <p:to>
                                        <p:strVal val="visible"/>
                                      </p:to>
                                    </p:set>
                                    <p:animEffect transition="in" filter="dissolve">
                                      <p:cBhvr>
                                        <p:cTn id="18" dur="500"/>
                                        <p:tgtEl>
                                          <p:spTgt spid="19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102</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84606963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4159536" y="1497315"/>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435640" y="5694752"/>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9" name="Group 800">
            <a:extLst>
              <a:ext uri="{FF2B5EF4-FFF2-40B4-BE49-F238E27FC236}">
                <a16:creationId xmlns:a16="http://schemas.microsoft.com/office/drawing/2014/main" id="{06C712FE-F6F6-A2AB-F48A-4C0E917940DF}"/>
              </a:ext>
            </a:extLst>
          </p:cNvPr>
          <p:cNvGrpSpPr>
            <a:grpSpLocks/>
          </p:cNvGrpSpPr>
          <p:nvPr/>
        </p:nvGrpSpPr>
        <p:grpSpPr bwMode="auto">
          <a:xfrm>
            <a:off x="3520727" y="5203060"/>
            <a:ext cx="2003425" cy="915987"/>
            <a:chOff x="1765" y="3153"/>
            <a:chExt cx="1262" cy="577"/>
          </a:xfrm>
        </p:grpSpPr>
        <p:sp>
          <p:nvSpPr>
            <p:cNvPr id="201" name="AutoShape 225">
              <a:extLst>
                <a:ext uri="{FF2B5EF4-FFF2-40B4-BE49-F238E27FC236}">
                  <a16:creationId xmlns:a16="http://schemas.microsoft.com/office/drawing/2014/main" id="{42C98534-B6C1-B910-D5EE-AF7CB646691E}"/>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2" name="Text Box 778">
              <a:extLst>
                <a:ext uri="{FF2B5EF4-FFF2-40B4-BE49-F238E27FC236}">
                  <a16:creationId xmlns:a16="http://schemas.microsoft.com/office/drawing/2014/main" id="{4711D364-2F36-C327-1619-202A1461FF31}"/>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22" name="Line 779">
              <a:extLst>
                <a:ext uri="{FF2B5EF4-FFF2-40B4-BE49-F238E27FC236}">
                  <a16:creationId xmlns:a16="http://schemas.microsoft.com/office/drawing/2014/main" id="{18E688CE-0ED5-9ACF-03EC-032E63A60693}"/>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3" name="AutoShape 798">
              <a:extLst>
                <a:ext uri="{FF2B5EF4-FFF2-40B4-BE49-F238E27FC236}">
                  <a16:creationId xmlns:a16="http://schemas.microsoft.com/office/drawing/2014/main" id="{098047F1-0214-D81A-AE45-6FD75156C6A6}"/>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4" name="Line 799">
              <a:extLst>
                <a:ext uri="{FF2B5EF4-FFF2-40B4-BE49-F238E27FC236}">
                  <a16:creationId xmlns:a16="http://schemas.microsoft.com/office/drawing/2014/main" id="{6D582A6B-9B47-FE60-9A9E-468474C7FBE5}"/>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grpSp>
        <p:nvGrpSpPr>
          <p:cNvPr id="78" name="Group 81">
            <a:extLst>
              <a:ext uri="{FF2B5EF4-FFF2-40B4-BE49-F238E27FC236}">
                <a16:creationId xmlns:a16="http://schemas.microsoft.com/office/drawing/2014/main" id="{B20D5569-CDFD-6FDA-2BAD-EB272534EDFC}"/>
              </a:ext>
            </a:extLst>
          </p:cNvPr>
          <p:cNvGrpSpPr>
            <a:grpSpLocks/>
          </p:cNvGrpSpPr>
          <p:nvPr/>
        </p:nvGrpSpPr>
        <p:grpSpPr bwMode="auto">
          <a:xfrm>
            <a:off x="2276760" y="2482444"/>
            <a:ext cx="1882776" cy="582614"/>
            <a:chOff x="1728" y="1674"/>
            <a:chExt cx="1186" cy="367"/>
          </a:xfrm>
        </p:grpSpPr>
        <p:grpSp>
          <p:nvGrpSpPr>
            <p:cNvPr id="79" name="Group 66">
              <a:extLst>
                <a:ext uri="{FF2B5EF4-FFF2-40B4-BE49-F238E27FC236}">
                  <a16:creationId xmlns:a16="http://schemas.microsoft.com/office/drawing/2014/main" id="{A3B73F7F-F719-B146-6419-665FF54D38C5}"/>
                </a:ext>
              </a:extLst>
            </p:cNvPr>
            <p:cNvGrpSpPr>
              <a:grpSpLocks/>
            </p:cNvGrpSpPr>
            <p:nvPr/>
          </p:nvGrpSpPr>
          <p:grpSpPr bwMode="auto">
            <a:xfrm>
              <a:off x="1728" y="1674"/>
              <a:ext cx="1166" cy="367"/>
              <a:chOff x="3444" y="1578"/>
              <a:chExt cx="1166" cy="367"/>
            </a:xfrm>
          </p:grpSpPr>
          <p:sp>
            <p:nvSpPr>
              <p:cNvPr id="227" name="Rectangle 67">
                <a:extLst>
                  <a:ext uri="{FF2B5EF4-FFF2-40B4-BE49-F238E27FC236}">
                    <a16:creationId xmlns:a16="http://schemas.microsoft.com/office/drawing/2014/main" id="{B97FA220-A93E-6BC9-F9A9-70B9AC2A4A0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8" name="Text Box 68">
                <a:extLst>
                  <a:ext uri="{FF2B5EF4-FFF2-40B4-BE49-F238E27FC236}">
                    <a16:creationId xmlns:a16="http://schemas.microsoft.com/office/drawing/2014/main" id="{5F402B8C-0AB6-7D5D-2B5B-97AC21AE1A7E}"/>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229" name="Line 69">
                <a:extLst>
                  <a:ext uri="{FF2B5EF4-FFF2-40B4-BE49-F238E27FC236}">
                    <a16:creationId xmlns:a16="http://schemas.microsoft.com/office/drawing/2014/main" id="{B398993D-FEFD-7BFB-81ED-2BD52C897CC8}"/>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0" name="Rectangle 70">
                <a:extLst>
                  <a:ext uri="{FF2B5EF4-FFF2-40B4-BE49-F238E27FC236}">
                    <a16:creationId xmlns:a16="http://schemas.microsoft.com/office/drawing/2014/main" id="{CF4647B7-C325-B285-BD48-E1E69A700EA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25" name="Text Box 71">
              <a:extLst>
                <a:ext uri="{FF2B5EF4-FFF2-40B4-BE49-F238E27FC236}">
                  <a16:creationId xmlns:a16="http://schemas.microsoft.com/office/drawing/2014/main" id="{056E5EF2-96C7-0A4F-D54C-28BAF6CAB5A4}"/>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53" name="Rectangle 181">
            <a:extLst>
              <a:ext uri="{FF2B5EF4-FFF2-40B4-BE49-F238E27FC236}">
                <a16:creationId xmlns:a16="http://schemas.microsoft.com/office/drawing/2014/main" id="{47D36535-8A92-3347-837A-BCA074BF9910}"/>
              </a:ext>
            </a:extLst>
          </p:cNvPr>
          <p:cNvSpPr>
            <a:spLocks noChangeArrowheads="1"/>
          </p:cNvSpPr>
          <p:nvPr/>
        </p:nvSpPr>
        <p:spPr bwMode="auto">
          <a:xfrm>
            <a:off x="2739756" y="1809258"/>
            <a:ext cx="5482349" cy="748113"/>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buClrTx/>
              <a:buSzTx/>
              <a:buFontTx/>
              <a:buNone/>
            </a:pPr>
            <a:r>
              <a:rPr lang="en-US" altLang="en-US" sz="1200" dirty="0"/>
              <a:t>For NHC there are no additional information flows</a:t>
            </a:r>
          </a:p>
        </p:txBody>
      </p:sp>
      <p:sp>
        <p:nvSpPr>
          <p:cNvPr id="3" name="Slide Number Placeholder 2">
            <a:extLst>
              <a:ext uri="{FF2B5EF4-FFF2-40B4-BE49-F238E27FC236}">
                <a16:creationId xmlns:a16="http://schemas.microsoft.com/office/drawing/2014/main" id="{F9927E59-642F-0C52-4143-E14DFFD8445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103</a:t>
            </a:fld>
            <a:endParaRPr lang="en-US" dirty="0"/>
          </a:p>
        </p:txBody>
      </p:sp>
    </p:spTree>
    <p:extLst>
      <p:ext uri="{BB962C8B-B14F-4D97-AF65-F5344CB8AC3E}">
        <p14:creationId xmlns:p14="http://schemas.microsoft.com/office/powerpoint/2010/main" val="24147690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99"/>
                                        </p:tgtEl>
                                        <p:attrNameLst>
                                          <p:attrName>style.visibility</p:attrName>
                                        </p:attrNameLst>
                                      </p:cBhvr>
                                      <p:to>
                                        <p:strVal val="visible"/>
                                      </p:to>
                                    </p:set>
                                    <p:animEffect transition="in" filter="dissolve">
                                      <p:cBhvr>
                                        <p:cTn id="18" dur="500"/>
                                        <p:tgtEl>
                                          <p:spTgt spid="19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dissolve">
                                      <p:cBhvr>
                                        <p:cTn id="23"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Questions used to interrogate a </a:t>
            </a:r>
            <a:br>
              <a:rPr lang="en-US" altLang="en-US" sz="3600" dirty="0"/>
            </a:br>
            <a:r>
              <a:rPr lang="en-US" altLang="en-US" sz="3600" dirty="0"/>
              <a:t>Current State Map</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104</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0" name="Rectangle 2">
            <a:extLst>
              <a:ext uri="{FF2B5EF4-FFF2-40B4-BE49-F238E27FC236}">
                <a16:creationId xmlns:a16="http://schemas.microsoft.com/office/drawing/2014/main" id="{F31748CF-0F5B-1139-3D81-858F79416322}"/>
              </a:ext>
            </a:extLst>
          </p:cNvPr>
          <p:cNvSpPr>
            <a:spLocks noChangeArrowheads="1"/>
          </p:cNvSpPr>
          <p:nvPr/>
        </p:nvSpPr>
        <p:spPr bwMode="auto">
          <a:xfrm>
            <a:off x="940249" y="2258986"/>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Is the current process producing to takt time?</a:t>
            </a:r>
          </a:p>
        </p:txBody>
      </p:sp>
      <p:sp>
        <p:nvSpPr>
          <p:cNvPr id="11" name="Rectangle 3">
            <a:extLst>
              <a:ext uri="{FF2B5EF4-FFF2-40B4-BE49-F238E27FC236}">
                <a16:creationId xmlns:a16="http://schemas.microsoft.com/office/drawing/2014/main" id="{7520068B-9326-F28C-70E5-3701C9E319CF}"/>
              </a:ext>
            </a:extLst>
          </p:cNvPr>
          <p:cNvSpPr>
            <a:spLocks noChangeArrowheads="1"/>
          </p:cNvSpPr>
          <p:nvPr/>
        </p:nvSpPr>
        <p:spPr bwMode="auto">
          <a:xfrm>
            <a:off x="940249" y="2765399"/>
            <a:ext cx="8204200"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Which processes can be coupled using continuous flow?</a:t>
            </a:r>
          </a:p>
        </p:txBody>
      </p:sp>
      <p:sp>
        <p:nvSpPr>
          <p:cNvPr id="18" name="Rectangle 4">
            <a:extLst>
              <a:ext uri="{FF2B5EF4-FFF2-40B4-BE49-F238E27FC236}">
                <a16:creationId xmlns:a16="http://schemas.microsoft.com/office/drawing/2014/main" id="{F855BD68-5CE4-87C0-23AA-9179BFC8F435}"/>
              </a:ext>
            </a:extLst>
          </p:cNvPr>
          <p:cNvSpPr>
            <a:spLocks noChangeArrowheads="1"/>
          </p:cNvSpPr>
          <p:nvPr/>
        </p:nvSpPr>
        <p:spPr bwMode="auto">
          <a:xfrm>
            <a:off x="940249" y="3265461"/>
            <a:ext cx="8204200"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Where can visually managed queues couple processes?</a:t>
            </a:r>
          </a:p>
        </p:txBody>
      </p:sp>
      <p:sp>
        <p:nvSpPr>
          <p:cNvPr id="19" name="Rectangle 6">
            <a:extLst>
              <a:ext uri="{FF2B5EF4-FFF2-40B4-BE49-F238E27FC236}">
                <a16:creationId xmlns:a16="http://schemas.microsoft.com/office/drawing/2014/main" id="{E6D10A5D-D57E-FFF0-3A57-B48A0292A3E7}"/>
              </a:ext>
            </a:extLst>
          </p:cNvPr>
          <p:cNvSpPr>
            <a:spLocks noChangeArrowheads="1"/>
          </p:cNvSpPr>
          <p:nvPr/>
        </p:nvSpPr>
        <p:spPr bwMode="auto">
          <a:xfrm>
            <a:off x="940249" y="3746474"/>
            <a:ext cx="8215312"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Where are manpower improvement opportunities?</a:t>
            </a:r>
          </a:p>
        </p:txBody>
      </p:sp>
      <p:sp>
        <p:nvSpPr>
          <p:cNvPr id="20" name="Rectangle 9">
            <a:extLst>
              <a:ext uri="{FF2B5EF4-FFF2-40B4-BE49-F238E27FC236}">
                <a16:creationId xmlns:a16="http://schemas.microsoft.com/office/drawing/2014/main" id="{3C88726D-8992-9920-B975-B6A61E61B1A2}"/>
              </a:ext>
            </a:extLst>
          </p:cNvPr>
          <p:cNvSpPr>
            <a:spLocks noChangeArrowheads="1"/>
          </p:cNvSpPr>
          <p:nvPr/>
        </p:nvSpPr>
        <p:spPr bwMode="auto">
          <a:xfrm>
            <a:off x="935486" y="4227486"/>
            <a:ext cx="8215313"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Which processes need quality improvements?</a:t>
            </a:r>
          </a:p>
        </p:txBody>
      </p:sp>
      <p:sp>
        <p:nvSpPr>
          <p:cNvPr id="21" name="Rectangle 18">
            <a:extLst>
              <a:ext uri="{FF2B5EF4-FFF2-40B4-BE49-F238E27FC236}">
                <a16:creationId xmlns:a16="http://schemas.microsoft.com/office/drawing/2014/main" id="{5CDCFB4E-CD48-CCD7-3A54-5D6AD4173F9A}"/>
              </a:ext>
            </a:extLst>
          </p:cNvPr>
          <p:cNvSpPr>
            <a:spLocks noChangeArrowheads="1"/>
          </p:cNvSpPr>
          <p:nvPr/>
        </p:nvSpPr>
        <p:spPr bwMode="auto">
          <a:xfrm>
            <a:off x="945011" y="4722786"/>
            <a:ext cx="8215313"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What other information flow improvements are required?</a:t>
            </a:r>
          </a:p>
        </p:txBody>
      </p:sp>
      <p:sp>
        <p:nvSpPr>
          <p:cNvPr id="30" name="Rectangle 19">
            <a:extLst>
              <a:ext uri="{FF2B5EF4-FFF2-40B4-BE49-F238E27FC236}">
                <a16:creationId xmlns:a16="http://schemas.microsoft.com/office/drawing/2014/main" id="{D20EFC00-5199-C9BD-9A57-CB49612597E8}"/>
              </a:ext>
            </a:extLst>
          </p:cNvPr>
          <p:cNvSpPr>
            <a:spLocks noChangeArrowheads="1"/>
          </p:cNvSpPr>
          <p:nvPr/>
        </p:nvSpPr>
        <p:spPr bwMode="auto">
          <a:xfrm>
            <a:off x="940249" y="5218086"/>
            <a:ext cx="8215312"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What other process improvements are required?</a:t>
            </a:r>
          </a:p>
        </p:txBody>
      </p:sp>
    </p:spTree>
    <p:extLst>
      <p:ext uri="{BB962C8B-B14F-4D97-AF65-F5344CB8AC3E}">
        <p14:creationId xmlns:p14="http://schemas.microsoft.com/office/powerpoint/2010/main" val="417643554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4159536" y="1497315"/>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382493" y="5654620"/>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 name="Group 446">
            <a:extLst>
              <a:ext uri="{FF2B5EF4-FFF2-40B4-BE49-F238E27FC236}">
                <a16:creationId xmlns:a16="http://schemas.microsoft.com/office/drawing/2014/main" id="{CE45E573-083A-C579-97D7-A67EC169A8BF}"/>
              </a:ext>
            </a:extLst>
          </p:cNvPr>
          <p:cNvGrpSpPr>
            <a:grpSpLocks/>
          </p:cNvGrpSpPr>
          <p:nvPr/>
        </p:nvGrpSpPr>
        <p:grpSpPr bwMode="auto">
          <a:xfrm>
            <a:off x="5718488" y="2713198"/>
            <a:ext cx="2495549" cy="2249488"/>
            <a:chOff x="2993" y="1846"/>
            <a:chExt cx="1572" cy="1417"/>
          </a:xfrm>
        </p:grpSpPr>
        <p:grpSp>
          <p:nvGrpSpPr>
            <p:cNvPr id="11" name="Group 232">
              <a:extLst>
                <a:ext uri="{FF2B5EF4-FFF2-40B4-BE49-F238E27FC236}">
                  <a16:creationId xmlns:a16="http://schemas.microsoft.com/office/drawing/2014/main" id="{23ED6236-9648-80C0-0E6F-30E7FFE551EA}"/>
                </a:ext>
              </a:extLst>
            </p:cNvPr>
            <p:cNvGrpSpPr>
              <a:grpSpLocks/>
            </p:cNvGrpSpPr>
            <p:nvPr/>
          </p:nvGrpSpPr>
          <p:grpSpPr bwMode="auto">
            <a:xfrm rot="19755509" flipV="1">
              <a:off x="3146" y="1846"/>
              <a:ext cx="1419" cy="1417"/>
              <a:chOff x="636" y="1991"/>
              <a:chExt cx="252" cy="361"/>
            </a:xfrm>
          </p:grpSpPr>
          <p:sp>
            <p:nvSpPr>
              <p:cNvPr id="32" name="Line 233">
                <a:extLst>
                  <a:ext uri="{FF2B5EF4-FFF2-40B4-BE49-F238E27FC236}">
                    <a16:creationId xmlns:a16="http://schemas.microsoft.com/office/drawing/2014/main" id="{F0531D15-7AA3-C873-2A64-7F020B875AEA}"/>
                  </a:ext>
                </a:extLst>
              </p:cNvPr>
              <p:cNvSpPr>
                <a:spLocks noChangeShapeType="1"/>
              </p:cNvSpPr>
              <p:nvPr/>
            </p:nvSpPr>
            <p:spPr bwMode="auto">
              <a:xfrm flipV="1">
                <a:off x="740" y="1991"/>
                <a:ext cx="148" cy="255"/>
              </a:xfrm>
              <a:prstGeom prst="line">
                <a:avLst/>
              </a:prstGeom>
              <a:noFill/>
              <a:ln w="12700" cap="sq">
                <a:solidFill>
                  <a:schemeClr val="accent6"/>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33" name="Line 234">
                <a:extLst>
                  <a:ext uri="{FF2B5EF4-FFF2-40B4-BE49-F238E27FC236}">
                    <a16:creationId xmlns:a16="http://schemas.microsoft.com/office/drawing/2014/main" id="{2C4E71F6-A048-E36C-5E4A-5E474D3D1CE3}"/>
                  </a:ext>
                </a:extLst>
              </p:cNvPr>
              <p:cNvSpPr>
                <a:spLocks noChangeShapeType="1"/>
              </p:cNvSpPr>
              <p:nvPr/>
            </p:nvSpPr>
            <p:spPr bwMode="auto">
              <a:xfrm>
                <a:off x="732" y="2160"/>
                <a:ext cx="6" cy="90"/>
              </a:xfrm>
              <a:prstGeom prst="line">
                <a:avLst/>
              </a:prstGeom>
              <a:noFill/>
              <a:ln w="12700"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7" name="Line 235">
                <a:extLst>
                  <a:ext uri="{FF2B5EF4-FFF2-40B4-BE49-F238E27FC236}">
                    <a16:creationId xmlns:a16="http://schemas.microsoft.com/office/drawing/2014/main" id="{E7120874-B540-744D-D22C-A894C0807D1F}"/>
                  </a:ext>
                </a:extLst>
              </p:cNvPr>
              <p:cNvSpPr>
                <a:spLocks noChangeShapeType="1"/>
              </p:cNvSpPr>
              <p:nvPr/>
            </p:nvSpPr>
            <p:spPr bwMode="auto">
              <a:xfrm flipV="1">
                <a:off x="636" y="2160"/>
                <a:ext cx="96" cy="192"/>
              </a:xfrm>
              <a:prstGeom prst="line">
                <a:avLst/>
              </a:prstGeom>
              <a:noFill/>
              <a:ln w="12700" cap="sq">
                <a:solidFill>
                  <a:schemeClr val="accent6"/>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4" name="Group 236">
              <a:extLst>
                <a:ext uri="{FF2B5EF4-FFF2-40B4-BE49-F238E27FC236}">
                  <a16:creationId xmlns:a16="http://schemas.microsoft.com/office/drawing/2014/main" id="{349D9B21-E075-0C84-87EA-29D6680E28B2}"/>
                </a:ext>
              </a:extLst>
            </p:cNvPr>
            <p:cNvGrpSpPr>
              <a:grpSpLocks/>
            </p:cNvGrpSpPr>
            <p:nvPr/>
          </p:nvGrpSpPr>
          <p:grpSpPr bwMode="auto">
            <a:xfrm rot="930887">
              <a:off x="2993" y="2436"/>
              <a:ext cx="240" cy="240"/>
              <a:chOff x="4896" y="3312"/>
              <a:chExt cx="240" cy="240"/>
            </a:xfrm>
          </p:grpSpPr>
          <p:sp>
            <p:nvSpPr>
              <p:cNvPr id="30" name="Oval 237">
                <a:extLst>
                  <a:ext uri="{FF2B5EF4-FFF2-40B4-BE49-F238E27FC236}">
                    <a16:creationId xmlns:a16="http://schemas.microsoft.com/office/drawing/2014/main" id="{1F7DA5F9-B8E0-DCFC-E221-461BD409C659}"/>
                  </a:ext>
                </a:extLst>
              </p:cNvPr>
              <p:cNvSpPr>
                <a:spLocks noChangeArrowheads="1"/>
              </p:cNvSpPr>
              <p:nvPr/>
            </p:nvSpPr>
            <p:spPr bwMode="auto">
              <a:xfrm>
                <a:off x="4896" y="3312"/>
                <a:ext cx="240" cy="240"/>
              </a:xfrm>
              <a:prstGeom prst="ellipse">
                <a:avLst/>
              </a:prstGeom>
              <a:noFill/>
              <a:ln w="38100">
                <a:solidFill>
                  <a:schemeClr val="accent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1" name="Line 238">
                <a:extLst>
                  <a:ext uri="{FF2B5EF4-FFF2-40B4-BE49-F238E27FC236}">
                    <a16:creationId xmlns:a16="http://schemas.microsoft.com/office/drawing/2014/main" id="{A48CB770-9C5C-99F7-09FB-689D780EF463}"/>
                  </a:ext>
                </a:extLst>
              </p:cNvPr>
              <p:cNvSpPr>
                <a:spLocks noChangeShapeType="1"/>
              </p:cNvSpPr>
              <p:nvPr/>
            </p:nvSpPr>
            <p:spPr bwMode="auto">
              <a:xfrm flipH="1">
                <a:off x="4950" y="3330"/>
                <a:ext cx="144" cy="192"/>
              </a:xfrm>
              <a:prstGeom prst="line">
                <a:avLst/>
              </a:prstGeom>
              <a:noFill/>
              <a:ln w="38100">
                <a:solidFill>
                  <a:schemeClr val="accent6"/>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78" name="Group 81">
            <a:extLst>
              <a:ext uri="{FF2B5EF4-FFF2-40B4-BE49-F238E27FC236}">
                <a16:creationId xmlns:a16="http://schemas.microsoft.com/office/drawing/2014/main" id="{B20D5569-CDFD-6FDA-2BAD-EB272534EDFC}"/>
              </a:ext>
            </a:extLst>
          </p:cNvPr>
          <p:cNvGrpSpPr>
            <a:grpSpLocks/>
          </p:cNvGrpSpPr>
          <p:nvPr/>
        </p:nvGrpSpPr>
        <p:grpSpPr bwMode="auto">
          <a:xfrm>
            <a:off x="2276760" y="2482444"/>
            <a:ext cx="1882776" cy="582614"/>
            <a:chOff x="1728" y="1674"/>
            <a:chExt cx="1186" cy="367"/>
          </a:xfrm>
        </p:grpSpPr>
        <p:grpSp>
          <p:nvGrpSpPr>
            <p:cNvPr id="79" name="Group 66">
              <a:extLst>
                <a:ext uri="{FF2B5EF4-FFF2-40B4-BE49-F238E27FC236}">
                  <a16:creationId xmlns:a16="http://schemas.microsoft.com/office/drawing/2014/main" id="{A3B73F7F-F719-B146-6419-665FF54D38C5}"/>
                </a:ext>
              </a:extLst>
            </p:cNvPr>
            <p:cNvGrpSpPr>
              <a:grpSpLocks/>
            </p:cNvGrpSpPr>
            <p:nvPr/>
          </p:nvGrpSpPr>
          <p:grpSpPr bwMode="auto">
            <a:xfrm>
              <a:off x="1728" y="1674"/>
              <a:ext cx="1166" cy="367"/>
              <a:chOff x="3444" y="1578"/>
              <a:chExt cx="1166" cy="367"/>
            </a:xfrm>
          </p:grpSpPr>
          <p:sp>
            <p:nvSpPr>
              <p:cNvPr id="227" name="Rectangle 67">
                <a:extLst>
                  <a:ext uri="{FF2B5EF4-FFF2-40B4-BE49-F238E27FC236}">
                    <a16:creationId xmlns:a16="http://schemas.microsoft.com/office/drawing/2014/main" id="{B97FA220-A93E-6BC9-F9A9-70B9AC2A4A0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8" name="Text Box 68">
                <a:extLst>
                  <a:ext uri="{FF2B5EF4-FFF2-40B4-BE49-F238E27FC236}">
                    <a16:creationId xmlns:a16="http://schemas.microsoft.com/office/drawing/2014/main" id="{5F402B8C-0AB6-7D5D-2B5B-97AC21AE1A7E}"/>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229" name="Line 69">
                <a:extLst>
                  <a:ext uri="{FF2B5EF4-FFF2-40B4-BE49-F238E27FC236}">
                    <a16:creationId xmlns:a16="http://schemas.microsoft.com/office/drawing/2014/main" id="{B398993D-FEFD-7BFB-81ED-2BD52C897CC8}"/>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0" name="Rectangle 70">
                <a:extLst>
                  <a:ext uri="{FF2B5EF4-FFF2-40B4-BE49-F238E27FC236}">
                    <a16:creationId xmlns:a16="http://schemas.microsoft.com/office/drawing/2014/main" id="{CF4647B7-C325-B285-BD48-E1E69A700EA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25" name="Text Box 71">
              <a:extLst>
                <a:ext uri="{FF2B5EF4-FFF2-40B4-BE49-F238E27FC236}">
                  <a16:creationId xmlns:a16="http://schemas.microsoft.com/office/drawing/2014/main" id="{056E5EF2-96C7-0A4F-D54C-28BAF6CAB5A4}"/>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sp>
        <p:nvSpPr>
          <p:cNvPr id="53" name="Rectangle 181">
            <a:extLst>
              <a:ext uri="{FF2B5EF4-FFF2-40B4-BE49-F238E27FC236}">
                <a16:creationId xmlns:a16="http://schemas.microsoft.com/office/drawing/2014/main" id="{47D36535-8A92-3347-837A-BCA074BF9910}"/>
              </a:ext>
            </a:extLst>
          </p:cNvPr>
          <p:cNvSpPr>
            <a:spLocks noChangeArrowheads="1"/>
          </p:cNvSpPr>
          <p:nvPr/>
        </p:nvSpPr>
        <p:spPr bwMode="auto">
          <a:xfrm>
            <a:off x="2739756" y="1809258"/>
            <a:ext cx="5482349" cy="748113"/>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spcBef>
                <a:spcPct val="0"/>
              </a:spcBef>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If Northern Home Credit could use a system generated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rejection letter it would reduce the number of manually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generated, personalized packages by 19%</a:t>
            </a:r>
          </a:p>
        </p:txBody>
      </p:sp>
      <p:grpSp>
        <p:nvGrpSpPr>
          <p:cNvPr id="231" name="Group 800">
            <a:extLst>
              <a:ext uri="{FF2B5EF4-FFF2-40B4-BE49-F238E27FC236}">
                <a16:creationId xmlns:a16="http://schemas.microsoft.com/office/drawing/2014/main" id="{D7987B9C-165D-3D7B-7DBA-133D9C22954F}"/>
              </a:ext>
            </a:extLst>
          </p:cNvPr>
          <p:cNvGrpSpPr>
            <a:grpSpLocks/>
          </p:cNvGrpSpPr>
          <p:nvPr/>
        </p:nvGrpSpPr>
        <p:grpSpPr bwMode="auto">
          <a:xfrm>
            <a:off x="3520727" y="5203060"/>
            <a:ext cx="2003425" cy="915987"/>
            <a:chOff x="1765" y="3153"/>
            <a:chExt cx="1262" cy="577"/>
          </a:xfrm>
        </p:grpSpPr>
        <p:sp>
          <p:nvSpPr>
            <p:cNvPr id="232" name="AutoShape 225">
              <a:extLst>
                <a:ext uri="{FF2B5EF4-FFF2-40B4-BE49-F238E27FC236}">
                  <a16:creationId xmlns:a16="http://schemas.microsoft.com/office/drawing/2014/main" id="{3B09C690-432A-A750-F730-D0E8704875B1}"/>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3" name="Text Box 778">
              <a:extLst>
                <a:ext uri="{FF2B5EF4-FFF2-40B4-BE49-F238E27FC236}">
                  <a16:creationId xmlns:a16="http://schemas.microsoft.com/office/drawing/2014/main" id="{63878689-57D3-D6F2-C343-9267D9CB105F}"/>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34" name="Line 779">
              <a:extLst>
                <a:ext uri="{FF2B5EF4-FFF2-40B4-BE49-F238E27FC236}">
                  <a16:creationId xmlns:a16="http://schemas.microsoft.com/office/drawing/2014/main" id="{63DF5C43-1621-E471-7F67-204DA5162784}"/>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0" name="AutoShape 798">
              <a:extLst>
                <a:ext uri="{FF2B5EF4-FFF2-40B4-BE49-F238E27FC236}">
                  <a16:creationId xmlns:a16="http://schemas.microsoft.com/office/drawing/2014/main" id="{C34EA9AF-DEB4-1676-BA80-6C28BE3699BD}"/>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01" name="Line 799">
              <a:extLst>
                <a:ext uri="{FF2B5EF4-FFF2-40B4-BE49-F238E27FC236}">
                  <a16:creationId xmlns:a16="http://schemas.microsoft.com/office/drawing/2014/main" id="{EFD786FA-0B34-7F23-2C53-4729117E51C2}"/>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199" name="Slide Number Placeholder 2">
            <a:extLst>
              <a:ext uri="{FF2B5EF4-FFF2-40B4-BE49-F238E27FC236}">
                <a16:creationId xmlns:a16="http://schemas.microsoft.com/office/drawing/2014/main" id="{AC42EB83-D6A5-C136-5D88-20D296F5753C}"/>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105</a:t>
            </a:fld>
            <a:endParaRPr lang="en-US" dirty="0"/>
          </a:p>
        </p:txBody>
      </p:sp>
    </p:spTree>
    <p:extLst>
      <p:ext uri="{BB962C8B-B14F-4D97-AF65-F5344CB8AC3E}">
        <p14:creationId xmlns:p14="http://schemas.microsoft.com/office/powerpoint/2010/main" val="1865216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up)">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dissolve">
                                      <p:cBhvr>
                                        <p:cTn id="23" dur="500"/>
                                        <p:tgtEl>
                                          <p:spTgt spid="7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1"/>
                                        </p:tgtEl>
                                        <p:attrNameLst>
                                          <p:attrName>style.visibility</p:attrName>
                                        </p:attrNameLst>
                                      </p:cBhvr>
                                      <p:to>
                                        <p:strVal val="visible"/>
                                      </p:to>
                                    </p:set>
                                    <p:animEffect transition="in" filter="dissolve">
                                      <p:cBhvr>
                                        <p:cTn id="28"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 name="Text Box 173">
            <a:extLst>
              <a:ext uri="{FF2B5EF4-FFF2-40B4-BE49-F238E27FC236}">
                <a16:creationId xmlns:a16="http://schemas.microsoft.com/office/drawing/2014/main" id="{94C1D4B1-83DE-DA7C-C128-C1C3B43FB60F}"/>
              </a:ext>
            </a:extLst>
          </p:cNvPr>
          <p:cNvSpPr txBox="1">
            <a:spLocks noChangeArrowheads="1"/>
          </p:cNvSpPr>
          <p:nvPr/>
        </p:nvSpPr>
        <p:spPr bwMode="auto">
          <a:xfrm rot="1611661">
            <a:off x="4527623" y="5544313"/>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4159536" y="1497315"/>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0" name="Text Box 173">
            <a:extLst>
              <a:ext uri="{FF2B5EF4-FFF2-40B4-BE49-F238E27FC236}">
                <a16:creationId xmlns:a16="http://schemas.microsoft.com/office/drawing/2014/main" id="{405958D6-D901-F822-8F7F-A69BD4AEB38A}"/>
              </a:ext>
            </a:extLst>
          </p:cNvPr>
          <p:cNvSpPr txBox="1">
            <a:spLocks noChangeArrowheads="1"/>
          </p:cNvSpPr>
          <p:nvPr/>
        </p:nvSpPr>
        <p:spPr bwMode="auto">
          <a:xfrm rot="1611661">
            <a:off x="6311452" y="5521828"/>
            <a:ext cx="9048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700" dirty="0">
                <a:solidFill>
                  <a:srgbClr val="FF0000"/>
                </a:solidFill>
              </a:rPr>
              <a:t>Standard Work</a:t>
            </a:r>
            <a:endParaRPr lang="en-US" altLang="en-US" sz="1400" b="0" dirty="0">
              <a:solidFill>
                <a:srgbClr val="FF0000"/>
              </a:solidFill>
            </a:endParaRP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sp>
        <p:nvSpPr>
          <p:cNvPr id="75" name="Text Box 155">
            <a:extLst>
              <a:ext uri="{FF2B5EF4-FFF2-40B4-BE49-F238E27FC236}">
                <a16:creationId xmlns:a16="http://schemas.microsoft.com/office/drawing/2014/main" id="{42AB8BAB-6D3D-555A-3286-28D6EAC60123}"/>
              </a:ext>
            </a:extLst>
          </p:cNvPr>
          <p:cNvSpPr txBox="1">
            <a:spLocks noChangeArrowheads="1"/>
          </p:cNvSpPr>
          <p:nvPr/>
        </p:nvSpPr>
        <p:spPr bwMode="auto">
          <a:xfrm>
            <a:off x="3436356" y="5665859"/>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687826" y="4388601"/>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0" name="Text Box 155">
            <a:extLst>
              <a:ext uri="{FF2B5EF4-FFF2-40B4-BE49-F238E27FC236}">
                <a16:creationId xmlns:a16="http://schemas.microsoft.com/office/drawing/2014/main" id="{9FC5A981-59AA-6ACF-025D-343ECDF0B4E6}"/>
              </a:ext>
            </a:extLst>
          </p:cNvPr>
          <p:cNvSpPr txBox="1">
            <a:spLocks noChangeArrowheads="1"/>
          </p:cNvSpPr>
          <p:nvPr/>
        </p:nvSpPr>
        <p:spPr bwMode="auto">
          <a:xfrm>
            <a:off x="7958055"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221" name="Text Box 155">
            <a:extLst>
              <a:ext uri="{FF2B5EF4-FFF2-40B4-BE49-F238E27FC236}">
                <a16:creationId xmlns:a16="http://schemas.microsoft.com/office/drawing/2014/main" id="{47050032-BF94-6650-47DC-8771A0ECC0E1}"/>
              </a:ext>
            </a:extLst>
          </p:cNvPr>
          <p:cNvSpPr txBox="1">
            <a:spLocks noChangeArrowheads="1"/>
          </p:cNvSpPr>
          <p:nvPr/>
        </p:nvSpPr>
        <p:spPr bwMode="auto">
          <a:xfrm>
            <a:off x="6151740" y="4433572"/>
            <a:ext cx="38985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VMQ</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 name="Group 446">
            <a:extLst>
              <a:ext uri="{FF2B5EF4-FFF2-40B4-BE49-F238E27FC236}">
                <a16:creationId xmlns:a16="http://schemas.microsoft.com/office/drawing/2014/main" id="{CE45E573-083A-C579-97D7-A67EC169A8BF}"/>
              </a:ext>
            </a:extLst>
          </p:cNvPr>
          <p:cNvGrpSpPr>
            <a:grpSpLocks/>
          </p:cNvGrpSpPr>
          <p:nvPr/>
        </p:nvGrpSpPr>
        <p:grpSpPr bwMode="auto">
          <a:xfrm>
            <a:off x="5718488" y="2713198"/>
            <a:ext cx="2495549" cy="2249488"/>
            <a:chOff x="2993" y="1846"/>
            <a:chExt cx="1572" cy="1417"/>
          </a:xfrm>
        </p:grpSpPr>
        <p:grpSp>
          <p:nvGrpSpPr>
            <p:cNvPr id="11" name="Group 232">
              <a:extLst>
                <a:ext uri="{FF2B5EF4-FFF2-40B4-BE49-F238E27FC236}">
                  <a16:creationId xmlns:a16="http://schemas.microsoft.com/office/drawing/2014/main" id="{23ED6236-9648-80C0-0E6F-30E7FFE551EA}"/>
                </a:ext>
              </a:extLst>
            </p:cNvPr>
            <p:cNvGrpSpPr>
              <a:grpSpLocks/>
            </p:cNvGrpSpPr>
            <p:nvPr/>
          </p:nvGrpSpPr>
          <p:grpSpPr bwMode="auto">
            <a:xfrm rot="19755509" flipV="1">
              <a:off x="3146" y="1846"/>
              <a:ext cx="1419" cy="1417"/>
              <a:chOff x="636" y="1991"/>
              <a:chExt cx="252" cy="361"/>
            </a:xfrm>
          </p:grpSpPr>
          <p:sp>
            <p:nvSpPr>
              <p:cNvPr id="32" name="Line 233">
                <a:extLst>
                  <a:ext uri="{FF2B5EF4-FFF2-40B4-BE49-F238E27FC236}">
                    <a16:creationId xmlns:a16="http://schemas.microsoft.com/office/drawing/2014/main" id="{F0531D15-7AA3-C873-2A64-7F020B875AEA}"/>
                  </a:ext>
                </a:extLst>
              </p:cNvPr>
              <p:cNvSpPr>
                <a:spLocks noChangeShapeType="1"/>
              </p:cNvSpPr>
              <p:nvPr/>
            </p:nvSpPr>
            <p:spPr bwMode="auto">
              <a:xfrm flipV="1">
                <a:off x="740" y="1991"/>
                <a:ext cx="148" cy="255"/>
              </a:xfrm>
              <a:prstGeom prst="line">
                <a:avLst/>
              </a:prstGeom>
              <a:noFill/>
              <a:ln w="12700" cap="sq">
                <a:solidFill>
                  <a:srgbClr val="EE3228"/>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33" name="Line 234">
                <a:extLst>
                  <a:ext uri="{FF2B5EF4-FFF2-40B4-BE49-F238E27FC236}">
                    <a16:creationId xmlns:a16="http://schemas.microsoft.com/office/drawing/2014/main" id="{2C4E71F6-A048-E36C-5E4A-5E474D3D1CE3}"/>
                  </a:ext>
                </a:extLst>
              </p:cNvPr>
              <p:cNvSpPr>
                <a:spLocks noChangeShapeType="1"/>
              </p:cNvSpPr>
              <p:nvPr/>
            </p:nvSpPr>
            <p:spPr bwMode="auto">
              <a:xfrm>
                <a:off x="732" y="2160"/>
                <a:ext cx="6" cy="90"/>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7" name="Line 235">
                <a:extLst>
                  <a:ext uri="{FF2B5EF4-FFF2-40B4-BE49-F238E27FC236}">
                    <a16:creationId xmlns:a16="http://schemas.microsoft.com/office/drawing/2014/main" id="{E7120874-B540-744D-D22C-A894C0807D1F}"/>
                  </a:ext>
                </a:extLst>
              </p:cNvPr>
              <p:cNvSpPr>
                <a:spLocks noChangeShapeType="1"/>
              </p:cNvSpPr>
              <p:nvPr/>
            </p:nvSpPr>
            <p:spPr bwMode="auto">
              <a:xfrm flipV="1">
                <a:off x="636" y="2160"/>
                <a:ext cx="96" cy="192"/>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4" name="Group 236">
              <a:extLst>
                <a:ext uri="{FF2B5EF4-FFF2-40B4-BE49-F238E27FC236}">
                  <a16:creationId xmlns:a16="http://schemas.microsoft.com/office/drawing/2014/main" id="{349D9B21-E075-0C84-87EA-29D6680E28B2}"/>
                </a:ext>
              </a:extLst>
            </p:cNvPr>
            <p:cNvGrpSpPr>
              <a:grpSpLocks/>
            </p:cNvGrpSpPr>
            <p:nvPr/>
          </p:nvGrpSpPr>
          <p:grpSpPr bwMode="auto">
            <a:xfrm rot="930887">
              <a:off x="2993" y="2436"/>
              <a:ext cx="240" cy="240"/>
              <a:chOff x="4896" y="3312"/>
              <a:chExt cx="240" cy="240"/>
            </a:xfrm>
          </p:grpSpPr>
          <p:sp>
            <p:nvSpPr>
              <p:cNvPr id="30" name="Oval 237">
                <a:extLst>
                  <a:ext uri="{FF2B5EF4-FFF2-40B4-BE49-F238E27FC236}">
                    <a16:creationId xmlns:a16="http://schemas.microsoft.com/office/drawing/2014/main" id="{1F7DA5F9-B8E0-DCFC-E221-461BD409C659}"/>
                  </a:ext>
                </a:extLst>
              </p:cNvPr>
              <p:cNvSpPr>
                <a:spLocks noChangeArrowheads="1"/>
              </p:cNvSpPr>
              <p:nvPr/>
            </p:nvSpPr>
            <p:spPr bwMode="auto">
              <a:xfrm>
                <a:off x="4896" y="3312"/>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1" name="Line 238">
                <a:extLst>
                  <a:ext uri="{FF2B5EF4-FFF2-40B4-BE49-F238E27FC236}">
                    <a16:creationId xmlns:a16="http://schemas.microsoft.com/office/drawing/2014/main" id="{A48CB770-9C5C-99F7-09FB-689D780EF463}"/>
                  </a:ext>
                </a:extLst>
              </p:cNvPr>
              <p:cNvSpPr>
                <a:spLocks noChangeShapeType="1"/>
              </p:cNvSpPr>
              <p:nvPr/>
            </p:nvSpPr>
            <p:spPr bwMode="auto">
              <a:xfrm flipH="1">
                <a:off x="4950" y="3330"/>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78" name="Group 81">
            <a:extLst>
              <a:ext uri="{FF2B5EF4-FFF2-40B4-BE49-F238E27FC236}">
                <a16:creationId xmlns:a16="http://schemas.microsoft.com/office/drawing/2014/main" id="{B20D5569-CDFD-6FDA-2BAD-EB272534EDFC}"/>
              </a:ext>
            </a:extLst>
          </p:cNvPr>
          <p:cNvGrpSpPr>
            <a:grpSpLocks/>
          </p:cNvGrpSpPr>
          <p:nvPr/>
        </p:nvGrpSpPr>
        <p:grpSpPr bwMode="auto">
          <a:xfrm>
            <a:off x="2276760" y="2482444"/>
            <a:ext cx="1882776" cy="582614"/>
            <a:chOff x="1728" y="1674"/>
            <a:chExt cx="1186" cy="367"/>
          </a:xfrm>
        </p:grpSpPr>
        <p:grpSp>
          <p:nvGrpSpPr>
            <p:cNvPr id="79" name="Group 66">
              <a:extLst>
                <a:ext uri="{FF2B5EF4-FFF2-40B4-BE49-F238E27FC236}">
                  <a16:creationId xmlns:a16="http://schemas.microsoft.com/office/drawing/2014/main" id="{A3B73F7F-F719-B146-6419-665FF54D38C5}"/>
                </a:ext>
              </a:extLst>
            </p:cNvPr>
            <p:cNvGrpSpPr>
              <a:grpSpLocks/>
            </p:cNvGrpSpPr>
            <p:nvPr/>
          </p:nvGrpSpPr>
          <p:grpSpPr bwMode="auto">
            <a:xfrm>
              <a:off x="1728" y="1674"/>
              <a:ext cx="1166" cy="367"/>
              <a:chOff x="3444" y="1578"/>
              <a:chExt cx="1166" cy="367"/>
            </a:xfrm>
          </p:grpSpPr>
          <p:sp>
            <p:nvSpPr>
              <p:cNvPr id="227" name="Rectangle 67">
                <a:extLst>
                  <a:ext uri="{FF2B5EF4-FFF2-40B4-BE49-F238E27FC236}">
                    <a16:creationId xmlns:a16="http://schemas.microsoft.com/office/drawing/2014/main" id="{B97FA220-A93E-6BC9-F9A9-70B9AC2A4A0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8" name="Text Box 68">
                <a:extLst>
                  <a:ext uri="{FF2B5EF4-FFF2-40B4-BE49-F238E27FC236}">
                    <a16:creationId xmlns:a16="http://schemas.microsoft.com/office/drawing/2014/main" id="{5F402B8C-0AB6-7D5D-2B5B-97AC21AE1A7E}"/>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229" name="Line 69">
                <a:extLst>
                  <a:ext uri="{FF2B5EF4-FFF2-40B4-BE49-F238E27FC236}">
                    <a16:creationId xmlns:a16="http://schemas.microsoft.com/office/drawing/2014/main" id="{B398993D-FEFD-7BFB-81ED-2BD52C897CC8}"/>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0" name="Rectangle 70">
                <a:extLst>
                  <a:ext uri="{FF2B5EF4-FFF2-40B4-BE49-F238E27FC236}">
                    <a16:creationId xmlns:a16="http://schemas.microsoft.com/office/drawing/2014/main" id="{CF4647B7-C325-B285-BD48-E1E69A700EA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25" name="Text Box 71">
              <a:extLst>
                <a:ext uri="{FF2B5EF4-FFF2-40B4-BE49-F238E27FC236}">
                  <a16:creationId xmlns:a16="http://schemas.microsoft.com/office/drawing/2014/main" id="{056E5EF2-96C7-0A4F-D54C-28BAF6CAB5A4}"/>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231" name="Group 800">
            <a:extLst>
              <a:ext uri="{FF2B5EF4-FFF2-40B4-BE49-F238E27FC236}">
                <a16:creationId xmlns:a16="http://schemas.microsoft.com/office/drawing/2014/main" id="{D7987B9C-165D-3D7B-7DBA-133D9C22954F}"/>
              </a:ext>
            </a:extLst>
          </p:cNvPr>
          <p:cNvGrpSpPr>
            <a:grpSpLocks/>
          </p:cNvGrpSpPr>
          <p:nvPr/>
        </p:nvGrpSpPr>
        <p:grpSpPr bwMode="auto">
          <a:xfrm>
            <a:off x="3520727" y="5203060"/>
            <a:ext cx="2003425" cy="915987"/>
            <a:chOff x="1765" y="3153"/>
            <a:chExt cx="1262" cy="577"/>
          </a:xfrm>
        </p:grpSpPr>
        <p:sp>
          <p:nvSpPr>
            <p:cNvPr id="232" name="AutoShape 225">
              <a:extLst>
                <a:ext uri="{FF2B5EF4-FFF2-40B4-BE49-F238E27FC236}">
                  <a16:creationId xmlns:a16="http://schemas.microsoft.com/office/drawing/2014/main" id="{3B09C690-432A-A750-F730-D0E8704875B1}"/>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3" name="Text Box 778">
              <a:extLst>
                <a:ext uri="{FF2B5EF4-FFF2-40B4-BE49-F238E27FC236}">
                  <a16:creationId xmlns:a16="http://schemas.microsoft.com/office/drawing/2014/main" id="{63878689-57D3-D6F2-C343-9267D9CB105F}"/>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34" name="Line 779">
              <a:extLst>
                <a:ext uri="{FF2B5EF4-FFF2-40B4-BE49-F238E27FC236}">
                  <a16:creationId xmlns:a16="http://schemas.microsoft.com/office/drawing/2014/main" id="{63DF5C43-1621-E471-7F67-204DA5162784}"/>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0" name="AutoShape 798">
              <a:extLst>
                <a:ext uri="{FF2B5EF4-FFF2-40B4-BE49-F238E27FC236}">
                  <a16:creationId xmlns:a16="http://schemas.microsoft.com/office/drawing/2014/main" id="{C34EA9AF-DEB4-1676-BA80-6C28BE3699BD}"/>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01" name="Line 799">
              <a:extLst>
                <a:ext uri="{FF2B5EF4-FFF2-40B4-BE49-F238E27FC236}">
                  <a16:creationId xmlns:a16="http://schemas.microsoft.com/office/drawing/2014/main" id="{EFD786FA-0B34-7F23-2C53-4729117E51C2}"/>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53" name="Slide Number Placeholder 2">
            <a:extLst>
              <a:ext uri="{FF2B5EF4-FFF2-40B4-BE49-F238E27FC236}">
                <a16:creationId xmlns:a16="http://schemas.microsoft.com/office/drawing/2014/main" id="{D594D92D-5202-F392-9CED-D841C217C912}"/>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106</a:t>
            </a:fld>
            <a:endParaRPr lang="en-US" dirty="0"/>
          </a:p>
        </p:txBody>
      </p:sp>
    </p:spTree>
    <p:extLst>
      <p:ext uri="{BB962C8B-B14F-4D97-AF65-F5344CB8AC3E}">
        <p14:creationId xmlns:p14="http://schemas.microsoft.com/office/powerpoint/2010/main" val="1831100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up)">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dissolve">
                                      <p:cBhvr>
                                        <p:cTn id="23" dur="500"/>
                                        <p:tgtEl>
                                          <p:spTgt spid="7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1"/>
                                        </p:tgtEl>
                                        <p:attrNameLst>
                                          <p:attrName>style.visibility</p:attrName>
                                        </p:attrNameLst>
                                      </p:cBhvr>
                                      <p:to>
                                        <p:strVal val="visible"/>
                                      </p:to>
                                    </p:set>
                                    <p:animEffect transition="in" filter="dissolve">
                                      <p:cBhvr>
                                        <p:cTn id="28"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2" name="Title 1">
            <a:extLst>
              <a:ext uri="{FF2B5EF4-FFF2-40B4-BE49-F238E27FC236}">
                <a16:creationId xmlns:a16="http://schemas.microsoft.com/office/drawing/2014/main" id="{730FB923-DB4A-28F9-D649-0B1CDAA602CF}"/>
              </a:ext>
            </a:extLst>
          </p:cNvPr>
          <p:cNvSpPr>
            <a:spLocks noGrp="1"/>
          </p:cNvSpPr>
          <p:nvPr>
            <p:ph type="title" idx="4294967295"/>
          </p:nvPr>
        </p:nvSpPr>
        <p:spPr>
          <a:xfrm>
            <a:off x="480387" y="681038"/>
            <a:ext cx="10515600" cy="681168"/>
          </a:xfrm>
        </p:spPr>
        <p:txBody>
          <a:bodyPr>
            <a:normAutofit/>
          </a:bodyPr>
          <a:lstStyle/>
          <a:p>
            <a:r>
              <a:rPr lang="en-US" altLang="en-US" sz="3200" dirty="0"/>
              <a:t>Is the current process producing to takt time?</a:t>
            </a:r>
            <a:endParaRPr lang="en-US" sz="3200" dirty="0"/>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4159536" y="1497315"/>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112" name="Group 111">
            <a:extLst>
              <a:ext uri="{FF2B5EF4-FFF2-40B4-BE49-F238E27FC236}">
                <a16:creationId xmlns:a16="http://schemas.microsoft.com/office/drawing/2014/main" id="{C14B40BF-D2A3-A9E1-2D65-F3E50D017622}"/>
              </a:ext>
            </a:extLst>
          </p:cNvPr>
          <p:cNvGrpSpPr/>
          <p:nvPr/>
        </p:nvGrpSpPr>
        <p:grpSpPr>
          <a:xfrm>
            <a:off x="940249" y="302538"/>
            <a:ext cx="6219503" cy="311932"/>
            <a:chOff x="940249" y="302538"/>
            <a:chExt cx="6219503" cy="311932"/>
          </a:xfrm>
        </p:grpSpPr>
        <p:sp>
          <p:nvSpPr>
            <p:cNvPr id="113" name="TextBox 112">
              <a:extLst>
                <a:ext uri="{FF2B5EF4-FFF2-40B4-BE49-F238E27FC236}">
                  <a16:creationId xmlns:a16="http://schemas.microsoft.com/office/drawing/2014/main" id="{102B912B-3201-E893-9E64-E46FFFC7CB47}"/>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115" name="AutoShape 9">
              <a:extLst>
                <a:ext uri="{FF2B5EF4-FFF2-40B4-BE49-F238E27FC236}">
                  <a16:creationId xmlns:a16="http://schemas.microsoft.com/office/drawing/2014/main" id="{0FD14B65-640D-1009-8F3A-A18F56FF6133}"/>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1" name="AutoShape 9">
              <a:extLst>
                <a:ext uri="{FF2B5EF4-FFF2-40B4-BE49-F238E27FC236}">
                  <a16:creationId xmlns:a16="http://schemas.microsoft.com/office/drawing/2014/main" id="{7BAB8363-F95F-4722-7246-D2CFA78D399A}"/>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2" name="AutoShape 9">
              <a:extLst>
                <a:ext uri="{FF2B5EF4-FFF2-40B4-BE49-F238E27FC236}">
                  <a16:creationId xmlns:a16="http://schemas.microsoft.com/office/drawing/2014/main" id="{7307D5BB-EA29-1FF1-7FEE-0522CF6B45DD}"/>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3" name="AutoShape 9">
              <a:extLst>
                <a:ext uri="{FF2B5EF4-FFF2-40B4-BE49-F238E27FC236}">
                  <a16:creationId xmlns:a16="http://schemas.microsoft.com/office/drawing/2014/main" id="{0BE6408F-7345-F44C-0D26-A6CFC6687B20}"/>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4" name="AutoShape 11">
              <a:extLst>
                <a:ext uri="{FF2B5EF4-FFF2-40B4-BE49-F238E27FC236}">
                  <a16:creationId xmlns:a16="http://schemas.microsoft.com/office/drawing/2014/main" id="{1BAF9F7E-052B-5072-A25B-37B625761AC0}"/>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432305" y="4335125"/>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 name="Group 446">
            <a:extLst>
              <a:ext uri="{FF2B5EF4-FFF2-40B4-BE49-F238E27FC236}">
                <a16:creationId xmlns:a16="http://schemas.microsoft.com/office/drawing/2014/main" id="{CE45E573-083A-C579-97D7-A67EC169A8BF}"/>
              </a:ext>
            </a:extLst>
          </p:cNvPr>
          <p:cNvGrpSpPr>
            <a:grpSpLocks/>
          </p:cNvGrpSpPr>
          <p:nvPr/>
        </p:nvGrpSpPr>
        <p:grpSpPr bwMode="auto">
          <a:xfrm>
            <a:off x="5718488" y="2713198"/>
            <a:ext cx="2495549" cy="2249488"/>
            <a:chOff x="2993" y="1846"/>
            <a:chExt cx="1572" cy="1417"/>
          </a:xfrm>
        </p:grpSpPr>
        <p:grpSp>
          <p:nvGrpSpPr>
            <p:cNvPr id="11" name="Group 232">
              <a:extLst>
                <a:ext uri="{FF2B5EF4-FFF2-40B4-BE49-F238E27FC236}">
                  <a16:creationId xmlns:a16="http://schemas.microsoft.com/office/drawing/2014/main" id="{23ED6236-9648-80C0-0E6F-30E7FFE551EA}"/>
                </a:ext>
              </a:extLst>
            </p:cNvPr>
            <p:cNvGrpSpPr>
              <a:grpSpLocks/>
            </p:cNvGrpSpPr>
            <p:nvPr/>
          </p:nvGrpSpPr>
          <p:grpSpPr bwMode="auto">
            <a:xfrm rot="19755509" flipV="1">
              <a:off x="3146" y="1846"/>
              <a:ext cx="1419" cy="1417"/>
              <a:chOff x="636" y="1991"/>
              <a:chExt cx="252" cy="361"/>
            </a:xfrm>
          </p:grpSpPr>
          <p:sp>
            <p:nvSpPr>
              <p:cNvPr id="32" name="Line 233">
                <a:extLst>
                  <a:ext uri="{FF2B5EF4-FFF2-40B4-BE49-F238E27FC236}">
                    <a16:creationId xmlns:a16="http://schemas.microsoft.com/office/drawing/2014/main" id="{F0531D15-7AA3-C873-2A64-7F020B875AEA}"/>
                  </a:ext>
                </a:extLst>
              </p:cNvPr>
              <p:cNvSpPr>
                <a:spLocks noChangeShapeType="1"/>
              </p:cNvSpPr>
              <p:nvPr/>
            </p:nvSpPr>
            <p:spPr bwMode="auto">
              <a:xfrm flipV="1">
                <a:off x="740" y="1991"/>
                <a:ext cx="148" cy="255"/>
              </a:xfrm>
              <a:prstGeom prst="line">
                <a:avLst/>
              </a:prstGeom>
              <a:noFill/>
              <a:ln w="12700" cap="sq">
                <a:solidFill>
                  <a:srgbClr val="EE3228"/>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33" name="Line 234">
                <a:extLst>
                  <a:ext uri="{FF2B5EF4-FFF2-40B4-BE49-F238E27FC236}">
                    <a16:creationId xmlns:a16="http://schemas.microsoft.com/office/drawing/2014/main" id="{2C4E71F6-A048-E36C-5E4A-5E474D3D1CE3}"/>
                  </a:ext>
                </a:extLst>
              </p:cNvPr>
              <p:cNvSpPr>
                <a:spLocks noChangeShapeType="1"/>
              </p:cNvSpPr>
              <p:nvPr/>
            </p:nvSpPr>
            <p:spPr bwMode="auto">
              <a:xfrm>
                <a:off x="732" y="2160"/>
                <a:ext cx="6" cy="90"/>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7" name="Line 235">
                <a:extLst>
                  <a:ext uri="{FF2B5EF4-FFF2-40B4-BE49-F238E27FC236}">
                    <a16:creationId xmlns:a16="http://schemas.microsoft.com/office/drawing/2014/main" id="{E7120874-B540-744D-D22C-A894C0807D1F}"/>
                  </a:ext>
                </a:extLst>
              </p:cNvPr>
              <p:cNvSpPr>
                <a:spLocks noChangeShapeType="1"/>
              </p:cNvSpPr>
              <p:nvPr/>
            </p:nvSpPr>
            <p:spPr bwMode="auto">
              <a:xfrm flipV="1">
                <a:off x="636" y="2160"/>
                <a:ext cx="96" cy="192"/>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4" name="Group 236">
              <a:extLst>
                <a:ext uri="{FF2B5EF4-FFF2-40B4-BE49-F238E27FC236}">
                  <a16:creationId xmlns:a16="http://schemas.microsoft.com/office/drawing/2014/main" id="{349D9B21-E075-0C84-87EA-29D6680E28B2}"/>
                </a:ext>
              </a:extLst>
            </p:cNvPr>
            <p:cNvGrpSpPr>
              <a:grpSpLocks/>
            </p:cNvGrpSpPr>
            <p:nvPr/>
          </p:nvGrpSpPr>
          <p:grpSpPr bwMode="auto">
            <a:xfrm rot="930887">
              <a:off x="2993" y="2436"/>
              <a:ext cx="240" cy="240"/>
              <a:chOff x="4896" y="3312"/>
              <a:chExt cx="240" cy="240"/>
            </a:xfrm>
          </p:grpSpPr>
          <p:sp>
            <p:nvSpPr>
              <p:cNvPr id="30" name="Oval 237">
                <a:extLst>
                  <a:ext uri="{FF2B5EF4-FFF2-40B4-BE49-F238E27FC236}">
                    <a16:creationId xmlns:a16="http://schemas.microsoft.com/office/drawing/2014/main" id="{1F7DA5F9-B8E0-DCFC-E221-461BD409C659}"/>
                  </a:ext>
                </a:extLst>
              </p:cNvPr>
              <p:cNvSpPr>
                <a:spLocks noChangeArrowheads="1"/>
              </p:cNvSpPr>
              <p:nvPr/>
            </p:nvSpPr>
            <p:spPr bwMode="auto">
              <a:xfrm>
                <a:off x="4896" y="3312"/>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1" name="Line 238">
                <a:extLst>
                  <a:ext uri="{FF2B5EF4-FFF2-40B4-BE49-F238E27FC236}">
                    <a16:creationId xmlns:a16="http://schemas.microsoft.com/office/drawing/2014/main" id="{A48CB770-9C5C-99F7-09FB-689D780EF463}"/>
                  </a:ext>
                </a:extLst>
              </p:cNvPr>
              <p:cNvSpPr>
                <a:spLocks noChangeShapeType="1"/>
              </p:cNvSpPr>
              <p:nvPr/>
            </p:nvSpPr>
            <p:spPr bwMode="auto">
              <a:xfrm flipH="1">
                <a:off x="4950" y="3330"/>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78" name="Group 81">
            <a:extLst>
              <a:ext uri="{FF2B5EF4-FFF2-40B4-BE49-F238E27FC236}">
                <a16:creationId xmlns:a16="http://schemas.microsoft.com/office/drawing/2014/main" id="{B20D5569-CDFD-6FDA-2BAD-EB272534EDFC}"/>
              </a:ext>
            </a:extLst>
          </p:cNvPr>
          <p:cNvGrpSpPr>
            <a:grpSpLocks/>
          </p:cNvGrpSpPr>
          <p:nvPr/>
        </p:nvGrpSpPr>
        <p:grpSpPr bwMode="auto">
          <a:xfrm>
            <a:off x="2276760" y="2482444"/>
            <a:ext cx="1882776" cy="582614"/>
            <a:chOff x="1728" y="1674"/>
            <a:chExt cx="1186" cy="367"/>
          </a:xfrm>
        </p:grpSpPr>
        <p:grpSp>
          <p:nvGrpSpPr>
            <p:cNvPr id="79" name="Group 66">
              <a:extLst>
                <a:ext uri="{FF2B5EF4-FFF2-40B4-BE49-F238E27FC236}">
                  <a16:creationId xmlns:a16="http://schemas.microsoft.com/office/drawing/2014/main" id="{A3B73F7F-F719-B146-6419-665FF54D38C5}"/>
                </a:ext>
              </a:extLst>
            </p:cNvPr>
            <p:cNvGrpSpPr>
              <a:grpSpLocks/>
            </p:cNvGrpSpPr>
            <p:nvPr/>
          </p:nvGrpSpPr>
          <p:grpSpPr bwMode="auto">
            <a:xfrm>
              <a:off x="1728" y="1674"/>
              <a:ext cx="1166" cy="367"/>
              <a:chOff x="3444" y="1578"/>
              <a:chExt cx="1166" cy="367"/>
            </a:xfrm>
          </p:grpSpPr>
          <p:sp>
            <p:nvSpPr>
              <p:cNvPr id="227" name="Rectangle 67">
                <a:extLst>
                  <a:ext uri="{FF2B5EF4-FFF2-40B4-BE49-F238E27FC236}">
                    <a16:creationId xmlns:a16="http://schemas.microsoft.com/office/drawing/2014/main" id="{B97FA220-A93E-6BC9-F9A9-70B9AC2A4A0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8" name="Text Box 68">
                <a:extLst>
                  <a:ext uri="{FF2B5EF4-FFF2-40B4-BE49-F238E27FC236}">
                    <a16:creationId xmlns:a16="http://schemas.microsoft.com/office/drawing/2014/main" id="{5F402B8C-0AB6-7D5D-2B5B-97AC21AE1A7E}"/>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229" name="Line 69">
                <a:extLst>
                  <a:ext uri="{FF2B5EF4-FFF2-40B4-BE49-F238E27FC236}">
                    <a16:creationId xmlns:a16="http://schemas.microsoft.com/office/drawing/2014/main" id="{B398993D-FEFD-7BFB-81ED-2BD52C897CC8}"/>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0" name="Rectangle 70">
                <a:extLst>
                  <a:ext uri="{FF2B5EF4-FFF2-40B4-BE49-F238E27FC236}">
                    <a16:creationId xmlns:a16="http://schemas.microsoft.com/office/drawing/2014/main" id="{CF4647B7-C325-B285-BD48-E1E69A700EA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25" name="Text Box 71">
              <a:extLst>
                <a:ext uri="{FF2B5EF4-FFF2-40B4-BE49-F238E27FC236}">
                  <a16:creationId xmlns:a16="http://schemas.microsoft.com/office/drawing/2014/main" id="{056E5EF2-96C7-0A4F-D54C-28BAF6CAB5A4}"/>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231" name="Group 800">
            <a:extLst>
              <a:ext uri="{FF2B5EF4-FFF2-40B4-BE49-F238E27FC236}">
                <a16:creationId xmlns:a16="http://schemas.microsoft.com/office/drawing/2014/main" id="{D7987B9C-165D-3D7B-7DBA-133D9C22954F}"/>
              </a:ext>
            </a:extLst>
          </p:cNvPr>
          <p:cNvGrpSpPr>
            <a:grpSpLocks/>
          </p:cNvGrpSpPr>
          <p:nvPr/>
        </p:nvGrpSpPr>
        <p:grpSpPr bwMode="auto">
          <a:xfrm>
            <a:off x="3520727" y="5203060"/>
            <a:ext cx="2003425" cy="915987"/>
            <a:chOff x="1765" y="3153"/>
            <a:chExt cx="1262" cy="577"/>
          </a:xfrm>
        </p:grpSpPr>
        <p:sp>
          <p:nvSpPr>
            <p:cNvPr id="232" name="AutoShape 225">
              <a:extLst>
                <a:ext uri="{FF2B5EF4-FFF2-40B4-BE49-F238E27FC236}">
                  <a16:creationId xmlns:a16="http://schemas.microsoft.com/office/drawing/2014/main" id="{3B09C690-432A-A750-F730-D0E8704875B1}"/>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3" name="Text Box 778">
              <a:extLst>
                <a:ext uri="{FF2B5EF4-FFF2-40B4-BE49-F238E27FC236}">
                  <a16:creationId xmlns:a16="http://schemas.microsoft.com/office/drawing/2014/main" id="{63878689-57D3-D6F2-C343-9267D9CB105F}"/>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34" name="Line 779">
              <a:extLst>
                <a:ext uri="{FF2B5EF4-FFF2-40B4-BE49-F238E27FC236}">
                  <a16:creationId xmlns:a16="http://schemas.microsoft.com/office/drawing/2014/main" id="{63DF5C43-1621-E471-7F67-204DA5162784}"/>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0" name="AutoShape 798">
              <a:extLst>
                <a:ext uri="{FF2B5EF4-FFF2-40B4-BE49-F238E27FC236}">
                  <a16:creationId xmlns:a16="http://schemas.microsoft.com/office/drawing/2014/main" id="{C34EA9AF-DEB4-1676-BA80-6C28BE3699BD}"/>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01" name="Line 799">
              <a:extLst>
                <a:ext uri="{FF2B5EF4-FFF2-40B4-BE49-F238E27FC236}">
                  <a16:creationId xmlns:a16="http://schemas.microsoft.com/office/drawing/2014/main" id="{EFD786FA-0B34-7F23-2C53-4729117E51C2}"/>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53" name="Text Box 155">
            <a:extLst>
              <a:ext uri="{FF2B5EF4-FFF2-40B4-BE49-F238E27FC236}">
                <a16:creationId xmlns:a16="http://schemas.microsoft.com/office/drawing/2014/main" id="{75950FCF-55CF-BF5E-C5AB-8EB7B8B9602D}"/>
              </a:ext>
            </a:extLst>
          </p:cNvPr>
          <p:cNvSpPr txBox="1">
            <a:spLocks noChangeArrowheads="1"/>
          </p:cNvSpPr>
          <p:nvPr/>
        </p:nvSpPr>
        <p:spPr bwMode="auto">
          <a:xfrm>
            <a:off x="1384180" y="3997846"/>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2</a:t>
            </a:r>
          </a:p>
        </p:txBody>
      </p:sp>
      <p:sp>
        <p:nvSpPr>
          <p:cNvPr id="199" name="Text Box 155">
            <a:extLst>
              <a:ext uri="{FF2B5EF4-FFF2-40B4-BE49-F238E27FC236}">
                <a16:creationId xmlns:a16="http://schemas.microsoft.com/office/drawing/2014/main" id="{4C1DF0AC-7AEF-CA7B-F51C-0E4078000818}"/>
              </a:ext>
            </a:extLst>
          </p:cNvPr>
          <p:cNvSpPr txBox="1">
            <a:spLocks noChangeArrowheads="1"/>
          </p:cNvSpPr>
          <p:nvPr/>
        </p:nvSpPr>
        <p:spPr bwMode="auto">
          <a:xfrm>
            <a:off x="2628364" y="4102777"/>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3</a:t>
            </a:r>
          </a:p>
        </p:txBody>
      </p:sp>
      <p:sp>
        <p:nvSpPr>
          <p:cNvPr id="201" name="Text Box 155">
            <a:extLst>
              <a:ext uri="{FF2B5EF4-FFF2-40B4-BE49-F238E27FC236}">
                <a16:creationId xmlns:a16="http://schemas.microsoft.com/office/drawing/2014/main" id="{EC95A1F2-252D-CFE4-752F-56F55D0F6C2D}"/>
              </a:ext>
            </a:extLst>
          </p:cNvPr>
          <p:cNvSpPr txBox="1">
            <a:spLocks noChangeArrowheads="1"/>
          </p:cNvSpPr>
          <p:nvPr/>
        </p:nvSpPr>
        <p:spPr bwMode="auto">
          <a:xfrm>
            <a:off x="5784963" y="3278318"/>
            <a:ext cx="389851"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12</a:t>
            </a:r>
          </a:p>
        </p:txBody>
      </p:sp>
      <p:sp>
        <p:nvSpPr>
          <p:cNvPr id="202" name="Text Box 155">
            <a:extLst>
              <a:ext uri="{FF2B5EF4-FFF2-40B4-BE49-F238E27FC236}">
                <a16:creationId xmlns:a16="http://schemas.microsoft.com/office/drawing/2014/main" id="{9B0BC3FD-B1E6-B1AF-D736-41BBB31BFE6A}"/>
              </a:ext>
            </a:extLst>
          </p:cNvPr>
          <p:cNvSpPr txBox="1">
            <a:spLocks noChangeArrowheads="1"/>
          </p:cNvSpPr>
          <p:nvPr/>
        </p:nvSpPr>
        <p:spPr bwMode="auto">
          <a:xfrm>
            <a:off x="6173538" y="4170233"/>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8</a:t>
            </a:r>
          </a:p>
        </p:txBody>
      </p:sp>
      <p:sp>
        <p:nvSpPr>
          <p:cNvPr id="222" name="Text Box 155">
            <a:extLst>
              <a:ext uri="{FF2B5EF4-FFF2-40B4-BE49-F238E27FC236}">
                <a16:creationId xmlns:a16="http://schemas.microsoft.com/office/drawing/2014/main" id="{D0A4C422-6BAA-F32A-CFFF-1352B6D550EF}"/>
              </a:ext>
            </a:extLst>
          </p:cNvPr>
          <p:cNvSpPr txBox="1">
            <a:spLocks noChangeArrowheads="1"/>
          </p:cNvSpPr>
          <p:nvPr/>
        </p:nvSpPr>
        <p:spPr bwMode="auto">
          <a:xfrm>
            <a:off x="7366426" y="4027826"/>
            <a:ext cx="389851"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10</a:t>
            </a:r>
          </a:p>
        </p:txBody>
      </p:sp>
      <p:sp>
        <p:nvSpPr>
          <p:cNvPr id="223" name="Text Box 155">
            <a:extLst>
              <a:ext uri="{FF2B5EF4-FFF2-40B4-BE49-F238E27FC236}">
                <a16:creationId xmlns:a16="http://schemas.microsoft.com/office/drawing/2014/main" id="{D4E6E1E0-4F02-825C-2AE6-A5DB7EDBDA22}"/>
              </a:ext>
            </a:extLst>
          </p:cNvPr>
          <p:cNvSpPr txBox="1">
            <a:spLocks noChangeArrowheads="1"/>
          </p:cNvSpPr>
          <p:nvPr/>
        </p:nvSpPr>
        <p:spPr bwMode="auto">
          <a:xfrm>
            <a:off x="7943548" y="4117767"/>
            <a:ext cx="389850"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11</a:t>
            </a:r>
          </a:p>
        </p:txBody>
      </p:sp>
      <p:sp>
        <p:nvSpPr>
          <p:cNvPr id="224" name="Rectangle 181">
            <a:extLst>
              <a:ext uri="{FF2B5EF4-FFF2-40B4-BE49-F238E27FC236}">
                <a16:creationId xmlns:a16="http://schemas.microsoft.com/office/drawing/2014/main" id="{7815C8DA-586C-5180-39C3-626B5A5C3876}"/>
              </a:ext>
            </a:extLst>
          </p:cNvPr>
          <p:cNvSpPr>
            <a:spLocks noChangeArrowheads="1"/>
          </p:cNvSpPr>
          <p:nvPr/>
        </p:nvSpPr>
        <p:spPr bwMode="auto">
          <a:xfrm>
            <a:off x="2738409" y="1539583"/>
            <a:ext cx="5482349" cy="1250569"/>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spcBef>
                <a:spcPct val="0"/>
              </a:spcBef>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When mapping long value streams, another option to</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labeling each burst with a descriptor, is to number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each burst and separately detail what each burst involves.</a:t>
            </a:r>
          </a:p>
          <a:p>
            <a:pPr algn="ctr">
              <a:spcBef>
                <a:spcPct val="0"/>
              </a:spcBef>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This numbering system can transfer directly to the </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Value Stream Plan you will later develop.</a:t>
            </a:r>
          </a:p>
        </p:txBody>
      </p:sp>
      <p:sp>
        <p:nvSpPr>
          <p:cNvPr id="8" name="Slide Number Placeholder 2">
            <a:extLst>
              <a:ext uri="{FF2B5EF4-FFF2-40B4-BE49-F238E27FC236}">
                <a16:creationId xmlns:a16="http://schemas.microsoft.com/office/drawing/2014/main" id="{D27BCC21-7B80-873C-A247-E9DAFC491454}"/>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107</a:t>
            </a:fld>
            <a:endParaRPr lang="en-US" dirty="0"/>
          </a:p>
        </p:txBody>
      </p:sp>
      <p:sp>
        <p:nvSpPr>
          <p:cNvPr id="75" name="Text Box 155">
            <a:extLst>
              <a:ext uri="{FF2B5EF4-FFF2-40B4-BE49-F238E27FC236}">
                <a16:creationId xmlns:a16="http://schemas.microsoft.com/office/drawing/2014/main" id="{ECEBB859-6A8C-1912-2366-104FAF49ED70}"/>
              </a:ext>
            </a:extLst>
          </p:cNvPr>
          <p:cNvSpPr txBox="1">
            <a:spLocks noChangeArrowheads="1"/>
          </p:cNvSpPr>
          <p:nvPr/>
        </p:nvSpPr>
        <p:spPr bwMode="auto">
          <a:xfrm>
            <a:off x="3436356" y="5665859"/>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sp>
        <p:nvSpPr>
          <p:cNvPr id="110" name="Text Box 155">
            <a:extLst>
              <a:ext uri="{FF2B5EF4-FFF2-40B4-BE49-F238E27FC236}">
                <a16:creationId xmlns:a16="http://schemas.microsoft.com/office/drawing/2014/main" id="{878BDA26-69FD-6952-E28D-1D903D622ABD}"/>
              </a:ext>
            </a:extLst>
          </p:cNvPr>
          <p:cNvSpPr txBox="1">
            <a:spLocks noChangeArrowheads="1"/>
          </p:cNvSpPr>
          <p:nvPr/>
        </p:nvSpPr>
        <p:spPr bwMode="auto">
          <a:xfrm>
            <a:off x="2943357" y="5647154"/>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4</a:t>
            </a:r>
          </a:p>
        </p:txBody>
      </p:sp>
      <p:sp>
        <p:nvSpPr>
          <p:cNvPr id="220" name="Text Box 155">
            <a:extLst>
              <a:ext uri="{FF2B5EF4-FFF2-40B4-BE49-F238E27FC236}">
                <a16:creationId xmlns:a16="http://schemas.microsoft.com/office/drawing/2014/main" id="{17128BE5-C71C-C29B-5521-EEA77679610A}"/>
              </a:ext>
            </a:extLst>
          </p:cNvPr>
          <p:cNvSpPr txBox="1">
            <a:spLocks noChangeArrowheads="1"/>
          </p:cNvSpPr>
          <p:nvPr/>
        </p:nvSpPr>
        <p:spPr bwMode="auto">
          <a:xfrm>
            <a:off x="4181993" y="5332658"/>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5</a:t>
            </a:r>
          </a:p>
        </p:txBody>
      </p:sp>
      <p:sp>
        <p:nvSpPr>
          <p:cNvPr id="221" name="Text Box 155">
            <a:extLst>
              <a:ext uri="{FF2B5EF4-FFF2-40B4-BE49-F238E27FC236}">
                <a16:creationId xmlns:a16="http://schemas.microsoft.com/office/drawing/2014/main" id="{F215573C-E5D1-8828-3AFD-135A06CBB483}"/>
              </a:ext>
            </a:extLst>
          </p:cNvPr>
          <p:cNvSpPr txBox="1">
            <a:spLocks noChangeArrowheads="1"/>
          </p:cNvSpPr>
          <p:nvPr/>
        </p:nvSpPr>
        <p:spPr bwMode="auto">
          <a:xfrm>
            <a:off x="5390503" y="4377033"/>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7</a:t>
            </a:r>
          </a:p>
        </p:txBody>
      </p:sp>
      <p:sp>
        <p:nvSpPr>
          <p:cNvPr id="302" name="Text Box 155">
            <a:extLst>
              <a:ext uri="{FF2B5EF4-FFF2-40B4-BE49-F238E27FC236}">
                <a16:creationId xmlns:a16="http://schemas.microsoft.com/office/drawing/2014/main" id="{E171D145-E025-A78F-CE7B-2674824E792C}"/>
              </a:ext>
            </a:extLst>
          </p:cNvPr>
          <p:cNvSpPr txBox="1">
            <a:spLocks noChangeArrowheads="1"/>
          </p:cNvSpPr>
          <p:nvPr/>
        </p:nvSpPr>
        <p:spPr bwMode="auto">
          <a:xfrm>
            <a:off x="4557833" y="5301215"/>
            <a:ext cx="287259"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6</a:t>
            </a:r>
          </a:p>
        </p:txBody>
      </p:sp>
    </p:spTree>
    <p:extLst>
      <p:ext uri="{BB962C8B-B14F-4D97-AF65-F5344CB8AC3E}">
        <p14:creationId xmlns:p14="http://schemas.microsoft.com/office/powerpoint/2010/main" val="2561440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up)">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dissolve">
                                      <p:cBhvr>
                                        <p:cTn id="23" dur="500"/>
                                        <p:tgtEl>
                                          <p:spTgt spid="7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1"/>
                                        </p:tgtEl>
                                        <p:attrNameLst>
                                          <p:attrName>style.visibility</p:attrName>
                                        </p:attrNameLst>
                                      </p:cBhvr>
                                      <p:to>
                                        <p:strVal val="visible"/>
                                      </p:to>
                                    </p:set>
                                    <p:animEffect transition="in" filter="dissolve">
                                      <p:cBhvr>
                                        <p:cTn id="28"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Exercise</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Create a marked-up Current State Map for Carl’s Credit Cards.</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108</a:t>
            </a:fld>
            <a:endParaRPr lang="en-US" dirty="0"/>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400" b="0" dirty="0">
                <a:solidFill>
                  <a:schemeClr val="bg1"/>
                </a:solidFill>
              </a:rPr>
              <a:t>One person from the </a:t>
            </a:r>
            <a:br>
              <a:rPr lang="en-US" altLang="en-US" sz="1400" b="0" dirty="0">
                <a:solidFill>
                  <a:schemeClr val="bg1"/>
                </a:solidFill>
              </a:rPr>
            </a:br>
            <a:r>
              <a:rPr lang="en-US" altLang="en-US" sz="1400" b="0" dirty="0">
                <a:solidFill>
                  <a:schemeClr val="bg1"/>
                </a:solidFill>
              </a:rPr>
              <a:t>team will present the </a:t>
            </a:r>
            <a:br>
              <a:rPr lang="en-US" altLang="en-US" sz="1400" b="0" dirty="0">
                <a:solidFill>
                  <a:schemeClr val="bg1"/>
                </a:solidFill>
              </a:rPr>
            </a:br>
            <a:r>
              <a:rPr lang="en-US" altLang="en-US" sz="1400" b="0" dirty="0">
                <a:solidFill>
                  <a:schemeClr val="bg1"/>
                </a:solidFill>
              </a:rPr>
              <a:t>map to the class. </a:t>
            </a:r>
          </a:p>
          <a:p>
            <a:pPr>
              <a:spcBef>
                <a:spcPct val="20000"/>
              </a:spcBef>
              <a:spcAft>
                <a:spcPct val="20000"/>
              </a:spcAft>
              <a:buClrTx/>
              <a:buSzTx/>
              <a:buFontTx/>
              <a:buNone/>
            </a:pPr>
            <a:r>
              <a:rPr lang="en-US" altLang="en-US" sz="1400" b="0" dirty="0">
                <a:solidFill>
                  <a:schemeClr val="bg1"/>
                </a:solidFill>
              </a:rPr>
              <a:t>Comments and feedback </a:t>
            </a:r>
            <a:br>
              <a:rPr lang="en-US" altLang="en-US" sz="1400" b="0" dirty="0">
                <a:solidFill>
                  <a:schemeClr val="bg1"/>
                </a:solidFill>
              </a:rPr>
            </a:br>
            <a:r>
              <a:rPr lang="en-US" altLang="en-US" sz="1400" b="0" dirty="0">
                <a:solidFill>
                  <a:schemeClr val="bg1"/>
                </a:solidFill>
              </a:rPr>
              <a:t>will be encouraged.</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15 minutes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no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In teams, mark-up your Current State Map using </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dirty="0">
                <a:solidFill>
                  <a:schemeClr val="bg1"/>
                </a:solidFill>
                <a:highlight>
                  <a:srgbClr val="EE3228"/>
                </a:highlight>
                <a:latin typeface="Roboto" panose="02000000000000000000" pitchFamily="2" charset="0"/>
                <a:ea typeface="Roboto" panose="02000000000000000000" pitchFamily="2" charset="0"/>
                <a:cs typeface="Roboto" panose="02000000000000000000" pitchFamily="2" charset="0"/>
              </a:rPr>
              <a:t>RED</a:t>
            </a: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 marker. Use the following questions:</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Is current process producing to takt time?</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Which processes can be coupled using continuous flow?</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Where can visually managed queues couple processes?</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Where are manpower improvement opportunities?</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Which processes need quality improvements</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What other information flow improvements are required?</a:t>
            </a: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What other process improvements are required?</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133919547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C86804-48F0-C537-2209-D2477CE7653A}"/>
              </a:ext>
            </a:extLst>
          </p:cNvPr>
          <p:cNvSpPr>
            <a:spLocks noGrp="1"/>
          </p:cNvSpPr>
          <p:nvPr>
            <p:ph type="title"/>
          </p:nvPr>
        </p:nvSpPr>
        <p:spPr/>
        <p:txBody>
          <a:bodyPr>
            <a:noAutofit/>
          </a:bodyPr>
          <a:lstStyle/>
          <a:p>
            <a:r>
              <a:rPr lang="en-US" sz="3600" dirty="0"/>
              <a:t>Your Turn – Mark Up Current State </a:t>
            </a:r>
            <a:br>
              <a:rPr lang="en-US" sz="3600" dirty="0"/>
            </a:br>
            <a:r>
              <a:rPr lang="en-US" sz="3600" dirty="0"/>
              <a:t>Map for Business</a:t>
            </a:r>
          </a:p>
        </p:txBody>
      </p:sp>
      <p:sp>
        <p:nvSpPr>
          <p:cNvPr id="3" name="Content Placeholder 2">
            <a:extLst>
              <a:ext uri="{FF2B5EF4-FFF2-40B4-BE49-F238E27FC236}">
                <a16:creationId xmlns:a16="http://schemas.microsoft.com/office/drawing/2014/main" id="{8595D070-3C93-60DE-41A8-185E0530431F}"/>
              </a:ext>
            </a:extLst>
          </p:cNvPr>
          <p:cNvSpPr>
            <a:spLocks noGrp="1"/>
          </p:cNvSpPr>
          <p:nvPr>
            <p:ph idx="1"/>
          </p:nvPr>
        </p:nvSpPr>
        <p:spPr/>
        <p:txBody>
          <a:bodyPr>
            <a:normAutofit/>
          </a:bodyPr>
          <a:lstStyle/>
          <a:p>
            <a:pPr>
              <a:lnSpc>
                <a:spcPct val="100000"/>
              </a:lnSpc>
            </a:pPr>
            <a:r>
              <a:rPr lang="en-US" sz="2000" dirty="0"/>
              <a:t>Return to common area to jointly mark-up the Master Current State Map</a:t>
            </a:r>
          </a:p>
          <a:p>
            <a:pPr>
              <a:lnSpc>
                <a:spcPct val="100000"/>
              </a:lnSpc>
            </a:pPr>
            <a:r>
              <a:rPr lang="en-US" sz="2000" dirty="0"/>
              <a:t>Use the guidelines and method you just learned</a:t>
            </a:r>
          </a:p>
          <a:p>
            <a:pPr>
              <a:lnSpc>
                <a:spcPct val="100000"/>
              </a:lnSpc>
            </a:pPr>
            <a:r>
              <a:rPr lang="en-US" sz="2000" dirty="0"/>
              <a:t>Discuss each improvement opportunity as a team – reach consensus before marking up the Master Current State Map</a:t>
            </a:r>
          </a:p>
          <a:p>
            <a:pPr>
              <a:lnSpc>
                <a:spcPct val="100000"/>
              </a:lnSpc>
            </a:pPr>
            <a:r>
              <a:rPr lang="en-US" sz="2000" dirty="0"/>
              <a:t>All team members will be engaged in discussing opportunities and marking up the map</a:t>
            </a:r>
          </a:p>
          <a:p>
            <a:pPr>
              <a:lnSpc>
                <a:spcPct val="100000"/>
              </a:lnSpc>
            </a:pPr>
            <a:r>
              <a:rPr lang="en-US" sz="2000" dirty="0"/>
              <a:t>The marked-up map will be the basis for creating the Future State Map – make sure all improvements to the current state have been identified</a:t>
            </a:r>
          </a:p>
          <a:p>
            <a:pPr>
              <a:lnSpc>
                <a:spcPct val="100000"/>
              </a:lnSpc>
            </a:pPr>
            <a:r>
              <a:rPr lang="en-US" sz="2000" dirty="0"/>
              <a:t>Remember the Future State timeline in the charter – typically 6 months</a:t>
            </a:r>
          </a:p>
        </p:txBody>
      </p:sp>
      <p:grpSp>
        <p:nvGrpSpPr>
          <p:cNvPr id="5" name="Group 4">
            <a:extLst>
              <a:ext uri="{FF2B5EF4-FFF2-40B4-BE49-F238E27FC236}">
                <a16:creationId xmlns:a16="http://schemas.microsoft.com/office/drawing/2014/main" id="{2C353477-4A61-7842-FE22-88BEBF210A5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74E66261-B06B-E96B-5FC9-FCB059DFAD2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7" name="AutoShape 9">
              <a:extLst>
                <a:ext uri="{FF2B5EF4-FFF2-40B4-BE49-F238E27FC236}">
                  <a16:creationId xmlns:a16="http://schemas.microsoft.com/office/drawing/2014/main" id="{AFD4DB8A-DB82-20E6-2B93-567E4E66BB3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6D2E1D46-BC7F-9A68-19C6-3E087925B4D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8FBEAB28-FAB4-4ECC-19E7-013408CD340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C541D98B-5A35-2C8C-F713-A84BE47808B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45E392CB-E4E8-68F2-7E3A-FA94FBD86AE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DD0D8B44-5C58-3878-3CB6-7B6C8AA2205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109</a:t>
            </a:fld>
            <a:endParaRPr lang="en-US" dirty="0"/>
          </a:p>
        </p:txBody>
      </p:sp>
    </p:spTree>
    <p:extLst>
      <p:ext uri="{BB962C8B-B14F-4D97-AF65-F5344CB8AC3E}">
        <p14:creationId xmlns:p14="http://schemas.microsoft.com/office/powerpoint/2010/main" val="195805609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C86804-48F0-C537-2209-D2477CE7653A}"/>
              </a:ext>
            </a:extLst>
          </p:cNvPr>
          <p:cNvSpPr>
            <a:spLocks noGrp="1"/>
          </p:cNvSpPr>
          <p:nvPr>
            <p:ph type="title"/>
          </p:nvPr>
        </p:nvSpPr>
        <p:spPr/>
        <p:txBody>
          <a:bodyPr>
            <a:noAutofit/>
          </a:bodyPr>
          <a:lstStyle/>
          <a:p>
            <a:r>
              <a:rPr lang="en-US" sz="3600" dirty="0"/>
              <a:t>Your Turn – Mark Up Current State </a:t>
            </a:r>
            <a:br>
              <a:rPr lang="en-US" sz="3600" dirty="0"/>
            </a:br>
            <a:r>
              <a:rPr lang="en-US" sz="3600" dirty="0"/>
              <a:t>Map for Business</a:t>
            </a:r>
          </a:p>
        </p:txBody>
      </p:sp>
      <p:sp>
        <p:nvSpPr>
          <p:cNvPr id="3" name="Content Placeholder 2">
            <a:extLst>
              <a:ext uri="{FF2B5EF4-FFF2-40B4-BE49-F238E27FC236}">
                <a16:creationId xmlns:a16="http://schemas.microsoft.com/office/drawing/2014/main" id="{8595D070-3C93-60DE-41A8-185E0530431F}"/>
              </a:ext>
            </a:extLst>
          </p:cNvPr>
          <p:cNvSpPr>
            <a:spLocks noGrp="1"/>
          </p:cNvSpPr>
          <p:nvPr>
            <p:ph idx="1"/>
          </p:nvPr>
        </p:nvSpPr>
        <p:spPr/>
        <p:txBody>
          <a:bodyPr>
            <a:normAutofit/>
          </a:bodyPr>
          <a:lstStyle/>
          <a:p>
            <a:pPr>
              <a:lnSpc>
                <a:spcPct val="100000"/>
              </a:lnSpc>
            </a:pPr>
            <a:r>
              <a:rPr lang="en-US" sz="2400" dirty="0"/>
              <a:t>If needed, revisit the area to “validate” assumptions and gather any additional data – review as appropriate with stakeholders</a:t>
            </a:r>
          </a:p>
          <a:p>
            <a:pPr lvl="1">
              <a:lnSpc>
                <a:spcPct val="100000"/>
              </a:lnSpc>
            </a:pPr>
            <a:r>
              <a:rPr lang="en-US" sz="1800" dirty="0"/>
              <a:t>Caution: Don’t get bogged down in a lot of detail – VSM is the “big picture”</a:t>
            </a:r>
          </a:p>
          <a:p>
            <a:pPr>
              <a:lnSpc>
                <a:spcPct val="100000"/>
              </a:lnSpc>
            </a:pPr>
            <a:r>
              <a:rPr lang="en-US" sz="2400" dirty="0"/>
              <a:t>The Current State Map will be reviewed by management – it is important to mark-up the map clearly so that the changes are easily viewable from a short distance</a:t>
            </a:r>
          </a:p>
          <a:p>
            <a:pPr>
              <a:lnSpc>
                <a:spcPct val="100000"/>
              </a:lnSpc>
            </a:pPr>
            <a:r>
              <a:rPr lang="en-US" sz="2400" dirty="0"/>
              <a:t>After the Marked-up Current State is drawn, convert to electronic file </a:t>
            </a:r>
            <a:br>
              <a:rPr lang="en-US" sz="2400" dirty="0"/>
            </a:br>
            <a:r>
              <a:rPr lang="en-US" sz="2400" dirty="0"/>
              <a:t>“off-line”</a:t>
            </a:r>
          </a:p>
        </p:txBody>
      </p:sp>
      <p:grpSp>
        <p:nvGrpSpPr>
          <p:cNvPr id="5" name="Group 4">
            <a:extLst>
              <a:ext uri="{FF2B5EF4-FFF2-40B4-BE49-F238E27FC236}">
                <a16:creationId xmlns:a16="http://schemas.microsoft.com/office/drawing/2014/main" id="{2C353477-4A61-7842-FE22-88BEBF210A5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74E66261-B06B-E96B-5FC9-FCB059DFAD22}"/>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7" name="AutoShape 9">
              <a:extLst>
                <a:ext uri="{FF2B5EF4-FFF2-40B4-BE49-F238E27FC236}">
                  <a16:creationId xmlns:a16="http://schemas.microsoft.com/office/drawing/2014/main" id="{AFD4DB8A-DB82-20E6-2B93-567E4E66BB3C}"/>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6D2E1D46-BC7F-9A68-19C6-3E087925B4D4}"/>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8FBEAB28-FAB4-4ECC-19E7-013408CD340A}"/>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C541D98B-5A35-2C8C-F713-A84BE47808B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45E392CB-E4E8-68F2-7E3A-FA94FBD86AE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AC21EE0F-33B7-4BE9-AAC0-E4D03A513C5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110</a:t>
            </a:fld>
            <a:endParaRPr lang="en-US" dirty="0"/>
          </a:p>
        </p:txBody>
      </p:sp>
    </p:spTree>
    <p:extLst>
      <p:ext uri="{BB962C8B-B14F-4D97-AF65-F5344CB8AC3E}">
        <p14:creationId xmlns:p14="http://schemas.microsoft.com/office/powerpoint/2010/main" val="115322273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Exercise</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115169"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Mark up Current State Value Stream Map for business.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111</a:t>
            </a:fld>
            <a:endParaRPr lang="en-US" dirty="0"/>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400" b="0" dirty="0">
                <a:solidFill>
                  <a:schemeClr val="bg1"/>
                </a:solidFill>
              </a:rPr>
              <a:t>Marked up Current State</a:t>
            </a:r>
            <a:br>
              <a:rPr lang="en-US" altLang="en-US" sz="1400" b="0" dirty="0">
                <a:solidFill>
                  <a:schemeClr val="bg1"/>
                </a:solidFill>
              </a:rPr>
            </a:br>
            <a:r>
              <a:rPr lang="en-US" altLang="en-US" sz="1400" b="0" dirty="0">
                <a:solidFill>
                  <a:schemeClr val="bg1"/>
                </a:solidFill>
              </a:rPr>
              <a:t>Map Report Out to</a:t>
            </a:r>
            <a:br>
              <a:rPr lang="en-US" altLang="en-US" sz="1400" b="0" dirty="0">
                <a:solidFill>
                  <a:schemeClr val="bg1"/>
                </a:solidFill>
              </a:rPr>
            </a:br>
            <a:r>
              <a:rPr lang="en-US" altLang="en-US" sz="1400" b="0" dirty="0">
                <a:solidFill>
                  <a:schemeClr val="bg1"/>
                </a:solidFill>
              </a:rPr>
              <a:t>Management by team.</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600" dirty="0">
                <a:solidFill>
                  <a:schemeClr val="bg1"/>
                </a:solidFill>
              </a:rPr>
              <a:t>2 Hours</a:t>
            </a: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no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As a team, reach consensus on kaizen bursts and</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improvement opportunities for your Current State</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Value Stream Map.</a:t>
            </a:r>
          </a:p>
          <a:p>
            <a:pPr marL="0" indent="0">
              <a:lnSpc>
                <a:spcPct val="100000"/>
              </a:lnSpc>
              <a:spcBef>
                <a:spcPct val="20000"/>
              </a:spcBef>
              <a:spcAft>
                <a:spcPct val="20000"/>
              </a:spcAft>
              <a:buClrTx/>
              <a:buSzTx/>
              <a:buNone/>
            </a:pPr>
            <a:endPar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endParaRP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Use a </a:t>
            </a:r>
            <a:r>
              <a:rPr lang="en-US" altLang="en-US" sz="1400" b="0" dirty="0">
                <a:solidFill>
                  <a:schemeClr val="bg1"/>
                </a:solidFill>
                <a:highlight>
                  <a:srgbClr val="EE3228"/>
                </a:highlight>
                <a:latin typeface="Roboto" panose="02000000000000000000" pitchFamily="2" charset="0"/>
                <a:ea typeface="Roboto" panose="02000000000000000000" pitchFamily="2" charset="0"/>
                <a:cs typeface="Roboto" panose="02000000000000000000" pitchFamily="2" charset="0"/>
              </a:rPr>
              <a:t>red marker</a:t>
            </a: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 to indicate changes.  </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84492938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fontScale="90000"/>
          </a:bodyPr>
          <a:lstStyle/>
          <a:p>
            <a:r>
              <a:rPr lang="en-US" sz="4000" dirty="0">
                <a:latin typeface="Roboto Medium"/>
                <a:ea typeface="Roboto Medium"/>
                <a:cs typeface="Roboto Medium"/>
              </a:rPr>
              <a:t>Creating the Future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Identify method to create the Future State Map</a:t>
            </a:r>
          </a:p>
          <a:p>
            <a:r>
              <a:rPr lang="en-US" sz="2400" dirty="0"/>
              <a:t>Review Case Study Example</a:t>
            </a:r>
          </a:p>
          <a:p>
            <a:r>
              <a:rPr lang="en-US" sz="2400" dirty="0"/>
              <a:t>Complete the steps to draw a Future State Map from Case Study</a:t>
            </a:r>
          </a:p>
          <a:p>
            <a:r>
              <a:rPr lang="en-US" sz="2400" dirty="0"/>
              <a:t>Complete Future State Map for Business</a:t>
            </a:r>
          </a:p>
          <a:p>
            <a:endParaRPr lang="en-US" sz="2400" dirty="0"/>
          </a:p>
          <a:p>
            <a:pPr marL="0" indent="0">
              <a:buNone/>
            </a:pPr>
            <a:endParaRPr lang="en-US" dirty="0"/>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Future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343250009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113</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18488905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114</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289892569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32">
            <a:extLst>
              <a:ext uri="{FF2B5EF4-FFF2-40B4-BE49-F238E27FC236}">
                <a16:creationId xmlns:a16="http://schemas.microsoft.com/office/drawing/2014/main" id="{947D3B7E-8F0E-BE3B-62FE-401273A46E19}"/>
              </a:ext>
            </a:extLst>
          </p:cNvPr>
          <p:cNvSpPr>
            <a:spLocks noChangeArrowheads="1"/>
          </p:cNvSpPr>
          <p:nvPr/>
        </p:nvSpPr>
        <p:spPr bwMode="auto">
          <a:xfrm>
            <a:off x="493713" y="1362206"/>
            <a:ext cx="10301007" cy="4883954"/>
          </a:xfrm>
          <a:prstGeom prst="rect">
            <a:avLst/>
          </a:prstGeom>
          <a:solidFill>
            <a:schemeClr val="bg1"/>
          </a:solidFill>
          <a:ln w="12700" cap="sq" cmpd="sng">
            <a:solidFill>
              <a:schemeClr val="tx1"/>
            </a:solidFill>
            <a:miter lim="800000"/>
            <a:headEnd type="none" w="sm" len="sm"/>
            <a:tailEnd type="none" w="sm" len="sm"/>
          </a:ln>
          <a:effectLst>
            <a:outerShdw dist="63500" dir="3187806" sx="1000" sy="1000"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cxnSp>
        <p:nvCxnSpPr>
          <p:cNvPr id="25" name="AutoShape 41">
            <a:extLst>
              <a:ext uri="{FF2B5EF4-FFF2-40B4-BE49-F238E27FC236}">
                <a16:creationId xmlns:a16="http://schemas.microsoft.com/office/drawing/2014/main" id="{3BE58904-5C4F-B095-EA01-4625DA630C4A}"/>
              </a:ext>
            </a:extLst>
          </p:cNvPr>
          <p:cNvCxnSpPr>
            <a:cxnSpLocks noChangeShapeType="1"/>
          </p:cNvCxnSpPr>
          <p:nvPr/>
        </p:nvCxnSpPr>
        <p:spPr bwMode="auto">
          <a:xfrm rot="16200000" flipV="1">
            <a:off x="6738947" y="2401610"/>
            <a:ext cx="2675394" cy="2155380"/>
          </a:xfrm>
          <a:prstGeom prst="bentConnector3">
            <a:avLst>
              <a:gd name="adj1" fmla="val 100262"/>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6" name="Group 55">
            <a:extLst>
              <a:ext uri="{FF2B5EF4-FFF2-40B4-BE49-F238E27FC236}">
                <a16:creationId xmlns:a16="http://schemas.microsoft.com/office/drawing/2014/main" id="{79BBBD4D-C29A-A1F7-3077-3CB65F19DF12}"/>
              </a:ext>
            </a:extLst>
          </p:cNvPr>
          <p:cNvGrpSpPr>
            <a:grpSpLocks/>
          </p:cNvGrpSpPr>
          <p:nvPr/>
        </p:nvGrpSpPr>
        <p:grpSpPr bwMode="auto">
          <a:xfrm>
            <a:off x="8713954" y="3443320"/>
            <a:ext cx="677868" cy="467620"/>
            <a:chOff x="513" y="2099"/>
            <a:chExt cx="374" cy="258"/>
          </a:xfrm>
        </p:grpSpPr>
        <p:grpSp>
          <p:nvGrpSpPr>
            <p:cNvPr id="47" name="Group 56">
              <a:extLst>
                <a:ext uri="{FF2B5EF4-FFF2-40B4-BE49-F238E27FC236}">
                  <a16:creationId xmlns:a16="http://schemas.microsoft.com/office/drawing/2014/main" id="{56DCFEB6-314C-0025-7B25-50E6CAE8F2E8}"/>
                </a:ext>
              </a:extLst>
            </p:cNvPr>
            <p:cNvGrpSpPr>
              <a:grpSpLocks/>
            </p:cNvGrpSpPr>
            <p:nvPr/>
          </p:nvGrpSpPr>
          <p:grpSpPr bwMode="auto">
            <a:xfrm>
              <a:off x="550" y="2121"/>
              <a:ext cx="337" cy="236"/>
              <a:chOff x="536" y="3744"/>
              <a:chExt cx="415" cy="261"/>
            </a:xfrm>
          </p:grpSpPr>
          <p:sp>
            <p:nvSpPr>
              <p:cNvPr id="49" name="Rectangle 57">
                <a:extLst>
                  <a:ext uri="{FF2B5EF4-FFF2-40B4-BE49-F238E27FC236}">
                    <a16:creationId xmlns:a16="http://schemas.microsoft.com/office/drawing/2014/main" id="{33AD5455-C2B4-343F-8BBE-9C882AC12B8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0" name="Rectangle 58">
                <a:extLst>
                  <a:ext uri="{FF2B5EF4-FFF2-40B4-BE49-F238E27FC236}">
                    <a16:creationId xmlns:a16="http://schemas.microsoft.com/office/drawing/2014/main" id="{A5956761-264B-8827-EBA8-8ED08F609EB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1" name="Oval 59">
                <a:extLst>
                  <a:ext uri="{FF2B5EF4-FFF2-40B4-BE49-F238E27FC236}">
                    <a16:creationId xmlns:a16="http://schemas.microsoft.com/office/drawing/2014/main" id="{AEB8F267-0072-A5A4-D94A-D869EA6494A3}"/>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Oval 60">
                <a:extLst>
                  <a:ext uri="{FF2B5EF4-FFF2-40B4-BE49-F238E27FC236}">
                    <a16:creationId xmlns:a16="http://schemas.microsoft.com/office/drawing/2014/main" id="{4EF06508-538A-B441-BF99-327C3744553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48" name="Text Box 61">
              <a:extLst>
                <a:ext uri="{FF2B5EF4-FFF2-40B4-BE49-F238E27FC236}">
                  <a16:creationId xmlns:a16="http://schemas.microsoft.com/office/drawing/2014/main" id="{3AADA646-80FE-657A-BCE9-91B56EDB3BE2}"/>
                </a:ext>
              </a:extLst>
            </p:cNvPr>
            <p:cNvSpPr txBox="1">
              <a:spLocks noChangeArrowheads="1"/>
            </p:cNvSpPr>
            <p:nvPr/>
          </p:nvSpPr>
          <p:spPr bwMode="auto">
            <a:xfrm>
              <a:off x="513" y="2099"/>
              <a:ext cx="30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116" name="Text Box 350">
            <a:extLst>
              <a:ext uri="{FF2B5EF4-FFF2-40B4-BE49-F238E27FC236}">
                <a16:creationId xmlns:a16="http://schemas.microsoft.com/office/drawing/2014/main" id="{FFEB2C4D-D19C-C37E-5352-615C72AEBB35}"/>
              </a:ext>
            </a:extLst>
          </p:cNvPr>
          <p:cNvSpPr txBox="1">
            <a:spLocks noChangeArrowheads="1"/>
          </p:cNvSpPr>
          <p:nvPr/>
        </p:nvSpPr>
        <p:spPr bwMode="auto">
          <a:xfrm>
            <a:off x="6927850" y="5307013"/>
            <a:ext cx="6905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p>
        </p:txBody>
      </p:sp>
      <p:grpSp>
        <p:nvGrpSpPr>
          <p:cNvPr id="130" name="Group 129">
            <a:extLst>
              <a:ext uri="{FF2B5EF4-FFF2-40B4-BE49-F238E27FC236}">
                <a16:creationId xmlns:a16="http://schemas.microsoft.com/office/drawing/2014/main" id="{BF6CE1D2-A882-0FA0-C1C3-20C5E996F151}"/>
              </a:ext>
            </a:extLst>
          </p:cNvPr>
          <p:cNvGrpSpPr/>
          <p:nvPr/>
        </p:nvGrpSpPr>
        <p:grpSpPr>
          <a:xfrm>
            <a:off x="8538106" y="4228532"/>
            <a:ext cx="1292924" cy="1389995"/>
            <a:chOff x="8538106" y="4228532"/>
            <a:chExt cx="1292924" cy="1389995"/>
          </a:xfrm>
        </p:grpSpPr>
        <p:grpSp>
          <p:nvGrpSpPr>
            <p:cNvPr id="129" name="Group 128">
              <a:extLst>
                <a:ext uri="{FF2B5EF4-FFF2-40B4-BE49-F238E27FC236}">
                  <a16:creationId xmlns:a16="http://schemas.microsoft.com/office/drawing/2014/main" id="{570B6DB7-ECB3-2087-F525-383A672746DC}"/>
                </a:ext>
              </a:extLst>
            </p:cNvPr>
            <p:cNvGrpSpPr/>
            <p:nvPr/>
          </p:nvGrpSpPr>
          <p:grpSpPr>
            <a:xfrm>
              <a:off x="8550974" y="4228532"/>
              <a:ext cx="1066101" cy="811908"/>
              <a:chOff x="8550974" y="4228532"/>
              <a:chExt cx="1066101" cy="811908"/>
            </a:xfrm>
          </p:grpSpPr>
          <p:sp>
            <p:nvSpPr>
              <p:cNvPr id="28" name="Rectangle 69">
                <a:extLst>
                  <a:ext uri="{FF2B5EF4-FFF2-40B4-BE49-F238E27FC236}">
                    <a16:creationId xmlns:a16="http://schemas.microsoft.com/office/drawing/2014/main" id="{C37207BD-CF34-7ECA-1C89-4145070AD6F6}"/>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9" name="Line 70">
                <a:extLst>
                  <a:ext uri="{FF2B5EF4-FFF2-40B4-BE49-F238E27FC236}">
                    <a16:creationId xmlns:a16="http://schemas.microsoft.com/office/drawing/2014/main" id="{1E1EDE63-8A98-E882-5D7C-9C614E7FF164}"/>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2" name="Text Box 71">
                <a:extLst>
                  <a:ext uri="{FF2B5EF4-FFF2-40B4-BE49-F238E27FC236}">
                    <a16:creationId xmlns:a16="http://schemas.microsoft.com/office/drawing/2014/main" id="{A4DC03AF-9B68-5DBF-A08A-9FDB6671CF1A}"/>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43" name="Group 72">
                <a:extLst>
                  <a:ext uri="{FF2B5EF4-FFF2-40B4-BE49-F238E27FC236}">
                    <a16:creationId xmlns:a16="http://schemas.microsoft.com/office/drawing/2014/main" id="{DDA77049-7A0A-102A-56CF-386B4EF16456}"/>
                  </a:ext>
                </a:extLst>
              </p:cNvPr>
              <p:cNvGrpSpPr>
                <a:grpSpLocks/>
              </p:cNvGrpSpPr>
              <p:nvPr/>
            </p:nvGrpSpPr>
            <p:grpSpPr bwMode="auto">
              <a:xfrm flipV="1">
                <a:off x="8729819" y="4659836"/>
                <a:ext cx="269429" cy="284707"/>
                <a:chOff x="720" y="3354"/>
                <a:chExt cx="192" cy="198"/>
              </a:xfrm>
            </p:grpSpPr>
            <p:sp>
              <p:nvSpPr>
                <p:cNvPr id="45" name="Oval 73">
                  <a:extLst>
                    <a:ext uri="{FF2B5EF4-FFF2-40B4-BE49-F238E27FC236}">
                      <a16:creationId xmlns:a16="http://schemas.microsoft.com/office/drawing/2014/main" id="{C6C56A74-9DD0-2A5D-5A24-EB5BA2ABBC1F}"/>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6" name="AutoShape 74">
                  <a:extLst>
                    <a:ext uri="{FF2B5EF4-FFF2-40B4-BE49-F238E27FC236}">
                      <a16:creationId xmlns:a16="http://schemas.microsoft.com/office/drawing/2014/main" id="{D93B8822-970A-BB19-5A22-92A656FAD49B}"/>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44" name="Text Box 75">
                <a:extLst>
                  <a:ext uri="{FF2B5EF4-FFF2-40B4-BE49-F238E27FC236}">
                    <a16:creationId xmlns:a16="http://schemas.microsoft.com/office/drawing/2014/main" id="{79086366-25A2-76A1-DA4B-7A1061571230}"/>
                  </a:ext>
                </a:extLst>
              </p:cNvPr>
              <p:cNvSpPr txBox="1">
                <a:spLocks noChangeArrowheads="1"/>
              </p:cNvSpPr>
              <p:nvPr/>
            </p:nvSpPr>
            <p:spPr bwMode="auto">
              <a:xfrm>
                <a:off x="9010861" y="4619164"/>
                <a:ext cx="506340" cy="36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14" name="Rectangle 348">
              <a:extLst>
                <a:ext uri="{FF2B5EF4-FFF2-40B4-BE49-F238E27FC236}">
                  <a16:creationId xmlns:a16="http://schemas.microsoft.com/office/drawing/2014/main" id="{68842D60-F87C-CE93-4F7C-08378DAD8D8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17" name="Text Box 351">
              <a:extLst>
                <a:ext uri="{FF2B5EF4-FFF2-40B4-BE49-F238E27FC236}">
                  <a16:creationId xmlns:a16="http://schemas.microsoft.com/office/drawing/2014/main" id="{77C6122D-0F07-11FE-D374-35BF6D0635A9}"/>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18" name="Rectangle 352">
              <a:extLst>
                <a:ext uri="{FF2B5EF4-FFF2-40B4-BE49-F238E27FC236}">
                  <a16:creationId xmlns:a16="http://schemas.microsoft.com/office/drawing/2014/main" id="{2EF3A358-FA69-8225-E032-DE223984606F}"/>
                </a:ext>
              </a:extLst>
            </p:cNvPr>
            <p:cNvSpPr>
              <a:spLocks noChangeArrowheads="1"/>
            </p:cNvSpPr>
            <p:nvPr/>
          </p:nvSpPr>
          <p:spPr bwMode="auto">
            <a:xfrm>
              <a:off x="8546082" y="5048973"/>
              <a:ext cx="1099981" cy="212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19" name="Rectangle 353">
              <a:extLst>
                <a:ext uri="{FF2B5EF4-FFF2-40B4-BE49-F238E27FC236}">
                  <a16:creationId xmlns:a16="http://schemas.microsoft.com/office/drawing/2014/main" id="{1B656CA0-7D19-B051-D9BC-52034A22AAF1}"/>
                </a:ext>
              </a:extLst>
            </p:cNvPr>
            <p:cNvSpPr>
              <a:spLocks noChangeArrowheads="1"/>
            </p:cNvSpPr>
            <p:nvPr/>
          </p:nvSpPr>
          <p:spPr bwMode="auto">
            <a:xfrm>
              <a:off x="8562280" y="5217348"/>
              <a:ext cx="604653"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45"</a:t>
              </a:r>
            </a:p>
          </p:txBody>
        </p:sp>
      </p:grpSp>
      <p:grpSp>
        <p:nvGrpSpPr>
          <p:cNvPr id="131" name="Group 130">
            <a:extLst>
              <a:ext uri="{FF2B5EF4-FFF2-40B4-BE49-F238E27FC236}">
                <a16:creationId xmlns:a16="http://schemas.microsoft.com/office/drawing/2014/main" id="{E3225D80-098E-5518-B923-082BE26636F0}"/>
              </a:ext>
            </a:extLst>
          </p:cNvPr>
          <p:cNvGrpSpPr/>
          <p:nvPr/>
        </p:nvGrpSpPr>
        <p:grpSpPr>
          <a:xfrm>
            <a:off x="6754294" y="4248965"/>
            <a:ext cx="1292924" cy="1389995"/>
            <a:chOff x="8538106" y="4228532"/>
            <a:chExt cx="1292924" cy="1389995"/>
          </a:xfrm>
        </p:grpSpPr>
        <p:grpSp>
          <p:nvGrpSpPr>
            <p:cNvPr id="132" name="Group 131">
              <a:extLst>
                <a:ext uri="{FF2B5EF4-FFF2-40B4-BE49-F238E27FC236}">
                  <a16:creationId xmlns:a16="http://schemas.microsoft.com/office/drawing/2014/main" id="{F4F28947-FD98-D235-A1CC-2C6E1D03A970}"/>
                </a:ext>
              </a:extLst>
            </p:cNvPr>
            <p:cNvGrpSpPr/>
            <p:nvPr/>
          </p:nvGrpSpPr>
          <p:grpSpPr>
            <a:xfrm>
              <a:off x="8550974" y="4228532"/>
              <a:ext cx="1066101" cy="811908"/>
              <a:chOff x="8550974" y="4228532"/>
              <a:chExt cx="1066101" cy="811908"/>
            </a:xfrm>
          </p:grpSpPr>
          <p:sp>
            <p:nvSpPr>
              <p:cNvPr id="137" name="Rectangle 69">
                <a:extLst>
                  <a:ext uri="{FF2B5EF4-FFF2-40B4-BE49-F238E27FC236}">
                    <a16:creationId xmlns:a16="http://schemas.microsoft.com/office/drawing/2014/main" id="{1E3C669F-2759-E66E-4E9F-BD81039375A3}"/>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38" name="Line 70">
                <a:extLst>
                  <a:ext uri="{FF2B5EF4-FFF2-40B4-BE49-F238E27FC236}">
                    <a16:creationId xmlns:a16="http://schemas.microsoft.com/office/drawing/2014/main" id="{CA115CDC-8BC8-398D-4BF1-D7D0D4C3B738}"/>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39" name="Text Box 71">
                <a:extLst>
                  <a:ext uri="{FF2B5EF4-FFF2-40B4-BE49-F238E27FC236}">
                    <a16:creationId xmlns:a16="http://schemas.microsoft.com/office/drawing/2014/main" id="{2CA797E4-DC82-13F2-1119-69EDF4AB565D}"/>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40" name="Group 72">
                <a:extLst>
                  <a:ext uri="{FF2B5EF4-FFF2-40B4-BE49-F238E27FC236}">
                    <a16:creationId xmlns:a16="http://schemas.microsoft.com/office/drawing/2014/main" id="{8DB9DC80-00B6-F8BE-B727-877777F63323}"/>
                  </a:ext>
                </a:extLst>
              </p:cNvPr>
              <p:cNvGrpSpPr>
                <a:grpSpLocks/>
              </p:cNvGrpSpPr>
              <p:nvPr/>
            </p:nvGrpSpPr>
            <p:grpSpPr bwMode="auto">
              <a:xfrm flipV="1">
                <a:off x="8729819" y="4659836"/>
                <a:ext cx="269429" cy="284707"/>
                <a:chOff x="720" y="3354"/>
                <a:chExt cx="192" cy="198"/>
              </a:xfrm>
            </p:grpSpPr>
            <p:sp>
              <p:nvSpPr>
                <p:cNvPr id="142" name="Oval 73">
                  <a:extLst>
                    <a:ext uri="{FF2B5EF4-FFF2-40B4-BE49-F238E27FC236}">
                      <a16:creationId xmlns:a16="http://schemas.microsoft.com/office/drawing/2014/main" id="{C4F757CA-A0E6-7185-2154-6393054C698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3" name="AutoShape 74">
                  <a:extLst>
                    <a:ext uri="{FF2B5EF4-FFF2-40B4-BE49-F238E27FC236}">
                      <a16:creationId xmlns:a16="http://schemas.microsoft.com/office/drawing/2014/main" id="{D4ED1703-A2AB-BE94-B419-35CDBE41C03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41" name="Text Box 75">
                <a:extLst>
                  <a:ext uri="{FF2B5EF4-FFF2-40B4-BE49-F238E27FC236}">
                    <a16:creationId xmlns:a16="http://schemas.microsoft.com/office/drawing/2014/main" id="{18C3C1C6-AC3E-EFF4-35AD-5136C475858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33" name="Rectangle 348">
              <a:extLst>
                <a:ext uri="{FF2B5EF4-FFF2-40B4-BE49-F238E27FC236}">
                  <a16:creationId xmlns:a16="http://schemas.microsoft.com/office/drawing/2014/main" id="{48331282-9C57-C2D9-B133-A852629A8E3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34" name="Text Box 351">
              <a:extLst>
                <a:ext uri="{FF2B5EF4-FFF2-40B4-BE49-F238E27FC236}">
                  <a16:creationId xmlns:a16="http://schemas.microsoft.com/office/drawing/2014/main" id="{7D4CBF16-B19B-9583-EBD1-0D38F3750E11}"/>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35" name="Rectangle 352">
              <a:extLst>
                <a:ext uri="{FF2B5EF4-FFF2-40B4-BE49-F238E27FC236}">
                  <a16:creationId xmlns:a16="http://schemas.microsoft.com/office/drawing/2014/main" id="{B31B0DCF-F05A-CE92-B36E-14AF16B5847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36" name="Rectangle 353">
              <a:extLst>
                <a:ext uri="{FF2B5EF4-FFF2-40B4-BE49-F238E27FC236}">
                  <a16:creationId xmlns:a16="http://schemas.microsoft.com/office/drawing/2014/main" id="{410229C8-EFC3-E331-EF34-2368E43B0A9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4" name="Group 143">
            <a:extLst>
              <a:ext uri="{FF2B5EF4-FFF2-40B4-BE49-F238E27FC236}">
                <a16:creationId xmlns:a16="http://schemas.microsoft.com/office/drawing/2014/main" id="{714E7D62-F4B2-EC7B-4A91-0362C87F8AF5}"/>
              </a:ext>
            </a:extLst>
          </p:cNvPr>
          <p:cNvGrpSpPr/>
          <p:nvPr/>
        </p:nvGrpSpPr>
        <p:grpSpPr>
          <a:xfrm>
            <a:off x="4908016" y="4228532"/>
            <a:ext cx="1292924" cy="1389995"/>
            <a:chOff x="8538106" y="4228532"/>
            <a:chExt cx="1292924" cy="1389995"/>
          </a:xfrm>
        </p:grpSpPr>
        <p:grpSp>
          <p:nvGrpSpPr>
            <p:cNvPr id="145" name="Group 144">
              <a:extLst>
                <a:ext uri="{FF2B5EF4-FFF2-40B4-BE49-F238E27FC236}">
                  <a16:creationId xmlns:a16="http://schemas.microsoft.com/office/drawing/2014/main" id="{14A5FAB3-1349-C423-3247-FAD1BC692FC4}"/>
                </a:ext>
              </a:extLst>
            </p:cNvPr>
            <p:cNvGrpSpPr/>
            <p:nvPr/>
          </p:nvGrpSpPr>
          <p:grpSpPr>
            <a:xfrm>
              <a:off x="8550974" y="4228532"/>
              <a:ext cx="1066101" cy="811908"/>
              <a:chOff x="8550974" y="4228532"/>
              <a:chExt cx="1066101" cy="811908"/>
            </a:xfrm>
          </p:grpSpPr>
          <p:sp>
            <p:nvSpPr>
              <p:cNvPr id="150" name="Rectangle 69">
                <a:extLst>
                  <a:ext uri="{FF2B5EF4-FFF2-40B4-BE49-F238E27FC236}">
                    <a16:creationId xmlns:a16="http://schemas.microsoft.com/office/drawing/2014/main" id="{D83ADBD4-DF65-1842-21B9-5CB73071E9E2}"/>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1" name="Line 70">
                <a:extLst>
                  <a:ext uri="{FF2B5EF4-FFF2-40B4-BE49-F238E27FC236}">
                    <a16:creationId xmlns:a16="http://schemas.microsoft.com/office/drawing/2014/main" id="{07BCA0E8-F4AB-0B24-ADDB-86AC46BBF0F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52" name="Text Box 71">
                <a:extLst>
                  <a:ext uri="{FF2B5EF4-FFF2-40B4-BE49-F238E27FC236}">
                    <a16:creationId xmlns:a16="http://schemas.microsoft.com/office/drawing/2014/main" id="{7D22E7BE-A5E1-5C45-FF91-8891D2BCE4A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Underwrite</a:t>
                </a:r>
              </a:p>
            </p:txBody>
          </p:sp>
          <p:grpSp>
            <p:nvGrpSpPr>
              <p:cNvPr id="153" name="Group 72">
                <a:extLst>
                  <a:ext uri="{FF2B5EF4-FFF2-40B4-BE49-F238E27FC236}">
                    <a16:creationId xmlns:a16="http://schemas.microsoft.com/office/drawing/2014/main" id="{A7B0EF92-D1F4-1471-9050-99372D52CA1B}"/>
                  </a:ext>
                </a:extLst>
              </p:cNvPr>
              <p:cNvGrpSpPr>
                <a:grpSpLocks/>
              </p:cNvGrpSpPr>
              <p:nvPr/>
            </p:nvGrpSpPr>
            <p:grpSpPr bwMode="auto">
              <a:xfrm flipV="1">
                <a:off x="8729819" y="4659836"/>
                <a:ext cx="269429" cy="284707"/>
                <a:chOff x="720" y="3354"/>
                <a:chExt cx="192" cy="198"/>
              </a:xfrm>
            </p:grpSpPr>
            <p:sp>
              <p:nvSpPr>
                <p:cNvPr id="155" name="Oval 73">
                  <a:extLst>
                    <a:ext uri="{FF2B5EF4-FFF2-40B4-BE49-F238E27FC236}">
                      <a16:creationId xmlns:a16="http://schemas.microsoft.com/office/drawing/2014/main" id="{1E268A4F-A197-7A72-189A-135E7EBDEAF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6" name="AutoShape 74">
                  <a:extLst>
                    <a:ext uri="{FF2B5EF4-FFF2-40B4-BE49-F238E27FC236}">
                      <a16:creationId xmlns:a16="http://schemas.microsoft.com/office/drawing/2014/main" id="{7969A665-727E-ABD6-AA02-C26252E79A4F}"/>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4" name="Text Box 75">
                <a:extLst>
                  <a:ext uri="{FF2B5EF4-FFF2-40B4-BE49-F238E27FC236}">
                    <a16:creationId xmlns:a16="http://schemas.microsoft.com/office/drawing/2014/main" id="{6346E538-F1D2-4CD8-CC71-49562D8F6CE8}"/>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6" name="Rectangle 348">
              <a:extLst>
                <a:ext uri="{FF2B5EF4-FFF2-40B4-BE49-F238E27FC236}">
                  <a16:creationId xmlns:a16="http://schemas.microsoft.com/office/drawing/2014/main" id="{794A7B11-9536-24D5-B4E9-FE6521508F8E}"/>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7" name="Text Box 351">
              <a:extLst>
                <a:ext uri="{FF2B5EF4-FFF2-40B4-BE49-F238E27FC236}">
                  <a16:creationId xmlns:a16="http://schemas.microsoft.com/office/drawing/2014/main" id="{6A999627-8486-B038-D0F6-61054A535E2E}"/>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35%</a:t>
              </a:r>
            </a:p>
          </p:txBody>
        </p:sp>
        <p:sp>
          <p:nvSpPr>
            <p:cNvPr id="148" name="Rectangle 352">
              <a:extLst>
                <a:ext uri="{FF2B5EF4-FFF2-40B4-BE49-F238E27FC236}">
                  <a16:creationId xmlns:a16="http://schemas.microsoft.com/office/drawing/2014/main" id="{311ECFF7-37ED-A916-1B00-EF9FA044C66E}"/>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9" name="Rectangle 353">
              <a:extLst>
                <a:ext uri="{FF2B5EF4-FFF2-40B4-BE49-F238E27FC236}">
                  <a16:creationId xmlns:a16="http://schemas.microsoft.com/office/drawing/2014/main" id="{7FC3476C-B8C7-313D-5617-E6CD6411B33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365"</a:t>
              </a:r>
            </a:p>
          </p:txBody>
        </p:sp>
      </p:grpSp>
      <p:grpSp>
        <p:nvGrpSpPr>
          <p:cNvPr id="157" name="Group 156">
            <a:extLst>
              <a:ext uri="{FF2B5EF4-FFF2-40B4-BE49-F238E27FC236}">
                <a16:creationId xmlns:a16="http://schemas.microsoft.com/office/drawing/2014/main" id="{97C6C91B-011E-8067-1474-69BB17722778}"/>
              </a:ext>
            </a:extLst>
          </p:cNvPr>
          <p:cNvGrpSpPr/>
          <p:nvPr/>
        </p:nvGrpSpPr>
        <p:grpSpPr>
          <a:xfrm>
            <a:off x="3198312" y="4228532"/>
            <a:ext cx="1292924" cy="1389995"/>
            <a:chOff x="8538106" y="4228532"/>
            <a:chExt cx="1292924" cy="1389995"/>
          </a:xfrm>
        </p:grpSpPr>
        <p:grpSp>
          <p:nvGrpSpPr>
            <p:cNvPr id="158" name="Group 157">
              <a:extLst>
                <a:ext uri="{FF2B5EF4-FFF2-40B4-BE49-F238E27FC236}">
                  <a16:creationId xmlns:a16="http://schemas.microsoft.com/office/drawing/2014/main" id="{2151B5DE-6790-D817-B5C8-3886B1E4361B}"/>
                </a:ext>
              </a:extLst>
            </p:cNvPr>
            <p:cNvGrpSpPr/>
            <p:nvPr/>
          </p:nvGrpSpPr>
          <p:grpSpPr>
            <a:xfrm>
              <a:off x="8550974" y="4228532"/>
              <a:ext cx="1066101" cy="811908"/>
              <a:chOff x="8550974" y="4228532"/>
              <a:chExt cx="1066101" cy="811908"/>
            </a:xfrm>
          </p:grpSpPr>
          <p:sp>
            <p:nvSpPr>
              <p:cNvPr id="163" name="Rectangle 69">
                <a:extLst>
                  <a:ext uri="{FF2B5EF4-FFF2-40B4-BE49-F238E27FC236}">
                    <a16:creationId xmlns:a16="http://schemas.microsoft.com/office/drawing/2014/main" id="{1502511C-EEE1-A263-5AEB-FCC8D73666E4}"/>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4" name="Line 70">
                <a:extLst>
                  <a:ext uri="{FF2B5EF4-FFF2-40B4-BE49-F238E27FC236}">
                    <a16:creationId xmlns:a16="http://schemas.microsoft.com/office/drawing/2014/main" id="{9AFAC578-5041-4F28-9AE8-2A710EA8E8FF}"/>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65" name="Text Box 71">
                <a:extLst>
                  <a:ext uri="{FF2B5EF4-FFF2-40B4-BE49-F238E27FC236}">
                    <a16:creationId xmlns:a16="http://schemas.microsoft.com/office/drawing/2014/main" id="{77AA3EEF-C0F0-209C-353A-37C92CEFAC9D}"/>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Data Entry</a:t>
                </a:r>
              </a:p>
            </p:txBody>
          </p:sp>
          <p:grpSp>
            <p:nvGrpSpPr>
              <p:cNvPr id="166" name="Group 72">
                <a:extLst>
                  <a:ext uri="{FF2B5EF4-FFF2-40B4-BE49-F238E27FC236}">
                    <a16:creationId xmlns:a16="http://schemas.microsoft.com/office/drawing/2014/main" id="{B76424A1-4C1F-150A-4C6D-92533B65D7DF}"/>
                  </a:ext>
                </a:extLst>
              </p:cNvPr>
              <p:cNvGrpSpPr>
                <a:grpSpLocks/>
              </p:cNvGrpSpPr>
              <p:nvPr/>
            </p:nvGrpSpPr>
            <p:grpSpPr bwMode="auto">
              <a:xfrm flipV="1">
                <a:off x="8729819" y="4659836"/>
                <a:ext cx="269429" cy="284707"/>
                <a:chOff x="720" y="3354"/>
                <a:chExt cx="192" cy="198"/>
              </a:xfrm>
            </p:grpSpPr>
            <p:sp>
              <p:nvSpPr>
                <p:cNvPr id="168" name="Oval 73">
                  <a:extLst>
                    <a:ext uri="{FF2B5EF4-FFF2-40B4-BE49-F238E27FC236}">
                      <a16:creationId xmlns:a16="http://schemas.microsoft.com/office/drawing/2014/main" id="{BDEC24DC-EB2C-7DD8-D24D-D0D4CC11B39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9" name="AutoShape 74">
                  <a:extLst>
                    <a:ext uri="{FF2B5EF4-FFF2-40B4-BE49-F238E27FC236}">
                      <a16:creationId xmlns:a16="http://schemas.microsoft.com/office/drawing/2014/main" id="{B2467999-5949-0E82-4B3F-70668FFD2F2E}"/>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67" name="Text Box 75">
                <a:extLst>
                  <a:ext uri="{FF2B5EF4-FFF2-40B4-BE49-F238E27FC236}">
                    <a16:creationId xmlns:a16="http://schemas.microsoft.com/office/drawing/2014/main" id="{7DE5FBA0-DE81-33E8-51BA-65EA6E9C5D46}"/>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5</a:t>
                </a:r>
              </a:p>
            </p:txBody>
          </p:sp>
        </p:grpSp>
        <p:sp>
          <p:nvSpPr>
            <p:cNvPr id="159" name="Rectangle 348">
              <a:extLst>
                <a:ext uri="{FF2B5EF4-FFF2-40B4-BE49-F238E27FC236}">
                  <a16:creationId xmlns:a16="http://schemas.microsoft.com/office/drawing/2014/main" id="{8AE01C46-BD49-4F60-C295-6FA6F0DFAD74}"/>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60" name="Text Box 351">
              <a:extLst>
                <a:ext uri="{FF2B5EF4-FFF2-40B4-BE49-F238E27FC236}">
                  <a16:creationId xmlns:a16="http://schemas.microsoft.com/office/drawing/2014/main" id="{7B0DB23C-4B50-21E0-CCC1-019F5756EE1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98%</a:t>
              </a:r>
            </a:p>
          </p:txBody>
        </p:sp>
        <p:sp>
          <p:nvSpPr>
            <p:cNvPr id="161" name="Rectangle 352">
              <a:extLst>
                <a:ext uri="{FF2B5EF4-FFF2-40B4-BE49-F238E27FC236}">
                  <a16:creationId xmlns:a16="http://schemas.microsoft.com/office/drawing/2014/main" id="{D504D0FC-5E97-7736-DCE2-154D3C0CA3CF}"/>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780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62" name="Rectangle 353">
              <a:extLst>
                <a:ext uri="{FF2B5EF4-FFF2-40B4-BE49-F238E27FC236}">
                  <a16:creationId xmlns:a16="http://schemas.microsoft.com/office/drawing/2014/main" id="{8E967D50-0AAB-3DF7-D68A-89AAE92DC2EC}"/>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184"</a:t>
              </a:r>
            </a:p>
          </p:txBody>
        </p:sp>
      </p:grpSp>
      <p:grpSp>
        <p:nvGrpSpPr>
          <p:cNvPr id="170" name="Group 169">
            <a:extLst>
              <a:ext uri="{FF2B5EF4-FFF2-40B4-BE49-F238E27FC236}">
                <a16:creationId xmlns:a16="http://schemas.microsoft.com/office/drawing/2014/main" id="{B5FDE83F-93F9-82B9-6DD6-0A7B3EB7D724}"/>
              </a:ext>
            </a:extLst>
          </p:cNvPr>
          <p:cNvGrpSpPr/>
          <p:nvPr/>
        </p:nvGrpSpPr>
        <p:grpSpPr>
          <a:xfrm>
            <a:off x="1371610" y="4228532"/>
            <a:ext cx="1292924" cy="1389995"/>
            <a:chOff x="8538106" y="4228532"/>
            <a:chExt cx="1292924" cy="1389995"/>
          </a:xfrm>
        </p:grpSpPr>
        <p:grpSp>
          <p:nvGrpSpPr>
            <p:cNvPr id="171" name="Group 170">
              <a:extLst>
                <a:ext uri="{FF2B5EF4-FFF2-40B4-BE49-F238E27FC236}">
                  <a16:creationId xmlns:a16="http://schemas.microsoft.com/office/drawing/2014/main" id="{0468A800-FDCF-CBE3-A0F6-91C6A113C21F}"/>
                </a:ext>
              </a:extLst>
            </p:cNvPr>
            <p:cNvGrpSpPr/>
            <p:nvPr/>
          </p:nvGrpSpPr>
          <p:grpSpPr>
            <a:xfrm>
              <a:off x="8550974" y="4228532"/>
              <a:ext cx="1066101" cy="811908"/>
              <a:chOff x="8550974" y="4228532"/>
              <a:chExt cx="1066101" cy="811908"/>
            </a:xfrm>
          </p:grpSpPr>
          <p:sp>
            <p:nvSpPr>
              <p:cNvPr id="176" name="Rectangle 69">
                <a:extLst>
                  <a:ext uri="{FF2B5EF4-FFF2-40B4-BE49-F238E27FC236}">
                    <a16:creationId xmlns:a16="http://schemas.microsoft.com/office/drawing/2014/main" id="{7F865409-80FF-603A-A8B6-E38380CF496D}"/>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7" name="Line 70">
                <a:extLst>
                  <a:ext uri="{FF2B5EF4-FFF2-40B4-BE49-F238E27FC236}">
                    <a16:creationId xmlns:a16="http://schemas.microsoft.com/office/drawing/2014/main" id="{7CFF5F83-B173-06CF-4EFE-94EB8032D896}"/>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78" name="Text Box 71">
                <a:extLst>
                  <a:ext uri="{FF2B5EF4-FFF2-40B4-BE49-F238E27FC236}">
                    <a16:creationId xmlns:a16="http://schemas.microsoft.com/office/drawing/2014/main" id="{5B47334C-3CEB-2DD9-6BB5-E4A77B7ADD79}"/>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79" name="Group 72">
                <a:extLst>
                  <a:ext uri="{FF2B5EF4-FFF2-40B4-BE49-F238E27FC236}">
                    <a16:creationId xmlns:a16="http://schemas.microsoft.com/office/drawing/2014/main" id="{C0D3CD8C-6CE2-4539-9FB3-6144320F1191}"/>
                  </a:ext>
                </a:extLst>
              </p:cNvPr>
              <p:cNvGrpSpPr>
                <a:grpSpLocks/>
              </p:cNvGrpSpPr>
              <p:nvPr/>
            </p:nvGrpSpPr>
            <p:grpSpPr bwMode="auto">
              <a:xfrm flipV="1">
                <a:off x="8729819" y="4659836"/>
                <a:ext cx="269429" cy="284707"/>
                <a:chOff x="720" y="3354"/>
                <a:chExt cx="192" cy="198"/>
              </a:xfrm>
            </p:grpSpPr>
            <p:sp>
              <p:nvSpPr>
                <p:cNvPr id="181" name="Oval 73">
                  <a:extLst>
                    <a:ext uri="{FF2B5EF4-FFF2-40B4-BE49-F238E27FC236}">
                      <a16:creationId xmlns:a16="http://schemas.microsoft.com/office/drawing/2014/main" id="{B16162EA-DBA9-5A32-0167-13ED34665D01}"/>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2" name="AutoShape 74">
                  <a:extLst>
                    <a:ext uri="{FF2B5EF4-FFF2-40B4-BE49-F238E27FC236}">
                      <a16:creationId xmlns:a16="http://schemas.microsoft.com/office/drawing/2014/main" id="{0F76E5BE-2A27-83EA-2A55-4389D10562F0}"/>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80" name="Text Box 75">
                <a:extLst>
                  <a:ext uri="{FF2B5EF4-FFF2-40B4-BE49-F238E27FC236}">
                    <a16:creationId xmlns:a16="http://schemas.microsoft.com/office/drawing/2014/main" id="{E8DDE714-3695-2E2F-33B2-1182D352954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72" name="Rectangle 348">
              <a:extLst>
                <a:ext uri="{FF2B5EF4-FFF2-40B4-BE49-F238E27FC236}">
                  <a16:creationId xmlns:a16="http://schemas.microsoft.com/office/drawing/2014/main" id="{36B9A71B-E8D6-FA4F-A526-939A13E40BAF}"/>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73" name="Text Box 351">
              <a:extLst>
                <a:ext uri="{FF2B5EF4-FFF2-40B4-BE49-F238E27FC236}">
                  <a16:creationId xmlns:a16="http://schemas.microsoft.com/office/drawing/2014/main" id="{3A927680-D4ED-7141-2C06-CED92FF113D0}"/>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74" name="Rectangle 352">
              <a:extLst>
                <a:ext uri="{FF2B5EF4-FFF2-40B4-BE49-F238E27FC236}">
                  <a16:creationId xmlns:a16="http://schemas.microsoft.com/office/drawing/2014/main" id="{8E65D6B5-78C9-9515-B8CB-9DE8187F68D2}"/>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75" name="Rectangle 353">
              <a:extLst>
                <a:ext uri="{FF2B5EF4-FFF2-40B4-BE49-F238E27FC236}">
                  <a16:creationId xmlns:a16="http://schemas.microsoft.com/office/drawing/2014/main" id="{1E11588E-E91B-ABAA-4056-75BB281D058E}"/>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235" name="Group 234">
            <a:extLst>
              <a:ext uri="{FF2B5EF4-FFF2-40B4-BE49-F238E27FC236}">
                <a16:creationId xmlns:a16="http://schemas.microsoft.com/office/drawing/2014/main" id="{E403FF7B-D163-0063-7FFC-240E049E9C85}"/>
              </a:ext>
            </a:extLst>
          </p:cNvPr>
          <p:cNvGrpSpPr/>
          <p:nvPr/>
        </p:nvGrpSpPr>
        <p:grpSpPr>
          <a:xfrm>
            <a:off x="2385031" y="4657598"/>
            <a:ext cx="846864" cy="903287"/>
            <a:chOff x="2588968" y="4639120"/>
            <a:chExt cx="685800" cy="903287"/>
          </a:xfrm>
        </p:grpSpPr>
        <p:sp>
          <p:nvSpPr>
            <p:cNvPr id="236" name="Line 266">
              <a:extLst>
                <a:ext uri="{FF2B5EF4-FFF2-40B4-BE49-F238E27FC236}">
                  <a16:creationId xmlns:a16="http://schemas.microsoft.com/office/drawing/2014/main" id="{F7E99F0D-B5C5-06A2-E325-B30D29337E15}"/>
                </a:ext>
              </a:extLst>
            </p:cNvPr>
            <p:cNvSpPr>
              <a:spLocks noChangeShapeType="1"/>
            </p:cNvSpPr>
            <p:nvPr/>
          </p:nvSpPr>
          <p:spPr bwMode="auto">
            <a:xfrm flipV="1">
              <a:off x="26746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7" name="Text Box 270">
              <a:extLst>
                <a:ext uri="{FF2B5EF4-FFF2-40B4-BE49-F238E27FC236}">
                  <a16:creationId xmlns:a16="http://schemas.microsoft.com/office/drawing/2014/main" id="{0362B5E2-80C2-506D-9EB9-EC3944EBAFB8}"/>
                </a:ext>
              </a:extLst>
            </p:cNvPr>
            <p:cNvSpPr txBox="1">
              <a:spLocks noChangeArrowheads="1"/>
            </p:cNvSpPr>
            <p:nvPr/>
          </p:nvSpPr>
          <p:spPr bwMode="auto">
            <a:xfrm>
              <a:off x="2588968" y="5012182"/>
              <a:ext cx="685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200 Applications</a:t>
              </a:r>
            </a:p>
          </p:txBody>
        </p:sp>
        <p:grpSp>
          <p:nvGrpSpPr>
            <p:cNvPr id="238" name="Group 361">
              <a:extLst>
                <a:ext uri="{FF2B5EF4-FFF2-40B4-BE49-F238E27FC236}">
                  <a16:creationId xmlns:a16="http://schemas.microsoft.com/office/drawing/2014/main" id="{4FB613B6-CBC3-4B3C-8240-1661D13F330D}"/>
                </a:ext>
              </a:extLst>
            </p:cNvPr>
            <p:cNvGrpSpPr>
              <a:grpSpLocks/>
            </p:cNvGrpSpPr>
            <p:nvPr/>
          </p:nvGrpSpPr>
          <p:grpSpPr bwMode="auto">
            <a:xfrm>
              <a:off x="2725493" y="4639120"/>
              <a:ext cx="381000" cy="336550"/>
              <a:chOff x="4122" y="1171"/>
              <a:chExt cx="240" cy="212"/>
            </a:xfrm>
          </p:grpSpPr>
          <p:sp>
            <p:nvSpPr>
              <p:cNvPr id="243" name="Rectangle 362">
                <a:extLst>
                  <a:ext uri="{FF2B5EF4-FFF2-40B4-BE49-F238E27FC236}">
                    <a16:creationId xmlns:a16="http://schemas.microsoft.com/office/drawing/2014/main" id="{B13A1560-4DCD-54E6-C9C3-E4A714085F7A}"/>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4" name="Text Box 363">
                <a:extLst>
                  <a:ext uri="{FF2B5EF4-FFF2-40B4-BE49-F238E27FC236}">
                    <a16:creationId xmlns:a16="http://schemas.microsoft.com/office/drawing/2014/main" id="{DC7FEB70-6725-7664-7059-38B551F83563}"/>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45" name="AutoShape 364">
                <a:extLst>
                  <a:ext uri="{FF2B5EF4-FFF2-40B4-BE49-F238E27FC236}">
                    <a16:creationId xmlns:a16="http://schemas.microsoft.com/office/drawing/2014/main" id="{D871836F-1117-2DD6-6C79-02D8B2748690}"/>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6" name="AutoShape 365">
                <a:extLst>
                  <a:ext uri="{FF2B5EF4-FFF2-40B4-BE49-F238E27FC236}">
                    <a16:creationId xmlns:a16="http://schemas.microsoft.com/office/drawing/2014/main" id="{2E9B04FD-3E6B-534C-7371-74407DE7C17F}"/>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7" name="AutoShape 366">
                <a:extLst>
                  <a:ext uri="{FF2B5EF4-FFF2-40B4-BE49-F238E27FC236}">
                    <a16:creationId xmlns:a16="http://schemas.microsoft.com/office/drawing/2014/main" id="{D77147BD-7ACB-205E-0A10-D6C6011DEDE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39" name="Group 391">
              <a:extLst>
                <a:ext uri="{FF2B5EF4-FFF2-40B4-BE49-F238E27FC236}">
                  <a16:creationId xmlns:a16="http://schemas.microsoft.com/office/drawing/2014/main" id="{11C331EA-AB1D-83CC-3D31-F5C5116DA766}"/>
                </a:ext>
              </a:extLst>
            </p:cNvPr>
            <p:cNvGrpSpPr>
              <a:grpSpLocks/>
            </p:cNvGrpSpPr>
            <p:nvPr/>
          </p:nvGrpSpPr>
          <p:grpSpPr bwMode="auto">
            <a:xfrm>
              <a:off x="2725493" y="5009007"/>
              <a:ext cx="381000" cy="533400"/>
              <a:chOff x="576" y="1200"/>
              <a:chExt cx="240" cy="336"/>
            </a:xfrm>
          </p:grpSpPr>
          <p:sp>
            <p:nvSpPr>
              <p:cNvPr id="240" name="Rectangle 392">
                <a:extLst>
                  <a:ext uri="{FF2B5EF4-FFF2-40B4-BE49-F238E27FC236}">
                    <a16:creationId xmlns:a16="http://schemas.microsoft.com/office/drawing/2014/main" id="{C3D3AEF9-CC17-08DC-F345-BDCFF864D53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41" name="Line 393">
                <a:extLst>
                  <a:ext uri="{FF2B5EF4-FFF2-40B4-BE49-F238E27FC236}">
                    <a16:creationId xmlns:a16="http://schemas.microsoft.com/office/drawing/2014/main" id="{CDA87F4B-8B7D-A8B2-D303-44DDC7DE5AB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42" name="Line 394">
                <a:extLst>
                  <a:ext uri="{FF2B5EF4-FFF2-40B4-BE49-F238E27FC236}">
                    <a16:creationId xmlns:a16="http://schemas.microsoft.com/office/drawing/2014/main" id="{E4298582-49F0-9144-DAA6-F8F1B0BD66D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48" name="Group 247">
            <a:extLst>
              <a:ext uri="{FF2B5EF4-FFF2-40B4-BE49-F238E27FC236}">
                <a16:creationId xmlns:a16="http://schemas.microsoft.com/office/drawing/2014/main" id="{4952C177-D148-8A50-519D-7D821825EA18}"/>
              </a:ext>
            </a:extLst>
          </p:cNvPr>
          <p:cNvGrpSpPr/>
          <p:nvPr/>
        </p:nvGrpSpPr>
        <p:grpSpPr>
          <a:xfrm>
            <a:off x="4318175" y="4664175"/>
            <a:ext cx="717482" cy="903287"/>
            <a:chOff x="4046293" y="4639120"/>
            <a:chExt cx="581025" cy="903287"/>
          </a:xfrm>
        </p:grpSpPr>
        <p:sp>
          <p:nvSpPr>
            <p:cNvPr id="249" name="Line 265">
              <a:extLst>
                <a:ext uri="{FF2B5EF4-FFF2-40B4-BE49-F238E27FC236}">
                  <a16:creationId xmlns:a16="http://schemas.microsoft.com/office/drawing/2014/main" id="{9CF0E39C-001C-48B2-6271-ACF272F29861}"/>
                </a:ext>
              </a:extLst>
            </p:cNvPr>
            <p:cNvSpPr>
              <a:spLocks noChangeShapeType="1"/>
            </p:cNvSpPr>
            <p:nvPr/>
          </p:nvSpPr>
          <p:spPr bwMode="auto">
            <a:xfrm flipV="1">
              <a:off x="4046293"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0" name="Text Box 277">
              <a:extLst>
                <a:ext uri="{FF2B5EF4-FFF2-40B4-BE49-F238E27FC236}">
                  <a16:creationId xmlns:a16="http://schemas.microsoft.com/office/drawing/2014/main" id="{EAA2EE0E-4A12-1E82-6A43-A3303A32833D}"/>
                </a:ext>
              </a:extLst>
            </p:cNvPr>
            <p:cNvSpPr txBox="1">
              <a:spLocks noChangeArrowheads="1"/>
            </p:cNvSpPr>
            <p:nvPr/>
          </p:nvSpPr>
          <p:spPr bwMode="auto">
            <a:xfrm>
              <a:off x="4054231" y="5018532"/>
              <a:ext cx="447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 Value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500 Files</a:t>
              </a:r>
            </a:p>
          </p:txBody>
        </p:sp>
        <p:grpSp>
          <p:nvGrpSpPr>
            <p:cNvPr id="251" name="Group 367">
              <a:extLst>
                <a:ext uri="{FF2B5EF4-FFF2-40B4-BE49-F238E27FC236}">
                  <a16:creationId xmlns:a16="http://schemas.microsoft.com/office/drawing/2014/main" id="{82408293-0C12-B1E7-86E5-DBF9707D6EF8}"/>
                </a:ext>
              </a:extLst>
            </p:cNvPr>
            <p:cNvGrpSpPr>
              <a:grpSpLocks/>
            </p:cNvGrpSpPr>
            <p:nvPr/>
          </p:nvGrpSpPr>
          <p:grpSpPr bwMode="auto">
            <a:xfrm>
              <a:off x="4078043" y="4639120"/>
              <a:ext cx="381000" cy="336550"/>
              <a:chOff x="4122" y="1171"/>
              <a:chExt cx="240" cy="212"/>
            </a:xfrm>
          </p:grpSpPr>
          <p:sp>
            <p:nvSpPr>
              <p:cNvPr id="256" name="Rectangle 368">
                <a:extLst>
                  <a:ext uri="{FF2B5EF4-FFF2-40B4-BE49-F238E27FC236}">
                    <a16:creationId xmlns:a16="http://schemas.microsoft.com/office/drawing/2014/main" id="{A99FFBD9-B022-CB62-EB43-4D3B65B73A2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7" name="Text Box 369">
                <a:extLst>
                  <a:ext uri="{FF2B5EF4-FFF2-40B4-BE49-F238E27FC236}">
                    <a16:creationId xmlns:a16="http://schemas.microsoft.com/office/drawing/2014/main" id="{98AC0DE8-9E07-1F68-35E8-511CCA32367A}"/>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58" name="AutoShape 370">
                <a:extLst>
                  <a:ext uri="{FF2B5EF4-FFF2-40B4-BE49-F238E27FC236}">
                    <a16:creationId xmlns:a16="http://schemas.microsoft.com/office/drawing/2014/main" id="{01E869BA-8518-7AB2-B593-5C618BC45171}"/>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9" name="AutoShape 371">
                <a:extLst>
                  <a:ext uri="{FF2B5EF4-FFF2-40B4-BE49-F238E27FC236}">
                    <a16:creationId xmlns:a16="http://schemas.microsoft.com/office/drawing/2014/main" id="{6D68C7CF-A194-43CE-B46F-2814A8CCD789}"/>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0" name="AutoShape 372">
                <a:extLst>
                  <a:ext uri="{FF2B5EF4-FFF2-40B4-BE49-F238E27FC236}">
                    <a16:creationId xmlns:a16="http://schemas.microsoft.com/office/drawing/2014/main" id="{20BC0AB7-3DE7-3E86-FBC6-34EFA39B272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52" name="Group 395">
              <a:extLst>
                <a:ext uri="{FF2B5EF4-FFF2-40B4-BE49-F238E27FC236}">
                  <a16:creationId xmlns:a16="http://schemas.microsoft.com/office/drawing/2014/main" id="{A7C09050-0730-6839-1B24-3118AC5E565A}"/>
                </a:ext>
              </a:extLst>
            </p:cNvPr>
            <p:cNvGrpSpPr>
              <a:grpSpLocks/>
            </p:cNvGrpSpPr>
            <p:nvPr/>
          </p:nvGrpSpPr>
          <p:grpSpPr bwMode="auto">
            <a:xfrm>
              <a:off x="4078043" y="5009007"/>
              <a:ext cx="381000" cy="533400"/>
              <a:chOff x="576" y="1200"/>
              <a:chExt cx="240" cy="336"/>
            </a:xfrm>
          </p:grpSpPr>
          <p:sp>
            <p:nvSpPr>
              <p:cNvPr id="253" name="Rectangle 396">
                <a:extLst>
                  <a:ext uri="{FF2B5EF4-FFF2-40B4-BE49-F238E27FC236}">
                    <a16:creationId xmlns:a16="http://schemas.microsoft.com/office/drawing/2014/main" id="{0B3B32F4-A3B3-5335-6FA6-71E4616F3B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54" name="Line 397">
                <a:extLst>
                  <a:ext uri="{FF2B5EF4-FFF2-40B4-BE49-F238E27FC236}">
                    <a16:creationId xmlns:a16="http://schemas.microsoft.com/office/drawing/2014/main" id="{C13FCA6D-9E82-3808-E620-9674CF20956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55" name="Line 398">
                <a:extLst>
                  <a:ext uri="{FF2B5EF4-FFF2-40B4-BE49-F238E27FC236}">
                    <a16:creationId xmlns:a16="http://schemas.microsoft.com/office/drawing/2014/main" id="{E6B84FDC-3E52-5419-8DD4-C8B00D05A39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61" name="Group 260">
            <a:extLst>
              <a:ext uri="{FF2B5EF4-FFF2-40B4-BE49-F238E27FC236}">
                <a16:creationId xmlns:a16="http://schemas.microsoft.com/office/drawing/2014/main" id="{96E8F79F-9617-20D1-5D6B-66C8D33F96DA}"/>
              </a:ext>
            </a:extLst>
          </p:cNvPr>
          <p:cNvGrpSpPr/>
          <p:nvPr/>
        </p:nvGrpSpPr>
        <p:grpSpPr>
          <a:xfrm>
            <a:off x="6026533" y="4612541"/>
            <a:ext cx="719443" cy="903287"/>
            <a:chOff x="6585196" y="4639120"/>
            <a:chExt cx="582613" cy="903287"/>
          </a:xfrm>
        </p:grpSpPr>
        <p:sp>
          <p:nvSpPr>
            <p:cNvPr id="262" name="Line 264">
              <a:extLst>
                <a:ext uri="{FF2B5EF4-FFF2-40B4-BE49-F238E27FC236}">
                  <a16:creationId xmlns:a16="http://schemas.microsoft.com/office/drawing/2014/main" id="{7CC29B0E-5EE3-47A3-2848-C6FAB37DAD03}"/>
                </a:ext>
              </a:extLst>
            </p:cNvPr>
            <p:cNvSpPr>
              <a:spLocks noChangeShapeType="1"/>
            </p:cNvSpPr>
            <p:nvPr/>
          </p:nvSpPr>
          <p:spPr bwMode="auto">
            <a:xfrm flipV="1">
              <a:off x="6586784"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3" name="Text Box 271">
              <a:extLst>
                <a:ext uri="{FF2B5EF4-FFF2-40B4-BE49-F238E27FC236}">
                  <a16:creationId xmlns:a16="http://schemas.microsoft.com/office/drawing/2014/main" id="{F0D031D7-1D1E-6569-8AD5-C51CC0B95493}"/>
                </a:ext>
              </a:extLst>
            </p:cNvPr>
            <p:cNvSpPr txBox="1">
              <a:spLocks noChangeArrowheads="1"/>
            </p:cNvSpPr>
            <p:nvPr/>
          </p:nvSpPr>
          <p:spPr bwMode="auto">
            <a:xfrm>
              <a:off x="6585196" y="5031232"/>
              <a:ext cx="454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Outlook</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0 Files</a:t>
              </a:r>
            </a:p>
          </p:txBody>
        </p:sp>
        <p:grpSp>
          <p:nvGrpSpPr>
            <p:cNvPr id="264" name="Group 373">
              <a:extLst>
                <a:ext uri="{FF2B5EF4-FFF2-40B4-BE49-F238E27FC236}">
                  <a16:creationId xmlns:a16="http://schemas.microsoft.com/office/drawing/2014/main" id="{7F94C1C7-6DC3-AD77-C0F7-FEB8C9418026}"/>
                </a:ext>
              </a:extLst>
            </p:cNvPr>
            <p:cNvGrpSpPr>
              <a:grpSpLocks/>
            </p:cNvGrpSpPr>
            <p:nvPr/>
          </p:nvGrpSpPr>
          <p:grpSpPr bwMode="auto">
            <a:xfrm>
              <a:off x="6632821" y="4639120"/>
              <a:ext cx="381000" cy="336550"/>
              <a:chOff x="4122" y="1171"/>
              <a:chExt cx="240" cy="212"/>
            </a:xfrm>
          </p:grpSpPr>
          <p:sp>
            <p:nvSpPr>
              <p:cNvPr id="269" name="Rectangle 374">
                <a:extLst>
                  <a:ext uri="{FF2B5EF4-FFF2-40B4-BE49-F238E27FC236}">
                    <a16:creationId xmlns:a16="http://schemas.microsoft.com/office/drawing/2014/main" id="{8747E640-7EE7-4DF1-FBB1-DFFF338063CF}"/>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0" name="Text Box 375">
                <a:extLst>
                  <a:ext uri="{FF2B5EF4-FFF2-40B4-BE49-F238E27FC236}">
                    <a16:creationId xmlns:a16="http://schemas.microsoft.com/office/drawing/2014/main" id="{8BAB8A69-3A16-B4F6-0D25-D68EEA39BD2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71" name="AutoShape 376">
                <a:extLst>
                  <a:ext uri="{FF2B5EF4-FFF2-40B4-BE49-F238E27FC236}">
                    <a16:creationId xmlns:a16="http://schemas.microsoft.com/office/drawing/2014/main" id="{6B4EB80B-F867-5517-743B-54320310CC9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2" name="AutoShape 377">
                <a:extLst>
                  <a:ext uri="{FF2B5EF4-FFF2-40B4-BE49-F238E27FC236}">
                    <a16:creationId xmlns:a16="http://schemas.microsoft.com/office/drawing/2014/main" id="{5251BFB5-C1E0-4DCF-82F4-0185C1FD3E5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73" name="AutoShape 378">
                <a:extLst>
                  <a:ext uri="{FF2B5EF4-FFF2-40B4-BE49-F238E27FC236}">
                    <a16:creationId xmlns:a16="http://schemas.microsoft.com/office/drawing/2014/main" id="{649ABBEB-2C20-AE1E-7B2E-150C37E32C90}"/>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65" name="Group 399">
              <a:extLst>
                <a:ext uri="{FF2B5EF4-FFF2-40B4-BE49-F238E27FC236}">
                  <a16:creationId xmlns:a16="http://schemas.microsoft.com/office/drawing/2014/main" id="{FE9364B7-E1C1-3BBC-F13C-D8B7653956A2}"/>
                </a:ext>
              </a:extLst>
            </p:cNvPr>
            <p:cNvGrpSpPr>
              <a:grpSpLocks/>
            </p:cNvGrpSpPr>
            <p:nvPr/>
          </p:nvGrpSpPr>
          <p:grpSpPr bwMode="auto">
            <a:xfrm>
              <a:off x="6632821" y="5009007"/>
              <a:ext cx="381000" cy="533400"/>
              <a:chOff x="576" y="1200"/>
              <a:chExt cx="240" cy="336"/>
            </a:xfrm>
          </p:grpSpPr>
          <p:sp>
            <p:nvSpPr>
              <p:cNvPr id="266" name="Rectangle 400">
                <a:extLst>
                  <a:ext uri="{FF2B5EF4-FFF2-40B4-BE49-F238E27FC236}">
                    <a16:creationId xmlns:a16="http://schemas.microsoft.com/office/drawing/2014/main" id="{F4651EDB-D724-F82F-9C7B-889E8E1253E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67" name="Line 401">
                <a:extLst>
                  <a:ext uri="{FF2B5EF4-FFF2-40B4-BE49-F238E27FC236}">
                    <a16:creationId xmlns:a16="http://schemas.microsoft.com/office/drawing/2014/main" id="{3F777567-266A-E708-C782-33C9B17B96F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68" name="Line 402">
                <a:extLst>
                  <a:ext uri="{FF2B5EF4-FFF2-40B4-BE49-F238E27FC236}">
                    <a16:creationId xmlns:a16="http://schemas.microsoft.com/office/drawing/2014/main" id="{F2839B27-A5DF-4F8C-9A62-4CC432369540}"/>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74" name="Group 273">
            <a:extLst>
              <a:ext uri="{FF2B5EF4-FFF2-40B4-BE49-F238E27FC236}">
                <a16:creationId xmlns:a16="http://schemas.microsoft.com/office/drawing/2014/main" id="{078D94D6-5FB5-10F1-C6A4-6F209FB89EEC}"/>
              </a:ext>
            </a:extLst>
          </p:cNvPr>
          <p:cNvGrpSpPr/>
          <p:nvPr/>
        </p:nvGrpSpPr>
        <p:grpSpPr>
          <a:xfrm>
            <a:off x="7806478" y="4591795"/>
            <a:ext cx="764530" cy="903287"/>
            <a:chOff x="8456859" y="4639120"/>
            <a:chExt cx="619125" cy="903287"/>
          </a:xfrm>
        </p:grpSpPr>
        <p:sp>
          <p:nvSpPr>
            <p:cNvPr id="275" name="Line 263">
              <a:extLst>
                <a:ext uri="{FF2B5EF4-FFF2-40B4-BE49-F238E27FC236}">
                  <a16:creationId xmlns:a16="http://schemas.microsoft.com/office/drawing/2014/main" id="{09DCEC4F-0EBD-603B-1184-F56471AD4B97}"/>
                </a:ext>
              </a:extLst>
            </p:cNvPr>
            <p:cNvSpPr>
              <a:spLocks noChangeShapeType="1"/>
            </p:cNvSpPr>
            <p:nvPr/>
          </p:nvSpPr>
          <p:spPr bwMode="auto">
            <a:xfrm flipV="1">
              <a:off x="8494959"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76" name="Text Box 268">
              <a:extLst>
                <a:ext uri="{FF2B5EF4-FFF2-40B4-BE49-F238E27FC236}">
                  <a16:creationId xmlns:a16="http://schemas.microsoft.com/office/drawing/2014/main" id="{02F2F227-FA8F-AA2F-5F4F-2755CFFDAF75}"/>
                </a:ext>
              </a:extLst>
            </p:cNvPr>
            <p:cNvSpPr txBox="1">
              <a:spLocks noChangeArrowheads="1"/>
            </p:cNvSpPr>
            <p:nvPr/>
          </p:nvSpPr>
          <p:spPr bwMode="auto">
            <a:xfrm>
              <a:off x="8456859" y="5024882"/>
              <a:ext cx="552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In Box</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Zip Code</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Packages</a:t>
              </a:r>
            </a:p>
          </p:txBody>
        </p:sp>
        <p:grpSp>
          <p:nvGrpSpPr>
            <p:cNvPr id="277" name="Group 379">
              <a:extLst>
                <a:ext uri="{FF2B5EF4-FFF2-40B4-BE49-F238E27FC236}">
                  <a16:creationId xmlns:a16="http://schemas.microsoft.com/office/drawing/2014/main" id="{C5C2F5A9-9C67-85C3-379D-8655164C8307}"/>
                </a:ext>
              </a:extLst>
            </p:cNvPr>
            <p:cNvGrpSpPr>
              <a:grpSpLocks/>
            </p:cNvGrpSpPr>
            <p:nvPr/>
          </p:nvGrpSpPr>
          <p:grpSpPr bwMode="auto">
            <a:xfrm>
              <a:off x="8536234" y="4639120"/>
              <a:ext cx="381000" cy="336550"/>
              <a:chOff x="4122" y="1171"/>
              <a:chExt cx="240" cy="212"/>
            </a:xfrm>
          </p:grpSpPr>
          <p:sp>
            <p:nvSpPr>
              <p:cNvPr id="282" name="Rectangle 380">
                <a:extLst>
                  <a:ext uri="{FF2B5EF4-FFF2-40B4-BE49-F238E27FC236}">
                    <a16:creationId xmlns:a16="http://schemas.microsoft.com/office/drawing/2014/main" id="{8BEBE42F-CC44-A4FF-9F6D-0201AAA42F08}"/>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3" name="Text Box 381">
                <a:extLst>
                  <a:ext uri="{FF2B5EF4-FFF2-40B4-BE49-F238E27FC236}">
                    <a16:creationId xmlns:a16="http://schemas.microsoft.com/office/drawing/2014/main" id="{DA95EDF8-21AE-1E3B-AB14-6443B5ABCBBD}"/>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84" name="AutoShape 382">
                <a:extLst>
                  <a:ext uri="{FF2B5EF4-FFF2-40B4-BE49-F238E27FC236}">
                    <a16:creationId xmlns:a16="http://schemas.microsoft.com/office/drawing/2014/main" id="{4764379B-C40C-38DE-A689-A091410E96F8}"/>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5" name="AutoShape 383">
                <a:extLst>
                  <a:ext uri="{FF2B5EF4-FFF2-40B4-BE49-F238E27FC236}">
                    <a16:creationId xmlns:a16="http://schemas.microsoft.com/office/drawing/2014/main" id="{6F8BCDB6-DF11-7BB0-BA03-649049C91AEC}"/>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6" name="AutoShape 384">
                <a:extLst>
                  <a:ext uri="{FF2B5EF4-FFF2-40B4-BE49-F238E27FC236}">
                    <a16:creationId xmlns:a16="http://schemas.microsoft.com/office/drawing/2014/main" id="{3C33C628-DC10-04A0-6DBB-38D8BE8E1EF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78" name="Group 403">
              <a:extLst>
                <a:ext uri="{FF2B5EF4-FFF2-40B4-BE49-F238E27FC236}">
                  <a16:creationId xmlns:a16="http://schemas.microsoft.com/office/drawing/2014/main" id="{88939D1F-AEC7-5D71-610C-5748A1751781}"/>
                </a:ext>
              </a:extLst>
            </p:cNvPr>
            <p:cNvGrpSpPr>
              <a:grpSpLocks/>
            </p:cNvGrpSpPr>
            <p:nvPr/>
          </p:nvGrpSpPr>
          <p:grpSpPr bwMode="auto">
            <a:xfrm>
              <a:off x="8536234" y="5009007"/>
              <a:ext cx="381000" cy="533400"/>
              <a:chOff x="576" y="1200"/>
              <a:chExt cx="240" cy="336"/>
            </a:xfrm>
          </p:grpSpPr>
          <p:sp>
            <p:nvSpPr>
              <p:cNvPr id="279" name="Rectangle 404">
                <a:extLst>
                  <a:ext uri="{FF2B5EF4-FFF2-40B4-BE49-F238E27FC236}">
                    <a16:creationId xmlns:a16="http://schemas.microsoft.com/office/drawing/2014/main" id="{AB8D0517-4C73-4EEE-0A31-06A8734A9077}"/>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80" name="Line 405">
                <a:extLst>
                  <a:ext uri="{FF2B5EF4-FFF2-40B4-BE49-F238E27FC236}">
                    <a16:creationId xmlns:a16="http://schemas.microsoft.com/office/drawing/2014/main" id="{B64C6E29-136B-92BA-4332-0DB83EA29F0B}"/>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1" name="Line 406">
                <a:extLst>
                  <a:ext uri="{FF2B5EF4-FFF2-40B4-BE49-F238E27FC236}">
                    <a16:creationId xmlns:a16="http://schemas.microsoft.com/office/drawing/2014/main" id="{7462B05A-9DDB-1EFF-6408-74A4AA6F21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grpSp>
        <p:nvGrpSpPr>
          <p:cNvPr id="287" name="Group 286">
            <a:extLst>
              <a:ext uri="{FF2B5EF4-FFF2-40B4-BE49-F238E27FC236}">
                <a16:creationId xmlns:a16="http://schemas.microsoft.com/office/drawing/2014/main" id="{55BCF818-8375-B20F-22EB-B3925AAF0AEE}"/>
              </a:ext>
            </a:extLst>
          </p:cNvPr>
          <p:cNvGrpSpPr/>
          <p:nvPr/>
        </p:nvGrpSpPr>
        <p:grpSpPr>
          <a:xfrm>
            <a:off x="591847" y="4612541"/>
            <a:ext cx="770410" cy="903287"/>
            <a:chOff x="1231656" y="4639120"/>
            <a:chExt cx="623887" cy="903287"/>
          </a:xfrm>
        </p:grpSpPr>
        <p:sp>
          <p:nvSpPr>
            <p:cNvPr id="288" name="Line 267">
              <a:extLst>
                <a:ext uri="{FF2B5EF4-FFF2-40B4-BE49-F238E27FC236}">
                  <a16:creationId xmlns:a16="http://schemas.microsoft.com/office/drawing/2014/main" id="{0EB5D8FE-385D-6AC0-D182-A14ECD14D412}"/>
                </a:ext>
              </a:extLst>
            </p:cNvPr>
            <p:cNvSpPr>
              <a:spLocks noChangeShapeType="1"/>
            </p:cNvSpPr>
            <p:nvPr/>
          </p:nvSpPr>
          <p:spPr bwMode="auto">
            <a:xfrm flipV="1">
              <a:off x="1274518" y="4856607"/>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89" name="Text Box 269">
              <a:extLst>
                <a:ext uri="{FF2B5EF4-FFF2-40B4-BE49-F238E27FC236}">
                  <a16:creationId xmlns:a16="http://schemas.microsoft.com/office/drawing/2014/main" id="{6C3615D4-96B4-30BA-17DE-0F9A3DAC7BC7}"/>
                </a:ext>
              </a:extLst>
            </p:cNvPr>
            <p:cNvSpPr txBox="1">
              <a:spLocks noChangeArrowheads="1"/>
            </p:cNvSpPr>
            <p:nvPr/>
          </p:nvSpPr>
          <p:spPr bwMode="auto">
            <a:xfrm>
              <a:off x="1231656" y="5021707"/>
              <a:ext cx="561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75 Envelopes</a:t>
              </a:r>
            </a:p>
          </p:txBody>
        </p:sp>
        <p:grpSp>
          <p:nvGrpSpPr>
            <p:cNvPr id="290" name="Group 360">
              <a:extLst>
                <a:ext uri="{FF2B5EF4-FFF2-40B4-BE49-F238E27FC236}">
                  <a16:creationId xmlns:a16="http://schemas.microsoft.com/office/drawing/2014/main" id="{3762A221-9AD3-E9C8-A24E-9E4B6E188AAA}"/>
                </a:ext>
              </a:extLst>
            </p:cNvPr>
            <p:cNvGrpSpPr>
              <a:grpSpLocks/>
            </p:cNvGrpSpPr>
            <p:nvPr/>
          </p:nvGrpSpPr>
          <p:grpSpPr bwMode="auto">
            <a:xfrm>
              <a:off x="1325318" y="4639120"/>
              <a:ext cx="381000" cy="336550"/>
              <a:chOff x="4122" y="1171"/>
              <a:chExt cx="240" cy="212"/>
            </a:xfrm>
          </p:grpSpPr>
          <p:sp>
            <p:nvSpPr>
              <p:cNvPr id="295" name="Rectangle 355">
                <a:extLst>
                  <a:ext uri="{FF2B5EF4-FFF2-40B4-BE49-F238E27FC236}">
                    <a16:creationId xmlns:a16="http://schemas.microsoft.com/office/drawing/2014/main" id="{0E539D63-914C-6BFF-2A3E-F809881B78FB}"/>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6" name="Text Box 356">
                <a:extLst>
                  <a:ext uri="{FF2B5EF4-FFF2-40B4-BE49-F238E27FC236}">
                    <a16:creationId xmlns:a16="http://schemas.microsoft.com/office/drawing/2014/main" id="{B98C2302-3F5D-602C-98C2-29F2CF27BB66}"/>
                  </a:ext>
                </a:extLst>
              </p:cNvPr>
              <p:cNvSpPr txBox="1">
                <a:spLocks noChangeArrowheads="1"/>
              </p:cNvSpPr>
              <p:nvPr/>
            </p:nvSpPr>
            <p:spPr bwMode="auto">
              <a:xfrm>
                <a:off x="4152" y="1227"/>
                <a:ext cx="146" cy="13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IN</a:t>
                </a:r>
              </a:p>
            </p:txBody>
          </p:sp>
          <p:sp>
            <p:nvSpPr>
              <p:cNvPr id="297" name="AutoShape 357">
                <a:extLst>
                  <a:ext uri="{FF2B5EF4-FFF2-40B4-BE49-F238E27FC236}">
                    <a16:creationId xmlns:a16="http://schemas.microsoft.com/office/drawing/2014/main" id="{2E6A28DF-3DBE-1C3B-9FD2-1FF11BF5C6A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8" name="AutoShape 358">
                <a:extLst>
                  <a:ext uri="{FF2B5EF4-FFF2-40B4-BE49-F238E27FC236}">
                    <a16:creationId xmlns:a16="http://schemas.microsoft.com/office/drawing/2014/main" id="{659D2C74-5DC4-4A21-EF73-437B373D274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9" name="AutoShape 359">
                <a:extLst>
                  <a:ext uri="{FF2B5EF4-FFF2-40B4-BE49-F238E27FC236}">
                    <a16:creationId xmlns:a16="http://schemas.microsoft.com/office/drawing/2014/main" id="{9AFBE128-6372-1E7C-5AA7-C35568F0597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grpSp>
        <p:grpSp>
          <p:nvGrpSpPr>
            <p:cNvPr id="291" name="Group 407">
              <a:extLst>
                <a:ext uri="{FF2B5EF4-FFF2-40B4-BE49-F238E27FC236}">
                  <a16:creationId xmlns:a16="http://schemas.microsoft.com/office/drawing/2014/main" id="{70808F76-67C0-F4C4-6F60-BDCC8B595E40}"/>
                </a:ext>
              </a:extLst>
            </p:cNvPr>
            <p:cNvGrpSpPr>
              <a:grpSpLocks/>
            </p:cNvGrpSpPr>
            <p:nvPr/>
          </p:nvGrpSpPr>
          <p:grpSpPr bwMode="auto">
            <a:xfrm>
              <a:off x="1315793" y="5009007"/>
              <a:ext cx="381000" cy="533400"/>
              <a:chOff x="576" y="1200"/>
              <a:chExt cx="240" cy="336"/>
            </a:xfrm>
          </p:grpSpPr>
          <p:sp>
            <p:nvSpPr>
              <p:cNvPr id="292" name="Rectangle 408">
                <a:extLst>
                  <a:ext uri="{FF2B5EF4-FFF2-40B4-BE49-F238E27FC236}">
                    <a16:creationId xmlns:a16="http://schemas.microsoft.com/office/drawing/2014/main" id="{DF226943-8D54-5689-D5B1-F660EE26DC8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latin typeface="Roboto" panose="02000000000000000000" pitchFamily="2" charset="0"/>
                  <a:ea typeface="Roboto" panose="02000000000000000000" pitchFamily="2" charset="0"/>
                  <a:cs typeface="Roboto" panose="02000000000000000000" pitchFamily="2" charset="0"/>
                </a:endParaRPr>
              </a:p>
            </p:txBody>
          </p:sp>
          <p:sp>
            <p:nvSpPr>
              <p:cNvPr id="293" name="Line 409">
                <a:extLst>
                  <a:ext uri="{FF2B5EF4-FFF2-40B4-BE49-F238E27FC236}">
                    <a16:creationId xmlns:a16="http://schemas.microsoft.com/office/drawing/2014/main" id="{9D3742F3-B857-6B3C-DCBC-C3B56DF979B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94" name="Line 410">
                <a:extLst>
                  <a:ext uri="{FF2B5EF4-FFF2-40B4-BE49-F238E27FC236}">
                    <a16:creationId xmlns:a16="http://schemas.microsoft.com/office/drawing/2014/main" id="{95E6F506-DBF8-19C8-FBBB-57A24DF69AD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grpSp>
      <p:cxnSp>
        <p:nvCxnSpPr>
          <p:cNvPr id="95" name="AutoShape 105">
            <a:extLst>
              <a:ext uri="{FF2B5EF4-FFF2-40B4-BE49-F238E27FC236}">
                <a16:creationId xmlns:a16="http://schemas.microsoft.com/office/drawing/2014/main" id="{D524B863-1E68-9F3A-9854-7BF9061F6347}"/>
              </a:ext>
            </a:extLst>
          </p:cNvPr>
          <p:cNvCxnSpPr>
            <a:cxnSpLocks noChangeShapeType="1"/>
          </p:cNvCxnSpPr>
          <p:nvPr/>
        </p:nvCxnSpPr>
        <p:spPr bwMode="auto">
          <a:xfrm rot="10800000" flipV="1">
            <a:off x="1032431" y="2137445"/>
            <a:ext cx="3556947" cy="2353505"/>
          </a:xfrm>
          <a:prstGeom prst="bentConnector3">
            <a:avLst>
              <a:gd name="adj1" fmla="val 100361"/>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96" name="Group 106">
            <a:extLst>
              <a:ext uri="{FF2B5EF4-FFF2-40B4-BE49-F238E27FC236}">
                <a16:creationId xmlns:a16="http://schemas.microsoft.com/office/drawing/2014/main" id="{BBB6B1D6-66BB-4487-EEB1-546A2BC66EE2}"/>
              </a:ext>
            </a:extLst>
          </p:cNvPr>
          <p:cNvGrpSpPr>
            <a:grpSpLocks/>
          </p:cNvGrpSpPr>
          <p:nvPr/>
        </p:nvGrpSpPr>
        <p:grpSpPr bwMode="auto">
          <a:xfrm>
            <a:off x="656596" y="3410202"/>
            <a:ext cx="593725" cy="409575"/>
            <a:chOff x="513" y="2099"/>
            <a:chExt cx="374" cy="258"/>
          </a:xfrm>
        </p:grpSpPr>
        <p:grpSp>
          <p:nvGrpSpPr>
            <p:cNvPr id="97" name="Group 107">
              <a:extLst>
                <a:ext uri="{FF2B5EF4-FFF2-40B4-BE49-F238E27FC236}">
                  <a16:creationId xmlns:a16="http://schemas.microsoft.com/office/drawing/2014/main" id="{7A221BCE-F284-94EC-26F7-BB0B795A9D1E}"/>
                </a:ext>
              </a:extLst>
            </p:cNvPr>
            <p:cNvGrpSpPr>
              <a:grpSpLocks/>
            </p:cNvGrpSpPr>
            <p:nvPr/>
          </p:nvGrpSpPr>
          <p:grpSpPr bwMode="auto">
            <a:xfrm>
              <a:off x="550" y="2121"/>
              <a:ext cx="337" cy="236"/>
              <a:chOff x="536" y="3744"/>
              <a:chExt cx="415" cy="261"/>
            </a:xfrm>
          </p:grpSpPr>
          <p:sp>
            <p:nvSpPr>
              <p:cNvPr id="99" name="Rectangle 108">
                <a:extLst>
                  <a:ext uri="{FF2B5EF4-FFF2-40B4-BE49-F238E27FC236}">
                    <a16:creationId xmlns:a16="http://schemas.microsoft.com/office/drawing/2014/main" id="{153DA680-61F3-1F5C-43F6-8E4DEE181407}"/>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0" name="Rectangle 109">
                <a:extLst>
                  <a:ext uri="{FF2B5EF4-FFF2-40B4-BE49-F238E27FC236}">
                    <a16:creationId xmlns:a16="http://schemas.microsoft.com/office/drawing/2014/main" id="{CA61D780-FBDA-F681-0194-276CCA21BE73}"/>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1" name="Oval 110">
                <a:extLst>
                  <a:ext uri="{FF2B5EF4-FFF2-40B4-BE49-F238E27FC236}">
                    <a16:creationId xmlns:a16="http://schemas.microsoft.com/office/drawing/2014/main" id="{054C2F1A-B8CA-E98B-9347-79B4A945CE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2" name="Oval 111">
                <a:extLst>
                  <a:ext uri="{FF2B5EF4-FFF2-40B4-BE49-F238E27FC236}">
                    <a16:creationId xmlns:a16="http://schemas.microsoft.com/office/drawing/2014/main" id="{32EE50A9-CCB3-BD71-9CA8-906B1B9C744B}"/>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sp>
          <p:nvSpPr>
            <p:cNvPr id="98" name="Text Box 112">
              <a:extLst>
                <a:ext uri="{FF2B5EF4-FFF2-40B4-BE49-F238E27FC236}">
                  <a16:creationId xmlns:a16="http://schemas.microsoft.com/office/drawing/2014/main" id="{112F24D5-5C99-4C7C-0240-FFFF3AA94479}"/>
                </a:ext>
              </a:extLst>
            </p:cNvPr>
            <p:cNvSpPr txBox="1">
              <a:spLocks noChangeArrowheads="1"/>
            </p:cNvSpPr>
            <p:nvPr/>
          </p:nvSpPr>
          <p:spPr bwMode="auto">
            <a:xfrm>
              <a:off x="513" y="2099"/>
              <a:ext cx="30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sp>
        <p:nvSpPr>
          <p:cNvPr id="5" name="Text Box 170">
            <a:extLst>
              <a:ext uri="{FF2B5EF4-FFF2-40B4-BE49-F238E27FC236}">
                <a16:creationId xmlns:a16="http://schemas.microsoft.com/office/drawing/2014/main" id="{92469E46-23C3-3488-CDEC-29B886692059}"/>
              </a:ext>
            </a:extLst>
          </p:cNvPr>
          <p:cNvSpPr txBox="1">
            <a:spLocks noChangeArrowheads="1"/>
          </p:cNvSpPr>
          <p:nvPr/>
        </p:nvSpPr>
        <p:spPr bwMode="auto">
          <a:xfrm>
            <a:off x="9751386" y="5620495"/>
            <a:ext cx="82073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P.T = 1,980 sec</a:t>
            </a:r>
          </a:p>
        </p:txBody>
      </p:sp>
      <p:sp>
        <p:nvSpPr>
          <p:cNvPr id="6" name="Line 171">
            <a:extLst>
              <a:ext uri="{FF2B5EF4-FFF2-40B4-BE49-F238E27FC236}">
                <a16:creationId xmlns:a16="http://schemas.microsoft.com/office/drawing/2014/main" id="{8F9922FF-0CDA-EDC0-AE6C-1CF161AE5159}"/>
              </a:ext>
            </a:extLst>
          </p:cNvPr>
          <p:cNvSpPr>
            <a:spLocks noChangeShapeType="1"/>
          </p:cNvSpPr>
          <p:nvPr/>
        </p:nvSpPr>
        <p:spPr bwMode="auto">
          <a:xfrm flipV="1">
            <a:off x="9714874" y="5780832"/>
            <a:ext cx="787400" cy="31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 name="Rectangle 172">
            <a:extLst>
              <a:ext uri="{FF2B5EF4-FFF2-40B4-BE49-F238E27FC236}">
                <a16:creationId xmlns:a16="http://schemas.microsoft.com/office/drawing/2014/main" id="{954DD8FB-2A83-30A9-3668-A73A0FAC7F82}"/>
              </a:ext>
            </a:extLst>
          </p:cNvPr>
          <p:cNvSpPr>
            <a:spLocks noChangeArrowheads="1"/>
          </p:cNvSpPr>
          <p:nvPr/>
        </p:nvSpPr>
        <p:spPr bwMode="auto">
          <a:xfrm>
            <a:off x="9695824" y="5583982"/>
            <a:ext cx="846137" cy="4270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 name="Line 129">
            <a:extLst>
              <a:ext uri="{FF2B5EF4-FFF2-40B4-BE49-F238E27FC236}">
                <a16:creationId xmlns:a16="http://schemas.microsoft.com/office/drawing/2014/main" id="{E63D6FBC-DE32-54D3-FB2B-1F9F740FD012}"/>
              </a:ext>
            </a:extLst>
          </p:cNvPr>
          <p:cNvSpPr>
            <a:spLocks noChangeShapeType="1"/>
          </p:cNvSpPr>
          <p:nvPr/>
        </p:nvSpPr>
        <p:spPr bwMode="auto">
          <a:xfrm>
            <a:off x="582957" y="5748038"/>
            <a:ext cx="799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7" name="Line 130">
            <a:extLst>
              <a:ext uri="{FF2B5EF4-FFF2-40B4-BE49-F238E27FC236}">
                <a16:creationId xmlns:a16="http://schemas.microsoft.com/office/drawing/2014/main" id="{33DE6F16-8B93-D26E-1907-28E88291303F}"/>
              </a:ext>
            </a:extLst>
          </p:cNvPr>
          <p:cNvSpPr>
            <a:spLocks noChangeShapeType="1"/>
          </p:cNvSpPr>
          <p:nvPr/>
        </p:nvSpPr>
        <p:spPr bwMode="auto">
          <a:xfrm>
            <a:off x="1391048" y="5772380"/>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1" name="Line 131">
            <a:extLst>
              <a:ext uri="{FF2B5EF4-FFF2-40B4-BE49-F238E27FC236}">
                <a16:creationId xmlns:a16="http://schemas.microsoft.com/office/drawing/2014/main" id="{0D36EBE5-E908-0663-376F-0DDAFAEA4112}"/>
              </a:ext>
            </a:extLst>
          </p:cNvPr>
          <p:cNvSpPr>
            <a:spLocks noChangeShapeType="1"/>
          </p:cNvSpPr>
          <p:nvPr/>
        </p:nvSpPr>
        <p:spPr bwMode="auto">
          <a:xfrm flipV="1">
            <a:off x="1397280" y="5929012"/>
            <a:ext cx="1035118" cy="950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4" name="Line 132">
            <a:extLst>
              <a:ext uri="{FF2B5EF4-FFF2-40B4-BE49-F238E27FC236}">
                <a16:creationId xmlns:a16="http://schemas.microsoft.com/office/drawing/2014/main" id="{70B182A9-AFD7-CE92-3495-DD264F91BEB6}"/>
              </a:ext>
            </a:extLst>
          </p:cNvPr>
          <p:cNvSpPr>
            <a:spLocks noChangeShapeType="1"/>
          </p:cNvSpPr>
          <p:nvPr/>
        </p:nvSpPr>
        <p:spPr bwMode="auto">
          <a:xfrm flipV="1">
            <a:off x="2437613" y="5757563"/>
            <a:ext cx="0" cy="1619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5" name="Line 133">
            <a:extLst>
              <a:ext uri="{FF2B5EF4-FFF2-40B4-BE49-F238E27FC236}">
                <a16:creationId xmlns:a16="http://schemas.microsoft.com/office/drawing/2014/main" id="{D4D2F17C-6F2B-7B08-195E-71CB0C99A202}"/>
              </a:ext>
            </a:extLst>
          </p:cNvPr>
          <p:cNvSpPr>
            <a:spLocks noChangeShapeType="1"/>
          </p:cNvSpPr>
          <p:nvPr/>
        </p:nvSpPr>
        <p:spPr bwMode="auto">
          <a:xfrm>
            <a:off x="2441689" y="5757563"/>
            <a:ext cx="75496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6" name="Line 134">
            <a:extLst>
              <a:ext uri="{FF2B5EF4-FFF2-40B4-BE49-F238E27FC236}">
                <a16:creationId xmlns:a16="http://schemas.microsoft.com/office/drawing/2014/main" id="{8EE7C2C3-48D1-9E82-5877-4D6EF030E26A}"/>
              </a:ext>
            </a:extLst>
          </p:cNvPr>
          <p:cNvSpPr>
            <a:spLocks noChangeShapeType="1"/>
          </p:cNvSpPr>
          <p:nvPr/>
        </p:nvSpPr>
        <p:spPr bwMode="auto">
          <a:xfrm>
            <a:off x="3209258" y="5767088"/>
            <a:ext cx="0" cy="1587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7" name="Line 135">
            <a:extLst>
              <a:ext uri="{FF2B5EF4-FFF2-40B4-BE49-F238E27FC236}">
                <a16:creationId xmlns:a16="http://schemas.microsoft.com/office/drawing/2014/main" id="{6D3227A4-C98F-EFE1-64B7-F7ECA52735F0}"/>
              </a:ext>
            </a:extLst>
          </p:cNvPr>
          <p:cNvSpPr>
            <a:spLocks noChangeShapeType="1"/>
          </p:cNvSpPr>
          <p:nvPr/>
        </p:nvSpPr>
        <p:spPr bwMode="auto">
          <a:xfrm>
            <a:off x="3203233" y="5933253"/>
            <a:ext cx="1090065" cy="528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8" name="Line 136">
            <a:extLst>
              <a:ext uri="{FF2B5EF4-FFF2-40B4-BE49-F238E27FC236}">
                <a16:creationId xmlns:a16="http://schemas.microsoft.com/office/drawing/2014/main" id="{847A7CA2-C076-E8A2-8670-5B519C3DA65A}"/>
              </a:ext>
            </a:extLst>
          </p:cNvPr>
          <p:cNvSpPr>
            <a:spLocks noChangeShapeType="1"/>
          </p:cNvSpPr>
          <p:nvPr/>
        </p:nvSpPr>
        <p:spPr bwMode="auto">
          <a:xfrm flipV="1">
            <a:off x="4293299" y="5776613"/>
            <a:ext cx="0" cy="15240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9" name="Line 137">
            <a:extLst>
              <a:ext uri="{FF2B5EF4-FFF2-40B4-BE49-F238E27FC236}">
                <a16:creationId xmlns:a16="http://schemas.microsoft.com/office/drawing/2014/main" id="{78A66886-02E3-E5F1-2739-2CAA63A17AB8}"/>
              </a:ext>
            </a:extLst>
          </p:cNvPr>
          <p:cNvSpPr>
            <a:spLocks noChangeShapeType="1"/>
          </p:cNvSpPr>
          <p:nvPr/>
        </p:nvSpPr>
        <p:spPr bwMode="auto">
          <a:xfrm flipV="1">
            <a:off x="4293300" y="5772369"/>
            <a:ext cx="613062"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138">
            <a:extLst>
              <a:ext uri="{FF2B5EF4-FFF2-40B4-BE49-F238E27FC236}">
                <a16:creationId xmlns:a16="http://schemas.microsoft.com/office/drawing/2014/main" id="{C45DE607-CA02-1360-E5D4-E65908D70B05}"/>
              </a:ext>
            </a:extLst>
          </p:cNvPr>
          <p:cNvSpPr>
            <a:spLocks noChangeShapeType="1"/>
          </p:cNvSpPr>
          <p:nvPr/>
        </p:nvSpPr>
        <p:spPr bwMode="auto">
          <a:xfrm>
            <a:off x="4909768" y="576708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139">
            <a:extLst>
              <a:ext uri="{FF2B5EF4-FFF2-40B4-BE49-F238E27FC236}">
                <a16:creationId xmlns:a16="http://schemas.microsoft.com/office/drawing/2014/main" id="{B5B7BE62-C0DA-89DC-5764-F1010E600A9D}"/>
              </a:ext>
            </a:extLst>
          </p:cNvPr>
          <p:cNvSpPr>
            <a:spLocks noChangeShapeType="1"/>
          </p:cNvSpPr>
          <p:nvPr/>
        </p:nvSpPr>
        <p:spPr bwMode="auto">
          <a:xfrm>
            <a:off x="4906361" y="5939636"/>
            <a:ext cx="1069785" cy="842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2" name="Line 140">
            <a:extLst>
              <a:ext uri="{FF2B5EF4-FFF2-40B4-BE49-F238E27FC236}">
                <a16:creationId xmlns:a16="http://schemas.microsoft.com/office/drawing/2014/main" id="{3E674B01-97E1-F38B-0F5D-1991A0FD9071}"/>
              </a:ext>
            </a:extLst>
          </p:cNvPr>
          <p:cNvSpPr>
            <a:spLocks noChangeShapeType="1"/>
          </p:cNvSpPr>
          <p:nvPr/>
        </p:nvSpPr>
        <p:spPr bwMode="auto">
          <a:xfrm flipV="1">
            <a:off x="5976147" y="5795663"/>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3" name="Line 142">
            <a:extLst>
              <a:ext uri="{FF2B5EF4-FFF2-40B4-BE49-F238E27FC236}">
                <a16:creationId xmlns:a16="http://schemas.microsoft.com/office/drawing/2014/main" id="{4F5F01EB-6D13-3DFF-6D3F-1BF08F71056A}"/>
              </a:ext>
            </a:extLst>
          </p:cNvPr>
          <p:cNvSpPr>
            <a:spLocks noChangeShapeType="1"/>
          </p:cNvSpPr>
          <p:nvPr/>
        </p:nvSpPr>
        <p:spPr bwMode="auto">
          <a:xfrm>
            <a:off x="5980347" y="5786138"/>
            <a:ext cx="819059"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4" name="Line 143">
            <a:extLst>
              <a:ext uri="{FF2B5EF4-FFF2-40B4-BE49-F238E27FC236}">
                <a16:creationId xmlns:a16="http://schemas.microsoft.com/office/drawing/2014/main" id="{3A592F5A-47B1-A99B-9AF4-D5DFFDD03F25}"/>
              </a:ext>
            </a:extLst>
          </p:cNvPr>
          <p:cNvSpPr>
            <a:spLocks noChangeShapeType="1"/>
          </p:cNvSpPr>
          <p:nvPr/>
        </p:nvSpPr>
        <p:spPr bwMode="auto">
          <a:xfrm>
            <a:off x="6807807" y="5786138"/>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5" name="Line 144">
            <a:extLst>
              <a:ext uri="{FF2B5EF4-FFF2-40B4-BE49-F238E27FC236}">
                <a16:creationId xmlns:a16="http://schemas.microsoft.com/office/drawing/2014/main" id="{F175F01F-10F8-1174-A89A-CE75E5328AA9}"/>
              </a:ext>
            </a:extLst>
          </p:cNvPr>
          <p:cNvSpPr>
            <a:spLocks noChangeShapeType="1"/>
          </p:cNvSpPr>
          <p:nvPr/>
        </p:nvSpPr>
        <p:spPr bwMode="auto">
          <a:xfrm>
            <a:off x="6820408" y="5957588"/>
            <a:ext cx="93246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6" name="Line 146">
            <a:extLst>
              <a:ext uri="{FF2B5EF4-FFF2-40B4-BE49-F238E27FC236}">
                <a16:creationId xmlns:a16="http://schemas.microsoft.com/office/drawing/2014/main" id="{3DB5C127-F5D6-AD14-1782-0B5FAF8BB2D6}"/>
              </a:ext>
            </a:extLst>
          </p:cNvPr>
          <p:cNvSpPr>
            <a:spLocks noChangeShapeType="1"/>
          </p:cNvSpPr>
          <p:nvPr/>
        </p:nvSpPr>
        <p:spPr bwMode="auto">
          <a:xfrm flipV="1">
            <a:off x="7765476" y="5805188"/>
            <a:ext cx="0" cy="142875"/>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7" name="Line 147">
            <a:extLst>
              <a:ext uri="{FF2B5EF4-FFF2-40B4-BE49-F238E27FC236}">
                <a16:creationId xmlns:a16="http://schemas.microsoft.com/office/drawing/2014/main" id="{E215CEE5-BE42-FC0E-387F-5239FCA46DAC}"/>
              </a:ext>
            </a:extLst>
          </p:cNvPr>
          <p:cNvSpPr>
            <a:spLocks noChangeShapeType="1"/>
          </p:cNvSpPr>
          <p:nvPr/>
        </p:nvSpPr>
        <p:spPr bwMode="auto">
          <a:xfrm>
            <a:off x="7761277" y="5795662"/>
            <a:ext cx="775174" cy="4451"/>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8" name="Line 148">
            <a:extLst>
              <a:ext uri="{FF2B5EF4-FFF2-40B4-BE49-F238E27FC236}">
                <a16:creationId xmlns:a16="http://schemas.microsoft.com/office/drawing/2014/main" id="{B5F81E35-1D05-8A5B-EAD4-B2AD62452C4D}"/>
              </a:ext>
            </a:extLst>
          </p:cNvPr>
          <p:cNvSpPr>
            <a:spLocks noChangeShapeType="1"/>
          </p:cNvSpPr>
          <p:nvPr/>
        </p:nvSpPr>
        <p:spPr bwMode="auto">
          <a:xfrm>
            <a:off x="8544591" y="5795663"/>
            <a:ext cx="0" cy="17145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9" name="Line 149">
            <a:extLst>
              <a:ext uri="{FF2B5EF4-FFF2-40B4-BE49-F238E27FC236}">
                <a16:creationId xmlns:a16="http://schemas.microsoft.com/office/drawing/2014/main" id="{E16B7737-D7F2-E667-CB8E-308A20D71321}"/>
              </a:ext>
            </a:extLst>
          </p:cNvPr>
          <p:cNvSpPr>
            <a:spLocks noChangeShapeType="1"/>
          </p:cNvSpPr>
          <p:nvPr/>
        </p:nvSpPr>
        <p:spPr bwMode="auto">
          <a:xfrm>
            <a:off x="8544592" y="5976638"/>
            <a:ext cx="103541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0" name="Text Box 151">
            <a:extLst>
              <a:ext uri="{FF2B5EF4-FFF2-40B4-BE49-F238E27FC236}">
                <a16:creationId xmlns:a16="http://schemas.microsoft.com/office/drawing/2014/main" id="{98E74636-A0BA-9774-2F39-DCD52BC39829}"/>
              </a:ext>
            </a:extLst>
          </p:cNvPr>
          <p:cNvSpPr txBox="1">
            <a:spLocks noChangeArrowheads="1"/>
          </p:cNvSpPr>
          <p:nvPr/>
        </p:nvSpPr>
        <p:spPr bwMode="auto">
          <a:xfrm>
            <a:off x="8700307" y="5794076"/>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45 seconds</a:t>
            </a:r>
          </a:p>
        </p:txBody>
      </p:sp>
      <p:sp>
        <p:nvSpPr>
          <p:cNvPr id="71" name="Text Box 152">
            <a:extLst>
              <a:ext uri="{FF2B5EF4-FFF2-40B4-BE49-F238E27FC236}">
                <a16:creationId xmlns:a16="http://schemas.microsoft.com/office/drawing/2014/main" id="{AE0FEB46-5DE3-7FEC-7EA1-D24CDB302959}"/>
              </a:ext>
            </a:extLst>
          </p:cNvPr>
          <p:cNvSpPr txBox="1">
            <a:spLocks noChangeArrowheads="1"/>
          </p:cNvSpPr>
          <p:nvPr/>
        </p:nvSpPr>
        <p:spPr bwMode="auto">
          <a:xfrm>
            <a:off x="6918124" y="5787725"/>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420 seconds</a:t>
            </a:r>
          </a:p>
        </p:txBody>
      </p:sp>
      <p:sp>
        <p:nvSpPr>
          <p:cNvPr id="72" name="Text Box 153">
            <a:extLst>
              <a:ext uri="{FF2B5EF4-FFF2-40B4-BE49-F238E27FC236}">
                <a16:creationId xmlns:a16="http://schemas.microsoft.com/office/drawing/2014/main" id="{0F50859B-043D-7FE0-B9D7-135E316609F4}"/>
              </a:ext>
            </a:extLst>
          </p:cNvPr>
          <p:cNvSpPr txBox="1">
            <a:spLocks noChangeArrowheads="1"/>
          </p:cNvSpPr>
          <p:nvPr/>
        </p:nvSpPr>
        <p:spPr bwMode="auto">
          <a:xfrm>
            <a:off x="5074190" y="5770116"/>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720 seconds</a:t>
            </a:r>
          </a:p>
        </p:txBody>
      </p:sp>
      <p:sp>
        <p:nvSpPr>
          <p:cNvPr id="73" name="Text Box 154">
            <a:extLst>
              <a:ext uri="{FF2B5EF4-FFF2-40B4-BE49-F238E27FC236}">
                <a16:creationId xmlns:a16="http://schemas.microsoft.com/office/drawing/2014/main" id="{1635867A-6BD2-C014-DFBF-01DEA671C784}"/>
              </a:ext>
            </a:extLst>
          </p:cNvPr>
          <p:cNvSpPr txBox="1">
            <a:spLocks noChangeArrowheads="1"/>
          </p:cNvSpPr>
          <p:nvPr/>
        </p:nvSpPr>
        <p:spPr bwMode="auto">
          <a:xfrm>
            <a:off x="3338210" y="5759680"/>
            <a:ext cx="721671"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780 seconds</a:t>
            </a:r>
          </a:p>
        </p:txBody>
      </p:sp>
      <p:sp>
        <p:nvSpPr>
          <p:cNvPr id="74" name="Text Box 155">
            <a:extLst>
              <a:ext uri="{FF2B5EF4-FFF2-40B4-BE49-F238E27FC236}">
                <a16:creationId xmlns:a16="http://schemas.microsoft.com/office/drawing/2014/main" id="{4E792A5F-22B4-4C98-1B1C-3B546D70E5C2}"/>
              </a:ext>
            </a:extLst>
          </p:cNvPr>
          <p:cNvSpPr txBox="1">
            <a:spLocks noChangeArrowheads="1"/>
          </p:cNvSpPr>
          <p:nvPr/>
        </p:nvSpPr>
        <p:spPr bwMode="auto">
          <a:xfrm>
            <a:off x="1558580" y="5767088"/>
            <a:ext cx="671979"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seconds</a:t>
            </a:r>
          </a:p>
        </p:txBody>
      </p:sp>
      <p:grpSp>
        <p:nvGrpSpPr>
          <p:cNvPr id="123" name="Group 164">
            <a:extLst>
              <a:ext uri="{FF2B5EF4-FFF2-40B4-BE49-F238E27FC236}">
                <a16:creationId xmlns:a16="http://schemas.microsoft.com/office/drawing/2014/main" id="{DED00630-ABFB-1EEC-03B6-1F74EC2D14A9}"/>
              </a:ext>
            </a:extLst>
          </p:cNvPr>
          <p:cNvGrpSpPr>
            <a:grpSpLocks/>
          </p:cNvGrpSpPr>
          <p:nvPr/>
        </p:nvGrpSpPr>
        <p:grpSpPr bwMode="auto">
          <a:xfrm flipV="1">
            <a:off x="5463021" y="3560755"/>
            <a:ext cx="1411813" cy="691931"/>
            <a:chOff x="636" y="2054"/>
            <a:chExt cx="200" cy="298"/>
          </a:xfrm>
        </p:grpSpPr>
        <p:sp>
          <p:nvSpPr>
            <p:cNvPr id="124" name="Line 165">
              <a:extLst>
                <a:ext uri="{FF2B5EF4-FFF2-40B4-BE49-F238E27FC236}">
                  <a16:creationId xmlns:a16="http://schemas.microsoft.com/office/drawing/2014/main" id="{0A01D71C-FBF9-74FB-08C5-582E5AAD0B0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25" name="Line 166">
              <a:extLst>
                <a:ext uri="{FF2B5EF4-FFF2-40B4-BE49-F238E27FC236}">
                  <a16:creationId xmlns:a16="http://schemas.microsoft.com/office/drawing/2014/main" id="{CD4D9066-23F8-AB91-8016-BCAEF7A381F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26" name="Line 167">
              <a:extLst>
                <a:ext uri="{FF2B5EF4-FFF2-40B4-BE49-F238E27FC236}">
                  <a16:creationId xmlns:a16="http://schemas.microsoft.com/office/drawing/2014/main" id="{F85201A4-472A-6015-636D-E49D9D8916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27" name="Group 168">
            <a:extLst>
              <a:ext uri="{FF2B5EF4-FFF2-40B4-BE49-F238E27FC236}">
                <a16:creationId xmlns:a16="http://schemas.microsoft.com/office/drawing/2014/main" id="{95D4A217-B567-240E-3663-9302E189E2A1}"/>
              </a:ext>
            </a:extLst>
          </p:cNvPr>
          <p:cNvGrpSpPr>
            <a:grpSpLocks/>
          </p:cNvGrpSpPr>
          <p:nvPr/>
        </p:nvGrpSpPr>
        <p:grpSpPr bwMode="auto">
          <a:xfrm>
            <a:off x="3605339" y="3837130"/>
            <a:ext cx="669925" cy="463550"/>
            <a:chOff x="636" y="2054"/>
            <a:chExt cx="200" cy="298"/>
          </a:xfrm>
        </p:grpSpPr>
        <p:sp>
          <p:nvSpPr>
            <p:cNvPr id="128" name="Line 169">
              <a:extLst>
                <a:ext uri="{FF2B5EF4-FFF2-40B4-BE49-F238E27FC236}">
                  <a16:creationId xmlns:a16="http://schemas.microsoft.com/office/drawing/2014/main" id="{CFC5DCCE-9C01-1AA3-0B67-E1ADEF529D5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3" name="Line 170">
              <a:extLst>
                <a:ext uri="{FF2B5EF4-FFF2-40B4-BE49-F238E27FC236}">
                  <a16:creationId xmlns:a16="http://schemas.microsoft.com/office/drawing/2014/main" id="{5DABEB88-599E-ECA8-FF14-F538330A2AB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4" name="Line 171">
              <a:extLst>
                <a:ext uri="{FF2B5EF4-FFF2-40B4-BE49-F238E27FC236}">
                  <a16:creationId xmlns:a16="http://schemas.microsoft.com/office/drawing/2014/main" id="{E7FDF9E2-2E50-D8A5-3716-4C4733B566F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86" name="Group 173">
            <a:extLst>
              <a:ext uri="{FF2B5EF4-FFF2-40B4-BE49-F238E27FC236}">
                <a16:creationId xmlns:a16="http://schemas.microsoft.com/office/drawing/2014/main" id="{249CEB3F-C775-C0DE-A5D9-B410200F38A1}"/>
              </a:ext>
            </a:extLst>
          </p:cNvPr>
          <p:cNvGrpSpPr>
            <a:grpSpLocks/>
          </p:cNvGrpSpPr>
          <p:nvPr/>
        </p:nvGrpSpPr>
        <p:grpSpPr bwMode="auto">
          <a:xfrm flipV="1">
            <a:off x="4827862" y="3928376"/>
            <a:ext cx="422526" cy="299135"/>
            <a:chOff x="636" y="2054"/>
            <a:chExt cx="200" cy="298"/>
          </a:xfrm>
        </p:grpSpPr>
        <p:sp>
          <p:nvSpPr>
            <p:cNvPr id="187" name="Line 174">
              <a:extLst>
                <a:ext uri="{FF2B5EF4-FFF2-40B4-BE49-F238E27FC236}">
                  <a16:creationId xmlns:a16="http://schemas.microsoft.com/office/drawing/2014/main" id="{31B4FA3E-0F44-6400-603B-EC17C226E822}"/>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88" name="Line 175">
              <a:extLst>
                <a:ext uri="{FF2B5EF4-FFF2-40B4-BE49-F238E27FC236}">
                  <a16:creationId xmlns:a16="http://schemas.microsoft.com/office/drawing/2014/main" id="{ECD2AB2F-424F-2D6C-3EC3-267E57372CE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89" name="Line 176">
              <a:extLst>
                <a:ext uri="{FF2B5EF4-FFF2-40B4-BE49-F238E27FC236}">
                  <a16:creationId xmlns:a16="http://schemas.microsoft.com/office/drawing/2014/main" id="{4816D441-B9D2-9379-06C0-915675025C8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00" name="Group 199">
            <a:extLst>
              <a:ext uri="{FF2B5EF4-FFF2-40B4-BE49-F238E27FC236}">
                <a16:creationId xmlns:a16="http://schemas.microsoft.com/office/drawing/2014/main" id="{BB8C5CC5-EB78-63BA-020D-3D5A588EB09E}"/>
              </a:ext>
            </a:extLst>
          </p:cNvPr>
          <p:cNvGrpSpPr/>
          <p:nvPr/>
        </p:nvGrpSpPr>
        <p:grpSpPr>
          <a:xfrm>
            <a:off x="4266677" y="3233052"/>
            <a:ext cx="1300207" cy="695325"/>
            <a:chOff x="3586163" y="3454400"/>
            <a:chExt cx="1073150" cy="695325"/>
          </a:xfrm>
        </p:grpSpPr>
        <p:grpSp>
          <p:nvGrpSpPr>
            <p:cNvPr id="120" name="Group 161">
              <a:extLst>
                <a:ext uri="{FF2B5EF4-FFF2-40B4-BE49-F238E27FC236}">
                  <a16:creationId xmlns:a16="http://schemas.microsoft.com/office/drawing/2014/main" id="{52F74FD0-29E1-FCCB-DA7D-496D62B9E136}"/>
                </a:ext>
              </a:extLst>
            </p:cNvPr>
            <p:cNvGrpSpPr>
              <a:grpSpLocks/>
            </p:cNvGrpSpPr>
            <p:nvPr/>
          </p:nvGrpSpPr>
          <p:grpSpPr bwMode="auto">
            <a:xfrm>
              <a:off x="3694113" y="3519488"/>
              <a:ext cx="879475" cy="630237"/>
              <a:chOff x="2695" y="1751"/>
              <a:chExt cx="645" cy="552"/>
            </a:xfrm>
          </p:grpSpPr>
          <p:sp>
            <p:nvSpPr>
              <p:cNvPr id="121" name="Rectangle 162">
                <a:extLst>
                  <a:ext uri="{FF2B5EF4-FFF2-40B4-BE49-F238E27FC236}">
                    <a16:creationId xmlns:a16="http://schemas.microsoft.com/office/drawing/2014/main" id="{94DFC90B-5973-79D4-A8B2-87E3F6E4668C}"/>
                  </a:ext>
                </a:extLst>
              </p:cNvPr>
              <p:cNvSpPr>
                <a:spLocks noChangeArrowheads="1"/>
              </p:cNvSpPr>
              <p:nvPr/>
            </p:nvSpPr>
            <p:spPr bwMode="auto">
              <a:xfrm>
                <a:off x="2697" y="1751"/>
                <a:ext cx="643" cy="55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22" name="Line 163">
                <a:extLst>
                  <a:ext uri="{FF2B5EF4-FFF2-40B4-BE49-F238E27FC236}">
                    <a16:creationId xmlns:a16="http://schemas.microsoft.com/office/drawing/2014/main" id="{39B14F09-2FED-571B-984F-EBFAB572D2FA}"/>
                  </a:ext>
                </a:extLst>
              </p:cNvPr>
              <p:cNvSpPr>
                <a:spLocks noChangeShapeType="1"/>
              </p:cNvSpPr>
              <p:nvPr/>
            </p:nvSpPr>
            <p:spPr bwMode="auto">
              <a:xfrm>
                <a:off x="2695" y="1992"/>
                <a:ext cx="633" cy="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85" name="Rectangle 172">
              <a:extLst>
                <a:ext uri="{FF2B5EF4-FFF2-40B4-BE49-F238E27FC236}">
                  <a16:creationId xmlns:a16="http://schemas.microsoft.com/office/drawing/2014/main" id="{3F5F9AB6-789F-2845-7A40-E407BC28DE3C}"/>
                </a:ext>
              </a:extLst>
            </p:cNvPr>
            <p:cNvSpPr>
              <a:spLocks noChangeArrowheads="1"/>
            </p:cNvSpPr>
            <p:nvPr/>
          </p:nvSpPr>
          <p:spPr bwMode="auto">
            <a:xfrm>
              <a:off x="3586163" y="3454400"/>
              <a:ext cx="1073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Central Data </a:t>
              </a:r>
              <a:br>
                <a:rPr lang="en-US" altLang="en-US" sz="1000" b="0" dirty="0"/>
              </a:br>
              <a:r>
                <a:rPr lang="en-US" altLang="en-US" sz="1000" b="0" dirty="0"/>
                <a:t>Base</a:t>
              </a:r>
            </a:p>
          </p:txBody>
        </p:sp>
        <p:sp>
          <p:nvSpPr>
            <p:cNvPr id="190" name="Rectangle 177">
              <a:extLst>
                <a:ext uri="{FF2B5EF4-FFF2-40B4-BE49-F238E27FC236}">
                  <a16:creationId xmlns:a16="http://schemas.microsoft.com/office/drawing/2014/main" id="{8186F2A4-EB4B-AF42-FED1-830524ADF049}"/>
                </a:ext>
              </a:extLst>
            </p:cNvPr>
            <p:cNvSpPr>
              <a:spLocks noChangeArrowheads="1"/>
            </p:cNvSpPr>
            <p:nvPr/>
          </p:nvSpPr>
          <p:spPr bwMode="auto">
            <a:xfrm>
              <a:off x="3603625" y="3898900"/>
              <a:ext cx="10080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Credit Check</a:t>
              </a:r>
            </a:p>
          </p:txBody>
        </p:sp>
      </p:grpSp>
      <p:sp>
        <p:nvSpPr>
          <p:cNvPr id="83" name="AutoShape 183">
            <a:extLst>
              <a:ext uri="{FF2B5EF4-FFF2-40B4-BE49-F238E27FC236}">
                <a16:creationId xmlns:a16="http://schemas.microsoft.com/office/drawing/2014/main" id="{D2C1C49D-2E2C-11A6-D604-411E4F026AC8}"/>
              </a:ext>
            </a:extLst>
          </p:cNvPr>
          <p:cNvSpPr>
            <a:spLocks noChangeArrowheads="1"/>
          </p:cNvSpPr>
          <p:nvPr/>
        </p:nvSpPr>
        <p:spPr bwMode="auto">
          <a:xfrm>
            <a:off x="6643539" y="4997323"/>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5" name="AutoShape 185">
            <a:extLst>
              <a:ext uri="{FF2B5EF4-FFF2-40B4-BE49-F238E27FC236}">
                <a16:creationId xmlns:a16="http://schemas.microsoft.com/office/drawing/2014/main" id="{2F7E32B0-7E0E-C2A9-ED37-1AFFBFEE10CB}"/>
              </a:ext>
            </a:extLst>
          </p:cNvPr>
          <p:cNvSpPr>
            <a:spLocks noChangeArrowheads="1"/>
          </p:cNvSpPr>
          <p:nvPr/>
        </p:nvSpPr>
        <p:spPr bwMode="auto">
          <a:xfrm>
            <a:off x="4849664" y="5011610"/>
            <a:ext cx="1133475" cy="674688"/>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91" name="Text Box 155">
            <a:extLst>
              <a:ext uri="{FF2B5EF4-FFF2-40B4-BE49-F238E27FC236}">
                <a16:creationId xmlns:a16="http://schemas.microsoft.com/office/drawing/2014/main" id="{4CC6F7C9-BD0C-4F05-48D1-E5355EF3458D}"/>
              </a:ext>
            </a:extLst>
          </p:cNvPr>
          <p:cNvSpPr txBox="1">
            <a:spLocks noChangeArrowheads="1"/>
          </p:cNvSpPr>
          <p:nvPr/>
        </p:nvSpPr>
        <p:spPr bwMode="auto">
          <a:xfrm>
            <a:off x="721081"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92" name="Text Box 155">
            <a:extLst>
              <a:ext uri="{FF2B5EF4-FFF2-40B4-BE49-F238E27FC236}">
                <a16:creationId xmlns:a16="http://schemas.microsoft.com/office/drawing/2014/main" id="{6B37FD8B-09EA-2377-C0D4-A9CE183A432D}"/>
              </a:ext>
            </a:extLst>
          </p:cNvPr>
          <p:cNvSpPr txBox="1">
            <a:spLocks noChangeArrowheads="1"/>
          </p:cNvSpPr>
          <p:nvPr/>
        </p:nvSpPr>
        <p:spPr bwMode="auto">
          <a:xfrm>
            <a:off x="2527202" y="5594701"/>
            <a:ext cx="54854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1.5 Days</a:t>
            </a:r>
          </a:p>
        </p:txBody>
      </p:sp>
      <p:sp>
        <p:nvSpPr>
          <p:cNvPr id="93" name="Text Box 155">
            <a:extLst>
              <a:ext uri="{FF2B5EF4-FFF2-40B4-BE49-F238E27FC236}">
                <a16:creationId xmlns:a16="http://schemas.microsoft.com/office/drawing/2014/main" id="{8683AA22-78CB-5DA1-EB4C-D15CB0AA4774}"/>
              </a:ext>
            </a:extLst>
          </p:cNvPr>
          <p:cNvSpPr txBox="1">
            <a:spLocks noChangeArrowheads="1"/>
          </p:cNvSpPr>
          <p:nvPr/>
        </p:nvSpPr>
        <p:spPr bwMode="auto">
          <a:xfrm>
            <a:off x="4371189"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4 Days</a:t>
            </a:r>
          </a:p>
        </p:txBody>
      </p:sp>
      <p:sp>
        <p:nvSpPr>
          <p:cNvPr id="94" name="Text Box 155">
            <a:extLst>
              <a:ext uri="{FF2B5EF4-FFF2-40B4-BE49-F238E27FC236}">
                <a16:creationId xmlns:a16="http://schemas.microsoft.com/office/drawing/2014/main" id="{FED3CB1E-3FD5-4E47-8ADA-63C74E5F67F7}"/>
              </a:ext>
            </a:extLst>
          </p:cNvPr>
          <p:cNvSpPr txBox="1">
            <a:spLocks noChangeArrowheads="1"/>
          </p:cNvSpPr>
          <p:nvPr/>
        </p:nvSpPr>
        <p:spPr bwMode="auto">
          <a:xfrm>
            <a:off x="6132533" y="5594701"/>
            <a:ext cx="473206"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0 Days</a:t>
            </a:r>
          </a:p>
        </p:txBody>
      </p:sp>
      <p:sp>
        <p:nvSpPr>
          <p:cNvPr id="104" name="Text Box 155">
            <a:extLst>
              <a:ext uri="{FF2B5EF4-FFF2-40B4-BE49-F238E27FC236}">
                <a16:creationId xmlns:a16="http://schemas.microsoft.com/office/drawing/2014/main" id="{B47A2575-FF9B-5CEF-6F83-5CF3EA60D463}"/>
              </a:ext>
            </a:extLst>
          </p:cNvPr>
          <p:cNvSpPr txBox="1">
            <a:spLocks noChangeArrowheads="1"/>
          </p:cNvSpPr>
          <p:nvPr/>
        </p:nvSpPr>
        <p:spPr bwMode="auto">
          <a:xfrm>
            <a:off x="7903537" y="5594701"/>
            <a:ext cx="498855"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222222"/>
                </a:solidFill>
              </a:rPr>
              <a:t>.5 Days</a:t>
            </a:r>
          </a:p>
        </p:txBody>
      </p:sp>
      <p:sp>
        <p:nvSpPr>
          <p:cNvPr id="10" name="Text Box 53">
            <a:extLst>
              <a:ext uri="{FF2B5EF4-FFF2-40B4-BE49-F238E27FC236}">
                <a16:creationId xmlns:a16="http://schemas.microsoft.com/office/drawing/2014/main" id="{ABDAB419-53A1-9FD3-A4FB-1B5333CC4DC8}"/>
              </a:ext>
            </a:extLst>
          </p:cNvPr>
          <p:cNvSpPr txBox="1">
            <a:spLocks noChangeArrowheads="1"/>
          </p:cNvSpPr>
          <p:nvPr/>
        </p:nvSpPr>
        <p:spPr bwMode="auto">
          <a:xfrm>
            <a:off x="4159536" y="1497315"/>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2">
            <a:extLst>
              <a:ext uri="{FF2B5EF4-FFF2-40B4-BE49-F238E27FC236}">
                <a16:creationId xmlns:a16="http://schemas.microsoft.com/office/drawing/2014/main" id="{2BC00644-6AD4-6073-55F8-4FAD1B424DD0}"/>
              </a:ext>
            </a:extLst>
          </p:cNvPr>
          <p:cNvGrpSpPr>
            <a:grpSpLocks/>
          </p:cNvGrpSpPr>
          <p:nvPr/>
        </p:nvGrpSpPr>
        <p:grpSpPr bwMode="auto">
          <a:xfrm>
            <a:off x="4642569" y="1857236"/>
            <a:ext cx="933578" cy="739841"/>
            <a:chOff x="437" y="1322"/>
            <a:chExt cx="583" cy="351"/>
          </a:xfrm>
        </p:grpSpPr>
        <p:grpSp>
          <p:nvGrpSpPr>
            <p:cNvPr id="13" name="Group 43">
              <a:extLst>
                <a:ext uri="{FF2B5EF4-FFF2-40B4-BE49-F238E27FC236}">
                  <a16:creationId xmlns:a16="http://schemas.microsoft.com/office/drawing/2014/main" id="{102B3680-5D31-2505-E2D8-19FA07F23FB1}"/>
                </a:ext>
              </a:extLst>
            </p:cNvPr>
            <p:cNvGrpSpPr>
              <a:grpSpLocks/>
            </p:cNvGrpSpPr>
            <p:nvPr/>
          </p:nvGrpSpPr>
          <p:grpSpPr bwMode="auto">
            <a:xfrm>
              <a:off x="474" y="1322"/>
              <a:ext cx="508" cy="348"/>
              <a:chOff x="536" y="1322"/>
              <a:chExt cx="446" cy="348"/>
            </a:xfrm>
          </p:grpSpPr>
          <p:sp>
            <p:nvSpPr>
              <p:cNvPr id="15" name="Rectangle 44">
                <a:extLst>
                  <a:ext uri="{FF2B5EF4-FFF2-40B4-BE49-F238E27FC236}">
                    <a16:creationId xmlns:a16="http://schemas.microsoft.com/office/drawing/2014/main" id="{6DC0F4B6-4E12-7000-E882-2B8DA3332021}"/>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45">
                <a:extLst>
                  <a:ext uri="{FF2B5EF4-FFF2-40B4-BE49-F238E27FC236}">
                    <a16:creationId xmlns:a16="http://schemas.microsoft.com/office/drawing/2014/main" id="{CCB2F28E-8A2B-2CAC-A687-EC3D5B705EAC}"/>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17" name="AutoShape 46">
                <a:extLst>
                  <a:ext uri="{FF2B5EF4-FFF2-40B4-BE49-F238E27FC236}">
                    <a16:creationId xmlns:a16="http://schemas.microsoft.com/office/drawing/2014/main" id="{C508DDF5-6921-7F0B-E6A0-855268416BF4}"/>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AutoShape 47">
                <a:extLst>
                  <a:ext uri="{FF2B5EF4-FFF2-40B4-BE49-F238E27FC236}">
                    <a16:creationId xmlns:a16="http://schemas.microsoft.com/office/drawing/2014/main" id="{E4CA616E-79D0-4E17-D058-EC3B51FB041A}"/>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9" name="AutoShape 48">
                <a:extLst>
                  <a:ext uri="{FF2B5EF4-FFF2-40B4-BE49-F238E27FC236}">
                    <a16:creationId xmlns:a16="http://schemas.microsoft.com/office/drawing/2014/main" id="{8A0954B3-1421-D628-3C12-5B30A0AFA055}"/>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Rectangle 49">
                <a:extLst>
                  <a:ext uri="{FF2B5EF4-FFF2-40B4-BE49-F238E27FC236}">
                    <a16:creationId xmlns:a16="http://schemas.microsoft.com/office/drawing/2014/main" id="{F13ACF14-10E3-FAB0-EC9B-2AC65FDBE513}"/>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1" name="Rectangle 50">
                <a:extLst>
                  <a:ext uri="{FF2B5EF4-FFF2-40B4-BE49-F238E27FC236}">
                    <a16:creationId xmlns:a16="http://schemas.microsoft.com/office/drawing/2014/main" id="{4296753B-3B4C-4083-C97B-82C777B7ACB8}"/>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 name="Rectangle 51">
                <a:extLst>
                  <a:ext uri="{FF2B5EF4-FFF2-40B4-BE49-F238E27FC236}">
                    <a16:creationId xmlns:a16="http://schemas.microsoft.com/office/drawing/2014/main" id="{558EACE8-ACA8-342B-18D5-CFFE72BEF97A}"/>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14" name="Text Box 52">
              <a:extLst>
                <a:ext uri="{FF2B5EF4-FFF2-40B4-BE49-F238E27FC236}">
                  <a16:creationId xmlns:a16="http://schemas.microsoft.com/office/drawing/2014/main" id="{8E8C6D63-97F2-D5E3-48B7-93B065FDF171}"/>
                </a:ext>
              </a:extLst>
            </p:cNvPr>
            <p:cNvSpPr txBox="1">
              <a:spLocks noChangeArrowheads="1"/>
            </p:cNvSpPr>
            <p:nvPr/>
          </p:nvSpPr>
          <p:spPr bwMode="auto">
            <a:xfrm>
              <a:off x="437" y="1524"/>
              <a:ext cx="583"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Applicant</a:t>
              </a:r>
            </a:p>
          </p:txBody>
        </p:sp>
      </p:grpSp>
      <p:sp>
        <p:nvSpPr>
          <p:cNvPr id="23" name="Text Box 54">
            <a:extLst>
              <a:ext uri="{FF2B5EF4-FFF2-40B4-BE49-F238E27FC236}">
                <a16:creationId xmlns:a16="http://schemas.microsoft.com/office/drawing/2014/main" id="{5DFC040C-4CB1-505B-56D7-901279104588}"/>
              </a:ext>
            </a:extLst>
          </p:cNvPr>
          <p:cNvSpPr txBox="1">
            <a:spLocks noChangeArrowheads="1"/>
          </p:cNvSpPr>
          <p:nvPr/>
        </p:nvSpPr>
        <p:spPr bwMode="auto">
          <a:xfrm>
            <a:off x="5719557" y="1917237"/>
            <a:ext cx="19724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1000" b="0" dirty="0">
                <a:latin typeface="Roboto" panose="02000000000000000000" pitchFamily="2" charset="0"/>
                <a:ea typeface="Roboto" panose="02000000000000000000" pitchFamily="2" charset="0"/>
                <a:cs typeface="Roboto" panose="02000000000000000000" pitchFamily="2" charset="0"/>
              </a:rPr>
              <a:t>8 Hours/Day</a:t>
            </a:r>
          </a:p>
        </p:txBody>
      </p:sp>
      <p:sp>
        <p:nvSpPr>
          <p:cNvPr id="111" name="Text Box 170">
            <a:extLst>
              <a:ext uri="{FF2B5EF4-FFF2-40B4-BE49-F238E27FC236}">
                <a16:creationId xmlns:a16="http://schemas.microsoft.com/office/drawing/2014/main" id="{43EA2E79-6668-5634-9ACC-DADBB03A505F}"/>
              </a:ext>
            </a:extLst>
          </p:cNvPr>
          <p:cNvSpPr txBox="1">
            <a:spLocks noChangeArrowheads="1"/>
          </p:cNvSpPr>
          <p:nvPr/>
        </p:nvSpPr>
        <p:spPr bwMode="auto">
          <a:xfrm>
            <a:off x="9727210" y="5425623"/>
            <a:ext cx="803490" cy="340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endParaRPr lang="en-US" altLang="en-US" sz="700" dirty="0"/>
          </a:p>
          <a:p>
            <a:pPr algn="r">
              <a:lnSpc>
                <a:spcPct val="100000"/>
              </a:lnSpc>
              <a:spcBef>
                <a:spcPct val="30000"/>
              </a:spcBef>
              <a:spcAft>
                <a:spcPct val="0"/>
              </a:spcAft>
              <a:buClrTx/>
              <a:buSzTx/>
              <a:buFontTx/>
              <a:buNone/>
            </a:pPr>
            <a:r>
              <a:rPr lang="en-US" altLang="en-US" sz="700" dirty="0"/>
              <a:t>L.T. = 6.8 days</a:t>
            </a:r>
          </a:p>
        </p:txBody>
      </p:sp>
      <p:grpSp>
        <p:nvGrpSpPr>
          <p:cNvPr id="34" name="Group 236">
            <a:extLst>
              <a:ext uri="{FF2B5EF4-FFF2-40B4-BE49-F238E27FC236}">
                <a16:creationId xmlns:a16="http://schemas.microsoft.com/office/drawing/2014/main" id="{F0A74ED3-8B8D-A37B-C9FF-F5976726A701}"/>
              </a:ext>
            </a:extLst>
          </p:cNvPr>
          <p:cNvGrpSpPr>
            <a:grpSpLocks/>
          </p:cNvGrpSpPr>
          <p:nvPr/>
        </p:nvGrpSpPr>
        <p:grpSpPr bwMode="auto">
          <a:xfrm>
            <a:off x="3090839" y="4341499"/>
            <a:ext cx="2559050" cy="1431925"/>
            <a:chOff x="1569" y="2719"/>
            <a:chExt cx="1612" cy="902"/>
          </a:xfrm>
        </p:grpSpPr>
        <p:sp>
          <p:nvSpPr>
            <p:cNvPr id="36" name="Rectangle 237">
              <a:extLst>
                <a:ext uri="{FF2B5EF4-FFF2-40B4-BE49-F238E27FC236}">
                  <a16:creationId xmlns:a16="http://schemas.microsoft.com/office/drawing/2014/main" id="{ECD74C41-AD5C-547F-DD6A-07AB9C8E85EA}"/>
                </a:ext>
              </a:extLst>
            </p:cNvPr>
            <p:cNvSpPr>
              <a:spLocks noChangeArrowheads="1"/>
            </p:cNvSpPr>
            <p:nvPr/>
          </p:nvSpPr>
          <p:spPr bwMode="auto">
            <a:xfrm>
              <a:off x="1722" y="2719"/>
              <a:ext cx="1459" cy="795"/>
            </a:xfrm>
            <a:prstGeom prst="rect">
              <a:avLst/>
            </a:prstGeom>
            <a:noFill/>
            <a:ln w="28575">
              <a:solidFill>
                <a:srgbClr val="EE3228"/>
              </a:solidFill>
              <a:prstDash val="dash"/>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AutoShape 238">
              <a:extLst>
                <a:ext uri="{FF2B5EF4-FFF2-40B4-BE49-F238E27FC236}">
                  <a16:creationId xmlns:a16="http://schemas.microsoft.com/office/drawing/2014/main" id="{39A0882A-845B-F2CF-45AE-40914525CD63}"/>
                </a:ext>
              </a:extLst>
            </p:cNvPr>
            <p:cNvSpPr>
              <a:spLocks noChangeArrowheads="1"/>
            </p:cNvSpPr>
            <p:nvPr/>
          </p:nvSpPr>
          <p:spPr bwMode="auto">
            <a:xfrm>
              <a:off x="1569" y="3285"/>
              <a:ext cx="3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8" name="Group 239">
              <a:extLst>
                <a:ext uri="{FF2B5EF4-FFF2-40B4-BE49-F238E27FC236}">
                  <a16:creationId xmlns:a16="http://schemas.microsoft.com/office/drawing/2014/main" id="{D87751A2-DFE6-4F65-6A42-D786D3F0A17F}"/>
                </a:ext>
              </a:extLst>
            </p:cNvPr>
            <p:cNvGrpSpPr>
              <a:grpSpLocks/>
            </p:cNvGrpSpPr>
            <p:nvPr/>
          </p:nvGrpSpPr>
          <p:grpSpPr bwMode="auto">
            <a:xfrm>
              <a:off x="2364" y="2903"/>
              <a:ext cx="215" cy="240"/>
              <a:chOff x="4918" y="3424"/>
              <a:chExt cx="240" cy="240"/>
            </a:xfrm>
          </p:grpSpPr>
          <p:sp>
            <p:nvSpPr>
              <p:cNvPr id="39" name="Oval 240">
                <a:extLst>
                  <a:ext uri="{FF2B5EF4-FFF2-40B4-BE49-F238E27FC236}">
                    <a16:creationId xmlns:a16="http://schemas.microsoft.com/office/drawing/2014/main" id="{DF164CDD-0F86-2485-B37A-A60588002620}"/>
                  </a:ext>
                </a:extLst>
              </p:cNvPr>
              <p:cNvSpPr>
                <a:spLocks noChangeArrowheads="1"/>
              </p:cNvSpPr>
              <p:nvPr/>
            </p:nvSpPr>
            <p:spPr bwMode="auto">
              <a:xfrm>
                <a:off x="4918" y="3424"/>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40" name="Line 241">
                <a:extLst>
                  <a:ext uri="{FF2B5EF4-FFF2-40B4-BE49-F238E27FC236}">
                    <a16:creationId xmlns:a16="http://schemas.microsoft.com/office/drawing/2014/main" id="{E6E25771-2121-DC0B-C9F5-CFDCC6E6700E}"/>
                  </a:ext>
                </a:extLst>
              </p:cNvPr>
              <p:cNvSpPr>
                <a:spLocks noChangeShapeType="1"/>
              </p:cNvSpPr>
              <p:nvPr/>
            </p:nvSpPr>
            <p:spPr bwMode="auto">
              <a:xfrm flipH="1">
                <a:off x="4964" y="3442"/>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4" name="Group 3">
            <a:extLst>
              <a:ext uri="{FF2B5EF4-FFF2-40B4-BE49-F238E27FC236}">
                <a16:creationId xmlns:a16="http://schemas.microsoft.com/office/drawing/2014/main" id="{CB019FA8-30D6-BAE6-790F-98D2F6352B22}"/>
              </a:ext>
            </a:extLst>
          </p:cNvPr>
          <p:cNvGrpSpPr/>
          <p:nvPr/>
        </p:nvGrpSpPr>
        <p:grpSpPr>
          <a:xfrm>
            <a:off x="6046078" y="4569744"/>
            <a:ext cx="2378744" cy="456790"/>
            <a:chOff x="6104109" y="3626111"/>
            <a:chExt cx="1752600" cy="336552"/>
          </a:xfrm>
        </p:grpSpPr>
        <p:grpSp>
          <p:nvGrpSpPr>
            <p:cNvPr id="35" name="Group 397">
              <a:extLst>
                <a:ext uri="{FF2B5EF4-FFF2-40B4-BE49-F238E27FC236}">
                  <a16:creationId xmlns:a16="http://schemas.microsoft.com/office/drawing/2014/main" id="{0D1AC168-C5B0-630F-429D-2325CA93E4EA}"/>
                </a:ext>
              </a:extLst>
            </p:cNvPr>
            <p:cNvGrpSpPr>
              <a:grpSpLocks/>
            </p:cNvGrpSpPr>
            <p:nvPr/>
          </p:nvGrpSpPr>
          <p:grpSpPr bwMode="auto">
            <a:xfrm>
              <a:off x="6104109" y="3626111"/>
              <a:ext cx="381000" cy="336552"/>
              <a:chOff x="104" y="2740"/>
              <a:chExt cx="240" cy="212"/>
            </a:xfrm>
          </p:grpSpPr>
          <p:sp>
            <p:nvSpPr>
              <p:cNvPr id="90" name="AutoShape 398">
                <a:extLst>
                  <a:ext uri="{FF2B5EF4-FFF2-40B4-BE49-F238E27FC236}">
                    <a16:creationId xmlns:a16="http://schemas.microsoft.com/office/drawing/2014/main" id="{56CDD4B7-B470-BD4A-B516-1474E56F9AA3}"/>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3" name="AutoShape 399">
                <a:extLst>
                  <a:ext uri="{FF2B5EF4-FFF2-40B4-BE49-F238E27FC236}">
                    <a16:creationId xmlns:a16="http://schemas.microsoft.com/office/drawing/2014/main" id="{A7B09540-817D-3693-7CB0-847CD0829675}"/>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5" name="AutoShape 400">
                <a:extLst>
                  <a:ext uri="{FF2B5EF4-FFF2-40B4-BE49-F238E27FC236}">
                    <a16:creationId xmlns:a16="http://schemas.microsoft.com/office/drawing/2014/main" id="{21475A41-C5E1-A17F-6D0D-3A8DF28B9CDD}"/>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6" name="AutoShape 401">
                <a:extLst>
                  <a:ext uri="{FF2B5EF4-FFF2-40B4-BE49-F238E27FC236}">
                    <a16:creationId xmlns:a16="http://schemas.microsoft.com/office/drawing/2014/main" id="{BD0D88FC-BECD-DFF9-3D7C-C2D26464854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07" name="Group 402">
                <a:extLst>
                  <a:ext uri="{FF2B5EF4-FFF2-40B4-BE49-F238E27FC236}">
                    <a16:creationId xmlns:a16="http://schemas.microsoft.com/office/drawing/2014/main" id="{45F96262-0704-C711-CAA7-931758E496F6}"/>
                  </a:ext>
                </a:extLst>
              </p:cNvPr>
              <p:cNvGrpSpPr>
                <a:grpSpLocks/>
              </p:cNvGrpSpPr>
              <p:nvPr/>
            </p:nvGrpSpPr>
            <p:grpSpPr bwMode="auto">
              <a:xfrm>
                <a:off x="166" y="2796"/>
                <a:ext cx="156" cy="64"/>
                <a:chOff x="1440" y="1520"/>
                <a:chExt cx="156" cy="64"/>
              </a:xfrm>
            </p:grpSpPr>
            <p:sp>
              <p:nvSpPr>
                <p:cNvPr id="108" name="Line 403">
                  <a:extLst>
                    <a:ext uri="{FF2B5EF4-FFF2-40B4-BE49-F238E27FC236}">
                      <a16:creationId xmlns:a16="http://schemas.microsoft.com/office/drawing/2014/main" id="{928F5C80-B150-E77B-2F33-B3AC93AF030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09" name="Line 404">
                  <a:extLst>
                    <a:ext uri="{FF2B5EF4-FFF2-40B4-BE49-F238E27FC236}">
                      <a16:creationId xmlns:a16="http://schemas.microsoft.com/office/drawing/2014/main" id="{7D189EDA-8653-B239-DC16-969D17039AEF}"/>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5" name="AutoShape 405">
                  <a:extLst>
                    <a:ext uri="{FF2B5EF4-FFF2-40B4-BE49-F238E27FC236}">
                      <a16:creationId xmlns:a16="http://schemas.microsoft.com/office/drawing/2014/main" id="{481F6A3D-36FA-2E6C-AA90-C084AE5BF014}"/>
                    </a:ext>
                  </a:extLst>
                </p:cNvPr>
                <p:cNvCxnSpPr>
                  <a:cxnSpLocks noChangeShapeType="1"/>
                  <a:stCxn id="108" idx="1"/>
                  <a:endCxn id="1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76" name="Group 417">
              <a:extLst>
                <a:ext uri="{FF2B5EF4-FFF2-40B4-BE49-F238E27FC236}">
                  <a16:creationId xmlns:a16="http://schemas.microsoft.com/office/drawing/2014/main" id="{314A52E4-447B-FF77-BA94-C9EE73DCF1A2}"/>
                </a:ext>
              </a:extLst>
            </p:cNvPr>
            <p:cNvGrpSpPr>
              <a:grpSpLocks/>
            </p:cNvGrpSpPr>
            <p:nvPr/>
          </p:nvGrpSpPr>
          <p:grpSpPr bwMode="auto">
            <a:xfrm>
              <a:off x="7475709" y="3626111"/>
              <a:ext cx="381000" cy="336552"/>
              <a:chOff x="104" y="2740"/>
              <a:chExt cx="240" cy="212"/>
            </a:xfrm>
          </p:grpSpPr>
          <p:sp>
            <p:nvSpPr>
              <p:cNvPr id="80" name="AutoShape 418">
                <a:extLst>
                  <a:ext uri="{FF2B5EF4-FFF2-40B4-BE49-F238E27FC236}">
                    <a16:creationId xmlns:a16="http://schemas.microsoft.com/office/drawing/2014/main" id="{4CA37F49-FB39-8956-6D22-91985AA419AF}"/>
                  </a:ext>
                </a:extLst>
              </p:cNvPr>
              <p:cNvSpPr>
                <a:spLocks/>
              </p:cNvSpPr>
              <p:nvPr/>
            </p:nvSpPr>
            <p:spPr bwMode="auto">
              <a:xfrm rot="162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1" name="AutoShape 419">
                <a:extLst>
                  <a:ext uri="{FF2B5EF4-FFF2-40B4-BE49-F238E27FC236}">
                    <a16:creationId xmlns:a16="http://schemas.microsoft.com/office/drawing/2014/main" id="{2812A8EC-A7E6-D8A7-3536-BF9D52754DE3}"/>
                  </a:ext>
                </a:extLst>
              </p:cNvPr>
              <p:cNvSpPr>
                <a:spLocks/>
              </p:cNvSpPr>
              <p:nvPr/>
            </p:nvSpPr>
            <p:spPr bwMode="auto">
              <a:xfrm rot="162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2" name="AutoShape 420">
                <a:extLst>
                  <a:ext uri="{FF2B5EF4-FFF2-40B4-BE49-F238E27FC236}">
                    <a16:creationId xmlns:a16="http://schemas.microsoft.com/office/drawing/2014/main" id="{10B90963-F718-3EA2-B434-27961FD9A462}"/>
                  </a:ext>
                </a:extLst>
              </p:cNvPr>
              <p:cNvSpPr>
                <a:spLocks/>
              </p:cNvSpPr>
              <p:nvPr/>
            </p:nvSpPr>
            <p:spPr bwMode="auto">
              <a:xfrm rot="162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84" name="AutoShape 421">
                <a:extLst>
                  <a:ext uri="{FF2B5EF4-FFF2-40B4-BE49-F238E27FC236}">
                    <a16:creationId xmlns:a16="http://schemas.microsoft.com/office/drawing/2014/main" id="{505AAFB1-4ACF-07AD-5394-156EF8B4FFFA}"/>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86" name="Group 422">
                <a:extLst>
                  <a:ext uri="{FF2B5EF4-FFF2-40B4-BE49-F238E27FC236}">
                    <a16:creationId xmlns:a16="http://schemas.microsoft.com/office/drawing/2014/main" id="{6D6A5A79-9F62-8E7C-75EA-7194205F0EEB}"/>
                  </a:ext>
                </a:extLst>
              </p:cNvPr>
              <p:cNvGrpSpPr>
                <a:grpSpLocks/>
              </p:cNvGrpSpPr>
              <p:nvPr/>
            </p:nvGrpSpPr>
            <p:grpSpPr bwMode="auto">
              <a:xfrm>
                <a:off x="166" y="2796"/>
                <a:ext cx="156" cy="64"/>
                <a:chOff x="1440" y="1520"/>
                <a:chExt cx="156" cy="64"/>
              </a:xfrm>
            </p:grpSpPr>
            <p:sp>
              <p:nvSpPr>
                <p:cNvPr id="87" name="Line 423">
                  <a:extLst>
                    <a:ext uri="{FF2B5EF4-FFF2-40B4-BE49-F238E27FC236}">
                      <a16:creationId xmlns:a16="http://schemas.microsoft.com/office/drawing/2014/main" id="{AE589DD1-F58D-A593-F29F-92C4BCFF7147}"/>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8" name="Line 424">
                  <a:extLst>
                    <a:ext uri="{FF2B5EF4-FFF2-40B4-BE49-F238E27FC236}">
                      <a16:creationId xmlns:a16="http://schemas.microsoft.com/office/drawing/2014/main" id="{272C6C31-0020-10BD-400D-F9F8173F6D5C}"/>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89" name="AutoShape 425">
                  <a:extLst>
                    <a:ext uri="{FF2B5EF4-FFF2-40B4-BE49-F238E27FC236}">
                      <a16:creationId xmlns:a16="http://schemas.microsoft.com/office/drawing/2014/main" id="{C83DBA31-3CAD-F566-0042-C62ABF1E4B99}"/>
                    </a:ext>
                  </a:extLst>
                </p:cNvPr>
                <p:cNvCxnSpPr>
                  <a:cxnSpLocks noChangeShapeType="1"/>
                  <a:stCxn id="87" idx="1"/>
                  <a:endCxn id="88"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grpSp>
        <p:nvGrpSpPr>
          <p:cNvPr id="196" name="Group 195">
            <a:extLst>
              <a:ext uri="{FF2B5EF4-FFF2-40B4-BE49-F238E27FC236}">
                <a16:creationId xmlns:a16="http://schemas.microsoft.com/office/drawing/2014/main" id="{8104EA61-5B53-F81B-04D4-9AD48E172955}"/>
              </a:ext>
            </a:extLst>
          </p:cNvPr>
          <p:cNvGrpSpPr/>
          <p:nvPr/>
        </p:nvGrpSpPr>
        <p:grpSpPr>
          <a:xfrm>
            <a:off x="683789" y="4505451"/>
            <a:ext cx="2348137" cy="447666"/>
            <a:chOff x="1951209" y="3626085"/>
            <a:chExt cx="1765300" cy="336550"/>
          </a:xfrm>
        </p:grpSpPr>
        <p:grpSp>
          <p:nvGrpSpPr>
            <p:cNvPr id="197" name="Group 383">
              <a:extLst>
                <a:ext uri="{FF2B5EF4-FFF2-40B4-BE49-F238E27FC236}">
                  <a16:creationId xmlns:a16="http://schemas.microsoft.com/office/drawing/2014/main" id="{7AE35C81-3D85-525A-A6D0-C55BDBC5F9D0}"/>
                </a:ext>
              </a:extLst>
            </p:cNvPr>
            <p:cNvGrpSpPr>
              <a:grpSpLocks/>
            </p:cNvGrpSpPr>
            <p:nvPr/>
          </p:nvGrpSpPr>
          <p:grpSpPr bwMode="auto">
            <a:xfrm>
              <a:off x="3335509" y="3626085"/>
              <a:ext cx="381000" cy="336550"/>
              <a:chOff x="104" y="2740"/>
              <a:chExt cx="240" cy="212"/>
            </a:xfrm>
          </p:grpSpPr>
          <p:sp>
            <p:nvSpPr>
              <p:cNvPr id="211" name="AutoShape 371">
                <a:extLst>
                  <a:ext uri="{FF2B5EF4-FFF2-40B4-BE49-F238E27FC236}">
                    <a16:creationId xmlns:a16="http://schemas.microsoft.com/office/drawing/2014/main" id="{0502F4AD-1A57-FF9E-83F9-D9A64B40CD20}"/>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2" name="AutoShape 372">
                <a:extLst>
                  <a:ext uri="{FF2B5EF4-FFF2-40B4-BE49-F238E27FC236}">
                    <a16:creationId xmlns:a16="http://schemas.microsoft.com/office/drawing/2014/main" id="{1851157E-BE13-9B98-F004-4C495556C72D}"/>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3" name="AutoShape 373">
                <a:extLst>
                  <a:ext uri="{FF2B5EF4-FFF2-40B4-BE49-F238E27FC236}">
                    <a16:creationId xmlns:a16="http://schemas.microsoft.com/office/drawing/2014/main" id="{57FCA0B9-39D7-B665-81DA-376D043B55C6}"/>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4" name="AutoShape 378">
                <a:extLst>
                  <a:ext uri="{FF2B5EF4-FFF2-40B4-BE49-F238E27FC236}">
                    <a16:creationId xmlns:a16="http://schemas.microsoft.com/office/drawing/2014/main" id="{FC3286CB-C147-729D-35C9-8C94A0413B9C}"/>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5" name="Group 379">
                <a:extLst>
                  <a:ext uri="{FF2B5EF4-FFF2-40B4-BE49-F238E27FC236}">
                    <a16:creationId xmlns:a16="http://schemas.microsoft.com/office/drawing/2014/main" id="{D307FF75-9646-0456-1798-9D93CF3E2A06}"/>
                  </a:ext>
                </a:extLst>
              </p:cNvPr>
              <p:cNvGrpSpPr>
                <a:grpSpLocks/>
              </p:cNvGrpSpPr>
              <p:nvPr/>
            </p:nvGrpSpPr>
            <p:grpSpPr bwMode="auto">
              <a:xfrm>
                <a:off x="166" y="2796"/>
                <a:ext cx="156" cy="64"/>
                <a:chOff x="1440" y="1520"/>
                <a:chExt cx="156" cy="64"/>
              </a:xfrm>
            </p:grpSpPr>
            <p:sp>
              <p:nvSpPr>
                <p:cNvPr id="216" name="Line 380">
                  <a:extLst>
                    <a:ext uri="{FF2B5EF4-FFF2-40B4-BE49-F238E27FC236}">
                      <a16:creationId xmlns:a16="http://schemas.microsoft.com/office/drawing/2014/main" id="{744DB898-EAB3-9565-8F8F-E5A94F2E14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17" name="Line 381">
                  <a:extLst>
                    <a:ext uri="{FF2B5EF4-FFF2-40B4-BE49-F238E27FC236}">
                      <a16:creationId xmlns:a16="http://schemas.microsoft.com/office/drawing/2014/main" id="{4A92E456-2AA9-B956-AAA7-18C3ABFB938A}"/>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8" name="AutoShape 382">
                  <a:extLst>
                    <a:ext uri="{FF2B5EF4-FFF2-40B4-BE49-F238E27FC236}">
                      <a16:creationId xmlns:a16="http://schemas.microsoft.com/office/drawing/2014/main" id="{62F5B561-CA20-DCE1-0EA6-B40FB0B4369C}"/>
                    </a:ext>
                  </a:extLst>
                </p:cNvPr>
                <p:cNvCxnSpPr>
                  <a:cxnSpLocks noChangeShapeType="1"/>
                  <a:stCxn id="216" idx="1"/>
                  <a:endCxn id="217"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nvGrpSpPr>
            <p:cNvPr id="198" name="Group 406">
              <a:extLst>
                <a:ext uri="{FF2B5EF4-FFF2-40B4-BE49-F238E27FC236}">
                  <a16:creationId xmlns:a16="http://schemas.microsoft.com/office/drawing/2014/main" id="{C2C48146-7F0A-B57F-C0BD-7EF4747092DE}"/>
                </a:ext>
              </a:extLst>
            </p:cNvPr>
            <p:cNvGrpSpPr>
              <a:grpSpLocks/>
            </p:cNvGrpSpPr>
            <p:nvPr/>
          </p:nvGrpSpPr>
          <p:grpSpPr bwMode="auto">
            <a:xfrm>
              <a:off x="1951209" y="3626085"/>
              <a:ext cx="381000" cy="336550"/>
              <a:chOff x="104" y="2740"/>
              <a:chExt cx="240" cy="212"/>
            </a:xfrm>
          </p:grpSpPr>
          <p:sp>
            <p:nvSpPr>
              <p:cNvPr id="203" name="AutoShape 407">
                <a:extLst>
                  <a:ext uri="{FF2B5EF4-FFF2-40B4-BE49-F238E27FC236}">
                    <a16:creationId xmlns:a16="http://schemas.microsoft.com/office/drawing/2014/main" id="{51533A06-4B88-23B5-6580-32056160C983}"/>
                  </a:ext>
                </a:extLst>
              </p:cNvPr>
              <p:cNvSpPr>
                <a:spLocks/>
              </p:cNvSpPr>
              <p:nvPr/>
            </p:nvSpPr>
            <p:spPr bwMode="auto">
              <a:xfrm rot="-5400000">
                <a:off x="215" y="2629"/>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4" name="AutoShape 408">
                <a:extLst>
                  <a:ext uri="{FF2B5EF4-FFF2-40B4-BE49-F238E27FC236}">
                    <a16:creationId xmlns:a16="http://schemas.microsoft.com/office/drawing/2014/main" id="{6BAFA9D3-52C9-6209-DAC2-20FBA57E0A30}"/>
                  </a:ext>
                </a:extLst>
              </p:cNvPr>
              <p:cNvSpPr>
                <a:spLocks/>
              </p:cNvSpPr>
              <p:nvPr/>
            </p:nvSpPr>
            <p:spPr bwMode="auto">
              <a:xfrm rot="-5400000">
                <a:off x="215" y="2638"/>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5" name="AutoShape 409">
                <a:extLst>
                  <a:ext uri="{FF2B5EF4-FFF2-40B4-BE49-F238E27FC236}">
                    <a16:creationId xmlns:a16="http://schemas.microsoft.com/office/drawing/2014/main" id="{8E46B3A8-0652-D24A-F6DF-DAB9A91BE67B}"/>
                  </a:ext>
                </a:extLst>
              </p:cNvPr>
              <p:cNvSpPr>
                <a:spLocks/>
              </p:cNvSpPr>
              <p:nvPr/>
            </p:nvSpPr>
            <p:spPr bwMode="auto">
              <a:xfrm rot="-5400000">
                <a:off x="215" y="2647"/>
                <a:ext cx="18" cy="240"/>
              </a:xfrm>
              <a:prstGeom prst="leftBracket">
                <a:avLst>
                  <a:gd name="adj" fmla="val 111111"/>
                </a:avLst>
              </a:prstGeom>
              <a:noFill/>
              <a:ln w="9525">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6" name="AutoShape 410">
                <a:extLst>
                  <a:ext uri="{FF2B5EF4-FFF2-40B4-BE49-F238E27FC236}">
                    <a16:creationId xmlns:a16="http://schemas.microsoft.com/office/drawing/2014/main" id="{FB0C6045-E86F-FE44-27EC-14ADE97A4D59}"/>
                  </a:ext>
                </a:extLst>
              </p:cNvPr>
              <p:cNvSpPr>
                <a:spLocks noChangeArrowheads="1"/>
              </p:cNvSpPr>
              <p:nvPr/>
            </p:nvSpPr>
            <p:spPr bwMode="auto">
              <a:xfrm>
                <a:off x="104" y="2787"/>
                <a:ext cx="240" cy="165"/>
              </a:xfrm>
              <a:prstGeom prst="flowChartMerge">
                <a:avLst/>
              </a:prstGeom>
              <a:noFill/>
              <a:ln w="952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07" name="Group 411">
                <a:extLst>
                  <a:ext uri="{FF2B5EF4-FFF2-40B4-BE49-F238E27FC236}">
                    <a16:creationId xmlns:a16="http://schemas.microsoft.com/office/drawing/2014/main" id="{9F1A97EB-A2C2-6EF2-0F59-23D973B2D876}"/>
                  </a:ext>
                </a:extLst>
              </p:cNvPr>
              <p:cNvGrpSpPr>
                <a:grpSpLocks/>
              </p:cNvGrpSpPr>
              <p:nvPr/>
            </p:nvGrpSpPr>
            <p:grpSpPr bwMode="auto">
              <a:xfrm>
                <a:off x="166" y="2796"/>
                <a:ext cx="156" cy="64"/>
                <a:chOff x="1440" y="1520"/>
                <a:chExt cx="156" cy="64"/>
              </a:xfrm>
            </p:grpSpPr>
            <p:sp>
              <p:nvSpPr>
                <p:cNvPr id="208" name="Line 412">
                  <a:extLst>
                    <a:ext uri="{FF2B5EF4-FFF2-40B4-BE49-F238E27FC236}">
                      <a16:creationId xmlns:a16="http://schemas.microsoft.com/office/drawing/2014/main" id="{C0A5C03D-0E0D-9C36-0F5C-3A361BC38185}"/>
                    </a:ext>
                  </a:extLst>
                </p:cNvPr>
                <p:cNvSpPr>
                  <a:spLocks noChangeShapeType="1"/>
                </p:cNvSpPr>
                <p:nvPr/>
              </p:nvSpPr>
              <p:spPr bwMode="auto">
                <a:xfrm flipV="1">
                  <a:off x="1440" y="1536"/>
                  <a:ext cx="78" cy="48"/>
                </a:xfrm>
                <a:prstGeom prst="line">
                  <a:avLst/>
                </a:prstGeom>
                <a:noFill/>
                <a:ln w="9525">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9" name="Line 413">
                  <a:extLst>
                    <a:ext uri="{FF2B5EF4-FFF2-40B4-BE49-F238E27FC236}">
                      <a16:creationId xmlns:a16="http://schemas.microsoft.com/office/drawing/2014/main" id="{A4E261DD-E8BE-6EC8-67AF-6BA1BF9A2786}"/>
                    </a:ext>
                  </a:extLst>
                </p:cNvPr>
                <p:cNvSpPr>
                  <a:spLocks noChangeShapeType="1"/>
                </p:cNvSpPr>
                <p:nvPr/>
              </p:nvSpPr>
              <p:spPr bwMode="auto">
                <a:xfrm flipV="1">
                  <a:off x="1518" y="1520"/>
                  <a:ext cx="78" cy="48"/>
                </a:xfrm>
                <a:prstGeom prst="line">
                  <a:avLst/>
                </a:prstGeom>
                <a:noFill/>
                <a:ln w="9525">
                  <a:solidFill>
                    <a:srgbClr val="EE3228"/>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10" name="AutoShape 414">
                  <a:extLst>
                    <a:ext uri="{FF2B5EF4-FFF2-40B4-BE49-F238E27FC236}">
                      <a16:creationId xmlns:a16="http://schemas.microsoft.com/office/drawing/2014/main" id="{C5104826-E393-5AC0-37DF-668C7A976CE6}"/>
                    </a:ext>
                  </a:extLst>
                </p:cNvPr>
                <p:cNvCxnSpPr>
                  <a:cxnSpLocks noChangeShapeType="1"/>
                  <a:stCxn id="208" idx="1"/>
                  <a:endCxn id="209" idx="0"/>
                </p:cNvCxnSpPr>
                <p:nvPr/>
              </p:nvCxnSpPr>
              <p:spPr bwMode="auto">
                <a:xfrm>
                  <a:off x="1518" y="1536"/>
                  <a:ext cx="0" cy="32"/>
                </a:xfrm>
                <a:prstGeom prst="straightConnector1">
                  <a:avLst/>
                </a:prstGeom>
                <a:noFill/>
                <a:ln w="9525">
                  <a:solidFill>
                    <a:srgbClr val="EE3228"/>
                  </a:solidFill>
                  <a:round/>
                  <a:headEnd/>
                  <a:tailEnd/>
                </a:ln>
                <a:extLst>
                  <a:ext uri="{909E8E84-426E-40DD-AFC4-6F175D3DCCD1}">
                    <a14:hiddenFill xmlns:a14="http://schemas.microsoft.com/office/drawing/2010/main">
                      <a:noFill/>
                    </a14:hiddenFill>
                  </a:ext>
                </a:extLst>
              </p:spPr>
            </p:cxnSp>
          </p:grpSp>
        </p:grpSp>
      </p:grpSp>
      <p:sp>
        <p:nvSpPr>
          <p:cNvPr id="219" name="Text Box 155">
            <a:extLst>
              <a:ext uri="{FF2B5EF4-FFF2-40B4-BE49-F238E27FC236}">
                <a16:creationId xmlns:a16="http://schemas.microsoft.com/office/drawing/2014/main" id="{1AC62729-D71C-784C-7EF9-3EC53BE18428}"/>
              </a:ext>
            </a:extLst>
          </p:cNvPr>
          <p:cNvSpPr txBox="1">
            <a:spLocks noChangeArrowheads="1"/>
          </p:cNvSpPr>
          <p:nvPr/>
        </p:nvSpPr>
        <p:spPr bwMode="auto">
          <a:xfrm>
            <a:off x="432305" y="4335125"/>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a:t>
            </a:r>
          </a:p>
        </p:txBody>
      </p:sp>
      <p:sp>
        <p:nvSpPr>
          <p:cNvPr id="337" name="AutoShape 183">
            <a:extLst>
              <a:ext uri="{FF2B5EF4-FFF2-40B4-BE49-F238E27FC236}">
                <a16:creationId xmlns:a16="http://schemas.microsoft.com/office/drawing/2014/main" id="{3F87FB56-F86E-D00E-DF6B-04BEBD06B188}"/>
              </a:ext>
            </a:extLst>
          </p:cNvPr>
          <p:cNvSpPr>
            <a:spLocks noChangeArrowheads="1"/>
          </p:cNvSpPr>
          <p:nvPr/>
        </p:nvSpPr>
        <p:spPr bwMode="auto">
          <a:xfrm>
            <a:off x="1337653" y="442766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5" name="AutoShape 183">
            <a:extLst>
              <a:ext uri="{FF2B5EF4-FFF2-40B4-BE49-F238E27FC236}">
                <a16:creationId xmlns:a16="http://schemas.microsoft.com/office/drawing/2014/main" id="{0E0491E1-F2DF-E18A-A1B2-EE5670972576}"/>
              </a:ext>
            </a:extLst>
          </p:cNvPr>
          <p:cNvSpPr>
            <a:spLocks noChangeArrowheads="1"/>
          </p:cNvSpPr>
          <p:nvPr/>
        </p:nvSpPr>
        <p:spPr bwMode="auto">
          <a:xfrm>
            <a:off x="4867836" y="4472635"/>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46" name="AutoShape 183">
            <a:extLst>
              <a:ext uri="{FF2B5EF4-FFF2-40B4-BE49-F238E27FC236}">
                <a16:creationId xmlns:a16="http://schemas.microsoft.com/office/drawing/2014/main" id="{73D0F043-E097-B50E-48B9-C941B50CB45E}"/>
              </a:ext>
            </a:extLst>
          </p:cNvPr>
          <p:cNvSpPr>
            <a:spLocks noChangeArrowheads="1"/>
          </p:cNvSpPr>
          <p:nvPr/>
        </p:nvSpPr>
        <p:spPr bwMode="auto">
          <a:xfrm>
            <a:off x="6676146" y="4445244"/>
            <a:ext cx="1333500" cy="774700"/>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3" name="Group 446">
            <a:extLst>
              <a:ext uri="{FF2B5EF4-FFF2-40B4-BE49-F238E27FC236}">
                <a16:creationId xmlns:a16="http://schemas.microsoft.com/office/drawing/2014/main" id="{CE45E573-083A-C579-97D7-A67EC169A8BF}"/>
              </a:ext>
            </a:extLst>
          </p:cNvPr>
          <p:cNvGrpSpPr>
            <a:grpSpLocks/>
          </p:cNvGrpSpPr>
          <p:nvPr/>
        </p:nvGrpSpPr>
        <p:grpSpPr bwMode="auto">
          <a:xfrm>
            <a:off x="5718488" y="2713198"/>
            <a:ext cx="2495549" cy="2249488"/>
            <a:chOff x="2993" y="1846"/>
            <a:chExt cx="1572" cy="1417"/>
          </a:xfrm>
        </p:grpSpPr>
        <p:grpSp>
          <p:nvGrpSpPr>
            <p:cNvPr id="11" name="Group 232">
              <a:extLst>
                <a:ext uri="{FF2B5EF4-FFF2-40B4-BE49-F238E27FC236}">
                  <a16:creationId xmlns:a16="http://schemas.microsoft.com/office/drawing/2014/main" id="{23ED6236-9648-80C0-0E6F-30E7FFE551EA}"/>
                </a:ext>
              </a:extLst>
            </p:cNvPr>
            <p:cNvGrpSpPr>
              <a:grpSpLocks/>
            </p:cNvGrpSpPr>
            <p:nvPr/>
          </p:nvGrpSpPr>
          <p:grpSpPr bwMode="auto">
            <a:xfrm rot="19755509" flipV="1">
              <a:off x="3146" y="1846"/>
              <a:ext cx="1419" cy="1417"/>
              <a:chOff x="636" y="1991"/>
              <a:chExt cx="252" cy="361"/>
            </a:xfrm>
          </p:grpSpPr>
          <p:sp>
            <p:nvSpPr>
              <p:cNvPr id="32" name="Line 233">
                <a:extLst>
                  <a:ext uri="{FF2B5EF4-FFF2-40B4-BE49-F238E27FC236}">
                    <a16:creationId xmlns:a16="http://schemas.microsoft.com/office/drawing/2014/main" id="{F0531D15-7AA3-C873-2A64-7F020B875AEA}"/>
                  </a:ext>
                </a:extLst>
              </p:cNvPr>
              <p:cNvSpPr>
                <a:spLocks noChangeShapeType="1"/>
              </p:cNvSpPr>
              <p:nvPr/>
            </p:nvSpPr>
            <p:spPr bwMode="auto">
              <a:xfrm flipV="1">
                <a:off x="740" y="1991"/>
                <a:ext cx="148" cy="255"/>
              </a:xfrm>
              <a:prstGeom prst="line">
                <a:avLst/>
              </a:prstGeom>
              <a:noFill/>
              <a:ln w="12700" cap="sq">
                <a:solidFill>
                  <a:srgbClr val="EE3228"/>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33" name="Line 234">
                <a:extLst>
                  <a:ext uri="{FF2B5EF4-FFF2-40B4-BE49-F238E27FC236}">
                    <a16:creationId xmlns:a16="http://schemas.microsoft.com/office/drawing/2014/main" id="{2C4E71F6-A048-E36C-5E4A-5E474D3D1CE3}"/>
                  </a:ext>
                </a:extLst>
              </p:cNvPr>
              <p:cNvSpPr>
                <a:spLocks noChangeShapeType="1"/>
              </p:cNvSpPr>
              <p:nvPr/>
            </p:nvSpPr>
            <p:spPr bwMode="auto">
              <a:xfrm>
                <a:off x="732" y="2160"/>
                <a:ext cx="6" cy="90"/>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77" name="Line 235">
                <a:extLst>
                  <a:ext uri="{FF2B5EF4-FFF2-40B4-BE49-F238E27FC236}">
                    <a16:creationId xmlns:a16="http://schemas.microsoft.com/office/drawing/2014/main" id="{E7120874-B540-744D-D22C-A894C0807D1F}"/>
                  </a:ext>
                </a:extLst>
              </p:cNvPr>
              <p:cNvSpPr>
                <a:spLocks noChangeShapeType="1"/>
              </p:cNvSpPr>
              <p:nvPr/>
            </p:nvSpPr>
            <p:spPr bwMode="auto">
              <a:xfrm flipV="1">
                <a:off x="636" y="2160"/>
                <a:ext cx="96" cy="192"/>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24" name="Group 236">
              <a:extLst>
                <a:ext uri="{FF2B5EF4-FFF2-40B4-BE49-F238E27FC236}">
                  <a16:creationId xmlns:a16="http://schemas.microsoft.com/office/drawing/2014/main" id="{349D9B21-E075-0C84-87EA-29D6680E28B2}"/>
                </a:ext>
              </a:extLst>
            </p:cNvPr>
            <p:cNvGrpSpPr>
              <a:grpSpLocks/>
            </p:cNvGrpSpPr>
            <p:nvPr/>
          </p:nvGrpSpPr>
          <p:grpSpPr bwMode="auto">
            <a:xfrm rot="930887">
              <a:off x="2993" y="2436"/>
              <a:ext cx="240" cy="240"/>
              <a:chOff x="4896" y="3312"/>
              <a:chExt cx="240" cy="240"/>
            </a:xfrm>
          </p:grpSpPr>
          <p:sp>
            <p:nvSpPr>
              <p:cNvPr id="30" name="Oval 237">
                <a:extLst>
                  <a:ext uri="{FF2B5EF4-FFF2-40B4-BE49-F238E27FC236}">
                    <a16:creationId xmlns:a16="http://schemas.microsoft.com/office/drawing/2014/main" id="{1F7DA5F9-B8E0-DCFC-E221-461BD409C659}"/>
                  </a:ext>
                </a:extLst>
              </p:cNvPr>
              <p:cNvSpPr>
                <a:spLocks noChangeArrowheads="1"/>
              </p:cNvSpPr>
              <p:nvPr/>
            </p:nvSpPr>
            <p:spPr bwMode="auto">
              <a:xfrm>
                <a:off x="4896" y="3312"/>
                <a:ext cx="240" cy="240"/>
              </a:xfrm>
              <a:prstGeom prst="ellipse">
                <a:avLst/>
              </a:prstGeom>
              <a:noFill/>
              <a:ln w="38100">
                <a:solidFill>
                  <a:srgbClr val="EE322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1" name="Line 238">
                <a:extLst>
                  <a:ext uri="{FF2B5EF4-FFF2-40B4-BE49-F238E27FC236}">
                    <a16:creationId xmlns:a16="http://schemas.microsoft.com/office/drawing/2014/main" id="{A48CB770-9C5C-99F7-09FB-689D780EF463}"/>
                  </a:ext>
                </a:extLst>
              </p:cNvPr>
              <p:cNvSpPr>
                <a:spLocks noChangeShapeType="1"/>
              </p:cNvSpPr>
              <p:nvPr/>
            </p:nvSpPr>
            <p:spPr bwMode="auto">
              <a:xfrm flipH="1">
                <a:off x="4950" y="3330"/>
                <a:ext cx="144" cy="192"/>
              </a:xfrm>
              <a:prstGeom prst="line">
                <a:avLst/>
              </a:prstGeom>
              <a:noFill/>
              <a:ln w="38100">
                <a:solidFill>
                  <a:srgbClr val="EE3228"/>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78" name="Group 81">
            <a:extLst>
              <a:ext uri="{FF2B5EF4-FFF2-40B4-BE49-F238E27FC236}">
                <a16:creationId xmlns:a16="http://schemas.microsoft.com/office/drawing/2014/main" id="{B20D5569-CDFD-6FDA-2BAD-EB272534EDFC}"/>
              </a:ext>
            </a:extLst>
          </p:cNvPr>
          <p:cNvGrpSpPr>
            <a:grpSpLocks/>
          </p:cNvGrpSpPr>
          <p:nvPr/>
        </p:nvGrpSpPr>
        <p:grpSpPr bwMode="auto">
          <a:xfrm>
            <a:off x="2276760" y="2482444"/>
            <a:ext cx="1882776" cy="582614"/>
            <a:chOff x="1728" y="1674"/>
            <a:chExt cx="1186" cy="367"/>
          </a:xfrm>
        </p:grpSpPr>
        <p:grpSp>
          <p:nvGrpSpPr>
            <p:cNvPr id="79" name="Group 66">
              <a:extLst>
                <a:ext uri="{FF2B5EF4-FFF2-40B4-BE49-F238E27FC236}">
                  <a16:creationId xmlns:a16="http://schemas.microsoft.com/office/drawing/2014/main" id="{A3B73F7F-F719-B146-6419-665FF54D38C5}"/>
                </a:ext>
              </a:extLst>
            </p:cNvPr>
            <p:cNvGrpSpPr>
              <a:grpSpLocks/>
            </p:cNvGrpSpPr>
            <p:nvPr/>
          </p:nvGrpSpPr>
          <p:grpSpPr bwMode="auto">
            <a:xfrm>
              <a:off x="1728" y="1674"/>
              <a:ext cx="1166" cy="367"/>
              <a:chOff x="3444" y="1578"/>
              <a:chExt cx="1166" cy="367"/>
            </a:xfrm>
          </p:grpSpPr>
          <p:sp>
            <p:nvSpPr>
              <p:cNvPr id="227" name="Rectangle 67">
                <a:extLst>
                  <a:ext uri="{FF2B5EF4-FFF2-40B4-BE49-F238E27FC236}">
                    <a16:creationId xmlns:a16="http://schemas.microsoft.com/office/drawing/2014/main" id="{B97FA220-A93E-6BC9-F9A9-70B9AC2A4A00}"/>
                  </a:ext>
                </a:extLst>
              </p:cNvPr>
              <p:cNvSpPr>
                <a:spLocks noChangeArrowheads="1"/>
              </p:cNvSpPr>
              <p:nvPr/>
            </p:nvSpPr>
            <p:spPr bwMode="auto">
              <a:xfrm>
                <a:off x="3503" y="1604"/>
                <a:ext cx="1107"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28" name="Text Box 68">
                <a:extLst>
                  <a:ext uri="{FF2B5EF4-FFF2-40B4-BE49-F238E27FC236}">
                    <a16:creationId xmlns:a16="http://schemas.microsoft.com/office/drawing/2014/main" id="{5F402B8C-0AB6-7D5D-2B5B-97AC21AE1A7E}"/>
                  </a:ext>
                </a:extLst>
              </p:cNvPr>
              <p:cNvSpPr txBox="1">
                <a:spLocks noChangeArrowheads="1"/>
              </p:cNvSpPr>
              <p:nvPr/>
            </p:nvSpPr>
            <p:spPr bwMode="auto">
              <a:xfrm>
                <a:off x="3444" y="1689"/>
                <a:ext cx="632"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229" name="Line 69">
                <a:extLst>
                  <a:ext uri="{FF2B5EF4-FFF2-40B4-BE49-F238E27FC236}">
                    <a16:creationId xmlns:a16="http://schemas.microsoft.com/office/drawing/2014/main" id="{B398993D-FEFD-7BFB-81ED-2BD52C897CC8}"/>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230" name="Rectangle 70">
                <a:extLst>
                  <a:ext uri="{FF2B5EF4-FFF2-40B4-BE49-F238E27FC236}">
                    <a16:creationId xmlns:a16="http://schemas.microsoft.com/office/drawing/2014/main" id="{CF4647B7-C325-B285-BD48-E1E69A700EA7}"/>
                  </a:ext>
                </a:extLst>
              </p:cNvPr>
              <p:cNvSpPr>
                <a:spLocks noChangeArrowheads="1"/>
              </p:cNvSpPr>
              <p:nvPr/>
            </p:nvSpPr>
            <p:spPr bwMode="auto">
              <a:xfrm>
                <a:off x="3729" y="1578"/>
                <a:ext cx="52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225" name="Text Box 71">
              <a:extLst>
                <a:ext uri="{FF2B5EF4-FFF2-40B4-BE49-F238E27FC236}">
                  <a16:creationId xmlns:a16="http://schemas.microsoft.com/office/drawing/2014/main" id="{056E5EF2-96C7-0A4F-D54C-28BAF6CAB5A4}"/>
                </a:ext>
              </a:extLst>
            </p:cNvPr>
            <p:cNvSpPr txBox="1">
              <a:spLocks noChangeArrowheads="1"/>
            </p:cNvSpPr>
            <p:nvPr/>
          </p:nvSpPr>
          <p:spPr bwMode="auto">
            <a:xfrm>
              <a:off x="2233" y="1833"/>
              <a:ext cx="68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a:t>
              </a:r>
              <a:r>
                <a:rPr lang="en-US" altLang="en-US" sz="10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grpSp>
      <p:grpSp>
        <p:nvGrpSpPr>
          <p:cNvPr id="231" name="Group 800">
            <a:extLst>
              <a:ext uri="{FF2B5EF4-FFF2-40B4-BE49-F238E27FC236}">
                <a16:creationId xmlns:a16="http://schemas.microsoft.com/office/drawing/2014/main" id="{D7987B9C-165D-3D7B-7DBA-133D9C22954F}"/>
              </a:ext>
            </a:extLst>
          </p:cNvPr>
          <p:cNvGrpSpPr>
            <a:grpSpLocks/>
          </p:cNvGrpSpPr>
          <p:nvPr/>
        </p:nvGrpSpPr>
        <p:grpSpPr bwMode="auto">
          <a:xfrm>
            <a:off x="3520727" y="5203060"/>
            <a:ext cx="2003425" cy="915987"/>
            <a:chOff x="1765" y="3153"/>
            <a:chExt cx="1262" cy="577"/>
          </a:xfrm>
        </p:grpSpPr>
        <p:sp>
          <p:nvSpPr>
            <p:cNvPr id="232" name="AutoShape 225">
              <a:extLst>
                <a:ext uri="{FF2B5EF4-FFF2-40B4-BE49-F238E27FC236}">
                  <a16:creationId xmlns:a16="http://schemas.microsoft.com/office/drawing/2014/main" id="{3B09C690-432A-A750-F730-D0E8704875B1}"/>
                </a:ext>
              </a:extLst>
            </p:cNvPr>
            <p:cNvSpPr>
              <a:spLocks noChangeArrowheads="1"/>
            </p:cNvSpPr>
            <p:nvPr/>
          </p:nvSpPr>
          <p:spPr bwMode="auto">
            <a:xfrm>
              <a:off x="1765" y="3153"/>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3" name="Text Box 778">
              <a:extLst>
                <a:ext uri="{FF2B5EF4-FFF2-40B4-BE49-F238E27FC236}">
                  <a16:creationId xmlns:a16="http://schemas.microsoft.com/office/drawing/2014/main" id="{63878689-57D3-D6F2-C343-9267D9CB105F}"/>
                </a:ext>
              </a:extLst>
            </p:cNvPr>
            <p:cNvSpPr txBox="1">
              <a:spLocks noChangeArrowheads="1"/>
            </p:cNvSpPr>
            <p:nvPr/>
          </p:nvSpPr>
          <p:spPr bwMode="auto">
            <a:xfrm>
              <a:off x="2188" y="3548"/>
              <a:ext cx="520" cy="182"/>
            </a:xfrm>
            <a:prstGeom prst="rect">
              <a:avLst/>
            </a:prstGeom>
            <a:noFill/>
            <a:ln w="12700" cap="sq">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EE3228"/>
                  </a:solidFill>
                </a:rPr>
                <a:t>Implement Poke Yoke</a:t>
              </a:r>
            </a:p>
          </p:txBody>
        </p:sp>
        <p:sp>
          <p:nvSpPr>
            <p:cNvPr id="234" name="Line 779">
              <a:extLst>
                <a:ext uri="{FF2B5EF4-FFF2-40B4-BE49-F238E27FC236}">
                  <a16:creationId xmlns:a16="http://schemas.microsoft.com/office/drawing/2014/main" id="{63DF5C43-1621-E471-7F67-204DA5162784}"/>
                </a:ext>
              </a:extLst>
            </p:cNvPr>
            <p:cNvSpPr>
              <a:spLocks noChangeShapeType="1"/>
            </p:cNvSpPr>
            <p:nvPr/>
          </p:nvSpPr>
          <p:spPr bwMode="auto">
            <a:xfrm flipH="1" flipV="1">
              <a:off x="2192" y="3408"/>
              <a:ext cx="88" cy="172"/>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0" name="AutoShape 798">
              <a:extLst>
                <a:ext uri="{FF2B5EF4-FFF2-40B4-BE49-F238E27FC236}">
                  <a16:creationId xmlns:a16="http://schemas.microsoft.com/office/drawing/2014/main" id="{C34EA9AF-DEB4-1676-BA80-6C28BE3699BD}"/>
                </a:ext>
              </a:extLst>
            </p:cNvPr>
            <p:cNvSpPr>
              <a:spLocks noChangeArrowheads="1"/>
            </p:cNvSpPr>
            <p:nvPr/>
          </p:nvSpPr>
          <p:spPr bwMode="auto">
            <a:xfrm>
              <a:off x="2557" y="3201"/>
              <a:ext cx="470" cy="336"/>
            </a:xfrm>
            <a:prstGeom prst="irregularSeal1">
              <a:avLst/>
            </a:prstGeom>
            <a:noFill/>
            <a:ln w="28575">
              <a:solidFill>
                <a:srgbClr val="EE3228"/>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01" name="Line 799">
              <a:extLst>
                <a:ext uri="{FF2B5EF4-FFF2-40B4-BE49-F238E27FC236}">
                  <a16:creationId xmlns:a16="http://schemas.microsoft.com/office/drawing/2014/main" id="{EFD786FA-0B34-7F23-2C53-4729117E51C2}"/>
                </a:ext>
              </a:extLst>
            </p:cNvPr>
            <p:cNvSpPr>
              <a:spLocks noChangeShapeType="1"/>
            </p:cNvSpPr>
            <p:nvPr/>
          </p:nvSpPr>
          <p:spPr bwMode="auto">
            <a:xfrm flipV="1">
              <a:off x="2616" y="3480"/>
              <a:ext cx="92" cy="154"/>
            </a:xfrm>
            <a:prstGeom prst="line">
              <a:avLst/>
            </a:prstGeom>
            <a:noFill/>
            <a:ln w="12700" cap="sq">
              <a:solidFill>
                <a:srgbClr val="EE322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53" name="Text Box 155">
            <a:extLst>
              <a:ext uri="{FF2B5EF4-FFF2-40B4-BE49-F238E27FC236}">
                <a16:creationId xmlns:a16="http://schemas.microsoft.com/office/drawing/2014/main" id="{75950FCF-55CF-BF5E-C5AB-8EB7B8B9602D}"/>
              </a:ext>
            </a:extLst>
          </p:cNvPr>
          <p:cNvSpPr txBox="1">
            <a:spLocks noChangeArrowheads="1"/>
          </p:cNvSpPr>
          <p:nvPr/>
        </p:nvSpPr>
        <p:spPr bwMode="auto">
          <a:xfrm>
            <a:off x="1384180" y="3997846"/>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2</a:t>
            </a:r>
          </a:p>
        </p:txBody>
      </p:sp>
      <p:sp>
        <p:nvSpPr>
          <p:cNvPr id="199" name="Text Box 155">
            <a:extLst>
              <a:ext uri="{FF2B5EF4-FFF2-40B4-BE49-F238E27FC236}">
                <a16:creationId xmlns:a16="http://schemas.microsoft.com/office/drawing/2014/main" id="{4C1DF0AC-7AEF-CA7B-F51C-0E4078000818}"/>
              </a:ext>
            </a:extLst>
          </p:cNvPr>
          <p:cNvSpPr txBox="1">
            <a:spLocks noChangeArrowheads="1"/>
          </p:cNvSpPr>
          <p:nvPr/>
        </p:nvSpPr>
        <p:spPr bwMode="auto">
          <a:xfrm>
            <a:off x="2628364" y="4102777"/>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3</a:t>
            </a:r>
          </a:p>
        </p:txBody>
      </p:sp>
      <p:sp>
        <p:nvSpPr>
          <p:cNvPr id="201" name="Text Box 155">
            <a:extLst>
              <a:ext uri="{FF2B5EF4-FFF2-40B4-BE49-F238E27FC236}">
                <a16:creationId xmlns:a16="http://schemas.microsoft.com/office/drawing/2014/main" id="{EC95A1F2-252D-CFE4-752F-56F55D0F6C2D}"/>
              </a:ext>
            </a:extLst>
          </p:cNvPr>
          <p:cNvSpPr txBox="1">
            <a:spLocks noChangeArrowheads="1"/>
          </p:cNvSpPr>
          <p:nvPr/>
        </p:nvSpPr>
        <p:spPr bwMode="auto">
          <a:xfrm>
            <a:off x="5784963" y="3278318"/>
            <a:ext cx="389851"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12</a:t>
            </a:r>
          </a:p>
        </p:txBody>
      </p:sp>
      <p:sp>
        <p:nvSpPr>
          <p:cNvPr id="202" name="Text Box 155">
            <a:extLst>
              <a:ext uri="{FF2B5EF4-FFF2-40B4-BE49-F238E27FC236}">
                <a16:creationId xmlns:a16="http://schemas.microsoft.com/office/drawing/2014/main" id="{9B0BC3FD-B1E6-B1AF-D736-41BBB31BFE6A}"/>
              </a:ext>
            </a:extLst>
          </p:cNvPr>
          <p:cNvSpPr txBox="1">
            <a:spLocks noChangeArrowheads="1"/>
          </p:cNvSpPr>
          <p:nvPr/>
        </p:nvSpPr>
        <p:spPr bwMode="auto">
          <a:xfrm>
            <a:off x="6173538" y="4170233"/>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8</a:t>
            </a:r>
          </a:p>
        </p:txBody>
      </p:sp>
      <p:sp>
        <p:nvSpPr>
          <p:cNvPr id="222" name="Text Box 155">
            <a:extLst>
              <a:ext uri="{FF2B5EF4-FFF2-40B4-BE49-F238E27FC236}">
                <a16:creationId xmlns:a16="http://schemas.microsoft.com/office/drawing/2014/main" id="{D0A4C422-6BAA-F32A-CFFF-1352B6D550EF}"/>
              </a:ext>
            </a:extLst>
          </p:cNvPr>
          <p:cNvSpPr txBox="1">
            <a:spLocks noChangeArrowheads="1"/>
          </p:cNvSpPr>
          <p:nvPr/>
        </p:nvSpPr>
        <p:spPr bwMode="auto">
          <a:xfrm>
            <a:off x="7366426" y="4027826"/>
            <a:ext cx="389851"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10</a:t>
            </a:r>
          </a:p>
        </p:txBody>
      </p:sp>
      <p:sp>
        <p:nvSpPr>
          <p:cNvPr id="223" name="Text Box 155">
            <a:extLst>
              <a:ext uri="{FF2B5EF4-FFF2-40B4-BE49-F238E27FC236}">
                <a16:creationId xmlns:a16="http://schemas.microsoft.com/office/drawing/2014/main" id="{D4E6E1E0-4F02-825C-2AE6-A5DB7EDBDA22}"/>
              </a:ext>
            </a:extLst>
          </p:cNvPr>
          <p:cNvSpPr txBox="1">
            <a:spLocks noChangeArrowheads="1"/>
          </p:cNvSpPr>
          <p:nvPr/>
        </p:nvSpPr>
        <p:spPr bwMode="auto">
          <a:xfrm>
            <a:off x="7943548" y="4117767"/>
            <a:ext cx="389850"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11</a:t>
            </a:r>
          </a:p>
        </p:txBody>
      </p:sp>
      <p:sp>
        <p:nvSpPr>
          <p:cNvPr id="8" name="Slide Number Placeholder 2">
            <a:extLst>
              <a:ext uri="{FF2B5EF4-FFF2-40B4-BE49-F238E27FC236}">
                <a16:creationId xmlns:a16="http://schemas.microsoft.com/office/drawing/2014/main" id="{D27BCC21-7B80-873C-A247-E9DAFC491454}"/>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115</a:t>
            </a:fld>
            <a:endParaRPr lang="en-US" dirty="0"/>
          </a:p>
        </p:txBody>
      </p:sp>
      <p:sp>
        <p:nvSpPr>
          <p:cNvPr id="75" name="Text Box 155">
            <a:extLst>
              <a:ext uri="{FF2B5EF4-FFF2-40B4-BE49-F238E27FC236}">
                <a16:creationId xmlns:a16="http://schemas.microsoft.com/office/drawing/2014/main" id="{ECEBB859-6A8C-1912-2366-104FAF49ED70}"/>
              </a:ext>
            </a:extLst>
          </p:cNvPr>
          <p:cNvSpPr txBox="1">
            <a:spLocks noChangeArrowheads="1"/>
          </p:cNvSpPr>
          <p:nvPr/>
        </p:nvSpPr>
        <p:spPr bwMode="auto">
          <a:xfrm>
            <a:off x="3436356" y="5665859"/>
            <a:ext cx="580608" cy="178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700" dirty="0">
                <a:solidFill>
                  <a:srgbClr val="EE3228"/>
                </a:solidFill>
              </a:rPr>
              <a:t>Flow Cell</a:t>
            </a:r>
          </a:p>
        </p:txBody>
      </p:sp>
      <p:sp>
        <p:nvSpPr>
          <p:cNvPr id="110" name="Text Box 155">
            <a:extLst>
              <a:ext uri="{FF2B5EF4-FFF2-40B4-BE49-F238E27FC236}">
                <a16:creationId xmlns:a16="http://schemas.microsoft.com/office/drawing/2014/main" id="{878BDA26-69FD-6952-E28D-1D903D622ABD}"/>
              </a:ext>
            </a:extLst>
          </p:cNvPr>
          <p:cNvSpPr txBox="1">
            <a:spLocks noChangeArrowheads="1"/>
          </p:cNvSpPr>
          <p:nvPr/>
        </p:nvSpPr>
        <p:spPr bwMode="auto">
          <a:xfrm>
            <a:off x="2943357" y="5647154"/>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4</a:t>
            </a:r>
          </a:p>
        </p:txBody>
      </p:sp>
      <p:sp>
        <p:nvSpPr>
          <p:cNvPr id="220" name="Text Box 155">
            <a:extLst>
              <a:ext uri="{FF2B5EF4-FFF2-40B4-BE49-F238E27FC236}">
                <a16:creationId xmlns:a16="http://schemas.microsoft.com/office/drawing/2014/main" id="{17128BE5-C71C-C29B-5521-EEA77679610A}"/>
              </a:ext>
            </a:extLst>
          </p:cNvPr>
          <p:cNvSpPr txBox="1">
            <a:spLocks noChangeArrowheads="1"/>
          </p:cNvSpPr>
          <p:nvPr/>
        </p:nvSpPr>
        <p:spPr bwMode="auto">
          <a:xfrm>
            <a:off x="4181993" y="5332658"/>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5</a:t>
            </a:r>
          </a:p>
        </p:txBody>
      </p:sp>
      <p:sp>
        <p:nvSpPr>
          <p:cNvPr id="221" name="Text Box 155">
            <a:extLst>
              <a:ext uri="{FF2B5EF4-FFF2-40B4-BE49-F238E27FC236}">
                <a16:creationId xmlns:a16="http://schemas.microsoft.com/office/drawing/2014/main" id="{F215573C-E5D1-8828-3AFD-135A06CBB483}"/>
              </a:ext>
            </a:extLst>
          </p:cNvPr>
          <p:cNvSpPr txBox="1">
            <a:spLocks noChangeArrowheads="1"/>
          </p:cNvSpPr>
          <p:nvPr/>
        </p:nvSpPr>
        <p:spPr bwMode="auto">
          <a:xfrm>
            <a:off x="5390503" y="4377033"/>
            <a:ext cx="287258"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7</a:t>
            </a:r>
          </a:p>
        </p:txBody>
      </p:sp>
      <p:sp>
        <p:nvSpPr>
          <p:cNvPr id="302" name="Text Box 155">
            <a:extLst>
              <a:ext uri="{FF2B5EF4-FFF2-40B4-BE49-F238E27FC236}">
                <a16:creationId xmlns:a16="http://schemas.microsoft.com/office/drawing/2014/main" id="{E171D145-E025-A78F-CE7B-2674824E792C}"/>
              </a:ext>
            </a:extLst>
          </p:cNvPr>
          <p:cNvSpPr txBox="1">
            <a:spLocks noChangeArrowheads="1"/>
          </p:cNvSpPr>
          <p:nvPr/>
        </p:nvSpPr>
        <p:spPr bwMode="auto">
          <a:xfrm>
            <a:off x="4557833" y="5301215"/>
            <a:ext cx="287259" cy="26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dirty="0">
                <a:solidFill>
                  <a:srgbClr val="EE3228"/>
                </a:solidFill>
                <a:latin typeface="Roboto" panose="02000000000000000000" pitchFamily="2" charset="0"/>
                <a:ea typeface="Roboto" panose="02000000000000000000" pitchFamily="2" charset="0"/>
              </a:rPr>
              <a:t>6</a:t>
            </a:r>
          </a:p>
        </p:txBody>
      </p:sp>
      <p:sp>
        <p:nvSpPr>
          <p:cNvPr id="303" name="Title 1">
            <a:extLst>
              <a:ext uri="{FF2B5EF4-FFF2-40B4-BE49-F238E27FC236}">
                <a16:creationId xmlns:a16="http://schemas.microsoft.com/office/drawing/2014/main" id="{2A261B02-48F9-5302-D8C3-753E2BBDA72E}"/>
              </a:ext>
            </a:extLst>
          </p:cNvPr>
          <p:cNvSpPr txBox="1">
            <a:spLocks/>
          </p:cNvSpPr>
          <p:nvPr/>
        </p:nvSpPr>
        <p:spPr>
          <a:xfrm>
            <a:off x="480387" y="681038"/>
            <a:ext cx="10515600" cy="681168"/>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a:lstStyle>
          <a:p>
            <a:r>
              <a:rPr lang="en-US" altLang="en-US" sz="3200"/>
              <a:t>Begin with the Marked Up Current State Map</a:t>
            </a:r>
            <a:endParaRPr lang="en-US" sz="3200" dirty="0"/>
          </a:p>
        </p:txBody>
      </p:sp>
      <p:grpSp>
        <p:nvGrpSpPr>
          <p:cNvPr id="304" name="Group 303">
            <a:extLst>
              <a:ext uri="{FF2B5EF4-FFF2-40B4-BE49-F238E27FC236}">
                <a16:creationId xmlns:a16="http://schemas.microsoft.com/office/drawing/2014/main" id="{AA5EDA55-C79D-4444-6AF4-D73ED2C3AD4D}"/>
              </a:ext>
            </a:extLst>
          </p:cNvPr>
          <p:cNvGrpSpPr/>
          <p:nvPr/>
        </p:nvGrpSpPr>
        <p:grpSpPr>
          <a:xfrm>
            <a:off x="940249" y="302538"/>
            <a:ext cx="6219503" cy="311932"/>
            <a:chOff x="940249" y="302538"/>
            <a:chExt cx="6219503" cy="311932"/>
          </a:xfrm>
        </p:grpSpPr>
        <p:sp>
          <p:nvSpPr>
            <p:cNvPr id="305" name="TextBox 304">
              <a:extLst>
                <a:ext uri="{FF2B5EF4-FFF2-40B4-BE49-F238E27FC236}">
                  <a16:creationId xmlns:a16="http://schemas.microsoft.com/office/drawing/2014/main" id="{C28A2529-7A96-F715-455E-555756C40DAD}"/>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306" name="AutoShape 9">
              <a:extLst>
                <a:ext uri="{FF2B5EF4-FFF2-40B4-BE49-F238E27FC236}">
                  <a16:creationId xmlns:a16="http://schemas.microsoft.com/office/drawing/2014/main" id="{1F73FCFD-9FDA-B222-4598-94D157DD03C1}"/>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7" name="AutoShape 9">
              <a:extLst>
                <a:ext uri="{FF2B5EF4-FFF2-40B4-BE49-F238E27FC236}">
                  <a16:creationId xmlns:a16="http://schemas.microsoft.com/office/drawing/2014/main" id="{F031EBF7-2BD8-1D26-8CA6-199B6E552014}"/>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8" name="AutoShape 9">
              <a:extLst>
                <a:ext uri="{FF2B5EF4-FFF2-40B4-BE49-F238E27FC236}">
                  <a16:creationId xmlns:a16="http://schemas.microsoft.com/office/drawing/2014/main" id="{2DDB0413-20D0-D411-3915-32CE057B9E82}"/>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9" name="AutoShape 9">
              <a:extLst>
                <a:ext uri="{FF2B5EF4-FFF2-40B4-BE49-F238E27FC236}">
                  <a16:creationId xmlns:a16="http://schemas.microsoft.com/office/drawing/2014/main" id="{4C6BF96E-17AB-A0F7-FE72-85FC555C698B}"/>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10" name="AutoShape 11">
              <a:extLst>
                <a:ext uri="{FF2B5EF4-FFF2-40B4-BE49-F238E27FC236}">
                  <a16:creationId xmlns:a16="http://schemas.microsoft.com/office/drawing/2014/main" id="{6EB2B084-79E7-124A-065D-E4FFEB1DDF6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379636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par>
                                <p:cTn id="8" presetID="22" presetClass="entr" presetSubtype="8" fill="hold"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wipe(left)">
                                      <p:cBhvr>
                                        <p:cTn id="10" dur="500"/>
                                        <p:tgtEl>
                                          <p:spTgt spid="186"/>
                                        </p:tgtEl>
                                      </p:cBhvr>
                                    </p:animEffect>
                                  </p:childTnLst>
                                </p:cTn>
                              </p:par>
                              <p:par>
                                <p:cTn id="11" presetID="22" presetClass="entr" presetSubtype="8" fill="hold" nodeType="withEffect">
                                  <p:stCondLst>
                                    <p:cond delay="0"/>
                                  </p:stCondLst>
                                  <p:childTnLst>
                                    <p:set>
                                      <p:cBhvr>
                                        <p:cTn id="12" dur="1" fill="hold">
                                          <p:stCondLst>
                                            <p:cond delay="0"/>
                                          </p:stCondLst>
                                        </p:cTn>
                                        <p:tgtEl>
                                          <p:spTgt spid="123"/>
                                        </p:tgtEl>
                                        <p:attrNameLst>
                                          <p:attrName>style.visibility</p:attrName>
                                        </p:attrNameLst>
                                      </p:cBhvr>
                                      <p:to>
                                        <p:strVal val="visible"/>
                                      </p:to>
                                    </p:set>
                                    <p:animEffect transition="in" filter="wipe(left)">
                                      <p:cBhvr>
                                        <p:cTn id="13" dur="500"/>
                                        <p:tgtEl>
                                          <p:spTgt spid="12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up)">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dissolve">
                                      <p:cBhvr>
                                        <p:cTn id="23" dur="500"/>
                                        <p:tgtEl>
                                          <p:spTgt spid="7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1"/>
                                        </p:tgtEl>
                                        <p:attrNameLst>
                                          <p:attrName>style.visibility</p:attrName>
                                        </p:attrNameLst>
                                      </p:cBhvr>
                                      <p:to>
                                        <p:strVal val="visible"/>
                                      </p:to>
                                    </p:set>
                                    <p:animEffect transition="in" filter="dissolve">
                                      <p:cBhvr>
                                        <p:cTn id="28"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116</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127575388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117</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a:stCxn id="23" idx="1"/>
          </p:cNvCxnSpPr>
          <p:nvPr/>
        </p:nvCxnSpPr>
        <p:spPr bwMode="auto">
          <a:xfrm rot="10800000" flipV="1">
            <a:off x="3261079" y="2738439"/>
            <a:ext cx="1254124" cy="1999516"/>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962628" y="4002942"/>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59" name="Text Box 46">
            <a:extLst>
              <a:ext uri="{FF2B5EF4-FFF2-40B4-BE49-F238E27FC236}">
                <a16:creationId xmlns:a16="http://schemas.microsoft.com/office/drawing/2014/main" id="{6319E130-BBDA-2ACB-B6CF-761C2930BA6A}"/>
              </a:ext>
            </a:extLst>
          </p:cNvPr>
          <p:cNvSpPr txBox="1">
            <a:spLocks noChangeArrowheads="1"/>
          </p:cNvSpPr>
          <p:nvPr/>
        </p:nvSpPr>
        <p:spPr bwMode="auto">
          <a:xfrm>
            <a:off x="6547203" y="4028342"/>
            <a:ext cx="10033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24 packages/day</a:t>
            </a:r>
          </a:p>
        </p:txBody>
      </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3" y="4607780"/>
            <a:ext cx="700088" cy="551180"/>
            <a:chOff x="4920" y="2982"/>
            <a:chExt cx="459" cy="403"/>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459"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1" y="3182"/>
              <a:ext cx="24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b="0" dirty="0">
                  <a:latin typeface="Roboto" panose="02000000000000000000" pitchFamily="2" charset="0"/>
                  <a:ea typeface="Roboto" panose="02000000000000000000" pitchFamily="2" charset="0"/>
                  <a:cs typeface="Roboto" panose="02000000000000000000" pitchFamily="2" charset="0"/>
                </a:rPr>
                <a:t>= </a:t>
              </a:r>
              <a:r>
                <a:rPr lang="en-US" altLang="en-US" sz="1050" b="0" dirty="0">
                  <a:latin typeface="Roboto" panose="02000000000000000000" pitchFamily="2" charset="0"/>
                  <a:ea typeface="Roboto" panose="02000000000000000000" pitchFamily="2" charset="0"/>
                  <a:cs typeface="Roboto" panose="02000000000000000000" pitchFamily="2" charset="0"/>
                </a:rPr>
                <a:t>1</a:t>
              </a:r>
              <a:endParaRPr lang="en-US" altLang="en-US" sz="12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835964" cy="511175"/>
            <a:chOff x="4841" y="3355"/>
            <a:chExt cx="549"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450"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549" cy="374"/>
              <a:chOff x="4841" y="3355"/>
              <a:chExt cx="549"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549"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500" b="0">
                    <a:latin typeface="Roboto" panose="02000000000000000000" pitchFamily="2" charset="0"/>
                    <a:cs typeface="Roboto" panose="02000000000000000000" pitchFamily="2" charset="0"/>
                  </a:rPr>
                  <a:t>”</a:t>
                </a: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294"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spTree>
    <p:extLst>
      <p:ext uri="{BB962C8B-B14F-4D97-AF65-F5344CB8AC3E}">
        <p14:creationId xmlns:p14="http://schemas.microsoft.com/office/powerpoint/2010/main" val="365457509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118</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164135111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119</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a:stCxn id="23" idx="1"/>
          </p:cNvCxnSpPr>
          <p:nvPr/>
        </p:nvCxnSpPr>
        <p:spPr bwMode="auto">
          <a:xfrm rot="10800000" flipV="1">
            <a:off x="3261079" y="2738439"/>
            <a:ext cx="1254124" cy="1999516"/>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962628" y="4002942"/>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59" name="Text Box 46">
            <a:extLst>
              <a:ext uri="{FF2B5EF4-FFF2-40B4-BE49-F238E27FC236}">
                <a16:creationId xmlns:a16="http://schemas.microsoft.com/office/drawing/2014/main" id="{6319E130-BBDA-2ACB-B6CF-761C2930BA6A}"/>
              </a:ext>
            </a:extLst>
          </p:cNvPr>
          <p:cNvSpPr txBox="1">
            <a:spLocks noChangeArrowheads="1"/>
          </p:cNvSpPr>
          <p:nvPr/>
        </p:nvSpPr>
        <p:spPr bwMode="auto">
          <a:xfrm>
            <a:off x="6547203" y="4028342"/>
            <a:ext cx="10033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24 packages/day</a:t>
            </a:r>
          </a:p>
        </p:txBody>
      </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3" y="4607782"/>
            <a:ext cx="700088" cy="534768"/>
            <a:chOff x="4920" y="2982"/>
            <a:chExt cx="459" cy="391"/>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459"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7" y="3182"/>
              <a:ext cx="24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 </a:t>
              </a:r>
              <a:r>
                <a:rPr lang="en-US" altLang="en-US" sz="1000" b="0" dirty="0">
                  <a:latin typeface="Roboto" panose="02000000000000000000" pitchFamily="2" charset="0"/>
                  <a:ea typeface="Roboto" panose="02000000000000000000" pitchFamily="2" charset="0"/>
                  <a:cs typeface="Roboto" panose="02000000000000000000" pitchFamily="2" charset="0"/>
                </a:rPr>
                <a:t>1</a:t>
              </a:r>
              <a:endParaRPr lang="en-US" altLang="en-US" sz="11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835964" cy="511175"/>
            <a:chOff x="4841" y="3355"/>
            <a:chExt cx="549"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450"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549" cy="374"/>
              <a:chOff x="4841" y="3355"/>
              <a:chExt cx="549"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549"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500" b="0">
                    <a:latin typeface="Roboto" panose="02000000000000000000" pitchFamily="2" charset="0"/>
                    <a:cs typeface="Roboto" panose="02000000000000000000" pitchFamily="2" charset="0"/>
                  </a:rPr>
                  <a:t>”</a:t>
                </a: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294"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6">
            <a:extLst>
              <a:ext uri="{FF2B5EF4-FFF2-40B4-BE49-F238E27FC236}">
                <a16:creationId xmlns:a16="http://schemas.microsoft.com/office/drawing/2014/main" id="{25F9D53B-67AA-FADA-BE37-9D4CA2BDA842}"/>
              </a:ext>
            </a:extLst>
          </p:cNvPr>
          <p:cNvGrpSpPr>
            <a:grpSpLocks/>
          </p:cNvGrpSpPr>
          <p:nvPr/>
        </p:nvGrpSpPr>
        <p:grpSpPr bwMode="auto">
          <a:xfrm>
            <a:off x="4775643" y="4548688"/>
            <a:ext cx="1230313" cy="561975"/>
            <a:chOff x="1520" y="2630"/>
            <a:chExt cx="775" cy="354"/>
          </a:xfrm>
        </p:grpSpPr>
        <p:sp>
          <p:nvSpPr>
            <p:cNvPr id="13" name="Rectangle 47">
              <a:extLst>
                <a:ext uri="{FF2B5EF4-FFF2-40B4-BE49-F238E27FC236}">
                  <a16:creationId xmlns:a16="http://schemas.microsoft.com/office/drawing/2014/main" id="{593C52CF-1732-9E5E-C9B8-3A0AA99764EA}"/>
                </a:ext>
              </a:extLst>
            </p:cNvPr>
            <p:cNvSpPr>
              <a:spLocks noChangeArrowheads="1"/>
            </p:cNvSpPr>
            <p:nvPr/>
          </p:nvSpPr>
          <p:spPr bwMode="auto">
            <a:xfrm>
              <a:off x="1520" y="2667"/>
              <a:ext cx="775" cy="314"/>
            </a:xfrm>
            <a:prstGeom prst="rect">
              <a:avLst/>
            </a:prstGeom>
            <a:solidFill>
              <a:schemeClr val="bg1"/>
            </a:solidFill>
            <a:ln w="12700" cap="sq">
              <a:solidFill>
                <a:srgbClr val="FF0000"/>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Line 48">
              <a:extLst>
                <a:ext uri="{FF2B5EF4-FFF2-40B4-BE49-F238E27FC236}">
                  <a16:creationId xmlns:a16="http://schemas.microsoft.com/office/drawing/2014/main" id="{0C662426-20CA-EB4C-561E-F60FDA6C8667}"/>
                </a:ext>
              </a:extLst>
            </p:cNvPr>
            <p:cNvSpPr>
              <a:spLocks noChangeShapeType="1"/>
            </p:cNvSpPr>
            <p:nvPr/>
          </p:nvSpPr>
          <p:spPr bwMode="auto">
            <a:xfrm>
              <a:off x="1525" y="2824"/>
              <a:ext cx="763" cy="1"/>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nvGrpSpPr>
            <p:cNvPr id="15" name="Group 49">
              <a:extLst>
                <a:ext uri="{FF2B5EF4-FFF2-40B4-BE49-F238E27FC236}">
                  <a16:creationId xmlns:a16="http://schemas.microsoft.com/office/drawing/2014/main" id="{34D12E3C-BD24-B4B2-9BED-A238407FCFB3}"/>
                </a:ext>
              </a:extLst>
            </p:cNvPr>
            <p:cNvGrpSpPr>
              <a:grpSpLocks/>
            </p:cNvGrpSpPr>
            <p:nvPr/>
          </p:nvGrpSpPr>
          <p:grpSpPr bwMode="auto">
            <a:xfrm flipV="1">
              <a:off x="1806" y="2831"/>
              <a:ext cx="109" cy="97"/>
              <a:chOff x="720" y="3354"/>
              <a:chExt cx="192" cy="198"/>
            </a:xfrm>
          </p:grpSpPr>
          <p:sp>
            <p:nvSpPr>
              <p:cNvPr id="75" name="Oval 50">
                <a:extLst>
                  <a:ext uri="{FF2B5EF4-FFF2-40B4-BE49-F238E27FC236}">
                    <a16:creationId xmlns:a16="http://schemas.microsoft.com/office/drawing/2014/main" id="{1D2AECF8-633B-7C41-EECA-31FC6AFFBED7}"/>
                  </a:ext>
                </a:extLst>
              </p:cNvPr>
              <p:cNvSpPr>
                <a:spLocks noChangeArrowheads="1"/>
              </p:cNvSpPr>
              <p:nvPr/>
            </p:nvSpPr>
            <p:spPr bwMode="auto">
              <a:xfrm>
                <a:off x="768" y="3408"/>
                <a:ext cx="96" cy="96"/>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76" name="AutoShape 51">
                <a:extLst>
                  <a:ext uri="{FF2B5EF4-FFF2-40B4-BE49-F238E27FC236}">
                    <a16:creationId xmlns:a16="http://schemas.microsoft.com/office/drawing/2014/main" id="{D72773CA-EEF1-289A-EF47-3B561C7BAE1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16" name="Text Box 52">
              <a:extLst>
                <a:ext uri="{FF2B5EF4-FFF2-40B4-BE49-F238E27FC236}">
                  <a16:creationId xmlns:a16="http://schemas.microsoft.com/office/drawing/2014/main" id="{13C578C0-8A8D-6105-A46E-FC9E1C21602D}"/>
                </a:ext>
              </a:extLst>
            </p:cNvPr>
            <p:cNvSpPr txBox="1">
              <a:spLocks noChangeArrowheads="1"/>
            </p:cNvSpPr>
            <p:nvPr/>
          </p:nvSpPr>
          <p:spPr bwMode="auto">
            <a:xfrm>
              <a:off x="1914" y="2829"/>
              <a:ext cx="23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solidFill>
                    <a:srgbClr val="FF0000"/>
                  </a:solidFill>
                </a:rPr>
                <a:t>= 7</a:t>
              </a:r>
            </a:p>
          </p:txBody>
        </p:sp>
        <p:sp>
          <p:nvSpPr>
            <p:cNvPr id="17" name="Text Box 53">
              <a:extLst>
                <a:ext uri="{FF2B5EF4-FFF2-40B4-BE49-F238E27FC236}">
                  <a16:creationId xmlns:a16="http://schemas.microsoft.com/office/drawing/2014/main" id="{BAC2B45C-A260-80D7-6C27-18BA69B2BEE0}"/>
                </a:ext>
              </a:extLst>
            </p:cNvPr>
            <p:cNvSpPr txBox="1">
              <a:spLocks noChangeArrowheads="1"/>
            </p:cNvSpPr>
            <p:nvPr/>
          </p:nvSpPr>
          <p:spPr bwMode="auto">
            <a:xfrm>
              <a:off x="1547" y="2630"/>
              <a:ext cx="7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solidFill>
                    <a:srgbClr val="FF0000"/>
                  </a:solidFill>
                </a:rPr>
                <a:t>Data Entry &amp; Underwrite</a:t>
              </a:r>
            </a:p>
          </p:txBody>
        </p:sp>
      </p:grpSp>
      <p:sp>
        <p:nvSpPr>
          <p:cNvPr id="77" name="Rectangle 58">
            <a:extLst>
              <a:ext uri="{FF2B5EF4-FFF2-40B4-BE49-F238E27FC236}">
                <a16:creationId xmlns:a16="http://schemas.microsoft.com/office/drawing/2014/main" id="{F222E423-A05F-4CE2-6634-50DE040FBB05}"/>
              </a:ext>
            </a:extLst>
          </p:cNvPr>
          <p:cNvSpPr>
            <a:spLocks noChangeArrowheads="1"/>
          </p:cNvSpPr>
          <p:nvPr/>
        </p:nvSpPr>
        <p:spPr bwMode="auto">
          <a:xfrm>
            <a:off x="4780406" y="5174167"/>
            <a:ext cx="1238250" cy="492125"/>
          </a:xfrm>
          <a:prstGeom prst="rect">
            <a:avLst/>
          </a:prstGeom>
          <a:solidFill>
            <a:schemeClr val="bg1"/>
          </a:solidFill>
          <a:ln w="12700" cap="sq">
            <a:solidFill>
              <a:srgbClr val="FF0000"/>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78" name="Group 59">
            <a:extLst>
              <a:ext uri="{FF2B5EF4-FFF2-40B4-BE49-F238E27FC236}">
                <a16:creationId xmlns:a16="http://schemas.microsoft.com/office/drawing/2014/main" id="{799C8A91-246B-58FC-7FCF-7FAA7CA18F4D}"/>
              </a:ext>
            </a:extLst>
          </p:cNvPr>
          <p:cNvGrpSpPr>
            <a:grpSpLocks/>
          </p:cNvGrpSpPr>
          <p:nvPr/>
        </p:nvGrpSpPr>
        <p:grpSpPr bwMode="auto">
          <a:xfrm>
            <a:off x="4728018" y="5170992"/>
            <a:ext cx="1328738" cy="511175"/>
            <a:chOff x="4841" y="3355"/>
            <a:chExt cx="483" cy="374"/>
          </a:xfrm>
        </p:grpSpPr>
        <p:sp>
          <p:nvSpPr>
            <p:cNvPr id="79" name="Text Box 60">
              <a:extLst>
                <a:ext uri="{FF2B5EF4-FFF2-40B4-BE49-F238E27FC236}">
                  <a16:creationId xmlns:a16="http://schemas.microsoft.com/office/drawing/2014/main" id="{1F94D199-DF8B-6968-D0DC-9E4E0837C32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solidFill>
                  <a:srgbClr val="FF0000"/>
                </a:solidFill>
              </a:endParaRPr>
            </a:p>
          </p:txBody>
        </p:sp>
        <p:sp>
          <p:nvSpPr>
            <p:cNvPr id="80" name="Text Box 61">
              <a:extLst>
                <a:ext uri="{FF2B5EF4-FFF2-40B4-BE49-F238E27FC236}">
                  <a16:creationId xmlns:a16="http://schemas.microsoft.com/office/drawing/2014/main" id="{7D5ED516-07E8-5829-6A35-C455222D9930}"/>
                </a:ext>
              </a:extLst>
            </p:cNvPr>
            <p:cNvSpPr txBox="1">
              <a:spLocks noChangeArrowheads="1"/>
            </p:cNvSpPr>
            <p:nvPr/>
          </p:nvSpPr>
          <p:spPr bwMode="auto">
            <a:xfrm>
              <a:off x="4841" y="3511"/>
              <a:ext cx="483"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solidFill>
                    <a:srgbClr val="FF0000"/>
                  </a:solidFill>
                </a:rPr>
                <a:t>Quality = 98%</a:t>
              </a:r>
            </a:p>
          </p:txBody>
        </p:sp>
        <p:sp>
          <p:nvSpPr>
            <p:cNvPr id="81" name="Rectangle 62">
              <a:extLst>
                <a:ext uri="{FF2B5EF4-FFF2-40B4-BE49-F238E27FC236}">
                  <a16:creationId xmlns:a16="http://schemas.microsoft.com/office/drawing/2014/main" id="{6A247257-7C7C-A477-4528-19D9116CCD8E}"/>
                </a:ext>
              </a:extLst>
            </p:cNvPr>
            <p:cNvSpPr>
              <a:spLocks noChangeArrowheads="1"/>
            </p:cNvSpPr>
            <p:nvPr/>
          </p:nvSpPr>
          <p:spPr bwMode="auto">
            <a:xfrm>
              <a:off x="4841" y="3355"/>
              <a:ext cx="331"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solidFill>
                    <a:srgbClr val="FF0000"/>
                  </a:solidFill>
                </a:rPr>
                <a:t>Processing Time = 1,500</a:t>
              </a:r>
              <a:r>
                <a:rPr lang="ja-JP" altLang="en-US" sz="500" b="0">
                  <a:solidFill>
                    <a:srgbClr val="FF0000"/>
                  </a:solidFill>
                </a:rPr>
                <a:t>”</a:t>
              </a:r>
              <a:endParaRPr lang="en-US" altLang="en-US" sz="500" b="0" dirty="0">
                <a:solidFill>
                  <a:srgbClr val="FF0000"/>
                </a:solidFill>
              </a:endParaRPr>
            </a:p>
          </p:txBody>
        </p:sp>
        <p:sp>
          <p:nvSpPr>
            <p:cNvPr id="82" name="Rectangle 63">
              <a:extLst>
                <a:ext uri="{FF2B5EF4-FFF2-40B4-BE49-F238E27FC236}">
                  <a16:creationId xmlns:a16="http://schemas.microsoft.com/office/drawing/2014/main" id="{AD20EA79-3DF3-2B6B-9CAD-DAE809BED08C}"/>
                </a:ext>
              </a:extLst>
            </p:cNvPr>
            <p:cNvSpPr>
              <a:spLocks noChangeArrowheads="1"/>
            </p:cNvSpPr>
            <p:nvPr/>
          </p:nvSpPr>
          <p:spPr bwMode="auto">
            <a:xfrm>
              <a:off x="4841" y="3437"/>
              <a:ext cx="181"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dirty="0">
                  <a:solidFill>
                    <a:srgbClr val="FF0000"/>
                  </a:solidFill>
                </a:rPr>
                <a:t>DOI = 230"</a:t>
              </a:r>
            </a:p>
          </p:txBody>
        </p:sp>
      </p:grpSp>
      <p:grpSp>
        <p:nvGrpSpPr>
          <p:cNvPr id="83" name="Group 65">
            <a:extLst>
              <a:ext uri="{FF2B5EF4-FFF2-40B4-BE49-F238E27FC236}">
                <a16:creationId xmlns:a16="http://schemas.microsoft.com/office/drawing/2014/main" id="{A1A93E8F-782A-1A6F-3EB8-D536CDD8D7BD}"/>
              </a:ext>
            </a:extLst>
          </p:cNvPr>
          <p:cNvGrpSpPr>
            <a:grpSpLocks/>
          </p:cNvGrpSpPr>
          <p:nvPr/>
        </p:nvGrpSpPr>
        <p:grpSpPr bwMode="auto">
          <a:xfrm rot="2889621" flipV="1">
            <a:off x="5498749" y="4427249"/>
            <a:ext cx="212725" cy="115888"/>
            <a:chOff x="636" y="2054"/>
            <a:chExt cx="200" cy="298"/>
          </a:xfrm>
        </p:grpSpPr>
        <p:sp>
          <p:nvSpPr>
            <p:cNvPr id="84" name="Line 66">
              <a:extLst>
                <a:ext uri="{FF2B5EF4-FFF2-40B4-BE49-F238E27FC236}">
                  <a16:creationId xmlns:a16="http://schemas.microsoft.com/office/drawing/2014/main" id="{91F362D8-DEE4-45E3-3BF2-6D03CD384545}"/>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85" name="Line 67">
              <a:extLst>
                <a:ext uri="{FF2B5EF4-FFF2-40B4-BE49-F238E27FC236}">
                  <a16:creationId xmlns:a16="http://schemas.microsoft.com/office/drawing/2014/main" id="{84666961-9A63-5CCD-1802-D9542EDFF045}"/>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86" name="Line 68">
              <a:extLst>
                <a:ext uri="{FF2B5EF4-FFF2-40B4-BE49-F238E27FC236}">
                  <a16:creationId xmlns:a16="http://schemas.microsoft.com/office/drawing/2014/main" id="{059026AD-665C-C5E4-7EA9-2FF77855E1A2}"/>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88" name="Rectangle 181">
            <a:extLst>
              <a:ext uri="{FF2B5EF4-FFF2-40B4-BE49-F238E27FC236}">
                <a16:creationId xmlns:a16="http://schemas.microsoft.com/office/drawing/2014/main" id="{71C68F8F-D91A-C69C-3C6A-9F8FBDB9353D}"/>
              </a:ext>
            </a:extLst>
          </p:cNvPr>
          <p:cNvSpPr>
            <a:spLocks noChangeArrowheads="1"/>
          </p:cNvSpPr>
          <p:nvPr/>
        </p:nvSpPr>
        <p:spPr bwMode="auto">
          <a:xfrm>
            <a:off x="2939951" y="1845889"/>
            <a:ext cx="5482349" cy="1940922"/>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Combine process boxes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Total  the number of operators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Total the process times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Record expected drop off rate</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When combining two processes multiply the quality </a:t>
            </a:r>
            <a:br>
              <a:rPr lang="en-US" altLang="en-US" sz="1100" dirty="0">
                <a:latin typeface="Roboto" panose="02000000000000000000" pitchFamily="2" charset="0"/>
                <a:ea typeface="Roboto" panose="02000000000000000000" pitchFamily="2" charset="0"/>
                <a:cs typeface="Roboto" panose="02000000000000000000" pitchFamily="2" charset="0"/>
              </a:rPr>
            </a:br>
            <a:r>
              <a:rPr lang="en-US" altLang="en-US" sz="1100" dirty="0">
                <a:latin typeface="Roboto" panose="02000000000000000000" pitchFamily="2" charset="0"/>
                <a:ea typeface="Roboto" panose="02000000000000000000" pitchFamily="2" charset="0"/>
                <a:cs typeface="Roboto" panose="02000000000000000000" pitchFamily="2" charset="0"/>
              </a:rPr>
              <a:t>yields if no improvement activity is needed</a:t>
            </a:r>
          </a:p>
        </p:txBody>
      </p:sp>
      <p:grpSp>
        <p:nvGrpSpPr>
          <p:cNvPr id="87" name="Group 54">
            <a:extLst>
              <a:ext uri="{FF2B5EF4-FFF2-40B4-BE49-F238E27FC236}">
                <a16:creationId xmlns:a16="http://schemas.microsoft.com/office/drawing/2014/main" id="{1107A7E8-46DD-D8D6-C8CF-3565EAD118B2}"/>
              </a:ext>
            </a:extLst>
          </p:cNvPr>
          <p:cNvGrpSpPr>
            <a:grpSpLocks/>
          </p:cNvGrpSpPr>
          <p:nvPr/>
        </p:nvGrpSpPr>
        <p:grpSpPr bwMode="auto">
          <a:xfrm rot="14945091" flipV="1">
            <a:off x="5176026" y="4449213"/>
            <a:ext cx="212725" cy="115888"/>
            <a:chOff x="636" y="2054"/>
            <a:chExt cx="200" cy="298"/>
          </a:xfrm>
        </p:grpSpPr>
        <p:sp>
          <p:nvSpPr>
            <p:cNvPr id="89" name="Line 55">
              <a:extLst>
                <a:ext uri="{FF2B5EF4-FFF2-40B4-BE49-F238E27FC236}">
                  <a16:creationId xmlns:a16="http://schemas.microsoft.com/office/drawing/2014/main" id="{E624B50A-A27F-E3AB-63AF-740766329427}"/>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0" name="Line 56">
              <a:extLst>
                <a:ext uri="{FF2B5EF4-FFF2-40B4-BE49-F238E27FC236}">
                  <a16:creationId xmlns:a16="http://schemas.microsoft.com/office/drawing/2014/main" id="{E2166802-41C3-7283-EEE4-A666449BD18F}"/>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91" name="Line 57">
              <a:extLst>
                <a:ext uri="{FF2B5EF4-FFF2-40B4-BE49-F238E27FC236}">
                  <a16:creationId xmlns:a16="http://schemas.microsoft.com/office/drawing/2014/main" id="{AD399B82-5D3D-4230-190D-7366B67B4F55}"/>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grpSp>
    </p:spTree>
    <p:extLst>
      <p:ext uri="{BB962C8B-B14F-4D97-AF65-F5344CB8AC3E}">
        <p14:creationId xmlns:p14="http://schemas.microsoft.com/office/powerpoint/2010/main" val="1943601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120</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101765502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 name="Line 356">
            <a:extLst>
              <a:ext uri="{FF2B5EF4-FFF2-40B4-BE49-F238E27FC236}">
                <a16:creationId xmlns:a16="http://schemas.microsoft.com/office/drawing/2014/main" id="{D8B57755-48CB-0DFC-46ED-1EFC1B7B69BC}"/>
              </a:ext>
            </a:extLst>
          </p:cNvPr>
          <p:cNvSpPr>
            <a:spLocks noChangeShapeType="1"/>
          </p:cNvSpPr>
          <p:nvPr/>
        </p:nvSpPr>
        <p:spPr bwMode="auto">
          <a:xfrm flipV="1">
            <a:off x="7354373"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89" name="Line 356">
            <a:extLst>
              <a:ext uri="{FF2B5EF4-FFF2-40B4-BE49-F238E27FC236}">
                <a16:creationId xmlns:a16="http://schemas.microsoft.com/office/drawing/2014/main" id="{0F884FD1-41F5-8285-4ED1-1DFFC3FF5A85}"/>
              </a:ext>
            </a:extLst>
          </p:cNvPr>
          <p:cNvSpPr>
            <a:spLocks noChangeShapeType="1"/>
          </p:cNvSpPr>
          <p:nvPr/>
        </p:nvSpPr>
        <p:spPr bwMode="auto">
          <a:xfrm flipV="1">
            <a:off x="5881920"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90" name="Line 356">
            <a:extLst>
              <a:ext uri="{FF2B5EF4-FFF2-40B4-BE49-F238E27FC236}">
                <a16:creationId xmlns:a16="http://schemas.microsoft.com/office/drawing/2014/main" id="{2254D11A-EB4A-B1C9-5EF2-A3A636DE6E0A}"/>
              </a:ext>
            </a:extLst>
          </p:cNvPr>
          <p:cNvSpPr>
            <a:spLocks noChangeShapeType="1"/>
          </p:cNvSpPr>
          <p:nvPr/>
        </p:nvSpPr>
        <p:spPr bwMode="auto">
          <a:xfrm flipV="1">
            <a:off x="4295167"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200" dirty="0"/>
              <a:t>Implement Visually Managed </a:t>
            </a:r>
            <a:br>
              <a:rPr lang="en-US" altLang="en-US" sz="3200" dirty="0"/>
            </a:br>
            <a:r>
              <a:rPr lang="en-US" altLang="en-US" sz="3200" dirty="0"/>
              <a:t>Queues to Couple Processes</a:t>
            </a:r>
            <a:endParaRPr lang="en-US" sz="32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121</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p:cNvCxnSpPr>
          <p:nvPr/>
        </p:nvCxnSpPr>
        <p:spPr bwMode="auto">
          <a:xfrm rot="10800000" flipV="1">
            <a:off x="2843566" y="2729902"/>
            <a:ext cx="1254124" cy="1999516"/>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545115" y="3994405"/>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59" name="Text Box 46">
            <a:extLst>
              <a:ext uri="{FF2B5EF4-FFF2-40B4-BE49-F238E27FC236}">
                <a16:creationId xmlns:a16="http://schemas.microsoft.com/office/drawing/2014/main" id="{6319E130-BBDA-2ACB-B6CF-761C2930BA6A}"/>
              </a:ext>
            </a:extLst>
          </p:cNvPr>
          <p:cNvSpPr txBox="1">
            <a:spLocks noChangeArrowheads="1"/>
          </p:cNvSpPr>
          <p:nvPr/>
        </p:nvSpPr>
        <p:spPr bwMode="auto">
          <a:xfrm>
            <a:off x="3796915" y="3681011"/>
            <a:ext cx="10033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dirty="0">
                <a:solidFill>
                  <a:srgbClr val="EE3228"/>
                </a:solidFill>
                <a:latin typeface="Roboto" panose="02000000000000000000" pitchFamily="2" charset="0"/>
                <a:ea typeface="Roboto" panose="02000000000000000000" pitchFamily="2" charset="0"/>
                <a:cs typeface="Roboto" panose="02000000000000000000" pitchFamily="2" charset="0"/>
              </a:rPr>
              <a:t>Target Lead Time Established by Policy at 1 day.</a:t>
            </a:r>
          </a:p>
        </p:txBody>
      </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7" y="4607782"/>
            <a:ext cx="864815" cy="534768"/>
            <a:chOff x="4920" y="2982"/>
            <a:chExt cx="567" cy="391"/>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567"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7" y="3182"/>
              <a:ext cx="24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 </a:t>
              </a:r>
              <a:r>
                <a:rPr lang="en-US" altLang="en-US" sz="1000" b="0" dirty="0">
                  <a:latin typeface="Roboto" panose="02000000000000000000" pitchFamily="2" charset="0"/>
                  <a:ea typeface="Roboto" panose="02000000000000000000" pitchFamily="2" charset="0"/>
                  <a:cs typeface="Roboto" panose="02000000000000000000" pitchFamily="2" charset="0"/>
                </a:rPr>
                <a:t>1</a:t>
              </a:r>
              <a:endParaRPr lang="en-US" altLang="en-US" sz="11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963871" cy="511175"/>
            <a:chOff x="4841" y="3355"/>
            <a:chExt cx="633"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559"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633" cy="374"/>
              <a:chOff x="4841" y="3355"/>
              <a:chExt cx="633"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63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600" b="0">
                    <a:latin typeface="Roboto" panose="02000000000000000000" pitchFamily="2" charset="0"/>
                    <a:cs typeface="Roboto" panose="02000000000000000000" pitchFamily="2" charset="0"/>
                  </a:rPr>
                  <a:t>”</a:t>
                </a:r>
                <a:endParaRPr lang="en-US" altLang="en-US" sz="6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32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6">
            <a:extLst>
              <a:ext uri="{FF2B5EF4-FFF2-40B4-BE49-F238E27FC236}">
                <a16:creationId xmlns:a16="http://schemas.microsoft.com/office/drawing/2014/main" id="{25F9D53B-67AA-FADA-BE37-9D4CA2BDA842}"/>
              </a:ext>
            </a:extLst>
          </p:cNvPr>
          <p:cNvGrpSpPr>
            <a:grpSpLocks/>
          </p:cNvGrpSpPr>
          <p:nvPr/>
        </p:nvGrpSpPr>
        <p:grpSpPr bwMode="auto">
          <a:xfrm>
            <a:off x="4805086" y="4559804"/>
            <a:ext cx="1119953" cy="550863"/>
            <a:chOff x="1520" y="2637"/>
            <a:chExt cx="775" cy="347"/>
          </a:xfrm>
        </p:grpSpPr>
        <p:sp>
          <p:nvSpPr>
            <p:cNvPr id="13" name="Rectangle 47">
              <a:extLst>
                <a:ext uri="{FF2B5EF4-FFF2-40B4-BE49-F238E27FC236}">
                  <a16:creationId xmlns:a16="http://schemas.microsoft.com/office/drawing/2014/main" id="{593C52CF-1732-9E5E-C9B8-3A0AA99764EA}"/>
                </a:ext>
              </a:extLst>
            </p:cNvPr>
            <p:cNvSpPr>
              <a:spLocks noChangeArrowheads="1"/>
            </p:cNvSpPr>
            <p:nvPr/>
          </p:nvSpPr>
          <p:spPr bwMode="auto">
            <a:xfrm>
              <a:off x="1520" y="2667"/>
              <a:ext cx="775" cy="314"/>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Line 48">
              <a:extLst>
                <a:ext uri="{FF2B5EF4-FFF2-40B4-BE49-F238E27FC236}">
                  <a16:creationId xmlns:a16="http://schemas.microsoft.com/office/drawing/2014/main" id="{0C662426-20CA-EB4C-561E-F60FDA6C8667}"/>
                </a:ext>
              </a:extLst>
            </p:cNvPr>
            <p:cNvSpPr>
              <a:spLocks noChangeShapeType="1"/>
            </p:cNvSpPr>
            <p:nvPr/>
          </p:nvSpPr>
          <p:spPr bwMode="auto">
            <a:xfrm>
              <a:off x="1525" y="2824"/>
              <a:ext cx="763" cy="1"/>
            </a:xfrm>
            <a:prstGeom prst="line">
              <a:avLst/>
            </a:prstGeom>
            <a:noFill/>
            <a:ln w="12700" cap="sq">
              <a:solidFill>
                <a:srgbClr val="222222"/>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nvGrpSpPr>
            <p:cNvPr id="15" name="Group 49">
              <a:extLst>
                <a:ext uri="{FF2B5EF4-FFF2-40B4-BE49-F238E27FC236}">
                  <a16:creationId xmlns:a16="http://schemas.microsoft.com/office/drawing/2014/main" id="{34D12E3C-BD24-B4B2-9BED-A238407FCFB3}"/>
                </a:ext>
              </a:extLst>
            </p:cNvPr>
            <p:cNvGrpSpPr>
              <a:grpSpLocks/>
            </p:cNvGrpSpPr>
            <p:nvPr/>
          </p:nvGrpSpPr>
          <p:grpSpPr bwMode="auto">
            <a:xfrm flipV="1">
              <a:off x="1806" y="2831"/>
              <a:ext cx="109" cy="97"/>
              <a:chOff x="720" y="3354"/>
              <a:chExt cx="192" cy="198"/>
            </a:xfrm>
          </p:grpSpPr>
          <p:sp>
            <p:nvSpPr>
              <p:cNvPr id="75" name="Oval 50">
                <a:extLst>
                  <a:ext uri="{FF2B5EF4-FFF2-40B4-BE49-F238E27FC236}">
                    <a16:creationId xmlns:a16="http://schemas.microsoft.com/office/drawing/2014/main" id="{1D2AECF8-633B-7C41-EECA-31FC6AFFBED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76" name="AutoShape 51">
                <a:extLst>
                  <a:ext uri="{FF2B5EF4-FFF2-40B4-BE49-F238E27FC236}">
                    <a16:creationId xmlns:a16="http://schemas.microsoft.com/office/drawing/2014/main" id="{D72773CA-EEF1-289A-EF47-3B561C7BAE1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22222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16" name="Text Box 52">
              <a:extLst>
                <a:ext uri="{FF2B5EF4-FFF2-40B4-BE49-F238E27FC236}">
                  <a16:creationId xmlns:a16="http://schemas.microsoft.com/office/drawing/2014/main" id="{13C578C0-8A8D-6105-A46E-FC9E1C21602D}"/>
                </a:ext>
              </a:extLst>
            </p:cNvPr>
            <p:cNvSpPr txBox="1">
              <a:spLocks noChangeArrowheads="1"/>
            </p:cNvSpPr>
            <p:nvPr/>
          </p:nvSpPr>
          <p:spPr bwMode="auto">
            <a:xfrm>
              <a:off x="1914" y="2829"/>
              <a:ext cx="23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 7</a:t>
              </a:r>
            </a:p>
          </p:txBody>
        </p:sp>
        <p:sp>
          <p:nvSpPr>
            <p:cNvPr id="17" name="Text Box 53">
              <a:extLst>
                <a:ext uri="{FF2B5EF4-FFF2-40B4-BE49-F238E27FC236}">
                  <a16:creationId xmlns:a16="http://schemas.microsoft.com/office/drawing/2014/main" id="{BAC2B45C-A260-80D7-6C27-18BA69B2BEE0}"/>
                </a:ext>
              </a:extLst>
            </p:cNvPr>
            <p:cNvSpPr txBox="1">
              <a:spLocks noChangeArrowheads="1"/>
            </p:cNvSpPr>
            <p:nvPr/>
          </p:nvSpPr>
          <p:spPr bwMode="auto">
            <a:xfrm>
              <a:off x="1559" y="2637"/>
              <a:ext cx="7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t>Data Entry &amp; Underwrite</a:t>
              </a:r>
            </a:p>
          </p:txBody>
        </p:sp>
      </p:grpSp>
      <p:sp>
        <p:nvSpPr>
          <p:cNvPr id="77" name="Rectangle 58">
            <a:extLst>
              <a:ext uri="{FF2B5EF4-FFF2-40B4-BE49-F238E27FC236}">
                <a16:creationId xmlns:a16="http://schemas.microsoft.com/office/drawing/2014/main" id="{F222E423-A05F-4CE2-6634-50DE040FBB05}"/>
              </a:ext>
            </a:extLst>
          </p:cNvPr>
          <p:cNvSpPr>
            <a:spLocks noChangeArrowheads="1"/>
          </p:cNvSpPr>
          <p:nvPr/>
        </p:nvSpPr>
        <p:spPr bwMode="auto">
          <a:xfrm>
            <a:off x="4790512" y="5174167"/>
            <a:ext cx="1135520" cy="492125"/>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78" name="Group 59">
            <a:extLst>
              <a:ext uri="{FF2B5EF4-FFF2-40B4-BE49-F238E27FC236}">
                <a16:creationId xmlns:a16="http://schemas.microsoft.com/office/drawing/2014/main" id="{799C8A91-246B-58FC-7FCF-7FAA7CA18F4D}"/>
              </a:ext>
            </a:extLst>
          </p:cNvPr>
          <p:cNvGrpSpPr>
            <a:grpSpLocks/>
          </p:cNvGrpSpPr>
          <p:nvPr/>
        </p:nvGrpSpPr>
        <p:grpSpPr bwMode="auto">
          <a:xfrm>
            <a:off x="4728018" y="5170992"/>
            <a:ext cx="1328738" cy="511175"/>
            <a:chOff x="4841" y="3355"/>
            <a:chExt cx="483" cy="374"/>
          </a:xfrm>
        </p:grpSpPr>
        <p:sp>
          <p:nvSpPr>
            <p:cNvPr id="79" name="Text Box 60">
              <a:extLst>
                <a:ext uri="{FF2B5EF4-FFF2-40B4-BE49-F238E27FC236}">
                  <a16:creationId xmlns:a16="http://schemas.microsoft.com/office/drawing/2014/main" id="{1F94D199-DF8B-6968-D0DC-9E4E0837C32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solidFill>
                  <a:srgbClr val="FF0000"/>
                </a:solidFill>
              </a:endParaRPr>
            </a:p>
          </p:txBody>
        </p:sp>
        <p:sp>
          <p:nvSpPr>
            <p:cNvPr id="80" name="Text Box 61">
              <a:extLst>
                <a:ext uri="{FF2B5EF4-FFF2-40B4-BE49-F238E27FC236}">
                  <a16:creationId xmlns:a16="http://schemas.microsoft.com/office/drawing/2014/main" id="{7D5ED516-07E8-5829-6A35-C455222D9930}"/>
                </a:ext>
              </a:extLst>
            </p:cNvPr>
            <p:cNvSpPr txBox="1">
              <a:spLocks noChangeArrowheads="1"/>
            </p:cNvSpPr>
            <p:nvPr/>
          </p:nvSpPr>
          <p:spPr bwMode="auto">
            <a:xfrm>
              <a:off x="4841" y="3511"/>
              <a:ext cx="48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Quality = 98%</a:t>
              </a:r>
            </a:p>
          </p:txBody>
        </p:sp>
        <p:sp>
          <p:nvSpPr>
            <p:cNvPr id="81" name="Rectangle 62">
              <a:extLst>
                <a:ext uri="{FF2B5EF4-FFF2-40B4-BE49-F238E27FC236}">
                  <a16:creationId xmlns:a16="http://schemas.microsoft.com/office/drawing/2014/main" id="{6A247257-7C7C-A477-4528-19D9116CCD8E}"/>
                </a:ext>
              </a:extLst>
            </p:cNvPr>
            <p:cNvSpPr>
              <a:spLocks noChangeArrowheads="1"/>
            </p:cNvSpPr>
            <p:nvPr/>
          </p:nvSpPr>
          <p:spPr bwMode="auto">
            <a:xfrm>
              <a:off x="4841" y="3355"/>
              <a:ext cx="44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Processing Time = 1,500</a:t>
              </a:r>
              <a:r>
                <a:rPr lang="ja-JP" altLang="en-US" sz="700" b="0"/>
                <a:t>”</a:t>
              </a:r>
              <a:endParaRPr lang="en-US" altLang="en-US" sz="700" b="0" dirty="0"/>
            </a:p>
          </p:txBody>
        </p:sp>
        <p:sp>
          <p:nvSpPr>
            <p:cNvPr id="82" name="Rectangle 63">
              <a:extLst>
                <a:ext uri="{FF2B5EF4-FFF2-40B4-BE49-F238E27FC236}">
                  <a16:creationId xmlns:a16="http://schemas.microsoft.com/office/drawing/2014/main" id="{AD20EA79-3DF3-2B6B-9CAD-DAE809BED08C}"/>
                </a:ext>
              </a:extLst>
            </p:cNvPr>
            <p:cNvSpPr>
              <a:spLocks noChangeArrowheads="1"/>
            </p:cNvSpPr>
            <p:nvPr/>
          </p:nvSpPr>
          <p:spPr bwMode="auto">
            <a:xfrm>
              <a:off x="4841" y="3437"/>
              <a:ext cx="22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DOI = 230"</a:t>
              </a:r>
            </a:p>
          </p:txBody>
        </p:sp>
      </p:grpSp>
      <p:grpSp>
        <p:nvGrpSpPr>
          <p:cNvPr id="83" name="Group 65">
            <a:extLst>
              <a:ext uri="{FF2B5EF4-FFF2-40B4-BE49-F238E27FC236}">
                <a16:creationId xmlns:a16="http://schemas.microsoft.com/office/drawing/2014/main" id="{A1A93E8F-782A-1A6F-3EB8-D536CDD8D7BD}"/>
              </a:ext>
            </a:extLst>
          </p:cNvPr>
          <p:cNvGrpSpPr>
            <a:grpSpLocks/>
          </p:cNvGrpSpPr>
          <p:nvPr/>
        </p:nvGrpSpPr>
        <p:grpSpPr bwMode="auto">
          <a:xfrm rot="2889621" flipV="1">
            <a:off x="5498749" y="4427249"/>
            <a:ext cx="212725" cy="115888"/>
            <a:chOff x="636" y="2054"/>
            <a:chExt cx="200" cy="298"/>
          </a:xfrm>
        </p:grpSpPr>
        <p:sp>
          <p:nvSpPr>
            <p:cNvPr id="84" name="Line 66">
              <a:extLst>
                <a:ext uri="{FF2B5EF4-FFF2-40B4-BE49-F238E27FC236}">
                  <a16:creationId xmlns:a16="http://schemas.microsoft.com/office/drawing/2014/main" id="{91F362D8-DEE4-45E3-3BF2-6D03CD384545}"/>
                </a:ext>
              </a:extLst>
            </p:cNvPr>
            <p:cNvSpPr>
              <a:spLocks noChangeShapeType="1"/>
            </p:cNvSpPr>
            <p:nvPr/>
          </p:nvSpPr>
          <p:spPr bwMode="auto">
            <a:xfrm flipV="1">
              <a:off x="740" y="2054"/>
              <a:ext cx="96" cy="192"/>
            </a:xfrm>
            <a:prstGeom prst="line">
              <a:avLst/>
            </a:prstGeom>
            <a:noFill/>
            <a:ln w="12700" cap="sq">
              <a:solidFill>
                <a:srgbClr val="FF0000"/>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85" name="Line 67">
              <a:extLst>
                <a:ext uri="{FF2B5EF4-FFF2-40B4-BE49-F238E27FC236}">
                  <a16:creationId xmlns:a16="http://schemas.microsoft.com/office/drawing/2014/main" id="{84666961-9A63-5CCD-1802-D9542EDFF045}"/>
                </a:ext>
              </a:extLst>
            </p:cNvPr>
            <p:cNvSpPr>
              <a:spLocks noChangeShapeType="1"/>
            </p:cNvSpPr>
            <p:nvPr/>
          </p:nvSpPr>
          <p:spPr bwMode="auto">
            <a:xfrm>
              <a:off x="732" y="2160"/>
              <a:ext cx="6" cy="90"/>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86" name="Line 68">
              <a:extLst>
                <a:ext uri="{FF2B5EF4-FFF2-40B4-BE49-F238E27FC236}">
                  <a16:creationId xmlns:a16="http://schemas.microsoft.com/office/drawing/2014/main" id="{059026AD-665C-C5E4-7EA9-2FF77855E1A2}"/>
                </a:ext>
              </a:extLst>
            </p:cNvPr>
            <p:cNvSpPr>
              <a:spLocks noChangeShapeType="1"/>
            </p:cNvSpPr>
            <p:nvPr/>
          </p:nvSpPr>
          <p:spPr bwMode="auto">
            <a:xfrm flipV="1">
              <a:off x="636" y="2160"/>
              <a:ext cx="96" cy="192"/>
            </a:xfrm>
            <a:prstGeom prst="line">
              <a:avLst/>
            </a:prstGeom>
            <a:noFill/>
            <a:ln w="12700" cap="sq">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88" name="Rectangle 181">
            <a:extLst>
              <a:ext uri="{FF2B5EF4-FFF2-40B4-BE49-F238E27FC236}">
                <a16:creationId xmlns:a16="http://schemas.microsoft.com/office/drawing/2014/main" id="{71C68F8F-D91A-C69C-3C6A-9F8FBDB9353D}"/>
              </a:ext>
            </a:extLst>
          </p:cNvPr>
          <p:cNvSpPr>
            <a:spLocks noChangeArrowheads="1"/>
          </p:cNvSpPr>
          <p:nvPr/>
        </p:nvSpPr>
        <p:spPr bwMode="auto">
          <a:xfrm>
            <a:off x="2962628" y="1845889"/>
            <a:ext cx="4889952" cy="1570890"/>
          </a:xfrm>
          <a:prstGeom prst="rect">
            <a:avLst/>
          </a:prstGeom>
          <a:solidFill>
            <a:srgbClr val="FFB627"/>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Establish upper size limits for Visually Managed Queues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Note: Batch timing, resources, capacity, and flow will drive queue sizes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Calculate lead times based on upper size limit of queue </a:t>
            </a:r>
            <a:br>
              <a:rPr lang="en-US" altLang="en-US" sz="1100" dirty="0">
                <a:latin typeface="Roboto" panose="02000000000000000000" pitchFamily="2" charset="0"/>
                <a:ea typeface="Roboto" panose="02000000000000000000" pitchFamily="2" charset="0"/>
                <a:cs typeface="Roboto" panose="02000000000000000000" pitchFamily="2" charset="0"/>
              </a:rPr>
            </a:br>
            <a:r>
              <a:rPr lang="en-US" altLang="en-US" sz="1100" dirty="0">
                <a:latin typeface="Roboto" panose="02000000000000000000" pitchFamily="2" charset="0"/>
                <a:ea typeface="Roboto" panose="02000000000000000000" pitchFamily="2" charset="0"/>
                <a:cs typeface="Roboto" panose="02000000000000000000" pitchFamily="2" charset="0"/>
              </a:rPr>
              <a:t>(based on buffer theory the queue will average 1/2 full ~ 32 envelopes)</a:t>
            </a:r>
          </a:p>
          <a:p>
            <a:pPr>
              <a:spcBef>
                <a:spcPct val="0"/>
              </a:spcBef>
              <a:buClrTx/>
              <a:buSzTx/>
              <a:buFontTx/>
              <a:buNone/>
            </a:pPr>
            <a:r>
              <a:rPr lang="en-US" altLang="en-US" sz="1100" dirty="0">
                <a:latin typeface="Roboto" panose="02000000000000000000" pitchFamily="2" charset="0"/>
                <a:ea typeface="Roboto" panose="02000000000000000000" pitchFamily="2" charset="0"/>
                <a:cs typeface="Roboto" panose="02000000000000000000" pitchFamily="2" charset="0"/>
              </a:rPr>
              <a:t>Use the queue size and status to manage staffing for mail reception</a:t>
            </a:r>
          </a:p>
        </p:txBody>
      </p:sp>
      <p:grpSp>
        <p:nvGrpSpPr>
          <p:cNvPr id="101" name="Group 100">
            <a:extLst>
              <a:ext uri="{FF2B5EF4-FFF2-40B4-BE49-F238E27FC236}">
                <a16:creationId xmlns:a16="http://schemas.microsoft.com/office/drawing/2014/main" id="{C65D52A7-AB3D-6FF9-3C5B-DACF40C2D7C6}"/>
              </a:ext>
            </a:extLst>
          </p:cNvPr>
          <p:cNvGrpSpPr/>
          <p:nvPr/>
        </p:nvGrpSpPr>
        <p:grpSpPr>
          <a:xfrm>
            <a:off x="6315205" y="4529272"/>
            <a:ext cx="1292924" cy="1389995"/>
            <a:chOff x="8538106" y="4228532"/>
            <a:chExt cx="1292924" cy="1389995"/>
          </a:xfrm>
        </p:grpSpPr>
        <p:grpSp>
          <p:nvGrpSpPr>
            <p:cNvPr id="102" name="Group 101">
              <a:extLst>
                <a:ext uri="{FF2B5EF4-FFF2-40B4-BE49-F238E27FC236}">
                  <a16:creationId xmlns:a16="http://schemas.microsoft.com/office/drawing/2014/main" id="{DB342FD3-B6BF-F4E7-3E12-56C919D7162D}"/>
                </a:ext>
              </a:extLst>
            </p:cNvPr>
            <p:cNvGrpSpPr/>
            <p:nvPr/>
          </p:nvGrpSpPr>
          <p:grpSpPr>
            <a:xfrm>
              <a:off x="8550974" y="4228532"/>
              <a:ext cx="1066101" cy="811908"/>
              <a:chOff x="8550974" y="4228532"/>
              <a:chExt cx="1066101" cy="811908"/>
            </a:xfrm>
          </p:grpSpPr>
          <p:sp>
            <p:nvSpPr>
              <p:cNvPr id="107" name="Rectangle 69">
                <a:extLst>
                  <a:ext uri="{FF2B5EF4-FFF2-40B4-BE49-F238E27FC236}">
                    <a16:creationId xmlns:a16="http://schemas.microsoft.com/office/drawing/2014/main" id="{2E7284A1-31EB-4437-C66F-C44ED64EA43E}"/>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Line 70">
                <a:extLst>
                  <a:ext uri="{FF2B5EF4-FFF2-40B4-BE49-F238E27FC236}">
                    <a16:creationId xmlns:a16="http://schemas.microsoft.com/office/drawing/2014/main" id="{2FB3277C-0A80-FB4C-3E70-E562260F8DE9}"/>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09" name="Text Box 71">
                <a:extLst>
                  <a:ext uri="{FF2B5EF4-FFF2-40B4-BE49-F238E27FC236}">
                    <a16:creationId xmlns:a16="http://schemas.microsoft.com/office/drawing/2014/main" id="{01A4B12F-A00C-B853-9FCE-2D0461C34FFC}"/>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10" name="Group 72">
                <a:extLst>
                  <a:ext uri="{FF2B5EF4-FFF2-40B4-BE49-F238E27FC236}">
                    <a16:creationId xmlns:a16="http://schemas.microsoft.com/office/drawing/2014/main" id="{41BC2C74-F8DA-8F3A-6B89-D192D72838FE}"/>
                  </a:ext>
                </a:extLst>
              </p:cNvPr>
              <p:cNvGrpSpPr>
                <a:grpSpLocks/>
              </p:cNvGrpSpPr>
              <p:nvPr/>
            </p:nvGrpSpPr>
            <p:grpSpPr bwMode="auto">
              <a:xfrm flipV="1">
                <a:off x="8729819" y="4659836"/>
                <a:ext cx="269429" cy="284707"/>
                <a:chOff x="720" y="3354"/>
                <a:chExt cx="192" cy="198"/>
              </a:xfrm>
            </p:grpSpPr>
            <p:sp>
              <p:nvSpPr>
                <p:cNvPr id="112" name="Oval 73">
                  <a:extLst>
                    <a:ext uri="{FF2B5EF4-FFF2-40B4-BE49-F238E27FC236}">
                      <a16:creationId xmlns:a16="http://schemas.microsoft.com/office/drawing/2014/main" id="{A2EA520C-6953-8CEA-A079-3F9677001C2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3" name="AutoShape 74">
                  <a:extLst>
                    <a:ext uri="{FF2B5EF4-FFF2-40B4-BE49-F238E27FC236}">
                      <a16:creationId xmlns:a16="http://schemas.microsoft.com/office/drawing/2014/main" id="{D58C4A61-3073-C428-C2FB-9F6C5D66BE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11" name="Text Box 75">
                <a:extLst>
                  <a:ext uri="{FF2B5EF4-FFF2-40B4-BE49-F238E27FC236}">
                    <a16:creationId xmlns:a16="http://schemas.microsoft.com/office/drawing/2014/main" id="{49D6D1A6-28E0-0EF1-8775-2C5AE2DD2635}"/>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1</a:t>
                </a:r>
              </a:p>
            </p:txBody>
          </p:sp>
        </p:grpSp>
        <p:sp>
          <p:nvSpPr>
            <p:cNvPr id="103" name="Rectangle 348">
              <a:extLst>
                <a:ext uri="{FF2B5EF4-FFF2-40B4-BE49-F238E27FC236}">
                  <a16:creationId xmlns:a16="http://schemas.microsoft.com/office/drawing/2014/main" id="{E09DDCCF-DE58-75BC-8B45-E2E918AFE1F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4" name="Text Box 351">
              <a:extLst>
                <a:ext uri="{FF2B5EF4-FFF2-40B4-BE49-F238E27FC236}">
                  <a16:creationId xmlns:a16="http://schemas.microsoft.com/office/drawing/2014/main" id="{825067FD-1777-2C1A-F169-67905F921E4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05" name="Rectangle 352">
              <a:extLst>
                <a:ext uri="{FF2B5EF4-FFF2-40B4-BE49-F238E27FC236}">
                  <a16:creationId xmlns:a16="http://schemas.microsoft.com/office/drawing/2014/main" id="{B4180EC6-7314-85DC-6098-009445324DA0}"/>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6" name="Rectangle 353">
              <a:extLst>
                <a:ext uri="{FF2B5EF4-FFF2-40B4-BE49-F238E27FC236}">
                  <a16:creationId xmlns:a16="http://schemas.microsoft.com/office/drawing/2014/main" id="{F4187A6B-9B9F-AAAC-D9EC-4AB77CA46D18}"/>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1" name="Group 140">
            <a:extLst>
              <a:ext uri="{FF2B5EF4-FFF2-40B4-BE49-F238E27FC236}">
                <a16:creationId xmlns:a16="http://schemas.microsoft.com/office/drawing/2014/main" id="{06E7EA4F-DDFA-9838-4B47-60FF9D7BDDC4}"/>
              </a:ext>
            </a:extLst>
          </p:cNvPr>
          <p:cNvGrpSpPr/>
          <p:nvPr/>
        </p:nvGrpSpPr>
        <p:grpSpPr>
          <a:xfrm>
            <a:off x="3250993" y="4548579"/>
            <a:ext cx="1292924" cy="1389995"/>
            <a:chOff x="8538106" y="4228532"/>
            <a:chExt cx="1292924" cy="1389995"/>
          </a:xfrm>
        </p:grpSpPr>
        <p:grpSp>
          <p:nvGrpSpPr>
            <p:cNvPr id="142" name="Group 141">
              <a:extLst>
                <a:ext uri="{FF2B5EF4-FFF2-40B4-BE49-F238E27FC236}">
                  <a16:creationId xmlns:a16="http://schemas.microsoft.com/office/drawing/2014/main" id="{142DCCAE-16A6-EA37-D4FE-22D7699143C2}"/>
                </a:ext>
              </a:extLst>
            </p:cNvPr>
            <p:cNvGrpSpPr/>
            <p:nvPr/>
          </p:nvGrpSpPr>
          <p:grpSpPr>
            <a:xfrm>
              <a:off x="8550974" y="4228532"/>
              <a:ext cx="1066101" cy="811908"/>
              <a:chOff x="8550974" y="4228532"/>
              <a:chExt cx="1066101" cy="811908"/>
            </a:xfrm>
          </p:grpSpPr>
          <p:sp>
            <p:nvSpPr>
              <p:cNvPr id="147" name="Rectangle 69">
                <a:extLst>
                  <a:ext uri="{FF2B5EF4-FFF2-40B4-BE49-F238E27FC236}">
                    <a16:creationId xmlns:a16="http://schemas.microsoft.com/office/drawing/2014/main" id="{A5DD8DC5-EAB4-90CF-994D-878ED9F3C71A}"/>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8" name="Line 70">
                <a:extLst>
                  <a:ext uri="{FF2B5EF4-FFF2-40B4-BE49-F238E27FC236}">
                    <a16:creationId xmlns:a16="http://schemas.microsoft.com/office/drawing/2014/main" id="{9047493B-163C-3D4A-34D6-DDD5C364BE7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49" name="Text Box 71">
                <a:extLst>
                  <a:ext uri="{FF2B5EF4-FFF2-40B4-BE49-F238E27FC236}">
                    <a16:creationId xmlns:a16="http://schemas.microsoft.com/office/drawing/2014/main" id="{4E1A3E4F-62AF-38A4-2C5F-DF7FC13B0F6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50" name="Group 72">
                <a:extLst>
                  <a:ext uri="{FF2B5EF4-FFF2-40B4-BE49-F238E27FC236}">
                    <a16:creationId xmlns:a16="http://schemas.microsoft.com/office/drawing/2014/main" id="{64A9EFDB-5880-9C32-D0F2-634930450EDD}"/>
                  </a:ext>
                </a:extLst>
              </p:cNvPr>
              <p:cNvGrpSpPr>
                <a:grpSpLocks/>
              </p:cNvGrpSpPr>
              <p:nvPr/>
            </p:nvGrpSpPr>
            <p:grpSpPr bwMode="auto">
              <a:xfrm flipV="1">
                <a:off x="8729819" y="4659836"/>
                <a:ext cx="269429" cy="284707"/>
                <a:chOff x="720" y="3354"/>
                <a:chExt cx="192" cy="198"/>
              </a:xfrm>
            </p:grpSpPr>
            <p:sp>
              <p:nvSpPr>
                <p:cNvPr id="152" name="Oval 73">
                  <a:extLst>
                    <a:ext uri="{FF2B5EF4-FFF2-40B4-BE49-F238E27FC236}">
                      <a16:creationId xmlns:a16="http://schemas.microsoft.com/office/drawing/2014/main" id="{44D25379-5789-5D8C-DEAD-EE03F7DA0CB8}"/>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3" name="AutoShape 74">
                  <a:extLst>
                    <a:ext uri="{FF2B5EF4-FFF2-40B4-BE49-F238E27FC236}">
                      <a16:creationId xmlns:a16="http://schemas.microsoft.com/office/drawing/2014/main" id="{F43342DC-1F84-211F-32E4-B79B9F73BE99}"/>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1" name="Text Box 75">
                <a:extLst>
                  <a:ext uri="{FF2B5EF4-FFF2-40B4-BE49-F238E27FC236}">
                    <a16:creationId xmlns:a16="http://schemas.microsoft.com/office/drawing/2014/main" id="{2F9B827D-BEED-7B24-4DE5-83A40F27E4EF}"/>
                  </a:ext>
                </a:extLst>
              </p:cNvPr>
              <p:cNvSpPr txBox="1">
                <a:spLocks noChangeArrowheads="1"/>
              </p:cNvSpPr>
              <p:nvPr/>
            </p:nvSpPr>
            <p:spPr bwMode="auto">
              <a:xfrm>
                <a:off x="9014603" y="4619164"/>
                <a:ext cx="498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b="0" dirty="0">
                    <a:latin typeface="Roboto" panose="02000000000000000000" pitchFamily="2" charset="0"/>
                    <a:ea typeface="Roboto" panose="02000000000000000000" pitchFamily="2" charset="0"/>
                    <a:cs typeface="Roboto" panose="02000000000000000000" pitchFamily="2" charset="0"/>
                  </a:rPr>
                  <a:t>= 2</a:t>
                </a:r>
              </a:p>
            </p:txBody>
          </p:sp>
        </p:grpSp>
        <p:sp>
          <p:nvSpPr>
            <p:cNvPr id="143" name="Rectangle 348">
              <a:extLst>
                <a:ext uri="{FF2B5EF4-FFF2-40B4-BE49-F238E27FC236}">
                  <a16:creationId xmlns:a16="http://schemas.microsoft.com/office/drawing/2014/main" id="{6A2B63CC-4B80-75D5-D057-F0B8EA54B30B}"/>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4" name="Text Box 351">
              <a:extLst>
                <a:ext uri="{FF2B5EF4-FFF2-40B4-BE49-F238E27FC236}">
                  <a16:creationId xmlns:a16="http://schemas.microsoft.com/office/drawing/2014/main" id="{D4413699-5A7E-90A0-3E9E-5987A32AC702}"/>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45" name="Rectangle 352">
              <a:extLst>
                <a:ext uri="{FF2B5EF4-FFF2-40B4-BE49-F238E27FC236}">
                  <a16:creationId xmlns:a16="http://schemas.microsoft.com/office/drawing/2014/main" id="{5AAAEC90-F813-3006-AF9C-E48FF7F21498}"/>
                </a:ext>
              </a:extLst>
            </p:cNvPr>
            <p:cNvSpPr>
              <a:spLocks noChangeArrowheads="1"/>
            </p:cNvSpPr>
            <p:nvPr/>
          </p:nvSpPr>
          <p:spPr bwMode="auto">
            <a:xfrm>
              <a:off x="8546082" y="504897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6" name="Rectangle 353">
              <a:extLst>
                <a:ext uri="{FF2B5EF4-FFF2-40B4-BE49-F238E27FC236}">
                  <a16:creationId xmlns:a16="http://schemas.microsoft.com/office/drawing/2014/main" id="{3521151A-9640-5D07-C25D-ACA16B68F905}"/>
                </a:ext>
              </a:extLst>
            </p:cNvPr>
            <p:cNvSpPr>
              <a:spLocks noChangeArrowheads="1"/>
            </p:cNvSpPr>
            <p:nvPr/>
          </p:nvSpPr>
          <p:spPr bwMode="auto">
            <a:xfrm>
              <a:off x="8562280" y="521734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54" name="Group 226">
            <a:extLst>
              <a:ext uri="{FF2B5EF4-FFF2-40B4-BE49-F238E27FC236}">
                <a16:creationId xmlns:a16="http://schemas.microsoft.com/office/drawing/2014/main" id="{615B5CE8-3FAA-4F5A-43D4-61CD910F4CA0}"/>
              </a:ext>
            </a:extLst>
          </p:cNvPr>
          <p:cNvGrpSpPr>
            <a:grpSpLocks/>
          </p:cNvGrpSpPr>
          <p:nvPr/>
        </p:nvGrpSpPr>
        <p:grpSpPr bwMode="auto">
          <a:xfrm rot="14945091" flipV="1">
            <a:off x="5103126" y="4426412"/>
            <a:ext cx="212725" cy="115888"/>
            <a:chOff x="636" y="2054"/>
            <a:chExt cx="200" cy="298"/>
          </a:xfrm>
        </p:grpSpPr>
        <p:sp>
          <p:nvSpPr>
            <p:cNvPr id="155" name="Line 227">
              <a:extLst>
                <a:ext uri="{FF2B5EF4-FFF2-40B4-BE49-F238E27FC236}">
                  <a16:creationId xmlns:a16="http://schemas.microsoft.com/office/drawing/2014/main" id="{CBBC72E0-F5BF-7FE9-4077-DC3735C95581}"/>
                </a:ext>
              </a:extLst>
            </p:cNvPr>
            <p:cNvSpPr>
              <a:spLocks noChangeShapeType="1"/>
            </p:cNvSpPr>
            <p:nvPr/>
          </p:nvSpPr>
          <p:spPr bwMode="auto">
            <a:xfrm flipV="1">
              <a:off x="740" y="2054"/>
              <a:ext cx="96" cy="192"/>
            </a:xfrm>
            <a:prstGeom prst="line">
              <a:avLst/>
            </a:prstGeom>
            <a:noFill/>
            <a:ln w="12700" cap="sq">
              <a:solidFill>
                <a:srgbClr val="EE3228"/>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56" name="Line 228">
              <a:extLst>
                <a:ext uri="{FF2B5EF4-FFF2-40B4-BE49-F238E27FC236}">
                  <a16:creationId xmlns:a16="http://schemas.microsoft.com/office/drawing/2014/main" id="{B8989CFC-4494-3519-3C5F-A47A88B24FE1}"/>
                </a:ext>
              </a:extLst>
            </p:cNvPr>
            <p:cNvSpPr>
              <a:spLocks noChangeShapeType="1"/>
            </p:cNvSpPr>
            <p:nvPr/>
          </p:nvSpPr>
          <p:spPr bwMode="auto">
            <a:xfrm>
              <a:off x="732" y="2160"/>
              <a:ext cx="6" cy="90"/>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57" name="Line 229">
              <a:extLst>
                <a:ext uri="{FF2B5EF4-FFF2-40B4-BE49-F238E27FC236}">
                  <a16:creationId xmlns:a16="http://schemas.microsoft.com/office/drawing/2014/main" id="{C690C826-DCE2-FDB6-B75D-1AAB5F7711F2}"/>
                </a:ext>
              </a:extLst>
            </p:cNvPr>
            <p:cNvSpPr>
              <a:spLocks noChangeShapeType="1"/>
            </p:cNvSpPr>
            <p:nvPr/>
          </p:nvSpPr>
          <p:spPr bwMode="auto">
            <a:xfrm flipV="1">
              <a:off x="636" y="2160"/>
              <a:ext cx="96" cy="192"/>
            </a:xfrm>
            <a:prstGeom prst="line">
              <a:avLst/>
            </a:prstGeom>
            <a:noFill/>
            <a:ln w="12700" cap="sq">
              <a:solidFill>
                <a:srgbClr val="EE3228"/>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58" name="Text Box 46">
            <a:extLst>
              <a:ext uri="{FF2B5EF4-FFF2-40B4-BE49-F238E27FC236}">
                <a16:creationId xmlns:a16="http://schemas.microsoft.com/office/drawing/2014/main" id="{035F8F44-F566-590E-9A6D-F74E0878939A}"/>
              </a:ext>
            </a:extLst>
          </p:cNvPr>
          <p:cNvSpPr txBox="1">
            <a:spLocks noChangeArrowheads="1"/>
          </p:cNvSpPr>
          <p:nvPr/>
        </p:nvSpPr>
        <p:spPr bwMode="auto">
          <a:xfrm>
            <a:off x="9410905" y="4481997"/>
            <a:ext cx="10033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dirty="0">
                <a:solidFill>
                  <a:srgbClr val="EE3228"/>
                </a:solidFill>
                <a:latin typeface="Roboto" panose="02000000000000000000" pitchFamily="2" charset="0"/>
                <a:ea typeface="Roboto" panose="02000000000000000000" pitchFamily="2" charset="0"/>
                <a:cs typeface="Roboto" panose="02000000000000000000" pitchFamily="2" charset="0"/>
              </a:rPr>
              <a:t>Target Lead Time Established by Policy at ½ day</a:t>
            </a:r>
          </a:p>
        </p:txBody>
      </p:sp>
      <p:sp>
        <p:nvSpPr>
          <p:cNvPr id="159" name="Text Box 46">
            <a:extLst>
              <a:ext uri="{FF2B5EF4-FFF2-40B4-BE49-F238E27FC236}">
                <a16:creationId xmlns:a16="http://schemas.microsoft.com/office/drawing/2014/main" id="{70E20DB7-BF6D-90C7-B871-99C2ED097692}"/>
              </a:ext>
            </a:extLst>
          </p:cNvPr>
          <p:cNvSpPr txBox="1">
            <a:spLocks noChangeArrowheads="1"/>
          </p:cNvSpPr>
          <p:nvPr/>
        </p:nvSpPr>
        <p:spPr bwMode="auto">
          <a:xfrm>
            <a:off x="699296" y="4368583"/>
            <a:ext cx="1003300"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800" dirty="0">
                <a:solidFill>
                  <a:srgbClr val="FF0000"/>
                </a:solidFill>
              </a:rPr>
              <a:t>Target Lead Time Established by Policy at ½ day.</a:t>
            </a:r>
          </a:p>
        </p:txBody>
      </p:sp>
      <p:sp>
        <p:nvSpPr>
          <p:cNvPr id="164" name="Line 268">
            <a:extLst>
              <a:ext uri="{FF2B5EF4-FFF2-40B4-BE49-F238E27FC236}">
                <a16:creationId xmlns:a16="http://schemas.microsoft.com/office/drawing/2014/main" id="{CE5C4FF5-4670-1421-74DE-78D9F9310737}"/>
              </a:ext>
            </a:extLst>
          </p:cNvPr>
          <p:cNvSpPr>
            <a:spLocks noChangeShapeType="1"/>
          </p:cNvSpPr>
          <p:nvPr/>
        </p:nvSpPr>
        <p:spPr bwMode="auto">
          <a:xfrm>
            <a:off x="5901244"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5" name="Line 269">
            <a:extLst>
              <a:ext uri="{FF2B5EF4-FFF2-40B4-BE49-F238E27FC236}">
                <a16:creationId xmlns:a16="http://schemas.microsoft.com/office/drawing/2014/main" id="{D51837C8-3467-ECEA-C43F-ED3AFD89F404}"/>
              </a:ext>
            </a:extLst>
          </p:cNvPr>
          <p:cNvSpPr>
            <a:spLocks noChangeShapeType="1"/>
          </p:cNvSpPr>
          <p:nvPr/>
        </p:nvSpPr>
        <p:spPr bwMode="auto">
          <a:xfrm>
            <a:off x="4650294"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66" name="AutoShape 270">
            <a:extLst>
              <a:ext uri="{FF2B5EF4-FFF2-40B4-BE49-F238E27FC236}">
                <a16:creationId xmlns:a16="http://schemas.microsoft.com/office/drawing/2014/main" id="{644A251D-3EB0-463F-B6BF-CD49F21CEFC2}"/>
              </a:ext>
            </a:extLst>
          </p:cNvPr>
          <p:cNvCxnSpPr>
            <a:cxnSpLocks noChangeShapeType="1"/>
            <a:stCxn id="165" idx="1"/>
            <a:endCxn id="164" idx="1"/>
          </p:cNvCxnSpPr>
          <p:nvPr/>
        </p:nvCxnSpPr>
        <p:spPr bwMode="auto">
          <a:xfrm>
            <a:off x="4650294" y="6321887"/>
            <a:ext cx="1250950"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67" name="Rectangle 271">
            <a:extLst>
              <a:ext uri="{FF2B5EF4-FFF2-40B4-BE49-F238E27FC236}">
                <a16:creationId xmlns:a16="http://schemas.microsoft.com/office/drawing/2014/main" id="{27BF1039-8E7A-B34A-A569-52D02243C751}"/>
              </a:ext>
            </a:extLst>
          </p:cNvPr>
          <p:cNvSpPr>
            <a:spLocks noChangeArrowheads="1"/>
          </p:cNvSpPr>
          <p:nvPr/>
        </p:nvSpPr>
        <p:spPr bwMode="auto">
          <a:xfrm>
            <a:off x="4974144" y="6129799"/>
            <a:ext cx="6492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1,500 sec</a:t>
            </a:r>
          </a:p>
        </p:txBody>
      </p:sp>
      <p:sp>
        <p:nvSpPr>
          <p:cNvPr id="168" name="Line 299">
            <a:extLst>
              <a:ext uri="{FF2B5EF4-FFF2-40B4-BE49-F238E27FC236}">
                <a16:creationId xmlns:a16="http://schemas.microsoft.com/office/drawing/2014/main" id="{81F7D6D1-559F-B21F-F28D-C087E77D1080}"/>
              </a:ext>
            </a:extLst>
          </p:cNvPr>
          <p:cNvSpPr>
            <a:spLocks noChangeShapeType="1"/>
          </p:cNvSpPr>
          <p:nvPr/>
        </p:nvSpPr>
        <p:spPr bwMode="auto">
          <a:xfrm>
            <a:off x="3388231"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9" name="Line 300">
            <a:extLst>
              <a:ext uri="{FF2B5EF4-FFF2-40B4-BE49-F238E27FC236}">
                <a16:creationId xmlns:a16="http://schemas.microsoft.com/office/drawing/2014/main" id="{24388188-58D4-A17D-3CC1-9A079642805F}"/>
              </a:ext>
            </a:extLst>
          </p:cNvPr>
          <p:cNvSpPr>
            <a:spLocks noChangeShapeType="1"/>
          </p:cNvSpPr>
          <p:nvPr/>
        </p:nvSpPr>
        <p:spPr bwMode="auto">
          <a:xfrm>
            <a:off x="4089906"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0" name="AutoShape 316">
            <a:extLst>
              <a:ext uri="{FF2B5EF4-FFF2-40B4-BE49-F238E27FC236}">
                <a16:creationId xmlns:a16="http://schemas.microsoft.com/office/drawing/2014/main" id="{09DEE2B7-7796-31E1-B04A-3DA4B3BF7527}"/>
              </a:ext>
            </a:extLst>
          </p:cNvPr>
          <p:cNvCxnSpPr>
            <a:cxnSpLocks noChangeShapeType="1"/>
            <a:stCxn id="168" idx="1"/>
            <a:endCxn id="169" idx="1"/>
          </p:cNvCxnSpPr>
          <p:nvPr/>
        </p:nvCxnSpPr>
        <p:spPr bwMode="auto">
          <a:xfrm>
            <a:off x="3388231" y="6321887"/>
            <a:ext cx="701675"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1" name="Rectangle 317">
            <a:extLst>
              <a:ext uri="{FF2B5EF4-FFF2-40B4-BE49-F238E27FC236}">
                <a16:creationId xmlns:a16="http://schemas.microsoft.com/office/drawing/2014/main" id="{8C1421D8-0767-E559-3265-FCCB70971A5C}"/>
              </a:ext>
            </a:extLst>
          </p:cNvPr>
          <p:cNvSpPr>
            <a:spLocks noChangeArrowheads="1"/>
          </p:cNvSpPr>
          <p:nvPr/>
        </p:nvSpPr>
        <p:spPr bwMode="auto">
          <a:xfrm>
            <a:off x="3473956" y="6129799"/>
            <a:ext cx="511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 sec</a:t>
            </a:r>
          </a:p>
        </p:txBody>
      </p:sp>
      <p:sp>
        <p:nvSpPr>
          <p:cNvPr id="172" name="Rectangle 318">
            <a:extLst>
              <a:ext uri="{FF2B5EF4-FFF2-40B4-BE49-F238E27FC236}">
                <a16:creationId xmlns:a16="http://schemas.microsoft.com/office/drawing/2014/main" id="{DC5FCBF6-A6CD-A26D-31B0-992B8C7937F7}"/>
              </a:ext>
            </a:extLst>
          </p:cNvPr>
          <p:cNvSpPr>
            <a:spLocks noChangeArrowheads="1"/>
          </p:cNvSpPr>
          <p:nvPr/>
        </p:nvSpPr>
        <p:spPr bwMode="auto">
          <a:xfrm>
            <a:off x="7769731" y="6129799"/>
            <a:ext cx="647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45 sec</a:t>
            </a:r>
          </a:p>
        </p:txBody>
      </p:sp>
      <p:sp>
        <p:nvSpPr>
          <p:cNvPr id="173" name="Line 334">
            <a:extLst>
              <a:ext uri="{FF2B5EF4-FFF2-40B4-BE49-F238E27FC236}">
                <a16:creationId xmlns:a16="http://schemas.microsoft.com/office/drawing/2014/main" id="{0A36D6CB-9AAC-2E05-EA71-AE674CA31020}"/>
              </a:ext>
            </a:extLst>
          </p:cNvPr>
          <p:cNvSpPr>
            <a:spLocks noChangeShapeType="1"/>
          </p:cNvSpPr>
          <p:nvPr/>
        </p:nvSpPr>
        <p:spPr bwMode="auto">
          <a:xfrm flipV="1">
            <a:off x="7717344" y="6323474"/>
            <a:ext cx="612775"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4" name="AutoShape 335">
            <a:extLst>
              <a:ext uri="{FF2B5EF4-FFF2-40B4-BE49-F238E27FC236}">
                <a16:creationId xmlns:a16="http://schemas.microsoft.com/office/drawing/2014/main" id="{A36E29A5-A9FA-F74F-0798-C816DEE0E06B}"/>
              </a:ext>
            </a:extLst>
          </p:cNvPr>
          <p:cNvCxnSpPr>
            <a:cxnSpLocks noChangeShapeType="1"/>
          </p:cNvCxnSpPr>
          <p:nvPr/>
        </p:nvCxnSpPr>
        <p:spPr bwMode="auto">
          <a:xfrm>
            <a:off x="7710994" y="6131387"/>
            <a:ext cx="1587" cy="195262"/>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5" name="Line 351">
            <a:extLst>
              <a:ext uri="{FF2B5EF4-FFF2-40B4-BE49-F238E27FC236}">
                <a16:creationId xmlns:a16="http://schemas.microsoft.com/office/drawing/2014/main" id="{24EB96B0-A16D-63FC-F92D-2E31150DEA27}"/>
              </a:ext>
            </a:extLst>
          </p:cNvPr>
          <p:cNvSpPr>
            <a:spLocks noChangeShapeType="1"/>
          </p:cNvSpPr>
          <p:nvPr/>
        </p:nvSpPr>
        <p:spPr bwMode="auto">
          <a:xfrm>
            <a:off x="7195056" y="6128212"/>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76" name="Line 352">
            <a:extLst>
              <a:ext uri="{FF2B5EF4-FFF2-40B4-BE49-F238E27FC236}">
                <a16:creationId xmlns:a16="http://schemas.microsoft.com/office/drawing/2014/main" id="{8ECD759F-EC3F-9DD9-2B9B-03782245BB7E}"/>
              </a:ext>
            </a:extLst>
          </p:cNvPr>
          <p:cNvSpPr>
            <a:spLocks noChangeShapeType="1"/>
          </p:cNvSpPr>
          <p:nvPr/>
        </p:nvSpPr>
        <p:spPr bwMode="auto">
          <a:xfrm>
            <a:off x="6460044" y="6126624"/>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7" name="AutoShape 353">
            <a:extLst>
              <a:ext uri="{FF2B5EF4-FFF2-40B4-BE49-F238E27FC236}">
                <a16:creationId xmlns:a16="http://schemas.microsoft.com/office/drawing/2014/main" id="{23A5CFA2-E0E3-2D54-E12A-D48C1657EAFD}"/>
              </a:ext>
            </a:extLst>
          </p:cNvPr>
          <p:cNvCxnSpPr>
            <a:cxnSpLocks noChangeShapeType="1"/>
            <a:stCxn id="176" idx="1"/>
            <a:endCxn id="175" idx="1"/>
          </p:cNvCxnSpPr>
          <p:nvPr/>
        </p:nvCxnSpPr>
        <p:spPr bwMode="auto">
          <a:xfrm>
            <a:off x="6460044" y="6318712"/>
            <a:ext cx="735012"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8" name="Rectangle 354">
            <a:extLst>
              <a:ext uri="{FF2B5EF4-FFF2-40B4-BE49-F238E27FC236}">
                <a16:creationId xmlns:a16="http://schemas.microsoft.com/office/drawing/2014/main" id="{071C9CF3-0476-2465-0E07-41517E4BF467}"/>
              </a:ext>
            </a:extLst>
          </p:cNvPr>
          <p:cNvSpPr>
            <a:spLocks noChangeArrowheads="1"/>
          </p:cNvSpPr>
          <p:nvPr/>
        </p:nvSpPr>
        <p:spPr bwMode="auto">
          <a:xfrm>
            <a:off x="6504494" y="6126624"/>
            <a:ext cx="6429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420 sec</a:t>
            </a:r>
          </a:p>
        </p:txBody>
      </p:sp>
      <p:sp>
        <p:nvSpPr>
          <p:cNvPr id="179" name="Line 361">
            <a:extLst>
              <a:ext uri="{FF2B5EF4-FFF2-40B4-BE49-F238E27FC236}">
                <a16:creationId xmlns:a16="http://schemas.microsoft.com/office/drawing/2014/main" id="{7014722D-985F-82F0-C323-D273071E0513}"/>
              </a:ext>
            </a:extLst>
          </p:cNvPr>
          <p:cNvSpPr>
            <a:spLocks noChangeShapeType="1"/>
          </p:cNvSpPr>
          <p:nvPr/>
        </p:nvSpPr>
        <p:spPr bwMode="auto">
          <a:xfrm flipV="1">
            <a:off x="2821494" y="6134562"/>
            <a:ext cx="56038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0" name="Rectangle 362">
            <a:extLst>
              <a:ext uri="{FF2B5EF4-FFF2-40B4-BE49-F238E27FC236}">
                <a16:creationId xmlns:a16="http://schemas.microsoft.com/office/drawing/2014/main" id="{45EE385C-00F1-E401-07CC-6471ED434866}"/>
              </a:ext>
            </a:extLst>
          </p:cNvPr>
          <p:cNvSpPr>
            <a:spLocks noChangeArrowheads="1"/>
          </p:cNvSpPr>
          <p:nvPr/>
        </p:nvSpPr>
        <p:spPr bwMode="auto">
          <a:xfrm>
            <a:off x="2738944" y="5951999"/>
            <a:ext cx="6556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FF0000"/>
                </a:solidFill>
              </a:rPr>
              <a:t>.25 days</a:t>
            </a:r>
          </a:p>
        </p:txBody>
      </p:sp>
      <p:sp>
        <p:nvSpPr>
          <p:cNvPr id="181" name="Line 363">
            <a:extLst>
              <a:ext uri="{FF2B5EF4-FFF2-40B4-BE49-F238E27FC236}">
                <a16:creationId xmlns:a16="http://schemas.microsoft.com/office/drawing/2014/main" id="{CC68361B-3CA7-4366-114A-319B296DB70B}"/>
              </a:ext>
            </a:extLst>
          </p:cNvPr>
          <p:cNvSpPr>
            <a:spLocks noChangeShapeType="1"/>
          </p:cNvSpPr>
          <p:nvPr/>
        </p:nvSpPr>
        <p:spPr bwMode="auto">
          <a:xfrm flipV="1">
            <a:off x="4086731" y="6134562"/>
            <a:ext cx="56197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2" name="Rectangle 364">
            <a:extLst>
              <a:ext uri="{FF2B5EF4-FFF2-40B4-BE49-F238E27FC236}">
                <a16:creationId xmlns:a16="http://schemas.microsoft.com/office/drawing/2014/main" id="{AB3A4439-1F8D-F4CF-405E-3425666261AC}"/>
              </a:ext>
            </a:extLst>
          </p:cNvPr>
          <p:cNvSpPr>
            <a:spLocks noChangeArrowheads="1"/>
          </p:cNvSpPr>
          <p:nvPr/>
        </p:nvSpPr>
        <p:spPr bwMode="auto">
          <a:xfrm>
            <a:off x="5885369"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FF0000"/>
                </a:solidFill>
              </a:rPr>
              <a:t>0 day</a:t>
            </a:r>
          </a:p>
        </p:txBody>
      </p:sp>
      <p:sp>
        <p:nvSpPr>
          <p:cNvPr id="183" name="Rectangle 365">
            <a:extLst>
              <a:ext uri="{FF2B5EF4-FFF2-40B4-BE49-F238E27FC236}">
                <a16:creationId xmlns:a16="http://schemas.microsoft.com/office/drawing/2014/main" id="{AEB1556A-C328-6609-17E8-31AFE33972B5}"/>
              </a:ext>
            </a:extLst>
          </p:cNvPr>
          <p:cNvSpPr>
            <a:spLocks noChangeArrowheads="1"/>
          </p:cNvSpPr>
          <p:nvPr/>
        </p:nvSpPr>
        <p:spPr bwMode="auto">
          <a:xfrm>
            <a:off x="7149019" y="5951999"/>
            <a:ext cx="5889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FF0000"/>
                </a:solidFill>
              </a:rPr>
              <a:t>.25 days</a:t>
            </a:r>
          </a:p>
        </p:txBody>
      </p:sp>
      <p:sp>
        <p:nvSpPr>
          <p:cNvPr id="184" name="Line 366">
            <a:extLst>
              <a:ext uri="{FF2B5EF4-FFF2-40B4-BE49-F238E27FC236}">
                <a16:creationId xmlns:a16="http://schemas.microsoft.com/office/drawing/2014/main" id="{3BC5B6E5-CE8F-EF93-787E-01B30EEB3C25}"/>
              </a:ext>
            </a:extLst>
          </p:cNvPr>
          <p:cNvSpPr>
            <a:spLocks noChangeShapeType="1"/>
          </p:cNvSpPr>
          <p:nvPr/>
        </p:nvSpPr>
        <p:spPr bwMode="auto">
          <a:xfrm>
            <a:off x="7185531" y="6132974"/>
            <a:ext cx="519113"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5" name="Line 367">
            <a:extLst>
              <a:ext uri="{FF2B5EF4-FFF2-40B4-BE49-F238E27FC236}">
                <a16:creationId xmlns:a16="http://schemas.microsoft.com/office/drawing/2014/main" id="{8A5DF2B4-092C-DFC3-0BE6-33BBCA5370D3}"/>
              </a:ext>
            </a:extLst>
          </p:cNvPr>
          <p:cNvSpPr>
            <a:spLocks noChangeShapeType="1"/>
          </p:cNvSpPr>
          <p:nvPr/>
        </p:nvSpPr>
        <p:spPr bwMode="auto">
          <a:xfrm flipV="1">
            <a:off x="5899656" y="6134562"/>
            <a:ext cx="5603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6" name="Rectangle 474">
            <a:extLst>
              <a:ext uri="{FF2B5EF4-FFF2-40B4-BE49-F238E27FC236}">
                <a16:creationId xmlns:a16="http://schemas.microsoft.com/office/drawing/2014/main" id="{FA96CA39-EDAE-F8B6-8834-55E48EC858E0}"/>
              </a:ext>
            </a:extLst>
          </p:cNvPr>
          <p:cNvSpPr>
            <a:spLocks noChangeArrowheads="1"/>
          </p:cNvSpPr>
          <p:nvPr/>
        </p:nvSpPr>
        <p:spPr bwMode="auto">
          <a:xfrm>
            <a:off x="4085144"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FF0000"/>
                </a:solidFill>
              </a:rPr>
              <a:t>.5 day</a:t>
            </a:r>
          </a:p>
        </p:txBody>
      </p:sp>
      <p:sp>
        <p:nvSpPr>
          <p:cNvPr id="187" name="Line 450">
            <a:extLst>
              <a:ext uri="{FF2B5EF4-FFF2-40B4-BE49-F238E27FC236}">
                <a16:creationId xmlns:a16="http://schemas.microsoft.com/office/drawing/2014/main" id="{6A575A4E-1B41-D193-2197-4499A34A6873}"/>
              </a:ext>
            </a:extLst>
          </p:cNvPr>
          <p:cNvSpPr>
            <a:spLocks noChangeShapeType="1"/>
          </p:cNvSpPr>
          <p:nvPr/>
        </p:nvSpPr>
        <p:spPr bwMode="auto">
          <a:xfrm flipH="1">
            <a:off x="7773387" y="4937180"/>
            <a:ext cx="1740387" cy="603205"/>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88" name="Line 451">
            <a:extLst>
              <a:ext uri="{FF2B5EF4-FFF2-40B4-BE49-F238E27FC236}">
                <a16:creationId xmlns:a16="http://schemas.microsoft.com/office/drawing/2014/main" id="{F6283DAB-6EB5-64A7-81EA-4AF5556A4318}"/>
              </a:ext>
            </a:extLst>
          </p:cNvPr>
          <p:cNvSpPr>
            <a:spLocks noChangeShapeType="1"/>
          </p:cNvSpPr>
          <p:nvPr/>
        </p:nvSpPr>
        <p:spPr bwMode="auto">
          <a:xfrm flipH="1">
            <a:off x="7803789" y="4939211"/>
            <a:ext cx="1708662" cy="1111532"/>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nvGrpSpPr>
          <p:cNvPr id="189" name="Group 432">
            <a:extLst>
              <a:ext uri="{FF2B5EF4-FFF2-40B4-BE49-F238E27FC236}">
                <a16:creationId xmlns:a16="http://schemas.microsoft.com/office/drawing/2014/main" id="{C012A8A9-1834-B0B9-27AC-4AB76693FD1F}"/>
              </a:ext>
            </a:extLst>
          </p:cNvPr>
          <p:cNvGrpSpPr>
            <a:grpSpLocks/>
          </p:cNvGrpSpPr>
          <p:nvPr/>
        </p:nvGrpSpPr>
        <p:grpSpPr bwMode="auto">
          <a:xfrm>
            <a:off x="7459565" y="4820024"/>
            <a:ext cx="342900" cy="812800"/>
            <a:chOff x="752" y="2752"/>
            <a:chExt cx="216" cy="512"/>
          </a:xfrm>
        </p:grpSpPr>
        <p:sp>
          <p:nvSpPr>
            <p:cNvPr id="190" name="AutoShape 406">
              <a:extLst>
                <a:ext uri="{FF2B5EF4-FFF2-40B4-BE49-F238E27FC236}">
                  <a16:creationId xmlns:a16="http://schemas.microsoft.com/office/drawing/2014/main" id="{843CE763-57AC-41D4-F71B-390C8317B742}"/>
                </a:ext>
              </a:extLst>
            </p:cNvPr>
            <p:cNvSpPr>
              <a:spLocks/>
            </p:cNvSpPr>
            <p:nvPr/>
          </p:nvSpPr>
          <p:spPr bwMode="auto">
            <a:xfrm rot="-5400000">
              <a:off x="852" y="2652"/>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1" name="AutoShape 407">
              <a:extLst>
                <a:ext uri="{FF2B5EF4-FFF2-40B4-BE49-F238E27FC236}">
                  <a16:creationId xmlns:a16="http://schemas.microsoft.com/office/drawing/2014/main" id="{CCA71718-257C-831C-0EBB-17A034BFA892}"/>
                </a:ext>
              </a:extLst>
            </p:cNvPr>
            <p:cNvSpPr>
              <a:spLocks/>
            </p:cNvSpPr>
            <p:nvPr/>
          </p:nvSpPr>
          <p:spPr bwMode="auto">
            <a:xfrm rot="-5400000">
              <a:off x="852" y="2660"/>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2" name="AutoShape 408">
              <a:extLst>
                <a:ext uri="{FF2B5EF4-FFF2-40B4-BE49-F238E27FC236}">
                  <a16:creationId xmlns:a16="http://schemas.microsoft.com/office/drawing/2014/main" id="{DC7FDA0C-13E3-DB1E-3DAE-0CD8F156BA10}"/>
                </a:ext>
              </a:extLst>
            </p:cNvPr>
            <p:cNvSpPr>
              <a:spLocks/>
            </p:cNvSpPr>
            <p:nvPr/>
          </p:nvSpPr>
          <p:spPr bwMode="auto">
            <a:xfrm rot="-5400000">
              <a:off x="852" y="2668"/>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3" name="Group 409">
              <a:extLst>
                <a:ext uri="{FF2B5EF4-FFF2-40B4-BE49-F238E27FC236}">
                  <a16:creationId xmlns:a16="http://schemas.microsoft.com/office/drawing/2014/main" id="{B0AAC8B4-5338-7623-06E3-9332C103D754}"/>
                </a:ext>
              </a:extLst>
            </p:cNvPr>
            <p:cNvGrpSpPr>
              <a:grpSpLocks/>
            </p:cNvGrpSpPr>
            <p:nvPr/>
          </p:nvGrpSpPr>
          <p:grpSpPr bwMode="auto">
            <a:xfrm>
              <a:off x="752" y="2965"/>
              <a:ext cx="216" cy="299"/>
              <a:chOff x="576" y="1200"/>
              <a:chExt cx="240" cy="336"/>
            </a:xfrm>
          </p:grpSpPr>
          <p:sp>
            <p:nvSpPr>
              <p:cNvPr id="199" name="Rectangle 410">
                <a:extLst>
                  <a:ext uri="{FF2B5EF4-FFF2-40B4-BE49-F238E27FC236}">
                    <a16:creationId xmlns:a16="http://schemas.microsoft.com/office/drawing/2014/main" id="{0F9E2063-D94D-585F-04BB-F5FF221A76B5}"/>
                  </a:ext>
                </a:extLst>
              </p:cNvPr>
              <p:cNvSpPr>
                <a:spLocks noChangeArrowheads="1"/>
              </p:cNvSpPr>
              <p:nvPr/>
            </p:nvSpPr>
            <p:spPr bwMode="auto">
              <a:xfrm>
                <a:off x="576" y="1200"/>
                <a:ext cx="240" cy="33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0" name="Line 411">
                <a:extLst>
                  <a:ext uri="{FF2B5EF4-FFF2-40B4-BE49-F238E27FC236}">
                    <a16:creationId xmlns:a16="http://schemas.microsoft.com/office/drawing/2014/main" id="{7E8EFBC8-7702-E7A9-D62C-9DD551441649}"/>
                  </a:ext>
                </a:extLst>
              </p:cNvPr>
              <p:cNvSpPr>
                <a:spLocks noChangeShapeType="1"/>
              </p:cNvSpPr>
              <p:nvPr/>
            </p:nvSpPr>
            <p:spPr bwMode="auto">
              <a:xfrm>
                <a:off x="576" y="1392"/>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1" name="Line 412">
                <a:extLst>
                  <a:ext uri="{FF2B5EF4-FFF2-40B4-BE49-F238E27FC236}">
                    <a16:creationId xmlns:a16="http://schemas.microsoft.com/office/drawing/2014/main" id="{BFF8D894-BA30-B04D-37C8-F2FB9BF2FC91}"/>
                  </a:ext>
                </a:extLst>
              </p:cNvPr>
              <p:cNvSpPr>
                <a:spLocks noChangeShapeType="1"/>
              </p:cNvSpPr>
              <p:nvPr/>
            </p:nvSpPr>
            <p:spPr bwMode="auto">
              <a:xfrm>
                <a:off x="576" y="1296"/>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194" name="AutoShape 413">
              <a:extLst>
                <a:ext uri="{FF2B5EF4-FFF2-40B4-BE49-F238E27FC236}">
                  <a16:creationId xmlns:a16="http://schemas.microsoft.com/office/drawing/2014/main" id="{A622EBED-9B41-213C-787C-34199394608A}"/>
                </a:ext>
              </a:extLst>
            </p:cNvPr>
            <p:cNvSpPr>
              <a:spLocks noChangeArrowheads="1"/>
            </p:cNvSpPr>
            <p:nvPr/>
          </p:nvSpPr>
          <p:spPr bwMode="auto">
            <a:xfrm>
              <a:off x="752" y="2794"/>
              <a:ext cx="216" cy="146"/>
            </a:xfrm>
            <a:prstGeom prst="flowChartMerge">
              <a:avLst/>
            </a:prstGeom>
            <a:solidFill>
              <a:schemeClr val="bg1"/>
            </a:solidFill>
            <a:ln w="9525">
              <a:solidFill>
                <a:srgbClr val="FF0000"/>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5" name="Group 414">
              <a:extLst>
                <a:ext uri="{FF2B5EF4-FFF2-40B4-BE49-F238E27FC236}">
                  <a16:creationId xmlns:a16="http://schemas.microsoft.com/office/drawing/2014/main" id="{D3955824-849A-67E7-4B69-BC9EC894B2F3}"/>
                </a:ext>
              </a:extLst>
            </p:cNvPr>
            <p:cNvGrpSpPr>
              <a:grpSpLocks/>
            </p:cNvGrpSpPr>
            <p:nvPr/>
          </p:nvGrpSpPr>
          <p:grpSpPr bwMode="auto">
            <a:xfrm>
              <a:off x="808" y="2802"/>
              <a:ext cx="140" cy="57"/>
              <a:chOff x="1440" y="1520"/>
              <a:chExt cx="156" cy="64"/>
            </a:xfrm>
          </p:grpSpPr>
          <p:sp>
            <p:nvSpPr>
              <p:cNvPr id="196" name="Line 415">
                <a:extLst>
                  <a:ext uri="{FF2B5EF4-FFF2-40B4-BE49-F238E27FC236}">
                    <a16:creationId xmlns:a16="http://schemas.microsoft.com/office/drawing/2014/main" id="{6F2842FA-A5F7-9BBE-30B9-BB98747D3EFB}"/>
                  </a:ext>
                </a:extLst>
              </p:cNvPr>
              <p:cNvSpPr>
                <a:spLocks noChangeShapeType="1"/>
              </p:cNvSpPr>
              <p:nvPr/>
            </p:nvSpPr>
            <p:spPr bwMode="auto">
              <a:xfrm flipV="1">
                <a:off x="1440" y="1536"/>
                <a:ext cx="78" cy="4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7" name="Line 416">
                <a:extLst>
                  <a:ext uri="{FF2B5EF4-FFF2-40B4-BE49-F238E27FC236}">
                    <a16:creationId xmlns:a16="http://schemas.microsoft.com/office/drawing/2014/main" id="{4D394871-9303-EB05-3523-B253D2A64826}"/>
                  </a:ext>
                </a:extLst>
              </p:cNvPr>
              <p:cNvSpPr>
                <a:spLocks noChangeShapeType="1"/>
              </p:cNvSpPr>
              <p:nvPr/>
            </p:nvSpPr>
            <p:spPr bwMode="auto">
              <a:xfrm flipV="1">
                <a:off x="1518" y="1520"/>
                <a:ext cx="78" cy="48"/>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8" name="AutoShape 417">
                <a:extLst>
                  <a:ext uri="{FF2B5EF4-FFF2-40B4-BE49-F238E27FC236}">
                    <a16:creationId xmlns:a16="http://schemas.microsoft.com/office/drawing/2014/main" id="{53E673F4-D0DB-AAFC-0625-41E41FF8701F}"/>
                  </a:ext>
                </a:extLst>
              </p:cNvPr>
              <p:cNvCxnSpPr>
                <a:cxnSpLocks noChangeShapeType="1"/>
                <a:stCxn id="196" idx="1"/>
                <a:endCxn id="197" idx="0"/>
              </p:cNvCxnSpPr>
              <p:nvPr/>
            </p:nvCxnSpPr>
            <p:spPr bwMode="auto">
              <a:xfrm>
                <a:off x="1518" y="1536"/>
                <a:ext cx="0" cy="32"/>
              </a:xfrm>
              <a:prstGeom prst="straightConnector1">
                <a:avLst/>
              </a:prstGeom>
              <a:noFill/>
              <a:ln w="9525">
                <a:solidFill>
                  <a:srgbClr val="FF0000"/>
                </a:solidFill>
                <a:round/>
                <a:headEnd/>
                <a:tailEnd/>
              </a:ln>
              <a:extLst>
                <a:ext uri="{909E8E84-426E-40DD-AFC4-6F175D3DCCD1}">
                  <a14:hiddenFill xmlns:a14="http://schemas.microsoft.com/office/drawing/2010/main">
                    <a:noFill/>
                  </a14:hiddenFill>
                </a:ext>
              </a:extLst>
            </p:spPr>
          </p:cxnSp>
        </p:grpSp>
      </p:grpSp>
      <p:grpSp>
        <p:nvGrpSpPr>
          <p:cNvPr id="215" name="Group 432">
            <a:extLst>
              <a:ext uri="{FF2B5EF4-FFF2-40B4-BE49-F238E27FC236}">
                <a16:creationId xmlns:a16="http://schemas.microsoft.com/office/drawing/2014/main" id="{6E5DA14C-E775-18E0-10C7-A896940BED55}"/>
              </a:ext>
            </a:extLst>
          </p:cNvPr>
          <p:cNvGrpSpPr>
            <a:grpSpLocks/>
          </p:cNvGrpSpPr>
          <p:nvPr/>
        </p:nvGrpSpPr>
        <p:grpSpPr bwMode="auto">
          <a:xfrm>
            <a:off x="4396589" y="4827905"/>
            <a:ext cx="342900" cy="812800"/>
            <a:chOff x="752" y="2752"/>
            <a:chExt cx="216" cy="512"/>
          </a:xfrm>
        </p:grpSpPr>
        <p:sp>
          <p:nvSpPr>
            <p:cNvPr id="216" name="AutoShape 406">
              <a:extLst>
                <a:ext uri="{FF2B5EF4-FFF2-40B4-BE49-F238E27FC236}">
                  <a16:creationId xmlns:a16="http://schemas.microsoft.com/office/drawing/2014/main" id="{4931F387-7571-A459-8AD2-6AC5B4F0E7C7}"/>
                </a:ext>
              </a:extLst>
            </p:cNvPr>
            <p:cNvSpPr>
              <a:spLocks/>
            </p:cNvSpPr>
            <p:nvPr/>
          </p:nvSpPr>
          <p:spPr bwMode="auto">
            <a:xfrm rot="-5400000">
              <a:off x="852" y="2652"/>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7" name="AutoShape 407">
              <a:extLst>
                <a:ext uri="{FF2B5EF4-FFF2-40B4-BE49-F238E27FC236}">
                  <a16:creationId xmlns:a16="http://schemas.microsoft.com/office/drawing/2014/main" id="{B9C2BE8F-75FB-D34B-75A8-BC5D6D5FD0C6}"/>
                </a:ext>
              </a:extLst>
            </p:cNvPr>
            <p:cNvSpPr>
              <a:spLocks/>
            </p:cNvSpPr>
            <p:nvPr/>
          </p:nvSpPr>
          <p:spPr bwMode="auto">
            <a:xfrm rot="-5400000">
              <a:off x="852" y="2660"/>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8" name="AutoShape 408">
              <a:extLst>
                <a:ext uri="{FF2B5EF4-FFF2-40B4-BE49-F238E27FC236}">
                  <a16:creationId xmlns:a16="http://schemas.microsoft.com/office/drawing/2014/main" id="{0148E9EA-A6AC-8D12-4158-AA619ED0C26D}"/>
                </a:ext>
              </a:extLst>
            </p:cNvPr>
            <p:cNvSpPr>
              <a:spLocks/>
            </p:cNvSpPr>
            <p:nvPr/>
          </p:nvSpPr>
          <p:spPr bwMode="auto">
            <a:xfrm rot="-5400000">
              <a:off x="852" y="2668"/>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9" name="Group 409">
              <a:extLst>
                <a:ext uri="{FF2B5EF4-FFF2-40B4-BE49-F238E27FC236}">
                  <a16:creationId xmlns:a16="http://schemas.microsoft.com/office/drawing/2014/main" id="{02E2E1B2-7F75-31EE-C847-922868C496DC}"/>
                </a:ext>
              </a:extLst>
            </p:cNvPr>
            <p:cNvGrpSpPr>
              <a:grpSpLocks/>
            </p:cNvGrpSpPr>
            <p:nvPr/>
          </p:nvGrpSpPr>
          <p:grpSpPr bwMode="auto">
            <a:xfrm>
              <a:off x="752" y="2965"/>
              <a:ext cx="216" cy="299"/>
              <a:chOff x="576" y="1200"/>
              <a:chExt cx="240" cy="336"/>
            </a:xfrm>
          </p:grpSpPr>
          <p:sp>
            <p:nvSpPr>
              <p:cNvPr id="225" name="Rectangle 410">
                <a:extLst>
                  <a:ext uri="{FF2B5EF4-FFF2-40B4-BE49-F238E27FC236}">
                    <a16:creationId xmlns:a16="http://schemas.microsoft.com/office/drawing/2014/main" id="{2961F3E2-8AD8-FF6D-F6ED-419412582B4D}"/>
                  </a:ext>
                </a:extLst>
              </p:cNvPr>
              <p:cNvSpPr>
                <a:spLocks noChangeArrowheads="1"/>
              </p:cNvSpPr>
              <p:nvPr/>
            </p:nvSpPr>
            <p:spPr bwMode="auto">
              <a:xfrm>
                <a:off x="576" y="1200"/>
                <a:ext cx="240" cy="33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6" name="Line 411">
                <a:extLst>
                  <a:ext uri="{FF2B5EF4-FFF2-40B4-BE49-F238E27FC236}">
                    <a16:creationId xmlns:a16="http://schemas.microsoft.com/office/drawing/2014/main" id="{535AA1B6-5D39-13EE-D7E0-5A0A41AF6439}"/>
                  </a:ext>
                </a:extLst>
              </p:cNvPr>
              <p:cNvSpPr>
                <a:spLocks noChangeShapeType="1"/>
              </p:cNvSpPr>
              <p:nvPr/>
            </p:nvSpPr>
            <p:spPr bwMode="auto">
              <a:xfrm>
                <a:off x="576" y="1392"/>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7" name="Line 412">
                <a:extLst>
                  <a:ext uri="{FF2B5EF4-FFF2-40B4-BE49-F238E27FC236}">
                    <a16:creationId xmlns:a16="http://schemas.microsoft.com/office/drawing/2014/main" id="{7F9E9FEE-EE65-E9F6-55AF-F5214654220C}"/>
                  </a:ext>
                </a:extLst>
              </p:cNvPr>
              <p:cNvSpPr>
                <a:spLocks noChangeShapeType="1"/>
              </p:cNvSpPr>
              <p:nvPr/>
            </p:nvSpPr>
            <p:spPr bwMode="auto">
              <a:xfrm>
                <a:off x="576" y="1296"/>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20" name="AutoShape 413">
              <a:extLst>
                <a:ext uri="{FF2B5EF4-FFF2-40B4-BE49-F238E27FC236}">
                  <a16:creationId xmlns:a16="http://schemas.microsoft.com/office/drawing/2014/main" id="{7F14093D-60BF-D287-6530-4B254BB6B0AB}"/>
                </a:ext>
              </a:extLst>
            </p:cNvPr>
            <p:cNvSpPr>
              <a:spLocks noChangeArrowheads="1"/>
            </p:cNvSpPr>
            <p:nvPr/>
          </p:nvSpPr>
          <p:spPr bwMode="auto">
            <a:xfrm>
              <a:off x="752" y="2794"/>
              <a:ext cx="216" cy="146"/>
            </a:xfrm>
            <a:prstGeom prst="flowChartMerge">
              <a:avLst/>
            </a:prstGeom>
            <a:solidFill>
              <a:schemeClr val="bg1"/>
            </a:solidFill>
            <a:ln w="9525">
              <a:solidFill>
                <a:srgbClr val="FF0000"/>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21" name="Group 414">
              <a:extLst>
                <a:ext uri="{FF2B5EF4-FFF2-40B4-BE49-F238E27FC236}">
                  <a16:creationId xmlns:a16="http://schemas.microsoft.com/office/drawing/2014/main" id="{F5E5461F-D49C-003F-42EF-8C3820D9FC48}"/>
                </a:ext>
              </a:extLst>
            </p:cNvPr>
            <p:cNvGrpSpPr>
              <a:grpSpLocks/>
            </p:cNvGrpSpPr>
            <p:nvPr/>
          </p:nvGrpSpPr>
          <p:grpSpPr bwMode="auto">
            <a:xfrm>
              <a:off x="808" y="2802"/>
              <a:ext cx="140" cy="57"/>
              <a:chOff x="1440" y="1520"/>
              <a:chExt cx="156" cy="64"/>
            </a:xfrm>
          </p:grpSpPr>
          <p:sp>
            <p:nvSpPr>
              <p:cNvPr id="222" name="Line 415">
                <a:extLst>
                  <a:ext uri="{FF2B5EF4-FFF2-40B4-BE49-F238E27FC236}">
                    <a16:creationId xmlns:a16="http://schemas.microsoft.com/office/drawing/2014/main" id="{C5EB4106-E0DA-F4C4-BF68-94E01D8AB776}"/>
                  </a:ext>
                </a:extLst>
              </p:cNvPr>
              <p:cNvSpPr>
                <a:spLocks noChangeShapeType="1"/>
              </p:cNvSpPr>
              <p:nvPr/>
            </p:nvSpPr>
            <p:spPr bwMode="auto">
              <a:xfrm flipV="1">
                <a:off x="1440" y="1536"/>
                <a:ext cx="78" cy="4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3" name="Line 416">
                <a:extLst>
                  <a:ext uri="{FF2B5EF4-FFF2-40B4-BE49-F238E27FC236}">
                    <a16:creationId xmlns:a16="http://schemas.microsoft.com/office/drawing/2014/main" id="{BE444567-28BD-9701-2B4A-CB2355B85904}"/>
                  </a:ext>
                </a:extLst>
              </p:cNvPr>
              <p:cNvSpPr>
                <a:spLocks noChangeShapeType="1"/>
              </p:cNvSpPr>
              <p:nvPr/>
            </p:nvSpPr>
            <p:spPr bwMode="auto">
              <a:xfrm flipV="1">
                <a:off x="1518" y="1520"/>
                <a:ext cx="78" cy="48"/>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24" name="AutoShape 417">
                <a:extLst>
                  <a:ext uri="{FF2B5EF4-FFF2-40B4-BE49-F238E27FC236}">
                    <a16:creationId xmlns:a16="http://schemas.microsoft.com/office/drawing/2014/main" id="{B8986B68-B6BE-B191-3A95-9E684773A5BD}"/>
                  </a:ext>
                </a:extLst>
              </p:cNvPr>
              <p:cNvCxnSpPr>
                <a:cxnSpLocks noChangeShapeType="1"/>
                <a:stCxn id="222" idx="1"/>
                <a:endCxn id="223" idx="0"/>
              </p:cNvCxnSpPr>
              <p:nvPr/>
            </p:nvCxnSpPr>
            <p:spPr bwMode="auto">
              <a:xfrm>
                <a:off x="1518" y="1536"/>
                <a:ext cx="0" cy="32"/>
              </a:xfrm>
              <a:prstGeom prst="straightConnector1">
                <a:avLst/>
              </a:prstGeom>
              <a:noFill/>
              <a:ln w="9525">
                <a:solidFill>
                  <a:srgbClr val="FF0000"/>
                </a:solidFill>
                <a:round/>
                <a:headEnd/>
                <a:tailEnd/>
              </a:ln>
              <a:extLst>
                <a:ext uri="{909E8E84-426E-40DD-AFC4-6F175D3DCCD1}">
                  <a14:hiddenFill xmlns:a14="http://schemas.microsoft.com/office/drawing/2010/main">
                    <a:noFill/>
                  </a14:hiddenFill>
                </a:ext>
              </a:extLst>
            </p:spPr>
          </p:cxnSp>
        </p:grpSp>
      </p:grpSp>
      <p:grpSp>
        <p:nvGrpSpPr>
          <p:cNvPr id="228" name="Group 432">
            <a:extLst>
              <a:ext uri="{FF2B5EF4-FFF2-40B4-BE49-F238E27FC236}">
                <a16:creationId xmlns:a16="http://schemas.microsoft.com/office/drawing/2014/main" id="{D5A321D5-CDE7-8EA0-390D-78BE3592F828}"/>
              </a:ext>
            </a:extLst>
          </p:cNvPr>
          <p:cNvGrpSpPr>
            <a:grpSpLocks/>
          </p:cNvGrpSpPr>
          <p:nvPr/>
        </p:nvGrpSpPr>
        <p:grpSpPr bwMode="auto">
          <a:xfrm>
            <a:off x="2679549" y="4827905"/>
            <a:ext cx="342900" cy="812800"/>
            <a:chOff x="752" y="2752"/>
            <a:chExt cx="216" cy="512"/>
          </a:xfrm>
        </p:grpSpPr>
        <p:sp>
          <p:nvSpPr>
            <p:cNvPr id="229" name="AutoShape 406">
              <a:extLst>
                <a:ext uri="{FF2B5EF4-FFF2-40B4-BE49-F238E27FC236}">
                  <a16:creationId xmlns:a16="http://schemas.microsoft.com/office/drawing/2014/main" id="{A3839BFA-8296-9353-7D56-F7B0B1CECF31}"/>
                </a:ext>
              </a:extLst>
            </p:cNvPr>
            <p:cNvSpPr>
              <a:spLocks/>
            </p:cNvSpPr>
            <p:nvPr/>
          </p:nvSpPr>
          <p:spPr bwMode="auto">
            <a:xfrm rot="-5400000">
              <a:off x="852" y="2652"/>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0" name="AutoShape 407">
              <a:extLst>
                <a:ext uri="{FF2B5EF4-FFF2-40B4-BE49-F238E27FC236}">
                  <a16:creationId xmlns:a16="http://schemas.microsoft.com/office/drawing/2014/main" id="{F32CB6B4-C0D4-7C43-1A1F-A80A0D2CA944}"/>
                </a:ext>
              </a:extLst>
            </p:cNvPr>
            <p:cNvSpPr>
              <a:spLocks/>
            </p:cNvSpPr>
            <p:nvPr/>
          </p:nvSpPr>
          <p:spPr bwMode="auto">
            <a:xfrm rot="-5400000">
              <a:off x="852" y="2660"/>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1" name="AutoShape 408">
              <a:extLst>
                <a:ext uri="{FF2B5EF4-FFF2-40B4-BE49-F238E27FC236}">
                  <a16:creationId xmlns:a16="http://schemas.microsoft.com/office/drawing/2014/main" id="{F4057CE2-D691-96B0-66E7-7F3FEE1463C9}"/>
                </a:ext>
              </a:extLst>
            </p:cNvPr>
            <p:cNvSpPr>
              <a:spLocks/>
            </p:cNvSpPr>
            <p:nvPr/>
          </p:nvSpPr>
          <p:spPr bwMode="auto">
            <a:xfrm rot="-5400000">
              <a:off x="852" y="2668"/>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2" name="Group 409">
              <a:extLst>
                <a:ext uri="{FF2B5EF4-FFF2-40B4-BE49-F238E27FC236}">
                  <a16:creationId xmlns:a16="http://schemas.microsoft.com/office/drawing/2014/main" id="{A457A67E-D1E0-4F4D-A92B-15E413202F2F}"/>
                </a:ext>
              </a:extLst>
            </p:cNvPr>
            <p:cNvGrpSpPr>
              <a:grpSpLocks/>
            </p:cNvGrpSpPr>
            <p:nvPr/>
          </p:nvGrpSpPr>
          <p:grpSpPr bwMode="auto">
            <a:xfrm>
              <a:off x="752" y="2965"/>
              <a:ext cx="216" cy="299"/>
              <a:chOff x="576" y="1200"/>
              <a:chExt cx="240" cy="336"/>
            </a:xfrm>
          </p:grpSpPr>
          <p:sp>
            <p:nvSpPr>
              <p:cNvPr id="238" name="Rectangle 410">
                <a:extLst>
                  <a:ext uri="{FF2B5EF4-FFF2-40B4-BE49-F238E27FC236}">
                    <a16:creationId xmlns:a16="http://schemas.microsoft.com/office/drawing/2014/main" id="{9A31ACEF-42B9-9B45-F61D-4A4BC1A5D42D}"/>
                  </a:ext>
                </a:extLst>
              </p:cNvPr>
              <p:cNvSpPr>
                <a:spLocks noChangeArrowheads="1"/>
              </p:cNvSpPr>
              <p:nvPr/>
            </p:nvSpPr>
            <p:spPr bwMode="auto">
              <a:xfrm>
                <a:off x="576" y="1200"/>
                <a:ext cx="240" cy="33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9" name="Line 411">
                <a:extLst>
                  <a:ext uri="{FF2B5EF4-FFF2-40B4-BE49-F238E27FC236}">
                    <a16:creationId xmlns:a16="http://schemas.microsoft.com/office/drawing/2014/main" id="{F80E053C-87F6-B19A-73A4-ADBD3D4BEBB9}"/>
                  </a:ext>
                </a:extLst>
              </p:cNvPr>
              <p:cNvSpPr>
                <a:spLocks noChangeShapeType="1"/>
              </p:cNvSpPr>
              <p:nvPr/>
            </p:nvSpPr>
            <p:spPr bwMode="auto">
              <a:xfrm>
                <a:off x="576" y="1392"/>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40" name="Line 412">
                <a:extLst>
                  <a:ext uri="{FF2B5EF4-FFF2-40B4-BE49-F238E27FC236}">
                    <a16:creationId xmlns:a16="http://schemas.microsoft.com/office/drawing/2014/main" id="{01F693E7-E273-77C0-4F89-77D655CACD09}"/>
                  </a:ext>
                </a:extLst>
              </p:cNvPr>
              <p:cNvSpPr>
                <a:spLocks noChangeShapeType="1"/>
              </p:cNvSpPr>
              <p:nvPr/>
            </p:nvSpPr>
            <p:spPr bwMode="auto">
              <a:xfrm>
                <a:off x="576" y="1296"/>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33" name="AutoShape 413">
              <a:extLst>
                <a:ext uri="{FF2B5EF4-FFF2-40B4-BE49-F238E27FC236}">
                  <a16:creationId xmlns:a16="http://schemas.microsoft.com/office/drawing/2014/main" id="{9BD590F8-FBF7-DC7D-0944-42F86D87F8AB}"/>
                </a:ext>
              </a:extLst>
            </p:cNvPr>
            <p:cNvSpPr>
              <a:spLocks noChangeArrowheads="1"/>
            </p:cNvSpPr>
            <p:nvPr/>
          </p:nvSpPr>
          <p:spPr bwMode="auto">
            <a:xfrm>
              <a:off x="752" y="2794"/>
              <a:ext cx="216" cy="146"/>
            </a:xfrm>
            <a:prstGeom prst="flowChartMerge">
              <a:avLst/>
            </a:prstGeom>
            <a:solidFill>
              <a:schemeClr val="bg1"/>
            </a:solidFill>
            <a:ln w="9525">
              <a:solidFill>
                <a:srgbClr val="FF0000"/>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4" name="Group 414">
              <a:extLst>
                <a:ext uri="{FF2B5EF4-FFF2-40B4-BE49-F238E27FC236}">
                  <a16:creationId xmlns:a16="http://schemas.microsoft.com/office/drawing/2014/main" id="{E45C268E-3DC4-E0D9-EE7F-B620AC81CB46}"/>
                </a:ext>
              </a:extLst>
            </p:cNvPr>
            <p:cNvGrpSpPr>
              <a:grpSpLocks/>
            </p:cNvGrpSpPr>
            <p:nvPr/>
          </p:nvGrpSpPr>
          <p:grpSpPr bwMode="auto">
            <a:xfrm>
              <a:off x="808" y="2802"/>
              <a:ext cx="140" cy="57"/>
              <a:chOff x="1440" y="1520"/>
              <a:chExt cx="156" cy="64"/>
            </a:xfrm>
          </p:grpSpPr>
          <p:sp>
            <p:nvSpPr>
              <p:cNvPr id="235" name="Line 415">
                <a:extLst>
                  <a:ext uri="{FF2B5EF4-FFF2-40B4-BE49-F238E27FC236}">
                    <a16:creationId xmlns:a16="http://schemas.microsoft.com/office/drawing/2014/main" id="{D156D5BB-049B-0A36-BE9F-9FA6E240C9EE}"/>
                  </a:ext>
                </a:extLst>
              </p:cNvPr>
              <p:cNvSpPr>
                <a:spLocks noChangeShapeType="1"/>
              </p:cNvSpPr>
              <p:nvPr/>
            </p:nvSpPr>
            <p:spPr bwMode="auto">
              <a:xfrm flipV="1">
                <a:off x="1440" y="1536"/>
                <a:ext cx="78" cy="4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36" name="Line 416">
                <a:extLst>
                  <a:ext uri="{FF2B5EF4-FFF2-40B4-BE49-F238E27FC236}">
                    <a16:creationId xmlns:a16="http://schemas.microsoft.com/office/drawing/2014/main" id="{F0705831-3685-54E9-48A5-2E5A7AAA2F0B}"/>
                  </a:ext>
                </a:extLst>
              </p:cNvPr>
              <p:cNvSpPr>
                <a:spLocks noChangeShapeType="1"/>
              </p:cNvSpPr>
              <p:nvPr/>
            </p:nvSpPr>
            <p:spPr bwMode="auto">
              <a:xfrm flipV="1">
                <a:off x="1518" y="1520"/>
                <a:ext cx="78" cy="48"/>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37" name="AutoShape 417">
                <a:extLst>
                  <a:ext uri="{FF2B5EF4-FFF2-40B4-BE49-F238E27FC236}">
                    <a16:creationId xmlns:a16="http://schemas.microsoft.com/office/drawing/2014/main" id="{07B84EA0-D3B6-2BC0-F9C3-B7F55FF2C022}"/>
                  </a:ext>
                </a:extLst>
              </p:cNvPr>
              <p:cNvCxnSpPr>
                <a:cxnSpLocks noChangeShapeType="1"/>
                <a:stCxn id="235" idx="1"/>
                <a:endCxn id="236" idx="0"/>
              </p:cNvCxnSpPr>
              <p:nvPr/>
            </p:nvCxnSpPr>
            <p:spPr bwMode="auto">
              <a:xfrm>
                <a:off x="1518" y="1536"/>
                <a:ext cx="0" cy="32"/>
              </a:xfrm>
              <a:prstGeom prst="straightConnector1">
                <a:avLst/>
              </a:prstGeom>
              <a:noFill/>
              <a:ln w="9525">
                <a:solidFill>
                  <a:srgbClr val="FF0000"/>
                </a:solidFill>
                <a:round/>
                <a:headEnd/>
                <a:tailEnd/>
              </a:ln>
              <a:extLst>
                <a:ext uri="{909E8E84-426E-40DD-AFC4-6F175D3DCCD1}">
                  <a14:hiddenFill xmlns:a14="http://schemas.microsoft.com/office/drawing/2010/main">
                    <a:noFill/>
                  </a14:hiddenFill>
                </a:ext>
              </a:extLst>
            </p:spPr>
          </p:cxnSp>
        </p:grpSp>
      </p:grpSp>
      <p:sp>
        <p:nvSpPr>
          <p:cNvPr id="241" name="Text Box 359">
            <a:extLst>
              <a:ext uri="{FF2B5EF4-FFF2-40B4-BE49-F238E27FC236}">
                <a16:creationId xmlns:a16="http://schemas.microsoft.com/office/drawing/2014/main" id="{4D92CDF5-FE3D-875C-491B-575FF66C265A}"/>
              </a:ext>
            </a:extLst>
          </p:cNvPr>
          <p:cNvSpPr txBox="1">
            <a:spLocks noChangeArrowheads="1"/>
          </p:cNvSpPr>
          <p:nvPr/>
        </p:nvSpPr>
        <p:spPr bwMode="auto">
          <a:xfrm>
            <a:off x="2580461" y="5126355"/>
            <a:ext cx="546100"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 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32 </a:t>
            </a:r>
            <a:r>
              <a:rPr lang="en-US" altLang="en-US" sz="500" b="0" dirty="0">
                <a:latin typeface="Roboto" panose="02000000000000000000" pitchFamily="2" charset="0"/>
                <a:ea typeface="Roboto" panose="02000000000000000000" pitchFamily="2" charset="0"/>
                <a:cs typeface="Roboto" panose="02000000000000000000" pitchFamily="2" charset="0"/>
              </a:rPr>
              <a:t>Envelopes</a:t>
            </a:r>
          </a:p>
        </p:txBody>
      </p:sp>
      <p:sp>
        <p:nvSpPr>
          <p:cNvPr id="242" name="Line 453">
            <a:extLst>
              <a:ext uri="{FF2B5EF4-FFF2-40B4-BE49-F238E27FC236}">
                <a16:creationId xmlns:a16="http://schemas.microsoft.com/office/drawing/2014/main" id="{33944320-F7B7-7110-B940-F92CF0AA3CFA}"/>
              </a:ext>
            </a:extLst>
          </p:cNvPr>
          <p:cNvSpPr>
            <a:spLocks noChangeShapeType="1"/>
          </p:cNvSpPr>
          <p:nvPr/>
        </p:nvSpPr>
        <p:spPr bwMode="auto">
          <a:xfrm>
            <a:off x="4251055" y="4078069"/>
            <a:ext cx="154109" cy="1875517"/>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43" name="Line 454">
            <a:extLst>
              <a:ext uri="{FF2B5EF4-FFF2-40B4-BE49-F238E27FC236}">
                <a16:creationId xmlns:a16="http://schemas.microsoft.com/office/drawing/2014/main" id="{55A27692-0729-A43A-358A-BAC073A6E349}"/>
              </a:ext>
            </a:extLst>
          </p:cNvPr>
          <p:cNvSpPr>
            <a:spLocks noChangeShapeType="1"/>
          </p:cNvSpPr>
          <p:nvPr/>
        </p:nvSpPr>
        <p:spPr bwMode="auto">
          <a:xfrm>
            <a:off x="4263755" y="4090770"/>
            <a:ext cx="221215" cy="1287504"/>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44" name="Text Box 473">
            <a:extLst>
              <a:ext uri="{FF2B5EF4-FFF2-40B4-BE49-F238E27FC236}">
                <a16:creationId xmlns:a16="http://schemas.microsoft.com/office/drawing/2014/main" id="{A3E605C6-A266-96DE-1C8B-A1C644450704}"/>
              </a:ext>
            </a:extLst>
          </p:cNvPr>
          <p:cNvSpPr txBox="1">
            <a:spLocks noChangeArrowheads="1"/>
          </p:cNvSpPr>
          <p:nvPr/>
        </p:nvSpPr>
        <p:spPr bwMode="auto">
          <a:xfrm>
            <a:off x="4290943" y="5143771"/>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63 </a:t>
            </a:r>
            <a:r>
              <a:rPr lang="en-US" altLang="en-US" sz="500" b="0" dirty="0"/>
              <a:t>Applications</a:t>
            </a:r>
          </a:p>
        </p:txBody>
      </p:sp>
      <p:grpSp>
        <p:nvGrpSpPr>
          <p:cNvPr id="245" name="Group 432">
            <a:extLst>
              <a:ext uri="{FF2B5EF4-FFF2-40B4-BE49-F238E27FC236}">
                <a16:creationId xmlns:a16="http://schemas.microsoft.com/office/drawing/2014/main" id="{4D97A423-B40D-D9EB-95D3-9712845BC1C9}"/>
              </a:ext>
            </a:extLst>
          </p:cNvPr>
          <p:cNvGrpSpPr>
            <a:grpSpLocks/>
          </p:cNvGrpSpPr>
          <p:nvPr/>
        </p:nvGrpSpPr>
        <p:grpSpPr bwMode="auto">
          <a:xfrm>
            <a:off x="5960965" y="4820024"/>
            <a:ext cx="342900" cy="812800"/>
            <a:chOff x="752" y="2752"/>
            <a:chExt cx="216" cy="512"/>
          </a:xfrm>
        </p:grpSpPr>
        <p:sp>
          <p:nvSpPr>
            <p:cNvPr id="246" name="AutoShape 406">
              <a:extLst>
                <a:ext uri="{FF2B5EF4-FFF2-40B4-BE49-F238E27FC236}">
                  <a16:creationId xmlns:a16="http://schemas.microsoft.com/office/drawing/2014/main" id="{2F5640A7-EB08-F7AB-734C-1560AB3190AC}"/>
                </a:ext>
              </a:extLst>
            </p:cNvPr>
            <p:cNvSpPr>
              <a:spLocks/>
            </p:cNvSpPr>
            <p:nvPr/>
          </p:nvSpPr>
          <p:spPr bwMode="auto">
            <a:xfrm rot="-5400000">
              <a:off x="852" y="2652"/>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7" name="AutoShape 407">
              <a:extLst>
                <a:ext uri="{FF2B5EF4-FFF2-40B4-BE49-F238E27FC236}">
                  <a16:creationId xmlns:a16="http://schemas.microsoft.com/office/drawing/2014/main" id="{19E2749B-948E-DE21-A8A1-4B534EB2B754}"/>
                </a:ext>
              </a:extLst>
            </p:cNvPr>
            <p:cNvSpPr>
              <a:spLocks/>
            </p:cNvSpPr>
            <p:nvPr/>
          </p:nvSpPr>
          <p:spPr bwMode="auto">
            <a:xfrm rot="-5400000">
              <a:off x="852" y="2660"/>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8" name="AutoShape 408">
              <a:extLst>
                <a:ext uri="{FF2B5EF4-FFF2-40B4-BE49-F238E27FC236}">
                  <a16:creationId xmlns:a16="http://schemas.microsoft.com/office/drawing/2014/main" id="{76A29C6D-9A4F-FE16-00ED-8137FD2A8BDA}"/>
                </a:ext>
              </a:extLst>
            </p:cNvPr>
            <p:cNvSpPr>
              <a:spLocks/>
            </p:cNvSpPr>
            <p:nvPr/>
          </p:nvSpPr>
          <p:spPr bwMode="auto">
            <a:xfrm rot="-5400000">
              <a:off x="852" y="2668"/>
              <a:ext cx="16" cy="216"/>
            </a:xfrm>
            <a:prstGeom prst="leftBracket">
              <a:avLst>
                <a:gd name="adj" fmla="val 112500"/>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49" name="Group 409">
              <a:extLst>
                <a:ext uri="{FF2B5EF4-FFF2-40B4-BE49-F238E27FC236}">
                  <a16:creationId xmlns:a16="http://schemas.microsoft.com/office/drawing/2014/main" id="{426D40CD-A5A6-6F26-08A5-7EB60928ED7A}"/>
                </a:ext>
              </a:extLst>
            </p:cNvPr>
            <p:cNvGrpSpPr>
              <a:grpSpLocks/>
            </p:cNvGrpSpPr>
            <p:nvPr/>
          </p:nvGrpSpPr>
          <p:grpSpPr bwMode="auto">
            <a:xfrm>
              <a:off x="752" y="2965"/>
              <a:ext cx="216" cy="299"/>
              <a:chOff x="576" y="1200"/>
              <a:chExt cx="240" cy="336"/>
            </a:xfrm>
          </p:grpSpPr>
          <p:sp>
            <p:nvSpPr>
              <p:cNvPr id="255" name="Rectangle 410">
                <a:extLst>
                  <a:ext uri="{FF2B5EF4-FFF2-40B4-BE49-F238E27FC236}">
                    <a16:creationId xmlns:a16="http://schemas.microsoft.com/office/drawing/2014/main" id="{A35D3461-0E28-2831-A031-FD6EB6D4C8F2}"/>
                  </a:ext>
                </a:extLst>
              </p:cNvPr>
              <p:cNvSpPr>
                <a:spLocks noChangeArrowheads="1"/>
              </p:cNvSpPr>
              <p:nvPr/>
            </p:nvSpPr>
            <p:spPr bwMode="auto">
              <a:xfrm>
                <a:off x="576" y="1200"/>
                <a:ext cx="240" cy="33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56" name="Line 411">
                <a:extLst>
                  <a:ext uri="{FF2B5EF4-FFF2-40B4-BE49-F238E27FC236}">
                    <a16:creationId xmlns:a16="http://schemas.microsoft.com/office/drawing/2014/main" id="{FE92A068-FC7D-EA05-2986-A3B8BD838ED0}"/>
                  </a:ext>
                </a:extLst>
              </p:cNvPr>
              <p:cNvSpPr>
                <a:spLocks noChangeShapeType="1"/>
              </p:cNvSpPr>
              <p:nvPr/>
            </p:nvSpPr>
            <p:spPr bwMode="auto">
              <a:xfrm>
                <a:off x="576" y="1392"/>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7" name="Line 412">
                <a:extLst>
                  <a:ext uri="{FF2B5EF4-FFF2-40B4-BE49-F238E27FC236}">
                    <a16:creationId xmlns:a16="http://schemas.microsoft.com/office/drawing/2014/main" id="{A7953C20-E4B8-2709-843B-4D36913127F3}"/>
                  </a:ext>
                </a:extLst>
              </p:cNvPr>
              <p:cNvSpPr>
                <a:spLocks noChangeShapeType="1"/>
              </p:cNvSpPr>
              <p:nvPr/>
            </p:nvSpPr>
            <p:spPr bwMode="auto">
              <a:xfrm>
                <a:off x="576" y="1296"/>
                <a:ext cx="24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0" name="AutoShape 413">
              <a:extLst>
                <a:ext uri="{FF2B5EF4-FFF2-40B4-BE49-F238E27FC236}">
                  <a16:creationId xmlns:a16="http://schemas.microsoft.com/office/drawing/2014/main" id="{BC363846-C5AD-A9E8-162C-2239A80A2BAA}"/>
                </a:ext>
              </a:extLst>
            </p:cNvPr>
            <p:cNvSpPr>
              <a:spLocks noChangeArrowheads="1"/>
            </p:cNvSpPr>
            <p:nvPr/>
          </p:nvSpPr>
          <p:spPr bwMode="auto">
            <a:xfrm>
              <a:off x="752" y="2794"/>
              <a:ext cx="216" cy="146"/>
            </a:xfrm>
            <a:prstGeom prst="flowChartMerge">
              <a:avLst/>
            </a:prstGeom>
            <a:solidFill>
              <a:schemeClr val="bg1"/>
            </a:solidFill>
            <a:ln w="9525">
              <a:solidFill>
                <a:srgbClr val="FF0000"/>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51" name="Group 414">
              <a:extLst>
                <a:ext uri="{FF2B5EF4-FFF2-40B4-BE49-F238E27FC236}">
                  <a16:creationId xmlns:a16="http://schemas.microsoft.com/office/drawing/2014/main" id="{95976AAA-7C79-73B2-738A-56454A6BD162}"/>
                </a:ext>
              </a:extLst>
            </p:cNvPr>
            <p:cNvGrpSpPr>
              <a:grpSpLocks/>
            </p:cNvGrpSpPr>
            <p:nvPr/>
          </p:nvGrpSpPr>
          <p:grpSpPr bwMode="auto">
            <a:xfrm>
              <a:off x="808" y="2802"/>
              <a:ext cx="140" cy="57"/>
              <a:chOff x="1440" y="1520"/>
              <a:chExt cx="156" cy="64"/>
            </a:xfrm>
          </p:grpSpPr>
          <p:sp>
            <p:nvSpPr>
              <p:cNvPr id="252" name="Line 415">
                <a:extLst>
                  <a:ext uri="{FF2B5EF4-FFF2-40B4-BE49-F238E27FC236}">
                    <a16:creationId xmlns:a16="http://schemas.microsoft.com/office/drawing/2014/main" id="{A11CD934-6714-4434-843C-2D4D56ECB1DC}"/>
                  </a:ext>
                </a:extLst>
              </p:cNvPr>
              <p:cNvSpPr>
                <a:spLocks noChangeShapeType="1"/>
              </p:cNvSpPr>
              <p:nvPr/>
            </p:nvSpPr>
            <p:spPr bwMode="auto">
              <a:xfrm flipV="1">
                <a:off x="1440" y="1536"/>
                <a:ext cx="78" cy="4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3" name="Line 416">
                <a:extLst>
                  <a:ext uri="{FF2B5EF4-FFF2-40B4-BE49-F238E27FC236}">
                    <a16:creationId xmlns:a16="http://schemas.microsoft.com/office/drawing/2014/main" id="{1CE8D847-3C64-C433-789A-982AB1618D30}"/>
                  </a:ext>
                </a:extLst>
              </p:cNvPr>
              <p:cNvSpPr>
                <a:spLocks noChangeShapeType="1"/>
              </p:cNvSpPr>
              <p:nvPr/>
            </p:nvSpPr>
            <p:spPr bwMode="auto">
              <a:xfrm flipV="1">
                <a:off x="1518" y="1520"/>
                <a:ext cx="78" cy="48"/>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54" name="AutoShape 417">
                <a:extLst>
                  <a:ext uri="{FF2B5EF4-FFF2-40B4-BE49-F238E27FC236}">
                    <a16:creationId xmlns:a16="http://schemas.microsoft.com/office/drawing/2014/main" id="{A3CB318A-F917-7A2E-3DCF-BFFB41157982}"/>
                  </a:ext>
                </a:extLst>
              </p:cNvPr>
              <p:cNvCxnSpPr>
                <a:cxnSpLocks noChangeShapeType="1"/>
                <a:stCxn id="252" idx="1"/>
                <a:endCxn id="253" idx="0"/>
              </p:cNvCxnSpPr>
              <p:nvPr/>
            </p:nvCxnSpPr>
            <p:spPr bwMode="auto">
              <a:xfrm>
                <a:off x="1518" y="1536"/>
                <a:ext cx="0" cy="32"/>
              </a:xfrm>
              <a:prstGeom prst="straightConnector1">
                <a:avLst/>
              </a:prstGeom>
              <a:noFill/>
              <a:ln w="9525">
                <a:solidFill>
                  <a:srgbClr val="FF0000"/>
                </a:solidFill>
                <a:round/>
                <a:headEnd/>
                <a:tailEnd/>
              </a:ln>
              <a:extLst>
                <a:ext uri="{909E8E84-426E-40DD-AFC4-6F175D3DCCD1}">
                  <a14:hiddenFill xmlns:a14="http://schemas.microsoft.com/office/drawing/2010/main">
                    <a:noFill/>
                  </a14:hiddenFill>
                </a:ext>
              </a:extLst>
            </p:spPr>
          </p:cxnSp>
        </p:grpSp>
      </p:grpSp>
      <p:sp>
        <p:nvSpPr>
          <p:cNvPr id="284" name="Text Box 360">
            <a:extLst>
              <a:ext uri="{FF2B5EF4-FFF2-40B4-BE49-F238E27FC236}">
                <a16:creationId xmlns:a16="http://schemas.microsoft.com/office/drawing/2014/main" id="{380FD599-235E-CF6D-CC8F-829A1E46FDEF}"/>
              </a:ext>
            </a:extLst>
          </p:cNvPr>
          <p:cNvSpPr txBox="1">
            <a:spLocks noChangeArrowheads="1"/>
          </p:cNvSpPr>
          <p:nvPr/>
        </p:nvSpPr>
        <p:spPr bwMode="auto">
          <a:xfrm>
            <a:off x="5849712" y="5134443"/>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0 </a:t>
            </a:r>
            <a:r>
              <a:rPr lang="en-US" altLang="en-US" sz="500" b="0" dirty="0"/>
              <a:t>Applications</a:t>
            </a:r>
          </a:p>
        </p:txBody>
      </p:sp>
      <p:sp>
        <p:nvSpPr>
          <p:cNvPr id="285" name="Text Box 358">
            <a:extLst>
              <a:ext uri="{FF2B5EF4-FFF2-40B4-BE49-F238E27FC236}">
                <a16:creationId xmlns:a16="http://schemas.microsoft.com/office/drawing/2014/main" id="{13FFB058-3D79-B7E4-23F7-410F28F73B50}"/>
              </a:ext>
            </a:extLst>
          </p:cNvPr>
          <p:cNvSpPr txBox="1">
            <a:spLocks noChangeArrowheads="1"/>
          </p:cNvSpPr>
          <p:nvPr/>
        </p:nvSpPr>
        <p:spPr bwMode="auto">
          <a:xfrm>
            <a:off x="7344276" y="5131938"/>
            <a:ext cx="56673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Zip Code</a:t>
            </a:r>
          </a:p>
          <a:p>
            <a:pPr algn="ctr">
              <a:lnSpc>
                <a:spcPct val="100000"/>
              </a:lnSpc>
              <a:spcAft>
                <a:spcPct val="0"/>
              </a:spcAft>
              <a:buClrTx/>
              <a:buSzTx/>
              <a:buFontTx/>
              <a:buNone/>
            </a:pPr>
            <a:r>
              <a:rPr lang="en-US" altLang="en-US" sz="600" b="0" dirty="0"/>
              <a:t>32 </a:t>
            </a:r>
            <a:r>
              <a:rPr lang="en-US" altLang="en-US" sz="500" b="0" dirty="0"/>
              <a:t>Packages</a:t>
            </a:r>
          </a:p>
        </p:txBody>
      </p:sp>
      <p:sp>
        <p:nvSpPr>
          <p:cNvPr id="286" name="Line 447">
            <a:extLst>
              <a:ext uri="{FF2B5EF4-FFF2-40B4-BE49-F238E27FC236}">
                <a16:creationId xmlns:a16="http://schemas.microsoft.com/office/drawing/2014/main" id="{16447FC3-EE2E-5820-3AAF-0CD9DFF2E1C2}"/>
              </a:ext>
            </a:extLst>
          </p:cNvPr>
          <p:cNvSpPr>
            <a:spLocks noChangeShapeType="1"/>
          </p:cNvSpPr>
          <p:nvPr/>
        </p:nvSpPr>
        <p:spPr bwMode="auto">
          <a:xfrm>
            <a:off x="1351918" y="4959700"/>
            <a:ext cx="1419834" cy="1040242"/>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87" name="Line 448">
            <a:extLst>
              <a:ext uri="{FF2B5EF4-FFF2-40B4-BE49-F238E27FC236}">
                <a16:creationId xmlns:a16="http://schemas.microsoft.com/office/drawing/2014/main" id="{F9515CF6-CEA8-2827-159D-BA9F356923EE}"/>
              </a:ext>
            </a:extLst>
          </p:cNvPr>
          <p:cNvSpPr>
            <a:spLocks noChangeShapeType="1"/>
          </p:cNvSpPr>
          <p:nvPr/>
        </p:nvSpPr>
        <p:spPr bwMode="auto">
          <a:xfrm>
            <a:off x="1351918" y="4959699"/>
            <a:ext cx="1188878" cy="533399"/>
          </a:xfrm>
          <a:prstGeom prst="line">
            <a:avLst/>
          </a:prstGeom>
          <a:noFill/>
          <a:ln w="12700" cap="sq">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Tree>
    <p:extLst>
      <p:ext uri="{BB962C8B-B14F-4D97-AF65-F5344CB8AC3E}">
        <p14:creationId xmlns:p14="http://schemas.microsoft.com/office/powerpoint/2010/main" val="424249121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122</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bg2"/>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364055052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Line 356">
            <a:extLst>
              <a:ext uri="{FF2B5EF4-FFF2-40B4-BE49-F238E27FC236}">
                <a16:creationId xmlns:a16="http://schemas.microsoft.com/office/drawing/2014/main" id="{EC4AB5A4-1177-7713-84BB-01F459731943}"/>
              </a:ext>
            </a:extLst>
          </p:cNvPr>
          <p:cNvSpPr>
            <a:spLocks noChangeShapeType="1"/>
          </p:cNvSpPr>
          <p:nvPr/>
        </p:nvSpPr>
        <p:spPr bwMode="auto">
          <a:xfrm flipV="1">
            <a:off x="7354373"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1" name="Line 356">
            <a:extLst>
              <a:ext uri="{FF2B5EF4-FFF2-40B4-BE49-F238E27FC236}">
                <a16:creationId xmlns:a16="http://schemas.microsoft.com/office/drawing/2014/main" id="{749613C2-D41F-F70D-1FC0-B6C95FE00095}"/>
              </a:ext>
            </a:extLst>
          </p:cNvPr>
          <p:cNvSpPr>
            <a:spLocks noChangeShapeType="1"/>
          </p:cNvSpPr>
          <p:nvPr/>
        </p:nvSpPr>
        <p:spPr bwMode="auto">
          <a:xfrm flipV="1">
            <a:off x="5881920"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0" name="Line 356">
            <a:extLst>
              <a:ext uri="{FF2B5EF4-FFF2-40B4-BE49-F238E27FC236}">
                <a16:creationId xmlns:a16="http://schemas.microsoft.com/office/drawing/2014/main" id="{2C2E6CA3-4062-F21B-B8AD-07054B45E9E5}"/>
              </a:ext>
            </a:extLst>
          </p:cNvPr>
          <p:cNvSpPr>
            <a:spLocks noChangeShapeType="1"/>
          </p:cNvSpPr>
          <p:nvPr/>
        </p:nvSpPr>
        <p:spPr bwMode="auto">
          <a:xfrm flipV="1">
            <a:off x="4295167"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200" dirty="0"/>
              <a:t>Implement Visually Managed </a:t>
            </a:r>
            <a:br>
              <a:rPr lang="en-US" altLang="en-US" sz="3200" dirty="0"/>
            </a:br>
            <a:r>
              <a:rPr lang="en-US" altLang="en-US" sz="3200" dirty="0"/>
              <a:t>Queues to Couple Processes</a:t>
            </a:r>
            <a:endParaRPr lang="en-US" sz="32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123</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a:stCxn id="23" idx="1"/>
          </p:cNvCxnSpPr>
          <p:nvPr/>
        </p:nvCxnSpPr>
        <p:spPr bwMode="auto">
          <a:xfrm rot="10800000" flipV="1">
            <a:off x="2843569" y="2738438"/>
            <a:ext cx="1671635" cy="1990977"/>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545115" y="3994405"/>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7" y="4607782"/>
            <a:ext cx="864815" cy="534768"/>
            <a:chOff x="4920" y="2982"/>
            <a:chExt cx="567" cy="391"/>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567"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7" y="3182"/>
              <a:ext cx="24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 </a:t>
              </a:r>
              <a:r>
                <a:rPr lang="en-US" altLang="en-US" sz="1000" b="0" dirty="0">
                  <a:latin typeface="Roboto" panose="02000000000000000000" pitchFamily="2" charset="0"/>
                  <a:ea typeface="Roboto" panose="02000000000000000000" pitchFamily="2" charset="0"/>
                  <a:cs typeface="Roboto" panose="02000000000000000000" pitchFamily="2" charset="0"/>
                </a:rPr>
                <a:t>1</a:t>
              </a:r>
              <a:endParaRPr lang="en-US" altLang="en-US" sz="11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963871" cy="511175"/>
            <a:chOff x="4841" y="3355"/>
            <a:chExt cx="633"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559"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633" cy="374"/>
              <a:chOff x="4841" y="3355"/>
              <a:chExt cx="633"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63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600" b="0">
                    <a:latin typeface="Roboto" panose="02000000000000000000" pitchFamily="2" charset="0"/>
                    <a:cs typeface="Roboto" panose="02000000000000000000" pitchFamily="2" charset="0"/>
                  </a:rPr>
                  <a:t>”</a:t>
                </a:r>
                <a:endParaRPr lang="en-US" altLang="en-US" sz="6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32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6">
            <a:extLst>
              <a:ext uri="{FF2B5EF4-FFF2-40B4-BE49-F238E27FC236}">
                <a16:creationId xmlns:a16="http://schemas.microsoft.com/office/drawing/2014/main" id="{25F9D53B-67AA-FADA-BE37-9D4CA2BDA842}"/>
              </a:ext>
            </a:extLst>
          </p:cNvPr>
          <p:cNvGrpSpPr>
            <a:grpSpLocks/>
          </p:cNvGrpSpPr>
          <p:nvPr/>
        </p:nvGrpSpPr>
        <p:grpSpPr bwMode="auto">
          <a:xfrm>
            <a:off x="4805086" y="4559804"/>
            <a:ext cx="1119953" cy="550863"/>
            <a:chOff x="1520" y="2637"/>
            <a:chExt cx="775" cy="347"/>
          </a:xfrm>
        </p:grpSpPr>
        <p:sp>
          <p:nvSpPr>
            <p:cNvPr id="13" name="Rectangle 47">
              <a:extLst>
                <a:ext uri="{FF2B5EF4-FFF2-40B4-BE49-F238E27FC236}">
                  <a16:creationId xmlns:a16="http://schemas.microsoft.com/office/drawing/2014/main" id="{593C52CF-1732-9E5E-C9B8-3A0AA99764EA}"/>
                </a:ext>
              </a:extLst>
            </p:cNvPr>
            <p:cNvSpPr>
              <a:spLocks noChangeArrowheads="1"/>
            </p:cNvSpPr>
            <p:nvPr/>
          </p:nvSpPr>
          <p:spPr bwMode="auto">
            <a:xfrm>
              <a:off x="1520" y="2667"/>
              <a:ext cx="775" cy="314"/>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Line 48">
              <a:extLst>
                <a:ext uri="{FF2B5EF4-FFF2-40B4-BE49-F238E27FC236}">
                  <a16:creationId xmlns:a16="http://schemas.microsoft.com/office/drawing/2014/main" id="{0C662426-20CA-EB4C-561E-F60FDA6C8667}"/>
                </a:ext>
              </a:extLst>
            </p:cNvPr>
            <p:cNvSpPr>
              <a:spLocks noChangeShapeType="1"/>
            </p:cNvSpPr>
            <p:nvPr/>
          </p:nvSpPr>
          <p:spPr bwMode="auto">
            <a:xfrm>
              <a:off x="1525" y="2824"/>
              <a:ext cx="763" cy="1"/>
            </a:xfrm>
            <a:prstGeom prst="line">
              <a:avLst/>
            </a:prstGeom>
            <a:noFill/>
            <a:ln w="12700" cap="sq">
              <a:solidFill>
                <a:srgbClr val="222222"/>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nvGrpSpPr>
            <p:cNvPr id="15" name="Group 49">
              <a:extLst>
                <a:ext uri="{FF2B5EF4-FFF2-40B4-BE49-F238E27FC236}">
                  <a16:creationId xmlns:a16="http://schemas.microsoft.com/office/drawing/2014/main" id="{34D12E3C-BD24-B4B2-9BED-A238407FCFB3}"/>
                </a:ext>
              </a:extLst>
            </p:cNvPr>
            <p:cNvGrpSpPr>
              <a:grpSpLocks/>
            </p:cNvGrpSpPr>
            <p:nvPr/>
          </p:nvGrpSpPr>
          <p:grpSpPr bwMode="auto">
            <a:xfrm flipV="1">
              <a:off x="1806" y="2831"/>
              <a:ext cx="109" cy="97"/>
              <a:chOff x="720" y="3354"/>
              <a:chExt cx="192" cy="198"/>
            </a:xfrm>
          </p:grpSpPr>
          <p:sp>
            <p:nvSpPr>
              <p:cNvPr id="75" name="Oval 50">
                <a:extLst>
                  <a:ext uri="{FF2B5EF4-FFF2-40B4-BE49-F238E27FC236}">
                    <a16:creationId xmlns:a16="http://schemas.microsoft.com/office/drawing/2014/main" id="{1D2AECF8-633B-7C41-EECA-31FC6AFFBED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76" name="AutoShape 51">
                <a:extLst>
                  <a:ext uri="{FF2B5EF4-FFF2-40B4-BE49-F238E27FC236}">
                    <a16:creationId xmlns:a16="http://schemas.microsoft.com/office/drawing/2014/main" id="{D72773CA-EEF1-289A-EF47-3B561C7BAE1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22222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16" name="Text Box 52">
              <a:extLst>
                <a:ext uri="{FF2B5EF4-FFF2-40B4-BE49-F238E27FC236}">
                  <a16:creationId xmlns:a16="http://schemas.microsoft.com/office/drawing/2014/main" id="{13C578C0-8A8D-6105-A46E-FC9E1C21602D}"/>
                </a:ext>
              </a:extLst>
            </p:cNvPr>
            <p:cNvSpPr txBox="1">
              <a:spLocks noChangeArrowheads="1"/>
            </p:cNvSpPr>
            <p:nvPr/>
          </p:nvSpPr>
          <p:spPr bwMode="auto">
            <a:xfrm>
              <a:off x="1914" y="2829"/>
              <a:ext cx="23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 7</a:t>
              </a:r>
            </a:p>
          </p:txBody>
        </p:sp>
        <p:sp>
          <p:nvSpPr>
            <p:cNvPr id="17" name="Text Box 53">
              <a:extLst>
                <a:ext uri="{FF2B5EF4-FFF2-40B4-BE49-F238E27FC236}">
                  <a16:creationId xmlns:a16="http://schemas.microsoft.com/office/drawing/2014/main" id="{BAC2B45C-A260-80D7-6C27-18BA69B2BEE0}"/>
                </a:ext>
              </a:extLst>
            </p:cNvPr>
            <p:cNvSpPr txBox="1">
              <a:spLocks noChangeArrowheads="1"/>
            </p:cNvSpPr>
            <p:nvPr/>
          </p:nvSpPr>
          <p:spPr bwMode="auto">
            <a:xfrm>
              <a:off x="1559" y="2637"/>
              <a:ext cx="7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t>Data Entry &amp; Underwrite</a:t>
              </a:r>
            </a:p>
          </p:txBody>
        </p:sp>
      </p:grpSp>
      <p:sp>
        <p:nvSpPr>
          <p:cNvPr id="77" name="Rectangle 58">
            <a:extLst>
              <a:ext uri="{FF2B5EF4-FFF2-40B4-BE49-F238E27FC236}">
                <a16:creationId xmlns:a16="http://schemas.microsoft.com/office/drawing/2014/main" id="{F222E423-A05F-4CE2-6634-50DE040FBB05}"/>
              </a:ext>
            </a:extLst>
          </p:cNvPr>
          <p:cNvSpPr>
            <a:spLocks noChangeArrowheads="1"/>
          </p:cNvSpPr>
          <p:nvPr/>
        </p:nvSpPr>
        <p:spPr bwMode="auto">
          <a:xfrm>
            <a:off x="4790512" y="5174167"/>
            <a:ext cx="1135520" cy="492125"/>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78" name="Group 59">
            <a:extLst>
              <a:ext uri="{FF2B5EF4-FFF2-40B4-BE49-F238E27FC236}">
                <a16:creationId xmlns:a16="http://schemas.microsoft.com/office/drawing/2014/main" id="{799C8A91-246B-58FC-7FCF-7FAA7CA18F4D}"/>
              </a:ext>
            </a:extLst>
          </p:cNvPr>
          <p:cNvGrpSpPr>
            <a:grpSpLocks/>
          </p:cNvGrpSpPr>
          <p:nvPr/>
        </p:nvGrpSpPr>
        <p:grpSpPr bwMode="auto">
          <a:xfrm>
            <a:off x="4728018" y="5170992"/>
            <a:ext cx="1328738" cy="511175"/>
            <a:chOff x="4841" y="3355"/>
            <a:chExt cx="483" cy="374"/>
          </a:xfrm>
        </p:grpSpPr>
        <p:sp>
          <p:nvSpPr>
            <p:cNvPr id="79" name="Text Box 60">
              <a:extLst>
                <a:ext uri="{FF2B5EF4-FFF2-40B4-BE49-F238E27FC236}">
                  <a16:creationId xmlns:a16="http://schemas.microsoft.com/office/drawing/2014/main" id="{1F94D199-DF8B-6968-D0DC-9E4E0837C32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solidFill>
                  <a:srgbClr val="FF0000"/>
                </a:solidFill>
              </a:endParaRPr>
            </a:p>
          </p:txBody>
        </p:sp>
        <p:sp>
          <p:nvSpPr>
            <p:cNvPr id="80" name="Text Box 61">
              <a:extLst>
                <a:ext uri="{FF2B5EF4-FFF2-40B4-BE49-F238E27FC236}">
                  <a16:creationId xmlns:a16="http://schemas.microsoft.com/office/drawing/2014/main" id="{7D5ED516-07E8-5829-6A35-C455222D9930}"/>
                </a:ext>
              </a:extLst>
            </p:cNvPr>
            <p:cNvSpPr txBox="1">
              <a:spLocks noChangeArrowheads="1"/>
            </p:cNvSpPr>
            <p:nvPr/>
          </p:nvSpPr>
          <p:spPr bwMode="auto">
            <a:xfrm>
              <a:off x="4841" y="3511"/>
              <a:ext cx="48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Quality = 98%</a:t>
              </a:r>
            </a:p>
          </p:txBody>
        </p:sp>
        <p:sp>
          <p:nvSpPr>
            <p:cNvPr id="81" name="Rectangle 62">
              <a:extLst>
                <a:ext uri="{FF2B5EF4-FFF2-40B4-BE49-F238E27FC236}">
                  <a16:creationId xmlns:a16="http://schemas.microsoft.com/office/drawing/2014/main" id="{6A247257-7C7C-A477-4528-19D9116CCD8E}"/>
                </a:ext>
              </a:extLst>
            </p:cNvPr>
            <p:cNvSpPr>
              <a:spLocks noChangeArrowheads="1"/>
            </p:cNvSpPr>
            <p:nvPr/>
          </p:nvSpPr>
          <p:spPr bwMode="auto">
            <a:xfrm>
              <a:off x="4841" y="3355"/>
              <a:ext cx="44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Processing Time = 1,500</a:t>
              </a:r>
              <a:r>
                <a:rPr lang="ja-JP" altLang="en-US" sz="700" b="0"/>
                <a:t>”</a:t>
              </a:r>
              <a:endParaRPr lang="en-US" altLang="en-US" sz="700" b="0" dirty="0"/>
            </a:p>
          </p:txBody>
        </p:sp>
        <p:sp>
          <p:nvSpPr>
            <p:cNvPr id="82" name="Rectangle 63">
              <a:extLst>
                <a:ext uri="{FF2B5EF4-FFF2-40B4-BE49-F238E27FC236}">
                  <a16:creationId xmlns:a16="http://schemas.microsoft.com/office/drawing/2014/main" id="{AD20EA79-3DF3-2B6B-9CAD-DAE809BED08C}"/>
                </a:ext>
              </a:extLst>
            </p:cNvPr>
            <p:cNvSpPr>
              <a:spLocks noChangeArrowheads="1"/>
            </p:cNvSpPr>
            <p:nvPr/>
          </p:nvSpPr>
          <p:spPr bwMode="auto">
            <a:xfrm>
              <a:off x="4841" y="3437"/>
              <a:ext cx="22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DOI = 230"</a:t>
              </a:r>
            </a:p>
          </p:txBody>
        </p:sp>
      </p:grpSp>
      <p:grpSp>
        <p:nvGrpSpPr>
          <p:cNvPr id="83" name="Group 65">
            <a:extLst>
              <a:ext uri="{FF2B5EF4-FFF2-40B4-BE49-F238E27FC236}">
                <a16:creationId xmlns:a16="http://schemas.microsoft.com/office/drawing/2014/main" id="{A1A93E8F-782A-1A6F-3EB8-D536CDD8D7BD}"/>
              </a:ext>
            </a:extLst>
          </p:cNvPr>
          <p:cNvGrpSpPr>
            <a:grpSpLocks/>
          </p:cNvGrpSpPr>
          <p:nvPr/>
        </p:nvGrpSpPr>
        <p:grpSpPr bwMode="auto">
          <a:xfrm rot="2889621" flipV="1">
            <a:off x="5498749" y="4427249"/>
            <a:ext cx="212725" cy="115888"/>
            <a:chOff x="636" y="2054"/>
            <a:chExt cx="200" cy="298"/>
          </a:xfrm>
        </p:grpSpPr>
        <p:sp>
          <p:nvSpPr>
            <p:cNvPr id="84" name="Line 66">
              <a:extLst>
                <a:ext uri="{FF2B5EF4-FFF2-40B4-BE49-F238E27FC236}">
                  <a16:creationId xmlns:a16="http://schemas.microsoft.com/office/drawing/2014/main" id="{91F362D8-DEE4-45E3-3BF2-6D03CD38454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85" name="Line 67">
              <a:extLst>
                <a:ext uri="{FF2B5EF4-FFF2-40B4-BE49-F238E27FC236}">
                  <a16:creationId xmlns:a16="http://schemas.microsoft.com/office/drawing/2014/main" id="{84666961-9A63-5CCD-1802-D9542EDFF045}"/>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86" name="Line 68">
              <a:extLst>
                <a:ext uri="{FF2B5EF4-FFF2-40B4-BE49-F238E27FC236}">
                  <a16:creationId xmlns:a16="http://schemas.microsoft.com/office/drawing/2014/main" id="{059026AD-665C-C5E4-7EA9-2FF77855E1A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01" name="Group 100">
            <a:extLst>
              <a:ext uri="{FF2B5EF4-FFF2-40B4-BE49-F238E27FC236}">
                <a16:creationId xmlns:a16="http://schemas.microsoft.com/office/drawing/2014/main" id="{C65D52A7-AB3D-6FF9-3C5B-DACF40C2D7C6}"/>
              </a:ext>
            </a:extLst>
          </p:cNvPr>
          <p:cNvGrpSpPr/>
          <p:nvPr/>
        </p:nvGrpSpPr>
        <p:grpSpPr>
          <a:xfrm>
            <a:off x="6315205" y="4529272"/>
            <a:ext cx="1292924" cy="1389995"/>
            <a:chOff x="8538106" y="4228532"/>
            <a:chExt cx="1292924" cy="1389995"/>
          </a:xfrm>
        </p:grpSpPr>
        <p:grpSp>
          <p:nvGrpSpPr>
            <p:cNvPr id="102" name="Group 101">
              <a:extLst>
                <a:ext uri="{FF2B5EF4-FFF2-40B4-BE49-F238E27FC236}">
                  <a16:creationId xmlns:a16="http://schemas.microsoft.com/office/drawing/2014/main" id="{DB342FD3-B6BF-F4E7-3E12-56C919D7162D}"/>
                </a:ext>
              </a:extLst>
            </p:cNvPr>
            <p:cNvGrpSpPr/>
            <p:nvPr/>
          </p:nvGrpSpPr>
          <p:grpSpPr>
            <a:xfrm>
              <a:off x="8550974" y="4228532"/>
              <a:ext cx="1066101" cy="811908"/>
              <a:chOff x="8550974" y="4228532"/>
              <a:chExt cx="1066101" cy="811908"/>
            </a:xfrm>
          </p:grpSpPr>
          <p:sp>
            <p:nvSpPr>
              <p:cNvPr id="107" name="Rectangle 69">
                <a:extLst>
                  <a:ext uri="{FF2B5EF4-FFF2-40B4-BE49-F238E27FC236}">
                    <a16:creationId xmlns:a16="http://schemas.microsoft.com/office/drawing/2014/main" id="{2E7284A1-31EB-4437-C66F-C44ED64EA43E}"/>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Line 70">
                <a:extLst>
                  <a:ext uri="{FF2B5EF4-FFF2-40B4-BE49-F238E27FC236}">
                    <a16:creationId xmlns:a16="http://schemas.microsoft.com/office/drawing/2014/main" id="{2FB3277C-0A80-FB4C-3E70-E562260F8DE9}"/>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09" name="Text Box 71">
                <a:extLst>
                  <a:ext uri="{FF2B5EF4-FFF2-40B4-BE49-F238E27FC236}">
                    <a16:creationId xmlns:a16="http://schemas.microsoft.com/office/drawing/2014/main" id="{01A4B12F-A00C-B853-9FCE-2D0461C34FFC}"/>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10" name="Group 72">
                <a:extLst>
                  <a:ext uri="{FF2B5EF4-FFF2-40B4-BE49-F238E27FC236}">
                    <a16:creationId xmlns:a16="http://schemas.microsoft.com/office/drawing/2014/main" id="{41BC2C74-F8DA-8F3A-6B89-D192D72838FE}"/>
                  </a:ext>
                </a:extLst>
              </p:cNvPr>
              <p:cNvGrpSpPr>
                <a:grpSpLocks/>
              </p:cNvGrpSpPr>
              <p:nvPr/>
            </p:nvGrpSpPr>
            <p:grpSpPr bwMode="auto">
              <a:xfrm flipV="1">
                <a:off x="8729819" y="4659836"/>
                <a:ext cx="269429" cy="284707"/>
                <a:chOff x="720" y="3354"/>
                <a:chExt cx="192" cy="198"/>
              </a:xfrm>
            </p:grpSpPr>
            <p:sp>
              <p:nvSpPr>
                <p:cNvPr id="112" name="Oval 73">
                  <a:extLst>
                    <a:ext uri="{FF2B5EF4-FFF2-40B4-BE49-F238E27FC236}">
                      <a16:creationId xmlns:a16="http://schemas.microsoft.com/office/drawing/2014/main" id="{A2EA520C-6953-8CEA-A079-3F9677001C2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3" name="AutoShape 74">
                  <a:extLst>
                    <a:ext uri="{FF2B5EF4-FFF2-40B4-BE49-F238E27FC236}">
                      <a16:creationId xmlns:a16="http://schemas.microsoft.com/office/drawing/2014/main" id="{D58C4A61-3073-C428-C2FB-9F6C5D66BE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11" name="Text Box 75">
                <a:extLst>
                  <a:ext uri="{FF2B5EF4-FFF2-40B4-BE49-F238E27FC236}">
                    <a16:creationId xmlns:a16="http://schemas.microsoft.com/office/drawing/2014/main" id="{49D6D1A6-28E0-0EF1-8775-2C5AE2DD2635}"/>
                  </a:ext>
                </a:extLst>
              </p:cNvPr>
              <p:cNvSpPr txBox="1">
                <a:spLocks noChangeArrowheads="1"/>
              </p:cNvSpPr>
              <p:nvPr/>
            </p:nvSpPr>
            <p:spPr bwMode="auto">
              <a:xfrm>
                <a:off x="9084333" y="4619164"/>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1</a:t>
                </a:r>
              </a:p>
            </p:txBody>
          </p:sp>
        </p:grpSp>
        <p:sp>
          <p:nvSpPr>
            <p:cNvPr id="103" name="Rectangle 348">
              <a:extLst>
                <a:ext uri="{FF2B5EF4-FFF2-40B4-BE49-F238E27FC236}">
                  <a16:creationId xmlns:a16="http://schemas.microsoft.com/office/drawing/2014/main" id="{E09DDCCF-DE58-75BC-8B45-E2E918AFE1F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4" name="Text Box 351">
              <a:extLst>
                <a:ext uri="{FF2B5EF4-FFF2-40B4-BE49-F238E27FC236}">
                  <a16:creationId xmlns:a16="http://schemas.microsoft.com/office/drawing/2014/main" id="{825067FD-1777-2C1A-F169-67905F921E4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05" name="Rectangle 352">
              <a:extLst>
                <a:ext uri="{FF2B5EF4-FFF2-40B4-BE49-F238E27FC236}">
                  <a16:creationId xmlns:a16="http://schemas.microsoft.com/office/drawing/2014/main" id="{B4180EC6-7314-85DC-6098-009445324DA0}"/>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6" name="Rectangle 353">
              <a:extLst>
                <a:ext uri="{FF2B5EF4-FFF2-40B4-BE49-F238E27FC236}">
                  <a16:creationId xmlns:a16="http://schemas.microsoft.com/office/drawing/2014/main" id="{F4187A6B-9B9F-AAAC-D9EC-4AB77CA46D18}"/>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1" name="Group 140">
            <a:extLst>
              <a:ext uri="{FF2B5EF4-FFF2-40B4-BE49-F238E27FC236}">
                <a16:creationId xmlns:a16="http://schemas.microsoft.com/office/drawing/2014/main" id="{06E7EA4F-DDFA-9838-4B47-60FF9D7BDDC4}"/>
              </a:ext>
            </a:extLst>
          </p:cNvPr>
          <p:cNvGrpSpPr/>
          <p:nvPr/>
        </p:nvGrpSpPr>
        <p:grpSpPr>
          <a:xfrm>
            <a:off x="3256456" y="4548579"/>
            <a:ext cx="1292924" cy="1329565"/>
            <a:chOff x="8543569" y="4228532"/>
            <a:chExt cx="1292924" cy="1329565"/>
          </a:xfrm>
        </p:grpSpPr>
        <p:grpSp>
          <p:nvGrpSpPr>
            <p:cNvPr id="142" name="Group 141">
              <a:extLst>
                <a:ext uri="{FF2B5EF4-FFF2-40B4-BE49-F238E27FC236}">
                  <a16:creationId xmlns:a16="http://schemas.microsoft.com/office/drawing/2014/main" id="{142DCCAE-16A6-EA37-D4FE-22D7699143C2}"/>
                </a:ext>
              </a:extLst>
            </p:cNvPr>
            <p:cNvGrpSpPr/>
            <p:nvPr/>
          </p:nvGrpSpPr>
          <p:grpSpPr>
            <a:xfrm>
              <a:off x="8550974" y="4228532"/>
              <a:ext cx="1065371" cy="753082"/>
              <a:chOff x="8550974" y="4228532"/>
              <a:chExt cx="1065371" cy="753082"/>
            </a:xfrm>
          </p:grpSpPr>
          <p:sp>
            <p:nvSpPr>
              <p:cNvPr id="147" name="Rectangle 69">
                <a:extLst>
                  <a:ext uri="{FF2B5EF4-FFF2-40B4-BE49-F238E27FC236}">
                    <a16:creationId xmlns:a16="http://schemas.microsoft.com/office/drawing/2014/main" id="{A5DD8DC5-EAB4-90CF-994D-878ED9F3C71A}"/>
                  </a:ext>
                </a:extLst>
              </p:cNvPr>
              <p:cNvSpPr>
                <a:spLocks noChangeArrowheads="1"/>
              </p:cNvSpPr>
              <p:nvPr/>
            </p:nvSpPr>
            <p:spPr bwMode="auto">
              <a:xfrm>
                <a:off x="8550974" y="4292084"/>
                <a:ext cx="1065371" cy="68953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8" name="Line 70">
                <a:extLst>
                  <a:ext uri="{FF2B5EF4-FFF2-40B4-BE49-F238E27FC236}">
                    <a16:creationId xmlns:a16="http://schemas.microsoft.com/office/drawing/2014/main" id="{9047493B-163C-3D4A-34D6-DDD5C364BE7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49" name="Text Box 71">
                <a:extLst>
                  <a:ext uri="{FF2B5EF4-FFF2-40B4-BE49-F238E27FC236}">
                    <a16:creationId xmlns:a16="http://schemas.microsoft.com/office/drawing/2014/main" id="{4E1A3E4F-62AF-38A4-2C5F-DF7FC13B0F6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50" name="Group 72">
                <a:extLst>
                  <a:ext uri="{FF2B5EF4-FFF2-40B4-BE49-F238E27FC236}">
                    <a16:creationId xmlns:a16="http://schemas.microsoft.com/office/drawing/2014/main" id="{64A9EFDB-5880-9C32-D0F2-634930450EDD}"/>
                  </a:ext>
                </a:extLst>
              </p:cNvPr>
              <p:cNvGrpSpPr>
                <a:grpSpLocks/>
              </p:cNvGrpSpPr>
              <p:nvPr/>
            </p:nvGrpSpPr>
            <p:grpSpPr bwMode="auto">
              <a:xfrm flipV="1">
                <a:off x="8799977" y="4616708"/>
                <a:ext cx="228733" cy="241569"/>
                <a:chOff x="770" y="3414"/>
                <a:chExt cx="163" cy="168"/>
              </a:xfrm>
            </p:grpSpPr>
            <p:sp>
              <p:nvSpPr>
                <p:cNvPr id="152" name="Oval 73">
                  <a:extLst>
                    <a:ext uri="{FF2B5EF4-FFF2-40B4-BE49-F238E27FC236}">
                      <a16:creationId xmlns:a16="http://schemas.microsoft.com/office/drawing/2014/main" id="{44D25379-5789-5D8C-DEAD-EE03F7DA0CB8}"/>
                    </a:ext>
                  </a:extLst>
                </p:cNvPr>
                <p:cNvSpPr>
                  <a:spLocks noChangeArrowheads="1"/>
                </p:cNvSpPr>
                <p:nvPr/>
              </p:nvSpPr>
              <p:spPr bwMode="auto">
                <a:xfrm>
                  <a:off x="818" y="3453"/>
                  <a:ext cx="81" cy="8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3" name="AutoShape 74">
                  <a:extLst>
                    <a:ext uri="{FF2B5EF4-FFF2-40B4-BE49-F238E27FC236}">
                      <a16:creationId xmlns:a16="http://schemas.microsoft.com/office/drawing/2014/main" id="{F43342DC-1F84-211F-32E4-B79B9F73BE99}"/>
                    </a:ext>
                  </a:extLst>
                </p:cNvPr>
                <p:cNvSpPr>
                  <a:spLocks noChangeArrowheads="1"/>
                </p:cNvSpPr>
                <p:nvPr/>
              </p:nvSpPr>
              <p:spPr bwMode="auto">
                <a:xfrm>
                  <a:off x="770" y="3414"/>
                  <a:ext cx="163" cy="16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1" name="Text Box 75">
                <a:extLst>
                  <a:ext uri="{FF2B5EF4-FFF2-40B4-BE49-F238E27FC236}">
                    <a16:creationId xmlns:a16="http://schemas.microsoft.com/office/drawing/2014/main" id="{2F9B827D-BEED-7B24-4DE5-83A40F27E4EF}"/>
                  </a:ext>
                </a:extLst>
              </p:cNvPr>
              <p:cNvSpPr txBox="1">
                <a:spLocks noChangeArrowheads="1"/>
              </p:cNvSpPr>
              <p:nvPr/>
            </p:nvSpPr>
            <p:spPr bwMode="auto">
              <a:xfrm>
                <a:off x="9076319" y="4619164"/>
                <a:ext cx="3754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50" b="0" dirty="0">
                    <a:latin typeface="Roboto" panose="02000000000000000000" pitchFamily="2" charset="0"/>
                    <a:ea typeface="Roboto" panose="02000000000000000000" pitchFamily="2" charset="0"/>
                    <a:cs typeface="Roboto" panose="02000000000000000000" pitchFamily="2" charset="0"/>
                  </a:rPr>
                  <a:t>= 2</a:t>
                </a:r>
              </a:p>
            </p:txBody>
          </p:sp>
        </p:grpSp>
        <p:sp>
          <p:nvSpPr>
            <p:cNvPr id="143" name="Rectangle 348">
              <a:extLst>
                <a:ext uri="{FF2B5EF4-FFF2-40B4-BE49-F238E27FC236}">
                  <a16:creationId xmlns:a16="http://schemas.microsoft.com/office/drawing/2014/main" id="{6A2B63CC-4B80-75D5-D057-F0B8EA54B30B}"/>
                </a:ext>
              </a:extLst>
            </p:cNvPr>
            <p:cNvSpPr>
              <a:spLocks noChangeArrowheads="1"/>
            </p:cNvSpPr>
            <p:nvPr/>
          </p:nvSpPr>
          <p:spPr bwMode="auto">
            <a:xfrm>
              <a:off x="8552506" y="4977321"/>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4" name="Text Box 351">
              <a:extLst>
                <a:ext uri="{FF2B5EF4-FFF2-40B4-BE49-F238E27FC236}">
                  <a16:creationId xmlns:a16="http://schemas.microsoft.com/office/drawing/2014/main" id="{D4413699-5A7E-90A0-3E9E-5987A32AC702}"/>
                </a:ext>
              </a:extLst>
            </p:cNvPr>
            <p:cNvSpPr txBox="1">
              <a:spLocks noChangeArrowheads="1"/>
            </p:cNvSpPr>
            <p:nvPr/>
          </p:nvSpPr>
          <p:spPr bwMode="auto">
            <a:xfrm>
              <a:off x="8543569" y="532700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45" name="Rectangle 352">
              <a:extLst>
                <a:ext uri="{FF2B5EF4-FFF2-40B4-BE49-F238E27FC236}">
                  <a16:creationId xmlns:a16="http://schemas.microsoft.com/office/drawing/2014/main" id="{5AAAEC90-F813-3006-AF9C-E48FF7F21498}"/>
                </a:ext>
              </a:extLst>
            </p:cNvPr>
            <p:cNvSpPr>
              <a:spLocks noChangeArrowheads="1"/>
            </p:cNvSpPr>
            <p:nvPr/>
          </p:nvSpPr>
          <p:spPr bwMode="auto">
            <a:xfrm>
              <a:off x="8551545" y="498854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6" name="Rectangle 353">
              <a:extLst>
                <a:ext uri="{FF2B5EF4-FFF2-40B4-BE49-F238E27FC236}">
                  <a16:creationId xmlns:a16="http://schemas.microsoft.com/office/drawing/2014/main" id="{3521151A-9640-5D07-C25D-ACA16B68F905}"/>
                </a:ext>
              </a:extLst>
            </p:cNvPr>
            <p:cNvSpPr>
              <a:spLocks noChangeArrowheads="1"/>
            </p:cNvSpPr>
            <p:nvPr/>
          </p:nvSpPr>
          <p:spPr bwMode="auto">
            <a:xfrm>
              <a:off x="8567743" y="515691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54" name="Group 226">
            <a:extLst>
              <a:ext uri="{FF2B5EF4-FFF2-40B4-BE49-F238E27FC236}">
                <a16:creationId xmlns:a16="http://schemas.microsoft.com/office/drawing/2014/main" id="{615B5CE8-3FAA-4F5A-43D4-61CD910F4CA0}"/>
              </a:ext>
            </a:extLst>
          </p:cNvPr>
          <p:cNvGrpSpPr>
            <a:grpSpLocks/>
          </p:cNvGrpSpPr>
          <p:nvPr/>
        </p:nvGrpSpPr>
        <p:grpSpPr bwMode="auto">
          <a:xfrm rot="14945091" flipV="1">
            <a:off x="5103126" y="4426412"/>
            <a:ext cx="212725" cy="115888"/>
            <a:chOff x="636" y="2054"/>
            <a:chExt cx="200" cy="298"/>
          </a:xfrm>
        </p:grpSpPr>
        <p:sp>
          <p:nvSpPr>
            <p:cNvPr id="155" name="Line 227">
              <a:extLst>
                <a:ext uri="{FF2B5EF4-FFF2-40B4-BE49-F238E27FC236}">
                  <a16:creationId xmlns:a16="http://schemas.microsoft.com/office/drawing/2014/main" id="{CBBC72E0-F5BF-7FE9-4077-DC3735C9558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56" name="Line 228">
              <a:extLst>
                <a:ext uri="{FF2B5EF4-FFF2-40B4-BE49-F238E27FC236}">
                  <a16:creationId xmlns:a16="http://schemas.microsoft.com/office/drawing/2014/main" id="{B8989CFC-4494-3519-3C5F-A47A88B24FE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57" name="Line 229">
              <a:extLst>
                <a:ext uri="{FF2B5EF4-FFF2-40B4-BE49-F238E27FC236}">
                  <a16:creationId xmlns:a16="http://schemas.microsoft.com/office/drawing/2014/main" id="{C690C826-DCE2-FDB6-B75D-1AAB5F7711F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64" name="Line 268">
            <a:extLst>
              <a:ext uri="{FF2B5EF4-FFF2-40B4-BE49-F238E27FC236}">
                <a16:creationId xmlns:a16="http://schemas.microsoft.com/office/drawing/2014/main" id="{CE5C4FF5-4670-1421-74DE-78D9F9310737}"/>
              </a:ext>
            </a:extLst>
          </p:cNvPr>
          <p:cNvSpPr>
            <a:spLocks noChangeShapeType="1"/>
          </p:cNvSpPr>
          <p:nvPr/>
        </p:nvSpPr>
        <p:spPr bwMode="auto">
          <a:xfrm>
            <a:off x="5901244"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5" name="Line 269">
            <a:extLst>
              <a:ext uri="{FF2B5EF4-FFF2-40B4-BE49-F238E27FC236}">
                <a16:creationId xmlns:a16="http://schemas.microsoft.com/office/drawing/2014/main" id="{D51837C8-3467-ECEA-C43F-ED3AFD89F404}"/>
              </a:ext>
            </a:extLst>
          </p:cNvPr>
          <p:cNvSpPr>
            <a:spLocks noChangeShapeType="1"/>
          </p:cNvSpPr>
          <p:nvPr/>
        </p:nvSpPr>
        <p:spPr bwMode="auto">
          <a:xfrm>
            <a:off x="4650294"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66" name="AutoShape 270">
            <a:extLst>
              <a:ext uri="{FF2B5EF4-FFF2-40B4-BE49-F238E27FC236}">
                <a16:creationId xmlns:a16="http://schemas.microsoft.com/office/drawing/2014/main" id="{644A251D-3EB0-463F-B6BF-CD49F21CEFC2}"/>
              </a:ext>
            </a:extLst>
          </p:cNvPr>
          <p:cNvCxnSpPr>
            <a:cxnSpLocks noChangeShapeType="1"/>
            <a:stCxn id="165" idx="1"/>
            <a:endCxn id="164" idx="1"/>
          </p:cNvCxnSpPr>
          <p:nvPr/>
        </p:nvCxnSpPr>
        <p:spPr bwMode="auto">
          <a:xfrm>
            <a:off x="4650294" y="6321887"/>
            <a:ext cx="1250950"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67" name="Rectangle 271">
            <a:extLst>
              <a:ext uri="{FF2B5EF4-FFF2-40B4-BE49-F238E27FC236}">
                <a16:creationId xmlns:a16="http://schemas.microsoft.com/office/drawing/2014/main" id="{27BF1039-8E7A-B34A-A569-52D02243C751}"/>
              </a:ext>
            </a:extLst>
          </p:cNvPr>
          <p:cNvSpPr>
            <a:spLocks noChangeArrowheads="1"/>
          </p:cNvSpPr>
          <p:nvPr/>
        </p:nvSpPr>
        <p:spPr bwMode="auto">
          <a:xfrm>
            <a:off x="4974144" y="6129799"/>
            <a:ext cx="6492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1,500 sec</a:t>
            </a:r>
          </a:p>
        </p:txBody>
      </p:sp>
      <p:sp>
        <p:nvSpPr>
          <p:cNvPr id="168" name="Line 299">
            <a:extLst>
              <a:ext uri="{FF2B5EF4-FFF2-40B4-BE49-F238E27FC236}">
                <a16:creationId xmlns:a16="http://schemas.microsoft.com/office/drawing/2014/main" id="{81F7D6D1-559F-B21F-F28D-C087E77D1080}"/>
              </a:ext>
            </a:extLst>
          </p:cNvPr>
          <p:cNvSpPr>
            <a:spLocks noChangeShapeType="1"/>
          </p:cNvSpPr>
          <p:nvPr/>
        </p:nvSpPr>
        <p:spPr bwMode="auto">
          <a:xfrm>
            <a:off x="3388231"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9" name="Line 300">
            <a:extLst>
              <a:ext uri="{FF2B5EF4-FFF2-40B4-BE49-F238E27FC236}">
                <a16:creationId xmlns:a16="http://schemas.microsoft.com/office/drawing/2014/main" id="{24388188-58D4-A17D-3CC1-9A079642805F}"/>
              </a:ext>
            </a:extLst>
          </p:cNvPr>
          <p:cNvSpPr>
            <a:spLocks noChangeShapeType="1"/>
          </p:cNvSpPr>
          <p:nvPr/>
        </p:nvSpPr>
        <p:spPr bwMode="auto">
          <a:xfrm>
            <a:off x="4089906"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0" name="AutoShape 316">
            <a:extLst>
              <a:ext uri="{FF2B5EF4-FFF2-40B4-BE49-F238E27FC236}">
                <a16:creationId xmlns:a16="http://schemas.microsoft.com/office/drawing/2014/main" id="{09DEE2B7-7796-31E1-B04A-3DA4B3BF7527}"/>
              </a:ext>
            </a:extLst>
          </p:cNvPr>
          <p:cNvCxnSpPr>
            <a:cxnSpLocks noChangeShapeType="1"/>
            <a:stCxn id="168" idx="1"/>
            <a:endCxn id="169" idx="1"/>
          </p:cNvCxnSpPr>
          <p:nvPr/>
        </p:nvCxnSpPr>
        <p:spPr bwMode="auto">
          <a:xfrm>
            <a:off x="3388231" y="6321887"/>
            <a:ext cx="701675"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1" name="Rectangle 317">
            <a:extLst>
              <a:ext uri="{FF2B5EF4-FFF2-40B4-BE49-F238E27FC236}">
                <a16:creationId xmlns:a16="http://schemas.microsoft.com/office/drawing/2014/main" id="{8C1421D8-0767-E559-3265-FCCB70971A5C}"/>
              </a:ext>
            </a:extLst>
          </p:cNvPr>
          <p:cNvSpPr>
            <a:spLocks noChangeArrowheads="1"/>
          </p:cNvSpPr>
          <p:nvPr/>
        </p:nvSpPr>
        <p:spPr bwMode="auto">
          <a:xfrm>
            <a:off x="3473956" y="6129799"/>
            <a:ext cx="511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 sec</a:t>
            </a:r>
          </a:p>
        </p:txBody>
      </p:sp>
      <p:sp>
        <p:nvSpPr>
          <p:cNvPr id="172" name="Rectangle 318">
            <a:extLst>
              <a:ext uri="{FF2B5EF4-FFF2-40B4-BE49-F238E27FC236}">
                <a16:creationId xmlns:a16="http://schemas.microsoft.com/office/drawing/2014/main" id="{DC5FCBF6-A6CD-A26D-31B0-992B8C7937F7}"/>
              </a:ext>
            </a:extLst>
          </p:cNvPr>
          <p:cNvSpPr>
            <a:spLocks noChangeArrowheads="1"/>
          </p:cNvSpPr>
          <p:nvPr/>
        </p:nvSpPr>
        <p:spPr bwMode="auto">
          <a:xfrm>
            <a:off x="7769731" y="6129799"/>
            <a:ext cx="647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45 sec</a:t>
            </a:r>
          </a:p>
        </p:txBody>
      </p:sp>
      <p:sp>
        <p:nvSpPr>
          <p:cNvPr id="173" name="Line 334">
            <a:extLst>
              <a:ext uri="{FF2B5EF4-FFF2-40B4-BE49-F238E27FC236}">
                <a16:creationId xmlns:a16="http://schemas.microsoft.com/office/drawing/2014/main" id="{0A36D6CB-9AAC-2E05-EA71-AE674CA31020}"/>
              </a:ext>
            </a:extLst>
          </p:cNvPr>
          <p:cNvSpPr>
            <a:spLocks noChangeShapeType="1"/>
          </p:cNvSpPr>
          <p:nvPr/>
        </p:nvSpPr>
        <p:spPr bwMode="auto">
          <a:xfrm flipV="1">
            <a:off x="7717344" y="6323474"/>
            <a:ext cx="612775"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4" name="AutoShape 335">
            <a:extLst>
              <a:ext uri="{FF2B5EF4-FFF2-40B4-BE49-F238E27FC236}">
                <a16:creationId xmlns:a16="http://schemas.microsoft.com/office/drawing/2014/main" id="{A36E29A5-A9FA-F74F-0798-C816DEE0E06B}"/>
              </a:ext>
            </a:extLst>
          </p:cNvPr>
          <p:cNvCxnSpPr>
            <a:cxnSpLocks noChangeShapeType="1"/>
          </p:cNvCxnSpPr>
          <p:nvPr/>
        </p:nvCxnSpPr>
        <p:spPr bwMode="auto">
          <a:xfrm>
            <a:off x="7710994" y="6131387"/>
            <a:ext cx="1587" cy="195262"/>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5" name="Line 351">
            <a:extLst>
              <a:ext uri="{FF2B5EF4-FFF2-40B4-BE49-F238E27FC236}">
                <a16:creationId xmlns:a16="http://schemas.microsoft.com/office/drawing/2014/main" id="{24EB96B0-A16D-63FC-F92D-2E31150DEA27}"/>
              </a:ext>
            </a:extLst>
          </p:cNvPr>
          <p:cNvSpPr>
            <a:spLocks noChangeShapeType="1"/>
          </p:cNvSpPr>
          <p:nvPr/>
        </p:nvSpPr>
        <p:spPr bwMode="auto">
          <a:xfrm>
            <a:off x="7195056" y="6128212"/>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76" name="Line 352">
            <a:extLst>
              <a:ext uri="{FF2B5EF4-FFF2-40B4-BE49-F238E27FC236}">
                <a16:creationId xmlns:a16="http://schemas.microsoft.com/office/drawing/2014/main" id="{8ECD759F-EC3F-9DD9-2B9B-03782245BB7E}"/>
              </a:ext>
            </a:extLst>
          </p:cNvPr>
          <p:cNvSpPr>
            <a:spLocks noChangeShapeType="1"/>
          </p:cNvSpPr>
          <p:nvPr/>
        </p:nvSpPr>
        <p:spPr bwMode="auto">
          <a:xfrm>
            <a:off x="6460044" y="6126624"/>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7" name="AutoShape 353">
            <a:extLst>
              <a:ext uri="{FF2B5EF4-FFF2-40B4-BE49-F238E27FC236}">
                <a16:creationId xmlns:a16="http://schemas.microsoft.com/office/drawing/2014/main" id="{23A5CFA2-E0E3-2D54-E12A-D48C1657EAFD}"/>
              </a:ext>
            </a:extLst>
          </p:cNvPr>
          <p:cNvCxnSpPr>
            <a:cxnSpLocks noChangeShapeType="1"/>
            <a:stCxn id="176" idx="1"/>
            <a:endCxn id="175" idx="1"/>
          </p:cNvCxnSpPr>
          <p:nvPr/>
        </p:nvCxnSpPr>
        <p:spPr bwMode="auto">
          <a:xfrm>
            <a:off x="6460044" y="6318712"/>
            <a:ext cx="735012"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8" name="Rectangle 354">
            <a:extLst>
              <a:ext uri="{FF2B5EF4-FFF2-40B4-BE49-F238E27FC236}">
                <a16:creationId xmlns:a16="http://schemas.microsoft.com/office/drawing/2014/main" id="{071C9CF3-0476-2465-0E07-41517E4BF467}"/>
              </a:ext>
            </a:extLst>
          </p:cNvPr>
          <p:cNvSpPr>
            <a:spLocks noChangeArrowheads="1"/>
          </p:cNvSpPr>
          <p:nvPr/>
        </p:nvSpPr>
        <p:spPr bwMode="auto">
          <a:xfrm>
            <a:off x="6504494" y="6126624"/>
            <a:ext cx="6429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420 sec</a:t>
            </a:r>
          </a:p>
        </p:txBody>
      </p:sp>
      <p:sp>
        <p:nvSpPr>
          <p:cNvPr id="179" name="Line 361">
            <a:extLst>
              <a:ext uri="{FF2B5EF4-FFF2-40B4-BE49-F238E27FC236}">
                <a16:creationId xmlns:a16="http://schemas.microsoft.com/office/drawing/2014/main" id="{7014722D-985F-82F0-C323-D273071E0513}"/>
              </a:ext>
            </a:extLst>
          </p:cNvPr>
          <p:cNvSpPr>
            <a:spLocks noChangeShapeType="1"/>
          </p:cNvSpPr>
          <p:nvPr/>
        </p:nvSpPr>
        <p:spPr bwMode="auto">
          <a:xfrm flipV="1">
            <a:off x="2821494" y="6134562"/>
            <a:ext cx="56038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0" name="Rectangle 362">
            <a:extLst>
              <a:ext uri="{FF2B5EF4-FFF2-40B4-BE49-F238E27FC236}">
                <a16:creationId xmlns:a16="http://schemas.microsoft.com/office/drawing/2014/main" id="{45EE385C-00F1-E401-07CC-6471ED434866}"/>
              </a:ext>
            </a:extLst>
          </p:cNvPr>
          <p:cNvSpPr>
            <a:spLocks noChangeArrowheads="1"/>
          </p:cNvSpPr>
          <p:nvPr/>
        </p:nvSpPr>
        <p:spPr bwMode="auto">
          <a:xfrm>
            <a:off x="2738944" y="5951999"/>
            <a:ext cx="6556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1" name="Line 363">
            <a:extLst>
              <a:ext uri="{FF2B5EF4-FFF2-40B4-BE49-F238E27FC236}">
                <a16:creationId xmlns:a16="http://schemas.microsoft.com/office/drawing/2014/main" id="{CC68361B-3CA7-4366-114A-319B296DB70B}"/>
              </a:ext>
            </a:extLst>
          </p:cNvPr>
          <p:cNvSpPr>
            <a:spLocks noChangeShapeType="1"/>
          </p:cNvSpPr>
          <p:nvPr/>
        </p:nvSpPr>
        <p:spPr bwMode="auto">
          <a:xfrm flipV="1">
            <a:off x="4086731" y="6134562"/>
            <a:ext cx="56197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2" name="Rectangle 364">
            <a:extLst>
              <a:ext uri="{FF2B5EF4-FFF2-40B4-BE49-F238E27FC236}">
                <a16:creationId xmlns:a16="http://schemas.microsoft.com/office/drawing/2014/main" id="{AB3A4439-1F8D-F4CF-405E-3425666261AC}"/>
              </a:ext>
            </a:extLst>
          </p:cNvPr>
          <p:cNvSpPr>
            <a:spLocks noChangeArrowheads="1"/>
          </p:cNvSpPr>
          <p:nvPr/>
        </p:nvSpPr>
        <p:spPr bwMode="auto">
          <a:xfrm>
            <a:off x="5885369"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0 day</a:t>
            </a:r>
          </a:p>
        </p:txBody>
      </p:sp>
      <p:sp>
        <p:nvSpPr>
          <p:cNvPr id="183" name="Rectangle 365">
            <a:extLst>
              <a:ext uri="{FF2B5EF4-FFF2-40B4-BE49-F238E27FC236}">
                <a16:creationId xmlns:a16="http://schemas.microsoft.com/office/drawing/2014/main" id="{AEB1556A-C328-6609-17E8-31AFE33972B5}"/>
              </a:ext>
            </a:extLst>
          </p:cNvPr>
          <p:cNvSpPr>
            <a:spLocks noChangeArrowheads="1"/>
          </p:cNvSpPr>
          <p:nvPr/>
        </p:nvSpPr>
        <p:spPr bwMode="auto">
          <a:xfrm>
            <a:off x="7149019" y="5951999"/>
            <a:ext cx="5889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4" name="Line 366">
            <a:extLst>
              <a:ext uri="{FF2B5EF4-FFF2-40B4-BE49-F238E27FC236}">
                <a16:creationId xmlns:a16="http://schemas.microsoft.com/office/drawing/2014/main" id="{3BC5B6E5-CE8F-EF93-787E-01B30EEB3C25}"/>
              </a:ext>
            </a:extLst>
          </p:cNvPr>
          <p:cNvSpPr>
            <a:spLocks noChangeShapeType="1"/>
          </p:cNvSpPr>
          <p:nvPr/>
        </p:nvSpPr>
        <p:spPr bwMode="auto">
          <a:xfrm>
            <a:off x="7185531" y="6132974"/>
            <a:ext cx="519113"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5" name="Line 367">
            <a:extLst>
              <a:ext uri="{FF2B5EF4-FFF2-40B4-BE49-F238E27FC236}">
                <a16:creationId xmlns:a16="http://schemas.microsoft.com/office/drawing/2014/main" id="{8A5DF2B4-092C-DFC3-0BE6-33BBCA5370D3}"/>
              </a:ext>
            </a:extLst>
          </p:cNvPr>
          <p:cNvSpPr>
            <a:spLocks noChangeShapeType="1"/>
          </p:cNvSpPr>
          <p:nvPr/>
        </p:nvSpPr>
        <p:spPr bwMode="auto">
          <a:xfrm flipV="1">
            <a:off x="5899656" y="6134562"/>
            <a:ext cx="5603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6" name="Rectangle 474">
            <a:extLst>
              <a:ext uri="{FF2B5EF4-FFF2-40B4-BE49-F238E27FC236}">
                <a16:creationId xmlns:a16="http://schemas.microsoft.com/office/drawing/2014/main" id="{FA96CA39-EDAE-F8B6-8834-55E48EC858E0}"/>
              </a:ext>
            </a:extLst>
          </p:cNvPr>
          <p:cNvSpPr>
            <a:spLocks noChangeArrowheads="1"/>
          </p:cNvSpPr>
          <p:nvPr/>
        </p:nvSpPr>
        <p:spPr bwMode="auto">
          <a:xfrm>
            <a:off x="4085144"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.5 day</a:t>
            </a:r>
          </a:p>
        </p:txBody>
      </p:sp>
      <p:grpSp>
        <p:nvGrpSpPr>
          <p:cNvPr id="189" name="Group 432">
            <a:extLst>
              <a:ext uri="{FF2B5EF4-FFF2-40B4-BE49-F238E27FC236}">
                <a16:creationId xmlns:a16="http://schemas.microsoft.com/office/drawing/2014/main" id="{C012A8A9-1834-B0B9-27AC-4AB76693FD1F}"/>
              </a:ext>
            </a:extLst>
          </p:cNvPr>
          <p:cNvGrpSpPr>
            <a:grpSpLocks/>
          </p:cNvGrpSpPr>
          <p:nvPr/>
        </p:nvGrpSpPr>
        <p:grpSpPr bwMode="auto">
          <a:xfrm>
            <a:off x="7459565" y="4820024"/>
            <a:ext cx="342900" cy="812800"/>
            <a:chOff x="752" y="2752"/>
            <a:chExt cx="216" cy="512"/>
          </a:xfrm>
        </p:grpSpPr>
        <p:sp>
          <p:nvSpPr>
            <p:cNvPr id="190" name="AutoShape 406">
              <a:extLst>
                <a:ext uri="{FF2B5EF4-FFF2-40B4-BE49-F238E27FC236}">
                  <a16:creationId xmlns:a16="http://schemas.microsoft.com/office/drawing/2014/main" id="{843CE763-57AC-41D4-F71B-390C8317B742}"/>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1" name="AutoShape 407">
              <a:extLst>
                <a:ext uri="{FF2B5EF4-FFF2-40B4-BE49-F238E27FC236}">
                  <a16:creationId xmlns:a16="http://schemas.microsoft.com/office/drawing/2014/main" id="{CCA71718-257C-831C-0EBB-17A034BFA892}"/>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2" name="AutoShape 408">
              <a:extLst>
                <a:ext uri="{FF2B5EF4-FFF2-40B4-BE49-F238E27FC236}">
                  <a16:creationId xmlns:a16="http://schemas.microsoft.com/office/drawing/2014/main" id="{DC7FDA0C-13E3-DB1E-3DAE-0CD8F156BA10}"/>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3" name="Group 409">
              <a:extLst>
                <a:ext uri="{FF2B5EF4-FFF2-40B4-BE49-F238E27FC236}">
                  <a16:creationId xmlns:a16="http://schemas.microsoft.com/office/drawing/2014/main" id="{B0AAC8B4-5338-7623-06E3-9332C103D754}"/>
                </a:ext>
              </a:extLst>
            </p:cNvPr>
            <p:cNvGrpSpPr>
              <a:grpSpLocks/>
            </p:cNvGrpSpPr>
            <p:nvPr/>
          </p:nvGrpSpPr>
          <p:grpSpPr bwMode="auto">
            <a:xfrm>
              <a:off x="752" y="2965"/>
              <a:ext cx="216" cy="299"/>
              <a:chOff x="576" y="1200"/>
              <a:chExt cx="240" cy="336"/>
            </a:xfrm>
          </p:grpSpPr>
          <p:sp>
            <p:nvSpPr>
              <p:cNvPr id="199" name="Rectangle 410">
                <a:extLst>
                  <a:ext uri="{FF2B5EF4-FFF2-40B4-BE49-F238E27FC236}">
                    <a16:creationId xmlns:a16="http://schemas.microsoft.com/office/drawing/2014/main" id="{0F9E2063-D94D-585F-04BB-F5FF221A76B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0" name="Line 411">
                <a:extLst>
                  <a:ext uri="{FF2B5EF4-FFF2-40B4-BE49-F238E27FC236}">
                    <a16:creationId xmlns:a16="http://schemas.microsoft.com/office/drawing/2014/main" id="{7E8EFBC8-7702-E7A9-D62C-9DD55144164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1" name="Line 412">
                <a:extLst>
                  <a:ext uri="{FF2B5EF4-FFF2-40B4-BE49-F238E27FC236}">
                    <a16:creationId xmlns:a16="http://schemas.microsoft.com/office/drawing/2014/main" id="{BFF8D894-BA30-B04D-37C8-F2FB9BF2FC9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194" name="AutoShape 413">
              <a:extLst>
                <a:ext uri="{FF2B5EF4-FFF2-40B4-BE49-F238E27FC236}">
                  <a16:creationId xmlns:a16="http://schemas.microsoft.com/office/drawing/2014/main" id="{A622EBED-9B41-213C-787C-34199394608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5" name="Group 414">
              <a:extLst>
                <a:ext uri="{FF2B5EF4-FFF2-40B4-BE49-F238E27FC236}">
                  <a16:creationId xmlns:a16="http://schemas.microsoft.com/office/drawing/2014/main" id="{D3955824-849A-67E7-4B69-BC9EC894B2F3}"/>
                </a:ext>
              </a:extLst>
            </p:cNvPr>
            <p:cNvGrpSpPr>
              <a:grpSpLocks/>
            </p:cNvGrpSpPr>
            <p:nvPr/>
          </p:nvGrpSpPr>
          <p:grpSpPr bwMode="auto">
            <a:xfrm>
              <a:off x="808" y="2802"/>
              <a:ext cx="140" cy="57"/>
              <a:chOff x="1440" y="1520"/>
              <a:chExt cx="156" cy="64"/>
            </a:xfrm>
          </p:grpSpPr>
          <p:sp>
            <p:nvSpPr>
              <p:cNvPr id="196" name="Line 415">
                <a:extLst>
                  <a:ext uri="{FF2B5EF4-FFF2-40B4-BE49-F238E27FC236}">
                    <a16:creationId xmlns:a16="http://schemas.microsoft.com/office/drawing/2014/main" id="{6F2842FA-A5F7-9BBE-30B9-BB98747D3EFB}"/>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7" name="Line 416">
                <a:extLst>
                  <a:ext uri="{FF2B5EF4-FFF2-40B4-BE49-F238E27FC236}">
                    <a16:creationId xmlns:a16="http://schemas.microsoft.com/office/drawing/2014/main" id="{4D394871-9303-EB05-3523-B253D2A6482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8" name="AutoShape 417">
                <a:extLst>
                  <a:ext uri="{FF2B5EF4-FFF2-40B4-BE49-F238E27FC236}">
                    <a16:creationId xmlns:a16="http://schemas.microsoft.com/office/drawing/2014/main" id="{53E673F4-D0DB-AAFC-0625-41E41FF8701F}"/>
                  </a:ext>
                </a:extLst>
              </p:cNvPr>
              <p:cNvCxnSpPr>
                <a:cxnSpLocks noChangeShapeType="1"/>
                <a:stCxn id="196" idx="1"/>
                <a:endCxn id="1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15" name="Group 432">
            <a:extLst>
              <a:ext uri="{FF2B5EF4-FFF2-40B4-BE49-F238E27FC236}">
                <a16:creationId xmlns:a16="http://schemas.microsoft.com/office/drawing/2014/main" id="{6E5DA14C-E775-18E0-10C7-A896940BED55}"/>
              </a:ext>
            </a:extLst>
          </p:cNvPr>
          <p:cNvGrpSpPr>
            <a:grpSpLocks/>
          </p:cNvGrpSpPr>
          <p:nvPr/>
        </p:nvGrpSpPr>
        <p:grpSpPr bwMode="auto">
          <a:xfrm>
            <a:off x="4396589" y="4827905"/>
            <a:ext cx="342900" cy="812800"/>
            <a:chOff x="752" y="2752"/>
            <a:chExt cx="216" cy="512"/>
          </a:xfrm>
        </p:grpSpPr>
        <p:sp>
          <p:nvSpPr>
            <p:cNvPr id="216" name="AutoShape 406">
              <a:extLst>
                <a:ext uri="{FF2B5EF4-FFF2-40B4-BE49-F238E27FC236}">
                  <a16:creationId xmlns:a16="http://schemas.microsoft.com/office/drawing/2014/main" id="{4931F387-7571-A459-8AD2-6AC5B4F0E7C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7" name="AutoShape 407">
              <a:extLst>
                <a:ext uri="{FF2B5EF4-FFF2-40B4-BE49-F238E27FC236}">
                  <a16:creationId xmlns:a16="http://schemas.microsoft.com/office/drawing/2014/main" id="{B9C2BE8F-75FB-D34B-75A8-BC5D6D5FD0C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8" name="AutoShape 408">
              <a:extLst>
                <a:ext uri="{FF2B5EF4-FFF2-40B4-BE49-F238E27FC236}">
                  <a16:creationId xmlns:a16="http://schemas.microsoft.com/office/drawing/2014/main" id="{0148E9EA-A6AC-8D12-4158-AA619ED0C26D}"/>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9" name="Group 409">
              <a:extLst>
                <a:ext uri="{FF2B5EF4-FFF2-40B4-BE49-F238E27FC236}">
                  <a16:creationId xmlns:a16="http://schemas.microsoft.com/office/drawing/2014/main" id="{02E2E1B2-7F75-31EE-C847-922868C496DC}"/>
                </a:ext>
              </a:extLst>
            </p:cNvPr>
            <p:cNvGrpSpPr>
              <a:grpSpLocks/>
            </p:cNvGrpSpPr>
            <p:nvPr/>
          </p:nvGrpSpPr>
          <p:grpSpPr bwMode="auto">
            <a:xfrm>
              <a:off x="752" y="2965"/>
              <a:ext cx="216" cy="299"/>
              <a:chOff x="576" y="1200"/>
              <a:chExt cx="240" cy="336"/>
            </a:xfrm>
          </p:grpSpPr>
          <p:sp>
            <p:nvSpPr>
              <p:cNvPr id="225" name="Rectangle 410">
                <a:extLst>
                  <a:ext uri="{FF2B5EF4-FFF2-40B4-BE49-F238E27FC236}">
                    <a16:creationId xmlns:a16="http://schemas.microsoft.com/office/drawing/2014/main" id="{2961F3E2-8AD8-FF6D-F6ED-419412582B4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6" name="Line 411">
                <a:extLst>
                  <a:ext uri="{FF2B5EF4-FFF2-40B4-BE49-F238E27FC236}">
                    <a16:creationId xmlns:a16="http://schemas.microsoft.com/office/drawing/2014/main" id="{535AA1B6-5D39-13EE-D7E0-5A0A41AF643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7" name="Line 412">
                <a:extLst>
                  <a:ext uri="{FF2B5EF4-FFF2-40B4-BE49-F238E27FC236}">
                    <a16:creationId xmlns:a16="http://schemas.microsoft.com/office/drawing/2014/main" id="{7F9E9FEE-EE65-E9F6-55AF-F5214654220C}"/>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20" name="AutoShape 413">
              <a:extLst>
                <a:ext uri="{FF2B5EF4-FFF2-40B4-BE49-F238E27FC236}">
                  <a16:creationId xmlns:a16="http://schemas.microsoft.com/office/drawing/2014/main" id="{7F14093D-60BF-D287-6530-4B254BB6B0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21" name="Group 414">
              <a:extLst>
                <a:ext uri="{FF2B5EF4-FFF2-40B4-BE49-F238E27FC236}">
                  <a16:creationId xmlns:a16="http://schemas.microsoft.com/office/drawing/2014/main" id="{F5E5461F-D49C-003F-42EF-8C3820D9FC48}"/>
                </a:ext>
              </a:extLst>
            </p:cNvPr>
            <p:cNvGrpSpPr>
              <a:grpSpLocks/>
            </p:cNvGrpSpPr>
            <p:nvPr/>
          </p:nvGrpSpPr>
          <p:grpSpPr bwMode="auto">
            <a:xfrm>
              <a:off x="808" y="2802"/>
              <a:ext cx="140" cy="57"/>
              <a:chOff x="1440" y="1520"/>
              <a:chExt cx="156" cy="64"/>
            </a:xfrm>
          </p:grpSpPr>
          <p:sp>
            <p:nvSpPr>
              <p:cNvPr id="222" name="Line 415">
                <a:extLst>
                  <a:ext uri="{FF2B5EF4-FFF2-40B4-BE49-F238E27FC236}">
                    <a16:creationId xmlns:a16="http://schemas.microsoft.com/office/drawing/2014/main" id="{C5EB4106-E0DA-F4C4-BF68-94E01D8AB77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3" name="Line 416">
                <a:extLst>
                  <a:ext uri="{FF2B5EF4-FFF2-40B4-BE49-F238E27FC236}">
                    <a16:creationId xmlns:a16="http://schemas.microsoft.com/office/drawing/2014/main" id="{BE444567-28BD-9701-2B4A-CB2355B85904}"/>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24" name="AutoShape 417">
                <a:extLst>
                  <a:ext uri="{FF2B5EF4-FFF2-40B4-BE49-F238E27FC236}">
                    <a16:creationId xmlns:a16="http://schemas.microsoft.com/office/drawing/2014/main" id="{B8986B68-B6BE-B191-3A95-9E684773A5BD}"/>
                  </a:ext>
                </a:extLst>
              </p:cNvPr>
              <p:cNvCxnSpPr>
                <a:cxnSpLocks noChangeShapeType="1"/>
                <a:stCxn id="222" idx="1"/>
                <a:endCxn id="22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28" name="Group 432">
            <a:extLst>
              <a:ext uri="{FF2B5EF4-FFF2-40B4-BE49-F238E27FC236}">
                <a16:creationId xmlns:a16="http://schemas.microsoft.com/office/drawing/2014/main" id="{D5A321D5-CDE7-8EA0-390D-78BE3592F828}"/>
              </a:ext>
            </a:extLst>
          </p:cNvPr>
          <p:cNvGrpSpPr>
            <a:grpSpLocks/>
          </p:cNvGrpSpPr>
          <p:nvPr/>
        </p:nvGrpSpPr>
        <p:grpSpPr bwMode="auto">
          <a:xfrm>
            <a:off x="2679549" y="4827905"/>
            <a:ext cx="342900" cy="812800"/>
            <a:chOff x="752" y="2752"/>
            <a:chExt cx="216" cy="512"/>
          </a:xfrm>
        </p:grpSpPr>
        <p:sp>
          <p:nvSpPr>
            <p:cNvPr id="229" name="AutoShape 406">
              <a:extLst>
                <a:ext uri="{FF2B5EF4-FFF2-40B4-BE49-F238E27FC236}">
                  <a16:creationId xmlns:a16="http://schemas.microsoft.com/office/drawing/2014/main" id="{A3839BFA-8296-9353-7D56-F7B0B1CECF31}"/>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0" name="AutoShape 407">
              <a:extLst>
                <a:ext uri="{FF2B5EF4-FFF2-40B4-BE49-F238E27FC236}">
                  <a16:creationId xmlns:a16="http://schemas.microsoft.com/office/drawing/2014/main" id="{F32CB6B4-C0D4-7C43-1A1F-A80A0D2CA94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1" name="AutoShape 408">
              <a:extLst>
                <a:ext uri="{FF2B5EF4-FFF2-40B4-BE49-F238E27FC236}">
                  <a16:creationId xmlns:a16="http://schemas.microsoft.com/office/drawing/2014/main" id="{F4057CE2-D691-96B0-66E7-7F3FEE1463C9}"/>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2" name="Group 409">
              <a:extLst>
                <a:ext uri="{FF2B5EF4-FFF2-40B4-BE49-F238E27FC236}">
                  <a16:creationId xmlns:a16="http://schemas.microsoft.com/office/drawing/2014/main" id="{A457A67E-D1E0-4F4D-A92B-15E413202F2F}"/>
                </a:ext>
              </a:extLst>
            </p:cNvPr>
            <p:cNvGrpSpPr>
              <a:grpSpLocks/>
            </p:cNvGrpSpPr>
            <p:nvPr/>
          </p:nvGrpSpPr>
          <p:grpSpPr bwMode="auto">
            <a:xfrm>
              <a:off x="752" y="2965"/>
              <a:ext cx="216" cy="299"/>
              <a:chOff x="576" y="1200"/>
              <a:chExt cx="240" cy="336"/>
            </a:xfrm>
          </p:grpSpPr>
          <p:sp>
            <p:nvSpPr>
              <p:cNvPr id="238" name="Rectangle 410">
                <a:extLst>
                  <a:ext uri="{FF2B5EF4-FFF2-40B4-BE49-F238E27FC236}">
                    <a16:creationId xmlns:a16="http://schemas.microsoft.com/office/drawing/2014/main" id="{9A31ACEF-42B9-9B45-F61D-4A4BC1A5D42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9" name="Line 411">
                <a:extLst>
                  <a:ext uri="{FF2B5EF4-FFF2-40B4-BE49-F238E27FC236}">
                    <a16:creationId xmlns:a16="http://schemas.microsoft.com/office/drawing/2014/main" id="{F80E053C-87F6-B19A-73A4-ADBD3D4BEBB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40" name="Line 412">
                <a:extLst>
                  <a:ext uri="{FF2B5EF4-FFF2-40B4-BE49-F238E27FC236}">
                    <a16:creationId xmlns:a16="http://schemas.microsoft.com/office/drawing/2014/main" id="{01F693E7-E273-77C0-4F89-77D655CACD09}"/>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33" name="AutoShape 413">
              <a:extLst>
                <a:ext uri="{FF2B5EF4-FFF2-40B4-BE49-F238E27FC236}">
                  <a16:creationId xmlns:a16="http://schemas.microsoft.com/office/drawing/2014/main" id="{9BD590F8-FBF7-DC7D-0944-42F86D87F8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4" name="Group 414">
              <a:extLst>
                <a:ext uri="{FF2B5EF4-FFF2-40B4-BE49-F238E27FC236}">
                  <a16:creationId xmlns:a16="http://schemas.microsoft.com/office/drawing/2014/main" id="{E45C268E-3DC4-E0D9-EE7F-B620AC81CB46}"/>
                </a:ext>
              </a:extLst>
            </p:cNvPr>
            <p:cNvGrpSpPr>
              <a:grpSpLocks/>
            </p:cNvGrpSpPr>
            <p:nvPr/>
          </p:nvGrpSpPr>
          <p:grpSpPr bwMode="auto">
            <a:xfrm>
              <a:off x="808" y="2802"/>
              <a:ext cx="140" cy="57"/>
              <a:chOff x="1440" y="1520"/>
              <a:chExt cx="156" cy="64"/>
            </a:xfrm>
          </p:grpSpPr>
          <p:sp>
            <p:nvSpPr>
              <p:cNvPr id="235" name="Line 415">
                <a:extLst>
                  <a:ext uri="{FF2B5EF4-FFF2-40B4-BE49-F238E27FC236}">
                    <a16:creationId xmlns:a16="http://schemas.microsoft.com/office/drawing/2014/main" id="{D156D5BB-049B-0A36-BE9F-9FA6E240C9EE}"/>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36" name="Line 416">
                <a:extLst>
                  <a:ext uri="{FF2B5EF4-FFF2-40B4-BE49-F238E27FC236}">
                    <a16:creationId xmlns:a16="http://schemas.microsoft.com/office/drawing/2014/main" id="{F0705831-3685-54E9-48A5-2E5A7AAA2F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37" name="AutoShape 417">
                <a:extLst>
                  <a:ext uri="{FF2B5EF4-FFF2-40B4-BE49-F238E27FC236}">
                    <a16:creationId xmlns:a16="http://schemas.microsoft.com/office/drawing/2014/main" id="{07B84EA0-D3B6-2BC0-F9C3-B7F55FF2C022}"/>
                  </a:ext>
                </a:extLst>
              </p:cNvPr>
              <p:cNvCxnSpPr>
                <a:cxnSpLocks noChangeShapeType="1"/>
                <a:stCxn id="235" idx="1"/>
                <a:endCxn id="236"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41" name="Text Box 359">
            <a:extLst>
              <a:ext uri="{FF2B5EF4-FFF2-40B4-BE49-F238E27FC236}">
                <a16:creationId xmlns:a16="http://schemas.microsoft.com/office/drawing/2014/main" id="{4D92CDF5-FE3D-875C-491B-575FF66C265A}"/>
              </a:ext>
            </a:extLst>
          </p:cNvPr>
          <p:cNvSpPr txBox="1">
            <a:spLocks noChangeArrowheads="1"/>
          </p:cNvSpPr>
          <p:nvPr/>
        </p:nvSpPr>
        <p:spPr bwMode="auto">
          <a:xfrm>
            <a:off x="2580461" y="5126355"/>
            <a:ext cx="546100"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 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32 </a:t>
            </a:r>
            <a:r>
              <a:rPr lang="en-US" altLang="en-US" sz="500" b="0" dirty="0">
                <a:latin typeface="Roboto" panose="02000000000000000000" pitchFamily="2" charset="0"/>
                <a:ea typeface="Roboto" panose="02000000000000000000" pitchFamily="2" charset="0"/>
                <a:cs typeface="Roboto" panose="02000000000000000000" pitchFamily="2" charset="0"/>
              </a:rPr>
              <a:t>Envelopes</a:t>
            </a:r>
          </a:p>
        </p:txBody>
      </p:sp>
      <p:sp>
        <p:nvSpPr>
          <p:cNvPr id="244" name="Text Box 473">
            <a:extLst>
              <a:ext uri="{FF2B5EF4-FFF2-40B4-BE49-F238E27FC236}">
                <a16:creationId xmlns:a16="http://schemas.microsoft.com/office/drawing/2014/main" id="{A3E605C6-A266-96DE-1C8B-A1C644450704}"/>
              </a:ext>
            </a:extLst>
          </p:cNvPr>
          <p:cNvSpPr txBox="1">
            <a:spLocks noChangeArrowheads="1"/>
          </p:cNvSpPr>
          <p:nvPr/>
        </p:nvSpPr>
        <p:spPr bwMode="auto">
          <a:xfrm>
            <a:off x="4290943" y="5143771"/>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63 </a:t>
            </a:r>
            <a:r>
              <a:rPr lang="en-US" altLang="en-US" sz="500" b="0" dirty="0"/>
              <a:t>Applications</a:t>
            </a:r>
          </a:p>
        </p:txBody>
      </p:sp>
      <p:grpSp>
        <p:nvGrpSpPr>
          <p:cNvPr id="245" name="Group 432">
            <a:extLst>
              <a:ext uri="{FF2B5EF4-FFF2-40B4-BE49-F238E27FC236}">
                <a16:creationId xmlns:a16="http://schemas.microsoft.com/office/drawing/2014/main" id="{4D97A423-B40D-D9EB-95D3-9712845BC1C9}"/>
              </a:ext>
            </a:extLst>
          </p:cNvPr>
          <p:cNvGrpSpPr>
            <a:grpSpLocks/>
          </p:cNvGrpSpPr>
          <p:nvPr/>
        </p:nvGrpSpPr>
        <p:grpSpPr bwMode="auto">
          <a:xfrm>
            <a:off x="5960965" y="4820024"/>
            <a:ext cx="342900" cy="812800"/>
            <a:chOff x="752" y="2752"/>
            <a:chExt cx="216" cy="512"/>
          </a:xfrm>
        </p:grpSpPr>
        <p:sp>
          <p:nvSpPr>
            <p:cNvPr id="246" name="AutoShape 406">
              <a:extLst>
                <a:ext uri="{FF2B5EF4-FFF2-40B4-BE49-F238E27FC236}">
                  <a16:creationId xmlns:a16="http://schemas.microsoft.com/office/drawing/2014/main" id="{2F5640A7-EB08-F7AB-734C-1560AB3190AC}"/>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7" name="AutoShape 407">
              <a:extLst>
                <a:ext uri="{FF2B5EF4-FFF2-40B4-BE49-F238E27FC236}">
                  <a16:creationId xmlns:a16="http://schemas.microsoft.com/office/drawing/2014/main" id="{19E2749B-948E-DE21-A8A1-4B534EB2B75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8" name="AutoShape 408">
              <a:extLst>
                <a:ext uri="{FF2B5EF4-FFF2-40B4-BE49-F238E27FC236}">
                  <a16:creationId xmlns:a16="http://schemas.microsoft.com/office/drawing/2014/main" id="{76A29C6D-9A4F-FE16-00ED-8137FD2A8BDA}"/>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49" name="Group 409">
              <a:extLst>
                <a:ext uri="{FF2B5EF4-FFF2-40B4-BE49-F238E27FC236}">
                  <a16:creationId xmlns:a16="http://schemas.microsoft.com/office/drawing/2014/main" id="{426D40CD-A5A6-6F26-08A5-7EB60928ED7A}"/>
                </a:ext>
              </a:extLst>
            </p:cNvPr>
            <p:cNvGrpSpPr>
              <a:grpSpLocks/>
            </p:cNvGrpSpPr>
            <p:nvPr/>
          </p:nvGrpSpPr>
          <p:grpSpPr bwMode="auto">
            <a:xfrm>
              <a:off x="752" y="2965"/>
              <a:ext cx="216" cy="299"/>
              <a:chOff x="576" y="1200"/>
              <a:chExt cx="240" cy="336"/>
            </a:xfrm>
          </p:grpSpPr>
          <p:sp>
            <p:nvSpPr>
              <p:cNvPr id="255" name="Rectangle 410">
                <a:extLst>
                  <a:ext uri="{FF2B5EF4-FFF2-40B4-BE49-F238E27FC236}">
                    <a16:creationId xmlns:a16="http://schemas.microsoft.com/office/drawing/2014/main" id="{A35D3461-0E28-2831-A031-FD6EB6D4C8F2}"/>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56" name="Line 411">
                <a:extLst>
                  <a:ext uri="{FF2B5EF4-FFF2-40B4-BE49-F238E27FC236}">
                    <a16:creationId xmlns:a16="http://schemas.microsoft.com/office/drawing/2014/main" id="{FE92A068-FC7D-EA05-2986-A3B8BD838ED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7" name="Line 412">
                <a:extLst>
                  <a:ext uri="{FF2B5EF4-FFF2-40B4-BE49-F238E27FC236}">
                    <a16:creationId xmlns:a16="http://schemas.microsoft.com/office/drawing/2014/main" id="{A7953C20-E4B8-2709-843B-4D36913127F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0" name="AutoShape 413">
              <a:extLst>
                <a:ext uri="{FF2B5EF4-FFF2-40B4-BE49-F238E27FC236}">
                  <a16:creationId xmlns:a16="http://schemas.microsoft.com/office/drawing/2014/main" id="{BC363846-C5AD-A9E8-162C-2239A80A2BA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51" name="Group 414">
              <a:extLst>
                <a:ext uri="{FF2B5EF4-FFF2-40B4-BE49-F238E27FC236}">
                  <a16:creationId xmlns:a16="http://schemas.microsoft.com/office/drawing/2014/main" id="{95976AAA-7C79-73B2-738A-56454A6BD162}"/>
                </a:ext>
              </a:extLst>
            </p:cNvPr>
            <p:cNvGrpSpPr>
              <a:grpSpLocks/>
            </p:cNvGrpSpPr>
            <p:nvPr/>
          </p:nvGrpSpPr>
          <p:grpSpPr bwMode="auto">
            <a:xfrm>
              <a:off x="808" y="2802"/>
              <a:ext cx="140" cy="57"/>
              <a:chOff x="1440" y="1520"/>
              <a:chExt cx="156" cy="64"/>
            </a:xfrm>
          </p:grpSpPr>
          <p:sp>
            <p:nvSpPr>
              <p:cNvPr id="252" name="Line 415">
                <a:extLst>
                  <a:ext uri="{FF2B5EF4-FFF2-40B4-BE49-F238E27FC236}">
                    <a16:creationId xmlns:a16="http://schemas.microsoft.com/office/drawing/2014/main" id="{A11CD934-6714-4434-843C-2D4D56ECB1DC}"/>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3" name="Line 416">
                <a:extLst>
                  <a:ext uri="{FF2B5EF4-FFF2-40B4-BE49-F238E27FC236}">
                    <a16:creationId xmlns:a16="http://schemas.microsoft.com/office/drawing/2014/main" id="{1CE8D847-3C64-C433-789A-982AB1618D30}"/>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54" name="AutoShape 417">
                <a:extLst>
                  <a:ext uri="{FF2B5EF4-FFF2-40B4-BE49-F238E27FC236}">
                    <a16:creationId xmlns:a16="http://schemas.microsoft.com/office/drawing/2014/main" id="{A3CB318A-F917-7A2E-3DCF-BFFB41157982}"/>
                  </a:ext>
                </a:extLst>
              </p:cNvPr>
              <p:cNvCxnSpPr>
                <a:cxnSpLocks noChangeShapeType="1"/>
                <a:stCxn id="252" idx="1"/>
                <a:endCxn id="25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84" name="Text Box 360">
            <a:extLst>
              <a:ext uri="{FF2B5EF4-FFF2-40B4-BE49-F238E27FC236}">
                <a16:creationId xmlns:a16="http://schemas.microsoft.com/office/drawing/2014/main" id="{380FD599-235E-CF6D-CC8F-829A1E46FDEF}"/>
              </a:ext>
            </a:extLst>
          </p:cNvPr>
          <p:cNvSpPr txBox="1">
            <a:spLocks noChangeArrowheads="1"/>
          </p:cNvSpPr>
          <p:nvPr/>
        </p:nvSpPr>
        <p:spPr bwMode="auto">
          <a:xfrm>
            <a:off x="5849712" y="5134443"/>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0 </a:t>
            </a:r>
            <a:r>
              <a:rPr lang="en-US" altLang="en-US" sz="500" b="0" dirty="0"/>
              <a:t>Applications</a:t>
            </a:r>
          </a:p>
        </p:txBody>
      </p:sp>
      <p:sp>
        <p:nvSpPr>
          <p:cNvPr id="285" name="Text Box 358">
            <a:extLst>
              <a:ext uri="{FF2B5EF4-FFF2-40B4-BE49-F238E27FC236}">
                <a16:creationId xmlns:a16="http://schemas.microsoft.com/office/drawing/2014/main" id="{13FFB058-3D79-B7E4-23F7-410F28F73B50}"/>
              </a:ext>
            </a:extLst>
          </p:cNvPr>
          <p:cNvSpPr txBox="1">
            <a:spLocks noChangeArrowheads="1"/>
          </p:cNvSpPr>
          <p:nvPr/>
        </p:nvSpPr>
        <p:spPr bwMode="auto">
          <a:xfrm>
            <a:off x="7344276" y="5131938"/>
            <a:ext cx="56673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Zip Code</a:t>
            </a:r>
          </a:p>
          <a:p>
            <a:pPr algn="ctr">
              <a:lnSpc>
                <a:spcPct val="100000"/>
              </a:lnSpc>
              <a:spcAft>
                <a:spcPct val="0"/>
              </a:spcAft>
              <a:buClrTx/>
              <a:buSzTx/>
              <a:buFontTx/>
              <a:buNone/>
            </a:pPr>
            <a:r>
              <a:rPr lang="en-US" altLang="en-US" sz="600" b="0" dirty="0"/>
              <a:t>32 </a:t>
            </a:r>
            <a:r>
              <a:rPr lang="en-US" altLang="en-US" sz="500" b="0" dirty="0"/>
              <a:t>Packages</a:t>
            </a:r>
          </a:p>
        </p:txBody>
      </p:sp>
      <p:sp>
        <p:nvSpPr>
          <p:cNvPr id="87" name="Text Box 306">
            <a:extLst>
              <a:ext uri="{FF2B5EF4-FFF2-40B4-BE49-F238E27FC236}">
                <a16:creationId xmlns:a16="http://schemas.microsoft.com/office/drawing/2014/main" id="{F605C887-6D06-FB94-5CFA-47C6D430F792}"/>
              </a:ext>
            </a:extLst>
          </p:cNvPr>
          <p:cNvSpPr txBox="1">
            <a:spLocks noChangeArrowheads="1"/>
          </p:cNvSpPr>
          <p:nvPr/>
        </p:nvSpPr>
        <p:spPr bwMode="auto">
          <a:xfrm>
            <a:off x="6502273" y="4015416"/>
            <a:ext cx="10033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24 packages/day</a:t>
            </a:r>
          </a:p>
        </p:txBody>
      </p:sp>
      <p:sp>
        <p:nvSpPr>
          <p:cNvPr id="94" name="Line 186">
            <a:extLst>
              <a:ext uri="{FF2B5EF4-FFF2-40B4-BE49-F238E27FC236}">
                <a16:creationId xmlns:a16="http://schemas.microsoft.com/office/drawing/2014/main" id="{7D6BFFB0-EEAA-3C4E-1A02-9BC311A50666}"/>
              </a:ext>
            </a:extLst>
          </p:cNvPr>
          <p:cNvSpPr>
            <a:spLocks noChangeShapeType="1"/>
          </p:cNvSpPr>
          <p:nvPr/>
        </p:nvSpPr>
        <p:spPr bwMode="auto">
          <a:xfrm>
            <a:off x="8346868" y="6171075"/>
            <a:ext cx="1128713" cy="588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95" name="Rectangle 187">
            <a:extLst>
              <a:ext uri="{FF2B5EF4-FFF2-40B4-BE49-F238E27FC236}">
                <a16:creationId xmlns:a16="http://schemas.microsoft.com/office/drawing/2014/main" id="{3D696BC0-D9B8-0B29-3B90-CE9CB9C795CF}"/>
              </a:ext>
            </a:extLst>
          </p:cNvPr>
          <p:cNvSpPr>
            <a:spLocks noChangeArrowheads="1"/>
          </p:cNvSpPr>
          <p:nvPr/>
        </p:nvSpPr>
        <p:spPr bwMode="auto">
          <a:xfrm>
            <a:off x="8346868" y="6002338"/>
            <a:ext cx="1128713" cy="34925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marL="176213" indent="-176213">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20000"/>
              </a:spcBef>
              <a:spcAft>
                <a:spcPct val="0"/>
              </a:spcAft>
              <a:buClrTx/>
              <a:buSzTx/>
              <a:buFontTx/>
              <a:buChar char="•"/>
            </a:pPr>
            <a:endParaRPr lang="en-US" altLang="en-US" sz="1600" dirty="0"/>
          </a:p>
        </p:txBody>
      </p:sp>
      <p:sp>
        <p:nvSpPr>
          <p:cNvPr id="96" name="Text Box 185">
            <a:extLst>
              <a:ext uri="{FF2B5EF4-FFF2-40B4-BE49-F238E27FC236}">
                <a16:creationId xmlns:a16="http://schemas.microsoft.com/office/drawing/2014/main" id="{0B42E658-528D-8CA7-C9CF-D1D8E7516C87}"/>
              </a:ext>
            </a:extLst>
          </p:cNvPr>
          <p:cNvSpPr txBox="1">
            <a:spLocks noChangeArrowheads="1"/>
          </p:cNvSpPr>
          <p:nvPr/>
        </p:nvSpPr>
        <p:spPr bwMode="auto">
          <a:xfrm>
            <a:off x="8349866" y="5987488"/>
            <a:ext cx="1158875"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r>
              <a:rPr lang="en-US" altLang="en-US" sz="800" dirty="0"/>
              <a:t>L.T. =  1 day    </a:t>
            </a:r>
          </a:p>
          <a:p>
            <a:pPr algn="r">
              <a:lnSpc>
                <a:spcPct val="100000"/>
              </a:lnSpc>
              <a:spcBef>
                <a:spcPct val="30000"/>
              </a:spcBef>
              <a:spcAft>
                <a:spcPct val="0"/>
              </a:spcAft>
              <a:buClrTx/>
              <a:buSzTx/>
              <a:buFontTx/>
              <a:buNone/>
            </a:pPr>
            <a:r>
              <a:rPr lang="en-US" altLang="en-US" sz="800" dirty="0"/>
              <a:t>P.T = 1,980 seconds</a:t>
            </a:r>
          </a:p>
        </p:txBody>
      </p:sp>
    </p:spTree>
    <p:extLst>
      <p:ext uri="{BB962C8B-B14F-4D97-AF65-F5344CB8AC3E}">
        <p14:creationId xmlns:p14="http://schemas.microsoft.com/office/powerpoint/2010/main" val="140609615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600" dirty="0"/>
              <a:t>Steps to Creating the Future State</a:t>
            </a:r>
            <a:endParaRPr lang="en-US" sz="36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124</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2">
            <a:extLst>
              <a:ext uri="{FF2B5EF4-FFF2-40B4-BE49-F238E27FC236}">
                <a16:creationId xmlns:a16="http://schemas.microsoft.com/office/drawing/2014/main" id="{3298C163-1DEF-8CC7-935C-B0DB4F677BE9}"/>
              </a:ext>
            </a:extLst>
          </p:cNvPr>
          <p:cNvSpPr>
            <a:spLocks noChangeArrowheads="1"/>
          </p:cNvSpPr>
          <p:nvPr/>
        </p:nvSpPr>
        <p:spPr bwMode="auto">
          <a:xfrm>
            <a:off x="940249" y="2116580"/>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75000"/>
              </a:lnSpc>
              <a:spcBef>
                <a:spcPct val="0"/>
              </a:spcBef>
              <a:spcAft>
                <a:spcPct val="0"/>
              </a:spcAft>
              <a:buClrTx/>
              <a:buSzTx/>
              <a:buNone/>
            </a:pPr>
            <a:r>
              <a:rPr lang="en-US" altLang="en-US" dirty="0">
                <a:solidFill>
                  <a:schemeClr val="bg1"/>
                </a:solidFill>
                <a:latin typeface="Roboto" panose="02000000000000000000" pitchFamily="2" charset="0"/>
                <a:ea typeface="Roboto" panose="02000000000000000000" pitchFamily="2" charset="0"/>
              </a:rPr>
              <a:t>Start with the Marked Up Current State Map</a:t>
            </a:r>
          </a:p>
        </p:txBody>
      </p:sp>
      <p:sp>
        <p:nvSpPr>
          <p:cNvPr id="13" name="Rectangle 3">
            <a:extLst>
              <a:ext uri="{FF2B5EF4-FFF2-40B4-BE49-F238E27FC236}">
                <a16:creationId xmlns:a16="http://schemas.microsoft.com/office/drawing/2014/main" id="{9D35572B-A364-CF75-EFEA-17BEC647484E}"/>
              </a:ext>
            </a:extLst>
          </p:cNvPr>
          <p:cNvSpPr>
            <a:spLocks noChangeArrowheads="1"/>
          </p:cNvSpPr>
          <p:nvPr/>
        </p:nvSpPr>
        <p:spPr bwMode="auto">
          <a:xfrm>
            <a:off x="940249" y="2622993"/>
            <a:ext cx="8204199"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Draw the pieces of the map that are the same</a:t>
            </a:r>
          </a:p>
        </p:txBody>
      </p:sp>
      <p:sp>
        <p:nvSpPr>
          <p:cNvPr id="14" name="Rectangle 4">
            <a:extLst>
              <a:ext uri="{FF2B5EF4-FFF2-40B4-BE49-F238E27FC236}">
                <a16:creationId xmlns:a16="http://schemas.microsoft.com/office/drawing/2014/main" id="{83FD5887-39FD-E8E7-A582-CA2891868FB3}"/>
              </a:ext>
            </a:extLst>
          </p:cNvPr>
          <p:cNvSpPr>
            <a:spLocks noChangeArrowheads="1"/>
          </p:cNvSpPr>
          <p:nvPr/>
        </p:nvSpPr>
        <p:spPr bwMode="auto">
          <a:xfrm>
            <a:off x="940249" y="3123055"/>
            <a:ext cx="8204199"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Combine processes that flow</a:t>
            </a:r>
          </a:p>
        </p:txBody>
      </p:sp>
      <p:sp>
        <p:nvSpPr>
          <p:cNvPr id="15" name="Rectangle 17">
            <a:extLst>
              <a:ext uri="{FF2B5EF4-FFF2-40B4-BE49-F238E27FC236}">
                <a16:creationId xmlns:a16="http://schemas.microsoft.com/office/drawing/2014/main" id="{58C38376-7BB7-2FB9-CEA8-9AF25033C370}"/>
              </a:ext>
            </a:extLst>
          </p:cNvPr>
          <p:cNvSpPr>
            <a:spLocks noChangeArrowheads="1"/>
          </p:cNvSpPr>
          <p:nvPr/>
        </p:nvSpPr>
        <p:spPr bwMode="auto">
          <a:xfrm>
            <a:off x="940250" y="4110480"/>
            <a:ext cx="8213724" cy="344488"/>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Calculate Lead Time and Processing Time</a:t>
            </a:r>
          </a:p>
        </p:txBody>
      </p:sp>
      <p:sp>
        <p:nvSpPr>
          <p:cNvPr id="16" name="Rectangle 18">
            <a:extLst>
              <a:ext uri="{FF2B5EF4-FFF2-40B4-BE49-F238E27FC236}">
                <a16:creationId xmlns:a16="http://schemas.microsoft.com/office/drawing/2014/main" id="{7DA91F24-45AC-CA5E-0644-A7A7C9FB39FB}"/>
              </a:ext>
            </a:extLst>
          </p:cNvPr>
          <p:cNvSpPr>
            <a:spLocks noChangeArrowheads="1"/>
          </p:cNvSpPr>
          <p:nvPr/>
        </p:nvSpPr>
        <p:spPr bwMode="auto">
          <a:xfrm>
            <a:off x="940249" y="4623243"/>
            <a:ext cx="8215311" cy="344487"/>
          </a:xfrm>
          <a:prstGeom prst="rect">
            <a:avLst/>
          </a:prstGeom>
          <a:solidFill>
            <a:schemeClr val="accent1"/>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Identify Loops on the map</a:t>
            </a:r>
          </a:p>
        </p:txBody>
      </p:sp>
      <p:sp>
        <p:nvSpPr>
          <p:cNvPr id="17" name="Rectangle 19">
            <a:extLst>
              <a:ext uri="{FF2B5EF4-FFF2-40B4-BE49-F238E27FC236}">
                <a16:creationId xmlns:a16="http://schemas.microsoft.com/office/drawing/2014/main" id="{405EB026-746A-F71C-1A4E-BE877555F849}"/>
              </a:ext>
            </a:extLst>
          </p:cNvPr>
          <p:cNvSpPr>
            <a:spLocks noChangeArrowheads="1"/>
          </p:cNvSpPr>
          <p:nvPr/>
        </p:nvSpPr>
        <p:spPr bwMode="auto">
          <a:xfrm>
            <a:off x="935487" y="3613593"/>
            <a:ext cx="8215312" cy="344487"/>
          </a:xfrm>
          <a:prstGeom prst="rect">
            <a:avLst/>
          </a:prstGeom>
          <a:solidFill>
            <a:schemeClr val="accent3"/>
          </a:solidFill>
          <a:ln w="9525">
            <a:solidFill>
              <a:srgbClr val="000066"/>
            </a:solidFill>
            <a:miter lim="800000"/>
            <a:headEnd/>
            <a:tailEnd/>
          </a:ln>
        </p:spPr>
        <p:txBody>
          <a:bodyPr wrap="none" lIns="457200"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75000"/>
              </a:lnSpc>
              <a:spcBef>
                <a:spcPct val="0"/>
              </a:spcBef>
              <a:spcAft>
                <a:spcPct val="0"/>
              </a:spcAft>
              <a:buClrTx/>
              <a:buSzTx/>
              <a:buFontTx/>
              <a:buNone/>
            </a:pPr>
            <a:r>
              <a:rPr lang="en-US" altLang="en-US" sz="1800" dirty="0">
                <a:solidFill>
                  <a:schemeClr val="bg1"/>
                </a:solidFill>
                <a:latin typeface="Roboto" panose="02000000000000000000" pitchFamily="2" charset="0"/>
                <a:ea typeface="Roboto" panose="02000000000000000000" pitchFamily="2" charset="0"/>
              </a:rPr>
              <a:t>Implement Visually Managed Queues between areas of flow</a:t>
            </a:r>
          </a:p>
        </p:txBody>
      </p:sp>
    </p:spTree>
    <p:extLst>
      <p:ext uri="{BB962C8B-B14F-4D97-AF65-F5344CB8AC3E}">
        <p14:creationId xmlns:p14="http://schemas.microsoft.com/office/powerpoint/2010/main" val="407378948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923E19-177A-0283-DD48-8A9BC144329F}"/>
              </a:ext>
            </a:extLst>
          </p:cNvPr>
          <p:cNvSpPr>
            <a:spLocks noGrp="1"/>
          </p:cNvSpPr>
          <p:nvPr>
            <p:ph type="title"/>
          </p:nvPr>
        </p:nvSpPr>
        <p:spPr/>
        <p:txBody>
          <a:bodyPr>
            <a:normAutofit fontScale="90000"/>
          </a:bodyPr>
          <a:lstStyle/>
          <a:p>
            <a:r>
              <a:rPr lang="en-US" dirty="0"/>
              <a:t>Identifying “Loops” in the Future State Map</a:t>
            </a:r>
          </a:p>
        </p:txBody>
      </p:sp>
      <p:sp>
        <p:nvSpPr>
          <p:cNvPr id="3" name="Content Placeholder 2">
            <a:extLst>
              <a:ext uri="{FF2B5EF4-FFF2-40B4-BE49-F238E27FC236}">
                <a16:creationId xmlns:a16="http://schemas.microsoft.com/office/drawing/2014/main" id="{0EB00523-5226-174E-1ED0-F07AFA91BA90}"/>
              </a:ext>
            </a:extLst>
          </p:cNvPr>
          <p:cNvSpPr>
            <a:spLocks noGrp="1"/>
          </p:cNvSpPr>
          <p:nvPr>
            <p:ph idx="1"/>
          </p:nvPr>
        </p:nvSpPr>
        <p:spPr/>
        <p:txBody>
          <a:bodyPr>
            <a:normAutofit/>
          </a:bodyPr>
          <a:lstStyle/>
          <a:p>
            <a:r>
              <a:rPr lang="en-US" dirty="0"/>
              <a:t>A “Loop” is a logical grouping of improvements to be made to the Current State in order to achieve the Future State</a:t>
            </a:r>
          </a:p>
          <a:p>
            <a:r>
              <a:rPr lang="en-US" dirty="0"/>
              <a:t>Loops are used to link focus improvement activities in the Value Stream Plan in a manner around a particular new capability in the Future State</a:t>
            </a:r>
          </a:p>
          <a:p>
            <a:r>
              <a:rPr lang="en-US" dirty="0"/>
              <a:t>Loops are used to logically sequence improvement activities in the Value Stream Plan so that the Future State is achieved through incremental phased implementation vs. “big bang” (everything at once)</a:t>
            </a:r>
          </a:p>
        </p:txBody>
      </p:sp>
      <p:grpSp>
        <p:nvGrpSpPr>
          <p:cNvPr id="5" name="Group 4">
            <a:extLst>
              <a:ext uri="{FF2B5EF4-FFF2-40B4-BE49-F238E27FC236}">
                <a16:creationId xmlns:a16="http://schemas.microsoft.com/office/drawing/2014/main" id="{E6A2629E-C42D-F195-BED2-FC2E5FD45622}"/>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118196C5-4817-D284-3E86-27C7E0EC420A}"/>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7" name="AutoShape 9">
              <a:extLst>
                <a:ext uri="{FF2B5EF4-FFF2-40B4-BE49-F238E27FC236}">
                  <a16:creationId xmlns:a16="http://schemas.microsoft.com/office/drawing/2014/main" id="{42A89B2E-FFDC-E84A-C5AA-3ADC051713C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37E2C5EA-1681-F875-CCF3-29D3123E9158}"/>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9F3713BC-D995-EB6C-2E5C-CB84F5A74505}"/>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42BB398C-FAB4-CB3B-90E9-6849F1D7F403}"/>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AFC136F7-F8A3-CB63-CEC0-C0490776373B}"/>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0D6C2068-7F72-13B9-12FC-6307F6D5F116}"/>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125</a:t>
            </a:fld>
            <a:endParaRPr lang="en-US" dirty="0"/>
          </a:p>
        </p:txBody>
      </p:sp>
    </p:spTree>
    <p:extLst>
      <p:ext uri="{BB962C8B-B14F-4D97-AF65-F5344CB8AC3E}">
        <p14:creationId xmlns:p14="http://schemas.microsoft.com/office/powerpoint/2010/main" val="266041940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Line 356">
            <a:extLst>
              <a:ext uri="{FF2B5EF4-FFF2-40B4-BE49-F238E27FC236}">
                <a16:creationId xmlns:a16="http://schemas.microsoft.com/office/drawing/2014/main" id="{EC4AB5A4-1177-7713-84BB-01F459731943}"/>
              </a:ext>
            </a:extLst>
          </p:cNvPr>
          <p:cNvSpPr>
            <a:spLocks noChangeShapeType="1"/>
          </p:cNvSpPr>
          <p:nvPr/>
        </p:nvSpPr>
        <p:spPr bwMode="auto">
          <a:xfrm flipV="1">
            <a:off x="7354373"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1" name="Line 356">
            <a:extLst>
              <a:ext uri="{FF2B5EF4-FFF2-40B4-BE49-F238E27FC236}">
                <a16:creationId xmlns:a16="http://schemas.microsoft.com/office/drawing/2014/main" id="{749613C2-D41F-F70D-1FC0-B6C95FE00095}"/>
              </a:ext>
            </a:extLst>
          </p:cNvPr>
          <p:cNvSpPr>
            <a:spLocks noChangeShapeType="1"/>
          </p:cNvSpPr>
          <p:nvPr/>
        </p:nvSpPr>
        <p:spPr bwMode="auto">
          <a:xfrm flipV="1">
            <a:off x="5881920"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0" name="Line 356">
            <a:extLst>
              <a:ext uri="{FF2B5EF4-FFF2-40B4-BE49-F238E27FC236}">
                <a16:creationId xmlns:a16="http://schemas.microsoft.com/office/drawing/2014/main" id="{2C2E6CA3-4062-F21B-B8AD-07054B45E9E5}"/>
              </a:ext>
            </a:extLst>
          </p:cNvPr>
          <p:cNvSpPr>
            <a:spLocks noChangeShapeType="1"/>
          </p:cNvSpPr>
          <p:nvPr/>
        </p:nvSpPr>
        <p:spPr bwMode="auto">
          <a:xfrm flipV="1">
            <a:off x="4295167"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200" dirty="0"/>
              <a:t>Identifying “Loops” in the Future State Map</a:t>
            </a:r>
            <a:endParaRPr lang="en-US" sz="32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126</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a:stCxn id="23" idx="1"/>
          </p:cNvCxnSpPr>
          <p:nvPr/>
        </p:nvCxnSpPr>
        <p:spPr bwMode="auto">
          <a:xfrm rot="10800000" flipV="1">
            <a:off x="2843569" y="2738438"/>
            <a:ext cx="1671635" cy="1990977"/>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545115" y="3994405"/>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7" y="4607782"/>
            <a:ext cx="864815" cy="534768"/>
            <a:chOff x="4920" y="2982"/>
            <a:chExt cx="567" cy="391"/>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567"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7" y="3182"/>
              <a:ext cx="24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 </a:t>
              </a:r>
              <a:r>
                <a:rPr lang="en-US" altLang="en-US" sz="1000" b="0" dirty="0">
                  <a:latin typeface="Roboto" panose="02000000000000000000" pitchFamily="2" charset="0"/>
                  <a:ea typeface="Roboto" panose="02000000000000000000" pitchFamily="2" charset="0"/>
                  <a:cs typeface="Roboto" panose="02000000000000000000" pitchFamily="2" charset="0"/>
                </a:rPr>
                <a:t>1</a:t>
              </a:r>
              <a:endParaRPr lang="en-US" altLang="en-US" sz="11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963871" cy="511175"/>
            <a:chOff x="4841" y="3355"/>
            <a:chExt cx="633"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559"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633" cy="374"/>
              <a:chOff x="4841" y="3355"/>
              <a:chExt cx="633"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63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600" b="0">
                    <a:latin typeface="Roboto" panose="02000000000000000000" pitchFamily="2" charset="0"/>
                    <a:cs typeface="Roboto" panose="02000000000000000000" pitchFamily="2" charset="0"/>
                  </a:rPr>
                  <a:t>”</a:t>
                </a:r>
                <a:endParaRPr lang="en-US" altLang="en-US" sz="6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32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6">
            <a:extLst>
              <a:ext uri="{FF2B5EF4-FFF2-40B4-BE49-F238E27FC236}">
                <a16:creationId xmlns:a16="http://schemas.microsoft.com/office/drawing/2014/main" id="{25F9D53B-67AA-FADA-BE37-9D4CA2BDA842}"/>
              </a:ext>
            </a:extLst>
          </p:cNvPr>
          <p:cNvGrpSpPr>
            <a:grpSpLocks/>
          </p:cNvGrpSpPr>
          <p:nvPr/>
        </p:nvGrpSpPr>
        <p:grpSpPr bwMode="auto">
          <a:xfrm>
            <a:off x="4805086" y="4559804"/>
            <a:ext cx="1119953" cy="550863"/>
            <a:chOff x="1520" y="2637"/>
            <a:chExt cx="775" cy="347"/>
          </a:xfrm>
        </p:grpSpPr>
        <p:sp>
          <p:nvSpPr>
            <p:cNvPr id="13" name="Rectangle 47">
              <a:extLst>
                <a:ext uri="{FF2B5EF4-FFF2-40B4-BE49-F238E27FC236}">
                  <a16:creationId xmlns:a16="http://schemas.microsoft.com/office/drawing/2014/main" id="{593C52CF-1732-9E5E-C9B8-3A0AA99764EA}"/>
                </a:ext>
              </a:extLst>
            </p:cNvPr>
            <p:cNvSpPr>
              <a:spLocks noChangeArrowheads="1"/>
            </p:cNvSpPr>
            <p:nvPr/>
          </p:nvSpPr>
          <p:spPr bwMode="auto">
            <a:xfrm>
              <a:off x="1520" y="2667"/>
              <a:ext cx="775" cy="314"/>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Line 48">
              <a:extLst>
                <a:ext uri="{FF2B5EF4-FFF2-40B4-BE49-F238E27FC236}">
                  <a16:creationId xmlns:a16="http://schemas.microsoft.com/office/drawing/2014/main" id="{0C662426-20CA-EB4C-561E-F60FDA6C8667}"/>
                </a:ext>
              </a:extLst>
            </p:cNvPr>
            <p:cNvSpPr>
              <a:spLocks noChangeShapeType="1"/>
            </p:cNvSpPr>
            <p:nvPr/>
          </p:nvSpPr>
          <p:spPr bwMode="auto">
            <a:xfrm>
              <a:off x="1525" y="2824"/>
              <a:ext cx="763" cy="1"/>
            </a:xfrm>
            <a:prstGeom prst="line">
              <a:avLst/>
            </a:prstGeom>
            <a:noFill/>
            <a:ln w="12700" cap="sq">
              <a:solidFill>
                <a:srgbClr val="222222"/>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nvGrpSpPr>
            <p:cNvPr id="15" name="Group 49">
              <a:extLst>
                <a:ext uri="{FF2B5EF4-FFF2-40B4-BE49-F238E27FC236}">
                  <a16:creationId xmlns:a16="http://schemas.microsoft.com/office/drawing/2014/main" id="{34D12E3C-BD24-B4B2-9BED-A238407FCFB3}"/>
                </a:ext>
              </a:extLst>
            </p:cNvPr>
            <p:cNvGrpSpPr>
              <a:grpSpLocks/>
            </p:cNvGrpSpPr>
            <p:nvPr/>
          </p:nvGrpSpPr>
          <p:grpSpPr bwMode="auto">
            <a:xfrm flipV="1">
              <a:off x="1806" y="2831"/>
              <a:ext cx="109" cy="97"/>
              <a:chOff x="720" y="3354"/>
              <a:chExt cx="192" cy="198"/>
            </a:xfrm>
          </p:grpSpPr>
          <p:sp>
            <p:nvSpPr>
              <p:cNvPr id="75" name="Oval 50">
                <a:extLst>
                  <a:ext uri="{FF2B5EF4-FFF2-40B4-BE49-F238E27FC236}">
                    <a16:creationId xmlns:a16="http://schemas.microsoft.com/office/drawing/2014/main" id="{1D2AECF8-633B-7C41-EECA-31FC6AFFBED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76" name="AutoShape 51">
                <a:extLst>
                  <a:ext uri="{FF2B5EF4-FFF2-40B4-BE49-F238E27FC236}">
                    <a16:creationId xmlns:a16="http://schemas.microsoft.com/office/drawing/2014/main" id="{D72773CA-EEF1-289A-EF47-3B561C7BAE1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22222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16" name="Text Box 52">
              <a:extLst>
                <a:ext uri="{FF2B5EF4-FFF2-40B4-BE49-F238E27FC236}">
                  <a16:creationId xmlns:a16="http://schemas.microsoft.com/office/drawing/2014/main" id="{13C578C0-8A8D-6105-A46E-FC9E1C21602D}"/>
                </a:ext>
              </a:extLst>
            </p:cNvPr>
            <p:cNvSpPr txBox="1">
              <a:spLocks noChangeArrowheads="1"/>
            </p:cNvSpPr>
            <p:nvPr/>
          </p:nvSpPr>
          <p:spPr bwMode="auto">
            <a:xfrm>
              <a:off x="1914" y="2829"/>
              <a:ext cx="23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 7</a:t>
              </a:r>
            </a:p>
          </p:txBody>
        </p:sp>
        <p:sp>
          <p:nvSpPr>
            <p:cNvPr id="17" name="Text Box 53">
              <a:extLst>
                <a:ext uri="{FF2B5EF4-FFF2-40B4-BE49-F238E27FC236}">
                  <a16:creationId xmlns:a16="http://schemas.microsoft.com/office/drawing/2014/main" id="{BAC2B45C-A260-80D7-6C27-18BA69B2BEE0}"/>
                </a:ext>
              </a:extLst>
            </p:cNvPr>
            <p:cNvSpPr txBox="1">
              <a:spLocks noChangeArrowheads="1"/>
            </p:cNvSpPr>
            <p:nvPr/>
          </p:nvSpPr>
          <p:spPr bwMode="auto">
            <a:xfrm>
              <a:off x="1559" y="2637"/>
              <a:ext cx="7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t>Data Entry &amp; Underwrite</a:t>
              </a:r>
            </a:p>
          </p:txBody>
        </p:sp>
      </p:grpSp>
      <p:sp>
        <p:nvSpPr>
          <p:cNvPr id="77" name="Rectangle 58">
            <a:extLst>
              <a:ext uri="{FF2B5EF4-FFF2-40B4-BE49-F238E27FC236}">
                <a16:creationId xmlns:a16="http://schemas.microsoft.com/office/drawing/2014/main" id="{F222E423-A05F-4CE2-6634-50DE040FBB05}"/>
              </a:ext>
            </a:extLst>
          </p:cNvPr>
          <p:cNvSpPr>
            <a:spLocks noChangeArrowheads="1"/>
          </p:cNvSpPr>
          <p:nvPr/>
        </p:nvSpPr>
        <p:spPr bwMode="auto">
          <a:xfrm>
            <a:off x="4790512" y="5174167"/>
            <a:ext cx="1135520" cy="492125"/>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78" name="Group 59">
            <a:extLst>
              <a:ext uri="{FF2B5EF4-FFF2-40B4-BE49-F238E27FC236}">
                <a16:creationId xmlns:a16="http://schemas.microsoft.com/office/drawing/2014/main" id="{799C8A91-246B-58FC-7FCF-7FAA7CA18F4D}"/>
              </a:ext>
            </a:extLst>
          </p:cNvPr>
          <p:cNvGrpSpPr>
            <a:grpSpLocks/>
          </p:cNvGrpSpPr>
          <p:nvPr/>
        </p:nvGrpSpPr>
        <p:grpSpPr bwMode="auto">
          <a:xfrm>
            <a:off x="4728018" y="5170992"/>
            <a:ext cx="1328738" cy="511175"/>
            <a:chOff x="4841" y="3355"/>
            <a:chExt cx="483" cy="374"/>
          </a:xfrm>
        </p:grpSpPr>
        <p:sp>
          <p:nvSpPr>
            <p:cNvPr id="79" name="Text Box 60">
              <a:extLst>
                <a:ext uri="{FF2B5EF4-FFF2-40B4-BE49-F238E27FC236}">
                  <a16:creationId xmlns:a16="http://schemas.microsoft.com/office/drawing/2014/main" id="{1F94D199-DF8B-6968-D0DC-9E4E0837C32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solidFill>
                  <a:srgbClr val="FF0000"/>
                </a:solidFill>
              </a:endParaRPr>
            </a:p>
          </p:txBody>
        </p:sp>
        <p:sp>
          <p:nvSpPr>
            <p:cNvPr id="80" name="Text Box 61">
              <a:extLst>
                <a:ext uri="{FF2B5EF4-FFF2-40B4-BE49-F238E27FC236}">
                  <a16:creationId xmlns:a16="http://schemas.microsoft.com/office/drawing/2014/main" id="{7D5ED516-07E8-5829-6A35-C455222D9930}"/>
                </a:ext>
              </a:extLst>
            </p:cNvPr>
            <p:cNvSpPr txBox="1">
              <a:spLocks noChangeArrowheads="1"/>
            </p:cNvSpPr>
            <p:nvPr/>
          </p:nvSpPr>
          <p:spPr bwMode="auto">
            <a:xfrm>
              <a:off x="4841" y="3511"/>
              <a:ext cx="48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Quality = 98%</a:t>
              </a:r>
            </a:p>
          </p:txBody>
        </p:sp>
        <p:sp>
          <p:nvSpPr>
            <p:cNvPr id="81" name="Rectangle 62">
              <a:extLst>
                <a:ext uri="{FF2B5EF4-FFF2-40B4-BE49-F238E27FC236}">
                  <a16:creationId xmlns:a16="http://schemas.microsoft.com/office/drawing/2014/main" id="{6A247257-7C7C-A477-4528-19D9116CCD8E}"/>
                </a:ext>
              </a:extLst>
            </p:cNvPr>
            <p:cNvSpPr>
              <a:spLocks noChangeArrowheads="1"/>
            </p:cNvSpPr>
            <p:nvPr/>
          </p:nvSpPr>
          <p:spPr bwMode="auto">
            <a:xfrm>
              <a:off x="4841" y="3355"/>
              <a:ext cx="44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Processing Time = 1,500</a:t>
              </a:r>
              <a:r>
                <a:rPr lang="ja-JP" altLang="en-US" sz="700" b="0"/>
                <a:t>”</a:t>
              </a:r>
              <a:endParaRPr lang="en-US" altLang="en-US" sz="700" b="0" dirty="0"/>
            </a:p>
          </p:txBody>
        </p:sp>
        <p:sp>
          <p:nvSpPr>
            <p:cNvPr id="82" name="Rectangle 63">
              <a:extLst>
                <a:ext uri="{FF2B5EF4-FFF2-40B4-BE49-F238E27FC236}">
                  <a16:creationId xmlns:a16="http://schemas.microsoft.com/office/drawing/2014/main" id="{AD20EA79-3DF3-2B6B-9CAD-DAE809BED08C}"/>
                </a:ext>
              </a:extLst>
            </p:cNvPr>
            <p:cNvSpPr>
              <a:spLocks noChangeArrowheads="1"/>
            </p:cNvSpPr>
            <p:nvPr/>
          </p:nvSpPr>
          <p:spPr bwMode="auto">
            <a:xfrm>
              <a:off x="4841" y="3437"/>
              <a:ext cx="22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DOI = 230"</a:t>
              </a:r>
            </a:p>
          </p:txBody>
        </p:sp>
      </p:grpSp>
      <p:grpSp>
        <p:nvGrpSpPr>
          <p:cNvPr id="83" name="Group 65">
            <a:extLst>
              <a:ext uri="{FF2B5EF4-FFF2-40B4-BE49-F238E27FC236}">
                <a16:creationId xmlns:a16="http://schemas.microsoft.com/office/drawing/2014/main" id="{A1A93E8F-782A-1A6F-3EB8-D536CDD8D7BD}"/>
              </a:ext>
            </a:extLst>
          </p:cNvPr>
          <p:cNvGrpSpPr>
            <a:grpSpLocks/>
          </p:cNvGrpSpPr>
          <p:nvPr/>
        </p:nvGrpSpPr>
        <p:grpSpPr bwMode="auto">
          <a:xfrm rot="2889621" flipV="1">
            <a:off x="5498749" y="4427249"/>
            <a:ext cx="212725" cy="115888"/>
            <a:chOff x="636" y="2054"/>
            <a:chExt cx="200" cy="298"/>
          </a:xfrm>
        </p:grpSpPr>
        <p:sp>
          <p:nvSpPr>
            <p:cNvPr id="84" name="Line 66">
              <a:extLst>
                <a:ext uri="{FF2B5EF4-FFF2-40B4-BE49-F238E27FC236}">
                  <a16:creationId xmlns:a16="http://schemas.microsoft.com/office/drawing/2014/main" id="{91F362D8-DEE4-45E3-3BF2-6D03CD38454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85" name="Line 67">
              <a:extLst>
                <a:ext uri="{FF2B5EF4-FFF2-40B4-BE49-F238E27FC236}">
                  <a16:creationId xmlns:a16="http://schemas.microsoft.com/office/drawing/2014/main" id="{84666961-9A63-5CCD-1802-D9542EDFF045}"/>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86" name="Line 68">
              <a:extLst>
                <a:ext uri="{FF2B5EF4-FFF2-40B4-BE49-F238E27FC236}">
                  <a16:creationId xmlns:a16="http://schemas.microsoft.com/office/drawing/2014/main" id="{059026AD-665C-C5E4-7EA9-2FF77855E1A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01" name="Group 100">
            <a:extLst>
              <a:ext uri="{FF2B5EF4-FFF2-40B4-BE49-F238E27FC236}">
                <a16:creationId xmlns:a16="http://schemas.microsoft.com/office/drawing/2014/main" id="{C65D52A7-AB3D-6FF9-3C5B-DACF40C2D7C6}"/>
              </a:ext>
            </a:extLst>
          </p:cNvPr>
          <p:cNvGrpSpPr/>
          <p:nvPr/>
        </p:nvGrpSpPr>
        <p:grpSpPr>
          <a:xfrm>
            <a:off x="6315205" y="4529272"/>
            <a:ext cx="1292924" cy="1389995"/>
            <a:chOff x="8538106" y="4228532"/>
            <a:chExt cx="1292924" cy="1389995"/>
          </a:xfrm>
        </p:grpSpPr>
        <p:grpSp>
          <p:nvGrpSpPr>
            <p:cNvPr id="102" name="Group 101">
              <a:extLst>
                <a:ext uri="{FF2B5EF4-FFF2-40B4-BE49-F238E27FC236}">
                  <a16:creationId xmlns:a16="http://schemas.microsoft.com/office/drawing/2014/main" id="{DB342FD3-B6BF-F4E7-3E12-56C919D7162D}"/>
                </a:ext>
              </a:extLst>
            </p:cNvPr>
            <p:cNvGrpSpPr/>
            <p:nvPr/>
          </p:nvGrpSpPr>
          <p:grpSpPr>
            <a:xfrm>
              <a:off x="8550974" y="4228532"/>
              <a:ext cx="1066101" cy="811908"/>
              <a:chOff x="8550974" y="4228532"/>
              <a:chExt cx="1066101" cy="811908"/>
            </a:xfrm>
          </p:grpSpPr>
          <p:sp>
            <p:nvSpPr>
              <p:cNvPr id="107" name="Rectangle 69">
                <a:extLst>
                  <a:ext uri="{FF2B5EF4-FFF2-40B4-BE49-F238E27FC236}">
                    <a16:creationId xmlns:a16="http://schemas.microsoft.com/office/drawing/2014/main" id="{2E7284A1-31EB-4437-C66F-C44ED64EA43E}"/>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Line 70">
                <a:extLst>
                  <a:ext uri="{FF2B5EF4-FFF2-40B4-BE49-F238E27FC236}">
                    <a16:creationId xmlns:a16="http://schemas.microsoft.com/office/drawing/2014/main" id="{2FB3277C-0A80-FB4C-3E70-E562260F8DE9}"/>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09" name="Text Box 71">
                <a:extLst>
                  <a:ext uri="{FF2B5EF4-FFF2-40B4-BE49-F238E27FC236}">
                    <a16:creationId xmlns:a16="http://schemas.microsoft.com/office/drawing/2014/main" id="{01A4B12F-A00C-B853-9FCE-2D0461C34FFC}"/>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10" name="Group 72">
                <a:extLst>
                  <a:ext uri="{FF2B5EF4-FFF2-40B4-BE49-F238E27FC236}">
                    <a16:creationId xmlns:a16="http://schemas.microsoft.com/office/drawing/2014/main" id="{41BC2C74-F8DA-8F3A-6B89-D192D72838FE}"/>
                  </a:ext>
                </a:extLst>
              </p:cNvPr>
              <p:cNvGrpSpPr>
                <a:grpSpLocks/>
              </p:cNvGrpSpPr>
              <p:nvPr/>
            </p:nvGrpSpPr>
            <p:grpSpPr bwMode="auto">
              <a:xfrm flipV="1">
                <a:off x="8729819" y="4659836"/>
                <a:ext cx="269429" cy="284707"/>
                <a:chOff x="720" y="3354"/>
                <a:chExt cx="192" cy="198"/>
              </a:xfrm>
            </p:grpSpPr>
            <p:sp>
              <p:nvSpPr>
                <p:cNvPr id="112" name="Oval 73">
                  <a:extLst>
                    <a:ext uri="{FF2B5EF4-FFF2-40B4-BE49-F238E27FC236}">
                      <a16:creationId xmlns:a16="http://schemas.microsoft.com/office/drawing/2014/main" id="{A2EA520C-6953-8CEA-A079-3F9677001C2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3" name="AutoShape 74">
                  <a:extLst>
                    <a:ext uri="{FF2B5EF4-FFF2-40B4-BE49-F238E27FC236}">
                      <a16:creationId xmlns:a16="http://schemas.microsoft.com/office/drawing/2014/main" id="{D58C4A61-3073-C428-C2FB-9F6C5D66BE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11" name="Text Box 75">
                <a:extLst>
                  <a:ext uri="{FF2B5EF4-FFF2-40B4-BE49-F238E27FC236}">
                    <a16:creationId xmlns:a16="http://schemas.microsoft.com/office/drawing/2014/main" id="{49D6D1A6-28E0-0EF1-8775-2C5AE2DD2635}"/>
                  </a:ext>
                </a:extLst>
              </p:cNvPr>
              <p:cNvSpPr txBox="1">
                <a:spLocks noChangeArrowheads="1"/>
              </p:cNvSpPr>
              <p:nvPr/>
            </p:nvSpPr>
            <p:spPr bwMode="auto">
              <a:xfrm>
                <a:off x="9084333" y="4619164"/>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1</a:t>
                </a:r>
              </a:p>
            </p:txBody>
          </p:sp>
        </p:grpSp>
        <p:sp>
          <p:nvSpPr>
            <p:cNvPr id="103" name="Rectangle 348">
              <a:extLst>
                <a:ext uri="{FF2B5EF4-FFF2-40B4-BE49-F238E27FC236}">
                  <a16:creationId xmlns:a16="http://schemas.microsoft.com/office/drawing/2014/main" id="{E09DDCCF-DE58-75BC-8B45-E2E918AFE1F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4" name="Text Box 351">
              <a:extLst>
                <a:ext uri="{FF2B5EF4-FFF2-40B4-BE49-F238E27FC236}">
                  <a16:creationId xmlns:a16="http://schemas.microsoft.com/office/drawing/2014/main" id="{825067FD-1777-2C1A-F169-67905F921E4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05" name="Rectangle 352">
              <a:extLst>
                <a:ext uri="{FF2B5EF4-FFF2-40B4-BE49-F238E27FC236}">
                  <a16:creationId xmlns:a16="http://schemas.microsoft.com/office/drawing/2014/main" id="{B4180EC6-7314-85DC-6098-009445324DA0}"/>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6" name="Rectangle 353">
              <a:extLst>
                <a:ext uri="{FF2B5EF4-FFF2-40B4-BE49-F238E27FC236}">
                  <a16:creationId xmlns:a16="http://schemas.microsoft.com/office/drawing/2014/main" id="{F4187A6B-9B9F-AAAC-D9EC-4AB77CA46D18}"/>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1" name="Group 140">
            <a:extLst>
              <a:ext uri="{FF2B5EF4-FFF2-40B4-BE49-F238E27FC236}">
                <a16:creationId xmlns:a16="http://schemas.microsoft.com/office/drawing/2014/main" id="{06E7EA4F-DDFA-9838-4B47-60FF9D7BDDC4}"/>
              </a:ext>
            </a:extLst>
          </p:cNvPr>
          <p:cNvGrpSpPr/>
          <p:nvPr/>
        </p:nvGrpSpPr>
        <p:grpSpPr>
          <a:xfrm>
            <a:off x="3256456" y="4548579"/>
            <a:ext cx="1292924" cy="1329565"/>
            <a:chOff x="8543569" y="4228532"/>
            <a:chExt cx="1292924" cy="1329565"/>
          </a:xfrm>
        </p:grpSpPr>
        <p:grpSp>
          <p:nvGrpSpPr>
            <p:cNvPr id="142" name="Group 141">
              <a:extLst>
                <a:ext uri="{FF2B5EF4-FFF2-40B4-BE49-F238E27FC236}">
                  <a16:creationId xmlns:a16="http://schemas.microsoft.com/office/drawing/2014/main" id="{142DCCAE-16A6-EA37-D4FE-22D7699143C2}"/>
                </a:ext>
              </a:extLst>
            </p:cNvPr>
            <p:cNvGrpSpPr/>
            <p:nvPr/>
          </p:nvGrpSpPr>
          <p:grpSpPr>
            <a:xfrm>
              <a:off x="8550974" y="4228532"/>
              <a:ext cx="1065371" cy="753082"/>
              <a:chOff x="8550974" y="4228532"/>
              <a:chExt cx="1065371" cy="753082"/>
            </a:xfrm>
          </p:grpSpPr>
          <p:sp>
            <p:nvSpPr>
              <p:cNvPr id="147" name="Rectangle 69">
                <a:extLst>
                  <a:ext uri="{FF2B5EF4-FFF2-40B4-BE49-F238E27FC236}">
                    <a16:creationId xmlns:a16="http://schemas.microsoft.com/office/drawing/2014/main" id="{A5DD8DC5-EAB4-90CF-994D-878ED9F3C71A}"/>
                  </a:ext>
                </a:extLst>
              </p:cNvPr>
              <p:cNvSpPr>
                <a:spLocks noChangeArrowheads="1"/>
              </p:cNvSpPr>
              <p:nvPr/>
            </p:nvSpPr>
            <p:spPr bwMode="auto">
              <a:xfrm>
                <a:off x="8550974" y="4292084"/>
                <a:ext cx="1065371" cy="68953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8" name="Line 70">
                <a:extLst>
                  <a:ext uri="{FF2B5EF4-FFF2-40B4-BE49-F238E27FC236}">
                    <a16:creationId xmlns:a16="http://schemas.microsoft.com/office/drawing/2014/main" id="{9047493B-163C-3D4A-34D6-DDD5C364BE7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49" name="Text Box 71">
                <a:extLst>
                  <a:ext uri="{FF2B5EF4-FFF2-40B4-BE49-F238E27FC236}">
                    <a16:creationId xmlns:a16="http://schemas.microsoft.com/office/drawing/2014/main" id="{4E1A3E4F-62AF-38A4-2C5F-DF7FC13B0F6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50" name="Group 72">
                <a:extLst>
                  <a:ext uri="{FF2B5EF4-FFF2-40B4-BE49-F238E27FC236}">
                    <a16:creationId xmlns:a16="http://schemas.microsoft.com/office/drawing/2014/main" id="{64A9EFDB-5880-9C32-D0F2-634930450EDD}"/>
                  </a:ext>
                </a:extLst>
              </p:cNvPr>
              <p:cNvGrpSpPr>
                <a:grpSpLocks/>
              </p:cNvGrpSpPr>
              <p:nvPr/>
            </p:nvGrpSpPr>
            <p:grpSpPr bwMode="auto">
              <a:xfrm flipV="1">
                <a:off x="8799977" y="4616708"/>
                <a:ext cx="228733" cy="241569"/>
                <a:chOff x="770" y="3414"/>
                <a:chExt cx="163" cy="168"/>
              </a:xfrm>
            </p:grpSpPr>
            <p:sp>
              <p:nvSpPr>
                <p:cNvPr id="152" name="Oval 73">
                  <a:extLst>
                    <a:ext uri="{FF2B5EF4-FFF2-40B4-BE49-F238E27FC236}">
                      <a16:creationId xmlns:a16="http://schemas.microsoft.com/office/drawing/2014/main" id="{44D25379-5789-5D8C-DEAD-EE03F7DA0CB8}"/>
                    </a:ext>
                  </a:extLst>
                </p:cNvPr>
                <p:cNvSpPr>
                  <a:spLocks noChangeArrowheads="1"/>
                </p:cNvSpPr>
                <p:nvPr/>
              </p:nvSpPr>
              <p:spPr bwMode="auto">
                <a:xfrm>
                  <a:off x="818" y="3453"/>
                  <a:ext cx="81" cy="8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3" name="AutoShape 74">
                  <a:extLst>
                    <a:ext uri="{FF2B5EF4-FFF2-40B4-BE49-F238E27FC236}">
                      <a16:creationId xmlns:a16="http://schemas.microsoft.com/office/drawing/2014/main" id="{F43342DC-1F84-211F-32E4-B79B9F73BE99}"/>
                    </a:ext>
                  </a:extLst>
                </p:cNvPr>
                <p:cNvSpPr>
                  <a:spLocks noChangeArrowheads="1"/>
                </p:cNvSpPr>
                <p:nvPr/>
              </p:nvSpPr>
              <p:spPr bwMode="auto">
                <a:xfrm>
                  <a:off x="770" y="3414"/>
                  <a:ext cx="163" cy="16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1" name="Text Box 75">
                <a:extLst>
                  <a:ext uri="{FF2B5EF4-FFF2-40B4-BE49-F238E27FC236}">
                    <a16:creationId xmlns:a16="http://schemas.microsoft.com/office/drawing/2014/main" id="{2F9B827D-BEED-7B24-4DE5-83A40F27E4EF}"/>
                  </a:ext>
                </a:extLst>
              </p:cNvPr>
              <p:cNvSpPr txBox="1">
                <a:spLocks noChangeArrowheads="1"/>
              </p:cNvSpPr>
              <p:nvPr/>
            </p:nvSpPr>
            <p:spPr bwMode="auto">
              <a:xfrm>
                <a:off x="9076319" y="4619164"/>
                <a:ext cx="3754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50" b="0" dirty="0">
                    <a:latin typeface="Roboto" panose="02000000000000000000" pitchFamily="2" charset="0"/>
                    <a:ea typeface="Roboto" panose="02000000000000000000" pitchFamily="2" charset="0"/>
                    <a:cs typeface="Roboto" panose="02000000000000000000" pitchFamily="2" charset="0"/>
                  </a:rPr>
                  <a:t>= 2</a:t>
                </a:r>
              </a:p>
            </p:txBody>
          </p:sp>
        </p:grpSp>
        <p:sp>
          <p:nvSpPr>
            <p:cNvPr id="143" name="Rectangle 348">
              <a:extLst>
                <a:ext uri="{FF2B5EF4-FFF2-40B4-BE49-F238E27FC236}">
                  <a16:creationId xmlns:a16="http://schemas.microsoft.com/office/drawing/2014/main" id="{6A2B63CC-4B80-75D5-D057-F0B8EA54B30B}"/>
                </a:ext>
              </a:extLst>
            </p:cNvPr>
            <p:cNvSpPr>
              <a:spLocks noChangeArrowheads="1"/>
            </p:cNvSpPr>
            <p:nvPr/>
          </p:nvSpPr>
          <p:spPr bwMode="auto">
            <a:xfrm>
              <a:off x="8552506" y="4977321"/>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4" name="Text Box 351">
              <a:extLst>
                <a:ext uri="{FF2B5EF4-FFF2-40B4-BE49-F238E27FC236}">
                  <a16:creationId xmlns:a16="http://schemas.microsoft.com/office/drawing/2014/main" id="{D4413699-5A7E-90A0-3E9E-5987A32AC702}"/>
                </a:ext>
              </a:extLst>
            </p:cNvPr>
            <p:cNvSpPr txBox="1">
              <a:spLocks noChangeArrowheads="1"/>
            </p:cNvSpPr>
            <p:nvPr/>
          </p:nvSpPr>
          <p:spPr bwMode="auto">
            <a:xfrm>
              <a:off x="8543569" y="532700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45" name="Rectangle 352">
              <a:extLst>
                <a:ext uri="{FF2B5EF4-FFF2-40B4-BE49-F238E27FC236}">
                  <a16:creationId xmlns:a16="http://schemas.microsoft.com/office/drawing/2014/main" id="{5AAAEC90-F813-3006-AF9C-E48FF7F21498}"/>
                </a:ext>
              </a:extLst>
            </p:cNvPr>
            <p:cNvSpPr>
              <a:spLocks noChangeArrowheads="1"/>
            </p:cNvSpPr>
            <p:nvPr/>
          </p:nvSpPr>
          <p:spPr bwMode="auto">
            <a:xfrm>
              <a:off x="8551545" y="498854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6" name="Rectangle 353">
              <a:extLst>
                <a:ext uri="{FF2B5EF4-FFF2-40B4-BE49-F238E27FC236}">
                  <a16:creationId xmlns:a16="http://schemas.microsoft.com/office/drawing/2014/main" id="{3521151A-9640-5D07-C25D-ACA16B68F905}"/>
                </a:ext>
              </a:extLst>
            </p:cNvPr>
            <p:cNvSpPr>
              <a:spLocks noChangeArrowheads="1"/>
            </p:cNvSpPr>
            <p:nvPr/>
          </p:nvSpPr>
          <p:spPr bwMode="auto">
            <a:xfrm>
              <a:off x="8567743" y="515691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54" name="Group 226">
            <a:extLst>
              <a:ext uri="{FF2B5EF4-FFF2-40B4-BE49-F238E27FC236}">
                <a16:creationId xmlns:a16="http://schemas.microsoft.com/office/drawing/2014/main" id="{615B5CE8-3FAA-4F5A-43D4-61CD910F4CA0}"/>
              </a:ext>
            </a:extLst>
          </p:cNvPr>
          <p:cNvGrpSpPr>
            <a:grpSpLocks/>
          </p:cNvGrpSpPr>
          <p:nvPr/>
        </p:nvGrpSpPr>
        <p:grpSpPr bwMode="auto">
          <a:xfrm rot="14945091" flipV="1">
            <a:off x="5103126" y="4426412"/>
            <a:ext cx="212725" cy="115888"/>
            <a:chOff x="636" y="2054"/>
            <a:chExt cx="200" cy="298"/>
          </a:xfrm>
        </p:grpSpPr>
        <p:sp>
          <p:nvSpPr>
            <p:cNvPr id="155" name="Line 227">
              <a:extLst>
                <a:ext uri="{FF2B5EF4-FFF2-40B4-BE49-F238E27FC236}">
                  <a16:creationId xmlns:a16="http://schemas.microsoft.com/office/drawing/2014/main" id="{CBBC72E0-F5BF-7FE9-4077-DC3735C9558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56" name="Line 228">
              <a:extLst>
                <a:ext uri="{FF2B5EF4-FFF2-40B4-BE49-F238E27FC236}">
                  <a16:creationId xmlns:a16="http://schemas.microsoft.com/office/drawing/2014/main" id="{B8989CFC-4494-3519-3C5F-A47A88B24FE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57" name="Line 229">
              <a:extLst>
                <a:ext uri="{FF2B5EF4-FFF2-40B4-BE49-F238E27FC236}">
                  <a16:creationId xmlns:a16="http://schemas.microsoft.com/office/drawing/2014/main" id="{C690C826-DCE2-FDB6-B75D-1AAB5F7711F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64" name="Line 268">
            <a:extLst>
              <a:ext uri="{FF2B5EF4-FFF2-40B4-BE49-F238E27FC236}">
                <a16:creationId xmlns:a16="http://schemas.microsoft.com/office/drawing/2014/main" id="{CE5C4FF5-4670-1421-74DE-78D9F9310737}"/>
              </a:ext>
            </a:extLst>
          </p:cNvPr>
          <p:cNvSpPr>
            <a:spLocks noChangeShapeType="1"/>
          </p:cNvSpPr>
          <p:nvPr/>
        </p:nvSpPr>
        <p:spPr bwMode="auto">
          <a:xfrm>
            <a:off x="5901244"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5" name="Line 269">
            <a:extLst>
              <a:ext uri="{FF2B5EF4-FFF2-40B4-BE49-F238E27FC236}">
                <a16:creationId xmlns:a16="http://schemas.microsoft.com/office/drawing/2014/main" id="{D51837C8-3467-ECEA-C43F-ED3AFD89F404}"/>
              </a:ext>
            </a:extLst>
          </p:cNvPr>
          <p:cNvSpPr>
            <a:spLocks noChangeShapeType="1"/>
          </p:cNvSpPr>
          <p:nvPr/>
        </p:nvSpPr>
        <p:spPr bwMode="auto">
          <a:xfrm>
            <a:off x="4650294"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66" name="AutoShape 270">
            <a:extLst>
              <a:ext uri="{FF2B5EF4-FFF2-40B4-BE49-F238E27FC236}">
                <a16:creationId xmlns:a16="http://schemas.microsoft.com/office/drawing/2014/main" id="{644A251D-3EB0-463F-B6BF-CD49F21CEFC2}"/>
              </a:ext>
            </a:extLst>
          </p:cNvPr>
          <p:cNvCxnSpPr>
            <a:cxnSpLocks noChangeShapeType="1"/>
            <a:stCxn id="165" idx="1"/>
            <a:endCxn id="164" idx="1"/>
          </p:cNvCxnSpPr>
          <p:nvPr/>
        </p:nvCxnSpPr>
        <p:spPr bwMode="auto">
          <a:xfrm>
            <a:off x="4650294" y="6321887"/>
            <a:ext cx="1250950"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67" name="Rectangle 271">
            <a:extLst>
              <a:ext uri="{FF2B5EF4-FFF2-40B4-BE49-F238E27FC236}">
                <a16:creationId xmlns:a16="http://schemas.microsoft.com/office/drawing/2014/main" id="{27BF1039-8E7A-B34A-A569-52D02243C751}"/>
              </a:ext>
            </a:extLst>
          </p:cNvPr>
          <p:cNvSpPr>
            <a:spLocks noChangeArrowheads="1"/>
          </p:cNvSpPr>
          <p:nvPr/>
        </p:nvSpPr>
        <p:spPr bwMode="auto">
          <a:xfrm>
            <a:off x="4974144" y="6129799"/>
            <a:ext cx="6492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1,500 sec</a:t>
            </a:r>
          </a:p>
        </p:txBody>
      </p:sp>
      <p:sp>
        <p:nvSpPr>
          <p:cNvPr id="168" name="Line 299">
            <a:extLst>
              <a:ext uri="{FF2B5EF4-FFF2-40B4-BE49-F238E27FC236}">
                <a16:creationId xmlns:a16="http://schemas.microsoft.com/office/drawing/2014/main" id="{81F7D6D1-559F-B21F-F28D-C087E77D1080}"/>
              </a:ext>
            </a:extLst>
          </p:cNvPr>
          <p:cNvSpPr>
            <a:spLocks noChangeShapeType="1"/>
          </p:cNvSpPr>
          <p:nvPr/>
        </p:nvSpPr>
        <p:spPr bwMode="auto">
          <a:xfrm>
            <a:off x="3388231"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9" name="Line 300">
            <a:extLst>
              <a:ext uri="{FF2B5EF4-FFF2-40B4-BE49-F238E27FC236}">
                <a16:creationId xmlns:a16="http://schemas.microsoft.com/office/drawing/2014/main" id="{24388188-58D4-A17D-3CC1-9A079642805F}"/>
              </a:ext>
            </a:extLst>
          </p:cNvPr>
          <p:cNvSpPr>
            <a:spLocks noChangeShapeType="1"/>
          </p:cNvSpPr>
          <p:nvPr/>
        </p:nvSpPr>
        <p:spPr bwMode="auto">
          <a:xfrm>
            <a:off x="4089906"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0" name="AutoShape 316">
            <a:extLst>
              <a:ext uri="{FF2B5EF4-FFF2-40B4-BE49-F238E27FC236}">
                <a16:creationId xmlns:a16="http://schemas.microsoft.com/office/drawing/2014/main" id="{09DEE2B7-7796-31E1-B04A-3DA4B3BF7527}"/>
              </a:ext>
            </a:extLst>
          </p:cNvPr>
          <p:cNvCxnSpPr>
            <a:cxnSpLocks noChangeShapeType="1"/>
            <a:stCxn id="168" idx="1"/>
            <a:endCxn id="169" idx="1"/>
          </p:cNvCxnSpPr>
          <p:nvPr/>
        </p:nvCxnSpPr>
        <p:spPr bwMode="auto">
          <a:xfrm>
            <a:off x="3388231" y="6321887"/>
            <a:ext cx="701675"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1" name="Rectangle 317">
            <a:extLst>
              <a:ext uri="{FF2B5EF4-FFF2-40B4-BE49-F238E27FC236}">
                <a16:creationId xmlns:a16="http://schemas.microsoft.com/office/drawing/2014/main" id="{8C1421D8-0767-E559-3265-FCCB70971A5C}"/>
              </a:ext>
            </a:extLst>
          </p:cNvPr>
          <p:cNvSpPr>
            <a:spLocks noChangeArrowheads="1"/>
          </p:cNvSpPr>
          <p:nvPr/>
        </p:nvSpPr>
        <p:spPr bwMode="auto">
          <a:xfrm>
            <a:off x="3473956" y="6129799"/>
            <a:ext cx="511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 sec</a:t>
            </a:r>
          </a:p>
        </p:txBody>
      </p:sp>
      <p:sp>
        <p:nvSpPr>
          <p:cNvPr id="172" name="Rectangle 318">
            <a:extLst>
              <a:ext uri="{FF2B5EF4-FFF2-40B4-BE49-F238E27FC236}">
                <a16:creationId xmlns:a16="http://schemas.microsoft.com/office/drawing/2014/main" id="{DC5FCBF6-A6CD-A26D-31B0-992B8C7937F7}"/>
              </a:ext>
            </a:extLst>
          </p:cNvPr>
          <p:cNvSpPr>
            <a:spLocks noChangeArrowheads="1"/>
          </p:cNvSpPr>
          <p:nvPr/>
        </p:nvSpPr>
        <p:spPr bwMode="auto">
          <a:xfrm>
            <a:off x="7769731" y="6129799"/>
            <a:ext cx="647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45 sec</a:t>
            </a:r>
          </a:p>
        </p:txBody>
      </p:sp>
      <p:sp>
        <p:nvSpPr>
          <p:cNvPr id="173" name="Line 334">
            <a:extLst>
              <a:ext uri="{FF2B5EF4-FFF2-40B4-BE49-F238E27FC236}">
                <a16:creationId xmlns:a16="http://schemas.microsoft.com/office/drawing/2014/main" id="{0A36D6CB-9AAC-2E05-EA71-AE674CA31020}"/>
              </a:ext>
            </a:extLst>
          </p:cNvPr>
          <p:cNvSpPr>
            <a:spLocks noChangeShapeType="1"/>
          </p:cNvSpPr>
          <p:nvPr/>
        </p:nvSpPr>
        <p:spPr bwMode="auto">
          <a:xfrm flipV="1">
            <a:off x="7717344" y="6323474"/>
            <a:ext cx="612775"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4" name="AutoShape 335">
            <a:extLst>
              <a:ext uri="{FF2B5EF4-FFF2-40B4-BE49-F238E27FC236}">
                <a16:creationId xmlns:a16="http://schemas.microsoft.com/office/drawing/2014/main" id="{A36E29A5-A9FA-F74F-0798-C816DEE0E06B}"/>
              </a:ext>
            </a:extLst>
          </p:cNvPr>
          <p:cNvCxnSpPr>
            <a:cxnSpLocks noChangeShapeType="1"/>
          </p:cNvCxnSpPr>
          <p:nvPr/>
        </p:nvCxnSpPr>
        <p:spPr bwMode="auto">
          <a:xfrm>
            <a:off x="7710994" y="6131387"/>
            <a:ext cx="1587" cy="195262"/>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5" name="Line 351">
            <a:extLst>
              <a:ext uri="{FF2B5EF4-FFF2-40B4-BE49-F238E27FC236}">
                <a16:creationId xmlns:a16="http://schemas.microsoft.com/office/drawing/2014/main" id="{24EB96B0-A16D-63FC-F92D-2E31150DEA27}"/>
              </a:ext>
            </a:extLst>
          </p:cNvPr>
          <p:cNvSpPr>
            <a:spLocks noChangeShapeType="1"/>
          </p:cNvSpPr>
          <p:nvPr/>
        </p:nvSpPr>
        <p:spPr bwMode="auto">
          <a:xfrm>
            <a:off x="7195056" y="6128212"/>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76" name="Line 352">
            <a:extLst>
              <a:ext uri="{FF2B5EF4-FFF2-40B4-BE49-F238E27FC236}">
                <a16:creationId xmlns:a16="http://schemas.microsoft.com/office/drawing/2014/main" id="{8ECD759F-EC3F-9DD9-2B9B-03782245BB7E}"/>
              </a:ext>
            </a:extLst>
          </p:cNvPr>
          <p:cNvSpPr>
            <a:spLocks noChangeShapeType="1"/>
          </p:cNvSpPr>
          <p:nvPr/>
        </p:nvSpPr>
        <p:spPr bwMode="auto">
          <a:xfrm>
            <a:off x="6460044" y="6126624"/>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7" name="AutoShape 353">
            <a:extLst>
              <a:ext uri="{FF2B5EF4-FFF2-40B4-BE49-F238E27FC236}">
                <a16:creationId xmlns:a16="http://schemas.microsoft.com/office/drawing/2014/main" id="{23A5CFA2-E0E3-2D54-E12A-D48C1657EAFD}"/>
              </a:ext>
            </a:extLst>
          </p:cNvPr>
          <p:cNvCxnSpPr>
            <a:cxnSpLocks noChangeShapeType="1"/>
            <a:stCxn id="176" idx="1"/>
            <a:endCxn id="175" idx="1"/>
          </p:cNvCxnSpPr>
          <p:nvPr/>
        </p:nvCxnSpPr>
        <p:spPr bwMode="auto">
          <a:xfrm>
            <a:off x="6460044" y="6318712"/>
            <a:ext cx="735012"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8" name="Rectangle 354">
            <a:extLst>
              <a:ext uri="{FF2B5EF4-FFF2-40B4-BE49-F238E27FC236}">
                <a16:creationId xmlns:a16="http://schemas.microsoft.com/office/drawing/2014/main" id="{071C9CF3-0476-2465-0E07-41517E4BF467}"/>
              </a:ext>
            </a:extLst>
          </p:cNvPr>
          <p:cNvSpPr>
            <a:spLocks noChangeArrowheads="1"/>
          </p:cNvSpPr>
          <p:nvPr/>
        </p:nvSpPr>
        <p:spPr bwMode="auto">
          <a:xfrm>
            <a:off x="6504494" y="6126624"/>
            <a:ext cx="6429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420 sec</a:t>
            </a:r>
          </a:p>
        </p:txBody>
      </p:sp>
      <p:sp>
        <p:nvSpPr>
          <p:cNvPr id="179" name="Line 361">
            <a:extLst>
              <a:ext uri="{FF2B5EF4-FFF2-40B4-BE49-F238E27FC236}">
                <a16:creationId xmlns:a16="http://schemas.microsoft.com/office/drawing/2014/main" id="{7014722D-985F-82F0-C323-D273071E0513}"/>
              </a:ext>
            </a:extLst>
          </p:cNvPr>
          <p:cNvSpPr>
            <a:spLocks noChangeShapeType="1"/>
          </p:cNvSpPr>
          <p:nvPr/>
        </p:nvSpPr>
        <p:spPr bwMode="auto">
          <a:xfrm flipV="1">
            <a:off x="2821494" y="6134562"/>
            <a:ext cx="56038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0" name="Rectangle 362">
            <a:extLst>
              <a:ext uri="{FF2B5EF4-FFF2-40B4-BE49-F238E27FC236}">
                <a16:creationId xmlns:a16="http://schemas.microsoft.com/office/drawing/2014/main" id="{45EE385C-00F1-E401-07CC-6471ED434866}"/>
              </a:ext>
            </a:extLst>
          </p:cNvPr>
          <p:cNvSpPr>
            <a:spLocks noChangeArrowheads="1"/>
          </p:cNvSpPr>
          <p:nvPr/>
        </p:nvSpPr>
        <p:spPr bwMode="auto">
          <a:xfrm>
            <a:off x="2738944" y="5951999"/>
            <a:ext cx="6556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1" name="Line 363">
            <a:extLst>
              <a:ext uri="{FF2B5EF4-FFF2-40B4-BE49-F238E27FC236}">
                <a16:creationId xmlns:a16="http://schemas.microsoft.com/office/drawing/2014/main" id="{CC68361B-3CA7-4366-114A-319B296DB70B}"/>
              </a:ext>
            </a:extLst>
          </p:cNvPr>
          <p:cNvSpPr>
            <a:spLocks noChangeShapeType="1"/>
          </p:cNvSpPr>
          <p:nvPr/>
        </p:nvSpPr>
        <p:spPr bwMode="auto">
          <a:xfrm flipV="1">
            <a:off x="4086731" y="6134562"/>
            <a:ext cx="56197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2" name="Rectangle 364">
            <a:extLst>
              <a:ext uri="{FF2B5EF4-FFF2-40B4-BE49-F238E27FC236}">
                <a16:creationId xmlns:a16="http://schemas.microsoft.com/office/drawing/2014/main" id="{AB3A4439-1F8D-F4CF-405E-3425666261AC}"/>
              </a:ext>
            </a:extLst>
          </p:cNvPr>
          <p:cNvSpPr>
            <a:spLocks noChangeArrowheads="1"/>
          </p:cNvSpPr>
          <p:nvPr/>
        </p:nvSpPr>
        <p:spPr bwMode="auto">
          <a:xfrm>
            <a:off x="5885369"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0 day</a:t>
            </a:r>
          </a:p>
        </p:txBody>
      </p:sp>
      <p:sp>
        <p:nvSpPr>
          <p:cNvPr id="183" name="Rectangle 365">
            <a:extLst>
              <a:ext uri="{FF2B5EF4-FFF2-40B4-BE49-F238E27FC236}">
                <a16:creationId xmlns:a16="http://schemas.microsoft.com/office/drawing/2014/main" id="{AEB1556A-C328-6609-17E8-31AFE33972B5}"/>
              </a:ext>
            </a:extLst>
          </p:cNvPr>
          <p:cNvSpPr>
            <a:spLocks noChangeArrowheads="1"/>
          </p:cNvSpPr>
          <p:nvPr/>
        </p:nvSpPr>
        <p:spPr bwMode="auto">
          <a:xfrm>
            <a:off x="7149019" y="5951999"/>
            <a:ext cx="5889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4" name="Line 366">
            <a:extLst>
              <a:ext uri="{FF2B5EF4-FFF2-40B4-BE49-F238E27FC236}">
                <a16:creationId xmlns:a16="http://schemas.microsoft.com/office/drawing/2014/main" id="{3BC5B6E5-CE8F-EF93-787E-01B30EEB3C25}"/>
              </a:ext>
            </a:extLst>
          </p:cNvPr>
          <p:cNvSpPr>
            <a:spLocks noChangeShapeType="1"/>
          </p:cNvSpPr>
          <p:nvPr/>
        </p:nvSpPr>
        <p:spPr bwMode="auto">
          <a:xfrm>
            <a:off x="7185531" y="6132974"/>
            <a:ext cx="519113"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5" name="Line 367">
            <a:extLst>
              <a:ext uri="{FF2B5EF4-FFF2-40B4-BE49-F238E27FC236}">
                <a16:creationId xmlns:a16="http://schemas.microsoft.com/office/drawing/2014/main" id="{8A5DF2B4-092C-DFC3-0BE6-33BBCA5370D3}"/>
              </a:ext>
            </a:extLst>
          </p:cNvPr>
          <p:cNvSpPr>
            <a:spLocks noChangeShapeType="1"/>
          </p:cNvSpPr>
          <p:nvPr/>
        </p:nvSpPr>
        <p:spPr bwMode="auto">
          <a:xfrm flipV="1">
            <a:off x="5899656" y="6134562"/>
            <a:ext cx="5603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6" name="Rectangle 474">
            <a:extLst>
              <a:ext uri="{FF2B5EF4-FFF2-40B4-BE49-F238E27FC236}">
                <a16:creationId xmlns:a16="http://schemas.microsoft.com/office/drawing/2014/main" id="{FA96CA39-EDAE-F8B6-8834-55E48EC858E0}"/>
              </a:ext>
            </a:extLst>
          </p:cNvPr>
          <p:cNvSpPr>
            <a:spLocks noChangeArrowheads="1"/>
          </p:cNvSpPr>
          <p:nvPr/>
        </p:nvSpPr>
        <p:spPr bwMode="auto">
          <a:xfrm>
            <a:off x="4085144"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.5 day</a:t>
            </a:r>
          </a:p>
        </p:txBody>
      </p:sp>
      <p:grpSp>
        <p:nvGrpSpPr>
          <p:cNvPr id="189" name="Group 432">
            <a:extLst>
              <a:ext uri="{FF2B5EF4-FFF2-40B4-BE49-F238E27FC236}">
                <a16:creationId xmlns:a16="http://schemas.microsoft.com/office/drawing/2014/main" id="{C012A8A9-1834-B0B9-27AC-4AB76693FD1F}"/>
              </a:ext>
            </a:extLst>
          </p:cNvPr>
          <p:cNvGrpSpPr>
            <a:grpSpLocks/>
          </p:cNvGrpSpPr>
          <p:nvPr/>
        </p:nvGrpSpPr>
        <p:grpSpPr bwMode="auto">
          <a:xfrm>
            <a:off x="7459565" y="4820024"/>
            <a:ext cx="342900" cy="812800"/>
            <a:chOff x="752" y="2752"/>
            <a:chExt cx="216" cy="512"/>
          </a:xfrm>
        </p:grpSpPr>
        <p:sp>
          <p:nvSpPr>
            <p:cNvPr id="190" name="AutoShape 406">
              <a:extLst>
                <a:ext uri="{FF2B5EF4-FFF2-40B4-BE49-F238E27FC236}">
                  <a16:creationId xmlns:a16="http://schemas.microsoft.com/office/drawing/2014/main" id="{843CE763-57AC-41D4-F71B-390C8317B742}"/>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1" name="AutoShape 407">
              <a:extLst>
                <a:ext uri="{FF2B5EF4-FFF2-40B4-BE49-F238E27FC236}">
                  <a16:creationId xmlns:a16="http://schemas.microsoft.com/office/drawing/2014/main" id="{CCA71718-257C-831C-0EBB-17A034BFA892}"/>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2" name="AutoShape 408">
              <a:extLst>
                <a:ext uri="{FF2B5EF4-FFF2-40B4-BE49-F238E27FC236}">
                  <a16:creationId xmlns:a16="http://schemas.microsoft.com/office/drawing/2014/main" id="{DC7FDA0C-13E3-DB1E-3DAE-0CD8F156BA10}"/>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3" name="Group 409">
              <a:extLst>
                <a:ext uri="{FF2B5EF4-FFF2-40B4-BE49-F238E27FC236}">
                  <a16:creationId xmlns:a16="http://schemas.microsoft.com/office/drawing/2014/main" id="{B0AAC8B4-5338-7623-06E3-9332C103D754}"/>
                </a:ext>
              </a:extLst>
            </p:cNvPr>
            <p:cNvGrpSpPr>
              <a:grpSpLocks/>
            </p:cNvGrpSpPr>
            <p:nvPr/>
          </p:nvGrpSpPr>
          <p:grpSpPr bwMode="auto">
            <a:xfrm>
              <a:off x="752" y="2965"/>
              <a:ext cx="216" cy="299"/>
              <a:chOff x="576" y="1200"/>
              <a:chExt cx="240" cy="336"/>
            </a:xfrm>
          </p:grpSpPr>
          <p:sp>
            <p:nvSpPr>
              <p:cNvPr id="199" name="Rectangle 410">
                <a:extLst>
                  <a:ext uri="{FF2B5EF4-FFF2-40B4-BE49-F238E27FC236}">
                    <a16:creationId xmlns:a16="http://schemas.microsoft.com/office/drawing/2014/main" id="{0F9E2063-D94D-585F-04BB-F5FF221A76B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0" name="Line 411">
                <a:extLst>
                  <a:ext uri="{FF2B5EF4-FFF2-40B4-BE49-F238E27FC236}">
                    <a16:creationId xmlns:a16="http://schemas.microsoft.com/office/drawing/2014/main" id="{7E8EFBC8-7702-E7A9-D62C-9DD55144164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1" name="Line 412">
                <a:extLst>
                  <a:ext uri="{FF2B5EF4-FFF2-40B4-BE49-F238E27FC236}">
                    <a16:creationId xmlns:a16="http://schemas.microsoft.com/office/drawing/2014/main" id="{BFF8D894-BA30-B04D-37C8-F2FB9BF2FC9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194" name="AutoShape 413">
              <a:extLst>
                <a:ext uri="{FF2B5EF4-FFF2-40B4-BE49-F238E27FC236}">
                  <a16:creationId xmlns:a16="http://schemas.microsoft.com/office/drawing/2014/main" id="{A622EBED-9B41-213C-787C-34199394608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5" name="Group 414">
              <a:extLst>
                <a:ext uri="{FF2B5EF4-FFF2-40B4-BE49-F238E27FC236}">
                  <a16:creationId xmlns:a16="http://schemas.microsoft.com/office/drawing/2014/main" id="{D3955824-849A-67E7-4B69-BC9EC894B2F3}"/>
                </a:ext>
              </a:extLst>
            </p:cNvPr>
            <p:cNvGrpSpPr>
              <a:grpSpLocks/>
            </p:cNvGrpSpPr>
            <p:nvPr/>
          </p:nvGrpSpPr>
          <p:grpSpPr bwMode="auto">
            <a:xfrm>
              <a:off x="808" y="2802"/>
              <a:ext cx="140" cy="57"/>
              <a:chOff x="1440" y="1520"/>
              <a:chExt cx="156" cy="64"/>
            </a:xfrm>
          </p:grpSpPr>
          <p:sp>
            <p:nvSpPr>
              <p:cNvPr id="196" name="Line 415">
                <a:extLst>
                  <a:ext uri="{FF2B5EF4-FFF2-40B4-BE49-F238E27FC236}">
                    <a16:creationId xmlns:a16="http://schemas.microsoft.com/office/drawing/2014/main" id="{6F2842FA-A5F7-9BBE-30B9-BB98747D3EFB}"/>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7" name="Line 416">
                <a:extLst>
                  <a:ext uri="{FF2B5EF4-FFF2-40B4-BE49-F238E27FC236}">
                    <a16:creationId xmlns:a16="http://schemas.microsoft.com/office/drawing/2014/main" id="{4D394871-9303-EB05-3523-B253D2A6482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8" name="AutoShape 417">
                <a:extLst>
                  <a:ext uri="{FF2B5EF4-FFF2-40B4-BE49-F238E27FC236}">
                    <a16:creationId xmlns:a16="http://schemas.microsoft.com/office/drawing/2014/main" id="{53E673F4-D0DB-AAFC-0625-41E41FF8701F}"/>
                  </a:ext>
                </a:extLst>
              </p:cNvPr>
              <p:cNvCxnSpPr>
                <a:cxnSpLocks noChangeShapeType="1"/>
                <a:stCxn id="196" idx="1"/>
                <a:endCxn id="1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15" name="Group 432">
            <a:extLst>
              <a:ext uri="{FF2B5EF4-FFF2-40B4-BE49-F238E27FC236}">
                <a16:creationId xmlns:a16="http://schemas.microsoft.com/office/drawing/2014/main" id="{6E5DA14C-E775-18E0-10C7-A896940BED55}"/>
              </a:ext>
            </a:extLst>
          </p:cNvPr>
          <p:cNvGrpSpPr>
            <a:grpSpLocks/>
          </p:cNvGrpSpPr>
          <p:nvPr/>
        </p:nvGrpSpPr>
        <p:grpSpPr bwMode="auto">
          <a:xfrm>
            <a:off x="4396589" y="4827905"/>
            <a:ext cx="342900" cy="812800"/>
            <a:chOff x="752" y="2752"/>
            <a:chExt cx="216" cy="512"/>
          </a:xfrm>
        </p:grpSpPr>
        <p:sp>
          <p:nvSpPr>
            <p:cNvPr id="216" name="AutoShape 406">
              <a:extLst>
                <a:ext uri="{FF2B5EF4-FFF2-40B4-BE49-F238E27FC236}">
                  <a16:creationId xmlns:a16="http://schemas.microsoft.com/office/drawing/2014/main" id="{4931F387-7571-A459-8AD2-6AC5B4F0E7C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7" name="AutoShape 407">
              <a:extLst>
                <a:ext uri="{FF2B5EF4-FFF2-40B4-BE49-F238E27FC236}">
                  <a16:creationId xmlns:a16="http://schemas.microsoft.com/office/drawing/2014/main" id="{B9C2BE8F-75FB-D34B-75A8-BC5D6D5FD0C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8" name="AutoShape 408">
              <a:extLst>
                <a:ext uri="{FF2B5EF4-FFF2-40B4-BE49-F238E27FC236}">
                  <a16:creationId xmlns:a16="http://schemas.microsoft.com/office/drawing/2014/main" id="{0148E9EA-A6AC-8D12-4158-AA619ED0C26D}"/>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9" name="Group 409">
              <a:extLst>
                <a:ext uri="{FF2B5EF4-FFF2-40B4-BE49-F238E27FC236}">
                  <a16:creationId xmlns:a16="http://schemas.microsoft.com/office/drawing/2014/main" id="{02E2E1B2-7F75-31EE-C847-922868C496DC}"/>
                </a:ext>
              </a:extLst>
            </p:cNvPr>
            <p:cNvGrpSpPr>
              <a:grpSpLocks/>
            </p:cNvGrpSpPr>
            <p:nvPr/>
          </p:nvGrpSpPr>
          <p:grpSpPr bwMode="auto">
            <a:xfrm>
              <a:off x="752" y="2965"/>
              <a:ext cx="216" cy="299"/>
              <a:chOff x="576" y="1200"/>
              <a:chExt cx="240" cy="336"/>
            </a:xfrm>
          </p:grpSpPr>
          <p:sp>
            <p:nvSpPr>
              <p:cNvPr id="225" name="Rectangle 410">
                <a:extLst>
                  <a:ext uri="{FF2B5EF4-FFF2-40B4-BE49-F238E27FC236}">
                    <a16:creationId xmlns:a16="http://schemas.microsoft.com/office/drawing/2014/main" id="{2961F3E2-8AD8-FF6D-F6ED-419412582B4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6" name="Line 411">
                <a:extLst>
                  <a:ext uri="{FF2B5EF4-FFF2-40B4-BE49-F238E27FC236}">
                    <a16:creationId xmlns:a16="http://schemas.microsoft.com/office/drawing/2014/main" id="{535AA1B6-5D39-13EE-D7E0-5A0A41AF643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7" name="Line 412">
                <a:extLst>
                  <a:ext uri="{FF2B5EF4-FFF2-40B4-BE49-F238E27FC236}">
                    <a16:creationId xmlns:a16="http://schemas.microsoft.com/office/drawing/2014/main" id="{7F9E9FEE-EE65-E9F6-55AF-F5214654220C}"/>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20" name="AutoShape 413">
              <a:extLst>
                <a:ext uri="{FF2B5EF4-FFF2-40B4-BE49-F238E27FC236}">
                  <a16:creationId xmlns:a16="http://schemas.microsoft.com/office/drawing/2014/main" id="{7F14093D-60BF-D287-6530-4B254BB6B0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21" name="Group 414">
              <a:extLst>
                <a:ext uri="{FF2B5EF4-FFF2-40B4-BE49-F238E27FC236}">
                  <a16:creationId xmlns:a16="http://schemas.microsoft.com/office/drawing/2014/main" id="{F5E5461F-D49C-003F-42EF-8C3820D9FC48}"/>
                </a:ext>
              </a:extLst>
            </p:cNvPr>
            <p:cNvGrpSpPr>
              <a:grpSpLocks/>
            </p:cNvGrpSpPr>
            <p:nvPr/>
          </p:nvGrpSpPr>
          <p:grpSpPr bwMode="auto">
            <a:xfrm>
              <a:off x="808" y="2802"/>
              <a:ext cx="140" cy="57"/>
              <a:chOff x="1440" y="1520"/>
              <a:chExt cx="156" cy="64"/>
            </a:xfrm>
          </p:grpSpPr>
          <p:sp>
            <p:nvSpPr>
              <p:cNvPr id="222" name="Line 415">
                <a:extLst>
                  <a:ext uri="{FF2B5EF4-FFF2-40B4-BE49-F238E27FC236}">
                    <a16:creationId xmlns:a16="http://schemas.microsoft.com/office/drawing/2014/main" id="{C5EB4106-E0DA-F4C4-BF68-94E01D8AB77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3" name="Line 416">
                <a:extLst>
                  <a:ext uri="{FF2B5EF4-FFF2-40B4-BE49-F238E27FC236}">
                    <a16:creationId xmlns:a16="http://schemas.microsoft.com/office/drawing/2014/main" id="{BE444567-28BD-9701-2B4A-CB2355B85904}"/>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24" name="AutoShape 417">
                <a:extLst>
                  <a:ext uri="{FF2B5EF4-FFF2-40B4-BE49-F238E27FC236}">
                    <a16:creationId xmlns:a16="http://schemas.microsoft.com/office/drawing/2014/main" id="{B8986B68-B6BE-B191-3A95-9E684773A5BD}"/>
                  </a:ext>
                </a:extLst>
              </p:cNvPr>
              <p:cNvCxnSpPr>
                <a:cxnSpLocks noChangeShapeType="1"/>
                <a:stCxn id="222" idx="1"/>
                <a:endCxn id="22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28" name="Group 432">
            <a:extLst>
              <a:ext uri="{FF2B5EF4-FFF2-40B4-BE49-F238E27FC236}">
                <a16:creationId xmlns:a16="http://schemas.microsoft.com/office/drawing/2014/main" id="{D5A321D5-CDE7-8EA0-390D-78BE3592F828}"/>
              </a:ext>
            </a:extLst>
          </p:cNvPr>
          <p:cNvGrpSpPr>
            <a:grpSpLocks/>
          </p:cNvGrpSpPr>
          <p:nvPr/>
        </p:nvGrpSpPr>
        <p:grpSpPr bwMode="auto">
          <a:xfrm>
            <a:off x="2679549" y="4827905"/>
            <a:ext cx="342900" cy="812800"/>
            <a:chOff x="752" y="2752"/>
            <a:chExt cx="216" cy="512"/>
          </a:xfrm>
        </p:grpSpPr>
        <p:sp>
          <p:nvSpPr>
            <p:cNvPr id="229" name="AutoShape 406">
              <a:extLst>
                <a:ext uri="{FF2B5EF4-FFF2-40B4-BE49-F238E27FC236}">
                  <a16:creationId xmlns:a16="http://schemas.microsoft.com/office/drawing/2014/main" id="{A3839BFA-8296-9353-7D56-F7B0B1CECF31}"/>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0" name="AutoShape 407">
              <a:extLst>
                <a:ext uri="{FF2B5EF4-FFF2-40B4-BE49-F238E27FC236}">
                  <a16:creationId xmlns:a16="http://schemas.microsoft.com/office/drawing/2014/main" id="{F32CB6B4-C0D4-7C43-1A1F-A80A0D2CA94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1" name="AutoShape 408">
              <a:extLst>
                <a:ext uri="{FF2B5EF4-FFF2-40B4-BE49-F238E27FC236}">
                  <a16:creationId xmlns:a16="http://schemas.microsoft.com/office/drawing/2014/main" id="{F4057CE2-D691-96B0-66E7-7F3FEE1463C9}"/>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2" name="Group 409">
              <a:extLst>
                <a:ext uri="{FF2B5EF4-FFF2-40B4-BE49-F238E27FC236}">
                  <a16:creationId xmlns:a16="http://schemas.microsoft.com/office/drawing/2014/main" id="{A457A67E-D1E0-4F4D-A92B-15E413202F2F}"/>
                </a:ext>
              </a:extLst>
            </p:cNvPr>
            <p:cNvGrpSpPr>
              <a:grpSpLocks/>
            </p:cNvGrpSpPr>
            <p:nvPr/>
          </p:nvGrpSpPr>
          <p:grpSpPr bwMode="auto">
            <a:xfrm>
              <a:off x="752" y="2965"/>
              <a:ext cx="216" cy="299"/>
              <a:chOff x="576" y="1200"/>
              <a:chExt cx="240" cy="336"/>
            </a:xfrm>
          </p:grpSpPr>
          <p:sp>
            <p:nvSpPr>
              <p:cNvPr id="238" name="Rectangle 410">
                <a:extLst>
                  <a:ext uri="{FF2B5EF4-FFF2-40B4-BE49-F238E27FC236}">
                    <a16:creationId xmlns:a16="http://schemas.microsoft.com/office/drawing/2014/main" id="{9A31ACEF-42B9-9B45-F61D-4A4BC1A5D42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9" name="Line 411">
                <a:extLst>
                  <a:ext uri="{FF2B5EF4-FFF2-40B4-BE49-F238E27FC236}">
                    <a16:creationId xmlns:a16="http://schemas.microsoft.com/office/drawing/2014/main" id="{F80E053C-87F6-B19A-73A4-ADBD3D4BEBB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40" name="Line 412">
                <a:extLst>
                  <a:ext uri="{FF2B5EF4-FFF2-40B4-BE49-F238E27FC236}">
                    <a16:creationId xmlns:a16="http://schemas.microsoft.com/office/drawing/2014/main" id="{01F693E7-E273-77C0-4F89-77D655CACD09}"/>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33" name="AutoShape 413">
              <a:extLst>
                <a:ext uri="{FF2B5EF4-FFF2-40B4-BE49-F238E27FC236}">
                  <a16:creationId xmlns:a16="http://schemas.microsoft.com/office/drawing/2014/main" id="{9BD590F8-FBF7-DC7D-0944-42F86D87F8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4" name="Group 414">
              <a:extLst>
                <a:ext uri="{FF2B5EF4-FFF2-40B4-BE49-F238E27FC236}">
                  <a16:creationId xmlns:a16="http://schemas.microsoft.com/office/drawing/2014/main" id="{E45C268E-3DC4-E0D9-EE7F-B620AC81CB46}"/>
                </a:ext>
              </a:extLst>
            </p:cNvPr>
            <p:cNvGrpSpPr>
              <a:grpSpLocks/>
            </p:cNvGrpSpPr>
            <p:nvPr/>
          </p:nvGrpSpPr>
          <p:grpSpPr bwMode="auto">
            <a:xfrm>
              <a:off x="808" y="2802"/>
              <a:ext cx="140" cy="57"/>
              <a:chOff x="1440" y="1520"/>
              <a:chExt cx="156" cy="64"/>
            </a:xfrm>
          </p:grpSpPr>
          <p:sp>
            <p:nvSpPr>
              <p:cNvPr id="235" name="Line 415">
                <a:extLst>
                  <a:ext uri="{FF2B5EF4-FFF2-40B4-BE49-F238E27FC236}">
                    <a16:creationId xmlns:a16="http://schemas.microsoft.com/office/drawing/2014/main" id="{D156D5BB-049B-0A36-BE9F-9FA6E240C9EE}"/>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36" name="Line 416">
                <a:extLst>
                  <a:ext uri="{FF2B5EF4-FFF2-40B4-BE49-F238E27FC236}">
                    <a16:creationId xmlns:a16="http://schemas.microsoft.com/office/drawing/2014/main" id="{F0705831-3685-54E9-48A5-2E5A7AAA2F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37" name="AutoShape 417">
                <a:extLst>
                  <a:ext uri="{FF2B5EF4-FFF2-40B4-BE49-F238E27FC236}">
                    <a16:creationId xmlns:a16="http://schemas.microsoft.com/office/drawing/2014/main" id="{07B84EA0-D3B6-2BC0-F9C3-B7F55FF2C022}"/>
                  </a:ext>
                </a:extLst>
              </p:cNvPr>
              <p:cNvCxnSpPr>
                <a:cxnSpLocks noChangeShapeType="1"/>
                <a:stCxn id="235" idx="1"/>
                <a:endCxn id="236"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41" name="Text Box 359">
            <a:extLst>
              <a:ext uri="{FF2B5EF4-FFF2-40B4-BE49-F238E27FC236}">
                <a16:creationId xmlns:a16="http://schemas.microsoft.com/office/drawing/2014/main" id="{4D92CDF5-FE3D-875C-491B-575FF66C265A}"/>
              </a:ext>
            </a:extLst>
          </p:cNvPr>
          <p:cNvSpPr txBox="1">
            <a:spLocks noChangeArrowheads="1"/>
          </p:cNvSpPr>
          <p:nvPr/>
        </p:nvSpPr>
        <p:spPr bwMode="auto">
          <a:xfrm>
            <a:off x="2580461" y="5126355"/>
            <a:ext cx="546100"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 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32 </a:t>
            </a:r>
            <a:r>
              <a:rPr lang="en-US" altLang="en-US" sz="500" b="0" dirty="0">
                <a:latin typeface="Roboto" panose="02000000000000000000" pitchFamily="2" charset="0"/>
                <a:ea typeface="Roboto" panose="02000000000000000000" pitchFamily="2" charset="0"/>
                <a:cs typeface="Roboto" panose="02000000000000000000" pitchFamily="2" charset="0"/>
              </a:rPr>
              <a:t>Envelopes</a:t>
            </a:r>
          </a:p>
        </p:txBody>
      </p:sp>
      <p:sp>
        <p:nvSpPr>
          <p:cNvPr id="244" name="Text Box 473">
            <a:extLst>
              <a:ext uri="{FF2B5EF4-FFF2-40B4-BE49-F238E27FC236}">
                <a16:creationId xmlns:a16="http://schemas.microsoft.com/office/drawing/2014/main" id="{A3E605C6-A266-96DE-1C8B-A1C644450704}"/>
              </a:ext>
            </a:extLst>
          </p:cNvPr>
          <p:cNvSpPr txBox="1">
            <a:spLocks noChangeArrowheads="1"/>
          </p:cNvSpPr>
          <p:nvPr/>
        </p:nvSpPr>
        <p:spPr bwMode="auto">
          <a:xfrm>
            <a:off x="4290943" y="5143771"/>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63 </a:t>
            </a:r>
            <a:r>
              <a:rPr lang="en-US" altLang="en-US" sz="500" b="0" dirty="0"/>
              <a:t>Applications</a:t>
            </a:r>
          </a:p>
        </p:txBody>
      </p:sp>
      <p:grpSp>
        <p:nvGrpSpPr>
          <p:cNvPr id="245" name="Group 432">
            <a:extLst>
              <a:ext uri="{FF2B5EF4-FFF2-40B4-BE49-F238E27FC236}">
                <a16:creationId xmlns:a16="http://schemas.microsoft.com/office/drawing/2014/main" id="{4D97A423-B40D-D9EB-95D3-9712845BC1C9}"/>
              </a:ext>
            </a:extLst>
          </p:cNvPr>
          <p:cNvGrpSpPr>
            <a:grpSpLocks/>
          </p:cNvGrpSpPr>
          <p:nvPr/>
        </p:nvGrpSpPr>
        <p:grpSpPr bwMode="auto">
          <a:xfrm>
            <a:off x="5960965" y="4820024"/>
            <a:ext cx="342900" cy="812800"/>
            <a:chOff x="752" y="2752"/>
            <a:chExt cx="216" cy="512"/>
          </a:xfrm>
        </p:grpSpPr>
        <p:sp>
          <p:nvSpPr>
            <p:cNvPr id="246" name="AutoShape 406">
              <a:extLst>
                <a:ext uri="{FF2B5EF4-FFF2-40B4-BE49-F238E27FC236}">
                  <a16:creationId xmlns:a16="http://schemas.microsoft.com/office/drawing/2014/main" id="{2F5640A7-EB08-F7AB-734C-1560AB3190AC}"/>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7" name="AutoShape 407">
              <a:extLst>
                <a:ext uri="{FF2B5EF4-FFF2-40B4-BE49-F238E27FC236}">
                  <a16:creationId xmlns:a16="http://schemas.microsoft.com/office/drawing/2014/main" id="{19E2749B-948E-DE21-A8A1-4B534EB2B75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8" name="AutoShape 408">
              <a:extLst>
                <a:ext uri="{FF2B5EF4-FFF2-40B4-BE49-F238E27FC236}">
                  <a16:creationId xmlns:a16="http://schemas.microsoft.com/office/drawing/2014/main" id="{76A29C6D-9A4F-FE16-00ED-8137FD2A8BDA}"/>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49" name="Group 409">
              <a:extLst>
                <a:ext uri="{FF2B5EF4-FFF2-40B4-BE49-F238E27FC236}">
                  <a16:creationId xmlns:a16="http://schemas.microsoft.com/office/drawing/2014/main" id="{426D40CD-A5A6-6F26-08A5-7EB60928ED7A}"/>
                </a:ext>
              </a:extLst>
            </p:cNvPr>
            <p:cNvGrpSpPr>
              <a:grpSpLocks/>
            </p:cNvGrpSpPr>
            <p:nvPr/>
          </p:nvGrpSpPr>
          <p:grpSpPr bwMode="auto">
            <a:xfrm>
              <a:off x="752" y="2965"/>
              <a:ext cx="216" cy="299"/>
              <a:chOff x="576" y="1200"/>
              <a:chExt cx="240" cy="336"/>
            </a:xfrm>
          </p:grpSpPr>
          <p:sp>
            <p:nvSpPr>
              <p:cNvPr id="255" name="Rectangle 410">
                <a:extLst>
                  <a:ext uri="{FF2B5EF4-FFF2-40B4-BE49-F238E27FC236}">
                    <a16:creationId xmlns:a16="http://schemas.microsoft.com/office/drawing/2014/main" id="{A35D3461-0E28-2831-A031-FD6EB6D4C8F2}"/>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56" name="Line 411">
                <a:extLst>
                  <a:ext uri="{FF2B5EF4-FFF2-40B4-BE49-F238E27FC236}">
                    <a16:creationId xmlns:a16="http://schemas.microsoft.com/office/drawing/2014/main" id="{FE92A068-FC7D-EA05-2986-A3B8BD838ED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7" name="Line 412">
                <a:extLst>
                  <a:ext uri="{FF2B5EF4-FFF2-40B4-BE49-F238E27FC236}">
                    <a16:creationId xmlns:a16="http://schemas.microsoft.com/office/drawing/2014/main" id="{A7953C20-E4B8-2709-843B-4D36913127F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0" name="AutoShape 413">
              <a:extLst>
                <a:ext uri="{FF2B5EF4-FFF2-40B4-BE49-F238E27FC236}">
                  <a16:creationId xmlns:a16="http://schemas.microsoft.com/office/drawing/2014/main" id="{BC363846-C5AD-A9E8-162C-2239A80A2BA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51" name="Group 414">
              <a:extLst>
                <a:ext uri="{FF2B5EF4-FFF2-40B4-BE49-F238E27FC236}">
                  <a16:creationId xmlns:a16="http://schemas.microsoft.com/office/drawing/2014/main" id="{95976AAA-7C79-73B2-738A-56454A6BD162}"/>
                </a:ext>
              </a:extLst>
            </p:cNvPr>
            <p:cNvGrpSpPr>
              <a:grpSpLocks/>
            </p:cNvGrpSpPr>
            <p:nvPr/>
          </p:nvGrpSpPr>
          <p:grpSpPr bwMode="auto">
            <a:xfrm>
              <a:off x="808" y="2802"/>
              <a:ext cx="140" cy="57"/>
              <a:chOff x="1440" y="1520"/>
              <a:chExt cx="156" cy="64"/>
            </a:xfrm>
          </p:grpSpPr>
          <p:sp>
            <p:nvSpPr>
              <p:cNvPr id="252" name="Line 415">
                <a:extLst>
                  <a:ext uri="{FF2B5EF4-FFF2-40B4-BE49-F238E27FC236}">
                    <a16:creationId xmlns:a16="http://schemas.microsoft.com/office/drawing/2014/main" id="{A11CD934-6714-4434-843C-2D4D56ECB1DC}"/>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3" name="Line 416">
                <a:extLst>
                  <a:ext uri="{FF2B5EF4-FFF2-40B4-BE49-F238E27FC236}">
                    <a16:creationId xmlns:a16="http://schemas.microsoft.com/office/drawing/2014/main" id="{1CE8D847-3C64-C433-789A-982AB1618D30}"/>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54" name="AutoShape 417">
                <a:extLst>
                  <a:ext uri="{FF2B5EF4-FFF2-40B4-BE49-F238E27FC236}">
                    <a16:creationId xmlns:a16="http://schemas.microsoft.com/office/drawing/2014/main" id="{A3CB318A-F917-7A2E-3DCF-BFFB41157982}"/>
                  </a:ext>
                </a:extLst>
              </p:cNvPr>
              <p:cNvCxnSpPr>
                <a:cxnSpLocks noChangeShapeType="1"/>
                <a:stCxn id="252" idx="1"/>
                <a:endCxn id="25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84" name="Text Box 360">
            <a:extLst>
              <a:ext uri="{FF2B5EF4-FFF2-40B4-BE49-F238E27FC236}">
                <a16:creationId xmlns:a16="http://schemas.microsoft.com/office/drawing/2014/main" id="{380FD599-235E-CF6D-CC8F-829A1E46FDEF}"/>
              </a:ext>
            </a:extLst>
          </p:cNvPr>
          <p:cNvSpPr txBox="1">
            <a:spLocks noChangeArrowheads="1"/>
          </p:cNvSpPr>
          <p:nvPr/>
        </p:nvSpPr>
        <p:spPr bwMode="auto">
          <a:xfrm>
            <a:off x="5849712" y="5134443"/>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0 </a:t>
            </a:r>
            <a:r>
              <a:rPr lang="en-US" altLang="en-US" sz="500" b="0" dirty="0"/>
              <a:t>Applications</a:t>
            </a:r>
          </a:p>
        </p:txBody>
      </p:sp>
      <p:sp>
        <p:nvSpPr>
          <p:cNvPr id="285" name="Text Box 358">
            <a:extLst>
              <a:ext uri="{FF2B5EF4-FFF2-40B4-BE49-F238E27FC236}">
                <a16:creationId xmlns:a16="http://schemas.microsoft.com/office/drawing/2014/main" id="{13FFB058-3D79-B7E4-23F7-410F28F73B50}"/>
              </a:ext>
            </a:extLst>
          </p:cNvPr>
          <p:cNvSpPr txBox="1">
            <a:spLocks noChangeArrowheads="1"/>
          </p:cNvSpPr>
          <p:nvPr/>
        </p:nvSpPr>
        <p:spPr bwMode="auto">
          <a:xfrm>
            <a:off x="7344276" y="5131938"/>
            <a:ext cx="56673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Zip Code</a:t>
            </a:r>
          </a:p>
          <a:p>
            <a:pPr algn="ctr">
              <a:lnSpc>
                <a:spcPct val="100000"/>
              </a:lnSpc>
              <a:spcAft>
                <a:spcPct val="0"/>
              </a:spcAft>
              <a:buClrTx/>
              <a:buSzTx/>
              <a:buFontTx/>
              <a:buNone/>
            </a:pPr>
            <a:r>
              <a:rPr lang="en-US" altLang="en-US" sz="600" b="0" dirty="0"/>
              <a:t>32 </a:t>
            </a:r>
            <a:r>
              <a:rPr lang="en-US" altLang="en-US" sz="500" b="0" dirty="0"/>
              <a:t>Packages</a:t>
            </a:r>
          </a:p>
        </p:txBody>
      </p:sp>
      <p:sp>
        <p:nvSpPr>
          <p:cNvPr id="87" name="Text Box 306">
            <a:extLst>
              <a:ext uri="{FF2B5EF4-FFF2-40B4-BE49-F238E27FC236}">
                <a16:creationId xmlns:a16="http://schemas.microsoft.com/office/drawing/2014/main" id="{F605C887-6D06-FB94-5CFA-47C6D430F792}"/>
              </a:ext>
            </a:extLst>
          </p:cNvPr>
          <p:cNvSpPr txBox="1">
            <a:spLocks noChangeArrowheads="1"/>
          </p:cNvSpPr>
          <p:nvPr/>
        </p:nvSpPr>
        <p:spPr bwMode="auto">
          <a:xfrm>
            <a:off x="6502273" y="4015416"/>
            <a:ext cx="10033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24 packages/day</a:t>
            </a:r>
          </a:p>
        </p:txBody>
      </p:sp>
      <p:sp>
        <p:nvSpPr>
          <p:cNvPr id="94" name="Line 186">
            <a:extLst>
              <a:ext uri="{FF2B5EF4-FFF2-40B4-BE49-F238E27FC236}">
                <a16:creationId xmlns:a16="http://schemas.microsoft.com/office/drawing/2014/main" id="{7D6BFFB0-EEAA-3C4E-1A02-9BC311A50666}"/>
              </a:ext>
            </a:extLst>
          </p:cNvPr>
          <p:cNvSpPr>
            <a:spLocks noChangeShapeType="1"/>
          </p:cNvSpPr>
          <p:nvPr/>
        </p:nvSpPr>
        <p:spPr bwMode="auto">
          <a:xfrm>
            <a:off x="8346868" y="6171075"/>
            <a:ext cx="1128713" cy="588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95" name="Rectangle 187">
            <a:extLst>
              <a:ext uri="{FF2B5EF4-FFF2-40B4-BE49-F238E27FC236}">
                <a16:creationId xmlns:a16="http://schemas.microsoft.com/office/drawing/2014/main" id="{3D696BC0-D9B8-0B29-3B90-CE9CB9C795CF}"/>
              </a:ext>
            </a:extLst>
          </p:cNvPr>
          <p:cNvSpPr>
            <a:spLocks noChangeArrowheads="1"/>
          </p:cNvSpPr>
          <p:nvPr/>
        </p:nvSpPr>
        <p:spPr bwMode="auto">
          <a:xfrm>
            <a:off x="8346868" y="6002338"/>
            <a:ext cx="1128713" cy="34925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marL="176213" indent="-176213">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20000"/>
              </a:spcBef>
              <a:spcAft>
                <a:spcPct val="0"/>
              </a:spcAft>
              <a:buClrTx/>
              <a:buSzTx/>
              <a:buFontTx/>
              <a:buChar char="•"/>
            </a:pPr>
            <a:endParaRPr lang="en-US" altLang="en-US" sz="1600" dirty="0"/>
          </a:p>
        </p:txBody>
      </p:sp>
      <p:sp>
        <p:nvSpPr>
          <p:cNvPr id="96" name="Text Box 185">
            <a:extLst>
              <a:ext uri="{FF2B5EF4-FFF2-40B4-BE49-F238E27FC236}">
                <a16:creationId xmlns:a16="http://schemas.microsoft.com/office/drawing/2014/main" id="{0B42E658-528D-8CA7-C9CF-D1D8E7516C87}"/>
              </a:ext>
            </a:extLst>
          </p:cNvPr>
          <p:cNvSpPr txBox="1">
            <a:spLocks noChangeArrowheads="1"/>
          </p:cNvSpPr>
          <p:nvPr/>
        </p:nvSpPr>
        <p:spPr bwMode="auto">
          <a:xfrm>
            <a:off x="8349866" y="5987488"/>
            <a:ext cx="1158875"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r>
              <a:rPr lang="en-US" altLang="en-US" sz="800" dirty="0"/>
              <a:t>L.T. =  1 day    </a:t>
            </a:r>
          </a:p>
          <a:p>
            <a:pPr algn="r">
              <a:lnSpc>
                <a:spcPct val="100000"/>
              </a:lnSpc>
              <a:spcBef>
                <a:spcPct val="30000"/>
              </a:spcBef>
              <a:spcAft>
                <a:spcPct val="0"/>
              </a:spcAft>
              <a:buClrTx/>
              <a:buSzTx/>
              <a:buFontTx/>
              <a:buNone/>
            </a:pPr>
            <a:r>
              <a:rPr lang="en-US" altLang="en-US" sz="800" dirty="0"/>
              <a:t>P.T = 1,980 seconds</a:t>
            </a:r>
          </a:p>
        </p:txBody>
      </p:sp>
      <p:sp>
        <p:nvSpPr>
          <p:cNvPr id="114" name="Text Box 187">
            <a:extLst>
              <a:ext uri="{FF2B5EF4-FFF2-40B4-BE49-F238E27FC236}">
                <a16:creationId xmlns:a16="http://schemas.microsoft.com/office/drawing/2014/main" id="{8B724DE6-2113-6E71-2378-9675DFE1B95E}"/>
              </a:ext>
            </a:extLst>
          </p:cNvPr>
          <p:cNvSpPr txBox="1">
            <a:spLocks noChangeArrowheads="1"/>
          </p:cNvSpPr>
          <p:nvPr/>
        </p:nvSpPr>
        <p:spPr bwMode="auto">
          <a:xfrm>
            <a:off x="3010481" y="2217448"/>
            <a:ext cx="1168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latin typeface="Roboto" panose="02000000000000000000" pitchFamily="2" charset="0"/>
                <a:ea typeface="Roboto" panose="02000000000000000000" pitchFamily="2" charset="0"/>
              </a:rPr>
              <a:t>Application Loop</a:t>
            </a:r>
          </a:p>
        </p:txBody>
      </p:sp>
      <p:sp>
        <p:nvSpPr>
          <p:cNvPr id="115" name="Freeform 191">
            <a:extLst>
              <a:ext uri="{FF2B5EF4-FFF2-40B4-BE49-F238E27FC236}">
                <a16:creationId xmlns:a16="http://schemas.microsoft.com/office/drawing/2014/main" id="{35D25E21-1869-57CC-59BB-9FE818C8A706}"/>
              </a:ext>
            </a:extLst>
          </p:cNvPr>
          <p:cNvSpPr>
            <a:spLocks/>
          </p:cNvSpPr>
          <p:nvPr/>
        </p:nvSpPr>
        <p:spPr bwMode="auto">
          <a:xfrm>
            <a:off x="4351969" y="3796484"/>
            <a:ext cx="1889125" cy="2162175"/>
          </a:xfrm>
          <a:custGeom>
            <a:avLst/>
            <a:gdLst>
              <a:gd name="T0" fmla="*/ 2147483646 w 1190"/>
              <a:gd name="T1" fmla="*/ 2147483646 h 1362"/>
              <a:gd name="T2" fmla="*/ 2147483646 w 1190"/>
              <a:gd name="T3" fmla="*/ 2147483646 h 1362"/>
              <a:gd name="T4" fmla="*/ 2147483646 w 1190"/>
              <a:gd name="T5" fmla="*/ 2147483646 h 1362"/>
              <a:gd name="T6" fmla="*/ 2147483646 w 1190"/>
              <a:gd name="T7" fmla="*/ 2147483646 h 1362"/>
              <a:gd name="T8" fmla="*/ 2147483646 w 1190"/>
              <a:gd name="T9" fmla="*/ 2147483646 h 1362"/>
              <a:gd name="T10" fmla="*/ 2147483646 w 1190"/>
              <a:gd name="T11" fmla="*/ 2147483646 h 1362"/>
              <a:gd name="T12" fmla="*/ 2147483646 w 1190"/>
              <a:gd name="T13" fmla="*/ 2147483646 h 1362"/>
              <a:gd name="T14" fmla="*/ 2147483646 w 1190"/>
              <a:gd name="T15" fmla="*/ 2147483646 h 1362"/>
              <a:gd name="T16" fmla="*/ 2147483646 w 1190"/>
              <a:gd name="T17" fmla="*/ 2147483646 h 1362"/>
              <a:gd name="T18" fmla="*/ 2147483646 w 1190"/>
              <a:gd name="T19" fmla="*/ 2147483646 h 1362"/>
              <a:gd name="T20" fmla="*/ 2147483646 w 1190"/>
              <a:gd name="T21" fmla="*/ 2147483646 h 1362"/>
              <a:gd name="T22" fmla="*/ 2147483646 w 1190"/>
              <a:gd name="T23" fmla="*/ 2147483646 h 1362"/>
              <a:gd name="T24" fmla="*/ 2147483646 w 1190"/>
              <a:gd name="T25" fmla="*/ 2147483646 h 1362"/>
              <a:gd name="T26" fmla="*/ 2147483646 w 1190"/>
              <a:gd name="T27" fmla="*/ 2147483646 h 1362"/>
              <a:gd name="T28" fmla="*/ 2147483646 w 1190"/>
              <a:gd name="T29" fmla="*/ 2147483646 h 1362"/>
              <a:gd name="T30" fmla="*/ 2147483646 w 1190"/>
              <a:gd name="T31" fmla="*/ 2147483646 h 1362"/>
              <a:gd name="T32" fmla="*/ 2147483646 w 1190"/>
              <a:gd name="T33" fmla="*/ 2147483646 h 1362"/>
              <a:gd name="T34" fmla="*/ 2147483646 w 1190"/>
              <a:gd name="T35" fmla="*/ 2147483646 h 1362"/>
              <a:gd name="T36" fmla="*/ 2147483646 w 1190"/>
              <a:gd name="T37" fmla="*/ 2147483646 h 1362"/>
              <a:gd name="T38" fmla="*/ 2147483646 w 1190"/>
              <a:gd name="T39" fmla="*/ 2147483646 h 1362"/>
              <a:gd name="T40" fmla="*/ 2147483646 w 1190"/>
              <a:gd name="T41" fmla="*/ 2147483646 h 1362"/>
              <a:gd name="T42" fmla="*/ 2147483646 w 1190"/>
              <a:gd name="T43" fmla="*/ 2147483646 h 1362"/>
              <a:gd name="T44" fmla="*/ 2147483646 w 1190"/>
              <a:gd name="T45" fmla="*/ 2147483646 h 1362"/>
              <a:gd name="T46" fmla="*/ 2147483646 w 1190"/>
              <a:gd name="T47" fmla="*/ 2147483646 h 1362"/>
              <a:gd name="T48" fmla="*/ 2147483646 w 1190"/>
              <a:gd name="T49" fmla="*/ 2147483646 h 1362"/>
              <a:gd name="T50" fmla="*/ 2147483646 w 1190"/>
              <a:gd name="T51" fmla="*/ 2147483646 h 1362"/>
              <a:gd name="T52" fmla="*/ 2147483646 w 1190"/>
              <a:gd name="T53" fmla="*/ 2147483646 h 1362"/>
              <a:gd name="T54" fmla="*/ 2147483646 w 1190"/>
              <a:gd name="T55" fmla="*/ 2147483646 h 1362"/>
              <a:gd name="T56" fmla="*/ 2147483646 w 1190"/>
              <a:gd name="T57" fmla="*/ 2147483646 h 1362"/>
              <a:gd name="T58" fmla="*/ 2147483646 w 1190"/>
              <a:gd name="T59" fmla="*/ 2147483646 h 1362"/>
              <a:gd name="T60" fmla="*/ 2147483646 w 1190"/>
              <a:gd name="T61" fmla="*/ 2147483646 h 1362"/>
              <a:gd name="T62" fmla="*/ 2147483646 w 1190"/>
              <a:gd name="T63" fmla="*/ 2147483646 h 1362"/>
              <a:gd name="T64" fmla="*/ 2147483646 w 1190"/>
              <a:gd name="T65" fmla="*/ 2147483646 h 1362"/>
              <a:gd name="T66" fmla="*/ 2147483646 w 1190"/>
              <a:gd name="T67" fmla="*/ 2147483646 h 1362"/>
              <a:gd name="T68" fmla="*/ 2147483646 w 1190"/>
              <a:gd name="T69" fmla="*/ 2147483646 h 1362"/>
              <a:gd name="T70" fmla="*/ 2147483646 w 1190"/>
              <a:gd name="T71" fmla="*/ 2147483646 h 1362"/>
              <a:gd name="T72" fmla="*/ 2147483646 w 1190"/>
              <a:gd name="T73" fmla="*/ 2147483646 h 1362"/>
              <a:gd name="T74" fmla="*/ 2147483646 w 1190"/>
              <a:gd name="T75" fmla="*/ 2147483646 h 1362"/>
              <a:gd name="T76" fmla="*/ 2147483646 w 1190"/>
              <a:gd name="T77" fmla="*/ 2147483646 h 1362"/>
              <a:gd name="T78" fmla="*/ 2147483646 w 1190"/>
              <a:gd name="T79" fmla="*/ 2147483646 h 13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90"/>
              <a:gd name="T121" fmla="*/ 0 h 1362"/>
              <a:gd name="T122" fmla="*/ 1190 w 1190"/>
              <a:gd name="T123" fmla="*/ 1362 h 136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90" h="1362">
                <a:moveTo>
                  <a:pt x="1102" y="1291"/>
                </a:moveTo>
                <a:cubicBezTo>
                  <a:pt x="1071" y="1301"/>
                  <a:pt x="1045" y="1320"/>
                  <a:pt x="1012" y="1327"/>
                </a:cubicBezTo>
                <a:cubicBezTo>
                  <a:pt x="941" y="1342"/>
                  <a:pt x="871" y="1346"/>
                  <a:pt x="799" y="1351"/>
                </a:cubicBezTo>
                <a:cubicBezTo>
                  <a:pt x="743" y="1362"/>
                  <a:pt x="673" y="1359"/>
                  <a:pt x="619" y="1360"/>
                </a:cubicBezTo>
                <a:cubicBezTo>
                  <a:pt x="542" y="1355"/>
                  <a:pt x="478" y="1344"/>
                  <a:pt x="403" y="1330"/>
                </a:cubicBezTo>
                <a:cubicBezTo>
                  <a:pt x="361" y="1322"/>
                  <a:pt x="397" y="1326"/>
                  <a:pt x="352" y="1318"/>
                </a:cubicBezTo>
                <a:cubicBezTo>
                  <a:pt x="331" y="1315"/>
                  <a:pt x="289" y="1309"/>
                  <a:pt x="289" y="1309"/>
                </a:cubicBezTo>
                <a:cubicBezTo>
                  <a:pt x="275" y="1304"/>
                  <a:pt x="240" y="1295"/>
                  <a:pt x="229" y="1288"/>
                </a:cubicBezTo>
                <a:cubicBezTo>
                  <a:pt x="202" y="1270"/>
                  <a:pt x="173" y="1249"/>
                  <a:pt x="142" y="1237"/>
                </a:cubicBezTo>
                <a:cubicBezTo>
                  <a:pt x="131" y="1221"/>
                  <a:pt x="129" y="1211"/>
                  <a:pt x="112" y="1198"/>
                </a:cubicBezTo>
                <a:cubicBezTo>
                  <a:pt x="105" y="1183"/>
                  <a:pt x="94" y="1173"/>
                  <a:pt x="85" y="1159"/>
                </a:cubicBezTo>
                <a:cubicBezTo>
                  <a:pt x="80" y="1151"/>
                  <a:pt x="78" y="1140"/>
                  <a:pt x="73" y="1132"/>
                </a:cubicBezTo>
                <a:cubicBezTo>
                  <a:pt x="65" y="1117"/>
                  <a:pt x="53" y="1104"/>
                  <a:pt x="43" y="1090"/>
                </a:cubicBezTo>
                <a:cubicBezTo>
                  <a:pt x="38" y="1076"/>
                  <a:pt x="32" y="1065"/>
                  <a:pt x="28" y="1051"/>
                </a:cubicBezTo>
                <a:cubicBezTo>
                  <a:pt x="19" y="954"/>
                  <a:pt x="21" y="857"/>
                  <a:pt x="7" y="760"/>
                </a:cubicBezTo>
                <a:cubicBezTo>
                  <a:pt x="6" y="639"/>
                  <a:pt x="0" y="536"/>
                  <a:pt x="10" y="421"/>
                </a:cubicBezTo>
                <a:cubicBezTo>
                  <a:pt x="10" y="405"/>
                  <a:pt x="8" y="267"/>
                  <a:pt x="31" y="250"/>
                </a:cubicBezTo>
                <a:cubicBezTo>
                  <a:pt x="42" y="217"/>
                  <a:pt x="24" y="266"/>
                  <a:pt x="43" y="235"/>
                </a:cubicBezTo>
                <a:cubicBezTo>
                  <a:pt x="50" y="224"/>
                  <a:pt x="52" y="199"/>
                  <a:pt x="61" y="190"/>
                </a:cubicBezTo>
                <a:cubicBezTo>
                  <a:pt x="74" y="177"/>
                  <a:pt x="91" y="161"/>
                  <a:pt x="106" y="151"/>
                </a:cubicBezTo>
                <a:cubicBezTo>
                  <a:pt x="119" y="142"/>
                  <a:pt x="137" y="138"/>
                  <a:pt x="151" y="130"/>
                </a:cubicBezTo>
                <a:cubicBezTo>
                  <a:pt x="165" y="122"/>
                  <a:pt x="174" y="111"/>
                  <a:pt x="187" y="103"/>
                </a:cubicBezTo>
                <a:cubicBezTo>
                  <a:pt x="206" y="91"/>
                  <a:pt x="215" y="91"/>
                  <a:pt x="235" y="85"/>
                </a:cubicBezTo>
                <a:cubicBezTo>
                  <a:pt x="254" y="79"/>
                  <a:pt x="270" y="69"/>
                  <a:pt x="289" y="64"/>
                </a:cubicBezTo>
                <a:cubicBezTo>
                  <a:pt x="384" y="0"/>
                  <a:pt x="511" y="11"/>
                  <a:pt x="619" y="1"/>
                </a:cubicBezTo>
                <a:cubicBezTo>
                  <a:pt x="704" y="6"/>
                  <a:pt x="789" y="6"/>
                  <a:pt x="874" y="13"/>
                </a:cubicBezTo>
                <a:cubicBezTo>
                  <a:pt x="901" y="18"/>
                  <a:pt x="928" y="19"/>
                  <a:pt x="955" y="22"/>
                </a:cubicBezTo>
                <a:cubicBezTo>
                  <a:pt x="976" y="28"/>
                  <a:pt x="998" y="31"/>
                  <a:pt x="1018" y="40"/>
                </a:cubicBezTo>
                <a:cubicBezTo>
                  <a:pt x="1032" y="46"/>
                  <a:pt x="1057" y="61"/>
                  <a:pt x="1057" y="61"/>
                </a:cubicBezTo>
                <a:cubicBezTo>
                  <a:pt x="1081" y="96"/>
                  <a:pt x="1068" y="125"/>
                  <a:pt x="1114" y="148"/>
                </a:cubicBezTo>
                <a:cubicBezTo>
                  <a:pt x="1128" y="168"/>
                  <a:pt x="1137" y="177"/>
                  <a:pt x="1144" y="199"/>
                </a:cubicBezTo>
                <a:cubicBezTo>
                  <a:pt x="1147" y="257"/>
                  <a:pt x="1145" y="324"/>
                  <a:pt x="1156" y="379"/>
                </a:cubicBezTo>
                <a:cubicBezTo>
                  <a:pt x="1159" y="431"/>
                  <a:pt x="1155" y="495"/>
                  <a:pt x="1171" y="544"/>
                </a:cubicBezTo>
                <a:cubicBezTo>
                  <a:pt x="1176" y="626"/>
                  <a:pt x="1178" y="708"/>
                  <a:pt x="1186" y="790"/>
                </a:cubicBezTo>
                <a:cubicBezTo>
                  <a:pt x="1190" y="929"/>
                  <a:pt x="1186" y="1071"/>
                  <a:pt x="1183" y="1210"/>
                </a:cubicBezTo>
                <a:cubicBezTo>
                  <a:pt x="1182" y="1239"/>
                  <a:pt x="1177" y="1255"/>
                  <a:pt x="1156" y="1273"/>
                </a:cubicBezTo>
                <a:cubicBezTo>
                  <a:pt x="1146" y="1282"/>
                  <a:pt x="1117" y="1285"/>
                  <a:pt x="1117" y="1285"/>
                </a:cubicBezTo>
                <a:cubicBezTo>
                  <a:pt x="1114" y="1287"/>
                  <a:pt x="1111" y="1290"/>
                  <a:pt x="1108" y="1291"/>
                </a:cubicBezTo>
                <a:cubicBezTo>
                  <a:pt x="1102" y="1294"/>
                  <a:pt x="1084" y="1300"/>
                  <a:pt x="1090" y="1297"/>
                </a:cubicBezTo>
                <a:cubicBezTo>
                  <a:pt x="1094" y="1295"/>
                  <a:pt x="1098" y="1293"/>
                  <a:pt x="1102" y="1291"/>
                </a:cubicBezTo>
                <a:close/>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lstStyle/>
          <a:p>
            <a:endParaRPr lang="en-US" dirty="0"/>
          </a:p>
        </p:txBody>
      </p:sp>
      <p:sp>
        <p:nvSpPr>
          <p:cNvPr id="116" name="Text Box 192">
            <a:extLst>
              <a:ext uri="{FF2B5EF4-FFF2-40B4-BE49-F238E27FC236}">
                <a16:creationId xmlns:a16="http://schemas.microsoft.com/office/drawing/2014/main" id="{5758960E-12ED-791D-052F-098E98B309EC}"/>
              </a:ext>
            </a:extLst>
          </p:cNvPr>
          <p:cNvSpPr txBox="1">
            <a:spLocks noChangeArrowheads="1"/>
          </p:cNvSpPr>
          <p:nvPr/>
        </p:nvSpPr>
        <p:spPr bwMode="auto">
          <a:xfrm>
            <a:off x="5947316" y="3280685"/>
            <a:ext cx="1168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latin typeface="Roboto" panose="02000000000000000000" pitchFamily="2" charset="0"/>
                <a:ea typeface="Roboto" panose="02000000000000000000" pitchFamily="2" charset="0"/>
              </a:rPr>
              <a:t>Decision Loop</a:t>
            </a:r>
          </a:p>
        </p:txBody>
      </p:sp>
      <p:sp>
        <p:nvSpPr>
          <p:cNvPr id="117" name="Line 193">
            <a:extLst>
              <a:ext uri="{FF2B5EF4-FFF2-40B4-BE49-F238E27FC236}">
                <a16:creationId xmlns:a16="http://schemas.microsoft.com/office/drawing/2014/main" id="{D10211C8-8362-5289-C524-2477E9A1B967}"/>
              </a:ext>
            </a:extLst>
          </p:cNvPr>
          <p:cNvSpPr>
            <a:spLocks noChangeShapeType="1"/>
          </p:cNvSpPr>
          <p:nvPr/>
        </p:nvSpPr>
        <p:spPr bwMode="auto">
          <a:xfrm flipH="1">
            <a:off x="5949548" y="3688273"/>
            <a:ext cx="298449" cy="344748"/>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118" name="Freeform 194">
            <a:extLst>
              <a:ext uri="{FF2B5EF4-FFF2-40B4-BE49-F238E27FC236}">
                <a16:creationId xmlns:a16="http://schemas.microsoft.com/office/drawing/2014/main" id="{5A3A6810-69F6-E4C0-D451-49CA897633EC}"/>
              </a:ext>
            </a:extLst>
          </p:cNvPr>
          <p:cNvSpPr>
            <a:spLocks/>
          </p:cNvSpPr>
          <p:nvPr/>
        </p:nvSpPr>
        <p:spPr bwMode="auto">
          <a:xfrm>
            <a:off x="6108299" y="3720022"/>
            <a:ext cx="2571750" cy="2343411"/>
          </a:xfrm>
          <a:custGeom>
            <a:avLst/>
            <a:gdLst>
              <a:gd name="T0" fmla="*/ 2147483646 w 1730"/>
              <a:gd name="T1" fmla="*/ 2147483646 h 1337"/>
              <a:gd name="T2" fmla="*/ 2147483646 w 1730"/>
              <a:gd name="T3" fmla="*/ 2147483646 h 1337"/>
              <a:gd name="T4" fmla="*/ 2147483646 w 1730"/>
              <a:gd name="T5" fmla="*/ 2147483646 h 1337"/>
              <a:gd name="T6" fmla="*/ 2147483646 w 1730"/>
              <a:gd name="T7" fmla="*/ 2147483646 h 1337"/>
              <a:gd name="T8" fmla="*/ 2147483646 w 1730"/>
              <a:gd name="T9" fmla="*/ 2147483646 h 1337"/>
              <a:gd name="T10" fmla="*/ 2147483646 w 1730"/>
              <a:gd name="T11" fmla="*/ 2147483646 h 1337"/>
              <a:gd name="T12" fmla="*/ 2147483646 w 1730"/>
              <a:gd name="T13" fmla="*/ 2147483646 h 1337"/>
              <a:gd name="T14" fmla="*/ 2147483646 w 1730"/>
              <a:gd name="T15" fmla="*/ 2147483646 h 1337"/>
              <a:gd name="T16" fmla="*/ 2147483646 w 1730"/>
              <a:gd name="T17" fmla="*/ 2147483646 h 1337"/>
              <a:gd name="T18" fmla="*/ 2147483646 w 1730"/>
              <a:gd name="T19" fmla="*/ 2147483646 h 1337"/>
              <a:gd name="T20" fmla="*/ 2147483646 w 1730"/>
              <a:gd name="T21" fmla="*/ 2147483646 h 1337"/>
              <a:gd name="T22" fmla="*/ 2147483646 w 1730"/>
              <a:gd name="T23" fmla="*/ 2147483646 h 1337"/>
              <a:gd name="T24" fmla="*/ 2147483646 w 1730"/>
              <a:gd name="T25" fmla="*/ 2147483646 h 1337"/>
              <a:gd name="T26" fmla="*/ 2147483646 w 1730"/>
              <a:gd name="T27" fmla="*/ 2147483646 h 1337"/>
              <a:gd name="T28" fmla="*/ 2147483646 w 1730"/>
              <a:gd name="T29" fmla="*/ 2147483646 h 1337"/>
              <a:gd name="T30" fmla="*/ 2147483646 w 1730"/>
              <a:gd name="T31" fmla="*/ 2147483646 h 1337"/>
              <a:gd name="T32" fmla="*/ 2147483646 w 1730"/>
              <a:gd name="T33" fmla="*/ 2147483646 h 1337"/>
              <a:gd name="T34" fmla="*/ 2147483646 w 1730"/>
              <a:gd name="T35" fmla="*/ 2147483646 h 1337"/>
              <a:gd name="T36" fmla="*/ 2147483646 w 1730"/>
              <a:gd name="T37" fmla="*/ 2147483646 h 1337"/>
              <a:gd name="T38" fmla="*/ 2147483646 w 1730"/>
              <a:gd name="T39" fmla="*/ 2147483646 h 1337"/>
              <a:gd name="T40" fmla="*/ 2147483646 w 1730"/>
              <a:gd name="T41" fmla="*/ 2147483646 h 1337"/>
              <a:gd name="T42" fmla="*/ 2147483646 w 1730"/>
              <a:gd name="T43" fmla="*/ 2147483646 h 1337"/>
              <a:gd name="T44" fmla="*/ 2147483646 w 1730"/>
              <a:gd name="T45" fmla="*/ 2147483646 h 1337"/>
              <a:gd name="T46" fmla="*/ 2147483646 w 1730"/>
              <a:gd name="T47" fmla="*/ 2147483646 h 1337"/>
              <a:gd name="T48" fmla="*/ 2147483646 w 1730"/>
              <a:gd name="T49" fmla="*/ 2147483646 h 1337"/>
              <a:gd name="T50" fmla="*/ 2147483646 w 1730"/>
              <a:gd name="T51" fmla="*/ 2147483646 h 1337"/>
              <a:gd name="T52" fmla="*/ 2147483646 w 1730"/>
              <a:gd name="T53" fmla="*/ 2147483646 h 1337"/>
              <a:gd name="T54" fmla="*/ 2147483646 w 1730"/>
              <a:gd name="T55" fmla="*/ 2147483646 h 1337"/>
              <a:gd name="T56" fmla="*/ 2147483646 w 1730"/>
              <a:gd name="T57" fmla="*/ 2147483646 h 1337"/>
              <a:gd name="T58" fmla="*/ 2147483646 w 1730"/>
              <a:gd name="T59" fmla="*/ 2147483646 h 1337"/>
              <a:gd name="T60" fmla="*/ 2147483646 w 1730"/>
              <a:gd name="T61" fmla="*/ 2147483646 h 1337"/>
              <a:gd name="T62" fmla="*/ 2147483646 w 1730"/>
              <a:gd name="T63" fmla="*/ 2147483646 h 1337"/>
              <a:gd name="T64" fmla="*/ 2147483646 w 1730"/>
              <a:gd name="T65" fmla="*/ 2147483646 h 1337"/>
              <a:gd name="T66" fmla="*/ 2147483646 w 1730"/>
              <a:gd name="T67" fmla="*/ 2147483646 h 1337"/>
              <a:gd name="T68" fmla="*/ 2147483646 w 1730"/>
              <a:gd name="T69" fmla="*/ 2147483646 h 1337"/>
              <a:gd name="T70" fmla="*/ 2147483646 w 1730"/>
              <a:gd name="T71" fmla="*/ 2147483646 h 1337"/>
              <a:gd name="T72" fmla="*/ 2147483646 w 1730"/>
              <a:gd name="T73" fmla="*/ 2147483646 h 1337"/>
              <a:gd name="T74" fmla="*/ 2147483646 w 1730"/>
              <a:gd name="T75" fmla="*/ 2147483646 h 1337"/>
              <a:gd name="T76" fmla="*/ 2147483646 w 1730"/>
              <a:gd name="T77" fmla="*/ 2147483646 h 1337"/>
              <a:gd name="T78" fmla="*/ 2147483646 w 1730"/>
              <a:gd name="T79" fmla="*/ 2147483646 h 1337"/>
              <a:gd name="T80" fmla="*/ 2147483646 w 1730"/>
              <a:gd name="T81" fmla="*/ 2147483646 h 1337"/>
              <a:gd name="T82" fmla="*/ 2147483646 w 1730"/>
              <a:gd name="T83" fmla="*/ 2147483646 h 1337"/>
              <a:gd name="T84" fmla="*/ 2147483646 w 1730"/>
              <a:gd name="T85" fmla="*/ 2147483646 h 1337"/>
              <a:gd name="T86" fmla="*/ 2147483646 w 1730"/>
              <a:gd name="T87" fmla="*/ 2147483646 h 1337"/>
              <a:gd name="T88" fmla="*/ 2147483646 w 1730"/>
              <a:gd name="T89" fmla="*/ 2147483646 h 1337"/>
              <a:gd name="T90" fmla="*/ 2147483646 w 1730"/>
              <a:gd name="T91" fmla="*/ 2147483646 h 1337"/>
              <a:gd name="T92" fmla="*/ 2147483646 w 1730"/>
              <a:gd name="T93" fmla="*/ 2147483646 h 1337"/>
              <a:gd name="T94" fmla="*/ 2147483646 w 1730"/>
              <a:gd name="T95" fmla="*/ 2147483646 h 1337"/>
              <a:gd name="T96" fmla="*/ 2147483646 w 1730"/>
              <a:gd name="T97" fmla="*/ 2147483646 h 1337"/>
              <a:gd name="T98" fmla="*/ 2147483646 w 1730"/>
              <a:gd name="T99" fmla="*/ 2147483646 h 1337"/>
              <a:gd name="T100" fmla="*/ 2147483646 w 1730"/>
              <a:gd name="T101" fmla="*/ 2147483646 h 13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30"/>
              <a:gd name="T154" fmla="*/ 0 h 1337"/>
              <a:gd name="T155" fmla="*/ 1730 w 1730"/>
              <a:gd name="T156" fmla="*/ 1337 h 13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30" h="1337">
                <a:moveTo>
                  <a:pt x="98" y="1181"/>
                </a:moveTo>
                <a:cubicBezTo>
                  <a:pt x="106" y="1158"/>
                  <a:pt x="92" y="1142"/>
                  <a:pt x="80" y="1124"/>
                </a:cubicBezTo>
                <a:cubicBezTo>
                  <a:pt x="75" y="1105"/>
                  <a:pt x="73" y="1094"/>
                  <a:pt x="71" y="1073"/>
                </a:cubicBezTo>
                <a:cubicBezTo>
                  <a:pt x="73" y="956"/>
                  <a:pt x="86" y="835"/>
                  <a:pt x="71" y="719"/>
                </a:cubicBezTo>
                <a:cubicBezTo>
                  <a:pt x="70" y="669"/>
                  <a:pt x="72" y="618"/>
                  <a:pt x="65" y="569"/>
                </a:cubicBezTo>
                <a:cubicBezTo>
                  <a:pt x="61" y="539"/>
                  <a:pt x="45" y="512"/>
                  <a:pt x="41" y="482"/>
                </a:cubicBezTo>
                <a:cubicBezTo>
                  <a:pt x="38" y="454"/>
                  <a:pt x="39" y="422"/>
                  <a:pt x="23" y="398"/>
                </a:cubicBezTo>
                <a:cubicBezTo>
                  <a:pt x="17" y="370"/>
                  <a:pt x="14" y="342"/>
                  <a:pt x="8" y="314"/>
                </a:cubicBezTo>
                <a:cubicBezTo>
                  <a:pt x="9" y="288"/>
                  <a:pt x="0" y="193"/>
                  <a:pt x="35" y="170"/>
                </a:cubicBezTo>
                <a:cubicBezTo>
                  <a:pt x="69" y="119"/>
                  <a:pt x="170" y="96"/>
                  <a:pt x="227" y="86"/>
                </a:cubicBezTo>
                <a:cubicBezTo>
                  <a:pt x="249" y="82"/>
                  <a:pt x="289" y="70"/>
                  <a:pt x="314" y="68"/>
                </a:cubicBezTo>
                <a:cubicBezTo>
                  <a:pt x="343" y="65"/>
                  <a:pt x="372" y="64"/>
                  <a:pt x="401" y="62"/>
                </a:cubicBezTo>
                <a:cubicBezTo>
                  <a:pt x="499" y="48"/>
                  <a:pt x="599" y="46"/>
                  <a:pt x="698" y="44"/>
                </a:cubicBezTo>
                <a:cubicBezTo>
                  <a:pt x="757" y="38"/>
                  <a:pt x="815" y="16"/>
                  <a:pt x="875" y="14"/>
                </a:cubicBezTo>
                <a:cubicBezTo>
                  <a:pt x="981" y="11"/>
                  <a:pt x="1087" y="12"/>
                  <a:pt x="1193" y="11"/>
                </a:cubicBezTo>
                <a:cubicBezTo>
                  <a:pt x="1235" y="13"/>
                  <a:pt x="1280" y="0"/>
                  <a:pt x="1319" y="17"/>
                </a:cubicBezTo>
                <a:cubicBezTo>
                  <a:pt x="1344" y="28"/>
                  <a:pt x="1370" y="34"/>
                  <a:pt x="1397" y="41"/>
                </a:cubicBezTo>
                <a:cubicBezTo>
                  <a:pt x="1406" y="47"/>
                  <a:pt x="1404" y="47"/>
                  <a:pt x="1415" y="50"/>
                </a:cubicBezTo>
                <a:cubicBezTo>
                  <a:pt x="1423" y="52"/>
                  <a:pt x="1439" y="56"/>
                  <a:pt x="1439" y="56"/>
                </a:cubicBezTo>
                <a:cubicBezTo>
                  <a:pt x="1446" y="63"/>
                  <a:pt x="1493" y="88"/>
                  <a:pt x="1505" y="92"/>
                </a:cubicBezTo>
                <a:cubicBezTo>
                  <a:pt x="1522" y="117"/>
                  <a:pt x="1542" y="139"/>
                  <a:pt x="1562" y="161"/>
                </a:cubicBezTo>
                <a:cubicBezTo>
                  <a:pt x="1570" y="169"/>
                  <a:pt x="1578" y="177"/>
                  <a:pt x="1586" y="185"/>
                </a:cubicBezTo>
                <a:cubicBezTo>
                  <a:pt x="1590" y="189"/>
                  <a:pt x="1598" y="197"/>
                  <a:pt x="1598" y="197"/>
                </a:cubicBezTo>
                <a:cubicBezTo>
                  <a:pt x="1600" y="203"/>
                  <a:pt x="1608" y="206"/>
                  <a:pt x="1610" y="212"/>
                </a:cubicBezTo>
                <a:cubicBezTo>
                  <a:pt x="1627" y="275"/>
                  <a:pt x="1602" y="235"/>
                  <a:pt x="1619" y="260"/>
                </a:cubicBezTo>
                <a:cubicBezTo>
                  <a:pt x="1629" y="299"/>
                  <a:pt x="1613" y="245"/>
                  <a:pt x="1631" y="281"/>
                </a:cubicBezTo>
                <a:cubicBezTo>
                  <a:pt x="1645" y="309"/>
                  <a:pt x="1654" y="338"/>
                  <a:pt x="1670" y="365"/>
                </a:cubicBezTo>
                <a:cubicBezTo>
                  <a:pt x="1673" y="377"/>
                  <a:pt x="1678" y="387"/>
                  <a:pt x="1682" y="398"/>
                </a:cubicBezTo>
                <a:cubicBezTo>
                  <a:pt x="1685" y="436"/>
                  <a:pt x="1694" y="469"/>
                  <a:pt x="1700" y="506"/>
                </a:cubicBezTo>
                <a:cubicBezTo>
                  <a:pt x="1705" y="539"/>
                  <a:pt x="1707" y="576"/>
                  <a:pt x="1715" y="608"/>
                </a:cubicBezTo>
                <a:cubicBezTo>
                  <a:pt x="1721" y="695"/>
                  <a:pt x="1717" y="662"/>
                  <a:pt x="1724" y="707"/>
                </a:cubicBezTo>
                <a:cubicBezTo>
                  <a:pt x="1728" y="760"/>
                  <a:pt x="1730" y="789"/>
                  <a:pt x="1724" y="845"/>
                </a:cubicBezTo>
                <a:cubicBezTo>
                  <a:pt x="1722" y="866"/>
                  <a:pt x="1706" y="881"/>
                  <a:pt x="1700" y="899"/>
                </a:cubicBezTo>
                <a:cubicBezTo>
                  <a:pt x="1691" y="925"/>
                  <a:pt x="1681" y="950"/>
                  <a:pt x="1667" y="974"/>
                </a:cubicBezTo>
                <a:cubicBezTo>
                  <a:pt x="1658" y="1010"/>
                  <a:pt x="1639" y="1047"/>
                  <a:pt x="1625" y="1082"/>
                </a:cubicBezTo>
                <a:cubicBezTo>
                  <a:pt x="1622" y="1106"/>
                  <a:pt x="1617" y="1139"/>
                  <a:pt x="1595" y="1154"/>
                </a:cubicBezTo>
                <a:cubicBezTo>
                  <a:pt x="1585" y="1169"/>
                  <a:pt x="1565" y="1202"/>
                  <a:pt x="1553" y="1214"/>
                </a:cubicBezTo>
                <a:cubicBezTo>
                  <a:pt x="1550" y="1217"/>
                  <a:pt x="1544" y="1217"/>
                  <a:pt x="1541" y="1220"/>
                </a:cubicBezTo>
                <a:cubicBezTo>
                  <a:pt x="1530" y="1229"/>
                  <a:pt x="1519" y="1248"/>
                  <a:pt x="1505" y="1253"/>
                </a:cubicBezTo>
                <a:cubicBezTo>
                  <a:pt x="1482" y="1276"/>
                  <a:pt x="1493" y="1271"/>
                  <a:pt x="1475" y="1277"/>
                </a:cubicBezTo>
                <a:cubicBezTo>
                  <a:pt x="1453" y="1294"/>
                  <a:pt x="1441" y="1298"/>
                  <a:pt x="1412" y="1301"/>
                </a:cubicBezTo>
                <a:cubicBezTo>
                  <a:pt x="1375" y="1313"/>
                  <a:pt x="1412" y="1302"/>
                  <a:pt x="1316" y="1307"/>
                </a:cubicBezTo>
                <a:cubicBezTo>
                  <a:pt x="1267" y="1310"/>
                  <a:pt x="1222" y="1323"/>
                  <a:pt x="1172" y="1325"/>
                </a:cubicBezTo>
                <a:cubicBezTo>
                  <a:pt x="1075" y="1337"/>
                  <a:pt x="978" y="1325"/>
                  <a:pt x="881" y="1319"/>
                </a:cubicBezTo>
                <a:cubicBezTo>
                  <a:pt x="775" y="1303"/>
                  <a:pt x="664" y="1296"/>
                  <a:pt x="557" y="1289"/>
                </a:cubicBezTo>
                <a:cubicBezTo>
                  <a:pt x="498" y="1278"/>
                  <a:pt x="443" y="1276"/>
                  <a:pt x="383" y="1274"/>
                </a:cubicBezTo>
                <a:cubicBezTo>
                  <a:pt x="342" y="1268"/>
                  <a:pt x="301" y="1260"/>
                  <a:pt x="260" y="1256"/>
                </a:cubicBezTo>
                <a:cubicBezTo>
                  <a:pt x="235" y="1246"/>
                  <a:pt x="211" y="1239"/>
                  <a:pt x="185" y="1232"/>
                </a:cubicBezTo>
                <a:cubicBezTo>
                  <a:pt x="169" y="1222"/>
                  <a:pt x="151" y="1215"/>
                  <a:pt x="134" y="1208"/>
                </a:cubicBezTo>
                <a:cubicBezTo>
                  <a:pt x="128" y="1206"/>
                  <a:pt x="116" y="1202"/>
                  <a:pt x="116" y="1202"/>
                </a:cubicBezTo>
                <a:cubicBezTo>
                  <a:pt x="115" y="1199"/>
                  <a:pt x="109" y="1170"/>
                  <a:pt x="98" y="1181"/>
                </a:cubicBezTo>
                <a:close/>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lstStyle/>
          <a:p>
            <a:endParaRPr lang="en-US" dirty="0"/>
          </a:p>
        </p:txBody>
      </p:sp>
      <p:sp>
        <p:nvSpPr>
          <p:cNvPr id="119" name="Text Box 195">
            <a:extLst>
              <a:ext uri="{FF2B5EF4-FFF2-40B4-BE49-F238E27FC236}">
                <a16:creationId xmlns:a16="http://schemas.microsoft.com/office/drawing/2014/main" id="{13B7BC9B-5A27-D247-DD8A-9989444B5E98}"/>
              </a:ext>
            </a:extLst>
          </p:cNvPr>
          <p:cNvSpPr txBox="1">
            <a:spLocks noChangeArrowheads="1"/>
          </p:cNvSpPr>
          <p:nvPr/>
        </p:nvSpPr>
        <p:spPr bwMode="auto">
          <a:xfrm>
            <a:off x="8497487" y="4053658"/>
            <a:ext cx="15890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latin typeface="Roboto" panose="02000000000000000000" pitchFamily="2" charset="0"/>
                <a:ea typeface="Roboto" panose="02000000000000000000" pitchFamily="2" charset="0"/>
              </a:rPr>
              <a:t>Communication Loop</a:t>
            </a:r>
          </a:p>
        </p:txBody>
      </p:sp>
      <p:sp>
        <p:nvSpPr>
          <p:cNvPr id="120" name="Line 196">
            <a:extLst>
              <a:ext uri="{FF2B5EF4-FFF2-40B4-BE49-F238E27FC236}">
                <a16:creationId xmlns:a16="http://schemas.microsoft.com/office/drawing/2014/main" id="{010FA087-7E2B-4C75-E87A-2290B63A7D99}"/>
              </a:ext>
            </a:extLst>
          </p:cNvPr>
          <p:cNvSpPr>
            <a:spLocks noChangeShapeType="1"/>
          </p:cNvSpPr>
          <p:nvPr/>
        </p:nvSpPr>
        <p:spPr bwMode="auto">
          <a:xfrm flipH="1">
            <a:off x="8835624" y="4534671"/>
            <a:ext cx="388938" cy="179387"/>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121" name="Freeform 334">
            <a:extLst>
              <a:ext uri="{FF2B5EF4-FFF2-40B4-BE49-F238E27FC236}">
                <a16:creationId xmlns:a16="http://schemas.microsoft.com/office/drawing/2014/main" id="{861AA152-99DC-9DD3-5918-1A5BA6D0DDAD}"/>
              </a:ext>
            </a:extLst>
          </p:cNvPr>
          <p:cNvSpPr>
            <a:spLocks/>
          </p:cNvSpPr>
          <p:nvPr/>
        </p:nvSpPr>
        <p:spPr bwMode="auto">
          <a:xfrm>
            <a:off x="2396084" y="1973257"/>
            <a:ext cx="4369982" cy="4193055"/>
          </a:xfrm>
          <a:custGeom>
            <a:avLst/>
            <a:gdLst>
              <a:gd name="T0" fmla="*/ 2147483646 w 2243"/>
              <a:gd name="T1" fmla="*/ 2147483646 h 2534"/>
              <a:gd name="T2" fmla="*/ 2147483646 w 2243"/>
              <a:gd name="T3" fmla="*/ 2147483646 h 2534"/>
              <a:gd name="T4" fmla="*/ 0 w 2243"/>
              <a:gd name="T5" fmla="*/ 2147483646 h 2534"/>
              <a:gd name="T6" fmla="*/ 2147483646 w 2243"/>
              <a:gd name="T7" fmla="*/ 2147483646 h 2534"/>
              <a:gd name="T8" fmla="*/ 2147483646 w 2243"/>
              <a:gd name="T9" fmla="*/ 2147483646 h 2534"/>
              <a:gd name="T10" fmla="*/ 2147483646 w 2243"/>
              <a:gd name="T11" fmla="*/ 2147483646 h 2534"/>
              <a:gd name="T12" fmla="*/ 2147483646 w 2243"/>
              <a:gd name="T13" fmla="*/ 2147483646 h 2534"/>
              <a:gd name="T14" fmla="*/ 2147483646 w 2243"/>
              <a:gd name="T15" fmla="*/ 2147483646 h 2534"/>
              <a:gd name="T16" fmla="*/ 2147483646 w 2243"/>
              <a:gd name="T17" fmla="*/ 2147483646 h 2534"/>
              <a:gd name="T18" fmla="*/ 2147483646 w 2243"/>
              <a:gd name="T19" fmla="*/ 2147483646 h 2534"/>
              <a:gd name="T20" fmla="*/ 2147483646 w 2243"/>
              <a:gd name="T21" fmla="*/ 2147483646 h 2534"/>
              <a:gd name="T22" fmla="*/ 2147483646 w 2243"/>
              <a:gd name="T23" fmla="*/ 2147483646 h 2534"/>
              <a:gd name="T24" fmla="*/ 2147483646 w 2243"/>
              <a:gd name="T25" fmla="*/ 2147483646 h 2534"/>
              <a:gd name="T26" fmla="*/ 2147483646 w 2243"/>
              <a:gd name="T27" fmla="*/ 2147483646 h 2534"/>
              <a:gd name="T28" fmla="*/ 2147483646 w 2243"/>
              <a:gd name="T29" fmla="*/ 2147483646 h 2534"/>
              <a:gd name="T30" fmla="*/ 2147483646 w 2243"/>
              <a:gd name="T31" fmla="*/ 2147483646 h 2534"/>
              <a:gd name="T32" fmla="*/ 2147483646 w 2243"/>
              <a:gd name="T33" fmla="*/ 2147483646 h 2534"/>
              <a:gd name="T34" fmla="*/ 2147483646 w 2243"/>
              <a:gd name="T35" fmla="*/ 2147483646 h 2534"/>
              <a:gd name="T36" fmla="*/ 2147483646 w 2243"/>
              <a:gd name="T37" fmla="*/ 2147483646 h 2534"/>
              <a:gd name="T38" fmla="*/ 2147483646 w 2243"/>
              <a:gd name="T39" fmla="*/ 2147483646 h 2534"/>
              <a:gd name="T40" fmla="*/ 2147483646 w 2243"/>
              <a:gd name="T41" fmla="*/ 2147483646 h 2534"/>
              <a:gd name="T42" fmla="*/ 2147483646 w 2243"/>
              <a:gd name="T43" fmla="*/ 2147483646 h 2534"/>
              <a:gd name="T44" fmla="*/ 2147483646 w 2243"/>
              <a:gd name="T45" fmla="*/ 2147483646 h 2534"/>
              <a:gd name="T46" fmla="*/ 2147483646 w 2243"/>
              <a:gd name="T47" fmla="*/ 2147483646 h 2534"/>
              <a:gd name="T48" fmla="*/ 2147483646 w 2243"/>
              <a:gd name="T49" fmla="*/ 2147483646 h 2534"/>
              <a:gd name="T50" fmla="*/ 2147483646 w 2243"/>
              <a:gd name="T51" fmla="*/ 2147483646 h 2534"/>
              <a:gd name="T52" fmla="*/ 2147483646 w 2243"/>
              <a:gd name="T53" fmla="*/ 2147483646 h 2534"/>
              <a:gd name="T54" fmla="*/ 2147483646 w 2243"/>
              <a:gd name="T55" fmla="*/ 2147483646 h 2534"/>
              <a:gd name="T56" fmla="*/ 2147483646 w 2243"/>
              <a:gd name="T57" fmla="*/ 2147483646 h 2534"/>
              <a:gd name="T58" fmla="*/ 2147483646 w 2243"/>
              <a:gd name="T59" fmla="*/ 2147483646 h 2534"/>
              <a:gd name="T60" fmla="*/ 2147483646 w 2243"/>
              <a:gd name="T61" fmla="*/ 2147483646 h 2534"/>
              <a:gd name="T62" fmla="*/ 2147483646 w 2243"/>
              <a:gd name="T63" fmla="*/ 2147483646 h 2534"/>
              <a:gd name="T64" fmla="*/ 2147483646 w 2243"/>
              <a:gd name="T65" fmla="*/ 2147483646 h 2534"/>
              <a:gd name="T66" fmla="*/ 2147483646 w 2243"/>
              <a:gd name="T67" fmla="*/ 2147483646 h 2534"/>
              <a:gd name="T68" fmla="*/ 2147483646 w 2243"/>
              <a:gd name="T69" fmla="*/ 2147483646 h 2534"/>
              <a:gd name="T70" fmla="*/ 2147483646 w 2243"/>
              <a:gd name="T71" fmla="*/ 2147483646 h 2534"/>
              <a:gd name="T72" fmla="*/ 2147483646 w 2243"/>
              <a:gd name="T73" fmla="*/ 2147483646 h 2534"/>
              <a:gd name="T74" fmla="*/ 2147483646 w 2243"/>
              <a:gd name="T75" fmla="*/ 2147483646 h 2534"/>
              <a:gd name="T76" fmla="*/ 2147483646 w 2243"/>
              <a:gd name="T77" fmla="*/ 2147483646 h 2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43"/>
              <a:gd name="T118" fmla="*/ 0 h 2534"/>
              <a:gd name="T119" fmla="*/ 2243 w 2243"/>
              <a:gd name="T120" fmla="*/ 2534 h 25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43" h="2534">
                <a:moveTo>
                  <a:pt x="976" y="2371"/>
                </a:moveTo>
                <a:cubicBezTo>
                  <a:pt x="849" y="2389"/>
                  <a:pt x="838" y="2389"/>
                  <a:pt x="656" y="2395"/>
                </a:cubicBezTo>
                <a:cubicBezTo>
                  <a:pt x="298" y="2390"/>
                  <a:pt x="54" y="2534"/>
                  <a:pt x="0" y="2211"/>
                </a:cubicBezTo>
                <a:cubicBezTo>
                  <a:pt x="3" y="1843"/>
                  <a:pt x="5" y="1475"/>
                  <a:pt x="8" y="1107"/>
                </a:cubicBezTo>
                <a:cubicBezTo>
                  <a:pt x="10" y="846"/>
                  <a:pt x="11" y="584"/>
                  <a:pt x="16" y="323"/>
                </a:cubicBezTo>
                <a:cubicBezTo>
                  <a:pt x="17" y="291"/>
                  <a:pt x="22" y="165"/>
                  <a:pt x="40" y="139"/>
                </a:cubicBezTo>
                <a:cubicBezTo>
                  <a:pt x="50" y="125"/>
                  <a:pt x="88" y="123"/>
                  <a:pt x="88" y="123"/>
                </a:cubicBezTo>
                <a:cubicBezTo>
                  <a:pt x="131" y="80"/>
                  <a:pt x="183" y="80"/>
                  <a:pt x="240" y="67"/>
                </a:cubicBezTo>
                <a:cubicBezTo>
                  <a:pt x="313" y="51"/>
                  <a:pt x="389" y="42"/>
                  <a:pt x="464" y="35"/>
                </a:cubicBezTo>
                <a:cubicBezTo>
                  <a:pt x="480" y="30"/>
                  <a:pt x="495" y="22"/>
                  <a:pt x="512" y="19"/>
                </a:cubicBezTo>
                <a:cubicBezTo>
                  <a:pt x="554" y="11"/>
                  <a:pt x="640" y="3"/>
                  <a:pt x="640" y="3"/>
                </a:cubicBezTo>
                <a:cubicBezTo>
                  <a:pt x="1139" y="6"/>
                  <a:pt x="1637" y="0"/>
                  <a:pt x="2136" y="11"/>
                </a:cubicBezTo>
                <a:cubicBezTo>
                  <a:pt x="2144" y="11"/>
                  <a:pt x="2140" y="27"/>
                  <a:pt x="2144" y="35"/>
                </a:cubicBezTo>
                <a:cubicBezTo>
                  <a:pt x="2148" y="44"/>
                  <a:pt x="2155" y="51"/>
                  <a:pt x="2160" y="59"/>
                </a:cubicBezTo>
                <a:cubicBezTo>
                  <a:pt x="2175" y="119"/>
                  <a:pt x="2176" y="147"/>
                  <a:pt x="2184" y="219"/>
                </a:cubicBezTo>
                <a:cubicBezTo>
                  <a:pt x="2186" y="233"/>
                  <a:pt x="2186" y="247"/>
                  <a:pt x="2192" y="259"/>
                </a:cubicBezTo>
                <a:cubicBezTo>
                  <a:pt x="2200" y="277"/>
                  <a:pt x="2224" y="307"/>
                  <a:pt x="2224" y="307"/>
                </a:cubicBezTo>
                <a:cubicBezTo>
                  <a:pt x="2239" y="397"/>
                  <a:pt x="2243" y="396"/>
                  <a:pt x="2232" y="515"/>
                </a:cubicBezTo>
                <a:cubicBezTo>
                  <a:pt x="2232" y="515"/>
                  <a:pt x="2220" y="567"/>
                  <a:pt x="2216" y="571"/>
                </a:cubicBezTo>
                <a:cubicBezTo>
                  <a:pt x="2210" y="577"/>
                  <a:pt x="2199" y="575"/>
                  <a:pt x="2192" y="579"/>
                </a:cubicBezTo>
                <a:cubicBezTo>
                  <a:pt x="2092" y="634"/>
                  <a:pt x="2139" y="631"/>
                  <a:pt x="2008" y="643"/>
                </a:cubicBezTo>
                <a:cubicBezTo>
                  <a:pt x="1971" y="650"/>
                  <a:pt x="1950" y="655"/>
                  <a:pt x="1920" y="675"/>
                </a:cubicBezTo>
                <a:cubicBezTo>
                  <a:pt x="1891" y="763"/>
                  <a:pt x="1937" y="630"/>
                  <a:pt x="1896" y="723"/>
                </a:cubicBezTo>
                <a:cubicBezTo>
                  <a:pt x="1878" y="763"/>
                  <a:pt x="1870" y="810"/>
                  <a:pt x="1856" y="851"/>
                </a:cubicBezTo>
                <a:cubicBezTo>
                  <a:pt x="1852" y="864"/>
                  <a:pt x="1845" y="891"/>
                  <a:pt x="1832" y="899"/>
                </a:cubicBezTo>
                <a:cubicBezTo>
                  <a:pt x="1818" y="908"/>
                  <a:pt x="1800" y="910"/>
                  <a:pt x="1784" y="915"/>
                </a:cubicBezTo>
                <a:cubicBezTo>
                  <a:pt x="1775" y="918"/>
                  <a:pt x="1769" y="927"/>
                  <a:pt x="1760" y="931"/>
                </a:cubicBezTo>
                <a:cubicBezTo>
                  <a:pt x="1720" y="951"/>
                  <a:pt x="1620" y="946"/>
                  <a:pt x="1608" y="947"/>
                </a:cubicBezTo>
                <a:cubicBezTo>
                  <a:pt x="1520" y="1006"/>
                  <a:pt x="1344" y="984"/>
                  <a:pt x="1256" y="987"/>
                </a:cubicBezTo>
                <a:cubicBezTo>
                  <a:pt x="1206" y="995"/>
                  <a:pt x="1155" y="1014"/>
                  <a:pt x="1112" y="1043"/>
                </a:cubicBezTo>
                <a:cubicBezTo>
                  <a:pt x="1107" y="1051"/>
                  <a:pt x="1103" y="1060"/>
                  <a:pt x="1096" y="1067"/>
                </a:cubicBezTo>
                <a:cubicBezTo>
                  <a:pt x="1089" y="1074"/>
                  <a:pt x="1077" y="1075"/>
                  <a:pt x="1072" y="1083"/>
                </a:cubicBezTo>
                <a:cubicBezTo>
                  <a:pt x="1051" y="1119"/>
                  <a:pt x="1058" y="1179"/>
                  <a:pt x="1048" y="1219"/>
                </a:cubicBezTo>
                <a:cubicBezTo>
                  <a:pt x="1035" y="1269"/>
                  <a:pt x="1046" y="1217"/>
                  <a:pt x="1024" y="1267"/>
                </a:cubicBezTo>
                <a:cubicBezTo>
                  <a:pt x="1013" y="1292"/>
                  <a:pt x="1007" y="1320"/>
                  <a:pt x="1000" y="1347"/>
                </a:cubicBezTo>
                <a:cubicBezTo>
                  <a:pt x="997" y="1683"/>
                  <a:pt x="1003" y="2019"/>
                  <a:pt x="992" y="2355"/>
                </a:cubicBezTo>
                <a:cubicBezTo>
                  <a:pt x="991" y="2372"/>
                  <a:pt x="935" y="2383"/>
                  <a:pt x="952" y="2387"/>
                </a:cubicBezTo>
                <a:cubicBezTo>
                  <a:pt x="968" y="2391"/>
                  <a:pt x="1017" y="2371"/>
                  <a:pt x="1000" y="2371"/>
                </a:cubicBezTo>
                <a:cubicBezTo>
                  <a:pt x="992" y="2371"/>
                  <a:pt x="984" y="2371"/>
                  <a:pt x="976" y="2371"/>
                </a:cubicBezTo>
                <a:close/>
              </a:path>
            </a:pathLst>
          </a:custGeom>
          <a:noFill/>
          <a:ln w="28575" cap="sq">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Tree>
    <p:extLst>
      <p:ext uri="{BB962C8B-B14F-4D97-AF65-F5344CB8AC3E}">
        <p14:creationId xmlns:p14="http://schemas.microsoft.com/office/powerpoint/2010/main" val="50955579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625">
            <a:extLst>
              <a:ext uri="{FF2B5EF4-FFF2-40B4-BE49-F238E27FC236}">
                <a16:creationId xmlns:a16="http://schemas.microsoft.com/office/drawing/2014/main" id="{CC1E4E5C-837A-2879-3505-A77FF656D5F2}"/>
              </a:ext>
            </a:extLst>
          </p:cNvPr>
          <p:cNvSpPr>
            <a:spLocks noChangeArrowheads="1"/>
          </p:cNvSpPr>
          <p:nvPr/>
        </p:nvSpPr>
        <p:spPr bwMode="auto">
          <a:xfrm>
            <a:off x="323383" y="1628945"/>
            <a:ext cx="10396641" cy="4815041"/>
          </a:xfrm>
          <a:prstGeom prst="rect">
            <a:avLst/>
          </a:prstGeom>
          <a:solidFill>
            <a:schemeClr val="bg1"/>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dirty="0">
              <a:latin typeface="Arial" charset="0"/>
              <a:ea typeface="+mn-ea"/>
            </a:endParaRPr>
          </a:p>
        </p:txBody>
      </p:sp>
      <p:sp>
        <p:nvSpPr>
          <p:cNvPr id="92" name="Line 356">
            <a:extLst>
              <a:ext uri="{FF2B5EF4-FFF2-40B4-BE49-F238E27FC236}">
                <a16:creationId xmlns:a16="http://schemas.microsoft.com/office/drawing/2014/main" id="{EC4AB5A4-1177-7713-84BB-01F459731943}"/>
              </a:ext>
            </a:extLst>
          </p:cNvPr>
          <p:cNvSpPr>
            <a:spLocks noChangeShapeType="1"/>
          </p:cNvSpPr>
          <p:nvPr/>
        </p:nvSpPr>
        <p:spPr bwMode="auto">
          <a:xfrm flipV="1">
            <a:off x="7354373"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1" name="Line 356">
            <a:extLst>
              <a:ext uri="{FF2B5EF4-FFF2-40B4-BE49-F238E27FC236}">
                <a16:creationId xmlns:a16="http://schemas.microsoft.com/office/drawing/2014/main" id="{749613C2-D41F-F70D-1FC0-B6C95FE00095}"/>
              </a:ext>
            </a:extLst>
          </p:cNvPr>
          <p:cNvSpPr>
            <a:spLocks noChangeShapeType="1"/>
          </p:cNvSpPr>
          <p:nvPr/>
        </p:nvSpPr>
        <p:spPr bwMode="auto">
          <a:xfrm flipV="1">
            <a:off x="5881920"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90" name="Line 356">
            <a:extLst>
              <a:ext uri="{FF2B5EF4-FFF2-40B4-BE49-F238E27FC236}">
                <a16:creationId xmlns:a16="http://schemas.microsoft.com/office/drawing/2014/main" id="{2C2E6CA3-4062-F21B-B8AD-07054B45E9E5}"/>
              </a:ext>
            </a:extLst>
          </p:cNvPr>
          <p:cNvSpPr>
            <a:spLocks noChangeShapeType="1"/>
          </p:cNvSpPr>
          <p:nvPr/>
        </p:nvSpPr>
        <p:spPr bwMode="auto">
          <a:xfrm flipV="1">
            <a:off x="4295167" y="4960576"/>
            <a:ext cx="558800"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2" name="Title 1">
            <a:extLst>
              <a:ext uri="{FF2B5EF4-FFF2-40B4-BE49-F238E27FC236}">
                <a16:creationId xmlns:a16="http://schemas.microsoft.com/office/drawing/2014/main" id="{730FB923-DB4A-28F9-D649-0B1CDAA602CF}"/>
              </a:ext>
            </a:extLst>
          </p:cNvPr>
          <p:cNvSpPr>
            <a:spLocks noGrp="1"/>
          </p:cNvSpPr>
          <p:nvPr>
            <p:ph type="title"/>
          </p:nvPr>
        </p:nvSpPr>
        <p:spPr>
          <a:xfrm>
            <a:off x="838200" y="681037"/>
            <a:ext cx="10052154" cy="1009651"/>
          </a:xfrm>
        </p:spPr>
        <p:txBody>
          <a:bodyPr>
            <a:noAutofit/>
          </a:bodyPr>
          <a:lstStyle/>
          <a:p>
            <a:r>
              <a:rPr lang="en-US" altLang="en-US" sz="3200" dirty="0"/>
              <a:t>The Completed Future State Map</a:t>
            </a:r>
            <a:endParaRPr lang="en-US" sz="3200" dirty="0"/>
          </a:p>
        </p:txBody>
      </p:sp>
      <p:sp>
        <p:nvSpPr>
          <p:cNvPr id="29" name="Slide Number Placeholder 2">
            <a:extLst>
              <a:ext uri="{FF2B5EF4-FFF2-40B4-BE49-F238E27FC236}">
                <a16:creationId xmlns:a16="http://schemas.microsoft.com/office/drawing/2014/main" id="{A3F41604-03CB-570C-E949-C7125D31B9A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127</a:t>
            </a:fld>
            <a:endParaRPr lang="en-US" dirty="0"/>
          </a:p>
        </p:txBody>
      </p:sp>
      <p:grpSp>
        <p:nvGrpSpPr>
          <p:cNvPr id="3" name="Group 2">
            <a:extLst>
              <a:ext uri="{FF2B5EF4-FFF2-40B4-BE49-F238E27FC236}">
                <a16:creationId xmlns:a16="http://schemas.microsoft.com/office/drawing/2014/main" id="{38A67E9A-2556-75FC-3613-DE495AD1FEBC}"/>
              </a:ext>
            </a:extLst>
          </p:cNvPr>
          <p:cNvGrpSpPr/>
          <p:nvPr/>
        </p:nvGrpSpPr>
        <p:grpSpPr>
          <a:xfrm>
            <a:off x="940249" y="302538"/>
            <a:ext cx="6219503" cy="311932"/>
            <a:chOff x="940249" y="302538"/>
            <a:chExt cx="6219503" cy="311932"/>
          </a:xfrm>
        </p:grpSpPr>
        <p:sp>
          <p:nvSpPr>
            <p:cNvPr id="4" name="TextBox 3">
              <a:extLst>
                <a:ext uri="{FF2B5EF4-FFF2-40B4-BE49-F238E27FC236}">
                  <a16:creationId xmlns:a16="http://schemas.microsoft.com/office/drawing/2014/main" id="{3DD9A7A9-DD9C-1937-6D1F-C521597E215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sp>
          <p:nvSpPr>
            <p:cNvPr id="5" name="AutoShape 9">
              <a:extLst>
                <a:ext uri="{FF2B5EF4-FFF2-40B4-BE49-F238E27FC236}">
                  <a16:creationId xmlns:a16="http://schemas.microsoft.com/office/drawing/2014/main" id="{1F729337-72A8-8FA6-8369-D106931BA605}"/>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6" name="AutoShape 9">
              <a:extLst>
                <a:ext uri="{FF2B5EF4-FFF2-40B4-BE49-F238E27FC236}">
                  <a16:creationId xmlns:a16="http://schemas.microsoft.com/office/drawing/2014/main" id="{1E313D0F-5861-3D76-4901-FD51B83EF692}"/>
                </a:ext>
              </a:extLst>
            </p:cNvPr>
            <p:cNvSpPr>
              <a:spLocks noChangeArrowheads="1"/>
            </p:cNvSpPr>
            <p:nvPr/>
          </p:nvSpPr>
          <p:spPr bwMode="auto">
            <a:xfrm>
              <a:off x="1835953"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1CAD8866-972E-6FE7-B893-CB727F7F252A}"/>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A7127F8-642C-5652-A65B-2AFD8A167949}"/>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11">
              <a:extLst>
                <a:ext uri="{FF2B5EF4-FFF2-40B4-BE49-F238E27FC236}">
                  <a16:creationId xmlns:a16="http://schemas.microsoft.com/office/drawing/2014/main" id="{15BA14D8-7292-F00B-0344-7F2DF00C0574}"/>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0" name="Group 3">
            <a:extLst>
              <a:ext uri="{FF2B5EF4-FFF2-40B4-BE49-F238E27FC236}">
                <a16:creationId xmlns:a16="http://schemas.microsoft.com/office/drawing/2014/main" id="{EE00F3FB-9E88-B55C-084F-A72D96EE3DC9}"/>
              </a:ext>
            </a:extLst>
          </p:cNvPr>
          <p:cNvGrpSpPr>
            <a:grpSpLocks/>
          </p:cNvGrpSpPr>
          <p:nvPr/>
        </p:nvGrpSpPr>
        <p:grpSpPr bwMode="auto">
          <a:xfrm>
            <a:off x="4970818" y="3815617"/>
            <a:ext cx="820738" cy="561975"/>
            <a:chOff x="1649" y="2222"/>
            <a:chExt cx="517" cy="354"/>
          </a:xfrm>
        </p:grpSpPr>
        <p:sp>
          <p:nvSpPr>
            <p:cNvPr id="11" name="Rectangle 4">
              <a:extLst>
                <a:ext uri="{FF2B5EF4-FFF2-40B4-BE49-F238E27FC236}">
                  <a16:creationId xmlns:a16="http://schemas.microsoft.com/office/drawing/2014/main" id="{07D89DC4-9306-434B-8EA8-21ACE5E151E5}"/>
                </a:ext>
              </a:extLst>
            </p:cNvPr>
            <p:cNvSpPr>
              <a:spLocks noChangeArrowheads="1"/>
            </p:cNvSpPr>
            <p:nvPr/>
          </p:nvSpPr>
          <p:spPr bwMode="auto">
            <a:xfrm>
              <a:off x="1696" y="2262"/>
              <a:ext cx="440" cy="314"/>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8" name="Line 5">
              <a:extLst>
                <a:ext uri="{FF2B5EF4-FFF2-40B4-BE49-F238E27FC236}">
                  <a16:creationId xmlns:a16="http://schemas.microsoft.com/office/drawing/2014/main" id="{73E5F291-A78B-0541-24D7-BBA23BD79AB1}"/>
                </a:ext>
              </a:extLst>
            </p:cNvPr>
            <p:cNvSpPr>
              <a:spLocks noChangeShapeType="1"/>
            </p:cNvSpPr>
            <p:nvPr/>
          </p:nvSpPr>
          <p:spPr bwMode="auto">
            <a:xfrm>
              <a:off x="1699" y="2419"/>
              <a:ext cx="434"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9" name="Text Box 6">
              <a:extLst>
                <a:ext uri="{FF2B5EF4-FFF2-40B4-BE49-F238E27FC236}">
                  <a16:creationId xmlns:a16="http://schemas.microsoft.com/office/drawing/2014/main" id="{7AB40150-2965-53D1-0D95-AFA459DD2519}"/>
                </a:ext>
              </a:extLst>
            </p:cNvPr>
            <p:cNvSpPr txBox="1">
              <a:spLocks noChangeArrowheads="1"/>
            </p:cNvSpPr>
            <p:nvPr/>
          </p:nvSpPr>
          <p:spPr bwMode="auto">
            <a:xfrm>
              <a:off x="1649" y="2222"/>
              <a:ext cx="5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latin typeface="Roboto" panose="02000000000000000000" pitchFamily="2" charset="0"/>
                  <a:ea typeface="Roboto" panose="02000000000000000000" pitchFamily="2" charset="0"/>
                  <a:cs typeface="Roboto" panose="02000000000000000000" pitchFamily="2" charset="0"/>
                </a:rPr>
                <a:t>Central Data Base</a:t>
              </a:r>
            </a:p>
          </p:txBody>
        </p:sp>
      </p:grpSp>
      <p:cxnSp>
        <p:nvCxnSpPr>
          <p:cNvPr id="20" name="AutoShape 7">
            <a:extLst>
              <a:ext uri="{FF2B5EF4-FFF2-40B4-BE49-F238E27FC236}">
                <a16:creationId xmlns:a16="http://schemas.microsoft.com/office/drawing/2014/main" id="{DF82E62A-2ABE-CF74-0425-646FE908D539}"/>
              </a:ext>
            </a:extLst>
          </p:cNvPr>
          <p:cNvCxnSpPr>
            <a:cxnSpLocks noChangeShapeType="1"/>
          </p:cNvCxnSpPr>
          <p:nvPr/>
        </p:nvCxnSpPr>
        <p:spPr bwMode="auto">
          <a:xfrm rot="5400000" flipH="1">
            <a:off x="6355910" y="2786123"/>
            <a:ext cx="1912938" cy="1717675"/>
          </a:xfrm>
          <a:prstGeom prst="bentConnector3">
            <a:avLst>
              <a:gd name="adj1" fmla="val 99569"/>
            </a:avLst>
          </a:prstGeom>
          <a:noFill/>
          <a:ln w="53975"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21" name="Group 8">
            <a:extLst>
              <a:ext uri="{FF2B5EF4-FFF2-40B4-BE49-F238E27FC236}">
                <a16:creationId xmlns:a16="http://schemas.microsoft.com/office/drawing/2014/main" id="{40D52807-B5AB-768A-BA70-742170205ED9}"/>
              </a:ext>
            </a:extLst>
          </p:cNvPr>
          <p:cNvGrpSpPr>
            <a:grpSpLocks/>
          </p:cNvGrpSpPr>
          <p:nvPr/>
        </p:nvGrpSpPr>
        <p:grpSpPr bwMode="auto">
          <a:xfrm>
            <a:off x="4515203" y="2359879"/>
            <a:ext cx="887413" cy="521632"/>
            <a:chOff x="435" y="1322"/>
            <a:chExt cx="583" cy="381"/>
          </a:xfrm>
        </p:grpSpPr>
        <p:grpSp>
          <p:nvGrpSpPr>
            <p:cNvPr id="22" name="Group 9">
              <a:extLst>
                <a:ext uri="{FF2B5EF4-FFF2-40B4-BE49-F238E27FC236}">
                  <a16:creationId xmlns:a16="http://schemas.microsoft.com/office/drawing/2014/main" id="{A3FA225F-A9E2-581C-DAD6-DCC020EFDF05}"/>
                </a:ext>
              </a:extLst>
            </p:cNvPr>
            <p:cNvGrpSpPr>
              <a:grpSpLocks/>
            </p:cNvGrpSpPr>
            <p:nvPr/>
          </p:nvGrpSpPr>
          <p:grpSpPr bwMode="auto">
            <a:xfrm>
              <a:off x="474" y="1322"/>
              <a:ext cx="508" cy="348"/>
              <a:chOff x="536" y="1322"/>
              <a:chExt cx="446" cy="348"/>
            </a:xfrm>
          </p:grpSpPr>
          <p:sp>
            <p:nvSpPr>
              <p:cNvPr id="24" name="Rectangle 10">
                <a:extLst>
                  <a:ext uri="{FF2B5EF4-FFF2-40B4-BE49-F238E27FC236}">
                    <a16:creationId xmlns:a16="http://schemas.microsoft.com/office/drawing/2014/main" id="{D461FA9F-664D-08DA-C209-F38AB50C01CA}"/>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11">
                <a:extLst>
                  <a:ext uri="{FF2B5EF4-FFF2-40B4-BE49-F238E27FC236}">
                    <a16:creationId xmlns:a16="http://schemas.microsoft.com/office/drawing/2014/main" id="{7E9FED9C-49BF-C495-9A60-A115C0DBD374}"/>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dirty="0">
                  <a:solidFill>
                    <a:srgbClr val="FF0000"/>
                  </a:solidFill>
                  <a:latin typeface="Roboto" panose="02000000000000000000" pitchFamily="2" charset="0"/>
                  <a:ea typeface="Roboto" panose="02000000000000000000" pitchFamily="2" charset="0"/>
                  <a:cs typeface="Roboto" panose="02000000000000000000" pitchFamily="2" charset="0"/>
                </a:endParaRPr>
              </a:p>
            </p:txBody>
          </p:sp>
          <p:sp>
            <p:nvSpPr>
              <p:cNvPr id="26" name="AutoShape 12">
                <a:extLst>
                  <a:ext uri="{FF2B5EF4-FFF2-40B4-BE49-F238E27FC236}">
                    <a16:creationId xmlns:a16="http://schemas.microsoft.com/office/drawing/2014/main" id="{25A07C56-566D-94F7-4612-B8FE9484B3A6}"/>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AutoShape 13">
                <a:extLst>
                  <a:ext uri="{FF2B5EF4-FFF2-40B4-BE49-F238E27FC236}">
                    <a16:creationId xmlns:a16="http://schemas.microsoft.com/office/drawing/2014/main" id="{1A2CED2D-7765-A311-822C-EE582C008891}"/>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8" name="AutoShape 14">
                <a:extLst>
                  <a:ext uri="{FF2B5EF4-FFF2-40B4-BE49-F238E27FC236}">
                    <a16:creationId xmlns:a16="http://schemas.microsoft.com/office/drawing/2014/main" id="{375EE36C-8258-1BB3-441E-79DA379CA2EF}"/>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0" name="Rectangle 15">
                <a:extLst>
                  <a:ext uri="{FF2B5EF4-FFF2-40B4-BE49-F238E27FC236}">
                    <a16:creationId xmlns:a16="http://schemas.microsoft.com/office/drawing/2014/main" id="{B30959CE-91A4-9086-949C-90E03658B0F9}"/>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1" name="Rectangle 16">
                <a:extLst>
                  <a:ext uri="{FF2B5EF4-FFF2-40B4-BE49-F238E27FC236}">
                    <a16:creationId xmlns:a16="http://schemas.microsoft.com/office/drawing/2014/main" id="{80E59E72-A21D-2A8E-2FAD-2046F9C76B01}"/>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2" name="Rectangle 17">
                <a:extLst>
                  <a:ext uri="{FF2B5EF4-FFF2-40B4-BE49-F238E27FC236}">
                    <a16:creationId xmlns:a16="http://schemas.microsoft.com/office/drawing/2014/main" id="{B19C2CD2-AE1A-C59B-8847-DBF4F4C230FE}"/>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23" name="Text Box 18">
              <a:extLst>
                <a:ext uri="{FF2B5EF4-FFF2-40B4-BE49-F238E27FC236}">
                  <a16:creationId xmlns:a16="http://schemas.microsoft.com/office/drawing/2014/main" id="{03A99E06-9394-4EC7-2A8D-196EC7036AD5}"/>
                </a:ext>
              </a:extLst>
            </p:cNvPr>
            <p:cNvSpPr txBox="1">
              <a:spLocks noChangeArrowheads="1"/>
            </p:cNvSpPr>
            <p:nvPr/>
          </p:nvSpPr>
          <p:spPr bwMode="auto">
            <a:xfrm>
              <a:off x="435" y="1494"/>
              <a:ext cx="583"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Loan</a:t>
              </a:r>
            </a:p>
            <a:p>
              <a:pPr algn="ctr">
                <a:lnSpc>
                  <a:spcPct val="9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Applicant</a:t>
              </a:r>
            </a:p>
          </p:txBody>
        </p:sp>
      </p:grpSp>
      <p:grpSp>
        <p:nvGrpSpPr>
          <p:cNvPr id="33" name="Group 19">
            <a:extLst>
              <a:ext uri="{FF2B5EF4-FFF2-40B4-BE49-F238E27FC236}">
                <a16:creationId xmlns:a16="http://schemas.microsoft.com/office/drawing/2014/main" id="{3E343099-CC0F-7B0E-EAA2-E68915F2624B}"/>
              </a:ext>
            </a:extLst>
          </p:cNvPr>
          <p:cNvGrpSpPr>
            <a:grpSpLocks/>
          </p:cNvGrpSpPr>
          <p:nvPr/>
        </p:nvGrpSpPr>
        <p:grpSpPr bwMode="auto">
          <a:xfrm>
            <a:off x="7877528" y="3955317"/>
            <a:ext cx="569913" cy="354013"/>
            <a:chOff x="513" y="2099"/>
            <a:chExt cx="374" cy="258"/>
          </a:xfrm>
        </p:grpSpPr>
        <p:grpSp>
          <p:nvGrpSpPr>
            <p:cNvPr id="34" name="Group 20">
              <a:extLst>
                <a:ext uri="{FF2B5EF4-FFF2-40B4-BE49-F238E27FC236}">
                  <a16:creationId xmlns:a16="http://schemas.microsoft.com/office/drawing/2014/main" id="{E55E484E-847C-343F-136F-D817DD1BF31D}"/>
                </a:ext>
              </a:extLst>
            </p:cNvPr>
            <p:cNvGrpSpPr>
              <a:grpSpLocks/>
            </p:cNvGrpSpPr>
            <p:nvPr/>
          </p:nvGrpSpPr>
          <p:grpSpPr bwMode="auto">
            <a:xfrm>
              <a:off x="550" y="2121"/>
              <a:ext cx="337" cy="236"/>
              <a:chOff x="536" y="3744"/>
              <a:chExt cx="415" cy="261"/>
            </a:xfrm>
          </p:grpSpPr>
          <p:sp>
            <p:nvSpPr>
              <p:cNvPr id="36" name="Rectangle 21">
                <a:extLst>
                  <a:ext uri="{FF2B5EF4-FFF2-40B4-BE49-F238E27FC236}">
                    <a16:creationId xmlns:a16="http://schemas.microsoft.com/office/drawing/2014/main" id="{D3A8BC7E-BFC2-C6CD-B13E-E45DD445C49D}"/>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7" name="Rectangle 22">
                <a:extLst>
                  <a:ext uri="{FF2B5EF4-FFF2-40B4-BE49-F238E27FC236}">
                    <a16:creationId xmlns:a16="http://schemas.microsoft.com/office/drawing/2014/main" id="{4957E0A4-D9FA-CDDD-BC3A-E22E3D94D0ED}"/>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8" name="Oval 23">
                <a:extLst>
                  <a:ext uri="{FF2B5EF4-FFF2-40B4-BE49-F238E27FC236}">
                    <a16:creationId xmlns:a16="http://schemas.microsoft.com/office/drawing/2014/main" id="{99D6E458-4835-D31A-49FF-FFFB5392B834}"/>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9" name="Oval 24">
                <a:extLst>
                  <a:ext uri="{FF2B5EF4-FFF2-40B4-BE49-F238E27FC236}">
                    <a16:creationId xmlns:a16="http://schemas.microsoft.com/office/drawing/2014/main" id="{11F5CB59-2FA6-557C-785F-7C89ABFF3BB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35" name="Text Box 25">
              <a:extLst>
                <a:ext uri="{FF2B5EF4-FFF2-40B4-BE49-F238E27FC236}">
                  <a16:creationId xmlns:a16="http://schemas.microsoft.com/office/drawing/2014/main" id="{87A62039-2EA3-AF6D-B1E4-8FEDE55E6B05}"/>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sp>
        <p:nvSpPr>
          <p:cNvPr id="40" name="Text Box 26">
            <a:extLst>
              <a:ext uri="{FF2B5EF4-FFF2-40B4-BE49-F238E27FC236}">
                <a16:creationId xmlns:a16="http://schemas.microsoft.com/office/drawing/2014/main" id="{BBA96B36-2BE8-1752-F2E9-22D361C2CA89}"/>
              </a:ext>
            </a:extLst>
          </p:cNvPr>
          <p:cNvSpPr txBox="1">
            <a:spLocks noChangeArrowheads="1"/>
          </p:cNvSpPr>
          <p:nvPr/>
        </p:nvSpPr>
        <p:spPr bwMode="auto">
          <a:xfrm>
            <a:off x="5316891" y="2505930"/>
            <a:ext cx="108743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14300" indent="-1143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Demand = 2,500 Accounts/month</a:t>
            </a:r>
          </a:p>
          <a:p>
            <a:pPr>
              <a:lnSpc>
                <a:spcPct val="100000"/>
              </a:lnSpc>
              <a:spcBef>
                <a:spcPct val="0"/>
              </a:spcBef>
              <a:spcAft>
                <a:spcPct val="0"/>
              </a:spcAft>
              <a:buClrTx/>
              <a:buSzTx/>
              <a:buFontTx/>
              <a:buChar char="•"/>
            </a:pPr>
            <a:r>
              <a:rPr lang="en-US" altLang="en-US" sz="800" b="0" dirty="0">
                <a:latin typeface="Roboto" panose="02000000000000000000" pitchFamily="2" charset="0"/>
                <a:ea typeface="Roboto" panose="02000000000000000000" pitchFamily="2" charset="0"/>
                <a:cs typeface="Roboto" panose="02000000000000000000" pitchFamily="2" charset="0"/>
              </a:rPr>
              <a:t>8 Hours/Day</a:t>
            </a:r>
          </a:p>
        </p:txBody>
      </p:sp>
      <p:grpSp>
        <p:nvGrpSpPr>
          <p:cNvPr id="41" name="Group 27">
            <a:extLst>
              <a:ext uri="{FF2B5EF4-FFF2-40B4-BE49-F238E27FC236}">
                <a16:creationId xmlns:a16="http://schemas.microsoft.com/office/drawing/2014/main" id="{79930E0A-BA3F-08F6-4D08-574467D57428}"/>
              </a:ext>
            </a:extLst>
          </p:cNvPr>
          <p:cNvGrpSpPr>
            <a:grpSpLocks/>
          </p:cNvGrpSpPr>
          <p:nvPr/>
        </p:nvGrpSpPr>
        <p:grpSpPr bwMode="auto">
          <a:xfrm>
            <a:off x="3742091" y="2994880"/>
            <a:ext cx="1589087" cy="530225"/>
            <a:chOff x="3444" y="1578"/>
            <a:chExt cx="1043" cy="388"/>
          </a:xfrm>
        </p:grpSpPr>
        <p:sp>
          <p:nvSpPr>
            <p:cNvPr id="42" name="Rectangle 28">
              <a:extLst>
                <a:ext uri="{FF2B5EF4-FFF2-40B4-BE49-F238E27FC236}">
                  <a16:creationId xmlns:a16="http://schemas.microsoft.com/office/drawing/2014/main" id="{6B7107D7-0606-8E33-9454-E405EF328669}"/>
                </a:ext>
              </a:extLst>
            </p:cNvPr>
            <p:cNvSpPr>
              <a:spLocks noChangeArrowheads="1"/>
            </p:cNvSpPr>
            <p:nvPr/>
          </p:nvSpPr>
          <p:spPr bwMode="auto">
            <a:xfrm>
              <a:off x="3503" y="1604"/>
              <a:ext cx="984" cy="34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3" name="Text Box 29">
              <a:extLst>
                <a:ext uri="{FF2B5EF4-FFF2-40B4-BE49-F238E27FC236}">
                  <a16:creationId xmlns:a16="http://schemas.microsoft.com/office/drawing/2014/main" id="{0AAEBE50-C28F-0026-C7E7-71278BE4CFB7}"/>
                </a:ext>
              </a:extLst>
            </p:cNvPr>
            <p:cNvSpPr txBox="1">
              <a:spLocks noChangeArrowheads="1"/>
            </p:cNvSpPr>
            <p:nvPr/>
          </p:nvSpPr>
          <p:spPr bwMode="auto">
            <a:xfrm>
              <a:off x="3444" y="1688"/>
              <a:ext cx="6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27,000 Seconds</a:t>
              </a:r>
            </a:p>
            <a:p>
              <a:pPr algn="ctr">
                <a:lnSpc>
                  <a:spcPct val="100000"/>
                </a:lnSpc>
                <a:spcBef>
                  <a:spcPct val="35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125 Applications</a:t>
              </a:r>
            </a:p>
          </p:txBody>
        </p:sp>
        <p:sp>
          <p:nvSpPr>
            <p:cNvPr id="44" name="Line 30">
              <a:extLst>
                <a:ext uri="{FF2B5EF4-FFF2-40B4-BE49-F238E27FC236}">
                  <a16:creationId xmlns:a16="http://schemas.microsoft.com/office/drawing/2014/main" id="{6B6A5B46-CF7C-6063-4CB1-CC3BD437C16A}"/>
                </a:ext>
              </a:extLst>
            </p:cNvPr>
            <p:cNvSpPr>
              <a:spLocks noChangeShapeType="1"/>
            </p:cNvSpPr>
            <p:nvPr/>
          </p:nvSpPr>
          <p:spPr bwMode="auto">
            <a:xfrm>
              <a:off x="3526" y="1804"/>
              <a:ext cx="445" cy="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45" name="Rectangle 31">
              <a:extLst>
                <a:ext uri="{FF2B5EF4-FFF2-40B4-BE49-F238E27FC236}">
                  <a16:creationId xmlns:a16="http://schemas.microsoft.com/office/drawing/2014/main" id="{3B408EC3-06D3-322D-7481-109E9E6D2188}"/>
                </a:ext>
              </a:extLst>
            </p:cNvPr>
            <p:cNvSpPr>
              <a:spLocks noChangeArrowheads="1"/>
            </p:cNvSpPr>
            <p:nvPr/>
          </p:nvSpPr>
          <p:spPr bwMode="auto">
            <a:xfrm>
              <a:off x="3729" y="1578"/>
              <a:ext cx="668"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050" dirty="0">
                  <a:latin typeface="Roboto" panose="02000000000000000000" pitchFamily="2" charset="0"/>
                  <a:ea typeface="Roboto" panose="02000000000000000000" pitchFamily="2" charset="0"/>
                  <a:cs typeface="Roboto" panose="02000000000000000000" pitchFamily="2" charset="0"/>
                </a:rPr>
                <a:t>Takt Time</a:t>
              </a:r>
            </a:p>
          </p:txBody>
        </p:sp>
      </p:grpSp>
      <p:sp>
        <p:nvSpPr>
          <p:cNvPr id="46" name="Text Box 32">
            <a:extLst>
              <a:ext uri="{FF2B5EF4-FFF2-40B4-BE49-F238E27FC236}">
                <a16:creationId xmlns:a16="http://schemas.microsoft.com/office/drawing/2014/main" id="{4AAC205B-882A-DE50-9965-E21AD50D8E29}"/>
              </a:ext>
            </a:extLst>
          </p:cNvPr>
          <p:cNvSpPr txBox="1">
            <a:spLocks noChangeArrowheads="1"/>
          </p:cNvSpPr>
          <p:nvPr/>
        </p:nvSpPr>
        <p:spPr bwMode="auto">
          <a:xfrm>
            <a:off x="4510441" y="3213955"/>
            <a:ext cx="9032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 </a:t>
            </a:r>
            <a:r>
              <a:rPr lang="en-US" altLang="en-US" sz="800" dirty="0">
                <a:solidFill>
                  <a:srgbClr val="FF0000"/>
                </a:solidFill>
                <a:latin typeface="Roboto" panose="02000000000000000000" pitchFamily="2" charset="0"/>
                <a:ea typeface="Roboto" panose="02000000000000000000" pitchFamily="2" charset="0"/>
                <a:cs typeface="Roboto" panose="02000000000000000000" pitchFamily="2" charset="0"/>
              </a:rPr>
              <a:t>216 seconds</a:t>
            </a:r>
          </a:p>
        </p:txBody>
      </p:sp>
      <p:cxnSp>
        <p:nvCxnSpPr>
          <p:cNvPr id="47" name="AutoShape 33">
            <a:extLst>
              <a:ext uri="{FF2B5EF4-FFF2-40B4-BE49-F238E27FC236}">
                <a16:creationId xmlns:a16="http://schemas.microsoft.com/office/drawing/2014/main" id="{7552F949-8C88-10FB-B298-EE689EC9D872}"/>
              </a:ext>
            </a:extLst>
          </p:cNvPr>
          <p:cNvCxnSpPr>
            <a:cxnSpLocks noChangeShapeType="1"/>
            <a:stCxn id="23" idx="1"/>
          </p:cNvCxnSpPr>
          <p:nvPr/>
        </p:nvCxnSpPr>
        <p:spPr bwMode="auto">
          <a:xfrm rot="10800000" flipV="1">
            <a:off x="2843569" y="2738438"/>
            <a:ext cx="1671635" cy="1990977"/>
          </a:xfrm>
          <a:prstGeom prst="bentConnector2">
            <a:avLst/>
          </a:prstGeom>
          <a:noFill/>
          <a:ln w="5715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48" name="Group 34">
            <a:extLst>
              <a:ext uri="{FF2B5EF4-FFF2-40B4-BE49-F238E27FC236}">
                <a16:creationId xmlns:a16="http://schemas.microsoft.com/office/drawing/2014/main" id="{2F3E630B-B805-434C-BAE4-5F30BE810F0D}"/>
              </a:ext>
            </a:extLst>
          </p:cNvPr>
          <p:cNvGrpSpPr>
            <a:grpSpLocks/>
          </p:cNvGrpSpPr>
          <p:nvPr/>
        </p:nvGrpSpPr>
        <p:grpSpPr bwMode="auto">
          <a:xfrm>
            <a:off x="2545115" y="3994405"/>
            <a:ext cx="569913" cy="354013"/>
            <a:chOff x="513" y="2099"/>
            <a:chExt cx="374" cy="258"/>
          </a:xfrm>
        </p:grpSpPr>
        <p:grpSp>
          <p:nvGrpSpPr>
            <p:cNvPr id="49" name="Group 35">
              <a:extLst>
                <a:ext uri="{FF2B5EF4-FFF2-40B4-BE49-F238E27FC236}">
                  <a16:creationId xmlns:a16="http://schemas.microsoft.com/office/drawing/2014/main" id="{4F6F1210-4422-71EB-4F51-A6E133B6BDCE}"/>
                </a:ext>
              </a:extLst>
            </p:cNvPr>
            <p:cNvGrpSpPr>
              <a:grpSpLocks/>
            </p:cNvGrpSpPr>
            <p:nvPr/>
          </p:nvGrpSpPr>
          <p:grpSpPr bwMode="auto">
            <a:xfrm>
              <a:off x="550" y="2121"/>
              <a:ext cx="337" cy="236"/>
              <a:chOff x="536" y="3744"/>
              <a:chExt cx="415" cy="261"/>
            </a:xfrm>
          </p:grpSpPr>
          <p:sp>
            <p:nvSpPr>
              <p:cNvPr id="51" name="Rectangle 36">
                <a:extLst>
                  <a:ext uri="{FF2B5EF4-FFF2-40B4-BE49-F238E27FC236}">
                    <a16:creationId xmlns:a16="http://schemas.microsoft.com/office/drawing/2014/main" id="{0BA2FB40-D9FA-C0AC-B5F7-9F9923B5533F}"/>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2" name="Rectangle 37">
                <a:extLst>
                  <a:ext uri="{FF2B5EF4-FFF2-40B4-BE49-F238E27FC236}">
                    <a16:creationId xmlns:a16="http://schemas.microsoft.com/office/drawing/2014/main" id="{A74ACE0D-10E4-A4DC-68FB-0623EF4C8E85}"/>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Oval 38">
                <a:extLst>
                  <a:ext uri="{FF2B5EF4-FFF2-40B4-BE49-F238E27FC236}">
                    <a16:creationId xmlns:a16="http://schemas.microsoft.com/office/drawing/2014/main" id="{8E5A12A9-8542-B85F-A303-62CBF75809EE}"/>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4" name="Oval 39">
                <a:extLst>
                  <a:ext uri="{FF2B5EF4-FFF2-40B4-BE49-F238E27FC236}">
                    <a16:creationId xmlns:a16="http://schemas.microsoft.com/office/drawing/2014/main" id="{9A3A3106-9B10-0D7E-D665-611DC8F8559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sp>
          <p:nvSpPr>
            <p:cNvPr id="50" name="Text Box 40">
              <a:extLst>
                <a:ext uri="{FF2B5EF4-FFF2-40B4-BE49-F238E27FC236}">
                  <a16:creationId xmlns:a16="http://schemas.microsoft.com/office/drawing/2014/main" id="{C7F6F9CC-AA3F-688B-CD09-08B890064767}"/>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USPS Daily</a:t>
              </a:r>
            </a:p>
          </p:txBody>
        </p:sp>
      </p:grpSp>
      <p:grpSp>
        <p:nvGrpSpPr>
          <p:cNvPr id="55" name="Group 72">
            <a:extLst>
              <a:ext uri="{FF2B5EF4-FFF2-40B4-BE49-F238E27FC236}">
                <a16:creationId xmlns:a16="http://schemas.microsoft.com/office/drawing/2014/main" id="{0D1DBC11-856A-F86F-0042-3678B834D842}"/>
              </a:ext>
            </a:extLst>
          </p:cNvPr>
          <p:cNvGrpSpPr>
            <a:grpSpLocks/>
          </p:cNvGrpSpPr>
          <p:nvPr/>
        </p:nvGrpSpPr>
        <p:grpSpPr bwMode="auto">
          <a:xfrm rot="970659">
            <a:off x="5840766" y="4128355"/>
            <a:ext cx="1935162" cy="466725"/>
            <a:chOff x="2863" y="2175"/>
            <a:chExt cx="1223" cy="298"/>
          </a:xfrm>
        </p:grpSpPr>
        <p:sp>
          <p:nvSpPr>
            <p:cNvPr id="56" name="Line 43">
              <a:extLst>
                <a:ext uri="{FF2B5EF4-FFF2-40B4-BE49-F238E27FC236}">
                  <a16:creationId xmlns:a16="http://schemas.microsoft.com/office/drawing/2014/main" id="{77A86FEE-9528-6660-B8DD-0CE06A545104}"/>
                </a:ext>
              </a:extLst>
            </p:cNvPr>
            <p:cNvSpPr>
              <a:spLocks noChangeShapeType="1"/>
            </p:cNvSpPr>
            <p:nvPr/>
          </p:nvSpPr>
          <p:spPr bwMode="auto">
            <a:xfrm rot="-4052242">
              <a:off x="3634" y="1975"/>
              <a:ext cx="251" cy="65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57" name="Line 44">
              <a:extLst>
                <a:ext uri="{FF2B5EF4-FFF2-40B4-BE49-F238E27FC236}">
                  <a16:creationId xmlns:a16="http://schemas.microsoft.com/office/drawing/2014/main" id="{587A69FC-5ACD-A70B-EFBF-4C58FBB3F993}"/>
                </a:ext>
              </a:extLst>
            </p:cNvPr>
            <p:cNvSpPr>
              <a:spLocks noChangeShapeType="1"/>
            </p:cNvSpPr>
            <p:nvPr/>
          </p:nvSpPr>
          <p:spPr bwMode="auto">
            <a:xfrm rot="-4052242">
              <a:off x="3069" y="2004"/>
              <a:ext cx="263" cy="67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58" name="AutoShape 45">
              <a:extLst>
                <a:ext uri="{FF2B5EF4-FFF2-40B4-BE49-F238E27FC236}">
                  <a16:creationId xmlns:a16="http://schemas.microsoft.com/office/drawing/2014/main" id="{EAA41C53-5767-E06F-DBA5-0AB205238CA7}"/>
                </a:ext>
              </a:extLst>
            </p:cNvPr>
            <p:cNvCxnSpPr>
              <a:cxnSpLocks noChangeShapeType="1"/>
              <a:stCxn id="57" idx="1"/>
              <a:endCxn id="56" idx="0"/>
            </p:cNvCxnSpPr>
            <p:nvPr/>
          </p:nvCxnSpPr>
          <p:spPr bwMode="auto">
            <a:xfrm flipH="1" flipV="1">
              <a:off x="3411" y="2292"/>
              <a:ext cx="152" cy="58"/>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grpSp>
        <p:nvGrpSpPr>
          <p:cNvPr id="60" name="Group 57">
            <a:extLst>
              <a:ext uri="{FF2B5EF4-FFF2-40B4-BE49-F238E27FC236}">
                <a16:creationId xmlns:a16="http://schemas.microsoft.com/office/drawing/2014/main" id="{F0894C85-4F43-0CA5-FB55-6551D4024DE2}"/>
              </a:ext>
            </a:extLst>
          </p:cNvPr>
          <p:cNvGrpSpPr>
            <a:grpSpLocks/>
          </p:cNvGrpSpPr>
          <p:nvPr/>
        </p:nvGrpSpPr>
        <p:grpSpPr bwMode="auto">
          <a:xfrm>
            <a:off x="7829907" y="4607782"/>
            <a:ext cx="864815" cy="534768"/>
            <a:chOff x="4920" y="2982"/>
            <a:chExt cx="567" cy="391"/>
          </a:xfrm>
        </p:grpSpPr>
        <p:sp>
          <p:nvSpPr>
            <p:cNvPr id="61" name="Rectangle 58">
              <a:extLst>
                <a:ext uri="{FF2B5EF4-FFF2-40B4-BE49-F238E27FC236}">
                  <a16:creationId xmlns:a16="http://schemas.microsoft.com/office/drawing/2014/main" id="{3DB430E9-58B2-36E9-59F8-D710D92C5C7B}"/>
                </a:ext>
              </a:extLst>
            </p:cNvPr>
            <p:cNvSpPr>
              <a:spLocks noChangeArrowheads="1"/>
            </p:cNvSpPr>
            <p:nvPr/>
          </p:nvSpPr>
          <p:spPr bwMode="auto">
            <a:xfrm>
              <a:off x="4920" y="3007"/>
              <a:ext cx="567"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2" name="Line 59">
              <a:extLst>
                <a:ext uri="{FF2B5EF4-FFF2-40B4-BE49-F238E27FC236}">
                  <a16:creationId xmlns:a16="http://schemas.microsoft.com/office/drawing/2014/main" id="{FB0E9D2E-8A88-CD30-7B22-14CD4DABA931}"/>
                </a:ext>
              </a:extLst>
            </p:cNvPr>
            <p:cNvSpPr>
              <a:spLocks noChangeShapeType="1"/>
            </p:cNvSpPr>
            <p:nvPr/>
          </p:nvSpPr>
          <p:spPr bwMode="auto">
            <a:xfrm>
              <a:off x="4923" y="3184"/>
              <a:ext cx="452"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3" name="Text Box 60">
              <a:extLst>
                <a:ext uri="{FF2B5EF4-FFF2-40B4-BE49-F238E27FC236}">
                  <a16:creationId xmlns:a16="http://schemas.microsoft.com/office/drawing/2014/main" id="{08B99059-9A9A-0CED-69A4-3B2680F63DAD}"/>
                </a:ext>
              </a:extLst>
            </p:cNvPr>
            <p:cNvSpPr txBox="1">
              <a:spLocks noChangeArrowheads="1"/>
            </p:cNvSpPr>
            <p:nvPr/>
          </p:nvSpPr>
          <p:spPr bwMode="auto">
            <a:xfrm>
              <a:off x="4936" y="2982"/>
              <a:ext cx="429"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Mail Package</a:t>
              </a:r>
            </a:p>
          </p:txBody>
        </p:sp>
        <p:grpSp>
          <p:nvGrpSpPr>
            <p:cNvPr id="64" name="Group 61">
              <a:extLst>
                <a:ext uri="{FF2B5EF4-FFF2-40B4-BE49-F238E27FC236}">
                  <a16:creationId xmlns:a16="http://schemas.microsoft.com/office/drawing/2014/main" id="{E53C776D-0197-2382-A15A-873F2279FB8E}"/>
                </a:ext>
              </a:extLst>
            </p:cNvPr>
            <p:cNvGrpSpPr>
              <a:grpSpLocks/>
            </p:cNvGrpSpPr>
            <p:nvPr/>
          </p:nvGrpSpPr>
          <p:grpSpPr bwMode="auto">
            <a:xfrm flipV="1">
              <a:off x="4997" y="3198"/>
              <a:ext cx="116" cy="112"/>
              <a:chOff x="720" y="3354"/>
              <a:chExt cx="192" cy="198"/>
            </a:xfrm>
          </p:grpSpPr>
          <p:sp>
            <p:nvSpPr>
              <p:cNvPr id="66" name="Oval 62">
                <a:extLst>
                  <a:ext uri="{FF2B5EF4-FFF2-40B4-BE49-F238E27FC236}">
                    <a16:creationId xmlns:a16="http://schemas.microsoft.com/office/drawing/2014/main" id="{F10B5AF7-86F4-AC97-798A-E35BA6385A35}"/>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67" name="AutoShape 63">
                <a:extLst>
                  <a:ext uri="{FF2B5EF4-FFF2-40B4-BE49-F238E27FC236}">
                    <a16:creationId xmlns:a16="http://schemas.microsoft.com/office/drawing/2014/main" id="{6E94485F-3113-1D1E-D1B9-0C8FEFCDB877}"/>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65" name="Text Box 64">
              <a:extLst>
                <a:ext uri="{FF2B5EF4-FFF2-40B4-BE49-F238E27FC236}">
                  <a16:creationId xmlns:a16="http://schemas.microsoft.com/office/drawing/2014/main" id="{A507F87C-7E53-C551-95B1-CC12533F2D73}"/>
                </a:ext>
              </a:extLst>
            </p:cNvPr>
            <p:cNvSpPr txBox="1">
              <a:spLocks noChangeArrowheads="1"/>
            </p:cNvSpPr>
            <p:nvPr/>
          </p:nvSpPr>
          <p:spPr bwMode="auto">
            <a:xfrm>
              <a:off x="5107" y="3182"/>
              <a:ext cx="24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b="0" dirty="0">
                  <a:latin typeface="Roboto" panose="02000000000000000000" pitchFamily="2" charset="0"/>
                  <a:ea typeface="Roboto" panose="02000000000000000000" pitchFamily="2" charset="0"/>
                  <a:cs typeface="Roboto" panose="02000000000000000000" pitchFamily="2" charset="0"/>
                </a:rPr>
                <a:t>= </a:t>
              </a:r>
              <a:r>
                <a:rPr lang="en-US" altLang="en-US" sz="1000" b="0" dirty="0">
                  <a:latin typeface="Roboto" panose="02000000000000000000" pitchFamily="2" charset="0"/>
                  <a:ea typeface="Roboto" panose="02000000000000000000" pitchFamily="2" charset="0"/>
                  <a:cs typeface="Roboto" panose="02000000000000000000" pitchFamily="2" charset="0"/>
                </a:rPr>
                <a:t>1</a:t>
              </a:r>
              <a:endParaRPr lang="en-US" altLang="en-US" sz="1100" b="0" dirty="0">
                <a:latin typeface="Roboto" panose="02000000000000000000" pitchFamily="2" charset="0"/>
                <a:ea typeface="Roboto" panose="02000000000000000000" pitchFamily="2" charset="0"/>
                <a:cs typeface="Roboto" panose="02000000000000000000" pitchFamily="2" charset="0"/>
              </a:endParaRPr>
            </a:p>
          </p:txBody>
        </p:sp>
      </p:grpSp>
      <p:grpSp>
        <p:nvGrpSpPr>
          <p:cNvPr id="68" name="Group 65">
            <a:extLst>
              <a:ext uri="{FF2B5EF4-FFF2-40B4-BE49-F238E27FC236}">
                <a16:creationId xmlns:a16="http://schemas.microsoft.com/office/drawing/2014/main" id="{6249F1A6-4E04-DADA-6D21-68FD8D323E79}"/>
              </a:ext>
            </a:extLst>
          </p:cNvPr>
          <p:cNvGrpSpPr>
            <a:grpSpLocks/>
          </p:cNvGrpSpPr>
          <p:nvPr/>
        </p:nvGrpSpPr>
        <p:grpSpPr bwMode="auto">
          <a:xfrm>
            <a:off x="7774341" y="5206267"/>
            <a:ext cx="963871" cy="511175"/>
            <a:chOff x="4841" y="3355"/>
            <a:chExt cx="633" cy="374"/>
          </a:xfrm>
        </p:grpSpPr>
        <p:sp>
          <p:nvSpPr>
            <p:cNvPr id="69" name="Rectangle 66">
              <a:extLst>
                <a:ext uri="{FF2B5EF4-FFF2-40B4-BE49-F238E27FC236}">
                  <a16:creationId xmlns:a16="http://schemas.microsoft.com/office/drawing/2014/main" id="{59803EA9-6E11-CF67-73E1-7DC51391A329}"/>
                </a:ext>
              </a:extLst>
            </p:cNvPr>
            <p:cNvSpPr>
              <a:spLocks noChangeArrowheads="1"/>
            </p:cNvSpPr>
            <p:nvPr/>
          </p:nvSpPr>
          <p:spPr bwMode="auto">
            <a:xfrm>
              <a:off x="4886" y="3357"/>
              <a:ext cx="559"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70" name="Group 67">
              <a:extLst>
                <a:ext uri="{FF2B5EF4-FFF2-40B4-BE49-F238E27FC236}">
                  <a16:creationId xmlns:a16="http://schemas.microsoft.com/office/drawing/2014/main" id="{D410CAC2-F51B-FEA0-09AC-D40C08C61825}"/>
                </a:ext>
              </a:extLst>
            </p:cNvPr>
            <p:cNvGrpSpPr>
              <a:grpSpLocks/>
            </p:cNvGrpSpPr>
            <p:nvPr/>
          </p:nvGrpSpPr>
          <p:grpSpPr bwMode="auto">
            <a:xfrm>
              <a:off x="4841" y="3355"/>
              <a:ext cx="633" cy="374"/>
              <a:chOff x="4841" y="3355"/>
              <a:chExt cx="633" cy="374"/>
            </a:xfrm>
          </p:grpSpPr>
          <p:sp>
            <p:nvSpPr>
              <p:cNvPr id="71" name="Text Box 68">
                <a:extLst>
                  <a:ext uri="{FF2B5EF4-FFF2-40B4-BE49-F238E27FC236}">
                    <a16:creationId xmlns:a16="http://schemas.microsoft.com/office/drawing/2014/main" id="{2E5C533F-1779-A7BB-23CF-35FD0829F0C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latin typeface="Roboto" panose="02000000000000000000" pitchFamily="2" charset="0"/>
                  <a:ea typeface="Roboto" panose="02000000000000000000" pitchFamily="2" charset="0"/>
                  <a:cs typeface="Roboto" panose="02000000000000000000" pitchFamily="2" charset="0"/>
                </a:endParaRPr>
              </a:p>
            </p:txBody>
          </p:sp>
          <p:sp>
            <p:nvSpPr>
              <p:cNvPr id="72" name="Text Box 69">
                <a:extLst>
                  <a:ext uri="{FF2B5EF4-FFF2-40B4-BE49-F238E27FC236}">
                    <a16:creationId xmlns:a16="http://schemas.microsoft.com/office/drawing/2014/main" id="{8C4F81ED-9EDE-12C6-FBEC-0245ECC37951}"/>
                  </a:ext>
                </a:extLst>
              </p:cNvPr>
              <p:cNvSpPr txBox="1">
                <a:spLocks noChangeArrowheads="1"/>
              </p:cNvSpPr>
              <p:nvPr/>
            </p:nvSpPr>
            <p:spPr bwMode="auto">
              <a:xfrm>
                <a:off x="4841" y="3511"/>
                <a:ext cx="483"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73" name="Rectangle 70">
                <a:extLst>
                  <a:ext uri="{FF2B5EF4-FFF2-40B4-BE49-F238E27FC236}">
                    <a16:creationId xmlns:a16="http://schemas.microsoft.com/office/drawing/2014/main" id="{F445746E-7AC2-3309-EF9C-EC0BEB429467}"/>
                  </a:ext>
                </a:extLst>
              </p:cNvPr>
              <p:cNvSpPr>
                <a:spLocks noChangeArrowheads="1"/>
              </p:cNvSpPr>
              <p:nvPr/>
            </p:nvSpPr>
            <p:spPr bwMode="auto">
              <a:xfrm>
                <a:off x="4841" y="3355"/>
                <a:ext cx="63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Processing Time = 45</a:t>
                </a:r>
                <a:r>
                  <a:rPr lang="ja-JP" altLang="en-US" sz="600" b="0">
                    <a:latin typeface="Roboto" panose="02000000000000000000" pitchFamily="2" charset="0"/>
                    <a:cs typeface="Roboto" panose="02000000000000000000" pitchFamily="2" charset="0"/>
                  </a:rPr>
                  <a:t>”</a:t>
                </a:r>
                <a:endParaRPr lang="en-US" altLang="en-US" sz="600" b="0" dirty="0">
                  <a:latin typeface="Roboto" panose="02000000000000000000" pitchFamily="2" charset="0"/>
                  <a:ea typeface="Roboto" panose="02000000000000000000" pitchFamily="2" charset="0"/>
                  <a:cs typeface="Roboto" panose="02000000000000000000" pitchFamily="2" charset="0"/>
                </a:endParaRPr>
              </a:p>
            </p:txBody>
          </p:sp>
          <p:sp>
            <p:nvSpPr>
              <p:cNvPr id="74" name="Rectangle 71">
                <a:extLst>
                  <a:ext uri="{FF2B5EF4-FFF2-40B4-BE49-F238E27FC236}">
                    <a16:creationId xmlns:a16="http://schemas.microsoft.com/office/drawing/2014/main" id="{DEACDA65-146B-F5D1-A39D-6C2FD2ABE27F}"/>
                  </a:ext>
                </a:extLst>
              </p:cNvPr>
              <p:cNvSpPr>
                <a:spLocks noChangeArrowheads="1"/>
              </p:cNvSpPr>
              <p:nvPr/>
            </p:nvSpPr>
            <p:spPr bwMode="auto">
              <a:xfrm>
                <a:off x="4841" y="3437"/>
                <a:ext cx="32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DOI = 45"</a:t>
                </a:r>
              </a:p>
            </p:txBody>
          </p:sp>
        </p:grpSp>
      </p:grpSp>
      <p:sp>
        <p:nvSpPr>
          <p:cNvPr id="133" name="Text Box 2">
            <a:extLst>
              <a:ext uri="{FF2B5EF4-FFF2-40B4-BE49-F238E27FC236}">
                <a16:creationId xmlns:a16="http://schemas.microsoft.com/office/drawing/2014/main" id="{FA2B57C0-08F7-A1A2-D67C-6DA587489193}"/>
              </a:ext>
            </a:extLst>
          </p:cNvPr>
          <p:cNvSpPr txBox="1">
            <a:spLocks noChangeArrowheads="1"/>
          </p:cNvSpPr>
          <p:nvPr/>
        </p:nvSpPr>
        <p:spPr bwMode="auto">
          <a:xfrm>
            <a:off x="3995351" y="1998917"/>
            <a:ext cx="2593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cs typeface="Roboto" panose="02000000000000000000" pitchFamily="2" charset="0"/>
              </a:rPr>
              <a:t>Northern Home Credit (NHC)</a:t>
            </a:r>
          </a:p>
        </p:txBody>
      </p:sp>
      <p:grpSp>
        <p:nvGrpSpPr>
          <p:cNvPr id="12" name="Group 46">
            <a:extLst>
              <a:ext uri="{FF2B5EF4-FFF2-40B4-BE49-F238E27FC236}">
                <a16:creationId xmlns:a16="http://schemas.microsoft.com/office/drawing/2014/main" id="{25F9D53B-67AA-FADA-BE37-9D4CA2BDA842}"/>
              </a:ext>
            </a:extLst>
          </p:cNvPr>
          <p:cNvGrpSpPr>
            <a:grpSpLocks/>
          </p:cNvGrpSpPr>
          <p:nvPr/>
        </p:nvGrpSpPr>
        <p:grpSpPr bwMode="auto">
          <a:xfrm>
            <a:off x="4805086" y="4559804"/>
            <a:ext cx="1119953" cy="550863"/>
            <a:chOff x="1520" y="2637"/>
            <a:chExt cx="775" cy="347"/>
          </a:xfrm>
        </p:grpSpPr>
        <p:sp>
          <p:nvSpPr>
            <p:cNvPr id="13" name="Rectangle 47">
              <a:extLst>
                <a:ext uri="{FF2B5EF4-FFF2-40B4-BE49-F238E27FC236}">
                  <a16:creationId xmlns:a16="http://schemas.microsoft.com/office/drawing/2014/main" id="{593C52CF-1732-9E5E-C9B8-3A0AA99764EA}"/>
                </a:ext>
              </a:extLst>
            </p:cNvPr>
            <p:cNvSpPr>
              <a:spLocks noChangeArrowheads="1"/>
            </p:cNvSpPr>
            <p:nvPr/>
          </p:nvSpPr>
          <p:spPr bwMode="auto">
            <a:xfrm>
              <a:off x="1520" y="2667"/>
              <a:ext cx="775" cy="314"/>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Line 48">
              <a:extLst>
                <a:ext uri="{FF2B5EF4-FFF2-40B4-BE49-F238E27FC236}">
                  <a16:creationId xmlns:a16="http://schemas.microsoft.com/office/drawing/2014/main" id="{0C662426-20CA-EB4C-561E-F60FDA6C8667}"/>
                </a:ext>
              </a:extLst>
            </p:cNvPr>
            <p:cNvSpPr>
              <a:spLocks noChangeShapeType="1"/>
            </p:cNvSpPr>
            <p:nvPr/>
          </p:nvSpPr>
          <p:spPr bwMode="auto">
            <a:xfrm>
              <a:off x="1525" y="2824"/>
              <a:ext cx="763" cy="1"/>
            </a:xfrm>
            <a:prstGeom prst="line">
              <a:avLst/>
            </a:prstGeom>
            <a:noFill/>
            <a:ln w="12700" cap="sq">
              <a:solidFill>
                <a:srgbClr val="222222"/>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nvGrpSpPr>
            <p:cNvPr id="15" name="Group 49">
              <a:extLst>
                <a:ext uri="{FF2B5EF4-FFF2-40B4-BE49-F238E27FC236}">
                  <a16:creationId xmlns:a16="http://schemas.microsoft.com/office/drawing/2014/main" id="{34D12E3C-BD24-B4B2-9BED-A238407FCFB3}"/>
                </a:ext>
              </a:extLst>
            </p:cNvPr>
            <p:cNvGrpSpPr>
              <a:grpSpLocks/>
            </p:cNvGrpSpPr>
            <p:nvPr/>
          </p:nvGrpSpPr>
          <p:grpSpPr bwMode="auto">
            <a:xfrm flipV="1">
              <a:off x="1806" y="2831"/>
              <a:ext cx="109" cy="97"/>
              <a:chOff x="720" y="3354"/>
              <a:chExt cx="192" cy="198"/>
            </a:xfrm>
          </p:grpSpPr>
          <p:sp>
            <p:nvSpPr>
              <p:cNvPr id="75" name="Oval 50">
                <a:extLst>
                  <a:ext uri="{FF2B5EF4-FFF2-40B4-BE49-F238E27FC236}">
                    <a16:creationId xmlns:a16="http://schemas.microsoft.com/office/drawing/2014/main" id="{1D2AECF8-633B-7C41-EECA-31FC6AFFBED7}"/>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76" name="AutoShape 51">
                <a:extLst>
                  <a:ext uri="{FF2B5EF4-FFF2-40B4-BE49-F238E27FC236}">
                    <a16:creationId xmlns:a16="http://schemas.microsoft.com/office/drawing/2014/main" id="{D72773CA-EEF1-289A-EF47-3B561C7BAE16}"/>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rgbClr val="22222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16" name="Text Box 52">
              <a:extLst>
                <a:ext uri="{FF2B5EF4-FFF2-40B4-BE49-F238E27FC236}">
                  <a16:creationId xmlns:a16="http://schemas.microsoft.com/office/drawing/2014/main" id="{13C578C0-8A8D-6105-A46E-FC9E1C21602D}"/>
                </a:ext>
              </a:extLst>
            </p:cNvPr>
            <p:cNvSpPr txBox="1">
              <a:spLocks noChangeArrowheads="1"/>
            </p:cNvSpPr>
            <p:nvPr/>
          </p:nvSpPr>
          <p:spPr bwMode="auto">
            <a:xfrm>
              <a:off x="1914" y="2829"/>
              <a:ext cx="23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t>= 7</a:t>
              </a:r>
            </a:p>
          </p:txBody>
        </p:sp>
        <p:sp>
          <p:nvSpPr>
            <p:cNvPr id="17" name="Text Box 53">
              <a:extLst>
                <a:ext uri="{FF2B5EF4-FFF2-40B4-BE49-F238E27FC236}">
                  <a16:creationId xmlns:a16="http://schemas.microsoft.com/office/drawing/2014/main" id="{BAC2B45C-A260-80D7-6C27-18BA69B2BEE0}"/>
                </a:ext>
              </a:extLst>
            </p:cNvPr>
            <p:cNvSpPr txBox="1">
              <a:spLocks noChangeArrowheads="1"/>
            </p:cNvSpPr>
            <p:nvPr/>
          </p:nvSpPr>
          <p:spPr bwMode="auto">
            <a:xfrm>
              <a:off x="1559" y="2637"/>
              <a:ext cx="72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900" b="0" dirty="0"/>
                <a:t>Data Entry &amp; Underwrite</a:t>
              </a:r>
            </a:p>
          </p:txBody>
        </p:sp>
      </p:grpSp>
      <p:sp>
        <p:nvSpPr>
          <p:cNvPr id="77" name="Rectangle 58">
            <a:extLst>
              <a:ext uri="{FF2B5EF4-FFF2-40B4-BE49-F238E27FC236}">
                <a16:creationId xmlns:a16="http://schemas.microsoft.com/office/drawing/2014/main" id="{F222E423-A05F-4CE2-6634-50DE040FBB05}"/>
              </a:ext>
            </a:extLst>
          </p:cNvPr>
          <p:cNvSpPr>
            <a:spLocks noChangeArrowheads="1"/>
          </p:cNvSpPr>
          <p:nvPr/>
        </p:nvSpPr>
        <p:spPr bwMode="auto">
          <a:xfrm>
            <a:off x="4790512" y="5174167"/>
            <a:ext cx="1135520" cy="492125"/>
          </a:xfrm>
          <a:prstGeom prst="rect">
            <a:avLst/>
          </a:prstGeom>
          <a:solidFill>
            <a:schemeClr val="bg1"/>
          </a:solidFill>
          <a:ln w="12700" cap="sq">
            <a:solidFill>
              <a:srgbClr val="222222"/>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78" name="Group 59">
            <a:extLst>
              <a:ext uri="{FF2B5EF4-FFF2-40B4-BE49-F238E27FC236}">
                <a16:creationId xmlns:a16="http://schemas.microsoft.com/office/drawing/2014/main" id="{799C8A91-246B-58FC-7FCF-7FAA7CA18F4D}"/>
              </a:ext>
            </a:extLst>
          </p:cNvPr>
          <p:cNvGrpSpPr>
            <a:grpSpLocks/>
          </p:cNvGrpSpPr>
          <p:nvPr/>
        </p:nvGrpSpPr>
        <p:grpSpPr bwMode="auto">
          <a:xfrm>
            <a:off x="4728018" y="5170992"/>
            <a:ext cx="1328738" cy="511175"/>
            <a:chOff x="4841" y="3355"/>
            <a:chExt cx="483" cy="374"/>
          </a:xfrm>
        </p:grpSpPr>
        <p:sp>
          <p:nvSpPr>
            <p:cNvPr id="79" name="Text Box 60">
              <a:extLst>
                <a:ext uri="{FF2B5EF4-FFF2-40B4-BE49-F238E27FC236}">
                  <a16:creationId xmlns:a16="http://schemas.microsoft.com/office/drawing/2014/main" id="{1F94D199-DF8B-6968-D0DC-9E4E0837C32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dirty="0">
                <a:solidFill>
                  <a:srgbClr val="FF0000"/>
                </a:solidFill>
              </a:endParaRPr>
            </a:p>
          </p:txBody>
        </p:sp>
        <p:sp>
          <p:nvSpPr>
            <p:cNvPr id="80" name="Text Box 61">
              <a:extLst>
                <a:ext uri="{FF2B5EF4-FFF2-40B4-BE49-F238E27FC236}">
                  <a16:creationId xmlns:a16="http://schemas.microsoft.com/office/drawing/2014/main" id="{7D5ED516-07E8-5829-6A35-C455222D9930}"/>
                </a:ext>
              </a:extLst>
            </p:cNvPr>
            <p:cNvSpPr txBox="1">
              <a:spLocks noChangeArrowheads="1"/>
            </p:cNvSpPr>
            <p:nvPr/>
          </p:nvSpPr>
          <p:spPr bwMode="auto">
            <a:xfrm>
              <a:off x="4841" y="3511"/>
              <a:ext cx="48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Quality = 98%</a:t>
              </a:r>
            </a:p>
          </p:txBody>
        </p:sp>
        <p:sp>
          <p:nvSpPr>
            <p:cNvPr id="81" name="Rectangle 62">
              <a:extLst>
                <a:ext uri="{FF2B5EF4-FFF2-40B4-BE49-F238E27FC236}">
                  <a16:creationId xmlns:a16="http://schemas.microsoft.com/office/drawing/2014/main" id="{6A247257-7C7C-A477-4528-19D9116CCD8E}"/>
                </a:ext>
              </a:extLst>
            </p:cNvPr>
            <p:cNvSpPr>
              <a:spLocks noChangeArrowheads="1"/>
            </p:cNvSpPr>
            <p:nvPr/>
          </p:nvSpPr>
          <p:spPr bwMode="auto">
            <a:xfrm>
              <a:off x="4841" y="3355"/>
              <a:ext cx="44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Processing Time = 1,500</a:t>
              </a:r>
              <a:r>
                <a:rPr lang="ja-JP" altLang="en-US" sz="700" b="0"/>
                <a:t>”</a:t>
              </a:r>
              <a:endParaRPr lang="en-US" altLang="en-US" sz="700" b="0" dirty="0"/>
            </a:p>
          </p:txBody>
        </p:sp>
        <p:sp>
          <p:nvSpPr>
            <p:cNvPr id="82" name="Rectangle 63">
              <a:extLst>
                <a:ext uri="{FF2B5EF4-FFF2-40B4-BE49-F238E27FC236}">
                  <a16:creationId xmlns:a16="http://schemas.microsoft.com/office/drawing/2014/main" id="{AD20EA79-3DF3-2B6B-9CAD-DAE809BED08C}"/>
                </a:ext>
              </a:extLst>
            </p:cNvPr>
            <p:cNvSpPr>
              <a:spLocks noChangeArrowheads="1"/>
            </p:cNvSpPr>
            <p:nvPr/>
          </p:nvSpPr>
          <p:spPr bwMode="auto">
            <a:xfrm>
              <a:off x="4841" y="3437"/>
              <a:ext cx="22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DOI = 230"</a:t>
              </a:r>
            </a:p>
          </p:txBody>
        </p:sp>
      </p:grpSp>
      <p:grpSp>
        <p:nvGrpSpPr>
          <p:cNvPr id="83" name="Group 65">
            <a:extLst>
              <a:ext uri="{FF2B5EF4-FFF2-40B4-BE49-F238E27FC236}">
                <a16:creationId xmlns:a16="http://schemas.microsoft.com/office/drawing/2014/main" id="{A1A93E8F-782A-1A6F-3EB8-D536CDD8D7BD}"/>
              </a:ext>
            </a:extLst>
          </p:cNvPr>
          <p:cNvGrpSpPr>
            <a:grpSpLocks/>
          </p:cNvGrpSpPr>
          <p:nvPr/>
        </p:nvGrpSpPr>
        <p:grpSpPr bwMode="auto">
          <a:xfrm rot="2889621" flipV="1">
            <a:off x="5498749" y="4427249"/>
            <a:ext cx="212725" cy="115888"/>
            <a:chOff x="636" y="2054"/>
            <a:chExt cx="200" cy="298"/>
          </a:xfrm>
        </p:grpSpPr>
        <p:sp>
          <p:nvSpPr>
            <p:cNvPr id="84" name="Line 66">
              <a:extLst>
                <a:ext uri="{FF2B5EF4-FFF2-40B4-BE49-F238E27FC236}">
                  <a16:creationId xmlns:a16="http://schemas.microsoft.com/office/drawing/2014/main" id="{91F362D8-DEE4-45E3-3BF2-6D03CD38454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85" name="Line 67">
              <a:extLst>
                <a:ext uri="{FF2B5EF4-FFF2-40B4-BE49-F238E27FC236}">
                  <a16:creationId xmlns:a16="http://schemas.microsoft.com/office/drawing/2014/main" id="{84666961-9A63-5CCD-1802-D9542EDFF045}"/>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86" name="Line 68">
              <a:extLst>
                <a:ext uri="{FF2B5EF4-FFF2-40B4-BE49-F238E27FC236}">
                  <a16:creationId xmlns:a16="http://schemas.microsoft.com/office/drawing/2014/main" id="{059026AD-665C-C5E4-7EA9-2FF77855E1A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grpSp>
        <p:nvGrpSpPr>
          <p:cNvPr id="101" name="Group 100">
            <a:extLst>
              <a:ext uri="{FF2B5EF4-FFF2-40B4-BE49-F238E27FC236}">
                <a16:creationId xmlns:a16="http://schemas.microsoft.com/office/drawing/2014/main" id="{C65D52A7-AB3D-6FF9-3C5B-DACF40C2D7C6}"/>
              </a:ext>
            </a:extLst>
          </p:cNvPr>
          <p:cNvGrpSpPr/>
          <p:nvPr/>
        </p:nvGrpSpPr>
        <p:grpSpPr>
          <a:xfrm>
            <a:off x="6315205" y="4529272"/>
            <a:ext cx="1292924" cy="1389995"/>
            <a:chOff x="8538106" y="4228532"/>
            <a:chExt cx="1292924" cy="1389995"/>
          </a:xfrm>
        </p:grpSpPr>
        <p:grpSp>
          <p:nvGrpSpPr>
            <p:cNvPr id="102" name="Group 101">
              <a:extLst>
                <a:ext uri="{FF2B5EF4-FFF2-40B4-BE49-F238E27FC236}">
                  <a16:creationId xmlns:a16="http://schemas.microsoft.com/office/drawing/2014/main" id="{DB342FD3-B6BF-F4E7-3E12-56C919D7162D}"/>
                </a:ext>
              </a:extLst>
            </p:cNvPr>
            <p:cNvGrpSpPr/>
            <p:nvPr/>
          </p:nvGrpSpPr>
          <p:grpSpPr>
            <a:xfrm>
              <a:off x="8550974" y="4228532"/>
              <a:ext cx="1066101" cy="811908"/>
              <a:chOff x="8550974" y="4228532"/>
              <a:chExt cx="1066101" cy="811908"/>
            </a:xfrm>
          </p:grpSpPr>
          <p:sp>
            <p:nvSpPr>
              <p:cNvPr id="107" name="Rectangle 69">
                <a:extLst>
                  <a:ext uri="{FF2B5EF4-FFF2-40B4-BE49-F238E27FC236}">
                    <a16:creationId xmlns:a16="http://schemas.microsoft.com/office/drawing/2014/main" id="{2E7284A1-31EB-4437-C66F-C44ED64EA43E}"/>
                  </a:ext>
                </a:extLst>
              </p:cNvPr>
              <p:cNvSpPr>
                <a:spLocks noChangeArrowheads="1"/>
              </p:cNvSpPr>
              <p:nvPr/>
            </p:nvSpPr>
            <p:spPr bwMode="auto">
              <a:xfrm>
                <a:off x="8550974" y="4292084"/>
                <a:ext cx="1066101" cy="748356"/>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08" name="Line 70">
                <a:extLst>
                  <a:ext uri="{FF2B5EF4-FFF2-40B4-BE49-F238E27FC236}">
                    <a16:creationId xmlns:a16="http://schemas.microsoft.com/office/drawing/2014/main" id="{2FB3277C-0A80-FB4C-3E70-E562260F8DE9}"/>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09" name="Text Box 71">
                <a:extLst>
                  <a:ext uri="{FF2B5EF4-FFF2-40B4-BE49-F238E27FC236}">
                    <a16:creationId xmlns:a16="http://schemas.microsoft.com/office/drawing/2014/main" id="{01A4B12F-A00C-B853-9FCE-2D0461C34FFC}"/>
                  </a:ext>
                </a:extLst>
              </p:cNvPr>
              <p:cNvSpPr txBox="1">
                <a:spLocks noChangeArrowheads="1"/>
              </p:cNvSpPr>
              <p:nvPr/>
            </p:nvSpPr>
            <p:spPr bwMode="auto">
              <a:xfrm>
                <a:off x="8588137" y="4228532"/>
                <a:ext cx="998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Generate Package</a:t>
                </a:r>
              </a:p>
            </p:txBody>
          </p:sp>
          <p:grpSp>
            <p:nvGrpSpPr>
              <p:cNvPr id="110" name="Group 72">
                <a:extLst>
                  <a:ext uri="{FF2B5EF4-FFF2-40B4-BE49-F238E27FC236}">
                    <a16:creationId xmlns:a16="http://schemas.microsoft.com/office/drawing/2014/main" id="{41BC2C74-F8DA-8F3A-6B89-D192D72838FE}"/>
                  </a:ext>
                </a:extLst>
              </p:cNvPr>
              <p:cNvGrpSpPr>
                <a:grpSpLocks/>
              </p:cNvGrpSpPr>
              <p:nvPr/>
            </p:nvGrpSpPr>
            <p:grpSpPr bwMode="auto">
              <a:xfrm flipV="1">
                <a:off x="8729819" y="4659836"/>
                <a:ext cx="269429" cy="284707"/>
                <a:chOff x="720" y="3354"/>
                <a:chExt cx="192" cy="198"/>
              </a:xfrm>
            </p:grpSpPr>
            <p:sp>
              <p:nvSpPr>
                <p:cNvPr id="112" name="Oval 73">
                  <a:extLst>
                    <a:ext uri="{FF2B5EF4-FFF2-40B4-BE49-F238E27FC236}">
                      <a16:creationId xmlns:a16="http://schemas.microsoft.com/office/drawing/2014/main" id="{A2EA520C-6953-8CEA-A079-3F9677001C2B}"/>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3" name="AutoShape 74">
                  <a:extLst>
                    <a:ext uri="{FF2B5EF4-FFF2-40B4-BE49-F238E27FC236}">
                      <a16:creationId xmlns:a16="http://schemas.microsoft.com/office/drawing/2014/main" id="{D58C4A61-3073-C428-C2FB-9F6C5D66BEF8}"/>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11" name="Text Box 75">
                <a:extLst>
                  <a:ext uri="{FF2B5EF4-FFF2-40B4-BE49-F238E27FC236}">
                    <a16:creationId xmlns:a16="http://schemas.microsoft.com/office/drawing/2014/main" id="{49D6D1A6-28E0-0EF1-8775-2C5AE2DD2635}"/>
                  </a:ext>
                </a:extLst>
              </p:cNvPr>
              <p:cNvSpPr txBox="1">
                <a:spLocks noChangeArrowheads="1"/>
              </p:cNvSpPr>
              <p:nvPr/>
            </p:nvSpPr>
            <p:spPr bwMode="auto">
              <a:xfrm>
                <a:off x="9084333" y="4619164"/>
                <a:ext cx="3593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 1</a:t>
                </a:r>
              </a:p>
            </p:txBody>
          </p:sp>
        </p:grpSp>
        <p:sp>
          <p:nvSpPr>
            <p:cNvPr id="103" name="Rectangle 348">
              <a:extLst>
                <a:ext uri="{FF2B5EF4-FFF2-40B4-BE49-F238E27FC236}">
                  <a16:creationId xmlns:a16="http://schemas.microsoft.com/office/drawing/2014/main" id="{E09DDCCF-DE58-75BC-8B45-E2E918AFE1F1}"/>
                </a:ext>
              </a:extLst>
            </p:cNvPr>
            <p:cNvSpPr>
              <a:spLocks noChangeArrowheads="1"/>
            </p:cNvSpPr>
            <p:nvPr/>
          </p:nvSpPr>
          <p:spPr bwMode="auto">
            <a:xfrm>
              <a:off x="8545341" y="5045784"/>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04" name="Text Box 351">
              <a:extLst>
                <a:ext uri="{FF2B5EF4-FFF2-40B4-BE49-F238E27FC236}">
                  <a16:creationId xmlns:a16="http://schemas.microsoft.com/office/drawing/2014/main" id="{825067FD-1777-2C1A-F169-67905F921E4C}"/>
                </a:ext>
              </a:extLst>
            </p:cNvPr>
            <p:cNvSpPr txBox="1">
              <a:spLocks noChangeArrowheads="1"/>
            </p:cNvSpPr>
            <p:nvPr/>
          </p:nvSpPr>
          <p:spPr bwMode="auto">
            <a:xfrm>
              <a:off x="8538106" y="538743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97%</a:t>
              </a:r>
            </a:p>
          </p:txBody>
        </p:sp>
        <p:sp>
          <p:nvSpPr>
            <p:cNvPr id="105" name="Rectangle 352">
              <a:extLst>
                <a:ext uri="{FF2B5EF4-FFF2-40B4-BE49-F238E27FC236}">
                  <a16:creationId xmlns:a16="http://schemas.microsoft.com/office/drawing/2014/main" id="{B4180EC6-7314-85DC-6098-009445324DA0}"/>
                </a:ext>
              </a:extLst>
            </p:cNvPr>
            <p:cNvSpPr>
              <a:spLocks noChangeArrowheads="1"/>
            </p:cNvSpPr>
            <p:nvPr/>
          </p:nvSpPr>
          <p:spPr bwMode="auto">
            <a:xfrm>
              <a:off x="8546082" y="5048973"/>
              <a:ext cx="1144865"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420</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06" name="Rectangle 353">
              <a:extLst>
                <a:ext uri="{FF2B5EF4-FFF2-40B4-BE49-F238E27FC236}">
                  <a16:creationId xmlns:a16="http://schemas.microsoft.com/office/drawing/2014/main" id="{F4187A6B-9B9F-AAAC-D9EC-4AB77CA46D18}"/>
                </a:ext>
              </a:extLst>
            </p:cNvPr>
            <p:cNvSpPr>
              <a:spLocks noChangeArrowheads="1"/>
            </p:cNvSpPr>
            <p:nvPr/>
          </p:nvSpPr>
          <p:spPr bwMode="auto">
            <a:xfrm>
              <a:off x="8562280" y="5217348"/>
              <a:ext cx="662361"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420"</a:t>
              </a:r>
            </a:p>
          </p:txBody>
        </p:sp>
      </p:grpSp>
      <p:grpSp>
        <p:nvGrpSpPr>
          <p:cNvPr id="141" name="Group 140">
            <a:extLst>
              <a:ext uri="{FF2B5EF4-FFF2-40B4-BE49-F238E27FC236}">
                <a16:creationId xmlns:a16="http://schemas.microsoft.com/office/drawing/2014/main" id="{06E7EA4F-DDFA-9838-4B47-60FF9D7BDDC4}"/>
              </a:ext>
            </a:extLst>
          </p:cNvPr>
          <p:cNvGrpSpPr/>
          <p:nvPr/>
        </p:nvGrpSpPr>
        <p:grpSpPr>
          <a:xfrm>
            <a:off x="3256456" y="4548579"/>
            <a:ext cx="1292924" cy="1329565"/>
            <a:chOff x="8543569" y="4228532"/>
            <a:chExt cx="1292924" cy="1329565"/>
          </a:xfrm>
        </p:grpSpPr>
        <p:grpSp>
          <p:nvGrpSpPr>
            <p:cNvPr id="142" name="Group 141">
              <a:extLst>
                <a:ext uri="{FF2B5EF4-FFF2-40B4-BE49-F238E27FC236}">
                  <a16:creationId xmlns:a16="http://schemas.microsoft.com/office/drawing/2014/main" id="{142DCCAE-16A6-EA37-D4FE-22D7699143C2}"/>
                </a:ext>
              </a:extLst>
            </p:cNvPr>
            <p:cNvGrpSpPr/>
            <p:nvPr/>
          </p:nvGrpSpPr>
          <p:grpSpPr>
            <a:xfrm>
              <a:off x="8550974" y="4228532"/>
              <a:ext cx="1065371" cy="753082"/>
              <a:chOff x="8550974" y="4228532"/>
              <a:chExt cx="1065371" cy="753082"/>
            </a:xfrm>
          </p:grpSpPr>
          <p:sp>
            <p:nvSpPr>
              <p:cNvPr id="147" name="Rectangle 69">
                <a:extLst>
                  <a:ext uri="{FF2B5EF4-FFF2-40B4-BE49-F238E27FC236}">
                    <a16:creationId xmlns:a16="http://schemas.microsoft.com/office/drawing/2014/main" id="{A5DD8DC5-EAB4-90CF-994D-878ED9F3C71A}"/>
                  </a:ext>
                </a:extLst>
              </p:cNvPr>
              <p:cNvSpPr>
                <a:spLocks noChangeArrowheads="1"/>
              </p:cNvSpPr>
              <p:nvPr/>
            </p:nvSpPr>
            <p:spPr bwMode="auto">
              <a:xfrm>
                <a:off x="8550974" y="4292084"/>
                <a:ext cx="1065371" cy="68953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48" name="Line 70">
                <a:extLst>
                  <a:ext uri="{FF2B5EF4-FFF2-40B4-BE49-F238E27FC236}">
                    <a16:creationId xmlns:a16="http://schemas.microsoft.com/office/drawing/2014/main" id="{9047493B-163C-3D4A-34D6-DDD5C364BE72}"/>
                  </a:ext>
                </a:extLst>
              </p:cNvPr>
              <p:cNvSpPr>
                <a:spLocks noChangeShapeType="1"/>
              </p:cNvSpPr>
              <p:nvPr/>
            </p:nvSpPr>
            <p:spPr bwMode="auto">
              <a:xfrm>
                <a:off x="8557942" y="4583239"/>
                <a:ext cx="1049842" cy="254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149" name="Text Box 71">
                <a:extLst>
                  <a:ext uri="{FF2B5EF4-FFF2-40B4-BE49-F238E27FC236}">
                    <a16:creationId xmlns:a16="http://schemas.microsoft.com/office/drawing/2014/main" id="{4E1A3E4F-62AF-38A4-2C5F-DF7FC13B0F68}"/>
                  </a:ext>
                </a:extLst>
              </p:cNvPr>
              <p:cNvSpPr txBox="1">
                <a:spLocks noChangeArrowheads="1"/>
              </p:cNvSpPr>
              <p:nvPr/>
            </p:nvSpPr>
            <p:spPr bwMode="auto">
              <a:xfrm>
                <a:off x="8588137" y="4228532"/>
                <a:ext cx="998744" cy="2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dirty="0">
                    <a:latin typeface="Roboto" panose="02000000000000000000" pitchFamily="2" charset="0"/>
                    <a:ea typeface="Roboto" panose="02000000000000000000" pitchFamily="2" charset="0"/>
                    <a:cs typeface="Roboto" panose="02000000000000000000" pitchFamily="2" charset="0"/>
                  </a:rPr>
                  <a:t>Receipt</a:t>
                </a:r>
              </a:p>
            </p:txBody>
          </p:sp>
          <p:grpSp>
            <p:nvGrpSpPr>
              <p:cNvPr id="150" name="Group 72">
                <a:extLst>
                  <a:ext uri="{FF2B5EF4-FFF2-40B4-BE49-F238E27FC236}">
                    <a16:creationId xmlns:a16="http://schemas.microsoft.com/office/drawing/2014/main" id="{64A9EFDB-5880-9C32-D0F2-634930450EDD}"/>
                  </a:ext>
                </a:extLst>
              </p:cNvPr>
              <p:cNvGrpSpPr>
                <a:grpSpLocks/>
              </p:cNvGrpSpPr>
              <p:nvPr/>
            </p:nvGrpSpPr>
            <p:grpSpPr bwMode="auto">
              <a:xfrm flipV="1">
                <a:off x="8799977" y="4616708"/>
                <a:ext cx="228733" cy="241569"/>
                <a:chOff x="770" y="3414"/>
                <a:chExt cx="163" cy="168"/>
              </a:xfrm>
            </p:grpSpPr>
            <p:sp>
              <p:nvSpPr>
                <p:cNvPr id="152" name="Oval 73">
                  <a:extLst>
                    <a:ext uri="{FF2B5EF4-FFF2-40B4-BE49-F238E27FC236}">
                      <a16:creationId xmlns:a16="http://schemas.microsoft.com/office/drawing/2014/main" id="{44D25379-5789-5D8C-DEAD-EE03F7DA0CB8}"/>
                    </a:ext>
                  </a:extLst>
                </p:cNvPr>
                <p:cNvSpPr>
                  <a:spLocks noChangeArrowheads="1"/>
                </p:cNvSpPr>
                <p:nvPr/>
              </p:nvSpPr>
              <p:spPr bwMode="auto">
                <a:xfrm>
                  <a:off x="818" y="3453"/>
                  <a:ext cx="81" cy="81"/>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53" name="AutoShape 74">
                  <a:extLst>
                    <a:ext uri="{FF2B5EF4-FFF2-40B4-BE49-F238E27FC236}">
                      <a16:creationId xmlns:a16="http://schemas.microsoft.com/office/drawing/2014/main" id="{F43342DC-1F84-211F-32E4-B79B9F73BE99}"/>
                    </a:ext>
                  </a:extLst>
                </p:cNvPr>
                <p:cNvSpPr>
                  <a:spLocks noChangeArrowheads="1"/>
                </p:cNvSpPr>
                <p:nvPr/>
              </p:nvSpPr>
              <p:spPr bwMode="auto">
                <a:xfrm>
                  <a:off x="770" y="3414"/>
                  <a:ext cx="163" cy="16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latin typeface="Roboto" panose="02000000000000000000" pitchFamily="2" charset="0"/>
                    <a:ea typeface="Roboto" panose="02000000000000000000" pitchFamily="2" charset="0"/>
                    <a:cs typeface="Roboto" panose="02000000000000000000" pitchFamily="2" charset="0"/>
                  </a:endParaRPr>
                </a:p>
              </p:txBody>
            </p:sp>
          </p:grpSp>
          <p:sp>
            <p:nvSpPr>
              <p:cNvPr id="151" name="Text Box 75">
                <a:extLst>
                  <a:ext uri="{FF2B5EF4-FFF2-40B4-BE49-F238E27FC236}">
                    <a16:creationId xmlns:a16="http://schemas.microsoft.com/office/drawing/2014/main" id="{2F9B827D-BEED-7B24-4DE5-83A40F27E4EF}"/>
                  </a:ext>
                </a:extLst>
              </p:cNvPr>
              <p:cNvSpPr txBox="1">
                <a:spLocks noChangeArrowheads="1"/>
              </p:cNvSpPr>
              <p:nvPr/>
            </p:nvSpPr>
            <p:spPr bwMode="auto">
              <a:xfrm>
                <a:off x="9076319" y="4619164"/>
                <a:ext cx="3754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50" b="0" dirty="0">
                    <a:latin typeface="Roboto" panose="02000000000000000000" pitchFamily="2" charset="0"/>
                    <a:ea typeface="Roboto" panose="02000000000000000000" pitchFamily="2" charset="0"/>
                    <a:cs typeface="Roboto" panose="02000000000000000000" pitchFamily="2" charset="0"/>
                  </a:rPr>
                  <a:t>= 2</a:t>
                </a:r>
              </a:p>
            </p:txBody>
          </p:sp>
        </p:grpSp>
        <p:sp>
          <p:nvSpPr>
            <p:cNvPr id="143" name="Rectangle 348">
              <a:extLst>
                <a:ext uri="{FF2B5EF4-FFF2-40B4-BE49-F238E27FC236}">
                  <a16:creationId xmlns:a16="http://schemas.microsoft.com/office/drawing/2014/main" id="{6A2B63CC-4B80-75D5-D057-F0B8EA54B30B}"/>
                </a:ext>
              </a:extLst>
            </p:cNvPr>
            <p:cNvSpPr>
              <a:spLocks noChangeArrowheads="1"/>
            </p:cNvSpPr>
            <p:nvPr/>
          </p:nvSpPr>
          <p:spPr bwMode="auto">
            <a:xfrm>
              <a:off x="8552506" y="4977321"/>
              <a:ext cx="1079672"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4" name="Text Box 351">
              <a:extLst>
                <a:ext uri="{FF2B5EF4-FFF2-40B4-BE49-F238E27FC236}">
                  <a16:creationId xmlns:a16="http://schemas.microsoft.com/office/drawing/2014/main" id="{D4413699-5A7E-90A0-3E9E-5987A32AC702}"/>
                </a:ext>
              </a:extLst>
            </p:cNvPr>
            <p:cNvSpPr txBox="1">
              <a:spLocks noChangeArrowheads="1"/>
            </p:cNvSpPr>
            <p:nvPr/>
          </p:nvSpPr>
          <p:spPr bwMode="auto">
            <a:xfrm>
              <a:off x="8543569" y="5327008"/>
              <a:ext cx="1292924" cy="231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Quality = 100%</a:t>
              </a:r>
            </a:p>
          </p:txBody>
        </p:sp>
        <p:sp>
          <p:nvSpPr>
            <p:cNvPr id="145" name="Rectangle 352">
              <a:extLst>
                <a:ext uri="{FF2B5EF4-FFF2-40B4-BE49-F238E27FC236}">
                  <a16:creationId xmlns:a16="http://schemas.microsoft.com/office/drawing/2014/main" id="{5AAAEC90-F813-3006-AF9C-E48FF7F21498}"/>
                </a:ext>
              </a:extLst>
            </p:cNvPr>
            <p:cNvSpPr>
              <a:spLocks noChangeArrowheads="1"/>
            </p:cNvSpPr>
            <p:nvPr/>
          </p:nvSpPr>
          <p:spPr bwMode="auto">
            <a:xfrm>
              <a:off x="8551545" y="4988543"/>
              <a:ext cx="1095172" cy="214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cs typeface="Roboto" panose="02000000000000000000" pitchFamily="2" charset="0"/>
                </a:rPr>
                <a:t>Processing Time = 15</a:t>
              </a:r>
              <a:r>
                <a:rPr lang="ja-JP" altLang="en-US" sz="700" b="0">
                  <a:latin typeface="Roboto" panose="02000000000000000000" pitchFamily="2" charset="0"/>
                  <a:cs typeface="Roboto" panose="02000000000000000000" pitchFamily="2" charset="0"/>
                </a:rPr>
                <a:t>”</a:t>
              </a:r>
              <a:endParaRPr lang="en-US" altLang="en-US" sz="700" b="0" dirty="0">
                <a:latin typeface="Roboto" panose="02000000000000000000" pitchFamily="2" charset="0"/>
                <a:ea typeface="Roboto" panose="02000000000000000000" pitchFamily="2" charset="0"/>
                <a:cs typeface="Roboto" panose="02000000000000000000" pitchFamily="2" charset="0"/>
              </a:endParaRPr>
            </a:p>
          </p:txBody>
        </p:sp>
        <p:sp>
          <p:nvSpPr>
            <p:cNvPr id="146" name="Rectangle 353">
              <a:extLst>
                <a:ext uri="{FF2B5EF4-FFF2-40B4-BE49-F238E27FC236}">
                  <a16:creationId xmlns:a16="http://schemas.microsoft.com/office/drawing/2014/main" id="{3521151A-9640-5D07-C25D-ACA16B68F905}"/>
                </a:ext>
              </a:extLst>
            </p:cNvPr>
            <p:cNvSpPr>
              <a:spLocks noChangeArrowheads="1"/>
            </p:cNvSpPr>
            <p:nvPr/>
          </p:nvSpPr>
          <p:spPr bwMode="auto">
            <a:xfrm>
              <a:off x="8567743" y="5156918"/>
              <a:ext cx="546945" cy="23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DOI = 8"</a:t>
              </a:r>
            </a:p>
          </p:txBody>
        </p:sp>
      </p:grpSp>
      <p:grpSp>
        <p:nvGrpSpPr>
          <p:cNvPr id="154" name="Group 226">
            <a:extLst>
              <a:ext uri="{FF2B5EF4-FFF2-40B4-BE49-F238E27FC236}">
                <a16:creationId xmlns:a16="http://schemas.microsoft.com/office/drawing/2014/main" id="{615B5CE8-3FAA-4F5A-43D4-61CD910F4CA0}"/>
              </a:ext>
            </a:extLst>
          </p:cNvPr>
          <p:cNvGrpSpPr>
            <a:grpSpLocks/>
          </p:cNvGrpSpPr>
          <p:nvPr/>
        </p:nvGrpSpPr>
        <p:grpSpPr bwMode="auto">
          <a:xfrm rot="14945091" flipV="1">
            <a:off x="5103126" y="4426412"/>
            <a:ext cx="212725" cy="115888"/>
            <a:chOff x="636" y="2054"/>
            <a:chExt cx="200" cy="298"/>
          </a:xfrm>
        </p:grpSpPr>
        <p:sp>
          <p:nvSpPr>
            <p:cNvPr id="155" name="Line 227">
              <a:extLst>
                <a:ext uri="{FF2B5EF4-FFF2-40B4-BE49-F238E27FC236}">
                  <a16:creationId xmlns:a16="http://schemas.microsoft.com/office/drawing/2014/main" id="{CBBC72E0-F5BF-7FE9-4077-DC3735C9558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156" name="Line 228">
              <a:extLst>
                <a:ext uri="{FF2B5EF4-FFF2-40B4-BE49-F238E27FC236}">
                  <a16:creationId xmlns:a16="http://schemas.microsoft.com/office/drawing/2014/main" id="{B8989CFC-4494-3519-3C5F-A47A88B24FE1}"/>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57" name="Line 229">
              <a:extLst>
                <a:ext uri="{FF2B5EF4-FFF2-40B4-BE49-F238E27FC236}">
                  <a16:creationId xmlns:a16="http://schemas.microsoft.com/office/drawing/2014/main" id="{C690C826-DCE2-FDB6-B75D-1AAB5F7711F2}"/>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164" name="Line 268">
            <a:extLst>
              <a:ext uri="{FF2B5EF4-FFF2-40B4-BE49-F238E27FC236}">
                <a16:creationId xmlns:a16="http://schemas.microsoft.com/office/drawing/2014/main" id="{CE5C4FF5-4670-1421-74DE-78D9F9310737}"/>
              </a:ext>
            </a:extLst>
          </p:cNvPr>
          <p:cNvSpPr>
            <a:spLocks noChangeShapeType="1"/>
          </p:cNvSpPr>
          <p:nvPr/>
        </p:nvSpPr>
        <p:spPr bwMode="auto">
          <a:xfrm>
            <a:off x="5901244"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5" name="Line 269">
            <a:extLst>
              <a:ext uri="{FF2B5EF4-FFF2-40B4-BE49-F238E27FC236}">
                <a16:creationId xmlns:a16="http://schemas.microsoft.com/office/drawing/2014/main" id="{D51837C8-3467-ECEA-C43F-ED3AFD89F404}"/>
              </a:ext>
            </a:extLst>
          </p:cNvPr>
          <p:cNvSpPr>
            <a:spLocks noChangeShapeType="1"/>
          </p:cNvSpPr>
          <p:nvPr/>
        </p:nvSpPr>
        <p:spPr bwMode="auto">
          <a:xfrm>
            <a:off x="4650294"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66" name="AutoShape 270">
            <a:extLst>
              <a:ext uri="{FF2B5EF4-FFF2-40B4-BE49-F238E27FC236}">
                <a16:creationId xmlns:a16="http://schemas.microsoft.com/office/drawing/2014/main" id="{644A251D-3EB0-463F-B6BF-CD49F21CEFC2}"/>
              </a:ext>
            </a:extLst>
          </p:cNvPr>
          <p:cNvCxnSpPr>
            <a:cxnSpLocks noChangeShapeType="1"/>
            <a:stCxn id="165" idx="1"/>
            <a:endCxn id="164" idx="1"/>
          </p:cNvCxnSpPr>
          <p:nvPr/>
        </p:nvCxnSpPr>
        <p:spPr bwMode="auto">
          <a:xfrm>
            <a:off x="4650294" y="6321887"/>
            <a:ext cx="1250950"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67" name="Rectangle 271">
            <a:extLst>
              <a:ext uri="{FF2B5EF4-FFF2-40B4-BE49-F238E27FC236}">
                <a16:creationId xmlns:a16="http://schemas.microsoft.com/office/drawing/2014/main" id="{27BF1039-8E7A-B34A-A569-52D02243C751}"/>
              </a:ext>
            </a:extLst>
          </p:cNvPr>
          <p:cNvSpPr>
            <a:spLocks noChangeArrowheads="1"/>
          </p:cNvSpPr>
          <p:nvPr/>
        </p:nvSpPr>
        <p:spPr bwMode="auto">
          <a:xfrm>
            <a:off x="4974144" y="6129799"/>
            <a:ext cx="6492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1,500 sec</a:t>
            </a:r>
          </a:p>
        </p:txBody>
      </p:sp>
      <p:sp>
        <p:nvSpPr>
          <p:cNvPr id="168" name="Line 299">
            <a:extLst>
              <a:ext uri="{FF2B5EF4-FFF2-40B4-BE49-F238E27FC236}">
                <a16:creationId xmlns:a16="http://schemas.microsoft.com/office/drawing/2014/main" id="{81F7D6D1-559F-B21F-F28D-C087E77D1080}"/>
              </a:ext>
            </a:extLst>
          </p:cNvPr>
          <p:cNvSpPr>
            <a:spLocks noChangeShapeType="1"/>
          </p:cNvSpPr>
          <p:nvPr/>
        </p:nvSpPr>
        <p:spPr bwMode="auto">
          <a:xfrm>
            <a:off x="3388231" y="6129799"/>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69" name="Line 300">
            <a:extLst>
              <a:ext uri="{FF2B5EF4-FFF2-40B4-BE49-F238E27FC236}">
                <a16:creationId xmlns:a16="http://schemas.microsoft.com/office/drawing/2014/main" id="{24388188-58D4-A17D-3CC1-9A079642805F}"/>
              </a:ext>
            </a:extLst>
          </p:cNvPr>
          <p:cNvSpPr>
            <a:spLocks noChangeShapeType="1"/>
          </p:cNvSpPr>
          <p:nvPr/>
        </p:nvSpPr>
        <p:spPr bwMode="auto">
          <a:xfrm>
            <a:off x="4089906" y="6131387"/>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0" name="AutoShape 316">
            <a:extLst>
              <a:ext uri="{FF2B5EF4-FFF2-40B4-BE49-F238E27FC236}">
                <a16:creationId xmlns:a16="http://schemas.microsoft.com/office/drawing/2014/main" id="{09DEE2B7-7796-31E1-B04A-3DA4B3BF7527}"/>
              </a:ext>
            </a:extLst>
          </p:cNvPr>
          <p:cNvCxnSpPr>
            <a:cxnSpLocks noChangeShapeType="1"/>
            <a:stCxn id="168" idx="1"/>
            <a:endCxn id="169" idx="1"/>
          </p:cNvCxnSpPr>
          <p:nvPr/>
        </p:nvCxnSpPr>
        <p:spPr bwMode="auto">
          <a:xfrm>
            <a:off x="3388231" y="6321887"/>
            <a:ext cx="701675"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1" name="Rectangle 317">
            <a:extLst>
              <a:ext uri="{FF2B5EF4-FFF2-40B4-BE49-F238E27FC236}">
                <a16:creationId xmlns:a16="http://schemas.microsoft.com/office/drawing/2014/main" id="{8C1421D8-0767-E559-3265-FCCB70971A5C}"/>
              </a:ext>
            </a:extLst>
          </p:cNvPr>
          <p:cNvSpPr>
            <a:spLocks noChangeArrowheads="1"/>
          </p:cNvSpPr>
          <p:nvPr/>
        </p:nvSpPr>
        <p:spPr bwMode="auto">
          <a:xfrm>
            <a:off x="3473956" y="6129799"/>
            <a:ext cx="511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15 sec</a:t>
            </a:r>
          </a:p>
        </p:txBody>
      </p:sp>
      <p:sp>
        <p:nvSpPr>
          <p:cNvPr id="172" name="Rectangle 318">
            <a:extLst>
              <a:ext uri="{FF2B5EF4-FFF2-40B4-BE49-F238E27FC236}">
                <a16:creationId xmlns:a16="http://schemas.microsoft.com/office/drawing/2014/main" id="{DC5FCBF6-A6CD-A26D-31B0-992B8C7937F7}"/>
              </a:ext>
            </a:extLst>
          </p:cNvPr>
          <p:cNvSpPr>
            <a:spLocks noChangeArrowheads="1"/>
          </p:cNvSpPr>
          <p:nvPr/>
        </p:nvSpPr>
        <p:spPr bwMode="auto">
          <a:xfrm>
            <a:off x="7769731" y="6129799"/>
            <a:ext cx="647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45 sec</a:t>
            </a:r>
          </a:p>
        </p:txBody>
      </p:sp>
      <p:sp>
        <p:nvSpPr>
          <p:cNvPr id="173" name="Line 334">
            <a:extLst>
              <a:ext uri="{FF2B5EF4-FFF2-40B4-BE49-F238E27FC236}">
                <a16:creationId xmlns:a16="http://schemas.microsoft.com/office/drawing/2014/main" id="{0A36D6CB-9AAC-2E05-EA71-AE674CA31020}"/>
              </a:ext>
            </a:extLst>
          </p:cNvPr>
          <p:cNvSpPr>
            <a:spLocks noChangeShapeType="1"/>
          </p:cNvSpPr>
          <p:nvPr/>
        </p:nvSpPr>
        <p:spPr bwMode="auto">
          <a:xfrm flipV="1">
            <a:off x="7717344" y="6323474"/>
            <a:ext cx="612775"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4" name="AutoShape 335">
            <a:extLst>
              <a:ext uri="{FF2B5EF4-FFF2-40B4-BE49-F238E27FC236}">
                <a16:creationId xmlns:a16="http://schemas.microsoft.com/office/drawing/2014/main" id="{A36E29A5-A9FA-F74F-0798-C816DEE0E06B}"/>
              </a:ext>
            </a:extLst>
          </p:cNvPr>
          <p:cNvCxnSpPr>
            <a:cxnSpLocks noChangeShapeType="1"/>
          </p:cNvCxnSpPr>
          <p:nvPr/>
        </p:nvCxnSpPr>
        <p:spPr bwMode="auto">
          <a:xfrm>
            <a:off x="7710994" y="6131387"/>
            <a:ext cx="1587" cy="195262"/>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5" name="Line 351">
            <a:extLst>
              <a:ext uri="{FF2B5EF4-FFF2-40B4-BE49-F238E27FC236}">
                <a16:creationId xmlns:a16="http://schemas.microsoft.com/office/drawing/2014/main" id="{24EB96B0-A16D-63FC-F92D-2E31150DEA27}"/>
              </a:ext>
            </a:extLst>
          </p:cNvPr>
          <p:cNvSpPr>
            <a:spLocks noChangeShapeType="1"/>
          </p:cNvSpPr>
          <p:nvPr/>
        </p:nvSpPr>
        <p:spPr bwMode="auto">
          <a:xfrm>
            <a:off x="7195056" y="6128212"/>
            <a:ext cx="0" cy="1936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76" name="Line 352">
            <a:extLst>
              <a:ext uri="{FF2B5EF4-FFF2-40B4-BE49-F238E27FC236}">
                <a16:creationId xmlns:a16="http://schemas.microsoft.com/office/drawing/2014/main" id="{8ECD759F-EC3F-9DD9-2B9B-03782245BB7E}"/>
              </a:ext>
            </a:extLst>
          </p:cNvPr>
          <p:cNvSpPr>
            <a:spLocks noChangeShapeType="1"/>
          </p:cNvSpPr>
          <p:nvPr/>
        </p:nvSpPr>
        <p:spPr bwMode="auto">
          <a:xfrm>
            <a:off x="6460044" y="6126624"/>
            <a:ext cx="0" cy="1920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177" name="AutoShape 353">
            <a:extLst>
              <a:ext uri="{FF2B5EF4-FFF2-40B4-BE49-F238E27FC236}">
                <a16:creationId xmlns:a16="http://schemas.microsoft.com/office/drawing/2014/main" id="{23A5CFA2-E0E3-2D54-E12A-D48C1657EAFD}"/>
              </a:ext>
            </a:extLst>
          </p:cNvPr>
          <p:cNvCxnSpPr>
            <a:cxnSpLocks noChangeShapeType="1"/>
            <a:stCxn id="176" idx="1"/>
            <a:endCxn id="175" idx="1"/>
          </p:cNvCxnSpPr>
          <p:nvPr/>
        </p:nvCxnSpPr>
        <p:spPr bwMode="auto">
          <a:xfrm>
            <a:off x="6460044" y="6318712"/>
            <a:ext cx="735012" cy="3175"/>
          </a:xfrm>
          <a:prstGeom prst="straightConnector1">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78" name="Rectangle 354">
            <a:extLst>
              <a:ext uri="{FF2B5EF4-FFF2-40B4-BE49-F238E27FC236}">
                <a16:creationId xmlns:a16="http://schemas.microsoft.com/office/drawing/2014/main" id="{071C9CF3-0476-2465-0E07-41517E4BF467}"/>
              </a:ext>
            </a:extLst>
          </p:cNvPr>
          <p:cNvSpPr>
            <a:spLocks noChangeArrowheads="1"/>
          </p:cNvSpPr>
          <p:nvPr/>
        </p:nvSpPr>
        <p:spPr bwMode="auto">
          <a:xfrm>
            <a:off x="6504494" y="6126624"/>
            <a:ext cx="6429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t>420 sec</a:t>
            </a:r>
          </a:p>
        </p:txBody>
      </p:sp>
      <p:sp>
        <p:nvSpPr>
          <p:cNvPr id="179" name="Line 361">
            <a:extLst>
              <a:ext uri="{FF2B5EF4-FFF2-40B4-BE49-F238E27FC236}">
                <a16:creationId xmlns:a16="http://schemas.microsoft.com/office/drawing/2014/main" id="{7014722D-985F-82F0-C323-D273071E0513}"/>
              </a:ext>
            </a:extLst>
          </p:cNvPr>
          <p:cNvSpPr>
            <a:spLocks noChangeShapeType="1"/>
          </p:cNvSpPr>
          <p:nvPr/>
        </p:nvSpPr>
        <p:spPr bwMode="auto">
          <a:xfrm flipV="1">
            <a:off x="2821494" y="6134562"/>
            <a:ext cx="56038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0" name="Rectangle 362">
            <a:extLst>
              <a:ext uri="{FF2B5EF4-FFF2-40B4-BE49-F238E27FC236}">
                <a16:creationId xmlns:a16="http://schemas.microsoft.com/office/drawing/2014/main" id="{45EE385C-00F1-E401-07CC-6471ED434866}"/>
              </a:ext>
            </a:extLst>
          </p:cNvPr>
          <p:cNvSpPr>
            <a:spLocks noChangeArrowheads="1"/>
          </p:cNvSpPr>
          <p:nvPr/>
        </p:nvSpPr>
        <p:spPr bwMode="auto">
          <a:xfrm>
            <a:off x="2738944" y="5951999"/>
            <a:ext cx="6556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1" name="Line 363">
            <a:extLst>
              <a:ext uri="{FF2B5EF4-FFF2-40B4-BE49-F238E27FC236}">
                <a16:creationId xmlns:a16="http://schemas.microsoft.com/office/drawing/2014/main" id="{CC68361B-3CA7-4366-114A-319B296DB70B}"/>
              </a:ext>
            </a:extLst>
          </p:cNvPr>
          <p:cNvSpPr>
            <a:spLocks noChangeShapeType="1"/>
          </p:cNvSpPr>
          <p:nvPr/>
        </p:nvSpPr>
        <p:spPr bwMode="auto">
          <a:xfrm flipV="1">
            <a:off x="4086731" y="6134562"/>
            <a:ext cx="56197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2" name="Rectangle 364">
            <a:extLst>
              <a:ext uri="{FF2B5EF4-FFF2-40B4-BE49-F238E27FC236}">
                <a16:creationId xmlns:a16="http://schemas.microsoft.com/office/drawing/2014/main" id="{AB3A4439-1F8D-F4CF-405E-3425666261AC}"/>
              </a:ext>
            </a:extLst>
          </p:cNvPr>
          <p:cNvSpPr>
            <a:spLocks noChangeArrowheads="1"/>
          </p:cNvSpPr>
          <p:nvPr/>
        </p:nvSpPr>
        <p:spPr bwMode="auto">
          <a:xfrm>
            <a:off x="5885369"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0 day</a:t>
            </a:r>
          </a:p>
        </p:txBody>
      </p:sp>
      <p:sp>
        <p:nvSpPr>
          <p:cNvPr id="183" name="Rectangle 365">
            <a:extLst>
              <a:ext uri="{FF2B5EF4-FFF2-40B4-BE49-F238E27FC236}">
                <a16:creationId xmlns:a16="http://schemas.microsoft.com/office/drawing/2014/main" id="{AEB1556A-C328-6609-17E8-31AFE33972B5}"/>
              </a:ext>
            </a:extLst>
          </p:cNvPr>
          <p:cNvSpPr>
            <a:spLocks noChangeArrowheads="1"/>
          </p:cNvSpPr>
          <p:nvPr/>
        </p:nvSpPr>
        <p:spPr bwMode="auto">
          <a:xfrm>
            <a:off x="7149019" y="5951999"/>
            <a:ext cx="5889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.25 days</a:t>
            </a:r>
          </a:p>
        </p:txBody>
      </p:sp>
      <p:sp>
        <p:nvSpPr>
          <p:cNvPr id="184" name="Line 366">
            <a:extLst>
              <a:ext uri="{FF2B5EF4-FFF2-40B4-BE49-F238E27FC236}">
                <a16:creationId xmlns:a16="http://schemas.microsoft.com/office/drawing/2014/main" id="{3BC5B6E5-CE8F-EF93-787E-01B30EEB3C25}"/>
              </a:ext>
            </a:extLst>
          </p:cNvPr>
          <p:cNvSpPr>
            <a:spLocks noChangeShapeType="1"/>
          </p:cNvSpPr>
          <p:nvPr/>
        </p:nvSpPr>
        <p:spPr bwMode="auto">
          <a:xfrm>
            <a:off x="7185531" y="6132974"/>
            <a:ext cx="519113"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5" name="Line 367">
            <a:extLst>
              <a:ext uri="{FF2B5EF4-FFF2-40B4-BE49-F238E27FC236}">
                <a16:creationId xmlns:a16="http://schemas.microsoft.com/office/drawing/2014/main" id="{8A5DF2B4-092C-DFC3-0BE6-33BBCA5370D3}"/>
              </a:ext>
            </a:extLst>
          </p:cNvPr>
          <p:cNvSpPr>
            <a:spLocks noChangeShapeType="1"/>
          </p:cNvSpPr>
          <p:nvPr/>
        </p:nvSpPr>
        <p:spPr bwMode="auto">
          <a:xfrm flipV="1">
            <a:off x="5899656" y="6134562"/>
            <a:ext cx="5603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86" name="Rectangle 474">
            <a:extLst>
              <a:ext uri="{FF2B5EF4-FFF2-40B4-BE49-F238E27FC236}">
                <a16:creationId xmlns:a16="http://schemas.microsoft.com/office/drawing/2014/main" id="{FA96CA39-EDAE-F8B6-8834-55E48EC858E0}"/>
              </a:ext>
            </a:extLst>
          </p:cNvPr>
          <p:cNvSpPr>
            <a:spLocks noChangeArrowheads="1"/>
          </p:cNvSpPr>
          <p:nvPr/>
        </p:nvSpPr>
        <p:spPr bwMode="auto">
          <a:xfrm>
            <a:off x="4085144" y="5953587"/>
            <a:ext cx="5730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dirty="0">
                <a:solidFill>
                  <a:srgbClr val="222222"/>
                </a:solidFill>
              </a:rPr>
              <a:t>.5 day</a:t>
            </a:r>
          </a:p>
        </p:txBody>
      </p:sp>
      <p:grpSp>
        <p:nvGrpSpPr>
          <p:cNvPr id="189" name="Group 432">
            <a:extLst>
              <a:ext uri="{FF2B5EF4-FFF2-40B4-BE49-F238E27FC236}">
                <a16:creationId xmlns:a16="http://schemas.microsoft.com/office/drawing/2014/main" id="{C012A8A9-1834-B0B9-27AC-4AB76693FD1F}"/>
              </a:ext>
            </a:extLst>
          </p:cNvPr>
          <p:cNvGrpSpPr>
            <a:grpSpLocks/>
          </p:cNvGrpSpPr>
          <p:nvPr/>
        </p:nvGrpSpPr>
        <p:grpSpPr bwMode="auto">
          <a:xfrm>
            <a:off x="7459565" y="4820024"/>
            <a:ext cx="342900" cy="812800"/>
            <a:chOff x="752" y="2752"/>
            <a:chExt cx="216" cy="512"/>
          </a:xfrm>
        </p:grpSpPr>
        <p:sp>
          <p:nvSpPr>
            <p:cNvPr id="190" name="AutoShape 406">
              <a:extLst>
                <a:ext uri="{FF2B5EF4-FFF2-40B4-BE49-F238E27FC236}">
                  <a16:creationId xmlns:a16="http://schemas.microsoft.com/office/drawing/2014/main" id="{843CE763-57AC-41D4-F71B-390C8317B742}"/>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1" name="AutoShape 407">
              <a:extLst>
                <a:ext uri="{FF2B5EF4-FFF2-40B4-BE49-F238E27FC236}">
                  <a16:creationId xmlns:a16="http://schemas.microsoft.com/office/drawing/2014/main" id="{CCA71718-257C-831C-0EBB-17A034BFA892}"/>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92" name="AutoShape 408">
              <a:extLst>
                <a:ext uri="{FF2B5EF4-FFF2-40B4-BE49-F238E27FC236}">
                  <a16:creationId xmlns:a16="http://schemas.microsoft.com/office/drawing/2014/main" id="{DC7FDA0C-13E3-DB1E-3DAE-0CD8F156BA10}"/>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3" name="Group 409">
              <a:extLst>
                <a:ext uri="{FF2B5EF4-FFF2-40B4-BE49-F238E27FC236}">
                  <a16:creationId xmlns:a16="http://schemas.microsoft.com/office/drawing/2014/main" id="{B0AAC8B4-5338-7623-06E3-9332C103D754}"/>
                </a:ext>
              </a:extLst>
            </p:cNvPr>
            <p:cNvGrpSpPr>
              <a:grpSpLocks/>
            </p:cNvGrpSpPr>
            <p:nvPr/>
          </p:nvGrpSpPr>
          <p:grpSpPr bwMode="auto">
            <a:xfrm>
              <a:off x="752" y="2965"/>
              <a:ext cx="216" cy="299"/>
              <a:chOff x="576" y="1200"/>
              <a:chExt cx="240" cy="336"/>
            </a:xfrm>
          </p:grpSpPr>
          <p:sp>
            <p:nvSpPr>
              <p:cNvPr id="199" name="Rectangle 410">
                <a:extLst>
                  <a:ext uri="{FF2B5EF4-FFF2-40B4-BE49-F238E27FC236}">
                    <a16:creationId xmlns:a16="http://schemas.microsoft.com/office/drawing/2014/main" id="{0F9E2063-D94D-585F-04BB-F5FF221A76B5}"/>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00" name="Line 411">
                <a:extLst>
                  <a:ext uri="{FF2B5EF4-FFF2-40B4-BE49-F238E27FC236}">
                    <a16:creationId xmlns:a16="http://schemas.microsoft.com/office/drawing/2014/main" id="{7E8EFBC8-7702-E7A9-D62C-9DD55144164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01" name="Line 412">
                <a:extLst>
                  <a:ext uri="{FF2B5EF4-FFF2-40B4-BE49-F238E27FC236}">
                    <a16:creationId xmlns:a16="http://schemas.microsoft.com/office/drawing/2014/main" id="{BFF8D894-BA30-B04D-37C8-F2FB9BF2FC9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194" name="AutoShape 413">
              <a:extLst>
                <a:ext uri="{FF2B5EF4-FFF2-40B4-BE49-F238E27FC236}">
                  <a16:creationId xmlns:a16="http://schemas.microsoft.com/office/drawing/2014/main" id="{A622EBED-9B41-213C-787C-34199394608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195" name="Group 414">
              <a:extLst>
                <a:ext uri="{FF2B5EF4-FFF2-40B4-BE49-F238E27FC236}">
                  <a16:creationId xmlns:a16="http://schemas.microsoft.com/office/drawing/2014/main" id="{D3955824-849A-67E7-4B69-BC9EC894B2F3}"/>
                </a:ext>
              </a:extLst>
            </p:cNvPr>
            <p:cNvGrpSpPr>
              <a:grpSpLocks/>
            </p:cNvGrpSpPr>
            <p:nvPr/>
          </p:nvGrpSpPr>
          <p:grpSpPr bwMode="auto">
            <a:xfrm>
              <a:off x="808" y="2802"/>
              <a:ext cx="140" cy="57"/>
              <a:chOff x="1440" y="1520"/>
              <a:chExt cx="156" cy="64"/>
            </a:xfrm>
          </p:grpSpPr>
          <p:sp>
            <p:nvSpPr>
              <p:cNvPr id="196" name="Line 415">
                <a:extLst>
                  <a:ext uri="{FF2B5EF4-FFF2-40B4-BE49-F238E27FC236}">
                    <a16:creationId xmlns:a16="http://schemas.microsoft.com/office/drawing/2014/main" id="{6F2842FA-A5F7-9BBE-30B9-BB98747D3EFB}"/>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7" name="Line 416">
                <a:extLst>
                  <a:ext uri="{FF2B5EF4-FFF2-40B4-BE49-F238E27FC236}">
                    <a16:creationId xmlns:a16="http://schemas.microsoft.com/office/drawing/2014/main" id="{4D394871-9303-EB05-3523-B253D2A6482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198" name="AutoShape 417">
                <a:extLst>
                  <a:ext uri="{FF2B5EF4-FFF2-40B4-BE49-F238E27FC236}">
                    <a16:creationId xmlns:a16="http://schemas.microsoft.com/office/drawing/2014/main" id="{53E673F4-D0DB-AAFC-0625-41E41FF8701F}"/>
                  </a:ext>
                </a:extLst>
              </p:cNvPr>
              <p:cNvCxnSpPr>
                <a:cxnSpLocks noChangeShapeType="1"/>
                <a:stCxn id="196" idx="1"/>
                <a:endCxn id="1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15" name="Group 432">
            <a:extLst>
              <a:ext uri="{FF2B5EF4-FFF2-40B4-BE49-F238E27FC236}">
                <a16:creationId xmlns:a16="http://schemas.microsoft.com/office/drawing/2014/main" id="{6E5DA14C-E775-18E0-10C7-A896940BED55}"/>
              </a:ext>
            </a:extLst>
          </p:cNvPr>
          <p:cNvGrpSpPr>
            <a:grpSpLocks/>
          </p:cNvGrpSpPr>
          <p:nvPr/>
        </p:nvGrpSpPr>
        <p:grpSpPr bwMode="auto">
          <a:xfrm>
            <a:off x="4396589" y="4827905"/>
            <a:ext cx="342900" cy="812800"/>
            <a:chOff x="752" y="2752"/>
            <a:chExt cx="216" cy="512"/>
          </a:xfrm>
        </p:grpSpPr>
        <p:sp>
          <p:nvSpPr>
            <p:cNvPr id="216" name="AutoShape 406">
              <a:extLst>
                <a:ext uri="{FF2B5EF4-FFF2-40B4-BE49-F238E27FC236}">
                  <a16:creationId xmlns:a16="http://schemas.microsoft.com/office/drawing/2014/main" id="{4931F387-7571-A459-8AD2-6AC5B4F0E7C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7" name="AutoShape 407">
              <a:extLst>
                <a:ext uri="{FF2B5EF4-FFF2-40B4-BE49-F238E27FC236}">
                  <a16:creationId xmlns:a16="http://schemas.microsoft.com/office/drawing/2014/main" id="{B9C2BE8F-75FB-D34B-75A8-BC5D6D5FD0C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18" name="AutoShape 408">
              <a:extLst>
                <a:ext uri="{FF2B5EF4-FFF2-40B4-BE49-F238E27FC236}">
                  <a16:creationId xmlns:a16="http://schemas.microsoft.com/office/drawing/2014/main" id="{0148E9EA-A6AC-8D12-4158-AA619ED0C26D}"/>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19" name="Group 409">
              <a:extLst>
                <a:ext uri="{FF2B5EF4-FFF2-40B4-BE49-F238E27FC236}">
                  <a16:creationId xmlns:a16="http://schemas.microsoft.com/office/drawing/2014/main" id="{02E2E1B2-7F75-31EE-C847-922868C496DC}"/>
                </a:ext>
              </a:extLst>
            </p:cNvPr>
            <p:cNvGrpSpPr>
              <a:grpSpLocks/>
            </p:cNvGrpSpPr>
            <p:nvPr/>
          </p:nvGrpSpPr>
          <p:grpSpPr bwMode="auto">
            <a:xfrm>
              <a:off x="752" y="2965"/>
              <a:ext cx="216" cy="299"/>
              <a:chOff x="576" y="1200"/>
              <a:chExt cx="240" cy="336"/>
            </a:xfrm>
          </p:grpSpPr>
          <p:sp>
            <p:nvSpPr>
              <p:cNvPr id="225" name="Rectangle 410">
                <a:extLst>
                  <a:ext uri="{FF2B5EF4-FFF2-40B4-BE49-F238E27FC236}">
                    <a16:creationId xmlns:a16="http://schemas.microsoft.com/office/drawing/2014/main" id="{2961F3E2-8AD8-FF6D-F6ED-419412582B4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26" name="Line 411">
                <a:extLst>
                  <a:ext uri="{FF2B5EF4-FFF2-40B4-BE49-F238E27FC236}">
                    <a16:creationId xmlns:a16="http://schemas.microsoft.com/office/drawing/2014/main" id="{535AA1B6-5D39-13EE-D7E0-5A0A41AF643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7" name="Line 412">
                <a:extLst>
                  <a:ext uri="{FF2B5EF4-FFF2-40B4-BE49-F238E27FC236}">
                    <a16:creationId xmlns:a16="http://schemas.microsoft.com/office/drawing/2014/main" id="{7F9E9FEE-EE65-E9F6-55AF-F5214654220C}"/>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20" name="AutoShape 413">
              <a:extLst>
                <a:ext uri="{FF2B5EF4-FFF2-40B4-BE49-F238E27FC236}">
                  <a16:creationId xmlns:a16="http://schemas.microsoft.com/office/drawing/2014/main" id="{7F14093D-60BF-D287-6530-4B254BB6B0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21" name="Group 414">
              <a:extLst>
                <a:ext uri="{FF2B5EF4-FFF2-40B4-BE49-F238E27FC236}">
                  <a16:creationId xmlns:a16="http://schemas.microsoft.com/office/drawing/2014/main" id="{F5E5461F-D49C-003F-42EF-8C3820D9FC48}"/>
                </a:ext>
              </a:extLst>
            </p:cNvPr>
            <p:cNvGrpSpPr>
              <a:grpSpLocks/>
            </p:cNvGrpSpPr>
            <p:nvPr/>
          </p:nvGrpSpPr>
          <p:grpSpPr bwMode="auto">
            <a:xfrm>
              <a:off x="808" y="2802"/>
              <a:ext cx="140" cy="57"/>
              <a:chOff x="1440" y="1520"/>
              <a:chExt cx="156" cy="64"/>
            </a:xfrm>
          </p:grpSpPr>
          <p:sp>
            <p:nvSpPr>
              <p:cNvPr id="222" name="Line 415">
                <a:extLst>
                  <a:ext uri="{FF2B5EF4-FFF2-40B4-BE49-F238E27FC236}">
                    <a16:creationId xmlns:a16="http://schemas.microsoft.com/office/drawing/2014/main" id="{C5EB4106-E0DA-F4C4-BF68-94E01D8AB77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23" name="Line 416">
                <a:extLst>
                  <a:ext uri="{FF2B5EF4-FFF2-40B4-BE49-F238E27FC236}">
                    <a16:creationId xmlns:a16="http://schemas.microsoft.com/office/drawing/2014/main" id="{BE444567-28BD-9701-2B4A-CB2355B85904}"/>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24" name="AutoShape 417">
                <a:extLst>
                  <a:ext uri="{FF2B5EF4-FFF2-40B4-BE49-F238E27FC236}">
                    <a16:creationId xmlns:a16="http://schemas.microsoft.com/office/drawing/2014/main" id="{B8986B68-B6BE-B191-3A95-9E684773A5BD}"/>
                  </a:ext>
                </a:extLst>
              </p:cNvPr>
              <p:cNvCxnSpPr>
                <a:cxnSpLocks noChangeShapeType="1"/>
                <a:stCxn id="222" idx="1"/>
                <a:endCxn id="22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228" name="Group 432">
            <a:extLst>
              <a:ext uri="{FF2B5EF4-FFF2-40B4-BE49-F238E27FC236}">
                <a16:creationId xmlns:a16="http://schemas.microsoft.com/office/drawing/2014/main" id="{D5A321D5-CDE7-8EA0-390D-78BE3592F828}"/>
              </a:ext>
            </a:extLst>
          </p:cNvPr>
          <p:cNvGrpSpPr>
            <a:grpSpLocks/>
          </p:cNvGrpSpPr>
          <p:nvPr/>
        </p:nvGrpSpPr>
        <p:grpSpPr bwMode="auto">
          <a:xfrm>
            <a:off x="2679549" y="4827905"/>
            <a:ext cx="342900" cy="812800"/>
            <a:chOff x="752" y="2752"/>
            <a:chExt cx="216" cy="512"/>
          </a:xfrm>
        </p:grpSpPr>
        <p:sp>
          <p:nvSpPr>
            <p:cNvPr id="229" name="AutoShape 406">
              <a:extLst>
                <a:ext uri="{FF2B5EF4-FFF2-40B4-BE49-F238E27FC236}">
                  <a16:creationId xmlns:a16="http://schemas.microsoft.com/office/drawing/2014/main" id="{A3839BFA-8296-9353-7D56-F7B0B1CECF31}"/>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0" name="AutoShape 407">
              <a:extLst>
                <a:ext uri="{FF2B5EF4-FFF2-40B4-BE49-F238E27FC236}">
                  <a16:creationId xmlns:a16="http://schemas.microsoft.com/office/drawing/2014/main" id="{F32CB6B4-C0D4-7C43-1A1F-A80A0D2CA94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1" name="AutoShape 408">
              <a:extLst>
                <a:ext uri="{FF2B5EF4-FFF2-40B4-BE49-F238E27FC236}">
                  <a16:creationId xmlns:a16="http://schemas.microsoft.com/office/drawing/2014/main" id="{F4057CE2-D691-96B0-66E7-7F3FEE1463C9}"/>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2" name="Group 409">
              <a:extLst>
                <a:ext uri="{FF2B5EF4-FFF2-40B4-BE49-F238E27FC236}">
                  <a16:creationId xmlns:a16="http://schemas.microsoft.com/office/drawing/2014/main" id="{A457A67E-D1E0-4F4D-A92B-15E413202F2F}"/>
                </a:ext>
              </a:extLst>
            </p:cNvPr>
            <p:cNvGrpSpPr>
              <a:grpSpLocks/>
            </p:cNvGrpSpPr>
            <p:nvPr/>
          </p:nvGrpSpPr>
          <p:grpSpPr bwMode="auto">
            <a:xfrm>
              <a:off x="752" y="2965"/>
              <a:ext cx="216" cy="299"/>
              <a:chOff x="576" y="1200"/>
              <a:chExt cx="240" cy="336"/>
            </a:xfrm>
          </p:grpSpPr>
          <p:sp>
            <p:nvSpPr>
              <p:cNvPr id="238" name="Rectangle 410">
                <a:extLst>
                  <a:ext uri="{FF2B5EF4-FFF2-40B4-BE49-F238E27FC236}">
                    <a16:creationId xmlns:a16="http://schemas.microsoft.com/office/drawing/2014/main" id="{9A31ACEF-42B9-9B45-F61D-4A4BC1A5D42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39" name="Line 411">
                <a:extLst>
                  <a:ext uri="{FF2B5EF4-FFF2-40B4-BE49-F238E27FC236}">
                    <a16:creationId xmlns:a16="http://schemas.microsoft.com/office/drawing/2014/main" id="{F80E053C-87F6-B19A-73A4-ADBD3D4BEBB9}"/>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40" name="Line 412">
                <a:extLst>
                  <a:ext uri="{FF2B5EF4-FFF2-40B4-BE49-F238E27FC236}">
                    <a16:creationId xmlns:a16="http://schemas.microsoft.com/office/drawing/2014/main" id="{01F693E7-E273-77C0-4F89-77D655CACD09}"/>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33" name="AutoShape 413">
              <a:extLst>
                <a:ext uri="{FF2B5EF4-FFF2-40B4-BE49-F238E27FC236}">
                  <a16:creationId xmlns:a16="http://schemas.microsoft.com/office/drawing/2014/main" id="{9BD590F8-FBF7-DC7D-0944-42F86D87F8AB}"/>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34" name="Group 414">
              <a:extLst>
                <a:ext uri="{FF2B5EF4-FFF2-40B4-BE49-F238E27FC236}">
                  <a16:creationId xmlns:a16="http://schemas.microsoft.com/office/drawing/2014/main" id="{E45C268E-3DC4-E0D9-EE7F-B620AC81CB46}"/>
                </a:ext>
              </a:extLst>
            </p:cNvPr>
            <p:cNvGrpSpPr>
              <a:grpSpLocks/>
            </p:cNvGrpSpPr>
            <p:nvPr/>
          </p:nvGrpSpPr>
          <p:grpSpPr bwMode="auto">
            <a:xfrm>
              <a:off x="808" y="2802"/>
              <a:ext cx="140" cy="57"/>
              <a:chOff x="1440" y="1520"/>
              <a:chExt cx="156" cy="64"/>
            </a:xfrm>
          </p:grpSpPr>
          <p:sp>
            <p:nvSpPr>
              <p:cNvPr id="235" name="Line 415">
                <a:extLst>
                  <a:ext uri="{FF2B5EF4-FFF2-40B4-BE49-F238E27FC236}">
                    <a16:creationId xmlns:a16="http://schemas.microsoft.com/office/drawing/2014/main" id="{D156D5BB-049B-0A36-BE9F-9FA6E240C9EE}"/>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36" name="Line 416">
                <a:extLst>
                  <a:ext uri="{FF2B5EF4-FFF2-40B4-BE49-F238E27FC236}">
                    <a16:creationId xmlns:a16="http://schemas.microsoft.com/office/drawing/2014/main" id="{F0705831-3685-54E9-48A5-2E5A7AAA2F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37" name="AutoShape 417">
                <a:extLst>
                  <a:ext uri="{FF2B5EF4-FFF2-40B4-BE49-F238E27FC236}">
                    <a16:creationId xmlns:a16="http://schemas.microsoft.com/office/drawing/2014/main" id="{07B84EA0-D3B6-2BC0-F9C3-B7F55FF2C022}"/>
                  </a:ext>
                </a:extLst>
              </p:cNvPr>
              <p:cNvCxnSpPr>
                <a:cxnSpLocks noChangeShapeType="1"/>
                <a:stCxn id="235" idx="1"/>
                <a:endCxn id="236"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41" name="Text Box 359">
            <a:extLst>
              <a:ext uri="{FF2B5EF4-FFF2-40B4-BE49-F238E27FC236}">
                <a16:creationId xmlns:a16="http://schemas.microsoft.com/office/drawing/2014/main" id="{4D92CDF5-FE3D-875C-491B-575FF66C265A}"/>
              </a:ext>
            </a:extLst>
          </p:cNvPr>
          <p:cNvSpPr txBox="1">
            <a:spLocks noChangeArrowheads="1"/>
          </p:cNvSpPr>
          <p:nvPr/>
        </p:nvSpPr>
        <p:spPr bwMode="auto">
          <a:xfrm>
            <a:off x="2580461" y="5126355"/>
            <a:ext cx="546100"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Mail Bag</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FIFO</a:t>
            </a:r>
          </a:p>
          <a:p>
            <a:pPr algn="ctr">
              <a:lnSpc>
                <a:spcPct val="100000"/>
              </a:lnSpc>
              <a:spcAft>
                <a:spcPct val="0"/>
              </a:spcAft>
              <a:buClrTx/>
              <a:buSzTx/>
              <a:buFontTx/>
              <a:buNone/>
            </a:pPr>
            <a:r>
              <a:rPr lang="en-US" altLang="en-US" sz="600" b="0" dirty="0">
                <a:latin typeface="Roboto" panose="02000000000000000000" pitchFamily="2" charset="0"/>
                <a:ea typeface="Roboto" panose="02000000000000000000" pitchFamily="2" charset="0"/>
                <a:cs typeface="Roboto" panose="02000000000000000000" pitchFamily="2" charset="0"/>
              </a:rPr>
              <a:t>32 </a:t>
            </a:r>
            <a:r>
              <a:rPr lang="en-US" altLang="en-US" sz="500" b="0" dirty="0">
                <a:latin typeface="Roboto" panose="02000000000000000000" pitchFamily="2" charset="0"/>
                <a:ea typeface="Roboto" panose="02000000000000000000" pitchFamily="2" charset="0"/>
                <a:cs typeface="Roboto" panose="02000000000000000000" pitchFamily="2" charset="0"/>
              </a:rPr>
              <a:t>Envelopes</a:t>
            </a:r>
          </a:p>
        </p:txBody>
      </p:sp>
      <p:sp>
        <p:nvSpPr>
          <p:cNvPr id="244" name="Text Box 473">
            <a:extLst>
              <a:ext uri="{FF2B5EF4-FFF2-40B4-BE49-F238E27FC236}">
                <a16:creationId xmlns:a16="http://schemas.microsoft.com/office/drawing/2014/main" id="{A3E605C6-A266-96DE-1C8B-A1C644450704}"/>
              </a:ext>
            </a:extLst>
          </p:cNvPr>
          <p:cNvSpPr txBox="1">
            <a:spLocks noChangeArrowheads="1"/>
          </p:cNvSpPr>
          <p:nvPr/>
        </p:nvSpPr>
        <p:spPr bwMode="auto">
          <a:xfrm>
            <a:off x="4290943" y="5143771"/>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63 </a:t>
            </a:r>
            <a:r>
              <a:rPr lang="en-US" altLang="en-US" sz="500" b="0" dirty="0"/>
              <a:t>Applications</a:t>
            </a:r>
          </a:p>
        </p:txBody>
      </p:sp>
      <p:grpSp>
        <p:nvGrpSpPr>
          <p:cNvPr id="245" name="Group 432">
            <a:extLst>
              <a:ext uri="{FF2B5EF4-FFF2-40B4-BE49-F238E27FC236}">
                <a16:creationId xmlns:a16="http://schemas.microsoft.com/office/drawing/2014/main" id="{4D97A423-B40D-D9EB-95D3-9712845BC1C9}"/>
              </a:ext>
            </a:extLst>
          </p:cNvPr>
          <p:cNvGrpSpPr>
            <a:grpSpLocks/>
          </p:cNvGrpSpPr>
          <p:nvPr/>
        </p:nvGrpSpPr>
        <p:grpSpPr bwMode="auto">
          <a:xfrm>
            <a:off x="5960965" y="4820024"/>
            <a:ext cx="342900" cy="812800"/>
            <a:chOff x="752" y="2752"/>
            <a:chExt cx="216" cy="512"/>
          </a:xfrm>
        </p:grpSpPr>
        <p:sp>
          <p:nvSpPr>
            <p:cNvPr id="246" name="AutoShape 406">
              <a:extLst>
                <a:ext uri="{FF2B5EF4-FFF2-40B4-BE49-F238E27FC236}">
                  <a16:creationId xmlns:a16="http://schemas.microsoft.com/office/drawing/2014/main" id="{2F5640A7-EB08-F7AB-734C-1560AB3190AC}"/>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7" name="AutoShape 407">
              <a:extLst>
                <a:ext uri="{FF2B5EF4-FFF2-40B4-BE49-F238E27FC236}">
                  <a16:creationId xmlns:a16="http://schemas.microsoft.com/office/drawing/2014/main" id="{19E2749B-948E-DE21-A8A1-4B534EB2B754}"/>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48" name="AutoShape 408">
              <a:extLst>
                <a:ext uri="{FF2B5EF4-FFF2-40B4-BE49-F238E27FC236}">
                  <a16:creationId xmlns:a16="http://schemas.microsoft.com/office/drawing/2014/main" id="{76A29C6D-9A4F-FE16-00ED-8137FD2A8BDA}"/>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49" name="Group 409">
              <a:extLst>
                <a:ext uri="{FF2B5EF4-FFF2-40B4-BE49-F238E27FC236}">
                  <a16:creationId xmlns:a16="http://schemas.microsoft.com/office/drawing/2014/main" id="{426D40CD-A5A6-6F26-08A5-7EB60928ED7A}"/>
                </a:ext>
              </a:extLst>
            </p:cNvPr>
            <p:cNvGrpSpPr>
              <a:grpSpLocks/>
            </p:cNvGrpSpPr>
            <p:nvPr/>
          </p:nvGrpSpPr>
          <p:grpSpPr bwMode="auto">
            <a:xfrm>
              <a:off x="752" y="2965"/>
              <a:ext cx="216" cy="299"/>
              <a:chOff x="576" y="1200"/>
              <a:chExt cx="240" cy="336"/>
            </a:xfrm>
          </p:grpSpPr>
          <p:sp>
            <p:nvSpPr>
              <p:cNvPr id="255" name="Rectangle 410">
                <a:extLst>
                  <a:ext uri="{FF2B5EF4-FFF2-40B4-BE49-F238E27FC236}">
                    <a16:creationId xmlns:a16="http://schemas.microsoft.com/office/drawing/2014/main" id="{A35D3461-0E28-2831-A031-FD6EB6D4C8F2}"/>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256" name="Line 411">
                <a:extLst>
                  <a:ext uri="{FF2B5EF4-FFF2-40B4-BE49-F238E27FC236}">
                    <a16:creationId xmlns:a16="http://schemas.microsoft.com/office/drawing/2014/main" id="{FE92A068-FC7D-EA05-2986-A3B8BD838ED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7" name="Line 412">
                <a:extLst>
                  <a:ext uri="{FF2B5EF4-FFF2-40B4-BE49-F238E27FC236}">
                    <a16:creationId xmlns:a16="http://schemas.microsoft.com/office/drawing/2014/main" id="{A7953C20-E4B8-2709-843B-4D36913127F3}"/>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0" name="AutoShape 413">
              <a:extLst>
                <a:ext uri="{FF2B5EF4-FFF2-40B4-BE49-F238E27FC236}">
                  <a16:creationId xmlns:a16="http://schemas.microsoft.com/office/drawing/2014/main" id="{BC363846-C5AD-A9E8-162C-2239A80A2BA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grpSp>
          <p:nvGrpSpPr>
            <p:cNvPr id="251" name="Group 414">
              <a:extLst>
                <a:ext uri="{FF2B5EF4-FFF2-40B4-BE49-F238E27FC236}">
                  <a16:creationId xmlns:a16="http://schemas.microsoft.com/office/drawing/2014/main" id="{95976AAA-7C79-73B2-738A-56454A6BD162}"/>
                </a:ext>
              </a:extLst>
            </p:cNvPr>
            <p:cNvGrpSpPr>
              <a:grpSpLocks/>
            </p:cNvGrpSpPr>
            <p:nvPr/>
          </p:nvGrpSpPr>
          <p:grpSpPr bwMode="auto">
            <a:xfrm>
              <a:off x="808" y="2802"/>
              <a:ext cx="140" cy="57"/>
              <a:chOff x="1440" y="1520"/>
              <a:chExt cx="156" cy="64"/>
            </a:xfrm>
          </p:grpSpPr>
          <p:sp>
            <p:nvSpPr>
              <p:cNvPr id="252" name="Line 415">
                <a:extLst>
                  <a:ext uri="{FF2B5EF4-FFF2-40B4-BE49-F238E27FC236}">
                    <a16:creationId xmlns:a16="http://schemas.microsoft.com/office/drawing/2014/main" id="{A11CD934-6714-4434-843C-2D4D56ECB1DC}"/>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53" name="Line 416">
                <a:extLst>
                  <a:ext uri="{FF2B5EF4-FFF2-40B4-BE49-F238E27FC236}">
                    <a16:creationId xmlns:a16="http://schemas.microsoft.com/office/drawing/2014/main" id="{1CE8D847-3C64-C433-789A-982AB1618D30}"/>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cxnSp>
            <p:nvCxnSpPr>
              <p:cNvPr id="254" name="AutoShape 417">
                <a:extLst>
                  <a:ext uri="{FF2B5EF4-FFF2-40B4-BE49-F238E27FC236}">
                    <a16:creationId xmlns:a16="http://schemas.microsoft.com/office/drawing/2014/main" id="{A3CB318A-F917-7A2E-3DCF-BFFB41157982}"/>
                  </a:ext>
                </a:extLst>
              </p:cNvPr>
              <p:cNvCxnSpPr>
                <a:cxnSpLocks noChangeShapeType="1"/>
                <a:stCxn id="252" idx="1"/>
                <a:endCxn id="253"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84" name="Text Box 360">
            <a:extLst>
              <a:ext uri="{FF2B5EF4-FFF2-40B4-BE49-F238E27FC236}">
                <a16:creationId xmlns:a16="http://schemas.microsoft.com/office/drawing/2014/main" id="{380FD599-235E-CF6D-CC8F-829A1E46FDEF}"/>
              </a:ext>
            </a:extLst>
          </p:cNvPr>
          <p:cNvSpPr txBox="1">
            <a:spLocks noChangeArrowheads="1"/>
          </p:cNvSpPr>
          <p:nvPr/>
        </p:nvSpPr>
        <p:spPr bwMode="auto">
          <a:xfrm>
            <a:off x="5849712" y="5134443"/>
            <a:ext cx="5619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FIFO</a:t>
            </a:r>
          </a:p>
          <a:p>
            <a:pPr algn="ctr">
              <a:lnSpc>
                <a:spcPct val="100000"/>
              </a:lnSpc>
              <a:spcAft>
                <a:spcPct val="0"/>
              </a:spcAft>
              <a:buClrTx/>
              <a:buSzTx/>
              <a:buFontTx/>
              <a:buNone/>
            </a:pPr>
            <a:r>
              <a:rPr lang="en-US" altLang="en-US" sz="600" b="0" dirty="0"/>
              <a:t>0 </a:t>
            </a:r>
            <a:r>
              <a:rPr lang="en-US" altLang="en-US" sz="500" b="0" dirty="0"/>
              <a:t>Applications</a:t>
            </a:r>
          </a:p>
        </p:txBody>
      </p:sp>
      <p:sp>
        <p:nvSpPr>
          <p:cNvPr id="285" name="Text Box 358">
            <a:extLst>
              <a:ext uri="{FF2B5EF4-FFF2-40B4-BE49-F238E27FC236}">
                <a16:creationId xmlns:a16="http://schemas.microsoft.com/office/drawing/2014/main" id="{13FFB058-3D79-B7E4-23F7-410F28F73B50}"/>
              </a:ext>
            </a:extLst>
          </p:cNvPr>
          <p:cNvSpPr txBox="1">
            <a:spLocks noChangeArrowheads="1"/>
          </p:cNvSpPr>
          <p:nvPr/>
        </p:nvSpPr>
        <p:spPr bwMode="auto">
          <a:xfrm>
            <a:off x="7344276" y="5131938"/>
            <a:ext cx="56673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dirty="0"/>
              <a:t>In Box</a:t>
            </a:r>
          </a:p>
          <a:p>
            <a:pPr algn="ctr">
              <a:lnSpc>
                <a:spcPct val="100000"/>
              </a:lnSpc>
              <a:spcAft>
                <a:spcPct val="0"/>
              </a:spcAft>
              <a:buClrTx/>
              <a:buSzTx/>
              <a:buFontTx/>
              <a:buNone/>
            </a:pPr>
            <a:r>
              <a:rPr lang="en-US" altLang="en-US" sz="600" b="0" dirty="0"/>
              <a:t>Zip Code</a:t>
            </a:r>
          </a:p>
          <a:p>
            <a:pPr algn="ctr">
              <a:lnSpc>
                <a:spcPct val="100000"/>
              </a:lnSpc>
              <a:spcAft>
                <a:spcPct val="0"/>
              </a:spcAft>
              <a:buClrTx/>
              <a:buSzTx/>
              <a:buFontTx/>
              <a:buNone/>
            </a:pPr>
            <a:r>
              <a:rPr lang="en-US" altLang="en-US" sz="600" b="0" dirty="0"/>
              <a:t>32 </a:t>
            </a:r>
            <a:r>
              <a:rPr lang="en-US" altLang="en-US" sz="500" b="0" dirty="0"/>
              <a:t>Packages</a:t>
            </a:r>
          </a:p>
        </p:txBody>
      </p:sp>
      <p:sp>
        <p:nvSpPr>
          <p:cNvPr id="87" name="Text Box 306">
            <a:extLst>
              <a:ext uri="{FF2B5EF4-FFF2-40B4-BE49-F238E27FC236}">
                <a16:creationId xmlns:a16="http://schemas.microsoft.com/office/drawing/2014/main" id="{F605C887-6D06-FB94-5CFA-47C6D430F792}"/>
              </a:ext>
            </a:extLst>
          </p:cNvPr>
          <p:cNvSpPr txBox="1">
            <a:spLocks noChangeArrowheads="1"/>
          </p:cNvSpPr>
          <p:nvPr/>
        </p:nvSpPr>
        <p:spPr bwMode="auto">
          <a:xfrm>
            <a:off x="6502273" y="4015416"/>
            <a:ext cx="10033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800" b="0" dirty="0">
                <a:latin typeface="Roboto" panose="02000000000000000000" pitchFamily="2" charset="0"/>
                <a:ea typeface="Roboto" panose="02000000000000000000" pitchFamily="2" charset="0"/>
                <a:cs typeface="Roboto" panose="02000000000000000000" pitchFamily="2" charset="0"/>
              </a:rPr>
              <a:t>24 packages/day</a:t>
            </a:r>
          </a:p>
        </p:txBody>
      </p:sp>
      <p:sp>
        <p:nvSpPr>
          <p:cNvPr id="94" name="Line 186">
            <a:extLst>
              <a:ext uri="{FF2B5EF4-FFF2-40B4-BE49-F238E27FC236}">
                <a16:creationId xmlns:a16="http://schemas.microsoft.com/office/drawing/2014/main" id="{7D6BFFB0-EEAA-3C4E-1A02-9BC311A50666}"/>
              </a:ext>
            </a:extLst>
          </p:cNvPr>
          <p:cNvSpPr>
            <a:spLocks noChangeShapeType="1"/>
          </p:cNvSpPr>
          <p:nvPr/>
        </p:nvSpPr>
        <p:spPr bwMode="auto">
          <a:xfrm>
            <a:off x="8346868" y="6171075"/>
            <a:ext cx="1128713" cy="5888"/>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95" name="Rectangle 187">
            <a:extLst>
              <a:ext uri="{FF2B5EF4-FFF2-40B4-BE49-F238E27FC236}">
                <a16:creationId xmlns:a16="http://schemas.microsoft.com/office/drawing/2014/main" id="{3D696BC0-D9B8-0B29-3B90-CE9CB9C795CF}"/>
              </a:ext>
            </a:extLst>
          </p:cNvPr>
          <p:cNvSpPr>
            <a:spLocks noChangeArrowheads="1"/>
          </p:cNvSpPr>
          <p:nvPr/>
        </p:nvSpPr>
        <p:spPr bwMode="auto">
          <a:xfrm>
            <a:off x="8346868" y="6002338"/>
            <a:ext cx="1128713" cy="34925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marL="176213" indent="-176213">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20000"/>
              </a:spcBef>
              <a:spcAft>
                <a:spcPct val="0"/>
              </a:spcAft>
              <a:buClrTx/>
              <a:buSzTx/>
              <a:buFontTx/>
              <a:buChar char="•"/>
            </a:pPr>
            <a:endParaRPr lang="en-US" altLang="en-US" sz="1600" dirty="0"/>
          </a:p>
        </p:txBody>
      </p:sp>
      <p:sp>
        <p:nvSpPr>
          <p:cNvPr id="96" name="Text Box 185">
            <a:extLst>
              <a:ext uri="{FF2B5EF4-FFF2-40B4-BE49-F238E27FC236}">
                <a16:creationId xmlns:a16="http://schemas.microsoft.com/office/drawing/2014/main" id="{0B42E658-528D-8CA7-C9CF-D1D8E7516C87}"/>
              </a:ext>
            </a:extLst>
          </p:cNvPr>
          <p:cNvSpPr txBox="1">
            <a:spLocks noChangeArrowheads="1"/>
          </p:cNvSpPr>
          <p:nvPr/>
        </p:nvSpPr>
        <p:spPr bwMode="auto">
          <a:xfrm>
            <a:off x="8349866" y="5987488"/>
            <a:ext cx="1158875"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r">
              <a:lnSpc>
                <a:spcPct val="100000"/>
              </a:lnSpc>
              <a:spcBef>
                <a:spcPct val="30000"/>
              </a:spcBef>
              <a:spcAft>
                <a:spcPct val="0"/>
              </a:spcAft>
              <a:buClrTx/>
              <a:buSzTx/>
              <a:buFontTx/>
              <a:buNone/>
            </a:pPr>
            <a:r>
              <a:rPr lang="en-US" altLang="en-US" sz="800" dirty="0"/>
              <a:t>L.T. =  1 day    </a:t>
            </a:r>
          </a:p>
          <a:p>
            <a:pPr algn="r">
              <a:lnSpc>
                <a:spcPct val="100000"/>
              </a:lnSpc>
              <a:spcBef>
                <a:spcPct val="30000"/>
              </a:spcBef>
              <a:spcAft>
                <a:spcPct val="0"/>
              </a:spcAft>
              <a:buClrTx/>
              <a:buSzTx/>
              <a:buFontTx/>
              <a:buNone/>
            </a:pPr>
            <a:r>
              <a:rPr lang="en-US" altLang="en-US" sz="800" dirty="0"/>
              <a:t>P.T = 1,980 seconds</a:t>
            </a:r>
          </a:p>
        </p:txBody>
      </p:sp>
      <p:sp>
        <p:nvSpPr>
          <p:cNvPr id="114" name="Text Box 187">
            <a:extLst>
              <a:ext uri="{FF2B5EF4-FFF2-40B4-BE49-F238E27FC236}">
                <a16:creationId xmlns:a16="http://schemas.microsoft.com/office/drawing/2014/main" id="{8B724DE6-2113-6E71-2378-9675DFE1B95E}"/>
              </a:ext>
            </a:extLst>
          </p:cNvPr>
          <p:cNvSpPr txBox="1">
            <a:spLocks noChangeArrowheads="1"/>
          </p:cNvSpPr>
          <p:nvPr/>
        </p:nvSpPr>
        <p:spPr bwMode="auto">
          <a:xfrm>
            <a:off x="3010481" y="2217448"/>
            <a:ext cx="11684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rPr>
              <a:t>Application Loop</a:t>
            </a:r>
          </a:p>
        </p:txBody>
      </p:sp>
      <p:sp>
        <p:nvSpPr>
          <p:cNvPr id="115" name="Freeform 191">
            <a:extLst>
              <a:ext uri="{FF2B5EF4-FFF2-40B4-BE49-F238E27FC236}">
                <a16:creationId xmlns:a16="http://schemas.microsoft.com/office/drawing/2014/main" id="{35D25E21-1869-57CC-59BB-9FE818C8A706}"/>
              </a:ext>
            </a:extLst>
          </p:cNvPr>
          <p:cNvSpPr>
            <a:spLocks/>
          </p:cNvSpPr>
          <p:nvPr/>
        </p:nvSpPr>
        <p:spPr bwMode="auto">
          <a:xfrm>
            <a:off x="4351969" y="3796484"/>
            <a:ext cx="1889125" cy="2162175"/>
          </a:xfrm>
          <a:custGeom>
            <a:avLst/>
            <a:gdLst>
              <a:gd name="T0" fmla="*/ 2147483646 w 1190"/>
              <a:gd name="T1" fmla="*/ 2147483646 h 1362"/>
              <a:gd name="T2" fmla="*/ 2147483646 w 1190"/>
              <a:gd name="T3" fmla="*/ 2147483646 h 1362"/>
              <a:gd name="T4" fmla="*/ 2147483646 w 1190"/>
              <a:gd name="T5" fmla="*/ 2147483646 h 1362"/>
              <a:gd name="T6" fmla="*/ 2147483646 w 1190"/>
              <a:gd name="T7" fmla="*/ 2147483646 h 1362"/>
              <a:gd name="T8" fmla="*/ 2147483646 w 1190"/>
              <a:gd name="T9" fmla="*/ 2147483646 h 1362"/>
              <a:gd name="T10" fmla="*/ 2147483646 w 1190"/>
              <a:gd name="T11" fmla="*/ 2147483646 h 1362"/>
              <a:gd name="T12" fmla="*/ 2147483646 w 1190"/>
              <a:gd name="T13" fmla="*/ 2147483646 h 1362"/>
              <a:gd name="T14" fmla="*/ 2147483646 w 1190"/>
              <a:gd name="T15" fmla="*/ 2147483646 h 1362"/>
              <a:gd name="T16" fmla="*/ 2147483646 w 1190"/>
              <a:gd name="T17" fmla="*/ 2147483646 h 1362"/>
              <a:gd name="T18" fmla="*/ 2147483646 w 1190"/>
              <a:gd name="T19" fmla="*/ 2147483646 h 1362"/>
              <a:gd name="T20" fmla="*/ 2147483646 w 1190"/>
              <a:gd name="T21" fmla="*/ 2147483646 h 1362"/>
              <a:gd name="T22" fmla="*/ 2147483646 w 1190"/>
              <a:gd name="T23" fmla="*/ 2147483646 h 1362"/>
              <a:gd name="T24" fmla="*/ 2147483646 w 1190"/>
              <a:gd name="T25" fmla="*/ 2147483646 h 1362"/>
              <a:gd name="T26" fmla="*/ 2147483646 w 1190"/>
              <a:gd name="T27" fmla="*/ 2147483646 h 1362"/>
              <a:gd name="T28" fmla="*/ 2147483646 w 1190"/>
              <a:gd name="T29" fmla="*/ 2147483646 h 1362"/>
              <a:gd name="T30" fmla="*/ 2147483646 w 1190"/>
              <a:gd name="T31" fmla="*/ 2147483646 h 1362"/>
              <a:gd name="T32" fmla="*/ 2147483646 w 1190"/>
              <a:gd name="T33" fmla="*/ 2147483646 h 1362"/>
              <a:gd name="T34" fmla="*/ 2147483646 w 1190"/>
              <a:gd name="T35" fmla="*/ 2147483646 h 1362"/>
              <a:gd name="T36" fmla="*/ 2147483646 w 1190"/>
              <a:gd name="T37" fmla="*/ 2147483646 h 1362"/>
              <a:gd name="T38" fmla="*/ 2147483646 w 1190"/>
              <a:gd name="T39" fmla="*/ 2147483646 h 1362"/>
              <a:gd name="T40" fmla="*/ 2147483646 w 1190"/>
              <a:gd name="T41" fmla="*/ 2147483646 h 1362"/>
              <a:gd name="T42" fmla="*/ 2147483646 w 1190"/>
              <a:gd name="T43" fmla="*/ 2147483646 h 1362"/>
              <a:gd name="T44" fmla="*/ 2147483646 w 1190"/>
              <a:gd name="T45" fmla="*/ 2147483646 h 1362"/>
              <a:gd name="T46" fmla="*/ 2147483646 w 1190"/>
              <a:gd name="T47" fmla="*/ 2147483646 h 1362"/>
              <a:gd name="T48" fmla="*/ 2147483646 w 1190"/>
              <a:gd name="T49" fmla="*/ 2147483646 h 1362"/>
              <a:gd name="T50" fmla="*/ 2147483646 w 1190"/>
              <a:gd name="T51" fmla="*/ 2147483646 h 1362"/>
              <a:gd name="T52" fmla="*/ 2147483646 w 1190"/>
              <a:gd name="T53" fmla="*/ 2147483646 h 1362"/>
              <a:gd name="T54" fmla="*/ 2147483646 w 1190"/>
              <a:gd name="T55" fmla="*/ 2147483646 h 1362"/>
              <a:gd name="T56" fmla="*/ 2147483646 w 1190"/>
              <a:gd name="T57" fmla="*/ 2147483646 h 1362"/>
              <a:gd name="T58" fmla="*/ 2147483646 w 1190"/>
              <a:gd name="T59" fmla="*/ 2147483646 h 1362"/>
              <a:gd name="T60" fmla="*/ 2147483646 w 1190"/>
              <a:gd name="T61" fmla="*/ 2147483646 h 1362"/>
              <a:gd name="T62" fmla="*/ 2147483646 w 1190"/>
              <a:gd name="T63" fmla="*/ 2147483646 h 1362"/>
              <a:gd name="T64" fmla="*/ 2147483646 w 1190"/>
              <a:gd name="T65" fmla="*/ 2147483646 h 1362"/>
              <a:gd name="T66" fmla="*/ 2147483646 w 1190"/>
              <a:gd name="T67" fmla="*/ 2147483646 h 1362"/>
              <a:gd name="T68" fmla="*/ 2147483646 w 1190"/>
              <a:gd name="T69" fmla="*/ 2147483646 h 1362"/>
              <a:gd name="T70" fmla="*/ 2147483646 w 1190"/>
              <a:gd name="T71" fmla="*/ 2147483646 h 1362"/>
              <a:gd name="T72" fmla="*/ 2147483646 w 1190"/>
              <a:gd name="T73" fmla="*/ 2147483646 h 1362"/>
              <a:gd name="T74" fmla="*/ 2147483646 w 1190"/>
              <a:gd name="T75" fmla="*/ 2147483646 h 1362"/>
              <a:gd name="T76" fmla="*/ 2147483646 w 1190"/>
              <a:gd name="T77" fmla="*/ 2147483646 h 1362"/>
              <a:gd name="T78" fmla="*/ 2147483646 w 1190"/>
              <a:gd name="T79" fmla="*/ 2147483646 h 13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90"/>
              <a:gd name="T121" fmla="*/ 0 h 1362"/>
              <a:gd name="T122" fmla="*/ 1190 w 1190"/>
              <a:gd name="T123" fmla="*/ 1362 h 136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90" h="1362">
                <a:moveTo>
                  <a:pt x="1102" y="1291"/>
                </a:moveTo>
                <a:cubicBezTo>
                  <a:pt x="1071" y="1301"/>
                  <a:pt x="1045" y="1320"/>
                  <a:pt x="1012" y="1327"/>
                </a:cubicBezTo>
                <a:cubicBezTo>
                  <a:pt x="941" y="1342"/>
                  <a:pt x="871" y="1346"/>
                  <a:pt x="799" y="1351"/>
                </a:cubicBezTo>
                <a:cubicBezTo>
                  <a:pt x="743" y="1362"/>
                  <a:pt x="673" y="1359"/>
                  <a:pt x="619" y="1360"/>
                </a:cubicBezTo>
                <a:cubicBezTo>
                  <a:pt x="542" y="1355"/>
                  <a:pt x="478" y="1344"/>
                  <a:pt x="403" y="1330"/>
                </a:cubicBezTo>
                <a:cubicBezTo>
                  <a:pt x="361" y="1322"/>
                  <a:pt x="397" y="1326"/>
                  <a:pt x="352" y="1318"/>
                </a:cubicBezTo>
                <a:cubicBezTo>
                  <a:pt x="331" y="1315"/>
                  <a:pt x="289" y="1309"/>
                  <a:pt x="289" y="1309"/>
                </a:cubicBezTo>
                <a:cubicBezTo>
                  <a:pt x="275" y="1304"/>
                  <a:pt x="240" y="1295"/>
                  <a:pt x="229" y="1288"/>
                </a:cubicBezTo>
                <a:cubicBezTo>
                  <a:pt x="202" y="1270"/>
                  <a:pt x="173" y="1249"/>
                  <a:pt x="142" y="1237"/>
                </a:cubicBezTo>
                <a:cubicBezTo>
                  <a:pt x="131" y="1221"/>
                  <a:pt x="129" y="1211"/>
                  <a:pt x="112" y="1198"/>
                </a:cubicBezTo>
                <a:cubicBezTo>
                  <a:pt x="105" y="1183"/>
                  <a:pt x="94" y="1173"/>
                  <a:pt x="85" y="1159"/>
                </a:cubicBezTo>
                <a:cubicBezTo>
                  <a:pt x="80" y="1151"/>
                  <a:pt x="78" y="1140"/>
                  <a:pt x="73" y="1132"/>
                </a:cubicBezTo>
                <a:cubicBezTo>
                  <a:pt x="65" y="1117"/>
                  <a:pt x="53" y="1104"/>
                  <a:pt x="43" y="1090"/>
                </a:cubicBezTo>
                <a:cubicBezTo>
                  <a:pt x="38" y="1076"/>
                  <a:pt x="32" y="1065"/>
                  <a:pt x="28" y="1051"/>
                </a:cubicBezTo>
                <a:cubicBezTo>
                  <a:pt x="19" y="954"/>
                  <a:pt x="21" y="857"/>
                  <a:pt x="7" y="760"/>
                </a:cubicBezTo>
                <a:cubicBezTo>
                  <a:pt x="6" y="639"/>
                  <a:pt x="0" y="536"/>
                  <a:pt x="10" y="421"/>
                </a:cubicBezTo>
                <a:cubicBezTo>
                  <a:pt x="10" y="405"/>
                  <a:pt x="8" y="267"/>
                  <a:pt x="31" y="250"/>
                </a:cubicBezTo>
                <a:cubicBezTo>
                  <a:pt x="42" y="217"/>
                  <a:pt x="24" y="266"/>
                  <a:pt x="43" y="235"/>
                </a:cubicBezTo>
                <a:cubicBezTo>
                  <a:pt x="50" y="224"/>
                  <a:pt x="52" y="199"/>
                  <a:pt x="61" y="190"/>
                </a:cubicBezTo>
                <a:cubicBezTo>
                  <a:pt x="74" y="177"/>
                  <a:pt x="91" y="161"/>
                  <a:pt x="106" y="151"/>
                </a:cubicBezTo>
                <a:cubicBezTo>
                  <a:pt x="119" y="142"/>
                  <a:pt x="137" y="138"/>
                  <a:pt x="151" y="130"/>
                </a:cubicBezTo>
                <a:cubicBezTo>
                  <a:pt x="165" y="122"/>
                  <a:pt x="174" y="111"/>
                  <a:pt x="187" y="103"/>
                </a:cubicBezTo>
                <a:cubicBezTo>
                  <a:pt x="206" y="91"/>
                  <a:pt x="215" y="91"/>
                  <a:pt x="235" y="85"/>
                </a:cubicBezTo>
                <a:cubicBezTo>
                  <a:pt x="254" y="79"/>
                  <a:pt x="270" y="69"/>
                  <a:pt x="289" y="64"/>
                </a:cubicBezTo>
                <a:cubicBezTo>
                  <a:pt x="384" y="0"/>
                  <a:pt x="511" y="11"/>
                  <a:pt x="619" y="1"/>
                </a:cubicBezTo>
                <a:cubicBezTo>
                  <a:pt x="704" y="6"/>
                  <a:pt x="789" y="6"/>
                  <a:pt x="874" y="13"/>
                </a:cubicBezTo>
                <a:cubicBezTo>
                  <a:pt x="901" y="18"/>
                  <a:pt x="928" y="19"/>
                  <a:pt x="955" y="22"/>
                </a:cubicBezTo>
                <a:cubicBezTo>
                  <a:pt x="976" y="28"/>
                  <a:pt x="998" y="31"/>
                  <a:pt x="1018" y="40"/>
                </a:cubicBezTo>
                <a:cubicBezTo>
                  <a:pt x="1032" y="46"/>
                  <a:pt x="1057" y="61"/>
                  <a:pt x="1057" y="61"/>
                </a:cubicBezTo>
                <a:cubicBezTo>
                  <a:pt x="1081" y="96"/>
                  <a:pt x="1068" y="125"/>
                  <a:pt x="1114" y="148"/>
                </a:cubicBezTo>
                <a:cubicBezTo>
                  <a:pt x="1128" y="168"/>
                  <a:pt x="1137" y="177"/>
                  <a:pt x="1144" y="199"/>
                </a:cubicBezTo>
                <a:cubicBezTo>
                  <a:pt x="1147" y="257"/>
                  <a:pt x="1145" y="324"/>
                  <a:pt x="1156" y="379"/>
                </a:cubicBezTo>
                <a:cubicBezTo>
                  <a:pt x="1159" y="431"/>
                  <a:pt x="1155" y="495"/>
                  <a:pt x="1171" y="544"/>
                </a:cubicBezTo>
                <a:cubicBezTo>
                  <a:pt x="1176" y="626"/>
                  <a:pt x="1178" y="708"/>
                  <a:pt x="1186" y="790"/>
                </a:cubicBezTo>
                <a:cubicBezTo>
                  <a:pt x="1190" y="929"/>
                  <a:pt x="1186" y="1071"/>
                  <a:pt x="1183" y="1210"/>
                </a:cubicBezTo>
                <a:cubicBezTo>
                  <a:pt x="1182" y="1239"/>
                  <a:pt x="1177" y="1255"/>
                  <a:pt x="1156" y="1273"/>
                </a:cubicBezTo>
                <a:cubicBezTo>
                  <a:pt x="1146" y="1282"/>
                  <a:pt x="1117" y="1285"/>
                  <a:pt x="1117" y="1285"/>
                </a:cubicBezTo>
                <a:cubicBezTo>
                  <a:pt x="1114" y="1287"/>
                  <a:pt x="1111" y="1290"/>
                  <a:pt x="1108" y="1291"/>
                </a:cubicBezTo>
                <a:cubicBezTo>
                  <a:pt x="1102" y="1294"/>
                  <a:pt x="1084" y="1300"/>
                  <a:pt x="1090" y="1297"/>
                </a:cubicBezTo>
                <a:cubicBezTo>
                  <a:pt x="1094" y="1295"/>
                  <a:pt x="1098" y="1293"/>
                  <a:pt x="1102" y="1291"/>
                </a:cubicBezTo>
                <a:close/>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lstStyle/>
          <a:p>
            <a:endParaRPr lang="en-US" dirty="0"/>
          </a:p>
        </p:txBody>
      </p:sp>
      <p:sp>
        <p:nvSpPr>
          <p:cNvPr id="116" name="Text Box 192">
            <a:extLst>
              <a:ext uri="{FF2B5EF4-FFF2-40B4-BE49-F238E27FC236}">
                <a16:creationId xmlns:a16="http://schemas.microsoft.com/office/drawing/2014/main" id="{5758960E-12ED-791D-052F-098E98B309EC}"/>
              </a:ext>
            </a:extLst>
          </p:cNvPr>
          <p:cNvSpPr txBox="1">
            <a:spLocks noChangeArrowheads="1"/>
          </p:cNvSpPr>
          <p:nvPr/>
        </p:nvSpPr>
        <p:spPr bwMode="auto">
          <a:xfrm>
            <a:off x="5947316" y="3280685"/>
            <a:ext cx="11684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rPr>
              <a:t>Decision Loop</a:t>
            </a:r>
          </a:p>
        </p:txBody>
      </p:sp>
      <p:sp>
        <p:nvSpPr>
          <p:cNvPr id="117" name="Line 193">
            <a:extLst>
              <a:ext uri="{FF2B5EF4-FFF2-40B4-BE49-F238E27FC236}">
                <a16:creationId xmlns:a16="http://schemas.microsoft.com/office/drawing/2014/main" id="{D10211C8-8362-5289-C524-2477E9A1B967}"/>
              </a:ext>
            </a:extLst>
          </p:cNvPr>
          <p:cNvSpPr>
            <a:spLocks noChangeShapeType="1"/>
          </p:cNvSpPr>
          <p:nvPr/>
        </p:nvSpPr>
        <p:spPr bwMode="auto">
          <a:xfrm flipH="1">
            <a:off x="5949548" y="3688273"/>
            <a:ext cx="298449" cy="344748"/>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118" name="Freeform 194">
            <a:extLst>
              <a:ext uri="{FF2B5EF4-FFF2-40B4-BE49-F238E27FC236}">
                <a16:creationId xmlns:a16="http://schemas.microsoft.com/office/drawing/2014/main" id="{5A3A6810-69F6-E4C0-D451-49CA897633EC}"/>
              </a:ext>
            </a:extLst>
          </p:cNvPr>
          <p:cNvSpPr>
            <a:spLocks/>
          </p:cNvSpPr>
          <p:nvPr/>
        </p:nvSpPr>
        <p:spPr bwMode="auto">
          <a:xfrm>
            <a:off x="6108299" y="3720022"/>
            <a:ext cx="2571750" cy="2343411"/>
          </a:xfrm>
          <a:custGeom>
            <a:avLst/>
            <a:gdLst>
              <a:gd name="T0" fmla="*/ 2147483646 w 1730"/>
              <a:gd name="T1" fmla="*/ 2147483646 h 1337"/>
              <a:gd name="T2" fmla="*/ 2147483646 w 1730"/>
              <a:gd name="T3" fmla="*/ 2147483646 h 1337"/>
              <a:gd name="T4" fmla="*/ 2147483646 w 1730"/>
              <a:gd name="T5" fmla="*/ 2147483646 h 1337"/>
              <a:gd name="T6" fmla="*/ 2147483646 w 1730"/>
              <a:gd name="T7" fmla="*/ 2147483646 h 1337"/>
              <a:gd name="T8" fmla="*/ 2147483646 w 1730"/>
              <a:gd name="T9" fmla="*/ 2147483646 h 1337"/>
              <a:gd name="T10" fmla="*/ 2147483646 w 1730"/>
              <a:gd name="T11" fmla="*/ 2147483646 h 1337"/>
              <a:gd name="T12" fmla="*/ 2147483646 w 1730"/>
              <a:gd name="T13" fmla="*/ 2147483646 h 1337"/>
              <a:gd name="T14" fmla="*/ 2147483646 w 1730"/>
              <a:gd name="T15" fmla="*/ 2147483646 h 1337"/>
              <a:gd name="T16" fmla="*/ 2147483646 w 1730"/>
              <a:gd name="T17" fmla="*/ 2147483646 h 1337"/>
              <a:gd name="T18" fmla="*/ 2147483646 w 1730"/>
              <a:gd name="T19" fmla="*/ 2147483646 h 1337"/>
              <a:gd name="T20" fmla="*/ 2147483646 w 1730"/>
              <a:gd name="T21" fmla="*/ 2147483646 h 1337"/>
              <a:gd name="T22" fmla="*/ 2147483646 w 1730"/>
              <a:gd name="T23" fmla="*/ 2147483646 h 1337"/>
              <a:gd name="T24" fmla="*/ 2147483646 w 1730"/>
              <a:gd name="T25" fmla="*/ 2147483646 h 1337"/>
              <a:gd name="T26" fmla="*/ 2147483646 w 1730"/>
              <a:gd name="T27" fmla="*/ 2147483646 h 1337"/>
              <a:gd name="T28" fmla="*/ 2147483646 w 1730"/>
              <a:gd name="T29" fmla="*/ 2147483646 h 1337"/>
              <a:gd name="T30" fmla="*/ 2147483646 w 1730"/>
              <a:gd name="T31" fmla="*/ 2147483646 h 1337"/>
              <a:gd name="T32" fmla="*/ 2147483646 w 1730"/>
              <a:gd name="T33" fmla="*/ 2147483646 h 1337"/>
              <a:gd name="T34" fmla="*/ 2147483646 w 1730"/>
              <a:gd name="T35" fmla="*/ 2147483646 h 1337"/>
              <a:gd name="T36" fmla="*/ 2147483646 w 1730"/>
              <a:gd name="T37" fmla="*/ 2147483646 h 1337"/>
              <a:gd name="T38" fmla="*/ 2147483646 w 1730"/>
              <a:gd name="T39" fmla="*/ 2147483646 h 1337"/>
              <a:gd name="T40" fmla="*/ 2147483646 w 1730"/>
              <a:gd name="T41" fmla="*/ 2147483646 h 1337"/>
              <a:gd name="T42" fmla="*/ 2147483646 w 1730"/>
              <a:gd name="T43" fmla="*/ 2147483646 h 1337"/>
              <a:gd name="T44" fmla="*/ 2147483646 w 1730"/>
              <a:gd name="T45" fmla="*/ 2147483646 h 1337"/>
              <a:gd name="T46" fmla="*/ 2147483646 w 1730"/>
              <a:gd name="T47" fmla="*/ 2147483646 h 1337"/>
              <a:gd name="T48" fmla="*/ 2147483646 w 1730"/>
              <a:gd name="T49" fmla="*/ 2147483646 h 1337"/>
              <a:gd name="T50" fmla="*/ 2147483646 w 1730"/>
              <a:gd name="T51" fmla="*/ 2147483646 h 1337"/>
              <a:gd name="T52" fmla="*/ 2147483646 w 1730"/>
              <a:gd name="T53" fmla="*/ 2147483646 h 1337"/>
              <a:gd name="T54" fmla="*/ 2147483646 w 1730"/>
              <a:gd name="T55" fmla="*/ 2147483646 h 1337"/>
              <a:gd name="T56" fmla="*/ 2147483646 w 1730"/>
              <a:gd name="T57" fmla="*/ 2147483646 h 1337"/>
              <a:gd name="T58" fmla="*/ 2147483646 w 1730"/>
              <a:gd name="T59" fmla="*/ 2147483646 h 1337"/>
              <a:gd name="T60" fmla="*/ 2147483646 w 1730"/>
              <a:gd name="T61" fmla="*/ 2147483646 h 1337"/>
              <a:gd name="T62" fmla="*/ 2147483646 w 1730"/>
              <a:gd name="T63" fmla="*/ 2147483646 h 1337"/>
              <a:gd name="T64" fmla="*/ 2147483646 w 1730"/>
              <a:gd name="T65" fmla="*/ 2147483646 h 1337"/>
              <a:gd name="T66" fmla="*/ 2147483646 w 1730"/>
              <a:gd name="T67" fmla="*/ 2147483646 h 1337"/>
              <a:gd name="T68" fmla="*/ 2147483646 w 1730"/>
              <a:gd name="T69" fmla="*/ 2147483646 h 1337"/>
              <a:gd name="T70" fmla="*/ 2147483646 w 1730"/>
              <a:gd name="T71" fmla="*/ 2147483646 h 1337"/>
              <a:gd name="T72" fmla="*/ 2147483646 w 1730"/>
              <a:gd name="T73" fmla="*/ 2147483646 h 1337"/>
              <a:gd name="T74" fmla="*/ 2147483646 w 1730"/>
              <a:gd name="T75" fmla="*/ 2147483646 h 1337"/>
              <a:gd name="T76" fmla="*/ 2147483646 w 1730"/>
              <a:gd name="T77" fmla="*/ 2147483646 h 1337"/>
              <a:gd name="T78" fmla="*/ 2147483646 w 1730"/>
              <a:gd name="T79" fmla="*/ 2147483646 h 1337"/>
              <a:gd name="T80" fmla="*/ 2147483646 w 1730"/>
              <a:gd name="T81" fmla="*/ 2147483646 h 1337"/>
              <a:gd name="T82" fmla="*/ 2147483646 w 1730"/>
              <a:gd name="T83" fmla="*/ 2147483646 h 1337"/>
              <a:gd name="T84" fmla="*/ 2147483646 w 1730"/>
              <a:gd name="T85" fmla="*/ 2147483646 h 1337"/>
              <a:gd name="T86" fmla="*/ 2147483646 w 1730"/>
              <a:gd name="T87" fmla="*/ 2147483646 h 1337"/>
              <a:gd name="T88" fmla="*/ 2147483646 w 1730"/>
              <a:gd name="T89" fmla="*/ 2147483646 h 1337"/>
              <a:gd name="T90" fmla="*/ 2147483646 w 1730"/>
              <a:gd name="T91" fmla="*/ 2147483646 h 1337"/>
              <a:gd name="T92" fmla="*/ 2147483646 w 1730"/>
              <a:gd name="T93" fmla="*/ 2147483646 h 1337"/>
              <a:gd name="T94" fmla="*/ 2147483646 w 1730"/>
              <a:gd name="T95" fmla="*/ 2147483646 h 1337"/>
              <a:gd name="T96" fmla="*/ 2147483646 w 1730"/>
              <a:gd name="T97" fmla="*/ 2147483646 h 1337"/>
              <a:gd name="T98" fmla="*/ 2147483646 w 1730"/>
              <a:gd name="T99" fmla="*/ 2147483646 h 1337"/>
              <a:gd name="T100" fmla="*/ 2147483646 w 1730"/>
              <a:gd name="T101" fmla="*/ 2147483646 h 13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30"/>
              <a:gd name="T154" fmla="*/ 0 h 1337"/>
              <a:gd name="T155" fmla="*/ 1730 w 1730"/>
              <a:gd name="T156" fmla="*/ 1337 h 13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30" h="1337">
                <a:moveTo>
                  <a:pt x="98" y="1181"/>
                </a:moveTo>
                <a:cubicBezTo>
                  <a:pt x="106" y="1158"/>
                  <a:pt x="92" y="1142"/>
                  <a:pt x="80" y="1124"/>
                </a:cubicBezTo>
                <a:cubicBezTo>
                  <a:pt x="75" y="1105"/>
                  <a:pt x="73" y="1094"/>
                  <a:pt x="71" y="1073"/>
                </a:cubicBezTo>
                <a:cubicBezTo>
                  <a:pt x="73" y="956"/>
                  <a:pt x="86" y="835"/>
                  <a:pt x="71" y="719"/>
                </a:cubicBezTo>
                <a:cubicBezTo>
                  <a:pt x="70" y="669"/>
                  <a:pt x="72" y="618"/>
                  <a:pt x="65" y="569"/>
                </a:cubicBezTo>
                <a:cubicBezTo>
                  <a:pt x="61" y="539"/>
                  <a:pt x="45" y="512"/>
                  <a:pt x="41" y="482"/>
                </a:cubicBezTo>
                <a:cubicBezTo>
                  <a:pt x="38" y="454"/>
                  <a:pt x="39" y="422"/>
                  <a:pt x="23" y="398"/>
                </a:cubicBezTo>
                <a:cubicBezTo>
                  <a:pt x="17" y="370"/>
                  <a:pt x="14" y="342"/>
                  <a:pt x="8" y="314"/>
                </a:cubicBezTo>
                <a:cubicBezTo>
                  <a:pt x="9" y="288"/>
                  <a:pt x="0" y="193"/>
                  <a:pt x="35" y="170"/>
                </a:cubicBezTo>
                <a:cubicBezTo>
                  <a:pt x="69" y="119"/>
                  <a:pt x="170" y="96"/>
                  <a:pt x="227" y="86"/>
                </a:cubicBezTo>
                <a:cubicBezTo>
                  <a:pt x="249" y="82"/>
                  <a:pt x="289" y="70"/>
                  <a:pt x="314" y="68"/>
                </a:cubicBezTo>
                <a:cubicBezTo>
                  <a:pt x="343" y="65"/>
                  <a:pt x="372" y="64"/>
                  <a:pt x="401" y="62"/>
                </a:cubicBezTo>
                <a:cubicBezTo>
                  <a:pt x="499" y="48"/>
                  <a:pt x="599" y="46"/>
                  <a:pt x="698" y="44"/>
                </a:cubicBezTo>
                <a:cubicBezTo>
                  <a:pt x="757" y="38"/>
                  <a:pt x="815" y="16"/>
                  <a:pt x="875" y="14"/>
                </a:cubicBezTo>
                <a:cubicBezTo>
                  <a:pt x="981" y="11"/>
                  <a:pt x="1087" y="12"/>
                  <a:pt x="1193" y="11"/>
                </a:cubicBezTo>
                <a:cubicBezTo>
                  <a:pt x="1235" y="13"/>
                  <a:pt x="1280" y="0"/>
                  <a:pt x="1319" y="17"/>
                </a:cubicBezTo>
                <a:cubicBezTo>
                  <a:pt x="1344" y="28"/>
                  <a:pt x="1370" y="34"/>
                  <a:pt x="1397" y="41"/>
                </a:cubicBezTo>
                <a:cubicBezTo>
                  <a:pt x="1406" y="47"/>
                  <a:pt x="1404" y="47"/>
                  <a:pt x="1415" y="50"/>
                </a:cubicBezTo>
                <a:cubicBezTo>
                  <a:pt x="1423" y="52"/>
                  <a:pt x="1439" y="56"/>
                  <a:pt x="1439" y="56"/>
                </a:cubicBezTo>
                <a:cubicBezTo>
                  <a:pt x="1446" y="63"/>
                  <a:pt x="1493" y="88"/>
                  <a:pt x="1505" y="92"/>
                </a:cubicBezTo>
                <a:cubicBezTo>
                  <a:pt x="1522" y="117"/>
                  <a:pt x="1542" y="139"/>
                  <a:pt x="1562" y="161"/>
                </a:cubicBezTo>
                <a:cubicBezTo>
                  <a:pt x="1570" y="169"/>
                  <a:pt x="1578" y="177"/>
                  <a:pt x="1586" y="185"/>
                </a:cubicBezTo>
                <a:cubicBezTo>
                  <a:pt x="1590" y="189"/>
                  <a:pt x="1598" y="197"/>
                  <a:pt x="1598" y="197"/>
                </a:cubicBezTo>
                <a:cubicBezTo>
                  <a:pt x="1600" y="203"/>
                  <a:pt x="1608" y="206"/>
                  <a:pt x="1610" y="212"/>
                </a:cubicBezTo>
                <a:cubicBezTo>
                  <a:pt x="1627" y="275"/>
                  <a:pt x="1602" y="235"/>
                  <a:pt x="1619" y="260"/>
                </a:cubicBezTo>
                <a:cubicBezTo>
                  <a:pt x="1629" y="299"/>
                  <a:pt x="1613" y="245"/>
                  <a:pt x="1631" y="281"/>
                </a:cubicBezTo>
                <a:cubicBezTo>
                  <a:pt x="1645" y="309"/>
                  <a:pt x="1654" y="338"/>
                  <a:pt x="1670" y="365"/>
                </a:cubicBezTo>
                <a:cubicBezTo>
                  <a:pt x="1673" y="377"/>
                  <a:pt x="1678" y="387"/>
                  <a:pt x="1682" y="398"/>
                </a:cubicBezTo>
                <a:cubicBezTo>
                  <a:pt x="1685" y="436"/>
                  <a:pt x="1694" y="469"/>
                  <a:pt x="1700" y="506"/>
                </a:cubicBezTo>
                <a:cubicBezTo>
                  <a:pt x="1705" y="539"/>
                  <a:pt x="1707" y="576"/>
                  <a:pt x="1715" y="608"/>
                </a:cubicBezTo>
                <a:cubicBezTo>
                  <a:pt x="1721" y="695"/>
                  <a:pt x="1717" y="662"/>
                  <a:pt x="1724" y="707"/>
                </a:cubicBezTo>
                <a:cubicBezTo>
                  <a:pt x="1728" y="760"/>
                  <a:pt x="1730" y="789"/>
                  <a:pt x="1724" y="845"/>
                </a:cubicBezTo>
                <a:cubicBezTo>
                  <a:pt x="1722" y="866"/>
                  <a:pt x="1706" y="881"/>
                  <a:pt x="1700" y="899"/>
                </a:cubicBezTo>
                <a:cubicBezTo>
                  <a:pt x="1691" y="925"/>
                  <a:pt x="1681" y="950"/>
                  <a:pt x="1667" y="974"/>
                </a:cubicBezTo>
                <a:cubicBezTo>
                  <a:pt x="1658" y="1010"/>
                  <a:pt x="1639" y="1047"/>
                  <a:pt x="1625" y="1082"/>
                </a:cubicBezTo>
                <a:cubicBezTo>
                  <a:pt x="1622" y="1106"/>
                  <a:pt x="1617" y="1139"/>
                  <a:pt x="1595" y="1154"/>
                </a:cubicBezTo>
                <a:cubicBezTo>
                  <a:pt x="1585" y="1169"/>
                  <a:pt x="1565" y="1202"/>
                  <a:pt x="1553" y="1214"/>
                </a:cubicBezTo>
                <a:cubicBezTo>
                  <a:pt x="1550" y="1217"/>
                  <a:pt x="1544" y="1217"/>
                  <a:pt x="1541" y="1220"/>
                </a:cubicBezTo>
                <a:cubicBezTo>
                  <a:pt x="1530" y="1229"/>
                  <a:pt x="1519" y="1248"/>
                  <a:pt x="1505" y="1253"/>
                </a:cubicBezTo>
                <a:cubicBezTo>
                  <a:pt x="1482" y="1276"/>
                  <a:pt x="1493" y="1271"/>
                  <a:pt x="1475" y="1277"/>
                </a:cubicBezTo>
                <a:cubicBezTo>
                  <a:pt x="1453" y="1294"/>
                  <a:pt x="1441" y="1298"/>
                  <a:pt x="1412" y="1301"/>
                </a:cubicBezTo>
                <a:cubicBezTo>
                  <a:pt x="1375" y="1313"/>
                  <a:pt x="1412" y="1302"/>
                  <a:pt x="1316" y="1307"/>
                </a:cubicBezTo>
                <a:cubicBezTo>
                  <a:pt x="1267" y="1310"/>
                  <a:pt x="1222" y="1323"/>
                  <a:pt x="1172" y="1325"/>
                </a:cubicBezTo>
                <a:cubicBezTo>
                  <a:pt x="1075" y="1337"/>
                  <a:pt x="978" y="1325"/>
                  <a:pt x="881" y="1319"/>
                </a:cubicBezTo>
                <a:cubicBezTo>
                  <a:pt x="775" y="1303"/>
                  <a:pt x="664" y="1296"/>
                  <a:pt x="557" y="1289"/>
                </a:cubicBezTo>
                <a:cubicBezTo>
                  <a:pt x="498" y="1278"/>
                  <a:pt x="443" y="1276"/>
                  <a:pt x="383" y="1274"/>
                </a:cubicBezTo>
                <a:cubicBezTo>
                  <a:pt x="342" y="1268"/>
                  <a:pt x="301" y="1260"/>
                  <a:pt x="260" y="1256"/>
                </a:cubicBezTo>
                <a:cubicBezTo>
                  <a:pt x="235" y="1246"/>
                  <a:pt x="211" y="1239"/>
                  <a:pt x="185" y="1232"/>
                </a:cubicBezTo>
                <a:cubicBezTo>
                  <a:pt x="169" y="1222"/>
                  <a:pt x="151" y="1215"/>
                  <a:pt x="134" y="1208"/>
                </a:cubicBezTo>
                <a:cubicBezTo>
                  <a:pt x="128" y="1206"/>
                  <a:pt x="116" y="1202"/>
                  <a:pt x="116" y="1202"/>
                </a:cubicBezTo>
                <a:cubicBezTo>
                  <a:pt x="115" y="1199"/>
                  <a:pt x="109" y="1170"/>
                  <a:pt x="98" y="1181"/>
                </a:cubicBezTo>
                <a:close/>
              </a:path>
            </a:pathLst>
          </a:custGeom>
          <a:noFill/>
          <a:ln w="28575" cap="sq">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lstStyle/>
          <a:p>
            <a:endParaRPr lang="en-US" dirty="0"/>
          </a:p>
        </p:txBody>
      </p:sp>
      <p:sp>
        <p:nvSpPr>
          <p:cNvPr id="119" name="Text Box 195">
            <a:extLst>
              <a:ext uri="{FF2B5EF4-FFF2-40B4-BE49-F238E27FC236}">
                <a16:creationId xmlns:a16="http://schemas.microsoft.com/office/drawing/2014/main" id="{13B7BC9B-5A27-D247-DD8A-9989444B5E98}"/>
              </a:ext>
            </a:extLst>
          </p:cNvPr>
          <p:cNvSpPr txBox="1">
            <a:spLocks noChangeArrowheads="1"/>
          </p:cNvSpPr>
          <p:nvPr/>
        </p:nvSpPr>
        <p:spPr bwMode="auto">
          <a:xfrm>
            <a:off x="8497487" y="4053658"/>
            <a:ext cx="15890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400" dirty="0">
                <a:solidFill>
                  <a:srgbClr val="FF0000"/>
                </a:solidFill>
              </a:rPr>
              <a:t>Communication Loop</a:t>
            </a:r>
          </a:p>
        </p:txBody>
      </p:sp>
      <p:sp>
        <p:nvSpPr>
          <p:cNvPr id="120" name="Line 196">
            <a:extLst>
              <a:ext uri="{FF2B5EF4-FFF2-40B4-BE49-F238E27FC236}">
                <a16:creationId xmlns:a16="http://schemas.microsoft.com/office/drawing/2014/main" id="{010FA087-7E2B-4C75-E87A-2290B63A7D99}"/>
              </a:ext>
            </a:extLst>
          </p:cNvPr>
          <p:cNvSpPr>
            <a:spLocks noChangeShapeType="1"/>
          </p:cNvSpPr>
          <p:nvPr/>
        </p:nvSpPr>
        <p:spPr bwMode="auto">
          <a:xfrm flipH="1">
            <a:off x="8835624" y="4534671"/>
            <a:ext cx="388938" cy="179387"/>
          </a:xfrm>
          <a:prstGeom prst="line">
            <a:avLst/>
          </a:prstGeom>
          <a:noFill/>
          <a:ln w="28575" cap="sq">
            <a:solidFill>
              <a:srgbClr val="FF0000"/>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dirty="0"/>
          </a:p>
        </p:txBody>
      </p:sp>
      <p:sp>
        <p:nvSpPr>
          <p:cNvPr id="121" name="Freeform 334">
            <a:extLst>
              <a:ext uri="{FF2B5EF4-FFF2-40B4-BE49-F238E27FC236}">
                <a16:creationId xmlns:a16="http://schemas.microsoft.com/office/drawing/2014/main" id="{861AA152-99DC-9DD3-5918-1A5BA6D0DDAD}"/>
              </a:ext>
            </a:extLst>
          </p:cNvPr>
          <p:cNvSpPr>
            <a:spLocks/>
          </p:cNvSpPr>
          <p:nvPr/>
        </p:nvSpPr>
        <p:spPr bwMode="auto">
          <a:xfrm>
            <a:off x="2396084" y="1962108"/>
            <a:ext cx="4369982" cy="4204204"/>
          </a:xfrm>
          <a:custGeom>
            <a:avLst/>
            <a:gdLst>
              <a:gd name="T0" fmla="*/ 2147483646 w 2243"/>
              <a:gd name="T1" fmla="*/ 2147483646 h 2534"/>
              <a:gd name="T2" fmla="*/ 2147483646 w 2243"/>
              <a:gd name="T3" fmla="*/ 2147483646 h 2534"/>
              <a:gd name="T4" fmla="*/ 0 w 2243"/>
              <a:gd name="T5" fmla="*/ 2147483646 h 2534"/>
              <a:gd name="T6" fmla="*/ 2147483646 w 2243"/>
              <a:gd name="T7" fmla="*/ 2147483646 h 2534"/>
              <a:gd name="T8" fmla="*/ 2147483646 w 2243"/>
              <a:gd name="T9" fmla="*/ 2147483646 h 2534"/>
              <a:gd name="T10" fmla="*/ 2147483646 w 2243"/>
              <a:gd name="T11" fmla="*/ 2147483646 h 2534"/>
              <a:gd name="T12" fmla="*/ 2147483646 w 2243"/>
              <a:gd name="T13" fmla="*/ 2147483646 h 2534"/>
              <a:gd name="T14" fmla="*/ 2147483646 w 2243"/>
              <a:gd name="T15" fmla="*/ 2147483646 h 2534"/>
              <a:gd name="T16" fmla="*/ 2147483646 w 2243"/>
              <a:gd name="T17" fmla="*/ 2147483646 h 2534"/>
              <a:gd name="T18" fmla="*/ 2147483646 w 2243"/>
              <a:gd name="T19" fmla="*/ 2147483646 h 2534"/>
              <a:gd name="T20" fmla="*/ 2147483646 w 2243"/>
              <a:gd name="T21" fmla="*/ 2147483646 h 2534"/>
              <a:gd name="T22" fmla="*/ 2147483646 w 2243"/>
              <a:gd name="T23" fmla="*/ 2147483646 h 2534"/>
              <a:gd name="T24" fmla="*/ 2147483646 w 2243"/>
              <a:gd name="T25" fmla="*/ 2147483646 h 2534"/>
              <a:gd name="T26" fmla="*/ 2147483646 w 2243"/>
              <a:gd name="T27" fmla="*/ 2147483646 h 2534"/>
              <a:gd name="T28" fmla="*/ 2147483646 w 2243"/>
              <a:gd name="T29" fmla="*/ 2147483646 h 2534"/>
              <a:gd name="T30" fmla="*/ 2147483646 w 2243"/>
              <a:gd name="T31" fmla="*/ 2147483646 h 2534"/>
              <a:gd name="T32" fmla="*/ 2147483646 w 2243"/>
              <a:gd name="T33" fmla="*/ 2147483646 h 2534"/>
              <a:gd name="T34" fmla="*/ 2147483646 w 2243"/>
              <a:gd name="T35" fmla="*/ 2147483646 h 2534"/>
              <a:gd name="T36" fmla="*/ 2147483646 w 2243"/>
              <a:gd name="T37" fmla="*/ 2147483646 h 2534"/>
              <a:gd name="T38" fmla="*/ 2147483646 w 2243"/>
              <a:gd name="T39" fmla="*/ 2147483646 h 2534"/>
              <a:gd name="T40" fmla="*/ 2147483646 w 2243"/>
              <a:gd name="T41" fmla="*/ 2147483646 h 2534"/>
              <a:gd name="T42" fmla="*/ 2147483646 w 2243"/>
              <a:gd name="T43" fmla="*/ 2147483646 h 2534"/>
              <a:gd name="T44" fmla="*/ 2147483646 w 2243"/>
              <a:gd name="T45" fmla="*/ 2147483646 h 2534"/>
              <a:gd name="T46" fmla="*/ 2147483646 w 2243"/>
              <a:gd name="T47" fmla="*/ 2147483646 h 2534"/>
              <a:gd name="T48" fmla="*/ 2147483646 w 2243"/>
              <a:gd name="T49" fmla="*/ 2147483646 h 2534"/>
              <a:gd name="T50" fmla="*/ 2147483646 w 2243"/>
              <a:gd name="T51" fmla="*/ 2147483646 h 2534"/>
              <a:gd name="T52" fmla="*/ 2147483646 w 2243"/>
              <a:gd name="T53" fmla="*/ 2147483646 h 2534"/>
              <a:gd name="T54" fmla="*/ 2147483646 w 2243"/>
              <a:gd name="T55" fmla="*/ 2147483646 h 2534"/>
              <a:gd name="T56" fmla="*/ 2147483646 w 2243"/>
              <a:gd name="T57" fmla="*/ 2147483646 h 2534"/>
              <a:gd name="T58" fmla="*/ 2147483646 w 2243"/>
              <a:gd name="T59" fmla="*/ 2147483646 h 2534"/>
              <a:gd name="T60" fmla="*/ 2147483646 w 2243"/>
              <a:gd name="T61" fmla="*/ 2147483646 h 2534"/>
              <a:gd name="T62" fmla="*/ 2147483646 w 2243"/>
              <a:gd name="T63" fmla="*/ 2147483646 h 2534"/>
              <a:gd name="T64" fmla="*/ 2147483646 w 2243"/>
              <a:gd name="T65" fmla="*/ 2147483646 h 2534"/>
              <a:gd name="T66" fmla="*/ 2147483646 w 2243"/>
              <a:gd name="T67" fmla="*/ 2147483646 h 2534"/>
              <a:gd name="T68" fmla="*/ 2147483646 w 2243"/>
              <a:gd name="T69" fmla="*/ 2147483646 h 2534"/>
              <a:gd name="T70" fmla="*/ 2147483646 w 2243"/>
              <a:gd name="T71" fmla="*/ 2147483646 h 2534"/>
              <a:gd name="T72" fmla="*/ 2147483646 w 2243"/>
              <a:gd name="T73" fmla="*/ 2147483646 h 2534"/>
              <a:gd name="T74" fmla="*/ 2147483646 w 2243"/>
              <a:gd name="T75" fmla="*/ 2147483646 h 2534"/>
              <a:gd name="T76" fmla="*/ 2147483646 w 2243"/>
              <a:gd name="T77" fmla="*/ 2147483646 h 25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43"/>
              <a:gd name="T118" fmla="*/ 0 h 2534"/>
              <a:gd name="T119" fmla="*/ 2243 w 2243"/>
              <a:gd name="T120" fmla="*/ 2534 h 25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43" h="2534">
                <a:moveTo>
                  <a:pt x="976" y="2371"/>
                </a:moveTo>
                <a:cubicBezTo>
                  <a:pt x="849" y="2389"/>
                  <a:pt x="838" y="2389"/>
                  <a:pt x="656" y="2395"/>
                </a:cubicBezTo>
                <a:cubicBezTo>
                  <a:pt x="298" y="2390"/>
                  <a:pt x="54" y="2534"/>
                  <a:pt x="0" y="2211"/>
                </a:cubicBezTo>
                <a:cubicBezTo>
                  <a:pt x="3" y="1843"/>
                  <a:pt x="5" y="1475"/>
                  <a:pt x="8" y="1107"/>
                </a:cubicBezTo>
                <a:cubicBezTo>
                  <a:pt x="10" y="846"/>
                  <a:pt x="11" y="584"/>
                  <a:pt x="16" y="323"/>
                </a:cubicBezTo>
                <a:cubicBezTo>
                  <a:pt x="17" y="291"/>
                  <a:pt x="22" y="165"/>
                  <a:pt x="40" y="139"/>
                </a:cubicBezTo>
                <a:cubicBezTo>
                  <a:pt x="50" y="125"/>
                  <a:pt x="88" y="123"/>
                  <a:pt x="88" y="123"/>
                </a:cubicBezTo>
                <a:cubicBezTo>
                  <a:pt x="131" y="80"/>
                  <a:pt x="183" y="80"/>
                  <a:pt x="240" y="67"/>
                </a:cubicBezTo>
                <a:cubicBezTo>
                  <a:pt x="313" y="51"/>
                  <a:pt x="389" y="42"/>
                  <a:pt x="464" y="35"/>
                </a:cubicBezTo>
                <a:cubicBezTo>
                  <a:pt x="480" y="30"/>
                  <a:pt x="495" y="22"/>
                  <a:pt x="512" y="19"/>
                </a:cubicBezTo>
                <a:cubicBezTo>
                  <a:pt x="554" y="11"/>
                  <a:pt x="640" y="3"/>
                  <a:pt x="640" y="3"/>
                </a:cubicBezTo>
                <a:cubicBezTo>
                  <a:pt x="1139" y="6"/>
                  <a:pt x="1637" y="0"/>
                  <a:pt x="2136" y="11"/>
                </a:cubicBezTo>
                <a:cubicBezTo>
                  <a:pt x="2144" y="11"/>
                  <a:pt x="2140" y="27"/>
                  <a:pt x="2144" y="35"/>
                </a:cubicBezTo>
                <a:cubicBezTo>
                  <a:pt x="2148" y="44"/>
                  <a:pt x="2155" y="51"/>
                  <a:pt x="2160" y="59"/>
                </a:cubicBezTo>
                <a:cubicBezTo>
                  <a:pt x="2175" y="119"/>
                  <a:pt x="2176" y="147"/>
                  <a:pt x="2184" y="219"/>
                </a:cubicBezTo>
                <a:cubicBezTo>
                  <a:pt x="2186" y="233"/>
                  <a:pt x="2186" y="247"/>
                  <a:pt x="2192" y="259"/>
                </a:cubicBezTo>
                <a:cubicBezTo>
                  <a:pt x="2200" y="277"/>
                  <a:pt x="2224" y="307"/>
                  <a:pt x="2224" y="307"/>
                </a:cubicBezTo>
                <a:cubicBezTo>
                  <a:pt x="2239" y="397"/>
                  <a:pt x="2243" y="396"/>
                  <a:pt x="2232" y="515"/>
                </a:cubicBezTo>
                <a:cubicBezTo>
                  <a:pt x="2232" y="515"/>
                  <a:pt x="2220" y="567"/>
                  <a:pt x="2216" y="571"/>
                </a:cubicBezTo>
                <a:cubicBezTo>
                  <a:pt x="2210" y="577"/>
                  <a:pt x="2199" y="575"/>
                  <a:pt x="2192" y="579"/>
                </a:cubicBezTo>
                <a:cubicBezTo>
                  <a:pt x="2092" y="634"/>
                  <a:pt x="2139" y="631"/>
                  <a:pt x="2008" y="643"/>
                </a:cubicBezTo>
                <a:cubicBezTo>
                  <a:pt x="1971" y="650"/>
                  <a:pt x="1950" y="655"/>
                  <a:pt x="1920" y="675"/>
                </a:cubicBezTo>
                <a:cubicBezTo>
                  <a:pt x="1891" y="763"/>
                  <a:pt x="1937" y="630"/>
                  <a:pt x="1896" y="723"/>
                </a:cubicBezTo>
                <a:cubicBezTo>
                  <a:pt x="1878" y="763"/>
                  <a:pt x="1870" y="810"/>
                  <a:pt x="1856" y="851"/>
                </a:cubicBezTo>
                <a:cubicBezTo>
                  <a:pt x="1852" y="864"/>
                  <a:pt x="1845" y="891"/>
                  <a:pt x="1832" y="899"/>
                </a:cubicBezTo>
                <a:cubicBezTo>
                  <a:pt x="1818" y="908"/>
                  <a:pt x="1800" y="910"/>
                  <a:pt x="1784" y="915"/>
                </a:cubicBezTo>
                <a:cubicBezTo>
                  <a:pt x="1775" y="918"/>
                  <a:pt x="1769" y="927"/>
                  <a:pt x="1760" y="931"/>
                </a:cubicBezTo>
                <a:cubicBezTo>
                  <a:pt x="1720" y="951"/>
                  <a:pt x="1620" y="946"/>
                  <a:pt x="1608" y="947"/>
                </a:cubicBezTo>
                <a:cubicBezTo>
                  <a:pt x="1520" y="1006"/>
                  <a:pt x="1344" y="984"/>
                  <a:pt x="1256" y="987"/>
                </a:cubicBezTo>
                <a:cubicBezTo>
                  <a:pt x="1206" y="995"/>
                  <a:pt x="1155" y="1014"/>
                  <a:pt x="1112" y="1043"/>
                </a:cubicBezTo>
                <a:cubicBezTo>
                  <a:pt x="1107" y="1051"/>
                  <a:pt x="1103" y="1060"/>
                  <a:pt x="1096" y="1067"/>
                </a:cubicBezTo>
                <a:cubicBezTo>
                  <a:pt x="1089" y="1074"/>
                  <a:pt x="1077" y="1075"/>
                  <a:pt x="1072" y="1083"/>
                </a:cubicBezTo>
                <a:cubicBezTo>
                  <a:pt x="1051" y="1119"/>
                  <a:pt x="1058" y="1179"/>
                  <a:pt x="1048" y="1219"/>
                </a:cubicBezTo>
                <a:cubicBezTo>
                  <a:pt x="1035" y="1269"/>
                  <a:pt x="1046" y="1217"/>
                  <a:pt x="1024" y="1267"/>
                </a:cubicBezTo>
                <a:cubicBezTo>
                  <a:pt x="1013" y="1292"/>
                  <a:pt x="1007" y="1320"/>
                  <a:pt x="1000" y="1347"/>
                </a:cubicBezTo>
                <a:cubicBezTo>
                  <a:pt x="997" y="1683"/>
                  <a:pt x="1003" y="2019"/>
                  <a:pt x="992" y="2355"/>
                </a:cubicBezTo>
                <a:cubicBezTo>
                  <a:pt x="991" y="2372"/>
                  <a:pt x="935" y="2383"/>
                  <a:pt x="952" y="2387"/>
                </a:cubicBezTo>
                <a:cubicBezTo>
                  <a:pt x="968" y="2391"/>
                  <a:pt x="1017" y="2371"/>
                  <a:pt x="1000" y="2371"/>
                </a:cubicBezTo>
                <a:cubicBezTo>
                  <a:pt x="992" y="2371"/>
                  <a:pt x="984" y="2371"/>
                  <a:pt x="976" y="2371"/>
                </a:cubicBezTo>
                <a:close/>
              </a:path>
            </a:pathLst>
          </a:custGeom>
          <a:noFill/>
          <a:ln w="28575" cap="sq">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Tree>
    <p:extLst>
      <p:ext uri="{BB962C8B-B14F-4D97-AF65-F5344CB8AC3E}">
        <p14:creationId xmlns:p14="http://schemas.microsoft.com/office/powerpoint/2010/main" val="190703880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a:bodyPr>
          <a:lstStyle/>
          <a:p>
            <a:r>
              <a:rPr lang="en-US" sz="4000" dirty="0">
                <a:latin typeface="Roboto Medium"/>
                <a:ea typeface="Roboto Medium"/>
                <a:cs typeface="Roboto Medium"/>
              </a:rPr>
              <a:t>Developing the Value Stream Plan</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sz="2400" dirty="0"/>
              <a:t>Define purpose of Value Stream Plan</a:t>
            </a:r>
          </a:p>
          <a:p>
            <a:r>
              <a:rPr lang="en-US" sz="2400" dirty="0"/>
              <a:t>Review timing of Future State Plan completion</a:t>
            </a:r>
          </a:p>
          <a:p>
            <a:r>
              <a:rPr lang="en-US" sz="2400" dirty="0"/>
              <a:t>Prioritize activities based on Current State Kaizen Bursts</a:t>
            </a:r>
          </a:p>
          <a:p>
            <a:r>
              <a:rPr lang="en-US" sz="2400" dirty="0"/>
              <a:t>Identify and define components of Value Stream Plan</a:t>
            </a:r>
          </a:p>
          <a:p>
            <a:r>
              <a:rPr lang="en-US" sz="2400" dirty="0"/>
              <a:t>Review example of completed Value Stream Plan</a:t>
            </a:r>
          </a:p>
          <a:p>
            <a:r>
              <a:rPr lang="en-US" sz="2400" dirty="0"/>
              <a:t>Complete Value Stream Plan for Business</a:t>
            </a:r>
          </a:p>
          <a:p>
            <a:endParaRPr lang="en-US" sz="2400" dirty="0"/>
          </a:p>
          <a:p>
            <a:pPr marL="0" indent="0">
              <a:buNone/>
            </a:pPr>
            <a:endParaRPr lang="en-US" dirty="0"/>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Develop Value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35439461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327AB2-6690-FCA6-F1EA-30B6ACE07A46}"/>
              </a:ext>
            </a:extLst>
          </p:cNvPr>
          <p:cNvSpPr>
            <a:spLocks noGrp="1"/>
          </p:cNvSpPr>
          <p:nvPr>
            <p:ph type="title"/>
          </p:nvPr>
        </p:nvSpPr>
        <p:spPr/>
        <p:txBody>
          <a:bodyPr/>
          <a:lstStyle/>
          <a:p>
            <a:r>
              <a:rPr lang="en-US" dirty="0"/>
              <a:t>Purpose of the Value Stream Plan</a:t>
            </a:r>
          </a:p>
        </p:txBody>
      </p:sp>
      <p:grpSp>
        <p:nvGrpSpPr>
          <p:cNvPr id="4" name="Group 3">
            <a:extLst>
              <a:ext uri="{FF2B5EF4-FFF2-40B4-BE49-F238E27FC236}">
                <a16:creationId xmlns:a16="http://schemas.microsoft.com/office/drawing/2014/main" id="{09BF36AC-3CEB-281E-E0B6-1262C738123D}"/>
              </a:ext>
            </a:extLst>
          </p:cNvPr>
          <p:cNvGrpSpPr/>
          <p:nvPr/>
        </p:nvGrpSpPr>
        <p:grpSpPr>
          <a:xfrm>
            <a:off x="940249" y="302538"/>
            <a:ext cx="6219503" cy="311932"/>
            <a:chOff x="940249" y="302538"/>
            <a:chExt cx="6219503" cy="311932"/>
          </a:xfrm>
        </p:grpSpPr>
        <p:sp>
          <p:nvSpPr>
            <p:cNvPr id="5" name="TextBox 4">
              <a:extLst>
                <a:ext uri="{FF2B5EF4-FFF2-40B4-BE49-F238E27FC236}">
                  <a16:creationId xmlns:a16="http://schemas.microsoft.com/office/drawing/2014/main" id="{F2A5ED18-4563-EC56-0FF2-68C813224296}"/>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6" name="AutoShape 9">
              <a:extLst>
                <a:ext uri="{FF2B5EF4-FFF2-40B4-BE49-F238E27FC236}">
                  <a16:creationId xmlns:a16="http://schemas.microsoft.com/office/drawing/2014/main" id="{7F03ABF2-8A1B-3405-BFD8-9F5765099326}"/>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B927A4D1-96FC-689F-6558-BEBC79DF8C96}"/>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8255019-44CF-3378-402E-36BDB94949DB}"/>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7BFFD9FF-AA0F-FC75-31AF-5825335AEF1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64A2CF87-6E14-39CC-A4A3-F122E251FA07}"/>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1" name="Rectangle 2">
            <a:extLst>
              <a:ext uri="{FF2B5EF4-FFF2-40B4-BE49-F238E27FC236}">
                <a16:creationId xmlns:a16="http://schemas.microsoft.com/office/drawing/2014/main" id="{F7A2EEFA-BF60-100A-2A92-37428CB873DB}"/>
              </a:ext>
            </a:extLst>
          </p:cNvPr>
          <p:cNvSpPr>
            <a:spLocks noChangeArrowheads="1"/>
          </p:cNvSpPr>
          <p:nvPr/>
        </p:nvSpPr>
        <p:spPr bwMode="auto">
          <a:xfrm>
            <a:off x="2993775" y="4781550"/>
            <a:ext cx="6303962" cy="1195388"/>
          </a:xfrm>
          <a:prstGeom prst="rect">
            <a:avLst/>
          </a:prstGeom>
          <a:solidFill>
            <a:srgbClr val="FFB627"/>
          </a:solidFill>
          <a:ln w="19050">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2400" b="0" dirty="0"/>
              <a:t>CREATES PLAN TO ACHIEVE</a:t>
            </a:r>
            <a:br>
              <a:rPr lang="en-US" altLang="en-US" sz="2400" b="0" dirty="0"/>
            </a:br>
            <a:r>
              <a:rPr lang="en-US" altLang="en-US" sz="2400" b="0" dirty="0"/>
              <a:t>FUTURE STATE</a:t>
            </a:r>
          </a:p>
        </p:txBody>
      </p:sp>
      <p:sp>
        <p:nvSpPr>
          <p:cNvPr id="12" name="Rectangle 3">
            <a:extLst>
              <a:ext uri="{FF2B5EF4-FFF2-40B4-BE49-F238E27FC236}">
                <a16:creationId xmlns:a16="http://schemas.microsoft.com/office/drawing/2014/main" id="{9F9F1B3E-C411-21A2-5D41-CAE7C4F89A25}"/>
              </a:ext>
            </a:extLst>
          </p:cNvPr>
          <p:cNvSpPr>
            <a:spLocks noChangeArrowheads="1"/>
          </p:cNvSpPr>
          <p:nvPr/>
        </p:nvSpPr>
        <p:spPr bwMode="auto">
          <a:xfrm>
            <a:off x="1990475" y="2217738"/>
            <a:ext cx="1936750" cy="1236662"/>
          </a:xfrm>
          <a:prstGeom prst="rect">
            <a:avLst/>
          </a:prstGeom>
          <a:solidFill>
            <a:schemeClr val="accent1"/>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80000"/>
              </a:lnSpc>
              <a:spcBef>
                <a:spcPct val="20000"/>
              </a:spcBef>
              <a:defRPr/>
            </a:pPr>
            <a:r>
              <a:rPr lang="en-US" altLang="en-US" sz="1800" dirty="0">
                <a:effectLst>
                  <a:outerShdw blurRad="38100" dist="38100" dir="2700000" algn="tl">
                    <a:srgbClr val="000000"/>
                  </a:outerShdw>
                </a:effectLst>
              </a:rPr>
              <a:t>Establishes</a:t>
            </a:r>
            <a:br>
              <a:rPr lang="en-US" altLang="en-US" sz="1800" dirty="0">
                <a:effectLst>
                  <a:outerShdw blurRad="38100" dist="38100" dir="2700000" algn="tl">
                    <a:srgbClr val="000000"/>
                  </a:outerShdw>
                </a:effectLst>
              </a:rPr>
            </a:br>
            <a:r>
              <a:rPr lang="en-US" altLang="en-US" sz="1800" dirty="0">
                <a:effectLst>
                  <a:outerShdw blurRad="38100" dist="38100" dir="2700000" algn="tl">
                    <a:srgbClr val="000000"/>
                  </a:outerShdw>
                </a:effectLst>
              </a:rPr>
              <a:t>Priority</a:t>
            </a:r>
          </a:p>
        </p:txBody>
      </p:sp>
      <p:sp>
        <p:nvSpPr>
          <p:cNvPr id="13" name="Rectangle 4">
            <a:extLst>
              <a:ext uri="{FF2B5EF4-FFF2-40B4-BE49-F238E27FC236}">
                <a16:creationId xmlns:a16="http://schemas.microsoft.com/office/drawing/2014/main" id="{AF1D93DF-D934-8F16-C1D5-09F217B5A408}"/>
              </a:ext>
            </a:extLst>
          </p:cNvPr>
          <p:cNvSpPr>
            <a:spLocks noChangeArrowheads="1"/>
          </p:cNvSpPr>
          <p:nvPr/>
        </p:nvSpPr>
        <p:spPr bwMode="auto">
          <a:xfrm>
            <a:off x="4063750" y="2217738"/>
            <a:ext cx="1936750" cy="1200150"/>
          </a:xfrm>
          <a:prstGeom prst="rect">
            <a:avLst/>
          </a:prstGeom>
          <a:solidFill>
            <a:schemeClr val="accent1"/>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80000"/>
              </a:lnSpc>
              <a:spcBef>
                <a:spcPct val="20000"/>
              </a:spcBef>
              <a:defRPr/>
            </a:pPr>
            <a:r>
              <a:rPr lang="en-US" altLang="en-US" sz="1800" dirty="0">
                <a:effectLst>
                  <a:outerShdw blurRad="38100" dist="38100" dir="2700000" algn="tl">
                    <a:srgbClr val="000000"/>
                  </a:outerShdw>
                </a:effectLst>
              </a:rPr>
              <a:t>Clearly Identifies</a:t>
            </a:r>
            <a:br>
              <a:rPr lang="en-US" altLang="en-US" sz="1800" dirty="0">
                <a:effectLst>
                  <a:outerShdw blurRad="38100" dist="38100" dir="2700000" algn="tl">
                    <a:srgbClr val="000000"/>
                  </a:outerShdw>
                </a:effectLst>
              </a:rPr>
            </a:br>
            <a:r>
              <a:rPr lang="en-US" altLang="en-US" sz="1800" dirty="0">
                <a:effectLst>
                  <a:outerShdw blurRad="38100" dist="38100" dir="2700000" algn="tl">
                    <a:srgbClr val="000000"/>
                  </a:outerShdw>
                </a:effectLst>
              </a:rPr>
              <a:t>Actions</a:t>
            </a:r>
          </a:p>
        </p:txBody>
      </p:sp>
      <p:sp>
        <p:nvSpPr>
          <p:cNvPr id="14" name="Rectangle 5">
            <a:extLst>
              <a:ext uri="{FF2B5EF4-FFF2-40B4-BE49-F238E27FC236}">
                <a16:creationId xmlns:a16="http://schemas.microsoft.com/office/drawing/2014/main" id="{B0A555A3-EAB9-F1EF-0FCF-639843B0A684}"/>
              </a:ext>
            </a:extLst>
          </p:cNvPr>
          <p:cNvSpPr>
            <a:spLocks noChangeArrowheads="1"/>
          </p:cNvSpPr>
          <p:nvPr/>
        </p:nvSpPr>
        <p:spPr bwMode="auto">
          <a:xfrm>
            <a:off x="6138612" y="2217738"/>
            <a:ext cx="1936750" cy="1203325"/>
          </a:xfrm>
          <a:prstGeom prst="rect">
            <a:avLst/>
          </a:prstGeom>
          <a:solidFill>
            <a:schemeClr val="accent1"/>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80000"/>
              </a:lnSpc>
              <a:spcBef>
                <a:spcPct val="20000"/>
              </a:spcBef>
              <a:defRPr/>
            </a:pPr>
            <a:r>
              <a:rPr lang="en-US" altLang="en-US" sz="1800" dirty="0">
                <a:effectLst>
                  <a:outerShdw blurRad="38100" dist="38100" dir="2700000" algn="tl">
                    <a:srgbClr val="000000"/>
                  </a:outerShdw>
                </a:effectLst>
              </a:rPr>
              <a:t>Details Rigorous</a:t>
            </a:r>
            <a:br>
              <a:rPr lang="en-US" altLang="en-US" sz="1800" dirty="0">
                <a:effectLst>
                  <a:outerShdw blurRad="38100" dist="38100" dir="2700000" algn="tl">
                    <a:srgbClr val="000000"/>
                  </a:outerShdw>
                </a:effectLst>
              </a:rPr>
            </a:br>
            <a:r>
              <a:rPr lang="en-US" altLang="en-US" sz="1800" dirty="0">
                <a:effectLst>
                  <a:outerShdw blurRad="38100" dist="38100" dir="2700000" algn="tl">
                    <a:srgbClr val="000000"/>
                  </a:outerShdw>
                </a:effectLst>
              </a:rPr>
              <a:t>Timeline</a:t>
            </a:r>
          </a:p>
        </p:txBody>
      </p:sp>
      <p:sp>
        <p:nvSpPr>
          <p:cNvPr id="15" name="Rectangle 6">
            <a:extLst>
              <a:ext uri="{FF2B5EF4-FFF2-40B4-BE49-F238E27FC236}">
                <a16:creationId xmlns:a16="http://schemas.microsoft.com/office/drawing/2014/main" id="{30E31480-8847-7E0C-29C1-5E6847A65552}"/>
              </a:ext>
            </a:extLst>
          </p:cNvPr>
          <p:cNvSpPr>
            <a:spLocks noChangeArrowheads="1"/>
          </p:cNvSpPr>
          <p:nvPr/>
        </p:nvSpPr>
        <p:spPr bwMode="auto">
          <a:xfrm>
            <a:off x="8200775" y="2217738"/>
            <a:ext cx="1936750" cy="1211262"/>
          </a:xfrm>
          <a:prstGeom prst="rect">
            <a:avLst/>
          </a:prstGeom>
          <a:solidFill>
            <a:schemeClr val="accent1"/>
          </a:solidFill>
          <a:ln w="12700" cap="sq" algn="ctr">
            <a:solidFill>
              <a:schemeClr val="tx1"/>
            </a:solidFill>
            <a:miter lim="800000"/>
            <a:headEnd/>
            <a:tailEnd/>
          </a:ln>
          <a:effectLst/>
        </p:spPr>
        <p:txBody>
          <a:bodyPr wrap="none" anchor="ctr"/>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lnSpc>
                <a:spcPct val="80000"/>
              </a:lnSpc>
              <a:spcBef>
                <a:spcPct val="20000"/>
              </a:spcBef>
              <a:defRPr/>
            </a:pPr>
            <a:r>
              <a:rPr lang="en-US" altLang="en-US" sz="1800" dirty="0">
                <a:effectLst>
                  <a:outerShdw blurRad="38100" dist="38100" dir="2700000" algn="tl">
                    <a:srgbClr val="000000"/>
                  </a:outerShdw>
                </a:effectLst>
              </a:rPr>
              <a:t>Clearly Identifies</a:t>
            </a:r>
            <a:br>
              <a:rPr lang="en-US" altLang="en-US" sz="1800" dirty="0">
                <a:effectLst>
                  <a:outerShdw blurRad="38100" dist="38100" dir="2700000" algn="tl">
                    <a:srgbClr val="000000"/>
                  </a:outerShdw>
                </a:effectLst>
              </a:rPr>
            </a:br>
            <a:r>
              <a:rPr lang="en-US" altLang="en-US" sz="1800" dirty="0">
                <a:effectLst>
                  <a:outerShdw blurRad="38100" dist="38100" dir="2700000" algn="tl">
                    <a:srgbClr val="000000"/>
                  </a:outerShdw>
                </a:effectLst>
              </a:rPr>
              <a:t>Ownership</a:t>
            </a:r>
          </a:p>
        </p:txBody>
      </p:sp>
      <p:cxnSp>
        <p:nvCxnSpPr>
          <p:cNvPr id="16" name="AutoShape 7">
            <a:extLst>
              <a:ext uri="{FF2B5EF4-FFF2-40B4-BE49-F238E27FC236}">
                <a16:creationId xmlns:a16="http://schemas.microsoft.com/office/drawing/2014/main" id="{620DFF01-E219-31BC-AAC1-BCC9E49DAD4C}"/>
              </a:ext>
            </a:extLst>
          </p:cNvPr>
          <p:cNvCxnSpPr>
            <a:cxnSpLocks noChangeShapeType="1"/>
            <a:stCxn id="12" idx="3"/>
            <a:endCxn id="13" idx="1"/>
          </p:cNvCxnSpPr>
          <p:nvPr/>
        </p:nvCxnSpPr>
        <p:spPr bwMode="auto">
          <a:xfrm flipV="1">
            <a:off x="3927225" y="2817813"/>
            <a:ext cx="136525" cy="1905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7" name="AutoShape 8">
            <a:extLst>
              <a:ext uri="{FF2B5EF4-FFF2-40B4-BE49-F238E27FC236}">
                <a16:creationId xmlns:a16="http://schemas.microsoft.com/office/drawing/2014/main" id="{B95E3E85-6C95-5F74-5FBE-75AD7C44D7C3}"/>
              </a:ext>
            </a:extLst>
          </p:cNvPr>
          <p:cNvCxnSpPr>
            <a:cxnSpLocks noChangeShapeType="1"/>
            <a:stCxn id="13" idx="3"/>
            <a:endCxn id="14" idx="1"/>
          </p:cNvCxnSpPr>
          <p:nvPr/>
        </p:nvCxnSpPr>
        <p:spPr bwMode="auto">
          <a:xfrm>
            <a:off x="6000500" y="2817813"/>
            <a:ext cx="138112" cy="158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8" name="AutoShape 9">
            <a:extLst>
              <a:ext uri="{FF2B5EF4-FFF2-40B4-BE49-F238E27FC236}">
                <a16:creationId xmlns:a16="http://schemas.microsoft.com/office/drawing/2014/main" id="{17406131-5284-6304-ECE5-054B496C889B}"/>
              </a:ext>
            </a:extLst>
          </p:cNvPr>
          <p:cNvCxnSpPr>
            <a:cxnSpLocks noChangeShapeType="1"/>
            <a:stCxn id="14" idx="3"/>
            <a:endCxn id="15" idx="1"/>
          </p:cNvCxnSpPr>
          <p:nvPr/>
        </p:nvCxnSpPr>
        <p:spPr bwMode="auto">
          <a:xfrm>
            <a:off x="8075362" y="2819400"/>
            <a:ext cx="125413" cy="4763"/>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9" name="AutoShape 10">
            <a:extLst>
              <a:ext uri="{FF2B5EF4-FFF2-40B4-BE49-F238E27FC236}">
                <a16:creationId xmlns:a16="http://schemas.microsoft.com/office/drawing/2014/main" id="{1E40798A-B3FF-213A-F4D4-C8B592D36257}"/>
              </a:ext>
            </a:extLst>
          </p:cNvPr>
          <p:cNvCxnSpPr>
            <a:cxnSpLocks noChangeShapeType="1"/>
            <a:stCxn id="12" idx="1"/>
            <a:endCxn id="11" idx="1"/>
          </p:cNvCxnSpPr>
          <p:nvPr/>
        </p:nvCxnSpPr>
        <p:spPr bwMode="auto">
          <a:xfrm rot="10800000" flipH="1" flipV="1">
            <a:off x="1990475" y="2836863"/>
            <a:ext cx="993775" cy="2543175"/>
          </a:xfrm>
          <a:prstGeom prst="bentConnector3">
            <a:avLst>
              <a:gd name="adj1" fmla="val -23005"/>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0" name="AutoShape 11">
            <a:extLst>
              <a:ext uri="{FF2B5EF4-FFF2-40B4-BE49-F238E27FC236}">
                <a16:creationId xmlns:a16="http://schemas.microsoft.com/office/drawing/2014/main" id="{0BC2B0FC-231B-F42C-382B-D26246D49540}"/>
              </a:ext>
            </a:extLst>
          </p:cNvPr>
          <p:cNvCxnSpPr>
            <a:cxnSpLocks noChangeShapeType="1"/>
            <a:stCxn id="15" idx="3"/>
            <a:endCxn id="11" idx="3"/>
          </p:cNvCxnSpPr>
          <p:nvPr/>
        </p:nvCxnSpPr>
        <p:spPr bwMode="auto">
          <a:xfrm flipH="1">
            <a:off x="9307262" y="2824163"/>
            <a:ext cx="830263" cy="2555875"/>
          </a:xfrm>
          <a:prstGeom prst="bentConnector3">
            <a:avLst>
              <a:gd name="adj1" fmla="val -2753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Slide Number Placeholder 2">
            <a:extLst>
              <a:ext uri="{FF2B5EF4-FFF2-40B4-BE49-F238E27FC236}">
                <a16:creationId xmlns:a16="http://schemas.microsoft.com/office/drawing/2014/main" id="{D6D61BCF-775C-770F-EC86-B7457DC2E602}"/>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129</a:t>
            </a:fld>
            <a:endParaRPr lang="en-US" dirty="0"/>
          </a:p>
        </p:txBody>
      </p:sp>
    </p:spTree>
    <p:extLst>
      <p:ext uri="{BB962C8B-B14F-4D97-AF65-F5344CB8AC3E}">
        <p14:creationId xmlns:p14="http://schemas.microsoft.com/office/powerpoint/2010/main" val="170525634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A9851C-D731-F57C-2EC1-9097EC0C6C81}"/>
              </a:ext>
            </a:extLst>
          </p:cNvPr>
          <p:cNvSpPr>
            <a:spLocks noGrp="1"/>
          </p:cNvSpPr>
          <p:nvPr>
            <p:ph type="title"/>
          </p:nvPr>
        </p:nvSpPr>
        <p:spPr/>
        <p:txBody>
          <a:bodyPr/>
          <a:lstStyle/>
          <a:p>
            <a:r>
              <a:rPr lang="en-US" dirty="0"/>
              <a:t>Timing of the Value Stream Plan</a:t>
            </a:r>
          </a:p>
        </p:txBody>
      </p:sp>
      <p:sp>
        <p:nvSpPr>
          <p:cNvPr id="3" name="Content Placeholder 2">
            <a:extLst>
              <a:ext uri="{FF2B5EF4-FFF2-40B4-BE49-F238E27FC236}">
                <a16:creationId xmlns:a16="http://schemas.microsoft.com/office/drawing/2014/main" id="{A625FFC8-5D3C-B436-BE0E-39F0C5AD13BE}"/>
              </a:ext>
            </a:extLst>
          </p:cNvPr>
          <p:cNvSpPr>
            <a:spLocks noGrp="1"/>
          </p:cNvSpPr>
          <p:nvPr>
            <p:ph idx="1"/>
          </p:nvPr>
        </p:nvSpPr>
        <p:spPr/>
        <p:txBody>
          <a:bodyPr>
            <a:normAutofit/>
          </a:bodyPr>
          <a:lstStyle/>
          <a:p>
            <a:r>
              <a:rPr lang="en-US" dirty="0"/>
              <a:t>Timing must align with the predetermined Future State implementation</a:t>
            </a:r>
          </a:p>
          <a:p>
            <a:r>
              <a:rPr lang="en-US" dirty="0"/>
              <a:t>Identify actions needed to execute the timing for the plan</a:t>
            </a:r>
          </a:p>
          <a:p>
            <a:r>
              <a:rPr lang="en-US" dirty="0"/>
              <a:t>Ensure the team is duly challenged to achieve the future state objectives</a:t>
            </a:r>
          </a:p>
          <a:p>
            <a:r>
              <a:rPr lang="en-US" dirty="0"/>
              <a:t>Create a review cadence to update the status of the Value Stream Plan objectives on a regular basis</a:t>
            </a:r>
          </a:p>
        </p:txBody>
      </p:sp>
      <p:grpSp>
        <p:nvGrpSpPr>
          <p:cNvPr id="5" name="Group 4">
            <a:extLst>
              <a:ext uri="{FF2B5EF4-FFF2-40B4-BE49-F238E27FC236}">
                <a16:creationId xmlns:a16="http://schemas.microsoft.com/office/drawing/2014/main" id="{521BFFBD-2C9C-6852-ECD2-43ECB931C81E}"/>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AD96A5E6-19C6-FC04-F387-A5A36150CE2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4811C111-D3B2-291F-9105-43B4DFB616E7}"/>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8E0CAD9-E996-4750-FC27-5B6607E1CE2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398EFF16-6694-9037-F826-3C5BB23770D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362874E7-CE94-25F1-C410-5689AD939E4F}"/>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8F74523-6B05-2A74-5611-2CD582F9692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94796A4E-05EB-A888-CA80-C8CDA3BF6EF8}"/>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130</a:t>
            </a:fld>
            <a:endParaRPr lang="en-US" dirty="0"/>
          </a:p>
        </p:txBody>
      </p:sp>
    </p:spTree>
    <p:extLst>
      <p:ext uri="{BB962C8B-B14F-4D97-AF65-F5344CB8AC3E}">
        <p14:creationId xmlns:p14="http://schemas.microsoft.com/office/powerpoint/2010/main" val="355800758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A9851C-D731-F57C-2EC1-9097EC0C6C81}"/>
              </a:ext>
            </a:extLst>
          </p:cNvPr>
          <p:cNvSpPr>
            <a:spLocks noGrp="1"/>
          </p:cNvSpPr>
          <p:nvPr>
            <p:ph type="title"/>
          </p:nvPr>
        </p:nvSpPr>
        <p:spPr/>
        <p:txBody>
          <a:bodyPr/>
          <a:lstStyle/>
          <a:p>
            <a:r>
              <a:rPr lang="en-US" dirty="0"/>
              <a:t>Timing of the Value Stream Plan</a:t>
            </a:r>
          </a:p>
        </p:txBody>
      </p:sp>
      <p:sp>
        <p:nvSpPr>
          <p:cNvPr id="3" name="Content Placeholder 2">
            <a:extLst>
              <a:ext uri="{FF2B5EF4-FFF2-40B4-BE49-F238E27FC236}">
                <a16:creationId xmlns:a16="http://schemas.microsoft.com/office/drawing/2014/main" id="{A625FFC8-5D3C-B436-BE0E-39F0C5AD13BE}"/>
              </a:ext>
            </a:extLst>
          </p:cNvPr>
          <p:cNvSpPr>
            <a:spLocks noGrp="1"/>
          </p:cNvSpPr>
          <p:nvPr>
            <p:ph idx="1"/>
          </p:nvPr>
        </p:nvSpPr>
        <p:spPr>
          <a:xfrm>
            <a:off x="8864600" y="1825625"/>
            <a:ext cx="2489200" cy="4351338"/>
          </a:xfrm>
        </p:spPr>
        <p:txBody>
          <a:bodyPr>
            <a:normAutofit/>
          </a:bodyPr>
          <a:lstStyle/>
          <a:p>
            <a:r>
              <a:rPr lang="en-US" dirty="0"/>
              <a:t>VS Loop X</a:t>
            </a:r>
          </a:p>
          <a:p>
            <a:pPr lvl="1"/>
            <a:r>
              <a:rPr lang="en-US" dirty="0"/>
              <a:t>Burst #1</a:t>
            </a:r>
          </a:p>
          <a:p>
            <a:pPr lvl="1"/>
            <a:r>
              <a:rPr lang="en-US" dirty="0"/>
              <a:t>Burst #2</a:t>
            </a:r>
          </a:p>
          <a:p>
            <a:pPr lvl="1"/>
            <a:r>
              <a:rPr lang="en-US" dirty="0"/>
              <a:t>Burst #3</a:t>
            </a:r>
          </a:p>
          <a:p>
            <a:r>
              <a:rPr lang="en-US" dirty="0"/>
              <a:t>VS Loop Y</a:t>
            </a:r>
          </a:p>
          <a:p>
            <a:pPr lvl="1"/>
            <a:r>
              <a:rPr lang="en-US" dirty="0"/>
              <a:t>Burst #4</a:t>
            </a:r>
          </a:p>
          <a:p>
            <a:pPr lvl="1"/>
            <a:r>
              <a:rPr lang="en-US" dirty="0"/>
              <a:t>Burst #5</a:t>
            </a:r>
          </a:p>
          <a:p>
            <a:r>
              <a:rPr lang="en-US" dirty="0"/>
              <a:t>VS Loop Z</a:t>
            </a:r>
          </a:p>
          <a:p>
            <a:pPr lvl="1"/>
            <a:r>
              <a:rPr lang="en-US" dirty="0"/>
              <a:t>Burst #6</a:t>
            </a:r>
          </a:p>
          <a:p>
            <a:endParaRPr lang="en-US" dirty="0"/>
          </a:p>
        </p:txBody>
      </p:sp>
      <p:grpSp>
        <p:nvGrpSpPr>
          <p:cNvPr id="5" name="Group 4">
            <a:extLst>
              <a:ext uri="{FF2B5EF4-FFF2-40B4-BE49-F238E27FC236}">
                <a16:creationId xmlns:a16="http://schemas.microsoft.com/office/drawing/2014/main" id="{521BFFBD-2C9C-6852-ECD2-43ECB931C81E}"/>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AD96A5E6-19C6-FC04-F387-A5A36150CE2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4811C111-D3B2-291F-9105-43B4DFB616E7}"/>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8E0CAD9-E996-4750-FC27-5B6607E1CE2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398EFF16-6694-9037-F826-3C5BB23770D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362874E7-CE94-25F1-C410-5689AD939E4F}"/>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8F74523-6B05-2A74-5611-2CD582F9692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pic>
        <p:nvPicPr>
          <p:cNvPr id="16" name="Picture 75" descr="MME Future State">
            <a:extLst>
              <a:ext uri="{FF2B5EF4-FFF2-40B4-BE49-F238E27FC236}">
                <a16:creationId xmlns:a16="http://schemas.microsoft.com/office/drawing/2014/main" id="{A4E0CE99-A3F8-BCA2-35D7-B67A497AFD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3587" y="2394803"/>
            <a:ext cx="7153182" cy="287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76">
            <a:extLst>
              <a:ext uri="{FF2B5EF4-FFF2-40B4-BE49-F238E27FC236}">
                <a16:creationId xmlns:a16="http://schemas.microsoft.com/office/drawing/2014/main" id="{C133B10B-AAA3-DAD3-E0EF-D13603261933}"/>
              </a:ext>
            </a:extLst>
          </p:cNvPr>
          <p:cNvSpPr>
            <a:spLocks noChangeArrowheads="1"/>
          </p:cNvSpPr>
          <p:nvPr/>
        </p:nvSpPr>
        <p:spPr bwMode="auto">
          <a:xfrm>
            <a:off x="940249" y="1969353"/>
            <a:ext cx="7289351" cy="3432175"/>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8" name="Text Box 78">
            <a:extLst>
              <a:ext uri="{FF2B5EF4-FFF2-40B4-BE49-F238E27FC236}">
                <a16:creationId xmlns:a16="http://schemas.microsoft.com/office/drawing/2014/main" id="{84338F3F-9584-9101-60EC-4F9ED846924B}"/>
              </a:ext>
            </a:extLst>
          </p:cNvPr>
          <p:cNvSpPr txBox="1">
            <a:spLocks noChangeArrowheads="1"/>
          </p:cNvSpPr>
          <p:nvPr/>
        </p:nvSpPr>
        <p:spPr bwMode="auto">
          <a:xfrm>
            <a:off x="1027561" y="2045553"/>
            <a:ext cx="4541843" cy="31115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Completed Future State Map</a:t>
            </a:r>
            <a:endParaRPr lang="en-US" altLang="en-US" sz="1400" dirty="0"/>
          </a:p>
        </p:txBody>
      </p:sp>
      <p:sp>
        <p:nvSpPr>
          <p:cNvPr id="19" name="Text Box 80">
            <a:extLst>
              <a:ext uri="{FF2B5EF4-FFF2-40B4-BE49-F238E27FC236}">
                <a16:creationId xmlns:a16="http://schemas.microsoft.com/office/drawing/2014/main" id="{7C983CA2-6F90-B9F2-6C3C-67A8804F301D}"/>
              </a:ext>
            </a:extLst>
          </p:cNvPr>
          <p:cNvSpPr txBox="1">
            <a:spLocks noChangeArrowheads="1"/>
          </p:cNvSpPr>
          <p:nvPr/>
        </p:nvSpPr>
        <p:spPr bwMode="auto">
          <a:xfrm>
            <a:off x="2494412" y="5796816"/>
            <a:ext cx="4842728" cy="31115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Marked Up Current State Map</a:t>
            </a:r>
            <a:endParaRPr lang="en-US" altLang="en-US" sz="1400" dirty="0"/>
          </a:p>
        </p:txBody>
      </p:sp>
      <p:sp>
        <p:nvSpPr>
          <p:cNvPr id="12" name="Slide Number Placeholder 2">
            <a:extLst>
              <a:ext uri="{FF2B5EF4-FFF2-40B4-BE49-F238E27FC236}">
                <a16:creationId xmlns:a16="http://schemas.microsoft.com/office/drawing/2014/main" id="{81D0AC24-CA19-1B9A-1191-AD494D367B2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131</a:t>
            </a:fld>
            <a:endParaRPr lang="en-US" dirty="0"/>
          </a:p>
        </p:txBody>
      </p:sp>
    </p:spTree>
    <p:extLst>
      <p:ext uri="{BB962C8B-B14F-4D97-AF65-F5344CB8AC3E}">
        <p14:creationId xmlns:p14="http://schemas.microsoft.com/office/powerpoint/2010/main" val="2567027693"/>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A9851C-D731-F57C-2EC1-9097EC0C6C81}"/>
              </a:ext>
            </a:extLst>
          </p:cNvPr>
          <p:cNvSpPr>
            <a:spLocks noGrp="1"/>
          </p:cNvSpPr>
          <p:nvPr>
            <p:ph type="title"/>
          </p:nvPr>
        </p:nvSpPr>
        <p:spPr/>
        <p:txBody>
          <a:bodyPr>
            <a:noAutofit/>
          </a:bodyPr>
          <a:lstStyle/>
          <a:p>
            <a:r>
              <a:rPr lang="en-US" altLang="en-US" sz="3600" dirty="0"/>
              <a:t>Prioritize Kaizen Bursts translate </a:t>
            </a:r>
            <a:br>
              <a:rPr lang="en-US" altLang="en-US" sz="3600" dirty="0"/>
            </a:br>
            <a:r>
              <a:rPr lang="en-US" altLang="en-US" sz="3600" dirty="0"/>
              <a:t>to Value Stream Plan Activities</a:t>
            </a:r>
            <a:endParaRPr lang="en-US" sz="3600" dirty="0"/>
          </a:p>
        </p:txBody>
      </p:sp>
      <p:grpSp>
        <p:nvGrpSpPr>
          <p:cNvPr id="5" name="Group 4">
            <a:extLst>
              <a:ext uri="{FF2B5EF4-FFF2-40B4-BE49-F238E27FC236}">
                <a16:creationId xmlns:a16="http://schemas.microsoft.com/office/drawing/2014/main" id="{521BFFBD-2C9C-6852-ECD2-43ECB931C81E}"/>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AD96A5E6-19C6-FC04-F387-A5A36150CE2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4811C111-D3B2-291F-9105-43B4DFB616E7}"/>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8E0CAD9-E996-4750-FC27-5B6607E1CE2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398EFF16-6694-9037-F826-3C5BB23770D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362874E7-CE94-25F1-C410-5689AD939E4F}"/>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8F74523-6B05-2A74-5611-2CD582F9692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pic>
        <p:nvPicPr>
          <p:cNvPr id="13" name="Picture 11" descr="Blank VS Plan">
            <a:extLst>
              <a:ext uri="{FF2B5EF4-FFF2-40B4-BE49-F238E27FC236}">
                <a16:creationId xmlns:a16="http://schemas.microsoft.com/office/drawing/2014/main" id="{F75ABAF8-BCBD-FF14-11B4-026BAB5D7FF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2028" y="1757255"/>
            <a:ext cx="8247945" cy="455887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3" name="Slide Number Placeholder 2">
            <a:extLst>
              <a:ext uri="{FF2B5EF4-FFF2-40B4-BE49-F238E27FC236}">
                <a16:creationId xmlns:a16="http://schemas.microsoft.com/office/drawing/2014/main" id="{99BDA856-7944-506E-A6AB-985184B85D01}"/>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132</a:t>
            </a:fld>
            <a:endParaRPr lang="en-US" dirty="0"/>
          </a:p>
        </p:txBody>
      </p:sp>
    </p:spTree>
    <p:extLst>
      <p:ext uri="{BB962C8B-B14F-4D97-AF65-F5344CB8AC3E}">
        <p14:creationId xmlns:p14="http://schemas.microsoft.com/office/powerpoint/2010/main" val="302301149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A9851C-D731-F57C-2EC1-9097EC0C6C81}"/>
              </a:ext>
            </a:extLst>
          </p:cNvPr>
          <p:cNvSpPr>
            <a:spLocks noGrp="1"/>
          </p:cNvSpPr>
          <p:nvPr>
            <p:ph type="title"/>
          </p:nvPr>
        </p:nvSpPr>
        <p:spPr/>
        <p:txBody>
          <a:bodyPr>
            <a:noAutofit/>
          </a:bodyPr>
          <a:lstStyle/>
          <a:p>
            <a:r>
              <a:rPr lang="en-US" altLang="en-US" sz="3600" dirty="0"/>
              <a:t>Prioritize Kaizen Bursts translate </a:t>
            </a:r>
            <a:br>
              <a:rPr lang="en-US" altLang="en-US" sz="3600" dirty="0"/>
            </a:br>
            <a:r>
              <a:rPr lang="en-US" altLang="en-US" sz="3600" dirty="0"/>
              <a:t>to Value Stream Plan Activities</a:t>
            </a:r>
            <a:endParaRPr lang="en-US" sz="3600" dirty="0"/>
          </a:p>
        </p:txBody>
      </p:sp>
      <p:grpSp>
        <p:nvGrpSpPr>
          <p:cNvPr id="5" name="Group 4">
            <a:extLst>
              <a:ext uri="{FF2B5EF4-FFF2-40B4-BE49-F238E27FC236}">
                <a16:creationId xmlns:a16="http://schemas.microsoft.com/office/drawing/2014/main" id="{521BFFBD-2C9C-6852-ECD2-43ECB931C81E}"/>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AD96A5E6-19C6-FC04-F387-A5A36150CE21}"/>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4811C111-D3B2-291F-9105-43B4DFB616E7}"/>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F8E0CAD9-E996-4750-FC27-5B6607E1CE25}"/>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398EFF16-6694-9037-F826-3C5BB23770D6}"/>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362874E7-CE94-25F1-C410-5689AD939E4F}"/>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8F74523-6B05-2A74-5611-2CD582F9692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pic>
        <p:nvPicPr>
          <p:cNvPr id="3" name="Picture 19" descr="VS Plan">
            <a:extLst>
              <a:ext uri="{FF2B5EF4-FFF2-40B4-BE49-F238E27FC236}">
                <a16:creationId xmlns:a16="http://schemas.microsoft.com/office/drawing/2014/main" id="{B2B30A14-51A5-9861-4D65-F55462FE7D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1519" y="1778530"/>
            <a:ext cx="8208963" cy="4533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2" name="Slide Number Placeholder 2">
            <a:extLst>
              <a:ext uri="{FF2B5EF4-FFF2-40B4-BE49-F238E27FC236}">
                <a16:creationId xmlns:a16="http://schemas.microsoft.com/office/drawing/2014/main" id="{8375DC0E-224E-1E9E-44CB-4AD1F467234B}"/>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133</a:t>
            </a:fld>
            <a:endParaRPr lang="en-US" dirty="0"/>
          </a:p>
        </p:txBody>
      </p:sp>
    </p:spTree>
    <p:extLst>
      <p:ext uri="{BB962C8B-B14F-4D97-AF65-F5344CB8AC3E}">
        <p14:creationId xmlns:p14="http://schemas.microsoft.com/office/powerpoint/2010/main" val="131476917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Follow up and monitoring of Value Stream Plan</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p:txBody>
          <a:bodyPr>
            <a:normAutofit/>
          </a:bodyPr>
          <a:lstStyle/>
          <a:p>
            <a:r>
              <a:rPr lang="en-US" dirty="0"/>
              <a:t>Monitoring of progress is crucial to success</a:t>
            </a:r>
          </a:p>
          <a:p>
            <a:r>
              <a:rPr lang="en-US" dirty="0"/>
              <a:t>What does not get followed up on – does not get done</a:t>
            </a:r>
          </a:p>
          <a:p>
            <a:r>
              <a:rPr lang="en-US" dirty="0"/>
              <a:t>Conduct weekly status review with Value Stream Owner</a:t>
            </a:r>
          </a:p>
          <a:p>
            <a:r>
              <a:rPr lang="en-US" dirty="0"/>
              <a:t>Value Stream Manager should review progress every two weeks</a:t>
            </a:r>
          </a:p>
          <a:p>
            <a:r>
              <a:rPr lang="en-US" dirty="0"/>
              <a:t>Reviews conducted on-site and focus on incomplete items</a:t>
            </a:r>
          </a:p>
          <a:p>
            <a:r>
              <a:rPr lang="en-US" dirty="0"/>
              <a:t>Progress should be reviewed with Business Unit Owner Monthly</a:t>
            </a:r>
          </a:p>
          <a:p>
            <a:endParaRPr lang="en-US" dirty="0"/>
          </a:p>
          <a:p>
            <a:endParaRPr lang="en-US" dirty="0"/>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CF0511E9-444E-D9BE-6014-7BE04F55AF58}"/>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134</a:t>
            </a:fld>
            <a:endParaRPr lang="en-US" dirty="0"/>
          </a:p>
        </p:txBody>
      </p:sp>
    </p:spTree>
    <p:extLst>
      <p:ext uri="{BB962C8B-B14F-4D97-AF65-F5344CB8AC3E}">
        <p14:creationId xmlns:p14="http://schemas.microsoft.com/office/powerpoint/2010/main" val="410275737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VSM in Context</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a:xfrm>
            <a:off x="838200" y="1825625"/>
            <a:ext cx="2453951" cy="2711299"/>
          </a:xfrm>
        </p:spPr>
        <p:txBody>
          <a:bodyPr>
            <a:normAutofit fontScale="92500" lnSpcReduction="10000"/>
          </a:bodyPr>
          <a:lstStyle/>
          <a:p>
            <a:pPr>
              <a:spcBef>
                <a:spcPct val="20000"/>
              </a:spcBef>
              <a:spcAft>
                <a:spcPct val="20000"/>
              </a:spcAft>
            </a:pPr>
            <a:r>
              <a:rPr lang="en-US" altLang="en-US" sz="2400" dirty="0"/>
              <a:t>VSM is an incremental and repeatable cycle</a:t>
            </a:r>
          </a:p>
          <a:p>
            <a:pPr>
              <a:spcBef>
                <a:spcPct val="20000"/>
              </a:spcBef>
              <a:spcAft>
                <a:spcPct val="20000"/>
              </a:spcAft>
            </a:pPr>
            <a:r>
              <a:rPr lang="en-US" altLang="en-US" sz="2400" dirty="0"/>
              <a:t>VSM implementation cycles should support business</a:t>
            </a:r>
            <a:r>
              <a:rPr lang="ja-JP" altLang="en-US" sz="2400"/>
              <a:t>’</a:t>
            </a:r>
            <a:r>
              <a:rPr lang="en-US" altLang="ja-JP" sz="2400" dirty="0"/>
              <a:t> long-term </a:t>
            </a:r>
            <a:r>
              <a:rPr lang="ja-JP" altLang="en-US" sz="2400"/>
              <a:t>“</a:t>
            </a:r>
            <a:r>
              <a:rPr lang="en-US" altLang="ja-JP" sz="2400" dirty="0"/>
              <a:t>vision</a:t>
            </a:r>
            <a:r>
              <a:rPr lang="ja-JP" altLang="en-US" sz="2400"/>
              <a:t>”</a:t>
            </a:r>
            <a:r>
              <a:rPr lang="en-US" altLang="ja-JP" sz="2400" dirty="0"/>
              <a:t> </a:t>
            </a:r>
            <a:endParaRPr lang="en-US" altLang="en-US" sz="2400" dirty="0"/>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Rectangle 13">
            <a:extLst>
              <a:ext uri="{FF2B5EF4-FFF2-40B4-BE49-F238E27FC236}">
                <a16:creationId xmlns:a16="http://schemas.microsoft.com/office/drawing/2014/main" id="{152F85AB-D980-C8B6-967E-F0C8482B5A63}"/>
              </a:ext>
            </a:extLst>
          </p:cNvPr>
          <p:cNvSpPr>
            <a:spLocks noChangeArrowheads="1"/>
          </p:cNvSpPr>
          <p:nvPr/>
        </p:nvSpPr>
        <p:spPr bwMode="auto">
          <a:xfrm>
            <a:off x="4038600" y="2501761"/>
            <a:ext cx="1066800" cy="685800"/>
          </a:xfrm>
          <a:prstGeom prst="rec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solidFill>
                  <a:schemeClr val="bg1"/>
                </a:solidFill>
              </a:rPr>
              <a:t>VSM</a:t>
            </a:r>
          </a:p>
          <a:p>
            <a:pPr algn="ctr">
              <a:lnSpc>
                <a:spcPct val="100000"/>
              </a:lnSpc>
              <a:spcBef>
                <a:spcPct val="30000"/>
              </a:spcBef>
              <a:spcAft>
                <a:spcPct val="0"/>
              </a:spcAft>
              <a:buClrTx/>
              <a:buSzTx/>
              <a:buFontTx/>
              <a:buNone/>
            </a:pPr>
            <a:r>
              <a:rPr lang="ja-JP" altLang="en-US" sz="1200">
                <a:solidFill>
                  <a:schemeClr val="bg1"/>
                </a:solidFill>
              </a:rPr>
              <a:t>“</a:t>
            </a:r>
            <a:r>
              <a:rPr lang="en-US" altLang="ja-JP" sz="1200" dirty="0">
                <a:solidFill>
                  <a:schemeClr val="bg1"/>
                </a:solidFill>
              </a:rPr>
              <a:t>Event</a:t>
            </a:r>
            <a:r>
              <a:rPr lang="ja-JP" altLang="en-US" sz="1200">
                <a:solidFill>
                  <a:schemeClr val="bg1"/>
                </a:solidFill>
              </a:rPr>
              <a:t>”</a:t>
            </a:r>
            <a:endParaRPr lang="en-US" altLang="en-US" sz="1200" dirty="0">
              <a:solidFill>
                <a:schemeClr val="bg1"/>
              </a:solidFill>
            </a:endParaRPr>
          </a:p>
        </p:txBody>
      </p:sp>
      <p:sp>
        <p:nvSpPr>
          <p:cNvPr id="13" name="AutoShape 14">
            <a:extLst>
              <a:ext uri="{FF2B5EF4-FFF2-40B4-BE49-F238E27FC236}">
                <a16:creationId xmlns:a16="http://schemas.microsoft.com/office/drawing/2014/main" id="{D0DBFD24-B079-945E-2A99-DCBCC0562B14}"/>
              </a:ext>
            </a:extLst>
          </p:cNvPr>
          <p:cNvSpPr>
            <a:spLocks noChangeArrowheads="1"/>
          </p:cNvSpPr>
          <p:nvPr/>
        </p:nvSpPr>
        <p:spPr bwMode="auto">
          <a:xfrm>
            <a:off x="4191000" y="4025761"/>
            <a:ext cx="914400" cy="609600"/>
          </a:xfrm>
          <a:prstGeom prst="flowChartDocumen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solidFill>
                  <a:schemeClr val="bg1"/>
                </a:solidFill>
              </a:rPr>
              <a:t>Future-State</a:t>
            </a:r>
          </a:p>
          <a:p>
            <a:pPr algn="ctr">
              <a:lnSpc>
                <a:spcPct val="100000"/>
              </a:lnSpc>
              <a:spcBef>
                <a:spcPct val="30000"/>
              </a:spcBef>
              <a:spcAft>
                <a:spcPct val="0"/>
              </a:spcAft>
              <a:buClrTx/>
              <a:buSzTx/>
              <a:buFontTx/>
              <a:buNone/>
            </a:pPr>
            <a:r>
              <a:rPr lang="en-US" altLang="en-US" sz="1200" dirty="0">
                <a:solidFill>
                  <a:schemeClr val="bg1"/>
                </a:solidFill>
              </a:rPr>
              <a:t>VSM</a:t>
            </a:r>
          </a:p>
        </p:txBody>
      </p:sp>
      <p:sp>
        <p:nvSpPr>
          <p:cNvPr id="14" name="AutoShape 15">
            <a:extLst>
              <a:ext uri="{FF2B5EF4-FFF2-40B4-BE49-F238E27FC236}">
                <a16:creationId xmlns:a16="http://schemas.microsoft.com/office/drawing/2014/main" id="{340D9F38-AE89-EDA4-5467-6CCE3EFA34EE}"/>
              </a:ext>
            </a:extLst>
          </p:cNvPr>
          <p:cNvSpPr>
            <a:spLocks noChangeArrowheads="1"/>
          </p:cNvSpPr>
          <p:nvPr/>
        </p:nvSpPr>
        <p:spPr bwMode="auto">
          <a:xfrm>
            <a:off x="4648200" y="3492361"/>
            <a:ext cx="914400" cy="609600"/>
          </a:xfrm>
          <a:prstGeom prst="flowChartDocumen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dirty="0">
                <a:solidFill>
                  <a:schemeClr val="bg1"/>
                </a:solidFill>
              </a:rPr>
              <a:t>Value Stream</a:t>
            </a:r>
          </a:p>
          <a:p>
            <a:pPr algn="ctr">
              <a:lnSpc>
                <a:spcPct val="100000"/>
              </a:lnSpc>
              <a:spcBef>
                <a:spcPct val="30000"/>
              </a:spcBef>
              <a:spcAft>
                <a:spcPct val="0"/>
              </a:spcAft>
              <a:buClrTx/>
              <a:buSzTx/>
              <a:buFontTx/>
              <a:buNone/>
            </a:pPr>
            <a:r>
              <a:rPr lang="en-US" altLang="en-US" sz="1100" dirty="0">
                <a:solidFill>
                  <a:schemeClr val="bg1"/>
                </a:solidFill>
              </a:rPr>
              <a:t>Plan</a:t>
            </a:r>
          </a:p>
        </p:txBody>
      </p:sp>
      <p:sp>
        <p:nvSpPr>
          <p:cNvPr id="15" name="Line 16">
            <a:extLst>
              <a:ext uri="{FF2B5EF4-FFF2-40B4-BE49-F238E27FC236}">
                <a16:creationId xmlns:a16="http://schemas.microsoft.com/office/drawing/2014/main" id="{D4FE94C9-A916-E298-52A4-6ADBF4E23D2D}"/>
              </a:ext>
            </a:extLst>
          </p:cNvPr>
          <p:cNvSpPr>
            <a:spLocks noChangeShapeType="1"/>
          </p:cNvSpPr>
          <p:nvPr/>
        </p:nvSpPr>
        <p:spPr bwMode="auto">
          <a:xfrm>
            <a:off x="4876800" y="3187561"/>
            <a:ext cx="228600" cy="3048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6" name="Line 17">
            <a:extLst>
              <a:ext uri="{FF2B5EF4-FFF2-40B4-BE49-F238E27FC236}">
                <a16:creationId xmlns:a16="http://schemas.microsoft.com/office/drawing/2014/main" id="{45D42E3E-66B5-92F8-C8FD-0414300267CC}"/>
              </a:ext>
            </a:extLst>
          </p:cNvPr>
          <p:cNvSpPr>
            <a:spLocks noChangeShapeType="1"/>
          </p:cNvSpPr>
          <p:nvPr/>
        </p:nvSpPr>
        <p:spPr bwMode="auto">
          <a:xfrm>
            <a:off x="4343400" y="3187561"/>
            <a:ext cx="76200" cy="8382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17" name="Rectangle 18">
            <a:extLst>
              <a:ext uri="{FF2B5EF4-FFF2-40B4-BE49-F238E27FC236}">
                <a16:creationId xmlns:a16="http://schemas.microsoft.com/office/drawing/2014/main" id="{82B0CA5D-991E-690A-8C6E-D47C93C8D1B2}"/>
              </a:ext>
            </a:extLst>
          </p:cNvPr>
          <p:cNvSpPr>
            <a:spLocks noChangeArrowheads="1"/>
          </p:cNvSpPr>
          <p:nvPr/>
        </p:nvSpPr>
        <p:spPr bwMode="auto">
          <a:xfrm>
            <a:off x="6096000" y="2349361"/>
            <a:ext cx="1219200" cy="990600"/>
          </a:xfrm>
          <a:prstGeom prst="rec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solidFill>
                  <a:schemeClr val="bg1"/>
                </a:solidFill>
              </a:rPr>
              <a:t>VS Plan</a:t>
            </a:r>
          </a:p>
          <a:p>
            <a:pPr algn="ctr">
              <a:lnSpc>
                <a:spcPct val="100000"/>
              </a:lnSpc>
              <a:spcBef>
                <a:spcPct val="30000"/>
              </a:spcBef>
              <a:spcAft>
                <a:spcPct val="0"/>
              </a:spcAft>
              <a:buClrTx/>
              <a:buSzTx/>
              <a:buFontTx/>
              <a:buNone/>
            </a:pPr>
            <a:r>
              <a:rPr lang="en-US" altLang="en-US" sz="1200" dirty="0">
                <a:solidFill>
                  <a:schemeClr val="bg1"/>
                </a:solidFill>
              </a:rPr>
              <a:t>Implementation</a:t>
            </a:r>
          </a:p>
        </p:txBody>
      </p:sp>
      <p:sp>
        <p:nvSpPr>
          <p:cNvPr id="18" name="Rectangle 19">
            <a:extLst>
              <a:ext uri="{FF2B5EF4-FFF2-40B4-BE49-F238E27FC236}">
                <a16:creationId xmlns:a16="http://schemas.microsoft.com/office/drawing/2014/main" id="{5C731AB0-3773-A28C-6F85-C883F5F92D00}"/>
              </a:ext>
            </a:extLst>
          </p:cNvPr>
          <p:cNvSpPr>
            <a:spLocks noChangeArrowheads="1"/>
          </p:cNvSpPr>
          <p:nvPr/>
        </p:nvSpPr>
        <p:spPr bwMode="auto">
          <a:xfrm>
            <a:off x="8229600" y="2501761"/>
            <a:ext cx="1066800" cy="685800"/>
          </a:xfrm>
          <a:prstGeom prst="rec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solidFill>
                  <a:schemeClr val="bg1"/>
                </a:solidFill>
              </a:rPr>
              <a:t>New</a:t>
            </a:r>
          </a:p>
          <a:p>
            <a:pPr algn="ctr">
              <a:lnSpc>
                <a:spcPct val="100000"/>
              </a:lnSpc>
              <a:spcBef>
                <a:spcPct val="30000"/>
              </a:spcBef>
              <a:spcAft>
                <a:spcPct val="0"/>
              </a:spcAft>
              <a:buClrTx/>
              <a:buSzTx/>
              <a:buFontTx/>
              <a:buNone/>
            </a:pPr>
            <a:r>
              <a:rPr lang="en-US" altLang="en-US" sz="1200" dirty="0">
                <a:solidFill>
                  <a:schemeClr val="bg1"/>
                </a:solidFill>
              </a:rPr>
              <a:t>VSM</a:t>
            </a:r>
          </a:p>
          <a:p>
            <a:pPr algn="ctr">
              <a:lnSpc>
                <a:spcPct val="100000"/>
              </a:lnSpc>
              <a:spcBef>
                <a:spcPct val="30000"/>
              </a:spcBef>
              <a:spcAft>
                <a:spcPct val="0"/>
              </a:spcAft>
              <a:buClrTx/>
              <a:buSzTx/>
              <a:buFontTx/>
              <a:buNone/>
            </a:pPr>
            <a:r>
              <a:rPr lang="ja-JP" altLang="en-US" sz="1200">
                <a:solidFill>
                  <a:schemeClr val="bg1"/>
                </a:solidFill>
              </a:rPr>
              <a:t>“</a:t>
            </a:r>
            <a:r>
              <a:rPr lang="en-US" altLang="ja-JP" sz="1200" dirty="0">
                <a:solidFill>
                  <a:schemeClr val="bg1"/>
                </a:solidFill>
              </a:rPr>
              <a:t>Event</a:t>
            </a:r>
            <a:r>
              <a:rPr lang="ja-JP" altLang="en-US" sz="1200">
                <a:solidFill>
                  <a:schemeClr val="bg1"/>
                </a:solidFill>
              </a:rPr>
              <a:t>”</a:t>
            </a:r>
            <a:endParaRPr lang="en-US" altLang="en-US" sz="1200" dirty="0">
              <a:solidFill>
                <a:schemeClr val="bg1"/>
              </a:solidFill>
            </a:endParaRPr>
          </a:p>
        </p:txBody>
      </p:sp>
      <p:sp>
        <p:nvSpPr>
          <p:cNvPr id="19" name="AutoShape 20">
            <a:extLst>
              <a:ext uri="{FF2B5EF4-FFF2-40B4-BE49-F238E27FC236}">
                <a16:creationId xmlns:a16="http://schemas.microsoft.com/office/drawing/2014/main" id="{21917F19-98D3-CA5E-0B3F-7485C4858CD5}"/>
              </a:ext>
            </a:extLst>
          </p:cNvPr>
          <p:cNvSpPr>
            <a:spLocks noChangeArrowheads="1"/>
          </p:cNvSpPr>
          <p:nvPr/>
        </p:nvSpPr>
        <p:spPr bwMode="auto">
          <a:xfrm>
            <a:off x="8229600" y="4101961"/>
            <a:ext cx="914400" cy="685800"/>
          </a:xfrm>
          <a:prstGeom prst="flowChartDocumen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dirty="0">
                <a:solidFill>
                  <a:schemeClr val="bg1"/>
                </a:solidFill>
              </a:rPr>
              <a:t>New</a:t>
            </a:r>
          </a:p>
          <a:p>
            <a:pPr algn="ctr">
              <a:lnSpc>
                <a:spcPct val="100000"/>
              </a:lnSpc>
              <a:spcBef>
                <a:spcPct val="30000"/>
              </a:spcBef>
              <a:spcAft>
                <a:spcPct val="0"/>
              </a:spcAft>
              <a:buClrTx/>
              <a:buSzTx/>
              <a:buFontTx/>
              <a:buNone/>
            </a:pPr>
            <a:r>
              <a:rPr lang="en-US" altLang="en-US" sz="1100" dirty="0">
                <a:solidFill>
                  <a:schemeClr val="bg1"/>
                </a:solidFill>
              </a:rPr>
              <a:t>Future-State</a:t>
            </a:r>
          </a:p>
          <a:p>
            <a:pPr algn="ctr">
              <a:lnSpc>
                <a:spcPct val="100000"/>
              </a:lnSpc>
              <a:spcBef>
                <a:spcPct val="30000"/>
              </a:spcBef>
              <a:spcAft>
                <a:spcPct val="0"/>
              </a:spcAft>
              <a:buClrTx/>
              <a:buSzTx/>
              <a:buFontTx/>
              <a:buNone/>
            </a:pPr>
            <a:r>
              <a:rPr lang="en-US" altLang="en-US" sz="1100" dirty="0">
                <a:solidFill>
                  <a:schemeClr val="bg1"/>
                </a:solidFill>
              </a:rPr>
              <a:t>VSM</a:t>
            </a:r>
          </a:p>
        </p:txBody>
      </p:sp>
      <p:sp>
        <p:nvSpPr>
          <p:cNvPr id="20" name="AutoShape 21">
            <a:extLst>
              <a:ext uri="{FF2B5EF4-FFF2-40B4-BE49-F238E27FC236}">
                <a16:creationId xmlns:a16="http://schemas.microsoft.com/office/drawing/2014/main" id="{73D860F7-78E4-8216-AE71-F8727CE7C3B2}"/>
              </a:ext>
            </a:extLst>
          </p:cNvPr>
          <p:cNvSpPr>
            <a:spLocks noChangeArrowheads="1"/>
          </p:cNvSpPr>
          <p:nvPr/>
        </p:nvSpPr>
        <p:spPr bwMode="auto">
          <a:xfrm>
            <a:off x="8616950" y="3339961"/>
            <a:ext cx="984250" cy="762000"/>
          </a:xfrm>
          <a:prstGeom prst="flowChartDocument">
            <a:avLst/>
          </a:prstGeom>
          <a:solidFill>
            <a:srgbClr val="7F7F7F"/>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100" dirty="0">
                <a:solidFill>
                  <a:schemeClr val="bg1"/>
                </a:solidFill>
              </a:rPr>
              <a:t>New </a:t>
            </a:r>
          </a:p>
          <a:p>
            <a:pPr algn="ctr">
              <a:lnSpc>
                <a:spcPct val="100000"/>
              </a:lnSpc>
              <a:spcBef>
                <a:spcPct val="30000"/>
              </a:spcBef>
              <a:spcAft>
                <a:spcPct val="0"/>
              </a:spcAft>
              <a:buClrTx/>
              <a:buSzTx/>
              <a:buFontTx/>
              <a:buNone/>
            </a:pPr>
            <a:r>
              <a:rPr lang="en-US" altLang="en-US" sz="1100" dirty="0">
                <a:solidFill>
                  <a:schemeClr val="bg1"/>
                </a:solidFill>
              </a:rPr>
              <a:t>Value Stream</a:t>
            </a:r>
          </a:p>
          <a:p>
            <a:pPr algn="ctr">
              <a:lnSpc>
                <a:spcPct val="100000"/>
              </a:lnSpc>
              <a:spcBef>
                <a:spcPct val="30000"/>
              </a:spcBef>
              <a:spcAft>
                <a:spcPct val="0"/>
              </a:spcAft>
              <a:buClrTx/>
              <a:buSzTx/>
              <a:buFontTx/>
              <a:buNone/>
            </a:pPr>
            <a:r>
              <a:rPr lang="en-US" altLang="en-US" sz="1100" dirty="0">
                <a:solidFill>
                  <a:schemeClr val="bg1"/>
                </a:solidFill>
              </a:rPr>
              <a:t>Plan</a:t>
            </a:r>
          </a:p>
        </p:txBody>
      </p:sp>
      <p:sp>
        <p:nvSpPr>
          <p:cNvPr id="21" name="Line 22">
            <a:extLst>
              <a:ext uri="{FF2B5EF4-FFF2-40B4-BE49-F238E27FC236}">
                <a16:creationId xmlns:a16="http://schemas.microsoft.com/office/drawing/2014/main" id="{7CD651B0-18C0-4C9A-5DDE-3541B5DDF56B}"/>
              </a:ext>
            </a:extLst>
          </p:cNvPr>
          <p:cNvSpPr>
            <a:spLocks noChangeShapeType="1"/>
          </p:cNvSpPr>
          <p:nvPr/>
        </p:nvSpPr>
        <p:spPr bwMode="auto">
          <a:xfrm>
            <a:off x="8915400" y="3187561"/>
            <a:ext cx="152400" cy="1524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22" name="Line 23">
            <a:extLst>
              <a:ext uri="{FF2B5EF4-FFF2-40B4-BE49-F238E27FC236}">
                <a16:creationId xmlns:a16="http://schemas.microsoft.com/office/drawing/2014/main" id="{68317DC9-BAFD-B3C4-FBD2-3C569D89A168}"/>
              </a:ext>
            </a:extLst>
          </p:cNvPr>
          <p:cNvSpPr>
            <a:spLocks noChangeShapeType="1"/>
          </p:cNvSpPr>
          <p:nvPr/>
        </p:nvSpPr>
        <p:spPr bwMode="auto">
          <a:xfrm>
            <a:off x="8382000" y="3187561"/>
            <a:ext cx="152400" cy="9144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cxnSp>
        <p:nvCxnSpPr>
          <p:cNvPr id="23" name="AutoShape 24">
            <a:extLst>
              <a:ext uri="{FF2B5EF4-FFF2-40B4-BE49-F238E27FC236}">
                <a16:creationId xmlns:a16="http://schemas.microsoft.com/office/drawing/2014/main" id="{8FFAC33F-8471-EACF-F6FE-D61420B4579B}"/>
              </a:ext>
            </a:extLst>
          </p:cNvPr>
          <p:cNvCxnSpPr>
            <a:cxnSpLocks noChangeShapeType="1"/>
            <a:stCxn id="12" idx="3"/>
            <a:endCxn id="17" idx="1"/>
          </p:cNvCxnSpPr>
          <p:nvPr/>
        </p:nvCxnSpPr>
        <p:spPr bwMode="auto">
          <a:xfrm>
            <a:off x="5105400" y="2844661"/>
            <a:ext cx="9906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4" name="AutoShape 25">
            <a:extLst>
              <a:ext uri="{FF2B5EF4-FFF2-40B4-BE49-F238E27FC236}">
                <a16:creationId xmlns:a16="http://schemas.microsoft.com/office/drawing/2014/main" id="{F62F37A6-0494-10BE-8BB1-3791A7A9DFE6}"/>
              </a:ext>
            </a:extLst>
          </p:cNvPr>
          <p:cNvCxnSpPr>
            <a:cxnSpLocks noChangeShapeType="1"/>
            <a:stCxn id="17" idx="3"/>
            <a:endCxn id="18" idx="1"/>
          </p:cNvCxnSpPr>
          <p:nvPr/>
        </p:nvCxnSpPr>
        <p:spPr bwMode="auto">
          <a:xfrm>
            <a:off x="7315200" y="2844661"/>
            <a:ext cx="9144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5" name="AutoShape 26">
            <a:extLst>
              <a:ext uri="{FF2B5EF4-FFF2-40B4-BE49-F238E27FC236}">
                <a16:creationId xmlns:a16="http://schemas.microsoft.com/office/drawing/2014/main" id="{087637B6-A936-3E4D-D744-5604812B21B2}"/>
              </a:ext>
            </a:extLst>
          </p:cNvPr>
          <p:cNvCxnSpPr>
            <a:cxnSpLocks noChangeShapeType="1"/>
            <a:stCxn id="18" idx="3"/>
            <a:endCxn id="32" idx="1"/>
          </p:cNvCxnSpPr>
          <p:nvPr/>
        </p:nvCxnSpPr>
        <p:spPr bwMode="auto">
          <a:xfrm>
            <a:off x="9296400" y="2844661"/>
            <a:ext cx="9906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26" name="Line 27">
            <a:extLst>
              <a:ext uri="{FF2B5EF4-FFF2-40B4-BE49-F238E27FC236}">
                <a16:creationId xmlns:a16="http://schemas.microsoft.com/office/drawing/2014/main" id="{AB533F6C-8689-5989-A93F-38AAA03C64F4}"/>
              </a:ext>
            </a:extLst>
          </p:cNvPr>
          <p:cNvSpPr>
            <a:spLocks noChangeShapeType="1"/>
          </p:cNvSpPr>
          <p:nvPr/>
        </p:nvSpPr>
        <p:spPr bwMode="auto">
          <a:xfrm flipV="1">
            <a:off x="5181600" y="2092186"/>
            <a:ext cx="3048000" cy="0"/>
          </a:xfrm>
          <a:prstGeom prst="line">
            <a:avLst/>
          </a:prstGeom>
          <a:noFill/>
          <a:ln w="28575" cap="sq">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endParaRPr lang="en-US" dirty="0"/>
          </a:p>
        </p:txBody>
      </p:sp>
      <p:sp>
        <p:nvSpPr>
          <p:cNvPr id="27" name="Text Box 28">
            <a:extLst>
              <a:ext uri="{FF2B5EF4-FFF2-40B4-BE49-F238E27FC236}">
                <a16:creationId xmlns:a16="http://schemas.microsoft.com/office/drawing/2014/main" id="{BF36B4EB-FE9E-BE2C-A79B-77635AEFEFEB}"/>
              </a:ext>
            </a:extLst>
          </p:cNvPr>
          <p:cNvSpPr txBox="1">
            <a:spLocks noChangeArrowheads="1"/>
          </p:cNvSpPr>
          <p:nvPr/>
        </p:nvSpPr>
        <p:spPr bwMode="auto">
          <a:xfrm>
            <a:off x="5888038" y="1911211"/>
            <a:ext cx="1574800" cy="600164"/>
          </a:xfrm>
          <a:prstGeom prst="rect">
            <a:avLst/>
          </a:prstGeom>
          <a:solidFill>
            <a:schemeClr val="bg1"/>
          </a:solidFill>
          <a:ln w="12700" cap="sq">
            <a:solidFill>
              <a:schemeClr val="tx1"/>
            </a:solidFill>
            <a:miter lim="800000"/>
            <a:headEnd type="none" w="sm" len="sm"/>
            <a:tailEnd type="none" w="sm" len="sm"/>
          </a:ln>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100" dirty="0"/>
              <a:t>Approx. ½ of time span from now to Future State</a:t>
            </a:r>
          </a:p>
        </p:txBody>
      </p:sp>
      <p:sp>
        <p:nvSpPr>
          <p:cNvPr id="28" name="Text Box 29">
            <a:extLst>
              <a:ext uri="{FF2B5EF4-FFF2-40B4-BE49-F238E27FC236}">
                <a16:creationId xmlns:a16="http://schemas.microsoft.com/office/drawing/2014/main" id="{CC2C01FC-3A0A-7163-7EF5-F527F320D516}"/>
              </a:ext>
            </a:extLst>
          </p:cNvPr>
          <p:cNvSpPr txBox="1">
            <a:spLocks noChangeArrowheads="1"/>
          </p:cNvSpPr>
          <p:nvPr/>
        </p:nvSpPr>
        <p:spPr bwMode="auto">
          <a:xfrm>
            <a:off x="6096000" y="3416161"/>
            <a:ext cx="1524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100" b="0" dirty="0"/>
              <a:t>Kaizen events and other improvement and transformational activities</a:t>
            </a:r>
          </a:p>
        </p:txBody>
      </p:sp>
      <p:sp>
        <p:nvSpPr>
          <p:cNvPr id="29" name="Rectangle 30">
            <a:extLst>
              <a:ext uri="{FF2B5EF4-FFF2-40B4-BE49-F238E27FC236}">
                <a16:creationId xmlns:a16="http://schemas.microsoft.com/office/drawing/2014/main" id="{3FE110B1-EB3A-2F2B-6694-DE66AA5E6453}"/>
              </a:ext>
            </a:extLst>
          </p:cNvPr>
          <p:cNvSpPr>
            <a:spLocks noChangeArrowheads="1"/>
          </p:cNvSpPr>
          <p:nvPr/>
        </p:nvSpPr>
        <p:spPr bwMode="auto">
          <a:xfrm>
            <a:off x="5715000" y="4940161"/>
            <a:ext cx="2514600" cy="914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solidFill>
                  <a:schemeClr val="bg1"/>
                </a:solidFill>
              </a:rPr>
              <a:t>Begin implementation of</a:t>
            </a:r>
          </a:p>
          <a:p>
            <a:pPr algn="ctr">
              <a:lnSpc>
                <a:spcPct val="100000"/>
              </a:lnSpc>
              <a:spcBef>
                <a:spcPct val="30000"/>
              </a:spcBef>
              <a:spcAft>
                <a:spcPct val="0"/>
              </a:spcAft>
              <a:buClrTx/>
              <a:buSzTx/>
              <a:buFontTx/>
              <a:buNone/>
            </a:pPr>
            <a:r>
              <a:rPr lang="en-US" altLang="en-US" sz="1000" dirty="0">
                <a:solidFill>
                  <a:schemeClr val="bg1"/>
                </a:solidFill>
              </a:rPr>
              <a:t>pacing transformation activities</a:t>
            </a:r>
          </a:p>
          <a:p>
            <a:pPr algn="ctr">
              <a:lnSpc>
                <a:spcPct val="100000"/>
              </a:lnSpc>
              <a:spcBef>
                <a:spcPct val="30000"/>
              </a:spcBef>
              <a:spcAft>
                <a:spcPct val="0"/>
              </a:spcAft>
              <a:buClrTx/>
              <a:buSzTx/>
              <a:buFontTx/>
              <a:buNone/>
            </a:pPr>
            <a:r>
              <a:rPr lang="en-US" altLang="en-US" sz="1000" dirty="0">
                <a:solidFill>
                  <a:schemeClr val="bg1"/>
                </a:solidFill>
              </a:rPr>
              <a:t>(&gt;6 months) required to achieve </a:t>
            </a:r>
          </a:p>
          <a:p>
            <a:pPr algn="ctr">
              <a:lnSpc>
                <a:spcPct val="100000"/>
              </a:lnSpc>
              <a:spcBef>
                <a:spcPct val="30000"/>
              </a:spcBef>
              <a:spcAft>
                <a:spcPct val="0"/>
              </a:spcAft>
              <a:buClrTx/>
              <a:buSzTx/>
              <a:buFontTx/>
              <a:buNone/>
            </a:pPr>
            <a:r>
              <a:rPr lang="en-US" altLang="en-US" sz="1000" dirty="0">
                <a:solidFill>
                  <a:schemeClr val="bg1"/>
                </a:solidFill>
              </a:rPr>
              <a:t>long-term </a:t>
            </a:r>
            <a:r>
              <a:rPr lang="ja-JP" altLang="en-US" sz="1000">
                <a:solidFill>
                  <a:schemeClr val="bg1"/>
                </a:solidFill>
              </a:rPr>
              <a:t>“</a:t>
            </a:r>
            <a:r>
              <a:rPr lang="en-US" altLang="ja-JP" sz="1000" dirty="0">
                <a:solidFill>
                  <a:schemeClr val="bg1"/>
                </a:solidFill>
              </a:rPr>
              <a:t>vision</a:t>
            </a:r>
            <a:r>
              <a:rPr lang="ja-JP" altLang="en-US" sz="1000">
                <a:solidFill>
                  <a:schemeClr val="bg1"/>
                </a:solidFill>
              </a:rPr>
              <a:t>”</a:t>
            </a:r>
            <a:r>
              <a:rPr lang="en-US" altLang="ja-JP" sz="1000" dirty="0">
                <a:solidFill>
                  <a:schemeClr val="bg1"/>
                </a:solidFill>
              </a:rPr>
              <a:t> </a:t>
            </a:r>
            <a:endParaRPr lang="en-US" altLang="en-US" sz="1000" dirty="0">
              <a:solidFill>
                <a:schemeClr val="bg1"/>
              </a:solidFill>
            </a:endParaRPr>
          </a:p>
        </p:txBody>
      </p:sp>
      <p:sp>
        <p:nvSpPr>
          <p:cNvPr id="30" name="AutoShape 31">
            <a:extLst>
              <a:ext uri="{FF2B5EF4-FFF2-40B4-BE49-F238E27FC236}">
                <a16:creationId xmlns:a16="http://schemas.microsoft.com/office/drawing/2014/main" id="{4A38DE37-34DC-6B80-1545-CAEDC65BDC14}"/>
              </a:ext>
            </a:extLst>
          </p:cNvPr>
          <p:cNvSpPr>
            <a:spLocks noChangeArrowheads="1"/>
          </p:cNvSpPr>
          <p:nvPr/>
        </p:nvSpPr>
        <p:spPr bwMode="auto">
          <a:xfrm>
            <a:off x="4267200" y="5092561"/>
            <a:ext cx="914400" cy="609600"/>
          </a:xfrm>
          <a:prstGeom prst="flowChartDocument">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solidFill>
                  <a:schemeClr val="bg1"/>
                </a:solidFill>
              </a:rPr>
              <a:t>Long-term</a:t>
            </a:r>
          </a:p>
          <a:p>
            <a:pPr algn="ctr">
              <a:lnSpc>
                <a:spcPct val="100000"/>
              </a:lnSpc>
              <a:spcBef>
                <a:spcPct val="30000"/>
              </a:spcBef>
              <a:spcAft>
                <a:spcPct val="0"/>
              </a:spcAft>
              <a:buClrTx/>
              <a:buSzTx/>
              <a:buFontTx/>
              <a:buNone/>
            </a:pPr>
            <a:r>
              <a:rPr lang="en-US" altLang="en-US" sz="1000" dirty="0">
                <a:solidFill>
                  <a:schemeClr val="bg1"/>
                </a:solidFill>
              </a:rPr>
              <a:t>Vision</a:t>
            </a:r>
          </a:p>
        </p:txBody>
      </p:sp>
      <p:cxnSp>
        <p:nvCxnSpPr>
          <p:cNvPr id="31" name="AutoShape 32">
            <a:extLst>
              <a:ext uri="{FF2B5EF4-FFF2-40B4-BE49-F238E27FC236}">
                <a16:creationId xmlns:a16="http://schemas.microsoft.com/office/drawing/2014/main" id="{B8B068DB-7AE0-7669-41EA-3FDDA334149D}"/>
              </a:ext>
            </a:extLst>
          </p:cNvPr>
          <p:cNvCxnSpPr>
            <a:cxnSpLocks noChangeShapeType="1"/>
            <a:stCxn id="30" idx="3"/>
            <a:endCxn id="29" idx="1"/>
          </p:cNvCxnSpPr>
          <p:nvPr/>
        </p:nvCxnSpPr>
        <p:spPr bwMode="auto">
          <a:xfrm>
            <a:off x="5181600" y="5397361"/>
            <a:ext cx="533400"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32" name="AutoShape 33">
            <a:extLst>
              <a:ext uri="{FF2B5EF4-FFF2-40B4-BE49-F238E27FC236}">
                <a16:creationId xmlns:a16="http://schemas.microsoft.com/office/drawing/2014/main" id="{8B912E10-787D-ED1B-8B2B-656F6716DAEF}"/>
              </a:ext>
            </a:extLst>
          </p:cNvPr>
          <p:cNvSpPr>
            <a:spLocks noChangeArrowheads="1"/>
          </p:cNvSpPr>
          <p:nvPr/>
        </p:nvSpPr>
        <p:spPr bwMode="auto">
          <a:xfrm>
            <a:off x="10287000" y="2463661"/>
            <a:ext cx="1524000" cy="762000"/>
          </a:xfrm>
          <a:prstGeom prst="flowChartAlternateProcess">
            <a:avLst/>
          </a:prstGeom>
          <a:solidFill>
            <a:schemeClr val="accent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solidFill>
                  <a:schemeClr val="bg1"/>
                </a:solidFill>
              </a:rPr>
              <a:t>Convergence</a:t>
            </a:r>
          </a:p>
          <a:p>
            <a:pPr algn="ctr">
              <a:lnSpc>
                <a:spcPct val="100000"/>
              </a:lnSpc>
              <a:spcBef>
                <a:spcPct val="30000"/>
              </a:spcBef>
              <a:spcAft>
                <a:spcPct val="0"/>
              </a:spcAft>
              <a:buClrTx/>
              <a:buSzTx/>
              <a:buFontTx/>
              <a:buNone/>
            </a:pPr>
            <a:r>
              <a:rPr lang="en-US" altLang="en-US" sz="1000" dirty="0">
                <a:solidFill>
                  <a:schemeClr val="bg1"/>
                </a:solidFill>
              </a:rPr>
              <a:t>of future VSM and </a:t>
            </a:r>
          </a:p>
          <a:p>
            <a:pPr algn="ctr">
              <a:lnSpc>
                <a:spcPct val="100000"/>
              </a:lnSpc>
              <a:spcBef>
                <a:spcPct val="30000"/>
              </a:spcBef>
              <a:spcAft>
                <a:spcPct val="0"/>
              </a:spcAft>
              <a:buClrTx/>
              <a:buSzTx/>
              <a:buFontTx/>
              <a:buNone/>
            </a:pPr>
            <a:r>
              <a:rPr lang="en-US" altLang="en-US" sz="1000" dirty="0">
                <a:solidFill>
                  <a:schemeClr val="bg1"/>
                </a:solidFill>
              </a:rPr>
              <a:t>long-term </a:t>
            </a:r>
            <a:r>
              <a:rPr lang="ja-JP" altLang="en-US" sz="1000">
                <a:solidFill>
                  <a:schemeClr val="bg1"/>
                </a:solidFill>
              </a:rPr>
              <a:t>“</a:t>
            </a:r>
            <a:r>
              <a:rPr lang="en-US" altLang="ja-JP" sz="1000" dirty="0">
                <a:solidFill>
                  <a:schemeClr val="bg1"/>
                </a:solidFill>
              </a:rPr>
              <a:t>Vision</a:t>
            </a:r>
            <a:r>
              <a:rPr lang="ja-JP" altLang="en-US" sz="1000">
                <a:solidFill>
                  <a:schemeClr val="bg1"/>
                </a:solidFill>
              </a:rPr>
              <a:t>”</a:t>
            </a:r>
            <a:endParaRPr lang="en-US" altLang="ja-JP" sz="1000" dirty="0">
              <a:solidFill>
                <a:schemeClr val="bg1"/>
              </a:solidFill>
            </a:endParaRPr>
          </a:p>
          <a:p>
            <a:pPr algn="ctr">
              <a:lnSpc>
                <a:spcPct val="100000"/>
              </a:lnSpc>
              <a:spcBef>
                <a:spcPct val="30000"/>
              </a:spcBef>
              <a:spcAft>
                <a:spcPct val="0"/>
              </a:spcAft>
              <a:buClrTx/>
              <a:buSzTx/>
              <a:buFontTx/>
              <a:buNone/>
            </a:pPr>
            <a:r>
              <a:rPr lang="en-US" altLang="en-US" sz="1000" dirty="0">
                <a:solidFill>
                  <a:schemeClr val="bg1"/>
                </a:solidFill>
              </a:rPr>
              <a:t>transformation</a:t>
            </a:r>
          </a:p>
        </p:txBody>
      </p:sp>
      <p:cxnSp>
        <p:nvCxnSpPr>
          <p:cNvPr id="33" name="AutoShape 34">
            <a:extLst>
              <a:ext uri="{FF2B5EF4-FFF2-40B4-BE49-F238E27FC236}">
                <a16:creationId xmlns:a16="http://schemas.microsoft.com/office/drawing/2014/main" id="{3738AE6A-CB4B-358A-4AA3-D3A321486B06}"/>
              </a:ext>
            </a:extLst>
          </p:cNvPr>
          <p:cNvCxnSpPr>
            <a:cxnSpLocks noChangeShapeType="1"/>
            <a:stCxn id="29" idx="3"/>
            <a:endCxn id="32" idx="2"/>
          </p:cNvCxnSpPr>
          <p:nvPr/>
        </p:nvCxnSpPr>
        <p:spPr bwMode="auto">
          <a:xfrm flipV="1">
            <a:off x="8229600" y="3225661"/>
            <a:ext cx="2819400" cy="2171700"/>
          </a:xfrm>
          <a:prstGeom prst="bentConnector2">
            <a:avLst/>
          </a:prstGeom>
          <a:noFill/>
          <a:ln w="127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4" name="AutoShape 35">
            <a:extLst>
              <a:ext uri="{FF2B5EF4-FFF2-40B4-BE49-F238E27FC236}">
                <a16:creationId xmlns:a16="http://schemas.microsoft.com/office/drawing/2014/main" id="{491EEEDC-DEB1-F437-60F6-CDF59E10909B}"/>
              </a:ext>
            </a:extLst>
          </p:cNvPr>
          <p:cNvCxnSpPr>
            <a:cxnSpLocks noChangeShapeType="1"/>
            <a:stCxn id="13" idx="2"/>
            <a:endCxn id="30" idx="0"/>
          </p:cNvCxnSpPr>
          <p:nvPr/>
        </p:nvCxnSpPr>
        <p:spPr bwMode="auto">
          <a:xfrm>
            <a:off x="4648200" y="4602023"/>
            <a:ext cx="76200" cy="490538"/>
          </a:xfrm>
          <a:prstGeom prst="straightConnector1">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cxnSp>
      <p:grpSp>
        <p:nvGrpSpPr>
          <p:cNvPr id="35" name="Group 36">
            <a:extLst>
              <a:ext uri="{FF2B5EF4-FFF2-40B4-BE49-F238E27FC236}">
                <a16:creationId xmlns:a16="http://schemas.microsoft.com/office/drawing/2014/main" id="{BEB3F3E2-EAB1-EB9A-9E61-FA8EDEAAC544}"/>
              </a:ext>
            </a:extLst>
          </p:cNvPr>
          <p:cNvGrpSpPr>
            <a:grpSpLocks/>
          </p:cNvGrpSpPr>
          <p:nvPr/>
        </p:nvGrpSpPr>
        <p:grpSpPr bwMode="auto">
          <a:xfrm>
            <a:off x="9715500" y="2730361"/>
            <a:ext cx="152400" cy="228600"/>
            <a:chOff x="4056" y="1968"/>
            <a:chExt cx="96" cy="144"/>
          </a:xfrm>
        </p:grpSpPr>
        <p:sp>
          <p:nvSpPr>
            <p:cNvPr id="36" name="Rectangle 37">
              <a:extLst>
                <a:ext uri="{FF2B5EF4-FFF2-40B4-BE49-F238E27FC236}">
                  <a16:creationId xmlns:a16="http://schemas.microsoft.com/office/drawing/2014/main" id="{96907F40-E2D9-1AD8-D30A-5BDC66B08809}"/>
                </a:ext>
              </a:extLst>
            </p:cNvPr>
            <p:cNvSpPr>
              <a:spLocks noChangeArrowheads="1"/>
            </p:cNvSpPr>
            <p:nvPr/>
          </p:nvSpPr>
          <p:spPr bwMode="auto">
            <a:xfrm>
              <a:off x="4080" y="1968"/>
              <a:ext cx="48" cy="14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37" name="Line 38">
              <a:extLst>
                <a:ext uri="{FF2B5EF4-FFF2-40B4-BE49-F238E27FC236}">
                  <a16:creationId xmlns:a16="http://schemas.microsoft.com/office/drawing/2014/main" id="{455BD106-CC66-655F-E662-084B62E74D2C}"/>
                </a:ext>
              </a:extLst>
            </p:cNvPr>
            <p:cNvSpPr>
              <a:spLocks noChangeShapeType="1"/>
            </p:cNvSpPr>
            <p:nvPr/>
          </p:nvSpPr>
          <p:spPr bwMode="auto">
            <a:xfrm flipH="1">
              <a:off x="4056"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38" name="Line 39">
              <a:extLst>
                <a:ext uri="{FF2B5EF4-FFF2-40B4-BE49-F238E27FC236}">
                  <a16:creationId xmlns:a16="http://schemas.microsoft.com/office/drawing/2014/main" id="{1BDF7DCB-1B69-84D5-EC91-4A1C4CC0AFA2}"/>
                </a:ext>
              </a:extLst>
            </p:cNvPr>
            <p:cNvSpPr>
              <a:spLocks noChangeShapeType="1"/>
            </p:cNvSpPr>
            <p:nvPr/>
          </p:nvSpPr>
          <p:spPr bwMode="auto">
            <a:xfrm flipH="1">
              <a:off x="4104"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grpSp>
      <p:sp>
        <p:nvSpPr>
          <p:cNvPr id="39" name="Line 40">
            <a:extLst>
              <a:ext uri="{FF2B5EF4-FFF2-40B4-BE49-F238E27FC236}">
                <a16:creationId xmlns:a16="http://schemas.microsoft.com/office/drawing/2014/main" id="{6265D1AE-5A90-610D-167B-008FE2267846}"/>
              </a:ext>
            </a:extLst>
          </p:cNvPr>
          <p:cNvSpPr>
            <a:spLocks noChangeShapeType="1"/>
          </p:cNvSpPr>
          <p:nvPr/>
        </p:nvSpPr>
        <p:spPr bwMode="auto">
          <a:xfrm>
            <a:off x="5181600" y="1892161"/>
            <a:ext cx="0" cy="38100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40" name="Line 41">
            <a:extLst>
              <a:ext uri="{FF2B5EF4-FFF2-40B4-BE49-F238E27FC236}">
                <a16:creationId xmlns:a16="http://schemas.microsoft.com/office/drawing/2014/main" id="{E43C0B84-79BD-D01C-EB02-53E687DBF5FF}"/>
              </a:ext>
            </a:extLst>
          </p:cNvPr>
          <p:cNvSpPr>
            <a:spLocks noChangeShapeType="1"/>
          </p:cNvSpPr>
          <p:nvPr/>
        </p:nvSpPr>
        <p:spPr bwMode="auto">
          <a:xfrm>
            <a:off x="8229600" y="1892161"/>
            <a:ext cx="0" cy="38100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dirty="0"/>
          </a:p>
        </p:txBody>
      </p:sp>
      <p:sp>
        <p:nvSpPr>
          <p:cNvPr id="41" name="Slide Number Placeholder 2">
            <a:extLst>
              <a:ext uri="{FF2B5EF4-FFF2-40B4-BE49-F238E27FC236}">
                <a16:creationId xmlns:a16="http://schemas.microsoft.com/office/drawing/2014/main" id="{AB68D6BE-9A96-F032-2F0B-3CD5DF5B8A93}"/>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135</a:t>
            </a:fld>
            <a:endParaRPr lang="en-US" dirty="0"/>
          </a:p>
        </p:txBody>
      </p:sp>
    </p:spTree>
    <p:extLst>
      <p:ext uri="{BB962C8B-B14F-4D97-AF65-F5344CB8AC3E}">
        <p14:creationId xmlns:p14="http://schemas.microsoft.com/office/powerpoint/2010/main" val="125333376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Role of Leadership in VSM</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p:txBody>
          <a:bodyPr>
            <a:normAutofit fontScale="92500" lnSpcReduction="10000"/>
          </a:bodyPr>
          <a:lstStyle/>
          <a:p>
            <a:r>
              <a:rPr lang="en-US" dirty="0"/>
              <a:t>Define and communicate the long-term “vision” for the business regularly</a:t>
            </a:r>
          </a:p>
          <a:p>
            <a:pPr lvl="1"/>
            <a:r>
              <a:rPr lang="en-US" dirty="0"/>
              <a:t>No sense in making short term improvements to a process that may be outsourced, eliminated or fundamentally transformed in the near future</a:t>
            </a:r>
          </a:p>
          <a:p>
            <a:r>
              <a:rPr lang="en-US" dirty="0"/>
              <a:t>Identify key value streams to be addressed by the business</a:t>
            </a:r>
          </a:p>
          <a:p>
            <a:pPr lvl="1"/>
            <a:r>
              <a:rPr lang="en-US" dirty="0"/>
              <a:t>Prioritized according to business need and strategy</a:t>
            </a:r>
          </a:p>
          <a:p>
            <a:pPr lvl="1"/>
            <a:r>
              <a:rPr lang="en-US" dirty="0"/>
              <a:t>Not every business process will need to be addressed by VSM</a:t>
            </a:r>
          </a:p>
          <a:p>
            <a:r>
              <a:rPr lang="en-US" dirty="0"/>
              <a:t>Provide sponsorship and support for VSM events and implementation</a:t>
            </a:r>
          </a:p>
          <a:p>
            <a:pPr lvl="1"/>
            <a:r>
              <a:rPr lang="en-US" dirty="0"/>
              <a:t>Internal/external resources and funding</a:t>
            </a:r>
          </a:p>
          <a:p>
            <a:pPr lvl="1"/>
            <a:r>
              <a:rPr lang="en-US" dirty="0"/>
              <a:t>Executive decision-making</a:t>
            </a:r>
          </a:p>
          <a:p>
            <a:pPr lvl="1"/>
            <a:r>
              <a:rPr lang="en-US" dirty="0"/>
              <a:t>Empowerment of teams</a:t>
            </a:r>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0500A19E-2C20-A64A-D33C-2038E2B8E462}"/>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136</a:t>
            </a:fld>
            <a:endParaRPr lang="en-US" dirty="0"/>
          </a:p>
        </p:txBody>
      </p:sp>
    </p:spTree>
    <p:extLst>
      <p:ext uri="{BB962C8B-B14F-4D97-AF65-F5344CB8AC3E}">
        <p14:creationId xmlns:p14="http://schemas.microsoft.com/office/powerpoint/2010/main" val="186803746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Role of the Value Stream Manager</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p:txBody>
          <a:bodyPr>
            <a:normAutofit/>
          </a:bodyPr>
          <a:lstStyle/>
          <a:p>
            <a:r>
              <a:rPr lang="en-US" dirty="0"/>
              <a:t>The Value Stream Manager is the business process “owner”</a:t>
            </a:r>
          </a:p>
          <a:p>
            <a:r>
              <a:rPr lang="en-US" dirty="0"/>
              <a:t>Oversees, charters and typically leads VSM events</a:t>
            </a:r>
          </a:p>
          <a:p>
            <a:r>
              <a:rPr lang="en-US" dirty="0"/>
              <a:t>“Owns” the Value Stream Plan</a:t>
            </a:r>
          </a:p>
          <a:p>
            <a:pPr lvl="1"/>
            <a:r>
              <a:rPr lang="en-US" dirty="0"/>
              <a:t>Responsible for overseeing the completion of kaizen and other CI improvement activities that are identified on the VS Plan</a:t>
            </a:r>
          </a:p>
          <a:p>
            <a:pPr lvl="1"/>
            <a:r>
              <a:rPr lang="en-US" dirty="0"/>
              <a:t>Provides leadership in resolving issues and removing obstacles that affect reaching the future state in the prescribed timeframe</a:t>
            </a:r>
          </a:p>
          <a:p>
            <a:endParaRPr lang="en-US" dirty="0"/>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1F35EB88-BFBA-751F-9128-F4D5D273DC5B}"/>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137</a:t>
            </a:fld>
            <a:endParaRPr lang="en-US" dirty="0"/>
          </a:p>
        </p:txBody>
      </p:sp>
    </p:spTree>
    <p:extLst>
      <p:ext uri="{BB962C8B-B14F-4D97-AF65-F5344CB8AC3E}">
        <p14:creationId xmlns:p14="http://schemas.microsoft.com/office/powerpoint/2010/main" val="79486776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Role of the Value Stream Manager</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p:txBody>
          <a:bodyPr>
            <a:normAutofit/>
          </a:bodyPr>
          <a:lstStyle/>
          <a:p>
            <a:r>
              <a:rPr lang="en-US" dirty="0"/>
              <a:t>“Owns” the operational aspects of the end-to-end process, even if it crosses organizational boundaries</a:t>
            </a:r>
          </a:p>
          <a:p>
            <a:pPr lvl="1"/>
            <a:r>
              <a:rPr lang="en-US" dirty="0"/>
              <a:t>Reports (solid or dotted line) to the level where all VS processes and functions report to</a:t>
            </a:r>
          </a:p>
          <a:p>
            <a:pPr lvl="1"/>
            <a:r>
              <a:rPr lang="en-US" dirty="0"/>
              <a:t>Ensures that the future state operational model is viable and achieves the benefits envisioned during the VSM event</a:t>
            </a:r>
          </a:p>
          <a:p>
            <a:r>
              <a:rPr lang="en-US" dirty="0"/>
              <a:t>Continues the VSM process through the second and subsequent cycles</a:t>
            </a:r>
          </a:p>
          <a:p>
            <a:r>
              <a:rPr lang="en-US" dirty="0"/>
              <a:t>Maintains the linkage between VSM and strategic vision of the business</a:t>
            </a:r>
          </a:p>
          <a:p>
            <a:endParaRPr lang="en-US" dirty="0"/>
          </a:p>
        </p:txBody>
      </p:sp>
      <p:sp>
        <p:nvSpPr>
          <p:cNvPr id="4" name="Slide Number Placeholder 3">
            <a:extLst>
              <a:ext uri="{FF2B5EF4-FFF2-40B4-BE49-F238E27FC236}">
                <a16:creationId xmlns:a16="http://schemas.microsoft.com/office/drawing/2014/main" id="{8350A9B6-2306-A4BD-A4F7-67D4F5D42294}"/>
              </a:ext>
            </a:extLst>
          </p:cNvPr>
          <p:cNvSpPr>
            <a:spLocks noGrp="1"/>
          </p:cNvSpPr>
          <p:nvPr>
            <p:ph type="sldNum" sz="quarter" idx="4"/>
          </p:nvPr>
        </p:nvSpPr>
        <p:spPr/>
        <p:txBody>
          <a:bodyPr/>
          <a:lstStyle/>
          <a:p>
            <a:fld id="{CC6D4273-7FC1-0947-B9FE-19CB3C0D1FB6}" type="slidenum">
              <a:rPr lang="en-US" smtClean="0"/>
              <a:pPr/>
              <a:t>138</a:t>
            </a:fld>
            <a:endParaRPr lang="en-US" dirty="0"/>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248690334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Value Stream Mapping Roadmap to Success</a:t>
            </a:r>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nvGrpSpPr>
          <p:cNvPr id="12" name="Group 2">
            <a:extLst>
              <a:ext uri="{FF2B5EF4-FFF2-40B4-BE49-F238E27FC236}">
                <a16:creationId xmlns:a16="http://schemas.microsoft.com/office/drawing/2014/main" id="{0CF4579E-DCE2-4360-2A99-A65A0C92CDA1}"/>
              </a:ext>
            </a:extLst>
          </p:cNvPr>
          <p:cNvGrpSpPr>
            <a:grpSpLocks/>
          </p:cNvGrpSpPr>
          <p:nvPr/>
        </p:nvGrpSpPr>
        <p:grpSpPr bwMode="auto">
          <a:xfrm>
            <a:off x="3348358" y="1890231"/>
            <a:ext cx="6534150" cy="2776537"/>
            <a:chOff x="1389" y="1410"/>
            <a:chExt cx="4116" cy="1795"/>
          </a:xfrm>
          <a:solidFill>
            <a:srgbClr val="7F7F7F"/>
          </a:solidFill>
        </p:grpSpPr>
        <p:sp>
          <p:nvSpPr>
            <p:cNvPr id="13" name="Rectangle 3">
              <a:extLst>
                <a:ext uri="{FF2B5EF4-FFF2-40B4-BE49-F238E27FC236}">
                  <a16:creationId xmlns:a16="http://schemas.microsoft.com/office/drawing/2014/main" id="{A324E455-7215-6ACE-4A5D-E77AD2C29241}"/>
                </a:ext>
              </a:extLst>
            </p:cNvPr>
            <p:cNvSpPr>
              <a:spLocks noChangeArrowheads="1"/>
            </p:cNvSpPr>
            <p:nvPr/>
          </p:nvSpPr>
          <p:spPr bwMode="auto">
            <a:xfrm>
              <a:off x="1389" y="1410"/>
              <a:ext cx="4116" cy="1795"/>
            </a:xfrm>
            <a:prstGeom prst="rect">
              <a:avLst/>
            </a:prstGeom>
            <a:grpFill/>
            <a:ln w="12700" cap="sq">
              <a:solidFill>
                <a:srgbClr val="0033CC"/>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endParaRPr>
            </a:p>
          </p:txBody>
        </p:sp>
        <p:sp>
          <p:nvSpPr>
            <p:cNvPr id="14" name="Text Box 4">
              <a:extLst>
                <a:ext uri="{FF2B5EF4-FFF2-40B4-BE49-F238E27FC236}">
                  <a16:creationId xmlns:a16="http://schemas.microsoft.com/office/drawing/2014/main" id="{C013D48F-1166-B608-0190-0A161AEBBECB}"/>
                </a:ext>
              </a:extLst>
            </p:cNvPr>
            <p:cNvSpPr txBox="1">
              <a:spLocks noChangeArrowheads="1"/>
            </p:cNvSpPr>
            <p:nvPr/>
          </p:nvSpPr>
          <p:spPr bwMode="auto">
            <a:xfrm>
              <a:off x="2196" y="1507"/>
              <a:ext cx="2527" cy="218"/>
            </a:xfrm>
            <a:prstGeom prst="rect">
              <a:avLst/>
            </a:prstGeom>
            <a:grp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i="1" dirty="0">
                  <a:solidFill>
                    <a:srgbClr val="FFB627"/>
                  </a:solidFill>
                </a:rPr>
                <a:t>Repeat for each identified Value Stream</a:t>
              </a:r>
            </a:p>
          </p:txBody>
        </p:sp>
      </p:grpSp>
      <p:sp>
        <p:nvSpPr>
          <p:cNvPr id="15" name="Oval 6">
            <a:extLst>
              <a:ext uri="{FF2B5EF4-FFF2-40B4-BE49-F238E27FC236}">
                <a16:creationId xmlns:a16="http://schemas.microsoft.com/office/drawing/2014/main" id="{7C4923AF-C592-3B54-192F-A2703CB87B48}"/>
              </a:ext>
            </a:extLst>
          </p:cNvPr>
          <p:cNvSpPr>
            <a:spLocks noChangeArrowheads="1"/>
          </p:cNvSpPr>
          <p:nvPr/>
        </p:nvSpPr>
        <p:spPr bwMode="auto">
          <a:xfrm>
            <a:off x="8806183" y="3336443"/>
            <a:ext cx="976312" cy="1052513"/>
          </a:xfrm>
          <a:prstGeom prst="ellipse">
            <a:avLst/>
          </a:prstGeom>
          <a:solidFill>
            <a:schemeClr val="accent1"/>
          </a:solidFill>
          <a:ln w="6350">
            <a:solidFill>
              <a:schemeClr val="tx1"/>
            </a:solidFill>
            <a:round/>
            <a:headEnd/>
            <a:tailEnd/>
          </a:ln>
        </p:spPr>
        <p:txBody>
          <a:bodyPr wrap="none" lIns="45720" rIns="45720" anchor="ctr"/>
          <a:lstStyle>
            <a:lvl1pPr marL="101600" indent="-1016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
                <a:schemeClr val="folHlink"/>
              </a:buClr>
              <a:buSzTx/>
              <a:buFontTx/>
              <a:buNone/>
            </a:pPr>
            <a:r>
              <a:rPr lang="en-GB"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Repeat</a:t>
            </a:r>
          </a:p>
          <a:p>
            <a:pPr algn="ctr">
              <a:lnSpc>
                <a:spcPct val="100000"/>
              </a:lnSpc>
              <a:spcBef>
                <a:spcPct val="30000"/>
              </a:spcBef>
              <a:spcAft>
                <a:spcPct val="0"/>
              </a:spcAft>
              <a:buClr>
                <a:schemeClr val="folHlink"/>
              </a:buClr>
              <a:buSzTx/>
              <a:buFontTx/>
              <a:buNone/>
            </a:pPr>
            <a:r>
              <a:rPr lang="en-GB"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Cycle</a:t>
            </a:r>
            <a:endParaRPr lang="en-GB" altLang="en-US" sz="1200" b="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6" name="Rectangle 8">
            <a:extLst>
              <a:ext uri="{FF2B5EF4-FFF2-40B4-BE49-F238E27FC236}">
                <a16:creationId xmlns:a16="http://schemas.microsoft.com/office/drawing/2014/main" id="{ED617318-929E-654D-C9A8-8EE3355C7C9A}"/>
              </a:ext>
            </a:extLst>
          </p:cNvPr>
          <p:cNvSpPr>
            <a:spLocks noChangeArrowheads="1"/>
          </p:cNvSpPr>
          <p:nvPr/>
        </p:nvSpPr>
        <p:spPr bwMode="auto">
          <a:xfrm>
            <a:off x="1656083" y="3328506"/>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Site Assessment</a:t>
            </a:r>
          </a:p>
        </p:txBody>
      </p:sp>
      <p:sp>
        <p:nvSpPr>
          <p:cNvPr id="17" name="Rectangle 9">
            <a:extLst>
              <a:ext uri="{FF2B5EF4-FFF2-40B4-BE49-F238E27FC236}">
                <a16:creationId xmlns:a16="http://schemas.microsoft.com/office/drawing/2014/main" id="{CC42A95A-D605-FC14-9AAA-A9DCC2E4BC6E}"/>
              </a:ext>
            </a:extLst>
          </p:cNvPr>
          <p:cNvSpPr>
            <a:spLocks noChangeArrowheads="1"/>
          </p:cNvSpPr>
          <p:nvPr/>
        </p:nvSpPr>
        <p:spPr bwMode="auto">
          <a:xfrm>
            <a:off x="1656083" y="3066568"/>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PROCESS STEP 1</a:t>
            </a:r>
          </a:p>
        </p:txBody>
      </p:sp>
      <p:sp>
        <p:nvSpPr>
          <p:cNvPr id="18" name="Rectangle 10">
            <a:extLst>
              <a:ext uri="{FF2B5EF4-FFF2-40B4-BE49-F238E27FC236}">
                <a16:creationId xmlns:a16="http://schemas.microsoft.com/office/drawing/2014/main" id="{15F2BCE0-6875-A80E-4C20-E0978B584533}"/>
              </a:ext>
            </a:extLst>
          </p:cNvPr>
          <p:cNvSpPr>
            <a:spLocks noChangeArrowheads="1"/>
          </p:cNvSpPr>
          <p:nvPr/>
        </p:nvSpPr>
        <p:spPr bwMode="auto">
          <a:xfrm>
            <a:off x="3451545" y="332374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VSM Event</a:t>
            </a: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Preparation</a:t>
            </a:r>
          </a:p>
        </p:txBody>
      </p:sp>
      <p:sp>
        <p:nvSpPr>
          <p:cNvPr id="19" name="Rectangle 11">
            <a:extLst>
              <a:ext uri="{FF2B5EF4-FFF2-40B4-BE49-F238E27FC236}">
                <a16:creationId xmlns:a16="http://schemas.microsoft.com/office/drawing/2014/main" id="{5DE1A094-CB44-84BF-9CB2-6AF3628030DC}"/>
              </a:ext>
            </a:extLst>
          </p:cNvPr>
          <p:cNvSpPr>
            <a:spLocks noChangeArrowheads="1"/>
          </p:cNvSpPr>
          <p:nvPr/>
        </p:nvSpPr>
        <p:spPr bwMode="auto">
          <a:xfrm>
            <a:off x="3451545" y="3061806"/>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PROCESS STEP 2</a:t>
            </a:r>
          </a:p>
        </p:txBody>
      </p:sp>
      <p:sp>
        <p:nvSpPr>
          <p:cNvPr id="20" name="Rectangle 12">
            <a:extLst>
              <a:ext uri="{FF2B5EF4-FFF2-40B4-BE49-F238E27FC236}">
                <a16:creationId xmlns:a16="http://schemas.microsoft.com/office/drawing/2014/main" id="{58F0D445-D9F6-E009-1D2D-CFCFC4BFAD77}"/>
              </a:ext>
            </a:extLst>
          </p:cNvPr>
          <p:cNvSpPr>
            <a:spLocks noChangeArrowheads="1"/>
          </p:cNvSpPr>
          <p:nvPr/>
        </p:nvSpPr>
        <p:spPr bwMode="auto">
          <a:xfrm>
            <a:off x="5266058" y="332374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Conduct</a:t>
            </a: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VSM Event</a:t>
            </a:r>
          </a:p>
        </p:txBody>
      </p:sp>
      <p:sp>
        <p:nvSpPr>
          <p:cNvPr id="21" name="Rectangle 13">
            <a:extLst>
              <a:ext uri="{FF2B5EF4-FFF2-40B4-BE49-F238E27FC236}">
                <a16:creationId xmlns:a16="http://schemas.microsoft.com/office/drawing/2014/main" id="{8B1B57D5-D464-AB46-0D47-B4301E0CDC54}"/>
              </a:ext>
            </a:extLst>
          </p:cNvPr>
          <p:cNvSpPr>
            <a:spLocks noChangeArrowheads="1"/>
          </p:cNvSpPr>
          <p:nvPr/>
        </p:nvSpPr>
        <p:spPr bwMode="auto">
          <a:xfrm>
            <a:off x="5266058" y="3061806"/>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PROCESS STEP 3</a:t>
            </a:r>
          </a:p>
        </p:txBody>
      </p:sp>
      <p:sp>
        <p:nvSpPr>
          <p:cNvPr id="22" name="Rectangle 14">
            <a:extLst>
              <a:ext uri="{FF2B5EF4-FFF2-40B4-BE49-F238E27FC236}">
                <a16:creationId xmlns:a16="http://schemas.microsoft.com/office/drawing/2014/main" id="{72944DD6-9847-927A-126D-03B90B4FF39A}"/>
              </a:ext>
            </a:extLst>
          </p:cNvPr>
          <p:cNvSpPr>
            <a:spLocks noChangeArrowheads="1"/>
          </p:cNvSpPr>
          <p:nvPr/>
        </p:nvSpPr>
        <p:spPr bwMode="auto">
          <a:xfrm>
            <a:off x="7080570" y="3323743"/>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Implement</a:t>
            </a:r>
            <a:br>
              <a:rPr lang="en-US" altLang="en-US" sz="1400" dirty="0">
                <a:latin typeface="Roboto" panose="02000000000000000000" pitchFamily="2" charset="0"/>
                <a:ea typeface="Roboto" panose="02000000000000000000" pitchFamily="2" charset="0"/>
                <a:cs typeface="Roboto" panose="02000000000000000000" pitchFamily="2" charset="0"/>
              </a:rPr>
            </a:br>
            <a:r>
              <a:rPr lang="en-US" altLang="en-US" sz="1400" dirty="0">
                <a:latin typeface="Roboto" panose="02000000000000000000" pitchFamily="2" charset="0"/>
                <a:ea typeface="Roboto" panose="02000000000000000000" pitchFamily="2" charset="0"/>
                <a:cs typeface="Roboto" panose="02000000000000000000" pitchFamily="2" charset="0"/>
              </a:rPr>
              <a:t>VS Plan</a:t>
            </a:r>
          </a:p>
        </p:txBody>
      </p:sp>
      <p:sp>
        <p:nvSpPr>
          <p:cNvPr id="23" name="Rectangle 15">
            <a:extLst>
              <a:ext uri="{FF2B5EF4-FFF2-40B4-BE49-F238E27FC236}">
                <a16:creationId xmlns:a16="http://schemas.microsoft.com/office/drawing/2014/main" id="{0F339B51-6542-C3C4-8B46-4508B3FBBBA5}"/>
              </a:ext>
            </a:extLst>
          </p:cNvPr>
          <p:cNvSpPr>
            <a:spLocks noChangeArrowheads="1"/>
          </p:cNvSpPr>
          <p:nvPr/>
        </p:nvSpPr>
        <p:spPr bwMode="auto">
          <a:xfrm>
            <a:off x="7080570" y="3061806"/>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PROCESS STEP 4</a:t>
            </a:r>
          </a:p>
        </p:txBody>
      </p:sp>
      <p:cxnSp>
        <p:nvCxnSpPr>
          <p:cNvPr id="24" name="AutoShape 16">
            <a:extLst>
              <a:ext uri="{FF2B5EF4-FFF2-40B4-BE49-F238E27FC236}">
                <a16:creationId xmlns:a16="http://schemas.microsoft.com/office/drawing/2014/main" id="{3F044A88-3879-A23A-15D0-9CCCBF349B82}"/>
              </a:ext>
            </a:extLst>
          </p:cNvPr>
          <p:cNvCxnSpPr>
            <a:cxnSpLocks noChangeShapeType="1"/>
            <a:stCxn id="16" idx="3"/>
            <a:endCxn id="18" idx="1"/>
          </p:cNvCxnSpPr>
          <p:nvPr/>
        </p:nvCxnSpPr>
        <p:spPr bwMode="auto">
          <a:xfrm flipV="1">
            <a:off x="3176908" y="3863493"/>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5" name="AutoShape 17">
            <a:extLst>
              <a:ext uri="{FF2B5EF4-FFF2-40B4-BE49-F238E27FC236}">
                <a16:creationId xmlns:a16="http://schemas.microsoft.com/office/drawing/2014/main" id="{B759E06B-3C63-DAE0-9E9C-E56674445281}"/>
              </a:ext>
            </a:extLst>
          </p:cNvPr>
          <p:cNvCxnSpPr>
            <a:cxnSpLocks noChangeShapeType="1"/>
            <a:stCxn id="18" idx="3"/>
            <a:endCxn id="20" idx="1"/>
          </p:cNvCxnSpPr>
          <p:nvPr/>
        </p:nvCxnSpPr>
        <p:spPr bwMode="auto">
          <a:xfrm>
            <a:off x="4972370" y="3863493"/>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6" name="AutoShape 18">
            <a:extLst>
              <a:ext uri="{FF2B5EF4-FFF2-40B4-BE49-F238E27FC236}">
                <a16:creationId xmlns:a16="http://schemas.microsoft.com/office/drawing/2014/main" id="{8ABE94E7-158D-EE09-69EF-1F6FD3CD327A}"/>
              </a:ext>
            </a:extLst>
          </p:cNvPr>
          <p:cNvCxnSpPr>
            <a:cxnSpLocks noChangeShapeType="1"/>
            <a:stCxn id="20" idx="3"/>
            <a:endCxn id="22" idx="1"/>
          </p:cNvCxnSpPr>
          <p:nvPr/>
        </p:nvCxnSpPr>
        <p:spPr bwMode="auto">
          <a:xfrm>
            <a:off x="6786883" y="3863493"/>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7" name="AutoShape 19">
            <a:extLst>
              <a:ext uri="{FF2B5EF4-FFF2-40B4-BE49-F238E27FC236}">
                <a16:creationId xmlns:a16="http://schemas.microsoft.com/office/drawing/2014/main" id="{E1C9E7C1-2484-C7D0-EEE9-3ED90D7C89E3}"/>
              </a:ext>
            </a:extLst>
          </p:cNvPr>
          <p:cNvCxnSpPr>
            <a:cxnSpLocks noChangeShapeType="1"/>
            <a:stCxn id="22" idx="3"/>
            <a:endCxn id="15" idx="2"/>
          </p:cNvCxnSpPr>
          <p:nvPr/>
        </p:nvCxnSpPr>
        <p:spPr bwMode="auto">
          <a:xfrm>
            <a:off x="8601395" y="3863493"/>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8" name="AutoShape 20">
            <a:extLst>
              <a:ext uri="{FF2B5EF4-FFF2-40B4-BE49-F238E27FC236}">
                <a16:creationId xmlns:a16="http://schemas.microsoft.com/office/drawing/2014/main" id="{7AB391F5-C0B1-2C7B-F1E6-2162B9A4B623}"/>
              </a:ext>
            </a:extLst>
          </p:cNvPr>
          <p:cNvCxnSpPr>
            <a:cxnSpLocks noChangeShapeType="1"/>
            <a:stCxn id="15" idx="0"/>
            <a:endCxn id="19" idx="0"/>
          </p:cNvCxnSpPr>
          <p:nvPr/>
        </p:nvCxnSpPr>
        <p:spPr bwMode="auto">
          <a:xfrm rot="5400000" flipH="1">
            <a:off x="6617020" y="658331"/>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9" name="Rectangle 21">
            <a:extLst>
              <a:ext uri="{FF2B5EF4-FFF2-40B4-BE49-F238E27FC236}">
                <a16:creationId xmlns:a16="http://schemas.microsoft.com/office/drawing/2014/main" id="{397B3169-7EE0-7BA0-1D6F-1A8A077F9F47}"/>
              </a:ext>
            </a:extLst>
          </p:cNvPr>
          <p:cNvSpPr>
            <a:spLocks noChangeArrowheads="1"/>
          </p:cNvSpPr>
          <p:nvPr/>
        </p:nvSpPr>
        <p:spPr bwMode="auto">
          <a:xfrm>
            <a:off x="1557658" y="4644543"/>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Identify Strategic Value Streams and Product Families</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Plan VSM Events</a:t>
            </a:r>
          </a:p>
        </p:txBody>
      </p:sp>
      <p:sp>
        <p:nvSpPr>
          <p:cNvPr id="30" name="Rectangle 22">
            <a:extLst>
              <a:ext uri="{FF2B5EF4-FFF2-40B4-BE49-F238E27FC236}">
                <a16:creationId xmlns:a16="http://schemas.microsoft.com/office/drawing/2014/main" id="{B77BE308-1317-9B92-2943-BE3345B3588B}"/>
              </a:ext>
            </a:extLst>
          </p:cNvPr>
          <p:cNvSpPr>
            <a:spLocks noChangeArrowheads="1"/>
          </p:cNvSpPr>
          <p:nvPr/>
        </p:nvSpPr>
        <p:spPr bwMode="auto">
          <a:xfrm>
            <a:off x="3386458" y="4644543"/>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Complete Intro to Lean</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Select Value Stream and Product Family</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Confirm VSM Team</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Plan logistics for VSM Event</a:t>
            </a:r>
          </a:p>
        </p:txBody>
      </p:sp>
      <p:sp>
        <p:nvSpPr>
          <p:cNvPr id="31" name="Rectangle 23">
            <a:extLst>
              <a:ext uri="{FF2B5EF4-FFF2-40B4-BE49-F238E27FC236}">
                <a16:creationId xmlns:a16="http://schemas.microsoft.com/office/drawing/2014/main" id="{AD135975-68B6-56F2-A48C-C4D091DD1962}"/>
              </a:ext>
            </a:extLst>
          </p:cNvPr>
          <p:cNvSpPr>
            <a:spLocks noChangeArrowheads="1"/>
          </p:cNvSpPr>
          <p:nvPr/>
        </p:nvSpPr>
        <p:spPr bwMode="auto">
          <a:xfrm>
            <a:off x="5151758" y="4644543"/>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Current State VSM</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Future State VSM</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Value stream Plan complete</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Site Plan updated</a:t>
            </a:r>
          </a:p>
        </p:txBody>
      </p:sp>
      <p:sp>
        <p:nvSpPr>
          <p:cNvPr id="32" name="Rectangle 24">
            <a:extLst>
              <a:ext uri="{FF2B5EF4-FFF2-40B4-BE49-F238E27FC236}">
                <a16:creationId xmlns:a16="http://schemas.microsoft.com/office/drawing/2014/main" id="{23ACF36D-0283-6C33-ECB8-EC362AB4ADA1}"/>
              </a:ext>
            </a:extLst>
          </p:cNvPr>
          <p:cNvSpPr>
            <a:spLocks noChangeArrowheads="1"/>
          </p:cNvSpPr>
          <p:nvPr/>
        </p:nvSpPr>
        <p:spPr bwMode="auto">
          <a:xfrm>
            <a:off x="6993258" y="4644543"/>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nSpc>
                <a:spcPct val="115000"/>
              </a:lnSpc>
              <a:spcBef>
                <a:spcPct val="50000"/>
              </a:spcBef>
              <a:spcAft>
                <a:spcPct val="50000"/>
              </a:spcAft>
              <a:buClr>
                <a:srgbClr val="006699"/>
              </a:buClr>
              <a:buSzPct val="40000"/>
              <a:buFont typeface="Wingdings" pitchFamily="2" charset="2"/>
              <a:buChar char="n"/>
              <a:tabLst>
                <a:tab pos="3086100" algn="l"/>
              </a:tabLst>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Plan kaizen events that link to VS Plan</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Train Kaizen Teams</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Conduct kaizen events and measure results</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cs typeface="Roboto" panose="02000000000000000000" pitchFamily="2" charset="0"/>
              </a:rPr>
              <a:t>Manage VS Plan to completion</a:t>
            </a:r>
          </a:p>
        </p:txBody>
      </p:sp>
      <p:sp>
        <p:nvSpPr>
          <p:cNvPr id="33" name="Rectangle 25">
            <a:extLst>
              <a:ext uri="{FF2B5EF4-FFF2-40B4-BE49-F238E27FC236}">
                <a16:creationId xmlns:a16="http://schemas.microsoft.com/office/drawing/2014/main" id="{A9911CDA-1319-A529-8E93-BB78210B7CF2}"/>
              </a:ext>
            </a:extLst>
          </p:cNvPr>
          <p:cNvSpPr>
            <a:spLocks noChangeArrowheads="1"/>
          </p:cNvSpPr>
          <p:nvPr/>
        </p:nvSpPr>
        <p:spPr bwMode="auto">
          <a:xfrm>
            <a:off x="5046983" y="5433531"/>
            <a:ext cx="2032000" cy="581025"/>
          </a:xfrm>
          <a:prstGeom prst="rect">
            <a:avLst/>
          </a:prstGeom>
          <a:noFill/>
          <a:ln w="38100" cap="sq">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 name="Slide Number Placeholder 2">
            <a:extLst>
              <a:ext uri="{FF2B5EF4-FFF2-40B4-BE49-F238E27FC236}">
                <a16:creationId xmlns:a16="http://schemas.microsoft.com/office/drawing/2014/main" id="{DED37D45-AA32-43D5-6A6A-23B682669F96}"/>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139</a:t>
            </a:fld>
            <a:endParaRPr lang="en-US" dirty="0"/>
          </a:p>
        </p:txBody>
      </p:sp>
    </p:spTree>
    <p:extLst>
      <p:ext uri="{BB962C8B-B14F-4D97-AF65-F5344CB8AC3E}">
        <p14:creationId xmlns:p14="http://schemas.microsoft.com/office/powerpoint/2010/main" val="25627755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Site Plan</a:t>
            </a:r>
          </a:p>
        </p:txBody>
      </p:sp>
      <p:sp>
        <p:nvSpPr>
          <p:cNvPr id="3" name="Content Placeholder 2">
            <a:extLst>
              <a:ext uri="{FF2B5EF4-FFF2-40B4-BE49-F238E27FC236}">
                <a16:creationId xmlns:a16="http://schemas.microsoft.com/office/drawing/2014/main" id="{A0323B6C-C4CB-BA72-BDD0-77CF1BEF3852}"/>
              </a:ext>
            </a:extLst>
          </p:cNvPr>
          <p:cNvSpPr>
            <a:spLocks noGrp="1"/>
          </p:cNvSpPr>
          <p:nvPr>
            <p:ph idx="1"/>
          </p:nvPr>
        </p:nvSpPr>
        <p:spPr>
          <a:xfrm>
            <a:off x="838200" y="1899554"/>
            <a:ext cx="2298539" cy="3058891"/>
          </a:xfrm>
        </p:spPr>
        <p:txBody>
          <a:bodyPr>
            <a:normAutofit/>
          </a:bodyPr>
          <a:lstStyle/>
          <a:p>
            <a:pPr marL="0" indent="0">
              <a:buNone/>
            </a:pPr>
            <a:r>
              <a:rPr lang="en-US" altLang="en-US" sz="2400" dirty="0"/>
              <a:t>A single plan and schedule of all kaizen and continuous improvement events for a particular facility.</a:t>
            </a:r>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aphicFrame>
        <p:nvGraphicFramePr>
          <p:cNvPr id="34" name="Group 108">
            <a:extLst>
              <a:ext uri="{FF2B5EF4-FFF2-40B4-BE49-F238E27FC236}">
                <a16:creationId xmlns:a16="http://schemas.microsoft.com/office/drawing/2014/main" id="{2258AC14-E3FB-B292-2501-FE868D7A6369}"/>
              </a:ext>
            </a:extLst>
          </p:cNvPr>
          <p:cNvGraphicFramePr>
            <a:graphicFrameLocks/>
          </p:cNvGraphicFramePr>
          <p:nvPr>
            <p:extLst>
              <p:ext uri="{D42A27DB-BD31-4B8C-83A1-F6EECF244321}">
                <p14:modId xmlns:p14="http://schemas.microsoft.com/office/powerpoint/2010/main" val="921069642"/>
              </p:ext>
            </p:extLst>
          </p:nvPr>
        </p:nvGraphicFramePr>
        <p:xfrm>
          <a:off x="3631377" y="1825625"/>
          <a:ext cx="8215312" cy="3932462"/>
        </p:xfrm>
        <a:graphic>
          <a:graphicData uri="http://schemas.openxmlformats.org/drawingml/2006/table">
            <a:tbl>
              <a:tblPr/>
              <a:tblGrid>
                <a:gridCol w="646112">
                  <a:extLst>
                    <a:ext uri="{9D8B030D-6E8A-4147-A177-3AD203B41FA5}">
                      <a16:colId xmlns:a16="http://schemas.microsoft.com/office/drawing/2014/main" val="20000"/>
                    </a:ext>
                  </a:extLst>
                </a:gridCol>
                <a:gridCol w="1654175">
                  <a:extLst>
                    <a:ext uri="{9D8B030D-6E8A-4147-A177-3AD203B41FA5}">
                      <a16:colId xmlns:a16="http://schemas.microsoft.com/office/drawing/2014/main" val="20001"/>
                    </a:ext>
                  </a:extLst>
                </a:gridCol>
                <a:gridCol w="787400">
                  <a:extLst>
                    <a:ext uri="{9D8B030D-6E8A-4147-A177-3AD203B41FA5}">
                      <a16:colId xmlns:a16="http://schemas.microsoft.com/office/drawing/2014/main" val="20002"/>
                    </a:ext>
                  </a:extLst>
                </a:gridCol>
                <a:gridCol w="1062038">
                  <a:extLst>
                    <a:ext uri="{9D8B030D-6E8A-4147-A177-3AD203B41FA5}">
                      <a16:colId xmlns:a16="http://schemas.microsoft.com/office/drawing/2014/main" val="20003"/>
                    </a:ext>
                  </a:extLst>
                </a:gridCol>
                <a:gridCol w="836612">
                  <a:extLst>
                    <a:ext uri="{9D8B030D-6E8A-4147-A177-3AD203B41FA5}">
                      <a16:colId xmlns:a16="http://schemas.microsoft.com/office/drawing/2014/main" val="20004"/>
                    </a:ext>
                  </a:extLst>
                </a:gridCol>
                <a:gridCol w="792163">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1725612">
                  <a:extLst>
                    <a:ext uri="{9D8B030D-6E8A-4147-A177-3AD203B41FA5}">
                      <a16:colId xmlns:a16="http://schemas.microsoft.com/office/drawing/2014/main" val="20007"/>
                    </a:ext>
                  </a:extLst>
                </a:gridCol>
              </a:tblGrid>
              <a:tr h="512001">
                <a:tc gridSpan="8">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200" b="0" i="0" u="none" strike="noStrike" cap="none" normalizeH="0" baseline="0" dirty="0">
                          <a:ln>
                            <a:noFill/>
                          </a:ln>
                          <a:solidFill>
                            <a:schemeClr val="tx1"/>
                          </a:solidFill>
                          <a:effectLst/>
                          <a:latin typeface="Arial" panose="020B0604020202020204" pitchFamily="34" charset="0"/>
                          <a:ea typeface="MS PGothic" panose="020B0600070205080204" pitchFamily="34" charset="-128"/>
                        </a:rPr>
                        <a:t>Sample Site Plan excerpt showing scheduled events from two different Value Streams (New Mortgage and Debt Consolidation)</a:t>
                      </a:r>
                    </a:p>
                  </a:txBody>
                  <a:tcPr marT="45705" marB="45705"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WEEK</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AREA/CELL</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VSM</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TOOL</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VS Plan Number</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STATUS</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SENSEI</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COMMENTS</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3-Jan</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Mailroom </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New Mortgage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Standard work</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3</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see kaizen results sheet</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3-Jan</a:t>
                      </a: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Data Entry</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New Mortgage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Standard Work</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8</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see kaizen results sheet</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10-Jan</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Data Entry</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New Mortgage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Supermarket</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4</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PRE-RUN Kanban Calculator</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10-Jan</a:t>
                      </a: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Underwriting</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Debt </a:t>
                      </a:r>
                      <a:r>
                        <a:rPr kumimoji="0" lang="en-US" altLang="en-US" sz="1000" b="1" i="0" u="none" strike="noStrike" cap="none" normalizeH="0" baseline="0" dirty="0" err="1">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Consol</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6</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see kaizen results sheet</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2691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17-Jan</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NO EVENTS</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AEAEA"/>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 out</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24-Jan</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Package Preparation</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New Mortgage</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2</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DEMAND QUESTIONS</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4190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 24-Jan</a:t>
                      </a: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Mailroom</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Debt Consol</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1</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complete</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Clem</a:t>
                      </a:r>
                      <a:endParaRPr kumimoji="0" lang="en-US" altLang="en-US" sz="10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cs typeface="Arial" panose="020B0604020202020204" pitchFamily="34" charset="0"/>
                        </a:rPr>
                        <a:t>DEMAND QUESTIONS</a:t>
                      </a:r>
                      <a:endParaRPr kumimoji="0" lang="en-US" altLang="en-US" sz="10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marT="45705" marB="4570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12" name="Slide Number Placeholder 2">
            <a:extLst>
              <a:ext uri="{FF2B5EF4-FFF2-40B4-BE49-F238E27FC236}">
                <a16:creationId xmlns:a16="http://schemas.microsoft.com/office/drawing/2014/main" id="{739E61D1-DE77-FEF7-1051-CC58E879A3EB}"/>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140</a:t>
            </a:fld>
            <a:endParaRPr lang="en-US" dirty="0"/>
          </a:p>
        </p:txBody>
      </p:sp>
    </p:spTree>
    <p:extLst>
      <p:ext uri="{BB962C8B-B14F-4D97-AF65-F5344CB8AC3E}">
        <p14:creationId xmlns:p14="http://schemas.microsoft.com/office/powerpoint/2010/main" val="310659324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6E8366-27AB-4D7D-8882-6E133C6D82B2}"/>
              </a:ext>
            </a:extLst>
          </p:cNvPr>
          <p:cNvSpPr>
            <a:spLocks noGrp="1"/>
          </p:cNvSpPr>
          <p:nvPr>
            <p:ph type="title"/>
          </p:nvPr>
        </p:nvSpPr>
        <p:spPr/>
        <p:txBody>
          <a:bodyPr>
            <a:noAutofit/>
          </a:bodyPr>
          <a:lstStyle/>
          <a:p>
            <a:r>
              <a:rPr lang="en-US" altLang="en-US" sz="3600" dirty="0"/>
              <a:t>Complete Future State and Value Stream </a:t>
            </a:r>
            <a:br>
              <a:rPr lang="en-US" altLang="en-US" sz="3600" dirty="0"/>
            </a:br>
            <a:r>
              <a:rPr lang="en-US" altLang="en-US" sz="3600" dirty="0"/>
              <a:t>Plan for Business</a:t>
            </a:r>
            <a:endParaRPr lang="en-US" sz="3600" dirty="0"/>
          </a:p>
        </p:txBody>
      </p:sp>
      <p:sp>
        <p:nvSpPr>
          <p:cNvPr id="3" name="Rectangle 3">
            <a:extLst>
              <a:ext uri="{FF2B5EF4-FFF2-40B4-BE49-F238E27FC236}">
                <a16:creationId xmlns:a16="http://schemas.microsoft.com/office/drawing/2014/main" id="{A976AC67-E0AA-7182-30AC-EFF8B556A197}"/>
              </a:ext>
            </a:extLst>
          </p:cNvPr>
          <p:cNvSpPr>
            <a:spLocks noChangeArrowheads="1"/>
          </p:cNvSpPr>
          <p:nvPr/>
        </p:nvSpPr>
        <p:spPr bwMode="auto">
          <a:xfrm>
            <a:off x="866774" y="2217738"/>
            <a:ext cx="10515600" cy="654049"/>
          </a:xfrm>
          <a:prstGeom prst="rect">
            <a:avLst/>
          </a:prstGeom>
          <a:solidFill>
            <a:srgbClr val="EE3228"/>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800" dirty="0">
                <a:solidFill>
                  <a:schemeClr val="bg1"/>
                </a:solidFill>
              </a:rPr>
              <a:t>Complete the Future State Value Stream Map and Value Stream Plan for</a:t>
            </a:r>
            <a:br>
              <a:rPr lang="en-US" altLang="en-US" sz="1800" dirty="0">
                <a:solidFill>
                  <a:schemeClr val="bg1"/>
                </a:solidFill>
              </a:rPr>
            </a:br>
            <a:r>
              <a:rPr lang="en-US" altLang="en-US" sz="1800" dirty="0">
                <a:solidFill>
                  <a:schemeClr val="bg1"/>
                </a:solidFill>
              </a:rPr>
              <a:t>the business. </a:t>
            </a:r>
          </a:p>
        </p:txBody>
      </p:sp>
      <p:sp>
        <p:nvSpPr>
          <p:cNvPr id="4" name="Text Box 4">
            <a:extLst>
              <a:ext uri="{FF2B5EF4-FFF2-40B4-BE49-F238E27FC236}">
                <a16:creationId xmlns:a16="http://schemas.microsoft.com/office/drawing/2014/main" id="{FD541A08-AAC9-3B54-FD85-1B96F95B9DFD}"/>
              </a:ext>
            </a:extLst>
          </p:cNvPr>
          <p:cNvSpPr txBox="1">
            <a:spLocks noChangeArrowheads="1"/>
          </p:cNvSpPr>
          <p:nvPr/>
        </p:nvSpPr>
        <p:spPr bwMode="auto">
          <a:xfrm>
            <a:off x="866775" y="1863725"/>
            <a:ext cx="1223413" cy="313932"/>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t>Objective</a:t>
            </a:r>
          </a:p>
        </p:txBody>
      </p:sp>
      <p:sp>
        <p:nvSpPr>
          <p:cNvPr id="9" name="Slide Number Placeholder 2">
            <a:extLst>
              <a:ext uri="{FF2B5EF4-FFF2-40B4-BE49-F238E27FC236}">
                <a16:creationId xmlns:a16="http://schemas.microsoft.com/office/drawing/2014/main" id="{727E1B57-9891-4CFC-01C7-25BA9AFF584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141</a:t>
            </a:fld>
            <a:endParaRPr lang="en-US"/>
          </a:p>
        </p:txBody>
      </p:sp>
      <p:sp>
        <p:nvSpPr>
          <p:cNvPr id="12" name="Rectangle 11">
            <a:extLst>
              <a:ext uri="{FF2B5EF4-FFF2-40B4-BE49-F238E27FC236}">
                <a16:creationId xmlns:a16="http://schemas.microsoft.com/office/drawing/2014/main" id="{4D8D0DD3-3989-5BDD-1149-DAE084B7525F}"/>
              </a:ext>
            </a:extLst>
          </p:cNvPr>
          <p:cNvSpPr>
            <a:spLocks noChangeArrowheads="1"/>
          </p:cNvSpPr>
          <p:nvPr/>
        </p:nvSpPr>
        <p:spPr bwMode="auto">
          <a:xfrm>
            <a:off x="6456362" y="4538662"/>
            <a:ext cx="2582863" cy="1386008"/>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20000"/>
              </a:spcAft>
              <a:buClrTx/>
              <a:buSzTx/>
              <a:buFontTx/>
              <a:buNone/>
            </a:pPr>
            <a:r>
              <a:rPr lang="en-US" altLang="en-US" sz="1400" b="0" dirty="0">
                <a:solidFill>
                  <a:schemeClr val="bg1"/>
                </a:solidFill>
              </a:rPr>
              <a:t>Completed Future State</a:t>
            </a:r>
            <a:br>
              <a:rPr lang="en-US" altLang="en-US" sz="1400" b="0" dirty="0">
                <a:solidFill>
                  <a:schemeClr val="bg1"/>
                </a:solidFill>
              </a:rPr>
            </a:br>
            <a:r>
              <a:rPr lang="en-US" altLang="en-US" sz="1400" b="0" dirty="0">
                <a:solidFill>
                  <a:schemeClr val="bg1"/>
                </a:solidFill>
              </a:rPr>
              <a:t>Map and Value Stream</a:t>
            </a:r>
            <a:br>
              <a:rPr lang="en-US" altLang="en-US" sz="1400" b="0" dirty="0">
                <a:solidFill>
                  <a:schemeClr val="bg1"/>
                </a:solidFill>
              </a:rPr>
            </a:br>
            <a:r>
              <a:rPr lang="en-US" altLang="en-US" sz="1400" b="0" dirty="0">
                <a:solidFill>
                  <a:schemeClr val="bg1"/>
                </a:solidFill>
              </a:rPr>
              <a:t>Plan.</a:t>
            </a:r>
          </a:p>
        </p:txBody>
      </p:sp>
      <p:sp>
        <p:nvSpPr>
          <p:cNvPr id="13" name="Rectangle 12">
            <a:extLst>
              <a:ext uri="{FF2B5EF4-FFF2-40B4-BE49-F238E27FC236}">
                <a16:creationId xmlns:a16="http://schemas.microsoft.com/office/drawing/2014/main" id="{61289F0E-4196-981F-69FF-8984742A5414}"/>
              </a:ext>
            </a:extLst>
          </p:cNvPr>
          <p:cNvSpPr>
            <a:spLocks noChangeArrowheads="1"/>
          </p:cNvSpPr>
          <p:nvPr/>
        </p:nvSpPr>
        <p:spPr bwMode="auto">
          <a:xfrm>
            <a:off x="6456362" y="3386137"/>
            <a:ext cx="2568575" cy="474662"/>
          </a:xfrm>
          <a:prstGeom prst="rect">
            <a:avLst/>
          </a:prstGeom>
          <a:solidFill>
            <a:srgbClr val="EE3228"/>
          </a:solidFill>
          <a:ln w="19050" cap="rnd">
            <a:no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endParaRPr lang="en-US" altLang="en-US" sz="1600" dirty="0">
              <a:solidFill>
                <a:schemeClr val="bg1"/>
              </a:solidFill>
            </a:endParaRPr>
          </a:p>
        </p:txBody>
      </p:sp>
      <p:sp>
        <p:nvSpPr>
          <p:cNvPr id="14" name="Rectangle 13">
            <a:extLst>
              <a:ext uri="{FF2B5EF4-FFF2-40B4-BE49-F238E27FC236}">
                <a16:creationId xmlns:a16="http://schemas.microsoft.com/office/drawing/2014/main" id="{637EADD9-BE80-C3D0-F8D5-98C2AC2FB451}"/>
              </a:ext>
            </a:extLst>
          </p:cNvPr>
          <p:cNvSpPr>
            <a:spLocks noChangeArrowheads="1"/>
          </p:cNvSpPr>
          <p:nvPr/>
        </p:nvSpPr>
        <p:spPr bwMode="auto">
          <a:xfrm>
            <a:off x="838200" y="3378198"/>
            <a:ext cx="5211762" cy="2847975"/>
          </a:xfrm>
          <a:prstGeom prst="rect">
            <a:avLst/>
          </a:prstGeom>
          <a:solidFill>
            <a:srgbClr val="7F7F7F"/>
          </a:solidFill>
          <a:ln w="19050" cap="rnd">
            <a:noFill/>
            <a:prstDash val="sysDot"/>
            <a:miter lim="800000"/>
            <a:headEnd/>
            <a:tailEnd/>
          </a:ln>
        </p:spPr>
        <p:txBody>
          <a:bodyPr wrap="none" anchor="ctr"/>
          <a:lstStyle>
            <a:lvl1pPr marL="457200" indent="-457200">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As a team, create the Future State Map from the</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Marked Up Current State Map. </a:t>
            </a:r>
          </a:p>
          <a:p>
            <a:pPr marL="0" indent="0">
              <a:lnSpc>
                <a:spcPct val="100000"/>
              </a:lnSpc>
              <a:spcBef>
                <a:spcPct val="20000"/>
              </a:spcBef>
              <a:spcAft>
                <a:spcPct val="20000"/>
              </a:spcAft>
              <a:buClrTx/>
              <a:buSzTx/>
              <a:buNone/>
            </a:pPr>
            <a:endPar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endParaRP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Together with the Value Stream Manager and the </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Business Unit Owner, complete the detailed </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Value Stream Plan to achieve Future State.</a:t>
            </a:r>
          </a:p>
          <a:p>
            <a:pPr marL="0" indent="0">
              <a:lnSpc>
                <a:spcPct val="100000"/>
              </a:lnSpc>
              <a:spcBef>
                <a:spcPct val="20000"/>
              </a:spcBef>
              <a:spcAft>
                <a:spcPct val="20000"/>
              </a:spcAft>
              <a:buClrTx/>
              <a:buSzTx/>
              <a:buNone/>
            </a:pPr>
            <a:endPar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endParaRPr>
          </a:p>
          <a:p>
            <a:pPr marL="0" indent="0">
              <a:lnSpc>
                <a:spcPct val="100000"/>
              </a:lnSpc>
              <a:spcBef>
                <a:spcPct val="20000"/>
              </a:spcBef>
              <a:spcAft>
                <a:spcPct val="20000"/>
              </a:spcAft>
              <a:buClrTx/>
              <a:buSzTx/>
              <a:buNone/>
            </a:pP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Review with appropriate leadership to receive </a:t>
            </a:r>
            <a:b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400" b="0" dirty="0">
                <a:solidFill>
                  <a:schemeClr val="bg1"/>
                </a:solidFill>
                <a:latin typeface="Roboto" panose="02000000000000000000" pitchFamily="2" charset="0"/>
                <a:ea typeface="Roboto" panose="02000000000000000000" pitchFamily="2" charset="0"/>
                <a:cs typeface="Roboto" panose="02000000000000000000" pitchFamily="2" charset="0"/>
              </a:rPr>
              <a:t>approval and resource support.   </a:t>
            </a:r>
          </a:p>
        </p:txBody>
      </p:sp>
      <p:sp>
        <p:nvSpPr>
          <p:cNvPr id="15" name="Text Box 16">
            <a:extLst>
              <a:ext uri="{FF2B5EF4-FFF2-40B4-BE49-F238E27FC236}">
                <a16:creationId xmlns:a16="http://schemas.microsoft.com/office/drawing/2014/main" id="{0F54E7B3-C925-0164-9ED9-2ACF279CBC9A}"/>
              </a:ext>
            </a:extLst>
          </p:cNvPr>
          <p:cNvSpPr txBox="1">
            <a:spLocks noChangeArrowheads="1"/>
          </p:cNvSpPr>
          <p:nvPr/>
        </p:nvSpPr>
        <p:spPr bwMode="auto">
          <a:xfrm>
            <a:off x="838200" y="3067049"/>
            <a:ext cx="14922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t>Instructions</a:t>
            </a:r>
          </a:p>
        </p:txBody>
      </p:sp>
      <p:sp>
        <p:nvSpPr>
          <p:cNvPr id="16" name="Text Box 17">
            <a:extLst>
              <a:ext uri="{FF2B5EF4-FFF2-40B4-BE49-F238E27FC236}">
                <a16:creationId xmlns:a16="http://schemas.microsoft.com/office/drawing/2014/main" id="{C4C5B1AE-B299-68BE-66A5-ABC485EC47BB}"/>
              </a:ext>
            </a:extLst>
          </p:cNvPr>
          <p:cNvSpPr txBox="1">
            <a:spLocks noChangeArrowheads="1"/>
          </p:cNvSpPr>
          <p:nvPr/>
        </p:nvSpPr>
        <p:spPr bwMode="auto">
          <a:xfrm>
            <a:off x="6423025" y="3087687"/>
            <a:ext cx="21018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Time to Complete</a:t>
            </a:r>
          </a:p>
        </p:txBody>
      </p:sp>
      <p:sp>
        <p:nvSpPr>
          <p:cNvPr id="17" name="Text Box 18">
            <a:extLst>
              <a:ext uri="{FF2B5EF4-FFF2-40B4-BE49-F238E27FC236}">
                <a16:creationId xmlns:a16="http://schemas.microsoft.com/office/drawing/2014/main" id="{67454CAA-E712-C4EA-3310-B9594596C48D}"/>
              </a:ext>
            </a:extLst>
          </p:cNvPr>
          <p:cNvSpPr txBox="1">
            <a:spLocks noChangeArrowheads="1"/>
          </p:cNvSpPr>
          <p:nvPr/>
        </p:nvSpPr>
        <p:spPr bwMode="auto">
          <a:xfrm>
            <a:off x="6459537" y="4256087"/>
            <a:ext cx="14033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a:t>Deliverable</a:t>
            </a:r>
          </a:p>
        </p:txBody>
      </p:sp>
      <p:grpSp>
        <p:nvGrpSpPr>
          <p:cNvPr id="24" name="Group 23">
            <a:extLst>
              <a:ext uri="{FF2B5EF4-FFF2-40B4-BE49-F238E27FC236}">
                <a16:creationId xmlns:a16="http://schemas.microsoft.com/office/drawing/2014/main" id="{1020CF03-970B-9FCB-BF85-CDB345E1AF92}"/>
              </a:ext>
            </a:extLst>
          </p:cNvPr>
          <p:cNvGrpSpPr/>
          <p:nvPr/>
        </p:nvGrpSpPr>
        <p:grpSpPr>
          <a:xfrm>
            <a:off x="940249" y="302538"/>
            <a:ext cx="6219503" cy="311932"/>
            <a:chOff x="940249" y="302538"/>
            <a:chExt cx="6219503" cy="311932"/>
          </a:xfrm>
        </p:grpSpPr>
        <p:sp>
          <p:nvSpPr>
            <p:cNvPr id="25" name="TextBox 24">
              <a:extLst>
                <a:ext uri="{FF2B5EF4-FFF2-40B4-BE49-F238E27FC236}">
                  <a16:creationId xmlns:a16="http://schemas.microsoft.com/office/drawing/2014/main" id="{3CEE101E-79D2-AF5E-C71C-AF6EE4D8B9E5}"/>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sp>
          <p:nvSpPr>
            <p:cNvPr id="26" name="AutoShape 9">
              <a:extLst>
                <a:ext uri="{FF2B5EF4-FFF2-40B4-BE49-F238E27FC236}">
                  <a16:creationId xmlns:a16="http://schemas.microsoft.com/office/drawing/2014/main" id="{0B1733C1-B0DA-F513-383F-0E7B33E0570F}"/>
                </a:ext>
              </a:extLst>
            </p:cNvPr>
            <p:cNvSpPr>
              <a:spLocks noChangeArrowheads="1"/>
            </p:cNvSpPr>
            <p:nvPr/>
          </p:nvSpPr>
          <p:spPr bwMode="auto">
            <a:xfrm>
              <a:off x="2183425"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7" name="AutoShape 9">
              <a:extLst>
                <a:ext uri="{FF2B5EF4-FFF2-40B4-BE49-F238E27FC236}">
                  <a16:creationId xmlns:a16="http://schemas.microsoft.com/office/drawing/2014/main" id="{F5935CA9-CB37-B39C-A34D-D8E290A7EFC3}"/>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9">
              <a:extLst>
                <a:ext uri="{FF2B5EF4-FFF2-40B4-BE49-F238E27FC236}">
                  <a16:creationId xmlns:a16="http://schemas.microsoft.com/office/drawing/2014/main" id="{BF445E02-AF9E-A8B5-7583-1DEC1DE01D85}"/>
                </a:ext>
              </a:extLst>
            </p:cNvPr>
            <p:cNvSpPr>
              <a:spLocks noChangeArrowheads="1"/>
            </p:cNvSpPr>
            <p:nvPr/>
          </p:nvSpPr>
          <p:spPr bwMode="auto">
            <a:xfrm>
              <a:off x="1557658"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9" name="AutoShape 9">
              <a:extLst>
                <a:ext uri="{FF2B5EF4-FFF2-40B4-BE49-F238E27FC236}">
                  <a16:creationId xmlns:a16="http://schemas.microsoft.com/office/drawing/2014/main" id="{6B41CD06-9E48-4707-8EE5-FB8A9EB49795}"/>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30" name="AutoShape 11">
              <a:extLst>
                <a:ext uri="{FF2B5EF4-FFF2-40B4-BE49-F238E27FC236}">
                  <a16:creationId xmlns:a16="http://schemas.microsoft.com/office/drawing/2014/main" id="{1F29C523-177C-D0FC-89D3-72244F5047F2}"/>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Tree>
    <p:extLst>
      <p:ext uri="{BB962C8B-B14F-4D97-AF65-F5344CB8AC3E}">
        <p14:creationId xmlns:p14="http://schemas.microsoft.com/office/powerpoint/2010/main" val="56080706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5659A-1B9D-6AC3-4B5A-3206CCF1FA8B}"/>
              </a:ext>
            </a:extLst>
          </p:cNvPr>
          <p:cNvSpPr>
            <a:spLocks noGrp="1"/>
          </p:cNvSpPr>
          <p:nvPr>
            <p:ph type="title"/>
          </p:nvPr>
        </p:nvSpPr>
        <p:spPr/>
        <p:txBody>
          <a:bodyPr>
            <a:noAutofit/>
          </a:bodyPr>
          <a:lstStyle/>
          <a:p>
            <a:r>
              <a:rPr lang="en-US" sz="3600" dirty="0"/>
              <a:t>Prepare for Final Report-Out to Management</a:t>
            </a:r>
          </a:p>
        </p:txBody>
      </p:sp>
      <p:sp>
        <p:nvSpPr>
          <p:cNvPr id="3" name="Content Placeholder 2">
            <a:extLst>
              <a:ext uri="{FF2B5EF4-FFF2-40B4-BE49-F238E27FC236}">
                <a16:creationId xmlns:a16="http://schemas.microsoft.com/office/drawing/2014/main" id="{ACC36E60-9F8A-5DBE-A0D5-44C39EE59A27}"/>
              </a:ext>
            </a:extLst>
          </p:cNvPr>
          <p:cNvSpPr>
            <a:spLocks noGrp="1"/>
          </p:cNvSpPr>
          <p:nvPr>
            <p:ph idx="1"/>
          </p:nvPr>
        </p:nvSpPr>
        <p:spPr/>
        <p:txBody>
          <a:bodyPr>
            <a:normAutofit lnSpcReduction="10000"/>
          </a:bodyPr>
          <a:lstStyle/>
          <a:p>
            <a:r>
              <a:rPr lang="en-US" dirty="0"/>
              <a:t>All team members should contribute to the final report-out presentation to management</a:t>
            </a:r>
          </a:p>
          <a:p>
            <a:r>
              <a:rPr lang="en-US" dirty="0"/>
              <a:t>Report-out should include</a:t>
            </a:r>
          </a:p>
          <a:p>
            <a:pPr lvl="1"/>
            <a:r>
              <a:rPr lang="en-US" dirty="0"/>
              <a:t>Introduction of Team</a:t>
            </a:r>
          </a:p>
          <a:p>
            <a:pPr lvl="1"/>
            <a:r>
              <a:rPr lang="en-US" dirty="0"/>
              <a:t>Review of Event Charter</a:t>
            </a:r>
          </a:p>
          <a:p>
            <a:pPr lvl="1"/>
            <a:r>
              <a:rPr lang="en-US" dirty="0"/>
              <a:t>Review of Current State Map</a:t>
            </a:r>
          </a:p>
          <a:p>
            <a:pPr lvl="1"/>
            <a:r>
              <a:rPr lang="en-US" dirty="0"/>
              <a:t>Review of Improvement Opportunities Identified</a:t>
            </a:r>
          </a:p>
          <a:p>
            <a:pPr lvl="1"/>
            <a:r>
              <a:rPr lang="en-US" dirty="0"/>
              <a:t>Review of Future State Map</a:t>
            </a:r>
          </a:p>
          <a:p>
            <a:pPr lvl="1"/>
            <a:r>
              <a:rPr lang="en-US" dirty="0"/>
              <a:t>Review of Action Plan</a:t>
            </a:r>
          </a:p>
          <a:p>
            <a:r>
              <a:rPr lang="en-US" dirty="0"/>
              <a:t>Typical Report-Out times are 15 minutes for presentation and 15 minutes for questions</a:t>
            </a:r>
          </a:p>
        </p:txBody>
      </p:sp>
      <p:grpSp>
        <p:nvGrpSpPr>
          <p:cNvPr id="5" name="Group 4">
            <a:extLst>
              <a:ext uri="{FF2B5EF4-FFF2-40B4-BE49-F238E27FC236}">
                <a16:creationId xmlns:a16="http://schemas.microsoft.com/office/drawing/2014/main" id="{C77717C3-CC2C-2399-63BE-F804EAB39AFB}"/>
              </a:ext>
            </a:extLst>
          </p:cNvPr>
          <p:cNvGrpSpPr/>
          <p:nvPr/>
        </p:nvGrpSpPr>
        <p:grpSpPr>
          <a:xfrm>
            <a:off x="940249" y="302538"/>
            <a:ext cx="6219503" cy="311932"/>
            <a:chOff x="940249" y="302538"/>
            <a:chExt cx="6219503" cy="311932"/>
          </a:xfrm>
        </p:grpSpPr>
        <p:sp>
          <p:nvSpPr>
            <p:cNvPr id="6" name="TextBox 5">
              <a:extLst>
                <a:ext uri="{FF2B5EF4-FFF2-40B4-BE49-F238E27FC236}">
                  <a16:creationId xmlns:a16="http://schemas.microsoft.com/office/drawing/2014/main" id="{4022925D-8ED2-7623-0534-C997F7D301E0}"/>
                </a:ext>
              </a:extLst>
            </p:cNvPr>
            <p:cNvSpPr txBox="1"/>
            <p:nvPr/>
          </p:nvSpPr>
          <p:spPr>
            <a:xfrm>
              <a:off x="2708740" y="323813"/>
              <a:ext cx="4451012" cy="29065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sp>
          <p:nvSpPr>
            <p:cNvPr id="7" name="AutoShape 9">
              <a:extLst>
                <a:ext uri="{FF2B5EF4-FFF2-40B4-BE49-F238E27FC236}">
                  <a16:creationId xmlns:a16="http://schemas.microsoft.com/office/drawing/2014/main" id="{78E0535C-FBE0-54CF-6E02-18C08A17F07E}"/>
                </a:ext>
              </a:extLst>
            </p:cNvPr>
            <p:cNvSpPr>
              <a:spLocks noChangeArrowheads="1"/>
            </p:cNvSpPr>
            <p:nvPr/>
          </p:nvSpPr>
          <p:spPr bwMode="auto">
            <a:xfrm>
              <a:off x="2183425" y="30253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CBAA5BA8-81E2-1872-EE73-76961B388F18}"/>
                </a:ext>
              </a:extLst>
            </p:cNvPr>
            <p:cNvSpPr>
              <a:spLocks noChangeArrowheads="1"/>
            </p:cNvSpPr>
            <p:nvPr/>
          </p:nvSpPr>
          <p:spPr bwMode="auto">
            <a:xfrm>
              <a:off x="1835953"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6E1BAB1F-568B-9D1B-A965-978BD3AAA08F}"/>
                </a:ext>
              </a:extLst>
            </p:cNvPr>
            <p:cNvSpPr>
              <a:spLocks noChangeArrowheads="1"/>
            </p:cNvSpPr>
            <p:nvPr/>
          </p:nvSpPr>
          <p:spPr bwMode="auto">
            <a:xfrm>
              <a:off x="1557658"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AD2FA40B-7E9C-AC70-A360-A635DFB34CAE}"/>
                </a:ext>
              </a:extLst>
            </p:cNvPr>
            <p:cNvSpPr>
              <a:spLocks noChangeArrowheads="1"/>
            </p:cNvSpPr>
            <p:nvPr/>
          </p:nvSpPr>
          <p:spPr bwMode="auto">
            <a:xfrm>
              <a:off x="1231656" y="30253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879726-91FE-FFE0-1D8C-1AA74574E498}"/>
                </a:ext>
              </a:extLst>
            </p:cNvPr>
            <p:cNvSpPr>
              <a:spLocks noChangeArrowheads="1"/>
            </p:cNvSpPr>
            <p:nvPr/>
          </p:nvSpPr>
          <p:spPr bwMode="auto">
            <a:xfrm>
              <a:off x="940249" y="3025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sp>
        <p:nvSpPr>
          <p:cNvPr id="12" name="Slide Number Placeholder 2">
            <a:extLst>
              <a:ext uri="{FF2B5EF4-FFF2-40B4-BE49-F238E27FC236}">
                <a16:creationId xmlns:a16="http://schemas.microsoft.com/office/drawing/2014/main" id="{C8C36CE5-A436-D7D6-8F54-1D039ADFD565}"/>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142</a:t>
            </a:fld>
            <a:endParaRPr lang="en-US" dirty="0"/>
          </a:p>
        </p:txBody>
      </p:sp>
    </p:spTree>
    <p:extLst>
      <p:ext uri="{BB962C8B-B14F-4D97-AF65-F5344CB8AC3E}">
        <p14:creationId xmlns:p14="http://schemas.microsoft.com/office/powerpoint/2010/main" val="182092659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83DE62-388F-2AE3-B965-635F627A35FF}"/>
              </a:ext>
            </a:extLst>
          </p:cNvPr>
          <p:cNvSpPr>
            <a:spLocks noGrp="1"/>
          </p:cNvSpPr>
          <p:nvPr>
            <p:ph type="ctrTitle"/>
          </p:nvPr>
        </p:nvSpPr>
        <p:spPr/>
        <p:txBody>
          <a:bodyPr/>
          <a:lstStyle/>
          <a:p>
            <a:r>
              <a:rPr lang="en-US" dirty="0"/>
              <a:t>Appendix</a:t>
            </a:r>
          </a:p>
        </p:txBody>
      </p:sp>
      <p:sp>
        <p:nvSpPr>
          <p:cNvPr id="3" name="Subtitle 2">
            <a:extLst>
              <a:ext uri="{FF2B5EF4-FFF2-40B4-BE49-F238E27FC236}">
                <a16:creationId xmlns:a16="http://schemas.microsoft.com/office/drawing/2014/main" id="{F033D890-9753-CAEF-5DF0-2EEAF722255E}"/>
              </a:ext>
            </a:extLst>
          </p:cNvPr>
          <p:cNvSpPr>
            <a:spLocks noGrp="1"/>
          </p:cNvSpPr>
          <p:nvPr>
            <p:ph type="subTitle" idx="1"/>
          </p:nvPr>
        </p:nvSpPr>
        <p:spPr/>
        <p:txBody>
          <a:bodyPr/>
          <a:lstStyle/>
          <a:p>
            <a:r>
              <a:rPr lang="en-US" dirty="0" err="1"/>
              <a:t>VSMi</a:t>
            </a:r>
            <a:r>
              <a:rPr lang="en-US" dirty="0"/>
              <a:t>® ENG REV 4.0</a:t>
            </a:r>
          </a:p>
        </p:txBody>
      </p:sp>
      <p:sp>
        <p:nvSpPr>
          <p:cNvPr id="4" name="Slide Number Placeholder 2">
            <a:extLst>
              <a:ext uri="{FF2B5EF4-FFF2-40B4-BE49-F238E27FC236}">
                <a16:creationId xmlns:a16="http://schemas.microsoft.com/office/drawing/2014/main" id="{7D94D920-D4FF-8C04-3274-8BC8D98B7BEF}"/>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143</a:t>
            </a:fld>
            <a:endParaRPr lang="en-US" dirty="0"/>
          </a:p>
        </p:txBody>
      </p:sp>
    </p:spTree>
    <p:extLst>
      <p:ext uri="{BB962C8B-B14F-4D97-AF65-F5344CB8AC3E}">
        <p14:creationId xmlns:p14="http://schemas.microsoft.com/office/powerpoint/2010/main" val="253158883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03A0777-C35C-C0E9-D6E4-E264AC77E30C}"/>
              </a:ext>
            </a:extLst>
          </p:cNvPr>
          <p:cNvSpPr>
            <a:spLocks noGrp="1"/>
          </p:cNvSpPr>
          <p:nvPr>
            <p:ph type="title"/>
          </p:nvPr>
        </p:nvSpPr>
        <p:spPr/>
        <p:txBody>
          <a:bodyPr/>
          <a:lstStyle/>
          <a:p>
            <a:r>
              <a:rPr lang="en-US" dirty="0"/>
              <a:t>VSM Icons</a:t>
            </a:r>
          </a:p>
        </p:txBody>
      </p:sp>
      <p:graphicFrame>
        <p:nvGraphicFramePr>
          <p:cNvPr id="42" name="Group 121">
            <a:extLst>
              <a:ext uri="{FF2B5EF4-FFF2-40B4-BE49-F238E27FC236}">
                <a16:creationId xmlns:a16="http://schemas.microsoft.com/office/drawing/2014/main" id="{0EF36ECA-4984-A89F-E557-47627D119C34}"/>
              </a:ext>
            </a:extLst>
          </p:cNvPr>
          <p:cNvGraphicFramePr>
            <a:graphicFrameLocks noGrp="1"/>
          </p:cNvGraphicFramePr>
          <p:nvPr>
            <p:extLst>
              <p:ext uri="{D42A27DB-BD31-4B8C-83A1-F6EECF244321}">
                <p14:modId xmlns:p14="http://schemas.microsoft.com/office/powerpoint/2010/main" val="147149700"/>
              </p:ext>
            </p:extLst>
          </p:nvPr>
        </p:nvGraphicFramePr>
        <p:xfrm>
          <a:off x="838200" y="1627307"/>
          <a:ext cx="8242300" cy="4770205"/>
        </p:xfrm>
        <a:graphic>
          <a:graphicData uri="http://schemas.openxmlformats.org/drawingml/2006/table">
            <a:tbl>
              <a:tblPr/>
              <a:tblGrid>
                <a:gridCol w="2684463">
                  <a:extLst>
                    <a:ext uri="{9D8B030D-6E8A-4147-A177-3AD203B41FA5}">
                      <a16:colId xmlns:a16="http://schemas.microsoft.com/office/drawing/2014/main" val="20000"/>
                    </a:ext>
                  </a:extLst>
                </a:gridCol>
                <a:gridCol w="2032000">
                  <a:extLst>
                    <a:ext uri="{9D8B030D-6E8A-4147-A177-3AD203B41FA5}">
                      <a16:colId xmlns:a16="http://schemas.microsoft.com/office/drawing/2014/main" val="20001"/>
                    </a:ext>
                  </a:extLst>
                </a:gridCol>
                <a:gridCol w="3525837">
                  <a:extLst>
                    <a:ext uri="{9D8B030D-6E8A-4147-A177-3AD203B41FA5}">
                      <a16:colId xmlns:a16="http://schemas.microsoft.com/office/drawing/2014/main" val="20002"/>
                    </a:ext>
                  </a:extLst>
                </a:gridCol>
              </a:tblGrid>
              <a:tr h="406962">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VSM Icon</a:t>
                      </a:r>
                    </a:p>
                  </a:txBody>
                  <a:tcPr marT="45726" marB="45726" anchor="b" horzOverflow="overflow">
                    <a:lnL cap="flat">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Represents</a:t>
                      </a:r>
                    </a:p>
                  </a:txBody>
                  <a:tcPr marT="45726" marB="45726" anchor="b" horzOverflow="overflow">
                    <a:lnL>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2" charset="2"/>
                        <a:buNone/>
                        <a:tabLst/>
                      </a:pPr>
                      <a:r>
                        <a:rPr kumimoji="0" lang="en-US" sz="20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Notes</a:t>
                      </a:r>
                    </a:p>
                  </a:txBody>
                  <a:tcPr marT="45726" marB="45726" anchor="b" horzOverflow="overflow">
                    <a:lnL>
                      <a:noFill/>
                    </a:lnL>
                    <a:lnR cap="flat">
                      <a:noFill/>
                    </a:lnR>
                    <a:lnT cap="fla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extLst>
                  <a:ext uri="{0D108BD9-81ED-4DB2-BD59-A6C34878D82A}">
                    <a16:rowId xmlns:a16="http://schemas.microsoft.com/office/drawing/2014/main" val="10000"/>
                  </a:ext>
                </a:extLst>
              </a:tr>
              <a:tr h="1079136">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cap="flat">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Process</a:t>
                      </a:r>
                    </a:p>
                  </a:txBody>
                  <a:tcPr marT="45726" marB="45726"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One process box equals an area of flow</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All processes should be labeled</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Also used for departments such as    production control</a:t>
                      </a:r>
                    </a:p>
                  </a:txBody>
                  <a:tcPr marT="45726" marB="45726" horzOverflow="overflow">
                    <a:lnL>
                      <a:noFill/>
                    </a:lnL>
                    <a:lnR cap="flat">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005974">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Outside Sources</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Used to show customers, suppliers and outside manufacturing processes</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For project-based maps, could depict the start and end of the process</a:t>
                      </a: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75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Data Box</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Used to record information concerning a process, department, customer, etc.</a:t>
                      </a: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75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Inventory</a:t>
                      </a:r>
                    </a:p>
                  </a:txBody>
                  <a:tcPr marT="45726" marB="45726"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Count and time should be noted</a:t>
                      </a: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r h="755751">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cap="flat">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2" charset="2"/>
                        <a:buNone/>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115888" marR="0" lvl="0" indent="-115888" algn="l" defTabSz="914400" rtl="0" eaLnBrk="0" fontAlgn="base" latinLnBrk="0" hangingPunct="0">
                        <a:lnSpc>
                          <a:spcPct val="115000"/>
                        </a:lnSpc>
                        <a:spcBef>
                          <a:spcPct val="20000"/>
                        </a:spcBef>
                        <a:spcAft>
                          <a:spcPct val="20000"/>
                        </a:spcAft>
                        <a:buClr>
                          <a:srgbClr val="006699"/>
                        </a:buClr>
                        <a:buSzPct val="90000"/>
                        <a:buFont typeface="Wingdings" pitchFamily="2" charset="2"/>
                        <a:buChar char="§"/>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6" marB="45726" horzOverflow="overflow">
                    <a:lnL>
                      <a:noFill/>
                    </a:lnL>
                    <a:lnR cap="flat">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43" name="Rectangle 50">
            <a:extLst>
              <a:ext uri="{FF2B5EF4-FFF2-40B4-BE49-F238E27FC236}">
                <a16:creationId xmlns:a16="http://schemas.microsoft.com/office/drawing/2014/main" id="{11D85BED-F8AB-5A1C-E28E-7A201FD346EA}"/>
              </a:ext>
            </a:extLst>
          </p:cNvPr>
          <p:cNvSpPr>
            <a:spLocks noChangeArrowheads="1"/>
          </p:cNvSpPr>
          <p:nvPr/>
        </p:nvSpPr>
        <p:spPr bwMode="auto">
          <a:xfrm>
            <a:off x="1125538" y="2217857"/>
            <a:ext cx="957263" cy="4984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44" name="Line 51">
            <a:extLst>
              <a:ext uri="{FF2B5EF4-FFF2-40B4-BE49-F238E27FC236}">
                <a16:creationId xmlns:a16="http://schemas.microsoft.com/office/drawing/2014/main" id="{040A1098-F47D-95A1-86D3-80AB52F5860B}"/>
              </a:ext>
            </a:extLst>
          </p:cNvPr>
          <p:cNvSpPr>
            <a:spLocks noChangeShapeType="1"/>
          </p:cNvSpPr>
          <p:nvPr/>
        </p:nvSpPr>
        <p:spPr bwMode="auto">
          <a:xfrm>
            <a:off x="1130300" y="2479795"/>
            <a:ext cx="682625" cy="1587"/>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p>
        </p:txBody>
      </p:sp>
      <p:sp>
        <p:nvSpPr>
          <p:cNvPr id="45" name="Text Box 56">
            <a:extLst>
              <a:ext uri="{FF2B5EF4-FFF2-40B4-BE49-F238E27FC236}">
                <a16:creationId xmlns:a16="http://schemas.microsoft.com/office/drawing/2014/main" id="{186C58F6-E670-9573-1133-F3770A89E8E3}"/>
              </a:ext>
            </a:extLst>
          </p:cNvPr>
          <p:cNvSpPr txBox="1">
            <a:spLocks noChangeArrowheads="1"/>
          </p:cNvSpPr>
          <p:nvPr/>
        </p:nvSpPr>
        <p:spPr bwMode="auto">
          <a:xfrm>
            <a:off x="1149349" y="2182932"/>
            <a:ext cx="9572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200" b="0" dirty="0"/>
              <a:t>Receipt</a:t>
            </a:r>
          </a:p>
        </p:txBody>
      </p:sp>
      <p:grpSp>
        <p:nvGrpSpPr>
          <p:cNvPr id="46" name="Group 57">
            <a:extLst>
              <a:ext uri="{FF2B5EF4-FFF2-40B4-BE49-F238E27FC236}">
                <a16:creationId xmlns:a16="http://schemas.microsoft.com/office/drawing/2014/main" id="{E96D452B-E6E1-DEEF-C4C5-6140D642E864}"/>
              </a:ext>
            </a:extLst>
          </p:cNvPr>
          <p:cNvGrpSpPr>
            <a:grpSpLocks/>
          </p:cNvGrpSpPr>
          <p:nvPr/>
        </p:nvGrpSpPr>
        <p:grpSpPr bwMode="auto">
          <a:xfrm>
            <a:off x="1052513" y="3240207"/>
            <a:ext cx="887412" cy="517525"/>
            <a:chOff x="435" y="1322"/>
            <a:chExt cx="583" cy="378"/>
          </a:xfrm>
        </p:grpSpPr>
        <p:grpSp>
          <p:nvGrpSpPr>
            <p:cNvPr id="47" name="Group 58">
              <a:extLst>
                <a:ext uri="{FF2B5EF4-FFF2-40B4-BE49-F238E27FC236}">
                  <a16:creationId xmlns:a16="http://schemas.microsoft.com/office/drawing/2014/main" id="{073F3796-DFB4-4059-394F-FF2F3AC76839}"/>
                </a:ext>
              </a:extLst>
            </p:cNvPr>
            <p:cNvGrpSpPr>
              <a:grpSpLocks/>
            </p:cNvGrpSpPr>
            <p:nvPr/>
          </p:nvGrpSpPr>
          <p:grpSpPr bwMode="auto">
            <a:xfrm>
              <a:off x="474" y="1322"/>
              <a:ext cx="508" cy="348"/>
              <a:chOff x="536" y="1322"/>
              <a:chExt cx="446" cy="348"/>
            </a:xfrm>
          </p:grpSpPr>
          <p:sp>
            <p:nvSpPr>
              <p:cNvPr id="49" name="Rectangle 59">
                <a:extLst>
                  <a:ext uri="{FF2B5EF4-FFF2-40B4-BE49-F238E27FC236}">
                    <a16:creationId xmlns:a16="http://schemas.microsoft.com/office/drawing/2014/main" id="{5DA9E16F-1BB1-7ADA-369E-432BA5D7CD3D}"/>
                  </a:ext>
                </a:extLst>
              </p:cNvPr>
              <p:cNvSpPr>
                <a:spLocks noChangeArrowheads="1"/>
              </p:cNvSpPr>
              <p:nvPr/>
            </p:nvSpPr>
            <p:spPr bwMode="auto">
              <a:xfrm>
                <a:off x="950" y="1322"/>
                <a:ext cx="29" cy="18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0" name="Rectangle 60">
                <a:extLst>
                  <a:ext uri="{FF2B5EF4-FFF2-40B4-BE49-F238E27FC236}">
                    <a16:creationId xmlns:a16="http://schemas.microsoft.com/office/drawing/2014/main" id="{96239E7E-5396-3AAE-8297-96F6B50C3277}"/>
                  </a:ext>
                </a:extLst>
              </p:cNvPr>
              <p:cNvSpPr>
                <a:spLocks noChangeArrowheads="1"/>
              </p:cNvSpPr>
              <p:nvPr/>
            </p:nvSpPr>
            <p:spPr bwMode="auto">
              <a:xfrm>
                <a:off x="536" y="1514"/>
                <a:ext cx="446" cy="156"/>
              </a:xfrm>
              <a:prstGeom prst="rect">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endParaRPr lang="en-US" altLang="en-US" sz="1400" b="0">
                  <a:solidFill>
                    <a:srgbClr val="FF0000"/>
                  </a:solidFill>
                </a:endParaRPr>
              </a:p>
            </p:txBody>
          </p:sp>
          <p:sp>
            <p:nvSpPr>
              <p:cNvPr id="51" name="AutoShape 61">
                <a:extLst>
                  <a:ext uri="{FF2B5EF4-FFF2-40B4-BE49-F238E27FC236}">
                    <a16:creationId xmlns:a16="http://schemas.microsoft.com/office/drawing/2014/main" id="{F7E75B91-60CE-7A4F-7247-E3A9CB90163D}"/>
                  </a:ext>
                </a:extLst>
              </p:cNvPr>
              <p:cNvSpPr>
                <a:spLocks noChangeArrowheads="1"/>
              </p:cNvSpPr>
              <p:nvPr/>
            </p:nvSpPr>
            <p:spPr bwMode="auto">
              <a:xfrm>
                <a:off x="813"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2" name="AutoShape 62">
                <a:extLst>
                  <a:ext uri="{FF2B5EF4-FFF2-40B4-BE49-F238E27FC236}">
                    <a16:creationId xmlns:a16="http://schemas.microsoft.com/office/drawing/2014/main" id="{3AD07C1C-62B3-B018-E850-B4CEF99EB757}"/>
                  </a:ext>
                </a:extLst>
              </p:cNvPr>
              <p:cNvSpPr>
                <a:spLocks noChangeArrowheads="1"/>
              </p:cNvSpPr>
              <p:nvPr/>
            </p:nvSpPr>
            <p:spPr bwMode="auto">
              <a:xfrm>
                <a:off x="675"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3" name="AutoShape 63">
                <a:extLst>
                  <a:ext uri="{FF2B5EF4-FFF2-40B4-BE49-F238E27FC236}">
                    <a16:creationId xmlns:a16="http://schemas.microsoft.com/office/drawing/2014/main" id="{6BA9A57C-52E8-5CF3-5C5F-E8962F94DA1C}"/>
                  </a:ext>
                </a:extLst>
              </p:cNvPr>
              <p:cNvSpPr>
                <a:spLocks noChangeArrowheads="1"/>
              </p:cNvSpPr>
              <p:nvPr/>
            </p:nvSpPr>
            <p:spPr bwMode="auto">
              <a:xfrm>
                <a:off x="537" y="1372"/>
                <a:ext cx="137" cy="142"/>
              </a:xfrm>
              <a:prstGeom prst="rtTriangle">
                <a:avLst/>
              </a:prstGeom>
              <a:solidFill>
                <a:schemeClr val="bg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4" name="Rectangle 64">
                <a:extLst>
                  <a:ext uri="{FF2B5EF4-FFF2-40B4-BE49-F238E27FC236}">
                    <a16:creationId xmlns:a16="http://schemas.microsoft.com/office/drawing/2014/main" id="{F1B7613B-C335-FCCC-FB72-AAF7726621EA}"/>
                  </a:ext>
                </a:extLst>
              </p:cNvPr>
              <p:cNvSpPr>
                <a:spLocks noChangeArrowheads="1"/>
              </p:cNvSpPr>
              <p:nvPr/>
            </p:nvSpPr>
            <p:spPr bwMode="auto">
              <a:xfrm>
                <a:off x="564"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5" name="Rectangle 65">
                <a:extLst>
                  <a:ext uri="{FF2B5EF4-FFF2-40B4-BE49-F238E27FC236}">
                    <a16:creationId xmlns:a16="http://schemas.microsoft.com/office/drawing/2014/main" id="{4D7179A1-D6DD-6192-7E85-42649AFB025F}"/>
                  </a:ext>
                </a:extLst>
              </p:cNvPr>
              <p:cNvSpPr>
                <a:spLocks noChangeArrowheads="1"/>
              </p:cNvSpPr>
              <p:nvPr/>
            </p:nvSpPr>
            <p:spPr bwMode="auto">
              <a:xfrm>
                <a:off x="707"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56" name="Rectangle 66">
                <a:extLst>
                  <a:ext uri="{FF2B5EF4-FFF2-40B4-BE49-F238E27FC236}">
                    <a16:creationId xmlns:a16="http://schemas.microsoft.com/office/drawing/2014/main" id="{A9E38ED7-CC47-1C27-9A66-A6EC82B888B4}"/>
                  </a:ext>
                </a:extLst>
              </p:cNvPr>
              <p:cNvSpPr>
                <a:spLocks noChangeArrowheads="1"/>
              </p:cNvSpPr>
              <p:nvPr/>
            </p:nvSpPr>
            <p:spPr bwMode="auto">
              <a:xfrm>
                <a:off x="850" y="1454"/>
                <a:ext cx="18" cy="38"/>
              </a:xfrm>
              <a:prstGeom prst="rect">
                <a:avLst/>
              </a:prstGeom>
              <a:solidFill>
                <a:schemeClr val="tx1"/>
              </a:solidFill>
              <a:ln w="1905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48" name="Text Box 67">
              <a:extLst>
                <a:ext uri="{FF2B5EF4-FFF2-40B4-BE49-F238E27FC236}">
                  <a16:creationId xmlns:a16="http://schemas.microsoft.com/office/drawing/2014/main" id="{1700E37F-D6BE-F572-3FAC-821F46CB6A86}"/>
                </a:ext>
              </a:extLst>
            </p:cNvPr>
            <p:cNvSpPr txBox="1">
              <a:spLocks noChangeArrowheads="1"/>
            </p:cNvSpPr>
            <p:nvPr/>
          </p:nvSpPr>
          <p:spPr bwMode="auto">
            <a:xfrm>
              <a:off x="435" y="1494"/>
              <a:ext cx="583"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90000"/>
                </a:lnSpc>
                <a:spcBef>
                  <a:spcPct val="0"/>
                </a:spcBef>
                <a:spcAft>
                  <a:spcPct val="0"/>
                </a:spcAft>
                <a:buClrTx/>
                <a:buSzTx/>
                <a:buFontTx/>
                <a:buNone/>
              </a:pPr>
              <a:endParaRPr lang="en-US" altLang="en-US" sz="700" b="0"/>
            </a:p>
            <a:p>
              <a:pPr algn="ctr">
                <a:lnSpc>
                  <a:spcPct val="90000"/>
                </a:lnSpc>
                <a:spcBef>
                  <a:spcPct val="0"/>
                </a:spcBef>
                <a:spcAft>
                  <a:spcPct val="0"/>
                </a:spcAft>
                <a:buClrTx/>
                <a:buSzTx/>
                <a:buFontTx/>
                <a:buNone/>
              </a:pPr>
              <a:endParaRPr lang="en-US" altLang="en-US" sz="700" b="0"/>
            </a:p>
          </p:txBody>
        </p:sp>
      </p:grpSp>
      <p:grpSp>
        <p:nvGrpSpPr>
          <p:cNvPr id="57" name="Group 75">
            <a:extLst>
              <a:ext uri="{FF2B5EF4-FFF2-40B4-BE49-F238E27FC236}">
                <a16:creationId xmlns:a16="http://schemas.microsoft.com/office/drawing/2014/main" id="{EE7DB6E8-093B-E6CE-2C36-82FC10BA0A28}"/>
              </a:ext>
            </a:extLst>
          </p:cNvPr>
          <p:cNvGrpSpPr>
            <a:grpSpLocks/>
          </p:cNvGrpSpPr>
          <p:nvPr/>
        </p:nvGrpSpPr>
        <p:grpSpPr bwMode="auto">
          <a:xfrm>
            <a:off x="1045018" y="4224723"/>
            <a:ext cx="2853012" cy="628715"/>
            <a:chOff x="4841" y="3355"/>
            <a:chExt cx="878" cy="460"/>
          </a:xfrm>
        </p:grpSpPr>
        <p:sp>
          <p:nvSpPr>
            <p:cNvPr id="58" name="Rectangle 76">
              <a:extLst>
                <a:ext uri="{FF2B5EF4-FFF2-40B4-BE49-F238E27FC236}">
                  <a16:creationId xmlns:a16="http://schemas.microsoft.com/office/drawing/2014/main" id="{96B9FB88-C2FC-7885-8BFD-D0B23DD517E9}"/>
                </a:ext>
              </a:extLst>
            </p:cNvPr>
            <p:cNvSpPr>
              <a:spLocks noChangeArrowheads="1"/>
            </p:cNvSpPr>
            <p:nvPr/>
          </p:nvSpPr>
          <p:spPr bwMode="auto">
            <a:xfrm>
              <a:off x="4886" y="3357"/>
              <a:ext cx="450"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59" name="Group 77">
              <a:extLst>
                <a:ext uri="{FF2B5EF4-FFF2-40B4-BE49-F238E27FC236}">
                  <a16:creationId xmlns:a16="http://schemas.microsoft.com/office/drawing/2014/main" id="{8FBE8677-D62A-17BF-F74A-200C069C591A}"/>
                </a:ext>
              </a:extLst>
            </p:cNvPr>
            <p:cNvGrpSpPr>
              <a:grpSpLocks/>
            </p:cNvGrpSpPr>
            <p:nvPr/>
          </p:nvGrpSpPr>
          <p:grpSpPr bwMode="auto">
            <a:xfrm>
              <a:off x="4841" y="3355"/>
              <a:ext cx="878" cy="460"/>
              <a:chOff x="4841" y="3355"/>
              <a:chExt cx="878" cy="460"/>
            </a:xfrm>
          </p:grpSpPr>
          <p:sp>
            <p:nvSpPr>
              <p:cNvPr id="60" name="Text Box 78">
                <a:extLst>
                  <a:ext uri="{FF2B5EF4-FFF2-40B4-BE49-F238E27FC236}">
                    <a16:creationId xmlns:a16="http://schemas.microsoft.com/office/drawing/2014/main" id="{47EFB91F-F7CB-C8F7-D74F-8596D6C2A16D}"/>
                  </a:ext>
                </a:extLst>
              </p:cNvPr>
              <p:cNvSpPr txBox="1">
                <a:spLocks noChangeArrowheads="1"/>
              </p:cNvSpPr>
              <p:nvPr/>
            </p:nvSpPr>
            <p:spPr bwMode="auto">
              <a:xfrm>
                <a:off x="4841" y="3592"/>
                <a:ext cx="435" cy="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p>
            </p:txBody>
          </p:sp>
          <p:sp>
            <p:nvSpPr>
              <p:cNvPr id="61" name="Text Box 79">
                <a:extLst>
                  <a:ext uri="{FF2B5EF4-FFF2-40B4-BE49-F238E27FC236}">
                    <a16:creationId xmlns:a16="http://schemas.microsoft.com/office/drawing/2014/main" id="{6A698742-459E-7A09-72D1-636B505E1F77}"/>
                  </a:ext>
                </a:extLst>
              </p:cNvPr>
              <p:cNvSpPr txBox="1">
                <a:spLocks noChangeArrowheads="1"/>
              </p:cNvSpPr>
              <p:nvPr/>
            </p:nvSpPr>
            <p:spPr bwMode="auto">
              <a:xfrm>
                <a:off x="4919" y="3560"/>
                <a:ext cx="483"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700" b="0" dirty="0"/>
                  <a:t>Quality = 100%</a:t>
                </a:r>
              </a:p>
            </p:txBody>
          </p:sp>
          <p:sp>
            <p:nvSpPr>
              <p:cNvPr id="62" name="Rectangle 80">
                <a:extLst>
                  <a:ext uri="{FF2B5EF4-FFF2-40B4-BE49-F238E27FC236}">
                    <a16:creationId xmlns:a16="http://schemas.microsoft.com/office/drawing/2014/main" id="{5C176761-7445-1DFE-205E-AF1A54DEB17D}"/>
                  </a:ext>
                </a:extLst>
              </p:cNvPr>
              <p:cNvSpPr>
                <a:spLocks noChangeArrowheads="1"/>
              </p:cNvSpPr>
              <p:nvPr/>
            </p:nvSpPr>
            <p:spPr bwMode="auto">
              <a:xfrm>
                <a:off x="4910" y="3355"/>
                <a:ext cx="80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t>Processing Time = 15</a:t>
                </a:r>
                <a:r>
                  <a:rPr lang="ja-JP" altLang="en-US" sz="800" b="0"/>
                  <a:t>”</a:t>
                </a:r>
                <a:endParaRPr lang="en-US" altLang="en-US" sz="800" b="0" dirty="0"/>
              </a:p>
            </p:txBody>
          </p:sp>
          <p:sp>
            <p:nvSpPr>
              <p:cNvPr id="63" name="Rectangle 81">
                <a:extLst>
                  <a:ext uri="{FF2B5EF4-FFF2-40B4-BE49-F238E27FC236}">
                    <a16:creationId xmlns:a16="http://schemas.microsoft.com/office/drawing/2014/main" id="{D5F7350F-94EF-5A70-282B-107ED5F8D377}"/>
                  </a:ext>
                </a:extLst>
              </p:cNvPr>
              <p:cNvSpPr>
                <a:spLocks noChangeArrowheads="1"/>
              </p:cNvSpPr>
              <p:nvPr/>
            </p:nvSpPr>
            <p:spPr bwMode="auto">
              <a:xfrm>
                <a:off x="4913" y="3437"/>
                <a:ext cx="38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t>DOI = 8</a:t>
                </a:r>
                <a:r>
                  <a:rPr lang="ja-JP" altLang="en-US" sz="800" b="0"/>
                  <a:t>”</a:t>
                </a:r>
                <a:endParaRPr lang="en-US" altLang="en-US" sz="800" b="0" dirty="0"/>
              </a:p>
            </p:txBody>
          </p:sp>
        </p:grpSp>
      </p:grpSp>
      <p:grpSp>
        <p:nvGrpSpPr>
          <p:cNvPr id="64" name="Group 100">
            <a:extLst>
              <a:ext uri="{FF2B5EF4-FFF2-40B4-BE49-F238E27FC236}">
                <a16:creationId xmlns:a16="http://schemas.microsoft.com/office/drawing/2014/main" id="{75527FB9-27BB-BEDA-BCBF-2BE9C1DE4E0E}"/>
              </a:ext>
            </a:extLst>
          </p:cNvPr>
          <p:cNvGrpSpPr>
            <a:grpSpLocks/>
          </p:cNvGrpSpPr>
          <p:nvPr/>
        </p:nvGrpSpPr>
        <p:grpSpPr bwMode="auto">
          <a:xfrm>
            <a:off x="1204913" y="4951532"/>
            <a:ext cx="986048" cy="423863"/>
            <a:chOff x="4122" y="1171"/>
            <a:chExt cx="240" cy="212"/>
          </a:xfrm>
        </p:grpSpPr>
        <p:sp>
          <p:nvSpPr>
            <p:cNvPr id="65" name="Rectangle 101">
              <a:extLst>
                <a:ext uri="{FF2B5EF4-FFF2-40B4-BE49-F238E27FC236}">
                  <a16:creationId xmlns:a16="http://schemas.microsoft.com/office/drawing/2014/main" id="{D1CD2AA3-E552-19E6-78D5-165FBA612F92}"/>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6" name="Text Box 102">
              <a:extLst>
                <a:ext uri="{FF2B5EF4-FFF2-40B4-BE49-F238E27FC236}">
                  <a16:creationId xmlns:a16="http://schemas.microsoft.com/office/drawing/2014/main" id="{0AE0318D-D471-C124-46DB-E3FD3D8A4B2B}"/>
                </a:ext>
              </a:extLst>
            </p:cNvPr>
            <p:cNvSpPr txBox="1">
              <a:spLocks noChangeArrowheads="1"/>
            </p:cNvSpPr>
            <p:nvPr/>
          </p:nvSpPr>
          <p:spPr bwMode="auto">
            <a:xfrm>
              <a:off x="4184" y="1227"/>
              <a:ext cx="70" cy="10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800" b="0" dirty="0"/>
                <a:t>IN</a:t>
              </a:r>
            </a:p>
          </p:txBody>
        </p:sp>
        <p:sp>
          <p:nvSpPr>
            <p:cNvPr id="67" name="AutoShape 103">
              <a:extLst>
                <a:ext uri="{FF2B5EF4-FFF2-40B4-BE49-F238E27FC236}">
                  <a16:creationId xmlns:a16="http://schemas.microsoft.com/office/drawing/2014/main" id="{2C05D740-F032-4CB7-2B3A-FC2BA8148CCC}"/>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8" name="AutoShape 104">
              <a:extLst>
                <a:ext uri="{FF2B5EF4-FFF2-40B4-BE49-F238E27FC236}">
                  <a16:creationId xmlns:a16="http://schemas.microsoft.com/office/drawing/2014/main" id="{C222C2BD-5AAC-CDE3-FC73-34F50A8D03EB}"/>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69" name="AutoShape 105">
              <a:extLst>
                <a:ext uri="{FF2B5EF4-FFF2-40B4-BE49-F238E27FC236}">
                  <a16:creationId xmlns:a16="http://schemas.microsoft.com/office/drawing/2014/main" id="{C6F94373-24C5-9E7C-E847-14A49DDD835C}"/>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grpSp>
        <p:nvGrpSpPr>
          <p:cNvPr id="70" name="Group 125">
            <a:extLst>
              <a:ext uri="{FF2B5EF4-FFF2-40B4-BE49-F238E27FC236}">
                <a16:creationId xmlns:a16="http://schemas.microsoft.com/office/drawing/2014/main" id="{07E12E8E-1A2B-A720-BD3E-BDE7C8ABC30B}"/>
              </a:ext>
            </a:extLst>
          </p:cNvPr>
          <p:cNvGrpSpPr>
            <a:grpSpLocks/>
          </p:cNvGrpSpPr>
          <p:nvPr/>
        </p:nvGrpSpPr>
        <p:grpSpPr bwMode="auto">
          <a:xfrm>
            <a:off x="1263439" y="5521444"/>
            <a:ext cx="927522" cy="558800"/>
            <a:chOff x="525" y="3431"/>
            <a:chExt cx="313" cy="352"/>
          </a:xfrm>
        </p:grpSpPr>
        <p:grpSp>
          <p:nvGrpSpPr>
            <p:cNvPr id="71" name="Group 106">
              <a:extLst>
                <a:ext uri="{FF2B5EF4-FFF2-40B4-BE49-F238E27FC236}">
                  <a16:creationId xmlns:a16="http://schemas.microsoft.com/office/drawing/2014/main" id="{55DE3F00-A684-A44E-4F4E-A5F112E11F02}"/>
                </a:ext>
              </a:extLst>
            </p:cNvPr>
            <p:cNvGrpSpPr>
              <a:grpSpLocks/>
            </p:cNvGrpSpPr>
            <p:nvPr/>
          </p:nvGrpSpPr>
          <p:grpSpPr bwMode="auto">
            <a:xfrm>
              <a:off x="525" y="3443"/>
              <a:ext cx="313" cy="336"/>
              <a:chOff x="576" y="1200"/>
              <a:chExt cx="240" cy="336"/>
            </a:xfrm>
          </p:grpSpPr>
          <p:sp>
            <p:nvSpPr>
              <p:cNvPr id="75" name="Rectangle 107">
                <a:extLst>
                  <a:ext uri="{FF2B5EF4-FFF2-40B4-BE49-F238E27FC236}">
                    <a16:creationId xmlns:a16="http://schemas.microsoft.com/office/drawing/2014/main" id="{C470365F-283C-1314-A987-2205737A98E6}"/>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76" name="Line 108">
                <a:extLst>
                  <a:ext uri="{FF2B5EF4-FFF2-40B4-BE49-F238E27FC236}">
                    <a16:creationId xmlns:a16="http://schemas.microsoft.com/office/drawing/2014/main" id="{285C3703-B683-3469-7BD4-92274214FE64}"/>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7" name="Line 109">
                <a:extLst>
                  <a:ext uri="{FF2B5EF4-FFF2-40B4-BE49-F238E27FC236}">
                    <a16:creationId xmlns:a16="http://schemas.microsoft.com/office/drawing/2014/main" id="{48B4D7D6-8C18-EE75-9F42-3CE3424D128F}"/>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2" name="Text Box 122">
              <a:extLst>
                <a:ext uri="{FF2B5EF4-FFF2-40B4-BE49-F238E27FC236}">
                  <a16:creationId xmlns:a16="http://schemas.microsoft.com/office/drawing/2014/main" id="{F8400B7F-2BD7-8054-DF98-94D560576209}"/>
                </a:ext>
              </a:extLst>
            </p:cNvPr>
            <p:cNvSpPr txBox="1">
              <a:spLocks noChangeArrowheads="1"/>
            </p:cNvSpPr>
            <p:nvPr/>
          </p:nvSpPr>
          <p:spPr bwMode="auto">
            <a:xfrm>
              <a:off x="536" y="3431"/>
              <a:ext cx="192"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000" dirty="0"/>
                <a:t>In-box</a:t>
              </a:r>
            </a:p>
          </p:txBody>
        </p:sp>
        <p:sp>
          <p:nvSpPr>
            <p:cNvPr id="73" name="Text Box 123">
              <a:extLst>
                <a:ext uri="{FF2B5EF4-FFF2-40B4-BE49-F238E27FC236}">
                  <a16:creationId xmlns:a16="http://schemas.microsoft.com/office/drawing/2014/main" id="{5720CC1D-668E-636C-DCE1-5C573105DF8D}"/>
                </a:ext>
              </a:extLst>
            </p:cNvPr>
            <p:cNvSpPr txBox="1">
              <a:spLocks noChangeArrowheads="1"/>
            </p:cNvSpPr>
            <p:nvPr/>
          </p:nvSpPr>
          <p:spPr bwMode="auto">
            <a:xfrm>
              <a:off x="530" y="3527"/>
              <a:ext cx="151"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000" dirty="0"/>
                <a:t>FIF0</a:t>
              </a:r>
            </a:p>
          </p:txBody>
        </p:sp>
        <p:sp>
          <p:nvSpPr>
            <p:cNvPr id="74" name="Text Box 124">
              <a:extLst>
                <a:ext uri="{FF2B5EF4-FFF2-40B4-BE49-F238E27FC236}">
                  <a16:creationId xmlns:a16="http://schemas.microsoft.com/office/drawing/2014/main" id="{A0FFBB9A-B2EB-3772-BA7F-CD472D799BA4}"/>
                </a:ext>
              </a:extLst>
            </p:cNvPr>
            <p:cNvSpPr txBox="1">
              <a:spLocks noChangeArrowheads="1"/>
            </p:cNvSpPr>
            <p:nvPr/>
          </p:nvSpPr>
          <p:spPr bwMode="auto">
            <a:xfrm>
              <a:off x="531" y="3647"/>
              <a:ext cx="222"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000" dirty="0"/>
                <a:t>53 apps</a:t>
              </a:r>
            </a:p>
          </p:txBody>
        </p:sp>
      </p:grpSp>
      <p:sp>
        <p:nvSpPr>
          <p:cNvPr id="2" name="Slide Number Placeholder 2">
            <a:extLst>
              <a:ext uri="{FF2B5EF4-FFF2-40B4-BE49-F238E27FC236}">
                <a16:creationId xmlns:a16="http://schemas.microsoft.com/office/drawing/2014/main" id="{04BC74FA-B63A-6C7F-233C-6CC28227503D}"/>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144</a:t>
            </a:fld>
            <a:endParaRPr lang="en-US" dirty="0"/>
          </a:p>
        </p:txBody>
      </p:sp>
    </p:spTree>
    <p:extLst>
      <p:ext uri="{BB962C8B-B14F-4D97-AF65-F5344CB8AC3E}">
        <p14:creationId xmlns:p14="http://schemas.microsoft.com/office/powerpoint/2010/main" val="84599211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03A0777-C35C-C0E9-D6E4-E264AC77E30C}"/>
              </a:ext>
            </a:extLst>
          </p:cNvPr>
          <p:cNvSpPr>
            <a:spLocks noGrp="1"/>
          </p:cNvSpPr>
          <p:nvPr>
            <p:ph type="title"/>
          </p:nvPr>
        </p:nvSpPr>
        <p:spPr/>
        <p:txBody>
          <a:bodyPr/>
          <a:lstStyle/>
          <a:p>
            <a:r>
              <a:rPr lang="en-US" dirty="0"/>
              <a:t>VSM Icons</a:t>
            </a:r>
          </a:p>
        </p:txBody>
      </p:sp>
      <p:graphicFrame>
        <p:nvGraphicFramePr>
          <p:cNvPr id="2" name="Group 163">
            <a:extLst>
              <a:ext uri="{FF2B5EF4-FFF2-40B4-BE49-F238E27FC236}">
                <a16:creationId xmlns:a16="http://schemas.microsoft.com/office/drawing/2014/main" id="{7D124666-5311-4EA1-F240-D6A0EAE8A2BD}"/>
              </a:ext>
            </a:extLst>
          </p:cNvPr>
          <p:cNvGraphicFramePr>
            <a:graphicFrameLocks noGrp="1"/>
          </p:cNvGraphicFramePr>
          <p:nvPr>
            <p:extLst>
              <p:ext uri="{D42A27DB-BD31-4B8C-83A1-F6EECF244321}">
                <p14:modId xmlns:p14="http://schemas.microsoft.com/office/powerpoint/2010/main" val="177462084"/>
              </p:ext>
            </p:extLst>
          </p:nvPr>
        </p:nvGraphicFramePr>
        <p:xfrm>
          <a:off x="838200" y="1797170"/>
          <a:ext cx="9584889" cy="4467438"/>
        </p:xfrm>
        <a:graphic>
          <a:graphicData uri="http://schemas.openxmlformats.org/drawingml/2006/table">
            <a:tbl>
              <a:tblPr/>
              <a:tblGrid>
                <a:gridCol w="3121735">
                  <a:extLst>
                    <a:ext uri="{9D8B030D-6E8A-4147-A177-3AD203B41FA5}">
                      <a16:colId xmlns:a16="http://schemas.microsoft.com/office/drawing/2014/main" val="20000"/>
                    </a:ext>
                  </a:extLst>
                </a:gridCol>
                <a:gridCol w="2362993">
                  <a:extLst>
                    <a:ext uri="{9D8B030D-6E8A-4147-A177-3AD203B41FA5}">
                      <a16:colId xmlns:a16="http://schemas.microsoft.com/office/drawing/2014/main" val="20001"/>
                    </a:ext>
                  </a:extLst>
                </a:gridCol>
                <a:gridCol w="4100161">
                  <a:extLst>
                    <a:ext uri="{9D8B030D-6E8A-4147-A177-3AD203B41FA5}">
                      <a16:colId xmlns:a16="http://schemas.microsoft.com/office/drawing/2014/main" val="20002"/>
                    </a:ext>
                  </a:extLst>
                </a:gridCol>
              </a:tblGrid>
              <a:tr h="37517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VSM Icon</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Represents</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Notes</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extLst>
                  <a:ext uri="{0D108BD9-81ED-4DB2-BD59-A6C34878D82A}">
                    <a16:rowId xmlns:a16="http://schemas.microsoft.com/office/drawing/2014/main" val="10000"/>
                  </a:ext>
                </a:extLst>
              </a:tr>
              <a:tr h="94420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Movement of output to the Customer</a:t>
                      </a: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Usually connects the last process on the map to the customer</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Usually connects </a:t>
                      </a:r>
                      <a:r>
                        <a:rPr kumimoji="0" lang="ja-JP" altLang="en-US" sz="12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cs typeface="Roboto" panose="02000000000000000000" pitchFamily="2" charset="0"/>
                        </a:rPr>
                        <a:t>“</a:t>
                      </a:r>
                      <a:r>
                        <a:rPr kumimoji="0" lang="en-US" altLang="ja-JP"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inception point</a:t>
                      </a:r>
                      <a:r>
                        <a:rPr kumimoji="0" lang="ja-JP" altLang="en-US" sz="12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cs typeface="Roboto" panose="02000000000000000000" pitchFamily="2" charset="0"/>
                        </a:rPr>
                        <a:t>”</a:t>
                      </a:r>
                      <a:r>
                        <a:rPr kumimoji="0" lang="en-US" altLang="ja-JP"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to the first process on the map</a:t>
                      </a: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603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Movement of VALUE OBJECT by push</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VALUE OBJECT is produces and pushed forward before the next process step needs it – usually based on a schedule</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2008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Queue Visual Management</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 visual management system in place to control processing of VALUE OBJECTS in administrative processes</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0250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Physical Shipment or Mailing</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Note frequency of shipments</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87178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FIFO – First In First Out Sequence</a:t>
                      </a: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Indicates a device to limit quantity and ensure FIFO flow of VALUE OBJECT between processes. Maximum number should be noted</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 name="Line 96">
            <a:extLst>
              <a:ext uri="{FF2B5EF4-FFF2-40B4-BE49-F238E27FC236}">
                <a16:creationId xmlns:a16="http://schemas.microsoft.com/office/drawing/2014/main" id="{A843EA0B-3F60-D04F-7E92-B3FA8400C4BB}"/>
              </a:ext>
            </a:extLst>
          </p:cNvPr>
          <p:cNvSpPr>
            <a:spLocks noChangeShapeType="1"/>
          </p:cNvSpPr>
          <p:nvPr/>
        </p:nvSpPr>
        <p:spPr bwMode="auto">
          <a:xfrm>
            <a:off x="938213" y="3607072"/>
            <a:ext cx="1805795" cy="0"/>
          </a:xfrm>
          <a:prstGeom prst="line">
            <a:avLst/>
          </a:prstGeom>
          <a:noFill/>
          <a:ln w="7620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 name="Line 97">
            <a:extLst>
              <a:ext uri="{FF2B5EF4-FFF2-40B4-BE49-F238E27FC236}">
                <a16:creationId xmlns:a16="http://schemas.microsoft.com/office/drawing/2014/main" id="{B6DD3240-A210-E75F-C136-3C67FA80C94A}"/>
              </a:ext>
            </a:extLst>
          </p:cNvPr>
          <p:cNvSpPr>
            <a:spLocks noChangeShapeType="1"/>
          </p:cNvSpPr>
          <p:nvPr/>
        </p:nvSpPr>
        <p:spPr bwMode="auto">
          <a:xfrm>
            <a:off x="947738" y="2715718"/>
            <a:ext cx="1805795" cy="0"/>
          </a:xfrm>
          <a:prstGeom prst="line">
            <a:avLst/>
          </a:prstGeom>
          <a:noFill/>
          <a:ln w="762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 name="Line 115">
            <a:extLst>
              <a:ext uri="{FF2B5EF4-FFF2-40B4-BE49-F238E27FC236}">
                <a16:creationId xmlns:a16="http://schemas.microsoft.com/office/drawing/2014/main" id="{0F92DA43-65DC-0EE3-E003-40940304D37F}"/>
              </a:ext>
            </a:extLst>
          </p:cNvPr>
          <p:cNvSpPr>
            <a:spLocks noChangeShapeType="1"/>
          </p:cNvSpPr>
          <p:nvPr/>
        </p:nvSpPr>
        <p:spPr bwMode="auto">
          <a:xfrm>
            <a:off x="827088" y="5759772"/>
            <a:ext cx="289512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 name="Line 116">
            <a:extLst>
              <a:ext uri="{FF2B5EF4-FFF2-40B4-BE49-F238E27FC236}">
                <a16:creationId xmlns:a16="http://schemas.microsoft.com/office/drawing/2014/main" id="{3C47841F-D484-47CA-34D7-80D6B64737FC}"/>
              </a:ext>
            </a:extLst>
          </p:cNvPr>
          <p:cNvSpPr>
            <a:spLocks noChangeShapeType="1"/>
          </p:cNvSpPr>
          <p:nvPr/>
        </p:nvSpPr>
        <p:spPr bwMode="auto">
          <a:xfrm>
            <a:off x="827088" y="6120135"/>
            <a:ext cx="289512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 name="Line 117">
            <a:extLst>
              <a:ext uri="{FF2B5EF4-FFF2-40B4-BE49-F238E27FC236}">
                <a16:creationId xmlns:a16="http://schemas.microsoft.com/office/drawing/2014/main" id="{0EAF542A-571D-9EF3-ACF6-2364FBA674CF}"/>
              </a:ext>
            </a:extLst>
          </p:cNvPr>
          <p:cNvSpPr>
            <a:spLocks noChangeShapeType="1"/>
          </p:cNvSpPr>
          <p:nvPr/>
        </p:nvSpPr>
        <p:spPr bwMode="auto">
          <a:xfrm>
            <a:off x="1117600" y="5929635"/>
            <a:ext cx="43865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Line 118">
            <a:extLst>
              <a:ext uri="{FF2B5EF4-FFF2-40B4-BE49-F238E27FC236}">
                <a16:creationId xmlns:a16="http://schemas.microsoft.com/office/drawing/2014/main" id="{6EEB511C-EB8E-E65D-F496-064E7D195CDB}"/>
              </a:ext>
            </a:extLst>
          </p:cNvPr>
          <p:cNvSpPr>
            <a:spLocks noChangeShapeType="1"/>
          </p:cNvSpPr>
          <p:nvPr/>
        </p:nvSpPr>
        <p:spPr bwMode="auto">
          <a:xfrm>
            <a:off x="2198689" y="5931222"/>
            <a:ext cx="526386"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 name="Text Box 119">
            <a:extLst>
              <a:ext uri="{FF2B5EF4-FFF2-40B4-BE49-F238E27FC236}">
                <a16:creationId xmlns:a16="http://schemas.microsoft.com/office/drawing/2014/main" id="{91104A66-0F5B-95E9-0C1A-A6B9753AC4A9}"/>
              </a:ext>
            </a:extLst>
          </p:cNvPr>
          <p:cNvSpPr txBox="1">
            <a:spLocks noChangeArrowheads="1"/>
          </p:cNvSpPr>
          <p:nvPr/>
        </p:nvSpPr>
        <p:spPr bwMode="auto">
          <a:xfrm>
            <a:off x="1497013" y="5731197"/>
            <a:ext cx="877309"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2000" b="0"/>
              <a:t>FIFO</a:t>
            </a:r>
          </a:p>
        </p:txBody>
      </p:sp>
      <p:sp>
        <p:nvSpPr>
          <p:cNvPr id="12" name="Text Box 120">
            <a:extLst>
              <a:ext uri="{FF2B5EF4-FFF2-40B4-BE49-F238E27FC236}">
                <a16:creationId xmlns:a16="http://schemas.microsoft.com/office/drawing/2014/main" id="{B3DC350B-E648-00FF-573C-DC63B9BDC447}"/>
              </a:ext>
            </a:extLst>
          </p:cNvPr>
          <p:cNvSpPr txBox="1">
            <a:spLocks noChangeArrowheads="1"/>
          </p:cNvSpPr>
          <p:nvPr/>
        </p:nvSpPr>
        <p:spPr bwMode="auto">
          <a:xfrm>
            <a:off x="1171576" y="5527997"/>
            <a:ext cx="172354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000" b="0" dirty="0"/>
              <a:t>Max frequency/quantity</a:t>
            </a:r>
          </a:p>
        </p:txBody>
      </p:sp>
      <p:grpSp>
        <p:nvGrpSpPr>
          <p:cNvPr id="13" name="Group 133">
            <a:extLst>
              <a:ext uri="{FF2B5EF4-FFF2-40B4-BE49-F238E27FC236}">
                <a16:creationId xmlns:a16="http://schemas.microsoft.com/office/drawing/2014/main" id="{15E693C7-24C6-7E43-F850-36D1EF987248}"/>
              </a:ext>
            </a:extLst>
          </p:cNvPr>
          <p:cNvGrpSpPr>
            <a:grpSpLocks/>
          </p:cNvGrpSpPr>
          <p:nvPr/>
        </p:nvGrpSpPr>
        <p:grpSpPr bwMode="auto">
          <a:xfrm>
            <a:off x="1250951" y="4902165"/>
            <a:ext cx="656155" cy="354012"/>
            <a:chOff x="513" y="2099"/>
            <a:chExt cx="374" cy="258"/>
          </a:xfrm>
        </p:grpSpPr>
        <p:grpSp>
          <p:nvGrpSpPr>
            <p:cNvPr id="14" name="Group 134">
              <a:extLst>
                <a:ext uri="{FF2B5EF4-FFF2-40B4-BE49-F238E27FC236}">
                  <a16:creationId xmlns:a16="http://schemas.microsoft.com/office/drawing/2014/main" id="{FB639C9E-663B-A8C0-0EAE-AC9D0C5C650B}"/>
                </a:ext>
              </a:extLst>
            </p:cNvPr>
            <p:cNvGrpSpPr>
              <a:grpSpLocks/>
            </p:cNvGrpSpPr>
            <p:nvPr/>
          </p:nvGrpSpPr>
          <p:grpSpPr bwMode="auto">
            <a:xfrm>
              <a:off x="550" y="2121"/>
              <a:ext cx="337" cy="236"/>
              <a:chOff x="536" y="3744"/>
              <a:chExt cx="415" cy="261"/>
            </a:xfrm>
          </p:grpSpPr>
          <p:sp>
            <p:nvSpPr>
              <p:cNvPr id="16" name="Rectangle 135">
                <a:extLst>
                  <a:ext uri="{FF2B5EF4-FFF2-40B4-BE49-F238E27FC236}">
                    <a16:creationId xmlns:a16="http://schemas.microsoft.com/office/drawing/2014/main" id="{549C52CC-95D7-544C-8670-D020EB2B7BD2}"/>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7" name="Rectangle 136">
                <a:extLst>
                  <a:ext uri="{FF2B5EF4-FFF2-40B4-BE49-F238E27FC236}">
                    <a16:creationId xmlns:a16="http://schemas.microsoft.com/office/drawing/2014/main" id="{84C3162B-8EDF-514D-E64D-63DC2157F587}"/>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8" name="Oval 137">
                <a:extLst>
                  <a:ext uri="{FF2B5EF4-FFF2-40B4-BE49-F238E27FC236}">
                    <a16:creationId xmlns:a16="http://schemas.microsoft.com/office/drawing/2014/main" id="{F19B7B00-ACD0-8C8F-FB7B-67763B26BE8F}"/>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19" name="Oval 138">
                <a:extLst>
                  <a:ext uri="{FF2B5EF4-FFF2-40B4-BE49-F238E27FC236}">
                    <a16:creationId xmlns:a16="http://schemas.microsoft.com/office/drawing/2014/main" id="{8C20E080-5FCA-40F4-8645-B41B7E410BBD}"/>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sp>
          <p:nvSpPr>
            <p:cNvPr id="15" name="Text Box 139">
              <a:extLst>
                <a:ext uri="{FF2B5EF4-FFF2-40B4-BE49-F238E27FC236}">
                  <a16:creationId xmlns:a16="http://schemas.microsoft.com/office/drawing/2014/main" id="{072CCAC1-DA71-1CD6-6871-246E188F5352}"/>
                </a:ext>
              </a:extLst>
            </p:cNvPr>
            <p:cNvSpPr txBox="1">
              <a:spLocks noChangeArrowheads="1"/>
            </p:cNvSpPr>
            <p:nvPr/>
          </p:nvSpPr>
          <p:spPr bwMode="auto">
            <a:xfrm>
              <a:off x="513" y="2099"/>
              <a:ext cx="30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t>USPS Daily</a:t>
              </a:r>
            </a:p>
          </p:txBody>
        </p:sp>
      </p:grpSp>
      <p:grpSp>
        <p:nvGrpSpPr>
          <p:cNvPr id="20" name="Group 157">
            <a:extLst>
              <a:ext uri="{FF2B5EF4-FFF2-40B4-BE49-F238E27FC236}">
                <a16:creationId xmlns:a16="http://schemas.microsoft.com/office/drawing/2014/main" id="{EBBC6734-8367-A8AE-A8A2-B3F6057D4357}"/>
              </a:ext>
            </a:extLst>
          </p:cNvPr>
          <p:cNvGrpSpPr>
            <a:grpSpLocks/>
          </p:cNvGrpSpPr>
          <p:nvPr/>
        </p:nvGrpSpPr>
        <p:grpSpPr bwMode="auto">
          <a:xfrm>
            <a:off x="1206500" y="4131613"/>
            <a:ext cx="827961" cy="560388"/>
            <a:chOff x="598" y="2506"/>
            <a:chExt cx="216" cy="188"/>
          </a:xfrm>
        </p:grpSpPr>
        <p:sp>
          <p:nvSpPr>
            <p:cNvPr id="21" name="AutoShape 145">
              <a:extLst>
                <a:ext uri="{FF2B5EF4-FFF2-40B4-BE49-F238E27FC236}">
                  <a16:creationId xmlns:a16="http://schemas.microsoft.com/office/drawing/2014/main" id="{9BA27BD8-1DBA-CA7A-9FD8-B96031CDC4BE}"/>
                </a:ext>
              </a:extLst>
            </p:cNvPr>
            <p:cNvSpPr>
              <a:spLocks/>
            </p:cNvSpPr>
            <p:nvPr/>
          </p:nvSpPr>
          <p:spPr bwMode="auto">
            <a:xfrm rot="-5400000">
              <a:off x="698" y="2406"/>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2" name="AutoShape 146">
              <a:extLst>
                <a:ext uri="{FF2B5EF4-FFF2-40B4-BE49-F238E27FC236}">
                  <a16:creationId xmlns:a16="http://schemas.microsoft.com/office/drawing/2014/main" id="{DF802A87-7ADC-1DC4-70F9-2299B1571ADE}"/>
                </a:ext>
              </a:extLst>
            </p:cNvPr>
            <p:cNvSpPr>
              <a:spLocks/>
            </p:cNvSpPr>
            <p:nvPr/>
          </p:nvSpPr>
          <p:spPr bwMode="auto">
            <a:xfrm rot="-5400000">
              <a:off x="698" y="2414"/>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3" name="AutoShape 147">
              <a:extLst>
                <a:ext uri="{FF2B5EF4-FFF2-40B4-BE49-F238E27FC236}">
                  <a16:creationId xmlns:a16="http://schemas.microsoft.com/office/drawing/2014/main" id="{ECFC7E23-4CF1-ACFE-3010-EC4026298884}"/>
                </a:ext>
              </a:extLst>
            </p:cNvPr>
            <p:cNvSpPr>
              <a:spLocks/>
            </p:cNvSpPr>
            <p:nvPr/>
          </p:nvSpPr>
          <p:spPr bwMode="auto">
            <a:xfrm rot="-5400000">
              <a:off x="698" y="242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sp>
          <p:nvSpPr>
            <p:cNvPr id="24" name="AutoShape 152">
              <a:extLst>
                <a:ext uri="{FF2B5EF4-FFF2-40B4-BE49-F238E27FC236}">
                  <a16:creationId xmlns:a16="http://schemas.microsoft.com/office/drawing/2014/main" id="{1A7CD964-BCC4-7800-ABD0-8A5E03C4754C}"/>
                </a:ext>
              </a:extLst>
            </p:cNvPr>
            <p:cNvSpPr>
              <a:spLocks noChangeArrowheads="1"/>
            </p:cNvSpPr>
            <p:nvPr/>
          </p:nvSpPr>
          <p:spPr bwMode="auto">
            <a:xfrm>
              <a:off x="598" y="2548"/>
              <a:ext cx="216" cy="146"/>
            </a:xfrm>
            <a:prstGeom prst="flowChartMerge">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endParaRPr>
            </a:p>
          </p:txBody>
        </p:sp>
        <p:grpSp>
          <p:nvGrpSpPr>
            <p:cNvPr id="25" name="Group 153">
              <a:extLst>
                <a:ext uri="{FF2B5EF4-FFF2-40B4-BE49-F238E27FC236}">
                  <a16:creationId xmlns:a16="http://schemas.microsoft.com/office/drawing/2014/main" id="{A6CB9016-5BAC-1568-CFCE-9EBC2F9DEF5F}"/>
                </a:ext>
              </a:extLst>
            </p:cNvPr>
            <p:cNvGrpSpPr>
              <a:grpSpLocks/>
            </p:cNvGrpSpPr>
            <p:nvPr/>
          </p:nvGrpSpPr>
          <p:grpSpPr bwMode="auto">
            <a:xfrm>
              <a:off x="654" y="2556"/>
              <a:ext cx="140" cy="57"/>
              <a:chOff x="1440" y="1520"/>
              <a:chExt cx="156" cy="64"/>
            </a:xfrm>
          </p:grpSpPr>
          <p:sp>
            <p:nvSpPr>
              <p:cNvPr id="26" name="Line 154">
                <a:extLst>
                  <a:ext uri="{FF2B5EF4-FFF2-40B4-BE49-F238E27FC236}">
                    <a16:creationId xmlns:a16="http://schemas.microsoft.com/office/drawing/2014/main" id="{DBF1EA8D-C8F7-F8D0-6082-AAE7F39C206B}"/>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155">
                <a:extLst>
                  <a:ext uri="{FF2B5EF4-FFF2-40B4-BE49-F238E27FC236}">
                    <a16:creationId xmlns:a16="http://schemas.microsoft.com/office/drawing/2014/main" id="{21483EAD-0F65-8F95-317D-C64CA8EBCF6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8" name="AutoShape 156">
                <a:extLst>
                  <a:ext uri="{FF2B5EF4-FFF2-40B4-BE49-F238E27FC236}">
                    <a16:creationId xmlns:a16="http://schemas.microsoft.com/office/drawing/2014/main" id="{A9356448-A068-1563-6606-5F1DD391EB03}"/>
                  </a:ext>
                </a:extLst>
              </p:cNvPr>
              <p:cNvCxnSpPr>
                <a:cxnSpLocks noChangeShapeType="1"/>
                <a:stCxn id="26" idx="1"/>
                <a:endCxn id="2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9" name="Slide Number Placeholder 2">
            <a:extLst>
              <a:ext uri="{FF2B5EF4-FFF2-40B4-BE49-F238E27FC236}">
                <a16:creationId xmlns:a16="http://schemas.microsoft.com/office/drawing/2014/main" id="{4CFE89F7-3EDA-FD21-27D1-6EDFFE524D40}"/>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145</a:t>
            </a:fld>
            <a:endParaRPr lang="en-US" dirty="0"/>
          </a:p>
        </p:txBody>
      </p:sp>
    </p:spTree>
    <p:extLst>
      <p:ext uri="{BB962C8B-B14F-4D97-AF65-F5344CB8AC3E}">
        <p14:creationId xmlns:p14="http://schemas.microsoft.com/office/powerpoint/2010/main" val="8312938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03A0777-C35C-C0E9-D6E4-E264AC77E30C}"/>
              </a:ext>
            </a:extLst>
          </p:cNvPr>
          <p:cNvSpPr>
            <a:spLocks noGrp="1"/>
          </p:cNvSpPr>
          <p:nvPr>
            <p:ph type="title"/>
          </p:nvPr>
        </p:nvSpPr>
        <p:spPr/>
        <p:txBody>
          <a:bodyPr/>
          <a:lstStyle/>
          <a:p>
            <a:r>
              <a:rPr lang="en-US" dirty="0"/>
              <a:t>VSM Icons</a:t>
            </a:r>
          </a:p>
        </p:txBody>
      </p:sp>
      <p:graphicFrame>
        <p:nvGraphicFramePr>
          <p:cNvPr id="30" name="Group 129">
            <a:extLst>
              <a:ext uri="{FF2B5EF4-FFF2-40B4-BE49-F238E27FC236}">
                <a16:creationId xmlns:a16="http://schemas.microsoft.com/office/drawing/2014/main" id="{C65BB7DC-4FF1-E4D1-6FC2-E8AA09D28C19}"/>
              </a:ext>
            </a:extLst>
          </p:cNvPr>
          <p:cNvGraphicFramePr>
            <a:graphicFrameLocks noGrp="1"/>
          </p:cNvGraphicFramePr>
          <p:nvPr>
            <p:extLst>
              <p:ext uri="{D42A27DB-BD31-4B8C-83A1-F6EECF244321}">
                <p14:modId xmlns:p14="http://schemas.microsoft.com/office/powerpoint/2010/main" val="2991616295"/>
              </p:ext>
            </p:extLst>
          </p:nvPr>
        </p:nvGraphicFramePr>
        <p:xfrm>
          <a:off x="838200" y="2034355"/>
          <a:ext cx="8242300" cy="3525608"/>
        </p:xfrm>
        <a:graphic>
          <a:graphicData uri="http://schemas.openxmlformats.org/drawingml/2006/table">
            <a:tbl>
              <a:tblPr/>
              <a:tblGrid>
                <a:gridCol w="2684463">
                  <a:extLst>
                    <a:ext uri="{9D8B030D-6E8A-4147-A177-3AD203B41FA5}">
                      <a16:colId xmlns:a16="http://schemas.microsoft.com/office/drawing/2014/main" val="20000"/>
                    </a:ext>
                  </a:extLst>
                </a:gridCol>
                <a:gridCol w="2032000">
                  <a:extLst>
                    <a:ext uri="{9D8B030D-6E8A-4147-A177-3AD203B41FA5}">
                      <a16:colId xmlns:a16="http://schemas.microsoft.com/office/drawing/2014/main" val="20001"/>
                    </a:ext>
                  </a:extLst>
                </a:gridCol>
                <a:gridCol w="3525837">
                  <a:extLst>
                    <a:ext uri="{9D8B030D-6E8A-4147-A177-3AD203B41FA5}">
                      <a16:colId xmlns:a16="http://schemas.microsoft.com/office/drawing/2014/main" val="20002"/>
                    </a:ext>
                  </a:extLst>
                </a:gridCol>
              </a:tblGrid>
              <a:tr h="39372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VSM Icon</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Represents</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rgbClr val="EE3228"/>
                    </a:solidFill>
                  </a:tcPr>
                </a:tc>
                <a:extLst>
                  <a:ext uri="{0D108BD9-81ED-4DB2-BD59-A6C34878D82A}">
                    <a16:rowId xmlns:a16="http://schemas.microsoft.com/office/drawing/2014/main" val="10000"/>
                  </a:ext>
                </a:extLst>
              </a:tr>
              <a:tr h="62844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Manual information flow</a:t>
                      </a: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Pull of materials – usually from a supermarket</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8749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Electronic information flow</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 Indicates a device to limit quantity and ensure FIFO flow of VALUE OBJECT between processes. Maximum number should be noted</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Kaizen Lightning Burst</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Highlights improvement needs at specific processes that are critical to achieving the value stream vision</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Operator/ Associate</a:t>
                      </a: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16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Represents a person viewed from above</a:t>
                      </a: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31" name="Line 90">
            <a:extLst>
              <a:ext uri="{FF2B5EF4-FFF2-40B4-BE49-F238E27FC236}">
                <a16:creationId xmlns:a16="http://schemas.microsoft.com/office/drawing/2014/main" id="{958C0749-EB4B-B3B7-FA2D-BFAE6818938A}"/>
              </a:ext>
            </a:extLst>
          </p:cNvPr>
          <p:cNvSpPr>
            <a:spLocks noChangeShapeType="1"/>
          </p:cNvSpPr>
          <p:nvPr/>
        </p:nvSpPr>
        <p:spPr bwMode="auto">
          <a:xfrm>
            <a:off x="1157288" y="2755080"/>
            <a:ext cx="1727200"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nvGrpSpPr>
          <p:cNvPr id="32" name="Group 95">
            <a:extLst>
              <a:ext uri="{FF2B5EF4-FFF2-40B4-BE49-F238E27FC236}">
                <a16:creationId xmlns:a16="http://schemas.microsoft.com/office/drawing/2014/main" id="{75BE60A1-C452-33AE-0C8E-5346993F6B39}"/>
              </a:ext>
            </a:extLst>
          </p:cNvPr>
          <p:cNvGrpSpPr>
            <a:grpSpLocks/>
          </p:cNvGrpSpPr>
          <p:nvPr/>
        </p:nvGrpSpPr>
        <p:grpSpPr bwMode="auto">
          <a:xfrm>
            <a:off x="1127125" y="3278955"/>
            <a:ext cx="1698625" cy="376238"/>
            <a:chOff x="466" y="3301"/>
            <a:chExt cx="1216" cy="246"/>
          </a:xfrm>
        </p:grpSpPr>
        <p:sp>
          <p:nvSpPr>
            <p:cNvPr id="33" name="Line 91">
              <a:extLst>
                <a:ext uri="{FF2B5EF4-FFF2-40B4-BE49-F238E27FC236}">
                  <a16:creationId xmlns:a16="http://schemas.microsoft.com/office/drawing/2014/main" id="{66398DD2-DC18-B2C2-3D3D-BED9CB870BC0}"/>
                </a:ext>
              </a:extLst>
            </p:cNvPr>
            <p:cNvSpPr>
              <a:spLocks noChangeShapeType="1"/>
            </p:cNvSpPr>
            <p:nvPr/>
          </p:nvSpPr>
          <p:spPr bwMode="auto">
            <a:xfrm>
              <a:off x="466" y="3301"/>
              <a:ext cx="585" cy="0"/>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4" name="Line 93">
              <a:extLst>
                <a:ext uri="{FF2B5EF4-FFF2-40B4-BE49-F238E27FC236}">
                  <a16:creationId xmlns:a16="http://schemas.microsoft.com/office/drawing/2014/main" id="{32FE07EE-D45F-7164-2519-D40C0443D518}"/>
                </a:ext>
              </a:extLst>
            </p:cNvPr>
            <p:cNvSpPr>
              <a:spLocks noChangeShapeType="1"/>
            </p:cNvSpPr>
            <p:nvPr/>
          </p:nvSpPr>
          <p:spPr bwMode="auto">
            <a:xfrm>
              <a:off x="942" y="3547"/>
              <a:ext cx="740"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sp>
          <p:nvSpPr>
            <p:cNvPr id="35" name="Line 94">
              <a:extLst>
                <a:ext uri="{FF2B5EF4-FFF2-40B4-BE49-F238E27FC236}">
                  <a16:creationId xmlns:a16="http://schemas.microsoft.com/office/drawing/2014/main" id="{682462BB-DCFC-452F-7895-1F7E12D7B4CD}"/>
                </a:ext>
              </a:extLst>
            </p:cNvPr>
            <p:cNvSpPr>
              <a:spLocks noChangeShapeType="1"/>
            </p:cNvSpPr>
            <p:nvPr/>
          </p:nvSpPr>
          <p:spPr bwMode="auto">
            <a:xfrm flipH="1">
              <a:off x="942" y="3301"/>
              <a:ext cx="100" cy="237"/>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36" name="AutoShape 130">
            <a:extLst>
              <a:ext uri="{FF2B5EF4-FFF2-40B4-BE49-F238E27FC236}">
                <a16:creationId xmlns:a16="http://schemas.microsoft.com/office/drawing/2014/main" id="{96711A34-1293-0521-2AAD-50779BFAA414}"/>
              </a:ext>
            </a:extLst>
          </p:cNvPr>
          <p:cNvSpPr>
            <a:spLocks noChangeArrowheads="1"/>
          </p:cNvSpPr>
          <p:nvPr/>
        </p:nvSpPr>
        <p:spPr bwMode="auto">
          <a:xfrm>
            <a:off x="1055688" y="4160018"/>
            <a:ext cx="1133475" cy="674687"/>
          </a:xfrm>
          <a:prstGeom prst="irregularSeal1">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37" name="Group 131">
            <a:extLst>
              <a:ext uri="{FF2B5EF4-FFF2-40B4-BE49-F238E27FC236}">
                <a16:creationId xmlns:a16="http://schemas.microsoft.com/office/drawing/2014/main" id="{B6248347-0EA7-DBB1-6B86-BA8A40BF166B}"/>
              </a:ext>
            </a:extLst>
          </p:cNvPr>
          <p:cNvGrpSpPr>
            <a:grpSpLocks/>
          </p:cNvGrpSpPr>
          <p:nvPr/>
        </p:nvGrpSpPr>
        <p:grpSpPr bwMode="auto">
          <a:xfrm>
            <a:off x="1168400" y="5028380"/>
            <a:ext cx="942975" cy="387350"/>
            <a:chOff x="720" y="2919"/>
            <a:chExt cx="594" cy="244"/>
          </a:xfrm>
        </p:grpSpPr>
        <p:grpSp>
          <p:nvGrpSpPr>
            <p:cNvPr id="38" name="Group 132">
              <a:extLst>
                <a:ext uri="{FF2B5EF4-FFF2-40B4-BE49-F238E27FC236}">
                  <a16:creationId xmlns:a16="http://schemas.microsoft.com/office/drawing/2014/main" id="{D5407416-94C1-8307-E026-721B666F0D81}"/>
                </a:ext>
              </a:extLst>
            </p:cNvPr>
            <p:cNvGrpSpPr>
              <a:grpSpLocks/>
            </p:cNvGrpSpPr>
            <p:nvPr/>
          </p:nvGrpSpPr>
          <p:grpSpPr bwMode="auto">
            <a:xfrm flipV="1">
              <a:off x="720" y="2919"/>
              <a:ext cx="298" cy="244"/>
              <a:chOff x="720" y="3354"/>
              <a:chExt cx="192" cy="198"/>
            </a:xfrm>
          </p:grpSpPr>
          <p:sp>
            <p:nvSpPr>
              <p:cNvPr id="40" name="Oval 133">
                <a:extLst>
                  <a:ext uri="{FF2B5EF4-FFF2-40B4-BE49-F238E27FC236}">
                    <a16:creationId xmlns:a16="http://schemas.microsoft.com/office/drawing/2014/main" id="{D21BFA6C-AA97-10BD-0EE0-84DCC8F7F734}"/>
                  </a:ext>
                </a:extLst>
              </p:cNvPr>
              <p:cNvSpPr>
                <a:spLocks noChangeArrowheads="1"/>
              </p:cNvSpPr>
              <p:nvPr/>
            </p:nvSpPr>
            <p:spPr bwMode="auto">
              <a:xfrm>
                <a:off x="768" y="3408"/>
                <a:ext cx="96" cy="9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41" name="AutoShape 134">
                <a:extLst>
                  <a:ext uri="{FF2B5EF4-FFF2-40B4-BE49-F238E27FC236}">
                    <a16:creationId xmlns:a16="http://schemas.microsoft.com/office/drawing/2014/main" id="{3D44F962-585C-6DD1-05C6-AFDFBF54B443}"/>
                  </a:ext>
                </a:extLst>
              </p:cNvPr>
              <p:cNvSpPr>
                <a:spLocks noChangeArrowheads="1"/>
              </p:cNvSpPr>
              <p:nvPr/>
            </p:nvSpPr>
            <p:spPr bwMode="auto">
              <a:xfrm>
                <a:off x="720" y="3354"/>
                <a:ext cx="192" cy="1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7745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lnTo>
                      <a:pt x="5400" y="10800"/>
                    </a:lnTo>
                    <a:close/>
                  </a:path>
                </a:pathLst>
              </a:cu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latin typeface="Roboto" panose="02000000000000000000" pitchFamily="2" charset="0"/>
                  <a:ea typeface="Roboto" panose="02000000000000000000" pitchFamily="2" charset="0"/>
                  <a:cs typeface="Roboto" panose="02000000000000000000" pitchFamily="2" charset="0"/>
                </a:endParaRPr>
              </a:p>
            </p:txBody>
          </p:sp>
        </p:grpSp>
        <p:sp>
          <p:nvSpPr>
            <p:cNvPr id="39" name="Text Box 135">
              <a:extLst>
                <a:ext uri="{FF2B5EF4-FFF2-40B4-BE49-F238E27FC236}">
                  <a16:creationId xmlns:a16="http://schemas.microsoft.com/office/drawing/2014/main" id="{8EBA033E-4F54-006D-C25A-C48595600C73}"/>
                </a:ext>
              </a:extLst>
            </p:cNvPr>
            <p:cNvSpPr txBox="1">
              <a:spLocks noChangeArrowheads="1"/>
            </p:cNvSpPr>
            <p:nvPr/>
          </p:nvSpPr>
          <p:spPr bwMode="auto">
            <a:xfrm>
              <a:off x="1039" y="2961"/>
              <a:ext cx="27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cs typeface="Roboto" panose="02000000000000000000" pitchFamily="2" charset="0"/>
                </a:rPr>
                <a:t>= 2</a:t>
              </a:r>
            </a:p>
          </p:txBody>
        </p:sp>
      </p:grpSp>
      <p:sp>
        <p:nvSpPr>
          <p:cNvPr id="2" name="Slide Number Placeholder 2">
            <a:extLst>
              <a:ext uri="{FF2B5EF4-FFF2-40B4-BE49-F238E27FC236}">
                <a16:creationId xmlns:a16="http://schemas.microsoft.com/office/drawing/2014/main" id="{1FE9C702-AE23-E7A0-07F7-4104A684C1FE}"/>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146</a:t>
            </a:fld>
            <a:endParaRPr lang="en-US" dirty="0"/>
          </a:p>
        </p:txBody>
      </p:sp>
    </p:spTree>
    <p:extLst>
      <p:ext uri="{BB962C8B-B14F-4D97-AF65-F5344CB8AC3E}">
        <p14:creationId xmlns:p14="http://schemas.microsoft.com/office/powerpoint/2010/main" val="206517993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705" y="793843"/>
            <a:ext cx="10515600" cy="1022351"/>
          </a:xfrm>
          <a:prstGeom prst="rect">
            <a:avLst/>
          </a:prstGeom>
        </p:spPr>
        <p:txBody>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dirty="0">
                <a:solidFill>
                  <a:srgbClr val="222222"/>
                </a:solidFill>
                <a:latin typeface="Roboto Medium" panose="02000000000000000000" pitchFamily="2" charset="0"/>
                <a:ea typeface="Roboto Medium" panose="02000000000000000000" pitchFamily="2" charset="0"/>
                <a:cs typeface="Roboto Medium" panose="02000000000000000000" pitchFamily="2" charset="0"/>
              </a:rPr>
              <a:t>Other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3"/>
          <a:stretch>
            <a:fillRect/>
          </a:stretch>
        </p:blipFill>
        <p:spPr>
          <a:xfrm>
            <a:off x="605117" y="1638489"/>
            <a:ext cx="3939240" cy="45719"/>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1069695" y="4201690"/>
            <a:ext cx="3475310" cy="19902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375" y="4590893"/>
            <a:ext cx="2879948" cy="838178"/>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rgbClr val="222222"/>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solidFill>
                  <a:srgbClr val="222222"/>
                </a:solidFill>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solidFill>
                <a:srgbClr val="222222"/>
              </a:solidFill>
              <a:latin typeface="Roboto" panose="02000000000000000000" pitchFamily="2" charset="0"/>
              <a:ea typeface="Roboto" panose="02000000000000000000" pitchFamily="2" charset="0"/>
              <a:cs typeface="Roboto" panose="02000000000000000000" pitchFamily="2" charset="0"/>
            </a:endParaRPr>
          </a:p>
        </p:txBody>
      </p:sp>
      <p:sp>
        <p:nvSpPr>
          <p:cNvPr id="5" name="Content Placeholder 3">
            <a:extLst>
              <a:ext uri="{FF2B5EF4-FFF2-40B4-BE49-F238E27FC236}">
                <a16:creationId xmlns:a16="http://schemas.microsoft.com/office/drawing/2014/main" id="{6D5862E1-6CCB-F525-B192-15CBF9758DFB}"/>
              </a:ext>
            </a:extLst>
          </p:cNvPr>
          <p:cNvSpPr txBox="1">
            <a:spLocks/>
          </p:cNvSpPr>
          <p:nvPr/>
        </p:nvSpPr>
        <p:spPr>
          <a:xfrm>
            <a:off x="5964518" y="1166647"/>
            <a:ext cx="5157787" cy="502128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rgbClr val="222222"/>
                </a:solidFill>
              </a:rPr>
              <a:t>5S</a:t>
            </a:r>
          </a:p>
          <a:p>
            <a:pPr marL="0" indent="0" algn="r">
              <a:buNone/>
            </a:pPr>
            <a:r>
              <a:rPr lang="en-US" sz="1400" dirty="0">
                <a:solidFill>
                  <a:srgbClr val="222222"/>
                </a:solidFill>
              </a:rPr>
              <a:t>Standard Work</a:t>
            </a:r>
          </a:p>
          <a:p>
            <a:pPr marL="0" indent="0" algn="r">
              <a:buNone/>
            </a:pPr>
            <a:r>
              <a:rPr lang="en-US" sz="1400" dirty="0">
                <a:solidFill>
                  <a:srgbClr val="222222"/>
                </a:solidFill>
              </a:rPr>
              <a:t>Total Productive Maintenance (TPM)</a:t>
            </a:r>
          </a:p>
          <a:p>
            <a:pPr marL="0" indent="0" algn="r">
              <a:buNone/>
            </a:pPr>
            <a:r>
              <a:rPr lang="en-US" sz="1400" dirty="0">
                <a:solidFill>
                  <a:srgbClr val="222222"/>
                </a:solidFill>
              </a:rPr>
              <a:t>Cell Design/ Production Preparation Process (3P)</a:t>
            </a:r>
          </a:p>
          <a:p>
            <a:pPr marL="0" indent="0" algn="r">
              <a:buNone/>
            </a:pPr>
            <a:r>
              <a:rPr lang="en-US" sz="1400" dirty="0">
                <a:solidFill>
                  <a:srgbClr val="222222"/>
                </a:solidFill>
              </a:rPr>
              <a:t>Intro to Lean</a:t>
            </a:r>
          </a:p>
          <a:p>
            <a:pPr marL="0" indent="0" algn="r">
              <a:buNone/>
            </a:pPr>
            <a:r>
              <a:rPr lang="en-US" sz="1400" dirty="0">
                <a:solidFill>
                  <a:srgbClr val="222222"/>
                </a:solidFill>
              </a:rPr>
              <a:t>Kaizen</a:t>
            </a:r>
          </a:p>
          <a:p>
            <a:pPr marL="0" indent="0" algn="r">
              <a:buNone/>
            </a:pPr>
            <a:r>
              <a:rPr lang="en-US" sz="1400" dirty="0">
                <a:solidFill>
                  <a:srgbClr val="222222"/>
                </a:solidFill>
              </a:rPr>
              <a:t>Kanban</a:t>
            </a:r>
          </a:p>
          <a:p>
            <a:pPr marL="0" indent="0" algn="r">
              <a:buNone/>
            </a:pPr>
            <a:r>
              <a:rPr lang="en-US" sz="1400" dirty="0">
                <a:solidFill>
                  <a:srgbClr val="222222"/>
                </a:solidFill>
              </a:rPr>
              <a:t>Problem Solving</a:t>
            </a:r>
          </a:p>
          <a:p>
            <a:pPr marL="0" indent="0" algn="r">
              <a:buNone/>
            </a:pPr>
            <a:r>
              <a:rPr lang="en-US" sz="1400" dirty="0" err="1">
                <a:solidFill>
                  <a:srgbClr val="222222"/>
                </a:solidFill>
              </a:rPr>
              <a:t>Poka</a:t>
            </a:r>
            <a:r>
              <a:rPr lang="en-US" sz="1400" dirty="0">
                <a:solidFill>
                  <a:srgbClr val="222222"/>
                </a:solidFill>
              </a:rPr>
              <a:t> Yoke Quality Systems</a:t>
            </a:r>
          </a:p>
          <a:p>
            <a:pPr marL="0" indent="0" algn="r">
              <a:buNone/>
            </a:pPr>
            <a:r>
              <a:rPr lang="en-US" sz="1400" dirty="0">
                <a:solidFill>
                  <a:srgbClr val="222222"/>
                </a:solidFill>
              </a:rPr>
              <a:t>Process Mapping</a:t>
            </a:r>
          </a:p>
          <a:p>
            <a:pPr marL="0" indent="0" algn="r">
              <a:buNone/>
            </a:pPr>
            <a:r>
              <a:rPr lang="en-US" sz="1400" dirty="0">
                <a:solidFill>
                  <a:srgbClr val="222222"/>
                </a:solidFill>
              </a:rPr>
              <a:t>Single Minute Exchange of Dies (SMED)</a:t>
            </a:r>
          </a:p>
          <a:p>
            <a:pPr marL="0" indent="0" algn="r">
              <a:buNone/>
            </a:pPr>
            <a:r>
              <a:rPr lang="en-US" sz="1400" dirty="0">
                <a:solidFill>
                  <a:srgbClr val="222222"/>
                </a:solidFill>
              </a:rPr>
              <a:t>Transaction Process Improvement (TPI)</a:t>
            </a:r>
          </a:p>
          <a:p>
            <a:pPr marL="0" indent="0" algn="r">
              <a:buNone/>
            </a:pPr>
            <a:r>
              <a:rPr lang="en-US" sz="1400" dirty="0">
                <a:solidFill>
                  <a:srgbClr val="222222"/>
                </a:solidFill>
              </a:rPr>
              <a:t>Value Stream Mapping (VSM/</a:t>
            </a:r>
            <a:r>
              <a:rPr lang="en-US" sz="1400" dirty="0" err="1">
                <a:solidFill>
                  <a:srgbClr val="222222"/>
                </a:solidFill>
              </a:rPr>
              <a:t>VSMi</a:t>
            </a:r>
            <a:r>
              <a:rPr lang="en-US" sz="1400" dirty="0">
                <a:solidFill>
                  <a:srgbClr val="222222"/>
                </a:solidFill>
              </a:rPr>
              <a:t>)</a:t>
            </a:r>
          </a:p>
          <a:p>
            <a:pPr marL="0" indent="0" algn="r">
              <a:buNone/>
            </a:pPr>
            <a:r>
              <a:rPr lang="en-US" sz="1400" dirty="0">
                <a:solidFill>
                  <a:srgbClr val="222222"/>
                </a:solidFill>
              </a:rPr>
              <a:t>Visual Management</a:t>
            </a:r>
          </a:p>
        </p:txBody>
      </p:sp>
      <p:pic>
        <p:nvPicPr>
          <p:cNvPr id="6" name="Picture 5">
            <a:extLst>
              <a:ext uri="{FF2B5EF4-FFF2-40B4-BE49-F238E27FC236}">
                <a16:creationId xmlns:a16="http://schemas.microsoft.com/office/drawing/2014/main" id="{87A04EA8-9038-B4A7-1140-66E5C8E9E5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7" name="Slide Number Placeholder 2">
            <a:extLst>
              <a:ext uri="{FF2B5EF4-FFF2-40B4-BE49-F238E27FC236}">
                <a16:creationId xmlns:a16="http://schemas.microsoft.com/office/drawing/2014/main" id="{DA9C997B-7A2E-4BC0-6999-3ADB063F7149}"/>
              </a:ext>
            </a:extLst>
          </p:cNvPr>
          <p:cNvSpPr txBox="1">
            <a:spLocks/>
          </p:cNvSpPr>
          <p:nvPr/>
        </p:nvSpPr>
        <p:spPr>
          <a:xfrm>
            <a:off x="8595078" y="6386632"/>
            <a:ext cx="2743200" cy="331932"/>
          </a:xfrm>
          <a:prstGeom prst="rect">
            <a:avLst/>
          </a:prstGeom>
        </p:spPr>
        <p:txBody>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147</a:t>
            </a:fld>
            <a:endParaRPr lang="en-US" dirty="0"/>
          </a:p>
        </p:txBody>
      </p:sp>
    </p:spTree>
    <p:extLst>
      <p:ext uri="{BB962C8B-B14F-4D97-AF65-F5344CB8AC3E}">
        <p14:creationId xmlns:p14="http://schemas.microsoft.com/office/powerpoint/2010/main" val="2450048569"/>
      </p:ext>
    </p:extLst>
  </p:cSld>
  <p:clrMapOvr>
    <a:masterClrMapping/>
  </p:clrMapOvr>
</p:sld>
</file>

<file path=ppt/theme/theme1.xml><?xml version="1.0" encoding="utf-8"?>
<a:theme xmlns:a="http://schemas.openxmlformats.org/drawingml/2006/main" name="Office Theme">
  <a:themeElements>
    <a:clrScheme name="Custom 1">
      <a:dk1>
        <a:srgbClr val="000000"/>
      </a:dk1>
      <a:lt1>
        <a:srgbClr val="FFFFFF"/>
      </a:lt1>
      <a:dk2>
        <a:srgbClr val="44546A"/>
      </a:dk2>
      <a:lt2>
        <a:srgbClr val="E7E6E6"/>
      </a:lt2>
      <a:accent1>
        <a:srgbClr val="EE3228"/>
      </a:accent1>
      <a:accent2>
        <a:srgbClr val="FDCA40"/>
      </a:accent2>
      <a:accent3>
        <a:srgbClr val="939598"/>
      </a:accent3>
      <a:accent4>
        <a:srgbClr val="76939F"/>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18121</TotalTime>
  <Words>22077</Words>
  <Application>Microsoft Office PowerPoint</Application>
  <PresentationFormat>Widescreen</PresentationFormat>
  <Paragraphs>3967</Paragraphs>
  <Slides>147</Slides>
  <Notes>139</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147</vt:i4>
      </vt:variant>
    </vt:vector>
  </HeadingPairs>
  <TitlesOfParts>
    <vt:vector size="154" baseType="lpstr">
      <vt:lpstr>Arial</vt:lpstr>
      <vt:lpstr>Calibri</vt:lpstr>
      <vt:lpstr>Roboto</vt:lpstr>
      <vt:lpstr>Roboto Medium</vt:lpstr>
      <vt:lpstr>Times New Roman</vt:lpstr>
      <vt:lpstr>Wingdings</vt:lpstr>
      <vt:lpstr>Office Theme</vt:lpstr>
      <vt:lpstr>PowerPoint Presentation</vt:lpstr>
      <vt:lpstr>Other Modules In This Series</vt:lpstr>
      <vt:lpstr>PowerPoint Presentation</vt:lpstr>
      <vt:lpstr>Ground Rules for Event</vt:lpstr>
      <vt:lpstr>Value Stream Mapping Defined</vt:lpstr>
      <vt:lpstr>The “i” in VSMi</vt:lpstr>
      <vt:lpstr>PowerPoint Presentation</vt:lpstr>
      <vt:lpstr>When to Use Value Stream Mapping</vt:lpstr>
      <vt:lpstr>Value Stream Mapping Linkage to Strategy</vt:lpstr>
      <vt:lpstr>Business Case Examples that Support Key Business Imperatives</vt:lpstr>
      <vt:lpstr>Value Stream Mapping Roadmap to Success</vt:lpstr>
      <vt:lpstr>Value Stream Mapping Process</vt:lpstr>
      <vt:lpstr>Value Stream Mapping Session Agenda</vt:lpstr>
      <vt:lpstr>Select Product or Service Family</vt:lpstr>
      <vt:lpstr>The Administrative Value Stream Defined</vt:lpstr>
      <vt:lpstr>Identify the Value Object within the Value System</vt:lpstr>
      <vt:lpstr>The Value Object Volume Analysis</vt:lpstr>
      <vt:lpstr>Determine the Boundaries of the Value Stream</vt:lpstr>
      <vt:lpstr>VSM Boundary Examples</vt:lpstr>
      <vt:lpstr>Identify “Who is the Customer”</vt:lpstr>
      <vt:lpstr>Completing Customer Analysis</vt:lpstr>
      <vt:lpstr>Complete Customer/Stakeholder Analysis</vt:lpstr>
      <vt:lpstr>Kaizen Charter Validation</vt:lpstr>
      <vt:lpstr>Creating the Current State Value Stream Map</vt:lpstr>
      <vt:lpstr>Method to Create the Current State Map</vt:lpstr>
      <vt:lpstr>Method to Create the Current State Map</vt:lpstr>
      <vt:lpstr>Layout of Current State Map  for Transactional Processes</vt:lpstr>
      <vt:lpstr>Current State Map Drawing Exercises</vt:lpstr>
      <vt:lpstr>Case Study Example:  Northern Home Credit (NHC) Charter</vt:lpstr>
      <vt:lpstr>Case Study Example:  Northern Home Credit (NHC)</vt:lpstr>
      <vt:lpstr>Case Study Example:  Northern Home Credit (NHC)</vt:lpstr>
      <vt:lpstr>Case Study Example:  Northern Home Credit (NHC)</vt:lpstr>
      <vt:lpstr>Case Study Example:  Northern Home Credit (NHC)</vt:lpstr>
      <vt:lpstr>Steps to Draw a Value Stream Map</vt:lpstr>
      <vt:lpstr>Steps to Draw a Value Stream Map</vt:lpstr>
      <vt:lpstr>Mapping Customer Data</vt:lpstr>
      <vt:lpstr>Mapping Customer Data</vt:lpstr>
      <vt:lpstr>Steps to Draw a Value Stream Map</vt:lpstr>
      <vt:lpstr>Steps to Draw a Value Stream Map</vt:lpstr>
      <vt:lpstr>Mapping Customer Data</vt:lpstr>
      <vt:lpstr>Steps to Draw a Value Stream Map</vt:lpstr>
      <vt:lpstr>Steps to Draw a Value Stream Map</vt:lpstr>
      <vt:lpstr>Processing Time</vt:lpstr>
      <vt:lpstr>Quality: First-Pass Yield of Information</vt:lpstr>
      <vt:lpstr>Mapping Processes</vt:lpstr>
      <vt:lpstr>Mapping Processes</vt:lpstr>
      <vt:lpstr>Mapping Processes</vt:lpstr>
      <vt:lpstr>Mapping Processes</vt:lpstr>
      <vt:lpstr>Mapping Processes</vt:lpstr>
      <vt:lpstr>Mapping Processes</vt:lpstr>
      <vt:lpstr>Mapping Customer Data</vt:lpstr>
      <vt:lpstr>Mapping Inventory</vt:lpstr>
      <vt:lpstr>Mapping Inventory</vt:lpstr>
      <vt:lpstr>Mapping Customer Data</vt:lpstr>
      <vt:lpstr>Steps to Draw a Value Stream Map</vt:lpstr>
      <vt:lpstr>Mapping Processes</vt:lpstr>
      <vt:lpstr>Mapping Customer Data</vt:lpstr>
      <vt:lpstr>Steps to Draw a Value Stream Map</vt:lpstr>
      <vt:lpstr>Calculating Processing Time for Each Process</vt:lpstr>
      <vt:lpstr>Calculating Processing Time for Each Process</vt:lpstr>
      <vt:lpstr>Calculating Processing Time for Each Process</vt:lpstr>
      <vt:lpstr>Calculating Processing Time for Each Process</vt:lpstr>
      <vt:lpstr>Calculating Totals</vt:lpstr>
      <vt:lpstr>Calculating Totals</vt:lpstr>
      <vt:lpstr>Steps to Draw a Value Stream Map</vt:lpstr>
      <vt:lpstr>Mapping Information Flow</vt:lpstr>
      <vt:lpstr>Mapping Information Flow</vt:lpstr>
      <vt:lpstr>Exercise: Carl’s Credit Cards</vt:lpstr>
      <vt:lpstr>When You Encounter Batch Processes</vt:lpstr>
      <vt:lpstr>Review Exercise</vt:lpstr>
      <vt:lpstr>Your Turn…</vt:lpstr>
      <vt:lpstr>Supplies for the Current State Process Walk</vt:lpstr>
      <vt:lpstr>Method to Create the Current State Map:  Team Walk #1</vt:lpstr>
      <vt:lpstr>Current State Mapping for Business:  Team Walk #1</vt:lpstr>
      <vt:lpstr>Method to Create the Current State Map:  Team Walk #2</vt:lpstr>
      <vt:lpstr>Data Gathering Hierarchy</vt:lpstr>
      <vt:lpstr>Group Roles and Assignments for Team Walk #2</vt:lpstr>
      <vt:lpstr>Key Interviewer Guideline Questions</vt:lpstr>
      <vt:lpstr>After Data Gathering</vt:lpstr>
      <vt:lpstr>Current State Mapping for Business:  Team Walk #2</vt:lpstr>
      <vt:lpstr>Method to Create the Current State Map:  Team Walk #2</vt:lpstr>
      <vt:lpstr>Current State Mapping for Business:  Team Walk #2</vt:lpstr>
      <vt:lpstr>Interrogating the Current State Value Stream Map</vt:lpstr>
      <vt:lpstr>Exercise</vt:lpstr>
      <vt:lpstr>Questions used to interrogate a  Current State Map</vt:lpstr>
      <vt:lpstr>Questions used to interrogate a  Current State Map</vt:lpstr>
      <vt:lpstr>Is the current process producing to takt time?</vt:lpstr>
      <vt:lpstr>Is the current process producing to takt time?</vt:lpstr>
      <vt:lpstr>Questions used to interrogate a  Current State Map</vt:lpstr>
      <vt:lpstr>Is the current process producing to takt time?</vt:lpstr>
      <vt:lpstr>Is the current process producing to takt time?</vt:lpstr>
      <vt:lpstr>Questions used to interrogate a  Current State Map</vt:lpstr>
      <vt:lpstr>Queue Management</vt:lpstr>
      <vt:lpstr>Is the current process producing to takt time?</vt:lpstr>
      <vt:lpstr>Is the current process producing to takt time?</vt:lpstr>
      <vt:lpstr>Questions used to interrogate a  Current State Map</vt:lpstr>
      <vt:lpstr>Is the current process producing to takt time?</vt:lpstr>
      <vt:lpstr>Is the current process producing to takt time?</vt:lpstr>
      <vt:lpstr>Questions used to interrogate a  Current State Map</vt:lpstr>
      <vt:lpstr>Is the current process producing to takt time?</vt:lpstr>
      <vt:lpstr>Is the current process producing to takt time?</vt:lpstr>
      <vt:lpstr>Questions used to interrogate a  Current State Map</vt:lpstr>
      <vt:lpstr>Is the current process producing to takt time?</vt:lpstr>
      <vt:lpstr>Questions used to interrogate a  Current State Map</vt:lpstr>
      <vt:lpstr>Is the current process producing to takt time?</vt:lpstr>
      <vt:lpstr>Is the current process producing to takt time?</vt:lpstr>
      <vt:lpstr>Is the current process producing to takt time?</vt:lpstr>
      <vt:lpstr>Exercise</vt:lpstr>
      <vt:lpstr>Your Turn – Mark Up Current State  Map for Business</vt:lpstr>
      <vt:lpstr>Your Turn – Mark Up Current State  Map for Business</vt:lpstr>
      <vt:lpstr>Exercise</vt:lpstr>
      <vt:lpstr>Creating the Future State Value Stream Map</vt:lpstr>
      <vt:lpstr>Steps to Creating the Future State</vt:lpstr>
      <vt:lpstr>Steps to Creating the Future State</vt:lpstr>
      <vt:lpstr>PowerPoint Presentation</vt:lpstr>
      <vt:lpstr>Steps to Creating the Future State</vt:lpstr>
      <vt:lpstr>Steps to Creating the Future State</vt:lpstr>
      <vt:lpstr>Steps to Creating the Future State</vt:lpstr>
      <vt:lpstr>Steps to Creating the Future State</vt:lpstr>
      <vt:lpstr>Steps to Creating the Future State</vt:lpstr>
      <vt:lpstr>Implement Visually Managed  Queues to Couple Processes</vt:lpstr>
      <vt:lpstr>Steps to Creating the Future State</vt:lpstr>
      <vt:lpstr>Implement Visually Managed  Queues to Couple Processes</vt:lpstr>
      <vt:lpstr>Steps to Creating the Future State</vt:lpstr>
      <vt:lpstr>Identifying “Loops” in the Future State Map</vt:lpstr>
      <vt:lpstr>Identifying “Loops” in the Future State Map</vt:lpstr>
      <vt:lpstr>The Completed Future State Map</vt:lpstr>
      <vt:lpstr>Developing the Value Stream Plan</vt:lpstr>
      <vt:lpstr>Purpose of the Value Stream Plan</vt:lpstr>
      <vt:lpstr>Timing of the Value Stream Plan</vt:lpstr>
      <vt:lpstr>Timing of the Value Stream Plan</vt:lpstr>
      <vt:lpstr>Prioritize Kaizen Bursts translate  to Value Stream Plan Activities</vt:lpstr>
      <vt:lpstr>Prioritize Kaizen Bursts translate  to Value Stream Plan Activities</vt:lpstr>
      <vt:lpstr>Follow up and monitoring of Value Stream Plan</vt:lpstr>
      <vt:lpstr>VSM in Context</vt:lpstr>
      <vt:lpstr>Role of Leadership in VSM</vt:lpstr>
      <vt:lpstr>Role of the Value Stream Manager</vt:lpstr>
      <vt:lpstr>Role of the Value Stream Manager</vt:lpstr>
      <vt:lpstr>Value Stream Mapping Roadmap to Success</vt:lpstr>
      <vt:lpstr>Site Plan</vt:lpstr>
      <vt:lpstr>Complete Future State and Value Stream  Plan for Business</vt:lpstr>
      <vt:lpstr>Prepare for Final Report-Out to Management</vt:lpstr>
      <vt:lpstr>Appendix</vt:lpstr>
      <vt:lpstr>VSM Icons</vt:lpstr>
      <vt:lpstr>VSM Icons</vt:lpstr>
      <vt:lpstr>VSM Icons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Justin Santiago</dc:creator>
  <cp:lastModifiedBy>Scott DeLuzio</cp:lastModifiedBy>
  <cp:revision>444</cp:revision>
  <dcterms:created xsi:type="dcterms:W3CDTF">2023-02-08T22:10:20Z</dcterms:created>
  <dcterms:modified xsi:type="dcterms:W3CDTF">2024-07-23T21:38:29Z</dcterms:modified>
</cp:coreProperties>
</file>