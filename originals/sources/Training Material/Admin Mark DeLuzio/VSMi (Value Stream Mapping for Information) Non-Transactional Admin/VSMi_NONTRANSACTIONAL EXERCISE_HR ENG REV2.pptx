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352" r:id="rId2"/>
    <p:sldId id="353" r:id="rId3"/>
    <p:sldId id="354" r:id="rId4"/>
    <p:sldId id="355" r:id="rId5"/>
    <p:sldId id="356" r:id="rId6"/>
    <p:sldId id="357" r:id="rId7"/>
    <p:sldId id="3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90" d="100"/>
          <a:sy n="90" d="100"/>
        </p:scale>
        <p:origin x="1380" y="96"/>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7/24/2024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fr-FR" sz="1000" dirty="0" err="1"/>
              <a:t>VSMi_NONTRANSACTIONAL</a:t>
            </a:r>
            <a:r>
              <a:rPr lang="fr-FR" sz="1000" dirty="0"/>
              <a:t> EXERCISE_HR ENG REV2</a:t>
            </a: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1</a:t>
            </a:fld>
            <a:endParaRPr lang="en-US"/>
          </a:p>
        </p:txBody>
      </p:sp>
      <p:sp>
        <p:nvSpPr>
          <p:cNvPr id="2" name="Content Placeholder 2">
            <a:extLst>
              <a:ext uri="{FF2B5EF4-FFF2-40B4-BE49-F238E27FC236}">
                <a16:creationId xmlns:a16="http://schemas.microsoft.com/office/drawing/2014/main" id="{A982A78C-7FEE-ECD2-060D-6538EAE3290A}"/>
              </a:ext>
            </a:extLst>
          </p:cNvPr>
          <p:cNvSpPr txBox="1">
            <a:spLocks/>
          </p:cNvSpPr>
          <p:nvPr/>
        </p:nvSpPr>
        <p:spPr>
          <a:xfrm>
            <a:off x="365760" y="651510"/>
            <a:ext cx="10824210" cy="552545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u="sng" dirty="0"/>
              <a:t>Annual Performance Review Process</a:t>
            </a:r>
            <a:br>
              <a:rPr lang="en-US" sz="1400" dirty="0"/>
            </a:br>
            <a:r>
              <a:rPr lang="en-US" sz="1400" dirty="0"/>
              <a:t>Human resources gives annual reviews to approximately 150 employees per year. Each Supervisor has an average of 15 employees reporting to him/her.  The process starts October 15 and must be completed within 40 working days.</a:t>
            </a:r>
          </a:p>
          <a:p>
            <a:pPr marL="0" indent="0">
              <a:buFont typeface="Arial" panose="020B0604020202020204" pitchFamily="34" charset="0"/>
              <a:buNone/>
            </a:pPr>
            <a:r>
              <a:rPr lang="en-US" sz="1400" b="1" dirty="0"/>
              <a:t>Create Review Form:</a:t>
            </a:r>
          </a:p>
          <a:p>
            <a:pPr marL="0" indent="0">
              <a:buFont typeface="Arial" panose="020B0604020202020204" pitchFamily="34" charset="0"/>
              <a:buNone/>
            </a:pPr>
            <a:r>
              <a:rPr lang="en-US" sz="1400" dirty="0"/>
              <a:t>HR clerk starts the process in October, after an automated yearly email reminder is sent, and requires 3 weeks to complete. A 2-way review form is issued directly to the employee when HR initiates the project. Employee performs a self-scoring review for the Supervisor. The employee also provides an anonymous review of their Supervisor as feedback for the Supervisor to improve. The HR clerk does not start until all the forms are submitted, which requires a 5-day waiting period. HR clerk prepares a package for each employee, looks up and enters data onto the form (position, current wage, years of service, and annual review date). HR Manager reviews all packages.  HR Manager requires 1 week for the review.   Each package takes 20 minutes to assemble and review.  The documents are sent to the mailroom for distribution to the appropriate Supervisor.  The mailroom will have packages delivered within 2 days.</a:t>
            </a:r>
          </a:p>
          <a:p>
            <a:pPr marL="0" indent="0">
              <a:buFont typeface="Arial" panose="020B0604020202020204" pitchFamily="34" charset="0"/>
              <a:buNone/>
            </a:pPr>
            <a:r>
              <a:rPr lang="en-US" sz="1400" b="1" dirty="0"/>
              <a:t>Construct Review:</a:t>
            </a:r>
          </a:p>
          <a:p>
            <a:pPr marL="0" indent="0">
              <a:buFont typeface="Arial" panose="020B0604020202020204" pitchFamily="34" charset="0"/>
              <a:buNone/>
            </a:pPr>
            <a:r>
              <a:rPr lang="en-US" sz="1400" dirty="0"/>
              <a:t>The supervisor performs the written portion of the reviews upon receipt of the package from the mailroom.  Self-review is compared, and any discrepancies are noted, as well as discussion points during the review with the employee.  The budget is reviewed, and wage increases to match the budget.  The process takes approximately 30 minutes per review.  Due to day to day activities, it normally takes 2 weeks to complete the reviews.  A review is then scheduled with the employee within 1 week.</a:t>
            </a:r>
          </a:p>
          <a:p>
            <a:pPr marL="0" indent="0">
              <a:buFont typeface="Arial" panose="020B0604020202020204" pitchFamily="34" charset="0"/>
              <a:buNone/>
            </a:pPr>
            <a:r>
              <a:rPr lang="en-US" sz="1400" b="1" dirty="0"/>
              <a:t>Review Meeting:</a:t>
            </a:r>
          </a:p>
          <a:p>
            <a:pPr marL="0" indent="0">
              <a:buFont typeface="Arial" panose="020B0604020202020204" pitchFamily="34" charset="0"/>
              <a:buNone/>
            </a:pPr>
            <a:r>
              <a:rPr lang="en-US" sz="1400" dirty="0"/>
              <a:t>The supervisor meets with the employee and performs the review.  The review takes 1 hour to perform.  Half of the time, the employee does not agree with the review and requests changes.  Within 2 weeks of the original review, the Supervisor will hold a 30-minute Amended Meeting to amend the original review.  At this time, a consensus will be reached.</a:t>
            </a:r>
          </a:p>
          <a:p>
            <a:pPr marL="0" indent="0">
              <a:buFont typeface="Arial" panose="020B0604020202020204" pitchFamily="34" charset="0"/>
              <a:buNone/>
            </a:pPr>
            <a:r>
              <a:rPr lang="en-US" sz="1400" b="1" dirty="0"/>
              <a:t>Review Approval:</a:t>
            </a:r>
          </a:p>
          <a:p>
            <a:pPr marL="0" indent="0">
              <a:buFont typeface="Arial" panose="020B0604020202020204" pitchFamily="34" charset="0"/>
              <a:buNone/>
            </a:pPr>
            <a:r>
              <a:rPr lang="en-US" sz="1400" dirty="0"/>
              <a:t>After the Review is complete, they are immediately submitted to the VP for approval.  VP enters into the budget database.  10 minutes for the VP to process the review.  The VP is often out of town every other week, and takes two weeks to complete after reminders from HR.   After completion, it goes to Mailroom and is delivered to Acct within two days.</a:t>
            </a:r>
          </a:p>
        </p:txBody>
      </p:sp>
    </p:spTree>
    <p:extLst>
      <p:ext uri="{BB962C8B-B14F-4D97-AF65-F5344CB8AC3E}">
        <p14:creationId xmlns:p14="http://schemas.microsoft.com/office/powerpoint/2010/main" val="2602321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2</a:t>
            </a:fld>
            <a:endParaRPr lang="en-US"/>
          </a:p>
        </p:txBody>
      </p:sp>
      <p:sp>
        <p:nvSpPr>
          <p:cNvPr id="2" name="Content Placeholder 2">
            <a:extLst>
              <a:ext uri="{FF2B5EF4-FFF2-40B4-BE49-F238E27FC236}">
                <a16:creationId xmlns:a16="http://schemas.microsoft.com/office/drawing/2014/main" id="{A982A78C-7FEE-ECD2-060D-6538EAE3290A}"/>
              </a:ext>
            </a:extLst>
          </p:cNvPr>
          <p:cNvSpPr txBox="1">
            <a:spLocks/>
          </p:cNvSpPr>
          <p:nvPr/>
        </p:nvSpPr>
        <p:spPr>
          <a:xfrm>
            <a:off x="365760" y="651510"/>
            <a:ext cx="10824210" cy="552545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t>Accounting Review:</a:t>
            </a:r>
          </a:p>
          <a:p>
            <a:pPr marL="0" indent="0">
              <a:buFont typeface="Arial" panose="020B0604020202020204" pitchFamily="34" charset="0"/>
              <a:buNone/>
            </a:pPr>
            <a:r>
              <a:rPr lang="en-US" sz="1800" dirty="0"/>
              <a:t>Accounting reviews the wage increase and budget on a daily basis, then forwards directly to the Accounting Manager.  5 minutes to process</a:t>
            </a:r>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t>Accounting Manager Approval:</a:t>
            </a:r>
          </a:p>
          <a:p>
            <a:pPr marL="0" indent="0">
              <a:buFont typeface="Arial" panose="020B0604020202020204" pitchFamily="34" charset="0"/>
              <a:buNone/>
            </a:pPr>
            <a:r>
              <a:rPr lang="en-US" sz="1800" dirty="0"/>
              <a:t>The Accounting Manager signs off within 2 weeks.  10 minutes to process.   Any wage increase over budget goes to CFO review and signoff.  Accounting Manager updates department files on increased wages.  Reviews are sent to HR to file via mailroom within two days.</a:t>
            </a:r>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t>Finalize, file:</a:t>
            </a:r>
          </a:p>
          <a:p>
            <a:pPr marL="0" indent="0">
              <a:buFont typeface="Arial" panose="020B0604020202020204" pitchFamily="34" charset="0"/>
              <a:buNone/>
            </a:pPr>
            <a:r>
              <a:rPr lang="en-US" sz="1800" dirty="0"/>
              <a:t>HR enters wage increases into the payroll database within 2 weeks.  Calculates the increased back-pay and enters into the payroll system.  Reviews are then filed.  10 minutes per form to process. </a:t>
            </a:r>
          </a:p>
        </p:txBody>
      </p:sp>
    </p:spTree>
    <p:extLst>
      <p:ext uri="{BB962C8B-B14F-4D97-AF65-F5344CB8AC3E}">
        <p14:creationId xmlns:p14="http://schemas.microsoft.com/office/powerpoint/2010/main" val="4266334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3</a:t>
            </a:fld>
            <a:endParaRPr lang="en-US"/>
          </a:p>
        </p:txBody>
      </p:sp>
      <p:grpSp>
        <p:nvGrpSpPr>
          <p:cNvPr id="170" name="Group 169">
            <a:extLst>
              <a:ext uri="{FF2B5EF4-FFF2-40B4-BE49-F238E27FC236}">
                <a16:creationId xmlns:a16="http://schemas.microsoft.com/office/drawing/2014/main" id="{E90B56E6-0A90-DA70-5639-DBD88A941589}"/>
              </a:ext>
            </a:extLst>
          </p:cNvPr>
          <p:cNvGrpSpPr/>
          <p:nvPr/>
        </p:nvGrpSpPr>
        <p:grpSpPr>
          <a:xfrm>
            <a:off x="614045" y="609893"/>
            <a:ext cx="10963910" cy="5755251"/>
            <a:chOff x="88900" y="533400"/>
            <a:chExt cx="8721725" cy="6241826"/>
          </a:xfrm>
        </p:grpSpPr>
        <p:grpSp>
          <p:nvGrpSpPr>
            <p:cNvPr id="4" name="Group 144">
              <a:extLst>
                <a:ext uri="{FF2B5EF4-FFF2-40B4-BE49-F238E27FC236}">
                  <a16:creationId xmlns:a16="http://schemas.microsoft.com/office/drawing/2014/main" id="{F4E09C0D-E2D8-22D9-F151-6E9C3F5D7AD3}"/>
                </a:ext>
              </a:extLst>
            </p:cNvPr>
            <p:cNvGrpSpPr>
              <a:grpSpLocks/>
            </p:cNvGrpSpPr>
            <p:nvPr/>
          </p:nvGrpSpPr>
          <p:grpSpPr bwMode="auto">
            <a:xfrm>
              <a:off x="381000" y="3657600"/>
              <a:ext cx="762000" cy="1295400"/>
              <a:chOff x="609600" y="3657600"/>
              <a:chExt cx="1062925" cy="1295400"/>
            </a:xfrm>
          </p:grpSpPr>
          <p:sp>
            <p:nvSpPr>
              <p:cNvPr id="5" name="Rectangle 30">
                <a:extLst>
                  <a:ext uri="{FF2B5EF4-FFF2-40B4-BE49-F238E27FC236}">
                    <a16:creationId xmlns:a16="http://schemas.microsoft.com/office/drawing/2014/main" id="{B54C8EB9-8EBC-946E-CBE1-DC072E40FA4D}"/>
                  </a:ext>
                </a:extLst>
              </p:cNvPr>
              <p:cNvSpPr>
                <a:spLocks noChangeArrowheads="1"/>
              </p:cNvSpPr>
              <p:nvPr/>
            </p:nvSpPr>
            <p:spPr bwMode="auto">
              <a:xfrm>
                <a:off x="610834" y="3657600"/>
                <a:ext cx="10160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6" name="Text Box 33">
                <a:extLst>
                  <a:ext uri="{FF2B5EF4-FFF2-40B4-BE49-F238E27FC236}">
                    <a16:creationId xmlns:a16="http://schemas.microsoft.com/office/drawing/2014/main" id="{18B1DFB8-B22C-B431-7258-874AAE41D9A3}"/>
                  </a:ext>
                </a:extLst>
              </p:cNvPr>
              <p:cNvSpPr txBox="1">
                <a:spLocks noChangeArrowheads="1"/>
              </p:cNvSpPr>
              <p:nvPr/>
            </p:nvSpPr>
            <p:spPr bwMode="auto">
              <a:xfrm>
                <a:off x="651832" y="3683000"/>
                <a:ext cx="914400" cy="550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Create Review</a:t>
                </a:r>
              </a:p>
              <a:p>
                <a:pPr eaLnBrk="1" hangingPunct="1"/>
                <a:r>
                  <a:rPr lang="en-US" altLang="en-US" sz="900">
                    <a:latin typeface="Roboto" panose="02000000000000000000" pitchFamily="2" charset="0"/>
                    <a:ea typeface="Roboto" panose="02000000000000000000" pitchFamily="2" charset="0"/>
                  </a:rPr>
                  <a:t>Form</a:t>
                </a:r>
              </a:p>
            </p:txBody>
          </p:sp>
          <p:sp>
            <p:nvSpPr>
              <p:cNvPr id="7" name="Rectangle 42">
                <a:extLst>
                  <a:ext uri="{FF2B5EF4-FFF2-40B4-BE49-F238E27FC236}">
                    <a16:creationId xmlns:a16="http://schemas.microsoft.com/office/drawing/2014/main" id="{30432314-F3A3-A277-159E-5C27E03F32CF}"/>
                  </a:ext>
                </a:extLst>
              </p:cNvPr>
              <p:cNvSpPr>
                <a:spLocks noChangeArrowheads="1"/>
              </p:cNvSpPr>
              <p:nvPr/>
            </p:nvSpPr>
            <p:spPr bwMode="auto">
              <a:xfrm>
                <a:off x="633672" y="4310063"/>
                <a:ext cx="996336"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8" name="Rectangle 43">
                <a:extLst>
                  <a:ext uri="{FF2B5EF4-FFF2-40B4-BE49-F238E27FC236}">
                    <a16:creationId xmlns:a16="http://schemas.microsoft.com/office/drawing/2014/main" id="{A68CAF1C-DA00-80DF-67F4-19BDEF1E4399}"/>
                  </a:ext>
                </a:extLst>
              </p:cNvPr>
              <p:cNvSpPr>
                <a:spLocks noChangeArrowheads="1"/>
              </p:cNvSpPr>
              <p:nvPr/>
            </p:nvSpPr>
            <p:spPr bwMode="auto">
              <a:xfrm>
                <a:off x="609600" y="4306888"/>
                <a:ext cx="1062925" cy="50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20 D</a:t>
                </a:r>
              </a:p>
              <a:p>
                <a:pPr eaLnBrk="1" hangingPunct="1">
                  <a:lnSpc>
                    <a:spcPct val="125000"/>
                  </a:lnSpc>
                </a:pPr>
                <a:r>
                  <a:rPr lang="en-US" altLang="en-US" sz="500">
                    <a:latin typeface="Roboto" panose="02000000000000000000" pitchFamily="2" charset="0"/>
                    <a:ea typeface="Roboto" panose="02000000000000000000" pitchFamily="2" charset="0"/>
                  </a:rPr>
                  <a:t>Processing Time = 20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grpSp>
        <p:grpSp>
          <p:nvGrpSpPr>
            <p:cNvPr id="9" name="Group 148">
              <a:extLst>
                <a:ext uri="{FF2B5EF4-FFF2-40B4-BE49-F238E27FC236}">
                  <a16:creationId xmlns:a16="http://schemas.microsoft.com/office/drawing/2014/main" id="{67B9A814-131B-2F58-B4F9-C6B135DB26A4}"/>
                </a:ext>
              </a:extLst>
            </p:cNvPr>
            <p:cNvGrpSpPr>
              <a:grpSpLocks/>
            </p:cNvGrpSpPr>
            <p:nvPr/>
          </p:nvGrpSpPr>
          <p:grpSpPr bwMode="auto">
            <a:xfrm>
              <a:off x="2514600" y="3657600"/>
              <a:ext cx="731838" cy="1295902"/>
              <a:chOff x="2971800" y="3657600"/>
              <a:chExt cx="898525" cy="1295400"/>
            </a:xfrm>
          </p:grpSpPr>
          <p:sp>
            <p:nvSpPr>
              <p:cNvPr id="10" name="Rectangle 30">
                <a:extLst>
                  <a:ext uri="{FF2B5EF4-FFF2-40B4-BE49-F238E27FC236}">
                    <a16:creationId xmlns:a16="http://schemas.microsoft.com/office/drawing/2014/main" id="{7E1709F1-1B2D-2369-EDC6-2D66FA195C1B}"/>
                  </a:ext>
                </a:extLst>
              </p:cNvPr>
              <p:cNvSpPr>
                <a:spLocks noChangeArrowheads="1"/>
              </p:cNvSpPr>
              <p:nvPr/>
            </p:nvSpPr>
            <p:spPr bwMode="auto">
              <a:xfrm>
                <a:off x="2978150" y="3657600"/>
                <a:ext cx="8890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1" name="Text Box 33">
                <a:extLst>
                  <a:ext uri="{FF2B5EF4-FFF2-40B4-BE49-F238E27FC236}">
                    <a16:creationId xmlns:a16="http://schemas.microsoft.com/office/drawing/2014/main" id="{2C6CE12E-49DF-88E3-0F11-AFC5FDB86555}"/>
                  </a:ext>
                </a:extLst>
              </p:cNvPr>
              <p:cNvSpPr txBox="1">
                <a:spLocks noChangeArrowheads="1"/>
              </p:cNvSpPr>
              <p:nvPr/>
            </p:nvSpPr>
            <p:spPr bwMode="auto">
              <a:xfrm>
                <a:off x="2971800" y="3759369"/>
                <a:ext cx="842367" cy="550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Review</a:t>
                </a:r>
                <a:br>
                  <a:rPr lang="en-US" altLang="en-US" sz="900">
                    <a:latin typeface="Roboto" panose="02000000000000000000" pitchFamily="2" charset="0"/>
                    <a:ea typeface="Roboto" panose="02000000000000000000" pitchFamily="2" charset="0"/>
                  </a:rPr>
                </a:br>
                <a:r>
                  <a:rPr lang="en-US" altLang="en-US" sz="900">
                    <a:latin typeface="Roboto" panose="02000000000000000000" pitchFamily="2" charset="0"/>
                    <a:ea typeface="Roboto" panose="02000000000000000000" pitchFamily="2" charset="0"/>
                  </a:rPr>
                  <a:t>Meeting</a:t>
                </a:r>
              </a:p>
              <a:p>
                <a:pPr eaLnBrk="1" hangingPunct="1"/>
                <a:endParaRPr lang="en-US" altLang="en-US" sz="900">
                  <a:latin typeface="Roboto" panose="02000000000000000000" pitchFamily="2" charset="0"/>
                  <a:ea typeface="Roboto" panose="02000000000000000000" pitchFamily="2" charset="0"/>
                </a:endParaRPr>
              </a:p>
            </p:txBody>
          </p:sp>
          <p:sp>
            <p:nvSpPr>
              <p:cNvPr id="12" name="Rectangle 42">
                <a:extLst>
                  <a:ext uri="{FF2B5EF4-FFF2-40B4-BE49-F238E27FC236}">
                    <a16:creationId xmlns:a16="http://schemas.microsoft.com/office/drawing/2014/main" id="{ED41D4D3-F601-DE43-58BE-3424E5FFB615}"/>
                  </a:ext>
                </a:extLst>
              </p:cNvPr>
              <p:cNvSpPr>
                <a:spLocks noChangeArrowheads="1"/>
              </p:cNvSpPr>
              <p:nvPr/>
            </p:nvSpPr>
            <p:spPr bwMode="auto">
              <a:xfrm>
                <a:off x="2978150" y="4310063"/>
                <a:ext cx="892175"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3" name="Rectangle 43">
                <a:extLst>
                  <a:ext uri="{FF2B5EF4-FFF2-40B4-BE49-F238E27FC236}">
                    <a16:creationId xmlns:a16="http://schemas.microsoft.com/office/drawing/2014/main" id="{F9EF345D-23AB-6CB2-D7B4-A16BED754693}"/>
                  </a:ext>
                </a:extLst>
              </p:cNvPr>
              <p:cNvSpPr>
                <a:spLocks noChangeArrowheads="1"/>
              </p:cNvSpPr>
              <p:nvPr/>
            </p:nvSpPr>
            <p:spPr bwMode="auto">
              <a:xfrm>
                <a:off x="2971800" y="4306888"/>
                <a:ext cx="895350" cy="508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0 D</a:t>
                </a:r>
              </a:p>
              <a:p>
                <a:pPr eaLnBrk="1" hangingPunct="1">
                  <a:lnSpc>
                    <a:spcPct val="125000"/>
                  </a:lnSpc>
                </a:pPr>
                <a:r>
                  <a:rPr lang="en-US" altLang="en-US" sz="500">
                    <a:latin typeface="Roboto" panose="02000000000000000000" pitchFamily="2" charset="0"/>
                    <a:ea typeface="Roboto" panose="02000000000000000000" pitchFamily="2" charset="0"/>
                  </a:rPr>
                  <a:t>Processing Time = 1 hour</a:t>
                </a:r>
              </a:p>
              <a:p>
                <a:pPr eaLnBrk="1" hangingPunct="1">
                  <a:lnSpc>
                    <a:spcPct val="125000"/>
                  </a:lnSpc>
                </a:pPr>
                <a:r>
                  <a:rPr lang="en-US" altLang="en-US" sz="500">
                    <a:latin typeface="Roboto" panose="02000000000000000000" pitchFamily="2" charset="0"/>
                    <a:ea typeface="Roboto" panose="02000000000000000000" pitchFamily="2" charset="0"/>
                  </a:rPr>
                  <a:t>Quality 50%</a:t>
                </a:r>
              </a:p>
              <a:p>
                <a:pPr eaLnBrk="1" hangingPunct="1">
                  <a:lnSpc>
                    <a:spcPct val="125000"/>
                  </a:lnSpc>
                </a:pPr>
                <a:r>
                  <a:rPr lang="en-US" altLang="en-US" sz="500">
                    <a:latin typeface="Roboto" panose="02000000000000000000" pitchFamily="2" charset="0"/>
                    <a:ea typeface="Roboto" panose="02000000000000000000" pitchFamily="2" charset="0"/>
                  </a:rPr>
                  <a:t>Rework =  0.5 Times</a:t>
                </a:r>
              </a:p>
            </p:txBody>
          </p:sp>
          <p:sp>
            <p:nvSpPr>
              <p:cNvPr id="14" name="Rectangle 44">
                <a:extLst>
                  <a:ext uri="{FF2B5EF4-FFF2-40B4-BE49-F238E27FC236}">
                    <a16:creationId xmlns:a16="http://schemas.microsoft.com/office/drawing/2014/main" id="{4EEE7023-455E-4143-335D-DF0E064B5A87}"/>
                  </a:ext>
                </a:extLst>
              </p:cNvPr>
              <p:cNvSpPr>
                <a:spLocks noChangeArrowheads="1"/>
              </p:cNvSpPr>
              <p:nvPr/>
            </p:nvSpPr>
            <p:spPr bwMode="auto">
              <a:xfrm>
                <a:off x="3168650" y="4438650"/>
                <a:ext cx="146050" cy="19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grpSp>
          <p:nvGrpSpPr>
            <p:cNvPr id="15" name="Group 146">
              <a:extLst>
                <a:ext uri="{FF2B5EF4-FFF2-40B4-BE49-F238E27FC236}">
                  <a16:creationId xmlns:a16="http://schemas.microsoft.com/office/drawing/2014/main" id="{7C79C00B-C4B6-06F0-FC3D-0A42C46F8898}"/>
                </a:ext>
              </a:extLst>
            </p:cNvPr>
            <p:cNvGrpSpPr>
              <a:grpSpLocks/>
            </p:cNvGrpSpPr>
            <p:nvPr/>
          </p:nvGrpSpPr>
          <p:grpSpPr bwMode="auto">
            <a:xfrm>
              <a:off x="4724400" y="3657600"/>
              <a:ext cx="762000" cy="1295400"/>
              <a:chOff x="6019790" y="3657600"/>
              <a:chExt cx="1063293" cy="1295400"/>
            </a:xfrm>
          </p:grpSpPr>
          <p:sp>
            <p:nvSpPr>
              <p:cNvPr id="16" name="Rectangle 30">
                <a:extLst>
                  <a:ext uri="{FF2B5EF4-FFF2-40B4-BE49-F238E27FC236}">
                    <a16:creationId xmlns:a16="http://schemas.microsoft.com/office/drawing/2014/main" id="{B8CECCE4-0A8B-EA0A-5479-FCE9C6C07FE1}"/>
                  </a:ext>
                </a:extLst>
              </p:cNvPr>
              <p:cNvSpPr>
                <a:spLocks noChangeArrowheads="1"/>
              </p:cNvSpPr>
              <p:nvPr/>
            </p:nvSpPr>
            <p:spPr bwMode="auto">
              <a:xfrm>
                <a:off x="6021387" y="3657600"/>
                <a:ext cx="1016001"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 name="Text Box 33">
                <a:extLst>
                  <a:ext uri="{FF2B5EF4-FFF2-40B4-BE49-F238E27FC236}">
                    <a16:creationId xmlns:a16="http://schemas.microsoft.com/office/drawing/2014/main" id="{DC3F41BE-D24C-B84B-5DDA-208923A705EF}"/>
                  </a:ext>
                </a:extLst>
              </p:cNvPr>
              <p:cNvSpPr txBox="1">
                <a:spLocks noChangeArrowheads="1"/>
              </p:cNvSpPr>
              <p:nvPr/>
            </p:nvSpPr>
            <p:spPr bwMode="auto">
              <a:xfrm>
                <a:off x="6062354" y="3749675"/>
                <a:ext cx="914398" cy="40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Review Approval</a:t>
                </a:r>
              </a:p>
            </p:txBody>
          </p:sp>
          <p:sp>
            <p:nvSpPr>
              <p:cNvPr id="18" name="Rectangle 42">
                <a:extLst>
                  <a:ext uri="{FF2B5EF4-FFF2-40B4-BE49-F238E27FC236}">
                    <a16:creationId xmlns:a16="http://schemas.microsoft.com/office/drawing/2014/main" id="{C5725D2F-1C03-B770-A087-AB80D560A034}"/>
                  </a:ext>
                </a:extLst>
              </p:cNvPr>
              <p:cNvSpPr>
                <a:spLocks noChangeArrowheads="1"/>
              </p:cNvSpPr>
              <p:nvPr/>
            </p:nvSpPr>
            <p:spPr bwMode="auto">
              <a:xfrm>
                <a:off x="6044227" y="4310063"/>
                <a:ext cx="996336"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9" name="Rectangle 43">
                <a:extLst>
                  <a:ext uri="{FF2B5EF4-FFF2-40B4-BE49-F238E27FC236}">
                    <a16:creationId xmlns:a16="http://schemas.microsoft.com/office/drawing/2014/main" id="{747CE99B-BE78-9D4D-68D2-2E76A1E05963}"/>
                  </a:ext>
                </a:extLst>
              </p:cNvPr>
              <p:cNvSpPr>
                <a:spLocks noChangeArrowheads="1"/>
              </p:cNvSpPr>
              <p:nvPr/>
            </p:nvSpPr>
            <p:spPr bwMode="auto">
              <a:xfrm>
                <a:off x="6019790" y="4306888"/>
                <a:ext cx="1063293" cy="50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10 D</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20" name="Rectangle 44">
                <a:extLst>
                  <a:ext uri="{FF2B5EF4-FFF2-40B4-BE49-F238E27FC236}">
                    <a16:creationId xmlns:a16="http://schemas.microsoft.com/office/drawing/2014/main" id="{F5CA1536-3391-5CAE-C16E-1FB0D98C812A}"/>
                  </a:ext>
                </a:extLst>
              </p:cNvPr>
              <p:cNvSpPr>
                <a:spLocks noChangeArrowheads="1"/>
              </p:cNvSpPr>
              <p:nvPr/>
            </p:nvSpPr>
            <p:spPr bwMode="auto">
              <a:xfrm>
                <a:off x="6299200" y="4438650"/>
                <a:ext cx="149225" cy="19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grpSp>
          <p:nvGrpSpPr>
            <p:cNvPr id="21" name="Group 147">
              <a:extLst>
                <a:ext uri="{FF2B5EF4-FFF2-40B4-BE49-F238E27FC236}">
                  <a16:creationId xmlns:a16="http://schemas.microsoft.com/office/drawing/2014/main" id="{DCF820CC-CE62-9AAC-A705-58671FA356C5}"/>
                </a:ext>
              </a:extLst>
            </p:cNvPr>
            <p:cNvGrpSpPr>
              <a:grpSpLocks/>
            </p:cNvGrpSpPr>
            <p:nvPr/>
          </p:nvGrpSpPr>
          <p:grpSpPr bwMode="auto">
            <a:xfrm>
              <a:off x="6858000" y="3657600"/>
              <a:ext cx="762000" cy="1295400"/>
              <a:chOff x="6885907" y="3657600"/>
              <a:chExt cx="1023553" cy="1295400"/>
            </a:xfrm>
          </p:grpSpPr>
          <p:sp>
            <p:nvSpPr>
              <p:cNvPr id="22" name="Rectangle 30">
                <a:extLst>
                  <a:ext uri="{FF2B5EF4-FFF2-40B4-BE49-F238E27FC236}">
                    <a16:creationId xmlns:a16="http://schemas.microsoft.com/office/drawing/2014/main" id="{92B11159-83C6-A2B1-0481-E16F66CC7B58}"/>
                  </a:ext>
                </a:extLst>
              </p:cNvPr>
              <p:cNvSpPr>
                <a:spLocks noChangeArrowheads="1"/>
              </p:cNvSpPr>
              <p:nvPr/>
            </p:nvSpPr>
            <p:spPr bwMode="auto">
              <a:xfrm>
                <a:off x="6887958" y="3657600"/>
                <a:ext cx="940129"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3" name="Text Box 33">
                <a:extLst>
                  <a:ext uri="{FF2B5EF4-FFF2-40B4-BE49-F238E27FC236}">
                    <a16:creationId xmlns:a16="http://schemas.microsoft.com/office/drawing/2014/main" id="{98BEF966-52F3-DB6D-A315-09E53B016074}"/>
                  </a:ext>
                </a:extLst>
              </p:cNvPr>
              <p:cNvSpPr txBox="1">
                <a:spLocks noChangeArrowheads="1"/>
              </p:cNvSpPr>
              <p:nvPr/>
            </p:nvSpPr>
            <p:spPr bwMode="auto">
              <a:xfrm>
                <a:off x="6885907" y="3683169"/>
                <a:ext cx="1023549" cy="550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Accounting</a:t>
                </a:r>
              </a:p>
              <a:p>
                <a:pPr eaLnBrk="1" hangingPunct="1"/>
                <a:r>
                  <a:rPr lang="en-US" altLang="en-US" sz="900">
                    <a:latin typeface="Roboto" panose="02000000000000000000" pitchFamily="2" charset="0"/>
                    <a:ea typeface="Roboto" panose="02000000000000000000" pitchFamily="2" charset="0"/>
                  </a:rPr>
                  <a:t>Manager</a:t>
                </a:r>
              </a:p>
              <a:p>
                <a:pPr eaLnBrk="1" hangingPunct="1"/>
                <a:r>
                  <a:rPr lang="en-US" altLang="en-US" sz="900">
                    <a:latin typeface="Roboto" panose="02000000000000000000" pitchFamily="2" charset="0"/>
                    <a:ea typeface="Roboto" panose="02000000000000000000" pitchFamily="2" charset="0"/>
                  </a:rPr>
                  <a:t>Approval</a:t>
                </a:r>
              </a:p>
            </p:txBody>
          </p:sp>
          <p:sp>
            <p:nvSpPr>
              <p:cNvPr id="24" name="Rectangle 42">
                <a:extLst>
                  <a:ext uri="{FF2B5EF4-FFF2-40B4-BE49-F238E27FC236}">
                    <a16:creationId xmlns:a16="http://schemas.microsoft.com/office/drawing/2014/main" id="{E32F2DE3-1D79-859E-E97C-A538B663CB39}"/>
                  </a:ext>
                </a:extLst>
              </p:cNvPr>
              <p:cNvSpPr>
                <a:spLocks noChangeArrowheads="1"/>
              </p:cNvSpPr>
              <p:nvPr/>
            </p:nvSpPr>
            <p:spPr bwMode="auto">
              <a:xfrm>
                <a:off x="6909328" y="4310063"/>
                <a:ext cx="921934"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5" name="Rectangle 43">
                <a:extLst>
                  <a:ext uri="{FF2B5EF4-FFF2-40B4-BE49-F238E27FC236}">
                    <a16:creationId xmlns:a16="http://schemas.microsoft.com/office/drawing/2014/main" id="{77EE6601-F07B-C0AE-EDF9-C51943621D56}"/>
                  </a:ext>
                </a:extLst>
              </p:cNvPr>
              <p:cNvSpPr>
                <a:spLocks noChangeArrowheads="1"/>
              </p:cNvSpPr>
              <p:nvPr/>
            </p:nvSpPr>
            <p:spPr bwMode="auto">
              <a:xfrm>
                <a:off x="6934202" y="4306888"/>
                <a:ext cx="975258" cy="613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10 D</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26" name="Rectangle 44">
                <a:extLst>
                  <a:ext uri="{FF2B5EF4-FFF2-40B4-BE49-F238E27FC236}">
                    <a16:creationId xmlns:a16="http://schemas.microsoft.com/office/drawing/2014/main" id="{ECE3A70A-D26B-AA2A-1F35-30D5E0D3F8E6}"/>
                  </a:ext>
                </a:extLst>
              </p:cNvPr>
              <p:cNvSpPr>
                <a:spLocks noChangeArrowheads="1"/>
              </p:cNvSpPr>
              <p:nvPr/>
            </p:nvSpPr>
            <p:spPr bwMode="auto">
              <a:xfrm>
                <a:off x="7104219" y="4438650"/>
                <a:ext cx="138080" cy="19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grpSp>
          <p:nvGrpSpPr>
            <p:cNvPr id="27" name="Group 152">
              <a:extLst>
                <a:ext uri="{FF2B5EF4-FFF2-40B4-BE49-F238E27FC236}">
                  <a16:creationId xmlns:a16="http://schemas.microsoft.com/office/drawing/2014/main" id="{84F38E15-EE72-82B7-C5C8-2338A7334EF4}"/>
                </a:ext>
              </a:extLst>
            </p:cNvPr>
            <p:cNvGrpSpPr>
              <a:grpSpLocks/>
            </p:cNvGrpSpPr>
            <p:nvPr/>
          </p:nvGrpSpPr>
          <p:grpSpPr bwMode="auto">
            <a:xfrm>
              <a:off x="7848600" y="3657600"/>
              <a:ext cx="762000" cy="1295400"/>
              <a:chOff x="7733562" y="3657600"/>
              <a:chExt cx="1138498" cy="1295400"/>
            </a:xfrm>
          </p:grpSpPr>
          <p:sp>
            <p:nvSpPr>
              <p:cNvPr id="28" name="Rectangle 30">
                <a:extLst>
                  <a:ext uri="{FF2B5EF4-FFF2-40B4-BE49-F238E27FC236}">
                    <a16:creationId xmlns:a16="http://schemas.microsoft.com/office/drawing/2014/main" id="{36723E89-8277-A09C-8B91-8BD246FB2F9C}"/>
                  </a:ext>
                </a:extLst>
              </p:cNvPr>
              <p:cNvSpPr>
                <a:spLocks noChangeArrowheads="1"/>
              </p:cNvSpPr>
              <p:nvPr/>
            </p:nvSpPr>
            <p:spPr bwMode="auto">
              <a:xfrm>
                <a:off x="7821408" y="3657600"/>
                <a:ext cx="987513"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9" name="Text Box 33">
                <a:extLst>
                  <a:ext uri="{FF2B5EF4-FFF2-40B4-BE49-F238E27FC236}">
                    <a16:creationId xmlns:a16="http://schemas.microsoft.com/office/drawing/2014/main" id="{F76424A7-2826-CE1D-8645-6CC99CD31677}"/>
                  </a:ext>
                </a:extLst>
              </p:cNvPr>
              <p:cNvSpPr txBox="1">
                <a:spLocks noChangeArrowheads="1"/>
              </p:cNvSpPr>
              <p:nvPr/>
            </p:nvSpPr>
            <p:spPr bwMode="auto">
              <a:xfrm>
                <a:off x="7847521" y="3744913"/>
                <a:ext cx="911660" cy="40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Finalize</a:t>
                </a:r>
              </a:p>
              <a:p>
                <a:pPr eaLnBrk="1" hangingPunct="1"/>
                <a:r>
                  <a:rPr lang="en-US" altLang="en-US" sz="900">
                    <a:latin typeface="Roboto" panose="02000000000000000000" pitchFamily="2" charset="0"/>
                    <a:ea typeface="Roboto" panose="02000000000000000000" pitchFamily="2" charset="0"/>
                  </a:rPr>
                  <a:t>File</a:t>
                </a:r>
              </a:p>
            </p:txBody>
          </p:sp>
          <p:sp>
            <p:nvSpPr>
              <p:cNvPr id="30" name="Rectangle 42">
                <a:extLst>
                  <a:ext uri="{FF2B5EF4-FFF2-40B4-BE49-F238E27FC236}">
                    <a16:creationId xmlns:a16="http://schemas.microsoft.com/office/drawing/2014/main" id="{9E0BA3EB-C36C-62BC-70BB-B39C66FEFFAB}"/>
                  </a:ext>
                </a:extLst>
              </p:cNvPr>
              <p:cNvSpPr>
                <a:spLocks noChangeArrowheads="1"/>
              </p:cNvSpPr>
              <p:nvPr/>
            </p:nvSpPr>
            <p:spPr bwMode="auto">
              <a:xfrm>
                <a:off x="7842777" y="4310063"/>
                <a:ext cx="968401"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1" name="Rectangle 43">
                <a:extLst>
                  <a:ext uri="{FF2B5EF4-FFF2-40B4-BE49-F238E27FC236}">
                    <a16:creationId xmlns:a16="http://schemas.microsoft.com/office/drawing/2014/main" id="{F028CCA4-87BB-E6BD-63FB-E8F610F86692}"/>
                  </a:ext>
                </a:extLst>
              </p:cNvPr>
              <p:cNvSpPr>
                <a:spLocks noChangeArrowheads="1"/>
              </p:cNvSpPr>
              <p:nvPr/>
            </p:nvSpPr>
            <p:spPr bwMode="auto">
              <a:xfrm>
                <a:off x="7733562" y="4306888"/>
                <a:ext cx="1138498" cy="50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10 D</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32" name="Rectangle 44">
                <a:extLst>
                  <a:ext uri="{FF2B5EF4-FFF2-40B4-BE49-F238E27FC236}">
                    <a16:creationId xmlns:a16="http://schemas.microsoft.com/office/drawing/2014/main" id="{81253CF4-5212-12AE-114B-CCE334CBBD9B}"/>
                  </a:ext>
                </a:extLst>
              </p:cNvPr>
              <p:cNvSpPr>
                <a:spLocks noChangeArrowheads="1"/>
              </p:cNvSpPr>
              <p:nvPr/>
            </p:nvSpPr>
            <p:spPr bwMode="auto">
              <a:xfrm>
                <a:off x="8034494" y="4438650"/>
                <a:ext cx="145040" cy="19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sp>
          <p:nvSpPr>
            <p:cNvPr id="33" name="Line 7">
              <a:extLst>
                <a:ext uri="{FF2B5EF4-FFF2-40B4-BE49-F238E27FC236}">
                  <a16:creationId xmlns:a16="http://schemas.microsoft.com/office/drawing/2014/main" id="{AA57E4D2-89F3-363A-736F-E28131BEEBEE}"/>
                </a:ext>
              </a:extLst>
            </p:cNvPr>
            <p:cNvSpPr>
              <a:spLocks noChangeShapeType="1"/>
            </p:cNvSpPr>
            <p:nvPr/>
          </p:nvSpPr>
          <p:spPr bwMode="auto">
            <a:xfrm rot="420000" flipV="1">
              <a:off x="3255963" y="3822700"/>
              <a:ext cx="1463675" cy="17462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34" name="Group 245">
              <a:extLst>
                <a:ext uri="{FF2B5EF4-FFF2-40B4-BE49-F238E27FC236}">
                  <a16:creationId xmlns:a16="http://schemas.microsoft.com/office/drawing/2014/main" id="{0B64265F-B4F9-FC31-7F23-7A0D4DD322A1}"/>
                </a:ext>
              </a:extLst>
            </p:cNvPr>
            <p:cNvGrpSpPr>
              <a:grpSpLocks/>
            </p:cNvGrpSpPr>
            <p:nvPr/>
          </p:nvGrpSpPr>
          <p:grpSpPr bwMode="auto">
            <a:xfrm>
              <a:off x="3810000" y="1219200"/>
              <a:ext cx="914400" cy="533400"/>
              <a:chOff x="3810000" y="1219200"/>
              <a:chExt cx="914400" cy="533400"/>
            </a:xfrm>
          </p:grpSpPr>
          <p:sp>
            <p:nvSpPr>
              <p:cNvPr id="35" name="Rectangle 5">
                <a:extLst>
                  <a:ext uri="{FF2B5EF4-FFF2-40B4-BE49-F238E27FC236}">
                    <a16:creationId xmlns:a16="http://schemas.microsoft.com/office/drawing/2014/main" id="{4A612CC0-6899-13FA-B91F-81E3D5870EBB}"/>
                  </a:ext>
                </a:extLst>
              </p:cNvPr>
              <p:cNvSpPr>
                <a:spLocks noChangeArrowheads="1"/>
              </p:cNvSpPr>
              <p:nvPr/>
            </p:nvSpPr>
            <p:spPr bwMode="auto">
              <a:xfrm>
                <a:off x="3810000" y="12192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6" name="Text Box 118">
                <a:extLst>
                  <a:ext uri="{FF2B5EF4-FFF2-40B4-BE49-F238E27FC236}">
                    <a16:creationId xmlns:a16="http://schemas.microsoft.com/office/drawing/2014/main" id="{FA143CEF-0639-C6BC-2CAF-93F24CB2F930}"/>
                  </a:ext>
                </a:extLst>
              </p:cNvPr>
              <p:cNvSpPr txBox="1">
                <a:spLocks noChangeArrowheads="1"/>
              </p:cNvSpPr>
              <p:nvPr/>
            </p:nvSpPr>
            <p:spPr bwMode="auto">
              <a:xfrm>
                <a:off x="3876675" y="1295400"/>
                <a:ext cx="847725" cy="25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Employee</a:t>
                </a:r>
              </a:p>
            </p:txBody>
          </p:sp>
        </p:grpSp>
        <p:sp>
          <p:nvSpPr>
            <p:cNvPr id="37" name="Rectangle 184">
              <a:extLst>
                <a:ext uri="{FF2B5EF4-FFF2-40B4-BE49-F238E27FC236}">
                  <a16:creationId xmlns:a16="http://schemas.microsoft.com/office/drawing/2014/main" id="{810C77E5-B460-BD4D-3576-36350D913A9D}"/>
                </a:ext>
              </a:extLst>
            </p:cNvPr>
            <p:cNvSpPr>
              <a:spLocks noChangeArrowheads="1"/>
            </p:cNvSpPr>
            <p:nvPr/>
          </p:nvSpPr>
          <p:spPr bwMode="auto">
            <a:xfrm>
              <a:off x="152400" y="1143000"/>
              <a:ext cx="31242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tabLst>
                  <a:tab pos="30861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0861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0861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0861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0861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9pPr>
            </a:lstStyle>
            <a:p>
              <a:pPr eaLnBrk="1" hangingPunct="1">
                <a:buClr>
                  <a:schemeClr val="accent1"/>
                </a:buClr>
                <a:buSzPct val="90000"/>
                <a:buFont typeface="Wingdings" panose="05000000000000000000" pitchFamily="2" charset="2"/>
                <a:buNone/>
              </a:pPr>
              <a:r>
                <a:rPr lang="en-US" altLang="en-US" sz="800">
                  <a:solidFill>
                    <a:srgbClr val="FF0000"/>
                  </a:solidFill>
                  <a:latin typeface="Roboto" panose="02000000000000000000" pitchFamily="2" charset="0"/>
                  <a:ea typeface="Roboto" panose="02000000000000000000" pitchFamily="2" charset="0"/>
                </a:rPr>
                <a:t>	            40 work days</a:t>
              </a:r>
            </a:p>
            <a:p>
              <a:pPr eaLnBrk="1" hangingPunct="1">
                <a:lnSpc>
                  <a:spcPct val="75000"/>
                </a:lnSpc>
                <a:buClr>
                  <a:schemeClr val="accent1"/>
                </a:buClr>
                <a:buSzPct val="90000"/>
                <a:buFont typeface="Wingdings" panose="05000000000000000000" pitchFamily="2" charset="2"/>
                <a:buNone/>
              </a:pPr>
              <a:r>
                <a:rPr lang="en-US" altLang="en-US" sz="800">
                  <a:solidFill>
                    <a:srgbClr val="FF0000"/>
                  </a:solidFill>
                  <a:latin typeface="Roboto" panose="02000000000000000000" pitchFamily="2" charset="0"/>
                  <a:ea typeface="Roboto" panose="02000000000000000000" pitchFamily="2" charset="0"/>
                </a:rPr>
                <a:t>Takt Time= </a:t>
              </a:r>
              <a:r>
                <a:rPr lang="en-US" altLang="en-US" sz="800" baseline="30000">
                  <a:solidFill>
                    <a:srgbClr val="FF0000"/>
                  </a:solidFill>
                  <a:latin typeface="Roboto" panose="02000000000000000000" pitchFamily="2" charset="0"/>
                  <a:ea typeface="Roboto" panose="02000000000000000000" pitchFamily="2" charset="0"/>
                </a:rPr>
                <a:t>_____________________________ </a:t>
              </a:r>
              <a:r>
                <a:rPr lang="en-US" altLang="en-US" sz="800">
                  <a:solidFill>
                    <a:srgbClr val="FF0000"/>
                  </a:solidFill>
                  <a:latin typeface="Roboto" panose="02000000000000000000" pitchFamily="2" charset="0"/>
                  <a:ea typeface="Roboto" panose="02000000000000000000" pitchFamily="2" charset="0"/>
                </a:rPr>
                <a:t>=  0.27 work days = 130 min.</a:t>
              </a:r>
            </a:p>
            <a:p>
              <a:pPr eaLnBrk="1" hangingPunct="1">
                <a:lnSpc>
                  <a:spcPct val="75000"/>
                </a:lnSpc>
                <a:buClr>
                  <a:schemeClr val="accent1"/>
                </a:buClr>
                <a:buSzPct val="90000"/>
                <a:buFont typeface="Wingdings" panose="05000000000000000000" pitchFamily="2" charset="2"/>
                <a:buNone/>
              </a:pPr>
              <a:r>
                <a:rPr lang="en-US" altLang="en-US" sz="800">
                  <a:solidFill>
                    <a:srgbClr val="FF0000"/>
                  </a:solidFill>
                  <a:latin typeface="Roboto" panose="02000000000000000000" pitchFamily="2" charset="0"/>
                  <a:ea typeface="Roboto" panose="02000000000000000000" pitchFamily="2" charset="0"/>
                </a:rPr>
                <a:t>    	            150 reviews</a:t>
              </a:r>
            </a:p>
          </p:txBody>
        </p:sp>
        <p:sp>
          <p:nvSpPr>
            <p:cNvPr id="38" name="Rectangle 121">
              <a:extLst>
                <a:ext uri="{FF2B5EF4-FFF2-40B4-BE49-F238E27FC236}">
                  <a16:creationId xmlns:a16="http://schemas.microsoft.com/office/drawing/2014/main" id="{721283EC-8DC5-F23B-5A19-BA51002E6BCE}"/>
                </a:ext>
              </a:extLst>
            </p:cNvPr>
            <p:cNvSpPr>
              <a:spLocks noChangeArrowheads="1"/>
            </p:cNvSpPr>
            <p:nvPr/>
          </p:nvSpPr>
          <p:spPr bwMode="auto">
            <a:xfrm>
              <a:off x="5867400" y="2441575"/>
              <a:ext cx="7588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Acct </a:t>
              </a:r>
            </a:p>
            <a:p>
              <a:pPr eaLnBrk="1" hangingPunct="1"/>
              <a:r>
                <a:rPr lang="en-US" altLang="en-US" sz="900">
                  <a:latin typeface="Roboto" panose="02000000000000000000" pitchFamily="2" charset="0"/>
                  <a:ea typeface="Roboto" panose="02000000000000000000" pitchFamily="2" charset="0"/>
                </a:rPr>
                <a:t>Database</a:t>
              </a:r>
            </a:p>
          </p:txBody>
        </p:sp>
        <p:sp>
          <p:nvSpPr>
            <p:cNvPr id="39" name="Rectangle 121">
              <a:extLst>
                <a:ext uri="{FF2B5EF4-FFF2-40B4-BE49-F238E27FC236}">
                  <a16:creationId xmlns:a16="http://schemas.microsoft.com/office/drawing/2014/main" id="{82802D60-6269-C917-1799-44BBB84AC8CD}"/>
                </a:ext>
              </a:extLst>
            </p:cNvPr>
            <p:cNvSpPr>
              <a:spLocks noChangeArrowheads="1"/>
            </p:cNvSpPr>
            <p:nvPr/>
          </p:nvSpPr>
          <p:spPr bwMode="auto">
            <a:xfrm>
              <a:off x="3962400" y="19812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Ops Budget</a:t>
              </a:r>
            </a:p>
            <a:p>
              <a:pPr eaLnBrk="1" hangingPunct="1"/>
              <a:r>
                <a:rPr lang="en-US" altLang="en-US" sz="900">
                  <a:latin typeface="Roboto" panose="02000000000000000000" pitchFamily="2" charset="0"/>
                  <a:ea typeface="Roboto" panose="02000000000000000000" pitchFamily="2" charset="0"/>
                </a:rPr>
                <a:t>Database</a:t>
              </a:r>
            </a:p>
          </p:txBody>
        </p:sp>
        <p:grpSp>
          <p:nvGrpSpPr>
            <p:cNvPr id="40" name="Group 130">
              <a:extLst>
                <a:ext uri="{FF2B5EF4-FFF2-40B4-BE49-F238E27FC236}">
                  <a16:creationId xmlns:a16="http://schemas.microsoft.com/office/drawing/2014/main" id="{6107B930-080B-ED95-1FC3-1D46586318C5}"/>
                </a:ext>
              </a:extLst>
            </p:cNvPr>
            <p:cNvGrpSpPr>
              <a:grpSpLocks/>
            </p:cNvGrpSpPr>
            <p:nvPr/>
          </p:nvGrpSpPr>
          <p:grpSpPr bwMode="auto">
            <a:xfrm rot="-5563580">
              <a:off x="6408738" y="3190875"/>
              <a:ext cx="588962" cy="280988"/>
              <a:chOff x="636" y="2054"/>
              <a:chExt cx="200" cy="298"/>
            </a:xfrm>
          </p:grpSpPr>
          <p:sp>
            <p:nvSpPr>
              <p:cNvPr id="41" name="Line 131">
                <a:extLst>
                  <a:ext uri="{FF2B5EF4-FFF2-40B4-BE49-F238E27FC236}">
                    <a16:creationId xmlns:a16="http://schemas.microsoft.com/office/drawing/2014/main" id="{920446D3-3A3F-9EAF-D14D-92D1EB2F125D}"/>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2" name="Line 132">
                <a:extLst>
                  <a:ext uri="{FF2B5EF4-FFF2-40B4-BE49-F238E27FC236}">
                    <a16:creationId xmlns:a16="http://schemas.microsoft.com/office/drawing/2014/main" id="{3B4CBB83-9DDF-A519-FD3A-281A198C657D}"/>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3" name="Line 133">
                <a:extLst>
                  <a:ext uri="{FF2B5EF4-FFF2-40B4-BE49-F238E27FC236}">
                    <a16:creationId xmlns:a16="http://schemas.microsoft.com/office/drawing/2014/main" id="{37938A82-512C-D729-03F4-157C2C7811B7}"/>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44" name="Rectangle 6">
              <a:extLst>
                <a:ext uri="{FF2B5EF4-FFF2-40B4-BE49-F238E27FC236}">
                  <a16:creationId xmlns:a16="http://schemas.microsoft.com/office/drawing/2014/main" id="{15DCA4D8-8C81-4670-3EFF-4E1AD88C7307}"/>
                </a:ext>
              </a:extLst>
            </p:cNvPr>
            <p:cNvSpPr>
              <a:spLocks noChangeArrowheads="1"/>
            </p:cNvSpPr>
            <p:nvPr/>
          </p:nvSpPr>
          <p:spPr bwMode="auto">
            <a:xfrm>
              <a:off x="6858000" y="2438400"/>
              <a:ext cx="7588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45" name="Text Box 117">
              <a:extLst>
                <a:ext uri="{FF2B5EF4-FFF2-40B4-BE49-F238E27FC236}">
                  <a16:creationId xmlns:a16="http://schemas.microsoft.com/office/drawing/2014/main" id="{7CE2EF1C-D1E6-E3D1-F9F0-7B385AB90F59}"/>
                </a:ext>
              </a:extLst>
            </p:cNvPr>
            <p:cNvSpPr txBox="1">
              <a:spLocks noChangeArrowheads="1"/>
            </p:cNvSpPr>
            <p:nvPr/>
          </p:nvSpPr>
          <p:spPr bwMode="auto">
            <a:xfrm>
              <a:off x="6848475" y="2590801"/>
              <a:ext cx="847725" cy="25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CFO Review</a:t>
              </a:r>
            </a:p>
          </p:txBody>
        </p:sp>
        <p:cxnSp>
          <p:nvCxnSpPr>
            <p:cNvPr id="46" name="AutoShape 142">
              <a:extLst>
                <a:ext uri="{FF2B5EF4-FFF2-40B4-BE49-F238E27FC236}">
                  <a16:creationId xmlns:a16="http://schemas.microsoft.com/office/drawing/2014/main" id="{92001706-9D3A-8CE1-13BF-2CE44D5B9156}"/>
                </a:ext>
              </a:extLst>
            </p:cNvPr>
            <p:cNvCxnSpPr>
              <a:cxnSpLocks noChangeShapeType="1"/>
            </p:cNvCxnSpPr>
            <p:nvPr/>
          </p:nvCxnSpPr>
          <p:spPr bwMode="auto">
            <a:xfrm rot="5400000" flipH="1">
              <a:off x="6525419" y="3037681"/>
              <a:ext cx="846138" cy="180975"/>
            </a:xfrm>
            <a:prstGeom prst="bentConnector3">
              <a:avLst>
                <a:gd name="adj1" fmla="val 4990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7" name="AutoShape 143">
              <a:extLst>
                <a:ext uri="{FF2B5EF4-FFF2-40B4-BE49-F238E27FC236}">
                  <a16:creationId xmlns:a16="http://schemas.microsoft.com/office/drawing/2014/main" id="{F2A96206-520D-17B1-0ACB-2D38BBFBC29F}"/>
                </a:ext>
              </a:extLst>
            </p:cNvPr>
            <p:cNvCxnSpPr>
              <a:cxnSpLocks noChangeShapeType="1"/>
            </p:cNvCxnSpPr>
            <p:nvPr/>
          </p:nvCxnSpPr>
          <p:spPr bwMode="auto">
            <a:xfrm rot="5400000">
              <a:off x="7152481" y="3096419"/>
              <a:ext cx="854075" cy="7143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48" name="Group 130">
              <a:extLst>
                <a:ext uri="{FF2B5EF4-FFF2-40B4-BE49-F238E27FC236}">
                  <a16:creationId xmlns:a16="http://schemas.microsoft.com/office/drawing/2014/main" id="{0887DE12-1A5B-F1E1-A084-F1C010855D86}"/>
                </a:ext>
              </a:extLst>
            </p:cNvPr>
            <p:cNvGrpSpPr>
              <a:grpSpLocks/>
            </p:cNvGrpSpPr>
            <p:nvPr/>
          </p:nvGrpSpPr>
          <p:grpSpPr bwMode="auto">
            <a:xfrm rot="-2538423">
              <a:off x="4678363" y="2662238"/>
              <a:ext cx="488950" cy="909637"/>
              <a:chOff x="636" y="2054"/>
              <a:chExt cx="200" cy="298"/>
            </a:xfrm>
          </p:grpSpPr>
          <p:sp>
            <p:nvSpPr>
              <p:cNvPr id="49" name="Line 131">
                <a:extLst>
                  <a:ext uri="{FF2B5EF4-FFF2-40B4-BE49-F238E27FC236}">
                    <a16:creationId xmlns:a16="http://schemas.microsoft.com/office/drawing/2014/main" id="{FBAF5673-064D-D14E-4C67-07176CF73D2E}"/>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0" name="Line 132">
                <a:extLst>
                  <a:ext uri="{FF2B5EF4-FFF2-40B4-BE49-F238E27FC236}">
                    <a16:creationId xmlns:a16="http://schemas.microsoft.com/office/drawing/2014/main" id="{49358789-8A57-5760-C478-ABDB3E88B958}"/>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1" name="Line 133">
                <a:extLst>
                  <a:ext uri="{FF2B5EF4-FFF2-40B4-BE49-F238E27FC236}">
                    <a16:creationId xmlns:a16="http://schemas.microsoft.com/office/drawing/2014/main" id="{526E829F-8A2E-F4B0-B23A-F1A46EBF6647}"/>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52" name="Rectangle 121">
              <a:extLst>
                <a:ext uri="{FF2B5EF4-FFF2-40B4-BE49-F238E27FC236}">
                  <a16:creationId xmlns:a16="http://schemas.microsoft.com/office/drawing/2014/main" id="{65BF2B1E-B0E5-C24F-7069-FCA5E52BE30E}"/>
                </a:ext>
              </a:extLst>
            </p:cNvPr>
            <p:cNvSpPr>
              <a:spLocks noChangeArrowheads="1"/>
            </p:cNvSpPr>
            <p:nvPr/>
          </p:nvSpPr>
          <p:spPr bwMode="auto">
            <a:xfrm>
              <a:off x="838200" y="17526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HR</a:t>
              </a:r>
            </a:p>
            <a:p>
              <a:pPr eaLnBrk="1" hangingPunct="1"/>
              <a:r>
                <a:rPr lang="en-US" altLang="en-US" sz="900">
                  <a:latin typeface="Roboto" panose="02000000000000000000" pitchFamily="2" charset="0"/>
                  <a:ea typeface="Roboto" panose="02000000000000000000" pitchFamily="2" charset="0"/>
                </a:rPr>
                <a:t>Employee</a:t>
              </a:r>
            </a:p>
            <a:p>
              <a:pPr eaLnBrk="1" hangingPunct="1"/>
              <a:r>
                <a:rPr lang="en-US" altLang="en-US" sz="900">
                  <a:latin typeface="Roboto" panose="02000000000000000000" pitchFamily="2" charset="0"/>
                  <a:ea typeface="Roboto" panose="02000000000000000000" pitchFamily="2" charset="0"/>
                </a:rPr>
                <a:t>Database</a:t>
              </a:r>
            </a:p>
          </p:txBody>
        </p:sp>
        <p:grpSp>
          <p:nvGrpSpPr>
            <p:cNvPr id="53" name="Group 138">
              <a:extLst>
                <a:ext uri="{FF2B5EF4-FFF2-40B4-BE49-F238E27FC236}">
                  <a16:creationId xmlns:a16="http://schemas.microsoft.com/office/drawing/2014/main" id="{11E40290-E76D-78B9-C64A-B9C07087DF2D}"/>
                </a:ext>
              </a:extLst>
            </p:cNvPr>
            <p:cNvGrpSpPr>
              <a:grpSpLocks/>
            </p:cNvGrpSpPr>
            <p:nvPr/>
          </p:nvGrpSpPr>
          <p:grpSpPr bwMode="auto">
            <a:xfrm rot="-467072">
              <a:off x="1916113" y="1565275"/>
              <a:ext cx="1744662" cy="276225"/>
              <a:chOff x="636" y="2054"/>
              <a:chExt cx="200" cy="298"/>
            </a:xfrm>
          </p:grpSpPr>
          <p:sp>
            <p:nvSpPr>
              <p:cNvPr id="54" name="Line 139">
                <a:extLst>
                  <a:ext uri="{FF2B5EF4-FFF2-40B4-BE49-F238E27FC236}">
                    <a16:creationId xmlns:a16="http://schemas.microsoft.com/office/drawing/2014/main" id="{A1C3E5C2-EDCD-9887-9530-D17D9214A7FA}"/>
                  </a:ext>
                </a:extLst>
              </p:cNvPr>
              <p:cNvSpPr>
                <a:spLocks noChangeShapeType="1"/>
              </p:cNvSpPr>
              <p:nvPr/>
            </p:nvSpPr>
            <p:spPr bwMode="auto">
              <a:xfrm flipV="1">
                <a:off x="740" y="2054"/>
                <a:ext cx="96" cy="19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5" name="Line 140">
                <a:extLst>
                  <a:ext uri="{FF2B5EF4-FFF2-40B4-BE49-F238E27FC236}">
                    <a16:creationId xmlns:a16="http://schemas.microsoft.com/office/drawing/2014/main" id="{9985A8B0-A2D6-C687-76B4-70068F3E7BD8}"/>
                  </a:ext>
                </a:extLst>
              </p:cNvPr>
              <p:cNvSpPr>
                <a:spLocks noChangeShapeType="1"/>
              </p:cNvSpPr>
              <p:nvPr/>
            </p:nvSpPr>
            <p:spPr bwMode="auto">
              <a:xfrm>
                <a:off x="732" y="2160"/>
                <a:ext cx="6" cy="90"/>
              </a:xfrm>
              <a:prstGeom prst="line">
                <a:avLst/>
              </a:prstGeom>
              <a:noFill/>
              <a:ln w="12700" cap="sq">
                <a:solidFill>
                  <a:schemeClr val="tx1"/>
                </a:solidFill>
                <a:round/>
                <a:headEnd/>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6" name="Line 141">
                <a:extLst>
                  <a:ext uri="{FF2B5EF4-FFF2-40B4-BE49-F238E27FC236}">
                    <a16:creationId xmlns:a16="http://schemas.microsoft.com/office/drawing/2014/main" id="{4CEA03FA-A2FA-F837-9FE2-04EB11E19E5B}"/>
                  </a:ext>
                </a:extLst>
              </p:cNvPr>
              <p:cNvSpPr>
                <a:spLocks noChangeShapeType="1"/>
              </p:cNvSpPr>
              <p:nvPr/>
            </p:nvSpPr>
            <p:spPr bwMode="auto">
              <a:xfrm flipV="1">
                <a:off x="636" y="2160"/>
                <a:ext cx="96" cy="192"/>
              </a:xfrm>
              <a:prstGeom prst="line">
                <a:avLst/>
              </a:prstGeom>
              <a:noFill/>
              <a:ln w="12700" cap="sq">
                <a:solidFill>
                  <a:schemeClr val="tx1"/>
                </a:solidFill>
                <a:round/>
                <a:headEnd type="none" w="lg" len="lg"/>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57" name="Line 7">
              <a:extLst>
                <a:ext uri="{FF2B5EF4-FFF2-40B4-BE49-F238E27FC236}">
                  <a16:creationId xmlns:a16="http://schemas.microsoft.com/office/drawing/2014/main" id="{8A9017ED-E4A2-BEE5-CF25-1B731CB70871}"/>
                </a:ext>
              </a:extLst>
            </p:cNvPr>
            <p:cNvSpPr>
              <a:spLocks noChangeShapeType="1"/>
            </p:cNvSpPr>
            <p:nvPr/>
          </p:nvSpPr>
          <p:spPr bwMode="auto">
            <a:xfrm rot="600000" flipV="1">
              <a:off x="4368800" y="4135438"/>
              <a:ext cx="300038" cy="312737"/>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8" name="Line 7">
              <a:extLst>
                <a:ext uri="{FF2B5EF4-FFF2-40B4-BE49-F238E27FC236}">
                  <a16:creationId xmlns:a16="http://schemas.microsoft.com/office/drawing/2014/main" id="{79408B0A-AA7A-B36D-3D39-8E96185AD28A}"/>
                </a:ext>
              </a:extLst>
            </p:cNvPr>
            <p:cNvSpPr>
              <a:spLocks noChangeShapeType="1"/>
            </p:cNvSpPr>
            <p:nvPr/>
          </p:nvSpPr>
          <p:spPr bwMode="auto">
            <a:xfrm rot="11400000" flipH="1" flipV="1">
              <a:off x="3213100" y="4068763"/>
              <a:ext cx="381000" cy="39687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9" name="Rectangle 6">
              <a:extLst>
                <a:ext uri="{FF2B5EF4-FFF2-40B4-BE49-F238E27FC236}">
                  <a16:creationId xmlns:a16="http://schemas.microsoft.com/office/drawing/2014/main" id="{4D42673F-8B14-DACE-8635-1A9C3D763BCA}"/>
                </a:ext>
              </a:extLst>
            </p:cNvPr>
            <p:cNvSpPr>
              <a:spLocks noChangeArrowheads="1"/>
            </p:cNvSpPr>
            <p:nvPr/>
          </p:nvSpPr>
          <p:spPr bwMode="auto">
            <a:xfrm>
              <a:off x="7848600" y="15240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Payroll</a:t>
              </a:r>
            </a:p>
            <a:p>
              <a:pPr eaLnBrk="1" hangingPunct="1"/>
              <a:r>
                <a:rPr lang="en-US" altLang="en-US" sz="900">
                  <a:latin typeface="Roboto" panose="02000000000000000000" pitchFamily="2" charset="0"/>
                  <a:ea typeface="Roboto" panose="02000000000000000000" pitchFamily="2" charset="0"/>
                </a:rPr>
                <a:t>Vendor</a:t>
              </a:r>
            </a:p>
          </p:txBody>
        </p:sp>
        <p:grpSp>
          <p:nvGrpSpPr>
            <p:cNvPr id="60" name="Group 130">
              <a:extLst>
                <a:ext uri="{FF2B5EF4-FFF2-40B4-BE49-F238E27FC236}">
                  <a16:creationId xmlns:a16="http://schemas.microsoft.com/office/drawing/2014/main" id="{FA3D923F-8B3D-7902-1135-7F4878FC225D}"/>
                </a:ext>
              </a:extLst>
            </p:cNvPr>
            <p:cNvGrpSpPr>
              <a:grpSpLocks/>
            </p:cNvGrpSpPr>
            <p:nvPr/>
          </p:nvGrpSpPr>
          <p:grpSpPr bwMode="auto">
            <a:xfrm rot="-3733062">
              <a:off x="7641432" y="2467768"/>
              <a:ext cx="1371600" cy="703263"/>
              <a:chOff x="636" y="2054"/>
              <a:chExt cx="200" cy="298"/>
            </a:xfrm>
          </p:grpSpPr>
          <p:sp>
            <p:nvSpPr>
              <p:cNvPr id="61" name="Line 131">
                <a:extLst>
                  <a:ext uri="{FF2B5EF4-FFF2-40B4-BE49-F238E27FC236}">
                    <a16:creationId xmlns:a16="http://schemas.microsoft.com/office/drawing/2014/main" id="{088A2709-1666-338E-D6E8-47786581BECB}"/>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2" name="Line 132">
                <a:extLst>
                  <a:ext uri="{FF2B5EF4-FFF2-40B4-BE49-F238E27FC236}">
                    <a16:creationId xmlns:a16="http://schemas.microsoft.com/office/drawing/2014/main" id="{402FB307-166E-FA57-CE4E-A27BBEEE6387}"/>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3" name="Line 133">
                <a:extLst>
                  <a:ext uri="{FF2B5EF4-FFF2-40B4-BE49-F238E27FC236}">
                    <a16:creationId xmlns:a16="http://schemas.microsoft.com/office/drawing/2014/main" id="{D1AD3351-2280-DB12-0B31-A69CDFEE3413}"/>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cxnSp>
          <p:nvCxnSpPr>
            <p:cNvPr id="64" name="AutoShape 123">
              <a:extLst>
                <a:ext uri="{FF2B5EF4-FFF2-40B4-BE49-F238E27FC236}">
                  <a16:creationId xmlns:a16="http://schemas.microsoft.com/office/drawing/2014/main" id="{0E27FFE3-DF1D-340F-DBCF-B59D5867D251}"/>
                </a:ext>
              </a:extLst>
            </p:cNvPr>
            <p:cNvCxnSpPr>
              <a:cxnSpLocks noChangeShapeType="1"/>
            </p:cNvCxnSpPr>
            <p:nvPr/>
          </p:nvCxnSpPr>
          <p:spPr bwMode="auto">
            <a:xfrm rot="10800000">
              <a:off x="4876800" y="1524000"/>
              <a:ext cx="2819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AutoShape 123">
              <a:extLst>
                <a:ext uri="{FF2B5EF4-FFF2-40B4-BE49-F238E27FC236}">
                  <a16:creationId xmlns:a16="http://schemas.microsoft.com/office/drawing/2014/main" id="{254CD000-2429-C694-DE4D-9064B72A860A}"/>
                </a:ext>
              </a:extLst>
            </p:cNvPr>
            <p:cNvCxnSpPr>
              <a:cxnSpLocks noChangeShapeType="1"/>
            </p:cNvCxnSpPr>
            <p:nvPr/>
          </p:nvCxnSpPr>
          <p:spPr bwMode="auto">
            <a:xfrm rot="10800000" flipV="1">
              <a:off x="1371600" y="1524000"/>
              <a:ext cx="2362200" cy="20574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6" name="Text Box 1020">
              <a:extLst>
                <a:ext uri="{FF2B5EF4-FFF2-40B4-BE49-F238E27FC236}">
                  <a16:creationId xmlns:a16="http://schemas.microsoft.com/office/drawing/2014/main" id="{66718F98-64FC-4114-ECF0-8439DA4904FE}"/>
                </a:ext>
              </a:extLst>
            </p:cNvPr>
            <p:cNvSpPr txBox="1">
              <a:spLocks noChangeArrowheads="1"/>
            </p:cNvSpPr>
            <p:nvPr/>
          </p:nvSpPr>
          <p:spPr bwMode="auto">
            <a:xfrm>
              <a:off x="2971800" y="533400"/>
              <a:ext cx="2331283" cy="33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30000"/>
                </a:spcBef>
              </a:pPr>
              <a:r>
                <a:rPr lang="en-US" altLang="en-US" sz="1400">
                  <a:latin typeface="Roboto" panose="02000000000000000000" pitchFamily="2" charset="0"/>
                  <a:ea typeface="Roboto" panose="02000000000000000000" pitchFamily="2" charset="0"/>
                </a:rPr>
                <a:t>Performance Review Current State</a:t>
              </a:r>
            </a:p>
          </p:txBody>
        </p:sp>
        <p:grpSp>
          <p:nvGrpSpPr>
            <p:cNvPr id="67" name="Group 157">
              <a:extLst>
                <a:ext uri="{FF2B5EF4-FFF2-40B4-BE49-F238E27FC236}">
                  <a16:creationId xmlns:a16="http://schemas.microsoft.com/office/drawing/2014/main" id="{B5C6740D-24FF-5B52-91DE-906BB8F41E22}"/>
                </a:ext>
              </a:extLst>
            </p:cNvPr>
            <p:cNvGrpSpPr>
              <a:grpSpLocks/>
            </p:cNvGrpSpPr>
            <p:nvPr/>
          </p:nvGrpSpPr>
          <p:grpSpPr bwMode="auto">
            <a:xfrm>
              <a:off x="3556000" y="4191000"/>
              <a:ext cx="762000" cy="1252538"/>
              <a:chOff x="4158400" y="4191000"/>
              <a:chExt cx="907082" cy="1252538"/>
            </a:xfrm>
          </p:grpSpPr>
          <p:sp>
            <p:nvSpPr>
              <p:cNvPr id="68" name="Rectangle 42">
                <a:extLst>
                  <a:ext uri="{FF2B5EF4-FFF2-40B4-BE49-F238E27FC236}">
                    <a16:creationId xmlns:a16="http://schemas.microsoft.com/office/drawing/2014/main" id="{74B331CF-CD0F-AADB-0DC7-70791B5FD0AE}"/>
                  </a:ext>
                </a:extLst>
              </p:cNvPr>
              <p:cNvSpPr>
                <a:spLocks noChangeArrowheads="1"/>
              </p:cNvSpPr>
              <p:nvPr/>
            </p:nvSpPr>
            <p:spPr bwMode="auto">
              <a:xfrm>
                <a:off x="4169519" y="4800600"/>
                <a:ext cx="859681" cy="642938"/>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69" name="Rectangle 121">
                <a:extLst>
                  <a:ext uri="{FF2B5EF4-FFF2-40B4-BE49-F238E27FC236}">
                    <a16:creationId xmlns:a16="http://schemas.microsoft.com/office/drawing/2014/main" id="{9E7620DC-26DD-B4E4-9771-8C1D856713B3}"/>
                  </a:ext>
                </a:extLst>
              </p:cNvPr>
              <p:cNvSpPr>
                <a:spLocks noChangeArrowheads="1"/>
              </p:cNvSpPr>
              <p:nvPr/>
            </p:nvSpPr>
            <p:spPr bwMode="auto">
              <a:xfrm>
                <a:off x="4161946" y="4191000"/>
                <a:ext cx="867254"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Amended</a:t>
                </a:r>
              </a:p>
              <a:p>
                <a:pPr eaLnBrk="1" hangingPunct="1"/>
                <a:r>
                  <a:rPr lang="en-US" altLang="en-US" sz="900">
                    <a:latin typeface="Roboto" panose="02000000000000000000" pitchFamily="2" charset="0"/>
                    <a:ea typeface="Roboto" panose="02000000000000000000" pitchFamily="2" charset="0"/>
                  </a:rPr>
                  <a:t>Review</a:t>
                </a:r>
              </a:p>
            </p:txBody>
          </p:sp>
          <p:sp>
            <p:nvSpPr>
              <p:cNvPr id="70" name="Rectangle 43">
                <a:extLst>
                  <a:ext uri="{FF2B5EF4-FFF2-40B4-BE49-F238E27FC236}">
                    <a16:creationId xmlns:a16="http://schemas.microsoft.com/office/drawing/2014/main" id="{0BE68121-7AD5-5434-BA95-780C68876B4D}"/>
                  </a:ext>
                </a:extLst>
              </p:cNvPr>
              <p:cNvSpPr>
                <a:spLocks noChangeArrowheads="1"/>
              </p:cNvSpPr>
              <p:nvPr/>
            </p:nvSpPr>
            <p:spPr bwMode="auto">
              <a:xfrm>
                <a:off x="4158400" y="4816475"/>
                <a:ext cx="907082" cy="50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0 D</a:t>
                </a:r>
              </a:p>
              <a:p>
                <a:pPr eaLnBrk="1" hangingPunct="1">
                  <a:lnSpc>
                    <a:spcPct val="125000"/>
                  </a:lnSpc>
                </a:pPr>
                <a:r>
                  <a:rPr lang="en-US" altLang="en-US" sz="500">
                    <a:latin typeface="Roboto" panose="02000000000000000000" pitchFamily="2" charset="0"/>
                    <a:ea typeface="Roboto" panose="02000000000000000000" pitchFamily="2" charset="0"/>
                  </a:rPr>
                  <a:t>Processing Time =  30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grpSp>
        <p:sp>
          <p:nvSpPr>
            <p:cNvPr id="71" name="Text Box 139">
              <a:extLst>
                <a:ext uri="{FF2B5EF4-FFF2-40B4-BE49-F238E27FC236}">
                  <a16:creationId xmlns:a16="http://schemas.microsoft.com/office/drawing/2014/main" id="{5DA010E7-B788-A631-175D-0249454E9522}"/>
                </a:ext>
              </a:extLst>
            </p:cNvPr>
            <p:cNvSpPr txBox="1">
              <a:spLocks noChangeArrowheads="1"/>
            </p:cNvSpPr>
            <p:nvPr/>
          </p:nvSpPr>
          <p:spPr bwMode="auto">
            <a:xfrm>
              <a:off x="3784600" y="3657600"/>
              <a:ext cx="603250" cy="25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50% </a:t>
              </a:r>
            </a:p>
          </p:txBody>
        </p:sp>
        <p:sp>
          <p:nvSpPr>
            <p:cNvPr id="72" name="Text Box 140">
              <a:extLst>
                <a:ext uri="{FF2B5EF4-FFF2-40B4-BE49-F238E27FC236}">
                  <a16:creationId xmlns:a16="http://schemas.microsoft.com/office/drawing/2014/main" id="{CBA8E6C7-A2C0-D9DC-CE23-BF3E551167B1}"/>
                </a:ext>
              </a:extLst>
            </p:cNvPr>
            <p:cNvSpPr txBox="1">
              <a:spLocks noChangeArrowheads="1"/>
            </p:cNvSpPr>
            <p:nvPr/>
          </p:nvSpPr>
          <p:spPr bwMode="auto">
            <a:xfrm>
              <a:off x="3327400" y="3962400"/>
              <a:ext cx="431800" cy="25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50% </a:t>
              </a:r>
            </a:p>
          </p:txBody>
        </p:sp>
        <p:grpSp>
          <p:nvGrpSpPr>
            <p:cNvPr id="73" name="Group 149">
              <a:extLst>
                <a:ext uri="{FF2B5EF4-FFF2-40B4-BE49-F238E27FC236}">
                  <a16:creationId xmlns:a16="http://schemas.microsoft.com/office/drawing/2014/main" id="{6B4F23C2-13A9-2178-5DC7-F562042D7476}"/>
                </a:ext>
              </a:extLst>
            </p:cNvPr>
            <p:cNvGrpSpPr>
              <a:grpSpLocks/>
            </p:cNvGrpSpPr>
            <p:nvPr/>
          </p:nvGrpSpPr>
          <p:grpSpPr bwMode="auto">
            <a:xfrm>
              <a:off x="1447800" y="3657600"/>
              <a:ext cx="762000" cy="1295400"/>
              <a:chOff x="1676400" y="3657600"/>
              <a:chExt cx="952500" cy="1295400"/>
            </a:xfrm>
          </p:grpSpPr>
          <p:sp>
            <p:nvSpPr>
              <p:cNvPr id="74" name="Rectangle 30">
                <a:extLst>
                  <a:ext uri="{FF2B5EF4-FFF2-40B4-BE49-F238E27FC236}">
                    <a16:creationId xmlns:a16="http://schemas.microsoft.com/office/drawing/2014/main" id="{9381C027-7960-E0E2-CD54-DAC8BF386556}"/>
                  </a:ext>
                </a:extLst>
              </p:cNvPr>
              <p:cNvSpPr>
                <a:spLocks noChangeArrowheads="1"/>
              </p:cNvSpPr>
              <p:nvPr/>
            </p:nvSpPr>
            <p:spPr bwMode="auto">
              <a:xfrm>
                <a:off x="1676400" y="3657600"/>
                <a:ext cx="9112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75" name="Text Box 33">
                <a:extLst>
                  <a:ext uri="{FF2B5EF4-FFF2-40B4-BE49-F238E27FC236}">
                    <a16:creationId xmlns:a16="http://schemas.microsoft.com/office/drawing/2014/main" id="{2ABC4AE5-F0C4-2CF4-3710-A579CBE785D0}"/>
                  </a:ext>
                </a:extLst>
              </p:cNvPr>
              <p:cNvSpPr txBox="1">
                <a:spLocks noChangeArrowheads="1"/>
              </p:cNvSpPr>
              <p:nvPr/>
            </p:nvSpPr>
            <p:spPr bwMode="auto">
              <a:xfrm>
                <a:off x="1693863" y="3749675"/>
                <a:ext cx="839788" cy="40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Construct Review</a:t>
                </a:r>
              </a:p>
            </p:txBody>
          </p:sp>
          <p:sp>
            <p:nvSpPr>
              <p:cNvPr id="76" name="Rectangle 42">
                <a:extLst>
                  <a:ext uri="{FF2B5EF4-FFF2-40B4-BE49-F238E27FC236}">
                    <a16:creationId xmlns:a16="http://schemas.microsoft.com/office/drawing/2014/main" id="{4B9E95A3-863B-F536-7461-70CF85612824}"/>
                  </a:ext>
                </a:extLst>
              </p:cNvPr>
              <p:cNvSpPr>
                <a:spLocks noChangeArrowheads="1"/>
              </p:cNvSpPr>
              <p:nvPr/>
            </p:nvSpPr>
            <p:spPr bwMode="auto">
              <a:xfrm>
                <a:off x="1698625" y="4310063"/>
                <a:ext cx="892175"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77" name="Rectangle 43">
                <a:extLst>
                  <a:ext uri="{FF2B5EF4-FFF2-40B4-BE49-F238E27FC236}">
                    <a16:creationId xmlns:a16="http://schemas.microsoft.com/office/drawing/2014/main" id="{564C8FB3-5B43-3084-098C-638088128324}"/>
                  </a:ext>
                </a:extLst>
              </p:cNvPr>
              <p:cNvSpPr>
                <a:spLocks noChangeArrowheads="1"/>
              </p:cNvSpPr>
              <p:nvPr/>
            </p:nvSpPr>
            <p:spPr bwMode="auto">
              <a:xfrm>
                <a:off x="1724025" y="4306888"/>
                <a:ext cx="904875" cy="613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LT=10 D</a:t>
                </a:r>
              </a:p>
              <a:p>
                <a:pPr eaLnBrk="1" hangingPunct="1">
                  <a:lnSpc>
                    <a:spcPct val="125000"/>
                  </a:lnSpc>
                </a:pPr>
                <a:r>
                  <a:rPr lang="en-US" altLang="en-US" sz="500">
                    <a:latin typeface="Roboto" panose="02000000000000000000" pitchFamily="2" charset="0"/>
                    <a:ea typeface="Roboto" panose="02000000000000000000" pitchFamily="2" charset="0"/>
                  </a:rPr>
                  <a:t>Processing Time = 30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grpSp>
        <p:sp>
          <p:nvSpPr>
            <p:cNvPr id="78" name="Rectangle 6">
              <a:extLst>
                <a:ext uri="{FF2B5EF4-FFF2-40B4-BE49-F238E27FC236}">
                  <a16:creationId xmlns:a16="http://schemas.microsoft.com/office/drawing/2014/main" id="{BFCDD91D-ED0C-2556-4933-0236CE53EB22}"/>
                </a:ext>
              </a:extLst>
            </p:cNvPr>
            <p:cNvSpPr>
              <a:spLocks noChangeArrowheads="1"/>
            </p:cNvSpPr>
            <p:nvPr/>
          </p:nvSpPr>
          <p:spPr bwMode="auto">
            <a:xfrm>
              <a:off x="304800" y="2460625"/>
              <a:ext cx="7588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79" name="Text Box 117">
              <a:extLst>
                <a:ext uri="{FF2B5EF4-FFF2-40B4-BE49-F238E27FC236}">
                  <a16:creationId xmlns:a16="http://schemas.microsoft.com/office/drawing/2014/main" id="{F448C7CF-B7C1-C40C-695D-5F4FB43698DE}"/>
                </a:ext>
              </a:extLst>
            </p:cNvPr>
            <p:cNvSpPr txBox="1">
              <a:spLocks noChangeArrowheads="1"/>
            </p:cNvSpPr>
            <p:nvPr/>
          </p:nvSpPr>
          <p:spPr bwMode="auto">
            <a:xfrm>
              <a:off x="333375" y="2525713"/>
              <a:ext cx="847725" cy="40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HR Manager Review</a:t>
              </a:r>
            </a:p>
          </p:txBody>
        </p:sp>
        <p:cxnSp>
          <p:nvCxnSpPr>
            <p:cNvPr id="80" name="AutoShape 142">
              <a:extLst>
                <a:ext uri="{FF2B5EF4-FFF2-40B4-BE49-F238E27FC236}">
                  <a16:creationId xmlns:a16="http://schemas.microsoft.com/office/drawing/2014/main" id="{31FFA209-1925-204E-DA50-EA1C9F3E48EE}"/>
                </a:ext>
              </a:extLst>
            </p:cNvPr>
            <p:cNvCxnSpPr>
              <a:cxnSpLocks noChangeShapeType="1"/>
            </p:cNvCxnSpPr>
            <p:nvPr/>
          </p:nvCxnSpPr>
          <p:spPr bwMode="auto">
            <a:xfrm rot="5400000" flipH="1">
              <a:off x="-27781" y="3059906"/>
              <a:ext cx="846138" cy="180975"/>
            </a:xfrm>
            <a:prstGeom prst="bentConnector3">
              <a:avLst>
                <a:gd name="adj1" fmla="val 4990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81" name="AutoShape 143">
              <a:extLst>
                <a:ext uri="{FF2B5EF4-FFF2-40B4-BE49-F238E27FC236}">
                  <a16:creationId xmlns:a16="http://schemas.microsoft.com/office/drawing/2014/main" id="{60BCF80F-0696-210B-83EE-5C217B2A7C2C}"/>
                </a:ext>
              </a:extLst>
            </p:cNvPr>
            <p:cNvCxnSpPr>
              <a:cxnSpLocks noChangeShapeType="1"/>
            </p:cNvCxnSpPr>
            <p:nvPr/>
          </p:nvCxnSpPr>
          <p:spPr bwMode="auto">
            <a:xfrm rot="5400000">
              <a:off x="599281" y="3118644"/>
              <a:ext cx="854075" cy="7143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2" name="Text Box 102">
              <a:extLst>
                <a:ext uri="{FF2B5EF4-FFF2-40B4-BE49-F238E27FC236}">
                  <a16:creationId xmlns:a16="http://schemas.microsoft.com/office/drawing/2014/main" id="{72EA1E25-1C99-DB68-7D58-7174BFF4D8B5}"/>
                </a:ext>
              </a:extLst>
            </p:cNvPr>
            <p:cNvSpPr txBox="1">
              <a:spLocks noChangeArrowheads="1"/>
            </p:cNvSpPr>
            <p:nvPr/>
          </p:nvSpPr>
          <p:spPr bwMode="auto">
            <a:xfrm>
              <a:off x="6934200" y="5562600"/>
              <a:ext cx="592138"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sp>
          <p:nvSpPr>
            <p:cNvPr id="83" name="Text Box 106">
              <a:extLst>
                <a:ext uri="{FF2B5EF4-FFF2-40B4-BE49-F238E27FC236}">
                  <a16:creationId xmlns:a16="http://schemas.microsoft.com/office/drawing/2014/main" id="{6C8B5F3F-F83D-680E-AD7F-3FD78F516232}"/>
                </a:ext>
              </a:extLst>
            </p:cNvPr>
            <p:cNvSpPr txBox="1">
              <a:spLocks noChangeArrowheads="1"/>
            </p:cNvSpPr>
            <p:nvPr/>
          </p:nvSpPr>
          <p:spPr bwMode="auto">
            <a:xfrm>
              <a:off x="5410200" y="5575300"/>
              <a:ext cx="6223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 Days</a:t>
              </a:r>
            </a:p>
          </p:txBody>
        </p:sp>
        <p:sp>
          <p:nvSpPr>
            <p:cNvPr id="84" name="Text Box 106">
              <a:extLst>
                <a:ext uri="{FF2B5EF4-FFF2-40B4-BE49-F238E27FC236}">
                  <a16:creationId xmlns:a16="http://schemas.microsoft.com/office/drawing/2014/main" id="{E620C0C9-94A4-FD4B-6AD3-1575D527A9B0}"/>
                </a:ext>
              </a:extLst>
            </p:cNvPr>
            <p:cNvSpPr txBox="1">
              <a:spLocks noChangeArrowheads="1"/>
            </p:cNvSpPr>
            <p:nvPr/>
          </p:nvSpPr>
          <p:spPr bwMode="auto">
            <a:xfrm>
              <a:off x="4826000" y="5865813"/>
              <a:ext cx="5842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85" name="Text Box 106">
              <a:extLst>
                <a:ext uri="{FF2B5EF4-FFF2-40B4-BE49-F238E27FC236}">
                  <a16:creationId xmlns:a16="http://schemas.microsoft.com/office/drawing/2014/main" id="{CB8881B6-5B2A-93B1-6EAA-043EFDB38DA8}"/>
                </a:ext>
              </a:extLst>
            </p:cNvPr>
            <p:cNvSpPr txBox="1">
              <a:spLocks noChangeArrowheads="1"/>
            </p:cNvSpPr>
            <p:nvPr/>
          </p:nvSpPr>
          <p:spPr bwMode="auto">
            <a:xfrm>
              <a:off x="4267200" y="5562600"/>
              <a:ext cx="550863"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sp>
          <p:nvSpPr>
            <p:cNvPr id="86" name="Text Box 106">
              <a:extLst>
                <a:ext uri="{FF2B5EF4-FFF2-40B4-BE49-F238E27FC236}">
                  <a16:creationId xmlns:a16="http://schemas.microsoft.com/office/drawing/2014/main" id="{17E55BF9-CF76-608A-2065-5C6D3C69D7AE}"/>
                </a:ext>
              </a:extLst>
            </p:cNvPr>
            <p:cNvSpPr txBox="1">
              <a:spLocks noChangeArrowheads="1"/>
            </p:cNvSpPr>
            <p:nvPr/>
          </p:nvSpPr>
          <p:spPr bwMode="auto">
            <a:xfrm>
              <a:off x="990600" y="5562600"/>
              <a:ext cx="725488"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 Days</a:t>
              </a:r>
            </a:p>
          </p:txBody>
        </p:sp>
        <p:sp>
          <p:nvSpPr>
            <p:cNvPr id="87" name="Line 84">
              <a:extLst>
                <a:ext uri="{FF2B5EF4-FFF2-40B4-BE49-F238E27FC236}">
                  <a16:creationId xmlns:a16="http://schemas.microsoft.com/office/drawing/2014/main" id="{5D29D4B7-9963-883D-E6FF-E8DA2450D33A}"/>
                </a:ext>
              </a:extLst>
            </p:cNvPr>
            <p:cNvSpPr>
              <a:spLocks noChangeShapeType="1"/>
            </p:cNvSpPr>
            <p:nvPr/>
          </p:nvSpPr>
          <p:spPr bwMode="auto">
            <a:xfrm>
              <a:off x="47244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8" name="Line 88">
              <a:extLst>
                <a:ext uri="{FF2B5EF4-FFF2-40B4-BE49-F238E27FC236}">
                  <a16:creationId xmlns:a16="http://schemas.microsoft.com/office/drawing/2014/main" id="{5A794283-1433-B54A-1BCD-3CA9E913A0CF}"/>
                </a:ext>
              </a:extLst>
            </p:cNvPr>
            <p:cNvSpPr>
              <a:spLocks noChangeShapeType="1"/>
            </p:cNvSpPr>
            <p:nvPr/>
          </p:nvSpPr>
          <p:spPr bwMode="auto">
            <a:xfrm>
              <a:off x="57912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9" name="Line 89">
              <a:extLst>
                <a:ext uri="{FF2B5EF4-FFF2-40B4-BE49-F238E27FC236}">
                  <a16:creationId xmlns:a16="http://schemas.microsoft.com/office/drawing/2014/main" id="{570C7686-30B2-C56A-307E-2C6E6C349A3D}"/>
                </a:ext>
              </a:extLst>
            </p:cNvPr>
            <p:cNvSpPr>
              <a:spLocks noChangeShapeType="1"/>
            </p:cNvSpPr>
            <p:nvPr/>
          </p:nvSpPr>
          <p:spPr bwMode="auto">
            <a:xfrm>
              <a:off x="5486400" y="5791200"/>
              <a:ext cx="320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90" name="AutoShape 90">
              <a:extLst>
                <a:ext uri="{FF2B5EF4-FFF2-40B4-BE49-F238E27FC236}">
                  <a16:creationId xmlns:a16="http://schemas.microsoft.com/office/drawing/2014/main" id="{D719E10B-FB11-1FD2-7E0E-F204C452880B}"/>
                </a:ext>
              </a:extLst>
            </p:cNvPr>
            <p:cNvCxnSpPr>
              <a:cxnSpLocks noChangeShapeType="1"/>
            </p:cNvCxnSpPr>
            <p:nvPr/>
          </p:nvCxnSpPr>
          <p:spPr bwMode="auto">
            <a:xfrm rot="16200000" flipH="1">
              <a:off x="5639594" y="5942806"/>
              <a:ext cx="304800" cy="1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91" name="AutoShape 95">
              <a:extLst>
                <a:ext uri="{FF2B5EF4-FFF2-40B4-BE49-F238E27FC236}">
                  <a16:creationId xmlns:a16="http://schemas.microsoft.com/office/drawing/2014/main" id="{B1447D0E-E6EB-05C3-F23D-A686431052E4}"/>
                </a:ext>
              </a:extLst>
            </p:cNvPr>
            <p:cNvCxnSpPr>
              <a:cxnSpLocks noChangeShapeType="1"/>
            </p:cNvCxnSpPr>
            <p:nvPr/>
          </p:nvCxnSpPr>
          <p:spPr bwMode="auto">
            <a:xfrm>
              <a:off x="5791200" y="5789613"/>
              <a:ext cx="758825"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92" name="Text Box 102">
              <a:extLst>
                <a:ext uri="{FF2B5EF4-FFF2-40B4-BE49-F238E27FC236}">
                  <a16:creationId xmlns:a16="http://schemas.microsoft.com/office/drawing/2014/main" id="{A3F6CCFC-46C0-0369-3D2A-165F50FFD51E}"/>
                </a:ext>
              </a:extLst>
            </p:cNvPr>
            <p:cNvSpPr txBox="1">
              <a:spLocks noChangeArrowheads="1"/>
            </p:cNvSpPr>
            <p:nvPr/>
          </p:nvSpPr>
          <p:spPr bwMode="auto">
            <a:xfrm>
              <a:off x="4800600" y="5562600"/>
              <a:ext cx="754063"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cxnSp>
          <p:nvCxnSpPr>
            <p:cNvPr id="93" name="AutoShape 110">
              <a:extLst>
                <a:ext uri="{FF2B5EF4-FFF2-40B4-BE49-F238E27FC236}">
                  <a16:creationId xmlns:a16="http://schemas.microsoft.com/office/drawing/2014/main" id="{8419211A-2475-91FF-D360-F9882B436057}"/>
                </a:ext>
              </a:extLst>
            </p:cNvPr>
            <p:cNvCxnSpPr>
              <a:cxnSpLocks noChangeShapeType="1"/>
            </p:cNvCxnSpPr>
            <p:nvPr/>
          </p:nvCxnSpPr>
          <p:spPr bwMode="auto">
            <a:xfrm>
              <a:off x="4724400" y="5789613"/>
              <a:ext cx="731838"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94" name="Text Box 111">
              <a:extLst>
                <a:ext uri="{FF2B5EF4-FFF2-40B4-BE49-F238E27FC236}">
                  <a16:creationId xmlns:a16="http://schemas.microsoft.com/office/drawing/2014/main" id="{0D208FE4-84DA-D3E4-AE4C-8B54938A0537}"/>
                </a:ext>
              </a:extLst>
            </p:cNvPr>
            <p:cNvSpPr txBox="1">
              <a:spLocks noChangeArrowheads="1"/>
            </p:cNvSpPr>
            <p:nvPr/>
          </p:nvSpPr>
          <p:spPr bwMode="auto">
            <a:xfrm>
              <a:off x="5926138" y="5865813"/>
              <a:ext cx="550862"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min</a:t>
              </a:r>
            </a:p>
          </p:txBody>
        </p:sp>
        <p:sp>
          <p:nvSpPr>
            <p:cNvPr id="95" name="Line 84">
              <a:extLst>
                <a:ext uri="{FF2B5EF4-FFF2-40B4-BE49-F238E27FC236}">
                  <a16:creationId xmlns:a16="http://schemas.microsoft.com/office/drawing/2014/main" id="{93198FE3-103C-23AE-AAD5-11AE8E3BBE8F}"/>
                </a:ext>
              </a:extLst>
            </p:cNvPr>
            <p:cNvSpPr>
              <a:spLocks noChangeShapeType="1"/>
            </p:cNvSpPr>
            <p:nvPr/>
          </p:nvSpPr>
          <p:spPr bwMode="auto">
            <a:xfrm>
              <a:off x="1371600" y="6096000"/>
              <a:ext cx="8413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6" name="Line 85">
              <a:extLst>
                <a:ext uri="{FF2B5EF4-FFF2-40B4-BE49-F238E27FC236}">
                  <a16:creationId xmlns:a16="http://schemas.microsoft.com/office/drawing/2014/main" id="{23DFED14-4408-4F9B-A73C-C6F4075AB096}"/>
                </a:ext>
              </a:extLst>
            </p:cNvPr>
            <p:cNvSpPr>
              <a:spLocks noChangeShapeType="1"/>
            </p:cNvSpPr>
            <p:nvPr/>
          </p:nvSpPr>
          <p:spPr bwMode="auto">
            <a:xfrm>
              <a:off x="1066800" y="5791200"/>
              <a:ext cx="320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7" name="Line 88">
              <a:extLst>
                <a:ext uri="{FF2B5EF4-FFF2-40B4-BE49-F238E27FC236}">
                  <a16:creationId xmlns:a16="http://schemas.microsoft.com/office/drawing/2014/main" id="{C80B267C-4D14-1391-5A86-2CBD12CA0031}"/>
                </a:ext>
              </a:extLst>
            </p:cNvPr>
            <p:cNvSpPr>
              <a:spLocks noChangeShapeType="1"/>
            </p:cNvSpPr>
            <p:nvPr/>
          </p:nvSpPr>
          <p:spPr bwMode="auto">
            <a:xfrm>
              <a:off x="35814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8" name="Line 89">
              <a:extLst>
                <a:ext uri="{FF2B5EF4-FFF2-40B4-BE49-F238E27FC236}">
                  <a16:creationId xmlns:a16="http://schemas.microsoft.com/office/drawing/2014/main" id="{699409F3-951D-6B5A-DC8B-5ABFA5C2D40D}"/>
                </a:ext>
              </a:extLst>
            </p:cNvPr>
            <p:cNvSpPr>
              <a:spLocks noChangeShapeType="1"/>
            </p:cNvSpPr>
            <p:nvPr/>
          </p:nvSpPr>
          <p:spPr bwMode="auto">
            <a:xfrm>
              <a:off x="2209800" y="5791200"/>
              <a:ext cx="274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99" name="AutoShape 91">
              <a:extLst>
                <a:ext uri="{FF2B5EF4-FFF2-40B4-BE49-F238E27FC236}">
                  <a16:creationId xmlns:a16="http://schemas.microsoft.com/office/drawing/2014/main" id="{3E5D0A62-AE9A-094F-BDC5-15A0A55FD8DC}"/>
                </a:ext>
              </a:extLst>
            </p:cNvPr>
            <p:cNvCxnSpPr>
              <a:cxnSpLocks noChangeShapeType="1"/>
            </p:cNvCxnSpPr>
            <p:nvPr/>
          </p:nvCxnSpPr>
          <p:spPr bwMode="auto">
            <a:xfrm rot="5400000">
              <a:off x="2056607" y="5944394"/>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00" name="AutoShape 95">
              <a:extLst>
                <a:ext uri="{FF2B5EF4-FFF2-40B4-BE49-F238E27FC236}">
                  <a16:creationId xmlns:a16="http://schemas.microsoft.com/office/drawing/2014/main" id="{75A40892-45E0-2A75-6C01-A1D1EEE5CABC}"/>
                </a:ext>
              </a:extLst>
            </p:cNvPr>
            <p:cNvCxnSpPr>
              <a:cxnSpLocks noChangeShapeType="1"/>
            </p:cNvCxnSpPr>
            <p:nvPr/>
          </p:nvCxnSpPr>
          <p:spPr bwMode="auto">
            <a:xfrm>
              <a:off x="3581400" y="5791200"/>
              <a:ext cx="731838"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101" name="Text Box 106">
              <a:extLst>
                <a:ext uri="{FF2B5EF4-FFF2-40B4-BE49-F238E27FC236}">
                  <a16:creationId xmlns:a16="http://schemas.microsoft.com/office/drawing/2014/main" id="{3D19F212-00DC-7E38-1ECA-1698614F9F21}"/>
                </a:ext>
              </a:extLst>
            </p:cNvPr>
            <p:cNvSpPr txBox="1">
              <a:spLocks noChangeArrowheads="1"/>
            </p:cNvSpPr>
            <p:nvPr/>
          </p:nvSpPr>
          <p:spPr bwMode="auto">
            <a:xfrm>
              <a:off x="1447800" y="5881688"/>
              <a:ext cx="550863"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30 min</a:t>
              </a:r>
            </a:p>
          </p:txBody>
        </p:sp>
        <p:sp>
          <p:nvSpPr>
            <p:cNvPr id="102" name="Text Box 111">
              <a:extLst>
                <a:ext uri="{FF2B5EF4-FFF2-40B4-BE49-F238E27FC236}">
                  <a16:creationId xmlns:a16="http://schemas.microsoft.com/office/drawing/2014/main" id="{86376644-7611-8070-573D-AB643DA1B099}"/>
                </a:ext>
              </a:extLst>
            </p:cNvPr>
            <p:cNvSpPr txBox="1">
              <a:spLocks noChangeArrowheads="1"/>
            </p:cNvSpPr>
            <p:nvPr/>
          </p:nvSpPr>
          <p:spPr bwMode="auto">
            <a:xfrm>
              <a:off x="3505200" y="5881688"/>
              <a:ext cx="9144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30 min @ 50%</a:t>
              </a:r>
            </a:p>
          </p:txBody>
        </p:sp>
        <p:sp>
          <p:nvSpPr>
            <p:cNvPr id="103" name="Text Box 111">
              <a:extLst>
                <a:ext uri="{FF2B5EF4-FFF2-40B4-BE49-F238E27FC236}">
                  <a16:creationId xmlns:a16="http://schemas.microsoft.com/office/drawing/2014/main" id="{13AB7BC4-FCC4-B3A7-315E-EBC5B6592B58}"/>
                </a:ext>
              </a:extLst>
            </p:cNvPr>
            <p:cNvSpPr txBox="1">
              <a:spLocks noChangeArrowheads="1"/>
            </p:cNvSpPr>
            <p:nvPr/>
          </p:nvSpPr>
          <p:spPr bwMode="auto">
            <a:xfrm>
              <a:off x="457200" y="5864225"/>
              <a:ext cx="555625"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20 min</a:t>
              </a:r>
            </a:p>
          </p:txBody>
        </p:sp>
        <p:sp>
          <p:nvSpPr>
            <p:cNvPr id="104" name="Text Box 102">
              <a:extLst>
                <a:ext uri="{FF2B5EF4-FFF2-40B4-BE49-F238E27FC236}">
                  <a16:creationId xmlns:a16="http://schemas.microsoft.com/office/drawing/2014/main" id="{17BF2134-80F8-8D89-6607-E731E9EC3B58}"/>
                </a:ext>
              </a:extLst>
            </p:cNvPr>
            <p:cNvSpPr txBox="1">
              <a:spLocks noChangeArrowheads="1"/>
            </p:cNvSpPr>
            <p:nvPr/>
          </p:nvSpPr>
          <p:spPr bwMode="auto">
            <a:xfrm>
              <a:off x="3657600" y="5562600"/>
              <a:ext cx="6096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sp>
          <p:nvSpPr>
            <p:cNvPr id="105" name="Text Box 102">
              <a:extLst>
                <a:ext uri="{FF2B5EF4-FFF2-40B4-BE49-F238E27FC236}">
                  <a16:creationId xmlns:a16="http://schemas.microsoft.com/office/drawing/2014/main" id="{D3EAA87A-9A31-363B-BBFF-3FAAE35F924E}"/>
                </a:ext>
              </a:extLst>
            </p:cNvPr>
            <p:cNvSpPr txBox="1">
              <a:spLocks noChangeArrowheads="1"/>
            </p:cNvSpPr>
            <p:nvPr/>
          </p:nvSpPr>
          <p:spPr bwMode="auto">
            <a:xfrm>
              <a:off x="1524000" y="5562600"/>
              <a:ext cx="752475"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sp>
          <p:nvSpPr>
            <p:cNvPr id="106" name="Text Box 102">
              <a:extLst>
                <a:ext uri="{FF2B5EF4-FFF2-40B4-BE49-F238E27FC236}">
                  <a16:creationId xmlns:a16="http://schemas.microsoft.com/office/drawing/2014/main" id="{D039FD5A-CE69-C239-4C07-411890747166}"/>
                </a:ext>
              </a:extLst>
            </p:cNvPr>
            <p:cNvSpPr txBox="1">
              <a:spLocks noChangeArrowheads="1"/>
            </p:cNvSpPr>
            <p:nvPr/>
          </p:nvSpPr>
          <p:spPr bwMode="auto">
            <a:xfrm>
              <a:off x="457200" y="5562600"/>
              <a:ext cx="687388"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20 Days</a:t>
              </a:r>
            </a:p>
          </p:txBody>
        </p:sp>
        <p:sp>
          <p:nvSpPr>
            <p:cNvPr id="107" name="Text Box 106">
              <a:extLst>
                <a:ext uri="{FF2B5EF4-FFF2-40B4-BE49-F238E27FC236}">
                  <a16:creationId xmlns:a16="http://schemas.microsoft.com/office/drawing/2014/main" id="{E00964C3-766C-489F-62D6-A21ADF49F6E4}"/>
                </a:ext>
              </a:extLst>
            </p:cNvPr>
            <p:cNvSpPr txBox="1">
              <a:spLocks noChangeArrowheads="1"/>
            </p:cNvSpPr>
            <p:nvPr/>
          </p:nvSpPr>
          <p:spPr bwMode="auto">
            <a:xfrm>
              <a:off x="2108200" y="5562600"/>
              <a:ext cx="7112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108" name="Line 151">
              <a:extLst>
                <a:ext uri="{FF2B5EF4-FFF2-40B4-BE49-F238E27FC236}">
                  <a16:creationId xmlns:a16="http://schemas.microsoft.com/office/drawing/2014/main" id="{8AC5A1C8-5EDE-5A0F-54B0-F3907D2EF768}"/>
                </a:ext>
              </a:extLst>
            </p:cNvPr>
            <p:cNvSpPr>
              <a:spLocks noChangeShapeType="1"/>
            </p:cNvSpPr>
            <p:nvPr/>
          </p:nvSpPr>
          <p:spPr bwMode="auto">
            <a:xfrm flipV="1">
              <a:off x="1371600" y="579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9" name="Line 84">
              <a:extLst>
                <a:ext uri="{FF2B5EF4-FFF2-40B4-BE49-F238E27FC236}">
                  <a16:creationId xmlns:a16="http://schemas.microsoft.com/office/drawing/2014/main" id="{8804D1E8-827B-AC60-3DDC-385B497F1CDB}"/>
                </a:ext>
              </a:extLst>
            </p:cNvPr>
            <p:cNvSpPr>
              <a:spLocks noChangeShapeType="1"/>
            </p:cNvSpPr>
            <p:nvPr/>
          </p:nvSpPr>
          <p:spPr bwMode="auto">
            <a:xfrm>
              <a:off x="2462213" y="6096000"/>
              <a:ext cx="823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0" name="Line 89">
              <a:extLst>
                <a:ext uri="{FF2B5EF4-FFF2-40B4-BE49-F238E27FC236}">
                  <a16:creationId xmlns:a16="http://schemas.microsoft.com/office/drawing/2014/main" id="{BC5D0C3A-1509-C715-EEE3-A64FFBD0D236}"/>
                </a:ext>
              </a:extLst>
            </p:cNvPr>
            <p:cNvSpPr>
              <a:spLocks noChangeShapeType="1"/>
            </p:cNvSpPr>
            <p:nvPr/>
          </p:nvSpPr>
          <p:spPr bwMode="auto">
            <a:xfrm>
              <a:off x="3276600" y="5791200"/>
              <a:ext cx="301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111" name="AutoShape 91">
              <a:extLst>
                <a:ext uri="{FF2B5EF4-FFF2-40B4-BE49-F238E27FC236}">
                  <a16:creationId xmlns:a16="http://schemas.microsoft.com/office/drawing/2014/main" id="{9DE7F180-5A1D-0B6A-3DD0-0FC035847DFB}"/>
                </a:ext>
              </a:extLst>
            </p:cNvPr>
            <p:cNvCxnSpPr>
              <a:cxnSpLocks noChangeShapeType="1"/>
            </p:cNvCxnSpPr>
            <p:nvPr/>
          </p:nvCxnSpPr>
          <p:spPr bwMode="auto">
            <a:xfrm rot="5400000">
              <a:off x="3123407" y="5944394"/>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12" name="Text Box 106">
              <a:extLst>
                <a:ext uri="{FF2B5EF4-FFF2-40B4-BE49-F238E27FC236}">
                  <a16:creationId xmlns:a16="http://schemas.microsoft.com/office/drawing/2014/main" id="{668192A1-EEFC-E2F0-8F6E-E02B36888D43}"/>
                </a:ext>
              </a:extLst>
            </p:cNvPr>
            <p:cNvSpPr txBox="1">
              <a:spLocks noChangeArrowheads="1"/>
            </p:cNvSpPr>
            <p:nvPr/>
          </p:nvSpPr>
          <p:spPr bwMode="auto">
            <a:xfrm>
              <a:off x="2520950" y="5881688"/>
              <a:ext cx="75565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60 min</a:t>
              </a:r>
            </a:p>
          </p:txBody>
        </p:sp>
        <p:cxnSp>
          <p:nvCxnSpPr>
            <p:cNvPr id="113" name="AutoShape 110">
              <a:extLst>
                <a:ext uri="{FF2B5EF4-FFF2-40B4-BE49-F238E27FC236}">
                  <a16:creationId xmlns:a16="http://schemas.microsoft.com/office/drawing/2014/main" id="{05747095-FCBF-5ADA-6DEA-79152AA073B6}"/>
                </a:ext>
              </a:extLst>
            </p:cNvPr>
            <p:cNvCxnSpPr>
              <a:cxnSpLocks noChangeShapeType="1"/>
            </p:cNvCxnSpPr>
            <p:nvPr/>
          </p:nvCxnSpPr>
          <p:spPr bwMode="auto">
            <a:xfrm>
              <a:off x="2438400" y="5791200"/>
              <a:ext cx="889000"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114" name="Text Box 102">
              <a:extLst>
                <a:ext uri="{FF2B5EF4-FFF2-40B4-BE49-F238E27FC236}">
                  <a16:creationId xmlns:a16="http://schemas.microsoft.com/office/drawing/2014/main" id="{D42766A6-F23A-1C6B-3FB5-68E2A6D35645}"/>
                </a:ext>
              </a:extLst>
            </p:cNvPr>
            <p:cNvSpPr txBox="1">
              <a:spLocks noChangeArrowheads="1"/>
            </p:cNvSpPr>
            <p:nvPr/>
          </p:nvSpPr>
          <p:spPr bwMode="auto">
            <a:xfrm>
              <a:off x="2590800" y="5562600"/>
              <a:ext cx="752475"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sp>
          <p:nvSpPr>
            <p:cNvPr id="115" name="Text Box 106">
              <a:extLst>
                <a:ext uri="{FF2B5EF4-FFF2-40B4-BE49-F238E27FC236}">
                  <a16:creationId xmlns:a16="http://schemas.microsoft.com/office/drawing/2014/main" id="{A8403500-5E29-3C79-350F-47BC9977997D}"/>
                </a:ext>
              </a:extLst>
            </p:cNvPr>
            <p:cNvSpPr txBox="1">
              <a:spLocks noChangeArrowheads="1"/>
            </p:cNvSpPr>
            <p:nvPr/>
          </p:nvSpPr>
          <p:spPr bwMode="auto">
            <a:xfrm>
              <a:off x="3124200" y="5410200"/>
              <a:ext cx="577850" cy="43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a:p>
              <a:pPr eaLnBrk="1" hangingPunct="1">
                <a:spcBef>
                  <a:spcPct val="50000"/>
                </a:spcBef>
              </a:pPr>
              <a:r>
                <a:rPr lang="en-US" altLang="en-US" sz="800">
                  <a:latin typeface="Roboto" panose="02000000000000000000" pitchFamily="2" charset="0"/>
                  <a:ea typeface="Roboto" panose="02000000000000000000" pitchFamily="2" charset="0"/>
                </a:rPr>
                <a:t>@ 50%</a:t>
              </a:r>
            </a:p>
          </p:txBody>
        </p:sp>
        <p:sp>
          <p:nvSpPr>
            <p:cNvPr id="116" name="Line 160">
              <a:extLst>
                <a:ext uri="{FF2B5EF4-FFF2-40B4-BE49-F238E27FC236}">
                  <a16:creationId xmlns:a16="http://schemas.microsoft.com/office/drawing/2014/main" id="{76754929-DEA6-68A0-33E9-9B694C44FE6F}"/>
                </a:ext>
              </a:extLst>
            </p:cNvPr>
            <p:cNvSpPr>
              <a:spLocks noChangeShapeType="1"/>
            </p:cNvSpPr>
            <p:nvPr/>
          </p:nvSpPr>
          <p:spPr bwMode="auto">
            <a:xfrm flipV="1">
              <a:off x="2462213" y="579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7" name="Line 161">
              <a:extLst>
                <a:ext uri="{FF2B5EF4-FFF2-40B4-BE49-F238E27FC236}">
                  <a16:creationId xmlns:a16="http://schemas.microsoft.com/office/drawing/2014/main" id="{465EE9FF-CD11-2DB7-0683-9C085C1F24A2}"/>
                </a:ext>
              </a:extLst>
            </p:cNvPr>
            <p:cNvSpPr>
              <a:spLocks noChangeShapeType="1"/>
            </p:cNvSpPr>
            <p:nvPr/>
          </p:nvSpPr>
          <p:spPr bwMode="auto">
            <a:xfrm>
              <a:off x="4724400" y="579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8" name="Text Box 102">
              <a:extLst>
                <a:ext uri="{FF2B5EF4-FFF2-40B4-BE49-F238E27FC236}">
                  <a16:creationId xmlns:a16="http://schemas.microsoft.com/office/drawing/2014/main" id="{0249197C-C4AA-9100-9E2A-26C79C9114C5}"/>
                </a:ext>
              </a:extLst>
            </p:cNvPr>
            <p:cNvSpPr txBox="1">
              <a:spLocks noChangeArrowheads="1"/>
            </p:cNvSpPr>
            <p:nvPr/>
          </p:nvSpPr>
          <p:spPr bwMode="auto">
            <a:xfrm>
              <a:off x="8001000" y="5562600"/>
              <a:ext cx="754063"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sp>
          <p:nvSpPr>
            <p:cNvPr id="119" name="Text Box 106">
              <a:extLst>
                <a:ext uri="{FF2B5EF4-FFF2-40B4-BE49-F238E27FC236}">
                  <a16:creationId xmlns:a16="http://schemas.microsoft.com/office/drawing/2014/main" id="{73394903-37E5-4290-D8E1-01B419FA728D}"/>
                </a:ext>
              </a:extLst>
            </p:cNvPr>
            <p:cNvSpPr txBox="1">
              <a:spLocks noChangeArrowheads="1"/>
            </p:cNvSpPr>
            <p:nvPr/>
          </p:nvSpPr>
          <p:spPr bwMode="auto">
            <a:xfrm>
              <a:off x="7546975" y="5562600"/>
              <a:ext cx="530225"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 Days</a:t>
              </a:r>
            </a:p>
          </p:txBody>
        </p:sp>
        <p:sp>
          <p:nvSpPr>
            <p:cNvPr id="120" name="Line 88">
              <a:extLst>
                <a:ext uri="{FF2B5EF4-FFF2-40B4-BE49-F238E27FC236}">
                  <a16:creationId xmlns:a16="http://schemas.microsoft.com/office/drawing/2014/main" id="{EE4DEAB5-417E-D46D-1C14-67DB52D3F48F}"/>
                </a:ext>
              </a:extLst>
            </p:cNvPr>
            <p:cNvSpPr>
              <a:spLocks noChangeShapeType="1"/>
            </p:cNvSpPr>
            <p:nvPr/>
          </p:nvSpPr>
          <p:spPr bwMode="auto">
            <a:xfrm>
              <a:off x="68580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1" name="Line 89">
              <a:extLst>
                <a:ext uri="{FF2B5EF4-FFF2-40B4-BE49-F238E27FC236}">
                  <a16:creationId xmlns:a16="http://schemas.microsoft.com/office/drawing/2014/main" id="{B03A8823-6D9E-8C2B-BED9-8CEBB445202A}"/>
                </a:ext>
              </a:extLst>
            </p:cNvPr>
            <p:cNvSpPr>
              <a:spLocks noChangeShapeType="1"/>
            </p:cNvSpPr>
            <p:nvPr/>
          </p:nvSpPr>
          <p:spPr bwMode="auto">
            <a:xfrm>
              <a:off x="6553200" y="5791200"/>
              <a:ext cx="301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122" name="AutoShape 90">
              <a:extLst>
                <a:ext uri="{FF2B5EF4-FFF2-40B4-BE49-F238E27FC236}">
                  <a16:creationId xmlns:a16="http://schemas.microsoft.com/office/drawing/2014/main" id="{93DB79D6-BA2C-0163-4287-00080B423928}"/>
                </a:ext>
              </a:extLst>
            </p:cNvPr>
            <p:cNvCxnSpPr>
              <a:cxnSpLocks noChangeShapeType="1"/>
            </p:cNvCxnSpPr>
            <p:nvPr/>
          </p:nvCxnSpPr>
          <p:spPr bwMode="auto">
            <a:xfrm rot="16200000" flipH="1">
              <a:off x="67048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 name="AutoShape 91">
              <a:extLst>
                <a:ext uri="{FF2B5EF4-FFF2-40B4-BE49-F238E27FC236}">
                  <a16:creationId xmlns:a16="http://schemas.microsoft.com/office/drawing/2014/main" id="{621A88C8-D522-C9DD-FB7B-1E146422700F}"/>
                </a:ext>
              </a:extLst>
            </p:cNvPr>
            <p:cNvCxnSpPr>
              <a:cxnSpLocks noChangeShapeType="1"/>
            </p:cNvCxnSpPr>
            <p:nvPr/>
          </p:nvCxnSpPr>
          <p:spPr bwMode="auto">
            <a:xfrm flipH="1">
              <a:off x="6551613" y="5791200"/>
              <a:ext cx="1587"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4" name="AutoShape 95">
              <a:extLst>
                <a:ext uri="{FF2B5EF4-FFF2-40B4-BE49-F238E27FC236}">
                  <a16:creationId xmlns:a16="http://schemas.microsoft.com/office/drawing/2014/main" id="{242394F0-0FF4-275C-649E-0DEA5F929B51}"/>
                </a:ext>
              </a:extLst>
            </p:cNvPr>
            <p:cNvCxnSpPr>
              <a:cxnSpLocks noChangeShapeType="1"/>
            </p:cNvCxnSpPr>
            <p:nvPr/>
          </p:nvCxnSpPr>
          <p:spPr bwMode="auto">
            <a:xfrm>
              <a:off x="6858000" y="5789613"/>
              <a:ext cx="731838"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125" name="Text Box 111">
              <a:extLst>
                <a:ext uri="{FF2B5EF4-FFF2-40B4-BE49-F238E27FC236}">
                  <a16:creationId xmlns:a16="http://schemas.microsoft.com/office/drawing/2014/main" id="{13FDA334-2F99-7A11-E1EE-44D4CF96EBDB}"/>
                </a:ext>
              </a:extLst>
            </p:cNvPr>
            <p:cNvSpPr txBox="1">
              <a:spLocks noChangeArrowheads="1"/>
            </p:cNvSpPr>
            <p:nvPr/>
          </p:nvSpPr>
          <p:spPr bwMode="auto">
            <a:xfrm>
              <a:off x="8001000" y="5865813"/>
              <a:ext cx="773113"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126" name="Line 85">
              <a:extLst>
                <a:ext uri="{FF2B5EF4-FFF2-40B4-BE49-F238E27FC236}">
                  <a16:creationId xmlns:a16="http://schemas.microsoft.com/office/drawing/2014/main" id="{13875443-0B11-514D-FEB6-A92E807F224A}"/>
                </a:ext>
              </a:extLst>
            </p:cNvPr>
            <p:cNvSpPr>
              <a:spLocks noChangeShapeType="1"/>
            </p:cNvSpPr>
            <p:nvPr/>
          </p:nvSpPr>
          <p:spPr bwMode="auto">
            <a:xfrm>
              <a:off x="88900" y="5791200"/>
              <a:ext cx="319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7" name="Text Box 113">
              <a:extLst>
                <a:ext uri="{FF2B5EF4-FFF2-40B4-BE49-F238E27FC236}">
                  <a16:creationId xmlns:a16="http://schemas.microsoft.com/office/drawing/2014/main" id="{02C5C19D-8265-1E9F-65E7-2FE4A62E0485}"/>
                </a:ext>
              </a:extLst>
            </p:cNvPr>
            <p:cNvSpPr txBox="1">
              <a:spLocks noChangeArrowheads="1"/>
            </p:cNvSpPr>
            <p:nvPr/>
          </p:nvSpPr>
          <p:spPr bwMode="auto">
            <a:xfrm>
              <a:off x="8099425" y="6096000"/>
              <a:ext cx="671513" cy="33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700">
                  <a:latin typeface="Roboto" panose="02000000000000000000" pitchFamily="2" charset="0"/>
                  <a:ea typeface="Roboto" panose="02000000000000000000" pitchFamily="2" charset="0"/>
                </a:rPr>
                <a:t>Lead Time </a:t>
              </a:r>
              <a:br>
                <a:rPr lang="en-US" altLang="en-US" sz="700">
                  <a:latin typeface="Roboto" panose="02000000000000000000" pitchFamily="2" charset="0"/>
                  <a:ea typeface="Roboto" panose="02000000000000000000" pitchFamily="2" charset="0"/>
                </a:rPr>
              </a:br>
              <a:r>
                <a:rPr lang="en-US" altLang="en-US" sz="700">
                  <a:latin typeface="Roboto" panose="02000000000000000000" pitchFamily="2" charset="0"/>
                  <a:ea typeface="Roboto" panose="02000000000000000000" pitchFamily="2" charset="0"/>
                </a:rPr>
                <a:t>82 Days</a:t>
              </a:r>
            </a:p>
          </p:txBody>
        </p:sp>
        <p:sp>
          <p:nvSpPr>
            <p:cNvPr id="128" name="Text Box 114">
              <a:extLst>
                <a:ext uri="{FF2B5EF4-FFF2-40B4-BE49-F238E27FC236}">
                  <a16:creationId xmlns:a16="http://schemas.microsoft.com/office/drawing/2014/main" id="{A85B157E-3B99-7E66-904D-C1CC15BFCF6F}"/>
                </a:ext>
              </a:extLst>
            </p:cNvPr>
            <p:cNvSpPr txBox="1">
              <a:spLocks noChangeArrowheads="1"/>
            </p:cNvSpPr>
            <p:nvPr/>
          </p:nvSpPr>
          <p:spPr bwMode="auto">
            <a:xfrm>
              <a:off x="8077200" y="6324600"/>
              <a:ext cx="733425" cy="450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700">
                  <a:latin typeface="Roboto" panose="02000000000000000000" pitchFamily="2" charset="0"/>
                  <a:ea typeface="Roboto" panose="02000000000000000000" pitchFamily="2" charset="0"/>
                </a:rPr>
                <a:t>Process Time </a:t>
              </a:r>
              <a:br>
                <a:rPr lang="en-US" altLang="en-US" sz="700">
                  <a:latin typeface="Roboto" panose="02000000000000000000" pitchFamily="2" charset="0"/>
                  <a:ea typeface="Roboto" panose="02000000000000000000" pitchFamily="2" charset="0"/>
                </a:rPr>
              </a:br>
              <a:r>
                <a:rPr lang="en-US" altLang="en-US" sz="700">
                  <a:latin typeface="Roboto" panose="02000000000000000000" pitchFamily="2" charset="0"/>
                  <a:ea typeface="Roboto" panose="02000000000000000000" pitchFamily="2" charset="0"/>
                </a:rPr>
                <a:t>160 min or 2.7 hours</a:t>
              </a:r>
            </a:p>
          </p:txBody>
        </p:sp>
        <p:sp>
          <p:nvSpPr>
            <p:cNvPr id="129" name="Line 7">
              <a:extLst>
                <a:ext uri="{FF2B5EF4-FFF2-40B4-BE49-F238E27FC236}">
                  <a16:creationId xmlns:a16="http://schemas.microsoft.com/office/drawing/2014/main" id="{B06F69FA-CD81-B8CF-C5CE-88D6D73ABA8C}"/>
                </a:ext>
              </a:extLst>
            </p:cNvPr>
            <p:cNvSpPr>
              <a:spLocks noChangeShapeType="1"/>
            </p:cNvSpPr>
            <p:nvPr/>
          </p:nvSpPr>
          <p:spPr bwMode="auto">
            <a:xfrm rot="480000" flipV="1">
              <a:off x="1125538" y="3917950"/>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0" name="Line 7">
              <a:extLst>
                <a:ext uri="{FF2B5EF4-FFF2-40B4-BE49-F238E27FC236}">
                  <a16:creationId xmlns:a16="http://schemas.microsoft.com/office/drawing/2014/main" id="{4B9A4850-9CF5-858B-7430-59F5CE2A6CF4}"/>
                </a:ext>
              </a:extLst>
            </p:cNvPr>
            <p:cNvSpPr>
              <a:spLocks noChangeShapeType="1"/>
            </p:cNvSpPr>
            <p:nvPr/>
          </p:nvSpPr>
          <p:spPr bwMode="auto">
            <a:xfrm rot="660000" flipV="1">
              <a:off x="104775" y="3911600"/>
              <a:ext cx="274638"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1" name="Line 7">
              <a:extLst>
                <a:ext uri="{FF2B5EF4-FFF2-40B4-BE49-F238E27FC236}">
                  <a16:creationId xmlns:a16="http://schemas.microsoft.com/office/drawing/2014/main" id="{64BF2553-AF4E-E6F7-F73E-C0256C49BF65}"/>
                </a:ext>
              </a:extLst>
            </p:cNvPr>
            <p:cNvSpPr>
              <a:spLocks noChangeShapeType="1"/>
            </p:cNvSpPr>
            <p:nvPr/>
          </p:nvSpPr>
          <p:spPr bwMode="auto">
            <a:xfrm rot="480000" flipV="1">
              <a:off x="219233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2" name="Line 7">
              <a:extLst>
                <a:ext uri="{FF2B5EF4-FFF2-40B4-BE49-F238E27FC236}">
                  <a16:creationId xmlns:a16="http://schemas.microsoft.com/office/drawing/2014/main" id="{7480C1CD-5ED2-8912-EEC0-377CF852EA3A}"/>
                </a:ext>
              </a:extLst>
            </p:cNvPr>
            <p:cNvSpPr>
              <a:spLocks noChangeShapeType="1"/>
            </p:cNvSpPr>
            <p:nvPr/>
          </p:nvSpPr>
          <p:spPr bwMode="auto">
            <a:xfrm rot="480000" flipV="1">
              <a:off x="548798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3" name="Line 7">
              <a:extLst>
                <a:ext uri="{FF2B5EF4-FFF2-40B4-BE49-F238E27FC236}">
                  <a16:creationId xmlns:a16="http://schemas.microsoft.com/office/drawing/2014/main" id="{659817BD-B91C-E6A6-D2A1-EFB2BFDFDE69}"/>
                </a:ext>
              </a:extLst>
            </p:cNvPr>
            <p:cNvSpPr>
              <a:spLocks noChangeShapeType="1"/>
            </p:cNvSpPr>
            <p:nvPr/>
          </p:nvSpPr>
          <p:spPr bwMode="auto">
            <a:xfrm rot="480000" flipV="1">
              <a:off x="755808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134" name="Group 147">
              <a:extLst>
                <a:ext uri="{FF2B5EF4-FFF2-40B4-BE49-F238E27FC236}">
                  <a16:creationId xmlns:a16="http://schemas.microsoft.com/office/drawing/2014/main" id="{E1B52579-5DCA-6187-57E8-8B6F437DF254}"/>
                </a:ext>
              </a:extLst>
            </p:cNvPr>
            <p:cNvGrpSpPr>
              <a:grpSpLocks/>
            </p:cNvGrpSpPr>
            <p:nvPr/>
          </p:nvGrpSpPr>
          <p:grpSpPr bwMode="auto">
            <a:xfrm>
              <a:off x="5791200" y="3657600"/>
              <a:ext cx="762000" cy="1295400"/>
              <a:chOff x="6885907" y="3657600"/>
              <a:chExt cx="1023553" cy="1295400"/>
            </a:xfrm>
          </p:grpSpPr>
          <p:sp>
            <p:nvSpPr>
              <p:cNvPr id="135" name="Rectangle 30">
                <a:extLst>
                  <a:ext uri="{FF2B5EF4-FFF2-40B4-BE49-F238E27FC236}">
                    <a16:creationId xmlns:a16="http://schemas.microsoft.com/office/drawing/2014/main" id="{6D11C5E6-F991-A5A7-F78D-7AA4E62561E5}"/>
                  </a:ext>
                </a:extLst>
              </p:cNvPr>
              <p:cNvSpPr>
                <a:spLocks noChangeArrowheads="1"/>
              </p:cNvSpPr>
              <p:nvPr/>
            </p:nvSpPr>
            <p:spPr bwMode="auto">
              <a:xfrm>
                <a:off x="6887958" y="3657600"/>
                <a:ext cx="940129"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36" name="Text Box 33">
                <a:extLst>
                  <a:ext uri="{FF2B5EF4-FFF2-40B4-BE49-F238E27FC236}">
                    <a16:creationId xmlns:a16="http://schemas.microsoft.com/office/drawing/2014/main" id="{342E5B17-D78B-5CBB-7599-8503EDDA7B3F}"/>
                  </a:ext>
                </a:extLst>
              </p:cNvPr>
              <p:cNvSpPr txBox="1">
                <a:spLocks noChangeArrowheads="1"/>
              </p:cNvSpPr>
              <p:nvPr/>
            </p:nvSpPr>
            <p:spPr bwMode="auto">
              <a:xfrm>
                <a:off x="6885907" y="3744913"/>
                <a:ext cx="1023549" cy="40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Accounting</a:t>
                </a:r>
              </a:p>
              <a:p>
                <a:pPr eaLnBrk="1" hangingPunct="1"/>
                <a:r>
                  <a:rPr lang="en-US" altLang="en-US" sz="900">
                    <a:latin typeface="Roboto" panose="02000000000000000000" pitchFamily="2" charset="0"/>
                    <a:ea typeface="Roboto" panose="02000000000000000000" pitchFamily="2" charset="0"/>
                  </a:rPr>
                  <a:t>Review</a:t>
                </a:r>
              </a:p>
            </p:txBody>
          </p:sp>
          <p:sp>
            <p:nvSpPr>
              <p:cNvPr id="137" name="Rectangle 42">
                <a:extLst>
                  <a:ext uri="{FF2B5EF4-FFF2-40B4-BE49-F238E27FC236}">
                    <a16:creationId xmlns:a16="http://schemas.microsoft.com/office/drawing/2014/main" id="{542AEAE5-043F-5130-9804-EC4DE541286B}"/>
                  </a:ext>
                </a:extLst>
              </p:cNvPr>
              <p:cNvSpPr>
                <a:spLocks noChangeArrowheads="1"/>
              </p:cNvSpPr>
              <p:nvPr/>
            </p:nvSpPr>
            <p:spPr bwMode="auto">
              <a:xfrm>
                <a:off x="6909328" y="4310063"/>
                <a:ext cx="921934"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38" name="Rectangle 43">
                <a:extLst>
                  <a:ext uri="{FF2B5EF4-FFF2-40B4-BE49-F238E27FC236}">
                    <a16:creationId xmlns:a16="http://schemas.microsoft.com/office/drawing/2014/main" id="{3B54D1E1-91D2-CFAD-ACD9-51884D29FE38}"/>
                  </a:ext>
                </a:extLst>
              </p:cNvPr>
              <p:cNvSpPr>
                <a:spLocks noChangeArrowheads="1"/>
              </p:cNvSpPr>
              <p:nvPr/>
            </p:nvSpPr>
            <p:spPr bwMode="auto">
              <a:xfrm>
                <a:off x="6934202" y="4306888"/>
                <a:ext cx="975258" cy="50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 D</a:t>
                </a:r>
              </a:p>
              <a:p>
                <a:pPr eaLnBrk="1" hangingPunct="1">
                  <a:lnSpc>
                    <a:spcPct val="125000"/>
                  </a:lnSpc>
                </a:pPr>
                <a:r>
                  <a:rPr lang="en-US" altLang="en-US" sz="500">
                    <a:latin typeface="Roboto" panose="02000000000000000000" pitchFamily="2" charset="0"/>
                    <a:ea typeface="Roboto" panose="02000000000000000000" pitchFamily="2" charset="0"/>
                  </a:rPr>
                  <a:t>Processing Time = 5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139" name="Rectangle 44">
                <a:extLst>
                  <a:ext uri="{FF2B5EF4-FFF2-40B4-BE49-F238E27FC236}">
                    <a16:creationId xmlns:a16="http://schemas.microsoft.com/office/drawing/2014/main" id="{FFC7182B-B222-8973-FAA8-F5D6025B794C}"/>
                  </a:ext>
                </a:extLst>
              </p:cNvPr>
              <p:cNvSpPr>
                <a:spLocks noChangeArrowheads="1"/>
              </p:cNvSpPr>
              <p:nvPr/>
            </p:nvSpPr>
            <p:spPr bwMode="auto">
              <a:xfrm>
                <a:off x="7104219" y="4438650"/>
                <a:ext cx="138080" cy="19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sp>
          <p:nvSpPr>
            <p:cNvPr id="140" name="Line 7">
              <a:extLst>
                <a:ext uri="{FF2B5EF4-FFF2-40B4-BE49-F238E27FC236}">
                  <a16:creationId xmlns:a16="http://schemas.microsoft.com/office/drawing/2014/main" id="{539D6EC1-C601-173C-5004-2BCDA874BB9A}"/>
                </a:ext>
              </a:extLst>
            </p:cNvPr>
            <p:cNvSpPr>
              <a:spLocks noChangeShapeType="1"/>
            </p:cNvSpPr>
            <p:nvPr/>
          </p:nvSpPr>
          <p:spPr bwMode="auto">
            <a:xfrm rot="480000" flipV="1">
              <a:off x="653573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cxnSp>
          <p:nvCxnSpPr>
            <p:cNvPr id="141" name="Straight Connector 140">
              <a:extLst>
                <a:ext uri="{FF2B5EF4-FFF2-40B4-BE49-F238E27FC236}">
                  <a16:creationId xmlns:a16="http://schemas.microsoft.com/office/drawing/2014/main" id="{8079AB71-6D8D-5597-392D-C87994D485ED}"/>
                </a:ext>
              </a:extLst>
            </p:cNvPr>
            <p:cNvCxnSpPr/>
            <p:nvPr/>
          </p:nvCxnSpPr>
          <p:spPr>
            <a:xfrm rot="5400000" flipH="1" flipV="1">
              <a:off x="1143000" y="4800600"/>
              <a:ext cx="1588" cy="1588"/>
            </a:xfrm>
            <a:prstGeom prst="line">
              <a:avLst/>
            </a:prstGeom>
          </p:spPr>
          <p:style>
            <a:lnRef idx="1">
              <a:schemeClr val="accent1"/>
            </a:lnRef>
            <a:fillRef idx="0">
              <a:schemeClr val="accent1"/>
            </a:fillRef>
            <a:effectRef idx="0">
              <a:schemeClr val="accent1"/>
            </a:effectRef>
            <a:fontRef idx="minor">
              <a:schemeClr val="tx1"/>
            </a:fontRef>
          </p:style>
        </p:cxnSp>
        <p:grpSp>
          <p:nvGrpSpPr>
            <p:cNvPr id="142" name="Group 168">
              <a:extLst>
                <a:ext uri="{FF2B5EF4-FFF2-40B4-BE49-F238E27FC236}">
                  <a16:creationId xmlns:a16="http://schemas.microsoft.com/office/drawing/2014/main" id="{5FAADD32-A467-17B1-CF4C-59E1583FE256}"/>
                </a:ext>
              </a:extLst>
            </p:cNvPr>
            <p:cNvGrpSpPr>
              <a:grpSpLocks/>
            </p:cNvGrpSpPr>
            <p:nvPr/>
          </p:nvGrpSpPr>
          <p:grpSpPr bwMode="auto">
            <a:xfrm>
              <a:off x="400050" y="5791200"/>
              <a:ext cx="666750" cy="306388"/>
              <a:chOff x="406966" y="5027613"/>
              <a:chExt cx="667512" cy="307181"/>
            </a:xfrm>
          </p:grpSpPr>
          <p:sp>
            <p:nvSpPr>
              <p:cNvPr id="143" name="Line 84">
                <a:extLst>
                  <a:ext uri="{FF2B5EF4-FFF2-40B4-BE49-F238E27FC236}">
                    <a16:creationId xmlns:a16="http://schemas.microsoft.com/office/drawing/2014/main" id="{73F8A686-2B2B-0445-7723-D84CFFA3D275}"/>
                  </a:ext>
                </a:extLst>
              </p:cNvPr>
              <p:cNvSpPr>
                <a:spLocks noChangeShapeType="1"/>
              </p:cNvSpPr>
              <p:nvPr/>
            </p:nvSpPr>
            <p:spPr bwMode="auto">
              <a:xfrm>
                <a:off x="406966" y="5332413"/>
                <a:ext cx="6675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144" name="AutoShape 91">
                <a:extLst>
                  <a:ext uri="{FF2B5EF4-FFF2-40B4-BE49-F238E27FC236}">
                    <a16:creationId xmlns:a16="http://schemas.microsoft.com/office/drawing/2014/main" id="{C579139C-F56A-3B51-7C4A-27F671277749}"/>
                  </a:ext>
                </a:extLst>
              </p:cNvPr>
              <p:cNvCxnSpPr>
                <a:cxnSpLocks noChangeShapeType="1"/>
              </p:cNvCxnSpPr>
              <p:nvPr/>
            </p:nvCxnSpPr>
            <p:spPr bwMode="auto">
              <a:xfrm rot="5400000">
                <a:off x="914400" y="5181600"/>
                <a:ext cx="304800" cy="1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45" name="Line 151">
                <a:extLst>
                  <a:ext uri="{FF2B5EF4-FFF2-40B4-BE49-F238E27FC236}">
                    <a16:creationId xmlns:a16="http://schemas.microsoft.com/office/drawing/2014/main" id="{8C5F2FDC-E314-9D81-D15E-120014822316}"/>
                  </a:ext>
                </a:extLst>
              </p:cNvPr>
              <p:cNvSpPr>
                <a:spLocks noChangeShapeType="1"/>
              </p:cNvSpPr>
              <p:nvPr/>
            </p:nvSpPr>
            <p:spPr bwMode="auto">
              <a:xfrm flipV="1">
                <a:off x="406966" y="5027613"/>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cxnSp>
          <p:nvCxnSpPr>
            <p:cNvPr id="146" name="AutoShape 110">
              <a:extLst>
                <a:ext uri="{FF2B5EF4-FFF2-40B4-BE49-F238E27FC236}">
                  <a16:creationId xmlns:a16="http://schemas.microsoft.com/office/drawing/2014/main" id="{81A66E4B-3059-75B0-CA79-E2A3607E8CD7}"/>
                </a:ext>
              </a:extLst>
            </p:cNvPr>
            <p:cNvCxnSpPr>
              <a:cxnSpLocks noChangeShapeType="1"/>
            </p:cNvCxnSpPr>
            <p:nvPr/>
          </p:nvCxnSpPr>
          <p:spPr bwMode="auto">
            <a:xfrm>
              <a:off x="1371600" y="5791200"/>
              <a:ext cx="850900"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47" name="AutoShape 110">
              <a:extLst>
                <a:ext uri="{FF2B5EF4-FFF2-40B4-BE49-F238E27FC236}">
                  <a16:creationId xmlns:a16="http://schemas.microsoft.com/office/drawing/2014/main" id="{E2A17229-CCE8-490D-0553-E435326F0C25}"/>
                </a:ext>
              </a:extLst>
            </p:cNvPr>
            <p:cNvCxnSpPr>
              <a:cxnSpLocks noChangeShapeType="1"/>
            </p:cNvCxnSpPr>
            <p:nvPr/>
          </p:nvCxnSpPr>
          <p:spPr bwMode="auto">
            <a:xfrm>
              <a:off x="381000" y="5789613"/>
              <a:ext cx="639763"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48" name="AutoShape 91">
              <a:extLst>
                <a:ext uri="{FF2B5EF4-FFF2-40B4-BE49-F238E27FC236}">
                  <a16:creationId xmlns:a16="http://schemas.microsoft.com/office/drawing/2014/main" id="{57DF2931-FAC4-9E9D-2F2D-259BFE406D7F}"/>
                </a:ext>
              </a:extLst>
            </p:cNvPr>
            <p:cNvCxnSpPr>
              <a:cxnSpLocks noChangeShapeType="1"/>
            </p:cNvCxnSpPr>
            <p:nvPr/>
          </p:nvCxnSpPr>
          <p:spPr bwMode="auto">
            <a:xfrm rot="5400000">
              <a:off x="34282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9" name="AutoShape 91">
              <a:extLst>
                <a:ext uri="{FF2B5EF4-FFF2-40B4-BE49-F238E27FC236}">
                  <a16:creationId xmlns:a16="http://schemas.microsoft.com/office/drawing/2014/main" id="{DB23E96E-83C4-B457-EA29-928F64125795}"/>
                </a:ext>
              </a:extLst>
            </p:cNvPr>
            <p:cNvCxnSpPr>
              <a:cxnSpLocks noChangeShapeType="1"/>
            </p:cNvCxnSpPr>
            <p:nvPr/>
          </p:nvCxnSpPr>
          <p:spPr bwMode="auto">
            <a:xfrm rot="5400000">
              <a:off x="41902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0" name="Line 89">
              <a:extLst>
                <a:ext uri="{FF2B5EF4-FFF2-40B4-BE49-F238E27FC236}">
                  <a16:creationId xmlns:a16="http://schemas.microsoft.com/office/drawing/2014/main" id="{83A58C58-3317-8592-5A90-4E8525E111A1}"/>
                </a:ext>
              </a:extLst>
            </p:cNvPr>
            <p:cNvSpPr>
              <a:spLocks noChangeShapeType="1"/>
            </p:cNvSpPr>
            <p:nvPr/>
          </p:nvSpPr>
          <p:spPr bwMode="auto">
            <a:xfrm>
              <a:off x="4346575" y="5791200"/>
              <a:ext cx="374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151" name="AutoShape 91">
              <a:extLst>
                <a:ext uri="{FF2B5EF4-FFF2-40B4-BE49-F238E27FC236}">
                  <a16:creationId xmlns:a16="http://schemas.microsoft.com/office/drawing/2014/main" id="{6F143999-05FA-414B-ED7F-6CD05AE4D1E9}"/>
                </a:ext>
              </a:extLst>
            </p:cNvPr>
            <p:cNvCxnSpPr>
              <a:cxnSpLocks noChangeShapeType="1"/>
            </p:cNvCxnSpPr>
            <p:nvPr/>
          </p:nvCxnSpPr>
          <p:spPr bwMode="auto">
            <a:xfrm rot="5400000">
              <a:off x="53332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2" name="Text Box 106">
              <a:extLst>
                <a:ext uri="{FF2B5EF4-FFF2-40B4-BE49-F238E27FC236}">
                  <a16:creationId xmlns:a16="http://schemas.microsoft.com/office/drawing/2014/main" id="{49D55AD8-767B-03E4-F4F5-B5EEB7A4DC0C}"/>
                </a:ext>
              </a:extLst>
            </p:cNvPr>
            <p:cNvSpPr txBox="1">
              <a:spLocks noChangeArrowheads="1"/>
            </p:cNvSpPr>
            <p:nvPr/>
          </p:nvSpPr>
          <p:spPr bwMode="auto">
            <a:xfrm>
              <a:off x="5943600" y="5576888"/>
              <a:ext cx="5334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 Day</a:t>
              </a:r>
            </a:p>
          </p:txBody>
        </p:sp>
        <p:sp>
          <p:nvSpPr>
            <p:cNvPr id="153" name="Text Box 106">
              <a:extLst>
                <a:ext uri="{FF2B5EF4-FFF2-40B4-BE49-F238E27FC236}">
                  <a16:creationId xmlns:a16="http://schemas.microsoft.com/office/drawing/2014/main" id="{FF44B86E-3B1D-AB16-2362-EBA9910BA85C}"/>
                </a:ext>
              </a:extLst>
            </p:cNvPr>
            <p:cNvSpPr txBox="1">
              <a:spLocks noChangeArrowheads="1"/>
            </p:cNvSpPr>
            <p:nvPr/>
          </p:nvSpPr>
          <p:spPr bwMode="auto">
            <a:xfrm>
              <a:off x="6459538" y="5562600"/>
              <a:ext cx="550862"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cxnSp>
          <p:nvCxnSpPr>
            <p:cNvPr id="154" name="AutoShape 90">
              <a:extLst>
                <a:ext uri="{FF2B5EF4-FFF2-40B4-BE49-F238E27FC236}">
                  <a16:creationId xmlns:a16="http://schemas.microsoft.com/office/drawing/2014/main" id="{DEAD9E7D-4747-AB3D-525F-915DE3AB6248}"/>
                </a:ext>
              </a:extLst>
            </p:cNvPr>
            <p:cNvCxnSpPr>
              <a:cxnSpLocks noChangeShapeType="1"/>
            </p:cNvCxnSpPr>
            <p:nvPr/>
          </p:nvCxnSpPr>
          <p:spPr bwMode="auto">
            <a:xfrm rot="16200000" flipH="1">
              <a:off x="74668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5" name="Line 89">
              <a:extLst>
                <a:ext uri="{FF2B5EF4-FFF2-40B4-BE49-F238E27FC236}">
                  <a16:creationId xmlns:a16="http://schemas.microsoft.com/office/drawing/2014/main" id="{5CA59156-C324-8E7F-4D00-1CB0C69BA24F}"/>
                </a:ext>
              </a:extLst>
            </p:cNvPr>
            <p:cNvSpPr>
              <a:spLocks noChangeShapeType="1"/>
            </p:cNvSpPr>
            <p:nvPr/>
          </p:nvSpPr>
          <p:spPr bwMode="auto">
            <a:xfrm>
              <a:off x="7604125" y="5791200"/>
              <a:ext cx="3111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6" name="Text Box 106">
              <a:extLst>
                <a:ext uri="{FF2B5EF4-FFF2-40B4-BE49-F238E27FC236}">
                  <a16:creationId xmlns:a16="http://schemas.microsoft.com/office/drawing/2014/main" id="{35005469-3FFA-34A3-2DF1-14224DCAD924}"/>
                </a:ext>
              </a:extLst>
            </p:cNvPr>
            <p:cNvSpPr txBox="1">
              <a:spLocks noChangeArrowheads="1"/>
            </p:cNvSpPr>
            <p:nvPr/>
          </p:nvSpPr>
          <p:spPr bwMode="auto">
            <a:xfrm>
              <a:off x="6959600" y="5867400"/>
              <a:ext cx="584200" cy="233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157" name="Line 88">
              <a:extLst>
                <a:ext uri="{FF2B5EF4-FFF2-40B4-BE49-F238E27FC236}">
                  <a16:creationId xmlns:a16="http://schemas.microsoft.com/office/drawing/2014/main" id="{70D8FFE3-88BC-565F-E08F-20802BBB96B1}"/>
                </a:ext>
              </a:extLst>
            </p:cNvPr>
            <p:cNvSpPr>
              <a:spLocks noChangeShapeType="1"/>
            </p:cNvSpPr>
            <p:nvPr/>
          </p:nvSpPr>
          <p:spPr bwMode="auto">
            <a:xfrm>
              <a:off x="79248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158" name="AutoShape 90">
              <a:extLst>
                <a:ext uri="{FF2B5EF4-FFF2-40B4-BE49-F238E27FC236}">
                  <a16:creationId xmlns:a16="http://schemas.microsoft.com/office/drawing/2014/main" id="{B7BF5E0D-B4DA-ABFC-A5DA-70953273C8C8}"/>
                </a:ext>
              </a:extLst>
            </p:cNvPr>
            <p:cNvCxnSpPr>
              <a:cxnSpLocks noChangeShapeType="1"/>
            </p:cNvCxnSpPr>
            <p:nvPr/>
          </p:nvCxnSpPr>
          <p:spPr bwMode="auto">
            <a:xfrm rot="16200000" flipH="1">
              <a:off x="77716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9" name="AutoShape 90">
              <a:extLst>
                <a:ext uri="{FF2B5EF4-FFF2-40B4-BE49-F238E27FC236}">
                  <a16:creationId xmlns:a16="http://schemas.microsoft.com/office/drawing/2014/main" id="{42A8154E-33CC-0D68-877B-DBBC81F39536}"/>
                </a:ext>
              </a:extLst>
            </p:cNvPr>
            <p:cNvCxnSpPr>
              <a:cxnSpLocks noChangeShapeType="1"/>
            </p:cNvCxnSpPr>
            <p:nvPr/>
          </p:nvCxnSpPr>
          <p:spPr bwMode="auto">
            <a:xfrm rot="16200000" flipH="1">
              <a:off x="85336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0" name="AutoShape 95">
              <a:extLst>
                <a:ext uri="{FF2B5EF4-FFF2-40B4-BE49-F238E27FC236}">
                  <a16:creationId xmlns:a16="http://schemas.microsoft.com/office/drawing/2014/main" id="{14921DC9-6B8D-0B86-BFA5-D7352D2A344C}"/>
                </a:ext>
              </a:extLst>
            </p:cNvPr>
            <p:cNvCxnSpPr>
              <a:cxnSpLocks noChangeShapeType="1"/>
            </p:cNvCxnSpPr>
            <p:nvPr/>
          </p:nvCxnSpPr>
          <p:spPr bwMode="auto">
            <a:xfrm>
              <a:off x="7924800" y="5791200"/>
              <a:ext cx="731838"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grpSp>
          <p:nvGrpSpPr>
            <p:cNvPr id="161" name="Group 130">
              <a:extLst>
                <a:ext uri="{FF2B5EF4-FFF2-40B4-BE49-F238E27FC236}">
                  <a16:creationId xmlns:a16="http://schemas.microsoft.com/office/drawing/2014/main" id="{95F7C651-7FE9-C84A-0385-00BCBCB12F0B}"/>
                </a:ext>
              </a:extLst>
            </p:cNvPr>
            <p:cNvGrpSpPr>
              <a:grpSpLocks/>
            </p:cNvGrpSpPr>
            <p:nvPr/>
          </p:nvGrpSpPr>
          <p:grpSpPr bwMode="auto">
            <a:xfrm rot="-9689062">
              <a:off x="3354388" y="2557463"/>
              <a:ext cx="488950" cy="1050925"/>
              <a:chOff x="636" y="2054"/>
              <a:chExt cx="200" cy="298"/>
            </a:xfrm>
          </p:grpSpPr>
          <p:sp>
            <p:nvSpPr>
              <p:cNvPr id="162" name="Line 131">
                <a:extLst>
                  <a:ext uri="{FF2B5EF4-FFF2-40B4-BE49-F238E27FC236}">
                    <a16:creationId xmlns:a16="http://schemas.microsoft.com/office/drawing/2014/main" id="{3E61AE64-DFC9-9C7E-E0AD-6DC8E70DBEA5}"/>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3" name="Line 132">
                <a:extLst>
                  <a:ext uri="{FF2B5EF4-FFF2-40B4-BE49-F238E27FC236}">
                    <a16:creationId xmlns:a16="http://schemas.microsoft.com/office/drawing/2014/main" id="{E0FEF188-D3EA-F48B-1703-27B9E2D9EA80}"/>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4" name="Line 133">
                <a:extLst>
                  <a:ext uri="{FF2B5EF4-FFF2-40B4-BE49-F238E27FC236}">
                    <a16:creationId xmlns:a16="http://schemas.microsoft.com/office/drawing/2014/main" id="{367EB283-C4A9-AA8D-6CD0-18E384DB1158}"/>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65" name="Rectangle 121">
              <a:extLst>
                <a:ext uri="{FF2B5EF4-FFF2-40B4-BE49-F238E27FC236}">
                  <a16:creationId xmlns:a16="http://schemas.microsoft.com/office/drawing/2014/main" id="{2AF1DF09-E3AF-7659-F415-34E7716CC4A6}"/>
                </a:ext>
              </a:extLst>
            </p:cNvPr>
            <p:cNvSpPr>
              <a:spLocks noChangeArrowheads="1"/>
            </p:cNvSpPr>
            <p:nvPr/>
          </p:nvSpPr>
          <p:spPr bwMode="auto">
            <a:xfrm>
              <a:off x="1219200" y="23622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Annual Email</a:t>
              </a:r>
            </a:p>
            <a:p>
              <a:pPr eaLnBrk="1" hangingPunct="1"/>
              <a:r>
                <a:rPr lang="en-US" altLang="en-US" sz="900">
                  <a:latin typeface="Roboto" panose="02000000000000000000" pitchFamily="2" charset="0"/>
                  <a:ea typeface="Roboto" panose="02000000000000000000" pitchFamily="2" charset="0"/>
                </a:rPr>
                <a:t>Reminder</a:t>
              </a:r>
            </a:p>
          </p:txBody>
        </p:sp>
        <p:grpSp>
          <p:nvGrpSpPr>
            <p:cNvPr id="166" name="Group 130">
              <a:extLst>
                <a:ext uri="{FF2B5EF4-FFF2-40B4-BE49-F238E27FC236}">
                  <a16:creationId xmlns:a16="http://schemas.microsoft.com/office/drawing/2014/main" id="{12C9E4D8-729D-1C6D-923D-BB58064D5DF1}"/>
                </a:ext>
              </a:extLst>
            </p:cNvPr>
            <p:cNvGrpSpPr>
              <a:grpSpLocks/>
            </p:cNvGrpSpPr>
            <p:nvPr/>
          </p:nvGrpSpPr>
          <p:grpSpPr bwMode="auto">
            <a:xfrm rot="9057867">
              <a:off x="936625" y="3113088"/>
              <a:ext cx="725488" cy="280987"/>
              <a:chOff x="636" y="2054"/>
              <a:chExt cx="200" cy="298"/>
            </a:xfrm>
          </p:grpSpPr>
          <p:sp>
            <p:nvSpPr>
              <p:cNvPr id="167" name="Line 131">
                <a:extLst>
                  <a:ext uri="{FF2B5EF4-FFF2-40B4-BE49-F238E27FC236}">
                    <a16:creationId xmlns:a16="http://schemas.microsoft.com/office/drawing/2014/main" id="{EB62A314-B592-F29D-E5A6-C9D6C2176C0E}"/>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8" name="Line 132">
                <a:extLst>
                  <a:ext uri="{FF2B5EF4-FFF2-40B4-BE49-F238E27FC236}">
                    <a16:creationId xmlns:a16="http://schemas.microsoft.com/office/drawing/2014/main" id="{5EABDE89-55E5-A03E-CF67-F4AF64BC8E75}"/>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9" name="Line 133">
                <a:extLst>
                  <a:ext uri="{FF2B5EF4-FFF2-40B4-BE49-F238E27FC236}">
                    <a16:creationId xmlns:a16="http://schemas.microsoft.com/office/drawing/2014/main" id="{7C4AB223-6492-379E-7564-EDC3F8072F6F}"/>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spTree>
    <p:extLst>
      <p:ext uri="{BB962C8B-B14F-4D97-AF65-F5344CB8AC3E}">
        <p14:creationId xmlns:p14="http://schemas.microsoft.com/office/powerpoint/2010/main" val="1795571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4</a:t>
            </a:fld>
            <a:endParaRPr lang="en-US"/>
          </a:p>
        </p:txBody>
      </p:sp>
      <p:sp>
        <p:nvSpPr>
          <p:cNvPr id="2" name="Content Placeholder 2">
            <a:extLst>
              <a:ext uri="{FF2B5EF4-FFF2-40B4-BE49-F238E27FC236}">
                <a16:creationId xmlns:a16="http://schemas.microsoft.com/office/drawing/2014/main" id="{A982A78C-7FEE-ECD2-060D-6538EAE3290A}"/>
              </a:ext>
            </a:extLst>
          </p:cNvPr>
          <p:cNvSpPr txBox="1">
            <a:spLocks/>
          </p:cNvSpPr>
          <p:nvPr/>
        </p:nvSpPr>
        <p:spPr>
          <a:xfrm>
            <a:off x="365760" y="651510"/>
            <a:ext cx="10824210" cy="5525453"/>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u="sng" dirty="0"/>
              <a:t>Interrogated Current State Map/Future State Map Results</a:t>
            </a:r>
          </a:p>
          <a:p>
            <a:pPr marL="0" indent="0">
              <a:buFont typeface="Arial" panose="020B0604020202020204" pitchFamily="34" charset="0"/>
              <a:buNone/>
            </a:pPr>
            <a:r>
              <a:rPr lang="en-US" sz="1400" dirty="0"/>
              <a:t>Human resources gives annual reviews to approximately 150 employees per year.  Each Supervisor has an average of 15 employees reporting to him/her.  The process starts October 15 and all reviews are done at year end by Dec. 15. </a:t>
            </a:r>
          </a:p>
          <a:p>
            <a:pPr marL="0" indent="0">
              <a:buFont typeface="Arial" panose="020B0604020202020204" pitchFamily="34" charset="0"/>
              <a:buNone/>
            </a:pPr>
            <a:r>
              <a:rPr lang="en-US" sz="1400" b="1" dirty="0"/>
              <a:t>Create Review Form:</a:t>
            </a:r>
          </a:p>
          <a:p>
            <a:pPr marL="0" indent="0">
              <a:buFont typeface="Arial" panose="020B0604020202020204" pitchFamily="34" charset="0"/>
              <a:buNone/>
            </a:pPr>
            <a:r>
              <a:rPr lang="en-US" sz="1400" dirty="0"/>
              <a:t>HR clerk starts the process in October , after an automated yearly email reminder is sent, and requires 3 weeks to complete. A 2-way review form is issued directly to the employee when HR initiates the project. Employee performs a self scoring review for the Supervisor.   The employee also provides an anonymous review of their Supervisor as feedback for the Supervisor to improve.  The HR clerk does not start until all the forms are submitted back, which requires a 5 day waiting period. HR clerk  prepares a package for each employee, looks up and enters data onto the form (position, current wage, years of service, and annual review date). HR Manager reviews all packages .  HR Manager requires 1 week for the review.   Each package takes 20 minutes to assemble and review.  The documents are sent to the mailroom for distribution to the appropriate Supervisor.  Mailroom will have packages delivered within 2 days.</a:t>
            </a:r>
          </a:p>
          <a:p>
            <a:pPr marL="0" indent="0">
              <a:buFont typeface="Arial" panose="020B0604020202020204" pitchFamily="34" charset="0"/>
              <a:buNone/>
            </a:pPr>
            <a:r>
              <a:rPr lang="en-US" sz="1400" dirty="0">
                <a:solidFill>
                  <a:srgbClr val="FF0000"/>
                </a:solidFill>
              </a:rPr>
              <a:t>	1.  Standard Work on Create Review Form, 40 day cycle changed to 12 month cycle, takt time adjusted.  Changed to weekly batches per new takt time calculation, HR Manager review moved to end of process Std WIP 5 days, visual queues installed, process lead time reduced from 20 days to 5 days</a:t>
            </a:r>
          </a:p>
          <a:p>
            <a:pPr marL="0" indent="0">
              <a:buFont typeface="Arial" panose="020B0604020202020204" pitchFamily="34" charset="0"/>
              <a:buNone/>
            </a:pPr>
            <a:r>
              <a:rPr lang="en-US" sz="1400" b="1" dirty="0"/>
              <a:t>Construct Review:</a:t>
            </a:r>
          </a:p>
          <a:p>
            <a:pPr marL="0" indent="0">
              <a:buFont typeface="Arial" panose="020B0604020202020204" pitchFamily="34" charset="0"/>
              <a:buNone/>
            </a:pPr>
            <a:r>
              <a:rPr lang="en-US" sz="1400" dirty="0"/>
              <a:t>Supervisor performs the written portion of the reviews upon receipt of package from mailroom.  Self review is compared and any discrepancies are noted and discussion points during review with employee.  Budget is reviewed and wage increases to match budget.  The process takes approximately 30 minutes per review.  Due to day to day activities, it normally takes 2 weeks to complete the reviews.  Review is then scheduled with the employee within 1 week.</a:t>
            </a:r>
          </a:p>
          <a:p>
            <a:pPr marL="0" indent="0">
              <a:buFont typeface="Arial" panose="020B0604020202020204" pitchFamily="34" charset="0"/>
              <a:buNone/>
            </a:pPr>
            <a:r>
              <a:rPr lang="en-US" sz="1400" dirty="0"/>
              <a:t>	</a:t>
            </a:r>
            <a:r>
              <a:rPr lang="en-US" sz="1400" dirty="0">
                <a:solidFill>
                  <a:srgbClr val="FF0000"/>
                </a:solidFill>
              </a:rPr>
              <a:t>2.  Standard Work on Construct Review Form, 60 day batch to weekly batch per new takt time, Std WIP 5 days, visual queues installed, process lead time reduced from 10 days to 5 days</a:t>
            </a:r>
          </a:p>
          <a:p>
            <a:pPr marL="0" indent="0">
              <a:buFont typeface="Arial" panose="020B0604020202020204" pitchFamily="34" charset="0"/>
              <a:buNone/>
            </a:pPr>
            <a:r>
              <a:rPr lang="en-US" sz="1400" b="1" dirty="0"/>
              <a:t>Review Meeting:</a:t>
            </a:r>
          </a:p>
          <a:p>
            <a:pPr marL="0" indent="0">
              <a:buFont typeface="Arial" panose="020B0604020202020204" pitchFamily="34" charset="0"/>
              <a:buNone/>
            </a:pPr>
            <a:r>
              <a:rPr lang="en-US" sz="1400" dirty="0"/>
              <a:t>Supervisor meets with employee and performs review.  Review takes 1 </a:t>
            </a:r>
            <a:r>
              <a:rPr lang="en-US" sz="1400" dirty="0" err="1"/>
              <a:t>hr</a:t>
            </a:r>
            <a:r>
              <a:rPr lang="en-US" sz="1400" dirty="0"/>
              <a:t> to perform.  Half of the time, the employee does not agree with the review and requests changes.  Supervisor will spend another 30 minutes and amend the original review.  An Amended Meeting with employee will be done and a consensus on the review determined within 2 weeks of the first review.  </a:t>
            </a:r>
          </a:p>
          <a:p>
            <a:pPr marL="0" indent="0">
              <a:buFont typeface="Arial" panose="020B0604020202020204" pitchFamily="34" charset="0"/>
              <a:buNone/>
            </a:pPr>
            <a:r>
              <a:rPr lang="en-US" sz="1400" dirty="0"/>
              <a:t>	</a:t>
            </a:r>
            <a:r>
              <a:rPr lang="en-US" sz="1400" dirty="0">
                <a:solidFill>
                  <a:srgbClr val="FF0000"/>
                </a:solidFill>
              </a:rPr>
              <a:t>3.  Poka yoke Review Meeting, 60 day batch to weekly batch per new takt time, Std WIP 5 days, Team Review will be built with  employee for consensus at time of meeting, </a:t>
            </a:r>
            <a:r>
              <a:rPr lang="en-US" sz="1400" dirty="0" err="1">
                <a:solidFill>
                  <a:srgbClr val="FF0000"/>
                </a:solidFill>
              </a:rPr>
              <a:t>pokayoke</a:t>
            </a:r>
            <a:r>
              <a:rPr lang="en-US" sz="1400" dirty="0">
                <a:solidFill>
                  <a:srgbClr val="FF0000"/>
                </a:solidFill>
              </a:rPr>
              <a:t> to eliminate the Amended Review process.  </a:t>
            </a:r>
          </a:p>
          <a:p>
            <a:pPr marL="0" indent="0">
              <a:buFont typeface="Arial" panose="020B0604020202020204" pitchFamily="34" charset="0"/>
              <a:buNone/>
            </a:pPr>
            <a:endParaRPr lang="en-US" sz="1400" dirty="0"/>
          </a:p>
        </p:txBody>
      </p:sp>
    </p:spTree>
    <p:extLst>
      <p:ext uri="{BB962C8B-B14F-4D97-AF65-F5344CB8AC3E}">
        <p14:creationId xmlns:p14="http://schemas.microsoft.com/office/powerpoint/2010/main" val="3732274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5</a:t>
            </a:fld>
            <a:endParaRPr lang="en-US"/>
          </a:p>
        </p:txBody>
      </p:sp>
      <p:sp>
        <p:nvSpPr>
          <p:cNvPr id="2" name="Content Placeholder 2">
            <a:extLst>
              <a:ext uri="{FF2B5EF4-FFF2-40B4-BE49-F238E27FC236}">
                <a16:creationId xmlns:a16="http://schemas.microsoft.com/office/drawing/2014/main" id="{A982A78C-7FEE-ECD2-060D-6538EAE3290A}"/>
              </a:ext>
            </a:extLst>
          </p:cNvPr>
          <p:cNvSpPr txBox="1">
            <a:spLocks/>
          </p:cNvSpPr>
          <p:nvPr/>
        </p:nvSpPr>
        <p:spPr>
          <a:xfrm>
            <a:off x="365760" y="651510"/>
            <a:ext cx="10824210" cy="552545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u="sng" dirty="0"/>
              <a:t>Interrogated Current State Map/Future State Map Results</a:t>
            </a:r>
          </a:p>
          <a:p>
            <a:pPr marL="0" indent="0">
              <a:buFont typeface="Arial" panose="020B0604020202020204" pitchFamily="34" charset="0"/>
              <a:buNone/>
            </a:pPr>
            <a:r>
              <a:rPr lang="en-US" sz="1400" b="1" dirty="0"/>
              <a:t>Review Approval:</a:t>
            </a:r>
          </a:p>
          <a:p>
            <a:pPr marL="0" indent="0">
              <a:buFont typeface="Arial" panose="020B0604020202020204" pitchFamily="34" charset="0"/>
              <a:buNone/>
            </a:pPr>
            <a:r>
              <a:rPr lang="en-US" sz="1400" dirty="0"/>
              <a:t>After Review is complete, they are immediately submitted to the VP for approval.  VP enters into budget database.  10 minutes for VP to process review.  The VP is often out of town every other week, and taking 2 weeks to complete after reminders from HR.   After completion, goes to Mailroom and delivered to Acct within 2 days.</a:t>
            </a:r>
          </a:p>
          <a:p>
            <a:pPr marL="0" indent="0">
              <a:buFont typeface="Arial" panose="020B0604020202020204" pitchFamily="34" charset="0"/>
              <a:buNone/>
            </a:pPr>
            <a:r>
              <a:rPr lang="en-US" sz="1400" dirty="0">
                <a:solidFill>
                  <a:srgbClr val="FF0000"/>
                </a:solidFill>
              </a:rPr>
              <a:t>	4.  Review Approval moved to end of process.  Operations database eliminated, consolidated to main database.  10 days lead time eliminated from process lead time. 	</a:t>
            </a:r>
          </a:p>
          <a:p>
            <a:pPr marL="0" indent="0">
              <a:buFont typeface="Arial" panose="020B0604020202020204" pitchFamily="34" charset="0"/>
              <a:buNone/>
            </a:pPr>
            <a:r>
              <a:rPr lang="en-US" sz="1400" b="1" dirty="0"/>
              <a:t>Accounting Review:</a:t>
            </a:r>
          </a:p>
          <a:p>
            <a:pPr marL="0" indent="0">
              <a:buFont typeface="Arial" panose="020B0604020202020204" pitchFamily="34" charset="0"/>
              <a:buNone/>
            </a:pPr>
            <a:r>
              <a:rPr lang="en-US" sz="1400" dirty="0"/>
              <a:t>Accounting reviews the wage increase and budget on a daily basis, then forwards directly to Accounting Manager.  5 minutes to process</a:t>
            </a:r>
          </a:p>
          <a:p>
            <a:pPr marL="0" indent="0">
              <a:buFont typeface="Arial" panose="020B0604020202020204" pitchFamily="34" charset="0"/>
              <a:buNone/>
            </a:pPr>
            <a:r>
              <a:rPr lang="en-US" sz="1400" dirty="0">
                <a:solidFill>
                  <a:srgbClr val="FF0000"/>
                </a:solidFill>
              </a:rPr>
              <a:t>	 5.  Accounting Review  eliminated and Accounting Manager Approval moved to end of process.  1 day lead time eliminated from process lead time. </a:t>
            </a:r>
          </a:p>
          <a:p>
            <a:pPr marL="0" indent="0">
              <a:buFont typeface="Arial" panose="020B0604020202020204" pitchFamily="34" charset="0"/>
              <a:buNone/>
            </a:pPr>
            <a:r>
              <a:rPr lang="en-US" sz="1400" b="1" dirty="0"/>
              <a:t>Accounting Manager Approval:</a:t>
            </a:r>
          </a:p>
          <a:p>
            <a:pPr marL="0" indent="0">
              <a:buFont typeface="Arial" panose="020B0604020202020204" pitchFamily="34" charset="0"/>
              <a:buNone/>
            </a:pPr>
            <a:r>
              <a:rPr lang="en-US" sz="1400" dirty="0"/>
              <a:t>Accounting Manager signs off within 2 weeks.  10 minutes to process.   Any wage increase over budget goes to CFO review and signoff.  Accounting Manager updates department files on increased wages.  Reviews sent to HR to file via Mailroom within 2 days.</a:t>
            </a:r>
          </a:p>
          <a:p>
            <a:pPr marL="0" indent="0">
              <a:buFont typeface="Arial" panose="020B0604020202020204" pitchFamily="34" charset="0"/>
              <a:buNone/>
            </a:pPr>
            <a:r>
              <a:rPr lang="en-US" sz="1400" dirty="0">
                <a:solidFill>
                  <a:srgbClr val="FF0000"/>
                </a:solidFill>
              </a:rPr>
              <a:t>	6.  Accounting Review  eliminated and Accounting Manager Approval moved to end of process.  Accounting database eliminated, consolidated to main database.   10 days lead time eliminated from process lead time. </a:t>
            </a:r>
          </a:p>
          <a:p>
            <a:pPr marL="0" indent="0">
              <a:buFont typeface="Arial" panose="020B0604020202020204" pitchFamily="34" charset="0"/>
              <a:buNone/>
            </a:pPr>
            <a:r>
              <a:rPr lang="en-US" sz="1400" b="1" dirty="0"/>
              <a:t>Finalize, File:</a:t>
            </a:r>
          </a:p>
          <a:p>
            <a:pPr marL="0" indent="0">
              <a:buFont typeface="Arial" panose="020B0604020202020204" pitchFamily="34" charset="0"/>
              <a:buNone/>
            </a:pPr>
            <a:r>
              <a:rPr lang="en-US" sz="1400" dirty="0"/>
              <a:t>HR enters wage increase into payroll database within 2 weeks.  Calculates the increase back-pay and enters into payroll system.  Reviews are then filed.  10 minutes per form to process .  </a:t>
            </a:r>
          </a:p>
          <a:p>
            <a:pPr marL="0" indent="0">
              <a:buFont typeface="Arial" panose="020B0604020202020204" pitchFamily="34" charset="0"/>
              <a:buNone/>
            </a:pPr>
            <a:r>
              <a:rPr lang="en-US" sz="1400" dirty="0"/>
              <a:t>	</a:t>
            </a:r>
            <a:r>
              <a:rPr lang="en-US" sz="1400" dirty="0">
                <a:solidFill>
                  <a:srgbClr val="FF0000"/>
                </a:solidFill>
              </a:rPr>
              <a:t>7.  Standard Work on Finalize-File, 60 day batch to weekly batch per new takt time, consolidated to main database.  Std WIP 5 days, visual queues installed.  Mailroom Standard Work turnaround reduced from 2 days to 1 day.  Process lead time reduced from 10 days to 5 days</a:t>
            </a:r>
          </a:p>
        </p:txBody>
      </p:sp>
    </p:spTree>
    <p:extLst>
      <p:ext uri="{BB962C8B-B14F-4D97-AF65-F5344CB8AC3E}">
        <p14:creationId xmlns:p14="http://schemas.microsoft.com/office/powerpoint/2010/main" val="3705096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6</a:t>
            </a:fld>
            <a:endParaRPr lang="en-US"/>
          </a:p>
        </p:txBody>
      </p:sp>
      <p:grpSp>
        <p:nvGrpSpPr>
          <p:cNvPr id="394" name="Group 393">
            <a:extLst>
              <a:ext uri="{FF2B5EF4-FFF2-40B4-BE49-F238E27FC236}">
                <a16:creationId xmlns:a16="http://schemas.microsoft.com/office/drawing/2014/main" id="{0A013D20-52DF-0D56-F4D0-74BE6D16B0E2}"/>
              </a:ext>
            </a:extLst>
          </p:cNvPr>
          <p:cNvGrpSpPr/>
          <p:nvPr/>
        </p:nvGrpSpPr>
        <p:grpSpPr>
          <a:xfrm>
            <a:off x="496412" y="643549"/>
            <a:ext cx="11199177" cy="5608662"/>
            <a:chOff x="36513" y="533400"/>
            <a:chExt cx="8774112" cy="6207125"/>
          </a:xfrm>
        </p:grpSpPr>
        <p:grpSp>
          <p:nvGrpSpPr>
            <p:cNvPr id="2" name="Group 144">
              <a:extLst>
                <a:ext uri="{FF2B5EF4-FFF2-40B4-BE49-F238E27FC236}">
                  <a16:creationId xmlns:a16="http://schemas.microsoft.com/office/drawing/2014/main" id="{F92D263F-A731-D92B-0AE8-9C93C1C0280C}"/>
                </a:ext>
              </a:extLst>
            </p:cNvPr>
            <p:cNvGrpSpPr>
              <a:grpSpLocks/>
            </p:cNvGrpSpPr>
            <p:nvPr/>
          </p:nvGrpSpPr>
          <p:grpSpPr bwMode="auto">
            <a:xfrm>
              <a:off x="381000" y="3657600"/>
              <a:ext cx="762000" cy="1295400"/>
              <a:chOff x="609600" y="3657600"/>
              <a:chExt cx="1062925" cy="1295400"/>
            </a:xfrm>
          </p:grpSpPr>
          <p:sp>
            <p:nvSpPr>
              <p:cNvPr id="171" name="Rectangle 30">
                <a:extLst>
                  <a:ext uri="{FF2B5EF4-FFF2-40B4-BE49-F238E27FC236}">
                    <a16:creationId xmlns:a16="http://schemas.microsoft.com/office/drawing/2014/main" id="{E99448CE-DC22-D66B-DB68-BFC38ECDE1A0}"/>
                  </a:ext>
                </a:extLst>
              </p:cNvPr>
              <p:cNvSpPr>
                <a:spLocks noChangeArrowheads="1"/>
              </p:cNvSpPr>
              <p:nvPr/>
            </p:nvSpPr>
            <p:spPr bwMode="auto">
              <a:xfrm>
                <a:off x="610834" y="3657600"/>
                <a:ext cx="10160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2" name="Text Box 33">
                <a:extLst>
                  <a:ext uri="{FF2B5EF4-FFF2-40B4-BE49-F238E27FC236}">
                    <a16:creationId xmlns:a16="http://schemas.microsoft.com/office/drawing/2014/main" id="{9DF9F2E2-FC45-53AF-BF66-47B5747B3CFC}"/>
                  </a:ext>
                </a:extLst>
              </p:cNvPr>
              <p:cNvSpPr txBox="1">
                <a:spLocks noChangeArrowheads="1"/>
              </p:cNvSpPr>
              <p:nvPr/>
            </p:nvSpPr>
            <p:spPr bwMode="auto">
              <a:xfrm>
                <a:off x="651832" y="3683000"/>
                <a:ext cx="9144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Create Review</a:t>
                </a:r>
              </a:p>
              <a:p>
                <a:pPr eaLnBrk="1" hangingPunct="1"/>
                <a:r>
                  <a:rPr lang="en-US" altLang="en-US" sz="900">
                    <a:latin typeface="Roboto" panose="02000000000000000000" pitchFamily="2" charset="0"/>
                    <a:ea typeface="Roboto" panose="02000000000000000000" pitchFamily="2" charset="0"/>
                  </a:rPr>
                  <a:t>Form</a:t>
                </a:r>
              </a:p>
            </p:txBody>
          </p:sp>
          <p:sp>
            <p:nvSpPr>
              <p:cNvPr id="173" name="Rectangle 42">
                <a:extLst>
                  <a:ext uri="{FF2B5EF4-FFF2-40B4-BE49-F238E27FC236}">
                    <a16:creationId xmlns:a16="http://schemas.microsoft.com/office/drawing/2014/main" id="{FBA15D2A-9094-16DF-99C6-23707A6661F2}"/>
                  </a:ext>
                </a:extLst>
              </p:cNvPr>
              <p:cNvSpPr>
                <a:spLocks noChangeArrowheads="1"/>
              </p:cNvSpPr>
              <p:nvPr/>
            </p:nvSpPr>
            <p:spPr bwMode="auto">
              <a:xfrm>
                <a:off x="633672" y="4310063"/>
                <a:ext cx="996336"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4" name="Rectangle 43">
                <a:extLst>
                  <a:ext uri="{FF2B5EF4-FFF2-40B4-BE49-F238E27FC236}">
                    <a16:creationId xmlns:a16="http://schemas.microsoft.com/office/drawing/2014/main" id="{7F12C576-9ABA-2AE7-877B-81F923422913}"/>
                  </a:ext>
                </a:extLst>
              </p:cNvPr>
              <p:cNvSpPr>
                <a:spLocks noChangeArrowheads="1"/>
              </p:cNvSpPr>
              <p:nvPr/>
            </p:nvSpPr>
            <p:spPr bwMode="auto">
              <a:xfrm>
                <a:off x="609600" y="4306888"/>
                <a:ext cx="1062925"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20 D</a:t>
                </a:r>
              </a:p>
              <a:p>
                <a:pPr eaLnBrk="1" hangingPunct="1">
                  <a:lnSpc>
                    <a:spcPct val="125000"/>
                  </a:lnSpc>
                </a:pPr>
                <a:r>
                  <a:rPr lang="en-US" altLang="en-US" sz="500">
                    <a:latin typeface="Roboto" panose="02000000000000000000" pitchFamily="2" charset="0"/>
                    <a:ea typeface="Roboto" panose="02000000000000000000" pitchFamily="2" charset="0"/>
                  </a:rPr>
                  <a:t>Processing Time = 20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grpSp>
        <p:grpSp>
          <p:nvGrpSpPr>
            <p:cNvPr id="175" name="Group 148">
              <a:extLst>
                <a:ext uri="{FF2B5EF4-FFF2-40B4-BE49-F238E27FC236}">
                  <a16:creationId xmlns:a16="http://schemas.microsoft.com/office/drawing/2014/main" id="{B0DF38CE-B41A-79B7-6FFD-C6AE8929FB52}"/>
                </a:ext>
              </a:extLst>
            </p:cNvPr>
            <p:cNvGrpSpPr>
              <a:grpSpLocks/>
            </p:cNvGrpSpPr>
            <p:nvPr/>
          </p:nvGrpSpPr>
          <p:grpSpPr bwMode="auto">
            <a:xfrm>
              <a:off x="2514600" y="3657600"/>
              <a:ext cx="731838" cy="1319213"/>
              <a:chOff x="2971800" y="3657600"/>
              <a:chExt cx="898525" cy="1318702"/>
            </a:xfrm>
          </p:grpSpPr>
          <p:sp>
            <p:nvSpPr>
              <p:cNvPr id="176" name="Rectangle 30">
                <a:extLst>
                  <a:ext uri="{FF2B5EF4-FFF2-40B4-BE49-F238E27FC236}">
                    <a16:creationId xmlns:a16="http://schemas.microsoft.com/office/drawing/2014/main" id="{76003CA1-3E51-C896-57B8-26DD44D254E0}"/>
                  </a:ext>
                </a:extLst>
              </p:cNvPr>
              <p:cNvSpPr>
                <a:spLocks noChangeArrowheads="1"/>
              </p:cNvSpPr>
              <p:nvPr/>
            </p:nvSpPr>
            <p:spPr bwMode="auto">
              <a:xfrm>
                <a:off x="2978150" y="3657600"/>
                <a:ext cx="8890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7" name="Text Box 33">
                <a:extLst>
                  <a:ext uri="{FF2B5EF4-FFF2-40B4-BE49-F238E27FC236}">
                    <a16:creationId xmlns:a16="http://schemas.microsoft.com/office/drawing/2014/main" id="{C32B7850-E920-B0CF-0523-65D00350112D}"/>
                  </a:ext>
                </a:extLst>
              </p:cNvPr>
              <p:cNvSpPr txBox="1">
                <a:spLocks noChangeArrowheads="1"/>
              </p:cNvSpPr>
              <p:nvPr/>
            </p:nvSpPr>
            <p:spPr bwMode="auto">
              <a:xfrm>
                <a:off x="2971800" y="3759369"/>
                <a:ext cx="84236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Review</a:t>
                </a:r>
                <a:br>
                  <a:rPr lang="en-US" altLang="en-US" sz="900">
                    <a:latin typeface="Roboto" panose="02000000000000000000" pitchFamily="2" charset="0"/>
                    <a:ea typeface="Roboto" panose="02000000000000000000" pitchFamily="2" charset="0"/>
                  </a:rPr>
                </a:br>
                <a:r>
                  <a:rPr lang="en-US" altLang="en-US" sz="900">
                    <a:latin typeface="Roboto" panose="02000000000000000000" pitchFamily="2" charset="0"/>
                    <a:ea typeface="Roboto" panose="02000000000000000000" pitchFamily="2" charset="0"/>
                  </a:rPr>
                  <a:t>Meeting</a:t>
                </a:r>
              </a:p>
              <a:p>
                <a:pPr eaLnBrk="1" hangingPunct="1"/>
                <a:endParaRPr lang="en-US" altLang="en-US" sz="900">
                  <a:latin typeface="Roboto" panose="02000000000000000000" pitchFamily="2" charset="0"/>
                  <a:ea typeface="Roboto" panose="02000000000000000000" pitchFamily="2" charset="0"/>
                </a:endParaRPr>
              </a:p>
            </p:txBody>
          </p:sp>
          <p:sp>
            <p:nvSpPr>
              <p:cNvPr id="178" name="Rectangle 42">
                <a:extLst>
                  <a:ext uri="{FF2B5EF4-FFF2-40B4-BE49-F238E27FC236}">
                    <a16:creationId xmlns:a16="http://schemas.microsoft.com/office/drawing/2014/main" id="{7A2B16E4-B0B7-2290-9DD3-9194B8D7F510}"/>
                  </a:ext>
                </a:extLst>
              </p:cNvPr>
              <p:cNvSpPr>
                <a:spLocks noChangeArrowheads="1"/>
              </p:cNvSpPr>
              <p:nvPr/>
            </p:nvSpPr>
            <p:spPr bwMode="auto">
              <a:xfrm>
                <a:off x="2978150" y="4310063"/>
                <a:ext cx="892175"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9" name="Rectangle 43">
                <a:extLst>
                  <a:ext uri="{FF2B5EF4-FFF2-40B4-BE49-F238E27FC236}">
                    <a16:creationId xmlns:a16="http://schemas.microsoft.com/office/drawing/2014/main" id="{6CFB943A-EE0D-5A2B-7915-7EB3B7FA3C0B}"/>
                  </a:ext>
                </a:extLst>
              </p:cNvPr>
              <p:cNvSpPr>
                <a:spLocks noChangeArrowheads="1"/>
              </p:cNvSpPr>
              <p:nvPr/>
            </p:nvSpPr>
            <p:spPr bwMode="auto">
              <a:xfrm>
                <a:off x="2971800" y="4306888"/>
                <a:ext cx="895350" cy="669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0 D</a:t>
                </a:r>
              </a:p>
              <a:p>
                <a:pPr eaLnBrk="1" hangingPunct="1">
                  <a:lnSpc>
                    <a:spcPct val="125000"/>
                  </a:lnSpc>
                </a:pPr>
                <a:r>
                  <a:rPr lang="en-US" altLang="en-US" sz="500">
                    <a:latin typeface="Roboto" panose="02000000000000000000" pitchFamily="2" charset="0"/>
                    <a:ea typeface="Roboto" panose="02000000000000000000" pitchFamily="2" charset="0"/>
                  </a:rPr>
                  <a:t>Processing Time = 1 hour</a:t>
                </a:r>
              </a:p>
              <a:p>
                <a:pPr eaLnBrk="1" hangingPunct="1">
                  <a:lnSpc>
                    <a:spcPct val="125000"/>
                  </a:lnSpc>
                </a:pPr>
                <a:r>
                  <a:rPr lang="en-US" altLang="en-US" sz="500">
                    <a:latin typeface="Roboto" panose="02000000000000000000" pitchFamily="2" charset="0"/>
                    <a:ea typeface="Roboto" panose="02000000000000000000" pitchFamily="2" charset="0"/>
                  </a:rPr>
                  <a:t>Quality 50%</a:t>
                </a:r>
              </a:p>
              <a:p>
                <a:pPr eaLnBrk="1" hangingPunct="1">
                  <a:lnSpc>
                    <a:spcPct val="125000"/>
                  </a:lnSpc>
                </a:pPr>
                <a:r>
                  <a:rPr lang="en-US" altLang="en-US" sz="500">
                    <a:latin typeface="Roboto" panose="02000000000000000000" pitchFamily="2" charset="0"/>
                    <a:ea typeface="Roboto" panose="02000000000000000000" pitchFamily="2" charset="0"/>
                  </a:rPr>
                  <a:t>Rework =  0.5 Times</a:t>
                </a:r>
              </a:p>
            </p:txBody>
          </p:sp>
          <p:sp>
            <p:nvSpPr>
              <p:cNvPr id="180" name="Rectangle 44">
                <a:extLst>
                  <a:ext uri="{FF2B5EF4-FFF2-40B4-BE49-F238E27FC236}">
                    <a16:creationId xmlns:a16="http://schemas.microsoft.com/office/drawing/2014/main" id="{0FF9D297-D7D3-1E2A-E99D-E76FDA4CA932}"/>
                  </a:ext>
                </a:extLst>
              </p:cNvPr>
              <p:cNvSpPr>
                <a:spLocks noChangeArrowheads="1"/>
              </p:cNvSpPr>
              <p:nvPr/>
            </p:nvSpPr>
            <p:spPr bwMode="auto">
              <a:xfrm>
                <a:off x="3168650" y="4438650"/>
                <a:ext cx="14605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grpSp>
          <p:nvGrpSpPr>
            <p:cNvPr id="181" name="Group 146">
              <a:extLst>
                <a:ext uri="{FF2B5EF4-FFF2-40B4-BE49-F238E27FC236}">
                  <a16:creationId xmlns:a16="http://schemas.microsoft.com/office/drawing/2014/main" id="{DABEB8DD-F93D-41AE-DD8C-2A38754D3126}"/>
                </a:ext>
              </a:extLst>
            </p:cNvPr>
            <p:cNvGrpSpPr>
              <a:grpSpLocks/>
            </p:cNvGrpSpPr>
            <p:nvPr/>
          </p:nvGrpSpPr>
          <p:grpSpPr bwMode="auto">
            <a:xfrm>
              <a:off x="4724400" y="3657600"/>
              <a:ext cx="762000" cy="1295400"/>
              <a:chOff x="6019790" y="3657600"/>
              <a:chExt cx="1063293" cy="1295400"/>
            </a:xfrm>
          </p:grpSpPr>
          <p:sp>
            <p:nvSpPr>
              <p:cNvPr id="182" name="Rectangle 30">
                <a:extLst>
                  <a:ext uri="{FF2B5EF4-FFF2-40B4-BE49-F238E27FC236}">
                    <a16:creationId xmlns:a16="http://schemas.microsoft.com/office/drawing/2014/main" id="{06AB48DF-DAD2-9747-7BC0-38023A5A8BB1}"/>
                  </a:ext>
                </a:extLst>
              </p:cNvPr>
              <p:cNvSpPr>
                <a:spLocks noChangeArrowheads="1"/>
              </p:cNvSpPr>
              <p:nvPr/>
            </p:nvSpPr>
            <p:spPr bwMode="auto">
              <a:xfrm>
                <a:off x="6021387" y="3657600"/>
                <a:ext cx="1016001"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83" name="Text Box 33">
                <a:extLst>
                  <a:ext uri="{FF2B5EF4-FFF2-40B4-BE49-F238E27FC236}">
                    <a16:creationId xmlns:a16="http://schemas.microsoft.com/office/drawing/2014/main" id="{F158AF01-000A-4EBE-B78E-75A5DF6E9E40}"/>
                  </a:ext>
                </a:extLst>
              </p:cNvPr>
              <p:cNvSpPr txBox="1">
                <a:spLocks noChangeArrowheads="1"/>
              </p:cNvSpPr>
              <p:nvPr/>
            </p:nvSpPr>
            <p:spPr bwMode="auto">
              <a:xfrm>
                <a:off x="6062354" y="3749675"/>
                <a:ext cx="9143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Review Approval</a:t>
                </a:r>
              </a:p>
            </p:txBody>
          </p:sp>
          <p:sp>
            <p:nvSpPr>
              <p:cNvPr id="184" name="Rectangle 42">
                <a:extLst>
                  <a:ext uri="{FF2B5EF4-FFF2-40B4-BE49-F238E27FC236}">
                    <a16:creationId xmlns:a16="http://schemas.microsoft.com/office/drawing/2014/main" id="{575311EF-176E-703F-F9E4-E8E354D3812A}"/>
                  </a:ext>
                </a:extLst>
              </p:cNvPr>
              <p:cNvSpPr>
                <a:spLocks noChangeArrowheads="1"/>
              </p:cNvSpPr>
              <p:nvPr/>
            </p:nvSpPr>
            <p:spPr bwMode="auto">
              <a:xfrm>
                <a:off x="6044227" y="4310063"/>
                <a:ext cx="996336"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85" name="Rectangle 43">
                <a:extLst>
                  <a:ext uri="{FF2B5EF4-FFF2-40B4-BE49-F238E27FC236}">
                    <a16:creationId xmlns:a16="http://schemas.microsoft.com/office/drawing/2014/main" id="{7BC3C3D7-BD63-60F2-2EA3-8B1397313EDB}"/>
                  </a:ext>
                </a:extLst>
              </p:cNvPr>
              <p:cNvSpPr>
                <a:spLocks noChangeArrowheads="1"/>
              </p:cNvSpPr>
              <p:nvPr/>
            </p:nvSpPr>
            <p:spPr bwMode="auto">
              <a:xfrm>
                <a:off x="6019790" y="4306888"/>
                <a:ext cx="1063293"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10 D</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186" name="Rectangle 44">
                <a:extLst>
                  <a:ext uri="{FF2B5EF4-FFF2-40B4-BE49-F238E27FC236}">
                    <a16:creationId xmlns:a16="http://schemas.microsoft.com/office/drawing/2014/main" id="{6EAE707F-F14C-43F0-D3BA-5CFC8765F3A4}"/>
                  </a:ext>
                </a:extLst>
              </p:cNvPr>
              <p:cNvSpPr>
                <a:spLocks noChangeArrowheads="1"/>
              </p:cNvSpPr>
              <p:nvPr/>
            </p:nvSpPr>
            <p:spPr bwMode="auto">
              <a:xfrm>
                <a:off x="6299200" y="4438650"/>
                <a:ext cx="1492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grpSp>
          <p:nvGrpSpPr>
            <p:cNvPr id="187" name="Group 147">
              <a:extLst>
                <a:ext uri="{FF2B5EF4-FFF2-40B4-BE49-F238E27FC236}">
                  <a16:creationId xmlns:a16="http://schemas.microsoft.com/office/drawing/2014/main" id="{FB12E6AE-3DD9-4A6C-3760-3EECD2D73DE7}"/>
                </a:ext>
              </a:extLst>
            </p:cNvPr>
            <p:cNvGrpSpPr>
              <a:grpSpLocks/>
            </p:cNvGrpSpPr>
            <p:nvPr/>
          </p:nvGrpSpPr>
          <p:grpSpPr bwMode="auto">
            <a:xfrm>
              <a:off x="6858000" y="3657600"/>
              <a:ext cx="762000" cy="1295400"/>
              <a:chOff x="6885907" y="3657600"/>
              <a:chExt cx="1023553" cy="1295400"/>
            </a:xfrm>
          </p:grpSpPr>
          <p:sp>
            <p:nvSpPr>
              <p:cNvPr id="188" name="Rectangle 30">
                <a:extLst>
                  <a:ext uri="{FF2B5EF4-FFF2-40B4-BE49-F238E27FC236}">
                    <a16:creationId xmlns:a16="http://schemas.microsoft.com/office/drawing/2014/main" id="{E1BE9BAF-EFF1-19EC-72D4-D905B29618CE}"/>
                  </a:ext>
                </a:extLst>
              </p:cNvPr>
              <p:cNvSpPr>
                <a:spLocks noChangeArrowheads="1"/>
              </p:cNvSpPr>
              <p:nvPr/>
            </p:nvSpPr>
            <p:spPr bwMode="auto">
              <a:xfrm>
                <a:off x="6887958" y="3657600"/>
                <a:ext cx="940129"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89" name="Text Box 33">
                <a:extLst>
                  <a:ext uri="{FF2B5EF4-FFF2-40B4-BE49-F238E27FC236}">
                    <a16:creationId xmlns:a16="http://schemas.microsoft.com/office/drawing/2014/main" id="{97272648-36B7-DBB2-4A90-BDEF6544A265}"/>
                  </a:ext>
                </a:extLst>
              </p:cNvPr>
              <p:cNvSpPr txBox="1">
                <a:spLocks noChangeArrowheads="1"/>
              </p:cNvSpPr>
              <p:nvPr/>
            </p:nvSpPr>
            <p:spPr bwMode="auto">
              <a:xfrm>
                <a:off x="6885907" y="3683169"/>
                <a:ext cx="102354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Accounting</a:t>
                </a:r>
              </a:p>
              <a:p>
                <a:pPr eaLnBrk="1" hangingPunct="1"/>
                <a:r>
                  <a:rPr lang="en-US" altLang="en-US" sz="900">
                    <a:latin typeface="Roboto" panose="02000000000000000000" pitchFamily="2" charset="0"/>
                    <a:ea typeface="Roboto" panose="02000000000000000000" pitchFamily="2" charset="0"/>
                  </a:rPr>
                  <a:t>Manager</a:t>
                </a:r>
              </a:p>
              <a:p>
                <a:pPr eaLnBrk="1" hangingPunct="1"/>
                <a:r>
                  <a:rPr lang="en-US" altLang="en-US" sz="900">
                    <a:latin typeface="Roboto" panose="02000000000000000000" pitchFamily="2" charset="0"/>
                    <a:ea typeface="Roboto" panose="02000000000000000000" pitchFamily="2" charset="0"/>
                  </a:rPr>
                  <a:t>Approval</a:t>
                </a:r>
              </a:p>
            </p:txBody>
          </p:sp>
          <p:sp>
            <p:nvSpPr>
              <p:cNvPr id="190" name="Rectangle 42">
                <a:extLst>
                  <a:ext uri="{FF2B5EF4-FFF2-40B4-BE49-F238E27FC236}">
                    <a16:creationId xmlns:a16="http://schemas.microsoft.com/office/drawing/2014/main" id="{ADE274CF-1216-8090-12DC-760E6D2D5269}"/>
                  </a:ext>
                </a:extLst>
              </p:cNvPr>
              <p:cNvSpPr>
                <a:spLocks noChangeArrowheads="1"/>
              </p:cNvSpPr>
              <p:nvPr/>
            </p:nvSpPr>
            <p:spPr bwMode="auto">
              <a:xfrm>
                <a:off x="6909328" y="4310063"/>
                <a:ext cx="921934"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91" name="Rectangle 43">
                <a:extLst>
                  <a:ext uri="{FF2B5EF4-FFF2-40B4-BE49-F238E27FC236}">
                    <a16:creationId xmlns:a16="http://schemas.microsoft.com/office/drawing/2014/main" id="{F7F95C10-4803-1087-1BDC-3626260E35BC}"/>
                  </a:ext>
                </a:extLst>
              </p:cNvPr>
              <p:cNvSpPr>
                <a:spLocks noChangeArrowheads="1"/>
              </p:cNvSpPr>
              <p:nvPr/>
            </p:nvSpPr>
            <p:spPr bwMode="auto">
              <a:xfrm>
                <a:off x="6934202" y="4306888"/>
                <a:ext cx="975258"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10 D</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192" name="Rectangle 44">
                <a:extLst>
                  <a:ext uri="{FF2B5EF4-FFF2-40B4-BE49-F238E27FC236}">
                    <a16:creationId xmlns:a16="http://schemas.microsoft.com/office/drawing/2014/main" id="{B30FEFB3-037E-6B6D-B7FD-CC562760154D}"/>
                  </a:ext>
                </a:extLst>
              </p:cNvPr>
              <p:cNvSpPr>
                <a:spLocks noChangeArrowheads="1"/>
              </p:cNvSpPr>
              <p:nvPr/>
            </p:nvSpPr>
            <p:spPr bwMode="auto">
              <a:xfrm>
                <a:off x="7104219" y="4438650"/>
                <a:ext cx="138081"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grpSp>
          <p:nvGrpSpPr>
            <p:cNvPr id="193" name="Group 152">
              <a:extLst>
                <a:ext uri="{FF2B5EF4-FFF2-40B4-BE49-F238E27FC236}">
                  <a16:creationId xmlns:a16="http://schemas.microsoft.com/office/drawing/2014/main" id="{87F24502-AC00-8121-02AC-49A707027D6C}"/>
                </a:ext>
              </a:extLst>
            </p:cNvPr>
            <p:cNvGrpSpPr>
              <a:grpSpLocks/>
            </p:cNvGrpSpPr>
            <p:nvPr/>
          </p:nvGrpSpPr>
          <p:grpSpPr bwMode="auto">
            <a:xfrm>
              <a:off x="7848600" y="3657600"/>
              <a:ext cx="762000" cy="1295400"/>
              <a:chOff x="7733562" y="3657600"/>
              <a:chExt cx="1138498" cy="1295400"/>
            </a:xfrm>
          </p:grpSpPr>
          <p:sp>
            <p:nvSpPr>
              <p:cNvPr id="194" name="Rectangle 30">
                <a:extLst>
                  <a:ext uri="{FF2B5EF4-FFF2-40B4-BE49-F238E27FC236}">
                    <a16:creationId xmlns:a16="http://schemas.microsoft.com/office/drawing/2014/main" id="{F41A3662-FFBA-E393-63B6-20E6DF987447}"/>
                  </a:ext>
                </a:extLst>
              </p:cNvPr>
              <p:cNvSpPr>
                <a:spLocks noChangeArrowheads="1"/>
              </p:cNvSpPr>
              <p:nvPr/>
            </p:nvSpPr>
            <p:spPr bwMode="auto">
              <a:xfrm>
                <a:off x="7821408" y="3657600"/>
                <a:ext cx="987513"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95" name="Text Box 33">
                <a:extLst>
                  <a:ext uri="{FF2B5EF4-FFF2-40B4-BE49-F238E27FC236}">
                    <a16:creationId xmlns:a16="http://schemas.microsoft.com/office/drawing/2014/main" id="{4851F8BC-439B-C541-14C6-94B4CD0C9444}"/>
                  </a:ext>
                </a:extLst>
              </p:cNvPr>
              <p:cNvSpPr txBox="1">
                <a:spLocks noChangeArrowheads="1"/>
              </p:cNvSpPr>
              <p:nvPr/>
            </p:nvSpPr>
            <p:spPr bwMode="auto">
              <a:xfrm>
                <a:off x="7847520" y="3744913"/>
                <a:ext cx="911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Finalize</a:t>
                </a:r>
              </a:p>
              <a:p>
                <a:pPr eaLnBrk="1" hangingPunct="1"/>
                <a:r>
                  <a:rPr lang="en-US" altLang="en-US" sz="900">
                    <a:latin typeface="Roboto" panose="02000000000000000000" pitchFamily="2" charset="0"/>
                    <a:ea typeface="Roboto" panose="02000000000000000000" pitchFamily="2" charset="0"/>
                  </a:rPr>
                  <a:t>File</a:t>
                </a:r>
              </a:p>
            </p:txBody>
          </p:sp>
          <p:sp>
            <p:nvSpPr>
              <p:cNvPr id="196" name="Rectangle 42">
                <a:extLst>
                  <a:ext uri="{FF2B5EF4-FFF2-40B4-BE49-F238E27FC236}">
                    <a16:creationId xmlns:a16="http://schemas.microsoft.com/office/drawing/2014/main" id="{D9DAEFF8-B856-1DE3-E745-B2E0CF2C2C7A}"/>
                  </a:ext>
                </a:extLst>
              </p:cNvPr>
              <p:cNvSpPr>
                <a:spLocks noChangeArrowheads="1"/>
              </p:cNvSpPr>
              <p:nvPr/>
            </p:nvSpPr>
            <p:spPr bwMode="auto">
              <a:xfrm>
                <a:off x="7842777" y="4310063"/>
                <a:ext cx="968401"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97" name="Rectangle 43">
                <a:extLst>
                  <a:ext uri="{FF2B5EF4-FFF2-40B4-BE49-F238E27FC236}">
                    <a16:creationId xmlns:a16="http://schemas.microsoft.com/office/drawing/2014/main" id="{E64CA9F2-7823-1240-9CE7-24E4EFB19EBC}"/>
                  </a:ext>
                </a:extLst>
              </p:cNvPr>
              <p:cNvSpPr>
                <a:spLocks noChangeArrowheads="1"/>
              </p:cNvSpPr>
              <p:nvPr/>
            </p:nvSpPr>
            <p:spPr bwMode="auto">
              <a:xfrm>
                <a:off x="7733562" y="4306888"/>
                <a:ext cx="1138498"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10 D</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198" name="Rectangle 44">
                <a:extLst>
                  <a:ext uri="{FF2B5EF4-FFF2-40B4-BE49-F238E27FC236}">
                    <a16:creationId xmlns:a16="http://schemas.microsoft.com/office/drawing/2014/main" id="{4ACB6E73-F4F6-8E41-D8F7-F225F01BC8A6}"/>
                  </a:ext>
                </a:extLst>
              </p:cNvPr>
              <p:cNvSpPr>
                <a:spLocks noChangeArrowheads="1"/>
              </p:cNvSpPr>
              <p:nvPr/>
            </p:nvSpPr>
            <p:spPr bwMode="auto">
              <a:xfrm>
                <a:off x="8034494" y="4438650"/>
                <a:ext cx="14504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sp>
          <p:nvSpPr>
            <p:cNvPr id="199" name="Line 7">
              <a:extLst>
                <a:ext uri="{FF2B5EF4-FFF2-40B4-BE49-F238E27FC236}">
                  <a16:creationId xmlns:a16="http://schemas.microsoft.com/office/drawing/2014/main" id="{B7F1D359-822D-B6AC-93E9-5AC2CC799B68}"/>
                </a:ext>
              </a:extLst>
            </p:cNvPr>
            <p:cNvSpPr>
              <a:spLocks noChangeShapeType="1"/>
            </p:cNvSpPr>
            <p:nvPr/>
          </p:nvSpPr>
          <p:spPr bwMode="auto">
            <a:xfrm rot="420000" flipV="1">
              <a:off x="3255963" y="3822700"/>
              <a:ext cx="1463675" cy="17462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200" name="Group 245">
              <a:extLst>
                <a:ext uri="{FF2B5EF4-FFF2-40B4-BE49-F238E27FC236}">
                  <a16:creationId xmlns:a16="http://schemas.microsoft.com/office/drawing/2014/main" id="{05902EDC-255B-233F-A5A3-E68A777DA100}"/>
                </a:ext>
              </a:extLst>
            </p:cNvPr>
            <p:cNvGrpSpPr>
              <a:grpSpLocks/>
            </p:cNvGrpSpPr>
            <p:nvPr/>
          </p:nvGrpSpPr>
          <p:grpSpPr bwMode="auto">
            <a:xfrm>
              <a:off x="3810000" y="1219200"/>
              <a:ext cx="914400" cy="533400"/>
              <a:chOff x="3810000" y="1219200"/>
              <a:chExt cx="914400" cy="533400"/>
            </a:xfrm>
          </p:grpSpPr>
          <p:sp>
            <p:nvSpPr>
              <p:cNvPr id="201" name="Rectangle 5">
                <a:extLst>
                  <a:ext uri="{FF2B5EF4-FFF2-40B4-BE49-F238E27FC236}">
                    <a16:creationId xmlns:a16="http://schemas.microsoft.com/office/drawing/2014/main" id="{956425C1-CC6D-6F70-B5C0-2DF8BCDBFD1A}"/>
                  </a:ext>
                </a:extLst>
              </p:cNvPr>
              <p:cNvSpPr>
                <a:spLocks noChangeArrowheads="1"/>
              </p:cNvSpPr>
              <p:nvPr/>
            </p:nvSpPr>
            <p:spPr bwMode="auto">
              <a:xfrm>
                <a:off x="3810000" y="12192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02" name="Text Box 118">
                <a:extLst>
                  <a:ext uri="{FF2B5EF4-FFF2-40B4-BE49-F238E27FC236}">
                    <a16:creationId xmlns:a16="http://schemas.microsoft.com/office/drawing/2014/main" id="{2B591192-1E3D-AE5E-9187-78EE592C4BC8}"/>
                  </a:ext>
                </a:extLst>
              </p:cNvPr>
              <p:cNvSpPr txBox="1">
                <a:spLocks noChangeArrowheads="1"/>
              </p:cNvSpPr>
              <p:nvPr/>
            </p:nvSpPr>
            <p:spPr bwMode="auto">
              <a:xfrm>
                <a:off x="3876675" y="1295400"/>
                <a:ext cx="847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Employee</a:t>
                </a:r>
              </a:p>
            </p:txBody>
          </p:sp>
        </p:grpSp>
        <p:sp>
          <p:nvSpPr>
            <p:cNvPr id="203" name="Rectangle 121">
              <a:extLst>
                <a:ext uri="{FF2B5EF4-FFF2-40B4-BE49-F238E27FC236}">
                  <a16:creationId xmlns:a16="http://schemas.microsoft.com/office/drawing/2014/main" id="{E4A57A02-0D7B-CD71-7CAA-C315D05FADE0}"/>
                </a:ext>
              </a:extLst>
            </p:cNvPr>
            <p:cNvSpPr>
              <a:spLocks noChangeArrowheads="1"/>
            </p:cNvSpPr>
            <p:nvPr/>
          </p:nvSpPr>
          <p:spPr bwMode="auto">
            <a:xfrm>
              <a:off x="5867400" y="2441575"/>
              <a:ext cx="7588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Acct </a:t>
              </a:r>
            </a:p>
            <a:p>
              <a:pPr eaLnBrk="1" hangingPunct="1"/>
              <a:r>
                <a:rPr lang="en-US" altLang="en-US" sz="900">
                  <a:latin typeface="Roboto" panose="02000000000000000000" pitchFamily="2" charset="0"/>
                  <a:ea typeface="Roboto" panose="02000000000000000000" pitchFamily="2" charset="0"/>
                </a:rPr>
                <a:t>Database</a:t>
              </a:r>
            </a:p>
          </p:txBody>
        </p:sp>
        <p:sp>
          <p:nvSpPr>
            <p:cNvPr id="204" name="Rectangle 121">
              <a:extLst>
                <a:ext uri="{FF2B5EF4-FFF2-40B4-BE49-F238E27FC236}">
                  <a16:creationId xmlns:a16="http://schemas.microsoft.com/office/drawing/2014/main" id="{4FCDF0F7-9193-3201-F02D-0DD5AC106B20}"/>
                </a:ext>
              </a:extLst>
            </p:cNvPr>
            <p:cNvSpPr>
              <a:spLocks noChangeArrowheads="1"/>
            </p:cNvSpPr>
            <p:nvPr/>
          </p:nvSpPr>
          <p:spPr bwMode="auto">
            <a:xfrm>
              <a:off x="3962400" y="19812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Ops Budget</a:t>
              </a:r>
            </a:p>
            <a:p>
              <a:pPr eaLnBrk="1" hangingPunct="1"/>
              <a:r>
                <a:rPr lang="en-US" altLang="en-US" sz="900">
                  <a:latin typeface="Roboto" panose="02000000000000000000" pitchFamily="2" charset="0"/>
                  <a:ea typeface="Roboto" panose="02000000000000000000" pitchFamily="2" charset="0"/>
                </a:rPr>
                <a:t>Database</a:t>
              </a:r>
            </a:p>
          </p:txBody>
        </p:sp>
        <p:grpSp>
          <p:nvGrpSpPr>
            <p:cNvPr id="205" name="Group 130">
              <a:extLst>
                <a:ext uri="{FF2B5EF4-FFF2-40B4-BE49-F238E27FC236}">
                  <a16:creationId xmlns:a16="http://schemas.microsoft.com/office/drawing/2014/main" id="{657F6CC0-DD96-8DBB-E332-BC4E4731D72C}"/>
                </a:ext>
              </a:extLst>
            </p:cNvPr>
            <p:cNvGrpSpPr>
              <a:grpSpLocks/>
            </p:cNvGrpSpPr>
            <p:nvPr/>
          </p:nvGrpSpPr>
          <p:grpSpPr bwMode="auto">
            <a:xfrm rot="-5563580">
              <a:off x="6408738" y="3190875"/>
              <a:ext cx="588962" cy="280988"/>
              <a:chOff x="636" y="2054"/>
              <a:chExt cx="200" cy="298"/>
            </a:xfrm>
          </p:grpSpPr>
          <p:sp>
            <p:nvSpPr>
              <p:cNvPr id="206" name="Line 131">
                <a:extLst>
                  <a:ext uri="{FF2B5EF4-FFF2-40B4-BE49-F238E27FC236}">
                    <a16:creationId xmlns:a16="http://schemas.microsoft.com/office/drawing/2014/main" id="{72A655C4-724A-AB5A-249D-887688FEE54F}"/>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07" name="Line 132">
                <a:extLst>
                  <a:ext uri="{FF2B5EF4-FFF2-40B4-BE49-F238E27FC236}">
                    <a16:creationId xmlns:a16="http://schemas.microsoft.com/office/drawing/2014/main" id="{75E8CF8C-F1FA-0FB3-A60A-6FCABA6C2784}"/>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08" name="Line 133">
                <a:extLst>
                  <a:ext uri="{FF2B5EF4-FFF2-40B4-BE49-F238E27FC236}">
                    <a16:creationId xmlns:a16="http://schemas.microsoft.com/office/drawing/2014/main" id="{B4F8CD98-3E6D-8263-18B7-B8121AABA5EF}"/>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209" name="Rectangle 6">
              <a:extLst>
                <a:ext uri="{FF2B5EF4-FFF2-40B4-BE49-F238E27FC236}">
                  <a16:creationId xmlns:a16="http://schemas.microsoft.com/office/drawing/2014/main" id="{78AD65A0-24D6-6ECA-7D60-FACB65217744}"/>
                </a:ext>
              </a:extLst>
            </p:cNvPr>
            <p:cNvSpPr>
              <a:spLocks noChangeArrowheads="1"/>
            </p:cNvSpPr>
            <p:nvPr/>
          </p:nvSpPr>
          <p:spPr bwMode="auto">
            <a:xfrm>
              <a:off x="6858000" y="2438400"/>
              <a:ext cx="7588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10" name="Text Box 117">
              <a:extLst>
                <a:ext uri="{FF2B5EF4-FFF2-40B4-BE49-F238E27FC236}">
                  <a16:creationId xmlns:a16="http://schemas.microsoft.com/office/drawing/2014/main" id="{7913B45C-EF73-5F0C-3DE5-56BB5268733C}"/>
                </a:ext>
              </a:extLst>
            </p:cNvPr>
            <p:cNvSpPr txBox="1">
              <a:spLocks noChangeArrowheads="1"/>
            </p:cNvSpPr>
            <p:nvPr/>
          </p:nvSpPr>
          <p:spPr bwMode="auto">
            <a:xfrm>
              <a:off x="6848475" y="2590800"/>
              <a:ext cx="847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CFO Review</a:t>
              </a:r>
            </a:p>
          </p:txBody>
        </p:sp>
        <p:cxnSp>
          <p:nvCxnSpPr>
            <p:cNvPr id="211" name="AutoShape 142">
              <a:extLst>
                <a:ext uri="{FF2B5EF4-FFF2-40B4-BE49-F238E27FC236}">
                  <a16:creationId xmlns:a16="http://schemas.microsoft.com/office/drawing/2014/main" id="{A577079F-7B26-BFB0-ED57-664A9633ABC8}"/>
                </a:ext>
              </a:extLst>
            </p:cNvPr>
            <p:cNvCxnSpPr>
              <a:cxnSpLocks noChangeShapeType="1"/>
            </p:cNvCxnSpPr>
            <p:nvPr/>
          </p:nvCxnSpPr>
          <p:spPr bwMode="auto">
            <a:xfrm rot="5400000" flipH="1">
              <a:off x="6525419" y="3037681"/>
              <a:ext cx="846138" cy="180975"/>
            </a:xfrm>
            <a:prstGeom prst="bentConnector3">
              <a:avLst>
                <a:gd name="adj1" fmla="val 4990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12" name="AutoShape 143">
              <a:extLst>
                <a:ext uri="{FF2B5EF4-FFF2-40B4-BE49-F238E27FC236}">
                  <a16:creationId xmlns:a16="http://schemas.microsoft.com/office/drawing/2014/main" id="{B9592E15-9252-00F0-2DE6-D482D17F631D}"/>
                </a:ext>
              </a:extLst>
            </p:cNvPr>
            <p:cNvCxnSpPr>
              <a:cxnSpLocks noChangeShapeType="1"/>
            </p:cNvCxnSpPr>
            <p:nvPr/>
          </p:nvCxnSpPr>
          <p:spPr bwMode="auto">
            <a:xfrm rot="5400000">
              <a:off x="7152481" y="3096419"/>
              <a:ext cx="854075" cy="7143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13" name="Group 130">
              <a:extLst>
                <a:ext uri="{FF2B5EF4-FFF2-40B4-BE49-F238E27FC236}">
                  <a16:creationId xmlns:a16="http://schemas.microsoft.com/office/drawing/2014/main" id="{78045945-A671-252B-87AC-2C552B7BB491}"/>
                </a:ext>
              </a:extLst>
            </p:cNvPr>
            <p:cNvGrpSpPr>
              <a:grpSpLocks/>
            </p:cNvGrpSpPr>
            <p:nvPr/>
          </p:nvGrpSpPr>
          <p:grpSpPr bwMode="auto">
            <a:xfrm rot="-2538423">
              <a:off x="4678363" y="2662238"/>
              <a:ext cx="488950" cy="909637"/>
              <a:chOff x="636" y="2054"/>
              <a:chExt cx="200" cy="298"/>
            </a:xfrm>
          </p:grpSpPr>
          <p:sp>
            <p:nvSpPr>
              <p:cNvPr id="214" name="Line 131">
                <a:extLst>
                  <a:ext uri="{FF2B5EF4-FFF2-40B4-BE49-F238E27FC236}">
                    <a16:creationId xmlns:a16="http://schemas.microsoft.com/office/drawing/2014/main" id="{76B13393-ADFD-D624-EE61-0234CAAD8E27}"/>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5" name="Line 132">
                <a:extLst>
                  <a:ext uri="{FF2B5EF4-FFF2-40B4-BE49-F238E27FC236}">
                    <a16:creationId xmlns:a16="http://schemas.microsoft.com/office/drawing/2014/main" id="{FB8E7A9E-D393-164B-7434-1C4EC4B6867E}"/>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16" name="Line 133">
                <a:extLst>
                  <a:ext uri="{FF2B5EF4-FFF2-40B4-BE49-F238E27FC236}">
                    <a16:creationId xmlns:a16="http://schemas.microsoft.com/office/drawing/2014/main" id="{B4E61D58-E495-1FF5-5D54-83EB3AFB0395}"/>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217" name="Rectangle 121">
              <a:extLst>
                <a:ext uri="{FF2B5EF4-FFF2-40B4-BE49-F238E27FC236}">
                  <a16:creationId xmlns:a16="http://schemas.microsoft.com/office/drawing/2014/main" id="{3B405018-12CF-1064-3E2E-0AEC06EBE26C}"/>
                </a:ext>
              </a:extLst>
            </p:cNvPr>
            <p:cNvSpPr>
              <a:spLocks noChangeArrowheads="1"/>
            </p:cNvSpPr>
            <p:nvPr/>
          </p:nvSpPr>
          <p:spPr bwMode="auto">
            <a:xfrm>
              <a:off x="838200" y="17526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HR</a:t>
              </a:r>
            </a:p>
            <a:p>
              <a:pPr eaLnBrk="1" hangingPunct="1"/>
              <a:r>
                <a:rPr lang="en-US" altLang="en-US" sz="900">
                  <a:latin typeface="Roboto" panose="02000000000000000000" pitchFamily="2" charset="0"/>
                  <a:ea typeface="Roboto" panose="02000000000000000000" pitchFamily="2" charset="0"/>
                </a:rPr>
                <a:t>Employee</a:t>
              </a:r>
            </a:p>
            <a:p>
              <a:pPr eaLnBrk="1" hangingPunct="1"/>
              <a:r>
                <a:rPr lang="en-US" altLang="en-US" sz="900">
                  <a:latin typeface="Roboto" panose="02000000000000000000" pitchFamily="2" charset="0"/>
                  <a:ea typeface="Roboto" panose="02000000000000000000" pitchFamily="2" charset="0"/>
                </a:rPr>
                <a:t>Database</a:t>
              </a:r>
            </a:p>
          </p:txBody>
        </p:sp>
        <p:grpSp>
          <p:nvGrpSpPr>
            <p:cNvPr id="218" name="Group 138">
              <a:extLst>
                <a:ext uri="{FF2B5EF4-FFF2-40B4-BE49-F238E27FC236}">
                  <a16:creationId xmlns:a16="http://schemas.microsoft.com/office/drawing/2014/main" id="{9B689BFE-CD87-A285-457C-3D4D331F86F2}"/>
                </a:ext>
              </a:extLst>
            </p:cNvPr>
            <p:cNvGrpSpPr>
              <a:grpSpLocks/>
            </p:cNvGrpSpPr>
            <p:nvPr/>
          </p:nvGrpSpPr>
          <p:grpSpPr bwMode="auto">
            <a:xfrm rot="-467072">
              <a:off x="1916113" y="1565275"/>
              <a:ext cx="1744662" cy="276225"/>
              <a:chOff x="636" y="2054"/>
              <a:chExt cx="200" cy="298"/>
            </a:xfrm>
          </p:grpSpPr>
          <p:sp>
            <p:nvSpPr>
              <p:cNvPr id="219" name="Line 139">
                <a:extLst>
                  <a:ext uri="{FF2B5EF4-FFF2-40B4-BE49-F238E27FC236}">
                    <a16:creationId xmlns:a16="http://schemas.microsoft.com/office/drawing/2014/main" id="{DFFC6FB8-670D-6851-9AC4-7900490559CD}"/>
                  </a:ext>
                </a:extLst>
              </p:cNvPr>
              <p:cNvSpPr>
                <a:spLocks noChangeShapeType="1"/>
              </p:cNvSpPr>
              <p:nvPr/>
            </p:nvSpPr>
            <p:spPr bwMode="auto">
              <a:xfrm flipV="1">
                <a:off x="740" y="2054"/>
                <a:ext cx="96" cy="192"/>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20" name="Line 140">
                <a:extLst>
                  <a:ext uri="{FF2B5EF4-FFF2-40B4-BE49-F238E27FC236}">
                    <a16:creationId xmlns:a16="http://schemas.microsoft.com/office/drawing/2014/main" id="{4153A903-B6DA-E7B3-A588-9B4D92E1A6A6}"/>
                  </a:ext>
                </a:extLst>
              </p:cNvPr>
              <p:cNvSpPr>
                <a:spLocks noChangeShapeType="1"/>
              </p:cNvSpPr>
              <p:nvPr/>
            </p:nvSpPr>
            <p:spPr bwMode="auto">
              <a:xfrm>
                <a:off x="732" y="2160"/>
                <a:ext cx="6" cy="90"/>
              </a:xfrm>
              <a:prstGeom prst="line">
                <a:avLst/>
              </a:prstGeom>
              <a:noFill/>
              <a:ln w="12700" cap="sq">
                <a:solidFill>
                  <a:schemeClr val="tx1"/>
                </a:solidFill>
                <a:round/>
                <a:headEnd/>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21" name="Line 141">
                <a:extLst>
                  <a:ext uri="{FF2B5EF4-FFF2-40B4-BE49-F238E27FC236}">
                    <a16:creationId xmlns:a16="http://schemas.microsoft.com/office/drawing/2014/main" id="{4C558922-A51A-70CF-8211-A2647262F904}"/>
                  </a:ext>
                </a:extLst>
              </p:cNvPr>
              <p:cNvSpPr>
                <a:spLocks noChangeShapeType="1"/>
              </p:cNvSpPr>
              <p:nvPr/>
            </p:nvSpPr>
            <p:spPr bwMode="auto">
              <a:xfrm flipV="1">
                <a:off x="636" y="2160"/>
                <a:ext cx="96" cy="192"/>
              </a:xfrm>
              <a:prstGeom prst="line">
                <a:avLst/>
              </a:prstGeom>
              <a:noFill/>
              <a:ln w="12700" cap="sq">
                <a:solidFill>
                  <a:schemeClr val="tx1"/>
                </a:solidFill>
                <a:round/>
                <a:headEnd type="none" w="lg" len="lg"/>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222" name="Line 7">
              <a:extLst>
                <a:ext uri="{FF2B5EF4-FFF2-40B4-BE49-F238E27FC236}">
                  <a16:creationId xmlns:a16="http://schemas.microsoft.com/office/drawing/2014/main" id="{C769DF4A-EBD8-9AD9-3919-62D8F8E49A9F}"/>
                </a:ext>
              </a:extLst>
            </p:cNvPr>
            <p:cNvSpPr>
              <a:spLocks noChangeShapeType="1"/>
            </p:cNvSpPr>
            <p:nvPr/>
          </p:nvSpPr>
          <p:spPr bwMode="auto">
            <a:xfrm rot="600000" flipV="1">
              <a:off x="4368800" y="4135438"/>
              <a:ext cx="300038" cy="312737"/>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23" name="Line 7">
              <a:extLst>
                <a:ext uri="{FF2B5EF4-FFF2-40B4-BE49-F238E27FC236}">
                  <a16:creationId xmlns:a16="http://schemas.microsoft.com/office/drawing/2014/main" id="{6B8A5205-2018-21BC-AEA8-7EF8916B572C}"/>
                </a:ext>
              </a:extLst>
            </p:cNvPr>
            <p:cNvSpPr>
              <a:spLocks noChangeShapeType="1"/>
            </p:cNvSpPr>
            <p:nvPr/>
          </p:nvSpPr>
          <p:spPr bwMode="auto">
            <a:xfrm rot="11400000" flipH="1" flipV="1">
              <a:off x="3213100" y="4068763"/>
              <a:ext cx="381000" cy="396875"/>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24" name="Rectangle 6">
              <a:extLst>
                <a:ext uri="{FF2B5EF4-FFF2-40B4-BE49-F238E27FC236}">
                  <a16:creationId xmlns:a16="http://schemas.microsoft.com/office/drawing/2014/main" id="{1DE3B86D-DDBA-2D99-88AE-B4E2317BF779}"/>
                </a:ext>
              </a:extLst>
            </p:cNvPr>
            <p:cNvSpPr>
              <a:spLocks noChangeArrowheads="1"/>
            </p:cNvSpPr>
            <p:nvPr/>
          </p:nvSpPr>
          <p:spPr bwMode="auto">
            <a:xfrm>
              <a:off x="7848600" y="15240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Payroll</a:t>
              </a:r>
            </a:p>
            <a:p>
              <a:pPr eaLnBrk="1" hangingPunct="1"/>
              <a:r>
                <a:rPr lang="en-US" altLang="en-US" sz="900">
                  <a:latin typeface="Roboto" panose="02000000000000000000" pitchFamily="2" charset="0"/>
                  <a:ea typeface="Roboto" panose="02000000000000000000" pitchFamily="2" charset="0"/>
                </a:rPr>
                <a:t>Vendor</a:t>
              </a:r>
            </a:p>
          </p:txBody>
        </p:sp>
        <p:grpSp>
          <p:nvGrpSpPr>
            <p:cNvPr id="225" name="Group 130">
              <a:extLst>
                <a:ext uri="{FF2B5EF4-FFF2-40B4-BE49-F238E27FC236}">
                  <a16:creationId xmlns:a16="http://schemas.microsoft.com/office/drawing/2014/main" id="{20602484-935E-AE99-AB74-C45766979573}"/>
                </a:ext>
              </a:extLst>
            </p:cNvPr>
            <p:cNvGrpSpPr>
              <a:grpSpLocks/>
            </p:cNvGrpSpPr>
            <p:nvPr/>
          </p:nvGrpSpPr>
          <p:grpSpPr bwMode="auto">
            <a:xfrm rot="-3733062">
              <a:off x="7641432" y="2467768"/>
              <a:ext cx="1371600" cy="703263"/>
              <a:chOff x="636" y="2054"/>
              <a:chExt cx="200" cy="298"/>
            </a:xfrm>
          </p:grpSpPr>
          <p:sp>
            <p:nvSpPr>
              <p:cNvPr id="226" name="Line 131">
                <a:extLst>
                  <a:ext uri="{FF2B5EF4-FFF2-40B4-BE49-F238E27FC236}">
                    <a16:creationId xmlns:a16="http://schemas.microsoft.com/office/drawing/2014/main" id="{17E00B1A-6827-FE77-53E9-503483A3DFC4}"/>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27" name="Line 132">
                <a:extLst>
                  <a:ext uri="{FF2B5EF4-FFF2-40B4-BE49-F238E27FC236}">
                    <a16:creationId xmlns:a16="http://schemas.microsoft.com/office/drawing/2014/main" id="{28CE7C0A-9A27-7968-8ED6-2C3A8D0A9426}"/>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28" name="Line 133">
                <a:extLst>
                  <a:ext uri="{FF2B5EF4-FFF2-40B4-BE49-F238E27FC236}">
                    <a16:creationId xmlns:a16="http://schemas.microsoft.com/office/drawing/2014/main" id="{FAA495B1-0146-6E12-6E91-4C3EB14A65C2}"/>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cxnSp>
          <p:nvCxnSpPr>
            <p:cNvPr id="229" name="AutoShape 123">
              <a:extLst>
                <a:ext uri="{FF2B5EF4-FFF2-40B4-BE49-F238E27FC236}">
                  <a16:creationId xmlns:a16="http://schemas.microsoft.com/office/drawing/2014/main" id="{56681190-AD1A-186D-B873-AF8AF00DF72E}"/>
                </a:ext>
              </a:extLst>
            </p:cNvPr>
            <p:cNvCxnSpPr>
              <a:cxnSpLocks noChangeShapeType="1"/>
            </p:cNvCxnSpPr>
            <p:nvPr/>
          </p:nvCxnSpPr>
          <p:spPr bwMode="auto">
            <a:xfrm rot="10800000">
              <a:off x="4876800" y="1524000"/>
              <a:ext cx="2819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0" name="AutoShape 123">
              <a:extLst>
                <a:ext uri="{FF2B5EF4-FFF2-40B4-BE49-F238E27FC236}">
                  <a16:creationId xmlns:a16="http://schemas.microsoft.com/office/drawing/2014/main" id="{87DC9ED7-BA26-E1D8-687A-6A6B84DAD156}"/>
                </a:ext>
              </a:extLst>
            </p:cNvPr>
            <p:cNvCxnSpPr>
              <a:cxnSpLocks noChangeShapeType="1"/>
            </p:cNvCxnSpPr>
            <p:nvPr/>
          </p:nvCxnSpPr>
          <p:spPr bwMode="auto">
            <a:xfrm rot="10800000" flipV="1">
              <a:off x="1371600" y="1524000"/>
              <a:ext cx="2362200" cy="20574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1" name="Text Box 1020">
              <a:extLst>
                <a:ext uri="{FF2B5EF4-FFF2-40B4-BE49-F238E27FC236}">
                  <a16:creationId xmlns:a16="http://schemas.microsoft.com/office/drawing/2014/main" id="{ED52186F-990E-F8E6-E3EB-53B2A2B1E224}"/>
                </a:ext>
              </a:extLst>
            </p:cNvPr>
            <p:cNvSpPr txBox="1">
              <a:spLocks noChangeArrowheads="1"/>
            </p:cNvSpPr>
            <p:nvPr/>
          </p:nvSpPr>
          <p:spPr bwMode="auto">
            <a:xfrm>
              <a:off x="2971800" y="533400"/>
              <a:ext cx="2941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30000"/>
                </a:spcBef>
              </a:pPr>
              <a:r>
                <a:rPr lang="en-US" altLang="en-US" sz="1400">
                  <a:latin typeface="Roboto" panose="02000000000000000000" pitchFamily="2" charset="0"/>
                  <a:ea typeface="Roboto" panose="02000000000000000000" pitchFamily="2" charset="0"/>
                </a:rPr>
                <a:t>Performance Review Current State</a:t>
              </a:r>
            </a:p>
          </p:txBody>
        </p:sp>
        <p:grpSp>
          <p:nvGrpSpPr>
            <p:cNvPr id="232" name="Group 157">
              <a:extLst>
                <a:ext uri="{FF2B5EF4-FFF2-40B4-BE49-F238E27FC236}">
                  <a16:creationId xmlns:a16="http://schemas.microsoft.com/office/drawing/2014/main" id="{2188DBC0-C4FD-4440-55F5-998DF128FA87}"/>
                </a:ext>
              </a:extLst>
            </p:cNvPr>
            <p:cNvGrpSpPr>
              <a:grpSpLocks/>
            </p:cNvGrpSpPr>
            <p:nvPr/>
          </p:nvGrpSpPr>
          <p:grpSpPr bwMode="auto">
            <a:xfrm>
              <a:off x="3556000" y="4191000"/>
              <a:ext cx="762000" cy="1252538"/>
              <a:chOff x="4158400" y="4191000"/>
              <a:chExt cx="907082" cy="1252538"/>
            </a:xfrm>
          </p:grpSpPr>
          <p:sp>
            <p:nvSpPr>
              <p:cNvPr id="233" name="Rectangle 42">
                <a:extLst>
                  <a:ext uri="{FF2B5EF4-FFF2-40B4-BE49-F238E27FC236}">
                    <a16:creationId xmlns:a16="http://schemas.microsoft.com/office/drawing/2014/main" id="{684FB8D3-2441-B636-ED20-C58A30CB7543}"/>
                  </a:ext>
                </a:extLst>
              </p:cNvPr>
              <p:cNvSpPr>
                <a:spLocks noChangeArrowheads="1"/>
              </p:cNvSpPr>
              <p:nvPr/>
            </p:nvSpPr>
            <p:spPr bwMode="auto">
              <a:xfrm>
                <a:off x="4169519" y="4800600"/>
                <a:ext cx="859681" cy="642938"/>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34" name="Rectangle 121">
                <a:extLst>
                  <a:ext uri="{FF2B5EF4-FFF2-40B4-BE49-F238E27FC236}">
                    <a16:creationId xmlns:a16="http://schemas.microsoft.com/office/drawing/2014/main" id="{D87C65D4-EFA2-A87B-60CA-2D8A75763601}"/>
                  </a:ext>
                </a:extLst>
              </p:cNvPr>
              <p:cNvSpPr>
                <a:spLocks noChangeArrowheads="1"/>
              </p:cNvSpPr>
              <p:nvPr/>
            </p:nvSpPr>
            <p:spPr bwMode="auto">
              <a:xfrm>
                <a:off x="4161946" y="4191000"/>
                <a:ext cx="867254"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Amended</a:t>
                </a:r>
              </a:p>
              <a:p>
                <a:pPr eaLnBrk="1" hangingPunct="1"/>
                <a:r>
                  <a:rPr lang="en-US" altLang="en-US" sz="900">
                    <a:latin typeface="Roboto" panose="02000000000000000000" pitchFamily="2" charset="0"/>
                    <a:ea typeface="Roboto" panose="02000000000000000000" pitchFamily="2" charset="0"/>
                  </a:rPr>
                  <a:t>Review</a:t>
                </a:r>
              </a:p>
            </p:txBody>
          </p:sp>
          <p:sp>
            <p:nvSpPr>
              <p:cNvPr id="235" name="Rectangle 43">
                <a:extLst>
                  <a:ext uri="{FF2B5EF4-FFF2-40B4-BE49-F238E27FC236}">
                    <a16:creationId xmlns:a16="http://schemas.microsoft.com/office/drawing/2014/main" id="{2F258B76-8F5C-B3AB-8387-88BEF3236E56}"/>
                  </a:ext>
                </a:extLst>
              </p:cNvPr>
              <p:cNvSpPr>
                <a:spLocks noChangeArrowheads="1"/>
              </p:cNvSpPr>
              <p:nvPr/>
            </p:nvSpPr>
            <p:spPr bwMode="auto">
              <a:xfrm>
                <a:off x="4158400" y="4816475"/>
                <a:ext cx="907082"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0 D</a:t>
                </a:r>
              </a:p>
              <a:p>
                <a:pPr eaLnBrk="1" hangingPunct="1">
                  <a:lnSpc>
                    <a:spcPct val="125000"/>
                  </a:lnSpc>
                </a:pPr>
                <a:r>
                  <a:rPr lang="en-US" altLang="en-US" sz="500">
                    <a:latin typeface="Roboto" panose="02000000000000000000" pitchFamily="2" charset="0"/>
                    <a:ea typeface="Roboto" panose="02000000000000000000" pitchFamily="2" charset="0"/>
                  </a:rPr>
                  <a:t>Processing Time =  30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grpSp>
        <p:sp>
          <p:nvSpPr>
            <p:cNvPr id="236" name="Text Box 139">
              <a:extLst>
                <a:ext uri="{FF2B5EF4-FFF2-40B4-BE49-F238E27FC236}">
                  <a16:creationId xmlns:a16="http://schemas.microsoft.com/office/drawing/2014/main" id="{D8EE1DC2-1FC4-019C-CE33-5A8C86885B22}"/>
                </a:ext>
              </a:extLst>
            </p:cNvPr>
            <p:cNvSpPr txBox="1">
              <a:spLocks noChangeArrowheads="1"/>
            </p:cNvSpPr>
            <p:nvPr/>
          </p:nvSpPr>
          <p:spPr bwMode="auto">
            <a:xfrm>
              <a:off x="3784600" y="3657600"/>
              <a:ext cx="603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50% </a:t>
              </a:r>
            </a:p>
          </p:txBody>
        </p:sp>
        <p:sp>
          <p:nvSpPr>
            <p:cNvPr id="237" name="Text Box 140">
              <a:extLst>
                <a:ext uri="{FF2B5EF4-FFF2-40B4-BE49-F238E27FC236}">
                  <a16:creationId xmlns:a16="http://schemas.microsoft.com/office/drawing/2014/main" id="{7A07C70A-F2C8-AA08-E98F-0DB6FA7B7541}"/>
                </a:ext>
              </a:extLst>
            </p:cNvPr>
            <p:cNvSpPr txBox="1">
              <a:spLocks noChangeArrowheads="1"/>
            </p:cNvSpPr>
            <p:nvPr/>
          </p:nvSpPr>
          <p:spPr bwMode="auto">
            <a:xfrm>
              <a:off x="3327400" y="3962400"/>
              <a:ext cx="431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50% </a:t>
              </a:r>
            </a:p>
          </p:txBody>
        </p:sp>
        <p:grpSp>
          <p:nvGrpSpPr>
            <p:cNvPr id="238" name="Group 149">
              <a:extLst>
                <a:ext uri="{FF2B5EF4-FFF2-40B4-BE49-F238E27FC236}">
                  <a16:creationId xmlns:a16="http://schemas.microsoft.com/office/drawing/2014/main" id="{BD3DB613-EEC2-EF0A-2ACE-44AEBDF3678D}"/>
                </a:ext>
              </a:extLst>
            </p:cNvPr>
            <p:cNvGrpSpPr>
              <a:grpSpLocks/>
            </p:cNvGrpSpPr>
            <p:nvPr/>
          </p:nvGrpSpPr>
          <p:grpSpPr bwMode="auto">
            <a:xfrm>
              <a:off x="1447800" y="3657600"/>
              <a:ext cx="762000" cy="1295400"/>
              <a:chOff x="1676400" y="3657600"/>
              <a:chExt cx="952500" cy="1295400"/>
            </a:xfrm>
          </p:grpSpPr>
          <p:sp>
            <p:nvSpPr>
              <p:cNvPr id="239" name="Rectangle 30">
                <a:extLst>
                  <a:ext uri="{FF2B5EF4-FFF2-40B4-BE49-F238E27FC236}">
                    <a16:creationId xmlns:a16="http://schemas.microsoft.com/office/drawing/2014/main" id="{886A09AF-9C7D-AB99-26CD-BF9D8F1370C4}"/>
                  </a:ext>
                </a:extLst>
              </p:cNvPr>
              <p:cNvSpPr>
                <a:spLocks noChangeArrowheads="1"/>
              </p:cNvSpPr>
              <p:nvPr/>
            </p:nvSpPr>
            <p:spPr bwMode="auto">
              <a:xfrm>
                <a:off x="1676400" y="3657600"/>
                <a:ext cx="9112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40" name="Text Box 33">
                <a:extLst>
                  <a:ext uri="{FF2B5EF4-FFF2-40B4-BE49-F238E27FC236}">
                    <a16:creationId xmlns:a16="http://schemas.microsoft.com/office/drawing/2014/main" id="{8E5D5584-1993-846E-73DE-D225D02A3D78}"/>
                  </a:ext>
                </a:extLst>
              </p:cNvPr>
              <p:cNvSpPr txBox="1">
                <a:spLocks noChangeArrowheads="1"/>
              </p:cNvSpPr>
              <p:nvPr/>
            </p:nvSpPr>
            <p:spPr bwMode="auto">
              <a:xfrm>
                <a:off x="1693863" y="3749675"/>
                <a:ext cx="839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Construct Review</a:t>
                </a:r>
              </a:p>
            </p:txBody>
          </p:sp>
          <p:sp>
            <p:nvSpPr>
              <p:cNvPr id="241" name="Rectangle 42">
                <a:extLst>
                  <a:ext uri="{FF2B5EF4-FFF2-40B4-BE49-F238E27FC236}">
                    <a16:creationId xmlns:a16="http://schemas.microsoft.com/office/drawing/2014/main" id="{16B26534-F262-9EE5-441B-2AEF3FB5C4A3}"/>
                  </a:ext>
                </a:extLst>
              </p:cNvPr>
              <p:cNvSpPr>
                <a:spLocks noChangeArrowheads="1"/>
              </p:cNvSpPr>
              <p:nvPr/>
            </p:nvSpPr>
            <p:spPr bwMode="auto">
              <a:xfrm>
                <a:off x="1698625" y="4310063"/>
                <a:ext cx="892175"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42" name="Rectangle 43">
                <a:extLst>
                  <a:ext uri="{FF2B5EF4-FFF2-40B4-BE49-F238E27FC236}">
                    <a16:creationId xmlns:a16="http://schemas.microsoft.com/office/drawing/2014/main" id="{C9692DED-51E0-1BDB-2594-7818F4999537}"/>
                  </a:ext>
                </a:extLst>
              </p:cNvPr>
              <p:cNvSpPr>
                <a:spLocks noChangeArrowheads="1"/>
              </p:cNvSpPr>
              <p:nvPr/>
            </p:nvSpPr>
            <p:spPr bwMode="auto">
              <a:xfrm>
                <a:off x="1724025" y="4306888"/>
                <a:ext cx="904875"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LT=10 D</a:t>
                </a:r>
              </a:p>
              <a:p>
                <a:pPr eaLnBrk="1" hangingPunct="1">
                  <a:lnSpc>
                    <a:spcPct val="125000"/>
                  </a:lnSpc>
                </a:pPr>
                <a:r>
                  <a:rPr lang="en-US" altLang="en-US" sz="500">
                    <a:latin typeface="Roboto" panose="02000000000000000000" pitchFamily="2" charset="0"/>
                    <a:ea typeface="Roboto" panose="02000000000000000000" pitchFamily="2" charset="0"/>
                  </a:rPr>
                  <a:t>Processing Time = 30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grpSp>
        <p:sp>
          <p:nvSpPr>
            <p:cNvPr id="243" name="Rectangle 6">
              <a:extLst>
                <a:ext uri="{FF2B5EF4-FFF2-40B4-BE49-F238E27FC236}">
                  <a16:creationId xmlns:a16="http://schemas.microsoft.com/office/drawing/2014/main" id="{2066F3D4-D0A7-720E-8DB7-87627BC86677}"/>
                </a:ext>
              </a:extLst>
            </p:cNvPr>
            <p:cNvSpPr>
              <a:spLocks noChangeArrowheads="1"/>
            </p:cNvSpPr>
            <p:nvPr/>
          </p:nvSpPr>
          <p:spPr bwMode="auto">
            <a:xfrm>
              <a:off x="304800" y="2460625"/>
              <a:ext cx="758825"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44" name="Text Box 117">
              <a:extLst>
                <a:ext uri="{FF2B5EF4-FFF2-40B4-BE49-F238E27FC236}">
                  <a16:creationId xmlns:a16="http://schemas.microsoft.com/office/drawing/2014/main" id="{1BE3EB05-1304-AB00-D411-795568BA4FBE}"/>
                </a:ext>
              </a:extLst>
            </p:cNvPr>
            <p:cNvSpPr txBox="1">
              <a:spLocks noChangeArrowheads="1"/>
            </p:cNvSpPr>
            <p:nvPr/>
          </p:nvSpPr>
          <p:spPr bwMode="auto">
            <a:xfrm>
              <a:off x="333375" y="2525713"/>
              <a:ext cx="847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HR Manager Review</a:t>
              </a:r>
            </a:p>
          </p:txBody>
        </p:sp>
        <p:cxnSp>
          <p:nvCxnSpPr>
            <p:cNvPr id="245" name="AutoShape 142">
              <a:extLst>
                <a:ext uri="{FF2B5EF4-FFF2-40B4-BE49-F238E27FC236}">
                  <a16:creationId xmlns:a16="http://schemas.microsoft.com/office/drawing/2014/main" id="{5D5E0D94-624A-69FD-35ED-7B1C27E393E3}"/>
                </a:ext>
              </a:extLst>
            </p:cNvPr>
            <p:cNvCxnSpPr>
              <a:cxnSpLocks noChangeShapeType="1"/>
            </p:cNvCxnSpPr>
            <p:nvPr/>
          </p:nvCxnSpPr>
          <p:spPr bwMode="auto">
            <a:xfrm rot="5400000" flipH="1">
              <a:off x="-27781" y="3059906"/>
              <a:ext cx="846138" cy="180975"/>
            </a:xfrm>
            <a:prstGeom prst="bentConnector3">
              <a:avLst>
                <a:gd name="adj1" fmla="val 4990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6" name="AutoShape 143">
              <a:extLst>
                <a:ext uri="{FF2B5EF4-FFF2-40B4-BE49-F238E27FC236}">
                  <a16:creationId xmlns:a16="http://schemas.microsoft.com/office/drawing/2014/main" id="{A0429CF8-493A-8823-9F70-7D955826F90E}"/>
                </a:ext>
              </a:extLst>
            </p:cNvPr>
            <p:cNvCxnSpPr>
              <a:cxnSpLocks noChangeShapeType="1"/>
            </p:cNvCxnSpPr>
            <p:nvPr/>
          </p:nvCxnSpPr>
          <p:spPr bwMode="auto">
            <a:xfrm rot="5400000">
              <a:off x="599281" y="3118644"/>
              <a:ext cx="854075" cy="7143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7" name="Text Box 102">
              <a:extLst>
                <a:ext uri="{FF2B5EF4-FFF2-40B4-BE49-F238E27FC236}">
                  <a16:creationId xmlns:a16="http://schemas.microsoft.com/office/drawing/2014/main" id="{4FFABCEF-825D-414E-30FA-2F22A627D614}"/>
                </a:ext>
              </a:extLst>
            </p:cNvPr>
            <p:cNvSpPr txBox="1">
              <a:spLocks noChangeArrowheads="1"/>
            </p:cNvSpPr>
            <p:nvPr/>
          </p:nvSpPr>
          <p:spPr bwMode="auto">
            <a:xfrm>
              <a:off x="6934200" y="5562600"/>
              <a:ext cx="59213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sp>
          <p:nvSpPr>
            <p:cNvPr id="248" name="Text Box 106">
              <a:extLst>
                <a:ext uri="{FF2B5EF4-FFF2-40B4-BE49-F238E27FC236}">
                  <a16:creationId xmlns:a16="http://schemas.microsoft.com/office/drawing/2014/main" id="{3FB8FFC9-53AE-2558-A42D-47D7A07EA940}"/>
                </a:ext>
              </a:extLst>
            </p:cNvPr>
            <p:cNvSpPr txBox="1">
              <a:spLocks noChangeArrowheads="1"/>
            </p:cNvSpPr>
            <p:nvPr/>
          </p:nvSpPr>
          <p:spPr bwMode="auto">
            <a:xfrm>
              <a:off x="5410200" y="5575300"/>
              <a:ext cx="6223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 Days</a:t>
              </a:r>
            </a:p>
          </p:txBody>
        </p:sp>
        <p:sp>
          <p:nvSpPr>
            <p:cNvPr id="249" name="Text Box 106">
              <a:extLst>
                <a:ext uri="{FF2B5EF4-FFF2-40B4-BE49-F238E27FC236}">
                  <a16:creationId xmlns:a16="http://schemas.microsoft.com/office/drawing/2014/main" id="{8B31F72B-A201-C3B2-56C9-D4570B27E691}"/>
                </a:ext>
              </a:extLst>
            </p:cNvPr>
            <p:cNvSpPr txBox="1">
              <a:spLocks noChangeArrowheads="1"/>
            </p:cNvSpPr>
            <p:nvPr/>
          </p:nvSpPr>
          <p:spPr bwMode="auto">
            <a:xfrm>
              <a:off x="4826000" y="5865813"/>
              <a:ext cx="5842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250" name="Text Box 106">
              <a:extLst>
                <a:ext uri="{FF2B5EF4-FFF2-40B4-BE49-F238E27FC236}">
                  <a16:creationId xmlns:a16="http://schemas.microsoft.com/office/drawing/2014/main" id="{D8E5C450-F6D8-5D4A-638B-0B359145FFC3}"/>
                </a:ext>
              </a:extLst>
            </p:cNvPr>
            <p:cNvSpPr txBox="1">
              <a:spLocks noChangeArrowheads="1"/>
            </p:cNvSpPr>
            <p:nvPr/>
          </p:nvSpPr>
          <p:spPr bwMode="auto">
            <a:xfrm>
              <a:off x="4267200" y="5562600"/>
              <a:ext cx="5508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sp>
          <p:nvSpPr>
            <p:cNvPr id="251" name="Text Box 106">
              <a:extLst>
                <a:ext uri="{FF2B5EF4-FFF2-40B4-BE49-F238E27FC236}">
                  <a16:creationId xmlns:a16="http://schemas.microsoft.com/office/drawing/2014/main" id="{D7A3DD9F-EE9C-8B63-85C8-665B774101E7}"/>
                </a:ext>
              </a:extLst>
            </p:cNvPr>
            <p:cNvSpPr txBox="1">
              <a:spLocks noChangeArrowheads="1"/>
            </p:cNvSpPr>
            <p:nvPr/>
          </p:nvSpPr>
          <p:spPr bwMode="auto">
            <a:xfrm>
              <a:off x="990600" y="5562600"/>
              <a:ext cx="7254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 Days</a:t>
              </a:r>
            </a:p>
          </p:txBody>
        </p:sp>
        <p:sp>
          <p:nvSpPr>
            <p:cNvPr id="252" name="Line 84">
              <a:extLst>
                <a:ext uri="{FF2B5EF4-FFF2-40B4-BE49-F238E27FC236}">
                  <a16:creationId xmlns:a16="http://schemas.microsoft.com/office/drawing/2014/main" id="{C9213F79-E20F-1D19-A749-06A95750CCC6}"/>
                </a:ext>
              </a:extLst>
            </p:cNvPr>
            <p:cNvSpPr>
              <a:spLocks noChangeShapeType="1"/>
            </p:cNvSpPr>
            <p:nvPr/>
          </p:nvSpPr>
          <p:spPr bwMode="auto">
            <a:xfrm>
              <a:off x="47244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3" name="Line 88">
              <a:extLst>
                <a:ext uri="{FF2B5EF4-FFF2-40B4-BE49-F238E27FC236}">
                  <a16:creationId xmlns:a16="http://schemas.microsoft.com/office/drawing/2014/main" id="{C693AE04-3A8E-FFD1-BB86-22524AEE5FDA}"/>
                </a:ext>
              </a:extLst>
            </p:cNvPr>
            <p:cNvSpPr>
              <a:spLocks noChangeShapeType="1"/>
            </p:cNvSpPr>
            <p:nvPr/>
          </p:nvSpPr>
          <p:spPr bwMode="auto">
            <a:xfrm>
              <a:off x="57912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4" name="Line 89">
              <a:extLst>
                <a:ext uri="{FF2B5EF4-FFF2-40B4-BE49-F238E27FC236}">
                  <a16:creationId xmlns:a16="http://schemas.microsoft.com/office/drawing/2014/main" id="{FD6C179D-8826-240F-B97B-EA441C530B04}"/>
                </a:ext>
              </a:extLst>
            </p:cNvPr>
            <p:cNvSpPr>
              <a:spLocks noChangeShapeType="1"/>
            </p:cNvSpPr>
            <p:nvPr/>
          </p:nvSpPr>
          <p:spPr bwMode="auto">
            <a:xfrm>
              <a:off x="5486400" y="5791200"/>
              <a:ext cx="320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255" name="AutoShape 90">
              <a:extLst>
                <a:ext uri="{FF2B5EF4-FFF2-40B4-BE49-F238E27FC236}">
                  <a16:creationId xmlns:a16="http://schemas.microsoft.com/office/drawing/2014/main" id="{5E98D055-26A3-E25D-084D-495DF82C847B}"/>
                </a:ext>
              </a:extLst>
            </p:cNvPr>
            <p:cNvCxnSpPr>
              <a:cxnSpLocks noChangeShapeType="1"/>
            </p:cNvCxnSpPr>
            <p:nvPr/>
          </p:nvCxnSpPr>
          <p:spPr bwMode="auto">
            <a:xfrm rot="16200000" flipH="1">
              <a:off x="5639594" y="5942806"/>
              <a:ext cx="304800" cy="1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56" name="AutoShape 95">
              <a:extLst>
                <a:ext uri="{FF2B5EF4-FFF2-40B4-BE49-F238E27FC236}">
                  <a16:creationId xmlns:a16="http://schemas.microsoft.com/office/drawing/2014/main" id="{437744E2-ED26-87D8-4B61-24AFAC369BE0}"/>
                </a:ext>
              </a:extLst>
            </p:cNvPr>
            <p:cNvCxnSpPr>
              <a:cxnSpLocks noChangeShapeType="1"/>
            </p:cNvCxnSpPr>
            <p:nvPr/>
          </p:nvCxnSpPr>
          <p:spPr bwMode="auto">
            <a:xfrm>
              <a:off x="5791200" y="5789613"/>
              <a:ext cx="758825"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257" name="Text Box 102">
              <a:extLst>
                <a:ext uri="{FF2B5EF4-FFF2-40B4-BE49-F238E27FC236}">
                  <a16:creationId xmlns:a16="http://schemas.microsoft.com/office/drawing/2014/main" id="{D3A21830-A5F4-9671-708C-3F61BC487991}"/>
                </a:ext>
              </a:extLst>
            </p:cNvPr>
            <p:cNvSpPr txBox="1">
              <a:spLocks noChangeArrowheads="1"/>
            </p:cNvSpPr>
            <p:nvPr/>
          </p:nvSpPr>
          <p:spPr bwMode="auto">
            <a:xfrm>
              <a:off x="4800600" y="5562600"/>
              <a:ext cx="7540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cxnSp>
          <p:nvCxnSpPr>
            <p:cNvPr id="258" name="AutoShape 110">
              <a:extLst>
                <a:ext uri="{FF2B5EF4-FFF2-40B4-BE49-F238E27FC236}">
                  <a16:creationId xmlns:a16="http://schemas.microsoft.com/office/drawing/2014/main" id="{8AEF0852-0EF9-DDD2-B892-ECBB43F45AD6}"/>
                </a:ext>
              </a:extLst>
            </p:cNvPr>
            <p:cNvCxnSpPr>
              <a:cxnSpLocks noChangeShapeType="1"/>
            </p:cNvCxnSpPr>
            <p:nvPr/>
          </p:nvCxnSpPr>
          <p:spPr bwMode="auto">
            <a:xfrm>
              <a:off x="4724400" y="5789613"/>
              <a:ext cx="731838"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259" name="Text Box 111">
              <a:extLst>
                <a:ext uri="{FF2B5EF4-FFF2-40B4-BE49-F238E27FC236}">
                  <a16:creationId xmlns:a16="http://schemas.microsoft.com/office/drawing/2014/main" id="{6BC855CA-A1EB-4CCE-BCFA-33A93F8A9F0D}"/>
                </a:ext>
              </a:extLst>
            </p:cNvPr>
            <p:cNvSpPr txBox="1">
              <a:spLocks noChangeArrowheads="1"/>
            </p:cNvSpPr>
            <p:nvPr/>
          </p:nvSpPr>
          <p:spPr bwMode="auto">
            <a:xfrm>
              <a:off x="5926138" y="5865813"/>
              <a:ext cx="55086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min</a:t>
              </a:r>
            </a:p>
          </p:txBody>
        </p:sp>
        <p:sp>
          <p:nvSpPr>
            <p:cNvPr id="260" name="Line 84">
              <a:extLst>
                <a:ext uri="{FF2B5EF4-FFF2-40B4-BE49-F238E27FC236}">
                  <a16:creationId xmlns:a16="http://schemas.microsoft.com/office/drawing/2014/main" id="{7BA66F81-7333-5C71-9F92-82FB7EFDBB73}"/>
                </a:ext>
              </a:extLst>
            </p:cNvPr>
            <p:cNvSpPr>
              <a:spLocks noChangeShapeType="1"/>
            </p:cNvSpPr>
            <p:nvPr/>
          </p:nvSpPr>
          <p:spPr bwMode="auto">
            <a:xfrm>
              <a:off x="1371600" y="6096000"/>
              <a:ext cx="8413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1" name="Line 85">
              <a:extLst>
                <a:ext uri="{FF2B5EF4-FFF2-40B4-BE49-F238E27FC236}">
                  <a16:creationId xmlns:a16="http://schemas.microsoft.com/office/drawing/2014/main" id="{5CFA2C1F-C1E3-D459-7DFC-8E8916BB4D36}"/>
                </a:ext>
              </a:extLst>
            </p:cNvPr>
            <p:cNvSpPr>
              <a:spLocks noChangeShapeType="1"/>
            </p:cNvSpPr>
            <p:nvPr/>
          </p:nvSpPr>
          <p:spPr bwMode="auto">
            <a:xfrm>
              <a:off x="1066800" y="5791200"/>
              <a:ext cx="320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2" name="Line 88">
              <a:extLst>
                <a:ext uri="{FF2B5EF4-FFF2-40B4-BE49-F238E27FC236}">
                  <a16:creationId xmlns:a16="http://schemas.microsoft.com/office/drawing/2014/main" id="{FFF1E51B-DF11-FE42-DEB9-DE83172A5904}"/>
                </a:ext>
              </a:extLst>
            </p:cNvPr>
            <p:cNvSpPr>
              <a:spLocks noChangeShapeType="1"/>
            </p:cNvSpPr>
            <p:nvPr/>
          </p:nvSpPr>
          <p:spPr bwMode="auto">
            <a:xfrm>
              <a:off x="35814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3" name="Line 89">
              <a:extLst>
                <a:ext uri="{FF2B5EF4-FFF2-40B4-BE49-F238E27FC236}">
                  <a16:creationId xmlns:a16="http://schemas.microsoft.com/office/drawing/2014/main" id="{FB36FCA0-6DCB-0D0F-7D0D-BB09CB31AD0F}"/>
                </a:ext>
              </a:extLst>
            </p:cNvPr>
            <p:cNvSpPr>
              <a:spLocks noChangeShapeType="1"/>
            </p:cNvSpPr>
            <p:nvPr/>
          </p:nvSpPr>
          <p:spPr bwMode="auto">
            <a:xfrm>
              <a:off x="2209800" y="5791200"/>
              <a:ext cx="274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264" name="AutoShape 91">
              <a:extLst>
                <a:ext uri="{FF2B5EF4-FFF2-40B4-BE49-F238E27FC236}">
                  <a16:creationId xmlns:a16="http://schemas.microsoft.com/office/drawing/2014/main" id="{CB7439CA-E12D-27EE-12E3-EA2770A415DD}"/>
                </a:ext>
              </a:extLst>
            </p:cNvPr>
            <p:cNvCxnSpPr>
              <a:cxnSpLocks noChangeShapeType="1"/>
            </p:cNvCxnSpPr>
            <p:nvPr/>
          </p:nvCxnSpPr>
          <p:spPr bwMode="auto">
            <a:xfrm rot="5400000">
              <a:off x="2056607" y="5944394"/>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65" name="AutoShape 95">
              <a:extLst>
                <a:ext uri="{FF2B5EF4-FFF2-40B4-BE49-F238E27FC236}">
                  <a16:creationId xmlns:a16="http://schemas.microsoft.com/office/drawing/2014/main" id="{C6C25AE3-063F-FF09-A026-435DCC5A0B8C}"/>
                </a:ext>
              </a:extLst>
            </p:cNvPr>
            <p:cNvCxnSpPr>
              <a:cxnSpLocks noChangeShapeType="1"/>
            </p:cNvCxnSpPr>
            <p:nvPr/>
          </p:nvCxnSpPr>
          <p:spPr bwMode="auto">
            <a:xfrm>
              <a:off x="3581400" y="5791200"/>
              <a:ext cx="731838"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266" name="Text Box 106">
              <a:extLst>
                <a:ext uri="{FF2B5EF4-FFF2-40B4-BE49-F238E27FC236}">
                  <a16:creationId xmlns:a16="http://schemas.microsoft.com/office/drawing/2014/main" id="{CA0AF5DB-84BE-56C9-3B87-F4248E92B538}"/>
                </a:ext>
              </a:extLst>
            </p:cNvPr>
            <p:cNvSpPr txBox="1">
              <a:spLocks noChangeArrowheads="1"/>
            </p:cNvSpPr>
            <p:nvPr/>
          </p:nvSpPr>
          <p:spPr bwMode="auto">
            <a:xfrm>
              <a:off x="1447800" y="5881688"/>
              <a:ext cx="5508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30 min</a:t>
              </a:r>
            </a:p>
          </p:txBody>
        </p:sp>
        <p:sp>
          <p:nvSpPr>
            <p:cNvPr id="267" name="Text Box 111">
              <a:extLst>
                <a:ext uri="{FF2B5EF4-FFF2-40B4-BE49-F238E27FC236}">
                  <a16:creationId xmlns:a16="http://schemas.microsoft.com/office/drawing/2014/main" id="{3A58BF96-0BCA-826A-428A-96ACA1EB3907}"/>
                </a:ext>
              </a:extLst>
            </p:cNvPr>
            <p:cNvSpPr txBox="1">
              <a:spLocks noChangeArrowheads="1"/>
            </p:cNvSpPr>
            <p:nvPr/>
          </p:nvSpPr>
          <p:spPr bwMode="auto">
            <a:xfrm>
              <a:off x="3505200" y="5881688"/>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30 min @ 50%</a:t>
              </a:r>
            </a:p>
          </p:txBody>
        </p:sp>
        <p:sp>
          <p:nvSpPr>
            <p:cNvPr id="268" name="Text Box 111">
              <a:extLst>
                <a:ext uri="{FF2B5EF4-FFF2-40B4-BE49-F238E27FC236}">
                  <a16:creationId xmlns:a16="http://schemas.microsoft.com/office/drawing/2014/main" id="{C679F12F-3FAB-0A99-AEE4-B5A1D9D1655C}"/>
                </a:ext>
              </a:extLst>
            </p:cNvPr>
            <p:cNvSpPr txBox="1">
              <a:spLocks noChangeArrowheads="1"/>
            </p:cNvSpPr>
            <p:nvPr/>
          </p:nvSpPr>
          <p:spPr bwMode="auto">
            <a:xfrm>
              <a:off x="457200" y="5864225"/>
              <a:ext cx="5556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20 min</a:t>
              </a:r>
            </a:p>
          </p:txBody>
        </p:sp>
        <p:sp>
          <p:nvSpPr>
            <p:cNvPr id="269" name="Text Box 102">
              <a:extLst>
                <a:ext uri="{FF2B5EF4-FFF2-40B4-BE49-F238E27FC236}">
                  <a16:creationId xmlns:a16="http://schemas.microsoft.com/office/drawing/2014/main" id="{86ADC893-8140-FB2F-3222-521719A63043}"/>
                </a:ext>
              </a:extLst>
            </p:cNvPr>
            <p:cNvSpPr txBox="1">
              <a:spLocks noChangeArrowheads="1"/>
            </p:cNvSpPr>
            <p:nvPr/>
          </p:nvSpPr>
          <p:spPr bwMode="auto">
            <a:xfrm>
              <a:off x="3657600" y="5562600"/>
              <a:ext cx="609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sp>
          <p:nvSpPr>
            <p:cNvPr id="270" name="Text Box 102">
              <a:extLst>
                <a:ext uri="{FF2B5EF4-FFF2-40B4-BE49-F238E27FC236}">
                  <a16:creationId xmlns:a16="http://schemas.microsoft.com/office/drawing/2014/main" id="{CAB5BB50-8C7B-A49B-6CA8-A3CD273DC119}"/>
                </a:ext>
              </a:extLst>
            </p:cNvPr>
            <p:cNvSpPr txBox="1">
              <a:spLocks noChangeArrowheads="1"/>
            </p:cNvSpPr>
            <p:nvPr/>
          </p:nvSpPr>
          <p:spPr bwMode="auto">
            <a:xfrm>
              <a:off x="1524000" y="5562600"/>
              <a:ext cx="7524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sp>
          <p:nvSpPr>
            <p:cNvPr id="271" name="Text Box 102">
              <a:extLst>
                <a:ext uri="{FF2B5EF4-FFF2-40B4-BE49-F238E27FC236}">
                  <a16:creationId xmlns:a16="http://schemas.microsoft.com/office/drawing/2014/main" id="{450A5BA3-97F9-4C83-2E47-8AA2D724DB77}"/>
                </a:ext>
              </a:extLst>
            </p:cNvPr>
            <p:cNvSpPr txBox="1">
              <a:spLocks noChangeArrowheads="1"/>
            </p:cNvSpPr>
            <p:nvPr/>
          </p:nvSpPr>
          <p:spPr bwMode="auto">
            <a:xfrm>
              <a:off x="457200" y="5562600"/>
              <a:ext cx="6873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20 Days</a:t>
              </a:r>
            </a:p>
          </p:txBody>
        </p:sp>
        <p:sp>
          <p:nvSpPr>
            <p:cNvPr id="272" name="Text Box 106">
              <a:extLst>
                <a:ext uri="{FF2B5EF4-FFF2-40B4-BE49-F238E27FC236}">
                  <a16:creationId xmlns:a16="http://schemas.microsoft.com/office/drawing/2014/main" id="{21FE5410-7755-E5D2-7F19-DBD43F839417}"/>
                </a:ext>
              </a:extLst>
            </p:cNvPr>
            <p:cNvSpPr txBox="1">
              <a:spLocks noChangeArrowheads="1"/>
            </p:cNvSpPr>
            <p:nvPr/>
          </p:nvSpPr>
          <p:spPr bwMode="auto">
            <a:xfrm>
              <a:off x="2108200" y="5562600"/>
              <a:ext cx="7112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273" name="Line 151">
              <a:extLst>
                <a:ext uri="{FF2B5EF4-FFF2-40B4-BE49-F238E27FC236}">
                  <a16:creationId xmlns:a16="http://schemas.microsoft.com/office/drawing/2014/main" id="{0B3D1BB2-A55E-467B-2A6C-64D5F5E263A5}"/>
                </a:ext>
              </a:extLst>
            </p:cNvPr>
            <p:cNvSpPr>
              <a:spLocks noChangeShapeType="1"/>
            </p:cNvSpPr>
            <p:nvPr/>
          </p:nvSpPr>
          <p:spPr bwMode="auto">
            <a:xfrm flipV="1">
              <a:off x="1371600" y="579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4" name="Line 84">
              <a:extLst>
                <a:ext uri="{FF2B5EF4-FFF2-40B4-BE49-F238E27FC236}">
                  <a16:creationId xmlns:a16="http://schemas.microsoft.com/office/drawing/2014/main" id="{6F224515-5983-62CC-D476-FEF3DF994D56}"/>
                </a:ext>
              </a:extLst>
            </p:cNvPr>
            <p:cNvSpPr>
              <a:spLocks noChangeShapeType="1"/>
            </p:cNvSpPr>
            <p:nvPr/>
          </p:nvSpPr>
          <p:spPr bwMode="auto">
            <a:xfrm>
              <a:off x="2462213" y="6096000"/>
              <a:ext cx="823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5" name="Line 89">
              <a:extLst>
                <a:ext uri="{FF2B5EF4-FFF2-40B4-BE49-F238E27FC236}">
                  <a16:creationId xmlns:a16="http://schemas.microsoft.com/office/drawing/2014/main" id="{295C0164-9C5E-90F9-9D67-8B9AEAD36B74}"/>
                </a:ext>
              </a:extLst>
            </p:cNvPr>
            <p:cNvSpPr>
              <a:spLocks noChangeShapeType="1"/>
            </p:cNvSpPr>
            <p:nvPr/>
          </p:nvSpPr>
          <p:spPr bwMode="auto">
            <a:xfrm>
              <a:off x="3276600" y="5791200"/>
              <a:ext cx="301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276" name="AutoShape 91">
              <a:extLst>
                <a:ext uri="{FF2B5EF4-FFF2-40B4-BE49-F238E27FC236}">
                  <a16:creationId xmlns:a16="http://schemas.microsoft.com/office/drawing/2014/main" id="{67AA7EA0-C781-82CB-4C04-194094F9F81B}"/>
                </a:ext>
              </a:extLst>
            </p:cNvPr>
            <p:cNvCxnSpPr>
              <a:cxnSpLocks noChangeShapeType="1"/>
            </p:cNvCxnSpPr>
            <p:nvPr/>
          </p:nvCxnSpPr>
          <p:spPr bwMode="auto">
            <a:xfrm rot="5400000">
              <a:off x="3123407" y="5944394"/>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77" name="Text Box 106">
              <a:extLst>
                <a:ext uri="{FF2B5EF4-FFF2-40B4-BE49-F238E27FC236}">
                  <a16:creationId xmlns:a16="http://schemas.microsoft.com/office/drawing/2014/main" id="{C1EFA63D-E1B1-484D-2121-C646D6EBA8AE}"/>
                </a:ext>
              </a:extLst>
            </p:cNvPr>
            <p:cNvSpPr txBox="1">
              <a:spLocks noChangeArrowheads="1"/>
            </p:cNvSpPr>
            <p:nvPr/>
          </p:nvSpPr>
          <p:spPr bwMode="auto">
            <a:xfrm>
              <a:off x="2520950" y="5881688"/>
              <a:ext cx="7556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60 min</a:t>
              </a:r>
            </a:p>
          </p:txBody>
        </p:sp>
        <p:cxnSp>
          <p:nvCxnSpPr>
            <p:cNvPr id="278" name="AutoShape 110">
              <a:extLst>
                <a:ext uri="{FF2B5EF4-FFF2-40B4-BE49-F238E27FC236}">
                  <a16:creationId xmlns:a16="http://schemas.microsoft.com/office/drawing/2014/main" id="{3F9487E8-8225-C706-F899-176A3BB6C6DC}"/>
                </a:ext>
              </a:extLst>
            </p:cNvPr>
            <p:cNvCxnSpPr>
              <a:cxnSpLocks noChangeShapeType="1"/>
            </p:cNvCxnSpPr>
            <p:nvPr/>
          </p:nvCxnSpPr>
          <p:spPr bwMode="auto">
            <a:xfrm>
              <a:off x="2438400" y="5791200"/>
              <a:ext cx="889000"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279" name="Text Box 102">
              <a:extLst>
                <a:ext uri="{FF2B5EF4-FFF2-40B4-BE49-F238E27FC236}">
                  <a16:creationId xmlns:a16="http://schemas.microsoft.com/office/drawing/2014/main" id="{905A1EA9-BFB7-31E8-9D44-BC05B120D477}"/>
                </a:ext>
              </a:extLst>
            </p:cNvPr>
            <p:cNvSpPr txBox="1">
              <a:spLocks noChangeArrowheads="1"/>
            </p:cNvSpPr>
            <p:nvPr/>
          </p:nvSpPr>
          <p:spPr bwMode="auto">
            <a:xfrm>
              <a:off x="2590800" y="5562600"/>
              <a:ext cx="7524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sp>
          <p:nvSpPr>
            <p:cNvPr id="280" name="Text Box 106">
              <a:extLst>
                <a:ext uri="{FF2B5EF4-FFF2-40B4-BE49-F238E27FC236}">
                  <a16:creationId xmlns:a16="http://schemas.microsoft.com/office/drawing/2014/main" id="{7F53A737-36C8-DA84-2C40-7C0A05774FCA}"/>
                </a:ext>
              </a:extLst>
            </p:cNvPr>
            <p:cNvSpPr txBox="1">
              <a:spLocks noChangeArrowheads="1"/>
            </p:cNvSpPr>
            <p:nvPr/>
          </p:nvSpPr>
          <p:spPr bwMode="auto">
            <a:xfrm>
              <a:off x="3124200" y="5410200"/>
              <a:ext cx="57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a:p>
              <a:pPr eaLnBrk="1" hangingPunct="1">
                <a:spcBef>
                  <a:spcPct val="50000"/>
                </a:spcBef>
              </a:pPr>
              <a:r>
                <a:rPr lang="en-US" altLang="en-US" sz="800">
                  <a:latin typeface="Roboto" panose="02000000000000000000" pitchFamily="2" charset="0"/>
                  <a:ea typeface="Roboto" panose="02000000000000000000" pitchFamily="2" charset="0"/>
                </a:rPr>
                <a:t>@ 50%</a:t>
              </a:r>
            </a:p>
          </p:txBody>
        </p:sp>
        <p:sp>
          <p:nvSpPr>
            <p:cNvPr id="281" name="Line 160">
              <a:extLst>
                <a:ext uri="{FF2B5EF4-FFF2-40B4-BE49-F238E27FC236}">
                  <a16:creationId xmlns:a16="http://schemas.microsoft.com/office/drawing/2014/main" id="{79B5A1D1-04CE-3146-7795-CCA11B7BCE9E}"/>
                </a:ext>
              </a:extLst>
            </p:cNvPr>
            <p:cNvSpPr>
              <a:spLocks noChangeShapeType="1"/>
            </p:cNvSpPr>
            <p:nvPr/>
          </p:nvSpPr>
          <p:spPr bwMode="auto">
            <a:xfrm flipV="1">
              <a:off x="2462213" y="579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2" name="Line 161">
              <a:extLst>
                <a:ext uri="{FF2B5EF4-FFF2-40B4-BE49-F238E27FC236}">
                  <a16:creationId xmlns:a16="http://schemas.microsoft.com/office/drawing/2014/main" id="{240F7078-92C6-84B7-89FB-D87DD6B80E0B}"/>
                </a:ext>
              </a:extLst>
            </p:cNvPr>
            <p:cNvSpPr>
              <a:spLocks noChangeShapeType="1"/>
            </p:cNvSpPr>
            <p:nvPr/>
          </p:nvSpPr>
          <p:spPr bwMode="auto">
            <a:xfrm>
              <a:off x="4724400" y="579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3" name="Text Box 102">
              <a:extLst>
                <a:ext uri="{FF2B5EF4-FFF2-40B4-BE49-F238E27FC236}">
                  <a16:creationId xmlns:a16="http://schemas.microsoft.com/office/drawing/2014/main" id="{7B442C2E-FF53-EA88-0F5E-B85F16A93FB1}"/>
                </a:ext>
              </a:extLst>
            </p:cNvPr>
            <p:cNvSpPr txBox="1">
              <a:spLocks noChangeArrowheads="1"/>
            </p:cNvSpPr>
            <p:nvPr/>
          </p:nvSpPr>
          <p:spPr bwMode="auto">
            <a:xfrm>
              <a:off x="8001000" y="5562600"/>
              <a:ext cx="7540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Days</a:t>
              </a:r>
            </a:p>
          </p:txBody>
        </p:sp>
        <p:sp>
          <p:nvSpPr>
            <p:cNvPr id="284" name="Text Box 106">
              <a:extLst>
                <a:ext uri="{FF2B5EF4-FFF2-40B4-BE49-F238E27FC236}">
                  <a16:creationId xmlns:a16="http://schemas.microsoft.com/office/drawing/2014/main" id="{CF7B151A-5C70-E85C-DF13-45456897F4BB}"/>
                </a:ext>
              </a:extLst>
            </p:cNvPr>
            <p:cNvSpPr txBox="1">
              <a:spLocks noChangeArrowheads="1"/>
            </p:cNvSpPr>
            <p:nvPr/>
          </p:nvSpPr>
          <p:spPr bwMode="auto">
            <a:xfrm>
              <a:off x="7546975" y="5562600"/>
              <a:ext cx="5302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 Days</a:t>
              </a:r>
            </a:p>
          </p:txBody>
        </p:sp>
        <p:sp>
          <p:nvSpPr>
            <p:cNvPr id="285" name="Line 88">
              <a:extLst>
                <a:ext uri="{FF2B5EF4-FFF2-40B4-BE49-F238E27FC236}">
                  <a16:creationId xmlns:a16="http://schemas.microsoft.com/office/drawing/2014/main" id="{15BB6E34-448F-7C0C-2640-20E0D8CBA981}"/>
                </a:ext>
              </a:extLst>
            </p:cNvPr>
            <p:cNvSpPr>
              <a:spLocks noChangeShapeType="1"/>
            </p:cNvSpPr>
            <p:nvPr/>
          </p:nvSpPr>
          <p:spPr bwMode="auto">
            <a:xfrm>
              <a:off x="68580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6" name="Line 89">
              <a:extLst>
                <a:ext uri="{FF2B5EF4-FFF2-40B4-BE49-F238E27FC236}">
                  <a16:creationId xmlns:a16="http://schemas.microsoft.com/office/drawing/2014/main" id="{F80BDE6E-E3C7-6996-902F-6956AD7B9E37}"/>
                </a:ext>
              </a:extLst>
            </p:cNvPr>
            <p:cNvSpPr>
              <a:spLocks noChangeShapeType="1"/>
            </p:cNvSpPr>
            <p:nvPr/>
          </p:nvSpPr>
          <p:spPr bwMode="auto">
            <a:xfrm>
              <a:off x="6553200" y="5791200"/>
              <a:ext cx="301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287" name="AutoShape 90">
              <a:extLst>
                <a:ext uri="{FF2B5EF4-FFF2-40B4-BE49-F238E27FC236}">
                  <a16:creationId xmlns:a16="http://schemas.microsoft.com/office/drawing/2014/main" id="{04CEB699-14F1-2206-DF09-350311F0DADE}"/>
                </a:ext>
              </a:extLst>
            </p:cNvPr>
            <p:cNvCxnSpPr>
              <a:cxnSpLocks noChangeShapeType="1"/>
            </p:cNvCxnSpPr>
            <p:nvPr/>
          </p:nvCxnSpPr>
          <p:spPr bwMode="auto">
            <a:xfrm rot="16200000" flipH="1">
              <a:off x="67048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88" name="AutoShape 91">
              <a:extLst>
                <a:ext uri="{FF2B5EF4-FFF2-40B4-BE49-F238E27FC236}">
                  <a16:creationId xmlns:a16="http://schemas.microsoft.com/office/drawing/2014/main" id="{23680461-07C5-9FAE-0036-C10D5E1A333A}"/>
                </a:ext>
              </a:extLst>
            </p:cNvPr>
            <p:cNvCxnSpPr>
              <a:cxnSpLocks noChangeShapeType="1"/>
            </p:cNvCxnSpPr>
            <p:nvPr/>
          </p:nvCxnSpPr>
          <p:spPr bwMode="auto">
            <a:xfrm flipH="1">
              <a:off x="6551613" y="5791200"/>
              <a:ext cx="1587"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89" name="AutoShape 95">
              <a:extLst>
                <a:ext uri="{FF2B5EF4-FFF2-40B4-BE49-F238E27FC236}">
                  <a16:creationId xmlns:a16="http://schemas.microsoft.com/office/drawing/2014/main" id="{AF4A12B8-CB1D-FAD4-9624-6684659855FF}"/>
                </a:ext>
              </a:extLst>
            </p:cNvPr>
            <p:cNvCxnSpPr>
              <a:cxnSpLocks noChangeShapeType="1"/>
            </p:cNvCxnSpPr>
            <p:nvPr/>
          </p:nvCxnSpPr>
          <p:spPr bwMode="auto">
            <a:xfrm>
              <a:off x="6858000" y="5789613"/>
              <a:ext cx="731838"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290" name="Text Box 111">
              <a:extLst>
                <a:ext uri="{FF2B5EF4-FFF2-40B4-BE49-F238E27FC236}">
                  <a16:creationId xmlns:a16="http://schemas.microsoft.com/office/drawing/2014/main" id="{F7A519CB-DD40-EF4A-E684-D8B027F2AEDF}"/>
                </a:ext>
              </a:extLst>
            </p:cNvPr>
            <p:cNvSpPr txBox="1">
              <a:spLocks noChangeArrowheads="1"/>
            </p:cNvSpPr>
            <p:nvPr/>
          </p:nvSpPr>
          <p:spPr bwMode="auto">
            <a:xfrm>
              <a:off x="8001000" y="5865813"/>
              <a:ext cx="7731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291" name="Text Box 106">
              <a:extLst>
                <a:ext uri="{FF2B5EF4-FFF2-40B4-BE49-F238E27FC236}">
                  <a16:creationId xmlns:a16="http://schemas.microsoft.com/office/drawing/2014/main" id="{9A9A60E3-EAC6-C95A-97F3-14144B214211}"/>
                </a:ext>
              </a:extLst>
            </p:cNvPr>
            <p:cNvSpPr txBox="1">
              <a:spLocks noChangeArrowheads="1"/>
            </p:cNvSpPr>
            <p:nvPr/>
          </p:nvSpPr>
          <p:spPr bwMode="auto">
            <a:xfrm>
              <a:off x="36513" y="5562600"/>
              <a:ext cx="5730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292" name="Line 85">
              <a:extLst>
                <a:ext uri="{FF2B5EF4-FFF2-40B4-BE49-F238E27FC236}">
                  <a16:creationId xmlns:a16="http://schemas.microsoft.com/office/drawing/2014/main" id="{6165D97F-0031-C35C-425F-66F86EE3F1B4}"/>
                </a:ext>
              </a:extLst>
            </p:cNvPr>
            <p:cNvSpPr>
              <a:spLocks noChangeShapeType="1"/>
            </p:cNvSpPr>
            <p:nvPr/>
          </p:nvSpPr>
          <p:spPr bwMode="auto">
            <a:xfrm>
              <a:off x="88900" y="5791200"/>
              <a:ext cx="319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3" name="Text Box 113">
              <a:extLst>
                <a:ext uri="{FF2B5EF4-FFF2-40B4-BE49-F238E27FC236}">
                  <a16:creationId xmlns:a16="http://schemas.microsoft.com/office/drawing/2014/main" id="{FF1CB1E0-D7AC-8D4F-BDB3-371D904E47A8}"/>
                </a:ext>
              </a:extLst>
            </p:cNvPr>
            <p:cNvSpPr txBox="1">
              <a:spLocks noChangeArrowheads="1"/>
            </p:cNvSpPr>
            <p:nvPr/>
          </p:nvSpPr>
          <p:spPr bwMode="auto">
            <a:xfrm>
              <a:off x="8099425" y="6096000"/>
              <a:ext cx="6715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700">
                  <a:latin typeface="Roboto" panose="02000000000000000000" pitchFamily="2" charset="0"/>
                  <a:ea typeface="Roboto" panose="02000000000000000000" pitchFamily="2" charset="0"/>
                </a:rPr>
                <a:t>Lead Time </a:t>
              </a:r>
              <a:br>
                <a:rPr lang="en-US" altLang="en-US" sz="700">
                  <a:latin typeface="Roboto" panose="02000000000000000000" pitchFamily="2" charset="0"/>
                  <a:ea typeface="Roboto" panose="02000000000000000000" pitchFamily="2" charset="0"/>
                </a:rPr>
              </a:br>
              <a:r>
                <a:rPr lang="en-US" altLang="en-US" sz="700">
                  <a:latin typeface="Roboto" panose="02000000000000000000" pitchFamily="2" charset="0"/>
                  <a:ea typeface="Roboto" panose="02000000000000000000" pitchFamily="2" charset="0"/>
                </a:rPr>
                <a:t>82 Days</a:t>
              </a:r>
            </a:p>
          </p:txBody>
        </p:sp>
        <p:sp>
          <p:nvSpPr>
            <p:cNvPr id="294" name="Text Box 114">
              <a:extLst>
                <a:ext uri="{FF2B5EF4-FFF2-40B4-BE49-F238E27FC236}">
                  <a16:creationId xmlns:a16="http://schemas.microsoft.com/office/drawing/2014/main" id="{305F3396-D424-C61D-0FBB-174FDC0CB43E}"/>
                </a:ext>
              </a:extLst>
            </p:cNvPr>
            <p:cNvSpPr txBox="1">
              <a:spLocks noChangeArrowheads="1"/>
            </p:cNvSpPr>
            <p:nvPr/>
          </p:nvSpPr>
          <p:spPr bwMode="auto">
            <a:xfrm>
              <a:off x="8077200" y="6324600"/>
              <a:ext cx="7334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700">
                  <a:latin typeface="Roboto" panose="02000000000000000000" pitchFamily="2" charset="0"/>
                  <a:ea typeface="Roboto" panose="02000000000000000000" pitchFamily="2" charset="0"/>
                </a:rPr>
                <a:t>Process Time </a:t>
              </a:r>
              <a:br>
                <a:rPr lang="en-US" altLang="en-US" sz="700">
                  <a:latin typeface="Roboto" panose="02000000000000000000" pitchFamily="2" charset="0"/>
                  <a:ea typeface="Roboto" panose="02000000000000000000" pitchFamily="2" charset="0"/>
                </a:rPr>
              </a:br>
              <a:r>
                <a:rPr lang="en-US" altLang="en-US" sz="700">
                  <a:latin typeface="Roboto" panose="02000000000000000000" pitchFamily="2" charset="0"/>
                  <a:ea typeface="Roboto" panose="02000000000000000000" pitchFamily="2" charset="0"/>
                </a:rPr>
                <a:t>160 min or 2.7 hours</a:t>
              </a:r>
            </a:p>
          </p:txBody>
        </p:sp>
        <p:sp>
          <p:nvSpPr>
            <p:cNvPr id="295" name="Line 7">
              <a:extLst>
                <a:ext uri="{FF2B5EF4-FFF2-40B4-BE49-F238E27FC236}">
                  <a16:creationId xmlns:a16="http://schemas.microsoft.com/office/drawing/2014/main" id="{0F8BD6DB-9261-49B9-70AD-07A5E3511FBE}"/>
                </a:ext>
              </a:extLst>
            </p:cNvPr>
            <p:cNvSpPr>
              <a:spLocks noChangeShapeType="1"/>
            </p:cNvSpPr>
            <p:nvPr/>
          </p:nvSpPr>
          <p:spPr bwMode="auto">
            <a:xfrm rot="480000" flipV="1">
              <a:off x="1125538" y="3917950"/>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6" name="Line 7">
              <a:extLst>
                <a:ext uri="{FF2B5EF4-FFF2-40B4-BE49-F238E27FC236}">
                  <a16:creationId xmlns:a16="http://schemas.microsoft.com/office/drawing/2014/main" id="{3E2C8403-586B-F6A7-0C6A-42AC807EFD5C}"/>
                </a:ext>
              </a:extLst>
            </p:cNvPr>
            <p:cNvSpPr>
              <a:spLocks noChangeShapeType="1"/>
            </p:cNvSpPr>
            <p:nvPr/>
          </p:nvSpPr>
          <p:spPr bwMode="auto">
            <a:xfrm rot="660000" flipV="1">
              <a:off x="104775" y="3911600"/>
              <a:ext cx="274638"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7" name="Line 7">
              <a:extLst>
                <a:ext uri="{FF2B5EF4-FFF2-40B4-BE49-F238E27FC236}">
                  <a16:creationId xmlns:a16="http://schemas.microsoft.com/office/drawing/2014/main" id="{C94B8839-BF25-EFBD-707C-AE34BAC62D4E}"/>
                </a:ext>
              </a:extLst>
            </p:cNvPr>
            <p:cNvSpPr>
              <a:spLocks noChangeShapeType="1"/>
            </p:cNvSpPr>
            <p:nvPr/>
          </p:nvSpPr>
          <p:spPr bwMode="auto">
            <a:xfrm rot="480000" flipV="1">
              <a:off x="219233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8" name="Line 7">
              <a:extLst>
                <a:ext uri="{FF2B5EF4-FFF2-40B4-BE49-F238E27FC236}">
                  <a16:creationId xmlns:a16="http://schemas.microsoft.com/office/drawing/2014/main" id="{33189440-87BE-6C1A-2F57-8C2C4C2AC9B3}"/>
                </a:ext>
              </a:extLst>
            </p:cNvPr>
            <p:cNvSpPr>
              <a:spLocks noChangeShapeType="1"/>
            </p:cNvSpPr>
            <p:nvPr/>
          </p:nvSpPr>
          <p:spPr bwMode="auto">
            <a:xfrm rot="480000" flipV="1">
              <a:off x="548798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99" name="Line 7">
              <a:extLst>
                <a:ext uri="{FF2B5EF4-FFF2-40B4-BE49-F238E27FC236}">
                  <a16:creationId xmlns:a16="http://schemas.microsoft.com/office/drawing/2014/main" id="{20F83A25-7CD7-7563-4F28-4E54A4F8D039}"/>
                </a:ext>
              </a:extLst>
            </p:cNvPr>
            <p:cNvSpPr>
              <a:spLocks noChangeShapeType="1"/>
            </p:cNvSpPr>
            <p:nvPr/>
          </p:nvSpPr>
          <p:spPr bwMode="auto">
            <a:xfrm rot="480000" flipV="1">
              <a:off x="755808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300" name="Group 147">
              <a:extLst>
                <a:ext uri="{FF2B5EF4-FFF2-40B4-BE49-F238E27FC236}">
                  <a16:creationId xmlns:a16="http://schemas.microsoft.com/office/drawing/2014/main" id="{6BFBDA95-FD4F-5942-DE8F-914F224693A0}"/>
                </a:ext>
              </a:extLst>
            </p:cNvPr>
            <p:cNvGrpSpPr>
              <a:grpSpLocks/>
            </p:cNvGrpSpPr>
            <p:nvPr/>
          </p:nvGrpSpPr>
          <p:grpSpPr bwMode="auto">
            <a:xfrm>
              <a:off x="5791200" y="3657600"/>
              <a:ext cx="762000" cy="1295400"/>
              <a:chOff x="6885907" y="3657600"/>
              <a:chExt cx="1023553" cy="1295400"/>
            </a:xfrm>
          </p:grpSpPr>
          <p:sp>
            <p:nvSpPr>
              <p:cNvPr id="301" name="Rectangle 30">
                <a:extLst>
                  <a:ext uri="{FF2B5EF4-FFF2-40B4-BE49-F238E27FC236}">
                    <a16:creationId xmlns:a16="http://schemas.microsoft.com/office/drawing/2014/main" id="{C5C443C7-E4CB-1063-B860-13C9F9C75468}"/>
                  </a:ext>
                </a:extLst>
              </p:cNvPr>
              <p:cNvSpPr>
                <a:spLocks noChangeArrowheads="1"/>
              </p:cNvSpPr>
              <p:nvPr/>
            </p:nvSpPr>
            <p:spPr bwMode="auto">
              <a:xfrm>
                <a:off x="6887958" y="3657600"/>
                <a:ext cx="940129"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02" name="Text Box 33">
                <a:extLst>
                  <a:ext uri="{FF2B5EF4-FFF2-40B4-BE49-F238E27FC236}">
                    <a16:creationId xmlns:a16="http://schemas.microsoft.com/office/drawing/2014/main" id="{B9F8481C-2835-D290-BDF2-D5798FC926D4}"/>
                  </a:ext>
                </a:extLst>
              </p:cNvPr>
              <p:cNvSpPr txBox="1">
                <a:spLocks noChangeArrowheads="1"/>
              </p:cNvSpPr>
              <p:nvPr/>
            </p:nvSpPr>
            <p:spPr bwMode="auto">
              <a:xfrm>
                <a:off x="6885907" y="3744913"/>
                <a:ext cx="10235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Accounting</a:t>
                </a:r>
              </a:p>
              <a:p>
                <a:pPr eaLnBrk="1" hangingPunct="1"/>
                <a:r>
                  <a:rPr lang="en-US" altLang="en-US" sz="900">
                    <a:latin typeface="Roboto" panose="02000000000000000000" pitchFamily="2" charset="0"/>
                    <a:ea typeface="Roboto" panose="02000000000000000000" pitchFamily="2" charset="0"/>
                  </a:rPr>
                  <a:t>Review</a:t>
                </a:r>
              </a:p>
            </p:txBody>
          </p:sp>
          <p:sp>
            <p:nvSpPr>
              <p:cNvPr id="303" name="Rectangle 42">
                <a:extLst>
                  <a:ext uri="{FF2B5EF4-FFF2-40B4-BE49-F238E27FC236}">
                    <a16:creationId xmlns:a16="http://schemas.microsoft.com/office/drawing/2014/main" id="{CDC65937-C856-4A90-3829-A9CF4A4CA6CE}"/>
                  </a:ext>
                </a:extLst>
              </p:cNvPr>
              <p:cNvSpPr>
                <a:spLocks noChangeArrowheads="1"/>
              </p:cNvSpPr>
              <p:nvPr/>
            </p:nvSpPr>
            <p:spPr bwMode="auto">
              <a:xfrm>
                <a:off x="6909328" y="4310063"/>
                <a:ext cx="921934" cy="642937"/>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04" name="Rectangle 43">
                <a:extLst>
                  <a:ext uri="{FF2B5EF4-FFF2-40B4-BE49-F238E27FC236}">
                    <a16:creationId xmlns:a16="http://schemas.microsoft.com/office/drawing/2014/main" id="{F1723C4C-4CEB-AD5D-8814-67DD4073482C}"/>
                  </a:ext>
                </a:extLst>
              </p:cNvPr>
              <p:cNvSpPr>
                <a:spLocks noChangeArrowheads="1"/>
              </p:cNvSpPr>
              <p:nvPr/>
            </p:nvSpPr>
            <p:spPr bwMode="auto">
              <a:xfrm>
                <a:off x="6934202" y="4306888"/>
                <a:ext cx="975258" cy="57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LT = 1 D</a:t>
                </a:r>
              </a:p>
              <a:p>
                <a:pPr eaLnBrk="1" hangingPunct="1">
                  <a:lnSpc>
                    <a:spcPct val="125000"/>
                  </a:lnSpc>
                </a:pPr>
                <a:r>
                  <a:rPr lang="en-US" altLang="en-US" sz="500">
                    <a:latin typeface="Roboto" panose="02000000000000000000" pitchFamily="2" charset="0"/>
                    <a:ea typeface="Roboto" panose="02000000000000000000" pitchFamily="2" charset="0"/>
                  </a:rPr>
                  <a:t>Processing Time = 5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305" name="Rectangle 44">
                <a:extLst>
                  <a:ext uri="{FF2B5EF4-FFF2-40B4-BE49-F238E27FC236}">
                    <a16:creationId xmlns:a16="http://schemas.microsoft.com/office/drawing/2014/main" id="{CD0BE5E1-0E52-97C4-DD9D-0045D26C6CB0}"/>
                  </a:ext>
                </a:extLst>
              </p:cNvPr>
              <p:cNvSpPr>
                <a:spLocks noChangeArrowheads="1"/>
              </p:cNvSpPr>
              <p:nvPr/>
            </p:nvSpPr>
            <p:spPr bwMode="auto">
              <a:xfrm>
                <a:off x="7104219" y="4438650"/>
                <a:ext cx="138081"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grpSp>
        <p:sp>
          <p:nvSpPr>
            <p:cNvPr id="306" name="Line 7">
              <a:extLst>
                <a:ext uri="{FF2B5EF4-FFF2-40B4-BE49-F238E27FC236}">
                  <a16:creationId xmlns:a16="http://schemas.microsoft.com/office/drawing/2014/main" id="{DA9400DD-43E4-6A34-08A5-195E994FD856}"/>
                </a:ext>
              </a:extLst>
            </p:cNvPr>
            <p:cNvSpPr>
              <a:spLocks noChangeShapeType="1"/>
            </p:cNvSpPr>
            <p:nvPr/>
          </p:nvSpPr>
          <p:spPr bwMode="auto">
            <a:xfrm rot="480000" flipV="1">
              <a:off x="6535738" y="3908425"/>
              <a:ext cx="320675" cy="4603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cxnSp>
          <p:nvCxnSpPr>
            <p:cNvPr id="307" name="Straight Connector 306">
              <a:extLst>
                <a:ext uri="{FF2B5EF4-FFF2-40B4-BE49-F238E27FC236}">
                  <a16:creationId xmlns:a16="http://schemas.microsoft.com/office/drawing/2014/main" id="{4EEE09BF-5094-60BD-E46C-4C2CECF01DAF}"/>
                </a:ext>
              </a:extLst>
            </p:cNvPr>
            <p:cNvCxnSpPr/>
            <p:nvPr/>
          </p:nvCxnSpPr>
          <p:spPr>
            <a:xfrm rot="5400000" flipH="1" flipV="1">
              <a:off x="1143000" y="4800600"/>
              <a:ext cx="1588" cy="1588"/>
            </a:xfrm>
            <a:prstGeom prst="line">
              <a:avLst/>
            </a:prstGeom>
          </p:spPr>
          <p:style>
            <a:lnRef idx="1">
              <a:schemeClr val="accent1"/>
            </a:lnRef>
            <a:fillRef idx="0">
              <a:schemeClr val="accent1"/>
            </a:fillRef>
            <a:effectRef idx="0">
              <a:schemeClr val="accent1"/>
            </a:effectRef>
            <a:fontRef idx="minor">
              <a:schemeClr val="tx1"/>
            </a:fontRef>
          </p:style>
        </p:cxnSp>
        <p:grpSp>
          <p:nvGrpSpPr>
            <p:cNvPr id="308" name="Group 168">
              <a:extLst>
                <a:ext uri="{FF2B5EF4-FFF2-40B4-BE49-F238E27FC236}">
                  <a16:creationId xmlns:a16="http://schemas.microsoft.com/office/drawing/2014/main" id="{B2714560-FE7D-D60F-3B49-8089DA36143E}"/>
                </a:ext>
              </a:extLst>
            </p:cNvPr>
            <p:cNvGrpSpPr>
              <a:grpSpLocks/>
            </p:cNvGrpSpPr>
            <p:nvPr/>
          </p:nvGrpSpPr>
          <p:grpSpPr bwMode="auto">
            <a:xfrm>
              <a:off x="400050" y="5791200"/>
              <a:ext cx="666750" cy="306388"/>
              <a:chOff x="406966" y="5027613"/>
              <a:chExt cx="667512" cy="307181"/>
            </a:xfrm>
          </p:grpSpPr>
          <p:sp>
            <p:nvSpPr>
              <p:cNvPr id="309" name="Line 84">
                <a:extLst>
                  <a:ext uri="{FF2B5EF4-FFF2-40B4-BE49-F238E27FC236}">
                    <a16:creationId xmlns:a16="http://schemas.microsoft.com/office/drawing/2014/main" id="{1B45D09B-A2AF-233F-B32F-0DDF733ABF40}"/>
                  </a:ext>
                </a:extLst>
              </p:cNvPr>
              <p:cNvSpPr>
                <a:spLocks noChangeShapeType="1"/>
              </p:cNvSpPr>
              <p:nvPr/>
            </p:nvSpPr>
            <p:spPr bwMode="auto">
              <a:xfrm>
                <a:off x="406966" y="5332413"/>
                <a:ext cx="6675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10" name="AutoShape 91">
                <a:extLst>
                  <a:ext uri="{FF2B5EF4-FFF2-40B4-BE49-F238E27FC236}">
                    <a16:creationId xmlns:a16="http://schemas.microsoft.com/office/drawing/2014/main" id="{45329DF9-6539-5BC8-EF94-CA2B6A46CF15}"/>
                  </a:ext>
                </a:extLst>
              </p:cNvPr>
              <p:cNvCxnSpPr>
                <a:cxnSpLocks noChangeShapeType="1"/>
              </p:cNvCxnSpPr>
              <p:nvPr/>
            </p:nvCxnSpPr>
            <p:spPr bwMode="auto">
              <a:xfrm rot="5400000">
                <a:off x="914400" y="5181600"/>
                <a:ext cx="304800" cy="1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11" name="Line 151">
                <a:extLst>
                  <a:ext uri="{FF2B5EF4-FFF2-40B4-BE49-F238E27FC236}">
                    <a16:creationId xmlns:a16="http://schemas.microsoft.com/office/drawing/2014/main" id="{5B82DCCF-0F04-A89F-B645-BC612DCEB698}"/>
                  </a:ext>
                </a:extLst>
              </p:cNvPr>
              <p:cNvSpPr>
                <a:spLocks noChangeShapeType="1"/>
              </p:cNvSpPr>
              <p:nvPr/>
            </p:nvSpPr>
            <p:spPr bwMode="auto">
              <a:xfrm flipV="1">
                <a:off x="406966" y="5027613"/>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cxnSp>
          <p:nvCxnSpPr>
            <p:cNvPr id="312" name="AutoShape 110">
              <a:extLst>
                <a:ext uri="{FF2B5EF4-FFF2-40B4-BE49-F238E27FC236}">
                  <a16:creationId xmlns:a16="http://schemas.microsoft.com/office/drawing/2014/main" id="{E2A6C829-E17E-FD21-3EDC-A204D5FAAEAE}"/>
                </a:ext>
              </a:extLst>
            </p:cNvPr>
            <p:cNvCxnSpPr>
              <a:cxnSpLocks noChangeShapeType="1"/>
            </p:cNvCxnSpPr>
            <p:nvPr/>
          </p:nvCxnSpPr>
          <p:spPr bwMode="auto">
            <a:xfrm>
              <a:off x="1371600" y="5791200"/>
              <a:ext cx="850900"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13" name="AutoShape 110">
              <a:extLst>
                <a:ext uri="{FF2B5EF4-FFF2-40B4-BE49-F238E27FC236}">
                  <a16:creationId xmlns:a16="http://schemas.microsoft.com/office/drawing/2014/main" id="{C4725336-CA60-8DA5-A01C-1F0510960CDD}"/>
                </a:ext>
              </a:extLst>
            </p:cNvPr>
            <p:cNvCxnSpPr>
              <a:cxnSpLocks noChangeShapeType="1"/>
            </p:cNvCxnSpPr>
            <p:nvPr/>
          </p:nvCxnSpPr>
          <p:spPr bwMode="auto">
            <a:xfrm>
              <a:off x="381000" y="5789613"/>
              <a:ext cx="639763" cy="158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14" name="AutoShape 91">
              <a:extLst>
                <a:ext uri="{FF2B5EF4-FFF2-40B4-BE49-F238E27FC236}">
                  <a16:creationId xmlns:a16="http://schemas.microsoft.com/office/drawing/2014/main" id="{B5F29ED9-054B-9B9E-7634-3DB73D76F5EF}"/>
                </a:ext>
              </a:extLst>
            </p:cNvPr>
            <p:cNvCxnSpPr>
              <a:cxnSpLocks noChangeShapeType="1"/>
            </p:cNvCxnSpPr>
            <p:nvPr/>
          </p:nvCxnSpPr>
          <p:spPr bwMode="auto">
            <a:xfrm rot="5400000">
              <a:off x="34282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15" name="AutoShape 91">
              <a:extLst>
                <a:ext uri="{FF2B5EF4-FFF2-40B4-BE49-F238E27FC236}">
                  <a16:creationId xmlns:a16="http://schemas.microsoft.com/office/drawing/2014/main" id="{84D547F1-B538-ADED-046C-09140F86FDBA}"/>
                </a:ext>
              </a:extLst>
            </p:cNvPr>
            <p:cNvCxnSpPr>
              <a:cxnSpLocks noChangeShapeType="1"/>
            </p:cNvCxnSpPr>
            <p:nvPr/>
          </p:nvCxnSpPr>
          <p:spPr bwMode="auto">
            <a:xfrm rot="5400000">
              <a:off x="41902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16" name="Line 89">
              <a:extLst>
                <a:ext uri="{FF2B5EF4-FFF2-40B4-BE49-F238E27FC236}">
                  <a16:creationId xmlns:a16="http://schemas.microsoft.com/office/drawing/2014/main" id="{AFB57234-B7C7-FAA1-9576-5106F45B4850}"/>
                </a:ext>
              </a:extLst>
            </p:cNvPr>
            <p:cNvSpPr>
              <a:spLocks noChangeShapeType="1"/>
            </p:cNvSpPr>
            <p:nvPr/>
          </p:nvSpPr>
          <p:spPr bwMode="auto">
            <a:xfrm>
              <a:off x="4346575" y="5791200"/>
              <a:ext cx="374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17" name="AutoShape 91">
              <a:extLst>
                <a:ext uri="{FF2B5EF4-FFF2-40B4-BE49-F238E27FC236}">
                  <a16:creationId xmlns:a16="http://schemas.microsoft.com/office/drawing/2014/main" id="{A1A28C10-04EB-AC04-088C-F76E93198C71}"/>
                </a:ext>
              </a:extLst>
            </p:cNvPr>
            <p:cNvCxnSpPr>
              <a:cxnSpLocks noChangeShapeType="1"/>
            </p:cNvCxnSpPr>
            <p:nvPr/>
          </p:nvCxnSpPr>
          <p:spPr bwMode="auto">
            <a:xfrm rot="5400000">
              <a:off x="53332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18" name="Text Box 106">
              <a:extLst>
                <a:ext uri="{FF2B5EF4-FFF2-40B4-BE49-F238E27FC236}">
                  <a16:creationId xmlns:a16="http://schemas.microsoft.com/office/drawing/2014/main" id="{D0F587EE-D7FC-0AE1-EB04-9D0910919756}"/>
                </a:ext>
              </a:extLst>
            </p:cNvPr>
            <p:cNvSpPr txBox="1">
              <a:spLocks noChangeArrowheads="1"/>
            </p:cNvSpPr>
            <p:nvPr/>
          </p:nvSpPr>
          <p:spPr bwMode="auto">
            <a:xfrm>
              <a:off x="5943600" y="5576888"/>
              <a:ext cx="5334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 Day</a:t>
              </a:r>
            </a:p>
          </p:txBody>
        </p:sp>
        <p:sp>
          <p:nvSpPr>
            <p:cNvPr id="319" name="Text Box 106">
              <a:extLst>
                <a:ext uri="{FF2B5EF4-FFF2-40B4-BE49-F238E27FC236}">
                  <a16:creationId xmlns:a16="http://schemas.microsoft.com/office/drawing/2014/main" id="{AB4E2A8B-2DFF-2691-9CEC-9045CBC46769}"/>
                </a:ext>
              </a:extLst>
            </p:cNvPr>
            <p:cNvSpPr txBox="1">
              <a:spLocks noChangeArrowheads="1"/>
            </p:cNvSpPr>
            <p:nvPr/>
          </p:nvSpPr>
          <p:spPr bwMode="auto">
            <a:xfrm>
              <a:off x="6459538" y="5562600"/>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0 Days</a:t>
              </a:r>
            </a:p>
          </p:txBody>
        </p:sp>
        <p:cxnSp>
          <p:nvCxnSpPr>
            <p:cNvPr id="320" name="AutoShape 90">
              <a:extLst>
                <a:ext uri="{FF2B5EF4-FFF2-40B4-BE49-F238E27FC236}">
                  <a16:creationId xmlns:a16="http://schemas.microsoft.com/office/drawing/2014/main" id="{587B8747-B9E5-89E3-DAA2-5FC5E581417F}"/>
                </a:ext>
              </a:extLst>
            </p:cNvPr>
            <p:cNvCxnSpPr>
              <a:cxnSpLocks noChangeShapeType="1"/>
            </p:cNvCxnSpPr>
            <p:nvPr/>
          </p:nvCxnSpPr>
          <p:spPr bwMode="auto">
            <a:xfrm rot="16200000" flipH="1">
              <a:off x="74668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21" name="Line 89">
              <a:extLst>
                <a:ext uri="{FF2B5EF4-FFF2-40B4-BE49-F238E27FC236}">
                  <a16:creationId xmlns:a16="http://schemas.microsoft.com/office/drawing/2014/main" id="{75DCAC92-D65F-3C9E-F127-BE9004C4DB14}"/>
                </a:ext>
              </a:extLst>
            </p:cNvPr>
            <p:cNvSpPr>
              <a:spLocks noChangeShapeType="1"/>
            </p:cNvSpPr>
            <p:nvPr/>
          </p:nvSpPr>
          <p:spPr bwMode="auto">
            <a:xfrm>
              <a:off x="7604125" y="5791200"/>
              <a:ext cx="3111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2" name="Text Box 106">
              <a:extLst>
                <a:ext uri="{FF2B5EF4-FFF2-40B4-BE49-F238E27FC236}">
                  <a16:creationId xmlns:a16="http://schemas.microsoft.com/office/drawing/2014/main" id="{D7E7F628-4A74-6001-2C98-9518E7B04906}"/>
                </a:ext>
              </a:extLst>
            </p:cNvPr>
            <p:cNvSpPr txBox="1">
              <a:spLocks noChangeArrowheads="1"/>
            </p:cNvSpPr>
            <p:nvPr/>
          </p:nvSpPr>
          <p:spPr bwMode="auto">
            <a:xfrm>
              <a:off x="6959600" y="5867400"/>
              <a:ext cx="5842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323" name="Line 88">
              <a:extLst>
                <a:ext uri="{FF2B5EF4-FFF2-40B4-BE49-F238E27FC236}">
                  <a16:creationId xmlns:a16="http://schemas.microsoft.com/office/drawing/2014/main" id="{D6A72DC6-68DF-A9A5-B272-28071A67871C}"/>
                </a:ext>
              </a:extLst>
            </p:cNvPr>
            <p:cNvSpPr>
              <a:spLocks noChangeShapeType="1"/>
            </p:cNvSpPr>
            <p:nvPr/>
          </p:nvSpPr>
          <p:spPr bwMode="auto">
            <a:xfrm>
              <a:off x="7924800" y="6096000"/>
              <a:ext cx="758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24" name="AutoShape 90">
              <a:extLst>
                <a:ext uri="{FF2B5EF4-FFF2-40B4-BE49-F238E27FC236}">
                  <a16:creationId xmlns:a16="http://schemas.microsoft.com/office/drawing/2014/main" id="{2C4A6536-DE29-701D-10C1-E4BB2E1C24DB}"/>
                </a:ext>
              </a:extLst>
            </p:cNvPr>
            <p:cNvCxnSpPr>
              <a:cxnSpLocks noChangeShapeType="1"/>
            </p:cNvCxnSpPr>
            <p:nvPr/>
          </p:nvCxnSpPr>
          <p:spPr bwMode="auto">
            <a:xfrm rot="16200000" flipH="1">
              <a:off x="77716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5" name="AutoShape 90">
              <a:extLst>
                <a:ext uri="{FF2B5EF4-FFF2-40B4-BE49-F238E27FC236}">
                  <a16:creationId xmlns:a16="http://schemas.microsoft.com/office/drawing/2014/main" id="{7418A857-211A-7764-97BB-4EBFDE7602CD}"/>
                </a:ext>
              </a:extLst>
            </p:cNvPr>
            <p:cNvCxnSpPr>
              <a:cxnSpLocks noChangeShapeType="1"/>
            </p:cNvCxnSpPr>
            <p:nvPr/>
          </p:nvCxnSpPr>
          <p:spPr bwMode="auto">
            <a:xfrm rot="16200000" flipH="1">
              <a:off x="8533607" y="5942806"/>
              <a:ext cx="304800" cy="15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6" name="AutoShape 95">
              <a:extLst>
                <a:ext uri="{FF2B5EF4-FFF2-40B4-BE49-F238E27FC236}">
                  <a16:creationId xmlns:a16="http://schemas.microsoft.com/office/drawing/2014/main" id="{B2E5E1C0-A08C-C2D4-F31C-27BC95AE4AD2}"/>
                </a:ext>
              </a:extLst>
            </p:cNvPr>
            <p:cNvCxnSpPr>
              <a:cxnSpLocks noChangeShapeType="1"/>
            </p:cNvCxnSpPr>
            <p:nvPr/>
          </p:nvCxnSpPr>
          <p:spPr bwMode="auto">
            <a:xfrm>
              <a:off x="7924800" y="5791200"/>
              <a:ext cx="731838" cy="1588"/>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grpSp>
          <p:nvGrpSpPr>
            <p:cNvPr id="327" name="Group 130">
              <a:extLst>
                <a:ext uri="{FF2B5EF4-FFF2-40B4-BE49-F238E27FC236}">
                  <a16:creationId xmlns:a16="http://schemas.microsoft.com/office/drawing/2014/main" id="{7FE3658D-7EB1-4000-D32D-3112C122CE7A}"/>
                </a:ext>
              </a:extLst>
            </p:cNvPr>
            <p:cNvGrpSpPr>
              <a:grpSpLocks/>
            </p:cNvGrpSpPr>
            <p:nvPr/>
          </p:nvGrpSpPr>
          <p:grpSpPr bwMode="auto">
            <a:xfrm rot="-9689062">
              <a:off x="3354388" y="2557463"/>
              <a:ext cx="488950" cy="1050925"/>
              <a:chOff x="636" y="2054"/>
              <a:chExt cx="200" cy="298"/>
            </a:xfrm>
          </p:grpSpPr>
          <p:sp>
            <p:nvSpPr>
              <p:cNvPr id="328" name="Line 131">
                <a:extLst>
                  <a:ext uri="{FF2B5EF4-FFF2-40B4-BE49-F238E27FC236}">
                    <a16:creationId xmlns:a16="http://schemas.microsoft.com/office/drawing/2014/main" id="{BC7E9E79-2202-95C5-102E-B9C8CF4E0743}"/>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29" name="Line 132">
                <a:extLst>
                  <a:ext uri="{FF2B5EF4-FFF2-40B4-BE49-F238E27FC236}">
                    <a16:creationId xmlns:a16="http://schemas.microsoft.com/office/drawing/2014/main" id="{03E29634-E328-0B3B-60FD-0546F53C4D93}"/>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0" name="Line 133">
                <a:extLst>
                  <a:ext uri="{FF2B5EF4-FFF2-40B4-BE49-F238E27FC236}">
                    <a16:creationId xmlns:a16="http://schemas.microsoft.com/office/drawing/2014/main" id="{E936B777-8E57-F933-D636-320C1A87240C}"/>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31" name="Rectangle 121">
              <a:extLst>
                <a:ext uri="{FF2B5EF4-FFF2-40B4-BE49-F238E27FC236}">
                  <a16:creationId xmlns:a16="http://schemas.microsoft.com/office/drawing/2014/main" id="{E7432FAF-ED0C-C849-F959-452F2069681C}"/>
                </a:ext>
              </a:extLst>
            </p:cNvPr>
            <p:cNvSpPr>
              <a:spLocks noChangeArrowheads="1"/>
            </p:cNvSpPr>
            <p:nvPr/>
          </p:nvSpPr>
          <p:spPr bwMode="auto">
            <a:xfrm>
              <a:off x="1219200" y="23622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Annual Email</a:t>
              </a:r>
            </a:p>
            <a:p>
              <a:pPr eaLnBrk="1" hangingPunct="1"/>
              <a:r>
                <a:rPr lang="en-US" altLang="en-US" sz="900">
                  <a:latin typeface="Roboto" panose="02000000000000000000" pitchFamily="2" charset="0"/>
                  <a:ea typeface="Roboto" panose="02000000000000000000" pitchFamily="2" charset="0"/>
                </a:rPr>
                <a:t>Reminder</a:t>
              </a:r>
            </a:p>
          </p:txBody>
        </p:sp>
        <p:grpSp>
          <p:nvGrpSpPr>
            <p:cNvPr id="332" name="Group 130">
              <a:extLst>
                <a:ext uri="{FF2B5EF4-FFF2-40B4-BE49-F238E27FC236}">
                  <a16:creationId xmlns:a16="http://schemas.microsoft.com/office/drawing/2014/main" id="{42279841-28E6-B2DB-E09C-F5A4CB717D67}"/>
                </a:ext>
              </a:extLst>
            </p:cNvPr>
            <p:cNvGrpSpPr>
              <a:grpSpLocks/>
            </p:cNvGrpSpPr>
            <p:nvPr/>
          </p:nvGrpSpPr>
          <p:grpSpPr bwMode="auto">
            <a:xfrm rot="9057867">
              <a:off x="936625" y="3113088"/>
              <a:ext cx="725488" cy="280987"/>
              <a:chOff x="636" y="2054"/>
              <a:chExt cx="200" cy="298"/>
            </a:xfrm>
          </p:grpSpPr>
          <p:sp>
            <p:nvSpPr>
              <p:cNvPr id="333" name="Line 131">
                <a:extLst>
                  <a:ext uri="{FF2B5EF4-FFF2-40B4-BE49-F238E27FC236}">
                    <a16:creationId xmlns:a16="http://schemas.microsoft.com/office/drawing/2014/main" id="{FC9D2213-3873-F1DC-AB3F-2E39EA2D1340}"/>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4" name="Line 132">
                <a:extLst>
                  <a:ext uri="{FF2B5EF4-FFF2-40B4-BE49-F238E27FC236}">
                    <a16:creationId xmlns:a16="http://schemas.microsoft.com/office/drawing/2014/main" id="{7A0FA5FF-C6FD-2275-E961-64E31D16F02B}"/>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335" name="Line 133">
                <a:extLst>
                  <a:ext uri="{FF2B5EF4-FFF2-40B4-BE49-F238E27FC236}">
                    <a16:creationId xmlns:a16="http://schemas.microsoft.com/office/drawing/2014/main" id="{B18B1E54-99B5-9D70-3875-FDC35E923B56}"/>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336" name="AutoShape 158">
              <a:extLst>
                <a:ext uri="{FF2B5EF4-FFF2-40B4-BE49-F238E27FC236}">
                  <a16:creationId xmlns:a16="http://schemas.microsoft.com/office/drawing/2014/main" id="{A9A9897E-75FD-4BFC-D07D-5477BC4ED5D1}"/>
                </a:ext>
              </a:extLst>
            </p:cNvPr>
            <p:cNvSpPr>
              <a:spLocks noChangeArrowheads="1"/>
            </p:cNvSpPr>
            <p:nvPr/>
          </p:nvSpPr>
          <p:spPr bwMode="auto">
            <a:xfrm>
              <a:off x="3810000" y="1905000"/>
              <a:ext cx="1066800" cy="7620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800">
                <a:latin typeface="Roboto" panose="02000000000000000000" pitchFamily="2" charset="0"/>
                <a:ea typeface="Roboto" panose="02000000000000000000" pitchFamily="2" charset="0"/>
              </a:endParaRPr>
            </a:p>
          </p:txBody>
        </p:sp>
        <p:sp>
          <p:nvSpPr>
            <p:cNvPr id="337" name="AutoShape 158">
              <a:extLst>
                <a:ext uri="{FF2B5EF4-FFF2-40B4-BE49-F238E27FC236}">
                  <a16:creationId xmlns:a16="http://schemas.microsoft.com/office/drawing/2014/main" id="{1888A949-8641-6E38-4D69-28ED6E6FFFDF}"/>
                </a:ext>
              </a:extLst>
            </p:cNvPr>
            <p:cNvSpPr>
              <a:spLocks noChangeArrowheads="1"/>
            </p:cNvSpPr>
            <p:nvPr/>
          </p:nvSpPr>
          <p:spPr bwMode="auto">
            <a:xfrm>
              <a:off x="5638800" y="2362200"/>
              <a:ext cx="1066800" cy="7620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800">
                <a:latin typeface="Roboto" panose="02000000000000000000" pitchFamily="2" charset="0"/>
                <a:ea typeface="Roboto" panose="02000000000000000000" pitchFamily="2" charset="0"/>
              </a:endParaRPr>
            </a:p>
          </p:txBody>
        </p:sp>
        <p:grpSp>
          <p:nvGrpSpPr>
            <p:cNvPr id="338" name="Group 158">
              <a:extLst>
                <a:ext uri="{FF2B5EF4-FFF2-40B4-BE49-F238E27FC236}">
                  <a16:creationId xmlns:a16="http://schemas.microsoft.com/office/drawing/2014/main" id="{9BF4DB1D-09C7-B958-C53F-5BCDB8C63A7B}"/>
                </a:ext>
              </a:extLst>
            </p:cNvPr>
            <p:cNvGrpSpPr>
              <a:grpSpLocks/>
            </p:cNvGrpSpPr>
            <p:nvPr/>
          </p:nvGrpSpPr>
          <p:grpSpPr bwMode="auto">
            <a:xfrm>
              <a:off x="1524000" y="2819400"/>
              <a:ext cx="990600" cy="762000"/>
              <a:chOff x="914400" y="3048000"/>
              <a:chExt cx="1219200" cy="914400"/>
            </a:xfrm>
          </p:grpSpPr>
          <p:sp>
            <p:nvSpPr>
              <p:cNvPr id="339" name="AutoShape 158">
                <a:extLst>
                  <a:ext uri="{FF2B5EF4-FFF2-40B4-BE49-F238E27FC236}">
                    <a16:creationId xmlns:a16="http://schemas.microsoft.com/office/drawing/2014/main" id="{70BC927A-EEE8-C984-97DB-D0E3AB779EA2}"/>
                  </a:ext>
                </a:extLst>
              </p:cNvPr>
              <p:cNvSpPr>
                <a:spLocks noChangeArrowheads="1"/>
              </p:cNvSpPr>
              <p:nvPr/>
            </p:nvSpPr>
            <p:spPr bwMode="auto">
              <a:xfrm>
                <a:off x="914400" y="3048000"/>
                <a:ext cx="1219200" cy="914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800">
                  <a:latin typeface="Roboto" panose="02000000000000000000" pitchFamily="2" charset="0"/>
                  <a:ea typeface="Roboto" panose="02000000000000000000" pitchFamily="2" charset="0"/>
                </a:endParaRPr>
              </a:p>
            </p:txBody>
          </p:sp>
          <p:sp>
            <p:nvSpPr>
              <p:cNvPr id="340" name="TextBox 157">
                <a:extLst>
                  <a:ext uri="{FF2B5EF4-FFF2-40B4-BE49-F238E27FC236}">
                    <a16:creationId xmlns:a16="http://schemas.microsoft.com/office/drawing/2014/main" id="{5FF1330D-4863-1F2A-B812-7CE05094EA4E}"/>
                  </a:ext>
                </a:extLst>
              </p:cNvPr>
              <p:cNvSpPr txBox="1">
                <a:spLocks noChangeArrowheads="1"/>
              </p:cNvSpPr>
              <p:nvPr/>
            </p:nvSpPr>
            <p:spPr bwMode="auto">
              <a:xfrm>
                <a:off x="1101969" y="3337560"/>
                <a:ext cx="7620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latin typeface="Roboto" panose="02000000000000000000" pitchFamily="2" charset="0"/>
                    <a:ea typeface="Roboto" panose="02000000000000000000" pitchFamily="2" charset="0"/>
                  </a:rPr>
                  <a:t>Flow, takt</a:t>
                </a:r>
              </a:p>
            </p:txBody>
          </p:sp>
        </p:grpSp>
        <p:grpSp>
          <p:nvGrpSpPr>
            <p:cNvPr id="341" name="Group 159">
              <a:extLst>
                <a:ext uri="{FF2B5EF4-FFF2-40B4-BE49-F238E27FC236}">
                  <a16:creationId xmlns:a16="http://schemas.microsoft.com/office/drawing/2014/main" id="{09DDE56B-120B-AEF1-0DA6-0BE9B0D8F7E4}"/>
                </a:ext>
              </a:extLst>
            </p:cNvPr>
            <p:cNvGrpSpPr>
              <a:grpSpLocks/>
            </p:cNvGrpSpPr>
            <p:nvPr/>
          </p:nvGrpSpPr>
          <p:grpSpPr bwMode="auto">
            <a:xfrm>
              <a:off x="3581400" y="2819400"/>
              <a:ext cx="990600" cy="762000"/>
              <a:chOff x="914400" y="3048000"/>
              <a:chExt cx="1219200" cy="914400"/>
            </a:xfrm>
          </p:grpSpPr>
          <p:sp>
            <p:nvSpPr>
              <p:cNvPr id="342" name="AutoShape 158">
                <a:extLst>
                  <a:ext uri="{FF2B5EF4-FFF2-40B4-BE49-F238E27FC236}">
                    <a16:creationId xmlns:a16="http://schemas.microsoft.com/office/drawing/2014/main" id="{A32A948E-AC8C-3AD9-64E6-2F4196036A0F}"/>
                  </a:ext>
                </a:extLst>
              </p:cNvPr>
              <p:cNvSpPr>
                <a:spLocks noChangeArrowheads="1"/>
              </p:cNvSpPr>
              <p:nvPr/>
            </p:nvSpPr>
            <p:spPr bwMode="auto">
              <a:xfrm>
                <a:off x="914400" y="3048000"/>
                <a:ext cx="1219200" cy="914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800">
                  <a:latin typeface="Roboto" panose="02000000000000000000" pitchFamily="2" charset="0"/>
                  <a:ea typeface="Roboto" panose="02000000000000000000" pitchFamily="2" charset="0"/>
                </a:endParaRPr>
              </a:p>
            </p:txBody>
          </p:sp>
          <p:sp>
            <p:nvSpPr>
              <p:cNvPr id="343" name="TextBox 161">
                <a:extLst>
                  <a:ext uri="{FF2B5EF4-FFF2-40B4-BE49-F238E27FC236}">
                    <a16:creationId xmlns:a16="http://schemas.microsoft.com/office/drawing/2014/main" id="{C18A6A24-F2FE-0C38-E655-5BF1F16FDB1F}"/>
                  </a:ext>
                </a:extLst>
              </p:cNvPr>
              <p:cNvSpPr txBox="1">
                <a:spLocks noChangeArrowheads="1"/>
              </p:cNvSpPr>
              <p:nvPr/>
            </p:nvSpPr>
            <p:spPr bwMode="auto">
              <a:xfrm>
                <a:off x="1193800" y="3288030"/>
                <a:ext cx="664308" cy="40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latin typeface="Roboto" panose="02000000000000000000" pitchFamily="2" charset="0"/>
                    <a:ea typeface="Roboto" panose="02000000000000000000" pitchFamily="2" charset="0"/>
                  </a:rPr>
                  <a:t>Visual</a:t>
                </a:r>
              </a:p>
              <a:p>
                <a:pPr eaLnBrk="1" hangingPunct="1"/>
                <a:r>
                  <a:rPr lang="en-US" altLang="en-US" sz="800">
                    <a:latin typeface="Roboto" panose="02000000000000000000" pitchFamily="2" charset="0"/>
                    <a:ea typeface="Roboto" panose="02000000000000000000" pitchFamily="2" charset="0"/>
                  </a:rPr>
                  <a:t>Queues</a:t>
                </a:r>
              </a:p>
            </p:txBody>
          </p:sp>
        </p:grpSp>
        <p:grpSp>
          <p:nvGrpSpPr>
            <p:cNvPr id="344" name="Group 159">
              <a:extLst>
                <a:ext uri="{FF2B5EF4-FFF2-40B4-BE49-F238E27FC236}">
                  <a16:creationId xmlns:a16="http://schemas.microsoft.com/office/drawing/2014/main" id="{BA750536-E412-E48D-BF39-24ED11E02A61}"/>
                </a:ext>
              </a:extLst>
            </p:cNvPr>
            <p:cNvGrpSpPr>
              <a:grpSpLocks/>
            </p:cNvGrpSpPr>
            <p:nvPr/>
          </p:nvGrpSpPr>
          <p:grpSpPr bwMode="auto">
            <a:xfrm>
              <a:off x="2362200" y="2743200"/>
              <a:ext cx="990600" cy="914400"/>
              <a:chOff x="914400" y="3048000"/>
              <a:chExt cx="1219200" cy="914400"/>
            </a:xfrm>
          </p:grpSpPr>
          <p:sp>
            <p:nvSpPr>
              <p:cNvPr id="345" name="AutoShape 158">
                <a:extLst>
                  <a:ext uri="{FF2B5EF4-FFF2-40B4-BE49-F238E27FC236}">
                    <a16:creationId xmlns:a16="http://schemas.microsoft.com/office/drawing/2014/main" id="{C4E7268A-DE57-2A43-4406-149E69F00F01}"/>
                  </a:ext>
                </a:extLst>
              </p:cNvPr>
              <p:cNvSpPr>
                <a:spLocks noChangeArrowheads="1"/>
              </p:cNvSpPr>
              <p:nvPr/>
            </p:nvSpPr>
            <p:spPr bwMode="auto">
              <a:xfrm>
                <a:off x="914400" y="3048000"/>
                <a:ext cx="1219200" cy="914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800">
                  <a:latin typeface="Roboto" panose="02000000000000000000" pitchFamily="2" charset="0"/>
                  <a:ea typeface="Roboto" panose="02000000000000000000" pitchFamily="2" charset="0"/>
                </a:endParaRPr>
              </a:p>
            </p:txBody>
          </p:sp>
          <p:sp>
            <p:nvSpPr>
              <p:cNvPr id="346" name="TextBox 161">
                <a:extLst>
                  <a:ext uri="{FF2B5EF4-FFF2-40B4-BE49-F238E27FC236}">
                    <a16:creationId xmlns:a16="http://schemas.microsoft.com/office/drawing/2014/main" id="{E0064494-C4EC-5053-AD28-ABE3CD24E589}"/>
                  </a:ext>
                </a:extLst>
              </p:cNvPr>
              <p:cNvSpPr txBox="1">
                <a:spLocks noChangeArrowheads="1"/>
              </p:cNvSpPr>
              <p:nvPr/>
            </p:nvSpPr>
            <p:spPr bwMode="auto">
              <a:xfrm>
                <a:off x="1101969" y="3352800"/>
                <a:ext cx="734646"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latin typeface="Roboto" panose="02000000000000000000" pitchFamily="2" charset="0"/>
                    <a:ea typeface="Roboto" panose="02000000000000000000" pitchFamily="2" charset="0"/>
                  </a:rPr>
                  <a:t>Standard</a:t>
                </a:r>
              </a:p>
              <a:p>
                <a:pPr eaLnBrk="1" hangingPunct="1"/>
                <a:r>
                  <a:rPr lang="en-US" altLang="en-US" sz="800">
                    <a:latin typeface="Roboto" panose="02000000000000000000" pitchFamily="2" charset="0"/>
                    <a:ea typeface="Roboto" panose="02000000000000000000" pitchFamily="2" charset="0"/>
                  </a:rPr>
                  <a:t>Work</a:t>
                </a:r>
              </a:p>
            </p:txBody>
          </p:sp>
        </p:grpSp>
        <p:grpSp>
          <p:nvGrpSpPr>
            <p:cNvPr id="347" name="Group 181">
              <a:extLst>
                <a:ext uri="{FF2B5EF4-FFF2-40B4-BE49-F238E27FC236}">
                  <a16:creationId xmlns:a16="http://schemas.microsoft.com/office/drawing/2014/main" id="{D967BDEC-FFEE-79B2-021C-B7522F3E229F}"/>
                </a:ext>
              </a:extLst>
            </p:cNvPr>
            <p:cNvGrpSpPr>
              <a:grpSpLocks/>
            </p:cNvGrpSpPr>
            <p:nvPr/>
          </p:nvGrpSpPr>
          <p:grpSpPr bwMode="auto">
            <a:xfrm>
              <a:off x="6553200" y="3200400"/>
              <a:ext cx="241300" cy="228600"/>
              <a:chOff x="104" y="1816"/>
              <a:chExt cx="152" cy="144"/>
            </a:xfrm>
          </p:grpSpPr>
          <p:sp>
            <p:nvSpPr>
              <p:cNvPr id="348" name="Oval 182">
                <a:extLst>
                  <a:ext uri="{FF2B5EF4-FFF2-40B4-BE49-F238E27FC236}">
                    <a16:creationId xmlns:a16="http://schemas.microsoft.com/office/drawing/2014/main" id="{AD546697-8DB0-4E17-5DEC-C3B721596313}"/>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49" name="Line 183">
                <a:extLst>
                  <a:ext uri="{FF2B5EF4-FFF2-40B4-BE49-F238E27FC236}">
                    <a16:creationId xmlns:a16="http://schemas.microsoft.com/office/drawing/2014/main" id="{A2435BA0-38AA-0256-62E9-82A5C9CC085A}"/>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50" name="Group 181">
              <a:extLst>
                <a:ext uri="{FF2B5EF4-FFF2-40B4-BE49-F238E27FC236}">
                  <a16:creationId xmlns:a16="http://schemas.microsoft.com/office/drawing/2014/main" id="{40825B0B-F6DC-6121-B385-E189BA2DFF7A}"/>
                </a:ext>
              </a:extLst>
            </p:cNvPr>
            <p:cNvGrpSpPr>
              <a:grpSpLocks/>
            </p:cNvGrpSpPr>
            <p:nvPr/>
          </p:nvGrpSpPr>
          <p:grpSpPr bwMode="auto">
            <a:xfrm>
              <a:off x="4800600" y="3200400"/>
              <a:ext cx="241300" cy="228600"/>
              <a:chOff x="104" y="1816"/>
              <a:chExt cx="152" cy="144"/>
            </a:xfrm>
          </p:grpSpPr>
          <p:sp>
            <p:nvSpPr>
              <p:cNvPr id="351" name="Oval 182">
                <a:extLst>
                  <a:ext uri="{FF2B5EF4-FFF2-40B4-BE49-F238E27FC236}">
                    <a16:creationId xmlns:a16="http://schemas.microsoft.com/office/drawing/2014/main" id="{1BB271B0-45D1-9DA2-B8D4-F9F59F63A814}"/>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52" name="Line 183">
                <a:extLst>
                  <a:ext uri="{FF2B5EF4-FFF2-40B4-BE49-F238E27FC236}">
                    <a16:creationId xmlns:a16="http://schemas.microsoft.com/office/drawing/2014/main" id="{4453D93F-3BC0-D45F-A24E-A616CE7C65B7}"/>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53" name="Group 181">
              <a:extLst>
                <a:ext uri="{FF2B5EF4-FFF2-40B4-BE49-F238E27FC236}">
                  <a16:creationId xmlns:a16="http://schemas.microsoft.com/office/drawing/2014/main" id="{C436E570-E41A-50A8-00E0-2AC8AC2C989F}"/>
                </a:ext>
              </a:extLst>
            </p:cNvPr>
            <p:cNvGrpSpPr>
              <a:grpSpLocks/>
            </p:cNvGrpSpPr>
            <p:nvPr/>
          </p:nvGrpSpPr>
          <p:grpSpPr bwMode="auto">
            <a:xfrm>
              <a:off x="6921500" y="3200400"/>
              <a:ext cx="241300" cy="228600"/>
              <a:chOff x="104" y="1816"/>
              <a:chExt cx="152" cy="144"/>
            </a:xfrm>
          </p:grpSpPr>
          <p:sp>
            <p:nvSpPr>
              <p:cNvPr id="354" name="Oval 182">
                <a:extLst>
                  <a:ext uri="{FF2B5EF4-FFF2-40B4-BE49-F238E27FC236}">
                    <a16:creationId xmlns:a16="http://schemas.microsoft.com/office/drawing/2014/main" id="{B229052B-7264-3E66-FC9F-58F5C7154447}"/>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55" name="Line 183">
                <a:extLst>
                  <a:ext uri="{FF2B5EF4-FFF2-40B4-BE49-F238E27FC236}">
                    <a16:creationId xmlns:a16="http://schemas.microsoft.com/office/drawing/2014/main" id="{A432E8A6-63AE-BB45-8DA2-452A293B3163}"/>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56" name="Group 181">
              <a:extLst>
                <a:ext uri="{FF2B5EF4-FFF2-40B4-BE49-F238E27FC236}">
                  <a16:creationId xmlns:a16="http://schemas.microsoft.com/office/drawing/2014/main" id="{890E7745-52FE-FB35-B010-3C8837C555D4}"/>
                </a:ext>
              </a:extLst>
            </p:cNvPr>
            <p:cNvGrpSpPr>
              <a:grpSpLocks/>
            </p:cNvGrpSpPr>
            <p:nvPr/>
          </p:nvGrpSpPr>
          <p:grpSpPr bwMode="auto">
            <a:xfrm>
              <a:off x="368300" y="3200400"/>
              <a:ext cx="241300" cy="228600"/>
              <a:chOff x="104" y="1816"/>
              <a:chExt cx="152" cy="144"/>
            </a:xfrm>
          </p:grpSpPr>
          <p:sp>
            <p:nvSpPr>
              <p:cNvPr id="357" name="Oval 182">
                <a:extLst>
                  <a:ext uri="{FF2B5EF4-FFF2-40B4-BE49-F238E27FC236}">
                    <a16:creationId xmlns:a16="http://schemas.microsoft.com/office/drawing/2014/main" id="{0C553D02-3A3B-D15E-6DAD-DDFF7A878FC4}"/>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58" name="Line 183">
                <a:extLst>
                  <a:ext uri="{FF2B5EF4-FFF2-40B4-BE49-F238E27FC236}">
                    <a16:creationId xmlns:a16="http://schemas.microsoft.com/office/drawing/2014/main" id="{373482E7-33F0-974E-3D84-1E575C6DB2CB}"/>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59" name="Group 181">
              <a:extLst>
                <a:ext uri="{FF2B5EF4-FFF2-40B4-BE49-F238E27FC236}">
                  <a16:creationId xmlns:a16="http://schemas.microsoft.com/office/drawing/2014/main" id="{349730C4-6E59-5157-3406-23E76694A459}"/>
                </a:ext>
              </a:extLst>
            </p:cNvPr>
            <p:cNvGrpSpPr>
              <a:grpSpLocks/>
            </p:cNvGrpSpPr>
            <p:nvPr/>
          </p:nvGrpSpPr>
          <p:grpSpPr bwMode="auto">
            <a:xfrm>
              <a:off x="4648200" y="3505200"/>
              <a:ext cx="914400" cy="838200"/>
              <a:chOff x="104" y="1816"/>
              <a:chExt cx="152" cy="144"/>
            </a:xfrm>
          </p:grpSpPr>
          <p:sp>
            <p:nvSpPr>
              <p:cNvPr id="360" name="Oval 182">
                <a:extLst>
                  <a:ext uri="{FF2B5EF4-FFF2-40B4-BE49-F238E27FC236}">
                    <a16:creationId xmlns:a16="http://schemas.microsoft.com/office/drawing/2014/main" id="{33E488BA-F671-50A6-B60B-9EDCADC9A960}"/>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61" name="Line 183">
                <a:extLst>
                  <a:ext uri="{FF2B5EF4-FFF2-40B4-BE49-F238E27FC236}">
                    <a16:creationId xmlns:a16="http://schemas.microsoft.com/office/drawing/2014/main" id="{35CF2EB0-3FA7-6D2A-8949-3C846E7C4F1B}"/>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62" name="Group 181">
              <a:extLst>
                <a:ext uri="{FF2B5EF4-FFF2-40B4-BE49-F238E27FC236}">
                  <a16:creationId xmlns:a16="http://schemas.microsoft.com/office/drawing/2014/main" id="{4A82FD2A-1DA2-6E07-F474-AD2EAC26ED5A}"/>
                </a:ext>
              </a:extLst>
            </p:cNvPr>
            <p:cNvGrpSpPr>
              <a:grpSpLocks/>
            </p:cNvGrpSpPr>
            <p:nvPr/>
          </p:nvGrpSpPr>
          <p:grpSpPr bwMode="auto">
            <a:xfrm>
              <a:off x="5715000" y="3505200"/>
              <a:ext cx="914400" cy="838200"/>
              <a:chOff x="104" y="1816"/>
              <a:chExt cx="152" cy="144"/>
            </a:xfrm>
          </p:grpSpPr>
          <p:sp>
            <p:nvSpPr>
              <p:cNvPr id="363" name="Oval 182">
                <a:extLst>
                  <a:ext uri="{FF2B5EF4-FFF2-40B4-BE49-F238E27FC236}">
                    <a16:creationId xmlns:a16="http://schemas.microsoft.com/office/drawing/2014/main" id="{77B54D56-6556-93EA-B191-592ECEEF32C9}"/>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64" name="Line 183">
                <a:extLst>
                  <a:ext uri="{FF2B5EF4-FFF2-40B4-BE49-F238E27FC236}">
                    <a16:creationId xmlns:a16="http://schemas.microsoft.com/office/drawing/2014/main" id="{D6940DA7-329E-7686-F122-950F893ACB8B}"/>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365" name="Group 181">
              <a:extLst>
                <a:ext uri="{FF2B5EF4-FFF2-40B4-BE49-F238E27FC236}">
                  <a16:creationId xmlns:a16="http://schemas.microsoft.com/office/drawing/2014/main" id="{693C44BC-F131-9CEC-E1F5-BC561E319C77}"/>
                </a:ext>
              </a:extLst>
            </p:cNvPr>
            <p:cNvGrpSpPr>
              <a:grpSpLocks/>
            </p:cNvGrpSpPr>
            <p:nvPr/>
          </p:nvGrpSpPr>
          <p:grpSpPr bwMode="auto">
            <a:xfrm>
              <a:off x="3429000" y="4038600"/>
              <a:ext cx="914400" cy="838200"/>
              <a:chOff x="104" y="1816"/>
              <a:chExt cx="152" cy="144"/>
            </a:xfrm>
          </p:grpSpPr>
          <p:sp>
            <p:nvSpPr>
              <p:cNvPr id="366" name="Oval 182">
                <a:extLst>
                  <a:ext uri="{FF2B5EF4-FFF2-40B4-BE49-F238E27FC236}">
                    <a16:creationId xmlns:a16="http://schemas.microsoft.com/office/drawing/2014/main" id="{479B31D3-C690-D3CB-63CB-CC934A02F939}"/>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67" name="Line 183">
                <a:extLst>
                  <a:ext uri="{FF2B5EF4-FFF2-40B4-BE49-F238E27FC236}">
                    <a16:creationId xmlns:a16="http://schemas.microsoft.com/office/drawing/2014/main" id="{67759AA2-55FA-319C-60E3-AFCBA9F5E846}"/>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368" name="AutoShape 158">
              <a:extLst>
                <a:ext uri="{FF2B5EF4-FFF2-40B4-BE49-F238E27FC236}">
                  <a16:creationId xmlns:a16="http://schemas.microsoft.com/office/drawing/2014/main" id="{5A7670E5-4D08-19A9-56E3-DD2317F82491}"/>
                </a:ext>
              </a:extLst>
            </p:cNvPr>
            <p:cNvSpPr>
              <a:spLocks noChangeArrowheads="1"/>
            </p:cNvSpPr>
            <p:nvPr/>
          </p:nvSpPr>
          <p:spPr bwMode="auto">
            <a:xfrm>
              <a:off x="381000"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69" name="AutoShape 158">
              <a:extLst>
                <a:ext uri="{FF2B5EF4-FFF2-40B4-BE49-F238E27FC236}">
                  <a16:creationId xmlns:a16="http://schemas.microsoft.com/office/drawing/2014/main" id="{67BB77F6-AE35-1AD2-AEA0-74F450C576C4}"/>
                </a:ext>
              </a:extLst>
            </p:cNvPr>
            <p:cNvSpPr>
              <a:spLocks noChangeArrowheads="1"/>
            </p:cNvSpPr>
            <p:nvPr/>
          </p:nvSpPr>
          <p:spPr bwMode="auto">
            <a:xfrm>
              <a:off x="854075"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0" name="AutoShape 158">
              <a:extLst>
                <a:ext uri="{FF2B5EF4-FFF2-40B4-BE49-F238E27FC236}">
                  <a16:creationId xmlns:a16="http://schemas.microsoft.com/office/drawing/2014/main" id="{7948FABE-8915-120E-7204-937E4F0662ED}"/>
                </a:ext>
              </a:extLst>
            </p:cNvPr>
            <p:cNvSpPr>
              <a:spLocks noChangeArrowheads="1"/>
            </p:cNvSpPr>
            <p:nvPr/>
          </p:nvSpPr>
          <p:spPr bwMode="auto">
            <a:xfrm>
              <a:off x="1447800"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1" name="AutoShape 158">
              <a:extLst>
                <a:ext uri="{FF2B5EF4-FFF2-40B4-BE49-F238E27FC236}">
                  <a16:creationId xmlns:a16="http://schemas.microsoft.com/office/drawing/2014/main" id="{7F471D89-D9E6-E9D1-1CC6-7FBBC4CBA808}"/>
                </a:ext>
              </a:extLst>
            </p:cNvPr>
            <p:cNvSpPr>
              <a:spLocks noChangeArrowheads="1"/>
            </p:cNvSpPr>
            <p:nvPr/>
          </p:nvSpPr>
          <p:spPr bwMode="auto">
            <a:xfrm>
              <a:off x="3063875" y="53340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2" name="AutoShape 158">
              <a:extLst>
                <a:ext uri="{FF2B5EF4-FFF2-40B4-BE49-F238E27FC236}">
                  <a16:creationId xmlns:a16="http://schemas.microsoft.com/office/drawing/2014/main" id="{33170DB3-7EA5-892C-BF4E-F95158FE7111}"/>
                </a:ext>
              </a:extLst>
            </p:cNvPr>
            <p:cNvSpPr>
              <a:spLocks noChangeArrowheads="1"/>
            </p:cNvSpPr>
            <p:nvPr/>
          </p:nvSpPr>
          <p:spPr bwMode="auto">
            <a:xfrm>
              <a:off x="4740275"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3" name="AutoShape 158">
              <a:extLst>
                <a:ext uri="{FF2B5EF4-FFF2-40B4-BE49-F238E27FC236}">
                  <a16:creationId xmlns:a16="http://schemas.microsoft.com/office/drawing/2014/main" id="{4E795380-EFD6-B0BF-B827-4E025048C684}"/>
                </a:ext>
              </a:extLst>
            </p:cNvPr>
            <p:cNvSpPr>
              <a:spLocks noChangeArrowheads="1"/>
            </p:cNvSpPr>
            <p:nvPr/>
          </p:nvSpPr>
          <p:spPr bwMode="auto">
            <a:xfrm>
              <a:off x="5273675"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4" name="AutoShape 158">
              <a:extLst>
                <a:ext uri="{FF2B5EF4-FFF2-40B4-BE49-F238E27FC236}">
                  <a16:creationId xmlns:a16="http://schemas.microsoft.com/office/drawing/2014/main" id="{0DD3F8E5-EC6B-0C1A-B015-A70FCBC334C5}"/>
                </a:ext>
              </a:extLst>
            </p:cNvPr>
            <p:cNvSpPr>
              <a:spLocks noChangeArrowheads="1"/>
            </p:cNvSpPr>
            <p:nvPr/>
          </p:nvSpPr>
          <p:spPr bwMode="auto">
            <a:xfrm>
              <a:off x="6873875"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5" name="AutoShape 158">
              <a:extLst>
                <a:ext uri="{FF2B5EF4-FFF2-40B4-BE49-F238E27FC236}">
                  <a16:creationId xmlns:a16="http://schemas.microsoft.com/office/drawing/2014/main" id="{8B289012-E947-4E6E-1F50-0D4C43B2F208}"/>
                </a:ext>
              </a:extLst>
            </p:cNvPr>
            <p:cNvSpPr>
              <a:spLocks noChangeArrowheads="1"/>
            </p:cNvSpPr>
            <p:nvPr/>
          </p:nvSpPr>
          <p:spPr bwMode="auto">
            <a:xfrm>
              <a:off x="7940675"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6" name="AutoShape 158">
              <a:extLst>
                <a:ext uri="{FF2B5EF4-FFF2-40B4-BE49-F238E27FC236}">
                  <a16:creationId xmlns:a16="http://schemas.microsoft.com/office/drawing/2014/main" id="{92F85278-191A-7932-21DF-2A72D817B177}"/>
                </a:ext>
              </a:extLst>
            </p:cNvPr>
            <p:cNvSpPr>
              <a:spLocks noChangeArrowheads="1"/>
            </p:cNvSpPr>
            <p:nvPr/>
          </p:nvSpPr>
          <p:spPr bwMode="auto">
            <a:xfrm>
              <a:off x="5867400"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7" name="AutoShape 158">
              <a:extLst>
                <a:ext uri="{FF2B5EF4-FFF2-40B4-BE49-F238E27FC236}">
                  <a16:creationId xmlns:a16="http://schemas.microsoft.com/office/drawing/2014/main" id="{2AE3E1D8-C2D8-CA07-1EDC-7B166615E6AB}"/>
                </a:ext>
              </a:extLst>
            </p:cNvPr>
            <p:cNvSpPr>
              <a:spLocks noChangeArrowheads="1"/>
            </p:cNvSpPr>
            <p:nvPr/>
          </p:nvSpPr>
          <p:spPr bwMode="auto">
            <a:xfrm>
              <a:off x="2438400" y="44196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78" name="Text Box 130">
              <a:extLst>
                <a:ext uri="{FF2B5EF4-FFF2-40B4-BE49-F238E27FC236}">
                  <a16:creationId xmlns:a16="http://schemas.microsoft.com/office/drawing/2014/main" id="{9C05937D-9A90-26DE-FC69-364DB9D71D91}"/>
                </a:ext>
              </a:extLst>
            </p:cNvPr>
            <p:cNvSpPr txBox="1">
              <a:spLocks noChangeArrowheads="1"/>
            </p:cNvSpPr>
            <p:nvPr/>
          </p:nvSpPr>
          <p:spPr bwMode="auto">
            <a:xfrm>
              <a:off x="2667000" y="6324600"/>
              <a:ext cx="738188" cy="404813"/>
            </a:xfrm>
            <a:prstGeom prst="rect">
              <a:avLst/>
            </a:prstGeom>
            <a:noFill/>
            <a:ln w="6350"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Implement</a:t>
              </a:r>
            </a:p>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Pokayoke</a:t>
              </a:r>
            </a:p>
          </p:txBody>
        </p:sp>
        <p:cxnSp>
          <p:nvCxnSpPr>
            <p:cNvPr id="379" name="AutoShape 158">
              <a:extLst>
                <a:ext uri="{FF2B5EF4-FFF2-40B4-BE49-F238E27FC236}">
                  <a16:creationId xmlns:a16="http://schemas.microsoft.com/office/drawing/2014/main" id="{26793CA4-6BC6-0A2D-25BF-A850B2DF5CAF}"/>
                </a:ext>
              </a:extLst>
            </p:cNvPr>
            <p:cNvCxnSpPr>
              <a:cxnSpLocks noChangeShapeType="1"/>
            </p:cNvCxnSpPr>
            <p:nvPr/>
          </p:nvCxnSpPr>
          <p:spPr bwMode="auto">
            <a:xfrm rot="5400000" flipH="1" flipV="1">
              <a:off x="2095501" y="5676900"/>
              <a:ext cx="1295400" cy="3175"/>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80" name="AutoShape 158">
              <a:extLst>
                <a:ext uri="{FF2B5EF4-FFF2-40B4-BE49-F238E27FC236}">
                  <a16:creationId xmlns:a16="http://schemas.microsoft.com/office/drawing/2014/main" id="{F875B4FA-5AA7-1AA8-D08E-8CB75071DE47}"/>
                </a:ext>
              </a:extLst>
            </p:cNvPr>
            <p:cNvCxnSpPr>
              <a:cxnSpLocks noChangeShapeType="1"/>
            </p:cNvCxnSpPr>
            <p:nvPr/>
          </p:nvCxnSpPr>
          <p:spPr bwMode="auto">
            <a:xfrm rot="5400000" flipH="1" flipV="1">
              <a:off x="3200401" y="6096000"/>
              <a:ext cx="457200" cy="3175"/>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381" name="Text Box 130">
              <a:extLst>
                <a:ext uri="{FF2B5EF4-FFF2-40B4-BE49-F238E27FC236}">
                  <a16:creationId xmlns:a16="http://schemas.microsoft.com/office/drawing/2014/main" id="{7C36C82E-0B2D-4C7E-4975-71B1D306CB1C}"/>
                </a:ext>
              </a:extLst>
            </p:cNvPr>
            <p:cNvSpPr txBox="1">
              <a:spLocks noChangeArrowheads="1"/>
            </p:cNvSpPr>
            <p:nvPr/>
          </p:nvSpPr>
          <p:spPr bwMode="auto">
            <a:xfrm>
              <a:off x="838200" y="6324600"/>
              <a:ext cx="738188" cy="404813"/>
            </a:xfrm>
            <a:prstGeom prst="rect">
              <a:avLst/>
            </a:prstGeom>
            <a:noFill/>
            <a:ln w="6350"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Standard</a:t>
              </a:r>
            </a:p>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Work</a:t>
              </a:r>
            </a:p>
          </p:txBody>
        </p:sp>
        <p:cxnSp>
          <p:nvCxnSpPr>
            <p:cNvPr id="382" name="AutoShape 158">
              <a:extLst>
                <a:ext uri="{FF2B5EF4-FFF2-40B4-BE49-F238E27FC236}">
                  <a16:creationId xmlns:a16="http://schemas.microsoft.com/office/drawing/2014/main" id="{CDF16722-4532-B874-FE82-2E982C16361F}"/>
                </a:ext>
              </a:extLst>
            </p:cNvPr>
            <p:cNvCxnSpPr>
              <a:cxnSpLocks noChangeShapeType="1"/>
              <a:endCxn id="268" idx="0"/>
            </p:cNvCxnSpPr>
            <p:nvPr/>
          </p:nvCxnSpPr>
          <p:spPr bwMode="auto">
            <a:xfrm rot="16200000" flipV="1">
              <a:off x="594519" y="6004719"/>
              <a:ext cx="460375" cy="179387"/>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83" name="AutoShape 158">
              <a:extLst>
                <a:ext uri="{FF2B5EF4-FFF2-40B4-BE49-F238E27FC236}">
                  <a16:creationId xmlns:a16="http://schemas.microsoft.com/office/drawing/2014/main" id="{DEB955AC-89B8-52DF-6BA5-3F276A705113}"/>
                </a:ext>
              </a:extLst>
            </p:cNvPr>
            <p:cNvCxnSpPr>
              <a:cxnSpLocks noChangeShapeType="1"/>
            </p:cNvCxnSpPr>
            <p:nvPr/>
          </p:nvCxnSpPr>
          <p:spPr bwMode="auto">
            <a:xfrm rot="5400000" flipH="1" flipV="1">
              <a:off x="1333500" y="5981700"/>
              <a:ext cx="457200" cy="228600"/>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384" name="Text Box 130">
              <a:extLst>
                <a:ext uri="{FF2B5EF4-FFF2-40B4-BE49-F238E27FC236}">
                  <a16:creationId xmlns:a16="http://schemas.microsoft.com/office/drawing/2014/main" id="{79A1C98D-B8EE-EB1F-489E-692BE19FE5B8}"/>
                </a:ext>
              </a:extLst>
            </p:cNvPr>
            <p:cNvSpPr txBox="1">
              <a:spLocks noChangeArrowheads="1"/>
            </p:cNvSpPr>
            <p:nvPr/>
          </p:nvSpPr>
          <p:spPr bwMode="auto">
            <a:xfrm>
              <a:off x="5943600" y="6305550"/>
              <a:ext cx="914400" cy="404813"/>
            </a:xfrm>
            <a:prstGeom prst="rect">
              <a:avLst/>
            </a:prstGeom>
            <a:noFill/>
            <a:ln w="6350"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Mailroom</a:t>
              </a:r>
            </a:p>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Standard Work</a:t>
              </a:r>
            </a:p>
          </p:txBody>
        </p:sp>
        <p:cxnSp>
          <p:nvCxnSpPr>
            <p:cNvPr id="385" name="AutoShape 158">
              <a:extLst>
                <a:ext uri="{FF2B5EF4-FFF2-40B4-BE49-F238E27FC236}">
                  <a16:creationId xmlns:a16="http://schemas.microsoft.com/office/drawing/2014/main" id="{2EA8368C-36D0-478C-8519-6CBF86C43A47}"/>
                </a:ext>
              </a:extLst>
            </p:cNvPr>
            <p:cNvCxnSpPr>
              <a:cxnSpLocks noChangeShapeType="1"/>
            </p:cNvCxnSpPr>
            <p:nvPr/>
          </p:nvCxnSpPr>
          <p:spPr bwMode="auto">
            <a:xfrm rot="10800000">
              <a:off x="5638800" y="5943600"/>
              <a:ext cx="457200" cy="304800"/>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386" name="AutoShape 158">
              <a:extLst>
                <a:ext uri="{FF2B5EF4-FFF2-40B4-BE49-F238E27FC236}">
                  <a16:creationId xmlns:a16="http://schemas.microsoft.com/office/drawing/2014/main" id="{37DBA8EE-8B15-20A2-B4D4-B256A45A4FAF}"/>
                </a:ext>
              </a:extLst>
            </p:cNvPr>
            <p:cNvCxnSpPr>
              <a:cxnSpLocks noChangeShapeType="1"/>
            </p:cNvCxnSpPr>
            <p:nvPr/>
          </p:nvCxnSpPr>
          <p:spPr bwMode="auto">
            <a:xfrm flipV="1">
              <a:off x="6705600" y="5867400"/>
              <a:ext cx="990600" cy="381000"/>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387" name="AutoShape 158">
              <a:extLst>
                <a:ext uri="{FF2B5EF4-FFF2-40B4-BE49-F238E27FC236}">
                  <a16:creationId xmlns:a16="http://schemas.microsoft.com/office/drawing/2014/main" id="{9C28767E-804B-7B2F-CF3D-C959F8B98B59}"/>
                </a:ext>
              </a:extLst>
            </p:cNvPr>
            <p:cNvSpPr>
              <a:spLocks noChangeArrowheads="1"/>
            </p:cNvSpPr>
            <p:nvPr/>
          </p:nvSpPr>
          <p:spPr bwMode="auto">
            <a:xfrm>
              <a:off x="7467600" y="5410200"/>
              <a:ext cx="746125" cy="53340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88" name="Text Box 130">
              <a:extLst>
                <a:ext uri="{FF2B5EF4-FFF2-40B4-BE49-F238E27FC236}">
                  <a16:creationId xmlns:a16="http://schemas.microsoft.com/office/drawing/2014/main" id="{AD33E683-01E7-0E87-416B-2DCE8D1096C7}"/>
                </a:ext>
              </a:extLst>
            </p:cNvPr>
            <p:cNvSpPr txBox="1">
              <a:spLocks noChangeArrowheads="1"/>
            </p:cNvSpPr>
            <p:nvPr/>
          </p:nvSpPr>
          <p:spPr bwMode="auto">
            <a:xfrm>
              <a:off x="7086600" y="6305550"/>
              <a:ext cx="738188" cy="404813"/>
            </a:xfrm>
            <a:prstGeom prst="rect">
              <a:avLst/>
            </a:prstGeom>
            <a:noFill/>
            <a:ln w="6350"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Standard</a:t>
              </a:r>
            </a:p>
            <a:p>
              <a:pPr eaLnBrk="1" hangingPunct="1">
                <a:spcBef>
                  <a:spcPct val="50000"/>
                </a:spcBef>
              </a:pPr>
              <a:r>
                <a:rPr lang="en-US" altLang="en-US" sz="800">
                  <a:solidFill>
                    <a:srgbClr val="FF0000"/>
                  </a:solidFill>
                  <a:latin typeface="Roboto" panose="02000000000000000000" pitchFamily="2" charset="0"/>
                  <a:ea typeface="Roboto" panose="02000000000000000000" pitchFamily="2" charset="0"/>
                </a:rPr>
                <a:t>Work</a:t>
              </a:r>
            </a:p>
          </p:txBody>
        </p:sp>
        <p:cxnSp>
          <p:nvCxnSpPr>
            <p:cNvPr id="389" name="AutoShape 158">
              <a:extLst>
                <a:ext uri="{FF2B5EF4-FFF2-40B4-BE49-F238E27FC236}">
                  <a16:creationId xmlns:a16="http://schemas.microsoft.com/office/drawing/2014/main" id="{69362AF2-4D46-B0D2-230F-FFFCF56AFAE7}"/>
                </a:ext>
              </a:extLst>
            </p:cNvPr>
            <p:cNvCxnSpPr>
              <a:cxnSpLocks noChangeShapeType="1"/>
            </p:cNvCxnSpPr>
            <p:nvPr/>
          </p:nvCxnSpPr>
          <p:spPr bwMode="auto">
            <a:xfrm flipV="1">
              <a:off x="7696200" y="5867400"/>
              <a:ext cx="457200" cy="381000"/>
            </a:xfrm>
            <a:prstGeom prst="straightConnector1">
              <a:avLst/>
            </a:prstGeom>
            <a:noFill/>
            <a:ln w="12700" cap="sq">
              <a:solidFill>
                <a:srgbClr val="FF0000"/>
              </a:solidFill>
              <a:round/>
              <a:headEnd/>
              <a:tailEnd type="triangle" w="med" len="med"/>
            </a:ln>
            <a:extLst>
              <a:ext uri="{909E8E84-426E-40DD-AFC4-6F175D3DCCD1}">
                <a14:hiddenFill xmlns:a14="http://schemas.microsoft.com/office/drawing/2010/main">
                  <a:noFill/>
                </a14:hiddenFill>
              </a:ext>
            </a:extLst>
          </p:spPr>
        </p:cxnSp>
        <p:grpSp>
          <p:nvGrpSpPr>
            <p:cNvPr id="390" name="Group 181">
              <a:extLst>
                <a:ext uri="{FF2B5EF4-FFF2-40B4-BE49-F238E27FC236}">
                  <a16:creationId xmlns:a16="http://schemas.microsoft.com/office/drawing/2014/main" id="{62F1B3B1-2EB2-7B0A-494F-BEBDD5BB8B5E}"/>
                </a:ext>
              </a:extLst>
            </p:cNvPr>
            <p:cNvGrpSpPr>
              <a:grpSpLocks/>
            </p:cNvGrpSpPr>
            <p:nvPr/>
          </p:nvGrpSpPr>
          <p:grpSpPr bwMode="auto">
            <a:xfrm>
              <a:off x="6781800" y="3505200"/>
              <a:ext cx="914400" cy="838200"/>
              <a:chOff x="104" y="1816"/>
              <a:chExt cx="152" cy="144"/>
            </a:xfrm>
          </p:grpSpPr>
          <p:sp>
            <p:nvSpPr>
              <p:cNvPr id="391" name="Oval 182">
                <a:extLst>
                  <a:ext uri="{FF2B5EF4-FFF2-40B4-BE49-F238E27FC236}">
                    <a16:creationId xmlns:a16="http://schemas.microsoft.com/office/drawing/2014/main" id="{D4B626FE-BCA2-EB8A-E6D5-C828B67DF92F}"/>
                  </a:ext>
                </a:extLst>
              </p:cNvPr>
              <p:cNvSpPr>
                <a:spLocks noChangeArrowheads="1"/>
              </p:cNvSpPr>
              <p:nvPr/>
            </p:nvSpPr>
            <p:spPr bwMode="auto">
              <a:xfrm>
                <a:off x="104" y="1816"/>
                <a:ext cx="152" cy="144"/>
              </a:xfrm>
              <a:prstGeom prst="ellipse">
                <a:avLst/>
              </a:prstGeom>
              <a:noFill/>
              <a:ln w="127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92" name="Line 183">
                <a:extLst>
                  <a:ext uri="{FF2B5EF4-FFF2-40B4-BE49-F238E27FC236}">
                    <a16:creationId xmlns:a16="http://schemas.microsoft.com/office/drawing/2014/main" id="{9D889DFF-FA47-3969-2C03-ED3A9E5B7222}"/>
                  </a:ext>
                </a:extLst>
              </p:cNvPr>
              <p:cNvSpPr>
                <a:spLocks noChangeShapeType="1"/>
              </p:cNvSpPr>
              <p:nvPr/>
            </p:nvSpPr>
            <p:spPr bwMode="auto">
              <a:xfrm flipH="1">
                <a:off x="124" y="1836"/>
                <a:ext cx="112" cy="104"/>
              </a:xfrm>
              <a:prstGeom prst="line">
                <a:avLst/>
              </a:prstGeom>
              <a:noFill/>
              <a:ln w="12700" cap="sq">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393" name="Rectangle 184">
              <a:extLst>
                <a:ext uri="{FF2B5EF4-FFF2-40B4-BE49-F238E27FC236}">
                  <a16:creationId xmlns:a16="http://schemas.microsoft.com/office/drawing/2014/main" id="{6528F7F5-A80B-44EC-3C90-036D715321A6}"/>
                </a:ext>
              </a:extLst>
            </p:cNvPr>
            <p:cNvSpPr>
              <a:spLocks noChangeArrowheads="1"/>
            </p:cNvSpPr>
            <p:nvPr/>
          </p:nvSpPr>
          <p:spPr bwMode="auto">
            <a:xfrm>
              <a:off x="152400" y="1143000"/>
              <a:ext cx="31242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tabLst>
                  <a:tab pos="30861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0861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0861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0861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0861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9pPr>
            </a:lstStyle>
            <a:p>
              <a:pPr eaLnBrk="1" hangingPunct="1">
                <a:buClr>
                  <a:schemeClr val="accent1"/>
                </a:buClr>
                <a:buSzPct val="90000"/>
                <a:buFont typeface="Wingdings" panose="05000000000000000000" pitchFamily="2" charset="2"/>
                <a:buNone/>
              </a:pPr>
              <a:r>
                <a:rPr lang="en-US" altLang="en-US" sz="800">
                  <a:solidFill>
                    <a:srgbClr val="FF0000"/>
                  </a:solidFill>
                  <a:latin typeface="Roboto" panose="02000000000000000000" pitchFamily="2" charset="0"/>
                  <a:ea typeface="Roboto" panose="02000000000000000000" pitchFamily="2" charset="0"/>
                </a:rPr>
                <a:t>	            60 work days</a:t>
              </a:r>
            </a:p>
            <a:p>
              <a:pPr eaLnBrk="1" hangingPunct="1">
                <a:lnSpc>
                  <a:spcPct val="75000"/>
                </a:lnSpc>
                <a:buClr>
                  <a:schemeClr val="accent1"/>
                </a:buClr>
                <a:buSzPct val="90000"/>
                <a:buFont typeface="Wingdings" panose="05000000000000000000" pitchFamily="2" charset="2"/>
                <a:buNone/>
              </a:pPr>
              <a:r>
                <a:rPr lang="en-US" altLang="en-US" sz="800">
                  <a:solidFill>
                    <a:srgbClr val="FF0000"/>
                  </a:solidFill>
                  <a:latin typeface="Roboto" panose="02000000000000000000" pitchFamily="2" charset="0"/>
                  <a:ea typeface="Roboto" panose="02000000000000000000" pitchFamily="2" charset="0"/>
                </a:rPr>
                <a:t>Takt Time= </a:t>
              </a:r>
              <a:r>
                <a:rPr lang="en-US" altLang="en-US" sz="800" baseline="30000">
                  <a:solidFill>
                    <a:srgbClr val="FF0000"/>
                  </a:solidFill>
                  <a:latin typeface="Roboto" panose="02000000000000000000" pitchFamily="2" charset="0"/>
                  <a:ea typeface="Roboto" panose="02000000000000000000" pitchFamily="2" charset="0"/>
                </a:rPr>
                <a:t>_____________________________ </a:t>
              </a:r>
              <a:r>
                <a:rPr lang="en-US" altLang="en-US" sz="800">
                  <a:solidFill>
                    <a:srgbClr val="FF0000"/>
                  </a:solidFill>
                  <a:latin typeface="Roboto" panose="02000000000000000000" pitchFamily="2" charset="0"/>
                  <a:ea typeface="Roboto" panose="02000000000000000000" pitchFamily="2" charset="0"/>
                </a:rPr>
                <a:t>=  0.4 work days = 192 min.</a:t>
              </a:r>
            </a:p>
            <a:p>
              <a:pPr eaLnBrk="1" hangingPunct="1">
                <a:lnSpc>
                  <a:spcPct val="75000"/>
                </a:lnSpc>
                <a:buClr>
                  <a:schemeClr val="accent1"/>
                </a:buClr>
                <a:buSzPct val="90000"/>
                <a:buFont typeface="Wingdings" panose="05000000000000000000" pitchFamily="2" charset="2"/>
                <a:buNone/>
              </a:pPr>
              <a:r>
                <a:rPr lang="en-US" altLang="en-US" sz="800">
                  <a:solidFill>
                    <a:srgbClr val="FF0000"/>
                  </a:solidFill>
                  <a:latin typeface="Roboto" panose="02000000000000000000" pitchFamily="2" charset="0"/>
                  <a:ea typeface="Roboto" panose="02000000000000000000" pitchFamily="2" charset="0"/>
                </a:rPr>
                <a:t>    	            150 reviews</a:t>
              </a:r>
            </a:p>
          </p:txBody>
        </p:sp>
      </p:grpSp>
    </p:spTree>
    <p:extLst>
      <p:ext uri="{BB962C8B-B14F-4D97-AF65-F5344CB8AC3E}">
        <p14:creationId xmlns:p14="http://schemas.microsoft.com/office/powerpoint/2010/main" val="2663077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7</a:t>
            </a:fld>
            <a:endParaRPr lang="en-US"/>
          </a:p>
        </p:txBody>
      </p:sp>
      <p:grpSp>
        <p:nvGrpSpPr>
          <p:cNvPr id="415" name="Group 414">
            <a:extLst>
              <a:ext uri="{FF2B5EF4-FFF2-40B4-BE49-F238E27FC236}">
                <a16:creationId xmlns:a16="http://schemas.microsoft.com/office/drawing/2014/main" id="{1560460E-8E7F-034F-FFFE-739A02F77EAE}"/>
              </a:ext>
            </a:extLst>
          </p:cNvPr>
          <p:cNvGrpSpPr/>
          <p:nvPr/>
        </p:nvGrpSpPr>
        <p:grpSpPr>
          <a:xfrm>
            <a:off x="690628" y="685800"/>
            <a:ext cx="10876532" cy="5486400"/>
            <a:chOff x="582611" y="533400"/>
            <a:chExt cx="8135939" cy="5638800"/>
          </a:xfrm>
        </p:grpSpPr>
        <p:sp>
          <p:nvSpPr>
            <p:cNvPr id="4" name="Rectangle 5">
              <a:extLst>
                <a:ext uri="{FF2B5EF4-FFF2-40B4-BE49-F238E27FC236}">
                  <a16:creationId xmlns:a16="http://schemas.microsoft.com/office/drawing/2014/main" id="{4CD2A948-8486-AB1D-FB45-F9931AB16A55}"/>
                </a:ext>
              </a:extLst>
            </p:cNvPr>
            <p:cNvSpPr>
              <a:spLocks noChangeArrowheads="1"/>
            </p:cNvSpPr>
            <p:nvPr/>
          </p:nvSpPr>
          <p:spPr bwMode="auto">
            <a:xfrm>
              <a:off x="4638675" y="1881188"/>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5" name="Line 14">
              <a:extLst>
                <a:ext uri="{FF2B5EF4-FFF2-40B4-BE49-F238E27FC236}">
                  <a16:creationId xmlns:a16="http://schemas.microsoft.com/office/drawing/2014/main" id="{9DB82FD2-B3C6-9B1B-1DE9-60FE741D6614}"/>
                </a:ext>
              </a:extLst>
            </p:cNvPr>
            <p:cNvSpPr>
              <a:spLocks noChangeShapeType="1"/>
            </p:cNvSpPr>
            <p:nvPr/>
          </p:nvSpPr>
          <p:spPr bwMode="auto">
            <a:xfrm flipV="1">
              <a:off x="1157288" y="4292600"/>
              <a:ext cx="581025" cy="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 name="Rectangle 28">
              <a:extLst>
                <a:ext uri="{FF2B5EF4-FFF2-40B4-BE49-F238E27FC236}">
                  <a16:creationId xmlns:a16="http://schemas.microsoft.com/office/drawing/2014/main" id="{34BA2611-D7E0-26FB-F050-4520A93B9E68}"/>
                </a:ext>
              </a:extLst>
            </p:cNvPr>
            <p:cNvSpPr>
              <a:spLocks noChangeArrowheads="1"/>
            </p:cNvSpPr>
            <p:nvPr/>
          </p:nvSpPr>
          <p:spPr bwMode="auto">
            <a:xfrm>
              <a:off x="6415088" y="4071938"/>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7" name="Rectangle 29">
              <a:extLst>
                <a:ext uri="{FF2B5EF4-FFF2-40B4-BE49-F238E27FC236}">
                  <a16:creationId xmlns:a16="http://schemas.microsoft.com/office/drawing/2014/main" id="{62C268D1-D7E8-CF20-24B5-451AB9C58E82}"/>
                </a:ext>
              </a:extLst>
            </p:cNvPr>
            <p:cNvSpPr>
              <a:spLocks noChangeArrowheads="1"/>
            </p:cNvSpPr>
            <p:nvPr/>
          </p:nvSpPr>
          <p:spPr bwMode="auto">
            <a:xfrm>
              <a:off x="4872038" y="4071938"/>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8" name="Rectangle 30">
              <a:extLst>
                <a:ext uri="{FF2B5EF4-FFF2-40B4-BE49-F238E27FC236}">
                  <a16:creationId xmlns:a16="http://schemas.microsoft.com/office/drawing/2014/main" id="{F1D11E94-1A8C-809F-EAAC-C5C171F323A4}"/>
                </a:ext>
              </a:extLst>
            </p:cNvPr>
            <p:cNvSpPr>
              <a:spLocks noChangeArrowheads="1"/>
            </p:cNvSpPr>
            <p:nvPr/>
          </p:nvSpPr>
          <p:spPr bwMode="auto">
            <a:xfrm>
              <a:off x="1776413" y="4071938"/>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9" name="Text Box 31">
              <a:extLst>
                <a:ext uri="{FF2B5EF4-FFF2-40B4-BE49-F238E27FC236}">
                  <a16:creationId xmlns:a16="http://schemas.microsoft.com/office/drawing/2014/main" id="{4A1533DC-928C-8E68-502E-F1234DAE6E98}"/>
                </a:ext>
              </a:extLst>
            </p:cNvPr>
            <p:cNvSpPr txBox="1">
              <a:spLocks noChangeArrowheads="1"/>
            </p:cNvSpPr>
            <p:nvPr/>
          </p:nvSpPr>
          <p:spPr bwMode="auto">
            <a:xfrm>
              <a:off x="4948238" y="4148138"/>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Team</a:t>
              </a:r>
            </a:p>
            <a:p>
              <a:pPr eaLnBrk="1" hangingPunct="1"/>
              <a:r>
                <a:rPr lang="en-US" altLang="en-US" sz="900">
                  <a:latin typeface="Roboto" panose="02000000000000000000" pitchFamily="2" charset="0"/>
                  <a:ea typeface="Roboto" panose="02000000000000000000" pitchFamily="2" charset="0"/>
                </a:rPr>
                <a:t>Review</a:t>
              </a:r>
            </a:p>
          </p:txBody>
        </p:sp>
        <p:sp>
          <p:nvSpPr>
            <p:cNvPr id="10" name="Text Box 32">
              <a:extLst>
                <a:ext uri="{FF2B5EF4-FFF2-40B4-BE49-F238E27FC236}">
                  <a16:creationId xmlns:a16="http://schemas.microsoft.com/office/drawing/2014/main" id="{3156B6E6-C3AB-6358-D5DC-D8B9D8FC0DCB}"/>
                </a:ext>
              </a:extLst>
            </p:cNvPr>
            <p:cNvSpPr txBox="1">
              <a:spLocks noChangeArrowheads="1"/>
            </p:cNvSpPr>
            <p:nvPr/>
          </p:nvSpPr>
          <p:spPr bwMode="auto">
            <a:xfrm>
              <a:off x="6491288" y="4148138"/>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Finalize</a:t>
              </a:r>
            </a:p>
            <a:p>
              <a:pPr eaLnBrk="1" hangingPunct="1"/>
              <a:r>
                <a:rPr lang="en-US" altLang="en-US" sz="900">
                  <a:latin typeface="Roboto" panose="02000000000000000000" pitchFamily="2" charset="0"/>
                  <a:ea typeface="Roboto" panose="02000000000000000000" pitchFamily="2" charset="0"/>
                </a:rPr>
                <a:t>File</a:t>
              </a:r>
            </a:p>
          </p:txBody>
        </p:sp>
        <p:sp>
          <p:nvSpPr>
            <p:cNvPr id="11" name="Text Box 33">
              <a:extLst>
                <a:ext uri="{FF2B5EF4-FFF2-40B4-BE49-F238E27FC236}">
                  <a16:creationId xmlns:a16="http://schemas.microsoft.com/office/drawing/2014/main" id="{EF26C0BA-8C43-9A01-3879-3EFC86D49AB5}"/>
                </a:ext>
              </a:extLst>
            </p:cNvPr>
            <p:cNvSpPr txBox="1">
              <a:spLocks noChangeArrowheads="1"/>
            </p:cNvSpPr>
            <p:nvPr/>
          </p:nvSpPr>
          <p:spPr bwMode="auto">
            <a:xfrm>
              <a:off x="1776413" y="4148138"/>
              <a:ext cx="914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Self Review</a:t>
              </a:r>
            </a:p>
          </p:txBody>
        </p:sp>
        <p:sp>
          <p:nvSpPr>
            <p:cNvPr id="12" name="Rectangle 34">
              <a:extLst>
                <a:ext uri="{FF2B5EF4-FFF2-40B4-BE49-F238E27FC236}">
                  <a16:creationId xmlns:a16="http://schemas.microsoft.com/office/drawing/2014/main" id="{FC5FC262-F2F8-2506-0C55-CAF827A561D5}"/>
                </a:ext>
              </a:extLst>
            </p:cNvPr>
            <p:cNvSpPr>
              <a:spLocks noChangeArrowheads="1"/>
            </p:cNvSpPr>
            <p:nvPr/>
          </p:nvSpPr>
          <p:spPr bwMode="auto">
            <a:xfrm>
              <a:off x="3360738" y="4724400"/>
              <a:ext cx="896937" cy="571500"/>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3" name="Rectangle 35">
              <a:extLst>
                <a:ext uri="{FF2B5EF4-FFF2-40B4-BE49-F238E27FC236}">
                  <a16:creationId xmlns:a16="http://schemas.microsoft.com/office/drawing/2014/main" id="{D3447822-4FFD-DFCC-3DA4-E5C1BA6EDC36}"/>
                </a:ext>
              </a:extLst>
            </p:cNvPr>
            <p:cNvSpPr>
              <a:spLocks noChangeArrowheads="1"/>
            </p:cNvSpPr>
            <p:nvPr/>
          </p:nvSpPr>
          <p:spPr bwMode="auto">
            <a:xfrm>
              <a:off x="3297238" y="4721225"/>
              <a:ext cx="891591" cy="46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Lead Time = 5</a:t>
              </a:r>
            </a:p>
            <a:p>
              <a:pPr eaLnBrk="1" hangingPunct="1">
                <a:lnSpc>
                  <a:spcPct val="125000"/>
                </a:lnSpc>
              </a:pPr>
              <a:r>
                <a:rPr lang="en-US" altLang="en-US" sz="500">
                  <a:latin typeface="Roboto" panose="02000000000000000000" pitchFamily="2" charset="0"/>
                  <a:ea typeface="Roboto" panose="02000000000000000000" pitchFamily="2" charset="0"/>
                </a:rPr>
                <a:t>Processing Time = 1 Day</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14" name="Rectangle 36">
              <a:extLst>
                <a:ext uri="{FF2B5EF4-FFF2-40B4-BE49-F238E27FC236}">
                  <a16:creationId xmlns:a16="http://schemas.microsoft.com/office/drawing/2014/main" id="{0BE66047-4CE8-CF31-4391-CE8CF2B2E14D}"/>
                </a:ext>
              </a:extLst>
            </p:cNvPr>
            <p:cNvSpPr>
              <a:spLocks noChangeArrowheads="1"/>
            </p:cNvSpPr>
            <p:nvPr/>
          </p:nvSpPr>
          <p:spPr bwMode="auto">
            <a:xfrm>
              <a:off x="3352800" y="4071938"/>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5" name="Text Box 37">
              <a:extLst>
                <a:ext uri="{FF2B5EF4-FFF2-40B4-BE49-F238E27FC236}">
                  <a16:creationId xmlns:a16="http://schemas.microsoft.com/office/drawing/2014/main" id="{43D5D6D2-6AFA-E79F-3E40-6251CC51653D}"/>
                </a:ext>
              </a:extLst>
            </p:cNvPr>
            <p:cNvSpPr txBox="1">
              <a:spLocks noChangeArrowheads="1"/>
            </p:cNvSpPr>
            <p:nvPr/>
          </p:nvSpPr>
          <p:spPr bwMode="auto">
            <a:xfrm>
              <a:off x="3390900" y="4148138"/>
              <a:ext cx="847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Construct</a:t>
              </a:r>
            </a:p>
            <a:p>
              <a:pPr eaLnBrk="1" hangingPunct="1"/>
              <a:r>
                <a:rPr lang="en-US" altLang="en-US" sz="900">
                  <a:latin typeface="Roboto" panose="02000000000000000000" pitchFamily="2" charset="0"/>
                  <a:ea typeface="Roboto" panose="02000000000000000000" pitchFamily="2" charset="0"/>
                </a:rPr>
                <a:t>Review</a:t>
              </a:r>
            </a:p>
          </p:txBody>
        </p:sp>
        <p:sp>
          <p:nvSpPr>
            <p:cNvPr id="16" name="Rectangle 38">
              <a:extLst>
                <a:ext uri="{FF2B5EF4-FFF2-40B4-BE49-F238E27FC236}">
                  <a16:creationId xmlns:a16="http://schemas.microsoft.com/office/drawing/2014/main" id="{599B72FD-9129-76ED-EC62-912769639FA9}"/>
                </a:ext>
              </a:extLst>
            </p:cNvPr>
            <p:cNvSpPr>
              <a:spLocks noChangeArrowheads="1"/>
            </p:cNvSpPr>
            <p:nvPr/>
          </p:nvSpPr>
          <p:spPr bwMode="auto">
            <a:xfrm>
              <a:off x="4878388" y="4724400"/>
              <a:ext cx="896937" cy="571500"/>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 name="Rectangle 39">
              <a:extLst>
                <a:ext uri="{FF2B5EF4-FFF2-40B4-BE49-F238E27FC236}">
                  <a16:creationId xmlns:a16="http://schemas.microsoft.com/office/drawing/2014/main" id="{F0A84446-CBAB-5678-A5A9-F734C0A9FE96}"/>
                </a:ext>
              </a:extLst>
            </p:cNvPr>
            <p:cNvSpPr>
              <a:spLocks noChangeArrowheads="1"/>
            </p:cNvSpPr>
            <p:nvPr/>
          </p:nvSpPr>
          <p:spPr bwMode="auto">
            <a:xfrm>
              <a:off x="4821238" y="4721225"/>
              <a:ext cx="995785" cy="46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Lead Time = 5 Days</a:t>
              </a:r>
            </a:p>
            <a:p>
              <a:pPr eaLnBrk="1" hangingPunct="1">
                <a:lnSpc>
                  <a:spcPct val="125000"/>
                </a:lnSpc>
              </a:pPr>
              <a:r>
                <a:rPr lang="en-US" altLang="en-US" sz="500">
                  <a:latin typeface="Roboto" panose="02000000000000000000" pitchFamily="2" charset="0"/>
                  <a:ea typeface="Roboto" panose="02000000000000000000" pitchFamily="2" charset="0"/>
                </a:rPr>
                <a:t>Processing Time = 1 hour</a:t>
              </a:r>
            </a:p>
            <a:p>
              <a:pPr eaLnBrk="1" hangingPunct="1">
                <a:lnSpc>
                  <a:spcPct val="125000"/>
                </a:lnSpc>
              </a:pPr>
              <a:r>
                <a:rPr lang="en-US" altLang="en-US" sz="500">
                  <a:latin typeface="Roboto" panose="02000000000000000000" pitchFamily="2" charset="0"/>
                  <a:ea typeface="Roboto" panose="02000000000000000000" pitchFamily="2" charset="0"/>
                </a:rPr>
                <a:t>Quality =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18" name="Rectangle 40">
              <a:extLst>
                <a:ext uri="{FF2B5EF4-FFF2-40B4-BE49-F238E27FC236}">
                  <a16:creationId xmlns:a16="http://schemas.microsoft.com/office/drawing/2014/main" id="{53B78B00-E2BB-8100-2437-04457EA025E4}"/>
                </a:ext>
              </a:extLst>
            </p:cNvPr>
            <p:cNvSpPr>
              <a:spLocks noChangeArrowheads="1"/>
            </p:cNvSpPr>
            <p:nvPr/>
          </p:nvSpPr>
          <p:spPr bwMode="auto">
            <a:xfrm>
              <a:off x="6421438" y="4724400"/>
              <a:ext cx="896937" cy="571500"/>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9" name="Rectangle 41">
              <a:extLst>
                <a:ext uri="{FF2B5EF4-FFF2-40B4-BE49-F238E27FC236}">
                  <a16:creationId xmlns:a16="http://schemas.microsoft.com/office/drawing/2014/main" id="{B42CD100-5E53-6A8A-09CF-A4F6F8F5250B}"/>
                </a:ext>
              </a:extLst>
            </p:cNvPr>
            <p:cNvSpPr>
              <a:spLocks noChangeArrowheads="1"/>
            </p:cNvSpPr>
            <p:nvPr/>
          </p:nvSpPr>
          <p:spPr bwMode="auto">
            <a:xfrm>
              <a:off x="6364288" y="4721225"/>
              <a:ext cx="103663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Lead Time = 10 Days</a:t>
              </a:r>
            </a:p>
            <a:p>
              <a:pPr eaLnBrk="1" hangingPunct="1">
                <a:lnSpc>
                  <a:spcPct val="125000"/>
                </a:lnSpc>
              </a:pPr>
              <a:r>
                <a:rPr lang="en-US" altLang="en-US" sz="500">
                  <a:latin typeface="Roboto" panose="02000000000000000000" pitchFamily="2" charset="0"/>
                  <a:ea typeface="Roboto" panose="02000000000000000000" pitchFamily="2" charset="0"/>
                </a:rPr>
                <a:t>Processing Time = 10 min</a:t>
              </a:r>
            </a:p>
            <a:p>
              <a:pPr eaLnBrk="1" hangingPunct="1">
                <a:lnSpc>
                  <a:spcPct val="125000"/>
                </a:lnSpc>
              </a:pPr>
              <a:r>
                <a:rPr lang="en-US" altLang="en-US" sz="500">
                  <a:latin typeface="Roboto" panose="02000000000000000000" pitchFamily="2" charset="0"/>
                  <a:ea typeface="Roboto" panose="02000000000000000000" pitchFamily="2" charset="0"/>
                </a:rPr>
                <a:t>Quality = 30%</a:t>
              </a:r>
            </a:p>
            <a:p>
              <a:pPr eaLnBrk="1" hangingPunct="1">
                <a:lnSpc>
                  <a:spcPct val="125000"/>
                </a:lnSpc>
              </a:pPr>
              <a:r>
                <a:rPr lang="en-US" altLang="en-US" sz="500">
                  <a:latin typeface="Roboto" panose="02000000000000000000" pitchFamily="2" charset="0"/>
                  <a:ea typeface="Roboto" panose="02000000000000000000" pitchFamily="2" charset="0"/>
                </a:rPr>
                <a:t>Rework = 4 Times</a:t>
              </a:r>
            </a:p>
          </p:txBody>
        </p:sp>
        <p:sp>
          <p:nvSpPr>
            <p:cNvPr id="20" name="Rectangle 42">
              <a:extLst>
                <a:ext uri="{FF2B5EF4-FFF2-40B4-BE49-F238E27FC236}">
                  <a16:creationId xmlns:a16="http://schemas.microsoft.com/office/drawing/2014/main" id="{4B26569C-C4E8-5DA9-2E44-436FD29083DB}"/>
                </a:ext>
              </a:extLst>
            </p:cNvPr>
            <p:cNvSpPr>
              <a:spLocks noChangeArrowheads="1"/>
            </p:cNvSpPr>
            <p:nvPr/>
          </p:nvSpPr>
          <p:spPr bwMode="auto">
            <a:xfrm>
              <a:off x="1793875" y="4724400"/>
              <a:ext cx="896938" cy="571500"/>
            </a:xfrm>
            <a:prstGeom prst="rect">
              <a:avLst/>
            </a:prstGeom>
            <a:solidFill>
              <a:schemeClr val="bg1"/>
            </a:solidFill>
            <a:ln w="12700" cap="sq">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21" name="Rectangle 43">
              <a:extLst>
                <a:ext uri="{FF2B5EF4-FFF2-40B4-BE49-F238E27FC236}">
                  <a16:creationId xmlns:a16="http://schemas.microsoft.com/office/drawing/2014/main" id="{9FA48F6B-743F-C834-4985-368FDA878A69}"/>
                </a:ext>
              </a:extLst>
            </p:cNvPr>
            <p:cNvSpPr>
              <a:spLocks noChangeArrowheads="1"/>
            </p:cNvSpPr>
            <p:nvPr/>
          </p:nvSpPr>
          <p:spPr bwMode="auto">
            <a:xfrm>
              <a:off x="1728788" y="4721225"/>
              <a:ext cx="100330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r>
                <a:rPr lang="en-US" altLang="en-US" sz="500">
                  <a:latin typeface="Roboto" panose="02000000000000000000" pitchFamily="2" charset="0"/>
                  <a:ea typeface="Roboto" panose="02000000000000000000" pitchFamily="2" charset="0"/>
                </a:rPr>
                <a:t>Process Lead Time = 5 Days</a:t>
              </a:r>
            </a:p>
            <a:p>
              <a:pPr eaLnBrk="1" hangingPunct="1">
                <a:lnSpc>
                  <a:spcPct val="125000"/>
                </a:lnSpc>
              </a:pPr>
              <a:r>
                <a:rPr lang="en-US" altLang="en-US" sz="500">
                  <a:latin typeface="Roboto" panose="02000000000000000000" pitchFamily="2" charset="0"/>
                  <a:ea typeface="Roboto" panose="02000000000000000000" pitchFamily="2" charset="0"/>
                </a:rPr>
                <a:t>Processing Time = 20 min</a:t>
              </a:r>
            </a:p>
            <a:p>
              <a:pPr eaLnBrk="1" hangingPunct="1">
                <a:lnSpc>
                  <a:spcPct val="125000"/>
                </a:lnSpc>
              </a:pPr>
              <a:r>
                <a:rPr lang="en-US" altLang="en-US" sz="500">
                  <a:latin typeface="Roboto" panose="02000000000000000000" pitchFamily="2" charset="0"/>
                  <a:ea typeface="Roboto" panose="02000000000000000000" pitchFamily="2" charset="0"/>
                </a:rPr>
                <a:t>Quality 100%</a:t>
              </a:r>
            </a:p>
            <a:p>
              <a:pPr eaLnBrk="1" hangingPunct="1">
                <a:lnSpc>
                  <a:spcPct val="125000"/>
                </a:lnSpc>
              </a:pPr>
              <a:r>
                <a:rPr lang="en-US" altLang="en-US" sz="500">
                  <a:latin typeface="Roboto" panose="02000000000000000000" pitchFamily="2" charset="0"/>
                  <a:ea typeface="Roboto" panose="02000000000000000000" pitchFamily="2" charset="0"/>
                </a:rPr>
                <a:t>Rework = 0 Times</a:t>
              </a:r>
            </a:p>
          </p:txBody>
        </p:sp>
        <p:sp>
          <p:nvSpPr>
            <p:cNvPr id="22" name="Rectangle 44">
              <a:extLst>
                <a:ext uri="{FF2B5EF4-FFF2-40B4-BE49-F238E27FC236}">
                  <a16:creationId xmlns:a16="http://schemas.microsoft.com/office/drawing/2014/main" id="{8E887E0F-297D-E517-D7C8-4E378F2E63C2}"/>
                </a:ext>
              </a:extLst>
            </p:cNvPr>
            <p:cNvSpPr>
              <a:spLocks noChangeArrowheads="1"/>
            </p:cNvSpPr>
            <p:nvPr/>
          </p:nvSpPr>
          <p:spPr bwMode="auto">
            <a:xfrm>
              <a:off x="1776413" y="4852988"/>
              <a:ext cx="18415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25000"/>
                </a:lnSpc>
              </a:pPr>
              <a:endParaRPr lang="en-US" altLang="en-US" sz="500">
                <a:latin typeface="Roboto" panose="02000000000000000000" pitchFamily="2" charset="0"/>
                <a:ea typeface="Roboto" panose="02000000000000000000" pitchFamily="2" charset="0"/>
              </a:endParaRPr>
            </a:p>
          </p:txBody>
        </p:sp>
        <p:sp>
          <p:nvSpPr>
            <p:cNvPr id="23" name="Line 68">
              <a:extLst>
                <a:ext uri="{FF2B5EF4-FFF2-40B4-BE49-F238E27FC236}">
                  <a16:creationId xmlns:a16="http://schemas.microsoft.com/office/drawing/2014/main" id="{03AC095D-D5B3-5413-0BF2-65B1CAB992CF}"/>
                </a:ext>
              </a:extLst>
            </p:cNvPr>
            <p:cNvSpPr>
              <a:spLocks noChangeShapeType="1"/>
            </p:cNvSpPr>
            <p:nvPr/>
          </p:nvSpPr>
          <p:spPr bwMode="auto">
            <a:xfrm>
              <a:off x="1355725" y="2971800"/>
              <a:ext cx="244475" cy="11430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 name="Line 73">
              <a:extLst>
                <a:ext uri="{FF2B5EF4-FFF2-40B4-BE49-F238E27FC236}">
                  <a16:creationId xmlns:a16="http://schemas.microsoft.com/office/drawing/2014/main" id="{566EE416-86C3-937F-60FC-BA6FADE59AC9}"/>
                </a:ext>
              </a:extLst>
            </p:cNvPr>
            <p:cNvSpPr>
              <a:spLocks noChangeShapeType="1"/>
            </p:cNvSpPr>
            <p:nvPr/>
          </p:nvSpPr>
          <p:spPr bwMode="auto">
            <a:xfrm>
              <a:off x="4800600" y="5891213"/>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 name="Line 74">
              <a:extLst>
                <a:ext uri="{FF2B5EF4-FFF2-40B4-BE49-F238E27FC236}">
                  <a16:creationId xmlns:a16="http://schemas.microsoft.com/office/drawing/2014/main" id="{BD06C7C9-91A5-ECD5-4A1A-7A3F6AA7DBBA}"/>
                </a:ext>
              </a:extLst>
            </p:cNvPr>
            <p:cNvSpPr>
              <a:spLocks noChangeShapeType="1"/>
            </p:cNvSpPr>
            <p:nvPr/>
          </p:nvSpPr>
          <p:spPr bwMode="auto">
            <a:xfrm>
              <a:off x="4267200" y="5586413"/>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26" name="AutoShape 75">
              <a:extLst>
                <a:ext uri="{FF2B5EF4-FFF2-40B4-BE49-F238E27FC236}">
                  <a16:creationId xmlns:a16="http://schemas.microsoft.com/office/drawing/2014/main" id="{11DC1791-71F0-6B2D-E1E5-5F458D396277}"/>
                </a:ext>
              </a:extLst>
            </p:cNvPr>
            <p:cNvCxnSpPr>
              <a:cxnSpLocks noChangeShapeType="1"/>
              <a:stCxn id="25" idx="1"/>
              <a:endCxn id="24" idx="0"/>
            </p:cNvCxnSpPr>
            <p:nvPr/>
          </p:nvCxnSpPr>
          <p:spPr bwMode="auto">
            <a:xfrm>
              <a:off x="48006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7" name="Line 76">
              <a:extLst>
                <a:ext uri="{FF2B5EF4-FFF2-40B4-BE49-F238E27FC236}">
                  <a16:creationId xmlns:a16="http://schemas.microsoft.com/office/drawing/2014/main" id="{5D97C56C-301D-C1BC-AFB2-6390184A10D3}"/>
                </a:ext>
              </a:extLst>
            </p:cNvPr>
            <p:cNvSpPr>
              <a:spLocks noChangeShapeType="1"/>
            </p:cNvSpPr>
            <p:nvPr/>
          </p:nvSpPr>
          <p:spPr bwMode="auto">
            <a:xfrm>
              <a:off x="1676400" y="5891213"/>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 name="Line 77">
              <a:extLst>
                <a:ext uri="{FF2B5EF4-FFF2-40B4-BE49-F238E27FC236}">
                  <a16:creationId xmlns:a16="http://schemas.microsoft.com/office/drawing/2014/main" id="{82EB7801-7090-540C-1CE3-9B03956F2E78}"/>
                </a:ext>
              </a:extLst>
            </p:cNvPr>
            <p:cNvSpPr>
              <a:spLocks noChangeShapeType="1"/>
            </p:cNvSpPr>
            <p:nvPr/>
          </p:nvSpPr>
          <p:spPr bwMode="auto">
            <a:xfrm>
              <a:off x="1143000" y="5586413"/>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29" name="AutoShape 78">
              <a:extLst>
                <a:ext uri="{FF2B5EF4-FFF2-40B4-BE49-F238E27FC236}">
                  <a16:creationId xmlns:a16="http://schemas.microsoft.com/office/drawing/2014/main" id="{D32BA9AD-FB3F-DA67-0335-F326F264433E}"/>
                </a:ext>
              </a:extLst>
            </p:cNvPr>
            <p:cNvCxnSpPr>
              <a:cxnSpLocks noChangeShapeType="1"/>
              <a:stCxn id="28" idx="1"/>
              <a:endCxn id="27" idx="0"/>
            </p:cNvCxnSpPr>
            <p:nvPr/>
          </p:nvCxnSpPr>
          <p:spPr bwMode="auto">
            <a:xfrm>
              <a:off x="16764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 name="AutoShape 79">
              <a:extLst>
                <a:ext uri="{FF2B5EF4-FFF2-40B4-BE49-F238E27FC236}">
                  <a16:creationId xmlns:a16="http://schemas.microsoft.com/office/drawing/2014/main" id="{C5705988-2AD0-985C-3AD1-7CEBD266DCCA}"/>
                </a:ext>
              </a:extLst>
            </p:cNvPr>
            <p:cNvCxnSpPr>
              <a:cxnSpLocks noChangeShapeType="1"/>
              <a:stCxn id="25" idx="0"/>
              <a:endCxn id="31" idx="1"/>
            </p:cNvCxnSpPr>
            <p:nvPr/>
          </p:nvCxnSpPr>
          <p:spPr bwMode="auto">
            <a:xfrm>
              <a:off x="42672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1" name="Line 80">
              <a:extLst>
                <a:ext uri="{FF2B5EF4-FFF2-40B4-BE49-F238E27FC236}">
                  <a16:creationId xmlns:a16="http://schemas.microsoft.com/office/drawing/2014/main" id="{05901A90-32DB-1A78-D8F4-8DD0A411B86D}"/>
                </a:ext>
              </a:extLst>
            </p:cNvPr>
            <p:cNvSpPr>
              <a:spLocks noChangeShapeType="1"/>
            </p:cNvSpPr>
            <p:nvPr/>
          </p:nvSpPr>
          <p:spPr bwMode="auto">
            <a:xfrm>
              <a:off x="3276600" y="5891213"/>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 name="Line 81">
              <a:extLst>
                <a:ext uri="{FF2B5EF4-FFF2-40B4-BE49-F238E27FC236}">
                  <a16:creationId xmlns:a16="http://schemas.microsoft.com/office/drawing/2014/main" id="{6557AB9A-BD60-78BB-F795-BE438A86BAD5}"/>
                </a:ext>
              </a:extLst>
            </p:cNvPr>
            <p:cNvSpPr>
              <a:spLocks noChangeShapeType="1"/>
            </p:cNvSpPr>
            <p:nvPr/>
          </p:nvSpPr>
          <p:spPr bwMode="auto">
            <a:xfrm>
              <a:off x="2743200" y="5586413"/>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3" name="AutoShape 82">
              <a:extLst>
                <a:ext uri="{FF2B5EF4-FFF2-40B4-BE49-F238E27FC236}">
                  <a16:creationId xmlns:a16="http://schemas.microsoft.com/office/drawing/2014/main" id="{885E1557-E705-F969-FCEF-393762E07F2C}"/>
                </a:ext>
              </a:extLst>
            </p:cNvPr>
            <p:cNvCxnSpPr>
              <a:cxnSpLocks noChangeShapeType="1"/>
              <a:stCxn id="32" idx="1"/>
              <a:endCxn id="31" idx="0"/>
            </p:cNvCxnSpPr>
            <p:nvPr/>
          </p:nvCxnSpPr>
          <p:spPr bwMode="auto">
            <a:xfrm>
              <a:off x="32766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 name="AutoShape 83">
              <a:extLst>
                <a:ext uri="{FF2B5EF4-FFF2-40B4-BE49-F238E27FC236}">
                  <a16:creationId xmlns:a16="http://schemas.microsoft.com/office/drawing/2014/main" id="{9C9575A1-23E3-C366-A074-204E1422EACA}"/>
                </a:ext>
              </a:extLst>
            </p:cNvPr>
            <p:cNvCxnSpPr>
              <a:cxnSpLocks noChangeShapeType="1"/>
              <a:stCxn id="32" idx="0"/>
            </p:cNvCxnSpPr>
            <p:nvPr/>
          </p:nvCxnSpPr>
          <p:spPr bwMode="auto">
            <a:xfrm>
              <a:off x="27432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 name="Line 84">
              <a:extLst>
                <a:ext uri="{FF2B5EF4-FFF2-40B4-BE49-F238E27FC236}">
                  <a16:creationId xmlns:a16="http://schemas.microsoft.com/office/drawing/2014/main" id="{26C3BC97-740C-51EE-6AB2-E33AC226E614}"/>
                </a:ext>
              </a:extLst>
            </p:cNvPr>
            <p:cNvSpPr>
              <a:spLocks noChangeShapeType="1"/>
            </p:cNvSpPr>
            <p:nvPr/>
          </p:nvSpPr>
          <p:spPr bwMode="auto">
            <a:xfrm>
              <a:off x="6400800" y="5891213"/>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 name="Line 85">
              <a:extLst>
                <a:ext uri="{FF2B5EF4-FFF2-40B4-BE49-F238E27FC236}">
                  <a16:creationId xmlns:a16="http://schemas.microsoft.com/office/drawing/2014/main" id="{996AAD57-5EBD-E016-4A33-13C8C0B05489}"/>
                </a:ext>
              </a:extLst>
            </p:cNvPr>
            <p:cNvSpPr>
              <a:spLocks noChangeShapeType="1"/>
            </p:cNvSpPr>
            <p:nvPr/>
          </p:nvSpPr>
          <p:spPr bwMode="auto">
            <a:xfrm>
              <a:off x="5867400" y="5586413"/>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7" name="AutoShape 86">
              <a:extLst>
                <a:ext uri="{FF2B5EF4-FFF2-40B4-BE49-F238E27FC236}">
                  <a16:creationId xmlns:a16="http://schemas.microsoft.com/office/drawing/2014/main" id="{23B2EA5D-EC8B-A549-C9C4-AD536D94C694}"/>
                </a:ext>
              </a:extLst>
            </p:cNvPr>
            <p:cNvCxnSpPr>
              <a:cxnSpLocks noChangeShapeType="1"/>
              <a:stCxn id="36" idx="1"/>
              <a:endCxn id="35" idx="0"/>
            </p:cNvCxnSpPr>
            <p:nvPr/>
          </p:nvCxnSpPr>
          <p:spPr bwMode="auto">
            <a:xfrm>
              <a:off x="64008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 name="AutoShape 87">
              <a:extLst>
                <a:ext uri="{FF2B5EF4-FFF2-40B4-BE49-F238E27FC236}">
                  <a16:creationId xmlns:a16="http://schemas.microsoft.com/office/drawing/2014/main" id="{02BCCB91-D056-89AB-8540-23D335470015}"/>
                </a:ext>
              </a:extLst>
            </p:cNvPr>
            <p:cNvCxnSpPr>
              <a:cxnSpLocks noChangeShapeType="1"/>
              <a:stCxn id="36" idx="0"/>
              <a:endCxn id="24" idx="1"/>
            </p:cNvCxnSpPr>
            <p:nvPr/>
          </p:nvCxnSpPr>
          <p:spPr bwMode="auto">
            <a:xfrm>
              <a:off x="58674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 name="AutoShape 91">
              <a:extLst>
                <a:ext uri="{FF2B5EF4-FFF2-40B4-BE49-F238E27FC236}">
                  <a16:creationId xmlns:a16="http://schemas.microsoft.com/office/drawing/2014/main" id="{58AC5906-970C-4FF7-D0E0-F3A7501BD9FA}"/>
                </a:ext>
              </a:extLst>
            </p:cNvPr>
            <p:cNvCxnSpPr>
              <a:cxnSpLocks noChangeShapeType="1"/>
              <a:endCxn id="35" idx="1"/>
            </p:cNvCxnSpPr>
            <p:nvPr/>
          </p:nvCxnSpPr>
          <p:spPr bwMode="auto">
            <a:xfrm>
              <a:off x="7391400" y="5586413"/>
              <a:ext cx="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0" name="AutoShape 92">
              <a:extLst>
                <a:ext uri="{FF2B5EF4-FFF2-40B4-BE49-F238E27FC236}">
                  <a16:creationId xmlns:a16="http://schemas.microsoft.com/office/drawing/2014/main" id="{F6F64AEE-494A-70E3-54F7-E44F7363F2BA}"/>
                </a:ext>
              </a:extLst>
            </p:cNvPr>
            <p:cNvCxnSpPr>
              <a:cxnSpLocks noChangeShapeType="1"/>
              <a:stCxn id="32" idx="1"/>
              <a:endCxn id="25" idx="0"/>
            </p:cNvCxnSpPr>
            <p:nvPr/>
          </p:nvCxnSpPr>
          <p:spPr bwMode="auto">
            <a:xfrm>
              <a:off x="3276600" y="5586413"/>
              <a:ext cx="990600" cy="0"/>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41" name="AutoShape 93">
              <a:extLst>
                <a:ext uri="{FF2B5EF4-FFF2-40B4-BE49-F238E27FC236}">
                  <a16:creationId xmlns:a16="http://schemas.microsoft.com/office/drawing/2014/main" id="{CEFC7342-E0C4-37BC-FD23-FD4DD0BFD572}"/>
                </a:ext>
              </a:extLst>
            </p:cNvPr>
            <p:cNvCxnSpPr>
              <a:cxnSpLocks noChangeShapeType="1"/>
            </p:cNvCxnSpPr>
            <p:nvPr/>
          </p:nvCxnSpPr>
          <p:spPr bwMode="auto">
            <a:xfrm>
              <a:off x="1676400" y="5586413"/>
              <a:ext cx="1066800" cy="0"/>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42" name="AutoShape 94">
              <a:extLst>
                <a:ext uri="{FF2B5EF4-FFF2-40B4-BE49-F238E27FC236}">
                  <a16:creationId xmlns:a16="http://schemas.microsoft.com/office/drawing/2014/main" id="{8655F737-E10E-70BD-9690-18B1B5553AE9}"/>
                </a:ext>
              </a:extLst>
            </p:cNvPr>
            <p:cNvCxnSpPr>
              <a:cxnSpLocks noChangeShapeType="1"/>
            </p:cNvCxnSpPr>
            <p:nvPr/>
          </p:nvCxnSpPr>
          <p:spPr bwMode="auto">
            <a:xfrm>
              <a:off x="4800600" y="5586413"/>
              <a:ext cx="1066800" cy="0"/>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43" name="Text Box 96">
              <a:extLst>
                <a:ext uri="{FF2B5EF4-FFF2-40B4-BE49-F238E27FC236}">
                  <a16:creationId xmlns:a16="http://schemas.microsoft.com/office/drawing/2014/main" id="{A3967820-AFA0-C1BF-4091-168ABF598481}"/>
                </a:ext>
              </a:extLst>
            </p:cNvPr>
            <p:cNvSpPr txBox="1">
              <a:spLocks noChangeArrowheads="1"/>
            </p:cNvSpPr>
            <p:nvPr/>
          </p:nvSpPr>
          <p:spPr bwMode="auto">
            <a:xfrm>
              <a:off x="3505200" y="5676900"/>
              <a:ext cx="609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 Day</a:t>
              </a:r>
            </a:p>
          </p:txBody>
        </p:sp>
        <p:sp>
          <p:nvSpPr>
            <p:cNvPr id="44" name="Text Box 97">
              <a:extLst>
                <a:ext uri="{FF2B5EF4-FFF2-40B4-BE49-F238E27FC236}">
                  <a16:creationId xmlns:a16="http://schemas.microsoft.com/office/drawing/2014/main" id="{C7BF8577-3A22-68C9-2D6B-0ECC04376B2C}"/>
                </a:ext>
              </a:extLst>
            </p:cNvPr>
            <p:cNvSpPr txBox="1">
              <a:spLocks noChangeArrowheads="1"/>
            </p:cNvSpPr>
            <p:nvPr/>
          </p:nvSpPr>
          <p:spPr bwMode="auto">
            <a:xfrm>
              <a:off x="27432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45" name="Text Box 98">
              <a:extLst>
                <a:ext uri="{FF2B5EF4-FFF2-40B4-BE49-F238E27FC236}">
                  <a16:creationId xmlns:a16="http://schemas.microsoft.com/office/drawing/2014/main" id="{13D7996A-C65D-D31E-A65A-26241DF2B5FD}"/>
                </a:ext>
              </a:extLst>
            </p:cNvPr>
            <p:cNvSpPr txBox="1">
              <a:spLocks noChangeArrowheads="1"/>
            </p:cNvSpPr>
            <p:nvPr/>
          </p:nvSpPr>
          <p:spPr bwMode="auto">
            <a:xfrm>
              <a:off x="35052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46" name="Text Box 99">
              <a:extLst>
                <a:ext uri="{FF2B5EF4-FFF2-40B4-BE49-F238E27FC236}">
                  <a16:creationId xmlns:a16="http://schemas.microsoft.com/office/drawing/2014/main" id="{9812A9A4-0483-7DEA-2464-14DF0F5F56C9}"/>
                </a:ext>
              </a:extLst>
            </p:cNvPr>
            <p:cNvSpPr txBox="1">
              <a:spLocks noChangeArrowheads="1"/>
            </p:cNvSpPr>
            <p:nvPr/>
          </p:nvSpPr>
          <p:spPr bwMode="auto">
            <a:xfrm>
              <a:off x="42672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47" name="Text Box 100">
              <a:extLst>
                <a:ext uri="{FF2B5EF4-FFF2-40B4-BE49-F238E27FC236}">
                  <a16:creationId xmlns:a16="http://schemas.microsoft.com/office/drawing/2014/main" id="{F8A0B2EC-61CC-8094-2090-D0BA1AB3C8E5}"/>
                </a:ext>
              </a:extLst>
            </p:cNvPr>
            <p:cNvSpPr txBox="1">
              <a:spLocks noChangeArrowheads="1"/>
            </p:cNvSpPr>
            <p:nvPr/>
          </p:nvSpPr>
          <p:spPr bwMode="auto">
            <a:xfrm>
              <a:off x="50292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48" name="Text Box 101">
              <a:extLst>
                <a:ext uri="{FF2B5EF4-FFF2-40B4-BE49-F238E27FC236}">
                  <a16:creationId xmlns:a16="http://schemas.microsoft.com/office/drawing/2014/main" id="{6D0EAE78-F59F-39FC-8748-D3B6BF8B1DC5}"/>
                </a:ext>
              </a:extLst>
            </p:cNvPr>
            <p:cNvSpPr txBox="1">
              <a:spLocks noChangeArrowheads="1"/>
            </p:cNvSpPr>
            <p:nvPr/>
          </p:nvSpPr>
          <p:spPr bwMode="auto">
            <a:xfrm>
              <a:off x="58674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49" name="Text Box 102">
              <a:extLst>
                <a:ext uri="{FF2B5EF4-FFF2-40B4-BE49-F238E27FC236}">
                  <a16:creationId xmlns:a16="http://schemas.microsoft.com/office/drawing/2014/main" id="{6D78B13D-EEC7-9E11-0C11-F583C0758830}"/>
                </a:ext>
              </a:extLst>
            </p:cNvPr>
            <p:cNvSpPr txBox="1">
              <a:spLocks noChangeArrowheads="1"/>
            </p:cNvSpPr>
            <p:nvPr/>
          </p:nvSpPr>
          <p:spPr bwMode="auto">
            <a:xfrm>
              <a:off x="65532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50" name="Text Box 103">
              <a:extLst>
                <a:ext uri="{FF2B5EF4-FFF2-40B4-BE49-F238E27FC236}">
                  <a16:creationId xmlns:a16="http://schemas.microsoft.com/office/drawing/2014/main" id="{F20BB662-91AD-E2E8-E278-CE8C602419E8}"/>
                </a:ext>
              </a:extLst>
            </p:cNvPr>
            <p:cNvSpPr txBox="1">
              <a:spLocks noChangeArrowheads="1"/>
            </p:cNvSpPr>
            <p:nvPr/>
          </p:nvSpPr>
          <p:spPr bwMode="auto">
            <a:xfrm>
              <a:off x="11430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a:t>
              </a:r>
            </a:p>
          </p:txBody>
        </p:sp>
        <p:sp>
          <p:nvSpPr>
            <p:cNvPr id="51" name="Text Box 104">
              <a:extLst>
                <a:ext uri="{FF2B5EF4-FFF2-40B4-BE49-F238E27FC236}">
                  <a16:creationId xmlns:a16="http://schemas.microsoft.com/office/drawing/2014/main" id="{E4E5962F-ECEE-E902-8173-A9CE08768C4C}"/>
                </a:ext>
              </a:extLst>
            </p:cNvPr>
            <p:cNvSpPr txBox="1">
              <a:spLocks noChangeArrowheads="1"/>
            </p:cNvSpPr>
            <p:nvPr/>
          </p:nvSpPr>
          <p:spPr bwMode="auto">
            <a:xfrm>
              <a:off x="1905000" y="53736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5 Days</a:t>
              </a:r>
            </a:p>
          </p:txBody>
        </p:sp>
        <p:sp>
          <p:nvSpPr>
            <p:cNvPr id="52" name="Text Box 105">
              <a:extLst>
                <a:ext uri="{FF2B5EF4-FFF2-40B4-BE49-F238E27FC236}">
                  <a16:creationId xmlns:a16="http://schemas.microsoft.com/office/drawing/2014/main" id="{849354F9-ACA4-C3DA-A253-745500E7484A}"/>
                </a:ext>
              </a:extLst>
            </p:cNvPr>
            <p:cNvSpPr txBox="1">
              <a:spLocks noChangeArrowheads="1"/>
            </p:cNvSpPr>
            <p:nvPr/>
          </p:nvSpPr>
          <p:spPr bwMode="auto">
            <a:xfrm>
              <a:off x="5029200" y="5676900"/>
              <a:ext cx="609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 hour</a:t>
              </a:r>
            </a:p>
          </p:txBody>
        </p:sp>
        <p:sp>
          <p:nvSpPr>
            <p:cNvPr id="53" name="Text Box 106">
              <a:extLst>
                <a:ext uri="{FF2B5EF4-FFF2-40B4-BE49-F238E27FC236}">
                  <a16:creationId xmlns:a16="http://schemas.microsoft.com/office/drawing/2014/main" id="{BE230302-FFC3-972D-824F-6DC76FADF3C4}"/>
                </a:ext>
              </a:extLst>
            </p:cNvPr>
            <p:cNvSpPr txBox="1">
              <a:spLocks noChangeArrowheads="1"/>
            </p:cNvSpPr>
            <p:nvPr/>
          </p:nvSpPr>
          <p:spPr bwMode="auto">
            <a:xfrm>
              <a:off x="6553200" y="5676900"/>
              <a:ext cx="609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10 min</a:t>
              </a:r>
            </a:p>
          </p:txBody>
        </p:sp>
        <p:sp>
          <p:nvSpPr>
            <p:cNvPr id="54" name="Text Box 107">
              <a:extLst>
                <a:ext uri="{FF2B5EF4-FFF2-40B4-BE49-F238E27FC236}">
                  <a16:creationId xmlns:a16="http://schemas.microsoft.com/office/drawing/2014/main" id="{A8776B19-049F-8CE1-C3B0-C44DC68C6FE1}"/>
                </a:ext>
              </a:extLst>
            </p:cNvPr>
            <p:cNvSpPr txBox="1">
              <a:spLocks noChangeArrowheads="1"/>
            </p:cNvSpPr>
            <p:nvPr/>
          </p:nvSpPr>
          <p:spPr bwMode="auto">
            <a:xfrm>
              <a:off x="1905000" y="5676900"/>
              <a:ext cx="609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a:latin typeface="Roboto" panose="02000000000000000000" pitchFamily="2" charset="0"/>
                  <a:ea typeface="Roboto" panose="02000000000000000000" pitchFamily="2" charset="0"/>
                </a:rPr>
                <a:t>20 min</a:t>
              </a:r>
            </a:p>
          </p:txBody>
        </p:sp>
        <p:cxnSp>
          <p:nvCxnSpPr>
            <p:cNvPr id="55" name="AutoShape 110">
              <a:extLst>
                <a:ext uri="{FF2B5EF4-FFF2-40B4-BE49-F238E27FC236}">
                  <a16:creationId xmlns:a16="http://schemas.microsoft.com/office/drawing/2014/main" id="{29692539-3714-6D35-ECDB-D49AD62716E0}"/>
                </a:ext>
              </a:extLst>
            </p:cNvPr>
            <p:cNvCxnSpPr>
              <a:cxnSpLocks noChangeShapeType="1"/>
            </p:cNvCxnSpPr>
            <p:nvPr/>
          </p:nvCxnSpPr>
          <p:spPr bwMode="auto">
            <a:xfrm>
              <a:off x="6400800" y="5586413"/>
              <a:ext cx="990600" cy="0"/>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Rectangle 116">
              <a:extLst>
                <a:ext uri="{FF2B5EF4-FFF2-40B4-BE49-F238E27FC236}">
                  <a16:creationId xmlns:a16="http://schemas.microsoft.com/office/drawing/2014/main" id="{A901B24F-1A99-45E5-519E-CD78222E5C03}"/>
                </a:ext>
              </a:extLst>
            </p:cNvPr>
            <p:cNvSpPr>
              <a:spLocks noChangeArrowheads="1"/>
            </p:cNvSpPr>
            <p:nvPr/>
          </p:nvSpPr>
          <p:spPr bwMode="auto">
            <a:xfrm>
              <a:off x="7804150" y="2936875"/>
              <a:ext cx="914400" cy="64452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57" name="Text Box 118">
              <a:extLst>
                <a:ext uri="{FF2B5EF4-FFF2-40B4-BE49-F238E27FC236}">
                  <a16:creationId xmlns:a16="http://schemas.microsoft.com/office/drawing/2014/main" id="{F95E3120-BB53-1265-EC34-EAC7581D3FF4}"/>
                </a:ext>
              </a:extLst>
            </p:cNvPr>
            <p:cNvSpPr txBox="1">
              <a:spLocks noChangeArrowheads="1"/>
            </p:cNvSpPr>
            <p:nvPr/>
          </p:nvSpPr>
          <p:spPr bwMode="auto">
            <a:xfrm>
              <a:off x="4667250" y="1885950"/>
              <a:ext cx="84772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Employee</a:t>
              </a:r>
            </a:p>
          </p:txBody>
        </p:sp>
        <p:cxnSp>
          <p:nvCxnSpPr>
            <p:cNvPr id="58" name="AutoShape 122">
              <a:extLst>
                <a:ext uri="{FF2B5EF4-FFF2-40B4-BE49-F238E27FC236}">
                  <a16:creationId xmlns:a16="http://schemas.microsoft.com/office/drawing/2014/main" id="{FA149E50-494E-2125-1FEF-02B6AC11AC3A}"/>
                </a:ext>
              </a:extLst>
            </p:cNvPr>
            <p:cNvCxnSpPr>
              <a:cxnSpLocks noChangeShapeType="1"/>
            </p:cNvCxnSpPr>
            <p:nvPr/>
          </p:nvCxnSpPr>
          <p:spPr bwMode="auto">
            <a:xfrm rot="10800000" flipV="1">
              <a:off x="2362200" y="2209800"/>
              <a:ext cx="2133600" cy="1752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 name="AutoShape 129">
              <a:extLst>
                <a:ext uri="{FF2B5EF4-FFF2-40B4-BE49-F238E27FC236}">
                  <a16:creationId xmlns:a16="http://schemas.microsoft.com/office/drawing/2014/main" id="{77CF57F0-7030-CC8A-B373-C28AE6A7C72E}"/>
                </a:ext>
              </a:extLst>
            </p:cNvPr>
            <p:cNvCxnSpPr>
              <a:cxnSpLocks noChangeShapeType="1"/>
            </p:cNvCxnSpPr>
            <p:nvPr/>
          </p:nvCxnSpPr>
          <p:spPr bwMode="auto">
            <a:xfrm rot="10800000">
              <a:off x="5638800" y="2209800"/>
              <a:ext cx="2057400" cy="9144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60" name="Group 134">
              <a:extLst>
                <a:ext uri="{FF2B5EF4-FFF2-40B4-BE49-F238E27FC236}">
                  <a16:creationId xmlns:a16="http://schemas.microsoft.com/office/drawing/2014/main" id="{232C719B-985E-B827-C174-D8C8D79A8A3E}"/>
                </a:ext>
              </a:extLst>
            </p:cNvPr>
            <p:cNvGrpSpPr>
              <a:grpSpLocks/>
            </p:cNvGrpSpPr>
            <p:nvPr/>
          </p:nvGrpSpPr>
          <p:grpSpPr bwMode="auto">
            <a:xfrm rot="-1243950">
              <a:off x="7424738" y="3743325"/>
              <a:ext cx="534987" cy="285750"/>
              <a:chOff x="636" y="2054"/>
              <a:chExt cx="200" cy="298"/>
            </a:xfrm>
          </p:grpSpPr>
          <p:sp>
            <p:nvSpPr>
              <p:cNvPr id="61" name="Line 135">
                <a:extLst>
                  <a:ext uri="{FF2B5EF4-FFF2-40B4-BE49-F238E27FC236}">
                    <a16:creationId xmlns:a16="http://schemas.microsoft.com/office/drawing/2014/main" id="{27522ACF-7CFB-1EB2-6365-3D5E66767B2C}"/>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2" name="Line 136">
                <a:extLst>
                  <a:ext uri="{FF2B5EF4-FFF2-40B4-BE49-F238E27FC236}">
                    <a16:creationId xmlns:a16="http://schemas.microsoft.com/office/drawing/2014/main" id="{D9A02748-FB24-42FA-F4E0-4512E645B917}"/>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63" name="Line 137">
                <a:extLst>
                  <a:ext uri="{FF2B5EF4-FFF2-40B4-BE49-F238E27FC236}">
                    <a16:creationId xmlns:a16="http://schemas.microsoft.com/office/drawing/2014/main" id="{A2725964-3E6F-1283-FC8B-14A7CB1A89CC}"/>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28" name="Text Box 145">
              <a:extLst>
                <a:ext uri="{FF2B5EF4-FFF2-40B4-BE49-F238E27FC236}">
                  <a16:creationId xmlns:a16="http://schemas.microsoft.com/office/drawing/2014/main" id="{C6EE48FF-5765-A1B2-98D0-DEBBEA7735C1}"/>
                </a:ext>
              </a:extLst>
            </p:cNvPr>
            <p:cNvSpPr txBox="1">
              <a:spLocks noChangeArrowheads="1"/>
            </p:cNvSpPr>
            <p:nvPr/>
          </p:nvSpPr>
          <p:spPr bwMode="auto">
            <a:xfrm>
              <a:off x="7832725" y="2971800"/>
              <a:ext cx="847725"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Payroll Vendor, Database</a:t>
              </a:r>
            </a:p>
          </p:txBody>
        </p:sp>
        <p:sp>
          <p:nvSpPr>
            <p:cNvPr id="129" name="Rectangle 183">
              <a:extLst>
                <a:ext uri="{FF2B5EF4-FFF2-40B4-BE49-F238E27FC236}">
                  <a16:creationId xmlns:a16="http://schemas.microsoft.com/office/drawing/2014/main" id="{ADA6AA7C-552F-3CF4-CDD9-F26C22B20AC9}"/>
                </a:ext>
              </a:extLst>
            </p:cNvPr>
            <p:cNvSpPr>
              <a:spLocks noChangeArrowheads="1"/>
            </p:cNvSpPr>
            <p:nvPr/>
          </p:nvSpPr>
          <p:spPr bwMode="auto">
            <a:xfrm>
              <a:off x="990600" y="2362200"/>
              <a:ext cx="841375" cy="530225"/>
            </a:xfrm>
            <a:prstGeom prst="rect">
              <a:avLst/>
            </a:prstGeom>
            <a:solidFill>
              <a:schemeClr val="bg1"/>
            </a:solidFill>
            <a:ln w="12700" cap="sq"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HR</a:t>
              </a:r>
            </a:p>
            <a:p>
              <a:pPr eaLnBrk="1" hangingPunct="1"/>
              <a:r>
                <a:rPr lang="en-US" altLang="en-US" sz="900">
                  <a:latin typeface="Roboto" panose="02000000000000000000" pitchFamily="2" charset="0"/>
                  <a:ea typeface="Roboto" panose="02000000000000000000" pitchFamily="2" charset="0"/>
                </a:rPr>
                <a:t>Electronic</a:t>
              </a:r>
            </a:p>
            <a:p>
              <a:pPr eaLnBrk="1" hangingPunct="1"/>
              <a:r>
                <a:rPr lang="en-US" altLang="en-US" sz="900">
                  <a:latin typeface="Roboto" panose="02000000000000000000" pitchFamily="2" charset="0"/>
                  <a:ea typeface="Roboto" panose="02000000000000000000" pitchFamily="2" charset="0"/>
                </a:rPr>
                <a:t>Release</a:t>
              </a:r>
            </a:p>
          </p:txBody>
        </p:sp>
        <p:grpSp>
          <p:nvGrpSpPr>
            <p:cNvPr id="130" name="Group 493">
              <a:extLst>
                <a:ext uri="{FF2B5EF4-FFF2-40B4-BE49-F238E27FC236}">
                  <a16:creationId xmlns:a16="http://schemas.microsoft.com/office/drawing/2014/main" id="{DB45206F-C959-3F4A-BB2B-3DE66738C0E4}"/>
                </a:ext>
              </a:extLst>
            </p:cNvPr>
            <p:cNvGrpSpPr>
              <a:grpSpLocks/>
            </p:cNvGrpSpPr>
            <p:nvPr/>
          </p:nvGrpSpPr>
          <p:grpSpPr bwMode="auto">
            <a:xfrm>
              <a:off x="7648575" y="5281613"/>
              <a:ext cx="733425" cy="609600"/>
              <a:chOff x="7648933" y="5281613"/>
              <a:chExt cx="733067" cy="609600"/>
            </a:xfrm>
          </p:grpSpPr>
          <p:sp>
            <p:nvSpPr>
              <p:cNvPr id="131" name="Rectangle 112">
                <a:extLst>
                  <a:ext uri="{FF2B5EF4-FFF2-40B4-BE49-F238E27FC236}">
                    <a16:creationId xmlns:a16="http://schemas.microsoft.com/office/drawing/2014/main" id="{F2597DE4-7EF2-827F-A787-A8CF7C884994}"/>
                  </a:ext>
                </a:extLst>
              </p:cNvPr>
              <p:cNvSpPr>
                <a:spLocks noChangeArrowheads="1"/>
              </p:cNvSpPr>
              <p:nvPr/>
            </p:nvSpPr>
            <p:spPr bwMode="auto">
              <a:xfrm>
                <a:off x="7725133" y="5281613"/>
                <a:ext cx="571500"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32" name="Line 115">
                <a:extLst>
                  <a:ext uri="{FF2B5EF4-FFF2-40B4-BE49-F238E27FC236}">
                    <a16:creationId xmlns:a16="http://schemas.microsoft.com/office/drawing/2014/main" id="{0DA8C72F-9FAB-7DF5-461E-E433C429DA7C}"/>
                  </a:ext>
                </a:extLst>
              </p:cNvPr>
              <p:cNvSpPr>
                <a:spLocks noChangeShapeType="1"/>
              </p:cNvSpPr>
              <p:nvPr/>
            </p:nvSpPr>
            <p:spPr bwMode="auto">
              <a:xfrm>
                <a:off x="7734657" y="5586413"/>
                <a:ext cx="53340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3" name="Text Box 113">
                <a:extLst>
                  <a:ext uri="{FF2B5EF4-FFF2-40B4-BE49-F238E27FC236}">
                    <a16:creationId xmlns:a16="http://schemas.microsoft.com/office/drawing/2014/main" id="{1E0F7B0F-F003-56F0-7422-FAB6E07A026E}"/>
                  </a:ext>
                </a:extLst>
              </p:cNvPr>
              <p:cNvSpPr txBox="1">
                <a:spLocks noChangeArrowheads="1"/>
              </p:cNvSpPr>
              <p:nvPr/>
            </p:nvSpPr>
            <p:spPr bwMode="auto">
              <a:xfrm>
                <a:off x="7701320" y="5286375"/>
                <a:ext cx="6715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700">
                    <a:latin typeface="Roboto" panose="02000000000000000000" pitchFamily="2" charset="0"/>
                    <a:ea typeface="Roboto" panose="02000000000000000000" pitchFamily="2" charset="0"/>
                  </a:rPr>
                  <a:t>Lead Time </a:t>
                </a:r>
                <a:br>
                  <a:rPr lang="en-US" altLang="en-US" sz="700">
                    <a:latin typeface="Roboto" panose="02000000000000000000" pitchFamily="2" charset="0"/>
                    <a:ea typeface="Roboto" panose="02000000000000000000" pitchFamily="2" charset="0"/>
                  </a:rPr>
                </a:br>
                <a:r>
                  <a:rPr lang="en-US" altLang="en-US" sz="700">
                    <a:latin typeface="Roboto" panose="02000000000000000000" pitchFamily="2" charset="0"/>
                    <a:ea typeface="Roboto" panose="02000000000000000000" pitchFamily="2" charset="0"/>
                  </a:rPr>
                  <a:t>40 Days</a:t>
                </a:r>
              </a:p>
            </p:txBody>
          </p:sp>
          <p:sp>
            <p:nvSpPr>
              <p:cNvPr id="134" name="Text Box 114">
                <a:extLst>
                  <a:ext uri="{FF2B5EF4-FFF2-40B4-BE49-F238E27FC236}">
                    <a16:creationId xmlns:a16="http://schemas.microsoft.com/office/drawing/2014/main" id="{3ED23559-D616-14D6-86CE-6BCBA36DCB39}"/>
                  </a:ext>
                </a:extLst>
              </p:cNvPr>
              <p:cNvSpPr txBox="1">
                <a:spLocks noChangeArrowheads="1"/>
              </p:cNvSpPr>
              <p:nvPr/>
            </p:nvSpPr>
            <p:spPr bwMode="auto">
              <a:xfrm>
                <a:off x="7648933" y="5562600"/>
                <a:ext cx="73306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700">
                    <a:latin typeface="Roboto" panose="02000000000000000000" pitchFamily="2" charset="0"/>
                    <a:ea typeface="Roboto" panose="02000000000000000000" pitchFamily="2" charset="0"/>
                  </a:rPr>
                  <a:t>Process Time </a:t>
                </a:r>
                <a:br>
                  <a:rPr lang="en-US" altLang="en-US" sz="700">
                    <a:latin typeface="Roboto" panose="02000000000000000000" pitchFamily="2" charset="0"/>
                    <a:ea typeface="Roboto" panose="02000000000000000000" pitchFamily="2" charset="0"/>
                  </a:rPr>
                </a:br>
                <a:r>
                  <a:rPr lang="en-US" altLang="en-US" sz="700">
                    <a:latin typeface="Roboto" panose="02000000000000000000" pitchFamily="2" charset="0"/>
                    <a:ea typeface="Roboto" panose="02000000000000000000" pitchFamily="2" charset="0"/>
                  </a:rPr>
                  <a:t>1.2 Days</a:t>
                </a:r>
              </a:p>
            </p:txBody>
          </p:sp>
        </p:grpSp>
        <p:grpSp>
          <p:nvGrpSpPr>
            <p:cNvPr id="135" name="Group 442">
              <a:extLst>
                <a:ext uri="{FF2B5EF4-FFF2-40B4-BE49-F238E27FC236}">
                  <a16:creationId xmlns:a16="http://schemas.microsoft.com/office/drawing/2014/main" id="{55AC5B50-72BB-5F4D-9B42-86A6D2938377}"/>
                </a:ext>
              </a:extLst>
            </p:cNvPr>
            <p:cNvGrpSpPr>
              <a:grpSpLocks/>
            </p:cNvGrpSpPr>
            <p:nvPr/>
          </p:nvGrpSpPr>
          <p:grpSpPr bwMode="auto">
            <a:xfrm>
              <a:off x="5791200" y="4049713"/>
              <a:ext cx="595313" cy="903287"/>
              <a:chOff x="5257800" y="4038600"/>
              <a:chExt cx="595313" cy="903287"/>
            </a:xfrm>
          </p:grpSpPr>
          <p:sp>
            <p:nvSpPr>
              <p:cNvPr id="136" name="Line 13">
                <a:extLst>
                  <a:ext uri="{FF2B5EF4-FFF2-40B4-BE49-F238E27FC236}">
                    <a16:creationId xmlns:a16="http://schemas.microsoft.com/office/drawing/2014/main" id="{D1B719AF-8D85-FDE8-04CD-4583076B58E9}"/>
                  </a:ext>
                </a:extLst>
              </p:cNvPr>
              <p:cNvSpPr>
                <a:spLocks noChangeShapeType="1"/>
              </p:cNvSpPr>
              <p:nvPr/>
            </p:nvSpPr>
            <p:spPr bwMode="auto">
              <a:xfrm flipV="1">
                <a:off x="5272088" y="4256087"/>
                <a:ext cx="581025" cy="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7" name="Text Box 46">
                <a:extLst>
                  <a:ext uri="{FF2B5EF4-FFF2-40B4-BE49-F238E27FC236}">
                    <a16:creationId xmlns:a16="http://schemas.microsoft.com/office/drawing/2014/main" id="{A641CFAF-5D49-E127-64BF-D1A2136EE329}"/>
                  </a:ext>
                </a:extLst>
              </p:cNvPr>
              <p:cNvSpPr txBox="1">
                <a:spLocks noChangeArrowheads="1"/>
              </p:cNvSpPr>
              <p:nvPr/>
            </p:nvSpPr>
            <p:spPr bwMode="auto">
              <a:xfrm>
                <a:off x="5257800" y="4421187"/>
                <a:ext cx="561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600">
                    <a:latin typeface="Roboto" panose="02000000000000000000" pitchFamily="2" charset="0"/>
                    <a:ea typeface="Roboto" panose="02000000000000000000" pitchFamily="2" charset="0"/>
                  </a:rPr>
                  <a:t>File</a:t>
                </a:r>
              </a:p>
              <a:p>
                <a:pPr eaLnBrk="1" hangingPunct="1">
                  <a:spcBef>
                    <a:spcPct val="50000"/>
                  </a:spcBef>
                </a:pPr>
                <a:r>
                  <a:rPr lang="en-US" altLang="en-US" sz="600">
                    <a:latin typeface="Roboto" panose="02000000000000000000" pitchFamily="2" charset="0"/>
                    <a:ea typeface="Roboto" panose="02000000000000000000" pitchFamily="2" charset="0"/>
                  </a:rPr>
                  <a:t>FIFO</a:t>
                </a:r>
              </a:p>
              <a:p>
                <a:pPr eaLnBrk="1" hangingPunct="1">
                  <a:spcBef>
                    <a:spcPct val="50000"/>
                  </a:spcBef>
                </a:pPr>
                <a:r>
                  <a:rPr lang="en-US" altLang="en-US" sz="600">
                    <a:latin typeface="Roboto" panose="02000000000000000000" pitchFamily="2" charset="0"/>
                    <a:ea typeface="Roboto" panose="02000000000000000000" pitchFamily="2" charset="0"/>
                  </a:rPr>
                  <a:t>5 days</a:t>
                </a:r>
              </a:p>
            </p:txBody>
          </p:sp>
          <p:grpSp>
            <p:nvGrpSpPr>
              <p:cNvPr id="138" name="Group 47">
                <a:extLst>
                  <a:ext uri="{FF2B5EF4-FFF2-40B4-BE49-F238E27FC236}">
                    <a16:creationId xmlns:a16="http://schemas.microsoft.com/office/drawing/2014/main" id="{8C65362D-33F1-8A0F-7DF1-EFAFE08206F9}"/>
                  </a:ext>
                </a:extLst>
              </p:cNvPr>
              <p:cNvGrpSpPr>
                <a:grpSpLocks/>
              </p:cNvGrpSpPr>
              <p:nvPr/>
            </p:nvGrpSpPr>
            <p:grpSpPr bwMode="auto">
              <a:xfrm>
                <a:off x="5351463" y="4038600"/>
                <a:ext cx="381000" cy="336550"/>
                <a:chOff x="4122" y="1171"/>
                <a:chExt cx="240" cy="212"/>
              </a:xfrm>
            </p:grpSpPr>
            <p:sp>
              <p:nvSpPr>
                <p:cNvPr id="143" name="Rectangle 48">
                  <a:extLst>
                    <a:ext uri="{FF2B5EF4-FFF2-40B4-BE49-F238E27FC236}">
                      <a16:creationId xmlns:a16="http://schemas.microsoft.com/office/drawing/2014/main" id="{0FD06EB4-C83E-472E-7172-86CFAB419FAD}"/>
                    </a:ext>
                  </a:extLst>
                </p:cNvPr>
                <p:cNvSpPr>
                  <a:spLocks noChangeArrowheads="1"/>
                </p:cNvSpPr>
                <p:nvPr/>
              </p:nvSpPr>
              <p:spPr bwMode="auto">
                <a:xfrm>
                  <a:off x="4122" y="1215"/>
                  <a:ext cx="240" cy="16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44" name="Text Box 49">
                  <a:extLst>
                    <a:ext uri="{FF2B5EF4-FFF2-40B4-BE49-F238E27FC236}">
                      <a16:creationId xmlns:a16="http://schemas.microsoft.com/office/drawing/2014/main" id="{3E387F44-0BAB-34E0-8D62-2E9F67EC8ECA}"/>
                    </a:ext>
                  </a:extLst>
                </p:cNvPr>
                <p:cNvSpPr txBox="1">
                  <a:spLocks noChangeArrowheads="1"/>
                </p:cNvSpPr>
                <p:nvPr/>
              </p:nvSpPr>
              <p:spPr bwMode="auto">
                <a:xfrm>
                  <a:off x="4152" y="1227"/>
                  <a:ext cx="180" cy="1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latin typeface="Roboto" panose="02000000000000000000" pitchFamily="2" charset="0"/>
                      <a:ea typeface="Roboto" panose="02000000000000000000" pitchFamily="2" charset="0"/>
                    </a:rPr>
                    <a:t>IN</a:t>
                  </a:r>
                </a:p>
              </p:txBody>
            </p:sp>
            <p:sp>
              <p:nvSpPr>
                <p:cNvPr id="145" name="AutoShape 50">
                  <a:extLst>
                    <a:ext uri="{FF2B5EF4-FFF2-40B4-BE49-F238E27FC236}">
                      <a16:creationId xmlns:a16="http://schemas.microsoft.com/office/drawing/2014/main" id="{8AD1AF5D-F682-2545-C9C6-F555FE24780D}"/>
                    </a:ext>
                  </a:extLst>
                </p:cNvPr>
                <p:cNvSpPr>
                  <a:spLocks/>
                </p:cNvSpPr>
                <p:nvPr/>
              </p:nvSpPr>
              <p:spPr bwMode="auto">
                <a:xfrm rot="-5400000">
                  <a:off x="4233" y="1060"/>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46" name="AutoShape 51">
                  <a:extLst>
                    <a:ext uri="{FF2B5EF4-FFF2-40B4-BE49-F238E27FC236}">
                      <a16:creationId xmlns:a16="http://schemas.microsoft.com/office/drawing/2014/main" id="{8171533A-0654-867E-E3A2-A110EDC9FBD9}"/>
                    </a:ext>
                  </a:extLst>
                </p:cNvPr>
                <p:cNvSpPr>
                  <a:spLocks/>
                </p:cNvSpPr>
                <p:nvPr/>
              </p:nvSpPr>
              <p:spPr bwMode="auto">
                <a:xfrm rot="-5400000">
                  <a:off x="4233" y="1069"/>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47" name="AutoShape 52">
                  <a:extLst>
                    <a:ext uri="{FF2B5EF4-FFF2-40B4-BE49-F238E27FC236}">
                      <a16:creationId xmlns:a16="http://schemas.microsoft.com/office/drawing/2014/main" id="{7CDF7F11-B91D-B910-FE60-435247778173}"/>
                    </a:ext>
                  </a:extLst>
                </p:cNvPr>
                <p:cNvSpPr>
                  <a:spLocks/>
                </p:cNvSpPr>
                <p:nvPr/>
              </p:nvSpPr>
              <p:spPr bwMode="auto">
                <a:xfrm rot="-5400000">
                  <a:off x="4233" y="1078"/>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grpSp>
          <p:grpSp>
            <p:nvGrpSpPr>
              <p:cNvPr id="139" name="Group 53">
                <a:extLst>
                  <a:ext uri="{FF2B5EF4-FFF2-40B4-BE49-F238E27FC236}">
                    <a16:creationId xmlns:a16="http://schemas.microsoft.com/office/drawing/2014/main" id="{4292AB4A-693F-A714-AD85-A2D1FE2D181A}"/>
                  </a:ext>
                </a:extLst>
              </p:cNvPr>
              <p:cNvGrpSpPr>
                <a:grpSpLocks/>
              </p:cNvGrpSpPr>
              <p:nvPr/>
            </p:nvGrpSpPr>
            <p:grpSpPr bwMode="auto">
              <a:xfrm>
                <a:off x="5341938" y="4408487"/>
                <a:ext cx="381000" cy="533400"/>
                <a:chOff x="576" y="1200"/>
                <a:chExt cx="240" cy="336"/>
              </a:xfrm>
            </p:grpSpPr>
            <p:sp>
              <p:nvSpPr>
                <p:cNvPr id="140" name="Rectangle 54">
                  <a:extLst>
                    <a:ext uri="{FF2B5EF4-FFF2-40B4-BE49-F238E27FC236}">
                      <a16:creationId xmlns:a16="http://schemas.microsoft.com/office/drawing/2014/main" id="{D9121908-8F83-0188-E96A-8F0E6ED2C865}"/>
                    </a:ext>
                  </a:extLst>
                </p:cNvPr>
                <p:cNvSpPr>
                  <a:spLocks noChangeArrowheads="1"/>
                </p:cNvSpPr>
                <p:nvPr/>
              </p:nvSpPr>
              <p:spPr bwMode="auto">
                <a:xfrm>
                  <a:off x="576" y="1200"/>
                  <a:ext cx="240"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41" name="Line 55">
                  <a:extLst>
                    <a:ext uri="{FF2B5EF4-FFF2-40B4-BE49-F238E27FC236}">
                      <a16:creationId xmlns:a16="http://schemas.microsoft.com/office/drawing/2014/main" id="{28CCBCF7-9D79-CCE9-0471-1041091DFC37}"/>
                    </a:ext>
                  </a:extLst>
                </p:cNvPr>
                <p:cNvSpPr>
                  <a:spLocks noChangeShapeType="1"/>
                </p:cNvSpPr>
                <p:nvPr/>
              </p:nvSpPr>
              <p:spPr bwMode="auto">
                <a:xfrm>
                  <a:off x="576" y="1392"/>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2" name="Line 56">
                  <a:extLst>
                    <a:ext uri="{FF2B5EF4-FFF2-40B4-BE49-F238E27FC236}">
                      <a16:creationId xmlns:a16="http://schemas.microsoft.com/office/drawing/2014/main" id="{4274BB9A-EF25-C478-BD55-CF8F1037EBEE}"/>
                    </a:ext>
                  </a:extLst>
                </p:cNvPr>
                <p:cNvSpPr>
                  <a:spLocks noChangeShapeType="1"/>
                </p:cNvSpPr>
                <p:nvPr/>
              </p:nvSpPr>
              <p:spPr bwMode="auto">
                <a:xfrm>
                  <a:off x="576" y="1296"/>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148" name="Group 443">
              <a:extLst>
                <a:ext uri="{FF2B5EF4-FFF2-40B4-BE49-F238E27FC236}">
                  <a16:creationId xmlns:a16="http://schemas.microsoft.com/office/drawing/2014/main" id="{123B039B-EF14-4F0D-5EC8-5A7A1F7C36D5}"/>
                </a:ext>
              </a:extLst>
            </p:cNvPr>
            <p:cNvGrpSpPr>
              <a:grpSpLocks/>
            </p:cNvGrpSpPr>
            <p:nvPr/>
          </p:nvGrpSpPr>
          <p:grpSpPr bwMode="auto">
            <a:xfrm>
              <a:off x="4267200" y="4049713"/>
              <a:ext cx="595313" cy="903287"/>
              <a:chOff x="5257800" y="4038600"/>
              <a:chExt cx="595313" cy="903287"/>
            </a:xfrm>
          </p:grpSpPr>
          <p:sp>
            <p:nvSpPr>
              <p:cNvPr id="149" name="Line 13">
                <a:extLst>
                  <a:ext uri="{FF2B5EF4-FFF2-40B4-BE49-F238E27FC236}">
                    <a16:creationId xmlns:a16="http://schemas.microsoft.com/office/drawing/2014/main" id="{CA1C8619-D3D0-C988-3298-A5DDB8BE171F}"/>
                  </a:ext>
                </a:extLst>
              </p:cNvPr>
              <p:cNvSpPr>
                <a:spLocks noChangeShapeType="1"/>
              </p:cNvSpPr>
              <p:nvPr/>
            </p:nvSpPr>
            <p:spPr bwMode="auto">
              <a:xfrm flipV="1">
                <a:off x="5272088" y="4256087"/>
                <a:ext cx="581025" cy="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50" name="Text Box 46">
                <a:extLst>
                  <a:ext uri="{FF2B5EF4-FFF2-40B4-BE49-F238E27FC236}">
                    <a16:creationId xmlns:a16="http://schemas.microsoft.com/office/drawing/2014/main" id="{D7089F90-63CA-9C37-6A49-FAB8229D7EB0}"/>
                  </a:ext>
                </a:extLst>
              </p:cNvPr>
              <p:cNvSpPr txBox="1">
                <a:spLocks noChangeArrowheads="1"/>
              </p:cNvSpPr>
              <p:nvPr/>
            </p:nvSpPr>
            <p:spPr bwMode="auto">
              <a:xfrm>
                <a:off x="5257800" y="4421187"/>
                <a:ext cx="561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600">
                    <a:latin typeface="Roboto" panose="02000000000000000000" pitchFamily="2" charset="0"/>
                    <a:ea typeface="Roboto" panose="02000000000000000000" pitchFamily="2" charset="0"/>
                  </a:rPr>
                  <a:t>File</a:t>
                </a:r>
              </a:p>
              <a:p>
                <a:pPr eaLnBrk="1" hangingPunct="1">
                  <a:spcBef>
                    <a:spcPct val="50000"/>
                  </a:spcBef>
                </a:pPr>
                <a:r>
                  <a:rPr lang="en-US" altLang="en-US" sz="600">
                    <a:latin typeface="Roboto" panose="02000000000000000000" pitchFamily="2" charset="0"/>
                    <a:ea typeface="Roboto" panose="02000000000000000000" pitchFamily="2" charset="0"/>
                  </a:rPr>
                  <a:t>FIFO</a:t>
                </a:r>
              </a:p>
              <a:p>
                <a:pPr eaLnBrk="1" hangingPunct="1">
                  <a:spcBef>
                    <a:spcPct val="50000"/>
                  </a:spcBef>
                </a:pPr>
                <a:r>
                  <a:rPr lang="en-US" altLang="en-US" sz="600">
                    <a:latin typeface="Roboto" panose="02000000000000000000" pitchFamily="2" charset="0"/>
                    <a:ea typeface="Roboto" panose="02000000000000000000" pitchFamily="2" charset="0"/>
                  </a:rPr>
                  <a:t>5 days</a:t>
                </a:r>
              </a:p>
            </p:txBody>
          </p:sp>
          <p:grpSp>
            <p:nvGrpSpPr>
              <p:cNvPr id="151" name="Group 47">
                <a:extLst>
                  <a:ext uri="{FF2B5EF4-FFF2-40B4-BE49-F238E27FC236}">
                    <a16:creationId xmlns:a16="http://schemas.microsoft.com/office/drawing/2014/main" id="{64603327-8966-7382-9AAE-84B75FBEA17A}"/>
                  </a:ext>
                </a:extLst>
              </p:cNvPr>
              <p:cNvGrpSpPr>
                <a:grpSpLocks/>
              </p:cNvGrpSpPr>
              <p:nvPr/>
            </p:nvGrpSpPr>
            <p:grpSpPr bwMode="auto">
              <a:xfrm>
                <a:off x="5351463" y="4038600"/>
                <a:ext cx="381000" cy="336550"/>
                <a:chOff x="4122" y="1171"/>
                <a:chExt cx="240" cy="212"/>
              </a:xfrm>
            </p:grpSpPr>
            <p:sp>
              <p:nvSpPr>
                <p:cNvPr id="156" name="Rectangle 48">
                  <a:extLst>
                    <a:ext uri="{FF2B5EF4-FFF2-40B4-BE49-F238E27FC236}">
                      <a16:creationId xmlns:a16="http://schemas.microsoft.com/office/drawing/2014/main" id="{1277C01D-30B0-3AE7-ED7B-7896BDA806EC}"/>
                    </a:ext>
                  </a:extLst>
                </p:cNvPr>
                <p:cNvSpPr>
                  <a:spLocks noChangeArrowheads="1"/>
                </p:cNvSpPr>
                <p:nvPr/>
              </p:nvSpPr>
              <p:spPr bwMode="auto">
                <a:xfrm>
                  <a:off x="4122" y="1215"/>
                  <a:ext cx="240" cy="16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57" name="Text Box 49">
                  <a:extLst>
                    <a:ext uri="{FF2B5EF4-FFF2-40B4-BE49-F238E27FC236}">
                      <a16:creationId xmlns:a16="http://schemas.microsoft.com/office/drawing/2014/main" id="{F2F409CC-5623-C5F9-F3AE-A57E633350B3}"/>
                    </a:ext>
                  </a:extLst>
                </p:cNvPr>
                <p:cNvSpPr txBox="1">
                  <a:spLocks noChangeArrowheads="1"/>
                </p:cNvSpPr>
                <p:nvPr/>
              </p:nvSpPr>
              <p:spPr bwMode="auto">
                <a:xfrm>
                  <a:off x="4152" y="1227"/>
                  <a:ext cx="180" cy="1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latin typeface="Roboto" panose="02000000000000000000" pitchFamily="2" charset="0"/>
                      <a:ea typeface="Roboto" panose="02000000000000000000" pitchFamily="2" charset="0"/>
                    </a:rPr>
                    <a:t>IN</a:t>
                  </a:r>
                </a:p>
              </p:txBody>
            </p:sp>
            <p:sp>
              <p:nvSpPr>
                <p:cNvPr id="158" name="AutoShape 50">
                  <a:extLst>
                    <a:ext uri="{FF2B5EF4-FFF2-40B4-BE49-F238E27FC236}">
                      <a16:creationId xmlns:a16="http://schemas.microsoft.com/office/drawing/2014/main" id="{62E2390D-FA94-4701-8DB0-8AC0C3C54C36}"/>
                    </a:ext>
                  </a:extLst>
                </p:cNvPr>
                <p:cNvSpPr>
                  <a:spLocks/>
                </p:cNvSpPr>
                <p:nvPr/>
              </p:nvSpPr>
              <p:spPr bwMode="auto">
                <a:xfrm rot="-5400000">
                  <a:off x="4233" y="1060"/>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59" name="AutoShape 51">
                  <a:extLst>
                    <a:ext uri="{FF2B5EF4-FFF2-40B4-BE49-F238E27FC236}">
                      <a16:creationId xmlns:a16="http://schemas.microsoft.com/office/drawing/2014/main" id="{2768A53B-051C-1EB0-85D5-3A2F24F8BD37}"/>
                    </a:ext>
                  </a:extLst>
                </p:cNvPr>
                <p:cNvSpPr>
                  <a:spLocks/>
                </p:cNvSpPr>
                <p:nvPr/>
              </p:nvSpPr>
              <p:spPr bwMode="auto">
                <a:xfrm rot="-5400000">
                  <a:off x="4233" y="1069"/>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60" name="AutoShape 52">
                  <a:extLst>
                    <a:ext uri="{FF2B5EF4-FFF2-40B4-BE49-F238E27FC236}">
                      <a16:creationId xmlns:a16="http://schemas.microsoft.com/office/drawing/2014/main" id="{F86CED9D-3A40-36AD-2A5E-516A28AB0593}"/>
                    </a:ext>
                  </a:extLst>
                </p:cNvPr>
                <p:cNvSpPr>
                  <a:spLocks/>
                </p:cNvSpPr>
                <p:nvPr/>
              </p:nvSpPr>
              <p:spPr bwMode="auto">
                <a:xfrm rot="-5400000">
                  <a:off x="4233" y="1078"/>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grpSp>
          <p:grpSp>
            <p:nvGrpSpPr>
              <p:cNvPr id="152" name="Group 53">
                <a:extLst>
                  <a:ext uri="{FF2B5EF4-FFF2-40B4-BE49-F238E27FC236}">
                    <a16:creationId xmlns:a16="http://schemas.microsoft.com/office/drawing/2014/main" id="{026E28BC-A440-9D1D-0E1F-7FEF3FC22E96}"/>
                  </a:ext>
                </a:extLst>
              </p:cNvPr>
              <p:cNvGrpSpPr>
                <a:grpSpLocks/>
              </p:cNvGrpSpPr>
              <p:nvPr/>
            </p:nvGrpSpPr>
            <p:grpSpPr bwMode="auto">
              <a:xfrm>
                <a:off x="5341938" y="4408487"/>
                <a:ext cx="381000" cy="533400"/>
                <a:chOff x="576" y="1200"/>
                <a:chExt cx="240" cy="336"/>
              </a:xfrm>
            </p:grpSpPr>
            <p:sp>
              <p:nvSpPr>
                <p:cNvPr id="153" name="Rectangle 54">
                  <a:extLst>
                    <a:ext uri="{FF2B5EF4-FFF2-40B4-BE49-F238E27FC236}">
                      <a16:creationId xmlns:a16="http://schemas.microsoft.com/office/drawing/2014/main" id="{ED2C58D5-5839-3D82-CB0E-1371377E7D91}"/>
                    </a:ext>
                  </a:extLst>
                </p:cNvPr>
                <p:cNvSpPr>
                  <a:spLocks noChangeArrowheads="1"/>
                </p:cNvSpPr>
                <p:nvPr/>
              </p:nvSpPr>
              <p:spPr bwMode="auto">
                <a:xfrm>
                  <a:off x="576" y="1200"/>
                  <a:ext cx="240"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54" name="Line 55">
                  <a:extLst>
                    <a:ext uri="{FF2B5EF4-FFF2-40B4-BE49-F238E27FC236}">
                      <a16:creationId xmlns:a16="http://schemas.microsoft.com/office/drawing/2014/main" id="{D11CDCAD-5257-9447-519A-76BEE0A01813}"/>
                    </a:ext>
                  </a:extLst>
                </p:cNvPr>
                <p:cNvSpPr>
                  <a:spLocks noChangeShapeType="1"/>
                </p:cNvSpPr>
                <p:nvPr/>
              </p:nvSpPr>
              <p:spPr bwMode="auto">
                <a:xfrm>
                  <a:off x="576" y="1392"/>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5" name="Line 56">
                  <a:extLst>
                    <a:ext uri="{FF2B5EF4-FFF2-40B4-BE49-F238E27FC236}">
                      <a16:creationId xmlns:a16="http://schemas.microsoft.com/office/drawing/2014/main" id="{715139A3-7644-FACD-2060-726D5371F6A4}"/>
                    </a:ext>
                  </a:extLst>
                </p:cNvPr>
                <p:cNvSpPr>
                  <a:spLocks noChangeShapeType="1"/>
                </p:cNvSpPr>
                <p:nvPr/>
              </p:nvSpPr>
              <p:spPr bwMode="auto">
                <a:xfrm>
                  <a:off x="576" y="1296"/>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161" name="Group 456">
              <a:extLst>
                <a:ext uri="{FF2B5EF4-FFF2-40B4-BE49-F238E27FC236}">
                  <a16:creationId xmlns:a16="http://schemas.microsoft.com/office/drawing/2014/main" id="{D68A5322-2212-C0B3-5123-7C1BAFED0BD9}"/>
                </a:ext>
              </a:extLst>
            </p:cNvPr>
            <p:cNvGrpSpPr>
              <a:grpSpLocks/>
            </p:cNvGrpSpPr>
            <p:nvPr/>
          </p:nvGrpSpPr>
          <p:grpSpPr bwMode="auto">
            <a:xfrm>
              <a:off x="2667000" y="4049713"/>
              <a:ext cx="595313" cy="903287"/>
              <a:chOff x="5257800" y="4038600"/>
              <a:chExt cx="595313" cy="903287"/>
            </a:xfrm>
          </p:grpSpPr>
          <p:sp>
            <p:nvSpPr>
              <p:cNvPr id="162" name="Line 13">
                <a:extLst>
                  <a:ext uri="{FF2B5EF4-FFF2-40B4-BE49-F238E27FC236}">
                    <a16:creationId xmlns:a16="http://schemas.microsoft.com/office/drawing/2014/main" id="{38CFE99B-6369-60C0-1377-E1A58D163AA7}"/>
                  </a:ext>
                </a:extLst>
              </p:cNvPr>
              <p:cNvSpPr>
                <a:spLocks noChangeShapeType="1"/>
              </p:cNvSpPr>
              <p:nvPr/>
            </p:nvSpPr>
            <p:spPr bwMode="auto">
              <a:xfrm flipV="1">
                <a:off x="5272088" y="4256087"/>
                <a:ext cx="581025" cy="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63" name="Text Box 46">
                <a:extLst>
                  <a:ext uri="{FF2B5EF4-FFF2-40B4-BE49-F238E27FC236}">
                    <a16:creationId xmlns:a16="http://schemas.microsoft.com/office/drawing/2014/main" id="{2B525196-2372-AEA9-AC35-6D36FA420532}"/>
                  </a:ext>
                </a:extLst>
              </p:cNvPr>
              <p:cNvSpPr txBox="1">
                <a:spLocks noChangeArrowheads="1"/>
              </p:cNvSpPr>
              <p:nvPr/>
            </p:nvSpPr>
            <p:spPr bwMode="auto">
              <a:xfrm>
                <a:off x="5257800" y="4421187"/>
                <a:ext cx="561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600">
                    <a:latin typeface="Roboto" panose="02000000000000000000" pitchFamily="2" charset="0"/>
                    <a:ea typeface="Roboto" panose="02000000000000000000" pitchFamily="2" charset="0"/>
                  </a:rPr>
                  <a:t>File</a:t>
                </a:r>
              </a:p>
              <a:p>
                <a:pPr eaLnBrk="1" hangingPunct="1">
                  <a:spcBef>
                    <a:spcPct val="50000"/>
                  </a:spcBef>
                </a:pPr>
                <a:r>
                  <a:rPr lang="en-US" altLang="en-US" sz="600">
                    <a:latin typeface="Roboto" panose="02000000000000000000" pitchFamily="2" charset="0"/>
                    <a:ea typeface="Roboto" panose="02000000000000000000" pitchFamily="2" charset="0"/>
                  </a:rPr>
                  <a:t>FIFO</a:t>
                </a:r>
              </a:p>
              <a:p>
                <a:pPr eaLnBrk="1" hangingPunct="1">
                  <a:spcBef>
                    <a:spcPct val="50000"/>
                  </a:spcBef>
                </a:pPr>
                <a:r>
                  <a:rPr lang="en-US" altLang="en-US" sz="600">
                    <a:latin typeface="Roboto" panose="02000000000000000000" pitchFamily="2" charset="0"/>
                    <a:ea typeface="Roboto" panose="02000000000000000000" pitchFamily="2" charset="0"/>
                  </a:rPr>
                  <a:t>5 days</a:t>
                </a:r>
              </a:p>
            </p:txBody>
          </p:sp>
          <p:grpSp>
            <p:nvGrpSpPr>
              <p:cNvPr id="164" name="Group 47">
                <a:extLst>
                  <a:ext uri="{FF2B5EF4-FFF2-40B4-BE49-F238E27FC236}">
                    <a16:creationId xmlns:a16="http://schemas.microsoft.com/office/drawing/2014/main" id="{3134D038-F5BD-708E-EFE3-EE3F99370C0F}"/>
                  </a:ext>
                </a:extLst>
              </p:cNvPr>
              <p:cNvGrpSpPr>
                <a:grpSpLocks/>
              </p:cNvGrpSpPr>
              <p:nvPr/>
            </p:nvGrpSpPr>
            <p:grpSpPr bwMode="auto">
              <a:xfrm>
                <a:off x="5351463" y="4038600"/>
                <a:ext cx="381000" cy="336550"/>
                <a:chOff x="4122" y="1171"/>
                <a:chExt cx="240" cy="212"/>
              </a:xfrm>
            </p:grpSpPr>
            <p:sp>
              <p:nvSpPr>
                <p:cNvPr id="169" name="Rectangle 48">
                  <a:extLst>
                    <a:ext uri="{FF2B5EF4-FFF2-40B4-BE49-F238E27FC236}">
                      <a16:creationId xmlns:a16="http://schemas.microsoft.com/office/drawing/2014/main" id="{21BB8DCF-5931-8497-74DA-D5D69F355ACD}"/>
                    </a:ext>
                  </a:extLst>
                </p:cNvPr>
                <p:cNvSpPr>
                  <a:spLocks noChangeArrowheads="1"/>
                </p:cNvSpPr>
                <p:nvPr/>
              </p:nvSpPr>
              <p:spPr bwMode="auto">
                <a:xfrm>
                  <a:off x="4122" y="1215"/>
                  <a:ext cx="240" cy="16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70" name="Text Box 49">
                  <a:extLst>
                    <a:ext uri="{FF2B5EF4-FFF2-40B4-BE49-F238E27FC236}">
                      <a16:creationId xmlns:a16="http://schemas.microsoft.com/office/drawing/2014/main" id="{6C40CF91-C40A-A33B-07A7-63BAC95D1E1B}"/>
                    </a:ext>
                  </a:extLst>
                </p:cNvPr>
                <p:cNvSpPr txBox="1">
                  <a:spLocks noChangeArrowheads="1"/>
                </p:cNvSpPr>
                <p:nvPr/>
              </p:nvSpPr>
              <p:spPr bwMode="auto">
                <a:xfrm>
                  <a:off x="4152" y="1227"/>
                  <a:ext cx="180" cy="1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latin typeface="Roboto" panose="02000000000000000000" pitchFamily="2" charset="0"/>
                      <a:ea typeface="Roboto" panose="02000000000000000000" pitchFamily="2" charset="0"/>
                    </a:rPr>
                    <a:t>IN</a:t>
                  </a:r>
                </a:p>
              </p:txBody>
            </p:sp>
            <p:sp>
              <p:nvSpPr>
                <p:cNvPr id="395" name="AutoShape 50">
                  <a:extLst>
                    <a:ext uri="{FF2B5EF4-FFF2-40B4-BE49-F238E27FC236}">
                      <a16:creationId xmlns:a16="http://schemas.microsoft.com/office/drawing/2014/main" id="{D343B960-AF6B-5D4F-2753-0EEEB58FA356}"/>
                    </a:ext>
                  </a:extLst>
                </p:cNvPr>
                <p:cNvSpPr>
                  <a:spLocks/>
                </p:cNvSpPr>
                <p:nvPr/>
              </p:nvSpPr>
              <p:spPr bwMode="auto">
                <a:xfrm rot="-5400000">
                  <a:off x="4233" y="1060"/>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96" name="AutoShape 51">
                  <a:extLst>
                    <a:ext uri="{FF2B5EF4-FFF2-40B4-BE49-F238E27FC236}">
                      <a16:creationId xmlns:a16="http://schemas.microsoft.com/office/drawing/2014/main" id="{6993D59F-8A63-78E7-3CC4-8D24E908AE9D}"/>
                    </a:ext>
                  </a:extLst>
                </p:cNvPr>
                <p:cNvSpPr>
                  <a:spLocks/>
                </p:cNvSpPr>
                <p:nvPr/>
              </p:nvSpPr>
              <p:spPr bwMode="auto">
                <a:xfrm rot="-5400000">
                  <a:off x="4233" y="1069"/>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397" name="AutoShape 52">
                  <a:extLst>
                    <a:ext uri="{FF2B5EF4-FFF2-40B4-BE49-F238E27FC236}">
                      <a16:creationId xmlns:a16="http://schemas.microsoft.com/office/drawing/2014/main" id="{D0D5B699-E51F-0D94-9513-66A3D5727484}"/>
                    </a:ext>
                  </a:extLst>
                </p:cNvPr>
                <p:cNvSpPr>
                  <a:spLocks/>
                </p:cNvSpPr>
                <p:nvPr/>
              </p:nvSpPr>
              <p:spPr bwMode="auto">
                <a:xfrm rot="-5400000">
                  <a:off x="4233" y="1078"/>
                  <a:ext cx="18" cy="240"/>
                </a:xfrm>
                <a:prstGeom prst="leftBracket">
                  <a:avLst>
                    <a:gd name="adj" fmla="val 11111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grpSp>
          <p:grpSp>
            <p:nvGrpSpPr>
              <p:cNvPr id="165" name="Group 53">
                <a:extLst>
                  <a:ext uri="{FF2B5EF4-FFF2-40B4-BE49-F238E27FC236}">
                    <a16:creationId xmlns:a16="http://schemas.microsoft.com/office/drawing/2014/main" id="{857A4E2E-C98C-EF28-06AE-AFCB09A74BC7}"/>
                  </a:ext>
                </a:extLst>
              </p:cNvPr>
              <p:cNvGrpSpPr>
                <a:grpSpLocks/>
              </p:cNvGrpSpPr>
              <p:nvPr/>
            </p:nvGrpSpPr>
            <p:grpSpPr bwMode="auto">
              <a:xfrm>
                <a:off x="5341938" y="4408487"/>
                <a:ext cx="381000" cy="533400"/>
                <a:chOff x="576" y="1200"/>
                <a:chExt cx="240" cy="336"/>
              </a:xfrm>
            </p:grpSpPr>
            <p:sp>
              <p:nvSpPr>
                <p:cNvPr id="166" name="Rectangle 54">
                  <a:extLst>
                    <a:ext uri="{FF2B5EF4-FFF2-40B4-BE49-F238E27FC236}">
                      <a16:creationId xmlns:a16="http://schemas.microsoft.com/office/drawing/2014/main" id="{219A1D42-18D0-A4DA-BE1F-82E1E8A926CE}"/>
                    </a:ext>
                  </a:extLst>
                </p:cNvPr>
                <p:cNvSpPr>
                  <a:spLocks noChangeArrowheads="1"/>
                </p:cNvSpPr>
                <p:nvPr/>
              </p:nvSpPr>
              <p:spPr bwMode="auto">
                <a:xfrm>
                  <a:off x="576" y="1200"/>
                  <a:ext cx="240"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167" name="Line 55">
                  <a:extLst>
                    <a:ext uri="{FF2B5EF4-FFF2-40B4-BE49-F238E27FC236}">
                      <a16:creationId xmlns:a16="http://schemas.microsoft.com/office/drawing/2014/main" id="{E20CEF8D-3793-FD85-D425-CF2FB3D6CB94}"/>
                    </a:ext>
                  </a:extLst>
                </p:cNvPr>
                <p:cNvSpPr>
                  <a:spLocks noChangeShapeType="1"/>
                </p:cNvSpPr>
                <p:nvPr/>
              </p:nvSpPr>
              <p:spPr bwMode="auto">
                <a:xfrm>
                  <a:off x="576" y="1392"/>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8" name="Line 56">
                  <a:extLst>
                    <a:ext uri="{FF2B5EF4-FFF2-40B4-BE49-F238E27FC236}">
                      <a16:creationId xmlns:a16="http://schemas.microsoft.com/office/drawing/2014/main" id="{68CE77C1-C123-81CF-8FF6-D6EDD5CCF3D0}"/>
                    </a:ext>
                  </a:extLst>
                </p:cNvPr>
                <p:cNvSpPr>
                  <a:spLocks noChangeShapeType="1"/>
                </p:cNvSpPr>
                <p:nvPr/>
              </p:nvSpPr>
              <p:spPr bwMode="auto">
                <a:xfrm>
                  <a:off x="576" y="1296"/>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398" name="Group 134">
              <a:extLst>
                <a:ext uri="{FF2B5EF4-FFF2-40B4-BE49-F238E27FC236}">
                  <a16:creationId xmlns:a16="http://schemas.microsoft.com/office/drawing/2014/main" id="{672FB9FF-8056-AF8E-BED1-7C6DA9B14BE7}"/>
                </a:ext>
              </a:extLst>
            </p:cNvPr>
            <p:cNvGrpSpPr>
              <a:grpSpLocks/>
            </p:cNvGrpSpPr>
            <p:nvPr/>
          </p:nvGrpSpPr>
          <p:grpSpPr bwMode="auto">
            <a:xfrm rot="-9751515">
              <a:off x="6705600" y="3121025"/>
              <a:ext cx="990600" cy="285750"/>
              <a:chOff x="636" y="2054"/>
              <a:chExt cx="200" cy="298"/>
            </a:xfrm>
          </p:grpSpPr>
          <p:sp>
            <p:nvSpPr>
              <p:cNvPr id="399" name="Line 135">
                <a:extLst>
                  <a:ext uri="{FF2B5EF4-FFF2-40B4-BE49-F238E27FC236}">
                    <a16:creationId xmlns:a16="http://schemas.microsoft.com/office/drawing/2014/main" id="{CB41D04E-4DDD-CE52-4171-4B22BE68CB92}"/>
                  </a:ext>
                </a:extLst>
              </p:cNvPr>
              <p:cNvSpPr>
                <a:spLocks noChangeShapeType="1"/>
              </p:cNvSpPr>
              <p:nvPr/>
            </p:nvSpPr>
            <p:spPr bwMode="auto">
              <a:xfrm flipV="1">
                <a:off x="740" y="2054"/>
                <a:ext cx="96" cy="192"/>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00" name="Line 136">
                <a:extLst>
                  <a:ext uri="{FF2B5EF4-FFF2-40B4-BE49-F238E27FC236}">
                    <a16:creationId xmlns:a16="http://schemas.microsoft.com/office/drawing/2014/main" id="{0F36E414-C4F2-EBFD-CFE9-E70EF1099BC6}"/>
                  </a:ext>
                </a:extLst>
              </p:cNvPr>
              <p:cNvSpPr>
                <a:spLocks noChangeShapeType="1"/>
              </p:cNvSpPr>
              <p:nvPr/>
            </p:nvSpPr>
            <p:spPr bwMode="auto">
              <a:xfrm>
                <a:off x="732" y="2160"/>
                <a:ext cx="6" cy="9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01" name="Line 137">
                <a:extLst>
                  <a:ext uri="{FF2B5EF4-FFF2-40B4-BE49-F238E27FC236}">
                    <a16:creationId xmlns:a16="http://schemas.microsoft.com/office/drawing/2014/main" id="{A33F96EE-6968-C5F2-66C6-E7B3BFBF58A2}"/>
                  </a:ext>
                </a:extLst>
              </p:cNvPr>
              <p:cNvSpPr>
                <a:spLocks noChangeShapeType="1"/>
              </p:cNvSpPr>
              <p:nvPr/>
            </p:nvSpPr>
            <p:spPr bwMode="auto">
              <a:xfrm flipV="1">
                <a:off x="636" y="2160"/>
                <a:ext cx="96"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402" name="Rectangle 5">
              <a:extLst>
                <a:ext uri="{FF2B5EF4-FFF2-40B4-BE49-F238E27FC236}">
                  <a16:creationId xmlns:a16="http://schemas.microsoft.com/office/drawing/2014/main" id="{8DF7D49A-0438-C6B9-A2BC-4C17B9A4D5AF}"/>
                </a:ext>
              </a:extLst>
            </p:cNvPr>
            <p:cNvSpPr>
              <a:spLocks noChangeArrowheads="1"/>
            </p:cNvSpPr>
            <p:nvPr/>
          </p:nvSpPr>
          <p:spPr bwMode="auto">
            <a:xfrm>
              <a:off x="5715000" y="2971800"/>
              <a:ext cx="9144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900">
                  <a:latin typeface="Roboto" panose="02000000000000000000" pitchFamily="2" charset="0"/>
                  <a:ea typeface="Roboto" panose="02000000000000000000" pitchFamily="2" charset="0"/>
                </a:rPr>
                <a:t>Acct, Ops,</a:t>
              </a:r>
            </a:p>
            <a:p>
              <a:pPr eaLnBrk="1" hangingPunct="1"/>
              <a:r>
                <a:rPr lang="en-US" altLang="en-US" sz="900">
                  <a:latin typeface="Roboto" panose="02000000000000000000" pitchFamily="2" charset="0"/>
                  <a:ea typeface="Roboto" panose="02000000000000000000" pitchFamily="2" charset="0"/>
                </a:rPr>
                <a:t>HR, CFO</a:t>
              </a:r>
            </a:p>
          </p:txBody>
        </p:sp>
        <p:sp>
          <p:nvSpPr>
            <p:cNvPr id="403" name="Rectangle 184">
              <a:extLst>
                <a:ext uri="{FF2B5EF4-FFF2-40B4-BE49-F238E27FC236}">
                  <a16:creationId xmlns:a16="http://schemas.microsoft.com/office/drawing/2014/main" id="{06074DE6-7D22-ADA5-078C-9E2308EEE068}"/>
                </a:ext>
              </a:extLst>
            </p:cNvPr>
            <p:cNvSpPr>
              <a:spLocks noChangeArrowheads="1"/>
            </p:cNvSpPr>
            <p:nvPr/>
          </p:nvSpPr>
          <p:spPr bwMode="auto">
            <a:xfrm>
              <a:off x="582611" y="1239911"/>
              <a:ext cx="2846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tabLst>
                  <a:tab pos="30861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0861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0861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0861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0861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086100" algn="l"/>
                </a:tabLst>
                <a:defRPr>
                  <a:solidFill>
                    <a:schemeClr val="tx1"/>
                  </a:solidFill>
                  <a:latin typeface="Arial" panose="020B0604020202020204" pitchFamily="34" charset="0"/>
                  <a:cs typeface="Arial" panose="020B0604020202020204" pitchFamily="34" charset="0"/>
                </a:defRPr>
              </a:lvl9pPr>
            </a:lstStyle>
            <a:p>
              <a:pPr eaLnBrk="1" hangingPunct="1">
                <a:buClr>
                  <a:schemeClr val="accent1"/>
                </a:buClr>
                <a:buSzPct val="90000"/>
                <a:buFont typeface="Wingdings" panose="05000000000000000000" pitchFamily="2" charset="2"/>
                <a:buNone/>
              </a:pPr>
              <a:r>
                <a:rPr lang="en-US" altLang="en-US" sz="1200" dirty="0">
                  <a:solidFill>
                    <a:srgbClr val="FF0000"/>
                  </a:solidFill>
                  <a:latin typeface="Roboto" panose="02000000000000000000" pitchFamily="2" charset="0"/>
                  <a:ea typeface="Roboto" panose="02000000000000000000" pitchFamily="2" charset="0"/>
                </a:rPr>
                <a:t>	         240 work days / year</a:t>
              </a:r>
            </a:p>
            <a:p>
              <a:pPr eaLnBrk="1" hangingPunct="1">
                <a:lnSpc>
                  <a:spcPct val="75000"/>
                </a:lnSpc>
                <a:buClr>
                  <a:schemeClr val="accent1"/>
                </a:buClr>
                <a:buSzPct val="90000"/>
                <a:buFont typeface="Wingdings" panose="05000000000000000000" pitchFamily="2" charset="2"/>
                <a:buNone/>
              </a:pPr>
              <a:r>
                <a:rPr lang="en-US" altLang="en-US" sz="1200" dirty="0">
                  <a:solidFill>
                    <a:srgbClr val="FF0000"/>
                  </a:solidFill>
                  <a:latin typeface="Roboto" panose="02000000000000000000" pitchFamily="2" charset="0"/>
                  <a:ea typeface="Roboto" panose="02000000000000000000" pitchFamily="2" charset="0"/>
                </a:rPr>
                <a:t>Takt Time= </a:t>
              </a:r>
              <a:r>
                <a:rPr lang="en-US" altLang="en-US" sz="1200" baseline="30000" dirty="0">
                  <a:solidFill>
                    <a:srgbClr val="FF0000"/>
                  </a:solidFill>
                  <a:latin typeface="Roboto" panose="02000000000000000000" pitchFamily="2" charset="0"/>
                  <a:ea typeface="Roboto" panose="02000000000000000000" pitchFamily="2" charset="0"/>
                </a:rPr>
                <a:t>_____________________________ </a:t>
              </a:r>
              <a:r>
                <a:rPr lang="en-US" altLang="en-US" sz="1200" dirty="0">
                  <a:solidFill>
                    <a:srgbClr val="FF0000"/>
                  </a:solidFill>
                  <a:latin typeface="Roboto" panose="02000000000000000000" pitchFamily="2" charset="0"/>
                  <a:ea typeface="Roboto" panose="02000000000000000000" pitchFamily="2" charset="0"/>
                </a:rPr>
                <a:t>= 1.6 work days</a:t>
              </a:r>
              <a:endParaRPr lang="en-US" altLang="en-US" sz="1200" u="sng" dirty="0">
                <a:solidFill>
                  <a:srgbClr val="FF0000"/>
                </a:solidFill>
                <a:latin typeface="Roboto" panose="02000000000000000000" pitchFamily="2" charset="0"/>
                <a:ea typeface="Roboto" panose="02000000000000000000" pitchFamily="2" charset="0"/>
              </a:endParaRPr>
            </a:p>
            <a:p>
              <a:pPr eaLnBrk="1" hangingPunct="1">
                <a:lnSpc>
                  <a:spcPct val="75000"/>
                </a:lnSpc>
                <a:buClr>
                  <a:schemeClr val="accent1"/>
                </a:buClr>
                <a:buSzPct val="90000"/>
                <a:buFont typeface="Wingdings" panose="05000000000000000000" pitchFamily="2" charset="2"/>
                <a:buNone/>
              </a:pPr>
              <a:r>
                <a:rPr lang="en-US" altLang="en-US" sz="1200" dirty="0">
                  <a:solidFill>
                    <a:srgbClr val="FF0000"/>
                  </a:solidFill>
                  <a:latin typeface="Roboto" panose="02000000000000000000" pitchFamily="2" charset="0"/>
                  <a:ea typeface="Roboto" panose="02000000000000000000" pitchFamily="2" charset="0"/>
                </a:rPr>
                <a:t>    	            150 reviews / year</a:t>
              </a:r>
            </a:p>
          </p:txBody>
        </p:sp>
        <p:sp>
          <p:nvSpPr>
            <p:cNvPr id="404" name="Text Box 1020">
              <a:extLst>
                <a:ext uri="{FF2B5EF4-FFF2-40B4-BE49-F238E27FC236}">
                  <a16:creationId xmlns:a16="http://schemas.microsoft.com/office/drawing/2014/main" id="{A55B3846-F878-2060-6B08-9324AA3C61BA}"/>
                </a:ext>
              </a:extLst>
            </p:cNvPr>
            <p:cNvSpPr txBox="1">
              <a:spLocks noChangeArrowheads="1"/>
            </p:cNvSpPr>
            <p:nvPr/>
          </p:nvSpPr>
          <p:spPr bwMode="auto">
            <a:xfrm>
              <a:off x="2255256" y="533400"/>
              <a:ext cx="4741440" cy="60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30000"/>
                </a:spcBef>
              </a:pPr>
              <a:r>
                <a:rPr lang="en-US" altLang="en-US" sz="3200" dirty="0">
                  <a:latin typeface="Roboto Medium" panose="02000000000000000000" pitchFamily="2" charset="0"/>
                  <a:ea typeface="Roboto Medium" panose="02000000000000000000" pitchFamily="2" charset="0"/>
                </a:rPr>
                <a:t>Performance Review Future State</a:t>
              </a:r>
            </a:p>
          </p:txBody>
        </p:sp>
        <p:sp>
          <p:nvSpPr>
            <p:cNvPr id="405" name="Rounded Rectangle 270">
              <a:extLst>
                <a:ext uri="{FF2B5EF4-FFF2-40B4-BE49-F238E27FC236}">
                  <a16:creationId xmlns:a16="http://schemas.microsoft.com/office/drawing/2014/main" id="{D389DD66-8D1A-D71D-B46D-D301ADED5A06}"/>
                </a:ext>
              </a:extLst>
            </p:cNvPr>
            <p:cNvSpPr>
              <a:spLocks noChangeArrowheads="1"/>
            </p:cNvSpPr>
            <p:nvPr/>
          </p:nvSpPr>
          <p:spPr bwMode="auto">
            <a:xfrm>
              <a:off x="5943600" y="3657600"/>
              <a:ext cx="1676400" cy="2514600"/>
            </a:xfrm>
            <a:prstGeom prst="roundRect">
              <a:avLst>
                <a:gd name="adj" fmla="val 16667"/>
              </a:avLst>
            </a:prstGeom>
            <a:noFill/>
            <a:ln w="57150" algn="ctr">
              <a:solidFill>
                <a:schemeClr val="tx1">
                  <a:alpha val="45097"/>
                </a:schemeClr>
              </a:solidFill>
              <a:prstDash val="sysDot"/>
              <a:round/>
              <a:headEnd/>
              <a:tailEnd/>
            </a:ln>
            <a:extLst>
              <a:ext uri="{909E8E84-426E-40DD-AFC4-6F175D3DCCD1}">
                <a14:hiddenFill xmlns:a14="http://schemas.microsoft.com/office/drawing/2010/main">
                  <a:solidFill>
                    <a:srgbClr val="FFFFFF"/>
                  </a:solidFill>
                </a14:hiddenFill>
              </a:ext>
            </a:extLst>
          </p:spPr>
          <p:txBody>
            <a:bodyPr/>
            <a:lstStyle>
              <a:lvl1pPr defTabSz="1411288" eaLnBrk="0" hangingPunct="0">
                <a:defRPr>
                  <a:solidFill>
                    <a:schemeClr val="tx1"/>
                  </a:solidFill>
                  <a:latin typeface="Arial" panose="020B0604020202020204" pitchFamily="34" charset="0"/>
                  <a:cs typeface="Arial" panose="020B0604020202020204" pitchFamily="34" charset="0"/>
                </a:defRPr>
              </a:lvl1pPr>
              <a:lvl2pPr marL="742950" indent="-285750" defTabSz="1411288" eaLnBrk="0" hangingPunct="0">
                <a:defRPr>
                  <a:solidFill>
                    <a:schemeClr val="tx1"/>
                  </a:solidFill>
                  <a:latin typeface="Arial" panose="020B0604020202020204" pitchFamily="34" charset="0"/>
                  <a:cs typeface="Arial" panose="020B0604020202020204" pitchFamily="34" charset="0"/>
                </a:defRPr>
              </a:lvl2pPr>
              <a:lvl3pPr marL="1143000" indent="-228600" defTabSz="1411288" eaLnBrk="0" hangingPunct="0">
                <a:defRPr>
                  <a:solidFill>
                    <a:schemeClr val="tx1"/>
                  </a:solidFill>
                  <a:latin typeface="Arial" panose="020B0604020202020204" pitchFamily="34" charset="0"/>
                  <a:cs typeface="Arial" panose="020B0604020202020204" pitchFamily="34" charset="0"/>
                </a:defRPr>
              </a:lvl3pPr>
              <a:lvl4pPr marL="1600200" indent="-228600" defTabSz="1411288" eaLnBrk="0" hangingPunct="0">
                <a:defRPr>
                  <a:solidFill>
                    <a:schemeClr val="tx1"/>
                  </a:solidFill>
                  <a:latin typeface="Arial" panose="020B0604020202020204" pitchFamily="34" charset="0"/>
                  <a:cs typeface="Arial" panose="020B0604020202020204" pitchFamily="34" charset="0"/>
                </a:defRPr>
              </a:lvl4pPr>
              <a:lvl5pPr marL="2057400" indent="-228600" defTabSz="1411288" eaLnBrk="0" hangingPunct="0">
                <a:defRPr>
                  <a:solidFill>
                    <a:schemeClr val="tx1"/>
                  </a:solidFill>
                  <a:latin typeface="Arial" panose="020B0604020202020204" pitchFamily="34" charset="0"/>
                  <a:cs typeface="Arial" panose="020B0604020202020204" pitchFamily="34" charset="0"/>
                </a:defRPr>
              </a:lvl5pPr>
              <a:lvl6pPr marL="25146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406" name="TextBox 482">
              <a:extLst>
                <a:ext uri="{FF2B5EF4-FFF2-40B4-BE49-F238E27FC236}">
                  <a16:creationId xmlns:a16="http://schemas.microsoft.com/office/drawing/2014/main" id="{6CECA059-620E-9D95-D8EF-E51D69193CAC}"/>
                </a:ext>
              </a:extLst>
            </p:cNvPr>
            <p:cNvSpPr txBox="1">
              <a:spLocks noChangeArrowheads="1"/>
            </p:cNvSpPr>
            <p:nvPr/>
          </p:nvSpPr>
          <p:spPr bwMode="auto">
            <a:xfrm>
              <a:off x="6172200" y="3733800"/>
              <a:ext cx="11477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a:latin typeface="Roboto" panose="02000000000000000000" pitchFamily="2" charset="0"/>
                  <a:ea typeface="Roboto" panose="02000000000000000000" pitchFamily="2" charset="0"/>
                </a:rPr>
                <a:t>Pacemaker Loop</a:t>
              </a:r>
            </a:p>
          </p:txBody>
        </p:sp>
        <p:sp>
          <p:nvSpPr>
            <p:cNvPr id="407" name="Rounded Rectangle 270">
              <a:extLst>
                <a:ext uri="{FF2B5EF4-FFF2-40B4-BE49-F238E27FC236}">
                  <a16:creationId xmlns:a16="http://schemas.microsoft.com/office/drawing/2014/main" id="{762B400B-540F-F3B3-C81D-C3F225689009}"/>
                </a:ext>
              </a:extLst>
            </p:cNvPr>
            <p:cNvSpPr>
              <a:spLocks noChangeArrowheads="1"/>
            </p:cNvSpPr>
            <p:nvPr/>
          </p:nvSpPr>
          <p:spPr bwMode="auto">
            <a:xfrm>
              <a:off x="2743200" y="3657600"/>
              <a:ext cx="3048000" cy="2514600"/>
            </a:xfrm>
            <a:prstGeom prst="roundRect">
              <a:avLst>
                <a:gd name="adj" fmla="val 16667"/>
              </a:avLst>
            </a:prstGeom>
            <a:noFill/>
            <a:ln w="57150" algn="ctr">
              <a:solidFill>
                <a:schemeClr val="tx1">
                  <a:alpha val="45097"/>
                </a:schemeClr>
              </a:solidFill>
              <a:prstDash val="sysDot"/>
              <a:round/>
              <a:headEnd/>
              <a:tailEnd/>
            </a:ln>
            <a:extLst>
              <a:ext uri="{909E8E84-426E-40DD-AFC4-6F175D3DCCD1}">
                <a14:hiddenFill xmlns:a14="http://schemas.microsoft.com/office/drawing/2010/main">
                  <a:solidFill>
                    <a:srgbClr val="FFFFFF"/>
                  </a:solidFill>
                </a14:hiddenFill>
              </a:ext>
            </a:extLst>
          </p:spPr>
          <p:txBody>
            <a:bodyPr/>
            <a:lstStyle>
              <a:lvl1pPr defTabSz="1411288" eaLnBrk="0" hangingPunct="0">
                <a:defRPr>
                  <a:solidFill>
                    <a:schemeClr val="tx1"/>
                  </a:solidFill>
                  <a:latin typeface="Arial" panose="020B0604020202020204" pitchFamily="34" charset="0"/>
                  <a:cs typeface="Arial" panose="020B0604020202020204" pitchFamily="34" charset="0"/>
                </a:defRPr>
              </a:lvl1pPr>
              <a:lvl2pPr marL="742950" indent="-285750" defTabSz="1411288" eaLnBrk="0" hangingPunct="0">
                <a:defRPr>
                  <a:solidFill>
                    <a:schemeClr val="tx1"/>
                  </a:solidFill>
                  <a:latin typeface="Arial" panose="020B0604020202020204" pitchFamily="34" charset="0"/>
                  <a:cs typeface="Arial" panose="020B0604020202020204" pitchFamily="34" charset="0"/>
                </a:defRPr>
              </a:lvl2pPr>
              <a:lvl3pPr marL="1143000" indent="-228600" defTabSz="1411288" eaLnBrk="0" hangingPunct="0">
                <a:defRPr>
                  <a:solidFill>
                    <a:schemeClr val="tx1"/>
                  </a:solidFill>
                  <a:latin typeface="Arial" panose="020B0604020202020204" pitchFamily="34" charset="0"/>
                  <a:cs typeface="Arial" panose="020B0604020202020204" pitchFamily="34" charset="0"/>
                </a:defRPr>
              </a:lvl3pPr>
              <a:lvl4pPr marL="1600200" indent="-228600" defTabSz="1411288" eaLnBrk="0" hangingPunct="0">
                <a:defRPr>
                  <a:solidFill>
                    <a:schemeClr val="tx1"/>
                  </a:solidFill>
                  <a:latin typeface="Arial" panose="020B0604020202020204" pitchFamily="34" charset="0"/>
                  <a:cs typeface="Arial" panose="020B0604020202020204" pitchFamily="34" charset="0"/>
                </a:defRPr>
              </a:lvl4pPr>
              <a:lvl5pPr marL="2057400" indent="-228600" defTabSz="1411288" eaLnBrk="0" hangingPunct="0">
                <a:defRPr>
                  <a:solidFill>
                    <a:schemeClr val="tx1"/>
                  </a:solidFill>
                  <a:latin typeface="Arial" panose="020B0604020202020204" pitchFamily="34" charset="0"/>
                  <a:cs typeface="Arial" panose="020B0604020202020204" pitchFamily="34" charset="0"/>
                </a:defRPr>
              </a:lvl5pPr>
              <a:lvl6pPr marL="25146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408" name="TextBox 484">
              <a:extLst>
                <a:ext uri="{FF2B5EF4-FFF2-40B4-BE49-F238E27FC236}">
                  <a16:creationId xmlns:a16="http://schemas.microsoft.com/office/drawing/2014/main" id="{F20875E8-904B-8295-0517-C48AA4C1B4F2}"/>
                </a:ext>
              </a:extLst>
            </p:cNvPr>
            <p:cNvSpPr txBox="1">
              <a:spLocks noChangeArrowheads="1"/>
            </p:cNvSpPr>
            <p:nvPr/>
          </p:nvSpPr>
          <p:spPr bwMode="auto">
            <a:xfrm>
              <a:off x="3581400" y="3733800"/>
              <a:ext cx="128428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a:latin typeface="Roboto" panose="02000000000000000000" pitchFamily="2" charset="0"/>
                  <a:ea typeface="Roboto" panose="02000000000000000000" pitchFamily="2" charset="0"/>
                </a:rPr>
                <a:t>Team Review Loop</a:t>
              </a:r>
            </a:p>
          </p:txBody>
        </p:sp>
        <p:sp>
          <p:nvSpPr>
            <p:cNvPr id="409" name="Rounded Rectangle 270">
              <a:extLst>
                <a:ext uri="{FF2B5EF4-FFF2-40B4-BE49-F238E27FC236}">
                  <a16:creationId xmlns:a16="http://schemas.microsoft.com/office/drawing/2014/main" id="{98FB6E21-B170-9A8F-A924-58B87F053FBF}"/>
                </a:ext>
              </a:extLst>
            </p:cNvPr>
            <p:cNvSpPr>
              <a:spLocks noChangeArrowheads="1"/>
            </p:cNvSpPr>
            <p:nvPr/>
          </p:nvSpPr>
          <p:spPr bwMode="auto">
            <a:xfrm>
              <a:off x="685800" y="1981200"/>
              <a:ext cx="1981200" cy="4191000"/>
            </a:xfrm>
            <a:prstGeom prst="roundRect">
              <a:avLst>
                <a:gd name="adj" fmla="val 16667"/>
              </a:avLst>
            </a:prstGeom>
            <a:noFill/>
            <a:ln w="57150" algn="ctr">
              <a:solidFill>
                <a:schemeClr val="tx1">
                  <a:alpha val="45097"/>
                </a:schemeClr>
              </a:solidFill>
              <a:prstDash val="sysDot"/>
              <a:round/>
              <a:headEnd/>
              <a:tailEnd/>
            </a:ln>
            <a:extLst>
              <a:ext uri="{909E8E84-426E-40DD-AFC4-6F175D3DCCD1}">
                <a14:hiddenFill xmlns:a14="http://schemas.microsoft.com/office/drawing/2010/main">
                  <a:solidFill>
                    <a:srgbClr val="FFFFFF"/>
                  </a:solidFill>
                </a14:hiddenFill>
              </a:ext>
            </a:extLst>
          </p:spPr>
          <p:txBody>
            <a:bodyPr/>
            <a:lstStyle>
              <a:lvl1pPr defTabSz="1411288" eaLnBrk="0" hangingPunct="0">
                <a:defRPr>
                  <a:solidFill>
                    <a:schemeClr val="tx1"/>
                  </a:solidFill>
                  <a:latin typeface="Arial" panose="020B0604020202020204" pitchFamily="34" charset="0"/>
                  <a:cs typeface="Arial" panose="020B0604020202020204" pitchFamily="34" charset="0"/>
                </a:defRPr>
              </a:lvl1pPr>
              <a:lvl2pPr marL="742950" indent="-285750" defTabSz="1411288" eaLnBrk="0" hangingPunct="0">
                <a:defRPr>
                  <a:solidFill>
                    <a:schemeClr val="tx1"/>
                  </a:solidFill>
                  <a:latin typeface="Arial" panose="020B0604020202020204" pitchFamily="34" charset="0"/>
                  <a:cs typeface="Arial" panose="020B0604020202020204" pitchFamily="34" charset="0"/>
                </a:defRPr>
              </a:lvl2pPr>
              <a:lvl3pPr marL="1143000" indent="-228600" defTabSz="1411288" eaLnBrk="0" hangingPunct="0">
                <a:defRPr>
                  <a:solidFill>
                    <a:schemeClr val="tx1"/>
                  </a:solidFill>
                  <a:latin typeface="Arial" panose="020B0604020202020204" pitchFamily="34" charset="0"/>
                  <a:cs typeface="Arial" panose="020B0604020202020204" pitchFamily="34" charset="0"/>
                </a:defRPr>
              </a:lvl3pPr>
              <a:lvl4pPr marL="1600200" indent="-228600" defTabSz="1411288" eaLnBrk="0" hangingPunct="0">
                <a:defRPr>
                  <a:solidFill>
                    <a:schemeClr val="tx1"/>
                  </a:solidFill>
                  <a:latin typeface="Arial" panose="020B0604020202020204" pitchFamily="34" charset="0"/>
                  <a:cs typeface="Arial" panose="020B0604020202020204" pitchFamily="34" charset="0"/>
                </a:defRPr>
              </a:lvl4pPr>
              <a:lvl5pPr marL="2057400" indent="-228600" defTabSz="1411288" eaLnBrk="0" hangingPunct="0">
                <a:defRPr>
                  <a:solidFill>
                    <a:schemeClr val="tx1"/>
                  </a:solidFill>
                  <a:latin typeface="Arial" panose="020B0604020202020204" pitchFamily="34" charset="0"/>
                  <a:cs typeface="Arial" panose="020B0604020202020204" pitchFamily="34" charset="0"/>
                </a:defRPr>
              </a:lvl5pPr>
              <a:lvl6pPr marL="25146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411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Roboto" panose="02000000000000000000" pitchFamily="2" charset="0"/>
                <a:ea typeface="Roboto" panose="02000000000000000000" pitchFamily="2" charset="0"/>
              </a:endParaRPr>
            </a:p>
          </p:txBody>
        </p:sp>
        <p:sp>
          <p:nvSpPr>
            <p:cNvPr id="410" name="TextBox 487">
              <a:extLst>
                <a:ext uri="{FF2B5EF4-FFF2-40B4-BE49-F238E27FC236}">
                  <a16:creationId xmlns:a16="http://schemas.microsoft.com/office/drawing/2014/main" id="{F483F3AD-9D81-D893-70D1-8C992B8FE587}"/>
                </a:ext>
              </a:extLst>
            </p:cNvPr>
            <p:cNvSpPr txBox="1">
              <a:spLocks noChangeArrowheads="1"/>
            </p:cNvSpPr>
            <p:nvPr/>
          </p:nvSpPr>
          <p:spPr bwMode="auto">
            <a:xfrm>
              <a:off x="1066800" y="2057400"/>
              <a:ext cx="1176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a:latin typeface="Roboto" panose="02000000000000000000" pitchFamily="2" charset="0"/>
                  <a:ea typeface="Roboto" panose="02000000000000000000" pitchFamily="2" charset="0"/>
                </a:rPr>
                <a:t>Self Review Loop</a:t>
              </a:r>
            </a:p>
          </p:txBody>
        </p:sp>
        <p:sp>
          <p:nvSpPr>
            <p:cNvPr id="411" name="Line 135">
              <a:extLst>
                <a:ext uri="{FF2B5EF4-FFF2-40B4-BE49-F238E27FC236}">
                  <a16:creationId xmlns:a16="http://schemas.microsoft.com/office/drawing/2014/main" id="{326B6AE1-D12F-7B9D-C1B4-B103092CF57A}"/>
                </a:ext>
              </a:extLst>
            </p:cNvPr>
            <p:cNvSpPr>
              <a:spLocks noChangeShapeType="1"/>
            </p:cNvSpPr>
            <p:nvPr/>
          </p:nvSpPr>
          <p:spPr bwMode="auto">
            <a:xfrm rot="11074230" flipV="1">
              <a:off x="1909763" y="2543175"/>
              <a:ext cx="3114675" cy="2286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12" name="Line 136">
              <a:extLst>
                <a:ext uri="{FF2B5EF4-FFF2-40B4-BE49-F238E27FC236}">
                  <a16:creationId xmlns:a16="http://schemas.microsoft.com/office/drawing/2014/main" id="{A91FFB38-0151-B679-1D66-0B789D0FD35E}"/>
                </a:ext>
              </a:extLst>
            </p:cNvPr>
            <p:cNvSpPr>
              <a:spLocks noChangeShapeType="1"/>
            </p:cNvSpPr>
            <p:nvPr/>
          </p:nvSpPr>
          <p:spPr bwMode="auto">
            <a:xfrm rot="11074230" flipH="1">
              <a:off x="4927600" y="2662238"/>
              <a:ext cx="96838" cy="128587"/>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13" name="Line 137">
              <a:extLst>
                <a:ext uri="{FF2B5EF4-FFF2-40B4-BE49-F238E27FC236}">
                  <a16:creationId xmlns:a16="http://schemas.microsoft.com/office/drawing/2014/main" id="{8318A392-F355-7737-8166-A65111A9A03C}"/>
                </a:ext>
              </a:extLst>
            </p:cNvPr>
            <p:cNvSpPr>
              <a:spLocks noChangeShapeType="1"/>
            </p:cNvSpPr>
            <p:nvPr/>
          </p:nvSpPr>
          <p:spPr bwMode="auto">
            <a:xfrm rot="11074230" flipV="1">
              <a:off x="4926013" y="2713038"/>
              <a:ext cx="2786062" cy="18415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414" name="Line 68">
              <a:extLst>
                <a:ext uri="{FF2B5EF4-FFF2-40B4-BE49-F238E27FC236}">
                  <a16:creationId xmlns:a16="http://schemas.microsoft.com/office/drawing/2014/main" id="{07B9E6E5-704C-6D19-DE7C-D9E23E235B3B}"/>
                </a:ext>
              </a:extLst>
            </p:cNvPr>
            <p:cNvSpPr>
              <a:spLocks noChangeShapeType="1"/>
            </p:cNvSpPr>
            <p:nvPr/>
          </p:nvSpPr>
          <p:spPr bwMode="auto">
            <a:xfrm flipH="1" flipV="1">
              <a:off x="1676400" y="2971800"/>
              <a:ext cx="228600" cy="9906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59890438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14040</TotalTime>
  <Words>2179</Words>
  <Application>Microsoft Office PowerPoint</Application>
  <PresentationFormat>Widescreen</PresentationFormat>
  <Paragraphs>310</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Roboto</vt:lpstr>
      <vt:lpstr>Roboto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377</cp:revision>
  <dcterms:created xsi:type="dcterms:W3CDTF">2023-02-08T22:10:20Z</dcterms:created>
  <dcterms:modified xsi:type="dcterms:W3CDTF">2024-07-24T16:45:43Z</dcterms:modified>
</cp:coreProperties>
</file>